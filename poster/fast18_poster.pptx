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3"/>
  </p:notesMasterIdLst>
  <p:sldIdLst>
    <p:sldId id="256" r:id="rId2"/>
  </p:sldIdLst>
  <p:sldSz cx="32918400" cy="43891200"/>
  <p:notesSz cx="6858000" cy="9144000"/>
  <p:defaultTextStyle>
    <a:defPPr>
      <a:defRPr lang="en-US"/>
    </a:defPPr>
    <a:lvl1pPr marL="0" algn="l" defTabSz="4389120" rtl="0" eaLnBrk="1" latinLnBrk="0" hangingPunct="1">
      <a:defRPr sz="8640" kern="1200">
        <a:solidFill>
          <a:schemeClr val="tx1"/>
        </a:solidFill>
        <a:latin typeface="+mn-lt"/>
        <a:ea typeface="+mn-ea"/>
        <a:cs typeface="+mn-cs"/>
      </a:defRPr>
    </a:lvl1pPr>
    <a:lvl2pPr marL="2194560" algn="l" defTabSz="4389120" rtl="0" eaLnBrk="1" latinLnBrk="0" hangingPunct="1">
      <a:defRPr sz="8640" kern="1200">
        <a:solidFill>
          <a:schemeClr val="tx1"/>
        </a:solidFill>
        <a:latin typeface="+mn-lt"/>
        <a:ea typeface="+mn-ea"/>
        <a:cs typeface="+mn-cs"/>
      </a:defRPr>
    </a:lvl2pPr>
    <a:lvl3pPr marL="4389120" algn="l" defTabSz="4389120" rtl="0" eaLnBrk="1" latinLnBrk="0" hangingPunct="1">
      <a:defRPr sz="8640" kern="1200">
        <a:solidFill>
          <a:schemeClr val="tx1"/>
        </a:solidFill>
        <a:latin typeface="+mn-lt"/>
        <a:ea typeface="+mn-ea"/>
        <a:cs typeface="+mn-cs"/>
      </a:defRPr>
    </a:lvl3pPr>
    <a:lvl4pPr marL="6583680" algn="l" defTabSz="4389120" rtl="0" eaLnBrk="1" latinLnBrk="0" hangingPunct="1">
      <a:defRPr sz="8640" kern="1200">
        <a:solidFill>
          <a:schemeClr val="tx1"/>
        </a:solidFill>
        <a:latin typeface="+mn-lt"/>
        <a:ea typeface="+mn-ea"/>
        <a:cs typeface="+mn-cs"/>
      </a:defRPr>
    </a:lvl4pPr>
    <a:lvl5pPr marL="8778240" algn="l" defTabSz="4389120" rtl="0" eaLnBrk="1" latinLnBrk="0" hangingPunct="1">
      <a:defRPr sz="8640" kern="1200">
        <a:solidFill>
          <a:schemeClr val="tx1"/>
        </a:solidFill>
        <a:latin typeface="+mn-lt"/>
        <a:ea typeface="+mn-ea"/>
        <a:cs typeface="+mn-cs"/>
      </a:defRPr>
    </a:lvl5pPr>
    <a:lvl6pPr marL="10972800" algn="l" defTabSz="4389120" rtl="0" eaLnBrk="1" latinLnBrk="0" hangingPunct="1">
      <a:defRPr sz="8640" kern="1200">
        <a:solidFill>
          <a:schemeClr val="tx1"/>
        </a:solidFill>
        <a:latin typeface="+mn-lt"/>
        <a:ea typeface="+mn-ea"/>
        <a:cs typeface="+mn-cs"/>
      </a:defRPr>
    </a:lvl6pPr>
    <a:lvl7pPr marL="13167360" algn="l" defTabSz="4389120" rtl="0" eaLnBrk="1" latinLnBrk="0" hangingPunct="1">
      <a:defRPr sz="8640" kern="1200">
        <a:solidFill>
          <a:schemeClr val="tx1"/>
        </a:solidFill>
        <a:latin typeface="+mn-lt"/>
        <a:ea typeface="+mn-ea"/>
        <a:cs typeface="+mn-cs"/>
      </a:defRPr>
    </a:lvl7pPr>
    <a:lvl8pPr marL="15361920" algn="l" defTabSz="4389120" rtl="0" eaLnBrk="1" latinLnBrk="0" hangingPunct="1">
      <a:defRPr sz="8640" kern="1200">
        <a:solidFill>
          <a:schemeClr val="tx1"/>
        </a:solidFill>
        <a:latin typeface="+mn-lt"/>
        <a:ea typeface="+mn-ea"/>
        <a:cs typeface="+mn-cs"/>
      </a:defRPr>
    </a:lvl8pPr>
    <a:lvl9pPr marL="17556480" algn="l" defTabSz="4389120" rtl="0" eaLnBrk="1" latinLnBrk="0" hangingPunct="1">
      <a:defRPr sz="864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80" autoAdjust="0"/>
    <p:restoredTop sz="96433" autoAdjust="0"/>
  </p:normalViewPr>
  <p:slideViewPr>
    <p:cSldViewPr snapToGrid="0">
      <p:cViewPr>
        <p:scale>
          <a:sx n="25" d="100"/>
          <a:sy n="25" d="100"/>
        </p:scale>
        <p:origin x="1776" y="-20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home\fishy\Documents\Research\fast-2018\caching-result-stacke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61083692839279813"/>
          <c:y val="5.1192544430694563E-2"/>
          <c:w val="0.33184206060008237"/>
          <c:h val="0.72176687201094358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Fileserver A</c:v>
                </c:pt>
              </c:strCache>
            </c:strRef>
          </c:tx>
          <c:spPr>
            <a:solidFill>
              <a:schemeClr val="bg2"/>
            </a:solidFill>
            <a:ln>
              <a:solidFill>
                <a:schemeClr val="tx1"/>
              </a:solidFill>
            </a:ln>
            <a:effectLst/>
          </c:spPr>
          <c:invertIfNegative val="0"/>
          <c:errBars>
            <c:errBarType val="both"/>
            <c:errValType val="cust"/>
            <c:noEndCap val="0"/>
            <c:plus>
              <c:numRef>
                <c:f>Sheet1!$H$2:$H$8</c:f>
                <c:numCache>
                  <c:formatCode>General</c:formatCode>
                  <c:ptCount val="7"/>
                  <c:pt idx="0">
                    <c:v>86.899646070000003</c:v>
                  </c:pt>
                  <c:pt idx="1">
                    <c:v>47.026277149999999</c:v>
                  </c:pt>
                  <c:pt idx="2">
                    <c:v>98.939352290000002</c:v>
                  </c:pt>
                  <c:pt idx="4">
                    <c:v>74.579070639999998</c:v>
                  </c:pt>
                  <c:pt idx="5">
                    <c:v>56.259226890000001</c:v>
                  </c:pt>
                  <c:pt idx="6">
                    <c:v>108.2791673</c:v>
                  </c:pt>
                </c:numCache>
              </c:numRef>
            </c:plus>
            <c:minus>
              <c:numRef>
                <c:f>Sheet1!$H$2:$H$8</c:f>
                <c:numCache>
                  <c:formatCode>General</c:formatCode>
                  <c:ptCount val="7"/>
                  <c:pt idx="0">
                    <c:v>86.899646070000003</c:v>
                  </c:pt>
                  <c:pt idx="1">
                    <c:v>47.026277149999999</c:v>
                  </c:pt>
                  <c:pt idx="2">
                    <c:v>98.939352290000002</c:v>
                  </c:pt>
                  <c:pt idx="4">
                    <c:v>74.579070639999998</c:v>
                  </c:pt>
                  <c:pt idx="5">
                    <c:v>56.259226890000001</c:v>
                  </c:pt>
                  <c:pt idx="6">
                    <c:v>108.2791673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Sheet1!$B$2:$B$8</c:f>
              <c:strCache>
                <c:ptCount val="7"/>
                <c:pt idx="0">
                  <c:v>Fileserver A + Fileserver B, A is preferred</c:v>
                </c:pt>
                <c:pt idx="1">
                  <c:v>Fileserver A + Fileserver B, no preference</c:v>
                </c:pt>
                <c:pt idx="2">
                  <c:v>Fileserver A, alone</c:v>
                </c:pt>
                <c:pt idx="4">
                  <c:v>Fileserver A + Fileserver B, A is preferred</c:v>
                </c:pt>
                <c:pt idx="5">
                  <c:v>Fileserver A + Fileserver B, no preference</c:v>
                </c:pt>
                <c:pt idx="6">
                  <c:v>Fileserver A, alone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1904.855278</c:v>
                </c:pt>
                <c:pt idx="1">
                  <c:v>1227.2180559999999</c:v>
                </c:pt>
                <c:pt idx="2">
                  <c:v>2831.1577779999998</c:v>
                </c:pt>
                <c:pt idx="4">
                  <c:v>1472.7113890000001</c:v>
                </c:pt>
                <c:pt idx="5">
                  <c:v>941.54666669999995</c:v>
                </c:pt>
                <c:pt idx="6">
                  <c:v>2555.018333</c:v>
                </c:pt>
              </c:numCache>
            </c:numRef>
          </c:val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Fileserver B</c:v>
                </c:pt>
              </c:strCache>
            </c:strRef>
          </c:tx>
          <c:spPr>
            <a:solidFill>
              <a:schemeClr val="accent6"/>
            </a:solidFill>
            <a:ln>
              <a:solidFill>
                <a:schemeClr val="tx1"/>
              </a:solidFill>
            </a:ln>
            <a:effectLst/>
          </c:spPr>
          <c:invertIfNegative val="0"/>
          <c:errBars>
            <c:errBarType val="both"/>
            <c:errValType val="cust"/>
            <c:noEndCap val="0"/>
            <c:plus>
              <c:numRef>
                <c:f>Sheet1!$I$2:$I$8</c:f>
                <c:numCache>
                  <c:formatCode>General</c:formatCode>
                  <c:ptCount val="7"/>
                  <c:pt idx="0">
                    <c:v>46.519010110000004</c:v>
                  </c:pt>
                  <c:pt idx="1">
                    <c:v>46.575578360000002</c:v>
                  </c:pt>
                  <c:pt idx="2">
                    <c:v>0</c:v>
                  </c:pt>
                  <c:pt idx="4">
                    <c:v>25.918389650000002</c:v>
                  </c:pt>
                  <c:pt idx="5">
                    <c:v>56.659710339999997</c:v>
                  </c:pt>
                  <c:pt idx="6">
                    <c:v>0</c:v>
                  </c:pt>
                </c:numCache>
              </c:numRef>
            </c:plus>
            <c:minus>
              <c:numRef>
                <c:f>Sheet1!$I$2:$I$8</c:f>
                <c:numCache>
                  <c:formatCode>General</c:formatCode>
                  <c:ptCount val="7"/>
                  <c:pt idx="0">
                    <c:v>46.519010110000004</c:v>
                  </c:pt>
                  <c:pt idx="1">
                    <c:v>46.575578360000002</c:v>
                  </c:pt>
                  <c:pt idx="2">
                    <c:v>0</c:v>
                  </c:pt>
                  <c:pt idx="4">
                    <c:v>25.918389650000002</c:v>
                  </c:pt>
                  <c:pt idx="5">
                    <c:v>56.659710339999997</c:v>
                  </c:pt>
                  <c:pt idx="6">
                    <c:v>0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Sheet1!$B$2:$B$8</c:f>
              <c:strCache>
                <c:ptCount val="7"/>
                <c:pt idx="0">
                  <c:v>Fileserver A + Fileserver B, A is preferred</c:v>
                </c:pt>
                <c:pt idx="1">
                  <c:v>Fileserver A + Fileserver B, no preference</c:v>
                </c:pt>
                <c:pt idx="2">
                  <c:v>Fileserver A, alone</c:v>
                </c:pt>
                <c:pt idx="4">
                  <c:v>Fileserver A + Fileserver B, A is preferred</c:v>
                </c:pt>
                <c:pt idx="5">
                  <c:v>Fileserver A + Fileserver B, no preference</c:v>
                </c:pt>
                <c:pt idx="6">
                  <c:v>Fileserver A, alone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893.80499999999995</c:v>
                </c:pt>
                <c:pt idx="1">
                  <c:v>1227.6741669999999</c:v>
                </c:pt>
                <c:pt idx="2">
                  <c:v>0</c:v>
                </c:pt>
                <c:pt idx="4">
                  <c:v>807.45833330000005</c:v>
                </c:pt>
                <c:pt idx="5">
                  <c:v>930.94916669999998</c:v>
                </c:pt>
                <c:pt idx="6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overlap val="100"/>
        <c:axId val="-757827376"/>
        <c:axId val="-757827920"/>
      </c:barChart>
      <c:catAx>
        <c:axId val="-75782737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44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757827920"/>
        <c:crosses val="autoZero"/>
        <c:auto val="1"/>
        <c:lblAlgn val="ctr"/>
        <c:lblOffset val="100"/>
        <c:noMultiLvlLbl val="1"/>
      </c:catAx>
      <c:valAx>
        <c:axId val="-757827920"/>
        <c:scaling>
          <c:orientation val="minMax"/>
          <c:max val="3000"/>
        </c:scaling>
        <c:delete val="0"/>
        <c:axPos val="b"/>
        <c:majorGridlines>
          <c:spPr>
            <a:ln w="9525" cap="flat" cmpd="sng" algn="ctr">
              <a:solidFill>
                <a:schemeClr val="bg1">
                  <a:lumMod val="50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44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ops/s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4400" b="0" i="0" u="none" strike="noStrike" kern="1200" baseline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out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44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757827376"/>
        <c:crosses val="autoZero"/>
        <c:crossBetween val="between"/>
        <c:majorUnit val="1000"/>
        <c:minorUnit val="50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225519748408696"/>
          <c:y val="0.85034517406747667"/>
          <c:w val="0.39392809687657754"/>
          <c:h val="8.915454615079337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4400" b="0" i="0" u="none" strike="noStrike" kern="1200" baseline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44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DC1324-E310-4A65-873D-9503C394914C}" type="datetimeFigureOut">
              <a:rPr lang="en-CA" smtClean="0"/>
              <a:t>2018-02-10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6575AC-4E91-4A75-A098-1BDF4FF4989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97683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389120" rtl="0" eaLnBrk="1" latinLnBrk="0" hangingPunct="1">
      <a:defRPr sz="5760" kern="1200">
        <a:solidFill>
          <a:schemeClr val="tx1"/>
        </a:solidFill>
        <a:latin typeface="+mn-lt"/>
        <a:ea typeface="+mn-ea"/>
        <a:cs typeface="+mn-cs"/>
      </a:defRPr>
    </a:lvl1pPr>
    <a:lvl2pPr marL="2194560" algn="l" defTabSz="4389120" rtl="0" eaLnBrk="1" latinLnBrk="0" hangingPunct="1">
      <a:defRPr sz="5760" kern="1200">
        <a:solidFill>
          <a:schemeClr val="tx1"/>
        </a:solidFill>
        <a:latin typeface="+mn-lt"/>
        <a:ea typeface="+mn-ea"/>
        <a:cs typeface="+mn-cs"/>
      </a:defRPr>
    </a:lvl2pPr>
    <a:lvl3pPr marL="4389120" algn="l" defTabSz="4389120" rtl="0" eaLnBrk="1" latinLnBrk="0" hangingPunct="1">
      <a:defRPr sz="5760" kern="1200">
        <a:solidFill>
          <a:schemeClr val="tx1"/>
        </a:solidFill>
        <a:latin typeface="+mn-lt"/>
        <a:ea typeface="+mn-ea"/>
        <a:cs typeface="+mn-cs"/>
      </a:defRPr>
    </a:lvl3pPr>
    <a:lvl4pPr marL="6583680" algn="l" defTabSz="4389120" rtl="0" eaLnBrk="1" latinLnBrk="0" hangingPunct="1">
      <a:defRPr sz="5760" kern="1200">
        <a:solidFill>
          <a:schemeClr val="tx1"/>
        </a:solidFill>
        <a:latin typeface="+mn-lt"/>
        <a:ea typeface="+mn-ea"/>
        <a:cs typeface="+mn-cs"/>
      </a:defRPr>
    </a:lvl4pPr>
    <a:lvl5pPr marL="8778240" algn="l" defTabSz="4389120" rtl="0" eaLnBrk="1" latinLnBrk="0" hangingPunct="1">
      <a:defRPr sz="5760" kern="1200">
        <a:solidFill>
          <a:schemeClr val="tx1"/>
        </a:solidFill>
        <a:latin typeface="+mn-lt"/>
        <a:ea typeface="+mn-ea"/>
        <a:cs typeface="+mn-cs"/>
      </a:defRPr>
    </a:lvl5pPr>
    <a:lvl6pPr marL="10972800" algn="l" defTabSz="4389120" rtl="0" eaLnBrk="1" latinLnBrk="0" hangingPunct="1">
      <a:defRPr sz="5760" kern="1200">
        <a:solidFill>
          <a:schemeClr val="tx1"/>
        </a:solidFill>
        <a:latin typeface="+mn-lt"/>
        <a:ea typeface="+mn-ea"/>
        <a:cs typeface="+mn-cs"/>
      </a:defRPr>
    </a:lvl6pPr>
    <a:lvl7pPr marL="13167360" algn="l" defTabSz="4389120" rtl="0" eaLnBrk="1" latinLnBrk="0" hangingPunct="1">
      <a:defRPr sz="5760" kern="1200">
        <a:solidFill>
          <a:schemeClr val="tx1"/>
        </a:solidFill>
        <a:latin typeface="+mn-lt"/>
        <a:ea typeface="+mn-ea"/>
        <a:cs typeface="+mn-cs"/>
      </a:defRPr>
    </a:lvl7pPr>
    <a:lvl8pPr marL="15361920" algn="l" defTabSz="4389120" rtl="0" eaLnBrk="1" latinLnBrk="0" hangingPunct="1">
      <a:defRPr sz="5760" kern="1200">
        <a:solidFill>
          <a:schemeClr val="tx1"/>
        </a:solidFill>
        <a:latin typeface="+mn-lt"/>
        <a:ea typeface="+mn-ea"/>
        <a:cs typeface="+mn-cs"/>
      </a:defRPr>
    </a:lvl8pPr>
    <a:lvl9pPr marL="17556480" algn="l" defTabSz="4389120" rtl="0" eaLnBrk="1" latinLnBrk="0" hangingPunct="1">
      <a:defRPr sz="576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6575AC-4E91-4A75-A098-1BDF4FF49894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41390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2918400" cy="322729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193766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8"/>
          <p:cNvGrpSpPr/>
          <p:nvPr/>
        </p:nvGrpSpPr>
        <p:grpSpPr>
          <a:xfrm>
            <a:off x="73516" y="1824"/>
            <a:ext cx="7028179" cy="43858995"/>
            <a:chOff x="6627813" y="195717"/>
            <a:chExt cx="1952625" cy="5678034"/>
          </a:xfrm>
          <a:noFill/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002720" y="3994304"/>
            <a:ext cx="23721120" cy="81976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696" y="13655040"/>
            <a:ext cx="23731146" cy="248716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980640" y="39264573"/>
            <a:ext cx="2758968" cy="23690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14F78747-2AEC-4AEC-BEAC-18205FB8368B}" type="datetime1">
              <a:rPr lang="en-US" smtClean="0"/>
              <a:pPr lvl="0"/>
              <a:t>2/10/2018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92694" y="39269181"/>
            <a:ext cx="20579357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840421" y="5041814"/>
            <a:ext cx="2105921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00">
                <a:solidFill>
                  <a:srgbClr val="FEFFFF"/>
                </a:solidFill>
              </a:defRPr>
            </a:lvl1pPr>
          </a:lstStyle>
          <a:p>
            <a:pPr lvl="0"/>
            <a:fld id="{EEE383E0-CAA5-4A64-A63A-B8BE2C2D0BE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3239241"/>
            <a:ext cx="32918400" cy="54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73580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iming>
    <p:tnLst>
      <p:par>
        <p:cTn id="1" dur="indefinite" restart="never" nodeType="tmRoot"/>
      </p:par>
    </p:tnLst>
  </p:timing>
  <p:txStyles>
    <p:titleStyle>
      <a:lvl1pPr algn="l" defTabSz="1645920" rtl="0" eaLnBrk="1" latinLnBrk="0" hangingPunct="1">
        <a:spcBef>
          <a:spcPct val="0"/>
        </a:spcBef>
        <a:buNone/>
        <a:defRPr sz="1296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1234440" indent="-1234440" algn="l" defTabSz="1645920" rtl="0" eaLnBrk="1" latinLnBrk="0" hangingPunct="1">
        <a:spcBef>
          <a:spcPts val="3600"/>
        </a:spcBef>
        <a:spcAft>
          <a:spcPts val="0"/>
        </a:spcAft>
        <a:buClr>
          <a:schemeClr val="accent1"/>
        </a:buClr>
        <a:buFont typeface="Wingdings 3" charset="2"/>
        <a:buChar char=""/>
        <a:defRPr sz="64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674620" indent="-1028700" algn="l" defTabSz="1645920" rtl="0" eaLnBrk="1" latinLnBrk="0" hangingPunct="1">
        <a:spcBef>
          <a:spcPts val="3600"/>
        </a:spcBef>
        <a:spcAft>
          <a:spcPts val="0"/>
        </a:spcAft>
        <a:buClr>
          <a:schemeClr val="accent1"/>
        </a:buClr>
        <a:buFont typeface="Wingdings 3" charset="2"/>
        <a:buChar char=""/>
        <a:defRPr sz="57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114800" indent="-822960" algn="l" defTabSz="1645920" rtl="0" eaLnBrk="1" latinLnBrk="0" hangingPunct="1">
        <a:spcBef>
          <a:spcPts val="3600"/>
        </a:spcBef>
        <a:spcAft>
          <a:spcPts val="0"/>
        </a:spcAft>
        <a:buClr>
          <a:schemeClr val="accent1"/>
        </a:buClr>
        <a:buFont typeface="Wingdings 3" charset="2"/>
        <a:buChar char=""/>
        <a:defRPr sz="50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760720" indent="-822960" algn="l" defTabSz="1645920" rtl="0" eaLnBrk="1" latinLnBrk="0" hangingPunct="1">
        <a:spcBef>
          <a:spcPts val="3600"/>
        </a:spcBef>
        <a:spcAft>
          <a:spcPts val="0"/>
        </a:spcAft>
        <a:buClr>
          <a:schemeClr val="accent1"/>
        </a:buClr>
        <a:buFont typeface="Wingdings 3" charset="2"/>
        <a:buChar char=""/>
        <a:defRPr sz="43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7406640" indent="-822960" algn="l" defTabSz="1645920" rtl="0" eaLnBrk="1" latinLnBrk="0" hangingPunct="1">
        <a:spcBef>
          <a:spcPts val="3600"/>
        </a:spcBef>
        <a:spcAft>
          <a:spcPts val="0"/>
        </a:spcAft>
        <a:buClr>
          <a:schemeClr val="accent1"/>
        </a:buClr>
        <a:buFont typeface="Wingdings 3" charset="2"/>
        <a:buChar char=""/>
        <a:defRPr sz="43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9052560" indent="-822960" algn="l" defTabSz="1645920" rtl="0" eaLnBrk="1" latinLnBrk="0" hangingPunct="1">
        <a:spcBef>
          <a:spcPts val="3600"/>
        </a:spcBef>
        <a:spcAft>
          <a:spcPts val="0"/>
        </a:spcAft>
        <a:buClr>
          <a:schemeClr val="accent1"/>
        </a:buClr>
        <a:buFont typeface="Wingdings 3" charset="2"/>
        <a:buChar char=""/>
        <a:defRPr sz="43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0698480" indent="-822960" algn="l" defTabSz="1645920" rtl="0" eaLnBrk="1" latinLnBrk="0" hangingPunct="1">
        <a:spcBef>
          <a:spcPts val="3600"/>
        </a:spcBef>
        <a:spcAft>
          <a:spcPts val="0"/>
        </a:spcAft>
        <a:buClr>
          <a:schemeClr val="accent1"/>
        </a:buClr>
        <a:buFont typeface="Wingdings 3" charset="2"/>
        <a:buChar char=""/>
        <a:defRPr sz="43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2344400" indent="-822960" algn="l" defTabSz="1645920" rtl="0" eaLnBrk="1" latinLnBrk="0" hangingPunct="1">
        <a:spcBef>
          <a:spcPts val="3600"/>
        </a:spcBef>
        <a:spcAft>
          <a:spcPts val="0"/>
        </a:spcAft>
        <a:buClr>
          <a:schemeClr val="accent1"/>
        </a:buClr>
        <a:buFont typeface="Wingdings 3" charset="2"/>
        <a:buChar char=""/>
        <a:defRPr sz="43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3990320" indent="-822960" algn="l" defTabSz="1645920" rtl="0" eaLnBrk="1" latinLnBrk="0" hangingPunct="1">
        <a:spcBef>
          <a:spcPts val="3600"/>
        </a:spcBef>
        <a:spcAft>
          <a:spcPts val="0"/>
        </a:spcAft>
        <a:buClr>
          <a:schemeClr val="accent1"/>
        </a:buClr>
        <a:buFont typeface="Wingdings 3" charset="2"/>
        <a:buChar char=""/>
        <a:defRPr sz="43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4592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164592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164592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164592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164592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164592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164592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164592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164592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CA" sz="8400" b="1" dirty="0" smtClean="0">
                <a:ln w="1905"/>
                <a:effectLst>
                  <a:outerShdw blurRad="38100" dist="38100" dir="2700000" algn="tl">
                    <a:schemeClr val="bg1">
                      <a:alpha val="43000"/>
                    </a:schemeClr>
                  </a:outerShdw>
                </a:effectLst>
                <a:ea typeface="Kozuka Gothic Pro M" pitchFamily="34" charset="-128"/>
                <a:cs typeface="Times New Roman" pitchFamily="18" charset="0"/>
              </a:rPr>
              <a:t>Spiffy: Enabling File-System Aware Storage Applications</a:t>
            </a:r>
            <a:endParaRPr lang="en-CA" sz="840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2343003"/>
            <a:ext cx="32918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000" i="1" dirty="0"/>
              <a:t>University of Toronto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693337"/>
              </p:ext>
            </p:extLst>
          </p:nvPr>
        </p:nvGraphicFramePr>
        <p:xfrm>
          <a:off x="114299" y="6634326"/>
          <a:ext cx="22256275" cy="124427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4701"/>
                <a:gridCol w="18941574"/>
              </a:tblGrid>
              <a:tr h="3239049">
                <a:tc>
                  <a:txBody>
                    <a:bodyPr/>
                    <a:lstStyle/>
                    <a:p>
                      <a:r>
                        <a:rPr lang="en-CA" sz="4800" b="1" i="0" dirty="0" smtClean="0">
                          <a:solidFill>
                            <a:schemeClr val="tx1"/>
                          </a:solidFill>
                        </a:rPr>
                        <a:t>Problem</a:t>
                      </a:r>
                      <a:endParaRPr lang="en-CA" sz="4800" b="1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1000"/>
                        </a:spcBef>
                        <a:tabLst/>
                      </a:pPr>
                      <a:r>
                        <a:rPr lang="en-CA" sz="4800" b="0" dirty="0" smtClean="0">
                          <a:solidFill>
                            <a:schemeClr val="tx1"/>
                          </a:solidFill>
                        </a:rPr>
                        <a:t>Building file-system</a:t>
                      </a:r>
                      <a:r>
                        <a:rPr lang="en-CA" sz="4800" b="0" baseline="0" dirty="0" smtClean="0">
                          <a:solidFill>
                            <a:schemeClr val="tx1"/>
                          </a:solidFill>
                        </a:rPr>
                        <a:t> aware </a:t>
                      </a:r>
                      <a:r>
                        <a:rPr lang="en-CA" sz="4800" b="0" baseline="0" dirty="0" smtClean="0">
                          <a:solidFill>
                            <a:schemeClr val="tx1"/>
                          </a:solidFill>
                        </a:rPr>
                        <a:t>applications and tools is difficult</a:t>
                      </a:r>
                      <a:endParaRPr lang="en-CA" sz="4800" b="0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1181100" indent="-723900">
                        <a:spcBef>
                          <a:spcPts val="1000"/>
                        </a:spcBef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CA" sz="4400" b="0" baseline="0" dirty="0" smtClean="0">
                          <a:solidFill>
                            <a:schemeClr val="tx1"/>
                          </a:solidFill>
                        </a:rPr>
                        <a:t>File system format complex and often poorly documented</a:t>
                      </a:r>
                    </a:p>
                    <a:p>
                      <a:pPr marL="1181100" lvl="0" indent="-723900">
                        <a:spcBef>
                          <a:spcPts val="1000"/>
                        </a:spcBef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CA" sz="4400" b="0" baseline="0" dirty="0" smtClean="0">
                          <a:solidFill>
                            <a:schemeClr val="tx1"/>
                          </a:solidFill>
                        </a:rPr>
                        <a:t>Bugs lead to system crash, data loss, and security vulnerability</a:t>
                      </a:r>
                    </a:p>
                    <a:p>
                      <a:pPr marL="1181100" lvl="0" indent="-723900">
                        <a:spcBef>
                          <a:spcPts val="1000"/>
                        </a:spcBef>
                        <a:spcAft>
                          <a:spcPts val="1000"/>
                        </a:spcAft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CA" sz="4400" b="0" baseline="0" dirty="0" smtClean="0">
                          <a:solidFill>
                            <a:schemeClr val="tx1"/>
                          </a:solidFill>
                        </a:rPr>
                        <a:t>Same tool must be rebuilt from scratch for each file system</a:t>
                      </a:r>
                      <a:endParaRPr lang="en-CA" sz="44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903609">
                <a:tc>
                  <a:txBody>
                    <a:bodyPr/>
                    <a:lstStyle/>
                    <a:p>
                      <a:r>
                        <a:rPr lang="en-CA" sz="4800" b="1" i="1" dirty="0" smtClean="0">
                          <a:solidFill>
                            <a:schemeClr val="tx1"/>
                          </a:solidFill>
                        </a:rPr>
                        <a:t>Goals</a:t>
                      </a:r>
                      <a:endParaRPr lang="en-CA" sz="4800" b="1" i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225" indent="0"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CA" sz="4800" b="0" dirty="0" smtClean="0">
                          <a:solidFill>
                            <a:schemeClr val="tx1"/>
                          </a:solidFill>
                        </a:rPr>
                        <a:t>Simplify</a:t>
                      </a:r>
                      <a:r>
                        <a:rPr lang="en-CA" sz="4800" b="0" baseline="0" dirty="0" smtClean="0">
                          <a:solidFill>
                            <a:schemeClr val="tx1"/>
                          </a:solidFill>
                        </a:rPr>
                        <a:t> development effort of file-system aware applications</a:t>
                      </a:r>
                    </a:p>
                    <a:p>
                      <a:pPr marL="1181100" indent="-723900">
                        <a:spcBef>
                          <a:spcPts val="1000"/>
                        </a:spcBef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CA" sz="4400" b="0" baseline="0" dirty="0" smtClean="0">
                          <a:solidFill>
                            <a:schemeClr val="tx1"/>
                          </a:solidFill>
                        </a:rPr>
                        <a:t>Reduce file-system specific code</a:t>
                      </a:r>
                    </a:p>
                    <a:p>
                      <a:pPr marL="1181100" indent="-723900">
                        <a:spcBef>
                          <a:spcPts val="1000"/>
                        </a:spcBef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CA" sz="4400" b="0" baseline="0" dirty="0" smtClean="0">
                          <a:solidFill>
                            <a:schemeClr val="tx1"/>
                          </a:solidFill>
                        </a:rPr>
                        <a:t>Enable code reuse across file systems</a:t>
                      </a:r>
                      <a:endParaRPr lang="en-CA" sz="44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2225" indent="0">
                        <a:spcBef>
                          <a:spcPts val="1000"/>
                        </a:spcBef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CA" sz="4800" b="0" baseline="0" dirty="0" smtClean="0">
                          <a:solidFill>
                            <a:schemeClr val="tx1"/>
                          </a:solidFill>
                        </a:rPr>
                        <a:t>Improve robustness of file-system aware applications</a:t>
                      </a:r>
                    </a:p>
                    <a:p>
                      <a:pPr marL="1181100" indent="-723900">
                        <a:spcBef>
                          <a:spcPts val="1000"/>
                        </a:spcBef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CA" sz="4400" b="0" baseline="0" dirty="0" smtClean="0">
                          <a:solidFill>
                            <a:schemeClr val="tx1"/>
                          </a:solidFill>
                        </a:rPr>
                        <a:t>Enable correct traversal of file system metadata</a:t>
                      </a:r>
                    </a:p>
                    <a:p>
                      <a:pPr marL="1181100" indent="-723900">
                        <a:spcBef>
                          <a:spcPts val="1000"/>
                        </a:spcBef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CA" sz="4400" b="0" baseline="0" dirty="0" smtClean="0">
                          <a:solidFill>
                            <a:schemeClr val="tx1"/>
                          </a:solidFill>
                        </a:rPr>
                        <a:t>Ensure type-safe read and write of file system metadata</a:t>
                      </a:r>
                      <a:endParaRPr lang="en-CA" sz="44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300088">
                <a:tc>
                  <a:txBody>
                    <a:bodyPr/>
                    <a:lstStyle/>
                    <a:p>
                      <a:pPr marL="0" marR="0" indent="0" algn="l" defTabSz="16459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4800" b="1" i="1" dirty="0" smtClean="0">
                          <a:solidFill>
                            <a:schemeClr val="tx1"/>
                          </a:solidFill>
                        </a:rPr>
                        <a:t>Approach</a:t>
                      </a:r>
                      <a:r>
                        <a:rPr lang="en-CA" sz="4800" b="1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CA" sz="48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14400" indent="-914400">
                        <a:spcBef>
                          <a:spcPts val="1000"/>
                        </a:spcBef>
                        <a:buFont typeface="+mj-lt"/>
                        <a:buAutoNum type="arabicPeriod"/>
                      </a:pPr>
                      <a:r>
                        <a:rPr lang="en-CA" sz="4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Enable full specification of a file system’s format</a:t>
                      </a:r>
                    </a:p>
                    <a:p>
                      <a:pPr marL="914400" indent="-914400">
                        <a:spcBef>
                          <a:spcPts val="1000"/>
                        </a:spcBef>
                        <a:buFont typeface="+mj-lt"/>
                        <a:buAutoNum type="arabicPeriod"/>
                      </a:pPr>
                      <a:r>
                        <a:rPr lang="en-CA" sz="4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Generate file system library from specification</a:t>
                      </a:r>
                    </a:p>
                    <a:p>
                      <a:pPr marL="1181100" indent="-723900">
                        <a:spcBef>
                          <a:spcPts val="1000"/>
                        </a:spcBef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CA" sz="4400" b="0" baseline="0" dirty="0" smtClean="0">
                          <a:solidFill>
                            <a:schemeClr val="tx1"/>
                          </a:solidFill>
                        </a:rPr>
                        <a:t>Provides type-safe parsing and serialization routines</a:t>
                      </a:r>
                    </a:p>
                    <a:p>
                      <a:pPr marL="1181100" indent="-723900">
                        <a:spcBef>
                          <a:spcPts val="1000"/>
                        </a:spcBef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CA" sz="4400" b="0" baseline="0" dirty="0" smtClean="0">
                          <a:solidFill>
                            <a:schemeClr val="tx1"/>
                          </a:solidFill>
                        </a:rPr>
                        <a:t>Enables type introspection and traversal of file system metadata</a:t>
                      </a:r>
                      <a:endParaRPr lang="en-CA" sz="44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914400" indent="-914400">
                        <a:spcBef>
                          <a:spcPts val="1000"/>
                        </a:spcBef>
                        <a:buFont typeface="+mj-lt"/>
                        <a:buAutoNum type="arabicPeriod" startAt="3"/>
                      </a:pPr>
                      <a:r>
                        <a:rPr lang="en-CA" sz="4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Application developer uses Spiffy to build robust tools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94" name="TextBox 193"/>
          <p:cNvSpPr txBox="1"/>
          <p:nvPr/>
        </p:nvSpPr>
        <p:spPr>
          <a:xfrm>
            <a:off x="1143944" y="25355174"/>
            <a:ext cx="1547731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600" b="1" dirty="0" smtClean="0"/>
              <a:t>Spiffy File-System </a:t>
            </a:r>
            <a:r>
              <a:rPr lang="en-CA" sz="6600" b="1" dirty="0" smtClean="0"/>
              <a:t>Aware Applications</a:t>
            </a:r>
            <a:endParaRPr lang="en-CA" sz="6600" b="1" dirty="0"/>
          </a:p>
        </p:txBody>
      </p:sp>
      <p:sp>
        <p:nvSpPr>
          <p:cNvPr id="196" name="Rectangle 195"/>
          <p:cNvSpPr/>
          <p:nvPr/>
        </p:nvSpPr>
        <p:spPr>
          <a:xfrm>
            <a:off x="20955738" y="35015856"/>
            <a:ext cx="11318619" cy="82381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5400" i="1" dirty="0" smtClean="0"/>
              <a:t>Runtime Metadata </a:t>
            </a:r>
            <a:r>
              <a:rPr lang="en-CA" sz="5400" i="1" dirty="0" smtClean="0"/>
              <a:t>Interpretation</a:t>
            </a:r>
            <a:endParaRPr lang="en-CA" sz="1000" i="1" dirty="0"/>
          </a:p>
          <a:p>
            <a:pPr marL="723900" lvl="1" indent="-6858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CA" sz="4800" dirty="0"/>
              <a:t>Intercepts and interprets block type during </a:t>
            </a:r>
            <a:r>
              <a:rPr lang="en-CA" sz="4800" dirty="0" smtClean="0"/>
              <a:t>runtime</a:t>
            </a:r>
            <a:r>
              <a:rPr lang="en-CA" sz="4800" dirty="0"/>
              <a:t>, while the file system is </a:t>
            </a:r>
            <a:r>
              <a:rPr lang="en-CA" sz="4800" dirty="0" smtClean="0"/>
              <a:t>mounted, without any modification to file system</a:t>
            </a:r>
            <a:endParaRPr lang="en-CA" sz="4800" dirty="0"/>
          </a:p>
          <a:p>
            <a:pPr marL="38100" lvl="1">
              <a:spcBef>
                <a:spcPts val="1000"/>
              </a:spcBef>
            </a:pPr>
            <a:endParaRPr lang="en-CA" sz="400" dirty="0" smtClean="0"/>
          </a:p>
          <a:p>
            <a:pPr>
              <a:spcBef>
                <a:spcPts val="1000"/>
              </a:spcBef>
            </a:pPr>
            <a:r>
              <a:rPr lang="en-CA" sz="5400" i="1" dirty="0"/>
              <a:t>Prioritized Block Layer Cache</a:t>
            </a:r>
            <a:endParaRPr lang="en-CA" sz="1000" i="1" dirty="0"/>
          </a:p>
          <a:p>
            <a:pPr marL="723900" lvl="1" indent="-6858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CA" sz="4800" dirty="0"/>
              <a:t>Preferentially caches data </a:t>
            </a:r>
            <a:r>
              <a:rPr lang="en-CA" sz="4800" dirty="0" smtClean="0"/>
              <a:t>blocks for </a:t>
            </a:r>
            <a:r>
              <a:rPr lang="en-CA" sz="4800" dirty="0"/>
              <a:t>prioritized users</a:t>
            </a:r>
          </a:p>
          <a:p>
            <a:pPr marL="723900" lvl="1" indent="-6858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CA" sz="4800" dirty="0"/>
              <a:t>Experiment shows </a:t>
            </a:r>
            <a:r>
              <a:rPr lang="en-CA" sz="4800" dirty="0" smtClean="0"/>
              <a:t>improvement in overall throughput</a:t>
            </a:r>
            <a:endParaRPr lang="en-CA" sz="4800" dirty="0"/>
          </a:p>
        </p:txBody>
      </p:sp>
      <p:sp>
        <p:nvSpPr>
          <p:cNvPr id="222" name="Rectangle 221"/>
          <p:cNvSpPr/>
          <p:nvPr/>
        </p:nvSpPr>
        <p:spPr>
          <a:xfrm>
            <a:off x="17650904" y="25242802"/>
            <a:ext cx="14623453" cy="9782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5400" i="1" dirty="0" smtClean="0"/>
              <a:t>File System Conversion Tool</a:t>
            </a:r>
            <a:endParaRPr lang="en-CA" sz="1000" dirty="0"/>
          </a:p>
          <a:p>
            <a:pPr marL="685800" indent="-4953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CA" sz="4800" dirty="0" smtClean="0"/>
              <a:t>Converts from one file system to another without moving data blocks</a:t>
            </a:r>
          </a:p>
          <a:p>
            <a:pPr marL="685800" indent="-4953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CA" sz="4800" dirty="0" smtClean="0"/>
              <a:t>Experiment shows up to 50 times faster than reformat-and-copy</a:t>
            </a:r>
            <a:endParaRPr lang="en-CA" sz="4800" dirty="0"/>
          </a:p>
          <a:p>
            <a:pPr marL="685800" indent="-4953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CA" sz="4800" dirty="0" smtClean="0"/>
              <a:t>Comparing Spiffy vs. manually-written </a:t>
            </a:r>
            <a:r>
              <a:rPr lang="en-CA" sz="4800" dirty="0" smtClean="0"/>
              <a:t>conversion tool shows only 16.7</a:t>
            </a:r>
            <a:r>
              <a:rPr lang="en-CA" sz="4800" dirty="0" smtClean="0"/>
              <a:t>% </a:t>
            </a:r>
            <a:r>
              <a:rPr lang="en-CA" sz="4800" dirty="0" smtClean="0"/>
              <a:t>overhead</a:t>
            </a:r>
            <a:endParaRPr lang="en-CA" sz="800" dirty="0" smtClean="0"/>
          </a:p>
          <a:p>
            <a:pPr>
              <a:spcBef>
                <a:spcPts val="1000"/>
              </a:spcBef>
            </a:pPr>
            <a:r>
              <a:rPr lang="en-CA" sz="5400" i="1" dirty="0"/>
              <a:t>Type-Specific Corruption Tool</a:t>
            </a:r>
            <a:endParaRPr lang="en-CA" sz="1000" dirty="0"/>
          </a:p>
          <a:p>
            <a:pPr marL="685800" indent="-4953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CA" sz="4800" dirty="0"/>
              <a:t>Creates a </a:t>
            </a:r>
            <a:r>
              <a:rPr lang="en-CA" sz="4800" dirty="0" smtClean="0"/>
              <a:t>corrupt </a:t>
            </a:r>
            <a:r>
              <a:rPr lang="en-CA" sz="4800" dirty="0"/>
              <a:t>file system image by </a:t>
            </a:r>
            <a:r>
              <a:rPr lang="en-CA" sz="4800" dirty="0" smtClean="0"/>
              <a:t>wiping </a:t>
            </a:r>
            <a:r>
              <a:rPr lang="en-CA" sz="4800" dirty="0"/>
              <a:t>a specific field of a metadata structure </a:t>
            </a:r>
            <a:endParaRPr lang="en-CA" sz="4800" dirty="0" smtClean="0"/>
          </a:p>
          <a:p>
            <a:pPr marL="685800" indent="-495300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CA" sz="4800" dirty="0" smtClean="0"/>
              <a:t>Experiments found crash bugs in dumpe2fs (Ext4) and dump.f2fs (F2FS)</a:t>
            </a:r>
            <a:endParaRPr lang="en-CA" sz="4800" dirty="0"/>
          </a:p>
        </p:txBody>
      </p:sp>
      <p:graphicFrame>
        <p:nvGraphicFramePr>
          <p:cNvPr id="269" name="Chart 26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97028091"/>
              </p:ext>
            </p:extLst>
          </p:nvPr>
        </p:nvGraphicFramePr>
        <p:xfrm>
          <a:off x="-3505111" y="35968416"/>
          <a:ext cx="24993600" cy="65199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0" name="TextBox 269"/>
          <p:cNvSpPr txBox="1"/>
          <p:nvPr/>
        </p:nvSpPr>
        <p:spPr>
          <a:xfrm>
            <a:off x="0" y="1524878"/>
            <a:ext cx="3291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dirty="0" err="1"/>
              <a:t>Kuei</a:t>
            </a:r>
            <a:r>
              <a:rPr lang="en-CA" sz="4400" dirty="0"/>
              <a:t> Sun, Daniel Fryer</a:t>
            </a:r>
            <a:r>
              <a:rPr lang="en-CA" sz="4400" dirty="0" smtClean="0"/>
              <a:t>, Joseph Chu, Matthew </a:t>
            </a:r>
            <a:r>
              <a:rPr lang="en-CA" sz="4400" dirty="0" err="1" smtClean="0"/>
              <a:t>Lakier</a:t>
            </a:r>
            <a:r>
              <a:rPr lang="en-CA" sz="4400" dirty="0" smtClean="0"/>
              <a:t>, </a:t>
            </a:r>
            <a:r>
              <a:rPr lang="en-CA" sz="4400" dirty="0"/>
              <a:t>Angela </a:t>
            </a:r>
            <a:r>
              <a:rPr lang="en-CA" sz="4400" dirty="0" err="1"/>
              <a:t>Demke</a:t>
            </a:r>
            <a:r>
              <a:rPr lang="en-CA" sz="4400" dirty="0"/>
              <a:t> Brown</a:t>
            </a:r>
            <a:r>
              <a:rPr lang="en-CA" sz="4400" dirty="0" smtClean="0"/>
              <a:t>, and </a:t>
            </a:r>
            <a:r>
              <a:rPr lang="en-CA" sz="4400" dirty="0" err="1"/>
              <a:t>Ashvin</a:t>
            </a:r>
            <a:r>
              <a:rPr lang="en-CA" sz="4400" dirty="0"/>
              <a:t> </a:t>
            </a:r>
            <a:r>
              <a:rPr lang="en-CA" sz="4400" dirty="0" err="1"/>
              <a:t>Goel</a:t>
            </a:r>
            <a:endParaRPr lang="en-CA" sz="4400" dirty="0"/>
          </a:p>
        </p:txBody>
      </p:sp>
      <p:sp>
        <p:nvSpPr>
          <p:cNvPr id="37" name="TextBox 36"/>
          <p:cNvSpPr txBox="1"/>
          <p:nvPr/>
        </p:nvSpPr>
        <p:spPr>
          <a:xfrm>
            <a:off x="114300" y="3781097"/>
            <a:ext cx="19697700" cy="2790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6600" b="1" dirty="0" smtClean="0"/>
              <a:t>File-System </a:t>
            </a:r>
            <a:r>
              <a:rPr lang="en-CA" sz="6600" b="1" dirty="0" smtClean="0"/>
              <a:t>Aware </a:t>
            </a:r>
            <a:r>
              <a:rPr lang="en-CA" sz="6600" b="1" dirty="0" smtClean="0"/>
              <a:t>Applications and Tools</a:t>
            </a:r>
          </a:p>
          <a:p>
            <a:pPr marL="1181100" indent="-647700">
              <a:spcBef>
                <a:spcPts val="1200"/>
              </a:spcBef>
              <a:buFont typeface="Arial" panose="020B0604020202020204" pitchFamily="34" charset="0"/>
              <a:buChar char="•"/>
              <a:tabLst>
                <a:tab pos="1257300" algn="l"/>
              </a:tabLst>
            </a:pPr>
            <a:r>
              <a:rPr lang="en-CA" sz="4800" dirty="0" smtClean="0"/>
              <a:t>Partition editor, file system checker, defragmentation tool, </a:t>
            </a:r>
            <a:r>
              <a:rPr lang="en-CA" sz="4800" dirty="0" err="1" smtClean="0"/>
              <a:t>etc</a:t>
            </a:r>
            <a:endParaRPr lang="en-CA" sz="4800" dirty="0" smtClean="0"/>
          </a:p>
          <a:p>
            <a:pPr marL="1181100" indent="-647700">
              <a:spcBef>
                <a:spcPts val="400"/>
              </a:spcBef>
              <a:buFont typeface="Arial" panose="020B0604020202020204" pitchFamily="34" charset="0"/>
              <a:buChar char="•"/>
              <a:tabLst>
                <a:tab pos="1257300" algn="l"/>
              </a:tabLst>
            </a:pPr>
            <a:r>
              <a:rPr lang="en-CA" sz="4800" dirty="0" smtClean="0"/>
              <a:t>Operate directly on file system metadata, bypass VFS layer</a:t>
            </a:r>
            <a:endParaRPr lang="en-CA" sz="4800" dirty="0"/>
          </a:p>
        </p:txBody>
      </p:sp>
      <p:grpSp>
        <p:nvGrpSpPr>
          <p:cNvPr id="79" name="Group 78"/>
          <p:cNvGrpSpPr/>
          <p:nvPr/>
        </p:nvGrpSpPr>
        <p:grpSpPr>
          <a:xfrm>
            <a:off x="28021283" y="4301720"/>
            <a:ext cx="4242548" cy="3665593"/>
            <a:chOff x="10180836" y="10978653"/>
            <a:chExt cx="1440000" cy="1419231"/>
          </a:xfrm>
        </p:grpSpPr>
        <p:sp>
          <p:nvSpPr>
            <p:cNvPr id="80" name="Rectangle 79"/>
            <p:cNvSpPr/>
            <p:nvPr/>
          </p:nvSpPr>
          <p:spPr>
            <a:xfrm>
              <a:off x="10180836" y="10978653"/>
              <a:ext cx="1440000" cy="944513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46800" rIns="0" bIns="46800" rtlCol="0" anchor="ctr"/>
            <a:lstStyle/>
            <a:p>
              <a:pPr algn="ctr"/>
              <a:r>
                <a:rPr lang="en-CA" sz="4400" dirty="0" smtClean="0">
                  <a:solidFill>
                    <a:schemeClr val="tx1"/>
                  </a:solidFill>
                </a:rPr>
                <a:t>File </a:t>
              </a:r>
              <a:r>
                <a:rPr lang="en-CA" sz="4400" dirty="0">
                  <a:solidFill>
                    <a:schemeClr val="tx1"/>
                  </a:solidFill>
                </a:rPr>
                <a:t>System </a:t>
              </a:r>
              <a:r>
                <a:rPr lang="en-CA" sz="4400" dirty="0" smtClean="0">
                  <a:solidFill>
                    <a:schemeClr val="tx1"/>
                  </a:solidFill>
                </a:rPr>
                <a:t>Metadata Structures</a:t>
              </a:r>
              <a:endParaRPr lang="en-CA" sz="4400" dirty="0">
                <a:solidFill>
                  <a:schemeClr val="tx1"/>
                </a:solidFill>
              </a:endParaRPr>
            </a:p>
          </p:txBody>
        </p:sp>
        <p:sp>
          <p:nvSpPr>
            <p:cNvPr id="81" name="Rectangle 80"/>
            <p:cNvSpPr/>
            <p:nvPr/>
          </p:nvSpPr>
          <p:spPr>
            <a:xfrm>
              <a:off x="10180836" y="11925627"/>
              <a:ext cx="1440000" cy="472257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46800" rIns="0" bIns="46800" rtlCol="0" anchor="ctr"/>
            <a:lstStyle/>
            <a:p>
              <a:pPr algn="ctr"/>
              <a:r>
                <a:rPr lang="en-CA" sz="4400" b="1" dirty="0" smtClean="0">
                  <a:solidFill>
                    <a:schemeClr val="tx1"/>
                  </a:solidFill>
                  <a:effectLst/>
                </a:rPr>
                <a:t>Annotations</a:t>
              </a:r>
              <a:endParaRPr lang="en-CA" sz="4400" b="1" dirty="0">
                <a:solidFill>
                  <a:schemeClr val="tx1"/>
                </a:solidFill>
                <a:effectLst/>
              </a:endParaRPr>
            </a:p>
          </p:txBody>
        </p:sp>
      </p:grpSp>
      <p:sp>
        <p:nvSpPr>
          <p:cNvPr id="82" name="Rectangle 81"/>
          <p:cNvSpPr/>
          <p:nvPr/>
        </p:nvSpPr>
        <p:spPr>
          <a:xfrm>
            <a:off x="24321261" y="4297346"/>
            <a:ext cx="3037275" cy="183717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6800" rIns="0" bIns="46800" rtlCol="0" anchor="ctr"/>
          <a:lstStyle/>
          <a:p>
            <a:pPr algn="ctr"/>
            <a:r>
              <a:rPr lang="en-CA" sz="4400" dirty="0" smtClean="0">
                <a:solidFill>
                  <a:schemeClr val="tx1"/>
                </a:solidFill>
              </a:rPr>
              <a:t>File System Developer</a:t>
            </a:r>
            <a:endParaRPr lang="en-CA" sz="4400" dirty="0">
              <a:solidFill>
                <a:schemeClr val="tx1"/>
              </a:solidFill>
            </a:endParaRPr>
          </a:p>
        </p:txBody>
      </p:sp>
      <p:grpSp>
        <p:nvGrpSpPr>
          <p:cNvPr id="83" name="Group 82"/>
          <p:cNvGrpSpPr>
            <a:grpSpLocks noChangeAspect="1"/>
          </p:cNvGrpSpPr>
          <p:nvPr/>
        </p:nvGrpSpPr>
        <p:grpSpPr>
          <a:xfrm>
            <a:off x="21832378" y="4139171"/>
            <a:ext cx="1967107" cy="4247278"/>
            <a:chOff x="4859338" y="3776663"/>
            <a:chExt cx="598488" cy="1292225"/>
          </a:xfrm>
        </p:grpSpPr>
        <p:sp>
          <p:nvSpPr>
            <p:cNvPr id="84" name="Freeform 5"/>
            <p:cNvSpPr>
              <a:spLocks/>
            </p:cNvSpPr>
            <p:nvPr/>
          </p:nvSpPr>
          <p:spPr bwMode="auto">
            <a:xfrm>
              <a:off x="4868863" y="3917950"/>
              <a:ext cx="581025" cy="1139825"/>
            </a:xfrm>
            <a:custGeom>
              <a:avLst/>
              <a:gdLst>
                <a:gd name="T0" fmla="*/ 250 w 1553"/>
                <a:gd name="T1" fmla="*/ 791 h 3047"/>
                <a:gd name="T2" fmla="*/ 194 w 1553"/>
                <a:gd name="T3" fmla="*/ 572 h 3047"/>
                <a:gd name="T4" fmla="*/ 262 w 1553"/>
                <a:gd name="T5" fmla="*/ 325 h 3047"/>
                <a:gd name="T6" fmla="*/ 447 w 1553"/>
                <a:gd name="T7" fmla="*/ 175 h 3047"/>
                <a:gd name="T8" fmla="*/ 678 w 1553"/>
                <a:gd name="T9" fmla="*/ 141 h 3047"/>
                <a:gd name="T10" fmla="*/ 837 w 1553"/>
                <a:gd name="T11" fmla="*/ 216 h 3047"/>
                <a:gd name="T12" fmla="*/ 950 w 1553"/>
                <a:gd name="T13" fmla="*/ 378 h 3047"/>
                <a:gd name="T14" fmla="*/ 959 w 1553"/>
                <a:gd name="T15" fmla="*/ 585 h 3047"/>
                <a:gd name="T16" fmla="*/ 884 w 1553"/>
                <a:gd name="T17" fmla="*/ 816 h 3047"/>
                <a:gd name="T18" fmla="*/ 950 w 1553"/>
                <a:gd name="T19" fmla="*/ 797 h 3047"/>
                <a:gd name="T20" fmla="*/ 1344 w 1553"/>
                <a:gd name="T21" fmla="*/ 85 h 3047"/>
                <a:gd name="T22" fmla="*/ 1516 w 1553"/>
                <a:gd name="T23" fmla="*/ 0 h 3047"/>
                <a:gd name="T24" fmla="*/ 1553 w 1553"/>
                <a:gd name="T25" fmla="*/ 175 h 3047"/>
                <a:gd name="T26" fmla="*/ 1312 w 1553"/>
                <a:gd name="T27" fmla="*/ 807 h 3047"/>
                <a:gd name="T28" fmla="*/ 1253 w 1553"/>
                <a:gd name="T29" fmla="*/ 925 h 3047"/>
                <a:gd name="T30" fmla="*/ 1209 w 1553"/>
                <a:gd name="T31" fmla="*/ 1241 h 3047"/>
                <a:gd name="T32" fmla="*/ 1237 w 1553"/>
                <a:gd name="T33" fmla="*/ 1753 h 3047"/>
                <a:gd name="T34" fmla="*/ 1300 w 1553"/>
                <a:gd name="T35" fmla="*/ 2266 h 3047"/>
                <a:gd name="T36" fmla="*/ 1303 w 1553"/>
                <a:gd name="T37" fmla="*/ 2460 h 3047"/>
                <a:gd name="T38" fmla="*/ 1272 w 1553"/>
                <a:gd name="T39" fmla="*/ 2791 h 3047"/>
                <a:gd name="T40" fmla="*/ 1209 w 1553"/>
                <a:gd name="T41" fmla="*/ 2978 h 3047"/>
                <a:gd name="T42" fmla="*/ 1128 w 1553"/>
                <a:gd name="T43" fmla="*/ 3047 h 3047"/>
                <a:gd name="T44" fmla="*/ 1028 w 1553"/>
                <a:gd name="T45" fmla="*/ 2957 h 3047"/>
                <a:gd name="T46" fmla="*/ 981 w 1553"/>
                <a:gd name="T47" fmla="*/ 2769 h 3047"/>
                <a:gd name="T48" fmla="*/ 978 w 1553"/>
                <a:gd name="T49" fmla="*/ 2491 h 3047"/>
                <a:gd name="T50" fmla="*/ 956 w 1553"/>
                <a:gd name="T51" fmla="*/ 2272 h 3047"/>
                <a:gd name="T52" fmla="*/ 884 w 1553"/>
                <a:gd name="T53" fmla="*/ 2166 h 3047"/>
                <a:gd name="T54" fmla="*/ 847 w 1553"/>
                <a:gd name="T55" fmla="*/ 2135 h 3047"/>
                <a:gd name="T56" fmla="*/ 803 w 1553"/>
                <a:gd name="T57" fmla="*/ 2313 h 3047"/>
                <a:gd name="T58" fmla="*/ 750 w 1553"/>
                <a:gd name="T59" fmla="*/ 2635 h 3047"/>
                <a:gd name="T60" fmla="*/ 716 w 1553"/>
                <a:gd name="T61" fmla="*/ 2778 h 3047"/>
                <a:gd name="T62" fmla="*/ 681 w 1553"/>
                <a:gd name="T63" fmla="*/ 2919 h 3047"/>
                <a:gd name="T64" fmla="*/ 634 w 1553"/>
                <a:gd name="T65" fmla="*/ 3025 h 3047"/>
                <a:gd name="T66" fmla="*/ 559 w 1553"/>
                <a:gd name="T67" fmla="*/ 3044 h 3047"/>
                <a:gd name="T68" fmla="*/ 484 w 1553"/>
                <a:gd name="T69" fmla="*/ 2985 h 3047"/>
                <a:gd name="T70" fmla="*/ 437 w 1553"/>
                <a:gd name="T71" fmla="*/ 2744 h 3047"/>
                <a:gd name="T72" fmla="*/ 425 w 1553"/>
                <a:gd name="T73" fmla="*/ 2382 h 3047"/>
                <a:gd name="T74" fmla="*/ 422 w 1553"/>
                <a:gd name="T75" fmla="*/ 2047 h 3047"/>
                <a:gd name="T76" fmla="*/ 419 w 1553"/>
                <a:gd name="T77" fmla="*/ 1722 h 3047"/>
                <a:gd name="T78" fmla="*/ 375 w 1553"/>
                <a:gd name="T79" fmla="*/ 1572 h 3047"/>
                <a:gd name="T80" fmla="*/ 316 w 1553"/>
                <a:gd name="T81" fmla="*/ 1538 h 3047"/>
                <a:gd name="T82" fmla="*/ 259 w 1553"/>
                <a:gd name="T83" fmla="*/ 1710 h 3047"/>
                <a:gd name="T84" fmla="*/ 212 w 1553"/>
                <a:gd name="T85" fmla="*/ 1985 h 3047"/>
                <a:gd name="T86" fmla="*/ 169 w 1553"/>
                <a:gd name="T87" fmla="*/ 2150 h 3047"/>
                <a:gd name="T88" fmla="*/ 106 w 1553"/>
                <a:gd name="T89" fmla="*/ 2188 h 3047"/>
                <a:gd name="T90" fmla="*/ 41 w 1553"/>
                <a:gd name="T91" fmla="*/ 2085 h 3047"/>
                <a:gd name="T92" fmla="*/ 0 w 1553"/>
                <a:gd name="T93" fmla="*/ 1810 h 3047"/>
                <a:gd name="T94" fmla="*/ 37 w 1553"/>
                <a:gd name="T95" fmla="*/ 1428 h 3047"/>
                <a:gd name="T96" fmla="*/ 137 w 1553"/>
                <a:gd name="T97" fmla="*/ 1116 h 3047"/>
                <a:gd name="T98" fmla="*/ 306 w 1553"/>
                <a:gd name="T99" fmla="*/ 922 h 3047"/>
                <a:gd name="T100" fmla="*/ 250 w 1553"/>
                <a:gd name="T101" fmla="*/ 791 h 30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553" h="3047">
                  <a:moveTo>
                    <a:pt x="250" y="791"/>
                  </a:moveTo>
                  <a:lnTo>
                    <a:pt x="194" y="572"/>
                  </a:lnTo>
                  <a:lnTo>
                    <a:pt x="262" y="325"/>
                  </a:lnTo>
                  <a:lnTo>
                    <a:pt x="447" y="175"/>
                  </a:lnTo>
                  <a:lnTo>
                    <a:pt x="678" y="141"/>
                  </a:lnTo>
                  <a:lnTo>
                    <a:pt x="837" y="216"/>
                  </a:lnTo>
                  <a:lnTo>
                    <a:pt x="950" y="378"/>
                  </a:lnTo>
                  <a:lnTo>
                    <a:pt x="959" y="585"/>
                  </a:lnTo>
                  <a:lnTo>
                    <a:pt x="884" y="816"/>
                  </a:lnTo>
                  <a:lnTo>
                    <a:pt x="950" y="797"/>
                  </a:lnTo>
                  <a:lnTo>
                    <a:pt x="1344" y="85"/>
                  </a:lnTo>
                  <a:lnTo>
                    <a:pt x="1516" y="0"/>
                  </a:lnTo>
                  <a:lnTo>
                    <a:pt x="1553" y="175"/>
                  </a:lnTo>
                  <a:lnTo>
                    <a:pt x="1312" y="807"/>
                  </a:lnTo>
                  <a:cubicBezTo>
                    <a:pt x="1312" y="807"/>
                    <a:pt x="1253" y="913"/>
                    <a:pt x="1253" y="925"/>
                  </a:cubicBezTo>
                  <a:cubicBezTo>
                    <a:pt x="1253" y="938"/>
                    <a:pt x="1209" y="1241"/>
                    <a:pt x="1209" y="1241"/>
                  </a:cubicBezTo>
                  <a:lnTo>
                    <a:pt x="1237" y="1753"/>
                  </a:lnTo>
                  <a:lnTo>
                    <a:pt x="1300" y="2266"/>
                  </a:lnTo>
                  <a:cubicBezTo>
                    <a:pt x="1300" y="2266"/>
                    <a:pt x="1316" y="2428"/>
                    <a:pt x="1303" y="2460"/>
                  </a:cubicBezTo>
                  <a:cubicBezTo>
                    <a:pt x="1291" y="2491"/>
                    <a:pt x="1272" y="2791"/>
                    <a:pt x="1272" y="2791"/>
                  </a:cubicBezTo>
                  <a:lnTo>
                    <a:pt x="1209" y="2978"/>
                  </a:lnTo>
                  <a:lnTo>
                    <a:pt x="1128" y="3047"/>
                  </a:lnTo>
                  <a:lnTo>
                    <a:pt x="1028" y="2957"/>
                  </a:lnTo>
                  <a:lnTo>
                    <a:pt x="981" y="2769"/>
                  </a:lnTo>
                  <a:lnTo>
                    <a:pt x="978" y="2491"/>
                  </a:lnTo>
                  <a:lnTo>
                    <a:pt x="956" y="2272"/>
                  </a:lnTo>
                  <a:lnTo>
                    <a:pt x="884" y="2166"/>
                  </a:lnTo>
                  <a:lnTo>
                    <a:pt x="847" y="2135"/>
                  </a:lnTo>
                  <a:lnTo>
                    <a:pt x="803" y="2313"/>
                  </a:lnTo>
                  <a:lnTo>
                    <a:pt x="750" y="2635"/>
                  </a:lnTo>
                  <a:lnTo>
                    <a:pt x="716" y="2778"/>
                  </a:lnTo>
                  <a:lnTo>
                    <a:pt x="681" y="2919"/>
                  </a:lnTo>
                  <a:lnTo>
                    <a:pt x="634" y="3025"/>
                  </a:lnTo>
                  <a:lnTo>
                    <a:pt x="559" y="3044"/>
                  </a:lnTo>
                  <a:lnTo>
                    <a:pt x="484" y="2985"/>
                  </a:lnTo>
                  <a:lnTo>
                    <a:pt x="437" y="2744"/>
                  </a:lnTo>
                  <a:lnTo>
                    <a:pt x="425" y="2382"/>
                  </a:lnTo>
                  <a:lnTo>
                    <a:pt x="422" y="2047"/>
                  </a:lnTo>
                  <a:lnTo>
                    <a:pt x="419" y="1722"/>
                  </a:lnTo>
                  <a:lnTo>
                    <a:pt x="375" y="1572"/>
                  </a:lnTo>
                  <a:lnTo>
                    <a:pt x="316" y="1538"/>
                  </a:lnTo>
                  <a:lnTo>
                    <a:pt x="259" y="1710"/>
                  </a:lnTo>
                  <a:lnTo>
                    <a:pt x="212" y="1985"/>
                  </a:lnTo>
                  <a:lnTo>
                    <a:pt x="169" y="2150"/>
                  </a:lnTo>
                  <a:lnTo>
                    <a:pt x="106" y="2188"/>
                  </a:lnTo>
                  <a:lnTo>
                    <a:pt x="41" y="2085"/>
                  </a:lnTo>
                  <a:lnTo>
                    <a:pt x="0" y="1810"/>
                  </a:lnTo>
                  <a:lnTo>
                    <a:pt x="37" y="1428"/>
                  </a:lnTo>
                  <a:lnTo>
                    <a:pt x="137" y="1116"/>
                  </a:lnTo>
                  <a:lnTo>
                    <a:pt x="306" y="922"/>
                  </a:lnTo>
                  <a:lnTo>
                    <a:pt x="250" y="791"/>
                  </a:lnTo>
                  <a:close/>
                </a:path>
              </a:pathLst>
            </a:custGeom>
            <a:solidFill>
              <a:srgbClr val="5353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 sz="2000"/>
            </a:p>
          </p:txBody>
        </p:sp>
        <p:sp>
          <p:nvSpPr>
            <p:cNvPr id="85" name="Freeform 6"/>
            <p:cNvSpPr>
              <a:spLocks/>
            </p:cNvSpPr>
            <p:nvPr/>
          </p:nvSpPr>
          <p:spPr bwMode="auto">
            <a:xfrm>
              <a:off x="4872038" y="4038600"/>
              <a:ext cx="533400" cy="652463"/>
            </a:xfrm>
            <a:custGeom>
              <a:avLst/>
              <a:gdLst>
                <a:gd name="T0" fmla="*/ 163 w 1427"/>
                <a:gd name="T1" fmla="*/ 769 h 1747"/>
                <a:gd name="T2" fmla="*/ 93 w 1427"/>
                <a:gd name="T3" fmla="*/ 901 h 1747"/>
                <a:gd name="T4" fmla="*/ 35 w 1427"/>
                <a:gd name="T5" fmla="*/ 1087 h 1747"/>
                <a:gd name="T6" fmla="*/ 0 w 1427"/>
                <a:gd name="T7" fmla="*/ 1286 h 1747"/>
                <a:gd name="T8" fmla="*/ 0 w 1427"/>
                <a:gd name="T9" fmla="*/ 1586 h 1747"/>
                <a:gd name="T10" fmla="*/ 212 w 1427"/>
                <a:gd name="T11" fmla="*/ 1662 h 1747"/>
                <a:gd name="T12" fmla="*/ 247 w 1427"/>
                <a:gd name="T13" fmla="*/ 1379 h 1747"/>
                <a:gd name="T14" fmla="*/ 287 w 1427"/>
                <a:gd name="T15" fmla="*/ 1273 h 1747"/>
                <a:gd name="T16" fmla="*/ 336 w 1427"/>
                <a:gd name="T17" fmla="*/ 1220 h 1747"/>
                <a:gd name="T18" fmla="*/ 389 w 1427"/>
                <a:gd name="T19" fmla="*/ 1277 h 1747"/>
                <a:gd name="T20" fmla="*/ 429 w 1427"/>
                <a:gd name="T21" fmla="*/ 1432 h 1747"/>
                <a:gd name="T22" fmla="*/ 420 w 1427"/>
                <a:gd name="T23" fmla="*/ 1684 h 1747"/>
                <a:gd name="T24" fmla="*/ 420 w 1427"/>
                <a:gd name="T25" fmla="*/ 1723 h 1747"/>
                <a:gd name="T26" fmla="*/ 579 w 1427"/>
                <a:gd name="T27" fmla="*/ 1723 h 1747"/>
                <a:gd name="T28" fmla="*/ 1096 w 1427"/>
                <a:gd name="T29" fmla="*/ 1547 h 1747"/>
                <a:gd name="T30" fmla="*/ 1255 w 1427"/>
                <a:gd name="T31" fmla="*/ 1520 h 1747"/>
                <a:gd name="T32" fmla="*/ 1206 w 1427"/>
                <a:gd name="T33" fmla="*/ 1193 h 1747"/>
                <a:gd name="T34" fmla="*/ 1206 w 1427"/>
                <a:gd name="T35" fmla="*/ 879 h 1747"/>
                <a:gd name="T36" fmla="*/ 1233 w 1427"/>
                <a:gd name="T37" fmla="*/ 632 h 1747"/>
                <a:gd name="T38" fmla="*/ 1357 w 1427"/>
                <a:gd name="T39" fmla="*/ 376 h 1747"/>
                <a:gd name="T40" fmla="*/ 1427 w 1427"/>
                <a:gd name="T41" fmla="*/ 194 h 1747"/>
                <a:gd name="T42" fmla="*/ 1206 w 1427"/>
                <a:gd name="T43" fmla="*/ 0 h 1747"/>
                <a:gd name="T44" fmla="*/ 1096 w 1427"/>
                <a:gd name="T45" fmla="*/ 208 h 1747"/>
                <a:gd name="T46" fmla="*/ 1021 w 1427"/>
                <a:gd name="T47" fmla="*/ 305 h 1747"/>
                <a:gd name="T48" fmla="*/ 981 w 1427"/>
                <a:gd name="T49" fmla="*/ 437 h 1747"/>
                <a:gd name="T50" fmla="*/ 862 w 1427"/>
                <a:gd name="T51" fmla="*/ 729 h 1747"/>
                <a:gd name="T52" fmla="*/ 451 w 1427"/>
                <a:gd name="T53" fmla="*/ 654 h 1747"/>
                <a:gd name="T54" fmla="*/ 163 w 1427"/>
                <a:gd name="T55" fmla="*/ 769 h 17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427" h="1747">
                  <a:moveTo>
                    <a:pt x="163" y="769"/>
                  </a:moveTo>
                  <a:lnTo>
                    <a:pt x="93" y="901"/>
                  </a:lnTo>
                  <a:lnTo>
                    <a:pt x="35" y="1087"/>
                  </a:lnTo>
                  <a:lnTo>
                    <a:pt x="0" y="1286"/>
                  </a:lnTo>
                  <a:lnTo>
                    <a:pt x="0" y="1586"/>
                  </a:lnTo>
                  <a:cubicBezTo>
                    <a:pt x="96" y="1655"/>
                    <a:pt x="147" y="1646"/>
                    <a:pt x="212" y="1662"/>
                  </a:cubicBezTo>
                  <a:lnTo>
                    <a:pt x="247" y="1379"/>
                  </a:lnTo>
                  <a:lnTo>
                    <a:pt x="287" y="1273"/>
                  </a:lnTo>
                  <a:lnTo>
                    <a:pt x="336" y="1220"/>
                  </a:lnTo>
                  <a:lnTo>
                    <a:pt x="389" y="1277"/>
                  </a:lnTo>
                  <a:lnTo>
                    <a:pt x="429" y="1432"/>
                  </a:lnTo>
                  <a:lnTo>
                    <a:pt x="420" y="1684"/>
                  </a:lnTo>
                  <a:lnTo>
                    <a:pt x="420" y="1723"/>
                  </a:lnTo>
                  <a:cubicBezTo>
                    <a:pt x="492" y="1747"/>
                    <a:pt x="532" y="1737"/>
                    <a:pt x="579" y="1723"/>
                  </a:cubicBezTo>
                  <a:cubicBezTo>
                    <a:pt x="756" y="1649"/>
                    <a:pt x="936" y="1579"/>
                    <a:pt x="1096" y="1547"/>
                  </a:cubicBezTo>
                  <a:cubicBezTo>
                    <a:pt x="1145" y="1538"/>
                    <a:pt x="1113" y="1536"/>
                    <a:pt x="1255" y="1520"/>
                  </a:cubicBezTo>
                  <a:lnTo>
                    <a:pt x="1206" y="1193"/>
                  </a:lnTo>
                  <a:lnTo>
                    <a:pt x="1206" y="879"/>
                  </a:lnTo>
                  <a:lnTo>
                    <a:pt x="1233" y="632"/>
                  </a:lnTo>
                  <a:lnTo>
                    <a:pt x="1357" y="376"/>
                  </a:lnTo>
                  <a:lnTo>
                    <a:pt x="1427" y="194"/>
                  </a:lnTo>
                  <a:cubicBezTo>
                    <a:pt x="1360" y="125"/>
                    <a:pt x="1305" y="49"/>
                    <a:pt x="1206" y="0"/>
                  </a:cubicBezTo>
                  <a:lnTo>
                    <a:pt x="1096" y="208"/>
                  </a:lnTo>
                  <a:lnTo>
                    <a:pt x="1021" y="305"/>
                  </a:lnTo>
                  <a:lnTo>
                    <a:pt x="981" y="437"/>
                  </a:lnTo>
                  <a:lnTo>
                    <a:pt x="862" y="729"/>
                  </a:lnTo>
                  <a:lnTo>
                    <a:pt x="451" y="654"/>
                  </a:lnTo>
                  <a:lnTo>
                    <a:pt x="163" y="769"/>
                  </a:lnTo>
                  <a:close/>
                </a:path>
              </a:pathLst>
            </a:custGeom>
            <a:solidFill>
              <a:srgbClr val="962A22"/>
            </a:solidFill>
            <a:ln w="4763" cap="flat">
              <a:solidFill>
                <a:srgbClr val="962A22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 sz="2000"/>
            </a:p>
          </p:txBody>
        </p:sp>
        <p:sp>
          <p:nvSpPr>
            <p:cNvPr id="86" name="Freeform 7"/>
            <p:cNvSpPr>
              <a:spLocks/>
            </p:cNvSpPr>
            <p:nvPr/>
          </p:nvSpPr>
          <p:spPr bwMode="auto">
            <a:xfrm>
              <a:off x="5043488" y="4551363"/>
              <a:ext cx="298450" cy="127000"/>
            </a:xfrm>
            <a:custGeom>
              <a:avLst/>
              <a:gdLst>
                <a:gd name="T0" fmla="*/ 0 w 795"/>
                <a:gd name="T1" fmla="*/ 330 h 339"/>
                <a:gd name="T2" fmla="*/ 223 w 795"/>
                <a:gd name="T3" fmla="*/ 275 h 339"/>
                <a:gd name="T4" fmla="*/ 765 w 795"/>
                <a:gd name="T5" fmla="*/ 97 h 339"/>
                <a:gd name="T6" fmla="*/ 795 w 795"/>
                <a:gd name="T7" fmla="*/ 0 h 339"/>
                <a:gd name="T8" fmla="*/ 204 w 795"/>
                <a:gd name="T9" fmla="*/ 240 h 339"/>
                <a:gd name="T10" fmla="*/ 0 w 795"/>
                <a:gd name="T11" fmla="*/ 330 h 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95" h="339">
                  <a:moveTo>
                    <a:pt x="0" y="330"/>
                  </a:moveTo>
                  <a:cubicBezTo>
                    <a:pt x="35" y="339"/>
                    <a:pt x="134" y="317"/>
                    <a:pt x="223" y="275"/>
                  </a:cubicBezTo>
                  <a:cubicBezTo>
                    <a:pt x="441" y="170"/>
                    <a:pt x="708" y="60"/>
                    <a:pt x="765" y="97"/>
                  </a:cubicBezTo>
                  <a:lnTo>
                    <a:pt x="795" y="0"/>
                  </a:lnTo>
                  <a:cubicBezTo>
                    <a:pt x="662" y="11"/>
                    <a:pt x="469" y="85"/>
                    <a:pt x="204" y="240"/>
                  </a:cubicBezTo>
                  <a:cubicBezTo>
                    <a:pt x="175" y="257"/>
                    <a:pt x="120" y="295"/>
                    <a:pt x="0" y="330"/>
                  </a:cubicBezTo>
                  <a:close/>
                </a:path>
              </a:pathLst>
            </a:custGeom>
            <a:solidFill>
              <a:srgbClr val="FFFF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 sz="2000"/>
            </a:p>
          </p:txBody>
        </p:sp>
        <p:sp>
          <p:nvSpPr>
            <p:cNvPr id="87" name="Freeform 8"/>
            <p:cNvSpPr>
              <a:spLocks/>
            </p:cNvSpPr>
            <p:nvPr/>
          </p:nvSpPr>
          <p:spPr bwMode="auto">
            <a:xfrm>
              <a:off x="5153025" y="4325938"/>
              <a:ext cx="25400" cy="117475"/>
            </a:xfrm>
            <a:custGeom>
              <a:avLst/>
              <a:gdLst>
                <a:gd name="T0" fmla="*/ 39 w 69"/>
                <a:gd name="T1" fmla="*/ 0 h 316"/>
                <a:gd name="T2" fmla="*/ 10 w 69"/>
                <a:gd name="T3" fmla="*/ 75 h 316"/>
                <a:gd name="T4" fmla="*/ 4 w 69"/>
                <a:gd name="T5" fmla="*/ 133 h 316"/>
                <a:gd name="T6" fmla="*/ 9 w 69"/>
                <a:gd name="T7" fmla="*/ 258 h 316"/>
                <a:gd name="T8" fmla="*/ 18 w 69"/>
                <a:gd name="T9" fmla="*/ 310 h 316"/>
                <a:gd name="T10" fmla="*/ 31 w 69"/>
                <a:gd name="T11" fmla="*/ 316 h 316"/>
                <a:gd name="T12" fmla="*/ 45 w 69"/>
                <a:gd name="T13" fmla="*/ 316 h 316"/>
                <a:gd name="T14" fmla="*/ 53 w 69"/>
                <a:gd name="T15" fmla="*/ 286 h 316"/>
                <a:gd name="T16" fmla="*/ 40 w 69"/>
                <a:gd name="T17" fmla="*/ 163 h 316"/>
                <a:gd name="T18" fmla="*/ 36 w 69"/>
                <a:gd name="T19" fmla="*/ 98 h 316"/>
                <a:gd name="T20" fmla="*/ 47 w 69"/>
                <a:gd name="T21" fmla="*/ 56 h 316"/>
                <a:gd name="T22" fmla="*/ 69 w 69"/>
                <a:gd name="T23" fmla="*/ 14 h 316"/>
                <a:gd name="T24" fmla="*/ 39 w 69"/>
                <a:gd name="T25" fmla="*/ 0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9" h="316">
                  <a:moveTo>
                    <a:pt x="39" y="0"/>
                  </a:moveTo>
                  <a:lnTo>
                    <a:pt x="10" y="75"/>
                  </a:lnTo>
                  <a:cubicBezTo>
                    <a:pt x="10" y="75"/>
                    <a:pt x="0" y="132"/>
                    <a:pt x="4" y="133"/>
                  </a:cubicBezTo>
                  <a:cubicBezTo>
                    <a:pt x="7" y="133"/>
                    <a:pt x="9" y="258"/>
                    <a:pt x="9" y="258"/>
                  </a:cubicBezTo>
                  <a:lnTo>
                    <a:pt x="18" y="310"/>
                  </a:lnTo>
                  <a:lnTo>
                    <a:pt x="31" y="316"/>
                  </a:lnTo>
                  <a:lnTo>
                    <a:pt x="45" y="316"/>
                  </a:lnTo>
                  <a:lnTo>
                    <a:pt x="53" y="286"/>
                  </a:lnTo>
                  <a:lnTo>
                    <a:pt x="40" y="163"/>
                  </a:lnTo>
                  <a:lnTo>
                    <a:pt x="36" y="98"/>
                  </a:lnTo>
                  <a:lnTo>
                    <a:pt x="47" y="56"/>
                  </a:lnTo>
                  <a:lnTo>
                    <a:pt x="69" y="1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 sz="2000"/>
            </a:p>
          </p:txBody>
        </p:sp>
        <p:sp>
          <p:nvSpPr>
            <p:cNvPr id="88" name="Freeform 9"/>
            <p:cNvSpPr>
              <a:spLocks noEditPoints="1"/>
            </p:cNvSpPr>
            <p:nvPr/>
          </p:nvSpPr>
          <p:spPr bwMode="auto">
            <a:xfrm>
              <a:off x="5151438" y="4319588"/>
              <a:ext cx="31750" cy="128588"/>
            </a:xfrm>
            <a:custGeom>
              <a:avLst/>
              <a:gdLst>
                <a:gd name="T0" fmla="*/ 45 w 85"/>
                <a:gd name="T1" fmla="*/ 0 h 342"/>
                <a:gd name="T2" fmla="*/ 42 w 85"/>
                <a:gd name="T3" fmla="*/ 6 h 342"/>
                <a:gd name="T4" fmla="*/ 5 w 85"/>
                <a:gd name="T5" fmla="*/ 114 h 342"/>
                <a:gd name="T6" fmla="*/ 13 w 85"/>
                <a:gd name="T7" fmla="*/ 318 h 342"/>
                <a:gd name="T8" fmla="*/ 14 w 85"/>
                <a:gd name="T9" fmla="*/ 318 h 342"/>
                <a:gd name="T10" fmla="*/ 14 w 85"/>
                <a:gd name="T11" fmla="*/ 318 h 342"/>
                <a:gd name="T12" fmla="*/ 26 w 85"/>
                <a:gd name="T13" fmla="*/ 338 h 342"/>
                <a:gd name="T14" fmla="*/ 49 w 85"/>
                <a:gd name="T15" fmla="*/ 339 h 342"/>
                <a:gd name="T16" fmla="*/ 63 w 85"/>
                <a:gd name="T17" fmla="*/ 317 h 342"/>
                <a:gd name="T18" fmla="*/ 49 w 85"/>
                <a:gd name="T19" fmla="*/ 174 h 342"/>
                <a:gd name="T20" fmla="*/ 48 w 85"/>
                <a:gd name="T21" fmla="*/ 117 h 342"/>
                <a:gd name="T22" fmla="*/ 81 w 85"/>
                <a:gd name="T23" fmla="*/ 28 h 342"/>
                <a:gd name="T24" fmla="*/ 85 w 85"/>
                <a:gd name="T25" fmla="*/ 22 h 342"/>
                <a:gd name="T26" fmla="*/ 79 w 85"/>
                <a:gd name="T27" fmla="*/ 19 h 342"/>
                <a:gd name="T28" fmla="*/ 50 w 85"/>
                <a:gd name="T29" fmla="*/ 3 h 342"/>
                <a:gd name="T30" fmla="*/ 45 w 85"/>
                <a:gd name="T31" fmla="*/ 0 h 342"/>
                <a:gd name="T32" fmla="*/ 50 w 85"/>
                <a:gd name="T33" fmla="*/ 17 h 342"/>
                <a:gd name="T34" fmla="*/ 67 w 85"/>
                <a:gd name="T35" fmla="*/ 27 h 342"/>
                <a:gd name="T36" fmla="*/ 35 w 85"/>
                <a:gd name="T37" fmla="*/ 115 h 342"/>
                <a:gd name="T38" fmla="*/ 50 w 85"/>
                <a:gd name="T39" fmla="*/ 318 h 342"/>
                <a:gd name="T40" fmla="*/ 41 w 85"/>
                <a:gd name="T41" fmla="*/ 327 h 342"/>
                <a:gd name="T42" fmla="*/ 26 w 85"/>
                <a:gd name="T43" fmla="*/ 316 h 342"/>
                <a:gd name="T44" fmla="*/ 17 w 85"/>
                <a:gd name="T45" fmla="*/ 118 h 342"/>
                <a:gd name="T46" fmla="*/ 50 w 85"/>
                <a:gd name="T47" fmla="*/ 17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5" h="342">
                  <a:moveTo>
                    <a:pt x="45" y="0"/>
                  </a:moveTo>
                  <a:lnTo>
                    <a:pt x="42" y="6"/>
                  </a:lnTo>
                  <a:cubicBezTo>
                    <a:pt x="20" y="50"/>
                    <a:pt x="7" y="101"/>
                    <a:pt x="5" y="114"/>
                  </a:cubicBezTo>
                  <a:cubicBezTo>
                    <a:pt x="0" y="154"/>
                    <a:pt x="5" y="266"/>
                    <a:pt x="13" y="318"/>
                  </a:cubicBezTo>
                  <a:lnTo>
                    <a:pt x="14" y="318"/>
                  </a:lnTo>
                  <a:lnTo>
                    <a:pt x="14" y="318"/>
                  </a:lnTo>
                  <a:cubicBezTo>
                    <a:pt x="16" y="328"/>
                    <a:pt x="21" y="334"/>
                    <a:pt x="26" y="338"/>
                  </a:cubicBezTo>
                  <a:cubicBezTo>
                    <a:pt x="31" y="342"/>
                    <a:pt x="43" y="342"/>
                    <a:pt x="49" y="339"/>
                  </a:cubicBezTo>
                  <a:cubicBezTo>
                    <a:pt x="60" y="332"/>
                    <a:pt x="61" y="328"/>
                    <a:pt x="63" y="317"/>
                  </a:cubicBezTo>
                  <a:cubicBezTo>
                    <a:pt x="63" y="311"/>
                    <a:pt x="54" y="228"/>
                    <a:pt x="49" y="174"/>
                  </a:cubicBezTo>
                  <a:cubicBezTo>
                    <a:pt x="46" y="139"/>
                    <a:pt x="47" y="128"/>
                    <a:pt x="48" y="117"/>
                  </a:cubicBezTo>
                  <a:cubicBezTo>
                    <a:pt x="50" y="94"/>
                    <a:pt x="61" y="58"/>
                    <a:pt x="81" y="28"/>
                  </a:cubicBezTo>
                  <a:lnTo>
                    <a:pt x="85" y="22"/>
                  </a:lnTo>
                  <a:lnTo>
                    <a:pt x="79" y="19"/>
                  </a:lnTo>
                  <a:lnTo>
                    <a:pt x="50" y="3"/>
                  </a:lnTo>
                  <a:lnTo>
                    <a:pt x="45" y="0"/>
                  </a:lnTo>
                  <a:close/>
                  <a:moveTo>
                    <a:pt x="50" y="17"/>
                  </a:moveTo>
                  <a:lnTo>
                    <a:pt x="67" y="27"/>
                  </a:lnTo>
                  <a:cubicBezTo>
                    <a:pt x="45" y="59"/>
                    <a:pt x="41" y="78"/>
                    <a:pt x="35" y="115"/>
                  </a:cubicBezTo>
                  <a:cubicBezTo>
                    <a:pt x="30" y="136"/>
                    <a:pt x="49" y="269"/>
                    <a:pt x="50" y="318"/>
                  </a:cubicBezTo>
                  <a:cubicBezTo>
                    <a:pt x="50" y="323"/>
                    <a:pt x="46" y="326"/>
                    <a:pt x="41" y="327"/>
                  </a:cubicBezTo>
                  <a:cubicBezTo>
                    <a:pt x="32" y="327"/>
                    <a:pt x="27" y="321"/>
                    <a:pt x="26" y="316"/>
                  </a:cubicBezTo>
                  <a:cubicBezTo>
                    <a:pt x="15" y="240"/>
                    <a:pt x="16" y="124"/>
                    <a:pt x="17" y="118"/>
                  </a:cubicBezTo>
                  <a:cubicBezTo>
                    <a:pt x="19" y="98"/>
                    <a:pt x="33" y="47"/>
                    <a:pt x="50" y="17"/>
                  </a:cubicBezTo>
                  <a:close/>
                </a:path>
              </a:pathLst>
            </a:custGeom>
            <a:solidFill>
              <a:srgbClr val="D0D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 sz="2000"/>
            </a:p>
          </p:txBody>
        </p:sp>
        <p:sp>
          <p:nvSpPr>
            <p:cNvPr id="89" name="Freeform 10"/>
            <p:cNvSpPr>
              <a:spLocks/>
            </p:cNvSpPr>
            <p:nvPr/>
          </p:nvSpPr>
          <p:spPr bwMode="auto">
            <a:xfrm>
              <a:off x="5192713" y="4319588"/>
              <a:ext cx="25400" cy="128588"/>
            </a:xfrm>
            <a:custGeom>
              <a:avLst/>
              <a:gdLst>
                <a:gd name="T0" fmla="*/ 0 w 71"/>
                <a:gd name="T1" fmla="*/ 16 h 341"/>
                <a:gd name="T2" fmla="*/ 41 w 71"/>
                <a:gd name="T3" fmla="*/ 117 h 341"/>
                <a:gd name="T4" fmla="*/ 20 w 71"/>
                <a:gd name="T5" fmla="*/ 309 h 341"/>
                <a:gd name="T6" fmla="*/ 56 w 71"/>
                <a:gd name="T7" fmla="*/ 308 h 341"/>
                <a:gd name="T8" fmla="*/ 71 w 71"/>
                <a:gd name="T9" fmla="*/ 110 h 341"/>
                <a:gd name="T10" fmla="*/ 29 w 71"/>
                <a:gd name="T11" fmla="*/ 0 h 341"/>
                <a:gd name="T12" fmla="*/ 0 w 71"/>
                <a:gd name="T13" fmla="*/ 16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1" h="341">
                  <a:moveTo>
                    <a:pt x="0" y="16"/>
                  </a:moveTo>
                  <a:cubicBezTo>
                    <a:pt x="20" y="46"/>
                    <a:pt x="41" y="91"/>
                    <a:pt x="41" y="117"/>
                  </a:cubicBezTo>
                  <a:cubicBezTo>
                    <a:pt x="39" y="248"/>
                    <a:pt x="28" y="246"/>
                    <a:pt x="20" y="309"/>
                  </a:cubicBezTo>
                  <a:cubicBezTo>
                    <a:pt x="19" y="326"/>
                    <a:pt x="48" y="341"/>
                    <a:pt x="56" y="308"/>
                  </a:cubicBezTo>
                  <a:cubicBezTo>
                    <a:pt x="70" y="225"/>
                    <a:pt x="71" y="157"/>
                    <a:pt x="71" y="110"/>
                  </a:cubicBezTo>
                  <a:cubicBezTo>
                    <a:pt x="64" y="67"/>
                    <a:pt x="45" y="34"/>
                    <a:pt x="29" y="0"/>
                  </a:cubicBezTo>
                  <a:lnTo>
                    <a:pt x="0" y="16"/>
                  </a:lnTo>
                  <a:close/>
                </a:path>
              </a:pathLst>
            </a:custGeom>
            <a:solidFill>
              <a:srgbClr val="FFFFCB"/>
            </a:solidFill>
            <a:ln w="4763" cap="flat">
              <a:solidFill>
                <a:srgbClr val="D0D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 sz="2000"/>
            </a:p>
          </p:txBody>
        </p:sp>
        <p:sp>
          <p:nvSpPr>
            <p:cNvPr id="90" name="Freeform 11"/>
            <p:cNvSpPr>
              <a:spLocks/>
            </p:cNvSpPr>
            <p:nvPr/>
          </p:nvSpPr>
          <p:spPr bwMode="auto">
            <a:xfrm>
              <a:off x="4935538" y="3967163"/>
              <a:ext cx="314325" cy="298450"/>
            </a:xfrm>
            <a:custGeom>
              <a:avLst/>
              <a:gdLst>
                <a:gd name="T0" fmla="*/ 437 w 842"/>
                <a:gd name="T1" fmla="*/ 1 h 801"/>
                <a:gd name="T2" fmla="*/ 317 w 842"/>
                <a:gd name="T3" fmla="*/ 20 h 801"/>
                <a:gd name="T4" fmla="*/ 3 w 842"/>
                <a:gd name="T5" fmla="*/ 429 h 801"/>
                <a:gd name="T6" fmla="*/ 86 w 842"/>
                <a:gd name="T7" fmla="*/ 702 h 801"/>
                <a:gd name="T8" fmla="*/ 225 w 842"/>
                <a:gd name="T9" fmla="*/ 792 h 801"/>
                <a:gd name="T10" fmla="*/ 277 w 842"/>
                <a:gd name="T11" fmla="*/ 789 h 801"/>
                <a:gd name="T12" fmla="*/ 148 w 842"/>
                <a:gd name="T13" fmla="*/ 700 h 801"/>
                <a:gd name="T14" fmla="*/ 55 w 842"/>
                <a:gd name="T15" fmla="*/ 439 h 801"/>
                <a:gd name="T16" fmla="*/ 127 w 842"/>
                <a:gd name="T17" fmla="*/ 215 h 801"/>
                <a:gd name="T18" fmla="*/ 328 w 842"/>
                <a:gd name="T19" fmla="*/ 65 h 801"/>
                <a:gd name="T20" fmla="*/ 706 w 842"/>
                <a:gd name="T21" fmla="*/ 176 h 801"/>
                <a:gd name="T22" fmla="*/ 750 w 842"/>
                <a:gd name="T23" fmla="*/ 558 h 801"/>
                <a:gd name="T24" fmla="*/ 605 w 842"/>
                <a:gd name="T25" fmla="*/ 801 h 801"/>
                <a:gd name="T26" fmla="*/ 658 w 842"/>
                <a:gd name="T27" fmla="*/ 751 h 801"/>
                <a:gd name="T28" fmla="*/ 790 w 842"/>
                <a:gd name="T29" fmla="*/ 538 h 801"/>
                <a:gd name="T30" fmla="*/ 738 w 842"/>
                <a:gd name="T31" fmla="*/ 157 h 801"/>
                <a:gd name="T32" fmla="*/ 437 w 842"/>
                <a:gd name="T33" fmla="*/ 1 h 8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42" h="801">
                  <a:moveTo>
                    <a:pt x="437" y="1"/>
                  </a:moveTo>
                  <a:cubicBezTo>
                    <a:pt x="397" y="2"/>
                    <a:pt x="357" y="8"/>
                    <a:pt x="317" y="20"/>
                  </a:cubicBezTo>
                  <a:cubicBezTo>
                    <a:pt x="160" y="69"/>
                    <a:pt x="7" y="207"/>
                    <a:pt x="3" y="429"/>
                  </a:cubicBezTo>
                  <a:cubicBezTo>
                    <a:pt x="1" y="536"/>
                    <a:pt x="0" y="587"/>
                    <a:pt x="86" y="702"/>
                  </a:cubicBezTo>
                  <a:cubicBezTo>
                    <a:pt x="116" y="742"/>
                    <a:pt x="159" y="777"/>
                    <a:pt x="225" y="792"/>
                  </a:cubicBezTo>
                  <a:lnTo>
                    <a:pt x="277" y="789"/>
                  </a:lnTo>
                  <a:cubicBezTo>
                    <a:pt x="219" y="753"/>
                    <a:pt x="172" y="728"/>
                    <a:pt x="148" y="700"/>
                  </a:cubicBezTo>
                  <a:cubicBezTo>
                    <a:pt x="59" y="596"/>
                    <a:pt x="53" y="543"/>
                    <a:pt x="55" y="439"/>
                  </a:cubicBezTo>
                  <a:cubicBezTo>
                    <a:pt x="57" y="348"/>
                    <a:pt x="88" y="272"/>
                    <a:pt x="127" y="215"/>
                  </a:cubicBezTo>
                  <a:cubicBezTo>
                    <a:pt x="178" y="138"/>
                    <a:pt x="246" y="90"/>
                    <a:pt x="328" y="65"/>
                  </a:cubicBezTo>
                  <a:cubicBezTo>
                    <a:pt x="472" y="21"/>
                    <a:pt x="631" y="52"/>
                    <a:pt x="706" y="176"/>
                  </a:cubicBezTo>
                  <a:cubicBezTo>
                    <a:pt x="756" y="260"/>
                    <a:pt x="802" y="395"/>
                    <a:pt x="750" y="558"/>
                  </a:cubicBezTo>
                  <a:cubicBezTo>
                    <a:pt x="728" y="623"/>
                    <a:pt x="660" y="715"/>
                    <a:pt x="605" y="801"/>
                  </a:cubicBezTo>
                  <a:lnTo>
                    <a:pt x="658" y="751"/>
                  </a:lnTo>
                  <a:cubicBezTo>
                    <a:pt x="715" y="680"/>
                    <a:pt x="765" y="620"/>
                    <a:pt x="790" y="538"/>
                  </a:cubicBezTo>
                  <a:cubicBezTo>
                    <a:pt x="842" y="362"/>
                    <a:pt x="792" y="248"/>
                    <a:pt x="738" y="157"/>
                  </a:cubicBezTo>
                  <a:cubicBezTo>
                    <a:pt x="674" y="51"/>
                    <a:pt x="558" y="0"/>
                    <a:pt x="43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 sz="2000"/>
            </a:p>
          </p:txBody>
        </p:sp>
        <p:sp>
          <p:nvSpPr>
            <p:cNvPr id="91" name="Freeform 12"/>
            <p:cNvSpPr>
              <a:spLocks/>
            </p:cNvSpPr>
            <p:nvPr/>
          </p:nvSpPr>
          <p:spPr bwMode="auto">
            <a:xfrm>
              <a:off x="4859338" y="3914775"/>
              <a:ext cx="598488" cy="1154113"/>
            </a:xfrm>
            <a:custGeom>
              <a:avLst/>
              <a:gdLst>
                <a:gd name="T0" fmla="*/ 1337 w 1596"/>
                <a:gd name="T1" fmla="*/ 119 h 3084"/>
                <a:gd name="T2" fmla="*/ 843 w 1596"/>
                <a:gd name="T3" fmla="*/ 884 h 3084"/>
                <a:gd name="T4" fmla="*/ 1074 w 1596"/>
                <a:gd name="T5" fmla="*/ 659 h 3084"/>
                <a:gd name="T6" fmla="*/ 1443 w 1596"/>
                <a:gd name="T7" fmla="*/ 62 h 3084"/>
                <a:gd name="T8" fmla="*/ 1534 w 1596"/>
                <a:gd name="T9" fmla="*/ 60 h 3084"/>
                <a:gd name="T10" fmla="*/ 1432 w 1596"/>
                <a:gd name="T11" fmla="*/ 563 h 3084"/>
                <a:gd name="T12" fmla="*/ 1223 w 1596"/>
                <a:gd name="T13" fmla="*/ 1138 h 3084"/>
                <a:gd name="T14" fmla="*/ 1212 w 1596"/>
                <a:gd name="T15" fmla="*/ 1557 h 3084"/>
                <a:gd name="T16" fmla="*/ 1300 w 1596"/>
                <a:gd name="T17" fmla="*/ 2502 h 3084"/>
                <a:gd name="T18" fmla="*/ 1164 w 1596"/>
                <a:gd name="T19" fmla="*/ 3023 h 3084"/>
                <a:gd name="T20" fmla="*/ 1025 w 1596"/>
                <a:gd name="T21" fmla="*/ 2455 h 3084"/>
                <a:gd name="T22" fmla="*/ 905 w 1596"/>
                <a:gd name="T23" fmla="*/ 2136 h 3084"/>
                <a:gd name="T24" fmla="*/ 851 w 1596"/>
                <a:gd name="T25" fmla="*/ 2167 h 3084"/>
                <a:gd name="T26" fmla="*/ 618 w 1596"/>
                <a:gd name="T27" fmla="*/ 3020 h 3084"/>
                <a:gd name="T28" fmla="*/ 567 w 1596"/>
                <a:gd name="T29" fmla="*/ 3030 h 3084"/>
                <a:gd name="T30" fmla="*/ 489 w 1596"/>
                <a:gd name="T31" fmla="*/ 2842 h 3084"/>
                <a:gd name="T32" fmla="*/ 437 w 1596"/>
                <a:gd name="T33" fmla="*/ 1615 h 3084"/>
                <a:gd name="T34" fmla="*/ 363 w 1596"/>
                <a:gd name="T35" fmla="*/ 1555 h 3084"/>
                <a:gd name="T36" fmla="*/ 360 w 1596"/>
                <a:gd name="T37" fmla="*/ 1557 h 3084"/>
                <a:gd name="T38" fmla="*/ 246 w 1596"/>
                <a:gd name="T39" fmla="*/ 1791 h 3084"/>
                <a:gd name="T40" fmla="*/ 163 w 1596"/>
                <a:gd name="T41" fmla="*/ 2157 h 3084"/>
                <a:gd name="T42" fmla="*/ 121 w 1596"/>
                <a:gd name="T43" fmla="*/ 2156 h 3084"/>
                <a:gd name="T44" fmla="*/ 82 w 1596"/>
                <a:gd name="T45" fmla="*/ 2081 h 3084"/>
                <a:gd name="T46" fmla="*/ 305 w 1596"/>
                <a:gd name="T47" fmla="*/ 1017 h 3084"/>
                <a:gd name="T48" fmla="*/ 278 w 1596"/>
                <a:gd name="T49" fmla="*/ 997 h 3084"/>
                <a:gd name="T50" fmla="*/ 40 w 1596"/>
                <a:gd name="T51" fmla="*/ 2105 h 3084"/>
                <a:gd name="T52" fmla="*/ 132 w 1596"/>
                <a:gd name="T53" fmla="*/ 2209 h 3084"/>
                <a:gd name="T54" fmla="*/ 261 w 1596"/>
                <a:gd name="T55" fmla="*/ 1984 h 3084"/>
                <a:gd name="T56" fmla="*/ 334 w 1596"/>
                <a:gd name="T57" fmla="*/ 1623 h 3084"/>
                <a:gd name="T58" fmla="*/ 373 w 1596"/>
                <a:gd name="T59" fmla="*/ 1589 h 3084"/>
                <a:gd name="T60" fmla="*/ 426 w 1596"/>
                <a:gd name="T61" fmla="*/ 1788 h 3084"/>
                <a:gd name="T62" fmla="*/ 488 w 1596"/>
                <a:gd name="T63" fmla="*/ 3017 h 3084"/>
                <a:gd name="T64" fmla="*/ 638 w 1596"/>
                <a:gd name="T65" fmla="*/ 3065 h 3084"/>
                <a:gd name="T66" fmla="*/ 891 w 1596"/>
                <a:gd name="T67" fmla="*/ 2186 h 3084"/>
                <a:gd name="T68" fmla="*/ 987 w 1596"/>
                <a:gd name="T69" fmla="*/ 2456 h 3084"/>
                <a:gd name="T70" fmla="*/ 1115 w 1596"/>
                <a:gd name="T71" fmla="*/ 3065 h 3084"/>
                <a:gd name="T72" fmla="*/ 1176 w 1596"/>
                <a:gd name="T73" fmla="*/ 3071 h 3084"/>
                <a:gd name="T74" fmla="*/ 1337 w 1596"/>
                <a:gd name="T75" fmla="*/ 2504 h 3084"/>
                <a:gd name="T76" fmla="*/ 1260 w 1596"/>
                <a:gd name="T77" fmla="*/ 1564 h 3084"/>
                <a:gd name="T78" fmla="*/ 1282 w 1596"/>
                <a:gd name="T79" fmla="*/ 994 h 3084"/>
                <a:gd name="T80" fmla="*/ 1319 w 1596"/>
                <a:gd name="T81" fmla="*/ 893 h 3084"/>
                <a:gd name="T82" fmla="*/ 1591 w 1596"/>
                <a:gd name="T83" fmla="*/ 79 h 3084"/>
                <a:gd name="T84" fmla="*/ 1532 w 1596"/>
                <a:gd name="T85" fmla="*/ 1 h 30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596" h="3084">
                  <a:moveTo>
                    <a:pt x="1524" y="0"/>
                  </a:moveTo>
                  <a:cubicBezTo>
                    <a:pt x="1483" y="1"/>
                    <a:pt x="1451" y="14"/>
                    <a:pt x="1419" y="33"/>
                  </a:cubicBezTo>
                  <a:cubicBezTo>
                    <a:pt x="1388" y="53"/>
                    <a:pt x="1361" y="83"/>
                    <a:pt x="1337" y="119"/>
                  </a:cubicBezTo>
                  <a:cubicBezTo>
                    <a:pt x="1288" y="190"/>
                    <a:pt x="1248" y="287"/>
                    <a:pt x="1196" y="390"/>
                  </a:cubicBezTo>
                  <a:cubicBezTo>
                    <a:pt x="1131" y="516"/>
                    <a:pt x="1060" y="620"/>
                    <a:pt x="982" y="720"/>
                  </a:cubicBezTo>
                  <a:cubicBezTo>
                    <a:pt x="938" y="777"/>
                    <a:pt x="897" y="845"/>
                    <a:pt x="843" y="884"/>
                  </a:cubicBezTo>
                  <a:lnTo>
                    <a:pt x="809" y="936"/>
                  </a:lnTo>
                  <a:cubicBezTo>
                    <a:pt x="846" y="909"/>
                    <a:pt x="899" y="857"/>
                    <a:pt x="935" y="822"/>
                  </a:cubicBezTo>
                  <a:cubicBezTo>
                    <a:pt x="989" y="768"/>
                    <a:pt x="1025" y="726"/>
                    <a:pt x="1074" y="659"/>
                  </a:cubicBezTo>
                  <a:cubicBezTo>
                    <a:pt x="1133" y="578"/>
                    <a:pt x="1186" y="491"/>
                    <a:pt x="1229" y="407"/>
                  </a:cubicBezTo>
                  <a:cubicBezTo>
                    <a:pt x="1282" y="303"/>
                    <a:pt x="1323" y="206"/>
                    <a:pt x="1368" y="140"/>
                  </a:cubicBezTo>
                  <a:cubicBezTo>
                    <a:pt x="1390" y="107"/>
                    <a:pt x="1418" y="78"/>
                    <a:pt x="1443" y="62"/>
                  </a:cubicBezTo>
                  <a:cubicBezTo>
                    <a:pt x="1464" y="50"/>
                    <a:pt x="1473" y="46"/>
                    <a:pt x="1501" y="45"/>
                  </a:cubicBezTo>
                  <a:cubicBezTo>
                    <a:pt x="1506" y="45"/>
                    <a:pt x="1514" y="47"/>
                    <a:pt x="1519" y="49"/>
                  </a:cubicBezTo>
                  <a:cubicBezTo>
                    <a:pt x="1524" y="52"/>
                    <a:pt x="1529" y="54"/>
                    <a:pt x="1534" y="60"/>
                  </a:cubicBezTo>
                  <a:cubicBezTo>
                    <a:pt x="1540" y="66"/>
                    <a:pt x="1548" y="76"/>
                    <a:pt x="1550" y="92"/>
                  </a:cubicBezTo>
                  <a:cubicBezTo>
                    <a:pt x="1554" y="122"/>
                    <a:pt x="1551" y="167"/>
                    <a:pt x="1542" y="218"/>
                  </a:cubicBezTo>
                  <a:cubicBezTo>
                    <a:pt x="1524" y="320"/>
                    <a:pt x="1482" y="450"/>
                    <a:pt x="1432" y="563"/>
                  </a:cubicBezTo>
                  <a:cubicBezTo>
                    <a:pt x="1376" y="687"/>
                    <a:pt x="1318" y="775"/>
                    <a:pt x="1287" y="884"/>
                  </a:cubicBezTo>
                  <a:cubicBezTo>
                    <a:pt x="1286" y="885"/>
                    <a:pt x="1284" y="888"/>
                    <a:pt x="1284" y="889"/>
                  </a:cubicBezTo>
                  <a:cubicBezTo>
                    <a:pt x="1264" y="918"/>
                    <a:pt x="1231" y="1028"/>
                    <a:pt x="1223" y="1138"/>
                  </a:cubicBezTo>
                  <a:cubicBezTo>
                    <a:pt x="1214" y="1251"/>
                    <a:pt x="1201" y="1379"/>
                    <a:pt x="1210" y="1532"/>
                  </a:cubicBezTo>
                  <a:lnTo>
                    <a:pt x="1211" y="1548"/>
                  </a:lnTo>
                  <a:lnTo>
                    <a:pt x="1212" y="1557"/>
                  </a:lnTo>
                  <a:cubicBezTo>
                    <a:pt x="1237" y="1751"/>
                    <a:pt x="1259" y="1880"/>
                    <a:pt x="1281" y="2054"/>
                  </a:cubicBezTo>
                  <a:cubicBezTo>
                    <a:pt x="1299" y="2191"/>
                    <a:pt x="1300" y="2324"/>
                    <a:pt x="1302" y="2445"/>
                  </a:cubicBezTo>
                  <a:cubicBezTo>
                    <a:pt x="1302" y="2446"/>
                    <a:pt x="1300" y="2501"/>
                    <a:pt x="1300" y="2502"/>
                  </a:cubicBezTo>
                  <a:cubicBezTo>
                    <a:pt x="1291" y="2632"/>
                    <a:pt x="1286" y="2740"/>
                    <a:pt x="1261" y="2843"/>
                  </a:cubicBezTo>
                  <a:cubicBezTo>
                    <a:pt x="1249" y="2895"/>
                    <a:pt x="1241" y="2940"/>
                    <a:pt x="1224" y="2973"/>
                  </a:cubicBezTo>
                  <a:cubicBezTo>
                    <a:pt x="1208" y="3004"/>
                    <a:pt x="1186" y="3017"/>
                    <a:pt x="1164" y="3023"/>
                  </a:cubicBezTo>
                  <a:cubicBezTo>
                    <a:pt x="1127" y="3021"/>
                    <a:pt x="1098" y="2992"/>
                    <a:pt x="1076" y="2952"/>
                  </a:cubicBezTo>
                  <a:cubicBezTo>
                    <a:pt x="1054" y="2910"/>
                    <a:pt x="1040" y="2856"/>
                    <a:pt x="1033" y="2797"/>
                  </a:cubicBezTo>
                  <a:cubicBezTo>
                    <a:pt x="1018" y="2679"/>
                    <a:pt x="1028" y="2545"/>
                    <a:pt x="1025" y="2455"/>
                  </a:cubicBezTo>
                  <a:cubicBezTo>
                    <a:pt x="1023" y="2392"/>
                    <a:pt x="1001" y="2290"/>
                    <a:pt x="972" y="2232"/>
                  </a:cubicBezTo>
                  <a:cubicBezTo>
                    <a:pt x="958" y="2203"/>
                    <a:pt x="942" y="2178"/>
                    <a:pt x="927" y="2159"/>
                  </a:cubicBezTo>
                  <a:cubicBezTo>
                    <a:pt x="920" y="2150"/>
                    <a:pt x="913" y="2142"/>
                    <a:pt x="905" y="2136"/>
                  </a:cubicBezTo>
                  <a:cubicBezTo>
                    <a:pt x="897" y="2130"/>
                    <a:pt x="873" y="2128"/>
                    <a:pt x="861" y="2128"/>
                  </a:cubicBezTo>
                  <a:lnTo>
                    <a:pt x="855" y="2153"/>
                  </a:lnTo>
                  <a:lnTo>
                    <a:pt x="851" y="2167"/>
                  </a:lnTo>
                  <a:cubicBezTo>
                    <a:pt x="816" y="2323"/>
                    <a:pt x="770" y="2596"/>
                    <a:pt x="733" y="2745"/>
                  </a:cubicBezTo>
                  <a:cubicBezTo>
                    <a:pt x="711" y="2836"/>
                    <a:pt x="686" y="2925"/>
                    <a:pt x="659" y="2980"/>
                  </a:cubicBezTo>
                  <a:cubicBezTo>
                    <a:pt x="646" y="3007"/>
                    <a:pt x="622" y="3017"/>
                    <a:pt x="618" y="3020"/>
                  </a:cubicBezTo>
                  <a:cubicBezTo>
                    <a:pt x="610" y="3024"/>
                    <a:pt x="612" y="3023"/>
                    <a:pt x="593" y="3028"/>
                  </a:cubicBezTo>
                  <a:lnTo>
                    <a:pt x="578" y="3030"/>
                  </a:lnTo>
                  <a:lnTo>
                    <a:pt x="567" y="3030"/>
                  </a:lnTo>
                  <a:cubicBezTo>
                    <a:pt x="561" y="3029"/>
                    <a:pt x="558" y="3029"/>
                    <a:pt x="550" y="3025"/>
                  </a:cubicBezTo>
                  <a:cubicBezTo>
                    <a:pt x="543" y="3021"/>
                    <a:pt x="537" y="3014"/>
                    <a:pt x="528" y="2998"/>
                  </a:cubicBezTo>
                  <a:cubicBezTo>
                    <a:pt x="511" y="2969"/>
                    <a:pt x="496" y="2912"/>
                    <a:pt x="489" y="2842"/>
                  </a:cubicBezTo>
                  <a:cubicBezTo>
                    <a:pt x="474" y="2703"/>
                    <a:pt x="473" y="2509"/>
                    <a:pt x="473" y="2316"/>
                  </a:cubicBezTo>
                  <a:cubicBezTo>
                    <a:pt x="472" y="2122"/>
                    <a:pt x="474" y="1928"/>
                    <a:pt x="463" y="1785"/>
                  </a:cubicBezTo>
                  <a:cubicBezTo>
                    <a:pt x="458" y="1714"/>
                    <a:pt x="450" y="1656"/>
                    <a:pt x="437" y="1615"/>
                  </a:cubicBezTo>
                  <a:cubicBezTo>
                    <a:pt x="430" y="1595"/>
                    <a:pt x="422" y="1579"/>
                    <a:pt x="409" y="1567"/>
                  </a:cubicBezTo>
                  <a:cubicBezTo>
                    <a:pt x="397" y="1556"/>
                    <a:pt x="379" y="1552"/>
                    <a:pt x="363" y="1556"/>
                  </a:cubicBezTo>
                  <a:lnTo>
                    <a:pt x="363" y="1555"/>
                  </a:lnTo>
                  <a:cubicBezTo>
                    <a:pt x="362" y="1555"/>
                    <a:pt x="362" y="1556"/>
                    <a:pt x="361" y="1556"/>
                  </a:cubicBezTo>
                  <a:cubicBezTo>
                    <a:pt x="361" y="1556"/>
                    <a:pt x="360" y="1556"/>
                    <a:pt x="360" y="1556"/>
                  </a:cubicBezTo>
                  <a:lnTo>
                    <a:pt x="360" y="1557"/>
                  </a:lnTo>
                  <a:cubicBezTo>
                    <a:pt x="334" y="1562"/>
                    <a:pt x="314" y="1577"/>
                    <a:pt x="301" y="1594"/>
                  </a:cubicBezTo>
                  <a:cubicBezTo>
                    <a:pt x="288" y="1612"/>
                    <a:pt x="282" y="1631"/>
                    <a:pt x="276" y="1644"/>
                  </a:cubicBezTo>
                  <a:cubicBezTo>
                    <a:pt x="261" y="1679"/>
                    <a:pt x="253" y="1731"/>
                    <a:pt x="246" y="1791"/>
                  </a:cubicBezTo>
                  <a:cubicBezTo>
                    <a:pt x="239" y="1851"/>
                    <a:pt x="233" y="1918"/>
                    <a:pt x="224" y="1979"/>
                  </a:cubicBezTo>
                  <a:cubicBezTo>
                    <a:pt x="215" y="2039"/>
                    <a:pt x="203" y="2094"/>
                    <a:pt x="187" y="2126"/>
                  </a:cubicBezTo>
                  <a:cubicBezTo>
                    <a:pt x="179" y="2143"/>
                    <a:pt x="170" y="2153"/>
                    <a:pt x="163" y="2157"/>
                  </a:cubicBezTo>
                  <a:cubicBezTo>
                    <a:pt x="155" y="2161"/>
                    <a:pt x="150" y="2166"/>
                    <a:pt x="136" y="2163"/>
                  </a:cubicBezTo>
                  <a:lnTo>
                    <a:pt x="128" y="2160"/>
                  </a:lnTo>
                  <a:lnTo>
                    <a:pt x="121" y="2156"/>
                  </a:lnTo>
                  <a:cubicBezTo>
                    <a:pt x="121" y="2156"/>
                    <a:pt x="119" y="2155"/>
                    <a:pt x="117" y="2154"/>
                  </a:cubicBezTo>
                  <a:cubicBezTo>
                    <a:pt x="115" y="2152"/>
                    <a:pt x="114" y="2149"/>
                    <a:pt x="110" y="2143"/>
                  </a:cubicBezTo>
                  <a:cubicBezTo>
                    <a:pt x="101" y="2131"/>
                    <a:pt x="91" y="2110"/>
                    <a:pt x="82" y="2081"/>
                  </a:cubicBezTo>
                  <a:cubicBezTo>
                    <a:pt x="65" y="2024"/>
                    <a:pt x="51" y="1939"/>
                    <a:pt x="46" y="1839"/>
                  </a:cubicBezTo>
                  <a:cubicBezTo>
                    <a:pt x="38" y="1638"/>
                    <a:pt x="68" y="1375"/>
                    <a:pt x="181" y="1144"/>
                  </a:cubicBezTo>
                  <a:cubicBezTo>
                    <a:pt x="207" y="1089"/>
                    <a:pt x="254" y="1045"/>
                    <a:pt x="305" y="1017"/>
                  </a:cubicBezTo>
                  <a:cubicBezTo>
                    <a:pt x="355" y="990"/>
                    <a:pt x="457" y="942"/>
                    <a:pt x="520" y="915"/>
                  </a:cubicBezTo>
                  <a:lnTo>
                    <a:pt x="445" y="920"/>
                  </a:lnTo>
                  <a:cubicBezTo>
                    <a:pt x="377" y="950"/>
                    <a:pt x="332" y="967"/>
                    <a:pt x="278" y="997"/>
                  </a:cubicBezTo>
                  <a:cubicBezTo>
                    <a:pt x="224" y="1026"/>
                    <a:pt x="178" y="1065"/>
                    <a:pt x="147" y="1128"/>
                  </a:cubicBezTo>
                  <a:cubicBezTo>
                    <a:pt x="31" y="1366"/>
                    <a:pt x="0" y="1634"/>
                    <a:pt x="9" y="1840"/>
                  </a:cubicBezTo>
                  <a:cubicBezTo>
                    <a:pt x="13" y="1943"/>
                    <a:pt x="21" y="2043"/>
                    <a:pt x="40" y="2105"/>
                  </a:cubicBezTo>
                  <a:cubicBezTo>
                    <a:pt x="50" y="2136"/>
                    <a:pt x="60" y="2162"/>
                    <a:pt x="73" y="2179"/>
                  </a:cubicBezTo>
                  <a:cubicBezTo>
                    <a:pt x="79" y="2188"/>
                    <a:pt x="92" y="2197"/>
                    <a:pt x="101" y="2203"/>
                  </a:cubicBezTo>
                  <a:cubicBezTo>
                    <a:pt x="108" y="2206"/>
                    <a:pt x="123" y="2210"/>
                    <a:pt x="132" y="2209"/>
                  </a:cubicBezTo>
                  <a:cubicBezTo>
                    <a:pt x="150" y="2209"/>
                    <a:pt x="161" y="2206"/>
                    <a:pt x="178" y="2198"/>
                  </a:cubicBezTo>
                  <a:cubicBezTo>
                    <a:pt x="195" y="2188"/>
                    <a:pt x="211" y="2163"/>
                    <a:pt x="221" y="2143"/>
                  </a:cubicBezTo>
                  <a:cubicBezTo>
                    <a:pt x="241" y="2103"/>
                    <a:pt x="252" y="2046"/>
                    <a:pt x="261" y="1984"/>
                  </a:cubicBezTo>
                  <a:cubicBezTo>
                    <a:pt x="270" y="1922"/>
                    <a:pt x="280" y="1861"/>
                    <a:pt x="287" y="1802"/>
                  </a:cubicBezTo>
                  <a:cubicBezTo>
                    <a:pt x="294" y="1743"/>
                    <a:pt x="303" y="1692"/>
                    <a:pt x="315" y="1665"/>
                  </a:cubicBezTo>
                  <a:cubicBezTo>
                    <a:pt x="321" y="1651"/>
                    <a:pt x="325" y="1636"/>
                    <a:pt x="334" y="1623"/>
                  </a:cubicBezTo>
                  <a:cubicBezTo>
                    <a:pt x="343" y="1611"/>
                    <a:pt x="354" y="1591"/>
                    <a:pt x="372" y="1588"/>
                  </a:cubicBezTo>
                  <a:lnTo>
                    <a:pt x="371" y="1589"/>
                  </a:lnTo>
                  <a:lnTo>
                    <a:pt x="373" y="1589"/>
                  </a:lnTo>
                  <a:cubicBezTo>
                    <a:pt x="379" y="1586"/>
                    <a:pt x="379" y="1589"/>
                    <a:pt x="383" y="1594"/>
                  </a:cubicBezTo>
                  <a:cubicBezTo>
                    <a:pt x="388" y="1598"/>
                    <a:pt x="395" y="1610"/>
                    <a:pt x="401" y="1627"/>
                  </a:cubicBezTo>
                  <a:cubicBezTo>
                    <a:pt x="413" y="1662"/>
                    <a:pt x="421" y="1718"/>
                    <a:pt x="426" y="1788"/>
                  </a:cubicBezTo>
                  <a:cubicBezTo>
                    <a:pt x="436" y="1928"/>
                    <a:pt x="435" y="2122"/>
                    <a:pt x="435" y="2315"/>
                  </a:cubicBezTo>
                  <a:cubicBezTo>
                    <a:pt x="435" y="2509"/>
                    <a:pt x="436" y="2703"/>
                    <a:pt x="451" y="2846"/>
                  </a:cubicBezTo>
                  <a:cubicBezTo>
                    <a:pt x="459" y="2917"/>
                    <a:pt x="470" y="2976"/>
                    <a:pt x="488" y="3017"/>
                  </a:cubicBezTo>
                  <a:cubicBezTo>
                    <a:pt x="497" y="3038"/>
                    <a:pt x="507" y="3054"/>
                    <a:pt x="522" y="3065"/>
                  </a:cubicBezTo>
                  <a:cubicBezTo>
                    <a:pt x="535" y="3076"/>
                    <a:pt x="551" y="3082"/>
                    <a:pt x="568" y="3082"/>
                  </a:cubicBezTo>
                  <a:cubicBezTo>
                    <a:pt x="593" y="3084"/>
                    <a:pt x="618" y="3079"/>
                    <a:pt x="638" y="3065"/>
                  </a:cubicBezTo>
                  <a:cubicBezTo>
                    <a:pt x="660" y="3050"/>
                    <a:pt x="677" y="3027"/>
                    <a:pt x="692" y="2998"/>
                  </a:cubicBezTo>
                  <a:cubicBezTo>
                    <a:pt x="723" y="2939"/>
                    <a:pt x="746" y="2855"/>
                    <a:pt x="768" y="2760"/>
                  </a:cubicBezTo>
                  <a:cubicBezTo>
                    <a:pt x="809" y="2578"/>
                    <a:pt x="871" y="2339"/>
                    <a:pt x="891" y="2186"/>
                  </a:cubicBezTo>
                  <a:cubicBezTo>
                    <a:pt x="894" y="2189"/>
                    <a:pt x="905" y="2201"/>
                    <a:pt x="909" y="2205"/>
                  </a:cubicBezTo>
                  <a:cubicBezTo>
                    <a:pt x="921" y="2221"/>
                    <a:pt x="931" y="2243"/>
                    <a:pt x="944" y="2270"/>
                  </a:cubicBezTo>
                  <a:cubicBezTo>
                    <a:pt x="971" y="2325"/>
                    <a:pt x="986" y="2402"/>
                    <a:pt x="987" y="2456"/>
                  </a:cubicBezTo>
                  <a:cubicBezTo>
                    <a:pt x="990" y="2542"/>
                    <a:pt x="981" y="2679"/>
                    <a:pt x="996" y="2802"/>
                  </a:cubicBezTo>
                  <a:cubicBezTo>
                    <a:pt x="1004" y="2863"/>
                    <a:pt x="1021" y="2940"/>
                    <a:pt x="1047" y="2988"/>
                  </a:cubicBezTo>
                  <a:cubicBezTo>
                    <a:pt x="1065" y="3021"/>
                    <a:pt x="1085" y="3051"/>
                    <a:pt x="1115" y="3065"/>
                  </a:cubicBezTo>
                  <a:cubicBezTo>
                    <a:pt x="1129" y="3071"/>
                    <a:pt x="1129" y="3070"/>
                    <a:pt x="1146" y="3075"/>
                  </a:cubicBezTo>
                  <a:lnTo>
                    <a:pt x="1164" y="3074"/>
                  </a:lnTo>
                  <a:lnTo>
                    <a:pt x="1176" y="3071"/>
                  </a:lnTo>
                  <a:cubicBezTo>
                    <a:pt x="1211" y="3058"/>
                    <a:pt x="1237" y="3029"/>
                    <a:pt x="1257" y="2990"/>
                  </a:cubicBezTo>
                  <a:cubicBezTo>
                    <a:pt x="1276" y="2952"/>
                    <a:pt x="1290" y="2904"/>
                    <a:pt x="1300" y="2849"/>
                  </a:cubicBezTo>
                  <a:cubicBezTo>
                    <a:pt x="1321" y="2741"/>
                    <a:pt x="1328" y="2635"/>
                    <a:pt x="1337" y="2504"/>
                  </a:cubicBezTo>
                  <a:lnTo>
                    <a:pt x="1338" y="2476"/>
                  </a:lnTo>
                  <a:lnTo>
                    <a:pt x="1338" y="2475"/>
                  </a:lnTo>
                  <a:cubicBezTo>
                    <a:pt x="1356" y="2123"/>
                    <a:pt x="1301" y="1901"/>
                    <a:pt x="1260" y="1564"/>
                  </a:cubicBezTo>
                  <a:cubicBezTo>
                    <a:pt x="1258" y="1556"/>
                    <a:pt x="1258" y="1537"/>
                    <a:pt x="1258" y="1537"/>
                  </a:cubicBezTo>
                  <a:cubicBezTo>
                    <a:pt x="1249" y="1386"/>
                    <a:pt x="1251" y="1247"/>
                    <a:pt x="1259" y="1137"/>
                  </a:cubicBezTo>
                  <a:cubicBezTo>
                    <a:pt x="1263" y="1083"/>
                    <a:pt x="1273" y="1033"/>
                    <a:pt x="1282" y="994"/>
                  </a:cubicBezTo>
                  <a:cubicBezTo>
                    <a:pt x="1292" y="954"/>
                    <a:pt x="1298" y="934"/>
                    <a:pt x="1315" y="905"/>
                  </a:cubicBezTo>
                  <a:lnTo>
                    <a:pt x="1317" y="899"/>
                  </a:lnTo>
                  <a:lnTo>
                    <a:pt x="1319" y="893"/>
                  </a:lnTo>
                  <a:cubicBezTo>
                    <a:pt x="1349" y="790"/>
                    <a:pt x="1414" y="710"/>
                    <a:pt x="1471" y="582"/>
                  </a:cubicBezTo>
                  <a:cubicBezTo>
                    <a:pt x="1523" y="466"/>
                    <a:pt x="1565" y="329"/>
                    <a:pt x="1583" y="222"/>
                  </a:cubicBezTo>
                  <a:cubicBezTo>
                    <a:pt x="1593" y="169"/>
                    <a:pt x="1596" y="116"/>
                    <a:pt x="1591" y="79"/>
                  </a:cubicBezTo>
                  <a:cubicBezTo>
                    <a:pt x="1588" y="60"/>
                    <a:pt x="1579" y="42"/>
                    <a:pt x="1570" y="28"/>
                  </a:cubicBezTo>
                  <a:cubicBezTo>
                    <a:pt x="1562" y="15"/>
                    <a:pt x="1546" y="5"/>
                    <a:pt x="1536" y="2"/>
                  </a:cubicBezTo>
                  <a:lnTo>
                    <a:pt x="1532" y="1"/>
                  </a:lnTo>
                  <a:lnTo>
                    <a:pt x="1529" y="0"/>
                  </a:lnTo>
                  <a:lnTo>
                    <a:pt x="15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 sz="2000"/>
            </a:p>
          </p:txBody>
        </p:sp>
        <p:sp>
          <p:nvSpPr>
            <p:cNvPr id="92" name="Freeform 13"/>
            <p:cNvSpPr>
              <a:spLocks/>
            </p:cNvSpPr>
            <p:nvPr/>
          </p:nvSpPr>
          <p:spPr bwMode="auto">
            <a:xfrm>
              <a:off x="4902200" y="4216400"/>
              <a:ext cx="282575" cy="106363"/>
            </a:xfrm>
            <a:custGeom>
              <a:avLst/>
              <a:gdLst>
                <a:gd name="T0" fmla="*/ 758 w 758"/>
                <a:gd name="T1" fmla="*/ 265 h 282"/>
                <a:gd name="T2" fmla="*/ 659 w 758"/>
                <a:gd name="T3" fmla="*/ 173 h 282"/>
                <a:gd name="T4" fmla="*/ 489 w 758"/>
                <a:gd name="T5" fmla="*/ 89 h 282"/>
                <a:gd name="T6" fmla="*/ 241 w 758"/>
                <a:gd name="T7" fmla="*/ 13 h 282"/>
                <a:gd name="T8" fmla="*/ 164 w 758"/>
                <a:gd name="T9" fmla="*/ 0 h 282"/>
                <a:gd name="T10" fmla="*/ 73 w 758"/>
                <a:gd name="T11" fmla="*/ 55 h 282"/>
                <a:gd name="T12" fmla="*/ 0 w 758"/>
                <a:gd name="T13" fmla="*/ 164 h 282"/>
                <a:gd name="T14" fmla="*/ 5 w 758"/>
                <a:gd name="T15" fmla="*/ 279 h 282"/>
                <a:gd name="T16" fmla="*/ 285 w 758"/>
                <a:gd name="T17" fmla="*/ 230 h 282"/>
                <a:gd name="T18" fmla="*/ 473 w 758"/>
                <a:gd name="T19" fmla="*/ 226 h 282"/>
                <a:gd name="T20" fmla="*/ 754 w 758"/>
                <a:gd name="T21" fmla="*/ 282 h 282"/>
                <a:gd name="T22" fmla="*/ 758 w 758"/>
                <a:gd name="T23" fmla="*/ 265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58" h="282">
                  <a:moveTo>
                    <a:pt x="758" y="265"/>
                  </a:moveTo>
                  <a:lnTo>
                    <a:pt x="659" y="173"/>
                  </a:lnTo>
                  <a:lnTo>
                    <a:pt x="489" y="89"/>
                  </a:lnTo>
                  <a:lnTo>
                    <a:pt x="241" y="13"/>
                  </a:lnTo>
                  <a:lnTo>
                    <a:pt x="164" y="0"/>
                  </a:lnTo>
                  <a:lnTo>
                    <a:pt x="73" y="55"/>
                  </a:lnTo>
                  <a:lnTo>
                    <a:pt x="0" y="164"/>
                  </a:lnTo>
                  <a:lnTo>
                    <a:pt x="5" y="279"/>
                  </a:lnTo>
                  <a:lnTo>
                    <a:pt x="285" y="230"/>
                  </a:lnTo>
                  <a:lnTo>
                    <a:pt x="473" y="226"/>
                  </a:lnTo>
                  <a:lnTo>
                    <a:pt x="754" y="282"/>
                  </a:lnTo>
                  <a:lnTo>
                    <a:pt x="758" y="265"/>
                  </a:lnTo>
                  <a:close/>
                </a:path>
              </a:pathLst>
            </a:custGeom>
            <a:solidFill>
              <a:srgbClr val="A1BD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 sz="2000"/>
            </a:p>
          </p:txBody>
        </p:sp>
        <p:sp>
          <p:nvSpPr>
            <p:cNvPr id="93" name="Freeform 14"/>
            <p:cNvSpPr>
              <a:spLocks noEditPoints="1"/>
            </p:cNvSpPr>
            <p:nvPr/>
          </p:nvSpPr>
          <p:spPr bwMode="auto">
            <a:xfrm>
              <a:off x="4908550" y="4233863"/>
              <a:ext cx="100013" cy="84138"/>
            </a:xfrm>
            <a:custGeom>
              <a:avLst/>
              <a:gdLst>
                <a:gd name="T0" fmla="*/ 10 w 266"/>
                <a:gd name="T1" fmla="*/ 227 h 229"/>
                <a:gd name="T2" fmla="*/ 3 w 266"/>
                <a:gd name="T3" fmla="*/ 217 h 229"/>
                <a:gd name="T4" fmla="*/ 5 w 266"/>
                <a:gd name="T5" fmla="*/ 155 h 229"/>
                <a:gd name="T6" fmla="*/ 56 w 266"/>
                <a:gd name="T7" fmla="*/ 64 h 229"/>
                <a:gd name="T8" fmla="*/ 143 w 266"/>
                <a:gd name="T9" fmla="*/ 1 h 229"/>
                <a:gd name="T10" fmla="*/ 152 w 266"/>
                <a:gd name="T11" fmla="*/ 6 h 229"/>
                <a:gd name="T12" fmla="*/ 158 w 266"/>
                <a:gd name="T13" fmla="*/ 13 h 229"/>
                <a:gd name="T14" fmla="*/ 165 w 266"/>
                <a:gd name="T15" fmla="*/ 20 h 229"/>
                <a:gd name="T16" fmla="*/ 172 w 266"/>
                <a:gd name="T17" fmla="*/ 27 h 229"/>
                <a:gd name="T18" fmla="*/ 178 w 266"/>
                <a:gd name="T19" fmla="*/ 32 h 229"/>
                <a:gd name="T20" fmla="*/ 190 w 266"/>
                <a:gd name="T21" fmla="*/ 38 h 229"/>
                <a:gd name="T22" fmla="*/ 203 w 266"/>
                <a:gd name="T23" fmla="*/ 44 h 229"/>
                <a:gd name="T24" fmla="*/ 209 w 266"/>
                <a:gd name="T25" fmla="*/ 51 h 229"/>
                <a:gd name="T26" fmla="*/ 216 w 266"/>
                <a:gd name="T27" fmla="*/ 58 h 229"/>
                <a:gd name="T28" fmla="*/ 221 w 266"/>
                <a:gd name="T29" fmla="*/ 64 h 229"/>
                <a:gd name="T30" fmla="*/ 227 w 266"/>
                <a:gd name="T31" fmla="*/ 70 h 229"/>
                <a:gd name="T32" fmla="*/ 240 w 266"/>
                <a:gd name="T33" fmla="*/ 75 h 229"/>
                <a:gd name="T34" fmla="*/ 253 w 266"/>
                <a:gd name="T35" fmla="*/ 82 h 229"/>
                <a:gd name="T36" fmla="*/ 261 w 266"/>
                <a:gd name="T37" fmla="*/ 89 h 229"/>
                <a:gd name="T38" fmla="*/ 245 w 266"/>
                <a:gd name="T39" fmla="*/ 99 h 229"/>
                <a:gd name="T40" fmla="*/ 117 w 266"/>
                <a:gd name="T41" fmla="*/ 163 h 229"/>
                <a:gd name="T42" fmla="*/ 77 w 266"/>
                <a:gd name="T43" fmla="*/ 194 h 229"/>
                <a:gd name="T44" fmla="*/ 55 w 266"/>
                <a:gd name="T45" fmla="*/ 212 h 229"/>
                <a:gd name="T46" fmla="*/ 52 w 266"/>
                <a:gd name="T47" fmla="*/ 214 h 229"/>
                <a:gd name="T48" fmla="*/ 33 w 266"/>
                <a:gd name="T49" fmla="*/ 223 h 229"/>
                <a:gd name="T50" fmla="*/ 10 w 266"/>
                <a:gd name="T51" fmla="*/ 227 h 229"/>
                <a:gd name="T52" fmla="*/ 28 w 266"/>
                <a:gd name="T53" fmla="*/ 193 h 229"/>
                <a:gd name="T54" fmla="*/ 22 w 266"/>
                <a:gd name="T55" fmla="*/ 188 h 229"/>
                <a:gd name="T56" fmla="*/ 17 w 266"/>
                <a:gd name="T57" fmla="*/ 193 h 229"/>
                <a:gd name="T58" fmla="*/ 22 w 266"/>
                <a:gd name="T59" fmla="*/ 199 h 229"/>
                <a:gd name="T60" fmla="*/ 28 w 266"/>
                <a:gd name="T61" fmla="*/ 193 h 229"/>
                <a:gd name="T62" fmla="*/ 141 w 266"/>
                <a:gd name="T63" fmla="*/ 94 h 229"/>
                <a:gd name="T64" fmla="*/ 134 w 266"/>
                <a:gd name="T65" fmla="*/ 88 h 229"/>
                <a:gd name="T66" fmla="*/ 127 w 266"/>
                <a:gd name="T67" fmla="*/ 94 h 229"/>
                <a:gd name="T68" fmla="*/ 134 w 266"/>
                <a:gd name="T69" fmla="*/ 100 h 229"/>
                <a:gd name="T70" fmla="*/ 141 w 266"/>
                <a:gd name="T71" fmla="*/ 94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66" h="229">
                  <a:moveTo>
                    <a:pt x="10" y="227"/>
                  </a:moveTo>
                  <a:cubicBezTo>
                    <a:pt x="6" y="226"/>
                    <a:pt x="4" y="223"/>
                    <a:pt x="3" y="217"/>
                  </a:cubicBezTo>
                  <a:cubicBezTo>
                    <a:pt x="0" y="202"/>
                    <a:pt x="1" y="169"/>
                    <a:pt x="5" y="155"/>
                  </a:cubicBezTo>
                  <a:cubicBezTo>
                    <a:pt x="11" y="128"/>
                    <a:pt x="33" y="89"/>
                    <a:pt x="56" y="64"/>
                  </a:cubicBezTo>
                  <a:cubicBezTo>
                    <a:pt x="77" y="41"/>
                    <a:pt x="129" y="2"/>
                    <a:pt x="143" y="1"/>
                  </a:cubicBezTo>
                  <a:cubicBezTo>
                    <a:pt x="151" y="0"/>
                    <a:pt x="152" y="0"/>
                    <a:pt x="152" y="6"/>
                  </a:cubicBezTo>
                  <a:cubicBezTo>
                    <a:pt x="152" y="13"/>
                    <a:pt x="152" y="13"/>
                    <a:pt x="158" y="13"/>
                  </a:cubicBezTo>
                  <a:cubicBezTo>
                    <a:pt x="164" y="13"/>
                    <a:pt x="165" y="14"/>
                    <a:pt x="165" y="20"/>
                  </a:cubicBezTo>
                  <a:cubicBezTo>
                    <a:pt x="165" y="26"/>
                    <a:pt x="166" y="27"/>
                    <a:pt x="172" y="27"/>
                  </a:cubicBezTo>
                  <a:cubicBezTo>
                    <a:pt x="177" y="27"/>
                    <a:pt x="178" y="27"/>
                    <a:pt x="178" y="32"/>
                  </a:cubicBezTo>
                  <a:cubicBezTo>
                    <a:pt x="178" y="37"/>
                    <a:pt x="179" y="38"/>
                    <a:pt x="190" y="38"/>
                  </a:cubicBezTo>
                  <a:cubicBezTo>
                    <a:pt x="202" y="38"/>
                    <a:pt x="203" y="38"/>
                    <a:pt x="203" y="44"/>
                  </a:cubicBezTo>
                  <a:cubicBezTo>
                    <a:pt x="203" y="50"/>
                    <a:pt x="203" y="51"/>
                    <a:pt x="209" y="51"/>
                  </a:cubicBezTo>
                  <a:cubicBezTo>
                    <a:pt x="215" y="51"/>
                    <a:pt x="216" y="52"/>
                    <a:pt x="216" y="58"/>
                  </a:cubicBezTo>
                  <a:cubicBezTo>
                    <a:pt x="216" y="63"/>
                    <a:pt x="217" y="64"/>
                    <a:pt x="221" y="64"/>
                  </a:cubicBezTo>
                  <a:cubicBezTo>
                    <a:pt x="226" y="64"/>
                    <a:pt x="227" y="65"/>
                    <a:pt x="227" y="70"/>
                  </a:cubicBezTo>
                  <a:cubicBezTo>
                    <a:pt x="227" y="75"/>
                    <a:pt x="227" y="75"/>
                    <a:pt x="240" y="75"/>
                  </a:cubicBezTo>
                  <a:cubicBezTo>
                    <a:pt x="253" y="75"/>
                    <a:pt x="253" y="75"/>
                    <a:pt x="253" y="82"/>
                  </a:cubicBezTo>
                  <a:cubicBezTo>
                    <a:pt x="253" y="88"/>
                    <a:pt x="254" y="88"/>
                    <a:pt x="261" y="89"/>
                  </a:cubicBezTo>
                  <a:cubicBezTo>
                    <a:pt x="266" y="89"/>
                    <a:pt x="263" y="91"/>
                    <a:pt x="245" y="99"/>
                  </a:cubicBezTo>
                  <a:cubicBezTo>
                    <a:pt x="204" y="116"/>
                    <a:pt x="138" y="149"/>
                    <a:pt x="117" y="163"/>
                  </a:cubicBezTo>
                  <a:cubicBezTo>
                    <a:pt x="106" y="171"/>
                    <a:pt x="88" y="185"/>
                    <a:pt x="77" y="194"/>
                  </a:cubicBezTo>
                  <a:cubicBezTo>
                    <a:pt x="66" y="204"/>
                    <a:pt x="56" y="212"/>
                    <a:pt x="55" y="212"/>
                  </a:cubicBezTo>
                  <a:cubicBezTo>
                    <a:pt x="54" y="212"/>
                    <a:pt x="52" y="213"/>
                    <a:pt x="52" y="214"/>
                  </a:cubicBezTo>
                  <a:cubicBezTo>
                    <a:pt x="51" y="215"/>
                    <a:pt x="43" y="219"/>
                    <a:pt x="33" y="223"/>
                  </a:cubicBezTo>
                  <a:cubicBezTo>
                    <a:pt x="20" y="228"/>
                    <a:pt x="14" y="229"/>
                    <a:pt x="10" y="227"/>
                  </a:cubicBezTo>
                  <a:close/>
                  <a:moveTo>
                    <a:pt x="28" y="193"/>
                  </a:moveTo>
                  <a:cubicBezTo>
                    <a:pt x="28" y="189"/>
                    <a:pt x="27" y="188"/>
                    <a:pt x="22" y="188"/>
                  </a:cubicBezTo>
                  <a:cubicBezTo>
                    <a:pt x="18" y="188"/>
                    <a:pt x="17" y="189"/>
                    <a:pt x="17" y="193"/>
                  </a:cubicBezTo>
                  <a:cubicBezTo>
                    <a:pt x="17" y="198"/>
                    <a:pt x="18" y="199"/>
                    <a:pt x="22" y="199"/>
                  </a:cubicBezTo>
                  <a:cubicBezTo>
                    <a:pt x="27" y="199"/>
                    <a:pt x="28" y="198"/>
                    <a:pt x="28" y="193"/>
                  </a:cubicBezTo>
                  <a:close/>
                  <a:moveTo>
                    <a:pt x="141" y="94"/>
                  </a:moveTo>
                  <a:cubicBezTo>
                    <a:pt x="141" y="89"/>
                    <a:pt x="140" y="88"/>
                    <a:pt x="134" y="88"/>
                  </a:cubicBezTo>
                  <a:cubicBezTo>
                    <a:pt x="128" y="88"/>
                    <a:pt x="127" y="89"/>
                    <a:pt x="127" y="94"/>
                  </a:cubicBezTo>
                  <a:cubicBezTo>
                    <a:pt x="127" y="99"/>
                    <a:pt x="128" y="100"/>
                    <a:pt x="134" y="100"/>
                  </a:cubicBezTo>
                  <a:cubicBezTo>
                    <a:pt x="140" y="100"/>
                    <a:pt x="141" y="99"/>
                    <a:pt x="141" y="94"/>
                  </a:cubicBezTo>
                  <a:close/>
                </a:path>
              </a:pathLst>
            </a:custGeom>
            <a:solidFill>
              <a:srgbClr val="A1BDA8"/>
            </a:solidFill>
            <a:ln w="3175" cap="flat">
              <a:solidFill>
                <a:srgbClr val="A1BDA8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 sz="2000"/>
            </a:p>
          </p:txBody>
        </p:sp>
        <p:sp>
          <p:nvSpPr>
            <p:cNvPr id="94" name="Freeform 15"/>
            <p:cNvSpPr>
              <a:spLocks/>
            </p:cNvSpPr>
            <p:nvPr/>
          </p:nvSpPr>
          <p:spPr bwMode="auto">
            <a:xfrm>
              <a:off x="5192713" y="4157663"/>
              <a:ext cx="57150" cy="149225"/>
            </a:xfrm>
            <a:custGeom>
              <a:avLst/>
              <a:gdLst>
                <a:gd name="T0" fmla="*/ 0 w 154"/>
                <a:gd name="T1" fmla="*/ 398 h 398"/>
                <a:gd name="T2" fmla="*/ 1 w 154"/>
                <a:gd name="T3" fmla="*/ 333 h 398"/>
                <a:gd name="T4" fmla="*/ 46 w 154"/>
                <a:gd name="T5" fmla="*/ 203 h 398"/>
                <a:gd name="T6" fmla="*/ 73 w 154"/>
                <a:gd name="T7" fmla="*/ 102 h 398"/>
                <a:gd name="T8" fmla="*/ 108 w 154"/>
                <a:gd name="T9" fmla="*/ 16 h 398"/>
                <a:gd name="T10" fmla="*/ 137 w 154"/>
                <a:gd name="T11" fmla="*/ 0 h 398"/>
                <a:gd name="T12" fmla="*/ 154 w 154"/>
                <a:gd name="T13" fmla="*/ 95 h 398"/>
                <a:gd name="T14" fmla="*/ 82 w 154"/>
                <a:gd name="T15" fmla="*/ 276 h 398"/>
                <a:gd name="T16" fmla="*/ 38 w 154"/>
                <a:gd name="T17" fmla="*/ 350 h 398"/>
                <a:gd name="T18" fmla="*/ 0 w 154"/>
                <a:gd name="T19" fmla="*/ 398 h 3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4" h="398">
                  <a:moveTo>
                    <a:pt x="0" y="398"/>
                  </a:moveTo>
                  <a:lnTo>
                    <a:pt x="1" y="333"/>
                  </a:lnTo>
                  <a:lnTo>
                    <a:pt x="46" y="203"/>
                  </a:lnTo>
                  <a:lnTo>
                    <a:pt x="73" y="102"/>
                  </a:lnTo>
                  <a:lnTo>
                    <a:pt x="108" y="16"/>
                  </a:lnTo>
                  <a:lnTo>
                    <a:pt x="137" y="0"/>
                  </a:lnTo>
                  <a:lnTo>
                    <a:pt x="154" y="95"/>
                  </a:lnTo>
                  <a:lnTo>
                    <a:pt x="82" y="276"/>
                  </a:lnTo>
                  <a:lnTo>
                    <a:pt x="38" y="350"/>
                  </a:lnTo>
                  <a:lnTo>
                    <a:pt x="0" y="398"/>
                  </a:lnTo>
                  <a:close/>
                </a:path>
              </a:pathLst>
            </a:custGeom>
            <a:solidFill>
              <a:srgbClr val="A1BD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 sz="2000"/>
            </a:p>
          </p:txBody>
        </p:sp>
        <p:sp>
          <p:nvSpPr>
            <p:cNvPr id="95" name="Freeform 16"/>
            <p:cNvSpPr>
              <a:spLocks/>
            </p:cNvSpPr>
            <p:nvPr/>
          </p:nvSpPr>
          <p:spPr bwMode="auto">
            <a:xfrm>
              <a:off x="4908550" y="4219575"/>
              <a:ext cx="280988" cy="111125"/>
            </a:xfrm>
            <a:custGeom>
              <a:avLst/>
              <a:gdLst>
                <a:gd name="T0" fmla="*/ 751 w 751"/>
                <a:gd name="T1" fmla="*/ 278 h 296"/>
                <a:gd name="T2" fmla="*/ 137 w 751"/>
                <a:gd name="T3" fmla="*/ 0 h 296"/>
                <a:gd name="T4" fmla="*/ 0 w 751"/>
                <a:gd name="T5" fmla="*/ 296 h 296"/>
                <a:gd name="T6" fmla="*/ 751 w 751"/>
                <a:gd name="T7" fmla="*/ 278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1" h="296">
                  <a:moveTo>
                    <a:pt x="751" y="278"/>
                  </a:moveTo>
                  <a:lnTo>
                    <a:pt x="137" y="0"/>
                  </a:lnTo>
                  <a:lnTo>
                    <a:pt x="0" y="296"/>
                  </a:lnTo>
                  <a:lnTo>
                    <a:pt x="751" y="278"/>
                  </a:lnTo>
                  <a:close/>
                </a:path>
              </a:pathLst>
            </a:custGeom>
            <a:noFill/>
            <a:ln w="4763" cap="flat">
              <a:solidFill>
                <a:srgbClr val="A1BDA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 sz="2000"/>
            </a:p>
          </p:txBody>
        </p:sp>
        <p:sp>
          <p:nvSpPr>
            <p:cNvPr id="96" name="Freeform 17"/>
            <p:cNvSpPr>
              <a:spLocks/>
            </p:cNvSpPr>
            <p:nvPr/>
          </p:nvSpPr>
          <p:spPr bwMode="auto">
            <a:xfrm>
              <a:off x="4859338" y="4230688"/>
              <a:ext cx="334963" cy="93663"/>
            </a:xfrm>
            <a:custGeom>
              <a:avLst/>
              <a:gdLst>
                <a:gd name="T0" fmla="*/ 894 w 898"/>
                <a:gd name="T1" fmla="*/ 221 h 251"/>
                <a:gd name="T2" fmla="*/ 266 w 898"/>
                <a:gd name="T3" fmla="*/ 0 h 251"/>
                <a:gd name="T4" fmla="*/ 134 w 898"/>
                <a:gd name="T5" fmla="*/ 247 h 251"/>
                <a:gd name="T6" fmla="*/ 894 w 898"/>
                <a:gd name="T7" fmla="*/ 221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98" h="251">
                  <a:moveTo>
                    <a:pt x="894" y="221"/>
                  </a:moveTo>
                  <a:cubicBezTo>
                    <a:pt x="898" y="251"/>
                    <a:pt x="266" y="0"/>
                    <a:pt x="266" y="0"/>
                  </a:cubicBezTo>
                  <a:cubicBezTo>
                    <a:pt x="0" y="41"/>
                    <a:pt x="97" y="150"/>
                    <a:pt x="134" y="247"/>
                  </a:cubicBezTo>
                  <a:lnTo>
                    <a:pt x="894" y="221"/>
                  </a:lnTo>
                  <a:close/>
                </a:path>
              </a:pathLst>
            </a:custGeom>
            <a:noFill/>
            <a:ln w="4763" cap="flat">
              <a:solidFill>
                <a:srgbClr val="A1BDA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 sz="2000"/>
            </a:p>
          </p:txBody>
        </p:sp>
        <p:sp>
          <p:nvSpPr>
            <p:cNvPr id="97" name="Freeform 18"/>
            <p:cNvSpPr>
              <a:spLocks/>
            </p:cNvSpPr>
            <p:nvPr/>
          </p:nvSpPr>
          <p:spPr bwMode="auto">
            <a:xfrm>
              <a:off x="5102225" y="4124325"/>
              <a:ext cx="98425" cy="117475"/>
            </a:xfrm>
            <a:custGeom>
              <a:avLst/>
              <a:gdLst>
                <a:gd name="T0" fmla="*/ 9 w 265"/>
                <a:gd name="T1" fmla="*/ 0 h 314"/>
                <a:gd name="T2" fmla="*/ 265 w 265"/>
                <a:gd name="T3" fmla="*/ 163 h 314"/>
                <a:gd name="T4" fmla="*/ 0 w 265"/>
                <a:gd name="T5" fmla="*/ 314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5" h="314">
                  <a:moveTo>
                    <a:pt x="9" y="0"/>
                  </a:moveTo>
                  <a:cubicBezTo>
                    <a:pt x="40" y="305"/>
                    <a:pt x="265" y="163"/>
                    <a:pt x="265" y="163"/>
                  </a:cubicBezTo>
                  <a:lnTo>
                    <a:pt x="0" y="314"/>
                  </a:lnTo>
                </a:path>
              </a:pathLst>
            </a:custGeom>
            <a:noFill/>
            <a:ln w="4763" cap="flat">
              <a:solidFill>
                <a:srgbClr val="A1BDA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 sz="2000"/>
            </a:p>
          </p:txBody>
        </p:sp>
        <p:sp>
          <p:nvSpPr>
            <p:cNvPr id="98" name="Freeform 23"/>
            <p:cNvSpPr>
              <a:spLocks/>
            </p:cNvSpPr>
            <p:nvPr/>
          </p:nvSpPr>
          <p:spPr bwMode="auto">
            <a:xfrm>
              <a:off x="4903788" y="4159250"/>
              <a:ext cx="349250" cy="163513"/>
            </a:xfrm>
            <a:custGeom>
              <a:avLst/>
              <a:gdLst>
                <a:gd name="T0" fmla="*/ 746 w 932"/>
                <a:gd name="T1" fmla="*/ 384 h 437"/>
                <a:gd name="T2" fmla="*/ 145 w 932"/>
                <a:gd name="T3" fmla="*/ 150 h 437"/>
                <a:gd name="T4" fmla="*/ 0 w 932"/>
                <a:gd name="T5" fmla="*/ 437 h 437"/>
                <a:gd name="T6" fmla="*/ 742 w 932"/>
                <a:gd name="T7" fmla="*/ 433 h 437"/>
                <a:gd name="T8" fmla="*/ 932 w 932"/>
                <a:gd name="T9" fmla="*/ 0 h 437"/>
                <a:gd name="T10" fmla="*/ 875 w 932"/>
                <a:gd name="T11" fmla="*/ 0 h 437"/>
                <a:gd name="T12" fmla="*/ 746 w 932"/>
                <a:gd name="T13" fmla="*/ 384 h 4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2" h="437">
                  <a:moveTo>
                    <a:pt x="746" y="384"/>
                  </a:moveTo>
                  <a:lnTo>
                    <a:pt x="145" y="150"/>
                  </a:lnTo>
                  <a:lnTo>
                    <a:pt x="0" y="437"/>
                  </a:lnTo>
                  <a:lnTo>
                    <a:pt x="742" y="433"/>
                  </a:lnTo>
                  <a:lnTo>
                    <a:pt x="932" y="0"/>
                  </a:lnTo>
                  <a:lnTo>
                    <a:pt x="875" y="0"/>
                  </a:lnTo>
                  <a:lnTo>
                    <a:pt x="746" y="384"/>
                  </a:lnTo>
                  <a:close/>
                </a:path>
              </a:pathLst>
            </a:custGeom>
            <a:noFill/>
            <a:ln w="4763" cap="flat">
              <a:solidFill>
                <a:srgbClr val="A1BDA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 sz="2000"/>
            </a:p>
          </p:txBody>
        </p:sp>
        <p:sp>
          <p:nvSpPr>
            <p:cNvPr id="99" name="Freeform 24"/>
            <p:cNvSpPr>
              <a:spLocks noEditPoints="1"/>
            </p:cNvSpPr>
            <p:nvPr/>
          </p:nvSpPr>
          <p:spPr bwMode="auto">
            <a:xfrm>
              <a:off x="4892675" y="4146550"/>
              <a:ext cx="363538" cy="187325"/>
            </a:xfrm>
            <a:custGeom>
              <a:avLst/>
              <a:gdLst>
                <a:gd name="T0" fmla="*/ 929 w 973"/>
                <a:gd name="T1" fmla="*/ 14 h 501"/>
                <a:gd name="T2" fmla="*/ 916 w 973"/>
                <a:gd name="T3" fmla="*/ 14 h 501"/>
                <a:gd name="T4" fmla="*/ 897 w 973"/>
                <a:gd name="T5" fmla="*/ 76 h 501"/>
                <a:gd name="T6" fmla="*/ 871 w 973"/>
                <a:gd name="T7" fmla="*/ 134 h 501"/>
                <a:gd name="T8" fmla="*/ 860 w 973"/>
                <a:gd name="T9" fmla="*/ 165 h 501"/>
                <a:gd name="T10" fmla="*/ 845 w 973"/>
                <a:gd name="T11" fmla="*/ 200 h 501"/>
                <a:gd name="T12" fmla="*/ 839 w 973"/>
                <a:gd name="T13" fmla="*/ 214 h 501"/>
                <a:gd name="T14" fmla="*/ 772 w 973"/>
                <a:gd name="T15" fmla="*/ 417 h 501"/>
                <a:gd name="T16" fmla="*/ 190 w 973"/>
                <a:gd name="T17" fmla="*/ 188 h 501"/>
                <a:gd name="T18" fmla="*/ 173 w 973"/>
                <a:gd name="T19" fmla="*/ 190 h 501"/>
                <a:gd name="T20" fmla="*/ 162 w 973"/>
                <a:gd name="T21" fmla="*/ 195 h 501"/>
                <a:gd name="T22" fmla="*/ 43 w 973"/>
                <a:gd name="T23" fmla="*/ 302 h 501"/>
                <a:gd name="T24" fmla="*/ 9 w 973"/>
                <a:gd name="T25" fmla="*/ 471 h 501"/>
                <a:gd name="T26" fmla="*/ 21 w 973"/>
                <a:gd name="T27" fmla="*/ 490 h 501"/>
                <a:gd name="T28" fmla="*/ 38 w 973"/>
                <a:gd name="T29" fmla="*/ 497 h 501"/>
                <a:gd name="T30" fmla="*/ 72 w 973"/>
                <a:gd name="T31" fmla="*/ 497 h 501"/>
                <a:gd name="T32" fmla="*/ 769 w 973"/>
                <a:gd name="T33" fmla="*/ 496 h 501"/>
                <a:gd name="T34" fmla="*/ 776 w 973"/>
                <a:gd name="T35" fmla="*/ 500 h 501"/>
                <a:gd name="T36" fmla="*/ 784 w 973"/>
                <a:gd name="T37" fmla="*/ 498 h 501"/>
                <a:gd name="T38" fmla="*/ 819 w 973"/>
                <a:gd name="T39" fmla="*/ 484 h 501"/>
                <a:gd name="T40" fmla="*/ 826 w 973"/>
                <a:gd name="T41" fmla="*/ 482 h 501"/>
                <a:gd name="T42" fmla="*/ 830 w 973"/>
                <a:gd name="T43" fmla="*/ 475 h 501"/>
                <a:gd name="T44" fmla="*/ 929 w 973"/>
                <a:gd name="T45" fmla="*/ 232 h 501"/>
                <a:gd name="T46" fmla="*/ 973 w 973"/>
                <a:gd name="T47" fmla="*/ 56 h 501"/>
                <a:gd name="T48" fmla="*/ 973 w 973"/>
                <a:gd name="T49" fmla="*/ 50 h 501"/>
                <a:gd name="T50" fmla="*/ 969 w 973"/>
                <a:gd name="T51" fmla="*/ 45 h 501"/>
                <a:gd name="T52" fmla="*/ 944 w 973"/>
                <a:gd name="T53" fmla="*/ 19 h 501"/>
                <a:gd name="T54" fmla="*/ 929 w 973"/>
                <a:gd name="T55" fmla="*/ 14 h 501"/>
                <a:gd name="T56" fmla="*/ 925 w 973"/>
                <a:gd name="T57" fmla="*/ 52 h 501"/>
                <a:gd name="T58" fmla="*/ 934 w 973"/>
                <a:gd name="T59" fmla="*/ 62 h 501"/>
                <a:gd name="T60" fmla="*/ 894 w 973"/>
                <a:gd name="T61" fmla="*/ 219 h 501"/>
                <a:gd name="T62" fmla="*/ 808 w 973"/>
                <a:gd name="T63" fmla="*/ 404 h 501"/>
                <a:gd name="T64" fmla="*/ 914 w 973"/>
                <a:gd name="T65" fmla="*/ 64 h 501"/>
                <a:gd name="T66" fmla="*/ 925 w 973"/>
                <a:gd name="T67" fmla="*/ 52 h 501"/>
                <a:gd name="T68" fmla="*/ 195 w 973"/>
                <a:gd name="T69" fmla="*/ 229 h 501"/>
                <a:gd name="T70" fmla="*/ 781 w 973"/>
                <a:gd name="T71" fmla="*/ 460 h 501"/>
                <a:gd name="T72" fmla="*/ 62 w 973"/>
                <a:gd name="T73" fmla="*/ 461 h 501"/>
                <a:gd name="T74" fmla="*/ 48 w 973"/>
                <a:gd name="T75" fmla="*/ 457 h 501"/>
                <a:gd name="T76" fmla="*/ 46 w 973"/>
                <a:gd name="T77" fmla="*/ 443 h 501"/>
                <a:gd name="T78" fmla="*/ 76 w 973"/>
                <a:gd name="T79" fmla="*/ 325 h 501"/>
                <a:gd name="T80" fmla="*/ 180 w 973"/>
                <a:gd name="T81" fmla="*/ 232 h 501"/>
                <a:gd name="T82" fmla="*/ 195 w 973"/>
                <a:gd name="T83" fmla="*/ 229 h 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973" h="501">
                  <a:moveTo>
                    <a:pt x="929" y="14"/>
                  </a:moveTo>
                  <a:cubicBezTo>
                    <a:pt x="923" y="13"/>
                    <a:pt x="921" y="13"/>
                    <a:pt x="916" y="14"/>
                  </a:cubicBezTo>
                  <a:cubicBezTo>
                    <a:pt x="919" y="0"/>
                    <a:pt x="909" y="36"/>
                    <a:pt x="897" y="76"/>
                  </a:cubicBezTo>
                  <a:cubicBezTo>
                    <a:pt x="890" y="92"/>
                    <a:pt x="888" y="94"/>
                    <a:pt x="871" y="134"/>
                  </a:cubicBezTo>
                  <a:cubicBezTo>
                    <a:pt x="871" y="136"/>
                    <a:pt x="868" y="147"/>
                    <a:pt x="860" y="165"/>
                  </a:cubicBezTo>
                  <a:cubicBezTo>
                    <a:pt x="853" y="182"/>
                    <a:pt x="853" y="182"/>
                    <a:pt x="845" y="200"/>
                  </a:cubicBezTo>
                  <a:cubicBezTo>
                    <a:pt x="843" y="206"/>
                    <a:pt x="841" y="208"/>
                    <a:pt x="839" y="214"/>
                  </a:cubicBezTo>
                  <a:cubicBezTo>
                    <a:pt x="815" y="271"/>
                    <a:pt x="799" y="355"/>
                    <a:pt x="772" y="417"/>
                  </a:cubicBezTo>
                  <a:cubicBezTo>
                    <a:pt x="550" y="244"/>
                    <a:pt x="299" y="174"/>
                    <a:pt x="190" y="188"/>
                  </a:cubicBezTo>
                  <a:lnTo>
                    <a:pt x="173" y="190"/>
                  </a:lnTo>
                  <a:lnTo>
                    <a:pt x="162" y="195"/>
                  </a:lnTo>
                  <a:cubicBezTo>
                    <a:pt x="98" y="236"/>
                    <a:pt x="72" y="257"/>
                    <a:pt x="43" y="302"/>
                  </a:cubicBezTo>
                  <a:cubicBezTo>
                    <a:pt x="13" y="347"/>
                    <a:pt x="0" y="415"/>
                    <a:pt x="9" y="471"/>
                  </a:cubicBezTo>
                  <a:cubicBezTo>
                    <a:pt x="10" y="480"/>
                    <a:pt x="16" y="486"/>
                    <a:pt x="21" y="490"/>
                  </a:cubicBezTo>
                  <a:cubicBezTo>
                    <a:pt x="27" y="494"/>
                    <a:pt x="32" y="496"/>
                    <a:pt x="38" y="497"/>
                  </a:cubicBezTo>
                  <a:cubicBezTo>
                    <a:pt x="49" y="500"/>
                    <a:pt x="60" y="501"/>
                    <a:pt x="72" y="497"/>
                  </a:cubicBezTo>
                  <a:cubicBezTo>
                    <a:pt x="451" y="389"/>
                    <a:pt x="636" y="424"/>
                    <a:pt x="769" y="496"/>
                  </a:cubicBezTo>
                  <a:lnTo>
                    <a:pt x="776" y="500"/>
                  </a:lnTo>
                  <a:lnTo>
                    <a:pt x="784" y="498"/>
                  </a:lnTo>
                  <a:lnTo>
                    <a:pt x="819" y="484"/>
                  </a:lnTo>
                  <a:lnTo>
                    <a:pt x="826" y="482"/>
                  </a:lnTo>
                  <a:lnTo>
                    <a:pt x="830" y="475"/>
                  </a:lnTo>
                  <a:cubicBezTo>
                    <a:pt x="844" y="404"/>
                    <a:pt x="903" y="304"/>
                    <a:pt x="929" y="232"/>
                  </a:cubicBezTo>
                  <a:cubicBezTo>
                    <a:pt x="955" y="160"/>
                    <a:pt x="971" y="101"/>
                    <a:pt x="973" y="56"/>
                  </a:cubicBezTo>
                  <a:lnTo>
                    <a:pt x="973" y="50"/>
                  </a:lnTo>
                  <a:lnTo>
                    <a:pt x="969" y="45"/>
                  </a:lnTo>
                  <a:cubicBezTo>
                    <a:pt x="961" y="33"/>
                    <a:pt x="953" y="25"/>
                    <a:pt x="944" y="19"/>
                  </a:cubicBezTo>
                  <a:cubicBezTo>
                    <a:pt x="939" y="16"/>
                    <a:pt x="934" y="15"/>
                    <a:pt x="929" y="14"/>
                  </a:cubicBezTo>
                  <a:close/>
                  <a:moveTo>
                    <a:pt x="925" y="52"/>
                  </a:moveTo>
                  <a:cubicBezTo>
                    <a:pt x="926" y="52"/>
                    <a:pt x="930" y="58"/>
                    <a:pt x="934" y="62"/>
                  </a:cubicBezTo>
                  <a:cubicBezTo>
                    <a:pt x="932" y="98"/>
                    <a:pt x="918" y="152"/>
                    <a:pt x="894" y="219"/>
                  </a:cubicBezTo>
                  <a:cubicBezTo>
                    <a:pt x="875" y="271"/>
                    <a:pt x="835" y="342"/>
                    <a:pt x="808" y="404"/>
                  </a:cubicBezTo>
                  <a:cubicBezTo>
                    <a:pt x="884" y="192"/>
                    <a:pt x="903" y="119"/>
                    <a:pt x="914" y="64"/>
                  </a:cubicBezTo>
                  <a:cubicBezTo>
                    <a:pt x="920" y="58"/>
                    <a:pt x="925" y="52"/>
                    <a:pt x="925" y="52"/>
                  </a:cubicBezTo>
                  <a:close/>
                  <a:moveTo>
                    <a:pt x="195" y="229"/>
                  </a:moveTo>
                  <a:cubicBezTo>
                    <a:pt x="449" y="256"/>
                    <a:pt x="675" y="359"/>
                    <a:pt x="781" y="460"/>
                  </a:cubicBezTo>
                  <a:cubicBezTo>
                    <a:pt x="641" y="391"/>
                    <a:pt x="287" y="369"/>
                    <a:pt x="62" y="461"/>
                  </a:cubicBezTo>
                  <a:cubicBezTo>
                    <a:pt x="59" y="462"/>
                    <a:pt x="53" y="458"/>
                    <a:pt x="48" y="457"/>
                  </a:cubicBezTo>
                  <a:cubicBezTo>
                    <a:pt x="47" y="452"/>
                    <a:pt x="46" y="443"/>
                    <a:pt x="46" y="443"/>
                  </a:cubicBezTo>
                  <a:cubicBezTo>
                    <a:pt x="40" y="397"/>
                    <a:pt x="52" y="362"/>
                    <a:pt x="76" y="325"/>
                  </a:cubicBezTo>
                  <a:cubicBezTo>
                    <a:pt x="100" y="288"/>
                    <a:pt x="122" y="269"/>
                    <a:pt x="180" y="232"/>
                  </a:cubicBezTo>
                  <a:lnTo>
                    <a:pt x="195" y="229"/>
                  </a:lnTo>
                  <a:close/>
                </a:path>
              </a:pathLst>
            </a:custGeom>
            <a:solidFill>
              <a:srgbClr val="6A8C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 sz="2000"/>
            </a:p>
          </p:txBody>
        </p:sp>
        <p:sp>
          <p:nvSpPr>
            <p:cNvPr id="100" name="Freeform 25"/>
            <p:cNvSpPr>
              <a:spLocks noEditPoints="1"/>
            </p:cNvSpPr>
            <p:nvPr/>
          </p:nvSpPr>
          <p:spPr bwMode="auto">
            <a:xfrm>
              <a:off x="4908550" y="4230688"/>
              <a:ext cx="100013" cy="87313"/>
            </a:xfrm>
            <a:custGeom>
              <a:avLst/>
              <a:gdLst>
                <a:gd name="T0" fmla="*/ 12 w 268"/>
                <a:gd name="T1" fmla="*/ 232 h 234"/>
                <a:gd name="T2" fmla="*/ 4 w 268"/>
                <a:gd name="T3" fmla="*/ 220 h 234"/>
                <a:gd name="T4" fmla="*/ 23 w 268"/>
                <a:gd name="T5" fmla="*/ 120 h 234"/>
                <a:gd name="T6" fmla="*/ 118 w 268"/>
                <a:gd name="T7" fmla="*/ 20 h 234"/>
                <a:gd name="T8" fmla="*/ 153 w 268"/>
                <a:gd name="T9" fmla="*/ 12 h 234"/>
                <a:gd name="T10" fmla="*/ 160 w 268"/>
                <a:gd name="T11" fmla="*/ 18 h 234"/>
                <a:gd name="T12" fmla="*/ 167 w 268"/>
                <a:gd name="T13" fmla="*/ 25 h 234"/>
                <a:gd name="T14" fmla="*/ 173 w 268"/>
                <a:gd name="T15" fmla="*/ 32 h 234"/>
                <a:gd name="T16" fmla="*/ 180 w 268"/>
                <a:gd name="T17" fmla="*/ 37 h 234"/>
                <a:gd name="T18" fmla="*/ 192 w 268"/>
                <a:gd name="T19" fmla="*/ 43 h 234"/>
                <a:gd name="T20" fmla="*/ 204 w 268"/>
                <a:gd name="T21" fmla="*/ 49 h 234"/>
                <a:gd name="T22" fmla="*/ 211 w 268"/>
                <a:gd name="T23" fmla="*/ 56 h 234"/>
                <a:gd name="T24" fmla="*/ 217 w 268"/>
                <a:gd name="T25" fmla="*/ 63 h 234"/>
                <a:gd name="T26" fmla="*/ 223 w 268"/>
                <a:gd name="T27" fmla="*/ 69 h 234"/>
                <a:gd name="T28" fmla="*/ 228 w 268"/>
                <a:gd name="T29" fmla="*/ 75 h 234"/>
                <a:gd name="T30" fmla="*/ 242 w 268"/>
                <a:gd name="T31" fmla="*/ 80 h 234"/>
                <a:gd name="T32" fmla="*/ 255 w 268"/>
                <a:gd name="T33" fmla="*/ 87 h 234"/>
                <a:gd name="T34" fmla="*/ 262 w 268"/>
                <a:gd name="T35" fmla="*/ 94 h 234"/>
                <a:gd name="T36" fmla="*/ 244 w 268"/>
                <a:gd name="T37" fmla="*/ 105 h 234"/>
                <a:gd name="T38" fmla="*/ 68 w 268"/>
                <a:gd name="T39" fmla="*/ 211 h 234"/>
                <a:gd name="T40" fmla="*/ 58 w 268"/>
                <a:gd name="T41" fmla="*/ 217 h 234"/>
                <a:gd name="T42" fmla="*/ 53 w 268"/>
                <a:gd name="T43" fmla="*/ 219 h 234"/>
                <a:gd name="T44" fmla="*/ 35 w 268"/>
                <a:gd name="T45" fmla="*/ 228 h 234"/>
                <a:gd name="T46" fmla="*/ 12 w 268"/>
                <a:gd name="T47" fmla="*/ 232 h 234"/>
                <a:gd name="T48" fmla="*/ 30 w 268"/>
                <a:gd name="T49" fmla="*/ 198 h 234"/>
                <a:gd name="T50" fmla="*/ 24 w 268"/>
                <a:gd name="T51" fmla="*/ 193 h 234"/>
                <a:gd name="T52" fmla="*/ 19 w 268"/>
                <a:gd name="T53" fmla="*/ 198 h 234"/>
                <a:gd name="T54" fmla="*/ 24 w 268"/>
                <a:gd name="T55" fmla="*/ 204 h 234"/>
                <a:gd name="T56" fmla="*/ 30 w 268"/>
                <a:gd name="T57" fmla="*/ 198 h 234"/>
                <a:gd name="T58" fmla="*/ 142 w 268"/>
                <a:gd name="T59" fmla="*/ 99 h 234"/>
                <a:gd name="T60" fmla="*/ 137 w 268"/>
                <a:gd name="T61" fmla="*/ 93 h 234"/>
                <a:gd name="T62" fmla="*/ 131 w 268"/>
                <a:gd name="T63" fmla="*/ 99 h 234"/>
                <a:gd name="T64" fmla="*/ 137 w 268"/>
                <a:gd name="T65" fmla="*/ 105 h 234"/>
                <a:gd name="T66" fmla="*/ 142 w 268"/>
                <a:gd name="T67" fmla="*/ 99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68" h="234">
                  <a:moveTo>
                    <a:pt x="12" y="232"/>
                  </a:moveTo>
                  <a:cubicBezTo>
                    <a:pt x="7" y="231"/>
                    <a:pt x="6" y="229"/>
                    <a:pt x="4" y="220"/>
                  </a:cubicBezTo>
                  <a:cubicBezTo>
                    <a:pt x="0" y="185"/>
                    <a:pt x="6" y="153"/>
                    <a:pt x="23" y="120"/>
                  </a:cubicBezTo>
                  <a:cubicBezTo>
                    <a:pt x="45" y="79"/>
                    <a:pt x="70" y="53"/>
                    <a:pt x="118" y="20"/>
                  </a:cubicBezTo>
                  <a:cubicBezTo>
                    <a:pt x="144" y="3"/>
                    <a:pt x="153" y="0"/>
                    <a:pt x="153" y="12"/>
                  </a:cubicBezTo>
                  <a:cubicBezTo>
                    <a:pt x="153" y="18"/>
                    <a:pt x="154" y="18"/>
                    <a:pt x="160" y="18"/>
                  </a:cubicBezTo>
                  <a:cubicBezTo>
                    <a:pt x="166" y="18"/>
                    <a:pt x="167" y="19"/>
                    <a:pt x="167" y="25"/>
                  </a:cubicBezTo>
                  <a:cubicBezTo>
                    <a:pt x="167" y="31"/>
                    <a:pt x="167" y="32"/>
                    <a:pt x="173" y="32"/>
                  </a:cubicBezTo>
                  <a:cubicBezTo>
                    <a:pt x="179" y="32"/>
                    <a:pt x="180" y="32"/>
                    <a:pt x="180" y="37"/>
                  </a:cubicBezTo>
                  <a:cubicBezTo>
                    <a:pt x="180" y="42"/>
                    <a:pt x="180" y="43"/>
                    <a:pt x="192" y="43"/>
                  </a:cubicBezTo>
                  <a:cubicBezTo>
                    <a:pt x="204" y="43"/>
                    <a:pt x="204" y="43"/>
                    <a:pt x="204" y="49"/>
                  </a:cubicBezTo>
                  <a:cubicBezTo>
                    <a:pt x="204" y="55"/>
                    <a:pt x="205" y="56"/>
                    <a:pt x="211" y="56"/>
                  </a:cubicBezTo>
                  <a:cubicBezTo>
                    <a:pt x="217" y="56"/>
                    <a:pt x="217" y="57"/>
                    <a:pt x="217" y="63"/>
                  </a:cubicBezTo>
                  <a:cubicBezTo>
                    <a:pt x="217" y="68"/>
                    <a:pt x="218" y="69"/>
                    <a:pt x="223" y="69"/>
                  </a:cubicBezTo>
                  <a:cubicBezTo>
                    <a:pt x="227" y="69"/>
                    <a:pt x="228" y="70"/>
                    <a:pt x="228" y="75"/>
                  </a:cubicBezTo>
                  <a:cubicBezTo>
                    <a:pt x="228" y="80"/>
                    <a:pt x="229" y="80"/>
                    <a:pt x="242" y="80"/>
                  </a:cubicBezTo>
                  <a:cubicBezTo>
                    <a:pt x="255" y="80"/>
                    <a:pt x="255" y="80"/>
                    <a:pt x="255" y="87"/>
                  </a:cubicBezTo>
                  <a:cubicBezTo>
                    <a:pt x="255" y="93"/>
                    <a:pt x="256" y="93"/>
                    <a:pt x="262" y="94"/>
                  </a:cubicBezTo>
                  <a:cubicBezTo>
                    <a:pt x="268" y="94"/>
                    <a:pt x="264" y="96"/>
                    <a:pt x="244" y="105"/>
                  </a:cubicBezTo>
                  <a:cubicBezTo>
                    <a:pt x="154" y="144"/>
                    <a:pt x="94" y="180"/>
                    <a:pt x="68" y="211"/>
                  </a:cubicBezTo>
                  <a:cubicBezTo>
                    <a:pt x="65" y="214"/>
                    <a:pt x="60" y="217"/>
                    <a:pt x="58" y="217"/>
                  </a:cubicBezTo>
                  <a:cubicBezTo>
                    <a:pt x="56" y="217"/>
                    <a:pt x="54" y="218"/>
                    <a:pt x="53" y="219"/>
                  </a:cubicBezTo>
                  <a:cubicBezTo>
                    <a:pt x="53" y="220"/>
                    <a:pt x="45" y="224"/>
                    <a:pt x="35" y="228"/>
                  </a:cubicBezTo>
                  <a:cubicBezTo>
                    <a:pt x="22" y="233"/>
                    <a:pt x="16" y="234"/>
                    <a:pt x="12" y="232"/>
                  </a:cubicBezTo>
                  <a:close/>
                  <a:moveTo>
                    <a:pt x="30" y="198"/>
                  </a:moveTo>
                  <a:cubicBezTo>
                    <a:pt x="30" y="194"/>
                    <a:pt x="28" y="193"/>
                    <a:pt x="24" y="193"/>
                  </a:cubicBezTo>
                  <a:cubicBezTo>
                    <a:pt x="20" y="193"/>
                    <a:pt x="19" y="194"/>
                    <a:pt x="19" y="198"/>
                  </a:cubicBezTo>
                  <a:cubicBezTo>
                    <a:pt x="19" y="203"/>
                    <a:pt x="20" y="204"/>
                    <a:pt x="24" y="204"/>
                  </a:cubicBezTo>
                  <a:cubicBezTo>
                    <a:pt x="28" y="204"/>
                    <a:pt x="30" y="203"/>
                    <a:pt x="30" y="198"/>
                  </a:cubicBezTo>
                  <a:close/>
                  <a:moveTo>
                    <a:pt x="142" y="99"/>
                  </a:moveTo>
                  <a:cubicBezTo>
                    <a:pt x="142" y="95"/>
                    <a:pt x="141" y="93"/>
                    <a:pt x="137" y="93"/>
                  </a:cubicBezTo>
                  <a:cubicBezTo>
                    <a:pt x="132" y="93"/>
                    <a:pt x="131" y="95"/>
                    <a:pt x="131" y="99"/>
                  </a:cubicBezTo>
                  <a:cubicBezTo>
                    <a:pt x="131" y="103"/>
                    <a:pt x="132" y="105"/>
                    <a:pt x="137" y="105"/>
                  </a:cubicBezTo>
                  <a:cubicBezTo>
                    <a:pt x="141" y="105"/>
                    <a:pt x="142" y="103"/>
                    <a:pt x="142" y="99"/>
                  </a:cubicBezTo>
                  <a:close/>
                </a:path>
              </a:pathLst>
            </a:custGeom>
            <a:solidFill>
              <a:srgbClr val="A00000"/>
            </a:solidFill>
            <a:ln w="3175" cap="flat">
              <a:solidFill>
                <a:srgbClr val="A1BDA8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 sz="2000"/>
            </a:p>
          </p:txBody>
        </p:sp>
        <p:sp>
          <p:nvSpPr>
            <p:cNvPr id="101" name="Freeform 26"/>
            <p:cNvSpPr>
              <a:spLocks noEditPoints="1"/>
            </p:cNvSpPr>
            <p:nvPr/>
          </p:nvSpPr>
          <p:spPr bwMode="auto">
            <a:xfrm>
              <a:off x="4908550" y="4230688"/>
              <a:ext cx="100013" cy="87313"/>
            </a:xfrm>
            <a:custGeom>
              <a:avLst/>
              <a:gdLst>
                <a:gd name="T0" fmla="*/ 12 w 268"/>
                <a:gd name="T1" fmla="*/ 232 h 234"/>
                <a:gd name="T2" fmla="*/ 4 w 268"/>
                <a:gd name="T3" fmla="*/ 220 h 234"/>
                <a:gd name="T4" fmla="*/ 23 w 268"/>
                <a:gd name="T5" fmla="*/ 120 h 234"/>
                <a:gd name="T6" fmla="*/ 118 w 268"/>
                <a:gd name="T7" fmla="*/ 20 h 234"/>
                <a:gd name="T8" fmla="*/ 153 w 268"/>
                <a:gd name="T9" fmla="*/ 12 h 234"/>
                <a:gd name="T10" fmla="*/ 160 w 268"/>
                <a:gd name="T11" fmla="*/ 18 h 234"/>
                <a:gd name="T12" fmla="*/ 167 w 268"/>
                <a:gd name="T13" fmla="*/ 25 h 234"/>
                <a:gd name="T14" fmla="*/ 173 w 268"/>
                <a:gd name="T15" fmla="*/ 32 h 234"/>
                <a:gd name="T16" fmla="*/ 180 w 268"/>
                <a:gd name="T17" fmla="*/ 37 h 234"/>
                <a:gd name="T18" fmla="*/ 192 w 268"/>
                <a:gd name="T19" fmla="*/ 43 h 234"/>
                <a:gd name="T20" fmla="*/ 204 w 268"/>
                <a:gd name="T21" fmla="*/ 49 h 234"/>
                <a:gd name="T22" fmla="*/ 211 w 268"/>
                <a:gd name="T23" fmla="*/ 56 h 234"/>
                <a:gd name="T24" fmla="*/ 217 w 268"/>
                <a:gd name="T25" fmla="*/ 63 h 234"/>
                <a:gd name="T26" fmla="*/ 223 w 268"/>
                <a:gd name="T27" fmla="*/ 69 h 234"/>
                <a:gd name="T28" fmla="*/ 228 w 268"/>
                <a:gd name="T29" fmla="*/ 75 h 234"/>
                <a:gd name="T30" fmla="*/ 242 w 268"/>
                <a:gd name="T31" fmla="*/ 80 h 234"/>
                <a:gd name="T32" fmla="*/ 255 w 268"/>
                <a:gd name="T33" fmla="*/ 87 h 234"/>
                <a:gd name="T34" fmla="*/ 262 w 268"/>
                <a:gd name="T35" fmla="*/ 94 h 234"/>
                <a:gd name="T36" fmla="*/ 244 w 268"/>
                <a:gd name="T37" fmla="*/ 105 h 234"/>
                <a:gd name="T38" fmla="*/ 68 w 268"/>
                <a:gd name="T39" fmla="*/ 211 h 234"/>
                <a:gd name="T40" fmla="*/ 58 w 268"/>
                <a:gd name="T41" fmla="*/ 217 h 234"/>
                <a:gd name="T42" fmla="*/ 53 w 268"/>
                <a:gd name="T43" fmla="*/ 219 h 234"/>
                <a:gd name="T44" fmla="*/ 35 w 268"/>
                <a:gd name="T45" fmla="*/ 228 h 234"/>
                <a:gd name="T46" fmla="*/ 12 w 268"/>
                <a:gd name="T47" fmla="*/ 232 h 234"/>
                <a:gd name="T48" fmla="*/ 30 w 268"/>
                <a:gd name="T49" fmla="*/ 198 h 234"/>
                <a:gd name="T50" fmla="*/ 24 w 268"/>
                <a:gd name="T51" fmla="*/ 193 h 234"/>
                <a:gd name="T52" fmla="*/ 19 w 268"/>
                <a:gd name="T53" fmla="*/ 198 h 234"/>
                <a:gd name="T54" fmla="*/ 24 w 268"/>
                <a:gd name="T55" fmla="*/ 204 h 234"/>
                <a:gd name="T56" fmla="*/ 30 w 268"/>
                <a:gd name="T57" fmla="*/ 198 h 234"/>
                <a:gd name="T58" fmla="*/ 142 w 268"/>
                <a:gd name="T59" fmla="*/ 99 h 234"/>
                <a:gd name="T60" fmla="*/ 137 w 268"/>
                <a:gd name="T61" fmla="*/ 93 h 234"/>
                <a:gd name="T62" fmla="*/ 131 w 268"/>
                <a:gd name="T63" fmla="*/ 99 h 234"/>
                <a:gd name="T64" fmla="*/ 137 w 268"/>
                <a:gd name="T65" fmla="*/ 105 h 234"/>
                <a:gd name="T66" fmla="*/ 142 w 268"/>
                <a:gd name="T67" fmla="*/ 99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68" h="234">
                  <a:moveTo>
                    <a:pt x="12" y="232"/>
                  </a:moveTo>
                  <a:cubicBezTo>
                    <a:pt x="7" y="231"/>
                    <a:pt x="6" y="229"/>
                    <a:pt x="4" y="220"/>
                  </a:cubicBezTo>
                  <a:cubicBezTo>
                    <a:pt x="0" y="185"/>
                    <a:pt x="6" y="153"/>
                    <a:pt x="23" y="120"/>
                  </a:cubicBezTo>
                  <a:cubicBezTo>
                    <a:pt x="45" y="79"/>
                    <a:pt x="70" y="53"/>
                    <a:pt x="118" y="20"/>
                  </a:cubicBezTo>
                  <a:cubicBezTo>
                    <a:pt x="144" y="3"/>
                    <a:pt x="153" y="0"/>
                    <a:pt x="153" y="12"/>
                  </a:cubicBezTo>
                  <a:cubicBezTo>
                    <a:pt x="153" y="18"/>
                    <a:pt x="154" y="18"/>
                    <a:pt x="160" y="18"/>
                  </a:cubicBezTo>
                  <a:cubicBezTo>
                    <a:pt x="166" y="18"/>
                    <a:pt x="167" y="19"/>
                    <a:pt x="167" y="25"/>
                  </a:cubicBezTo>
                  <a:cubicBezTo>
                    <a:pt x="167" y="31"/>
                    <a:pt x="167" y="32"/>
                    <a:pt x="173" y="32"/>
                  </a:cubicBezTo>
                  <a:cubicBezTo>
                    <a:pt x="179" y="32"/>
                    <a:pt x="180" y="32"/>
                    <a:pt x="180" y="37"/>
                  </a:cubicBezTo>
                  <a:cubicBezTo>
                    <a:pt x="180" y="42"/>
                    <a:pt x="180" y="43"/>
                    <a:pt x="192" y="43"/>
                  </a:cubicBezTo>
                  <a:cubicBezTo>
                    <a:pt x="204" y="43"/>
                    <a:pt x="204" y="43"/>
                    <a:pt x="204" y="49"/>
                  </a:cubicBezTo>
                  <a:cubicBezTo>
                    <a:pt x="204" y="55"/>
                    <a:pt x="205" y="56"/>
                    <a:pt x="211" y="56"/>
                  </a:cubicBezTo>
                  <a:cubicBezTo>
                    <a:pt x="217" y="56"/>
                    <a:pt x="217" y="57"/>
                    <a:pt x="217" y="63"/>
                  </a:cubicBezTo>
                  <a:cubicBezTo>
                    <a:pt x="217" y="68"/>
                    <a:pt x="218" y="69"/>
                    <a:pt x="223" y="69"/>
                  </a:cubicBezTo>
                  <a:cubicBezTo>
                    <a:pt x="227" y="69"/>
                    <a:pt x="228" y="70"/>
                    <a:pt x="228" y="75"/>
                  </a:cubicBezTo>
                  <a:cubicBezTo>
                    <a:pt x="228" y="80"/>
                    <a:pt x="229" y="80"/>
                    <a:pt x="242" y="80"/>
                  </a:cubicBezTo>
                  <a:cubicBezTo>
                    <a:pt x="255" y="80"/>
                    <a:pt x="255" y="80"/>
                    <a:pt x="255" y="87"/>
                  </a:cubicBezTo>
                  <a:cubicBezTo>
                    <a:pt x="255" y="93"/>
                    <a:pt x="256" y="93"/>
                    <a:pt x="262" y="94"/>
                  </a:cubicBezTo>
                  <a:cubicBezTo>
                    <a:pt x="268" y="94"/>
                    <a:pt x="264" y="96"/>
                    <a:pt x="244" y="105"/>
                  </a:cubicBezTo>
                  <a:cubicBezTo>
                    <a:pt x="154" y="144"/>
                    <a:pt x="94" y="180"/>
                    <a:pt x="68" y="211"/>
                  </a:cubicBezTo>
                  <a:cubicBezTo>
                    <a:pt x="65" y="214"/>
                    <a:pt x="60" y="217"/>
                    <a:pt x="58" y="217"/>
                  </a:cubicBezTo>
                  <a:cubicBezTo>
                    <a:pt x="56" y="217"/>
                    <a:pt x="54" y="218"/>
                    <a:pt x="53" y="219"/>
                  </a:cubicBezTo>
                  <a:cubicBezTo>
                    <a:pt x="53" y="220"/>
                    <a:pt x="45" y="224"/>
                    <a:pt x="35" y="228"/>
                  </a:cubicBezTo>
                  <a:cubicBezTo>
                    <a:pt x="22" y="233"/>
                    <a:pt x="16" y="234"/>
                    <a:pt x="12" y="232"/>
                  </a:cubicBezTo>
                  <a:close/>
                  <a:moveTo>
                    <a:pt x="30" y="198"/>
                  </a:moveTo>
                  <a:cubicBezTo>
                    <a:pt x="30" y="194"/>
                    <a:pt x="28" y="193"/>
                    <a:pt x="24" y="193"/>
                  </a:cubicBezTo>
                  <a:cubicBezTo>
                    <a:pt x="20" y="193"/>
                    <a:pt x="19" y="194"/>
                    <a:pt x="19" y="198"/>
                  </a:cubicBezTo>
                  <a:cubicBezTo>
                    <a:pt x="19" y="203"/>
                    <a:pt x="20" y="204"/>
                    <a:pt x="24" y="204"/>
                  </a:cubicBezTo>
                  <a:cubicBezTo>
                    <a:pt x="28" y="204"/>
                    <a:pt x="30" y="203"/>
                    <a:pt x="30" y="198"/>
                  </a:cubicBezTo>
                  <a:close/>
                  <a:moveTo>
                    <a:pt x="142" y="99"/>
                  </a:moveTo>
                  <a:cubicBezTo>
                    <a:pt x="142" y="95"/>
                    <a:pt x="141" y="93"/>
                    <a:pt x="137" y="93"/>
                  </a:cubicBezTo>
                  <a:cubicBezTo>
                    <a:pt x="132" y="93"/>
                    <a:pt x="131" y="95"/>
                    <a:pt x="131" y="99"/>
                  </a:cubicBezTo>
                  <a:cubicBezTo>
                    <a:pt x="131" y="103"/>
                    <a:pt x="132" y="105"/>
                    <a:pt x="137" y="105"/>
                  </a:cubicBezTo>
                  <a:cubicBezTo>
                    <a:pt x="141" y="105"/>
                    <a:pt x="142" y="103"/>
                    <a:pt x="142" y="99"/>
                  </a:cubicBezTo>
                  <a:close/>
                </a:path>
              </a:pathLst>
            </a:custGeom>
            <a:solidFill>
              <a:srgbClr val="A00000"/>
            </a:solidFill>
            <a:ln w="3175" cap="flat">
              <a:solidFill>
                <a:srgbClr val="A1BDA8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 sz="2000"/>
            </a:p>
          </p:txBody>
        </p:sp>
        <p:sp>
          <p:nvSpPr>
            <p:cNvPr id="102" name="Freeform 27"/>
            <p:cNvSpPr>
              <a:spLocks noEditPoints="1"/>
            </p:cNvSpPr>
            <p:nvPr/>
          </p:nvSpPr>
          <p:spPr bwMode="auto">
            <a:xfrm>
              <a:off x="4999038" y="4252913"/>
              <a:ext cx="177800" cy="61913"/>
            </a:xfrm>
            <a:custGeom>
              <a:avLst/>
              <a:gdLst>
                <a:gd name="T0" fmla="*/ 445 w 472"/>
                <a:gd name="T1" fmla="*/ 156 h 166"/>
                <a:gd name="T2" fmla="*/ 274 w 472"/>
                <a:gd name="T3" fmla="*/ 120 h 166"/>
                <a:gd name="T4" fmla="*/ 28 w 472"/>
                <a:gd name="T5" fmla="*/ 120 h 166"/>
                <a:gd name="T6" fmla="*/ 0 w 472"/>
                <a:gd name="T7" fmla="*/ 123 h 166"/>
                <a:gd name="T8" fmla="*/ 0 w 472"/>
                <a:gd name="T9" fmla="*/ 118 h 166"/>
                <a:gd name="T10" fmla="*/ 0 w 472"/>
                <a:gd name="T11" fmla="*/ 113 h 166"/>
                <a:gd name="T12" fmla="*/ 37 w 472"/>
                <a:gd name="T13" fmla="*/ 113 h 166"/>
                <a:gd name="T14" fmla="*/ 75 w 472"/>
                <a:gd name="T15" fmla="*/ 113 h 166"/>
                <a:gd name="T16" fmla="*/ 75 w 472"/>
                <a:gd name="T17" fmla="*/ 106 h 166"/>
                <a:gd name="T18" fmla="*/ 87 w 472"/>
                <a:gd name="T19" fmla="*/ 99 h 166"/>
                <a:gd name="T20" fmla="*/ 99 w 472"/>
                <a:gd name="T21" fmla="*/ 94 h 166"/>
                <a:gd name="T22" fmla="*/ 105 w 472"/>
                <a:gd name="T23" fmla="*/ 88 h 166"/>
                <a:gd name="T24" fmla="*/ 110 w 472"/>
                <a:gd name="T25" fmla="*/ 82 h 166"/>
                <a:gd name="T26" fmla="*/ 117 w 472"/>
                <a:gd name="T27" fmla="*/ 75 h 166"/>
                <a:gd name="T28" fmla="*/ 124 w 472"/>
                <a:gd name="T29" fmla="*/ 68 h 166"/>
                <a:gd name="T30" fmla="*/ 136 w 472"/>
                <a:gd name="T31" fmla="*/ 62 h 166"/>
                <a:gd name="T32" fmla="*/ 148 w 472"/>
                <a:gd name="T33" fmla="*/ 62 h 166"/>
                <a:gd name="T34" fmla="*/ 148 w 472"/>
                <a:gd name="T35" fmla="*/ 31 h 166"/>
                <a:gd name="T36" fmla="*/ 148 w 472"/>
                <a:gd name="T37" fmla="*/ 0 h 166"/>
                <a:gd name="T38" fmla="*/ 155 w 472"/>
                <a:gd name="T39" fmla="*/ 0 h 166"/>
                <a:gd name="T40" fmla="*/ 161 w 472"/>
                <a:gd name="T41" fmla="*/ 5 h 166"/>
                <a:gd name="T42" fmla="*/ 169 w 472"/>
                <a:gd name="T43" fmla="*/ 12 h 166"/>
                <a:gd name="T44" fmla="*/ 188 w 472"/>
                <a:gd name="T45" fmla="*/ 13 h 166"/>
                <a:gd name="T46" fmla="*/ 199 w 472"/>
                <a:gd name="T47" fmla="*/ 19 h 166"/>
                <a:gd name="T48" fmla="*/ 213 w 472"/>
                <a:gd name="T49" fmla="*/ 24 h 166"/>
                <a:gd name="T50" fmla="*/ 247 w 472"/>
                <a:gd name="T51" fmla="*/ 35 h 166"/>
                <a:gd name="T52" fmla="*/ 254 w 472"/>
                <a:gd name="T53" fmla="*/ 37 h 166"/>
                <a:gd name="T54" fmla="*/ 274 w 472"/>
                <a:gd name="T55" fmla="*/ 46 h 166"/>
                <a:gd name="T56" fmla="*/ 278 w 472"/>
                <a:gd name="T57" fmla="*/ 49 h 166"/>
                <a:gd name="T58" fmla="*/ 298 w 472"/>
                <a:gd name="T59" fmla="*/ 58 h 166"/>
                <a:gd name="T60" fmla="*/ 307 w 472"/>
                <a:gd name="T61" fmla="*/ 62 h 166"/>
                <a:gd name="T62" fmla="*/ 325 w 472"/>
                <a:gd name="T63" fmla="*/ 72 h 166"/>
                <a:gd name="T64" fmla="*/ 332 w 472"/>
                <a:gd name="T65" fmla="*/ 75 h 166"/>
                <a:gd name="T66" fmla="*/ 450 w 472"/>
                <a:gd name="T67" fmla="*/ 148 h 166"/>
                <a:gd name="T68" fmla="*/ 445 w 472"/>
                <a:gd name="T69" fmla="*/ 156 h 166"/>
                <a:gd name="T70" fmla="*/ 347 w 472"/>
                <a:gd name="T71" fmla="*/ 106 h 166"/>
                <a:gd name="T72" fmla="*/ 336 w 472"/>
                <a:gd name="T73" fmla="*/ 99 h 166"/>
                <a:gd name="T74" fmla="*/ 325 w 472"/>
                <a:gd name="T75" fmla="*/ 106 h 166"/>
                <a:gd name="T76" fmla="*/ 336 w 472"/>
                <a:gd name="T77" fmla="*/ 113 h 166"/>
                <a:gd name="T78" fmla="*/ 347 w 472"/>
                <a:gd name="T79" fmla="*/ 106 h 166"/>
                <a:gd name="T80" fmla="*/ 360 w 472"/>
                <a:gd name="T81" fmla="*/ 106 h 166"/>
                <a:gd name="T82" fmla="*/ 355 w 472"/>
                <a:gd name="T83" fmla="*/ 99 h 166"/>
                <a:gd name="T84" fmla="*/ 349 w 472"/>
                <a:gd name="T85" fmla="*/ 106 h 166"/>
                <a:gd name="T86" fmla="*/ 355 w 472"/>
                <a:gd name="T87" fmla="*/ 113 h 166"/>
                <a:gd name="T88" fmla="*/ 360 w 472"/>
                <a:gd name="T89" fmla="*/ 106 h 166"/>
                <a:gd name="T90" fmla="*/ 174 w 472"/>
                <a:gd name="T91" fmla="*/ 94 h 166"/>
                <a:gd name="T92" fmla="*/ 168 w 472"/>
                <a:gd name="T93" fmla="*/ 88 h 166"/>
                <a:gd name="T94" fmla="*/ 161 w 472"/>
                <a:gd name="T95" fmla="*/ 94 h 166"/>
                <a:gd name="T96" fmla="*/ 168 w 472"/>
                <a:gd name="T97" fmla="*/ 99 h 166"/>
                <a:gd name="T98" fmla="*/ 174 w 472"/>
                <a:gd name="T99" fmla="*/ 94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72" h="166">
                  <a:moveTo>
                    <a:pt x="445" y="156"/>
                  </a:moveTo>
                  <a:cubicBezTo>
                    <a:pt x="402" y="140"/>
                    <a:pt x="349" y="129"/>
                    <a:pt x="274" y="120"/>
                  </a:cubicBezTo>
                  <a:cubicBezTo>
                    <a:pt x="232" y="115"/>
                    <a:pt x="72" y="115"/>
                    <a:pt x="28" y="120"/>
                  </a:cubicBezTo>
                  <a:lnTo>
                    <a:pt x="0" y="123"/>
                  </a:lnTo>
                  <a:lnTo>
                    <a:pt x="0" y="118"/>
                  </a:lnTo>
                  <a:lnTo>
                    <a:pt x="0" y="113"/>
                  </a:lnTo>
                  <a:lnTo>
                    <a:pt x="37" y="113"/>
                  </a:lnTo>
                  <a:lnTo>
                    <a:pt x="75" y="113"/>
                  </a:lnTo>
                  <a:lnTo>
                    <a:pt x="75" y="106"/>
                  </a:lnTo>
                  <a:cubicBezTo>
                    <a:pt x="75" y="99"/>
                    <a:pt x="75" y="99"/>
                    <a:pt x="87" y="99"/>
                  </a:cubicBezTo>
                  <a:cubicBezTo>
                    <a:pt x="99" y="99"/>
                    <a:pt x="99" y="99"/>
                    <a:pt x="99" y="94"/>
                  </a:cubicBezTo>
                  <a:cubicBezTo>
                    <a:pt x="99" y="89"/>
                    <a:pt x="100" y="88"/>
                    <a:pt x="105" y="88"/>
                  </a:cubicBezTo>
                  <a:cubicBezTo>
                    <a:pt x="110" y="88"/>
                    <a:pt x="110" y="87"/>
                    <a:pt x="110" y="82"/>
                  </a:cubicBezTo>
                  <a:cubicBezTo>
                    <a:pt x="110" y="76"/>
                    <a:pt x="111" y="75"/>
                    <a:pt x="117" y="75"/>
                  </a:cubicBezTo>
                  <a:cubicBezTo>
                    <a:pt x="123" y="75"/>
                    <a:pt x="124" y="74"/>
                    <a:pt x="124" y="68"/>
                  </a:cubicBezTo>
                  <a:cubicBezTo>
                    <a:pt x="124" y="62"/>
                    <a:pt x="124" y="62"/>
                    <a:pt x="136" y="62"/>
                  </a:cubicBezTo>
                  <a:lnTo>
                    <a:pt x="148" y="62"/>
                  </a:lnTo>
                  <a:lnTo>
                    <a:pt x="148" y="31"/>
                  </a:lnTo>
                  <a:lnTo>
                    <a:pt x="148" y="0"/>
                  </a:lnTo>
                  <a:lnTo>
                    <a:pt x="155" y="0"/>
                  </a:lnTo>
                  <a:cubicBezTo>
                    <a:pt x="160" y="0"/>
                    <a:pt x="161" y="1"/>
                    <a:pt x="161" y="5"/>
                  </a:cubicBezTo>
                  <a:cubicBezTo>
                    <a:pt x="161" y="9"/>
                    <a:pt x="163" y="11"/>
                    <a:pt x="169" y="12"/>
                  </a:cubicBezTo>
                  <a:cubicBezTo>
                    <a:pt x="174" y="13"/>
                    <a:pt x="183" y="13"/>
                    <a:pt x="188" y="13"/>
                  </a:cubicBezTo>
                  <a:cubicBezTo>
                    <a:pt x="198" y="13"/>
                    <a:pt x="199" y="14"/>
                    <a:pt x="199" y="19"/>
                  </a:cubicBezTo>
                  <a:cubicBezTo>
                    <a:pt x="199" y="24"/>
                    <a:pt x="199" y="24"/>
                    <a:pt x="213" y="24"/>
                  </a:cubicBezTo>
                  <a:cubicBezTo>
                    <a:pt x="228" y="24"/>
                    <a:pt x="247" y="30"/>
                    <a:pt x="247" y="35"/>
                  </a:cubicBezTo>
                  <a:cubicBezTo>
                    <a:pt x="247" y="36"/>
                    <a:pt x="250" y="37"/>
                    <a:pt x="254" y="37"/>
                  </a:cubicBezTo>
                  <a:cubicBezTo>
                    <a:pt x="262" y="37"/>
                    <a:pt x="274" y="43"/>
                    <a:pt x="274" y="46"/>
                  </a:cubicBezTo>
                  <a:cubicBezTo>
                    <a:pt x="274" y="48"/>
                    <a:pt x="276" y="49"/>
                    <a:pt x="278" y="49"/>
                  </a:cubicBezTo>
                  <a:cubicBezTo>
                    <a:pt x="286" y="49"/>
                    <a:pt x="298" y="55"/>
                    <a:pt x="298" y="58"/>
                  </a:cubicBezTo>
                  <a:cubicBezTo>
                    <a:pt x="298" y="61"/>
                    <a:pt x="300" y="62"/>
                    <a:pt x="307" y="62"/>
                  </a:cubicBezTo>
                  <a:cubicBezTo>
                    <a:pt x="316" y="62"/>
                    <a:pt x="325" y="67"/>
                    <a:pt x="325" y="72"/>
                  </a:cubicBezTo>
                  <a:cubicBezTo>
                    <a:pt x="325" y="74"/>
                    <a:pt x="327" y="75"/>
                    <a:pt x="332" y="75"/>
                  </a:cubicBezTo>
                  <a:cubicBezTo>
                    <a:pt x="344" y="75"/>
                    <a:pt x="411" y="117"/>
                    <a:pt x="450" y="148"/>
                  </a:cubicBezTo>
                  <a:cubicBezTo>
                    <a:pt x="472" y="166"/>
                    <a:pt x="472" y="166"/>
                    <a:pt x="445" y="156"/>
                  </a:cubicBezTo>
                  <a:close/>
                  <a:moveTo>
                    <a:pt x="347" y="106"/>
                  </a:moveTo>
                  <a:cubicBezTo>
                    <a:pt x="347" y="100"/>
                    <a:pt x="347" y="99"/>
                    <a:pt x="336" y="99"/>
                  </a:cubicBezTo>
                  <a:cubicBezTo>
                    <a:pt x="325" y="99"/>
                    <a:pt x="325" y="100"/>
                    <a:pt x="325" y="106"/>
                  </a:cubicBezTo>
                  <a:cubicBezTo>
                    <a:pt x="325" y="112"/>
                    <a:pt x="325" y="113"/>
                    <a:pt x="336" y="113"/>
                  </a:cubicBezTo>
                  <a:cubicBezTo>
                    <a:pt x="347" y="113"/>
                    <a:pt x="347" y="112"/>
                    <a:pt x="347" y="106"/>
                  </a:cubicBezTo>
                  <a:close/>
                  <a:moveTo>
                    <a:pt x="360" y="106"/>
                  </a:moveTo>
                  <a:cubicBezTo>
                    <a:pt x="360" y="100"/>
                    <a:pt x="359" y="99"/>
                    <a:pt x="355" y="99"/>
                  </a:cubicBezTo>
                  <a:cubicBezTo>
                    <a:pt x="350" y="99"/>
                    <a:pt x="349" y="100"/>
                    <a:pt x="349" y="106"/>
                  </a:cubicBezTo>
                  <a:cubicBezTo>
                    <a:pt x="349" y="112"/>
                    <a:pt x="350" y="113"/>
                    <a:pt x="355" y="113"/>
                  </a:cubicBezTo>
                  <a:cubicBezTo>
                    <a:pt x="359" y="113"/>
                    <a:pt x="360" y="112"/>
                    <a:pt x="360" y="106"/>
                  </a:cubicBezTo>
                  <a:close/>
                  <a:moveTo>
                    <a:pt x="174" y="94"/>
                  </a:moveTo>
                  <a:cubicBezTo>
                    <a:pt x="174" y="89"/>
                    <a:pt x="173" y="88"/>
                    <a:pt x="168" y="88"/>
                  </a:cubicBezTo>
                  <a:cubicBezTo>
                    <a:pt x="162" y="88"/>
                    <a:pt x="161" y="89"/>
                    <a:pt x="161" y="94"/>
                  </a:cubicBezTo>
                  <a:cubicBezTo>
                    <a:pt x="161" y="98"/>
                    <a:pt x="162" y="99"/>
                    <a:pt x="168" y="99"/>
                  </a:cubicBezTo>
                  <a:cubicBezTo>
                    <a:pt x="173" y="99"/>
                    <a:pt x="174" y="98"/>
                    <a:pt x="174" y="94"/>
                  </a:cubicBezTo>
                  <a:close/>
                </a:path>
              </a:pathLst>
            </a:custGeom>
            <a:solidFill>
              <a:srgbClr val="A1BDA8"/>
            </a:solidFill>
            <a:ln w="3175" cap="flat">
              <a:solidFill>
                <a:srgbClr val="A1BDA8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 sz="2000"/>
            </a:p>
          </p:txBody>
        </p:sp>
        <p:sp>
          <p:nvSpPr>
            <p:cNvPr id="103" name="Freeform 28"/>
            <p:cNvSpPr>
              <a:spLocks noEditPoints="1"/>
            </p:cNvSpPr>
            <p:nvPr/>
          </p:nvSpPr>
          <p:spPr bwMode="auto">
            <a:xfrm>
              <a:off x="4999038" y="4252913"/>
              <a:ext cx="177800" cy="61913"/>
            </a:xfrm>
            <a:custGeom>
              <a:avLst/>
              <a:gdLst>
                <a:gd name="T0" fmla="*/ 445 w 472"/>
                <a:gd name="T1" fmla="*/ 156 h 166"/>
                <a:gd name="T2" fmla="*/ 274 w 472"/>
                <a:gd name="T3" fmla="*/ 120 h 166"/>
                <a:gd name="T4" fmla="*/ 28 w 472"/>
                <a:gd name="T5" fmla="*/ 120 h 166"/>
                <a:gd name="T6" fmla="*/ 0 w 472"/>
                <a:gd name="T7" fmla="*/ 123 h 166"/>
                <a:gd name="T8" fmla="*/ 0 w 472"/>
                <a:gd name="T9" fmla="*/ 118 h 166"/>
                <a:gd name="T10" fmla="*/ 0 w 472"/>
                <a:gd name="T11" fmla="*/ 113 h 166"/>
                <a:gd name="T12" fmla="*/ 37 w 472"/>
                <a:gd name="T13" fmla="*/ 113 h 166"/>
                <a:gd name="T14" fmla="*/ 75 w 472"/>
                <a:gd name="T15" fmla="*/ 113 h 166"/>
                <a:gd name="T16" fmla="*/ 75 w 472"/>
                <a:gd name="T17" fmla="*/ 106 h 166"/>
                <a:gd name="T18" fmla="*/ 87 w 472"/>
                <a:gd name="T19" fmla="*/ 99 h 166"/>
                <a:gd name="T20" fmla="*/ 99 w 472"/>
                <a:gd name="T21" fmla="*/ 94 h 166"/>
                <a:gd name="T22" fmla="*/ 105 w 472"/>
                <a:gd name="T23" fmla="*/ 88 h 166"/>
                <a:gd name="T24" fmla="*/ 110 w 472"/>
                <a:gd name="T25" fmla="*/ 82 h 166"/>
                <a:gd name="T26" fmla="*/ 117 w 472"/>
                <a:gd name="T27" fmla="*/ 75 h 166"/>
                <a:gd name="T28" fmla="*/ 124 w 472"/>
                <a:gd name="T29" fmla="*/ 68 h 166"/>
                <a:gd name="T30" fmla="*/ 136 w 472"/>
                <a:gd name="T31" fmla="*/ 62 h 166"/>
                <a:gd name="T32" fmla="*/ 148 w 472"/>
                <a:gd name="T33" fmla="*/ 62 h 166"/>
                <a:gd name="T34" fmla="*/ 148 w 472"/>
                <a:gd name="T35" fmla="*/ 31 h 166"/>
                <a:gd name="T36" fmla="*/ 148 w 472"/>
                <a:gd name="T37" fmla="*/ 0 h 166"/>
                <a:gd name="T38" fmla="*/ 155 w 472"/>
                <a:gd name="T39" fmla="*/ 0 h 166"/>
                <a:gd name="T40" fmla="*/ 161 w 472"/>
                <a:gd name="T41" fmla="*/ 5 h 166"/>
                <a:gd name="T42" fmla="*/ 169 w 472"/>
                <a:gd name="T43" fmla="*/ 12 h 166"/>
                <a:gd name="T44" fmla="*/ 188 w 472"/>
                <a:gd name="T45" fmla="*/ 13 h 166"/>
                <a:gd name="T46" fmla="*/ 199 w 472"/>
                <a:gd name="T47" fmla="*/ 19 h 166"/>
                <a:gd name="T48" fmla="*/ 213 w 472"/>
                <a:gd name="T49" fmla="*/ 24 h 166"/>
                <a:gd name="T50" fmla="*/ 247 w 472"/>
                <a:gd name="T51" fmla="*/ 35 h 166"/>
                <a:gd name="T52" fmla="*/ 254 w 472"/>
                <a:gd name="T53" fmla="*/ 37 h 166"/>
                <a:gd name="T54" fmla="*/ 274 w 472"/>
                <a:gd name="T55" fmla="*/ 46 h 166"/>
                <a:gd name="T56" fmla="*/ 278 w 472"/>
                <a:gd name="T57" fmla="*/ 49 h 166"/>
                <a:gd name="T58" fmla="*/ 298 w 472"/>
                <a:gd name="T59" fmla="*/ 58 h 166"/>
                <a:gd name="T60" fmla="*/ 307 w 472"/>
                <a:gd name="T61" fmla="*/ 62 h 166"/>
                <a:gd name="T62" fmla="*/ 325 w 472"/>
                <a:gd name="T63" fmla="*/ 72 h 166"/>
                <a:gd name="T64" fmla="*/ 332 w 472"/>
                <a:gd name="T65" fmla="*/ 75 h 166"/>
                <a:gd name="T66" fmla="*/ 450 w 472"/>
                <a:gd name="T67" fmla="*/ 148 h 166"/>
                <a:gd name="T68" fmla="*/ 445 w 472"/>
                <a:gd name="T69" fmla="*/ 156 h 166"/>
                <a:gd name="T70" fmla="*/ 347 w 472"/>
                <a:gd name="T71" fmla="*/ 106 h 166"/>
                <a:gd name="T72" fmla="*/ 336 w 472"/>
                <a:gd name="T73" fmla="*/ 99 h 166"/>
                <a:gd name="T74" fmla="*/ 325 w 472"/>
                <a:gd name="T75" fmla="*/ 106 h 166"/>
                <a:gd name="T76" fmla="*/ 336 w 472"/>
                <a:gd name="T77" fmla="*/ 113 h 166"/>
                <a:gd name="T78" fmla="*/ 347 w 472"/>
                <a:gd name="T79" fmla="*/ 106 h 166"/>
                <a:gd name="T80" fmla="*/ 360 w 472"/>
                <a:gd name="T81" fmla="*/ 106 h 166"/>
                <a:gd name="T82" fmla="*/ 355 w 472"/>
                <a:gd name="T83" fmla="*/ 99 h 166"/>
                <a:gd name="T84" fmla="*/ 349 w 472"/>
                <a:gd name="T85" fmla="*/ 106 h 166"/>
                <a:gd name="T86" fmla="*/ 355 w 472"/>
                <a:gd name="T87" fmla="*/ 113 h 166"/>
                <a:gd name="T88" fmla="*/ 360 w 472"/>
                <a:gd name="T89" fmla="*/ 106 h 166"/>
                <a:gd name="T90" fmla="*/ 174 w 472"/>
                <a:gd name="T91" fmla="*/ 94 h 166"/>
                <a:gd name="T92" fmla="*/ 168 w 472"/>
                <a:gd name="T93" fmla="*/ 88 h 166"/>
                <a:gd name="T94" fmla="*/ 161 w 472"/>
                <a:gd name="T95" fmla="*/ 94 h 166"/>
                <a:gd name="T96" fmla="*/ 168 w 472"/>
                <a:gd name="T97" fmla="*/ 99 h 166"/>
                <a:gd name="T98" fmla="*/ 174 w 472"/>
                <a:gd name="T99" fmla="*/ 94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72" h="166">
                  <a:moveTo>
                    <a:pt x="445" y="156"/>
                  </a:moveTo>
                  <a:cubicBezTo>
                    <a:pt x="402" y="140"/>
                    <a:pt x="349" y="129"/>
                    <a:pt x="274" y="120"/>
                  </a:cubicBezTo>
                  <a:cubicBezTo>
                    <a:pt x="232" y="115"/>
                    <a:pt x="72" y="115"/>
                    <a:pt x="28" y="120"/>
                  </a:cubicBezTo>
                  <a:lnTo>
                    <a:pt x="0" y="123"/>
                  </a:lnTo>
                  <a:lnTo>
                    <a:pt x="0" y="118"/>
                  </a:lnTo>
                  <a:lnTo>
                    <a:pt x="0" y="113"/>
                  </a:lnTo>
                  <a:lnTo>
                    <a:pt x="37" y="113"/>
                  </a:lnTo>
                  <a:lnTo>
                    <a:pt x="75" y="113"/>
                  </a:lnTo>
                  <a:lnTo>
                    <a:pt x="75" y="106"/>
                  </a:lnTo>
                  <a:cubicBezTo>
                    <a:pt x="75" y="99"/>
                    <a:pt x="75" y="99"/>
                    <a:pt x="87" y="99"/>
                  </a:cubicBezTo>
                  <a:cubicBezTo>
                    <a:pt x="99" y="99"/>
                    <a:pt x="99" y="99"/>
                    <a:pt x="99" y="94"/>
                  </a:cubicBezTo>
                  <a:cubicBezTo>
                    <a:pt x="99" y="89"/>
                    <a:pt x="100" y="88"/>
                    <a:pt x="105" y="88"/>
                  </a:cubicBezTo>
                  <a:cubicBezTo>
                    <a:pt x="110" y="88"/>
                    <a:pt x="110" y="87"/>
                    <a:pt x="110" y="82"/>
                  </a:cubicBezTo>
                  <a:cubicBezTo>
                    <a:pt x="110" y="76"/>
                    <a:pt x="111" y="75"/>
                    <a:pt x="117" y="75"/>
                  </a:cubicBezTo>
                  <a:cubicBezTo>
                    <a:pt x="123" y="75"/>
                    <a:pt x="124" y="74"/>
                    <a:pt x="124" y="68"/>
                  </a:cubicBezTo>
                  <a:cubicBezTo>
                    <a:pt x="124" y="62"/>
                    <a:pt x="124" y="62"/>
                    <a:pt x="136" y="62"/>
                  </a:cubicBezTo>
                  <a:lnTo>
                    <a:pt x="148" y="62"/>
                  </a:lnTo>
                  <a:lnTo>
                    <a:pt x="148" y="31"/>
                  </a:lnTo>
                  <a:lnTo>
                    <a:pt x="148" y="0"/>
                  </a:lnTo>
                  <a:lnTo>
                    <a:pt x="155" y="0"/>
                  </a:lnTo>
                  <a:cubicBezTo>
                    <a:pt x="160" y="0"/>
                    <a:pt x="161" y="1"/>
                    <a:pt x="161" y="5"/>
                  </a:cubicBezTo>
                  <a:cubicBezTo>
                    <a:pt x="161" y="9"/>
                    <a:pt x="163" y="11"/>
                    <a:pt x="169" y="12"/>
                  </a:cubicBezTo>
                  <a:cubicBezTo>
                    <a:pt x="174" y="13"/>
                    <a:pt x="183" y="13"/>
                    <a:pt x="188" y="13"/>
                  </a:cubicBezTo>
                  <a:cubicBezTo>
                    <a:pt x="198" y="13"/>
                    <a:pt x="199" y="14"/>
                    <a:pt x="199" y="19"/>
                  </a:cubicBezTo>
                  <a:cubicBezTo>
                    <a:pt x="199" y="24"/>
                    <a:pt x="199" y="24"/>
                    <a:pt x="213" y="24"/>
                  </a:cubicBezTo>
                  <a:cubicBezTo>
                    <a:pt x="228" y="24"/>
                    <a:pt x="247" y="30"/>
                    <a:pt x="247" y="35"/>
                  </a:cubicBezTo>
                  <a:cubicBezTo>
                    <a:pt x="247" y="36"/>
                    <a:pt x="250" y="37"/>
                    <a:pt x="254" y="37"/>
                  </a:cubicBezTo>
                  <a:cubicBezTo>
                    <a:pt x="262" y="37"/>
                    <a:pt x="274" y="43"/>
                    <a:pt x="274" y="46"/>
                  </a:cubicBezTo>
                  <a:cubicBezTo>
                    <a:pt x="274" y="48"/>
                    <a:pt x="276" y="49"/>
                    <a:pt x="278" y="49"/>
                  </a:cubicBezTo>
                  <a:cubicBezTo>
                    <a:pt x="286" y="49"/>
                    <a:pt x="298" y="55"/>
                    <a:pt x="298" y="58"/>
                  </a:cubicBezTo>
                  <a:cubicBezTo>
                    <a:pt x="298" y="61"/>
                    <a:pt x="300" y="62"/>
                    <a:pt x="307" y="62"/>
                  </a:cubicBezTo>
                  <a:cubicBezTo>
                    <a:pt x="316" y="62"/>
                    <a:pt x="325" y="67"/>
                    <a:pt x="325" y="72"/>
                  </a:cubicBezTo>
                  <a:cubicBezTo>
                    <a:pt x="325" y="74"/>
                    <a:pt x="327" y="75"/>
                    <a:pt x="332" y="75"/>
                  </a:cubicBezTo>
                  <a:cubicBezTo>
                    <a:pt x="344" y="75"/>
                    <a:pt x="411" y="117"/>
                    <a:pt x="450" y="148"/>
                  </a:cubicBezTo>
                  <a:cubicBezTo>
                    <a:pt x="472" y="166"/>
                    <a:pt x="472" y="166"/>
                    <a:pt x="445" y="156"/>
                  </a:cubicBezTo>
                  <a:close/>
                  <a:moveTo>
                    <a:pt x="347" y="106"/>
                  </a:moveTo>
                  <a:cubicBezTo>
                    <a:pt x="347" y="100"/>
                    <a:pt x="347" y="99"/>
                    <a:pt x="336" y="99"/>
                  </a:cubicBezTo>
                  <a:cubicBezTo>
                    <a:pt x="325" y="99"/>
                    <a:pt x="325" y="100"/>
                    <a:pt x="325" y="106"/>
                  </a:cubicBezTo>
                  <a:cubicBezTo>
                    <a:pt x="325" y="112"/>
                    <a:pt x="325" y="113"/>
                    <a:pt x="336" y="113"/>
                  </a:cubicBezTo>
                  <a:cubicBezTo>
                    <a:pt x="347" y="113"/>
                    <a:pt x="347" y="112"/>
                    <a:pt x="347" y="106"/>
                  </a:cubicBezTo>
                  <a:close/>
                  <a:moveTo>
                    <a:pt x="360" y="106"/>
                  </a:moveTo>
                  <a:cubicBezTo>
                    <a:pt x="360" y="100"/>
                    <a:pt x="359" y="99"/>
                    <a:pt x="355" y="99"/>
                  </a:cubicBezTo>
                  <a:cubicBezTo>
                    <a:pt x="350" y="99"/>
                    <a:pt x="349" y="100"/>
                    <a:pt x="349" y="106"/>
                  </a:cubicBezTo>
                  <a:cubicBezTo>
                    <a:pt x="349" y="112"/>
                    <a:pt x="350" y="113"/>
                    <a:pt x="355" y="113"/>
                  </a:cubicBezTo>
                  <a:cubicBezTo>
                    <a:pt x="359" y="113"/>
                    <a:pt x="360" y="112"/>
                    <a:pt x="360" y="106"/>
                  </a:cubicBezTo>
                  <a:close/>
                  <a:moveTo>
                    <a:pt x="174" y="94"/>
                  </a:moveTo>
                  <a:cubicBezTo>
                    <a:pt x="174" y="89"/>
                    <a:pt x="173" y="88"/>
                    <a:pt x="168" y="88"/>
                  </a:cubicBezTo>
                  <a:cubicBezTo>
                    <a:pt x="162" y="88"/>
                    <a:pt x="161" y="89"/>
                    <a:pt x="161" y="94"/>
                  </a:cubicBezTo>
                  <a:cubicBezTo>
                    <a:pt x="161" y="98"/>
                    <a:pt x="162" y="99"/>
                    <a:pt x="168" y="99"/>
                  </a:cubicBezTo>
                  <a:cubicBezTo>
                    <a:pt x="173" y="99"/>
                    <a:pt x="174" y="98"/>
                    <a:pt x="174" y="94"/>
                  </a:cubicBezTo>
                  <a:close/>
                </a:path>
              </a:pathLst>
            </a:custGeom>
            <a:solidFill>
              <a:srgbClr val="A1BDA8"/>
            </a:solidFill>
            <a:ln w="3175" cap="flat">
              <a:solidFill>
                <a:srgbClr val="A1BDA8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 sz="2000"/>
            </a:p>
          </p:txBody>
        </p:sp>
        <p:sp>
          <p:nvSpPr>
            <p:cNvPr id="104" name="Freeform 29"/>
            <p:cNvSpPr>
              <a:spLocks noEditPoints="1"/>
            </p:cNvSpPr>
            <p:nvPr/>
          </p:nvSpPr>
          <p:spPr bwMode="auto">
            <a:xfrm>
              <a:off x="4908550" y="4230688"/>
              <a:ext cx="100013" cy="87313"/>
            </a:xfrm>
            <a:custGeom>
              <a:avLst/>
              <a:gdLst>
                <a:gd name="T0" fmla="*/ 12 w 268"/>
                <a:gd name="T1" fmla="*/ 232 h 234"/>
                <a:gd name="T2" fmla="*/ 4 w 268"/>
                <a:gd name="T3" fmla="*/ 220 h 234"/>
                <a:gd name="T4" fmla="*/ 23 w 268"/>
                <a:gd name="T5" fmla="*/ 120 h 234"/>
                <a:gd name="T6" fmla="*/ 118 w 268"/>
                <a:gd name="T7" fmla="*/ 20 h 234"/>
                <a:gd name="T8" fmla="*/ 153 w 268"/>
                <a:gd name="T9" fmla="*/ 12 h 234"/>
                <a:gd name="T10" fmla="*/ 160 w 268"/>
                <a:gd name="T11" fmla="*/ 18 h 234"/>
                <a:gd name="T12" fmla="*/ 167 w 268"/>
                <a:gd name="T13" fmla="*/ 25 h 234"/>
                <a:gd name="T14" fmla="*/ 173 w 268"/>
                <a:gd name="T15" fmla="*/ 32 h 234"/>
                <a:gd name="T16" fmla="*/ 180 w 268"/>
                <a:gd name="T17" fmla="*/ 37 h 234"/>
                <a:gd name="T18" fmla="*/ 192 w 268"/>
                <a:gd name="T19" fmla="*/ 43 h 234"/>
                <a:gd name="T20" fmla="*/ 204 w 268"/>
                <a:gd name="T21" fmla="*/ 49 h 234"/>
                <a:gd name="T22" fmla="*/ 211 w 268"/>
                <a:gd name="T23" fmla="*/ 56 h 234"/>
                <a:gd name="T24" fmla="*/ 217 w 268"/>
                <a:gd name="T25" fmla="*/ 63 h 234"/>
                <a:gd name="T26" fmla="*/ 223 w 268"/>
                <a:gd name="T27" fmla="*/ 69 h 234"/>
                <a:gd name="T28" fmla="*/ 228 w 268"/>
                <a:gd name="T29" fmla="*/ 75 h 234"/>
                <a:gd name="T30" fmla="*/ 242 w 268"/>
                <a:gd name="T31" fmla="*/ 80 h 234"/>
                <a:gd name="T32" fmla="*/ 255 w 268"/>
                <a:gd name="T33" fmla="*/ 87 h 234"/>
                <a:gd name="T34" fmla="*/ 262 w 268"/>
                <a:gd name="T35" fmla="*/ 94 h 234"/>
                <a:gd name="T36" fmla="*/ 244 w 268"/>
                <a:gd name="T37" fmla="*/ 105 h 234"/>
                <a:gd name="T38" fmla="*/ 68 w 268"/>
                <a:gd name="T39" fmla="*/ 211 h 234"/>
                <a:gd name="T40" fmla="*/ 58 w 268"/>
                <a:gd name="T41" fmla="*/ 217 h 234"/>
                <a:gd name="T42" fmla="*/ 53 w 268"/>
                <a:gd name="T43" fmla="*/ 219 h 234"/>
                <a:gd name="T44" fmla="*/ 35 w 268"/>
                <a:gd name="T45" fmla="*/ 228 h 234"/>
                <a:gd name="T46" fmla="*/ 12 w 268"/>
                <a:gd name="T47" fmla="*/ 232 h 234"/>
                <a:gd name="T48" fmla="*/ 30 w 268"/>
                <a:gd name="T49" fmla="*/ 198 h 234"/>
                <a:gd name="T50" fmla="*/ 24 w 268"/>
                <a:gd name="T51" fmla="*/ 193 h 234"/>
                <a:gd name="T52" fmla="*/ 19 w 268"/>
                <a:gd name="T53" fmla="*/ 198 h 234"/>
                <a:gd name="T54" fmla="*/ 24 w 268"/>
                <a:gd name="T55" fmla="*/ 204 h 234"/>
                <a:gd name="T56" fmla="*/ 30 w 268"/>
                <a:gd name="T57" fmla="*/ 198 h 234"/>
                <a:gd name="T58" fmla="*/ 142 w 268"/>
                <a:gd name="T59" fmla="*/ 99 h 234"/>
                <a:gd name="T60" fmla="*/ 137 w 268"/>
                <a:gd name="T61" fmla="*/ 93 h 234"/>
                <a:gd name="T62" fmla="*/ 131 w 268"/>
                <a:gd name="T63" fmla="*/ 99 h 234"/>
                <a:gd name="T64" fmla="*/ 137 w 268"/>
                <a:gd name="T65" fmla="*/ 105 h 234"/>
                <a:gd name="T66" fmla="*/ 142 w 268"/>
                <a:gd name="T67" fmla="*/ 99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68" h="234">
                  <a:moveTo>
                    <a:pt x="12" y="232"/>
                  </a:moveTo>
                  <a:cubicBezTo>
                    <a:pt x="7" y="231"/>
                    <a:pt x="6" y="229"/>
                    <a:pt x="4" y="220"/>
                  </a:cubicBezTo>
                  <a:cubicBezTo>
                    <a:pt x="0" y="185"/>
                    <a:pt x="6" y="153"/>
                    <a:pt x="23" y="120"/>
                  </a:cubicBezTo>
                  <a:cubicBezTo>
                    <a:pt x="45" y="79"/>
                    <a:pt x="70" y="53"/>
                    <a:pt x="118" y="20"/>
                  </a:cubicBezTo>
                  <a:cubicBezTo>
                    <a:pt x="144" y="3"/>
                    <a:pt x="153" y="0"/>
                    <a:pt x="153" y="12"/>
                  </a:cubicBezTo>
                  <a:cubicBezTo>
                    <a:pt x="153" y="18"/>
                    <a:pt x="154" y="18"/>
                    <a:pt x="160" y="18"/>
                  </a:cubicBezTo>
                  <a:cubicBezTo>
                    <a:pt x="166" y="18"/>
                    <a:pt x="167" y="19"/>
                    <a:pt x="167" y="25"/>
                  </a:cubicBezTo>
                  <a:cubicBezTo>
                    <a:pt x="167" y="31"/>
                    <a:pt x="167" y="32"/>
                    <a:pt x="173" y="32"/>
                  </a:cubicBezTo>
                  <a:cubicBezTo>
                    <a:pt x="179" y="32"/>
                    <a:pt x="180" y="32"/>
                    <a:pt x="180" y="37"/>
                  </a:cubicBezTo>
                  <a:cubicBezTo>
                    <a:pt x="180" y="42"/>
                    <a:pt x="180" y="43"/>
                    <a:pt x="192" y="43"/>
                  </a:cubicBezTo>
                  <a:cubicBezTo>
                    <a:pt x="204" y="43"/>
                    <a:pt x="204" y="43"/>
                    <a:pt x="204" y="49"/>
                  </a:cubicBezTo>
                  <a:cubicBezTo>
                    <a:pt x="204" y="55"/>
                    <a:pt x="205" y="56"/>
                    <a:pt x="211" y="56"/>
                  </a:cubicBezTo>
                  <a:cubicBezTo>
                    <a:pt x="217" y="56"/>
                    <a:pt x="217" y="57"/>
                    <a:pt x="217" y="63"/>
                  </a:cubicBezTo>
                  <a:cubicBezTo>
                    <a:pt x="217" y="68"/>
                    <a:pt x="218" y="69"/>
                    <a:pt x="223" y="69"/>
                  </a:cubicBezTo>
                  <a:cubicBezTo>
                    <a:pt x="227" y="69"/>
                    <a:pt x="228" y="70"/>
                    <a:pt x="228" y="75"/>
                  </a:cubicBezTo>
                  <a:cubicBezTo>
                    <a:pt x="228" y="80"/>
                    <a:pt x="229" y="80"/>
                    <a:pt x="242" y="80"/>
                  </a:cubicBezTo>
                  <a:cubicBezTo>
                    <a:pt x="255" y="80"/>
                    <a:pt x="255" y="80"/>
                    <a:pt x="255" y="87"/>
                  </a:cubicBezTo>
                  <a:cubicBezTo>
                    <a:pt x="255" y="93"/>
                    <a:pt x="256" y="93"/>
                    <a:pt x="262" y="94"/>
                  </a:cubicBezTo>
                  <a:cubicBezTo>
                    <a:pt x="268" y="94"/>
                    <a:pt x="264" y="96"/>
                    <a:pt x="244" y="105"/>
                  </a:cubicBezTo>
                  <a:cubicBezTo>
                    <a:pt x="154" y="144"/>
                    <a:pt x="94" y="180"/>
                    <a:pt x="68" y="211"/>
                  </a:cubicBezTo>
                  <a:cubicBezTo>
                    <a:pt x="65" y="214"/>
                    <a:pt x="60" y="217"/>
                    <a:pt x="58" y="217"/>
                  </a:cubicBezTo>
                  <a:cubicBezTo>
                    <a:pt x="56" y="217"/>
                    <a:pt x="54" y="218"/>
                    <a:pt x="53" y="219"/>
                  </a:cubicBezTo>
                  <a:cubicBezTo>
                    <a:pt x="53" y="220"/>
                    <a:pt x="45" y="224"/>
                    <a:pt x="35" y="228"/>
                  </a:cubicBezTo>
                  <a:cubicBezTo>
                    <a:pt x="22" y="233"/>
                    <a:pt x="16" y="234"/>
                    <a:pt x="12" y="232"/>
                  </a:cubicBezTo>
                  <a:close/>
                  <a:moveTo>
                    <a:pt x="30" y="198"/>
                  </a:moveTo>
                  <a:cubicBezTo>
                    <a:pt x="30" y="194"/>
                    <a:pt x="28" y="193"/>
                    <a:pt x="24" y="193"/>
                  </a:cubicBezTo>
                  <a:cubicBezTo>
                    <a:pt x="20" y="193"/>
                    <a:pt x="19" y="194"/>
                    <a:pt x="19" y="198"/>
                  </a:cubicBezTo>
                  <a:cubicBezTo>
                    <a:pt x="19" y="203"/>
                    <a:pt x="20" y="204"/>
                    <a:pt x="24" y="204"/>
                  </a:cubicBezTo>
                  <a:cubicBezTo>
                    <a:pt x="28" y="204"/>
                    <a:pt x="30" y="203"/>
                    <a:pt x="30" y="198"/>
                  </a:cubicBezTo>
                  <a:close/>
                  <a:moveTo>
                    <a:pt x="142" y="99"/>
                  </a:moveTo>
                  <a:cubicBezTo>
                    <a:pt x="142" y="95"/>
                    <a:pt x="141" y="93"/>
                    <a:pt x="137" y="93"/>
                  </a:cubicBezTo>
                  <a:cubicBezTo>
                    <a:pt x="132" y="93"/>
                    <a:pt x="131" y="95"/>
                    <a:pt x="131" y="99"/>
                  </a:cubicBezTo>
                  <a:cubicBezTo>
                    <a:pt x="131" y="103"/>
                    <a:pt x="132" y="105"/>
                    <a:pt x="137" y="105"/>
                  </a:cubicBezTo>
                  <a:cubicBezTo>
                    <a:pt x="141" y="105"/>
                    <a:pt x="142" y="103"/>
                    <a:pt x="142" y="99"/>
                  </a:cubicBezTo>
                  <a:close/>
                </a:path>
              </a:pathLst>
            </a:custGeom>
            <a:solidFill>
              <a:srgbClr val="A1BDA8"/>
            </a:solidFill>
            <a:ln w="3175" cap="flat">
              <a:solidFill>
                <a:srgbClr val="A1BDA8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 sz="2000"/>
            </a:p>
          </p:txBody>
        </p:sp>
        <p:sp>
          <p:nvSpPr>
            <p:cNvPr id="105" name="Freeform 30"/>
            <p:cNvSpPr>
              <a:spLocks noEditPoints="1"/>
            </p:cNvSpPr>
            <p:nvPr/>
          </p:nvSpPr>
          <p:spPr bwMode="auto">
            <a:xfrm>
              <a:off x="4862513" y="3951288"/>
              <a:ext cx="515938" cy="815975"/>
            </a:xfrm>
            <a:custGeom>
              <a:avLst/>
              <a:gdLst>
                <a:gd name="T0" fmla="*/ 376 w 1378"/>
                <a:gd name="T1" fmla="*/ 1494 h 2181"/>
                <a:gd name="T2" fmla="*/ 280 w 1378"/>
                <a:gd name="T3" fmla="*/ 1703 h 2181"/>
                <a:gd name="T4" fmla="*/ 53 w 1378"/>
                <a:gd name="T5" fmla="*/ 2056 h 2181"/>
                <a:gd name="T6" fmla="*/ 133 w 1378"/>
                <a:gd name="T7" fmla="*/ 1049 h 2181"/>
                <a:gd name="T8" fmla="*/ 100 w 1378"/>
                <a:gd name="T9" fmla="*/ 1009 h 2181"/>
                <a:gd name="T10" fmla="*/ 184 w 1378"/>
                <a:gd name="T11" fmla="*/ 759 h 2181"/>
                <a:gd name="T12" fmla="*/ 246 w 1378"/>
                <a:gd name="T13" fmla="*/ 691 h 2181"/>
                <a:gd name="T14" fmla="*/ 444 w 1378"/>
                <a:gd name="T15" fmla="*/ 90 h 2181"/>
                <a:gd name="T16" fmla="*/ 992 w 1378"/>
                <a:gd name="T17" fmla="*/ 337 h 2181"/>
                <a:gd name="T18" fmla="*/ 1004 w 1378"/>
                <a:gd name="T19" fmla="*/ 538 h 2181"/>
                <a:gd name="T20" fmla="*/ 1059 w 1378"/>
                <a:gd name="T21" fmla="*/ 509 h 2181"/>
                <a:gd name="T22" fmla="*/ 1347 w 1378"/>
                <a:gd name="T23" fmla="*/ 0 h 2181"/>
                <a:gd name="T24" fmla="*/ 1378 w 1378"/>
                <a:gd name="T25" fmla="*/ 9 h 2181"/>
                <a:gd name="T26" fmla="*/ 1202 w 1378"/>
                <a:gd name="T27" fmla="*/ 344 h 2181"/>
                <a:gd name="T28" fmla="*/ 1022 w 1378"/>
                <a:gd name="T29" fmla="*/ 709 h 2181"/>
                <a:gd name="T30" fmla="*/ 881 w 1378"/>
                <a:gd name="T31" fmla="*/ 1011 h 2181"/>
                <a:gd name="T32" fmla="*/ 581 w 1378"/>
                <a:gd name="T33" fmla="*/ 950 h 2181"/>
                <a:gd name="T34" fmla="*/ 143 w 1378"/>
                <a:gd name="T35" fmla="*/ 1112 h 2181"/>
                <a:gd name="T36" fmla="*/ 136 w 1378"/>
                <a:gd name="T37" fmla="*/ 2068 h 2181"/>
                <a:gd name="T38" fmla="*/ 281 w 1378"/>
                <a:gd name="T39" fmla="*/ 1522 h 2181"/>
                <a:gd name="T40" fmla="*/ 464 w 1378"/>
                <a:gd name="T41" fmla="*/ 2034 h 2181"/>
                <a:gd name="T42" fmla="*/ 431 w 1378"/>
                <a:gd name="T43" fmla="*/ 2181 h 2181"/>
                <a:gd name="T44" fmla="*/ 192 w 1378"/>
                <a:gd name="T45" fmla="*/ 959 h 2181"/>
                <a:gd name="T46" fmla="*/ 416 w 1378"/>
                <a:gd name="T47" fmla="*/ 830 h 2181"/>
                <a:gd name="T48" fmla="*/ 275 w 1378"/>
                <a:gd name="T49" fmla="*/ 751 h 2181"/>
                <a:gd name="T50" fmla="*/ 124 w 1378"/>
                <a:gd name="T51" fmla="*/ 969 h 2181"/>
                <a:gd name="T52" fmla="*/ 160 w 1378"/>
                <a:gd name="T53" fmla="*/ 977 h 2181"/>
                <a:gd name="T54" fmla="*/ 390 w 1378"/>
                <a:gd name="T55" fmla="*/ 768 h 2181"/>
                <a:gd name="T56" fmla="*/ 455 w 1378"/>
                <a:gd name="T57" fmla="*/ 822 h 2181"/>
                <a:gd name="T58" fmla="*/ 255 w 1378"/>
                <a:gd name="T59" fmla="*/ 947 h 2181"/>
                <a:gd name="T60" fmla="*/ 692 w 1378"/>
                <a:gd name="T61" fmla="*/ 933 h 2181"/>
                <a:gd name="T62" fmla="*/ 834 w 1378"/>
                <a:gd name="T63" fmla="*/ 965 h 2181"/>
                <a:gd name="T64" fmla="*/ 922 w 1378"/>
                <a:gd name="T65" fmla="*/ 740 h 2181"/>
                <a:gd name="T66" fmla="*/ 848 w 1378"/>
                <a:gd name="T67" fmla="*/ 769 h 2181"/>
                <a:gd name="T68" fmla="*/ 891 w 1378"/>
                <a:gd name="T69" fmla="*/ 202 h 2181"/>
                <a:gd name="T70" fmla="*/ 249 w 1378"/>
                <a:gd name="T71" fmla="*/ 540 h 2181"/>
                <a:gd name="T72" fmla="*/ 349 w 1378"/>
                <a:gd name="T73" fmla="*/ 713 h 2181"/>
                <a:gd name="T74" fmla="*/ 864 w 1378"/>
                <a:gd name="T75" fmla="*/ 911 h 2181"/>
                <a:gd name="T76" fmla="*/ 1003 w 1378"/>
                <a:gd name="T77" fmla="*/ 643 h 2181"/>
                <a:gd name="T78" fmla="*/ 963 w 1378"/>
                <a:gd name="T79" fmla="*/ 712 h 2181"/>
                <a:gd name="T80" fmla="*/ 929 w 1378"/>
                <a:gd name="T81" fmla="*/ 847 h 2181"/>
                <a:gd name="T82" fmla="*/ 997 w 1378"/>
                <a:gd name="T83" fmla="*/ 579 h 2181"/>
                <a:gd name="T84" fmla="*/ 993 w 1378"/>
                <a:gd name="T85" fmla="*/ 601 h 2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378" h="2181">
                  <a:moveTo>
                    <a:pt x="429" y="2044"/>
                  </a:moveTo>
                  <a:cubicBezTo>
                    <a:pt x="428" y="1893"/>
                    <a:pt x="424" y="1765"/>
                    <a:pt x="421" y="1714"/>
                  </a:cubicBezTo>
                  <a:cubicBezTo>
                    <a:pt x="413" y="1590"/>
                    <a:pt x="398" y="1516"/>
                    <a:pt x="376" y="1494"/>
                  </a:cubicBezTo>
                  <a:cubicBezTo>
                    <a:pt x="368" y="1486"/>
                    <a:pt x="357" y="1490"/>
                    <a:pt x="341" y="1506"/>
                  </a:cubicBezTo>
                  <a:cubicBezTo>
                    <a:pt x="327" y="1522"/>
                    <a:pt x="316" y="1542"/>
                    <a:pt x="306" y="1572"/>
                  </a:cubicBezTo>
                  <a:cubicBezTo>
                    <a:pt x="295" y="1602"/>
                    <a:pt x="290" y="1627"/>
                    <a:pt x="280" y="1703"/>
                  </a:cubicBezTo>
                  <a:cubicBezTo>
                    <a:pt x="245" y="1953"/>
                    <a:pt x="237" y="1993"/>
                    <a:pt x="215" y="2041"/>
                  </a:cubicBezTo>
                  <a:cubicBezTo>
                    <a:pt x="193" y="2087"/>
                    <a:pt x="172" y="2106"/>
                    <a:pt x="136" y="2110"/>
                  </a:cubicBezTo>
                  <a:cubicBezTo>
                    <a:pt x="99" y="2115"/>
                    <a:pt x="73" y="2097"/>
                    <a:pt x="53" y="2056"/>
                  </a:cubicBezTo>
                  <a:cubicBezTo>
                    <a:pt x="36" y="2020"/>
                    <a:pt x="27" y="1987"/>
                    <a:pt x="19" y="1936"/>
                  </a:cubicBezTo>
                  <a:cubicBezTo>
                    <a:pt x="8" y="1865"/>
                    <a:pt x="0" y="1711"/>
                    <a:pt x="2" y="1633"/>
                  </a:cubicBezTo>
                  <a:cubicBezTo>
                    <a:pt x="9" y="1417"/>
                    <a:pt x="55" y="1214"/>
                    <a:pt x="133" y="1049"/>
                  </a:cubicBezTo>
                  <a:cubicBezTo>
                    <a:pt x="141" y="1033"/>
                    <a:pt x="147" y="1020"/>
                    <a:pt x="147" y="1019"/>
                  </a:cubicBezTo>
                  <a:cubicBezTo>
                    <a:pt x="147" y="1019"/>
                    <a:pt x="144" y="1020"/>
                    <a:pt x="140" y="1020"/>
                  </a:cubicBezTo>
                  <a:cubicBezTo>
                    <a:pt x="127" y="1022"/>
                    <a:pt x="108" y="1016"/>
                    <a:pt x="100" y="1009"/>
                  </a:cubicBezTo>
                  <a:cubicBezTo>
                    <a:pt x="89" y="999"/>
                    <a:pt x="87" y="990"/>
                    <a:pt x="88" y="949"/>
                  </a:cubicBezTo>
                  <a:cubicBezTo>
                    <a:pt x="89" y="920"/>
                    <a:pt x="90" y="909"/>
                    <a:pt x="95" y="892"/>
                  </a:cubicBezTo>
                  <a:cubicBezTo>
                    <a:pt x="109" y="837"/>
                    <a:pt x="138" y="794"/>
                    <a:pt x="184" y="759"/>
                  </a:cubicBezTo>
                  <a:cubicBezTo>
                    <a:pt x="209" y="739"/>
                    <a:pt x="248" y="713"/>
                    <a:pt x="253" y="713"/>
                  </a:cubicBezTo>
                  <a:cubicBezTo>
                    <a:pt x="256" y="713"/>
                    <a:pt x="258" y="712"/>
                    <a:pt x="258" y="711"/>
                  </a:cubicBezTo>
                  <a:cubicBezTo>
                    <a:pt x="258" y="710"/>
                    <a:pt x="252" y="701"/>
                    <a:pt x="246" y="691"/>
                  </a:cubicBezTo>
                  <a:cubicBezTo>
                    <a:pt x="225" y="656"/>
                    <a:pt x="210" y="621"/>
                    <a:pt x="203" y="585"/>
                  </a:cubicBezTo>
                  <a:cubicBezTo>
                    <a:pt x="197" y="558"/>
                    <a:pt x="198" y="447"/>
                    <a:pt x="203" y="412"/>
                  </a:cubicBezTo>
                  <a:cubicBezTo>
                    <a:pt x="226" y="268"/>
                    <a:pt x="311" y="155"/>
                    <a:pt x="444" y="90"/>
                  </a:cubicBezTo>
                  <a:cubicBezTo>
                    <a:pt x="480" y="73"/>
                    <a:pt x="498" y="66"/>
                    <a:pt x="533" y="57"/>
                  </a:cubicBezTo>
                  <a:cubicBezTo>
                    <a:pt x="685" y="18"/>
                    <a:pt x="843" y="69"/>
                    <a:pt x="920" y="182"/>
                  </a:cubicBezTo>
                  <a:cubicBezTo>
                    <a:pt x="951" y="229"/>
                    <a:pt x="980" y="289"/>
                    <a:pt x="992" y="337"/>
                  </a:cubicBezTo>
                  <a:cubicBezTo>
                    <a:pt x="1002" y="376"/>
                    <a:pt x="1003" y="389"/>
                    <a:pt x="1003" y="438"/>
                  </a:cubicBezTo>
                  <a:cubicBezTo>
                    <a:pt x="1003" y="481"/>
                    <a:pt x="1001" y="499"/>
                    <a:pt x="994" y="532"/>
                  </a:cubicBezTo>
                  <a:cubicBezTo>
                    <a:pt x="993" y="537"/>
                    <a:pt x="994" y="538"/>
                    <a:pt x="1004" y="538"/>
                  </a:cubicBezTo>
                  <a:cubicBezTo>
                    <a:pt x="1012" y="538"/>
                    <a:pt x="1018" y="540"/>
                    <a:pt x="1022" y="543"/>
                  </a:cubicBezTo>
                  <a:cubicBezTo>
                    <a:pt x="1026" y="545"/>
                    <a:pt x="1030" y="548"/>
                    <a:pt x="1031" y="548"/>
                  </a:cubicBezTo>
                  <a:cubicBezTo>
                    <a:pt x="1032" y="548"/>
                    <a:pt x="1045" y="530"/>
                    <a:pt x="1059" y="509"/>
                  </a:cubicBezTo>
                  <a:cubicBezTo>
                    <a:pt x="1127" y="411"/>
                    <a:pt x="1152" y="367"/>
                    <a:pt x="1234" y="203"/>
                  </a:cubicBezTo>
                  <a:cubicBezTo>
                    <a:pt x="1295" y="80"/>
                    <a:pt x="1309" y="55"/>
                    <a:pt x="1333" y="20"/>
                  </a:cubicBezTo>
                  <a:lnTo>
                    <a:pt x="1347" y="0"/>
                  </a:lnTo>
                  <a:lnTo>
                    <a:pt x="1363" y="0"/>
                  </a:lnTo>
                  <a:lnTo>
                    <a:pt x="1378" y="0"/>
                  </a:lnTo>
                  <a:lnTo>
                    <a:pt x="1378" y="9"/>
                  </a:lnTo>
                  <a:cubicBezTo>
                    <a:pt x="1378" y="16"/>
                    <a:pt x="1376" y="21"/>
                    <a:pt x="1364" y="38"/>
                  </a:cubicBezTo>
                  <a:cubicBezTo>
                    <a:pt x="1342" y="68"/>
                    <a:pt x="1320" y="107"/>
                    <a:pt x="1270" y="209"/>
                  </a:cubicBezTo>
                  <a:cubicBezTo>
                    <a:pt x="1245" y="260"/>
                    <a:pt x="1214" y="321"/>
                    <a:pt x="1202" y="344"/>
                  </a:cubicBezTo>
                  <a:cubicBezTo>
                    <a:pt x="1164" y="415"/>
                    <a:pt x="1111" y="499"/>
                    <a:pt x="1068" y="556"/>
                  </a:cubicBezTo>
                  <a:cubicBezTo>
                    <a:pt x="1052" y="579"/>
                    <a:pt x="1051" y="580"/>
                    <a:pt x="1049" y="598"/>
                  </a:cubicBezTo>
                  <a:cubicBezTo>
                    <a:pt x="1045" y="628"/>
                    <a:pt x="1036" y="666"/>
                    <a:pt x="1022" y="709"/>
                  </a:cubicBezTo>
                  <a:cubicBezTo>
                    <a:pt x="1005" y="761"/>
                    <a:pt x="997" y="780"/>
                    <a:pt x="966" y="848"/>
                  </a:cubicBezTo>
                  <a:cubicBezTo>
                    <a:pt x="935" y="916"/>
                    <a:pt x="923" y="944"/>
                    <a:pt x="915" y="971"/>
                  </a:cubicBezTo>
                  <a:cubicBezTo>
                    <a:pt x="905" y="1004"/>
                    <a:pt x="907" y="1001"/>
                    <a:pt x="881" y="1011"/>
                  </a:cubicBezTo>
                  <a:cubicBezTo>
                    <a:pt x="869" y="1016"/>
                    <a:pt x="857" y="1020"/>
                    <a:pt x="856" y="1020"/>
                  </a:cubicBezTo>
                  <a:cubicBezTo>
                    <a:pt x="855" y="1020"/>
                    <a:pt x="845" y="1016"/>
                    <a:pt x="835" y="1011"/>
                  </a:cubicBezTo>
                  <a:cubicBezTo>
                    <a:pt x="755" y="971"/>
                    <a:pt x="681" y="953"/>
                    <a:pt x="581" y="950"/>
                  </a:cubicBezTo>
                  <a:cubicBezTo>
                    <a:pt x="475" y="947"/>
                    <a:pt x="352" y="965"/>
                    <a:pt x="206" y="1003"/>
                  </a:cubicBezTo>
                  <a:cubicBezTo>
                    <a:pt x="199" y="1005"/>
                    <a:pt x="196" y="1008"/>
                    <a:pt x="188" y="1021"/>
                  </a:cubicBezTo>
                  <a:cubicBezTo>
                    <a:pt x="177" y="1038"/>
                    <a:pt x="159" y="1074"/>
                    <a:pt x="143" y="1112"/>
                  </a:cubicBezTo>
                  <a:cubicBezTo>
                    <a:pt x="61" y="1312"/>
                    <a:pt x="25" y="1549"/>
                    <a:pt x="41" y="1783"/>
                  </a:cubicBezTo>
                  <a:cubicBezTo>
                    <a:pt x="49" y="1900"/>
                    <a:pt x="73" y="2004"/>
                    <a:pt x="101" y="2046"/>
                  </a:cubicBezTo>
                  <a:cubicBezTo>
                    <a:pt x="109" y="2058"/>
                    <a:pt x="125" y="2068"/>
                    <a:pt x="136" y="2068"/>
                  </a:cubicBezTo>
                  <a:cubicBezTo>
                    <a:pt x="155" y="2068"/>
                    <a:pt x="174" y="2049"/>
                    <a:pt x="187" y="2016"/>
                  </a:cubicBezTo>
                  <a:cubicBezTo>
                    <a:pt x="207" y="1965"/>
                    <a:pt x="215" y="1916"/>
                    <a:pt x="236" y="1734"/>
                  </a:cubicBezTo>
                  <a:cubicBezTo>
                    <a:pt x="250" y="1610"/>
                    <a:pt x="258" y="1570"/>
                    <a:pt x="281" y="1522"/>
                  </a:cubicBezTo>
                  <a:cubicBezTo>
                    <a:pt x="298" y="1487"/>
                    <a:pt x="324" y="1467"/>
                    <a:pt x="357" y="1460"/>
                  </a:cubicBezTo>
                  <a:cubicBezTo>
                    <a:pt x="393" y="1453"/>
                    <a:pt x="416" y="1475"/>
                    <a:pt x="432" y="1531"/>
                  </a:cubicBezTo>
                  <a:cubicBezTo>
                    <a:pt x="454" y="1611"/>
                    <a:pt x="461" y="1719"/>
                    <a:pt x="464" y="2034"/>
                  </a:cubicBezTo>
                  <a:lnTo>
                    <a:pt x="466" y="2181"/>
                  </a:lnTo>
                  <a:lnTo>
                    <a:pt x="448" y="2181"/>
                  </a:lnTo>
                  <a:lnTo>
                    <a:pt x="431" y="2181"/>
                  </a:lnTo>
                  <a:lnTo>
                    <a:pt x="429" y="2044"/>
                  </a:lnTo>
                  <a:close/>
                  <a:moveTo>
                    <a:pt x="160" y="977"/>
                  </a:moveTo>
                  <a:cubicBezTo>
                    <a:pt x="177" y="971"/>
                    <a:pt x="184" y="967"/>
                    <a:pt x="192" y="959"/>
                  </a:cubicBezTo>
                  <a:cubicBezTo>
                    <a:pt x="210" y="942"/>
                    <a:pt x="226" y="929"/>
                    <a:pt x="245" y="917"/>
                  </a:cubicBezTo>
                  <a:cubicBezTo>
                    <a:pt x="267" y="903"/>
                    <a:pt x="333" y="870"/>
                    <a:pt x="380" y="849"/>
                  </a:cubicBezTo>
                  <a:cubicBezTo>
                    <a:pt x="416" y="834"/>
                    <a:pt x="423" y="830"/>
                    <a:pt x="416" y="830"/>
                  </a:cubicBezTo>
                  <a:cubicBezTo>
                    <a:pt x="409" y="830"/>
                    <a:pt x="374" y="817"/>
                    <a:pt x="358" y="809"/>
                  </a:cubicBezTo>
                  <a:cubicBezTo>
                    <a:pt x="337" y="797"/>
                    <a:pt x="320" y="784"/>
                    <a:pt x="302" y="766"/>
                  </a:cubicBezTo>
                  <a:cubicBezTo>
                    <a:pt x="288" y="751"/>
                    <a:pt x="288" y="751"/>
                    <a:pt x="275" y="751"/>
                  </a:cubicBezTo>
                  <a:cubicBezTo>
                    <a:pt x="269" y="751"/>
                    <a:pt x="261" y="752"/>
                    <a:pt x="257" y="754"/>
                  </a:cubicBezTo>
                  <a:cubicBezTo>
                    <a:pt x="242" y="761"/>
                    <a:pt x="208" y="787"/>
                    <a:pt x="188" y="807"/>
                  </a:cubicBezTo>
                  <a:cubicBezTo>
                    <a:pt x="137" y="857"/>
                    <a:pt x="117" y="909"/>
                    <a:pt x="124" y="969"/>
                  </a:cubicBezTo>
                  <a:cubicBezTo>
                    <a:pt x="125" y="979"/>
                    <a:pt x="126" y="980"/>
                    <a:pt x="133" y="982"/>
                  </a:cubicBezTo>
                  <a:cubicBezTo>
                    <a:pt x="136" y="984"/>
                    <a:pt x="139" y="985"/>
                    <a:pt x="139" y="985"/>
                  </a:cubicBezTo>
                  <a:cubicBezTo>
                    <a:pt x="139" y="985"/>
                    <a:pt x="149" y="982"/>
                    <a:pt x="160" y="977"/>
                  </a:cubicBezTo>
                  <a:close/>
                  <a:moveTo>
                    <a:pt x="834" y="965"/>
                  </a:moveTo>
                  <a:cubicBezTo>
                    <a:pt x="828" y="958"/>
                    <a:pt x="811" y="945"/>
                    <a:pt x="798" y="935"/>
                  </a:cubicBezTo>
                  <a:cubicBezTo>
                    <a:pt x="694" y="859"/>
                    <a:pt x="546" y="798"/>
                    <a:pt x="390" y="768"/>
                  </a:cubicBezTo>
                  <a:cubicBezTo>
                    <a:pt x="375" y="765"/>
                    <a:pt x="364" y="763"/>
                    <a:pt x="365" y="764"/>
                  </a:cubicBezTo>
                  <a:cubicBezTo>
                    <a:pt x="371" y="769"/>
                    <a:pt x="400" y="788"/>
                    <a:pt x="426" y="804"/>
                  </a:cubicBezTo>
                  <a:lnTo>
                    <a:pt x="455" y="822"/>
                  </a:lnTo>
                  <a:lnTo>
                    <a:pt x="480" y="821"/>
                  </a:lnTo>
                  <a:cubicBezTo>
                    <a:pt x="509" y="819"/>
                    <a:pt x="512" y="817"/>
                    <a:pt x="441" y="849"/>
                  </a:cubicBezTo>
                  <a:cubicBezTo>
                    <a:pt x="347" y="892"/>
                    <a:pt x="261" y="937"/>
                    <a:pt x="255" y="947"/>
                  </a:cubicBezTo>
                  <a:cubicBezTo>
                    <a:pt x="254" y="948"/>
                    <a:pt x="269" y="946"/>
                    <a:pt x="289" y="942"/>
                  </a:cubicBezTo>
                  <a:cubicBezTo>
                    <a:pt x="368" y="926"/>
                    <a:pt x="442" y="920"/>
                    <a:pt x="541" y="922"/>
                  </a:cubicBezTo>
                  <a:cubicBezTo>
                    <a:pt x="610" y="923"/>
                    <a:pt x="638" y="925"/>
                    <a:pt x="692" y="933"/>
                  </a:cubicBezTo>
                  <a:cubicBezTo>
                    <a:pt x="740" y="941"/>
                    <a:pt x="800" y="957"/>
                    <a:pt x="830" y="971"/>
                  </a:cubicBezTo>
                  <a:cubicBezTo>
                    <a:pt x="837" y="974"/>
                    <a:pt x="843" y="976"/>
                    <a:pt x="844" y="976"/>
                  </a:cubicBezTo>
                  <a:cubicBezTo>
                    <a:pt x="846" y="976"/>
                    <a:pt x="841" y="971"/>
                    <a:pt x="834" y="965"/>
                  </a:cubicBezTo>
                  <a:lnTo>
                    <a:pt x="834" y="965"/>
                  </a:lnTo>
                  <a:close/>
                  <a:moveTo>
                    <a:pt x="864" y="911"/>
                  </a:moveTo>
                  <a:cubicBezTo>
                    <a:pt x="875" y="884"/>
                    <a:pt x="919" y="754"/>
                    <a:pt x="922" y="740"/>
                  </a:cubicBezTo>
                  <a:cubicBezTo>
                    <a:pt x="923" y="732"/>
                    <a:pt x="923" y="733"/>
                    <a:pt x="902" y="752"/>
                  </a:cubicBezTo>
                  <a:cubicBezTo>
                    <a:pt x="865" y="788"/>
                    <a:pt x="811" y="834"/>
                    <a:pt x="808" y="832"/>
                  </a:cubicBezTo>
                  <a:cubicBezTo>
                    <a:pt x="808" y="831"/>
                    <a:pt x="826" y="803"/>
                    <a:pt x="848" y="769"/>
                  </a:cubicBezTo>
                  <a:cubicBezTo>
                    <a:pt x="923" y="657"/>
                    <a:pt x="939" y="625"/>
                    <a:pt x="953" y="568"/>
                  </a:cubicBezTo>
                  <a:cubicBezTo>
                    <a:pt x="971" y="497"/>
                    <a:pt x="972" y="414"/>
                    <a:pt x="955" y="347"/>
                  </a:cubicBezTo>
                  <a:cubicBezTo>
                    <a:pt x="942" y="298"/>
                    <a:pt x="915" y="236"/>
                    <a:pt x="891" y="202"/>
                  </a:cubicBezTo>
                  <a:cubicBezTo>
                    <a:pt x="832" y="120"/>
                    <a:pt x="730" y="78"/>
                    <a:pt x="615" y="88"/>
                  </a:cubicBezTo>
                  <a:cubicBezTo>
                    <a:pt x="459" y="101"/>
                    <a:pt x="342" y="185"/>
                    <a:pt x="281" y="327"/>
                  </a:cubicBezTo>
                  <a:cubicBezTo>
                    <a:pt x="254" y="391"/>
                    <a:pt x="243" y="462"/>
                    <a:pt x="249" y="540"/>
                  </a:cubicBezTo>
                  <a:cubicBezTo>
                    <a:pt x="253" y="602"/>
                    <a:pt x="265" y="636"/>
                    <a:pt x="299" y="687"/>
                  </a:cubicBezTo>
                  <a:cubicBezTo>
                    <a:pt x="311" y="706"/>
                    <a:pt x="315" y="709"/>
                    <a:pt x="320" y="710"/>
                  </a:cubicBezTo>
                  <a:cubicBezTo>
                    <a:pt x="324" y="710"/>
                    <a:pt x="337" y="712"/>
                    <a:pt x="349" y="713"/>
                  </a:cubicBezTo>
                  <a:cubicBezTo>
                    <a:pt x="488" y="729"/>
                    <a:pt x="679" y="813"/>
                    <a:pt x="824" y="921"/>
                  </a:cubicBezTo>
                  <a:cubicBezTo>
                    <a:pt x="838" y="931"/>
                    <a:pt x="850" y="938"/>
                    <a:pt x="851" y="938"/>
                  </a:cubicBezTo>
                  <a:cubicBezTo>
                    <a:pt x="852" y="938"/>
                    <a:pt x="858" y="925"/>
                    <a:pt x="864" y="911"/>
                  </a:cubicBezTo>
                  <a:close/>
                  <a:moveTo>
                    <a:pt x="929" y="847"/>
                  </a:moveTo>
                  <a:cubicBezTo>
                    <a:pt x="959" y="781"/>
                    <a:pt x="979" y="728"/>
                    <a:pt x="990" y="693"/>
                  </a:cubicBezTo>
                  <a:cubicBezTo>
                    <a:pt x="998" y="665"/>
                    <a:pt x="1004" y="643"/>
                    <a:pt x="1003" y="643"/>
                  </a:cubicBezTo>
                  <a:cubicBezTo>
                    <a:pt x="1003" y="643"/>
                    <a:pt x="996" y="651"/>
                    <a:pt x="987" y="661"/>
                  </a:cubicBezTo>
                  <a:lnTo>
                    <a:pt x="972" y="679"/>
                  </a:lnTo>
                  <a:lnTo>
                    <a:pt x="963" y="712"/>
                  </a:lnTo>
                  <a:cubicBezTo>
                    <a:pt x="955" y="738"/>
                    <a:pt x="907" y="887"/>
                    <a:pt x="897" y="913"/>
                  </a:cubicBezTo>
                  <a:cubicBezTo>
                    <a:pt x="896" y="916"/>
                    <a:pt x="896" y="917"/>
                    <a:pt x="898" y="916"/>
                  </a:cubicBezTo>
                  <a:cubicBezTo>
                    <a:pt x="899" y="914"/>
                    <a:pt x="913" y="884"/>
                    <a:pt x="929" y="847"/>
                  </a:cubicBezTo>
                  <a:close/>
                  <a:moveTo>
                    <a:pt x="1004" y="587"/>
                  </a:moveTo>
                  <a:cubicBezTo>
                    <a:pt x="1009" y="579"/>
                    <a:pt x="1009" y="578"/>
                    <a:pt x="1006" y="575"/>
                  </a:cubicBezTo>
                  <a:cubicBezTo>
                    <a:pt x="1004" y="572"/>
                    <a:pt x="1003" y="573"/>
                    <a:pt x="997" y="579"/>
                  </a:cubicBezTo>
                  <a:cubicBezTo>
                    <a:pt x="994" y="584"/>
                    <a:pt x="991" y="591"/>
                    <a:pt x="990" y="597"/>
                  </a:cubicBezTo>
                  <a:lnTo>
                    <a:pt x="989" y="606"/>
                  </a:lnTo>
                  <a:lnTo>
                    <a:pt x="993" y="601"/>
                  </a:lnTo>
                  <a:cubicBezTo>
                    <a:pt x="996" y="598"/>
                    <a:pt x="1000" y="591"/>
                    <a:pt x="1004" y="587"/>
                  </a:cubicBezTo>
                  <a:close/>
                </a:path>
              </a:pathLst>
            </a:custGeom>
            <a:solidFill>
              <a:srgbClr val="A1BDA8"/>
            </a:solidFill>
            <a:ln w="3175" cap="flat">
              <a:solidFill>
                <a:srgbClr val="A1BDA8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 sz="2000"/>
            </a:p>
          </p:txBody>
        </p:sp>
        <p:sp>
          <p:nvSpPr>
            <p:cNvPr id="106" name="Freeform 31"/>
            <p:cNvSpPr>
              <a:spLocks noEditPoints="1"/>
            </p:cNvSpPr>
            <p:nvPr/>
          </p:nvSpPr>
          <p:spPr bwMode="auto">
            <a:xfrm>
              <a:off x="4908550" y="4230688"/>
              <a:ext cx="100013" cy="87313"/>
            </a:xfrm>
            <a:custGeom>
              <a:avLst/>
              <a:gdLst>
                <a:gd name="T0" fmla="*/ 12 w 268"/>
                <a:gd name="T1" fmla="*/ 232 h 234"/>
                <a:gd name="T2" fmla="*/ 4 w 268"/>
                <a:gd name="T3" fmla="*/ 220 h 234"/>
                <a:gd name="T4" fmla="*/ 23 w 268"/>
                <a:gd name="T5" fmla="*/ 120 h 234"/>
                <a:gd name="T6" fmla="*/ 118 w 268"/>
                <a:gd name="T7" fmla="*/ 20 h 234"/>
                <a:gd name="T8" fmla="*/ 153 w 268"/>
                <a:gd name="T9" fmla="*/ 12 h 234"/>
                <a:gd name="T10" fmla="*/ 160 w 268"/>
                <a:gd name="T11" fmla="*/ 18 h 234"/>
                <a:gd name="T12" fmla="*/ 167 w 268"/>
                <a:gd name="T13" fmla="*/ 25 h 234"/>
                <a:gd name="T14" fmla="*/ 173 w 268"/>
                <a:gd name="T15" fmla="*/ 32 h 234"/>
                <a:gd name="T16" fmla="*/ 180 w 268"/>
                <a:gd name="T17" fmla="*/ 37 h 234"/>
                <a:gd name="T18" fmla="*/ 192 w 268"/>
                <a:gd name="T19" fmla="*/ 43 h 234"/>
                <a:gd name="T20" fmla="*/ 204 w 268"/>
                <a:gd name="T21" fmla="*/ 49 h 234"/>
                <a:gd name="T22" fmla="*/ 211 w 268"/>
                <a:gd name="T23" fmla="*/ 56 h 234"/>
                <a:gd name="T24" fmla="*/ 217 w 268"/>
                <a:gd name="T25" fmla="*/ 63 h 234"/>
                <a:gd name="T26" fmla="*/ 223 w 268"/>
                <a:gd name="T27" fmla="*/ 69 h 234"/>
                <a:gd name="T28" fmla="*/ 228 w 268"/>
                <a:gd name="T29" fmla="*/ 75 h 234"/>
                <a:gd name="T30" fmla="*/ 242 w 268"/>
                <a:gd name="T31" fmla="*/ 80 h 234"/>
                <a:gd name="T32" fmla="*/ 255 w 268"/>
                <a:gd name="T33" fmla="*/ 87 h 234"/>
                <a:gd name="T34" fmla="*/ 262 w 268"/>
                <a:gd name="T35" fmla="*/ 94 h 234"/>
                <a:gd name="T36" fmla="*/ 244 w 268"/>
                <a:gd name="T37" fmla="*/ 105 h 234"/>
                <a:gd name="T38" fmla="*/ 68 w 268"/>
                <a:gd name="T39" fmla="*/ 211 h 234"/>
                <a:gd name="T40" fmla="*/ 58 w 268"/>
                <a:gd name="T41" fmla="*/ 217 h 234"/>
                <a:gd name="T42" fmla="*/ 53 w 268"/>
                <a:gd name="T43" fmla="*/ 219 h 234"/>
                <a:gd name="T44" fmla="*/ 35 w 268"/>
                <a:gd name="T45" fmla="*/ 228 h 234"/>
                <a:gd name="T46" fmla="*/ 12 w 268"/>
                <a:gd name="T47" fmla="*/ 232 h 234"/>
                <a:gd name="T48" fmla="*/ 30 w 268"/>
                <a:gd name="T49" fmla="*/ 198 h 234"/>
                <a:gd name="T50" fmla="*/ 24 w 268"/>
                <a:gd name="T51" fmla="*/ 193 h 234"/>
                <a:gd name="T52" fmla="*/ 19 w 268"/>
                <a:gd name="T53" fmla="*/ 198 h 234"/>
                <a:gd name="T54" fmla="*/ 24 w 268"/>
                <a:gd name="T55" fmla="*/ 204 h 234"/>
                <a:gd name="T56" fmla="*/ 30 w 268"/>
                <a:gd name="T57" fmla="*/ 198 h 234"/>
                <a:gd name="T58" fmla="*/ 142 w 268"/>
                <a:gd name="T59" fmla="*/ 99 h 234"/>
                <a:gd name="T60" fmla="*/ 137 w 268"/>
                <a:gd name="T61" fmla="*/ 93 h 234"/>
                <a:gd name="T62" fmla="*/ 131 w 268"/>
                <a:gd name="T63" fmla="*/ 99 h 234"/>
                <a:gd name="T64" fmla="*/ 137 w 268"/>
                <a:gd name="T65" fmla="*/ 105 h 234"/>
                <a:gd name="T66" fmla="*/ 142 w 268"/>
                <a:gd name="T67" fmla="*/ 99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68" h="234">
                  <a:moveTo>
                    <a:pt x="12" y="232"/>
                  </a:moveTo>
                  <a:cubicBezTo>
                    <a:pt x="7" y="231"/>
                    <a:pt x="6" y="229"/>
                    <a:pt x="4" y="220"/>
                  </a:cubicBezTo>
                  <a:cubicBezTo>
                    <a:pt x="0" y="185"/>
                    <a:pt x="6" y="153"/>
                    <a:pt x="23" y="120"/>
                  </a:cubicBezTo>
                  <a:cubicBezTo>
                    <a:pt x="45" y="79"/>
                    <a:pt x="70" y="53"/>
                    <a:pt x="118" y="20"/>
                  </a:cubicBezTo>
                  <a:cubicBezTo>
                    <a:pt x="144" y="3"/>
                    <a:pt x="153" y="0"/>
                    <a:pt x="153" y="12"/>
                  </a:cubicBezTo>
                  <a:cubicBezTo>
                    <a:pt x="153" y="18"/>
                    <a:pt x="154" y="18"/>
                    <a:pt x="160" y="18"/>
                  </a:cubicBezTo>
                  <a:cubicBezTo>
                    <a:pt x="166" y="18"/>
                    <a:pt x="167" y="19"/>
                    <a:pt x="167" y="25"/>
                  </a:cubicBezTo>
                  <a:cubicBezTo>
                    <a:pt x="167" y="31"/>
                    <a:pt x="167" y="32"/>
                    <a:pt x="173" y="32"/>
                  </a:cubicBezTo>
                  <a:cubicBezTo>
                    <a:pt x="179" y="32"/>
                    <a:pt x="180" y="32"/>
                    <a:pt x="180" y="37"/>
                  </a:cubicBezTo>
                  <a:cubicBezTo>
                    <a:pt x="180" y="42"/>
                    <a:pt x="180" y="43"/>
                    <a:pt x="192" y="43"/>
                  </a:cubicBezTo>
                  <a:cubicBezTo>
                    <a:pt x="204" y="43"/>
                    <a:pt x="204" y="43"/>
                    <a:pt x="204" y="49"/>
                  </a:cubicBezTo>
                  <a:cubicBezTo>
                    <a:pt x="204" y="55"/>
                    <a:pt x="205" y="56"/>
                    <a:pt x="211" y="56"/>
                  </a:cubicBezTo>
                  <a:cubicBezTo>
                    <a:pt x="217" y="56"/>
                    <a:pt x="217" y="57"/>
                    <a:pt x="217" y="63"/>
                  </a:cubicBezTo>
                  <a:cubicBezTo>
                    <a:pt x="217" y="68"/>
                    <a:pt x="218" y="69"/>
                    <a:pt x="223" y="69"/>
                  </a:cubicBezTo>
                  <a:cubicBezTo>
                    <a:pt x="227" y="69"/>
                    <a:pt x="228" y="70"/>
                    <a:pt x="228" y="75"/>
                  </a:cubicBezTo>
                  <a:cubicBezTo>
                    <a:pt x="228" y="80"/>
                    <a:pt x="229" y="80"/>
                    <a:pt x="242" y="80"/>
                  </a:cubicBezTo>
                  <a:cubicBezTo>
                    <a:pt x="255" y="80"/>
                    <a:pt x="255" y="80"/>
                    <a:pt x="255" y="87"/>
                  </a:cubicBezTo>
                  <a:cubicBezTo>
                    <a:pt x="255" y="93"/>
                    <a:pt x="256" y="93"/>
                    <a:pt x="262" y="94"/>
                  </a:cubicBezTo>
                  <a:cubicBezTo>
                    <a:pt x="268" y="94"/>
                    <a:pt x="264" y="96"/>
                    <a:pt x="244" y="105"/>
                  </a:cubicBezTo>
                  <a:cubicBezTo>
                    <a:pt x="154" y="144"/>
                    <a:pt x="94" y="180"/>
                    <a:pt x="68" y="211"/>
                  </a:cubicBezTo>
                  <a:cubicBezTo>
                    <a:pt x="65" y="214"/>
                    <a:pt x="60" y="217"/>
                    <a:pt x="58" y="217"/>
                  </a:cubicBezTo>
                  <a:cubicBezTo>
                    <a:pt x="56" y="217"/>
                    <a:pt x="54" y="218"/>
                    <a:pt x="53" y="219"/>
                  </a:cubicBezTo>
                  <a:cubicBezTo>
                    <a:pt x="53" y="220"/>
                    <a:pt x="45" y="224"/>
                    <a:pt x="35" y="228"/>
                  </a:cubicBezTo>
                  <a:cubicBezTo>
                    <a:pt x="22" y="233"/>
                    <a:pt x="16" y="234"/>
                    <a:pt x="12" y="232"/>
                  </a:cubicBezTo>
                  <a:close/>
                  <a:moveTo>
                    <a:pt x="30" y="198"/>
                  </a:moveTo>
                  <a:cubicBezTo>
                    <a:pt x="30" y="194"/>
                    <a:pt x="28" y="193"/>
                    <a:pt x="24" y="193"/>
                  </a:cubicBezTo>
                  <a:cubicBezTo>
                    <a:pt x="20" y="193"/>
                    <a:pt x="19" y="194"/>
                    <a:pt x="19" y="198"/>
                  </a:cubicBezTo>
                  <a:cubicBezTo>
                    <a:pt x="19" y="203"/>
                    <a:pt x="20" y="204"/>
                    <a:pt x="24" y="204"/>
                  </a:cubicBezTo>
                  <a:cubicBezTo>
                    <a:pt x="28" y="204"/>
                    <a:pt x="30" y="203"/>
                    <a:pt x="30" y="198"/>
                  </a:cubicBezTo>
                  <a:close/>
                  <a:moveTo>
                    <a:pt x="142" y="99"/>
                  </a:moveTo>
                  <a:cubicBezTo>
                    <a:pt x="142" y="95"/>
                    <a:pt x="141" y="93"/>
                    <a:pt x="137" y="93"/>
                  </a:cubicBezTo>
                  <a:cubicBezTo>
                    <a:pt x="132" y="93"/>
                    <a:pt x="131" y="95"/>
                    <a:pt x="131" y="99"/>
                  </a:cubicBezTo>
                  <a:cubicBezTo>
                    <a:pt x="131" y="103"/>
                    <a:pt x="132" y="105"/>
                    <a:pt x="137" y="105"/>
                  </a:cubicBezTo>
                  <a:cubicBezTo>
                    <a:pt x="141" y="105"/>
                    <a:pt x="142" y="103"/>
                    <a:pt x="142" y="99"/>
                  </a:cubicBezTo>
                  <a:close/>
                </a:path>
              </a:pathLst>
            </a:custGeom>
            <a:solidFill>
              <a:srgbClr val="A1BDA8"/>
            </a:solidFill>
            <a:ln w="3175" cap="flat">
              <a:solidFill>
                <a:srgbClr val="A1BDA8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 sz="2000"/>
            </a:p>
          </p:txBody>
        </p:sp>
        <p:sp>
          <p:nvSpPr>
            <p:cNvPr id="107" name="Freeform 32"/>
            <p:cNvSpPr>
              <a:spLocks/>
            </p:cNvSpPr>
            <p:nvPr/>
          </p:nvSpPr>
          <p:spPr bwMode="auto">
            <a:xfrm>
              <a:off x="5294313" y="3776663"/>
              <a:ext cx="123825" cy="209550"/>
            </a:xfrm>
            <a:custGeom>
              <a:avLst/>
              <a:gdLst>
                <a:gd name="T0" fmla="*/ 228 w 331"/>
                <a:gd name="T1" fmla="*/ 533 h 559"/>
                <a:gd name="T2" fmla="*/ 330 w 331"/>
                <a:gd name="T3" fmla="*/ 471 h 559"/>
                <a:gd name="T4" fmla="*/ 275 w 331"/>
                <a:gd name="T5" fmla="*/ 230 h 559"/>
                <a:gd name="T6" fmla="*/ 267 w 331"/>
                <a:gd name="T7" fmla="*/ 30 h 559"/>
                <a:gd name="T8" fmla="*/ 159 w 331"/>
                <a:gd name="T9" fmla="*/ 37 h 559"/>
                <a:gd name="T10" fmla="*/ 210 w 331"/>
                <a:gd name="T11" fmla="*/ 116 h 559"/>
                <a:gd name="T12" fmla="*/ 136 w 331"/>
                <a:gd name="T13" fmla="*/ 165 h 559"/>
                <a:gd name="T14" fmla="*/ 81 w 331"/>
                <a:gd name="T15" fmla="*/ 91 h 559"/>
                <a:gd name="T16" fmla="*/ 180 w 331"/>
                <a:gd name="T17" fmla="*/ 294 h 559"/>
                <a:gd name="T18" fmla="*/ 228 w 331"/>
                <a:gd name="T19" fmla="*/ 533 h 5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31" h="559">
                  <a:moveTo>
                    <a:pt x="228" y="533"/>
                  </a:moveTo>
                  <a:cubicBezTo>
                    <a:pt x="228" y="533"/>
                    <a:pt x="315" y="559"/>
                    <a:pt x="330" y="471"/>
                  </a:cubicBezTo>
                  <a:cubicBezTo>
                    <a:pt x="331" y="463"/>
                    <a:pt x="275" y="230"/>
                    <a:pt x="275" y="230"/>
                  </a:cubicBezTo>
                  <a:cubicBezTo>
                    <a:pt x="327" y="137"/>
                    <a:pt x="304" y="55"/>
                    <a:pt x="267" y="30"/>
                  </a:cubicBezTo>
                  <a:cubicBezTo>
                    <a:pt x="223" y="0"/>
                    <a:pt x="159" y="37"/>
                    <a:pt x="159" y="37"/>
                  </a:cubicBezTo>
                  <a:lnTo>
                    <a:pt x="210" y="116"/>
                  </a:lnTo>
                  <a:lnTo>
                    <a:pt x="136" y="165"/>
                  </a:lnTo>
                  <a:lnTo>
                    <a:pt x="81" y="91"/>
                  </a:lnTo>
                  <a:cubicBezTo>
                    <a:pt x="37" y="144"/>
                    <a:pt x="0" y="301"/>
                    <a:pt x="180" y="294"/>
                  </a:cubicBezTo>
                  <a:lnTo>
                    <a:pt x="228" y="533"/>
                  </a:lnTo>
                  <a:close/>
                </a:path>
              </a:pathLst>
            </a:custGeom>
            <a:solidFill>
              <a:srgbClr val="A9B6AC"/>
            </a:solidFill>
            <a:ln w="14288" cap="flat">
              <a:solidFill>
                <a:srgbClr val="44575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CA" sz="2000"/>
            </a:p>
          </p:txBody>
        </p:sp>
      </p:grpSp>
      <p:grpSp>
        <p:nvGrpSpPr>
          <p:cNvPr id="110" name="Group 109"/>
          <p:cNvGrpSpPr/>
          <p:nvPr/>
        </p:nvGrpSpPr>
        <p:grpSpPr>
          <a:xfrm>
            <a:off x="28010758" y="14202332"/>
            <a:ext cx="4263599" cy="4540174"/>
            <a:chOff x="8681092" y="3314233"/>
            <a:chExt cx="1411173" cy="1501715"/>
          </a:xfrm>
          <a:solidFill>
            <a:schemeClr val="bg1"/>
          </a:solidFill>
          <a:effectLst/>
        </p:grpSpPr>
        <p:sp>
          <p:nvSpPr>
            <p:cNvPr id="112" name="Rectangle 111"/>
            <p:cNvSpPr/>
            <p:nvPr/>
          </p:nvSpPr>
          <p:spPr>
            <a:xfrm>
              <a:off x="8681092" y="3314233"/>
              <a:ext cx="1411173" cy="861497"/>
            </a:xfrm>
            <a:prstGeom prst="rect">
              <a:avLst/>
            </a:prstGeom>
            <a:grpFill/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46800" rIns="0" bIns="46800" rtlCol="0" anchor="ctr"/>
            <a:lstStyle/>
            <a:p>
              <a:pPr algn="ctr"/>
              <a:r>
                <a:rPr lang="en-CA" sz="4400" b="1" dirty="0" smtClean="0">
                  <a:solidFill>
                    <a:schemeClr val="tx1"/>
                  </a:solidFill>
                </a:rPr>
                <a:t>Generic Application</a:t>
              </a:r>
              <a:endParaRPr lang="en-CA" sz="4400" b="1" dirty="0">
                <a:solidFill>
                  <a:schemeClr val="tx1"/>
                </a:solidFill>
              </a:endParaRPr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8681092" y="4175730"/>
              <a:ext cx="1411173" cy="640218"/>
            </a:xfrm>
            <a:prstGeom prst="rect">
              <a:avLst/>
            </a:prstGeom>
            <a:grpFill/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46800" rIns="0" bIns="46800" rtlCol="0" anchor="ctr"/>
            <a:lstStyle/>
            <a:p>
              <a:pPr algn="ctr"/>
              <a:r>
                <a:rPr lang="en-CA" sz="4400" b="1" dirty="0" smtClean="0">
                  <a:solidFill>
                    <a:schemeClr val="tx1"/>
                  </a:solidFill>
                </a:rPr>
                <a:t>File-System Specific Logic</a:t>
              </a:r>
              <a:endParaRPr lang="en-CA" sz="44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4" name="Group 113"/>
          <p:cNvGrpSpPr/>
          <p:nvPr/>
        </p:nvGrpSpPr>
        <p:grpSpPr>
          <a:xfrm>
            <a:off x="26860501" y="9792828"/>
            <a:ext cx="5413856" cy="2583990"/>
            <a:chOff x="6493933" y="3749526"/>
            <a:chExt cx="1761066" cy="944513"/>
          </a:xfrm>
          <a:noFill/>
          <a:effectLst/>
        </p:grpSpPr>
        <p:sp>
          <p:nvSpPr>
            <p:cNvPr id="115" name="Rectangle 114"/>
            <p:cNvSpPr/>
            <p:nvPr/>
          </p:nvSpPr>
          <p:spPr>
            <a:xfrm>
              <a:off x="6493933" y="3749526"/>
              <a:ext cx="1004159" cy="944513"/>
            </a:xfrm>
            <a:prstGeom prst="rect">
              <a:avLst/>
            </a:prstGeom>
            <a:grpFill/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46800" rIns="0" bIns="46800" rtlCol="0" anchor="ctr"/>
            <a:lstStyle/>
            <a:p>
              <a:pPr algn="ctr"/>
              <a:r>
                <a:rPr lang="en-CA" sz="4400" dirty="0" smtClean="0">
                  <a:solidFill>
                    <a:schemeClr val="tx1"/>
                  </a:solidFill>
                  <a:effectLst/>
                </a:rPr>
                <a:t>Spiffy Library</a:t>
              </a:r>
              <a:endParaRPr lang="en-CA" sz="4400" dirty="0"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7498092" y="3749526"/>
              <a:ext cx="756907" cy="944513"/>
            </a:xfrm>
            <a:prstGeom prst="rect">
              <a:avLst/>
            </a:prstGeom>
            <a:grpFill/>
            <a:ln w="2540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46800" rIns="0" bIns="46800" rtlCol="0" anchor="ctr"/>
            <a:lstStyle/>
            <a:p>
              <a:pPr algn="ctr"/>
              <a:r>
                <a:rPr lang="en-CA" sz="4400" dirty="0" smtClean="0">
                  <a:solidFill>
                    <a:schemeClr val="tx1"/>
                  </a:solidFill>
                </a:rPr>
                <a:t>Spiffy API</a:t>
              </a:r>
              <a:endParaRPr lang="en-CA" sz="4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19" name="Rectangle 118"/>
          <p:cNvSpPr/>
          <p:nvPr/>
        </p:nvSpPr>
        <p:spPr>
          <a:xfrm>
            <a:off x="23551096" y="16760375"/>
            <a:ext cx="3828947" cy="144873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6800" rIns="0" bIns="46800" rtlCol="0" anchor="ctr">
            <a:spAutoFit/>
          </a:bodyPr>
          <a:lstStyle/>
          <a:p>
            <a:pPr algn="ctr"/>
            <a:r>
              <a:rPr lang="en-CA" sz="4400" dirty="0" smtClean="0">
                <a:solidFill>
                  <a:schemeClr val="tx1"/>
                </a:solidFill>
              </a:rPr>
              <a:t>Application</a:t>
            </a:r>
          </a:p>
          <a:p>
            <a:pPr algn="ctr"/>
            <a:r>
              <a:rPr lang="en-CA" sz="4400" dirty="0" smtClean="0">
                <a:solidFill>
                  <a:schemeClr val="tx1"/>
                </a:solidFill>
              </a:rPr>
              <a:t>Developer</a:t>
            </a:r>
            <a:endParaRPr lang="en-CA" sz="4400" dirty="0">
              <a:solidFill>
                <a:schemeClr val="tx1"/>
              </a:solidFill>
            </a:endParaRPr>
          </a:p>
        </p:txBody>
      </p:sp>
      <p:pic>
        <p:nvPicPr>
          <p:cNvPr id="121" name="Picture 12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8489" y="12222989"/>
            <a:ext cx="4319850" cy="4320000"/>
          </a:xfrm>
          <a:prstGeom prst="rect">
            <a:avLst/>
          </a:prstGeom>
        </p:spPr>
      </p:pic>
      <p:sp>
        <p:nvSpPr>
          <p:cNvPr id="122" name="Right Arrow 121"/>
          <p:cNvSpPr>
            <a:spLocks noChangeAspect="1"/>
          </p:cNvSpPr>
          <p:nvPr/>
        </p:nvSpPr>
        <p:spPr>
          <a:xfrm rot="5400000">
            <a:off x="29542165" y="8380571"/>
            <a:ext cx="1200785" cy="999000"/>
          </a:xfrm>
          <a:prstGeom prst="rightArrow">
            <a:avLst/>
          </a:prstGeom>
          <a:solidFill>
            <a:schemeClr val="tx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400">
              <a:solidFill>
                <a:schemeClr val="tx1"/>
              </a:solidFill>
            </a:endParaRPr>
          </a:p>
        </p:txBody>
      </p:sp>
      <p:sp>
        <p:nvSpPr>
          <p:cNvPr id="123" name="Right Arrow 122"/>
          <p:cNvSpPr>
            <a:spLocks noChangeAspect="1"/>
          </p:cNvSpPr>
          <p:nvPr/>
        </p:nvSpPr>
        <p:spPr>
          <a:xfrm rot="5400000">
            <a:off x="29542165" y="12790076"/>
            <a:ext cx="1200785" cy="999000"/>
          </a:xfrm>
          <a:prstGeom prst="rightArrow">
            <a:avLst/>
          </a:prstGeom>
          <a:solidFill>
            <a:schemeClr val="tx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400">
              <a:solidFill>
                <a:schemeClr val="tx1"/>
              </a:solidFill>
            </a:endParaRPr>
          </a:p>
        </p:txBody>
      </p:sp>
      <p:sp>
        <p:nvSpPr>
          <p:cNvPr id="124" name="Rectangle 123"/>
          <p:cNvSpPr/>
          <p:nvPr/>
        </p:nvSpPr>
        <p:spPr>
          <a:xfrm>
            <a:off x="24958110" y="8494260"/>
            <a:ext cx="4800852" cy="771623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6800" rIns="0" bIns="46800" rtlCol="0" anchor="ctr">
            <a:spAutoFit/>
          </a:bodyPr>
          <a:lstStyle/>
          <a:p>
            <a:pPr algn="ctr"/>
            <a:r>
              <a:rPr lang="en-CA" sz="4400" i="1" dirty="0" smtClean="0">
                <a:solidFill>
                  <a:schemeClr val="tx1"/>
                </a:solidFill>
              </a:rPr>
              <a:t>Spiffy Compiler</a:t>
            </a:r>
            <a:endParaRPr lang="en-CA" sz="4400" i="1" dirty="0">
              <a:solidFill>
                <a:schemeClr val="tx1"/>
              </a:solidFill>
            </a:endParaRPr>
          </a:p>
        </p:txBody>
      </p:sp>
      <p:cxnSp>
        <p:nvCxnSpPr>
          <p:cNvPr id="4" name="Straight Connector 3"/>
          <p:cNvCxnSpPr>
            <a:cxnSpLocks noChangeAspect="1"/>
          </p:cNvCxnSpPr>
          <p:nvPr/>
        </p:nvCxnSpPr>
        <p:spPr>
          <a:xfrm flipH="1">
            <a:off x="23685186" y="5596932"/>
            <a:ext cx="457343" cy="2270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/>
          <p:cNvCxnSpPr/>
          <p:nvPr/>
        </p:nvCxnSpPr>
        <p:spPr>
          <a:xfrm flipH="1" flipV="1">
            <a:off x="24572993" y="16061279"/>
            <a:ext cx="211147" cy="54518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/>
          <p:cNvGrpSpPr/>
          <p:nvPr/>
        </p:nvGrpSpPr>
        <p:grpSpPr>
          <a:xfrm>
            <a:off x="8878529" y="19332627"/>
            <a:ext cx="23399942" cy="5574551"/>
            <a:chOff x="8634295" y="19332627"/>
            <a:chExt cx="23644176" cy="5574551"/>
          </a:xfrm>
        </p:grpSpPr>
        <p:sp>
          <p:nvSpPr>
            <p:cNvPr id="125" name="TextBox 124"/>
            <p:cNvSpPr txBox="1"/>
            <p:nvPr/>
          </p:nvSpPr>
          <p:spPr>
            <a:xfrm>
              <a:off x="8634295" y="20640462"/>
              <a:ext cx="23640062" cy="4266716"/>
            </a:xfrm>
            <a:prstGeom prst="rect">
              <a:avLst/>
            </a:prstGeom>
            <a:solidFill>
              <a:schemeClr val="accent1"/>
            </a:solidFill>
            <a:ln w="101600">
              <a:solidFill>
                <a:schemeClr val="accent6"/>
              </a:solidFill>
            </a:ln>
          </p:spPr>
          <p:txBody>
            <a:bodyPr wrap="square" lIns="360000" tIns="180000" rIns="0" bIns="0" rtlCol="0">
              <a:noAutofit/>
            </a:bodyPr>
            <a:lstStyle/>
            <a:p>
              <a:pPr>
                <a:spcBef>
                  <a:spcPts val="1000"/>
                </a:spcBef>
              </a:pPr>
              <a:r>
                <a:rPr lang="en-CA" sz="4800" b="1" dirty="0">
                  <a:solidFill>
                    <a:schemeClr val="bg1"/>
                  </a:solidFill>
                </a:rPr>
                <a:t>Idea</a:t>
              </a:r>
              <a:r>
                <a:rPr lang="en-CA" sz="4800" i="1" dirty="0">
                  <a:solidFill>
                    <a:schemeClr val="bg1"/>
                  </a:solidFill>
                </a:rPr>
                <a:t>: </a:t>
              </a:r>
              <a:r>
                <a:rPr lang="en-CA" sz="4800" dirty="0">
                  <a:solidFill>
                    <a:schemeClr val="bg1"/>
                  </a:solidFill>
                </a:rPr>
                <a:t>Extract file system format from structure definition (e.g. C header files)</a:t>
              </a:r>
              <a:endParaRPr lang="en-CA" sz="4800" b="1" dirty="0">
                <a:solidFill>
                  <a:schemeClr val="bg1"/>
                </a:solidFill>
              </a:endParaRPr>
            </a:p>
            <a:p>
              <a:pPr>
                <a:spcBef>
                  <a:spcPts val="1000"/>
                </a:spcBef>
              </a:pPr>
              <a:r>
                <a:rPr lang="en-CA" sz="4800" b="1" dirty="0">
                  <a:solidFill>
                    <a:schemeClr val="bg1"/>
                  </a:solidFill>
                </a:rPr>
                <a:t>Problem</a:t>
              </a:r>
              <a:r>
                <a:rPr lang="en-CA" sz="4800" i="1" dirty="0">
                  <a:solidFill>
                    <a:schemeClr val="bg1"/>
                  </a:solidFill>
                </a:rPr>
                <a:t>: </a:t>
              </a:r>
              <a:r>
                <a:rPr lang="en-CA" sz="4800" dirty="0">
                  <a:solidFill>
                    <a:schemeClr val="bg1"/>
                  </a:solidFill>
                </a:rPr>
                <a:t>C structure definition do </a:t>
              </a:r>
              <a:r>
                <a:rPr lang="en-CA" sz="4800" i="1" dirty="0">
                  <a:solidFill>
                    <a:schemeClr val="bg1"/>
                  </a:solidFill>
                </a:rPr>
                <a:t>not </a:t>
              </a:r>
              <a:r>
                <a:rPr lang="en-CA" sz="4800" dirty="0">
                  <a:solidFill>
                    <a:schemeClr val="bg1"/>
                  </a:solidFill>
                </a:rPr>
                <a:t>completely describe file system format. Details are hidden within file system source code</a:t>
              </a:r>
            </a:p>
            <a:p>
              <a:pPr>
                <a:spcBef>
                  <a:spcPts val="1000"/>
                </a:spcBef>
              </a:pPr>
              <a:r>
                <a:rPr lang="en-CA" sz="4800" b="1" dirty="0">
                  <a:solidFill>
                    <a:schemeClr val="bg1"/>
                  </a:solidFill>
                </a:rPr>
                <a:t>Annotations</a:t>
              </a:r>
              <a:r>
                <a:rPr lang="en-CA" sz="4800" dirty="0">
                  <a:solidFill>
                    <a:schemeClr val="bg1"/>
                  </a:solidFill>
                </a:rPr>
                <a:t> allows file system developers to specify missing information needed to correctly parse </a:t>
              </a:r>
              <a:r>
                <a:rPr lang="en-CA" sz="4800" dirty="0" smtClean="0">
                  <a:solidFill>
                    <a:schemeClr val="bg1"/>
                  </a:solidFill>
                </a:rPr>
                <a:t>metadata structures and </a:t>
              </a:r>
              <a:r>
                <a:rPr lang="en-CA" sz="4800" dirty="0">
                  <a:solidFill>
                    <a:schemeClr val="bg1"/>
                  </a:solidFill>
                </a:rPr>
                <a:t>traverse </a:t>
              </a:r>
              <a:r>
                <a:rPr lang="en-CA" sz="4800" dirty="0" smtClean="0">
                  <a:solidFill>
                    <a:schemeClr val="bg1"/>
                  </a:solidFill>
                </a:rPr>
                <a:t>the file system</a:t>
              </a:r>
              <a:endParaRPr lang="en-CA" sz="4800" dirty="0">
                <a:solidFill>
                  <a:schemeClr val="bg1"/>
                </a:solidFill>
              </a:endParaRPr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8638409" y="19332627"/>
              <a:ext cx="23640062" cy="1327024"/>
            </a:xfrm>
            <a:prstGeom prst="rect">
              <a:avLst/>
            </a:prstGeom>
            <a:solidFill>
              <a:schemeClr val="accent1"/>
            </a:solidFill>
            <a:ln w="101600">
              <a:solidFill>
                <a:schemeClr val="accent6"/>
              </a:solidFill>
            </a:ln>
          </p:spPr>
          <p:txBody>
            <a:bodyPr wrap="square" lIns="360000" tIns="180000" rIns="0" bIns="0" rtlCol="0">
              <a:noAutofit/>
            </a:bodyPr>
            <a:lstStyle/>
            <a:p>
              <a:r>
                <a:rPr lang="en-CA" sz="6000" b="1" i="1" dirty="0" smtClean="0">
                  <a:solidFill>
                    <a:schemeClr val="bg1"/>
                  </a:solidFill>
                </a:rPr>
                <a:t>Spiffy File System Annotation Language</a:t>
              </a:r>
              <a:endParaRPr lang="en-CA" sz="6000" b="1" i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28" name="Rectangle 127"/>
          <p:cNvSpPr/>
          <p:nvPr/>
        </p:nvSpPr>
        <p:spPr>
          <a:xfrm>
            <a:off x="114300" y="19141279"/>
            <a:ext cx="8760158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CA" sz="4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CA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 foo </a:t>
            </a:r>
            <a:r>
              <a:rPr lang="en-CA" sz="4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lvl="1"/>
            <a:r>
              <a:rPr lang="en-CA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4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__le32 size;</a:t>
            </a:r>
            <a:endParaRPr lang="en-CA" sz="4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/>
            <a:r>
              <a:rPr lang="en-CA" sz="4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__</a:t>
            </a:r>
            <a:r>
              <a:rPr lang="en-CA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le32 </a:t>
            </a:r>
            <a:r>
              <a:rPr lang="en-CA" sz="4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bar_block_ptr</a:t>
            </a:r>
            <a:r>
              <a:rPr lang="en-CA" sz="4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lvl="1"/>
            <a:r>
              <a:rPr lang="en-CA" sz="4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CA" sz="4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9" name="Rectangle 128"/>
          <p:cNvSpPr/>
          <p:nvPr/>
        </p:nvSpPr>
        <p:spPr>
          <a:xfrm>
            <a:off x="114298" y="22116708"/>
            <a:ext cx="8760159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CA" sz="4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FSSTRUCT() </a:t>
            </a:r>
            <a:r>
              <a:rPr lang="en-CA" sz="4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foo </a:t>
            </a:r>
            <a:r>
              <a:rPr lang="en-CA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lvl="1"/>
            <a:r>
              <a:rPr lang="en-CA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CA" sz="4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CA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le32 </a:t>
            </a:r>
            <a:r>
              <a:rPr lang="en-CA" sz="4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size</a:t>
            </a:r>
            <a:r>
              <a:rPr lang="en-CA" sz="4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CA" sz="4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/>
            <a:r>
              <a:rPr lang="en-CA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4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4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POINTER</a:t>
            </a:r>
            <a:r>
              <a:rPr lang="en-CA" sz="4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(type=</a:t>
            </a:r>
            <a:r>
              <a:rPr lang="en-CA" sz="4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bar_block</a:t>
            </a:r>
            <a:r>
              <a:rPr lang="en-CA" sz="4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lvl="1"/>
            <a:r>
              <a:rPr lang="en-CA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4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4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-CA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le32 </a:t>
            </a:r>
            <a:r>
              <a:rPr lang="en-CA" sz="4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bar_block_ptr</a:t>
            </a:r>
            <a:r>
              <a:rPr lang="en-CA" sz="4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lvl="1"/>
            <a:r>
              <a:rPr lang="en-CA" sz="4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en-CA" sz="4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0" name="Right Arrow 129"/>
          <p:cNvSpPr>
            <a:spLocks noChangeAspect="1"/>
          </p:cNvSpPr>
          <p:nvPr/>
        </p:nvSpPr>
        <p:spPr>
          <a:xfrm rot="5400000">
            <a:off x="3670836" y="21413361"/>
            <a:ext cx="709202" cy="590024"/>
          </a:xfrm>
          <a:prstGeom prst="rightArrow">
            <a:avLst/>
          </a:prstGeom>
          <a:solidFill>
            <a:schemeClr val="tx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400">
              <a:solidFill>
                <a:schemeClr val="tx1"/>
              </a:solidFill>
            </a:endParaRPr>
          </a:p>
        </p:txBody>
      </p:sp>
      <p:graphicFrame>
        <p:nvGraphicFramePr>
          <p:cNvPr id="131" name="Table 1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0423368"/>
              </p:ext>
            </p:extLst>
          </p:nvPr>
        </p:nvGraphicFramePr>
        <p:xfrm>
          <a:off x="280217" y="29173546"/>
          <a:ext cx="16827912" cy="493776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746760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54091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sz="4800" dirty="0" smtClean="0">
                          <a:solidFill>
                            <a:schemeClr val="bg1"/>
                          </a:solidFill>
                        </a:rPr>
                        <a:t>Applications</a:t>
                      </a:r>
                      <a:endParaRPr lang="en-CA" sz="4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sz="4800" dirty="0" smtClean="0">
                          <a:solidFill>
                            <a:schemeClr val="bg1"/>
                          </a:solidFill>
                        </a:rPr>
                        <a:t>Generic</a:t>
                      </a:r>
                      <a:endParaRPr lang="en-CA" sz="4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A" sz="4800" dirty="0" smtClean="0">
                          <a:solidFill>
                            <a:schemeClr val="bg1"/>
                          </a:solidFill>
                        </a:rPr>
                        <a:t>File-System</a:t>
                      </a:r>
                      <a:r>
                        <a:rPr lang="en-CA" sz="4800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CA" sz="4800" dirty="0" smtClean="0">
                          <a:solidFill>
                            <a:schemeClr val="bg1"/>
                          </a:solidFill>
                        </a:rPr>
                        <a:t>Specific </a:t>
                      </a:r>
                      <a:endParaRPr lang="en-CA" sz="4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4800" dirty="0" smtClean="0">
                          <a:solidFill>
                            <a:schemeClr val="tx1"/>
                          </a:solidFill>
                        </a:rPr>
                        <a:t>XML Dump Tool</a:t>
                      </a:r>
                      <a:endParaRPr lang="en-CA" sz="4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CA" sz="4800" dirty="0" smtClean="0">
                          <a:solidFill>
                            <a:schemeClr val="tx1"/>
                          </a:solidFill>
                        </a:rPr>
                        <a:t>565</a:t>
                      </a:r>
                      <a:endParaRPr lang="en-CA" sz="4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CA" sz="4800" dirty="0" smtClean="0">
                          <a:solidFill>
                            <a:schemeClr val="tx1"/>
                          </a:solidFill>
                        </a:rPr>
                        <a:t>40~50</a:t>
                      </a:r>
                      <a:endParaRPr lang="en-CA" sz="4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2857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4800" dirty="0" smtClean="0">
                          <a:solidFill>
                            <a:schemeClr val="tx1"/>
                          </a:solidFill>
                        </a:rPr>
                        <a:t>Free Space</a:t>
                      </a:r>
                      <a:r>
                        <a:rPr lang="en-CA" sz="4800" baseline="0" dirty="0" smtClean="0">
                          <a:solidFill>
                            <a:schemeClr val="tx1"/>
                          </a:solidFill>
                        </a:rPr>
                        <a:t> Display Tool</a:t>
                      </a:r>
                      <a:endParaRPr lang="en-CA" sz="4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4800" dirty="0" smtClean="0">
                          <a:solidFill>
                            <a:schemeClr val="tx1"/>
                          </a:solidFill>
                        </a:rPr>
                        <a:t>271</a:t>
                      </a:r>
                      <a:endParaRPr lang="en-CA" sz="4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4800" dirty="0" smtClean="0">
                          <a:solidFill>
                            <a:schemeClr val="tx1"/>
                          </a:solidFill>
                        </a:rPr>
                        <a:t>76~194 (F2FS)</a:t>
                      </a:r>
                      <a:endParaRPr lang="en-CA" sz="4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4800" dirty="0" smtClean="0">
                          <a:solidFill>
                            <a:schemeClr val="tx1"/>
                          </a:solidFill>
                        </a:rPr>
                        <a:t>Type-Specific</a:t>
                      </a:r>
                      <a:r>
                        <a:rPr lang="en-CA" sz="4800" baseline="0" dirty="0" smtClean="0">
                          <a:solidFill>
                            <a:schemeClr val="tx1"/>
                          </a:solidFill>
                        </a:rPr>
                        <a:t> Corruptor</a:t>
                      </a:r>
                      <a:endParaRPr lang="en-CA" sz="4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4800" dirty="0" smtClean="0">
                          <a:solidFill>
                            <a:schemeClr val="tx1"/>
                          </a:solidFill>
                        </a:rPr>
                        <a:t>455</a:t>
                      </a:r>
                      <a:endParaRPr lang="en-CA" sz="4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4800" dirty="0" smtClean="0">
                          <a:solidFill>
                            <a:schemeClr val="tx1"/>
                          </a:solidFill>
                        </a:rPr>
                        <a:t>&lt; 30</a:t>
                      </a:r>
                      <a:endParaRPr lang="en-CA" sz="4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4800" dirty="0" smtClean="0">
                          <a:solidFill>
                            <a:schemeClr val="tx1"/>
                          </a:solidFill>
                        </a:rPr>
                        <a:t>Ext4 to F2FS</a:t>
                      </a:r>
                      <a:r>
                        <a:rPr lang="en-CA" sz="48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CA" sz="4800" dirty="0" smtClean="0">
                          <a:solidFill>
                            <a:schemeClr val="tx1"/>
                          </a:solidFill>
                        </a:rPr>
                        <a:t>Converter</a:t>
                      </a:r>
                      <a:endParaRPr lang="en-CA" sz="4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4800" dirty="0" smtClean="0">
                          <a:solidFill>
                            <a:schemeClr val="tx1"/>
                          </a:solidFill>
                        </a:rPr>
                        <a:t>504</a:t>
                      </a:r>
                      <a:endParaRPr lang="en-CA" sz="4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4800" dirty="0" smtClean="0">
                          <a:solidFill>
                            <a:schemeClr val="tx1"/>
                          </a:solidFill>
                        </a:rPr>
                        <a:t>218 (Ext4)</a:t>
                      </a:r>
                      <a:r>
                        <a:rPr lang="en-CA" sz="4800" baseline="0" dirty="0" smtClean="0">
                          <a:solidFill>
                            <a:schemeClr val="tx1"/>
                          </a:solidFill>
                        </a:rPr>
                        <a:t>, 1760 (F2FS)</a:t>
                      </a:r>
                      <a:endParaRPr lang="en-CA" sz="4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4800" dirty="0" smtClean="0">
                          <a:solidFill>
                            <a:schemeClr val="tx1"/>
                          </a:solidFill>
                        </a:rPr>
                        <a:t>Runtime</a:t>
                      </a:r>
                      <a:r>
                        <a:rPr lang="en-CA" sz="4800" baseline="0" dirty="0" smtClean="0">
                          <a:solidFill>
                            <a:schemeClr val="tx1"/>
                          </a:solidFill>
                        </a:rPr>
                        <a:t> Interpretation</a:t>
                      </a:r>
                      <a:endParaRPr lang="en-CA" sz="4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4800" dirty="0" smtClean="0">
                          <a:solidFill>
                            <a:schemeClr val="tx1"/>
                          </a:solidFill>
                        </a:rPr>
                        <a:t>2158</a:t>
                      </a:r>
                      <a:endParaRPr lang="en-CA" sz="4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4800" dirty="0" smtClean="0">
                          <a:solidFill>
                            <a:schemeClr val="tx1"/>
                          </a:solidFill>
                        </a:rPr>
                        <a:t>111 (Ext4),</a:t>
                      </a:r>
                      <a:r>
                        <a:rPr lang="en-CA" sz="4800" baseline="0" dirty="0" smtClean="0">
                          <a:solidFill>
                            <a:schemeClr val="tx1"/>
                          </a:solidFill>
                        </a:rPr>
                        <a:t> 134 (</a:t>
                      </a:r>
                      <a:r>
                        <a:rPr lang="en-CA" sz="4800" baseline="0" dirty="0" err="1" smtClean="0">
                          <a:solidFill>
                            <a:schemeClr val="tx1"/>
                          </a:solidFill>
                        </a:rPr>
                        <a:t>Btrfs</a:t>
                      </a:r>
                      <a:r>
                        <a:rPr lang="en-CA" sz="4800" baseline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CA" sz="4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232835" y="34111306"/>
            <a:ext cx="1492267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4400" dirty="0" smtClean="0"/>
              <a:t>Line of code count for each application: </a:t>
            </a:r>
            <a:br>
              <a:rPr lang="en-CA" sz="4400" dirty="0" smtClean="0"/>
            </a:br>
            <a:r>
              <a:rPr lang="en-CA" sz="4400" dirty="0" smtClean="0"/>
              <a:t>generic application code vs. file-system specific code</a:t>
            </a:r>
            <a:endParaRPr lang="en-CA" sz="4400" dirty="0"/>
          </a:p>
        </p:txBody>
      </p:sp>
      <p:sp>
        <p:nvSpPr>
          <p:cNvPr id="11" name="Rectangle 10"/>
          <p:cNvSpPr/>
          <p:nvPr/>
        </p:nvSpPr>
        <p:spPr>
          <a:xfrm>
            <a:off x="685800" y="26494334"/>
            <a:ext cx="15278100" cy="2410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81100" indent="-647700">
              <a:spcBef>
                <a:spcPts val="400"/>
              </a:spcBef>
              <a:buFont typeface="Arial" panose="020B0604020202020204" pitchFamily="34" charset="0"/>
              <a:buChar char="•"/>
              <a:tabLst>
                <a:tab pos="1257300" algn="l"/>
              </a:tabLst>
            </a:pPr>
            <a:r>
              <a:rPr lang="en-CA" sz="4800" dirty="0" smtClean="0"/>
              <a:t>Requires little file-system specific code</a:t>
            </a:r>
          </a:p>
          <a:p>
            <a:pPr marL="1181100" indent="-647700">
              <a:spcBef>
                <a:spcPts val="400"/>
              </a:spcBef>
              <a:buFont typeface="Arial" panose="020B0604020202020204" pitchFamily="34" charset="0"/>
              <a:buChar char="•"/>
              <a:tabLst>
                <a:tab pos="1257300" algn="l"/>
              </a:tabLst>
            </a:pPr>
            <a:r>
              <a:rPr lang="en-CA" sz="4800" dirty="0" smtClean="0"/>
              <a:t>Works for multiple file systems (Ext4, </a:t>
            </a:r>
            <a:r>
              <a:rPr lang="en-CA" sz="4800" dirty="0" err="1" smtClean="0"/>
              <a:t>Btrfs</a:t>
            </a:r>
            <a:r>
              <a:rPr lang="en-CA" sz="4800" dirty="0" smtClean="0"/>
              <a:t>, F2FS)</a:t>
            </a:r>
          </a:p>
          <a:p>
            <a:pPr marL="1181100" indent="-647700">
              <a:spcBef>
                <a:spcPts val="400"/>
              </a:spcBef>
              <a:buFont typeface="Arial" panose="020B0604020202020204" pitchFamily="34" charset="0"/>
              <a:buChar char="•"/>
              <a:tabLst>
                <a:tab pos="1257300" algn="l"/>
              </a:tabLst>
            </a:pPr>
            <a:r>
              <a:rPr lang="en-CA" sz="4800" dirty="0" smtClean="0"/>
              <a:t>Robust against file system corruptions</a:t>
            </a:r>
            <a:endParaRPr lang="en-CA" sz="4800" dirty="0"/>
          </a:p>
        </p:txBody>
      </p:sp>
      <p:sp>
        <p:nvSpPr>
          <p:cNvPr id="132" name="TextBox 131"/>
          <p:cNvSpPr txBox="1"/>
          <p:nvPr/>
        </p:nvSpPr>
        <p:spPr>
          <a:xfrm>
            <a:off x="474815" y="42675068"/>
            <a:ext cx="189766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4400" dirty="0" smtClean="0"/>
              <a:t>2 Identical fileservers running on Spiffy file-system aware block cache</a:t>
            </a:r>
            <a:endParaRPr lang="en-CA" sz="4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University of Toronto">
      <a:dk1>
        <a:srgbClr val="000000"/>
      </a:dk1>
      <a:lt1>
        <a:srgbClr val="FFFFFF"/>
      </a:lt1>
      <a:dk2>
        <a:srgbClr val="ACE9F8"/>
      </a:dk2>
      <a:lt2>
        <a:srgbClr val="0F486F"/>
      </a:lt2>
      <a:accent1>
        <a:srgbClr val="062958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1812</TotalTime>
  <Words>490</Words>
  <Application>Microsoft Office PowerPoint</Application>
  <PresentationFormat>Custom</PresentationFormat>
  <Paragraphs>86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Kozuka Gothic Pro M</vt:lpstr>
      <vt:lpstr>Arial</vt:lpstr>
      <vt:lpstr>Calibri</vt:lpstr>
      <vt:lpstr>Century Gothic</vt:lpstr>
      <vt:lpstr>Courier New</vt:lpstr>
      <vt:lpstr>Times New Roman</vt:lpstr>
      <vt:lpstr>Wingdings</vt:lpstr>
      <vt:lpstr>Wingdings 3</vt:lpstr>
      <vt:lpstr>Wisp</vt:lpstr>
      <vt:lpstr>Spiffy: Enabling File-System Aware Storage Applications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Jack Sun</dc:creator>
  <cp:lastModifiedBy>Jack Sun</cp:lastModifiedBy>
  <cp:revision>123</cp:revision>
  <dcterms:created xsi:type="dcterms:W3CDTF">2015-09-21T23:24:45Z</dcterms:created>
  <dcterms:modified xsi:type="dcterms:W3CDTF">2018-02-10T23:11:52Z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0x010100D342F5307680D147B3B7094CD326D8F4</vt:lpwstr>
  </property>
</Properties>
</file>