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</p:sldMasterIdLst>
  <p:notesMasterIdLst>
    <p:notesMasterId r:id="rId3"/>
  </p:notesMasterIdLst>
  <p:sldIdLst>
    <p:sldId id="256" r:id="rId2"/>
  </p:sldIdLst>
  <p:sldSz cx="32918400" cy="43891200"/>
  <p:notesSz cx="6858000" cy="9144000"/>
  <p:defaultTextStyle>
    <a:defPPr>
      <a:defRPr lang="en-US"/>
    </a:defPPr>
    <a:lvl1pPr marL="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864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80" autoAdjust="0"/>
    <p:restoredTop sz="96433" autoAdjust="0"/>
  </p:normalViewPr>
  <p:slideViewPr>
    <p:cSldViewPr snapToGrid="0">
      <p:cViewPr varScale="1">
        <p:scale>
          <a:sx n="17" d="100"/>
          <a:sy n="17" d="100"/>
        </p:scale>
        <p:origin x="2640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home\fishy\Documents\Research\fast-2018\caching-result-stacked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61083692839279813"/>
          <c:y val="5.1192544430694563E-2"/>
          <c:w val="0.33184206060008237"/>
          <c:h val="0.72176687201094358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Fileserver A</c:v>
                </c:pt>
              </c:strCache>
            </c:strRef>
          </c:tx>
          <c:spPr>
            <a:solidFill>
              <a:schemeClr val="bg2"/>
            </a:solidFill>
            <a:ln>
              <a:solidFill>
                <a:schemeClr val="tx1"/>
              </a:solidFill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Sheet1!$H$2:$H$8</c:f>
                <c:numCache>
                  <c:formatCode>General</c:formatCode>
                  <c:ptCount val="7"/>
                  <c:pt idx="0">
                    <c:v>86.899646070000003</c:v>
                  </c:pt>
                  <c:pt idx="1">
                    <c:v>47.026277149999999</c:v>
                  </c:pt>
                  <c:pt idx="2">
                    <c:v>98.939352290000002</c:v>
                  </c:pt>
                  <c:pt idx="4">
                    <c:v>74.579070639999998</c:v>
                  </c:pt>
                  <c:pt idx="5">
                    <c:v>56.259226890000001</c:v>
                  </c:pt>
                  <c:pt idx="6">
                    <c:v>108.2791673</c:v>
                  </c:pt>
                </c:numCache>
              </c:numRef>
            </c:plus>
            <c:minus>
              <c:numRef>
                <c:f>Sheet1!$H$2:$H$8</c:f>
                <c:numCache>
                  <c:formatCode>General</c:formatCode>
                  <c:ptCount val="7"/>
                  <c:pt idx="0">
                    <c:v>86.899646070000003</c:v>
                  </c:pt>
                  <c:pt idx="1">
                    <c:v>47.026277149999999</c:v>
                  </c:pt>
                  <c:pt idx="2">
                    <c:v>98.939352290000002</c:v>
                  </c:pt>
                  <c:pt idx="4">
                    <c:v>74.579070639999998</c:v>
                  </c:pt>
                  <c:pt idx="5">
                    <c:v>56.259226890000001</c:v>
                  </c:pt>
                  <c:pt idx="6">
                    <c:v>108.2791673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Sheet1!$B$2:$B$8</c:f>
              <c:strCache>
                <c:ptCount val="7"/>
                <c:pt idx="0">
                  <c:v>Fileserver A + Fileserver B, A is preferred</c:v>
                </c:pt>
                <c:pt idx="1">
                  <c:v>Fileserver A + Fileserver B, no preference</c:v>
                </c:pt>
                <c:pt idx="2">
                  <c:v>Fileserver A, alone</c:v>
                </c:pt>
                <c:pt idx="4">
                  <c:v>Fileserver A + Fileserver B, A is preferred</c:v>
                </c:pt>
                <c:pt idx="5">
                  <c:v>Fileserver A + Fileserver B, no preference</c:v>
                </c:pt>
                <c:pt idx="6">
                  <c:v>Fileserver A, alone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1904.855278</c:v>
                </c:pt>
                <c:pt idx="1">
                  <c:v>1227.2180559999999</c:v>
                </c:pt>
                <c:pt idx="2">
                  <c:v>2831.1577779999998</c:v>
                </c:pt>
                <c:pt idx="4">
                  <c:v>1472.7113890000001</c:v>
                </c:pt>
                <c:pt idx="5">
                  <c:v>941.54666669999995</c:v>
                </c:pt>
                <c:pt idx="6">
                  <c:v>2555.018333</c:v>
                </c:pt>
              </c:numCache>
            </c:numRef>
          </c:val>
        </c:ser>
        <c:ser>
          <c:idx val="1"/>
          <c:order val="1"/>
          <c:tx>
            <c:strRef>
              <c:f>Sheet1!$D$1</c:f>
              <c:strCache>
                <c:ptCount val="1"/>
                <c:pt idx="0">
                  <c:v>Fileserver B</c:v>
                </c:pt>
              </c:strCache>
            </c:strRef>
          </c:tx>
          <c:spPr>
            <a:solidFill>
              <a:schemeClr val="accent6"/>
            </a:solidFill>
            <a:ln>
              <a:solidFill>
                <a:schemeClr val="tx1"/>
              </a:solidFill>
            </a:ln>
            <a:effectLst/>
          </c:spPr>
          <c:invertIfNegative val="0"/>
          <c:errBars>
            <c:errBarType val="both"/>
            <c:errValType val="cust"/>
            <c:noEndCap val="0"/>
            <c:plus>
              <c:numRef>
                <c:f>Sheet1!$I$2:$I$8</c:f>
                <c:numCache>
                  <c:formatCode>General</c:formatCode>
                  <c:ptCount val="7"/>
                  <c:pt idx="0">
                    <c:v>46.519010110000004</c:v>
                  </c:pt>
                  <c:pt idx="1">
                    <c:v>46.575578360000002</c:v>
                  </c:pt>
                  <c:pt idx="2">
                    <c:v>0</c:v>
                  </c:pt>
                  <c:pt idx="4">
                    <c:v>25.918389650000002</c:v>
                  </c:pt>
                  <c:pt idx="5">
                    <c:v>56.659710339999997</c:v>
                  </c:pt>
                  <c:pt idx="6">
                    <c:v>0</c:v>
                  </c:pt>
                </c:numCache>
              </c:numRef>
            </c:plus>
            <c:minus>
              <c:numRef>
                <c:f>Sheet1!$I$2:$I$8</c:f>
                <c:numCache>
                  <c:formatCode>General</c:formatCode>
                  <c:ptCount val="7"/>
                  <c:pt idx="0">
                    <c:v>46.519010110000004</c:v>
                  </c:pt>
                  <c:pt idx="1">
                    <c:v>46.575578360000002</c:v>
                  </c:pt>
                  <c:pt idx="2">
                    <c:v>0</c:v>
                  </c:pt>
                  <c:pt idx="4">
                    <c:v>25.918389650000002</c:v>
                  </c:pt>
                  <c:pt idx="5">
                    <c:v>56.659710339999997</c:v>
                  </c:pt>
                  <c:pt idx="6">
                    <c:v>0</c:v>
                  </c:pt>
                </c:numCache>
              </c:numRef>
            </c:minus>
            <c:spPr>
              <a:noFill/>
              <a:ln w="9525" cap="flat" cmpd="sng" algn="ctr">
                <a:solidFill>
                  <a:schemeClr val="tx1">
                    <a:lumMod val="65000"/>
                    <a:lumOff val="35000"/>
                  </a:schemeClr>
                </a:solidFill>
                <a:round/>
              </a:ln>
              <a:effectLst/>
            </c:spPr>
          </c:errBars>
          <c:cat>
            <c:strRef>
              <c:f>Sheet1!$B$2:$B$8</c:f>
              <c:strCache>
                <c:ptCount val="7"/>
                <c:pt idx="0">
                  <c:v>Fileserver A + Fileserver B, A is preferred</c:v>
                </c:pt>
                <c:pt idx="1">
                  <c:v>Fileserver A + Fileserver B, no preference</c:v>
                </c:pt>
                <c:pt idx="2">
                  <c:v>Fileserver A, alone</c:v>
                </c:pt>
                <c:pt idx="4">
                  <c:v>Fileserver A + Fileserver B, A is preferred</c:v>
                </c:pt>
                <c:pt idx="5">
                  <c:v>Fileserver A + Fileserver B, no preference</c:v>
                </c:pt>
                <c:pt idx="6">
                  <c:v>Fileserver A, alone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893.80499999999995</c:v>
                </c:pt>
                <c:pt idx="1">
                  <c:v>1227.6741669999999</c:v>
                </c:pt>
                <c:pt idx="2">
                  <c:v>0</c:v>
                </c:pt>
                <c:pt idx="4">
                  <c:v>807.45833330000005</c:v>
                </c:pt>
                <c:pt idx="5">
                  <c:v>930.94916669999998</c:v>
                </c:pt>
                <c:pt idx="6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0"/>
        <c:overlap val="100"/>
        <c:axId val="-1893293280"/>
        <c:axId val="-1893291648"/>
      </c:barChart>
      <c:catAx>
        <c:axId val="-1893293280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44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893291648"/>
        <c:crosses val="autoZero"/>
        <c:auto val="1"/>
        <c:lblAlgn val="ctr"/>
        <c:lblOffset val="100"/>
        <c:noMultiLvlLbl val="1"/>
      </c:catAx>
      <c:valAx>
        <c:axId val="-1893291648"/>
        <c:scaling>
          <c:orientation val="minMax"/>
          <c:max val="3000"/>
        </c:scaling>
        <c:delete val="0"/>
        <c:axPos val="b"/>
        <c:majorGridlines>
          <c:spPr>
            <a:ln w="9525" cap="flat" cmpd="sng" algn="ctr">
              <a:solidFill>
                <a:schemeClr val="bg1">
                  <a:lumMod val="50000"/>
                  <a:alpha val="10000"/>
                </a:schemeClr>
              </a:solidFill>
              <a:round/>
            </a:ln>
            <a:effectLst/>
          </c:spPr>
        </c:majorGridlines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4400" b="0" i="0" u="none" strike="noStrike" kern="1200" baseline="0">
                    <a:solidFill>
                      <a:schemeClr val="tx1">
                        <a:lumMod val="95000"/>
                        <a:lumOff val="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>
                    <a:solidFill>
                      <a:schemeClr val="tx1">
                        <a:lumMod val="95000"/>
                        <a:lumOff val="5000"/>
                      </a:schemeClr>
                    </a:solidFill>
                  </a:rPr>
                  <a:t>ops/s</a:t>
                </a:r>
              </a:p>
            </c:rich>
          </c:tx>
          <c:layout/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4400" b="0" i="0" u="none" strike="noStrike" kern="1200" baseline="0">
                  <a:solidFill>
                    <a:schemeClr val="tx1">
                      <a:lumMod val="95000"/>
                      <a:lumOff val="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out"/>
        <c:tickLblPos val="nextTo"/>
        <c:spPr>
          <a:noFill/>
          <a:ln>
            <a:solidFill>
              <a:schemeClr val="accent1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4400" b="0" i="0" u="none" strike="noStrike" kern="1200" baseline="0">
                <a:solidFill>
                  <a:schemeClr val="tx1">
                    <a:lumMod val="95000"/>
                    <a:lumOff val="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1893293280"/>
        <c:crosses val="autoZero"/>
        <c:crossBetween val="between"/>
        <c:majorUnit val="1000"/>
        <c:minorUnit val="50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14225519748408696"/>
          <c:y val="0.85034517406747667"/>
          <c:w val="0.39392809687657754"/>
          <c:h val="8.915454615079337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4400" b="0" i="0" u="none" strike="noStrike" kern="1200" baseline="0">
              <a:solidFill>
                <a:schemeClr val="tx1">
                  <a:lumMod val="95000"/>
                  <a:lumOff val="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4400"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C1324-E310-4A65-873D-9503C394914C}" type="datetimeFigureOut">
              <a:rPr lang="en-CA" smtClean="0"/>
              <a:t>2018-02-03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71713" y="1143000"/>
            <a:ext cx="23145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6575AC-4E91-4A75-A098-1BDF4FF4989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97683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576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86575AC-4E91-4A75-A098-1BDF4FF49894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413900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4094" y="0"/>
            <a:ext cx="32434306" cy="3227294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lvl="0"/>
            <a:fld id="{14F78747-2AEC-4AEC-BEAC-18205FB8368B}" type="datetime1">
              <a:rPr lang="en-US" smtClean="0"/>
              <a:pPr lvl="0"/>
              <a:t>2/3/2018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lvl="0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lvl="0"/>
            <a:fld id="{EEE383E0-CAA5-4A64-A63A-B8BE2C2D0B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37668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8000">
              <a:schemeClr val="accent1">
                <a:lumMod val="10000"/>
                <a:lumOff val="90000"/>
              </a:schemeClr>
            </a:gs>
            <a:gs pos="100000">
              <a:schemeClr val="accent5">
                <a:lumMod val="20000"/>
                <a:lumOff val="80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/>
          <p:cNvGrpSpPr/>
          <p:nvPr/>
        </p:nvGrpSpPr>
        <p:grpSpPr>
          <a:xfrm>
            <a:off x="4" y="1463040"/>
            <a:ext cx="7132320" cy="42487219"/>
            <a:chOff x="2487613" y="285750"/>
            <a:chExt cx="2428875" cy="5654676"/>
          </a:xfrm>
          <a:solidFill>
            <a:schemeClr val="tx2">
              <a:lumMod val="20000"/>
              <a:lumOff val="80000"/>
              <a:alpha val="50000"/>
            </a:schemeClr>
          </a:solidFill>
        </p:grpSpPr>
        <p:sp>
          <p:nvSpPr>
            <p:cNvPr id="37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8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39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0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1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2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3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4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5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6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7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48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grpSp>
        <p:nvGrpSpPr>
          <p:cNvPr id="49" name="Group 48"/>
          <p:cNvGrpSpPr/>
          <p:nvPr/>
        </p:nvGrpSpPr>
        <p:grpSpPr>
          <a:xfrm>
            <a:off x="73516" y="1824"/>
            <a:ext cx="7028179" cy="43858995"/>
            <a:chOff x="6627813" y="195717"/>
            <a:chExt cx="1952625" cy="5678034"/>
          </a:xfrm>
          <a:solidFill>
            <a:schemeClr val="tx2">
              <a:lumMod val="20000"/>
              <a:lumOff val="80000"/>
            </a:schemeClr>
          </a:solidFill>
        </p:grpSpPr>
        <p:sp>
          <p:nvSpPr>
            <p:cNvPr id="50" name="Freeform 27"/>
            <p:cNvSpPr/>
            <p:nvPr/>
          </p:nvSpPr>
          <p:spPr bwMode="auto">
            <a:xfrm>
              <a:off x="6627813" y="195717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1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2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3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4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5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6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7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8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59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0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grpFill/>
            <a:ln>
              <a:noFill/>
            </a:ln>
          </p:spPr>
        </p:sp>
        <p:sp>
          <p:nvSpPr>
            <p:cNvPr id="61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grpFill/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002720" y="3994304"/>
            <a:ext cx="23721120" cy="819769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92696" y="13655040"/>
            <a:ext cx="23731146" cy="248716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7980640" y="39264573"/>
            <a:ext cx="2758968" cy="236909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2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fld id="{14F78747-2AEC-4AEC-BEAC-18205FB8368B}" type="datetime1">
              <a:rPr lang="en-US" smtClean="0"/>
              <a:pPr lvl="0"/>
              <a:t>2/3/2018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992694" y="39269181"/>
            <a:ext cx="20579357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24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840421" y="5041814"/>
            <a:ext cx="2105921" cy="2336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200">
                <a:solidFill>
                  <a:srgbClr val="FEFFFF"/>
                </a:solidFill>
              </a:defRPr>
            </a:lvl1pPr>
          </a:lstStyle>
          <a:p>
            <a:pPr lvl="0"/>
            <a:fld id="{EEE383E0-CAA5-4A64-A63A-B8BE2C2D0BE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3239241"/>
            <a:ext cx="32918400" cy="54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2" name="Rectangle 61"/>
          <p:cNvSpPr/>
          <p:nvPr/>
        </p:nvSpPr>
        <p:spPr>
          <a:xfrm>
            <a:off x="0" y="0"/>
            <a:ext cx="540000" cy="43891200"/>
          </a:xfrm>
          <a:prstGeom prst="rect">
            <a:avLst/>
          </a:prstGeom>
          <a:solidFill>
            <a:schemeClr val="accent6">
              <a:lumMod val="50000"/>
              <a:alpha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34" name="Rectangle 33"/>
          <p:cNvSpPr/>
          <p:nvPr userDrawn="1"/>
        </p:nvSpPr>
        <p:spPr>
          <a:xfrm>
            <a:off x="0" y="-2"/>
            <a:ext cx="32918400" cy="3240000"/>
          </a:xfrm>
          <a:prstGeom prst="rect">
            <a:avLst/>
          </a:prstGeom>
          <a:solidFill>
            <a:schemeClr val="tx2">
              <a:alpha val="80000"/>
            </a:schemeClr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432000" bIns="432000" rtlCol="0" anchor="ctr"/>
          <a:lstStyle/>
          <a:p>
            <a:pPr algn="ctr"/>
            <a:endParaRPr lang="en-CA" sz="4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735800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iming>
    <p:tnLst>
      <p:par>
        <p:cTn id="1" dur="indefinite" restart="never" nodeType="tmRoot"/>
      </p:par>
    </p:tnLst>
  </p:timing>
  <p:txStyles>
    <p:titleStyle>
      <a:lvl1pPr algn="l" defTabSz="1645920" rtl="0" eaLnBrk="1" latinLnBrk="0" hangingPunct="1">
        <a:spcBef>
          <a:spcPct val="0"/>
        </a:spcBef>
        <a:buNone/>
        <a:defRPr sz="1296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1234440" indent="-123444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648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2674620" indent="-102870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576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411480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504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576072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4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740664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4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905256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4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069848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4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234440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4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3990320" indent="-822960" algn="l" defTabSz="1645920" rtl="0" eaLnBrk="1" latinLnBrk="0" hangingPunct="1">
        <a:spcBef>
          <a:spcPts val="3600"/>
        </a:spcBef>
        <a:spcAft>
          <a:spcPts val="0"/>
        </a:spcAft>
        <a:buClr>
          <a:schemeClr val="accent1"/>
        </a:buClr>
        <a:buFont typeface="Wingdings 3" charset="2"/>
        <a:buChar char=""/>
        <a:defRPr sz="432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1pPr>
      <a:lvl2pPr marL="164592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2pPr>
      <a:lvl3pPr marL="329184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3pPr>
      <a:lvl4pPr marL="493776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4pPr>
      <a:lvl5pPr marL="658368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5pPr>
      <a:lvl6pPr marL="822960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6pPr>
      <a:lvl7pPr marL="987552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7pPr>
      <a:lvl8pPr marL="1152144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8pPr>
      <a:lvl9pPr marL="13167360" algn="l" defTabSz="1645920" rtl="0" eaLnBrk="1" latinLnBrk="0" hangingPunct="1">
        <a:defRPr sz="64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 txBox="1"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CA" sz="8400" b="1" dirty="0" smtClean="0">
                <a:ln w="1905"/>
                <a:effectLst>
                  <a:outerShdw blurRad="38100" dist="38100" dir="2700000" algn="tl">
                    <a:schemeClr val="bg1">
                      <a:alpha val="43000"/>
                    </a:schemeClr>
                  </a:outerShdw>
                </a:effectLst>
                <a:ea typeface="Kozuka Gothic Pro M" pitchFamily="34" charset="-128"/>
                <a:cs typeface="Times New Roman" pitchFamily="18" charset="0"/>
              </a:rPr>
              <a:t>Spiffy: Enabling File-System Aware Storage Applications</a:t>
            </a:r>
            <a:endParaRPr lang="en-CA" sz="8400" dirty="0"/>
          </a:p>
        </p:txBody>
      </p:sp>
      <p:sp>
        <p:nvSpPr>
          <p:cNvPr id="5" name="TextBox 4"/>
          <p:cNvSpPr txBox="1"/>
          <p:nvPr/>
        </p:nvSpPr>
        <p:spPr>
          <a:xfrm>
            <a:off x="0" y="2343003"/>
            <a:ext cx="32918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4000" i="1" dirty="0"/>
              <a:t>University of Toronto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717629"/>
              </p:ext>
            </p:extLst>
          </p:nvPr>
        </p:nvGraphicFramePr>
        <p:xfrm>
          <a:off x="701003" y="3873707"/>
          <a:ext cx="31959788" cy="504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13448"/>
                <a:gridCol w="27646340"/>
              </a:tblGrid>
              <a:tr h="1108825">
                <a:tc>
                  <a:txBody>
                    <a:bodyPr/>
                    <a:lstStyle/>
                    <a:p>
                      <a:r>
                        <a:rPr lang="en-CA" sz="4800" b="1" i="0" dirty="0" smtClean="0">
                          <a:solidFill>
                            <a:schemeClr val="tx1"/>
                          </a:solidFill>
                        </a:rPr>
                        <a:t>Motivation:</a:t>
                      </a:r>
                      <a:endParaRPr lang="en-CA" sz="4800" b="1" i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spcBef>
                          <a:spcPts val="1000"/>
                        </a:spcBef>
                        <a:tabLst/>
                      </a:pPr>
                      <a:r>
                        <a:rPr lang="en-CA" sz="4800" b="0" dirty="0" smtClean="0">
                          <a:solidFill>
                            <a:schemeClr val="tx1"/>
                          </a:solidFill>
                        </a:rPr>
                        <a:t>Building file-system</a:t>
                      </a:r>
                      <a:r>
                        <a:rPr lang="en-CA" sz="4800" b="0" baseline="0" dirty="0" smtClean="0">
                          <a:solidFill>
                            <a:schemeClr val="tx1"/>
                          </a:solidFill>
                        </a:rPr>
                        <a:t> aware application requires detailed knowledge of file system</a:t>
                      </a:r>
                    </a:p>
                    <a:p>
                      <a:pPr marL="1570038" indent="-685800">
                        <a:spcBef>
                          <a:spcPts val="1000"/>
                        </a:spcBef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lang="en-CA" sz="4800" b="0" baseline="0" dirty="0" smtClean="0">
                          <a:solidFill>
                            <a:schemeClr val="tx1"/>
                          </a:solidFill>
                        </a:rPr>
                        <a:t>Current state-of-art involves ad-hoc processing of file system metadata structures</a:t>
                      </a:r>
                    </a:p>
                    <a:p>
                      <a:pPr marL="1570038" lvl="0" indent="-685800">
                        <a:spcBef>
                          <a:spcPts val="1000"/>
                        </a:spcBef>
                        <a:buFont typeface="Wingdings" panose="05000000000000000000" pitchFamily="2" charset="2"/>
                        <a:buChar char="§"/>
                        <a:tabLst/>
                      </a:pPr>
                      <a:r>
                        <a:rPr lang="en-CA" sz="4800" b="0" baseline="0" dirty="0" smtClean="0">
                          <a:solidFill>
                            <a:schemeClr val="tx1"/>
                          </a:solidFill>
                        </a:rPr>
                        <a:t>Cause of system instability, security vulnerability and data loss</a:t>
                      </a:r>
                      <a:endParaRPr lang="en-CA" sz="48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1108825">
                <a:tc>
                  <a:txBody>
                    <a:bodyPr/>
                    <a:lstStyle/>
                    <a:p>
                      <a:r>
                        <a:rPr lang="en-CA" sz="4800" b="1" i="1" dirty="0" smtClean="0">
                          <a:solidFill>
                            <a:schemeClr val="tx1"/>
                          </a:solidFill>
                        </a:rPr>
                        <a:t>Goal</a:t>
                      </a:r>
                      <a:r>
                        <a:rPr lang="en-CA" sz="4800" b="1" i="0" dirty="0" smtClean="0">
                          <a:solidFill>
                            <a:schemeClr val="tx1"/>
                          </a:solidFill>
                        </a:rPr>
                        <a:t>:</a:t>
                      </a:r>
                      <a:endParaRPr lang="en-CA" sz="4800" b="1" i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708025" indent="-685800">
                        <a:spcBef>
                          <a:spcPts val="10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CA" sz="4800" b="0" dirty="0" smtClean="0">
                          <a:solidFill>
                            <a:schemeClr val="tx1"/>
                          </a:solidFill>
                        </a:rPr>
                        <a:t>Reduce </a:t>
                      </a:r>
                      <a:r>
                        <a:rPr lang="en-CA" sz="4800" b="0" dirty="0" smtClean="0">
                          <a:solidFill>
                            <a:schemeClr val="tx1"/>
                          </a:solidFill>
                        </a:rPr>
                        <a:t>development</a:t>
                      </a:r>
                      <a:r>
                        <a:rPr lang="en-CA" sz="4800" b="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CA" sz="4800" b="0" dirty="0" smtClean="0">
                          <a:solidFill>
                            <a:schemeClr val="tx1"/>
                          </a:solidFill>
                        </a:rPr>
                        <a:t>effort by</a:t>
                      </a:r>
                      <a:r>
                        <a:rPr lang="en-CA" sz="4800" b="0" baseline="0" dirty="0" smtClean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CA" sz="4800" b="0" dirty="0" smtClean="0">
                          <a:solidFill>
                            <a:schemeClr val="tx1"/>
                          </a:solidFill>
                        </a:rPr>
                        <a:t>providing file</a:t>
                      </a:r>
                      <a:r>
                        <a:rPr lang="en-CA" sz="4800" b="0" baseline="0" dirty="0" smtClean="0">
                          <a:solidFill>
                            <a:schemeClr val="tx1"/>
                          </a:solidFill>
                        </a:rPr>
                        <a:t> system traversal functions</a:t>
                      </a:r>
                    </a:p>
                    <a:p>
                      <a:pPr marL="708025" indent="-685800">
                        <a:spcBef>
                          <a:spcPts val="1000"/>
                        </a:spcBef>
                        <a:buFont typeface="Arial" panose="020B0604020202020204" pitchFamily="34" charset="0"/>
                        <a:buChar char="•"/>
                        <a:tabLst/>
                      </a:pPr>
                      <a:r>
                        <a:rPr lang="en-CA" sz="4800" b="0" baseline="0" dirty="0" smtClean="0">
                          <a:solidFill>
                            <a:schemeClr val="tx1"/>
                          </a:solidFill>
                        </a:rPr>
                        <a:t>Improve robustness of file-system aware application by providing type-safe parsing</a:t>
                      </a:r>
                      <a:endParaRPr lang="en-CA" sz="4800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16459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A" sz="4800" b="1" i="1" dirty="0" smtClean="0">
                          <a:solidFill>
                            <a:schemeClr val="tx1"/>
                          </a:solidFill>
                        </a:rPr>
                        <a:t>Approach</a:t>
                      </a:r>
                      <a:r>
                        <a:rPr lang="en-CA" sz="4800" b="1" dirty="0" smtClean="0">
                          <a:solidFill>
                            <a:schemeClr val="tx1"/>
                          </a:solidFill>
                        </a:rPr>
                        <a:t>: 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685800" indent="-685800">
                        <a:spcBef>
                          <a:spcPts val="1000"/>
                        </a:spcBef>
                        <a:buFont typeface="Arial" panose="020B0604020202020204" pitchFamily="34" charset="0"/>
                        <a:buChar char="•"/>
                      </a:pPr>
                      <a:r>
                        <a:rPr lang="en-CA" sz="4800" b="0" i="0" u="none" strike="noStrike" kern="1200" baseline="0" dirty="0" smtClean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Generate file system library that provides support for interpretation, parsing, and traversal</a:t>
                      </a:r>
                      <a:endParaRPr lang="en-CA" sz="4800" b="0" i="0" u="none" strike="noStrike" kern="1200" baseline="0" dirty="0" smtClean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  <p:grpSp>
        <p:nvGrpSpPr>
          <p:cNvPr id="23" name="Group 22"/>
          <p:cNvGrpSpPr/>
          <p:nvPr/>
        </p:nvGrpSpPr>
        <p:grpSpPr>
          <a:xfrm>
            <a:off x="724273" y="9298396"/>
            <a:ext cx="23640062" cy="5364636"/>
            <a:chOff x="665279" y="9298396"/>
            <a:chExt cx="23640062" cy="5364636"/>
          </a:xfrm>
        </p:grpSpPr>
        <p:sp>
          <p:nvSpPr>
            <p:cNvPr id="125" name="TextBox 124"/>
            <p:cNvSpPr txBox="1"/>
            <p:nvPr/>
          </p:nvSpPr>
          <p:spPr>
            <a:xfrm>
              <a:off x="665279" y="9298396"/>
              <a:ext cx="23640062" cy="5364636"/>
            </a:xfrm>
            <a:prstGeom prst="rect">
              <a:avLst/>
            </a:prstGeom>
            <a:solidFill>
              <a:schemeClr val="accent4">
                <a:alpha val="50000"/>
              </a:schemeClr>
            </a:solidFill>
            <a:ln w="12700">
              <a:solidFill>
                <a:schemeClr val="accent1">
                  <a:shade val="50000"/>
                </a:schemeClr>
              </a:solidFill>
            </a:ln>
          </p:spPr>
          <p:txBody>
            <a:bodyPr wrap="square" lIns="270000" tIns="90000" rIns="0" bIns="0" rtlCol="0">
              <a:noAutofit/>
            </a:bodyPr>
            <a:lstStyle/>
            <a:p>
              <a:r>
                <a:rPr lang="en-CA" sz="6000" b="1" i="1" dirty="0" smtClean="0"/>
                <a:t>Spiffy File System Annotation Language</a:t>
              </a:r>
              <a:endParaRPr lang="en-CA" sz="6000" b="1" i="1" dirty="0"/>
            </a:p>
          </p:txBody>
        </p:sp>
        <p:sp>
          <p:nvSpPr>
            <p:cNvPr id="168" name="Rectangle 167"/>
            <p:cNvSpPr/>
            <p:nvPr/>
          </p:nvSpPr>
          <p:spPr>
            <a:xfrm>
              <a:off x="905575" y="10437598"/>
              <a:ext cx="23399766" cy="4040678"/>
            </a:xfrm>
            <a:prstGeom prst="rect">
              <a:avLst/>
            </a:prstGeom>
            <a:noFill/>
            <a:ln w="63500">
              <a:noFill/>
              <a:prstDash val="dash"/>
            </a:ln>
          </p:spPr>
          <p:txBody>
            <a:bodyPr wrap="square" lIns="270000" tIns="90000" rIns="0" bIns="0">
              <a:spAutoFit/>
            </a:bodyPr>
            <a:lstStyle/>
            <a:p>
              <a:pPr>
                <a:spcBef>
                  <a:spcPts val="1000"/>
                </a:spcBef>
              </a:pPr>
              <a:r>
                <a:rPr lang="en-CA" sz="4800" b="1" dirty="0" smtClean="0"/>
                <a:t>Idea</a:t>
              </a:r>
              <a:r>
                <a:rPr lang="en-CA" sz="4800" i="1" dirty="0" smtClean="0"/>
                <a:t>: </a:t>
              </a:r>
              <a:r>
                <a:rPr lang="en-CA" sz="4800" dirty="0" smtClean="0"/>
                <a:t>Extract file system format from structure definition (e.g. C </a:t>
              </a:r>
              <a:r>
                <a:rPr lang="en-CA" sz="4800" dirty="0" smtClean="0"/>
                <a:t>header files)</a:t>
              </a:r>
              <a:endParaRPr lang="en-CA" sz="4800" b="1" dirty="0" smtClean="0"/>
            </a:p>
            <a:p>
              <a:pPr>
                <a:spcBef>
                  <a:spcPts val="1000"/>
                </a:spcBef>
              </a:pPr>
              <a:r>
                <a:rPr lang="en-CA" sz="4800" b="1" dirty="0" smtClean="0"/>
                <a:t>Problem</a:t>
              </a:r>
              <a:r>
                <a:rPr lang="en-CA" sz="4800" i="1" dirty="0" smtClean="0"/>
                <a:t>: </a:t>
              </a:r>
              <a:r>
                <a:rPr lang="en-CA" sz="4800" dirty="0" smtClean="0"/>
                <a:t>C structure </a:t>
              </a:r>
              <a:r>
                <a:rPr lang="en-CA" sz="4800" dirty="0" smtClean="0"/>
                <a:t>definition do </a:t>
              </a:r>
              <a:r>
                <a:rPr lang="en-CA" sz="4800" i="1" dirty="0" smtClean="0"/>
                <a:t>not </a:t>
              </a:r>
              <a:r>
                <a:rPr lang="en-CA" sz="4800" dirty="0" smtClean="0"/>
                <a:t>completely </a:t>
              </a:r>
              <a:r>
                <a:rPr lang="en-CA" sz="4800" dirty="0"/>
                <a:t>describe file </a:t>
              </a:r>
              <a:r>
                <a:rPr lang="en-CA" sz="4800" dirty="0" smtClean="0"/>
                <a:t>system format. Details are </a:t>
              </a:r>
              <a:r>
                <a:rPr lang="en-CA" sz="4800" dirty="0"/>
                <a:t>hidden within </a:t>
              </a:r>
              <a:r>
                <a:rPr lang="en-CA" sz="4800" dirty="0" smtClean="0"/>
                <a:t>file </a:t>
              </a:r>
              <a:r>
                <a:rPr lang="en-CA" sz="4800" dirty="0"/>
                <a:t>system </a:t>
              </a:r>
              <a:r>
                <a:rPr lang="en-CA" sz="4800" dirty="0" smtClean="0"/>
                <a:t>source code</a:t>
              </a:r>
            </a:p>
            <a:p>
              <a:pPr>
                <a:spcBef>
                  <a:spcPts val="1000"/>
                </a:spcBef>
              </a:pPr>
              <a:r>
                <a:rPr lang="en-CA" sz="4800" b="1" dirty="0"/>
                <a:t>Annotations</a:t>
              </a:r>
              <a:r>
                <a:rPr lang="en-CA" sz="4800" dirty="0"/>
                <a:t> allows </a:t>
              </a:r>
              <a:r>
                <a:rPr lang="en-CA" sz="4800" dirty="0" smtClean="0"/>
                <a:t>file system developers </a:t>
              </a:r>
              <a:r>
                <a:rPr lang="en-CA" sz="4800" dirty="0"/>
                <a:t>to </a:t>
              </a:r>
              <a:r>
                <a:rPr lang="en-CA" sz="4800" dirty="0" smtClean="0"/>
                <a:t>specify missing information </a:t>
              </a:r>
              <a:r>
                <a:rPr lang="en-CA" sz="4800" dirty="0"/>
                <a:t>needed </a:t>
              </a:r>
              <a:r>
                <a:rPr lang="en-CA" sz="4800" dirty="0" smtClean="0"/>
                <a:t>to correctly parse and traverse file system</a:t>
              </a:r>
              <a:endParaRPr lang="en-CA" sz="4800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24902466" y="9298396"/>
            <a:ext cx="7256877" cy="9533798"/>
            <a:chOff x="25256429" y="9298396"/>
            <a:chExt cx="7256877" cy="9533798"/>
          </a:xfrm>
        </p:grpSpPr>
        <p:sp>
          <p:nvSpPr>
            <p:cNvPr id="108" name="Rounded Rectangle 107"/>
            <p:cNvSpPr>
              <a:spLocks/>
            </p:cNvSpPr>
            <p:nvPr/>
          </p:nvSpPr>
          <p:spPr>
            <a:xfrm>
              <a:off x="29273306" y="9298396"/>
              <a:ext cx="3240000" cy="2305075"/>
            </a:xfrm>
            <a:prstGeom prst="roundRect">
              <a:avLst/>
            </a:prstGeom>
            <a:solidFill>
              <a:schemeClr val="accent3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432000" bIns="432000" rtlCol="0" anchor="ctr"/>
            <a:lstStyle/>
            <a:p>
              <a:pPr algn="ctr"/>
              <a:r>
                <a:rPr lang="en-US" altLang="zh-TW" sz="3200" dirty="0">
                  <a:solidFill>
                    <a:schemeClr val="bg1"/>
                  </a:solidFill>
                </a:rPr>
                <a:t>Annotated</a:t>
              </a:r>
            </a:p>
            <a:p>
              <a:pPr algn="ctr"/>
              <a:r>
                <a:rPr lang="en-US" altLang="zh-TW" sz="3200" dirty="0">
                  <a:solidFill>
                    <a:schemeClr val="bg1"/>
                  </a:solidFill>
                </a:rPr>
                <a:t>File System</a:t>
              </a:r>
              <a:r>
                <a:rPr lang="zh-TW" altLang="en-US" sz="3200" dirty="0">
                  <a:solidFill>
                    <a:schemeClr val="bg1"/>
                  </a:solidFill>
                </a:rPr>
                <a:t> </a:t>
              </a:r>
              <a:r>
                <a:rPr lang="en-CA" altLang="zh-TW" sz="3200" dirty="0" smtClean="0">
                  <a:solidFill>
                    <a:schemeClr val="bg1"/>
                  </a:solidFill>
                </a:rPr>
                <a:t>Structures</a:t>
              </a:r>
              <a:endParaRPr lang="en-US" altLang="zh-TW" sz="3200" dirty="0">
                <a:solidFill>
                  <a:schemeClr val="bg1"/>
                </a:solidFill>
              </a:endParaRPr>
            </a:p>
          </p:txBody>
        </p:sp>
        <p:sp>
          <p:nvSpPr>
            <p:cNvPr id="109" name="Rectangle 108"/>
            <p:cNvSpPr>
              <a:spLocks/>
            </p:cNvSpPr>
            <p:nvPr/>
          </p:nvSpPr>
          <p:spPr>
            <a:xfrm>
              <a:off x="29273306" y="12912757"/>
              <a:ext cx="3240000" cy="230507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432000" bIns="432000" rtlCol="0" anchor="ctr"/>
            <a:lstStyle/>
            <a:p>
              <a:pPr algn="ctr"/>
              <a:r>
                <a:rPr lang="en-CA" altLang="zh-TW" sz="3200" dirty="0">
                  <a:solidFill>
                    <a:schemeClr val="tx1"/>
                  </a:solidFill>
                </a:rPr>
                <a:t>File System</a:t>
              </a:r>
            </a:p>
            <a:p>
              <a:pPr algn="ctr"/>
              <a:r>
                <a:rPr lang="en-CA" altLang="zh-TW" sz="3200" dirty="0">
                  <a:solidFill>
                    <a:schemeClr val="tx1"/>
                  </a:solidFill>
                </a:rPr>
                <a:t>Annotation</a:t>
              </a:r>
            </a:p>
            <a:p>
              <a:pPr algn="ctr"/>
              <a:r>
                <a:rPr lang="en-CA" altLang="zh-TW" sz="3200" dirty="0" smtClean="0">
                  <a:solidFill>
                    <a:schemeClr val="tx1"/>
                  </a:solidFill>
                </a:rPr>
                <a:t>Compiler</a:t>
              </a:r>
              <a:endParaRPr lang="en-US" altLang="zh-TW" sz="3200" dirty="0">
                <a:solidFill>
                  <a:schemeClr val="tx1"/>
                </a:solidFill>
              </a:endParaRPr>
            </a:p>
          </p:txBody>
        </p:sp>
        <p:sp>
          <p:nvSpPr>
            <p:cNvPr id="111" name="Rounded Rectangle 110"/>
            <p:cNvSpPr>
              <a:spLocks/>
            </p:cNvSpPr>
            <p:nvPr/>
          </p:nvSpPr>
          <p:spPr>
            <a:xfrm>
              <a:off x="25256429" y="9313907"/>
              <a:ext cx="3240000" cy="2305075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32000" rIns="0" bIns="432000" rtlCol="0" anchor="ctr"/>
            <a:lstStyle/>
            <a:p>
              <a:pPr algn="ctr"/>
              <a:r>
                <a:rPr lang="en-CA" altLang="zh-TW" sz="3200" dirty="0" smtClean="0">
                  <a:solidFill>
                    <a:schemeClr val="bg1"/>
                  </a:solidFill>
                </a:rPr>
                <a:t>File-System</a:t>
              </a:r>
            </a:p>
            <a:p>
              <a:pPr algn="ctr"/>
              <a:r>
                <a:rPr lang="en-CA" altLang="zh-TW" sz="3200" dirty="0" smtClean="0">
                  <a:solidFill>
                    <a:schemeClr val="bg1"/>
                  </a:solidFill>
                </a:rPr>
                <a:t>Specific</a:t>
              </a:r>
            </a:p>
            <a:p>
              <a:pPr algn="ctr"/>
              <a:r>
                <a:rPr lang="en-CA" altLang="zh-TW" sz="3200" dirty="0" smtClean="0">
                  <a:solidFill>
                    <a:schemeClr val="bg1"/>
                  </a:solidFill>
                </a:rPr>
                <a:t>Policies</a:t>
              </a:r>
              <a:endParaRPr lang="en-US" altLang="zh-TW" sz="3200" dirty="0">
                <a:solidFill>
                  <a:schemeClr val="bg1"/>
                </a:solidFill>
              </a:endParaRPr>
            </a:p>
          </p:txBody>
        </p:sp>
        <p:sp>
          <p:nvSpPr>
            <p:cNvPr id="116" name="Rounded Rectangle 115"/>
            <p:cNvSpPr>
              <a:spLocks/>
            </p:cNvSpPr>
            <p:nvPr/>
          </p:nvSpPr>
          <p:spPr>
            <a:xfrm>
              <a:off x="29273306" y="16527119"/>
              <a:ext cx="3240000" cy="2305075"/>
            </a:xfrm>
            <a:prstGeom prst="roundRect">
              <a:avLst/>
            </a:prstGeom>
            <a:solidFill>
              <a:schemeClr val="accent3">
                <a:lumMod val="50000"/>
              </a:schemeClr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32000" rIns="0" bIns="432000" rtlCol="0" anchor="ctr"/>
            <a:lstStyle/>
            <a:p>
              <a:pPr algn="ctr"/>
              <a:r>
                <a:rPr lang="en-CA" altLang="zh-TW" sz="3200" dirty="0">
                  <a:solidFill>
                    <a:schemeClr val="bg1"/>
                  </a:solidFill>
                </a:rPr>
                <a:t>File System Metadata Library</a:t>
              </a:r>
              <a:endParaRPr lang="en-US" altLang="zh-TW" sz="3200" dirty="0">
                <a:solidFill>
                  <a:schemeClr val="bg1"/>
                </a:solidFill>
              </a:endParaRPr>
            </a:p>
          </p:txBody>
        </p:sp>
        <p:sp>
          <p:nvSpPr>
            <p:cNvPr id="117" name="Rounded Rectangle 116"/>
            <p:cNvSpPr>
              <a:spLocks/>
            </p:cNvSpPr>
            <p:nvPr/>
          </p:nvSpPr>
          <p:spPr>
            <a:xfrm>
              <a:off x="25256429" y="16527119"/>
              <a:ext cx="3240000" cy="2305075"/>
            </a:xfrm>
            <a:prstGeom prst="roundRect">
              <a:avLst/>
            </a:prstGeom>
            <a:solidFill>
              <a:schemeClr val="bg2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32000" rIns="0" bIns="432000" rtlCol="0" anchor="ctr"/>
            <a:lstStyle/>
            <a:p>
              <a:pPr algn="ctr"/>
              <a:r>
                <a:rPr lang="en-CA" altLang="zh-TW" sz="3200" dirty="0" smtClean="0">
                  <a:solidFill>
                    <a:schemeClr val="bg1"/>
                  </a:solidFill>
                </a:rPr>
                <a:t>Generic</a:t>
              </a:r>
            </a:p>
            <a:p>
              <a:pPr algn="ctr"/>
              <a:r>
                <a:rPr lang="en-CA" altLang="zh-TW" sz="3200" dirty="0" smtClean="0">
                  <a:solidFill>
                    <a:schemeClr val="bg1"/>
                  </a:solidFill>
                </a:rPr>
                <a:t>Application</a:t>
              </a:r>
              <a:endParaRPr lang="en-CA" altLang="zh-TW" sz="3200" dirty="0">
                <a:solidFill>
                  <a:schemeClr val="bg1"/>
                </a:solidFill>
              </a:endParaRPr>
            </a:p>
            <a:p>
              <a:pPr algn="ctr"/>
              <a:r>
                <a:rPr lang="en-CA" altLang="zh-TW" sz="3200" dirty="0" smtClean="0">
                  <a:solidFill>
                    <a:schemeClr val="bg1"/>
                  </a:solidFill>
                </a:rPr>
                <a:t>Framework</a:t>
              </a:r>
              <a:endParaRPr lang="en-US" altLang="zh-TW" sz="3200" dirty="0">
                <a:solidFill>
                  <a:schemeClr val="bg1"/>
                </a:solidFill>
              </a:endParaRPr>
            </a:p>
          </p:txBody>
        </p:sp>
        <p:sp>
          <p:nvSpPr>
            <p:cNvPr id="120" name="Rounded Rectangle 119"/>
            <p:cNvSpPr>
              <a:spLocks/>
            </p:cNvSpPr>
            <p:nvPr/>
          </p:nvSpPr>
          <p:spPr>
            <a:xfrm>
              <a:off x="25256429" y="12920514"/>
              <a:ext cx="3240000" cy="2305075"/>
            </a:xfrm>
            <a:prstGeom prst="roundRect">
              <a:avLst/>
            </a:prstGeom>
            <a:solidFill>
              <a:schemeClr val="accent2">
                <a:lumMod val="60000"/>
                <a:lumOff val="40000"/>
              </a:schemeClr>
            </a:solidFill>
            <a:ln w="635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432000" rIns="0" bIns="432000" rtlCol="0" anchor="ctr"/>
            <a:lstStyle/>
            <a:p>
              <a:pPr algn="ctr"/>
              <a:r>
                <a:rPr lang="en-CA" altLang="zh-TW" sz="3200" b="1" dirty="0">
                  <a:solidFill>
                    <a:schemeClr val="tx1"/>
                  </a:solidFill>
                </a:rPr>
                <a:t>File </a:t>
              </a:r>
              <a:r>
                <a:rPr lang="en-CA" altLang="zh-TW" sz="3200" b="1" dirty="0" smtClean="0">
                  <a:solidFill>
                    <a:schemeClr val="tx1"/>
                  </a:solidFill>
                </a:rPr>
                <a:t>System</a:t>
              </a:r>
            </a:p>
            <a:p>
              <a:pPr algn="ctr"/>
              <a:r>
                <a:rPr lang="en-CA" altLang="zh-TW" sz="3200" b="1" dirty="0" smtClean="0">
                  <a:solidFill>
                    <a:schemeClr val="tx1"/>
                  </a:solidFill>
                </a:rPr>
                <a:t>Tool</a:t>
              </a:r>
              <a:endParaRPr lang="en-US" altLang="zh-TW" sz="3200" b="1" dirty="0">
                <a:solidFill>
                  <a:schemeClr val="tx1"/>
                </a:solidFill>
              </a:endParaRPr>
            </a:p>
          </p:txBody>
        </p:sp>
        <p:sp>
          <p:nvSpPr>
            <p:cNvPr id="169" name="Right Arrow 168"/>
            <p:cNvSpPr/>
            <p:nvPr/>
          </p:nvSpPr>
          <p:spPr>
            <a:xfrm rot="5400000">
              <a:off x="30443306" y="11928342"/>
              <a:ext cx="900000" cy="659544"/>
            </a:xfrm>
            <a:prstGeom prst="rightArrow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432000" bIns="432000" rtlCol="0" anchor="ctr"/>
            <a:lstStyle/>
            <a:p>
              <a:pPr algn="ctr"/>
              <a:endParaRPr lang="en-CA" sz="3200" dirty="0">
                <a:solidFill>
                  <a:schemeClr val="tx1"/>
                </a:solidFill>
              </a:endParaRPr>
            </a:p>
          </p:txBody>
        </p:sp>
        <p:sp>
          <p:nvSpPr>
            <p:cNvPr id="170" name="Right Arrow 169"/>
            <p:cNvSpPr/>
            <p:nvPr/>
          </p:nvSpPr>
          <p:spPr>
            <a:xfrm rot="5400000">
              <a:off x="30443306" y="15542703"/>
              <a:ext cx="900000" cy="659544"/>
            </a:xfrm>
            <a:prstGeom prst="rightArrow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432000" bIns="432000" rtlCol="0" anchor="ctr"/>
            <a:lstStyle/>
            <a:p>
              <a:pPr algn="ctr"/>
              <a:endParaRPr lang="en-CA" sz="3200" dirty="0">
                <a:solidFill>
                  <a:schemeClr val="tx1"/>
                </a:solidFill>
              </a:endParaRPr>
            </a:p>
          </p:txBody>
        </p:sp>
        <p:sp>
          <p:nvSpPr>
            <p:cNvPr id="171" name="Right Arrow 170"/>
            <p:cNvSpPr/>
            <p:nvPr/>
          </p:nvSpPr>
          <p:spPr>
            <a:xfrm rot="5400000">
              <a:off x="26426429" y="11939976"/>
              <a:ext cx="900000" cy="659544"/>
            </a:xfrm>
            <a:prstGeom prst="rightArrow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432000" bIns="432000" rtlCol="0" anchor="ctr"/>
            <a:lstStyle/>
            <a:p>
              <a:pPr algn="ctr"/>
              <a:endParaRPr lang="en-CA" sz="3200" dirty="0">
                <a:solidFill>
                  <a:schemeClr val="tx1"/>
                </a:solidFill>
              </a:endParaRPr>
            </a:p>
          </p:txBody>
        </p:sp>
        <p:sp>
          <p:nvSpPr>
            <p:cNvPr id="172" name="Right Arrow 171"/>
            <p:cNvSpPr/>
            <p:nvPr/>
          </p:nvSpPr>
          <p:spPr>
            <a:xfrm rot="16200000">
              <a:off x="26426429" y="15546583"/>
              <a:ext cx="900000" cy="659544"/>
            </a:xfrm>
            <a:prstGeom prst="rightArrow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432000" bIns="432000" rtlCol="0" anchor="ctr"/>
            <a:lstStyle/>
            <a:p>
              <a:pPr algn="ctr"/>
              <a:endParaRPr lang="en-CA" sz="3200" dirty="0">
                <a:solidFill>
                  <a:schemeClr val="tx1"/>
                </a:solidFill>
              </a:endParaRPr>
            </a:p>
          </p:txBody>
        </p:sp>
        <p:sp>
          <p:nvSpPr>
            <p:cNvPr id="183" name="Right Arrow 182"/>
            <p:cNvSpPr/>
            <p:nvPr/>
          </p:nvSpPr>
          <p:spPr>
            <a:xfrm rot="13500000">
              <a:off x="28434868" y="15515141"/>
              <a:ext cx="900000" cy="659544"/>
            </a:xfrm>
            <a:prstGeom prst="rightArrow">
              <a:avLst/>
            </a:prstGeom>
            <a:solidFill>
              <a:schemeClr val="bg1"/>
            </a:solidFill>
            <a:ln w="254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432000" bIns="432000" rtlCol="0" anchor="ctr"/>
            <a:lstStyle/>
            <a:p>
              <a:pPr algn="ctr"/>
              <a:endParaRPr lang="en-CA" sz="3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88" name="Group 187"/>
          <p:cNvGrpSpPr/>
          <p:nvPr/>
        </p:nvGrpSpPr>
        <p:grpSpPr>
          <a:xfrm>
            <a:off x="958881" y="19095131"/>
            <a:ext cx="15919419" cy="10394269"/>
            <a:chOff x="18364271" y="27304947"/>
            <a:chExt cx="15919419" cy="10394269"/>
          </a:xfrm>
        </p:grpSpPr>
        <p:sp>
          <p:nvSpPr>
            <p:cNvPr id="189" name="Rectangle 188"/>
            <p:cNvSpPr/>
            <p:nvPr/>
          </p:nvSpPr>
          <p:spPr>
            <a:xfrm>
              <a:off x="18369932" y="28074388"/>
              <a:ext cx="15913758" cy="9624828"/>
            </a:xfrm>
            <a:prstGeom prst="rect">
              <a:avLst/>
            </a:prstGeom>
            <a:solidFill>
              <a:schemeClr val="accent3">
                <a:lumMod val="40000"/>
                <a:lumOff val="60000"/>
                <a:alpha val="90000"/>
              </a:schemeClr>
            </a:solidFill>
            <a:ln w="63500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 anchorCtr="0"/>
            <a:lstStyle/>
            <a:p>
              <a:r>
                <a:rPr lang="en-CA" sz="3800" b="1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FSSUPER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CA" sz="3800" dirty="0">
                  <a:solidFill>
                    <a:schemeClr val="accent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location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</a:t>
              </a:r>
              <a:r>
                <a:rPr lang="en-CA" sz="3800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1024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 ext4_super_block {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CA" sz="3800" dirty="0">
                  <a:solidFill>
                    <a:schemeClr val="accent6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__le32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lang="en-CA" sz="38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s_blocks_count</a:t>
              </a:r>
              <a:r>
                <a:rPr lang="en-CA" sz="38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CA" sz="3800" dirty="0">
                  <a:solidFill>
                    <a:schemeClr val="accent6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__le32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s_log_block_size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CA" sz="3800" dirty="0">
                  <a:solidFill>
                    <a:schemeClr val="accent6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__le32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s_blocks_per_group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…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CA" sz="3800" dirty="0">
                  <a:solidFill>
                    <a:schemeClr val="accent6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__le16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lang="en-CA" sz="38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s_magic</a:t>
              </a:r>
              <a:r>
                <a:rPr lang="en-CA" sz="38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CA" sz="3800" b="1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FIELD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CA" sz="3800" dirty="0">
                  <a:solidFill>
                    <a:schemeClr val="accent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type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enum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ext4_os)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CA" sz="3800" dirty="0">
                  <a:solidFill>
                    <a:schemeClr val="accent6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__le32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	</a:t>
              </a:r>
              <a:r>
                <a:rPr lang="en-CA" sz="3800" dirty="0" err="1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s_creator_os</a:t>
              </a:r>
              <a:r>
                <a:rPr lang="en-CA" sz="3800" dirty="0">
                  <a:solidFill>
                    <a:schemeClr val="tx1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…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CA" sz="3800" b="1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POINTER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CA" sz="3800" dirty="0">
                  <a:solidFill>
                    <a:schemeClr val="accent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name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s_block_group_desc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,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CA" sz="3800" dirty="0" smtClean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CA" sz="3800" dirty="0" smtClean="0">
                  <a:solidFill>
                    <a:schemeClr val="accent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type</a:t>
              </a:r>
              <a:r>
                <a:rPr lang="en-CA" sz="3800" dirty="0" smtClean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=ext4_group_desc_table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, 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aspc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=block, 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CA" sz="3800" dirty="0" smtClean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    </a:t>
              </a:r>
              <a:r>
                <a:rPr lang="en-CA" sz="3800" dirty="0" smtClean="0">
                  <a:solidFill>
                    <a:schemeClr val="accent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expr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=(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self.s_log_block_size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== </a:t>
              </a:r>
              <a:r>
                <a:rPr lang="en-CA" sz="3800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 ? </a:t>
              </a:r>
              <a:r>
                <a:rPr lang="en-CA" sz="3800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2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: </a:t>
              </a:r>
              <a:r>
                <a:rPr lang="en-CA" sz="3800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CA" sz="3800" dirty="0">
                  <a:solidFill>
                    <a:srgbClr val="00B05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/* maximum supported block size is 64KB */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CA" sz="3800" b="1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CHECK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CA" sz="3800" dirty="0">
                  <a:solidFill>
                    <a:schemeClr val="accent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expr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self.s_log_block_size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&lt;= </a:t>
              </a:r>
              <a:r>
                <a:rPr lang="en-CA" sz="3800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</a:t>
              </a:r>
              <a:r>
                <a:rPr lang="en-CA" sz="3800" b="1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CHECK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CA" sz="3800" dirty="0">
                  <a:solidFill>
                    <a:schemeClr val="accent3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expr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=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self.s_magic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== </a:t>
              </a:r>
              <a:r>
                <a:rPr lang="en-CA" sz="3800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0xef53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};</a:t>
              </a:r>
              <a:endParaRPr lang="en-CA" sz="38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191" name="TextBox 190"/>
            <p:cNvSpPr txBox="1"/>
            <p:nvPr/>
          </p:nvSpPr>
          <p:spPr>
            <a:xfrm>
              <a:off x="18364271" y="27304947"/>
              <a:ext cx="10397398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 b="1" dirty="0" smtClean="0"/>
                <a:t>Example: Annotated Ext4 Super Block</a:t>
              </a:r>
              <a:endParaRPr lang="en-CA" sz="4400" b="1" dirty="0"/>
            </a:p>
          </p:txBody>
        </p:sp>
      </p:grpSp>
      <p:sp>
        <p:nvSpPr>
          <p:cNvPr id="192" name="TextBox 191"/>
          <p:cNvSpPr txBox="1"/>
          <p:nvPr/>
        </p:nvSpPr>
        <p:spPr>
          <a:xfrm>
            <a:off x="832350" y="30930093"/>
            <a:ext cx="196654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685800" indent="-685800">
              <a:buFont typeface="Wingdings" panose="05000000000000000000" pitchFamily="2" charset="2"/>
              <a:buChar char="v"/>
            </a:pPr>
            <a:r>
              <a:rPr lang="en-CA" sz="4800" dirty="0" smtClean="0"/>
              <a:t>Operates directly on file system metadata, </a:t>
            </a:r>
            <a:r>
              <a:rPr lang="en-CA" sz="4800" dirty="0"/>
              <a:t>b</a:t>
            </a:r>
            <a:r>
              <a:rPr lang="en-CA" sz="4800" dirty="0" smtClean="0"/>
              <a:t>ypasses VFS layer</a:t>
            </a:r>
            <a:endParaRPr lang="en-CA" sz="4800" dirty="0" smtClean="0"/>
          </a:p>
        </p:txBody>
      </p:sp>
      <p:sp>
        <p:nvSpPr>
          <p:cNvPr id="194" name="TextBox 193"/>
          <p:cNvSpPr txBox="1"/>
          <p:nvPr/>
        </p:nvSpPr>
        <p:spPr>
          <a:xfrm>
            <a:off x="832350" y="29758051"/>
            <a:ext cx="15477314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A" sz="6600" b="1" dirty="0" smtClean="0"/>
              <a:t>Spiffy File-System Aware Applications</a:t>
            </a:r>
            <a:endParaRPr lang="en-CA" sz="6600" b="1" dirty="0"/>
          </a:p>
        </p:txBody>
      </p:sp>
      <p:sp>
        <p:nvSpPr>
          <p:cNvPr id="196" name="Rectangle 195"/>
          <p:cNvSpPr/>
          <p:nvPr/>
        </p:nvSpPr>
        <p:spPr>
          <a:xfrm>
            <a:off x="959013" y="31812039"/>
            <a:ext cx="19538787" cy="5283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sz="5400" i="1" dirty="0"/>
              <a:t>Block </a:t>
            </a:r>
            <a:r>
              <a:rPr lang="en-CA" sz="5400" i="1" dirty="0" smtClean="0"/>
              <a:t>Layer </a:t>
            </a:r>
            <a:r>
              <a:rPr lang="en-CA" sz="5400" i="1" dirty="0"/>
              <a:t>Metadata </a:t>
            </a:r>
            <a:r>
              <a:rPr lang="en-CA" sz="5400" i="1" dirty="0" smtClean="0"/>
              <a:t>Interpretation</a:t>
            </a:r>
            <a:endParaRPr lang="en-CA" sz="1000" i="1" dirty="0"/>
          </a:p>
          <a:p>
            <a:pPr marL="723900" lvl="1" indent="-6858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4800" dirty="0"/>
              <a:t>Intercepts and interprets block type during </a:t>
            </a:r>
            <a:r>
              <a:rPr lang="en-CA" sz="4800" dirty="0" smtClean="0"/>
              <a:t>runtime</a:t>
            </a:r>
            <a:r>
              <a:rPr lang="en-CA" sz="4800" dirty="0"/>
              <a:t>, while the file system is </a:t>
            </a:r>
            <a:r>
              <a:rPr lang="en-CA" sz="4800" dirty="0" smtClean="0"/>
              <a:t>mounted, without any modification to file system</a:t>
            </a:r>
            <a:endParaRPr lang="en-CA" sz="4800" dirty="0"/>
          </a:p>
          <a:p>
            <a:pPr marL="38100" lvl="1">
              <a:spcBef>
                <a:spcPts val="1000"/>
              </a:spcBef>
            </a:pPr>
            <a:endParaRPr lang="en-CA" sz="400" dirty="0" smtClean="0"/>
          </a:p>
          <a:p>
            <a:r>
              <a:rPr lang="en-CA" sz="5400" i="1" dirty="0"/>
              <a:t>Prioritized Block Layer Cache</a:t>
            </a:r>
            <a:endParaRPr lang="en-CA" sz="1000" i="1" dirty="0"/>
          </a:p>
          <a:p>
            <a:pPr marL="723900" lvl="1" indent="-6858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4800" dirty="0"/>
              <a:t>Preferentially caches data </a:t>
            </a:r>
            <a:r>
              <a:rPr lang="en-CA" sz="4800" dirty="0" smtClean="0"/>
              <a:t>blocks for </a:t>
            </a:r>
            <a:r>
              <a:rPr lang="en-CA" sz="4800" dirty="0"/>
              <a:t>prioritized users</a:t>
            </a:r>
          </a:p>
          <a:p>
            <a:pPr marL="723900" lvl="1" indent="-6858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4800" dirty="0"/>
              <a:t>Experiment shows </a:t>
            </a:r>
            <a:r>
              <a:rPr lang="en-CA" sz="4800" dirty="0" smtClean="0"/>
              <a:t>improvement in overall throughput</a:t>
            </a:r>
            <a:endParaRPr lang="en-CA" sz="4800" dirty="0"/>
          </a:p>
        </p:txBody>
      </p:sp>
      <p:grpSp>
        <p:nvGrpSpPr>
          <p:cNvPr id="205" name="Group 204"/>
          <p:cNvGrpSpPr/>
          <p:nvPr/>
        </p:nvGrpSpPr>
        <p:grpSpPr>
          <a:xfrm>
            <a:off x="17411699" y="19095131"/>
            <a:ext cx="14747644" cy="10394269"/>
            <a:chOff x="18364271" y="27304947"/>
            <a:chExt cx="12816609" cy="10394269"/>
          </a:xfrm>
        </p:grpSpPr>
        <p:sp>
          <p:nvSpPr>
            <p:cNvPr id="214" name="Rectangle 213"/>
            <p:cNvSpPr/>
            <p:nvPr/>
          </p:nvSpPr>
          <p:spPr>
            <a:xfrm>
              <a:off x="18369932" y="28074388"/>
              <a:ext cx="12810948" cy="9624828"/>
            </a:xfrm>
            <a:prstGeom prst="rect">
              <a:avLst/>
            </a:prstGeom>
            <a:solidFill>
              <a:schemeClr val="accent3">
                <a:lumMod val="40000"/>
                <a:lumOff val="60000"/>
                <a:alpha val="90000"/>
              </a:schemeClr>
            </a:solidFill>
            <a:ln w="63500">
              <a:solidFill>
                <a:schemeClr val="accent2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t" anchorCtr="0"/>
            <a:lstStyle/>
            <a:p>
              <a:r>
                <a:rPr lang="en-CA" sz="3800" dirty="0" err="1">
                  <a:solidFill>
                    <a:schemeClr val="accent6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CA" sz="3800" b="1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parse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CA" sz="3800" dirty="0" err="1">
                  <a:solidFill>
                    <a:schemeClr val="accent6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const</a:t>
              </a:r>
              <a:r>
                <a:rPr lang="en-CA" sz="3800" dirty="0">
                  <a:solidFill>
                    <a:schemeClr val="accent6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char 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* &amp; 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buf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, </a:t>
              </a:r>
              <a:r>
                <a:rPr lang="en-CA" sz="3800" dirty="0">
                  <a:solidFill>
                    <a:schemeClr val="accent6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unsigned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&amp; 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len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 {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CA" sz="3800" dirty="0">
                  <a:solidFill>
                    <a:schemeClr val="accent6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CA" sz="3800" dirty="0" err="1">
                  <a:solidFill>
                    <a:schemeClr val="accent6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int</a:t>
              </a:r>
              <a:r>
                <a:rPr lang="en-CA" sz="3800" dirty="0">
                  <a:solidFill>
                    <a:schemeClr val="accent6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</a:t>
              </a:r>
              <a:r>
                <a:rPr lang="en-CA" sz="3800" dirty="0" smtClean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ret = </a:t>
              </a:r>
              <a:r>
                <a:rPr lang="en-CA" sz="3800" dirty="0" err="1" smtClean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s_blocks_count.parse</a:t>
              </a:r>
              <a:r>
                <a:rPr lang="en-CA" sz="3800" dirty="0" smtClean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CA" sz="3800" dirty="0" err="1" smtClean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buf</a:t>
              </a:r>
              <a:r>
                <a:rPr lang="en-CA" sz="3800" dirty="0" smtClean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, </a:t>
              </a:r>
              <a:r>
                <a:rPr lang="en-CA" sz="3800" dirty="0" err="1" smtClean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len</a:t>
              </a:r>
              <a:r>
                <a:rPr lang="en-CA" sz="3800" dirty="0" smtClean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);</a:t>
              </a:r>
              <a:endParaRPr lang="en-CA" sz="38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if </a:t>
              </a:r>
              <a:r>
                <a:rPr lang="en-CA" sz="3800" dirty="0" smtClean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(ret &lt; </a:t>
              </a:r>
              <a:r>
                <a:rPr lang="en-CA" sz="3800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 return ret;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ret = 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s_log_block_size.parse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buf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, 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len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if (ret &lt; </a:t>
              </a:r>
              <a:r>
                <a:rPr lang="en-CA" sz="3800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 return ret;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…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ret = 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s_creator_os.parse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buf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, 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len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if (ret &lt; </a:t>
              </a:r>
              <a:r>
                <a:rPr lang="en-CA" sz="3800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 return ret;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ret = 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s_block_group_desc.parse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(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buf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, 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len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if (ret &lt; </a:t>
              </a:r>
              <a:r>
                <a:rPr lang="en-CA" sz="3800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 return ret;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if (!(this-&gt;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s_log_block_size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&lt;= </a:t>
              </a:r>
              <a:r>
                <a:rPr lang="en-CA" sz="3800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6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))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return ERR_CORRUPT;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if (!(this-&gt;</a:t>
              </a:r>
              <a:r>
                <a:rPr lang="en-CA" sz="3800" dirty="0" err="1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s_magic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== </a:t>
              </a:r>
              <a:r>
                <a:rPr lang="en-CA" sz="3800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0xef53</a:t>
              </a:r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))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  return ERR_CORRUPT;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  return 0;</a:t>
              </a:r>
            </a:p>
            <a:p>
              <a:r>
                <a:rPr lang="en-CA" sz="3800" dirty="0">
                  <a:solidFill>
                    <a:schemeClr val="accent6">
                      <a:lumMod val="75000"/>
                    </a:schemeClr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}</a:t>
              </a:r>
              <a:endParaRPr lang="en-CA" sz="38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sp>
          <p:nvSpPr>
            <p:cNvPr id="215" name="TextBox 214"/>
            <p:cNvSpPr txBox="1"/>
            <p:nvPr/>
          </p:nvSpPr>
          <p:spPr>
            <a:xfrm>
              <a:off x="18364271" y="27304947"/>
              <a:ext cx="6983002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A" sz="4400" b="1" dirty="0" smtClean="0"/>
                <a:t>Generated Parsing Code</a:t>
              </a:r>
              <a:endParaRPr lang="en-CA" sz="4400" b="1" dirty="0"/>
            </a:p>
          </p:txBody>
        </p:sp>
      </p:grpSp>
      <p:grpSp>
        <p:nvGrpSpPr>
          <p:cNvPr id="216" name="Group 215"/>
          <p:cNvGrpSpPr/>
          <p:nvPr/>
        </p:nvGrpSpPr>
        <p:grpSpPr>
          <a:xfrm>
            <a:off x="724273" y="14981997"/>
            <a:ext cx="23640062" cy="3814582"/>
            <a:chOff x="665279" y="9184600"/>
            <a:chExt cx="23640062" cy="3814582"/>
          </a:xfrm>
        </p:grpSpPr>
        <p:sp>
          <p:nvSpPr>
            <p:cNvPr id="218" name="TextBox 217"/>
            <p:cNvSpPr txBox="1"/>
            <p:nvPr/>
          </p:nvSpPr>
          <p:spPr>
            <a:xfrm>
              <a:off x="665279" y="9184600"/>
              <a:ext cx="23640062" cy="3814582"/>
            </a:xfrm>
            <a:prstGeom prst="rect">
              <a:avLst/>
            </a:prstGeom>
            <a:solidFill>
              <a:schemeClr val="accent4">
                <a:alpha val="50000"/>
              </a:schemeClr>
            </a:solidFill>
            <a:ln w="12700">
              <a:solidFill>
                <a:schemeClr val="accent1">
                  <a:shade val="50000"/>
                </a:schemeClr>
              </a:solidFill>
            </a:ln>
          </p:spPr>
          <p:txBody>
            <a:bodyPr wrap="square" lIns="270000" tIns="90000" rIns="0" bIns="0" rtlCol="0">
              <a:noAutofit/>
            </a:bodyPr>
            <a:lstStyle/>
            <a:p>
              <a:r>
                <a:rPr lang="en-CA" sz="6000" b="1" i="1" dirty="0" smtClean="0"/>
                <a:t>Spiffy File System Metadata Library</a:t>
              </a:r>
              <a:endParaRPr lang="en-CA" sz="6000" b="1" i="1" dirty="0"/>
            </a:p>
          </p:txBody>
        </p:sp>
        <p:sp>
          <p:nvSpPr>
            <p:cNvPr id="219" name="Rectangle 218"/>
            <p:cNvSpPr/>
            <p:nvPr/>
          </p:nvSpPr>
          <p:spPr>
            <a:xfrm>
              <a:off x="905575" y="10281921"/>
              <a:ext cx="23399766" cy="2563351"/>
            </a:xfrm>
            <a:prstGeom prst="rect">
              <a:avLst/>
            </a:prstGeom>
            <a:noFill/>
            <a:ln w="63500">
              <a:noFill/>
              <a:prstDash val="dash"/>
            </a:ln>
          </p:spPr>
          <p:txBody>
            <a:bodyPr wrap="square" lIns="270000" tIns="90000" rIns="0" bIns="0">
              <a:spAutoFit/>
            </a:bodyPr>
            <a:lstStyle/>
            <a:p>
              <a:pPr marL="685800" indent="-685800">
                <a:spcBef>
                  <a:spcPts val="1000"/>
                </a:spcBef>
                <a:buFont typeface="Arial" panose="020B0604020202020204" pitchFamily="34" charset="0"/>
                <a:buChar char="•"/>
              </a:pPr>
              <a:r>
                <a:rPr lang="en-CA" sz="4800" dirty="0" smtClean="0"/>
                <a:t>Generated from annotated file system metadata structures</a:t>
              </a:r>
            </a:p>
            <a:p>
              <a:pPr marL="685800" indent="-685800">
                <a:spcBef>
                  <a:spcPts val="1000"/>
                </a:spcBef>
                <a:buFont typeface="Arial" panose="020B0604020202020204" pitchFamily="34" charset="0"/>
                <a:buChar char="•"/>
              </a:pPr>
              <a:r>
                <a:rPr lang="en-CA" sz="4800" dirty="0" smtClean="0"/>
                <a:t>Provides robust parsing routines and convenient traversal functions</a:t>
              </a:r>
            </a:p>
            <a:p>
              <a:pPr marL="685800" indent="-685800">
                <a:spcBef>
                  <a:spcPts val="1000"/>
                </a:spcBef>
                <a:buFont typeface="Arial" panose="020B0604020202020204" pitchFamily="34" charset="0"/>
                <a:buChar char="•"/>
              </a:pPr>
              <a:r>
                <a:rPr lang="en-CA" sz="4800" dirty="0" smtClean="0"/>
                <a:t>Uses standardized API – simplifies tools that work across file systems </a:t>
              </a:r>
              <a:endParaRPr lang="en-CA" sz="4800" dirty="0"/>
            </a:p>
          </p:txBody>
        </p:sp>
      </p:grpSp>
      <p:sp>
        <p:nvSpPr>
          <p:cNvPr id="220" name="Rectangle 219"/>
          <p:cNvSpPr/>
          <p:nvPr/>
        </p:nvSpPr>
        <p:spPr>
          <a:xfrm>
            <a:off x="21678900" y="40254195"/>
            <a:ext cx="10480443" cy="32675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sz="5400" i="1" dirty="0" smtClean="0"/>
              <a:t>Free Space Reporting Tool</a:t>
            </a:r>
            <a:endParaRPr lang="en-CA" sz="1000" dirty="0"/>
          </a:p>
          <a:p>
            <a:pPr marL="685800" indent="-4953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4800" dirty="0" smtClean="0"/>
              <a:t>Shows file system fragmentation by plotting a histogram of the size of free extents</a:t>
            </a:r>
            <a:endParaRPr lang="en-CA" sz="4800" dirty="0" smtClean="0"/>
          </a:p>
        </p:txBody>
      </p:sp>
      <p:sp>
        <p:nvSpPr>
          <p:cNvPr id="221" name="Rectangle 220"/>
          <p:cNvSpPr/>
          <p:nvPr/>
        </p:nvSpPr>
        <p:spPr>
          <a:xfrm>
            <a:off x="20344614" y="36731080"/>
            <a:ext cx="11814729" cy="326756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sz="5400" i="1" dirty="0" smtClean="0"/>
              <a:t>Type-Specific Corruption Tool</a:t>
            </a:r>
            <a:endParaRPr lang="en-CA" sz="1000" dirty="0"/>
          </a:p>
          <a:p>
            <a:pPr marL="685800" indent="-4953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4800" dirty="0" smtClean="0"/>
              <a:t>Creates a corrupted file system image by selecting a specific field of a metadata structure to clobber</a:t>
            </a:r>
            <a:endParaRPr lang="en-CA" sz="4800" dirty="0" smtClean="0"/>
          </a:p>
        </p:txBody>
      </p:sp>
      <p:sp>
        <p:nvSpPr>
          <p:cNvPr id="222" name="Rectangle 221"/>
          <p:cNvSpPr/>
          <p:nvPr/>
        </p:nvSpPr>
        <p:spPr>
          <a:xfrm>
            <a:off x="20344614" y="29996830"/>
            <a:ext cx="11814729" cy="64786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CA" sz="5400" i="1" dirty="0" smtClean="0"/>
              <a:t>File System Conversion Tool</a:t>
            </a:r>
            <a:endParaRPr lang="en-CA" sz="1000" dirty="0"/>
          </a:p>
          <a:p>
            <a:pPr marL="685800" indent="-4953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4800" dirty="0" smtClean="0"/>
              <a:t>Converts from one file system to another without moving dat</a:t>
            </a:r>
            <a:r>
              <a:rPr lang="en-CA" sz="4800" dirty="0" smtClean="0"/>
              <a:t>a blocks</a:t>
            </a:r>
          </a:p>
          <a:p>
            <a:pPr marL="685800" indent="-4953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4800" dirty="0" smtClean="0"/>
              <a:t>Experiment shows up to 50 times faster than reformat-and-copy</a:t>
            </a:r>
            <a:endParaRPr lang="en-CA" sz="4800" dirty="0"/>
          </a:p>
          <a:p>
            <a:pPr marL="685800" indent="-4953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CA" sz="4800" dirty="0" smtClean="0"/>
              <a:t>Comparing Spiffy vs. manually-written versions shows a maximum of 16.7% overhead</a:t>
            </a:r>
            <a:endParaRPr lang="en-CA" sz="4800" dirty="0" smtClean="0"/>
          </a:p>
        </p:txBody>
      </p:sp>
      <p:graphicFrame>
        <p:nvGraphicFramePr>
          <p:cNvPr id="269" name="Chart 268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28997426"/>
              </p:ext>
            </p:extLst>
          </p:nvPr>
        </p:nvGraphicFramePr>
        <p:xfrm>
          <a:off x="-3033846" y="37119774"/>
          <a:ext cx="24993600" cy="651997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70" name="TextBox 269"/>
          <p:cNvSpPr txBox="1"/>
          <p:nvPr/>
        </p:nvSpPr>
        <p:spPr>
          <a:xfrm>
            <a:off x="0" y="1524878"/>
            <a:ext cx="329184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4400" dirty="0" err="1"/>
              <a:t>Kuei</a:t>
            </a:r>
            <a:r>
              <a:rPr lang="en-CA" sz="4400" dirty="0"/>
              <a:t> Sun, Daniel Fryer</a:t>
            </a:r>
            <a:r>
              <a:rPr lang="en-CA" sz="4400" dirty="0" smtClean="0"/>
              <a:t>, Joseph Chu, Matthew </a:t>
            </a:r>
            <a:r>
              <a:rPr lang="en-CA" sz="4400" dirty="0" err="1" smtClean="0"/>
              <a:t>Lakier</a:t>
            </a:r>
            <a:r>
              <a:rPr lang="en-CA" sz="4400" dirty="0" smtClean="0"/>
              <a:t>, </a:t>
            </a:r>
            <a:r>
              <a:rPr lang="en-CA" sz="4400" dirty="0"/>
              <a:t>Angela </a:t>
            </a:r>
            <a:r>
              <a:rPr lang="en-CA" sz="4400" dirty="0" err="1"/>
              <a:t>Demke</a:t>
            </a:r>
            <a:r>
              <a:rPr lang="en-CA" sz="4400" dirty="0"/>
              <a:t> Brown</a:t>
            </a:r>
            <a:r>
              <a:rPr lang="en-CA" sz="4400" dirty="0" smtClean="0"/>
              <a:t>, and </a:t>
            </a:r>
            <a:r>
              <a:rPr lang="en-CA" sz="4400" dirty="0" err="1"/>
              <a:t>Ashvin</a:t>
            </a:r>
            <a:r>
              <a:rPr lang="en-CA" sz="4400" dirty="0"/>
              <a:t> </a:t>
            </a:r>
            <a:r>
              <a:rPr lang="en-CA" sz="4400" dirty="0" err="1"/>
              <a:t>Goel</a:t>
            </a:r>
            <a:endParaRPr lang="en-CA" sz="440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Wisp">
  <a:themeElements>
    <a:clrScheme name="Custom 1">
      <a:dk1>
        <a:srgbClr val="000000"/>
      </a:dk1>
      <a:lt1>
        <a:srgbClr val="FFFFFF"/>
      </a:lt1>
      <a:dk2>
        <a:srgbClr val="ACE9F8"/>
      </a:dk2>
      <a:lt2>
        <a:srgbClr val="0F486F"/>
      </a:lt2>
      <a:accent1>
        <a:srgbClr val="062958"/>
      </a:accent1>
      <a:accent2>
        <a:srgbClr val="A50E82"/>
      </a:accent2>
      <a:accent3>
        <a:srgbClr val="14967C"/>
      </a:accent3>
      <a:accent4>
        <a:srgbClr val="EAC435"/>
      </a:accent4>
      <a:accent5>
        <a:srgbClr val="03CEA4"/>
      </a:accent5>
      <a:accent6>
        <a:srgbClr val="BB133E"/>
      </a:accent6>
      <a:hlink>
        <a:srgbClr val="0D2E46"/>
      </a:hlink>
      <a:folHlink>
        <a:srgbClr val="356A95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1676</TotalTime>
  <Words>472</Words>
  <Application>Microsoft Office PowerPoint</Application>
  <PresentationFormat>Custom</PresentationFormat>
  <Paragraphs>86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11" baseType="lpstr">
      <vt:lpstr>Kozuka Gothic Pro M</vt:lpstr>
      <vt:lpstr>微軟正黑體</vt:lpstr>
      <vt:lpstr>Arial</vt:lpstr>
      <vt:lpstr>Calibri</vt:lpstr>
      <vt:lpstr>Century Gothic</vt:lpstr>
      <vt:lpstr>Courier New</vt:lpstr>
      <vt:lpstr>Times New Roman</vt:lpstr>
      <vt:lpstr>Wingdings</vt:lpstr>
      <vt:lpstr>Wingdings 3</vt:lpstr>
      <vt:lpstr>Wisp</vt:lpstr>
      <vt:lpstr>Spiffy: Enabling File-System Aware Storage Applications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Jack Sun</dc:creator>
  <cp:lastModifiedBy>Jack Sun</cp:lastModifiedBy>
  <cp:revision>108</cp:revision>
  <dcterms:created xsi:type="dcterms:W3CDTF">2015-09-21T23:24:45Z</dcterms:created>
  <dcterms:modified xsi:type="dcterms:W3CDTF">2018-02-04T00:47:55Z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0x010100D342F5307680D147B3B7094CD326D8F4</vt:lpwstr>
  </property>
</Properties>
</file>