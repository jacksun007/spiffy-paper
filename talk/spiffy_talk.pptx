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9"/>
  </p:notesMasterIdLst>
  <p:sldIdLst>
    <p:sldId id="256" r:id="rId2"/>
    <p:sldId id="288" r:id="rId3"/>
    <p:sldId id="290" r:id="rId4"/>
    <p:sldId id="289" r:id="rId5"/>
    <p:sldId id="291" r:id="rId6"/>
    <p:sldId id="309" r:id="rId7"/>
    <p:sldId id="293" r:id="rId8"/>
    <p:sldId id="294" r:id="rId9"/>
    <p:sldId id="295" r:id="rId10"/>
    <p:sldId id="301" r:id="rId11"/>
    <p:sldId id="308" r:id="rId12"/>
    <p:sldId id="313" r:id="rId13"/>
    <p:sldId id="314" r:id="rId14"/>
    <p:sldId id="298" r:id="rId15"/>
    <p:sldId id="315" r:id="rId16"/>
    <p:sldId id="316" r:id="rId17"/>
    <p:sldId id="322" r:id="rId18"/>
    <p:sldId id="321" r:id="rId19"/>
    <p:sldId id="318" r:id="rId20"/>
    <p:sldId id="331" r:id="rId21"/>
    <p:sldId id="311" r:id="rId22"/>
    <p:sldId id="283" r:id="rId23"/>
    <p:sldId id="306" r:id="rId24"/>
    <p:sldId id="271" r:id="rId25"/>
    <p:sldId id="312" r:id="rId26"/>
    <p:sldId id="268" r:id="rId27"/>
    <p:sldId id="267" r:id="rId28"/>
    <p:sldId id="328" r:id="rId29"/>
    <p:sldId id="329" r:id="rId30"/>
    <p:sldId id="323" r:id="rId31"/>
    <p:sldId id="330" r:id="rId32"/>
    <p:sldId id="324" r:id="rId33"/>
    <p:sldId id="325" r:id="rId34"/>
    <p:sldId id="281" r:id="rId35"/>
    <p:sldId id="326" r:id="rId36"/>
    <p:sldId id="258" r:id="rId37"/>
    <p:sldId id="332" r:id="rId38"/>
    <p:sldId id="333" r:id="rId39"/>
    <p:sldId id="334" r:id="rId40"/>
    <p:sldId id="335" r:id="rId41"/>
    <p:sldId id="336" r:id="rId42"/>
    <p:sldId id="337" r:id="rId43"/>
    <p:sldId id="259" r:id="rId44"/>
    <p:sldId id="261" r:id="rId45"/>
    <p:sldId id="260" r:id="rId46"/>
    <p:sldId id="320" r:id="rId47"/>
    <p:sldId id="32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61541D-2620-421F-9E2E-648A24C65F11}">
          <p14:sldIdLst>
            <p14:sldId id="256"/>
            <p14:sldId id="288"/>
            <p14:sldId id="290"/>
            <p14:sldId id="289"/>
            <p14:sldId id="291"/>
            <p14:sldId id="309"/>
            <p14:sldId id="293"/>
            <p14:sldId id="294"/>
            <p14:sldId id="295"/>
            <p14:sldId id="301"/>
            <p14:sldId id="308"/>
            <p14:sldId id="313"/>
            <p14:sldId id="314"/>
            <p14:sldId id="298"/>
            <p14:sldId id="315"/>
            <p14:sldId id="316"/>
            <p14:sldId id="322"/>
            <p14:sldId id="321"/>
            <p14:sldId id="318"/>
            <p14:sldId id="331"/>
            <p14:sldId id="311"/>
            <p14:sldId id="283"/>
            <p14:sldId id="306"/>
            <p14:sldId id="271"/>
            <p14:sldId id="312"/>
            <p14:sldId id="268"/>
            <p14:sldId id="267"/>
            <p14:sldId id="328"/>
            <p14:sldId id="329"/>
            <p14:sldId id="323"/>
            <p14:sldId id="330"/>
            <p14:sldId id="324"/>
            <p14:sldId id="325"/>
            <p14:sldId id="281"/>
            <p14:sldId id="326"/>
            <p14:sldId id="258"/>
            <p14:sldId id="332"/>
            <p14:sldId id="333"/>
            <p14:sldId id="334"/>
            <p14:sldId id="335"/>
            <p14:sldId id="336"/>
            <p14:sldId id="337"/>
            <p14:sldId id="259"/>
            <p14:sldId id="261"/>
            <p14:sldId id="260"/>
            <p14:sldId id="320"/>
            <p14:sldId id="3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615" autoAdjust="0"/>
  </p:normalViewPr>
  <p:slideViewPr>
    <p:cSldViewPr snapToGrid="0">
      <p:cViewPr>
        <p:scale>
          <a:sx n="75" d="100"/>
          <a:sy n="75" d="100"/>
        </p:scale>
        <p:origin x="1116"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E:\home\fishy\Documents\Research\fast-2018\converter-resul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home\fishy\Documents\Research\fast-2018\caching-result-stacked.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081345459931567"/>
          <c:y val="5.9911271909187234E-2"/>
          <c:w val="0.53601315044091302"/>
          <c:h val="0.74735135135135133"/>
        </c:manualLayout>
      </c:layout>
      <c:lineChart>
        <c:grouping val="standard"/>
        <c:varyColors val="0"/>
        <c:ser>
          <c:idx val="0"/>
          <c:order val="0"/>
          <c:tx>
            <c:strRef>
              <c:f>Sheet1!$B$1</c:f>
              <c:strCache>
                <c:ptCount val="1"/>
                <c:pt idx="0">
                  <c:v>Copy Converter</c:v>
                </c:pt>
              </c:strCache>
            </c:strRef>
          </c:tx>
          <c:spPr>
            <a:ln w="28575" cap="rnd">
              <a:solidFill>
                <a:schemeClr val="accent6"/>
              </a:solidFill>
              <a:prstDash val="dash"/>
              <a:round/>
            </a:ln>
            <a:effectLst/>
          </c:spPr>
          <c:marker>
            <c:symbol val="square"/>
            <c:size val="6"/>
            <c:spPr>
              <a:solidFill>
                <a:schemeClr val="accent6"/>
              </a:solidFill>
              <a:ln w="9525">
                <a:solidFill>
                  <a:schemeClr val="accent6"/>
                </a:solidFill>
              </a:ln>
              <a:effectLst/>
            </c:spPr>
          </c:marker>
          <c:cat>
            <c:numRef>
              <c:f>Sheet1!$A$2:$A$5</c:f>
              <c:numCache>
                <c:formatCode>General</c:formatCode>
                <c:ptCount val="4"/>
                <c:pt idx="0">
                  <c:v>20000</c:v>
                </c:pt>
                <c:pt idx="1">
                  <c:v>5000</c:v>
                </c:pt>
                <c:pt idx="2">
                  <c:v>1000</c:v>
                </c:pt>
                <c:pt idx="3">
                  <c:v>100</c:v>
                </c:pt>
              </c:numCache>
            </c:numRef>
          </c:cat>
          <c:val>
            <c:numRef>
              <c:f>Sheet1!$B$2:$B$5</c:f>
              <c:numCache>
                <c:formatCode>General</c:formatCode>
                <c:ptCount val="4"/>
                <c:pt idx="0">
                  <c:v>188.17</c:v>
                </c:pt>
                <c:pt idx="1">
                  <c:v>190.28</c:v>
                </c:pt>
                <c:pt idx="2">
                  <c:v>192.74</c:v>
                </c:pt>
                <c:pt idx="3">
                  <c:v>195.11</c:v>
                </c:pt>
              </c:numCache>
            </c:numRef>
          </c:val>
          <c:smooth val="0"/>
          <c:extLst xmlns:c16r2="http://schemas.microsoft.com/office/drawing/2015/06/chart">
            <c:ext xmlns:c16="http://schemas.microsoft.com/office/drawing/2014/chart" uri="{C3380CC4-5D6E-409C-BE32-E72D297353CC}">
              <c16:uniqueId val="{00000000-9CC1-4262-BF0E-2ECA5CEA12BB}"/>
            </c:ext>
          </c:extLst>
        </c:ser>
        <c:ser>
          <c:idx val="2"/>
          <c:order val="1"/>
          <c:tx>
            <c:strRef>
              <c:f>Sheet1!$C$1</c:f>
              <c:strCache>
                <c:ptCount val="1"/>
                <c:pt idx="0">
                  <c:v>Spiffy Converter</c:v>
                </c:pt>
              </c:strCache>
            </c:strRef>
          </c:tx>
          <c:spPr>
            <a:ln w="28575" cap="rnd">
              <a:solidFill>
                <a:schemeClr val="tx2"/>
              </a:solidFill>
              <a:prstDash val="sysDot"/>
              <a:round/>
            </a:ln>
            <a:effectLst/>
          </c:spPr>
          <c:marker>
            <c:symbol val="diamond"/>
            <c:size val="6"/>
            <c:spPr>
              <a:solidFill>
                <a:schemeClr val="tx2"/>
              </a:solidFill>
              <a:ln w="9525">
                <a:solidFill>
                  <a:schemeClr val="tx2"/>
                </a:solidFill>
              </a:ln>
              <a:effectLst/>
            </c:spPr>
          </c:marker>
          <c:cat>
            <c:numRef>
              <c:f>Sheet1!$A$2:$A$5</c:f>
              <c:numCache>
                <c:formatCode>General</c:formatCode>
                <c:ptCount val="4"/>
                <c:pt idx="0">
                  <c:v>20000</c:v>
                </c:pt>
                <c:pt idx="1">
                  <c:v>5000</c:v>
                </c:pt>
                <c:pt idx="2">
                  <c:v>1000</c:v>
                </c:pt>
                <c:pt idx="3">
                  <c:v>100</c:v>
                </c:pt>
              </c:numCache>
            </c:numRef>
          </c:cat>
          <c:val>
            <c:numRef>
              <c:f>Sheet1!$C$2:$C$5</c:f>
              <c:numCache>
                <c:formatCode>0.00</c:formatCode>
                <c:ptCount val="4"/>
                <c:pt idx="0">
                  <c:v>7.03</c:v>
                </c:pt>
                <c:pt idx="1">
                  <c:v>4.01</c:v>
                </c:pt>
                <c:pt idx="2">
                  <c:v>3.84</c:v>
                </c:pt>
                <c:pt idx="3">
                  <c:v>3.71</c:v>
                </c:pt>
              </c:numCache>
            </c:numRef>
          </c:val>
          <c:smooth val="0"/>
          <c:extLst xmlns:c16r2="http://schemas.microsoft.com/office/drawing/2015/06/chart">
            <c:ext xmlns:c16="http://schemas.microsoft.com/office/drawing/2014/chart" uri="{C3380CC4-5D6E-409C-BE32-E72D297353CC}">
              <c16:uniqueId val="{00000002-9CC1-4262-BF0E-2ECA5CEA12BB}"/>
            </c:ext>
          </c:extLst>
        </c:ser>
        <c:dLbls>
          <c:showLegendKey val="0"/>
          <c:showVal val="0"/>
          <c:showCatName val="0"/>
          <c:showSerName val="0"/>
          <c:showPercent val="0"/>
          <c:showBubbleSize val="0"/>
        </c:dLbls>
        <c:marker val="1"/>
        <c:smooth val="0"/>
        <c:axId val="-1391803248"/>
        <c:axId val="-1391802704"/>
      </c:lineChart>
      <c:catAx>
        <c:axId val="-1391803248"/>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sz="1800" dirty="0"/>
                  <a:t># of </a:t>
                </a:r>
                <a:r>
                  <a:rPr lang="en-US" sz="1800" dirty="0" smtClean="0"/>
                  <a:t>files</a:t>
                </a:r>
                <a:endParaRPr lang="en-US" sz="1800" dirty="0"/>
              </a:p>
            </c:rich>
          </c:tx>
          <c:layout>
            <c:manualLayout>
              <c:xMode val="edge"/>
              <c:yMode val="edge"/>
              <c:x val="0.67198242241862016"/>
              <c:y val="0.84715656639011638"/>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lumMod val="10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en-US"/>
          </a:p>
        </c:txPr>
        <c:crossAx val="-1391802704"/>
        <c:crosses val="autoZero"/>
        <c:auto val="0"/>
        <c:lblAlgn val="ctr"/>
        <c:lblOffset val="100"/>
        <c:noMultiLvlLbl val="0"/>
      </c:catAx>
      <c:valAx>
        <c:axId val="-1391802704"/>
        <c:scaling>
          <c:logBase val="4"/>
          <c:orientation val="minMax"/>
        </c:scaling>
        <c:delete val="0"/>
        <c:axPos val="l"/>
        <c:majorGridlines>
          <c:spPr>
            <a:ln w="9525" cap="flat" cmpd="sng" algn="ctr">
              <a:solidFill>
                <a:schemeClr val="tx1">
                  <a:lumMod val="50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CA" sz="1800"/>
                  <a:t>seconds</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en-US"/>
          </a:p>
        </c:txPr>
        <c:crossAx val="-1391803248"/>
        <c:crosses val="autoZero"/>
        <c:crossBetween val="between"/>
      </c:valAx>
      <c:spPr>
        <a:solidFill>
          <a:schemeClr val="tx1"/>
        </a:solidFill>
        <a:ln>
          <a:solidFill>
            <a:schemeClr val="tx1">
              <a:lumMod val="50000"/>
            </a:schemeClr>
          </a:solidFill>
        </a:ln>
        <a:effectLst/>
      </c:spPr>
    </c:plotArea>
    <c:legend>
      <c:legendPos val="r"/>
      <c:layout>
        <c:manualLayout>
          <c:xMode val="edge"/>
          <c:yMode val="edge"/>
          <c:x val="0.70445091342517252"/>
          <c:y val="6.265615508636839E-2"/>
          <c:w val="0.26533503171365047"/>
          <c:h val="0.6414513933189244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en-US"/>
        </a:p>
      </c:txPr>
    </c:legend>
    <c:plotVisOnly val="1"/>
    <c:dispBlanksAs val="gap"/>
    <c:showDLblsOverMax val="0"/>
  </c:chart>
  <c:spPr>
    <a:noFill/>
    <a:ln>
      <a:noFill/>
    </a:ln>
    <a:effectLst/>
  </c:spPr>
  <c:txPr>
    <a:bodyPr/>
    <a:lstStyle/>
    <a:p>
      <a:pPr>
        <a:defRPr sz="1600">
          <a:solidFill>
            <a:schemeClr val="bg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61083692839279813"/>
          <c:y val="5.1192544430694563E-2"/>
          <c:w val="0.33184206060008237"/>
          <c:h val="0.72176687201094358"/>
        </c:manualLayout>
      </c:layout>
      <c:barChart>
        <c:barDir val="bar"/>
        <c:grouping val="stacked"/>
        <c:varyColors val="0"/>
        <c:ser>
          <c:idx val="0"/>
          <c:order val="0"/>
          <c:tx>
            <c:strRef>
              <c:f>Sheet1!$C$1</c:f>
              <c:strCache>
                <c:ptCount val="1"/>
                <c:pt idx="0">
                  <c:v>Fileserver A</c:v>
                </c:pt>
              </c:strCache>
            </c:strRef>
          </c:tx>
          <c:spPr>
            <a:solidFill>
              <a:schemeClr val="accent5">
                <a:lumMod val="40000"/>
                <a:lumOff val="60000"/>
              </a:schemeClr>
            </a:solidFill>
            <a:ln>
              <a:solidFill>
                <a:schemeClr val="bg1"/>
              </a:solidFill>
            </a:ln>
            <a:effectLst/>
          </c:spPr>
          <c:invertIfNegative val="0"/>
          <c:errBars>
            <c:errBarType val="both"/>
            <c:errValType val="cust"/>
            <c:noEndCap val="0"/>
            <c:plus>
              <c:numRef>
                <c:f>Sheet1!$H$2:$H$8</c:f>
                <c:numCache>
                  <c:formatCode>General</c:formatCode>
                  <c:ptCount val="7"/>
                  <c:pt idx="0">
                    <c:v>86.899646070000003</c:v>
                  </c:pt>
                  <c:pt idx="1">
                    <c:v>47.026277149999999</c:v>
                  </c:pt>
                  <c:pt idx="2">
                    <c:v>98.939352290000002</c:v>
                  </c:pt>
                  <c:pt idx="4">
                    <c:v>74.579070639999998</c:v>
                  </c:pt>
                  <c:pt idx="5">
                    <c:v>56.259226890000001</c:v>
                  </c:pt>
                  <c:pt idx="6">
                    <c:v>108.2791673</c:v>
                  </c:pt>
                </c:numCache>
              </c:numRef>
            </c:plus>
            <c:minus>
              <c:numRef>
                <c:f>Sheet1!$H$2:$H$8</c:f>
                <c:numCache>
                  <c:formatCode>General</c:formatCode>
                  <c:ptCount val="7"/>
                  <c:pt idx="0">
                    <c:v>86.899646070000003</c:v>
                  </c:pt>
                  <c:pt idx="1">
                    <c:v>47.026277149999999</c:v>
                  </c:pt>
                  <c:pt idx="2">
                    <c:v>98.939352290000002</c:v>
                  </c:pt>
                  <c:pt idx="4">
                    <c:v>74.579070639999998</c:v>
                  </c:pt>
                  <c:pt idx="5">
                    <c:v>56.259226890000001</c:v>
                  </c:pt>
                  <c:pt idx="6">
                    <c:v>108.2791673</c:v>
                  </c:pt>
                </c:numCache>
              </c:numRef>
            </c:minus>
            <c:spPr>
              <a:noFill/>
              <a:ln w="9525" cap="flat" cmpd="sng" algn="ctr">
                <a:solidFill>
                  <a:schemeClr val="bg1"/>
                </a:solidFill>
                <a:round/>
              </a:ln>
              <a:effectLst/>
            </c:spPr>
          </c:errBars>
          <c:cat>
            <c:strRef>
              <c:f>Sheet1!$B$2:$B$8</c:f>
              <c:strCache>
                <c:ptCount val="7"/>
                <c:pt idx="0">
                  <c:v>Fileserver A + Fileserver B, A is preferred</c:v>
                </c:pt>
                <c:pt idx="1">
                  <c:v>Fileserver A + Fileserver B, no preference</c:v>
                </c:pt>
                <c:pt idx="2">
                  <c:v>Fileserver A, alone</c:v>
                </c:pt>
                <c:pt idx="4">
                  <c:v>Fileserver A + Fileserver B, A is preferred</c:v>
                </c:pt>
                <c:pt idx="5">
                  <c:v>Fileserver A + Fileserver B, no preference</c:v>
                </c:pt>
                <c:pt idx="6">
                  <c:v>Fileserver A, alone</c:v>
                </c:pt>
              </c:strCache>
            </c:strRef>
          </c:cat>
          <c:val>
            <c:numRef>
              <c:f>Sheet1!$C$2:$C$8</c:f>
              <c:numCache>
                <c:formatCode>General</c:formatCode>
                <c:ptCount val="7"/>
                <c:pt idx="0">
                  <c:v>1904.855278</c:v>
                </c:pt>
                <c:pt idx="1">
                  <c:v>1227.2180559999999</c:v>
                </c:pt>
                <c:pt idx="2">
                  <c:v>2831.1577779999998</c:v>
                </c:pt>
                <c:pt idx="4">
                  <c:v>1472.7113890000001</c:v>
                </c:pt>
                <c:pt idx="5">
                  <c:v>941.54666669999995</c:v>
                </c:pt>
                <c:pt idx="6">
                  <c:v>2555.018333</c:v>
                </c:pt>
              </c:numCache>
            </c:numRef>
          </c:val>
          <c:extLst xmlns:c16r2="http://schemas.microsoft.com/office/drawing/2015/06/chart">
            <c:ext xmlns:c16="http://schemas.microsoft.com/office/drawing/2014/chart" uri="{C3380CC4-5D6E-409C-BE32-E72D297353CC}">
              <c16:uniqueId val="{00000000-23D3-4E46-9757-6E0B39AF495B}"/>
            </c:ext>
          </c:extLst>
        </c:ser>
        <c:ser>
          <c:idx val="1"/>
          <c:order val="1"/>
          <c:tx>
            <c:strRef>
              <c:f>Sheet1!$D$1</c:f>
              <c:strCache>
                <c:ptCount val="1"/>
                <c:pt idx="0">
                  <c:v>Fileserver B</c:v>
                </c:pt>
              </c:strCache>
            </c:strRef>
          </c:tx>
          <c:spPr>
            <a:solidFill>
              <a:schemeClr val="accent3"/>
            </a:solidFill>
            <a:ln>
              <a:solidFill>
                <a:schemeClr val="bg1"/>
              </a:solidFill>
            </a:ln>
            <a:effectLst/>
          </c:spPr>
          <c:invertIfNegative val="0"/>
          <c:errBars>
            <c:errBarType val="both"/>
            <c:errValType val="cust"/>
            <c:noEndCap val="0"/>
            <c:plus>
              <c:numRef>
                <c:f>Sheet1!$I$2:$I$8</c:f>
                <c:numCache>
                  <c:formatCode>General</c:formatCode>
                  <c:ptCount val="7"/>
                  <c:pt idx="0">
                    <c:v>46.519010110000004</c:v>
                  </c:pt>
                  <c:pt idx="1">
                    <c:v>46.575578360000002</c:v>
                  </c:pt>
                  <c:pt idx="2">
                    <c:v>0</c:v>
                  </c:pt>
                  <c:pt idx="4">
                    <c:v>25.918389650000002</c:v>
                  </c:pt>
                  <c:pt idx="5">
                    <c:v>56.659710339999997</c:v>
                  </c:pt>
                  <c:pt idx="6">
                    <c:v>0</c:v>
                  </c:pt>
                </c:numCache>
              </c:numRef>
            </c:plus>
            <c:minus>
              <c:numRef>
                <c:f>Sheet1!$I$2:$I$8</c:f>
                <c:numCache>
                  <c:formatCode>General</c:formatCode>
                  <c:ptCount val="7"/>
                  <c:pt idx="0">
                    <c:v>46.519010110000004</c:v>
                  </c:pt>
                  <c:pt idx="1">
                    <c:v>46.575578360000002</c:v>
                  </c:pt>
                  <c:pt idx="2">
                    <c:v>0</c:v>
                  </c:pt>
                  <c:pt idx="4">
                    <c:v>25.918389650000002</c:v>
                  </c:pt>
                  <c:pt idx="5">
                    <c:v>56.659710339999997</c:v>
                  </c:pt>
                  <c:pt idx="6">
                    <c:v>0</c:v>
                  </c:pt>
                </c:numCache>
              </c:numRef>
            </c:minus>
            <c:spPr>
              <a:noFill/>
              <a:ln w="9525" cap="flat" cmpd="sng" algn="ctr">
                <a:solidFill>
                  <a:schemeClr val="bg1"/>
                </a:solidFill>
                <a:round/>
              </a:ln>
              <a:effectLst/>
            </c:spPr>
          </c:errBars>
          <c:cat>
            <c:strRef>
              <c:f>Sheet1!$B$2:$B$8</c:f>
              <c:strCache>
                <c:ptCount val="7"/>
                <c:pt idx="0">
                  <c:v>Fileserver A + Fileserver B, A is preferred</c:v>
                </c:pt>
                <c:pt idx="1">
                  <c:v>Fileserver A + Fileserver B, no preference</c:v>
                </c:pt>
                <c:pt idx="2">
                  <c:v>Fileserver A, alone</c:v>
                </c:pt>
                <c:pt idx="4">
                  <c:v>Fileserver A + Fileserver B, A is preferred</c:v>
                </c:pt>
                <c:pt idx="5">
                  <c:v>Fileserver A + Fileserver B, no preference</c:v>
                </c:pt>
                <c:pt idx="6">
                  <c:v>Fileserver A, alone</c:v>
                </c:pt>
              </c:strCache>
            </c:strRef>
          </c:cat>
          <c:val>
            <c:numRef>
              <c:f>Sheet1!$D$2:$D$8</c:f>
              <c:numCache>
                <c:formatCode>General</c:formatCode>
                <c:ptCount val="7"/>
                <c:pt idx="0">
                  <c:v>893.80499999999995</c:v>
                </c:pt>
                <c:pt idx="1">
                  <c:v>1227.6741669999999</c:v>
                </c:pt>
                <c:pt idx="2">
                  <c:v>0</c:v>
                </c:pt>
                <c:pt idx="4">
                  <c:v>807.45833330000005</c:v>
                </c:pt>
                <c:pt idx="5">
                  <c:v>930.94916669999998</c:v>
                </c:pt>
                <c:pt idx="6">
                  <c:v>0</c:v>
                </c:pt>
              </c:numCache>
            </c:numRef>
          </c:val>
          <c:extLst xmlns:c16r2="http://schemas.microsoft.com/office/drawing/2015/06/chart">
            <c:ext xmlns:c16="http://schemas.microsoft.com/office/drawing/2014/chart" uri="{C3380CC4-5D6E-409C-BE32-E72D297353CC}">
              <c16:uniqueId val="{00000001-23D3-4E46-9757-6E0B39AF495B}"/>
            </c:ext>
          </c:extLst>
        </c:ser>
        <c:dLbls>
          <c:showLegendKey val="0"/>
          <c:showVal val="0"/>
          <c:showCatName val="0"/>
          <c:showSerName val="0"/>
          <c:showPercent val="0"/>
          <c:showBubbleSize val="0"/>
        </c:dLbls>
        <c:gapWidth val="20"/>
        <c:overlap val="100"/>
        <c:axId val="-1391799984"/>
        <c:axId val="-1391800528"/>
      </c:barChart>
      <c:catAx>
        <c:axId val="-1391799984"/>
        <c:scaling>
          <c:orientation val="minMax"/>
        </c:scaling>
        <c:delete val="0"/>
        <c:axPos val="l"/>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crossAx val="-1391800528"/>
        <c:crosses val="autoZero"/>
        <c:auto val="1"/>
        <c:lblAlgn val="ctr"/>
        <c:lblOffset val="100"/>
        <c:noMultiLvlLbl val="1"/>
      </c:catAx>
      <c:valAx>
        <c:axId val="-1391800528"/>
        <c:scaling>
          <c:orientation val="minMax"/>
          <c:max val="3000"/>
        </c:scaling>
        <c:delete val="0"/>
        <c:axPos val="b"/>
        <c:majorGridlines>
          <c:spPr>
            <a:ln w="9525" cap="flat" cmpd="sng" algn="ctr">
              <a:solidFill>
                <a:schemeClr val="bg1"/>
              </a:solidFill>
              <a:round/>
            </a:ln>
            <a:effectLst/>
          </c:spPr>
        </c:majorGridlines>
        <c:title>
          <c:tx>
            <c:rich>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r>
                  <a:rPr lang="en-US"/>
                  <a:t>ops/s</a:t>
                </a:r>
              </a:p>
            </c:rich>
          </c:tx>
          <c:layout/>
          <c:overlay val="0"/>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title>
        <c:numFmt formatCode="General" sourceLinked="1"/>
        <c:majorTickMark val="none"/>
        <c:minorTickMark val="out"/>
        <c:tickLblPos val="nextTo"/>
        <c:spPr>
          <a:noFill/>
          <a:ln>
            <a:solidFill>
              <a:schemeClr val="accent1"/>
            </a:solidFill>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crossAx val="-1391799984"/>
        <c:crosses val="autoZero"/>
        <c:crossBetween val="between"/>
        <c:majorUnit val="1000"/>
        <c:minorUnit val="500"/>
      </c:valAx>
      <c:spPr>
        <a:noFill/>
        <a:ln>
          <a:solidFill>
            <a:schemeClr val="bg1"/>
          </a:solidFill>
        </a:ln>
        <a:effectLst/>
      </c:spPr>
    </c:plotArea>
    <c:legend>
      <c:legendPos val="b"/>
      <c:layout>
        <c:manualLayout>
          <c:xMode val="edge"/>
          <c:yMode val="edge"/>
          <c:x val="0.14225519748408696"/>
          <c:y val="0.85034517406747667"/>
          <c:w val="0.39392809687657754"/>
          <c:h val="8.9154546150793379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legend>
    <c:plotVisOnly val="1"/>
    <c:dispBlanksAs val="gap"/>
    <c:showDLblsOverMax val="0"/>
  </c:chart>
  <c:spPr>
    <a:noFill/>
    <a:ln>
      <a:noFill/>
    </a:ln>
    <a:effectLst/>
  </c:spPr>
  <c:txPr>
    <a:bodyPr/>
    <a:lstStyle/>
    <a:p>
      <a:pPr>
        <a:defRPr sz="1400">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68C5AD-71DD-4EC0-A413-C51DC95DD2ED}" type="datetimeFigureOut">
              <a:rPr lang="en-CA" smtClean="0"/>
              <a:t>2018-02-10</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5BF96-4013-477F-9949-176AD53AFF60}" type="slidenum">
              <a:rPr lang="en-CA" smtClean="0"/>
              <a:t>‹#›</a:t>
            </a:fld>
            <a:endParaRPr lang="en-CA"/>
          </a:p>
        </p:txBody>
      </p:sp>
    </p:spTree>
    <p:extLst>
      <p:ext uri="{BB962C8B-B14F-4D97-AF65-F5344CB8AC3E}">
        <p14:creationId xmlns:p14="http://schemas.microsoft.com/office/powerpoint/2010/main" val="2765221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Hello, my name is Jack,</a:t>
            </a:r>
            <a:r>
              <a:rPr lang="en-CA" baseline="0" dirty="0" smtClean="0"/>
              <a:t> and today, I’ll be talking to you about Spiffy, a framework for writing robust file system aware storage applications. This is work done with my colleagues at the University of Toronto.</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1</a:t>
            </a:fld>
            <a:endParaRPr lang="en-CA"/>
          </a:p>
        </p:txBody>
      </p:sp>
    </p:spTree>
    <p:extLst>
      <p:ext uri="{BB962C8B-B14F-4D97-AF65-F5344CB8AC3E}">
        <p14:creationId xmlns:p14="http://schemas.microsoft.com/office/powerpoint/2010/main" val="28716424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smtClean="0"/>
              <a:t>There is a</a:t>
            </a:r>
            <a:r>
              <a:rPr lang="en-CA" baseline="0" dirty="0" smtClean="0"/>
              <a:t> c</a:t>
            </a:r>
            <a:r>
              <a:rPr lang="en-CA" dirty="0" smtClean="0"/>
              <a:t>lass of applications that work with file system metadata that we call file-system aware applications. Examples</a:t>
            </a:r>
            <a:r>
              <a:rPr lang="en-CA" baseline="0" dirty="0" smtClean="0"/>
              <a:t> of such  </a:t>
            </a:r>
            <a:r>
              <a:rPr lang="en-CA" dirty="0" smtClean="0"/>
              <a:t>applications</a:t>
            </a:r>
            <a:r>
              <a:rPr lang="en-CA" baseline="0" dirty="0" smtClean="0"/>
              <a:t> include a </a:t>
            </a:r>
            <a:r>
              <a:rPr lang="en-CA" dirty="0" smtClean="0"/>
              <a:t>partition editor, a file system</a:t>
            </a:r>
            <a:r>
              <a:rPr lang="en-CA" baseline="0" dirty="0" smtClean="0"/>
              <a:t> checker, and a defragmentation tool. These applications o</a:t>
            </a:r>
            <a:r>
              <a:rPr lang="en-CA" dirty="0" smtClean="0"/>
              <a:t>perate directly on file system metadata structures on</a:t>
            </a:r>
            <a:r>
              <a:rPr lang="en-CA" baseline="0" dirty="0" smtClean="0"/>
              <a:t> disk while bypassing the VFS layer. Therefore, writing file-system aware applications </a:t>
            </a:r>
            <a:r>
              <a:rPr lang="en-CA" sz="1200" b="0" i="0" u="none" strike="noStrike" kern="1200" baseline="0" dirty="0" smtClean="0">
                <a:solidFill>
                  <a:schemeClr val="tx1"/>
                </a:solidFill>
                <a:latin typeface="+mn-lt"/>
                <a:ea typeface="+mn-ea"/>
                <a:cs typeface="+mn-cs"/>
              </a:rPr>
              <a:t>requires detailed understanding of the file system format, including the ability to identify and interpret file system structures. These applications are essential for the successful deployment of a file system, since, for example, people will likely use a file system only if it comes with a file system checker.</a:t>
            </a:r>
            <a:endParaRPr lang="en-CA" dirty="0" smtClean="0"/>
          </a:p>
        </p:txBody>
      </p:sp>
      <p:sp>
        <p:nvSpPr>
          <p:cNvPr id="4" name="Slide Number Placeholder 3"/>
          <p:cNvSpPr>
            <a:spLocks noGrp="1"/>
          </p:cNvSpPr>
          <p:nvPr>
            <p:ph type="sldNum" sz="quarter" idx="10"/>
          </p:nvPr>
        </p:nvSpPr>
        <p:spPr/>
        <p:txBody>
          <a:bodyPr/>
          <a:lstStyle/>
          <a:p>
            <a:fld id="{849A0A36-F84D-437B-B821-CB3EBADC1433}" type="slidenum">
              <a:rPr lang="en-CA" smtClean="0"/>
              <a:t>2</a:t>
            </a:fld>
            <a:endParaRPr lang="en-CA"/>
          </a:p>
        </p:txBody>
      </p:sp>
    </p:spTree>
    <p:extLst>
      <p:ext uri="{BB962C8B-B14F-4D97-AF65-F5344CB8AC3E}">
        <p14:creationId xmlns:p14="http://schemas.microsoft.com/office/powerpoint/2010/main" val="4017627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However,</a:t>
            </a:r>
            <a:r>
              <a:rPr lang="en-CA" baseline="0" dirty="0" smtClean="0"/>
              <a:t> there are several problems with writing and deploying these tools. </a:t>
            </a:r>
            <a:r>
              <a:rPr lang="en-CA" dirty="0" smtClean="0"/>
              <a:t>Currently, these</a:t>
            </a:r>
            <a:r>
              <a:rPr lang="en-CA" baseline="0" dirty="0" smtClean="0"/>
              <a:t> tools have to be developed from scratch for</a:t>
            </a:r>
            <a:r>
              <a:rPr lang="en-CA" dirty="0" smtClean="0"/>
              <a:t> each file system.</a:t>
            </a:r>
            <a:r>
              <a:rPr lang="en-CA" baseline="0" dirty="0" smtClean="0"/>
              <a:t> Moreover,</a:t>
            </a:r>
            <a:r>
              <a:rPr lang="en-CA" dirty="0" smtClean="0"/>
              <a:t> these</a:t>
            </a:r>
            <a:r>
              <a:rPr lang="en-CA" baseline="0" dirty="0" smtClean="0"/>
              <a:t> tools require significant file system understanding, and are thus typically developed by </a:t>
            </a:r>
            <a:r>
              <a:rPr lang="en-CA" dirty="0" smtClean="0"/>
              <a:t>file system</a:t>
            </a:r>
            <a:r>
              <a:rPr lang="en-CA" baseline="0" dirty="0" smtClean="0"/>
              <a:t> </a:t>
            </a:r>
            <a:r>
              <a:rPr lang="en-CA" dirty="0" smtClean="0"/>
              <a:t>experts.</a:t>
            </a:r>
            <a:r>
              <a:rPr lang="en-CA" baseline="0" dirty="0" smtClean="0"/>
              <a:t> Even so, these tools have bugs, and these bugs can lead to system crashes, data corruption, and security vulnerability. For example, the </a:t>
            </a:r>
            <a:r>
              <a:rPr lang="en-CA" baseline="0" dirty="0" err="1" smtClean="0"/>
              <a:t>ntfsprogs</a:t>
            </a:r>
            <a:r>
              <a:rPr lang="en-CA" baseline="0" dirty="0" smtClean="0"/>
              <a:t> library had a bug that was caused by misinterpreting the NTFS metadata. The size of the master file table or MFT record can be interpreted in two ways: it is the number of clusters per record if the value is positive, otherwise it is two to the power of the absolute value of the field, if the value is </a:t>
            </a:r>
            <a:r>
              <a:rPr lang="en-CA" baseline="0" dirty="0" err="1" smtClean="0"/>
              <a:t>negatve</a:t>
            </a:r>
            <a:r>
              <a:rPr lang="en-CA" baseline="0" dirty="0" smtClean="0"/>
              <a:t>. Unsurprisingly, the </a:t>
            </a:r>
            <a:r>
              <a:rPr lang="en-CA" baseline="0" dirty="0" err="1" smtClean="0"/>
              <a:t>ntfsprogs</a:t>
            </a:r>
            <a:r>
              <a:rPr lang="en-CA" baseline="0" dirty="0" smtClean="0"/>
              <a:t> library used to misinterpret this field, and corrupt file systems when resizing partitions.</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3</a:t>
            </a:fld>
            <a:endParaRPr lang="en-CA"/>
          </a:p>
        </p:txBody>
      </p:sp>
    </p:spTree>
    <p:extLst>
      <p:ext uri="{BB962C8B-B14F-4D97-AF65-F5344CB8AC3E}">
        <p14:creationId xmlns:p14="http://schemas.microsoft.com/office/powerpoint/2010/main" val="2384017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smtClean="0"/>
              <a:t>The root cause of all these problems is that these</a:t>
            </a:r>
            <a:r>
              <a:rPr lang="en-CA" baseline="0" dirty="0" smtClean="0"/>
              <a:t> tools are inherently hard to write because the file system format is complex and poorly documented. These a</a:t>
            </a:r>
            <a:r>
              <a:rPr lang="en-CA" dirty="0" smtClean="0"/>
              <a:t>pplications require detailed knowledge </a:t>
            </a:r>
            <a:r>
              <a:rPr lang="en-CA" baseline="0" dirty="0" smtClean="0"/>
              <a:t>for traversing and processing file system metadata.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Since different file systems use different metadata structures, an application cannot be reused across file systems. In addition, these applications need to be robust to file system corruption, or else they can crash or cause even more corruption.</a:t>
            </a:r>
          </a:p>
        </p:txBody>
      </p:sp>
      <p:sp>
        <p:nvSpPr>
          <p:cNvPr id="4" name="Slide Number Placeholder 3"/>
          <p:cNvSpPr>
            <a:spLocks noGrp="1"/>
          </p:cNvSpPr>
          <p:nvPr>
            <p:ph type="sldNum" sz="quarter" idx="10"/>
          </p:nvPr>
        </p:nvSpPr>
        <p:spPr/>
        <p:txBody>
          <a:bodyPr/>
          <a:lstStyle/>
          <a:p>
            <a:fld id="{B5B5BF96-4013-477F-9949-176AD53AFF60}" type="slidenum">
              <a:rPr lang="en-CA" smtClean="0"/>
              <a:t>4</a:t>
            </a:fld>
            <a:endParaRPr lang="en-CA"/>
          </a:p>
        </p:txBody>
      </p:sp>
    </p:spTree>
    <p:extLst>
      <p:ext uri="{BB962C8B-B14F-4D97-AF65-F5344CB8AC3E}">
        <p14:creationId xmlns:p14="http://schemas.microsoft.com/office/powerpoint/2010/main" val="4228326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smtClean="0"/>
              <a:t>Our goal for this work is to</a:t>
            </a:r>
            <a:r>
              <a:rPr lang="en-CA" baseline="0" dirty="0" smtClean="0"/>
              <a:t> simplify development of file-system aware applications in two ways. First, we would like to reduce the amount of file-system specific code that application developers have to write. Second, we would like to make it easier to write applications that work for multiple file systems. We also want to improve the robustness of these applications. In particular, we would like to enable correct traversal of file system metadata, and ensure type-safe access to file system metadata structures. Type-safe access helps with detecting corruption when reading metadata from disk, and also before writing metadata out to disk. This in turn helps reduce error propagation and further corruption from spreading.</a:t>
            </a:r>
            <a:endParaRPr lang="en-CA"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5</a:t>
            </a:fld>
            <a:endParaRPr lang="en-CA"/>
          </a:p>
        </p:txBody>
      </p:sp>
    </p:spTree>
    <p:extLst>
      <p:ext uri="{BB962C8B-B14F-4D97-AF65-F5344CB8AC3E}">
        <p14:creationId xmlns:p14="http://schemas.microsoft.com/office/powerpoint/2010/main" val="1357026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Our</a:t>
            </a:r>
            <a:r>
              <a:rPr lang="en-CA" baseline="0" dirty="0" smtClean="0"/>
              <a:t> approach is embodied in the Spiffy framework that help developers with building file-system aware applications. The main idea is to have file system developers specify the format of their file system. With this specification, we can generate the Spiffy parsing and serialization library. Application developers can then use the Spiffy library to build robust file-system aware tools.</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6</a:t>
            </a:fld>
            <a:endParaRPr lang="en-CA"/>
          </a:p>
        </p:txBody>
      </p:sp>
    </p:spTree>
    <p:extLst>
      <p:ext uri="{BB962C8B-B14F-4D97-AF65-F5344CB8AC3E}">
        <p14:creationId xmlns:p14="http://schemas.microsoft.com/office/powerpoint/2010/main" val="4110104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Our</a:t>
            </a:r>
            <a:r>
              <a:rPr lang="en-CA" baseline="0" dirty="0" smtClean="0"/>
              <a:t> approach to specifying the format of the file system is to have file system developers annotate the metadata structures in the header files of existing source code.</a:t>
            </a:r>
            <a:endParaRPr lang="en-CA" dirty="0"/>
          </a:p>
        </p:txBody>
      </p:sp>
      <p:sp>
        <p:nvSpPr>
          <p:cNvPr id="4" name="Slide Number Placeholder 3"/>
          <p:cNvSpPr>
            <a:spLocks noGrp="1"/>
          </p:cNvSpPr>
          <p:nvPr>
            <p:ph type="sldNum" sz="quarter" idx="10"/>
          </p:nvPr>
        </p:nvSpPr>
        <p:spPr/>
        <p:txBody>
          <a:bodyPr/>
          <a:lstStyle/>
          <a:p>
            <a:fld id="{849A0A36-F84D-437B-B821-CB3EBADC1433}" type="slidenum">
              <a:rPr lang="en-CA" smtClean="0"/>
              <a:t>7</a:t>
            </a:fld>
            <a:endParaRPr lang="en-CA"/>
          </a:p>
        </p:txBody>
      </p:sp>
    </p:spTree>
    <p:extLst>
      <p:ext uri="{BB962C8B-B14F-4D97-AF65-F5344CB8AC3E}">
        <p14:creationId xmlns:p14="http://schemas.microsoft.com/office/powerpoint/2010/main" val="1606651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Next, we use the Spiffy compiler to process the annotated metadata structures</a:t>
            </a:r>
            <a:r>
              <a:rPr lang="en-CA" baseline="0" dirty="0" smtClean="0"/>
              <a:t> to generate a library that provides a generic API for type-safe parsing and serialization, as well as facility for traversing the file system. </a:t>
            </a:r>
            <a:endParaRPr lang="en-CA" dirty="0"/>
          </a:p>
        </p:txBody>
      </p:sp>
      <p:sp>
        <p:nvSpPr>
          <p:cNvPr id="4" name="Slide Number Placeholder 3"/>
          <p:cNvSpPr>
            <a:spLocks noGrp="1"/>
          </p:cNvSpPr>
          <p:nvPr>
            <p:ph type="sldNum" sz="quarter" idx="10"/>
          </p:nvPr>
        </p:nvSpPr>
        <p:spPr/>
        <p:txBody>
          <a:bodyPr/>
          <a:lstStyle/>
          <a:p>
            <a:fld id="{849A0A36-F84D-437B-B821-CB3EBADC1433}" type="slidenum">
              <a:rPr lang="en-CA" smtClean="0"/>
              <a:t>8</a:t>
            </a:fld>
            <a:endParaRPr lang="en-CA"/>
          </a:p>
        </p:txBody>
      </p:sp>
    </p:spTree>
    <p:extLst>
      <p:ext uri="{BB962C8B-B14F-4D97-AF65-F5344CB8AC3E}">
        <p14:creationId xmlns:p14="http://schemas.microsoft.com/office/powerpoint/2010/main" val="2193666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Lastly,</a:t>
            </a:r>
            <a:r>
              <a:rPr lang="en-CA" baseline="0" dirty="0" smtClean="0"/>
              <a:t> the application developers can use the Spiffy library to build robust tools. Since the Spiffy API is standardized for all annotated file systems, it is easier for developers to build applications that work for multiple file systems.</a:t>
            </a:r>
            <a:endParaRPr lang="en-CA" dirty="0"/>
          </a:p>
        </p:txBody>
      </p:sp>
      <p:sp>
        <p:nvSpPr>
          <p:cNvPr id="4" name="Slide Number Placeholder 3"/>
          <p:cNvSpPr>
            <a:spLocks noGrp="1"/>
          </p:cNvSpPr>
          <p:nvPr>
            <p:ph type="sldNum" sz="quarter" idx="10"/>
          </p:nvPr>
        </p:nvSpPr>
        <p:spPr/>
        <p:txBody>
          <a:bodyPr/>
          <a:lstStyle/>
          <a:p>
            <a:fld id="{849A0A36-F84D-437B-B821-CB3EBADC1433}" type="slidenum">
              <a:rPr lang="en-CA" smtClean="0"/>
              <a:t>9</a:t>
            </a:fld>
            <a:endParaRPr lang="en-CA"/>
          </a:p>
        </p:txBody>
      </p:sp>
    </p:spTree>
    <p:extLst>
      <p:ext uri="{BB962C8B-B14F-4D97-AF65-F5344CB8AC3E}">
        <p14:creationId xmlns:p14="http://schemas.microsoft.com/office/powerpoint/2010/main" val="2060796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To summarize</a:t>
            </a:r>
            <a:r>
              <a:rPr lang="en-CA" baseline="0" dirty="0" smtClean="0"/>
              <a:t> the talk thus far, we’ve described the difficulty with writing robust, and generic file-system applications. Now we will talk about the details of the Spiffy framework and how it helps with this problem. </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10</a:t>
            </a:fld>
            <a:endParaRPr lang="en-CA"/>
          </a:p>
        </p:txBody>
      </p:sp>
    </p:spTree>
    <p:extLst>
      <p:ext uri="{BB962C8B-B14F-4D97-AF65-F5344CB8AC3E}">
        <p14:creationId xmlns:p14="http://schemas.microsoft.com/office/powerpoint/2010/main" val="2140244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As a first step, we need a complete specification of the file system format, which will enable type-safe parsing of file system </a:t>
            </a:r>
            <a:r>
              <a:rPr lang="en-CA" baseline="0" dirty="0" err="1" smtClean="0"/>
              <a:t>strutures</a:t>
            </a:r>
            <a:r>
              <a:rPr lang="en-CA" baseline="0" dirty="0" smtClean="0"/>
              <a:t>.</a:t>
            </a:r>
          </a:p>
          <a:p>
            <a:endParaRPr lang="en-CA" baseline="0" dirty="0" smtClean="0"/>
          </a:p>
          <a:p>
            <a:r>
              <a:rPr lang="en-CA" dirty="0" smtClean="0"/>
              <a:t>Ideally,</a:t>
            </a:r>
            <a:r>
              <a:rPr lang="en-CA" baseline="0" dirty="0" smtClean="0"/>
              <a:t> we should be able to extract the format specification from the metadata structure definitions in existing source code. However, these structure definitions do *not* completely describe their actual format on disk. For example, the slide shows a definition of </a:t>
            </a:r>
            <a:r>
              <a:rPr lang="en-CA" baseline="0" dirty="0" err="1" smtClean="0"/>
              <a:t>struct</a:t>
            </a:r>
            <a:r>
              <a:rPr lang="en-CA" baseline="0" dirty="0" smtClean="0"/>
              <a:t> foo in a file system header file. In it, there are two fields, called size and </a:t>
            </a:r>
            <a:r>
              <a:rPr lang="en-CA" baseline="0" dirty="0" err="1" smtClean="0"/>
              <a:t>bar_block_ptr</a:t>
            </a:r>
            <a:r>
              <a:rPr lang="en-CA" baseline="0" dirty="0" smtClean="0"/>
              <a:t>, both of a little endian integer type. By looking at the name, </a:t>
            </a:r>
            <a:r>
              <a:rPr lang="en-CA" baseline="0" dirty="0" err="1" smtClean="0"/>
              <a:t>bar_block_ptr</a:t>
            </a:r>
            <a:r>
              <a:rPr lang="en-CA" baseline="0" dirty="0" smtClean="0"/>
              <a:t>, a programmer may deduce that this field points to a block of type </a:t>
            </a:r>
            <a:r>
              <a:rPr lang="en-CA" baseline="0" dirty="0" err="1" smtClean="0"/>
              <a:t>bar_block</a:t>
            </a:r>
            <a:r>
              <a:rPr lang="en-CA" baseline="0" dirty="0" smtClean="0"/>
              <a:t>, but there is no way to know for sure.</a:t>
            </a:r>
          </a:p>
        </p:txBody>
      </p:sp>
      <p:sp>
        <p:nvSpPr>
          <p:cNvPr id="4" name="Slide Number Placeholder 3"/>
          <p:cNvSpPr>
            <a:spLocks noGrp="1"/>
          </p:cNvSpPr>
          <p:nvPr>
            <p:ph type="sldNum" sz="quarter" idx="10"/>
          </p:nvPr>
        </p:nvSpPr>
        <p:spPr/>
        <p:txBody>
          <a:bodyPr/>
          <a:lstStyle/>
          <a:p>
            <a:fld id="{B5B5BF96-4013-477F-9949-176AD53AFF60}" type="slidenum">
              <a:rPr lang="en-CA" smtClean="0"/>
              <a:t>11</a:t>
            </a:fld>
            <a:endParaRPr lang="en-CA"/>
          </a:p>
        </p:txBody>
      </p:sp>
    </p:spTree>
    <p:extLst>
      <p:ext uri="{BB962C8B-B14F-4D97-AF65-F5344CB8AC3E}">
        <p14:creationId xmlns:p14="http://schemas.microsoft.com/office/powerpoint/2010/main" val="1898869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Our solution is to annotate this metadata structure so that we can unambiguously specify this missing information. Here we add an FSSTRUCT annotation to </a:t>
            </a:r>
            <a:r>
              <a:rPr lang="en-CA" baseline="0" dirty="0" err="1" smtClean="0"/>
              <a:t>struct</a:t>
            </a:r>
            <a:r>
              <a:rPr lang="en-CA" baseline="0" dirty="0" smtClean="0"/>
              <a:t> foo to indicate that it is an on-disk metadata structure. Then, we add a pointer annotation </a:t>
            </a:r>
            <a:r>
              <a:rPr lang="en-US" baseline="0" dirty="0" smtClean="0"/>
              <a:t>to s</a:t>
            </a:r>
            <a:r>
              <a:rPr lang="en-US" dirty="0" smtClean="0"/>
              <a:t>pecify that a data structure field holds an address to a location on physical storage. Here,</a:t>
            </a:r>
            <a:r>
              <a:rPr lang="en-US" baseline="0" dirty="0" smtClean="0"/>
              <a:t> the pointer annotation added</a:t>
            </a:r>
            <a:r>
              <a:rPr lang="en-CA" baseline="0" dirty="0" smtClean="0"/>
              <a:t> to the </a:t>
            </a:r>
            <a:r>
              <a:rPr lang="en-CA" baseline="0" dirty="0" err="1" smtClean="0"/>
              <a:t>bar_block_ptr</a:t>
            </a:r>
            <a:r>
              <a:rPr lang="en-CA" baseline="0" dirty="0" smtClean="0"/>
              <a:t> field specifies that the field value is the address of a block of type </a:t>
            </a:r>
            <a:r>
              <a:rPr lang="en-CA" baseline="0" dirty="0" err="1" smtClean="0"/>
              <a:t>bar_block</a:t>
            </a:r>
            <a:r>
              <a:rPr lang="en-CA" baseline="0" dirty="0" smtClean="0"/>
              <a:t>.</a:t>
            </a:r>
          </a:p>
          <a:p>
            <a:endParaRPr lang="en-CA" baseline="0" dirty="0" smtClean="0"/>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12</a:t>
            </a:fld>
            <a:endParaRPr lang="en-CA"/>
          </a:p>
        </p:txBody>
      </p:sp>
    </p:spTree>
    <p:extLst>
      <p:ext uri="{BB962C8B-B14F-4D97-AF65-F5344CB8AC3E}">
        <p14:creationId xmlns:p14="http://schemas.microsoft.com/office/powerpoint/2010/main" val="33910827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Pointer annotations provide the ability to specify relationships between file system structures. Thus they allow traversal of file system structures.</a:t>
            </a:r>
            <a:endParaRPr lang="en-CA" dirty="0" smtClean="0"/>
          </a:p>
          <a:p>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13</a:t>
            </a:fld>
            <a:endParaRPr lang="en-CA"/>
          </a:p>
        </p:txBody>
      </p:sp>
    </p:spTree>
    <p:extLst>
      <p:ext uri="{BB962C8B-B14F-4D97-AF65-F5344CB8AC3E}">
        <p14:creationId xmlns:p14="http://schemas.microsoft.com/office/powerpoint/2010/main" val="2387462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The challenge with file system pointers is that they can store different types of logical addresses, requiring different mappings to obtain the corresponding physical storage address. Our solution is to add an address space type to p</a:t>
            </a:r>
            <a:r>
              <a:rPr lang="en-CA" dirty="0" smtClean="0"/>
              <a:t>ointer annotations to specify how</a:t>
            </a:r>
            <a:r>
              <a:rPr lang="en-CA" baseline="0" dirty="0" smtClean="0"/>
              <a:t> to map an address to its physical location. Examples of such address spaces include the block, file and NID address spaces that I will describe next.</a:t>
            </a:r>
          </a:p>
        </p:txBody>
      </p:sp>
      <p:sp>
        <p:nvSpPr>
          <p:cNvPr id="4" name="Slide Number Placeholder 3"/>
          <p:cNvSpPr>
            <a:spLocks noGrp="1"/>
          </p:cNvSpPr>
          <p:nvPr>
            <p:ph type="sldNum" sz="quarter" idx="10"/>
          </p:nvPr>
        </p:nvSpPr>
        <p:spPr/>
        <p:txBody>
          <a:bodyPr/>
          <a:lstStyle/>
          <a:p>
            <a:fld id="{849A0A36-F84D-437B-B821-CB3EBADC1433}" type="slidenum">
              <a:rPr lang="en-CA" smtClean="0"/>
              <a:t>14</a:t>
            </a:fld>
            <a:endParaRPr lang="en-CA"/>
          </a:p>
        </p:txBody>
      </p:sp>
    </p:spTree>
    <p:extLst>
      <p:ext uri="{BB962C8B-B14F-4D97-AF65-F5344CB8AC3E}">
        <p14:creationId xmlns:p14="http://schemas.microsoft.com/office/powerpoint/2010/main" val="1679095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In the block address space, an address is simply the block number in the file system. This is the most common address space.</a:t>
            </a:r>
          </a:p>
        </p:txBody>
      </p:sp>
      <p:sp>
        <p:nvSpPr>
          <p:cNvPr id="4" name="Slide Number Placeholder 3"/>
          <p:cNvSpPr>
            <a:spLocks noGrp="1"/>
          </p:cNvSpPr>
          <p:nvPr>
            <p:ph type="sldNum" sz="quarter" idx="10"/>
          </p:nvPr>
        </p:nvSpPr>
        <p:spPr/>
        <p:txBody>
          <a:bodyPr/>
          <a:lstStyle/>
          <a:p>
            <a:fld id="{B5B5BF96-4013-477F-9949-176AD53AFF60}" type="slidenum">
              <a:rPr lang="en-CA" smtClean="0"/>
              <a:t>15</a:t>
            </a:fld>
            <a:endParaRPr lang="en-CA"/>
          </a:p>
        </p:txBody>
      </p:sp>
    </p:spTree>
    <p:extLst>
      <p:ext uri="{BB962C8B-B14F-4D97-AF65-F5344CB8AC3E}">
        <p14:creationId xmlns:p14="http://schemas.microsoft.com/office/powerpoint/2010/main" val="1212408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In the file address space, an address is an </a:t>
            </a:r>
            <a:r>
              <a:rPr lang="en-CA" baseline="0" dirty="0" err="1" smtClean="0"/>
              <a:t>inode</a:t>
            </a:r>
            <a:r>
              <a:rPr lang="en-CA" baseline="0" dirty="0" smtClean="0"/>
              <a:t> number that identifies a specific file. For example, the Ext4 journal is stored on disk as a regular file, and a field in the super block stores the </a:t>
            </a:r>
            <a:r>
              <a:rPr lang="en-CA" baseline="0" dirty="0" err="1" smtClean="0"/>
              <a:t>inode</a:t>
            </a:r>
            <a:r>
              <a:rPr lang="en-CA" baseline="0" dirty="0" smtClean="0"/>
              <a:t> number of the journal. We specify this field as a pointer to the Ext4 journal in the file address space. This address space requires mapping the logical blocks of the journal file to their physical locations.</a:t>
            </a:r>
            <a:endParaRPr lang="en-CA" dirty="0" smtClean="0"/>
          </a:p>
          <a:p>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16</a:t>
            </a:fld>
            <a:endParaRPr lang="en-CA"/>
          </a:p>
        </p:txBody>
      </p:sp>
    </p:spTree>
    <p:extLst>
      <p:ext uri="{BB962C8B-B14F-4D97-AF65-F5344CB8AC3E}">
        <p14:creationId xmlns:p14="http://schemas.microsoft.com/office/powerpoint/2010/main" val="95146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The l</a:t>
            </a:r>
            <a:r>
              <a:rPr lang="en-CA" dirty="0" smtClean="0"/>
              <a:t>ocations of some structures are implicit in the code, and not</a:t>
            </a:r>
            <a:r>
              <a:rPr lang="en-CA" baseline="0" dirty="0" smtClean="0"/>
              <a:t> part of the structure definition in header files. </a:t>
            </a:r>
            <a:r>
              <a:rPr lang="en-CA" dirty="0" smtClean="0"/>
              <a:t>E.g. the Ext4 block group descriptor table is the next block following the super block, but the</a:t>
            </a:r>
            <a:r>
              <a:rPr lang="en-CA" baseline="0" dirty="0" smtClean="0"/>
              <a:t> </a:t>
            </a:r>
            <a:r>
              <a:rPr lang="en-CA" dirty="0" smtClean="0"/>
              <a:t>Ext4 super block does not have a field that points to this descriptor table. However, we</a:t>
            </a:r>
            <a:r>
              <a:rPr lang="en-CA" baseline="0" dirty="0" smtClean="0"/>
              <a:t> need such a p</a:t>
            </a:r>
            <a:r>
              <a:rPr lang="en-CA" dirty="0" smtClean="0"/>
              <a:t>ointer to traverse the file system.</a:t>
            </a:r>
          </a:p>
        </p:txBody>
      </p:sp>
      <p:sp>
        <p:nvSpPr>
          <p:cNvPr id="4" name="Slide Number Placeholder 3"/>
          <p:cNvSpPr>
            <a:spLocks noGrp="1"/>
          </p:cNvSpPr>
          <p:nvPr>
            <p:ph type="sldNum" sz="quarter" idx="10"/>
          </p:nvPr>
        </p:nvSpPr>
        <p:spPr/>
        <p:txBody>
          <a:bodyPr/>
          <a:lstStyle/>
          <a:p>
            <a:fld id="{B5B5BF96-4013-477F-9949-176AD53AFF60}" type="slidenum">
              <a:rPr lang="en-CA" smtClean="0"/>
              <a:t>17</a:t>
            </a:fld>
            <a:endParaRPr lang="en-CA"/>
          </a:p>
        </p:txBody>
      </p:sp>
    </p:spTree>
    <p:extLst>
      <p:ext uri="{BB962C8B-B14F-4D97-AF65-F5344CB8AC3E}">
        <p14:creationId xmlns:p14="http://schemas.microsoft.com/office/powerpoint/2010/main" val="3117402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Our s</a:t>
            </a:r>
            <a:r>
              <a:rPr lang="en-CA" dirty="0" smtClean="0"/>
              <a:t>olution</a:t>
            </a:r>
            <a:r>
              <a:rPr lang="en-CA" baseline="0" dirty="0" smtClean="0"/>
              <a:t> is to provide an i</a:t>
            </a:r>
            <a:r>
              <a:rPr lang="en-CA" dirty="0" smtClean="0"/>
              <a:t>mplicit pointer annotation that take two</a:t>
            </a:r>
            <a:r>
              <a:rPr lang="en-CA" baseline="0" dirty="0" smtClean="0"/>
              <a:t> additional arguments, a name, and </a:t>
            </a:r>
            <a:r>
              <a:rPr lang="en-CA" baseline="0" dirty="0" err="1" smtClean="0"/>
              <a:t>and</a:t>
            </a:r>
            <a:r>
              <a:rPr lang="en-CA" baseline="0" dirty="0" smtClean="0"/>
              <a:t> expression. The </a:t>
            </a:r>
            <a:r>
              <a:rPr lang="en-CA" i="1" dirty="0" smtClean="0"/>
              <a:t>name</a:t>
            </a:r>
            <a:r>
              <a:rPr lang="en-CA" dirty="0" smtClean="0"/>
              <a:t> argument</a:t>
            </a:r>
            <a:r>
              <a:rPr lang="en-CA" baseline="0" dirty="0" smtClean="0"/>
              <a:t> </a:t>
            </a:r>
            <a:r>
              <a:rPr lang="en-CA" dirty="0" smtClean="0"/>
              <a:t>creates a logical pointer field that can be accessed</a:t>
            </a:r>
            <a:r>
              <a:rPr lang="en-CA" baseline="0" dirty="0" smtClean="0"/>
              <a:t> and </a:t>
            </a:r>
            <a:r>
              <a:rPr lang="en-CA" dirty="0" smtClean="0"/>
              <a:t>dereferenced.</a:t>
            </a:r>
            <a:r>
              <a:rPr lang="en-CA" baseline="0" dirty="0" smtClean="0"/>
              <a:t> The </a:t>
            </a:r>
            <a:r>
              <a:rPr lang="en-CA" i="1" dirty="0" smtClean="0"/>
              <a:t>expr argument </a:t>
            </a:r>
            <a:r>
              <a:rPr lang="en-CA" dirty="0" smtClean="0"/>
              <a:t>is a C expression that specifies how to calculate the field value, which is the pointer address.</a:t>
            </a:r>
          </a:p>
          <a:p>
            <a:endParaRPr lang="en-CA" dirty="0" smtClean="0"/>
          </a:p>
          <a:p>
            <a:r>
              <a:rPr lang="en-CA" dirty="0" smtClean="0"/>
              <a:t>In</a:t>
            </a:r>
            <a:r>
              <a:rPr lang="en-CA" baseline="0" dirty="0" smtClean="0"/>
              <a:t> this example, the pointer annotation creates a logical field called </a:t>
            </a:r>
            <a:r>
              <a:rPr lang="en-CA" baseline="0" dirty="0" err="1" smtClean="0"/>
              <a:t>s_block_group_desc</a:t>
            </a:r>
            <a:r>
              <a:rPr lang="en-CA" baseline="0" dirty="0" smtClean="0"/>
              <a:t>, and evaluates the expression at runtime that assigns the field a value of 2 or 1 depending the block size of the file system. Now this field name can be used to traverse the file system from the super block to the block group descriptor table.</a:t>
            </a:r>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18</a:t>
            </a:fld>
            <a:endParaRPr lang="en-CA"/>
          </a:p>
        </p:txBody>
      </p:sp>
    </p:spTree>
    <p:extLst>
      <p:ext uri="{BB962C8B-B14F-4D97-AF65-F5344CB8AC3E}">
        <p14:creationId xmlns:p14="http://schemas.microsoft.com/office/powerpoint/2010/main" val="1574822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A pointer may point to different types of metadata</a:t>
            </a:r>
            <a:r>
              <a:rPr lang="en-CA" baseline="0" dirty="0" smtClean="0"/>
              <a:t> in different contexts. For example, p</a:t>
            </a:r>
            <a:r>
              <a:rPr lang="en-CA" dirty="0" smtClean="0"/>
              <a:t>ointers in an </a:t>
            </a:r>
            <a:r>
              <a:rPr lang="en-CA" dirty="0" err="1" smtClean="0"/>
              <a:t>inode</a:t>
            </a:r>
            <a:r>
              <a:rPr lang="en-CA" dirty="0" smtClean="0"/>
              <a:t> structure can point to directory or data blocks, depending</a:t>
            </a:r>
            <a:r>
              <a:rPr lang="en-CA" baseline="0" dirty="0" smtClean="0"/>
              <a:t> on the type of the </a:t>
            </a:r>
            <a:r>
              <a:rPr lang="en-CA" baseline="0" dirty="0" err="1" smtClean="0"/>
              <a:t>inode</a:t>
            </a:r>
            <a:r>
              <a:rPr lang="en-CA" baseline="0" dirty="0" smtClean="0"/>
              <a:t>. We support such context-sensitive types by </a:t>
            </a:r>
            <a:r>
              <a:rPr lang="en-CA" dirty="0" smtClean="0"/>
              <a:t>specifying a </a:t>
            </a:r>
            <a:r>
              <a:rPr lang="en-CA" i="1" dirty="0" smtClean="0"/>
              <a:t>WHEN condition</a:t>
            </a:r>
            <a:r>
              <a:rPr lang="en-CA" i="1" baseline="0" dirty="0" smtClean="0"/>
              <a:t> </a:t>
            </a:r>
            <a:r>
              <a:rPr lang="en-CA" dirty="0" smtClean="0"/>
              <a:t>in pointer annotations. The field is a valid pointer of</a:t>
            </a:r>
            <a:r>
              <a:rPr lang="en-CA" baseline="0" dirty="0" smtClean="0"/>
              <a:t> the specified type </a:t>
            </a:r>
            <a:r>
              <a:rPr lang="en-CA" dirty="0" smtClean="0"/>
              <a:t>only if </a:t>
            </a:r>
            <a:r>
              <a:rPr lang="en-CA" baseline="0" dirty="0" smtClean="0"/>
              <a:t>the</a:t>
            </a:r>
            <a:r>
              <a:rPr lang="en-CA" dirty="0" smtClean="0"/>
              <a:t> expression in a when condition evaluates to true. In</a:t>
            </a:r>
            <a:r>
              <a:rPr lang="en-CA" baseline="0" dirty="0" smtClean="0"/>
              <a:t> this example, there are two pointer annotation to the same </a:t>
            </a:r>
            <a:r>
              <a:rPr lang="en-CA" baseline="0" dirty="0" err="1" smtClean="0"/>
              <a:t>i_block</a:t>
            </a:r>
            <a:r>
              <a:rPr lang="en-CA" baseline="0" dirty="0" smtClean="0"/>
              <a:t> array. The first annotation specified that </a:t>
            </a:r>
            <a:r>
              <a:rPr lang="en-CA" baseline="0" dirty="0" err="1" smtClean="0"/>
              <a:t>i_block</a:t>
            </a:r>
            <a:r>
              <a:rPr lang="en-CA" baseline="0" dirty="0" smtClean="0"/>
              <a:t> is an array of pointers to </a:t>
            </a:r>
            <a:r>
              <a:rPr lang="en-CA" baseline="0" dirty="0" err="1" smtClean="0"/>
              <a:t>dir_blocks</a:t>
            </a:r>
            <a:r>
              <a:rPr lang="en-CA" baseline="0" dirty="0" smtClean="0"/>
              <a:t> only when the </a:t>
            </a:r>
            <a:r>
              <a:rPr lang="en-CA" baseline="0" dirty="0" err="1" smtClean="0"/>
              <a:t>inode’s</a:t>
            </a:r>
            <a:r>
              <a:rPr lang="en-CA" baseline="0" dirty="0" smtClean="0"/>
              <a:t> mode field indicates a directory. The second annotation specified that this same </a:t>
            </a:r>
            <a:r>
              <a:rPr lang="en-CA" baseline="0" dirty="0" err="1" smtClean="0"/>
              <a:t>i_block</a:t>
            </a:r>
            <a:r>
              <a:rPr lang="en-CA" baseline="0" dirty="0" smtClean="0"/>
              <a:t> is an array of pointers to </a:t>
            </a:r>
            <a:r>
              <a:rPr lang="en-CA" baseline="0" dirty="0" err="1" smtClean="0"/>
              <a:t>data_blocks</a:t>
            </a:r>
            <a:r>
              <a:rPr lang="en-CA" baseline="0" dirty="0" smtClean="0"/>
              <a:t> when the </a:t>
            </a:r>
            <a:r>
              <a:rPr lang="en-CA" baseline="0" dirty="0" err="1" smtClean="0"/>
              <a:t>inode’s</a:t>
            </a:r>
            <a:r>
              <a:rPr lang="en-CA" baseline="0" dirty="0" smtClean="0"/>
              <a:t> mode field indicates a regular file.</a:t>
            </a:r>
            <a:endParaRPr lang="en-CA"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19</a:t>
            </a:fld>
            <a:endParaRPr lang="en-CA"/>
          </a:p>
        </p:txBody>
      </p:sp>
    </p:spTree>
    <p:extLst>
      <p:ext uri="{BB962C8B-B14F-4D97-AF65-F5344CB8AC3E}">
        <p14:creationId xmlns:p14="http://schemas.microsoft.com/office/powerpoint/2010/main" val="21674246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Spiffy provides a CHECK annotation that helps to check metadata structure constraints at runtime. In the top example, we specify that the block size must be at most 64KB, and the magic field of the super block must be the Ext4 magic number.</a:t>
            </a:r>
            <a:endParaRPr lang="en-CA"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CA"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The bottom example shows a fragment of the generated parsing code for the Ext4 super block. This example shows how the check annotations are implemented. These checks help detect super block metadata corruption.</a:t>
            </a:r>
          </a:p>
        </p:txBody>
      </p:sp>
      <p:sp>
        <p:nvSpPr>
          <p:cNvPr id="4" name="Slide Number Placeholder 3"/>
          <p:cNvSpPr>
            <a:spLocks noGrp="1"/>
          </p:cNvSpPr>
          <p:nvPr>
            <p:ph type="sldNum" sz="quarter" idx="10"/>
          </p:nvPr>
        </p:nvSpPr>
        <p:spPr/>
        <p:txBody>
          <a:bodyPr/>
          <a:lstStyle/>
          <a:p>
            <a:fld id="{B5B5BF96-4013-477F-9949-176AD53AFF60}" type="slidenum">
              <a:rPr lang="en-CA" smtClean="0"/>
              <a:t>20</a:t>
            </a:fld>
            <a:endParaRPr lang="en-CA"/>
          </a:p>
        </p:txBody>
      </p:sp>
    </p:spTree>
    <p:extLst>
      <p:ext uri="{BB962C8B-B14F-4D97-AF65-F5344CB8AC3E}">
        <p14:creationId xmlns:p14="http://schemas.microsoft.com/office/powerpoint/2010/main" val="35954121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The generated Spiffy library contains a C++ class for every annotated structure and its fields. This allows us to implement type-safe parsing and serialization. It also allows us to introspect each structure and its fields to get their types, sizes, names and parents.</a:t>
            </a:r>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21</a:t>
            </a:fld>
            <a:endParaRPr lang="en-CA"/>
          </a:p>
        </p:txBody>
      </p:sp>
    </p:spTree>
    <p:extLst>
      <p:ext uri="{BB962C8B-B14F-4D97-AF65-F5344CB8AC3E}">
        <p14:creationId xmlns:p14="http://schemas.microsoft.com/office/powerpoint/2010/main" val="6796354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We now take a look at the annotation effort</a:t>
            </a:r>
            <a:r>
              <a:rPr lang="en-CA" baseline="0" dirty="0" smtClean="0"/>
              <a:t> required to completely specify each file system. The line count column shows the number of lines of code that define the on-disk data structures in each file system. The annotated column shows the annotations we have added to the original structure definitions. In all cases, the annotations are approximately one forth of the total line count. These numbers include the types of annotations that we have shown earlier, as well as two special cases. We needed to declare some metadata structures that were not declared at all, such as an Ext4 indirect block, which the code assumes is array of pointers. We also made minor changes to some structure definitions for clarity, in particular when a single type definition is used to access multiple different types. </a:t>
            </a:r>
            <a:r>
              <a:rPr lang="en-CA" dirty="0" smtClean="0"/>
              <a:t>E.g. block pointers in Ext4 </a:t>
            </a:r>
            <a:r>
              <a:rPr lang="en-CA" dirty="0" err="1" smtClean="0"/>
              <a:t>inode</a:t>
            </a:r>
            <a:r>
              <a:rPr lang="en-CA" dirty="0" smtClean="0"/>
              <a:t> is an array of 15 pointers, the first 12 are direct block pointers, while the last 3 are indirect pointers of different types.</a:t>
            </a:r>
          </a:p>
        </p:txBody>
      </p:sp>
      <p:sp>
        <p:nvSpPr>
          <p:cNvPr id="4" name="Slide Number Placeholder 3"/>
          <p:cNvSpPr>
            <a:spLocks noGrp="1"/>
          </p:cNvSpPr>
          <p:nvPr>
            <p:ph type="sldNum" sz="quarter" idx="10"/>
          </p:nvPr>
        </p:nvSpPr>
        <p:spPr/>
        <p:txBody>
          <a:bodyPr/>
          <a:lstStyle/>
          <a:p>
            <a:fld id="{849A0A36-F84D-437B-B821-CB3EBADC1433}" type="slidenum">
              <a:rPr lang="en-CA" smtClean="0"/>
              <a:t>22</a:t>
            </a:fld>
            <a:endParaRPr lang="en-CA"/>
          </a:p>
        </p:txBody>
      </p:sp>
    </p:spTree>
    <p:extLst>
      <p:ext uri="{BB962C8B-B14F-4D97-AF65-F5344CB8AC3E}">
        <p14:creationId xmlns:p14="http://schemas.microsoft.com/office/powerpoint/2010/main" val="41748394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We now show an example of building a file-system</a:t>
            </a:r>
            <a:r>
              <a:rPr lang="en-CA" baseline="0" dirty="0" smtClean="0"/>
              <a:t> aware application: a free space display tool that plots a histogram of the sizes of free extents available in a file system image. For this application, we require knowledge of how file system keeps </a:t>
            </a:r>
            <a:r>
              <a:rPr lang="en-CA" dirty="0" smtClean="0"/>
              <a:t>track of block allocation information. The</a:t>
            </a:r>
            <a:r>
              <a:rPr lang="en-CA" baseline="0" dirty="0" smtClean="0"/>
              <a:t> manual approach requires first</a:t>
            </a:r>
            <a:r>
              <a:rPr lang="en-CA" dirty="0" smtClean="0"/>
              <a:t> traversing</a:t>
            </a:r>
            <a:r>
              <a:rPr lang="en-CA" baseline="0" dirty="0" smtClean="0"/>
              <a:t> the file system to access the block allocation information, and then processing this information to obtain the free space extents. In </a:t>
            </a:r>
            <a:r>
              <a:rPr lang="en-CA" baseline="0" dirty="0" err="1" smtClean="0"/>
              <a:t>constrast</a:t>
            </a:r>
            <a:r>
              <a:rPr lang="en-CA" baseline="0" dirty="0" smtClean="0"/>
              <a:t>, the Spiffy library provides the necessary traversal code so that the developer only needs to focus on writing code that processes the block allocation metadata.</a:t>
            </a:r>
          </a:p>
        </p:txBody>
      </p:sp>
      <p:sp>
        <p:nvSpPr>
          <p:cNvPr id="4" name="Slide Number Placeholder 3"/>
          <p:cNvSpPr>
            <a:spLocks noGrp="1"/>
          </p:cNvSpPr>
          <p:nvPr>
            <p:ph type="sldNum" sz="quarter" idx="10"/>
          </p:nvPr>
        </p:nvSpPr>
        <p:spPr/>
        <p:txBody>
          <a:bodyPr/>
          <a:lstStyle/>
          <a:p>
            <a:fld id="{B5B5BF96-4013-477F-9949-176AD53AFF60}" type="slidenum">
              <a:rPr lang="en-CA" smtClean="0"/>
              <a:t>23</a:t>
            </a:fld>
            <a:endParaRPr lang="en-CA"/>
          </a:p>
        </p:txBody>
      </p:sp>
    </p:spTree>
    <p:extLst>
      <p:ext uri="{BB962C8B-B14F-4D97-AF65-F5344CB8AC3E}">
        <p14:creationId xmlns:p14="http://schemas.microsoft.com/office/powerpoint/2010/main" val="3955701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Here, we show a manually written</a:t>
            </a:r>
            <a:r>
              <a:rPr lang="en-CA" baseline="0" dirty="0" smtClean="0"/>
              <a:t> function that traverses the Ext4 file system to find the bitmaps that contain block allocation information. As you can see, a lot of boilerplate code, highlighted in yellow, is needed.</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24</a:t>
            </a:fld>
            <a:endParaRPr lang="en-CA"/>
          </a:p>
        </p:txBody>
      </p:sp>
    </p:spTree>
    <p:extLst>
      <p:ext uri="{BB962C8B-B14F-4D97-AF65-F5344CB8AC3E}">
        <p14:creationId xmlns:p14="http://schemas.microsoft.com/office/powerpoint/2010/main" val="14051706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dirty="0" smtClean="0"/>
              <a:t>What we want</a:t>
            </a:r>
            <a:r>
              <a:rPr lang="en-CA" baseline="0" dirty="0" smtClean="0"/>
              <a:t> is an easier way to get to the function that processes the block bitmaps, without needing to write all of the code to traverse the file system.</a:t>
            </a:r>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25</a:t>
            </a:fld>
            <a:endParaRPr lang="en-CA"/>
          </a:p>
        </p:txBody>
      </p:sp>
    </p:spTree>
    <p:extLst>
      <p:ext uri="{BB962C8B-B14F-4D97-AF65-F5344CB8AC3E}">
        <p14:creationId xmlns:p14="http://schemas.microsoft.com/office/powerpoint/2010/main" val="23386600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Also,</a:t>
            </a:r>
            <a:r>
              <a:rPr lang="en-CA" baseline="0" dirty="0" smtClean="0"/>
              <a:t> to fit this function on the slide, we have shown it without any error checks. In practice, these checks are easy to accidentally omit. In that case, any error during traversal, or corruption in the file system, could cause unexpected behavior in the program, including crashes or garbage output.</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26</a:t>
            </a:fld>
            <a:endParaRPr lang="en-CA"/>
          </a:p>
        </p:txBody>
      </p:sp>
    </p:spTree>
    <p:extLst>
      <p:ext uri="{BB962C8B-B14F-4D97-AF65-F5344CB8AC3E}">
        <p14:creationId xmlns:p14="http://schemas.microsoft.com/office/powerpoint/2010/main" val="10641245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Now we show the same</a:t>
            </a:r>
            <a:r>
              <a:rPr lang="en-CA" baseline="0" dirty="0" smtClean="0"/>
              <a:t> application, written using Spiffy. On line 3, we retrieve the super block through the </a:t>
            </a:r>
            <a:r>
              <a:rPr lang="en-CA" baseline="0" dirty="0" err="1" smtClean="0"/>
              <a:t>fetch_super</a:t>
            </a:r>
            <a:r>
              <a:rPr lang="en-CA" baseline="0" dirty="0" smtClean="0"/>
              <a:t> function. If the super block is corrupted, the function will return null. </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27</a:t>
            </a:fld>
            <a:endParaRPr lang="en-CA"/>
          </a:p>
        </p:txBody>
      </p:sp>
    </p:spTree>
    <p:extLst>
      <p:ext uri="{BB962C8B-B14F-4D97-AF65-F5344CB8AC3E}">
        <p14:creationId xmlns:p14="http://schemas.microsoft.com/office/powerpoint/2010/main" val="32877124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Next, on line 7, invoking the </a:t>
            </a:r>
            <a:r>
              <a:rPr lang="en-CA" baseline="0" dirty="0" err="1" smtClean="0"/>
              <a:t>process_by_type</a:t>
            </a:r>
            <a:r>
              <a:rPr lang="en-CA" baseline="0" dirty="0" smtClean="0"/>
              <a:t> function allows processing all of the block bitmaps reachable from the super block, through its annotated pointers. This avoids the need to write any traversal code manually, so the developer can focus on just the code that processes the block bitmaps.</a:t>
            </a:r>
          </a:p>
        </p:txBody>
      </p:sp>
      <p:sp>
        <p:nvSpPr>
          <p:cNvPr id="4" name="Slide Number Placeholder 3"/>
          <p:cNvSpPr>
            <a:spLocks noGrp="1"/>
          </p:cNvSpPr>
          <p:nvPr>
            <p:ph type="sldNum" sz="quarter" idx="10"/>
          </p:nvPr>
        </p:nvSpPr>
        <p:spPr/>
        <p:txBody>
          <a:bodyPr/>
          <a:lstStyle/>
          <a:p>
            <a:fld id="{B5B5BF96-4013-477F-9949-176AD53AFF60}" type="slidenum">
              <a:rPr lang="en-CA" smtClean="0"/>
              <a:t>28</a:t>
            </a:fld>
            <a:endParaRPr lang="en-CA"/>
          </a:p>
        </p:txBody>
      </p:sp>
    </p:spTree>
    <p:extLst>
      <p:ext uri="{BB962C8B-B14F-4D97-AF65-F5344CB8AC3E}">
        <p14:creationId xmlns:p14="http://schemas.microsoft.com/office/powerpoint/2010/main" val="20947934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As you can see, there are two advantages to using the Spiffy library. First, it simplifies file system traversal by reducing the need to know the format details. Second, the library parsing routines include automatically generated sanity checks to help detect corruption. </a:t>
            </a:r>
          </a:p>
        </p:txBody>
      </p:sp>
      <p:sp>
        <p:nvSpPr>
          <p:cNvPr id="4" name="Slide Number Placeholder 3"/>
          <p:cNvSpPr>
            <a:spLocks noGrp="1"/>
          </p:cNvSpPr>
          <p:nvPr>
            <p:ph type="sldNum" sz="quarter" idx="10"/>
          </p:nvPr>
        </p:nvSpPr>
        <p:spPr/>
        <p:txBody>
          <a:bodyPr/>
          <a:lstStyle/>
          <a:p>
            <a:fld id="{B5B5BF96-4013-477F-9949-176AD53AFF60}" type="slidenum">
              <a:rPr lang="en-CA" smtClean="0"/>
              <a:t>29</a:t>
            </a:fld>
            <a:endParaRPr lang="en-CA"/>
          </a:p>
        </p:txBody>
      </p:sp>
    </p:spTree>
    <p:extLst>
      <p:ext uri="{BB962C8B-B14F-4D97-AF65-F5344CB8AC3E}">
        <p14:creationId xmlns:p14="http://schemas.microsoft.com/office/powerpoint/2010/main" val="39450452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Now we show the same</a:t>
            </a:r>
            <a:r>
              <a:rPr lang="en-CA" baseline="0" dirty="0" smtClean="0"/>
              <a:t> Spiffy application for </a:t>
            </a:r>
            <a:r>
              <a:rPr lang="en-CA" baseline="0" dirty="0" err="1" smtClean="0"/>
              <a:t>btrfs</a:t>
            </a:r>
            <a:r>
              <a:rPr lang="en-CA" baseline="0" dirty="0" smtClean="0"/>
              <a:t>. The main change is that </a:t>
            </a:r>
            <a:r>
              <a:rPr lang="en-CA" baseline="0" dirty="0" err="1" smtClean="0"/>
              <a:t>process_by_type</a:t>
            </a:r>
            <a:r>
              <a:rPr lang="en-CA" baseline="0" dirty="0" smtClean="0"/>
              <a:t> takes a different structure type argument, an extent item, and a processing function for an extent item. The programmer can thus focus on just processing the </a:t>
            </a:r>
            <a:r>
              <a:rPr lang="en-CA" baseline="0" dirty="0" err="1" smtClean="0"/>
              <a:t>btrfs</a:t>
            </a:r>
            <a:r>
              <a:rPr lang="en-CA" baseline="0" dirty="0" smtClean="0"/>
              <a:t> block allocation information.</a:t>
            </a:r>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30</a:t>
            </a:fld>
            <a:endParaRPr lang="en-CA"/>
          </a:p>
        </p:txBody>
      </p:sp>
    </p:spTree>
    <p:extLst>
      <p:ext uri="{BB962C8B-B14F-4D97-AF65-F5344CB8AC3E}">
        <p14:creationId xmlns:p14="http://schemas.microsoft.com/office/powerpoint/2010/main" val="17380350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We have talked about the free space</a:t>
            </a:r>
            <a:r>
              <a:rPr lang="en-CA" baseline="0" dirty="0" smtClean="0"/>
              <a:t> tool. Now, I am going to describe some other tools that we have developed using Spiffy.</a:t>
            </a:r>
            <a:endParaRPr lang="en-CA" dirty="0"/>
          </a:p>
        </p:txBody>
      </p:sp>
      <p:sp>
        <p:nvSpPr>
          <p:cNvPr id="4" name="Slide Number Placeholder 3"/>
          <p:cNvSpPr>
            <a:spLocks noGrp="1"/>
          </p:cNvSpPr>
          <p:nvPr>
            <p:ph type="sldNum" sz="quarter" idx="10"/>
          </p:nvPr>
        </p:nvSpPr>
        <p:spPr/>
        <p:txBody>
          <a:bodyPr/>
          <a:lstStyle/>
          <a:p>
            <a:fld id="{849A0A36-F84D-437B-B821-CB3EBADC1433}" type="slidenum">
              <a:rPr lang="en-CA" smtClean="0"/>
              <a:t>31</a:t>
            </a:fld>
            <a:endParaRPr lang="en-CA"/>
          </a:p>
        </p:txBody>
      </p:sp>
    </p:spTree>
    <p:extLst>
      <p:ext uri="{BB962C8B-B14F-4D97-AF65-F5344CB8AC3E}">
        <p14:creationId xmlns:p14="http://schemas.microsoft.com/office/powerpoint/2010/main" val="28822580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The type-specific corruptor allows us to specify a field in a metadata structure and corrupt it on disk. This tool works on all our annotated file systems. It enables us to test the robustness of other tools to check that they are able to correctly handle file system corruption. This tool has 455 lines of generic code, and less than 30 lines of file-system specific bootstrap code for each file system.</a:t>
            </a:r>
          </a:p>
          <a:p>
            <a:pPr marL="0" marR="0" indent="0" algn="l" defTabSz="914400" rtl="0" eaLnBrk="1" fontAlgn="auto" latinLnBrk="0" hangingPunct="1">
              <a:lnSpc>
                <a:spcPct val="100000"/>
              </a:lnSpc>
              <a:spcBef>
                <a:spcPts val="0"/>
              </a:spcBef>
              <a:spcAft>
                <a:spcPts val="0"/>
              </a:spcAft>
              <a:buClrTx/>
              <a:buSzTx/>
              <a:buFontTx/>
              <a:buNone/>
              <a:tabLst/>
              <a:defRPr/>
            </a:pPr>
            <a:endParaRPr lang="en-CA"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We ran a series of corruption experiments using this type-specific corruptor tool and discovered crash bugs in existing tools such as dumpe2fs for Ext4 and dump.f2fs. Incidentally, none of these bugs were triggered in 5000 random corruption experiments, showing the usefulness of the type-specific corruptor.</a:t>
            </a:r>
          </a:p>
        </p:txBody>
      </p:sp>
      <p:sp>
        <p:nvSpPr>
          <p:cNvPr id="4" name="Slide Number Placeholder 3"/>
          <p:cNvSpPr>
            <a:spLocks noGrp="1"/>
          </p:cNvSpPr>
          <p:nvPr>
            <p:ph type="sldNum" sz="quarter" idx="10"/>
          </p:nvPr>
        </p:nvSpPr>
        <p:spPr/>
        <p:txBody>
          <a:bodyPr/>
          <a:lstStyle/>
          <a:p>
            <a:fld id="{B5B5BF96-4013-477F-9949-176AD53AFF60}" type="slidenum">
              <a:rPr lang="en-CA" smtClean="0"/>
              <a:t>32</a:t>
            </a:fld>
            <a:endParaRPr lang="en-CA"/>
          </a:p>
        </p:txBody>
      </p:sp>
    </p:spTree>
    <p:extLst>
      <p:ext uri="{BB962C8B-B14F-4D97-AF65-F5344CB8AC3E}">
        <p14:creationId xmlns:p14="http://schemas.microsoft.com/office/powerpoint/2010/main" val="16916630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we have also built a file system conversion tool that allows converting from one file system to another without moving any data blocks unless they would be overwritten by metadata that must be placed in a fixed location in the destination file system.</a:t>
            </a:r>
          </a:p>
          <a:p>
            <a:pPr marL="0" marR="0" indent="0" algn="l" defTabSz="914400" rtl="0" eaLnBrk="1" fontAlgn="auto" latinLnBrk="0" hangingPunct="1">
              <a:lnSpc>
                <a:spcPct val="100000"/>
              </a:lnSpc>
              <a:spcBef>
                <a:spcPts val="0"/>
              </a:spcBef>
              <a:spcAft>
                <a:spcPts val="0"/>
              </a:spcAft>
              <a:buClrTx/>
              <a:buSzTx/>
              <a:buFontTx/>
              <a:buNone/>
              <a:tabLst/>
              <a:defRPr/>
            </a:pPr>
            <a:endParaRPr lang="en-CA"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Currently, the tools converts from Ext4 file systems to F2FS file systems. The generic code in this application has 504 lines. We read the Ext4 metadata into memory with 218 lines of code, and then generate corresponding F2Fs metadata with 1760 lines of code. Most of these lines are needed to initialize F2FS structures.</a:t>
            </a:r>
            <a:endParaRPr lang="en-CA" dirty="0" smtClean="0"/>
          </a:p>
          <a:p>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33</a:t>
            </a:fld>
            <a:endParaRPr lang="en-CA"/>
          </a:p>
        </p:txBody>
      </p:sp>
    </p:spTree>
    <p:extLst>
      <p:ext uri="{BB962C8B-B14F-4D97-AF65-F5344CB8AC3E}">
        <p14:creationId xmlns:p14="http://schemas.microsoft.com/office/powerpoint/2010/main" val="4698671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Here,</a:t>
            </a:r>
            <a:r>
              <a:rPr lang="en-CA" baseline="0" dirty="0" smtClean="0"/>
              <a:t> we </a:t>
            </a:r>
            <a:r>
              <a:rPr lang="en-CA" dirty="0" smtClean="0"/>
              <a:t>evaluate</a:t>
            </a:r>
            <a:r>
              <a:rPr lang="en-CA" baseline="0" dirty="0" smtClean="0"/>
              <a:t> our conversion tool against a copy-based convertor. The copy converter copies file system contents to another local disk, reformats the source disk, and then copies everything back. This graph shows the time to convert a file system with 16GB of data, while varying the number of files in the file system. With fewer files in the file system, less metadata needs to be converted, which reduces the conversion time for our tool. The copy convertor performance is dominated by the size of the file system data, and doesn’t vary much for different numbers of files. In this log graph, we can see that the copy converter is 30-50 times slower than the Spiffy converter.</a:t>
            </a:r>
          </a:p>
        </p:txBody>
      </p:sp>
      <p:sp>
        <p:nvSpPr>
          <p:cNvPr id="4" name="Slide Number Placeholder 3"/>
          <p:cNvSpPr>
            <a:spLocks noGrp="1"/>
          </p:cNvSpPr>
          <p:nvPr>
            <p:ph type="sldNum" sz="quarter" idx="10"/>
          </p:nvPr>
        </p:nvSpPr>
        <p:spPr/>
        <p:txBody>
          <a:bodyPr/>
          <a:lstStyle/>
          <a:p>
            <a:fld id="{849A0A36-F84D-437B-B821-CB3EBADC1433}" type="slidenum">
              <a:rPr lang="en-CA" smtClean="0"/>
              <a:t>34</a:t>
            </a:fld>
            <a:endParaRPr lang="en-CA"/>
          </a:p>
        </p:txBody>
      </p:sp>
    </p:spTree>
    <p:extLst>
      <p:ext uri="{BB962C8B-B14F-4D97-AF65-F5344CB8AC3E}">
        <p14:creationId xmlns:p14="http://schemas.microsoft.com/office/powerpoint/2010/main" val="19297257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We have also implemented a file-system aware</a:t>
            </a:r>
            <a:r>
              <a:rPr lang="en-CA" baseline="0" dirty="0" smtClean="0"/>
              <a:t> block layer caching framework that s</a:t>
            </a:r>
            <a:r>
              <a:rPr lang="en-CA" dirty="0" smtClean="0"/>
              <a:t>upports a rich set of caching policies.</a:t>
            </a:r>
            <a:r>
              <a:rPr lang="en-CA" baseline="0" dirty="0" smtClean="0"/>
              <a:t> These policy </a:t>
            </a:r>
            <a:r>
              <a:rPr lang="en-CA" dirty="0" smtClean="0"/>
              <a:t>require file-system specific information,</a:t>
            </a:r>
            <a:r>
              <a:rPr lang="en-CA" baseline="0" dirty="0" smtClean="0"/>
              <a:t> e.g., to c</a:t>
            </a:r>
            <a:r>
              <a:rPr lang="en-CA" dirty="0" smtClean="0"/>
              <a:t>ache file system metadata,</a:t>
            </a:r>
            <a:r>
              <a:rPr lang="en-CA" baseline="0" dirty="0" smtClean="0"/>
              <a:t> we need to </a:t>
            </a:r>
            <a:r>
              <a:rPr lang="en-CA" dirty="0" smtClean="0"/>
              <a:t>know</a:t>
            </a:r>
            <a:r>
              <a:rPr lang="en-CA" baseline="0" dirty="0" smtClean="0"/>
              <a:t> </a:t>
            </a:r>
            <a:r>
              <a:rPr lang="en-CA" dirty="0" smtClean="0"/>
              <a:t>whether a block is data or metadata block. Similarly, to cache small files, or to cache a specific user’s files,</a:t>
            </a:r>
            <a:r>
              <a:rPr lang="en-CA" baseline="0" dirty="0" smtClean="0"/>
              <a:t> we need to </a:t>
            </a:r>
            <a:r>
              <a:rPr lang="en-CA" dirty="0" smtClean="0"/>
              <a:t>know</a:t>
            </a:r>
            <a:r>
              <a:rPr lang="en-CA" baseline="0" dirty="0" smtClean="0"/>
              <a:t> </a:t>
            </a:r>
            <a:r>
              <a:rPr lang="en-CA" dirty="0" smtClean="0"/>
              <a:t>the file to which a block belongs, and the corresponding</a:t>
            </a:r>
            <a:r>
              <a:rPr lang="en-CA" baseline="0" dirty="0" smtClean="0"/>
              <a:t> </a:t>
            </a:r>
            <a:r>
              <a:rPr lang="en-CA" dirty="0" smtClean="0"/>
              <a:t>file’s size or owner.</a:t>
            </a:r>
            <a:r>
              <a:rPr lang="en-CA" baseline="0" dirty="0" smtClean="0"/>
              <a:t> Our framework re</a:t>
            </a:r>
            <a:r>
              <a:rPr lang="en-CA" dirty="0" smtClean="0"/>
              <a:t>quires no changes to the file system, and works for multiple file systems!</a:t>
            </a:r>
            <a:r>
              <a:rPr lang="en-CA" baseline="0" dirty="0" smtClean="0"/>
              <a:t> </a:t>
            </a:r>
            <a:r>
              <a:rPr lang="en-CA" dirty="0" smtClean="0"/>
              <a:t>It identifies and interprets blocks as</a:t>
            </a:r>
            <a:r>
              <a:rPr lang="en-CA" baseline="0" dirty="0" smtClean="0"/>
              <a:t> they </a:t>
            </a:r>
            <a:r>
              <a:rPr lang="en-CA" dirty="0" smtClean="0"/>
              <a:t>are read or written at the block layer. It uses the </a:t>
            </a:r>
            <a:r>
              <a:rPr lang="en-CA" dirty="0" err="1" smtClean="0"/>
              <a:t>Spiify</a:t>
            </a:r>
            <a:r>
              <a:rPr lang="en-CA" dirty="0" smtClean="0"/>
              <a:t> library to identify the types of blocks, and for interpreting their contents to extract file-system specific information. Our</a:t>
            </a:r>
            <a:r>
              <a:rPr lang="en-CA" baseline="0" dirty="0" smtClean="0"/>
              <a:t> use of Spiffy allows us to implement our file-system aware cache with </a:t>
            </a:r>
            <a:r>
              <a:rPr lang="en-CA" dirty="0" smtClean="0"/>
              <a:t>little file-system specific code.</a:t>
            </a:r>
          </a:p>
          <a:p>
            <a:endParaRPr lang="en-CA" dirty="0" smtClean="0"/>
          </a:p>
          <a:p>
            <a:r>
              <a:rPr lang="en-CA" dirty="0" smtClean="0"/>
              <a:t>Roughly 5% of the</a:t>
            </a:r>
            <a:r>
              <a:rPr lang="en-CA" baseline="0" dirty="0" smtClean="0"/>
              <a:t> generic interpretation and caching policy code.</a:t>
            </a:r>
            <a:endParaRPr lang="en-CA"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35</a:t>
            </a:fld>
            <a:endParaRPr lang="en-CA"/>
          </a:p>
        </p:txBody>
      </p:sp>
    </p:spTree>
    <p:extLst>
      <p:ext uri="{BB962C8B-B14F-4D97-AF65-F5344CB8AC3E}">
        <p14:creationId xmlns:p14="http://schemas.microsoft.com/office/powerpoint/2010/main" val="18790149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In conclusion,</a:t>
            </a:r>
            <a:r>
              <a:rPr lang="en-CA" baseline="0" dirty="0" smtClean="0"/>
              <a:t> we have presented the Spiffy framework. We provide an annotation language for specifying file system format, which enables generating a library for traversing file system metadata. </a:t>
            </a:r>
          </a:p>
          <a:p>
            <a:r>
              <a:rPr lang="en-CA" baseline="0" dirty="0" smtClean="0"/>
              <a:t>The Spiffy library simplifies development of file-system aware applications by reducing the need to write file-system specific code and it enables code reuse across file systems.</a:t>
            </a:r>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It also helps developers write robust applications by providing type-safe parsing and serialization of metadata, and helping to detect file system corruption.</a:t>
            </a:r>
          </a:p>
        </p:txBody>
      </p:sp>
      <p:sp>
        <p:nvSpPr>
          <p:cNvPr id="4" name="Slide Number Placeholder 3"/>
          <p:cNvSpPr>
            <a:spLocks noGrp="1"/>
          </p:cNvSpPr>
          <p:nvPr>
            <p:ph type="sldNum" sz="quarter" idx="10"/>
          </p:nvPr>
        </p:nvSpPr>
        <p:spPr/>
        <p:txBody>
          <a:bodyPr/>
          <a:lstStyle/>
          <a:p>
            <a:fld id="{B5B5BF96-4013-477F-9949-176AD53AFF60}" type="slidenum">
              <a:rPr lang="en-CA" smtClean="0"/>
              <a:t>36</a:t>
            </a:fld>
            <a:endParaRPr lang="en-CA"/>
          </a:p>
        </p:txBody>
      </p:sp>
    </p:spTree>
    <p:extLst>
      <p:ext uri="{BB962C8B-B14F-4D97-AF65-F5344CB8AC3E}">
        <p14:creationId xmlns:p14="http://schemas.microsoft.com/office/powerpoint/2010/main" val="15078973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We evaluated the programming effort for building Spiffy applications, and show that for read</a:t>
            </a:r>
            <a:r>
              <a:rPr lang="en-CA" baseline="0" dirty="0" smtClean="0"/>
              <a:t>-only applications, for both online and offline, we can drastically reduce the amount of file-system specific code that needs to be written. In most cases, the file-system specific code is merely 10% or fewer compared to the generic application code. For read-write applications, however, since file-system specific metadata structures need to be initialized, there is unfortunately, very little saving, as is the case for the conversion tool. Another exception is the free space tool for F2FS. Because its block allocation information is very complex, the amount of file-system specific code is much more compared to the other two file systems.</a:t>
            </a:r>
            <a:endParaRPr lang="en-CA" dirty="0"/>
          </a:p>
        </p:txBody>
      </p:sp>
      <p:sp>
        <p:nvSpPr>
          <p:cNvPr id="4" name="Slide Number Placeholder 3"/>
          <p:cNvSpPr>
            <a:spLocks noGrp="1"/>
          </p:cNvSpPr>
          <p:nvPr>
            <p:ph type="sldNum" sz="quarter" idx="10"/>
          </p:nvPr>
        </p:nvSpPr>
        <p:spPr/>
        <p:txBody>
          <a:bodyPr/>
          <a:lstStyle/>
          <a:p>
            <a:fld id="{849A0A36-F84D-437B-B821-CB3EBADC1433}" type="slidenum">
              <a:rPr lang="en-CA" smtClean="0"/>
              <a:t>43</a:t>
            </a:fld>
            <a:endParaRPr lang="en-CA"/>
          </a:p>
        </p:txBody>
      </p:sp>
    </p:spTree>
    <p:extLst>
      <p:ext uri="{BB962C8B-B14F-4D97-AF65-F5344CB8AC3E}">
        <p14:creationId xmlns:p14="http://schemas.microsoft.com/office/powerpoint/2010/main" val="5649918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Comparison of output or result needs</a:t>
            </a:r>
            <a:r>
              <a:rPr lang="en-CA" baseline="0" dirty="0" smtClean="0"/>
              <a:t> to </a:t>
            </a:r>
            <a:r>
              <a:rPr lang="en-CA" baseline="0" smtClean="0"/>
              <a:t>be emphasize</a:t>
            </a:r>
            <a:endParaRPr lang="en-CA"/>
          </a:p>
        </p:txBody>
      </p:sp>
      <p:sp>
        <p:nvSpPr>
          <p:cNvPr id="4" name="Slide Number Placeholder 3"/>
          <p:cNvSpPr>
            <a:spLocks noGrp="1"/>
          </p:cNvSpPr>
          <p:nvPr>
            <p:ph type="sldNum" sz="quarter" idx="10"/>
          </p:nvPr>
        </p:nvSpPr>
        <p:spPr/>
        <p:txBody>
          <a:bodyPr/>
          <a:lstStyle/>
          <a:p>
            <a:fld id="{849A0A36-F84D-437B-B821-CB3EBADC1433}" type="slidenum">
              <a:rPr lang="en-CA" smtClean="0"/>
              <a:t>44</a:t>
            </a:fld>
            <a:endParaRPr lang="en-CA"/>
          </a:p>
        </p:txBody>
      </p:sp>
    </p:spTree>
    <p:extLst>
      <p:ext uri="{BB962C8B-B14F-4D97-AF65-F5344CB8AC3E}">
        <p14:creationId xmlns:p14="http://schemas.microsoft.com/office/powerpoint/2010/main" val="42252104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Here,</a:t>
            </a:r>
            <a:r>
              <a:rPr lang="en-CA" baseline="0" dirty="0" smtClean="0"/>
              <a:t> we show an example of the ext4 super block. This structure is annotated with FSSUPER to denote that it’s the super block for Ext4. Inside the annotation is a list of keyword arguments. The location argument specifies that the Ext4 super block is located a thousand and 24 bytes away from the start of the partition. </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46</a:t>
            </a:fld>
            <a:endParaRPr lang="en-CA"/>
          </a:p>
        </p:txBody>
      </p:sp>
    </p:spTree>
    <p:extLst>
      <p:ext uri="{BB962C8B-B14F-4D97-AF65-F5344CB8AC3E}">
        <p14:creationId xmlns:p14="http://schemas.microsoft.com/office/powerpoint/2010/main" val="393257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lumMod val="90000"/>
            <a:lumOff val="1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9129091" cy="2167468"/>
          </a:xfrm>
        </p:spPr>
        <p:txBody>
          <a:bodyPr anchor="b">
            <a:normAutofit/>
          </a:bodyPr>
          <a:lstStyle>
            <a:lvl1pPr algn="l">
              <a:defRPr sz="5400" cap="none" baseline="0">
                <a:solidFill>
                  <a:schemeClr val="tx1"/>
                </a:solidFill>
                <a:effectLst/>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4212" y="3037337"/>
            <a:ext cx="7694630" cy="2753864"/>
          </a:xfrm>
        </p:spPr>
        <p:txBody>
          <a:bodyPr anchor="t">
            <a:normAutofit/>
          </a:bodyPr>
          <a:lstStyle>
            <a:lvl1pPr marL="0" indent="0" algn="l">
              <a:buNone/>
              <a:defRPr sz="24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fld id="{0145D206-3748-4927-8C33-DF34FC1F64AB}" type="datetime1">
              <a:rPr lang="en-CA" smtClean="0"/>
              <a:t>2018-02-10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2023C8-B124-43A9-8F92-0EEF5BAA9995}" type="slidenum">
              <a:rPr lang="en-CA" smtClean="0"/>
              <a:t>‹#›</a:t>
            </a:fld>
            <a:endParaRPr lang="en-CA"/>
          </a:p>
        </p:txBody>
      </p:sp>
      <p:grpSp>
        <p:nvGrpSpPr>
          <p:cNvPr id="7" name="Group 6"/>
          <p:cNvGrpSpPr/>
          <p:nvPr userDrawn="1"/>
        </p:nvGrpSpPr>
        <p:grpSpPr>
          <a:xfrm rot="16200000" flipH="1" flipV="1">
            <a:off x="9096637" y="3762638"/>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2271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4212" y="170"/>
            <a:ext cx="10285796" cy="1507067"/>
          </a:xfrm>
        </p:spPr>
        <p:txBody>
          <a:bodyPr>
            <a:normAutofit/>
          </a:bodyPr>
          <a:lstStyle>
            <a:lvl1pPr>
              <a:defRPr sz="4000" b="1" cap="none" baseline="0"/>
            </a:lvl1pPr>
          </a:lstStyle>
          <a:p>
            <a:r>
              <a:rPr lang="en-US" dirty="0" smtClean="0"/>
              <a:t>Click to edit Master title style</a:t>
            </a:r>
            <a:endParaRPr lang="en-US" dirty="0"/>
          </a:p>
        </p:txBody>
      </p:sp>
      <p:sp>
        <p:nvSpPr>
          <p:cNvPr id="3" name="Content Placeholder 2"/>
          <p:cNvSpPr>
            <a:spLocks noGrp="1"/>
          </p:cNvSpPr>
          <p:nvPr>
            <p:ph idx="1"/>
          </p:nvPr>
        </p:nvSpPr>
        <p:spPr>
          <a:xfrm>
            <a:off x="684211" y="1515358"/>
            <a:ext cx="10285797" cy="4656842"/>
          </a:xfrm>
        </p:spPr>
        <p:txBody>
          <a:bodyPr anchor="t">
            <a:noAutofit/>
          </a:bodyPr>
          <a:lstStyle>
            <a:lvl1pPr>
              <a:defRPr sz="2400"/>
            </a:lvl1pPr>
            <a:lvl2pPr>
              <a:defRPr sz="2000"/>
            </a:lvl2pPr>
            <a:lvl3pPr>
              <a:defRPr sz="1800"/>
            </a:lvl3pPr>
            <a:lvl4pPr>
              <a:defRPr sz="1600"/>
            </a:lvl4pPr>
            <a:lvl5pPr>
              <a:defRPr sz="16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D6AD7D9F-39FD-4B95-A4F0-514D658B152C}" type="datetime1">
              <a:rPr lang="en-CA" smtClean="0"/>
              <a:t>2018-02-10</a:t>
            </a:fld>
            <a:endParaRPr lang="en-CA"/>
          </a:p>
        </p:txBody>
      </p:sp>
      <p:sp>
        <p:nvSpPr>
          <p:cNvPr id="5" name="Footer Placeholder 4"/>
          <p:cNvSpPr>
            <a:spLocks noGrp="1"/>
          </p:cNvSpPr>
          <p:nvPr>
            <p:ph type="ftr" sz="quarter" idx="11"/>
          </p:nvPr>
        </p:nvSpPr>
        <p:spPr>
          <a:xfrm>
            <a:off x="684212" y="6172200"/>
            <a:ext cx="10285796" cy="365125"/>
          </a:xfrm>
        </p:spPr>
        <p:txBody>
          <a:bodyPr/>
          <a:lstStyle>
            <a:lvl1pPr>
              <a:defRPr sz="1200"/>
            </a:lvl1pPr>
          </a:lstStyle>
          <a:p>
            <a:endParaRPr lang="en-CA" dirty="0"/>
          </a:p>
        </p:txBody>
      </p:sp>
      <p:sp>
        <p:nvSpPr>
          <p:cNvPr id="6" name="Slide Number Placeholder 5"/>
          <p:cNvSpPr>
            <a:spLocks noGrp="1"/>
          </p:cNvSpPr>
          <p:nvPr>
            <p:ph type="sldNum" sz="quarter" idx="12"/>
          </p:nvPr>
        </p:nvSpPr>
        <p:spPr>
          <a:xfrm>
            <a:off x="10970008" y="6049645"/>
            <a:ext cx="753625" cy="487680"/>
          </a:xfrm>
        </p:spPr>
        <p:txBody>
          <a:bodyPr/>
          <a:lstStyle>
            <a:lvl1pPr>
              <a:defRPr sz="2000"/>
            </a:lvl1pPr>
          </a:lstStyle>
          <a:p>
            <a:fld id="{7B2023C8-B124-43A9-8F92-0EEF5BAA9995}" type="slidenum">
              <a:rPr lang="en-CA" smtClean="0"/>
              <a:pPr/>
              <a:t>‹#›</a:t>
            </a:fld>
            <a:endParaRPr lang="en-CA" dirty="0"/>
          </a:p>
        </p:txBody>
      </p:sp>
    </p:spTree>
    <p:extLst>
      <p:ext uri="{BB962C8B-B14F-4D97-AF65-F5344CB8AC3E}">
        <p14:creationId xmlns:p14="http://schemas.microsoft.com/office/powerpoint/2010/main" val="2682899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lumMod val="90000"/>
            <a:lumOff val="1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5400" b="0" cap="none" baseline="0">
                <a:solidFill>
                  <a:schemeClr val="tx1"/>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7D257ED4-7149-4100-B966-397E56D6DA55}" type="datetime1">
              <a:rPr lang="en-CA" smtClean="0"/>
              <a:pPr/>
              <a:t>2018-02-10</a:t>
            </a:fld>
            <a:endParaRPr lang="en-CA"/>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CA"/>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B2023C8-B124-43A9-8F92-0EEF5BAA9995}" type="slidenum">
              <a:rPr lang="en-CA" smtClean="0"/>
              <a:pPr/>
              <a:t>‹#›</a:t>
            </a:fld>
            <a:endParaRPr lang="en-CA"/>
          </a:p>
        </p:txBody>
      </p:sp>
      <p:grpSp>
        <p:nvGrpSpPr>
          <p:cNvPr id="7" name="Group 6"/>
          <p:cNvGrpSpPr/>
          <p:nvPr userDrawn="1"/>
        </p:nvGrpSpPr>
        <p:grpSpPr>
          <a:xfrm rot="16200000">
            <a:off x="9093845" y="-109806"/>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38094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1515361"/>
            <a:ext cx="5123089" cy="4656839"/>
          </a:xfrm>
        </p:spPr>
        <p:txBody>
          <a:bodyPr>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808133" y="1515362"/>
            <a:ext cx="4934479" cy="4656838"/>
          </a:xfrm>
        </p:spPr>
        <p:txBody>
          <a:bodyPr>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fld id="{9ACE3152-893D-476F-92C8-DC87664CFA37}" type="datetime1">
              <a:rPr lang="en-CA" smtClean="0"/>
              <a:t>2018-02-10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1541667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972080" y="1515357"/>
            <a:ext cx="4649787" cy="576262"/>
          </a:xfrm>
        </p:spPr>
        <p:txBody>
          <a:bodyPr anchor="b">
            <a:noAutofit/>
          </a:bodyPr>
          <a:lstStyle>
            <a:lvl1pPr marL="0" indent="0">
              <a:buNone/>
              <a:defRPr sz="2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84211" y="2100086"/>
            <a:ext cx="4937655" cy="4072114"/>
          </a:xfrm>
        </p:spPr>
        <p:txBody>
          <a:bodyPr anchor="t">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035939" y="1523824"/>
            <a:ext cx="4665134" cy="576262"/>
          </a:xfrm>
        </p:spPr>
        <p:txBody>
          <a:bodyPr anchor="b">
            <a:noAutofit/>
          </a:bodyPr>
          <a:lstStyle>
            <a:lvl1pPr marL="0" indent="0">
              <a:buNone/>
              <a:defRPr sz="2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5763418" y="2100086"/>
            <a:ext cx="4929188" cy="4072114"/>
          </a:xfrm>
        </p:spPr>
        <p:txBody>
          <a:bodyPr anchor="t">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CB2930E9-C17A-4D90-BAE8-42423BBE919E}" type="datetime1">
              <a:rPr lang="en-CA" smtClean="0"/>
              <a:t>2018-02-10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369604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2659AD7-8F94-4BFD-9315-264212F1BDBC}" type="datetime1">
              <a:rPr lang="en-CA" smtClean="0"/>
              <a:t>2018-02-10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409293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852F67-5290-4349-8ADA-9B77C8B30CA1}" type="datetime1">
              <a:rPr lang="en-CA" smtClean="0"/>
              <a:t>2018-02-10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3357509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A9F9A6-54E7-4285-928E-6A5CE63E658D}" type="datetime1">
              <a:rPr lang="en-CA" smtClean="0"/>
              <a:t>2018-02-10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406049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9DADFC-E42D-4E18-8E7A-1F87E4DC64CF}" type="datetime1">
              <a:rPr lang="en-CA" smtClean="0"/>
              <a:t>2018-02-10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1355103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C89DCB4F-0D89-4D46-BA02-4EEC06F0D222}" type="datetime1">
              <a:rPr lang="en-CA" smtClean="0"/>
              <a:t>2018-02-10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2803295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C2696F7-A71E-484D-AC3A-CE094204994B}" type="datetime1">
              <a:rPr lang="en-CA" smtClean="0"/>
              <a:t>2018-02-10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2498958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2026A3-D9E4-42EE-8898-5602D67646A6}" type="datetime1">
              <a:rPr lang="en-CA" smtClean="0"/>
              <a:t>2018-02-10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2023C8-B124-43A9-8F92-0EEF5BAA9995}" type="slidenum">
              <a:rPr lang="en-CA" smtClean="0"/>
              <a:t>‹#›</a:t>
            </a:fld>
            <a:endParaRPr lang="en-CA"/>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7867062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82851CE-B33E-4D8E-B913-47C489FB1326}" type="datetime1">
              <a:rPr lang="en-CA" smtClean="0"/>
              <a:t>2018-02-10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3868579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0249205-445A-4022-8550-E0423D1698F6}" type="datetime1">
              <a:rPr lang="en-CA" smtClean="0"/>
              <a:t>2018-02-10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2023C8-B124-43A9-8F92-0EEF5BAA9995}" type="slidenum">
              <a:rPr lang="en-CA" smtClean="0"/>
              <a:t>‹#›</a:t>
            </a:fld>
            <a:endParaRPr lang="en-CA"/>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253015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928CFC7-231B-411E-A147-D21C0786264A}" type="datetime1">
              <a:rPr lang="en-CA" smtClean="0"/>
              <a:t>2018-02-10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19026641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E4A103E-C7C6-4893-8576-55DC8ED846C7}" type="datetime1">
              <a:rPr lang="en-CA" smtClean="0"/>
              <a:t>2018-02-10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4470361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9FAEEE-621B-4F9D-B0C9-9282EED4D31D}" type="datetime1">
              <a:rPr lang="en-CA" smtClean="0"/>
              <a:t>2018-02-10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289914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7" name="Group 6"/>
          <p:cNvGrpSpPr/>
          <p:nvPr/>
        </p:nvGrpSpPr>
        <p:grpSpPr>
          <a:xfrm rot="16200000">
            <a:off x="9093845" y="-109806"/>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170"/>
            <a:ext cx="8534400" cy="1507067"/>
          </a:xfrm>
          <a:prstGeom prst="rect">
            <a:avLst/>
          </a:prstGeom>
          <a:effectLst/>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84211" y="1515358"/>
            <a:ext cx="10285797" cy="4656841"/>
          </a:xfrm>
          <a:prstGeom prst="rect">
            <a:avLst/>
          </a:prstGeom>
        </p:spPr>
        <p:txBody>
          <a:bodyPr vert="horz" lIns="91440" tIns="45720" rIns="91440" bIns="45720" rtlCol="0" anchor="t">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1"/>
                </a:solidFill>
                <a:effectLst/>
                <a:latin typeface="+mn-lt"/>
              </a:defRPr>
            </a:lvl1pPr>
          </a:lstStyle>
          <a:p>
            <a:fld id="{1046A6BF-9417-477F-B83E-822B9F56EF48}" type="datetime1">
              <a:rPr lang="en-CA" smtClean="0"/>
              <a:t>2018-02-10</a:t>
            </a:fld>
            <a:endParaRPr lang="en-CA"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1"/>
                </a:solidFill>
                <a:effectLst/>
                <a:latin typeface="+mn-lt"/>
              </a:defRPr>
            </a:lvl1pPr>
          </a:lstStyle>
          <a:p>
            <a:endParaRPr lang="en-CA"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2000" b="0" i="0">
                <a:solidFill>
                  <a:schemeClr val="bg1"/>
                </a:solidFill>
                <a:effectLst/>
                <a:latin typeface="+mn-lt"/>
              </a:defRPr>
            </a:lvl1pPr>
          </a:lstStyle>
          <a:p>
            <a:fld id="{7B2023C8-B124-43A9-8F92-0EEF5BAA9995}" type="slidenum">
              <a:rPr lang="en-CA" smtClean="0"/>
              <a:pPr/>
              <a:t>‹#›</a:t>
            </a:fld>
            <a:endParaRPr lang="en-CA" dirty="0"/>
          </a:p>
        </p:txBody>
      </p:sp>
    </p:spTree>
    <p:extLst>
      <p:ext uri="{BB962C8B-B14F-4D97-AF65-F5344CB8AC3E}">
        <p14:creationId xmlns:p14="http://schemas.microsoft.com/office/powerpoint/2010/main" val="22053811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lang="en-US" sz="4000" b="1" kern="1200" cap="none" baseline="0" dirty="0" smtClean="0">
          <a:ln w="3175" cmpd="sng">
            <a:noFill/>
          </a:ln>
          <a:solidFill>
            <a:schemeClr val="bg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707066"/>
            <a:ext cx="9129091" cy="2167468"/>
          </a:xfrm>
        </p:spPr>
        <p:txBody>
          <a:bodyPr>
            <a:normAutofit fontScale="90000"/>
          </a:bodyPr>
          <a:lstStyle/>
          <a:p>
            <a:r>
              <a:rPr lang="en-CA" dirty="0" smtClean="0"/>
              <a:t>Spiffy: Enabling File-System Aware Storage Applications</a:t>
            </a:r>
            <a:br>
              <a:rPr lang="en-CA" dirty="0" smtClean="0"/>
            </a:br>
            <a:endParaRPr lang="en-CA" dirty="0"/>
          </a:p>
        </p:txBody>
      </p:sp>
      <p:sp>
        <p:nvSpPr>
          <p:cNvPr id="3" name="Subtitle 2"/>
          <p:cNvSpPr>
            <a:spLocks noGrp="1"/>
          </p:cNvSpPr>
          <p:nvPr>
            <p:ph type="subTitle" idx="1"/>
          </p:nvPr>
        </p:nvSpPr>
        <p:spPr>
          <a:xfrm>
            <a:off x="684211" y="3037337"/>
            <a:ext cx="8863825" cy="2753864"/>
          </a:xfrm>
        </p:spPr>
        <p:txBody>
          <a:bodyPr/>
          <a:lstStyle/>
          <a:p>
            <a:r>
              <a:rPr lang="en-CA" dirty="0" err="1" smtClean="0"/>
              <a:t>Kuei</a:t>
            </a:r>
            <a:r>
              <a:rPr lang="en-CA" dirty="0" smtClean="0"/>
              <a:t> (Jack) Sun, Daniel Fryer, Joseph Chu, Matthew </a:t>
            </a:r>
            <a:r>
              <a:rPr lang="en-CA" dirty="0" err="1" smtClean="0"/>
              <a:t>Lakier</a:t>
            </a:r>
            <a:r>
              <a:rPr lang="en-CA" dirty="0" smtClean="0"/>
              <a:t>, </a:t>
            </a:r>
          </a:p>
          <a:p>
            <a:r>
              <a:rPr lang="en-CA" dirty="0" smtClean="0"/>
              <a:t>Angela </a:t>
            </a:r>
            <a:r>
              <a:rPr lang="en-CA" dirty="0" err="1" smtClean="0"/>
              <a:t>Demke</a:t>
            </a:r>
            <a:r>
              <a:rPr lang="en-CA" dirty="0" smtClean="0"/>
              <a:t> Brown, and </a:t>
            </a:r>
            <a:r>
              <a:rPr lang="en-CA" dirty="0" err="1" smtClean="0"/>
              <a:t>Ashvin</a:t>
            </a:r>
            <a:r>
              <a:rPr lang="en-CA" dirty="0" smtClean="0"/>
              <a:t> </a:t>
            </a:r>
            <a:r>
              <a:rPr lang="en-CA" dirty="0" err="1" smtClean="0"/>
              <a:t>Goel</a:t>
            </a:r>
            <a:endParaRPr lang="en-CA" dirty="0" smtClean="0"/>
          </a:p>
          <a:p>
            <a:endParaRPr lang="en-CA" dirty="0" smtClean="0"/>
          </a:p>
          <a:p>
            <a:r>
              <a:rPr lang="en-CA" i="1" dirty="0" smtClean="0"/>
              <a:t>University of Toronto</a:t>
            </a:r>
            <a:endParaRPr lang="en-CA" i="1" dirty="0"/>
          </a:p>
        </p:txBody>
      </p:sp>
    </p:spTree>
    <p:extLst>
      <p:ext uri="{BB962C8B-B14F-4D97-AF65-F5344CB8AC3E}">
        <p14:creationId xmlns:p14="http://schemas.microsoft.com/office/powerpoint/2010/main" val="29897368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Introduction</a:t>
            </a:r>
            <a:endParaRPr lang="en-CA" dirty="0"/>
          </a:p>
        </p:txBody>
      </p:sp>
      <p:sp>
        <p:nvSpPr>
          <p:cNvPr id="3" name="Content Placeholder 2"/>
          <p:cNvSpPr>
            <a:spLocks noGrp="1"/>
          </p:cNvSpPr>
          <p:nvPr>
            <p:ph idx="1"/>
          </p:nvPr>
        </p:nvSpPr>
        <p:spPr/>
        <p:txBody>
          <a:bodyPr/>
          <a:lstStyle/>
          <a:p>
            <a:r>
              <a:rPr lang="en-CA" smtClean="0"/>
              <a:t>File-system aware applications</a:t>
            </a:r>
          </a:p>
          <a:p>
            <a:pPr lvl="1"/>
            <a:r>
              <a:rPr lang="en-CA" smtClean="0"/>
              <a:t>E.g. partition editor, file system checker, defragmentation tool</a:t>
            </a:r>
          </a:p>
          <a:p>
            <a:pPr lvl="1"/>
            <a:r>
              <a:rPr lang="en-CA" smtClean="0"/>
              <a:t>Operate directly on file system metadata structures</a:t>
            </a:r>
          </a:p>
          <a:p>
            <a:pPr lvl="2"/>
            <a:r>
              <a:rPr lang="en-CA" smtClean="0"/>
              <a:t>Require detailed knowledge of file system format on disk</a:t>
            </a:r>
          </a:p>
          <a:p>
            <a:pPr lvl="2"/>
            <a:r>
              <a:rPr lang="en-CA" smtClean="0"/>
              <a:t>Bypass VFS layer</a:t>
            </a:r>
          </a:p>
          <a:p>
            <a:pPr lvl="1"/>
            <a:r>
              <a:rPr lang="en-CA" smtClean="0"/>
              <a:t>Essential for successful deployment of file system</a:t>
            </a:r>
            <a:endParaRPr lang="en-CA" dirty="0" smtClean="0"/>
          </a:p>
        </p:txBody>
      </p:sp>
      <p:sp>
        <p:nvSpPr>
          <p:cNvPr id="4" name="Slide Number Placeholder 3"/>
          <p:cNvSpPr>
            <a:spLocks noGrp="1"/>
          </p:cNvSpPr>
          <p:nvPr>
            <p:ph type="sldNum" sz="quarter" idx="12"/>
          </p:nvPr>
        </p:nvSpPr>
        <p:spPr/>
        <p:txBody>
          <a:bodyPr/>
          <a:lstStyle/>
          <a:p>
            <a:fld id="{7B2023C8-B124-43A9-8F92-0EEF5BAA9995}" type="slidenum">
              <a:rPr lang="en-CA" smtClean="0"/>
              <a:pPr/>
              <a:t>2</a:t>
            </a:fld>
            <a:endParaRPr lang="en-CA" dirty="0"/>
          </a:p>
        </p:txBody>
      </p:sp>
    </p:spTree>
    <p:extLst>
      <p:ext uri="{BB962C8B-B14F-4D97-AF65-F5344CB8AC3E}">
        <p14:creationId xmlns:p14="http://schemas.microsoft.com/office/powerpoint/2010/main" val="17889028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Problem</a:t>
            </a:r>
            <a:endParaRPr lang="en-CA" dirty="0"/>
          </a:p>
        </p:txBody>
      </p:sp>
      <p:sp>
        <p:nvSpPr>
          <p:cNvPr id="3" name="Content Placeholder 2"/>
          <p:cNvSpPr>
            <a:spLocks noGrp="1"/>
          </p:cNvSpPr>
          <p:nvPr>
            <p:ph idx="1"/>
          </p:nvPr>
        </p:nvSpPr>
        <p:spPr/>
        <p:txBody>
          <a:bodyPr/>
          <a:lstStyle/>
          <a:p>
            <a:r>
              <a:rPr lang="en-CA" dirty="0" smtClean="0"/>
              <a:t>Tools have to be developed from scratch for each file system</a:t>
            </a:r>
          </a:p>
          <a:p>
            <a:r>
              <a:rPr lang="en-CA" dirty="0" smtClean="0"/>
              <a:t>Tools developed only by experts</a:t>
            </a:r>
          </a:p>
          <a:p>
            <a:r>
              <a:rPr lang="en-CA" dirty="0" smtClean="0"/>
              <a:t>Bugs lead to system crash, data corruption, security vulnerability</a:t>
            </a:r>
          </a:p>
          <a:p>
            <a:endParaRPr lang="en-CA" dirty="0" smtClean="0"/>
          </a:p>
          <a:p>
            <a:r>
              <a:rPr lang="en-CA" dirty="0" smtClean="0"/>
              <a:t>Example: bug 723343 in </a:t>
            </a:r>
            <a:r>
              <a:rPr lang="en-CA" dirty="0" err="1" smtClean="0"/>
              <a:t>ntfsprogs</a:t>
            </a:r>
            <a:endParaRPr lang="en-CA" dirty="0" smtClean="0"/>
          </a:p>
          <a:p>
            <a:pPr lvl="1"/>
            <a:r>
              <a:rPr lang="en-CA" dirty="0" smtClean="0"/>
              <a:t>NTFS stores the size of MFT record as either:</a:t>
            </a:r>
          </a:p>
          <a:p>
            <a:pPr lvl="2"/>
            <a:r>
              <a:rPr lang="en-CA" dirty="0" smtClean="0"/>
              <a:t># of clusters </a:t>
            </a:r>
            <a:r>
              <a:rPr lang="en-CA" dirty="0"/>
              <a:t>per record, if value &gt; </a:t>
            </a:r>
            <a:r>
              <a:rPr lang="en-CA" dirty="0" smtClean="0"/>
              <a:t>0</a:t>
            </a:r>
          </a:p>
          <a:p>
            <a:pPr lvl="2"/>
            <a:r>
              <a:rPr lang="en-CA" dirty="0" smtClean="0"/>
              <a:t>2</a:t>
            </a:r>
            <a:r>
              <a:rPr lang="en-CA" baseline="30000" dirty="0" smtClean="0"/>
              <a:t>|value</a:t>
            </a:r>
            <a:r>
              <a:rPr lang="en-CA" baseline="30000" dirty="0"/>
              <a:t>|</a:t>
            </a:r>
            <a:r>
              <a:rPr lang="en-CA" dirty="0"/>
              <a:t>, if value &lt; </a:t>
            </a:r>
            <a:r>
              <a:rPr lang="en-CA" dirty="0" smtClean="0"/>
              <a:t>0</a:t>
            </a:r>
          </a:p>
          <a:p>
            <a:pPr lvl="1"/>
            <a:r>
              <a:rPr lang="en-CA" dirty="0" err="1" smtClean="0"/>
              <a:t>ntfsprogs</a:t>
            </a:r>
            <a:r>
              <a:rPr lang="en-CA" dirty="0" smtClean="0"/>
              <a:t> misinterprets this field, corrupting NTFS when resizing partitions</a:t>
            </a:r>
          </a:p>
          <a:p>
            <a:endParaRPr lang="en-CA" dirty="0"/>
          </a:p>
        </p:txBody>
      </p:sp>
      <p:sp>
        <p:nvSpPr>
          <p:cNvPr id="6" name="Slide Number Placeholder 5"/>
          <p:cNvSpPr>
            <a:spLocks noGrp="1"/>
          </p:cNvSpPr>
          <p:nvPr>
            <p:ph type="sldNum" sz="quarter" idx="12"/>
          </p:nvPr>
        </p:nvSpPr>
        <p:spPr/>
        <p:txBody>
          <a:bodyPr/>
          <a:lstStyle/>
          <a:p>
            <a:fld id="{7B2023C8-B124-43A9-8F92-0EEF5BAA9995}" type="slidenum">
              <a:rPr lang="en-CA" smtClean="0"/>
              <a:pPr/>
              <a:t>3</a:t>
            </a:fld>
            <a:endParaRPr lang="en-CA" dirty="0"/>
          </a:p>
        </p:txBody>
      </p:sp>
    </p:spTree>
    <p:extLst>
      <p:ext uri="{BB962C8B-B14F-4D97-AF65-F5344CB8AC3E}">
        <p14:creationId xmlns:p14="http://schemas.microsoft.com/office/powerpoint/2010/main" val="3683252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Root Cause</a:t>
            </a:r>
            <a:endParaRPr lang="en-CA" dirty="0"/>
          </a:p>
        </p:txBody>
      </p:sp>
      <p:sp>
        <p:nvSpPr>
          <p:cNvPr id="3" name="Content Placeholder 2"/>
          <p:cNvSpPr>
            <a:spLocks noGrp="1"/>
          </p:cNvSpPr>
          <p:nvPr>
            <p:ph idx="1"/>
          </p:nvPr>
        </p:nvSpPr>
        <p:spPr/>
        <p:txBody>
          <a:bodyPr/>
          <a:lstStyle/>
          <a:p>
            <a:r>
              <a:rPr lang="en-CA" smtClean="0"/>
              <a:t>File-system applications are difficult to write</a:t>
            </a:r>
          </a:p>
          <a:p>
            <a:pPr lvl="1"/>
            <a:r>
              <a:rPr lang="en-CA" smtClean="0"/>
              <a:t>File system format complex and often poorly documented</a:t>
            </a:r>
          </a:p>
          <a:p>
            <a:pPr lvl="1"/>
            <a:r>
              <a:rPr lang="en-CA" smtClean="0"/>
              <a:t>Require detailed knowledge of format</a:t>
            </a:r>
          </a:p>
          <a:p>
            <a:pPr lvl="1"/>
            <a:r>
              <a:rPr lang="en-CA" smtClean="0"/>
              <a:t>Cannot be reused across file systems</a:t>
            </a:r>
          </a:p>
          <a:p>
            <a:pPr lvl="1"/>
            <a:r>
              <a:rPr lang="en-CA" smtClean="0"/>
              <a:t>Need to handle file system corruption</a:t>
            </a:r>
            <a:endParaRPr lang="en-CA" dirty="0" smtClean="0"/>
          </a:p>
        </p:txBody>
      </p:sp>
      <p:sp>
        <p:nvSpPr>
          <p:cNvPr id="5" name="Slide Number Placeholder 4"/>
          <p:cNvSpPr>
            <a:spLocks noGrp="1"/>
          </p:cNvSpPr>
          <p:nvPr>
            <p:ph type="sldNum" sz="quarter" idx="12"/>
          </p:nvPr>
        </p:nvSpPr>
        <p:spPr/>
        <p:txBody>
          <a:bodyPr/>
          <a:lstStyle/>
          <a:p>
            <a:fld id="{7B2023C8-B124-43A9-8F92-0EEF5BAA9995}" type="slidenum">
              <a:rPr lang="en-CA" smtClean="0"/>
              <a:pPr/>
              <a:t>4</a:t>
            </a:fld>
            <a:endParaRPr lang="en-CA" dirty="0"/>
          </a:p>
        </p:txBody>
      </p:sp>
    </p:spTree>
    <p:extLst>
      <p:ext uri="{BB962C8B-B14F-4D97-AF65-F5344CB8AC3E}">
        <p14:creationId xmlns:p14="http://schemas.microsoft.com/office/powerpoint/2010/main" val="9054102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Goals</a:t>
            </a:r>
            <a:endParaRPr lang="en-CA" dirty="0"/>
          </a:p>
        </p:txBody>
      </p:sp>
      <p:sp>
        <p:nvSpPr>
          <p:cNvPr id="3" name="Content Placeholder 2"/>
          <p:cNvSpPr>
            <a:spLocks noGrp="1"/>
          </p:cNvSpPr>
          <p:nvPr>
            <p:ph idx="1"/>
          </p:nvPr>
        </p:nvSpPr>
        <p:spPr/>
        <p:txBody>
          <a:bodyPr/>
          <a:lstStyle/>
          <a:p>
            <a:r>
              <a:rPr lang="en-CA" smtClean="0"/>
              <a:t>Simplify development of file-system aware applications</a:t>
            </a:r>
          </a:p>
          <a:p>
            <a:pPr lvl="1"/>
            <a:r>
              <a:rPr lang="en-CA" smtClean="0"/>
              <a:t>Reduce file-system specific code</a:t>
            </a:r>
          </a:p>
          <a:p>
            <a:pPr lvl="1"/>
            <a:r>
              <a:rPr lang="en-CA" smtClean="0"/>
              <a:t>Enable code reuse across file systems</a:t>
            </a:r>
          </a:p>
          <a:p>
            <a:endParaRPr lang="en-CA" smtClean="0"/>
          </a:p>
          <a:p>
            <a:r>
              <a:rPr lang="en-CA" smtClean="0"/>
              <a:t>Improve robustness of these applications</a:t>
            </a:r>
          </a:p>
          <a:p>
            <a:pPr lvl="1"/>
            <a:r>
              <a:rPr lang="en-CA" smtClean="0"/>
              <a:t>Enable correct traversal of file system metadata</a:t>
            </a:r>
          </a:p>
          <a:p>
            <a:pPr lvl="1"/>
            <a:r>
              <a:rPr lang="en-CA" smtClean="0"/>
              <a:t>Ensure type safe access to file system structures</a:t>
            </a:r>
          </a:p>
          <a:p>
            <a:pPr lvl="2"/>
            <a:r>
              <a:rPr lang="en-CA" smtClean="0"/>
              <a:t>Helps detect corruption for both read and write</a:t>
            </a:r>
          </a:p>
          <a:p>
            <a:pPr lvl="2"/>
            <a:r>
              <a:rPr lang="en-CA" smtClean="0"/>
              <a:t>Helps reduce error propagation, and further corruption</a:t>
            </a:r>
          </a:p>
          <a:p>
            <a:pPr lvl="2"/>
            <a:endParaRPr lang="en-CA" smtClean="0"/>
          </a:p>
          <a:p>
            <a:endParaRPr lang="en-CA" dirty="0" smtClean="0"/>
          </a:p>
        </p:txBody>
      </p:sp>
      <p:sp>
        <p:nvSpPr>
          <p:cNvPr id="5" name="Slide Number Placeholder 4"/>
          <p:cNvSpPr>
            <a:spLocks noGrp="1"/>
          </p:cNvSpPr>
          <p:nvPr>
            <p:ph type="sldNum" sz="quarter" idx="12"/>
          </p:nvPr>
        </p:nvSpPr>
        <p:spPr/>
        <p:txBody>
          <a:bodyPr/>
          <a:lstStyle/>
          <a:p>
            <a:fld id="{7B2023C8-B124-43A9-8F92-0EEF5BAA9995}" type="slidenum">
              <a:rPr lang="en-CA" smtClean="0"/>
              <a:pPr/>
              <a:t>5</a:t>
            </a:fld>
            <a:endParaRPr lang="en-CA" dirty="0"/>
          </a:p>
        </p:txBody>
      </p:sp>
    </p:spTree>
    <p:extLst>
      <p:ext uri="{BB962C8B-B14F-4D97-AF65-F5344CB8AC3E}">
        <p14:creationId xmlns:p14="http://schemas.microsoft.com/office/powerpoint/2010/main" val="4769936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Approach: Spiffy Framework</a:t>
            </a:r>
            <a:endParaRPr lang="en-CA" dirty="0"/>
          </a:p>
        </p:txBody>
      </p:sp>
      <p:sp>
        <p:nvSpPr>
          <p:cNvPr id="3" name="Content Placeholder 2"/>
          <p:cNvSpPr>
            <a:spLocks noGrp="1"/>
          </p:cNvSpPr>
          <p:nvPr>
            <p:ph idx="1"/>
          </p:nvPr>
        </p:nvSpPr>
        <p:spPr/>
        <p:txBody>
          <a:bodyPr/>
          <a:lstStyle/>
          <a:p>
            <a:r>
              <a:rPr lang="en-CA" smtClean="0"/>
              <a:t>File system developers specify the format of their file system</a:t>
            </a:r>
          </a:p>
          <a:p>
            <a:r>
              <a:rPr lang="en-CA" smtClean="0"/>
              <a:t>Spiffy uses specification to generate parsing and serialization library </a:t>
            </a:r>
          </a:p>
          <a:p>
            <a:r>
              <a:rPr lang="en-CA" smtClean="0"/>
              <a:t>Developers use library to build robust file-system aware applications</a:t>
            </a:r>
          </a:p>
          <a:p>
            <a:endParaRPr lang="en-CA" smtClean="0"/>
          </a:p>
          <a:p>
            <a:endParaRPr lang="en-CA" smtClean="0"/>
          </a:p>
          <a:p>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6</a:t>
            </a:fld>
            <a:endParaRPr lang="en-CA" dirty="0"/>
          </a:p>
        </p:txBody>
      </p:sp>
    </p:spTree>
    <p:extLst>
      <p:ext uri="{BB962C8B-B14F-4D97-AF65-F5344CB8AC3E}">
        <p14:creationId xmlns:p14="http://schemas.microsoft.com/office/powerpoint/2010/main" val="18539636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Specifying Format</a:t>
            </a:r>
            <a:endParaRPr lang="en-CA" dirty="0"/>
          </a:p>
        </p:txBody>
      </p:sp>
      <p:sp>
        <p:nvSpPr>
          <p:cNvPr id="3" name="Content Placeholder 2"/>
          <p:cNvSpPr>
            <a:spLocks noGrp="1"/>
          </p:cNvSpPr>
          <p:nvPr>
            <p:ph idx="1"/>
          </p:nvPr>
        </p:nvSpPr>
        <p:spPr>
          <a:xfrm>
            <a:off x="684212" y="1516762"/>
            <a:ext cx="10285797" cy="4656842"/>
          </a:xfrm>
        </p:spPr>
        <p:txBody>
          <a:bodyPr/>
          <a:lstStyle/>
          <a:p>
            <a:r>
              <a:rPr lang="en-CA" dirty="0" smtClean="0"/>
              <a:t>File system developers annotate metadata structures in </a:t>
            </a:r>
            <a:br>
              <a:rPr lang="en-CA" dirty="0" smtClean="0"/>
            </a:br>
            <a:r>
              <a:rPr lang="en-CA" dirty="0" smtClean="0"/>
              <a:t>header files of existing source code</a:t>
            </a:r>
          </a:p>
        </p:txBody>
      </p:sp>
      <p:sp>
        <p:nvSpPr>
          <p:cNvPr id="35" name="Slide Number Placeholder 34"/>
          <p:cNvSpPr>
            <a:spLocks noGrp="1"/>
          </p:cNvSpPr>
          <p:nvPr>
            <p:ph type="sldNum" sz="quarter" idx="12"/>
          </p:nvPr>
        </p:nvSpPr>
        <p:spPr/>
        <p:txBody>
          <a:bodyPr/>
          <a:lstStyle/>
          <a:p>
            <a:fld id="{7B2023C8-B124-43A9-8F92-0EEF5BAA9995}" type="slidenum">
              <a:rPr lang="en-CA" smtClean="0"/>
              <a:pPr/>
              <a:t>7</a:t>
            </a:fld>
            <a:endParaRPr lang="en-CA" dirty="0"/>
          </a:p>
        </p:txBody>
      </p:sp>
      <p:sp>
        <p:nvSpPr>
          <p:cNvPr id="61" name="Rectangle 60"/>
          <p:cNvSpPr/>
          <p:nvPr/>
        </p:nvSpPr>
        <p:spPr>
          <a:xfrm>
            <a:off x="1349297" y="4791414"/>
            <a:ext cx="1411173" cy="472257"/>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dirty="0" smtClean="0">
                <a:solidFill>
                  <a:schemeClr val="bg1"/>
                </a:solidFill>
              </a:rPr>
              <a:t>File System Developer</a:t>
            </a:r>
            <a:endParaRPr lang="en-CA" dirty="0">
              <a:solidFill>
                <a:schemeClr val="bg1"/>
              </a:solidFill>
            </a:endParaRPr>
          </a:p>
        </p:txBody>
      </p:sp>
      <p:sp>
        <p:nvSpPr>
          <p:cNvPr id="90" name="Rectangle 89"/>
          <p:cNvSpPr/>
          <p:nvPr/>
        </p:nvSpPr>
        <p:spPr>
          <a:xfrm>
            <a:off x="1320470" y="3184147"/>
            <a:ext cx="1440000" cy="944513"/>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dirty="0" smtClean="0">
                <a:solidFill>
                  <a:schemeClr val="bg1"/>
                </a:solidFill>
              </a:rPr>
              <a:t>File </a:t>
            </a:r>
            <a:r>
              <a:rPr lang="en-CA" dirty="0">
                <a:solidFill>
                  <a:schemeClr val="bg1"/>
                </a:solidFill>
              </a:rPr>
              <a:t>System </a:t>
            </a:r>
            <a:r>
              <a:rPr lang="en-CA" dirty="0" smtClean="0">
                <a:solidFill>
                  <a:schemeClr val="bg1"/>
                </a:solidFill>
              </a:rPr>
              <a:t>Metadata Structures</a:t>
            </a:r>
            <a:endParaRPr lang="en-CA" dirty="0">
              <a:solidFill>
                <a:schemeClr val="bg1"/>
              </a:solidFill>
            </a:endParaRPr>
          </a:p>
        </p:txBody>
      </p:sp>
      <p:sp>
        <p:nvSpPr>
          <p:cNvPr id="91" name="Rectangle 90"/>
          <p:cNvSpPr/>
          <p:nvPr/>
        </p:nvSpPr>
        <p:spPr>
          <a:xfrm>
            <a:off x="1320470" y="4131121"/>
            <a:ext cx="1440000" cy="472257"/>
          </a:xfrm>
          <a:prstGeom prst="rect">
            <a:avLst/>
          </a:prstGeom>
          <a:solidFill>
            <a:schemeClr val="accent5">
              <a:lumMod val="40000"/>
              <a:lumOff val="60000"/>
            </a:schemeClr>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bg1"/>
                </a:solidFill>
                <a:effectLst/>
              </a:rPr>
              <a:t>Annotations</a:t>
            </a:r>
            <a:endParaRPr lang="en-CA" b="1" dirty="0">
              <a:solidFill>
                <a:schemeClr val="bg1"/>
              </a:solidFill>
              <a:effectLst/>
            </a:endParaRPr>
          </a:p>
        </p:txBody>
      </p:sp>
      <p:grpSp>
        <p:nvGrpSpPr>
          <p:cNvPr id="103" name="Group 102"/>
          <p:cNvGrpSpPr/>
          <p:nvPr/>
        </p:nvGrpSpPr>
        <p:grpSpPr>
          <a:xfrm>
            <a:off x="2799312" y="4644061"/>
            <a:ext cx="598488" cy="1292225"/>
            <a:chOff x="4859338" y="3776663"/>
            <a:chExt cx="598488" cy="1292225"/>
          </a:xfrm>
        </p:grpSpPr>
        <p:sp>
          <p:nvSpPr>
            <p:cNvPr id="18" name="Freeform 5"/>
            <p:cNvSpPr>
              <a:spLocks/>
            </p:cNvSpPr>
            <p:nvPr/>
          </p:nvSpPr>
          <p:spPr bwMode="auto">
            <a:xfrm>
              <a:off x="4868863" y="3917950"/>
              <a:ext cx="581025" cy="1139825"/>
            </a:xfrm>
            <a:custGeom>
              <a:avLst/>
              <a:gdLst>
                <a:gd name="T0" fmla="*/ 250 w 1553"/>
                <a:gd name="T1" fmla="*/ 791 h 3047"/>
                <a:gd name="T2" fmla="*/ 194 w 1553"/>
                <a:gd name="T3" fmla="*/ 572 h 3047"/>
                <a:gd name="T4" fmla="*/ 262 w 1553"/>
                <a:gd name="T5" fmla="*/ 325 h 3047"/>
                <a:gd name="T6" fmla="*/ 447 w 1553"/>
                <a:gd name="T7" fmla="*/ 175 h 3047"/>
                <a:gd name="T8" fmla="*/ 678 w 1553"/>
                <a:gd name="T9" fmla="*/ 141 h 3047"/>
                <a:gd name="T10" fmla="*/ 837 w 1553"/>
                <a:gd name="T11" fmla="*/ 216 h 3047"/>
                <a:gd name="T12" fmla="*/ 950 w 1553"/>
                <a:gd name="T13" fmla="*/ 378 h 3047"/>
                <a:gd name="T14" fmla="*/ 959 w 1553"/>
                <a:gd name="T15" fmla="*/ 585 h 3047"/>
                <a:gd name="T16" fmla="*/ 884 w 1553"/>
                <a:gd name="T17" fmla="*/ 816 h 3047"/>
                <a:gd name="T18" fmla="*/ 950 w 1553"/>
                <a:gd name="T19" fmla="*/ 797 h 3047"/>
                <a:gd name="T20" fmla="*/ 1344 w 1553"/>
                <a:gd name="T21" fmla="*/ 85 h 3047"/>
                <a:gd name="T22" fmla="*/ 1516 w 1553"/>
                <a:gd name="T23" fmla="*/ 0 h 3047"/>
                <a:gd name="T24" fmla="*/ 1553 w 1553"/>
                <a:gd name="T25" fmla="*/ 175 h 3047"/>
                <a:gd name="T26" fmla="*/ 1312 w 1553"/>
                <a:gd name="T27" fmla="*/ 807 h 3047"/>
                <a:gd name="T28" fmla="*/ 1253 w 1553"/>
                <a:gd name="T29" fmla="*/ 925 h 3047"/>
                <a:gd name="T30" fmla="*/ 1209 w 1553"/>
                <a:gd name="T31" fmla="*/ 1241 h 3047"/>
                <a:gd name="T32" fmla="*/ 1237 w 1553"/>
                <a:gd name="T33" fmla="*/ 1753 h 3047"/>
                <a:gd name="T34" fmla="*/ 1300 w 1553"/>
                <a:gd name="T35" fmla="*/ 2266 h 3047"/>
                <a:gd name="T36" fmla="*/ 1303 w 1553"/>
                <a:gd name="T37" fmla="*/ 2460 h 3047"/>
                <a:gd name="T38" fmla="*/ 1272 w 1553"/>
                <a:gd name="T39" fmla="*/ 2791 h 3047"/>
                <a:gd name="T40" fmla="*/ 1209 w 1553"/>
                <a:gd name="T41" fmla="*/ 2978 h 3047"/>
                <a:gd name="T42" fmla="*/ 1128 w 1553"/>
                <a:gd name="T43" fmla="*/ 3047 h 3047"/>
                <a:gd name="T44" fmla="*/ 1028 w 1553"/>
                <a:gd name="T45" fmla="*/ 2957 h 3047"/>
                <a:gd name="T46" fmla="*/ 981 w 1553"/>
                <a:gd name="T47" fmla="*/ 2769 h 3047"/>
                <a:gd name="T48" fmla="*/ 978 w 1553"/>
                <a:gd name="T49" fmla="*/ 2491 h 3047"/>
                <a:gd name="T50" fmla="*/ 956 w 1553"/>
                <a:gd name="T51" fmla="*/ 2272 h 3047"/>
                <a:gd name="T52" fmla="*/ 884 w 1553"/>
                <a:gd name="T53" fmla="*/ 2166 h 3047"/>
                <a:gd name="T54" fmla="*/ 847 w 1553"/>
                <a:gd name="T55" fmla="*/ 2135 h 3047"/>
                <a:gd name="T56" fmla="*/ 803 w 1553"/>
                <a:gd name="T57" fmla="*/ 2313 h 3047"/>
                <a:gd name="T58" fmla="*/ 750 w 1553"/>
                <a:gd name="T59" fmla="*/ 2635 h 3047"/>
                <a:gd name="T60" fmla="*/ 716 w 1553"/>
                <a:gd name="T61" fmla="*/ 2778 h 3047"/>
                <a:gd name="T62" fmla="*/ 681 w 1553"/>
                <a:gd name="T63" fmla="*/ 2919 h 3047"/>
                <a:gd name="T64" fmla="*/ 634 w 1553"/>
                <a:gd name="T65" fmla="*/ 3025 h 3047"/>
                <a:gd name="T66" fmla="*/ 559 w 1553"/>
                <a:gd name="T67" fmla="*/ 3044 h 3047"/>
                <a:gd name="T68" fmla="*/ 484 w 1553"/>
                <a:gd name="T69" fmla="*/ 2985 h 3047"/>
                <a:gd name="T70" fmla="*/ 437 w 1553"/>
                <a:gd name="T71" fmla="*/ 2744 h 3047"/>
                <a:gd name="T72" fmla="*/ 425 w 1553"/>
                <a:gd name="T73" fmla="*/ 2382 h 3047"/>
                <a:gd name="T74" fmla="*/ 422 w 1553"/>
                <a:gd name="T75" fmla="*/ 2047 h 3047"/>
                <a:gd name="T76" fmla="*/ 419 w 1553"/>
                <a:gd name="T77" fmla="*/ 1722 h 3047"/>
                <a:gd name="T78" fmla="*/ 375 w 1553"/>
                <a:gd name="T79" fmla="*/ 1572 h 3047"/>
                <a:gd name="T80" fmla="*/ 316 w 1553"/>
                <a:gd name="T81" fmla="*/ 1538 h 3047"/>
                <a:gd name="T82" fmla="*/ 259 w 1553"/>
                <a:gd name="T83" fmla="*/ 1710 h 3047"/>
                <a:gd name="T84" fmla="*/ 212 w 1553"/>
                <a:gd name="T85" fmla="*/ 1985 h 3047"/>
                <a:gd name="T86" fmla="*/ 169 w 1553"/>
                <a:gd name="T87" fmla="*/ 2150 h 3047"/>
                <a:gd name="T88" fmla="*/ 106 w 1553"/>
                <a:gd name="T89" fmla="*/ 2188 h 3047"/>
                <a:gd name="T90" fmla="*/ 41 w 1553"/>
                <a:gd name="T91" fmla="*/ 2085 h 3047"/>
                <a:gd name="T92" fmla="*/ 0 w 1553"/>
                <a:gd name="T93" fmla="*/ 1810 h 3047"/>
                <a:gd name="T94" fmla="*/ 37 w 1553"/>
                <a:gd name="T95" fmla="*/ 1428 h 3047"/>
                <a:gd name="T96" fmla="*/ 137 w 1553"/>
                <a:gd name="T97" fmla="*/ 1116 h 3047"/>
                <a:gd name="T98" fmla="*/ 306 w 1553"/>
                <a:gd name="T99" fmla="*/ 922 h 3047"/>
                <a:gd name="T100" fmla="*/ 250 w 1553"/>
                <a:gd name="T101" fmla="*/ 791 h 3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53" h="3047">
                  <a:moveTo>
                    <a:pt x="250" y="791"/>
                  </a:moveTo>
                  <a:lnTo>
                    <a:pt x="194" y="572"/>
                  </a:lnTo>
                  <a:lnTo>
                    <a:pt x="262" y="325"/>
                  </a:lnTo>
                  <a:lnTo>
                    <a:pt x="447" y="175"/>
                  </a:lnTo>
                  <a:lnTo>
                    <a:pt x="678" y="141"/>
                  </a:lnTo>
                  <a:lnTo>
                    <a:pt x="837" y="216"/>
                  </a:lnTo>
                  <a:lnTo>
                    <a:pt x="950" y="378"/>
                  </a:lnTo>
                  <a:lnTo>
                    <a:pt x="959" y="585"/>
                  </a:lnTo>
                  <a:lnTo>
                    <a:pt x="884" y="816"/>
                  </a:lnTo>
                  <a:lnTo>
                    <a:pt x="950" y="797"/>
                  </a:lnTo>
                  <a:lnTo>
                    <a:pt x="1344" y="85"/>
                  </a:lnTo>
                  <a:lnTo>
                    <a:pt x="1516" y="0"/>
                  </a:lnTo>
                  <a:lnTo>
                    <a:pt x="1553" y="175"/>
                  </a:lnTo>
                  <a:lnTo>
                    <a:pt x="1312" y="807"/>
                  </a:lnTo>
                  <a:cubicBezTo>
                    <a:pt x="1312" y="807"/>
                    <a:pt x="1253" y="913"/>
                    <a:pt x="1253" y="925"/>
                  </a:cubicBezTo>
                  <a:cubicBezTo>
                    <a:pt x="1253" y="938"/>
                    <a:pt x="1209" y="1241"/>
                    <a:pt x="1209" y="1241"/>
                  </a:cubicBezTo>
                  <a:lnTo>
                    <a:pt x="1237" y="1753"/>
                  </a:lnTo>
                  <a:lnTo>
                    <a:pt x="1300" y="2266"/>
                  </a:lnTo>
                  <a:cubicBezTo>
                    <a:pt x="1300" y="2266"/>
                    <a:pt x="1316" y="2428"/>
                    <a:pt x="1303" y="2460"/>
                  </a:cubicBezTo>
                  <a:cubicBezTo>
                    <a:pt x="1291" y="2491"/>
                    <a:pt x="1272" y="2791"/>
                    <a:pt x="1272" y="2791"/>
                  </a:cubicBezTo>
                  <a:lnTo>
                    <a:pt x="1209" y="2978"/>
                  </a:lnTo>
                  <a:lnTo>
                    <a:pt x="1128" y="3047"/>
                  </a:lnTo>
                  <a:lnTo>
                    <a:pt x="1028" y="2957"/>
                  </a:lnTo>
                  <a:lnTo>
                    <a:pt x="981" y="2769"/>
                  </a:lnTo>
                  <a:lnTo>
                    <a:pt x="978" y="2491"/>
                  </a:lnTo>
                  <a:lnTo>
                    <a:pt x="956" y="2272"/>
                  </a:lnTo>
                  <a:lnTo>
                    <a:pt x="884" y="2166"/>
                  </a:lnTo>
                  <a:lnTo>
                    <a:pt x="847" y="2135"/>
                  </a:lnTo>
                  <a:lnTo>
                    <a:pt x="803" y="2313"/>
                  </a:lnTo>
                  <a:lnTo>
                    <a:pt x="750" y="2635"/>
                  </a:lnTo>
                  <a:lnTo>
                    <a:pt x="716" y="2778"/>
                  </a:lnTo>
                  <a:lnTo>
                    <a:pt x="681" y="2919"/>
                  </a:lnTo>
                  <a:lnTo>
                    <a:pt x="634" y="3025"/>
                  </a:lnTo>
                  <a:lnTo>
                    <a:pt x="559" y="3044"/>
                  </a:lnTo>
                  <a:lnTo>
                    <a:pt x="484" y="2985"/>
                  </a:lnTo>
                  <a:lnTo>
                    <a:pt x="437" y="2744"/>
                  </a:lnTo>
                  <a:lnTo>
                    <a:pt x="425" y="2382"/>
                  </a:lnTo>
                  <a:lnTo>
                    <a:pt x="422" y="2047"/>
                  </a:lnTo>
                  <a:lnTo>
                    <a:pt x="419" y="1722"/>
                  </a:lnTo>
                  <a:lnTo>
                    <a:pt x="375" y="1572"/>
                  </a:lnTo>
                  <a:lnTo>
                    <a:pt x="316" y="1538"/>
                  </a:lnTo>
                  <a:lnTo>
                    <a:pt x="259" y="1710"/>
                  </a:lnTo>
                  <a:lnTo>
                    <a:pt x="212" y="1985"/>
                  </a:lnTo>
                  <a:lnTo>
                    <a:pt x="169" y="2150"/>
                  </a:lnTo>
                  <a:lnTo>
                    <a:pt x="106" y="2188"/>
                  </a:lnTo>
                  <a:lnTo>
                    <a:pt x="41" y="2085"/>
                  </a:lnTo>
                  <a:lnTo>
                    <a:pt x="0" y="1810"/>
                  </a:lnTo>
                  <a:lnTo>
                    <a:pt x="37" y="1428"/>
                  </a:lnTo>
                  <a:lnTo>
                    <a:pt x="137" y="1116"/>
                  </a:lnTo>
                  <a:lnTo>
                    <a:pt x="306" y="922"/>
                  </a:lnTo>
                  <a:lnTo>
                    <a:pt x="250" y="791"/>
                  </a:lnTo>
                  <a:close/>
                </a:path>
              </a:pathLst>
            </a:custGeom>
            <a:solidFill>
              <a:srgbClr val="5353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26" name="Freeform 6"/>
            <p:cNvSpPr>
              <a:spLocks/>
            </p:cNvSpPr>
            <p:nvPr/>
          </p:nvSpPr>
          <p:spPr bwMode="auto">
            <a:xfrm>
              <a:off x="4872038" y="4038600"/>
              <a:ext cx="533400" cy="652463"/>
            </a:xfrm>
            <a:custGeom>
              <a:avLst/>
              <a:gdLst>
                <a:gd name="T0" fmla="*/ 163 w 1427"/>
                <a:gd name="T1" fmla="*/ 769 h 1747"/>
                <a:gd name="T2" fmla="*/ 93 w 1427"/>
                <a:gd name="T3" fmla="*/ 901 h 1747"/>
                <a:gd name="T4" fmla="*/ 35 w 1427"/>
                <a:gd name="T5" fmla="*/ 1087 h 1747"/>
                <a:gd name="T6" fmla="*/ 0 w 1427"/>
                <a:gd name="T7" fmla="*/ 1286 h 1747"/>
                <a:gd name="T8" fmla="*/ 0 w 1427"/>
                <a:gd name="T9" fmla="*/ 1586 h 1747"/>
                <a:gd name="T10" fmla="*/ 212 w 1427"/>
                <a:gd name="T11" fmla="*/ 1662 h 1747"/>
                <a:gd name="T12" fmla="*/ 247 w 1427"/>
                <a:gd name="T13" fmla="*/ 1379 h 1747"/>
                <a:gd name="T14" fmla="*/ 287 w 1427"/>
                <a:gd name="T15" fmla="*/ 1273 h 1747"/>
                <a:gd name="T16" fmla="*/ 336 w 1427"/>
                <a:gd name="T17" fmla="*/ 1220 h 1747"/>
                <a:gd name="T18" fmla="*/ 389 w 1427"/>
                <a:gd name="T19" fmla="*/ 1277 h 1747"/>
                <a:gd name="T20" fmla="*/ 429 w 1427"/>
                <a:gd name="T21" fmla="*/ 1432 h 1747"/>
                <a:gd name="T22" fmla="*/ 420 w 1427"/>
                <a:gd name="T23" fmla="*/ 1684 h 1747"/>
                <a:gd name="T24" fmla="*/ 420 w 1427"/>
                <a:gd name="T25" fmla="*/ 1723 h 1747"/>
                <a:gd name="T26" fmla="*/ 579 w 1427"/>
                <a:gd name="T27" fmla="*/ 1723 h 1747"/>
                <a:gd name="T28" fmla="*/ 1096 w 1427"/>
                <a:gd name="T29" fmla="*/ 1547 h 1747"/>
                <a:gd name="T30" fmla="*/ 1255 w 1427"/>
                <a:gd name="T31" fmla="*/ 1520 h 1747"/>
                <a:gd name="T32" fmla="*/ 1206 w 1427"/>
                <a:gd name="T33" fmla="*/ 1193 h 1747"/>
                <a:gd name="T34" fmla="*/ 1206 w 1427"/>
                <a:gd name="T35" fmla="*/ 879 h 1747"/>
                <a:gd name="T36" fmla="*/ 1233 w 1427"/>
                <a:gd name="T37" fmla="*/ 632 h 1747"/>
                <a:gd name="T38" fmla="*/ 1357 w 1427"/>
                <a:gd name="T39" fmla="*/ 376 h 1747"/>
                <a:gd name="T40" fmla="*/ 1427 w 1427"/>
                <a:gd name="T41" fmla="*/ 194 h 1747"/>
                <a:gd name="T42" fmla="*/ 1206 w 1427"/>
                <a:gd name="T43" fmla="*/ 0 h 1747"/>
                <a:gd name="T44" fmla="*/ 1096 w 1427"/>
                <a:gd name="T45" fmla="*/ 208 h 1747"/>
                <a:gd name="T46" fmla="*/ 1021 w 1427"/>
                <a:gd name="T47" fmla="*/ 305 h 1747"/>
                <a:gd name="T48" fmla="*/ 981 w 1427"/>
                <a:gd name="T49" fmla="*/ 437 h 1747"/>
                <a:gd name="T50" fmla="*/ 862 w 1427"/>
                <a:gd name="T51" fmla="*/ 729 h 1747"/>
                <a:gd name="T52" fmla="*/ 451 w 1427"/>
                <a:gd name="T53" fmla="*/ 654 h 1747"/>
                <a:gd name="T54" fmla="*/ 163 w 1427"/>
                <a:gd name="T55" fmla="*/ 769 h 1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7" h="1747">
                  <a:moveTo>
                    <a:pt x="163" y="769"/>
                  </a:moveTo>
                  <a:lnTo>
                    <a:pt x="93" y="901"/>
                  </a:lnTo>
                  <a:lnTo>
                    <a:pt x="35" y="1087"/>
                  </a:lnTo>
                  <a:lnTo>
                    <a:pt x="0" y="1286"/>
                  </a:lnTo>
                  <a:lnTo>
                    <a:pt x="0" y="1586"/>
                  </a:lnTo>
                  <a:cubicBezTo>
                    <a:pt x="96" y="1655"/>
                    <a:pt x="147" y="1646"/>
                    <a:pt x="212" y="1662"/>
                  </a:cubicBezTo>
                  <a:lnTo>
                    <a:pt x="247" y="1379"/>
                  </a:lnTo>
                  <a:lnTo>
                    <a:pt x="287" y="1273"/>
                  </a:lnTo>
                  <a:lnTo>
                    <a:pt x="336" y="1220"/>
                  </a:lnTo>
                  <a:lnTo>
                    <a:pt x="389" y="1277"/>
                  </a:lnTo>
                  <a:lnTo>
                    <a:pt x="429" y="1432"/>
                  </a:lnTo>
                  <a:lnTo>
                    <a:pt x="420" y="1684"/>
                  </a:lnTo>
                  <a:lnTo>
                    <a:pt x="420" y="1723"/>
                  </a:lnTo>
                  <a:cubicBezTo>
                    <a:pt x="492" y="1747"/>
                    <a:pt x="532" y="1737"/>
                    <a:pt x="579" y="1723"/>
                  </a:cubicBezTo>
                  <a:cubicBezTo>
                    <a:pt x="756" y="1649"/>
                    <a:pt x="936" y="1579"/>
                    <a:pt x="1096" y="1547"/>
                  </a:cubicBezTo>
                  <a:cubicBezTo>
                    <a:pt x="1145" y="1538"/>
                    <a:pt x="1113" y="1536"/>
                    <a:pt x="1255" y="1520"/>
                  </a:cubicBezTo>
                  <a:lnTo>
                    <a:pt x="1206" y="1193"/>
                  </a:lnTo>
                  <a:lnTo>
                    <a:pt x="1206" y="879"/>
                  </a:lnTo>
                  <a:lnTo>
                    <a:pt x="1233" y="632"/>
                  </a:lnTo>
                  <a:lnTo>
                    <a:pt x="1357" y="376"/>
                  </a:lnTo>
                  <a:lnTo>
                    <a:pt x="1427" y="194"/>
                  </a:lnTo>
                  <a:cubicBezTo>
                    <a:pt x="1360" y="125"/>
                    <a:pt x="1305" y="49"/>
                    <a:pt x="1206" y="0"/>
                  </a:cubicBezTo>
                  <a:lnTo>
                    <a:pt x="1096" y="208"/>
                  </a:lnTo>
                  <a:lnTo>
                    <a:pt x="1021" y="305"/>
                  </a:lnTo>
                  <a:lnTo>
                    <a:pt x="981" y="437"/>
                  </a:lnTo>
                  <a:lnTo>
                    <a:pt x="862" y="729"/>
                  </a:lnTo>
                  <a:lnTo>
                    <a:pt x="451" y="654"/>
                  </a:lnTo>
                  <a:lnTo>
                    <a:pt x="163" y="769"/>
                  </a:lnTo>
                  <a:close/>
                </a:path>
              </a:pathLst>
            </a:custGeom>
            <a:solidFill>
              <a:srgbClr val="962A22"/>
            </a:solidFill>
            <a:ln w="4763" cap="flat">
              <a:solidFill>
                <a:srgbClr val="962A22"/>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27" name="Freeform 7"/>
            <p:cNvSpPr>
              <a:spLocks/>
            </p:cNvSpPr>
            <p:nvPr/>
          </p:nvSpPr>
          <p:spPr bwMode="auto">
            <a:xfrm>
              <a:off x="5043488" y="4551363"/>
              <a:ext cx="298450" cy="127000"/>
            </a:xfrm>
            <a:custGeom>
              <a:avLst/>
              <a:gdLst>
                <a:gd name="T0" fmla="*/ 0 w 795"/>
                <a:gd name="T1" fmla="*/ 330 h 339"/>
                <a:gd name="T2" fmla="*/ 223 w 795"/>
                <a:gd name="T3" fmla="*/ 275 h 339"/>
                <a:gd name="T4" fmla="*/ 765 w 795"/>
                <a:gd name="T5" fmla="*/ 97 h 339"/>
                <a:gd name="T6" fmla="*/ 795 w 795"/>
                <a:gd name="T7" fmla="*/ 0 h 339"/>
                <a:gd name="T8" fmla="*/ 204 w 795"/>
                <a:gd name="T9" fmla="*/ 240 h 339"/>
                <a:gd name="T10" fmla="*/ 0 w 795"/>
                <a:gd name="T11" fmla="*/ 330 h 339"/>
              </a:gdLst>
              <a:ahLst/>
              <a:cxnLst>
                <a:cxn ang="0">
                  <a:pos x="T0" y="T1"/>
                </a:cxn>
                <a:cxn ang="0">
                  <a:pos x="T2" y="T3"/>
                </a:cxn>
                <a:cxn ang="0">
                  <a:pos x="T4" y="T5"/>
                </a:cxn>
                <a:cxn ang="0">
                  <a:pos x="T6" y="T7"/>
                </a:cxn>
                <a:cxn ang="0">
                  <a:pos x="T8" y="T9"/>
                </a:cxn>
                <a:cxn ang="0">
                  <a:pos x="T10" y="T11"/>
                </a:cxn>
              </a:cxnLst>
              <a:rect l="0" t="0" r="r" b="b"/>
              <a:pathLst>
                <a:path w="795" h="339">
                  <a:moveTo>
                    <a:pt x="0" y="330"/>
                  </a:moveTo>
                  <a:cubicBezTo>
                    <a:pt x="35" y="339"/>
                    <a:pt x="134" y="317"/>
                    <a:pt x="223" y="275"/>
                  </a:cubicBezTo>
                  <a:cubicBezTo>
                    <a:pt x="441" y="170"/>
                    <a:pt x="708" y="60"/>
                    <a:pt x="765" y="97"/>
                  </a:cubicBezTo>
                  <a:lnTo>
                    <a:pt x="795" y="0"/>
                  </a:lnTo>
                  <a:cubicBezTo>
                    <a:pt x="662" y="11"/>
                    <a:pt x="469" y="85"/>
                    <a:pt x="204" y="240"/>
                  </a:cubicBezTo>
                  <a:cubicBezTo>
                    <a:pt x="175" y="257"/>
                    <a:pt x="120" y="295"/>
                    <a:pt x="0" y="330"/>
                  </a:cubicBez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28" name="Freeform 8"/>
            <p:cNvSpPr>
              <a:spLocks/>
            </p:cNvSpPr>
            <p:nvPr/>
          </p:nvSpPr>
          <p:spPr bwMode="auto">
            <a:xfrm>
              <a:off x="5153025" y="4325938"/>
              <a:ext cx="25400" cy="117475"/>
            </a:xfrm>
            <a:custGeom>
              <a:avLst/>
              <a:gdLst>
                <a:gd name="T0" fmla="*/ 39 w 69"/>
                <a:gd name="T1" fmla="*/ 0 h 316"/>
                <a:gd name="T2" fmla="*/ 10 w 69"/>
                <a:gd name="T3" fmla="*/ 75 h 316"/>
                <a:gd name="T4" fmla="*/ 4 w 69"/>
                <a:gd name="T5" fmla="*/ 133 h 316"/>
                <a:gd name="T6" fmla="*/ 9 w 69"/>
                <a:gd name="T7" fmla="*/ 258 h 316"/>
                <a:gd name="T8" fmla="*/ 18 w 69"/>
                <a:gd name="T9" fmla="*/ 310 h 316"/>
                <a:gd name="T10" fmla="*/ 31 w 69"/>
                <a:gd name="T11" fmla="*/ 316 h 316"/>
                <a:gd name="T12" fmla="*/ 45 w 69"/>
                <a:gd name="T13" fmla="*/ 316 h 316"/>
                <a:gd name="T14" fmla="*/ 53 w 69"/>
                <a:gd name="T15" fmla="*/ 286 h 316"/>
                <a:gd name="T16" fmla="*/ 40 w 69"/>
                <a:gd name="T17" fmla="*/ 163 h 316"/>
                <a:gd name="T18" fmla="*/ 36 w 69"/>
                <a:gd name="T19" fmla="*/ 98 h 316"/>
                <a:gd name="T20" fmla="*/ 47 w 69"/>
                <a:gd name="T21" fmla="*/ 56 h 316"/>
                <a:gd name="T22" fmla="*/ 69 w 69"/>
                <a:gd name="T23" fmla="*/ 14 h 316"/>
                <a:gd name="T24" fmla="*/ 39 w 69"/>
                <a:gd name="T25"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316">
                  <a:moveTo>
                    <a:pt x="39" y="0"/>
                  </a:moveTo>
                  <a:lnTo>
                    <a:pt x="10" y="75"/>
                  </a:lnTo>
                  <a:cubicBezTo>
                    <a:pt x="10" y="75"/>
                    <a:pt x="0" y="132"/>
                    <a:pt x="4" y="133"/>
                  </a:cubicBezTo>
                  <a:cubicBezTo>
                    <a:pt x="7" y="133"/>
                    <a:pt x="9" y="258"/>
                    <a:pt x="9" y="258"/>
                  </a:cubicBezTo>
                  <a:lnTo>
                    <a:pt x="18" y="310"/>
                  </a:lnTo>
                  <a:lnTo>
                    <a:pt x="31" y="316"/>
                  </a:lnTo>
                  <a:lnTo>
                    <a:pt x="45" y="316"/>
                  </a:lnTo>
                  <a:lnTo>
                    <a:pt x="53" y="286"/>
                  </a:lnTo>
                  <a:lnTo>
                    <a:pt x="40" y="163"/>
                  </a:lnTo>
                  <a:lnTo>
                    <a:pt x="36" y="98"/>
                  </a:lnTo>
                  <a:lnTo>
                    <a:pt x="47" y="56"/>
                  </a:lnTo>
                  <a:lnTo>
                    <a:pt x="69" y="14"/>
                  </a:lnTo>
                  <a:lnTo>
                    <a:pt x="39" y="0"/>
                  </a:ln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29" name="Freeform 9"/>
            <p:cNvSpPr>
              <a:spLocks noEditPoints="1"/>
            </p:cNvSpPr>
            <p:nvPr/>
          </p:nvSpPr>
          <p:spPr bwMode="auto">
            <a:xfrm>
              <a:off x="5151438" y="4319588"/>
              <a:ext cx="31750" cy="128588"/>
            </a:xfrm>
            <a:custGeom>
              <a:avLst/>
              <a:gdLst>
                <a:gd name="T0" fmla="*/ 45 w 85"/>
                <a:gd name="T1" fmla="*/ 0 h 342"/>
                <a:gd name="T2" fmla="*/ 42 w 85"/>
                <a:gd name="T3" fmla="*/ 6 h 342"/>
                <a:gd name="T4" fmla="*/ 5 w 85"/>
                <a:gd name="T5" fmla="*/ 114 h 342"/>
                <a:gd name="T6" fmla="*/ 13 w 85"/>
                <a:gd name="T7" fmla="*/ 318 h 342"/>
                <a:gd name="T8" fmla="*/ 14 w 85"/>
                <a:gd name="T9" fmla="*/ 318 h 342"/>
                <a:gd name="T10" fmla="*/ 14 w 85"/>
                <a:gd name="T11" fmla="*/ 318 h 342"/>
                <a:gd name="T12" fmla="*/ 26 w 85"/>
                <a:gd name="T13" fmla="*/ 338 h 342"/>
                <a:gd name="T14" fmla="*/ 49 w 85"/>
                <a:gd name="T15" fmla="*/ 339 h 342"/>
                <a:gd name="T16" fmla="*/ 63 w 85"/>
                <a:gd name="T17" fmla="*/ 317 h 342"/>
                <a:gd name="T18" fmla="*/ 49 w 85"/>
                <a:gd name="T19" fmla="*/ 174 h 342"/>
                <a:gd name="T20" fmla="*/ 48 w 85"/>
                <a:gd name="T21" fmla="*/ 117 h 342"/>
                <a:gd name="T22" fmla="*/ 81 w 85"/>
                <a:gd name="T23" fmla="*/ 28 h 342"/>
                <a:gd name="T24" fmla="*/ 85 w 85"/>
                <a:gd name="T25" fmla="*/ 22 h 342"/>
                <a:gd name="T26" fmla="*/ 79 w 85"/>
                <a:gd name="T27" fmla="*/ 19 h 342"/>
                <a:gd name="T28" fmla="*/ 50 w 85"/>
                <a:gd name="T29" fmla="*/ 3 h 342"/>
                <a:gd name="T30" fmla="*/ 45 w 85"/>
                <a:gd name="T31" fmla="*/ 0 h 342"/>
                <a:gd name="T32" fmla="*/ 50 w 85"/>
                <a:gd name="T33" fmla="*/ 17 h 342"/>
                <a:gd name="T34" fmla="*/ 67 w 85"/>
                <a:gd name="T35" fmla="*/ 27 h 342"/>
                <a:gd name="T36" fmla="*/ 35 w 85"/>
                <a:gd name="T37" fmla="*/ 115 h 342"/>
                <a:gd name="T38" fmla="*/ 50 w 85"/>
                <a:gd name="T39" fmla="*/ 318 h 342"/>
                <a:gd name="T40" fmla="*/ 41 w 85"/>
                <a:gd name="T41" fmla="*/ 327 h 342"/>
                <a:gd name="T42" fmla="*/ 26 w 85"/>
                <a:gd name="T43" fmla="*/ 316 h 342"/>
                <a:gd name="T44" fmla="*/ 17 w 85"/>
                <a:gd name="T45" fmla="*/ 118 h 342"/>
                <a:gd name="T46" fmla="*/ 50 w 85"/>
                <a:gd name="T47" fmla="*/ 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5" h="342">
                  <a:moveTo>
                    <a:pt x="45" y="0"/>
                  </a:moveTo>
                  <a:lnTo>
                    <a:pt x="42" y="6"/>
                  </a:lnTo>
                  <a:cubicBezTo>
                    <a:pt x="20" y="50"/>
                    <a:pt x="7" y="101"/>
                    <a:pt x="5" y="114"/>
                  </a:cubicBezTo>
                  <a:cubicBezTo>
                    <a:pt x="0" y="154"/>
                    <a:pt x="5" y="266"/>
                    <a:pt x="13" y="318"/>
                  </a:cubicBezTo>
                  <a:lnTo>
                    <a:pt x="14" y="318"/>
                  </a:lnTo>
                  <a:lnTo>
                    <a:pt x="14" y="318"/>
                  </a:lnTo>
                  <a:cubicBezTo>
                    <a:pt x="16" y="328"/>
                    <a:pt x="21" y="334"/>
                    <a:pt x="26" y="338"/>
                  </a:cubicBezTo>
                  <a:cubicBezTo>
                    <a:pt x="31" y="342"/>
                    <a:pt x="43" y="342"/>
                    <a:pt x="49" y="339"/>
                  </a:cubicBezTo>
                  <a:cubicBezTo>
                    <a:pt x="60" y="332"/>
                    <a:pt x="61" y="328"/>
                    <a:pt x="63" y="317"/>
                  </a:cubicBezTo>
                  <a:cubicBezTo>
                    <a:pt x="63" y="311"/>
                    <a:pt x="54" y="228"/>
                    <a:pt x="49" y="174"/>
                  </a:cubicBezTo>
                  <a:cubicBezTo>
                    <a:pt x="46" y="139"/>
                    <a:pt x="47" y="128"/>
                    <a:pt x="48" y="117"/>
                  </a:cubicBezTo>
                  <a:cubicBezTo>
                    <a:pt x="50" y="94"/>
                    <a:pt x="61" y="58"/>
                    <a:pt x="81" y="28"/>
                  </a:cubicBezTo>
                  <a:lnTo>
                    <a:pt x="85" y="22"/>
                  </a:lnTo>
                  <a:lnTo>
                    <a:pt x="79" y="19"/>
                  </a:lnTo>
                  <a:lnTo>
                    <a:pt x="50" y="3"/>
                  </a:lnTo>
                  <a:lnTo>
                    <a:pt x="45" y="0"/>
                  </a:lnTo>
                  <a:close/>
                  <a:moveTo>
                    <a:pt x="50" y="17"/>
                  </a:moveTo>
                  <a:lnTo>
                    <a:pt x="67" y="27"/>
                  </a:lnTo>
                  <a:cubicBezTo>
                    <a:pt x="45" y="59"/>
                    <a:pt x="41" y="78"/>
                    <a:pt x="35" y="115"/>
                  </a:cubicBezTo>
                  <a:cubicBezTo>
                    <a:pt x="30" y="136"/>
                    <a:pt x="49" y="269"/>
                    <a:pt x="50" y="318"/>
                  </a:cubicBezTo>
                  <a:cubicBezTo>
                    <a:pt x="50" y="323"/>
                    <a:pt x="46" y="326"/>
                    <a:pt x="41" y="327"/>
                  </a:cubicBezTo>
                  <a:cubicBezTo>
                    <a:pt x="32" y="327"/>
                    <a:pt x="27" y="321"/>
                    <a:pt x="26" y="316"/>
                  </a:cubicBezTo>
                  <a:cubicBezTo>
                    <a:pt x="15" y="240"/>
                    <a:pt x="16" y="124"/>
                    <a:pt x="17" y="118"/>
                  </a:cubicBezTo>
                  <a:cubicBezTo>
                    <a:pt x="19" y="98"/>
                    <a:pt x="33" y="47"/>
                    <a:pt x="50" y="17"/>
                  </a:cubicBezTo>
                  <a:close/>
                </a:path>
              </a:pathLst>
            </a:custGeom>
            <a:solidFill>
              <a:srgbClr val="D0D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30" name="Freeform 10"/>
            <p:cNvSpPr>
              <a:spLocks/>
            </p:cNvSpPr>
            <p:nvPr/>
          </p:nvSpPr>
          <p:spPr bwMode="auto">
            <a:xfrm>
              <a:off x="5192713" y="4319588"/>
              <a:ext cx="25400" cy="128588"/>
            </a:xfrm>
            <a:custGeom>
              <a:avLst/>
              <a:gdLst>
                <a:gd name="T0" fmla="*/ 0 w 71"/>
                <a:gd name="T1" fmla="*/ 16 h 341"/>
                <a:gd name="T2" fmla="*/ 41 w 71"/>
                <a:gd name="T3" fmla="*/ 117 h 341"/>
                <a:gd name="T4" fmla="*/ 20 w 71"/>
                <a:gd name="T5" fmla="*/ 309 h 341"/>
                <a:gd name="T6" fmla="*/ 56 w 71"/>
                <a:gd name="T7" fmla="*/ 308 h 341"/>
                <a:gd name="T8" fmla="*/ 71 w 71"/>
                <a:gd name="T9" fmla="*/ 110 h 341"/>
                <a:gd name="T10" fmla="*/ 29 w 71"/>
                <a:gd name="T11" fmla="*/ 0 h 341"/>
                <a:gd name="T12" fmla="*/ 0 w 71"/>
                <a:gd name="T13" fmla="*/ 16 h 341"/>
              </a:gdLst>
              <a:ahLst/>
              <a:cxnLst>
                <a:cxn ang="0">
                  <a:pos x="T0" y="T1"/>
                </a:cxn>
                <a:cxn ang="0">
                  <a:pos x="T2" y="T3"/>
                </a:cxn>
                <a:cxn ang="0">
                  <a:pos x="T4" y="T5"/>
                </a:cxn>
                <a:cxn ang="0">
                  <a:pos x="T6" y="T7"/>
                </a:cxn>
                <a:cxn ang="0">
                  <a:pos x="T8" y="T9"/>
                </a:cxn>
                <a:cxn ang="0">
                  <a:pos x="T10" y="T11"/>
                </a:cxn>
                <a:cxn ang="0">
                  <a:pos x="T12" y="T13"/>
                </a:cxn>
              </a:cxnLst>
              <a:rect l="0" t="0" r="r" b="b"/>
              <a:pathLst>
                <a:path w="71" h="341">
                  <a:moveTo>
                    <a:pt x="0" y="16"/>
                  </a:moveTo>
                  <a:cubicBezTo>
                    <a:pt x="20" y="46"/>
                    <a:pt x="41" y="91"/>
                    <a:pt x="41" y="117"/>
                  </a:cubicBezTo>
                  <a:cubicBezTo>
                    <a:pt x="39" y="248"/>
                    <a:pt x="28" y="246"/>
                    <a:pt x="20" y="309"/>
                  </a:cubicBezTo>
                  <a:cubicBezTo>
                    <a:pt x="19" y="326"/>
                    <a:pt x="48" y="341"/>
                    <a:pt x="56" y="308"/>
                  </a:cubicBezTo>
                  <a:cubicBezTo>
                    <a:pt x="70" y="225"/>
                    <a:pt x="71" y="157"/>
                    <a:pt x="71" y="110"/>
                  </a:cubicBezTo>
                  <a:cubicBezTo>
                    <a:pt x="64" y="67"/>
                    <a:pt x="45" y="34"/>
                    <a:pt x="29" y="0"/>
                  </a:cubicBezTo>
                  <a:lnTo>
                    <a:pt x="0" y="16"/>
                  </a:lnTo>
                  <a:close/>
                </a:path>
              </a:pathLst>
            </a:custGeom>
            <a:solidFill>
              <a:srgbClr val="FFFFCB"/>
            </a:solidFill>
            <a:ln w="4763" cap="flat">
              <a:solidFill>
                <a:srgbClr val="D0D08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31" name="Freeform 11"/>
            <p:cNvSpPr>
              <a:spLocks/>
            </p:cNvSpPr>
            <p:nvPr/>
          </p:nvSpPr>
          <p:spPr bwMode="auto">
            <a:xfrm>
              <a:off x="4935538" y="3967163"/>
              <a:ext cx="314325" cy="298450"/>
            </a:xfrm>
            <a:custGeom>
              <a:avLst/>
              <a:gdLst>
                <a:gd name="T0" fmla="*/ 437 w 842"/>
                <a:gd name="T1" fmla="*/ 1 h 801"/>
                <a:gd name="T2" fmla="*/ 317 w 842"/>
                <a:gd name="T3" fmla="*/ 20 h 801"/>
                <a:gd name="T4" fmla="*/ 3 w 842"/>
                <a:gd name="T5" fmla="*/ 429 h 801"/>
                <a:gd name="T6" fmla="*/ 86 w 842"/>
                <a:gd name="T7" fmla="*/ 702 h 801"/>
                <a:gd name="T8" fmla="*/ 225 w 842"/>
                <a:gd name="T9" fmla="*/ 792 h 801"/>
                <a:gd name="T10" fmla="*/ 277 w 842"/>
                <a:gd name="T11" fmla="*/ 789 h 801"/>
                <a:gd name="T12" fmla="*/ 148 w 842"/>
                <a:gd name="T13" fmla="*/ 700 h 801"/>
                <a:gd name="T14" fmla="*/ 55 w 842"/>
                <a:gd name="T15" fmla="*/ 439 h 801"/>
                <a:gd name="T16" fmla="*/ 127 w 842"/>
                <a:gd name="T17" fmla="*/ 215 h 801"/>
                <a:gd name="T18" fmla="*/ 328 w 842"/>
                <a:gd name="T19" fmla="*/ 65 h 801"/>
                <a:gd name="T20" fmla="*/ 706 w 842"/>
                <a:gd name="T21" fmla="*/ 176 h 801"/>
                <a:gd name="T22" fmla="*/ 750 w 842"/>
                <a:gd name="T23" fmla="*/ 558 h 801"/>
                <a:gd name="T24" fmla="*/ 605 w 842"/>
                <a:gd name="T25" fmla="*/ 801 h 801"/>
                <a:gd name="T26" fmla="*/ 658 w 842"/>
                <a:gd name="T27" fmla="*/ 751 h 801"/>
                <a:gd name="T28" fmla="*/ 790 w 842"/>
                <a:gd name="T29" fmla="*/ 538 h 801"/>
                <a:gd name="T30" fmla="*/ 738 w 842"/>
                <a:gd name="T31" fmla="*/ 157 h 801"/>
                <a:gd name="T32" fmla="*/ 437 w 842"/>
                <a:gd name="T33" fmla="*/ 1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2" h="801">
                  <a:moveTo>
                    <a:pt x="437" y="1"/>
                  </a:moveTo>
                  <a:cubicBezTo>
                    <a:pt x="397" y="2"/>
                    <a:pt x="357" y="8"/>
                    <a:pt x="317" y="20"/>
                  </a:cubicBezTo>
                  <a:cubicBezTo>
                    <a:pt x="160" y="69"/>
                    <a:pt x="7" y="207"/>
                    <a:pt x="3" y="429"/>
                  </a:cubicBezTo>
                  <a:cubicBezTo>
                    <a:pt x="1" y="536"/>
                    <a:pt x="0" y="587"/>
                    <a:pt x="86" y="702"/>
                  </a:cubicBezTo>
                  <a:cubicBezTo>
                    <a:pt x="116" y="742"/>
                    <a:pt x="159" y="777"/>
                    <a:pt x="225" y="792"/>
                  </a:cubicBezTo>
                  <a:lnTo>
                    <a:pt x="277" y="789"/>
                  </a:lnTo>
                  <a:cubicBezTo>
                    <a:pt x="219" y="753"/>
                    <a:pt x="172" y="728"/>
                    <a:pt x="148" y="700"/>
                  </a:cubicBezTo>
                  <a:cubicBezTo>
                    <a:pt x="59" y="596"/>
                    <a:pt x="53" y="543"/>
                    <a:pt x="55" y="439"/>
                  </a:cubicBezTo>
                  <a:cubicBezTo>
                    <a:pt x="57" y="348"/>
                    <a:pt x="88" y="272"/>
                    <a:pt x="127" y="215"/>
                  </a:cubicBezTo>
                  <a:cubicBezTo>
                    <a:pt x="178" y="138"/>
                    <a:pt x="246" y="90"/>
                    <a:pt x="328" y="65"/>
                  </a:cubicBezTo>
                  <a:cubicBezTo>
                    <a:pt x="472" y="21"/>
                    <a:pt x="631" y="52"/>
                    <a:pt x="706" y="176"/>
                  </a:cubicBezTo>
                  <a:cubicBezTo>
                    <a:pt x="756" y="260"/>
                    <a:pt x="802" y="395"/>
                    <a:pt x="750" y="558"/>
                  </a:cubicBezTo>
                  <a:cubicBezTo>
                    <a:pt x="728" y="623"/>
                    <a:pt x="660" y="715"/>
                    <a:pt x="605" y="801"/>
                  </a:cubicBezTo>
                  <a:lnTo>
                    <a:pt x="658" y="751"/>
                  </a:lnTo>
                  <a:cubicBezTo>
                    <a:pt x="715" y="680"/>
                    <a:pt x="765" y="620"/>
                    <a:pt x="790" y="538"/>
                  </a:cubicBezTo>
                  <a:cubicBezTo>
                    <a:pt x="842" y="362"/>
                    <a:pt x="792" y="248"/>
                    <a:pt x="738" y="157"/>
                  </a:cubicBezTo>
                  <a:cubicBezTo>
                    <a:pt x="674" y="51"/>
                    <a:pt x="558" y="0"/>
                    <a:pt x="437"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32" name="Freeform 12"/>
            <p:cNvSpPr>
              <a:spLocks/>
            </p:cNvSpPr>
            <p:nvPr/>
          </p:nvSpPr>
          <p:spPr bwMode="auto">
            <a:xfrm>
              <a:off x="4859338" y="3914775"/>
              <a:ext cx="598488" cy="1154113"/>
            </a:xfrm>
            <a:custGeom>
              <a:avLst/>
              <a:gdLst>
                <a:gd name="T0" fmla="*/ 1337 w 1596"/>
                <a:gd name="T1" fmla="*/ 119 h 3084"/>
                <a:gd name="T2" fmla="*/ 843 w 1596"/>
                <a:gd name="T3" fmla="*/ 884 h 3084"/>
                <a:gd name="T4" fmla="*/ 1074 w 1596"/>
                <a:gd name="T5" fmla="*/ 659 h 3084"/>
                <a:gd name="T6" fmla="*/ 1443 w 1596"/>
                <a:gd name="T7" fmla="*/ 62 h 3084"/>
                <a:gd name="T8" fmla="*/ 1534 w 1596"/>
                <a:gd name="T9" fmla="*/ 60 h 3084"/>
                <a:gd name="T10" fmla="*/ 1432 w 1596"/>
                <a:gd name="T11" fmla="*/ 563 h 3084"/>
                <a:gd name="T12" fmla="*/ 1223 w 1596"/>
                <a:gd name="T13" fmla="*/ 1138 h 3084"/>
                <a:gd name="T14" fmla="*/ 1212 w 1596"/>
                <a:gd name="T15" fmla="*/ 1557 h 3084"/>
                <a:gd name="T16" fmla="*/ 1300 w 1596"/>
                <a:gd name="T17" fmla="*/ 2502 h 3084"/>
                <a:gd name="T18" fmla="*/ 1164 w 1596"/>
                <a:gd name="T19" fmla="*/ 3023 h 3084"/>
                <a:gd name="T20" fmla="*/ 1025 w 1596"/>
                <a:gd name="T21" fmla="*/ 2455 h 3084"/>
                <a:gd name="T22" fmla="*/ 905 w 1596"/>
                <a:gd name="T23" fmla="*/ 2136 h 3084"/>
                <a:gd name="T24" fmla="*/ 851 w 1596"/>
                <a:gd name="T25" fmla="*/ 2167 h 3084"/>
                <a:gd name="T26" fmla="*/ 618 w 1596"/>
                <a:gd name="T27" fmla="*/ 3020 h 3084"/>
                <a:gd name="T28" fmla="*/ 567 w 1596"/>
                <a:gd name="T29" fmla="*/ 3030 h 3084"/>
                <a:gd name="T30" fmla="*/ 489 w 1596"/>
                <a:gd name="T31" fmla="*/ 2842 h 3084"/>
                <a:gd name="T32" fmla="*/ 437 w 1596"/>
                <a:gd name="T33" fmla="*/ 1615 h 3084"/>
                <a:gd name="T34" fmla="*/ 363 w 1596"/>
                <a:gd name="T35" fmla="*/ 1555 h 3084"/>
                <a:gd name="T36" fmla="*/ 360 w 1596"/>
                <a:gd name="T37" fmla="*/ 1557 h 3084"/>
                <a:gd name="T38" fmla="*/ 246 w 1596"/>
                <a:gd name="T39" fmla="*/ 1791 h 3084"/>
                <a:gd name="T40" fmla="*/ 163 w 1596"/>
                <a:gd name="T41" fmla="*/ 2157 h 3084"/>
                <a:gd name="T42" fmla="*/ 121 w 1596"/>
                <a:gd name="T43" fmla="*/ 2156 h 3084"/>
                <a:gd name="T44" fmla="*/ 82 w 1596"/>
                <a:gd name="T45" fmla="*/ 2081 h 3084"/>
                <a:gd name="T46" fmla="*/ 305 w 1596"/>
                <a:gd name="T47" fmla="*/ 1017 h 3084"/>
                <a:gd name="T48" fmla="*/ 278 w 1596"/>
                <a:gd name="T49" fmla="*/ 997 h 3084"/>
                <a:gd name="T50" fmla="*/ 40 w 1596"/>
                <a:gd name="T51" fmla="*/ 2105 h 3084"/>
                <a:gd name="T52" fmla="*/ 132 w 1596"/>
                <a:gd name="T53" fmla="*/ 2209 h 3084"/>
                <a:gd name="T54" fmla="*/ 261 w 1596"/>
                <a:gd name="T55" fmla="*/ 1984 h 3084"/>
                <a:gd name="T56" fmla="*/ 334 w 1596"/>
                <a:gd name="T57" fmla="*/ 1623 h 3084"/>
                <a:gd name="T58" fmla="*/ 373 w 1596"/>
                <a:gd name="T59" fmla="*/ 1589 h 3084"/>
                <a:gd name="T60" fmla="*/ 426 w 1596"/>
                <a:gd name="T61" fmla="*/ 1788 h 3084"/>
                <a:gd name="T62" fmla="*/ 488 w 1596"/>
                <a:gd name="T63" fmla="*/ 3017 h 3084"/>
                <a:gd name="T64" fmla="*/ 638 w 1596"/>
                <a:gd name="T65" fmla="*/ 3065 h 3084"/>
                <a:gd name="T66" fmla="*/ 891 w 1596"/>
                <a:gd name="T67" fmla="*/ 2186 h 3084"/>
                <a:gd name="T68" fmla="*/ 987 w 1596"/>
                <a:gd name="T69" fmla="*/ 2456 h 3084"/>
                <a:gd name="T70" fmla="*/ 1115 w 1596"/>
                <a:gd name="T71" fmla="*/ 3065 h 3084"/>
                <a:gd name="T72" fmla="*/ 1176 w 1596"/>
                <a:gd name="T73" fmla="*/ 3071 h 3084"/>
                <a:gd name="T74" fmla="*/ 1337 w 1596"/>
                <a:gd name="T75" fmla="*/ 2504 h 3084"/>
                <a:gd name="T76" fmla="*/ 1260 w 1596"/>
                <a:gd name="T77" fmla="*/ 1564 h 3084"/>
                <a:gd name="T78" fmla="*/ 1282 w 1596"/>
                <a:gd name="T79" fmla="*/ 994 h 3084"/>
                <a:gd name="T80" fmla="*/ 1319 w 1596"/>
                <a:gd name="T81" fmla="*/ 893 h 3084"/>
                <a:gd name="T82" fmla="*/ 1591 w 1596"/>
                <a:gd name="T83" fmla="*/ 79 h 3084"/>
                <a:gd name="T84" fmla="*/ 1532 w 1596"/>
                <a:gd name="T85" fmla="*/ 1 h 3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6" h="3084">
                  <a:moveTo>
                    <a:pt x="1524" y="0"/>
                  </a:moveTo>
                  <a:cubicBezTo>
                    <a:pt x="1483" y="1"/>
                    <a:pt x="1451" y="14"/>
                    <a:pt x="1419" y="33"/>
                  </a:cubicBezTo>
                  <a:cubicBezTo>
                    <a:pt x="1388" y="53"/>
                    <a:pt x="1361" y="83"/>
                    <a:pt x="1337" y="119"/>
                  </a:cubicBezTo>
                  <a:cubicBezTo>
                    <a:pt x="1288" y="190"/>
                    <a:pt x="1248" y="287"/>
                    <a:pt x="1196" y="390"/>
                  </a:cubicBezTo>
                  <a:cubicBezTo>
                    <a:pt x="1131" y="516"/>
                    <a:pt x="1060" y="620"/>
                    <a:pt x="982" y="720"/>
                  </a:cubicBezTo>
                  <a:cubicBezTo>
                    <a:pt x="938" y="777"/>
                    <a:pt x="897" y="845"/>
                    <a:pt x="843" y="884"/>
                  </a:cubicBezTo>
                  <a:lnTo>
                    <a:pt x="809" y="936"/>
                  </a:lnTo>
                  <a:cubicBezTo>
                    <a:pt x="846" y="909"/>
                    <a:pt x="899" y="857"/>
                    <a:pt x="935" y="822"/>
                  </a:cubicBezTo>
                  <a:cubicBezTo>
                    <a:pt x="989" y="768"/>
                    <a:pt x="1025" y="726"/>
                    <a:pt x="1074" y="659"/>
                  </a:cubicBezTo>
                  <a:cubicBezTo>
                    <a:pt x="1133" y="578"/>
                    <a:pt x="1186" y="491"/>
                    <a:pt x="1229" y="407"/>
                  </a:cubicBezTo>
                  <a:cubicBezTo>
                    <a:pt x="1282" y="303"/>
                    <a:pt x="1323" y="206"/>
                    <a:pt x="1368" y="140"/>
                  </a:cubicBezTo>
                  <a:cubicBezTo>
                    <a:pt x="1390" y="107"/>
                    <a:pt x="1418" y="78"/>
                    <a:pt x="1443" y="62"/>
                  </a:cubicBezTo>
                  <a:cubicBezTo>
                    <a:pt x="1464" y="50"/>
                    <a:pt x="1473" y="46"/>
                    <a:pt x="1501" y="45"/>
                  </a:cubicBezTo>
                  <a:cubicBezTo>
                    <a:pt x="1506" y="45"/>
                    <a:pt x="1514" y="47"/>
                    <a:pt x="1519" y="49"/>
                  </a:cubicBezTo>
                  <a:cubicBezTo>
                    <a:pt x="1524" y="52"/>
                    <a:pt x="1529" y="54"/>
                    <a:pt x="1534" y="60"/>
                  </a:cubicBezTo>
                  <a:cubicBezTo>
                    <a:pt x="1540" y="66"/>
                    <a:pt x="1548" y="76"/>
                    <a:pt x="1550" y="92"/>
                  </a:cubicBezTo>
                  <a:cubicBezTo>
                    <a:pt x="1554" y="122"/>
                    <a:pt x="1551" y="167"/>
                    <a:pt x="1542" y="218"/>
                  </a:cubicBezTo>
                  <a:cubicBezTo>
                    <a:pt x="1524" y="320"/>
                    <a:pt x="1482" y="450"/>
                    <a:pt x="1432" y="563"/>
                  </a:cubicBezTo>
                  <a:cubicBezTo>
                    <a:pt x="1376" y="687"/>
                    <a:pt x="1318" y="775"/>
                    <a:pt x="1287" y="884"/>
                  </a:cubicBezTo>
                  <a:cubicBezTo>
                    <a:pt x="1286" y="885"/>
                    <a:pt x="1284" y="888"/>
                    <a:pt x="1284" y="889"/>
                  </a:cubicBezTo>
                  <a:cubicBezTo>
                    <a:pt x="1264" y="918"/>
                    <a:pt x="1231" y="1028"/>
                    <a:pt x="1223" y="1138"/>
                  </a:cubicBezTo>
                  <a:cubicBezTo>
                    <a:pt x="1214" y="1251"/>
                    <a:pt x="1201" y="1379"/>
                    <a:pt x="1210" y="1532"/>
                  </a:cubicBezTo>
                  <a:lnTo>
                    <a:pt x="1211" y="1548"/>
                  </a:lnTo>
                  <a:lnTo>
                    <a:pt x="1212" y="1557"/>
                  </a:lnTo>
                  <a:cubicBezTo>
                    <a:pt x="1237" y="1751"/>
                    <a:pt x="1259" y="1880"/>
                    <a:pt x="1281" y="2054"/>
                  </a:cubicBezTo>
                  <a:cubicBezTo>
                    <a:pt x="1299" y="2191"/>
                    <a:pt x="1300" y="2324"/>
                    <a:pt x="1302" y="2445"/>
                  </a:cubicBezTo>
                  <a:cubicBezTo>
                    <a:pt x="1302" y="2446"/>
                    <a:pt x="1300" y="2501"/>
                    <a:pt x="1300" y="2502"/>
                  </a:cubicBezTo>
                  <a:cubicBezTo>
                    <a:pt x="1291" y="2632"/>
                    <a:pt x="1286" y="2740"/>
                    <a:pt x="1261" y="2843"/>
                  </a:cubicBezTo>
                  <a:cubicBezTo>
                    <a:pt x="1249" y="2895"/>
                    <a:pt x="1241" y="2940"/>
                    <a:pt x="1224" y="2973"/>
                  </a:cubicBezTo>
                  <a:cubicBezTo>
                    <a:pt x="1208" y="3004"/>
                    <a:pt x="1186" y="3017"/>
                    <a:pt x="1164" y="3023"/>
                  </a:cubicBezTo>
                  <a:cubicBezTo>
                    <a:pt x="1127" y="3021"/>
                    <a:pt x="1098" y="2992"/>
                    <a:pt x="1076" y="2952"/>
                  </a:cubicBezTo>
                  <a:cubicBezTo>
                    <a:pt x="1054" y="2910"/>
                    <a:pt x="1040" y="2856"/>
                    <a:pt x="1033" y="2797"/>
                  </a:cubicBezTo>
                  <a:cubicBezTo>
                    <a:pt x="1018" y="2679"/>
                    <a:pt x="1028" y="2545"/>
                    <a:pt x="1025" y="2455"/>
                  </a:cubicBezTo>
                  <a:cubicBezTo>
                    <a:pt x="1023" y="2392"/>
                    <a:pt x="1001" y="2290"/>
                    <a:pt x="972" y="2232"/>
                  </a:cubicBezTo>
                  <a:cubicBezTo>
                    <a:pt x="958" y="2203"/>
                    <a:pt x="942" y="2178"/>
                    <a:pt x="927" y="2159"/>
                  </a:cubicBezTo>
                  <a:cubicBezTo>
                    <a:pt x="920" y="2150"/>
                    <a:pt x="913" y="2142"/>
                    <a:pt x="905" y="2136"/>
                  </a:cubicBezTo>
                  <a:cubicBezTo>
                    <a:pt x="897" y="2130"/>
                    <a:pt x="873" y="2128"/>
                    <a:pt x="861" y="2128"/>
                  </a:cubicBezTo>
                  <a:lnTo>
                    <a:pt x="855" y="2153"/>
                  </a:lnTo>
                  <a:lnTo>
                    <a:pt x="851" y="2167"/>
                  </a:lnTo>
                  <a:cubicBezTo>
                    <a:pt x="816" y="2323"/>
                    <a:pt x="770" y="2596"/>
                    <a:pt x="733" y="2745"/>
                  </a:cubicBezTo>
                  <a:cubicBezTo>
                    <a:pt x="711" y="2836"/>
                    <a:pt x="686" y="2925"/>
                    <a:pt x="659" y="2980"/>
                  </a:cubicBezTo>
                  <a:cubicBezTo>
                    <a:pt x="646" y="3007"/>
                    <a:pt x="622" y="3017"/>
                    <a:pt x="618" y="3020"/>
                  </a:cubicBezTo>
                  <a:cubicBezTo>
                    <a:pt x="610" y="3024"/>
                    <a:pt x="612" y="3023"/>
                    <a:pt x="593" y="3028"/>
                  </a:cubicBezTo>
                  <a:lnTo>
                    <a:pt x="578" y="3030"/>
                  </a:lnTo>
                  <a:lnTo>
                    <a:pt x="567" y="3030"/>
                  </a:lnTo>
                  <a:cubicBezTo>
                    <a:pt x="561" y="3029"/>
                    <a:pt x="558" y="3029"/>
                    <a:pt x="550" y="3025"/>
                  </a:cubicBezTo>
                  <a:cubicBezTo>
                    <a:pt x="543" y="3021"/>
                    <a:pt x="537" y="3014"/>
                    <a:pt x="528" y="2998"/>
                  </a:cubicBezTo>
                  <a:cubicBezTo>
                    <a:pt x="511" y="2969"/>
                    <a:pt x="496" y="2912"/>
                    <a:pt x="489" y="2842"/>
                  </a:cubicBezTo>
                  <a:cubicBezTo>
                    <a:pt x="474" y="2703"/>
                    <a:pt x="473" y="2509"/>
                    <a:pt x="473" y="2316"/>
                  </a:cubicBezTo>
                  <a:cubicBezTo>
                    <a:pt x="472" y="2122"/>
                    <a:pt x="474" y="1928"/>
                    <a:pt x="463" y="1785"/>
                  </a:cubicBezTo>
                  <a:cubicBezTo>
                    <a:pt x="458" y="1714"/>
                    <a:pt x="450" y="1656"/>
                    <a:pt x="437" y="1615"/>
                  </a:cubicBezTo>
                  <a:cubicBezTo>
                    <a:pt x="430" y="1595"/>
                    <a:pt x="422" y="1579"/>
                    <a:pt x="409" y="1567"/>
                  </a:cubicBezTo>
                  <a:cubicBezTo>
                    <a:pt x="397" y="1556"/>
                    <a:pt x="379" y="1552"/>
                    <a:pt x="363" y="1556"/>
                  </a:cubicBezTo>
                  <a:lnTo>
                    <a:pt x="363" y="1555"/>
                  </a:lnTo>
                  <a:cubicBezTo>
                    <a:pt x="362" y="1555"/>
                    <a:pt x="362" y="1556"/>
                    <a:pt x="361" y="1556"/>
                  </a:cubicBezTo>
                  <a:cubicBezTo>
                    <a:pt x="361" y="1556"/>
                    <a:pt x="360" y="1556"/>
                    <a:pt x="360" y="1556"/>
                  </a:cubicBezTo>
                  <a:lnTo>
                    <a:pt x="360" y="1557"/>
                  </a:lnTo>
                  <a:cubicBezTo>
                    <a:pt x="334" y="1562"/>
                    <a:pt x="314" y="1577"/>
                    <a:pt x="301" y="1594"/>
                  </a:cubicBezTo>
                  <a:cubicBezTo>
                    <a:pt x="288" y="1612"/>
                    <a:pt x="282" y="1631"/>
                    <a:pt x="276" y="1644"/>
                  </a:cubicBezTo>
                  <a:cubicBezTo>
                    <a:pt x="261" y="1679"/>
                    <a:pt x="253" y="1731"/>
                    <a:pt x="246" y="1791"/>
                  </a:cubicBezTo>
                  <a:cubicBezTo>
                    <a:pt x="239" y="1851"/>
                    <a:pt x="233" y="1918"/>
                    <a:pt x="224" y="1979"/>
                  </a:cubicBezTo>
                  <a:cubicBezTo>
                    <a:pt x="215" y="2039"/>
                    <a:pt x="203" y="2094"/>
                    <a:pt x="187" y="2126"/>
                  </a:cubicBezTo>
                  <a:cubicBezTo>
                    <a:pt x="179" y="2143"/>
                    <a:pt x="170" y="2153"/>
                    <a:pt x="163" y="2157"/>
                  </a:cubicBezTo>
                  <a:cubicBezTo>
                    <a:pt x="155" y="2161"/>
                    <a:pt x="150" y="2166"/>
                    <a:pt x="136" y="2163"/>
                  </a:cubicBezTo>
                  <a:lnTo>
                    <a:pt x="128" y="2160"/>
                  </a:lnTo>
                  <a:lnTo>
                    <a:pt x="121" y="2156"/>
                  </a:lnTo>
                  <a:cubicBezTo>
                    <a:pt x="121" y="2156"/>
                    <a:pt x="119" y="2155"/>
                    <a:pt x="117" y="2154"/>
                  </a:cubicBezTo>
                  <a:cubicBezTo>
                    <a:pt x="115" y="2152"/>
                    <a:pt x="114" y="2149"/>
                    <a:pt x="110" y="2143"/>
                  </a:cubicBezTo>
                  <a:cubicBezTo>
                    <a:pt x="101" y="2131"/>
                    <a:pt x="91" y="2110"/>
                    <a:pt x="82" y="2081"/>
                  </a:cubicBezTo>
                  <a:cubicBezTo>
                    <a:pt x="65" y="2024"/>
                    <a:pt x="51" y="1939"/>
                    <a:pt x="46" y="1839"/>
                  </a:cubicBezTo>
                  <a:cubicBezTo>
                    <a:pt x="38" y="1638"/>
                    <a:pt x="68" y="1375"/>
                    <a:pt x="181" y="1144"/>
                  </a:cubicBezTo>
                  <a:cubicBezTo>
                    <a:pt x="207" y="1089"/>
                    <a:pt x="254" y="1045"/>
                    <a:pt x="305" y="1017"/>
                  </a:cubicBezTo>
                  <a:cubicBezTo>
                    <a:pt x="355" y="990"/>
                    <a:pt x="457" y="942"/>
                    <a:pt x="520" y="915"/>
                  </a:cubicBezTo>
                  <a:lnTo>
                    <a:pt x="445" y="920"/>
                  </a:lnTo>
                  <a:cubicBezTo>
                    <a:pt x="377" y="950"/>
                    <a:pt x="332" y="967"/>
                    <a:pt x="278" y="997"/>
                  </a:cubicBezTo>
                  <a:cubicBezTo>
                    <a:pt x="224" y="1026"/>
                    <a:pt x="178" y="1065"/>
                    <a:pt x="147" y="1128"/>
                  </a:cubicBezTo>
                  <a:cubicBezTo>
                    <a:pt x="31" y="1366"/>
                    <a:pt x="0" y="1634"/>
                    <a:pt x="9" y="1840"/>
                  </a:cubicBezTo>
                  <a:cubicBezTo>
                    <a:pt x="13" y="1943"/>
                    <a:pt x="21" y="2043"/>
                    <a:pt x="40" y="2105"/>
                  </a:cubicBezTo>
                  <a:cubicBezTo>
                    <a:pt x="50" y="2136"/>
                    <a:pt x="60" y="2162"/>
                    <a:pt x="73" y="2179"/>
                  </a:cubicBezTo>
                  <a:cubicBezTo>
                    <a:pt x="79" y="2188"/>
                    <a:pt x="92" y="2197"/>
                    <a:pt x="101" y="2203"/>
                  </a:cubicBezTo>
                  <a:cubicBezTo>
                    <a:pt x="108" y="2206"/>
                    <a:pt x="123" y="2210"/>
                    <a:pt x="132" y="2209"/>
                  </a:cubicBezTo>
                  <a:cubicBezTo>
                    <a:pt x="150" y="2209"/>
                    <a:pt x="161" y="2206"/>
                    <a:pt x="178" y="2198"/>
                  </a:cubicBezTo>
                  <a:cubicBezTo>
                    <a:pt x="195" y="2188"/>
                    <a:pt x="211" y="2163"/>
                    <a:pt x="221" y="2143"/>
                  </a:cubicBezTo>
                  <a:cubicBezTo>
                    <a:pt x="241" y="2103"/>
                    <a:pt x="252" y="2046"/>
                    <a:pt x="261" y="1984"/>
                  </a:cubicBezTo>
                  <a:cubicBezTo>
                    <a:pt x="270" y="1922"/>
                    <a:pt x="280" y="1861"/>
                    <a:pt x="287" y="1802"/>
                  </a:cubicBezTo>
                  <a:cubicBezTo>
                    <a:pt x="294" y="1743"/>
                    <a:pt x="303" y="1692"/>
                    <a:pt x="315" y="1665"/>
                  </a:cubicBezTo>
                  <a:cubicBezTo>
                    <a:pt x="321" y="1651"/>
                    <a:pt x="325" y="1636"/>
                    <a:pt x="334" y="1623"/>
                  </a:cubicBezTo>
                  <a:cubicBezTo>
                    <a:pt x="343" y="1611"/>
                    <a:pt x="354" y="1591"/>
                    <a:pt x="372" y="1588"/>
                  </a:cubicBezTo>
                  <a:lnTo>
                    <a:pt x="371" y="1589"/>
                  </a:lnTo>
                  <a:lnTo>
                    <a:pt x="373" y="1589"/>
                  </a:lnTo>
                  <a:cubicBezTo>
                    <a:pt x="379" y="1586"/>
                    <a:pt x="379" y="1589"/>
                    <a:pt x="383" y="1594"/>
                  </a:cubicBezTo>
                  <a:cubicBezTo>
                    <a:pt x="388" y="1598"/>
                    <a:pt x="395" y="1610"/>
                    <a:pt x="401" y="1627"/>
                  </a:cubicBezTo>
                  <a:cubicBezTo>
                    <a:pt x="413" y="1662"/>
                    <a:pt x="421" y="1718"/>
                    <a:pt x="426" y="1788"/>
                  </a:cubicBezTo>
                  <a:cubicBezTo>
                    <a:pt x="436" y="1928"/>
                    <a:pt x="435" y="2122"/>
                    <a:pt x="435" y="2315"/>
                  </a:cubicBezTo>
                  <a:cubicBezTo>
                    <a:pt x="435" y="2509"/>
                    <a:pt x="436" y="2703"/>
                    <a:pt x="451" y="2846"/>
                  </a:cubicBezTo>
                  <a:cubicBezTo>
                    <a:pt x="459" y="2917"/>
                    <a:pt x="470" y="2976"/>
                    <a:pt x="488" y="3017"/>
                  </a:cubicBezTo>
                  <a:cubicBezTo>
                    <a:pt x="497" y="3038"/>
                    <a:pt x="507" y="3054"/>
                    <a:pt x="522" y="3065"/>
                  </a:cubicBezTo>
                  <a:cubicBezTo>
                    <a:pt x="535" y="3076"/>
                    <a:pt x="551" y="3082"/>
                    <a:pt x="568" y="3082"/>
                  </a:cubicBezTo>
                  <a:cubicBezTo>
                    <a:pt x="593" y="3084"/>
                    <a:pt x="618" y="3079"/>
                    <a:pt x="638" y="3065"/>
                  </a:cubicBezTo>
                  <a:cubicBezTo>
                    <a:pt x="660" y="3050"/>
                    <a:pt x="677" y="3027"/>
                    <a:pt x="692" y="2998"/>
                  </a:cubicBezTo>
                  <a:cubicBezTo>
                    <a:pt x="723" y="2939"/>
                    <a:pt x="746" y="2855"/>
                    <a:pt x="768" y="2760"/>
                  </a:cubicBezTo>
                  <a:cubicBezTo>
                    <a:pt x="809" y="2578"/>
                    <a:pt x="871" y="2339"/>
                    <a:pt x="891" y="2186"/>
                  </a:cubicBezTo>
                  <a:cubicBezTo>
                    <a:pt x="894" y="2189"/>
                    <a:pt x="905" y="2201"/>
                    <a:pt x="909" y="2205"/>
                  </a:cubicBezTo>
                  <a:cubicBezTo>
                    <a:pt x="921" y="2221"/>
                    <a:pt x="931" y="2243"/>
                    <a:pt x="944" y="2270"/>
                  </a:cubicBezTo>
                  <a:cubicBezTo>
                    <a:pt x="971" y="2325"/>
                    <a:pt x="986" y="2402"/>
                    <a:pt x="987" y="2456"/>
                  </a:cubicBezTo>
                  <a:cubicBezTo>
                    <a:pt x="990" y="2542"/>
                    <a:pt x="981" y="2679"/>
                    <a:pt x="996" y="2802"/>
                  </a:cubicBezTo>
                  <a:cubicBezTo>
                    <a:pt x="1004" y="2863"/>
                    <a:pt x="1021" y="2940"/>
                    <a:pt x="1047" y="2988"/>
                  </a:cubicBezTo>
                  <a:cubicBezTo>
                    <a:pt x="1065" y="3021"/>
                    <a:pt x="1085" y="3051"/>
                    <a:pt x="1115" y="3065"/>
                  </a:cubicBezTo>
                  <a:cubicBezTo>
                    <a:pt x="1129" y="3071"/>
                    <a:pt x="1129" y="3070"/>
                    <a:pt x="1146" y="3075"/>
                  </a:cubicBezTo>
                  <a:lnTo>
                    <a:pt x="1164" y="3074"/>
                  </a:lnTo>
                  <a:lnTo>
                    <a:pt x="1176" y="3071"/>
                  </a:lnTo>
                  <a:cubicBezTo>
                    <a:pt x="1211" y="3058"/>
                    <a:pt x="1237" y="3029"/>
                    <a:pt x="1257" y="2990"/>
                  </a:cubicBezTo>
                  <a:cubicBezTo>
                    <a:pt x="1276" y="2952"/>
                    <a:pt x="1290" y="2904"/>
                    <a:pt x="1300" y="2849"/>
                  </a:cubicBezTo>
                  <a:cubicBezTo>
                    <a:pt x="1321" y="2741"/>
                    <a:pt x="1328" y="2635"/>
                    <a:pt x="1337" y="2504"/>
                  </a:cubicBezTo>
                  <a:lnTo>
                    <a:pt x="1338" y="2476"/>
                  </a:lnTo>
                  <a:lnTo>
                    <a:pt x="1338" y="2475"/>
                  </a:lnTo>
                  <a:cubicBezTo>
                    <a:pt x="1356" y="2123"/>
                    <a:pt x="1301" y="1901"/>
                    <a:pt x="1260" y="1564"/>
                  </a:cubicBezTo>
                  <a:cubicBezTo>
                    <a:pt x="1258" y="1556"/>
                    <a:pt x="1258" y="1537"/>
                    <a:pt x="1258" y="1537"/>
                  </a:cubicBezTo>
                  <a:cubicBezTo>
                    <a:pt x="1249" y="1386"/>
                    <a:pt x="1251" y="1247"/>
                    <a:pt x="1259" y="1137"/>
                  </a:cubicBezTo>
                  <a:cubicBezTo>
                    <a:pt x="1263" y="1083"/>
                    <a:pt x="1273" y="1033"/>
                    <a:pt x="1282" y="994"/>
                  </a:cubicBezTo>
                  <a:cubicBezTo>
                    <a:pt x="1292" y="954"/>
                    <a:pt x="1298" y="934"/>
                    <a:pt x="1315" y="905"/>
                  </a:cubicBezTo>
                  <a:lnTo>
                    <a:pt x="1317" y="899"/>
                  </a:lnTo>
                  <a:lnTo>
                    <a:pt x="1319" y="893"/>
                  </a:lnTo>
                  <a:cubicBezTo>
                    <a:pt x="1349" y="790"/>
                    <a:pt x="1414" y="710"/>
                    <a:pt x="1471" y="582"/>
                  </a:cubicBezTo>
                  <a:cubicBezTo>
                    <a:pt x="1523" y="466"/>
                    <a:pt x="1565" y="329"/>
                    <a:pt x="1583" y="222"/>
                  </a:cubicBezTo>
                  <a:cubicBezTo>
                    <a:pt x="1593" y="169"/>
                    <a:pt x="1596" y="116"/>
                    <a:pt x="1591" y="79"/>
                  </a:cubicBezTo>
                  <a:cubicBezTo>
                    <a:pt x="1588" y="60"/>
                    <a:pt x="1579" y="42"/>
                    <a:pt x="1570" y="28"/>
                  </a:cubicBezTo>
                  <a:cubicBezTo>
                    <a:pt x="1562" y="15"/>
                    <a:pt x="1546" y="5"/>
                    <a:pt x="1536" y="2"/>
                  </a:cubicBezTo>
                  <a:lnTo>
                    <a:pt x="1532" y="1"/>
                  </a:lnTo>
                  <a:lnTo>
                    <a:pt x="1529" y="0"/>
                  </a:lnTo>
                  <a:lnTo>
                    <a:pt x="15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33" name="Freeform 13"/>
            <p:cNvSpPr>
              <a:spLocks/>
            </p:cNvSpPr>
            <p:nvPr/>
          </p:nvSpPr>
          <p:spPr bwMode="auto">
            <a:xfrm>
              <a:off x="4902200" y="4216400"/>
              <a:ext cx="282575" cy="106363"/>
            </a:xfrm>
            <a:custGeom>
              <a:avLst/>
              <a:gdLst>
                <a:gd name="T0" fmla="*/ 758 w 758"/>
                <a:gd name="T1" fmla="*/ 265 h 282"/>
                <a:gd name="T2" fmla="*/ 659 w 758"/>
                <a:gd name="T3" fmla="*/ 173 h 282"/>
                <a:gd name="T4" fmla="*/ 489 w 758"/>
                <a:gd name="T5" fmla="*/ 89 h 282"/>
                <a:gd name="T6" fmla="*/ 241 w 758"/>
                <a:gd name="T7" fmla="*/ 13 h 282"/>
                <a:gd name="T8" fmla="*/ 164 w 758"/>
                <a:gd name="T9" fmla="*/ 0 h 282"/>
                <a:gd name="T10" fmla="*/ 73 w 758"/>
                <a:gd name="T11" fmla="*/ 55 h 282"/>
                <a:gd name="T12" fmla="*/ 0 w 758"/>
                <a:gd name="T13" fmla="*/ 164 h 282"/>
                <a:gd name="T14" fmla="*/ 5 w 758"/>
                <a:gd name="T15" fmla="*/ 279 h 282"/>
                <a:gd name="T16" fmla="*/ 285 w 758"/>
                <a:gd name="T17" fmla="*/ 230 h 282"/>
                <a:gd name="T18" fmla="*/ 473 w 758"/>
                <a:gd name="T19" fmla="*/ 226 h 282"/>
                <a:gd name="T20" fmla="*/ 754 w 758"/>
                <a:gd name="T21" fmla="*/ 282 h 282"/>
                <a:gd name="T22" fmla="*/ 758 w 758"/>
                <a:gd name="T23" fmla="*/ 26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8" h="282">
                  <a:moveTo>
                    <a:pt x="758" y="265"/>
                  </a:moveTo>
                  <a:lnTo>
                    <a:pt x="659" y="173"/>
                  </a:lnTo>
                  <a:lnTo>
                    <a:pt x="489" y="89"/>
                  </a:lnTo>
                  <a:lnTo>
                    <a:pt x="241" y="13"/>
                  </a:lnTo>
                  <a:lnTo>
                    <a:pt x="164" y="0"/>
                  </a:lnTo>
                  <a:lnTo>
                    <a:pt x="73" y="55"/>
                  </a:lnTo>
                  <a:lnTo>
                    <a:pt x="0" y="164"/>
                  </a:lnTo>
                  <a:lnTo>
                    <a:pt x="5" y="279"/>
                  </a:lnTo>
                  <a:lnTo>
                    <a:pt x="285" y="230"/>
                  </a:lnTo>
                  <a:lnTo>
                    <a:pt x="473" y="226"/>
                  </a:lnTo>
                  <a:lnTo>
                    <a:pt x="754" y="282"/>
                  </a:lnTo>
                  <a:lnTo>
                    <a:pt x="758" y="265"/>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34" name="Freeform 14"/>
            <p:cNvSpPr>
              <a:spLocks noEditPoints="1"/>
            </p:cNvSpPr>
            <p:nvPr/>
          </p:nvSpPr>
          <p:spPr bwMode="auto">
            <a:xfrm>
              <a:off x="4908550" y="4233863"/>
              <a:ext cx="100013" cy="84138"/>
            </a:xfrm>
            <a:custGeom>
              <a:avLst/>
              <a:gdLst>
                <a:gd name="T0" fmla="*/ 10 w 266"/>
                <a:gd name="T1" fmla="*/ 227 h 229"/>
                <a:gd name="T2" fmla="*/ 3 w 266"/>
                <a:gd name="T3" fmla="*/ 217 h 229"/>
                <a:gd name="T4" fmla="*/ 5 w 266"/>
                <a:gd name="T5" fmla="*/ 155 h 229"/>
                <a:gd name="T6" fmla="*/ 56 w 266"/>
                <a:gd name="T7" fmla="*/ 64 h 229"/>
                <a:gd name="T8" fmla="*/ 143 w 266"/>
                <a:gd name="T9" fmla="*/ 1 h 229"/>
                <a:gd name="T10" fmla="*/ 152 w 266"/>
                <a:gd name="T11" fmla="*/ 6 h 229"/>
                <a:gd name="T12" fmla="*/ 158 w 266"/>
                <a:gd name="T13" fmla="*/ 13 h 229"/>
                <a:gd name="T14" fmla="*/ 165 w 266"/>
                <a:gd name="T15" fmla="*/ 20 h 229"/>
                <a:gd name="T16" fmla="*/ 172 w 266"/>
                <a:gd name="T17" fmla="*/ 27 h 229"/>
                <a:gd name="T18" fmla="*/ 178 w 266"/>
                <a:gd name="T19" fmla="*/ 32 h 229"/>
                <a:gd name="T20" fmla="*/ 190 w 266"/>
                <a:gd name="T21" fmla="*/ 38 h 229"/>
                <a:gd name="T22" fmla="*/ 203 w 266"/>
                <a:gd name="T23" fmla="*/ 44 h 229"/>
                <a:gd name="T24" fmla="*/ 209 w 266"/>
                <a:gd name="T25" fmla="*/ 51 h 229"/>
                <a:gd name="T26" fmla="*/ 216 w 266"/>
                <a:gd name="T27" fmla="*/ 58 h 229"/>
                <a:gd name="T28" fmla="*/ 221 w 266"/>
                <a:gd name="T29" fmla="*/ 64 h 229"/>
                <a:gd name="T30" fmla="*/ 227 w 266"/>
                <a:gd name="T31" fmla="*/ 70 h 229"/>
                <a:gd name="T32" fmla="*/ 240 w 266"/>
                <a:gd name="T33" fmla="*/ 75 h 229"/>
                <a:gd name="T34" fmla="*/ 253 w 266"/>
                <a:gd name="T35" fmla="*/ 82 h 229"/>
                <a:gd name="T36" fmla="*/ 261 w 266"/>
                <a:gd name="T37" fmla="*/ 89 h 229"/>
                <a:gd name="T38" fmla="*/ 245 w 266"/>
                <a:gd name="T39" fmla="*/ 99 h 229"/>
                <a:gd name="T40" fmla="*/ 117 w 266"/>
                <a:gd name="T41" fmla="*/ 163 h 229"/>
                <a:gd name="T42" fmla="*/ 77 w 266"/>
                <a:gd name="T43" fmla="*/ 194 h 229"/>
                <a:gd name="T44" fmla="*/ 55 w 266"/>
                <a:gd name="T45" fmla="*/ 212 h 229"/>
                <a:gd name="T46" fmla="*/ 52 w 266"/>
                <a:gd name="T47" fmla="*/ 214 h 229"/>
                <a:gd name="T48" fmla="*/ 33 w 266"/>
                <a:gd name="T49" fmla="*/ 223 h 229"/>
                <a:gd name="T50" fmla="*/ 10 w 266"/>
                <a:gd name="T51" fmla="*/ 227 h 229"/>
                <a:gd name="T52" fmla="*/ 28 w 266"/>
                <a:gd name="T53" fmla="*/ 193 h 229"/>
                <a:gd name="T54" fmla="*/ 22 w 266"/>
                <a:gd name="T55" fmla="*/ 188 h 229"/>
                <a:gd name="T56" fmla="*/ 17 w 266"/>
                <a:gd name="T57" fmla="*/ 193 h 229"/>
                <a:gd name="T58" fmla="*/ 22 w 266"/>
                <a:gd name="T59" fmla="*/ 199 h 229"/>
                <a:gd name="T60" fmla="*/ 28 w 266"/>
                <a:gd name="T61" fmla="*/ 193 h 229"/>
                <a:gd name="T62" fmla="*/ 141 w 266"/>
                <a:gd name="T63" fmla="*/ 94 h 229"/>
                <a:gd name="T64" fmla="*/ 134 w 266"/>
                <a:gd name="T65" fmla="*/ 88 h 229"/>
                <a:gd name="T66" fmla="*/ 127 w 266"/>
                <a:gd name="T67" fmla="*/ 94 h 229"/>
                <a:gd name="T68" fmla="*/ 134 w 266"/>
                <a:gd name="T69" fmla="*/ 100 h 229"/>
                <a:gd name="T70" fmla="*/ 141 w 266"/>
                <a:gd name="T71" fmla="*/ 9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6" h="229">
                  <a:moveTo>
                    <a:pt x="10" y="227"/>
                  </a:moveTo>
                  <a:cubicBezTo>
                    <a:pt x="6" y="226"/>
                    <a:pt x="4" y="223"/>
                    <a:pt x="3" y="217"/>
                  </a:cubicBezTo>
                  <a:cubicBezTo>
                    <a:pt x="0" y="202"/>
                    <a:pt x="1" y="169"/>
                    <a:pt x="5" y="155"/>
                  </a:cubicBezTo>
                  <a:cubicBezTo>
                    <a:pt x="11" y="128"/>
                    <a:pt x="33" y="89"/>
                    <a:pt x="56" y="64"/>
                  </a:cubicBezTo>
                  <a:cubicBezTo>
                    <a:pt x="77" y="41"/>
                    <a:pt x="129" y="2"/>
                    <a:pt x="143" y="1"/>
                  </a:cubicBezTo>
                  <a:cubicBezTo>
                    <a:pt x="151" y="0"/>
                    <a:pt x="152" y="0"/>
                    <a:pt x="152" y="6"/>
                  </a:cubicBezTo>
                  <a:cubicBezTo>
                    <a:pt x="152" y="13"/>
                    <a:pt x="152" y="13"/>
                    <a:pt x="158" y="13"/>
                  </a:cubicBezTo>
                  <a:cubicBezTo>
                    <a:pt x="164" y="13"/>
                    <a:pt x="165" y="14"/>
                    <a:pt x="165" y="20"/>
                  </a:cubicBezTo>
                  <a:cubicBezTo>
                    <a:pt x="165" y="26"/>
                    <a:pt x="166" y="27"/>
                    <a:pt x="172" y="27"/>
                  </a:cubicBezTo>
                  <a:cubicBezTo>
                    <a:pt x="177" y="27"/>
                    <a:pt x="178" y="27"/>
                    <a:pt x="178" y="32"/>
                  </a:cubicBezTo>
                  <a:cubicBezTo>
                    <a:pt x="178" y="37"/>
                    <a:pt x="179" y="38"/>
                    <a:pt x="190" y="38"/>
                  </a:cubicBezTo>
                  <a:cubicBezTo>
                    <a:pt x="202" y="38"/>
                    <a:pt x="203" y="38"/>
                    <a:pt x="203" y="44"/>
                  </a:cubicBezTo>
                  <a:cubicBezTo>
                    <a:pt x="203" y="50"/>
                    <a:pt x="203" y="51"/>
                    <a:pt x="209" y="51"/>
                  </a:cubicBezTo>
                  <a:cubicBezTo>
                    <a:pt x="215" y="51"/>
                    <a:pt x="216" y="52"/>
                    <a:pt x="216" y="58"/>
                  </a:cubicBezTo>
                  <a:cubicBezTo>
                    <a:pt x="216" y="63"/>
                    <a:pt x="217" y="64"/>
                    <a:pt x="221" y="64"/>
                  </a:cubicBezTo>
                  <a:cubicBezTo>
                    <a:pt x="226" y="64"/>
                    <a:pt x="227" y="65"/>
                    <a:pt x="227" y="70"/>
                  </a:cubicBezTo>
                  <a:cubicBezTo>
                    <a:pt x="227" y="75"/>
                    <a:pt x="227" y="75"/>
                    <a:pt x="240" y="75"/>
                  </a:cubicBezTo>
                  <a:cubicBezTo>
                    <a:pt x="253" y="75"/>
                    <a:pt x="253" y="75"/>
                    <a:pt x="253" y="82"/>
                  </a:cubicBezTo>
                  <a:cubicBezTo>
                    <a:pt x="253" y="88"/>
                    <a:pt x="254" y="88"/>
                    <a:pt x="261" y="89"/>
                  </a:cubicBezTo>
                  <a:cubicBezTo>
                    <a:pt x="266" y="89"/>
                    <a:pt x="263" y="91"/>
                    <a:pt x="245" y="99"/>
                  </a:cubicBezTo>
                  <a:cubicBezTo>
                    <a:pt x="204" y="116"/>
                    <a:pt x="138" y="149"/>
                    <a:pt x="117" y="163"/>
                  </a:cubicBezTo>
                  <a:cubicBezTo>
                    <a:pt x="106" y="171"/>
                    <a:pt x="88" y="185"/>
                    <a:pt x="77" y="194"/>
                  </a:cubicBezTo>
                  <a:cubicBezTo>
                    <a:pt x="66" y="204"/>
                    <a:pt x="56" y="212"/>
                    <a:pt x="55" y="212"/>
                  </a:cubicBezTo>
                  <a:cubicBezTo>
                    <a:pt x="54" y="212"/>
                    <a:pt x="52" y="213"/>
                    <a:pt x="52" y="214"/>
                  </a:cubicBezTo>
                  <a:cubicBezTo>
                    <a:pt x="51" y="215"/>
                    <a:pt x="43" y="219"/>
                    <a:pt x="33" y="223"/>
                  </a:cubicBezTo>
                  <a:cubicBezTo>
                    <a:pt x="20" y="228"/>
                    <a:pt x="14" y="229"/>
                    <a:pt x="10" y="227"/>
                  </a:cubicBezTo>
                  <a:close/>
                  <a:moveTo>
                    <a:pt x="28" y="193"/>
                  </a:moveTo>
                  <a:cubicBezTo>
                    <a:pt x="28" y="189"/>
                    <a:pt x="27" y="188"/>
                    <a:pt x="22" y="188"/>
                  </a:cubicBezTo>
                  <a:cubicBezTo>
                    <a:pt x="18" y="188"/>
                    <a:pt x="17" y="189"/>
                    <a:pt x="17" y="193"/>
                  </a:cubicBezTo>
                  <a:cubicBezTo>
                    <a:pt x="17" y="198"/>
                    <a:pt x="18" y="199"/>
                    <a:pt x="22" y="199"/>
                  </a:cubicBezTo>
                  <a:cubicBezTo>
                    <a:pt x="27" y="199"/>
                    <a:pt x="28" y="198"/>
                    <a:pt x="28" y="193"/>
                  </a:cubicBezTo>
                  <a:close/>
                  <a:moveTo>
                    <a:pt x="141" y="94"/>
                  </a:moveTo>
                  <a:cubicBezTo>
                    <a:pt x="141" y="89"/>
                    <a:pt x="140" y="88"/>
                    <a:pt x="134" y="88"/>
                  </a:cubicBezTo>
                  <a:cubicBezTo>
                    <a:pt x="128" y="88"/>
                    <a:pt x="127" y="89"/>
                    <a:pt x="127" y="94"/>
                  </a:cubicBezTo>
                  <a:cubicBezTo>
                    <a:pt x="127" y="99"/>
                    <a:pt x="128" y="100"/>
                    <a:pt x="134" y="100"/>
                  </a:cubicBezTo>
                  <a:cubicBezTo>
                    <a:pt x="140" y="100"/>
                    <a:pt x="141" y="99"/>
                    <a:pt x="141" y="94"/>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36" name="Freeform 15"/>
            <p:cNvSpPr>
              <a:spLocks/>
            </p:cNvSpPr>
            <p:nvPr/>
          </p:nvSpPr>
          <p:spPr bwMode="auto">
            <a:xfrm>
              <a:off x="5192713" y="4157663"/>
              <a:ext cx="57150" cy="149225"/>
            </a:xfrm>
            <a:custGeom>
              <a:avLst/>
              <a:gdLst>
                <a:gd name="T0" fmla="*/ 0 w 154"/>
                <a:gd name="T1" fmla="*/ 398 h 398"/>
                <a:gd name="T2" fmla="*/ 1 w 154"/>
                <a:gd name="T3" fmla="*/ 333 h 398"/>
                <a:gd name="T4" fmla="*/ 46 w 154"/>
                <a:gd name="T5" fmla="*/ 203 h 398"/>
                <a:gd name="T6" fmla="*/ 73 w 154"/>
                <a:gd name="T7" fmla="*/ 102 h 398"/>
                <a:gd name="T8" fmla="*/ 108 w 154"/>
                <a:gd name="T9" fmla="*/ 16 h 398"/>
                <a:gd name="T10" fmla="*/ 137 w 154"/>
                <a:gd name="T11" fmla="*/ 0 h 398"/>
                <a:gd name="T12" fmla="*/ 154 w 154"/>
                <a:gd name="T13" fmla="*/ 95 h 398"/>
                <a:gd name="T14" fmla="*/ 82 w 154"/>
                <a:gd name="T15" fmla="*/ 276 h 398"/>
                <a:gd name="T16" fmla="*/ 38 w 154"/>
                <a:gd name="T17" fmla="*/ 350 h 398"/>
                <a:gd name="T18" fmla="*/ 0 w 154"/>
                <a:gd name="T19" fmla="*/ 39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398">
                  <a:moveTo>
                    <a:pt x="0" y="398"/>
                  </a:moveTo>
                  <a:lnTo>
                    <a:pt x="1" y="333"/>
                  </a:lnTo>
                  <a:lnTo>
                    <a:pt x="46" y="203"/>
                  </a:lnTo>
                  <a:lnTo>
                    <a:pt x="73" y="102"/>
                  </a:lnTo>
                  <a:lnTo>
                    <a:pt x="108" y="16"/>
                  </a:lnTo>
                  <a:lnTo>
                    <a:pt x="137" y="0"/>
                  </a:lnTo>
                  <a:lnTo>
                    <a:pt x="154" y="95"/>
                  </a:lnTo>
                  <a:lnTo>
                    <a:pt x="82" y="276"/>
                  </a:lnTo>
                  <a:lnTo>
                    <a:pt x="38" y="350"/>
                  </a:lnTo>
                  <a:lnTo>
                    <a:pt x="0" y="398"/>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37" name="Freeform 16"/>
            <p:cNvSpPr>
              <a:spLocks/>
            </p:cNvSpPr>
            <p:nvPr/>
          </p:nvSpPr>
          <p:spPr bwMode="auto">
            <a:xfrm>
              <a:off x="4908550" y="4219575"/>
              <a:ext cx="280988" cy="111125"/>
            </a:xfrm>
            <a:custGeom>
              <a:avLst/>
              <a:gdLst>
                <a:gd name="T0" fmla="*/ 751 w 751"/>
                <a:gd name="T1" fmla="*/ 278 h 296"/>
                <a:gd name="T2" fmla="*/ 137 w 751"/>
                <a:gd name="T3" fmla="*/ 0 h 296"/>
                <a:gd name="T4" fmla="*/ 0 w 751"/>
                <a:gd name="T5" fmla="*/ 296 h 296"/>
                <a:gd name="T6" fmla="*/ 751 w 751"/>
                <a:gd name="T7" fmla="*/ 278 h 296"/>
              </a:gdLst>
              <a:ahLst/>
              <a:cxnLst>
                <a:cxn ang="0">
                  <a:pos x="T0" y="T1"/>
                </a:cxn>
                <a:cxn ang="0">
                  <a:pos x="T2" y="T3"/>
                </a:cxn>
                <a:cxn ang="0">
                  <a:pos x="T4" y="T5"/>
                </a:cxn>
                <a:cxn ang="0">
                  <a:pos x="T6" y="T7"/>
                </a:cxn>
              </a:cxnLst>
              <a:rect l="0" t="0" r="r" b="b"/>
              <a:pathLst>
                <a:path w="751" h="296">
                  <a:moveTo>
                    <a:pt x="751" y="278"/>
                  </a:moveTo>
                  <a:lnTo>
                    <a:pt x="137" y="0"/>
                  </a:lnTo>
                  <a:lnTo>
                    <a:pt x="0" y="296"/>
                  </a:lnTo>
                  <a:lnTo>
                    <a:pt x="751" y="278"/>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38" name="Freeform 17"/>
            <p:cNvSpPr>
              <a:spLocks/>
            </p:cNvSpPr>
            <p:nvPr/>
          </p:nvSpPr>
          <p:spPr bwMode="auto">
            <a:xfrm>
              <a:off x="4859338" y="4230688"/>
              <a:ext cx="334963" cy="93663"/>
            </a:xfrm>
            <a:custGeom>
              <a:avLst/>
              <a:gdLst>
                <a:gd name="T0" fmla="*/ 894 w 898"/>
                <a:gd name="T1" fmla="*/ 221 h 251"/>
                <a:gd name="T2" fmla="*/ 266 w 898"/>
                <a:gd name="T3" fmla="*/ 0 h 251"/>
                <a:gd name="T4" fmla="*/ 134 w 898"/>
                <a:gd name="T5" fmla="*/ 247 h 251"/>
                <a:gd name="T6" fmla="*/ 894 w 898"/>
                <a:gd name="T7" fmla="*/ 221 h 251"/>
              </a:gdLst>
              <a:ahLst/>
              <a:cxnLst>
                <a:cxn ang="0">
                  <a:pos x="T0" y="T1"/>
                </a:cxn>
                <a:cxn ang="0">
                  <a:pos x="T2" y="T3"/>
                </a:cxn>
                <a:cxn ang="0">
                  <a:pos x="T4" y="T5"/>
                </a:cxn>
                <a:cxn ang="0">
                  <a:pos x="T6" y="T7"/>
                </a:cxn>
              </a:cxnLst>
              <a:rect l="0" t="0" r="r" b="b"/>
              <a:pathLst>
                <a:path w="898" h="251">
                  <a:moveTo>
                    <a:pt x="894" y="221"/>
                  </a:moveTo>
                  <a:cubicBezTo>
                    <a:pt x="898" y="251"/>
                    <a:pt x="266" y="0"/>
                    <a:pt x="266" y="0"/>
                  </a:cubicBezTo>
                  <a:cubicBezTo>
                    <a:pt x="0" y="41"/>
                    <a:pt x="97" y="150"/>
                    <a:pt x="134" y="247"/>
                  </a:cubicBezTo>
                  <a:lnTo>
                    <a:pt x="894" y="221"/>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0" name="Freeform 18"/>
            <p:cNvSpPr>
              <a:spLocks/>
            </p:cNvSpPr>
            <p:nvPr/>
          </p:nvSpPr>
          <p:spPr bwMode="auto">
            <a:xfrm>
              <a:off x="5102225" y="4124325"/>
              <a:ext cx="98425" cy="117475"/>
            </a:xfrm>
            <a:custGeom>
              <a:avLst/>
              <a:gdLst>
                <a:gd name="T0" fmla="*/ 9 w 265"/>
                <a:gd name="T1" fmla="*/ 0 h 314"/>
                <a:gd name="T2" fmla="*/ 265 w 265"/>
                <a:gd name="T3" fmla="*/ 163 h 314"/>
                <a:gd name="T4" fmla="*/ 0 w 265"/>
                <a:gd name="T5" fmla="*/ 314 h 314"/>
              </a:gdLst>
              <a:ahLst/>
              <a:cxnLst>
                <a:cxn ang="0">
                  <a:pos x="T0" y="T1"/>
                </a:cxn>
                <a:cxn ang="0">
                  <a:pos x="T2" y="T3"/>
                </a:cxn>
                <a:cxn ang="0">
                  <a:pos x="T4" y="T5"/>
                </a:cxn>
              </a:cxnLst>
              <a:rect l="0" t="0" r="r" b="b"/>
              <a:pathLst>
                <a:path w="265" h="314">
                  <a:moveTo>
                    <a:pt x="9" y="0"/>
                  </a:moveTo>
                  <a:cubicBezTo>
                    <a:pt x="40" y="305"/>
                    <a:pt x="265" y="163"/>
                    <a:pt x="265" y="163"/>
                  </a:cubicBezTo>
                  <a:lnTo>
                    <a:pt x="0" y="314"/>
                  </a:lnTo>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93" name="Freeform 23"/>
            <p:cNvSpPr>
              <a:spLocks/>
            </p:cNvSpPr>
            <p:nvPr/>
          </p:nvSpPr>
          <p:spPr bwMode="auto">
            <a:xfrm>
              <a:off x="4903788" y="4159250"/>
              <a:ext cx="349250" cy="163513"/>
            </a:xfrm>
            <a:custGeom>
              <a:avLst/>
              <a:gdLst>
                <a:gd name="T0" fmla="*/ 746 w 932"/>
                <a:gd name="T1" fmla="*/ 384 h 437"/>
                <a:gd name="T2" fmla="*/ 145 w 932"/>
                <a:gd name="T3" fmla="*/ 150 h 437"/>
                <a:gd name="T4" fmla="*/ 0 w 932"/>
                <a:gd name="T5" fmla="*/ 437 h 437"/>
                <a:gd name="T6" fmla="*/ 742 w 932"/>
                <a:gd name="T7" fmla="*/ 433 h 437"/>
                <a:gd name="T8" fmla="*/ 932 w 932"/>
                <a:gd name="T9" fmla="*/ 0 h 437"/>
                <a:gd name="T10" fmla="*/ 875 w 932"/>
                <a:gd name="T11" fmla="*/ 0 h 437"/>
                <a:gd name="T12" fmla="*/ 746 w 932"/>
                <a:gd name="T13" fmla="*/ 384 h 437"/>
              </a:gdLst>
              <a:ahLst/>
              <a:cxnLst>
                <a:cxn ang="0">
                  <a:pos x="T0" y="T1"/>
                </a:cxn>
                <a:cxn ang="0">
                  <a:pos x="T2" y="T3"/>
                </a:cxn>
                <a:cxn ang="0">
                  <a:pos x="T4" y="T5"/>
                </a:cxn>
                <a:cxn ang="0">
                  <a:pos x="T6" y="T7"/>
                </a:cxn>
                <a:cxn ang="0">
                  <a:pos x="T8" y="T9"/>
                </a:cxn>
                <a:cxn ang="0">
                  <a:pos x="T10" y="T11"/>
                </a:cxn>
                <a:cxn ang="0">
                  <a:pos x="T12" y="T13"/>
                </a:cxn>
              </a:cxnLst>
              <a:rect l="0" t="0" r="r" b="b"/>
              <a:pathLst>
                <a:path w="932" h="437">
                  <a:moveTo>
                    <a:pt x="746" y="384"/>
                  </a:moveTo>
                  <a:lnTo>
                    <a:pt x="145" y="150"/>
                  </a:lnTo>
                  <a:lnTo>
                    <a:pt x="0" y="437"/>
                  </a:lnTo>
                  <a:lnTo>
                    <a:pt x="742" y="433"/>
                  </a:lnTo>
                  <a:lnTo>
                    <a:pt x="932" y="0"/>
                  </a:lnTo>
                  <a:lnTo>
                    <a:pt x="875" y="0"/>
                  </a:lnTo>
                  <a:lnTo>
                    <a:pt x="746" y="384"/>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94" name="Freeform 24"/>
            <p:cNvSpPr>
              <a:spLocks noEditPoints="1"/>
            </p:cNvSpPr>
            <p:nvPr/>
          </p:nvSpPr>
          <p:spPr bwMode="auto">
            <a:xfrm>
              <a:off x="4892675" y="4146550"/>
              <a:ext cx="363538" cy="187325"/>
            </a:xfrm>
            <a:custGeom>
              <a:avLst/>
              <a:gdLst>
                <a:gd name="T0" fmla="*/ 929 w 973"/>
                <a:gd name="T1" fmla="*/ 14 h 501"/>
                <a:gd name="T2" fmla="*/ 916 w 973"/>
                <a:gd name="T3" fmla="*/ 14 h 501"/>
                <a:gd name="T4" fmla="*/ 897 w 973"/>
                <a:gd name="T5" fmla="*/ 76 h 501"/>
                <a:gd name="T6" fmla="*/ 871 w 973"/>
                <a:gd name="T7" fmla="*/ 134 h 501"/>
                <a:gd name="T8" fmla="*/ 860 w 973"/>
                <a:gd name="T9" fmla="*/ 165 h 501"/>
                <a:gd name="T10" fmla="*/ 845 w 973"/>
                <a:gd name="T11" fmla="*/ 200 h 501"/>
                <a:gd name="T12" fmla="*/ 839 w 973"/>
                <a:gd name="T13" fmla="*/ 214 h 501"/>
                <a:gd name="T14" fmla="*/ 772 w 973"/>
                <a:gd name="T15" fmla="*/ 417 h 501"/>
                <a:gd name="T16" fmla="*/ 190 w 973"/>
                <a:gd name="T17" fmla="*/ 188 h 501"/>
                <a:gd name="T18" fmla="*/ 173 w 973"/>
                <a:gd name="T19" fmla="*/ 190 h 501"/>
                <a:gd name="T20" fmla="*/ 162 w 973"/>
                <a:gd name="T21" fmla="*/ 195 h 501"/>
                <a:gd name="T22" fmla="*/ 43 w 973"/>
                <a:gd name="T23" fmla="*/ 302 h 501"/>
                <a:gd name="T24" fmla="*/ 9 w 973"/>
                <a:gd name="T25" fmla="*/ 471 h 501"/>
                <a:gd name="T26" fmla="*/ 21 w 973"/>
                <a:gd name="T27" fmla="*/ 490 h 501"/>
                <a:gd name="T28" fmla="*/ 38 w 973"/>
                <a:gd name="T29" fmla="*/ 497 h 501"/>
                <a:gd name="T30" fmla="*/ 72 w 973"/>
                <a:gd name="T31" fmla="*/ 497 h 501"/>
                <a:gd name="T32" fmla="*/ 769 w 973"/>
                <a:gd name="T33" fmla="*/ 496 h 501"/>
                <a:gd name="T34" fmla="*/ 776 w 973"/>
                <a:gd name="T35" fmla="*/ 500 h 501"/>
                <a:gd name="T36" fmla="*/ 784 w 973"/>
                <a:gd name="T37" fmla="*/ 498 h 501"/>
                <a:gd name="T38" fmla="*/ 819 w 973"/>
                <a:gd name="T39" fmla="*/ 484 h 501"/>
                <a:gd name="T40" fmla="*/ 826 w 973"/>
                <a:gd name="T41" fmla="*/ 482 h 501"/>
                <a:gd name="T42" fmla="*/ 830 w 973"/>
                <a:gd name="T43" fmla="*/ 475 h 501"/>
                <a:gd name="T44" fmla="*/ 929 w 973"/>
                <a:gd name="T45" fmla="*/ 232 h 501"/>
                <a:gd name="T46" fmla="*/ 973 w 973"/>
                <a:gd name="T47" fmla="*/ 56 h 501"/>
                <a:gd name="T48" fmla="*/ 973 w 973"/>
                <a:gd name="T49" fmla="*/ 50 h 501"/>
                <a:gd name="T50" fmla="*/ 969 w 973"/>
                <a:gd name="T51" fmla="*/ 45 h 501"/>
                <a:gd name="T52" fmla="*/ 944 w 973"/>
                <a:gd name="T53" fmla="*/ 19 h 501"/>
                <a:gd name="T54" fmla="*/ 929 w 973"/>
                <a:gd name="T55" fmla="*/ 14 h 501"/>
                <a:gd name="T56" fmla="*/ 925 w 973"/>
                <a:gd name="T57" fmla="*/ 52 h 501"/>
                <a:gd name="T58" fmla="*/ 934 w 973"/>
                <a:gd name="T59" fmla="*/ 62 h 501"/>
                <a:gd name="T60" fmla="*/ 894 w 973"/>
                <a:gd name="T61" fmla="*/ 219 h 501"/>
                <a:gd name="T62" fmla="*/ 808 w 973"/>
                <a:gd name="T63" fmla="*/ 404 h 501"/>
                <a:gd name="T64" fmla="*/ 914 w 973"/>
                <a:gd name="T65" fmla="*/ 64 h 501"/>
                <a:gd name="T66" fmla="*/ 925 w 973"/>
                <a:gd name="T67" fmla="*/ 52 h 501"/>
                <a:gd name="T68" fmla="*/ 195 w 973"/>
                <a:gd name="T69" fmla="*/ 229 h 501"/>
                <a:gd name="T70" fmla="*/ 781 w 973"/>
                <a:gd name="T71" fmla="*/ 460 h 501"/>
                <a:gd name="T72" fmla="*/ 62 w 973"/>
                <a:gd name="T73" fmla="*/ 461 h 501"/>
                <a:gd name="T74" fmla="*/ 48 w 973"/>
                <a:gd name="T75" fmla="*/ 457 h 501"/>
                <a:gd name="T76" fmla="*/ 46 w 973"/>
                <a:gd name="T77" fmla="*/ 443 h 501"/>
                <a:gd name="T78" fmla="*/ 76 w 973"/>
                <a:gd name="T79" fmla="*/ 325 h 501"/>
                <a:gd name="T80" fmla="*/ 180 w 973"/>
                <a:gd name="T81" fmla="*/ 232 h 501"/>
                <a:gd name="T82" fmla="*/ 195 w 973"/>
                <a:gd name="T83" fmla="*/ 22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3" h="501">
                  <a:moveTo>
                    <a:pt x="929" y="14"/>
                  </a:moveTo>
                  <a:cubicBezTo>
                    <a:pt x="923" y="13"/>
                    <a:pt x="921" y="13"/>
                    <a:pt x="916" y="14"/>
                  </a:cubicBezTo>
                  <a:cubicBezTo>
                    <a:pt x="919" y="0"/>
                    <a:pt x="909" y="36"/>
                    <a:pt x="897" y="76"/>
                  </a:cubicBezTo>
                  <a:cubicBezTo>
                    <a:pt x="890" y="92"/>
                    <a:pt x="888" y="94"/>
                    <a:pt x="871" y="134"/>
                  </a:cubicBezTo>
                  <a:cubicBezTo>
                    <a:pt x="871" y="136"/>
                    <a:pt x="868" y="147"/>
                    <a:pt x="860" y="165"/>
                  </a:cubicBezTo>
                  <a:cubicBezTo>
                    <a:pt x="853" y="182"/>
                    <a:pt x="853" y="182"/>
                    <a:pt x="845" y="200"/>
                  </a:cubicBezTo>
                  <a:cubicBezTo>
                    <a:pt x="843" y="206"/>
                    <a:pt x="841" y="208"/>
                    <a:pt x="839" y="214"/>
                  </a:cubicBezTo>
                  <a:cubicBezTo>
                    <a:pt x="815" y="271"/>
                    <a:pt x="799" y="355"/>
                    <a:pt x="772" y="417"/>
                  </a:cubicBezTo>
                  <a:cubicBezTo>
                    <a:pt x="550" y="244"/>
                    <a:pt x="299" y="174"/>
                    <a:pt x="190" y="188"/>
                  </a:cubicBezTo>
                  <a:lnTo>
                    <a:pt x="173" y="190"/>
                  </a:lnTo>
                  <a:lnTo>
                    <a:pt x="162" y="195"/>
                  </a:lnTo>
                  <a:cubicBezTo>
                    <a:pt x="98" y="236"/>
                    <a:pt x="72" y="257"/>
                    <a:pt x="43" y="302"/>
                  </a:cubicBezTo>
                  <a:cubicBezTo>
                    <a:pt x="13" y="347"/>
                    <a:pt x="0" y="415"/>
                    <a:pt x="9" y="471"/>
                  </a:cubicBezTo>
                  <a:cubicBezTo>
                    <a:pt x="10" y="480"/>
                    <a:pt x="16" y="486"/>
                    <a:pt x="21" y="490"/>
                  </a:cubicBezTo>
                  <a:cubicBezTo>
                    <a:pt x="27" y="494"/>
                    <a:pt x="32" y="496"/>
                    <a:pt x="38" y="497"/>
                  </a:cubicBezTo>
                  <a:cubicBezTo>
                    <a:pt x="49" y="500"/>
                    <a:pt x="60" y="501"/>
                    <a:pt x="72" y="497"/>
                  </a:cubicBezTo>
                  <a:cubicBezTo>
                    <a:pt x="451" y="389"/>
                    <a:pt x="636" y="424"/>
                    <a:pt x="769" y="496"/>
                  </a:cubicBezTo>
                  <a:lnTo>
                    <a:pt x="776" y="500"/>
                  </a:lnTo>
                  <a:lnTo>
                    <a:pt x="784" y="498"/>
                  </a:lnTo>
                  <a:lnTo>
                    <a:pt x="819" y="484"/>
                  </a:lnTo>
                  <a:lnTo>
                    <a:pt x="826" y="482"/>
                  </a:lnTo>
                  <a:lnTo>
                    <a:pt x="830" y="475"/>
                  </a:lnTo>
                  <a:cubicBezTo>
                    <a:pt x="844" y="404"/>
                    <a:pt x="903" y="304"/>
                    <a:pt x="929" y="232"/>
                  </a:cubicBezTo>
                  <a:cubicBezTo>
                    <a:pt x="955" y="160"/>
                    <a:pt x="971" y="101"/>
                    <a:pt x="973" y="56"/>
                  </a:cubicBezTo>
                  <a:lnTo>
                    <a:pt x="973" y="50"/>
                  </a:lnTo>
                  <a:lnTo>
                    <a:pt x="969" y="45"/>
                  </a:lnTo>
                  <a:cubicBezTo>
                    <a:pt x="961" y="33"/>
                    <a:pt x="953" y="25"/>
                    <a:pt x="944" y="19"/>
                  </a:cubicBezTo>
                  <a:cubicBezTo>
                    <a:pt x="939" y="16"/>
                    <a:pt x="934" y="15"/>
                    <a:pt x="929" y="14"/>
                  </a:cubicBezTo>
                  <a:close/>
                  <a:moveTo>
                    <a:pt x="925" y="52"/>
                  </a:moveTo>
                  <a:cubicBezTo>
                    <a:pt x="926" y="52"/>
                    <a:pt x="930" y="58"/>
                    <a:pt x="934" y="62"/>
                  </a:cubicBezTo>
                  <a:cubicBezTo>
                    <a:pt x="932" y="98"/>
                    <a:pt x="918" y="152"/>
                    <a:pt x="894" y="219"/>
                  </a:cubicBezTo>
                  <a:cubicBezTo>
                    <a:pt x="875" y="271"/>
                    <a:pt x="835" y="342"/>
                    <a:pt x="808" y="404"/>
                  </a:cubicBezTo>
                  <a:cubicBezTo>
                    <a:pt x="884" y="192"/>
                    <a:pt x="903" y="119"/>
                    <a:pt x="914" y="64"/>
                  </a:cubicBezTo>
                  <a:cubicBezTo>
                    <a:pt x="920" y="58"/>
                    <a:pt x="925" y="52"/>
                    <a:pt x="925" y="52"/>
                  </a:cubicBezTo>
                  <a:close/>
                  <a:moveTo>
                    <a:pt x="195" y="229"/>
                  </a:moveTo>
                  <a:cubicBezTo>
                    <a:pt x="449" y="256"/>
                    <a:pt x="675" y="359"/>
                    <a:pt x="781" y="460"/>
                  </a:cubicBezTo>
                  <a:cubicBezTo>
                    <a:pt x="641" y="391"/>
                    <a:pt x="287" y="369"/>
                    <a:pt x="62" y="461"/>
                  </a:cubicBezTo>
                  <a:cubicBezTo>
                    <a:pt x="59" y="462"/>
                    <a:pt x="53" y="458"/>
                    <a:pt x="48" y="457"/>
                  </a:cubicBezTo>
                  <a:cubicBezTo>
                    <a:pt x="47" y="452"/>
                    <a:pt x="46" y="443"/>
                    <a:pt x="46" y="443"/>
                  </a:cubicBezTo>
                  <a:cubicBezTo>
                    <a:pt x="40" y="397"/>
                    <a:pt x="52" y="362"/>
                    <a:pt x="76" y="325"/>
                  </a:cubicBezTo>
                  <a:cubicBezTo>
                    <a:pt x="100" y="288"/>
                    <a:pt x="122" y="269"/>
                    <a:pt x="180" y="232"/>
                  </a:cubicBezTo>
                  <a:lnTo>
                    <a:pt x="195" y="229"/>
                  </a:lnTo>
                  <a:close/>
                </a:path>
              </a:pathLst>
            </a:custGeom>
            <a:solidFill>
              <a:srgbClr val="6A8C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95" name="Freeform 25"/>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96" name="Freeform 26"/>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97" name="Freeform 27"/>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98" name="Freeform 28"/>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99" name="Freeform 29"/>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00" name="Freeform 30"/>
            <p:cNvSpPr>
              <a:spLocks noEditPoints="1"/>
            </p:cNvSpPr>
            <p:nvPr/>
          </p:nvSpPr>
          <p:spPr bwMode="auto">
            <a:xfrm>
              <a:off x="4862513" y="3951288"/>
              <a:ext cx="515938" cy="815975"/>
            </a:xfrm>
            <a:custGeom>
              <a:avLst/>
              <a:gdLst>
                <a:gd name="T0" fmla="*/ 376 w 1378"/>
                <a:gd name="T1" fmla="*/ 1494 h 2181"/>
                <a:gd name="T2" fmla="*/ 280 w 1378"/>
                <a:gd name="T3" fmla="*/ 1703 h 2181"/>
                <a:gd name="T4" fmla="*/ 53 w 1378"/>
                <a:gd name="T5" fmla="*/ 2056 h 2181"/>
                <a:gd name="T6" fmla="*/ 133 w 1378"/>
                <a:gd name="T7" fmla="*/ 1049 h 2181"/>
                <a:gd name="T8" fmla="*/ 100 w 1378"/>
                <a:gd name="T9" fmla="*/ 1009 h 2181"/>
                <a:gd name="T10" fmla="*/ 184 w 1378"/>
                <a:gd name="T11" fmla="*/ 759 h 2181"/>
                <a:gd name="T12" fmla="*/ 246 w 1378"/>
                <a:gd name="T13" fmla="*/ 691 h 2181"/>
                <a:gd name="T14" fmla="*/ 444 w 1378"/>
                <a:gd name="T15" fmla="*/ 90 h 2181"/>
                <a:gd name="T16" fmla="*/ 992 w 1378"/>
                <a:gd name="T17" fmla="*/ 337 h 2181"/>
                <a:gd name="T18" fmla="*/ 1004 w 1378"/>
                <a:gd name="T19" fmla="*/ 538 h 2181"/>
                <a:gd name="T20" fmla="*/ 1059 w 1378"/>
                <a:gd name="T21" fmla="*/ 509 h 2181"/>
                <a:gd name="T22" fmla="*/ 1347 w 1378"/>
                <a:gd name="T23" fmla="*/ 0 h 2181"/>
                <a:gd name="T24" fmla="*/ 1378 w 1378"/>
                <a:gd name="T25" fmla="*/ 9 h 2181"/>
                <a:gd name="T26" fmla="*/ 1202 w 1378"/>
                <a:gd name="T27" fmla="*/ 344 h 2181"/>
                <a:gd name="T28" fmla="*/ 1022 w 1378"/>
                <a:gd name="T29" fmla="*/ 709 h 2181"/>
                <a:gd name="T30" fmla="*/ 881 w 1378"/>
                <a:gd name="T31" fmla="*/ 1011 h 2181"/>
                <a:gd name="T32" fmla="*/ 581 w 1378"/>
                <a:gd name="T33" fmla="*/ 950 h 2181"/>
                <a:gd name="T34" fmla="*/ 143 w 1378"/>
                <a:gd name="T35" fmla="*/ 1112 h 2181"/>
                <a:gd name="T36" fmla="*/ 136 w 1378"/>
                <a:gd name="T37" fmla="*/ 2068 h 2181"/>
                <a:gd name="T38" fmla="*/ 281 w 1378"/>
                <a:gd name="T39" fmla="*/ 1522 h 2181"/>
                <a:gd name="T40" fmla="*/ 464 w 1378"/>
                <a:gd name="T41" fmla="*/ 2034 h 2181"/>
                <a:gd name="T42" fmla="*/ 431 w 1378"/>
                <a:gd name="T43" fmla="*/ 2181 h 2181"/>
                <a:gd name="T44" fmla="*/ 192 w 1378"/>
                <a:gd name="T45" fmla="*/ 959 h 2181"/>
                <a:gd name="T46" fmla="*/ 416 w 1378"/>
                <a:gd name="T47" fmla="*/ 830 h 2181"/>
                <a:gd name="T48" fmla="*/ 275 w 1378"/>
                <a:gd name="T49" fmla="*/ 751 h 2181"/>
                <a:gd name="T50" fmla="*/ 124 w 1378"/>
                <a:gd name="T51" fmla="*/ 969 h 2181"/>
                <a:gd name="T52" fmla="*/ 160 w 1378"/>
                <a:gd name="T53" fmla="*/ 977 h 2181"/>
                <a:gd name="T54" fmla="*/ 390 w 1378"/>
                <a:gd name="T55" fmla="*/ 768 h 2181"/>
                <a:gd name="T56" fmla="*/ 455 w 1378"/>
                <a:gd name="T57" fmla="*/ 822 h 2181"/>
                <a:gd name="T58" fmla="*/ 255 w 1378"/>
                <a:gd name="T59" fmla="*/ 947 h 2181"/>
                <a:gd name="T60" fmla="*/ 692 w 1378"/>
                <a:gd name="T61" fmla="*/ 933 h 2181"/>
                <a:gd name="T62" fmla="*/ 834 w 1378"/>
                <a:gd name="T63" fmla="*/ 965 h 2181"/>
                <a:gd name="T64" fmla="*/ 922 w 1378"/>
                <a:gd name="T65" fmla="*/ 740 h 2181"/>
                <a:gd name="T66" fmla="*/ 848 w 1378"/>
                <a:gd name="T67" fmla="*/ 769 h 2181"/>
                <a:gd name="T68" fmla="*/ 891 w 1378"/>
                <a:gd name="T69" fmla="*/ 202 h 2181"/>
                <a:gd name="T70" fmla="*/ 249 w 1378"/>
                <a:gd name="T71" fmla="*/ 540 h 2181"/>
                <a:gd name="T72" fmla="*/ 349 w 1378"/>
                <a:gd name="T73" fmla="*/ 713 h 2181"/>
                <a:gd name="T74" fmla="*/ 864 w 1378"/>
                <a:gd name="T75" fmla="*/ 911 h 2181"/>
                <a:gd name="T76" fmla="*/ 1003 w 1378"/>
                <a:gd name="T77" fmla="*/ 643 h 2181"/>
                <a:gd name="T78" fmla="*/ 963 w 1378"/>
                <a:gd name="T79" fmla="*/ 712 h 2181"/>
                <a:gd name="T80" fmla="*/ 929 w 1378"/>
                <a:gd name="T81" fmla="*/ 847 h 2181"/>
                <a:gd name="T82" fmla="*/ 997 w 1378"/>
                <a:gd name="T83" fmla="*/ 579 h 2181"/>
                <a:gd name="T84" fmla="*/ 993 w 1378"/>
                <a:gd name="T85" fmla="*/ 601 h 2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78" h="2181">
                  <a:moveTo>
                    <a:pt x="429" y="2044"/>
                  </a:moveTo>
                  <a:cubicBezTo>
                    <a:pt x="428" y="1893"/>
                    <a:pt x="424" y="1765"/>
                    <a:pt x="421" y="1714"/>
                  </a:cubicBezTo>
                  <a:cubicBezTo>
                    <a:pt x="413" y="1590"/>
                    <a:pt x="398" y="1516"/>
                    <a:pt x="376" y="1494"/>
                  </a:cubicBezTo>
                  <a:cubicBezTo>
                    <a:pt x="368" y="1486"/>
                    <a:pt x="357" y="1490"/>
                    <a:pt x="341" y="1506"/>
                  </a:cubicBezTo>
                  <a:cubicBezTo>
                    <a:pt x="327" y="1522"/>
                    <a:pt x="316" y="1542"/>
                    <a:pt x="306" y="1572"/>
                  </a:cubicBezTo>
                  <a:cubicBezTo>
                    <a:pt x="295" y="1602"/>
                    <a:pt x="290" y="1627"/>
                    <a:pt x="280" y="1703"/>
                  </a:cubicBezTo>
                  <a:cubicBezTo>
                    <a:pt x="245" y="1953"/>
                    <a:pt x="237" y="1993"/>
                    <a:pt x="215" y="2041"/>
                  </a:cubicBezTo>
                  <a:cubicBezTo>
                    <a:pt x="193" y="2087"/>
                    <a:pt x="172" y="2106"/>
                    <a:pt x="136" y="2110"/>
                  </a:cubicBezTo>
                  <a:cubicBezTo>
                    <a:pt x="99" y="2115"/>
                    <a:pt x="73" y="2097"/>
                    <a:pt x="53" y="2056"/>
                  </a:cubicBezTo>
                  <a:cubicBezTo>
                    <a:pt x="36" y="2020"/>
                    <a:pt x="27" y="1987"/>
                    <a:pt x="19" y="1936"/>
                  </a:cubicBezTo>
                  <a:cubicBezTo>
                    <a:pt x="8" y="1865"/>
                    <a:pt x="0" y="1711"/>
                    <a:pt x="2" y="1633"/>
                  </a:cubicBezTo>
                  <a:cubicBezTo>
                    <a:pt x="9" y="1417"/>
                    <a:pt x="55" y="1214"/>
                    <a:pt x="133" y="1049"/>
                  </a:cubicBezTo>
                  <a:cubicBezTo>
                    <a:pt x="141" y="1033"/>
                    <a:pt x="147" y="1020"/>
                    <a:pt x="147" y="1019"/>
                  </a:cubicBezTo>
                  <a:cubicBezTo>
                    <a:pt x="147" y="1019"/>
                    <a:pt x="144" y="1020"/>
                    <a:pt x="140" y="1020"/>
                  </a:cubicBezTo>
                  <a:cubicBezTo>
                    <a:pt x="127" y="1022"/>
                    <a:pt x="108" y="1016"/>
                    <a:pt x="100" y="1009"/>
                  </a:cubicBezTo>
                  <a:cubicBezTo>
                    <a:pt x="89" y="999"/>
                    <a:pt x="87" y="990"/>
                    <a:pt x="88" y="949"/>
                  </a:cubicBezTo>
                  <a:cubicBezTo>
                    <a:pt x="89" y="920"/>
                    <a:pt x="90" y="909"/>
                    <a:pt x="95" y="892"/>
                  </a:cubicBezTo>
                  <a:cubicBezTo>
                    <a:pt x="109" y="837"/>
                    <a:pt x="138" y="794"/>
                    <a:pt x="184" y="759"/>
                  </a:cubicBezTo>
                  <a:cubicBezTo>
                    <a:pt x="209" y="739"/>
                    <a:pt x="248" y="713"/>
                    <a:pt x="253" y="713"/>
                  </a:cubicBezTo>
                  <a:cubicBezTo>
                    <a:pt x="256" y="713"/>
                    <a:pt x="258" y="712"/>
                    <a:pt x="258" y="711"/>
                  </a:cubicBezTo>
                  <a:cubicBezTo>
                    <a:pt x="258" y="710"/>
                    <a:pt x="252" y="701"/>
                    <a:pt x="246" y="691"/>
                  </a:cubicBezTo>
                  <a:cubicBezTo>
                    <a:pt x="225" y="656"/>
                    <a:pt x="210" y="621"/>
                    <a:pt x="203" y="585"/>
                  </a:cubicBezTo>
                  <a:cubicBezTo>
                    <a:pt x="197" y="558"/>
                    <a:pt x="198" y="447"/>
                    <a:pt x="203" y="412"/>
                  </a:cubicBezTo>
                  <a:cubicBezTo>
                    <a:pt x="226" y="268"/>
                    <a:pt x="311" y="155"/>
                    <a:pt x="444" y="90"/>
                  </a:cubicBezTo>
                  <a:cubicBezTo>
                    <a:pt x="480" y="73"/>
                    <a:pt x="498" y="66"/>
                    <a:pt x="533" y="57"/>
                  </a:cubicBezTo>
                  <a:cubicBezTo>
                    <a:pt x="685" y="18"/>
                    <a:pt x="843" y="69"/>
                    <a:pt x="920" y="182"/>
                  </a:cubicBezTo>
                  <a:cubicBezTo>
                    <a:pt x="951" y="229"/>
                    <a:pt x="980" y="289"/>
                    <a:pt x="992" y="337"/>
                  </a:cubicBezTo>
                  <a:cubicBezTo>
                    <a:pt x="1002" y="376"/>
                    <a:pt x="1003" y="389"/>
                    <a:pt x="1003" y="438"/>
                  </a:cubicBezTo>
                  <a:cubicBezTo>
                    <a:pt x="1003" y="481"/>
                    <a:pt x="1001" y="499"/>
                    <a:pt x="994" y="532"/>
                  </a:cubicBezTo>
                  <a:cubicBezTo>
                    <a:pt x="993" y="537"/>
                    <a:pt x="994" y="538"/>
                    <a:pt x="1004" y="538"/>
                  </a:cubicBezTo>
                  <a:cubicBezTo>
                    <a:pt x="1012" y="538"/>
                    <a:pt x="1018" y="540"/>
                    <a:pt x="1022" y="543"/>
                  </a:cubicBezTo>
                  <a:cubicBezTo>
                    <a:pt x="1026" y="545"/>
                    <a:pt x="1030" y="548"/>
                    <a:pt x="1031" y="548"/>
                  </a:cubicBezTo>
                  <a:cubicBezTo>
                    <a:pt x="1032" y="548"/>
                    <a:pt x="1045" y="530"/>
                    <a:pt x="1059" y="509"/>
                  </a:cubicBezTo>
                  <a:cubicBezTo>
                    <a:pt x="1127" y="411"/>
                    <a:pt x="1152" y="367"/>
                    <a:pt x="1234" y="203"/>
                  </a:cubicBezTo>
                  <a:cubicBezTo>
                    <a:pt x="1295" y="80"/>
                    <a:pt x="1309" y="55"/>
                    <a:pt x="1333" y="20"/>
                  </a:cubicBezTo>
                  <a:lnTo>
                    <a:pt x="1347" y="0"/>
                  </a:lnTo>
                  <a:lnTo>
                    <a:pt x="1363" y="0"/>
                  </a:lnTo>
                  <a:lnTo>
                    <a:pt x="1378" y="0"/>
                  </a:lnTo>
                  <a:lnTo>
                    <a:pt x="1378" y="9"/>
                  </a:lnTo>
                  <a:cubicBezTo>
                    <a:pt x="1378" y="16"/>
                    <a:pt x="1376" y="21"/>
                    <a:pt x="1364" y="38"/>
                  </a:cubicBezTo>
                  <a:cubicBezTo>
                    <a:pt x="1342" y="68"/>
                    <a:pt x="1320" y="107"/>
                    <a:pt x="1270" y="209"/>
                  </a:cubicBezTo>
                  <a:cubicBezTo>
                    <a:pt x="1245" y="260"/>
                    <a:pt x="1214" y="321"/>
                    <a:pt x="1202" y="344"/>
                  </a:cubicBezTo>
                  <a:cubicBezTo>
                    <a:pt x="1164" y="415"/>
                    <a:pt x="1111" y="499"/>
                    <a:pt x="1068" y="556"/>
                  </a:cubicBezTo>
                  <a:cubicBezTo>
                    <a:pt x="1052" y="579"/>
                    <a:pt x="1051" y="580"/>
                    <a:pt x="1049" y="598"/>
                  </a:cubicBezTo>
                  <a:cubicBezTo>
                    <a:pt x="1045" y="628"/>
                    <a:pt x="1036" y="666"/>
                    <a:pt x="1022" y="709"/>
                  </a:cubicBezTo>
                  <a:cubicBezTo>
                    <a:pt x="1005" y="761"/>
                    <a:pt x="997" y="780"/>
                    <a:pt x="966" y="848"/>
                  </a:cubicBezTo>
                  <a:cubicBezTo>
                    <a:pt x="935" y="916"/>
                    <a:pt x="923" y="944"/>
                    <a:pt x="915" y="971"/>
                  </a:cubicBezTo>
                  <a:cubicBezTo>
                    <a:pt x="905" y="1004"/>
                    <a:pt x="907" y="1001"/>
                    <a:pt x="881" y="1011"/>
                  </a:cubicBezTo>
                  <a:cubicBezTo>
                    <a:pt x="869" y="1016"/>
                    <a:pt x="857" y="1020"/>
                    <a:pt x="856" y="1020"/>
                  </a:cubicBezTo>
                  <a:cubicBezTo>
                    <a:pt x="855" y="1020"/>
                    <a:pt x="845" y="1016"/>
                    <a:pt x="835" y="1011"/>
                  </a:cubicBezTo>
                  <a:cubicBezTo>
                    <a:pt x="755" y="971"/>
                    <a:pt x="681" y="953"/>
                    <a:pt x="581" y="950"/>
                  </a:cubicBezTo>
                  <a:cubicBezTo>
                    <a:pt x="475" y="947"/>
                    <a:pt x="352" y="965"/>
                    <a:pt x="206" y="1003"/>
                  </a:cubicBezTo>
                  <a:cubicBezTo>
                    <a:pt x="199" y="1005"/>
                    <a:pt x="196" y="1008"/>
                    <a:pt x="188" y="1021"/>
                  </a:cubicBezTo>
                  <a:cubicBezTo>
                    <a:pt x="177" y="1038"/>
                    <a:pt x="159" y="1074"/>
                    <a:pt x="143" y="1112"/>
                  </a:cubicBezTo>
                  <a:cubicBezTo>
                    <a:pt x="61" y="1312"/>
                    <a:pt x="25" y="1549"/>
                    <a:pt x="41" y="1783"/>
                  </a:cubicBezTo>
                  <a:cubicBezTo>
                    <a:pt x="49" y="1900"/>
                    <a:pt x="73" y="2004"/>
                    <a:pt x="101" y="2046"/>
                  </a:cubicBezTo>
                  <a:cubicBezTo>
                    <a:pt x="109" y="2058"/>
                    <a:pt x="125" y="2068"/>
                    <a:pt x="136" y="2068"/>
                  </a:cubicBezTo>
                  <a:cubicBezTo>
                    <a:pt x="155" y="2068"/>
                    <a:pt x="174" y="2049"/>
                    <a:pt x="187" y="2016"/>
                  </a:cubicBezTo>
                  <a:cubicBezTo>
                    <a:pt x="207" y="1965"/>
                    <a:pt x="215" y="1916"/>
                    <a:pt x="236" y="1734"/>
                  </a:cubicBezTo>
                  <a:cubicBezTo>
                    <a:pt x="250" y="1610"/>
                    <a:pt x="258" y="1570"/>
                    <a:pt x="281" y="1522"/>
                  </a:cubicBezTo>
                  <a:cubicBezTo>
                    <a:pt x="298" y="1487"/>
                    <a:pt x="324" y="1467"/>
                    <a:pt x="357" y="1460"/>
                  </a:cubicBezTo>
                  <a:cubicBezTo>
                    <a:pt x="393" y="1453"/>
                    <a:pt x="416" y="1475"/>
                    <a:pt x="432" y="1531"/>
                  </a:cubicBezTo>
                  <a:cubicBezTo>
                    <a:pt x="454" y="1611"/>
                    <a:pt x="461" y="1719"/>
                    <a:pt x="464" y="2034"/>
                  </a:cubicBezTo>
                  <a:lnTo>
                    <a:pt x="466" y="2181"/>
                  </a:lnTo>
                  <a:lnTo>
                    <a:pt x="448" y="2181"/>
                  </a:lnTo>
                  <a:lnTo>
                    <a:pt x="431" y="2181"/>
                  </a:lnTo>
                  <a:lnTo>
                    <a:pt x="429" y="2044"/>
                  </a:lnTo>
                  <a:close/>
                  <a:moveTo>
                    <a:pt x="160" y="977"/>
                  </a:moveTo>
                  <a:cubicBezTo>
                    <a:pt x="177" y="971"/>
                    <a:pt x="184" y="967"/>
                    <a:pt x="192" y="959"/>
                  </a:cubicBezTo>
                  <a:cubicBezTo>
                    <a:pt x="210" y="942"/>
                    <a:pt x="226" y="929"/>
                    <a:pt x="245" y="917"/>
                  </a:cubicBezTo>
                  <a:cubicBezTo>
                    <a:pt x="267" y="903"/>
                    <a:pt x="333" y="870"/>
                    <a:pt x="380" y="849"/>
                  </a:cubicBezTo>
                  <a:cubicBezTo>
                    <a:pt x="416" y="834"/>
                    <a:pt x="423" y="830"/>
                    <a:pt x="416" y="830"/>
                  </a:cubicBezTo>
                  <a:cubicBezTo>
                    <a:pt x="409" y="830"/>
                    <a:pt x="374" y="817"/>
                    <a:pt x="358" y="809"/>
                  </a:cubicBezTo>
                  <a:cubicBezTo>
                    <a:pt x="337" y="797"/>
                    <a:pt x="320" y="784"/>
                    <a:pt x="302" y="766"/>
                  </a:cubicBezTo>
                  <a:cubicBezTo>
                    <a:pt x="288" y="751"/>
                    <a:pt x="288" y="751"/>
                    <a:pt x="275" y="751"/>
                  </a:cubicBezTo>
                  <a:cubicBezTo>
                    <a:pt x="269" y="751"/>
                    <a:pt x="261" y="752"/>
                    <a:pt x="257" y="754"/>
                  </a:cubicBezTo>
                  <a:cubicBezTo>
                    <a:pt x="242" y="761"/>
                    <a:pt x="208" y="787"/>
                    <a:pt x="188" y="807"/>
                  </a:cubicBezTo>
                  <a:cubicBezTo>
                    <a:pt x="137" y="857"/>
                    <a:pt x="117" y="909"/>
                    <a:pt x="124" y="969"/>
                  </a:cubicBezTo>
                  <a:cubicBezTo>
                    <a:pt x="125" y="979"/>
                    <a:pt x="126" y="980"/>
                    <a:pt x="133" y="982"/>
                  </a:cubicBezTo>
                  <a:cubicBezTo>
                    <a:pt x="136" y="984"/>
                    <a:pt x="139" y="985"/>
                    <a:pt x="139" y="985"/>
                  </a:cubicBezTo>
                  <a:cubicBezTo>
                    <a:pt x="139" y="985"/>
                    <a:pt x="149" y="982"/>
                    <a:pt x="160" y="977"/>
                  </a:cubicBezTo>
                  <a:close/>
                  <a:moveTo>
                    <a:pt x="834" y="965"/>
                  </a:moveTo>
                  <a:cubicBezTo>
                    <a:pt x="828" y="958"/>
                    <a:pt x="811" y="945"/>
                    <a:pt x="798" y="935"/>
                  </a:cubicBezTo>
                  <a:cubicBezTo>
                    <a:pt x="694" y="859"/>
                    <a:pt x="546" y="798"/>
                    <a:pt x="390" y="768"/>
                  </a:cubicBezTo>
                  <a:cubicBezTo>
                    <a:pt x="375" y="765"/>
                    <a:pt x="364" y="763"/>
                    <a:pt x="365" y="764"/>
                  </a:cubicBezTo>
                  <a:cubicBezTo>
                    <a:pt x="371" y="769"/>
                    <a:pt x="400" y="788"/>
                    <a:pt x="426" y="804"/>
                  </a:cubicBezTo>
                  <a:lnTo>
                    <a:pt x="455" y="822"/>
                  </a:lnTo>
                  <a:lnTo>
                    <a:pt x="480" y="821"/>
                  </a:lnTo>
                  <a:cubicBezTo>
                    <a:pt x="509" y="819"/>
                    <a:pt x="512" y="817"/>
                    <a:pt x="441" y="849"/>
                  </a:cubicBezTo>
                  <a:cubicBezTo>
                    <a:pt x="347" y="892"/>
                    <a:pt x="261" y="937"/>
                    <a:pt x="255" y="947"/>
                  </a:cubicBezTo>
                  <a:cubicBezTo>
                    <a:pt x="254" y="948"/>
                    <a:pt x="269" y="946"/>
                    <a:pt x="289" y="942"/>
                  </a:cubicBezTo>
                  <a:cubicBezTo>
                    <a:pt x="368" y="926"/>
                    <a:pt x="442" y="920"/>
                    <a:pt x="541" y="922"/>
                  </a:cubicBezTo>
                  <a:cubicBezTo>
                    <a:pt x="610" y="923"/>
                    <a:pt x="638" y="925"/>
                    <a:pt x="692" y="933"/>
                  </a:cubicBezTo>
                  <a:cubicBezTo>
                    <a:pt x="740" y="941"/>
                    <a:pt x="800" y="957"/>
                    <a:pt x="830" y="971"/>
                  </a:cubicBezTo>
                  <a:cubicBezTo>
                    <a:pt x="837" y="974"/>
                    <a:pt x="843" y="976"/>
                    <a:pt x="844" y="976"/>
                  </a:cubicBezTo>
                  <a:cubicBezTo>
                    <a:pt x="846" y="976"/>
                    <a:pt x="841" y="971"/>
                    <a:pt x="834" y="965"/>
                  </a:cubicBezTo>
                  <a:lnTo>
                    <a:pt x="834" y="965"/>
                  </a:lnTo>
                  <a:close/>
                  <a:moveTo>
                    <a:pt x="864" y="911"/>
                  </a:moveTo>
                  <a:cubicBezTo>
                    <a:pt x="875" y="884"/>
                    <a:pt x="919" y="754"/>
                    <a:pt x="922" y="740"/>
                  </a:cubicBezTo>
                  <a:cubicBezTo>
                    <a:pt x="923" y="732"/>
                    <a:pt x="923" y="733"/>
                    <a:pt x="902" y="752"/>
                  </a:cubicBezTo>
                  <a:cubicBezTo>
                    <a:pt x="865" y="788"/>
                    <a:pt x="811" y="834"/>
                    <a:pt x="808" y="832"/>
                  </a:cubicBezTo>
                  <a:cubicBezTo>
                    <a:pt x="808" y="831"/>
                    <a:pt x="826" y="803"/>
                    <a:pt x="848" y="769"/>
                  </a:cubicBezTo>
                  <a:cubicBezTo>
                    <a:pt x="923" y="657"/>
                    <a:pt x="939" y="625"/>
                    <a:pt x="953" y="568"/>
                  </a:cubicBezTo>
                  <a:cubicBezTo>
                    <a:pt x="971" y="497"/>
                    <a:pt x="972" y="414"/>
                    <a:pt x="955" y="347"/>
                  </a:cubicBezTo>
                  <a:cubicBezTo>
                    <a:pt x="942" y="298"/>
                    <a:pt x="915" y="236"/>
                    <a:pt x="891" y="202"/>
                  </a:cubicBezTo>
                  <a:cubicBezTo>
                    <a:pt x="832" y="120"/>
                    <a:pt x="730" y="78"/>
                    <a:pt x="615" y="88"/>
                  </a:cubicBezTo>
                  <a:cubicBezTo>
                    <a:pt x="459" y="101"/>
                    <a:pt x="342" y="185"/>
                    <a:pt x="281" y="327"/>
                  </a:cubicBezTo>
                  <a:cubicBezTo>
                    <a:pt x="254" y="391"/>
                    <a:pt x="243" y="462"/>
                    <a:pt x="249" y="540"/>
                  </a:cubicBezTo>
                  <a:cubicBezTo>
                    <a:pt x="253" y="602"/>
                    <a:pt x="265" y="636"/>
                    <a:pt x="299" y="687"/>
                  </a:cubicBezTo>
                  <a:cubicBezTo>
                    <a:pt x="311" y="706"/>
                    <a:pt x="315" y="709"/>
                    <a:pt x="320" y="710"/>
                  </a:cubicBezTo>
                  <a:cubicBezTo>
                    <a:pt x="324" y="710"/>
                    <a:pt x="337" y="712"/>
                    <a:pt x="349" y="713"/>
                  </a:cubicBezTo>
                  <a:cubicBezTo>
                    <a:pt x="488" y="729"/>
                    <a:pt x="679" y="813"/>
                    <a:pt x="824" y="921"/>
                  </a:cubicBezTo>
                  <a:cubicBezTo>
                    <a:pt x="838" y="931"/>
                    <a:pt x="850" y="938"/>
                    <a:pt x="851" y="938"/>
                  </a:cubicBezTo>
                  <a:cubicBezTo>
                    <a:pt x="852" y="938"/>
                    <a:pt x="858" y="925"/>
                    <a:pt x="864" y="911"/>
                  </a:cubicBezTo>
                  <a:close/>
                  <a:moveTo>
                    <a:pt x="929" y="847"/>
                  </a:moveTo>
                  <a:cubicBezTo>
                    <a:pt x="959" y="781"/>
                    <a:pt x="979" y="728"/>
                    <a:pt x="990" y="693"/>
                  </a:cubicBezTo>
                  <a:cubicBezTo>
                    <a:pt x="998" y="665"/>
                    <a:pt x="1004" y="643"/>
                    <a:pt x="1003" y="643"/>
                  </a:cubicBezTo>
                  <a:cubicBezTo>
                    <a:pt x="1003" y="643"/>
                    <a:pt x="996" y="651"/>
                    <a:pt x="987" y="661"/>
                  </a:cubicBezTo>
                  <a:lnTo>
                    <a:pt x="972" y="679"/>
                  </a:lnTo>
                  <a:lnTo>
                    <a:pt x="963" y="712"/>
                  </a:lnTo>
                  <a:cubicBezTo>
                    <a:pt x="955" y="738"/>
                    <a:pt x="907" y="887"/>
                    <a:pt x="897" y="913"/>
                  </a:cubicBezTo>
                  <a:cubicBezTo>
                    <a:pt x="896" y="916"/>
                    <a:pt x="896" y="917"/>
                    <a:pt x="898" y="916"/>
                  </a:cubicBezTo>
                  <a:cubicBezTo>
                    <a:pt x="899" y="914"/>
                    <a:pt x="913" y="884"/>
                    <a:pt x="929" y="847"/>
                  </a:cubicBezTo>
                  <a:close/>
                  <a:moveTo>
                    <a:pt x="1004" y="587"/>
                  </a:moveTo>
                  <a:cubicBezTo>
                    <a:pt x="1009" y="579"/>
                    <a:pt x="1009" y="578"/>
                    <a:pt x="1006" y="575"/>
                  </a:cubicBezTo>
                  <a:cubicBezTo>
                    <a:pt x="1004" y="572"/>
                    <a:pt x="1003" y="573"/>
                    <a:pt x="997" y="579"/>
                  </a:cubicBezTo>
                  <a:cubicBezTo>
                    <a:pt x="994" y="584"/>
                    <a:pt x="991" y="591"/>
                    <a:pt x="990" y="597"/>
                  </a:cubicBezTo>
                  <a:lnTo>
                    <a:pt x="989" y="606"/>
                  </a:lnTo>
                  <a:lnTo>
                    <a:pt x="993" y="601"/>
                  </a:lnTo>
                  <a:cubicBezTo>
                    <a:pt x="996" y="598"/>
                    <a:pt x="1000" y="591"/>
                    <a:pt x="1004" y="587"/>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01" name="Freeform 31"/>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02" name="Freeform 32"/>
            <p:cNvSpPr>
              <a:spLocks/>
            </p:cNvSpPr>
            <p:nvPr/>
          </p:nvSpPr>
          <p:spPr bwMode="auto">
            <a:xfrm>
              <a:off x="5294313" y="3776663"/>
              <a:ext cx="123825" cy="209550"/>
            </a:xfrm>
            <a:custGeom>
              <a:avLst/>
              <a:gdLst>
                <a:gd name="T0" fmla="*/ 228 w 331"/>
                <a:gd name="T1" fmla="*/ 533 h 559"/>
                <a:gd name="T2" fmla="*/ 330 w 331"/>
                <a:gd name="T3" fmla="*/ 471 h 559"/>
                <a:gd name="T4" fmla="*/ 275 w 331"/>
                <a:gd name="T5" fmla="*/ 230 h 559"/>
                <a:gd name="T6" fmla="*/ 267 w 331"/>
                <a:gd name="T7" fmla="*/ 30 h 559"/>
                <a:gd name="T8" fmla="*/ 159 w 331"/>
                <a:gd name="T9" fmla="*/ 37 h 559"/>
                <a:gd name="T10" fmla="*/ 210 w 331"/>
                <a:gd name="T11" fmla="*/ 116 h 559"/>
                <a:gd name="T12" fmla="*/ 136 w 331"/>
                <a:gd name="T13" fmla="*/ 165 h 559"/>
                <a:gd name="T14" fmla="*/ 81 w 331"/>
                <a:gd name="T15" fmla="*/ 91 h 559"/>
                <a:gd name="T16" fmla="*/ 180 w 331"/>
                <a:gd name="T17" fmla="*/ 294 h 559"/>
                <a:gd name="T18" fmla="*/ 228 w 331"/>
                <a:gd name="T19" fmla="*/ 533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1" h="559">
                  <a:moveTo>
                    <a:pt x="228" y="533"/>
                  </a:moveTo>
                  <a:cubicBezTo>
                    <a:pt x="228" y="533"/>
                    <a:pt x="315" y="559"/>
                    <a:pt x="330" y="471"/>
                  </a:cubicBezTo>
                  <a:cubicBezTo>
                    <a:pt x="331" y="463"/>
                    <a:pt x="275" y="230"/>
                    <a:pt x="275" y="230"/>
                  </a:cubicBezTo>
                  <a:cubicBezTo>
                    <a:pt x="327" y="137"/>
                    <a:pt x="304" y="55"/>
                    <a:pt x="267" y="30"/>
                  </a:cubicBezTo>
                  <a:cubicBezTo>
                    <a:pt x="223" y="0"/>
                    <a:pt x="159" y="37"/>
                    <a:pt x="159" y="37"/>
                  </a:cubicBezTo>
                  <a:lnTo>
                    <a:pt x="210" y="116"/>
                  </a:lnTo>
                  <a:lnTo>
                    <a:pt x="136" y="165"/>
                  </a:lnTo>
                  <a:lnTo>
                    <a:pt x="81" y="91"/>
                  </a:lnTo>
                  <a:cubicBezTo>
                    <a:pt x="37" y="144"/>
                    <a:pt x="0" y="301"/>
                    <a:pt x="180" y="294"/>
                  </a:cubicBezTo>
                  <a:lnTo>
                    <a:pt x="228" y="533"/>
                  </a:lnTo>
                  <a:close/>
                </a:path>
              </a:pathLst>
            </a:custGeom>
            <a:solidFill>
              <a:srgbClr val="A9B6AC"/>
            </a:solidFill>
            <a:ln w="14288" cap="flat">
              <a:solidFill>
                <a:srgbClr val="44575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grpSp>
    </p:spTree>
    <p:extLst>
      <p:ext uri="{BB962C8B-B14F-4D97-AF65-F5344CB8AC3E}">
        <p14:creationId xmlns:p14="http://schemas.microsoft.com/office/powerpoint/2010/main" val="38743946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Generating Library</a:t>
            </a:r>
            <a:endParaRPr lang="en-CA" dirty="0"/>
          </a:p>
        </p:txBody>
      </p:sp>
      <p:sp>
        <p:nvSpPr>
          <p:cNvPr id="3" name="Content Placeholder 2"/>
          <p:cNvSpPr>
            <a:spLocks noGrp="1"/>
          </p:cNvSpPr>
          <p:nvPr>
            <p:ph idx="1"/>
          </p:nvPr>
        </p:nvSpPr>
        <p:spPr>
          <a:xfrm>
            <a:off x="684212" y="1507237"/>
            <a:ext cx="10285797" cy="4656842"/>
          </a:xfrm>
        </p:spPr>
        <p:txBody>
          <a:bodyPr/>
          <a:lstStyle/>
          <a:p>
            <a:r>
              <a:rPr lang="en-CA" dirty="0" smtClean="0"/>
              <a:t>Spiffy compiler processes annotated metadata structures</a:t>
            </a:r>
            <a:br>
              <a:rPr lang="en-CA" dirty="0" smtClean="0"/>
            </a:br>
            <a:r>
              <a:rPr lang="en-CA" dirty="0" smtClean="0"/>
              <a:t>to generate library that provides a generic API for type-safe parsing, traversal and serialization of file system structures</a:t>
            </a:r>
          </a:p>
        </p:txBody>
      </p:sp>
      <p:sp>
        <p:nvSpPr>
          <p:cNvPr id="4" name="Slide Number Placeholder 3"/>
          <p:cNvSpPr>
            <a:spLocks noGrp="1"/>
          </p:cNvSpPr>
          <p:nvPr>
            <p:ph type="sldNum" sz="quarter" idx="12"/>
          </p:nvPr>
        </p:nvSpPr>
        <p:spPr/>
        <p:txBody>
          <a:bodyPr/>
          <a:lstStyle/>
          <a:p>
            <a:fld id="{7B2023C8-B124-43A9-8F92-0EEF5BAA9995}" type="slidenum">
              <a:rPr lang="en-CA" smtClean="0"/>
              <a:pPr/>
              <a:t>8</a:t>
            </a:fld>
            <a:endParaRPr lang="en-CA" dirty="0"/>
          </a:p>
        </p:txBody>
      </p:sp>
      <p:sp>
        <p:nvSpPr>
          <p:cNvPr id="92" name="Right Arrow 91"/>
          <p:cNvSpPr/>
          <p:nvPr/>
        </p:nvSpPr>
        <p:spPr>
          <a:xfrm>
            <a:off x="2974282" y="3778312"/>
            <a:ext cx="316999" cy="230900"/>
          </a:xfrm>
          <a:prstGeom prst="rightArrow">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94" name="Rounded Rectangle 93"/>
          <p:cNvSpPr/>
          <p:nvPr/>
        </p:nvSpPr>
        <p:spPr>
          <a:xfrm>
            <a:off x="3505093" y="3421506"/>
            <a:ext cx="1440000" cy="944513"/>
          </a:xfrm>
          <a:prstGeom prst="roundRect">
            <a:avLst/>
          </a:prstGeom>
          <a:solidFill>
            <a:schemeClr val="accent5">
              <a:lumMod val="7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tx1"/>
                </a:solidFill>
              </a:rPr>
              <a:t>Spiffy Compiler</a:t>
            </a:r>
            <a:endParaRPr lang="en-CA" b="1" dirty="0">
              <a:solidFill>
                <a:schemeClr val="tx1"/>
              </a:solidFill>
            </a:endParaRPr>
          </a:p>
        </p:txBody>
      </p:sp>
      <p:grpSp>
        <p:nvGrpSpPr>
          <p:cNvPr id="95" name="Group 94"/>
          <p:cNvGrpSpPr/>
          <p:nvPr/>
        </p:nvGrpSpPr>
        <p:grpSpPr>
          <a:xfrm>
            <a:off x="5689716" y="3421506"/>
            <a:ext cx="1761066" cy="944513"/>
            <a:chOff x="6493933" y="3749526"/>
            <a:chExt cx="1761066" cy="944513"/>
          </a:xfrm>
          <a:solidFill>
            <a:schemeClr val="accent5">
              <a:lumMod val="40000"/>
              <a:lumOff val="60000"/>
            </a:schemeClr>
          </a:solidFill>
          <a:effectLst/>
        </p:grpSpPr>
        <p:sp>
          <p:nvSpPr>
            <p:cNvPr id="101" name="Rectangle 100"/>
            <p:cNvSpPr/>
            <p:nvPr/>
          </p:nvSpPr>
          <p:spPr>
            <a:xfrm>
              <a:off x="6493933" y="3749526"/>
              <a:ext cx="1004159" cy="944513"/>
            </a:xfrm>
            <a:prstGeom prst="rect">
              <a:avLst/>
            </a:prstGeom>
            <a:grp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bg1"/>
                  </a:solidFill>
                  <a:effectLst/>
                </a:rPr>
                <a:t>Spiffy Library</a:t>
              </a:r>
              <a:endParaRPr lang="en-CA" b="1" dirty="0">
                <a:solidFill>
                  <a:schemeClr val="bg1"/>
                </a:solidFill>
                <a:effectLst/>
              </a:endParaRPr>
            </a:p>
          </p:txBody>
        </p:sp>
        <p:sp>
          <p:nvSpPr>
            <p:cNvPr id="118" name="Rectangle 117"/>
            <p:cNvSpPr/>
            <p:nvPr/>
          </p:nvSpPr>
          <p:spPr>
            <a:xfrm>
              <a:off x="7498092" y="3749526"/>
              <a:ext cx="756907" cy="944513"/>
            </a:xfrm>
            <a:prstGeom prst="rect">
              <a:avLst/>
            </a:prstGeom>
            <a:grp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bg1"/>
                  </a:solidFill>
                </a:rPr>
                <a:t>Spiffy API</a:t>
              </a:r>
              <a:endParaRPr lang="en-CA" b="1" dirty="0">
                <a:solidFill>
                  <a:schemeClr val="bg1"/>
                </a:solidFill>
              </a:endParaRPr>
            </a:p>
          </p:txBody>
        </p:sp>
      </p:grpSp>
      <p:sp>
        <p:nvSpPr>
          <p:cNvPr id="97" name="Right Arrow 96"/>
          <p:cNvSpPr/>
          <p:nvPr/>
        </p:nvSpPr>
        <p:spPr>
          <a:xfrm>
            <a:off x="5158905" y="3778312"/>
            <a:ext cx="316999" cy="230900"/>
          </a:xfrm>
          <a:prstGeom prst="rightArrow">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39" name="Rectangle 38"/>
          <p:cNvSpPr/>
          <p:nvPr/>
        </p:nvSpPr>
        <p:spPr>
          <a:xfrm>
            <a:off x="1349297" y="4791414"/>
            <a:ext cx="1411173" cy="472257"/>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dirty="0" smtClean="0">
                <a:solidFill>
                  <a:schemeClr val="bg1"/>
                </a:solidFill>
              </a:rPr>
              <a:t>File System Developer</a:t>
            </a:r>
            <a:endParaRPr lang="en-CA" dirty="0">
              <a:solidFill>
                <a:schemeClr val="bg1"/>
              </a:solidFill>
            </a:endParaRPr>
          </a:p>
        </p:txBody>
      </p:sp>
      <p:sp>
        <p:nvSpPr>
          <p:cNvPr id="40" name="Rectangle 39"/>
          <p:cNvSpPr/>
          <p:nvPr/>
        </p:nvSpPr>
        <p:spPr>
          <a:xfrm>
            <a:off x="1320470" y="3184147"/>
            <a:ext cx="1440000" cy="944513"/>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dirty="0" smtClean="0">
                <a:solidFill>
                  <a:schemeClr val="bg1"/>
                </a:solidFill>
              </a:rPr>
              <a:t>File </a:t>
            </a:r>
            <a:r>
              <a:rPr lang="en-CA" dirty="0">
                <a:solidFill>
                  <a:schemeClr val="bg1"/>
                </a:solidFill>
              </a:rPr>
              <a:t>System </a:t>
            </a:r>
            <a:r>
              <a:rPr lang="en-CA" dirty="0" smtClean="0">
                <a:solidFill>
                  <a:schemeClr val="bg1"/>
                </a:solidFill>
              </a:rPr>
              <a:t>Metadata Structures</a:t>
            </a:r>
            <a:endParaRPr lang="en-CA" dirty="0">
              <a:solidFill>
                <a:schemeClr val="bg1"/>
              </a:solidFill>
            </a:endParaRPr>
          </a:p>
        </p:txBody>
      </p:sp>
      <p:sp>
        <p:nvSpPr>
          <p:cNvPr id="41" name="Rectangle 40"/>
          <p:cNvSpPr/>
          <p:nvPr/>
        </p:nvSpPr>
        <p:spPr>
          <a:xfrm>
            <a:off x="1320470" y="4131121"/>
            <a:ext cx="1440000" cy="472257"/>
          </a:xfrm>
          <a:prstGeom prst="rect">
            <a:avLst/>
          </a:prstGeom>
          <a:no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bg1"/>
                </a:solidFill>
                <a:effectLst/>
              </a:rPr>
              <a:t>Annotations</a:t>
            </a:r>
            <a:endParaRPr lang="en-CA" b="1" dirty="0">
              <a:solidFill>
                <a:schemeClr val="bg1"/>
              </a:solidFill>
              <a:effectLst/>
            </a:endParaRPr>
          </a:p>
        </p:txBody>
      </p:sp>
      <p:grpSp>
        <p:nvGrpSpPr>
          <p:cNvPr id="42" name="Group 41"/>
          <p:cNvGrpSpPr/>
          <p:nvPr/>
        </p:nvGrpSpPr>
        <p:grpSpPr>
          <a:xfrm>
            <a:off x="2799312" y="4644061"/>
            <a:ext cx="598488" cy="1292225"/>
            <a:chOff x="4859338" y="3776663"/>
            <a:chExt cx="598488" cy="1292225"/>
          </a:xfrm>
        </p:grpSpPr>
        <p:sp>
          <p:nvSpPr>
            <p:cNvPr id="43" name="Freeform 5"/>
            <p:cNvSpPr>
              <a:spLocks/>
            </p:cNvSpPr>
            <p:nvPr/>
          </p:nvSpPr>
          <p:spPr bwMode="auto">
            <a:xfrm>
              <a:off x="4868863" y="3917950"/>
              <a:ext cx="581025" cy="1139825"/>
            </a:xfrm>
            <a:custGeom>
              <a:avLst/>
              <a:gdLst>
                <a:gd name="T0" fmla="*/ 250 w 1553"/>
                <a:gd name="T1" fmla="*/ 791 h 3047"/>
                <a:gd name="T2" fmla="*/ 194 w 1553"/>
                <a:gd name="T3" fmla="*/ 572 h 3047"/>
                <a:gd name="T4" fmla="*/ 262 w 1553"/>
                <a:gd name="T5" fmla="*/ 325 h 3047"/>
                <a:gd name="T6" fmla="*/ 447 w 1553"/>
                <a:gd name="T7" fmla="*/ 175 h 3047"/>
                <a:gd name="T8" fmla="*/ 678 w 1553"/>
                <a:gd name="T9" fmla="*/ 141 h 3047"/>
                <a:gd name="T10" fmla="*/ 837 w 1553"/>
                <a:gd name="T11" fmla="*/ 216 h 3047"/>
                <a:gd name="T12" fmla="*/ 950 w 1553"/>
                <a:gd name="T13" fmla="*/ 378 h 3047"/>
                <a:gd name="T14" fmla="*/ 959 w 1553"/>
                <a:gd name="T15" fmla="*/ 585 h 3047"/>
                <a:gd name="T16" fmla="*/ 884 w 1553"/>
                <a:gd name="T17" fmla="*/ 816 h 3047"/>
                <a:gd name="T18" fmla="*/ 950 w 1553"/>
                <a:gd name="T19" fmla="*/ 797 h 3047"/>
                <a:gd name="T20" fmla="*/ 1344 w 1553"/>
                <a:gd name="T21" fmla="*/ 85 h 3047"/>
                <a:gd name="T22" fmla="*/ 1516 w 1553"/>
                <a:gd name="T23" fmla="*/ 0 h 3047"/>
                <a:gd name="T24" fmla="*/ 1553 w 1553"/>
                <a:gd name="T25" fmla="*/ 175 h 3047"/>
                <a:gd name="T26" fmla="*/ 1312 w 1553"/>
                <a:gd name="T27" fmla="*/ 807 h 3047"/>
                <a:gd name="T28" fmla="*/ 1253 w 1553"/>
                <a:gd name="T29" fmla="*/ 925 h 3047"/>
                <a:gd name="T30" fmla="*/ 1209 w 1553"/>
                <a:gd name="T31" fmla="*/ 1241 h 3047"/>
                <a:gd name="T32" fmla="*/ 1237 w 1553"/>
                <a:gd name="T33" fmla="*/ 1753 h 3047"/>
                <a:gd name="T34" fmla="*/ 1300 w 1553"/>
                <a:gd name="T35" fmla="*/ 2266 h 3047"/>
                <a:gd name="T36" fmla="*/ 1303 w 1553"/>
                <a:gd name="T37" fmla="*/ 2460 h 3047"/>
                <a:gd name="T38" fmla="*/ 1272 w 1553"/>
                <a:gd name="T39" fmla="*/ 2791 h 3047"/>
                <a:gd name="T40" fmla="*/ 1209 w 1553"/>
                <a:gd name="T41" fmla="*/ 2978 h 3047"/>
                <a:gd name="T42" fmla="*/ 1128 w 1553"/>
                <a:gd name="T43" fmla="*/ 3047 h 3047"/>
                <a:gd name="T44" fmla="*/ 1028 w 1553"/>
                <a:gd name="T45" fmla="*/ 2957 h 3047"/>
                <a:gd name="T46" fmla="*/ 981 w 1553"/>
                <a:gd name="T47" fmla="*/ 2769 h 3047"/>
                <a:gd name="T48" fmla="*/ 978 w 1553"/>
                <a:gd name="T49" fmla="*/ 2491 h 3047"/>
                <a:gd name="T50" fmla="*/ 956 w 1553"/>
                <a:gd name="T51" fmla="*/ 2272 h 3047"/>
                <a:gd name="T52" fmla="*/ 884 w 1553"/>
                <a:gd name="T53" fmla="*/ 2166 h 3047"/>
                <a:gd name="T54" fmla="*/ 847 w 1553"/>
                <a:gd name="T55" fmla="*/ 2135 h 3047"/>
                <a:gd name="T56" fmla="*/ 803 w 1553"/>
                <a:gd name="T57" fmla="*/ 2313 h 3047"/>
                <a:gd name="T58" fmla="*/ 750 w 1553"/>
                <a:gd name="T59" fmla="*/ 2635 h 3047"/>
                <a:gd name="T60" fmla="*/ 716 w 1553"/>
                <a:gd name="T61" fmla="*/ 2778 h 3047"/>
                <a:gd name="T62" fmla="*/ 681 w 1553"/>
                <a:gd name="T63" fmla="*/ 2919 h 3047"/>
                <a:gd name="T64" fmla="*/ 634 w 1553"/>
                <a:gd name="T65" fmla="*/ 3025 h 3047"/>
                <a:gd name="T66" fmla="*/ 559 w 1553"/>
                <a:gd name="T67" fmla="*/ 3044 h 3047"/>
                <a:gd name="T68" fmla="*/ 484 w 1553"/>
                <a:gd name="T69" fmla="*/ 2985 h 3047"/>
                <a:gd name="T70" fmla="*/ 437 w 1553"/>
                <a:gd name="T71" fmla="*/ 2744 h 3047"/>
                <a:gd name="T72" fmla="*/ 425 w 1553"/>
                <a:gd name="T73" fmla="*/ 2382 h 3047"/>
                <a:gd name="T74" fmla="*/ 422 w 1553"/>
                <a:gd name="T75" fmla="*/ 2047 h 3047"/>
                <a:gd name="T76" fmla="*/ 419 w 1553"/>
                <a:gd name="T77" fmla="*/ 1722 h 3047"/>
                <a:gd name="T78" fmla="*/ 375 w 1553"/>
                <a:gd name="T79" fmla="*/ 1572 h 3047"/>
                <a:gd name="T80" fmla="*/ 316 w 1553"/>
                <a:gd name="T81" fmla="*/ 1538 h 3047"/>
                <a:gd name="T82" fmla="*/ 259 w 1553"/>
                <a:gd name="T83" fmla="*/ 1710 h 3047"/>
                <a:gd name="T84" fmla="*/ 212 w 1553"/>
                <a:gd name="T85" fmla="*/ 1985 h 3047"/>
                <a:gd name="T86" fmla="*/ 169 w 1553"/>
                <a:gd name="T87" fmla="*/ 2150 h 3047"/>
                <a:gd name="T88" fmla="*/ 106 w 1553"/>
                <a:gd name="T89" fmla="*/ 2188 h 3047"/>
                <a:gd name="T90" fmla="*/ 41 w 1553"/>
                <a:gd name="T91" fmla="*/ 2085 h 3047"/>
                <a:gd name="T92" fmla="*/ 0 w 1553"/>
                <a:gd name="T93" fmla="*/ 1810 h 3047"/>
                <a:gd name="T94" fmla="*/ 37 w 1553"/>
                <a:gd name="T95" fmla="*/ 1428 h 3047"/>
                <a:gd name="T96" fmla="*/ 137 w 1553"/>
                <a:gd name="T97" fmla="*/ 1116 h 3047"/>
                <a:gd name="T98" fmla="*/ 306 w 1553"/>
                <a:gd name="T99" fmla="*/ 922 h 3047"/>
                <a:gd name="T100" fmla="*/ 250 w 1553"/>
                <a:gd name="T101" fmla="*/ 791 h 3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53" h="3047">
                  <a:moveTo>
                    <a:pt x="250" y="791"/>
                  </a:moveTo>
                  <a:lnTo>
                    <a:pt x="194" y="572"/>
                  </a:lnTo>
                  <a:lnTo>
                    <a:pt x="262" y="325"/>
                  </a:lnTo>
                  <a:lnTo>
                    <a:pt x="447" y="175"/>
                  </a:lnTo>
                  <a:lnTo>
                    <a:pt x="678" y="141"/>
                  </a:lnTo>
                  <a:lnTo>
                    <a:pt x="837" y="216"/>
                  </a:lnTo>
                  <a:lnTo>
                    <a:pt x="950" y="378"/>
                  </a:lnTo>
                  <a:lnTo>
                    <a:pt x="959" y="585"/>
                  </a:lnTo>
                  <a:lnTo>
                    <a:pt x="884" y="816"/>
                  </a:lnTo>
                  <a:lnTo>
                    <a:pt x="950" y="797"/>
                  </a:lnTo>
                  <a:lnTo>
                    <a:pt x="1344" y="85"/>
                  </a:lnTo>
                  <a:lnTo>
                    <a:pt x="1516" y="0"/>
                  </a:lnTo>
                  <a:lnTo>
                    <a:pt x="1553" y="175"/>
                  </a:lnTo>
                  <a:lnTo>
                    <a:pt x="1312" y="807"/>
                  </a:lnTo>
                  <a:cubicBezTo>
                    <a:pt x="1312" y="807"/>
                    <a:pt x="1253" y="913"/>
                    <a:pt x="1253" y="925"/>
                  </a:cubicBezTo>
                  <a:cubicBezTo>
                    <a:pt x="1253" y="938"/>
                    <a:pt x="1209" y="1241"/>
                    <a:pt x="1209" y="1241"/>
                  </a:cubicBezTo>
                  <a:lnTo>
                    <a:pt x="1237" y="1753"/>
                  </a:lnTo>
                  <a:lnTo>
                    <a:pt x="1300" y="2266"/>
                  </a:lnTo>
                  <a:cubicBezTo>
                    <a:pt x="1300" y="2266"/>
                    <a:pt x="1316" y="2428"/>
                    <a:pt x="1303" y="2460"/>
                  </a:cubicBezTo>
                  <a:cubicBezTo>
                    <a:pt x="1291" y="2491"/>
                    <a:pt x="1272" y="2791"/>
                    <a:pt x="1272" y="2791"/>
                  </a:cubicBezTo>
                  <a:lnTo>
                    <a:pt x="1209" y="2978"/>
                  </a:lnTo>
                  <a:lnTo>
                    <a:pt x="1128" y="3047"/>
                  </a:lnTo>
                  <a:lnTo>
                    <a:pt x="1028" y="2957"/>
                  </a:lnTo>
                  <a:lnTo>
                    <a:pt x="981" y="2769"/>
                  </a:lnTo>
                  <a:lnTo>
                    <a:pt x="978" y="2491"/>
                  </a:lnTo>
                  <a:lnTo>
                    <a:pt x="956" y="2272"/>
                  </a:lnTo>
                  <a:lnTo>
                    <a:pt x="884" y="2166"/>
                  </a:lnTo>
                  <a:lnTo>
                    <a:pt x="847" y="2135"/>
                  </a:lnTo>
                  <a:lnTo>
                    <a:pt x="803" y="2313"/>
                  </a:lnTo>
                  <a:lnTo>
                    <a:pt x="750" y="2635"/>
                  </a:lnTo>
                  <a:lnTo>
                    <a:pt x="716" y="2778"/>
                  </a:lnTo>
                  <a:lnTo>
                    <a:pt x="681" y="2919"/>
                  </a:lnTo>
                  <a:lnTo>
                    <a:pt x="634" y="3025"/>
                  </a:lnTo>
                  <a:lnTo>
                    <a:pt x="559" y="3044"/>
                  </a:lnTo>
                  <a:lnTo>
                    <a:pt x="484" y="2985"/>
                  </a:lnTo>
                  <a:lnTo>
                    <a:pt x="437" y="2744"/>
                  </a:lnTo>
                  <a:lnTo>
                    <a:pt x="425" y="2382"/>
                  </a:lnTo>
                  <a:lnTo>
                    <a:pt x="422" y="2047"/>
                  </a:lnTo>
                  <a:lnTo>
                    <a:pt x="419" y="1722"/>
                  </a:lnTo>
                  <a:lnTo>
                    <a:pt x="375" y="1572"/>
                  </a:lnTo>
                  <a:lnTo>
                    <a:pt x="316" y="1538"/>
                  </a:lnTo>
                  <a:lnTo>
                    <a:pt x="259" y="1710"/>
                  </a:lnTo>
                  <a:lnTo>
                    <a:pt x="212" y="1985"/>
                  </a:lnTo>
                  <a:lnTo>
                    <a:pt x="169" y="2150"/>
                  </a:lnTo>
                  <a:lnTo>
                    <a:pt x="106" y="2188"/>
                  </a:lnTo>
                  <a:lnTo>
                    <a:pt x="41" y="2085"/>
                  </a:lnTo>
                  <a:lnTo>
                    <a:pt x="0" y="1810"/>
                  </a:lnTo>
                  <a:lnTo>
                    <a:pt x="37" y="1428"/>
                  </a:lnTo>
                  <a:lnTo>
                    <a:pt x="137" y="1116"/>
                  </a:lnTo>
                  <a:lnTo>
                    <a:pt x="306" y="922"/>
                  </a:lnTo>
                  <a:lnTo>
                    <a:pt x="250" y="791"/>
                  </a:lnTo>
                  <a:close/>
                </a:path>
              </a:pathLst>
            </a:custGeom>
            <a:solidFill>
              <a:srgbClr val="5353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44" name="Freeform 6"/>
            <p:cNvSpPr>
              <a:spLocks/>
            </p:cNvSpPr>
            <p:nvPr/>
          </p:nvSpPr>
          <p:spPr bwMode="auto">
            <a:xfrm>
              <a:off x="4872038" y="4038600"/>
              <a:ext cx="533400" cy="652463"/>
            </a:xfrm>
            <a:custGeom>
              <a:avLst/>
              <a:gdLst>
                <a:gd name="T0" fmla="*/ 163 w 1427"/>
                <a:gd name="T1" fmla="*/ 769 h 1747"/>
                <a:gd name="T2" fmla="*/ 93 w 1427"/>
                <a:gd name="T3" fmla="*/ 901 h 1747"/>
                <a:gd name="T4" fmla="*/ 35 w 1427"/>
                <a:gd name="T5" fmla="*/ 1087 h 1747"/>
                <a:gd name="T6" fmla="*/ 0 w 1427"/>
                <a:gd name="T7" fmla="*/ 1286 h 1747"/>
                <a:gd name="T8" fmla="*/ 0 w 1427"/>
                <a:gd name="T9" fmla="*/ 1586 h 1747"/>
                <a:gd name="T10" fmla="*/ 212 w 1427"/>
                <a:gd name="T11" fmla="*/ 1662 h 1747"/>
                <a:gd name="T12" fmla="*/ 247 w 1427"/>
                <a:gd name="T13" fmla="*/ 1379 h 1747"/>
                <a:gd name="T14" fmla="*/ 287 w 1427"/>
                <a:gd name="T15" fmla="*/ 1273 h 1747"/>
                <a:gd name="T16" fmla="*/ 336 w 1427"/>
                <a:gd name="T17" fmla="*/ 1220 h 1747"/>
                <a:gd name="T18" fmla="*/ 389 w 1427"/>
                <a:gd name="T19" fmla="*/ 1277 h 1747"/>
                <a:gd name="T20" fmla="*/ 429 w 1427"/>
                <a:gd name="T21" fmla="*/ 1432 h 1747"/>
                <a:gd name="T22" fmla="*/ 420 w 1427"/>
                <a:gd name="T23" fmla="*/ 1684 h 1747"/>
                <a:gd name="T24" fmla="*/ 420 w 1427"/>
                <a:gd name="T25" fmla="*/ 1723 h 1747"/>
                <a:gd name="T26" fmla="*/ 579 w 1427"/>
                <a:gd name="T27" fmla="*/ 1723 h 1747"/>
                <a:gd name="T28" fmla="*/ 1096 w 1427"/>
                <a:gd name="T29" fmla="*/ 1547 h 1747"/>
                <a:gd name="T30" fmla="*/ 1255 w 1427"/>
                <a:gd name="T31" fmla="*/ 1520 h 1747"/>
                <a:gd name="T32" fmla="*/ 1206 w 1427"/>
                <a:gd name="T33" fmla="*/ 1193 h 1747"/>
                <a:gd name="T34" fmla="*/ 1206 w 1427"/>
                <a:gd name="T35" fmla="*/ 879 h 1747"/>
                <a:gd name="T36" fmla="*/ 1233 w 1427"/>
                <a:gd name="T37" fmla="*/ 632 h 1747"/>
                <a:gd name="T38" fmla="*/ 1357 w 1427"/>
                <a:gd name="T39" fmla="*/ 376 h 1747"/>
                <a:gd name="T40" fmla="*/ 1427 w 1427"/>
                <a:gd name="T41" fmla="*/ 194 h 1747"/>
                <a:gd name="T42" fmla="*/ 1206 w 1427"/>
                <a:gd name="T43" fmla="*/ 0 h 1747"/>
                <a:gd name="T44" fmla="*/ 1096 w 1427"/>
                <a:gd name="T45" fmla="*/ 208 h 1747"/>
                <a:gd name="T46" fmla="*/ 1021 w 1427"/>
                <a:gd name="T47" fmla="*/ 305 h 1747"/>
                <a:gd name="T48" fmla="*/ 981 w 1427"/>
                <a:gd name="T49" fmla="*/ 437 h 1747"/>
                <a:gd name="T50" fmla="*/ 862 w 1427"/>
                <a:gd name="T51" fmla="*/ 729 h 1747"/>
                <a:gd name="T52" fmla="*/ 451 w 1427"/>
                <a:gd name="T53" fmla="*/ 654 h 1747"/>
                <a:gd name="T54" fmla="*/ 163 w 1427"/>
                <a:gd name="T55" fmla="*/ 769 h 1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7" h="1747">
                  <a:moveTo>
                    <a:pt x="163" y="769"/>
                  </a:moveTo>
                  <a:lnTo>
                    <a:pt x="93" y="901"/>
                  </a:lnTo>
                  <a:lnTo>
                    <a:pt x="35" y="1087"/>
                  </a:lnTo>
                  <a:lnTo>
                    <a:pt x="0" y="1286"/>
                  </a:lnTo>
                  <a:lnTo>
                    <a:pt x="0" y="1586"/>
                  </a:lnTo>
                  <a:cubicBezTo>
                    <a:pt x="96" y="1655"/>
                    <a:pt x="147" y="1646"/>
                    <a:pt x="212" y="1662"/>
                  </a:cubicBezTo>
                  <a:lnTo>
                    <a:pt x="247" y="1379"/>
                  </a:lnTo>
                  <a:lnTo>
                    <a:pt x="287" y="1273"/>
                  </a:lnTo>
                  <a:lnTo>
                    <a:pt x="336" y="1220"/>
                  </a:lnTo>
                  <a:lnTo>
                    <a:pt x="389" y="1277"/>
                  </a:lnTo>
                  <a:lnTo>
                    <a:pt x="429" y="1432"/>
                  </a:lnTo>
                  <a:lnTo>
                    <a:pt x="420" y="1684"/>
                  </a:lnTo>
                  <a:lnTo>
                    <a:pt x="420" y="1723"/>
                  </a:lnTo>
                  <a:cubicBezTo>
                    <a:pt x="492" y="1747"/>
                    <a:pt x="532" y="1737"/>
                    <a:pt x="579" y="1723"/>
                  </a:cubicBezTo>
                  <a:cubicBezTo>
                    <a:pt x="756" y="1649"/>
                    <a:pt x="936" y="1579"/>
                    <a:pt x="1096" y="1547"/>
                  </a:cubicBezTo>
                  <a:cubicBezTo>
                    <a:pt x="1145" y="1538"/>
                    <a:pt x="1113" y="1536"/>
                    <a:pt x="1255" y="1520"/>
                  </a:cubicBezTo>
                  <a:lnTo>
                    <a:pt x="1206" y="1193"/>
                  </a:lnTo>
                  <a:lnTo>
                    <a:pt x="1206" y="879"/>
                  </a:lnTo>
                  <a:lnTo>
                    <a:pt x="1233" y="632"/>
                  </a:lnTo>
                  <a:lnTo>
                    <a:pt x="1357" y="376"/>
                  </a:lnTo>
                  <a:lnTo>
                    <a:pt x="1427" y="194"/>
                  </a:lnTo>
                  <a:cubicBezTo>
                    <a:pt x="1360" y="125"/>
                    <a:pt x="1305" y="49"/>
                    <a:pt x="1206" y="0"/>
                  </a:cubicBezTo>
                  <a:lnTo>
                    <a:pt x="1096" y="208"/>
                  </a:lnTo>
                  <a:lnTo>
                    <a:pt x="1021" y="305"/>
                  </a:lnTo>
                  <a:lnTo>
                    <a:pt x="981" y="437"/>
                  </a:lnTo>
                  <a:lnTo>
                    <a:pt x="862" y="729"/>
                  </a:lnTo>
                  <a:lnTo>
                    <a:pt x="451" y="654"/>
                  </a:lnTo>
                  <a:lnTo>
                    <a:pt x="163" y="769"/>
                  </a:lnTo>
                  <a:close/>
                </a:path>
              </a:pathLst>
            </a:custGeom>
            <a:solidFill>
              <a:srgbClr val="962A22"/>
            </a:solidFill>
            <a:ln w="4763" cap="flat">
              <a:solidFill>
                <a:srgbClr val="962A22"/>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45" name="Freeform 7"/>
            <p:cNvSpPr>
              <a:spLocks/>
            </p:cNvSpPr>
            <p:nvPr/>
          </p:nvSpPr>
          <p:spPr bwMode="auto">
            <a:xfrm>
              <a:off x="5043488" y="4551363"/>
              <a:ext cx="298450" cy="127000"/>
            </a:xfrm>
            <a:custGeom>
              <a:avLst/>
              <a:gdLst>
                <a:gd name="T0" fmla="*/ 0 w 795"/>
                <a:gd name="T1" fmla="*/ 330 h 339"/>
                <a:gd name="T2" fmla="*/ 223 w 795"/>
                <a:gd name="T3" fmla="*/ 275 h 339"/>
                <a:gd name="T4" fmla="*/ 765 w 795"/>
                <a:gd name="T5" fmla="*/ 97 h 339"/>
                <a:gd name="T6" fmla="*/ 795 w 795"/>
                <a:gd name="T7" fmla="*/ 0 h 339"/>
                <a:gd name="T8" fmla="*/ 204 w 795"/>
                <a:gd name="T9" fmla="*/ 240 h 339"/>
                <a:gd name="T10" fmla="*/ 0 w 795"/>
                <a:gd name="T11" fmla="*/ 330 h 339"/>
              </a:gdLst>
              <a:ahLst/>
              <a:cxnLst>
                <a:cxn ang="0">
                  <a:pos x="T0" y="T1"/>
                </a:cxn>
                <a:cxn ang="0">
                  <a:pos x="T2" y="T3"/>
                </a:cxn>
                <a:cxn ang="0">
                  <a:pos x="T4" y="T5"/>
                </a:cxn>
                <a:cxn ang="0">
                  <a:pos x="T6" y="T7"/>
                </a:cxn>
                <a:cxn ang="0">
                  <a:pos x="T8" y="T9"/>
                </a:cxn>
                <a:cxn ang="0">
                  <a:pos x="T10" y="T11"/>
                </a:cxn>
              </a:cxnLst>
              <a:rect l="0" t="0" r="r" b="b"/>
              <a:pathLst>
                <a:path w="795" h="339">
                  <a:moveTo>
                    <a:pt x="0" y="330"/>
                  </a:moveTo>
                  <a:cubicBezTo>
                    <a:pt x="35" y="339"/>
                    <a:pt x="134" y="317"/>
                    <a:pt x="223" y="275"/>
                  </a:cubicBezTo>
                  <a:cubicBezTo>
                    <a:pt x="441" y="170"/>
                    <a:pt x="708" y="60"/>
                    <a:pt x="765" y="97"/>
                  </a:cubicBezTo>
                  <a:lnTo>
                    <a:pt x="795" y="0"/>
                  </a:lnTo>
                  <a:cubicBezTo>
                    <a:pt x="662" y="11"/>
                    <a:pt x="469" y="85"/>
                    <a:pt x="204" y="240"/>
                  </a:cubicBezTo>
                  <a:cubicBezTo>
                    <a:pt x="175" y="257"/>
                    <a:pt x="120" y="295"/>
                    <a:pt x="0" y="330"/>
                  </a:cubicBez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46" name="Freeform 8"/>
            <p:cNvSpPr>
              <a:spLocks/>
            </p:cNvSpPr>
            <p:nvPr/>
          </p:nvSpPr>
          <p:spPr bwMode="auto">
            <a:xfrm>
              <a:off x="5153025" y="4325938"/>
              <a:ext cx="25400" cy="117475"/>
            </a:xfrm>
            <a:custGeom>
              <a:avLst/>
              <a:gdLst>
                <a:gd name="T0" fmla="*/ 39 w 69"/>
                <a:gd name="T1" fmla="*/ 0 h 316"/>
                <a:gd name="T2" fmla="*/ 10 w 69"/>
                <a:gd name="T3" fmla="*/ 75 h 316"/>
                <a:gd name="T4" fmla="*/ 4 w 69"/>
                <a:gd name="T5" fmla="*/ 133 h 316"/>
                <a:gd name="T6" fmla="*/ 9 w 69"/>
                <a:gd name="T7" fmla="*/ 258 h 316"/>
                <a:gd name="T8" fmla="*/ 18 w 69"/>
                <a:gd name="T9" fmla="*/ 310 h 316"/>
                <a:gd name="T10" fmla="*/ 31 w 69"/>
                <a:gd name="T11" fmla="*/ 316 h 316"/>
                <a:gd name="T12" fmla="*/ 45 w 69"/>
                <a:gd name="T13" fmla="*/ 316 h 316"/>
                <a:gd name="T14" fmla="*/ 53 w 69"/>
                <a:gd name="T15" fmla="*/ 286 h 316"/>
                <a:gd name="T16" fmla="*/ 40 w 69"/>
                <a:gd name="T17" fmla="*/ 163 h 316"/>
                <a:gd name="T18" fmla="*/ 36 w 69"/>
                <a:gd name="T19" fmla="*/ 98 h 316"/>
                <a:gd name="T20" fmla="*/ 47 w 69"/>
                <a:gd name="T21" fmla="*/ 56 h 316"/>
                <a:gd name="T22" fmla="*/ 69 w 69"/>
                <a:gd name="T23" fmla="*/ 14 h 316"/>
                <a:gd name="T24" fmla="*/ 39 w 69"/>
                <a:gd name="T25"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316">
                  <a:moveTo>
                    <a:pt x="39" y="0"/>
                  </a:moveTo>
                  <a:lnTo>
                    <a:pt x="10" y="75"/>
                  </a:lnTo>
                  <a:cubicBezTo>
                    <a:pt x="10" y="75"/>
                    <a:pt x="0" y="132"/>
                    <a:pt x="4" y="133"/>
                  </a:cubicBezTo>
                  <a:cubicBezTo>
                    <a:pt x="7" y="133"/>
                    <a:pt x="9" y="258"/>
                    <a:pt x="9" y="258"/>
                  </a:cubicBezTo>
                  <a:lnTo>
                    <a:pt x="18" y="310"/>
                  </a:lnTo>
                  <a:lnTo>
                    <a:pt x="31" y="316"/>
                  </a:lnTo>
                  <a:lnTo>
                    <a:pt x="45" y="316"/>
                  </a:lnTo>
                  <a:lnTo>
                    <a:pt x="53" y="286"/>
                  </a:lnTo>
                  <a:lnTo>
                    <a:pt x="40" y="163"/>
                  </a:lnTo>
                  <a:lnTo>
                    <a:pt x="36" y="98"/>
                  </a:lnTo>
                  <a:lnTo>
                    <a:pt x="47" y="56"/>
                  </a:lnTo>
                  <a:lnTo>
                    <a:pt x="69" y="14"/>
                  </a:lnTo>
                  <a:lnTo>
                    <a:pt x="39" y="0"/>
                  </a:ln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47" name="Freeform 9"/>
            <p:cNvSpPr>
              <a:spLocks noEditPoints="1"/>
            </p:cNvSpPr>
            <p:nvPr/>
          </p:nvSpPr>
          <p:spPr bwMode="auto">
            <a:xfrm>
              <a:off x="5151438" y="4319588"/>
              <a:ext cx="31750" cy="128588"/>
            </a:xfrm>
            <a:custGeom>
              <a:avLst/>
              <a:gdLst>
                <a:gd name="T0" fmla="*/ 45 w 85"/>
                <a:gd name="T1" fmla="*/ 0 h 342"/>
                <a:gd name="T2" fmla="*/ 42 w 85"/>
                <a:gd name="T3" fmla="*/ 6 h 342"/>
                <a:gd name="T4" fmla="*/ 5 w 85"/>
                <a:gd name="T5" fmla="*/ 114 h 342"/>
                <a:gd name="T6" fmla="*/ 13 w 85"/>
                <a:gd name="T7" fmla="*/ 318 h 342"/>
                <a:gd name="T8" fmla="*/ 14 w 85"/>
                <a:gd name="T9" fmla="*/ 318 h 342"/>
                <a:gd name="T10" fmla="*/ 14 w 85"/>
                <a:gd name="T11" fmla="*/ 318 h 342"/>
                <a:gd name="T12" fmla="*/ 26 w 85"/>
                <a:gd name="T13" fmla="*/ 338 h 342"/>
                <a:gd name="T14" fmla="*/ 49 w 85"/>
                <a:gd name="T15" fmla="*/ 339 h 342"/>
                <a:gd name="T16" fmla="*/ 63 w 85"/>
                <a:gd name="T17" fmla="*/ 317 h 342"/>
                <a:gd name="T18" fmla="*/ 49 w 85"/>
                <a:gd name="T19" fmla="*/ 174 h 342"/>
                <a:gd name="T20" fmla="*/ 48 w 85"/>
                <a:gd name="T21" fmla="*/ 117 h 342"/>
                <a:gd name="T22" fmla="*/ 81 w 85"/>
                <a:gd name="T23" fmla="*/ 28 h 342"/>
                <a:gd name="T24" fmla="*/ 85 w 85"/>
                <a:gd name="T25" fmla="*/ 22 h 342"/>
                <a:gd name="T26" fmla="*/ 79 w 85"/>
                <a:gd name="T27" fmla="*/ 19 h 342"/>
                <a:gd name="T28" fmla="*/ 50 w 85"/>
                <a:gd name="T29" fmla="*/ 3 h 342"/>
                <a:gd name="T30" fmla="*/ 45 w 85"/>
                <a:gd name="T31" fmla="*/ 0 h 342"/>
                <a:gd name="T32" fmla="*/ 50 w 85"/>
                <a:gd name="T33" fmla="*/ 17 h 342"/>
                <a:gd name="T34" fmla="*/ 67 w 85"/>
                <a:gd name="T35" fmla="*/ 27 h 342"/>
                <a:gd name="T36" fmla="*/ 35 w 85"/>
                <a:gd name="T37" fmla="*/ 115 h 342"/>
                <a:gd name="T38" fmla="*/ 50 w 85"/>
                <a:gd name="T39" fmla="*/ 318 h 342"/>
                <a:gd name="T40" fmla="*/ 41 w 85"/>
                <a:gd name="T41" fmla="*/ 327 h 342"/>
                <a:gd name="T42" fmla="*/ 26 w 85"/>
                <a:gd name="T43" fmla="*/ 316 h 342"/>
                <a:gd name="T44" fmla="*/ 17 w 85"/>
                <a:gd name="T45" fmla="*/ 118 h 342"/>
                <a:gd name="T46" fmla="*/ 50 w 85"/>
                <a:gd name="T47" fmla="*/ 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5" h="342">
                  <a:moveTo>
                    <a:pt x="45" y="0"/>
                  </a:moveTo>
                  <a:lnTo>
                    <a:pt x="42" y="6"/>
                  </a:lnTo>
                  <a:cubicBezTo>
                    <a:pt x="20" y="50"/>
                    <a:pt x="7" y="101"/>
                    <a:pt x="5" y="114"/>
                  </a:cubicBezTo>
                  <a:cubicBezTo>
                    <a:pt x="0" y="154"/>
                    <a:pt x="5" y="266"/>
                    <a:pt x="13" y="318"/>
                  </a:cubicBezTo>
                  <a:lnTo>
                    <a:pt x="14" y="318"/>
                  </a:lnTo>
                  <a:lnTo>
                    <a:pt x="14" y="318"/>
                  </a:lnTo>
                  <a:cubicBezTo>
                    <a:pt x="16" y="328"/>
                    <a:pt x="21" y="334"/>
                    <a:pt x="26" y="338"/>
                  </a:cubicBezTo>
                  <a:cubicBezTo>
                    <a:pt x="31" y="342"/>
                    <a:pt x="43" y="342"/>
                    <a:pt x="49" y="339"/>
                  </a:cubicBezTo>
                  <a:cubicBezTo>
                    <a:pt x="60" y="332"/>
                    <a:pt x="61" y="328"/>
                    <a:pt x="63" y="317"/>
                  </a:cubicBezTo>
                  <a:cubicBezTo>
                    <a:pt x="63" y="311"/>
                    <a:pt x="54" y="228"/>
                    <a:pt x="49" y="174"/>
                  </a:cubicBezTo>
                  <a:cubicBezTo>
                    <a:pt x="46" y="139"/>
                    <a:pt x="47" y="128"/>
                    <a:pt x="48" y="117"/>
                  </a:cubicBezTo>
                  <a:cubicBezTo>
                    <a:pt x="50" y="94"/>
                    <a:pt x="61" y="58"/>
                    <a:pt x="81" y="28"/>
                  </a:cubicBezTo>
                  <a:lnTo>
                    <a:pt x="85" y="22"/>
                  </a:lnTo>
                  <a:lnTo>
                    <a:pt x="79" y="19"/>
                  </a:lnTo>
                  <a:lnTo>
                    <a:pt x="50" y="3"/>
                  </a:lnTo>
                  <a:lnTo>
                    <a:pt x="45" y="0"/>
                  </a:lnTo>
                  <a:close/>
                  <a:moveTo>
                    <a:pt x="50" y="17"/>
                  </a:moveTo>
                  <a:lnTo>
                    <a:pt x="67" y="27"/>
                  </a:lnTo>
                  <a:cubicBezTo>
                    <a:pt x="45" y="59"/>
                    <a:pt x="41" y="78"/>
                    <a:pt x="35" y="115"/>
                  </a:cubicBezTo>
                  <a:cubicBezTo>
                    <a:pt x="30" y="136"/>
                    <a:pt x="49" y="269"/>
                    <a:pt x="50" y="318"/>
                  </a:cubicBezTo>
                  <a:cubicBezTo>
                    <a:pt x="50" y="323"/>
                    <a:pt x="46" y="326"/>
                    <a:pt x="41" y="327"/>
                  </a:cubicBezTo>
                  <a:cubicBezTo>
                    <a:pt x="32" y="327"/>
                    <a:pt x="27" y="321"/>
                    <a:pt x="26" y="316"/>
                  </a:cubicBezTo>
                  <a:cubicBezTo>
                    <a:pt x="15" y="240"/>
                    <a:pt x="16" y="124"/>
                    <a:pt x="17" y="118"/>
                  </a:cubicBezTo>
                  <a:cubicBezTo>
                    <a:pt x="19" y="98"/>
                    <a:pt x="33" y="47"/>
                    <a:pt x="50" y="17"/>
                  </a:cubicBezTo>
                  <a:close/>
                </a:path>
              </a:pathLst>
            </a:custGeom>
            <a:solidFill>
              <a:srgbClr val="D0D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48" name="Freeform 10"/>
            <p:cNvSpPr>
              <a:spLocks/>
            </p:cNvSpPr>
            <p:nvPr/>
          </p:nvSpPr>
          <p:spPr bwMode="auto">
            <a:xfrm>
              <a:off x="5192713" y="4319588"/>
              <a:ext cx="25400" cy="128588"/>
            </a:xfrm>
            <a:custGeom>
              <a:avLst/>
              <a:gdLst>
                <a:gd name="T0" fmla="*/ 0 w 71"/>
                <a:gd name="T1" fmla="*/ 16 h 341"/>
                <a:gd name="T2" fmla="*/ 41 w 71"/>
                <a:gd name="T3" fmla="*/ 117 h 341"/>
                <a:gd name="T4" fmla="*/ 20 w 71"/>
                <a:gd name="T5" fmla="*/ 309 h 341"/>
                <a:gd name="T6" fmla="*/ 56 w 71"/>
                <a:gd name="T7" fmla="*/ 308 h 341"/>
                <a:gd name="T8" fmla="*/ 71 w 71"/>
                <a:gd name="T9" fmla="*/ 110 h 341"/>
                <a:gd name="T10" fmla="*/ 29 w 71"/>
                <a:gd name="T11" fmla="*/ 0 h 341"/>
                <a:gd name="T12" fmla="*/ 0 w 71"/>
                <a:gd name="T13" fmla="*/ 16 h 341"/>
              </a:gdLst>
              <a:ahLst/>
              <a:cxnLst>
                <a:cxn ang="0">
                  <a:pos x="T0" y="T1"/>
                </a:cxn>
                <a:cxn ang="0">
                  <a:pos x="T2" y="T3"/>
                </a:cxn>
                <a:cxn ang="0">
                  <a:pos x="T4" y="T5"/>
                </a:cxn>
                <a:cxn ang="0">
                  <a:pos x="T6" y="T7"/>
                </a:cxn>
                <a:cxn ang="0">
                  <a:pos x="T8" y="T9"/>
                </a:cxn>
                <a:cxn ang="0">
                  <a:pos x="T10" y="T11"/>
                </a:cxn>
                <a:cxn ang="0">
                  <a:pos x="T12" y="T13"/>
                </a:cxn>
              </a:cxnLst>
              <a:rect l="0" t="0" r="r" b="b"/>
              <a:pathLst>
                <a:path w="71" h="341">
                  <a:moveTo>
                    <a:pt x="0" y="16"/>
                  </a:moveTo>
                  <a:cubicBezTo>
                    <a:pt x="20" y="46"/>
                    <a:pt x="41" y="91"/>
                    <a:pt x="41" y="117"/>
                  </a:cubicBezTo>
                  <a:cubicBezTo>
                    <a:pt x="39" y="248"/>
                    <a:pt x="28" y="246"/>
                    <a:pt x="20" y="309"/>
                  </a:cubicBezTo>
                  <a:cubicBezTo>
                    <a:pt x="19" y="326"/>
                    <a:pt x="48" y="341"/>
                    <a:pt x="56" y="308"/>
                  </a:cubicBezTo>
                  <a:cubicBezTo>
                    <a:pt x="70" y="225"/>
                    <a:pt x="71" y="157"/>
                    <a:pt x="71" y="110"/>
                  </a:cubicBezTo>
                  <a:cubicBezTo>
                    <a:pt x="64" y="67"/>
                    <a:pt x="45" y="34"/>
                    <a:pt x="29" y="0"/>
                  </a:cubicBezTo>
                  <a:lnTo>
                    <a:pt x="0" y="16"/>
                  </a:lnTo>
                  <a:close/>
                </a:path>
              </a:pathLst>
            </a:custGeom>
            <a:solidFill>
              <a:srgbClr val="FFFFCB"/>
            </a:solidFill>
            <a:ln w="4763" cap="flat">
              <a:solidFill>
                <a:srgbClr val="D0D08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49" name="Freeform 11"/>
            <p:cNvSpPr>
              <a:spLocks/>
            </p:cNvSpPr>
            <p:nvPr/>
          </p:nvSpPr>
          <p:spPr bwMode="auto">
            <a:xfrm>
              <a:off x="4935538" y="3967163"/>
              <a:ext cx="314325" cy="298450"/>
            </a:xfrm>
            <a:custGeom>
              <a:avLst/>
              <a:gdLst>
                <a:gd name="T0" fmla="*/ 437 w 842"/>
                <a:gd name="T1" fmla="*/ 1 h 801"/>
                <a:gd name="T2" fmla="*/ 317 w 842"/>
                <a:gd name="T3" fmla="*/ 20 h 801"/>
                <a:gd name="T4" fmla="*/ 3 w 842"/>
                <a:gd name="T5" fmla="*/ 429 h 801"/>
                <a:gd name="T6" fmla="*/ 86 w 842"/>
                <a:gd name="T7" fmla="*/ 702 h 801"/>
                <a:gd name="T8" fmla="*/ 225 w 842"/>
                <a:gd name="T9" fmla="*/ 792 h 801"/>
                <a:gd name="T10" fmla="*/ 277 w 842"/>
                <a:gd name="T11" fmla="*/ 789 h 801"/>
                <a:gd name="T12" fmla="*/ 148 w 842"/>
                <a:gd name="T13" fmla="*/ 700 h 801"/>
                <a:gd name="T14" fmla="*/ 55 w 842"/>
                <a:gd name="T15" fmla="*/ 439 h 801"/>
                <a:gd name="T16" fmla="*/ 127 w 842"/>
                <a:gd name="T17" fmla="*/ 215 h 801"/>
                <a:gd name="T18" fmla="*/ 328 w 842"/>
                <a:gd name="T19" fmla="*/ 65 h 801"/>
                <a:gd name="T20" fmla="*/ 706 w 842"/>
                <a:gd name="T21" fmla="*/ 176 h 801"/>
                <a:gd name="T22" fmla="*/ 750 w 842"/>
                <a:gd name="T23" fmla="*/ 558 h 801"/>
                <a:gd name="T24" fmla="*/ 605 w 842"/>
                <a:gd name="T25" fmla="*/ 801 h 801"/>
                <a:gd name="T26" fmla="*/ 658 w 842"/>
                <a:gd name="T27" fmla="*/ 751 h 801"/>
                <a:gd name="T28" fmla="*/ 790 w 842"/>
                <a:gd name="T29" fmla="*/ 538 h 801"/>
                <a:gd name="T30" fmla="*/ 738 w 842"/>
                <a:gd name="T31" fmla="*/ 157 h 801"/>
                <a:gd name="T32" fmla="*/ 437 w 842"/>
                <a:gd name="T33" fmla="*/ 1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2" h="801">
                  <a:moveTo>
                    <a:pt x="437" y="1"/>
                  </a:moveTo>
                  <a:cubicBezTo>
                    <a:pt x="397" y="2"/>
                    <a:pt x="357" y="8"/>
                    <a:pt x="317" y="20"/>
                  </a:cubicBezTo>
                  <a:cubicBezTo>
                    <a:pt x="160" y="69"/>
                    <a:pt x="7" y="207"/>
                    <a:pt x="3" y="429"/>
                  </a:cubicBezTo>
                  <a:cubicBezTo>
                    <a:pt x="1" y="536"/>
                    <a:pt x="0" y="587"/>
                    <a:pt x="86" y="702"/>
                  </a:cubicBezTo>
                  <a:cubicBezTo>
                    <a:pt x="116" y="742"/>
                    <a:pt x="159" y="777"/>
                    <a:pt x="225" y="792"/>
                  </a:cubicBezTo>
                  <a:lnTo>
                    <a:pt x="277" y="789"/>
                  </a:lnTo>
                  <a:cubicBezTo>
                    <a:pt x="219" y="753"/>
                    <a:pt x="172" y="728"/>
                    <a:pt x="148" y="700"/>
                  </a:cubicBezTo>
                  <a:cubicBezTo>
                    <a:pt x="59" y="596"/>
                    <a:pt x="53" y="543"/>
                    <a:pt x="55" y="439"/>
                  </a:cubicBezTo>
                  <a:cubicBezTo>
                    <a:pt x="57" y="348"/>
                    <a:pt x="88" y="272"/>
                    <a:pt x="127" y="215"/>
                  </a:cubicBezTo>
                  <a:cubicBezTo>
                    <a:pt x="178" y="138"/>
                    <a:pt x="246" y="90"/>
                    <a:pt x="328" y="65"/>
                  </a:cubicBezTo>
                  <a:cubicBezTo>
                    <a:pt x="472" y="21"/>
                    <a:pt x="631" y="52"/>
                    <a:pt x="706" y="176"/>
                  </a:cubicBezTo>
                  <a:cubicBezTo>
                    <a:pt x="756" y="260"/>
                    <a:pt x="802" y="395"/>
                    <a:pt x="750" y="558"/>
                  </a:cubicBezTo>
                  <a:cubicBezTo>
                    <a:pt x="728" y="623"/>
                    <a:pt x="660" y="715"/>
                    <a:pt x="605" y="801"/>
                  </a:cubicBezTo>
                  <a:lnTo>
                    <a:pt x="658" y="751"/>
                  </a:lnTo>
                  <a:cubicBezTo>
                    <a:pt x="715" y="680"/>
                    <a:pt x="765" y="620"/>
                    <a:pt x="790" y="538"/>
                  </a:cubicBezTo>
                  <a:cubicBezTo>
                    <a:pt x="842" y="362"/>
                    <a:pt x="792" y="248"/>
                    <a:pt x="738" y="157"/>
                  </a:cubicBezTo>
                  <a:cubicBezTo>
                    <a:pt x="674" y="51"/>
                    <a:pt x="558" y="0"/>
                    <a:pt x="437"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50" name="Freeform 12"/>
            <p:cNvSpPr>
              <a:spLocks/>
            </p:cNvSpPr>
            <p:nvPr/>
          </p:nvSpPr>
          <p:spPr bwMode="auto">
            <a:xfrm>
              <a:off x="4859338" y="3914775"/>
              <a:ext cx="598488" cy="1154113"/>
            </a:xfrm>
            <a:custGeom>
              <a:avLst/>
              <a:gdLst>
                <a:gd name="T0" fmla="*/ 1337 w 1596"/>
                <a:gd name="T1" fmla="*/ 119 h 3084"/>
                <a:gd name="T2" fmla="*/ 843 w 1596"/>
                <a:gd name="T3" fmla="*/ 884 h 3084"/>
                <a:gd name="T4" fmla="*/ 1074 w 1596"/>
                <a:gd name="T5" fmla="*/ 659 h 3084"/>
                <a:gd name="T6" fmla="*/ 1443 w 1596"/>
                <a:gd name="T7" fmla="*/ 62 h 3084"/>
                <a:gd name="T8" fmla="*/ 1534 w 1596"/>
                <a:gd name="T9" fmla="*/ 60 h 3084"/>
                <a:gd name="T10" fmla="*/ 1432 w 1596"/>
                <a:gd name="T11" fmla="*/ 563 h 3084"/>
                <a:gd name="T12" fmla="*/ 1223 w 1596"/>
                <a:gd name="T13" fmla="*/ 1138 h 3084"/>
                <a:gd name="T14" fmla="*/ 1212 w 1596"/>
                <a:gd name="T15" fmla="*/ 1557 h 3084"/>
                <a:gd name="T16" fmla="*/ 1300 w 1596"/>
                <a:gd name="T17" fmla="*/ 2502 h 3084"/>
                <a:gd name="T18" fmla="*/ 1164 w 1596"/>
                <a:gd name="T19" fmla="*/ 3023 h 3084"/>
                <a:gd name="T20" fmla="*/ 1025 w 1596"/>
                <a:gd name="T21" fmla="*/ 2455 h 3084"/>
                <a:gd name="T22" fmla="*/ 905 w 1596"/>
                <a:gd name="T23" fmla="*/ 2136 h 3084"/>
                <a:gd name="T24" fmla="*/ 851 w 1596"/>
                <a:gd name="T25" fmla="*/ 2167 h 3084"/>
                <a:gd name="T26" fmla="*/ 618 w 1596"/>
                <a:gd name="T27" fmla="*/ 3020 h 3084"/>
                <a:gd name="T28" fmla="*/ 567 w 1596"/>
                <a:gd name="T29" fmla="*/ 3030 h 3084"/>
                <a:gd name="T30" fmla="*/ 489 w 1596"/>
                <a:gd name="T31" fmla="*/ 2842 h 3084"/>
                <a:gd name="T32" fmla="*/ 437 w 1596"/>
                <a:gd name="T33" fmla="*/ 1615 h 3084"/>
                <a:gd name="T34" fmla="*/ 363 w 1596"/>
                <a:gd name="T35" fmla="*/ 1555 h 3084"/>
                <a:gd name="T36" fmla="*/ 360 w 1596"/>
                <a:gd name="T37" fmla="*/ 1557 h 3084"/>
                <a:gd name="T38" fmla="*/ 246 w 1596"/>
                <a:gd name="T39" fmla="*/ 1791 h 3084"/>
                <a:gd name="T40" fmla="*/ 163 w 1596"/>
                <a:gd name="T41" fmla="*/ 2157 h 3084"/>
                <a:gd name="T42" fmla="*/ 121 w 1596"/>
                <a:gd name="T43" fmla="*/ 2156 h 3084"/>
                <a:gd name="T44" fmla="*/ 82 w 1596"/>
                <a:gd name="T45" fmla="*/ 2081 h 3084"/>
                <a:gd name="T46" fmla="*/ 305 w 1596"/>
                <a:gd name="T47" fmla="*/ 1017 h 3084"/>
                <a:gd name="T48" fmla="*/ 278 w 1596"/>
                <a:gd name="T49" fmla="*/ 997 h 3084"/>
                <a:gd name="T50" fmla="*/ 40 w 1596"/>
                <a:gd name="T51" fmla="*/ 2105 h 3084"/>
                <a:gd name="T52" fmla="*/ 132 w 1596"/>
                <a:gd name="T53" fmla="*/ 2209 h 3084"/>
                <a:gd name="T54" fmla="*/ 261 w 1596"/>
                <a:gd name="T55" fmla="*/ 1984 h 3084"/>
                <a:gd name="T56" fmla="*/ 334 w 1596"/>
                <a:gd name="T57" fmla="*/ 1623 h 3084"/>
                <a:gd name="T58" fmla="*/ 373 w 1596"/>
                <a:gd name="T59" fmla="*/ 1589 h 3084"/>
                <a:gd name="T60" fmla="*/ 426 w 1596"/>
                <a:gd name="T61" fmla="*/ 1788 h 3084"/>
                <a:gd name="T62" fmla="*/ 488 w 1596"/>
                <a:gd name="T63" fmla="*/ 3017 h 3084"/>
                <a:gd name="T64" fmla="*/ 638 w 1596"/>
                <a:gd name="T65" fmla="*/ 3065 h 3084"/>
                <a:gd name="T66" fmla="*/ 891 w 1596"/>
                <a:gd name="T67" fmla="*/ 2186 h 3084"/>
                <a:gd name="T68" fmla="*/ 987 w 1596"/>
                <a:gd name="T69" fmla="*/ 2456 h 3084"/>
                <a:gd name="T70" fmla="*/ 1115 w 1596"/>
                <a:gd name="T71" fmla="*/ 3065 h 3084"/>
                <a:gd name="T72" fmla="*/ 1176 w 1596"/>
                <a:gd name="T73" fmla="*/ 3071 h 3084"/>
                <a:gd name="T74" fmla="*/ 1337 w 1596"/>
                <a:gd name="T75" fmla="*/ 2504 h 3084"/>
                <a:gd name="T76" fmla="*/ 1260 w 1596"/>
                <a:gd name="T77" fmla="*/ 1564 h 3084"/>
                <a:gd name="T78" fmla="*/ 1282 w 1596"/>
                <a:gd name="T79" fmla="*/ 994 h 3084"/>
                <a:gd name="T80" fmla="*/ 1319 w 1596"/>
                <a:gd name="T81" fmla="*/ 893 h 3084"/>
                <a:gd name="T82" fmla="*/ 1591 w 1596"/>
                <a:gd name="T83" fmla="*/ 79 h 3084"/>
                <a:gd name="T84" fmla="*/ 1532 w 1596"/>
                <a:gd name="T85" fmla="*/ 1 h 3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6" h="3084">
                  <a:moveTo>
                    <a:pt x="1524" y="0"/>
                  </a:moveTo>
                  <a:cubicBezTo>
                    <a:pt x="1483" y="1"/>
                    <a:pt x="1451" y="14"/>
                    <a:pt x="1419" y="33"/>
                  </a:cubicBezTo>
                  <a:cubicBezTo>
                    <a:pt x="1388" y="53"/>
                    <a:pt x="1361" y="83"/>
                    <a:pt x="1337" y="119"/>
                  </a:cubicBezTo>
                  <a:cubicBezTo>
                    <a:pt x="1288" y="190"/>
                    <a:pt x="1248" y="287"/>
                    <a:pt x="1196" y="390"/>
                  </a:cubicBezTo>
                  <a:cubicBezTo>
                    <a:pt x="1131" y="516"/>
                    <a:pt x="1060" y="620"/>
                    <a:pt x="982" y="720"/>
                  </a:cubicBezTo>
                  <a:cubicBezTo>
                    <a:pt x="938" y="777"/>
                    <a:pt x="897" y="845"/>
                    <a:pt x="843" y="884"/>
                  </a:cubicBezTo>
                  <a:lnTo>
                    <a:pt x="809" y="936"/>
                  </a:lnTo>
                  <a:cubicBezTo>
                    <a:pt x="846" y="909"/>
                    <a:pt x="899" y="857"/>
                    <a:pt x="935" y="822"/>
                  </a:cubicBezTo>
                  <a:cubicBezTo>
                    <a:pt x="989" y="768"/>
                    <a:pt x="1025" y="726"/>
                    <a:pt x="1074" y="659"/>
                  </a:cubicBezTo>
                  <a:cubicBezTo>
                    <a:pt x="1133" y="578"/>
                    <a:pt x="1186" y="491"/>
                    <a:pt x="1229" y="407"/>
                  </a:cubicBezTo>
                  <a:cubicBezTo>
                    <a:pt x="1282" y="303"/>
                    <a:pt x="1323" y="206"/>
                    <a:pt x="1368" y="140"/>
                  </a:cubicBezTo>
                  <a:cubicBezTo>
                    <a:pt x="1390" y="107"/>
                    <a:pt x="1418" y="78"/>
                    <a:pt x="1443" y="62"/>
                  </a:cubicBezTo>
                  <a:cubicBezTo>
                    <a:pt x="1464" y="50"/>
                    <a:pt x="1473" y="46"/>
                    <a:pt x="1501" y="45"/>
                  </a:cubicBezTo>
                  <a:cubicBezTo>
                    <a:pt x="1506" y="45"/>
                    <a:pt x="1514" y="47"/>
                    <a:pt x="1519" y="49"/>
                  </a:cubicBezTo>
                  <a:cubicBezTo>
                    <a:pt x="1524" y="52"/>
                    <a:pt x="1529" y="54"/>
                    <a:pt x="1534" y="60"/>
                  </a:cubicBezTo>
                  <a:cubicBezTo>
                    <a:pt x="1540" y="66"/>
                    <a:pt x="1548" y="76"/>
                    <a:pt x="1550" y="92"/>
                  </a:cubicBezTo>
                  <a:cubicBezTo>
                    <a:pt x="1554" y="122"/>
                    <a:pt x="1551" y="167"/>
                    <a:pt x="1542" y="218"/>
                  </a:cubicBezTo>
                  <a:cubicBezTo>
                    <a:pt x="1524" y="320"/>
                    <a:pt x="1482" y="450"/>
                    <a:pt x="1432" y="563"/>
                  </a:cubicBezTo>
                  <a:cubicBezTo>
                    <a:pt x="1376" y="687"/>
                    <a:pt x="1318" y="775"/>
                    <a:pt x="1287" y="884"/>
                  </a:cubicBezTo>
                  <a:cubicBezTo>
                    <a:pt x="1286" y="885"/>
                    <a:pt x="1284" y="888"/>
                    <a:pt x="1284" y="889"/>
                  </a:cubicBezTo>
                  <a:cubicBezTo>
                    <a:pt x="1264" y="918"/>
                    <a:pt x="1231" y="1028"/>
                    <a:pt x="1223" y="1138"/>
                  </a:cubicBezTo>
                  <a:cubicBezTo>
                    <a:pt x="1214" y="1251"/>
                    <a:pt x="1201" y="1379"/>
                    <a:pt x="1210" y="1532"/>
                  </a:cubicBezTo>
                  <a:lnTo>
                    <a:pt x="1211" y="1548"/>
                  </a:lnTo>
                  <a:lnTo>
                    <a:pt x="1212" y="1557"/>
                  </a:lnTo>
                  <a:cubicBezTo>
                    <a:pt x="1237" y="1751"/>
                    <a:pt x="1259" y="1880"/>
                    <a:pt x="1281" y="2054"/>
                  </a:cubicBezTo>
                  <a:cubicBezTo>
                    <a:pt x="1299" y="2191"/>
                    <a:pt x="1300" y="2324"/>
                    <a:pt x="1302" y="2445"/>
                  </a:cubicBezTo>
                  <a:cubicBezTo>
                    <a:pt x="1302" y="2446"/>
                    <a:pt x="1300" y="2501"/>
                    <a:pt x="1300" y="2502"/>
                  </a:cubicBezTo>
                  <a:cubicBezTo>
                    <a:pt x="1291" y="2632"/>
                    <a:pt x="1286" y="2740"/>
                    <a:pt x="1261" y="2843"/>
                  </a:cubicBezTo>
                  <a:cubicBezTo>
                    <a:pt x="1249" y="2895"/>
                    <a:pt x="1241" y="2940"/>
                    <a:pt x="1224" y="2973"/>
                  </a:cubicBezTo>
                  <a:cubicBezTo>
                    <a:pt x="1208" y="3004"/>
                    <a:pt x="1186" y="3017"/>
                    <a:pt x="1164" y="3023"/>
                  </a:cubicBezTo>
                  <a:cubicBezTo>
                    <a:pt x="1127" y="3021"/>
                    <a:pt x="1098" y="2992"/>
                    <a:pt x="1076" y="2952"/>
                  </a:cubicBezTo>
                  <a:cubicBezTo>
                    <a:pt x="1054" y="2910"/>
                    <a:pt x="1040" y="2856"/>
                    <a:pt x="1033" y="2797"/>
                  </a:cubicBezTo>
                  <a:cubicBezTo>
                    <a:pt x="1018" y="2679"/>
                    <a:pt x="1028" y="2545"/>
                    <a:pt x="1025" y="2455"/>
                  </a:cubicBezTo>
                  <a:cubicBezTo>
                    <a:pt x="1023" y="2392"/>
                    <a:pt x="1001" y="2290"/>
                    <a:pt x="972" y="2232"/>
                  </a:cubicBezTo>
                  <a:cubicBezTo>
                    <a:pt x="958" y="2203"/>
                    <a:pt x="942" y="2178"/>
                    <a:pt x="927" y="2159"/>
                  </a:cubicBezTo>
                  <a:cubicBezTo>
                    <a:pt x="920" y="2150"/>
                    <a:pt x="913" y="2142"/>
                    <a:pt x="905" y="2136"/>
                  </a:cubicBezTo>
                  <a:cubicBezTo>
                    <a:pt x="897" y="2130"/>
                    <a:pt x="873" y="2128"/>
                    <a:pt x="861" y="2128"/>
                  </a:cubicBezTo>
                  <a:lnTo>
                    <a:pt x="855" y="2153"/>
                  </a:lnTo>
                  <a:lnTo>
                    <a:pt x="851" y="2167"/>
                  </a:lnTo>
                  <a:cubicBezTo>
                    <a:pt x="816" y="2323"/>
                    <a:pt x="770" y="2596"/>
                    <a:pt x="733" y="2745"/>
                  </a:cubicBezTo>
                  <a:cubicBezTo>
                    <a:pt x="711" y="2836"/>
                    <a:pt x="686" y="2925"/>
                    <a:pt x="659" y="2980"/>
                  </a:cubicBezTo>
                  <a:cubicBezTo>
                    <a:pt x="646" y="3007"/>
                    <a:pt x="622" y="3017"/>
                    <a:pt x="618" y="3020"/>
                  </a:cubicBezTo>
                  <a:cubicBezTo>
                    <a:pt x="610" y="3024"/>
                    <a:pt x="612" y="3023"/>
                    <a:pt x="593" y="3028"/>
                  </a:cubicBezTo>
                  <a:lnTo>
                    <a:pt x="578" y="3030"/>
                  </a:lnTo>
                  <a:lnTo>
                    <a:pt x="567" y="3030"/>
                  </a:lnTo>
                  <a:cubicBezTo>
                    <a:pt x="561" y="3029"/>
                    <a:pt x="558" y="3029"/>
                    <a:pt x="550" y="3025"/>
                  </a:cubicBezTo>
                  <a:cubicBezTo>
                    <a:pt x="543" y="3021"/>
                    <a:pt x="537" y="3014"/>
                    <a:pt x="528" y="2998"/>
                  </a:cubicBezTo>
                  <a:cubicBezTo>
                    <a:pt x="511" y="2969"/>
                    <a:pt x="496" y="2912"/>
                    <a:pt x="489" y="2842"/>
                  </a:cubicBezTo>
                  <a:cubicBezTo>
                    <a:pt x="474" y="2703"/>
                    <a:pt x="473" y="2509"/>
                    <a:pt x="473" y="2316"/>
                  </a:cubicBezTo>
                  <a:cubicBezTo>
                    <a:pt x="472" y="2122"/>
                    <a:pt x="474" y="1928"/>
                    <a:pt x="463" y="1785"/>
                  </a:cubicBezTo>
                  <a:cubicBezTo>
                    <a:pt x="458" y="1714"/>
                    <a:pt x="450" y="1656"/>
                    <a:pt x="437" y="1615"/>
                  </a:cubicBezTo>
                  <a:cubicBezTo>
                    <a:pt x="430" y="1595"/>
                    <a:pt x="422" y="1579"/>
                    <a:pt x="409" y="1567"/>
                  </a:cubicBezTo>
                  <a:cubicBezTo>
                    <a:pt x="397" y="1556"/>
                    <a:pt x="379" y="1552"/>
                    <a:pt x="363" y="1556"/>
                  </a:cubicBezTo>
                  <a:lnTo>
                    <a:pt x="363" y="1555"/>
                  </a:lnTo>
                  <a:cubicBezTo>
                    <a:pt x="362" y="1555"/>
                    <a:pt x="362" y="1556"/>
                    <a:pt x="361" y="1556"/>
                  </a:cubicBezTo>
                  <a:cubicBezTo>
                    <a:pt x="361" y="1556"/>
                    <a:pt x="360" y="1556"/>
                    <a:pt x="360" y="1556"/>
                  </a:cubicBezTo>
                  <a:lnTo>
                    <a:pt x="360" y="1557"/>
                  </a:lnTo>
                  <a:cubicBezTo>
                    <a:pt x="334" y="1562"/>
                    <a:pt x="314" y="1577"/>
                    <a:pt x="301" y="1594"/>
                  </a:cubicBezTo>
                  <a:cubicBezTo>
                    <a:pt x="288" y="1612"/>
                    <a:pt x="282" y="1631"/>
                    <a:pt x="276" y="1644"/>
                  </a:cubicBezTo>
                  <a:cubicBezTo>
                    <a:pt x="261" y="1679"/>
                    <a:pt x="253" y="1731"/>
                    <a:pt x="246" y="1791"/>
                  </a:cubicBezTo>
                  <a:cubicBezTo>
                    <a:pt x="239" y="1851"/>
                    <a:pt x="233" y="1918"/>
                    <a:pt x="224" y="1979"/>
                  </a:cubicBezTo>
                  <a:cubicBezTo>
                    <a:pt x="215" y="2039"/>
                    <a:pt x="203" y="2094"/>
                    <a:pt x="187" y="2126"/>
                  </a:cubicBezTo>
                  <a:cubicBezTo>
                    <a:pt x="179" y="2143"/>
                    <a:pt x="170" y="2153"/>
                    <a:pt x="163" y="2157"/>
                  </a:cubicBezTo>
                  <a:cubicBezTo>
                    <a:pt x="155" y="2161"/>
                    <a:pt x="150" y="2166"/>
                    <a:pt x="136" y="2163"/>
                  </a:cubicBezTo>
                  <a:lnTo>
                    <a:pt x="128" y="2160"/>
                  </a:lnTo>
                  <a:lnTo>
                    <a:pt x="121" y="2156"/>
                  </a:lnTo>
                  <a:cubicBezTo>
                    <a:pt x="121" y="2156"/>
                    <a:pt x="119" y="2155"/>
                    <a:pt x="117" y="2154"/>
                  </a:cubicBezTo>
                  <a:cubicBezTo>
                    <a:pt x="115" y="2152"/>
                    <a:pt x="114" y="2149"/>
                    <a:pt x="110" y="2143"/>
                  </a:cubicBezTo>
                  <a:cubicBezTo>
                    <a:pt x="101" y="2131"/>
                    <a:pt x="91" y="2110"/>
                    <a:pt x="82" y="2081"/>
                  </a:cubicBezTo>
                  <a:cubicBezTo>
                    <a:pt x="65" y="2024"/>
                    <a:pt x="51" y="1939"/>
                    <a:pt x="46" y="1839"/>
                  </a:cubicBezTo>
                  <a:cubicBezTo>
                    <a:pt x="38" y="1638"/>
                    <a:pt x="68" y="1375"/>
                    <a:pt x="181" y="1144"/>
                  </a:cubicBezTo>
                  <a:cubicBezTo>
                    <a:pt x="207" y="1089"/>
                    <a:pt x="254" y="1045"/>
                    <a:pt x="305" y="1017"/>
                  </a:cubicBezTo>
                  <a:cubicBezTo>
                    <a:pt x="355" y="990"/>
                    <a:pt x="457" y="942"/>
                    <a:pt x="520" y="915"/>
                  </a:cubicBezTo>
                  <a:lnTo>
                    <a:pt x="445" y="920"/>
                  </a:lnTo>
                  <a:cubicBezTo>
                    <a:pt x="377" y="950"/>
                    <a:pt x="332" y="967"/>
                    <a:pt x="278" y="997"/>
                  </a:cubicBezTo>
                  <a:cubicBezTo>
                    <a:pt x="224" y="1026"/>
                    <a:pt x="178" y="1065"/>
                    <a:pt x="147" y="1128"/>
                  </a:cubicBezTo>
                  <a:cubicBezTo>
                    <a:pt x="31" y="1366"/>
                    <a:pt x="0" y="1634"/>
                    <a:pt x="9" y="1840"/>
                  </a:cubicBezTo>
                  <a:cubicBezTo>
                    <a:pt x="13" y="1943"/>
                    <a:pt x="21" y="2043"/>
                    <a:pt x="40" y="2105"/>
                  </a:cubicBezTo>
                  <a:cubicBezTo>
                    <a:pt x="50" y="2136"/>
                    <a:pt x="60" y="2162"/>
                    <a:pt x="73" y="2179"/>
                  </a:cubicBezTo>
                  <a:cubicBezTo>
                    <a:pt x="79" y="2188"/>
                    <a:pt x="92" y="2197"/>
                    <a:pt x="101" y="2203"/>
                  </a:cubicBezTo>
                  <a:cubicBezTo>
                    <a:pt x="108" y="2206"/>
                    <a:pt x="123" y="2210"/>
                    <a:pt x="132" y="2209"/>
                  </a:cubicBezTo>
                  <a:cubicBezTo>
                    <a:pt x="150" y="2209"/>
                    <a:pt x="161" y="2206"/>
                    <a:pt x="178" y="2198"/>
                  </a:cubicBezTo>
                  <a:cubicBezTo>
                    <a:pt x="195" y="2188"/>
                    <a:pt x="211" y="2163"/>
                    <a:pt x="221" y="2143"/>
                  </a:cubicBezTo>
                  <a:cubicBezTo>
                    <a:pt x="241" y="2103"/>
                    <a:pt x="252" y="2046"/>
                    <a:pt x="261" y="1984"/>
                  </a:cubicBezTo>
                  <a:cubicBezTo>
                    <a:pt x="270" y="1922"/>
                    <a:pt x="280" y="1861"/>
                    <a:pt x="287" y="1802"/>
                  </a:cubicBezTo>
                  <a:cubicBezTo>
                    <a:pt x="294" y="1743"/>
                    <a:pt x="303" y="1692"/>
                    <a:pt x="315" y="1665"/>
                  </a:cubicBezTo>
                  <a:cubicBezTo>
                    <a:pt x="321" y="1651"/>
                    <a:pt x="325" y="1636"/>
                    <a:pt x="334" y="1623"/>
                  </a:cubicBezTo>
                  <a:cubicBezTo>
                    <a:pt x="343" y="1611"/>
                    <a:pt x="354" y="1591"/>
                    <a:pt x="372" y="1588"/>
                  </a:cubicBezTo>
                  <a:lnTo>
                    <a:pt x="371" y="1589"/>
                  </a:lnTo>
                  <a:lnTo>
                    <a:pt x="373" y="1589"/>
                  </a:lnTo>
                  <a:cubicBezTo>
                    <a:pt x="379" y="1586"/>
                    <a:pt x="379" y="1589"/>
                    <a:pt x="383" y="1594"/>
                  </a:cubicBezTo>
                  <a:cubicBezTo>
                    <a:pt x="388" y="1598"/>
                    <a:pt x="395" y="1610"/>
                    <a:pt x="401" y="1627"/>
                  </a:cubicBezTo>
                  <a:cubicBezTo>
                    <a:pt x="413" y="1662"/>
                    <a:pt x="421" y="1718"/>
                    <a:pt x="426" y="1788"/>
                  </a:cubicBezTo>
                  <a:cubicBezTo>
                    <a:pt x="436" y="1928"/>
                    <a:pt x="435" y="2122"/>
                    <a:pt x="435" y="2315"/>
                  </a:cubicBezTo>
                  <a:cubicBezTo>
                    <a:pt x="435" y="2509"/>
                    <a:pt x="436" y="2703"/>
                    <a:pt x="451" y="2846"/>
                  </a:cubicBezTo>
                  <a:cubicBezTo>
                    <a:pt x="459" y="2917"/>
                    <a:pt x="470" y="2976"/>
                    <a:pt x="488" y="3017"/>
                  </a:cubicBezTo>
                  <a:cubicBezTo>
                    <a:pt x="497" y="3038"/>
                    <a:pt x="507" y="3054"/>
                    <a:pt x="522" y="3065"/>
                  </a:cubicBezTo>
                  <a:cubicBezTo>
                    <a:pt x="535" y="3076"/>
                    <a:pt x="551" y="3082"/>
                    <a:pt x="568" y="3082"/>
                  </a:cubicBezTo>
                  <a:cubicBezTo>
                    <a:pt x="593" y="3084"/>
                    <a:pt x="618" y="3079"/>
                    <a:pt x="638" y="3065"/>
                  </a:cubicBezTo>
                  <a:cubicBezTo>
                    <a:pt x="660" y="3050"/>
                    <a:pt x="677" y="3027"/>
                    <a:pt x="692" y="2998"/>
                  </a:cubicBezTo>
                  <a:cubicBezTo>
                    <a:pt x="723" y="2939"/>
                    <a:pt x="746" y="2855"/>
                    <a:pt x="768" y="2760"/>
                  </a:cubicBezTo>
                  <a:cubicBezTo>
                    <a:pt x="809" y="2578"/>
                    <a:pt x="871" y="2339"/>
                    <a:pt x="891" y="2186"/>
                  </a:cubicBezTo>
                  <a:cubicBezTo>
                    <a:pt x="894" y="2189"/>
                    <a:pt x="905" y="2201"/>
                    <a:pt x="909" y="2205"/>
                  </a:cubicBezTo>
                  <a:cubicBezTo>
                    <a:pt x="921" y="2221"/>
                    <a:pt x="931" y="2243"/>
                    <a:pt x="944" y="2270"/>
                  </a:cubicBezTo>
                  <a:cubicBezTo>
                    <a:pt x="971" y="2325"/>
                    <a:pt x="986" y="2402"/>
                    <a:pt x="987" y="2456"/>
                  </a:cubicBezTo>
                  <a:cubicBezTo>
                    <a:pt x="990" y="2542"/>
                    <a:pt x="981" y="2679"/>
                    <a:pt x="996" y="2802"/>
                  </a:cubicBezTo>
                  <a:cubicBezTo>
                    <a:pt x="1004" y="2863"/>
                    <a:pt x="1021" y="2940"/>
                    <a:pt x="1047" y="2988"/>
                  </a:cubicBezTo>
                  <a:cubicBezTo>
                    <a:pt x="1065" y="3021"/>
                    <a:pt x="1085" y="3051"/>
                    <a:pt x="1115" y="3065"/>
                  </a:cubicBezTo>
                  <a:cubicBezTo>
                    <a:pt x="1129" y="3071"/>
                    <a:pt x="1129" y="3070"/>
                    <a:pt x="1146" y="3075"/>
                  </a:cubicBezTo>
                  <a:lnTo>
                    <a:pt x="1164" y="3074"/>
                  </a:lnTo>
                  <a:lnTo>
                    <a:pt x="1176" y="3071"/>
                  </a:lnTo>
                  <a:cubicBezTo>
                    <a:pt x="1211" y="3058"/>
                    <a:pt x="1237" y="3029"/>
                    <a:pt x="1257" y="2990"/>
                  </a:cubicBezTo>
                  <a:cubicBezTo>
                    <a:pt x="1276" y="2952"/>
                    <a:pt x="1290" y="2904"/>
                    <a:pt x="1300" y="2849"/>
                  </a:cubicBezTo>
                  <a:cubicBezTo>
                    <a:pt x="1321" y="2741"/>
                    <a:pt x="1328" y="2635"/>
                    <a:pt x="1337" y="2504"/>
                  </a:cubicBezTo>
                  <a:lnTo>
                    <a:pt x="1338" y="2476"/>
                  </a:lnTo>
                  <a:lnTo>
                    <a:pt x="1338" y="2475"/>
                  </a:lnTo>
                  <a:cubicBezTo>
                    <a:pt x="1356" y="2123"/>
                    <a:pt x="1301" y="1901"/>
                    <a:pt x="1260" y="1564"/>
                  </a:cubicBezTo>
                  <a:cubicBezTo>
                    <a:pt x="1258" y="1556"/>
                    <a:pt x="1258" y="1537"/>
                    <a:pt x="1258" y="1537"/>
                  </a:cubicBezTo>
                  <a:cubicBezTo>
                    <a:pt x="1249" y="1386"/>
                    <a:pt x="1251" y="1247"/>
                    <a:pt x="1259" y="1137"/>
                  </a:cubicBezTo>
                  <a:cubicBezTo>
                    <a:pt x="1263" y="1083"/>
                    <a:pt x="1273" y="1033"/>
                    <a:pt x="1282" y="994"/>
                  </a:cubicBezTo>
                  <a:cubicBezTo>
                    <a:pt x="1292" y="954"/>
                    <a:pt x="1298" y="934"/>
                    <a:pt x="1315" y="905"/>
                  </a:cubicBezTo>
                  <a:lnTo>
                    <a:pt x="1317" y="899"/>
                  </a:lnTo>
                  <a:lnTo>
                    <a:pt x="1319" y="893"/>
                  </a:lnTo>
                  <a:cubicBezTo>
                    <a:pt x="1349" y="790"/>
                    <a:pt x="1414" y="710"/>
                    <a:pt x="1471" y="582"/>
                  </a:cubicBezTo>
                  <a:cubicBezTo>
                    <a:pt x="1523" y="466"/>
                    <a:pt x="1565" y="329"/>
                    <a:pt x="1583" y="222"/>
                  </a:cubicBezTo>
                  <a:cubicBezTo>
                    <a:pt x="1593" y="169"/>
                    <a:pt x="1596" y="116"/>
                    <a:pt x="1591" y="79"/>
                  </a:cubicBezTo>
                  <a:cubicBezTo>
                    <a:pt x="1588" y="60"/>
                    <a:pt x="1579" y="42"/>
                    <a:pt x="1570" y="28"/>
                  </a:cubicBezTo>
                  <a:cubicBezTo>
                    <a:pt x="1562" y="15"/>
                    <a:pt x="1546" y="5"/>
                    <a:pt x="1536" y="2"/>
                  </a:cubicBezTo>
                  <a:lnTo>
                    <a:pt x="1532" y="1"/>
                  </a:lnTo>
                  <a:lnTo>
                    <a:pt x="1529" y="0"/>
                  </a:lnTo>
                  <a:lnTo>
                    <a:pt x="15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51" name="Freeform 13"/>
            <p:cNvSpPr>
              <a:spLocks/>
            </p:cNvSpPr>
            <p:nvPr/>
          </p:nvSpPr>
          <p:spPr bwMode="auto">
            <a:xfrm>
              <a:off x="4902200" y="4216400"/>
              <a:ext cx="282575" cy="106363"/>
            </a:xfrm>
            <a:custGeom>
              <a:avLst/>
              <a:gdLst>
                <a:gd name="T0" fmla="*/ 758 w 758"/>
                <a:gd name="T1" fmla="*/ 265 h 282"/>
                <a:gd name="T2" fmla="*/ 659 w 758"/>
                <a:gd name="T3" fmla="*/ 173 h 282"/>
                <a:gd name="T4" fmla="*/ 489 w 758"/>
                <a:gd name="T5" fmla="*/ 89 h 282"/>
                <a:gd name="T6" fmla="*/ 241 w 758"/>
                <a:gd name="T7" fmla="*/ 13 h 282"/>
                <a:gd name="T8" fmla="*/ 164 w 758"/>
                <a:gd name="T9" fmla="*/ 0 h 282"/>
                <a:gd name="T10" fmla="*/ 73 w 758"/>
                <a:gd name="T11" fmla="*/ 55 h 282"/>
                <a:gd name="T12" fmla="*/ 0 w 758"/>
                <a:gd name="T13" fmla="*/ 164 h 282"/>
                <a:gd name="T14" fmla="*/ 5 w 758"/>
                <a:gd name="T15" fmla="*/ 279 h 282"/>
                <a:gd name="T16" fmla="*/ 285 w 758"/>
                <a:gd name="T17" fmla="*/ 230 h 282"/>
                <a:gd name="T18" fmla="*/ 473 w 758"/>
                <a:gd name="T19" fmla="*/ 226 h 282"/>
                <a:gd name="T20" fmla="*/ 754 w 758"/>
                <a:gd name="T21" fmla="*/ 282 h 282"/>
                <a:gd name="T22" fmla="*/ 758 w 758"/>
                <a:gd name="T23" fmla="*/ 26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8" h="282">
                  <a:moveTo>
                    <a:pt x="758" y="265"/>
                  </a:moveTo>
                  <a:lnTo>
                    <a:pt x="659" y="173"/>
                  </a:lnTo>
                  <a:lnTo>
                    <a:pt x="489" y="89"/>
                  </a:lnTo>
                  <a:lnTo>
                    <a:pt x="241" y="13"/>
                  </a:lnTo>
                  <a:lnTo>
                    <a:pt x="164" y="0"/>
                  </a:lnTo>
                  <a:lnTo>
                    <a:pt x="73" y="55"/>
                  </a:lnTo>
                  <a:lnTo>
                    <a:pt x="0" y="164"/>
                  </a:lnTo>
                  <a:lnTo>
                    <a:pt x="5" y="279"/>
                  </a:lnTo>
                  <a:lnTo>
                    <a:pt x="285" y="230"/>
                  </a:lnTo>
                  <a:lnTo>
                    <a:pt x="473" y="226"/>
                  </a:lnTo>
                  <a:lnTo>
                    <a:pt x="754" y="282"/>
                  </a:lnTo>
                  <a:lnTo>
                    <a:pt x="758" y="265"/>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52" name="Freeform 14"/>
            <p:cNvSpPr>
              <a:spLocks noEditPoints="1"/>
            </p:cNvSpPr>
            <p:nvPr/>
          </p:nvSpPr>
          <p:spPr bwMode="auto">
            <a:xfrm>
              <a:off x="4908550" y="4233863"/>
              <a:ext cx="100013" cy="84138"/>
            </a:xfrm>
            <a:custGeom>
              <a:avLst/>
              <a:gdLst>
                <a:gd name="T0" fmla="*/ 10 w 266"/>
                <a:gd name="T1" fmla="*/ 227 h 229"/>
                <a:gd name="T2" fmla="*/ 3 w 266"/>
                <a:gd name="T3" fmla="*/ 217 h 229"/>
                <a:gd name="T4" fmla="*/ 5 w 266"/>
                <a:gd name="T5" fmla="*/ 155 h 229"/>
                <a:gd name="T6" fmla="*/ 56 w 266"/>
                <a:gd name="T7" fmla="*/ 64 h 229"/>
                <a:gd name="T8" fmla="*/ 143 w 266"/>
                <a:gd name="T9" fmla="*/ 1 h 229"/>
                <a:gd name="T10" fmla="*/ 152 w 266"/>
                <a:gd name="T11" fmla="*/ 6 h 229"/>
                <a:gd name="T12" fmla="*/ 158 w 266"/>
                <a:gd name="T13" fmla="*/ 13 h 229"/>
                <a:gd name="T14" fmla="*/ 165 w 266"/>
                <a:gd name="T15" fmla="*/ 20 h 229"/>
                <a:gd name="T16" fmla="*/ 172 w 266"/>
                <a:gd name="T17" fmla="*/ 27 h 229"/>
                <a:gd name="T18" fmla="*/ 178 w 266"/>
                <a:gd name="T19" fmla="*/ 32 h 229"/>
                <a:gd name="T20" fmla="*/ 190 w 266"/>
                <a:gd name="T21" fmla="*/ 38 h 229"/>
                <a:gd name="T22" fmla="*/ 203 w 266"/>
                <a:gd name="T23" fmla="*/ 44 h 229"/>
                <a:gd name="T24" fmla="*/ 209 w 266"/>
                <a:gd name="T25" fmla="*/ 51 h 229"/>
                <a:gd name="T26" fmla="*/ 216 w 266"/>
                <a:gd name="T27" fmla="*/ 58 h 229"/>
                <a:gd name="T28" fmla="*/ 221 w 266"/>
                <a:gd name="T29" fmla="*/ 64 h 229"/>
                <a:gd name="T30" fmla="*/ 227 w 266"/>
                <a:gd name="T31" fmla="*/ 70 h 229"/>
                <a:gd name="T32" fmla="*/ 240 w 266"/>
                <a:gd name="T33" fmla="*/ 75 h 229"/>
                <a:gd name="T34" fmla="*/ 253 w 266"/>
                <a:gd name="T35" fmla="*/ 82 h 229"/>
                <a:gd name="T36" fmla="*/ 261 w 266"/>
                <a:gd name="T37" fmla="*/ 89 h 229"/>
                <a:gd name="T38" fmla="*/ 245 w 266"/>
                <a:gd name="T39" fmla="*/ 99 h 229"/>
                <a:gd name="T40" fmla="*/ 117 w 266"/>
                <a:gd name="T41" fmla="*/ 163 h 229"/>
                <a:gd name="T42" fmla="*/ 77 w 266"/>
                <a:gd name="T43" fmla="*/ 194 h 229"/>
                <a:gd name="T44" fmla="*/ 55 w 266"/>
                <a:gd name="T45" fmla="*/ 212 h 229"/>
                <a:gd name="T46" fmla="*/ 52 w 266"/>
                <a:gd name="T47" fmla="*/ 214 h 229"/>
                <a:gd name="T48" fmla="*/ 33 w 266"/>
                <a:gd name="T49" fmla="*/ 223 h 229"/>
                <a:gd name="T50" fmla="*/ 10 w 266"/>
                <a:gd name="T51" fmla="*/ 227 h 229"/>
                <a:gd name="T52" fmla="*/ 28 w 266"/>
                <a:gd name="T53" fmla="*/ 193 h 229"/>
                <a:gd name="T54" fmla="*/ 22 w 266"/>
                <a:gd name="T55" fmla="*/ 188 h 229"/>
                <a:gd name="T56" fmla="*/ 17 w 266"/>
                <a:gd name="T57" fmla="*/ 193 h 229"/>
                <a:gd name="T58" fmla="*/ 22 w 266"/>
                <a:gd name="T59" fmla="*/ 199 h 229"/>
                <a:gd name="T60" fmla="*/ 28 w 266"/>
                <a:gd name="T61" fmla="*/ 193 h 229"/>
                <a:gd name="T62" fmla="*/ 141 w 266"/>
                <a:gd name="T63" fmla="*/ 94 h 229"/>
                <a:gd name="T64" fmla="*/ 134 w 266"/>
                <a:gd name="T65" fmla="*/ 88 h 229"/>
                <a:gd name="T66" fmla="*/ 127 w 266"/>
                <a:gd name="T67" fmla="*/ 94 h 229"/>
                <a:gd name="T68" fmla="*/ 134 w 266"/>
                <a:gd name="T69" fmla="*/ 100 h 229"/>
                <a:gd name="T70" fmla="*/ 141 w 266"/>
                <a:gd name="T71" fmla="*/ 9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6" h="229">
                  <a:moveTo>
                    <a:pt x="10" y="227"/>
                  </a:moveTo>
                  <a:cubicBezTo>
                    <a:pt x="6" y="226"/>
                    <a:pt x="4" y="223"/>
                    <a:pt x="3" y="217"/>
                  </a:cubicBezTo>
                  <a:cubicBezTo>
                    <a:pt x="0" y="202"/>
                    <a:pt x="1" y="169"/>
                    <a:pt x="5" y="155"/>
                  </a:cubicBezTo>
                  <a:cubicBezTo>
                    <a:pt x="11" y="128"/>
                    <a:pt x="33" y="89"/>
                    <a:pt x="56" y="64"/>
                  </a:cubicBezTo>
                  <a:cubicBezTo>
                    <a:pt x="77" y="41"/>
                    <a:pt x="129" y="2"/>
                    <a:pt x="143" y="1"/>
                  </a:cubicBezTo>
                  <a:cubicBezTo>
                    <a:pt x="151" y="0"/>
                    <a:pt x="152" y="0"/>
                    <a:pt x="152" y="6"/>
                  </a:cubicBezTo>
                  <a:cubicBezTo>
                    <a:pt x="152" y="13"/>
                    <a:pt x="152" y="13"/>
                    <a:pt x="158" y="13"/>
                  </a:cubicBezTo>
                  <a:cubicBezTo>
                    <a:pt x="164" y="13"/>
                    <a:pt x="165" y="14"/>
                    <a:pt x="165" y="20"/>
                  </a:cubicBezTo>
                  <a:cubicBezTo>
                    <a:pt x="165" y="26"/>
                    <a:pt x="166" y="27"/>
                    <a:pt x="172" y="27"/>
                  </a:cubicBezTo>
                  <a:cubicBezTo>
                    <a:pt x="177" y="27"/>
                    <a:pt x="178" y="27"/>
                    <a:pt x="178" y="32"/>
                  </a:cubicBezTo>
                  <a:cubicBezTo>
                    <a:pt x="178" y="37"/>
                    <a:pt x="179" y="38"/>
                    <a:pt x="190" y="38"/>
                  </a:cubicBezTo>
                  <a:cubicBezTo>
                    <a:pt x="202" y="38"/>
                    <a:pt x="203" y="38"/>
                    <a:pt x="203" y="44"/>
                  </a:cubicBezTo>
                  <a:cubicBezTo>
                    <a:pt x="203" y="50"/>
                    <a:pt x="203" y="51"/>
                    <a:pt x="209" y="51"/>
                  </a:cubicBezTo>
                  <a:cubicBezTo>
                    <a:pt x="215" y="51"/>
                    <a:pt x="216" y="52"/>
                    <a:pt x="216" y="58"/>
                  </a:cubicBezTo>
                  <a:cubicBezTo>
                    <a:pt x="216" y="63"/>
                    <a:pt x="217" y="64"/>
                    <a:pt x="221" y="64"/>
                  </a:cubicBezTo>
                  <a:cubicBezTo>
                    <a:pt x="226" y="64"/>
                    <a:pt x="227" y="65"/>
                    <a:pt x="227" y="70"/>
                  </a:cubicBezTo>
                  <a:cubicBezTo>
                    <a:pt x="227" y="75"/>
                    <a:pt x="227" y="75"/>
                    <a:pt x="240" y="75"/>
                  </a:cubicBezTo>
                  <a:cubicBezTo>
                    <a:pt x="253" y="75"/>
                    <a:pt x="253" y="75"/>
                    <a:pt x="253" y="82"/>
                  </a:cubicBezTo>
                  <a:cubicBezTo>
                    <a:pt x="253" y="88"/>
                    <a:pt x="254" y="88"/>
                    <a:pt x="261" y="89"/>
                  </a:cubicBezTo>
                  <a:cubicBezTo>
                    <a:pt x="266" y="89"/>
                    <a:pt x="263" y="91"/>
                    <a:pt x="245" y="99"/>
                  </a:cubicBezTo>
                  <a:cubicBezTo>
                    <a:pt x="204" y="116"/>
                    <a:pt x="138" y="149"/>
                    <a:pt x="117" y="163"/>
                  </a:cubicBezTo>
                  <a:cubicBezTo>
                    <a:pt x="106" y="171"/>
                    <a:pt x="88" y="185"/>
                    <a:pt x="77" y="194"/>
                  </a:cubicBezTo>
                  <a:cubicBezTo>
                    <a:pt x="66" y="204"/>
                    <a:pt x="56" y="212"/>
                    <a:pt x="55" y="212"/>
                  </a:cubicBezTo>
                  <a:cubicBezTo>
                    <a:pt x="54" y="212"/>
                    <a:pt x="52" y="213"/>
                    <a:pt x="52" y="214"/>
                  </a:cubicBezTo>
                  <a:cubicBezTo>
                    <a:pt x="51" y="215"/>
                    <a:pt x="43" y="219"/>
                    <a:pt x="33" y="223"/>
                  </a:cubicBezTo>
                  <a:cubicBezTo>
                    <a:pt x="20" y="228"/>
                    <a:pt x="14" y="229"/>
                    <a:pt x="10" y="227"/>
                  </a:cubicBezTo>
                  <a:close/>
                  <a:moveTo>
                    <a:pt x="28" y="193"/>
                  </a:moveTo>
                  <a:cubicBezTo>
                    <a:pt x="28" y="189"/>
                    <a:pt x="27" y="188"/>
                    <a:pt x="22" y="188"/>
                  </a:cubicBezTo>
                  <a:cubicBezTo>
                    <a:pt x="18" y="188"/>
                    <a:pt x="17" y="189"/>
                    <a:pt x="17" y="193"/>
                  </a:cubicBezTo>
                  <a:cubicBezTo>
                    <a:pt x="17" y="198"/>
                    <a:pt x="18" y="199"/>
                    <a:pt x="22" y="199"/>
                  </a:cubicBezTo>
                  <a:cubicBezTo>
                    <a:pt x="27" y="199"/>
                    <a:pt x="28" y="198"/>
                    <a:pt x="28" y="193"/>
                  </a:cubicBezTo>
                  <a:close/>
                  <a:moveTo>
                    <a:pt x="141" y="94"/>
                  </a:moveTo>
                  <a:cubicBezTo>
                    <a:pt x="141" y="89"/>
                    <a:pt x="140" y="88"/>
                    <a:pt x="134" y="88"/>
                  </a:cubicBezTo>
                  <a:cubicBezTo>
                    <a:pt x="128" y="88"/>
                    <a:pt x="127" y="89"/>
                    <a:pt x="127" y="94"/>
                  </a:cubicBezTo>
                  <a:cubicBezTo>
                    <a:pt x="127" y="99"/>
                    <a:pt x="128" y="100"/>
                    <a:pt x="134" y="100"/>
                  </a:cubicBezTo>
                  <a:cubicBezTo>
                    <a:pt x="140" y="100"/>
                    <a:pt x="141" y="99"/>
                    <a:pt x="141" y="94"/>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53" name="Freeform 15"/>
            <p:cNvSpPr>
              <a:spLocks/>
            </p:cNvSpPr>
            <p:nvPr/>
          </p:nvSpPr>
          <p:spPr bwMode="auto">
            <a:xfrm>
              <a:off x="5192713" y="4157663"/>
              <a:ext cx="57150" cy="149225"/>
            </a:xfrm>
            <a:custGeom>
              <a:avLst/>
              <a:gdLst>
                <a:gd name="T0" fmla="*/ 0 w 154"/>
                <a:gd name="T1" fmla="*/ 398 h 398"/>
                <a:gd name="T2" fmla="*/ 1 w 154"/>
                <a:gd name="T3" fmla="*/ 333 h 398"/>
                <a:gd name="T4" fmla="*/ 46 w 154"/>
                <a:gd name="T5" fmla="*/ 203 h 398"/>
                <a:gd name="T6" fmla="*/ 73 w 154"/>
                <a:gd name="T7" fmla="*/ 102 h 398"/>
                <a:gd name="T8" fmla="*/ 108 w 154"/>
                <a:gd name="T9" fmla="*/ 16 h 398"/>
                <a:gd name="T10" fmla="*/ 137 w 154"/>
                <a:gd name="T11" fmla="*/ 0 h 398"/>
                <a:gd name="T12" fmla="*/ 154 w 154"/>
                <a:gd name="T13" fmla="*/ 95 h 398"/>
                <a:gd name="T14" fmla="*/ 82 w 154"/>
                <a:gd name="T15" fmla="*/ 276 h 398"/>
                <a:gd name="T16" fmla="*/ 38 w 154"/>
                <a:gd name="T17" fmla="*/ 350 h 398"/>
                <a:gd name="T18" fmla="*/ 0 w 154"/>
                <a:gd name="T19" fmla="*/ 39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398">
                  <a:moveTo>
                    <a:pt x="0" y="398"/>
                  </a:moveTo>
                  <a:lnTo>
                    <a:pt x="1" y="333"/>
                  </a:lnTo>
                  <a:lnTo>
                    <a:pt x="46" y="203"/>
                  </a:lnTo>
                  <a:lnTo>
                    <a:pt x="73" y="102"/>
                  </a:lnTo>
                  <a:lnTo>
                    <a:pt x="108" y="16"/>
                  </a:lnTo>
                  <a:lnTo>
                    <a:pt x="137" y="0"/>
                  </a:lnTo>
                  <a:lnTo>
                    <a:pt x="154" y="95"/>
                  </a:lnTo>
                  <a:lnTo>
                    <a:pt x="82" y="276"/>
                  </a:lnTo>
                  <a:lnTo>
                    <a:pt x="38" y="350"/>
                  </a:lnTo>
                  <a:lnTo>
                    <a:pt x="0" y="398"/>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54" name="Freeform 16"/>
            <p:cNvSpPr>
              <a:spLocks/>
            </p:cNvSpPr>
            <p:nvPr/>
          </p:nvSpPr>
          <p:spPr bwMode="auto">
            <a:xfrm>
              <a:off x="4908550" y="4219575"/>
              <a:ext cx="280988" cy="111125"/>
            </a:xfrm>
            <a:custGeom>
              <a:avLst/>
              <a:gdLst>
                <a:gd name="T0" fmla="*/ 751 w 751"/>
                <a:gd name="T1" fmla="*/ 278 h 296"/>
                <a:gd name="T2" fmla="*/ 137 w 751"/>
                <a:gd name="T3" fmla="*/ 0 h 296"/>
                <a:gd name="T4" fmla="*/ 0 w 751"/>
                <a:gd name="T5" fmla="*/ 296 h 296"/>
                <a:gd name="T6" fmla="*/ 751 w 751"/>
                <a:gd name="T7" fmla="*/ 278 h 296"/>
              </a:gdLst>
              <a:ahLst/>
              <a:cxnLst>
                <a:cxn ang="0">
                  <a:pos x="T0" y="T1"/>
                </a:cxn>
                <a:cxn ang="0">
                  <a:pos x="T2" y="T3"/>
                </a:cxn>
                <a:cxn ang="0">
                  <a:pos x="T4" y="T5"/>
                </a:cxn>
                <a:cxn ang="0">
                  <a:pos x="T6" y="T7"/>
                </a:cxn>
              </a:cxnLst>
              <a:rect l="0" t="0" r="r" b="b"/>
              <a:pathLst>
                <a:path w="751" h="296">
                  <a:moveTo>
                    <a:pt x="751" y="278"/>
                  </a:moveTo>
                  <a:lnTo>
                    <a:pt x="137" y="0"/>
                  </a:lnTo>
                  <a:lnTo>
                    <a:pt x="0" y="296"/>
                  </a:lnTo>
                  <a:lnTo>
                    <a:pt x="751" y="278"/>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5" name="Freeform 17"/>
            <p:cNvSpPr>
              <a:spLocks/>
            </p:cNvSpPr>
            <p:nvPr/>
          </p:nvSpPr>
          <p:spPr bwMode="auto">
            <a:xfrm>
              <a:off x="4859338" y="4230688"/>
              <a:ext cx="334963" cy="93663"/>
            </a:xfrm>
            <a:custGeom>
              <a:avLst/>
              <a:gdLst>
                <a:gd name="T0" fmla="*/ 894 w 898"/>
                <a:gd name="T1" fmla="*/ 221 h 251"/>
                <a:gd name="T2" fmla="*/ 266 w 898"/>
                <a:gd name="T3" fmla="*/ 0 h 251"/>
                <a:gd name="T4" fmla="*/ 134 w 898"/>
                <a:gd name="T5" fmla="*/ 247 h 251"/>
                <a:gd name="T6" fmla="*/ 894 w 898"/>
                <a:gd name="T7" fmla="*/ 221 h 251"/>
              </a:gdLst>
              <a:ahLst/>
              <a:cxnLst>
                <a:cxn ang="0">
                  <a:pos x="T0" y="T1"/>
                </a:cxn>
                <a:cxn ang="0">
                  <a:pos x="T2" y="T3"/>
                </a:cxn>
                <a:cxn ang="0">
                  <a:pos x="T4" y="T5"/>
                </a:cxn>
                <a:cxn ang="0">
                  <a:pos x="T6" y="T7"/>
                </a:cxn>
              </a:cxnLst>
              <a:rect l="0" t="0" r="r" b="b"/>
              <a:pathLst>
                <a:path w="898" h="251">
                  <a:moveTo>
                    <a:pt x="894" y="221"/>
                  </a:moveTo>
                  <a:cubicBezTo>
                    <a:pt x="898" y="251"/>
                    <a:pt x="266" y="0"/>
                    <a:pt x="266" y="0"/>
                  </a:cubicBezTo>
                  <a:cubicBezTo>
                    <a:pt x="0" y="41"/>
                    <a:pt x="97" y="150"/>
                    <a:pt x="134" y="247"/>
                  </a:cubicBezTo>
                  <a:lnTo>
                    <a:pt x="894" y="221"/>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6" name="Freeform 18"/>
            <p:cNvSpPr>
              <a:spLocks/>
            </p:cNvSpPr>
            <p:nvPr/>
          </p:nvSpPr>
          <p:spPr bwMode="auto">
            <a:xfrm>
              <a:off x="5102225" y="4124325"/>
              <a:ext cx="98425" cy="117475"/>
            </a:xfrm>
            <a:custGeom>
              <a:avLst/>
              <a:gdLst>
                <a:gd name="T0" fmla="*/ 9 w 265"/>
                <a:gd name="T1" fmla="*/ 0 h 314"/>
                <a:gd name="T2" fmla="*/ 265 w 265"/>
                <a:gd name="T3" fmla="*/ 163 h 314"/>
                <a:gd name="T4" fmla="*/ 0 w 265"/>
                <a:gd name="T5" fmla="*/ 314 h 314"/>
              </a:gdLst>
              <a:ahLst/>
              <a:cxnLst>
                <a:cxn ang="0">
                  <a:pos x="T0" y="T1"/>
                </a:cxn>
                <a:cxn ang="0">
                  <a:pos x="T2" y="T3"/>
                </a:cxn>
                <a:cxn ang="0">
                  <a:pos x="T4" y="T5"/>
                </a:cxn>
              </a:cxnLst>
              <a:rect l="0" t="0" r="r" b="b"/>
              <a:pathLst>
                <a:path w="265" h="314">
                  <a:moveTo>
                    <a:pt x="9" y="0"/>
                  </a:moveTo>
                  <a:cubicBezTo>
                    <a:pt x="40" y="305"/>
                    <a:pt x="265" y="163"/>
                    <a:pt x="265" y="163"/>
                  </a:cubicBezTo>
                  <a:lnTo>
                    <a:pt x="0" y="314"/>
                  </a:lnTo>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7" name="Freeform 23"/>
            <p:cNvSpPr>
              <a:spLocks/>
            </p:cNvSpPr>
            <p:nvPr/>
          </p:nvSpPr>
          <p:spPr bwMode="auto">
            <a:xfrm>
              <a:off x="4903788" y="4159250"/>
              <a:ext cx="349250" cy="163513"/>
            </a:xfrm>
            <a:custGeom>
              <a:avLst/>
              <a:gdLst>
                <a:gd name="T0" fmla="*/ 746 w 932"/>
                <a:gd name="T1" fmla="*/ 384 h 437"/>
                <a:gd name="T2" fmla="*/ 145 w 932"/>
                <a:gd name="T3" fmla="*/ 150 h 437"/>
                <a:gd name="T4" fmla="*/ 0 w 932"/>
                <a:gd name="T5" fmla="*/ 437 h 437"/>
                <a:gd name="T6" fmla="*/ 742 w 932"/>
                <a:gd name="T7" fmla="*/ 433 h 437"/>
                <a:gd name="T8" fmla="*/ 932 w 932"/>
                <a:gd name="T9" fmla="*/ 0 h 437"/>
                <a:gd name="T10" fmla="*/ 875 w 932"/>
                <a:gd name="T11" fmla="*/ 0 h 437"/>
                <a:gd name="T12" fmla="*/ 746 w 932"/>
                <a:gd name="T13" fmla="*/ 384 h 437"/>
              </a:gdLst>
              <a:ahLst/>
              <a:cxnLst>
                <a:cxn ang="0">
                  <a:pos x="T0" y="T1"/>
                </a:cxn>
                <a:cxn ang="0">
                  <a:pos x="T2" y="T3"/>
                </a:cxn>
                <a:cxn ang="0">
                  <a:pos x="T4" y="T5"/>
                </a:cxn>
                <a:cxn ang="0">
                  <a:pos x="T6" y="T7"/>
                </a:cxn>
                <a:cxn ang="0">
                  <a:pos x="T8" y="T9"/>
                </a:cxn>
                <a:cxn ang="0">
                  <a:pos x="T10" y="T11"/>
                </a:cxn>
                <a:cxn ang="0">
                  <a:pos x="T12" y="T13"/>
                </a:cxn>
              </a:cxnLst>
              <a:rect l="0" t="0" r="r" b="b"/>
              <a:pathLst>
                <a:path w="932" h="437">
                  <a:moveTo>
                    <a:pt x="746" y="384"/>
                  </a:moveTo>
                  <a:lnTo>
                    <a:pt x="145" y="150"/>
                  </a:lnTo>
                  <a:lnTo>
                    <a:pt x="0" y="437"/>
                  </a:lnTo>
                  <a:lnTo>
                    <a:pt x="742" y="433"/>
                  </a:lnTo>
                  <a:lnTo>
                    <a:pt x="932" y="0"/>
                  </a:lnTo>
                  <a:lnTo>
                    <a:pt x="875" y="0"/>
                  </a:lnTo>
                  <a:lnTo>
                    <a:pt x="746" y="384"/>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8" name="Freeform 24"/>
            <p:cNvSpPr>
              <a:spLocks noEditPoints="1"/>
            </p:cNvSpPr>
            <p:nvPr/>
          </p:nvSpPr>
          <p:spPr bwMode="auto">
            <a:xfrm>
              <a:off x="4892675" y="4146550"/>
              <a:ext cx="363538" cy="187325"/>
            </a:xfrm>
            <a:custGeom>
              <a:avLst/>
              <a:gdLst>
                <a:gd name="T0" fmla="*/ 929 w 973"/>
                <a:gd name="T1" fmla="*/ 14 h 501"/>
                <a:gd name="T2" fmla="*/ 916 w 973"/>
                <a:gd name="T3" fmla="*/ 14 h 501"/>
                <a:gd name="T4" fmla="*/ 897 w 973"/>
                <a:gd name="T5" fmla="*/ 76 h 501"/>
                <a:gd name="T6" fmla="*/ 871 w 973"/>
                <a:gd name="T7" fmla="*/ 134 h 501"/>
                <a:gd name="T8" fmla="*/ 860 w 973"/>
                <a:gd name="T9" fmla="*/ 165 h 501"/>
                <a:gd name="T10" fmla="*/ 845 w 973"/>
                <a:gd name="T11" fmla="*/ 200 h 501"/>
                <a:gd name="T12" fmla="*/ 839 w 973"/>
                <a:gd name="T13" fmla="*/ 214 h 501"/>
                <a:gd name="T14" fmla="*/ 772 w 973"/>
                <a:gd name="T15" fmla="*/ 417 h 501"/>
                <a:gd name="T16" fmla="*/ 190 w 973"/>
                <a:gd name="T17" fmla="*/ 188 h 501"/>
                <a:gd name="T18" fmla="*/ 173 w 973"/>
                <a:gd name="T19" fmla="*/ 190 h 501"/>
                <a:gd name="T20" fmla="*/ 162 w 973"/>
                <a:gd name="T21" fmla="*/ 195 h 501"/>
                <a:gd name="T22" fmla="*/ 43 w 973"/>
                <a:gd name="T23" fmla="*/ 302 h 501"/>
                <a:gd name="T24" fmla="*/ 9 w 973"/>
                <a:gd name="T25" fmla="*/ 471 h 501"/>
                <a:gd name="T26" fmla="*/ 21 w 973"/>
                <a:gd name="T27" fmla="*/ 490 h 501"/>
                <a:gd name="T28" fmla="*/ 38 w 973"/>
                <a:gd name="T29" fmla="*/ 497 h 501"/>
                <a:gd name="T30" fmla="*/ 72 w 973"/>
                <a:gd name="T31" fmla="*/ 497 h 501"/>
                <a:gd name="T32" fmla="*/ 769 w 973"/>
                <a:gd name="T33" fmla="*/ 496 h 501"/>
                <a:gd name="T34" fmla="*/ 776 w 973"/>
                <a:gd name="T35" fmla="*/ 500 h 501"/>
                <a:gd name="T36" fmla="*/ 784 w 973"/>
                <a:gd name="T37" fmla="*/ 498 h 501"/>
                <a:gd name="T38" fmla="*/ 819 w 973"/>
                <a:gd name="T39" fmla="*/ 484 h 501"/>
                <a:gd name="T40" fmla="*/ 826 w 973"/>
                <a:gd name="T41" fmla="*/ 482 h 501"/>
                <a:gd name="T42" fmla="*/ 830 w 973"/>
                <a:gd name="T43" fmla="*/ 475 h 501"/>
                <a:gd name="T44" fmla="*/ 929 w 973"/>
                <a:gd name="T45" fmla="*/ 232 h 501"/>
                <a:gd name="T46" fmla="*/ 973 w 973"/>
                <a:gd name="T47" fmla="*/ 56 h 501"/>
                <a:gd name="T48" fmla="*/ 973 w 973"/>
                <a:gd name="T49" fmla="*/ 50 h 501"/>
                <a:gd name="T50" fmla="*/ 969 w 973"/>
                <a:gd name="T51" fmla="*/ 45 h 501"/>
                <a:gd name="T52" fmla="*/ 944 w 973"/>
                <a:gd name="T53" fmla="*/ 19 h 501"/>
                <a:gd name="T54" fmla="*/ 929 w 973"/>
                <a:gd name="T55" fmla="*/ 14 h 501"/>
                <a:gd name="T56" fmla="*/ 925 w 973"/>
                <a:gd name="T57" fmla="*/ 52 h 501"/>
                <a:gd name="T58" fmla="*/ 934 w 973"/>
                <a:gd name="T59" fmla="*/ 62 h 501"/>
                <a:gd name="T60" fmla="*/ 894 w 973"/>
                <a:gd name="T61" fmla="*/ 219 h 501"/>
                <a:gd name="T62" fmla="*/ 808 w 973"/>
                <a:gd name="T63" fmla="*/ 404 h 501"/>
                <a:gd name="T64" fmla="*/ 914 w 973"/>
                <a:gd name="T65" fmla="*/ 64 h 501"/>
                <a:gd name="T66" fmla="*/ 925 w 973"/>
                <a:gd name="T67" fmla="*/ 52 h 501"/>
                <a:gd name="T68" fmla="*/ 195 w 973"/>
                <a:gd name="T69" fmla="*/ 229 h 501"/>
                <a:gd name="T70" fmla="*/ 781 w 973"/>
                <a:gd name="T71" fmla="*/ 460 h 501"/>
                <a:gd name="T72" fmla="*/ 62 w 973"/>
                <a:gd name="T73" fmla="*/ 461 h 501"/>
                <a:gd name="T74" fmla="*/ 48 w 973"/>
                <a:gd name="T75" fmla="*/ 457 h 501"/>
                <a:gd name="T76" fmla="*/ 46 w 973"/>
                <a:gd name="T77" fmla="*/ 443 h 501"/>
                <a:gd name="T78" fmla="*/ 76 w 973"/>
                <a:gd name="T79" fmla="*/ 325 h 501"/>
                <a:gd name="T80" fmla="*/ 180 w 973"/>
                <a:gd name="T81" fmla="*/ 232 h 501"/>
                <a:gd name="T82" fmla="*/ 195 w 973"/>
                <a:gd name="T83" fmla="*/ 22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3" h="501">
                  <a:moveTo>
                    <a:pt x="929" y="14"/>
                  </a:moveTo>
                  <a:cubicBezTo>
                    <a:pt x="923" y="13"/>
                    <a:pt x="921" y="13"/>
                    <a:pt x="916" y="14"/>
                  </a:cubicBezTo>
                  <a:cubicBezTo>
                    <a:pt x="919" y="0"/>
                    <a:pt x="909" y="36"/>
                    <a:pt x="897" y="76"/>
                  </a:cubicBezTo>
                  <a:cubicBezTo>
                    <a:pt x="890" y="92"/>
                    <a:pt x="888" y="94"/>
                    <a:pt x="871" y="134"/>
                  </a:cubicBezTo>
                  <a:cubicBezTo>
                    <a:pt x="871" y="136"/>
                    <a:pt x="868" y="147"/>
                    <a:pt x="860" y="165"/>
                  </a:cubicBezTo>
                  <a:cubicBezTo>
                    <a:pt x="853" y="182"/>
                    <a:pt x="853" y="182"/>
                    <a:pt x="845" y="200"/>
                  </a:cubicBezTo>
                  <a:cubicBezTo>
                    <a:pt x="843" y="206"/>
                    <a:pt x="841" y="208"/>
                    <a:pt x="839" y="214"/>
                  </a:cubicBezTo>
                  <a:cubicBezTo>
                    <a:pt x="815" y="271"/>
                    <a:pt x="799" y="355"/>
                    <a:pt x="772" y="417"/>
                  </a:cubicBezTo>
                  <a:cubicBezTo>
                    <a:pt x="550" y="244"/>
                    <a:pt x="299" y="174"/>
                    <a:pt x="190" y="188"/>
                  </a:cubicBezTo>
                  <a:lnTo>
                    <a:pt x="173" y="190"/>
                  </a:lnTo>
                  <a:lnTo>
                    <a:pt x="162" y="195"/>
                  </a:lnTo>
                  <a:cubicBezTo>
                    <a:pt x="98" y="236"/>
                    <a:pt x="72" y="257"/>
                    <a:pt x="43" y="302"/>
                  </a:cubicBezTo>
                  <a:cubicBezTo>
                    <a:pt x="13" y="347"/>
                    <a:pt x="0" y="415"/>
                    <a:pt x="9" y="471"/>
                  </a:cubicBezTo>
                  <a:cubicBezTo>
                    <a:pt x="10" y="480"/>
                    <a:pt x="16" y="486"/>
                    <a:pt x="21" y="490"/>
                  </a:cubicBezTo>
                  <a:cubicBezTo>
                    <a:pt x="27" y="494"/>
                    <a:pt x="32" y="496"/>
                    <a:pt x="38" y="497"/>
                  </a:cubicBezTo>
                  <a:cubicBezTo>
                    <a:pt x="49" y="500"/>
                    <a:pt x="60" y="501"/>
                    <a:pt x="72" y="497"/>
                  </a:cubicBezTo>
                  <a:cubicBezTo>
                    <a:pt x="451" y="389"/>
                    <a:pt x="636" y="424"/>
                    <a:pt x="769" y="496"/>
                  </a:cubicBezTo>
                  <a:lnTo>
                    <a:pt x="776" y="500"/>
                  </a:lnTo>
                  <a:lnTo>
                    <a:pt x="784" y="498"/>
                  </a:lnTo>
                  <a:lnTo>
                    <a:pt x="819" y="484"/>
                  </a:lnTo>
                  <a:lnTo>
                    <a:pt x="826" y="482"/>
                  </a:lnTo>
                  <a:lnTo>
                    <a:pt x="830" y="475"/>
                  </a:lnTo>
                  <a:cubicBezTo>
                    <a:pt x="844" y="404"/>
                    <a:pt x="903" y="304"/>
                    <a:pt x="929" y="232"/>
                  </a:cubicBezTo>
                  <a:cubicBezTo>
                    <a:pt x="955" y="160"/>
                    <a:pt x="971" y="101"/>
                    <a:pt x="973" y="56"/>
                  </a:cubicBezTo>
                  <a:lnTo>
                    <a:pt x="973" y="50"/>
                  </a:lnTo>
                  <a:lnTo>
                    <a:pt x="969" y="45"/>
                  </a:lnTo>
                  <a:cubicBezTo>
                    <a:pt x="961" y="33"/>
                    <a:pt x="953" y="25"/>
                    <a:pt x="944" y="19"/>
                  </a:cubicBezTo>
                  <a:cubicBezTo>
                    <a:pt x="939" y="16"/>
                    <a:pt x="934" y="15"/>
                    <a:pt x="929" y="14"/>
                  </a:cubicBezTo>
                  <a:close/>
                  <a:moveTo>
                    <a:pt x="925" y="52"/>
                  </a:moveTo>
                  <a:cubicBezTo>
                    <a:pt x="926" y="52"/>
                    <a:pt x="930" y="58"/>
                    <a:pt x="934" y="62"/>
                  </a:cubicBezTo>
                  <a:cubicBezTo>
                    <a:pt x="932" y="98"/>
                    <a:pt x="918" y="152"/>
                    <a:pt x="894" y="219"/>
                  </a:cubicBezTo>
                  <a:cubicBezTo>
                    <a:pt x="875" y="271"/>
                    <a:pt x="835" y="342"/>
                    <a:pt x="808" y="404"/>
                  </a:cubicBezTo>
                  <a:cubicBezTo>
                    <a:pt x="884" y="192"/>
                    <a:pt x="903" y="119"/>
                    <a:pt x="914" y="64"/>
                  </a:cubicBezTo>
                  <a:cubicBezTo>
                    <a:pt x="920" y="58"/>
                    <a:pt x="925" y="52"/>
                    <a:pt x="925" y="52"/>
                  </a:cubicBezTo>
                  <a:close/>
                  <a:moveTo>
                    <a:pt x="195" y="229"/>
                  </a:moveTo>
                  <a:cubicBezTo>
                    <a:pt x="449" y="256"/>
                    <a:pt x="675" y="359"/>
                    <a:pt x="781" y="460"/>
                  </a:cubicBezTo>
                  <a:cubicBezTo>
                    <a:pt x="641" y="391"/>
                    <a:pt x="287" y="369"/>
                    <a:pt x="62" y="461"/>
                  </a:cubicBezTo>
                  <a:cubicBezTo>
                    <a:pt x="59" y="462"/>
                    <a:pt x="53" y="458"/>
                    <a:pt x="48" y="457"/>
                  </a:cubicBezTo>
                  <a:cubicBezTo>
                    <a:pt x="47" y="452"/>
                    <a:pt x="46" y="443"/>
                    <a:pt x="46" y="443"/>
                  </a:cubicBezTo>
                  <a:cubicBezTo>
                    <a:pt x="40" y="397"/>
                    <a:pt x="52" y="362"/>
                    <a:pt x="76" y="325"/>
                  </a:cubicBezTo>
                  <a:cubicBezTo>
                    <a:pt x="100" y="288"/>
                    <a:pt x="122" y="269"/>
                    <a:pt x="180" y="232"/>
                  </a:cubicBezTo>
                  <a:lnTo>
                    <a:pt x="195" y="229"/>
                  </a:lnTo>
                  <a:close/>
                </a:path>
              </a:pathLst>
            </a:custGeom>
            <a:solidFill>
              <a:srgbClr val="6A8C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59" name="Freeform 25"/>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60" name="Freeform 26"/>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61" name="Freeform 27"/>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62" name="Freeform 28"/>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63" name="Freeform 29"/>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64" name="Freeform 30"/>
            <p:cNvSpPr>
              <a:spLocks noEditPoints="1"/>
            </p:cNvSpPr>
            <p:nvPr/>
          </p:nvSpPr>
          <p:spPr bwMode="auto">
            <a:xfrm>
              <a:off x="4862513" y="3951288"/>
              <a:ext cx="515938" cy="815975"/>
            </a:xfrm>
            <a:custGeom>
              <a:avLst/>
              <a:gdLst>
                <a:gd name="T0" fmla="*/ 376 w 1378"/>
                <a:gd name="T1" fmla="*/ 1494 h 2181"/>
                <a:gd name="T2" fmla="*/ 280 w 1378"/>
                <a:gd name="T3" fmla="*/ 1703 h 2181"/>
                <a:gd name="T4" fmla="*/ 53 w 1378"/>
                <a:gd name="T5" fmla="*/ 2056 h 2181"/>
                <a:gd name="T6" fmla="*/ 133 w 1378"/>
                <a:gd name="T7" fmla="*/ 1049 h 2181"/>
                <a:gd name="T8" fmla="*/ 100 w 1378"/>
                <a:gd name="T9" fmla="*/ 1009 h 2181"/>
                <a:gd name="T10" fmla="*/ 184 w 1378"/>
                <a:gd name="T11" fmla="*/ 759 h 2181"/>
                <a:gd name="T12" fmla="*/ 246 w 1378"/>
                <a:gd name="T13" fmla="*/ 691 h 2181"/>
                <a:gd name="T14" fmla="*/ 444 w 1378"/>
                <a:gd name="T15" fmla="*/ 90 h 2181"/>
                <a:gd name="T16" fmla="*/ 992 w 1378"/>
                <a:gd name="T17" fmla="*/ 337 h 2181"/>
                <a:gd name="T18" fmla="*/ 1004 w 1378"/>
                <a:gd name="T19" fmla="*/ 538 h 2181"/>
                <a:gd name="T20" fmla="*/ 1059 w 1378"/>
                <a:gd name="T21" fmla="*/ 509 h 2181"/>
                <a:gd name="T22" fmla="*/ 1347 w 1378"/>
                <a:gd name="T23" fmla="*/ 0 h 2181"/>
                <a:gd name="T24" fmla="*/ 1378 w 1378"/>
                <a:gd name="T25" fmla="*/ 9 h 2181"/>
                <a:gd name="T26" fmla="*/ 1202 w 1378"/>
                <a:gd name="T27" fmla="*/ 344 h 2181"/>
                <a:gd name="T28" fmla="*/ 1022 w 1378"/>
                <a:gd name="T29" fmla="*/ 709 h 2181"/>
                <a:gd name="T30" fmla="*/ 881 w 1378"/>
                <a:gd name="T31" fmla="*/ 1011 h 2181"/>
                <a:gd name="T32" fmla="*/ 581 w 1378"/>
                <a:gd name="T33" fmla="*/ 950 h 2181"/>
                <a:gd name="T34" fmla="*/ 143 w 1378"/>
                <a:gd name="T35" fmla="*/ 1112 h 2181"/>
                <a:gd name="T36" fmla="*/ 136 w 1378"/>
                <a:gd name="T37" fmla="*/ 2068 h 2181"/>
                <a:gd name="T38" fmla="*/ 281 w 1378"/>
                <a:gd name="T39" fmla="*/ 1522 h 2181"/>
                <a:gd name="T40" fmla="*/ 464 w 1378"/>
                <a:gd name="T41" fmla="*/ 2034 h 2181"/>
                <a:gd name="T42" fmla="*/ 431 w 1378"/>
                <a:gd name="T43" fmla="*/ 2181 h 2181"/>
                <a:gd name="T44" fmla="*/ 192 w 1378"/>
                <a:gd name="T45" fmla="*/ 959 h 2181"/>
                <a:gd name="T46" fmla="*/ 416 w 1378"/>
                <a:gd name="T47" fmla="*/ 830 h 2181"/>
                <a:gd name="T48" fmla="*/ 275 w 1378"/>
                <a:gd name="T49" fmla="*/ 751 h 2181"/>
                <a:gd name="T50" fmla="*/ 124 w 1378"/>
                <a:gd name="T51" fmla="*/ 969 h 2181"/>
                <a:gd name="T52" fmla="*/ 160 w 1378"/>
                <a:gd name="T53" fmla="*/ 977 h 2181"/>
                <a:gd name="T54" fmla="*/ 390 w 1378"/>
                <a:gd name="T55" fmla="*/ 768 h 2181"/>
                <a:gd name="T56" fmla="*/ 455 w 1378"/>
                <a:gd name="T57" fmla="*/ 822 h 2181"/>
                <a:gd name="T58" fmla="*/ 255 w 1378"/>
                <a:gd name="T59" fmla="*/ 947 h 2181"/>
                <a:gd name="T60" fmla="*/ 692 w 1378"/>
                <a:gd name="T61" fmla="*/ 933 h 2181"/>
                <a:gd name="T62" fmla="*/ 834 w 1378"/>
                <a:gd name="T63" fmla="*/ 965 h 2181"/>
                <a:gd name="T64" fmla="*/ 922 w 1378"/>
                <a:gd name="T65" fmla="*/ 740 h 2181"/>
                <a:gd name="T66" fmla="*/ 848 w 1378"/>
                <a:gd name="T67" fmla="*/ 769 h 2181"/>
                <a:gd name="T68" fmla="*/ 891 w 1378"/>
                <a:gd name="T69" fmla="*/ 202 h 2181"/>
                <a:gd name="T70" fmla="*/ 249 w 1378"/>
                <a:gd name="T71" fmla="*/ 540 h 2181"/>
                <a:gd name="T72" fmla="*/ 349 w 1378"/>
                <a:gd name="T73" fmla="*/ 713 h 2181"/>
                <a:gd name="T74" fmla="*/ 864 w 1378"/>
                <a:gd name="T75" fmla="*/ 911 h 2181"/>
                <a:gd name="T76" fmla="*/ 1003 w 1378"/>
                <a:gd name="T77" fmla="*/ 643 h 2181"/>
                <a:gd name="T78" fmla="*/ 963 w 1378"/>
                <a:gd name="T79" fmla="*/ 712 h 2181"/>
                <a:gd name="T80" fmla="*/ 929 w 1378"/>
                <a:gd name="T81" fmla="*/ 847 h 2181"/>
                <a:gd name="T82" fmla="*/ 997 w 1378"/>
                <a:gd name="T83" fmla="*/ 579 h 2181"/>
                <a:gd name="T84" fmla="*/ 993 w 1378"/>
                <a:gd name="T85" fmla="*/ 601 h 2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78" h="2181">
                  <a:moveTo>
                    <a:pt x="429" y="2044"/>
                  </a:moveTo>
                  <a:cubicBezTo>
                    <a:pt x="428" y="1893"/>
                    <a:pt x="424" y="1765"/>
                    <a:pt x="421" y="1714"/>
                  </a:cubicBezTo>
                  <a:cubicBezTo>
                    <a:pt x="413" y="1590"/>
                    <a:pt x="398" y="1516"/>
                    <a:pt x="376" y="1494"/>
                  </a:cubicBezTo>
                  <a:cubicBezTo>
                    <a:pt x="368" y="1486"/>
                    <a:pt x="357" y="1490"/>
                    <a:pt x="341" y="1506"/>
                  </a:cubicBezTo>
                  <a:cubicBezTo>
                    <a:pt x="327" y="1522"/>
                    <a:pt x="316" y="1542"/>
                    <a:pt x="306" y="1572"/>
                  </a:cubicBezTo>
                  <a:cubicBezTo>
                    <a:pt x="295" y="1602"/>
                    <a:pt x="290" y="1627"/>
                    <a:pt x="280" y="1703"/>
                  </a:cubicBezTo>
                  <a:cubicBezTo>
                    <a:pt x="245" y="1953"/>
                    <a:pt x="237" y="1993"/>
                    <a:pt x="215" y="2041"/>
                  </a:cubicBezTo>
                  <a:cubicBezTo>
                    <a:pt x="193" y="2087"/>
                    <a:pt x="172" y="2106"/>
                    <a:pt x="136" y="2110"/>
                  </a:cubicBezTo>
                  <a:cubicBezTo>
                    <a:pt x="99" y="2115"/>
                    <a:pt x="73" y="2097"/>
                    <a:pt x="53" y="2056"/>
                  </a:cubicBezTo>
                  <a:cubicBezTo>
                    <a:pt x="36" y="2020"/>
                    <a:pt x="27" y="1987"/>
                    <a:pt x="19" y="1936"/>
                  </a:cubicBezTo>
                  <a:cubicBezTo>
                    <a:pt x="8" y="1865"/>
                    <a:pt x="0" y="1711"/>
                    <a:pt x="2" y="1633"/>
                  </a:cubicBezTo>
                  <a:cubicBezTo>
                    <a:pt x="9" y="1417"/>
                    <a:pt x="55" y="1214"/>
                    <a:pt x="133" y="1049"/>
                  </a:cubicBezTo>
                  <a:cubicBezTo>
                    <a:pt x="141" y="1033"/>
                    <a:pt x="147" y="1020"/>
                    <a:pt x="147" y="1019"/>
                  </a:cubicBezTo>
                  <a:cubicBezTo>
                    <a:pt x="147" y="1019"/>
                    <a:pt x="144" y="1020"/>
                    <a:pt x="140" y="1020"/>
                  </a:cubicBezTo>
                  <a:cubicBezTo>
                    <a:pt x="127" y="1022"/>
                    <a:pt x="108" y="1016"/>
                    <a:pt x="100" y="1009"/>
                  </a:cubicBezTo>
                  <a:cubicBezTo>
                    <a:pt x="89" y="999"/>
                    <a:pt x="87" y="990"/>
                    <a:pt x="88" y="949"/>
                  </a:cubicBezTo>
                  <a:cubicBezTo>
                    <a:pt x="89" y="920"/>
                    <a:pt x="90" y="909"/>
                    <a:pt x="95" y="892"/>
                  </a:cubicBezTo>
                  <a:cubicBezTo>
                    <a:pt x="109" y="837"/>
                    <a:pt x="138" y="794"/>
                    <a:pt x="184" y="759"/>
                  </a:cubicBezTo>
                  <a:cubicBezTo>
                    <a:pt x="209" y="739"/>
                    <a:pt x="248" y="713"/>
                    <a:pt x="253" y="713"/>
                  </a:cubicBezTo>
                  <a:cubicBezTo>
                    <a:pt x="256" y="713"/>
                    <a:pt x="258" y="712"/>
                    <a:pt x="258" y="711"/>
                  </a:cubicBezTo>
                  <a:cubicBezTo>
                    <a:pt x="258" y="710"/>
                    <a:pt x="252" y="701"/>
                    <a:pt x="246" y="691"/>
                  </a:cubicBezTo>
                  <a:cubicBezTo>
                    <a:pt x="225" y="656"/>
                    <a:pt x="210" y="621"/>
                    <a:pt x="203" y="585"/>
                  </a:cubicBezTo>
                  <a:cubicBezTo>
                    <a:pt x="197" y="558"/>
                    <a:pt x="198" y="447"/>
                    <a:pt x="203" y="412"/>
                  </a:cubicBezTo>
                  <a:cubicBezTo>
                    <a:pt x="226" y="268"/>
                    <a:pt x="311" y="155"/>
                    <a:pt x="444" y="90"/>
                  </a:cubicBezTo>
                  <a:cubicBezTo>
                    <a:pt x="480" y="73"/>
                    <a:pt x="498" y="66"/>
                    <a:pt x="533" y="57"/>
                  </a:cubicBezTo>
                  <a:cubicBezTo>
                    <a:pt x="685" y="18"/>
                    <a:pt x="843" y="69"/>
                    <a:pt x="920" y="182"/>
                  </a:cubicBezTo>
                  <a:cubicBezTo>
                    <a:pt x="951" y="229"/>
                    <a:pt x="980" y="289"/>
                    <a:pt x="992" y="337"/>
                  </a:cubicBezTo>
                  <a:cubicBezTo>
                    <a:pt x="1002" y="376"/>
                    <a:pt x="1003" y="389"/>
                    <a:pt x="1003" y="438"/>
                  </a:cubicBezTo>
                  <a:cubicBezTo>
                    <a:pt x="1003" y="481"/>
                    <a:pt x="1001" y="499"/>
                    <a:pt x="994" y="532"/>
                  </a:cubicBezTo>
                  <a:cubicBezTo>
                    <a:pt x="993" y="537"/>
                    <a:pt x="994" y="538"/>
                    <a:pt x="1004" y="538"/>
                  </a:cubicBezTo>
                  <a:cubicBezTo>
                    <a:pt x="1012" y="538"/>
                    <a:pt x="1018" y="540"/>
                    <a:pt x="1022" y="543"/>
                  </a:cubicBezTo>
                  <a:cubicBezTo>
                    <a:pt x="1026" y="545"/>
                    <a:pt x="1030" y="548"/>
                    <a:pt x="1031" y="548"/>
                  </a:cubicBezTo>
                  <a:cubicBezTo>
                    <a:pt x="1032" y="548"/>
                    <a:pt x="1045" y="530"/>
                    <a:pt x="1059" y="509"/>
                  </a:cubicBezTo>
                  <a:cubicBezTo>
                    <a:pt x="1127" y="411"/>
                    <a:pt x="1152" y="367"/>
                    <a:pt x="1234" y="203"/>
                  </a:cubicBezTo>
                  <a:cubicBezTo>
                    <a:pt x="1295" y="80"/>
                    <a:pt x="1309" y="55"/>
                    <a:pt x="1333" y="20"/>
                  </a:cubicBezTo>
                  <a:lnTo>
                    <a:pt x="1347" y="0"/>
                  </a:lnTo>
                  <a:lnTo>
                    <a:pt x="1363" y="0"/>
                  </a:lnTo>
                  <a:lnTo>
                    <a:pt x="1378" y="0"/>
                  </a:lnTo>
                  <a:lnTo>
                    <a:pt x="1378" y="9"/>
                  </a:lnTo>
                  <a:cubicBezTo>
                    <a:pt x="1378" y="16"/>
                    <a:pt x="1376" y="21"/>
                    <a:pt x="1364" y="38"/>
                  </a:cubicBezTo>
                  <a:cubicBezTo>
                    <a:pt x="1342" y="68"/>
                    <a:pt x="1320" y="107"/>
                    <a:pt x="1270" y="209"/>
                  </a:cubicBezTo>
                  <a:cubicBezTo>
                    <a:pt x="1245" y="260"/>
                    <a:pt x="1214" y="321"/>
                    <a:pt x="1202" y="344"/>
                  </a:cubicBezTo>
                  <a:cubicBezTo>
                    <a:pt x="1164" y="415"/>
                    <a:pt x="1111" y="499"/>
                    <a:pt x="1068" y="556"/>
                  </a:cubicBezTo>
                  <a:cubicBezTo>
                    <a:pt x="1052" y="579"/>
                    <a:pt x="1051" y="580"/>
                    <a:pt x="1049" y="598"/>
                  </a:cubicBezTo>
                  <a:cubicBezTo>
                    <a:pt x="1045" y="628"/>
                    <a:pt x="1036" y="666"/>
                    <a:pt x="1022" y="709"/>
                  </a:cubicBezTo>
                  <a:cubicBezTo>
                    <a:pt x="1005" y="761"/>
                    <a:pt x="997" y="780"/>
                    <a:pt x="966" y="848"/>
                  </a:cubicBezTo>
                  <a:cubicBezTo>
                    <a:pt x="935" y="916"/>
                    <a:pt x="923" y="944"/>
                    <a:pt x="915" y="971"/>
                  </a:cubicBezTo>
                  <a:cubicBezTo>
                    <a:pt x="905" y="1004"/>
                    <a:pt x="907" y="1001"/>
                    <a:pt x="881" y="1011"/>
                  </a:cubicBezTo>
                  <a:cubicBezTo>
                    <a:pt x="869" y="1016"/>
                    <a:pt x="857" y="1020"/>
                    <a:pt x="856" y="1020"/>
                  </a:cubicBezTo>
                  <a:cubicBezTo>
                    <a:pt x="855" y="1020"/>
                    <a:pt x="845" y="1016"/>
                    <a:pt x="835" y="1011"/>
                  </a:cubicBezTo>
                  <a:cubicBezTo>
                    <a:pt x="755" y="971"/>
                    <a:pt x="681" y="953"/>
                    <a:pt x="581" y="950"/>
                  </a:cubicBezTo>
                  <a:cubicBezTo>
                    <a:pt x="475" y="947"/>
                    <a:pt x="352" y="965"/>
                    <a:pt x="206" y="1003"/>
                  </a:cubicBezTo>
                  <a:cubicBezTo>
                    <a:pt x="199" y="1005"/>
                    <a:pt x="196" y="1008"/>
                    <a:pt x="188" y="1021"/>
                  </a:cubicBezTo>
                  <a:cubicBezTo>
                    <a:pt x="177" y="1038"/>
                    <a:pt x="159" y="1074"/>
                    <a:pt x="143" y="1112"/>
                  </a:cubicBezTo>
                  <a:cubicBezTo>
                    <a:pt x="61" y="1312"/>
                    <a:pt x="25" y="1549"/>
                    <a:pt x="41" y="1783"/>
                  </a:cubicBezTo>
                  <a:cubicBezTo>
                    <a:pt x="49" y="1900"/>
                    <a:pt x="73" y="2004"/>
                    <a:pt x="101" y="2046"/>
                  </a:cubicBezTo>
                  <a:cubicBezTo>
                    <a:pt x="109" y="2058"/>
                    <a:pt x="125" y="2068"/>
                    <a:pt x="136" y="2068"/>
                  </a:cubicBezTo>
                  <a:cubicBezTo>
                    <a:pt x="155" y="2068"/>
                    <a:pt x="174" y="2049"/>
                    <a:pt x="187" y="2016"/>
                  </a:cubicBezTo>
                  <a:cubicBezTo>
                    <a:pt x="207" y="1965"/>
                    <a:pt x="215" y="1916"/>
                    <a:pt x="236" y="1734"/>
                  </a:cubicBezTo>
                  <a:cubicBezTo>
                    <a:pt x="250" y="1610"/>
                    <a:pt x="258" y="1570"/>
                    <a:pt x="281" y="1522"/>
                  </a:cubicBezTo>
                  <a:cubicBezTo>
                    <a:pt x="298" y="1487"/>
                    <a:pt x="324" y="1467"/>
                    <a:pt x="357" y="1460"/>
                  </a:cubicBezTo>
                  <a:cubicBezTo>
                    <a:pt x="393" y="1453"/>
                    <a:pt x="416" y="1475"/>
                    <a:pt x="432" y="1531"/>
                  </a:cubicBezTo>
                  <a:cubicBezTo>
                    <a:pt x="454" y="1611"/>
                    <a:pt x="461" y="1719"/>
                    <a:pt x="464" y="2034"/>
                  </a:cubicBezTo>
                  <a:lnTo>
                    <a:pt x="466" y="2181"/>
                  </a:lnTo>
                  <a:lnTo>
                    <a:pt x="448" y="2181"/>
                  </a:lnTo>
                  <a:lnTo>
                    <a:pt x="431" y="2181"/>
                  </a:lnTo>
                  <a:lnTo>
                    <a:pt x="429" y="2044"/>
                  </a:lnTo>
                  <a:close/>
                  <a:moveTo>
                    <a:pt x="160" y="977"/>
                  </a:moveTo>
                  <a:cubicBezTo>
                    <a:pt x="177" y="971"/>
                    <a:pt x="184" y="967"/>
                    <a:pt x="192" y="959"/>
                  </a:cubicBezTo>
                  <a:cubicBezTo>
                    <a:pt x="210" y="942"/>
                    <a:pt x="226" y="929"/>
                    <a:pt x="245" y="917"/>
                  </a:cubicBezTo>
                  <a:cubicBezTo>
                    <a:pt x="267" y="903"/>
                    <a:pt x="333" y="870"/>
                    <a:pt x="380" y="849"/>
                  </a:cubicBezTo>
                  <a:cubicBezTo>
                    <a:pt x="416" y="834"/>
                    <a:pt x="423" y="830"/>
                    <a:pt x="416" y="830"/>
                  </a:cubicBezTo>
                  <a:cubicBezTo>
                    <a:pt x="409" y="830"/>
                    <a:pt x="374" y="817"/>
                    <a:pt x="358" y="809"/>
                  </a:cubicBezTo>
                  <a:cubicBezTo>
                    <a:pt x="337" y="797"/>
                    <a:pt x="320" y="784"/>
                    <a:pt x="302" y="766"/>
                  </a:cubicBezTo>
                  <a:cubicBezTo>
                    <a:pt x="288" y="751"/>
                    <a:pt x="288" y="751"/>
                    <a:pt x="275" y="751"/>
                  </a:cubicBezTo>
                  <a:cubicBezTo>
                    <a:pt x="269" y="751"/>
                    <a:pt x="261" y="752"/>
                    <a:pt x="257" y="754"/>
                  </a:cubicBezTo>
                  <a:cubicBezTo>
                    <a:pt x="242" y="761"/>
                    <a:pt x="208" y="787"/>
                    <a:pt x="188" y="807"/>
                  </a:cubicBezTo>
                  <a:cubicBezTo>
                    <a:pt x="137" y="857"/>
                    <a:pt x="117" y="909"/>
                    <a:pt x="124" y="969"/>
                  </a:cubicBezTo>
                  <a:cubicBezTo>
                    <a:pt x="125" y="979"/>
                    <a:pt x="126" y="980"/>
                    <a:pt x="133" y="982"/>
                  </a:cubicBezTo>
                  <a:cubicBezTo>
                    <a:pt x="136" y="984"/>
                    <a:pt x="139" y="985"/>
                    <a:pt x="139" y="985"/>
                  </a:cubicBezTo>
                  <a:cubicBezTo>
                    <a:pt x="139" y="985"/>
                    <a:pt x="149" y="982"/>
                    <a:pt x="160" y="977"/>
                  </a:cubicBezTo>
                  <a:close/>
                  <a:moveTo>
                    <a:pt x="834" y="965"/>
                  </a:moveTo>
                  <a:cubicBezTo>
                    <a:pt x="828" y="958"/>
                    <a:pt x="811" y="945"/>
                    <a:pt x="798" y="935"/>
                  </a:cubicBezTo>
                  <a:cubicBezTo>
                    <a:pt x="694" y="859"/>
                    <a:pt x="546" y="798"/>
                    <a:pt x="390" y="768"/>
                  </a:cubicBezTo>
                  <a:cubicBezTo>
                    <a:pt x="375" y="765"/>
                    <a:pt x="364" y="763"/>
                    <a:pt x="365" y="764"/>
                  </a:cubicBezTo>
                  <a:cubicBezTo>
                    <a:pt x="371" y="769"/>
                    <a:pt x="400" y="788"/>
                    <a:pt x="426" y="804"/>
                  </a:cubicBezTo>
                  <a:lnTo>
                    <a:pt x="455" y="822"/>
                  </a:lnTo>
                  <a:lnTo>
                    <a:pt x="480" y="821"/>
                  </a:lnTo>
                  <a:cubicBezTo>
                    <a:pt x="509" y="819"/>
                    <a:pt x="512" y="817"/>
                    <a:pt x="441" y="849"/>
                  </a:cubicBezTo>
                  <a:cubicBezTo>
                    <a:pt x="347" y="892"/>
                    <a:pt x="261" y="937"/>
                    <a:pt x="255" y="947"/>
                  </a:cubicBezTo>
                  <a:cubicBezTo>
                    <a:pt x="254" y="948"/>
                    <a:pt x="269" y="946"/>
                    <a:pt x="289" y="942"/>
                  </a:cubicBezTo>
                  <a:cubicBezTo>
                    <a:pt x="368" y="926"/>
                    <a:pt x="442" y="920"/>
                    <a:pt x="541" y="922"/>
                  </a:cubicBezTo>
                  <a:cubicBezTo>
                    <a:pt x="610" y="923"/>
                    <a:pt x="638" y="925"/>
                    <a:pt x="692" y="933"/>
                  </a:cubicBezTo>
                  <a:cubicBezTo>
                    <a:pt x="740" y="941"/>
                    <a:pt x="800" y="957"/>
                    <a:pt x="830" y="971"/>
                  </a:cubicBezTo>
                  <a:cubicBezTo>
                    <a:pt x="837" y="974"/>
                    <a:pt x="843" y="976"/>
                    <a:pt x="844" y="976"/>
                  </a:cubicBezTo>
                  <a:cubicBezTo>
                    <a:pt x="846" y="976"/>
                    <a:pt x="841" y="971"/>
                    <a:pt x="834" y="965"/>
                  </a:cubicBezTo>
                  <a:lnTo>
                    <a:pt x="834" y="965"/>
                  </a:lnTo>
                  <a:close/>
                  <a:moveTo>
                    <a:pt x="864" y="911"/>
                  </a:moveTo>
                  <a:cubicBezTo>
                    <a:pt x="875" y="884"/>
                    <a:pt x="919" y="754"/>
                    <a:pt x="922" y="740"/>
                  </a:cubicBezTo>
                  <a:cubicBezTo>
                    <a:pt x="923" y="732"/>
                    <a:pt x="923" y="733"/>
                    <a:pt x="902" y="752"/>
                  </a:cubicBezTo>
                  <a:cubicBezTo>
                    <a:pt x="865" y="788"/>
                    <a:pt x="811" y="834"/>
                    <a:pt x="808" y="832"/>
                  </a:cubicBezTo>
                  <a:cubicBezTo>
                    <a:pt x="808" y="831"/>
                    <a:pt x="826" y="803"/>
                    <a:pt x="848" y="769"/>
                  </a:cubicBezTo>
                  <a:cubicBezTo>
                    <a:pt x="923" y="657"/>
                    <a:pt x="939" y="625"/>
                    <a:pt x="953" y="568"/>
                  </a:cubicBezTo>
                  <a:cubicBezTo>
                    <a:pt x="971" y="497"/>
                    <a:pt x="972" y="414"/>
                    <a:pt x="955" y="347"/>
                  </a:cubicBezTo>
                  <a:cubicBezTo>
                    <a:pt x="942" y="298"/>
                    <a:pt x="915" y="236"/>
                    <a:pt x="891" y="202"/>
                  </a:cubicBezTo>
                  <a:cubicBezTo>
                    <a:pt x="832" y="120"/>
                    <a:pt x="730" y="78"/>
                    <a:pt x="615" y="88"/>
                  </a:cubicBezTo>
                  <a:cubicBezTo>
                    <a:pt x="459" y="101"/>
                    <a:pt x="342" y="185"/>
                    <a:pt x="281" y="327"/>
                  </a:cubicBezTo>
                  <a:cubicBezTo>
                    <a:pt x="254" y="391"/>
                    <a:pt x="243" y="462"/>
                    <a:pt x="249" y="540"/>
                  </a:cubicBezTo>
                  <a:cubicBezTo>
                    <a:pt x="253" y="602"/>
                    <a:pt x="265" y="636"/>
                    <a:pt x="299" y="687"/>
                  </a:cubicBezTo>
                  <a:cubicBezTo>
                    <a:pt x="311" y="706"/>
                    <a:pt x="315" y="709"/>
                    <a:pt x="320" y="710"/>
                  </a:cubicBezTo>
                  <a:cubicBezTo>
                    <a:pt x="324" y="710"/>
                    <a:pt x="337" y="712"/>
                    <a:pt x="349" y="713"/>
                  </a:cubicBezTo>
                  <a:cubicBezTo>
                    <a:pt x="488" y="729"/>
                    <a:pt x="679" y="813"/>
                    <a:pt x="824" y="921"/>
                  </a:cubicBezTo>
                  <a:cubicBezTo>
                    <a:pt x="838" y="931"/>
                    <a:pt x="850" y="938"/>
                    <a:pt x="851" y="938"/>
                  </a:cubicBezTo>
                  <a:cubicBezTo>
                    <a:pt x="852" y="938"/>
                    <a:pt x="858" y="925"/>
                    <a:pt x="864" y="911"/>
                  </a:cubicBezTo>
                  <a:close/>
                  <a:moveTo>
                    <a:pt x="929" y="847"/>
                  </a:moveTo>
                  <a:cubicBezTo>
                    <a:pt x="959" y="781"/>
                    <a:pt x="979" y="728"/>
                    <a:pt x="990" y="693"/>
                  </a:cubicBezTo>
                  <a:cubicBezTo>
                    <a:pt x="998" y="665"/>
                    <a:pt x="1004" y="643"/>
                    <a:pt x="1003" y="643"/>
                  </a:cubicBezTo>
                  <a:cubicBezTo>
                    <a:pt x="1003" y="643"/>
                    <a:pt x="996" y="651"/>
                    <a:pt x="987" y="661"/>
                  </a:cubicBezTo>
                  <a:lnTo>
                    <a:pt x="972" y="679"/>
                  </a:lnTo>
                  <a:lnTo>
                    <a:pt x="963" y="712"/>
                  </a:lnTo>
                  <a:cubicBezTo>
                    <a:pt x="955" y="738"/>
                    <a:pt x="907" y="887"/>
                    <a:pt x="897" y="913"/>
                  </a:cubicBezTo>
                  <a:cubicBezTo>
                    <a:pt x="896" y="916"/>
                    <a:pt x="896" y="917"/>
                    <a:pt x="898" y="916"/>
                  </a:cubicBezTo>
                  <a:cubicBezTo>
                    <a:pt x="899" y="914"/>
                    <a:pt x="913" y="884"/>
                    <a:pt x="929" y="847"/>
                  </a:cubicBezTo>
                  <a:close/>
                  <a:moveTo>
                    <a:pt x="1004" y="587"/>
                  </a:moveTo>
                  <a:cubicBezTo>
                    <a:pt x="1009" y="579"/>
                    <a:pt x="1009" y="578"/>
                    <a:pt x="1006" y="575"/>
                  </a:cubicBezTo>
                  <a:cubicBezTo>
                    <a:pt x="1004" y="572"/>
                    <a:pt x="1003" y="573"/>
                    <a:pt x="997" y="579"/>
                  </a:cubicBezTo>
                  <a:cubicBezTo>
                    <a:pt x="994" y="584"/>
                    <a:pt x="991" y="591"/>
                    <a:pt x="990" y="597"/>
                  </a:cubicBezTo>
                  <a:lnTo>
                    <a:pt x="989" y="606"/>
                  </a:lnTo>
                  <a:lnTo>
                    <a:pt x="993" y="601"/>
                  </a:lnTo>
                  <a:cubicBezTo>
                    <a:pt x="996" y="598"/>
                    <a:pt x="1000" y="591"/>
                    <a:pt x="1004" y="587"/>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65" name="Freeform 31"/>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66" name="Freeform 32"/>
            <p:cNvSpPr>
              <a:spLocks/>
            </p:cNvSpPr>
            <p:nvPr/>
          </p:nvSpPr>
          <p:spPr bwMode="auto">
            <a:xfrm>
              <a:off x="5294313" y="3776663"/>
              <a:ext cx="123825" cy="209550"/>
            </a:xfrm>
            <a:custGeom>
              <a:avLst/>
              <a:gdLst>
                <a:gd name="T0" fmla="*/ 228 w 331"/>
                <a:gd name="T1" fmla="*/ 533 h 559"/>
                <a:gd name="T2" fmla="*/ 330 w 331"/>
                <a:gd name="T3" fmla="*/ 471 h 559"/>
                <a:gd name="T4" fmla="*/ 275 w 331"/>
                <a:gd name="T5" fmla="*/ 230 h 559"/>
                <a:gd name="T6" fmla="*/ 267 w 331"/>
                <a:gd name="T7" fmla="*/ 30 h 559"/>
                <a:gd name="T8" fmla="*/ 159 w 331"/>
                <a:gd name="T9" fmla="*/ 37 h 559"/>
                <a:gd name="T10" fmla="*/ 210 w 331"/>
                <a:gd name="T11" fmla="*/ 116 h 559"/>
                <a:gd name="T12" fmla="*/ 136 w 331"/>
                <a:gd name="T13" fmla="*/ 165 h 559"/>
                <a:gd name="T14" fmla="*/ 81 w 331"/>
                <a:gd name="T15" fmla="*/ 91 h 559"/>
                <a:gd name="T16" fmla="*/ 180 w 331"/>
                <a:gd name="T17" fmla="*/ 294 h 559"/>
                <a:gd name="T18" fmla="*/ 228 w 331"/>
                <a:gd name="T19" fmla="*/ 533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1" h="559">
                  <a:moveTo>
                    <a:pt x="228" y="533"/>
                  </a:moveTo>
                  <a:cubicBezTo>
                    <a:pt x="228" y="533"/>
                    <a:pt x="315" y="559"/>
                    <a:pt x="330" y="471"/>
                  </a:cubicBezTo>
                  <a:cubicBezTo>
                    <a:pt x="331" y="463"/>
                    <a:pt x="275" y="230"/>
                    <a:pt x="275" y="230"/>
                  </a:cubicBezTo>
                  <a:cubicBezTo>
                    <a:pt x="327" y="137"/>
                    <a:pt x="304" y="55"/>
                    <a:pt x="267" y="30"/>
                  </a:cubicBezTo>
                  <a:cubicBezTo>
                    <a:pt x="223" y="0"/>
                    <a:pt x="159" y="37"/>
                    <a:pt x="159" y="37"/>
                  </a:cubicBezTo>
                  <a:lnTo>
                    <a:pt x="210" y="116"/>
                  </a:lnTo>
                  <a:lnTo>
                    <a:pt x="136" y="165"/>
                  </a:lnTo>
                  <a:lnTo>
                    <a:pt x="81" y="91"/>
                  </a:lnTo>
                  <a:cubicBezTo>
                    <a:pt x="37" y="144"/>
                    <a:pt x="0" y="301"/>
                    <a:pt x="180" y="294"/>
                  </a:cubicBezTo>
                  <a:lnTo>
                    <a:pt x="228" y="533"/>
                  </a:lnTo>
                  <a:close/>
                </a:path>
              </a:pathLst>
            </a:custGeom>
            <a:solidFill>
              <a:srgbClr val="A9B6AC"/>
            </a:solidFill>
            <a:ln w="14288" cap="flat">
              <a:solidFill>
                <a:srgbClr val="44575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grpSp>
    </p:spTree>
    <p:extLst>
      <p:ext uri="{BB962C8B-B14F-4D97-AF65-F5344CB8AC3E}">
        <p14:creationId xmlns:p14="http://schemas.microsoft.com/office/powerpoint/2010/main" val="31612640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 Building Applications</a:t>
            </a:r>
            <a:endParaRPr lang="en-CA" dirty="0"/>
          </a:p>
        </p:txBody>
      </p:sp>
      <p:sp>
        <p:nvSpPr>
          <p:cNvPr id="3" name="Content Placeholder 2"/>
          <p:cNvSpPr>
            <a:spLocks noGrp="1"/>
          </p:cNvSpPr>
          <p:nvPr>
            <p:ph idx="1"/>
          </p:nvPr>
        </p:nvSpPr>
        <p:spPr/>
        <p:txBody>
          <a:bodyPr/>
          <a:lstStyle/>
          <a:p>
            <a:r>
              <a:rPr lang="en-CA" dirty="0" smtClean="0"/>
              <a:t>Application developers use Spiffy library to build robust tools</a:t>
            </a:r>
            <a:br>
              <a:rPr lang="en-CA" dirty="0" smtClean="0"/>
            </a:br>
            <a:r>
              <a:rPr lang="en-CA" dirty="0" smtClean="0"/>
              <a:t>that work across file systems</a:t>
            </a:r>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9</a:t>
            </a:fld>
            <a:endParaRPr lang="en-CA" dirty="0"/>
          </a:p>
        </p:txBody>
      </p:sp>
      <p:grpSp>
        <p:nvGrpSpPr>
          <p:cNvPr id="91" name="Group 90"/>
          <p:cNvGrpSpPr/>
          <p:nvPr/>
        </p:nvGrpSpPr>
        <p:grpSpPr>
          <a:xfrm>
            <a:off x="8195402" y="3009900"/>
            <a:ext cx="1882875" cy="1978991"/>
            <a:chOff x="8681092" y="3099999"/>
            <a:chExt cx="1411173" cy="1715949"/>
          </a:xfrm>
          <a:solidFill>
            <a:srgbClr val="FFFF00"/>
          </a:solidFill>
          <a:effectLst/>
        </p:grpSpPr>
        <p:sp>
          <p:nvSpPr>
            <p:cNvPr id="94" name="Rectangle 93"/>
            <p:cNvSpPr/>
            <p:nvPr/>
          </p:nvSpPr>
          <p:spPr>
            <a:xfrm>
              <a:off x="8681092" y="3099999"/>
              <a:ext cx="1411173" cy="1075731"/>
            </a:xfrm>
            <a:prstGeom prst="rect">
              <a:avLst/>
            </a:prstGeom>
            <a:solidFill>
              <a:schemeClr val="accent5">
                <a:lumMod val="40000"/>
                <a:lumOff val="60000"/>
              </a:schemeClr>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bg1"/>
                  </a:solidFill>
                </a:rPr>
                <a:t>Generic Application</a:t>
              </a:r>
              <a:endParaRPr lang="en-CA" b="1" dirty="0">
                <a:solidFill>
                  <a:schemeClr val="bg1"/>
                </a:solidFill>
              </a:endParaRPr>
            </a:p>
          </p:txBody>
        </p:sp>
        <p:sp>
          <p:nvSpPr>
            <p:cNvPr id="95" name="Rectangle 94"/>
            <p:cNvSpPr/>
            <p:nvPr/>
          </p:nvSpPr>
          <p:spPr>
            <a:xfrm>
              <a:off x="8681092" y="4175730"/>
              <a:ext cx="1411173" cy="640218"/>
            </a:xfrm>
            <a:prstGeom prst="rect">
              <a:avLst/>
            </a:prstGeom>
            <a:solidFill>
              <a:schemeClr val="accent5">
                <a:lumMod val="40000"/>
                <a:lumOff val="60000"/>
              </a:schemeClr>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bg1"/>
                  </a:solidFill>
                </a:rPr>
                <a:t>File-System Specific Logic</a:t>
              </a:r>
              <a:endParaRPr lang="en-CA" b="1" dirty="0">
                <a:solidFill>
                  <a:schemeClr val="bg1"/>
                </a:solidFill>
              </a:endParaRPr>
            </a:p>
          </p:txBody>
        </p:sp>
      </p:grpSp>
      <p:sp>
        <p:nvSpPr>
          <p:cNvPr id="93" name="Right Arrow 92"/>
          <p:cNvSpPr/>
          <p:nvPr/>
        </p:nvSpPr>
        <p:spPr>
          <a:xfrm>
            <a:off x="7664594" y="3795046"/>
            <a:ext cx="316999" cy="230900"/>
          </a:xfrm>
          <a:prstGeom prst="rightArrow">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86" name="Rectangle 85"/>
          <p:cNvSpPr/>
          <p:nvPr/>
        </p:nvSpPr>
        <p:spPr>
          <a:xfrm>
            <a:off x="8428474" y="5141490"/>
            <a:ext cx="1411173" cy="472257"/>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dirty="0" err="1" smtClean="0">
                <a:solidFill>
                  <a:schemeClr val="bg1"/>
                </a:solidFill>
              </a:rPr>
              <a:t>ApplicationDeveloper</a:t>
            </a:r>
            <a:endParaRPr lang="en-CA" dirty="0">
              <a:solidFill>
                <a:schemeClr val="bg1"/>
              </a:solidFill>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61790" y="4891608"/>
            <a:ext cx="1219803" cy="1219846"/>
          </a:xfrm>
          <a:prstGeom prst="rect">
            <a:avLst/>
          </a:prstGeom>
        </p:spPr>
      </p:pic>
      <p:sp>
        <p:nvSpPr>
          <p:cNvPr id="46" name="Right Arrow 45"/>
          <p:cNvSpPr/>
          <p:nvPr/>
        </p:nvSpPr>
        <p:spPr>
          <a:xfrm>
            <a:off x="2974282" y="3778312"/>
            <a:ext cx="316999" cy="230900"/>
          </a:xfrm>
          <a:prstGeom prst="rightArrow">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47" name="Rounded Rectangle 46"/>
          <p:cNvSpPr/>
          <p:nvPr/>
        </p:nvSpPr>
        <p:spPr>
          <a:xfrm>
            <a:off x="3571768" y="3421506"/>
            <a:ext cx="1440000" cy="944513"/>
          </a:xfrm>
          <a:prstGeom prst="round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bg1"/>
                </a:solidFill>
              </a:rPr>
              <a:t>Spiffy Compiler</a:t>
            </a:r>
            <a:endParaRPr lang="en-CA" b="1" dirty="0">
              <a:solidFill>
                <a:schemeClr val="bg1"/>
              </a:solidFill>
            </a:endParaRPr>
          </a:p>
        </p:txBody>
      </p:sp>
      <p:grpSp>
        <p:nvGrpSpPr>
          <p:cNvPr id="48" name="Group 47"/>
          <p:cNvGrpSpPr/>
          <p:nvPr/>
        </p:nvGrpSpPr>
        <p:grpSpPr>
          <a:xfrm>
            <a:off x="5689716" y="3421506"/>
            <a:ext cx="1761066" cy="944513"/>
            <a:chOff x="6493933" y="3749526"/>
            <a:chExt cx="1761066" cy="944513"/>
          </a:xfrm>
          <a:noFill/>
          <a:effectLst/>
        </p:grpSpPr>
        <p:sp>
          <p:nvSpPr>
            <p:cNvPr id="49" name="Rectangle 48"/>
            <p:cNvSpPr/>
            <p:nvPr/>
          </p:nvSpPr>
          <p:spPr>
            <a:xfrm>
              <a:off x="6493933" y="3749526"/>
              <a:ext cx="1004159" cy="944513"/>
            </a:xfrm>
            <a:prstGeom prst="rect">
              <a:avLst/>
            </a:prstGeom>
            <a:grp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bg1"/>
                  </a:solidFill>
                  <a:effectLst/>
                </a:rPr>
                <a:t>Spiffy Library</a:t>
              </a:r>
              <a:endParaRPr lang="en-CA" b="1" dirty="0">
                <a:solidFill>
                  <a:schemeClr val="bg1"/>
                </a:solidFill>
                <a:effectLst/>
              </a:endParaRPr>
            </a:p>
          </p:txBody>
        </p:sp>
        <p:sp>
          <p:nvSpPr>
            <p:cNvPr id="50" name="Rectangle 49"/>
            <p:cNvSpPr/>
            <p:nvPr/>
          </p:nvSpPr>
          <p:spPr>
            <a:xfrm>
              <a:off x="7498092" y="3749526"/>
              <a:ext cx="756907" cy="944513"/>
            </a:xfrm>
            <a:prstGeom prst="rect">
              <a:avLst/>
            </a:prstGeom>
            <a:grp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bg1"/>
                  </a:solidFill>
                </a:rPr>
                <a:t>Spiffy API</a:t>
              </a:r>
              <a:endParaRPr lang="en-CA" b="1" dirty="0">
                <a:solidFill>
                  <a:schemeClr val="bg1"/>
                </a:solidFill>
              </a:endParaRPr>
            </a:p>
          </p:txBody>
        </p:sp>
      </p:grpSp>
      <p:sp>
        <p:nvSpPr>
          <p:cNvPr id="51" name="Right Arrow 50"/>
          <p:cNvSpPr/>
          <p:nvPr/>
        </p:nvSpPr>
        <p:spPr>
          <a:xfrm>
            <a:off x="5158905" y="3778312"/>
            <a:ext cx="316999" cy="230900"/>
          </a:xfrm>
          <a:prstGeom prst="rightArrow">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52" name="Rectangle 51"/>
          <p:cNvSpPr/>
          <p:nvPr/>
        </p:nvSpPr>
        <p:spPr>
          <a:xfrm>
            <a:off x="1349297" y="4791414"/>
            <a:ext cx="1411173" cy="472257"/>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dirty="0" smtClean="0">
                <a:solidFill>
                  <a:schemeClr val="bg1"/>
                </a:solidFill>
              </a:rPr>
              <a:t>File System Developer</a:t>
            </a:r>
            <a:endParaRPr lang="en-CA" dirty="0">
              <a:solidFill>
                <a:schemeClr val="bg1"/>
              </a:solidFill>
            </a:endParaRPr>
          </a:p>
        </p:txBody>
      </p:sp>
      <p:sp>
        <p:nvSpPr>
          <p:cNvPr id="53" name="Rectangle 52"/>
          <p:cNvSpPr/>
          <p:nvPr/>
        </p:nvSpPr>
        <p:spPr>
          <a:xfrm>
            <a:off x="1320470" y="3184147"/>
            <a:ext cx="1440000" cy="944513"/>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dirty="0" smtClean="0">
                <a:solidFill>
                  <a:schemeClr val="bg1"/>
                </a:solidFill>
              </a:rPr>
              <a:t>File </a:t>
            </a:r>
            <a:r>
              <a:rPr lang="en-CA" dirty="0">
                <a:solidFill>
                  <a:schemeClr val="bg1"/>
                </a:solidFill>
              </a:rPr>
              <a:t>System </a:t>
            </a:r>
            <a:r>
              <a:rPr lang="en-CA" dirty="0" smtClean="0">
                <a:solidFill>
                  <a:schemeClr val="bg1"/>
                </a:solidFill>
              </a:rPr>
              <a:t>Metadata Structures</a:t>
            </a:r>
            <a:endParaRPr lang="en-CA" dirty="0">
              <a:solidFill>
                <a:schemeClr val="bg1"/>
              </a:solidFill>
            </a:endParaRPr>
          </a:p>
        </p:txBody>
      </p:sp>
      <p:sp>
        <p:nvSpPr>
          <p:cNvPr id="54" name="Rectangle 53"/>
          <p:cNvSpPr/>
          <p:nvPr/>
        </p:nvSpPr>
        <p:spPr>
          <a:xfrm>
            <a:off x="1320470" y="4131121"/>
            <a:ext cx="1440000" cy="472257"/>
          </a:xfrm>
          <a:prstGeom prst="rect">
            <a:avLst/>
          </a:prstGeom>
          <a:no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46800" rIns="0" bIns="46800" rtlCol="0" anchor="ctr"/>
          <a:lstStyle/>
          <a:p>
            <a:pPr algn="ctr"/>
            <a:r>
              <a:rPr lang="en-CA" b="1" dirty="0" smtClean="0">
                <a:solidFill>
                  <a:schemeClr val="bg1"/>
                </a:solidFill>
                <a:effectLst/>
              </a:rPr>
              <a:t>Annotations</a:t>
            </a:r>
            <a:endParaRPr lang="en-CA" b="1" dirty="0">
              <a:solidFill>
                <a:schemeClr val="bg1"/>
              </a:solidFill>
              <a:effectLst/>
            </a:endParaRPr>
          </a:p>
        </p:txBody>
      </p:sp>
      <p:grpSp>
        <p:nvGrpSpPr>
          <p:cNvPr id="55" name="Group 54"/>
          <p:cNvGrpSpPr/>
          <p:nvPr/>
        </p:nvGrpSpPr>
        <p:grpSpPr>
          <a:xfrm>
            <a:off x="2799312" y="4644061"/>
            <a:ext cx="598488" cy="1292225"/>
            <a:chOff x="4859338" y="3776663"/>
            <a:chExt cx="598488" cy="1292225"/>
          </a:xfrm>
        </p:grpSpPr>
        <p:sp>
          <p:nvSpPr>
            <p:cNvPr id="56" name="Freeform 5"/>
            <p:cNvSpPr>
              <a:spLocks/>
            </p:cNvSpPr>
            <p:nvPr/>
          </p:nvSpPr>
          <p:spPr bwMode="auto">
            <a:xfrm>
              <a:off x="4868863" y="3917950"/>
              <a:ext cx="581025" cy="1139825"/>
            </a:xfrm>
            <a:custGeom>
              <a:avLst/>
              <a:gdLst>
                <a:gd name="T0" fmla="*/ 250 w 1553"/>
                <a:gd name="T1" fmla="*/ 791 h 3047"/>
                <a:gd name="T2" fmla="*/ 194 w 1553"/>
                <a:gd name="T3" fmla="*/ 572 h 3047"/>
                <a:gd name="T4" fmla="*/ 262 w 1553"/>
                <a:gd name="T5" fmla="*/ 325 h 3047"/>
                <a:gd name="T6" fmla="*/ 447 w 1553"/>
                <a:gd name="T7" fmla="*/ 175 h 3047"/>
                <a:gd name="T8" fmla="*/ 678 w 1553"/>
                <a:gd name="T9" fmla="*/ 141 h 3047"/>
                <a:gd name="T10" fmla="*/ 837 w 1553"/>
                <a:gd name="T11" fmla="*/ 216 h 3047"/>
                <a:gd name="T12" fmla="*/ 950 w 1553"/>
                <a:gd name="T13" fmla="*/ 378 h 3047"/>
                <a:gd name="T14" fmla="*/ 959 w 1553"/>
                <a:gd name="T15" fmla="*/ 585 h 3047"/>
                <a:gd name="T16" fmla="*/ 884 w 1553"/>
                <a:gd name="T17" fmla="*/ 816 h 3047"/>
                <a:gd name="T18" fmla="*/ 950 w 1553"/>
                <a:gd name="T19" fmla="*/ 797 h 3047"/>
                <a:gd name="T20" fmla="*/ 1344 w 1553"/>
                <a:gd name="T21" fmla="*/ 85 h 3047"/>
                <a:gd name="T22" fmla="*/ 1516 w 1553"/>
                <a:gd name="T23" fmla="*/ 0 h 3047"/>
                <a:gd name="T24" fmla="*/ 1553 w 1553"/>
                <a:gd name="T25" fmla="*/ 175 h 3047"/>
                <a:gd name="T26" fmla="*/ 1312 w 1553"/>
                <a:gd name="T27" fmla="*/ 807 h 3047"/>
                <a:gd name="T28" fmla="*/ 1253 w 1553"/>
                <a:gd name="T29" fmla="*/ 925 h 3047"/>
                <a:gd name="T30" fmla="*/ 1209 w 1553"/>
                <a:gd name="T31" fmla="*/ 1241 h 3047"/>
                <a:gd name="T32" fmla="*/ 1237 w 1553"/>
                <a:gd name="T33" fmla="*/ 1753 h 3047"/>
                <a:gd name="T34" fmla="*/ 1300 w 1553"/>
                <a:gd name="T35" fmla="*/ 2266 h 3047"/>
                <a:gd name="T36" fmla="*/ 1303 w 1553"/>
                <a:gd name="T37" fmla="*/ 2460 h 3047"/>
                <a:gd name="T38" fmla="*/ 1272 w 1553"/>
                <a:gd name="T39" fmla="*/ 2791 h 3047"/>
                <a:gd name="T40" fmla="*/ 1209 w 1553"/>
                <a:gd name="T41" fmla="*/ 2978 h 3047"/>
                <a:gd name="T42" fmla="*/ 1128 w 1553"/>
                <a:gd name="T43" fmla="*/ 3047 h 3047"/>
                <a:gd name="T44" fmla="*/ 1028 w 1553"/>
                <a:gd name="T45" fmla="*/ 2957 h 3047"/>
                <a:gd name="T46" fmla="*/ 981 w 1553"/>
                <a:gd name="T47" fmla="*/ 2769 h 3047"/>
                <a:gd name="T48" fmla="*/ 978 w 1553"/>
                <a:gd name="T49" fmla="*/ 2491 h 3047"/>
                <a:gd name="T50" fmla="*/ 956 w 1553"/>
                <a:gd name="T51" fmla="*/ 2272 h 3047"/>
                <a:gd name="T52" fmla="*/ 884 w 1553"/>
                <a:gd name="T53" fmla="*/ 2166 h 3047"/>
                <a:gd name="T54" fmla="*/ 847 w 1553"/>
                <a:gd name="T55" fmla="*/ 2135 h 3047"/>
                <a:gd name="T56" fmla="*/ 803 w 1553"/>
                <a:gd name="T57" fmla="*/ 2313 h 3047"/>
                <a:gd name="T58" fmla="*/ 750 w 1553"/>
                <a:gd name="T59" fmla="*/ 2635 h 3047"/>
                <a:gd name="T60" fmla="*/ 716 w 1553"/>
                <a:gd name="T61" fmla="*/ 2778 h 3047"/>
                <a:gd name="T62" fmla="*/ 681 w 1553"/>
                <a:gd name="T63" fmla="*/ 2919 h 3047"/>
                <a:gd name="T64" fmla="*/ 634 w 1553"/>
                <a:gd name="T65" fmla="*/ 3025 h 3047"/>
                <a:gd name="T66" fmla="*/ 559 w 1553"/>
                <a:gd name="T67" fmla="*/ 3044 h 3047"/>
                <a:gd name="T68" fmla="*/ 484 w 1553"/>
                <a:gd name="T69" fmla="*/ 2985 h 3047"/>
                <a:gd name="T70" fmla="*/ 437 w 1553"/>
                <a:gd name="T71" fmla="*/ 2744 h 3047"/>
                <a:gd name="T72" fmla="*/ 425 w 1553"/>
                <a:gd name="T73" fmla="*/ 2382 h 3047"/>
                <a:gd name="T74" fmla="*/ 422 w 1553"/>
                <a:gd name="T75" fmla="*/ 2047 h 3047"/>
                <a:gd name="T76" fmla="*/ 419 w 1553"/>
                <a:gd name="T77" fmla="*/ 1722 h 3047"/>
                <a:gd name="T78" fmla="*/ 375 w 1553"/>
                <a:gd name="T79" fmla="*/ 1572 h 3047"/>
                <a:gd name="T80" fmla="*/ 316 w 1553"/>
                <a:gd name="T81" fmla="*/ 1538 h 3047"/>
                <a:gd name="T82" fmla="*/ 259 w 1553"/>
                <a:gd name="T83" fmla="*/ 1710 h 3047"/>
                <a:gd name="T84" fmla="*/ 212 w 1553"/>
                <a:gd name="T85" fmla="*/ 1985 h 3047"/>
                <a:gd name="T86" fmla="*/ 169 w 1553"/>
                <a:gd name="T87" fmla="*/ 2150 h 3047"/>
                <a:gd name="T88" fmla="*/ 106 w 1553"/>
                <a:gd name="T89" fmla="*/ 2188 h 3047"/>
                <a:gd name="T90" fmla="*/ 41 w 1553"/>
                <a:gd name="T91" fmla="*/ 2085 h 3047"/>
                <a:gd name="T92" fmla="*/ 0 w 1553"/>
                <a:gd name="T93" fmla="*/ 1810 h 3047"/>
                <a:gd name="T94" fmla="*/ 37 w 1553"/>
                <a:gd name="T95" fmla="*/ 1428 h 3047"/>
                <a:gd name="T96" fmla="*/ 137 w 1553"/>
                <a:gd name="T97" fmla="*/ 1116 h 3047"/>
                <a:gd name="T98" fmla="*/ 306 w 1553"/>
                <a:gd name="T99" fmla="*/ 922 h 3047"/>
                <a:gd name="T100" fmla="*/ 250 w 1553"/>
                <a:gd name="T101" fmla="*/ 791 h 3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53" h="3047">
                  <a:moveTo>
                    <a:pt x="250" y="791"/>
                  </a:moveTo>
                  <a:lnTo>
                    <a:pt x="194" y="572"/>
                  </a:lnTo>
                  <a:lnTo>
                    <a:pt x="262" y="325"/>
                  </a:lnTo>
                  <a:lnTo>
                    <a:pt x="447" y="175"/>
                  </a:lnTo>
                  <a:lnTo>
                    <a:pt x="678" y="141"/>
                  </a:lnTo>
                  <a:lnTo>
                    <a:pt x="837" y="216"/>
                  </a:lnTo>
                  <a:lnTo>
                    <a:pt x="950" y="378"/>
                  </a:lnTo>
                  <a:lnTo>
                    <a:pt x="959" y="585"/>
                  </a:lnTo>
                  <a:lnTo>
                    <a:pt x="884" y="816"/>
                  </a:lnTo>
                  <a:lnTo>
                    <a:pt x="950" y="797"/>
                  </a:lnTo>
                  <a:lnTo>
                    <a:pt x="1344" y="85"/>
                  </a:lnTo>
                  <a:lnTo>
                    <a:pt x="1516" y="0"/>
                  </a:lnTo>
                  <a:lnTo>
                    <a:pt x="1553" y="175"/>
                  </a:lnTo>
                  <a:lnTo>
                    <a:pt x="1312" y="807"/>
                  </a:lnTo>
                  <a:cubicBezTo>
                    <a:pt x="1312" y="807"/>
                    <a:pt x="1253" y="913"/>
                    <a:pt x="1253" y="925"/>
                  </a:cubicBezTo>
                  <a:cubicBezTo>
                    <a:pt x="1253" y="938"/>
                    <a:pt x="1209" y="1241"/>
                    <a:pt x="1209" y="1241"/>
                  </a:cubicBezTo>
                  <a:lnTo>
                    <a:pt x="1237" y="1753"/>
                  </a:lnTo>
                  <a:lnTo>
                    <a:pt x="1300" y="2266"/>
                  </a:lnTo>
                  <a:cubicBezTo>
                    <a:pt x="1300" y="2266"/>
                    <a:pt x="1316" y="2428"/>
                    <a:pt x="1303" y="2460"/>
                  </a:cubicBezTo>
                  <a:cubicBezTo>
                    <a:pt x="1291" y="2491"/>
                    <a:pt x="1272" y="2791"/>
                    <a:pt x="1272" y="2791"/>
                  </a:cubicBezTo>
                  <a:lnTo>
                    <a:pt x="1209" y="2978"/>
                  </a:lnTo>
                  <a:lnTo>
                    <a:pt x="1128" y="3047"/>
                  </a:lnTo>
                  <a:lnTo>
                    <a:pt x="1028" y="2957"/>
                  </a:lnTo>
                  <a:lnTo>
                    <a:pt x="981" y="2769"/>
                  </a:lnTo>
                  <a:lnTo>
                    <a:pt x="978" y="2491"/>
                  </a:lnTo>
                  <a:lnTo>
                    <a:pt x="956" y="2272"/>
                  </a:lnTo>
                  <a:lnTo>
                    <a:pt x="884" y="2166"/>
                  </a:lnTo>
                  <a:lnTo>
                    <a:pt x="847" y="2135"/>
                  </a:lnTo>
                  <a:lnTo>
                    <a:pt x="803" y="2313"/>
                  </a:lnTo>
                  <a:lnTo>
                    <a:pt x="750" y="2635"/>
                  </a:lnTo>
                  <a:lnTo>
                    <a:pt x="716" y="2778"/>
                  </a:lnTo>
                  <a:lnTo>
                    <a:pt x="681" y="2919"/>
                  </a:lnTo>
                  <a:lnTo>
                    <a:pt x="634" y="3025"/>
                  </a:lnTo>
                  <a:lnTo>
                    <a:pt x="559" y="3044"/>
                  </a:lnTo>
                  <a:lnTo>
                    <a:pt x="484" y="2985"/>
                  </a:lnTo>
                  <a:lnTo>
                    <a:pt x="437" y="2744"/>
                  </a:lnTo>
                  <a:lnTo>
                    <a:pt x="425" y="2382"/>
                  </a:lnTo>
                  <a:lnTo>
                    <a:pt x="422" y="2047"/>
                  </a:lnTo>
                  <a:lnTo>
                    <a:pt x="419" y="1722"/>
                  </a:lnTo>
                  <a:lnTo>
                    <a:pt x="375" y="1572"/>
                  </a:lnTo>
                  <a:lnTo>
                    <a:pt x="316" y="1538"/>
                  </a:lnTo>
                  <a:lnTo>
                    <a:pt x="259" y="1710"/>
                  </a:lnTo>
                  <a:lnTo>
                    <a:pt x="212" y="1985"/>
                  </a:lnTo>
                  <a:lnTo>
                    <a:pt x="169" y="2150"/>
                  </a:lnTo>
                  <a:lnTo>
                    <a:pt x="106" y="2188"/>
                  </a:lnTo>
                  <a:lnTo>
                    <a:pt x="41" y="2085"/>
                  </a:lnTo>
                  <a:lnTo>
                    <a:pt x="0" y="1810"/>
                  </a:lnTo>
                  <a:lnTo>
                    <a:pt x="37" y="1428"/>
                  </a:lnTo>
                  <a:lnTo>
                    <a:pt x="137" y="1116"/>
                  </a:lnTo>
                  <a:lnTo>
                    <a:pt x="306" y="922"/>
                  </a:lnTo>
                  <a:lnTo>
                    <a:pt x="250" y="791"/>
                  </a:lnTo>
                  <a:close/>
                </a:path>
              </a:pathLst>
            </a:custGeom>
            <a:solidFill>
              <a:srgbClr val="5353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57" name="Freeform 6"/>
            <p:cNvSpPr>
              <a:spLocks/>
            </p:cNvSpPr>
            <p:nvPr/>
          </p:nvSpPr>
          <p:spPr bwMode="auto">
            <a:xfrm>
              <a:off x="4872038" y="4038600"/>
              <a:ext cx="533400" cy="652463"/>
            </a:xfrm>
            <a:custGeom>
              <a:avLst/>
              <a:gdLst>
                <a:gd name="T0" fmla="*/ 163 w 1427"/>
                <a:gd name="T1" fmla="*/ 769 h 1747"/>
                <a:gd name="T2" fmla="*/ 93 w 1427"/>
                <a:gd name="T3" fmla="*/ 901 h 1747"/>
                <a:gd name="T4" fmla="*/ 35 w 1427"/>
                <a:gd name="T5" fmla="*/ 1087 h 1747"/>
                <a:gd name="T6" fmla="*/ 0 w 1427"/>
                <a:gd name="T7" fmla="*/ 1286 h 1747"/>
                <a:gd name="T8" fmla="*/ 0 w 1427"/>
                <a:gd name="T9" fmla="*/ 1586 h 1747"/>
                <a:gd name="T10" fmla="*/ 212 w 1427"/>
                <a:gd name="T11" fmla="*/ 1662 h 1747"/>
                <a:gd name="T12" fmla="*/ 247 w 1427"/>
                <a:gd name="T13" fmla="*/ 1379 h 1747"/>
                <a:gd name="T14" fmla="*/ 287 w 1427"/>
                <a:gd name="T15" fmla="*/ 1273 h 1747"/>
                <a:gd name="T16" fmla="*/ 336 w 1427"/>
                <a:gd name="T17" fmla="*/ 1220 h 1747"/>
                <a:gd name="T18" fmla="*/ 389 w 1427"/>
                <a:gd name="T19" fmla="*/ 1277 h 1747"/>
                <a:gd name="T20" fmla="*/ 429 w 1427"/>
                <a:gd name="T21" fmla="*/ 1432 h 1747"/>
                <a:gd name="T22" fmla="*/ 420 w 1427"/>
                <a:gd name="T23" fmla="*/ 1684 h 1747"/>
                <a:gd name="T24" fmla="*/ 420 w 1427"/>
                <a:gd name="T25" fmla="*/ 1723 h 1747"/>
                <a:gd name="T26" fmla="*/ 579 w 1427"/>
                <a:gd name="T27" fmla="*/ 1723 h 1747"/>
                <a:gd name="T28" fmla="*/ 1096 w 1427"/>
                <a:gd name="T29" fmla="*/ 1547 h 1747"/>
                <a:gd name="T30" fmla="*/ 1255 w 1427"/>
                <a:gd name="T31" fmla="*/ 1520 h 1747"/>
                <a:gd name="T32" fmla="*/ 1206 w 1427"/>
                <a:gd name="T33" fmla="*/ 1193 h 1747"/>
                <a:gd name="T34" fmla="*/ 1206 w 1427"/>
                <a:gd name="T35" fmla="*/ 879 h 1747"/>
                <a:gd name="T36" fmla="*/ 1233 w 1427"/>
                <a:gd name="T37" fmla="*/ 632 h 1747"/>
                <a:gd name="T38" fmla="*/ 1357 w 1427"/>
                <a:gd name="T39" fmla="*/ 376 h 1747"/>
                <a:gd name="T40" fmla="*/ 1427 w 1427"/>
                <a:gd name="T41" fmla="*/ 194 h 1747"/>
                <a:gd name="T42" fmla="*/ 1206 w 1427"/>
                <a:gd name="T43" fmla="*/ 0 h 1747"/>
                <a:gd name="T44" fmla="*/ 1096 w 1427"/>
                <a:gd name="T45" fmla="*/ 208 h 1747"/>
                <a:gd name="T46" fmla="*/ 1021 w 1427"/>
                <a:gd name="T47" fmla="*/ 305 h 1747"/>
                <a:gd name="T48" fmla="*/ 981 w 1427"/>
                <a:gd name="T49" fmla="*/ 437 h 1747"/>
                <a:gd name="T50" fmla="*/ 862 w 1427"/>
                <a:gd name="T51" fmla="*/ 729 h 1747"/>
                <a:gd name="T52" fmla="*/ 451 w 1427"/>
                <a:gd name="T53" fmla="*/ 654 h 1747"/>
                <a:gd name="T54" fmla="*/ 163 w 1427"/>
                <a:gd name="T55" fmla="*/ 769 h 1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7" h="1747">
                  <a:moveTo>
                    <a:pt x="163" y="769"/>
                  </a:moveTo>
                  <a:lnTo>
                    <a:pt x="93" y="901"/>
                  </a:lnTo>
                  <a:lnTo>
                    <a:pt x="35" y="1087"/>
                  </a:lnTo>
                  <a:lnTo>
                    <a:pt x="0" y="1286"/>
                  </a:lnTo>
                  <a:lnTo>
                    <a:pt x="0" y="1586"/>
                  </a:lnTo>
                  <a:cubicBezTo>
                    <a:pt x="96" y="1655"/>
                    <a:pt x="147" y="1646"/>
                    <a:pt x="212" y="1662"/>
                  </a:cubicBezTo>
                  <a:lnTo>
                    <a:pt x="247" y="1379"/>
                  </a:lnTo>
                  <a:lnTo>
                    <a:pt x="287" y="1273"/>
                  </a:lnTo>
                  <a:lnTo>
                    <a:pt x="336" y="1220"/>
                  </a:lnTo>
                  <a:lnTo>
                    <a:pt x="389" y="1277"/>
                  </a:lnTo>
                  <a:lnTo>
                    <a:pt x="429" y="1432"/>
                  </a:lnTo>
                  <a:lnTo>
                    <a:pt x="420" y="1684"/>
                  </a:lnTo>
                  <a:lnTo>
                    <a:pt x="420" y="1723"/>
                  </a:lnTo>
                  <a:cubicBezTo>
                    <a:pt x="492" y="1747"/>
                    <a:pt x="532" y="1737"/>
                    <a:pt x="579" y="1723"/>
                  </a:cubicBezTo>
                  <a:cubicBezTo>
                    <a:pt x="756" y="1649"/>
                    <a:pt x="936" y="1579"/>
                    <a:pt x="1096" y="1547"/>
                  </a:cubicBezTo>
                  <a:cubicBezTo>
                    <a:pt x="1145" y="1538"/>
                    <a:pt x="1113" y="1536"/>
                    <a:pt x="1255" y="1520"/>
                  </a:cubicBezTo>
                  <a:lnTo>
                    <a:pt x="1206" y="1193"/>
                  </a:lnTo>
                  <a:lnTo>
                    <a:pt x="1206" y="879"/>
                  </a:lnTo>
                  <a:lnTo>
                    <a:pt x="1233" y="632"/>
                  </a:lnTo>
                  <a:lnTo>
                    <a:pt x="1357" y="376"/>
                  </a:lnTo>
                  <a:lnTo>
                    <a:pt x="1427" y="194"/>
                  </a:lnTo>
                  <a:cubicBezTo>
                    <a:pt x="1360" y="125"/>
                    <a:pt x="1305" y="49"/>
                    <a:pt x="1206" y="0"/>
                  </a:cubicBezTo>
                  <a:lnTo>
                    <a:pt x="1096" y="208"/>
                  </a:lnTo>
                  <a:lnTo>
                    <a:pt x="1021" y="305"/>
                  </a:lnTo>
                  <a:lnTo>
                    <a:pt x="981" y="437"/>
                  </a:lnTo>
                  <a:lnTo>
                    <a:pt x="862" y="729"/>
                  </a:lnTo>
                  <a:lnTo>
                    <a:pt x="451" y="654"/>
                  </a:lnTo>
                  <a:lnTo>
                    <a:pt x="163" y="769"/>
                  </a:lnTo>
                  <a:close/>
                </a:path>
              </a:pathLst>
            </a:custGeom>
            <a:solidFill>
              <a:srgbClr val="962A22"/>
            </a:solidFill>
            <a:ln w="4763" cap="flat">
              <a:solidFill>
                <a:srgbClr val="962A22"/>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58" name="Freeform 7"/>
            <p:cNvSpPr>
              <a:spLocks/>
            </p:cNvSpPr>
            <p:nvPr/>
          </p:nvSpPr>
          <p:spPr bwMode="auto">
            <a:xfrm>
              <a:off x="5043488" y="4551363"/>
              <a:ext cx="298450" cy="127000"/>
            </a:xfrm>
            <a:custGeom>
              <a:avLst/>
              <a:gdLst>
                <a:gd name="T0" fmla="*/ 0 w 795"/>
                <a:gd name="T1" fmla="*/ 330 h 339"/>
                <a:gd name="T2" fmla="*/ 223 w 795"/>
                <a:gd name="T3" fmla="*/ 275 h 339"/>
                <a:gd name="T4" fmla="*/ 765 w 795"/>
                <a:gd name="T5" fmla="*/ 97 h 339"/>
                <a:gd name="T6" fmla="*/ 795 w 795"/>
                <a:gd name="T7" fmla="*/ 0 h 339"/>
                <a:gd name="T8" fmla="*/ 204 w 795"/>
                <a:gd name="T9" fmla="*/ 240 h 339"/>
                <a:gd name="T10" fmla="*/ 0 w 795"/>
                <a:gd name="T11" fmla="*/ 330 h 339"/>
              </a:gdLst>
              <a:ahLst/>
              <a:cxnLst>
                <a:cxn ang="0">
                  <a:pos x="T0" y="T1"/>
                </a:cxn>
                <a:cxn ang="0">
                  <a:pos x="T2" y="T3"/>
                </a:cxn>
                <a:cxn ang="0">
                  <a:pos x="T4" y="T5"/>
                </a:cxn>
                <a:cxn ang="0">
                  <a:pos x="T6" y="T7"/>
                </a:cxn>
                <a:cxn ang="0">
                  <a:pos x="T8" y="T9"/>
                </a:cxn>
                <a:cxn ang="0">
                  <a:pos x="T10" y="T11"/>
                </a:cxn>
              </a:cxnLst>
              <a:rect l="0" t="0" r="r" b="b"/>
              <a:pathLst>
                <a:path w="795" h="339">
                  <a:moveTo>
                    <a:pt x="0" y="330"/>
                  </a:moveTo>
                  <a:cubicBezTo>
                    <a:pt x="35" y="339"/>
                    <a:pt x="134" y="317"/>
                    <a:pt x="223" y="275"/>
                  </a:cubicBezTo>
                  <a:cubicBezTo>
                    <a:pt x="441" y="170"/>
                    <a:pt x="708" y="60"/>
                    <a:pt x="765" y="97"/>
                  </a:cubicBezTo>
                  <a:lnTo>
                    <a:pt x="795" y="0"/>
                  </a:lnTo>
                  <a:cubicBezTo>
                    <a:pt x="662" y="11"/>
                    <a:pt x="469" y="85"/>
                    <a:pt x="204" y="240"/>
                  </a:cubicBezTo>
                  <a:cubicBezTo>
                    <a:pt x="175" y="257"/>
                    <a:pt x="120" y="295"/>
                    <a:pt x="0" y="330"/>
                  </a:cubicBez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59" name="Freeform 8"/>
            <p:cNvSpPr>
              <a:spLocks/>
            </p:cNvSpPr>
            <p:nvPr/>
          </p:nvSpPr>
          <p:spPr bwMode="auto">
            <a:xfrm>
              <a:off x="5153025" y="4325938"/>
              <a:ext cx="25400" cy="117475"/>
            </a:xfrm>
            <a:custGeom>
              <a:avLst/>
              <a:gdLst>
                <a:gd name="T0" fmla="*/ 39 w 69"/>
                <a:gd name="T1" fmla="*/ 0 h 316"/>
                <a:gd name="T2" fmla="*/ 10 w 69"/>
                <a:gd name="T3" fmla="*/ 75 h 316"/>
                <a:gd name="T4" fmla="*/ 4 w 69"/>
                <a:gd name="T5" fmla="*/ 133 h 316"/>
                <a:gd name="T6" fmla="*/ 9 w 69"/>
                <a:gd name="T7" fmla="*/ 258 h 316"/>
                <a:gd name="T8" fmla="*/ 18 w 69"/>
                <a:gd name="T9" fmla="*/ 310 h 316"/>
                <a:gd name="T10" fmla="*/ 31 w 69"/>
                <a:gd name="T11" fmla="*/ 316 h 316"/>
                <a:gd name="T12" fmla="*/ 45 w 69"/>
                <a:gd name="T13" fmla="*/ 316 h 316"/>
                <a:gd name="T14" fmla="*/ 53 w 69"/>
                <a:gd name="T15" fmla="*/ 286 h 316"/>
                <a:gd name="T16" fmla="*/ 40 w 69"/>
                <a:gd name="T17" fmla="*/ 163 h 316"/>
                <a:gd name="T18" fmla="*/ 36 w 69"/>
                <a:gd name="T19" fmla="*/ 98 h 316"/>
                <a:gd name="T20" fmla="*/ 47 w 69"/>
                <a:gd name="T21" fmla="*/ 56 h 316"/>
                <a:gd name="T22" fmla="*/ 69 w 69"/>
                <a:gd name="T23" fmla="*/ 14 h 316"/>
                <a:gd name="T24" fmla="*/ 39 w 69"/>
                <a:gd name="T25"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316">
                  <a:moveTo>
                    <a:pt x="39" y="0"/>
                  </a:moveTo>
                  <a:lnTo>
                    <a:pt x="10" y="75"/>
                  </a:lnTo>
                  <a:cubicBezTo>
                    <a:pt x="10" y="75"/>
                    <a:pt x="0" y="132"/>
                    <a:pt x="4" y="133"/>
                  </a:cubicBezTo>
                  <a:cubicBezTo>
                    <a:pt x="7" y="133"/>
                    <a:pt x="9" y="258"/>
                    <a:pt x="9" y="258"/>
                  </a:cubicBezTo>
                  <a:lnTo>
                    <a:pt x="18" y="310"/>
                  </a:lnTo>
                  <a:lnTo>
                    <a:pt x="31" y="316"/>
                  </a:lnTo>
                  <a:lnTo>
                    <a:pt x="45" y="316"/>
                  </a:lnTo>
                  <a:lnTo>
                    <a:pt x="53" y="286"/>
                  </a:lnTo>
                  <a:lnTo>
                    <a:pt x="40" y="163"/>
                  </a:lnTo>
                  <a:lnTo>
                    <a:pt x="36" y="98"/>
                  </a:lnTo>
                  <a:lnTo>
                    <a:pt x="47" y="56"/>
                  </a:lnTo>
                  <a:lnTo>
                    <a:pt x="69" y="14"/>
                  </a:lnTo>
                  <a:lnTo>
                    <a:pt x="39" y="0"/>
                  </a:ln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60" name="Freeform 9"/>
            <p:cNvSpPr>
              <a:spLocks noEditPoints="1"/>
            </p:cNvSpPr>
            <p:nvPr/>
          </p:nvSpPr>
          <p:spPr bwMode="auto">
            <a:xfrm>
              <a:off x="5151438" y="4319588"/>
              <a:ext cx="31750" cy="128588"/>
            </a:xfrm>
            <a:custGeom>
              <a:avLst/>
              <a:gdLst>
                <a:gd name="T0" fmla="*/ 45 w 85"/>
                <a:gd name="T1" fmla="*/ 0 h 342"/>
                <a:gd name="T2" fmla="*/ 42 w 85"/>
                <a:gd name="T3" fmla="*/ 6 h 342"/>
                <a:gd name="T4" fmla="*/ 5 w 85"/>
                <a:gd name="T5" fmla="*/ 114 h 342"/>
                <a:gd name="T6" fmla="*/ 13 w 85"/>
                <a:gd name="T7" fmla="*/ 318 h 342"/>
                <a:gd name="T8" fmla="*/ 14 w 85"/>
                <a:gd name="T9" fmla="*/ 318 h 342"/>
                <a:gd name="T10" fmla="*/ 14 w 85"/>
                <a:gd name="T11" fmla="*/ 318 h 342"/>
                <a:gd name="T12" fmla="*/ 26 w 85"/>
                <a:gd name="T13" fmla="*/ 338 h 342"/>
                <a:gd name="T14" fmla="*/ 49 w 85"/>
                <a:gd name="T15" fmla="*/ 339 h 342"/>
                <a:gd name="T16" fmla="*/ 63 w 85"/>
                <a:gd name="T17" fmla="*/ 317 h 342"/>
                <a:gd name="T18" fmla="*/ 49 w 85"/>
                <a:gd name="T19" fmla="*/ 174 h 342"/>
                <a:gd name="T20" fmla="*/ 48 w 85"/>
                <a:gd name="T21" fmla="*/ 117 h 342"/>
                <a:gd name="T22" fmla="*/ 81 w 85"/>
                <a:gd name="T23" fmla="*/ 28 h 342"/>
                <a:gd name="T24" fmla="*/ 85 w 85"/>
                <a:gd name="T25" fmla="*/ 22 h 342"/>
                <a:gd name="T26" fmla="*/ 79 w 85"/>
                <a:gd name="T27" fmla="*/ 19 h 342"/>
                <a:gd name="T28" fmla="*/ 50 w 85"/>
                <a:gd name="T29" fmla="*/ 3 h 342"/>
                <a:gd name="T30" fmla="*/ 45 w 85"/>
                <a:gd name="T31" fmla="*/ 0 h 342"/>
                <a:gd name="T32" fmla="*/ 50 w 85"/>
                <a:gd name="T33" fmla="*/ 17 h 342"/>
                <a:gd name="T34" fmla="*/ 67 w 85"/>
                <a:gd name="T35" fmla="*/ 27 h 342"/>
                <a:gd name="T36" fmla="*/ 35 w 85"/>
                <a:gd name="T37" fmla="*/ 115 h 342"/>
                <a:gd name="T38" fmla="*/ 50 w 85"/>
                <a:gd name="T39" fmla="*/ 318 h 342"/>
                <a:gd name="T40" fmla="*/ 41 w 85"/>
                <a:gd name="T41" fmla="*/ 327 h 342"/>
                <a:gd name="T42" fmla="*/ 26 w 85"/>
                <a:gd name="T43" fmla="*/ 316 h 342"/>
                <a:gd name="T44" fmla="*/ 17 w 85"/>
                <a:gd name="T45" fmla="*/ 118 h 342"/>
                <a:gd name="T46" fmla="*/ 50 w 85"/>
                <a:gd name="T47" fmla="*/ 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5" h="342">
                  <a:moveTo>
                    <a:pt x="45" y="0"/>
                  </a:moveTo>
                  <a:lnTo>
                    <a:pt x="42" y="6"/>
                  </a:lnTo>
                  <a:cubicBezTo>
                    <a:pt x="20" y="50"/>
                    <a:pt x="7" y="101"/>
                    <a:pt x="5" y="114"/>
                  </a:cubicBezTo>
                  <a:cubicBezTo>
                    <a:pt x="0" y="154"/>
                    <a:pt x="5" y="266"/>
                    <a:pt x="13" y="318"/>
                  </a:cubicBezTo>
                  <a:lnTo>
                    <a:pt x="14" y="318"/>
                  </a:lnTo>
                  <a:lnTo>
                    <a:pt x="14" y="318"/>
                  </a:lnTo>
                  <a:cubicBezTo>
                    <a:pt x="16" y="328"/>
                    <a:pt x="21" y="334"/>
                    <a:pt x="26" y="338"/>
                  </a:cubicBezTo>
                  <a:cubicBezTo>
                    <a:pt x="31" y="342"/>
                    <a:pt x="43" y="342"/>
                    <a:pt x="49" y="339"/>
                  </a:cubicBezTo>
                  <a:cubicBezTo>
                    <a:pt x="60" y="332"/>
                    <a:pt x="61" y="328"/>
                    <a:pt x="63" y="317"/>
                  </a:cubicBezTo>
                  <a:cubicBezTo>
                    <a:pt x="63" y="311"/>
                    <a:pt x="54" y="228"/>
                    <a:pt x="49" y="174"/>
                  </a:cubicBezTo>
                  <a:cubicBezTo>
                    <a:pt x="46" y="139"/>
                    <a:pt x="47" y="128"/>
                    <a:pt x="48" y="117"/>
                  </a:cubicBezTo>
                  <a:cubicBezTo>
                    <a:pt x="50" y="94"/>
                    <a:pt x="61" y="58"/>
                    <a:pt x="81" y="28"/>
                  </a:cubicBezTo>
                  <a:lnTo>
                    <a:pt x="85" y="22"/>
                  </a:lnTo>
                  <a:lnTo>
                    <a:pt x="79" y="19"/>
                  </a:lnTo>
                  <a:lnTo>
                    <a:pt x="50" y="3"/>
                  </a:lnTo>
                  <a:lnTo>
                    <a:pt x="45" y="0"/>
                  </a:lnTo>
                  <a:close/>
                  <a:moveTo>
                    <a:pt x="50" y="17"/>
                  </a:moveTo>
                  <a:lnTo>
                    <a:pt x="67" y="27"/>
                  </a:lnTo>
                  <a:cubicBezTo>
                    <a:pt x="45" y="59"/>
                    <a:pt x="41" y="78"/>
                    <a:pt x="35" y="115"/>
                  </a:cubicBezTo>
                  <a:cubicBezTo>
                    <a:pt x="30" y="136"/>
                    <a:pt x="49" y="269"/>
                    <a:pt x="50" y="318"/>
                  </a:cubicBezTo>
                  <a:cubicBezTo>
                    <a:pt x="50" y="323"/>
                    <a:pt x="46" y="326"/>
                    <a:pt x="41" y="327"/>
                  </a:cubicBezTo>
                  <a:cubicBezTo>
                    <a:pt x="32" y="327"/>
                    <a:pt x="27" y="321"/>
                    <a:pt x="26" y="316"/>
                  </a:cubicBezTo>
                  <a:cubicBezTo>
                    <a:pt x="15" y="240"/>
                    <a:pt x="16" y="124"/>
                    <a:pt x="17" y="118"/>
                  </a:cubicBezTo>
                  <a:cubicBezTo>
                    <a:pt x="19" y="98"/>
                    <a:pt x="33" y="47"/>
                    <a:pt x="50" y="17"/>
                  </a:cubicBezTo>
                  <a:close/>
                </a:path>
              </a:pathLst>
            </a:custGeom>
            <a:solidFill>
              <a:srgbClr val="D0D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61" name="Freeform 10"/>
            <p:cNvSpPr>
              <a:spLocks/>
            </p:cNvSpPr>
            <p:nvPr/>
          </p:nvSpPr>
          <p:spPr bwMode="auto">
            <a:xfrm>
              <a:off x="5192713" y="4319588"/>
              <a:ext cx="25400" cy="128588"/>
            </a:xfrm>
            <a:custGeom>
              <a:avLst/>
              <a:gdLst>
                <a:gd name="T0" fmla="*/ 0 w 71"/>
                <a:gd name="T1" fmla="*/ 16 h 341"/>
                <a:gd name="T2" fmla="*/ 41 w 71"/>
                <a:gd name="T3" fmla="*/ 117 h 341"/>
                <a:gd name="T4" fmla="*/ 20 w 71"/>
                <a:gd name="T5" fmla="*/ 309 h 341"/>
                <a:gd name="T6" fmla="*/ 56 w 71"/>
                <a:gd name="T7" fmla="*/ 308 h 341"/>
                <a:gd name="T8" fmla="*/ 71 w 71"/>
                <a:gd name="T9" fmla="*/ 110 h 341"/>
                <a:gd name="T10" fmla="*/ 29 w 71"/>
                <a:gd name="T11" fmla="*/ 0 h 341"/>
                <a:gd name="T12" fmla="*/ 0 w 71"/>
                <a:gd name="T13" fmla="*/ 16 h 341"/>
              </a:gdLst>
              <a:ahLst/>
              <a:cxnLst>
                <a:cxn ang="0">
                  <a:pos x="T0" y="T1"/>
                </a:cxn>
                <a:cxn ang="0">
                  <a:pos x="T2" y="T3"/>
                </a:cxn>
                <a:cxn ang="0">
                  <a:pos x="T4" y="T5"/>
                </a:cxn>
                <a:cxn ang="0">
                  <a:pos x="T6" y="T7"/>
                </a:cxn>
                <a:cxn ang="0">
                  <a:pos x="T8" y="T9"/>
                </a:cxn>
                <a:cxn ang="0">
                  <a:pos x="T10" y="T11"/>
                </a:cxn>
                <a:cxn ang="0">
                  <a:pos x="T12" y="T13"/>
                </a:cxn>
              </a:cxnLst>
              <a:rect l="0" t="0" r="r" b="b"/>
              <a:pathLst>
                <a:path w="71" h="341">
                  <a:moveTo>
                    <a:pt x="0" y="16"/>
                  </a:moveTo>
                  <a:cubicBezTo>
                    <a:pt x="20" y="46"/>
                    <a:pt x="41" y="91"/>
                    <a:pt x="41" y="117"/>
                  </a:cubicBezTo>
                  <a:cubicBezTo>
                    <a:pt x="39" y="248"/>
                    <a:pt x="28" y="246"/>
                    <a:pt x="20" y="309"/>
                  </a:cubicBezTo>
                  <a:cubicBezTo>
                    <a:pt x="19" y="326"/>
                    <a:pt x="48" y="341"/>
                    <a:pt x="56" y="308"/>
                  </a:cubicBezTo>
                  <a:cubicBezTo>
                    <a:pt x="70" y="225"/>
                    <a:pt x="71" y="157"/>
                    <a:pt x="71" y="110"/>
                  </a:cubicBezTo>
                  <a:cubicBezTo>
                    <a:pt x="64" y="67"/>
                    <a:pt x="45" y="34"/>
                    <a:pt x="29" y="0"/>
                  </a:cubicBezTo>
                  <a:lnTo>
                    <a:pt x="0" y="16"/>
                  </a:lnTo>
                  <a:close/>
                </a:path>
              </a:pathLst>
            </a:custGeom>
            <a:solidFill>
              <a:srgbClr val="FFFFCB"/>
            </a:solidFill>
            <a:ln w="4763" cap="flat">
              <a:solidFill>
                <a:srgbClr val="D0D08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62" name="Freeform 11"/>
            <p:cNvSpPr>
              <a:spLocks/>
            </p:cNvSpPr>
            <p:nvPr/>
          </p:nvSpPr>
          <p:spPr bwMode="auto">
            <a:xfrm>
              <a:off x="4935538" y="3967163"/>
              <a:ext cx="314325" cy="298450"/>
            </a:xfrm>
            <a:custGeom>
              <a:avLst/>
              <a:gdLst>
                <a:gd name="T0" fmla="*/ 437 w 842"/>
                <a:gd name="T1" fmla="*/ 1 h 801"/>
                <a:gd name="T2" fmla="*/ 317 w 842"/>
                <a:gd name="T3" fmla="*/ 20 h 801"/>
                <a:gd name="T4" fmla="*/ 3 w 842"/>
                <a:gd name="T5" fmla="*/ 429 h 801"/>
                <a:gd name="T6" fmla="*/ 86 w 842"/>
                <a:gd name="T7" fmla="*/ 702 h 801"/>
                <a:gd name="T8" fmla="*/ 225 w 842"/>
                <a:gd name="T9" fmla="*/ 792 h 801"/>
                <a:gd name="T10" fmla="*/ 277 w 842"/>
                <a:gd name="T11" fmla="*/ 789 h 801"/>
                <a:gd name="T12" fmla="*/ 148 w 842"/>
                <a:gd name="T13" fmla="*/ 700 h 801"/>
                <a:gd name="T14" fmla="*/ 55 w 842"/>
                <a:gd name="T15" fmla="*/ 439 h 801"/>
                <a:gd name="T16" fmla="*/ 127 w 842"/>
                <a:gd name="T17" fmla="*/ 215 h 801"/>
                <a:gd name="T18" fmla="*/ 328 w 842"/>
                <a:gd name="T19" fmla="*/ 65 h 801"/>
                <a:gd name="T20" fmla="*/ 706 w 842"/>
                <a:gd name="T21" fmla="*/ 176 h 801"/>
                <a:gd name="T22" fmla="*/ 750 w 842"/>
                <a:gd name="T23" fmla="*/ 558 h 801"/>
                <a:gd name="T24" fmla="*/ 605 w 842"/>
                <a:gd name="T25" fmla="*/ 801 h 801"/>
                <a:gd name="T26" fmla="*/ 658 w 842"/>
                <a:gd name="T27" fmla="*/ 751 h 801"/>
                <a:gd name="T28" fmla="*/ 790 w 842"/>
                <a:gd name="T29" fmla="*/ 538 h 801"/>
                <a:gd name="T30" fmla="*/ 738 w 842"/>
                <a:gd name="T31" fmla="*/ 157 h 801"/>
                <a:gd name="T32" fmla="*/ 437 w 842"/>
                <a:gd name="T33" fmla="*/ 1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2" h="801">
                  <a:moveTo>
                    <a:pt x="437" y="1"/>
                  </a:moveTo>
                  <a:cubicBezTo>
                    <a:pt x="397" y="2"/>
                    <a:pt x="357" y="8"/>
                    <a:pt x="317" y="20"/>
                  </a:cubicBezTo>
                  <a:cubicBezTo>
                    <a:pt x="160" y="69"/>
                    <a:pt x="7" y="207"/>
                    <a:pt x="3" y="429"/>
                  </a:cubicBezTo>
                  <a:cubicBezTo>
                    <a:pt x="1" y="536"/>
                    <a:pt x="0" y="587"/>
                    <a:pt x="86" y="702"/>
                  </a:cubicBezTo>
                  <a:cubicBezTo>
                    <a:pt x="116" y="742"/>
                    <a:pt x="159" y="777"/>
                    <a:pt x="225" y="792"/>
                  </a:cubicBezTo>
                  <a:lnTo>
                    <a:pt x="277" y="789"/>
                  </a:lnTo>
                  <a:cubicBezTo>
                    <a:pt x="219" y="753"/>
                    <a:pt x="172" y="728"/>
                    <a:pt x="148" y="700"/>
                  </a:cubicBezTo>
                  <a:cubicBezTo>
                    <a:pt x="59" y="596"/>
                    <a:pt x="53" y="543"/>
                    <a:pt x="55" y="439"/>
                  </a:cubicBezTo>
                  <a:cubicBezTo>
                    <a:pt x="57" y="348"/>
                    <a:pt x="88" y="272"/>
                    <a:pt x="127" y="215"/>
                  </a:cubicBezTo>
                  <a:cubicBezTo>
                    <a:pt x="178" y="138"/>
                    <a:pt x="246" y="90"/>
                    <a:pt x="328" y="65"/>
                  </a:cubicBezTo>
                  <a:cubicBezTo>
                    <a:pt x="472" y="21"/>
                    <a:pt x="631" y="52"/>
                    <a:pt x="706" y="176"/>
                  </a:cubicBezTo>
                  <a:cubicBezTo>
                    <a:pt x="756" y="260"/>
                    <a:pt x="802" y="395"/>
                    <a:pt x="750" y="558"/>
                  </a:cubicBezTo>
                  <a:cubicBezTo>
                    <a:pt x="728" y="623"/>
                    <a:pt x="660" y="715"/>
                    <a:pt x="605" y="801"/>
                  </a:cubicBezTo>
                  <a:lnTo>
                    <a:pt x="658" y="751"/>
                  </a:lnTo>
                  <a:cubicBezTo>
                    <a:pt x="715" y="680"/>
                    <a:pt x="765" y="620"/>
                    <a:pt x="790" y="538"/>
                  </a:cubicBezTo>
                  <a:cubicBezTo>
                    <a:pt x="842" y="362"/>
                    <a:pt x="792" y="248"/>
                    <a:pt x="738" y="157"/>
                  </a:cubicBezTo>
                  <a:cubicBezTo>
                    <a:pt x="674" y="51"/>
                    <a:pt x="558" y="0"/>
                    <a:pt x="437"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63" name="Freeform 12"/>
            <p:cNvSpPr>
              <a:spLocks/>
            </p:cNvSpPr>
            <p:nvPr/>
          </p:nvSpPr>
          <p:spPr bwMode="auto">
            <a:xfrm>
              <a:off x="4859338" y="3914775"/>
              <a:ext cx="598488" cy="1154113"/>
            </a:xfrm>
            <a:custGeom>
              <a:avLst/>
              <a:gdLst>
                <a:gd name="T0" fmla="*/ 1337 w 1596"/>
                <a:gd name="T1" fmla="*/ 119 h 3084"/>
                <a:gd name="T2" fmla="*/ 843 w 1596"/>
                <a:gd name="T3" fmla="*/ 884 h 3084"/>
                <a:gd name="T4" fmla="*/ 1074 w 1596"/>
                <a:gd name="T5" fmla="*/ 659 h 3084"/>
                <a:gd name="T6" fmla="*/ 1443 w 1596"/>
                <a:gd name="T7" fmla="*/ 62 h 3084"/>
                <a:gd name="T8" fmla="*/ 1534 w 1596"/>
                <a:gd name="T9" fmla="*/ 60 h 3084"/>
                <a:gd name="T10" fmla="*/ 1432 w 1596"/>
                <a:gd name="T11" fmla="*/ 563 h 3084"/>
                <a:gd name="T12" fmla="*/ 1223 w 1596"/>
                <a:gd name="T13" fmla="*/ 1138 h 3084"/>
                <a:gd name="T14" fmla="*/ 1212 w 1596"/>
                <a:gd name="T15" fmla="*/ 1557 h 3084"/>
                <a:gd name="T16" fmla="*/ 1300 w 1596"/>
                <a:gd name="T17" fmla="*/ 2502 h 3084"/>
                <a:gd name="T18" fmla="*/ 1164 w 1596"/>
                <a:gd name="T19" fmla="*/ 3023 h 3084"/>
                <a:gd name="T20" fmla="*/ 1025 w 1596"/>
                <a:gd name="T21" fmla="*/ 2455 h 3084"/>
                <a:gd name="T22" fmla="*/ 905 w 1596"/>
                <a:gd name="T23" fmla="*/ 2136 h 3084"/>
                <a:gd name="T24" fmla="*/ 851 w 1596"/>
                <a:gd name="T25" fmla="*/ 2167 h 3084"/>
                <a:gd name="T26" fmla="*/ 618 w 1596"/>
                <a:gd name="T27" fmla="*/ 3020 h 3084"/>
                <a:gd name="T28" fmla="*/ 567 w 1596"/>
                <a:gd name="T29" fmla="*/ 3030 h 3084"/>
                <a:gd name="T30" fmla="*/ 489 w 1596"/>
                <a:gd name="T31" fmla="*/ 2842 h 3084"/>
                <a:gd name="T32" fmla="*/ 437 w 1596"/>
                <a:gd name="T33" fmla="*/ 1615 h 3084"/>
                <a:gd name="T34" fmla="*/ 363 w 1596"/>
                <a:gd name="T35" fmla="*/ 1555 h 3084"/>
                <a:gd name="T36" fmla="*/ 360 w 1596"/>
                <a:gd name="T37" fmla="*/ 1557 h 3084"/>
                <a:gd name="T38" fmla="*/ 246 w 1596"/>
                <a:gd name="T39" fmla="*/ 1791 h 3084"/>
                <a:gd name="T40" fmla="*/ 163 w 1596"/>
                <a:gd name="T41" fmla="*/ 2157 h 3084"/>
                <a:gd name="T42" fmla="*/ 121 w 1596"/>
                <a:gd name="T43" fmla="*/ 2156 h 3084"/>
                <a:gd name="T44" fmla="*/ 82 w 1596"/>
                <a:gd name="T45" fmla="*/ 2081 h 3084"/>
                <a:gd name="T46" fmla="*/ 305 w 1596"/>
                <a:gd name="T47" fmla="*/ 1017 h 3084"/>
                <a:gd name="T48" fmla="*/ 278 w 1596"/>
                <a:gd name="T49" fmla="*/ 997 h 3084"/>
                <a:gd name="T50" fmla="*/ 40 w 1596"/>
                <a:gd name="T51" fmla="*/ 2105 h 3084"/>
                <a:gd name="T52" fmla="*/ 132 w 1596"/>
                <a:gd name="T53" fmla="*/ 2209 h 3084"/>
                <a:gd name="T54" fmla="*/ 261 w 1596"/>
                <a:gd name="T55" fmla="*/ 1984 h 3084"/>
                <a:gd name="T56" fmla="*/ 334 w 1596"/>
                <a:gd name="T57" fmla="*/ 1623 h 3084"/>
                <a:gd name="T58" fmla="*/ 373 w 1596"/>
                <a:gd name="T59" fmla="*/ 1589 h 3084"/>
                <a:gd name="T60" fmla="*/ 426 w 1596"/>
                <a:gd name="T61" fmla="*/ 1788 h 3084"/>
                <a:gd name="T62" fmla="*/ 488 w 1596"/>
                <a:gd name="T63" fmla="*/ 3017 h 3084"/>
                <a:gd name="T64" fmla="*/ 638 w 1596"/>
                <a:gd name="T65" fmla="*/ 3065 h 3084"/>
                <a:gd name="T66" fmla="*/ 891 w 1596"/>
                <a:gd name="T67" fmla="*/ 2186 h 3084"/>
                <a:gd name="T68" fmla="*/ 987 w 1596"/>
                <a:gd name="T69" fmla="*/ 2456 h 3084"/>
                <a:gd name="T70" fmla="*/ 1115 w 1596"/>
                <a:gd name="T71" fmla="*/ 3065 h 3084"/>
                <a:gd name="T72" fmla="*/ 1176 w 1596"/>
                <a:gd name="T73" fmla="*/ 3071 h 3084"/>
                <a:gd name="T74" fmla="*/ 1337 w 1596"/>
                <a:gd name="T75" fmla="*/ 2504 h 3084"/>
                <a:gd name="T76" fmla="*/ 1260 w 1596"/>
                <a:gd name="T77" fmla="*/ 1564 h 3084"/>
                <a:gd name="T78" fmla="*/ 1282 w 1596"/>
                <a:gd name="T79" fmla="*/ 994 h 3084"/>
                <a:gd name="T80" fmla="*/ 1319 w 1596"/>
                <a:gd name="T81" fmla="*/ 893 h 3084"/>
                <a:gd name="T82" fmla="*/ 1591 w 1596"/>
                <a:gd name="T83" fmla="*/ 79 h 3084"/>
                <a:gd name="T84" fmla="*/ 1532 w 1596"/>
                <a:gd name="T85" fmla="*/ 1 h 3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6" h="3084">
                  <a:moveTo>
                    <a:pt x="1524" y="0"/>
                  </a:moveTo>
                  <a:cubicBezTo>
                    <a:pt x="1483" y="1"/>
                    <a:pt x="1451" y="14"/>
                    <a:pt x="1419" y="33"/>
                  </a:cubicBezTo>
                  <a:cubicBezTo>
                    <a:pt x="1388" y="53"/>
                    <a:pt x="1361" y="83"/>
                    <a:pt x="1337" y="119"/>
                  </a:cubicBezTo>
                  <a:cubicBezTo>
                    <a:pt x="1288" y="190"/>
                    <a:pt x="1248" y="287"/>
                    <a:pt x="1196" y="390"/>
                  </a:cubicBezTo>
                  <a:cubicBezTo>
                    <a:pt x="1131" y="516"/>
                    <a:pt x="1060" y="620"/>
                    <a:pt x="982" y="720"/>
                  </a:cubicBezTo>
                  <a:cubicBezTo>
                    <a:pt x="938" y="777"/>
                    <a:pt x="897" y="845"/>
                    <a:pt x="843" y="884"/>
                  </a:cubicBezTo>
                  <a:lnTo>
                    <a:pt x="809" y="936"/>
                  </a:lnTo>
                  <a:cubicBezTo>
                    <a:pt x="846" y="909"/>
                    <a:pt x="899" y="857"/>
                    <a:pt x="935" y="822"/>
                  </a:cubicBezTo>
                  <a:cubicBezTo>
                    <a:pt x="989" y="768"/>
                    <a:pt x="1025" y="726"/>
                    <a:pt x="1074" y="659"/>
                  </a:cubicBezTo>
                  <a:cubicBezTo>
                    <a:pt x="1133" y="578"/>
                    <a:pt x="1186" y="491"/>
                    <a:pt x="1229" y="407"/>
                  </a:cubicBezTo>
                  <a:cubicBezTo>
                    <a:pt x="1282" y="303"/>
                    <a:pt x="1323" y="206"/>
                    <a:pt x="1368" y="140"/>
                  </a:cubicBezTo>
                  <a:cubicBezTo>
                    <a:pt x="1390" y="107"/>
                    <a:pt x="1418" y="78"/>
                    <a:pt x="1443" y="62"/>
                  </a:cubicBezTo>
                  <a:cubicBezTo>
                    <a:pt x="1464" y="50"/>
                    <a:pt x="1473" y="46"/>
                    <a:pt x="1501" y="45"/>
                  </a:cubicBezTo>
                  <a:cubicBezTo>
                    <a:pt x="1506" y="45"/>
                    <a:pt x="1514" y="47"/>
                    <a:pt x="1519" y="49"/>
                  </a:cubicBezTo>
                  <a:cubicBezTo>
                    <a:pt x="1524" y="52"/>
                    <a:pt x="1529" y="54"/>
                    <a:pt x="1534" y="60"/>
                  </a:cubicBezTo>
                  <a:cubicBezTo>
                    <a:pt x="1540" y="66"/>
                    <a:pt x="1548" y="76"/>
                    <a:pt x="1550" y="92"/>
                  </a:cubicBezTo>
                  <a:cubicBezTo>
                    <a:pt x="1554" y="122"/>
                    <a:pt x="1551" y="167"/>
                    <a:pt x="1542" y="218"/>
                  </a:cubicBezTo>
                  <a:cubicBezTo>
                    <a:pt x="1524" y="320"/>
                    <a:pt x="1482" y="450"/>
                    <a:pt x="1432" y="563"/>
                  </a:cubicBezTo>
                  <a:cubicBezTo>
                    <a:pt x="1376" y="687"/>
                    <a:pt x="1318" y="775"/>
                    <a:pt x="1287" y="884"/>
                  </a:cubicBezTo>
                  <a:cubicBezTo>
                    <a:pt x="1286" y="885"/>
                    <a:pt x="1284" y="888"/>
                    <a:pt x="1284" y="889"/>
                  </a:cubicBezTo>
                  <a:cubicBezTo>
                    <a:pt x="1264" y="918"/>
                    <a:pt x="1231" y="1028"/>
                    <a:pt x="1223" y="1138"/>
                  </a:cubicBezTo>
                  <a:cubicBezTo>
                    <a:pt x="1214" y="1251"/>
                    <a:pt x="1201" y="1379"/>
                    <a:pt x="1210" y="1532"/>
                  </a:cubicBezTo>
                  <a:lnTo>
                    <a:pt x="1211" y="1548"/>
                  </a:lnTo>
                  <a:lnTo>
                    <a:pt x="1212" y="1557"/>
                  </a:lnTo>
                  <a:cubicBezTo>
                    <a:pt x="1237" y="1751"/>
                    <a:pt x="1259" y="1880"/>
                    <a:pt x="1281" y="2054"/>
                  </a:cubicBezTo>
                  <a:cubicBezTo>
                    <a:pt x="1299" y="2191"/>
                    <a:pt x="1300" y="2324"/>
                    <a:pt x="1302" y="2445"/>
                  </a:cubicBezTo>
                  <a:cubicBezTo>
                    <a:pt x="1302" y="2446"/>
                    <a:pt x="1300" y="2501"/>
                    <a:pt x="1300" y="2502"/>
                  </a:cubicBezTo>
                  <a:cubicBezTo>
                    <a:pt x="1291" y="2632"/>
                    <a:pt x="1286" y="2740"/>
                    <a:pt x="1261" y="2843"/>
                  </a:cubicBezTo>
                  <a:cubicBezTo>
                    <a:pt x="1249" y="2895"/>
                    <a:pt x="1241" y="2940"/>
                    <a:pt x="1224" y="2973"/>
                  </a:cubicBezTo>
                  <a:cubicBezTo>
                    <a:pt x="1208" y="3004"/>
                    <a:pt x="1186" y="3017"/>
                    <a:pt x="1164" y="3023"/>
                  </a:cubicBezTo>
                  <a:cubicBezTo>
                    <a:pt x="1127" y="3021"/>
                    <a:pt x="1098" y="2992"/>
                    <a:pt x="1076" y="2952"/>
                  </a:cubicBezTo>
                  <a:cubicBezTo>
                    <a:pt x="1054" y="2910"/>
                    <a:pt x="1040" y="2856"/>
                    <a:pt x="1033" y="2797"/>
                  </a:cubicBezTo>
                  <a:cubicBezTo>
                    <a:pt x="1018" y="2679"/>
                    <a:pt x="1028" y="2545"/>
                    <a:pt x="1025" y="2455"/>
                  </a:cubicBezTo>
                  <a:cubicBezTo>
                    <a:pt x="1023" y="2392"/>
                    <a:pt x="1001" y="2290"/>
                    <a:pt x="972" y="2232"/>
                  </a:cubicBezTo>
                  <a:cubicBezTo>
                    <a:pt x="958" y="2203"/>
                    <a:pt x="942" y="2178"/>
                    <a:pt x="927" y="2159"/>
                  </a:cubicBezTo>
                  <a:cubicBezTo>
                    <a:pt x="920" y="2150"/>
                    <a:pt x="913" y="2142"/>
                    <a:pt x="905" y="2136"/>
                  </a:cubicBezTo>
                  <a:cubicBezTo>
                    <a:pt x="897" y="2130"/>
                    <a:pt x="873" y="2128"/>
                    <a:pt x="861" y="2128"/>
                  </a:cubicBezTo>
                  <a:lnTo>
                    <a:pt x="855" y="2153"/>
                  </a:lnTo>
                  <a:lnTo>
                    <a:pt x="851" y="2167"/>
                  </a:lnTo>
                  <a:cubicBezTo>
                    <a:pt x="816" y="2323"/>
                    <a:pt x="770" y="2596"/>
                    <a:pt x="733" y="2745"/>
                  </a:cubicBezTo>
                  <a:cubicBezTo>
                    <a:pt x="711" y="2836"/>
                    <a:pt x="686" y="2925"/>
                    <a:pt x="659" y="2980"/>
                  </a:cubicBezTo>
                  <a:cubicBezTo>
                    <a:pt x="646" y="3007"/>
                    <a:pt x="622" y="3017"/>
                    <a:pt x="618" y="3020"/>
                  </a:cubicBezTo>
                  <a:cubicBezTo>
                    <a:pt x="610" y="3024"/>
                    <a:pt x="612" y="3023"/>
                    <a:pt x="593" y="3028"/>
                  </a:cubicBezTo>
                  <a:lnTo>
                    <a:pt x="578" y="3030"/>
                  </a:lnTo>
                  <a:lnTo>
                    <a:pt x="567" y="3030"/>
                  </a:lnTo>
                  <a:cubicBezTo>
                    <a:pt x="561" y="3029"/>
                    <a:pt x="558" y="3029"/>
                    <a:pt x="550" y="3025"/>
                  </a:cubicBezTo>
                  <a:cubicBezTo>
                    <a:pt x="543" y="3021"/>
                    <a:pt x="537" y="3014"/>
                    <a:pt x="528" y="2998"/>
                  </a:cubicBezTo>
                  <a:cubicBezTo>
                    <a:pt x="511" y="2969"/>
                    <a:pt x="496" y="2912"/>
                    <a:pt x="489" y="2842"/>
                  </a:cubicBezTo>
                  <a:cubicBezTo>
                    <a:pt x="474" y="2703"/>
                    <a:pt x="473" y="2509"/>
                    <a:pt x="473" y="2316"/>
                  </a:cubicBezTo>
                  <a:cubicBezTo>
                    <a:pt x="472" y="2122"/>
                    <a:pt x="474" y="1928"/>
                    <a:pt x="463" y="1785"/>
                  </a:cubicBezTo>
                  <a:cubicBezTo>
                    <a:pt x="458" y="1714"/>
                    <a:pt x="450" y="1656"/>
                    <a:pt x="437" y="1615"/>
                  </a:cubicBezTo>
                  <a:cubicBezTo>
                    <a:pt x="430" y="1595"/>
                    <a:pt x="422" y="1579"/>
                    <a:pt x="409" y="1567"/>
                  </a:cubicBezTo>
                  <a:cubicBezTo>
                    <a:pt x="397" y="1556"/>
                    <a:pt x="379" y="1552"/>
                    <a:pt x="363" y="1556"/>
                  </a:cubicBezTo>
                  <a:lnTo>
                    <a:pt x="363" y="1555"/>
                  </a:lnTo>
                  <a:cubicBezTo>
                    <a:pt x="362" y="1555"/>
                    <a:pt x="362" y="1556"/>
                    <a:pt x="361" y="1556"/>
                  </a:cubicBezTo>
                  <a:cubicBezTo>
                    <a:pt x="361" y="1556"/>
                    <a:pt x="360" y="1556"/>
                    <a:pt x="360" y="1556"/>
                  </a:cubicBezTo>
                  <a:lnTo>
                    <a:pt x="360" y="1557"/>
                  </a:lnTo>
                  <a:cubicBezTo>
                    <a:pt x="334" y="1562"/>
                    <a:pt x="314" y="1577"/>
                    <a:pt x="301" y="1594"/>
                  </a:cubicBezTo>
                  <a:cubicBezTo>
                    <a:pt x="288" y="1612"/>
                    <a:pt x="282" y="1631"/>
                    <a:pt x="276" y="1644"/>
                  </a:cubicBezTo>
                  <a:cubicBezTo>
                    <a:pt x="261" y="1679"/>
                    <a:pt x="253" y="1731"/>
                    <a:pt x="246" y="1791"/>
                  </a:cubicBezTo>
                  <a:cubicBezTo>
                    <a:pt x="239" y="1851"/>
                    <a:pt x="233" y="1918"/>
                    <a:pt x="224" y="1979"/>
                  </a:cubicBezTo>
                  <a:cubicBezTo>
                    <a:pt x="215" y="2039"/>
                    <a:pt x="203" y="2094"/>
                    <a:pt x="187" y="2126"/>
                  </a:cubicBezTo>
                  <a:cubicBezTo>
                    <a:pt x="179" y="2143"/>
                    <a:pt x="170" y="2153"/>
                    <a:pt x="163" y="2157"/>
                  </a:cubicBezTo>
                  <a:cubicBezTo>
                    <a:pt x="155" y="2161"/>
                    <a:pt x="150" y="2166"/>
                    <a:pt x="136" y="2163"/>
                  </a:cubicBezTo>
                  <a:lnTo>
                    <a:pt x="128" y="2160"/>
                  </a:lnTo>
                  <a:lnTo>
                    <a:pt x="121" y="2156"/>
                  </a:lnTo>
                  <a:cubicBezTo>
                    <a:pt x="121" y="2156"/>
                    <a:pt x="119" y="2155"/>
                    <a:pt x="117" y="2154"/>
                  </a:cubicBezTo>
                  <a:cubicBezTo>
                    <a:pt x="115" y="2152"/>
                    <a:pt x="114" y="2149"/>
                    <a:pt x="110" y="2143"/>
                  </a:cubicBezTo>
                  <a:cubicBezTo>
                    <a:pt x="101" y="2131"/>
                    <a:pt x="91" y="2110"/>
                    <a:pt x="82" y="2081"/>
                  </a:cubicBezTo>
                  <a:cubicBezTo>
                    <a:pt x="65" y="2024"/>
                    <a:pt x="51" y="1939"/>
                    <a:pt x="46" y="1839"/>
                  </a:cubicBezTo>
                  <a:cubicBezTo>
                    <a:pt x="38" y="1638"/>
                    <a:pt x="68" y="1375"/>
                    <a:pt x="181" y="1144"/>
                  </a:cubicBezTo>
                  <a:cubicBezTo>
                    <a:pt x="207" y="1089"/>
                    <a:pt x="254" y="1045"/>
                    <a:pt x="305" y="1017"/>
                  </a:cubicBezTo>
                  <a:cubicBezTo>
                    <a:pt x="355" y="990"/>
                    <a:pt x="457" y="942"/>
                    <a:pt x="520" y="915"/>
                  </a:cubicBezTo>
                  <a:lnTo>
                    <a:pt x="445" y="920"/>
                  </a:lnTo>
                  <a:cubicBezTo>
                    <a:pt x="377" y="950"/>
                    <a:pt x="332" y="967"/>
                    <a:pt x="278" y="997"/>
                  </a:cubicBezTo>
                  <a:cubicBezTo>
                    <a:pt x="224" y="1026"/>
                    <a:pt x="178" y="1065"/>
                    <a:pt x="147" y="1128"/>
                  </a:cubicBezTo>
                  <a:cubicBezTo>
                    <a:pt x="31" y="1366"/>
                    <a:pt x="0" y="1634"/>
                    <a:pt x="9" y="1840"/>
                  </a:cubicBezTo>
                  <a:cubicBezTo>
                    <a:pt x="13" y="1943"/>
                    <a:pt x="21" y="2043"/>
                    <a:pt x="40" y="2105"/>
                  </a:cubicBezTo>
                  <a:cubicBezTo>
                    <a:pt x="50" y="2136"/>
                    <a:pt x="60" y="2162"/>
                    <a:pt x="73" y="2179"/>
                  </a:cubicBezTo>
                  <a:cubicBezTo>
                    <a:pt x="79" y="2188"/>
                    <a:pt x="92" y="2197"/>
                    <a:pt x="101" y="2203"/>
                  </a:cubicBezTo>
                  <a:cubicBezTo>
                    <a:pt x="108" y="2206"/>
                    <a:pt x="123" y="2210"/>
                    <a:pt x="132" y="2209"/>
                  </a:cubicBezTo>
                  <a:cubicBezTo>
                    <a:pt x="150" y="2209"/>
                    <a:pt x="161" y="2206"/>
                    <a:pt x="178" y="2198"/>
                  </a:cubicBezTo>
                  <a:cubicBezTo>
                    <a:pt x="195" y="2188"/>
                    <a:pt x="211" y="2163"/>
                    <a:pt x="221" y="2143"/>
                  </a:cubicBezTo>
                  <a:cubicBezTo>
                    <a:pt x="241" y="2103"/>
                    <a:pt x="252" y="2046"/>
                    <a:pt x="261" y="1984"/>
                  </a:cubicBezTo>
                  <a:cubicBezTo>
                    <a:pt x="270" y="1922"/>
                    <a:pt x="280" y="1861"/>
                    <a:pt x="287" y="1802"/>
                  </a:cubicBezTo>
                  <a:cubicBezTo>
                    <a:pt x="294" y="1743"/>
                    <a:pt x="303" y="1692"/>
                    <a:pt x="315" y="1665"/>
                  </a:cubicBezTo>
                  <a:cubicBezTo>
                    <a:pt x="321" y="1651"/>
                    <a:pt x="325" y="1636"/>
                    <a:pt x="334" y="1623"/>
                  </a:cubicBezTo>
                  <a:cubicBezTo>
                    <a:pt x="343" y="1611"/>
                    <a:pt x="354" y="1591"/>
                    <a:pt x="372" y="1588"/>
                  </a:cubicBezTo>
                  <a:lnTo>
                    <a:pt x="371" y="1589"/>
                  </a:lnTo>
                  <a:lnTo>
                    <a:pt x="373" y="1589"/>
                  </a:lnTo>
                  <a:cubicBezTo>
                    <a:pt x="379" y="1586"/>
                    <a:pt x="379" y="1589"/>
                    <a:pt x="383" y="1594"/>
                  </a:cubicBezTo>
                  <a:cubicBezTo>
                    <a:pt x="388" y="1598"/>
                    <a:pt x="395" y="1610"/>
                    <a:pt x="401" y="1627"/>
                  </a:cubicBezTo>
                  <a:cubicBezTo>
                    <a:pt x="413" y="1662"/>
                    <a:pt x="421" y="1718"/>
                    <a:pt x="426" y="1788"/>
                  </a:cubicBezTo>
                  <a:cubicBezTo>
                    <a:pt x="436" y="1928"/>
                    <a:pt x="435" y="2122"/>
                    <a:pt x="435" y="2315"/>
                  </a:cubicBezTo>
                  <a:cubicBezTo>
                    <a:pt x="435" y="2509"/>
                    <a:pt x="436" y="2703"/>
                    <a:pt x="451" y="2846"/>
                  </a:cubicBezTo>
                  <a:cubicBezTo>
                    <a:pt x="459" y="2917"/>
                    <a:pt x="470" y="2976"/>
                    <a:pt x="488" y="3017"/>
                  </a:cubicBezTo>
                  <a:cubicBezTo>
                    <a:pt x="497" y="3038"/>
                    <a:pt x="507" y="3054"/>
                    <a:pt x="522" y="3065"/>
                  </a:cubicBezTo>
                  <a:cubicBezTo>
                    <a:pt x="535" y="3076"/>
                    <a:pt x="551" y="3082"/>
                    <a:pt x="568" y="3082"/>
                  </a:cubicBezTo>
                  <a:cubicBezTo>
                    <a:pt x="593" y="3084"/>
                    <a:pt x="618" y="3079"/>
                    <a:pt x="638" y="3065"/>
                  </a:cubicBezTo>
                  <a:cubicBezTo>
                    <a:pt x="660" y="3050"/>
                    <a:pt x="677" y="3027"/>
                    <a:pt x="692" y="2998"/>
                  </a:cubicBezTo>
                  <a:cubicBezTo>
                    <a:pt x="723" y="2939"/>
                    <a:pt x="746" y="2855"/>
                    <a:pt x="768" y="2760"/>
                  </a:cubicBezTo>
                  <a:cubicBezTo>
                    <a:pt x="809" y="2578"/>
                    <a:pt x="871" y="2339"/>
                    <a:pt x="891" y="2186"/>
                  </a:cubicBezTo>
                  <a:cubicBezTo>
                    <a:pt x="894" y="2189"/>
                    <a:pt x="905" y="2201"/>
                    <a:pt x="909" y="2205"/>
                  </a:cubicBezTo>
                  <a:cubicBezTo>
                    <a:pt x="921" y="2221"/>
                    <a:pt x="931" y="2243"/>
                    <a:pt x="944" y="2270"/>
                  </a:cubicBezTo>
                  <a:cubicBezTo>
                    <a:pt x="971" y="2325"/>
                    <a:pt x="986" y="2402"/>
                    <a:pt x="987" y="2456"/>
                  </a:cubicBezTo>
                  <a:cubicBezTo>
                    <a:pt x="990" y="2542"/>
                    <a:pt x="981" y="2679"/>
                    <a:pt x="996" y="2802"/>
                  </a:cubicBezTo>
                  <a:cubicBezTo>
                    <a:pt x="1004" y="2863"/>
                    <a:pt x="1021" y="2940"/>
                    <a:pt x="1047" y="2988"/>
                  </a:cubicBezTo>
                  <a:cubicBezTo>
                    <a:pt x="1065" y="3021"/>
                    <a:pt x="1085" y="3051"/>
                    <a:pt x="1115" y="3065"/>
                  </a:cubicBezTo>
                  <a:cubicBezTo>
                    <a:pt x="1129" y="3071"/>
                    <a:pt x="1129" y="3070"/>
                    <a:pt x="1146" y="3075"/>
                  </a:cubicBezTo>
                  <a:lnTo>
                    <a:pt x="1164" y="3074"/>
                  </a:lnTo>
                  <a:lnTo>
                    <a:pt x="1176" y="3071"/>
                  </a:lnTo>
                  <a:cubicBezTo>
                    <a:pt x="1211" y="3058"/>
                    <a:pt x="1237" y="3029"/>
                    <a:pt x="1257" y="2990"/>
                  </a:cubicBezTo>
                  <a:cubicBezTo>
                    <a:pt x="1276" y="2952"/>
                    <a:pt x="1290" y="2904"/>
                    <a:pt x="1300" y="2849"/>
                  </a:cubicBezTo>
                  <a:cubicBezTo>
                    <a:pt x="1321" y="2741"/>
                    <a:pt x="1328" y="2635"/>
                    <a:pt x="1337" y="2504"/>
                  </a:cubicBezTo>
                  <a:lnTo>
                    <a:pt x="1338" y="2476"/>
                  </a:lnTo>
                  <a:lnTo>
                    <a:pt x="1338" y="2475"/>
                  </a:lnTo>
                  <a:cubicBezTo>
                    <a:pt x="1356" y="2123"/>
                    <a:pt x="1301" y="1901"/>
                    <a:pt x="1260" y="1564"/>
                  </a:cubicBezTo>
                  <a:cubicBezTo>
                    <a:pt x="1258" y="1556"/>
                    <a:pt x="1258" y="1537"/>
                    <a:pt x="1258" y="1537"/>
                  </a:cubicBezTo>
                  <a:cubicBezTo>
                    <a:pt x="1249" y="1386"/>
                    <a:pt x="1251" y="1247"/>
                    <a:pt x="1259" y="1137"/>
                  </a:cubicBezTo>
                  <a:cubicBezTo>
                    <a:pt x="1263" y="1083"/>
                    <a:pt x="1273" y="1033"/>
                    <a:pt x="1282" y="994"/>
                  </a:cubicBezTo>
                  <a:cubicBezTo>
                    <a:pt x="1292" y="954"/>
                    <a:pt x="1298" y="934"/>
                    <a:pt x="1315" y="905"/>
                  </a:cubicBezTo>
                  <a:lnTo>
                    <a:pt x="1317" y="899"/>
                  </a:lnTo>
                  <a:lnTo>
                    <a:pt x="1319" y="893"/>
                  </a:lnTo>
                  <a:cubicBezTo>
                    <a:pt x="1349" y="790"/>
                    <a:pt x="1414" y="710"/>
                    <a:pt x="1471" y="582"/>
                  </a:cubicBezTo>
                  <a:cubicBezTo>
                    <a:pt x="1523" y="466"/>
                    <a:pt x="1565" y="329"/>
                    <a:pt x="1583" y="222"/>
                  </a:cubicBezTo>
                  <a:cubicBezTo>
                    <a:pt x="1593" y="169"/>
                    <a:pt x="1596" y="116"/>
                    <a:pt x="1591" y="79"/>
                  </a:cubicBezTo>
                  <a:cubicBezTo>
                    <a:pt x="1588" y="60"/>
                    <a:pt x="1579" y="42"/>
                    <a:pt x="1570" y="28"/>
                  </a:cubicBezTo>
                  <a:cubicBezTo>
                    <a:pt x="1562" y="15"/>
                    <a:pt x="1546" y="5"/>
                    <a:pt x="1536" y="2"/>
                  </a:cubicBezTo>
                  <a:lnTo>
                    <a:pt x="1532" y="1"/>
                  </a:lnTo>
                  <a:lnTo>
                    <a:pt x="1529" y="0"/>
                  </a:lnTo>
                  <a:lnTo>
                    <a:pt x="15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64" name="Freeform 13"/>
            <p:cNvSpPr>
              <a:spLocks/>
            </p:cNvSpPr>
            <p:nvPr/>
          </p:nvSpPr>
          <p:spPr bwMode="auto">
            <a:xfrm>
              <a:off x="4902200" y="4216400"/>
              <a:ext cx="282575" cy="106363"/>
            </a:xfrm>
            <a:custGeom>
              <a:avLst/>
              <a:gdLst>
                <a:gd name="T0" fmla="*/ 758 w 758"/>
                <a:gd name="T1" fmla="*/ 265 h 282"/>
                <a:gd name="T2" fmla="*/ 659 w 758"/>
                <a:gd name="T3" fmla="*/ 173 h 282"/>
                <a:gd name="T4" fmla="*/ 489 w 758"/>
                <a:gd name="T5" fmla="*/ 89 h 282"/>
                <a:gd name="T6" fmla="*/ 241 w 758"/>
                <a:gd name="T7" fmla="*/ 13 h 282"/>
                <a:gd name="T8" fmla="*/ 164 w 758"/>
                <a:gd name="T9" fmla="*/ 0 h 282"/>
                <a:gd name="T10" fmla="*/ 73 w 758"/>
                <a:gd name="T11" fmla="*/ 55 h 282"/>
                <a:gd name="T12" fmla="*/ 0 w 758"/>
                <a:gd name="T13" fmla="*/ 164 h 282"/>
                <a:gd name="T14" fmla="*/ 5 w 758"/>
                <a:gd name="T15" fmla="*/ 279 h 282"/>
                <a:gd name="T16" fmla="*/ 285 w 758"/>
                <a:gd name="T17" fmla="*/ 230 h 282"/>
                <a:gd name="T18" fmla="*/ 473 w 758"/>
                <a:gd name="T19" fmla="*/ 226 h 282"/>
                <a:gd name="T20" fmla="*/ 754 w 758"/>
                <a:gd name="T21" fmla="*/ 282 h 282"/>
                <a:gd name="T22" fmla="*/ 758 w 758"/>
                <a:gd name="T23" fmla="*/ 26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8" h="282">
                  <a:moveTo>
                    <a:pt x="758" y="265"/>
                  </a:moveTo>
                  <a:lnTo>
                    <a:pt x="659" y="173"/>
                  </a:lnTo>
                  <a:lnTo>
                    <a:pt x="489" y="89"/>
                  </a:lnTo>
                  <a:lnTo>
                    <a:pt x="241" y="13"/>
                  </a:lnTo>
                  <a:lnTo>
                    <a:pt x="164" y="0"/>
                  </a:lnTo>
                  <a:lnTo>
                    <a:pt x="73" y="55"/>
                  </a:lnTo>
                  <a:lnTo>
                    <a:pt x="0" y="164"/>
                  </a:lnTo>
                  <a:lnTo>
                    <a:pt x="5" y="279"/>
                  </a:lnTo>
                  <a:lnTo>
                    <a:pt x="285" y="230"/>
                  </a:lnTo>
                  <a:lnTo>
                    <a:pt x="473" y="226"/>
                  </a:lnTo>
                  <a:lnTo>
                    <a:pt x="754" y="282"/>
                  </a:lnTo>
                  <a:lnTo>
                    <a:pt x="758" y="265"/>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65" name="Freeform 14"/>
            <p:cNvSpPr>
              <a:spLocks noEditPoints="1"/>
            </p:cNvSpPr>
            <p:nvPr/>
          </p:nvSpPr>
          <p:spPr bwMode="auto">
            <a:xfrm>
              <a:off x="4908550" y="4233863"/>
              <a:ext cx="100013" cy="84138"/>
            </a:xfrm>
            <a:custGeom>
              <a:avLst/>
              <a:gdLst>
                <a:gd name="T0" fmla="*/ 10 w 266"/>
                <a:gd name="T1" fmla="*/ 227 h 229"/>
                <a:gd name="T2" fmla="*/ 3 w 266"/>
                <a:gd name="T3" fmla="*/ 217 h 229"/>
                <a:gd name="T4" fmla="*/ 5 w 266"/>
                <a:gd name="T5" fmla="*/ 155 h 229"/>
                <a:gd name="T6" fmla="*/ 56 w 266"/>
                <a:gd name="T7" fmla="*/ 64 h 229"/>
                <a:gd name="T8" fmla="*/ 143 w 266"/>
                <a:gd name="T9" fmla="*/ 1 h 229"/>
                <a:gd name="T10" fmla="*/ 152 w 266"/>
                <a:gd name="T11" fmla="*/ 6 h 229"/>
                <a:gd name="T12" fmla="*/ 158 w 266"/>
                <a:gd name="T13" fmla="*/ 13 h 229"/>
                <a:gd name="T14" fmla="*/ 165 w 266"/>
                <a:gd name="T15" fmla="*/ 20 h 229"/>
                <a:gd name="T16" fmla="*/ 172 w 266"/>
                <a:gd name="T17" fmla="*/ 27 h 229"/>
                <a:gd name="T18" fmla="*/ 178 w 266"/>
                <a:gd name="T19" fmla="*/ 32 h 229"/>
                <a:gd name="T20" fmla="*/ 190 w 266"/>
                <a:gd name="T21" fmla="*/ 38 h 229"/>
                <a:gd name="T22" fmla="*/ 203 w 266"/>
                <a:gd name="T23" fmla="*/ 44 h 229"/>
                <a:gd name="T24" fmla="*/ 209 w 266"/>
                <a:gd name="T25" fmla="*/ 51 h 229"/>
                <a:gd name="T26" fmla="*/ 216 w 266"/>
                <a:gd name="T27" fmla="*/ 58 h 229"/>
                <a:gd name="T28" fmla="*/ 221 w 266"/>
                <a:gd name="T29" fmla="*/ 64 h 229"/>
                <a:gd name="T30" fmla="*/ 227 w 266"/>
                <a:gd name="T31" fmla="*/ 70 h 229"/>
                <a:gd name="T32" fmla="*/ 240 w 266"/>
                <a:gd name="T33" fmla="*/ 75 h 229"/>
                <a:gd name="T34" fmla="*/ 253 w 266"/>
                <a:gd name="T35" fmla="*/ 82 h 229"/>
                <a:gd name="T36" fmla="*/ 261 w 266"/>
                <a:gd name="T37" fmla="*/ 89 h 229"/>
                <a:gd name="T38" fmla="*/ 245 w 266"/>
                <a:gd name="T39" fmla="*/ 99 h 229"/>
                <a:gd name="T40" fmla="*/ 117 w 266"/>
                <a:gd name="T41" fmla="*/ 163 h 229"/>
                <a:gd name="T42" fmla="*/ 77 w 266"/>
                <a:gd name="T43" fmla="*/ 194 h 229"/>
                <a:gd name="T44" fmla="*/ 55 w 266"/>
                <a:gd name="T45" fmla="*/ 212 h 229"/>
                <a:gd name="T46" fmla="*/ 52 w 266"/>
                <a:gd name="T47" fmla="*/ 214 h 229"/>
                <a:gd name="T48" fmla="*/ 33 w 266"/>
                <a:gd name="T49" fmla="*/ 223 h 229"/>
                <a:gd name="T50" fmla="*/ 10 w 266"/>
                <a:gd name="T51" fmla="*/ 227 h 229"/>
                <a:gd name="T52" fmla="*/ 28 w 266"/>
                <a:gd name="T53" fmla="*/ 193 h 229"/>
                <a:gd name="T54" fmla="*/ 22 w 266"/>
                <a:gd name="T55" fmla="*/ 188 h 229"/>
                <a:gd name="T56" fmla="*/ 17 w 266"/>
                <a:gd name="T57" fmla="*/ 193 h 229"/>
                <a:gd name="T58" fmla="*/ 22 w 266"/>
                <a:gd name="T59" fmla="*/ 199 h 229"/>
                <a:gd name="T60" fmla="*/ 28 w 266"/>
                <a:gd name="T61" fmla="*/ 193 h 229"/>
                <a:gd name="T62" fmla="*/ 141 w 266"/>
                <a:gd name="T63" fmla="*/ 94 h 229"/>
                <a:gd name="T64" fmla="*/ 134 w 266"/>
                <a:gd name="T65" fmla="*/ 88 h 229"/>
                <a:gd name="T66" fmla="*/ 127 w 266"/>
                <a:gd name="T67" fmla="*/ 94 h 229"/>
                <a:gd name="T68" fmla="*/ 134 w 266"/>
                <a:gd name="T69" fmla="*/ 100 h 229"/>
                <a:gd name="T70" fmla="*/ 141 w 266"/>
                <a:gd name="T71" fmla="*/ 9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6" h="229">
                  <a:moveTo>
                    <a:pt x="10" y="227"/>
                  </a:moveTo>
                  <a:cubicBezTo>
                    <a:pt x="6" y="226"/>
                    <a:pt x="4" y="223"/>
                    <a:pt x="3" y="217"/>
                  </a:cubicBezTo>
                  <a:cubicBezTo>
                    <a:pt x="0" y="202"/>
                    <a:pt x="1" y="169"/>
                    <a:pt x="5" y="155"/>
                  </a:cubicBezTo>
                  <a:cubicBezTo>
                    <a:pt x="11" y="128"/>
                    <a:pt x="33" y="89"/>
                    <a:pt x="56" y="64"/>
                  </a:cubicBezTo>
                  <a:cubicBezTo>
                    <a:pt x="77" y="41"/>
                    <a:pt x="129" y="2"/>
                    <a:pt x="143" y="1"/>
                  </a:cubicBezTo>
                  <a:cubicBezTo>
                    <a:pt x="151" y="0"/>
                    <a:pt x="152" y="0"/>
                    <a:pt x="152" y="6"/>
                  </a:cubicBezTo>
                  <a:cubicBezTo>
                    <a:pt x="152" y="13"/>
                    <a:pt x="152" y="13"/>
                    <a:pt x="158" y="13"/>
                  </a:cubicBezTo>
                  <a:cubicBezTo>
                    <a:pt x="164" y="13"/>
                    <a:pt x="165" y="14"/>
                    <a:pt x="165" y="20"/>
                  </a:cubicBezTo>
                  <a:cubicBezTo>
                    <a:pt x="165" y="26"/>
                    <a:pt x="166" y="27"/>
                    <a:pt x="172" y="27"/>
                  </a:cubicBezTo>
                  <a:cubicBezTo>
                    <a:pt x="177" y="27"/>
                    <a:pt x="178" y="27"/>
                    <a:pt x="178" y="32"/>
                  </a:cubicBezTo>
                  <a:cubicBezTo>
                    <a:pt x="178" y="37"/>
                    <a:pt x="179" y="38"/>
                    <a:pt x="190" y="38"/>
                  </a:cubicBezTo>
                  <a:cubicBezTo>
                    <a:pt x="202" y="38"/>
                    <a:pt x="203" y="38"/>
                    <a:pt x="203" y="44"/>
                  </a:cubicBezTo>
                  <a:cubicBezTo>
                    <a:pt x="203" y="50"/>
                    <a:pt x="203" y="51"/>
                    <a:pt x="209" y="51"/>
                  </a:cubicBezTo>
                  <a:cubicBezTo>
                    <a:pt x="215" y="51"/>
                    <a:pt x="216" y="52"/>
                    <a:pt x="216" y="58"/>
                  </a:cubicBezTo>
                  <a:cubicBezTo>
                    <a:pt x="216" y="63"/>
                    <a:pt x="217" y="64"/>
                    <a:pt x="221" y="64"/>
                  </a:cubicBezTo>
                  <a:cubicBezTo>
                    <a:pt x="226" y="64"/>
                    <a:pt x="227" y="65"/>
                    <a:pt x="227" y="70"/>
                  </a:cubicBezTo>
                  <a:cubicBezTo>
                    <a:pt x="227" y="75"/>
                    <a:pt x="227" y="75"/>
                    <a:pt x="240" y="75"/>
                  </a:cubicBezTo>
                  <a:cubicBezTo>
                    <a:pt x="253" y="75"/>
                    <a:pt x="253" y="75"/>
                    <a:pt x="253" y="82"/>
                  </a:cubicBezTo>
                  <a:cubicBezTo>
                    <a:pt x="253" y="88"/>
                    <a:pt x="254" y="88"/>
                    <a:pt x="261" y="89"/>
                  </a:cubicBezTo>
                  <a:cubicBezTo>
                    <a:pt x="266" y="89"/>
                    <a:pt x="263" y="91"/>
                    <a:pt x="245" y="99"/>
                  </a:cubicBezTo>
                  <a:cubicBezTo>
                    <a:pt x="204" y="116"/>
                    <a:pt x="138" y="149"/>
                    <a:pt x="117" y="163"/>
                  </a:cubicBezTo>
                  <a:cubicBezTo>
                    <a:pt x="106" y="171"/>
                    <a:pt x="88" y="185"/>
                    <a:pt x="77" y="194"/>
                  </a:cubicBezTo>
                  <a:cubicBezTo>
                    <a:pt x="66" y="204"/>
                    <a:pt x="56" y="212"/>
                    <a:pt x="55" y="212"/>
                  </a:cubicBezTo>
                  <a:cubicBezTo>
                    <a:pt x="54" y="212"/>
                    <a:pt x="52" y="213"/>
                    <a:pt x="52" y="214"/>
                  </a:cubicBezTo>
                  <a:cubicBezTo>
                    <a:pt x="51" y="215"/>
                    <a:pt x="43" y="219"/>
                    <a:pt x="33" y="223"/>
                  </a:cubicBezTo>
                  <a:cubicBezTo>
                    <a:pt x="20" y="228"/>
                    <a:pt x="14" y="229"/>
                    <a:pt x="10" y="227"/>
                  </a:cubicBezTo>
                  <a:close/>
                  <a:moveTo>
                    <a:pt x="28" y="193"/>
                  </a:moveTo>
                  <a:cubicBezTo>
                    <a:pt x="28" y="189"/>
                    <a:pt x="27" y="188"/>
                    <a:pt x="22" y="188"/>
                  </a:cubicBezTo>
                  <a:cubicBezTo>
                    <a:pt x="18" y="188"/>
                    <a:pt x="17" y="189"/>
                    <a:pt x="17" y="193"/>
                  </a:cubicBezTo>
                  <a:cubicBezTo>
                    <a:pt x="17" y="198"/>
                    <a:pt x="18" y="199"/>
                    <a:pt x="22" y="199"/>
                  </a:cubicBezTo>
                  <a:cubicBezTo>
                    <a:pt x="27" y="199"/>
                    <a:pt x="28" y="198"/>
                    <a:pt x="28" y="193"/>
                  </a:cubicBezTo>
                  <a:close/>
                  <a:moveTo>
                    <a:pt x="141" y="94"/>
                  </a:moveTo>
                  <a:cubicBezTo>
                    <a:pt x="141" y="89"/>
                    <a:pt x="140" y="88"/>
                    <a:pt x="134" y="88"/>
                  </a:cubicBezTo>
                  <a:cubicBezTo>
                    <a:pt x="128" y="88"/>
                    <a:pt x="127" y="89"/>
                    <a:pt x="127" y="94"/>
                  </a:cubicBezTo>
                  <a:cubicBezTo>
                    <a:pt x="127" y="99"/>
                    <a:pt x="128" y="100"/>
                    <a:pt x="134" y="100"/>
                  </a:cubicBezTo>
                  <a:cubicBezTo>
                    <a:pt x="140" y="100"/>
                    <a:pt x="141" y="99"/>
                    <a:pt x="141" y="94"/>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66" name="Freeform 15"/>
            <p:cNvSpPr>
              <a:spLocks/>
            </p:cNvSpPr>
            <p:nvPr/>
          </p:nvSpPr>
          <p:spPr bwMode="auto">
            <a:xfrm>
              <a:off x="5192713" y="4157663"/>
              <a:ext cx="57150" cy="149225"/>
            </a:xfrm>
            <a:custGeom>
              <a:avLst/>
              <a:gdLst>
                <a:gd name="T0" fmla="*/ 0 w 154"/>
                <a:gd name="T1" fmla="*/ 398 h 398"/>
                <a:gd name="T2" fmla="*/ 1 w 154"/>
                <a:gd name="T3" fmla="*/ 333 h 398"/>
                <a:gd name="T4" fmla="*/ 46 w 154"/>
                <a:gd name="T5" fmla="*/ 203 h 398"/>
                <a:gd name="T6" fmla="*/ 73 w 154"/>
                <a:gd name="T7" fmla="*/ 102 h 398"/>
                <a:gd name="T8" fmla="*/ 108 w 154"/>
                <a:gd name="T9" fmla="*/ 16 h 398"/>
                <a:gd name="T10" fmla="*/ 137 w 154"/>
                <a:gd name="T11" fmla="*/ 0 h 398"/>
                <a:gd name="T12" fmla="*/ 154 w 154"/>
                <a:gd name="T13" fmla="*/ 95 h 398"/>
                <a:gd name="T14" fmla="*/ 82 w 154"/>
                <a:gd name="T15" fmla="*/ 276 h 398"/>
                <a:gd name="T16" fmla="*/ 38 w 154"/>
                <a:gd name="T17" fmla="*/ 350 h 398"/>
                <a:gd name="T18" fmla="*/ 0 w 154"/>
                <a:gd name="T19" fmla="*/ 39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398">
                  <a:moveTo>
                    <a:pt x="0" y="398"/>
                  </a:moveTo>
                  <a:lnTo>
                    <a:pt x="1" y="333"/>
                  </a:lnTo>
                  <a:lnTo>
                    <a:pt x="46" y="203"/>
                  </a:lnTo>
                  <a:lnTo>
                    <a:pt x="73" y="102"/>
                  </a:lnTo>
                  <a:lnTo>
                    <a:pt x="108" y="16"/>
                  </a:lnTo>
                  <a:lnTo>
                    <a:pt x="137" y="0"/>
                  </a:lnTo>
                  <a:lnTo>
                    <a:pt x="154" y="95"/>
                  </a:lnTo>
                  <a:lnTo>
                    <a:pt x="82" y="276"/>
                  </a:lnTo>
                  <a:lnTo>
                    <a:pt x="38" y="350"/>
                  </a:lnTo>
                  <a:lnTo>
                    <a:pt x="0" y="398"/>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67" name="Freeform 16"/>
            <p:cNvSpPr>
              <a:spLocks/>
            </p:cNvSpPr>
            <p:nvPr/>
          </p:nvSpPr>
          <p:spPr bwMode="auto">
            <a:xfrm>
              <a:off x="4908550" y="4219575"/>
              <a:ext cx="280988" cy="111125"/>
            </a:xfrm>
            <a:custGeom>
              <a:avLst/>
              <a:gdLst>
                <a:gd name="T0" fmla="*/ 751 w 751"/>
                <a:gd name="T1" fmla="*/ 278 h 296"/>
                <a:gd name="T2" fmla="*/ 137 w 751"/>
                <a:gd name="T3" fmla="*/ 0 h 296"/>
                <a:gd name="T4" fmla="*/ 0 w 751"/>
                <a:gd name="T5" fmla="*/ 296 h 296"/>
                <a:gd name="T6" fmla="*/ 751 w 751"/>
                <a:gd name="T7" fmla="*/ 278 h 296"/>
              </a:gdLst>
              <a:ahLst/>
              <a:cxnLst>
                <a:cxn ang="0">
                  <a:pos x="T0" y="T1"/>
                </a:cxn>
                <a:cxn ang="0">
                  <a:pos x="T2" y="T3"/>
                </a:cxn>
                <a:cxn ang="0">
                  <a:pos x="T4" y="T5"/>
                </a:cxn>
                <a:cxn ang="0">
                  <a:pos x="T6" y="T7"/>
                </a:cxn>
              </a:cxnLst>
              <a:rect l="0" t="0" r="r" b="b"/>
              <a:pathLst>
                <a:path w="751" h="296">
                  <a:moveTo>
                    <a:pt x="751" y="278"/>
                  </a:moveTo>
                  <a:lnTo>
                    <a:pt x="137" y="0"/>
                  </a:lnTo>
                  <a:lnTo>
                    <a:pt x="0" y="296"/>
                  </a:lnTo>
                  <a:lnTo>
                    <a:pt x="751" y="278"/>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68" name="Freeform 17"/>
            <p:cNvSpPr>
              <a:spLocks/>
            </p:cNvSpPr>
            <p:nvPr/>
          </p:nvSpPr>
          <p:spPr bwMode="auto">
            <a:xfrm>
              <a:off x="4859338" y="4230688"/>
              <a:ext cx="334963" cy="93663"/>
            </a:xfrm>
            <a:custGeom>
              <a:avLst/>
              <a:gdLst>
                <a:gd name="T0" fmla="*/ 894 w 898"/>
                <a:gd name="T1" fmla="*/ 221 h 251"/>
                <a:gd name="T2" fmla="*/ 266 w 898"/>
                <a:gd name="T3" fmla="*/ 0 h 251"/>
                <a:gd name="T4" fmla="*/ 134 w 898"/>
                <a:gd name="T5" fmla="*/ 247 h 251"/>
                <a:gd name="T6" fmla="*/ 894 w 898"/>
                <a:gd name="T7" fmla="*/ 221 h 251"/>
              </a:gdLst>
              <a:ahLst/>
              <a:cxnLst>
                <a:cxn ang="0">
                  <a:pos x="T0" y="T1"/>
                </a:cxn>
                <a:cxn ang="0">
                  <a:pos x="T2" y="T3"/>
                </a:cxn>
                <a:cxn ang="0">
                  <a:pos x="T4" y="T5"/>
                </a:cxn>
                <a:cxn ang="0">
                  <a:pos x="T6" y="T7"/>
                </a:cxn>
              </a:cxnLst>
              <a:rect l="0" t="0" r="r" b="b"/>
              <a:pathLst>
                <a:path w="898" h="251">
                  <a:moveTo>
                    <a:pt x="894" y="221"/>
                  </a:moveTo>
                  <a:cubicBezTo>
                    <a:pt x="898" y="251"/>
                    <a:pt x="266" y="0"/>
                    <a:pt x="266" y="0"/>
                  </a:cubicBezTo>
                  <a:cubicBezTo>
                    <a:pt x="0" y="41"/>
                    <a:pt x="97" y="150"/>
                    <a:pt x="134" y="247"/>
                  </a:cubicBezTo>
                  <a:lnTo>
                    <a:pt x="894" y="221"/>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69" name="Freeform 18"/>
            <p:cNvSpPr>
              <a:spLocks/>
            </p:cNvSpPr>
            <p:nvPr/>
          </p:nvSpPr>
          <p:spPr bwMode="auto">
            <a:xfrm>
              <a:off x="5102225" y="4124325"/>
              <a:ext cx="98425" cy="117475"/>
            </a:xfrm>
            <a:custGeom>
              <a:avLst/>
              <a:gdLst>
                <a:gd name="T0" fmla="*/ 9 w 265"/>
                <a:gd name="T1" fmla="*/ 0 h 314"/>
                <a:gd name="T2" fmla="*/ 265 w 265"/>
                <a:gd name="T3" fmla="*/ 163 h 314"/>
                <a:gd name="T4" fmla="*/ 0 w 265"/>
                <a:gd name="T5" fmla="*/ 314 h 314"/>
              </a:gdLst>
              <a:ahLst/>
              <a:cxnLst>
                <a:cxn ang="0">
                  <a:pos x="T0" y="T1"/>
                </a:cxn>
                <a:cxn ang="0">
                  <a:pos x="T2" y="T3"/>
                </a:cxn>
                <a:cxn ang="0">
                  <a:pos x="T4" y="T5"/>
                </a:cxn>
              </a:cxnLst>
              <a:rect l="0" t="0" r="r" b="b"/>
              <a:pathLst>
                <a:path w="265" h="314">
                  <a:moveTo>
                    <a:pt x="9" y="0"/>
                  </a:moveTo>
                  <a:cubicBezTo>
                    <a:pt x="40" y="305"/>
                    <a:pt x="265" y="163"/>
                    <a:pt x="265" y="163"/>
                  </a:cubicBezTo>
                  <a:lnTo>
                    <a:pt x="0" y="314"/>
                  </a:lnTo>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70" name="Freeform 23"/>
            <p:cNvSpPr>
              <a:spLocks/>
            </p:cNvSpPr>
            <p:nvPr/>
          </p:nvSpPr>
          <p:spPr bwMode="auto">
            <a:xfrm>
              <a:off x="4903788" y="4159250"/>
              <a:ext cx="349250" cy="163513"/>
            </a:xfrm>
            <a:custGeom>
              <a:avLst/>
              <a:gdLst>
                <a:gd name="T0" fmla="*/ 746 w 932"/>
                <a:gd name="T1" fmla="*/ 384 h 437"/>
                <a:gd name="T2" fmla="*/ 145 w 932"/>
                <a:gd name="T3" fmla="*/ 150 h 437"/>
                <a:gd name="T4" fmla="*/ 0 w 932"/>
                <a:gd name="T5" fmla="*/ 437 h 437"/>
                <a:gd name="T6" fmla="*/ 742 w 932"/>
                <a:gd name="T7" fmla="*/ 433 h 437"/>
                <a:gd name="T8" fmla="*/ 932 w 932"/>
                <a:gd name="T9" fmla="*/ 0 h 437"/>
                <a:gd name="T10" fmla="*/ 875 w 932"/>
                <a:gd name="T11" fmla="*/ 0 h 437"/>
                <a:gd name="T12" fmla="*/ 746 w 932"/>
                <a:gd name="T13" fmla="*/ 384 h 437"/>
              </a:gdLst>
              <a:ahLst/>
              <a:cxnLst>
                <a:cxn ang="0">
                  <a:pos x="T0" y="T1"/>
                </a:cxn>
                <a:cxn ang="0">
                  <a:pos x="T2" y="T3"/>
                </a:cxn>
                <a:cxn ang="0">
                  <a:pos x="T4" y="T5"/>
                </a:cxn>
                <a:cxn ang="0">
                  <a:pos x="T6" y="T7"/>
                </a:cxn>
                <a:cxn ang="0">
                  <a:pos x="T8" y="T9"/>
                </a:cxn>
                <a:cxn ang="0">
                  <a:pos x="T10" y="T11"/>
                </a:cxn>
                <a:cxn ang="0">
                  <a:pos x="T12" y="T13"/>
                </a:cxn>
              </a:cxnLst>
              <a:rect l="0" t="0" r="r" b="b"/>
              <a:pathLst>
                <a:path w="932" h="437">
                  <a:moveTo>
                    <a:pt x="746" y="384"/>
                  </a:moveTo>
                  <a:lnTo>
                    <a:pt x="145" y="150"/>
                  </a:lnTo>
                  <a:lnTo>
                    <a:pt x="0" y="437"/>
                  </a:lnTo>
                  <a:lnTo>
                    <a:pt x="742" y="433"/>
                  </a:lnTo>
                  <a:lnTo>
                    <a:pt x="932" y="0"/>
                  </a:lnTo>
                  <a:lnTo>
                    <a:pt x="875" y="0"/>
                  </a:lnTo>
                  <a:lnTo>
                    <a:pt x="746" y="384"/>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71" name="Freeform 24"/>
            <p:cNvSpPr>
              <a:spLocks noEditPoints="1"/>
            </p:cNvSpPr>
            <p:nvPr/>
          </p:nvSpPr>
          <p:spPr bwMode="auto">
            <a:xfrm>
              <a:off x="4892675" y="4146550"/>
              <a:ext cx="363538" cy="187325"/>
            </a:xfrm>
            <a:custGeom>
              <a:avLst/>
              <a:gdLst>
                <a:gd name="T0" fmla="*/ 929 w 973"/>
                <a:gd name="T1" fmla="*/ 14 h 501"/>
                <a:gd name="T2" fmla="*/ 916 w 973"/>
                <a:gd name="T3" fmla="*/ 14 h 501"/>
                <a:gd name="T4" fmla="*/ 897 w 973"/>
                <a:gd name="T5" fmla="*/ 76 h 501"/>
                <a:gd name="T6" fmla="*/ 871 w 973"/>
                <a:gd name="T7" fmla="*/ 134 h 501"/>
                <a:gd name="T8" fmla="*/ 860 w 973"/>
                <a:gd name="T9" fmla="*/ 165 h 501"/>
                <a:gd name="T10" fmla="*/ 845 w 973"/>
                <a:gd name="T11" fmla="*/ 200 h 501"/>
                <a:gd name="T12" fmla="*/ 839 w 973"/>
                <a:gd name="T13" fmla="*/ 214 h 501"/>
                <a:gd name="T14" fmla="*/ 772 w 973"/>
                <a:gd name="T15" fmla="*/ 417 h 501"/>
                <a:gd name="T16" fmla="*/ 190 w 973"/>
                <a:gd name="T17" fmla="*/ 188 h 501"/>
                <a:gd name="T18" fmla="*/ 173 w 973"/>
                <a:gd name="T19" fmla="*/ 190 h 501"/>
                <a:gd name="T20" fmla="*/ 162 w 973"/>
                <a:gd name="T21" fmla="*/ 195 h 501"/>
                <a:gd name="T22" fmla="*/ 43 w 973"/>
                <a:gd name="T23" fmla="*/ 302 h 501"/>
                <a:gd name="T24" fmla="*/ 9 w 973"/>
                <a:gd name="T25" fmla="*/ 471 h 501"/>
                <a:gd name="T26" fmla="*/ 21 w 973"/>
                <a:gd name="T27" fmla="*/ 490 h 501"/>
                <a:gd name="T28" fmla="*/ 38 w 973"/>
                <a:gd name="T29" fmla="*/ 497 h 501"/>
                <a:gd name="T30" fmla="*/ 72 w 973"/>
                <a:gd name="T31" fmla="*/ 497 h 501"/>
                <a:gd name="T32" fmla="*/ 769 w 973"/>
                <a:gd name="T33" fmla="*/ 496 h 501"/>
                <a:gd name="T34" fmla="*/ 776 w 973"/>
                <a:gd name="T35" fmla="*/ 500 h 501"/>
                <a:gd name="T36" fmla="*/ 784 w 973"/>
                <a:gd name="T37" fmla="*/ 498 h 501"/>
                <a:gd name="T38" fmla="*/ 819 w 973"/>
                <a:gd name="T39" fmla="*/ 484 h 501"/>
                <a:gd name="T40" fmla="*/ 826 w 973"/>
                <a:gd name="T41" fmla="*/ 482 h 501"/>
                <a:gd name="T42" fmla="*/ 830 w 973"/>
                <a:gd name="T43" fmla="*/ 475 h 501"/>
                <a:gd name="T44" fmla="*/ 929 w 973"/>
                <a:gd name="T45" fmla="*/ 232 h 501"/>
                <a:gd name="T46" fmla="*/ 973 w 973"/>
                <a:gd name="T47" fmla="*/ 56 h 501"/>
                <a:gd name="T48" fmla="*/ 973 w 973"/>
                <a:gd name="T49" fmla="*/ 50 h 501"/>
                <a:gd name="T50" fmla="*/ 969 w 973"/>
                <a:gd name="T51" fmla="*/ 45 h 501"/>
                <a:gd name="T52" fmla="*/ 944 w 973"/>
                <a:gd name="T53" fmla="*/ 19 h 501"/>
                <a:gd name="T54" fmla="*/ 929 w 973"/>
                <a:gd name="T55" fmla="*/ 14 h 501"/>
                <a:gd name="T56" fmla="*/ 925 w 973"/>
                <a:gd name="T57" fmla="*/ 52 h 501"/>
                <a:gd name="T58" fmla="*/ 934 w 973"/>
                <a:gd name="T59" fmla="*/ 62 h 501"/>
                <a:gd name="T60" fmla="*/ 894 w 973"/>
                <a:gd name="T61" fmla="*/ 219 h 501"/>
                <a:gd name="T62" fmla="*/ 808 w 973"/>
                <a:gd name="T63" fmla="*/ 404 h 501"/>
                <a:gd name="T64" fmla="*/ 914 w 973"/>
                <a:gd name="T65" fmla="*/ 64 h 501"/>
                <a:gd name="T66" fmla="*/ 925 w 973"/>
                <a:gd name="T67" fmla="*/ 52 h 501"/>
                <a:gd name="T68" fmla="*/ 195 w 973"/>
                <a:gd name="T69" fmla="*/ 229 h 501"/>
                <a:gd name="T70" fmla="*/ 781 w 973"/>
                <a:gd name="T71" fmla="*/ 460 h 501"/>
                <a:gd name="T72" fmla="*/ 62 w 973"/>
                <a:gd name="T73" fmla="*/ 461 h 501"/>
                <a:gd name="T74" fmla="*/ 48 w 973"/>
                <a:gd name="T75" fmla="*/ 457 h 501"/>
                <a:gd name="T76" fmla="*/ 46 w 973"/>
                <a:gd name="T77" fmla="*/ 443 h 501"/>
                <a:gd name="T78" fmla="*/ 76 w 973"/>
                <a:gd name="T79" fmla="*/ 325 h 501"/>
                <a:gd name="T80" fmla="*/ 180 w 973"/>
                <a:gd name="T81" fmla="*/ 232 h 501"/>
                <a:gd name="T82" fmla="*/ 195 w 973"/>
                <a:gd name="T83" fmla="*/ 22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3" h="501">
                  <a:moveTo>
                    <a:pt x="929" y="14"/>
                  </a:moveTo>
                  <a:cubicBezTo>
                    <a:pt x="923" y="13"/>
                    <a:pt x="921" y="13"/>
                    <a:pt x="916" y="14"/>
                  </a:cubicBezTo>
                  <a:cubicBezTo>
                    <a:pt x="919" y="0"/>
                    <a:pt x="909" y="36"/>
                    <a:pt x="897" y="76"/>
                  </a:cubicBezTo>
                  <a:cubicBezTo>
                    <a:pt x="890" y="92"/>
                    <a:pt x="888" y="94"/>
                    <a:pt x="871" y="134"/>
                  </a:cubicBezTo>
                  <a:cubicBezTo>
                    <a:pt x="871" y="136"/>
                    <a:pt x="868" y="147"/>
                    <a:pt x="860" y="165"/>
                  </a:cubicBezTo>
                  <a:cubicBezTo>
                    <a:pt x="853" y="182"/>
                    <a:pt x="853" y="182"/>
                    <a:pt x="845" y="200"/>
                  </a:cubicBezTo>
                  <a:cubicBezTo>
                    <a:pt x="843" y="206"/>
                    <a:pt x="841" y="208"/>
                    <a:pt x="839" y="214"/>
                  </a:cubicBezTo>
                  <a:cubicBezTo>
                    <a:pt x="815" y="271"/>
                    <a:pt x="799" y="355"/>
                    <a:pt x="772" y="417"/>
                  </a:cubicBezTo>
                  <a:cubicBezTo>
                    <a:pt x="550" y="244"/>
                    <a:pt x="299" y="174"/>
                    <a:pt x="190" y="188"/>
                  </a:cubicBezTo>
                  <a:lnTo>
                    <a:pt x="173" y="190"/>
                  </a:lnTo>
                  <a:lnTo>
                    <a:pt x="162" y="195"/>
                  </a:lnTo>
                  <a:cubicBezTo>
                    <a:pt x="98" y="236"/>
                    <a:pt x="72" y="257"/>
                    <a:pt x="43" y="302"/>
                  </a:cubicBezTo>
                  <a:cubicBezTo>
                    <a:pt x="13" y="347"/>
                    <a:pt x="0" y="415"/>
                    <a:pt x="9" y="471"/>
                  </a:cubicBezTo>
                  <a:cubicBezTo>
                    <a:pt x="10" y="480"/>
                    <a:pt x="16" y="486"/>
                    <a:pt x="21" y="490"/>
                  </a:cubicBezTo>
                  <a:cubicBezTo>
                    <a:pt x="27" y="494"/>
                    <a:pt x="32" y="496"/>
                    <a:pt x="38" y="497"/>
                  </a:cubicBezTo>
                  <a:cubicBezTo>
                    <a:pt x="49" y="500"/>
                    <a:pt x="60" y="501"/>
                    <a:pt x="72" y="497"/>
                  </a:cubicBezTo>
                  <a:cubicBezTo>
                    <a:pt x="451" y="389"/>
                    <a:pt x="636" y="424"/>
                    <a:pt x="769" y="496"/>
                  </a:cubicBezTo>
                  <a:lnTo>
                    <a:pt x="776" y="500"/>
                  </a:lnTo>
                  <a:lnTo>
                    <a:pt x="784" y="498"/>
                  </a:lnTo>
                  <a:lnTo>
                    <a:pt x="819" y="484"/>
                  </a:lnTo>
                  <a:lnTo>
                    <a:pt x="826" y="482"/>
                  </a:lnTo>
                  <a:lnTo>
                    <a:pt x="830" y="475"/>
                  </a:lnTo>
                  <a:cubicBezTo>
                    <a:pt x="844" y="404"/>
                    <a:pt x="903" y="304"/>
                    <a:pt x="929" y="232"/>
                  </a:cubicBezTo>
                  <a:cubicBezTo>
                    <a:pt x="955" y="160"/>
                    <a:pt x="971" y="101"/>
                    <a:pt x="973" y="56"/>
                  </a:cubicBezTo>
                  <a:lnTo>
                    <a:pt x="973" y="50"/>
                  </a:lnTo>
                  <a:lnTo>
                    <a:pt x="969" y="45"/>
                  </a:lnTo>
                  <a:cubicBezTo>
                    <a:pt x="961" y="33"/>
                    <a:pt x="953" y="25"/>
                    <a:pt x="944" y="19"/>
                  </a:cubicBezTo>
                  <a:cubicBezTo>
                    <a:pt x="939" y="16"/>
                    <a:pt x="934" y="15"/>
                    <a:pt x="929" y="14"/>
                  </a:cubicBezTo>
                  <a:close/>
                  <a:moveTo>
                    <a:pt x="925" y="52"/>
                  </a:moveTo>
                  <a:cubicBezTo>
                    <a:pt x="926" y="52"/>
                    <a:pt x="930" y="58"/>
                    <a:pt x="934" y="62"/>
                  </a:cubicBezTo>
                  <a:cubicBezTo>
                    <a:pt x="932" y="98"/>
                    <a:pt x="918" y="152"/>
                    <a:pt x="894" y="219"/>
                  </a:cubicBezTo>
                  <a:cubicBezTo>
                    <a:pt x="875" y="271"/>
                    <a:pt x="835" y="342"/>
                    <a:pt x="808" y="404"/>
                  </a:cubicBezTo>
                  <a:cubicBezTo>
                    <a:pt x="884" y="192"/>
                    <a:pt x="903" y="119"/>
                    <a:pt x="914" y="64"/>
                  </a:cubicBezTo>
                  <a:cubicBezTo>
                    <a:pt x="920" y="58"/>
                    <a:pt x="925" y="52"/>
                    <a:pt x="925" y="52"/>
                  </a:cubicBezTo>
                  <a:close/>
                  <a:moveTo>
                    <a:pt x="195" y="229"/>
                  </a:moveTo>
                  <a:cubicBezTo>
                    <a:pt x="449" y="256"/>
                    <a:pt x="675" y="359"/>
                    <a:pt x="781" y="460"/>
                  </a:cubicBezTo>
                  <a:cubicBezTo>
                    <a:pt x="641" y="391"/>
                    <a:pt x="287" y="369"/>
                    <a:pt x="62" y="461"/>
                  </a:cubicBezTo>
                  <a:cubicBezTo>
                    <a:pt x="59" y="462"/>
                    <a:pt x="53" y="458"/>
                    <a:pt x="48" y="457"/>
                  </a:cubicBezTo>
                  <a:cubicBezTo>
                    <a:pt x="47" y="452"/>
                    <a:pt x="46" y="443"/>
                    <a:pt x="46" y="443"/>
                  </a:cubicBezTo>
                  <a:cubicBezTo>
                    <a:pt x="40" y="397"/>
                    <a:pt x="52" y="362"/>
                    <a:pt x="76" y="325"/>
                  </a:cubicBezTo>
                  <a:cubicBezTo>
                    <a:pt x="100" y="288"/>
                    <a:pt x="122" y="269"/>
                    <a:pt x="180" y="232"/>
                  </a:cubicBezTo>
                  <a:lnTo>
                    <a:pt x="195" y="229"/>
                  </a:lnTo>
                  <a:close/>
                </a:path>
              </a:pathLst>
            </a:custGeom>
            <a:solidFill>
              <a:srgbClr val="6A8C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72" name="Freeform 25"/>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73" name="Freeform 26"/>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74" name="Freeform 27"/>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75" name="Freeform 28"/>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76" name="Freeform 29"/>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77" name="Freeform 30"/>
            <p:cNvSpPr>
              <a:spLocks noEditPoints="1"/>
            </p:cNvSpPr>
            <p:nvPr/>
          </p:nvSpPr>
          <p:spPr bwMode="auto">
            <a:xfrm>
              <a:off x="4862513" y="3951288"/>
              <a:ext cx="515938" cy="815975"/>
            </a:xfrm>
            <a:custGeom>
              <a:avLst/>
              <a:gdLst>
                <a:gd name="T0" fmla="*/ 376 w 1378"/>
                <a:gd name="T1" fmla="*/ 1494 h 2181"/>
                <a:gd name="T2" fmla="*/ 280 w 1378"/>
                <a:gd name="T3" fmla="*/ 1703 h 2181"/>
                <a:gd name="T4" fmla="*/ 53 w 1378"/>
                <a:gd name="T5" fmla="*/ 2056 h 2181"/>
                <a:gd name="T6" fmla="*/ 133 w 1378"/>
                <a:gd name="T7" fmla="*/ 1049 h 2181"/>
                <a:gd name="T8" fmla="*/ 100 w 1378"/>
                <a:gd name="T9" fmla="*/ 1009 h 2181"/>
                <a:gd name="T10" fmla="*/ 184 w 1378"/>
                <a:gd name="T11" fmla="*/ 759 h 2181"/>
                <a:gd name="T12" fmla="*/ 246 w 1378"/>
                <a:gd name="T13" fmla="*/ 691 h 2181"/>
                <a:gd name="T14" fmla="*/ 444 w 1378"/>
                <a:gd name="T15" fmla="*/ 90 h 2181"/>
                <a:gd name="T16" fmla="*/ 992 w 1378"/>
                <a:gd name="T17" fmla="*/ 337 h 2181"/>
                <a:gd name="T18" fmla="*/ 1004 w 1378"/>
                <a:gd name="T19" fmla="*/ 538 h 2181"/>
                <a:gd name="T20" fmla="*/ 1059 w 1378"/>
                <a:gd name="T21" fmla="*/ 509 h 2181"/>
                <a:gd name="T22" fmla="*/ 1347 w 1378"/>
                <a:gd name="T23" fmla="*/ 0 h 2181"/>
                <a:gd name="T24" fmla="*/ 1378 w 1378"/>
                <a:gd name="T25" fmla="*/ 9 h 2181"/>
                <a:gd name="T26" fmla="*/ 1202 w 1378"/>
                <a:gd name="T27" fmla="*/ 344 h 2181"/>
                <a:gd name="T28" fmla="*/ 1022 w 1378"/>
                <a:gd name="T29" fmla="*/ 709 h 2181"/>
                <a:gd name="T30" fmla="*/ 881 w 1378"/>
                <a:gd name="T31" fmla="*/ 1011 h 2181"/>
                <a:gd name="T32" fmla="*/ 581 w 1378"/>
                <a:gd name="T33" fmla="*/ 950 h 2181"/>
                <a:gd name="T34" fmla="*/ 143 w 1378"/>
                <a:gd name="T35" fmla="*/ 1112 h 2181"/>
                <a:gd name="T36" fmla="*/ 136 w 1378"/>
                <a:gd name="T37" fmla="*/ 2068 h 2181"/>
                <a:gd name="T38" fmla="*/ 281 w 1378"/>
                <a:gd name="T39" fmla="*/ 1522 h 2181"/>
                <a:gd name="T40" fmla="*/ 464 w 1378"/>
                <a:gd name="T41" fmla="*/ 2034 h 2181"/>
                <a:gd name="T42" fmla="*/ 431 w 1378"/>
                <a:gd name="T43" fmla="*/ 2181 h 2181"/>
                <a:gd name="T44" fmla="*/ 192 w 1378"/>
                <a:gd name="T45" fmla="*/ 959 h 2181"/>
                <a:gd name="T46" fmla="*/ 416 w 1378"/>
                <a:gd name="T47" fmla="*/ 830 h 2181"/>
                <a:gd name="T48" fmla="*/ 275 w 1378"/>
                <a:gd name="T49" fmla="*/ 751 h 2181"/>
                <a:gd name="T50" fmla="*/ 124 w 1378"/>
                <a:gd name="T51" fmla="*/ 969 h 2181"/>
                <a:gd name="T52" fmla="*/ 160 w 1378"/>
                <a:gd name="T53" fmla="*/ 977 h 2181"/>
                <a:gd name="T54" fmla="*/ 390 w 1378"/>
                <a:gd name="T55" fmla="*/ 768 h 2181"/>
                <a:gd name="T56" fmla="*/ 455 w 1378"/>
                <a:gd name="T57" fmla="*/ 822 h 2181"/>
                <a:gd name="T58" fmla="*/ 255 w 1378"/>
                <a:gd name="T59" fmla="*/ 947 h 2181"/>
                <a:gd name="T60" fmla="*/ 692 w 1378"/>
                <a:gd name="T61" fmla="*/ 933 h 2181"/>
                <a:gd name="T62" fmla="*/ 834 w 1378"/>
                <a:gd name="T63" fmla="*/ 965 h 2181"/>
                <a:gd name="T64" fmla="*/ 922 w 1378"/>
                <a:gd name="T65" fmla="*/ 740 h 2181"/>
                <a:gd name="T66" fmla="*/ 848 w 1378"/>
                <a:gd name="T67" fmla="*/ 769 h 2181"/>
                <a:gd name="T68" fmla="*/ 891 w 1378"/>
                <a:gd name="T69" fmla="*/ 202 h 2181"/>
                <a:gd name="T70" fmla="*/ 249 w 1378"/>
                <a:gd name="T71" fmla="*/ 540 h 2181"/>
                <a:gd name="T72" fmla="*/ 349 w 1378"/>
                <a:gd name="T73" fmla="*/ 713 h 2181"/>
                <a:gd name="T74" fmla="*/ 864 w 1378"/>
                <a:gd name="T75" fmla="*/ 911 h 2181"/>
                <a:gd name="T76" fmla="*/ 1003 w 1378"/>
                <a:gd name="T77" fmla="*/ 643 h 2181"/>
                <a:gd name="T78" fmla="*/ 963 w 1378"/>
                <a:gd name="T79" fmla="*/ 712 h 2181"/>
                <a:gd name="T80" fmla="*/ 929 w 1378"/>
                <a:gd name="T81" fmla="*/ 847 h 2181"/>
                <a:gd name="T82" fmla="*/ 997 w 1378"/>
                <a:gd name="T83" fmla="*/ 579 h 2181"/>
                <a:gd name="T84" fmla="*/ 993 w 1378"/>
                <a:gd name="T85" fmla="*/ 601 h 2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78" h="2181">
                  <a:moveTo>
                    <a:pt x="429" y="2044"/>
                  </a:moveTo>
                  <a:cubicBezTo>
                    <a:pt x="428" y="1893"/>
                    <a:pt x="424" y="1765"/>
                    <a:pt x="421" y="1714"/>
                  </a:cubicBezTo>
                  <a:cubicBezTo>
                    <a:pt x="413" y="1590"/>
                    <a:pt x="398" y="1516"/>
                    <a:pt x="376" y="1494"/>
                  </a:cubicBezTo>
                  <a:cubicBezTo>
                    <a:pt x="368" y="1486"/>
                    <a:pt x="357" y="1490"/>
                    <a:pt x="341" y="1506"/>
                  </a:cubicBezTo>
                  <a:cubicBezTo>
                    <a:pt x="327" y="1522"/>
                    <a:pt x="316" y="1542"/>
                    <a:pt x="306" y="1572"/>
                  </a:cubicBezTo>
                  <a:cubicBezTo>
                    <a:pt x="295" y="1602"/>
                    <a:pt x="290" y="1627"/>
                    <a:pt x="280" y="1703"/>
                  </a:cubicBezTo>
                  <a:cubicBezTo>
                    <a:pt x="245" y="1953"/>
                    <a:pt x="237" y="1993"/>
                    <a:pt x="215" y="2041"/>
                  </a:cubicBezTo>
                  <a:cubicBezTo>
                    <a:pt x="193" y="2087"/>
                    <a:pt x="172" y="2106"/>
                    <a:pt x="136" y="2110"/>
                  </a:cubicBezTo>
                  <a:cubicBezTo>
                    <a:pt x="99" y="2115"/>
                    <a:pt x="73" y="2097"/>
                    <a:pt x="53" y="2056"/>
                  </a:cubicBezTo>
                  <a:cubicBezTo>
                    <a:pt x="36" y="2020"/>
                    <a:pt x="27" y="1987"/>
                    <a:pt x="19" y="1936"/>
                  </a:cubicBezTo>
                  <a:cubicBezTo>
                    <a:pt x="8" y="1865"/>
                    <a:pt x="0" y="1711"/>
                    <a:pt x="2" y="1633"/>
                  </a:cubicBezTo>
                  <a:cubicBezTo>
                    <a:pt x="9" y="1417"/>
                    <a:pt x="55" y="1214"/>
                    <a:pt x="133" y="1049"/>
                  </a:cubicBezTo>
                  <a:cubicBezTo>
                    <a:pt x="141" y="1033"/>
                    <a:pt x="147" y="1020"/>
                    <a:pt x="147" y="1019"/>
                  </a:cubicBezTo>
                  <a:cubicBezTo>
                    <a:pt x="147" y="1019"/>
                    <a:pt x="144" y="1020"/>
                    <a:pt x="140" y="1020"/>
                  </a:cubicBezTo>
                  <a:cubicBezTo>
                    <a:pt x="127" y="1022"/>
                    <a:pt x="108" y="1016"/>
                    <a:pt x="100" y="1009"/>
                  </a:cubicBezTo>
                  <a:cubicBezTo>
                    <a:pt x="89" y="999"/>
                    <a:pt x="87" y="990"/>
                    <a:pt x="88" y="949"/>
                  </a:cubicBezTo>
                  <a:cubicBezTo>
                    <a:pt x="89" y="920"/>
                    <a:pt x="90" y="909"/>
                    <a:pt x="95" y="892"/>
                  </a:cubicBezTo>
                  <a:cubicBezTo>
                    <a:pt x="109" y="837"/>
                    <a:pt x="138" y="794"/>
                    <a:pt x="184" y="759"/>
                  </a:cubicBezTo>
                  <a:cubicBezTo>
                    <a:pt x="209" y="739"/>
                    <a:pt x="248" y="713"/>
                    <a:pt x="253" y="713"/>
                  </a:cubicBezTo>
                  <a:cubicBezTo>
                    <a:pt x="256" y="713"/>
                    <a:pt x="258" y="712"/>
                    <a:pt x="258" y="711"/>
                  </a:cubicBezTo>
                  <a:cubicBezTo>
                    <a:pt x="258" y="710"/>
                    <a:pt x="252" y="701"/>
                    <a:pt x="246" y="691"/>
                  </a:cubicBezTo>
                  <a:cubicBezTo>
                    <a:pt x="225" y="656"/>
                    <a:pt x="210" y="621"/>
                    <a:pt x="203" y="585"/>
                  </a:cubicBezTo>
                  <a:cubicBezTo>
                    <a:pt x="197" y="558"/>
                    <a:pt x="198" y="447"/>
                    <a:pt x="203" y="412"/>
                  </a:cubicBezTo>
                  <a:cubicBezTo>
                    <a:pt x="226" y="268"/>
                    <a:pt x="311" y="155"/>
                    <a:pt x="444" y="90"/>
                  </a:cubicBezTo>
                  <a:cubicBezTo>
                    <a:pt x="480" y="73"/>
                    <a:pt x="498" y="66"/>
                    <a:pt x="533" y="57"/>
                  </a:cubicBezTo>
                  <a:cubicBezTo>
                    <a:pt x="685" y="18"/>
                    <a:pt x="843" y="69"/>
                    <a:pt x="920" y="182"/>
                  </a:cubicBezTo>
                  <a:cubicBezTo>
                    <a:pt x="951" y="229"/>
                    <a:pt x="980" y="289"/>
                    <a:pt x="992" y="337"/>
                  </a:cubicBezTo>
                  <a:cubicBezTo>
                    <a:pt x="1002" y="376"/>
                    <a:pt x="1003" y="389"/>
                    <a:pt x="1003" y="438"/>
                  </a:cubicBezTo>
                  <a:cubicBezTo>
                    <a:pt x="1003" y="481"/>
                    <a:pt x="1001" y="499"/>
                    <a:pt x="994" y="532"/>
                  </a:cubicBezTo>
                  <a:cubicBezTo>
                    <a:pt x="993" y="537"/>
                    <a:pt x="994" y="538"/>
                    <a:pt x="1004" y="538"/>
                  </a:cubicBezTo>
                  <a:cubicBezTo>
                    <a:pt x="1012" y="538"/>
                    <a:pt x="1018" y="540"/>
                    <a:pt x="1022" y="543"/>
                  </a:cubicBezTo>
                  <a:cubicBezTo>
                    <a:pt x="1026" y="545"/>
                    <a:pt x="1030" y="548"/>
                    <a:pt x="1031" y="548"/>
                  </a:cubicBezTo>
                  <a:cubicBezTo>
                    <a:pt x="1032" y="548"/>
                    <a:pt x="1045" y="530"/>
                    <a:pt x="1059" y="509"/>
                  </a:cubicBezTo>
                  <a:cubicBezTo>
                    <a:pt x="1127" y="411"/>
                    <a:pt x="1152" y="367"/>
                    <a:pt x="1234" y="203"/>
                  </a:cubicBezTo>
                  <a:cubicBezTo>
                    <a:pt x="1295" y="80"/>
                    <a:pt x="1309" y="55"/>
                    <a:pt x="1333" y="20"/>
                  </a:cubicBezTo>
                  <a:lnTo>
                    <a:pt x="1347" y="0"/>
                  </a:lnTo>
                  <a:lnTo>
                    <a:pt x="1363" y="0"/>
                  </a:lnTo>
                  <a:lnTo>
                    <a:pt x="1378" y="0"/>
                  </a:lnTo>
                  <a:lnTo>
                    <a:pt x="1378" y="9"/>
                  </a:lnTo>
                  <a:cubicBezTo>
                    <a:pt x="1378" y="16"/>
                    <a:pt x="1376" y="21"/>
                    <a:pt x="1364" y="38"/>
                  </a:cubicBezTo>
                  <a:cubicBezTo>
                    <a:pt x="1342" y="68"/>
                    <a:pt x="1320" y="107"/>
                    <a:pt x="1270" y="209"/>
                  </a:cubicBezTo>
                  <a:cubicBezTo>
                    <a:pt x="1245" y="260"/>
                    <a:pt x="1214" y="321"/>
                    <a:pt x="1202" y="344"/>
                  </a:cubicBezTo>
                  <a:cubicBezTo>
                    <a:pt x="1164" y="415"/>
                    <a:pt x="1111" y="499"/>
                    <a:pt x="1068" y="556"/>
                  </a:cubicBezTo>
                  <a:cubicBezTo>
                    <a:pt x="1052" y="579"/>
                    <a:pt x="1051" y="580"/>
                    <a:pt x="1049" y="598"/>
                  </a:cubicBezTo>
                  <a:cubicBezTo>
                    <a:pt x="1045" y="628"/>
                    <a:pt x="1036" y="666"/>
                    <a:pt x="1022" y="709"/>
                  </a:cubicBezTo>
                  <a:cubicBezTo>
                    <a:pt x="1005" y="761"/>
                    <a:pt x="997" y="780"/>
                    <a:pt x="966" y="848"/>
                  </a:cubicBezTo>
                  <a:cubicBezTo>
                    <a:pt x="935" y="916"/>
                    <a:pt x="923" y="944"/>
                    <a:pt x="915" y="971"/>
                  </a:cubicBezTo>
                  <a:cubicBezTo>
                    <a:pt x="905" y="1004"/>
                    <a:pt x="907" y="1001"/>
                    <a:pt x="881" y="1011"/>
                  </a:cubicBezTo>
                  <a:cubicBezTo>
                    <a:pt x="869" y="1016"/>
                    <a:pt x="857" y="1020"/>
                    <a:pt x="856" y="1020"/>
                  </a:cubicBezTo>
                  <a:cubicBezTo>
                    <a:pt x="855" y="1020"/>
                    <a:pt x="845" y="1016"/>
                    <a:pt x="835" y="1011"/>
                  </a:cubicBezTo>
                  <a:cubicBezTo>
                    <a:pt x="755" y="971"/>
                    <a:pt x="681" y="953"/>
                    <a:pt x="581" y="950"/>
                  </a:cubicBezTo>
                  <a:cubicBezTo>
                    <a:pt x="475" y="947"/>
                    <a:pt x="352" y="965"/>
                    <a:pt x="206" y="1003"/>
                  </a:cubicBezTo>
                  <a:cubicBezTo>
                    <a:pt x="199" y="1005"/>
                    <a:pt x="196" y="1008"/>
                    <a:pt x="188" y="1021"/>
                  </a:cubicBezTo>
                  <a:cubicBezTo>
                    <a:pt x="177" y="1038"/>
                    <a:pt x="159" y="1074"/>
                    <a:pt x="143" y="1112"/>
                  </a:cubicBezTo>
                  <a:cubicBezTo>
                    <a:pt x="61" y="1312"/>
                    <a:pt x="25" y="1549"/>
                    <a:pt x="41" y="1783"/>
                  </a:cubicBezTo>
                  <a:cubicBezTo>
                    <a:pt x="49" y="1900"/>
                    <a:pt x="73" y="2004"/>
                    <a:pt x="101" y="2046"/>
                  </a:cubicBezTo>
                  <a:cubicBezTo>
                    <a:pt x="109" y="2058"/>
                    <a:pt x="125" y="2068"/>
                    <a:pt x="136" y="2068"/>
                  </a:cubicBezTo>
                  <a:cubicBezTo>
                    <a:pt x="155" y="2068"/>
                    <a:pt x="174" y="2049"/>
                    <a:pt x="187" y="2016"/>
                  </a:cubicBezTo>
                  <a:cubicBezTo>
                    <a:pt x="207" y="1965"/>
                    <a:pt x="215" y="1916"/>
                    <a:pt x="236" y="1734"/>
                  </a:cubicBezTo>
                  <a:cubicBezTo>
                    <a:pt x="250" y="1610"/>
                    <a:pt x="258" y="1570"/>
                    <a:pt x="281" y="1522"/>
                  </a:cubicBezTo>
                  <a:cubicBezTo>
                    <a:pt x="298" y="1487"/>
                    <a:pt x="324" y="1467"/>
                    <a:pt x="357" y="1460"/>
                  </a:cubicBezTo>
                  <a:cubicBezTo>
                    <a:pt x="393" y="1453"/>
                    <a:pt x="416" y="1475"/>
                    <a:pt x="432" y="1531"/>
                  </a:cubicBezTo>
                  <a:cubicBezTo>
                    <a:pt x="454" y="1611"/>
                    <a:pt x="461" y="1719"/>
                    <a:pt x="464" y="2034"/>
                  </a:cubicBezTo>
                  <a:lnTo>
                    <a:pt x="466" y="2181"/>
                  </a:lnTo>
                  <a:lnTo>
                    <a:pt x="448" y="2181"/>
                  </a:lnTo>
                  <a:lnTo>
                    <a:pt x="431" y="2181"/>
                  </a:lnTo>
                  <a:lnTo>
                    <a:pt x="429" y="2044"/>
                  </a:lnTo>
                  <a:close/>
                  <a:moveTo>
                    <a:pt x="160" y="977"/>
                  </a:moveTo>
                  <a:cubicBezTo>
                    <a:pt x="177" y="971"/>
                    <a:pt x="184" y="967"/>
                    <a:pt x="192" y="959"/>
                  </a:cubicBezTo>
                  <a:cubicBezTo>
                    <a:pt x="210" y="942"/>
                    <a:pt x="226" y="929"/>
                    <a:pt x="245" y="917"/>
                  </a:cubicBezTo>
                  <a:cubicBezTo>
                    <a:pt x="267" y="903"/>
                    <a:pt x="333" y="870"/>
                    <a:pt x="380" y="849"/>
                  </a:cubicBezTo>
                  <a:cubicBezTo>
                    <a:pt x="416" y="834"/>
                    <a:pt x="423" y="830"/>
                    <a:pt x="416" y="830"/>
                  </a:cubicBezTo>
                  <a:cubicBezTo>
                    <a:pt x="409" y="830"/>
                    <a:pt x="374" y="817"/>
                    <a:pt x="358" y="809"/>
                  </a:cubicBezTo>
                  <a:cubicBezTo>
                    <a:pt x="337" y="797"/>
                    <a:pt x="320" y="784"/>
                    <a:pt x="302" y="766"/>
                  </a:cubicBezTo>
                  <a:cubicBezTo>
                    <a:pt x="288" y="751"/>
                    <a:pt x="288" y="751"/>
                    <a:pt x="275" y="751"/>
                  </a:cubicBezTo>
                  <a:cubicBezTo>
                    <a:pt x="269" y="751"/>
                    <a:pt x="261" y="752"/>
                    <a:pt x="257" y="754"/>
                  </a:cubicBezTo>
                  <a:cubicBezTo>
                    <a:pt x="242" y="761"/>
                    <a:pt x="208" y="787"/>
                    <a:pt x="188" y="807"/>
                  </a:cubicBezTo>
                  <a:cubicBezTo>
                    <a:pt x="137" y="857"/>
                    <a:pt x="117" y="909"/>
                    <a:pt x="124" y="969"/>
                  </a:cubicBezTo>
                  <a:cubicBezTo>
                    <a:pt x="125" y="979"/>
                    <a:pt x="126" y="980"/>
                    <a:pt x="133" y="982"/>
                  </a:cubicBezTo>
                  <a:cubicBezTo>
                    <a:pt x="136" y="984"/>
                    <a:pt x="139" y="985"/>
                    <a:pt x="139" y="985"/>
                  </a:cubicBezTo>
                  <a:cubicBezTo>
                    <a:pt x="139" y="985"/>
                    <a:pt x="149" y="982"/>
                    <a:pt x="160" y="977"/>
                  </a:cubicBezTo>
                  <a:close/>
                  <a:moveTo>
                    <a:pt x="834" y="965"/>
                  </a:moveTo>
                  <a:cubicBezTo>
                    <a:pt x="828" y="958"/>
                    <a:pt x="811" y="945"/>
                    <a:pt x="798" y="935"/>
                  </a:cubicBezTo>
                  <a:cubicBezTo>
                    <a:pt x="694" y="859"/>
                    <a:pt x="546" y="798"/>
                    <a:pt x="390" y="768"/>
                  </a:cubicBezTo>
                  <a:cubicBezTo>
                    <a:pt x="375" y="765"/>
                    <a:pt x="364" y="763"/>
                    <a:pt x="365" y="764"/>
                  </a:cubicBezTo>
                  <a:cubicBezTo>
                    <a:pt x="371" y="769"/>
                    <a:pt x="400" y="788"/>
                    <a:pt x="426" y="804"/>
                  </a:cubicBezTo>
                  <a:lnTo>
                    <a:pt x="455" y="822"/>
                  </a:lnTo>
                  <a:lnTo>
                    <a:pt x="480" y="821"/>
                  </a:lnTo>
                  <a:cubicBezTo>
                    <a:pt x="509" y="819"/>
                    <a:pt x="512" y="817"/>
                    <a:pt x="441" y="849"/>
                  </a:cubicBezTo>
                  <a:cubicBezTo>
                    <a:pt x="347" y="892"/>
                    <a:pt x="261" y="937"/>
                    <a:pt x="255" y="947"/>
                  </a:cubicBezTo>
                  <a:cubicBezTo>
                    <a:pt x="254" y="948"/>
                    <a:pt x="269" y="946"/>
                    <a:pt x="289" y="942"/>
                  </a:cubicBezTo>
                  <a:cubicBezTo>
                    <a:pt x="368" y="926"/>
                    <a:pt x="442" y="920"/>
                    <a:pt x="541" y="922"/>
                  </a:cubicBezTo>
                  <a:cubicBezTo>
                    <a:pt x="610" y="923"/>
                    <a:pt x="638" y="925"/>
                    <a:pt x="692" y="933"/>
                  </a:cubicBezTo>
                  <a:cubicBezTo>
                    <a:pt x="740" y="941"/>
                    <a:pt x="800" y="957"/>
                    <a:pt x="830" y="971"/>
                  </a:cubicBezTo>
                  <a:cubicBezTo>
                    <a:pt x="837" y="974"/>
                    <a:pt x="843" y="976"/>
                    <a:pt x="844" y="976"/>
                  </a:cubicBezTo>
                  <a:cubicBezTo>
                    <a:pt x="846" y="976"/>
                    <a:pt x="841" y="971"/>
                    <a:pt x="834" y="965"/>
                  </a:cubicBezTo>
                  <a:lnTo>
                    <a:pt x="834" y="965"/>
                  </a:lnTo>
                  <a:close/>
                  <a:moveTo>
                    <a:pt x="864" y="911"/>
                  </a:moveTo>
                  <a:cubicBezTo>
                    <a:pt x="875" y="884"/>
                    <a:pt x="919" y="754"/>
                    <a:pt x="922" y="740"/>
                  </a:cubicBezTo>
                  <a:cubicBezTo>
                    <a:pt x="923" y="732"/>
                    <a:pt x="923" y="733"/>
                    <a:pt x="902" y="752"/>
                  </a:cubicBezTo>
                  <a:cubicBezTo>
                    <a:pt x="865" y="788"/>
                    <a:pt x="811" y="834"/>
                    <a:pt x="808" y="832"/>
                  </a:cubicBezTo>
                  <a:cubicBezTo>
                    <a:pt x="808" y="831"/>
                    <a:pt x="826" y="803"/>
                    <a:pt x="848" y="769"/>
                  </a:cubicBezTo>
                  <a:cubicBezTo>
                    <a:pt x="923" y="657"/>
                    <a:pt x="939" y="625"/>
                    <a:pt x="953" y="568"/>
                  </a:cubicBezTo>
                  <a:cubicBezTo>
                    <a:pt x="971" y="497"/>
                    <a:pt x="972" y="414"/>
                    <a:pt x="955" y="347"/>
                  </a:cubicBezTo>
                  <a:cubicBezTo>
                    <a:pt x="942" y="298"/>
                    <a:pt x="915" y="236"/>
                    <a:pt x="891" y="202"/>
                  </a:cubicBezTo>
                  <a:cubicBezTo>
                    <a:pt x="832" y="120"/>
                    <a:pt x="730" y="78"/>
                    <a:pt x="615" y="88"/>
                  </a:cubicBezTo>
                  <a:cubicBezTo>
                    <a:pt x="459" y="101"/>
                    <a:pt x="342" y="185"/>
                    <a:pt x="281" y="327"/>
                  </a:cubicBezTo>
                  <a:cubicBezTo>
                    <a:pt x="254" y="391"/>
                    <a:pt x="243" y="462"/>
                    <a:pt x="249" y="540"/>
                  </a:cubicBezTo>
                  <a:cubicBezTo>
                    <a:pt x="253" y="602"/>
                    <a:pt x="265" y="636"/>
                    <a:pt x="299" y="687"/>
                  </a:cubicBezTo>
                  <a:cubicBezTo>
                    <a:pt x="311" y="706"/>
                    <a:pt x="315" y="709"/>
                    <a:pt x="320" y="710"/>
                  </a:cubicBezTo>
                  <a:cubicBezTo>
                    <a:pt x="324" y="710"/>
                    <a:pt x="337" y="712"/>
                    <a:pt x="349" y="713"/>
                  </a:cubicBezTo>
                  <a:cubicBezTo>
                    <a:pt x="488" y="729"/>
                    <a:pt x="679" y="813"/>
                    <a:pt x="824" y="921"/>
                  </a:cubicBezTo>
                  <a:cubicBezTo>
                    <a:pt x="838" y="931"/>
                    <a:pt x="850" y="938"/>
                    <a:pt x="851" y="938"/>
                  </a:cubicBezTo>
                  <a:cubicBezTo>
                    <a:pt x="852" y="938"/>
                    <a:pt x="858" y="925"/>
                    <a:pt x="864" y="911"/>
                  </a:cubicBezTo>
                  <a:close/>
                  <a:moveTo>
                    <a:pt x="929" y="847"/>
                  </a:moveTo>
                  <a:cubicBezTo>
                    <a:pt x="959" y="781"/>
                    <a:pt x="979" y="728"/>
                    <a:pt x="990" y="693"/>
                  </a:cubicBezTo>
                  <a:cubicBezTo>
                    <a:pt x="998" y="665"/>
                    <a:pt x="1004" y="643"/>
                    <a:pt x="1003" y="643"/>
                  </a:cubicBezTo>
                  <a:cubicBezTo>
                    <a:pt x="1003" y="643"/>
                    <a:pt x="996" y="651"/>
                    <a:pt x="987" y="661"/>
                  </a:cubicBezTo>
                  <a:lnTo>
                    <a:pt x="972" y="679"/>
                  </a:lnTo>
                  <a:lnTo>
                    <a:pt x="963" y="712"/>
                  </a:lnTo>
                  <a:cubicBezTo>
                    <a:pt x="955" y="738"/>
                    <a:pt x="907" y="887"/>
                    <a:pt x="897" y="913"/>
                  </a:cubicBezTo>
                  <a:cubicBezTo>
                    <a:pt x="896" y="916"/>
                    <a:pt x="896" y="917"/>
                    <a:pt x="898" y="916"/>
                  </a:cubicBezTo>
                  <a:cubicBezTo>
                    <a:pt x="899" y="914"/>
                    <a:pt x="913" y="884"/>
                    <a:pt x="929" y="847"/>
                  </a:cubicBezTo>
                  <a:close/>
                  <a:moveTo>
                    <a:pt x="1004" y="587"/>
                  </a:moveTo>
                  <a:cubicBezTo>
                    <a:pt x="1009" y="579"/>
                    <a:pt x="1009" y="578"/>
                    <a:pt x="1006" y="575"/>
                  </a:cubicBezTo>
                  <a:cubicBezTo>
                    <a:pt x="1004" y="572"/>
                    <a:pt x="1003" y="573"/>
                    <a:pt x="997" y="579"/>
                  </a:cubicBezTo>
                  <a:cubicBezTo>
                    <a:pt x="994" y="584"/>
                    <a:pt x="991" y="591"/>
                    <a:pt x="990" y="597"/>
                  </a:cubicBezTo>
                  <a:lnTo>
                    <a:pt x="989" y="606"/>
                  </a:lnTo>
                  <a:lnTo>
                    <a:pt x="993" y="601"/>
                  </a:lnTo>
                  <a:cubicBezTo>
                    <a:pt x="996" y="598"/>
                    <a:pt x="1000" y="591"/>
                    <a:pt x="1004" y="587"/>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78" name="Freeform 31"/>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79" name="Freeform 32"/>
            <p:cNvSpPr>
              <a:spLocks/>
            </p:cNvSpPr>
            <p:nvPr/>
          </p:nvSpPr>
          <p:spPr bwMode="auto">
            <a:xfrm>
              <a:off x="5294313" y="3776663"/>
              <a:ext cx="123825" cy="209550"/>
            </a:xfrm>
            <a:custGeom>
              <a:avLst/>
              <a:gdLst>
                <a:gd name="T0" fmla="*/ 228 w 331"/>
                <a:gd name="T1" fmla="*/ 533 h 559"/>
                <a:gd name="T2" fmla="*/ 330 w 331"/>
                <a:gd name="T3" fmla="*/ 471 h 559"/>
                <a:gd name="T4" fmla="*/ 275 w 331"/>
                <a:gd name="T5" fmla="*/ 230 h 559"/>
                <a:gd name="T6" fmla="*/ 267 w 331"/>
                <a:gd name="T7" fmla="*/ 30 h 559"/>
                <a:gd name="T8" fmla="*/ 159 w 331"/>
                <a:gd name="T9" fmla="*/ 37 h 559"/>
                <a:gd name="T10" fmla="*/ 210 w 331"/>
                <a:gd name="T11" fmla="*/ 116 h 559"/>
                <a:gd name="T12" fmla="*/ 136 w 331"/>
                <a:gd name="T13" fmla="*/ 165 h 559"/>
                <a:gd name="T14" fmla="*/ 81 w 331"/>
                <a:gd name="T15" fmla="*/ 91 h 559"/>
                <a:gd name="T16" fmla="*/ 180 w 331"/>
                <a:gd name="T17" fmla="*/ 294 h 559"/>
                <a:gd name="T18" fmla="*/ 228 w 331"/>
                <a:gd name="T19" fmla="*/ 533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1" h="559">
                  <a:moveTo>
                    <a:pt x="228" y="533"/>
                  </a:moveTo>
                  <a:cubicBezTo>
                    <a:pt x="228" y="533"/>
                    <a:pt x="315" y="559"/>
                    <a:pt x="330" y="471"/>
                  </a:cubicBezTo>
                  <a:cubicBezTo>
                    <a:pt x="331" y="463"/>
                    <a:pt x="275" y="230"/>
                    <a:pt x="275" y="230"/>
                  </a:cubicBezTo>
                  <a:cubicBezTo>
                    <a:pt x="327" y="137"/>
                    <a:pt x="304" y="55"/>
                    <a:pt x="267" y="30"/>
                  </a:cubicBezTo>
                  <a:cubicBezTo>
                    <a:pt x="223" y="0"/>
                    <a:pt x="159" y="37"/>
                    <a:pt x="159" y="37"/>
                  </a:cubicBezTo>
                  <a:lnTo>
                    <a:pt x="210" y="116"/>
                  </a:lnTo>
                  <a:lnTo>
                    <a:pt x="136" y="165"/>
                  </a:lnTo>
                  <a:lnTo>
                    <a:pt x="81" y="91"/>
                  </a:lnTo>
                  <a:cubicBezTo>
                    <a:pt x="37" y="144"/>
                    <a:pt x="0" y="301"/>
                    <a:pt x="180" y="294"/>
                  </a:cubicBezTo>
                  <a:lnTo>
                    <a:pt x="228" y="533"/>
                  </a:lnTo>
                  <a:close/>
                </a:path>
              </a:pathLst>
            </a:custGeom>
            <a:solidFill>
              <a:srgbClr val="A9B6AC"/>
            </a:solidFill>
            <a:ln w="14288" cap="flat">
              <a:solidFill>
                <a:srgbClr val="44575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grpSp>
    </p:spTree>
    <p:extLst>
      <p:ext uri="{BB962C8B-B14F-4D97-AF65-F5344CB8AC3E}">
        <p14:creationId xmlns:p14="http://schemas.microsoft.com/office/powerpoint/2010/main" val="38661788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Talk Outline</a:t>
            </a:r>
            <a:endParaRPr lang="en-CA" dirty="0"/>
          </a:p>
        </p:txBody>
      </p:sp>
      <p:sp>
        <p:nvSpPr>
          <p:cNvPr id="3" name="Content Placeholder 2"/>
          <p:cNvSpPr>
            <a:spLocks noGrp="1"/>
          </p:cNvSpPr>
          <p:nvPr>
            <p:ph idx="1"/>
          </p:nvPr>
        </p:nvSpPr>
        <p:spPr/>
        <p:txBody>
          <a:bodyPr/>
          <a:lstStyle/>
          <a:p>
            <a:r>
              <a:rPr lang="en-US" smtClean="0"/>
              <a:t>Problem</a:t>
            </a:r>
          </a:p>
          <a:p>
            <a:pPr lvl="1"/>
            <a:r>
              <a:rPr lang="en-US" smtClean="0"/>
              <a:t>Hard to write robust file system applications</a:t>
            </a:r>
          </a:p>
          <a:p>
            <a:r>
              <a:rPr lang="en-US" smtClean="0"/>
              <a:t>Approach</a:t>
            </a:r>
          </a:p>
          <a:p>
            <a:r>
              <a:rPr lang="en-US" smtClean="0"/>
              <a:t>Spiffy Annotations</a:t>
            </a:r>
          </a:p>
          <a:p>
            <a:r>
              <a:rPr lang="en-US" smtClean="0"/>
              <a:t>Spiffy Library</a:t>
            </a:r>
          </a:p>
          <a:p>
            <a:r>
              <a:rPr lang="en-US" smtClean="0"/>
              <a:t>Spiffy Applications</a:t>
            </a:r>
          </a:p>
          <a:p>
            <a:r>
              <a:rPr lang="en-US" smtClean="0"/>
              <a:t>Evaluation</a:t>
            </a:r>
          </a:p>
          <a:p>
            <a:r>
              <a:rPr lang="en-US" smtClean="0"/>
              <a:t>Conclusion</a:t>
            </a:r>
            <a:endParaRPr lang="en-US" dirty="0" smtClean="0"/>
          </a:p>
        </p:txBody>
      </p:sp>
      <p:sp>
        <p:nvSpPr>
          <p:cNvPr id="5" name="Slide Number Placeholder 4"/>
          <p:cNvSpPr>
            <a:spLocks noGrp="1"/>
          </p:cNvSpPr>
          <p:nvPr>
            <p:ph type="sldNum" sz="quarter" idx="12"/>
          </p:nvPr>
        </p:nvSpPr>
        <p:spPr/>
        <p:txBody>
          <a:bodyPr/>
          <a:lstStyle/>
          <a:p>
            <a:fld id="{7B2023C8-B124-43A9-8F92-0EEF5BAA9995}" type="slidenum">
              <a:rPr lang="en-CA" smtClean="0"/>
              <a:pPr/>
              <a:t>10</a:t>
            </a:fld>
            <a:endParaRPr lang="en-CA" dirty="0"/>
          </a:p>
        </p:txBody>
      </p:sp>
    </p:spTree>
    <p:extLst>
      <p:ext uri="{BB962C8B-B14F-4D97-AF65-F5344CB8AC3E}">
        <p14:creationId xmlns:p14="http://schemas.microsoft.com/office/powerpoint/2010/main" val="14123013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Need for Annotations</a:t>
            </a:r>
            <a:endParaRPr lang="en-CA" dirty="0"/>
          </a:p>
        </p:txBody>
      </p:sp>
      <p:sp>
        <p:nvSpPr>
          <p:cNvPr id="3" name="Content Placeholder 2"/>
          <p:cNvSpPr>
            <a:spLocks noGrp="1"/>
          </p:cNvSpPr>
          <p:nvPr>
            <p:ph idx="1"/>
          </p:nvPr>
        </p:nvSpPr>
        <p:spPr/>
        <p:txBody>
          <a:bodyPr/>
          <a:lstStyle/>
          <a:p>
            <a:r>
              <a:rPr lang="en-CA" dirty="0" smtClean="0"/>
              <a:t>Need complete specification of the file system format</a:t>
            </a:r>
          </a:p>
          <a:p>
            <a:pPr lvl="1"/>
            <a:r>
              <a:rPr lang="en-CA" dirty="0" smtClean="0"/>
              <a:t>Allows type-safe parsing and updates of file system structures</a:t>
            </a:r>
          </a:p>
          <a:p>
            <a:r>
              <a:rPr lang="en-CA" dirty="0" smtClean="0"/>
              <a:t>Challenge</a:t>
            </a:r>
          </a:p>
          <a:p>
            <a:pPr lvl="1"/>
            <a:r>
              <a:rPr lang="en-CA" dirty="0" smtClean="0"/>
              <a:t>Data structure definitions in source files are incomplete</a:t>
            </a:r>
          </a:p>
          <a:p>
            <a:pPr lvl="1"/>
            <a:endParaRPr lang="en-CA" dirty="0" smtClean="0"/>
          </a:p>
          <a:p>
            <a:pPr lvl="1"/>
            <a:endParaRPr lang="en-CA" dirty="0" smtClean="0"/>
          </a:p>
          <a:p>
            <a:pPr lvl="1"/>
            <a:endParaRPr lang="en-CA" dirty="0" smtClean="0"/>
          </a:p>
          <a:p>
            <a:pPr lvl="1"/>
            <a:endParaRPr lang="en-CA" dirty="0" smtClean="0"/>
          </a:p>
          <a:p>
            <a:pPr lvl="1"/>
            <a:r>
              <a:rPr lang="en-CA" dirty="0" err="1" smtClean="0"/>
              <a:t>bar_block_ptr</a:t>
            </a:r>
            <a:r>
              <a:rPr lang="en-CA" dirty="0" smtClean="0"/>
              <a:t> is “probably” a 32-bit little endian pointer to type “</a:t>
            </a:r>
            <a:r>
              <a:rPr lang="en-CA" dirty="0" err="1" smtClean="0"/>
              <a:t>bar_block</a:t>
            </a:r>
            <a:r>
              <a:rPr lang="en-CA" dirty="0" smtClean="0"/>
              <a:t>”</a:t>
            </a:r>
          </a:p>
          <a:p>
            <a:pPr lvl="1"/>
            <a:r>
              <a:rPr lang="en-CA" dirty="0" smtClean="0"/>
              <a:t>However, its hard to deduce this type information</a:t>
            </a:r>
          </a:p>
          <a:p>
            <a:endParaRPr lang="en-CA" dirty="0"/>
          </a:p>
        </p:txBody>
      </p:sp>
      <p:sp>
        <p:nvSpPr>
          <p:cNvPr id="5" name="Slide Number Placeholder 4"/>
          <p:cNvSpPr>
            <a:spLocks noGrp="1"/>
          </p:cNvSpPr>
          <p:nvPr>
            <p:ph type="sldNum" sz="quarter" idx="12"/>
          </p:nvPr>
        </p:nvSpPr>
        <p:spPr/>
        <p:txBody>
          <a:bodyPr/>
          <a:lstStyle/>
          <a:p>
            <a:fld id="{7B2023C8-B124-43A9-8F92-0EEF5BAA9995}" type="slidenum">
              <a:rPr lang="en-CA" smtClean="0"/>
              <a:pPr/>
              <a:t>11</a:t>
            </a:fld>
            <a:endParaRPr lang="en-CA" dirty="0"/>
          </a:p>
        </p:txBody>
      </p:sp>
      <p:sp>
        <p:nvSpPr>
          <p:cNvPr id="10" name="Rectangle 9"/>
          <p:cNvSpPr/>
          <p:nvPr/>
        </p:nvSpPr>
        <p:spPr>
          <a:xfrm>
            <a:off x="897466" y="3535274"/>
            <a:ext cx="7860453" cy="1446550"/>
          </a:xfrm>
          <a:prstGeom prst="rect">
            <a:avLst/>
          </a:prstGeom>
        </p:spPr>
        <p:txBody>
          <a:bodyPr wrap="square">
            <a:spAutoFit/>
          </a:bodyPr>
          <a:lstStyle/>
          <a:p>
            <a:pPr lvl="1"/>
            <a:r>
              <a:rPr lang="en-CA" sz="2200" dirty="0" err="1">
                <a:solidFill>
                  <a:schemeClr val="bg1"/>
                </a:solidFill>
                <a:latin typeface="Courier New" panose="02070309020205020404" pitchFamily="49" charset="0"/>
                <a:cs typeface="Courier New" panose="02070309020205020404" pitchFamily="49" charset="0"/>
              </a:rPr>
              <a:t>struct</a:t>
            </a:r>
            <a:r>
              <a:rPr lang="en-CA" sz="2200" dirty="0">
                <a:solidFill>
                  <a:schemeClr val="bg1"/>
                </a:solidFill>
                <a:latin typeface="Courier New" panose="02070309020205020404" pitchFamily="49" charset="0"/>
                <a:cs typeface="Courier New" panose="02070309020205020404" pitchFamily="49" charset="0"/>
              </a:rPr>
              <a:t> foo {</a:t>
            </a:r>
          </a:p>
          <a:p>
            <a:pPr lvl="1"/>
            <a:r>
              <a:rPr lang="en-CA" sz="2200" dirty="0">
                <a:solidFill>
                  <a:schemeClr val="bg1"/>
                </a:solidFill>
                <a:latin typeface="Courier New" panose="02070309020205020404" pitchFamily="49" charset="0"/>
                <a:cs typeface="Courier New" panose="02070309020205020404" pitchFamily="49" charset="0"/>
              </a:rPr>
              <a:t>    </a:t>
            </a:r>
            <a:r>
              <a:rPr lang="en-CA" sz="2200" dirty="0" smtClean="0">
                <a:solidFill>
                  <a:schemeClr val="bg1"/>
                </a:solidFill>
                <a:latin typeface="Courier New" panose="02070309020205020404" pitchFamily="49" charset="0"/>
                <a:cs typeface="Courier New" panose="02070309020205020404" pitchFamily="49" charset="0"/>
              </a:rPr>
              <a:t>__</a:t>
            </a:r>
            <a:r>
              <a:rPr lang="en-CA" sz="2200" dirty="0">
                <a:solidFill>
                  <a:schemeClr val="bg1"/>
                </a:solidFill>
                <a:latin typeface="Courier New" panose="02070309020205020404" pitchFamily="49" charset="0"/>
                <a:cs typeface="Courier New" panose="02070309020205020404" pitchFamily="49" charset="0"/>
              </a:rPr>
              <a:t>le32 </a:t>
            </a:r>
            <a:r>
              <a:rPr lang="en-CA" sz="2200" dirty="0" smtClean="0">
                <a:solidFill>
                  <a:schemeClr val="bg1"/>
                </a:solidFill>
                <a:latin typeface="Courier New" panose="02070309020205020404" pitchFamily="49" charset="0"/>
                <a:cs typeface="Courier New" panose="02070309020205020404" pitchFamily="49" charset="0"/>
              </a:rPr>
              <a:t>size;</a:t>
            </a:r>
          </a:p>
          <a:p>
            <a:pPr lvl="1"/>
            <a:r>
              <a:rPr lang="en-CA" sz="2200" dirty="0">
                <a:solidFill>
                  <a:schemeClr val="bg1"/>
                </a:solidFill>
                <a:latin typeface="Courier New" panose="02070309020205020404" pitchFamily="49" charset="0"/>
                <a:cs typeface="Courier New" panose="02070309020205020404" pitchFamily="49" charset="0"/>
              </a:rPr>
              <a:t> </a:t>
            </a:r>
            <a:r>
              <a:rPr lang="en-CA" sz="2200" dirty="0" smtClean="0">
                <a:solidFill>
                  <a:schemeClr val="bg1"/>
                </a:solidFill>
                <a:latin typeface="Courier New" panose="02070309020205020404" pitchFamily="49" charset="0"/>
                <a:cs typeface="Courier New" panose="02070309020205020404" pitchFamily="49" charset="0"/>
              </a:rPr>
              <a:t>   __</a:t>
            </a:r>
            <a:r>
              <a:rPr lang="en-CA" sz="2200" dirty="0">
                <a:solidFill>
                  <a:schemeClr val="bg1"/>
                </a:solidFill>
                <a:latin typeface="Courier New" panose="02070309020205020404" pitchFamily="49" charset="0"/>
                <a:cs typeface="Courier New" panose="02070309020205020404" pitchFamily="49" charset="0"/>
              </a:rPr>
              <a:t>le32 </a:t>
            </a:r>
            <a:r>
              <a:rPr lang="en-CA" sz="2200" dirty="0" err="1">
                <a:solidFill>
                  <a:schemeClr val="bg1"/>
                </a:solidFill>
                <a:latin typeface="Courier New" panose="02070309020205020404" pitchFamily="49" charset="0"/>
                <a:cs typeface="Courier New" panose="02070309020205020404" pitchFamily="49" charset="0"/>
              </a:rPr>
              <a:t>bar_block_ptr</a:t>
            </a:r>
            <a:r>
              <a:rPr lang="en-CA" sz="2200" dirty="0" smtClean="0">
                <a:solidFill>
                  <a:schemeClr val="bg1"/>
                </a:solidFill>
                <a:latin typeface="Courier New" panose="02070309020205020404" pitchFamily="49" charset="0"/>
                <a:cs typeface="Courier New" panose="02070309020205020404" pitchFamily="49" charset="0"/>
              </a:rPr>
              <a:t>;</a:t>
            </a:r>
          </a:p>
          <a:p>
            <a:pPr lvl="1"/>
            <a:r>
              <a:rPr lang="en-CA" sz="2200" dirty="0" smtClean="0">
                <a:solidFill>
                  <a:schemeClr val="bg1"/>
                </a:solidFill>
                <a:latin typeface="Courier New" panose="02070309020205020404" pitchFamily="49" charset="0"/>
                <a:cs typeface="Courier New" panose="02070309020205020404" pitchFamily="49" charset="0"/>
              </a:rPr>
              <a:t>};</a:t>
            </a:r>
            <a:endParaRPr lang="en-CA" sz="22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156055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Need for Annotations</a:t>
            </a:r>
            <a:endParaRPr lang="en-CA" dirty="0"/>
          </a:p>
        </p:txBody>
      </p:sp>
      <p:sp>
        <p:nvSpPr>
          <p:cNvPr id="3" name="Content Placeholder 2"/>
          <p:cNvSpPr>
            <a:spLocks noGrp="1"/>
          </p:cNvSpPr>
          <p:nvPr>
            <p:ph idx="1"/>
          </p:nvPr>
        </p:nvSpPr>
        <p:spPr/>
        <p:txBody>
          <a:bodyPr/>
          <a:lstStyle/>
          <a:p>
            <a:r>
              <a:rPr lang="en-CA" dirty="0" smtClean="0"/>
              <a:t>Solution</a:t>
            </a:r>
          </a:p>
          <a:p>
            <a:pPr lvl="1"/>
            <a:r>
              <a:rPr lang="en-CA" dirty="0" smtClean="0"/>
              <a:t>Annotate structures to supply missing information</a:t>
            </a:r>
          </a:p>
          <a:p>
            <a:pPr lvl="1"/>
            <a:endParaRPr lang="en-CA" dirty="0" smtClean="0"/>
          </a:p>
          <a:p>
            <a:pPr lvl="1"/>
            <a:endParaRPr lang="en-CA" dirty="0" smtClean="0"/>
          </a:p>
          <a:p>
            <a:pPr lvl="1"/>
            <a:endParaRPr lang="en-CA" dirty="0" smtClean="0"/>
          </a:p>
        </p:txBody>
      </p:sp>
      <p:sp>
        <p:nvSpPr>
          <p:cNvPr id="5" name="Slide Number Placeholder 4"/>
          <p:cNvSpPr>
            <a:spLocks noGrp="1"/>
          </p:cNvSpPr>
          <p:nvPr>
            <p:ph type="sldNum" sz="quarter" idx="12"/>
          </p:nvPr>
        </p:nvSpPr>
        <p:spPr/>
        <p:txBody>
          <a:bodyPr/>
          <a:lstStyle/>
          <a:p>
            <a:fld id="{7B2023C8-B124-43A9-8F92-0EEF5BAA9995}" type="slidenum">
              <a:rPr lang="en-CA" smtClean="0"/>
              <a:pPr/>
              <a:t>12</a:t>
            </a:fld>
            <a:endParaRPr lang="en-CA" dirty="0"/>
          </a:p>
        </p:txBody>
      </p:sp>
      <p:sp>
        <p:nvSpPr>
          <p:cNvPr id="8" name="Rectangle 7"/>
          <p:cNvSpPr/>
          <p:nvPr/>
        </p:nvSpPr>
        <p:spPr>
          <a:xfrm>
            <a:off x="971550" y="3024813"/>
            <a:ext cx="8865738" cy="2123658"/>
          </a:xfrm>
          <a:prstGeom prst="rect">
            <a:avLst/>
          </a:prstGeom>
        </p:spPr>
        <p:txBody>
          <a:bodyPr wrap="square">
            <a:spAutoFit/>
          </a:bodyPr>
          <a:lstStyle/>
          <a:p>
            <a:pPr lvl="1"/>
            <a:r>
              <a:rPr lang="en-CA" sz="2200" b="1" dirty="0" smtClean="0">
                <a:solidFill>
                  <a:schemeClr val="bg1"/>
                </a:solidFill>
                <a:latin typeface="Courier New" panose="02070309020205020404" pitchFamily="49" charset="0"/>
                <a:cs typeface="Courier New" panose="02070309020205020404" pitchFamily="49" charset="0"/>
              </a:rPr>
              <a:t>FSSTRUCT() </a:t>
            </a:r>
            <a:r>
              <a:rPr lang="en-CA" sz="2200" dirty="0" smtClean="0">
                <a:solidFill>
                  <a:schemeClr val="bg1"/>
                </a:solidFill>
                <a:latin typeface="Courier New" panose="02070309020205020404" pitchFamily="49" charset="0"/>
                <a:cs typeface="Courier New" panose="02070309020205020404" pitchFamily="49" charset="0"/>
              </a:rPr>
              <a:t>foo </a:t>
            </a:r>
            <a:r>
              <a:rPr lang="en-CA" sz="2200" dirty="0">
                <a:solidFill>
                  <a:schemeClr val="bg1"/>
                </a:solidFill>
                <a:latin typeface="Courier New" panose="02070309020205020404" pitchFamily="49" charset="0"/>
                <a:cs typeface="Courier New" panose="02070309020205020404" pitchFamily="49" charset="0"/>
              </a:rPr>
              <a:t>{</a:t>
            </a:r>
          </a:p>
          <a:p>
            <a:pPr lvl="1"/>
            <a:r>
              <a:rPr lang="en-CA" sz="2200" dirty="0">
                <a:solidFill>
                  <a:schemeClr val="bg1"/>
                </a:solidFill>
                <a:latin typeface="Courier New" panose="02070309020205020404" pitchFamily="49" charset="0"/>
                <a:cs typeface="Courier New" panose="02070309020205020404" pitchFamily="49" charset="0"/>
              </a:rPr>
              <a:t>    </a:t>
            </a:r>
            <a:r>
              <a:rPr lang="en-CA" sz="2200" dirty="0" smtClean="0">
                <a:solidFill>
                  <a:schemeClr val="bg1"/>
                </a:solidFill>
                <a:latin typeface="Courier New" panose="02070309020205020404" pitchFamily="49" charset="0"/>
                <a:cs typeface="Courier New" panose="02070309020205020404" pitchFamily="49" charset="0"/>
              </a:rPr>
              <a:t>__</a:t>
            </a:r>
            <a:r>
              <a:rPr lang="en-CA" sz="2200" dirty="0">
                <a:solidFill>
                  <a:schemeClr val="bg1"/>
                </a:solidFill>
                <a:latin typeface="Courier New" panose="02070309020205020404" pitchFamily="49" charset="0"/>
                <a:cs typeface="Courier New" panose="02070309020205020404" pitchFamily="49" charset="0"/>
              </a:rPr>
              <a:t>le32 </a:t>
            </a:r>
            <a:r>
              <a:rPr lang="en-CA" sz="2200" dirty="0" smtClean="0">
                <a:solidFill>
                  <a:schemeClr val="bg1"/>
                </a:solidFill>
                <a:latin typeface="Courier New" panose="02070309020205020404" pitchFamily="49" charset="0"/>
                <a:cs typeface="Courier New" panose="02070309020205020404" pitchFamily="49" charset="0"/>
              </a:rPr>
              <a:t>size;</a:t>
            </a:r>
          </a:p>
          <a:p>
            <a:pPr lvl="1"/>
            <a:endParaRPr lang="en-CA" sz="2200" dirty="0" smtClean="0">
              <a:solidFill>
                <a:schemeClr val="bg1"/>
              </a:solidFill>
              <a:latin typeface="Courier New" panose="02070309020205020404" pitchFamily="49" charset="0"/>
              <a:cs typeface="Courier New" panose="02070309020205020404" pitchFamily="49" charset="0"/>
            </a:endParaRPr>
          </a:p>
          <a:p>
            <a:pPr lvl="1"/>
            <a:r>
              <a:rPr lang="en-CA" sz="2200" dirty="0">
                <a:solidFill>
                  <a:schemeClr val="bg1"/>
                </a:solidFill>
                <a:latin typeface="Courier New" panose="02070309020205020404" pitchFamily="49" charset="0"/>
                <a:cs typeface="Courier New" panose="02070309020205020404" pitchFamily="49" charset="0"/>
              </a:rPr>
              <a:t> </a:t>
            </a:r>
            <a:r>
              <a:rPr lang="en-CA" sz="2200" dirty="0" smtClean="0">
                <a:solidFill>
                  <a:schemeClr val="bg1"/>
                </a:solidFill>
                <a:latin typeface="Courier New" panose="02070309020205020404" pitchFamily="49" charset="0"/>
                <a:cs typeface="Courier New" panose="02070309020205020404" pitchFamily="49" charset="0"/>
              </a:rPr>
              <a:t>   </a:t>
            </a:r>
            <a:r>
              <a:rPr lang="en-CA" sz="2200" b="1" dirty="0" smtClean="0">
                <a:solidFill>
                  <a:schemeClr val="bg1"/>
                </a:solidFill>
                <a:latin typeface="Courier New" panose="02070309020205020404" pitchFamily="49" charset="0"/>
                <a:cs typeface="Courier New" panose="02070309020205020404" pitchFamily="49" charset="0"/>
              </a:rPr>
              <a:t>POINTER</a:t>
            </a:r>
            <a:r>
              <a:rPr lang="en-CA" sz="2200" dirty="0" smtClean="0">
                <a:solidFill>
                  <a:schemeClr val="bg1"/>
                </a:solidFill>
                <a:latin typeface="Courier New" panose="02070309020205020404" pitchFamily="49" charset="0"/>
                <a:cs typeface="Courier New" panose="02070309020205020404" pitchFamily="49" charset="0"/>
              </a:rPr>
              <a:t>(..., type=</a:t>
            </a:r>
            <a:r>
              <a:rPr lang="en-CA" sz="2200" dirty="0" err="1" smtClean="0">
                <a:solidFill>
                  <a:schemeClr val="bg1"/>
                </a:solidFill>
                <a:latin typeface="Courier New" panose="02070309020205020404" pitchFamily="49" charset="0"/>
                <a:cs typeface="Courier New" panose="02070309020205020404" pitchFamily="49" charset="0"/>
              </a:rPr>
              <a:t>bar_block</a:t>
            </a:r>
            <a:r>
              <a:rPr lang="en-CA" sz="2200" dirty="0" smtClean="0">
                <a:solidFill>
                  <a:schemeClr val="bg1"/>
                </a:solidFill>
                <a:latin typeface="Courier New" panose="02070309020205020404" pitchFamily="49" charset="0"/>
                <a:cs typeface="Courier New" panose="02070309020205020404" pitchFamily="49" charset="0"/>
              </a:rPr>
              <a:t>)</a:t>
            </a:r>
          </a:p>
          <a:p>
            <a:pPr lvl="1"/>
            <a:r>
              <a:rPr lang="en-CA" sz="2200" dirty="0">
                <a:solidFill>
                  <a:schemeClr val="bg1"/>
                </a:solidFill>
                <a:latin typeface="Courier New" panose="02070309020205020404" pitchFamily="49" charset="0"/>
                <a:cs typeface="Courier New" panose="02070309020205020404" pitchFamily="49" charset="0"/>
              </a:rPr>
              <a:t> </a:t>
            </a:r>
            <a:r>
              <a:rPr lang="en-CA" sz="2200" dirty="0" smtClean="0">
                <a:solidFill>
                  <a:schemeClr val="bg1"/>
                </a:solidFill>
                <a:latin typeface="Courier New" panose="02070309020205020404" pitchFamily="49" charset="0"/>
                <a:cs typeface="Courier New" panose="02070309020205020404" pitchFamily="49" charset="0"/>
              </a:rPr>
              <a:t>   __</a:t>
            </a:r>
            <a:r>
              <a:rPr lang="en-CA" sz="2200" dirty="0">
                <a:solidFill>
                  <a:schemeClr val="bg1"/>
                </a:solidFill>
                <a:latin typeface="Courier New" panose="02070309020205020404" pitchFamily="49" charset="0"/>
                <a:cs typeface="Courier New" panose="02070309020205020404" pitchFamily="49" charset="0"/>
              </a:rPr>
              <a:t>le32 </a:t>
            </a:r>
            <a:r>
              <a:rPr lang="en-CA" sz="2200" dirty="0" err="1">
                <a:solidFill>
                  <a:schemeClr val="bg1"/>
                </a:solidFill>
                <a:latin typeface="Courier New" panose="02070309020205020404" pitchFamily="49" charset="0"/>
                <a:cs typeface="Courier New" panose="02070309020205020404" pitchFamily="49" charset="0"/>
              </a:rPr>
              <a:t>bar_block_ptr</a:t>
            </a:r>
            <a:r>
              <a:rPr lang="en-CA" sz="2200" dirty="0" smtClean="0">
                <a:solidFill>
                  <a:schemeClr val="bg1"/>
                </a:solidFill>
                <a:latin typeface="Courier New" panose="02070309020205020404" pitchFamily="49" charset="0"/>
                <a:cs typeface="Courier New" panose="02070309020205020404" pitchFamily="49" charset="0"/>
              </a:rPr>
              <a:t>;</a:t>
            </a:r>
          </a:p>
          <a:p>
            <a:pPr lvl="1"/>
            <a:r>
              <a:rPr lang="en-CA" sz="2200" dirty="0" smtClean="0">
                <a:solidFill>
                  <a:schemeClr val="bg1"/>
                </a:solidFill>
                <a:latin typeface="Courier New" panose="02070309020205020404" pitchFamily="49" charset="0"/>
                <a:cs typeface="Courier New" panose="02070309020205020404" pitchFamily="49" charset="0"/>
              </a:rPr>
              <a:t>};</a:t>
            </a:r>
            <a:endParaRPr lang="en-CA" sz="22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218833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Pointer Annotations</a:t>
            </a:r>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13</a:t>
            </a:fld>
            <a:endParaRPr lang="en-CA" dirty="0"/>
          </a:p>
        </p:txBody>
      </p:sp>
      <p:sp>
        <p:nvSpPr>
          <p:cNvPr id="180" name="TextBox 179"/>
          <p:cNvSpPr txBox="1"/>
          <p:nvPr/>
        </p:nvSpPr>
        <p:spPr>
          <a:xfrm>
            <a:off x="8020913" y="1856754"/>
            <a:ext cx="2529860" cy="830997"/>
          </a:xfrm>
          <a:prstGeom prst="rect">
            <a:avLst/>
          </a:prstGeom>
          <a:noFill/>
        </p:spPr>
        <p:txBody>
          <a:bodyPr wrap="none" rtlCol="0">
            <a:spAutoFit/>
          </a:bodyPr>
          <a:lstStyle/>
          <a:p>
            <a:r>
              <a:rPr lang="en-CA" sz="2400" dirty="0" smtClean="0">
                <a:solidFill>
                  <a:schemeClr val="bg1"/>
                </a:solidFill>
              </a:rPr>
              <a:t>Ext4 File System </a:t>
            </a:r>
            <a:br>
              <a:rPr lang="en-CA" sz="2400" dirty="0" smtClean="0">
                <a:solidFill>
                  <a:schemeClr val="bg1"/>
                </a:solidFill>
              </a:rPr>
            </a:br>
            <a:r>
              <a:rPr lang="en-CA" sz="2400" dirty="0" smtClean="0">
                <a:solidFill>
                  <a:schemeClr val="bg1"/>
                </a:solidFill>
              </a:rPr>
              <a:t>Metadata Tree</a:t>
            </a:r>
            <a:endParaRPr lang="en-CA" sz="2400" dirty="0">
              <a:solidFill>
                <a:schemeClr val="bg1"/>
              </a:solidFill>
            </a:endParaRPr>
          </a:p>
        </p:txBody>
      </p:sp>
      <p:grpSp>
        <p:nvGrpSpPr>
          <p:cNvPr id="147" name="Group 146"/>
          <p:cNvGrpSpPr/>
          <p:nvPr/>
        </p:nvGrpSpPr>
        <p:grpSpPr>
          <a:xfrm rot="5400000">
            <a:off x="8864131" y="5207740"/>
            <a:ext cx="676223" cy="584384"/>
            <a:chOff x="27236633" y="9932056"/>
            <a:chExt cx="578250" cy="990600"/>
          </a:xfrm>
        </p:grpSpPr>
        <p:cxnSp>
          <p:nvCxnSpPr>
            <p:cNvPr id="148" name="Straight Arrow Connector 147"/>
            <p:cNvCxnSpPr/>
            <p:nvPr/>
          </p:nvCxnSpPr>
          <p:spPr>
            <a:xfrm>
              <a:off x="27236633" y="104273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p:nvPr/>
          </p:nvCxnSpPr>
          <p:spPr>
            <a:xfrm>
              <a:off x="27236633" y="109226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p:cNvCxnSpPr/>
            <p:nvPr/>
          </p:nvCxnSpPr>
          <p:spPr>
            <a:xfrm>
              <a:off x="27236633" y="99320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2" name="Rectangle 101"/>
          <p:cNvSpPr/>
          <p:nvPr/>
        </p:nvSpPr>
        <p:spPr>
          <a:xfrm>
            <a:off x="763449" y="4220986"/>
            <a:ext cx="1179762" cy="940832"/>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block</a:t>
            </a:r>
          </a:p>
          <a:p>
            <a:pPr algn="ctr"/>
            <a:r>
              <a:rPr lang="en-CA" altLang="zh-TW" dirty="0" smtClean="0">
                <a:solidFill>
                  <a:schemeClr val="bg1"/>
                </a:solidFill>
              </a:rPr>
              <a:t>bitmap</a:t>
            </a:r>
            <a:endParaRPr lang="zh-TW" altLang="en-US" dirty="0">
              <a:solidFill>
                <a:schemeClr val="bg1"/>
              </a:solidFill>
            </a:endParaRPr>
          </a:p>
        </p:txBody>
      </p:sp>
      <p:cxnSp>
        <p:nvCxnSpPr>
          <p:cNvPr id="98" name="Straight Arrow Connector 97"/>
          <p:cNvCxnSpPr/>
          <p:nvPr/>
        </p:nvCxnSpPr>
        <p:spPr>
          <a:xfrm>
            <a:off x="1342857" y="1880888"/>
            <a:ext cx="0" cy="458985"/>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0" name="Rectangle 99"/>
          <p:cNvSpPr/>
          <p:nvPr/>
        </p:nvSpPr>
        <p:spPr>
          <a:xfrm>
            <a:off x="763446" y="1207568"/>
            <a:ext cx="1103217" cy="672168"/>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super</a:t>
            </a:r>
          </a:p>
          <a:p>
            <a:pPr algn="ctr"/>
            <a:r>
              <a:rPr lang="en-CA" altLang="zh-TW" dirty="0" smtClean="0">
                <a:solidFill>
                  <a:schemeClr val="bg1"/>
                </a:solidFill>
              </a:rPr>
              <a:t>block</a:t>
            </a:r>
            <a:endParaRPr lang="zh-TW" altLang="en-US" dirty="0">
              <a:solidFill>
                <a:schemeClr val="bg1"/>
              </a:solidFill>
            </a:endParaRPr>
          </a:p>
        </p:txBody>
      </p:sp>
      <p:sp>
        <p:nvSpPr>
          <p:cNvPr id="109" name="Rectangle 108"/>
          <p:cNvSpPr/>
          <p:nvPr/>
        </p:nvSpPr>
        <p:spPr>
          <a:xfrm>
            <a:off x="3430981" y="1207568"/>
            <a:ext cx="3187275" cy="672168"/>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ext4 journal</a:t>
            </a:r>
            <a:endParaRPr lang="zh-TW" altLang="en-US" dirty="0">
              <a:solidFill>
                <a:schemeClr val="bg1"/>
              </a:solidFill>
            </a:endParaRPr>
          </a:p>
        </p:txBody>
      </p:sp>
      <p:cxnSp>
        <p:nvCxnSpPr>
          <p:cNvPr id="112" name="Straight Arrow Connector 111"/>
          <p:cNvCxnSpPr>
            <a:stCxn id="100" idx="3"/>
            <a:endCxn id="109" idx="1"/>
          </p:cNvCxnSpPr>
          <p:nvPr/>
        </p:nvCxnSpPr>
        <p:spPr>
          <a:xfrm>
            <a:off x="1866663" y="1543652"/>
            <a:ext cx="1564318" cy="0"/>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6" name="Rectangle 115"/>
          <p:cNvSpPr/>
          <p:nvPr/>
        </p:nvSpPr>
        <p:spPr>
          <a:xfrm>
            <a:off x="763445" y="2339873"/>
            <a:ext cx="5854811" cy="1059811"/>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7" name="Rectangle 116"/>
          <p:cNvSpPr/>
          <p:nvPr/>
        </p:nvSpPr>
        <p:spPr>
          <a:xfrm>
            <a:off x="847161" y="2427340"/>
            <a:ext cx="2002008" cy="63184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block group descriptor table</a:t>
            </a:r>
            <a:endParaRPr lang="en-US" dirty="0">
              <a:solidFill>
                <a:schemeClr val="bg1"/>
              </a:solidFill>
            </a:endParaRPr>
          </a:p>
        </p:txBody>
      </p:sp>
      <p:cxnSp>
        <p:nvCxnSpPr>
          <p:cNvPr id="97" name="Straight Arrow Connector 96"/>
          <p:cNvCxnSpPr>
            <a:stCxn id="21" idx="2"/>
            <a:endCxn id="102" idx="0"/>
          </p:cNvCxnSpPr>
          <p:nvPr/>
        </p:nvCxnSpPr>
        <p:spPr>
          <a:xfrm rot="5400000">
            <a:off x="1884057" y="2787380"/>
            <a:ext cx="902880" cy="1964333"/>
          </a:xfrm>
          <a:prstGeom prst="bentConnector3">
            <a:avLst>
              <a:gd name="adj1" fmla="val 27846"/>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3" name="Rectangle 122"/>
          <p:cNvSpPr/>
          <p:nvPr/>
        </p:nvSpPr>
        <p:spPr>
          <a:xfrm>
            <a:off x="3430981" y="4220986"/>
            <a:ext cx="4848275" cy="940832"/>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4" name="Rectangle 123"/>
          <p:cNvSpPr/>
          <p:nvPr/>
        </p:nvSpPr>
        <p:spPr>
          <a:xfrm>
            <a:off x="3515340" y="4394402"/>
            <a:ext cx="843171" cy="59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chemeClr val="bg1"/>
                </a:solidFill>
              </a:rPr>
              <a:t>inode</a:t>
            </a:r>
            <a:r>
              <a:rPr lang="en-US" dirty="0" smtClean="0">
                <a:solidFill>
                  <a:schemeClr val="bg1"/>
                </a:solidFill>
              </a:rPr>
              <a:t> table</a:t>
            </a:r>
            <a:endParaRPr lang="en-US" dirty="0">
              <a:solidFill>
                <a:schemeClr val="bg1"/>
              </a:solidFill>
            </a:endParaRPr>
          </a:p>
        </p:txBody>
      </p:sp>
      <p:cxnSp>
        <p:nvCxnSpPr>
          <p:cNvPr id="130" name="Straight Arrow Connector 96"/>
          <p:cNvCxnSpPr>
            <a:stCxn id="94" idx="2"/>
            <a:endCxn id="71" idx="0"/>
          </p:cNvCxnSpPr>
          <p:nvPr/>
        </p:nvCxnSpPr>
        <p:spPr>
          <a:xfrm rot="5400000">
            <a:off x="2721207" y="3283390"/>
            <a:ext cx="921780" cy="953413"/>
          </a:xfrm>
          <a:prstGeom prst="bentConnector3">
            <a:avLst>
              <a:gd name="adj1" fmla="val 50000"/>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3" name="Rounded Rectangle 132"/>
          <p:cNvSpPr/>
          <p:nvPr/>
        </p:nvSpPr>
        <p:spPr>
          <a:xfrm>
            <a:off x="4514782" y="2427340"/>
            <a:ext cx="1380879" cy="86171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block group descriptor</a:t>
            </a:r>
            <a:endParaRPr lang="zh-TW" altLang="en-US" dirty="0">
              <a:solidFill>
                <a:schemeClr val="tx1"/>
              </a:solidFill>
            </a:endParaRPr>
          </a:p>
        </p:txBody>
      </p:sp>
      <p:cxnSp>
        <p:nvCxnSpPr>
          <p:cNvPr id="134" name="Straight Arrow Connector 96"/>
          <p:cNvCxnSpPr/>
          <p:nvPr/>
        </p:nvCxnSpPr>
        <p:spPr>
          <a:xfrm>
            <a:off x="3958346" y="3289053"/>
            <a:ext cx="0" cy="929962"/>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5" name="Rounded Rectangle 94"/>
          <p:cNvSpPr/>
          <p:nvPr/>
        </p:nvSpPr>
        <p:spPr>
          <a:xfrm>
            <a:off x="4443717" y="4293627"/>
            <a:ext cx="965390"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dirty="0" err="1" smtClean="0">
                <a:solidFill>
                  <a:schemeClr val="tx1"/>
                </a:solidFill>
              </a:rPr>
              <a:t>inode</a:t>
            </a:r>
            <a:endParaRPr lang="en-US" altLang="zh-TW" dirty="0" smtClean="0">
              <a:solidFill>
                <a:schemeClr val="tx1"/>
              </a:solidFill>
            </a:endParaRPr>
          </a:p>
          <a:p>
            <a:pPr algn="ctr"/>
            <a:r>
              <a:rPr lang="en-US" altLang="zh-TW" dirty="0" smtClean="0">
                <a:solidFill>
                  <a:schemeClr val="tx1"/>
                </a:solidFill>
              </a:rPr>
              <a:t>(</a:t>
            </a:r>
            <a:r>
              <a:rPr lang="en-US" altLang="zh-TW" dirty="0" err="1" smtClean="0">
                <a:solidFill>
                  <a:schemeClr val="tx1"/>
                </a:solidFill>
              </a:rPr>
              <a:t>reg</a:t>
            </a:r>
            <a:r>
              <a:rPr lang="en-US" altLang="zh-TW" dirty="0" smtClean="0">
                <a:solidFill>
                  <a:schemeClr val="tx1"/>
                </a:solidFill>
              </a:rPr>
              <a:t> file)</a:t>
            </a:r>
            <a:endParaRPr lang="zh-TW" altLang="en-US" dirty="0">
              <a:solidFill>
                <a:schemeClr val="tx1"/>
              </a:solidFill>
            </a:endParaRPr>
          </a:p>
        </p:txBody>
      </p:sp>
      <p:sp>
        <p:nvSpPr>
          <p:cNvPr id="138" name="Rounded Rectangle 137"/>
          <p:cNvSpPr/>
          <p:nvPr/>
        </p:nvSpPr>
        <p:spPr>
          <a:xfrm>
            <a:off x="6861617" y="4293627"/>
            <a:ext cx="1215376"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dirty="0" err="1" smtClean="0">
                <a:solidFill>
                  <a:schemeClr val="tx1"/>
                </a:solidFill>
              </a:rPr>
              <a:t>inode</a:t>
            </a:r>
            <a:endParaRPr lang="en-US" altLang="zh-TW" dirty="0" smtClean="0">
              <a:solidFill>
                <a:schemeClr val="tx1"/>
              </a:solidFill>
            </a:endParaRPr>
          </a:p>
          <a:p>
            <a:pPr algn="ctr"/>
            <a:r>
              <a:rPr lang="en-US" altLang="zh-TW" dirty="0" smtClean="0">
                <a:solidFill>
                  <a:schemeClr val="tx1"/>
                </a:solidFill>
              </a:rPr>
              <a:t>(directory)</a:t>
            </a:r>
            <a:endParaRPr lang="zh-TW" altLang="en-US" dirty="0">
              <a:solidFill>
                <a:schemeClr val="tx1"/>
              </a:solidFill>
            </a:endParaRPr>
          </a:p>
        </p:txBody>
      </p:sp>
      <p:sp>
        <p:nvSpPr>
          <p:cNvPr id="139" name="TextBox 138"/>
          <p:cNvSpPr txBox="1"/>
          <p:nvPr/>
        </p:nvSpPr>
        <p:spPr>
          <a:xfrm>
            <a:off x="5998269" y="2579740"/>
            <a:ext cx="415498" cy="369332"/>
          </a:xfrm>
          <a:prstGeom prst="rect">
            <a:avLst/>
          </a:prstGeom>
          <a:noFill/>
        </p:spPr>
        <p:txBody>
          <a:bodyPr wrap="none" rtlCol="0">
            <a:spAutoFit/>
          </a:bodyPr>
          <a:lstStyle/>
          <a:p>
            <a:r>
              <a:rPr lang="en-CA" dirty="0" smtClean="0">
                <a:solidFill>
                  <a:schemeClr val="bg1"/>
                </a:solidFill>
              </a:rPr>
              <a:t>…</a:t>
            </a:r>
            <a:endParaRPr lang="en-CA" dirty="0">
              <a:solidFill>
                <a:schemeClr val="bg1"/>
              </a:solidFill>
            </a:endParaRPr>
          </a:p>
        </p:txBody>
      </p:sp>
      <p:sp>
        <p:nvSpPr>
          <p:cNvPr id="140" name="TextBox 139"/>
          <p:cNvSpPr txBox="1"/>
          <p:nvPr/>
        </p:nvSpPr>
        <p:spPr>
          <a:xfrm>
            <a:off x="5869543" y="4421011"/>
            <a:ext cx="415498" cy="369332"/>
          </a:xfrm>
          <a:prstGeom prst="rect">
            <a:avLst/>
          </a:prstGeom>
          <a:noFill/>
        </p:spPr>
        <p:txBody>
          <a:bodyPr wrap="none" rtlCol="0">
            <a:spAutoFit/>
          </a:bodyPr>
          <a:lstStyle/>
          <a:p>
            <a:r>
              <a:rPr lang="en-CA" dirty="0" smtClean="0">
                <a:solidFill>
                  <a:schemeClr val="bg1"/>
                </a:solidFill>
              </a:rPr>
              <a:t>…</a:t>
            </a:r>
            <a:endParaRPr lang="en-CA" dirty="0">
              <a:solidFill>
                <a:schemeClr val="bg1"/>
              </a:solidFill>
            </a:endParaRPr>
          </a:p>
        </p:txBody>
      </p:sp>
      <p:sp>
        <p:nvSpPr>
          <p:cNvPr id="142" name="Rectangle 141"/>
          <p:cNvSpPr/>
          <p:nvPr/>
        </p:nvSpPr>
        <p:spPr>
          <a:xfrm>
            <a:off x="6917696" y="5815595"/>
            <a:ext cx="1103217" cy="728080"/>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err="1" smtClean="0">
                <a:solidFill>
                  <a:schemeClr val="bg1"/>
                </a:solidFill>
              </a:rPr>
              <a:t>dir</a:t>
            </a:r>
            <a:endParaRPr lang="en-CA" altLang="zh-TW" dirty="0" smtClean="0">
              <a:solidFill>
                <a:schemeClr val="bg1"/>
              </a:solidFill>
            </a:endParaRPr>
          </a:p>
          <a:p>
            <a:pPr algn="ctr"/>
            <a:r>
              <a:rPr lang="en-CA" altLang="zh-TW" dirty="0" smtClean="0">
                <a:solidFill>
                  <a:schemeClr val="bg1"/>
                </a:solidFill>
              </a:rPr>
              <a:t>block</a:t>
            </a:r>
            <a:endParaRPr lang="zh-TW" altLang="en-US" dirty="0">
              <a:solidFill>
                <a:schemeClr val="bg1"/>
              </a:solidFill>
            </a:endParaRPr>
          </a:p>
        </p:txBody>
      </p:sp>
      <p:sp>
        <p:nvSpPr>
          <p:cNvPr id="145" name="Rectangle 144"/>
          <p:cNvSpPr/>
          <p:nvPr/>
        </p:nvSpPr>
        <p:spPr>
          <a:xfrm>
            <a:off x="8596461" y="4219015"/>
            <a:ext cx="1211564" cy="944774"/>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err="1" smtClean="0">
                <a:solidFill>
                  <a:schemeClr val="bg1"/>
                </a:solidFill>
              </a:rPr>
              <a:t>dir</a:t>
            </a:r>
            <a:endParaRPr lang="en-CA" altLang="zh-TW" dirty="0" smtClean="0">
              <a:solidFill>
                <a:schemeClr val="bg1"/>
              </a:solidFill>
            </a:endParaRPr>
          </a:p>
          <a:p>
            <a:pPr algn="ctr"/>
            <a:r>
              <a:rPr lang="en-CA" altLang="zh-TW" dirty="0" smtClean="0">
                <a:solidFill>
                  <a:schemeClr val="bg1"/>
                </a:solidFill>
              </a:rPr>
              <a:t>indirect</a:t>
            </a:r>
          </a:p>
          <a:p>
            <a:pPr algn="ctr"/>
            <a:r>
              <a:rPr lang="en-CA" altLang="zh-TW" dirty="0" smtClean="0">
                <a:solidFill>
                  <a:schemeClr val="bg1"/>
                </a:solidFill>
              </a:rPr>
              <a:t>block</a:t>
            </a:r>
            <a:endParaRPr lang="zh-TW" altLang="en-US" dirty="0">
              <a:solidFill>
                <a:schemeClr val="bg1"/>
              </a:solidFill>
            </a:endParaRPr>
          </a:p>
        </p:txBody>
      </p:sp>
      <p:grpSp>
        <p:nvGrpSpPr>
          <p:cNvPr id="151" name="Group 150"/>
          <p:cNvGrpSpPr/>
          <p:nvPr/>
        </p:nvGrpSpPr>
        <p:grpSpPr>
          <a:xfrm>
            <a:off x="8588936" y="5771801"/>
            <a:ext cx="1211380" cy="761972"/>
            <a:chOff x="20309820" y="9557482"/>
            <a:chExt cx="2053432" cy="1739168"/>
          </a:xfrm>
          <a:solidFill>
            <a:schemeClr val="accent5">
              <a:lumMod val="40000"/>
              <a:lumOff val="60000"/>
            </a:schemeClr>
          </a:solidFill>
        </p:grpSpPr>
        <p:sp>
          <p:nvSpPr>
            <p:cNvPr id="152" name="Rectangle 151"/>
            <p:cNvSpPr/>
            <p:nvPr/>
          </p:nvSpPr>
          <p:spPr>
            <a:xfrm>
              <a:off x="20498872" y="9557482"/>
              <a:ext cx="1864380" cy="1534578"/>
            </a:xfrm>
            <a:prstGeom prst="rect">
              <a:avLst/>
            </a:prstGeom>
            <a:grp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3" name="Rectangle 152"/>
            <p:cNvSpPr/>
            <p:nvPr/>
          </p:nvSpPr>
          <p:spPr>
            <a:xfrm>
              <a:off x="20403622" y="9652732"/>
              <a:ext cx="1864380" cy="1534578"/>
            </a:xfrm>
            <a:prstGeom prst="rect">
              <a:avLst/>
            </a:prstGeom>
            <a:grp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5" name="Rectangle 154"/>
            <p:cNvSpPr/>
            <p:nvPr/>
          </p:nvSpPr>
          <p:spPr>
            <a:xfrm>
              <a:off x="20309820" y="9762072"/>
              <a:ext cx="1864381" cy="1534578"/>
            </a:xfrm>
            <a:prstGeom prst="rect">
              <a:avLst/>
            </a:prstGeom>
            <a:grp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err="1" smtClean="0">
                  <a:solidFill>
                    <a:schemeClr val="bg1"/>
                  </a:solidFill>
                </a:rPr>
                <a:t>dir</a:t>
              </a:r>
              <a:endParaRPr lang="en-CA" altLang="zh-TW" dirty="0" smtClean="0">
                <a:solidFill>
                  <a:schemeClr val="bg1"/>
                </a:solidFill>
              </a:endParaRPr>
            </a:p>
            <a:p>
              <a:pPr algn="ctr"/>
              <a:r>
                <a:rPr lang="en-CA" altLang="zh-TW" dirty="0" smtClean="0">
                  <a:solidFill>
                    <a:schemeClr val="bg1"/>
                  </a:solidFill>
                </a:rPr>
                <a:t>blocks</a:t>
              </a:r>
              <a:endParaRPr lang="zh-TW" altLang="en-US" dirty="0">
                <a:solidFill>
                  <a:schemeClr val="bg1"/>
                </a:solidFill>
              </a:endParaRPr>
            </a:p>
          </p:txBody>
        </p:sp>
      </p:grpSp>
      <p:cxnSp>
        <p:nvCxnSpPr>
          <p:cNvPr id="168" name="Straight Arrow Connector 96"/>
          <p:cNvCxnSpPr>
            <a:stCxn id="138" idx="2"/>
            <a:endCxn id="142" idx="0"/>
          </p:cNvCxnSpPr>
          <p:nvPr/>
        </p:nvCxnSpPr>
        <p:spPr>
          <a:xfrm>
            <a:off x="7469305" y="5089178"/>
            <a:ext cx="0" cy="726417"/>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96"/>
          <p:cNvCxnSpPr/>
          <p:nvPr/>
        </p:nvCxnSpPr>
        <p:spPr>
          <a:xfrm flipV="1">
            <a:off x="8076993" y="4691402"/>
            <a:ext cx="519468" cy="1"/>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rot="5400000">
            <a:off x="5043353" y="3194064"/>
            <a:ext cx="327375" cy="584384"/>
            <a:chOff x="27236633" y="9932056"/>
            <a:chExt cx="578250" cy="990600"/>
          </a:xfrm>
        </p:grpSpPr>
        <p:cxnSp>
          <p:nvCxnSpPr>
            <p:cNvPr id="175" name="Straight Arrow Connector 174"/>
            <p:cNvCxnSpPr/>
            <p:nvPr/>
          </p:nvCxnSpPr>
          <p:spPr>
            <a:xfrm>
              <a:off x="27236633" y="104273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p:cNvCxnSpPr/>
            <p:nvPr/>
          </p:nvCxnSpPr>
          <p:spPr>
            <a:xfrm>
              <a:off x="27236633" y="109226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p:cNvCxnSpPr/>
            <p:nvPr/>
          </p:nvCxnSpPr>
          <p:spPr>
            <a:xfrm>
              <a:off x="27236633" y="99320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3" name="Rectangle 72"/>
          <p:cNvSpPr/>
          <p:nvPr/>
        </p:nvSpPr>
        <p:spPr>
          <a:xfrm>
            <a:off x="4374804" y="5825726"/>
            <a:ext cx="1103217" cy="728080"/>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data</a:t>
            </a:r>
          </a:p>
          <a:p>
            <a:pPr algn="ctr"/>
            <a:r>
              <a:rPr lang="en-CA" altLang="zh-TW" dirty="0" smtClean="0">
                <a:solidFill>
                  <a:schemeClr val="bg1"/>
                </a:solidFill>
              </a:rPr>
              <a:t>block</a:t>
            </a:r>
            <a:endParaRPr lang="zh-TW" altLang="en-US" dirty="0">
              <a:solidFill>
                <a:schemeClr val="bg1"/>
              </a:solidFill>
            </a:endParaRPr>
          </a:p>
        </p:txBody>
      </p:sp>
      <p:cxnSp>
        <p:nvCxnSpPr>
          <p:cNvPr id="75" name="Straight Arrow Connector 96"/>
          <p:cNvCxnSpPr>
            <a:stCxn id="95" idx="2"/>
            <a:endCxn id="73" idx="0"/>
          </p:cNvCxnSpPr>
          <p:nvPr/>
        </p:nvCxnSpPr>
        <p:spPr>
          <a:xfrm>
            <a:off x="4926412" y="5089178"/>
            <a:ext cx="1" cy="736548"/>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1" name="Rectangle 70"/>
          <p:cNvSpPr/>
          <p:nvPr/>
        </p:nvSpPr>
        <p:spPr>
          <a:xfrm>
            <a:off x="2115509" y="4220986"/>
            <a:ext cx="1179762" cy="940832"/>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err="1" smtClean="0">
                <a:solidFill>
                  <a:schemeClr val="bg1"/>
                </a:solidFill>
              </a:rPr>
              <a:t>inode</a:t>
            </a:r>
            <a:endParaRPr lang="en-CA" altLang="zh-TW" dirty="0" smtClean="0">
              <a:solidFill>
                <a:schemeClr val="bg1"/>
              </a:solidFill>
            </a:endParaRPr>
          </a:p>
          <a:p>
            <a:pPr algn="ctr"/>
            <a:r>
              <a:rPr lang="en-CA" altLang="zh-TW" dirty="0" smtClean="0">
                <a:solidFill>
                  <a:schemeClr val="bg1"/>
                </a:solidFill>
              </a:rPr>
              <a:t>bitmap</a:t>
            </a:r>
            <a:endParaRPr lang="zh-TW" altLang="en-US" dirty="0">
              <a:solidFill>
                <a:schemeClr val="bg1"/>
              </a:solidFill>
            </a:endParaRPr>
          </a:p>
        </p:txBody>
      </p:sp>
      <p:grpSp>
        <p:nvGrpSpPr>
          <p:cNvPr id="32" name="Group 31"/>
          <p:cNvGrpSpPr/>
          <p:nvPr/>
        </p:nvGrpSpPr>
        <p:grpSpPr>
          <a:xfrm>
            <a:off x="2948918" y="2415923"/>
            <a:ext cx="1419770" cy="902183"/>
            <a:chOff x="2529818" y="2415923"/>
            <a:chExt cx="1419770" cy="902183"/>
          </a:xfrm>
        </p:grpSpPr>
        <p:sp>
          <p:nvSpPr>
            <p:cNvPr id="94" name="Rounded Rectangle 93"/>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block group descriptor</a:t>
              </a:r>
              <a:endParaRPr lang="zh-TW" altLang="en-US" dirty="0">
                <a:solidFill>
                  <a:schemeClr val="tx1"/>
                </a:solidFill>
              </a:endParaRPr>
            </a:p>
          </p:txBody>
        </p:sp>
        <p:sp>
          <p:nvSpPr>
            <p:cNvPr id="21" name="Rectangle 20"/>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Tree>
    <p:extLst>
      <p:ext uri="{BB962C8B-B14F-4D97-AF65-F5344CB8AC3E}">
        <p14:creationId xmlns:p14="http://schemas.microsoft.com/office/powerpoint/2010/main" val="2402112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Pointer Address Space</a:t>
            </a:r>
            <a:endParaRPr lang="en-CA" dirty="0"/>
          </a:p>
        </p:txBody>
      </p:sp>
      <p:sp>
        <p:nvSpPr>
          <p:cNvPr id="3" name="Content Placeholder 2"/>
          <p:cNvSpPr>
            <a:spLocks noGrp="1"/>
          </p:cNvSpPr>
          <p:nvPr>
            <p:ph idx="1"/>
          </p:nvPr>
        </p:nvSpPr>
        <p:spPr/>
        <p:txBody>
          <a:bodyPr/>
          <a:lstStyle/>
          <a:p>
            <a:r>
              <a:rPr lang="en-US" dirty="0" smtClean="0"/>
              <a:t>Challenge: </a:t>
            </a:r>
            <a:r>
              <a:rPr lang="en-CA" dirty="0"/>
              <a:t>File system pointer can store different types of </a:t>
            </a:r>
            <a:r>
              <a:rPr lang="en-CA" dirty="0" smtClean="0"/>
              <a:t/>
            </a:r>
            <a:br>
              <a:rPr lang="en-CA" dirty="0" smtClean="0"/>
            </a:br>
            <a:r>
              <a:rPr lang="en-CA" dirty="0" smtClean="0"/>
              <a:t>logical addresses</a:t>
            </a:r>
          </a:p>
          <a:p>
            <a:pPr lvl="1"/>
            <a:r>
              <a:rPr lang="en-CA" dirty="0" smtClean="0"/>
              <a:t>Need different mappings to obtain physical address</a:t>
            </a:r>
          </a:p>
          <a:p>
            <a:r>
              <a:rPr lang="en-CA" dirty="0" smtClean="0"/>
              <a:t>Solution: Pointer annotations specify an </a:t>
            </a:r>
            <a:r>
              <a:rPr lang="en-CA" i="1" dirty="0"/>
              <a:t>address space</a:t>
            </a:r>
            <a:r>
              <a:rPr lang="en-CA" b="1" dirty="0"/>
              <a:t> </a:t>
            </a:r>
            <a:r>
              <a:rPr lang="en-CA" dirty="0"/>
              <a:t>that indicates how the address should be </a:t>
            </a:r>
            <a:r>
              <a:rPr lang="en-CA" dirty="0" smtClean="0"/>
              <a:t>mapped to </a:t>
            </a:r>
            <a:r>
              <a:rPr lang="en-CA" dirty="0"/>
              <a:t>physical location</a:t>
            </a:r>
          </a:p>
          <a:p>
            <a:endParaRPr lang="en-CA" dirty="0" smtClean="0"/>
          </a:p>
          <a:p>
            <a:endParaRPr lang="en-CA" dirty="0" smtClean="0"/>
          </a:p>
          <a:p>
            <a:r>
              <a:rPr lang="en-CA" dirty="0" smtClean="0"/>
              <a:t>Examples: Block, File, F2FS NID address spaces</a:t>
            </a:r>
          </a:p>
        </p:txBody>
      </p:sp>
      <p:sp>
        <p:nvSpPr>
          <p:cNvPr id="5" name="Slide Number Placeholder 4"/>
          <p:cNvSpPr>
            <a:spLocks noGrp="1"/>
          </p:cNvSpPr>
          <p:nvPr>
            <p:ph type="sldNum" sz="quarter" idx="12"/>
          </p:nvPr>
        </p:nvSpPr>
        <p:spPr/>
        <p:txBody>
          <a:bodyPr/>
          <a:lstStyle/>
          <a:p>
            <a:fld id="{7B2023C8-B124-43A9-8F92-0EEF5BAA9995}" type="slidenum">
              <a:rPr lang="en-CA" smtClean="0"/>
              <a:pPr/>
              <a:t>14</a:t>
            </a:fld>
            <a:endParaRPr lang="en-CA" dirty="0"/>
          </a:p>
        </p:txBody>
      </p:sp>
      <p:sp>
        <p:nvSpPr>
          <p:cNvPr id="8" name="Rectangle 7"/>
          <p:cNvSpPr/>
          <p:nvPr/>
        </p:nvSpPr>
        <p:spPr>
          <a:xfrm>
            <a:off x="1506062" y="3986019"/>
            <a:ext cx="7443063" cy="430887"/>
          </a:xfrm>
          <a:prstGeom prst="rect">
            <a:avLst/>
          </a:prstGeom>
        </p:spPr>
        <p:txBody>
          <a:bodyPr wrap="none">
            <a:spAutoFit/>
          </a:bodyPr>
          <a:lstStyle/>
          <a:p>
            <a:pPr lvl="1"/>
            <a:r>
              <a:rPr lang="en-CA" sz="2200" b="1" dirty="0" smtClean="0">
                <a:solidFill>
                  <a:schemeClr val="bg1"/>
                </a:solidFill>
                <a:latin typeface="Courier New" panose="02070309020205020404" pitchFamily="49" charset="0"/>
                <a:cs typeface="Courier New" panose="02070309020205020404" pitchFamily="49" charset="0"/>
              </a:rPr>
              <a:t>POINTER</a:t>
            </a:r>
            <a:r>
              <a:rPr lang="en-CA" sz="2200" dirty="0" smtClean="0">
                <a:solidFill>
                  <a:schemeClr val="bg1"/>
                </a:solidFill>
                <a:latin typeface="Courier New" panose="02070309020205020404" pitchFamily="49" charset="0"/>
                <a:cs typeface="Courier New" panose="02070309020205020404" pitchFamily="49" charset="0"/>
              </a:rPr>
              <a:t>(</a:t>
            </a:r>
            <a:r>
              <a:rPr lang="en-CA" sz="2200" dirty="0" err="1" smtClean="0">
                <a:solidFill>
                  <a:schemeClr val="bg1"/>
                </a:solidFill>
                <a:latin typeface="Courier New" panose="02070309020205020404" pitchFamily="49" charset="0"/>
                <a:cs typeface="Courier New" panose="02070309020205020404" pitchFamily="49" charset="0"/>
              </a:rPr>
              <a:t>addrspace</a:t>
            </a:r>
            <a:r>
              <a:rPr lang="en-CA" sz="2200" dirty="0" smtClean="0">
                <a:solidFill>
                  <a:schemeClr val="bg1"/>
                </a:solidFill>
                <a:latin typeface="Courier New" panose="02070309020205020404" pitchFamily="49" charset="0"/>
                <a:cs typeface="Courier New" panose="02070309020205020404" pitchFamily="49" charset="0"/>
              </a:rPr>
              <a:t>=block, type=</a:t>
            </a:r>
            <a:r>
              <a:rPr lang="en-CA" sz="2200" dirty="0" err="1" smtClean="0">
                <a:solidFill>
                  <a:schemeClr val="bg1"/>
                </a:solidFill>
                <a:latin typeface="Courier New" panose="02070309020205020404" pitchFamily="49" charset="0"/>
                <a:cs typeface="Courier New" panose="02070309020205020404" pitchFamily="49" charset="0"/>
              </a:rPr>
              <a:t>bar_block</a:t>
            </a:r>
            <a:r>
              <a:rPr lang="en-CA" sz="2200" dirty="0" smtClean="0">
                <a:solidFill>
                  <a:schemeClr val="bg1"/>
                </a:solidFill>
                <a:latin typeface="Courier New" panose="02070309020205020404" pitchFamily="49" charset="0"/>
                <a:cs typeface="Courier New" panose="02070309020205020404" pitchFamily="49" charset="0"/>
              </a:rPr>
              <a:t>)</a:t>
            </a:r>
            <a:endParaRPr lang="en-CA" sz="22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550008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Group 76"/>
          <p:cNvGrpSpPr/>
          <p:nvPr/>
        </p:nvGrpSpPr>
        <p:grpSpPr>
          <a:xfrm rot="5400000">
            <a:off x="9532776" y="6007510"/>
            <a:ext cx="424783" cy="584384"/>
            <a:chOff x="27236633" y="9932056"/>
            <a:chExt cx="578250" cy="990600"/>
          </a:xfrm>
        </p:grpSpPr>
        <p:cxnSp>
          <p:nvCxnSpPr>
            <p:cNvPr id="113" name="Straight Arrow Connector 112"/>
            <p:cNvCxnSpPr/>
            <p:nvPr/>
          </p:nvCxnSpPr>
          <p:spPr>
            <a:xfrm>
              <a:off x="27236633" y="104273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p:nvPr/>
          </p:nvCxnSpPr>
          <p:spPr>
            <a:xfrm>
              <a:off x="27236633" y="109226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a:off x="27236633" y="99320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CA" dirty="0" smtClean="0"/>
              <a:t>Block Address Space</a:t>
            </a:r>
            <a:endParaRPr lang="en-CA" dirty="0"/>
          </a:p>
        </p:txBody>
      </p:sp>
      <p:sp>
        <p:nvSpPr>
          <p:cNvPr id="3" name="Content Placeholder 2"/>
          <p:cNvSpPr>
            <a:spLocks noGrp="1"/>
          </p:cNvSpPr>
          <p:nvPr>
            <p:ph idx="1"/>
          </p:nvPr>
        </p:nvSpPr>
        <p:spPr/>
        <p:txBody>
          <a:bodyPr/>
          <a:lstStyle/>
          <a:p>
            <a:r>
              <a:rPr lang="en-CA" dirty="0"/>
              <a:t>Block address is the block number in the file system</a:t>
            </a:r>
          </a:p>
          <a:p>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15</a:t>
            </a:fld>
            <a:endParaRPr lang="en-CA" dirty="0"/>
          </a:p>
        </p:txBody>
      </p:sp>
      <p:sp>
        <p:nvSpPr>
          <p:cNvPr id="78" name="Rectangle 77"/>
          <p:cNvSpPr/>
          <p:nvPr/>
        </p:nvSpPr>
        <p:spPr>
          <a:xfrm>
            <a:off x="1306374" y="5173486"/>
            <a:ext cx="1179762" cy="940832"/>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block</a:t>
            </a:r>
          </a:p>
          <a:p>
            <a:pPr algn="ctr"/>
            <a:r>
              <a:rPr lang="en-CA" altLang="zh-TW" dirty="0" smtClean="0">
                <a:solidFill>
                  <a:schemeClr val="bg1"/>
                </a:solidFill>
              </a:rPr>
              <a:t>bitmap</a:t>
            </a:r>
            <a:endParaRPr lang="zh-TW" altLang="en-US" dirty="0">
              <a:solidFill>
                <a:schemeClr val="bg1"/>
              </a:solidFill>
            </a:endParaRPr>
          </a:p>
        </p:txBody>
      </p:sp>
      <p:cxnSp>
        <p:nvCxnSpPr>
          <p:cNvPr id="79" name="Straight Arrow Connector 78"/>
          <p:cNvCxnSpPr/>
          <p:nvPr/>
        </p:nvCxnSpPr>
        <p:spPr>
          <a:xfrm>
            <a:off x="1885782" y="2833388"/>
            <a:ext cx="0" cy="458985"/>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a:xfrm>
            <a:off x="1306371" y="2160068"/>
            <a:ext cx="1103217" cy="672168"/>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super</a:t>
            </a:r>
          </a:p>
          <a:p>
            <a:pPr algn="ctr"/>
            <a:r>
              <a:rPr lang="en-CA" altLang="zh-TW" dirty="0" smtClean="0">
                <a:solidFill>
                  <a:schemeClr val="bg1"/>
                </a:solidFill>
              </a:rPr>
              <a:t>block</a:t>
            </a:r>
            <a:endParaRPr lang="zh-TW" altLang="en-US" dirty="0">
              <a:solidFill>
                <a:schemeClr val="bg1"/>
              </a:solidFill>
            </a:endParaRPr>
          </a:p>
        </p:txBody>
      </p:sp>
      <p:sp>
        <p:nvSpPr>
          <p:cNvPr id="81" name="Rectangle 80"/>
          <p:cNvSpPr/>
          <p:nvPr/>
        </p:nvSpPr>
        <p:spPr>
          <a:xfrm>
            <a:off x="3875699" y="2160068"/>
            <a:ext cx="3187275" cy="672168"/>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ext4 journal</a:t>
            </a:r>
            <a:endParaRPr lang="zh-TW" altLang="en-US" dirty="0">
              <a:solidFill>
                <a:schemeClr val="bg1"/>
              </a:solidFill>
            </a:endParaRPr>
          </a:p>
        </p:txBody>
      </p:sp>
      <p:cxnSp>
        <p:nvCxnSpPr>
          <p:cNvPr id="82" name="Straight Arrow Connector 81"/>
          <p:cNvCxnSpPr>
            <a:stCxn id="80" idx="3"/>
            <a:endCxn id="81" idx="1"/>
          </p:cNvCxnSpPr>
          <p:nvPr/>
        </p:nvCxnSpPr>
        <p:spPr>
          <a:xfrm>
            <a:off x="2409588" y="2496152"/>
            <a:ext cx="1466111" cy="0"/>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3" name="Rectangle 82"/>
          <p:cNvSpPr/>
          <p:nvPr/>
        </p:nvSpPr>
        <p:spPr>
          <a:xfrm>
            <a:off x="1306370" y="3292373"/>
            <a:ext cx="5854811" cy="1059811"/>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4" name="Rectangle 83"/>
          <p:cNvSpPr/>
          <p:nvPr/>
        </p:nvSpPr>
        <p:spPr>
          <a:xfrm>
            <a:off x="1390086" y="3379840"/>
            <a:ext cx="2002008" cy="63184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block group descriptor table</a:t>
            </a:r>
            <a:endParaRPr lang="en-US" dirty="0">
              <a:solidFill>
                <a:schemeClr val="bg1"/>
              </a:solidFill>
            </a:endParaRPr>
          </a:p>
        </p:txBody>
      </p:sp>
      <p:cxnSp>
        <p:nvCxnSpPr>
          <p:cNvPr id="85" name="Straight Arrow Connector 96"/>
          <p:cNvCxnSpPr>
            <a:stCxn id="106" idx="2"/>
            <a:endCxn id="78" idx="0"/>
          </p:cNvCxnSpPr>
          <p:nvPr/>
        </p:nvCxnSpPr>
        <p:spPr>
          <a:xfrm rot="5400000">
            <a:off x="2426982" y="3739880"/>
            <a:ext cx="902880" cy="1964333"/>
          </a:xfrm>
          <a:prstGeom prst="bentConnector3">
            <a:avLst>
              <a:gd name="adj1" fmla="val 27846"/>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6" name="Rectangle 85"/>
          <p:cNvSpPr/>
          <p:nvPr/>
        </p:nvSpPr>
        <p:spPr>
          <a:xfrm>
            <a:off x="3973906" y="5173486"/>
            <a:ext cx="4848275" cy="940832"/>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7" name="Rectangle 86"/>
          <p:cNvSpPr/>
          <p:nvPr/>
        </p:nvSpPr>
        <p:spPr>
          <a:xfrm>
            <a:off x="4058265" y="5346902"/>
            <a:ext cx="843171" cy="59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chemeClr val="bg1"/>
                </a:solidFill>
              </a:rPr>
              <a:t>inode</a:t>
            </a:r>
            <a:r>
              <a:rPr lang="en-US" dirty="0" smtClean="0">
                <a:solidFill>
                  <a:schemeClr val="bg1"/>
                </a:solidFill>
              </a:rPr>
              <a:t> table</a:t>
            </a:r>
            <a:endParaRPr lang="en-US" dirty="0">
              <a:solidFill>
                <a:schemeClr val="bg1"/>
              </a:solidFill>
            </a:endParaRPr>
          </a:p>
        </p:txBody>
      </p:sp>
      <p:cxnSp>
        <p:nvCxnSpPr>
          <p:cNvPr id="88" name="Straight Arrow Connector 96"/>
          <p:cNvCxnSpPr>
            <a:stCxn id="105" idx="2"/>
            <a:endCxn id="103" idx="0"/>
          </p:cNvCxnSpPr>
          <p:nvPr/>
        </p:nvCxnSpPr>
        <p:spPr>
          <a:xfrm rot="5400000">
            <a:off x="3264132" y="4235890"/>
            <a:ext cx="921780" cy="953413"/>
          </a:xfrm>
          <a:prstGeom prst="bentConnector3">
            <a:avLst>
              <a:gd name="adj1" fmla="val 50000"/>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9" name="Rounded Rectangle 88"/>
          <p:cNvSpPr/>
          <p:nvPr/>
        </p:nvSpPr>
        <p:spPr>
          <a:xfrm>
            <a:off x="5057707" y="3379840"/>
            <a:ext cx="1380879" cy="86171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block group descriptor</a:t>
            </a:r>
            <a:endParaRPr lang="zh-TW" altLang="en-US" dirty="0">
              <a:solidFill>
                <a:schemeClr val="tx1"/>
              </a:solidFill>
            </a:endParaRPr>
          </a:p>
        </p:txBody>
      </p:sp>
      <p:cxnSp>
        <p:nvCxnSpPr>
          <p:cNvPr id="90" name="Straight Arrow Connector 96"/>
          <p:cNvCxnSpPr/>
          <p:nvPr/>
        </p:nvCxnSpPr>
        <p:spPr>
          <a:xfrm>
            <a:off x="4501271" y="4241553"/>
            <a:ext cx="0" cy="929962"/>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1" name="Rounded Rectangle 90"/>
          <p:cNvSpPr/>
          <p:nvPr/>
        </p:nvSpPr>
        <p:spPr>
          <a:xfrm>
            <a:off x="4986642" y="5246127"/>
            <a:ext cx="965390"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dirty="0" err="1" smtClean="0">
                <a:solidFill>
                  <a:schemeClr val="tx1"/>
                </a:solidFill>
              </a:rPr>
              <a:t>inode</a:t>
            </a:r>
            <a:endParaRPr lang="en-US" altLang="zh-TW" dirty="0" smtClean="0">
              <a:solidFill>
                <a:schemeClr val="tx1"/>
              </a:solidFill>
            </a:endParaRPr>
          </a:p>
          <a:p>
            <a:pPr algn="ctr"/>
            <a:r>
              <a:rPr lang="en-US" altLang="zh-TW" dirty="0" smtClean="0">
                <a:solidFill>
                  <a:schemeClr val="tx1"/>
                </a:solidFill>
              </a:rPr>
              <a:t>(</a:t>
            </a:r>
            <a:r>
              <a:rPr lang="en-US" altLang="zh-TW" dirty="0" err="1" smtClean="0">
                <a:solidFill>
                  <a:schemeClr val="tx1"/>
                </a:solidFill>
              </a:rPr>
              <a:t>reg</a:t>
            </a:r>
            <a:r>
              <a:rPr lang="en-US" altLang="zh-TW" dirty="0" smtClean="0">
                <a:solidFill>
                  <a:schemeClr val="tx1"/>
                </a:solidFill>
              </a:rPr>
              <a:t> file)</a:t>
            </a:r>
            <a:endParaRPr lang="zh-TW" altLang="en-US" dirty="0">
              <a:solidFill>
                <a:schemeClr val="tx1"/>
              </a:solidFill>
            </a:endParaRPr>
          </a:p>
        </p:txBody>
      </p:sp>
      <p:sp>
        <p:nvSpPr>
          <p:cNvPr id="92" name="Rounded Rectangle 91"/>
          <p:cNvSpPr/>
          <p:nvPr/>
        </p:nvSpPr>
        <p:spPr>
          <a:xfrm>
            <a:off x="7404542" y="5246127"/>
            <a:ext cx="1215376"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dirty="0" err="1" smtClean="0">
                <a:solidFill>
                  <a:schemeClr val="tx1"/>
                </a:solidFill>
              </a:rPr>
              <a:t>inode</a:t>
            </a:r>
            <a:endParaRPr lang="en-US" altLang="zh-TW" dirty="0" smtClean="0">
              <a:solidFill>
                <a:schemeClr val="tx1"/>
              </a:solidFill>
            </a:endParaRPr>
          </a:p>
          <a:p>
            <a:pPr algn="ctr"/>
            <a:r>
              <a:rPr lang="en-US" altLang="zh-TW" dirty="0" smtClean="0">
                <a:solidFill>
                  <a:schemeClr val="tx1"/>
                </a:solidFill>
              </a:rPr>
              <a:t>(directory)</a:t>
            </a:r>
            <a:endParaRPr lang="zh-TW" altLang="en-US" dirty="0">
              <a:solidFill>
                <a:schemeClr val="tx1"/>
              </a:solidFill>
            </a:endParaRPr>
          </a:p>
        </p:txBody>
      </p:sp>
      <p:sp>
        <p:nvSpPr>
          <p:cNvPr id="93" name="TextBox 92"/>
          <p:cNvSpPr txBox="1"/>
          <p:nvPr/>
        </p:nvSpPr>
        <p:spPr>
          <a:xfrm>
            <a:off x="6541194" y="3532240"/>
            <a:ext cx="415498" cy="369332"/>
          </a:xfrm>
          <a:prstGeom prst="rect">
            <a:avLst/>
          </a:prstGeom>
          <a:noFill/>
        </p:spPr>
        <p:txBody>
          <a:bodyPr wrap="none" rtlCol="0">
            <a:spAutoFit/>
          </a:bodyPr>
          <a:lstStyle/>
          <a:p>
            <a:r>
              <a:rPr lang="en-CA" dirty="0" smtClean="0">
                <a:solidFill>
                  <a:schemeClr val="bg1"/>
                </a:solidFill>
              </a:rPr>
              <a:t>…</a:t>
            </a:r>
            <a:endParaRPr lang="en-CA" dirty="0">
              <a:solidFill>
                <a:schemeClr val="bg1"/>
              </a:solidFill>
            </a:endParaRPr>
          </a:p>
        </p:txBody>
      </p:sp>
      <p:sp>
        <p:nvSpPr>
          <p:cNvPr id="94" name="TextBox 93"/>
          <p:cNvSpPr txBox="1"/>
          <p:nvPr/>
        </p:nvSpPr>
        <p:spPr>
          <a:xfrm>
            <a:off x="6412468" y="5373511"/>
            <a:ext cx="415498" cy="369332"/>
          </a:xfrm>
          <a:prstGeom prst="rect">
            <a:avLst/>
          </a:prstGeom>
          <a:noFill/>
        </p:spPr>
        <p:txBody>
          <a:bodyPr wrap="none" rtlCol="0">
            <a:spAutoFit/>
          </a:bodyPr>
          <a:lstStyle/>
          <a:p>
            <a:r>
              <a:rPr lang="en-CA" dirty="0" smtClean="0">
                <a:solidFill>
                  <a:schemeClr val="bg1"/>
                </a:solidFill>
              </a:rPr>
              <a:t>…</a:t>
            </a:r>
            <a:endParaRPr lang="en-CA" dirty="0">
              <a:solidFill>
                <a:schemeClr val="bg1"/>
              </a:solidFill>
            </a:endParaRPr>
          </a:p>
        </p:txBody>
      </p:sp>
      <p:sp>
        <p:nvSpPr>
          <p:cNvPr id="96" name="Rectangle 95"/>
          <p:cNvSpPr/>
          <p:nvPr/>
        </p:nvSpPr>
        <p:spPr>
          <a:xfrm>
            <a:off x="9139386" y="5171515"/>
            <a:ext cx="1211564" cy="944774"/>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err="1" smtClean="0">
                <a:solidFill>
                  <a:schemeClr val="bg1"/>
                </a:solidFill>
              </a:rPr>
              <a:t>dir</a:t>
            </a:r>
            <a:endParaRPr lang="en-CA" altLang="zh-TW" dirty="0" smtClean="0">
              <a:solidFill>
                <a:schemeClr val="bg1"/>
              </a:solidFill>
            </a:endParaRPr>
          </a:p>
          <a:p>
            <a:pPr algn="ctr"/>
            <a:r>
              <a:rPr lang="en-CA" altLang="zh-TW" dirty="0" smtClean="0">
                <a:solidFill>
                  <a:schemeClr val="bg1"/>
                </a:solidFill>
              </a:rPr>
              <a:t>indirect</a:t>
            </a:r>
          </a:p>
          <a:p>
            <a:pPr algn="ctr"/>
            <a:r>
              <a:rPr lang="en-CA" altLang="zh-TW" dirty="0" smtClean="0">
                <a:solidFill>
                  <a:schemeClr val="bg1"/>
                </a:solidFill>
              </a:rPr>
              <a:t>block</a:t>
            </a:r>
            <a:endParaRPr lang="zh-TW" altLang="en-US" dirty="0">
              <a:solidFill>
                <a:schemeClr val="bg1"/>
              </a:solidFill>
            </a:endParaRPr>
          </a:p>
        </p:txBody>
      </p:sp>
      <p:cxnSp>
        <p:nvCxnSpPr>
          <p:cNvPr id="99" name="Straight Arrow Connector 96"/>
          <p:cNvCxnSpPr/>
          <p:nvPr/>
        </p:nvCxnSpPr>
        <p:spPr>
          <a:xfrm flipV="1">
            <a:off x="8619918" y="5643902"/>
            <a:ext cx="519468" cy="1"/>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100" name="Group 99"/>
          <p:cNvGrpSpPr/>
          <p:nvPr/>
        </p:nvGrpSpPr>
        <p:grpSpPr>
          <a:xfrm rot="5400000">
            <a:off x="5586278" y="4146564"/>
            <a:ext cx="327375" cy="584384"/>
            <a:chOff x="27236633" y="9932056"/>
            <a:chExt cx="578250" cy="990600"/>
          </a:xfrm>
        </p:grpSpPr>
        <p:cxnSp>
          <p:nvCxnSpPr>
            <p:cNvPr id="107" name="Straight Arrow Connector 106"/>
            <p:cNvCxnSpPr/>
            <p:nvPr/>
          </p:nvCxnSpPr>
          <p:spPr>
            <a:xfrm>
              <a:off x="27236633" y="104273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a:off x="27236633" y="109226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a:xfrm>
              <a:off x="27236633" y="9932056"/>
              <a:ext cx="578250" cy="0"/>
            </a:xfrm>
            <a:prstGeom prst="straightConnector1">
              <a:avLst/>
            </a:prstGeom>
            <a:ln w="635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8" name="Straight Arrow Connector 96"/>
          <p:cNvCxnSpPr>
            <a:stCxn id="92" idx="2"/>
          </p:cNvCxnSpPr>
          <p:nvPr/>
        </p:nvCxnSpPr>
        <p:spPr>
          <a:xfrm>
            <a:off x="8012230" y="6041678"/>
            <a:ext cx="0" cy="456314"/>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96"/>
          <p:cNvCxnSpPr>
            <a:stCxn id="91" idx="2"/>
          </p:cNvCxnSpPr>
          <p:nvPr/>
        </p:nvCxnSpPr>
        <p:spPr>
          <a:xfrm>
            <a:off x="5469337" y="6041678"/>
            <a:ext cx="1" cy="462678"/>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2658434" y="5173486"/>
            <a:ext cx="1179762" cy="940832"/>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err="1" smtClean="0">
                <a:solidFill>
                  <a:schemeClr val="bg1"/>
                </a:solidFill>
              </a:rPr>
              <a:t>inode</a:t>
            </a:r>
            <a:endParaRPr lang="en-CA" altLang="zh-TW" dirty="0" smtClean="0">
              <a:solidFill>
                <a:schemeClr val="bg1"/>
              </a:solidFill>
            </a:endParaRPr>
          </a:p>
          <a:p>
            <a:pPr algn="ctr"/>
            <a:r>
              <a:rPr lang="en-CA" altLang="zh-TW" dirty="0" smtClean="0">
                <a:solidFill>
                  <a:schemeClr val="bg1"/>
                </a:solidFill>
              </a:rPr>
              <a:t>bitmap</a:t>
            </a:r>
            <a:endParaRPr lang="zh-TW" altLang="en-US" dirty="0">
              <a:solidFill>
                <a:schemeClr val="bg1"/>
              </a:solidFill>
            </a:endParaRPr>
          </a:p>
        </p:txBody>
      </p:sp>
      <p:grpSp>
        <p:nvGrpSpPr>
          <p:cNvPr id="104" name="Group 103"/>
          <p:cNvGrpSpPr/>
          <p:nvPr/>
        </p:nvGrpSpPr>
        <p:grpSpPr>
          <a:xfrm>
            <a:off x="3491843" y="3368423"/>
            <a:ext cx="1419770" cy="902183"/>
            <a:chOff x="2529818" y="2415923"/>
            <a:chExt cx="1419770" cy="902183"/>
          </a:xfrm>
        </p:grpSpPr>
        <p:sp>
          <p:nvSpPr>
            <p:cNvPr id="105" name="Rounded Rectangle 104"/>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block group descriptor</a:t>
              </a:r>
              <a:endParaRPr lang="zh-TW" altLang="en-US" dirty="0">
                <a:solidFill>
                  <a:schemeClr val="tx1"/>
                </a:solidFill>
              </a:endParaRPr>
            </a:p>
          </p:txBody>
        </p:sp>
        <p:sp>
          <p:nvSpPr>
            <p:cNvPr id="106" name="Rectangle 105"/>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156" name="Rectangle 155"/>
          <p:cNvSpPr/>
          <p:nvPr/>
        </p:nvSpPr>
        <p:spPr>
          <a:xfrm>
            <a:off x="353577" y="2840357"/>
            <a:ext cx="1397435" cy="3890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bg1"/>
                </a:solidFill>
              </a:rPr>
              <a:t>block </a:t>
            </a:r>
            <a:r>
              <a:rPr lang="en-US" i="1" dirty="0" err="1" smtClean="0">
                <a:solidFill>
                  <a:schemeClr val="bg1"/>
                </a:solidFill>
              </a:rPr>
              <a:t>addr</a:t>
            </a:r>
            <a:endParaRPr lang="en-US" i="1" dirty="0">
              <a:solidFill>
                <a:schemeClr val="bg1"/>
              </a:solidFill>
            </a:endParaRPr>
          </a:p>
        </p:txBody>
      </p:sp>
      <p:sp>
        <p:nvSpPr>
          <p:cNvPr id="157" name="Rectangle 156"/>
          <p:cNvSpPr/>
          <p:nvPr/>
        </p:nvSpPr>
        <p:spPr>
          <a:xfrm>
            <a:off x="443927" y="4633482"/>
            <a:ext cx="1397435" cy="3890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bg1"/>
                </a:solidFill>
              </a:rPr>
              <a:t>block </a:t>
            </a:r>
            <a:r>
              <a:rPr lang="en-US" i="1" dirty="0" err="1" smtClean="0">
                <a:solidFill>
                  <a:schemeClr val="bg1"/>
                </a:solidFill>
              </a:rPr>
              <a:t>addr</a:t>
            </a:r>
            <a:endParaRPr lang="en-US" i="1" dirty="0">
              <a:solidFill>
                <a:schemeClr val="bg1"/>
              </a:solidFill>
            </a:endParaRPr>
          </a:p>
        </p:txBody>
      </p:sp>
      <p:sp>
        <p:nvSpPr>
          <p:cNvPr id="159" name="Rectangle 158"/>
          <p:cNvSpPr/>
          <p:nvPr/>
        </p:nvSpPr>
        <p:spPr>
          <a:xfrm>
            <a:off x="5057707" y="4633482"/>
            <a:ext cx="1397435" cy="3890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bg1"/>
                </a:solidFill>
              </a:rPr>
              <a:t>block </a:t>
            </a:r>
            <a:r>
              <a:rPr lang="en-US" i="1" dirty="0" err="1" smtClean="0">
                <a:solidFill>
                  <a:schemeClr val="bg1"/>
                </a:solidFill>
              </a:rPr>
              <a:t>addr</a:t>
            </a:r>
            <a:endParaRPr lang="en-US" i="1" dirty="0">
              <a:solidFill>
                <a:schemeClr val="bg1"/>
              </a:solidFill>
            </a:endParaRPr>
          </a:p>
        </p:txBody>
      </p:sp>
      <p:sp>
        <p:nvSpPr>
          <p:cNvPr id="160" name="Rectangle 159"/>
          <p:cNvSpPr/>
          <p:nvPr/>
        </p:nvSpPr>
        <p:spPr>
          <a:xfrm>
            <a:off x="4833432" y="6442789"/>
            <a:ext cx="1397435" cy="3890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bg1"/>
                </a:solidFill>
              </a:rPr>
              <a:t>block </a:t>
            </a:r>
            <a:r>
              <a:rPr lang="en-US" i="1" dirty="0" err="1" smtClean="0">
                <a:solidFill>
                  <a:schemeClr val="bg1"/>
                </a:solidFill>
              </a:rPr>
              <a:t>addr</a:t>
            </a:r>
            <a:endParaRPr lang="en-US" i="1" dirty="0">
              <a:solidFill>
                <a:schemeClr val="bg1"/>
              </a:solidFill>
            </a:endParaRPr>
          </a:p>
        </p:txBody>
      </p:sp>
      <p:sp>
        <p:nvSpPr>
          <p:cNvPr id="161" name="Rectangle 160"/>
          <p:cNvSpPr/>
          <p:nvPr/>
        </p:nvSpPr>
        <p:spPr>
          <a:xfrm>
            <a:off x="9218612" y="6442789"/>
            <a:ext cx="1397435" cy="3890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bg1"/>
                </a:solidFill>
              </a:rPr>
              <a:t>block </a:t>
            </a:r>
            <a:r>
              <a:rPr lang="en-US" i="1" dirty="0" err="1" smtClean="0">
                <a:solidFill>
                  <a:schemeClr val="bg1"/>
                </a:solidFill>
              </a:rPr>
              <a:t>addr</a:t>
            </a:r>
            <a:endParaRPr lang="en-US" i="1" dirty="0">
              <a:solidFill>
                <a:schemeClr val="bg1"/>
              </a:solidFill>
            </a:endParaRPr>
          </a:p>
        </p:txBody>
      </p:sp>
      <p:sp>
        <p:nvSpPr>
          <p:cNvPr id="162" name="Rectangle 161"/>
          <p:cNvSpPr/>
          <p:nvPr/>
        </p:nvSpPr>
        <p:spPr>
          <a:xfrm>
            <a:off x="7522606" y="6442789"/>
            <a:ext cx="1397435" cy="3890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bg1"/>
                </a:solidFill>
              </a:rPr>
              <a:t>block </a:t>
            </a:r>
            <a:r>
              <a:rPr lang="en-US" i="1" dirty="0" err="1" smtClean="0">
                <a:solidFill>
                  <a:schemeClr val="bg1"/>
                </a:solidFill>
              </a:rPr>
              <a:t>addr</a:t>
            </a:r>
            <a:endParaRPr lang="en-US" i="1" dirty="0">
              <a:solidFill>
                <a:schemeClr val="bg1"/>
              </a:solidFill>
            </a:endParaRPr>
          </a:p>
        </p:txBody>
      </p:sp>
      <p:sp>
        <p:nvSpPr>
          <p:cNvPr id="163" name="Rectangle 162"/>
          <p:cNvSpPr/>
          <p:nvPr/>
        </p:nvSpPr>
        <p:spPr>
          <a:xfrm>
            <a:off x="2415911" y="2106494"/>
            <a:ext cx="5163845" cy="932851"/>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376925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a:xfrm>
            <a:off x="6038754" y="3588818"/>
            <a:ext cx="3187275" cy="672168"/>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ext4 journal</a:t>
            </a:r>
            <a:endParaRPr lang="zh-TW" altLang="en-US" dirty="0">
              <a:solidFill>
                <a:schemeClr val="bg1"/>
              </a:solidFill>
            </a:endParaRPr>
          </a:p>
        </p:txBody>
      </p:sp>
      <p:sp>
        <p:nvSpPr>
          <p:cNvPr id="2" name="Title 1"/>
          <p:cNvSpPr>
            <a:spLocks noGrp="1"/>
          </p:cNvSpPr>
          <p:nvPr>
            <p:ph type="title"/>
          </p:nvPr>
        </p:nvSpPr>
        <p:spPr/>
        <p:txBody>
          <a:bodyPr/>
          <a:lstStyle/>
          <a:p>
            <a:r>
              <a:rPr lang="en-CA" dirty="0" smtClean="0"/>
              <a:t>File Address Space</a:t>
            </a:r>
            <a:endParaRPr lang="en-CA" dirty="0"/>
          </a:p>
        </p:txBody>
      </p:sp>
      <p:sp>
        <p:nvSpPr>
          <p:cNvPr id="3" name="Content Placeholder 2"/>
          <p:cNvSpPr>
            <a:spLocks noGrp="1"/>
          </p:cNvSpPr>
          <p:nvPr>
            <p:ph idx="1"/>
          </p:nvPr>
        </p:nvSpPr>
        <p:spPr>
          <a:xfrm>
            <a:off x="684211" y="1450020"/>
            <a:ext cx="10285797" cy="4656842"/>
          </a:xfrm>
        </p:spPr>
        <p:txBody>
          <a:bodyPr/>
          <a:lstStyle/>
          <a:p>
            <a:r>
              <a:rPr lang="en-CA" dirty="0"/>
              <a:t>File address is an index into the </a:t>
            </a:r>
            <a:r>
              <a:rPr lang="en-CA" dirty="0" err="1"/>
              <a:t>inode</a:t>
            </a:r>
            <a:r>
              <a:rPr lang="en-CA" dirty="0"/>
              <a:t> </a:t>
            </a:r>
            <a:r>
              <a:rPr lang="en-CA" dirty="0" smtClean="0"/>
              <a:t>table for a file</a:t>
            </a:r>
          </a:p>
          <a:p>
            <a:pPr lvl="1"/>
            <a:r>
              <a:rPr lang="en-CA" dirty="0" smtClean="0"/>
              <a:t>E.g. Ext4 journal is stored as a regular file  </a:t>
            </a:r>
          </a:p>
          <a:p>
            <a:pPr lvl="1"/>
            <a:r>
              <a:rPr lang="en-CA" dirty="0" smtClean="0"/>
              <a:t>Regular file may be physically discontiguous</a:t>
            </a:r>
          </a:p>
          <a:p>
            <a:pPr lvl="1"/>
            <a:r>
              <a:rPr lang="en-CA" dirty="0" smtClean="0"/>
              <a:t>Requires </a:t>
            </a:r>
            <a:r>
              <a:rPr lang="en-CA" dirty="0"/>
              <a:t>mapping </a:t>
            </a:r>
            <a:r>
              <a:rPr lang="en-CA" dirty="0" smtClean="0"/>
              <a:t>logical </a:t>
            </a:r>
            <a:r>
              <a:rPr lang="en-CA" dirty="0"/>
              <a:t>blocks of the </a:t>
            </a:r>
            <a:r>
              <a:rPr lang="en-CA" dirty="0" smtClean="0"/>
              <a:t>file to </a:t>
            </a:r>
            <a:r>
              <a:rPr lang="en-CA" dirty="0"/>
              <a:t>their physical </a:t>
            </a:r>
            <a:r>
              <a:rPr lang="en-CA" dirty="0" smtClean="0"/>
              <a:t>locations</a:t>
            </a:r>
            <a:endParaRPr lang="en-CA" dirty="0"/>
          </a:p>
          <a:p>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16</a:t>
            </a:fld>
            <a:endParaRPr lang="en-CA" dirty="0"/>
          </a:p>
        </p:txBody>
      </p:sp>
      <p:sp>
        <p:nvSpPr>
          <p:cNvPr id="61" name="Rectangle 60"/>
          <p:cNvSpPr/>
          <p:nvPr/>
        </p:nvSpPr>
        <p:spPr>
          <a:xfrm>
            <a:off x="6438235" y="5793262"/>
            <a:ext cx="3743989" cy="445613"/>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ext4 journal on physical disk</a:t>
            </a:r>
            <a:endParaRPr lang="en-US" dirty="0">
              <a:solidFill>
                <a:schemeClr val="bg1"/>
              </a:solidFill>
            </a:endParaRPr>
          </a:p>
        </p:txBody>
      </p:sp>
      <p:cxnSp>
        <p:nvCxnSpPr>
          <p:cNvPr id="70" name="Straight Connector 69"/>
          <p:cNvCxnSpPr/>
          <p:nvPr/>
        </p:nvCxnSpPr>
        <p:spPr>
          <a:xfrm>
            <a:off x="7264634" y="4280417"/>
            <a:ext cx="764079" cy="764065"/>
          </a:xfrm>
          <a:prstGeom prst="line">
            <a:avLst/>
          </a:prstGeom>
          <a:ln w="15875">
            <a:solidFill>
              <a:schemeClr val="bg1">
                <a:alpha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8" name="Rectangle 77"/>
          <p:cNvSpPr/>
          <p:nvPr/>
        </p:nvSpPr>
        <p:spPr>
          <a:xfrm>
            <a:off x="6038754" y="4989148"/>
            <a:ext cx="1193124" cy="680289"/>
          </a:xfrm>
          <a:prstGeom prst="rect">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0" name="Straight Connector 89"/>
          <p:cNvCxnSpPr/>
          <p:nvPr/>
        </p:nvCxnSpPr>
        <p:spPr>
          <a:xfrm>
            <a:off x="7846774" y="4270294"/>
            <a:ext cx="1373629" cy="727160"/>
          </a:xfrm>
          <a:prstGeom prst="line">
            <a:avLst/>
          </a:prstGeom>
          <a:ln w="15875">
            <a:solidFill>
              <a:schemeClr val="bg1">
                <a:alpha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1885782" y="4262138"/>
            <a:ext cx="0" cy="458985"/>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1306371" y="3588818"/>
            <a:ext cx="1103217" cy="672168"/>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super</a:t>
            </a:r>
          </a:p>
          <a:p>
            <a:pPr algn="ctr"/>
            <a:r>
              <a:rPr lang="en-CA" altLang="zh-TW" dirty="0" smtClean="0">
                <a:solidFill>
                  <a:schemeClr val="bg1"/>
                </a:solidFill>
              </a:rPr>
              <a:t>block</a:t>
            </a:r>
            <a:endParaRPr lang="zh-TW" altLang="en-US" dirty="0">
              <a:solidFill>
                <a:schemeClr val="bg1"/>
              </a:solidFill>
            </a:endParaRPr>
          </a:p>
        </p:txBody>
      </p:sp>
      <p:cxnSp>
        <p:nvCxnSpPr>
          <p:cNvPr id="37" name="Straight Arrow Connector 36"/>
          <p:cNvCxnSpPr>
            <a:stCxn id="35" idx="3"/>
            <a:endCxn id="36" idx="1"/>
          </p:cNvCxnSpPr>
          <p:nvPr/>
        </p:nvCxnSpPr>
        <p:spPr>
          <a:xfrm>
            <a:off x="2409588" y="3924902"/>
            <a:ext cx="3629166" cy="0"/>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1306370" y="4721123"/>
            <a:ext cx="4342405" cy="1059811"/>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 name="Rectangle 38"/>
          <p:cNvSpPr/>
          <p:nvPr/>
        </p:nvSpPr>
        <p:spPr>
          <a:xfrm>
            <a:off x="1390086" y="4808590"/>
            <a:ext cx="2002008" cy="63184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block group descriptor table</a:t>
            </a:r>
            <a:endParaRPr lang="en-US" dirty="0">
              <a:solidFill>
                <a:schemeClr val="bg1"/>
              </a:solidFill>
            </a:endParaRPr>
          </a:p>
        </p:txBody>
      </p:sp>
      <p:cxnSp>
        <p:nvCxnSpPr>
          <p:cNvPr id="40" name="Straight Arrow Connector 96"/>
          <p:cNvCxnSpPr>
            <a:stCxn id="51" idx="2"/>
          </p:cNvCxnSpPr>
          <p:nvPr/>
        </p:nvCxnSpPr>
        <p:spPr>
          <a:xfrm rot="5400000">
            <a:off x="2426982" y="5168630"/>
            <a:ext cx="902880" cy="1964333"/>
          </a:xfrm>
          <a:prstGeom prst="bentConnector3">
            <a:avLst>
              <a:gd name="adj1" fmla="val 27846"/>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96"/>
          <p:cNvCxnSpPr>
            <a:stCxn id="50" idx="2"/>
          </p:cNvCxnSpPr>
          <p:nvPr/>
        </p:nvCxnSpPr>
        <p:spPr>
          <a:xfrm rot="5400000">
            <a:off x="3264132" y="5664640"/>
            <a:ext cx="921780" cy="953413"/>
          </a:xfrm>
          <a:prstGeom prst="bentConnector3">
            <a:avLst>
              <a:gd name="adj1" fmla="val 50000"/>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96"/>
          <p:cNvCxnSpPr/>
          <p:nvPr/>
        </p:nvCxnSpPr>
        <p:spPr>
          <a:xfrm>
            <a:off x="4501271" y="5670303"/>
            <a:ext cx="0" cy="929962"/>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5069987" y="4979869"/>
            <a:ext cx="415498" cy="369332"/>
          </a:xfrm>
          <a:prstGeom prst="rect">
            <a:avLst/>
          </a:prstGeom>
          <a:noFill/>
        </p:spPr>
        <p:txBody>
          <a:bodyPr wrap="none" rtlCol="0">
            <a:spAutoFit/>
          </a:bodyPr>
          <a:lstStyle/>
          <a:p>
            <a:r>
              <a:rPr lang="en-CA" dirty="0" smtClean="0">
                <a:solidFill>
                  <a:schemeClr val="bg1"/>
                </a:solidFill>
              </a:rPr>
              <a:t>…</a:t>
            </a:r>
            <a:endParaRPr lang="en-CA" dirty="0">
              <a:solidFill>
                <a:schemeClr val="bg1"/>
              </a:solidFill>
            </a:endParaRPr>
          </a:p>
        </p:txBody>
      </p:sp>
      <p:grpSp>
        <p:nvGrpSpPr>
          <p:cNvPr id="49" name="Group 48"/>
          <p:cNvGrpSpPr/>
          <p:nvPr/>
        </p:nvGrpSpPr>
        <p:grpSpPr>
          <a:xfrm>
            <a:off x="3491843" y="4797173"/>
            <a:ext cx="1419770" cy="902183"/>
            <a:chOff x="2529818" y="2415923"/>
            <a:chExt cx="1419770" cy="902183"/>
          </a:xfrm>
        </p:grpSpPr>
        <p:sp>
          <p:nvSpPr>
            <p:cNvPr id="50" name="Rounded Rectangle 49"/>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block group descriptor</a:t>
              </a:r>
              <a:endParaRPr lang="zh-TW" altLang="en-US" dirty="0">
                <a:solidFill>
                  <a:schemeClr val="tx1"/>
                </a:solidFill>
              </a:endParaRPr>
            </a:p>
          </p:txBody>
        </p:sp>
        <p:sp>
          <p:nvSpPr>
            <p:cNvPr id="51" name="Rectangle 50"/>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54" name="Rectangle 53"/>
          <p:cNvSpPr/>
          <p:nvPr/>
        </p:nvSpPr>
        <p:spPr>
          <a:xfrm>
            <a:off x="353577" y="4269107"/>
            <a:ext cx="1397435" cy="3890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bg1"/>
                </a:solidFill>
              </a:rPr>
              <a:t>block </a:t>
            </a:r>
            <a:r>
              <a:rPr lang="en-US" i="1" dirty="0" err="1" smtClean="0">
                <a:solidFill>
                  <a:schemeClr val="bg1"/>
                </a:solidFill>
              </a:rPr>
              <a:t>addr</a:t>
            </a:r>
            <a:endParaRPr lang="en-US" i="1" dirty="0">
              <a:solidFill>
                <a:schemeClr val="bg1"/>
              </a:solidFill>
            </a:endParaRPr>
          </a:p>
        </p:txBody>
      </p:sp>
      <p:sp>
        <p:nvSpPr>
          <p:cNvPr id="55" name="Rectangle 54"/>
          <p:cNvSpPr/>
          <p:nvPr/>
        </p:nvSpPr>
        <p:spPr>
          <a:xfrm>
            <a:off x="443927" y="6062232"/>
            <a:ext cx="1397435" cy="3890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bg1"/>
                </a:solidFill>
              </a:rPr>
              <a:t>block </a:t>
            </a:r>
            <a:r>
              <a:rPr lang="en-US" i="1" dirty="0" err="1" smtClean="0">
                <a:solidFill>
                  <a:schemeClr val="bg1"/>
                </a:solidFill>
              </a:rPr>
              <a:t>addr</a:t>
            </a:r>
            <a:endParaRPr lang="en-US" i="1" dirty="0">
              <a:solidFill>
                <a:schemeClr val="bg1"/>
              </a:solidFill>
            </a:endParaRPr>
          </a:p>
        </p:txBody>
      </p:sp>
      <p:sp>
        <p:nvSpPr>
          <p:cNvPr id="5" name="Rectangle 4"/>
          <p:cNvSpPr/>
          <p:nvPr/>
        </p:nvSpPr>
        <p:spPr>
          <a:xfrm>
            <a:off x="353577" y="4260986"/>
            <a:ext cx="5494773" cy="2444614"/>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1" name="Rectangle 70"/>
          <p:cNvSpPr/>
          <p:nvPr/>
        </p:nvSpPr>
        <p:spPr>
          <a:xfrm>
            <a:off x="9226029" y="4989148"/>
            <a:ext cx="1442717" cy="680289"/>
          </a:xfrm>
          <a:prstGeom prst="rect">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Rectangle 71"/>
          <p:cNvSpPr/>
          <p:nvPr/>
        </p:nvSpPr>
        <p:spPr>
          <a:xfrm>
            <a:off x="8018085" y="4989148"/>
            <a:ext cx="521848" cy="680289"/>
          </a:xfrm>
          <a:prstGeom prst="rect">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75" name="Straight Connector 74"/>
          <p:cNvCxnSpPr/>
          <p:nvPr/>
        </p:nvCxnSpPr>
        <p:spPr>
          <a:xfrm>
            <a:off x="7788509" y="4251842"/>
            <a:ext cx="764079" cy="764065"/>
          </a:xfrm>
          <a:prstGeom prst="line">
            <a:avLst/>
          </a:prstGeom>
          <a:ln w="15875">
            <a:solidFill>
              <a:schemeClr val="bg1">
                <a:alpha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9257760" y="4270294"/>
            <a:ext cx="1373629" cy="727160"/>
          </a:xfrm>
          <a:prstGeom prst="line">
            <a:avLst/>
          </a:prstGeom>
          <a:ln w="15875">
            <a:solidFill>
              <a:schemeClr val="bg1">
                <a:alpha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H="1">
            <a:off x="6035005" y="4243035"/>
            <a:ext cx="3706" cy="801447"/>
          </a:xfrm>
          <a:prstGeom prst="line">
            <a:avLst/>
          </a:prstGeom>
          <a:ln w="15875">
            <a:solidFill>
              <a:schemeClr val="bg1">
                <a:alpha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H="1">
            <a:off x="7225591" y="4259166"/>
            <a:ext cx="3706" cy="801447"/>
          </a:xfrm>
          <a:prstGeom prst="line">
            <a:avLst/>
          </a:prstGeom>
          <a:ln w="15875">
            <a:solidFill>
              <a:schemeClr val="bg1">
                <a:alpha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8" name="Rectangle 87"/>
          <p:cNvSpPr/>
          <p:nvPr/>
        </p:nvSpPr>
        <p:spPr>
          <a:xfrm>
            <a:off x="6061703" y="4987386"/>
            <a:ext cx="4607043" cy="672168"/>
          </a:xfrm>
          <a:prstGeom prst="rect">
            <a:avLst/>
          </a:prstGeom>
          <a:noFill/>
          <a:ln w="190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bg1"/>
              </a:solidFill>
            </a:endParaRPr>
          </a:p>
        </p:txBody>
      </p:sp>
      <p:cxnSp>
        <p:nvCxnSpPr>
          <p:cNvPr id="91" name="Straight Connector 90"/>
          <p:cNvCxnSpPr/>
          <p:nvPr/>
        </p:nvCxnSpPr>
        <p:spPr>
          <a:xfrm>
            <a:off x="7248084" y="3588818"/>
            <a:ext cx="0" cy="691599"/>
          </a:xfrm>
          <a:prstGeom prst="line">
            <a:avLst/>
          </a:prstGeom>
          <a:ln w="15875">
            <a:solidFill>
              <a:schemeClr val="bg1">
                <a:alpha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7807118" y="3588818"/>
            <a:ext cx="0" cy="663742"/>
          </a:xfrm>
          <a:prstGeom prst="line">
            <a:avLst/>
          </a:prstGeom>
          <a:ln w="15875">
            <a:solidFill>
              <a:schemeClr val="bg1">
                <a:alpha val="6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9444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Missing Pointer</a:t>
            </a:r>
            <a:endParaRPr lang="en-CA" dirty="0"/>
          </a:p>
        </p:txBody>
      </p:sp>
      <p:sp>
        <p:nvSpPr>
          <p:cNvPr id="3" name="Content Placeholder 2"/>
          <p:cNvSpPr>
            <a:spLocks noGrp="1"/>
          </p:cNvSpPr>
          <p:nvPr>
            <p:ph idx="1"/>
          </p:nvPr>
        </p:nvSpPr>
        <p:spPr>
          <a:xfrm>
            <a:off x="617537" y="1770259"/>
            <a:ext cx="9949352" cy="4279386"/>
          </a:xfrm>
        </p:spPr>
        <p:txBody>
          <a:bodyPr/>
          <a:lstStyle/>
          <a:p>
            <a:r>
              <a:rPr lang="en-CA" dirty="0" smtClean="0"/>
              <a:t>Locations of some structures are implicit in the code</a:t>
            </a:r>
          </a:p>
          <a:p>
            <a:r>
              <a:rPr lang="en-CA" dirty="0" smtClean="0"/>
              <a:t>E.g. Ext4 block group descriptor table is the next block following the super block</a:t>
            </a:r>
          </a:p>
          <a:p>
            <a:pPr lvl="1"/>
            <a:r>
              <a:rPr lang="en-CA" dirty="0" smtClean="0"/>
              <a:t>Ext4 super block does not have a </a:t>
            </a:r>
            <a:br>
              <a:rPr lang="en-CA" dirty="0" smtClean="0"/>
            </a:br>
            <a:r>
              <a:rPr lang="en-CA" dirty="0" smtClean="0"/>
              <a:t>field that points to descriptor table</a:t>
            </a:r>
          </a:p>
          <a:p>
            <a:pPr lvl="1"/>
            <a:r>
              <a:rPr lang="en-CA" dirty="0" smtClean="0"/>
              <a:t>Pointer required for file system </a:t>
            </a:r>
            <a:br>
              <a:rPr lang="en-CA" dirty="0" smtClean="0"/>
            </a:br>
            <a:r>
              <a:rPr lang="en-CA" dirty="0" smtClean="0"/>
              <a:t>traversal</a:t>
            </a:r>
          </a:p>
        </p:txBody>
      </p:sp>
      <p:sp>
        <p:nvSpPr>
          <p:cNvPr id="4" name="Slide Number Placeholder 3"/>
          <p:cNvSpPr>
            <a:spLocks noGrp="1"/>
          </p:cNvSpPr>
          <p:nvPr>
            <p:ph type="sldNum" sz="quarter" idx="12"/>
          </p:nvPr>
        </p:nvSpPr>
        <p:spPr/>
        <p:txBody>
          <a:bodyPr/>
          <a:lstStyle/>
          <a:p>
            <a:fld id="{7B2023C8-B124-43A9-8F92-0EEF5BAA9995}" type="slidenum">
              <a:rPr lang="en-CA" smtClean="0"/>
              <a:pPr/>
              <a:t>17</a:t>
            </a:fld>
            <a:endParaRPr lang="en-CA" dirty="0"/>
          </a:p>
        </p:txBody>
      </p:sp>
      <p:cxnSp>
        <p:nvCxnSpPr>
          <p:cNvPr id="76" name="Straight Arrow Connector 75"/>
          <p:cNvCxnSpPr/>
          <p:nvPr/>
        </p:nvCxnSpPr>
        <p:spPr>
          <a:xfrm>
            <a:off x="7915107" y="4032386"/>
            <a:ext cx="0" cy="593487"/>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7335696" y="3360218"/>
            <a:ext cx="1103217" cy="672168"/>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super</a:t>
            </a:r>
          </a:p>
          <a:p>
            <a:pPr algn="ctr"/>
            <a:r>
              <a:rPr lang="en-CA" altLang="zh-TW" dirty="0" smtClean="0">
                <a:solidFill>
                  <a:schemeClr val="bg1"/>
                </a:solidFill>
              </a:rPr>
              <a:t>block</a:t>
            </a:r>
            <a:endParaRPr lang="zh-TW" altLang="en-US" dirty="0">
              <a:solidFill>
                <a:schemeClr val="bg1"/>
              </a:solidFill>
            </a:endParaRPr>
          </a:p>
        </p:txBody>
      </p:sp>
      <p:sp>
        <p:nvSpPr>
          <p:cNvPr id="78" name="Rectangle 77"/>
          <p:cNvSpPr/>
          <p:nvPr/>
        </p:nvSpPr>
        <p:spPr>
          <a:xfrm>
            <a:off x="9905025" y="3360218"/>
            <a:ext cx="1972651" cy="672168"/>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ext4 journal</a:t>
            </a:r>
            <a:endParaRPr lang="zh-TW" altLang="en-US" dirty="0">
              <a:solidFill>
                <a:schemeClr val="bg1"/>
              </a:solidFill>
            </a:endParaRPr>
          </a:p>
        </p:txBody>
      </p:sp>
      <p:cxnSp>
        <p:nvCxnSpPr>
          <p:cNvPr id="79" name="Straight Arrow Connector 78"/>
          <p:cNvCxnSpPr>
            <a:stCxn id="77" idx="3"/>
            <a:endCxn id="78" idx="1"/>
          </p:cNvCxnSpPr>
          <p:nvPr/>
        </p:nvCxnSpPr>
        <p:spPr>
          <a:xfrm>
            <a:off x="8438913" y="3696302"/>
            <a:ext cx="1466112" cy="0"/>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a:xfrm>
            <a:off x="7335695" y="4625873"/>
            <a:ext cx="4541981" cy="1059811"/>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1" name="Rectangle 80"/>
          <p:cNvSpPr/>
          <p:nvPr/>
        </p:nvSpPr>
        <p:spPr>
          <a:xfrm>
            <a:off x="7419411" y="4713340"/>
            <a:ext cx="2002008" cy="63184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block group descriptor table</a:t>
            </a:r>
            <a:endParaRPr lang="en-US" dirty="0">
              <a:solidFill>
                <a:schemeClr val="bg1"/>
              </a:solidFill>
            </a:endParaRPr>
          </a:p>
        </p:txBody>
      </p:sp>
      <p:cxnSp>
        <p:nvCxnSpPr>
          <p:cNvPr id="82" name="Straight Arrow Connector 96"/>
          <p:cNvCxnSpPr>
            <a:stCxn id="90" idx="2"/>
          </p:cNvCxnSpPr>
          <p:nvPr/>
        </p:nvCxnSpPr>
        <p:spPr>
          <a:xfrm rot="5400000">
            <a:off x="8456307" y="5073380"/>
            <a:ext cx="902880" cy="1964333"/>
          </a:xfrm>
          <a:prstGeom prst="bentConnector3">
            <a:avLst>
              <a:gd name="adj1" fmla="val 27846"/>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96"/>
          <p:cNvCxnSpPr>
            <a:stCxn id="89" idx="2"/>
          </p:cNvCxnSpPr>
          <p:nvPr/>
        </p:nvCxnSpPr>
        <p:spPr>
          <a:xfrm rot="5400000">
            <a:off x="9293457" y="5569390"/>
            <a:ext cx="921780" cy="953413"/>
          </a:xfrm>
          <a:prstGeom prst="bentConnector3">
            <a:avLst>
              <a:gd name="adj1" fmla="val 50000"/>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96"/>
          <p:cNvCxnSpPr/>
          <p:nvPr/>
        </p:nvCxnSpPr>
        <p:spPr>
          <a:xfrm>
            <a:off x="10530596" y="5575053"/>
            <a:ext cx="0" cy="929962"/>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11275119" y="4865740"/>
            <a:ext cx="415498" cy="369332"/>
          </a:xfrm>
          <a:prstGeom prst="rect">
            <a:avLst/>
          </a:prstGeom>
          <a:noFill/>
        </p:spPr>
        <p:txBody>
          <a:bodyPr wrap="none" rtlCol="0">
            <a:spAutoFit/>
          </a:bodyPr>
          <a:lstStyle/>
          <a:p>
            <a:r>
              <a:rPr lang="en-CA" dirty="0" smtClean="0">
                <a:solidFill>
                  <a:schemeClr val="bg1"/>
                </a:solidFill>
              </a:rPr>
              <a:t>…</a:t>
            </a:r>
            <a:endParaRPr lang="en-CA" dirty="0">
              <a:solidFill>
                <a:schemeClr val="bg1"/>
              </a:solidFill>
            </a:endParaRPr>
          </a:p>
        </p:txBody>
      </p:sp>
      <p:grpSp>
        <p:nvGrpSpPr>
          <p:cNvPr id="86" name="Group 85"/>
          <p:cNvGrpSpPr/>
          <p:nvPr/>
        </p:nvGrpSpPr>
        <p:grpSpPr>
          <a:xfrm>
            <a:off x="9521168" y="4701923"/>
            <a:ext cx="1419770" cy="902183"/>
            <a:chOff x="2529818" y="2415923"/>
            <a:chExt cx="1419770" cy="902183"/>
          </a:xfrm>
        </p:grpSpPr>
        <p:sp>
          <p:nvSpPr>
            <p:cNvPr id="89" name="Rounded Rectangle 88"/>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block group descriptor</a:t>
              </a:r>
              <a:endParaRPr lang="zh-TW" altLang="en-US" dirty="0">
                <a:solidFill>
                  <a:schemeClr val="tx1"/>
                </a:solidFill>
              </a:endParaRPr>
            </a:p>
          </p:txBody>
        </p:sp>
        <p:sp>
          <p:nvSpPr>
            <p:cNvPr id="90" name="Rectangle 89"/>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87" name="Rectangle 86"/>
          <p:cNvSpPr/>
          <p:nvPr/>
        </p:nvSpPr>
        <p:spPr>
          <a:xfrm>
            <a:off x="5915025" y="4032386"/>
            <a:ext cx="1865313" cy="59348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smtClean="0">
                <a:solidFill>
                  <a:schemeClr val="bg1"/>
                </a:solidFill>
              </a:rPr>
              <a:t>missing pointer</a:t>
            </a:r>
          </a:p>
        </p:txBody>
      </p:sp>
      <p:sp>
        <p:nvSpPr>
          <p:cNvPr id="88" name="Rectangle 87"/>
          <p:cNvSpPr/>
          <p:nvPr/>
        </p:nvSpPr>
        <p:spPr>
          <a:xfrm>
            <a:off x="8454683" y="3235838"/>
            <a:ext cx="3532877" cy="932851"/>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2549106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Implicit Pointer</a:t>
            </a:r>
            <a:endParaRPr lang="en-CA" dirty="0"/>
          </a:p>
        </p:txBody>
      </p:sp>
      <p:sp>
        <p:nvSpPr>
          <p:cNvPr id="3" name="Content Placeholder 2"/>
          <p:cNvSpPr>
            <a:spLocks noGrp="1"/>
          </p:cNvSpPr>
          <p:nvPr>
            <p:ph idx="1"/>
          </p:nvPr>
        </p:nvSpPr>
        <p:spPr>
          <a:xfrm>
            <a:off x="684211" y="1515358"/>
            <a:ext cx="10285797" cy="2205149"/>
          </a:xfrm>
        </p:spPr>
        <p:txBody>
          <a:bodyPr/>
          <a:lstStyle/>
          <a:p>
            <a:r>
              <a:rPr lang="en-CA" dirty="0" smtClean="0"/>
              <a:t>Solution: Implicit pointer annotation</a:t>
            </a:r>
          </a:p>
          <a:p>
            <a:pPr lvl="1"/>
            <a:r>
              <a:rPr lang="en-CA" i="1" dirty="0" smtClean="0"/>
              <a:t>name</a:t>
            </a:r>
            <a:r>
              <a:rPr lang="en-CA" dirty="0" smtClean="0"/>
              <a:t> creates a logical pointer field that can be dereferenced</a:t>
            </a:r>
          </a:p>
          <a:p>
            <a:pPr lvl="1"/>
            <a:r>
              <a:rPr lang="en-CA" i="1" dirty="0"/>
              <a:t>expr </a:t>
            </a:r>
            <a:r>
              <a:rPr lang="en-CA" dirty="0" smtClean="0"/>
              <a:t>is a C expression that specifies </a:t>
            </a:r>
            <a:r>
              <a:rPr lang="en-CA" dirty="0"/>
              <a:t>how to </a:t>
            </a:r>
            <a:r>
              <a:rPr lang="en-CA" dirty="0" smtClean="0"/>
              <a:t>calculate the field value</a:t>
            </a:r>
            <a:endParaRPr lang="en-CA" dirty="0"/>
          </a:p>
          <a:p>
            <a:pPr lvl="2"/>
            <a:r>
              <a:rPr lang="en-CA" dirty="0"/>
              <a:t>Expression can reference other fields in the structure</a:t>
            </a:r>
          </a:p>
          <a:p>
            <a:pPr lvl="1"/>
            <a:endParaRPr lang="en-CA" i="1" dirty="0" smtClean="0"/>
          </a:p>
        </p:txBody>
      </p:sp>
      <p:sp>
        <p:nvSpPr>
          <p:cNvPr id="4" name="Slide Number Placeholder 3"/>
          <p:cNvSpPr>
            <a:spLocks noGrp="1"/>
          </p:cNvSpPr>
          <p:nvPr>
            <p:ph type="sldNum" sz="quarter" idx="12"/>
          </p:nvPr>
        </p:nvSpPr>
        <p:spPr/>
        <p:txBody>
          <a:bodyPr/>
          <a:lstStyle/>
          <a:p>
            <a:fld id="{7B2023C8-B124-43A9-8F92-0EEF5BAA9995}" type="slidenum">
              <a:rPr lang="en-CA" smtClean="0"/>
              <a:pPr/>
              <a:t>18</a:t>
            </a:fld>
            <a:endParaRPr lang="en-CA" dirty="0"/>
          </a:p>
        </p:txBody>
      </p:sp>
      <p:sp>
        <p:nvSpPr>
          <p:cNvPr id="5" name="Rectangle 4"/>
          <p:cNvSpPr/>
          <p:nvPr/>
        </p:nvSpPr>
        <p:spPr>
          <a:xfrm>
            <a:off x="87545" y="3729990"/>
            <a:ext cx="7253468" cy="2246769"/>
          </a:xfrm>
          <a:prstGeom prst="rect">
            <a:avLst/>
          </a:prstGeom>
        </p:spPr>
        <p:txBody>
          <a:bodyPr wrap="square">
            <a:spAutoFit/>
          </a:bodyPr>
          <a:lstStyle/>
          <a:p>
            <a:r>
              <a:rPr lang="en-CA" sz="2000" b="1" dirty="0" smtClean="0">
                <a:solidFill>
                  <a:schemeClr val="bg1"/>
                </a:solidFill>
                <a:latin typeface="Courier New" panose="02070309020205020404" pitchFamily="49" charset="0"/>
                <a:cs typeface="Courier New" panose="02070309020205020404" pitchFamily="49" charset="0"/>
              </a:rPr>
              <a:t>FSSUPER</a:t>
            </a:r>
            <a:r>
              <a:rPr lang="en-CA" sz="2000" dirty="0" smtClean="0">
                <a:solidFill>
                  <a:schemeClr val="bg1"/>
                </a:solidFill>
                <a:latin typeface="Courier New" panose="02070309020205020404" pitchFamily="49" charset="0"/>
                <a:cs typeface="Courier New" panose="02070309020205020404" pitchFamily="49" charset="0"/>
              </a:rPr>
              <a:t>(...) </a:t>
            </a:r>
            <a:r>
              <a:rPr lang="en-CA" sz="2000" dirty="0">
                <a:solidFill>
                  <a:schemeClr val="bg1"/>
                </a:solidFill>
                <a:latin typeface="Courier New" panose="02070309020205020404" pitchFamily="49" charset="0"/>
                <a:cs typeface="Courier New" panose="02070309020205020404" pitchFamily="49" charset="0"/>
              </a:rPr>
              <a:t>ext4_super_block {</a:t>
            </a:r>
          </a:p>
          <a:p>
            <a:r>
              <a:rPr lang="en-CA" sz="2000" dirty="0">
                <a:solidFill>
                  <a:schemeClr val="bg1"/>
                </a:solidFill>
                <a:latin typeface="Courier New" panose="02070309020205020404" pitchFamily="49" charset="0"/>
                <a:cs typeface="Courier New" panose="02070309020205020404" pitchFamily="49" charset="0"/>
              </a:rPr>
              <a:t>  __le32 </a:t>
            </a:r>
            <a:r>
              <a:rPr lang="en-CA" sz="2000" dirty="0" err="1">
                <a:solidFill>
                  <a:schemeClr val="bg1"/>
                </a:solidFill>
                <a:latin typeface="Courier New" panose="02070309020205020404" pitchFamily="49" charset="0"/>
                <a:cs typeface="Courier New" panose="02070309020205020404" pitchFamily="49" charset="0"/>
              </a:rPr>
              <a:t>s_log_block_size</a:t>
            </a:r>
            <a:r>
              <a:rPr lang="en-CA" sz="2000" dirty="0">
                <a:solidFill>
                  <a:schemeClr val="bg1"/>
                </a:solidFill>
                <a:latin typeface="Courier New" panose="02070309020205020404" pitchFamily="49" charset="0"/>
                <a:cs typeface="Courier New" panose="02070309020205020404" pitchFamily="49" charset="0"/>
              </a:rPr>
              <a:t>;</a:t>
            </a:r>
          </a:p>
          <a:p>
            <a:r>
              <a:rPr lang="en-CA" sz="2000" dirty="0" smtClean="0">
                <a:solidFill>
                  <a:schemeClr val="bg1"/>
                </a:solidFill>
                <a:latin typeface="Courier New" panose="02070309020205020404" pitchFamily="49" charset="0"/>
                <a:cs typeface="Courier New" panose="02070309020205020404" pitchFamily="49" charset="0"/>
              </a:rPr>
              <a:t>  ...</a:t>
            </a:r>
          </a:p>
          <a:p>
            <a:r>
              <a:rPr lang="en-CA" sz="2000" dirty="0" smtClean="0">
                <a:solidFill>
                  <a:schemeClr val="bg1"/>
                </a:solidFill>
                <a:latin typeface="Courier New" panose="02070309020205020404" pitchFamily="49" charset="0"/>
                <a:cs typeface="Courier New" panose="02070309020205020404" pitchFamily="49" charset="0"/>
              </a:rPr>
              <a:t>  </a:t>
            </a:r>
            <a:r>
              <a:rPr lang="en-CA" sz="2000" b="1" dirty="0" smtClean="0">
                <a:solidFill>
                  <a:schemeClr val="bg1"/>
                </a:solidFill>
                <a:latin typeface="Courier New" panose="02070309020205020404" pitchFamily="49" charset="0"/>
                <a:cs typeface="Courier New" panose="02070309020205020404" pitchFamily="49" charset="0"/>
              </a:rPr>
              <a:t>POINTER</a:t>
            </a:r>
            <a:r>
              <a:rPr lang="en-CA" sz="2000" dirty="0" smtClean="0">
                <a:solidFill>
                  <a:schemeClr val="bg1"/>
                </a:solidFill>
                <a:latin typeface="Courier New" panose="02070309020205020404" pitchFamily="49" charset="0"/>
                <a:cs typeface="Courier New" panose="02070309020205020404" pitchFamily="49" charset="0"/>
              </a:rPr>
              <a:t>(</a:t>
            </a:r>
            <a:r>
              <a:rPr lang="en-CA" sz="2000" dirty="0" smtClean="0">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name=</a:t>
            </a:r>
            <a:r>
              <a:rPr lang="en-CA" sz="2000" dirty="0" err="1" smtClean="0">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s_block_group_desc</a:t>
            </a:r>
            <a:r>
              <a:rPr lang="en-CA" sz="2000" dirty="0">
                <a:solidFill>
                  <a:schemeClr val="bg1"/>
                </a:solidFill>
                <a:latin typeface="Courier New" panose="02070309020205020404" pitchFamily="49" charset="0"/>
                <a:cs typeface="Courier New" panose="02070309020205020404" pitchFamily="49" charset="0"/>
              </a:rPr>
              <a:t>,</a:t>
            </a:r>
          </a:p>
          <a:p>
            <a:r>
              <a:rPr lang="en-CA" sz="2000" dirty="0">
                <a:solidFill>
                  <a:schemeClr val="bg1"/>
                </a:solidFill>
                <a:latin typeface="Courier New" panose="02070309020205020404" pitchFamily="49" charset="0"/>
                <a:cs typeface="Courier New" panose="02070309020205020404" pitchFamily="49" charset="0"/>
              </a:rPr>
              <a:t>  type=ext4_group_desc_table, </a:t>
            </a:r>
            <a:r>
              <a:rPr lang="en-CA" sz="2000" dirty="0" err="1" smtClean="0">
                <a:solidFill>
                  <a:schemeClr val="bg1"/>
                </a:solidFill>
                <a:latin typeface="Courier New" panose="02070309020205020404" pitchFamily="49" charset="0"/>
                <a:cs typeface="Courier New" panose="02070309020205020404" pitchFamily="49" charset="0"/>
              </a:rPr>
              <a:t>addrspace</a:t>
            </a:r>
            <a:r>
              <a:rPr lang="en-CA" sz="2000" dirty="0" smtClean="0">
                <a:solidFill>
                  <a:schemeClr val="bg1"/>
                </a:solidFill>
                <a:latin typeface="Courier New" panose="02070309020205020404" pitchFamily="49" charset="0"/>
                <a:cs typeface="Courier New" panose="02070309020205020404" pitchFamily="49" charset="0"/>
              </a:rPr>
              <a:t>=block</a:t>
            </a:r>
            <a:r>
              <a:rPr lang="en-CA" sz="2000" dirty="0">
                <a:solidFill>
                  <a:schemeClr val="bg1"/>
                </a:solidFill>
                <a:latin typeface="Courier New" panose="02070309020205020404" pitchFamily="49" charset="0"/>
                <a:cs typeface="Courier New" panose="02070309020205020404" pitchFamily="49" charset="0"/>
              </a:rPr>
              <a:t>, </a:t>
            </a:r>
          </a:p>
          <a:p>
            <a:r>
              <a:rPr lang="en-CA" sz="2000" dirty="0">
                <a:solidFill>
                  <a:schemeClr val="bg1"/>
                </a:solidFill>
                <a:latin typeface="Courier New" panose="02070309020205020404" pitchFamily="49" charset="0"/>
                <a:cs typeface="Courier New" panose="02070309020205020404" pitchFamily="49" charset="0"/>
              </a:rPr>
              <a:t>  </a:t>
            </a:r>
            <a:r>
              <a:rPr lang="en-CA" sz="2000" dirty="0">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expr=(</a:t>
            </a:r>
            <a:r>
              <a:rPr lang="en-CA" sz="2000" dirty="0" err="1">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self.s_log_block_size</a:t>
            </a:r>
            <a:r>
              <a:rPr lang="en-CA" sz="2000" dirty="0">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 == 0) ? 2 : 1</a:t>
            </a:r>
            <a:r>
              <a:rPr lang="en-CA" sz="2000" dirty="0">
                <a:solidFill>
                  <a:schemeClr val="bg1"/>
                </a:solidFill>
                <a:latin typeface="Courier New" panose="02070309020205020404" pitchFamily="49" charset="0"/>
                <a:cs typeface="Courier New" panose="02070309020205020404" pitchFamily="49" charset="0"/>
              </a:rPr>
              <a:t>);</a:t>
            </a:r>
          </a:p>
          <a:p>
            <a:r>
              <a:rPr lang="en-CA" sz="2000" dirty="0" smtClean="0">
                <a:solidFill>
                  <a:schemeClr val="bg1"/>
                </a:solidFill>
                <a:latin typeface="Courier New" panose="02070309020205020404" pitchFamily="49" charset="0"/>
                <a:cs typeface="Courier New" panose="02070309020205020404" pitchFamily="49" charset="0"/>
              </a:rPr>
              <a:t>};</a:t>
            </a:r>
            <a:endParaRPr lang="en-CA" sz="2000" dirty="0">
              <a:solidFill>
                <a:schemeClr val="bg1"/>
              </a:solidFill>
              <a:latin typeface="Courier New" panose="02070309020205020404" pitchFamily="49" charset="0"/>
              <a:cs typeface="Courier New" panose="02070309020205020404" pitchFamily="49" charset="0"/>
            </a:endParaRPr>
          </a:p>
        </p:txBody>
      </p:sp>
      <p:grpSp>
        <p:nvGrpSpPr>
          <p:cNvPr id="39" name="Group 38"/>
          <p:cNvGrpSpPr/>
          <p:nvPr/>
        </p:nvGrpSpPr>
        <p:grpSpPr>
          <a:xfrm>
            <a:off x="5915025" y="3306644"/>
            <a:ext cx="6158200" cy="3200343"/>
            <a:chOff x="5753100" y="3306644"/>
            <a:chExt cx="6158200" cy="3200343"/>
          </a:xfrm>
        </p:grpSpPr>
        <p:cxnSp>
          <p:nvCxnSpPr>
            <p:cNvPr id="40" name="Straight Arrow Connector 39"/>
            <p:cNvCxnSpPr/>
            <p:nvPr/>
          </p:nvCxnSpPr>
          <p:spPr>
            <a:xfrm>
              <a:off x="7753182" y="4032386"/>
              <a:ext cx="0" cy="593487"/>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7173771" y="3360218"/>
              <a:ext cx="1103217" cy="672168"/>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super</a:t>
              </a:r>
            </a:p>
            <a:p>
              <a:pPr algn="ctr"/>
              <a:r>
                <a:rPr lang="en-CA" altLang="zh-TW" dirty="0" smtClean="0">
                  <a:solidFill>
                    <a:schemeClr val="bg1"/>
                  </a:solidFill>
                </a:rPr>
                <a:t>block</a:t>
              </a:r>
              <a:endParaRPr lang="zh-TW" altLang="en-US" dirty="0">
                <a:solidFill>
                  <a:schemeClr val="bg1"/>
                </a:solidFill>
              </a:endParaRPr>
            </a:p>
          </p:txBody>
        </p:sp>
        <p:sp>
          <p:nvSpPr>
            <p:cNvPr id="42" name="Rectangle 41"/>
            <p:cNvSpPr/>
            <p:nvPr/>
          </p:nvSpPr>
          <p:spPr>
            <a:xfrm>
              <a:off x="9743100" y="3360218"/>
              <a:ext cx="1972651" cy="672168"/>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ext4 journal</a:t>
              </a:r>
              <a:endParaRPr lang="zh-TW" altLang="en-US" dirty="0">
                <a:solidFill>
                  <a:schemeClr val="bg1"/>
                </a:solidFill>
              </a:endParaRPr>
            </a:p>
          </p:txBody>
        </p:sp>
        <p:cxnSp>
          <p:nvCxnSpPr>
            <p:cNvPr id="43" name="Straight Arrow Connector 42"/>
            <p:cNvCxnSpPr>
              <a:stCxn id="41" idx="3"/>
              <a:endCxn id="42" idx="1"/>
            </p:cNvCxnSpPr>
            <p:nvPr/>
          </p:nvCxnSpPr>
          <p:spPr>
            <a:xfrm>
              <a:off x="8276988" y="3696302"/>
              <a:ext cx="1466112" cy="0"/>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7173770" y="4625873"/>
              <a:ext cx="4541981" cy="1059811"/>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Rectangle 44"/>
            <p:cNvSpPr/>
            <p:nvPr/>
          </p:nvSpPr>
          <p:spPr>
            <a:xfrm>
              <a:off x="7257486" y="4713340"/>
              <a:ext cx="2002008" cy="63184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block group descriptor table</a:t>
              </a:r>
              <a:endParaRPr lang="en-US" dirty="0">
                <a:solidFill>
                  <a:schemeClr val="bg1"/>
                </a:solidFill>
              </a:endParaRPr>
            </a:p>
          </p:txBody>
        </p:sp>
        <p:cxnSp>
          <p:nvCxnSpPr>
            <p:cNvPr id="46" name="Straight Arrow Connector 96"/>
            <p:cNvCxnSpPr>
              <a:stCxn id="54" idx="2"/>
            </p:cNvCxnSpPr>
            <p:nvPr/>
          </p:nvCxnSpPr>
          <p:spPr>
            <a:xfrm rot="5400000">
              <a:off x="8294382" y="5073380"/>
              <a:ext cx="902880" cy="1964333"/>
            </a:xfrm>
            <a:prstGeom prst="bentConnector3">
              <a:avLst>
                <a:gd name="adj1" fmla="val 27846"/>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96"/>
            <p:cNvCxnSpPr>
              <a:stCxn id="53" idx="2"/>
            </p:cNvCxnSpPr>
            <p:nvPr/>
          </p:nvCxnSpPr>
          <p:spPr>
            <a:xfrm rot="5400000">
              <a:off x="9131532" y="5569390"/>
              <a:ext cx="921780" cy="953413"/>
            </a:xfrm>
            <a:prstGeom prst="bentConnector3">
              <a:avLst>
                <a:gd name="adj1" fmla="val 50000"/>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96"/>
            <p:cNvCxnSpPr/>
            <p:nvPr/>
          </p:nvCxnSpPr>
          <p:spPr>
            <a:xfrm>
              <a:off x="10368671" y="5575053"/>
              <a:ext cx="0" cy="929962"/>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1113194" y="4865740"/>
              <a:ext cx="415498" cy="369332"/>
            </a:xfrm>
            <a:prstGeom prst="rect">
              <a:avLst/>
            </a:prstGeom>
            <a:noFill/>
          </p:spPr>
          <p:txBody>
            <a:bodyPr wrap="none" rtlCol="0">
              <a:spAutoFit/>
            </a:bodyPr>
            <a:lstStyle/>
            <a:p>
              <a:r>
                <a:rPr lang="en-CA" dirty="0" smtClean="0">
                  <a:solidFill>
                    <a:schemeClr val="bg1"/>
                  </a:solidFill>
                </a:rPr>
                <a:t>…</a:t>
              </a:r>
              <a:endParaRPr lang="en-CA" dirty="0">
                <a:solidFill>
                  <a:schemeClr val="bg1"/>
                </a:solidFill>
              </a:endParaRPr>
            </a:p>
          </p:txBody>
        </p:sp>
        <p:grpSp>
          <p:nvGrpSpPr>
            <p:cNvPr id="50" name="Group 49"/>
            <p:cNvGrpSpPr/>
            <p:nvPr/>
          </p:nvGrpSpPr>
          <p:grpSpPr>
            <a:xfrm>
              <a:off x="9359243" y="4701923"/>
              <a:ext cx="1419770" cy="902183"/>
              <a:chOff x="2529818" y="2415923"/>
              <a:chExt cx="1419770" cy="902183"/>
            </a:xfrm>
          </p:grpSpPr>
          <p:sp>
            <p:nvSpPr>
              <p:cNvPr id="53" name="Rounded Rectangle 52"/>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block group descriptor</a:t>
                </a:r>
                <a:endParaRPr lang="zh-TW" altLang="en-US" dirty="0">
                  <a:solidFill>
                    <a:schemeClr val="tx1"/>
                  </a:solidFill>
                </a:endParaRPr>
              </a:p>
            </p:txBody>
          </p:sp>
          <p:sp>
            <p:nvSpPr>
              <p:cNvPr id="54" name="Rectangle 53"/>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51" name="Rectangle 50"/>
            <p:cNvSpPr/>
            <p:nvPr/>
          </p:nvSpPr>
          <p:spPr>
            <a:xfrm>
              <a:off x="5753100" y="4032386"/>
              <a:ext cx="1865313" cy="59348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smtClean="0">
                  <a:solidFill>
                    <a:schemeClr val="bg1"/>
                  </a:solidFill>
                </a:rPr>
                <a:t>implicit pointer</a:t>
              </a:r>
            </a:p>
            <a:p>
              <a:pPr algn="ctr"/>
              <a:r>
                <a:rPr lang="en-US" b="1" i="1" dirty="0" smtClean="0">
                  <a:solidFill>
                    <a:schemeClr val="bg1"/>
                  </a:solidFill>
                </a:rPr>
                <a:t>annotation</a:t>
              </a:r>
            </a:p>
          </p:txBody>
        </p:sp>
        <p:sp>
          <p:nvSpPr>
            <p:cNvPr id="52" name="Rectangle 51"/>
            <p:cNvSpPr/>
            <p:nvPr/>
          </p:nvSpPr>
          <p:spPr>
            <a:xfrm>
              <a:off x="8283312" y="3306644"/>
              <a:ext cx="3627988" cy="932851"/>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55" name="Rectangle 54"/>
          <p:cNvSpPr/>
          <p:nvPr/>
        </p:nvSpPr>
        <p:spPr>
          <a:xfrm>
            <a:off x="7982683" y="4097561"/>
            <a:ext cx="2666114" cy="369332"/>
          </a:xfrm>
          <a:prstGeom prst="rect">
            <a:avLst/>
          </a:prstGeom>
          <a:noFill/>
          <a:ln>
            <a:noFill/>
          </a:ln>
        </p:spPr>
        <p:txBody>
          <a:bodyPr wrap="none">
            <a:spAutoFit/>
          </a:bodyPr>
          <a:lstStyle/>
          <a:p>
            <a:r>
              <a:rPr lang="en-CA" dirty="0" err="1">
                <a:solidFill>
                  <a:schemeClr val="bg1"/>
                </a:solidFill>
                <a:effectLst/>
                <a:latin typeface="Courier New" panose="02070309020205020404" pitchFamily="49" charset="0"/>
                <a:cs typeface="Courier New" panose="02070309020205020404" pitchFamily="49" charset="0"/>
              </a:rPr>
              <a:t>s_block_group_desc</a:t>
            </a:r>
            <a:endParaRPr lang="en-CA" dirty="0">
              <a:effectLst/>
            </a:endParaRPr>
          </a:p>
        </p:txBody>
      </p:sp>
    </p:spTree>
    <p:extLst>
      <p:ext uri="{BB962C8B-B14F-4D97-AF65-F5344CB8AC3E}">
        <p14:creationId xmlns:p14="http://schemas.microsoft.com/office/powerpoint/2010/main" val="24743999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Context-Sensitive </a:t>
            </a:r>
            <a:r>
              <a:rPr lang="en-CA" dirty="0" smtClean="0"/>
              <a:t>Types</a:t>
            </a:r>
            <a:endParaRPr lang="en-CA" dirty="0"/>
          </a:p>
        </p:txBody>
      </p:sp>
      <p:sp>
        <p:nvSpPr>
          <p:cNvPr id="3" name="Content Placeholder 2"/>
          <p:cNvSpPr>
            <a:spLocks noGrp="1"/>
          </p:cNvSpPr>
          <p:nvPr>
            <p:ph idx="1"/>
          </p:nvPr>
        </p:nvSpPr>
        <p:spPr/>
        <p:txBody>
          <a:bodyPr/>
          <a:lstStyle/>
          <a:p>
            <a:r>
              <a:rPr lang="en-CA" dirty="0" smtClean="0"/>
              <a:t>A pointer may point to different types of metadata</a:t>
            </a:r>
          </a:p>
          <a:p>
            <a:pPr lvl="1"/>
            <a:r>
              <a:rPr lang="en-CA" dirty="0" smtClean="0"/>
              <a:t>Pointers in </a:t>
            </a:r>
            <a:r>
              <a:rPr lang="en-CA" dirty="0" err="1" smtClean="0"/>
              <a:t>inode</a:t>
            </a:r>
            <a:r>
              <a:rPr lang="en-CA" dirty="0" smtClean="0"/>
              <a:t> structure can point to directory or data blocks</a:t>
            </a:r>
          </a:p>
          <a:p>
            <a:r>
              <a:rPr lang="en-CA" dirty="0" smtClean="0"/>
              <a:t>Supported by specifying WHEN</a:t>
            </a:r>
            <a:r>
              <a:rPr lang="en-CA" i="1" dirty="0" smtClean="0"/>
              <a:t> </a:t>
            </a:r>
            <a:r>
              <a:rPr lang="en-CA" dirty="0" smtClean="0"/>
              <a:t>condition in pointer annotation</a:t>
            </a:r>
          </a:p>
        </p:txBody>
      </p:sp>
      <p:sp>
        <p:nvSpPr>
          <p:cNvPr id="4" name="Slide Number Placeholder 3"/>
          <p:cNvSpPr>
            <a:spLocks noGrp="1"/>
          </p:cNvSpPr>
          <p:nvPr>
            <p:ph type="sldNum" sz="quarter" idx="12"/>
          </p:nvPr>
        </p:nvSpPr>
        <p:spPr/>
        <p:txBody>
          <a:bodyPr/>
          <a:lstStyle/>
          <a:p>
            <a:fld id="{7B2023C8-B124-43A9-8F92-0EEF5BAA9995}" type="slidenum">
              <a:rPr lang="en-CA" smtClean="0"/>
              <a:pPr/>
              <a:t>19</a:t>
            </a:fld>
            <a:endParaRPr lang="en-CA" dirty="0"/>
          </a:p>
        </p:txBody>
      </p:sp>
      <p:sp>
        <p:nvSpPr>
          <p:cNvPr id="46" name="Rectangle 45"/>
          <p:cNvSpPr/>
          <p:nvPr/>
        </p:nvSpPr>
        <p:spPr>
          <a:xfrm>
            <a:off x="592958" y="3182398"/>
            <a:ext cx="7499177" cy="3170099"/>
          </a:xfrm>
          <a:prstGeom prst="rect">
            <a:avLst/>
          </a:prstGeom>
        </p:spPr>
        <p:txBody>
          <a:bodyPr wrap="square">
            <a:spAutoFit/>
          </a:bodyPr>
          <a:lstStyle/>
          <a:p>
            <a:r>
              <a:rPr lang="en-CA" sz="2000" b="1" dirty="0">
                <a:solidFill>
                  <a:schemeClr val="bg1"/>
                </a:solidFill>
                <a:latin typeface="Courier New" panose="02070309020205020404" pitchFamily="49" charset="0"/>
                <a:cs typeface="Courier New" panose="02070309020205020404" pitchFamily="49" charset="0"/>
              </a:rPr>
              <a:t>FSSTRUCT</a:t>
            </a:r>
            <a:r>
              <a:rPr lang="en-CA" sz="2000" dirty="0" smtClean="0">
                <a:solidFill>
                  <a:schemeClr val="bg1"/>
                </a:solidFill>
                <a:latin typeface="Courier New" panose="02070309020205020404" pitchFamily="49" charset="0"/>
                <a:cs typeface="Courier New" panose="02070309020205020404" pitchFamily="49" charset="0"/>
              </a:rPr>
              <a:t>(...) ext4_inode {</a:t>
            </a:r>
            <a:endParaRPr lang="en-CA" sz="2000" dirty="0">
              <a:solidFill>
                <a:schemeClr val="bg1"/>
              </a:solidFill>
              <a:latin typeface="Courier New" panose="02070309020205020404" pitchFamily="49" charset="0"/>
              <a:cs typeface="Courier New" panose="02070309020205020404" pitchFamily="49" charset="0"/>
            </a:endParaRPr>
          </a:p>
          <a:p>
            <a:r>
              <a:rPr lang="en-CA" sz="2000" dirty="0">
                <a:solidFill>
                  <a:schemeClr val="bg1"/>
                </a:solidFill>
                <a:latin typeface="Courier New" panose="02070309020205020404" pitchFamily="49" charset="0"/>
                <a:cs typeface="Courier New" panose="02070309020205020404" pitchFamily="49" charset="0"/>
              </a:rPr>
              <a:t>  __le16 </a:t>
            </a:r>
            <a:r>
              <a:rPr lang="en-CA" sz="2000" dirty="0" err="1">
                <a:solidFill>
                  <a:schemeClr val="bg1"/>
                </a:solidFill>
                <a:latin typeface="Courier New" panose="02070309020205020404" pitchFamily="49" charset="0"/>
                <a:cs typeface="Courier New" panose="02070309020205020404" pitchFamily="49" charset="0"/>
              </a:rPr>
              <a:t>i_mode</a:t>
            </a:r>
            <a:r>
              <a:rPr lang="en-CA" sz="2000" dirty="0">
                <a:solidFill>
                  <a:schemeClr val="bg1"/>
                </a:solidFill>
                <a:latin typeface="Courier New" panose="02070309020205020404" pitchFamily="49" charset="0"/>
                <a:cs typeface="Courier New" panose="02070309020205020404" pitchFamily="49" charset="0"/>
              </a:rPr>
              <a:t>;</a:t>
            </a:r>
          </a:p>
          <a:p>
            <a:r>
              <a:rPr lang="en-CA" sz="2000" dirty="0">
                <a:solidFill>
                  <a:schemeClr val="bg1"/>
                </a:solidFill>
                <a:latin typeface="Courier New" panose="02070309020205020404" pitchFamily="49" charset="0"/>
                <a:cs typeface="Courier New" panose="02070309020205020404" pitchFamily="49" charset="0"/>
              </a:rPr>
              <a:t>   …</a:t>
            </a:r>
          </a:p>
          <a:p>
            <a:r>
              <a:rPr lang="en-CA" sz="2000" dirty="0">
                <a:solidFill>
                  <a:schemeClr val="bg1"/>
                </a:solidFill>
                <a:latin typeface="Courier New" panose="02070309020205020404" pitchFamily="49" charset="0"/>
                <a:cs typeface="Courier New" panose="02070309020205020404" pitchFamily="49" charset="0"/>
              </a:rPr>
              <a:t>  </a:t>
            </a:r>
            <a:r>
              <a:rPr lang="en-CA" sz="2000" b="1" dirty="0" smtClean="0">
                <a:solidFill>
                  <a:schemeClr val="bg1"/>
                </a:solidFill>
                <a:latin typeface="Courier New" panose="02070309020205020404" pitchFamily="49" charset="0"/>
                <a:cs typeface="Courier New" panose="02070309020205020404" pitchFamily="49" charset="0"/>
              </a:rPr>
              <a:t>POINTER</a:t>
            </a:r>
            <a:r>
              <a:rPr lang="en-CA" sz="2000" dirty="0" smtClean="0">
                <a:solidFill>
                  <a:schemeClr val="bg1"/>
                </a:solidFill>
                <a:latin typeface="Courier New" panose="02070309020205020404" pitchFamily="49" charset="0"/>
                <a:cs typeface="Courier New" panose="02070309020205020404" pitchFamily="49" charset="0"/>
              </a:rPr>
              <a:t>(</a:t>
            </a:r>
            <a:r>
              <a:rPr lang="en-CA" sz="2000" dirty="0" err="1" smtClean="0">
                <a:solidFill>
                  <a:schemeClr val="bg1"/>
                </a:solidFill>
                <a:latin typeface="Courier New" panose="02070309020205020404" pitchFamily="49" charset="0"/>
                <a:cs typeface="Courier New" panose="02070309020205020404" pitchFamily="49" charset="0"/>
              </a:rPr>
              <a:t>addrspace</a:t>
            </a:r>
            <a:r>
              <a:rPr lang="en-CA" sz="2000" dirty="0" smtClean="0">
                <a:solidFill>
                  <a:schemeClr val="bg1"/>
                </a:solidFill>
                <a:latin typeface="Courier New" panose="02070309020205020404" pitchFamily="49" charset="0"/>
                <a:cs typeface="Courier New" panose="02070309020205020404" pitchFamily="49" charset="0"/>
              </a:rPr>
              <a:t>=block</a:t>
            </a:r>
            <a:r>
              <a:rPr lang="en-CA" sz="2000" dirty="0">
                <a:solidFill>
                  <a:schemeClr val="bg1"/>
                </a:solidFill>
                <a:latin typeface="Courier New" panose="02070309020205020404" pitchFamily="49" charset="0"/>
                <a:cs typeface="Courier New" panose="02070309020205020404" pitchFamily="49" charset="0"/>
              </a:rPr>
              <a:t>, type=</a:t>
            </a:r>
            <a:r>
              <a:rPr lang="en-CA" sz="2000" dirty="0" err="1">
                <a:solidFill>
                  <a:schemeClr val="bg1"/>
                </a:solidFill>
                <a:latin typeface="Courier New" panose="02070309020205020404" pitchFamily="49" charset="0"/>
                <a:cs typeface="Courier New" panose="02070309020205020404" pitchFamily="49" charset="0"/>
              </a:rPr>
              <a:t>dir_block</a:t>
            </a:r>
            <a:r>
              <a:rPr lang="en-CA" sz="2000" dirty="0">
                <a:solidFill>
                  <a:schemeClr val="bg1"/>
                </a:solidFill>
                <a:latin typeface="Courier New" panose="02070309020205020404" pitchFamily="49" charset="0"/>
                <a:cs typeface="Courier New" panose="02070309020205020404" pitchFamily="49" charset="0"/>
              </a:rPr>
              <a:t>,</a:t>
            </a:r>
          </a:p>
          <a:p>
            <a:r>
              <a:rPr lang="en-CA" sz="2000" dirty="0">
                <a:solidFill>
                  <a:schemeClr val="bg1"/>
                </a:solidFill>
                <a:latin typeface="Courier New" panose="02070309020205020404" pitchFamily="49" charset="0"/>
                <a:cs typeface="Courier New" panose="02070309020205020404" pitchFamily="49" charset="0"/>
              </a:rPr>
              <a:t>          </a:t>
            </a:r>
            <a:r>
              <a:rPr lang="en-CA" sz="2000" dirty="0">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when=</a:t>
            </a:r>
            <a:r>
              <a:rPr lang="en-CA" sz="2000" dirty="0" err="1">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self.i_mode</a:t>
            </a:r>
            <a:r>
              <a:rPr lang="en-CA" sz="2000" dirty="0">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 &amp; </a:t>
            </a:r>
            <a:r>
              <a:rPr lang="en-CA" sz="2000" dirty="0" smtClean="0">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S_IFDIR</a:t>
            </a:r>
            <a:r>
              <a:rPr lang="en-CA" sz="2000" dirty="0" smtClean="0">
                <a:solidFill>
                  <a:schemeClr val="bg1"/>
                </a:solidFill>
                <a:latin typeface="Courier New" panose="02070309020205020404" pitchFamily="49" charset="0"/>
                <a:cs typeface="Courier New" panose="02070309020205020404" pitchFamily="49" charset="0"/>
              </a:rPr>
              <a:t>)</a:t>
            </a:r>
            <a:endParaRPr lang="en-CA" sz="2000" dirty="0">
              <a:solidFill>
                <a:schemeClr val="bg1"/>
              </a:solidFill>
              <a:latin typeface="Courier New" panose="02070309020205020404" pitchFamily="49" charset="0"/>
              <a:cs typeface="Courier New" panose="02070309020205020404" pitchFamily="49" charset="0"/>
            </a:endParaRPr>
          </a:p>
          <a:p>
            <a:r>
              <a:rPr lang="en-CA" sz="2000" dirty="0">
                <a:solidFill>
                  <a:schemeClr val="bg1"/>
                </a:solidFill>
                <a:latin typeface="Courier New" panose="02070309020205020404" pitchFamily="49" charset="0"/>
                <a:cs typeface="Courier New" panose="02070309020205020404" pitchFamily="49" charset="0"/>
              </a:rPr>
              <a:t>  </a:t>
            </a:r>
            <a:r>
              <a:rPr lang="en-CA" sz="2000" b="1" dirty="0" smtClean="0">
                <a:solidFill>
                  <a:schemeClr val="bg1"/>
                </a:solidFill>
                <a:latin typeface="Courier New" panose="02070309020205020404" pitchFamily="49" charset="0"/>
                <a:cs typeface="Courier New" panose="02070309020205020404" pitchFamily="49" charset="0"/>
              </a:rPr>
              <a:t>POINTER</a:t>
            </a:r>
            <a:r>
              <a:rPr lang="en-CA" sz="2000" dirty="0" smtClean="0">
                <a:solidFill>
                  <a:schemeClr val="bg1"/>
                </a:solidFill>
                <a:latin typeface="Courier New" panose="02070309020205020404" pitchFamily="49" charset="0"/>
                <a:cs typeface="Courier New" panose="02070309020205020404" pitchFamily="49" charset="0"/>
              </a:rPr>
              <a:t>(</a:t>
            </a:r>
            <a:r>
              <a:rPr lang="en-CA" sz="2000" dirty="0" err="1" smtClean="0">
                <a:solidFill>
                  <a:schemeClr val="bg1"/>
                </a:solidFill>
                <a:latin typeface="Courier New" panose="02070309020205020404" pitchFamily="49" charset="0"/>
                <a:cs typeface="Courier New" panose="02070309020205020404" pitchFamily="49" charset="0"/>
              </a:rPr>
              <a:t>addrspace</a:t>
            </a:r>
            <a:r>
              <a:rPr lang="en-CA" sz="2000" dirty="0" smtClean="0">
                <a:solidFill>
                  <a:schemeClr val="bg1"/>
                </a:solidFill>
                <a:latin typeface="Courier New" panose="02070309020205020404" pitchFamily="49" charset="0"/>
                <a:cs typeface="Courier New" panose="02070309020205020404" pitchFamily="49" charset="0"/>
              </a:rPr>
              <a:t>=block</a:t>
            </a:r>
            <a:r>
              <a:rPr lang="en-CA" sz="2000" dirty="0">
                <a:solidFill>
                  <a:schemeClr val="bg1"/>
                </a:solidFill>
                <a:latin typeface="Courier New" panose="02070309020205020404" pitchFamily="49" charset="0"/>
                <a:cs typeface="Courier New" panose="02070309020205020404" pitchFamily="49" charset="0"/>
              </a:rPr>
              <a:t>, </a:t>
            </a:r>
            <a:r>
              <a:rPr lang="en-CA" sz="2000" dirty="0" smtClean="0">
                <a:solidFill>
                  <a:schemeClr val="bg1"/>
                </a:solidFill>
                <a:latin typeface="Courier New" panose="02070309020205020404" pitchFamily="49" charset="0"/>
                <a:cs typeface="Courier New" panose="02070309020205020404" pitchFamily="49" charset="0"/>
              </a:rPr>
              <a:t>type=</a:t>
            </a:r>
            <a:r>
              <a:rPr lang="en-CA" sz="2000" dirty="0" err="1" smtClean="0">
                <a:solidFill>
                  <a:schemeClr val="bg1"/>
                </a:solidFill>
                <a:latin typeface="Courier New" panose="02070309020205020404" pitchFamily="49" charset="0"/>
                <a:cs typeface="Courier New" panose="02070309020205020404" pitchFamily="49" charset="0"/>
              </a:rPr>
              <a:t>data_block</a:t>
            </a:r>
            <a:r>
              <a:rPr lang="en-CA" sz="2000" dirty="0" smtClean="0">
                <a:solidFill>
                  <a:schemeClr val="bg1"/>
                </a:solidFill>
                <a:latin typeface="Courier New" panose="02070309020205020404" pitchFamily="49" charset="0"/>
                <a:cs typeface="Courier New" panose="02070309020205020404" pitchFamily="49" charset="0"/>
              </a:rPr>
              <a:t>,</a:t>
            </a:r>
          </a:p>
          <a:p>
            <a:r>
              <a:rPr lang="en-CA" sz="2000" dirty="0" smtClean="0">
                <a:solidFill>
                  <a:schemeClr val="bg1"/>
                </a:solidFill>
                <a:latin typeface="Courier New" panose="02070309020205020404" pitchFamily="49" charset="0"/>
                <a:cs typeface="Courier New" panose="02070309020205020404" pitchFamily="49" charset="0"/>
              </a:rPr>
              <a:t>          </a:t>
            </a:r>
            <a:r>
              <a:rPr lang="en-CA" sz="2000" dirty="0">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when=</a:t>
            </a:r>
            <a:r>
              <a:rPr lang="en-CA" sz="2000" dirty="0" err="1">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self.i_mode</a:t>
            </a:r>
            <a:r>
              <a:rPr lang="en-CA" sz="2000" dirty="0">
                <a:solidFill>
                  <a:schemeClr val="bg1"/>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 &amp; S_IFREG</a:t>
            </a:r>
            <a:r>
              <a:rPr lang="en-CA" sz="2000" dirty="0">
                <a:solidFill>
                  <a:schemeClr val="bg1"/>
                </a:solidFill>
                <a:latin typeface="Courier New" panose="02070309020205020404" pitchFamily="49" charset="0"/>
                <a:cs typeface="Courier New" panose="02070309020205020404" pitchFamily="49" charset="0"/>
              </a:rPr>
              <a:t>)                 </a:t>
            </a:r>
          </a:p>
          <a:p>
            <a:r>
              <a:rPr lang="en-CA" sz="2000" dirty="0">
                <a:solidFill>
                  <a:schemeClr val="bg1"/>
                </a:solidFill>
                <a:latin typeface="Courier New" panose="02070309020205020404" pitchFamily="49" charset="0"/>
                <a:cs typeface="Courier New" panose="02070309020205020404" pitchFamily="49" charset="0"/>
              </a:rPr>
              <a:t>  __</a:t>
            </a:r>
            <a:r>
              <a:rPr lang="en-CA" sz="2000" dirty="0" smtClean="0">
                <a:solidFill>
                  <a:schemeClr val="bg1"/>
                </a:solidFill>
                <a:latin typeface="Courier New" panose="02070309020205020404" pitchFamily="49" charset="0"/>
                <a:cs typeface="Courier New" panose="02070309020205020404" pitchFamily="49" charset="0"/>
              </a:rPr>
              <a:t>le32 </a:t>
            </a:r>
            <a:r>
              <a:rPr lang="en-CA" sz="2000" dirty="0" err="1" smtClean="0">
                <a:solidFill>
                  <a:schemeClr val="bg1"/>
                </a:solidFill>
                <a:latin typeface="Courier New" panose="02070309020205020404" pitchFamily="49" charset="0"/>
                <a:cs typeface="Courier New" panose="02070309020205020404" pitchFamily="49" charset="0"/>
              </a:rPr>
              <a:t>i_block</a:t>
            </a:r>
            <a:r>
              <a:rPr lang="en-CA" sz="2000" dirty="0" smtClean="0">
                <a:solidFill>
                  <a:schemeClr val="bg1"/>
                </a:solidFill>
                <a:latin typeface="Courier New" panose="02070309020205020404" pitchFamily="49" charset="0"/>
                <a:cs typeface="Courier New" panose="02070309020205020404" pitchFamily="49" charset="0"/>
              </a:rPr>
              <a:t>[EXT3_NDIR_BLOCKS</a:t>
            </a:r>
            <a:r>
              <a:rPr lang="en-CA" sz="2000" dirty="0">
                <a:solidFill>
                  <a:schemeClr val="bg1"/>
                </a:solidFill>
                <a:latin typeface="Courier New" panose="02070309020205020404" pitchFamily="49" charset="0"/>
                <a:cs typeface="Courier New" panose="02070309020205020404" pitchFamily="49" charset="0"/>
              </a:rPr>
              <a:t>];</a:t>
            </a:r>
          </a:p>
          <a:p>
            <a:r>
              <a:rPr lang="en-CA" sz="2000" dirty="0">
                <a:solidFill>
                  <a:schemeClr val="bg1"/>
                </a:solidFill>
                <a:latin typeface="Courier New" panose="02070309020205020404" pitchFamily="49" charset="0"/>
                <a:cs typeface="Courier New" panose="02070309020205020404" pitchFamily="49" charset="0"/>
              </a:rPr>
              <a:t>   …</a:t>
            </a:r>
          </a:p>
          <a:p>
            <a:r>
              <a:rPr lang="en-CA" sz="2000" dirty="0" smtClean="0">
                <a:solidFill>
                  <a:schemeClr val="bg1"/>
                </a:solidFill>
                <a:latin typeface="Courier New" panose="02070309020205020404" pitchFamily="49" charset="0"/>
                <a:cs typeface="Courier New" panose="02070309020205020404" pitchFamily="49" charset="0"/>
              </a:rPr>
              <a:t>};</a:t>
            </a:r>
            <a:endParaRPr lang="en-CA" sz="2000" dirty="0">
              <a:solidFill>
                <a:schemeClr val="bg1"/>
              </a:solidFill>
              <a:latin typeface="Courier New" panose="02070309020205020404" pitchFamily="49" charset="0"/>
              <a:cs typeface="Courier New" panose="02070309020205020404" pitchFamily="49" charset="0"/>
            </a:endParaRPr>
          </a:p>
        </p:txBody>
      </p:sp>
      <p:grpSp>
        <p:nvGrpSpPr>
          <p:cNvPr id="5" name="Group 4"/>
          <p:cNvGrpSpPr/>
          <p:nvPr/>
        </p:nvGrpSpPr>
        <p:grpSpPr>
          <a:xfrm>
            <a:off x="7326706" y="3183802"/>
            <a:ext cx="4360469" cy="2332820"/>
            <a:chOff x="3430981" y="4220986"/>
            <a:chExt cx="4360469" cy="2332820"/>
          </a:xfrm>
        </p:grpSpPr>
        <p:sp>
          <p:nvSpPr>
            <p:cNvPr id="20" name="Rectangle 19"/>
            <p:cNvSpPr/>
            <p:nvPr/>
          </p:nvSpPr>
          <p:spPr>
            <a:xfrm>
              <a:off x="3430981" y="4220986"/>
              <a:ext cx="4360469" cy="940832"/>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Rectangle 20"/>
            <p:cNvSpPr/>
            <p:nvPr/>
          </p:nvSpPr>
          <p:spPr>
            <a:xfrm>
              <a:off x="3515340" y="4394402"/>
              <a:ext cx="843171" cy="59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chemeClr val="bg1"/>
                  </a:solidFill>
                </a:rPr>
                <a:t>inode</a:t>
              </a:r>
              <a:r>
                <a:rPr lang="en-US" dirty="0" smtClean="0">
                  <a:solidFill>
                    <a:schemeClr val="bg1"/>
                  </a:solidFill>
                </a:rPr>
                <a:t> table</a:t>
              </a:r>
              <a:endParaRPr lang="en-US" dirty="0">
                <a:solidFill>
                  <a:schemeClr val="bg1"/>
                </a:solidFill>
              </a:endParaRPr>
            </a:p>
          </p:txBody>
        </p:sp>
        <p:sp>
          <p:nvSpPr>
            <p:cNvPr id="22" name="Rounded Rectangle 21"/>
            <p:cNvSpPr/>
            <p:nvPr/>
          </p:nvSpPr>
          <p:spPr>
            <a:xfrm>
              <a:off x="4443717" y="4293627"/>
              <a:ext cx="965390"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dirty="0" err="1" smtClean="0">
                  <a:solidFill>
                    <a:schemeClr val="tx1"/>
                  </a:solidFill>
                </a:rPr>
                <a:t>inode</a:t>
              </a:r>
              <a:endParaRPr lang="en-US" altLang="zh-TW" dirty="0" smtClean="0">
                <a:solidFill>
                  <a:schemeClr val="tx1"/>
                </a:solidFill>
              </a:endParaRPr>
            </a:p>
            <a:p>
              <a:pPr algn="ctr"/>
              <a:r>
                <a:rPr lang="en-US" altLang="zh-TW" dirty="0" smtClean="0">
                  <a:solidFill>
                    <a:schemeClr val="tx1"/>
                  </a:solidFill>
                </a:rPr>
                <a:t>(</a:t>
              </a:r>
              <a:r>
                <a:rPr lang="en-US" altLang="zh-TW" dirty="0" err="1" smtClean="0">
                  <a:solidFill>
                    <a:schemeClr val="tx1"/>
                  </a:solidFill>
                </a:rPr>
                <a:t>reg</a:t>
              </a:r>
              <a:r>
                <a:rPr lang="en-US" altLang="zh-TW" dirty="0" smtClean="0">
                  <a:solidFill>
                    <a:schemeClr val="tx1"/>
                  </a:solidFill>
                </a:rPr>
                <a:t> file)</a:t>
              </a:r>
              <a:endParaRPr lang="zh-TW" altLang="en-US" dirty="0">
                <a:solidFill>
                  <a:schemeClr val="tx1"/>
                </a:solidFill>
              </a:endParaRPr>
            </a:p>
          </p:txBody>
        </p:sp>
        <p:sp>
          <p:nvSpPr>
            <p:cNvPr id="23" name="Rounded Rectangle 22"/>
            <p:cNvSpPr/>
            <p:nvPr/>
          </p:nvSpPr>
          <p:spPr>
            <a:xfrm>
              <a:off x="6413942" y="4293627"/>
              <a:ext cx="1215376"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dirty="0" err="1" smtClean="0">
                  <a:solidFill>
                    <a:schemeClr val="tx1"/>
                  </a:solidFill>
                </a:rPr>
                <a:t>inode</a:t>
              </a:r>
              <a:endParaRPr lang="en-US" altLang="zh-TW" dirty="0" smtClean="0">
                <a:solidFill>
                  <a:schemeClr val="tx1"/>
                </a:solidFill>
              </a:endParaRPr>
            </a:p>
            <a:p>
              <a:pPr algn="ctr"/>
              <a:r>
                <a:rPr lang="en-US" altLang="zh-TW" dirty="0" smtClean="0">
                  <a:solidFill>
                    <a:schemeClr val="tx1"/>
                  </a:solidFill>
                </a:rPr>
                <a:t>(directory)</a:t>
              </a:r>
              <a:endParaRPr lang="zh-TW" altLang="en-US" dirty="0">
                <a:solidFill>
                  <a:schemeClr val="tx1"/>
                </a:solidFill>
              </a:endParaRPr>
            </a:p>
          </p:txBody>
        </p:sp>
        <p:sp>
          <p:nvSpPr>
            <p:cNvPr id="24" name="TextBox 23"/>
            <p:cNvSpPr txBox="1"/>
            <p:nvPr/>
          </p:nvSpPr>
          <p:spPr>
            <a:xfrm>
              <a:off x="5869543" y="4421011"/>
              <a:ext cx="415498" cy="369332"/>
            </a:xfrm>
            <a:prstGeom prst="rect">
              <a:avLst/>
            </a:prstGeom>
            <a:noFill/>
          </p:spPr>
          <p:txBody>
            <a:bodyPr wrap="none" rtlCol="0">
              <a:spAutoFit/>
            </a:bodyPr>
            <a:lstStyle/>
            <a:p>
              <a:r>
                <a:rPr lang="en-CA" dirty="0" smtClean="0">
                  <a:solidFill>
                    <a:schemeClr val="bg1"/>
                  </a:solidFill>
                </a:rPr>
                <a:t>…</a:t>
              </a:r>
              <a:endParaRPr lang="en-CA" dirty="0">
                <a:solidFill>
                  <a:schemeClr val="bg1"/>
                </a:solidFill>
              </a:endParaRPr>
            </a:p>
          </p:txBody>
        </p:sp>
        <p:sp>
          <p:nvSpPr>
            <p:cNvPr id="25" name="Rectangle 24"/>
            <p:cNvSpPr/>
            <p:nvPr/>
          </p:nvSpPr>
          <p:spPr>
            <a:xfrm>
              <a:off x="6470021" y="5815595"/>
              <a:ext cx="1103217" cy="728080"/>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err="1" smtClean="0">
                  <a:solidFill>
                    <a:schemeClr val="bg1"/>
                  </a:solidFill>
                </a:rPr>
                <a:t>dir</a:t>
              </a:r>
              <a:endParaRPr lang="en-CA" altLang="zh-TW" dirty="0" smtClean="0">
                <a:solidFill>
                  <a:schemeClr val="bg1"/>
                </a:solidFill>
              </a:endParaRPr>
            </a:p>
            <a:p>
              <a:pPr algn="ctr"/>
              <a:r>
                <a:rPr lang="en-CA" altLang="zh-TW" dirty="0" smtClean="0">
                  <a:solidFill>
                    <a:schemeClr val="bg1"/>
                  </a:solidFill>
                </a:rPr>
                <a:t>block</a:t>
              </a:r>
              <a:endParaRPr lang="zh-TW" altLang="en-US" dirty="0">
                <a:solidFill>
                  <a:schemeClr val="bg1"/>
                </a:solidFill>
              </a:endParaRPr>
            </a:p>
          </p:txBody>
        </p:sp>
        <p:cxnSp>
          <p:nvCxnSpPr>
            <p:cNvPr id="26" name="Straight Arrow Connector 96"/>
            <p:cNvCxnSpPr>
              <a:stCxn id="23" idx="2"/>
              <a:endCxn id="25" idx="0"/>
            </p:cNvCxnSpPr>
            <p:nvPr/>
          </p:nvCxnSpPr>
          <p:spPr>
            <a:xfrm>
              <a:off x="7021630" y="5089178"/>
              <a:ext cx="0" cy="726417"/>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374804" y="5825726"/>
              <a:ext cx="1103217" cy="728080"/>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dirty="0" smtClean="0">
                  <a:solidFill>
                    <a:schemeClr val="bg1"/>
                  </a:solidFill>
                </a:rPr>
                <a:t>data</a:t>
              </a:r>
            </a:p>
            <a:p>
              <a:pPr algn="ctr"/>
              <a:r>
                <a:rPr lang="en-CA" altLang="zh-TW" dirty="0" smtClean="0">
                  <a:solidFill>
                    <a:schemeClr val="bg1"/>
                  </a:solidFill>
                </a:rPr>
                <a:t>block</a:t>
              </a:r>
              <a:endParaRPr lang="zh-TW" altLang="en-US" dirty="0">
                <a:solidFill>
                  <a:schemeClr val="bg1"/>
                </a:solidFill>
              </a:endParaRPr>
            </a:p>
          </p:txBody>
        </p:sp>
        <p:cxnSp>
          <p:nvCxnSpPr>
            <p:cNvPr id="29" name="Straight Arrow Connector 96"/>
            <p:cNvCxnSpPr>
              <a:stCxn id="22" idx="2"/>
              <a:endCxn id="28" idx="0"/>
            </p:cNvCxnSpPr>
            <p:nvPr/>
          </p:nvCxnSpPr>
          <p:spPr>
            <a:xfrm>
              <a:off x="4926412" y="5089178"/>
              <a:ext cx="1" cy="736548"/>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32756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95335" y="1233666"/>
            <a:ext cx="6586539" cy="2246769"/>
          </a:xfrm>
          <a:prstGeom prst="rect">
            <a:avLst/>
          </a:prstGeom>
        </p:spPr>
        <p:txBody>
          <a:bodyPr wrap="square">
            <a:spAutoFit/>
          </a:bodyPr>
          <a:lstStyle/>
          <a:p>
            <a:r>
              <a:rPr lang="en-CA" sz="2000" b="1" dirty="0" smtClean="0">
                <a:solidFill>
                  <a:schemeClr val="bg1"/>
                </a:solidFill>
                <a:latin typeface="Courier New" panose="02070309020205020404" pitchFamily="49" charset="0"/>
                <a:cs typeface="Courier New" panose="02070309020205020404" pitchFamily="49" charset="0"/>
              </a:rPr>
              <a:t>FSSUPER</a:t>
            </a:r>
            <a:r>
              <a:rPr lang="en-CA" sz="2000" dirty="0">
                <a:solidFill>
                  <a:schemeClr val="bg1"/>
                </a:solidFill>
                <a:latin typeface="Courier New" panose="02070309020205020404" pitchFamily="49" charset="0"/>
                <a:cs typeface="Courier New" panose="02070309020205020404" pitchFamily="49" charset="0"/>
              </a:rPr>
              <a:t>(…) ext4_super_block {</a:t>
            </a:r>
          </a:p>
          <a:p>
            <a:r>
              <a:rPr lang="en-CA" sz="2000" dirty="0">
                <a:solidFill>
                  <a:schemeClr val="bg1"/>
                </a:solidFill>
                <a:latin typeface="Courier New" panose="02070309020205020404" pitchFamily="49" charset="0"/>
                <a:cs typeface="Courier New" panose="02070309020205020404" pitchFamily="49" charset="0"/>
              </a:rPr>
              <a:t>  __le32 </a:t>
            </a:r>
            <a:r>
              <a:rPr lang="en-CA" sz="2000" dirty="0" err="1">
                <a:solidFill>
                  <a:schemeClr val="bg1"/>
                </a:solidFill>
                <a:latin typeface="Courier New" panose="02070309020205020404" pitchFamily="49" charset="0"/>
                <a:cs typeface="Courier New" panose="02070309020205020404" pitchFamily="49" charset="0"/>
              </a:rPr>
              <a:t>s_log_block_size</a:t>
            </a:r>
            <a:r>
              <a:rPr lang="en-CA" sz="2000" dirty="0" smtClean="0">
                <a:solidFill>
                  <a:schemeClr val="bg1"/>
                </a:solidFill>
                <a:latin typeface="Courier New" panose="02070309020205020404" pitchFamily="49" charset="0"/>
                <a:cs typeface="Courier New" panose="02070309020205020404" pitchFamily="49" charset="0"/>
              </a:rPr>
              <a:t>;</a:t>
            </a:r>
          </a:p>
          <a:p>
            <a:r>
              <a:rPr lang="en-CA" sz="2000" dirty="0" smtClean="0">
                <a:solidFill>
                  <a:schemeClr val="bg1"/>
                </a:solidFill>
                <a:latin typeface="Courier New" panose="02070309020205020404" pitchFamily="49" charset="0"/>
                <a:cs typeface="Courier New" panose="02070309020205020404" pitchFamily="49" charset="0"/>
              </a:rPr>
              <a:t>  __le16 </a:t>
            </a:r>
            <a:r>
              <a:rPr lang="en-CA" sz="2000" dirty="0" err="1" smtClean="0">
                <a:solidFill>
                  <a:schemeClr val="bg1"/>
                </a:solidFill>
                <a:latin typeface="Courier New" panose="02070309020205020404" pitchFamily="49" charset="0"/>
                <a:cs typeface="Courier New" panose="02070309020205020404" pitchFamily="49" charset="0"/>
              </a:rPr>
              <a:t>s_magic</a:t>
            </a:r>
            <a:r>
              <a:rPr lang="en-CA" sz="2000" dirty="0" smtClean="0">
                <a:solidFill>
                  <a:schemeClr val="bg1"/>
                </a:solidFill>
                <a:latin typeface="Courier New" panose="02070309020205020404" pitchFamily="49" charset="0"/>
                <a:cs typeface="Courier New" panose="02070309020205020404" pitchFamily="49" charset="0"/>
              </a:rPr>
              <a:t>;</a:t>
            </a:r>
          </a:p>
          <a:p>
            <a:r>
              <a:rPr lang="en-CA" sz="2000" dirty="0" smtClean="0">
                <a:solidFill>
                  <a:schemeClr val="bg1"/>
                </a:solidFill>
                <a:latin typeface="Courier New" panose="02070309020205020404" pitchFamily="49" charset="0"/>
                <a:cs typeface="Courier New" panose="02070309020205020404" pitchFamily="49" charset="0"/>
              </a:rPr>
              <a:t>  </a:t>
            </a:r>
            <a:r>
              <a:rPr lang="en-CA" sz="2000" dirty="0">
                <a:solidFill>
                  <a:schemeClr val="bg1"/>
                </a:solidFill>
                <a:latin typeface="Courier New" panose="02070309020205020404" pitchFamily="49" charset="0"/>
                <a:cs typeface="Courier New" panose="02070309020205020404" pitchFamily="49" charset="0"/>
              </a:rPr>
              <a:t>…</a:t>
            </a:r>
          </a:p>
          <a:p>
            <a:r>
              <a:rPr lang="en-CA" sz="2000" dirty="0">
                <a:solidFill>
                  <a:schemeClr val="bg1"/>
                </a:solidFill>
                <a:latin typeface="Courier New" panose="02070309020205020404" pitchFamily="49" charset="0"/>
                <a:cs typeface="Courier New" panose="02070309020205020404" pitchFamily="49" charset="0"/>
              </a:rPr>
              <a:t>  </a:t>
            </a:r>
            <a:r>
              <a:rPr lang="en-CA" sz="2000" b="1" dirty="0">
                <a:solidFill>
                  <a:schemeClr val="bg1"/>
                </a:solidFill>
                <a:latin typeface="Courier New" panose="02070309020205020404" pitchFamily="49" charset="0"/>
                <a:cs typeface="Courier New" panose="02070309020205020404" pitchFamily="49" charset="0"/>
              </a:rPr>
              <a:t>CHECK</a:t>
            </a:r>
            <a:r>
              <a:rPr lang="en-CA" sz="2000" dirty="0">
                <a:solidFill>
                  <a:schemeClr val="bg1"/>
                </a:solidFill>
                <a:latin typeface="Courier New" panose="02070309020205020404" pitchFamily="49" charset="0"/>
                <a:cs typeface="Courier New" panose="02070309020205020404" pitchFamily="49" charset="0"/>
              </a:rPr>
              <a:t>(expr=</a:t>
            </a:r>
            <a:r>
              <a:rPr lang="en-CA" sz="2000" dirty="0" err="1">
                <a:solidFill>
                  <a:schemeClr val="bg1"/>
                </a:solidFill>
                <a:latin typeface="Courier New" panose="02070309020205020404" pitchFamily="49" charset="0"/>
                <a:cs typeface="Courier New" panose="02070309020205020404" pitchFamily="49" charset="0"/>
              </a:rPr>
              <a:t>self.s_log_block_size</a:t>
            </a:r>
            <a:r>
              <a:rPr lang="en-CA" sz="2000" dirty="0">
                <a:solidFill>
                  <a:schemeClr val="bg1"/>
                </a:solidFill>
                <a:latin typeface="Courier New" panose="02070309020205020404" pitchFamily="49" charset="0"/>
                <a:cs typeface="Courier New" panose="02070309020205020404" pitchFamily="49" charset="0"/>
              </a:rPr>
              <a:t> </a:t>
            </a:r>
            <a:r>
              <a:rPr lang="en-CA" sz="2000" dirty="0" smtClean="0">
                <a:solidFill>
                  <a:schemeClr val="bg1"/>
                </a:solidFill>
                <a:latin typeface="Courier New" panose="02070309020205020404" pitchFamily="49" charset="0"/>
                <a:cs typeface="Courier New" panose="02070309020205020404" pitchFamily="49" charset="0"/>
              </a:rPr>
              <a:t>&lt;= 6</a:t>
            </a:r>
            <a:r>
              <a:rPr lang="en-CA" sz="2000" dirty="0">
                <a:solidFill>
                  <a:schemeClr val="bg1"/>
                </a:solidFill>
                <a:latin typeface="Courier New" panose="02070309020205020404" pitchFamily="49" charset="0"/>
                <a:cs typeface="Courier New" panose="02070309020205020404" pitchFamily="49" charset="0"/>
              </a:rPr>
              <a:t>);</a:t>
            </a:r>
          </a:p>
          <a:p>
            <a:r>
              <a:rPr lang="en-CA" sz="2000" dirty="0">
                <a:solidFill>
                  <a:schemeClr val="bg1"/>
                </a:solidFill>
                <a:latin typeface="Courier New" panose="02070309020205020404" pitchFamily="49" charset="0"/>
                <a:cs typeface="Courier New" panose="02070309020205020404" pitchFamily="49" charset="0"/>
              </a:rPr>
              <a:t>  </a:t>
            </a:r>
            <a:r>
              <a:rPr lang="en-CA" sz="2000" b="1" dirty="0">
                <a:solidFill>
                  <a:schemeClr val="bg1"/>
                </a:solidFill>
                <a:latin typeface="Courier New" panose="02070309020205020404" pitchFamily="49" charset="0"/>
                <a:cs typeface="Courier New" panose="02070309020205020404" pitchFamily="49" charset="0"/>
              </a:rPr>
              <a:t>CHECK</a:t>
            </a:r>
            <a:r>
              <a:rPr lang="en-CA" sz="2000" dirty="0">
                <a:solidFill>
                  <a:schemeClr val="bg1"/>
                </a:solidFill>
                <a:latin typeface="Courier New" panose="02070309020205020404" pitchFamily="49" charset="0"/>
                <a:cs typeface="Courier New" panose="02070309020205020404" pitchFamily="49" charset="0"/>
              </a:rPr>
              <a:t>(expr=</a:t>
            </a:r>
            <a:r>
              <a:rPr lang="en-CA" sz="2000" dirty="0" err="1">
                <a:solidFill>
                  <a:schemeClr val="bg1"/>
                </a:solidFill>
                <a:latin typeface="Courier New" panose="02070309020205020404" pitchFamily="49" charset="0"/>
                <a:cs typeface="Courier New" panose="02070309020205020404" pitchFamily="49" charset="0"/>
              </a:rPr>
              <a:t>self.s_magic</a:t>
            </a:r>
            <a:r>
              <a:rPr lang="en-CA" sz="2000" dirty="0">
                <a:solidFill>
                  <a:schemeClr val="bg1"/>
                </a:solidFill>
                <a:latin typeface="Courier New" panose="02070309020205020404" pitchFamily="49" charset="0"/>
                <a:cs typeface="Courier New" panose="02070309020205020404" pitchFamily="49" charset="0"/>
              </a:rPr>
              <a:t> == 0xef53);</a:t>
            </a:r>
          </a:p>
          <a:p>
            <a:r>
              <a:rPr lang="en-CA" sz="2000" dirty="0">
                <a:solidFill>
                  <a:schemeClr val="bg1"/>
                </a:solidFill>
                <a:latin typeface="Courier New" panose="02070309020205020404" pitchFamily="49" charset="0"/>
                <a:cs typeface="Courier New" panose="02070309020205020404" pitchFamily="49" charset="0"/>
              </a:rPr>
              <a:t>};</a:t>
            </a:r>
          </a:p>
        </p:txBody>
      </p:sp>
      <p:sp>
        <p:nvSpPr>
          <p:cNvPr id="5" name="Title 4"/>
          <p:cNvSpPr>
            <a:spLocks noGrp="1"/>
          </p:cNvSpPr>
          <p:nvPr>
            <p:ph type="title"/>
          </p:nvPr>
        </p:nvSpPr>
        <p:spPr/>
        <p:txBody>
          <a:bodyPr/>
          <a:lstStyle/>
          <a:p>
            <a:r>
              <a:rPr lang="en-US" smtClean="0"/>
              <a:t>Check Annotations</a:t>
            </a:r>
            <a:endParaRPr lang="en-CA" dirty="0"/>
          </a:p>
        </p:txBody>
      </p:sp>
      <p:sp>
        <p:nvSpPr>
          <p:cNvPr id="2" name="Slide Number Placeholder 1"/>
          <p:cNvSpPr>
            <a:spLocks noGrp="1"/>
          </p:cNvSpPr>
          <p:nvPr>
            <p:ph type="sldNum" sz="quarter" idx="12"/>
          </p:nvPr>
        </p:nvSpPr>
        <p:spPr/>
        <p:txBody>
          <a:bodyPr/>
          <a:lstStyle/>
          <a:p>
            <a:fld id="{7B2023C8-B124-43A9-8F92-0EEF5BAA9995}" type="slidenum">
              <a:rPr lang="en-CA" smtClean="0"/>
              <a:pPr/>
              <a:t>20</a:t>
            </a:fld>
            <a:endParaRPr lang="en-CA"/>
          </a:p>
        </p:txBody>
      </p:sp>
      <p:sp>
        <p:nvSpPr>
          <p:cNvPr id="8" name="Content Placeholder 8"/>
          <p:cNvSpPr txBox="1">
            <a:spLocks/>
          </p:cNvSpPr>
          <p:nvPr/>
        </p:nvSpPr>
        <p:spPr>
          <a:xfrm>
            <a:off x="684211" y="4174943"/>
            <a:ext cx="10604500" cy="2534467"/>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Font typeface="Wingdings 3" panose="05040102010807070707" pitchFamily="18" charset="2"/>
              <a:buNone/>
            </a:pPr>
            <a:r>
              <a:rPr lang="en-CA" sz="2000" dirty="0" err="1" smtClean="0">
                <a:latin typeface="Courier New" panose="02070309020205020404" pitchFamily="49" charset="0"/>
                <a:cs typeface="Courier New" panose="02070309020205020404" pitchFamily="49" charset="0"/>
              </a:rPr>
              <a:t>int</a:t>
            </a:r>
            <a:r>
              <a:rPr lang="en-CA" sz="2000" dirty="0" smtClean="0">
                <a:latin typeface="Courier New" panose="02070309020205020404" pitchFamily="49" charset="0"/>
                <a:cs typeface="Courier New" panose="02070309020205020404" pitchFamily="49" charset="0"/>
              </a:rPr>
              <a:t> Ext4SuperBlock::parse(</a:t>
            </a:r>
            <a:r>
              <a:rPr lang="en-CA" sz="2000" dirty="0" err="1" smtClean="0">
                <a:latin typeface="Courier New" panose="02070309020205020404" pitchFamily="49" charset="0"/>
                <a:cs typeface="Courier New" panose="02070309020205020404" pitchFamily="49" charset="0"/>
              </a:rPr>
              <a:t>const</a:t>
            </a:r>
            <a:r>
              <a:rPr lang="en-CA" sz="2000" dirty="0" smtClean="0">
                <a:latin typeface="Courier New" panose="02070309020205020404" pitchFamily="49" charset="0"/>
                <a:cs typeface="Courier New" panose="02070309020205020404" pitchFamily="49" charset="0"/>
              </a:rPr>
              <a:t> char * &amp; </a:t>
            </a:r>
            <a:r>
              <a:rPr lang="en-CA" sz="2000" dirty="0" err="1" smtClean="0">
                <a:latin typeface="Courier New" panose="02070309020205020404" pitchFamily="49" charset="0"/>
                <a:cs typeface="Courier New" panose="02070309020205020404" pitchFamily="49" charset="0"/>
              </a:rPr>
              <a:t>buf</a:t>
            </a:r>
            <a:r>
              <a:rPr lang="en-CA" sz="2000" dirty="0" smtClean="0">
                <a:latin typeface="Courier New" panose="02070309020205020404" pitchFamily="49" charset="0"/>
                <a:cs typeface="Courier New" panose="02070309020205020404" pitchFamily="49" charset="0"/>
              </a:rPr>
              <a:t>, unsigned &amp; </a:t>
            </a:r>
            <a:r>
              <a:rPr lang="en-CA" sz="2000" dirty="0" err="1" smtClean="0">
                <a:latin typeface="Courier New" panose="02070309020205020404" pitchFamily="49" charset="0"/>
                <a:cs typeface="Courier New" panose="02070309020205020404" pitchFamily="49" charset="0"/>
              </a:rPr>
              <a:t>len</a:t>
            </a:r>
            <a:r>
              <a:rPr lang="en-CA" sz="2000" dirty="0" smtClean="0">
                <a:latin typeface="Courier New" panose="02070309020205020404" pitchFamily="49" charset="0"/>
                <a:cs typeface="Courier New" panose="02070309020205020404" pitchFamily="49" charset="0"/>
              </a:rPr>
              <a:t>) {</a:t>
            </a:r>
          </a:p>
          <a:p>
            <a:pPr marL="0" indent="0">
              <a:spcBef>
                <a:spcPts val="0"/>
              </a:spcBef>
              <a:spcAft>
                <a:spcPts val="0"/>
              </a:spcAft>
              <a:buFont typeface="Wingdings 3" panose="05040102010807070707" pitchFamily="18" charset="2"/>
              <a:buNone/>
            </a:pPr>
            <a:r>
              <a:rPr lang="en-CA" sz="2000" dirty="0" smtClean="0">
                <a:latin typeface="Courier New" panose="02070309020205020404" pitchFamily="49" charset="0"/>
                <a:cs typeface="Courier New" panose="02070309020205020404" pitchFamily="49" charset="0"/>
              </a:rPr>
              <a:t>  </a:t>
            </a:r>
            <a:r>
              <a:rPr lang="en-CA" sz="2000" dirty="0" err="1" smtClean="0">
                <a:latin typeface="Courier New" panose="02070309020205020404" pitchFamily="49" charset="0"/>
                <a:cs typeface="Courier New" panose="02070309020205020404" pitchFamily="49" charset="0"/>
              </a:rPr>
              <a:t>int</a:t>
            </a:r>
            <a:r>
              <a:rPr lang="en-CA" sz="2000" dirty="0" smtClean="0">
                <a:latin typeface="Courier New" panose="02070309020205020404" pitchFamily="49" charset="0"/>
                <a:cs typeface="Courier New" panose="02070309020205020404" pitchFamily="49" charset="0"/>
              </a:rPr>
              <a:t> ret; </a:t>
            </a:r>
          </a:p>
          <a:p>
            <a:pPr marL="0" indent="0">
              <a:spcBef>
                <a:spcPts val="0"/>
              </a:spcBef>
              <a:spcAft>
                <a:spcPts val="0"/>
              </a:spcAft>
              <a:buFont typeface="Wingdings 3" panose="05040102010807070707" pitchFamily="18" charset="2"/>
              <a:buNone/>
            </a:pPr>
            <a:r>
              <a:rPr lang="en-CA" sz="2000" dirty="0" smtClean="0">
                <a:latin typeface="Courier New" panose="02070309020205020404" pitchFamily="49" charset="0"/>
                <a:cs typeface="Courier New" panose="02070309020205020404" pitchFamily="49" charset="0"/>
              </a:rPr>
              <a:t>  if ((ret = </a:t>
            </a:r>
            <a:r>
              <a:rPr lang="en-CA" sz="2000" dirty="0" err="1" smtClean="0">
                <a:latin typeface="Courier New" panose="02070309020205020404" pitchFamily="49" charset="0"/>
                <a:cs typeface="Courier New" panose="02070309020205020404" pitchFamily="49" charset="0"/>
              </a:rPr>
              <a:t>s_log_block_size.parse</a:t>
            </a:r>
            <a:r>
              <a:rPr lang="en-CA" sz="2000" dirty="0" smtClean="0">
                <a:latin typeface="Courier New" panose="02070309020205020404" pitchFamily="49" charset="0"/>
                <a:cs typeface="Courier New" panose="02070309020205020404" pitchFamily="49" charset="0"/>
              </a:rPr>
              <a:t>(</a:t>
            </a:r>
            <a:r>
              <a:rPr lang="en-CA" sz="2000" dirty="0" err="1" smtClean="0">
                <a:latin typeface="Courier New" panose="02070309020205020404" pitchFamily="49" charset="0"/>
                <a:cs typeface="Courier New" panose="02070309020205020404" pitchFamily="49" charset="0"/>
              </a:rPr>
              <a:t>buf</a:t>
            </a:r>
            <a:r>
              <a:rPr lang="en-CA" sz="2000" dirty="0" smtClean="0">
                <a:latin typeface="Courier New" panose="02070309020205020404" pitchFamily="49" charset="0"/>
                <a:cs typeface="Courier New" panose="02070309020205020404" pitchFamily="49" charset="0"/>
              </a:rPr>
              <a:t>, </a:t>
            </a:r>
            <a:r>
              <a:rPr lang="en-CA" sz="2000" dirty="0" err="1" smtClean="0">
                <a:latin typeface="Courier New" panose="02070309020205020404" pitchFamily="49" charset="0"/>
                <a:cs typeface="Courier New" panose="02070309020205020404" pitchFamily="49" charset="0"/>
              </a:rPr>
              <a:t>len</a:t>
            </a:r>
            <a:r>
              <a:rPr lang="en-CA" sz="2000" dirty="0" smtClean="0">
                <a:latin typeface="Courier New" panose="02070309020205020404" pitchFamily="49" charset="0"/>
                <a:cs typeface="Courier New" panose="02070309020205020404" pitchFamily="49" charset="0"/>
              </a:rPr>
              <a:t>)) &lt; 0) return ret;</a:t>
            </a:r>
          </a:p>
          <a:p>
            <a:pPr marL="0" indent="0">
              <a:spcBef>
                <a:spcPts val="0"/>
              </a:spcBef>
              <a:spcAft>
                <a:spcPts val="0"/>
              </a:spcAft>
              <a:buFont typeface="Wingdings 3" panose="05040102010807070707" pitchFamily="18" charset="2"/>
              <a:buNone/>
            </a:pPr>
            <a:r>
              <a:rPr lang="en-CA" sz="2000" dirty="0" smtClean="0">
                <a:latin typeface="Courier New" panose="02070309020205020404" pitchFamily="49" charset="0"/>
                <a:cs typeface="Courier New" panose="02070309020205020404" pitchFamily="49" charset="0"/>
              </a:rPr>
              <a:t>  …</a:t>
            </a:r>
          </a:p>
          <a:p>
            <a:pPr marL="0" indent="0">
              <a:spcBef>
                <a:spcPts val="0"/>
              </a:spcBef>
              <a:spcAft>
                <a:spcPts val="0"/>
              </a:spcAft>
              <a:buFont typeface="Wingdings 3" panose="05040102010807070707" pitchFamily="18" charset="2"/>
              <a:buNone/>
            </a:pPr>
            <a:r>
              <a:rPr lang="en-CA" sz="2000" dirty="0" smtClean="0">
                <a:effectLst/>
                <a:latin typeface="Courier New" panose="02070309020205020404" pitchFamily="49" charset="0"/>
                <a:cs typeface="Courier New" panose="02070309020205020404" pitchFamily="49" charset="0"/>
              </a:rPr>
              <a:t>  if (!(</a:t>
            </a:r>
            <a:r>
              <a:rPr lang="en-CA" sz="2000" dirty="0" err="1" smtClean="0">
                <a:effectLst/>
                <a:latin typeface="Courier New" panose="02070309020205020404" pitchFamily="49" charset="0"/>
                <a:cs typeface="Courier New" panose="02070309020205020404" pitchFamily="49" charset="0"/>
              </a:rPr>
              <a:t>s_log_block_size</a:t>
            </a:r>
            <a:r>
              <a:rPr lang="en-CA" sz="2000" dirty="0" smtClean="0">
                <a:effectLst/>
                <a:latin typeface="Courier New" panose="02070309020205020404" pitchFamily="49" charset="0"/>
                <a:cs typeface="Courier New" panose="02070309020205020404" pitchFamily="49" charset="0"/>
              </a:rPr>
              <a:t> &lt;= 6)) return ERR_CORRUPT;</a:t>
            </a:r>
          </a:p>
          <a:p>
            <a:pPr marL="0" indent="0">
              <a:spcBef>
                <a:spcPts val="0"/>
              </a:spcBef>
              <a:spcAft>
                <a:spcPts val="0"/>
              </a:spcAft>
              <a:buFont typeface="Wingdings 3" panose="05040102010807070707" pitchFamily="18" charset="2"/>
              <a:buNone/>
            </a:pPr>
            <a:r>
              <a:rPr lang="en-CA" sz="2000" dirty="0" smtClean="0">
                <a:effectLst/>
                <a:latin typeface="Courier New" panose="02070309020205020404" pitchFamily="49" charset="0"/>
                <a:cs typeface="Courier New" panose="02070309020205020404" pitchFamily="49" charset="0"/>
              </a:rPr>
              <a:t>  if (!(</a:t>
            </a:r>
            <a:r>
              <a:rPr lang="en-CA" sz="2000" dirty="0" err="1" smtClean="0">
                <a:effectLst/>
                <a:latin typeface="Courier New" panose="02070309020205020404" pitchFamily="49" charset="0"/>
                <a:cs typeface="Courier New" panose="02070309020205020404" pitchFamily="49" charset="0"/>
              </a:rPr>
              <a:t>s_magic</a:t>
            </a:r>
            <a:r>
              <a:rPr lang="en-CA" sz="2000" dirty="0" smtClean="0">
                <a:effectLst/>
                <a:latin typeface="Courier New" panose="02070309020205020404" pitchFamily="49" charset="0"/>
                <a:cs typeface="Courier New" panose="02070309020205020404" pitchFamily="49" charset="0"/>
              </a:rPr>
              <a:t> == 0xef53)) return ERR_CORRUPT;</a:t>
            </a:r>
          </a:p>
          <a:p>
            <a:pPr marL="0" indent="0">
              <a:spcBef>
                <a:spcPts val="0"/>
              </a:spcBef>
              <a:spcAft>
                <a:spcPts val="0"/>
              </a:spcAft>
              <a:buFont typeface="Wingdings 3" panose="05040102010807070707" pitchFamily="18" charset="2"/>
              <a:buNone/>
            </a:pPr>
            <a:r>
              <a:rPr lang="en-CA" sz="2000" dirty="0" smtClean="0">
                <a:latin typeface="Courier New" panose="02070309020205020404" pitchFamily="49" charset="0"/>
                <a:cs typeface="Courier New" panose="02070309020205020404" pitchFamily="49" charset="0"/>
              </a:rPr>
              <a:t>  return 0;</a:t>
            </a:r>
          </a:p>
          <a:p>
            <a:pPr marL="0" indent="0">
              <a:spcBef>
                <a:spcPts val="0"/>
              </a:spcBef>
              <a:spcAft>
                <a:spcPts val="0"/>
              </a:spcAft>
              <a:buFont typeface="Wingdings 3" panose="05040102010807070707" pitchFamily="18" charset="2"/>
              <a:buNone/>
            </a:pPr>
            <a:r>
              <a:rPr lang="en-CA" sz="2000" dirty="0" smtClean="0">
                <a:latin typeface="Courier New" panose="02070309020205020404" pitchFamily="49" charset="0"/>
                <a:cs typeface="Courier New" panose="02070309020205020404" pitchFamily="49" charset="0"/>
              </a:rPr>
              <a:t>}</a:t>
            </a:r>
          </a:p>
        </p:txBody>
      </p:sp>
      <p:sp>
        <p:nvSpPr>
          <p:cNvPr id="10" name="Content Placeholder 6"/>
          <p:cNvSpPr txBox="1">
            <a:spLocks/>
          </p:cNvSpPr>
          <p:nvPr/>
        </p:nvSpPr>
        <p:spPr>
          <a:xfrm>
            <a:off x="684211" y="3603625"/>
            <a:ext cx="10285413" cy="51752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r>
              <a:rPr lang="en-CA" dirty="0" smtClean="0"/>
              <a:t>Generated Code for ext4_super_block</a:t>
            </a:r>
          </a:p>
          <a:p>
            <a:pPr marL="0" indent="0">
              <a:buFont typeface="Wingdings 3" panose="05040102010807070707" pitchFamily="18" charset="2"/>
              <a:buNone/>
            </a:pPr>
            <a:endParaRPr lang="en-CA" sz="1800" dirty="0" smtClean="0"/>
          </a:p>
          <a:p>
            <a:endParaRPr lang="en-CA" dirty="0" smtClean="0"/>
          </a:p>
        </p:txBody>
      </p:sp>
    </p:spTree>
    <p:extLst>
      <p:ext uri="{BB962C8B-B14F-4D97-AF65-F5344CB8AC3E}">
        <p14:creationId xmlns:p14="http://schemas.microsoft.com/office/powerpoint/2010/main" val="6432491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Generating Spiffy Library</a:t>
            </a:r>
            <a:endParaRPr lang="en-CA" dirty="0"/>
          </a:p>
        </p:txBody>
      </p:sp>
      <p:sp>
        <p:nvSpPr>
          <p:cNvPr id="10" name="Content Placeholder 6"/>
          <p:cNvSpPr txBox="1">
            <a:spLocks noGrp="1"/>
          </p:cNvSpPr>
          <p:nvPr>
            <p:ph idx="1"/>
          </p:nvPr>
        </p:nvSpPr>
        <p:spPr>
          <a:xfrm>
            <a:off x="684211" y="1515358"/>
            <a:ext cx="10285797" cy="1546819"/>
          </a:xfrm>
        </p:spPr>
        <p:txBody>
          <a:bodyPr>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r>
              <a:rPr lang="en-CA" dirty="0" smtClean="0"/>
              <a:t>C</a:t>
            </a:r>
            <a:r>
              <a:rPr lang="en-CA" dirty="0"/>
              <a:t>++ classes </a:t>
            </a:r>
            <a:r>
              <a:rPr lang="en-CA" dirty="0" smtClean="0"/>
              <a:t>are generated </a:t>
            </a:r>
            <a:r>
              <a:rPr lang="en-CA" dirty="0"/>
              <a:t>for all annotated structures </a:t>
            </a:r>
            <a:r>
              <a:rPr lang="en-CA" dirty="0" smtClean="0"/>
              <a:t/>
            </a:r>
            <a:br>
              <a:rPr lang="en-CA" dirty="0" smtClean="0"/>
            </a:br>
            <a:r>
              <a:rPr lang="en-CA" dirty="0" smtClean="0"/>
              <a:t>and </a:t>
            </a:r>
            <a:r>
              <a:rPr lang="en-CA" dirty="0"/>
              <a:t>their fields</a:t>
            </a:r>
          </a:p>
          <a:p>
            <a:pPr lvl="1"/>
            <a:r>
              <a:rPr lang="en-CA" dirty="0"/>
              <a:t>Enables type-safe parsing and serialization</a:t>
            </a:r>
          </a:p>
          <a:p>
            <a:pPr lvl="1"/>
            <a:r>
              <a:rPr lang="en-CA" dirty="0"/>
              <a:t>Allows introspection of type, size, name, and </a:t>
            </a:r>
            <a:r>
              <a:rPr lang="en-CA" dirty="0" smtClean="0"/>
              <a:t>parent</a:t>
            </a:r>
          </a:p>
          <a:p>
            <a:endParaRPr lang="en-CA" dirty="0" smtClean="0"/>
          </a:p>
          <a:p>
            <a:endParaRPr lang="en-CA" dirty="0" smtClean="0"/>
          </a:p>
          <a:p>
            <a:endParaRPr lang="en-CA" dirty="0"/>
          </a:p>
          <a:p>
            <a:endParaRPr lang="en-CA" dirty="0" smtClean="0"/>
          </a:p>
          <a:p>
            <a:endParaRPr lang="en-CA" dirty="0" smtClean="0"/>
          </a:p>
        </p:txBody>
      </p:sp>
      <p:sp>
        <p:nvSpPr>
          <p:cNvPr id="2" name="Slide Number Placeholder 1"/>
          <p:cNvSpPr>
            <a:spLocks noGrp="1"/>
          </p:cNvSpPr>
          <p:nvPr>
            <p:ph type="sldNum" sz="quarter" idx="12"/>
          </p:nvPr>
        </p:nvSpPr>
        <p:spPr/>
        <p:txBody>
          <a:bodyPr/>
          <a:lstStyle/>
          <a:p>
            <a:fld id="{7B2023C8-B124-43A9-8F92-0EEF5BAA9995}" type="slidenum">
              <a:rPr lang="en-CA" smtClean="0"/>
              <a:pPr/>
              <a:t>21</a:t>
            </a:fld>
            <a:endParaRPr lang="en-CA"/>
          </a:p>
        </p:txBody>
      </p:sp>
      <p:sp>
        <p:nvSpPr>
          <p:cNvPr id="11" name="Content Placeholder 8"/>
          <p:cNvSpPr txBox="1">
            <a:spLocks/>
          </p:cNvSpPr>
          <p:nvPr/>
        </p:nvSpPr>
        <p:spPr>
          <a:xfrm>
            <a:off x="684211" y="4174943"/>
            <a:ext cx="10604500" cy="2534467"/>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Font typeface="Wingdings 3" panose="05040102010807070707" pitchFamily="18" charset="2"/>
              <a:buNone/>
            </a:pPr>
            <a:r>
              <a:rPr lang="en-CA" sz="2000" dirty="0" err="1" smtClean="0">
                <a:latin typeface="Courier New" panose="02070309020205020404" pitchFamily="49" charset="0"/>
                <a:cs typeface="Courier New" panose="02070309020205020404" pitchFamily="49" charset="0"/>
              </a:rPr>
              <a:t>int</a:t>
            </a:r>
            <a:r>
              <a:rPr lang="en-CA" sz="2000" dirty="0" smtClean="0">
                <a:latin typeface="Courier New" panose="02070309020205020404" pitchFamily="49" charset="0"/>
                <a:cs typeface="Courier New" panose="02070309020205020404" pitchFamily="49" charset="0"/>
              </a:rPr>
              <a:t> Ext4SuperBlock::parse(</a:t>
            </a:r>
            <a:r>
              <a:rPr lang="en-CA" sz="2000" dirty="0" err="1" smtClean="0">
                <a:latin typeface="Courier New" panose="02070309020205020404" pitchFamily="49" charset="0"/>
                <a:cs typeface="Courier New" panose="02070309020205020404" pitchFamily="49" charset="0"/>
              </a:rPr>
              <a:t>const</a:t>
            </a:r>
            <a:r>
              <a:rPr lang="en-CA" sz="2000" dirty="0" smtClean="0">
                <a:latin typeface="Courier New" panose="02070309020205020404" pitchFamily="49" charset="0"/>
                <a:cs typeface="Courier New" panose="02070309020205020404" pitchFamily="49" charset="0"/>
              </a:rPr>
              <a:t> char * &amp; </a:t>
            </a:r>
            <a:r>
              <a:rPr lang="en-CA" sz="2000" dirty="0" err="1" smtClean="0">
                <a:latin typeface="Courier New" panose="02070309020205020404" pitchFamily="49" charset="0"/>
                <a:cs typeface="Courier New" panose="02070309020205020404" pitchFamily="49" charset="0"/>
              </a:rPr>
              <a:t>buf</a:t>
            </a:r>
            <a:r>
              <a:rPr lang="en-CA" sz="2000" dirty="0" smtClean="0">
                <a:latin typeface="Courier New" panose="02070309020205020404" pitchFamily="49" charset="0"/>
                <a:cs typeface="Courier New" panose="02070309020205020404" pitchFamily="49" charset="0"/>
              </a:rPr>
              <a:t>, unsigned &amp; </a:t>
            </a:r>
            <a:r>
              <a:rPr lang="en-CA" sz="2000" dirty="0" err="1" smtClean="0">
                <a:latin typeface="Courier New" panose="02070309020205020404" pitchFamily="49" charset="0"/>
                <a:cs typeface="Courier New" panose="02070309020205020404" pitchFamily="49" charset="0"/>
              </a:rPr>
              <a:t>len</a:t>
            </a:r>
            <a:r>
              <a:rPr lang="en-CA" sz="2000" dirty="0" smtClean="0">
                <a:latin typeface="Courier New" panose="02070309020205020404" pitchFamily="49" charset="0"/>
                <a:cs typeface="Courier New" panose="02070309020205020404" pitchFamily="49" charset="0"/>
              </a:rPr>
              <a:t>) {</a:t>
            </a:r>
          </a:p>
          <a:p>
            <a:pPr marL="0" indent="0">
              <a:spcBef>
                <a:spcPts val="0"/>
              </a:spcBef>
              <a:spcAft>
                <a:spcPts val="0"/>
              </a:spcAft>
              <a:buFont typeface="Wingdings 3" panose="05040102010807070707" pitchFamily="18" charset="2"/>
              <a:buNone/>
            </a:pPr>
            <a:r>
              <a:rPr lang="en-CA" sz="2000" dirty="0" smtClean="0">
                <a:latin typeface="Courier New" panose="02070309020205020404" pitchFamily="49" charset="0"/>
                <a:cs typeface="Courier New" panose="02070309020205020404" pitchFamily="49" charset="0"/>
              </a:rPr>
              <a:t>  </a:t>
            </a:r>
            <a:r>
              <a:rPr lang="en-CA" sz="2000" dirty="0" err="1" smtClean="0">
                <a:latin typeface="Courier New" panose="02070309020205020404" pitchFamily="49" charset="0"/>
                <a:cs typeface="Courier New" panose="02070309020205020404" pitchFamily="49" charset="0"/>
              </a:rPr>
              <a:t>int</a:t>
            </a:r>
            <a:r>
              <a:rPr lang="en-CA" sz="2000" dirty="0" smtClean="0">
                <a:latin typeface="Courier New" panose="02070309020205020404" pitchFamily="49" charset="0"/>
                <a:cs typeface="Courier New" panose="02070309020205020404" pitchFamily="49" charset="0"/>
              </a:rPr>
              <a:t> ret; </a:t>
            </a:r>
          </a:p>
          <a:p>
            <a:pPr marL="0" indent="0">
              <a:spcBef>
                <a:spcPts val="0"/>
              </a:spcBef>
              <a:spcAft>
                <a:spcPts val="0"/>
              </a:spcAft>
              <a:buFont typeface="Wingdings 3" panose="05040102010807070707" pitchFamily="18" charset="2"/>
              <a:buNone/>
            </a:pPr>
            <a:r>
              <a:rPr lang="en-CA" sz="2000" dirty="0" smtClean="0">
                <a:latin typeface="Courier New" panose="02070309020205020404" pitchFamily="49" charset="0"/>
                <a:cs typeface="Courier New" panose="02070309020205020404" pitchFamily="49" charset="0"/>
              </a:rPr>
              <a:t>  if ((ret = </a:t>
            </a:r>
            <a:r>
              <a:rPr lang="en-CA" sz="2000" dirty="0" err="1" smtClean="0">
                <a:latin typeface="Courier New" panose="02070309020205020404" pitchFamily="49" charset="0"/>
                <a:cs typeface="Courier New" panose="02070309020205020404" pitchFamily="49" charset="0"/>
              </a:rPr>
              <a:t>s_log_block_size.parse</a:t>
            </a:r>
            <a:r>
              <a:rPr lang="en-CA" sz="2000" dirty="0" smtClean="0">
                <a:latin typeface="Courier New" panose="02070309020205020404" pitchFamily="49" charset="0"/>
                <a:cs typeface="Courier New" panose="02070309020205020404" pitchFamily="49" charset="0"/>
              </a:rPr>
              <a:t>(</a:t>
            </a:r>
            <a:r>
              <a:rPr lang="en-CA" sz="2000" dirty="0" err="1" smtClean="0">
                <a:latin typeface="Courier New" panose="02070309020205020404" pitchFamily="49" charset="0"/>
                <a:cs typeface="Courier New" panose="02070309020205020404" pitchFamily="49" charset="0"/>
              </a:rPr>
              <a:t>buf</a:t>
            </a:r>
            <a:r>
              <a:rPr lang="en-CA" sz="2000" dirty="0" smtClean="0">
                <a:latin typeface="Courier New" panose="02070309020205020404" pitchFamily="49" charset="0"/>
                <a:cs typeface="Courier New" panose="02070309020205020404" pitchFamily="49" charset="0"/>
              </a:rPr>
              <a:t>, </a:t>
            </a:r>
            <a:r>
              <a:rPr lang="en-CA" sz="2000" dirty="0" err="1" smtClean="0">
                <a:latin typeface="Courier New" panose="02070309020205020404" pitchFamily="49" charset="0"/>
                <a:cs typeface="Courier New" panose="02070309020205020404" pitchFamily="49" charset="0"/>
              </a:rPr>
              <a:t>len</a:t>
            </a:r>
            <a:r>
              <a:rPr lang="en-CA" sz="2000" dirty="0" smtClean="0">
                <a:latin typeface="Courier New" panose="02070309020205020404" pitchFamily="49" charset="0"/>
                <a:cs typeface="Courier New" panose="02070309020205020404" pitchFamily="49" charset="0"/>
              </a:rPr>
              <a:t>)) &lt; 0) return ret;</a:t>
            </a:r>
          </a:p>
          <a:p>
            <a:pPr marL="0" indent="0">
              <a:spcBef>
                <a:spcPts val="0"/>
              </a:spcBef>
              <a:spcAft>
                <a:spcPts val="0"/>
              </a:spcAft>
              <a:buFont typeface="Wingdings 3" panose="05040102010807070707" pitchFamily="18" charset="2"/>
              <a:buNone/>
            </a:pPr>
            <a:r>
              <a:rPr lang="en-CA" sz="2000" dirty="0" smtClean="0">
                <a:latin typeface="Courier New" panose="02070309020205020404" pitchFamily="49" charset="0"/>
                <a:cs typeface="Courier New" panose="02070309020205020404" pitchFamily="49" charset="0"/>
              </a:rPr>
              <a:t>  …</a:t>
            </a:r>
          </a:p>
          <a:p>
            <a:pPr marL="0" indent="0">
              <a:spcBef>
                <a:spcPts val="0"/>
              </a:spcBef>
              <a:spcAft>
                <a:spcPts val="0"/>
              </a:spcAft>
              <a:buFont typeface="Wingdings 3" panose="05040102010807070707" pitchFamily="18" charset="2"/>
              <a:buNone/>
            </a:pPr>
            <a:r>
              <a:rPr lang="en-CA" sz="2000" dirty="0" smtClean="0">
                <a:effectLst/>
                <a:latin typeface="Courier New" panose="02070309020205020404" pitchFamily="49" charset="0"/>
                <a:cs typeface="Courier New" panose="02070309020205020404" pitchFamily="49" charset="0"/>
              </a:rPr>
              <a:t>  if (!(</a:t>
            </a:r>
            <a:r>
              <a:rPr lang="en-CA" sz="2000" dirty="0" err="1" smtClean="0">
                <a:effectLst/>
                <a:latin typeface="Courier New" panose="02070309020205020404" pitchFamily="49" charset="0"/>
                <a:cs typeface="Courier New" panose="02070309020205020404" pitchFamily="49" charset="0"/>
              </a:rPr>
              <a:t>s_log_block_size</a:t>
            </a:r>
            <a:r>
              <a:rPr lang="en-CA" sz="2000" dirty="0" smtClean="0">
                <a:effectLst/>
                <a:latin typeface="Courier New" panose="02070309020205020404" pitchFamily="49" charset="0"/>
                <a:cs typeface="Courier New" panose="02070309020205020404" pitchFamily="49" charset="0"/>
              </a:rPr>
              <a:t> &lt;= 6)) return ERR_CORRUPT;</a:t>
            </a:r>
          </a:p>
          <a:p>
            <a:pPr marL="0" indent="0">
              <a:spcBef>
                <a:spcPts val="0"/>
              </a:spcBef>
              <a:spcAft>
                <a:spcPts val="0"/>
              </a:spcAft>
              <a:buFont typeface="Wingdings 3" panose="05040102010807070707" pitchFamily="18" charset="2"/>
              <a:buNone/>
            </a:pPr>
            <a:r>
              <a:rPr lang="en-CA" sz="2000" dirty="0" smtClean="0">
                <a:effectLst/>
                <a:latin typeface="Courier New" panose="02070309020205020404" pitchFamily="49" charset="0"/>
                <a:cs typeface="Courier New" panose="02070309020205020404" pitchFamily="49" charset="0"/>
              </a:rPr>
              <a:t>  if (!(</a:t>
            </a:r>
            <a:r>
              <a:rPr lang="en-CA" sz="2000" dirty="0" err="1" smtClean="0">
                <a:effectLst/>
                <a:latin typeface="Courier New" panose="02070309020205020404" pitchFamily="49" charset="0"/>
                <a:cs typeface="Courier New" panose="02070309020205020404" pitchFamily="49" charset="0"/>
              </a:rPr>
              <a:t>s_magic</a:t>
            </a:r>
            <a:r>
              <a:rPr lang="en-CA" sz="2000" dirty="0" smtClean="0">
                <a:effectLst/>
                <a:latin typeface="Courier New" panose="02070309020205020404" pitchFamily="49" charset="0"/>
                <a:cs typeface="Courier New" panose="02070309020205020404" pitchFamily="49" charset="0"/>
              </a:rPr>
              <a:t> == 0xef53)) return ERR_CORRUPT;</a:t>
            </a:r>
          </a:p>
          <a:p>
            <a:pPr marL="0" indent="0">
              <a:spcBef>
                <a:spcPts val="0"/>
              </a:spcBef>
              <a:spcAft>
                <a:spcPts val="0"/>
              </a:spcAft>
              <a:buFont typeface="Wingdings 3" panose="05040102010807070707" pitchFamily="18" charset="2"/>
              <a:buNone/>
            </a:pPr>
            <a:r>
              <a:rPr lang="en-CA" sz="2000" dirty="0" smtClean="0">
                <a:latin typeface="Courier New" panose="02070309020205020404" pitchFamily="49" charset="0"/>
                <a:cs typeface="Courier New" panose="02070309020205020404" pitchFamily="49" charset="0"/>
              </a:rPr>
              <a:t>  return 0;</a:t>
            </a:r>
          </a:p>
          <a:p>
            <a:pPr marL="0" indent="0">
              <a:spcBef>
                <a:spcPts val="0"/>
              </a:spcBef>
              <a:spcAft>
                <a:spcPts val="0"/>
              </a:spcAft>
              <a:buFont typeface="Wingdings 3" panose="05040102010807070707" pitchFamily="18" charset="2"/>
              <a:buNone/>
            </a:pPr>
            <a:r>
              <a:rPr lang="en-CA" sz="2000" dirty="0" smtClean="0">
                <a:latin typeface="Courier New" panose="02070309020205020404" pitchFamily="49" charset="0"/>
                <a:cs typeface="Courier New" panose="02070309020205020404" pitchFamily="49" charset="0"/>
              </a:rPr>
              <a:t>}</a:t>
            </a:r>
          </a:p>
        </p:txBody>
      </p:sp>
      <p:sp>
        <p:nvSpPr>
          <p:cNvPr id="12" name="Content Placeholder 6"/>
          <p:cNvSpPr txBox="1">
            <a:spLocks/>
          </p:cNvSpPr>
          <p:nvPr/>
        </p:nvSpPr>
        <p:spPr>
          <a:xfrm>
            <a:off x="684211" y="3603625"/>
            <a:ext cx="10285413" cy="51752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r>
              <a:rPr lang="en-CA" dirty="0" smtClean="0"/>
              <a:t>Generated Code for ext4_super_block</a:t>
            </a:r>
          </a:p>
          <a:p>
            <a:pPr marL="0" indent="0">
              <a:buFont typeface="Wingdings 3" panose="05040102010807070707" pitchFamily="18" charset="2"/>
              <a:buNone/>
            </a:pPr>
            <a:endParaRPr lang="en-CA" sz="1800" dirty="0" smtClean="0"/>
          </a:p>
          <a:p>
            <a:endParaRPr lang="en-CA" dirty="0" smtClean="0"/>
          </a:p>
        </p:txBody>
      </p:sp>
    </p:spTree>
    <p:extLst>
      <p:ext uri="{BB962C8B-B14F-4D97-AF65-F5344CB8AC3E}">
        <p14:creationId xmlns:p14="http://schemas.microsoft.com/office/powerpoint/2010/main" val="24505667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Evaluation: Annotation Effort</a:t>
            </a:r>
            <a:endParaRPr lang="en-CA" dirty="0"/>
          </a:p>
        </p:txBody>
      </p:sp>
      <p:sp>
        <p:nvSpPr>
          <p:cNvPr id="3" name="Content Placeholder 2"/>
          <p:cNvSpPr>
            <a:spLocks noGrp="1"/>
          </p:cNvSpPr>
          <p:nvPr>
            <p:ph idx="1"/>
          </p:nvPr>
        </p:nvSpPr>
        <p:spPr/>
        <p:txBody>
          <a:bodyPr/>
          <a:lstStyle/>
          <a:p>
            <a:endParaRPr lang="en-CA" dirty="0" smtClean="0"/>
          </a:p>
          <a:p>
            <a:endParaRPr lang="en-CA" dirty="0"/>
          </a:p>
          <a:p>
            <a:endParaRPr lang="en-CA" dirty="0" smtClean="0"/>
          </a:p>
          <a:p>
            <a:endParaRPr lang="en-CA" dirty="0"/>
          </a:p>
          <a:p>
            <a:r>
              <a:rPr lang="en-CA" dirty="0" smtClean="0"/>
              <a:t>Lines of code required to correctly annotate modern file systems</a:t>
            </a:r>
          </a:p>
          <a:p>
            <a:pPr lvl="1"/>
            <a:r>
              <a:rPr lang="en-CA" dirty="0" smtClean="0"/>
              <a:t>Need to declare some structures</a:t>
            </a:r>
          </a:p>
          <a:p>
            <a:pPr lvl="2"/>
            <a:r>
              <a:rPr lang="en-CA" dirty="0" smtClean="0"/>
              <a:t>E.g. Ext4 indirect block is assumed to be an array of 4-byte pointers</a:t>
            </a:r>
          </a:p>
          <a:p>
            <a:pPr lvl="1"/>
            <a:r>
              <a:rPr lang="en-CA" dirty="0" smtClean="0"/>
              <a:t>Changed some structures for clarity</a:t>
            </a:r>
          </a:p>
          <a:p>
            <a:pPr lvl="2"/>
            <a:r>
              <a:rPr lang="en-CA" dirty="0" smtClean="0"/>
              <a:t>E.g. block pointers in Ext4 </a:t>
            </a:r>
            <a:r>
              <a:rPr lang="en-CA" dirty="0" err="1" smtClean="0"/>
              <a:t>inode</a:t>
            </a:r>
            <a:r>
              <a:rPr lang="en-CA" dirty="0" smtClean="0"/>
              <a:t> is an array of 15 pointers, the first 12 are direct block pointers, while the last 3 are indirect pointers of different types</a:t>
            </a:r>
          </a:p>
          <a:p>
            <a:pPr lvl="2"/>
            <a:endParaRPr lang="en-CA" dirty="0" smtClean="0"/>
          </a:p>
        </p:txBody>
      </p:sp>
      <p:sp>
        <p:nvSpPr>
          <p:cNvPr id="6" name="Slide Number Placeholder 5"/>
          <p:cNvSpPr>
            <a:spLocks noGrp="1"/>
          </p:cNvSpPr>
          <p:nvPr>
            <p:ph type="sldNum" sz="quarter" idx="12"/>
          </p:nvPr>
        </p:nvSpPr>
        <p:spPr/>
        <p:txBody>
          <a:bodyPr/>
          <a:lstStyle/>
          <a:p>
            <a:fld id="{7B2023C8-B124-43A9-8F92-0EEF5BAA9995}" type="slidenum">
              <a:rPr lang="en-CA" smtClean="0"/>
              <a:pPr/>
              <a:t>22</a:t>
            </a:fld>
            <a:endParaRPr lang="en-CA" dirty="0"/>
          </a:p>
        </p:txBody>
      </p:sp>
      <p:graphicFrame>
        <p:nvGraphicFramePr>
          <p:cNvPr id="5" name="Table 4"/>
          <p:cNvGraphicFramePr>
            <a:graphicFrameLocks noGrp="1"/>
          </p:cNvGraphicFramePr>
          <p:nvPr>
            <p:extLst>
              <p:ext uri="{D42A27DB-BD31-4B8C-83A1-F6EECF244321}">
                <p14:modId xmlns:p14="http://schemas.microsoft.com/office/powerpoint/2010/main" val="4041947549"/>
              </p:ext>
            </p:extLst>
          </p:nvPr>
        </p:nvGraphicFramePr>
        <p:xfrm>
          <a:off x="2024016" y="1507237"/>
          <a:ext cx="6359598" cy="1706880"/>
        </p:xfrm>
        <a:graphic>
          <a:graphicData uri="http://schemas.openxmlformats.org/drawingml/2006/table">
            <a:tbl>
              <a:tblPr firstRow="1" bandRow="1">
                <a:tableStyleId>{69012ECD-51FC-41F1-AA8D-1B2483CD663E}</a:tableStyleId>
              </a:tblPr>
              <a:tblGrid>
                <a:gridCol w="2119866">
                  <a:extLst>
                    <a:ext uri="{9D8B030D-6E8A-4147-A177-3AD203B41FA5}">
                      <a16:colId xmlns:a16="http://schemas.microsoft.com/office/drawing/2014/main" xmlns="" val="20000"/>
                    </a:ext>
                  </a:extLst>
                </a:gridCol>
                <a:gridCol w="2119866">
                  <a:extLst>
                    <a:ext uri="{9D8B030D-6E8A-4147-A177-3AD203B41FA5}">
                      <a16:colId xmlns:a16="http://schemas.microsoft.com/office/drawing/2014/main" xmlns="" val="20001"/>
                    </a:ext>
                  </a:extLst>
                </a:gridCol>
                <a:gridCol w="2119866">
                  <a:extLst>
                    <a:ext uri="{9D8B030D-6E8A-4147-A177-3AD203B41FA5}">
                      <a16:colId xmlns:a16="http://schemas.microsoft.com/office/drawing/2014/main" xmlns="" val="20002"/>
                    </a:ext>
                  </a:extLst>
                </a:gridCol>
              </a:tblGrid>
              <a:tr h="370840">
                <a:tc>
                  <a:txBody>
                    <a:bodyPr/>
                    <a:lstStyle/>
                    <a:p>
                      <a:r>
                        <a:rPr lang="en-CA" sz="2200" dirty="0" smtClean="0">
                          <a:solidFill>
                            <a:schemeClr val="tx1"/>
                          </a:solidFill>
                        </a:rPr>
                        <a:t>File System</a:t>
                      </a:r>
                      <a:endParaRPr lang="en-CA" sz="2200" dirty="0">
                        <a:solidFill>
                          <a:schemeClr val="tx1"/>
                        </a:solidFill>
                      </a:endParaRPr>
                    </a:p>
                  </a:txBody>
                  <a:tcPr/>
                </a:tc>
                <a:tc>
                  <a:txBody>
                    <a:bodyPr/>
                    <a:lstStyle/>
                    <a:p>
                      <a:r>
                        <a:rPr lang="en-CA" sz="2200" dirty="0" smtClean="0">
                          <a:solidFill>
                            <a:schemeClr val="tx1"/>
                          </a:solidFill>
                        </a:rPr>
                        <a:t>Line Count</a:t>
                      </a:r>
                      <a:endParaRPr lang="en-CA" sz="2200" dirty="0">
                        <a:solidFill>
                          <a:schemeClr val="tx1"/>
                        </a:solidFill>
                      </a:endParaRPr>
                    </a:p>
                  </a:txBody>
                  <a:tcPr/>
                </a:tc>
                <a:tc>
                  <a:txBody>
                    <a:bodyPr/>
                    <a:lstStyle/>
                    <a:p>
                      <a:r>
                        <a:rPr lang="en-CA" sz="2200" dirty="0" smtClean="0">
                          <a:solidFill>
                            <a:schemeClr val="tx1"/>
                          </a:solidFill>
                        </a:rPr>
                        <a:t>Annotated</a:t>
                      </a:r>
                      <a:endParaRPr lang="en-CA" sz="2200" dirty="0">
                        <a:solidFill>
                          <a:schemeClr val="tx1"/>
                        </a:solidFill>
                      </a:endParaRPr>
                    </a:p>
                  </a:txBody>
                  <a:tcPr/>
                </a:tc>
                <a:extLst>
                  <a:ext uri="{0D108BD9-81ED-4DB2-BD59-A6C34878D82A}">
                    <a16:rowId xmlns:a16="http://schemas.microsoft.com/office/drawing/2014/main" xmlns="" val="10000"/>
                  </a:ext>
                </a:extLst>
              </a:tr>
              <a:tr h="370840">
                <a:tc>
                  <a:txBody>
                    <a:bodyPr/>
                    <a:lstStyle/>
                    <a:p>
                      <a:r>
                        <a:rPr lang="en-CA" sz="2200" dirty="0" smtClean="0">
                          <a:solidFill>
                            <a:schemeClr val="bg1"/>
                          </a:solidFill>
                        </a:rPr>
                        <a:t>Ext4</a:t>
                      </a:r>
                      <a:endParaRPr lang="en-CA" sz="2200" dirty="0">
                        <a:solidFill>
                          <a:schemeClr val="bg1"/>
                        </a:solidFill>
                      </a:endParaRPr>
                    </a:p>
                  </a:txBody>
                  <a:tcPr/>
                </a:tc>
                <a:tc>
                  <a:txBody>
                    <a:bodyPr/>
                    <a:lstStyle/>
                    <a:p>
                      <a:r>
                        <a:rPr lang="en-CA" sz="2200" dirty="0" smtClean="0">
                          <a:solidFill>
                            <a:schemeClr val="bg1"/>
                          </a:solidFill>
                        </a:rPr>
                        <a:t>491</a:t>
                      </a:r>
                      <a:endParaRPr lang="en-CA" sz="2200" dirty="0">
                        <a:solidFill>
                          <a:schemeClr val="bg1"/>
                        </a:solidFill>
                      </a:endParaRPr>
                    </a:p>
                  </a:txBody>
                  <a:tcPr/>
                </a:tc>
                <a:tc>
                  <a:txBody>
                    <a:bodyPr/>
                    <a:lstStyle/>
                    <a:p>
                      <a:r>
                        <a:rPr lang="en-CA" sz="2200" dirty="0" smtClean="0">
                          <a:solidFill>
                            <a:schemeClr val="bg1"/>
                          </a:solidFill>
                        </a:rPr>
                        <a:t>113</a:t>
                      </a:r>
                      <a:endParaRPr lang="en-CA" sz="2200" dirty="0">
                        <a:solidFill>
                          <a:schemeClr val="bg1"/>
                        </a:solidFill>
                      </a:endParaRPr>
                    </a:p>
                  </a:txBody>
                  <a:tcPr/>
                </a:tc>
                <a:extLst>
                  <a:ext uri="{0D108BD9-81ED-4DB2-BD59-A6C34878D82A}">
                    <a16:rowId xmlns:a16="http://schemas.microsoft.com/office/drawing/2014/main" xmlns="" val="10001"/>
                  </a:ext>
                </a:extLst>
              </a:tr>
              <a:tr h="370840">
                <a:tc>
                  <a:txBody>
                    <a:bodyPr/>
                    <a:lstStyle/>
                    <a:p>
                      <a:r>
                        <a:rPr lang="en-CA" sz="2200" dirty="0" err="1" smtClean="0">
                          <a:solidFill>
                            <a:schemeClr val="bg1"/>
                          </a:solidFill>
                        </a:rPr>
                        <a:t>Btrfs</a:t>
                      </a:r>
                      <a:endParaRPr lang="en-CA" sz="2200" dirty="0">
                        <a:solidFill>
                          <a:schemeClr val="bg1"/>
                        </a:solidFill>
                      </a:endParaRPr>
                    </a:p>
                  </a:txBody>
                  <a:tcPr/>
                </a:tc>
                <a:tc>
                  <a:txBody>
                    <a:bodyPr/>
                    <a:lstStyle/>
                    <a:p>
                      <a:r>
                        <a:rPr lang="en-CA" sz="2200" dirty="0" smtClean="0">
                          <a:solidFill>
                            <a:schemeClr val="bg1"/>
                          </a:solidFill>
                        </a:rPr>
                        <a:t>556</a:t>
                      </a:r>
                      <a:endParaRPr lang="en-CA" sz="2200" dirty="0">
                        <a:solidFill>
                          <a:schemeClr val="bg1"/>
                        </a:solidFill>
                      </a:endParaRPr>
                    </a:p>
                  </a:txBody>
                  <a:tcPr/>
                </a:tc>
                <a:tc>
                  <a:txBody>
                    <a:bodyPr/>
                    <a:lstStyle/>
                    <a:p>
                      <a:r>
                        <a:rPr lang="en-CA" sz="2200" dirty="0" smtClean="0">
                          <a:solidFill>
                            <a:schemeClr val="bg1"/>
                          </a:solidFill>
                        </a:rPr>
                        <a:t>151</a:t>
                      </a:r>
                      <a:endParaRPr lang="en-CA" sz="2200" dirty="0">
                        <a:solidFill>
                          <a:schemeClr val="bg1"/>
                        </a:solidFill>
                      </a:endParaRPr>
                    </a:p>
                  </a:txBody>
                  <a:tcPr/>
                </a:tc>
                <a:extLst>
                  <a:ext uri="{0D108BD9-81ED-4DB2-BD59-A6C34878D82A}">
                    <a16:rowId xmlns:a16="http://schemas.microsoft.com/office/drawing/2014/main" xmlns="" val="10002"/>
                  </a:ext>
                </a:extLst>
              </a:tr>
              <a:tr h="370840">
                <a:tc>
                  <a:txBody>
                    <a:bodyPr/>
                    <a:lstStyle/>
                    <a:p>
                      <a:r>
                        <a:rPr lang="en-CA" sz="2200" dirty="0" smtClean="0">
                          <a:solidFill>
                            <a:schemeClr val="bg1"/>
                          </a:solidFill>
                        </a:rPr>
                        <a:t>F2FS</a:t>
                      </a:r>
                      <a:endParaRPr lang="en-CA" sz="2200" dirty="0">
                        <a:solidFill>
                          <a:schemeClr val="bg1"/>
                        </a:solidFill>
                      </a:endParaRPr>
                    </a:p>
                  </a:txBody>
                  <a:tcPr/>
                </a:tc>
                <a:tc>
                  <a:txBody>
                    <a:bodyPr/>
                    <a:lstStyle/>
                    <a:p>
                      <a:r>
                        <a:rPr lang="en-CA" sz="2200" dirty="0" smtClean="0">
                          <a:solidFill>
                            <a:schemeClr val="bg1"/>
                          </a:solidFill>
                        </a:rPr>
                        <a:t>462</a:t>
                      </a:r>
                      <a:endParaRPr lang="en-CA" sz="2200" dirty="0">
                        <a:solidFill>
                          <a:schemeClr val="bg1"/>
                        </a:solidFill>
                      </a:endParaRPr>
                    </a:p>
                  </a:txBody>
                  <a:tcPr/>
                </a:tc>
                <a:tc>
                  <a:txBody>
                    <a:bodyPr/>
                    <a:lstStyle/>
                    <a:p>
                      <a:r>
                        <a:rPr lang="en-CA" sz="2200" dirty="0" smtClean="0">
                          <a:solidFill>
                            <a:schemeClr val="bg1"/>
                          </a:solidFill>
                        </a:rPr>
                        <a:t>127</a:t>
                      </a:r>
                      <a:endParaRPr lang="en-CA" sz="2200" dirty="0">
                        <a:solidFill>
                          <a:schemeClr val="bg1"/>
                        </a:solidFill>
                      </a:endParaRPr>
                    </a:p>
                  </a:txBody>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34994933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Building Applications</a:t>
            </a:r>
            <a:endParaRPr lang="en-CA" dirty="0"/>
          </a:p>
        </p:txBody>
      </p:sp>
      <p:sp>
        <p:nvSpPr>
          <p:cNvPr id="3" name="Content Placeholder 2"/>
          <p:cNvSpPr>
            <a:spLocks noGrp="1"/>
          </p:cNvSpPr>
          <p:nvPr>
            <p:ph idx="1"/>
          </p:nvPr>
        </p:nvSpPr>
        <p:spPr/>
        <p:txBody>
          <a:bodyPr/>
          <a:lstStyle/>
          <a:p>
            <a:r>
              <a:rPr lang="en-CA" smtClean="0"/>
              <a:t>Example: File System Free Space Tool</a:t>
            </a:r>
          </a:p>
          <a:p>
            <a:pPr lvl="1"/>
            <a:r>
              <a:rPr lang="en-CA" smtClean="0"/>
              <a:t>Plots histogram of size of free extents</a:t>
            </a:r>
          </a:p>
          <a:p>
            <a:pPr lvl="1"/>
            <a:r>
              <a:rPr lang="en-CA" smtClean="0"/>
              <a:t>Application requires knowledge of how file system tracks block allocation</a:t>
            </a:r>
          </a:p>
          <a:p>
            <a:r>
              <a:rPr lang="en-CA" smtClean="0"/>
              <a:t>Manually</a:t>
            </a:r>
          </a:p>
          <a:p>
            <a:pPr lvl="1"/>
            <a:r>
              <a:rPr lang="en-CA" smtClean="0"/>
              <a:t>Write code to traverse file system and access relevant metadata</a:t>
            </a:r>
          </a:p>
          <a:p>
            <a:pPr lvl="2"/>
            <a:r>
              <a:rPr lang="en-CA" smtClean="0"/>
              <a:t>Often through trial-and-error</a:t>
            </a:r>
          </a:p>
          <a:p>
            <a:pPr lvl="1"/>
            <a:r>
              <a:rPr lang="en-CA" smtClean="0"/>
              <a:t>Write code to process relevant metadata</a:t>
            </a:r>
          </a:p>
          <a:p>
            <a:r>
              <a:rPr lang="en-CA" smtClean="0"/>
              <a:t>Spiffy framework</a:t>
            </a:r>
          </a:p>
          <a:p>
            <a:pPr lvl="1"/>
            <a:r>
              <a:rPr lang="en-CA" smtClean="0"/>
              <a:t>Simplifies the traversal and helps make it more robust</a:t>
            </a:r>
          </a:p>
          <a:p>
            <a:pPr lvl="1"/>
            <a:r>
              <a:rPr lang="en-CA" smtClean="0"/>
              <a:t>Application program focuses on processing relevant metadata</a:t>
            </a:r>
          </a:p>
          <a:p>
            <a:pPr lvl="1"/>
            <a:endParaRPr lang="en-CA" dirty="0"/>
          </a:p>
        </p:txBody>
      </p:sp>
      <p:sp>
        <p:nvSpPr>
          <p:cNvPr id="6" name="Slide Number Placeholder 5"/>
          <p:cNvSpPr>
            <a:spLocks noGrp="1"/>
          </p:cNvSpPr>
          <p:nvPr>
            <p:ph type="sldNum" sz="quarter" idx="12"/>
          </p:nvPr>
        </p:nvSpPr>
        <p:spPr/>
        <p:txBody>
          <a:bodyPr/>
          <a:lstStyle/>
          <a:p>
            <a:fld id="{7B2023C8-B124-43A9-8F92-0EEF5BAA9995}" type="slidenum">
              <a:rPr lang="en-CA" smtClean="0"/>
              <a:pPr/>
              <a:t>23</a:t>
            </a:fld>
            <a:endParaRPr lang="en-CA" dirty="0"/>
          </a:p>
        </p:txBody>
      </p:sp>
    </p:spTree>
    <p:extLst>
      <p:ext uri="{BB962C8B-B14F-4D97-AF65-F5344CB8AC3E}">
        <p14:creationId xmlns:p14="http://schemas.microsoft.com/office/powerpoint/2010/main" val="33244906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6"/>
          <p:cNvSpPr txBox="1">
            <a:spLocks/>
          </p:cNvSpPr>
          <p:nvPr/>
        </p:nvSpPr>
        <p:spPr>
          <a:xfrm>
            <a:off x="684212" y="1507237"/>
            <a:ext cx="10285797" cy="4784102"/>
          </a:xfrm>
          <a:prstGeom prst="rect">
            <a:avLst/>
          </a:prstGeom>
          <a:noFill/>
          <a:ln>
            <a:noFill/>
          </a:ln>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lnSpc>
                <a:spcPts val="2000"/>
              </a:lnSpc>
              <a:spcBef>
                <a:spcPts val="0"/>
              </a:spcBef>
              <a:spcAft>
                <a:spcPts val="0"/>
              </a:spcAft>
              <a:buFont typeface="Wingdings 3" panose="05040102010807070707" pitchFamily="18" charset="2"/>
              <a:buNone/>
            </a:pPr>
            <a:r>
              <a:rPr lang="en-CA" sz="1800" dirty="0" err="1" smtClean="0">
                <a:solidFill>
                  <a:schemeClr val="accent6">
                    <a:lumMod val="75000"/>
                  </a:schemeClr>
                </a:solidFill>
                <a:latin typeface="Courier New" panose="02070309020205020404" pitchFamily="49" charset="0"/>
                <a:cs typeface="Courier New" panose="02070309020205020404" pitchFamily="49" charset="0"/>
              </a:rPr>
              <a:t>int</a:t>
            </a:r>
            <a:r>
              <a:rPr lang="en-CA" sz="1800" dirty="0" smtClean="0">
                <a:latin typeface="Courier New" panose="02070309020205020404" pitchFamily="49" charset="0"/>
                <a:cs typeface="Courier New" panose="02070309020205020404" pitchFamily="49" charset="0"/>
              </a:rPr>
              <a:t> </a:t>
            </a:r>
            <a:r>
              <a:rPr lang="en-CA" sz="1800" b="1" dirty="0" smtClean="0">
                <a:latin typeface="Courier New" panose="02070309020205020404" pitchFamily="49" charset="0"/>
                <a:cs typeface="Courier New" panose="02070309020205020404" pitchFamily="49" charset="0"/>
              </a:rPr>
              <a:t>process_ext4</a:t>
            </a:r>
            <a:r>
              <a:rPr lang="en-CA" sz="1800" dirty="0" smtClean="0">
                <a:latin typeface="Courier New" panose="02070309020205020404" pitchFamily="49" charset="0"/>
                <a:cs typeface="Courier New" panose="02070309020205020404" pitchFamily="49" charset="0"/>
              </a:rPr>
              <a:t>(vector&lt;Extent&gt; &amp; </a:t>
            </a:r>
            <a:r>
              <a:rPr lang="en-CA" sz="1800" dirty="0" err="1" smtClean="0">
                <a:latin typeface="Courier New" panose="02070309020205020404" pitchFamily="49" charset="0"/>
                <a:cs typeface="Courier New" panose="02070309020205020404" pitchFamily="49" charset="0"/>
              </a:rPr>
              <a:t>vec</a:t>
            </a:r>
            <a:r>
              <a:rPr lang="en-CA" sz="1800" dirty="0" smtClean="0">
                <a:latin typeface="Courier New" panose="02070309020205020404" pitchFamily="49" charset="0"/>
                <a:cs typeface="Courier New" panose="02070309020205020404" pitchFamily="49" charset="0"/>
              </a:rPr>
              <a:t>, Device &amp; dev) {</a:t>
            </a:r>
          </a:p>
          <a:p>
            <a:pPr marL="0" indent="0">
              <a:lnSpc>
                <a:spcPts val="2000"/>
              </a:lnSpc>
              <a:spcBef>
                <a:spcPts val="0"/>
              </a:spcBef>
              <a:spcAft>
                <a:spcPts val="0"/>
              </a:spcAft>
              <a:buFont typeface="Wingdings 3" panose="05040102010807070707" pitchFamily="18" charset="2"/>
              <a:buNone/>
            </a:pPr>
            <a:r>
              <a:rPr lang="en-CA" sz="1800" dirty="0" smtClean="0">
                <a:effectLst>
                  <a:glow rad="101600">
                    <a:srgbClr val="FFFF00">
                      <a:alpha val="40000"/>
                    </a:srgbClr>
                  </a:glow>
                </a:effectLst>
                <a:latin typeface="Courier New" panose="02070309020205020404" pitchFamily="49" charset="0"/>
                <a:cs typeface="Courier New" panose="02070309020205020404" pitchFamily="49" charset="0"/>
              </a:rPr>
              <a:t>  </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ext4 super block is 1024 bytes away from start */</a:t>
            </a:r>
          </a:p>
          <a:p>
            <a:pPr marL="0" indent="0">
              <a:lnSpc>
                <a:spcPts val="2000"/>
              </a:lnSpc>
              <a:spcBef>
                <a:spcPts val="0"/>
              </a:spcBef>
              <a:spcAft>
                <a:spcPts val="0"/>
              </a:spcAft>
              <a:buFont typeface="Wingdings 3" panose="05040102010807070707" pitchFamily="18" charset="2"/>
              <a:buNone/>
            </a:pP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struct</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ext4_super_block *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dev.read</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(1024, SB_SIZE);</a:t>
            </a:r>
          </a:p>
          <a:p>
            <a:pPr marL="0" indent="0">
              <a:lnSpc>
                <a:spcPts val="2000"/>
              </a:lnSpc>
              <a:spcBef>
                <a:spcPts val="0"/>
              </a:spcBef>
              <a:spcAft>
                <a:spcPts val="0"/>
              </a:spcAft>
              <a:buNone/>
            </a:pPr>
            <a:r>
              <a:rPr lang="en-CA" sz="1800" dirty="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blk_size</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a:t>
            </a:r>
            <a:r>
              <a:rPr lang="en-CA" sz="1800" dirty="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1024 &lt;&lt; </a:t>
            </a:r>
            <a:r>
              <a:rPr lang="en-CA" sz="1800" dirty="0" err="1">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800" dirty="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s_log_block_size</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dev.set_block_size</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blk_size</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block group descriptors start at block 2 or 1 */</a:t>
            </a:r>
          </a:p>
          <a:p>
            <a:pPr marL="0" indent="0">
              <a:lnSpc>
                <a:spcPts val="2000"/>
              </a:lnSpc>
              <a:spcBef>
                <a:spcPts val="0"/>
              </a:spcBef>
              <a:spcAft>
                <a:spcPts val="0"/>
              </a:spcAft>
              <a:buFont typeface="Wingdings 3" panose="05040102010807070707" pitchFamily="18" charset="2"/>
              <a:buNone/>
            </a:pP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bg_blknr</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s_log_block_size</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0) 2 : 1;</a:t>
            </a:r>
          </a:p>
          <a:p>
            <a:pPr marL="0" indent="0">
              <a:lnSpc>
                <a:spcPts val="2000"/>
              </a:lnSpc>
              <a:spcBef>
                <a:spcPts val="0"/>
              </a:spcBef>
              <a:spcAft>
                <a:spcPts val="0"/>
              </a:spcAft>
              <a:buFont typeface="Wingdings 3" panose="05040102010807070707" pitchFamily="18" charset="2"/>
              <a:buNone/>
            </a:pP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bg_ngrps</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ceil(</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s_blocks_count</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s_blocks_per_group</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bg_nblks</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ceil(</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bg_ngrps</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sizeof</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struct</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ext4_group_desc), </a:t>
            </a:r>
            <a:r>
              <a:rPr lang="en-CA" sz="1800" dirty="0" err="1">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blk_size</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read all of the block group descriptors into memory */</a:t>
            </a:r>
          </a:p>
          <a:p>
            <a:pPr marL="0" indent="0">
              <a:lnSpc>
                <a:spcPts val="2000"/>
              </a:lnSpc>
              <a:spcBef>
                <a:spcPts val="0"/>
              </a:spcBef>
              <a:spcAft>
                <a:spcPts val="0"/>
              </a:spcAft>
              <a:buFont typeface="Wingdings 3" panose="05040102010807070707" pitchFamily="18" charset="2"/>
              <a:buNone/>
            </a:pP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struct</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ext4_group_desc *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gd</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dev.read_block</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bg_blknr</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bg_nblks</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for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0;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&lt; </a:t>
            </a:r>
            <a:r>
              <a:rPr lang="en-CA" sz="1800" dirty="0" err="1">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bg_ngrps</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char *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buf</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dev.read_block</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gd</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800"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bg_block_bitmap</a:t>
            </a: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	</a:t>
            </a:r>
            <a:r>
              <a:rPr lang="en-CA" sz="1800" b="1" dirty="0" err="1" smtClean="0">
                <a:solidFill>
                  <a:schemeClr val="accent6">
                    <a:lumMod val="75000"/>
                  </a:schemeClr>
                </a:solidFill>
                <a:latin typeface="Courier New" panose="02070309020205020404" pitchFamily="49" charset="0"/>
                <a:cs typeface="Courier New" panose="02070309020205020404" pitchFamily="49" charset="0"/>
              </a:rPr>
              <a:t>int</a:t>
            </a:r>
            <a:r>
              <a:rPr lang="en-CA" sz="1800" b="1" dirty="0" smtClean="0">
                <a:latin typeface="Courier New" panose="02070309020205020404" pitchFamily="49" charset="0"/>
                <a:cs typeface="Courier New" panose="02070309020205020404" pitchFamily="49" charset="0"/>
              </a:rPr>
              <a:t> ret = </a:t>
            </a:r>
            <a:r>
              <a:rPr lang="en-CA" sz="1800" b="1" dirty="0" err="1" smtClean="0">
                <a:latin typeface="Courier New" panose="02070309020205020404" pitchFamily="49" charset="0"/>
                <a:cs typeface="Courier New" panose="02070309020205020404" pitchFamily="49" charset="0"/>
              </a:rPr>
              <a:t>process_block_bitmap</a:t>
            </a:r>
            <a:r>
              <a:rPr lang="en-CA" sz="1800" b="1" dirty="0" smtClean="0">
                <a:latin typeface="Courier New" panose="02070309020205020404" pitchFamily="49" charset="0"/>
                <a:cs typeface="Courier New" panose="02070309020205020404" pitchFamily="49" charset="0"/>
              </a:rPr>
              <a:t>(</a:t>
            </a:r>
            <a:r>
              <a:rPr lang="en-CA" sz="1800" b="1" dirty="0" err="1" smtClean="0">
                <a:latin typeface="Courier New" panose="02070309020205020404" pitchFamily="49" charset="0"/>
                <a:cs typeface="Courier New" panose="02070309020205020404" pitchFamily="49" charset="0"/>
              </a:rPr>
              <a:t>buf</a:t>
            </a:r>
            <a:r>
              <a:rPr lang="en-CA" sz="1800" b="1" dirty="0" smtClean="0">
                <a:latin typeface="Courier New" panose="02070309020205020404" pitchFamily="49" charset="0"/>
                <a:cs typeface="Courier New" panose="02070309020205020404" pitchFamily="49" charset="0"/>
              </a:rPr>
              <a:t>, </a:t>
            </a:r>
            <a:r>
              <a:rPr lang="en-CA" sz="1800" b="1" dirty="0" err="1" smtClean="0">
                <a:latin typeface="Courier New" panose="02070309020205020404" pitchFamily="49" charset="0"/>
                <a:cs typeface="Courier New" panose="02070309020205020404" pitchFamily="49" charset="0"/>
              </a:rPr>
              <a:t>vec</a:t>
            </a:r>
            <a:r>
              <a:rPr lang="en-CA" sz="1800" b="1" dirty="0" smtClean="0">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a:latin typeface="Courier New" panose="02070309020205020404" pitchFamily="49" charset="0"/>
                <a:cs typeface="Courier New" panose="02070309020205020404" pitchFamily="49" charset="0"/>
              </a:rPr>
              <a:t> </a:t>
            </a:r>
            <a:r>
              <a:rPr lang="en-CA" sz="1800" dirty="0" smtClean="0">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a:t>
            </a:r>
          </a:p>
        </p:txBody>
      </p:sp>
      <p:sp>
        <p:nvSpPr>
          <p:cNvPr id="5" name="Title 4"/>
          <p:cNvSpPr>
            <a:spLocks noGrp="1"/>
          </p:cNvSpPr>
          <p:nvPr>
            <p:ph type="title"/>
          </p:nvPr>
        </p:nvSpPr>
        <p:spPr/>
        <p:txBody>
          <a:bodyPr/>
          <a:lstStyle/>
          <a:p>
            <a:r>
              <a:rPr lang="en-CA" smtClean="0"/>
              <a:t>Manually-Written Application</a:t>
            </a:r>
            <a:endParaRPr lang="en-CA" dirty="0"/>
          </a:p>
        </p:txBody>
      </p:sp>
      <p:sp>
        <p:nvSpPr>
          <p:cNvPr id="6" name="Slide Number Placeholder 5"/>
          <p:cNvSpPr>
            <a:spLocks noGrp="1"/>
          </p:cNvSpPr>
          <p:nvPr>
            <p:ph type="sldNum" sz="quarter" idx="12"/>
          </p:nvPr>
        </p:nvSpPr>
        <p:spPr/>
        <p:txBody>
          <a:bodyPr/>
          <a:lstStyle/>
          <a:p>
            <a:fld id="{7B2023C8-B124-43A9-8F92-0EEF5BAA9995}" type="slidenum">
              <a:rPr lang="en-CA" smtClean="0"/>
              <a:pPr/>
              <a:t>24</a:t>
            </a:fld>
            <a:endParaRPr lang="en-CA" dirty="0"/>
          </a:p>
        </p:txBody>
      </p:sp>
      <p:sp>
        <p:nvSpPr>
          <p:cNvPr id="7" name="TextBox 6"/>
          <p:cNvSpPr txBox="1"/>
          <p:nvPr/>
        </p:nvSpPr>
        <p:spPr>
          <a:xfrm>
            <a:off x="1941949" y="5405604"/>
            <a:ext cx="7885815" cy="576096"/>
          </a:xfrm>
          <a:prstGeom prst="rect">
            <a:avLst/>
          </a:prstGeom>
          <a:solidFill>
            <a:schemeClr val="accent5">
              <a:lumMod val="20000"/>
              <a:lumOff val="80000"/>
            </a:schemeClr>
          </a:solidFill>
          <a:ln w="12700">
            <a:solidFill>
              <a:schemeClr val="bg1"/>
            </a:solidFill>
            <a:prstDash val="solid"/>
          </a:ln>
        </p:spPr>
        <p:txBody>
          <a:bodyPr wrap="square" rtlCol="0" anchor="ctr" anchorCtr="0">
            <a:noAutofit/>
          </a:bodyPr>
          <a:lstStyle/>
          <a:p>
            <a:pPr algn="ctr">
              <a:lnSpc>
                <a:spcPts val="2400"/>
              </a:lnSpc>
              <a:spcBef>
                <a:spcPts val="600"/>
              </a:spcBef>
            </a:pPr>
            <a:r>
              <a:rPr lang="en-CA" dirty="0" smtClean="0">
                <a:solidFill>
                  <a:schemeClr val="bg1"/>
                </a:solidFill>
              </a:rPr>
              <a:t>LOTS of boilerplate code to walk through the intermediate structures</a:t>
            </a:r>
            <a:endParaRPr lang="en-CA" dirty="0">
              <a:solidFill>
                <a:schemeClr val="bg1"/>
              </a:solidFill>
            </a:endParaRPr>
          </a:p>
        </p:txBody>
      </p:sp>
    </p:spTree>
    <p:extLst>
      <p:ext uri="{BB962C8B-B14F-4D97-AF65-F5344CB8AC3E}">
        <p14:creationId xmlns:p14="http://schemas.microsoft.com/office/powerpoint/2010/main" val="30388962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txBox="1">
            <a:spLocks/>
          </p:cNvSpPr>
          <p:nvPr/>
        </p:nvSpPr>
        <p:spPr>
          <a:xfrm>
            <a:off x="684212" y="1507237"/>
            <a:ext cx="10285797" cy="4784102"/>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lnSpc>
                <a:spcPts val="2000"/>
              </a:lnSpc>
              <a:spcBef>
                <a:spcPts val="0"/>
              </a:spcBef>
              <a:spcAft>
                <a:spcPts val="0"/>
              </a:spcAft>
              <a:buFont typeface="Wingdings 3" panose="05040102010807070707" pitchFamily="18" charset="2"/>
              <a:buNone/>
            </a:pPr>
            <a:r>
              <a:rPr lang="en-CA" sz="1800" dirty="0" err="1" smtClean="0">
                <a:solidFill>
                  <a:schemeClr val="accent6">
                    <a:lumMod val="75000"/>
                  </a:schemeClr>
                </a:solidFill>
                <a:latin typeface="Courier New" panose="02070309020205020404" pitchFamily="49" charset="0"/>
                <a:cs typeface="Courier New" panose="02070309020205020404" pitchFamily="49" charset="0"/>
              </a:rPr>
              <a:t>int</a:t>
            </a:r>
            <a:r>
              <a:rPr lang="en-CA" sz="1800" dirty="0" smtClean="0">
                <a:latin typeface="Courier New" panose="02070309020205020404" pitchFamily="49" charset="0"/>
                <a:cs typeface="Courier New" panose="02070309020205020404" pitchFamily="49" charset="0"/>
              </a:rPr>
              <a:t> </a:t>
            </a:r>
            <a:r>
              <a:rPr lang="en-CA" sz="1800" b="1" dirty="0" smtClean="0">
                <a:latin typeface="Courier New" panose="02070309020205020404" pitchFamily="49" charset="0"/>
                <a:cs typeface="Courier New" panose="02070309020205020404" pitchFamily="49" charset="0"/>
              </a:rPr>
              <a:t>process_ext4</a:t>
            </a:r>
            <a:r>
              <a:rPr lang="en-CA" sz="1800" dirty="0" smtClean="0">
                <a:latin typeface="Courier New" panose="02070309020205020404" pitchFamily="49" charset="0"/>
                <a:cs typeface="Courier New" panose="02070309020205020404" pitchFamily="49" charset="0"/>
              </a:rPr>
              <a:t>(vector&lt;Extent&gt; &amp; </a:t>
            </a:r>
            <a:r>
              <a:rPr lang="en-CA" sz="1800" dirty="0" err="1" smtClean="0">
                <a:latin typeface="Courier New" panose="02070309020205020404" pitchFamily="49" charset="0"/>
                <a:cs typeface="Courier New" panose="02070309020205020404" pitchFamily="49" charset="0"/>
              </a:rPr>
              <a:t>vec</a:t>
            </a:r>
            <a:r>
              <a:rPr lang="en-CA" sz="1800" dirty="0" smtClean="0">
                <a:latin typeface="Courier New" panose="02070309020205020404" pitchFamily="49" charset="0"/>
                <a:cs typeface="Courier New" panose="02070309020205020404" pitchFamily="49" charset="0"/>
              </a:rPr>
              <a:t>, Device &amp; dev) {</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smtClean="0">
                <a:solidFill>
                  <a:schemeClr val="accent4">
                    <a:lumMod val="75000"/>
                  </a:schemeClr>
                </a:solidFill>
                <a:effectLst/>
                <a:latin typeface="Courier New" panose="02070309020205020404" pitchFamily="49" charset="0"/>
                <a:cs typeface="Courier New" panose="02070309020205020404" pitchFamily="49" charset="0"/>
              </a:rPr>
              <a:t>/* ext4 super block is 1024 bytes away from start */</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struct</a:t>
            </a:r>
            <a:r>
              <a:rPr lang="en-CA" sz="1800" dirty="0" smtClean="0">
                <a:effectLst/>
                <a:latin typeface="Courier New" panose="02070309020205020404" pitchFamily="49" charset="0"/>
                <a:cs typeface="Courier New" panose="02070309020205020404" pitchFamily="49" charset="0"/>
              </a:rPr>
              <a:t> ext4_super_block * </a:t>
            </a:r>
            <a:r>
              <a:rPr lang="en-CA" sz="1800" dirty="0" err="1" smtClean="0">
                <a:effectLst/>
                <a:latin typeface="Courier New" panose="02070309020205020404" pitchFamily="49" charset="0"/>
                <a:cs typeface="Courier New" panose="02070309020205020404" pitchFamily="49" charset="0"/>
              </a:rPr>
              <a:t>sb</a:t>
            </a:r>
            <a:r>
              <a:rPr lang="en-CA" sz="1800" dirty="0" smtClean="0">
                <a:effectLst/>
                <a:latin typeface="Courier New" panose="02070309020205020404" pitchFamily="49" charset="0"/>
                <a:cs typeface="Courier New" panose="02070309020205020404" pitchFamily="49" charset="0"/>
              </a:rPr>
              <a:t> = </a:t>
            </a:r>
            <a:r>
              <a:rPr lang="en-CA" sz="1800" dirty="0" err="1" smtClean="0">
                <a:effectLst/>
                <a:latin typeface="Courier New" panose="02070309020205020404" pitchFamily="49" charset="0"/>
                <a:cs typeface="Courier New" panose="02070309020205020404" pitchFamily="49" charset="0"/>
              </a:rPr>
              <a:t>dev.read</a:t>
            </a:r>
            <a:r>
              <a:rPr lang="en-CA" sz="1800" dirty="0" smtClean="0">
                <a:effectLst/>
                <a:latin typeface="Courier New" panose="02070309020205020404" pitchFamily="49" charset="0"/>
                <a:cs typeface="Courier New" panose="02070309020205020404" pitchFamily="49" charset="0"/>
              </a:rPr>
              <a:t>(</a:t>
            </a:r>
            <a:r>
              <a:rPr lang="en-CA" sz="1800" dirty="0" smtClean="0">
                <a:solidFill>
                  <a:srgbClr val="0070C0"/>
                </a:solidFill>
                <a:effectLst/>
                <a:latin typeface="Courier New" panose="02070309020205020404" pitchFamily="49" charset="0"/>
                <a:cs typeface="Courier New" panose="02070309020205020404" pitchFamily="49" charset="0"/>
              </a:rPr>
              <a:t>1024</a:t>
            </a:r>
            <a:r>
              <a:rPr lang="en-CA" sz="1800" dirty="0" smtClean="0">
                <a:effectLst/>
                <a:latin typeface="Courier New" panose="02070309020205020404" pitchFamily="49" charset="0"/>
                <a:cs typeface="Courier New" panose="02070309020205020404" pitchFamily="49" charset="0"/>
              </a:rPr>
              <a:t>, SB_SIZE);</a:t>
            </a:r>
          </a:p>
          <a:p>
            <a:pPr marL="0" indent="0">
              <a:lnSpc>
                <a:spcPts val="2000"/>
              </a:lnSpc>
              <a:spcBef>
                <a:spcPts val="0"/>
              </a:spcBef>
              <a:spcAft>
                <a:spcPts val="0"/>
              </a:spcAft>
              <a:buNone/>
            </a:pP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int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blk_size</a:t>
            </a:r>
            <a:r>
              <a:rPr lang="en-CA" sz="1800" dirty="0" smtClean="0">
                <a:effectLst/>
                <a:latin typeface="Courier New" panose="02070309020205020404" pitchFamily="49" charset="0"/>
                <a:cs typeface="Courier New" panose="02070309020205020404" pitchFamily="49" charset="0"/>
              </a:rPr>
              <a:t> = </a:t>
            </a:r>
            <a:r>
              <a:rPr lang="en-CA" sz="1800" dirty="0" smtClean="0">
                <a:solidFill>
                  <a:srgbClr val="0070C0"/>
                </a:solidFill>
                <a:effectLst/>
                <a:latin typeface="Courier New" panose="02070309020205020404" pitchFamily="49" charset="0"/>
                <a:cs typeface="Courier New" panose="02070309020205020404" pitchFamily="49" charset="0"/>
              </a:rPr>
              <a:t>1024</a:t>
            </a:r>
            <a:r>
              <a:rPr lang="en-CA" sz="1800" dirty="0" smtClean="0">
                <a:effectLst/>
                <a:latin typeface="Courier New" panose="02070309020205020404" pitchFamily="49" charset="0"/>
                <a:cs typeface="Courier New" panose="02070309020205020404" pitchFamily="49" charset="0"/>
              </a:rPr>
              <a:t> &lt;&lt; </a:t>
            </a:r>
            <a:r>
              <a:rPr lang="en-CA" sz="1800" dirty="0" err="1" smtClean="0">
                <a:effectLst/>
                <a:latin typeface="Courier New" panose="02070309020205020404" pitchFamily="49" charset="0"/>
                <a:cs typeface="Courier New" panose="02070309020205020404" pitchFamily="49" charset="0"/>
              </a:rPr>
              <a:t>sb</a:t>
            </a:r>
            <a:r>
              <a:rPr lang="en-CA" sz="1800" dirty="0" smtClean="0">
                <a:effectLst/>
                <a:latin typeface="Courier New" panose="02070309020205020404" pitchFamily="49" charset="0"/>
                <a:cs typeface="Courier New" panose="02070309020205020404" pitchFamily="49" charset="0"/>
              </a:rPr>
              <a:t>-&gt;</a:t>
            </a:r>
            <a:r>
              <a:rPr lang="en-CA" sz="1800" dirty="0" err="1" smtClean="0">
                <a:effectLst/>
                <a:latin typeface="Courier New" panose="02070309020205020404" pitchFamily="49" charset="0"/>
                <a:cs typeface="Courier New" panose="02070309020205020404" pitchFamily="49" charset="0"/>
              </a:rPr>
              <a:t>s_log_block_size</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dev.set_block_size</a:t>
            </a:r>
            <a:r>
              <a:rPr lang="en-CA" sz="1800" dirty="0" smtClean="0">
                <a:effectLst/>
                <a:latin typeface="Courier New" panose="02070309020205020404" pitchFamily="49" charset="0"/>
                <a:cs typeface="Courier New" panose="02070309020205020404" pitchFamily="49" charset="0"/>
              </a:rPr>
              <a:t>(</a:t>
            </a:r>
            <a:r>
              <a:rPr lang="en-CA" sz="1800" dirty="0" err="1" smtClean="0">
                <a:effectLst/>
                <a:latin typeface="Courier New" panose="02070309020205020404" pitchFamily="49" charset="0"/>
                <a:cs typeface="Courier New" panose="02070309020205020404" pitchFamily="49" charset="0"/>
              </a:rPr>
              <a:t>blk_size</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solidFill>
                  <a:srgbClr val="00B050"/>
                </a:solidFill>
                <a:effectLst/>
                <a:latin typeface="Courier New" panose="02070309020205020404" pitchFamily="49" charset="0"/>
                <a:cs typeface="Courier New" panose="02070309020205020404" pitchFamily="49" charset="0"/>
              </a:rPr>
              <a:t>  </a:t>
            </a:r>
            <a:r>
              <a:rPr lang="en-CA" sz="1800" dirty="0">
                <a:solidFill>
                  <a:schemeClr val="accent4">
                    <a:lumMod val="75000"/>
                  </a:schemeClr>
                </a:solidFill>
                <a:effectLst/>
                <a:latin typeface="Courier New" panose="02070309020205020404" pitchFamily="49" charset="0"/>
                <a:cs typeface="Courier New" panose="02070309020205020404" pitchFamily="49" charset="0"/>
              </a:rPr>
              <a:t>/* block group descriptors start at block 2 or 1 */</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int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bg_blknr</a:t>
            </a:r>
            <a:r>
              <a:rPr lang="en-CA" sz="1800" dirty="0" smtClean="0">
                <a:effectLst/>
                <a:latin typeface="Courier New" panose="02070309020205020404" pitchFamily="49" charset="0"/>
                <a:cs typeface="Courier New" panose="02070309020205020404" pitchFamily="49" charset="0"/>
              </a:rPr>
              <a:t> = (</a:t>
            </a:r>
            <a:r>
              <a:rPr lang="en-CA" sz="1800" dirty="0" err="1" smtClean="0">
                <a:effectLst/>
                <a:latin typeface="Courier New" panose="02070309020205020404" pitchFamily="49" charset="0"/>
                <a:cs typeface="Courier New" panose="02070309020205020404" pitchFamily="49" charset="0"/>
              </a:rPr>
              <a:t>sb</a:t>
            </a:r>
            <a:r>
              <a:rPr lang="en-CA" sz="1800" dirty="0" smtClean="0">
                <a:effectLst/>
                <a:latin typeface="Courier New" panose="02070309020205020404" pitchFamily="49" charset="0"/>
                <a:cs typeface="Courier New" panose="02070309020205020404" pitchFamily="49" charset="0"/>
              </a:rPr>
              <a:t>-&gt;</a:t>
            </a:r>
            <a:r>
              <a:rPr lang="en-CA" sz="1800" dirty="0" err="1" smtClean="0">
                <a:effectLst/>
                <a:latin typeface="Courier New" panose="02070309020205020404" pitchFamily="49" charset="0"/>
                <a:cs typeface="Courier New" panose="02070309020205020404" pitchFamily="49" charset="0"/>
              </a:rPr>
              <a:t>s_log_block_size</a:t>
            </a:r>
            <a:r>
              <a:rPr lang="en-CA" sz="1800" dirty="0" smtClean="0">
                <a:effectLst/>
                <a:latin typeface="Courier New" panose="02070309020205020404" pitchFamily="49" charset="0"/>
                <a:cs typeface="Courier New" panose="02070309020205020404" pitchFamily="49" charset="0"/>
              </a:rPr>
              <a:t> == </a:t>
            </a:r>
            <a:r>
              <a:rPr lang="en-CA" sz="1800" dirty="0" smtClean="0">
                <a:solidFill>
                  <a:srgbClr val="0070C0"/>
                </a:solidFill>
                <a:effectLst/>
                <a:latin typeface="Courier New" panose="02070309020205020404" pitchFamily="49" charset="0"/>
                <a:cs typeface="Courier New" panose="02070309020205020404" pitchFamily="49" charset="0"/>
              </a:rPr>
              <a:t>0</a:t>
            </a:r>
            <a:r>
              <a:rPr lang="en-CA" sz="1800" dirty="0" smtClean="0">
                <a:effectLst/>
                <a:latin typeface="Courier New" panose="02070309020205020404" pitchFamily="49" charset="0"/>
                <a:cs typeface="Courier New" panose="02070309020205020404" pitchFamily="49" charset="0"/>
              </a:rPr>
              <a:t>) </a:t>
            </a:r>
            <a:r>
              <a:rPr lang="en-CA" sz="1800" dirty="0" smtClean="0">
                <a:solidFill>
                  <a:srgbClr val="0070C0"/>
                </a:solidFill>
                <a:effectLst/>
                <a:latin typeface="Courier New" panose="02070309020205020404" pitchFamily="49" charset="0"/>
                <a:cs typeface="Courier New" panose="02070309020205020404" pitchFamily="49" charset="0"/>
              </a:rPr>
              <a:t>2</a:t>
            </a:r>
            <a:r>
              <a:rPr lang="en-CA" sz="1800" dirty="0" smtClean="0">
                <a:effectLst/>
                <a:latin typeface="Courier New" panose="02070309020205020404" pitchFamily="49" charset="0"/>
                <a:cs typeface="Courier New" panose="02070309020205020404" pitchFamily="49" charset="0"/>
              </a:rPr>
              <a:t> : </a:t>
            </a:r>
            <a:r>
              <a:rPr lang="en-CA" sz="1800" dirty="0" smtClean="0">
                <a:solidFill>
                  <a:srgbClr val="0070C0"/>
                </a:solidFill>
                <a:effectLst/>
                <a:latin typeface="Courier New" panose="02070309020205020404" pitchFamily="49" charset="0"/>
                <a:cs typeface="Courier New" panose="02070309020205020404" pitchFamily="49" charset="0"/>
              </a:rPr>
              <a:t>1</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int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bg_ngrps</a:t>
            </a:r>
            <a:r>
              <a:rPr lang="en-CA" sz="1800" dirty="0" smtClean="0">
                <a:effectLst/>
                <a:latin typeface="Courier New" panose="02070309020205020404" pitchFamily="49" charset="0"/>
                <a:cs typeface="Courier New" panose="02070309020205020404" pitchFamily="49" charset="0"/>
              </a:rPr>
              <a:t> = ceil(</a:t>
            </a:r>
            <a:r>
              <a:rPr lang="en-CA" sz="1800" dirty="0" err="1" smtClean="0">
                <a:effectLst/>
                <a:latin typeface="Courier New" panose="02070309020205020404" pitchFamily="49" charset="0"/>
                <a:cs typeface="Courier New" panose="02070309020205020404" pitchFamily="49" charset="0"/>
              </a:rPr>
              <a:t>sb</a:t>
            </a:r>
            <a:r>
              <a:rPr lang="en-CA" sz="1800" dirty="0" smtClean="0">
                <a:effectLst/>
                <a:latin typeface="Courier New" panose="02070309020205020404" pitchFamily="49" charset="0"/>
                <a:cs typeface="Courier New" panose="02070309020205020404" pitchFamily="49" charset="0"/>
              </a:rPr>
              <a:t>-&gt;</a:t>
            </a:r>
            <a:r>
              <a:rPr lang="en-CA" sz="1800" dirty="0" err="1" smtClean="0">
                <a:effectLst/>
                <a:latin typeface="Courier New" panose="02070309020205020404" pitchFamily="49" charset="0"/>
                <a:cs typeface="Courier New" panose="02070309020205020404" pitchFamily="49" charset="0"/>
              </a:rPr>
              <a:t>s_blocks_count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sb</a:t>
            </a:r>
            <a:r>
              <a:rPr lang="en-CA" sz="1800" dirty="0" smtClean="0">
                <a:effectLst/>
                <a:latin typeface="Courier New" panose="02070309020205020404" pitchFamily="49" charset="0"/>
                <a:cs typeface="Courier New" panose="02070309020205020404" pitchFamily="49" charset="0"/>
              </a:rPr>
              <a:t>-&gt;</a:t>
            </a:r>
            <a:r>
              <a:rPr lang="en-CA" sz="1800" dirty="0" err="1" smtClean="0">
                <a:effectLst/>
                <a:latin typeface="Courier New" panose="02070309020205020404" pitchFamily="49" charset="0"/>
                <a:cs typeface="Courier New" panose="02070309020205020404" pitchFamily="49" charset="0"/>
              </a:rPr>
              <a:t>s_blocks_per_group</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a:effectLst/>
                <a:latin typeface="Courier New" panose="02070309020205020404" pitchFamily="49" charset="0"/>
                <a:cs typeface="Courier New" panose="02070309020205020404" pitchFamily="49" charset="0"/>
              </a:rPr>
              <a:t> </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int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bg_nblks</a:t>
            </a:r>
            <a:r>
              <a:rPr lang="en-CA" sz="1800" dirty="0" smtClean="0">
                <a:effectLst/>
                <a:latin typeface="Courier New" panose="02070309020205020404" pitchFamily="49" charset="0"/>
                <a:cs typeface="Courier New" panose="02070309020205020404" pitchFamily="49" charset="0"/>
              </a:rPr>
              <a:t> </a:t>
            </a:r>
            <a:r>
              <a:rPr lang="en-CA" sz="1800" dirty="0">
                <a:effectLst/>
                <a:latin typeface="Courier New" panose="02070309020205020404" pitchFamily="49" charset="0"/>
                <a:cs typeface="Courier New" panose="02070309020205020404" pitchFamily="49" charset="0"/>
              </a:rPr>
              <a:t>= </a:t>
            </a:r>
            <a:r>
              <a:rPr lang="en-CA" sz="1800" dirty="0" smtClean="0">
                <a:effectLst/>
                <a:latin typeface="Courier New" panose="02070309020205020404" pitchFamily="49" charset="0"/>
                <a:cs typeface="Courier New" panose="02070309020205020404" pitchFamily="49" charset="0"/>
              </a:rPr>
              <a:t>ceil(</a:t>
            </a:r>
            <a:r>
              <a:rPr lang="en-CA" sz="1800" dirty="0" err="1" smtClean="0">
                <a:effectLst/>
                <a:latin typeface="Courier New" panose="02070309020205020404" pitchFamily="49" charset="0"/>
                <a:cs typeface="Courier New" panose="02070309020205020404" pitchFamily="49" charset="0"/>
              </a:rPr>
              <a:t>bg_ngrps</a:t>
            </a:r>
            <a:r>
              <a:rPr lang="en-CA" sz="1800" dirty="0" smtClean="0">
                <a:effectLst/>
                <a:latin typeface="Courier New" panose="02070309020205020404" pitchFamily="49" charset="0"/>
                <a:cs typeface="Courier New" panose="02070309020205020404" pitchFamily="49" charset="0"/>
              </a:rPr>
              <a:t>*</a:t>
            </a:r>
            <a:r>
              <a:rPr lang="en-CA" sz="1800" dirty="0" err="1" smtClean="0">
                <a:effectLst/>
                <a:latin typeface="Courier New" panose="02070309020205020404" pitchFamily="49" charset="0"/>
                <a:cs typeface="Courier New" panose="02070309020205020404" pitchFamily="49" charset="0"/>
              </a:rPr>
              <a:t>sizeof</a:t>
            </a:r>
            <a:r>
              <a:rPr lang="en-CA" sz="1800" dirty="0" smtClean="0">
                <a:effectLst/>
                <a:latin typeface="Courier New" panose="02070309020205020404" pitchFamily="49" charset="0"/>
                <a:cs typeface="Courier New" panose="02070309020205020404" pitchFamily="49" charset="0"/>
              </a:rPr>
              <a:t>(</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struct</a:t>
            </a:r>
            <a:r>
              <a:rPr lang="en-CA" sz="1800" dirty="0" smtClean="0">
                <a:effectLst/>
                <a:latin typeface="Courier New" panose="02070309020205020404" pitchFamily="49" charset="0"/>
                <a:cs typeface="Courier New" panose="02070309020205020404" pitchFamily="49" charset="0"/>
              </a:rPr>
              <a:t> ext4_group_desc), </a:t>
            </a:r>
            <a:r>
              <a:rPr lang="en-CA" sz="1800" dirty="0" err="1">
                <a:effectLst/>
                <a:latin typeface="Courier New" panose="02070309020205020404" pitchFamily="49" charset="0"/>
                <a:cs typeface="Courier New" panose="02070309020205020404" pitchFamily="49" charset="0"/>
              </a:rPr>
              <a:t>blk_size</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solidFill>
                  <a:srgbClr val="00B050"/>
                </a:solidFill>
                <a:effectLst/>
                <a:latin typeface="Courier New" panose="02070309020205020404" pitchFamily="49" charset="0"/>
                <a:cs typeface="Courier New" panose="02070309020205020404" pitchFamily="49" charset="0"/>
              </a:rPr>
              <a:t>  </a:t>
            </a:r>
            <a:r>
              <a:rPr lang="en-CA" sz="1800" dirty="0">
                <a:solidFill>
                  <a:schemeClr val="accent4">
                    <a:lumMod val="75000"/>
                  </a:schemeClr>
                </a:solidFill>
                <a:effectLst/>
                <a:latin typeface="Courier New" panose="02070309020205020404" pitchFamily="49" charset="0"/>
                <a:cs typeface="Courier New" panose="02070309020205020404" pitchFamily="49" charset="0"/>
              </a:rPr>
              <a:t>/* read all of the block group descriptors into memory */</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struct</a:t>
            </a:r>
            <a:r>
              <a:rPr lang="en-CA" sz="1800" dirty="0" smtClean="0">
                <a:effectLst/>
                <a:latin typeface="Courier New" panose="02070309020205020404" pitchFamily="49" charset="0"/>
                <a:cs typeface="Courier New" panose="02070309020205020404" pitchFamily="49" charset="0"/>
              </a:rPr>
              <a:t> ext4_group_desc * </a:t>
            </a:r>
            <a:r>
              <a:rPr lang="en-CA" sz="1800" dirty="0" err="1" smtClean="0">
                <a:effectLst/>
                <a:latin typeface="Courier New" panose="02070309020205020404" pitchFamily="49" charset="0"/>
                <a:cs typeface="Courier New" panose="02070309020205020404" pitchFamily="49" charset="0"/>
              </a:rPr>
              <a:t>gd</a:t>
            </a:r>
            <a:r>
              <a:rPr lang="en-CA" sz="1800" dirty="0" smtClean="0">
                <a:effectLst/>
                <a:latin typeface="Courier New" panose="02070309020205020404" pitchFamily="49" charset="0"/>
                <a:cs typeface="Courier New" panose="02070309020205020404" pitchFamily="49" charset="0"/>
              </a:rPr>
              <a:t> = </a:t>
            </a:r>
            <a:r>
              <a:rPr lang="en-CA" sz="1800" dirty="0" err="1" smtClean="0">
                <a:effectLst/>
                <a:latin typeface="Courier New" panose="02070309020205020404" pitchFamily="49" charset="0"/>
                <a:cs typeface="Courier New" panose="02070309020205020404" pitchFamily="49" charset="0"/>
              </a:rPr>
              <a:t>dev.read_block</a:t>
            </a:r>
            <a:r>
              <a:rPr lang="en-CA" sz="1800" dirty="0" smtClean="0">
                <a:effectLst/>
                <a:latin typeface="Courier New" panose="02070309020205020404" pitchFamily="49" charset="0"/>
                <a:cs typeface="Courier New" panose="02070309020205020404" pitchFamily="49" charset="0"/>
              </a:rPr>
              <a:t>(</a:t>
            </a:r>
            <a:r>
              <a:rPr lang="en-CA" sz="1800" dirty="0" err="1" smtClean="0">
                <a:effectLst/>
                <a:latin typeface="Courier New" panose="02070309020205020404" pitchFamily="49" charset="0"/>
                <a:cs typeface="Courier New" panose="02070309020205020404" pitchFamily="49" charset="0"/>
              </a:rPr>
              <a:t>bg_blknr</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bg_nblks</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effectLst/>
                <a:latin typeface="Courier New" panose="02070309020205020404" pitchFamily="49" charset="0"/>
                <a:cs typeface="Courier New" panose="02070309020205020404" pitchFamily="49" charset="0"/>
              </a:rPr>
              <a:t>  for (</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int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i</a:t>
            </a:r>
            <a:r>
              <a:rPr lang="en-CA" sz="1800" dirty="0" smtClean="0">
                <a:effectLst/>
                <a:latin typeface="Courier New" panose="02070309020205020404" pitchFamily="49" charset="0"/>
                <a:cs typeface="Courier New" panose="02070309020205020404" pitchFamily="49" charset="0"/>
              </a:rPr>
              <a:t> = </a:t>
            </a:r>
            <a:r>
              <a:rPr lang="en-CA" sz="1800" dirty="0" smtClean="0">
                <a:solidFill>
                  <a:srgbClr val="0070C0"/>
                </a:solidFill>
                <a:effectLst/>
                <a:latin typeface="Courier New" panose="02070309020205020404" pitchFamily="49" charset="0"/>
                <a:cs typeface="Courier New" panose="02070309020205020404" pitchFamily="49" charset="0"/>
              </a:rPr>
              <a:t>0</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i</a:t>
            </a:r>
            <a:r>
              <a:rPr lang="en-CA" sz="1800" dirty="0" smtClean="0">
                <a:effectLst/>
                <a:latin typeface="Courier New" panose="02070309020205020404" pitchFamily="49" charset="0"/>
                <a:cs typeface="Courier New" panose="02070309020205020404" pitchFamily="49" charset="0"/>
              </a:rPr>
              <a:t> &lt; </a:t>
            </a:r>
            <a:r>
              <a:rPr lang="en-CA" sz="1800" dirty="0" err="1">
                <a:effectLst/>
                <a:latin typeface="Courier New" panose="02070309020205020404" pitchFamily="49" charset="0"/>
                <a:cs typeface="Courier New" panose="02070309020205020404" pitchFamily="49" charset="0"/>
              </a:rPr>
              <a:t>bg_ngrps</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i</a:t>
            </a:r>
            <a:r>
              <a:rPr lang="en-CA" sz="1800" dirty="0" smtClean="0">
                <a:effectLst/>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smtClean="0">
                <a:solidFill>
                  <a:schemeClr val="accent6">
                    <a:lumMod val="75000"/>
                  </a:schemeClr>
                </a:solidFill>
                <a:effectLst/>
                <a:latin typeface="Courier New" panose="02070309020205020404" pitchFamily="49" charset="0"/>
                <a:cs typeface="Courier New" panose="02070309020205020404" pitchFamily="49" charset="0"/>
              </a:rPr>
              <a:t>char</a:t>
            </a:r>
            <a:r>
              <a:rPr lang="en-CA" sz="1800" dirty="0" smtClean="0">
                <a:effectLst/>
                <a:latin typeface="Courier New" panose="02070309020205020404" pitchFamily="49" charset="0"/>
                <a:cs typeface="Courier New" panose="02070309020205020404" pitchFamily="49" charset="0"/>
              </a:rPr>
              <a:t> * </a:t>
            </a:r>
            <a:r>
              <a:rPr lang="en-CA" sz="1800" dirty="0" err="1" smtClean="0">
                <a:effectLst/>
                <a:latin typeface="Courier New" panose="02070309020205020404" pitchFamily="49" charset="0"/>
                <a:cs typeface="Courier New" panose="02070309020205020404" pitchFamily="49" charset="0"/>
              </a:rPr>
              <a:t>buf</a:t>
            </a:r>
            <a:r>
              <a:rPr lang="en-CA" sz="1800" dirty="0" smtClean="0">
                <a:effectLst/>
                <a:latin typeface="Courier New" panose="02070309020205020404" pitchFamily="49" charset="0"/>
                <a:cs typeface="Courier New" panose="02070309020205020404" pitchFamily="49" charset="0"/>
              </a:rPr>
              <a:t> = </a:t>
            </a:r>
            <a:r>
              <a:rPr lang="en-CA" sz="1800" dirty="0" err="1" smtClean="0">
                <a:effectLst/>
                <a:latin typeface="Courier New" panose="02070309020205020404" pitchFamily="49" charset="0"/>
                <a:cs typeface="Courier New" panose="02070309020205020404" pitchFamily="49" charset="0"/>
              </a:rPr>
              <a:t>dev.read_block</a:t>
            </a:r>
            <a:r>
              <a:rPr lang="en-CA" sz="1800" dirty="0" smtClean="0">
                <a:effectLst/>
                <a:latin typeface="Courier New" panose="02070309020205020404" pitchFamily="49" charset="0"/>
                <a:cs typeface="Courier New" panose="02070309020205020404" pitchFamily="49" charset="0"/>
              </a:rPr>
              <a:t>(</a:t>
            </a:r>
            <a:r>
              <a:rPr lang="en-CA" sz="1800" dirty="0" err="1" smtClean="0">
                <a:effectLst/>
                <a:latin typeface="Courier New" panose="02070309020205020404" pitchFamily="49" charset="0"/>
                <a:cs typeface="Courier New" panose="02070309020205020404" pitchFamily="49" charset="0"/>
              </a:rPr>
              <a:t>gd</a:t>
            </a:r>
            <a:r>
              <a:rPr lang="en-CA" sz="1800" dirty="0" smtClean="0">
                <a:effectLst/>
                <a:latin typeface="Courier New" panose="02070309020205020404" pitchFamily="49" charset="0"/>
                <a:cs typeface="Courier New" panose="02070309020205020404" pitchFamily="49" charset="0"/>
              </a:rPr>
              <a:t>[</a:t>
            </a:r>
            <a:r>
              <a:rPr lang="en-CA" sz="1800" dirty="0" err="1" smtClean="0">
                <a:effectLst/>
                <a:latin typeface="Courier New" panose="02070309020205020404" pitchFamily="49" charset="0"/>
                <a:cs typeface="Courier New" panose="02070309020205020404" pitchFamily="49" charset="0"/>
              </a:rPr>
              <a:t>i</a:t>
            </a:r>
            <a:r>
              <a:rPr lang="en-CA" sz="1800" dirty="0" smtClean="0">
                <a:effectLst/>
                <a:latin typeface="Courier New" panose="02070309020205020404" pitchFamily="49" charset="0"/>
                <a:cs typeface="Courier New" panose="02070309020205020404" pitchFamily="49" charset="0"/>
              </a:rPr>
              <a:t>]-&gt;</a:t>
            </a:r>
            <a:r>
              <a:rPr lang="en-CA" sz="1800" dirty="0" err="1" smtClean="0">
                <a:effectLst/>
                <a:latin typeface="Courier New" panose="02070309020205020404" pitchFamily="49" charset="0"/>
                <a:cs typeface="Courier New" panose="02070309020205020404" pitchFamily="49" charset="0"/>
              </a:rPr>
              <a:t>bg_block_bitmap</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Font typeface="Wingdings 3" panose="05040102010807070707" pitchFamily="18" charset="2"/>
              <a:buNone/>
            </a:pPr>
            <a:r>
              <a:rPr lang="en-CA" sz="1800"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b="1" dirty="0" err="1" smtClean="0">
                <a:solidFill>
                  <a:schemeClr val="accent6">
                    <a:lumMod val="75000"/>
                  </a:schemeClr>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800" b="1"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ret = </a:t>
            </a:r>
            <a:r>
              <a:rPr lang="en-CA" sz="1800" b="1"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process_block_bitmap</a:t>
            </a:r>
            <a:r>
              <a:rPr lang="en-CA" sz="1800" b="1"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800" b="1"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buf</a:t>
            </a:r>
            <a:r>
              <a:rPr lang="en-CA" sz="1800" b="1"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800" b="1" dirty="0" err="1"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vec</a:t>
            </a:r>
            <a:r>
              <a:rPr lang="en-CA" sz="1800" b="1" dirty="0" smtClean="0">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a:latin typeface="Courier New" panose="02070309020205020404" pitchFamily="49" charset="0"/>
                <a:cs typeface="Courier New" panose="02070309020205020404" pitchFamily="49" charset="0"/>
              </a:rPr>
              <a:t> </a:t>
            </a:r>
            <a:r>
              <a:rPr lang="en-CA" sz="1800" dirty="0" smtClean="0">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a:t>
            </a:r>
          </a:p>
        </p:txBody>
      </p:sp>
      <p:sp>
        <p:nvSpPr>
          <p:cNvPr id="5" name="Title 4"/>
          <p:cNvSpPr>
            <a:spLocks noGrp="1"/>
          </p:cNvSpPr>
          <p:nvPr>
            <p:ph type="title"/>
          </p:nvPr>
        </p:nvSpPr>
        <p:spPr/>
        <p:txBody>
          <a:bodyPr/>
          <a:lstStyle/>
          <a:p>
            <a:r>
              <a:rPr lang="en-CA" smtClean="0"/>
              <a:t>Manually-Written Application</a:t>
            </a:r>
            <a:endParaRPr lang="en-CA" dirty="0"/>
          </a:p>
        </p:txBody>
      </p:sp>
      <p:sp>
        <p:nvSpPr>
          <p:cNvPr id="6" name="Slide Number Placeholder 5"/>
          <p:cNvSpPr>
            <a:spLocks noGrp="1"/>
          </p:cNvSpPr>
          <p:nvPr>
            <p:ph type="sldNum" sz="quarter" idx="12"/>
          </p:nvPr>
        </p:nvSpPr>
        <p:spPr/>
        <p:txBody>
          <a:bodyPr/>
          <a:lstStyle/>
          <a:p>
            <a:fld id="{7B2023C8-B124-43A9-8F92-0EEF5BAA9995}" type="slidenum">
              <a:rPr lang="en-CA" smtClean="0"/>
              <a:pPr/>
              <a:t>25</a:t>
            </a:fld>
            <a:endParaRPr lang="en-CA" dirty="0"/>
          </a:p>
        </p:txBody>
      </p:sp>
      <p:sp>
        <p:nvSpPr>
          <p:cNvPr id="11" name="TextBox 10"/>
          <p:cNvSpPr txBox="1"/>
          <p:nvPr/>
        </p:nvSpPr>
        <p:spPr>
          <a:xfrm>
            <a:off x="3015675" y="5405604"/>
            <a:ext cx="5805051" cy="576096"/>
          </a:xfrm>
          <a:prstGeom prst="rect">
            <a:avLst/>
          </a:prstGeom>
          <a:solidFill>
            <a:schemeClr val="accent5">
              <a:lumMod val="20000"/>
              <a:lumOff val="80000"/>
            </a:schemeClr>
          </a:solidFill>
          <a:ln w="12700">
            <a:solidFill>
              <a:schemeClr val="bg1"/>
            </a:solidFill>
            <a:prstDash val="solid"/>
          </a:ln>
        </p:spPr>
        <p:txBody>
          <a:bodyPr wrap="square" rtlCol="0" anchor="ctr" anchorCtr="0">
            <a:noAutofit/>
          </a:bodyPr>
          <a:lstStyle/>
          <a:p>
            <a:pPr algn="ctr">
              <a:lnSpc>
                <a:spcPts val="2400"/>
              </a:lnSpc>
              <a:spcBef>
                <a:spcPts val="600"/>
              </a:spcBef>
            </a:pPr>
            <a:r>
              <a:rPr lang="en-CA" dirty="0">
                <a:solidFill>
                  <a:schemeClr val="bg1"/>
                </a:solidFill>
              </a:rPr>
              <a:t>Ideally, we would only have to write this </a:t>
            </a:r>
            <a:r>
              <a:rPr lang="en-CA" dirty="0" smtClean="0">
                <a:solidFill>
                  <a:schemeClr val="bg1"/>
                </a:solidFill>
              </a:rPr>
              <a:t>function</a:t>
            </a:r>
            <a:endParaRPr lang="en-CA" dirty="0">
              <a:solidFill>
                <a:schemeClr val="bg1"/>
              </a:solidFill>
            </a:endParaRPr>
          </a:p>
        </p:txBody>
      </p:sp>
      <p:cxnSp>
        <p:nvCxnSpPr>
          <p:cNvPr id="8" name="Straight Arrow Connector 7"/>
          <p:cNvCxnSpPr/>
          <p:nvPr/>
        </p:nvCxnSpPr>
        <p:spPr>
          <a:xfrm rot="10800000">
            <a:off x="6870700" y="4965701"/>
            <a:ext cx="1117600" cy="612775"/>
          </a:xfrm>
          <a:prstGeom prst="bentConnector3">
            <a:avLst>
              <a:gd name="adj1" fmla="val 0"/>
            </a:avLst>
          </a:prstGeom>
          <a:ln w="38100">
            <a:solidFill>
              <a:schemeClr val="bg1">
                <a:alpha val="7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39514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txBox="1">
            <a:spLocks/>
          </p:cNvSpPr>
          <p:nvPr/>
        </p:nvSpPr>
        <p:spPr>
          <a:xfrm>
            <a:off x="684212" y="1507237"/>
            <a:ext cx="10285797" cy="4784102"/>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lnSpc>
                <a:spcPts val="2000"/>
              </a:lnSpc>
              <a:spcBef>
                <a:spcPts val="0"/>
              </a:spcBef>
              <a:spcAft>
                <a:spcPts val="0"/>
              </a:spcAft>
              <a:buFont typeface="Wingdings 3" panose="05040102010807070707" pitchFamily="18" charset="2"/>
              <a:buNone/>
            </a:pPr>
            <a:r>
              <a:rPr lang="en-CA" sz="1800" dirty="0" err="1" smtClean="0">
                <a:solidFill>
                  <a:schemeClr val="accent6">
                    <a:lumMod val="75000"/>
                  </a:schemeClr>
                </a:solidFill>
                <a:latin typeface="Courier New" panose="02070309020205020404" pitchFamily="49" charset="0"/>
                <a:cs typeface="Courier New" panose="02070309020205020404" pitchFamily="49" charset="0"/>
              </a:rPr>
              <a:t>int</a:t>
            </a:r>
            <a:r>
              <a:rPr lang="en-CA" sz="1800" dirty="0" smtClean="0">
                <a:latin typeface="Courier New" panose="02070309020205020404" pitchFamily="49" charset="0"/>
                <a:cs typeface="Courier New" panose="02070309020205020404" pitchFamily="49" charset="0"/>
              </a:rPr>
              <a:t> </a:t>
            </a:r>
            <a:r>
              <a:rPr lang="en-CA" sz="1800" b="1" dirty="0" smtClean="0">
                <a:latin typeface="Courier New" panose="02070309020205020404" pitchFamily="49" charset="0"/>
                <a:cs typeface="Courier New" panose="02070309020205020404" pitchFamily="49" charset="0"/>
              </a:rPr>
              <a:t>process_ext4</a:t>
            </a:r>
            <a:r>
              <a:rPr lang="en-CA" sz="1800" dirty="0" smtClean="0">
                <a:latin typeface="Courier New" panose="02070309020205020404" pitchFamily="49" charset="0"/>
                <a:cs typeface="Courier New" panose="02070309020205020404" pitchFamily="49" charset="0"/>
              </a:rPr>
              <a:t>(vector&lt;Extent&gt; &amp; </a:t>
            </a:r>
            <a:r>
              <a:rPr lang="en-CA" sz="1800" dirty="0" err="1" smtClean="0">
                <a:latin typeface="Courier New" panose="02070309020205020404" pitchFamily="49" charset="0"/>
                <a:cs typeface="Courier New" panose="02070309020205020404" pitchFamily="49" charset="0"/>
              </a:rPr>
              <a:t>vec</a:t>
            </a:r>
            <a:r>
              <a:rPr lang="en-CA" sz="1800" dirty="0" smtClean="0">
                <a:latin typeface="Courier New" panose="02070309020205020404" pitchFamily="49" charset="0"/>
                <a:cs typeface="Courier New" panose="02070309020205020404" pitchFamily="49" charset="0"/>
              </a:rPr>
              <a:t>, Device &amp; dev) {</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smtClean="0">
                <a:solidFill>
                  <a:schemeClr val="accent4">
                    <a:lumMod val="75000"/>
                  </a:schemeClr>
                </a:solidFill>
                <a:effectLst/>
                <a:latin typeface="Courier New" panose="02070309020205020404" pitchFamily="49" charset="0"/>
                <a:cs typeface="Courier New" panose="02070309020205020404" pitchFamily="49" charset="0"/>
              </a:rPr>
              <a:t>/* ext4 super block is 1024 bytes away from start */</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struct</a:t>
            </a:r>
            <a:r>
              <a:rPr lang="en-CA" sz="1800" dirty="0" smtClean="0">
                <a:effectLst/>
                <a:latin typeface="Courier New" panose="02070309020205020404" pitchFamily="49" charset="0"/>
                <a:cs typeface="Courier New" panose="02070309020205020404" pitchFamily="49" charset="0"/>
              </a:rPr>
              <a:t> ext4_super_block * </a:t>
            </a:r>
            <a:r>
              <a:rPr lang="en-CA" sz="1800" dirty="0" err="1" smtClean="0">
                <a:effectLst/>
                <a:latin typeface="Courier New" panose="02070309020205020404" pitchFamily="49" charset="0"/>
                <a:cs typeface="Courier New" panose="02070309020205020404" pitchFamily="49" charset="0"/>
              </a:rPr>
              <a:t>sb</a:t>
            </a:r>
            <a:r>
              <a:rPr lang="en-CA" sz="1800" dirty="0" smtClean="0">
                <a:effectLst/>
                <a:latin typeface="Courier New" panose="02070309020205020404" pitchFamily="49" charset="0"/>
                <a:cs typeface="Courier New" panose="02070309020205020404" pitchFamily="49" charset="0"/>
              </a:rPr>
              <a:t> = </a:t>
            </a:r>
            <a:r>
              <a:rPr lang="en-CA" sz="1800" dirty="0" err="1" smtClean="0">
                <a:effectLst/>
                <a:latin typeface="Courier New" panose="02070309020205020404" pitchFamily="49" charset="0"/>
                <a:cs typeface="Courier New" panose="02070309020205020404" pitchFamily="49" charset="0"/>
              </a:rPr>
              <a:t>dev.read</a:t>
            </a:r>
            <a:r>
              <a:rPr lang="en-CA" sz="1800" dirty="0" smtClean="0">
                <a:effectLst/>
                <a:latin typeface="Courier New" panose="02070309020205020404" pitchFamily="49" charset="0"/>
                <a:cs typeface="Courier New" panose="02070309020205020404" pitchFamily="49" charset="0"/>
              </a:rPr>
              <a:t>(</a:t>
            </a:r>
            <a:r>
              <a:rPr lang="en-CA" sz="1800" dirty="0" smtClean="0">
                <a:solidFill>
                  <a:srgbClr val="0070C0"/>
                </a:solidFill>
                <a:effectLst/>
                <a:latin typeface="Courier New" panose="02070309020205020404" pitchFamily="49" charset="0"/>
                <a:cs typeface="Courier New" panose="02070309020205020404" pitchFamily="49" charset="0"/>
              </a:rPr>
              <a:t>1024</a:t>
            </a:r>
            <a:r>
              <a:rPr lang="en-CA" sz="1800" dirty="0" smtClean="0">
                <a:effectLst/>
                <a:latin typeface="Courier New" panose="02070309020205020404" pitchFamily="49" charset="0"/>
                <a:cs typeface="Courier New" panose="02070309020205020404" pitchFamily="49" charset="0"/>
              </a:rPr>
              <a:t>, SB_SIZE);</a:t>
            </a:r>
          </a:p>
          <a:p>
            <a:pPr marL="0" indent="0">
              <a:lnSpc>
                <a:spcPts val="2000"/>
              </a:lnSpc>
              <a:spcBef>
                <a:spcPts val="0"/>
              </a:spcBef>
              <a:spcAft>
                <a:spcPts val="0"/>
              </a:spcAft>
              <a:buNone/>
            </a:pPr>
            <a:r>
              <a:rPr lang="en-CA" sz="1800" dirty="0">
                <a:effectLst/>
                <a:latin typeface="Courier New" panose="02070309020205020404" pitchFamily="49" charset="0"/>
                <a:cs typeface="Courier New" panose="02070309020205020404" pitchFamily="49" charset="0"/>
              </a:rPr>
              <a:t> </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int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blk_size</a:t>
            </a:r>
            <a:r>
              <a:rPr lang="en-CA" sz="1800" dirty="0" smtClean="0">
                <a:effectLst/>
                <a:latin typeface="Courier New" panose="02070309020205020404" pitchFamily="49" charset="0"/>
                <a:cs typeface="Courier New" panose="02070309020205020404" pitchFamily="49" charset="0"/>
              </a:rPr>
              <a:t> = </a:t>
            </a:r>
            <a:r>
              <a:rPr lang="en-CA" sz="1800" dirty="0">
                <a:solidFill>
                  <a:srgbClr val="0070C0"/>
                </a:solidFill>
                <a:effectLst/>
                <a:latin typeface="Courier New" panose="02070309020205020404" pitchFamily="49" charset="0"/>
                <a:cs typeface="Courier New" panose="02070309020205020404" pitchFamily="49" charset="0"/>
              </a:rPr>
              <a:t>1024</a:t>
            </a:r>
            <a:r>
              <a:rPr lang="en-CA" sz="1800" dirty="0">
                <a:effectLst/>
                <a:latin typeface="Courier New" panose="02070309020205020404" pitchFamily="49" charset="0"/>
                <a:cs typeface="Courier New" panose="02070309020205020404" pitchFamily="49" charset="0"/>
              </a:rPr>
              <a:t> &lt;&lt; </a:t>
            </a:r>
            <a:r>
              <a:rPr lang="en-CA" sz="1800" b="1" dirty="0" err="1">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800" b="1" dirty="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800" b="1" dirty="0" err="1"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s_log_block_size</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dev.set_block_size</a:t>
            </a:r>
            <a:r>
              <a:rPr lang="en-CA" sz="1800" dirty="0" smtClean="0">
                <a:effectLst/>
                <a:latin typeface="Courier New" panose="02070309020205020404" pitchFamily="49" charset="0"/>
                <a:cs typeface="Courier New" panose="02070309020205020404" pitchFamily="49" charset="0"/>
              </a:rPr>
              <a:t>(</a:t>
            </a:r>
            <a:r>
              <a:rPr lang="en-CA" sz="1800" dirty="0" err="1" smtClean="0">
                <a:effectLst/>
                <a:latin typeface="Courier New" panose="02070309020205020404" pitchFamily="49" charset="0"/>
                <a:cs typeface="Courier New" panose="02070309020205020404" pitchFamily="49" charset="0"/>
              </a:rPr>
              <a:t>blk_size</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solidFill>
                  <a:srgbClr val="00B050"/>
                </a:solidFill>
                <a:effectLst/>
                <a:latin typeface="Courier New" panose="02070309020205020404" pitchFamily="49" charset="0"/>
                <a:cs typeface="Courier New" panose="02070309020205020404" pitchFamily="49" charset="0"/>
              </a:rPr>
              <a:t>  </a:t>
            </a:r>
            <a:r>
              <a:rPr lang="en-CA" sz="1800" dirty="0">
                <a:solidFill>
                  <a:schemeClr val="accent4">
                    <a:lumMod val="75000"/>
                  </a:schemeClr>
                </a:solidFill>
                <a:effectLst/>
                <a:latin typeface="Courier New" panose="02070309020205020404" pitchFamily="49" charset="0"/>
                <a:cs typeface="Courier New" panose="02070309020205020404" pitchFamily="49" charset="0"/>
              </a:rPr>
              <a:t>/* block group descriptors start at block 2 or 1 */</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int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bg_blknr</a:t>
            </a:r>
            <a:r>
              <a:rPr lang="en-CA" sz="1800" dirty="0" smtClean="0">
                <a:effectLst/>
                <a:latin typeface="Courier New" panose="02070309020205020404" pitchFamily="49" charset="0"/>
                <a:cs typeface="Courier New" panose="02070309020205020404" pitchFamily="49" charset="0"/>
              </a:rPr>
              <a:t> = (</a:t>
            </a:r>
            <a:r>
              <a:rPr lang="en-CA" sz="1800" b="1" dirty="0" err="1"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800" b="1" dirty="0"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800" b="1" dirty="0" err="1"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s_log_block_size</a:t>
            </a:r>
            <a:r>
              <a:rPr lang="en-CA" sz="1800" b="1" dirty="0" smtClean="0">
                <a:effectLst>
                  <a:glow rad="101600">
                    <a:srgbClr val="FFFF00">
                      <a:alpha val="40000"/>
                    </a:srgbClr>
                  </a:glow>
                </a:effectLst>
                <a:latin typeface="Courier New" panose="02070309020205020404" pitchFamily="49" charset="0"/>
                <a:cs typeface="Courier New" panose="02070309020205020404" pitchFamily="49" charset="0"/>
              </a:rPr>
              <a:t> </a:t>
            </a:r>
            <a:r>
              <a:rPr lang="en-CA" sz="1800" dirty="0" smtClean="0">
                <a:effectLst/>
                <a:latin typeface="Courier New" panose="02070309020205020404" pitchFamily="49" charset="0"/>
                <a:cs typeface="Courier New" panose="02070309020205020404" pitchFamily="49" charset="0"/>
              </a:rPr>
              <a:t>== </a:t>
            </a:r>
            <a:r>
              <a:rPr lang="en-CA" sz="1800" dirty="0" smtClean="0">
                <a:solidFill>
                  <a:srgbClr val="0070C0"/>
                </a:solidFill>
                <a:effectLst/>
                <a:latin typeface="Courier New" panose="02070309020205020404" pitchFamily="49" charset="0"/>
                <a:cs typeface="Courier New" panose="02070309020205020404" pitchFamily="49" charset="0"/>
              </a:rPr>
              <a:t>0</a:t>
            </a:r>
            <a:r>
              <a:rPr lang="en-CA" sz="1800" dirty="0" smtClean="0">
                <a:effectLst/>
                <a:latin typeface="Courier New" panose="02070309020205020404" pitchFamily="49" charset="0"/>
                <a:cs typeface="Courier New" panose="02070309020205020404" pitchFamily="49" charset="0"/>
              </a:rPr>
              <a:t>) </a:t>
            </a:r>
            <a:r>
              <a:rPr lang="en-CA" sz="1800" dirty="0" smtClean="0">
                <a:solidFill>
                  <a:srgbClr val="0070C0"/>
                </a:solidFill>
                <a:effectLst/>
                <a:latin typeface="Courier New" panose="02070309020205020404" pitchFamily="49" charset="0"/>
                <a:cs typeface="Courier New" panose="02070309020205020404" pitchFamily="49" charset="0"/>
              </a:rPr>
              <a:t>2</a:t>
            </a:r>
            <a:r>
              <a:rPr lang="en-CA" sz="1800" dirty="0" smtClean="0">
                <a:effectLst/>
                <a:latin typeface="Courier New" panose="02070309020205020404" pitchFamily="49" charset="0"/>
                <a:cs typeface="Courier New" panose="02070309020205020404" pitchFamily="49" charset="0"/>
              </a:rPr>
              <a:t> : </a:t>
            </a:r>
            <a:r>
              <a:rPr lang="en-CA" sz="1800" dirty="0" smtClean="0">
                <a:solidFill>
                  <a:srgbClr val="0070C0"/>
                </a:solidFill>
                <a:effectLst/>
                <a:latin typeface="Courier New" panose="02070309020205020404" pitchFamily="49" charset="0"/>
                <a:cs typeface="Courier New" panose="02070309020205020404" pitchFamily="49" charset="0"/>
              </a:rPr>
              <a:t>1</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int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bg_ngrps</a:t>
            </a:r>
            <a:r>
              <a:rPr lang="en-CA" sz="1800" dirty="0" smtClean="0">
                <a:effectLst/>
                <a:latin typeface="Courier New" panose="02070309020205020404" pitchFamily="49" charset="0"/>
                <a:cs typeface="Courier New" panose="02070309020205020404" pitchFamily="49" charset="0"/>
              </a:rPr>
              <a:t> = ceil(</a:t>
            </a:r>
            <a:r>
              <a:rPr lang="en-CA" sz="1800" b="1" dirty="0" err="1"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800" b="1" dirty="0"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800" b="1" dirty="0" err="1"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s_blocks_count</a:t>
            </a:r>
            <a:r>
              <a:rPr lang="en-CA" sz="1800" dirty="0" smtClean="0">
                <a:effectLst/>
                <a:latin typeface="Courier New" panose="02070309020205020404" pitchFamily="49" charset="0"/>
                <a:cs typeface="Courier New" panose="02070309020205020404" pitchFamily="49" charset="0"/>
              </a:rPr>
              <a:t>, </a:t>
            </a:r>
            <a:r>
              <a:rPr lang="en-CA" sz="1800" b="1" dirty="0" err="1"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800" b="1" dirty="0"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800" b="1" dirty="0" err="1"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s_blocks_per_group</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a:effectLst/>
                <a:latin typeface="Courier New" panose="02070309020205020404" pitchFamily="49" charset="0"/>
                <a:cs typeface="Courier New" panose="02070309020205020404" pitchFamily="49" charset="0"/>
              </a:rPr>
              <a:t> </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int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bg_nblks</a:t>
            </a:r>
            <a:r>
              <a:rPr lang="en-CA" sz="1800" dirty="0" smtClean="0">
                <a:effectLst/>
                <a:latin typeface="Courier New" panose="02070309020205020404" pitchFamily="49" charset="0"/>
                <a:cs typeface="Courier New" panose="02070309020205020404" pitchFamily="49" charset="0"/>
              </a:rPr>
              <a:t> </a:t>
            </a:r>
            <a:r>
              <a:rPr lang="en-CA" sz="1800" dirty="0">
                <a:effectLst/>
                <a:latin typeface="Courier New" panose="02070309020205020404" pitchFamily="49" charset="0"/>
                <a:cs typeface="Courier New" panose="02070309020205020404" pitchFamily="49" charset="0"/>
              </a:rPr>
              <a:t>= </a:t>
            </a:r>
            <a:r>
              <a:rPr lang="en-CA" sz="1800" dirty="0" smtClean="0">
                <a:effectLst/>
                <a:latin typeface="Courier New" panose="02070309020205020404" pitchFamily="49" charset="0"/>
                <a:cs typeface="Courier New" panose="02070309020205020404" pitchFamily="49" charset="0"/>
              </a:rPr>
              <a:t>ceil(</a:t>
            </a:r>
            <a:r>
              <a:rPr lang="en-CA" sz="1800" dirty="0" err="1" smtClean="0">
                <a:effectLst/>
                <a:latin typeface="Courier New" panose="02070309020205020404" pitchFamily="49" charset="0"/>
                <a:cs typeface="Courier New" panose="02070309020205020404" pitchFamily="49" charset="0"/>
              </a:rPr>
              <a:t>bg_ngrps</a:t>
            </a:r>
            <a:r>
              <a:rPr lang="en-CA" sz="1800" dirty="0" smtClean="0">
                <a:effectLst/>
                <a:latin typeface="Courier New" panose="02070309020205020404" pitchFamily="49" charset="0"/>
                <a:cs typeface="Courier New" panose="02070309020205020404" pitchFamily="49" charset="0"/>
              </a:rPr>
              <a:t>*</a:t>
            </a:r>
            <a:r>
              <a:rPr lang="en-CA" sz="1800" dirty="0" err="1" smtClean="0">
                <a:effectLst/>
                <a:latin typeface="Courier New" panose="02070309020205020404" pitchFamily="49" charset="0"/>
                <a:cs typeface="Courier New" panose="02070309020205020404" pitchFamily="49" charset="0"/>
              </a:rPr>
              <a:t>sizeof</a:t>
            </a:r>
            <a:r>
              <a:rPr lang="en-CA" sz="1800" dirty="0" smtClean="0">
                <a:effectLst/>
                <a:latin typeface="Courier New" panose="02070309020205020404" pitchFamily="49" charset="0"/>
                <a:cs typeface="Courier New" panose="02070309020205020404" pitchFamily="49" charset="0"/>
              </a:rPr>
              <a:t>(</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struct</a:t>
            </a:r>
            <a:r>
              <a:rPr lang="en-CA" sz="1800" dirty="0" smtClean="0">
                <a:effectLst/>
                <a:latin typeface="Courier New" panose="02070309020205020404" pitchFamily="49" charset="0"/>
                <a:cs typeface="Courier New" panose="02070309020205020404" pitchFamily="49" charset="0"/>
              </a:rPr>
              <a:t> ext4_group_desc), </a:t>
            </a:r>
            <a:r>
              <a:rPr lang="en-CA" sz="1800" dirty="0" err="1">
                <a:effectLst/>
                <a:latin typeface="Courier New" panose="02070309020205020404" pitchFamily="49" charset="0"/>
                <a:cs typeface="Courier New" panose="02070309020205020404" pitchFamily="49" charset="0"/>
              </a:rPr>
              <a:t>blk_size</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solidFill>
                  <a:srgbClr val="00B050"/>
                </a:solidFill>
                <a:effectLst/>
                <a:latin typeface="Courier New" panose="02070309020205020404" pitchFamily="49" charset="0"/>
                <a:cs typeface="Courier New" panose="02070309020205020404" pitchFamily="49" charset="0"/>
              </a:rPr>
              <a:t>  </a:t>
            </a:r>
            <a:r>
              <a:rPr lang="en-CA" sz="1800" dirty="0">
                <a:solidFill>
                  <a:schemeClr val="accent4">
                    <a:lumMod val="75000"/>
                  </a:schemeClr>
                </a:solidFill>
                <a:effectLst/>
                <a:latin typeface="Courier New" panose="02070309020205020404" pitchFamily="49" charset="0"/>
                <a:cs typeface="Courier New" panose="02070309020205020404" pitchFamily="49" charset="0"/>
              </a:rPr>
              <a:t>/* read all of the block group descriptors into memory */</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struct</a:t>
            </a:r>
            <a:r>
              <a:rPr lang="en-CA" sz="1800" dirty="0" smtClean="0">
                <a:effectLst/>
                <a:latin typeface="Courier New" panose="02070309020205020404" pitchFamily="49" charset="0"/>
                <a:cs typeface="Courier New" panose="02070309020205020404" pitchFamily="49" charset="0"/>
              </a:rPr>
              <a:t> ext4_group_desc * </a:t>
            </a:r>
            <a:r>
              <a:rPr lang="en-CA" sz="1800" dirty="0" err="1" smtClean="0">
                <a:effectLst/>
                <a:latin typeface="Courier New" panose="02070309020205020404" pitchFamily="49" charset="0"/>
                <a:cs typeface="Courier New" panose="02070309020205020404" pitchFamily="49" charset="0"/>
              </a:rPr>
              <a:t>gd</a:t>
            </a:r>
            <a:r>
              <a:rPr lang="en-CA" sz="1800" dirty="0" smtClean="0">
                <a:effectLst/>
                <a:latin typeface="Courier New" panose="02070309020205020404" pitchFamily="49" charset="0"/>
                <a:cs typeface="Courier New" panose="02070309020205020404" pitchFamily="49" charset="0"/>
              </a:rPr>
              <a:t> = </a:t>
            </a:r>
            <a:r>
              <a:rPr lang="en-CA" sz="1800" dirty="0" err="1" smtClean="0">
                <a:effectLst/>
                <a:latin typeface="Courier New" panose="02070309020205020404" pitchFamily="49" charset="0"/>
                <a:cs typeface="Courier New" panose="02070309020205020404" pitchFamily="49" charset="0"/>
              </a:rPr>
              <a:t>dev.read_block</a:t>
            </a:r>
            <a:r>
              <a:rPr lang="en-CA" sz="1800" dirty="0" smtClean="0">
                <a:effectLst/>
                <a:latin typeface="Courier New" panose="02070309020205020404" pitchFamily="49" charset="0"/>
                <a:cs typeface="Courier New" panose="02070309020205020404" pitchFamily="49" charset="0"/>
              </a:rPr>
              <a:t>(</a:t>
            </a:r>
            <a:r>
              <a:rPr lang="en-CA" sz="1800" dirty="0" err="1" smtClean="0">
                <a:effectLst/>
                <a:latin typeface="Courier New" panose="02070309020205020404" pitchFamily="49" charset="0"/>
                <a:cs typeface="Courier New" panose="02070309020205020404" pitchFamily="49" charset="0"/>
              </a:rPr>
              <a:t>bg_blknr</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bg_nblks</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None/>
            </a:pPr>
            <a:r>
              <a:rPr lang="en-CA" sz="1800" dirty="0" smtClean="0">
                <a:effectLst/>
                <a:latin typeface="Courier New" panose="02070309020205020404" pitchFamily="49" charset="0"/>
                <a:cs typeface="Courier New" panose="02070309020205020404" pitchFamily="49" charset="0"/>
              </a:rPr>
              <a:t>  for (</a:t>
            </a:r>
            <a:r>
              <a:rPr lang="en-CA" sz="1800" dirty="0" err="1" smtClean="0">
                <a:solidFill>
                  <a:schemeClr val="accent6">
                    <a:lumMod val="75000"/>
                  </a:schemeClr>
                </a:solidFill>
                <a:effectLst/>
                <a:latin typeface="Courier New" panose="02070309020205020404" pitchFamily="49" charset="0"/>
                <a:cs typeface="Courier New" panose="02070309020205020404" pitchFamily="49" charset="0"/>
              </a:rPr>
              <a:t>int</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i</a:t>
            </a:r>
            <a:r>
              <a:rPr lang="en-CA" sz="1800" dirty="0" smtClean="0">
                <a:effectLst/>
                <a:latin typeface="Courier New" panose="02070309020205020404" pitchFamily="49" charset="0"/>
                <a:cs typeface="Courier New" panose="02070309020205020404" pitchFamily="49" charset="0"/>
              </a:rPr>
              <a:t> = </a:t>
            </a:r>
            <a:r>
              <a:rPr lang="en-CA" sz="1800" dirty="0" smtClean="0">
                <a:solidFill>
                  <a:srgbClr val="0070C0"/>
                </a:solidFill>
                <a:effectLst/>
                <a:latin typeface="Courier New" panose="02070309020205020404" pitchFamily="49" charset="0"/>
                <a:cs typeface="Courier New" panose="02070309020205020404" pitchFamily="49" charset="0"/>
              </a:rPr>
              <a:t>0</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i</a:t>
            </a:r>
            <a:r>
              <a:rPr lang="en-CA" sz="1800" dirty="0" smtClean="0">
                <a:effectLst/>
                <a:latin typeface="Courier New" panose="02070309020205020404" pitchFamily="49" charset="0"/>
                <a:cs typeface="Courier New" panose="02070309020205020404" pitchFamily="49" charset="0"/>
              </a:rPr>
              <a:t> &lt; </a:t>
            </a:r>
            <a:r>
              <a:rPr lang="en-CA" sz="1800" dirty="0" err="1">
                <a:effectLst/>
                <a:latin typeface="Courier New" panose="02070309020205020404" pitchFamily="49" charset="0"/>
                <a:cs typeface="Courier New" panose="02070309020205020404" pitchFamily="49" charset="0"/>
              </a:rPr>
              <a:t>bg_ngrps</a:t>
            </a:r>
            <a:r>
              <a:rPr lang="en-CA" sz="1800" dirty="0" smtClean="0">
                <a:effectLst/>
                <a:latin typeface="Courier New" panose="02070309020205020404" pitchFamily="49" charset="0"/>
                <a:cs typeface="Courier New" panose="02070309020205020404" pitchFamily="49" charset="0"/>
              </a:rPr>
              <a:t>; ++</a:t>
            </a:r>
            <a:r>
              <a:rPr lang="en-CA" sz="1800" dirty="0" err="1" smtClean="0">
                <a:effectLst/>
                <a:latin typeface="Courier New" panose="02070309020205020404" pitchFamily="49" charset="0"/>
                <a:cs typeface="Courier New" panose="02070309020205020404" pitchFamily="49" charset="0"/>
              </a:rPr>
              <a:t>i</a:t>
            </a:r>
            <a:r>
              <a:rPr lang="en-CA" sz="1800" dirty="0" smtClean="0">
                <a:effectLst/>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smtClean="0">
                <a:effectLst/>
                <a:latin typeface="Courier New" panose="02070309020205020404" pitchFamily="49" charset="0"/>
                <a:cs typeface="Courier New" panose="02070309020205020404" pitchFamily="49" charset="0"/>
              </a:rPr>
              <a:t>	</a:t>
            </a:r>
            <a:r>
              <a:rPr lang="en-CA" sz="1800" dirty="0" smtClean="0">
                <a:solidFill>
                  <a:schemeClr val="accent6">
                    <a:lumMod val="75000"/>
                  </a:schemeClr>
                </a:solidFill>
                <a:effectLst/>
                <a:latin typeface="Courier New" panose="02070309020205020404" pitchFamily="49" charset="0"/>
                <a:cs typeface="Courier New" panose="02070309020205020404" pitchFamily="49" charset="0"/>
              </a:rPr>
              <a:t>char</a:t>
            </a:r>
            <a:r>
              <a:rPr lang="en-CA" sz="1800" dirty="0" smtClean="0">
                <a:effectLst/>
                <a:latin typeface="Courier New" panose="02070309020205020404" pitchFamily="49" charset="0"/>
                <a:cs typeface="Courier New" panose="02070309020205020404" pitchFamily="49" charset="0"/>
              </a:rPr>
              <a:t> * </a:t>
            </a:r>
            <a:r>
              <a:rPr lang="en-CA" sz="1800" dirty="0" err="1" smtClean="0">
                <a:effectLst/>
                <a:latin typeface="Courier New" panose="02070309020205020404" pitchFamily="49" charset="0"/>
                <a:cs typeface="Courier New" panose="02070309020205020404" pitchFamily="49" charset="0"/>
              </a:rPr>
              <a:t>buf</a:t>
            </a:r>
            <a:r>
              <a:rPr lang="en-CA" sz="1800" dirty="0" smtClean="0">
                <a:effectLst/>
                <a:latin typeface="Courier New" panose="02070309020205020404" pitchFamily="49" charset="0"/>
                <a:cs typeface="Courier New" panose="02070309020205020404" pitchFamily="49" charset="0"/>
              </a:rPr>
              <a:t> = </a:t>
            </a:r>
            <a:r>
              <a:rPr lang="en-CA" sz="1800" dirty="0" err="1" smtClean="0">
                <a:effectLst/>
                <a:latin typeface="Courier New" panose="02070309020205020404" pitchFamily="49" charset="0"/>
                <a:cs typeface="Courier New" panose="02070309020205020404" pitchFamily="49" charset="0"/>
              </a:rPr>
              <a:t>dev.read_block</a:t>
            </a:r>
            <a:r>
              <a:rPr lang="en-CA" sz="1800" dirty="0" smtClean="0">
                <a:effectLst/>
                <a:latin typeface="Courier New" panose="02070309020205020404" pitchFamily="49" charset="0"/>
                <a:cs typeface="Courier New" panose="02070309020205020404" pitchFamily="49" charset="0"/>
              </a:rPr>
              <a:t>(</a:t>
            </a:r>
            <a:r>
              <a:rPr lang="en-CA" sz="1800" b="1" dirty="0" err="1"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gd</a:t>
            </a:r>
            <a:r>
              <a:rPr lang="en-CA" sz="1800" b="1" dirty="0"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800" b="1" dirty="0" err="1"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i</a:t>
            </a:r>
            <a:r>
              <a:rPr lang="en-CA" sz="1800" b="1" dirty="0"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800" b="1" dirty="0" err="1" smtClean="0">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bg_block_bitmap</a:t>
            </a:r>
            <a:r>
              <a:rPr lang="en-CA" sz="1800" dirty="0" smtClean="0">
                <a:effectLst/>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	</a:t>
            </a:r>
            <a:r>
              <a:rPr lang="en-CA" sz="1800" dirty="0" err="1" smtClean="0">
                <a:solidFill>
                  <a:schemeClr val="accent6">
                    <a:lumMod val="75000"/>
                  </a:schemeClr>
                </a:solidFill>
                <a:latin typeface="Courier New" panose="02070309020205020404" pitchFamily="49" charset="0"/>
                <a:cs typeface="Courier New" panose="02070309020205020404" pitchFamily="49" charset="0"/>
              </a:rPr>
              <a:t>int</a:t>
            </a:r>
            <a:r>
              <a:rPr lang="en-CA" sz="1800" dirty="0" smtClean="0">
                <a:latin typeface="Courier New" panose="02070309020205020404" pitchFamily="49" charset="0"/>
                <a:cs typeface="Courier New" panose="02070309020205020404" pitchFamily="49" charset="0"/>
              </a:rPr>
              <a:t> ret = </a:t>
            </a:r>
            <a:r>
              <a:rPr lang="en-CA" sz="1800" dirty="0" err="1" smtClean="0">
                <a:latin typeface="Courier New" panose="02070309020205020404" pitchFamily="49" charset="0"/>
                <a:cs typeface="Courier New" panose="02070309020205020404" pitchFamily="49" charset="0"/>
              </a:rPr>
              <a:t>process_block_bitmap</a:t>
            </a:r>
            <a:r>
              <a:rPr lang="en-CA" sz="1800" dirty="0" smtClean="0">
                <a:latin typeface="Courier New" panose="02070309020205020404" pitchFamily="49" charset="0"/>
                <a:cs typeface="Courier New" panose="02070309020205020404" pitchFamily="49" charset="0"/>
              </a:rPr>
              <a:t>(</a:t>
            </a:r>
            <a:r>
              <a:rPr lang="en-CA" sz="1800" dirty="0" err="1" smtClean="0">
                <a:latin typeface="Courier New" panose="02070309020205020404" pitchFamily="49" charset="0"/>
                <a:cs typeface="Courier New" panose="02070309020205020404" pitchFamily="49" charset="0"/>
              </a:rPr>
              <a:t>buf</a:t>
            </a: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vec</a:t>
            </a:r>
            <a:r>
              <a:rPr lang="en-CA" sz="1800" dirty="0" smtClean="0">
                <a:latin typeface="Courier New" panose="02070309020205020404" pitchFamily="49" charset="0"/>
                <a:cs typeface="Courier New" panose="02070309020205020404" pitchFamily="49" charset="0"/>
              </a:rPr>
              <a:t>);</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a:latin typeface="Courier New" panose="02070309020205020404" pitchFamily="49" charset="0"/>
                <a:cs typeface="Courier New" panose="02070309020205020404" pitchFamily="49" charset="0"/>
              </a:rPr>
              <a:t> </a:t>
            </a:r>
            <a:r>
              <a:rPr lang="en-CA" sz="1800" dirty="0" smtClean="0">
                <a:latin typeface="Courier New" panose="02070309020205020404" pitchFamily="49" charset="0"/>
                <a:cs typeface="Courier New" panose="02070309020205020404" pitchFamily="49" charset="0"/>
              </a:rPr>
              <a:t> …</a:t>
            </a:r>
          </a:p>
          <a:p>
            <a:pPr marL="0" indent="0">
              <a:lnSpc>
                <a:spcPts val="2000"/>
              </a:lnSpc>
              <a:spcBef>
                <a:spcPts val="0"/>
              </a:spcBef>
              <a:spcAft>
                <a:spcPts val="0"/>
              </a:spcAft>
              <a:buFont typeface="Wingdings 3" panose="05040102010807070707" pitchFamily="18" charset="2"/>
              <a:buNone/>
            </a:pPr>
            <a:r>
              <a:rPr lang="en-CA" sz="1800" dirty="0" smtClean="0">
                <a:latin typeface="Courier New" panose="02070309020205020404" pitchFamily="49" charset="0"/>
                <a:cs typeface="Courier New" panose="02070309020205020404" pitchFamily="49" charset="0"/>
              </a:rPr>
              <a:t>}</a:t>
            </a:r>
          </a:p>
        </p:txBody>
      </p:sp>
      <p:sp>
        <p:nvSpPr>
          <p:cNvPr id="5" name="Title 4"/>
          <p:cNvSpPr>
            <a:spLocks noGrp="1"/>
          </p:cNvSpPr>
          <p:nvPr>
            <p:ph type="title"/>
          </p:nvPr>
        </p:nvSpPr>
        <p:spPr/>
        <p:txBody>
          <a:bodyPr/>
          <a:lstStyle/>
          <a:p>
            <a:r>
              <a:rPr lang="en-CA" smtClean="0"/>
              <a:t>Manually-Written Application</a:t>
            </a:r>
            <a:endParaRPr lang="en-CA" dirty="0"/>
          </a:p>
        </p:txBody>
      </p:sp>
      <p:sp>
        <p:nvSpPr>
          <p:cNvPr id="8" name="Slide Number Placeholder 7"/>
          <p:cNvSpPr>
            <a:spLocks noGrp="1"/>
          </p:cNvSpPr>
          <p:nvPr>
            <p:ph type="sldNum" sz="quarter" idx="12"/>
          </p:nvPr>
        </p:nvSpPr>
        <p:spPr/>
        <p:txBody>
          <a:bodyPr/>
          <a:lstStyle/>
          <a:p>
            <a:fld id="{7B2023C8-B124-43A9-8F92-0EEF5BAA9995}" type="slidenum">
              <a:rPr lang="en-CA" smtClean="0"/>
              <a:pPr/>
              <a:t>26</a:t>
            </a:fld>
            <a:endParaRPr lang="en-CA" dirty="0"/>
          </a:p>
        </p:txBody>
      </p:sp>
      <p:sp>
        <p:nvSpPr>
          <p:cNvPr id="13" name="TextBox 12"/>
          <p:cNvSpPr txBox="1"/>
          <p:nvPr/>
        </p:nvSpPr>
        <p:spPr>
          <a:xfrm>
            <a:off x="3238500" y="5405604"/>
            <a:ext cx="6589264" cy="842796"/>
          </a:xfrm>
          <a:prstGeom prst="rect">
            <a:avLst/>
          </a:prstGeom>
          <a:solidFill>
            <a:schemeClr val="accent5">
              <a:lumMod val="20000"/>
              <a:lumOff val="80000"/>
            </a:schemeClr>
          </a:solidFill>
          <a:ln w="12700">
            <a:solidFill>
              <a:schemeClr val="bg1"/>
            </a:solidFill>
            <a:prstDash val="solid"/>
          </a:ln>
        </p:spPr>
        <p:txBody>
          <a:bodyPr wrap="square" rtlCol="0" anchor="ctr" anchorCtr="0">
            <a:noAutofit/>
          </a:bodyPr>
          <a:lstStyle/>
          <a:p>
            <a:pPr algn="ctr">
              <a:lnSpc>
                <a:spcPts val="2400"/>
              </a:lnSpc>
              <a:spcBef>
                <a:spcPts val="600"/>
              </a:spcBef>
            </a:pPr>
            <a:r>
              <a:rPr lang="en-CA" b="1" dirty="0">
                <a:solidFill>
                  <a:schemeClr val="bg1"/>
                </a:solidFill>
              </a:rPr>
              <a:t>No sanity </a:t>
            </a:r>
            <a:r>
              <a:rPr lang="en-CA" b="1" dirty="0" smtClean="0">
                <a:solidFill>
                  <a:schemeClr val="bg1"/>
                </a:solidFill>
              </a:rPr>
              <a:t>checks! </a:t>
            </a:r>
            <a:r>
              <a:rPr lang="en-CA" dirty="0" smtClean="0">
                <a:solidFill>
                  <a:schemeClr val="bg1"/>
                </a:solidFill>
              </a:rPr>
              <a:t>Value </a:t>
            </a:r>
            <a:r>
              <a:rPr lang="en-CA" dirty="0">
                <a:solidFill>
                  <a:schemeClr val="bg1"/>
                </a:solidFill>
              </a:rPr>
              <a:t>may be </a:t>
            </a:r>
            <a:r>
              <a:rPr lang="en-CA" dirty="0" smtClean="0">
                <a:solidFill>
                  <a:schemeClr val="bg1"/>
                </a:solidFill>
              </a:rPr>
              <a:t>out-of-bound </a:t>
            </a:r>
            <a:r>
              <a:rPr lang="en-CA" dirty="0" smtClean="0">
                <a:solidFill>
                  <a:schemeClr val="bg1"/>
                </a:solidFill>
              </a:rPr>
              <a:t>or invalid, which can </a:t>
            </a:r>
            <a:r>
              <a:rPr lang="en-CA" dirty="0">
                <a:solidFill>
                  <a:schemeClr val="bg1"/>
                </a:solidFill>
              </a:rPr>
              <a:t>cause </a:t>
            </a:r>
            <a:r>
              <a:rPr lang="en-CA" dirty="0" smtClean="0">
                <a:solidFill>
                  <a:schemeClr val="bg1"/>
                </a:solidFill>
              </a:rPr>
              <a:t>crashes or </a:t>
            </a:r>
            <a:r>
              <a:rPr lang="en-CA" dirty="0">
                <a:solidFill>
                  <a:schemeClr val="bg1"/>
                </a:solidFill>
              </a:rPr>
              <a:t>garbage output</a:t>
            </a:r>
          </a:p>
        </p:txBody>
      </p:sp>
    </p:spTree>
    <p:extLst>
      <p:ext uri="{BB962C8B-B14F-4D97-AF65-F5344CB8AC3E}">
        <p14:creationId xmlns:p14="http://schemas.microsoft.com/office/powerpoint/2010/main" val="13513057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CA" smtClean="0"/>
              <a:t>Application Using Spiffy Library</a:t>
            </a:r>
            <a:endParaRPr lang="en-CA" dirty="0"/>
          </a:p>
        </p:txBody>
      </p:sp>
      <p:sp>
        <p:nvSpPr>
          <p:cNvPr id="15" name="Slide Number Placeholder 14"/>
          <p:cNvSpPr>
            <a:spLocks noGrp="1"/>
          </p:cNvSpPr>
          <p:nvPr>
            <p:ph type="sldNum" sz="quarter" idx="12"/>
          </p:nvPr>
        </p:nvSpPr>
        <p:spPr/>
        <p:txBody>
          <a:bodyPr/>
          <a:lstStyle/>
          <a:p>
            <a:fld id="{7B2023C8-B124-43A9-8F92-0EEF5BAA9995}" type="slidenum">
              <a:rPr lang="en-CA" smtClean="0"/>
              <a:pPr/>
              <a:t>27</a:t>
            </a:fld>
            <a:endParaRPr lang="en-CA" dirty="0"/>
          </a:p>
        </p:txBody>
      </p:sp>
      <p:sp>
        <p:nvSpPr>
          <p:cNvPr id="11" name="Content Placeholder 6"/>
          <p:cNvSpPr txBox="1">
            <a:spLocks/>
          </p:cNvSpPr>
          <p:nvPr/>
        </p:nvSpPr>
        <p:spPr>
          <a:xfrm>
            <a:off x="684212" y="1507237"/>
            <a:ext cx="10285797" cy="4278718"/>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Font typeface="Wingdings 3" panose="05040102010807070707" pitchFamily="18" charset="2"/>
              <a:buNone/>
            </a:pPr>
            <a:r>
              <a:rPr lang="en-CA" sz="2000" dirty="0">
                <a:solidFill>
                  <a:schemeClr val="accent6">
                    <a:lumMod val="75000"/>
                  </a:schemeClr>
                </a:solidFill>
                <a:latin typeface="Courier New" panose="02070309020205020404" pitchFamily="49" charset="0"/>
                <a:cs typeface="Courier New" panose="02070309020205020404" pitchFamily="49" charset="0"/>
              </a:rPr>
              <a:t> </a:t>
            </a:r>
            <a:r>
              <a:rPr lang="en-CA" sz="2000" dirty="0" smtClean="0">
                <a:solidFill>
                  <a:schemeClr val="accent6">
                    <a:lumMod val="75000"/>
                  </a:schemeClr>
                </a:solidFill>
                <a:latin typeface="Courier New" panose="02070309020205020404" pitchFamily="49" charset="0"/>
                <a:cs typeface="Courier New" panose="02070309020205020404" pitchFamily="49" charset="0"/>
              </a:rPr>
              <a:t> </a:t>
            </a:r>
            <a:r>
              <a:rPr lang="en-CA" sz="2000" dirty="0" err="1" smtClean="0">
                <a:solidFill>
                  <a:schemeClr val="accent6">
                    <a:lumMod val="75000"/>
                  </a:schemeClr>
                </a:solidFill>
                <a:latin typeface="Courier New" panose="02070309020205020404" pitchFamily="49" charset="0"/>
                <a:cs typeface="Courier New" panose="02070309020205020404" pitchFamily="49" charset="0"/>
              </a:rPr>
              <a:t>int</a:t>
            </a:r>
            <a:r>
              <a:rPr lang="en-CA" sz="2000" dirty="0" smtClean="0">
                <a:latin typeface="Courier New" panose="02070309020205020404" pitchFamily="49" charset="0"/>
                <a:cs typeface="Courier New" panose="02070309020205020404" pitchFamily="49" charset="0"/>
              </a:rPr>
              <a:t> </a:t>
            </a:r>
            <a:r>
              <a:rPr lang="en-CA" sz="2000" b="1" dirty="0" smtClean="0">
                <a:latin typeface="Courier New" panose="02070309020205020404" pitchFamily="49" charset="0"/>
                <a:cs typeface="Courier New" panose="02070309020205020404" pitchFamily="49" charset="0"/>
              </a:rPr>
              <a:t>process_ext4</a:t>
            </a:r>
            <a:r>
              <a:rPr lang="en-CA" sz="2000" dirty="0" smtClean="0">
                <a:latin typeface="Courier New" panose="02070309020205020404" pitchFamily="49" charset="0"/>
                <a:cs typeface="Courier New" panose="02070309020205020404" pitchFamily="49" charset="0"/>
              </a:rPr>
              <a:t>(vector&lt;Extent&gt; &amp; </a:t>
            </a:r>
            <a:r>
              <a:rPr lang="en-CA" sz="2000" dirty="0" err="1" smtClean="0">
                <a:latin typeface="Courier New" panose="02070309020205020404" pitchFamily="49" charset="0"/>
                <a:cs typeface="Courier New" panose="02070309020205020404" pitchFamily="49" charset="0"/>
              </a:rPr>
              <a:t>vec</a:t>
            </a:r>
            <a:r>
              <a:rPr lang="en-CA" sz="2000" dirty="0" smtClean="0">
                <a:latin typeface="Courier New" panose="02070309020205020404" pitchFamily="49" charset="0"/>
                <a:cs typeface="Courier New" panose="02070309020205020404" pitchFamily="49" charset="0"/>
              </a:rPr>
              <a:t>, Device &amp; dev) {</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1</a:t>
            </a:r>
            <a:r>
              <a:rPr lang="en-CA" sz="2000" dirty="0" smtClean="0">
                <a:latin typeface="Courier New" panose="02070309020205020404" pitchFamily="49" charset="0"/>
                <a:cs typeface="Courier New" panose="02070309020205020404" pitchFamily="49" charset="0"/>
              </a:rPr>
              <a:t>:  Ext4 </a:t>
            </a:r>
            <a:r>
              <a:rPr lang="en-CA" sz="2000" dirty="0">
                <a:latin typeface="Courier New" panose="02070309020205020404" pitchFamily="49" charset="0"/>
                <a:cs typeface="Courier New" panose="02070309020205020404" pitchFamily="49" charset="0"/>
              </a:rPr>
              <a:t>ext4(dev</a:t>
            </a:r>
            <a:r>
              <a:rPr lang="en-CA" sz="20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2</a:t>
            </a:r>
            <a:r>
              <a:rPr lang="en-CA" sz="2000" dirty="0" smtClean="0">
                <a:latin typeface="Courier New" panose="02070309020205020404" pitchFamily="49" charset="0"/>
                <a:cs typeface="Courier New" panose="02070309020205020404" pitchFamily="49" charset="0"/>
              </a:rPr>
              <a:t>:  </a:t>
            </a:r>
            <a:r>
              <a:rPr lang="en-CA" sz="2000" dirty="0">
                <a:solidFill>
                  <a:schemeClr val="accent4">
                    <a:lumMod val="75000"/>
                  </a:schemeClr>
                </a:solidFill>
                <a:latin typeface="Courier New" panose="02070309020205020404" pitchFamily="49" charset="0"/>
                <a:cs typeface="Courier New" panose="02070309020205020404" pitchFamily="49" charset="0"/>
              </a:rPr>
              <a:t>/* read super block into memory */</a:t>
            </a:r>
          </a:p>
          <a:p>
            <a:pPr marL="0" indent="0">
              <a:spcBef>
                <a:spcPts val="0"/>
              </a:spcBef>
              <a:spcAft>
                <a:spcPts val="0"/>
              </a:spcAft>
              <a:buNone/>
            </a:pPr>
            <a:r>
              <a:rPr lang="en-CA" sz="2000" b="1" dirty="0">
                <a:latin typeface="Courier New" panose="02070309020205020404" pitchFamily="49" charset="0"/>
                <a:cs typeface="Courier New" panose="02070309020205020404" pitchFamily="49" charset="0"/>
              </a:rPr>
              <a:t>3</a:t>
            </a:r>
            <a:r>
              <a:rPr lang="en-CA" sz="2000" b="1" dirty="0" smtClean="0">
                <a:latin typeface="Courier New" panose="02070309020205020404" pitchFamily="49" charset="0"/>
                <a:cs typeface="Courier New" panose="02070309020205020404" pitchFamily="49" charset="0"/>
              </a:rPr>
              <a:t>:  Ext4</a:t>
            </a:r>
            <a:r>
              <a:rPr lang="en-CA" sz="2000" b="1" dirty="0">
                <a:latin typeface="Courier New" panose="02070309020205020404" pitchFamily="49" charset="0"/>
                <a:cs typeface="Courier New" panose="02070309020205020404" pitchFamily="49" charset="0"/>
              </a:rPr>
              <a:t>::</a:t>
            </a:r>
            <a:r>
              <a:rPr lang="en-CA" sz="2000" b="1" dirty="0" err="1">
                <a:latin typeface="Courier New" panose="02070309020205020404" pitchFamily="49" charset="0"/>
                <a:cs typeface="Courier New" panose="02070309020205020404" pitchFamily="49" charset="0"/>
              </a:rPr>
              <a:t>SuperBlock</a:t>
            </a:r>
            <a:r>
              <a:rPr lang="en-CA" sz="2000" b="1" dirty="0">
                <a:latin typeface="Courier New" panose="02070309020205020404" pitchFamily="49" charset="0"/>
                <a:cs typeface="Courier New" panose="02070309020205020404" pitchFamily="49" charset="0"/>
              </a:rPr>
              <a:t> * </a:t>
            </a:r>
            <a:r>
              <a:rPr lang="en-CA" sz="2000" b="1" dirty="0" err="1">
                <a:latin typeface="Courier New" panose="02070309020205020404" pitchFamily="49" charset="0"/>
                <a:cs typeface="Courier New" panose="02070309020205020404" pitchFamily="49" charset="0"/>
              </a:rPr>
              <a:t>sb</a:t>
            </a:r>
            <a:r>
              <a:rPr lang="en-CA" sz="2000" b="1" dirty="0">
                <a:latin typeface="Courier New" panose="02070309020205020404" pitchFamily="49" charset="0"/>
                <a:cs typeface="Courier New" panose="02070309020205020404" pitchFamily="49" charset="0"/>
              </a:rPr>
              <a:t> = ext4.fetch_super();</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4</a:t>
            </a:r>
            <a:r>
              <a:rPr lang="en-CA" sz="2000" dirty="0" smtClean="0">
                <a:latin typeface="Courier New" panose="02070309020205020404" pitchFamily="49" charset="0"/>
                <a:cs typeface="Courier New" panose="02070309020205020404" pitchFamily="49" charset="0"/>
              </a:rPr>
              <a:t>:  if </a:t>
            </a:r>
            <a:r>
              <a:rPr lang="en-CA" sz="2000" dirty="0">
                <a:latin typeface="Courier New" panose="02070309020205020404" pitchFamily="49" charset="0"/>
                <a:cs typeface="Courier New" panose="02070309020205020404" pitchFamily="49" charset="0"/>
              </a:rPr>
              <a:t>(</a:t>
            </a:r>
            <a:r>
              <a:rPr lang="en-CA" sz="2000" dirty="0" err="1">
                <a:latin typeface="Courier New" panose="02070309020205020404" pitchFamily="49" charset="0"/>
                <a:cs typeface="Courier New" panose="02070309020205020404" pitchFamily="49" charset="0"/>
              </a:rPr>
              <a:t>sb</a:t>
            </a:r>
            <a:r>
              <a:rPr lang="en-CA" sz="2000" dirty="0">
                <a:latin typeface="Courier New" panose="02070309020205020404" pitchFamily="49" charset="0"/>
                <a:cs typeface="Courier New" panose="02070309020205020404" pitchFamily="49" charset="0"/>
              </a:rPr>
              <a:t> == </a:t>
            </a:r>
            <a:r>
              <a:rPr lang="en-CA" sz="2000" dirty="0" err="1">
                <a:latin typeface="Courier New" panose="02070309020205020404" pitchFamily="49" charset="0"/>
                <a:cs typeface="Courier New" panose="02070309020205020404" pitchFamily="49" charset="0"/>
              </a:rPr>
              <a:t>nullptr</a:t>
            </a:r>
            <a:r>
              <a:rPr lang="en-CA" sz="2000" dirty="0">
                <a:latin typeface="Courier New" panose="02070309020205020404" pitchFamily="49" charset="0"/>
                <a:cs typeface="Courier New" panose="02070309020205020404" pitchFamily="49" charset="0"/>
              </a:rPr>
              <a:t>) </a:t>
            </a:r>
            <a:r>
              <a:rPr lang="en-CA" sz="2000" dirty="0" smtClean="0">
                <a:latin typeface="Courier New" panose="02070309020205020404" pitchFamily="49" charset="0"/>
                <a:cs typeface="Courier New" panose="02070309020205020404" pitchFamily="49" charset="0"/>
              </a:rPr>
              <a:t>return </a:t>
            </a:r>
            <a:r>
              <a:rPr lang="en-CA" sz="2000" dirty="0" smtClean="0">
                <a:solidFill>
                  <a:srgbClr val="0070C0"/>
                </a:solidFill>
                <a:latin typeface="Courier New" panose="02070309020205020404" pitchFamily="49" charset="0"/>
                <a:cs typeface="Courier New" panose="02070309020205020404" pitchFamily="49" charset="0"/>
              </a:rPr>
              <a:t>-1</a:t>
            </a:r>
            <a:r>
              <a:rPr lang="en-CA" sz="2000" dirty="0" smtClean="0">
                <a:latin typeface="Courier New" panose="02070309020205020404" pitchFamily="49" charset="0"/>
                <a:cs typeface="Courier New" panose="02070309020205020404" pitchFamily="49" charset="0"/>
              </a:rPr>
              <a:t>;</a:t>
            </a:r>
            <a:endParaRPr lang="en-CA" sz="20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5:  </a:t>
            </a:r>
            <a:r>
              <a:rPr lang="en-CA" sz="2000" dirty="0" err="1" smtClean="0">
                <a:latin typeface="Courier New" panose="02070309020205020404" pitchFamily="49" charset="0"/>
                <a:cs typeface="Courier New" panose="02070309020205020404" pitchFamily="49" charset="0"/>
              </a:rPr>
              <a:t>dev.set_block_size</a:t>
            </a:r>
            <a:r>
              <a:rPr lang="en-CA" sz="2000" dirty="0" smtClean="0">
                <a:latin typeface="Courier New" panose="02070309020205020404" pitchFamily="49" charset="0"/>
                <a:cs typeface="Courier New" panose="02070309020205020404" pitchFamily="49" charset="0"/>
              </a:rPr>
              <a:t>(</a:t>
            </a:r>
            <a:r>
              <a:rPr lang="en-CA" sz="2000" dirty="0" smtClean="0">
                <a:solidFill>
                  <a:srgbClr val="0070C0"/>
                </a:solidFill>
                <a:latin typeface="Courier New" panose="02070309020205020404" pitchFamily="49" charset="0"/>
                <a:cs typeface="Courier New" panose="02070309020205020404" pitchFamily="49" charset="0"/>
              </a:rPr>
              <a:t>1024</a:t>
            </a:r>
            <a:r>
              <a:rPr lang="en-CA" sz="2000" dirty="0" smtClean="0">
                <a:latin typeface="Courier New" panose="02070309020205020404" pitchFamily="49" charset="0"/>
                <a:cs typeface="Courier New" panose="02070309020205020404" pitchFamily="49" charset="0"/>
              </a:rPr>
              <a:t> &lt;&lt; </a:t>
            </a:r>
            <a:r>
              <a:rPr lang="en-CA" sz="2000" dirty="0" err="1" smtClean="0">
                <a:latin typeface="Courier New" panose="02070309020205020404" pitchFamily="49" charset="0"/>
                <a:cs typeface="Courier New" panose="02070309020205020404" pitchFamily="49" charset="0"/>
              </a:rPr>
              <a:t>sb</a:t>
            </a:r>
            <a:r>
              <a:rPr lang="en-CA" sz="2000" dirty="0" smtClean="0">
                <a:latin typeface="Courier New" panose="02070309020205020404" pitchFamily="49" charset="0"/>
                <a:cs typeface="Courier New" panose="02070309020205020404" pitchFamily="49" charset="0"/>
              </a:rPr>
              <a:t>-&gt;</a:t>
            </a:r>
            <a:r>
              <a:rPr lang="en-CA" sz="2000" dirty="0" err="1" smtClean="0">
                <a:latin typeface="Courier New" panose="02070309020205020404" pitchFamily="49" charset="0"/>
                <a:cs typeface="Courier New" panose="02070309020205020404" pitchFamily="49" charset="0"/>
              </a:rPr>
              <a:t>s_log_block_size</a:t>
            </a:r>
            <a:r>
              <a:rPr lang="en-CA" sz="20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6:  </a:t>
            </a:r>
            <a:r>
              <a:rPr lang="en-CA" sz="2000" dirty="0">
                <a:solidFill>
                  <a:schemeClr val="accent4">
                    <a:lumMod val="75000"/>
                  </a:schemeClr>
                </a:solidFill>
                <a:latin typeface="Courier New" panose="02070309020205020404" pitchFamily="49" charset="0"/>
                <a:cs typeface="Courier New" panose="02070309020205020404" pitchFamily="49" charset="0"/>
              </a:rPr>
              <a:t>/* traverse file system and find/process all block bitmaps */</a:t>
            </a: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7:  return </a:t>
            </a:r>
            <a:r>
              <a:rPr lang="en-CA" sz="2000" dirty="0" err="1">
                <a:latin typeface="Courier New" panose="02070309020205020404" pitchFamily="49" charset="0"/>
                <a:cs typeface="Courier New" panose="02070309020205020404" pitchFamily="49" charset="0"/>
              </a:rPr>
              <a:t>sb</a:t>
            </a:r>
            <a:r>
              <a:rPr lang="en-CA" sz="2000" dirty="0">
                <a:latin typeface="Courier New" panose="02070309020205020404" pitchFamily="49" charset="0"/>
                <a:cs typeface="Courier New" panose="02070309020205020404" pitchFamily="49" charset="0"/>
              </a:rPr>
              <a:t>-&gt;</a:t>
            </a:r>
            <a:r>
              <a:rPr lang="en-CA" sz="2000" dirty="0" err="1" smtClean="0">
                <a:latin typeface="Courier New" panose="02070309020205020404" pitchFamily="49" charset="0"/>
                <a:cs typeface="Courier New" panose="02070309020205020404" pitchFamily="49" charset="0"/>
              </a:rPr>
              <a:t>process_by_type</a:t>
            </a:r>
            <a:r>
              <a:rPr lang="en-CA" sz="2000" dirty="0" smtClean="0">
                <a:latin typeface="Courier New" panose="02070309020205020404" pitchFamily="49" charset="0"/>
                <a:cs typeface="Courier New" panose="02070309020205020404" pitchFamily="49" charset="0"/>
              </a:rPr>
              <a:t>(BLOCK_BITMAP, </a:t>
            </a:r>
            <a:br>
              <a:rPr lang="en-CA" sz="2000" dirty="0" smtClean="0">
                <a:latin typeface="Courier New" panose="02070309020205020404" pitchFamily="49" charset="0"/>
                <a:cs typeface="Courier New" panose="02070309020205020404" pitchFamily="49" charset="0"/>
              </a:rPr>
            </a:br>
            <a:r>
              <a:rPr lang="en-CA" sz="2000" dirty="0" smtClean="0">
                <a:latin typeface="Courier New" panose="02070309020205020404" pitchFamily="49" charset="0"/>
                <a:cs typeface="Courier New" panose="02070309020205020404" pitchFamily="49" charset="0"/>
              </a:rPr>
              <a:t>                               </a:t>
            </a:r>
            <a:r>
              <a:rPr lang="en-CA" sz="2000" dirty="0" err="1" smtClean="0">
                <a:latin typeface="Courier New" panose="02070309020205020404" pitchFamily="49" charset="0"/>
                <a:cs typeface="Courier New" panose="02070309020205020404" pitchFamily="49" charset="0"/>
              </a:rPr>
              <a:t>process_block_bitmap</a:t>
            </a:r>
            <a:r>
              <a:rPr lang="en-CA" sz="2000" dirty="0" smtClean="0">
                <a:latin typeface="Courier New" panose="02070309020205020404" pitchFamily="49" charset="0"/>
                <a:cs typeface="Courier New" panose="02070309020205020404" pitchFamily="49" charset="0"/>
              </a:rPr>
              <a:t>, &amp;</a:t>
            </a:r>
            <a:r>
              <a:rPr lang="en-CA" sz="2000" dirty="0" err="1" smtClean="0">
                <a:latin typeface="Courier New" panose="02070309020205020404" pitchFamily="49" charset="0"/>
                <a:cs typeface="Courier New" panose="02070309020205020404" pitchFamily="49" charset="0"/>
              </a:rPr>
              <a:t>vec</a:t>
            </a:r>
            <a:r>
              <a:rPr lang="en-CA" sz="20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  }</a:t>
            </a:r>
          </a:p>
        </p:txBody>
      </p:sp>
      <p:sp>
        <p:nvSpPr>
          <p:cNvPr id="7" name="TextBox 6"/>
          <p:cNvSpPr txBox="1"/>
          <p:nvPr/>
        </p:nvSpPr>
        <p:spPr>
          <a:xfrm>
            <a:off x="8661814" y="2062569"/>
            <a:ext cx="1856961" cy="1015663"/>
          </a:xfrm>
          <a:prstGeom prst="rect">
            <a:avLst/>
          </a:prstGeom>
          <a:solidFill>
            <a:schemeClr val="accent5">
              <a:lumMod val="20000"/>
              <a:lumOff val="80000"/>
            </a:schemeClr>
          </a:solidFill>
          <a:ln w="12700">
            <a:solidFill>
              <a:schemeClr val="bg1"/>
            </a:solidFill>
            <a:prstDash val="solid"/>
          </a:ln>
        </p:spPr>
        <p:txBody>
          <a:bodyPr wrap="square" rtlCol="0">
            <a:spAutoFit/>
          </a:bodyPr>
          <a:lstStyle/>
          <a:p>
            <a:pPr algn="ctr">
              <a:lnSpc>
                <a:spcPts val="2400"/>
              </a:lnSpc>
              <a:spcBef>
                <a:spcPts val="600"/>
              </a:spcBef>
            </a:pPr>
            <a:r>
              <a:rPr lang="en-CA" dirty="0" smtClean="0">
                <a:solidFill>
                  <a:schemeClr val="bg1"/>
                </a:solidFill>
              </a:rPr>
              <a:t>Returns </a:t>
            </a:r>
            <a:r>
              <a:rPr lang="en-CA" i="1" dirty="0" err="1" smtClean="0">
                <a:solidFill>
                  <a:schemeClr val="bg1"/>
                </a:solidFill>
              </a:rPr>
              <a:t>nullptr</a:t>
            </a:r>
            <a:r>
              <a:rPr lang="en-CA" i="1" dirty="0" smtClean="0">
                <a:solidFill>
                  <a:schemeClr val="bg1"/>
                </a:solidFill>
              </a:rPr>
              <a:t/>
            </a:r>
            <a:br>
              <a:rPr lang="en-CA" i="1" dirty="0" smtClean="0">
                <a:solidFill>
                  <a:schemeClr val="bg1"/>
                </a:solidFill>
              </a:rPr>
            </a:br>
            <a:r>
              <a:rPr lang="en-CA" dirty="0" smtClean="0">
                <a:solidFill>
                  <a:schemeClr val="bg1"/>
                </a:solidFill>
              </a:rPr>
              <a:t>if super block</a:t>
            </a:r>
            <a:br>
              <a:rPr lang="en-CA" dirty="0" smtClean="0">
                <a:solidFill>
                  <a:schemeClr val="bg1"/>
                </a:solidFill>
              </a:rPr>
            </a:br>
            <a:r>
              <a:rPr lang="en-CA" dirty="0" smtClean="0">
                <a:solidFill>
                  <a:schemeClr val="bg1"/>
                </a:solidFill>
              </a:rPr>
              <a:t> is corrupted</a:t>
            </a:r>
            <a:endParaRPr lang="en-CA" dirty="0">
              <a:solidFill>
                <a:schemeClr val="bg1"/>
              </a:solidFill>
            </a:endParaRPr>
          </a:p>
        </p:txBody>
      </p:sp>
      <p:cxnSp>
        <p:nvCxnSpPr>
          <p:cNvPr id="8" name="Straight Arrow Connector 7"/>
          <p:cNvCxnSpPr>
            <a:stCxn id="7" idx="1"/>
          </p:cNvCxnSpPr>
          <p:nvPr/>
        </p:nvCxnSpPr>
        <p:spPr>
          <a:xfrm flipH="1">
            <a:off x="8004176" y="2570401"/>
            <a:ext cx="657638" cy="125174"/>
          </a:xfrm>
          <a:prstGeom prst="straightConnector1">
            <a:avLst/>
          </a:prstGeom>
          <a:ln w="38100">
            <a:solidFill>
              <a:schemeClr val="bg1">
                <a:alpha val="7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2887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6"/>
          <p:cNvSpPr txBox="1">
            <a:spLocks/>
          </p:cNvSpPr>
          <p:nvPr/>
        </p:nvSpPr>
        <p:spPr>
          <a:xfrm>
            <a:off x="684212" y="1507237"/>
            <a:ext cx="10285797" cy="4278718"/>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Font typeface="Wingdings 3" panose="05040102010807070707" pitchFamily="18" charset="2"/>
              <a:buNone/>
            </a:pPr>
            <a:r>
              <a:rPr lang="en-CA" sz="2000" dirty="0">
                <a:solidFill>
                  <a:schemeClr val="accent6">
                    <a:lumMod val="75000"/>
                  </a:schemeClr>
                </a:solidFill>
                <a:latin typeface="Courier New" panose="02070309020205020404" pitchFamily="49" charset="0"/>
                <a:cs typeface="Courier New" panose="02070309020205020404" pitchFamily="49" charset="0"/>
              </a:rPr>
              <a:t> </a:t>
            </a:r>
            <a:r>
              <a:rPr lang="en-CA" sz="2000" dirty="0" smtClean="0">
                <a:solidFill>
                  <a:schemeClr val="accent6">
                    <a:lumMod val="75000"/>
                  </a:schemeClr>
                </a:solidFill>
                <a:latin typeface="Courier New" panose="02070309020205020404" pitchFamily="49" charset="0"/>
                <a:cs typeface="Courier New" panose="02070309020205020404" pitchFamily="49" charset="0"/>
              </a:rPr>
              <a:t> </a:t>
            </a:r>
            <a:r>
              <a:rPr lang="en-CA" sz="2000" dirty="0" err="1" smtClean="0">
                <a:solidFill>
                  <a:schemeClr val="accent6">
                    <a:lumMod val="75000"/>
                  </a:schemeClr>
                </a:solidFill>
                <a:latin typeface="Courier New" panose="02070309020205020404" pitchFamily="49" charset="0"/>
                <a:cs typeface="Courier New" panose="02070309020205020404" pitchFamily="49" charset="0"/>
              </a:rPr>
              <a:t>int</a:t>
            </a:r>
            <a:r>
              <a:rPr lang="en-CA" sz="2000" dirty="0" smtClean="0">
                <a:latin typeface="Courier New" panose="02070309020205020404" pitchFamily="49" charset="0"/>
                <a:cs typeface="Courier New" panose="02070309020205020404" pitchFamily="49" charset="0"/>
              </a:rPr>
              <a:t> </a:t>
            </a:r>
            <a:r>
              <a:rPr lang="en-CA" sz="2000" b="1" dirty="0" smtClean="0">
                <a:latin typeface="Courier New" panose="02070309020205020404" pitchFamily="49" charset="0"/>
                <a:cs typeface="Courier New" panose="02070309020205020404" pitchFamily="49" charset="0"/>
              </a:rPr>
              <a:t>process_ext4</a:t>
            </a:r>
            <a:r>
              <a:rPr lang="en-CA" sz="2000" dirty="0" smtClean="0">
                <a:latin typeface="Courier New" panose="02070309020205020404" pitchFamily="49" charset="0"/>
                <a:cs typeface="Courier New" panose="02070309020205020404" pitchFamily="49" charset="0"/>
              </a:rPr>
              <a:t>(vector&lt;Extent&gt; &amp; </a:t>
            </a:r>
            <a:r>
              <a:rPr lang="en-CA" sz="2000" dirty="0" err="1" smtClean="0">
                <a:latin typeface="Courier New" panose="02070309020205020404" pitchFamily="49" charset="0"/>
                <a:cs typeface="Courier New" panose="02070309020205020404" pitchFamily="49" charset="0"/>
              </a:rPr>
              <a:t>vec</a:t>
            </a:r>
            <a:r>
              <a:rPr lang="en-CA" sz="2000" dirty="0" smtClean="0">
                <a:latin typeface="Courier New" panose="02070309020205020404" pitchFamily="49" charset="0"/>
                <a:cs typeface="Courier New" panose="02070309020205020404" pitchFamily="49" charset="0"/>
              </a:rPr>
              <a:t>, Device &amp; dev) {</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1</a:t>
            </a:r>
            <a:r>
              <a:rPr lang="en-CA" sz="2000" dirty="0" smtClean="0">
                <a:latin typeface="Courier New" panose="02070309020205020404" pitchFamily="49" charset="0"/>
                <a:cs typeface="Courier New" panose="02070309020205020404" pitchFamily="49" charset="0"/>
              </a:rPr>
              <a:t>:  Ext4 </a:t>
            </a:r>
            <a:r>
              <a:rPr lang="en-CA" sz="2000" dirty="0">
                <a:latin typeface="Courier New" panose="02070309020205020404" pitchFamily="49" charset="0"/>
                <a:cs typeface="Courier New" panose="02070309020205020404" pitchFamily="49" charset="0"/>
              </a:rPr>
              <a:t>ext4(dev</a:t>
            </a:r>
            <a:r>
              <a:rPr lang="en-CA" sz="20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2</a:t>
            </a:r>
            <a:r>
              <a:rPr lang="en-CA" sz="2000" dirty="0" smtClean="0">
                <a:latin typeface="Courier New" panose="02070309020205020404" pitchFamily="49" charset="0"/>
                <a:cs typeface="Courier New" panose="02070309020205020404" pitchFamily="49" charset="0"/>
              </a:rPr>
              <a:t>:  </a:t>
            </a:r>
            <a:r>
              <a:rPr lang="en-CA" sz="2000" dirty="0">
                <a:solidFill>
                  <a:schemeClr val="accent4">
                    <a:lumMod val="75000"/>
                  </a:schemeClr>
                </a:solidFill>
                <a:latin typeface="Courier New" panose="02070309020205020404" pitchFamily="49" charset="0"/>
                <a:cs typeface="Courier New" panose="02070309020205020404" pitchFamily="49" charset="0"/>
              </a:rPr>
              <a:t>/* read super block into memory */</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3</a:t>
            </a:r>
            <a:r>
              <a:rPr lang="en-CA" sz="2000" dirty="0" smtClean="0">
                <a:latin typeface="Courier New" panose="02070309020205020404" pitchFamily="49" charset="0"/>
                <a:cs typeface="Courier New" panose="02070309020205020404" pitchFamily="49" charset="0"/>
              </a:rPr>
              <a:t>:  Ext4</a:t>
            </a:r>
            <a:r>
              <a:rPr lang="en-CA" sz="2000" dirty="0">
                <a:latin typeface="Courier New" panose="02070309020205020404" pitchFamily="49" charset="0"/>
                <a:cs typeface="Courier New" panose="02070309020205020404" pitchFamily="49" charset="0"/>
              </a:rPr>
              <a:t>::</a:t>
            </a:r>
            <a:r>
              <a:rPr lang="en-CA" sz="2000" dirty="0" err="1">
                <a:latin typeface="Courier New" panose="02070309020205020404" pitchFamily="49" charset="0"/>
                <a:cs typeface="Courier New" panose="02070309020205020404" pitchFamily="49" charset="0"/>
              </a:rPr>
              <a:t>SuperBlock</a:t>
            </a:r>
            <a:r>
              <a:rPr lang="en-CA" sz="2000" dirty="0">
                <a:latin typeface="Courier New" panose="02070309020205020404" pitchFamily="49" charset="0"/>
                <a:cs typeface="Courier New" panose="02070309020205020404" pitchFamily="49" charset="0"/>
              </a:rPr>
              <a:t> * </a:t>
            </a:r>
            <a:r>
              <a:rPr lang="en-CA" sz="2000" dirty="0" err="1">
                <a:latin typeface="Courier New" panose="02070309020205020404" pitchFamily="49" charset="0"/>
                <a:cs typeface="Courier New" panose="02070309020205020404" pitchFamily="49" charset="0"/>
              </a:rPr>
              <a:t>sb</a:t>
            </a:r>
            <a:r>
              <a:rPr lang="en-CA" sz="2000" dirty="0">
                <a:latin typeface="Courier New" panose="02070309020205020404" pitchFamily="49" charset="0"/>
                <a:cs typeface="Courier New" panose="02070309020205020404" pitchFamily="49" charset="0"/>
              </a:rPr>
              <a:t> = ext4.fetch_super();</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4</a:t>
            </a:r>
            <a:r>
              <a:rPr lang="en-CA" sz="2000" dirty="0" smtClean="0">
                <a:latin typeface="Courier New" panose="02070309020205020404" pitchFamily="49" charset="0"/>
                <a:cs typeface="Courier New" panose="02070309020205020404" pitchFamily="49" charset="0"/>
              </a:rPr>
              <a:t>:  if </a:t>
            </a:r>
            <a:r>
              <a:rPr lang="en-CA" sz="2000" dirty="0">
                <a:latin typeface="Courier New" panose="02070309020205020404" pitchFamily="49" charset="0"/>
                <a:cs typeface="Courier New" panose="02070309020205020404" pitchFamily="49" charset="0"/>
              </a:rPr>
              <a:t>(</a:t>
            </a:r>
            <a:r>
              <a:rPr lang="en-CA" sz="2000" dirty="0" err="1">
                <a:latin typeface="Courier New" panose="02070309020205020404" pitchFamily="49" charset="0"/>
                <a:cs typeface="Courier New" panose="02070309020205020404" pitchFamily="49" charset="0"/>
              </a:rPr>
              <a:t>sb</a:t>
            </a:r>
            <a:r>
              <a:rPr lang="en-CA" sz="2000" dirty="0">
                <a:latin typeface="Courier New" panose="02070309020205020404" pitchFamily="49" charset="0"/>
                <a:cs typeface="Courier New" panose="02070309020205020404" pitchFamily="49" charset="0"/>
              </a:rPr>
              <a:t> == </a:t>
            </a:r>
            <a:r>
              <a:rPr lang="en-CA" sz="2000" dirty="0" err="1">
                <a:latin typeface="Courier New" panose="02070309020205020404" pitchFamily="49" charset="0"/>
                <a:cs typeface="Courier New" panose="02070309020205020404" pitchFamily="49" charset="0"/>
              </a:rPr>
              <a:t>nullptr</a:t>
            </a:r>
            <a:r>
              <a:rPr lang="en-CA" sz="2000" dirty="0">
                <a:latin typeface="Courier New" panose="02070309020205020404" pitchFamily="49" charset="0"/>
                <a:cs typeface="Courier New" panose="02070309020205020404" pitchFamily="49" charset="0"/>
              </a:rPr>
              <a:t>) </a:t>
            </a:r>
            <a:r>
              <a:rPr lang="en-CA" sz="2000" dirty="0" smtClean="0">
                <a:latin typeface="Courier New" panose="02070309020205020404" pitchFamily="49" charset="0"/>
                <a:cs typeface="Courier New" panose="02070309020205020404" pitchFamily="49" charset="0"/>
              </a:rPr>
              <a:t>return </a:t>
            </a:r>
            <a:r>
              <a:rPr lang="en-CA" sz="2000" dirty="0" smtClean="0">
                <a:solidFill>
                  <a:srgbClr val="0070C0"/>
                </a:solidFill>
                <a:latin typeface="Courier New" panose="02070309020205020404" pitchFamily="49" charset="0"/>
                <a:cs typeface="Courier New" panose="02070309020205020404" pitchFamily="49" charset="0"/>
              </a:rPr>
              <a:t>-1</a:t>
            </a:r>
            <a:r>
              <a:rPr lang="en-CA" sz="2000" dirty="0" smtClean="0">
                <a:latin typeface="Courier New" panose="02070309020205020404" pitchFamily="49" charset="0"/>
                <a:cs typeface="Courier New" panose="02070309020205020404" pitchFamily="49" charset="0"/>
              </a:rPr>
              <a:t>;</a:t>
            </a:r>
            <a:endParaRPr lang="en-CA" sz="20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5:  </a:t>
            </a:r>
            <a:r>
              <a:rPr lang="en-CA" sz="2000" dirty="0" err="1" smtClean="0">
                <a:latin typeface="Courier New" panose="02070309020205020404" pitchFamily="49" charset="0"/>
                <a:cs typeface="Courier New" panose="02070309020205020404" pitchFamily="49" charset="0"/>
              </a:rPr>
              <a:t>dev.set_block_size</a:t>
            </a:r>
            <a:r>
              <a:rPr lang="en-CA" sz="2000" dirty="0" smtClean="0">
                <a:latin typeface="Courier New" panose="02070309020205020404" pitchFamily="49" charset="0"/>
                <a:cs typeface="Courier New" panose="02070309020205020404" pitchFamily="49" charset="0"/>
              </a:rPr>
              <a:t>(</a:t>
            </a:r>
            <a:r>
              <a:rPr lang="en-CA" sz="2000" dirty="0" smtClean="0">
                <a:solidFill>
                  <a:srgbClr val="0070C0"/>
                </a:solidFill>
                <a:latin typeface="Courier New" panose="02070309020205020404" pitchFamily="49" charset="0"/>
                <a:cs typeface="Courier New" panose="02070309020205020404" pitchFamily="49" charset="0"/>
              </a:rPr>
              <a:t>1024</a:t>
            </a:r>
            <a:r>
              <a:rPr lang="en-CA" sz="2000" dirty="0" smtClean="0">
                <a:latin typeface="Courier New" panose="02070309020205020404" pitchFamily="49" charset="0"/>
                <a:cs typeface="Courier New" panose="02070309020205020404" pitchFamily="49" charset="0"/>
              </a:rPr>
              <a:t> &lt;&lt; </a:t>
            </a:r>
            <a:r>
              <a:rPr lang="en-CA" sz="2000" dirty="0" err="1" smtClean="0">
                <a:latin typeface="Courier New" panose="02070309020205020404" pitchFamily="49" charset="0"/>
                <a:cs typeface="Courier New" panose="02070309020205020404" pitchFamily="49" charset="0"/>
              </a:rPr>
              <a:t>sb</a:t>
            </a:r>
            <a:r>
              <a:rPr lang="en-CA" sz="2000" dirty="0" smtClean="0">
                <a:latin typeface="Courier New" panose="02070309020205020404" pitchFamily="49" charset="0"/>
                <a:cs typeface="Courier New" panose="02070309020205020404" pitchFamily="49" charset="0"/>
              </a:rPr>
              <a:t>-&gt;</a:t>
            </a:r>
            <a:r>
              <a:rPr lang="en-CA" sz="2000" dirty="0" err="1" smtClean="0">
                <a:latin typeface="Courier New" panose="02070309020205020404" pitchFamily="49" charset="0"/>
                <a:cs typeface="Courier New" panose="02070309020205020404" pitchFamily="49" charset="0"/>
              </a:rPr>
              <a:t>s_log_block_size</a:t>
            </a:r>
            <a:r>
              <a:rPr lang="en-CA" sz="20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6:  </a:t>
            </a:r>
            <a:r>
              <a:rPr lang="en-CA" sz="2000" dirty="0">
                <a:solidFill>
                  <a:schemeClr val="accent4">
                    <a:lumMod val="75000"/>
                  </a:schemeClr>
                </a:solidFill>
                <a:latin typeface="Courier New" panose="02070309020205020404" pitchFamily="49" charset="0"/>
                <a:cs typeface="Courier New" panose="02070309020205020404" pitchFamily="49" charset="0"/>
              </a:rPr>
              <a:t>/* traverse file system and find/process all block bitmaps */</a:t>
            </a:r>
          </a:p>
          <a:p>
            <a:pPr marL="0" indent="0">
              <a:spcBef>
                <a:spcPts val="0"/>
              </a:spcBef>
              <a:spcAft>
                <a:spcPts val="0"/>
              </a:spcAft>
              <a:buNone/>
            </a:pPr>
            <a:r>
              <a:rPr lang="en-CA" sz="2000" b="1" dirty="0" smtClean="0">
                <a:latin typeface="Courier New" panose="02070309020205020404" pitchFamily="49" charset="0"/>
                <a:cs typeface="Courier New" panose="02070309020205020404" pitchFamily="49" charset="0"/>
              </a:rPr>
              <a:t>7:  return </a:t>
            </a:r>
            <a:r>
              <a:rPr lang="en-CA" sz="2000" b="1" dirty="0" err="1">
                <a:latin typeface="Courier New" panose="02070309020205020404" pitchFamily="49" charset="0"/>
                <a:cs typeface="Courier New" panose="02070309020205020404" pitchFamily="49" charset="0"/>
              </a:rPr>
              <a:t>sb</a:t>
            </a:r>
            <a:r>
              <a:rPr lang="en-CA" sz="2000" b="1" dirty="0">
                <a:latin typeface="Courier New" panose="02070309020205020404" pitchFamily="49" charset="0"/>
                <a:cs typeface="Courier New" panose="02070309020205020404" pitchFamily="49" charset="0"/>
              </a:rPr>
              <a:t>-&gt;</a:t>
            </a:r>
            <a:r>
              <a:rPr lang="en-CA" sz="2000" b="1" dirty="0" err="1" smtClean="0">
                <a:latin typeface="Courier New" panose="02070309020205020404" pitchFamily="49" charset="0"/>
                <a:cs typeface="Courier New" panose="02070309020205020404" pitchFamily="49" charset="0"/>
              </a:rPr>
              <a:t>process_by_type</a:t>
            </a:r>
            <a:r>
              <a:rPr lang="en-CA" sz="2000" b="1" dirty="0" smtClean="0">
                <a:latin typeface="Courier New" panose="02070309020205020404" pitchFamily="49" charset="0"/>
                <a:cs typeface="Courier New" panose="02070309020205020404" pitchFamily="49" charset="0"/>
              </a:rPr>
              <a:t>(BLOCK_BITMAP, </a:t>
            </a:r>
            <a:br>
              <a:rPr lang="en-CA" sz="2000" b="1" dirty="0" smtClean="0">
                <a:latin typeface="Courier New" panose="02070309020205020404" pitchFamily="49" charset="0"/>
                <a:cs typeface="Courier New" panose="02070309020205020404" pitchFamily="49" charset="0"/>
              </a:rPr>
            </a:br>
            <a:r>
              <a:rPr lang="en-CA" sz="2000" b="1" dirty="0" smtClean="0">
                <a:latin typeface="Courier New" panose="02070309020205020404" pitchFamily="49" charset="0"/>
                <a:cs typeface="Courier New" panose="02070309020205020404" pitchFamily="49" charset="0"/>
              </a:rPr>
              <a:t>                               </a:t>
            </a:r>
            <a:r>
              <a:rPr lang="en-CA" sz="2000" b="1" dirty="0" err="1" smtClean="0">
                <a:latin typeface="Courier New" panose="02070309020205020404" pitchFamily="49" charset="0"/>
                <a:cs typeface="Courier New" panose="02070309020205020404" pitchFamily="49" charset="0"/>
              </a:rPr>
              <a:t>process_block_bitmap</a:t>
            </a:r>
            <a:r>
              <a:rPr lang="en-CA" sz="2000" b="1" dirty="0" smtClean="0">
                <a:latin typeface="Courier New" panose="02070309020205020404" pitchFamily="49" charset="0"/>
                <a:cs typeface="Courier New" panose="02070309020205020404" pitchFamily="49" charset="0"/>
              </a:rPr>
              <a:t>, &amp;</a:t>
            </a:r>
            <a:r>
              <a:rPr lang="en-CA" sz="2000" b="1" dirty="0" err="1" smtClean="0">
                <a:latin typeface="Courier New" panose="02070309020205020404" pitchFamily="49" charset="0"/>
                <a:cs typeface="Courier New" panose="02070309020205020404" pitchFamily="49" charset="0"/>
              </a:rPr>
              <a:t>vec</a:t>
            </a:r>
            <a:r>
              <a:rPr lang="en-CA" sz="2000" b="1"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  }</a:t>
            </a:r>
          </a:p>
        </p:txBody>
      </p:sp>
      <p:sp>
        <p:nvSpPr>
          <p:cNvPr id="5" name="Title 4"/>
          <p:cNvSpPr>
            <a:spLocks noGrp="1"/>
          </p:cNvSpPr>
          <p:nvPr>
            <p:ph type="title"/>
          </p:nvPr>
        </p:nvSpPr>
        <p:spPr/>
        <p:txBody>
          <a:bodyPr/>
          <a:lstStyle/>
          <a:p>
            <a:r>
              <a:rPr lang="en-CA" smtClean="0"/>
              <a:t>Application Using Spiffy Library</a:t>
            </a:r>
            <a:endParaRPr lang="en-CA" dirty="0"/>
          </a:p>
        </p:txBody>
      </p:sp>
      <p:sp>
        <p:nvSpPr>
          <p:cNvPr id="15" name="Slide Number Placeholder 14"/>
          <p:cNvSpPr>
            <a:spLocks noGrp="1"/>
          </p:cNvSpPr>
          <p:nvPr>
            <p:ph type="sldNum" sz="quarter" idx="12"/>
          </p:nvPr>
        </p:nvSpPr>
        <p:spPr/>
        <p:txBody>
          <a:bodyPr/>
          <a:lstStyle/>
          <a:p>
            <a:fld id="{7B2023C8-B124-43A9-8F92-0EEF5BAA9995}" type="slidenum">
              <a:rPr lang="en-CA" smtClean="0"/>
              <a:pPr/>
              <a:t>28</a:t>
            </a:fld>
            <a:endParaRPr lang="en-CA" dirty="0"/>
          </a:p>
        </p:txBody>
      </p:sp>
      <p:cxnSp>
        <p:nvCxnSpPr>
          <p:cNvPr id="14" name="Straight Arrow Connector 13"/>
          <p:cNvCxnSpPr/>
          <p:nvPr/>
        </p:nvCxnSpPr>
        <p:spPr>
          <a:xfrm flipV="1">
            <a:off x="6096000" y="4394201"/>
            <a:ext cx="0" cy="457199"/>
          </a:xfrm>
          <a:prstGeom prst="straightConnector1">
            <a:avLst/>
          </a:prstGeom>
          <a:ln w="63500">
            <a:solidFill>
              <a:schemeClr val="bg1">
                <a:alpha val="7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054600" y="4995059"/>
            <a:ext cx="2082800" cy="400110"/>
          </a:xfrm>
          <a:prstGeom prst="rect">
            <a:avLst/>
          </a:prstGeom>
          <a:noFill/>
        </p:spPr>
        <p:txBody>
          <a:bodyPr wrap="square" rtlCol="0">
            <a:spAutoFit/>
          </a:bodyPr>
          <a:lstStyle/>
          <a:p>
            <a:pPr algn="ctr">
              <a:lnSpc>
                <a:spcPts val="2400"/>
              </a:lnSpc>
              <a:spcBef>
                <a:spcPts val="600"/>
              </a:spcBef>
            </a:pPr>
            <a:r>
              <a:rPr lang="en-CA" sz="2800" b="1" dirty="0" smtClean="0">
                <a:solidFill>
                  <a:schemeClr val="bg1"/>
                </a:solidFill>
              </a:rPr>
              <a:t>THAT’S IT</a:t>
            </a:r>
            <a:endParaRPr lang="en-CA" sz="2800" b="1" dirty="0">
              <a:solidFill>
                <a:schemeClr val="bg1"/>
              </a:solidFill>
            </a:endParaRPr>
          </a:p>
        </p:txBody>
      </p:sp>
    </p:spTree>
    <p:extLst>
      <p:ext uri="{BB962C8B-B14F-4D97-AF65-F5344CB8AC3E}">
        <p14:creationId xmlns:p14="http://schemas.microsoft.com/office/powerpoint/2010/main" val="31821454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6"/>
          <p:cNvSpPr txBox="1">
            <a:spLocks/>
          </p:cNvSpPr>
          <p:nvPr/>
        </p:nvSpPr>
        <p:spPr>
          <a:xfrm>
            <a:off x="684212" y="1507237"/>
            <a:ext cx="10285797" cy="3000968"/>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Font typeface="Wingdings 3" panose="05040102010807070707" pitchFamily="18" charset="2"/>
              <a:buNone/>
            </a:pPr>
            <a:r>
              <a:rPr lang="en-CA" sz="2000" dirty="0">
                <a:solidFill>
                  <a:schemeClr val="accent6">
                    <a:lumMod val="75000"/>
                  </a:schemeClr>
                </a:solidFill>
                <a:latin typeface="Courier New" panose="02070309020205020404" pitchFamily="49" charset="0"/>
                <a:cs typeface="Courier New" panose="02070309020205020404" pitchFamily="49" charset="0"/>
              </a:rPr>
              <a:t> </a:t>
            </a:r>
            <a:r>
              <a:rPr lang="en-CA" sz="2000" dirty="0" smtClean="0">
                <a:solidFill>
                  <a:schemeClr val="accent6">
                    <a:lumMod val="75000"/>
                  </a:schemeClr>
                </a:solidFill>
                <a:latin typeface="Courier New" panose="02070309020205020404" pitchFamily="49" charset="0"/>
                <a:cs typeface="Courier New" panose="02070309020205020404" pitchFamily="49" charset="0"/>
              </a:rPr>
              <a:t> </a:t>
            </a:r>
            <a:r>
              <a:rPr lang="en-CA" sz="2000" dirty="0" err="1" smtClean="0">
                <a:solidFill>
                  <a:schemeClr val="accent6">
                    <a:lumMod val="75000"/>
                  </a:schemeClr>
                </a:solidFill>
                <a:latin typeface="Courier New" panose="02070309020205020404" pitchFamily="49" charset="0"/>
                <a:cs typeface="Courier New" panose="02070309020205020404" pitchFamily="49" charset="0"/>
              </a:rPr>
              <a:t>int</a:t>
            </a:r>
            <a:r>
              <a:rPr lang="en-CA" sz="2000" dirty="0" smtClean="0">
                <a:latin typeface="Courier New" panose="02070309020205020404" pitchFamily="49" charset="0"/>
                <a:cs typeface="Courier New" panose="02070309020205020404" pitchFamily="49" charset="0"/>
              </a:rPr>
              <a:t> </a:t>
            </a:r>
            <a:r>
              <a:rPr lang="en-CA" sz="2000" b="1" dirty="0" smtClean="0">
                <a:latin typeface="Courier New" panose="02070309020205020404" pitchFamily="49" charset="0"/>
                <a:cs typeface="Courier New" panose="02070309020205020404" pitchFamily="49" charset="0"/>
              </a:rPr>
              <a:t>process_ext4</a:t>
            </a:r>
            <a:r>
              <a:rPr lang="en-CA" sz="2000" dirty="0" smtClean="0">
                <a:latin typeface="Courier New" panose="02070309020205020404" pitchFamily="49" charset="0"/>
                <a:cs typeface="Courier New" panose="02070309020205020404" pitchFamily="49" charset="0"/>
              </a:rPr>
              <a:t>(vector&lt;Extent&gt; &amp; </a:t>
            </a:r>
            <a:r>
              <a:rPr lang="en-CA" sz="2000" dirty="0" err="1" smtClean="0">
                <a:latin typeface="Courier New" panose="02070309020205020404" pitchFamily="49" charset="0"/>
                <a:cs typeface="Courier New" panose="02070309020205020404" pitchFamily="49" charset="0"/>
              </a:rPr>
              <a:t>vec</a:t>
            </a:r>
            <a:r>
              <a:rPr lang="en-CA" sz="2000" dirty="0" smtClean="0">
                <a:latin typeface="Courier New" panose="02070309020205020404" pitchFamily="49" charset="0"/>
                <a:cs typeface="Courier New" panose="02070309020205020404" pitchFamily="49" charset="0"/>
              </a:rPr>
              <a:t>, Device &amp; dev) {</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1</a:t>
            </a:r>
            <a:r>
              <a:rPr lang="en-CA" sz="2000" dirty="0" smtClean="0">
                <a:latin typeface="Courier New" panose="02070309020205020404" pitchFamily="49" charset="0"/>
                <a:cs typeface="Courier New" panose="02070309020205020404" pitchFamily="49" charset="0"/>
              </a:rPr>
              <a:t>:  Ext4 </a:t>
            </a:r>
            <a:r>
              <a:rPr lang="en-CA" sz="2000" dirty="0">
                <a:latin typeface="Courier New" panose="02070309020205020404" pitchFamily="49" charset="0"/>
                <a:cs typeface="Courier New" panose="02070309020205020404" pitchFamily="49" charset="0"/>
              </a:rPr>
              <a:t>ext4(dev</a:t>
            </a:r>
            <a:r>
              <a:rPr lang="en-CA" sz="20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2</a:t>
            </a:r>
            <a:r>
              <a:rPr lang="en-CA" sz="2000" dirty="0" smtClean="0">
                <a:latin typeface="Courier New" panose="02070309020205020404" pitchFamily="49" charset="0"/>
                <a:cs typeface="Courier New" panose="02070309020205020404" pitchFamily="49" charset="0"/>
              </a:rPr>
              <a:t>:  </a:t>
            </a:r>
            <a:r>
              <a:rPr lang="en-CA" sz="2000" dirty="0">
                <a:solidFill>
                  <a:schemeClr val="accent4">
                    <a:lumMod val="75000"/>
                  </a:schemeClr>
                </a:solidFill>
                <a:latin typeface="Courier New" panose="02070309020205020404" pitchFamily="49" charset="0"/>
                <a:cs typeface="Courier New" panose="02070309020205020404" pitchFamily="49" charset="0"/>
              </a:rPr>
              <a:t>/* read super block into memory */</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3</a:t>
            </a:r>
            <a:r>
              <a:rPr lang="en-CA" sz="2000" dirty="0" smtClean="0">
                <a:latin typeface="Courier New" panose="02070309020205020404" pitchFamily="49" charset="0"/>
                <a:cs typeface="Courier New" panose="02070309020205020404" pitchFamily="49" charset="0"/>
              </a:rPr>
              <a:t>:  Ext4</a:t>
            </a:r>
            <a:r>
              <a:rPr lang="en-CA" sz="2000" dirty="0">
                <a:latin typeface="Courier New" panose="02070309020205020404" pitchFamily="49" charset="0"/>
                <a:cs typeface="Courier New" panose="02070309020205020404" pitchFamily="49" charset="0"/>
              </a:rPr>
              <a:t>::</a:t>
            </a:r>
            <a:r>
              <a:rPr lang="en-CA" sz="2000" dirty="0" err="1">
                <a:latin typeface="Courier New" panose="02070309020205020404" pitchFamily="49" charset="0"/>
                <a:cs typeface="Courier New" panose="02070309020205020404" pitchFamily="49" charset="0"/>
              </a:rPr>
              <a:t>SuperBlock</a:t>
            </a:r>
            <a:r>
              <a:rPr lang="en-CA" sz="2000" dirty="0">
                <a:latin typeface="Courier New" panose="02070309020205020404" pitchFamily="49" charset="0"/>
                <a:cs typeface="Courier New" panose="02070309020205020404" pitchFamily="49" charset="0"/>
              </a:rPr>
              <a:t> * </a:t>
            </a:r>
            <a:r>
              <a:rPr lang="en-CA" sz="2000" dirty="0" err="1">
                <a:latin typeface="Courier New" panose="02070309020205020404" pitchFamily="49" charset="0"/>
                <a:cs typeface="Courier New" panose="02070309020205020404" pitchFamily="49" charset="0"/>
              </a:rPr>
              <a:t>sb</a:t>
            </a:r>
            <a:r>
              <a:rPr lang="en-CA" sz="2000" dirty="0">
                <a:latin typeface="Courier New" panose="02070309020205020404" pitchFamily="49" charset="0"/>
                <a:cs typeface="Courier New" panose="02070309020205020404" pitchFamily="49" charset="0"/>
              </a:rPr>
              <a:t> = ext4.fetch_super();</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4</a:t>
            </a:r>
            <a:r>
              <a:rPr lang="en-CA" sz="2000" dirty="0" smtClean="0">
                <a:latin typeface="Courier New" panose="02070309020205020404" pitchFamily="49" charset="0"/>
                <a:cs typeface="Courier New" panose="02070309020205020404" pitchFamily="49" charset="0"/>
              </a:rPr>
              <a:t>:  if </a:t>
            </a:r>
            <a:r>
              <a:rPr lang="en-CA" sz="2000" dirty="0">
                <a:latin typeface="Courier New" panose="02070309020205020404" pitchFamily="49" charset="0"/>
                <a:cs typeface="Courier New" panose="02070309020205020404" pitchFamily="49" charset="0"/>
              </a:rPr>
              <a:t>(</a:t>
            </a:r>
            <a:r>
              <a:rPr lang="en-CA" sz="2000" dirty="0" err="1">
                <a:latin typeface="Courier New" panose="02070309020205020404" pitchFamily="49" charset="0"/>
                <a:cs typeface="Courier New" panose="02070309020205020404" pitchFamily="49" charset="0"/>
              </a:rPr>
              <a:t>sb</a:t>
            </a:r>
            <a:r>
              <a:rPr lang="en-CA" sz="2000" dirty="0">
                <a:latin typeface="Courier New" panose="02070309020205020404" pitchFamily="49" charset="0"/>
                <a:cs typeface="Courier New" panose="02070309020205020404" pitchFamily="49" charset="0"/>
              </a:rPr>
              <a:t> == </a:t>
            </a:r>
            <a:r>
              <a:rPr lang="en-CA" sz="2000" dirty="0" err="1">
                <a:latin typeface="Courier New" panose="02070309020205020404" pitchFamily="49" charset="0"/>
                <a:cs typeface="Courier New" panose="02070309020205020404" pitchFamily="49" charset="0"/>
              </a:rPr>
              <a:t>nullptr</a:t>
            </a:r>
            <a:r>
              <a:rPr lang="en-CA" sz="2000" dirty="0">
                <a:latin typeface="Courier New" panose="02070309020205020404" pitchFamily="49" charset="0"/>
                <a:cs typeface="Courier New" panose="02070309020205020404" pitchFamily="49" charset="0"/>
              </a:rPr>
              <a:t>) </a:t>
            </a:r>
            <a:r>
              <a:rPr lang="en-CA" sz="2000" dirty="0" smtClean="0">
                <a:latin typeface="Courier New" panose="02070309020205020404" pitchFamily="49" charset="0"/>
                <a:cs typeface="Courier New" panose="02070309020205020404" pitchFamily="49" charset="0"/>
              </a:rPr>
              <a:t>return </a:t>
            </a:r>
            <a:r>
              <a:rPr lang="en-CA" sz="2000" dirty="0" smtClean="0">
                <a:solidFill>
                  <a:srgbClr val="0070C0"/>
                </a:solidFill>
                <a:latin typeface="Courier New" panose="02070309020205020404" pitchFamily="49" charset="0"/>
                <a:cs typeface="Courier New" panose="02070309020205020404" pitchFamily="49" charset="0"/>
              </a:rPr>
              <a:t>-1</a:t>
            </a:r>
            <a:r>
              <a:rPr lang="en-CA" sz="2000" dirty="0" smtClean="0">
                <a:latin typeface="Courier New" panose="02070309020205020404" pitchFamily="49" charset="0"/>
                <a:cs typeface="Courier New" panose="02070309020205020404" pitchFamily="49" charset="0"/>
              </a:rPr>
              <a:t>;</a:t>
            </a:r>
            <a:endParaRPr lang="en-CA" sz="20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5:  </a:t>
            </a:r>
            <a:r>
              <a:rPr lang="en-CA" sz="2000" dirty="0" err="1" smtClean="0">
                <a:latin typeface="Courier New" panose="02070309020205020404" pitchFamily="49" charset="0"/>
                <a:cs typeface="Courier New" panose="02070309020205020404" pitchFamily="49" charset="0"/>
              </a:rPr>
              <a:t>dev.set_block_size</a:t>
            </a:r>
            <a:r>
              <a:rPr lang="en-CA" sz="2000" dirty="0" smtClean="0">
                <a:latin typeface="Courier New" panose="02070309020205020404" pitchFamily="49" charset="0"/>
                <a:cs typeface="Courier New" panose="02070309020205020404" pitchFamily="49" charset="0"/>
              </a:rPr>
              <a:t>(</a:t>
            </a:r>
            <a:r>
              <a:rPr lang="en-CA" sz="2000" dirty="0" smtClean="0">
                <a:solidFill>
                  <a:srgbClr val="0070C0"/>
                </a:solidFill>
                <a:latin typeface="Courier New" panose="02070309020205020404" pitchFamily="49" charset="0"/>
                <a:cs typeface="Courier New" panose="02070309020205020404" pitchFamily="49" charset="0"/>
              </a:rPr>
              <a:t>1024</a:t>
            </a:r>
            <a:r>
              <a:rPr lang="en-CA" sz="2000" dirty="0" smtClean="0">
                <a:latin typeface="Courier New" panose="02070309020205020404" pitchFamily="49" charset="0"/>
                <a:cs typeface="Courier New" panose="02070309020205020404" pitchFamily="49" charset="0"/>
              </a:rPr>
              <a:t> &lt;&lt; </a:t>
            </a:r>
            <a:r>
              <a:rPr lang="en-CA" sz="2000" dirty="0" err="1" smtClean="0">
                <a:latin typeface="Courier New" panose="02070309020205020404" pitchFamily="49" charset="0"/>
                <a:cs typeface="Courier New" panose="02070309020205020404" pitchFamily="49" charset="0"/>
              </a:rPr>
              <a:t>sb</a:t>
            </a:r>
            <a:r>
              <a:rPr lang="en-CA" sz="2000" dirty="0" smtClean="0">
                <a:latin typeface="Courier New" panose="02070309020205020404" pitchFamily="49" charset="0"/>
                <a:cs typeface="Courier New" panose="02070309020205020404" pitchFamily="49" charset="0"/>
              </a:rPr>
              <a:t>-&gt;</a:t>
            </a:r>
            <a:r>
              <a:rPr lang="en-CA" sz="2000" dirty="0" err="1" smtClean="0">
                <a:latin typeface="Courier New" panose="02070309020205020404" pitchFamily="49" charset="0"/>
                <a:cs typeface="Courier New" panose="02070309020205020404" pitchFamily="49" charset="0"/>
              </a:rPr>
              <a:t>s_log_block_size</a:t>
            </a:r>
            <a:r>
              <a:rPr lang="en-CA" sz="20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6:  </a:t>
            </a:r>
            <a:r>
              <a:rPr lang="en-CA" sz="2000" dirty="0">
                <a:solidFill>
                  <a:schemeClr val="accent4">
                    <a:lumMod val="75000"/>
                  </a:schemeClr>
                </a:solidFill>
                <a:latin typeface="Courier New" panose="02070309020205020404" pitchFamily="49" charset="0"/>
                <a:cs typeface="Courier New" panose="02070309020205020404" pitchFamily="49" charset="0"/>
              </a:rPr>
              <a:t>/* traverse file system and find/process all block bitmaps */</a:t>
            </a:r>
          </a:p>
          <a:p>
            <a:pPr marL="0" indent="0">
              <a:spcBef>
                <a:spcPts val="0"/>
              </a:spcBef>
              <a:spcAft>
                <a:spcPts val="0"/>
              </a:spcAft>
              <a:buNone/>
            </a:pPr>
            <a:r>
              <a:rPr lang="en-CA" sz="2000" b="1" dirty="0" smtClean="0">
                <a:latin typeface="Courier New" panose="02070309020205020404" pitchFamily="49" charset="0"/>
                <a:cs typeface="Courier New" panose="02070309020205020404" pitchFamily="49" charset="0"/>
              </a:rPr>
              <a:t>7:  return </a:t>
            </a:r>
            <a:r>
              <a:rPr lang="en-CA" sz="2000" b="1" dirty="0" err="1">
                <a:latin typeface="Courier New" panose="02070309020205020404" pitchFamily="49" charset="0"/>
                <a:cs typeface="Courier New" panose="02070309020205020404" pitchFamily="49" charset="0"/>
              </a:rPr>
              <a:t>sb</a:t>
            </a:r>
            <a:r>
              <a:rPr lang="en-CA" sz="2000" b="1" dirty="0">
                <a:latin typeface="Courier New" panose="02070309020205020404" pitchFamily="49" charset="0"/>
                <a:cs typeface="Courier New" panose="02070309020205020404" pitchFamily="49" charset="0"/>
              </a:rPr>
              <a:t>-&gt;</a:t>
            </a:r>
            <a:r>
              <a:rPr lang="en-CA" sz="2000" b="1" dirty="0" err="1" smtClean="0">
                <a:latin typeface="Courier New" panose="02070309020205020404" pitchFamily="49" charset="0"/>
                <a:cs typeface="Courier New" panose="02070309020205020404" pitchFamily="49" charset="0"/>
              </a:rPr>
              <a:t>process_by_type</a:t>
            </a:r>
            <a:r>
              <a:rPr lang="en-CA" sz="2000" b="1" dirty="0" smtClean="0">
                <a:latin typeface="Courier New" panose="02070309020205020404" pitchFamily="49" charset="0"/>
                <a:cs typeface="Courier New" panose="02070309020205020404" pitchFamily="49" charset="0"/>
              </a:rPr>
              <a:t>(BLOCK_BITMAP, </a:t>
            </a:r>
            <a:br>
              <a:rPr lang="en-CA" sz="2000" b="1" dirty="0" smtClean="0">
                <a:latin typeface="Courier New" panose="02070309020205020404" pitchFamily="49" charset="0"/>
                <a:cs typeface="Courier New" panose="02070309020205020404" pitchFamily="49" charset="0"/>
              </a:rPr>
            </a:br>
            <a:r>
              <a:rPr lang="en-CA" sz="2000" b="1" dirty="0" smtClean="0">
                <a:latin typeface="Courier New" panose="02070309020205020404" pitchFamily="49" charset="0"/>
                <a:cs typeface="Courier New" panose="02070309020205020404" pitchFamily="49" charset="0"/>
              </a:rPr>
              <a:t>                               </a:t>
            </a:r>
            <a:r>
              <a:rPr lang="en-CA" sz="2000" b="1" dirty="0" err="1" smtClean="0">
                <a:latin typeface="Courier New" panose="02070309020205020404" pitchFamily="49" charset="0"/>
                <a:cs typeface="Courier New" panose="02070309020205020404" pitchFamily="49" charset="0"/>
              </a:rPr>
              <a:t>process_block_bitmap</a:t>
            </a:r>
            <a:r>
              <a:rPr lang="en-CA" sz="2000" b="1" dirty="0" smtClean="0">
                <a:latin typeface="Courier New" panose="02070309020205020404" pitchFamily="49" charset="0"/>
                <a:cs typeface="Courier New" panose="02070309020205020404" pitchFamily="49" charset="0"/>
              </a:rPr>
              <a:t>, &amp;</a:t>
            </a:r>
            <a:r>
              <a:rPr lang="en-CA" sz="2000" b="1" dirty="0" err="1" smtClean="0">
                <a:latin typeface="Courier New" panose="02070309020205020404" pitchFamily="49" charset="0"/>
                <a:cs typeface="Courier New" panose="02070309020205020404" pitchFamily="49" charset="0"/>
              </a:rPr>
              <a:t>vec</a:t>
            </a:r>
            <a:r>
              <a:rPr lang="en-CA" sz="2000" b="1"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  }</a:t>
            </a:r>
          </a:p>
        </p:txBody>
      </p:sp>
      <p:sp>
        <p:nvSpPr>
          <p:cNvPr id="5" name="Title 4"/>
          <p:cNvSpPr>
            <a:spLocks noGrp="1"/>
          </p:cNvSpPr>
          <p:nvPr>
            <p:ph type="title"/>
          </p:nvPr>
        </p:nvSpPr>
        <p:spPr/>
        <p:txBody>
          <a:bodyPr/>
          <a:lstStyle/>
          <a:p>
            <a:r>
              <a:rPr lang="en-CA" smtClean="0"/>
              <a:t>Application Using Spiffy Library</a:t>
            </a:r>
            <a:endParaRPr lang="en-CA" dirty="0"/>
          </a:p>
        </p:txBody>
      </p:sp>
      <p:sp>
        <p:nvSpPr>
          <p:cNvPr id="10" name="Content Placeholder 9"/>
          <p:cNvSpPr>
            <a:spLocks noGrp="1"/>
          </p:cNvSpPr>
          <p:nvPr>
            <p:ph idx="1"/>
          </p:nvPr>
        </p:nvSpPr>
        <p:spPr/>
        <p:txBody>
          <a:bodyPr/>
          <a:lstStyle/>
          <a:p>
            <a:endParaRPr lang="en-CA" dirty="0" smtClean="0"/>
          </a:p>
          <a:p>
            <a:endParaRPr lang="en-CA" dirty="0" smtClean="0"/>
          </a:p>
          <a:p>
            <a:endParaRPr lang="en-CA" dirty="0" smtClean="0"/>
          </a:p>
          <a:p>
            <a:endParaRPr lang="en-CA" dirty="0" smtClean="0"/>
          </a:p>
          <a:p>
            <a:endParaRPr lang="en-CA" dirty="0" smtClean="0"/>
          </a:p>
          <a:p>
            <a:endParaRPr lang="en-CA" dirty="0" smtClean="0"/>
          </a:p>
          <a:p>
            <a:pPr lvl="3"/>
            <a:endParaRPr lang="en-CA" dirty="0" smtClean="0"/>
          </a:p>
          <a:p>
            <a:r>
              <a:rPr lang="en-CA" dirty="0" smtClean="0"/>
              <a:t>Advantages</a:t>
            </a:r>
          </a:p>
          <a:p>
            <a:pPr lvl="1"/>
            <a:r>
              <a:rPr lang="en-CA" dirty="0" smtClean="0"/>
              <a:t>simplifies file system traversal, reduces need to know format details</a:t>
            </a:r>
          </a:p>
          <a:p>
            <a:pPr lvl="1"/>
            <a:r>
              <a:rPr lang="en-CA" dirty="0" smtClean="0"/>
              <a:t>library parsing routines have automatically generated sanity checks</a:t>
            </a:r>
          </a:p>
          <a:p>
            <a:endParaRPr lang="en-CA" dirty="0" smtClean="0"/>
          </a:p>
        </p:txBody>
      </p:sp>
      <p:sp>
        <p:nvSpPr>
          <p:cNvPr id="15" name="Slide Number Placeholder 14"/>
          <p:cNvSpPr>
            <a:spLocks noGrp="1"/>
          </p:cNvSpPr>
          <p:nvPr>
            <p:ph type="sldNum" sz="quarter" idx="12"/>
          </p:nvPr>
        </p:nvSpPr>
        <p:spPr/>
        <p:txBody>
          <a:bodyPr/>
          <a:lstStyle/>
          <a:p>
            <a:fld id="{7B2023C8-B124-43A9-8F92-0EEF5BAA9995}" type="slidenum">
              <a:rPr lang="en-CA" smtClean="0"/>
              <a:pPr/>
              <a:t>29</a:t>
            </a:fld>
            <a:endParaRPr lang="en-CA" dirty="0"/>
          </a:p>
        </p:txBody>
      </p:sp>
    </p:spTree>
    <p:extLst>
      <p:ext uri="{BB962C8B-B14F-4D97-AF65-F5344CB8AC3E}">
        <p14:creationId xmlns:p14="http://schemas.microsoft.com/office/powerpoint/2010/main" val="6738799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CA" smtClean="0"/>
              <a:t>Spiffy Application for Btrfs</a:t>
            </a:r>
            <a:endParaRPr lang="en-CA" dirty="0"/>
          </a:p>
        </p:txBody>
      </p:sp>
      <p:sp>
        <p:nvSpPr>
          <p:cNvPr id="10" name="Content Placeholder 9"/>
          <p:cNvSpPr>
            <a:spLocks noGrp="1"/>
          </p:cNvSpPr>
          <p:nvPr>
            <p:ph idx="1"/>
          </p:nvPr>
        </p:nvSpPr>
        <p:spPr/>
        <p:txBody>
          <a:bodyPr/>
          <a:lstStyle/>
          <a:p>
            <a:endParaRPr lang="en-CA" smtClean="0"/>
          </a:p>
          <a:p>
            <a:endParaRPr lang="en-CA" smtClean="0"/>
          </a:p>
          <a:p>
            <a:endParaRPr lang="en-CA" smtClean="0"/>
          </a:p>
          <a:p>
            <a:endParaRPr lang="en-CA" smtClean="0"/>
          </a:p>
          <a:p>
            <a:endParaRPr lang="en-CA" dirty="0"/>
          </a:p>
        </p:txBody>
      </p:sp>
      <p:sp>
        <p:nvSpPr>
          <p:cNvPr id="15" name="Slide Number Placeholder 14"/>
          <p:cNvSpPr>
            <a:spLocks noGrp="1"/>
          </p:cNvSpPr>
          <p:nvPr>
            <p:ph type="sldNum" sz="quarter" idx="12"/>
          </p:nvPr>
        </p:nvSpPr>
        <p:spPr/>
        <p:txBody>
          <a:bodyPr/>
          <a:lstStyle/>
          <a:p>
            <a:fld id="{7B2023C8-B124-43A9-8F92-0EEF5BAA9995}" type="slidenum">
              <a:rPr lang="en-CA" smtClean="0"/>
              <a:pPr/>
              <a:t>30</a:t>
            </a:fld>
            <a:endParaRPr lang="en-CA" dirty="0"/>
          </a:p>
        </p:txBody>
      </p:sp>
      <p:sp>
        <p:nvSpPr>
          <p:cNvPr id="6" name="Content Placeholder 6"/>
          <p:cNvSpPr txBox="1">
            <a:spLocks/>
          </p:cNvSpPr>
          <p:nvPr/>
        </p:nvSpPr>
        <p:spPr>
          <a:xfrm>
            <a:off x="684212" y="1507237"/>
            <a:ext cx="10285797" cy="4278718"/>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Font typeface="Wingdings 3" panose="05040102010807070707" pitchFamily="18" charset="2"/>
              <a:buNone/>
            </a:pPr>
            <a:r>
              <a:rPr lang="en-CA" sz="2000" dirty="0">
                <a:solidFill>
                  <a:schemeClr val="accent6">
                    <a:lumMod val="75000"/>
                  </a:schemeClr>
                </a:solidFill>
                <a:latin typeface="Courier New" panose="02070309020205020404" pitchFamily="49" charset="0"/>
                <a:cs typeface="Courier New" panose="02070309020205020404" pitchFamily="49" charset="0"/>
              </a:rPr>
              <a:t> </a:t>
            </a:r>
            <a:r>
              <a:rPr lang="en-CA" sz="2000" dirty="0" smtClean="0">
                <a:solidFill>
                  <a:schemeClr val="accent6">
                    <a:lumMod val="75000"/>
                  </a:schemeClr>
                </a:solidFill>
                <a:latin typeface="Courier New" panose="02070309020205020404" pitchFamily="49" charset="0"/>
                <a:cs typeface="Courier New" panose="02070309020205020404" pitchFamily="49" charset="0"/>
              </a:rPr>
              <a:t> </a:t>
            </a:r>
            <a:r>
              <a:rPr lang="en-CA" sz="2000" dirty="0" err="1" smtClean="0">
                <a:solidFill>
                  <a:schemeClr val="accent6">
                    <a:lumMod val="75000"/>
                  </a:schemeClr>
                </a:solidFill>
                <a:latin typeface="Courier New" panose="02070309020205020404" pitchFamily="49" charset="0"/>
                <a:cs typeface="Courier New" panose="02070309020205020404" pitchFamily="49" charset="0"/>
              </a:rPr>
              <a:t>int</a:t>
            </a:r>
            <a:r>
              <a:rPr lang="en-CA" sz="2000" dirty="0" smtClean="0">
                <a:latin typeface="Courier New" panose="02070309020205020404" pitchFamily="49" charset="0"/>
                <a:cs typeface="Courier New" panose="02070309020205020404" pitchFamily="49" charset="0"/>
              </a:rPr>
              <a:t> </a:t>
            </a:r>
            <a:r>
              <a:rPr lang="en-CA" sz="2000" b="1" dirty="0" err="1" smtClean="0">
                <a:latin typeface="Courier New" panose="02070309020205020404" pitchFamily="49" charset="0"/>
                <a:cs typeface="Courier New" panose="02070309020205020404" pitchFamily="49" charset="0"/>
              </a:rPr>
              <a:t>process_btrfs</a:t>
            </a:r>
            <a:r>
              <a:rPr lang="en-CA" sz="2000" dirty="0" smtClean="0">
                <a:latin typeface="Courier New" panose="02070309020205020404" pitchFamily="49" charset="0"/>
                <a:cs typeface="Courier New" panose="02070309020205020404" pitchFamily="49" charset="0"/>
              </a:rPr>
              <a:t>(vector&lt;Extent&gt; &amp; </a:t>
            </a:r>
            <a:r>
              <a:rPr lang="en-CA" sz="2000" dirty="0" err="1" smtClean="0">
                <a:latin typeface="Courier New" panose="02070309020205020404" pitchFamily="49" charset="0"/>
                <a:cs typeface="Courier New" panose="02070309020205020404" pitchFamily="49" charset="0"/>
              </a:rPr>
              <a:t>vec</a:t>
            </a:r>
            <a:r>
              <a:rPr lang="en-CA" sz="2000" dirty="0" smtClean="0">
                <a:latin typeface="Courier New" panose="02070309020205020404" pitchFamily="49" charset="0"/>
                <a:cs typeface="Courier New" panose="02070309020205020404" pitchFamily="49" charset="0"/>
              </a:rPr>
              <a:t>, Device &amp; dev) {</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1</a:t>
            </a:r>
            <a:r>
              <a:rPr lang="en-CA" sz="2000" dirty="0" smtClean="0">
                <a:latin typeface="Courier New" panose="02070309020205020404" pitchFamily="49" charset="0"/>
                <a:cs typeface="Courier New" panose="02070309020205020404" pitchFamily="49" charset="0"/>
              </a:rPr>
              <a:t>:  </a:t>
            </a:r>
            <a:r>
              <a:rPr lang="en-CA" sz="2000" dirty="0" err="1" smtClean="0">
                <a:latin typeface="Courier New" panose="02070309020205020404" pitchFamily="49" charset="0"/>
                <a:cs typeface="Courier New" panose="02070309020205020404" pitchFamily="49" charset="0"/>
              </a:rPr>
              <a:t>Btrfs</a:t>
            </a:r>
            <a:r>
              <a:rPr lang="en-CA" sz="2000" dirty="0" smtClean="0">
                <a:latin typeface="Courier New" panose="02070309020205020404" pitchFamily="49" charset="0"/>
                <a:cs typeface="Courier New" panose="02070309020205020404" pitchFamily="49" charset="0"/>
              </a:rPr>
              <a:t> </a:t>
            </a:r>
            <a:r>
              <a:rPr lang="en-CA" sz="2000" dirty="0" err="1" smtClean="0">
                <a:latin typeface="Courier New" panose="02070309020205020404" pitchFamily="49" charset="0"/>
                <a:cs typeface="Courier New" panose="02070309020205020404" pitchFamily="49" charset="0"/>
              </a:rPr>
              <a:t>btrfs</a:t>
            </a:r>
            <a:r>
              <a:rPr lang="en-CA" sz="2000" dirty="0" smtClean="0">
                <a:latin typeface="Courier New" panose="02070309020205020404" pitchFamily="49" charset="0"/>
                <a:cs typeface="Courier New" panose="02070309020205020404" pitchFamily="49" charset="0"/>
              </a:rPr>
              <a:t>(dev);</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2</a:t>
            </a:r>
            <a:r>
              <a:rPr lang="en-CA" sz="2000" dirty="0" smtClean="0">
                <a:latin typeface="Courier New" panose="02070309020205020404" pitchFamily="49" charset="0"/>
                <a:cs typeface="Courier New" panose="02070309020205020404" pitchFamily="49" charset="0"/>
              </a:rPr>
              <a:t>:  </a:t>
            </a:r>
            <a:r>
              <a:rPr lang="en-CA" sz="2000" dirty="0">
                <a:solidFill>
                  <a:schemeClr val="accent4">
                    <a:lumMod val="75000"/>
                  </a:schemeClr>
                </a:solidFill>
                <a:latin typeface="Courier New" panose="02070309020205020404" pitchFamily="49" charset="0"/>
                <a:cs typeface="Courier New" panose="02070309020205020404" pitchFamily="49" charset="0"/>
              </a:rPr>
              <a:t>/* read super block into memory */</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3</a:t>
            </a:r>
            <a:r>
              <a:rPr lang="en-CA" sz="2000" dirty="0" smtClean="0">
                <a:latin typeface="Courier New" panose="02070309020205020404" pitchFamily="49" charset="0"/>
                <a:cs typeface="Courier New" panose="02070309020205020404" pitchFamily="49" charset="0"/>
              </a:rPr>
              <a:t>:  </a:t>
            </a:r>
            <a:r>
              <a:rPr lang="en-CA" sz="2000" dirty="0" err="1" smtClean="0">
                <a:latin typeface="Courier New" panose="02070309020205020404" pitchFamily="49" charset="0"/>
                <a:cs typeface="Courier New" panose="02070309020205020404" pitchFamily="49" charset="0"/>
              </a:rPr>
              <a:t>Btrfs</a:t>
            </a:r>
            <a:r>
              <a:rPr lang="en-CA" sz="2000" dirty="0" smtClean="0">
                <a:latin typeface="Courier New" panose="02070309020205020404" pitchFamily="49" charset="0"/>
                <a:cs typeface="Courier New" panose="02070309020205020404" pitchFamily="49" charset="0"/>
              </a:rPr>
              <a:t>::</a:t>
            </a:r>
            <a:r>
              <a:rPr lang="en-CA" sz="2000" dirty="0" err="1">
                <a:latin typeface="Courier New" panose="02070309020205020404" pitchFamily="49" charset="0"/>
                <a:cs typeface="Courier New" panose="02070309020205020404" pitchFamily="49" charset="0"/>
              </a:rPr>
              <a:t>SuperBlock</a:t>
            </a:r>
            <a:r>
              <a:rPr lang="en-CA" sz="2000" dirty="0">
                <a:latin typeface="Courier New" panose="02070309020205020404" pitchFamily="49" charset="0"/>
                <a:cs typeface="Courier New" panose="02070309020205020404" pitchFamily="49" charset="0"/>
              </a:rPr>
              <a:t> * </a:t>
            </a:r>
            <a:r>
              <a:rPr lang="en-CA" sz="2000" dirty="0" err="1">
                <a:latin typeface="Courier New" panose="02070309020205020404" pitchFamily="49" charset="0"/>
                <a:cs typeface="Courier New" panose="02070309020205020404" pitchFamily="49" charset="0"/>
              </a:rPr>
              <a:t>sb</a:t>
            </a:r>
            <a:r>
              <a:rPr lang="en-CA" sz="2000" dirty="0">
                <a:latin typeface="Courier New" panose="02070309020205020404" pitchFamily="49" charset="0"/>
                <a:cs typeface="Courier New" panose="02070309020205020404" pitchFamily="49" charset="0"/>
              </a:rPr>
              <a:t> = </a:t>
            </a:r>
            <a:r>
              <a:rPr lang="en-CA" sz="2000" dirty="0" err="1" smtClean="0">
                <a:latin typeface="Courier New" panose="02070309020205020404" pitchFamily="49" charset="0"/>
                <a:cs typeface="Courier New" panose="02070309020205020404" pitchFamily="49" charset="0"/>
              </a:rPr>
              <a:t>btrfs.fetch_super</a:t>
            </a:r>
            <a:r>
              <a:rPr lang="en-CA" sz="20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a:latin typeface="Courier New" panose="02070309020205020404" pitchFamily="49" charset="0"/>
                <a:cs typeface="Courier New" panose="02070309020205020404" pitchFamily="49" charset="0"/>
              </a:rPr>
              <a:t>4</a:t>
            </a:r>
            <a:r>
              <a:rPr lang="en-CA" sz="2000" dirty="0" smtClean="0">
                <a:latin typeface="Courier New" panose="02070309020205020404" pitchFamily="49" charset="0"/>
                <a:cs typeface="Courier New" panose="02070309020205020404" pitchFamily="49" charset="0"/>
              </a:rPr>
              <a:t>:  if </a:t>
            </a:r>
            <a:r>
              <a:rPr lang="en-CA" sz="2000" dirty="0">
                <a:latin typeface="Courier New" panose="02070309020205020404" pitchFamily="49" charset="0"/>
                <a:cs typeface="Courier New" panose="02070309020205020404" pitchFamily="49" charset="0"/>
              </a:rPr>
              <a:t>(</a:t>
            </a:r>
            <a:r>
              <a:rPr lang="en-CA" sz="2000" dirty="0" err="1">
                <a:latin typeface="Courier New" panose="02070309020205020404" pitchFamily="49" charset="0"/>
                <a:cs typeface="Courier New" panose="02070309020205020404" pitchFamily="49" charset="0"/>
              </a:rPr>
              <a:t>sb</a:t>
            </a:r>
            <a:r>
              <a:rPr lang="en-CA" sz="2000" dirty="0">
                <a:latin typeface="Courier New" panose="02070309020205020404" pitchFamily="49" charset="0"/>
                <a:cs typeface="Courier New" panose="02070309020205020404" pitchFamily="49" charset="0"/>
              </a:rPr>
              <a:t> == </a:t>
            </a:r>
            <a:r>
              <a:rPr lang="en-CA" sz="2000" dirty="0" err="1">
                <a:latin typeface="Courier New" panose="02070309020205020404" pitchFamily="49" charset="0"/>
                <a:cs typeface="Courier New" panose="02070309020205020404" pitchFamily="49" charset="0"/>
              </a:rPr>
              <a:t>nullptr</a:t>
            </a:r>
            <a:r>
              <a:rPr lang="en-CA" sz="2000" dirty="0">
                <a:latin typeface="Courier New" panose="02070309020205020404" pitchFamily="49" charset="0"/>
                <a:cs typeface="Courier New" panose="02070309020205020404" pitchFamily="49" charset="0"/>
              </a:rPr>
              <a:t>) </a:t>
            </a:r>
            <a:r>
              <a:rPr lang="en-CA" sz="2000" dirty="0" smtClean="0">
                <a:latin typeface="Courier New" panose="02070309020205020404" pitchFamily="49" charset="0"/>
                <a:cs typeface="Courier New" panose="02070309020205020404" pitchFamily="49" charset="0"/>
              </a:rPr>
              <a:t>return </a:t>
            </a:r>
            <a:r>
              <a:rPr lang="en-CA" sz="2000" dirty="0" smtClean="0">
                <a:solidFill>
                  <a:srgbClr val="0070C0"/>
                </a:solidFill>
                <a:latin typeface="Courier New" panose="02070309020205020404" pitchFamily="49" charset="0"/>
                <a:cs typeface="Courier New" panose="02070309020205020404" pitchFamily="49" charset="0"/>
              </a:rPr>
              <a:t>-1</a:t>
            </a:r>
            <a:r>
              <a:rPr lang="en-CA" sz="2000" dirty="0" smtClean="0">
                <a:latin typeface="Courier New" panose="02070309020205020404" pitchFamily="49" charset="0"/>
                <a:cs typeface="Courier New" panose="02070309020205020404" pitchFamily="49" charset="0"/>
              </a:rPr>
              <a:t>;</a:t>
            </a:r>
            <a:endParaRPr lang="en-CA" sz="20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5:  </a:t>
            </a:r>
            <a:r>
              <a:rPr lang="en-CA" sz="2000" dirty="0" err="1" smtClean="0">
                <a:latin typeface="Courier New" panose="02070309020205020404" pitchFamily="49" charset="0"/>
                <a:cs typeface="Courier New" panose="02070309020205020404" pitchFamily="49" charset="0"/>
              </a:rPr>
              <a:t>dev.set_block_size</a:t>
            </a:r>
            <a:r>
              <a:rPr lang="en-CA" sz="2000" dirty="0" smtClean="0">
                <a:latin typeface="Courier New" panose="02070309020205020404" pitchFamily="49" charset="0"/>
                <a:cs typeface="Courier New" panose="02070309020205020404" pitchFamily="49" charset="0"/>
              </a:rPr>
              <a:t>(</a:t>
            </a:r>
            <a:r>
              <a:rPr lang="en-CA" sz="2000" dirty="0" err="1" smtClean="0">
                <a:latin typeface="Courier New" panose="02070309020205020404" pitchFamily="49" charset="0"/>
                <a:cs typeface="Courier New" panose="02070309020205020404" pitchFamily="49" charset="0"/>
              </a:rPr>
              <a:t>sb</a:t>
            </a:r>
            <a:r>
              <a:rPr lang="en-CA" sz="2000" dirty="0" smtClean="0">
                <a:latin typeface="Courier New" panose="02070309020205020404" pitchFamily="49" charset="0"/>
                <a:cs typeface="Courier New" panose="02070309020205020404" pitchFamily="49" charset="0"/>
              </a:rPr>
              <a:t>-&gt;</a:t>
            </a:r>
            <a:r>
              <a:rPr lang="en-CA" sz="2000" dirty="0" err="1" smtClean="0">
                <a:latin typeface="Courier New" panose="02070309020205020404" pitchFamily="49" charset="0"/>
                <a:cs typeface="Courier New" panose="02070309020205020404" pitchFamily="49" charset="0"/>
              </a:rPr>
              <a:t>sectorsize</a:t>
            </a:r>
            <a:r>
              <a:rPr lang="en-CA" sz="20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6:  </a:t>
            </a:r>
            <a:r>
              <a:rPr lang="en-CA" sz="2000" dirty="0">
                <a:solidFill>
                  <a:schemeClr val="accent4">
                    <a:lumMod val="75000"/>
                  </a:schemeClr>
                </a:solidFill>
                <a:latin typeface="Courier New" panose="02070309020205020404" pitchFamily="49" charset="0"/>
                <a:cs typeface="Courier New" panose="02070309020205020404" pitchFamily="49" charset="0"/>
              </a:rPr>
              <a:t>/* traverse file system and find/process all </a:t>
            </a:r>
            <a:r>
              <a:rPr lang="en-CA" sz="2000" dirty="0" smtClean="0">
                <a:solidFill>
                  <a:schemeClr val="accent4">
                    <a:lumMod val="75000"/>
                  </a:schemeClr>
                </a:solidFill>
                <a:latin typeface="Courier New" panose="02070309020205020404" pitchFamily="49" charset="0"/>
                <a:cs typeface="Courier New" panose="02070309020205020404" pitchFamily="49" charset="0"/>
              </a:rPr>
              <a:t>extent items */</a:t>
            </a:r>
            <a:endParaRPr lang="en-CA" sz="2000" dirty="0">
              <a:solidFill>
                <a:schemeClr val="accent4">
                  <a:lumMod val="75000"/>
                </a:schemeClr>
              </a:solidFill>
              <a:latin typeface="Courier New" panose="02070309020205020404" pitchFamily="49" charset="0"/>
              <a:cs typeface="Courier New" panose="02070309020205020404" pitchFamily="49" charset="0"/>
            </a:endParaRPr>
          </a:p>
          <a:p>
            <a:pPr marL="0" indent="0">
              <a:spcBef>
                <a:spcPts val="0"/>
              </a:spcBef>
              <a:spcAft>
                <a:spcPts val="0"/>
              </a:spcAft>
              <a:buNone/>
            </a:pPr>
            <a:r>
              <a:rPr lang="en-CA" sz="2000" b="1" dirty="0" smtClean="0">
                <a:latin typeface="Courier New" panose="02070309020205020404" pitchFamily="49" charset="0"/>
                <a:cs typeface="Courier New" panose="02070309020205020404" pitchFamily="49" charset="0"/>
              </a:rPr>
              <a:t>7:  return </a:t>
            </a:r>
            <a:r>
              <a:rPr lang="en-CA" sz="2000" b="1" dirty="0" err="1">
                <a:latin typeface="Courier New" panose="02070309020205020404" pitchFamily="49" charset="0"/>
                <a:cs typeface="Courier New" panose="02070309020205020404" pitchFamily="49" charset="0"/>
              </a:rPr>
              <a:t>sb</a:t>
            </a:r>
            <a:r>
              <a:rPr lang="en-CA" sz="2000" b="1" dirty="0">
                <a:latin typeface="Courier New" panose="02070309020205020404" pitchFamily="49" charset="0"/>
                <a:cs typeface="Courier New" panose="02070309020205020404" pitchFamily="49" charset="0"/>
              </a:rPr>
              <a:t>-&gt;</a:t>
            </a:r>
            <a:r>
              <a:rPr lang="en-CA" sz="2000" b="1" dirty="0" err="1" smtClean="0">
                <a:latin typeface="Courier New" panose="02070309020205020404" pitchFamily="49" charset="0"/>
                <a:cs typeface="Courier New" panose="02070309020205020404" pitchFamily="49" charset="0"/>
              </a:rPr>
              <a:t>process_by_type</a:t>
            </a:r>
            <a:r>
              <a:rPr lang="en-CA" sz="2000" b="1" dirty="0" smtClean="0">
                <a:latin typeface="Courier New" panose="02070309020205020404" pitchFamily="49" charset="0"/>
                <a:cs typeface="Courier New" panose="02070309020205020404" pitchFamily="49" charset="0"/>
              </a:rPr>
              <a:t>(EXTENT_ITEM, </a:t>
            </a:r>
            <a:br>
              <a:rPr lang="en-CA" sz="2000" b="1" dirty="0" smtClean="0">
                <a:latin typeface="Courier New" panose="02070309020205020404" pitchFamily="49" charset="0"/>
                <a:cs typeface="Courier New" panose="02070309020205020404" pitchFamily="49" charset="0"/>
              </a:rPr>
            </a:br>
            <a:r>
              <a:rPr lang="en-CA" sz="2000" b="1" dirty="0" smtClean="0">
                <a:latin typeface="Courier New" panose="02070309020205020404" pitchFamily="49" charset="0"/>
                <a:cs typeface="Courier New" panose="02070309020205020404" pitchFamily="49" charset="0"/>
              </a:rPr>
              <a:t>                               </a:t>
            </a:r>
            <a:r>
              <a:rPr lang="en-CA" sz="2000" b="1" dirty="0" err="1" smtClean="0">
                <a:latin typeface="Courier New" panose="02070309020205020404" pitchFamily="49" charset="0"/>
                <a:cs typeface="Courier New" panose="02070309020205020404" pitchFamily="49" charset="0"/>
              </a:rPr>
              <a:t>process_extent_item</a:t>
            </a:r>
            <a:r>
              <a:rPr lang="en-CA" sz="2000" b="1" dirty="0" smtClean="0">
                <a:latin typeface="Courier New" panose="02070309020205020404" pitchFamily="49" charset="0"/>
                <a:cs typeface="Courier New" panose="02070309020205020404" pitchFamily="49" charset="0"/>
              </a:rPr>
              <a:t>, &amp;</a:t>
            </a:r>
            <a:r>
              <a:rPr lang="en-CA" sz="2000" b="1" dirty="0" err="1" smtClean="0">
                <a:latin typeface="Courier New" panose="02070309020205020404" pitchFamily="49" charset="0"/>
                <a:cs typeface="Courier New" panose="02070309020205020404" pitchFamily="49" charset="0"/>
              </a:rPr>
              <a:t>vec</a:t>
            </a:r>
            <a:r>
              <a:rPr lang="en-CA" sz="2000" b="1"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2000" dirty="0" smtClean="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2750673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Spiffy Applications</a:t>
            </a:r>
            <a:endParaRPr lang="en-CA" dirty="0"/>
          </a:p>
        </p:txBody>
      </p:sp>
      <p:sp>
        <p:nvSpPr>
          <p:cNvPr id="3" name="Content Placeholder 2"/>
          <p:cNvSpPr>
            <a:spLocks noGrp="1"/>
          </p:cNvSpPr>
          <p:nvPr>
            <p:ph idx="1"/>
          </p:nvPr>
        </p:nvSpPr>
        <p:spPr/>
        <p:txBody>
          <a:bodyPr/>
          <a:lstStyle/>
          <a:p>
            <a:r>
              <a:rPr lang="en-CA" dirty="0" smtClean="0"/>
              <a:t>File System Free Space Tool</a:t>
            </a:r>
          </a:p>
          <a:p>
            <a:r>
              <a:rPr lang="en-CA" dirty="0" smtClean="0"/>
              <a:t>Type-Specific File System Corruptor</a:t>
            </a:r>
          </a:p>
          <a:p>
            <a:r>
              <a:rPr lang="en-CA" dirty="0" smtClean="0"/>
              <a:t>File System Conversion Tool</a:t>
            </a:r>
          </a:p>
          <a:p>
            <a:r>
              <a:rPr lang="en-CA" dirty="0" smtClean="0"/>
              <a:t>File-system aware block layer cache</a:t>
            </a:r>
            <a:endParaRPr lang="en-CA" dirty="0"/>
          </a:p>
          <a:p>
            <a:endParaRPr lang="en-CA" dirty="0" smtClean="0"/>
          </a:p>
        </p:txBody>
      </p:sp>
      <p:sp>
        <p:nvSpPr>
          <p:cNvPr id="5" name="Slide Number Placeholder 4"/>
          <p:cNvSpPr>
            <a:spLocks noGrp="1"/>
          </p:cNvSpPr>
          <p:nvPr>
            <p:ph type="sldNum" sz="quarter" idx="12"/>
          </p:nvPr>
        </p:nvSpPr>
        <p:spPr/>
        <p:txBody>
          <a:bodyPr/>
          <a:lstStyle/>
          <a:p>
            <a:fld id="{7B2023C8-B124-43A9-8F92-0EEF5BAA9995}" type="slidenum">
              <a:rPr lang="en-CA" smtClean="0"/>
              <a:pPr/>
              <a:t>31</a:t>
            </a:fld>
            <a:endParaRPr lang="en-CA" dirty="0"/>
          </a:p>
        </p:txBody>
      </p:sp>
    </p:spTree>
    <p:extLst>
      <p:ext uri="{BB962C8B-B14F-4D97-AF65-F5344CB8AC3E}">
        <p14:creationId xmlns:p14="http://schemas.microsoft.com/office/powerpoint/2010/main" val="139518544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Type-Specific File System Corruptor</a:t>
            </a:r>
            <a:endParaRPr lang="en-CA" dirty="0"/>
          </a:p>
        </p:txBody>
      </p:sp>
      <p:sp>
        <p:nvSpPr>
          <p:cNvPr id="3" name="Content Placeholder 2"/>
          <p:cNvSpPr>
            <a:spLocks noGrp="1"/>
          </p:cNvSpPr>
          <p:nvPr>
            <p:ph idx="1"/>
          </p:nvPr>
        </p:nvSpPr>
        <p:spPr/>
        <p:txBody>
          <a:bodyPr/>
          <a:lstStyle/>
          <a:p>
            <a:r>
              <a:rPr lang="en-CA" smtClean="0"/>
              <a:t>Finds and corrupts a field in a specified structure</a:t>
            </a:r>
          </a:p>
          <a:p>
            <a:r>
              <a:rPr lang="en-CA" smtClean="0"/>
              <a:t>Works for all annotated file systems</a:t>
            </a:r>
          </a:p>
          <a:p>
            <a:pPr lvl="1"/>
            <a:r>
              <a:rPr lang="en-CA" smtClean="0"/>
              <a:t>Generic Application Code: 455 LOC</a:t>
            </a:r>
          </a:p>
          <a:p>
            <a:pPr lvl="1"/>
            <a:r>
              <a:rPr lang="en-CA" smtClean="0"/>
              <a:t>File-System Specific Code: &lt; 30 LOC each</a:t>
            </a:r>
          </a:p>
          <a:p>
            <a:r>
              <a:rPr lang="en-CA" smtClean="0"/>
              <a:t>Corruption Experiment</a:t>
            </a:r>
          </a:p>
          <a:p>
            <a:pPr lvl="1"/>
            <a:r>
              <a:rPr lang="en-CA" smtClean="0"/>
              <a:t>Ran existing tools on corrupt file system image</a:t>
            </a:r>
          </a:p>
          <a:p>
            <a:pPr lvl="1"/>
            <a:r>
              <a:rPr lang="en-CA" smtClean="0"/>
              <a:t>Discovered 1 crash bug in dumpe2fs (Ext4)</a:t>
            </a:r>
          </a:p>
          <a:p>
            <a:pPr lvl="1"/>
            <a:r>
              <a:rPr lang="en-CA" smtClean="0"/>
              <a:t>Discovered 5 crash bugs in dump.f2fs (F2FS)</a:t>
            </a:r>
          </a:p>
          <a:p>
            <a:pPr lvl="1"/>
            <a:r>
              <a:rPr lang="en-CA" smtClean="0"/>
              <a:t>None in our Spiffy dump tool on Ext4, Btrfs and F2FS</a:t>
            </a:r>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32</a:t>
            </a:fld>
            <a:endParaRPr lang="en-CA" dirty="0"/>
          </a:p>
        </p:txBody>
      </p:sp>
    </p:spTree>
    <p:extLst>
      <p:ext uri="{BB962C8B-B14F-4D97-AF65-F5344CB8AC3E}">
        <p14:creationId xmlns:p14="http://schemas.microsoft.com/office/powerpoint/2010/main" val="19219273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File System Conversion Tool</a:t>
            </a:r>
            <a:endParaRPr lang="en-CA" dirty="0"/>
          </a:p>
        </p:txBody>
      </p:sp>
      <p:sp>
        <p:nvSpPr>
          <p:cNvPr id="3" name="Content Placeholder 2"/>
          <p:cNvSpPr>
            <a:spLocks noGrp="1"/>
          </p:cNvSpPr>
          <p:nvPr>
            <p:ph idx="1"/>
          </p:nvPr>
        </p:nvSpPr>
        <p:spPr/>
        <p:txBody>
          <a:bodyPr/>
          <a:lstStyle/>
          <a:p>
            <a:r>
              <a:rPr lang="en-CA" smtClean="0"/>
              <a:t>Converts one file system to another while minimizing copying</a:t>
            </a:r>
            <a:br>
              <a:rPr lang="en-CA" smtClean="0"/>
            </a:br>
            <a:r>
              <a:rPr lang="en-CA" smtClean="0"/>
              <a:t>data blocks</a:t>
            </a:r>
          </a:p>
          <a:p>
            <a:pPr lvl="1"/>
            <a:endParaRPr lang="en-CA" smtClean="0"/>
          </a:p>
          <a:p>
            <a:r>
              <a:rPr lang="en-CA" smtClean="0"/>
              <a:t>Currently, converts from Ext4 to F2FS</a:t>
            </a:r>
          </a:p>
          <a:p>
            <a:pPr lvl="1"/>
            <a:r>
              <a:rPr lang="en-CA" smtClean="0"/>
              <a:t>Generic application code: 504 LOC</a:t>
            </a:r>
          </a:p>
          <a:p>
            <a:pPr lvl="1"/>
            <a:r>
              <a:rPr lang="en-CA" smtClean="0"/>
              <a:t>Ext4 specific code (source file system): 218 LOC</a:t>
            </a:r>
          </a:p>
          <a:p>
            <a:pPr lvl="1"/>
            <a:r>
              <a:rPr lang="en-CA" smtClean="0"/>
              <a:t>F2FS specific code (destination file system): 1760 LOC</a:t>
            </a:r>
          </a:p>
          <a:p>
            <a:pPr lvl="1"/>
            <a:endParaRPr lang="en-CA" smtClean="0"/>
          </a:p>
          <a:p>
            <a:endParaRPr lang="en-CA" dirty="0" smtClean="0"/>
          </a:p>
        </p:txBody>
      </p:sp>
      <p:sp>
        <p:nvSpPr>
          <p:cNvPr id="4" name="Slide Number Placeholder 3"/>
          <p:cNvSpPr>
            <a:spLocks noGrp="1"/>
          </p:cNvSpPr>
          <p:nvPr>
            <p:ph type="sldNum" sz="quarter" idx="12"/>
          </p:nvPr>
        </p:nvSpPr>
        <p:spPr/>
        <p:txBody>
          <a:bodyPr/>
          <a:lstStyle/>
          <a:p>
            <a:fld id="{7B2023C8-B124-43A9-8F92-0EEF5BAA9995}" type="slidenum">
              <a:rPr lang="en-CA" smtClean="0"/>
              <a:pPr/>
              <a:t>33</a:t>
            </a:fld>
            <a:endParaRPr lang="en-CA" dirty="0"/>
          </a:p>
        </p:txBody>
      </p:sp>
    </p:spTree>
    <p:extLst>
      <p:ext uri="{BB962C8B-B14F-4D97-AF65-F5344CB8AC3E}">
        <p14:creationId xmlns:p14="http://schemas.microsoft.com/office/powerpoint/2010/main" val="1177832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Evaluation: Ext4 to F2FS Converter</a:t>
            </a:r>
            <a:endParaRPr lang="en-CA" dirty="0"/>
          </a:p>
        </p:txBody>
      </p:sp>
      <p:sp>
        <p:nvSpPr>
          <p:cNvPr id="3" name="Content Placeholder 2"/>
          <p:cNvSpPr>
            <a:spLocks noGrp="1"/>
          </p:cNvSpPr>
          <p:nvPr>
            <p:ph idx="1"/>
          </p:nvPr>
        </p:nvSpPr>
        <p:spPr/>
        <p:txBody>
          <a:bodyPr/>
          <a:lstStyle/>
          <a:p>
            <a:r>
              <a:rPr lang="en-CA" dirty="0" smtClean="0"/>
              <a:t>Compare copy-based converter vs. Spiffy converter</a:t>
            </a:r>
          </a:p>
          <a:p>
            <a:pPr lvl="1"/>
            <a:r>
              <a:rPr lang="en-CA" dirty="0" smtClean="0"/>
              <a:t>Copy converter copies data to local disk, reformat, then copies back</a:t>
            </a:r>
          </a:p>
          <a:p>
            <a:r>
              <a:rPr lang="en-CA" dirty="0" smtClean="0"/>
              <a:t>Converts 64GB file system with 16GB of data on SSD</a:t>
            </a:r>
          </a:p>
          <a:p>
            <a:endParaRPr lang="en-CA" dirty="0" smtClean="0"/>
          </a:p>
          <a:p>
            <a:endParaRPr lang="en-CA" dirty="0" smtClean="0"/>
          </a:p>
          <a:p>
            <a:endParaRPr lang="en-CA" dirty="0" smtClean="0"/>
          </a:p>
          <a:p>
            <a:endParaRPr lang="en-CA" dirty="0" smtClean="0"/>
          </a:p>
          <a:p>
            <a:endParaRPr lang="en-CA" dirty="0" smtClean="0"/>
          </a:p>
          <a:p>
            <a:endParaRPr lang="en-CA" dirty="0" smtClean="0"/>
          </a:p>
          <a:p>
            <a:r>
              <a:rPr lang="en-CA" dirty="0" smtClean="0"/>
              <a:t>Copy converter 30~50 times slower</a:t>
            </a:r>
          </a:p>
        </p:txBody>
      </p:sp>
      <p:sp>
        <p:nvSpPr>
          <p:cNvPr id="6" name="Slide Number Placeholder 5"/>
          <p:cNvSpPr>
            <a:spLocks noGrp="1"/>
          </p:cNvSpPr>
          <p:nvPr>
            <p:ph type="sldNum" sz="quarter" idx="12"/>
          </p:nvPr>
        </p:nvSpPr>
        <p:spPr/>
        <p:txBody>
          <a:bodyPr/>
          <a:lstStyle/>
          <a:p>
            <a:fld id="{7B2023C8-B124-43A9-8F92-0EEF5BAA9995}" type="slidenum">
              <a:rPr lang="en-CA" smtClean="0"/>
              <a:pPr/>
              <a:t>34</a:t>
            </a:fld>
            <a:endParaRPr lang="en-CA" dirty="0"/>
          </a:p>
        </p:txBody>
      </p:sp>
      <p:graphicFrame>
        <p:nvGraphicFramePr>
          <p:cNvPr id="7" name="Chart 6"/>
          <p:cNvGraphicFramePr>
            <a:graphicFrameLocks/>
          </p:cNvGraphicFramePr>
          <p:nvPr>
            <p:extLst>
              <p:ext uri="{D42A27DB-BD31-4B8C-83A1-F6EECF244321}">
                <p14:modId xmlns:p14="http://schemas.microsoft.com/office/powerpoint/2010/main" val="2879694734"/>
              </p:ext>
            </p:extLst>
          </p:nvPr>
        </p:nvGraphicFramePr>
        <p:xfrm>
          <a:off x="1676516" y="3019426"/>
          <a:ext cx="7634725" cy="249237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968176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882743" y="0"/>
            <a:ext cx="3309257" cy="32063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title"/>
          </p:nvPr>
        </p:nvSpPr>
        <p:spPr/>
        <p:txBody>
          <a:bodyPr/>
          <a:lstStyle/>
          <a:p>
            <a:r>
              <a:rPr lang="en-CA" smtClean="0"/>
              <a:t>File-system Aware Block Layer Cache</a:t>
            </a:r>
            <a:endParaRPr lang="en-CA" dirty="0"/>
          </a:p>
        </p:txBody>
      </p:sp>
      <p:sp>
        <p:nvSpPr>
          <p:cNvPr id="3" name="Content Placeholder 2"/>
          <p:cNvSpPr>
            <a:spLocks noGrp="1"/>
          </p:cNvSpPr>
          <p:nvPr>
            <p:ph idx="1"/>
          </p:nvPr>
        </p:nvSpPr>
        <p:spPr/>
        <p:txBody>
          <a:bodyPr/>
          <a:lstStyle/>
          <a:p>
            <a:r>
              <a:rPr lang="en-CA" dirty="0" smtClean="0"/>
              <a:t>Supports a rich set of caching policies that require file-system specific information at the block layer</a:t>
            </a:r>
          </a:p>
          <a:p>
            <a:pPr lvl="1"/>
            <a:r>
              <a:rPr lang="en-CA" dirty="0" smtClean="0"/>
              <a:t>Cache file system metadata</a:t>
            </a:r>
          </a:p>
          <a:p>
            <a:pPr lvl="2"/>
            <a:r>
              <a:rPr lang="en-CA" dirty="0" smtClean="0"/>
              <a:t>Requires knowing whether a block is data or metadata</a:t>
            </a:r>
          </a:p>
          <a:p>
            <a:pPr lvl="1"/>
            <a:r>
              <a:rPr lang="en-CA" dirty="0" smtClean="0"/>
              <a:t>Cache small files, cache a specific user’s files</a:t>
            </a:r>
          </a:p>
          <a:p>
            <a:pPr lvl="2"/>
            <a:r>
              <a:rPr lang="en-CA" dirty="0" smtClean="0"/>
              <a:t>Requires knowing the file to which a block belongs, and the file’s size or owner</a:t>
            </a:r>
          </a:p>
          <a:p>
            <a:r>
              <a:rPr lang="en-CA" dirty="0" smtClean="0"/>
              <a:t>Requires no changes to the file system!</a:t>
            </a:r>
          </a:p>
          <a:p>
            <a:r>
              <a:rPr lang="en-CA" dirty="0" smtClean="0"/>
              <a:t>Identifies and interprets blocks as they are read or written</a:t>
            </a:r>
          </a:p>
          <a:p>
            <a:pPr lvl="1"/>
            <a:r>
              <a:rPr lang="en-CA" dirty="0" smtClean="0"/>
              <a:t>Identifies the types of blocks</a:t>
            </a:r>
          </a:p>
          <a:p>
            <a:pPr lvl="1"/>
            <a:r>
              <a:rPr lang="en-CA" dirty="0" smtClean="0"/>
              <a:t>Interprets their contents to extract file-system specific information</a:t>
            </a:r>
          </a:p>
          <a:p>
            <a:pPr lvl="1"/>
            <a:r>
              <a:rPr lang="en-CA" dirty="0" smtClean="0"/>
              <a:t>Requires little file-system specific code</a:t>
            </a:r>
          </a:p>
          <a:p>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35</a:t>
            </a:fld>
            <a:endParaRPr lang="en-CA" dirty="0"/>
          </a:p>
        </p:txBody>
      </p:sp>
      <p:grpSp>
        <p:nvGrpSpPr>
          <p:cNvPr id="6" name="Group 5"/>
          <p:cNvGrpSpPr>
            <a:grpSpLocks noChangeAspect="1"/>
          </p:cNvGrpSpPr>
          <p:nvPr/>
        </p:nvGrpSpPr>
        <p:grpSpPr>
          <a:xfrm rot="16200000">
            <a:off x="10260307" y="-78082"/>
            <a:ext cx="1853611" cy="2009775"/>
            <a:chOff x="9206969" y="2963333"/>
            <a:chExt cx="2981858" cy="3208867"/>
          </a:xfrm>
        </p:grpSpPr>
        <p:cxnSp>
          <p:nvCxnSpPr>
            <p:cNvPr id="7" name="Straight Connector 6"/>
            <p:cNvCxnSpPr/>
            <p:nvPr/>
          </p:nvCxnSpPr>
          <p:spPr>
            <a:xfrm flipH="1">
              <a:off x="11276012" y="2963333"/>
              <a:ext cx="912814" cy="91281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H="1">
              <a:off x="9206969" y="3190344"/>
              <a:ext cx="2981857" cy="2981856"/>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10292292" y="3285067"/>
              <a:ext cx="1896534" cy="189653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443103" y="3131080"/>
              <a:ext cx="1745722" cy="1745720"/>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918826" y="3683001"/>
              <a:ext cx="1270001" cy="1269999"/>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405202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Conclusion</a:t>
            </a:r>
            <a:endParaRPr lang="en-CA" dirty="0"/>
          </a:p>
        </p:txBody>
      </p:sp>
      <p:sp>
        <p:nvSpPr>
          <p:cNvPr id="3" name="Content Placeholder 2"/>
          <p:cNvSpPr>
            <a:spLocks noGrp="1"/>
          </p:cNvSpPr>
          <p:nvPr>
            <p:ph idx="1"/>
          </p:nvPr>
        </p:nvSpPr>
        <p:spPr/>
        <p:txBody>
          <a:bodyPr/>
          <a:lstStyle/>
          <a:p>
            <a:r>
              <a:rPr lang="en-CA" smtClean="0"/>
              <a:t>Spiffy framework</a:t>
            </a:r>
          </a:p>
          <a:p>
            <a:pPr lvl="1"/>
            <a:r>
              <a:rPr lang="en-CA" smtClean="0"/>
              <a:t>Annotation language for specifying file system format</a:t>
            </a:r>
          </a:p>
          <a:p>
            <a:pPr lvl="1"/>
            <a:r>
              <a:rPr lang="en-CA" smtClean="0"/>
              <a:t>Enables generating a library for traversing file system metadata</a:t>
            </a:r>
          </a:p>
          <a:p>
            <a:r>
              <a:rPr lang="en-CA" smtClean="0"/>
              <a:t>Simplifies development of file-system aware applications</a:t>
            </a:r>
          </a:p>
          <a:p>
            <a:pPr lvl="1"/>
            <a:r>
              <a:rPr lang="en-CA" smtClean="0"/>
              <a:t>Reduces file-system specific code</a:t>
            </a:r>
          </a:p>
          <a:p>
            <a:pPr lvl="1"/>
            <a:r>
              <a:rPr lang="en-CA" smtClean="0"/>
              <a:t>Enables code reuse across file systems</a:t>
            </a:r>
          </a:p>
          <a:p>
            <a:r>
              <a:rPr lang="en-CA" smtClean="0"/>
              <a:t>Enables writing robust applications</a:t>
            </a:r>
          </a:p>
          <a:p>
            <a:pPr lvl="1"/>
            <a:r>
              <a:rPr lang="en-CA" smtClean="0"/>
              <a:t>Provides type-safe parsing and serialization of metadata</a:t>
            </a:r>
          </a:p>
          <a:p>
            <a:pPr lvl="1"/>
            <a:r>
              <a:rPr lang="en-CA" smtClean="0"/>
              <a:t>Helps detect file system corruption</a:t>
            </a:r>
          </a:p>
          <a:p>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36</a:t>
            </a:fld>
            <a:endParaRPr lang="en-CA" dirty="0"/>
          </a:p>
        </p:txBody>
      </p:sp>
    </p:spTree>
    <p:extLst>
      <p:ext uri="{BB962C8B-B14F-4D97-AF65-F5344CB8AC3E}">
        <p14:creationId xmlns:p14="http://schemas.microsoft.com/office/powerpoint/2010/main" val="1690571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4211" y="1488556"/>
            <a:ext cx="9225333" cy="2470034"/>
          </a:xfrm>
        </p:spPr>
        <p:txBody>
          <a:bodyPr>
            <a:normAutofit fontScale="90000"/>
          </a:bodyPr>
          <a:lstStyle/>
          <a:p>
            <a:r>
              <a:rPr lang="en-CA" smtClean="0"/>
              <a:t>Spiffy: Enabling File-System Aware Storage Applications</a:t>
            </a:r>
            <a:br>
              <a:rPr lang="en-CA" smtClean="0"/>
            </a:br>
            <a:endParaRPr lang="en-CA" dirty="0"/>
          </a:p>
        </p:txBody>
      </p:sp>
      <p:sp>
        <p:nvSpPr>
          <p:cNvPr id="6" name="Text Placeholder 5"/>
          <p:cNvSpPr>
            <a:spLocks noGrp="1"/>
          </p:cNvSpPr>
          <p:nvPr>
            <p:ph type="body" idx="1"/>
          </p:nvPr>
        </p:nvSpPr>
        <p:spPr>
          <a:xfrm>
            <a:off x="684213" y="3912781"/>
            <a:ext cx="8534400" cy="2081619"/>
          </a:xfrm>
        </p:spPr>
        <p:txBody>
          <a:bodyPr/>
          <a:lstStyle/>
          <a:p>
            <a:endParaRPr lang="en-CA" smtClean="0"/>
          </a:p>
          <a:p>
            <a:endParaRPr lang="en-CA" smtClean="0"/>
          </a:p>
          <a:p>
            <a:r>
              <a:rPr lang="en-CA" smtClean="0"/>
              <a:t>Presented by Kuei (Jack) Sun</a:t>
            </a:r>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37</a:t>
            </a:fld>
            <a:endParaRPr lang="en-CA" dirty="0"/>
          </a:p>
        </p:txBody>
      </p:sp>
    </p:spTree>
    <p:extLst>
      <p:ext uri="{BB962C8B-B14F-4D97-AF65-F5344CB8AC3E}">
        <p14:creationId xmlns:p14="http://schemas.microsoft.com/office/powerpoint/2010/main" val="36095128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Spiffy API (C++)</a:t>
            </a:r>
            <a:endParaRPr lang="en-CA"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17643834"/>
              </p:ext>
            </p:extLst>
          </p:nvPr>
        </p:nvGraphicFramePr>
        <p:xfrm>
          <a:off x="684213" y="1317626"/>
          <a:ext cx="10285413" cy="5149214"/>
        </p:xfrm>
        <a:graphic>
          <a:graphicData uri="http://schemas.openxmlformats.org/drawingml/2006/table">
            <a:tbl>
              <a:tblPr firstRow="1" bandRow="1">
                <a:tableStyleId>{5C22544A-7EE6-4342-B048-85BDC9FD1C3A}</a:tableStyleId>
              </a:tblPr>
              <a:tblGrid>
                <a:gridCol w="1589087"/>
                <a:gridCol w="4597400"/>
                <a:gridCol w="4098926"/>
              </a:tblGrid>
              <a:tr h="370840">
                <a:tc>
                  <a:txBody>
                    <a:bodyPr/>
                    <a:lstStyle/>
                    <a:p>
                      <a:r>
                        <a:rPr lang="en-CA" dirty="0" smtClean="0"/>
                        <a:t>Base Class</a:t>
                      </a:r>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CA" dirty="0" smtClean="0"/>
                        <a:t>Member Functions</a:t>
                      </a:r>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CA" dirty="0" smtClean="0"/>
                        <a:t>Description</a:t>
                      </a:r>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gridSpan="3">
                  <a:txBody>
                    <a:bodyPr/>
                    <a:lstStyle/>
                    <a:p>
                      <a:r>
                        <a:rPr lang="en-CA" sz="1800" dirty="0" smtClean="0">
                          <a:latin typeface="+mn-lt"/>
                          <a:cs typeface="Courier New" panose="02070309020205020404" pitchFamily="49" charset="0"/>
                        </a:rPr>
                        <a:t>Spiffy File System Library</a:t>
                      </a:r>
                      <a:endParaRPr lang="en-CA" sz="1800" dirty="0">
                        <a:latin typeface="+mn-lt"/>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endParaRPr lang="en-CA" sz="1600" dirty="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endParaRPr lang="en-CA" sz="16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302894">
                <a:tc rowSpan="4">
                  <a:txBody>
                    <a:bodyPr/>
                    <a:lstStyle/>
                    <a:p>
                      <a:r>
                        <a:rPr lang="en-CA" sz="1600" dirty="0" smtClean="0">
                          <a:latin typeface="Courier New" panose="02070309020205020404" pitchFamily="49" charset="0"/>
                          <a:cs typeface="Courier New" panose="02070309020205020404" pitchFamily="49" charset="0"/>
                        </a:rPr>
                        <a:t>Entity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dirty="0" err="1" smtClean="0">
                          <a:latin typeface="Courier New" panose="02070309020205020404" pitchFamily="49" charset="0"/>
                          <a:cs typeface="Courier New" panose="02070309020205020404" pitchFamily="49" charset="0"/>
                        </a:rPr>
                        <a:t>int</a:t>
                      </a:r>
                      <a:r>
                        <a:rPr lang="en-CA" sz="1600" dirty="0" smtClean="0">
                          <a:latin typeface="Courier New" panose="02070309020205020404" pitchFamily="49" charset="0"/>
                          <a:cs typeface="Courier New" panose="02070309020205020404" pitchFamily="49" charset="0"/>
                        </a:rPr>
                        <a:t> </a:t>
                      </a:r>
                      <a:r>
                        <a:rPr lang="en-CA" sz="1600" dirty="0" err="1" smtClean="0">
                          <a:latin typeface="Courier New" panose="02070309020205020404" pitchFamily="49" charset="0"/>
                          <a:cs typeface="Courier New" panose="02070309020205020404" pitchFamily="49" charset="0"/>
                        </a:rPr>
                        <a:t>process_fields</a:t>
                      </a:r>
                      <a:r>
                        <a:rPr lang="en-CA" sz="1600" dirty="0" smtClean="0">
                          <a:latin typeface="Courier New" panose="02070309020205020404" pitchFamily="49" charset="0"/>
                          <a:cs typeface="Courier New" panose="02070309020205020404" pitchFamily="49" charset="0"/>
                        </a:rPr>
                        <a:t>(Visitor</a:t>
                      </a:r>
                      <a:r>
                        <a:rPr lang="en-CA" sz="1600" baseline="0" dirty="0" smtClean="0">
                          <a:latin typeface="Courier New" panose="02070309020205020404" pitchFamily="49" charset="0"/>
                          <a:cs typeface="Courier New" panose="02070309020205020404" pitchFamily="49" charset="0"/>
                        </a:rPr>
                        <a:t> &amp; v)</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b="0" i="0" u="none" strike="noStrike" kern="1200" baseline="0" dirty="0" smtClean="0">
                          <a:solidFill>
                            <a:schemeClr val="dk1"/>
                          </a:solidFill>
                          <a:latin typeface="+mn-lt"/>
                          <a:ea typeface="+mn-ea"/>
                          <a:cs typeface="+mn-cs"/>
                        </a:rPr>
                        <a:t>allows </a:t>
                      </a:r>
                      <a:r>
                        <a:rPr lang="en-CA" sz="1600" b="0" i="1" u="none" strike="noStrike" kern="1200" baseline="0" dirty="0" smtClean="0">
                          <a:solidFill>
                            <a:schemeClr val="dk1"/>
                          </a:solidFill>
                          <a:latin typeface="+mn-lt"/>
                          <a:ea typeface="+mn-ea"/>
                          <a:cs typeface="+mn-cs"/>
                        </a:rPr>
                        <a:t>v</a:t>
                      </a:r>
                      <a:r>
                        <a:rPr lang="en-CA" sz="1600" b="0" i="0" u="none" strike="noStrike" kern="1200" baseline="0" dirty="0" smtClean="0">
                          <a:solidFill>
                            <a:schemeClr val="dk1"/>
                          </a:solidFill>
                          <a:latin typeface="+mn-lt"/>
                          <a:ea typeface="+mn-ea"/>
                          <a:cs typeface="+mn-cs"/>
                        </a:rPr>
                        <a:t> to visit all fields of this object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239394">
                <a:tc vMerge="1">
                  <a:txBody>
                    <a:bodyPr/>
                    <a:lstStyle/>
                    <a:p>
                      <a:endParaRPr lang="en-CA"/>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dirty="0" err="1" smtClean="0">
                          <a:latin typeface="Courier New" panose="02070309020205020404" pitchFamily="49" charset="0"/>
                          <a:cs typeface="Courier New" panose="02070309020205020404" pitchFamily="49" charset="0"/>
                        </a:rPr>
                        <a:t>int</a:t>
                      </a:r>
                      <a:r>
                        <a:rPr lang="en-CA" sz="1600" dirty="0" smtClean="0">
                          <a:latin typeface="Courier New" panose="02070309020205020404" pitchFamily="49" charset="0"/>
                          <a:cs typeface="Courier New" panose="02070309020205020404" pitchFamily="49" charset="0"/>
                        </a:rPr>
                        <a:t> </a:t>
                      </a:r>
                      <a:r>
                        <a:rPr lang="en-CA" sz="1600" dirty="0" err="1" smtClean="0">
                          <a:latin typeface="Courier New" panose="02070309020205020404" pitchFamily="49" charset="0"/>
                          <a:cs typeface="Courier New" panose="02070309020205020404" pitchFamily="49" charset="0"/>
                        </a:rPr>
                        <a:t>process_pointer</a:t>
                      </a:r>
                      <a:r>
                        <a:rPr lang="en-CA" sz="1600" dirty="0" smtClean="0">
                          <a:latin typeface="Courier New" panose="02070309020205020404" pitchFamily="49" charset="0"/>
                          <a:cs typeface="Courier New" panose="02070309020205020404" pitchFamily="49" charset="0"/>
                        </a:rPr>
                        <a:t>(Visitor</a:t>
                      </a:r>
                      <a:r>
                        <a:rPr lang="en-CA" sz="1600" baseline="0" dirty="0" smtClean="0">
                          <a:latin typeface="Courier New" panose="02070309020205020404" pitchFamily="49" charset="0"/>
                          <a:cs typeface="Courier New" panose="02070309020205020404" pitchFamily="49" charset="0"/>
                        </a:rPr>
                        <a:t> &amp; v)</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i="0" u="none" strike="noStrike" kern="1200" baseline="0" dirty="0" smtClean="0">
                          <a:solidFill>
                            <a:schemeClr val="dk1"/>
                          </a:solidFill>
                          <a:latin typeface="+mn-lt"/>
                          <a:ea typeface="+mn-ea"/>
                          <a:cs typeface="+mn-cs"/>
                        </a:rPr>
                        <a:t>allows </a:t>
                      </a:r>
                      <a:r>
                        <a:rPr lang="en-CA" sz="1600" b="0" i="1" u="none" strike="noStrike" kern="1200" baseline="0" dirty="0" smtClean="0">
                          <a:solidFill>
                            <a:schemeClr val="dk1"/>
                          </a:solidFill>
                          <a:latin typeface="+mn-lt"/>
                          <a:ea typeface="+mn-ea"/>
                          <a:cs typeface="+mn-cs"/>
                        </a:rPr>
                        <a:t>v</a:t>
                      </a:r>
                      <a:r>
                        <a:rPr lang="en-CA" sz="1600" b="0" i="0" u="none" strike="noStrike" kern="1200" baseline="0" dirty="0" smtClean="0">
                          <a:solidFill>
                            <a:schemeClr val="dk1"/>
                          </a:solidFill>
                          <a:latin typeface="+mn-lt"/>
                          <a:ea typeface="+mn-ea"/>
                          <a:cs typeface="+mn-cs"/>
                        </a:rPr>
                        <a:t> to visit all pointers of this object</a:t>
                      </a:r>
                      <a:endParaRPr lang="en-CA" sz="1600" dirty="0" smtClean="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262256">
                <a:tc vMerge="1">
                  <a:txBody>
                    <a:bodyPr/>
                    <a:lstStyle/>
                    <a:p>
                      <a:endParaRPr lang="en-CA"/>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dirty="0" err="1" smtClean="0">
                          <a:latin typeface="Courier New" panose="02070309020205020404" pitchFamily="49" charset="0"/>
                          <a:cs typeface="Courier New" panose="02070309020205020404" pitchFamily="49" charset="0"/>
                        </a:rPr>
                        <a:t>int</a:t>
                      </a:r>
                      <a:r>
                        <a:rPr lang="en-CA" sz="1600" dirty="0" smtClean="0">
                          <a:latin typeface="Courier New" panose="02070309020205020404" pitchFamily="49" charset="0"/>
                          <a:cs typeface="Courier New" panose="02070309020205020404" pitchFamily="49" charset="0"/>
                        </a:rPr>
                        <a:t> </a:t>
                      </a:r>
                      <a:r>
                        <a:rPr lang="en-CA" sz="1600" dirty="0" err="1" smtClean="0">
                          <a:latin typeface="Courier New" panose="02070309020205020404" pitchFamily="49" charset="0"/>
                          <a:cs typeface="Courier New" panose="02070309020205020404" pitchFamily="49" charset="0"/>
                        </a:rPr>
                        <a:t>process_by_type</a:t>
                      </a:r>
                      <a:r>
                        <a:rPr lang="en-CA" sz="1600" dirty="0" smtClean="0">
                          <a:latin typeface="Courier New" panose="02070309020205020404" pitchFamily="49" charset="0"/>
                          <a:cs typeface="Courier New" panose="02070309020205020404" pitchFamily="49" charset="0"/>
                        </a:rPr>
                        <a:t>(</a:t>
                      </a:r>
                      <a:r>
                        <a:rPr lang="en-CA" sz="1600" dirty="0" err="1" smtClean="0">
                          <a:latin typeface="Courier New" panose="02070309020205020404" pitchFamily="49" charset="0"/>
                          <a:cs typeface="Courier New" panose="02070309020205020404" pitchFamily="49" charset="0"/>
                        </a:rPr>
                        <a:t>int</a:t>
                      </a:r>
                      <a:r>
                        <a:rPr lang="en-CA" sz="1600" dirty="0" smtClean="0">
                          <a:latin typeface="Courier New" panose="02070309020205020404" pitchFamily="49" charset="0"/>
                          <a:cs typeface="Courier New" panose="02070309020205020404" pitchFamily="49" charset="0"/>
                        </a:rPr>
                        <a:t> t, </a:t>
                      </a:r>
                    </a:p>
                    <a:p>
                      <a:pPr marL="0" marR="0" lvl="0" indent="0" algn="l" defTabSz="457200" rtl="0" eaLnBrk="1" fontAlgn="auto" latinLnBrk="0" hangingPunct="1">
                        <a:lnSpc>
                          <a:spcPct val="100000"/>
                        </a:lnSpc>
                        <a:spcBef>
                          <a:spcPts val="0"/>
                        </a:spcBef>
                        <a:spcAft>
                          <a:spcPts val="0"/>
                        </a:spcAft>
                        <a:buClrTx/>
                        <a:buSzTx/>
                        <a:buFontTx/>
                        <a:buNone/>
                        <a:tabLst/>
                        <a:defRPr/>
                      </a:pPr>
                      <a:r>
                        <a:rPr lang="en-CA" sz="1600" dirty="0" smtClean="0">
                          <a:latin typeface="Courier New" panose="02070309020205020404" pitchFamily="49" charset="0"/>
                          <a:cs typeface="Courier New" panose="02070309020205020404" pitchFamily="49" charset="0"/>
                        </a:rPr>
                        <a:t>                    Visitor</a:t>
                      </a:r>
                      <a:r>
                        <a:rPr lang="en-CA" sz="1600" baseline="0" dirty="0" smtClean="0">
                          <a:latin typeface="Courier New" panose="02070309020205020404" pitchFamily="49" charset="0"/>
                          <a:cs typeface="Courier New" panose="02070309020205020404" pitchFamily="49" charset="0"/>
                        </a:rPr>
                        <a:t> &amp; v)</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b="0" i="0" u="none" strike="noStrike" kern="1200" baseline="0" dirty="0" smtClean="0">
                          <a:solidFill>
                            <a:schemeClr val="dk1"/>
                          </a:solidFill>
                          <a:latin typeface="+mn-lt"/>
                          <a:ea typeface="+mn-ea"/>
                          <a:cs typeface="+mn-cs"/>
                        </a:rPr>
                        <a:t>allows </a:t>
                      </a:r>
                      <a:r>
                        <a:rPr lang="en-CA" sz="1600" b="0" i="1" u="none" strike="noStrike" kern="1200" baseline="0" dirty="0" smtClean="0">
                          <a:solidFill>
                            <a:schemeClr val="dk1"/>
                          </a:solidFill>
                          <a:latin typeface="+mn-lt"/>
                          <a:ea typeface="+mn-ea"/>
                          <a:cs typeface="+mn-cs"/>
                        </a:rPr>
                        <a:t>v</a:t>
                      </a:r>
                      <a:r>
                        <a:rPr lang="en-CA" sz="1600" b="0" i="0" u="none" strike="noStrike" kern="1200" baseline="0" dirty="0" smtClean="0">
                          <a:solidFill>
                            <a:schemeClr val="dk1"/>
                          </a:solidFill>
                          <a:latin typeface="+mn-lt"/>
                          <a:ea typeface="+mn-ea"/>
                          <a:cs typeface="+mn-cs"/>
                        </a:rPr>
                        <a:t> to visit all structures of type </a:t>
                      </a:r>
                      <a:r>
                        <a:rPr lang="en-CA" sz="1600" b="0" i="1" u="none" strike="noStrike" kern="1200" baseline="0" dirty="0" smtClean="0">
                          <a:solidFill>
                            <a:schemeClr val="dk1"/>
                          </a:solidFill>
                          <a:latin typeface="+mn-lt"/>
                          <a:ea typeface="+mn-ea"/>
                          <a:cs typeface="+mn-cs"/>
                        </a:rPr>
                        <a:t>t </a:t>
                      </a:r>
                      <a:r>
                        <a:rPr lang="en-CA" sz="1600" b="0" i="0" u="none" strike="noStrike" kern="1200" baseline="0" dirty="0" smtClean="0">
                          <a:solidFill>
                            <a:schemeClr val="dk1"/>
                          </a:solidFill>
                          <a:latin typeface="+mn-lt"/>
                          <a:ea typeface="+mn-ea"/>
                          <a:cs typeface="+mn-cs"/>
                        </a:rPr>
                        <a:t>that is reachable from this object</a:t>
                      </a:r>
                      <a:endParaRPr lang="en-CA" sz="1600" i="1"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262256">
                <a:tc vMerge="1">
                  <a:txBody>
                    <a:bodyPr/>
                    <a:lstStyle/>
                    <a:p>
                      <a:endParaRPr lang="en-CA"/>
                    </a:p>
                  </a:txBody>
                  <a:tcPr/>
                </a:tc>
                <a:tc>
                  <a:txBody>
                    <a:bodyPr/>
                    <a:lstStyle/>
                    <a:p>
                      <a:r>
                        <a:rPr lang="en-CA" sz="1600" dirty="0" err="1" smtClean="0">
                          <a:latin typeface="Courier New" panose="02070309020205020404" pitchFamily="49" charset="0"/>
                          <a:cs typeface="Courier New" panose="02070309020205020404" pitchFamily="49" charset="0"/>
                        </a:rPr>
                        <a:t>get_name</a:t>
                      </a:r>
                      <a:r>
                        <a:rPr lang="en-CA" sz="1600" dirty="0" smtClean="0">
                          <a:latin typeface="Courier New" panose="02070309020205020404" pitchFamily="49" charset="0"/>
                          <a:cs typeface="Courier New" panose="02070309020205020404" pitchFamily="49" charset="0"/>
                        </a:rPr>
                        <a:t>(),</a:t>
                      </a:r>
                      <a:r>
                        <a:rPr lang="en-CA" sz="1600" baseline="0" dirty="0" smtClean="0">
                          <a:latin typeface="Courier New" panose="02070309020205020404" pitchFamily="49" charset="0"/>
                          <a:cs typeface="Courier New" panose="02070309020205020404" pitchFamily="49" charset="0"/>
                        </a:rPr>
                        <a:t> </a:t>
                      </a:r>
                      <a:r>
                        <a:rPr lang="en-CA" sz="1600" dirty="0" err="1" smtClean="0">
                          <a:latin typeface="Courier New" panose="02070309020205020404" pitchFamily="49" charset="0"/>
                          <a:cs typeface="Courier New" panose="02070309020205020404" pitchFamily="49" charset="0"/>
                        </a:rPr>
                        <a:t>get_size</a:t>
                      </a:r>
                      <a:r>
                        <a:rPr lang="en-CA" sz="1600" dirty="0" smtClean="0">
                          <a:latin typeface="Courier New" panose="02070309020205020404" pitchFamily="49" charset="0"/>
                          <a:cs typeface="Courier New" panose="02070309020205020404" pitchFamily="49" charset="0"/>
                        </a:rPr>
                        <a:t>(), etc.</a:t>
                      </a:r>
                      <a:endParaRPr lang="en-CA" sz="1600" dirty="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dirty="0" smtClean="0"/>
                        <a:t>allows for type introspection </a:t>
                      </a:r>
                      <a:endParaRPr lang="en-CA" sz="16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370840">
                <a:tc>
                  <a:txBody>
                    <a:bodyPr/>
                    <a:lstStyle/>
                    <a:p>
                      <a:r>
                        <a:rPr lang="en-CA" sz="1600" dirty="0" smtClean="0">
                          <a:latin typeface="Courier New" panose="02070309020205020404" pitchFamily="49" charset="0"/>
                          <a:cs typeface="Courier New" panose="02070309020205020404" pitchFamily="49" charset="0"/>
                        </a:rPr>
                        <a:t>Container</a:t>
                      </a:r>
                      <a:endParaRPr lang="en-CA" sz="1600" dirty="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dirty="0" err="1" smtClean="0">
                          <a:latin typeface="Courier New" panose="02070309020205020404" pitchFamily="49" charset="0"/>
                          <a:cs typeface="Courier New" panose="02070309020205020404" pitchFamily="49" charset="0"/>
                        </a:rPr>
                        <a:t>int</a:t>
                      </a:r>
                      <a:r>
                        <a:rPr lang="en-CA" sz="1600" dirty="0" smtClean="0">
                          <a:latin typeface="Courier New" panose="02070309020205020404" pitchFamily="49" charset="0"/>
                          <a:cs typeface="Courier New" panose="02070309020205020404" pitchFamily="49" charset="0"/>
                        </a:rPr>
                        <a:t> save(bool </a:t>
                      </a:r>
                      <a:r>
                        <a:rPr lang="en-CA" sz="1600" dirty="0" err="1" smtClean="0">
                          <a:latin typeface="Courier New" panose="02070309020205020404" pitchFamily="49" charset="0"/>
                          <a:cs typeface="Courier New" panose="02070309020205020404" pitchFamily="49" charset="0"/>
                        </a:rPr>
                        <a:t>alloc</a:t>
                      </a:r>
                      <a:r>
                        <a:rPr lang="en-CA" sz="1600" dirty="0" smtClean="0">
                          <a:latin typeface="Courier New" panose="02070309020205020404" pitchFamily="49" charset="0"/>
                          <a:cs typeface="Courier New" panose="02070309020205020404" pitchFamily="49" charset="0"/>
                        </a:rPr>
                        <a:t>=true)</a:t>
                      </a:r>
                      <a:endParaRPr lang="en-CA" sz="1600" dirty="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b="0" i="0" u="none" strike="noStrike" kern="1200" baseline="0" dirty="0" smtClean="0">
                          <a:solidFill>
                            <a:schemeClr val="dk1"/>
                          </a:solidFill>
                          <a:latin typeface="+mn-lt"/>
                          <a:ea typeface="+mn-ea"/>
                          <a:cs typeface="+mn-cs"/>
                        </a:rPr>
                        <a:t>serializes and persists the container</a:t>
                      </a:r>
                      <a:endParaRPr lang="en-CA" sz="16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370840">
                <a:tc>
                  <a:txBody>
                    <a:bodyPr/>
                    <a:lstStyle/>
                    <a:p>
                      <a:r>
                        <a:rPr lang="en-CA" sz="1600" dirty="0" smtClean="0">
                          <a:latin typeface="Courier New" panose="02070309020205020404" pitchFamily="49" charset="0"/>
                          <a:cs typeface="Courier New" panose="02070309020205020404" pitchFamily="49" charset="0"/>
                        </a:rPr>
                        <a:t>Pointer</a:t>
                      </a:r>
                      <a:endParaRPr lang="en-CA" sz="1600" dirty="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dirty="0" smtClean="0">
                          <a:latin typeface="Courier New" panose="02070309020205020404" pitchFamily="49" charset="0"/>
                          <a:cs typeface="Courier New" panose="02070309020205020404" pitchFamily="49" charset="0"/>
                        </a:rPr>
                        <a:t>Container</a:t>
                      </a:r>
                      <a:r>
                        <a:rPr lang="en-CA" sz="1600" baseline="0" dirty="0" smtClean="0">
                          <a:latin typeface="Courier New" panose="02070309020205020404" pitchFamily="49" charset="0"/>
                          <a:cs typeface="Courier New" panose="02070309020205020404" pitchFamily="49" charset="0"/>
                        </a:rPr>
                        <a:t> * fetch()</a:t>
                      </a:r>
                      <a:endParaRPr lang="en-CA" sz="1600" dirty="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b="0" i="0" u="none" strike="noStrike" kern="1200" baseline="0" dirty="0" smtClean="0">
                          <a:solidFill>
                            <a:schemeClr val="dk1"/>
                          </a:solidFill>
                          <a:latin typeface="+mn-lt"/>
                          <a:ea typeface="+mn-ea"/>
                          <a:cs typeface="+mn-cs"/>
                        </a:rPr>
                        <a:t>retrieves pointed-to container from disk</a:t>
                      </a:r>
                      <a:endParaRPr lang="en-CA" sz="16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292417">
                <a:tc rowSpan="3">
                  <a:txBody>
                    <a:bodyPr/>
                    <a:lstStyle/>
                    <a:p>
                      <a:r>
                        <a:rPr lang="en-CA" sz="1600" dirty="0" err="1" smtClean="0">
                          <a:latin typeface="Courier New" panose="02070309020205020404" pitchFamily="49" charset="0"/>
                          <a:cs typeface="Courier New" panose="02070309020205020404" pitchFamily="49" charset="0"/>
                        </a:rPr>
                        <a:t>FileSystem</a:t>
                      </a:r>
                      <a:endParaRPr lang="en-CA" sz="1600" dirty="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FileSystem</a:t>
                      </a: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(IO &amp; </a:t>
                      </a:r>
                      <a:r>
                        <a:rPr lang="en-CA" sz="16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io</a:t>
                      </a:r>
                      <a:r>
                        <a:rPr lang="en-CA" sz="1600" b="0" i="0" u="none" strike="noStrike" kern="1200" baseline="0" smtClean="0">
                          <a:solidFill>
                            <a:schemeClr val="dk1"/>
                          </a:solidFill>
                          <a:latin typeface="Courier New" panose="02070309020205020404" pitchFamily="49" charset="0"/>
                          <a:ea typeface="+mn-ea"/>
                          <a:cs typeface="Courier New" panose="02070309020205020404" pitchFamily="49" charset="0"/>
                        </a:rPr>
                        <a:t>) </a:t>
                      </a:r>
                      <a:endPar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i="0" u="none" strike="noStrike" kern="1200" baseline="0" dirty="0" smtClean="0">
                          <a:solidFill>
                            <a:schemeClr val="dk1"/>
                          </a:solidFill>
                          <a:latin typeface="+mn-lt"/>
                          <a:ea typeface="+mn-ea"/>
                          <a:cs typeface="+mn-cs"/>
                        </a:rPr>
                        <a:t>instantiates a new file </a:t>
                      </a:r>
                      <a:r>
                        <a:rPr lang="en-CA" sz="1600" b="0" i="0" u="none" strike="noStrike" kern="1200" baseline="0" smtClean="0">
                          <a:solidFill>
                            <a:schemeClr val="dk1"/>
                          </a:solidFill>
                          <a:latin typeface="+mn-lt"/>
                          <a:ea typeface="+mn-ea"/>
                          <a:cs typeface="+mn-cs"/>
                        </a:rPr>
                        <a:t>system object</a:t>
                      </a:r>
                      <a:endParaRPr lang="en-CA" sz="1600" b="0" i="0" u="none" strike="noStrike" kern="1200" baseline="0" dirty="0" smtClean="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373697">
                <a:tc vMerge="1">
                  <a:txBody>
                    <a:bodyPr/>
                    <a:lstStyle/>
                    <a:p>
                      <a:endParaRPr lang="en-CA"/>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dirty="0" smtClean="0">
                          <a:latin typeface="Courier New" panose="02070309020205020404" pitchFamily="49" charset="0"/>
                          <a:cs typeface="Courier New" panose="02070309020205020404" pitchFamily="49" charset="0"/>
                        </a:rPr>
                        <a:t>Container</a:t>
                      </a: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 * </a:t>
                      </a:r>
                      <a:r>
                        <a:rPr lang="en-CA" sz="16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fetch_super</a:t>
                      </a: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i="0" u="none" strike="noStrike" kern="1200" baseline="0" dirty="0" smtClean="0">
                          <a:solidFill>
                            <a:schemeClr val="dk1"/>
                          </a:solidFill>
                          <a:latin typeface="+mn-lt"/>
                          <a:ea typeface="+mn-ea"/>
                          <a:cs typeface="+mn-cs"/>
                        </a:rPr>
                        <a:t>retrieves the super block from disk</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670877">
                <a:tc vMerge="1">
                  <a:txBody>
                    <a:bodyPr/>
                    <a:lstStyle/>
                    <a:p>
                      <a:endParaRPr lang="en-CA"/>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dirty="0" smtClean="0">
                          <a:latin typeface="Courier New" panose="02070309020205020404" pitchFamily="49" charset="0"/>
                          <a:cs typeface="Courier New" panose="02070309020205020404" pitchFamily="49" charset="0"/>
                        </a:rPr>
                        <a:t>Container</a:t>
                      </a: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 * </a:t>
                      </a:r>
                      <a:r>
                        <a:rPr lang="en-CA" sz="16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parse_by_type</a:t>
                      </a: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a:t>
                      </a:r>
                      <a:r>
                        <a:rPr lang="en-CA" sz="16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int</a:t>
                      </a: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 type, </a:t>
                      </a:r>
                    </a:p>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 </a:t>
                      </a:r>
                      <a:r>
                        <a:rPr lang="en-CA" sz="16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const</a:t>
                      </a: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 char * </a:t>
                      </a:r>
                      <a:r>
                        <a:rPr lang="en-CA" sz="16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buf</a:t>
                      </a: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 </a:t>
                      </a:r>
                      <a:r>
                        <a:rPr lang="en-CA" sz="16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size_t</a:t>
                      </a: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 </a:t>
                      </a:r>
                      <a:r>
                        <a:rPr lang="en-CA" sz="16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len</a:t>
                      </a:r>
                      <a:r>
                        <a:rPr lang="en-CA" sz="16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a:t>
                      </a:r>
                      <a:endParaRPr lang="en-CA" sz="1600" dirty="0" smtClean="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b="0" i="0" u="none" strike="noStrike" kern="1200" baseline="0" dirty="0" smtClean="0">
                          <a:solidFill>
                            <a:schemeClr val="dk1"/>
                          </a:solidFill>
                          <a:latin typeface="+mn-lt"/>
                          <a:ea typeface="+mn-ea"/>
                          <a:cs typeface="+mn-cs"/>
                        </a:rPr>
                        <a:t>parses the buffer </a:t>
                      </a:r>
                      <a:r>
                        <a:rPr lang="en-CA" sz="1600" b="0" i="1" u="none" strike="noStrike" kern="1200" baseline="0" dirty="0" err="1" smtClean="0">
                          <a:solidFill>
                            <a:schemeClr val="dk1"/>
                          </a:solidFill>
                          <a:latin typeface="+mn-lt"/>
                          <a:ea typeface="+mn-ea"/>
                          <a:cs typeface="+mn-cs"/>
                        </a:rPr>
                        <a:t>buf</a:t>
                      </a:r>
                      <a:r>
                        <a:rPr lang="en-CA" sz="1600" b="0" i="0" u="none" strike="noStrike" kern="1200" baseline="0" dirty="0" smtClean="0">
                          <a:solidFill>
                            <a:schemeClr val="dk1"/>
                          </a:solidFill>
                          <a:latin typeface="+mn-lt"/>
                          <a:ea typeface="+mn-ea"/>
                          <a:cs typeface="+mn-cs"/>
                        </a:rPr>
                        <a:t> as metadata container </a:t>
                      </a:r>
                      <a:r>
                        <a:rPr lang="en-CA" sz="1600" b="0" i="1" u="none" strike="noStrike" kern="1200" baseline="0" dirty="0" smtClean="0">
                          <a:solidFill>
                            <a:schemeClr val="dk1"/>
                          </a:solidFill>
                          <a:latin typeface="+mn-lt"/>
                          <a:ea typeface="+mn-ea"/>
                          <a:cs typeface="+mn-cs"/>
                        </a:rPr>
                        <a:t>type</a:t>
                      </a:r>
                      <a:endParaRPr lang="en-CA" sz="1600" dirty="0" smtClean="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307023">
                <a:tc gridSpan="3">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800" dirty="0" smtClean="0">
                          <a:latin typeface="+mn-lt"/>
                          <a:cs typeface="Courier New" panose="02070309020205020404" pitchFamily="49" charset="0"/>
                        </a:rPr>
                        <a:t>Application Developer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CA" sz="1600" dirty="0" smtClean="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endParaRPr lang="en-CA" sz="1600" dirty="0" smtClean="0">
                        <a:latin typeface="+mn-lt"/>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136843">
                <a:tc>
                  <a:txBody>
                    <a:bodyPr/>
                    <a:lstStyle/>
                    <a:p>
                      <a:r>
                        <a:rPr lang="en-CA" sz="1600" dirty="0" smtClean="0">
                          <a:latin typeface="Courier New" panose="02070309020205020404" pitchFamily="49" charset="0"/>
                          <a:cs typeface="Courier New" panose="02070309020205020404" pitchFamily="49" charset="0"/>
                        </a:rPr>
                        <a:t>Visitor</a:t>
                      </a:r>
                      <a:endParaRPr lang="en-CA" sz="1600" dirty="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dirty="0" smtClean="0">
                          <a:latin typeface="Courier New" panose="02070309020205020404" pitchFamily="49" charset="0"/>
                          <a:cs typeface="Courier New" panose="02070309020205020404" pitchFamily="49" charset="0"/>
                        </a:rPr>
                        <a:t>virtual </a:t>
                      </a:r>
                      <a:r>
                        <a:rPr lang="en-CA" sz="1600" dirty="0" err="1" smtClean="0">
                          <a:latin typeface="Courier New" panose="02070309020205020404" pitchFamily="49" charset="0"/>
                          <a:cs typeface="Courier New" panose="02070309020205020404" pitchFamily="49" charset="0"/>
                        </a:rPr>
                        <a:t>int</a:t>
                      </a:r>
                      <a:r>
                        <a:rPr lang="en-CA" sz="1600" dirty="0" smtClean="0">
                          <a:latin typeface="Courier New" panose="02070309020205020404" pitchFamily="49" charset="0"/>
                          <a:cs typeface="Courier New" panose="02070309020205020404" pitchFamily="49" charset="0"/>
                        </a:rPr>
                        <a:t> visit(Entity</a:t>
                      </a:r>
                      <a:r>
                        <a:rPr lang="en-CA" sz="1600" baseline="0" dirty="0" smtClean="0">
                          <a:latin typeface="Courier New" panose="02070309020205020404" pitchFamily="49" charset="0"/>
                          <a:cs typeface="Courier New" panose="02070309020205020404" pitchFamily="49" charset="0"/>
                        </a:rPr>
                        <a:t> &amp; e)=0;</a:t>
                      </a:r>
                      <a:endParaRPr lang="en-CA" sz="1600" dirty="0" smtClean="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CA" sz="1600" b="0" i="0" u="none" strike="noStrike" kern="1200" baseline="0" dirty="0" smtClean="0">
                          <a:solidFill>
                            <a:schemeClr val="dk1"/>
                          </a:solidFill>
                          <a:latin typeface="+mn-lt"/>
                          <a:ea typeface="+mn-ea"/>
                          <a:cs typeface="+mn-cs"/>
                        </a:rPr>
                        <a:t>visits an entity and possibly processes it</a:t>
                      </a:r>
                      <a:endParaRPr lang="en-CA" sz="1600" dirty="0" smtClean="0">
                        <a:latin typeface="+mn-lt"/>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4" name="Slide Number Placeholder 3"/>
          <p:cNvSpPr>
            <a:spLocks noGrp="1"/>
          </p:cNvSpPr>
          <p:nvPr>
            <p:ph type="sldNum" sz="quarter" idx="12"/>
          </p:nvPr>
        </p:nvSpPr>
        <p:spPr/>
        <p:txBody>
          <a:bodyPr/>
          <a:lstStyle/>
          <a:p>
            <a:fld id="{7B2023C8-B124-43A9-8F92-0EEF5BAA9995}" type="slidenum">
              <a:rPr lang="en-CA" smtClean="0"/>
              <a:pPr/>
              <a:t>38</a:t>
            </a:fld>
            <a:endParaRPr lang="en-CA" dirty="0"/>
          </a:p>
        </p:txBody>
      </p:sp>
    </p:spTree>
    <p:extLst>
      <p:ext uri="{BB962C8B-B14F-4D97-AF65-F5344CB8AC3E}">
        <p14:creationId xmlns:p14="http://schemas.microsoft.com/office/powerpoint/2010/main" val="37248974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File-System Agnostic Traversal</a:t>
            </a:r>
            <a:endParaRPr lang="en-CA" dirty="0"/>
          </a:p>
        </p:txBody>
      </p:sp>
      <p:sp>
        <p:nvSpPr>
          <p:cNvPr id="3" name="Content Placeholder 2"/>
          <p:cNvSpPr>
            <a:spLocks noGrp="1"/>
          </p:cNvSpPr>
          <p:nvPr>
            <p:ph sz="half" idx="1"/>
          </p:nvPr>
        </p:nvSpPr>
        <p:spPr>
          <a:xfrm>
            <a:off x="684211" y="1515361"/>
            <a:ext cx="5145089" cy="4656839"/>
          </a:xfrm>
        </p:spPr>
        <p:txBody>
          <a:bodyPr>
            <a:noAutofit/>
          </a:bodyPr>
          <a:lstStyle/>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EntVisitor</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ev</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PtrVisitor</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pv</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int</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PtrVisitor</a:t>
            </a:r>
            <a:r>
              <a:rPr lang="en-CA" sz="1800" dirty="0">
                <a:latin typeface="Courier New" panose="02070309020205020404" pitchFamily="49" charset="0"/>
                <a:cs typeface="Courier New" panose="02070309020205020404" pitchFamily="49" charset="0"/>
              </a:rPr>
              <a:t>::visit(Entity &amp; e) </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Container </a:t>
            </a:r>
            <a:r>
              <a:rPr lang="en-CA" sz="1800" dirty="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 </a:t>
            </a: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 </a:t>
            </a:r>
            <a:r>
              <a:rPr lang="en-CA" sz="1800" dirty="0">
                <a:latin typeface="Courier New" panose="02070309020205020404" pitchFamily="49" charset="0"/>
                <a:cs typeface="Courier New" panose="02070309020205020404" pitchFamily="49" charset="0"/>
              </a:rPr>
              <a:t>= ((Pointer &amp;)e).fetch();</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if </a:t>
            </a:r>
            <a:r>
              <a:rPr lang="en-CA" sz="1800" dirty="0">
                <a:latin typeface="Courier New" panose="02070309020205020404" pitchFamily="49" charset="0"/>
                <a:cs typeface="Courier New" panose="02070309020205020404" pitchFamily="49" charset="0"/>
              </a:rPr>
              <a:t>(</a:t>
            </a:r>
            <a:r>
              <a:rPr lang="en-CA" sz="1800" dirty="0" err="1">
                <a:latin typeface="Courier New" panose="02070309020205020404" pitchFamily="49" charset="0"/>
                <a:cs typeface="Courier New" panose="02070309020205020404" pitchFamily="49" charset="0"/>
              </a:rPr>
              <a:t>tmp</a:t>
            </a:r>
            <a:r>
              <a:rPr lang="en-CA" sz="1800" dirty="0">
                <a:latin typeface="Courier New" panose="02070309020205020404" pitchFamily="49" charset="0"/>
                <a:cs typeface="Courier New" panose="02070309020205020404" pitchFamily="49" charset="0"/>
              </a:rPr>
              <a:t> != </a:t>
            </a:r>
            <a:r>
              <a:rPr lang="en-CA" sz="1800" dirty="0" err="1">
                <a:latin typeface="Courier New" panose="02070309020205020404" pitchFamily="49" charset="0"/>
                <a:cs typeface="Courier New" panose="02070309020205020404" pitchFamily="49" charset="0"/>
              </a:rPr>
              <a:t>nullptr</a:t>
            </a:r>
            <a:r>
              <a:rPr lang="en-CA" sz="180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ev.visit</a:t>
            </a:r>
            <a:r>
              <a:rPr lang="en-CA" sz="1800" dirty="0">
                <a:latin typeface="Courier New" panose="02070309020205020404" pitchFamily="49" charset="0"/>
                <a:cs typeface="Courier New" panose="02070309020205020404" pitchFamily="49" charset="0"/>
              </a:rPr>
              <a:t>(*</a:t>
            </a:r>
            <a:r>
              <a:rPr lang="en-CA" sz="1800" dirty="0" err="1">
                <a:latin typeface="Courier New" panose="02070309020205020404" pitchFamily="49" charset="0"/>
                <a:cs typeface="Courier New" panose="02070309020205020404" pitchFamily="49" charset="0"/>
              </a:rPr>
              <a:t>tmp</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a:t>
            </a:r>
            <a:r>
              <a:rPr lang="en-CA" sz="180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return </a:t>
            </a:r>
            <a:r>
              <a:rPr lang="en-CA" sz="1800" dirty="0">
                <a:latin typeface="Courier New" panose="02070309020205020404" pitchFamily="49" charset="0"/>
                <a:cs typeface="Courier New" panose="02070309020205020404" pitchFamily="49" charset="0"/>
              </a:rPr>
              <a:t>0;</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int</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EntVisitor</a:t>
            </a:r>
            <a:r>
              <a:rPr lang="en-CA" sz="1800" dirty="0">
                <a:latin typeface="Courier New" panose="02070309020205020404" pitchFamily="49" charset="0"/>
                <a:cs typeface="Courier New" panose="02070309020205020404" pitchFamily="49" charset="0"/>
              </a:rPr>
              <a:t>::visit(Entity &amp; e)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cout</a:t>
            </a:r>
            <a:r>
              <a:rPr lang="en-CA" sz="1800" dirty="0" smtClean="0">
                <a:latin typeface="Courier New" panose="02070309020205020404" pitchFamily="49" charset="0"/>
                <a:cs typeface="Courier New" panose="02070309020205020404" pitchFamily="49" charset="0"/>
              </a:rPr>
              <a:t> </a:t>
            </a:r>
            <a:r>
              <a:rPr lang="en-CA" sz="1800" dirty="0">
                <a:latin typeface="Courier New" panose="02070309020205020404" pitchFamily="49" charset="0"/>
                <a:cs typeface="Courier New" panose="02070309020205020404" pitchFamily="49" charset="0"/>
              </a:rPr>
              <a:t>&lt;&lt; </a:t>
            </a:r>
            <a:r>
              <a:rPr lang="en-CA" sz="1800" dirty="0" err="1">
                <a:latin typeface="Courier New" panose="02070309020205020404" pitchFamily="49" charset="0"/>
                <a:cs typeface="Courier New" panose="02070309020205020404" pitchFamily="49" charset="0"/>
              </a:rPr>
              <a:t>e.get_name</a:t>
            </a:r>
            <a:r>
              <a:rPr lang="en-CA" sz="1800" dirty="0">
                <a:latin typeface="Courier New" panose="02070309020205020404" pitchFamily="49" charset="0"/>
                <a:cs typeface="Courier New" panose="02070309020205020404" pitchFamily="49" charset="0"/>
              </a:rPr>
              <a:t>() &lt;&lt; </a:t>
            </a:r>
            <a:r>
              <a:rPr lang="en-CA" sz="1800" dirty="0" err="1">
                <a:latin typeface="Courier New" panose="02070309020205020404" pitchFamily="49" charset="0"/>
                <a:cs typeface="Courier New" panose="02070309020205020404" pitchFamily="49" charset="0"/>
              </a:rPr>
              <a:t>endl</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return </a:t>
            </a:r>
            <a:r>
              <a:rPr lang="en-CA" sz="1800" dirty="0" err="1">
                <a:latin typeface="Courier New" panose="02070309020205020404" pitchFamily="49" charset="0"/>
                <a:cs typeface="Courier New" panose="02070309020205020404" pitchFamily="49" charset="0"/>
              </a:rPr>
              <a:t>e.process_pointers</a:t>
            </a:r>
            <a:r>
              <a:rPr lang="en-CA" sz="1800" dirty="0">
                <a:latin typeface="Courier New" panose="02070309020205020404" pitchFamily="49" charset="0"/>
                <a:cs typeface="Courier New" panose="02070309020205020404" pitchFamily="49" charset="0"/>
              </a:rPr>
              <a:t>(</a:t>
            </a:r>
            <a:r>
              <a:rPr lang="en-CA" sz="1800" dirty="0" err="1">
                <a:latin typeface="Courier New" panose="02070309020205020404" pitchFamily="49" charset="0"/>
                <a:cs typeface="Courier New" panose="02070309020205020404" pitchFamily="49" charset="0"/>
              </a:rPr>
              <a:t>pv</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a:t>
            </a:r>
            <a:endParaRPr lang="en-CA" sz="1800"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half" idx="2"/>
          </p:nvPr>
        </p:nvSpPr>
        <p:spPr>
          <a:xfrm>
            <a:off x="5829300" y="1515362"/>
            <a:ext cx="5384800" cy="2624838"/>
          </a:xfrm>
        </p:spPr>
        <p:txBody>
          <a:bodyPr>
            <a:noAutofit/>
          </a:bodyPr>
          <a:lstStyle/>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void main(void)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Ext4IO </a:t>
            </a:r>
            <a:r>
              <a:rPr lang="en-CA" sz="1800" dirty="0" err="1">
                <a:latin typeface="Courier New" panose="02070309020205020404" pitchFamily="49" charset="0"/>
                <a:cs typeface="Courier New" panose="02070309020205020404" pitchFamily="49" charset="0"/>
              </a:rPr>
              <a:t>io</a:t>
            </a:r>
            <a:r>
              <a:rPr lang="en-CA" sz="1800" dirty="0">
                <a:latin typeface="Courier New" panose="02070309020205020404" pitchFamily="49" charset="0"/>
                <a:cs typeface="Courier New" panose="02070309020205020404" pitchFamily="49" charset="0"/>
              </a:rPr>
              <a:t>("/dev/sdb1");</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Ext4 </a:t>
            </a:r>
            <a:r>
              <a:rPr lang="en-CA" sz="1800" dirty="0">
                <a:latin typeface="Courier New" panose="02070309020205020404" pitchFamily="49" charset="0"/>
                <a:cs typeface="Courier New" panose="02070309020205020404" pitchFamily="49" charset="0"/>
              </a:rPr>
              <a:t>fs(</a:t>
            </a:r>
            <a:r>
              <a:rPr lang="en-CA" sz="1800" dirty="0" err="1">
                <a:latin typeface="Courier New" panose="02070309020205020404" pitchFamily="49" charset="0"/>
                <a:cs typeface="Courier New" panose="02070309020205020404" pitchFamily="49" charset="0"/>
              </a:rPr>
              <a:t>io</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Container </a:t>
            </a:r>
            <a:r>
              <a:rPr lang="en-CA" sz="1800" dirty="0">
                <a:latin typeface="Courier New" panose="02070309020205020404" pitchFamily="49" charset="0"/>
                <a:cs typeface="Courier New" panose="02070309020205020404" pitchFamily="49" charset="0"/>
              </a:rPr>
              <a:t>* </a:t>
            </a:r>
            <a:r>
              <a:rPr lang="en-CA" sz="1800" dirty="0" smtClean="0">
                <a:latin typeface="Courier New" panose="02070309020205020404" pitchFamily="49" charset="0"/>
                <a:cs typeface="Courier New" panose="02070309020205020404" pitchFamily="49" charset="0"/>
              </a:rPr>
              <a:t>sup = </a:t>
            </a:r>
            <a:r>
              <a:rPr lang="en-CA" sz="1800" dirty="0" err="1" smtClean="0">
                <a:latin typeface="Courier New" panose="02070309020205020404" pitchFamily="49" charset="0"/>
                <a:cs typeface="Courier New" panose="02070309020205020404" pitchFamily="49" charset="0"/>
              </a:rPr>
              <a:t>fs.fetch_super</a:t>
            </a:r>
            <a:r>
              <a:rPr lang="en-CA" sz="1800" dirty="0" smtClean="0">
                <a:latin typeface="Courier New" panose="02070309020205020404" pitchFamily="49" charset="0"/>
                <a:cs typeface="Courier New" panose="02070309020205020404" pitchFamily="49" charset="0"/>
              </a:rPr>
              <a:t>();</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if (sup != </a:t>
            </a:r>
            <a:r>
              <a:rPr lang="en-CA" sz="1800" dirty="0" err="1">
                <a:latin typeface="Courier New" panose="02070309020205020404" pitchFamily="49" charset="0"/>
                <a:cs typeface="Courier New" panose="02070309020205020404" pitchFamily="49" charset="0"/>
              </a:rPr>
              <a:t>nullptr</a:t>
            </a:r>
            <a:r>
              <a:rPr lang="en-CA" sz="180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ev.visit</a:t>
            </a:r>
            <a:r>
              <a:rPr lang="en-CA" sz="1800" dirty="0">
                <a:latin typeface="Courier New" panose="02070309020205020404" pitchFamily="49" charset="0"/>
                <a:cs typeface="Courier New" panose="02070309020205020404" pitchFamily="49" charset="0"/>
              </a:rPr>
              <a:t>(*sup);</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sup-</a:t>
            </a:r>
            <a:r>
              <a:rPr lang="en-CA" sz="180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a:t>
            </a:r>
          </a:p>
          <a:p>
            <a:pPr>
              <a:spcBef>
                <a:spcPts val="0"/>
              </a:spcBef>
              <a:spcAft>
                <a:spcPts val="0"/>
              </a:spcAft>
            </a:pPr>
            <a:endParaRPr lang="en-CA" sz="1800"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39</a:t>
            </a:fld>
            <a:endParaRPr lang="en-CA" dirty="0"/>
          </a:p>
        </p:txBody>
      </p:sp>
      <p:sp>
        <p:nvSpPr>
          <p:cNvPr id="6" name="Content Placeholder 4"/>
          <p:cNvSpPr txBox="1">
            <a:spLocks/>
          </p:cNvSpPr>
          <p:nvPr/>
        </p:nvSpPr>
        <p:spPr>
          <a:xfrm>
            <a:off x="5829300" y="4140200"/>
            <a:ext cx="5384800" cy="2624838"/>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a:spcBef>
                <a:spcPts val="0"/>
              </a:spcBef>
              <a:spcAft>
                <a:spcPts val="0"/>
              </a:spcAft>
            </a:pPr>
            <a:r>
              <a:rPr lang="en-CA" dirty="0" smtClean="0"/>
              <a:t>Simple example to traverse the entire file system</a:t>
            </a:r>
          </a:p>
          <a:p>
            <a:pPr>
              <a:spcBef>
                <a:spcPts val="0"/>
              </a:spcBef>
              <a:spcAft>
                <a:spcPts val="0"/>
              </a:spcAft>
            </a:pPr>
            <a:r>
              <a:rPr lang="en-CA" dirty="0" smtClean="0"/>
              <a:t>No file-system specific code required (except for bootstrap)</a:t>
            </a:r>
            <a:endParaRPr lang="en-CA" dirty="0"/>
          </a:p>
        </p:txBody>
      </p:sp>
    </p:spTree>
    <p:extLst>
      <p:ext uri="{BB962C8B-B14F-4D97-AF65-F5344CB8AC3E}">
        <p14:creationId xmlns:p14="http://schemas.microsoft.com/office/powerpoint/2010/main" val="387016417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File-System Agnostic Traversal</a:t>
            </a:r>
            <a:endParaRPr lang="en-CA" dirty="0"/>
          </a:p>
        </p:txBody>
      </p:sp>
      <p:sp>
        <p:nvSpPr>
          <p:cNvPr id="3" name="Content Placeholder 2"/>
          <p:cNvSpPr>
            <a:spLocks noGrp="1"/>
          </p:cNvSpPr>
          <p:nvPr>
            <p:ph sz="half" idx="1"/>
          </p:nvPr>
        </p:nvSpPr>
        <p:spPr>
          <a:xfrm>
            <a:off x="684211" y="1515361"/>
            <a:ext cx="5145089" cy="4656839"/>
          </a:xfrm>
        </p:spPr>
        <p:txBody>
          <a:bodyPr>
            <a:noAutofit/>
          </a:bodyPr>
          <a:lstStyle/>
          <a:p>
            <a:pPr marL="0" indent="0">
              <a:spcBef>
                <a:spcPts val="0"/>
              </a:spcBef>
              <a:spcAft>
                <a:spcPts val="0"/>
              </a:spcAft>
              <a:buNone/>
            </a:pPr>
            <a:r>
              <a:rPr lang="en-CA" sz="1800" b="1" dirty="0" err="1">
                <a:latin typeface="Courier New" panose="02070309020205020404" pitchFamily="49" charset="0"/>
                <a:cs typeface="Courier New" panose="02070309020205020404" pitchFamily="49" charset="0"/>
              </a:rPr>
              <a:t>EntVisitor</a:t>
            </a:r>
            <a:r>
              <a:rPr lang="en-CA" sz="1800" b="1" dirty="0">
                <a:latin typeface="Courier New" panose="02070309020205020404" pitchFamily="49" charset="0"/>
                <a:cs typeface="Courier New" panose="02070309020205020404" pitchFamily="49" charset="0"/>
              </a:rPr>
              <a:t> </a:t>
            </a:r>
            <a:r>
              <a:rPr lang="en-CA" sz="1800" b="1" dirty="0" err="1">
                <a:latin typeface="Courier New" panose="02070309020205020404" pitchFamily="49" charset="0"/>
                <a:cs typeface="Courier New" panose="02070309020205020404" pitchFamily="49" charset="0"/>
              </a:rPr>
              <a:t>ev</a:t>
            </a:r>
            <a:r>
              <a:rPr lang="en-CA" sz="180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b="1" dirty="0" err="1">
                <a:latin typeface="Courier New" panose="02070309020205020404" pitchFamily="49" charset="0"/>
                <a:cs typeface="Courier New" panose="02070309020205020404" pitchFamily="49" charset="0"/>
              </a:rPr>
              <a:t>PtrVisitor</a:t>
            </a:r>
            <a:r>
              <a:rPr lang="en-CA" sz="1800" b="1" dirty="0">
                <a:latin typeface="Courier New" panose="02070309020205020404" pitchFamily="49" charset="0"/>
                <a:cs typeface="Courier New" panose="02070309020205020404" pitchFamily="49" charset="0"/>
              </a:rPr>
              <a:t> </a:t>
            </a:r>
            <a:r>
              <a:rPr lang="en-CA" sz="1800" b="1" dirty="0" err="1">
                <a:latin typeface="Courier New" panose="02070309020205020404" pitchFamily="49" charset="0"/>
                <a:cs typeface="Courier New" panose="02070309020205020404" pitchFamily="49" charset="0"/>
              </a:rPr>
              <a:t>pv</a:t>
            </a:r>
            <a:r>
              <a:rPr lang="en-CA" sz="1800" b="1" dirty="0" smtClean="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int</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PtrVisitor</a:t>
            </a:r>
            <a:r>
              <a:rPr lang="en-CA" sz="1800" dirty="0">
                <a:latin typeface="Courier New" panose="02070309020205020404" pitchFamily="49" charset="0"/>
                <a:cs typeface="Courier New" panose="02070309020205020404" pitchFamily="49" charset="0"/>
              </a:rPr>
              <a:t>::visit(Entity &amp; e) </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Container </a:t>
            </a:r>
            <a:r>
              <a:rPr lang="en-CA" sz="1800" dirty="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 </a:t>
            </a: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 </a:t>
            </a:r>
            <a:r>
              <a:rPr lang="en-CA" sz="1800" dirty="0">
                <a:latin typeface="Courier New" panose="02070309020205020404" pitchFamily="49" charset="0"/>
                <a:cs typeface="Courier New" panose="02070309020205020404" pitchFamily="49" charset="0"/>
              </a:rPr>
              <a:t>= ((Pointer &amp;)e).fetch();</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if </a:t>
            </a:r>
            <a:r>
              <a:rPr lang="en-CA" sz="1800" dirty="0">
                <a:latin typeface="Courier New" panose="02070309020205020404" pitchFamily="49" charset="0"/>
                <a:cs typeface="Courier New" panose="02070309020205020404" pitchFamily="49" charset="0"/>
              </a:rPr>
              <a:t>(</a:t>
            </a:r>
            <a:r>
              <a:rPr lang="en-CA" sz="1800" dirty="0" err="1">
                <a:latin typeface="Courier New" panose="02070309020205020404" pitchFamily="49" charset="0"/>
                <a:cs typeface="Courier New" panose="02070309020205020404" pitchFamily="49" charset="0"/>
              </a:rPr>
              <a:t>tmp</a:t>
            </a:r>
            <a:r>
              <a:rPr lang="en-CA" sz="1800" dirty="0">
                <a:latin typeface="Courier New" panose="02070309020205020404" pitchFamily="49" charset="0"/>
                <a:cs typeface="Courier New" panose="02070309020205020404" pitchFamily="49" charset="0"/>
              </a:rPr>
              <a:t> != </a:t>
            </a:r>
            <a:r>
              <a:rPr lang="en-CA" sz="1800" dirty="0" err="1">
                <a:latin typeface="Courier New" panose="02070309020205020404" pitchFamily="49" charset="0"/>
                <a:cs typeface="Courier New" panose="02070309020205020404" pitchFamily="49" charset="0"/>
              </a:rPr>
              <a:t>nullptr</a:t>
            </a:r>
            <a:r>
              <a:rPr lang="en-CA" sz="180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ev.visit</a:t>
            </a:r>
            <a:r>
              <a:rPr lang="en-CA" sz="1800" dirty="0">
                <a:latin typeface="Courier New" panose="02070309020205020404" pitchFamily="49" charset="0"/>
                <a:cs typeface="Courier New" panose="02070309020205020404" pitchFamily="49" charset="0"/>
              </a:rPr>
              <a:t>(*</a:t>
            </a:r>
            <a:r>
              <a:rPr lang="en-CA" sz="1800" dirty="0" err="1">
                <a:latin typeface="Courier New" panose="02070309020205020404" pitchFamily="49" charset="0"/>
                <a:cs typeface="Courier New" panose="02070309020205020404" pitchFamily="49" charset="0"/>
              </a:rPr>
              <a:t>tmp</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a:t>
            </a:r>
            <a:r>
              <a:rPr lang="en-CA" sz="180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return </a:t>
            </a:r>
            <a:r>
              <a:rPr lang="en-CA" sz="1800" dirty="0">
                <a:latin typeface="Courier New" panose="02070309020205020404" pitchFamily="49" charset="0"/>
                <a:cs typeface="Courier New" panose="02070309020205020404" pitchFamily="49" charset="0"/>
              </a:rPr>
              <a:t>0;</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int</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EntVisitor</a:t>
            </a:r>
            <a:r>
              <a:rPr lang="en-CA" sz="1800" dirty="0">
                <a:latin typeface="Courier New" panose="02070309020205020404" pitchFamily="49" charset="0"/>
                <a:cs typeface="Courier New" panose="02070309020205020404" pitchFamily="49" charset="0"/>
              </a:rPr>
              <a:t>::visit(Entity &amp; e)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cout</a:t>
            </a:r>
            <a:r>
              <a:rPr lang="en-CA" sz="1800" dirty="0" smtClean="0">
                <a:latin typeface="Courier New" panose="02070309020205020404" pitchFamily="49" charset="0"/>
                <a:cs typeface="Courier New" panose="02070309020205020404" pitchFamily="49" charset="0"/>
              </a:rPr>
              <a:t> </a:t>
            </a:r>
            <a:r>
              <a:rPr lang="en-CA" sz="1800" dirty="0">
                <a:latin typeface="Courier New" panose="02070309020205020404" pitchFamily="49" charset="0"/>
                <a:cs typeface="Courier New" panose="02070309020205020404" pitchFamily="49" charset="0"/>
              </a:rPr>
              <a:t>&lt;&lt; </a:t>
            </a:r>
            <a:r>
              <a:rPr lang="en-CA" sz="1800" dirty="0" err="1">
                <a:latin typeface="Courier New" panose="02070309020205020404" pitchFamily="49" charset="0"/>
                <a:cs typeface="Courier New" panose="02070309020205020404" pitchFamily="49" charset="0"/>
              </a:rPr>
              <a:t>e.get_name</a:t>
            </a:r>
            <a:r>
              <a:rPr lang="en-CA" sz="1800" dirty="0">
                <a:latin typeface="Courier New" panose="02070309020205020404" pitchFamily="49" charset="0"/>
                <a:cs typeface="Courier New" panose="02070309020205020404" pitchFamily="49" charset="0"/>
              </a:rPr>
              <a:t>() &lt;&lt; </a:t>
            </a:r>
            <a:r>
              <a:rPr lang="en-CA" sz="1800" dirty="0" err="1">
                <a:latin typeface="Courier New" panose="02070309020205020404" pitchFamily="49" charset="0"/>
                <a:cs typeface="Courier New" panose="02070309020205020404" pitchFamily="49" charset="0"/>
              </a:rPr>
              <a:t>endl</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return </a:t>
            </a:r>
            <a:r>
              <a:rPr lang="en-CA" sz="1800" dirty="0" err="1">
                <a:latin typeface="Courier New" panose="02070309020205020404" pitchFamily="49" charset="0"/>
                <a:cs typeface="Courier New" panose="02070309020205020404" pitchFamily="49" charset="0"/>
              </a:rPr>
              <a:t>e.process_pointers</a:t>
            </a:r>
            <a:r>
              <a:rPr lang="en-CA" sz="1800" dirty="0">
                <a:latin typeface="Courier New" panose="02070309020205020404" pitchFamily="49" charset="0"/>
                <a:cs typeface="Courier New" panose="02070309020205020404" pitchFamily="49" charset="0"/>
              </a:rPr>
              <a:t>(</a:t>
            </a:r>
            <a:r>
              <a:rPr lang="en-CA" sz="1800" dirty="0" err="1">
                <a:latin typeface="Courier New" panose="02070309020205020404" pitchFamily="49" charset="0"/>
                <a:cs typeface="Courier New" panose="02070309020205020404" pitchFamily="49" charset="0"/>
              </a:rPr>
              <a:t>pv</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a:t>
            </a:r>
            <a:endParaRPr lang="en-CA" sz="1800"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half" idx="2"/>
          </p:nvPr>
        </p:nvSpPr>
        <p:spPr>
          <a:xfrm>
            <a:off x="5829300" y="1515362"/>
            <a:ext cx="5384800" cy="2624838"/>
          </a:xfrm>
        </p:spPr>
        <p:txBody>
          <a:bodyPr>
            <a:noAutofit/>
          </a:bodyPr>
          <a:lstStyle/>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void main(void)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Ext4IO </a:t>
            </a:r>
            <a:r>
              <a:rPr lang="en-CA" sz="1800" dirty="0" err="1">
                <a:latin typeface="Courier New" panose="02070309020205020404" pitchFamily="49" charset="0"/>
                <a:cs typeface="Courier New" panose="02070309020205020404" pitchFamily="49" charset="0"/>
              </a:rPr>
              <a:t>io</a:t>
            </a:r>
            <a:r>
              <a:rPr lang="en-CA" sz="1800" dirty="0">
                <a:latin typeface="Courier New" panose="02070309020205020404" pitchFamily="49" charset="0"/>
                <a:cs typeface="Courier New" panose="02070309020205020404" pitchFamily="49" charset="0"/>
              </a:rPr>
              <a:t>("/dev/sdb1");</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Ext4 </a:t>
            </a:r>
            <a:r>
              <a:rPr lang="en-CA" sz="1800" dirty="0">
                <a:latin typeface="Courier New" panose="02070309020205020404" pitchFamily="49" charset="0"/>
                <a:cs typeface="Courier New" panose="02070309020205020404" pitchFamily="49" charset="0"/>
              </a:rPr>
              <a:t>fs(</a:t>
            </a:r>
            <a:r>
              <a:rPr lang="en-CA" sz="1800" dirty="0" err="1">
                <a:latin typeface="Courier New" panose="02070309020205020404" pitchFamily="49" charset="0"/>
                <a:cs typeface="Courier New" panose="02070309020205020404" pitchFamily="49" charset="0"/>
              </a:rPr>
              <a:t>io</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b="1" dirty="0" smtClean="0">
                <a:latin typeface="Courier New" panose="02070309020205020404" pitchFamily="49" charset="0"/>
                <a:cs typeface="Courier New" panose="02070309020205020404" pitchFamily="49" charset="0"/>
              </a:rPr>
              <a:t>Container </a:t>
            </a:r>
            <a:r>
              <a:rPr lang="en-CA" sz="1800" b="1" dirty="0">
                <a:latin typeface="Courier New" panose="02070309020205020404" pitchFamily="49" charset="0"/>
                <a:cs typeface="Courier New" panose="02070309020205020404" pitchFamily="49" charset="0"/>
              </a:rPr>
              <a:t>* </a:t>
            </a:r>
            <a:r>
              <a:rPr lang="en-CA" sz="1800" b="1" dirty="0" smtClean="0">
                <a:latin typeface="Courier New" panose="02070309020205020404" pitchFamily="49" charset="0"/>
                <a:cs typeface="Courier New" panose="02070309020205020404" pitchFamily="49" charset="0"/>
              </a:rPr>
              <a:t>sup = </a:t>
            </a:r>
            <a:r>
              <a:rPr lang="en-CA" sz="1800" b="1" dirty="0" err="1" smtClean="0">
                <a:latin typeface="Courier New" panose="02070309020205020404" pitchFamily="49" charset="0"/>
                <a:cs typeface="Courier New" panose="02070309020205020404" pitchFamily="49" charset="0"/>
              </a:rPr>
              <a:t>fs.fetch_super</a:t>
            </a:r>
            <a:r>
              <a:rPr lang="en-CA" sz="1800" b="1" dirty="0" smtClean="0">
                <a:latin typeface="Courier New" panose="02070309020205020404" pitchFamily="49" charset="0"/>
                <a:cs typeface="Courier New" panose="02070309020205020404" pitchFamily="49" charset="0"/>
              </a:rPr>
              <a:t>();</a:t>
            </a:r>
            <a:endParaRPr lang="en-CA" sz="1800" b="1"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if (sup != </a:t>
            </a:r>
            <a:r>
              <a:rPr lang="en-CA" sz="1800" dirty="0" err="1">
                <a:latin typeface="Courier New" panose="02070309020205020404" pitchFamily="49" charset="0"/>
                <a:cs typeface="Courier New" panose="02070309020205020404" pitchFamily="49" charset="0"/>
              </a:rPr>
              <a:t>nullptr</a:t>
            </a:r>
            <a:r>
              <a:rPr lang="en-CA" sz="180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b="1" dirty="0" err="1" smtClean="0">
                <a:latin typeface="Courier New" panose="02070309020205020404" pitchFamily="49" charset="0"/>
                <a:cs typeface="Courier New" panose="02070309020205020404" pitchFamily="49" charset="0"/>
              </a:rPr>
              <a:t>ev.visit</a:t>
            </a:r>
            <a:r>
              <a:rPr lang="en-CA" sz="1800" b="1" dirty="0">
                <a:latin typeface="Courier New" panose="02070309020205020404" pitchFamily="49" charset="0"/>
                <a:cs typeface="Courier New" panose="02070309020205020404" pitchFamily="49" charset="0"/>
              </a:rPr>
              <a:t>(*sup);</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sup-</a:t>
            </a:r>
            <a:r>
              <a:rPr lang="en-CA" sz="180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a:t>
            </a:r>
          </a:p>
          <a:p>
            <a:pPr>
              <a:spcBef>
                <a:spcPts val="0"/>
              </a:spcBef>
              <a:spcAft>
                <a:spcPts val="0"/>
              </a:spcAft>
            </a:pPr>
            <a:endParaRPr lang="en-CA" sz="1800"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40</a:t>
            </a:fld>
            <a:endParaRPr lang="en-CA" dirty="0"/>
          </a:p>
        </p:txBody>
      </p:sp>
      <p:sp>
        <p:nvSpPr>
          <p:cNvPr id="6" name="Content Placeholder 4"/>
          <p:cNvSpPr txBox="1">
            <a:spLocks/>
          </p:cNvSpPr>
          <p:nvPr/>
        </p:nvSpPr>
        <p:spPr>
          <a:xfrm>
            <a:off x="5829300" y="4140200"/>
            <a:ext cx="5384800" cy="1803400"/>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a:spcBef>
                <a:spcPts val="0"/>
              </a:spcBef>
              <a:spcAft>
                <a:spcPts val="0"/>
              </a:spcAft>
            </a:pPr>
            <a:r>
              <a:rPr lang="en-CA" dirty="0" smtClean="0"/>
              <a:t>Traversal begins from super block</a:t>
            </a:r>
          </a:p>
          <a:p>
            <a:pPr>
              <a:spcBef>
                <a:spcPts val="0"/>
              </a:spcBef>
              <a:spcAft>
                <a:spcPts val="0"/>
              </a:spcAft>
            </a:pPr>
            <a:r>
              <a:rPr lang="en-CA" dirty="0" smtClean="0"/>
              <a:t>Uses two mutually recursive visitors to traverse the whole file system</a:t>
            </a:r>
          </a:p>
        </p:txBody>
      </p:sp>
    </p:spTree>
    <p:extLst>
      <p:ext uri="{BB962C8B-B14F-4D97-AF65-F5344CB8AC3E}">
        <p14:creationId xmlns:p14="http://schemas.microsoft.com/office/powerpoint/2010/main" val="88257061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File-System Agnostic Traversal</a:t>
            </a:r>
            <a:endParaRPr lang="en-CA" dirty="0"/>
          </a:p>
        </p:txBody>
      </p:sp>
      <p:sp>
        <p:nvSpPr>
          <p:cNvPr id="3" name="Content Placeholder 2"/>
          <p:cNvSpPr>
            <a:spLocks noGrp="1"/>
          </p:cNvSpPr>
          <p:nvPr>
            <p:ph sz="half" idx="1"/>
          </p:nvPr>
        </p:nvSpPr>
        <p:spPr>
          <a:xfrm>
            <a:off x="684211" y="1515361"/>
            <a:ext cx="5145089" cy="4656839"/>
          </a:xfrm>
        </p:spPr>
        <p:txBody>
          <a:bodyPr>
            <a:noAutofit/>
          </a:bodyPr>
          <a:lstStyle/>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EntVisitor</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ev</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PtrVisitor</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pv</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int</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PtrVisitor</a:t>
            </a:r>
            <a:r>
              <a:rPr lang="en-CA" sz="1800" dirty="0">
                <a:latin typeface="Courier New" panose="02070309020205020404" pitchFamily="49" charset="0"/>
                <a:cs typeface="Courier New" panose="02070309020205020404" pitchFamily="49" charset="0"/>
              </a:rPr>
              <a:t>::visit(Entity &amp; e) </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Container </a:t>
            </a:r>
            <a:r>
              <a:rPr lang="en-CA" sz="1800" dirty="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 </a:t>
            </a: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 </a:t>
            </a:r>
            <a:r>
              <a:rPr lang="en-CA" sz="1800" dirty="0">
                <a:latin typeface="Courier New" panose="02070309020205020404" pitchFamily="49" charset="0"/>
                <a:cs typeface="Courier New" panose="02070309020205020404" pitchFamily="49" charset="0"/>
              </a:rPr>
              <a:t>= ((Pointer &amp;)e).fetch();</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if </a:t>
            </a:r>
            <a:r>
              <a:rPr lang="en-CA" sz="1800" dirty="0">
                <a:latin typeface="Courier New" panose="02070309020205020404" pitchFamily="49" charset="0"/>
                <a:cs typeface="Courier New" panose="02070309020205020404" pitchFamily="49" charset="0"/>
              </a:rPr>
              <a:t>(</a:t>
            </a:r>
            <a:r>
              <a:rPr lang="en-CA" sz="1800" dirty="0" err="1">
                <a:latin typeface="Courier New" panose="02070309020205020404" pitchFamily="49" charset="0"/>
                <a:cs typeface="Courier New" panose="02070309020205020404" pitchFamily="49" charset="0"/>
              </a:rPr>
              <a:t>tmp</a:t>
            </a:r>
            <a:r>
              <a:rPr lang="en-CA" sz="1800" dirty="0">
                <a:latin typeface="Courier New" panose="02070309020205020404" pitchFamily="49" charset="0"/>
                <a:cs typeface="Courier New" panose="02070309020205020404" pitchFamily="49" charset="0"/>
              </a:rPr>
              <a:t> != </a:t>
            </a:r>
            <a:r>
              <a:rPr lang="en-CA" sz="1800" dirty="0" err="1">
                <a:latin typeface="Courier New" panose="02070309020205020404" pitchFamily="49" charset="0"/>
                <a:cs typeface="Courier New" panose="02070309020205020404" pitchFamily="49" charset="0"/>
              </a:rPr>
              <a:t>nullptr</a:t>
            </a:r>
            <a:r>
              <a:rPr lang="en-CA" sz="180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ev.visit</a:t>
            </a:r>
            <a:r>
              <a:rPr lang="en-CA" sz="1800" dirty="0">
                <a:latin typeface="Courier New" panose="02070309020205020404" pitchFamily="49" charset="0"/>
                <a:cs typeface="Courier New" panose="02070309020205020404" pitchFamily="49" charset="0"/>
              </a:rPr>
              <a:t>(*</a:t>
            </a:r>
            <a:r>
              <a:rPr lang="en-CA" sz="1800" dirty="0" err="1">
                <a:latin typeface="Courier New" panose="02070309020205020404" pitchFamily="49" charset="0"/>
                <a:cs typeface="Courier New" panose="02070309020205020404" pitchFamily="49" charset="0"/>
              </a:rPr>
              <a:t>tmp</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a:t>
            </a:r>
            <a:r>
              <a:rPr lang="en-CA" sz="180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return </a:t>
            </a:r>
            <a:r>
              <a:rPr lang="en-CA" sz="1800" dirty="0">
                <a:latin typeface="Courier New" panose="02070309020205020404" pitchFamily="49" charset="0"/>
                <a:cs typeface="Courier New" panose="02070309020205020404" pitchFamily="49" charset="0"/>
              </a:rPr>
              <a:t>0;</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b="1" dirty="0" err="1">
                <a:latin typeface="Courier New" panose="02070309020205020404" pitchFamily="49" charset="0"/>
                <a:cs typeface="Courier New" panose="02070309020205020404" pitchFamily="49" charset="0"/>
              </a:rPr>
              <a:t>int</a:t>
            </a:r>
            <a:r>
              <a:rPr lang="en-CA" sz="1800" b="1" dirty="0">
                <a:latin typeface="Courier New" panose="02070309020205020404" pitchFamily="49" charset="0"/>
                <a:cs typeface="Courier New" panose="02070309020205020404" pitchFamily="49" charset="0"/>
              </a:rPr>
              <a:t> </a:t>
            </a:r>
            <a:r>
              <a:rPr lang="en-CA" sz="1800" b="1" dirty="0" err="1">
                <a:latin typeface="Courier New" panose="02070309020205020404" pitchFamily="49" charset="0"/>
                <a:cs typeface="Courier New" panose="02070309020205020404" pitchFamily="49" charset="0"/>
              </a:rPr>
              <a:t>EntVisitor</a:t>
            </a:r>
            <a:r>
              <a:rPr lang="en-CA" sz="1800" b="1" dirty="0">
                <a:latin typeface="Courier New" panose="02070309020205020404" pitchFamily="49" charset="0"/>
                <a:cs typeface="Courier New" panose="02070309020205020404" pitchFamily="49" charset="0"/>
              </a:rPr>
              <a:t>::visit(Entity &amp; e) {</a:t>
            </a:r>
          </a:p>
          <a:p>
            <a:pPr marL="0" indent="0">
              <a:spcBef>
                <a:spcPts val="0"/>
              </a:spcBef>
              <a:spcAft>
                <a:spcPts val="0"/>
              </a:spcAft>
              <a:buNone/>
            </a:pPr>
            <a:r>
              <a:rPr lang="en-CA" sz="1800" b="1" dirty="0" smtClean="0">
                <a:latin typeface="Courier New" panose="02070309020205020404" pitchFamily="49" charset="0"/>
                <a:cs typeface="Courier New" panose="02070309020205020404" pitchFamily="49" charset="0"/>
              </a:rPr>
              <a:t>  </a:t>
            </a:r>
            <a:r>
              <a:rPr lang="en-CA" sz="1800" b="1" dirty="0" err="1" smtClean="0">
                <a:latin typeface="Courier New" panose="02070309020205020404" pitchFamily="49" charset="0"/>
                <a:cs typeface="Courier New" panose="02070309020205020404" pitchFamily="49" charset="0"/>
              </a:rPr>
              <a:t>cout</a:t>
            </a:r>
            <a:r>
              <a:rPr lang="en-CA" sz="1800" b="1" dirty="0" smtClean="0">
                <a:latin typeface="Courier New" panose="02070309020205020404" pitchFamily="49" charset="0"/>
                <a:cs typeface="Courier New" panose="02070309020205020404" pitchFamily="49" charset="0"/>
              </a:rPr>
              <a:t> </a:t>
            </a:r>
            <a:r>
              <a:rPr lang="en-CA" sz="1800" b="1" dirty="0">
                <a:latin typeface="Courier New" panose="02070309020205020404" pitchFamily="49" charset="0"/>
                <a:cs typeface="Courier New" panose="02070309020205020404" pitchFamily="49" charset="0"/>
              </a:rPr>
              <a:t>&lt;&lt; </a:t>
            </a:r>
            <a:r>
              <a:rPr lang="en-CA" sz="1800" b="1" dirty="0" err="1">
                <a:latin typeface="Courier New" panose="02070309020205020404" pitchFamily="49" charset="0"/>
                <a:cs typeface="Courier New" panose="02070309020205020404" pitchFamily="49" charset="0"/>
              </a:rPr>
              <a:t>e.get_name</a:t>
            </a:r>
            <a:r>
              <a:rPr lang="en-CA" sz="1800" b="1" dirty="0">
                <a:latin typeface="Courier New" panose="02070309020205020404" pitchFamily="49" charset="0"/>
                <a:cs typeface="Courier New" panose="02070309020205020404" pitchFamily="49" charset="0"/>
              </a:rPr>
              <a:t>() &lt;&lt; </a:t>
            </a:r>
            <a:r>
              <a:rPr lang="en-CA" sz="1800" b="1" dirty="0" err="1">
                <a:latin typeface="Courier New" panose="02070309020205020404" pitchFamily="49" charset="0"/>
                <a:cs typeface="Courier New" panose="02070309020205020404" pitchFamily="49" charset="0"/>
              </a:rPr>
              <a:t>endl</a:t>
            </a:r>
            <a:r>
              <a:rPr lang="en-CA" sz="180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b="1" dirty="0" smtClean="0">
                <a:latin typeface="Courier New" panose="02070309020205020404" pitchFamily="49" charset="0"/>
                <a:cs typeface="Courier New" panose="02070309020205020404" pitchFamily="49" charset="0"/>
              </a:rPr>
              <a:t>  return </a:t>
            </a:r>
            <a:r>
              <a:rPr lang="en-CA" sz="1800" b="1" dirty="0" err="1">
                <a:latin typeface="Courier New" panose="02070309020205020404" pitchFamily="49" charset="0"/>
                <a:cs typeface="Courier New" panose="02070309020205020404" pitchFamily="49" charset="0"/>
              </a:rPr>
              <a:t>e.process_pointers</a:t>
            </a:r>
            <a:r>
              <a:rPr lang="en-CA" sz="1800" b="1" dirty="0">
                <a:latin typeface="Courier New" panose="02070309020205020404" pitchFamily="49" charset="0"/>
                <a:cs typeface="Courier New" panose="02070309020205020404" pitchFamily="49" charset="0"/>
              </a:rPr>
              <a:t>(</a:t>
            </a:r>
            <a:r>
              <a:rPr lang="en-CA" sz="1800" b="1" dirty="0" err="1">
                <a:latin typeface="Courier New" panose="02070309020205020404" pitchFamily="49" charset="0"/>
                <a:cs typeface="Courier New" panose="02070309020205020404" pitchFamily="49" charset="0"/>
              </a:rPr>
              <a:t>pv</a:t>
            </a:r>
            <a:r>
              <a:rPr lang="en-CA" sz="180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b="1" dirty="0" smtClean="0">
                <a:latin typeface="Courier New" panose="02070309020205020404" pitchFamily="49" charset="0"/>
                <a:cs typeface="Courier New" panose="02070309020205020404" pitchFamily="49" charset="0"/>
              </a:rPr>
              <a:t>}</a:t>
            </a:r>
            <a:endParaRPr lang="en-CA" sz="1800" b="1"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half" idx="2"/>
          </p:nvPr>
        </p:nvSpPr>
        <p:spPr>
          <a:xfrm>
            <a:off x="5829300" y="1515362"/>
            <a:ext cx="5384800" cy="2624838"/>
          </a:xfrm>
        </p:spPr>
        <p:txBody>
          <a:bodyPr>
            <a:noAutofit/>
          </a:bodyPr>
          <a:lstStyle/>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void main(void)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Ext4IO </a:t>
            </a:r>
            <a:r>
              <a:rPr lang="en-CA" sz="1800" dirty="0" err="1">
                <a:latin typeface="Courier New" panose="02070309020205020404" pitchFamily="49" charset="0"/>
                <a:cs typeface="Courier New" panose="02070309020205020404" pitchFamily="49" charset="0"/>
              </a:rPr>
              <a:t>io</a:t>
            </a:r>
            <a:r>
              <a:rPr lang="en-CA" sz="1800" dirty="0">
                <a:latin typeface="Courier New" panose="02070309020205020404" pitchFamily="49" charset="0"/>
                <a:cs typeface="Courier New" panose="02070309020205020404" pitchFamily="49" charset="0"/>
              </a:rPr>
              <a:t>("/dev/sdb1");</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Ext4 </a:t>
            </a:r>
            <a:r>
              <a:rPr lang="en-CA" sz="1800" dirty="0">
                <a:latin typeface="Courier New" panose="02070309020205020404" pitchFamily="49" charset="0"/>
                <a:cs typeface="Courier New" panose="02070309020205020404" pitchFamily="49" charset="0"/>
              </a:rPr>
              <a:t>fs(</a:t>
            </a:r>
            <a:r>
              <a:rPr lang="en-CA" sz="1800" dirty="0" err="1">
                <a:latin typeface="Courier New" panose="02070309020205020404" pitchFamily="49" charset="0"/>
                <a:cs typeface="Courier New" panose="02070309020205020404" pitchFamily="49" charset="0"/>
              </a:rPr>
              <a:t>io</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Container </a:t>
            </a:r>
            <a:r>
              <a:rPr lang="en-CA" sz="1800" dirty="0">
                <a:latin typeface="Courier New" panose="02070309020205020404" pitchFamily="49" charset="0"/>
                <a:cs typeface="Courier New" panose="02070309020205020404" pitchFamily="49" charset="0"/>
              </a:rPr>
              <a:t>* </a:t>
            </a:r>
            <a:r>
              <a:rPr lang="en-CA" sz="1800" dirty="0" smtClean="0">
                <a:latin typeface="Courier New" panose="02070309020205020404" pitchFamily="49" charset="0"/>
                <a:cs typeface="Courier New" panose="02070309020205020404" pitchFamily="49" charset="0"/>
              </a:rPr>
              <a:t>sup = </a:t>
            </a:r>
            <a:r>
              <a:rPr lang="en-CA" sz="1800" dirty="0" err="1" smtClean="0">
                <a:latin typeface="Courier New" panose="02070309020205020404" pitchFamily="49" charset="0"/>
                <a:cs typeface="Courier New" panose="02070309020205020404" pitchFamily="49" charset="0"/>
              </a:rPr>
              <a:t>fs.fetch_super</a:t>
            </a:r>
            <a:r>
              <a:rPr lang="en-CA" sz="1800" dirty="0" smtClean="0">
                <a:latin typeface="Courier New" panose="02070309020205020404" pitchFamily="49" charset="0"/>
                <a:cs typeface="Courier New" panose="02070309020205020404" pitchFamily="49" charset="0"/>
              </a:rPr>
              <a:t>();</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if (sup != </a:t>
            </a:r>
            <a:r>
              <a:rPr lang="en-CA" sz="1800" dirty="0" err="1">
                <a:latin typeface="Courier New" panose="02070309020205020404" pitchFamily="49" charset="0"/>
                <a:cs typeface="Courier New" panose="02070309020205020404" pitchFamily="49" charset="0"/>
              </a:rPr>
              <a:t>nullptr</a:t>
            </a:r>
            <a:r>
              <a:rPr lang="en-CA" sz="180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ev.visit</a:t>
            </a:r>
            <a:r>
              <a:rPr lang="en-CA" sz="1800" dirty="0">
                <a:latin typeface="Courier New" panose="02070309020205020404" pitchFamily="49" charset="0"/>
                <a:cs typeface="Courier New" panose="02070309020205020404" pitchFamily="49" charset="0"/>
              </a:rPr>
              <a:t>(*sup);</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sup-</a:t>
            </a:r>
            <a:r>
              <a:rPr lang="en-CA" sz="180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a:t>
            </a:r>
          </a:p>
          <a:p>
            <a:pPr>
              <a:spcBef>
                <a:spcPts val="0"/>
              </a:spcBef>
              <a:spcAft>
                <a:spcPts val="0"/>
              </a:spcAft>
            </a:pPr>
            <a:endParaRPr lang="en-CA" sz="1800"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41</a:t>
            </a:fld>
            <a:endParaRPr lang="en-CA" dirty="0"/>
          </a:p>
        </p:txBody>
      </p:sp>
      <p:sp>
        <p:nvSpPr>
          <p:cNvPr id="6" name="Content Placeholder 4"/>
          <p:cNvSpPr txBox="1">
            <a:spLocks/>
          </p:cNvSpPr>
          <p:nvPr/>
        </p:nvSpPr>
        <p:spPr>
          <a:xfrm>
            <a:off x="5829300" y="4140200"/>
            <a:ext cx="5384800" cy="1803400"/>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a:spcBef>
                <a:spcPts val="0"/>
              </a:spcBef>
              <a:spcAft>
                <a:spcPts val="0"/>
              </a:spcAft>
            </a:pPr>
            <a:r>
              <a:rPr lang="en-CA" dirty="0" err="1" smtClean="0"/>
              <a:t>EntVisitor</a:t>
            </a:r>
            <a:r>
              <a:rPr lang="en-CA" dirty="0" smtClean="0"/>
              <a:t> prints name of entity </a:t>
            </a:r>
            <a:r>
              <a:rPr lang="en-CA" i="1" dirty="0" smtClean="0"/>
              <a:t>e</a:t>
            </a:r>
            <a:r>
              <a:rPr lang="en-CA" dirty="0" smtClean="0"/>
              <a:t>, then calls </a:t>
            </a:r>
            <a:r>
              <a:rPr lang="en-CA" dirty="0" err="1">
                <a:latin typeface="Courier New" panose="02070309020205020404" pitchFamily="49" charset="0"/>
                <a:cs typeface="Courier New" panose="02070309020205020404" pitchFamily="49" charset="0"/>
              </a:rPr>
              <a:t>PtrVisitor</a:t>
            </a:r>
            <a:r>
              <a:rPr lang="en-CA" dirty="0">
                <a:latin typeface="Courier New" panose="02070309020205020404" pitchFamily="49" charset="0"/>
                <a:cs typeface="Courier New" panose="02070309020205020404" pitchFamily="49" charset="0"/>
              </a:rPr>
              <a:t>::</a:t>
            </a:r>
            <a:r>
              <a:rPr lang="en-CA" dirty="0" smtClean="0">
                <a:latin typeface="Courier New" panose="02070309020205020404" pitchFamily="49" charset="0"/>
                <a:cs typeface="Courier New" panose="02070309020205020404" pitchFamily="49" charset="0"/>
              </a:rPr>
              <a:t>visit </a:t>
            </a:r>
            <a:r>
              <a:rPr lang="en-CA" dirty="0" smtClean="0">
                <a:cs typeface="Courier New" panose="02070309020205020404" pitchFamily="49" charset="0"/>
              </a:rPr>
              <a:t>on all pointer fields within entity </a:t>
            </a:r>
            <a:r>
              <a:rPr lang="en-CA" i="1" dirty="0" smtClean="0">
                <a:cs typeface="Courier New" panose="02070309020205020404" pitchFamily="49" charset="0"/>
              </a:rPr>
              <a:t>e</a:t>
            </a:r>
            <a:endParaRPr lang="en-CA" dirty="0" smtClean="0"/>
          </a:p>
        </p:txBody>
      </p:sp>
    </p:spTree>
    <p:extLst>
      <p:ext uri="{BB962C8B-B14F-4D97-AF65-F5344CB8AC3E}">
        <p14:creationId xmlns:p14="http://schemas.microsoft.com/office/powerpoint/2010/main" val="116965341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File-System Agnostic Traversal</a:t>
            </a:r>
            <a:endParaRPr lang="en-CA" dirty="0"/>
          </a:p>
        </p:txBody>
      </p:sp>
      <p:sp>
        <p:nvSpPr>
          <p:cNvPr id="3" name="Content Placeholder 2"/>
          <p:cNvSpPr>
            <a:spLocks noGrp="1"/>
          </p:cNvSpPr>
          <p:nvPr>
            <p:ph sz="half" idx="1"/>
          </p:nvPr>
        </p:nvSpPr>
        <p:spPr>
          <a:xfrm>
            <a:off x="684211" y="1515361"/>
            <a:ext cx="5145089" cy="4656839"/>
          </a:xfrm>
        </p:spPr>
        <p:txBody>
          <a:bodyPr>
            <a:noAutofit/>
          </a:bodyPr>
          <a:lstStyle/>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EntVisitor</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ev</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PtrVisitor</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pv</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b="1" dirty="0" err="1" smtClean="0">
                <a:latin typeface="Courier New" panose="02070309020205020404" pitchFamily="49" charset="0"/>
                <a:cs typeface="Courier New" panose="02070309020205020404" pitchFamily="49" charset="0"/>
              </a:rPr>
              <a:t>int</a:t>
            </a:r>
            <a:r>
              <a:rPr lang="en-CA" sz="1800" b="1" dirty="0" smtClean="0">
                <a:latin typeface="Courier New" panose="02070309020205020404" pitchFamily="49" charset="0"/>
                <a:cs typeface="Courier New" panose="02070309020205020404" pitchFamily="49" charset="0"/>
              </a:rPr>
              <a:t> </a:t>
            </a:r>
            <a:r>
              <a:rPr lang="en-CA" sz="1800" b="1" dirty="0" err="1" smtClean="0">
                <a:latin typeface="Courier New" panose="02070309020205020404" pitchFamily="49" charset="0"/>
                <a:cs typeface="Courier New" panose="02070309020205020404" pitchFamily="49" charset="0"/>
              </a:rPr>
              <a:t>PtrVisitor</a:t>
            </a:r>
            <a:r>
              <a:rPr lang="en-CA" sz="1800" b="1" dirty="0" smtClean="0">
                <a:latin typeface="Courier New" panose="02070309020205020404" pitchFamily="49" charset="0"/>
                <a:cs typeface="Courier New" panose="02070309020205020404" pitchFamily="49" charset="0"/>
              </a:rPr>
              <a:t>::visit(Entity &amp; e) </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Container </a:t>
            </a:r>
            <a:r>
              <a:rPr lang="en-CA" sz="1800" dirty="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 </a:t>
            </a:r>
            <a:r>
              <a:rPr lang="en-CA" sz="1800" dirty="0" smtClean="0">
                <a:latin typeface="Courier New" panose="02070309020205020404" pitchFamily="49" charset="0"/>
                <a:cs typeface="Courier New" panose="02070309020205020404" pitchFamily="49" charset="0"/>
              </a:rPr>
              <a:t> </a:t>
            </a:r>
            <a:r>
              <a:rPr lang="en-CA" sz="1800" b="1" dirty="0" err="1" smtClean="0">
                <a:latin typeface="Courier New" panose="02070309020205020404" pitchFamily="49" charset="0"/>
                <a:cs typeface="Courier New" panose="02070309020205020404" pitchFamily="49" charset="0"/>
              </a:rPr>
              <a:t>tmp</a:t>
            </a:r>
            <a:r>
              <a:rPr lang="en-CA" sz="1800" b="1" dirty="0" smtClean="0">
                <a:latin typeface="Courier New" panose="02070309020205020404" pitchFamily="49" charset="0"/>
                <a:cs typeface="Courier New" panose="02070309020205020404" pitchFamily="49" charset="0"/>
              </a:rPr>
              <a:t> </a:t>
            </a:r>
            <a:r>
              <a:rPr lang="en-CA" sz="1800" b="1" dirty="0">
                <a:latin typeface="Courier New" panose="02070309020205020404" pitchFamily="49" charset="0"/>
                <a:cs typeface="Courier New" panose="02070309020205020404" pitchFamily="49" charset="0"/>
              </a:rPr>
              <a:t>= ((Pointer &amp;)e).fetch();</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if </a:t>
            </a:r>
            <a:r>
              <a:rPr lang="en-CA" sz="1800" dirty="0">
                <a:latin typeface="Courier New" panose="02070309020205020404" pitchFamily="49" charset="0"/>
                <a:cs typeface="Courier New" panose="02070309020205020404" pitchFamily="49" charset="0"/>
              </a:rPr>
              <a:t>(</a:t>
            </a:r>
            <a:r>
              <a:rPr lang="en-CA" sz="1800" dirty="0" err="1">
                <a:latin typeface="Courier New" panose="02070309020205020404" pitchFamily="49" charset="0"/>
                <a:cs typeface="Courier New" panose="02070309020205020404" pitchFamily="49" charset="0"/>
              </a:rPr>
              <a:t>tmp</a:t>
            </a:r>
            <a:r>
              <a:rPr lang="en-CA" sz="1800" dirty="0">
                <a:latin typeface="Courier New" panose="02070309020205020404" pitchFamily="49" charset="0"/>
                <a:cs typeface="Courier New" panose="02070309020205020404" pitchFamily="49" charset="0"/>
              </a:rPr>
              <a:t> != </a:t>
            </a:r>
            <a:r>
              <a:rPr lang="en-CA" sz="1800" dirty="0" err="1">
                <a:latin typeface="Courier New" panose="02070309020205020404" pitchFamily="49" charset="0"/>
                <a:cs typeface="Courier New" panose="02070309020205020404" pitchFamily="49" charset="0"/>
              </a:rPr>
              <a:t>nullptr</a:t>
            </a:r>
            <a:r>
              <a:rPr lang="en-CA" sz="180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b="1" dirty="0" err="1" smtClean="0">
                <a:latin typeface="Courier New" panose="02070309020205020404" pitchFamily="49" charset="0"/>
                <a:cs typeface="Courier New" panose="02070309020205020404" pitchFamily="49" charset="0"/>
              </a:rPr>
              <a:t>ev.visit</a:t>
            </a:r>
            <a:r>
              <a:rPr lang="en-CA" sz="1800" b="1" dirty="0">
                <a:latin typeface="Courier New" panose="02070309020205020404" pitchFamily="49" charset="0"/>
                <a:cs typeface="Courier New" panose="02070309020205020404" pitchFamily="49" charset="0"/>
              </a:rPr>
              <a:t>(*</a:t>
            </a:r>
            <a:r>
              <a:rPr lang="en-CA" sz="1800" b="1" dirty="0" err="1">
                <a:latin typeface="Courier New" panose="02070309020205020404" pitchFamily="49" charset="0"/>
                <a:cs typeface="Courier New" panose="02070309020205020404" pitchFamily="49" charset="0"/>
              </a:rPr>
              <a:t>tmp</a:t>
            </a:r>
            <a:r>
              <a:rPr lang="en-CA" sz="180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tmp</a:t>
            </a:r>
            <a:r>
              <a:rPr lang="en-CA" sz="1800" dirty="0" smtClean="0">
                <a:latin typeface="Courier New" panose="02070309020205020404" pitchFamily="49" charset="0"/>
                <a:cs typeface="Courier New" panose="02070309020205020404" pitchFamily="49" charset="0"/>
              </a:rPr>
              <a:t>-</a:t>
            </a:r>
            <a:r>
              <a:rPr lang="en-CA" sz="180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return </a:t>
            </a:r>
            <a:r>
              <a:rPr lang="en-CA" sz="1800" dirty="0">
                <a:latin typeface="Courier New" panose="02070309020205020404" pitchFamily="49" charset="0"/>
                <a:cs typeface="Courier New" panose="02070309020205020404" pitchFamily="49" charset="0"/>
              </a:rPr>
              <a:t>0;</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err="1">
                <a:latin typeface="Courier New" panose="02070309020205020404" pitchFamily="49" charset="0"/>
                <a:cs typeface="Courier New" panose="02070309020205020404" pitchFamily="49" charset="0"/>
              </a:rPr>
              <a:t>int</a:t>
            </a:r>
            <a:r>
              <a:rPr lang="en-CA" sz="1800" dirty="0">
                <a:latin typeface="Courier New" panose="02070309020205020404" pitchFamily="49" charset="0"/>
                <a:cs typeface="Courier New" panose="02070309020205020404" pitchFamily="49" charset="0"/>
              </a:rPr>
              <a:t> </a:t>
            </a:r>
            <a:r>
              <a:rPr lang="en-CA" sz="1800" dirty="0" err="1">
                <a:latin typeface="Courier New" panose="02070309020205020404" pitchFamily="49" charset="0"/>
                <a:cs typeface="Courier New" panose="02070309020205020404" pitchFamily="49" charset="0"/>
              </a:rPr>
              <a:t>EntVisitor</a:t>
            </a:r>
            <a:r>
              <a:rPr lang="en-CA" sz="1800" dirty="0">
                <a:latin typeface="Courier New" panose="02070309020205020404" pitchFamily="49" charset="0"/>
                <a:cs typeface="Courier New" panose="02070309020205020404" pitchFamily="49" charset="0"/>
              </a:rPr>
              <a:t>::visit(Entity &amp; e)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cout</a:t>
            </a:r>
            <a:r>
              <a:rPr lang="en-CA" sz="1800" dirty="0" smtClean="0">
                <a:latin typeface="Courier New" panose="02070309020205020404" pitchFamily="49" charset="0"/>
                <a:cs typeface="Courier New" panose="02070309020205020404" pitchFamily="49" charset="0"/>
              </a:rPr>
              <a:t> </a:t>
            </a:r>
            <a:r>
              <a:rPr lang="en-CA" sz="1800" dirty="0">
                <a:latin typeface="Courier New" panose="02070309020205020404" pitchFamily="49" charset="0"/>
                <a:cs typeface="Courier New" panose="02070309020205020404" pitchFamily="49" charset="0"/>
              </a:rPr>
              <a:t>&lt;&lt; </a:t>
            </a:r>
            <a:r>
              <a:rPr lang="en-CA" sz="1800" dirty="0" err="1">
                <a:latin typeface="Courier New" panose="02070309020205020404" pitchFamily="49" charset="0"/>
                <a:cs typeface="Courier New" panose="02070309020205020404" pitchFamily="49" charset="0"/>
              </a:rPr>
              <a:t>e.get_name</a:t>
            </a:r>
            <a:r>
              <a:rPr lang="en-CA" sz="1800" dirty="0">
                <a:latin typeface="Courier New" panose="02070309020205020404" pitchFamily="49" charset="0"/>
                <a:cs typeface="Courier New" panose="02070309020205020404" pitchFamily="49" charset="0"/>
              </a:rPr>
              <a:t>() &lt;&lt; </a:t>
            </a:r>
            <a:r>
              <a:rPr lang="en-CA" sz="1800" dirty="0" err="1">
                <a:latin typeface="Courier New" panose="02070309020205020404" pitchFamily="49" charset="0"/>
                <a:cs typeface="Courier New" panose="02070309020205020404" pitchFamily="49" charset="0"/>
              </a:rPr>
              <a:t>endl</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return </a:t>
            </a:r>
            <a:r>
              <a:rPr lang="en-CA" sz="1800" dirty="0" err="1">
                <a:latin typeface="Courier New" panose="02070309020205020404" pitchFamily="49" charset="0"/>
                <a:cs typeface="Courier New" panose="02070309020205020404" pitchFamily="49" charset="0"/>
              </a:rPr>
              <a:t>e.process_pointers</a:t>
            </a:r>
            <a:r>
              <a:rPr lang="en-CA" sz="1800" dirty="0">
                <a:latin typeface="Courier New" panose="02070309020205020404" pitchFamily="49" charset="0"/>
                <a:cs typeface="Courier New" panose="02070309020205020404" pitchFamily="49" charset="0"/>
              </a:rPr>
              <a:t>(</a:t>
            </a:r>
            <a:r>
              <a:rPr lang="en-CA" sz="1800" dirty="0" err="1">
                <a:latin typeface="Courier New" panose="02070309020205020404" pitchFamily="49" charset="0"/>
                <a:cs typeface="Courier New" panose="02070309020205020404" pitchFamily="49" charset="0"/>
              </a:rPr>
              <a:t>pv</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a:t>
            </a:r>
            <a:endParaRPr lang="en-CA" sz="1800"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half" idx="2"/>
          </p:nvPr>
        </p:nvSpPr>
        <p:spPr>
          <a:xfrm>
            <a:off x="5829300" y="1515362"/>
            <a:ext cx="5384800" cy="2624838"/>
          </a:xfrm>
        </p:spPr>
        <p:txBody>
          <a:bodyPr>
            <a:noAutofit/>
          </a:bodyPr>
          <a:lstStyle/>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void main(void)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Ext4IO </a:t>
            </a:r>
            <a:r>
              <a:rPr lang="en-CA" sz="1800" dirty="0" err="1">
                <a:latin typeface="Courier New" panose="02070309020205020404" pitchFamily="49" charset="0"/>
                <a:cs typeface="Courier New" panose="02070309020205020404" pitchFamily="49" charset="0"/>
              </a:rPr>
              <a:t>io</a:t>
            </a:r>
            <a:r>
              <a:rPr lang="en-CA" sz="1800" dirty="0">
                <a:latin typeface="Courier New" panose="02070309020205020404" pitchFamily="49" charset="0"/>
                <a:cs typeface="Courier New" panose="02070309020205020404" pitchFamily="49" charset="0"/>
              </a:rPr>
              <a:t>("/dev/sdb1");</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Ext4 </a:t>
            </a:r>
            <a:r>
              <a:rPr lang="en-CA" sz="1800" dirty="0">
                <a:latin typeface="Courier New" panose="02070309020205020404" pitchFamily="49" charset="0"/>
                <a:cs typeface="Courier New" panose="02070309020205020404" pitchFamily="49" charset="0"/>
              </a:rPr>
              <a:t>fs(</a:t>
            </a:r>
            <a:r>
              <a:rPr lang="en-CA" sz="1800" dirty="0" err="1">
                <a:latin typeface="Courier New" panose="02070309020205020404" pitchFamily="49" charset="0"/>
                <a:cs typeface="Courier New" panose="02070309020205020404" pitchFamily="49" charset="0"/>
              </a:rPr>
              <a:t>io</a:t>
            </a:r>
            <a:r>
              <a:rPr lang="en-CA" sz="18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Container </a:t>
            </a:r>
            <a:r>
              <a:rPr lang="en-CA" sz="1800" dirty="0">
                <a:latin typeface="Courier New" panose="02070309020205020404" pitchFamily="49" charset="0"/>
                <a:cs typeface="Courier New" panose="02070309020205020404" pitchFamily="49" charset="0"/>
              </a:rPr>
              <a:t>* </a:t>
            </a:r>
            <a:r>
              <a:rPr lang="en-CA" sz="1800" dirty="0" smtClean="0">
                <a:latin typeface="Courier New" panose="02070309020205020404" pitchFamily="49" charset="0"/>
                <a:cs typeface="Courier New" panose="02070309020205020404" pitchFamily="49" charset="0"/>
              </a:rPr>
              <a:t>sup = </a:t>
            </a:r>
            <a:r>
              <a:rPr lang="en-CA" sz="1800" dirty="0" err="1" smtClean="0">
                <a:latin typeface="Courier New" panose="02070309020205020404" pitchFamily="49" charset="0"/>
                <a:cs typeface="Courier New" panose="02070309020205020404" pitchFamily="49" charset="0"/>
              </a:rPr>
              <a:t>fs.fetch_super</a:t>
            </a:r>
            <a:r>
              <a:rPr lang="en-CA" sz="1800" dirty="0" smtClean="0">
                <a:latin typeface="Courier New" panose="02070309020205020404" pitchFamily="49" charset="0"/>
                <a:cs typeface="Courier New" panose="02070309020205020404" pitchFamily="49" charset="0"/>
              </a:rPr>
              <a:t>();</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if (sup != </a:t>
            </a:r>
            <a:r>
              <a:rPr lang="en-CA" sz="1800" dirty="0" err="1">
                <a:latin typeface="Courier New" panose="02070309020205020404" pitchFamily="49" charset="0"/>
                <a:cs typeface="Courier New" panose="02070309020205020404" pitchFamily="49" charset="0"/>
              </a:rPr>
              <a:t>nullptr</a:t>
            </a:r>
            <a:r>
              <a:rPr lang="en-CA" sz="180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r>
              <a:rPr lang="en-CA" sz="1800" dirty="0" err="1" smtClean="0">
                <a:latin typeface="Courier New" panose="02070309020205020404" pitchFamily="49" charset="0"/>
                <a:cs typeface="Courier New" panose="02070309020205020404" pitchFamily="49" charset="0"/>
              </a:rPr>
              <a:t>ev.visit</a:t>
            </a:r>
            <a:r>
              <a:rPr lang="en-CA" sz="1800" dirty="0">
                <a:latin typeface="Courier New" panose="02070309020205020404" pitchFamily="49" charset="0"/>
                <a:cs typeface="Courier New" panose="02070309020205020404" pitchFamily="49" charset="0"/>
              </a:rPr>
              <a:t>(*sup);</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sup-</a:t>
            </a:r>
            <a:r>
              <a:rPr lang="en-CA" sz="180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800" dirty="0" smtClean="0">
                <a:latin typeface="Courier New" panose="02070309020205020404" pitchFamily="49" charset="0"/>
                <a:cs typeface="Courier New" panose="02070309020205020404" pitchFamily="49" charset="0"/>
              </a:rPr>
              <a:t>  }</a:t>
            </a:r>
            <a:endParaRPr lang="en-CA" sz="18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800" dirty="0">
                <a:latin typeface="Courier New" panose="02070309020205020404" pitchFamily="49" charset="0"/>
                <a:cs typeface="Courier New" panose="02070309020205020404" pitchFamily="49" charset="0"/>
              </a:rPr>
              <a:t>}</a:t>
            </a:r>
          </a:p>
          <a:p>
            <a:pPr>
              <a:spcBef>
                <a:spcPts val="0"/>
              </a:spcBef>
              <a:spcAft>
                <a:spcPts val="0"/>
              </a:spcAft>
            </a:pPr>
            <a:endParaRPr lang="en-CA" sz="1800"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42</a:t>
            </a:fld>
            <a:endParaRPr lang="en-CA" dirty="0"/>
          </a:p>
        </p:txBody>
      </p:sp>
      <p:sp>
        <p:nvSpPr>
          <p:cNvPr id="6" name="Content Placeholder 4"/>
          <p:cNvSpPr txBox="1">
            <a:spLocks/>
          </p:cNvSpPr>
          <p:nvPr/>
        </p:nvSpPr>
        <p:spPr>
          <a:xfrm>
            <a:off x="5829300" y="4140200"/>
            <a:ext cx="5384800" cy="1803400"/>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a:spcBef>
                <a:spcPts val="0"/>
              </a:spcBef>
              <a:spcAft>
                <a:spcPts val="0"/>
              </a:spcAft>
            </a:pPr>
            <a:r>
              <a:rPr lang="en-CA" dirty="0" err="1" smtClean="0"/>
              <a:t>PtrVisitor</a:t>
            </a:r>
            <a:r>
              <a:rPr lang="en-CA" dirty="0" smtClean="0"/>
              <a:t> fetches the pointed-to Container from disk, then calls </a:t>
            </a:r>
            <a:r>
              <a:rPr lang="en-CA" dirty="0" err="1">
                <a:latin typeface="Courier New" panose="02070309020205020404" pitchFamily="49" charset="0"/>
                <a:cs typeface="Courier New" panose="02070309020205020404" pitchFamily="49" charset="0"/>
              </a:rPr>
              <a:t>EntVisitor</a:t>
            </a:r>
            <a:r>
              <a:rPr lang="en-CA" dirty="0">
                <a:latin typeface="Courier New" panose="02070309020205020404" pitchFamily="49" charset="0"/>
                <a:cs typeface="Courier New" panose="02070309020205020404" pitchFamily="49" charset="0"/>
              </a:rPr>
              <a:t>::</a:t>
            </a:r>
            <a:r>
              <a:rPr lang="en-CA" dirty="0" smtClean="0">
                <a:latin typeface="Courier New" panose="02070309020205020404" pitchFamily="49" charset="0"/>
                <a:cs typeface="Courier New" panose="02070309020205020404" pitchFamily="49" charset="0"/>
              </a:rPr>
              <a:t>visit </a:t>
            </a:r>
            <a:r>
              <a:rPr lang="en-CA" dirty="0" smtClean="0"/>
              <a:t>on the pointed-to Container</a:t>
            </a:r>
          </a:p>
        </p:txBody>
      </p:sp>
    </p:spTree>
    <p:extLst>
      <p:ext uri="{BB962C8B-B14F-4D97-AF65-F5344CB8AC3E}">
        <p14:creationId xmlns:p14="http://schemas.microsoft.com/office/powerpoint/2010/main" val="31210524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Evaluation: Programming Effort</a:t>
            </a:r>
            <a:endParaRPr lang="en-CA" dirty="0"/>
          </a:p>
        </p:txBody>
      </p:sp>
      <p:sp>
        <p:nvSpPr>
          <p:cNvPr id="3" name="Content Placeholder 2"/>
          <p:cNvSpPr>
            <a:spLocks noGrp="1"/>
          </p:cNvSpPr>
          <p:nvPr>
            <p:ph idx="1"/>
          </p:nvPr>
        </p:nvSpPr>
        <p:spPr/>
        <p:txBody>
          <a:bodyPr/>
          <a:lstStyle/>
          <a:p>
            <a:endParaRPr lang="en-CA" smtClean="0"/>
          </a:p>
          <a:p>
            <a:endParaRPr lang="en-CA" smtClean="0"/>
          </a:p>
          <a:p>
            <a:endParaRPr lang="en-CA" smtClean="0"/>
          </a:p>
          <a:p>
            <a:endParaRPr lang="en-CA" smtClean="0"/>
          </a:p>
          <a:p>
            <a:endParaRPr lang="en-CA" smtClean="0"/>
          </a:p>
          <a:p>
            <a:endParaRPr lang="en-CA" smtClean="0"/>
          </a:p>
          <a:p>
            <a:endParaRPr lang="en-CA" smtClean="0"/>
          </a:p>
          <a:p>
            <a:r>
              <a:rPr lang="en-CA" smtClean="0"/>
              <a:t>Programming effort reduced for read-only file system applications</a:t>
            </a:r>
          </a:p>
          <a:p>
            <a:pPr lvl="1"/>
            <a:r>
              <a:rPr lang="en-CA" smtClean="0"/>
              <a:t>Both online and offline</a:t>
            </a:r>
            <a:endParaRPr lang="en-CA" dirty="0"/>
          </a:p>
        </p:txBody>
      </p:sp>
      <p:sp>
        <p:nvSpPr>
          <p:cNvPr id="6" name="Slide Number Placeholder 5"/>
          <p:cNvSpPr>
            <a:spLocks noGrp="1"/>
          </p:cNvSpPr>
          <p:nvPr>
            <p:ph type="sldNum" sz="quarter" idx="12"/>
          </p:nvPr>
        </p:nvSpPr>
        <p:spPr/>
        <p:txBody>
          <a:bodyPr/>
          <a:lstStyle/>
          <a:p>
            <a:fld id="{7B2023C8-B124-43A9-8F92-0EEF5BAA9995}" type="slidenum">
              <a:rPr lang="en-CA" smtClean="0"/>
              <a:pPr/>
              <a:t>43</a:t>
            </a:fld>
            <a:endParaRPr lang="en-CA" dirty="0"/>
          </a:p>
        </p:txBody>
      </p:sp>
      <p:graphicFrame>
        <p:nvGraphicFramePr>
          <p:cNvPr id="5" name="Table 4"/>
          <p:cNvGraphicFramePr>
            <a:graphicFrameLocks noGrp="1"/>
          </p:cNvGraphicFramePr>
          <p:nvPr>
            <p:extLst>
              <p:ext uri="{D42A27DB-BD31-4B8C-83A1-F6EECF244321}">
                <p14:modId xmlns:p14="http://schemas.microsoft.com/office/powerpoint/2010/main" val="3410067637"/>
              </p:ext>
            </p:extLst>
          </p:nvPr>
        </p:nvGraphicFramePr>
        <p:xfrm>
          <a:off x="806374" y="1543050"/>
          <a:ext cx="8901277" cy="3337560"/>
        </p:xfrm>
        <a:graphic>
          <a:graphicData uri="http://schemas.openxmlformats.org/drawingml/2006/table">
            <a:tbl>
              <a:tblPr firstRow="1" bandRow="1">
                <a:tableStyleId>{69012ECD-51FC-41F1-AA8D-1B2483CD663E}</a:tableStyleId>
              </a:tblPr>
              <a:tblGrid>
                <a:gridCol w="3593986">
                  <a:extLst>
                    <a:ext uri="{9D8B030D-6E8A-4147-A177-3AD203B41FA5}">
                      <a16:colId xmlns:a16="http://schemas.microsoft.com/office/drawing/2014/main" xmlns="" val="20000"/>
                    </a:ext>
                  </a:extLst>
                </a:gridCol>
                <a:gridCol w="2017336">
                  <a:extLst>
                    <a:ext uri="{9D8B030D-6E8A-4147-A177-3AD203B41FA5}">
                      <a16:colId xmlns:a16="http://schemas.microsoft.com/office/drawing/2014/main" xmlns="" val="20001"/>
                    </a:ext>
                  </a:extLst>
                </a:gridCol>
                <a:gridCol w="3289955">
                  <a:extLst>
                    <a:ext uri="{9D8B030D-6E8A-4147-A177-3AD203B41FA5}">
                      <a16:colId xmlns:a16="http://schemas.microsoft.com/office/drawing/2014/main" xmlns="" val="20002"/>
                    </a:ext>
                  </a:extLst>
                </a:gridCol>
              </a:tblGrid>
              <a:tr h="370840">
                <a:tc>
                  <a:txBody>
                    <a:bodyPr/>
                    <a:lstStyle/>
                    <a:p>
                      <a:r>
                        <a:rPr lang="en-CA" dirty="0" smtClean="0">
                          <a:solidFill>
                            <a:schemeClr val="tx1"/>
                          </a:solidFill>
                        </a:rPr>
                        <a:t>Applications</a:t>
                      </a:r>
                      <a:endParaRPr lang="en-CA" dirty="0">
                        <a:solidFill>
                          <a:schemeClr val="tx1"/>
                        </a:solidFill>
                      </a:endParaRPr>
                    </a:p>
                  </a:txBody>
                  <a:tcPr/>
                </a:tc>
                <a:tc>
                  <a:txBody>
                    <a:bodyPr/>
                    <a:lstStyle/>
                    <a:p>
                      <a:r>
                        <a:rPr lang="en-CA" dirty="0" smtClean="0">
                          <a:solidFill>
                            <a:schemeClr val="tx1"/>
                          </a:solidFill>
                        </a:rPr>
                        <a:t>Generic (LOC)</a:t>
                      </a:r>
                      <a:endParaRPr lang="en-CA" dirty="0">
                        <a:solidFill>
                          <a:schemeClr val="tx1"/>
                        </a:solidFill>
                      </a:endParaRPr>
                    </a:p>
                  </a:txBody>
                  <a:tcPr/>
                </a:tc>
                <a:tc>
                  <a:txBody>
                    <a:bodyPr/>
                    <a:lstStyle/>
                    <a:p>
                      <a:r>
                        <a:rPr lang="en-CA" dirty="0" smtClean="0">
                          <a:solidFill>
                            <a:schemeClr val="tx1"/>
                          </a:solidFill>
                        </a:rPr>
                        <a:t>File-System</a:t>
                      </a:r>
                      <a:r>
                        <a:rPr lang="en-CA" baseline="0" dirty="0" smtClean="0">
                          <a:solidFill>
                            <a:schemeClr val="tx1"/>
                          </a:solidFill>
                        </a:rPr>
                        <a:t> </a:t>
                      </a:r>
                      <a:r>
                        <a:rPr lang="en-CA" dirty="0" smtClean="0">
                          <a:solidFill>
                            <a:schemeClr val="tx1"/>
                          </a:solidFill>
                        </a:rPr>
                        <a:t>Specific (LOC)</a:t>
                      </a:r>
                      <a:endParaRPr lang="en-CA" dirty="0">
                        <a:solidFill>
                          <a:schemeClr val="tx1"/>
                        </a:solidFill>
                      </a:endParaRPr>
                    </a:p>
                  </a:txBody>
                  <a:tcPr/>
                </a:tc>
                <a:extLst>
                  <a:ext uri="{0D108BD9-81ED-4DB2-BD59-A6C34878D82A}">
                    <a16:rowId xmlns:a16="http://schemas.microsoft.com/office/drawing/2014/main" xmlns="" val="10000"/>
                  </a:ext>
                </a:extLst>
              </a:tr>
              <a:tr h="370840">
                <a:tc>
                  <a:txBody>
                    <a:bodyPr/>
                    <a:lstStyle/>
                    <a:p>
                      <a:r>
                        <a:rPr lang="en-CA" dirty="0" smtClean="0">
                          <a:solidFill>
                            <a:schemeClr val="bg1"/>
                          </a:solidFill>
                        </a:rPr>
                        <a:t>XML Dump Tool</a:t>
                      </a:r>
                      <a:endParaRPr lang="en-CA" dirty="0">
                        <a:solidFill>
                          <a:schemeClr val="bg1"/>
                        </a:solidFill>
                      </a:endParaRPr>
                    </a:p>
                  </a:txBody>
                  <a:tcPr/>
                </a:tc>
                <a:tc>
                  <a:txBody>
                    <a:bodyPr/>
                    <a:lstStyle/>
                    <a:p>
                      <a:r>
                        <a:rPr lang="en-CA" dirty="0" smtClean="0">
                          <a:solidFill>
                            <a:schemeClr val="bg1"/>
                          </a:solidFill>
                        </a:rPr>
                        <a:t>565</a:t>
                      </a:r>
                      <a:endParaRPr lang="en-CA" dirty="0">
                        <a:solidFill>
                          <a:schemeClr val="bg1"/>
                        </a:solidFill>
                      </a:endParaRPr>
                    </a:p>
                  </a:txBody>
                  <a:tcPr/>
                </a:tc>
                <a:tc>
                  <a:txBody>
                    <a:bodyPr/>
                    <a:lstStyle/>
                    <a:p>
                      <a:r>
                        <a:rPr lang="en-CA" dirty="0" smtClean="0">
                          <a:solidFill>
                            <a:schemeClr val="bg1"/>
                          </a:solidFill>
                        </a:rPr>
                        <a:t>40~50</a:t>
                      </a:r>
                      <a:endParaRPr lang="en-CA" dirty="0">
                        <a:solidFill>
                          <a:schemeClr val="bg1"/>
                        </a:solidFill>
                      </a:endParaRPr>
                    </a:p>
                  </a:txBody>
                  <a:tcPr/>
                </a:tc>
                <a:extLst>
                  <a:ext uri="{0D108BD9-81ED-4DB2-BD59-A6C34878D82A}">
                    <a16:rowId xmlns:a16="http://schemas.microsoft.com/office/drawing/2014/main" xmlns="" val="10001"/>
                  </a:ext>
                </a:extLst>
              </a:tr>
              <a:tr h="370840">
                <a:tc>
                  <a:txBody>
                    <a:bodyPr/>
                    <a:lstStyle/>
                    <a:p>
                      <a:r>
                        <a:rPr lang="en-CA" dirty="0" smtClean="0">
                          <a:solidFill>
                            <a:schemeClr val="bg1"/>
                          </a:solidFill>
                        </a:rPr>
                        <a:t>Free Space</a:t>
                      </a:r>
                      <a:r>
                        <a:rPr lang="en-CA" baseline="0" dirty="0" smtClean="0">
                          <a:solidFill>
                            <a:schemeClr val="bg1"/>
                          </a:solidFill>
                        </a:rPr>
                        <a:t> Display Tool</a:t>
                      </a:r>
                      <a:endParaRPr lang="en-CA" dirty="0">
                        <a:solidFill>
                          <a:schemeClr val="bg1"/>
                        </a:solidFill>
                      </a:endParaRPr>
                    </a:p>
                  </a:txBody>
                  <a:tcPr/>
                </a:tc>
                <a:tc>
                  <a:txBody>
                    <a:bodyPr/>
                    <a:lstStyle/>
                    <a:p>
                      <a:r>
                        <a:rPr lang="en-CA" dirty="0" smtClean="0">
                          <a:solidFill>
                            <a:schemeClr val="bg1"/>
                          </a:solidFill>
                        </a:rPr>
                        <a:t>271</a:t>
                      </a:r>
                      <a:endParaRPr lang="en-CA" dirty="0">
                        <a:solidFill>
                          <a:schemeClr val="bg1"/>
                        </a:solidFill>
                      </a:endParaRPr>
                    </a:p>
                  </a:txBody>
                  <a:tcPr/>
                </a:tc>
                <a:tc>
                  <a:txBody>
                    <a:bodyPr/>
                    <a:lstStyle/>
                    <a:p>
                      <a:r>
                        <a:rPr lang="en-CA" dirty="0" smtClean="0">
                          <a:solidFill>
                            <a:schemeClr val="bg1"/>
                          </a:solidFill>
                        </a:rPr>
                        <a:t>76~194 (F2FS)</a:t>
                      </a:r>
                      <a:endParaRPr lang="en-CA" dirty="0">
                        <a:solidFill>
                          <a:schemeClr val="bg1"/>
                        </a:solidFill>
                      </a:endParaRPr>
                    </a:p>
                  </a:txBody>
                  <a:tcPr/>
                </a:tc>
                <a:extLst>
                  <a:ext uri="{0D108BD9-81ED-4DB2-BD59-A6C34878D82A}">
                    <a16:rowId xmlns:a16="http://schemas.microsoft.com/office/drawing/2014/main" xmlns="" val="10002"/>
                  </a:ext>
                </a:extLst>
              </a:tr>
              <a:tr h="370840">
                <a:tc>
                  <a:txBody>
                    <a:bodyPr/>
                    <a:lstStyle/>
                    <a:p>
                      <a:r>
                        <a:rPr lang="en-CA" dirty="0" smtClean="0">
                          <a:solidFill>
                            <a:schemeClr val="bg1"/>
                          </a:solidFill>
                        </a:rPr>
                        <a:t>Type-Specific</a:t>
                      </a:r>
                      <a:r>
                        <a:rPr lang="en-CA" baseline="0" dirty="0" smtClean="0">
                          <a:solidFill>
                            <a:schemeClr val="bg1"/>
                          </a:solidFill>
                        </a:rPr>
                        <a:t> Corruptor</a:t>
                      </a:r>
                      <a:endParaRPr lang="en-CA" dirty="0">
                        <a:solidFill>
                          <a:schemeClr val="bg1"/>
                        </a:solidFill>
                      </a:endParaRPr>
                    </a:p>
                  </a:txBody>
                  <a:tcPr/>
                </a:tc>
                <a:tc>
                  <a:txBody>
                    <a:bodyPr/>
                    <a:lstStyle/>
                    <a:p>
                      <a:r>
                        <a:rPr lang="en-CA" dirty="0" smtClean="0">
                          <a:solidFill>
                            <a:schemeClr val="bg1"/>
                          </a:solidFill>
                        </a:rPr>
                        <a:t>455</a:t>
                      </a:r>
                      <a:endParaRPr lang="en-CA" dirty="0">
                        <a:solidFill>
                          <a:schemeClr val="bg1"/>
                        </a:solidFill>
                      </a:endParaRPr>
                    </a:p>
                  </a:txBody>
                  <a:tcPr/>
                </a:tc>
                <a:tc>
                  <a:txBody>
                    <a:bodyPr/>
                    <a:lstStyle/>
                    <a:p>
                      <a:r>
                        <a:rPr lang="en-CA" dirty="0" smtClean="0">
                          <a:solidFill>
                            <a:schemeClr val="bg1"/>
                          </a:solidFill>
                        </a:rPr>
                        <a:t>&lt; 30</a:t>
                      </a:r>
                      <a:endParaRPr lang="en-CA" dirty="0">
                        <a:solidFill>
                          <a:schemeClr val="bg1"/>
                        </a:solidFill>
                      </a:endParaRPr>
                    </a:p>
                  </a:txBody>
                  <a:tcPr/>
                </a:tc>
                <a:extLst>
                  <a:ext uri="{0D108BD9-81ED-4DB2-BD59-A6C34878D82A}">
                    <a16:rowId xmlns:a16="http://schemas.microsoft.com/office/drawing/2014/main" xmlns="" val="10003"/>
                  </a:ext>
                </a:extLst>
              </a:tr>
              <a:tr h="370840">
                <a:tc>
                  <a:txBody>
                    <a:bodyPr/>
                    <a:lstStyle/>
                    <a:p>
                      <a:r>
                        <a:rPr lang="en-CA" dirty="0" smtClean="0">
                          <a:solidFill>
                            <a:schemeClr val="bg1"/>
                          </a:solidFill>
                        </a:rPr>
                        <a:t>Ext4 to F2FS</a:t>
                      </a:r>
                      <a:r>
                        <a:rPr lang="en-CA" baseline="0" dirty="0" smtClean="0">
                          <a:solidFill>
                            <a:schemeClr val="bg1"/>
                          </a:solidFill>
                        </a:rPr>
                        <a:t> </a:t>
                      </a:r>
                      <a:r>
                        <a:rPr lang="en-CA" dirty="0" smtClean="0">
                          <a:solidFill>
                            <a:schemeClr val="bg1"/>
                          </a:solidFill>
                        </a:rPr>
                        <a:t>Converter</a:t>
                      </a:r>
                      <a:endParaRPr lang="en-CA" dirty="0">
                        <a:solidFill>
                          <a:schemeClr val="bg1"/>
                        </a:solidFill>
                      </a:endParaRPr>
                    </a:p>
                  </a:txBody>
                  <a:tcPr/>
                </a:tc>
                <a:tc>
                  <a:txBody>
                    <a:bodyPr/>
                    <a:lstStyle/>
                    <a:p>
                      <a:r>
                        <a:rPr lang="en-CA" dirty="0" smtClean="0">
                          <a:solidFill>
                            <a:schemeClr val="bg1"/>
                          </a:solidFill>
                        </a:rPr>
                        <a:t>504</a:t>
                      </a:r>
                      <a:endParaRPr lang="en-CA" dirty="0">
                        <a:solidFill>
                          <a:schemeClr val="bg1"/>
                        </a:solidFill>
                      </a:endParaRPr>
                    </a:p>
                  </a:txBody>
                  <a:tcPr/>
                </a:tc>
                <a:tc>
                  <a:txBody>
                    <a:bodyPr/>
                    <a:lstStyle/>
                    <a:p>
                      <a:r>
                        <a:rPr lang="en-CA" dirty="0" smtClean="0">
                          <a:solidFill>
                            <a:schemeClr val="bg1"/>
                          </a:solidFill>
                        </a:rPr>
                        <a:t>218 (Ext4)</a:t>
                      </a:r>
                      <a:r>
                        <a:rPr lang="en-CA" baseline="0" dirty="0" smtClean="0">
                          <a:solidFill>
                            <a:schemeClr val="bg1"/>
                          </a:solidFill>
                        </a:rPr>
                        <a:t>, 1760 (F2FS)</a:t>
                      </a:r>
                      <a:endParaRPr lang="en-CA" dirty="0">
                        <a:solidFill>
                          <a:schemeClr val="bg1"/>
                        </a:solidFill>
                      </a:endParaRPr>
                    </a:p>
                  </a:txBody>
                  <a:tcPr/>
                </a:tc>
                <a:extLst>
                  <a:ext uri="{0D108BD9-81ED-4DB2-BD59-A6C34878D82A}">
                    <a16:rowId xmlns:a16="http://schemas.microsoft.com/office/drawing/2014/main" xmlns="" val="10004"/>
                  </a:ext>
                </a:extLst>
              </a:tr>
              <a:tr h="370840">
                <a:tc>
                  <a:txBody>
                    <a:bodyPr/>
                    <a:lstStyle/>
                    <a:p>
                      <a:r>
                        <a:rPr lang="en-CA" dirty="0" smtClean="0">
                          <a:solidFill>
                            <a:schemeClr val="bg1"/>
                          </a:solidFill>
                        </a:rPr>
                        <a:t>Runtime</a:t>
                      </a:r>
                      <a:r>
                        <a:rPr lang="en-CA" baseline="0" dirty="0" smtClean="0">
                          <a:solidFill>
                            <a:schemeClr val="bg1"/>
                          </a:solidFill>
                        </a:rPr>
                        <a:t> Interpretation</a:t>
                      </a:r>
                      <a:endParaRPr lang="en-CA" dirty="0">
                        <a:solidFill>
                          <a:schemeClr val="bg1"/>
                        </a:solidFill>
                      </a:endParaRPr>
                    </a:p>
                  </a:txBody>
                  <a:tcPr/>
                </a:tc>
                <a:tc>
                  <a:txBody>
                    <a:bodyPr/>
                    <a:lstStyle/>
                    <a:p>
                      <a:r>
                        <a:rPr lang="en-CA" dirty="0" smtClean="0">
                          <a:solidFill>
                            <a:schemeClr val="bg1"/>
                          </a:solidFill>
                        </a:rPr>
                        <a:t>2158</a:t>
                      </a:r>
                      <a:endParaRPr lang="en-CA" dirty="0">
                        <a:solidFill>
                          <a:schemeClr val="bg1"/>
                        </a:solidFill>
                      </a:endParaRPr>
                    </a:p>
                  </a:txBody>
                  <a:tcPr/>
                </a:tc>
                <a:tc>
                  <a:txBody>
                    <a:bodyPr/>
                    <a:lstStyle/>
                    <a:p>
                      <a:r>
                        <a:rPr lang="en-CA" dirty="0" smtClean="0">
                          <a:solidFill>
                            <a:schemeClr val="bg1"/>
                          </a:solidFill>
                        </a:rPr>
                        <a:t>111 (Ext4),</a:t>
                      </a:r>
                      <a:r>
                        <a:rPr lang="en-CA" baseline="0" dirty="0" smtClean="0">
                          <a:solidFill>
                            <a:schemeClr val="bg1"/>
                          </a:solidFill>
                        </a:rPr>
                        <a:t> 134 (</a:t>
                      </a:r>
                      <a:r>
                        <a:rPr lang="en-CA" baseline="0" dirty="0" err="1" smtClean="0">
                          <a:solidFill>
                            <a:schemeClr val="bg1"/>
                          </a:solidFill>
                        </a:rPr>
                        <a:t>Btrfs</a:t>
                      </a:r>
                      <a:r>
                        <a:rPr lang="en-CA" baseline="0" dirty="0" smtClean="0">
                          <a:solidFill>
                            <a:schemeClr val="bg1"/>
                          </a:solidFill>
                        </a:rPr>
                        <a:t>)</a:t>
                      </a:r>
                      <a:endParaRPr lang="en-CA" dirty="0">
                        <a:solidFill>
                          <a:schemeClr val="bg1"/>
                        </a:solidFill>
                      </a:endParaRPr>
                    </a:p>
                  </a:txBody>
                  <a:tcPr/>
                </a:tc>
                <a:extLst>
                  <a:ext uri="{0D108BD9-81ED-4DB2-BD59-A6C34878D82A}">
                    <a16:rowId xmlns:a16="http://schemas.microsoft.com/office/drawing/2014/main" xmlns="" val="10005"/>
                  </a:ext>
                </a:extLst>
              </a:tr>
              <a:tr h="370840">
                <a:tc>
                  <a:txBody>
                    <a:bodyPr/>
                    <a:lstStyle/>
                    <a:p>
                      <a:r>
                        <a:rPr lang="en-CA" dirty="0" smtClean="0">
                          <a:solidFill>
                            <a:schemeClr val="bg1"/>
                          </a:solidFill>
                        </a:rPr>
                        <a:t>Differentiated</a:t>
                      </a:r>
                      <a:r>
                        <a:rPr lang="en-CA" baseline="0" dirty="0" smtClean="0">
                          <a:solidFill>
                            <a:schemeClr val="bg1"/>
                          </a:solidFill>
                        </a:rPr>
                        <a:t> Storage</a:t>
                      </a:r>
                      <a:endParaRPr lang="en-CA" dirty="0">
                        <a:solidFill>
                          <a:schemeClr val="bg1"/>
                        </a:solidFill>
                      </a:endParaRPr>
                    </a:p>
                  </a:txBody>
                  <a:tcPr/>
                </a:tc>
                <a:tc>
                  <a:txBody>
                    <a:bodyPr/>
                    <a:lstStyle/>
                    <a:p>
                      <a:endParaRPr lang="en-CA" dirty="0">
                        <a:solidFill>
                          <a:schemeClr val="bg1"/>
                        </a:solidFill>
                      </a:endParaRPr>
                    </a:p>
                  </a:txBody>
                  <a:tcPr/>
                </a:tc>
                <a:tc>
                  <a:txBody>
                    <a:bodyPr/>
                    <a:lstStyle/>
                    <a:p>
                      <a:endParaRPr lang="en-CA" dirty="0">
                        <a:solidFill>
                          <a:schemeClr val="bg1"/>
                        </a:solidFill>
                      </a:endParaRPr>
                    </a:p>
                  </a:txBody>
                  <a:tcPr/>
                </a:tc>
                <a:extLst>
                  <a:ext uri="{0D108BD9-81ED-4DB2-BD59-A6C34878D82A}">
                    <a16:rowId xmlns:a16="http://schemas.microsoft.com/office/drawing/2014/main" xmlns="" val="10006"/>
                  </a:ext>
                </a:extLst>
              </a:tr>
              <a:tr h="370840">
                <a:tc>
                  <a:txBody>
                    <a:bodyPr/>
                    <a:lstStyle/>
                    <a:p>
                      <a:pPr marL="179388" marR="0" lvl="0" indent="0" algn="l" defTabSz="457200" rtl="0" eaLnBrk="1" fontAlgn="auto" latinLnBrk="0" hangingPunct="1">
                        <a:lnSpc>
                          <a:spcPct val="100000"/>
                        </a:lnSpc>
                        <a:spcBef>
                          <a:spcPts val="0"/>
                        </a:spcBef>
                        <a:spcAft>
                          <a:spcPts val="0"/>
                        </a:spcAft>
                        <a:buClrTx/>
                        <a:buSzTx/>
                        <a:buFontTx/>
                        <a:buNone/>
                        <a:tabLst/>
                        <a:defRPr/>
                      </a:pPr>
                      <a:r>
                        <a:rPr lang="en-CA" dirty="0" smtClean="0">
                          <a:solidFill>
                            <a:schemeClr val="bg1"/>
                          </a:solidFill>
                        </a:rPr>
                        <a:t>- Block Layer Cache</a:t>
                      </a:r>
                    </a:p>
                  </a:txBody>
                  <a:tcPr/>
                </a:tc>
                <a:tc>
                  <a:txBody>
                    <a:bodyPr/>
                    <a:lstStyle/>
                    <a:p>
                      <a:r>
                        <a:rPr lang="en-CA" dirty="0" smtClean="0">
                          <a:solidFill>
                            <a:schemeClr val="bg1"/>
                          </a:solidFill>
                        </a:rPr>
                        <a:t>10518</a:t>
                      </a:r>
                      <a:endParaRPr lang="en-CA" dirty="0">
                        <a:solidFill>
                          <a:schemeClr val="bg1"/>
                        </a:solidFill>
                      </a:endParaRPr>
                    </a:p>
                  </a:txBody>
                  <a:tcPr/>
                </a:tc>
                <a:tc>
                  <a:txBody>
                    <a:bodyPr/>
                    <a:lstStyle/>
                    <a:p>
                      <a:r>
                        <a:rPr lang="en-CA" dirty="0" smtClean="0">
                          <a:solidFill>
                            <a:schemeClr val="bg1"/>
                          </a:solidFill>
                        </a:rPr>
                        <a:t>N/A</a:t>
                      </a:r>
                      <a:endParaRPr lang="en-CA" dirty="0">
                        <a:solidFill>
                          <a:schemeClr val="bg1"/>
                        </a:solidFill>
                      </a:endParaRPr>
                    </a:p>
                  </a:txBody>
                  <a:tcPr/>
                </a:tc>
                <a:extLst>
                  <a:ext uri="{0D108BD9-81ED-4DB2-BD59-A6C34878D82A}">
                    <a16:rowId xmlns:a16="http://schemas.microsoft.com/office/drawing/2014/main" xmlns="" val="10007"/>
                  </a:ext>
                </a:extLst>
              </a:tr>
              <a:tr h="370840">
                <a:tc>
                  <a:txBody>
                    <a:bodyPr/>
                    <a:lstStyle/>
                    <a:p>
                      <a:pPr marL="179388" marR="0" lvl="0" indent="0" algn="l" defTabSz="457200" rtl="0" eaLnBrk="1" fontAlgn="auto" latinLnBrk="0" hangingPunct="1">
                        <a:lnSpc>
                          <a:spcPct val="100000"/>
                        </a:lnSpc>
                        <a:spcBef>
                          <a:spcPts val="0"/>
                        </a:spcBef>
                        <a:spcAft>
                          <a:spcPts val="0"/>
                        </a:spcAft>
                        <a:buClrTx/>
                        <a:buSzTx/>
                        <a:buFontTx/>
                        <a:buNone/>
                        <a:tabLst/>
                        <a:defRPr/>
                      </a:pPr>
                      <a:r>
                        <a:rPr lang="en-CA" dirty="0" smtClean="0">
                          <a:solidFill>
                            <a:schemeClr val="bg1"/>
                          </a:solidFill>
                        </a:rPr>
                        <a:t>- Preferential</a:t>
                      </a:r>
                      <a:r>
                        <a:rPr lang="en-CA" baseline="0" dirty="0" smtClean="0">
                          <a:solidFill>
                            <a:schemeClr val="bg1"/>
                          </a:solidFill>
                        </a:rPr>
                        <a:t> Caching</a:t>
                      </a:r>
                      <a:endParaRPr lang="en-CA" dirty="0" smtClean="0">
                        <a:solidFill>
                          <a:schemeClr val="bg1"/>
                        </a:solidFill>
                      </a:endParaRPr>
                    </a:p>
                  </a:txBody>
                  <a:tcPr/>
                </a:tc>
                <a:tc>
                  <a:txBody>
                    <a:bodyPr/>
                    <a:lstStyle/>
                    <a:p>
                      <a:r>
                        <a:rPr lang="en-CA" dirty="0" smtClean="0">
                          <a:solidFill>
                            <a:schemeClr val="bg1"/>
                          </a:solidFill>
                        </a:rPr>
                        <a:t>289</a:t>
                      </a:r>
                      <a:endParaRPr lang="en-CA" dirty="0">
                        <a:solidFill>
                          <a:schemeClr val="bg1"/>
                        </a:solidFill>
                      </a:endParaRPr>
                    </a:p>
                  </a:txBody>
                  <a:tcPr/>
                </a:tc>
                <a:tc>
                  <a:txBody>
                    <a:bodyPr/>
                    <a:lstStyle/>
                    <a:p>
                      <a:r>
                        <a:rPr lang="en-CA" dirty="0" smtClean="0">
                          <a:solidFill>
                            <a:schemeClr val="bg1"/>
                          </a:solidFill>
                        </a:rPr>
                        <a:t>N/A</a:t>
                      </a:r>
                      <a:endParaRPr lang="en-CA" dirty="0">
                        <a:solidFill>
                          <a:schemeClr val="bg1"/>
                        </a:solidFill>
                      </a:endParaRPr>
                    </a:p>
                  </a:txBody>
                  <a:tcPr/>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91925390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Evaluation: Corruption Experiment</a:t>
            </a:r>
            <a:endParaRPr lang="en-CA" dirty="0"/>
          </a:p>
        </p:txBody>
      </p:sp>
      <p:sp>
        <p:nvSpPr>
          <p:cNvPr id="3" name="Content Placeholder 2"/>
          <p:cNvSpPr>
            <a:spLocks noGrp="1"/>
          </p:cNvSpPr>
          <p:nvPr>
            <p:ph idx="1"/>
          </p:nvPr>
        </p:nvSpPr>
        <p:spPr/>
        <p:txBody>
          <a:bodyPr/>
          <a:lstStyle/>
          <a:p>
            <a:r>
              <a:rPr lang="en-CA" smtClean="0"/>
              <a:t>Run Spiffy dump tool and existing dump tools on corrupt images</a:t>
            </a:r>
          </a:p>
          <a:p>
            <a:pPr lvl="1"/>
            <a:r>
              <a:rPr lang="en-CA" smtClean="0"/>
              <a:t>Corrupt images generated by type-specific corruptor</a:t>
            </a:r>
          </a:p>
          <a:p>
            <a:r>
              <a:rPr lang="en-CA" smtClean="0"/>
              <a:t>Spiffy is robust against corruption, 2 out of 3 existing tools crash:</a:t>
            </a:r>
          </a:p>
          <a:p>
            <a:endParaRPr lang="en-CA" smtClean="0"/>
          </a:p>
          <a:p>
            <a:endParaRPr lang="en-CA" smtClean="0"/>
          </a:p>
          <a:p>
            <a:endParaRPr lang="en-CA" smtClean="0"/>
          </a:p>
          <a:p>
            <a:endParaRPr lang="en-CA" smtClean="0"/>
          </a:p>
          <a:p>
            <a:endParaRPr lang="en-CA" dirty="0" smtClean="0"/>
          </a:p>
        </p:txBody>
      </p:sp>
      <p:sp>
        <p:nvSpPr>
          <p:cNvPr id="6" name="Slide Number Placeholder 5"/>
          <p:cNvSpPr>
            <a:spLocks noGrp="1"/>
          </p:cNvSpPr>
          <p:nvPr>
            <p:ph type="sldNum" sz="quarter" idx="12"/>
          </p:nvPr>
        </p:nvSpPr>
        <p:spPr/>
        <p:txBody>
          <a:bodyPr/>
          <a:lstStyle/>
          <a:p>
            <a:fld id="{7B2023C8-B124-43A9-8F92-0EEF5BAA9995}" type="slidenum">
              <a:rPr lang="en-CA" smtClean="0"/>
              <a:pPr/>
              <a:t>44</a:t>
            </a:fld>
            <a:endParaRPr lang="en-CA" dirty="0"/>
          </a:p>
        </p:txBody>
      </p:sp>
      <p:graphicFrame>
        <p:nvGraphicFramePr>
          <p:cNvPr id="5" name="Table 4"/>
          <p:cNvGraphicFramePr>
            <a:graphicFrameLocks noGrp="1"/>
          </p:cNvGraphicFramePr>
          <p:nvPr>
            <p:extLst>
              <p:ext uri="{D42A27DB-BD31-4B8C-83A1-F6EECF244321}">
                <p14:modId xmlns:p14="http://schemas.microsoft.com/office/powerpoint/2010/main" val="1346553440"/>
              </p:ext>
            </p:extLst>
          </p:nvPr>
        </p:nvGraphicFramePr>
        <p:xfrm>
          <a:off x="684212" y="3103984"/>
          <a:ext cx="10072159" cy="3012440"/>
        </p:xfrm>
        <a:graphic>
          <a:graphicData uri="http://schemas.openxmlformats.org/drawingml/2006/table">
            <a:tbl>
              <a:tblPr firstRow="1" bandRow="1">
                <a:tableStyleId>{69012ECD-51FC-41F1-AA8D-1B2483CD663E}</a:tableStyleId>
              </a:tblPr>
              <a:tblGrid>
                <a:gridCol w="1173256">
                  <a:extLst>
                    <a:ext uri="{9D8B030D-6E8A-4147-A177-3AD203B41FA5}">
                      <a16:colId xmlns:a16="http://schemas.microsoft.com/office/drawing/2014/main" xmlns="" val="20000"/>
                    </a:ext>
                  </a:extLst>
                </a:gridCol>
                <a:gridCol w="1357460">
                  <a:extLst>
                    <a:ext uri="{9D8B030D-6E8A-4147-A177-3AD203B41FA5}">
                      <a16:colId xmlns:a16="http://schemas.microsoft.com/office/drawing/2014/main" xmlns="" val="20001"/>
                    </a:ext>
                  </a:extLst>
                </a:gridCol>
                <a:gridCol w="2375554">
                  <a:extLst>
                    <a:ext uri="{9D8B030D-6E8A-4147-A177-3AD203B41FA5}">
                      <a16:colId xmlns:a16="http://schemas.microsoft.com/office/drawing/2014/main" xmlns="" val="20002"/>
                    </a:ext>
                  </a:extLst>
                </a:gridCol>
                <a:gridCol w="5165889">
                  <a:extLst>
                    <a:ext uri="{9D8B030D-6E8A-4147-A177-3AD203B41FA5}">
                      <a16:colId xmlns:a16="http://schemas.microsoft.com/office/drawing/2014/main" xmlns="" val="20003"/>
                    </a:ext>
                  </a:extLst>
                </a:gridCol>
              </a:tblGrid>
              <a:tr h="370840">
                <a:tc>
                  <a:txBody>
                    <a:bodyPr/>
                    <a:lstStyle/>
                    <a:p>
                      <a:r>
                        <a:rPr lang="en-CA" dirty="0" smtClean="0">
                          <a:solidFill>
                            <a:schemeClr val="tx1"/>
                          </a:solidFill>
                        </a:rPr>
                        <a:t>Tool</a:t>
                      </a:r>
                      <a:endParaRPr lang="en-CA" dirty="0">
                        <a:solidFill>
                          <a:schemeClr val="tx1"/>
                        </a:solidFill>
                      </a:endParaRPr>
                    </a:p>
                  </a:txBody>
                  <a:tcPr/>
                </a:tc>
                <a:tc>
                  <a:txBody>
                    <a:bodyPr/>
                    <a:lstStyle/>
                    <a:p>
                      <a:r>
                        <a:rPr lang="en-CA" dirty="0" smtClean="0">
                          <a:solidFill>
                            <a:schemeClr val="tx1"/>
                          </a:solidFill>
                        </a:rPr>
                        <a:t>Structure</a:t>
                      </a:r>
                      <a:endParaRPr lang="en-CA" dirty="0">
                        <a:solidFill>
                          <a:schemeClr val="tx1"/>
                        </a:solidFill>
                      </a:endParaRPr>
                    </a:p>
                  </a:txBody>
                  <a:tcPr/>
                </a:tc>
                <a:tc>
                  <a:txBody>
                    <a:bodyPr/>
                    <a:lstStyle/>
                    <a:p>
                      <a:r>
                        <a:rPr lang="en-CA" dirty="0" smtClean="0">
                          <a:solidFill>
                            <a:schemeClr val="tx1"/>
                          </a:solidFill>
                        </a:rPr>
                        <a:t>Field</a:t>
                      </a:r>
                      <a:endParaRPr lang="en-CA" dirty="0">
                        <a:solidFill>
                          <a:schemeClr val="tx1"/>
                        </a:solidFill>
                      </a:endParaRPr>
                    </a:p>
                  </a:txBody>
                  <a:tcPr/>
                </a:tc>
                <a:tc>
                  <a:txBody>
                    <a:bodyPr/>
                    <a:lstStyle/>
                    <a:p>
                      <a:r>
                        <a:rPr lang="en-CA" dirty="0" smtClean="0">
                          <a:solidFill>
                            <a:schemeClr val="tx1"/>
                          </a:solidFill>
                        </a:rPr>
                        <a:t>Description</a:t>
                      </a:r>
                      <a:endParaRPr lang="en-CA" dirty="0">
                        <a:solidFill>
                          <a:schemeClr val="tx1"/>
                        </a:solidFill>
                      </a:endParaRPr>
                    </a:p>
                  </a:txBody>
                  <a:tcPr/>
                </a:tc>
                <a:extLst>
                  <a:ext uri="{0D108BD9-81ED-4DB2-BD59-A6C34878D82A}">
                    <a16:rowId xmlns:a16="http://schemas.microsoft.com/office/drawing/2014/main" xmlns="" val="10000"/>
                  </a:ext>
                </a:extLst>
              </a:tr>
              <a:tr h="370840">
                <a:tc>
                  <a:txBody>
                    <a:bodyPr/>
                    <a:lstStyle/>
                    <a:p>
                      <a:r>
                        <a:rPr lang="en-CA" sz="1600" dirty="0" smtClean="0">
                          <a:solidFill>
                            <a:schemeClr val="bg1"/>
                          </a:solidFill>
                        </a:rPr>
                        <a:t>dumpe2fs</a:t>
                      </a:r>
                      <a:endParaRPr lang="en-CA" sz="1600" dirty="0">
                        <a:solidFill>
                          <a:schemeClr val="bg1"/>
                        </a:solidFill>
                      </a:endParaRPr>
                    </a:p>
                  </a:txBody>
                  <a:tcPr/>
                </a:tc>
                <a:tc>
                  <a:txBody>
                    <a:bodyPr/>
                    <a:lstStyle/>
                    <a:p>
                      <a:r>
                        <a:rPr lang="en-CA" sz="1600" b="0" i="0" u="none" strike="noStrike" kern="1200" baseline="0" dirty="0" smtClean="0">
                          <a:solidFill>
                            <a:schemeClr val="bg1"/>
                          </a:solidFill>
                          <a:latin typeface="+mn-lt"/>
                          <a:ea typeface="+mn-ea"/>
                          <a:cs typeface="+mn-cs"/>
                        </a:rPr>
                        <a:t>super block </a:t>
                      </a:r>
                      <a:endParaRPr lang="en-CA" sz="1600" dirty="0">
                        <a:solidFill>
                          <a:schemeClr val="bg1"/>
                        </a:solidFill>
                      </a:endParaRPr>
                    </a:p>
                  </a:txBody>
                  <a:tcPr/>
                </a:tc>
                <a:tc>
                  <a:txBody>
                    <a:bodyPr/>
                    <a:lstStyle/>
                    <a:p>
                      <a:r>
                        <a:rPr lang="en-CA" sz="1500" b="0" i="0" u="none" strike="noStrike" kern="1200" baseline="0" dirty="0" err="1" smtClean="0">
                          <a:solidFill>
                            <a:schemeClr val="bg1"/>
                          </a:solidFill>
                          <a:latin typeface="Courier New" panose="02070309020205020404" pitchFamily="49" charset="0"/>
                          <a:ea typeface="+mn-ea"/>
                          <a:cs typeface="Courier New" panose="02070309020205020404" pitchFamily="49" charset="0"/>
                        </a:rPr>
                        <a:t>s_creator_os</a:t>
                      </a:r>
                      <a:endParaRPr lang="en-CA" sz="1500" dirty="0">
                        <a:solidFill>
                          <a:schemeClr val="bg1"/>
                        </a:solidFill>
                        <a:latin typeface="Courier New" panose="02070309020205020404" pitchFamily="49" charset="0"/>
                        <a:cs typeface="Courier New" panose="02070309020205020404" pitchFamily="49" charset="0"/>
                      </a:endParaRPr>
                    </a:p>
                  </a:txBody>
                  <a:tcPr/>
                </a:tc>
                <a:tc>
                  <a:txBody>
                    <a:bodyPr/>
                    <a:lstStyle/>
                    <a:p>
                      <a:r>
                        <a:rPr lang="en-CA" sz="1600" b="0" i="0" u="none" strike="noStrike" kern="1200" baseline="0" dirty="0" smtClean="0">
                          <a:solidFill>
                            <a:schemeClr val="bg1"/>
                          </a:solidFill>
                          <a:latin typeface="+mn-lt"/>
                          <a:ea typeface="+mn-ea"/>
                          <a:cs typeface="+mn-cs"/>
                        </a:rPr>
                        <a:t>index out of bound error during OS name lookup</a:t>
                      </a:r>
                    </a:p>
                  </a:txBody>
                  <a:tcPr/>
                </a:tc>
                <a:extLst>
                  <a:ext uri="{0D108BD9-81ED-4DB2-BD59-A6C34878D82A}">
                    <a16:rowId xmlns:a16="http://schemas.microsoft.com/office/drawing/2014/main" xmlns="" val="10001"/>
                  </a:ext>
                </a:extLst>
              </a:tr>
              <a:tr h="370840">
                <a:tc>
                  <a:txBody>
                    <a:bodyPr/>
                    <a:lstStyle/>
                    <a:p>
                      <a:r>
                        <a:rPr lang="en-CA" sz="1600" dirty="0" smtClean="0">
                          <a:solidFill>
                            <a:schemeClr val="bg1"/>
                          </a:solidFill>
                        </a:rPr>
                        <a:t>dump.f2fs</a:t>
                      </a:r>
                      <a:endParaRPr lang="en-CA" sz="1600" dirty="0">
                        <a:solidFill>
                          <a:schemeClr val="bg1"/>
                        </a:solidFill>
                      </a:endParaRPr>
                    </a:p>
                  </a:txBody>
                  <a:tcPr/>
                </a:tc>
                <a:tc>
                  <a:txBody>
                    <a:bodyPr/>
                    <a:lstStyle/>
                    <a:p>
                      <a:r>
                        <a:rPr lang="en-CA" sz="1600" b="0" i="0" u="none" strike="noStrike" kern="1200" baseline="0" dirty="0" smtClean="0">
                          <a:solidFill>
                            <a:schemeClr val="bg1"/>
                          </a:solidFill>
                          <a:latin typeface="+mn-lt"/>
                          <a:ea typeface="+mn-ea"/>
                          <a:cs typeface="+mn-cs"/>
                        </a:rPr>
                        <a:t>super block </a:t>
                      </a:r>
                      <a:endParaRPr lang="en-CA" sz="1600" dirty="0">
                        <a:solidFill>
                          <a:schemeClr val="bg1"/>
                        </a:solidFill>
                      </a:endParaRPr>
                    </a:p>
                  </a:txBody>
                  <a:tcPr/>
                </a:tc>
                <a:tc>
                  <a:txBody>
                    <a:bodyPr/>
                    <a:lstStyle/>
                    <a:p>
                      <a:r>
                        <a:rPr lang="en-CA" sz="1500" b="0" i="0" u="none" strike="noStrike" kern="1200" baseline="0" dirty="0" err="1" smtClean="0">
                          <a:solidFill>
                            <a:schemeClr val="bg1"/>
                          </a:solidFill>
                          <a:latin typeface="Courier New" panose="02070309020205020404" pitchFamily="49" charset="0"/>
                          <a:ea typeface="+mn-ea"/>
                          <a:cs typeface="Courier New" panose="02070309020205020404" pitchFamily="49" charset="0"/>
                        </a:rPr>
                        <a:t>log_blocks_per_seg</a:t>
                      </a:r>
                      <a:r>
                        <a:rPr lang="en-CA" sz="1500" b="0" i="0" u="none" strike="noStrike" kern="1200" baseline="0" dirty="0" smtClean="0">
                          <a:solidFill>
                            <a:schemeClr val="bg1"/>
                          </a:solidFill>
                          <a:latin typeface="Courier New" panose="02070309020205020404" pitchFamily="49" charset="0"/>
                          <a:ea typeface="+mn-ea"/>
                          <a:cs typeface="Courier New" panose="02070309020205020404" pitchFamily="49" charset="0"/>
                        </a:rPr>
                        <a:t> </a:t>
                      </a:r>
                      <a:endParaRPr lang="en-CA" sz="1500" dirty="0">
                        <a:solidFill>
                          <a:schemeClr val="bg1"/>
                        </a:solidFill>
                        <a:latin typeface="Courier New" panose="02070309020205020404" pitchFamily="49" charset="0"/>
                        <a:cs typeface="Courier New" panose="02070309020205020404" pitchFamily="49" charset="0"/>
                      </a:endParaRPr>
                    </a:p>
                  </a:txBody>
                  <a:tcPr/>
                </a:tc>
                <a:tc>
                  <a:txBody>
                    <a:bodyPr/>
                    <a:lstStyle/>
                    <a:p>
                      <a:r>
                        <a:rPr lang="en-CA" sz="1600" b="0" i="0" u="none" strike="noStrike" kern="1200" baseline="0" dirty="0" smtClean="0">
                          <a:solidFill>
                            <a:schemeClr val="bg1"/>
                          </a:solidFill>
                          <a:latin typeface="+mn-lt"/>
                          <a:ea typeface="+mn-ea"/>
                          <a:cs typeface="+mn-cs"/>
                        </a:rPr>
                        <a:t>index out of bound error while building </a:t>
                      </a:r>
                      <a:r>
                        <a:rPr lang="en-CA" sz="1600" b="0" i="0" u="none" strike="noStrike" kern="1200" baseline="0" dirty="0" err="1" smtClean="0">
                          <a:solidFill>
                            <a:schemeClr val="bg1"/>
                          </a:solidFill>
                          <a:latin typeface="+mn-lt"/>
                          <a:ea typeface="+mn-ea"/>
                          <a:cs typeface="+mn-cs"/>
                        </a:rPr>
                        <a:t>nat</a:t>
                      </a:r>
                      <a:r>
                        <a:rPr lang="en-CA" sz="1600" b="0" i="0" u="none" strike="noStrike" kern="1200" baseline="0" dirty="0" smtClean="0">
                          <a:solidFill>
                            <a:schemeClr val="bg1"/>
                          </a:solidFill>
                          <a:latin typeface="+mn-lt"/>
                          <a:ea typeface="+mn-ea"/>
                          <a:cs typeface="+mn-cs"/>
                        </a:rPr>
                        <a:t> bitmap</a:t>
                      </a:r>
                    </a:p>
                  </a:txBody>
                  <a:tcPr/>
                </a:tc>
                <a:extLst>
                  <a:ext uri="{0D108BD9-81ED-4DB2-BD59-A6C34878D82A}">
                    <a16:rowId xmlns:a16="http://schemas.microsoft.com/office/drawing/2014/main" xmlns="" val="10002"/>
                  </a:ext>
                </a:extLst>
              </a:tr>
              <a:tr h="370840">
                <a:tc>
                  <a:txBody>
                    <a:bodyPr/>
                    <a:lstStyle/>
                    <a:p>
                      <a:endParaRPr lang="en-CA" sz="1600" dirty="0">
                        <a:solidFill>
                          <a:schemeClr val="bg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i="0" u="none" strike="noStrike" kern="1200" baseline="0" dirty="0" smtClean="0">
                          <a:solidFill>
                            <a:schemeClr val="bg1"/>
                          </a:solidFill>
                          <a:latin typeface="+mn-lt"/>
                          <a:ea typeface="+mn-ea"/>
                          <a:cs typeface="+mn-cs"/>
                        </a:rPr>
                        <a:t>super block </a:t>
                      </a:r>
                      <a:endParaRPr lang="en-CA" sz="1600" dirty="0" smtClean="0">
                        <a:solidFill>
                          <a:schemeClr val="bg1"/>
                        </a:solidFill>
                      </a:endParaRPr>
                    </a:p>
                    <a:p>
                      <a:endParaRPr lang="en-CA" sz="1600" b="0" i="0" u="none" strike="noStrike" kern="1200" baseline="0" dirty="0" smtClean="0">
                        <a:solidFill>
                          <a:schemeClr val="bg1"/>
                        </a:solidFill>
                        <a:latin typeface="+mn-lt"/>
                        <a:ea typeface="+mn-ea"/>
                        <a:cs typeface="+mn-cs"/>
                      </a:endParaRPr>
                    </a:p>
                  </a:txBody>
                  <a:tcPr/>
                </a:tc>
                <a:tc>
                  <a:txBody>
                    <a:bodyPr/>
                    <a:lstStyle/>
                    <a:p>
                      <a:r>
                        <a:rPr lang="en-CA" sz="1500" b="0" i="0" u="none" strike="noStrike" kern="1200" baseline="0" dirty="0" err="1" smtClean="0">
                          <a:solidFill>
                            <a:schemeClr val="bg1"/>
                          </a:solidFill>
                          <a:latin typeface="Courier New" panose="02070309020205020404" pitchFamily="49" charset="0"/>
                          <a:ea typeface="+mn-ea"/>
                          <a:cs typeface="Courier New" panose="02070309020205020404" pitchFamily="49" charset="0"/>
                        </a:rPr>
                        <a:t>segment_count_main</a:t>
                      </a:r>
                      <a:endParaRPr lang="en-CA" sz="1500" dirty="0">
                        <a:solidFill>
                          <a:schemeClr val="bg1"/>
                        </a:solidFill>
                        <a:latin typeface="Courier New" panose="02070309020205020404" pitchFamily="49" charset="0"/>
                        <a:cs typeface="Courier New" panose="02070309020205020404" pitchFamily="49" charset="0"/>
                      </a:endParaRPr>
                    </a:p>
                  </a:txBody>
                  <a:tcPr/>
                </a:tc>
                <a:tc>
                  <a:txBody>
                    <a:bodyPr/>
                    <a:lstStyle/>
                    <a:p>
                      <a:r>
                        <a:rPr lang="en-CA" sz="1600" b="0" i="0" u="none" strike="noStrike" kern="1200" baseline="0" dirty="0" smtClean="0">
                          <a:solidFill>
                            <a:schemeClr val="bg1"/>
                          </a:solidFill>
                          <a:latin typeface="+mn-lt"/>
                          <a:ea typeface="+mn-ea"/>
                          <a:cs typeface="+mn-cs"/>
                        </a:rPr>
                        <a:t>null pointer dereference after </a:t>
                      </a:r>
                      <a:r>
                        <a:rPr lang="en-CA" sz="1600" b="0" i="0" u="none" strike="noStrike" kern="1200" baseline="0" dirty="0" err="1" smtClean="0">
                          <a:solidFill>
                            <a:schemeClr val="bg1"/>
                          </a:solidFill>
                          <a:latin typeface="+mn-lt"/>
                          <a:ea typeface="+mn-ea"/>
                          <a:cs typeface="+mn-cs"/>
                        </a:rPr>
                        <a:t>calloc</a:t>
                      </a:r>
                      <a:r>
                        <a:rPr lang="en-CA" sz="1600" b="0" i="0" u="none" strike="noStrike" kern="1200" baseline="0" dirty="0" smtClean="0">
                          <a:solidFill>
                            <a:schemeClr val="bg1"/>
                          </a:solidFill>
                          <a:latin typeface="+mn-lt"/>
                          <a:ea typeface="+mn-ea"/>
                          <a:cs typeface="+mn-cs"/>
                        </a:rPr>
                        <a:t> fails</a:t>
                      </a:r>
                    </a:p>
                  </a:txBody>
                  <a:tcPr/>
                </a:tc>
                <a:extLst>
                  <a:ext uri="{0D108BD9-81ED-4DB2-BD59-A6C34878D82A}">
                    <a16:rowId xmlns:a16="http://schemas.microsoft.com/office/drawing/2014/main" xmlns="" val="10003"/>
                  </a:ext>
                </a:extLst>
              </a:tr>
              <a:tr h="370840">
                <a:tc>
                  <a:txBody>
                    <a:bodyPr/>
                    <a:lstStyle/>
                    <a:p>
                      <a:endParaRPr lang="en-CA" sz="1600" dirty="0">
                        <a:solidFill>
                          <a:schemeClr val="bg1"/>
                        </a:solidFill>
                      </a:endParaRPr>
                    </a:p>
                  </a:txBody>
                  <a:tcPr/>
                </a:tc>
                <a:tc>
                  <a:txBody>
                    <a:bodyPr/>
                    <a:lstStyle/>
                    <a:p>
                      <a:r>
                        <a:rPr lang="en-CA" sz="1600" dirty="0" smtClean="0">
                          <a:solidFill>
                            <a:schemeClr val="bg1"/>
                          </a:solidFill>
                        </a:rPr>
                        <a:t>checkpoint</a:t>
                      </a:r>
                      <a:endParaRPr lang="en-CA" sz="1600" dirty="0">
                        <a:solidFill>
                          <a:schemeClr val="bg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0" i="0" u="none" strike="noStrike" kern="1200" baseline="0" dirty="0" err="1" smtClean="0">
                          <a:solidFill>
                            <a:schemeClr val="bg1"/>
                          </a:solidFill>
                          <a:latin typeface="Courier New" panose="02070309020205020404" pitchFamily="49" charset="0"/>
                          <a:ea typeface="+mn-ea"/>
                          <a:cs typeface="Courier New" panose="02070309020205020404" pitchFamily="49" charset="0"/>
                        </a:rPr>
                        <a:t>cp_blkaddr</a:t>
                      </a:r>
                      <a:endParaRPr lang="en-CA" sz="1500" b="0" i="0" u="none" strike="noStrike" kern="1200" baseline="0" dirty="0" smtClean="0">
                        <a:solidFill>
                          <a:schemeClr val="bg1"/>
                        </a:solidFill>
                        <a:latin typeface="Courier New" panose="02070309020205020404" pitchFamily="49" charset="0"/>
                        <a:ea typeface="+mn-ea"/>
                        <a:cs typeface="Courier New" panose="02070309020205020404" pitchFamily="49" charset="0"/>
                      </a:endParaRPr>
                    </a:p>
                  </a:txBody>
                  <a:tcPr/>
                </a:tc>
                <a:tc>
                  <a:txBody>
                    <a:bodyPr/>
                    <a:lstStyle/>
                    <a:p>
                      <a:r>
                        <a:rPr lang="en-CA" sz="1600" b="0" i="0" u="none" strike="noStrike" kern="1200" baseline="0" dirty="0" smtClean="0">
                          <a:solidFill>
                            <a:schemeClr val="bg1"/>
                          </a:solidFill>
                          <a:latin typeface="+mn-lt"/>
                          <a:ea typeface="+mn-ea"/>
                          <a:cs typeface="+mn-cs"/>
                        </a:rPr>
                        <a:t>double free error during error handling</a:t>
                      </a:r>
                      <a:endParaRPr lang="en-CA" sz="1600" dirty="0">
                        <a:solidFill>
                          <a:schemeClr val="bg1"/>
                        </a:solidFill>
                      </a:endParaRPr>
                    </a:p>
                  </a:txBody>
                  <a:tcPr/>
                </a:tc>
                <a:extLst>
                  <a:ext uri="{0D108BD9-81ED-4DB2-BD59-A6C34878D82A}">
                    <a16:rowId xmlns:a16="http://schemas.microsoft.com/office/drawing/2014/main" xmlns="" val="10004"/>
                  </a:ext>
                </a:extLst>
              </a:tr>
              <a:tr h="370840">
                <a:tc>
                  <a:txBody>
                    <a:bodyPr/>
                    <a:lstStyle/>
                    <a:p>
                      <a:endParaRPr lang="en-CA" sz="1600" dirty="0">
                        <a:solidFill>
                          <a:schemeClr val="bg1"/>
                        </a:solidFill>
                      </a:endParaRPr>
                    </a:p>
                  </a:txBody>
                  <a:tcPr/>
                </a:tc>
                <a:tc>
                  <a:txBody>
                    <a:bodyPr/>
                    <a:lstStyle/>
                    <a:p>
                      <a:r>
                        <a:rPr lang="en-CA" sz="1600" b="0" i="0" u="none" strike="noStrike" kern="1200" baseline="0" dirty="0" smtClean="0">
                          <a:solidFill>
                            <a:schemeClr val="bg1"/>
                          </a:solidFill>
                          <a:latin typeface="+mn-lt"/>
                          <a:ea typeface="+mn-ea"/>
                          <a:cs typeface="+mn-cs"/>
                        </a:rPr>
                        <a:t>summary</a:t>
                      </a:r>
                      <a:endParaRPr lang="en-CA" sz="1600" dirty="0">
                        <a:solidFill>
                          <a:schemeClr val="bg1"/>
                        </a:solidFill>
                      </a:endParaRPr>
                    </a:p>
                  </a:txBody>
                  <a:tcPr/>
                </a:tc>
                <a:tc>
                  <a:txBody>
                    <a:bodyPr/>
                    <a:lstStyle/>
                    <a:p>
                      <a:r>
                        <a:rPr lang="en-CA" sz="1500" b="0" i="0" u="none" strike="noStrike" kern="1200" baseline="0" dirty="0" err="1" smtClean="0">
                          <a:solidFill>
                            <a:schemeClr val="bg1"/>
                          </a:solidFill>
                          <a:latin typeface="Courier New" panose="02070309020205020404" pitchFamily="49" charset="0"/>
                          <a:ea typeface="+mn-ea"/>
                          <a:cs typeface="Courier New" panose="02070309020205020404" pitchFamily="49" charset="0"/>
                        </a:rPr>
                        <a:t>n_nats</a:t>
                      </a:r>
                      <a:r>
                        <a:rPr lang="en-CA" sz="1500" b="0" i="0" u="none" strike="noStrike" kern="1200" baseline="0" dirty="0" smtClean="0">
                          <a:solidFill>
                            <a:schemeClr val="bg1"/>
                          </a:solidFill>
                          <a:latin typeface="Courier New" panose="02070309020205020404" pitchFamily="49" charset="0"/>
                          <a:ea typeface="+mn-ea"/>
                          <a:cs typeface="Courier New" panose="02070309020205020404" pitchFamily="49" charset="0"/>
                        </a:rPr>
                        <a:t> </a:t>
                      </a:r>
                      <a:endParaRPr lang="en-CA" sz="1500" dirty="0">
                        <a:solidFill>
                          <a:schemeClr val="bg1"/>
                        </a:solidFill>
                        <a:latin typeface="Courier New" panose="02070309020205020404" pitchFamily="49" charset="0"/>
                        <a:cs typeface="Courier New" panose="02070309020205020404" pitchFamily="49" charset="0"/>
                      </a:endParaRPr>
                    </a:p>
                  </a:txBody>
                  <a:tcPr/>
                </a:tc>
                <a:tc>
                  <a:txBody>
                    <a:bodyPr/>
                    <a:lstStyle/>
                    <a:p>
                      <a:r>
                        <a:rPr lang="en-CA" sz="1600" b="0" i="0" u="none" strike="noStrike" kern="1200" baseline="0" dirty="0" smtClean="0">
                          <a:solidFill>
                            <a:schemeClr val="bg1"/>
                          </a:solidFill>
                          <a:latin typeface="+mn-lt"/>
                          <a:ea typeface="+mn-ea"/>
                          <a:cs typeface="+mn-cs"/>
                        </a:rPr>
                        <a:t>index out of bound error during </a:t>
                      </a:r>
                      <a:r>
                        <a:rPr lang="en-CA" sz="1600" b="0" i="0" u="none" strike="noStrike" kern="1200" baseline="0" dirty="0" err="1" smtClean="0">
                          <a:solidFill>
                            <a:schemeClr val="bg1"/>
                          </a:solidFill>
                          <a:latin typeface="+mn-lt"/>
                          <a:ea typeface="+mn-ea"/>
                          <a:cs typeface="+mn-cs"/>
                        </a:rPr>
                        <a:t>nid</a:t>
                      </a:r>
                      <a:r>
                        <a:rPr lang="en-CA" sz="1600" b="0" i="0" u="none" strike="noStrike" kern="1200" baseline="0" dirty="0" smtClean="0">
                          <a:solidFill>
                            <a:schemeClr val="bg1"/>
                          </a:solidFill>
                          <a:latin typeface="+mn-lt"/>
                          <a:ea typeface="+mn-ea"/>
                          <a:cs typeface="+mn-cs"/>
                        </a:rPr>
                        <a:t> lookup</a:t>
                      </a:r>
                    </a:p>
                  </a:txBody>
                  <a:tcPr/>
                </a:tc>
                <a:extLst>
                  <a:ext uri="{0D108BD9-81ED-4DB2-BD59-A6C34878D82A}">
                    <a16:rowId xmlns:a16="http://schemas.microsoft.com/office/drawing/2014/main" xmlns="" val="10005"/>
                  </a:ext>
                </a:extLst>
              </a:tr>
              <a:tr h="370840">
                <a:tc>
                  <a:txBody>
                    <a:bodyPr/>
                    <a:lstStyle/>
                    <a:p>
                      <a:endParaRPr lang="en-CA" sz="1600" dirty="0">
                        <a:solidFill>
                          <a:schemeClr val="bg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i="0" u="none" strike="noStrike" kern="1200" baseline="0" dirty="0" err="1" smtClean="0">
                          <a:solidFill>
                            <a:schemeClr val="bg1"/>
                          </a:solidFill>
                          <a:latin typeface="+mn-lt"/>
                          <a:ea typeface="+mn-ea"/>
                          <a:cs typeface="+mn-cs"/>
                        </a:rPr>
                        <a:t>inode</a:t>
                      </a:r>
                      <a:endParaRPr lang="en-CA" sz="1600" dirty="0" smtClean="0">
                        <a:solidFill>
                          <a:schemeClr val="bg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0" i="0" u="none" strike="noStrike" kern="1200" baseline="0" dirty="0" err="1" smtClean="0">
                          <a:solidFill>
                            <a:schemeClr val="bg1"/>
                          </a:solidFill>
                          <a:latin typeface="Courier New" panose="02070309020205020404" pitchFamily="49" charset="0"/>
                          <a:ea typeface="+mn-ea"/>
                          <a:cs typeface="Courier New" panose="02070309020205020404" pitchFamily="49" charset="0"/>
                        </a:rPr>
                        <a:t>i_namelen</a:t>
                      </a:r>
                      <a:endParaRPr lang="en-CA" sz="1500" dirty="0" smtClean="0">
                        <a:solidFill>
                          <a:schemeClr val="bg1"/>
                        </a:solidFill>
                        <a:latin typeface="Courier New" panose="02070309020205020404" pitchFamily="49" charset="0"/>
                        <a:cs typeface="Courier New" panose="02070309020205020404" pitchFamily="49" charset="0"/>
                      </a:endParaRPr>
                    </a:p>
                    <a:p>
                      <a:endParaRPr lang="en-CA" sz="1500" dirty="0">
                        <a:solidFill>
                          <a:schemeClr val="bg1"/>
                        </a:solidFill>
                        <a:latin typeface="Courier New" panose="02070309020205020404" pitchFamily="49" charset="0"/>
                        <a:cs typeface="Courier New" panose="02070309020205020404" pitchFamily="49"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i="0" u="none" strike="noStrike" kern="1200" baseline="0" dirty="0" smtClean="0">
                          <a:solidFill>
                            <a:schemeClr val="bg1"/>
                          </a:solidFill>
                          <a:latin typeface="+mn-lt"/>
                          <a:ea typeface="+mn-ea"/>
                          <a:cs typeface="+mn-cs"/>
                        </a:rPr>
                        <a:t>index out of bound error when adding null character to end of name</a:t>
                      </a:r>
                      <a:endParaRPr lang="en-CA" sz="1600" dirty="0" smtClean="0">
                        <a:solidFill>
                          <a:schemeClr val="bg1"/>
                        </a:solidFill>
                      </a:endParaRPr>
                    </a:p>
                  </a:txBody>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5752531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Evaluation: Preferential Caching</a:t>
            </a:r>
            <a:endParaRPr lang="en-CA" dirty="0"/>
          </a:p>
        </p:txBody>
      </p:sp>
      <p:sp>
        <p:nvSpPr>
          <p:cNvPr id="3" name="Content Placeholder 2"/>
          <p:cNvSpPr>
            <a:spLocks noGrp="1"/>
          </p:cNvSpPr>
          <p:nvPr>
            <p:ph idx="1"/>
          </p:nvPr>
        </p:nvSpPr>
        <p:spPr/>
        <p:txBody>
          <a:bodyPr/>
          <a:lstStyle/>
          <a:p>
            <a:r>
              <a:rPr lang="en-CA" smtClean="0"/>
              <a:t>2 identical fileservers running on block layer cache</a:t>
            </a:r>
          </a:p>
          <a:p>
            <a:endParaRPr lang="en-CA" smtClean="0"/>
          </a:p>
          <a:p>
            <a:endParaRPr lang="en-CA" smtClean="0"/>
          </a:p>
          <a:p>
            <a:endParaRPr lang="en-CA" smtClean="0"/>
          </a:p>
          <a:p>
            <a:endParaRPr lang="en-CA" smtClean="0"/>
          </a:p>
          <a:p>
            <a:endParaRPr lang="en-CA" smtClean="0"/>
          </a:p>
          <a:p>
            <a:endParaRPr lang="en-CA" smtClean="0"/>
          </a:p>
          <a:p>
            <a:endParaRPr lang="en-CA" smtClean="0"/>
          </a:p>
          <a:p>
            <a:r>
              <a:rPr lang="en-CA" smtClean="0"/>
              <a:t>Overall performance improves with preferential caching</a:t>
            </a:r>
          </a:p>
          <a:p>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45</a:t>
            </a:fld>
            <a:endParaRPr lang="en-CA" dirty="0"/>
          </a:p>
        </p:txBody>
      </p:sp>
      <p:grpSp>
        <p:nvGrpSpPr>
          <p:cNvPr id="9" name="Group 8"/>
          <p:cNvGrpSpPr/>
          <p:nvPr/>
        </p:nvGrpSpPr>
        <p:grpSpPr>
          <a:xfrm>
            <a:off x="1741437" y="2197876"/>
            <a:ext cx="7477175" cy="3007076"/>
            <a:chOff x="1741437" y="3261749"/>
            <a:chExt cx="7477175" cy="3007076"/>
          </a:xfrm>
        </p:grpSpPr>
        <p:graphicFrame>
          <p:nvGraphicFramePr>
            <p:cNvPr id="6" name="Chart 5"/>
            <p:cNvGraphicFramePr>
              <a:graphicFrameLocks/>
            </p:cNvGraphicFramePr>
            <p:nvPr>
              <p:extLst>
                <p:ext uri="{D42A27DB-BD31-4B8C-83A1-F6EECF244321}">
                  <p14:modId xmlns:p14="http://schemas.microsoft.com/office/powerpoint/2010/main" val="228972012"/>
                </p:ext>
              </p:extLst>
            </p:nvPr>
          </p:nvGraphicFramePr>
          <p:xfrm>
            <a:off x="1741437" y="3271174"/>
            <a:ext cx="7477175" cy="2997651"/>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2"/>
            <p:cNvSpPr txBox="1"/>
            <p:nvPr/>
          </p:nvSpPr>
          <p:spPr>
            <a:xfrm>
              <a:off x="2613536" y="4366649"/>
              <a:ext cx="577402" cy="338554"/>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CA" sz="1600" b="1" u="sng">
                  <a:solidFill>
                    <a:schemeClr val="bg1"/>
                  </a:solidFill>
                </a:rPr>
                <a:t>Btrfs</a:t>
              </a:r>
            </a:p>
          </p:txBody>
        </p:sp>
        <p:sp>
          <p:nvSpPr>
            <p:cNvPr id="8" name="TextBox 4"/>
            <p:cNvSpPr txBox="1"/>
            <p:nvPr/>
          </p:nvSpPr>
          <p:spPr>
            <a:xfrm>
              <a:off x="2613536" y="3261749"/>
              <a:ext cx="583814" cy="338554"/>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CA" sz="1600" b="1" u="sng" dirty="0">
                  <a:solidFill>
                    <a:schemeClr val="bg1"/>
                  </a:solidFill>
                </a:rPr>
                <a:t>Ext4</a:t>
              </a:r>
            </a:p>
          </p:txBody>
        </p:sp>
      </p:grpSp>
    </p:spTree>
    <p:extLst>
      <p:ext uri="{BB962C8B-B14F-4D97-AF65-F5344CB8AC3E}">
        <p14:creationId xmlns:p14="http://schemas.microsoft.com/office/powerpoint/2010/main" val="31978732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FSSUPER Annotation</a:t>
            </a:r>
            <a:endParaRPr lang="en-CA" dirty="0"/>
          </a:p>
        </p:txBody>
      </p:sp>
      <p:sp>
        <p:nvSpPr>
          <p:cNvPr id="3" name="Content Placeholder 2"/>
          <p:cNvSpPr>
            <a:spLocks noGrp="1"/>
          </p:cNvSpPr>
          <p:nvPr>
            <p:ph idx="1"/>
          </p:nvPr>
        </p:nvSpPr>
        <p:spPr>
          <a:xfrm>
            <a:off x="684211" y="1515358"/>
            <a:ext cx="10285797" cy="1589349"/>
          </a:xfrm>
        </p:spPr>
        <p:txBody>
          <a:bodyPr/>
          <a:lstStyle/>
          <a:p>
            <a:r>
              <a:rPr lang="en-CA" dirty="0" smtClean="0"/>
              <a:t>Super block is the root of every file system tree</a:t>
            </a:r>
          </a:p>
          <a:p>
            <a:pPr lvl="1"/>
            <a:r>
              <a:rPr lang="en-CA" dirty="0" smtClean="0"/>
              <a:t>Specified using FSSUPER annotation</a:t>
            </a:r>
          </a:p>
          <a:p>
            <a:pPr lvl="1"/>
            <a:r>
              <a:rPr lang="en-CA" i="1" dirty="0" smtClean="0"/>
              <a:t>location </a:t>
            </a:r>
            <a:r>
              <a:rPr lang="en-CA" dirty="0" smtClean="0"/>
              <a:t>argument specifies </a:t>
            </a:r>
            <a:r>
              <a:rPr lang="en-CA" dirty="0"/>
              <a:t>address in byte offset</a:t>
            </a:r>
          </a:p>
        </p:txBody>
      </p:sp>
      <p:sp>
        <p:nvSpPr>
          <p:cNvPr id="4" name="Slide Number Placeholder 3"/>
          <p:cNvSpPr>
            <a:spLocks noGrp="1"/>
          </p:cNvSpPr>
          <p:nvPr>
            <p:ph type="sldNum" sz="quarter" idx="12"/>
          </p:nvPr>
        </p:nvSpPr>
        <p:spPr/>
        <p:txBody>
          <a:bodyPr/>
          <a:lstStyle/>
          <a:p>
            <a:fld id="{7B2023C8-B124-43A9-8F92-0EEF5BAA9995}" type="slidenum">
              <a:rPr lang="en-CA" smtClean="0"/>
              <a:pPr/>
              <a:t>46</a:t>
            </a:fld>
            <a:endParaRPr lang="en-CA" dirty="0"/>
          </a:p>
        </p:txBody>
      </p:sp>
      <p:sp>
        <p:nvSpPr>
          <p:cNvPr id="6" name="Rectangle 5"/>
          <p:cNvSpPr/>
          <p:nvPr/>
        </p:nvSpPr>
        <p:spPr>
          <a:xfrm>
            <a:off x="950024" y="3027765"/>
            <a:ext cx="6641621" cy="1754326"/>
          </a:xfrm>
          <a:prstGeom prst="rect">
            <a:avLst/>
          </a:prstGeom>
        </p:spPr>
        <p:txBody>
          <a:bodyPr wrap="square">
            <a:spAutoFit/>
          </a:bodyPr>
          <a:lstStyle/>
          <a:p>
            <a:r>
              <a:rPr lang="en-CA" b="1" dirty="0">
                <a:solidFill>
                  <a:schemeClr val="bg1"/>
                </a:solidFill>
                <a:latin typeface="Courier New" panose="02070309020205020404" pitchFamily="49" charset="0"/>
                <a:cs typeface="Courier New" panose="02070309020205020404" pitchFamily="49" charset="0"/>
              </a:rPr>
              <a:t>FSSUPER</a:t>
            </a:r>
            <a:r>
              <a:rPr lang="en-CA" dirty="0">
                <a:solidFill>
                  <a:schemeClr val="bg1"/>
                </a:solidFill>
                <a:latin typeface="Courier New" panose="02070309020205020404" pitchFamily="49" charset="0"/>
                <a:cs typeface="Courier New" panose="02070309020205020404" pitchFamily="49" charset="0"/>
              </a:rPr>
              <a:t>(location=1024) ext4_super_block {</a:t>
            </a:r>
          </a:p>
          <a:p>
            <a:r>
              <a:rPr lang="en-CA" dirty="0">
                <a:solidFill>
                  <a:schemeClr val="bg1"/>
                </a:solidFill>
                <a:latin typeface="Courier New" panose="02070309020205020404" pitchFamily="49" charset="0"/>
                <a:cs typeface="Courier New" panose="02070309020205020404" pitchFamily="49" charset="0"/>
              </a:rPr>
              <a:t>  __le32 </a:t>
            </a:r>
            <a:r>
              <a:rPr lang="en-CA" dirty="0" err="1">
                <a:solidFill>
                  <a:schemeClr val="bg1"/>
                </a:solidFill>
                <a:latin typeface="Courier New" panose="02070309020205020404" pitchFamily="49" charset="0"/>
                <a:cs typeface="Courier New" panose="02070309020205020404" pitchFamily="49" charset="0"/>
              </a:rPr>
              <a:t>s_log_block_size</a:t>
            </a:r>
            <a:r>
              <a:rPr lang="en-CA" dirty="0">
                <a:solidFill>
                  <a:schemeClr val="bg1"/>
                </a:solidFill>
                <a:latin typeface="Courier New" panose="02070309020205020404" pitchFamily="49" charset="0"/>
                <a:cs typeface="Courier New" panose="02070309020205020404" pitchFamily="49" charset="0"/>
              </a:rPr>
              <a:t>;</a:t>
            </a:r>
          </a:p>
          <a:p>
            <a:r>
              <a:rPr lang="en-CA" dirty="0" smtClean="0">
                <a:solidFill>
                  <a:schemeClr val="bg1"/>
                </a:solidFill>
                <a:latin typeface="Courier New" panose="02070309020205020404" pitchFamily="49" charset="0"/>
                <a:cs typeface="Courier New" panose="02070309020205020404" pitchFamily="49" charset="0"/>
              </a:rPr>
              <a:t>  ...</a:t>
            </a:r>
          </a:p>
          <a:p>
            <a:r>
              <a:rPr lang="fr-FR" dirty="0" smtClean="0">
                <a:solidFill>
                  <a:schemeClr val="bg1"/>
                </a:solidFill>
                <a:latin typeface="Courier New" panose="02070309020205020404" pitchFamily="49" charset="0"/>
                <a:cs typeface="Courier New" panose="02070309020205020404" pitchFamily="49" charset="0"/>
              </a:rPr>
              <a:t>  </a:t>
            </a:r>
            <a:r>
              <a:rPr lang="fr-FR" b="1" dirty="0" smtClean="0">
                <a:solidFill>
                  <a:schemeClr val="bg1"/>
                </a:solidFill>
                <a:latin typeface="Courier New" panose="02070309020205020404" pitchFamily="49" charset="0"/>
                <a:cs typeface="Courier New" panose="02070309020205020404" pitchFamily="49" charset="0"/>
              </a:rPr>
              <a:t>POINTER</a:t>
            </a:r>
            <a:r>
              <a:rPr lang="fr-FR" dirty="0" smtClean="0">
                <a:solidFill>
                  <a:schemeClr val="bg1"/>
                </a:solidFill>
                <a:latin typeface="Courier New" panose="02070309020205020404" pitchFamily="49" charset="0"/>
                <a:cs typeface="Courier New" panose="02070309020205020404" pitchFamily="49" charset="0"/>
              </a:rPr>
              <a:t>(</a:t>
            </a:r>
            <a:r>
              <a:rPr lang="fr-FR" dirty="0" err="1" smtClean="0">
                <a:solidFill>
                  <a:schemeClr val="bg1"/>
                </a:solidFill>
                <a:latin typeface="Courier New" panose="02070309020205020404" pitchFamily="49" charset="0"/>
                <a:cs typeface="Courier New" panose="02070309020205020404" pitchFamily="49" charset="0"/>
              </a:rPr>
              <a:t>addrspace</a:t>
            </a:r>
            <a:r>
              <a:rPr lang="fr-FR" dirty="0" smtClean="0">
                <a:solidFill>
                  <a:schemeClr val="bg1"/>
                </a:solidFill>
                <a:latin typeface="Courier New" panose="02070309020205020404" pitchFamily="49" charset="0"/>
                <a:cs typeface="Courier New" panose="02070309020205020404" pitchFamily="49" charset="0"/>
              </a:rPr>
              <a:t>=file</a:t>
            </a:r>
            <a:r>
              <a:rPr lang="fr-FR" dirty="0">
                <a:solidFill>
                  <a:schemeClr val="bg1"/>
                </a:solidFill>
                <a:latin typeface="Courier New" panose="02070309020205020404" pitchFamily="49" charset="0"/>
                <a:cs typeface="Courier New" panose="02070309020205020404" pitchFamily="49" charset="0"/>
              </a:rPr>
              <a:t>, type=ext4_journal)</a:t>
            </a:r>
          </a:p>
          <a:p>
            <a:r>
              <a:rPr lang="fr-FR" dirty="0" smtClean="0">
                <a:solidFill>
                  <a:schemeClr val="bg1"/>
                </a:solidFill>
                <a:latin typeface="Courier New" panose="02070309020205020404" pitchFamily="49" charset="0"/>
                <a:cs typeface="Courier New" panose="02070309020205020404" pitchFamily="49" charset="0"/>
              </a:rPr>
              <a:t>  __</a:t>
            </a:r>
            <a:r>
              <a:rPr lang="fr-FR" dirty="0">
                <a:solidFill>
                  <a:schemeClr val="bg1"/>
                </a:solidFill>
                <a:latin typeface="Courier New" panose="02070309020205020404" pitchFamily="49" charset="0"/>
                <a:cs typeface="Courier New" panose="02070309020205020404" pitchFamily="49" charset="0"/>
              </a:rPr>
              <a:t>le32 </a:t>
            </a:r>
            <a:r>
              <a:rPr lang="fr-FR" dirty="0" err="1">
                <a:solidFill>
                  <a:schemeClr val="bg1"/>
                </a:solidFill>
                <a:latin typeface="Courier New" panose="02070309020205020404" pitchFamily="49" charset="0"/>
                <a:cs typeface="Courier New" panose="02070309020205020404" pitchFamily="49" charset="0"/>
              </a:rPr>
              <a:t>s_journal_inum</a:t>
            </a:r>
            <a:r>
              <a:rPr lang="fr-FR" dirty="0">
                <a:solidFill>
                  <a:schemeClr val="bg1"/>
                </a:solidFill>
                <a:latin typeface="Courier New" panose="02070309020205020404" pitchFamily="49" charset="0"/>
                <a:cs typeface="Courier New" panose="02070309020205020404" pitchFamily="49" charset="0"/>
              </a:rPr>
              <a:t>;</a:t>
            </a:r>
            <a:endParaRPr lang="en-CA" dirty="0" smtClean="0">
              <a:solidFill>
                <a:schemeClr val="bg1"/>
              </a:solidFill>
              <a:latin typeface="Courier New" panose="02070309020205020404" pitchFamily="49" charset="0"/>
              <a:cs typeface="Courier New" panose="02070309020205020404" pitchFamily="49" charset="0"/>
            </a:endParaRPr>
          </a:p>
          <a:p>
            <a:r>
              <a:rPr lang="en-CA" dirty="0" smtClean="0">
                <a:solidFill>
                  <a:schemeClr val="bg1"/>
                </a:solidFill>
                <a:latin typeface="Courier New" panose="02070309020205020404" pitchFamily="49" charset="0"/>
                <a:cs typeface="Courier New" panose="02070309020205020404" pitchFamily="49" charset="0"/>
              </a:rPr>
              <a:t>};</a:t>
            </a:r>
            <a:endParaRPr lang="en-CA" dirty="0">
              <a:solidFill>
                <a:schemeClr val="bg1"/>
              </a:solidFill>
              <a:latin typeface="Courier New" panose="02070309020205020404" pitchFamily="49" charset="0"/>
              <a:cs typeface="Courier New" panose="02070309020205020404" pitchFamily="49" charset="0"/>
            </a:endParaRPr>
          </a:p>
        </p:txBody>
      </p:sp>
      <p:sp>
        <p:nvSpPr>
          <p:cNvPr id="13" name="Rectangle 12"/>
          <p:cNvSpPr/>
          <p:nvPr/>
        </p:nvSpPr>
        <p:spPr>
          <a:xfrm>
            <a:off x="5188490" y="4640965"/>
            <a:ext cx="1006403" cy="847281"/>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dirty="0"/>
          </a:p>
        </p:txBody>
      </p:sp>
      <p:sp>
        <p:nvSpPr>
          <p:cNvPr id="14" name="Rectangle 13"/>
          <p:cNvSpPr/>
          <p:nvPr/>
        </p:nvSpPr>
        <p:spPr>
          <a:xfrm>
            <a:off x="5269568" y="4706134"/>
            <a:ext cx="844247" cy="53352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bg1"/>
                </a:solidFill>
              </a:rPr>
              <a:t>supzer</a:t>
            </a:r>
            <a:r>
              <a:rPr lang="en-US" sz="1600" dirty="0" smtClean="0">
                <a:solidFill>
                  <a:schemeClr val="bg1"/>
                </a:solidFill>
              </a:rPr>
              <a:t> </a:t>
            </a:r>
            <a:r>
              <a:rPr lang="en-US" sz="1600" dirty="0" smtClean="0">
                <a:solidFill>
                  <a:schemeClr val="bg1"/>
                </a:solidFill>
              </a:rPr>
              <a:t>block</a:t>
            </a:r>
            <a:endParaRPr lang="en-US" sz="1600" dirty="0">
              <a:solidFill>
                <a:schemeClr val="bg1"/>
              </a:solidFill>
            </a:endParaRPr>
          </a:p>
        </p:txBody>
      </p:sp>
      <p:sp>
        <p:nvSpPr>
          <p:cNvPr id="16" name="Rectangle 15"/>
          <p:cNvSpPr/>
          <p:nvPr/>
        </p:nvSpPr>
        <p:spPr>
          <a:xfrm>
            <a:off x="7315660" y="4640965"/>
            <a:ext cx="2604519" cy="847281"/>
          </a:xfrm>
          <a:prstGeom prst="rect">
            <a:avLst/>
          </a:prstGeom>
          <a:solidFill>
            <a:schemeClr val="accent5">
              <a:lumMod val="40000"/>
              <a:lumOff val="60000"/>
            </a:schemeClr>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dirty="0">
              <a:solidFill>
                <a:schemeClr val="bg1"/>
              </a:solidFill>
            </a:endParaRPr>
          </a:p>
        </p:txBody>
      </p:sp>
      <p:sp>
        <p:nvSpPr>
          <p:cNvPr id="17" name="Rectangle 16"/>
          <p:cNvSpPr/>
          <p:nvPr/>
        </p:nvSpPr>
        <p:spPr>
          <a:xfrm>
            <a:off x="7387065" y="4706134"/>
            <a:ext cx="1386836" cy="32913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ext4 journal</a:t>
            </a:r>
            <a:endParaRPr lang="en-US" sz="1600" dirty="0">
              <a:solidFill>
                <a:schemeClr val="bg1"/>
              </a:solidFill>
            </a:endParaRPr>
          </a:p>
        </p:txBody>
      </p:sp>
      <p:cxnSp>
        <p:nvCxnSpPr>
          <p:cNvPr id="18" name="Straight Arrow Connector 17"/>
          <p:cNvCxnSpPr>
            <a:stCxn id="13" idx="3"/>
            <a:endCxn id="16" idx="1"/>
          </p:cNvCxnSpPr>
          <p:nvPr/>
        </p:nvCxnSpPr>
        <p:spPr>
          <a:xfrm>
            <a:off x="6194893" y="5064606"/>
            <a:ext cx="1120765" cy="0"/>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219436" y="4640965"/>
            <a:ext cx="1061509" cy="338554"/>
          </a:xfrm>
          <a:prstGeom prst="rect">
            <a:avLst/>
          </a:prstGeom>
          <a:noFill/>
        </p:spPr>
        <p:txBody>
          <a:bodyPr wrap="none" rtlCol="0">
            <a:spAutoFit/>
          </a:bodyPr>
          <a:lstStyle/>
          <a:p>
            <a:r>
              <a:rPr lang="en-CA" sz="1600" i="1" dirty="0">
                <a:solidFill>
                  <a:schemeClr val="bg1"/>
                </a:solidFill>
              </a:rPr>
              <a:t>file </a:t>
            </a:r>
            <a:r>
              <a:rPr lang="en-CA" sz="1600" i="1" dirty="0" err="1">
                <a:solidFill>
                  <a:schemeClr val="bg1"/>
                </a:solidFill>
              </a:rPr>
              <a:t>addr</a:t>
            </a:r>
            <a:r>
              <a:rPr lang="en-CA" sz="1600" i="1" dirty="0">
                <a:solidFill>
                  <a:schemeClr val="bg1"/>
                </a:solidFill>
              </a:rPr>
              <a:t>.</a:t>
            </a:r>
          </a:p>
        </p:txBody>
      </p:sp>
    </p:spTree>
    <p:extLst>
      <p:ext uri="{BB962C8B-B14F-4D97-AF65-F5344CB8AC3E}">
        <p14:creationId xmlns:p14="http://schemas.microsoft.com/office/powerpoint/2010/main" val="660069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F2FS NID Address Space</a:t>
            </a:r>
            <a:endParaRPr lang="en-CA" dirty="0"/>
          </a:p>
        </p:txBody>
      </p:sp>
      <p:sp>
        <p:nvSpPr>
          <p:cNvPr id="3" name="Content Placeholder 2"/>
          <p:cNvSpPr>
            <a:spLocks noGrp="1"/>
          </p:cNvSpPr>
          <p:nvPr>
            <p:ph idx="1"/>
          </p:nvPr>
        </p:nvSpPr>
        <p:spPr/>
        <p:txBody>
          <a:bodyPr/>
          <a:lstStyle/>
          <a:p>
            <a:r>
              <a:rPr lang="en-CA" dirty="0"/>
              <a:t>NID address is an index </a:t>
            </a:r>
            <a:r>
              <a:rPr lang="en-CA" dirty="0" smtClean="0"/>
              <a:t>into the </a:t>
            </a:r>
            <a:r>
              <a:rPr lang="en-CA" dirty="0"/>
              <a:t>node address table for an </a:t>
            </a:r>
            <a:r>
              <a:rPr lang="en-CA" dirty="0" smtClean="0"/>
              <a:t/>
            </a:r>
            <a:br>
              <a:rPr lang="en-CA" dirty="0" smtClean="0"/>
            </a:br>
            <a:r>
              <a:rPr lang="en-CA" dirty="0" smtClean="0"/>
              <a:t>F2FS </a:t>
            </a:r>
            <a:r>
              <a:rPr lang="en-CA" dirty="0"/>
              <a:t>metadata </a:t>
            </a:r>
            <a:r>
              <a:rPr lang="en-CA" dirty="0" smtClean="0"/>
              <a:t>block</a:t>
            </a:r>
            <a:endParaRPr lang="en-CA" dirty="0"/>
          </a:p>
        </p:txBody>
      </p:sp>
      <p:sp>
        <p:nvSpPr>
          <p:cNvPr id="4" name="Slide Number Placeholder 3"/>
          <p:cNvSpPr>
            <a:spLocks noGrp="1"/>
          </p:cNvSpPr>
          <p:nvPr>
            <p:ph type="sldNum" sz="quarter" idx="12"/>
          </p:nvPr>
        </p:nvSpPr>
        <p:spPr/>
        <p:txBody>
          <a:bodyPr/>
          <a:lstStyle/>
          <a:p>
            <a:fld id="{7B2023C8-B124-43A9-8F92-0EEF5BAA9995}" type="slidenum">
              <a:rPr lang="en-CA" smtClean="0"/>
              <a:pPr/>
              <a:t>47</a:t>
            </a:fld>
            <a:endParaRPr lang="en-CA" dirty="0"/>
          </a:p>
        </p:txBody>
      </p:sp>
    </p:spTree>
    <p:extLst>
      <p:ext uri="{BB962C8B-B14F-4D97-AF65-F5344CB8AC3E}">
        <p14:creationId xmlns:p14="http://schemas.microsoft.com/office/powerpoint/2010/main" val="228428297"/>
      </p:ext>
    </p:extLst>
  </p:cSld>
  <p:clrMapOvr>
    <a:masterClrMapping/>
  </p:clrMapOvr>
</p:sld>
</file>

<file path=ppt/theme/theme1.xml><?xml version="1.0" encoding="utf-8"?>
<a:theme xmlns:a="http://schemas.openxmlformats.org/drawingml/2006/main" name="Slice">
  <a:themeElements>
    <a:clrScheme name="University of Toronto">
      <a:dk1>
        <a:srgbClr val="000000"/>
      </a:dk1>
      <a:lt1>
        <a:srgbClr val="FFFFFF"/>
      </a:lt1>
      <a:dk2>
        <a:srgbClr val="ACE9F8"/>
      </a:dk2>
      <a:lt2>
        <a:srgbClr val="0F486F"/>
      </a:lt2>
      <a:accent1>
        <a:srgbClr val="062958"/>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3656</TotalTime>
  <Words>6399</Words>
  <Application>Microsoft Office PowerPoint</Application>
  <PresentationFormat>Widescreen</PresentationFormat>
  <Paragraphs>857</Paragraphs>
  <Slides>47</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微軟正黑體</vt:lpstr>
      <vt:lpstr>Calibri</vt:lpstr>
      <vt:lpstr>Century Gothic</vt:lpstr>
      <vt:lpstr>Courier New</vt:lpstr>
      <vt:lpstr>Wingdings 3</vt:lpstr>
      <vt:lpstr>Slice</vt:lpstr>
      <vt:lpstr>Spiffy: Enabling File-System Aware Storage Applications </vt:lpstr>
      <vt:lpstr>Introduction</vt:lpstr>
      <vt:lpstr>Problem</vt:lpstr>
      <vt:lpstr>Root Cause</vt:lpstr>
      <vt:lpstr>Goals</vt:lpstr>
      <vt:lpstr>Approach: Spiffy Framework</vt:lpstr>
      <vt:lpstr>Specifying Format</vt:lpstr>
      <vt:lpstr>Generating Library</vt:lpstr>
      <vt:lpstr> Building Applications</vt:lpstr>
      <vt:lpstr>Talk Outline</vt:lpstr>
      <vt:lpstr>Need for Annotations</vt:lpstr>
      <vt:lpstr>Need for Annotations</vt:lpstr>
      <vt:lpstr>Pointer Annotations</vt:lpstr>
      <vt:lpstr>Pointer Address Space</vt:lpstr>
      <vt:lpstr>Block Address Space</vt:lpstr>
      <vt:lpstr>File Address Space</vt:lpstr>
      <vt:lpstr>Missing Pointer</vt:lpstr>
      <vt:lpstr>Implicit Pointer</vt:lpstr>
      <vt:lpstr>Context-Sensitive Types</vt:lpstr>
      <vt:lpstr>Check Annotations</vt:lpstr>
      <vt:lpstr>Generating Spiffy Library</vt:lpstr>
      <vt:lpstr>Evaluation: Annotation Effort</vt:lpstr>
      <vt:lpstr>Building Applications</vt:lpstr>
      <vt:lpstr>Manually-Written Application</vt:lpstr>
      <vt:lpstr>Manually-Written Application</vt:lpstr>
      <vt:lpstr>Manually-Written Application</vt:lpstr>
      <vt:lpstr>Application Using Spiffy Library</vt:lpstr>
      <vt:lpstr>Application Using Spiffy Library</vt:lpstr>
      <vt:lpstr>Application Using Spiffy Library</vt:lpstr>
      <vt:lpstr>Spiffy Application for Btrfs</vt:lpstr>
      <vt:lpstr>Spiffy Applications</vt:lpstr>
      <vt:lpstr>Type-Specific File System Corruptor</vt:lpstr>
      <vt:lpstr>File System Conversion Tool</vt:lpstr>
      <vt:lpstr>Evaluation: Ext4 to F2FS Converter</vt:lpstr>
      <vt:lpstr>File-system Aware Block Layer Cache</vt:lpstr>
      <vt:lpstr>Conclusion</vt:lpstr>
      <vt:lpstr>Spiffy: Enabling File-System Aware Storage Applications </vt:lpstr>
      <vt:lpstr>Spiffy API (C++)</vt:lpstr>
      <vt:lpstr>File-System Agnostic Traversal</vt:lpstr>
      <vt:lpstr>File-System Agnostic Traversal</vt:lpstr>
      <vt:lpstr>File-System Agnostic Traversal</vt:lpstr>
      <vt:lpstr>File-System Agnostic Traversal</vt:lpstr>
      <vt:lpstr>Evaluation: Programming Effort</vt:lpstr>
      <vt:lpstr>Evaluation: Corruption Experiment</vt:lpstr>
      <vt:lpstr>Evaluation: Preferential Caching</vt:lpstr>
      <vt:lpstr>FSSUPER Annotation</vt:lpstr>
      <vt:lpstr>F2FS NID Address Space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Jack Sun</dc:creator>
  <cp:lastModifiedBy>Jack Sun</cp:lastModifiedBy>
  <cp:revision>406</cp:revision>
  <dcterms:created xsi:type="dcterms:W3CDTF">2018-01-30T09:02:25Z</dcterms:created>
  <dcterms:modified xsi:type="dcterms:W3CDTF">2018-02-10T20:19:59Z</dcterms:modified>
</cp:coreProperties>
</file>