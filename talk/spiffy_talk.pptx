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60" r:id="rId1"/>
  </p:sldMasterIdLst>
  <p:notesMasterIdLst>
    <p:notesMasterId r:id="rId36"/>
  </p:notesMasterIdLst>
  <p:sldIdLst>
    <p:sldId id="256" r:id="rId2"/>
    <p:sldId id="288" r:id="rId3"/>
    <p:sldId id="290" r:id="rId4"/>
    <p:sldId id="289" r:id="rId5"/>
    <p:sldId id="291" r:id="rId6"/>
    <p:sldId id="309" r:id="rId7"/>
    <p:sldId id="293" r:id="rId8"/>
    <p:sldId id="294" r:id="rId9"/>
    <p:sldId id="295" r:id="rId10"/>
    <p:sldId id="301" r:id="rId11"/>
    <p:sldId id="308" r:id="rId12"/>
    <p:sldId id="298" r:id="rId13"/>
    <p:sldId id="300" r:id="rId14"/>
    <p:sldId id="283" r:id="rId15"/>
    <p:sldId id="302" r:id="rId16"/>
    <p:sldId id="307" r:id="rId17"/>
    <p:sldId id="303" r:id="rId18"/>
    <p:sldId id="304" r:id="rId19"/>
    <p:sldId id="305" r:id="rId20"/>
    <p:sldId id="306" r:id="rId21"/>
    <p:sldId id="266" r:id="rId22"/>
    <p:sldId id="269" r:id="rId23"/>
    <p:sldId id="270" r:id="rId24"/>
    <p:sldId id="271" r:id="rId25"/>
    <p:sldId id="268" r:id="rId26"/>
    <p:sldId id="267" r:id="rId27"/>
    <p:sldId id="279" r:id="rId28"/>
    <p:sldId id="280" r:id="rId29"/>
    <p:sldId id="259" r:id="rId30"/>
    <p:sldId id="281" r:id="rId31"/>
    <p:sldId id="261" r:id="rId32"/>
    <p:sldId id="258" r:id="rId33"/>
    <p:sldId id="260" r:id="rId34"/>
    <p:sldId id="297" r:id="rId3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86076" autoAdjust="0"/>
  </p:normalViewPr>
  <p:slideViewPr>
    <p:cSldViewPr snapToGrid="0">
      <p:cViewPr varScale="1">
        <p:scale>
          <a:sx n="60" d="100"/>
          <a:sy n="60" d="100"/>
        </p:scale>
        <p:origin x="96" y="7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presProps" Target="presProps.xml"/><Relationship Id="rId40"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s>
</file>

<file path=ppt/charts/_rels/chart1.xml.rels><?xml version="1.0" encoding="UTF-8" standalone="yes"?>
<Relationships xmlns="http://schemas.openxmlformats.org/package/2006/relationships"><Relationship Id="rId3" Type="http://schemas.openxmlformats.org/officeDocument/2006/relationships/oleObject" Target="file:///E:\home\fishy\Documents\Research\fast-2018\caching-result-stacked.xlsx" TargetMode="External"/><Relationship Id="rId2" Type="http://schemas.microsoft.com/office/2011/relationships/chartColorStyle" Target="colors1.xml"/><Relationship Id="rId1" Type="http://schemas.microsoft.com/office/2011/relationships/chartStyle" Target="style1.xml"/></Relationships>
</file>

<file path=ppt/charts/chart1.xml><?xml version="1.0" encoding="utf-8"?>
<c:chartSpace xmlns:c="http://schemas.openxmlformats.org/drawingml/2006/chart" xmlns:a="http://schemas.openxmlformats.org/drawingml/2006/main" xmlns:r="http://schemas.openxmlformats.org/officeDocument/2006/relationships">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61083692839279813"/>
          <c:y val="5.1192544430694563E-2"/>
          <c:w val="0.33184206060008237"/>
          <c:h val="0.72176687201094358"/>
        </c:manualLayout>
      </c:layout>
      <c:barChart>
        <c:barDir val="bar"/>
        <c:grouping val="stacked"/>
        <c:varyColors val="0"/>
        <c:ser>
          <c:idx val="0"/>
          <c:order val="0"/>
          <c:tx>
            <c:strRef>
              <c:f>Sheet1!$C$1</c:f>
              <c:strCache>
                <c:ptCount val="1"/>
                <c:pt idx="0">
                  <c:v>Fileserver A</c:v>
                </c:pt>
              </c:strCache>
            </c:strRef>
          </c:tx>
          <c:spPr>
            <a:solidFill>
              <a:schemeClr val="accent5">
                <a:lumMod val="40000"/>
                <a:lumOff val="60000"/>
              </a:schemeClr>
            </a:solidFill>
            <a:ln>
              <a:solidFill>
                <a:schemeClr val="bg1"/>
              </a:solidFill>
            </a:ln>
            <a:effectLst/>
          </c:spPr>
          <c:invertIfNegative val="0"/>
          <c:errBars>
            <c:errBarType val="both"/>
            <c:errValType val="cust"/>
            <c:noEndCap val="0"/>
            <c:plus>
              <c:numRef>
                <c:f>Sheet1!$H$2:$H$8</c:f>
                <c:numCache>
                  <c:formatCode>General</c:formatCode>
                  <c:ptCount val="7"/>
                  <c:pt idx="0">
                    <c:v>86.899646070000003</c:v>
                  </c:pt>
                  <c:pt idx="1">
                    <c:v>47.026277149999999</c:v>
                  </c:pt>
                  <c:pt idx="2">
                    <c:v>98.939352290000002</c:v>
                  </c:pt>
                  <c:pt idx="4">
                    <c:v>74.579070639999998</c:v>
                  </c:pt>
                  <c:pt idx="5">
                    <c:v>56.259226890000001</c:v>
                  </c:pt>
                  <c:pt idx="6">
                    <c:v>108.2791673</c:v>
                  </c:pt>
                </c:numCache>
              </c:numRef>
            </c:plus>
            <c:minus>
              <c:numRef>
                <c:f>Sheet1!$H$2:$H$8</c:f>
                <c:numCache>
                  <c:formatCode>General</c:formatCode>
                  <c:ptCount val="7"/>
                  <c:pt idx="0">
                    <c:v>86.899646070000003</c:v>
                  </c:pt>
                  <c:pt idx="1">
                    <c:v>47.026277149999999</c:v>
                  </c:pt>
                  <c:pt idx="2">
                    <c:v>98.939352290000002</c:v>
                  </c:pt>
                  <c:pt idx="4">
                    <c:v>74.579070639999998</c:v>
                  </c:pt>
                  <c:pt idx="5">
                    <c:v>56.259226890000001</c:v>
                  </c:pt>
                  <c:pt idx="6">
                    <c:v>108.2791673</c:v>
                  </c:pt>
                </c:numCache>
              </c:numRef>
            </c:minus>
            <c:spPr>
              <a:noFill/>
              <a:ln w="9525" cap="flat" cmpd="sng" algn="ctr">
                <a:solidFill>
                  <a:schemeClr val="bg1"/>
                </a:solidFill>
                <a:round/>
              </a:ln>
              <a:effectLst/>
            </c:spPr>
          </c:errBars>
          <c:cat>
            <c:strRef>
              <c:f>Sheet1!$B$2:$B$8</c:f>
              <c:strCache>
                <c:ptCount val="7"/>
                <c:pt idx="0">
                  <c:v>Fileserver A + Fileserver B, A is preferred</c:v>
                </c:pt>
                <c:pt idx="1">
                  <c:v>Fileserver A + Fileserver B, no preference</c:v>
                </c:pt>
                <c:pt idx="2">
                  <c:v>Fileserver A, alone</c:v>
                </c:pt>
                <c:pt idx="4">
                  <c:v>Fileserver A + Fileserver B, A is preferred</c:v>
                </c:pt>
                <c:pt idx="5">
                  <c:v>Fileserver A + Fileserver B, no preference</c:v>
                </c:pt>
                <c:pt idx="6">
                  <c:v>Fileserver A, alone</c:v>
                </c:pt>
              </c:strCache>
            </c:strRef>
          </c:cat>
          <c:val>
            <c:numRef>
              <c:f>Sheet1!$C$2:$C$8</c:f>
              <c:numCache>
                <c:formatCode>General</c:formatCode>
                <c:ptCount val="7"/>
                <c:pt idx="0">
                  <c:v>1904.855278</c:v>
                </c:pt>
                <c:pt idx="1">
                  <c:v>1227.2180559999999</c:v>
                </c:pt>
                <c:pt idx="2">
                  <c:v>2831.1577779999998</c:v>
                </c:pt>
                <c:pt idx="4">
                  <c:v>1472.7113890000001</c:v>
                </c:pt>
                <c:pt idx="5">
                  <c:v>941.54666669999995</c:v>
                </c:pt>
                <c:pt idx="6">
                  <c:v>2555.018333</c:v>
                </c:pt>
              </c:numCache>
            </c:numRef>
          </c:val>
          <c:extLst xmlns:c16r2="http://schemas.microsoft.com/office/drawing/2015/06/chart">
            <c:ext xmlns:c16="http://schemas.microsoft.com/office/drawing/2014/chart" uri="{C3380CC4-5D6E-409C-BE32-E72D297353CC}">
              <c16:uniqueId val="{00000000-23D3-4E46-9757-6E0B39AF495B}"/>
            </c:ext>
          </c:extLst>
        </c:ser>
        <c:ser>
          <c:idx val="1"/>
          <c:order val="1"/>
          <c:tx>
            <c:strRef>
              <c:f>Sheet1!$D$1</c:f>
              <c:strCache>
                <c:ptCount val="1"/>
                <c:pt idx="0">
                  <c:v>Fileserver B</c:v>
                </c:pt>
              </c:strCache>
            </c:strRef>
          </c:tx>
          <c:spPr>
            <a:solidFill>
              <a:schemeClr val="accent3"/>
            </a:solidFill>
            <a:ln>
              <a:solidFill>
                <a:schemeClr val="bg1"/>
              </a:solidFill>
            </a:ln>
            <a:effectLst/>
          </c:spPr>
          <c:invertIfNegative val="0"/>
          <c:errBars>
            <c:errBarType val="both"/>
            <c:errValType val="cust"/>
            <c:noEndCap val="0"/>
            <c:plus>
              <c:numRef>
                <c:f>Sheet1!$I$2:$I$8</c:f>
                <c:numCache>
                  <c:formatCode>General</c:formatCode>
                  <c:ptCount val="7"/>
                  <c:pt idx="0">
                    <c:v>46.519010110000004</c:v>
                  </c:pt>
                  <c:pt idx="1">
                    <c:v>46.575578360000002</c:v>
                  </c:pt>
                  <c:pt idx="2">
                    <c:v>0</c:v>
                  </c:pt>
                  <c:pt idx="4">
                    <c:v>25.918389650000002</c:v>
                  </c:pt>
                  <c:pt idx="5">
                    <c:v>56.659710339999997</c:v>
                  </c:pt>
                  <c:pt idx="6">
                    <c:v>0</c:v>
                  </c:pt>
                </c:numCache>
              </c:numRef>
            </c:plus>
            <c:minus>
              <c:numRef>
                <c:f>Sheet1!$I$2:$I$8</c:f>
                <c:numCache>
                  <c:formatCode>General</c:formatCode>
                  <c:ptCount val="7"/>
                  <c:pt idx="0">
                    <c:v>46.519010110000004</c:v>
                  </c:pt>
                  <c:pt idx="1">
                    <c:v>46.575578360000002</c:v>
                  </c:pt>
                  <c:pt idx="2">
                    <c:v>0</c:v>
                  </c:pt>
                  <c:pt idx="4">
                    <c:v>25.918389650000002</c:v>
                  </c:pt>
                  <c:pt idx="5">
                    <c:v>56.659710339999997</c:v>
                  </c:pt>
                  <c:pt idx="6">
                    <c:v>0</c:v>
                  </c:pt>
                </c:numCache>
              </c:numRef>
            </c:minus>
            <c:spPr>
              <a:noFill/>
              <a:ln w="9525" cap="flat" cmpd="sng" algn="ctr">
                <a:solidFill>
                  <a:schemeClr val="bg1"/>
                </a:solidFill>
                <a:round/>
              </a:ln>
              <a:effectLst/>
            </c:spPr>
          </c:errBars>
          <c:cat>
            <c:strRef>
              <c:f>Sheet1!$B$2:$B$8</c:f>
              <c:strCache>
                <c:ptCount val="7"/>
                <c:pt idx="0">
                  <c:v>Fileserver A + Fileserver B, A is preferred</c:v>
                </c:pt>
                <c:pt idx="1">
                  <c:v>Fileserver A + Fileserver B, no preference</c:v>
                </c:pt>
                <c:pt idx="2">
                  <c:v>Fileserver A, alone</c:v>
                </c:pt>
                <c:pt idx="4">
                  <c:v>Fileserver A + Fileserver B, A is preferred</c:v>
                </c:pt>
                <c:pt idx="5">
                  <c:v>Fileserver A + Fileserver B, no preference</c:v>
                </c:pt>
                <c:pt idx="6">
                  <c:v>Fileserver A, alone</c:v>
                </c:pt>
              </c:strCache>
            </c:strRef>
          </c:cat>
          <c:val>
            <c:numRef>
              <c:f>Sheet1!$D$2:$D$8</c:f>
              <c:numCache>
                <c:formatCode>General</c:formatCode>
                <c:ptCount val="7"/>
                <c:pt idx="0">
                  <c:v>893.80499999999995</c:v>
                </c:pt>
                <c:pt idx="1">
                  <c:v>1227.6741669999999</c:v>
                </c:pt>
                <c:pt idx="2">
                  <c:v>0</c:v>
                </c:pt>
                <c:pt idx="4">
                  <c:v>807.45833330000005</c:v>
                </c:pt>
                <c:pt idx="5">
                  <c:v>930.94916669999998</c:v>
                </c:pt>
                <c:pt idx="6">
                  <c:v>0</c:v>
                </c:pt>
              </c:numCache>
            </c:numRef>
          </c:val>
          <c:extLst xmlns:c16r2="http://schemas.microsoft.com/office/drawing/2015/06/chart">
            <c:ext xmlns:c16="http://schemas.microsoft.com/office/drawing/2014/chart" uri="{C3380CC4-5D6E-409C-BE32-E72D297353CC}">
              <c16:uniqueId val="{00000001-23D3-4E46-9757-6E0B39AF495B}"/>
            </c:ext>
          </c:extLst>
        </c:ser>
        <c:dLbls>
          <c:showLegendKey val="0"/>
          <c:showVal val="0"/>
          <c:showCatName val="0"/>
          <c:showSerName val="0"/>
          <c:showPercent val="0"/>
          <c:showBubbleSize val="0"/>
        </c:dLbls>
        <c:gapWidth val="20"/>
        <c:overlap val="100"/>
        <c:axId val="285353376"/>
        <c:axId val="285354552"/>
      </c:barChart>
      <c:catAx>
        <c:axId val="285353376"/>
        <c:scaling>
          <c:orientation val="minMax"/>
        </c:scaling>
        <c:delete val="0"/>
        <c:axPos val="l"/>
        <c:numFmt formatCode="General" sourceLinked="1"/>
        <c:majorTickMark val="none"/>
        <c:minorTickMark val="none"/>
        <c:tickLblPos val="nextTo"/>
        <c:spPr>
          <a:noFill/>
          <a:ln w="9525" cap="flat" cmpd="sng" algn="ctr">
            <a:solidFill>
              <a:schemeClr val="bg1"/>
            </a:solidFill>
            <a:round/>
          </a:ln>
          <a:effectLst/>
        </c:spPr>
        <c:txPr>
          <a:bodyPr rot="-60000000" spcFirstLastPara="1" vertOverflow="ellipsis" vert="horz" wrap="square" anchor="ctr" anchorCtr="1"/>
          <a:lstStyle/>
          <a:p>
            <a:pPr>
              <a:defRPr sz="1400" b="0" i="0" u="none" strike="noStrike" kern="1200" baseline="0">
                <a:solidFill>
                  <a:schemeClr val="bg1"/>
                </a:solidFill>
                <a:latin typeface="+mn-lt"/>
                <a:ea typeface="+mn-ea"/>
                <a:cs typeface="+mn-cs"/>
              </a:defRPr>
            </a:pPr>
            <a:endParaRPr lang="en-US"/>
          </a:p>
        </c:txPr>
        <c:crossAx val="285354552"/>
        <c:crosses val="autoZero"/>
        <c:auto val="1"/>
        <c:lblAlgn val="ctr"/>
        <c:lblOffset val="100"/>
        <c:noMultiLvlLbl val="1"/>
      </c:catAx>
      <c:valAx>
        <c:axId val="285354552"/>
        <c:scaling>
          <c:orientation val="minMax"/>
          <c:max val="3000"/>
        </c:scaling>
        <c:delete val="0"/>
        <c:axPos val="b"/>
        <c:majorGridlines>
          <c:spPr>
            <a:ln w="9525" cap="flat" cmpd="sng" algn="ctr">
              <a:solidFill>
                <a:schemeClr val="bg1"/>
              </a:solidFill>
              <a:round/>
            </a:ln>
            <a:effectLst/>
          </c:spPr>
        </c:majorGridlines>
        <c:title>
          <c:tx>
            <c:rich>
              <a:bodyPr rot="0" spcFirstLastPara="1" vertOverflow="ellipsis" vert="horz" wrap="square" anchor="ctr" anchorCtr="1"/>
              <a:lstStyle/>
              <a:p>
                <a:pPr>
                  <a:defRPr sz="1400" b="0" i="0" u="none" strike="noStrike" kern="1200" baseline="0">
                    <a:solidFill>
                      <a:schemeClr val="bg1"/>
                    </a:solidFill>
                    <a:latin typeface="+mn-lt"/>
                    <a:ea typeface="+mn-ea"/>
                    <a:cs typeface="+mn-cs"/>
                  </a:defRPr>
                </a:pPr>
                <a:r>
                  <a:rPr lang="en-US"/>
                  <a:t>ops/s</a:t>
                </a:r>
              </a:p>
            </c:rich>
          </c:tx>
          <c:layout/>
          <c:overlay val="0"/>
          <c:spPr>
            <a:noFill/>
            <a:ln>
              <a:noFill/>
            </a:ln>
            <a:effectLst/>
          </c:spPr>
          <c:txPr>
            <a:bodyPr rot="0" spcFirstLastPara="1" vertOverflow="ellipsis" vert="horz" wrap="square" anchor="ctr" anchorCtr="1"/>
            <a:lstStyle/>
            <a:p>
              <a:pPr>
                <a:defRPr sz="1400" b="0" i="0" u="none" strike="noStrike" kern="1200" baseline="0">
                  <a:solidFill>
                    <a:schemeClr val="bg1"/>
                  </a:solidFill>
                  <a:latin typeface="+mn-lt"/>
                  <a:ea typeface="+mn-ea"/>
                  <a:cs typeface="+mn-cs"/>
                </a:defRPr>
              </a:pPr>
              <a:endParaRPr lang="en-US"/>
            </a:p>
          </c:txPr>
        </c:title>
        <c:numFmt formatCode="General" sourceLinked="1"/>
        <c:majorTickMark val="none"/>
        <c:minorTickMark val="out"/>
        <c:tickLblPos val="nextTo"/>
        <c:spPr>
          <a:noFill/>
          <a:ln>
            <a:solidFill>
              <a:schemeClr val="accent1"/>
            </a:solidFill>
          </a:ln>
          <a:effectLst/>
        </c:spPr>
        <c:txPr>
          <a:bodyPr rot="-60000000" spcFirstLastPara="1" vertOverflow="ellipsis" vert="horz" wrap="square" anchor="ctr" anchorCtr="1"/>
          <a:lstStyle/>
          <a:p>
            <a:pPr>
              <a:defRPr sz="1400" b="0" i="0" u="none" strike="noStrike" kern="1200" baseline="0">
                <a:solidFill>
                  <a:schemeClr val="bg1"/>
                </a:solidFill>
                <a:latin typeface="+mn-lt"/>
                <a:ea typeface="+mn-ea"/>
                <a:cs typeface="+mn-cs"/>
              </a:defRPr>
            </a:pPr>
            <a:endParaRPr lang="en-US"/>
          </a:p>
        </c:txPr>
        <c:crossAx val="285353376"/>
        <c:crosses val="autoZero"/>
        <c:crossBetween val="between"/>
        <c:majorUnit val="1000"/>
        <c:minorUnit val="500"/>
      </c:valAx>
      <c:spPr>
        <a:noFill/>
        <a:ln>
          <a:solidFill>
            <a:schemeClr val="bg1"/>
          </a:solidFill>
        </a:ln>
        <a:effectLst/>
      </c:spPr>
    </c:plotArea>
    <c:legend>
      <c:legendPos val="b"/>
      <c:layout>
        <c:manualLayout>
          <c:xMode val="edge"/>
          <c:yMode val="edge"/>
          <c:x val="0.14225519748408696"/>
          <c:y val="0.85034517406747667"/>
          <c:w val="0.39392809687657754"/>
          <c:h val="8.9154546150793379E-2"/>
        </c:manualLayout>
      </c:layout>
      <c:overlay val="0"/>
      <c:spPr>
        <a:noFill/>
        <a:ln>
          <a:noFill/>
        </a:ln>
        <a:effectLst/>
      </c:spPr>
      <c:txPr>
        <a:bodyPr rot="0" spcFirstLastPara="1" vertOverflow="ellipsis" vert="horz" wrap="square" anchor="ctr" anchorCtr="1"/>
        <a:lstStyle/>
        <a:p>
          <a:pPr>
            <a:defRPr sz="1400" b="0" i="0" u="none" strike="noStrike" kern="1200" baseline="0">
              <a:solidFill>
                <a:schemeClr val="bg1"/>
              </a:solidFill>
              <a:latin typeface="+mn-lt"/>
              <a:ea typeface="+mn-ea"/>
              <a:cs typeface="+mn-cs"/>
            </a:defRPr>
          </a:pPr>
          <a:endParaRPr lang="en-US"/>
        </a:p>
      </c:txPr>
    </c:legend>
    <c:plotVisOnly val="1"/>
    <c:dispBlanksAs val="gap"/>
    <c:showDLblsOverMax val="0"/>
  </c:chart>
  <c:spPr>
    <a:noFill/>
    <a:ln>
      <a:noFill/>
    </a:ln>
    <a:effectLst/>
  </c:spPr>
  <c:txPr>
    <a:bodyPr/>
    <a:lstStyle/>
    <a:p>
      <a:pPr>
        <a:defRPr sz="1400">
          <a:solidFill>
            <a:schemeClr val="bg1"/>
          </a:solidFill>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368C5AD-71DD-4EC0-A413-C51DC95DD2ED}" type="datetimeFigureOut">
              <a:rPr lang="en-CA" smtClean="0"/>
              <a:t>2018-02-06</a:t>
            </a:fld>
            <a:endParaRPr lang="en-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5B5BF96-4013-477F-9949-176AD53AFF60}" type="slidenum">
              <a:rPr lang="en-CA" smtClean="0"/>
              <a:t>‹#›</a:t>
            </a:fld>
            <a:endParaRPr lang="en-CA"/>
          </a:p>
        </p:txBody>
      </p:sp>
    </p:spTree>
    <p:extLst>
      <p:ext uri="{BB962C8B-B14F-4D97-AF65-F5344CB8AC3E}">
        <p14:creationId xmlns:p14="http://schemas.microsoft.com/office/powerpoint/2010/main" val="276522190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10"/>
          </p:nvPr>
        </p:nvSpPr>
        <p:spPr/>
        <p:txBody>
          <a:bodyPr/>
          <a:lstStyle/>
          <a:p>
            <a:fld id="{B5B5BF96-4013-477F-9949-176AD53AFF60}" type="slidenum">
              <a:rPr lang="en-CA" smtClean="0"/>
              <a:t>1</a:t>
            </a:fld>
            <a:endParaRPr lang="en-CA"/>
          </a:p>
        </p:txBody>
      </p:sp>
    </p:spTree>
    <p:extLst>
      <p:ext uri="{BB962C8B-B14F-4D97-AF65-F5344CB8AC3E}">
        <p14:creationId xmlns:p14="http://schemas.microsoft.com/office/powerpoint/2010/main" val="287164242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sp>
      <p:sp>
        <p:nvSpPr>
          <p:cNvPr id="3" name="Notes Placeholder 2"/>
          <p:cNvSpPr>
            <a:spLocks noGrp="1"/>
          </p:cNvSpPr>
          <p:nvPr>
            <p:ph type="body" idx="1"/>
          </p:nvPr>
        </p:nvSpPr>
        <p:spPr/>
        <p:txBody>
          <a:bodyPr/>
          <a:lstStyle/>
          <a:p>
            <a:r>
              <a:rPr lang="en-CA" dirty="0" smtClean="0"/>
              <a:t>Class of applications that work with file system metadata</a:t>
            </a:r>
          </a:p>
          <a:p>
            <a:r>
              <a:rPr lang="en-CA" dirty="0" smtClean="0"/>
              <a:t>Offline</a:t>
            </a:r>
          </a:p>
          <a:p>
            <a:r>
              <a:rPr lang="en-CA" dirty="0" smtClean="0"/>
              <a:t>Online</a:t>
            </a:r>
          </a:p>
          <a:p>
            <a:pPr marL="0" marR="0" lvl="0" indent="0" algn="l" defTabSz="914400" rtl="0" eaLnBrk="1" fontAlgn="auto" latinLnBrk="0" hangingPunct="1">
              <a:lnSpc>
                <a:spcPct val="100000"/>
              </a:lnSpc>
              <a:spcBef>
                <a:spcPts val="0"/>
              </a:spcBef>
              <a:spcAft>
                <a:spcPts val="0"/>
              </a:spcAft>
              <a:buClrTx/>
              <a:buSzTx/>
              <a:buFontTx/>
              <a:buNone/>
              <a:tabLst/>
              <a:defRPr/>
            </a:pPr>
            <a:r>
              <a:rPr lang="en-CA" dirty="0" smtClean="0"/>
              <a:t>Operate directly on file system metadata structures on</a:t>
            </a:r>
            <a:r>
              <a:rPr lang="en-CA" baseline="0" dirty="0" smtClean="0"/>
              <a:t> disk</a:t>
            </a:r>
          </a:p>
          <a:p>
            <a:pPr marL="0" marR="0" lvl="0" indent="0" algn="l" defTabSz="914400" rtl="0" eaLnBrk="1" fontAlgn="auto" latinLnBrk="0" hangingPunct="1">
              <a:lnSpc>
                <a:spcPct val="100000"/>
              </a:lnSpc>
              <a:spcBef>
                <a:spcPts val="0"/>
              </a:spcBef>
              <a:spcAft>
                <a:spcPts val="0"/>
              </a:spcAft>
              <a:buClrTx/>
              <a:buSzTx/>
              <a:buFontTx/>
              <a:buNone/>
              <a:tabLst/>
              <a:defRPr/>
            </a:pPr>
            <a:r>
              <a:rPr lang="en-CA" baseline="0" dirty="0" smtClean="0"/>
              <a:t>Must bypass VFS layer, which abstracts away file system implementation</a:t>
            </a:r>
          </a:p>
          <a:p>
            <a:r>
              <a:rPr lang="en-CA" sz="1200" b="0" i="0" u="none" strike="noStrike" kern="1200" baseline="0" dirty="0" smtClean="0">
                <a:solidFill>
                  <a:schemeClr val="tx1"/>
                </a:solidFill>
                <a:latin typeface="+mn-lt"/>
                <a:ea typeface="+mn-ea"/>
                <a:cs typeface="+mn-cs"/>
              </a:rPr>
              <a:t>Require a detailed understanding of the format of a file system, including the ability to identify and interpret file system structures</a:t>
            </a:r>
            <a:endParaRPr lang="en-CA" dirty="0" smtClean="0"/>
          </a:p>
          <a:p>
            <a:endParaRPr lang="en-CA" dirty="0" smtClean="0"/>
          </a:p>
          <a:p>
            <a:endParaRPr lang="en-CA" dirty="0" smtClean="0"/>
          </a:p>
          <a:p>
            <a:endParaRPr lang="en-CA" dirty="0" smtClean="0"/>
          </a:p>
        </p:txBody>
      </p:sp>
      <p:sp>
        <p:nvSpPr>
          <p:cNvPr id="4" name="Slide Number Placeholder 3"/>
          <p:cNvSpPr>
            <a:spLocks noGrp="1"/>
          </p:cNvSpPr>
          <p:nvPr>
            <p:ph type="sldNum" sz="quarter" idx="10"/>
          </p:nvPr>
        </p:nvSpPr>
        <p:spPr/>
        <p:txBody>
          <a:bodyPr/>
          <a:lstStyle/>
          <a:p>
            <a:fld id="{849A0A36-F84D-437B-B821-CB3EBADC1433}" type="slidenum">
              <a:rPr lang="en-CA" smtClean="0"/>
              <a:t>2</a:t>
            </a:fld>
            <a:endParaRPr lang="en-CA"/>
          </a:p>
        </p:txBody>
      </p:sp>
    </p:spTree>
    <p:extLst>
      <p:ext uri="{BB962C8B-B14F-4D97-AF65-F5344CB8AC3E}">
        <p14:creationId xmlns:p14="http://schemas.microsoft.com/office/powerpoint/2010/main" val="401762764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Only experts develop these</a:t>
            </a:r>
            <a:r>
              <a:rPr lang="en-CA" baseline="0" dirty="0" smtClean="0"/>
              <a:t> tools and even then, bugs still occur with grave consequences such as ….</a:t>
            </a:r>
            <a:endParaRPr lang="en-CA" dirty="0" smtClean="0"/>
          </a:p>
          <a:p>
            <a:r>
              <a:rPr lang="en-CA" dirty="0" smtClean="0"/>
              <a:t>bug </a:t>
            </a:r>
            <a:r>
              <a:rPr lang="en-CA" dirty="0" smtClean="0"/>
              <a:t>723343 closed in </a:t>
            </a:r>
            <a:r>
              <a:rPr lang="en-CA" dirty="0" err="1" smtClean="0"/>
              <a:t>feb</a:t>
            </a:r>
            <a:r>
              <a:rPr lang="en-CA" baseline="0" dirty="0" smtClean="0"/>
              <a:t> 2014.</a:t>
            </a:r>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3</a:t>
            </a:fld>
            <a:endParaRPr lang="en-CA"/>
          </a:p>
        </p:txBody>
      </p:sp>
    </p:spTree>
    <p:extLst>
      <p:ext uri="{BB962C8B-B14F-4D97-AF65-F5344CB8AC3E}">
        <p14:creationId xmlns:p14="http://schemas.microsoft.com/office/powerpoint/2010/main" val="238401796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CA" dirty="0" smtClean="0"/>
              <a:t>The root cause of all these problems is that these</a:t>
            </a:r>
            <a:r>
              <a:rPr lang="en-CA" baseline="0" dirty="0" smtClean="0"/>
              <a:t> tools are hard </a:t>
            </a:r>
            <a:r>
              <a:rPr lang="en-CA" baseline="0" smtClean="0"/>
              <a:t>to write</a:t>
            </a:r>
            <a:endParaRPr lang="en-CA" dirty="0" smtClean="0"/>
          </a:p>
          <a:p>
            <a:pPr marL="0" marR="0" lvl="0" indent="0" algn="l" defTabSz="914400" rtl="0" eaLnBrk="1" fontAlgn="auto" latinLnBrk="0" hangingPunct="1">
              <a:lnSpc>
                <a:spcPct val="100000"/>
              </a:lnSpc>
              <a:spcBef>
                <a:spcPts val="0"/>
              </a:spcBef>
              <a:spcAft>
                <a:spcPts val="0"/>
              </a:spcAft>
              <a:buClrTx/>
              <a:buSzTx/>
              <a:buFontTx/>
              <a:buNone/>
              <a:tabLst/>
              <a:defRPr/>
            </a:pPr>
            <a:r>
              <a:rPr lang="en-CA" dirty="0" smtClean="0"/>
              <a:t>Applications require detailed knowledge of format</a:t>
            </a:r>
            <a:r>
              <a:rPr lang="en-CA" baseline="0" dirty="0" smtClean="0"/>
              <a:t> for processing file system metadata. In addition, they need to handle file system corruption in a robust manner.</a:t>
            </a:r>
          </a:p>
        </p:txBody>
      </p:sp>
      <p:sp>
        <p:nvSpPr>
          <p:cNvPr id="4" name="Slide Number Placeholder 3"/>
          <p:cNvSpPr>
            <a:spLocks noGrp="1"/>
          </p:cNvSpPr>
          <p:nvPr>
            <p:ph type="sldNum" sz="quarter" idx="10"/>
          </p:nvPr>
        </p:nvSpPr>
        <p:spPr/>
        <p:txBody>
          <a:bodyPr/>
          <a:lstStyle/>
          <a:p>
            <a:fld id="{B5B5BF96-4013-477F-9949-176AD53AFF60}" type="slidenum">
              <a:rPr lang="en-CA" smtClean="0"/>
              <a:t>4</a:t>
            </a:fld>
            <a:endParaRPr lang="en-CA"/>
          </a:p>
        </p:txBody>
      </p:sp>
    </p:spTree>
    <p:extLst>
      <p:ext uri="{BB962C8B-B14F-4D97-AF65-F5344CB8AC3E}">
        <p14:creationId xmlns:p14="http://schemas.microsoft.com/office/powerpoint/2010/main" val="422832688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CA" dirty="0" smtClean="0"/>
              <a:t>Ensure type safe access to file system structures.</a:t>
            </a:r>
          </a:p>
        </p:txBody>
      </p:sp>
      <p:sp>
        <p:nvSpPr>
          <p:cNvPr id="4" name="Slide Number Placeholder 3"/>
          <p:cNvSpPr>
            <a:spLocks noGrp="1"/>
          </p:cNvSpPr>
          <p:nvPr>
            <p:ph type="sldNum" sz="quarter" idx="10"/>
          </p:nvPr>
        </p:nvSpPr>
        <p:spPr/>
        <p:txBody>
          <a:bodyPr/>
          <a:lstStyle/>
          <a:p>
            <a:fld id="{B5B5BF96-4013-477F-9949-176AD53AFF60}" type="slidenum">
              <a:rPr lang="en-CA" smtClean="0"/>
              <a:t>5</a:t>
            </a:fld>
            <a:endParaRPr lang="en-CA"/>
          </a:p>
        </p:txBody>
      </p:sp>
    </p:spTree>
    <p:extLst>
      <p:ext uri="{BB962C8B-B14F-4D97-AF65-F5344CB8AC3E}">
        <p14:creationId xmlns:p14="http://schemas.microsoft.com/office/powerpoint/2010/main" val="135702635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10"/>
          </p:nvPr>
        </p:nvSpPr>
        <p:spPr/>
        <p:txBody>
          <a:bodyPr/>
          <a:lstStyle/>
          <a:p>
            <a:fld id="{849A0A36-F84D-437B-B821-CB3EBADC1433}" type="slidenum">
              <a:rPr lang="en-CA" smtClean="0"/>
              <a:t>7</a:t>
            </a:fld>
            <a:endParaRPr lang="en-CA"/>
          </a:p>
        </p:txBody>
      </p:sp>
    </p:spTree>
    <p:extLst>
      <p:ext uri="{BB962C8B-B14F-4D97-AF65-F5344CB8AC3E}">
        <p14:creationId xmlns:p14="http://schemas.microsoft.com/office/powerpoint/2010/main" val="160665102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10"/>
          </p:nvPr>
        </p:nvSpPr>
        <p:spPr/>
        <p:txBody>
          <a:bodyPr/>
          <a:lstStyle/>
          <a:p>
            <a:fld id="{849A0A36-F84D-437B-B821-CB3EBADC1433}" type="slidenum">
              <a:rPr lang="en-CA" smtClean="0"/>
              <a:t>8</a:t>
            </a:fld>
            <a:endParaRPr lang="en-CA"/>
          </a:p>
        </p:txBody>
      </p:sp>
    </p:spTree>
    <p:extLst>
      <p:ext uri="{BB962C8B-B14F-4D97-AF65-F5344CB8AC3E}">
        <p14:creationId xmlns:p14="http://schemas.microsoft.com/office/powerpoint/2010/main" val="219366630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10"/>
          </p:nvPr>
        </p:nvSpPr>
        <p:spPr/>
        <p:txBody>
          <a:bodyPr/>
          <a:lstStyle/>
          <a:p>
            <a:fld id="{849A0A36-F84D-437B-B821-CB3EBADC1433}" type="slidenum">
              <a:rPr lang="en-CA" smtClean="0"/>
              <a:t>9</a:t>
            </a:fld>
            <a:endParaRPr lang="en-CA"/>
          </a:p>
        </p:txBody>
      </p:sp>
    </p:spTree>
    <p:extLst>
      <p:ext uri="{BB962C8B-B14F-4D97-AF65-F5344CB8AC3E}">
        <p14:creationId xmlns:p14="http://schemas.microsoft.com/office/powerpoint/2010/main" val="206079653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8 MINUTE</a:t>
            </a:r>
            <a:r>
              <a:rPr lang="en-CA" baseline="0" dirty="0" smtClean="0"/>
              <a:t>S MAX to get here.</a:t>
            </a:r>
          </a:p>
          <a:p>
            <a:r>
              <a:rPr lang="en-CA" baseline="0" dirty="0" smtClean="0"/>
              <a:t>Now you know the problem, now I talk about the each piece of the solution (reword)</a:t>
            </a:r>
          </a:p>
          <a:p>
            <a:endParaRPr lang="en-CA" dirty="0" smtClean="0"/>
          </a:p>
          <a:p>
            <a:r>
              <a:rPr lang="en-CA" dirty="0" smtClean="0"/>
              <a:t>Specify </a:t>
            </a:r>
            <a:r>
              <a:rPr lang="en-CA" dirty="0" smtClean="0"/>
              <a:t>file</a:t>
            </a:r>
            <a:r>
              <a:rPr lang="en-CA" baseline="0" dirty="0" smtClean="0"/>
              <a:t> system format so that we can generate a parsing and serialization library that simplifies development of applications that work across file systems.</a:t>
            </a:r>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10</a:t>
            </a:fld>
            <a:endParaRPr lang="en-CA"/>
          </a:p>
        </p:txBody>
      </p:sp>
    </p:spTree>
    <p:extLst>
      <p:ext uri="{BB962C8B-B14F-4D97-AF65-F5344CB8AC3E}">
        <p14:creationId xmlns:p14="http://schemas.microsoft.com/office/powerpoint/2010/main" val="214024437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smtClean="0"/>
          </a:p>
          <a:p>
            <a:r>
              <a:rPr lang="en-CA" dirty="0" smtClean="0"/>
              <a:t>Intuition</a:t>
            </a:r>
            <a:r>
              <a:rPr lang="en-CA" dirty="0" smtClean="0"/>
              <a:t>:</a:t>
            </a:r>
            <a:r>
              <a:rPr lang="en-CA" baseline="0" dirty="0" smtClean="0"/>
              <a:t> extract specification from data structure definition in existing source code </a:t>
            </a:r>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11</a:t>
            </a:fld>
            <a:endParaRPr lang="en-CA"/>
          </a:p>
        </p:txBody>
      </p:sp>
    </p:spTree>
    <p:extLst>
      <p:ext uri="{BB962C8B-B14F-4D97-AF65-F5344CB8AC3E}">
        <p14:creationId xmlns:p14="http://schemas.microsoft.com/office/powerpoint/2010/main" val="189886908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CA" dirty="0" smtClean="0"/>
              <a:t>Mapping function may need to reassemble blocks</a:t>
            </a:r>
          </a:p>
          <a:p>
            <a:endParaRPr lang="en-CA" dirty="0"/>
          </a:p>
        </p:txBody>
      </p:sp>
      <p:sp>
        <p:nvSpPr>
          <p:cNvPr id="4" name="Slide Number Placeholder 3"/>
          <p:cNvSpPr>
            <a:spLocks noGrp="1"/>
          </p:cNvSpPr>
          <p:nvPr>
            <p:ph type="sldNum" sz="quarter" idx="10"/>
          </p:nvPr>
        </p:nvSpPr>
        <p:spPr/>
        <p:txBody>
          <a:bodyPr/>
          <a:lstStyle/>
          <a:p>
            <a:fld id="{849A0A36-F84D-437B-B821-CB3EBADC1433}" type="slidenum">
              <a:rPr lang="en-CA" smtClean="0"/>
              <a:t>12</a:t>
            </a:fld>
            <a:endParaRPr lang="en-CA"/>
          </a:p>
        </p:txBody>
      </p:sp>
    </p:spTree>
    <p:extLst>
      <p:ext uri="{BB962C8B-B14F-4D97-AF65-F5344CB8AC3E}">
        <p14:creationId xmlns:p14="http://schemas.microsoft.com/office/powerpoint/2010/main" val="167909540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An</a:t>
            </a:r>
            <a:r>
              <a:rPr lang="en-CA" baseline="0" dirty="0" smtClean="0"/>
              <a:t> example will be shown in the upcoming slide for constraint checking</a:t>
            </a:r>
            <a:endParaRPr lang="en-CA" dirty="0"/>
          </a:p>
        </p:txBody>
      </p:sp>
      <p:sp>
        <p:nvSpPr>
          <p:cNvPr id="4" name="Slide Number Placeholder 3"/>
          <p:cNvSpPr>
            <a:spLocks noGrp="1"/>
          </p:cNvSpPr>
          <p:nvPr>
            <p:ph type="sldNum" sz="quarter" idx="10"/>
          </p:nvPr>
        </p:nvSpPr>
        <p:spPr/>
        <p:txBody>
          <a:bodyPr/>
          <a:lstStyle/>
          <a:p>
            <a:fld id="{849A0A36-F84D-437B-B821-CB3EBADC1433}" type="slidenum">
              <a:rPr lang="en-CA" smtClean="0"/>
              <a:t>13</a:t>
            </a:fld>
            <a:endParaRPr lang="en-CA"/>
          </a:p>
        </p:txBody>
      </p:sp>
    </p:spTree>
    <p:extLst>
      <p:ext uri="{BB962C8B-B14F-4D97-AF65-F5344CB8AC3E}">
        <p14:creationId xmlns:p14="http://schemas.microsoft.com/office/powerpoint/2010/main" val="225921917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10"/>
          </p:nvPr>
        </p:nvSpPr>
        <p:spPr/>
        <p:txBody>
          <a:bodyPr/>
          <a:lstStyle/>
          <a:p>
            <a:fld id="{849A0A36-F84D-437B-B821-CB3EBADC1433}" type="slidenum">
              <a:rPr lang="en-CA" smtClean="0"/>
              <a:t>14</a:t>
            </a:fld>
            <a:endParaRPr lang="en-CA"/>
          </a:p>
        </p:txBody>
      </p:sp>
    </p:spTree>
    <p:extLst>
      <p:ext uri="{BB962C8B-B14F-4D97-AF65-F5344CB8AC3E}">
        <p14:creationId xmlns:p14="http://schemas.microsoft.com/office/powerpoint/2010/main" val="417483949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On the left side, we shown the annotated</a:t>
            </a:r>
            <a:r>
              <a:rPr lang="en-CA" baseline="0" dirty="0" smtClean="0"/>
              <a:t> Ext4 super block structure. </a:t>
            </a:r>
            <a:r>
              <a:rPr lang="en-CA" dirty="0" smtClean="0"/>
              <a:t>Annotations are in BOLD font,</a:t>
            </a:r>
            <a:r>
              <a:rPr lang="en-CA" baseline="0" dirty="0" smtClean="0"/>
              <a:t> written in keyword argument style.  On the right side is the corresponding parsing code that is generated for Ext4 super block, which is currently written in C++.  The first annotation, FSSUPER, designates this structure to be the super block of the Ext4 file system. The location argument specifies the byte offset for finding the super block.</a:t>
            </a:r>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15</a:t>
            </a:fld>
            <a:endParaRPr lang="en-CA"/>
          </a:p>
        </p:txBody>
      </p:sp>
    </p:spTree>
    <p:extLst>
      <p:ext uri="{BB962C8B-B14F-4D97-AF65-F5344CB8AC3E}">
        <p14:creationId xmlns:p14="http://schemas.microsoft.com/office/powerpoint/2010/main" val="329260379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In our current implementation, we generate a C++ class for every annotated metadata</a:t>
            </a:r>
            <a:r>
              <a:rPr lang="en-CA" baseline="0" dirty="0" smtClean="0"/>
              <a:t> structures and all of its field. Each of these classes enables type-safe parsing and serialization. In the paper, we go into more detail on other features such as type introspection and generic traversal.</a:t>
            </a:r>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16</a:t>
            </a:fld>
            <a:endParaRPr lang="en-CA"/>
          </a:p>
        </p:txBody>
      </p:sp>
    </p:spTree>
    <p:extLst>
      <p:ext uri="{BB962C8B-B14F-4D97-AF65-F5344CB8AC3E}">
        <p14:creationId xmlns:p14="http://schemas.microsoft.com/office/powerpoint/2010/main" val="250679575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Here, we show the parsing code that is generated for</a:t>
            </a:r>
            <a:r>
              <a:rPr lang="en-CA" baseline="0" dirty="0" smtClean="0"/>
              <a:t> an annotated </a:t>
            </a:r>
            <a:r>
              <a:rPr lang="en-CA" baseline="0" dirty="0" err="1" smtClean="0"/>
              <a:t>enum</a:t>
            </a:r>
            <a:r>
              <a:rPr lang="en-CA" baseline="0" dirty="0" smtClean="0"/>
              <a:t> field. First, we verify that the length of the buffer is valid before reading in the value from the buffer. Next, we check that the value is within the range of the </a:t>
            </a:r>
            <a:r>
              <a:rPr lang="en-CA" baseline="0" dirty="0" err="1" smtClean="0"/>
              <a:t>enum</a:t>
            </a:r>
            <a:r>
              <a:rPr lang="en-CA" baseline="0" dirty="0" smtClean="0"/>
              <a:t> and return an error if the value is out-of-bound.</a:t>
            </a:r>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17</a:t>
            </a:fld>
            <a:endParaRPr lang="en-CA"/>
          </a:p>
        </p:txBody>
      </p:sp>
    </p:spTree>
    <p:extLst>
      <p:ext uri="{BB962C8B-B14F-4D97-AF65-F5344CB8AC3E}">
        <p14:creationId xmlns:p14="http://schemas.microsoft.com/office/powerpoint/2010/main" val="8327777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20</a:t>
            </a:fld>
            <a:endParaRPr lang="en-CA"/>
          </a:p>
        </p:txBody>
      </p:sp>
    </p:spTree>
    <p:extLst>
      <p:ext uri="{BB962C8B-B14F-4D97-AF65-F5344CB8AC3E}">
        <p14:creationId xmlns:p14="http://schemas.microsoft.com/office/powerpoint/2010/main" val="395570156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Here we have a function that is supposed to fill the input vector with all of the free extent</a:t>
            </a:r>
            <a:r>
              <a:rPr lang="en-CA" baseline="0" dirty="0" smtClean="0"/>
              <a:t>s in an Ext4 file system image. The block device that contains the file system is opened and we have to manually parse and traverse the file system in order to reach the block bitmaps that contain block allocation information.</a:t>
            </a:r>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21</a:t>
            </a:fld>
            <a:endParaRPr lang="en-CA"/>
          </a:p>
        </p:txBody>
      </p:sp>
    </p:spTree>
    <p:extLst>
      <p:ext uri="{BB962C8B-B14F-4D97-AF65-F5344CB8AC3E}">
        <p14:creationId xmlns:p14="http://schemas.microsoft.com/office/powerpoint/2010/main" val="159011365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10"/>
          </p:nvPr>
        </p:nvSpPr>
        <p:spPr/>
        <p:txBody>
          <a:bodyPr/>
          <a:lstStyle/>
          <a:p>
            <a:fld id="{849A0A36-F84D-437B-B821-CB3EBADC1433}" type="slidenum">
              <a:rPr lang="en-CA" smtClean="0"/>
              <a:t>27</a:t>
            </a:fld>
            <a:endParaRPr lang="en-CA"/>
          </a:p>
        </p:txBody>
      </p:sp>
    </p:spTree>
    <p:extLst>
      <p:ext uri="{BB962C8B-B14F-4D97-AF65-F5344CB8AC3E}">
        <p14:creationId xmlns:p14="http://schemas.microsoft.com/office/powerpoint/2010/main" val="344376954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Give</a:t>
            </a:r>
            <a:r>
              <a:rPr lang="en-CA" baseline="0" dirty="0" smtClean="0"/>
              <a:t> a sense why online application is hard to do. Describe why classifying IO in a file system generic way is non-trivial.</a:t>
            </a:r>
          </a:p>
          <a:p>
            <a:r>
              <a:rPr lang="en-CA" baseline="0" dirty="0" smtClean="0"/>
              <a:t>At runtime, as blocks are accessed, we can differentiate metadata from data, without making any changes to FS.</a:t>
            </a:r>
          </a:p>
          <a:p>
            <a:r>
              <a:rPr lang="en-CA" dirty="0" smtClean="0"/>
              <a:t>Which user a</a:t>
            </a:r>
            <a:r>
              <a:rPr lang="en-CA" baseline="0" dirty="0" smtClean="0"/>
              <a:t> block belongs to, without FS modification.</a:t>
            </a:r>
          </a:p>
          <a:p>
            <a:r>
              <a:rPr lang="en-CA" baseline="0" dirty="0" smtClean="0"/>
              <a:t>Lots of FS specific code – able to identify </a:t>
            </a:r>
            <a:r>
              <a:rPr lang="en-CA" baseline="0" dirty="0" err="1" smtClean="0"/>
              <a:t>inode</a:t>
            </a:r>
            <a:r>
              <a:rPr lang="en-CA" baseline="0" dirty="0" smtClean="0"/>
              <a:t>/indirect blocks at the block layer.</a:t>
            </a:r>
          </a:p>
          <a:p>
            <a:r>
              <a:rPr lang="en-CA" baseline="0" dirty="0" smtClean="0"/>
              <a:t>With Spiffy – most of the code is generic – little fs specific code required</a:t>
            </a:r>
          </a:p>
          <a:p>
            <a:r>
              <a:rPr lang="en-CA" baseline="0" dirty="0" smtClean="0"/>
              <a:t>Able to support rich set of policies </a:t>
            </a:r>
          </a:p>
        </p:txBody>
      </p:sp>
      <p:sp>
        <p:nvSpPr>
          <p:cNvPr id="4" name="Slide Number Placeholder 3"/>
          <p:cNvSpPr>
            <a:spLocks noGrp="1"/>
          </p:cNvSpPr>
          <p:nvPr>
            <p:ph type="sldNum" sz="quarter" idx="10"/>
          </p:nvPr>
        </p:nvSpPr>
        <p:spPr/>
        <p:txBody>
          <a:bodyPr/>
          <a:lstStyle/>
          <a:p>
            <a:fld id="{849A0A36-F84D-437B-B821-CB3EBADC1433}" type="slidenum">
              <a:rPr lang="en-CA" smtClean="0"/>
              <a:t>28</a:t>
            </a:fld>
            <a:endParaRPr lang="en-CA"/>
          </a:p>
        </p:txBody>
      </p:sp>
    </p:spTree>
    <p:extLst>
      <p:ext uri="{BB962C8B-B14F-4D97-AF65-F5344CB8AC3E}">
        <p14:creationId xmlns:p14="http://schemas.microsoft.com/office/powerpoint/2010/main" val="49015172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10"/>
          </p:nvPr>
        </p:nvSpPr>
        <p:spPr/>
        <p:txBody>
          <a:bodyPr/>
          <a:lstStyle/>
          <a:p>
            <a:fld id="{849A0A36-F84D-437B-B821-CB3EBADC1433}" type="slidenum">
              <a:rPr lang="en-CA" smtClean="0"/>
              <a:t>29</a:t>
            </a:fld>
            <a:endParaRPr lang="en-CA"/>
          </a:p>
        </p:txBody>
      </p:sp>
    </p:spTree>
    <p:extLst>
      <p:ext uri="{BB962C8B-B14F-4D97-AF65-F5344CB8AC3E}">
        <p14:creationId xmlns:p14="http://schemas.microsoft.com/office/powerpoint/2010/main" val="56499183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10"/>
          </p:nvPr>
        </p:nvSpPr>
        <p:spPr/>
        <p:txBody>
          <a:bodyPr/>
          <a:lstStyle/>
          <a:p>
            <a:fld id="{849A0A36-F84D-437B-B821-CB3EBADC1433}" type="slidenum">
              <a:rPr lang="en-CA" smtClean="0"/>
              <a:t>30</a:t>
            </a:fld>
            <a:endParaRPr lang="en-CA"/>
          </a:p>
        </p:txBody>
      </p:sp>
    </p:spTree>
    <p:extLst>
      <p:ext uri="{BB962C8B-B14F-4D97-AF65-F5344CB8AC3E}">
        <p14:creationId xmlns:p14="http://schemas.microsoft.com/office/powerpoint/2010/main" val="192972576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Comparison of output or result needs</a:t>
            </a:r>
            <a:r>
              <a:rPr lang="en-CA" baseline="0" dirty="0" smtClean="0"/>
              <a:t> to </a:t>
            </a:r>
            <a:r>
              <a:rPr lang="en-CA" baseline="0" smtClean="0"/>
              <a:t>be emphasize</a:t>
            </a:r>
            <a:endParaRPr lang="en-CA"/>
          </a:p>
        </p:txBody>
      </p:sp>
      <p:sp>
        <p:nvSpPr>
          <p:cNvPr id="4" name="Slide Number Placeholder 3"/>
          <p:cNvSpPr>
            <a:spLocks noGrp="1"/>
          </p:cNvSpPr>
          <p:nvPr>
            <p:ph type="sldNum" sz="quarter" idx="10"/>
          </p:nvPr>
        </p:nvSpPr>
        <p:spPr/>
        <p:txBody>
          <a:bodyPr/>
          <a:lstStyle/>
          <a:p>
            <a:fld id="{849A0A36-F84D-437B-B821-CB3EBADC1433}" type="slidenum">
              <a:rPr lang="en-CA" smtClean="0"/>
              <a:t>31</a:t>
            </a:fld>
            <a:endParaRPr lang="en-CA"/>
          </a:p>
        </p:txBody>
      </p:sp>
    </p:spTree>
    <p:extLst>
      <p:ext uri="{BB962C8B-B14F-4D97-AF65-F5344CB8AC3E}">
        <p14:creationId xmlns:p14="http://schemas.microsoft.com/office/powerpoint/2010/main" val="422521042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Provides</a:t>
            </a:r>
            <a:r>
              <a:rPr lang="en-CA" baseline="0" dirty="0" smtClean="0"/>
              <a:t> annotation</a:t>
            </a:r>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32</a:t>
            </a:fld>
            <a:endParaRPr lang="en-CA"/>
          </a:p>
        </p:txBody>
      </p:sp>
    </p:spTree>
    <p:extLst>
      <p:ext uri="{BB962C8B-B14F-4D97-AF65-F5344CB8AC3E}">
        <p14:creationId xmlns:p14="http://schemas.microsoft.com/office/powerpoint/2010/main" val="150789731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bg>
      <p:bgPr>
        <a:gradFill rotWithShape="1">
          <a:gsLst>
            <a:gs pos="10000">
              <a:schemeClr val="tx2">
                <a:lumMod val="90000"/>
              </a:schemeClr>
            </a:gs>
            <a:gs pos="100000">
              <a:schemeClr val="bg2"/>
            </a:gs>
          </a:gsLst>
          <a:lin ang="6120000" scaled="1"/>
        </a:gra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684211" y="685800"/>
            <a:ext cx="9129091" cy="2167468"/>
          </a:xfrm>
        </p:spPr>
        <p:txBody>
          <a:bodyPr anchor="b">
            <a:normAutofit/>
          </a:bodyPr>
          <a:lstStyle>
            <a:lvl1pPr algn="l">
              <a:defRPr sz="5400" cap="none" baseline="0">
                <a:solidFill>
                  <a:schemeClr val="tx1"/>
                </a:solidFill>
                <a:effectLst/>
              </a:defRPr>
            </a:lvl1pPr>
          </a:lstStyle>
          <a:p>
            <a:r>
              <a:rPr lang="en-US" dirty="0" smtClean="0"/>
              <a:t>Click to edit Master title style</a:t>
            </a:r>
            <a:endParaRPr lang="en-US" dirty="0"/>
          </a:p>
        </p:txBody>
      </p:sp>
      <p:sp>
        <p:nvSpPr>
          <p:cNvPr id="3" name="Subtitle 2"/>
          <p:cNvSpPr>
            <a:spLocks noGrp="1"/>
          </p:cNvSpPr>
          <p:nvPr>
            <p:ph type="subTitle" idx="1"/>
          </p:nvPr>
        </p:nvSpPr>
        <p:spPr>
          <a:xfrm>
            <a:off x="684212" y="3037337"/>
            <a:ext cx="7694630" cy="2753864"/>
          </a:xfrm>
        </p:spPr>
        <p:txBody>
          <a:bodyPr anchor="t">
            <a:normAutofit/>
          </a:bodyPr>
          <a:lstStyle>
            <a:lvl1pPr marL="0" indent="0" algn="l">
              <a:buNone/>
              <a:defRPr sz="2100">
                <a:solidFill>
                  <a:schemeClr val="bg1">
                    <a:lumMod val="95000"/>
                    <a:lumOff val="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dirty="0" smtClean="0"/>
              <a:t>Click to edit Master subtitle style</a:t>
            </a:r>
            <a:endParaRPr lang="en-US" dirty="0"/>
          </a:p>
        </p:txBody>
      </p:sp>
      <p:sp>
        <p:nvSpPr>
          <p:cNvPr id="4" name="Date Placeholder 3"/>
          <p:cNvSpPr>
            <a:spLocks noGrp="1"/>
          </p:cNvSpPr>
          <p:nvPr>
            <p:ph type="dt" sz="half" idx="10"/>
          </p:nvPr>
        </p:nvSpPr>
        <p:spPr/>
        <p:txBody>
          <a:bodyPr/>
          <a:lstStyle/>
          <a:p>
            <a:fld id="{0145D206-3748-4927-8C33-DF34FC1F64AB}" type="datetime1">
              <a:rPr lang="en-CA" smtClean="0"/>
              <a:t>2018-02-06</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7B2023C8-B124-43A9-8F92-0EEF5BAA9995}" type="slidenum">
              <a:rPr lang="en-CA" smtClean="0"/>
              <a:t>‹#›</a:t>
            </a:fld>
            <a:endParaRPr lang="en-CA"/>
          </a:p>
        </p:txBody>
      </p:sp>
      <p:grpSp>
        <p:nvGrpSpPr>
          <p:cNvPr id="7" name="Group 6"/>
          <p:cNvGrpSpPr/>
          <p:nvPr userDrawn="1"/>
        </p:nvGrpSpPr>
        <p:grpSpPr>
          <a:xfrm>
            <a:off x="6108170" y="545795"/>
            <a:ext cx="6080672" cy="6323990"/>
            <a:chOff x="6108170" y="-151790"/>
            <a:chExt cx="6080672" cy="6323990"/>
          </a:xfrm>
        </p:grpSpPr>
        <p:cxnSp>
          <p:nvCxnSpPr>
            <p:cNvPr id="16" name="Straight Connector 15"/>
            <p:cNvCxnSpPr/>
            <p:nvPr/>
          </p:nvCxnSpPr>
          <p:spPr>
            <a:xfrm flipH="1">
              <a:off x="8378842" y="-151790"/>
              <a:ext cx="3810000" cy="3810000"/>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7" name="Straight Connector 16"/>
            <p:cNvCxnSpPr/>
            <p:nvPr/>
          </p:nvCxnSpPr>
          <p:spPr>
            <a:xfrm flipH="1">
              <a:off x="6108170" y="91545"/>
              <a:ext cx="6080655" cy="6080655"/>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p:cNvCxnSpPr/>
            <p:nvPr/>
          </p:nvCxnSpPr>
          <p:spPr>
            <a:xfrm flipH="1">
              <a:off x="7235825" y="228600"/>
              <a:ext cx="4953000" cy="4953000"/>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335837" y="32278"/>
              <a:ext cx="4852989" cy="4852989"/>
            </a:xfrm>
            <a:prstGeom prst="line">
              <a:avLst/>
            </a:prstGeom>
            <a:ln w="3175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p:cNvCxnSpPr/>
            <p:nvPr/>
          </p:nvCxnSpPr>
          <p:spPr>
            <a:xfrm flipH="1">
              <a:off x="7845426" y="609601"/>
              <a:ext cx="4343399" cy="4343399"/>
            </a:xfrm>
            <a:prstGeom prst="line">
              <a:avLst/>
            </a:prstGeom>
            <a:ln w="31750">
              <a:solidFill>
                <a:schemeClr val="tx1"/>
              </a:solidFill>
            </a:ln>
          </p:spPr>
          <p:style>
            <a:lnRef idx="2">
              <a:schemeClr val="accent1"/>
            </a:lnRef>
            <a:fillRef idx="0">
              <a:schemeClr val="accent1"/>
            </a:fillRef>
            <a:effectRef idx="1">
              <a:schemeClr val="accent1"/>
            </a:effectRef>
            <a:fontRef idx="minor">
              <a:schemeClr val="tx1"/>
            </a:fontRef>
          </p:style>
        </p:cxnSp>
      </p:grpSp>
    </p:spTree>
    <p:extLst>
      <p:ext uri="{BB962C8B-B14F-4D97-AF65-F5344CB8AC3E}">
        <p14:creationId xmlns:p14="http://schemas.microsoft.com/office/powerpoint/2010/main" val="17227107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4000" b="1" cap="none" baseline="0"/>
            </a:lvl1pPr>
          </a:lstStyle>
          <a:p>
            <a:r>
              <a:rPr lang="en-US" dirty="0" smtClean="0"/>
              <a:t>Click to edit Master title style</a:t>
            </a:r>
            <a:endParaRPr lang="en-US" dirty="0"/>
          </a:p>
        </p:txBody>
      </p:sp>
      <p:sp>
        <p:nvSpPr>
          <p:cNvPr id="3" name="Content Placeholder 2"/>
          <p:cNvSpPr>
            <a:spLocks noGrp="1"/>
          </p:cNvSpPr>
          <p:nvPr>
            <p:ph idx="1"/>
          </p:nvPr>
        </p:nvSpPr>
        <p:spPr>
          <a:xfrm>
            <a:off x="684211" y="1515358"/>
            <a:ext cx="10285797" cy="4656842"/>
          </a:xfrm>
        </p:spPr>
        <p:txBody>
          <a:bodyPr anchor="t">
            <a:normAutofit/>
          </a:bodyPr>
          <a:lstStyle>
            <a:lvl1pPr>
              <a:defRPr sz="2400"/>
            </a:lvl1pPr>
            <a:lvl2pPr>
              <a:defRPr sz="2000"/>
            </a:lvl2pPr>
            <a:lvl3pPr>
              <a:defRPr sz="1800"/>
            </a:lvl3pPr>
            <a:lvl4pPr>
              <a:defRPr sz="1600"/>
            </a:lvl4pPr>
            <a:lvl5pPr>
              <a:defRPr sz="1600"/>
            </a:lvl5pPr>
          </a:lstStyle>
          <a:p>
            <a:pPr lvl="0"/>
            <a:r>
              <a:rPr lang="en-US" dirty="0" smtClean="0"/>
              <a:t>Click to edit Master text styles</a:t>
            </a:r>
          </a:p>
          <a:p>
            <a:pPr lvl="1"/>
            <a:r>
              <a:rPr lang="en-US" dirty="0" smtClean="0"/>
              <a:t>Second level</a:t>
            </a:r>
          </a:p>
          <a:p>
            <a:pPr lvl="2"/>
            <a:r>
              <a:rPr lang="en-US" dirty="0" smtClean="0"/>
              <a:t>Third level</a:t>
            </a:r>
          </a:p>
          <a:p>
            <a:pPr lvl="3"/>
            <a:r>
              <a:rPr lang="en-US" dirty="0" smtClean="0"/>
              <a:t>Fourth level</a:t>
            </a:r>
          </a:p>
          <a:p>
            <a:pPr lvl="4"/>
            <a:r>
              <a:rPr lang="en-US" dirty="0" smtClean="0"/>
              <a:t>Fifth level</a:t>
            </a:r>
            <a:endParaRPr lang="en-US" dirty="0"/>
          </a:p>
        </p:txBody>
      </p:sp>
      <p:sp>
        <p:nvSpPr>
          <p:cNvPr id="4" name="Date Placeholder 3"/>
          <p:cNvSpPr>
            <a:spLocks noGrp="1"/>
          </p:cNvSpPr>
          <p:nvPr>
            <p:ph type="dt" sz="half" idx="10"/>
          </p:nvPr>
        </p:nvSpPr>
        <p:spPr/>
        <p:txBody>
          <a:bodyPr/>
          <a:lstStyle/>
          <a:p>
            <a:fld id="{D6AD7D9F-39FD-4B95-A4F0-514D658B152C}" type="datetime1">
              <a:rPr lang="en-CA" smtClean="0"/>
              <a:t>2018-02-06</a:t>
            </a:fld>
            <a:endParaRPr lang="en-CA"/>
          </a:p>
        </p:txBody>
      </p:sp>
      <p:sp>
        <p:nvSpPr>
          <p:cNvPr id="5" name="Footer Placeholder 4"/>
          <p:cNvSpPr>
            <a:spLocks noGrp="1"/>
          </p:cNvSpPr>
          <p:nvPr>
            <p:ph type="ftr" sz="quarter" idx="11"/>
          </p:nvPr>
        </p:nvSpPr>
        <p:spPr>
          <a:xfrm>
            <a:off x="684212" y="6172200"/>
            <a:ext cx="10285796" cy="365125"/>
          </a:xfrm>
        </p:spPr>
        <p:txBody>
          <a:bodyPr/>
          <a:lstStyle>
            <a:lvl1pPr>
              <a:defRPr sz="1200"/>
            </a:lvl1pPr>
          </a:lstStyle>
          <a:p>
            <a:endParaRPr lang="en-CA" dirty="0"/>
          </a:p>
        </p:txBody>
      </p:sp>
      <p:sp>
        <p:nvSpPr>
          <p:cNvPr id="6" name="Slide Number Placeholder 5"/>
          <p:cNvSpPr>
            <a:spLocks noGrp="1"/>
          </p:cNvSpPr>
          <p:nvPr>
            <p:ph type="sldNum" sz="quarter" idx="12"/>
          </p:nvPr>
        </p:nvSpPr>
        <p:spPr/>
        <p:txBody>
          <a:bodyPr/>
          <a:lstStyle>
            <a:lvl1pPr>
              <a:defRPr sz="2000"/>
            </a:lvl1pPr>
          </a:lstStyle>
          <a:p>
            <a:fld id="{7B2023C8-B124-43A9-8F92-0EEF5BAA9995}" type="slidenum">
              <a:rPr lang="en-CA" smtClean="0"/>
              <a:pPr/>
              <a:t>‹#›</a:t>
            </a:fld>
            <a:endParaRPr lang="en-CA" dirty="0"/>
          </a:p>
        </p:txBody>
      </p:sp>
    </p:spTree>
    <p:extLst>
      <p:ext uri="{BB962C8B-B14F-4D97-AF65-F5344CB8AC3E}">
        <p14:creationId xmlns:p14="http://schemas.microsoft.com/office/powerpoint/2010/main" val="268289917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84211" y="2006600"/>
            <a:ext cx="8534401" cy="2281600"/>
          </a:xfrm>
        </p:spPr>
        <p:txBody>
          <a:bodyPr anchor="b">
            <a:normAutofit/>
          </a:bodyPr>
          <a:lstStyle>
            <a:lvl1pPr algn="l">
              <a:defRPr sz="3600" b="0" cap="all"/>
            </a:lvl1pPr>
          </a:lstStyle>
          <a:p>
            <a:r>
              <a:rPr lang="en-US" smtClean="0"/>
              <a:t>Click to edit Master title style</a:t>
            </a:r>
            <a:endParaRPr lang="en-US" dirty="0"/>
          </a:p>
        </p:txBody>
      </p:sp>
      <p:sp>
        <p:nvSpPr>
          <p:cNvPr id="3" name="Text Placeholder 2"/>
          <p:cNvSpPr>
            <a:spLocks noGrp="1"/>
          </p:cNvSpPr>
          <p:nvPr>
            <p:ph type="body" idx="1"/>
          </p:nvPr>
        </p:nvSpPr>
        <p:spPr>
          <a:xfrm>
            <a:off x="684213" y="4495800"/>
            <a:ext cx="8534400" cy="1498600"/>
          </a:xfrm>
        </p:spPr>
        <p:txBody>
          <a:bodyPr anchor="t">
            <a:normAutofit/>
          </a:bodyPr>
          <a:lstStyle>
            <a:lvl1pPr marL="0" indent="0" algn="l">
              <a:buNone/>
              <a:defRPr sz="1800">
                <a:solidFill>
                  <a:schemeClr val="bg2">
                    <a:lumMod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7D257ED4-7149-4100-B966-397E56D6DA55}" type="datetime1">
              <a:rPr lang="en-CA" smtClean="0"/>
              <a:t>2018-02-06</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7B2023C8-B124-43A9-8F92-0EEF5BAA9995}" type="slidenum">
              <a:rPr lang="en-CA" smtClean="0"/>
              <a:t>‹#›</a:t>
            </a:fld>
            <a:endParaRPr lang="en-CA"/>
          </a:p>
        </p:txBody>
      </p:sp>
    </p:spTree>
    <p:extLst>
      <p:ext uri="{BB962C8B-B14F-4D97-AF65-F5344CB8AC3E}">
        <p14:creationId xmlns:p14="http://schemas.microsoft.com/office/powerpoint/2010/main" val="233809448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Content Placeholder 2"/>
          <p:cNvSpPr>
            <a:spLocks noGrp="1"/>
          </p:cNvSpPr>
          <p:nvPr>
            <p:ph sz="half" idx="1"/>
          </p:nvPr>
        </p:nvSpPr>
        <p:spPr>
          <a:xfrm>
            <a:off x="684211" y="685800"/>
            <a:ext cx="4937655" cy="3615267"/>
          </a:xfrm>
        </p:spPr>
        <p:txBody>
          <a:bodyPr>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Content Placeholder 3"/>
          <p:cNvSpPr>
            <a:spLocks noGrp="1"/>
          </p:cNvSpPr>
          <p:nvPr>
            <p:ph sz="half" idx="2"/>
          </p:nvPr>
        </p:nvSpPr>
        <p:spPr>
          <a:xfrm>
            <a:off x="5808133" y="685801"/>
            <a:ext cx="4934479" cy="3615266"/>
          </a:xfrm>
        </p:spPr>
        <p:txBody>
          <a:bodyPr>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5" name="Date Placeholder 4"/>
          <p:cNvSpPr>
            <a:spLocks noGrp="1"/>
          </p:cNvSpPr>
          <p:nvPr>
            <p:ph type="dt" sz="half" idx="10"/>
          </p:nvPr>
        </p:nvSpPr>
        <p:spPr/>
        <p:txBody>
          <a:bodyPr/>
          <a:lstStyle/>
          <a:p>
            <a:fld id="{9ACE3152-893D-476F-92C8-DC87664CFA37}" type="datetime1">
              <a:rPr lang="en-CA" smtClean="0"/>
              <a:t>2018-02-06</a:t>
            </a:fld>
            <a:endParaRPr lang="en-CA"/>
          </a:p>
        </p:txBody>
      </p:sp>
      <p:sp>
        <p:nvSpPr>
          <p:cNvPr id="6" name="Footer Placeholder 5"/>
          <p:cNvSpPr>
            <a:spLocks noGrp="1"/>
          </p:cNvSpPr>
          <p:nvPr>
            <p:ph type="ftr" sz="quarter" idx="11"/>
          </p:nvPr>
        </p:nvSpPr>
        <p:spPr/>
        <p:txBody>
          <a:bodyPr/>
          <a:lstStyle/>
          <a:p>
            <a:endParaRPr lang="en-CA"/>
          </a:p>
        </p:txBody>
      </p:sp>
      <p:sp>
        <p:nvSpPr>
          <p:cNvPr id="7" name="Slide Number Placeholder 6"/>
          <p:cNvSpPr>
            <a:spLocks noGrp="1"/>
          </p:cNvSpPr>
          <p:nvPr>
            <p:ph type="sldNum" sz="quarter" idx="12"/>
          </p:nvPr>
        </p:nvSpPr>
        <p:spPr/>
        <p:txBody>
          <a:bodyPr/>
          <a:lstStyle/>
          <a:p>
            <a:fld id="{7B2023C8-B124-43A9-8F92-0EEF5BAA9995}" type="slidenum">
              <a:rPr lang="en-CA" smtClean="0"/>
              <a:t>‹#›</a:t>
            </a:fld>
            <a:endParaRPr lang="en-CA"/>
          </a:p>
        </p:txBody>
      </p:sp>
    </p:spTree>
    <p:extLst>
      <p:ext uri="{BB962C8B-B14F-4D97-AF65-F5344CB8AC3E}">
        <p14:creationId xmlns:p14="http://schemas.microsoft.com/office/powerpoint/2010/main" val="154166706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dirty="0" smtClean="0"/>
              <a:t>Click to edit Master title style</a:t>
            </a:r>
            <a:endParaRPr lang="en-US" dirty="0"/>
          </a:p>
        </p:txBody>
      </p:sp>
      <p:sp>
        <p:nvSpPr>
          <p:cNvPr id="3" name="Text Placeholder 2"/>
          <p:cNvSpPr>
            <a:spLocks noGrp="1"/>
          </p:cNvSpPr>
          <p:nvPr>
            <p:ph type="body" idx="1"/>
          </p:nvPr>
        </p:nvSpPr>
        <p:spPr>
          <a:xfrm>
            <a:off x="972080" y="1515357"/>
            <a:ext cx="4649787" cy="576262"/>
          </a:xfrm>
        </p:spPr>
        <p:txBody>
          <a:bodyPr anchor="b">
            <a:noAutofit/>
          </a:bodyPr>
          <a:lstStyle>
            <a:lvl1pPr marL="0" indent="0">
              <a:buNone/>
              <a:defRPr sz="2400" b="0">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smtClean="0"/>
              <a:t>Click to edit Master text styles</a:t>
            </a:r>
          </a:p>
        </p:txBody>
      </p:sp>
      <p:sp>
        <p:nvSpPr>
          <p:cNvPr id="4" name="Content Placeholder 3"/>
          <p:cNvSpPr>
            <a:spLocks noGrp="1"/>
          </p:cNvSpPr>
          <p:nvPr>
            <p:ph sz="half" idx="2"/>
          </p:nvPr>
        </p:nvSpPr>
        <p:spPr>
          <a:xfrm>
            <a:off x="684211" y="2100086"/>
            <a:ext cx="4937655" cy="4072114"/>
          </a:xfrm>
        </p:spPr>
        <p:txBody>
          <a:bodyPr anchor="t">
            <a:normAutofit/>
          </a:bodyPr>
          <a:lstStyle/>
          <a:p>
            <a:pPr lvl="0"/>
            <a:r>
              <a:rPr lang="en-US" dirty="0" smtClean="0"/>
              <a:t>Click to edit Master text styles</a:t>
            </a:r>
          </a:p>
          <a:p>
            <a:pPr lvl="1"/>
            <a:r>
              <a:rPr lang="en-US" dirty="0" smtClean="0"/>
              <a:t>Second level</a:t>
            </a:r>
          </a:p>
          <a:p>
            <a:pPr lvl="2"/>
            <a:r>
              <a:rPr lang="en-US" dirty="0" smtClean="0"/>
              <a:t>Third level</a:t>
            </a:r>
          </a:p>
          <a:p>
            <a:pPr lvl="3"/>
            <a:r>
              <a:rPr lang="en-US" dirty="0" smtClean="0"/>
              <a:t>Fourth level</a:t>
            </a:r>
          </a:p>
          <a:p>
            <a:pPr lvl="4"/>
            <a:r>
              <a:rPr lang="en-US" dirty="0" smtClean="0"/>
              <a:t>Fifth level</a:t>
            </a:r>
            <a:endParaRPr lang="en-US" dirty="0"/>
          </a:p>
        </p:txBody>
      </p:sp>
      <p:sp>
        <p:nvSpPr>
          <p:cNvPr id="5" name="Text Placeholder 4"/>
          <p:cNvSpPr>
            <a:spLocks noGrp="1"/>
          </p:cNvSpPr>
          <p:nvPr>
            <p:ph type="body" sz="quarter" idx="3"/>
          </p:nvPr>
        </p:nvSpPr>
        <p:spPr>
          <a:xfrm>
            <a:off x="6035939" y="1523824"/>
            <a:ext cx="4665134" cy="576262"/>
          </a:xfrm>
        </p:spPr>
        <p:txBody>
          <a:bodyPr anchor="b">
            <a:noAutofit/>
          </a:bodyPr>
          <a:lstStyle>
            <a:lvl1pPr marL="0" indent="0">
              <a:buNone/>
              <a:defRPr sz="2400" b="0">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smtClean="0"/>
              <a:t>Click to edit Master text styles</a:t>
            </a:r>
          </a:p>
        </p:txBody>
      </p:sp>
      <p:sp>
        <p:nvSpPr>
          <p:cNvPr id="6" name="Content Placeholder 5"/>
          <p:cNvSpPr>
            <a:spLocks noGrp="1"/>
          </p:cNvSpPr>
          <p:nvPr>
            <p:ph sz="quarter" idx="4"/>
          </p:nvPr>
        </p:nvSpPr>
        <p:spPr>
          <a:xfrm>
            <a:off x="5763418" y="2100086"/>
            <a:ext cx="4929188" cy="4072114"/>
          </a:xfrm>
        </p:spPr>
        <p:txBody>
          <a:bodyPr anchor="t">
            <a:normAutofit/>
          </a:bodyPr>
          <a:lstStyle/>
          <a:p>
            <a:pPr lvl="0"/>
            <a:r>
              <a:rPr lang="en-US" dirty="0" smtClean="0"/>
              <a:t>Click to edit Master text styles</a:t>
            </a:r>
          </a:p>
          <a:p>
            <a:pPr lvl="1"/>
            <a:r>
              <a:rPr lang="en-US" dirty="0" smtClean="0"/>
              <a:t>Second level</a:t>
            </a:r>
          </a:p>
          <a:p>
            <a:pPr lvl="2"/>
            <a:r>
              <a:rPr lang="en-US" dirty="0" smtClean="0"/>
              <a:t>Third level</a:t>
            </a:r>
          </a:p>
          <a:p>
            <a:pPr lvl="3"/>
            <a:r>
              <a:rPr lang="en-US" dirty="0" smtClean="0"/>
              <a:t>Fourth level</a:t>
            </a:r>
          </a:p>
          <a:p>
            <a:pPr lvl="4"/>
            <a:r>
              <a:rPr lang="en-US" dirty="0" smtClean="0"/>
              <a:t>Fifth level</a:t>
            </a:r>
            <a:endParaRPr lang="en-US" dirty="0"/>
          </a:p>
        </p:txBody>
      </p:sp>
      <p:sp>
        <p:nvSpPr>
          <p:cNvPr id="7" name="Date Placeholder 6"/>
          <p:cNvSpPr>
            <a:spLocks noGrp="1"/>
          </p:cNvSpPr>
          <p:nvPr>
            <p:ph type="dt" sz="half" idx="10"/>
          </p:nvPr>
        </p:nvSpPr>
        <p:spPr/>
        <p:txBody>
          <a:bodyPr/>
          <a:lstStyle/>
          <a:p>
            <a:fld id="{CB2930E9-C17A-4D90-BAE8-42423BBE919E}" type="datetime1">
              <a:rPr lang="en-CA" smtClean="0"/>
              <a:t>2018-02-06</a:t>
            </a:fld>
            <a:endParaRPr lang="en-CA"/>
          </a:p>
        </p:txBody>
      </p:sp>
      <p:sp>
        <p:nvSpPr>
          <p:cNvPr id="8" name="Footer Placeholder 7"/>
          <p:cNvSpPr>
            <a:spLocks noGrp="1"/>
          </p:cNvSpPr>
          <p:nvPr>
            <p:ph type="ftr" sz="quarter" idx="11"/>
          </p:nvPr>
        </p:nvSpPr>
        <p:spPr/>
        <p:txBody>
          <a:bodyPr/>
          <a:lstStyle/>
          <a:p>
            <a:endParaRPr lang="en-CA"/>
          </a:p>
        </p:txBody>
      </p:sp>
      <p:sp>
        <p:nvSpPr>
          <p:cNvPr id="9" name="Slide Number Placeholder 8"/>
          <p:cNvSpPr>
            <a:spLocks noGrp="1"/>
          </p:cNvSpPr>
          <p:nvPr>
            <p:ph type="sldNum" sz="quarter" idx="12"/>
          </p:nvPr>
        </p:nvSpPr>
        <p:spPr/>
        <p:txBody>
          <a:bodyPr/>
          <a:lstStyle/>
          <a:p>
            <a:fld id="{7B2023C8-B124-43A9-8F92-0EEF5BAA9995}" type="slidenum">
              <a:rPr lang="en-CA" smtClean="0"/>
              <a:t>‹#›</a:t>
            </a:fld>
            <a:endParaRPr lang="en-CA"/>
          </a:p>
        </p:txBody>
      </p:sp>
    </p:spTree>
    <p:extLst>
      <p:ext uri="{BB962C8B-B14F-4D97-AF65-F5344CB8AC3E}">
        <p14:creationId xmlns:p14="http://schemas.microsoft.com/office/powerpoint/2010/main" val="36960482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Date Placeholder 2"/>
          <p:cNvSpPr>
            <a:spLocks noGrp="1"/>
          </p:cNvSpPr>
          <p:nvPr>
            <p:ph type="dt" sz="half" idx="10"/>
          </p:nvPr>
        </p:nvSpPr>
        <p:spPr/>
        <p:txBody>
          <a:bodyPr/>
          <a:lstStyle/>
          <a:p>
            <a:fld id="{32659AD7-8F94-4BFD-9315-264212F1BDBC}" type="datetime1">
              <a:rPr lang="en-CA" smtClean="0"/>
              <a:t>2018-02-06</a:t>
            </a:fld>
            <a:endParaRPr lang="en-CA"/>
          </a:p>
        </p:txBody>
      </p:sp>
      <p:sp>
        <p:nvSpPr>
          <p:cNvPr id="4" name="Footer Placeholder 3"/>
          <p:cNvSpPr>
            <a:spLocks noGrp="1"/>
          </p:cNvSpPr>
          <p:nvPr>
            <p:ph type="ftr" sz="quarter" idx="11"/>
          </p:nvPr>
        </p:nvSpPr>
        <p:spPr/>
        <p:txBody>
          <a:bodyPr/>
          <a:lstStyle/>
          <a:p>
            <a:endParaRPr lang="en-CA"/>
          </a:p>
        </p:txBody>
      </p:sp>
      <p:sp>
        <p:nvSpPr>
          <p:cNvPr id="5" name="Slide Number Placeholder 4"/>
          <p:cNvSpPr>
            <a:spLocks noGrp="1"/>
          </p:cNvSpPr>
          <p:nvPr>
            <p:ph type="sldNum" sz="quarter" idx="12"/>
          </p:nvPr>
        </p:nvSpPr>
        <p:spPr/>
        <p:txBody>
          <a:bodyPr/>
          <a:lstStyle/>
          <a:p>
            <a:fld id="{7B2023C8-B124-43A9-8F92-0EEF5BAA9995}" type="slidenum">
              <a:rPr lang="en-CA" smtClean="0"/>
              <a:t>‹#›</a:t>
            </a:fld>
            <a:endParaRPr lang="en-CA"/>
          </a:p>
        </p:txBody>
      </p:sp>
    </p:spTree>
    <p:extLst>
      <p:ext uri="{BB962C8B-B14F-4D97-AF65-F5344CB8AC3E}">
        <p14:creationId xmlns:p14="http://schemas.microsoft.com/office/powerpoint/2010/main" val="40929384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DA852F67-5290-4349-8ADA-9B77C8B30CA1}" type="datetime1">
              <a:rPr lang="en-CA" smtClean="0"/>
              <a:t>2018-02-06</a:t>
            </a:fld>
            <a:endParaRPr lang="en-CA"/>
          </a:p>
        </p:txBody>
      </p:sp>
      <p:sp>
        <p:nvSpPr>
          <p:cNvPr id="3" name="Footer Placeholder 2"/>
          <p:cNvSpPr>
            <a:spLocks noGrp="1"/>
          </p:cNvSpPr>
          <p:nvPr>
            <p:ph type="ftr" sz="quarter" idx="11"/>
          </p:nvPr>
        </p:nvSpPr>
        <p:spPr/>
        <p:txBody>
          <a:bodyPr/>
          <a:lstStyle/>
          <a:p>
            <a:endParaRPr lang="en-CA"/>
          </a:p>
        </p:txBody>
      </p:sp>
      <p:sp>
        <p:nvSpPr>
          <p:cNvPr id="4" name="Slide Number Placeholder 3"/>
          <p:cNvSpPr>
            <a:spLocks noGrp="1"/>
          </p:cNvSpPr>
          <p:nvPr>
            <p:ph type="sldNum" sz="quarter" idx="12"/>
          </p:nvPr>
        </p:nvSpPr>
        <p:spPr/>
        <p:txBody>
          <a:bodyPr/>
          <a:lstStyle/>
          <a:p>
            <a:fld id="{7B2023C8-B124-43A9-8F92-0EEF5BAA9995}" type="slidenum">
              <a:rPr lang="en-CA" smtClean="0"/>
              <a:t>‹#›</a:t>
            </a:fld>
            <a:endParaRPr lang="en-CA"/>
          </a:p>
        </p:txBody>
      </p:sp>
    </p:spTree>
    <p:extLst>
      <p:ext uri="{BB962C8B-B14F-4D97-AF65-F5344CB8AC3E}">
        <p14:creationId xmlns:p14="http://schemas.microsoft.com/office/powerpoint/2010/main" val="335750961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7085012" y="685800"/>
            <a:ext cx="3657600" cy="1371600"/>
          </a:xfrm>
        </p:spPr>
        <p:txBody>
          <a:bodyPr anchor="b">
            <a:normAutofit/>
          </a:bodyPr>
          <a:lstStyle>
            <a:lvl1pPr algn="l">
              <a:defRPr sz="2400" b="0"/>
            </a:lvl1pPr>
          </a:lstStyle>
          <a:p>
            <a:r>
              <a:rPr lang="en-US" smtClean="0"/>
              <a:t>Click to edit Master title style</a:t>
            </a:r>
            <a:endParaRPr lang="en-US" dirty="0"/>
          </a:p>
        </p:txBody>
      </p:sp>
      <p:sp>
        <p:nvSpPr>
          <p:cNvPr id="3" name="Content Placeholder 2"/>
          <p:cNvSpPr>
            <a:spLocks noGrp="1"/>
          </p:cNvSpPr>
          <p:nvPr>
            <p:ph idx="1"/>
          </p:nvPr>
        </p:nvSpPr>
        <p:spPr>
          <a:xfrm>
            <a:off x="684212" y="685800"/>
            <a:ext cx="5943601" cy="5308600"/>
          </a:xfrm>
        </p:spPr>
        <p:txBody>
          <a:bodyPr anchor="ctr">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Text Placeholder 3"/>
          <p:cNvSpPr>
            <a:spLocks noGrp="1"/>
          </p:cNvSpPr>
          <p:nvPr>
            <p:ph type="body" sz="half" idx="2"/>
          </p:nvPr>
        </p:nvSpPr>
        <p:spPr>
          <a:xfrm>
            <a:off x="7085012" y="2209799"/>
            <a:ext cx="3657600" cy="2091267"/>
          </a:xfrm>
        </p:spPr>
        <p:txBody>
          <a:bodyPr anchor="t">
            <a:normAutofit/>
          </a:bodyPr>
          <a:lstStyle>
            <a:lvl1pPr marL="0" indent="0">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AA9F9A6-54E7-4285-928E-6A5CE63E658D}" type="datetime1">
              <a:rPr lang="en-CA" smtClean="0"/>
              <a:t>2018-02-06</a:t>
            </a:fld>
            <a:endParaRPr lang="en-CA"/>
          </a:p>
        </p:txBody>
      </p:sp>
      <p:sp>
        <p:nvSpPr>
          <p:cNvPr id="6" name="Footer Placeholder 5"/>
          <p:cNvSpPr>
            <a:spLocks noGrp="1"/>
          </p:cNvSpPr>
          <p:nvPr>
            <p:ph type="ftr" sz="quarter" idx="11"/>
          </p:nvPr>
        </p:nvSpPr>
        <p:spPr/>
        <p:txBody>
          <a:bodyPr/>
          <a:lstStyle/>
          <a:p>
            <a:endParaRPr lang="en-CA"/>
          </a:p>
        </p:txBody>
      </p:sp>
      <p:sp>
        <p:nvSpPr>
          <p:cNvPr id="7" name="Slide Number Placeholder 6"/>
          <p:cNvSpPr>
            <a:spLocks noGrp="1"/>
          </p:cNvSpPr>
          <p:nvPr>
            <p:ph type="sldNum" sz="quarter" idx="12"/>
          </p:nvPr>
        </p:nvSpPr>
        <p:spPr/>
        <p:txBody>
          <a:bodyPr/>
          <a:lstStyle/>
          <a:p>
            <a:fld id="{7B2023C8-B124-43A9-8F92-0EEF5BAA9995}" type="slidenum">
              <a:rPr lang="en-CA" smtClean="0"/>
              <a:t>‹#›</a:t>
            </a:fld>
            <a:endParaRPr lang="en-CA"/>
          </a:p>
        </p:txBody>
      </p:sp>
    </p:spTree>
    <p:extLst>
      <p:ext uri="{BB962C8B-B14F-4D97-AF65-F5344CB8AC3E}">
        <p14:creationId xmlns:p14="http://schemas.microsoft.com/office/powerpoint/2010/main" val="406049492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722812" y="1447800"/>
            <a:ext cx="6019800" cy="1143000"/>
          </a:xfrm>
        </p:spPr>
        <p:txBody>
          <a:bodyPr anchor="b">
            <a:normAutofit/>
          </a:bodyPr>
          <a:lstStyle>
            <a:lvl1pPr algn="l">
              <a:defRPr sz="2800" b="0"/>
            </a:lvl1pPr>
          </a:lstStyle>
          <a:p>
            <a:r>
              <a:rPr lang="en-US" smtClean="0"/>
              <a:t>Click to edit Master title style</a:t>
            </a:r>
            <a:endParaRPr lang="en-US" dirty="0"/>
          </a:p>
        </p:txBody>
      </p:sp>
      <p:sp>
        <p:nvSpPr>
          <p:cNvPr id="14" name="Picture Placeholder 2"/>
          <p:cNvSpPr>
            <a:spLocks noGrp="1" noChangeAspect="1"/>
          </p:cNvSpPr>
          <p:nvPr>
            <p:ph type="pic" idx="1"/>
          </p:nvPr>
        </p:nvSpPr>
        <p:spPr>
          <a:xfrm>
            <a:off x="989012" y="914400"/>
            <a:ext cx="3280974" cy="4572000"/>
          </a:xfrm>
          <a:prstGeom prst="snip2DiagRect">
            <a:avLst>
              <a:gd name="adj1" fmla="val 10815"/>
              <a:gd name="adj2" fmla="val 0"/>
            </a:avLst>
          </a:prstGeom>
          <a:ln w="15875">
            <a:solidFill>
              <a:schemeClr val="tx1">
                <a:alpha val="40000"/>
              </a:schemeClr>
            </a:solidFill>
          </a:ln>
          <a:effectLst>
            <a:innerShdw blurRad="57150" dist="38100" dir="1446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smtClean="0"/>
              <a:t>Click icon to add picture</a:t>
            </a:r>
            <a:endParaRPr lang="en-US" dirty="0"/>
          </a:p>
        </p:txBody>
      </p:sp>
      <p:sp>
        <p:nvSpPr>
          <p:cNvPr id="4" name="Text Placeholder 3"/>
          <p:cNvSpPr>
            <a:spLocks noGrp="1"/>
          </p:cNvSpPr>
          <p:nvPr>
            <p:ph type="body" sz="half" idx="2"/>
          </p:nvPr>
        </p:nvSpPr>
        <p:spPr>
          <a:xfrm>
            <a:off x="4722812" y="2777066"/>
            <a:ext cx="6021388" cy="2048933"/>
          </a:xfrm>
        </p:spPr>
        <p:txBody>
          <a:bodyPr anchor="t">
            <a:normAutofit/>
          </a:bodyPr>
          <a:lstStyle>
            <a:lvl1pPr marL="0" indent="0">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6A9DADFC-E42D-4E18-8E7A-1F87E4DC64CF}" type="datetime1">
              <a:rPr lang="en-CA" smtClean="0"/>
              <a:t>2018-02-06</a:t>
            </a:fld>
            <a:endParaRPr lang="en-CA"/>
          </a:p>
        </p:txBody>
      </p:sp>
      <p:sp>
        <p:nvSpPr>
          <p:cNvPr id="6" name="Footer Placeholder 5"/>
          <p:cNvSpPr>
            <a:spLocks noGrp="1"/>
          </p:cNvSpPr>
          <p:nvPr>
            <p:ph type="ftr" sz="quarter" idx="11"/>
          </p:nvPr>
        </p:nvSpPr>
        <p:spPr/>
        <p:txBody>
          <a:bodyPr/>
          <a:lstStyle/>
          <a:p>
            <a:endParaRPr lang="en-CA"/>
          </a:p>
        </p:txBody>
      </p:sp>
      <p:sp>
        <p:nvSpPr>
          <p:cNvPr id="7" name="Slide Number Placeholder 6"/>
          <p:cNvSpPr>
            <a:spLocks noGrp="1"/>
          </p:cNvSpPr>
          <p:nvPr>
            <p:ph type="sldNum" sz="quarter" idx="12"/>
          </p:nvPr>
        </p:nvSpPr>
        <p:spPr/>
        <p:txBody>
          <a:bodyPr/>
          <a:lstStyle/>
          <a:p>
            <a:fld id="{7B2023C8-B124-43A9-8F92-0EEF5BAA9995}" type="slidenum">
              <a:rPr lang="en-CA" smtClean="0"/>
              <a:t>‹#›</a:t>
            </a:fld>
            <a:endParaRPr lang="en-CA"/>
          </a:p>
        </p:txBody>
      </p:sp>
    </p:spTree>
    <p:extLst>
      <p:ext uri="{BB962C8B-B14F-4D97-AF65-F5344CB8AC3E}">
        <p14:creationId xmlns:p14="http://schemas.microsoft.com/office/powerpoint/2010/main" val="135510327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17" name="Picture Placeholder 2"/>
          <p:cNvSpPr>
            <a:spLocks noGrp="1" noChangeAspect="1"/>
          </p:cNvSpPr>
          <p:nvPr>
            <p:ph type="pic" idx="13"/>
          </p:nvPr>
        </p:nvSpPr>
        <p:spPr>
          <a:xfrm>
            <a:off x="685800" y="533400"/>
            <a:ext cx="10818812" cy="3124200"/>
          </a:xfrm>
          <a:prstGeom prst="snip2DiagRect">
            <a:avLst>
              <a:gd name="adj1" fmla="val 10815"/>
              <a:gd name="adj2" fmla="val 0"/>
            </a:avLst>
          </a:prstGeom>
          <a:ln w="15875">
            <a:solidFill>
              <a:schemeClr val="tx1">
                <a:alpha val="40000"/>
              </a:schemeClr>
            </a:solidFill>
          </a:ln>
          <a:effectLst>
            <a:innerShdw blurRad="57150" dist="38100" dir="1446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smtClean="0"/>
              <a:t>Click icon to add picture</a:t>
            </a:r>
            <a:endParaRPr lang="en-US" dirty="0"/>
          </a:p>
        </p:txBody>
      </p:sp>
      <p:sp>
        <p:nvSpPr>
          <p:cNvPr id="16" name="Text Placeholder 9"/>
          <p:cNvSpPr>
            <a:spLocks noGrp="1"/>
          </p:cNvSpPr>
          <p:nvPr>
            <p:ph type="body" sz="quarter" idx="14"/>
          </p:nvPr>
        </p:nvSpPr>
        <p:spPr>
          <a:xfrm>
            <a:off x="914402" y="3843867"/>
            <a:ext cx="8304210" cy="457200"/>
          </a:xfrm>
        </p:spPr>
        <p:txBody>
          <a:bodyPr anchor="t">
            <a:normAutofit/>
          </a:bodyPr>
          <a:lstStyle>
            <a:lvl1pPr marL="0" indent="0">
              <a:buFontTx/>
              <a:buNone/>
              <a:defRPr sz="1600"/>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smtClean="0"/>
              <a:t>Click to edit Master text styles</a:t>
            </a:r>
          </a:p>
        </p:txBody>
      </p:sp>
      <p:sp>
        <p:nvSpPr>
          <p:cNvPr id="3" name="Date Placeholder 2"/>
          <p:cNvSpPr>
            <a:spLocks noGrp="1"/>
          </p:cNvSpPr>
          <p:nvPr>
            <p:ph type="dt" sz="half" idx="10"/>
          </p:nvPr>
        </p:nvSpPr>
        <p:spPr/>
        <p:txBody>
          <a:bodyPr/>
          <a:lstStyle/>
          <a:p>
            <a:fld id="{C89DCB4F-0D89-4D46-BA02-4EEC06F0D222}" type="datetime1">
              <a:rPr lang="en-CA" smtClean="0"/>
              <a:t>2018-02-06</a:t>
            </a:fld>
            <a:endParaRPr lang="en-CA"/>
          </a:p>
        </p:txBody>
      </p:sp>
      <p:sp>
        <p:nvSpPr>
          <p:cNvPr id="4" name="Footer Placeholder 3"/>
          <p:cNvSpPr>
            <a:spLocks noGrp="1"/>
          </p:cNvSpPr>
          <p:nvPr>
            <p:ph type="ftr" sz="quarter" idx="11"/>
          </p:nvPr>
        </p:nvSpPr>
        <p:spPr/>
        <p:txBody>
          <a:bodyPr/>
          <a:lstStyle/>
          <a:p>
            <a:endParaRPr lang="en-CA"/>
          </a:p>
        </p:txBody>
      </p:sp>
      <p:sp>
        <p:nvSpPr>
          <p:cNvPr id="5" name="Slide Number Placeholder 4"/>
          <p:cNvSpPr>
            <a:spLocks noGrp="1"/>
          </p:cNvSpPr>
          <p:nvPr>
            <p:ph type="sldNum" sz="quarter" idx="12"/>
          </p:nvPr>
        </p:nvSpPr>
        <p:spPr/>
        <p:txBody>
          <a:bodyPr/>
          <a:lstStyle/>
          <a:p>
            <a:fld id="{7B2023C8-B124-43A9-8F92-0EEF5BAA9995}" type="slidenum">
              <a:rPr lang="en-CA" smtClean="0"/>
              <a:t>‹#›</a:t>
            </a:fld>
            <a:endParaRPr lang="en-CA"/>
          </a:p>
        </p:txBody>
      </p:sp>
    </p:spTree>
    <p:extLst>
      <p:ext uri="{BB962C8B-B14F-4D97-AF65-F5344CB8AC3E}">
        <p14:creationId xmlns:p14="http://schemas.microsoft.com/office/powerpoint/2010/main" val="280329535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84213" y="685800"/>
            <a:ext cx="10058400" cy="2743200"/>
          </a:xfrm>
        </p:spPr>
        <p:txBody>
          <a:bodyPr anchor="ctr">
            <a:normAutofit/>
          </a:bodyPr>
          <a:lstStyle>
            <a:lvl1pPr algn="l">
              <a:defRPr sz="3200" b="0" cap="all"/>
            </a:lvl1pPr>
          </a:lstStyle>
          <a:p>
            <a:r>
              <a:rPr lang="en-US" smtClean="0"/>
              <a:t>Click to edit Master title style</a:t>
            </a:r>
            <a:endParaRPr lang="en-US" dirty="0"/>
          </a:p>
        </p:txBody>
      </p:sp>
      <p:sp>
        <p:nvSpPr>
          <p:cNvPr id="3" name="Text Placeholder 2"/>
          <p:cNvSpPr>
            <a:spLocks noGrp="1"/>
          </p:cNvSpPr>
          <p:nvPr>
            <p:ph type="body" idx="1"/>
          </p:nvPr>
        </p:nvSpPr>
        <p:spPr>
          <a:xfrm>
            <a:off x="684212" y="4114800"/>
            <a:ext cx="8535988" cy="1879600"/>
          </a:xfrm>
        </p:spPr>
        <p:txBody>
          <a:bodyPr anchor="ctr">
            <a:normAutofit/>
          </a:bodyPr>
          <a:lstStyle>
            <a:lvl1pPr marL="0" indent="0" algn="l">
              <a:buNone/>
              <a:defRPr sz="2000">
                <a:solidFill>
                  <a:schemeClr val="bg2">
                    <a:lumMod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FC2696F7-A71E-484D-AC3A-CE094204994B}" type="datetime1">
              <a:rPr lang="en-CA" smtClean="0"/>
              <a:t>2018-02-06</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7B2023C8-B124-43A9-8F92-0EEF5BAA9995}" type="slidenum">
              <a:rPr lang="en-CA" smtClean="0"/>
              <a:t>‹#›</a:t>
            </a:fld>
            <a:endParaRPr lang="en-CA"/>
          </a:p>
        </p:txBody>
      </p:sp>
    </p:spTree>
    <p:extLst>
      <p:ext uri="{BB962C8B-B14F-4D97-AF65-F5344CB8AC3E}">
        <p14:creationId xmlns:p14="http://schemas.microsoft.com/office/powerpoint/2010/main" val="249895864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11" y="685800"/>
            <a:ext cx="9144001" cy="2743200"/>
          </a:xfrm>
        </p:spPr>
        <p:txBody>
          <a:bodyPr anchor="ctr">
            <a:normAutofit/>
          </a:bodyPr>
          <a:lstStyle>
            <a:lvl1pPr algn="l">
              <a:defRPr sz="3200" b="0" cap="all">
                <a:solidFill>
                  <a:schemeClr val="tx1"/>
                </a:solidFill>
              </a:defRPr>
            </a:lvl1pPr>
          </a:lstStyle>
          <a:p>
            <a:r>
              <a:rPr lang="en-US" smtClean="0"/>
              <a:t>Click to edit Master title style</a:t>
            </a:r>
            <a:endParaRPr lang="en-US" dirty="0"/>
          </a:p>
        </p:txBody>
      </p:sp>
      <p:sp>
        <p:nvSpPr>
          <p:cNvPr id="10" name="Text Placeholder 9"/>
          <p:cNvSpPr>
            <a:spLocks noGrp="1"/>
          </p:cNvSpPr>
          <p:nvPr>
            <p:ph type="body" sz="quarter" idx="13"/>
          </p:nvPr>
        </p:nvSpPr>
        <p:spPr>
          <a:xfrm>
            <a:off x="1446212" y="3429000"/>
            <a:ext cx="8534400" cy="381000"/>
          </a:xfrm>
        </p:spPr>
        <p:txBody>
          <a:bodyPr anchor="ctr"/>
          <a:lstStyle>
            <a:lvl1pPr marL="0" indent="0">
              <a:buFontTx/>
              <a:buNone/>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smtClean="0"/>
              <a:t>Click to edit Master text styles</a:t>
            </a:r>
          </a:p>
        </p:txBody>
      </p:sp>
      <p:sp>
        <p:nvSpPr>
          <p:cNvPr id="3" name="Text Placeholder 2"/>
          <p:cNvSpPr>
            <a:spLocks noGrp="1"/>
          </p:cNvSpPr>
          <p:nvPr>
            <p:ph type="body" idx="1"/>
          </p:nvPr>
        </p:nvSpPr>
        <p:spPr>
          <a:xfrm>
            <a:off x="684213" y="4301067"/>
            <a:ext cx="8534400" cy="1684865"/>
          </a:xfrm>
        </p:spPr>
        <p:txBody>
          <a:bodyPr anchor="ctr">
            <a:normAutofit/>
          </a:bodyPr>
          <a:lstStyle>
            <a:lvl1pPr marL="0" indent="0" algn="l">
              <a:buNone/>
              <a:defRPr sz="2000">
                <a:solidFill>
                  <a:schemeClr val="bg2">
                    <a:lumMod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FF2026A3-D9E4-42EE-8898-5602D67646A6}" type="datetime1">
              <a:rPr lang="en-CA" smtClean="0"/>
              <a:t>2018-02-06</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7B2023C8-B124-43A9-8F92-0EEF5BAA9995}" type="slidenum">
              <a:rPr lang="en-CA" smtClean="0"/>
              <a:t>‹#›</a:t>
            </a:fld>
            <a:endParaRPr lang="en-CA"/>
          </a:p>
        </p:txBody>
      </p:sp>
      <p:sp>
        <p:nvSpPr>
          <p:cNvPr id="14" name="TextBox 13"/>
          <p:cNvSpPr txBox="1"/>
          <p:nvPr/>
        </p:nvSpPr>
        <p:spPr>
          <a:xfrm>
            <a:off x="531812" y="812222"/>
            <a:ext cx="609600" cy="584776"/>
          </a:xfrm>
          <a:prstGeom prst="rect">
            <a:avLst/>
          </a:prstGeom>
        </p:spPr>
        <p:txBody>
          <a:bodyPr vert="horz" lIns="91440" tIns="45720" rIns="91440" bIns="45720" rtlCol="0" anchor="ctr">
            <a:noAutofit/>
          </a:bodyPr>
          <a:lstStyle/>
          <a:p>
            <a:pPr lvl="0"/>
            <a:r>
              <a:rPr lang="en-US" sz="8000" dirty="0">
                <a:solidFill>
                  <a:schemeClr val="tx1"/>
                </a:solidFill>
                <a:effectLst/>
              </a:rPr>
              <a:t>“</a:t>
            </a:r>
          </a:p>
        </p:txBody>
      </p:sp>
      <p:sp>
        <p:nvSpPr>
          <p:cNvPr id="15" name="TextBox 14"/>
          <p:cNvSpPr txBox="1"/>
          <p:nvPr/>
        </p:nvSpPr>
        <p:spPr>
          <a:xfrm>
            <a:off x="10285412" y="2768601"/>
            <a:ext cx="609600" cy="584776"/>
          </a:xfrm>
          <a:prstGeom prst="rect">
            <a:avLst/>
          </a:prstGeom>
        </p:spPr>
        <p:txBody>
          <a:bodyPr vert="horz" lIns="91440" tIns="45720" rIns="91440" bIns="45720" rtlCol="0" anchor="ctr">
            <a:noAutofit/>
          </a:bodyPr>
          <a:lstStyle/>
          <a:p>
            <a:pPr lvl="0" algn="r"/>
            <a:r>
              <a:rPr lang="en-US" sz="8000" dirty="0">
                <a:solidFill>
                  <a:schemeClr val="tx1"/>
                </a:solidFill>
                <a:effectLst/>
              </a:rPr>
              <a:t>”</a:t>
            </a:r>
          </a:p>
        </p:txBody>
      </p:sp>
    </p:spTree>
    <p:extLst>
      <p:ext uri="{BB962C8B-B14F-4D97-AF65-F5344CB8AC3E}">
        <p14:creationId xmlns:p14="http://schemas.microsoft.com/office/powerpoint/2010/main" val="378670628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84212" y="3429000"/>
            <a:ext cx="8534400" cy="1697400"/>
          </a:xfrm>
        </p:spPr>
        <p:txBody>
          <a:bodyPr anchor="b">
            <a:normAutofit/>
          </a:bodyPr>
          <a:lstStyle>
            <a:lvl1pPr algn="l">
              <a:defRPr sz="3200" b="0" cap="all"/>
            </a:lvl1pPr>
          </a:lstStyle>
          <a:p>
            <a:r>
              <a:rPr lang="en-US" smtClean="0"/>
              <a:t>Click to edit Master title style</a:t>
            </a:r>
            <a:endParaRPr lang="en-US" dirty="0"/>
          </a:p>
        </p:txBody>
      </p:sp>
      <p:sp>
        <p:nvSpPr>
          <p:cNvPr id="3" name="Text Placeholder 2"/>
          <p:cNvSpPr>
            <a:spLocks noGrp="1"/>
          </p:cNvSpPr>
          <p:nvPr>
            <p:ph type="body" idx="1"/>
          </p:nvPr>
        </p:nvSpPr>
        <p:spPr>
          <a:xfrm>
            <a:off x="684211" y="5132981"/>
            <a:ext cx="8535990" cy="860400"/>
          </a:xfrm>
        </p:spPr>
        <p:txBody>
          <a:bodyPr anchor="t">
            <a:normAutofit/>
          </a:bodyPr>
          <a:lstStyle>
            <a:lvl1pPr marL="0" indent="0" algn="l">
              <a:buNone/>
              <a:defRPr sz="2000">
                <a:solidFill>
                  <a:schemeClr val="bg2">
                    <a:lumMod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382851CE-B33E-4D8E-B913-47C489FB1326}" type="datetime1">
              <a:rPr lang="en-CA" smtClean="0"/>
              <a:t>2018-02-06</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7B2023C8-B124-43A9-8F92-0EEF5BAA9995}" type="slidenum">
              <a:rPr lang="en-CA" smtClean="0"/>
              <a:t>‹#›</a:t>
            </a:fld>
            <a:endParaRPr lang="en-CA"/>
          </a:p>
        </p:txBody>
      </p:sp>
    </p:spTree>
    <p:extLst>
      <p:ext uri="{BB962C8B-B14F-4D97-AF65-F5344CB8AC3E}">
        <p14:creationId xmlns:p14="http://schemas.microsoft.com/office/powerpoint/2010/main" val="386857988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1141413" y="685800"/>
            <a:ext cx="9144000" cy="2743200"/>
          </a:xfrm>
        </p:spPr>
        <p:txBody>
          <a:bodyPr anchor="ctr">
            <a:normAutofit/>
          </a:bodyPr>
          <a:lstStyle>
            <a:lvl1pPr algn="l">
              <a:defRPr sz="3200" b="0" cap="all">
                <a:solidFill>
                  <a:schemeClr val="tx1"/>
                </a:solidFill>
              </a:defRPr>
            </a:lvl1pPr>
          </a:lstStyle>
          <a:p>
            <a:r>
              <a:rPr lang="en-US" smtClean="0"/>
              <a:t>Click to edit Master title style</a:t>
            </a:r>
            <a:endParaRPr lang="en-US" dirty="0"/>
          </a:p>
        </p:txBody>
      </p:sp>
      <p:sp>
        <p:nvSpPr>
          <p:cNvPr id="10" name="Text Placeholder 9"/>
          <p:cNvSpPr>
            <a:spLocks noGrp="1"/>
          </p:cNvSpPr>
          <p:nvPr>
            <p:ph type="body" sz="quarter" idx="13"/>
          </p:nvPr>
        </p:nvSpPr>
        <p:spPr>
          <a:xfrm>
            <a:off x="684212" y="3928534"/>
            <a:ext cx="8534401" cy="1049866"/>
          </a:xfrm>
        </p:spPr>
        <p:txBody>
          <a:bodyPr vert="horz" lIns="91440" tIns="45720" rIns="91440" bIns="45720" rtlCol="0" anchor="b">
            <a:normAutofit/>
          </a:bodyPr>
          <a:lstStyle>
            <a:lvl1pPr>
              <a:buNone/>
              <a:defRPr lang="en-US" sz="2400" b="0" cap="all" dirty="0">
                <a:ln w="3175" cmpd="sng">
                  <a:noFill/>
                </a:ln>
                <a:solidFill>
                  <a:schemeClr val="tx1"/>
                </a:solidFill>
                <a:effectLst/>
              </a:defRPr>
            </a:lvl1pPr>
          </a:lstStyle>
          <a:p>
            <a:pPr marL="0" lvl="0">
              <a:spcBef>
                <a:spcPct val="0"/>
              </a:spcBef>
              <a:buNone/>
            </a:pPr>
            <a:r>
              <a:rPr lang="en-US" smtClean="0"/>
              <a:t>Click to edit Master text styles</a:t>
            </a:r>
          </a:p>
        </p:txBody>
      </p:sp>
      <p:sp>
        <p:nvSpPr>
          <p:cNvPr id="3" name="Text Placeholder 2"/>
          <p:cNvSpPr>
            <a:spLocks noGrp="1"/>
          </p:cNvSpPr>
          <p:nvPr>
            <p:ph type="body" idx="1"/>
          </p:nvPr>
        </p:nvSpPr>
        <p:spPr>
          <a:xfrm>
            <a:off x="684211" y="4978400"/>
            <a:ext cx="8534401" cy="1016000"/>
          </a:xfrm>
        </p:spPr>
        <p:txBody>
          <a:bodyPr anchor="t">
            <a:normAutofit/>
          </a:bodyPr>
          <a:lstStyle>
            <a:lvl1pPr marL="0" indent="0" algn="l">
              <a:buNone/>
              <a:defRPr sz="1800">
                <a:solidFill>
                  <a:schemeClr val="bg2">
                    <a:lumMod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D0249205-445A-4022-8550-E0423D1698F6}" type="datetime1">
              <a:rPr lang="en-CA" smtClean="0"/>
              <a:t>2018-02-06</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7B2023C8-B124-43A9-8F92-0EEF5BAA9995}" type="slidenum">
              <a:rPr lang="en-CA" smtClean="0"/>
              <a:t>‹#›</a:t>
            </a:fld>
            <a:endParaRPr lang="en-CA"/>
          </a:p>
        </p:txBody>
      </p:sp>
      <p:sp>
        <p:nvSpPr>
          <p:cNvPr id="11" name="TextBox 10"/>
          <p:cNvSpPr txBox="1"/>
          <p:nvPr/>
        </p:nvSpPr>
        <p:spPr>
          <a:xfrm>
            <a:off x="531812" y="812222"/>
            <a:ext cx="609600" cy="584776"/>
          </a:xfrm>
          <a:prstGeom prst="rect">
            <a:avLst/>
          </a:prstGeom>
        </p:spPr>
        <p:txBody>
          <a:bodyPr vert="horz" lIns="91440" tIns="45720" rIns="91440" bIns="45720" rtlCol="0" anchor="ctr">
            <a:noAutofit/>
          </a:bodyPr>
          <a:lstStyle/>
          <a:p>
            <a:pPr lvl="0"/>
            <a:r>
              <a:rPr lang="en-US" sz="8000" dirty="0">
                <a:solidFill>
                  <a:schemeClr val="tx1"/>
                </a:solidFill>
                <a:effectLst/>
              </a:rPr>
              <a:t>“</a:t>
            </a:r>
          </a:p>
        </p:txBody>
      </p:sp>
      <p:sp>
        <p:nvSpPr>
          <p:cNvPr id="12" name="TextBox 11"/>
          <p:cNvSpPr txBox="1"/>
          <p:nvPr/>
        </p:nvSpPr>
        <p:spPr>
          <a:xfrm>
            <a:off x="10285412" y="2768601"/>
            <a:ext cx="609600" cy="584776"/>
          </a:xfrm>
          <a:prstGeom prst="rect">
            <a:avLst/>
          </a:prstGeom>
        </p:spPr>
        <p:txBody>
          <a:bodyPr vert="horz" lIns="91440" tIns="45720" rIns="91440" bIns="45720" rtlCol="0" anchor="ctr">
            <a:noAutofit/>
          </a:bodyPr>
          <a:lstStyle/>
          <a:p>
            <a:pPr lvl="0" algn="r"/>
            <a:r>
              <a:rPr lang="en-US" sz="8000" dirty="0">
                <a:solidFill>
                  <a:schemeClr val="tx1"/>
                </a:solidFill>
                <a:effectLst/>
              </a:rPr>
              <a:t>”</a:t>
            </a:r>
          </a:p>
        </p:txBody>
      </p:sp>
    </p:spTree>
    <p:extLst>
      <p:ext uri="{BB962C8B-B14F-4D97-AF65-F5344CB8AC3E}">
        <p14:creationId xmlns:p14="http://schemas.microsoft.com/office/powerpoint/2010/main" val="325301549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684213" y="685800"/>
            <a:ext cx="10058400" cy="2743200"/>
          </a:xfrm>
        </p:spPr>
        <p:txBody>
          <a:bodyPr vert="horz" lIns="91440" tIns="45720" rIns="91440" bIns="45720" rtlCol="0" anchor="ctr">
            <a:normAutofit/>
          </a:bodyPr>
          <a:lstStyle>
            <a:lvl1pPr>
              <a:defRPr lang="en-US" b="0" dirty="0"/>
            </a:lvl1pPr>
          </a:lstStyle>
          <a:p>
            <a:pPr marL="0" lvl="0"/>
            <a:r>
              <a:rPr lang="en-US" smtClean="0"/>
              <a:t>Click to edit Master title style</a:t>
            </a:r>
            <a:endParaRPr lang="en-US" dirty="0"/>
          </a:p>
        </p:txBody>
      </p:sp>
      <p:sp>
        <p:nvSpPr>
          <p:cNvPr id="10" name="Text Placeholder 9"/>
          <p:cNvSpPr>
            <a:spLocks noGrp="1"/>
          </p:cNvSpPr>
          <p:nvPr>
            <p:ph type="body" sz="quarter" idx="13"/>
          </p:nvPr>
        </p:nvSpPr>
        <p:spPr>
          <a:xfrm>
            <a:off x="684212" y="3928534"/>
            <a:ext cx="8534400" cy="838200"/>
          </a:xfrm>
        </p:spPr>
        <p:txBody>
          <a:bodyPr vert="horz" lIns="91440" tIns="45720" rIns="91440" bIns="45720" rtlCol="0" anchor="b">
            <a:normAutofit/>
          </a:bodyPr>
          <a:lstStyle>
            <a:lvl1pPr>
              <a:buNone/>
              <a:defRPr lang="en-US" sz="2400" b="0" cap="all" dirty="0">
                <a:ln w="3175" cmpd="sng">
                  <a:noFill/>
                </a:ln>
                <a:solidFill>
                  <a:schemeClr val="tx1"/>
                </a:solidFill>
                <a:effectLst/>
              </a:defRPr>
            </a:lvl1pPr>
          </a:lstStyle>
          <a:p>
            <a:pPr marL="0" lvl="0">
              <a:spcBef>
                <a:spcPct val="0"/>
              </a:spcBef>
              <a:buNone/>
            </a:pPr>
            <a:r>
              <a:rPr lang="en-US" smtClean="0"/>
              <a:t>Click to edit Master text styles</a:t>
            </a:r>
          </a:p>
        </p:txBody>
      </p:sp>
      <p:sp>
        <p:nvSpPr>
          <p:cNvPr id="3" name="Text Placeholder 2"/>
          <p:cNvSpPr>
            <a:spLocks noGrp="1"/>
          </p:cNvSpPr>
          <p:nvPr>
            <p:ph type="body" idx="1"/>
          </p:nvPr>
        </p:nvSpPr>
        <p:spPr>
          <a:xfrm>
            <a:off x="684211" y="4766732"/>
            <a:ext cx="8534401" cy="1227667"/>
          </a:xfrm>
        </p:spPr>
        <p:txBody>
          <a:bodyPr anchor="t">
            <a:normAutofit/>
          </a:bodyPr>
          <a:lstStyle>
            <a:lvl1pPr marL="0" indent="0" algn="l">
              <a:buNone/>
              <a:defRPr sz="1800">
                <a:solidFill>
                  <a:schemeClr val="bg2">
                    <a:lumMod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4928CFC7-231B-411E-A147-D21C0786264A}" type="datetime1">
              <a:rPr lang="en-CA" smtClean="0"/>
              <a:t>2018-02-06</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7B2023C8-B124-43A9-8F92-0EEF5BAA9995}" type="slidenum">
              <a:rPr lang="en-CA" smtClean="0"/>
              <a:t>‹#›</a:t>
            </a:fld>
            <a:endParaRPr lang="en-CA"/>
          </a:p>
        </p:txBody>
      </p:sp>
    </p:spTree>
    <p:extLst>
      <p:ext uri="{BB962C8B-B14F-4D97-AF65-F5344CB8AC3E}">
        <p14:creationId xmlns:p14="http://schemas.microsoft.com/office/powerpoint/2010/main" val="190266410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l">
              <a:defRPr/>
            </a:lvl1pPr>
          </a:lstStyle>
          <a:p>
            <a:r>
              <a:rPr lang="en-US" smtClean="0"/>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10"/>
          </p:nvPr>
        </p:nvSpPr>
        <p:spPr/>
        <p:txBody>
          <a:bodyPr/>
          <a:lstStyle/>
          <a:p>
            <a:fld id="{EE4A103E-C7C6-4893-8576-55DC8ED846C7}" type="datetime1">
              <a:rPr lang="en-CA" smtClean="0"/>
              <a:t>2018-02-06</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7B2023C8-B124-43A9-8F92-0EEF5BAA9995}" type="slidenum">
              <a:rPr lang="en-CA" smtClean="0"/>
              <a:t>‹#›</a:t>
            </a:fld>
            <a:endParaRPr lang="en-CA"/>
          </a:p>
        </p:txBody>
      </p:sp>
    </p:spTree>
    <p:extLst>
      <p:ext uri="{BB962C8B-B14F-4D97-AF65-F5344CB8AC3E}">
        <p14:creationId xmlns:p14="http://schemas.microsoft.com/office/powerpoint/2010/main" val="447036131"/>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685212" y="685800"/>
            <a:ext cx="2057400" cy="4572000"/>
          </a:xfrm>
        </p:spPr>
        <p:txBody>
          <a:bodyPr vert="eaVert"/>
          <a:lstStyle/>
          <a:p>
            <a:r>
              <a:rPr lang="en-US" smtClean="0"/>
              <a:t>Click to edit Master title style</a:t>
            </a:r>
            <a:endParaRPr lang="en-US" dirty="0"/>
          </a:p>
        </p:txBody>
      </p:sp>
      <p:sp>
        <p:nvSpPr>
          <p:cNvPr id="3" name="Vertical Text Placeholder 2"/>
          <p:cNvSpPr>
            <a:spLocks noGrp="1"/>
          </p:cNvSpPr>
          <p:nvPr>
            <p:ph type="body" orient="vert" idx="1"/>
          </p:nvPr>
        </p:nvSpPr>
        <p:spPr>
          <a:xfrm>
            <a:off x="685800" y="685800"/>
            <a:ext cx="7823200" cy="5308600"/>
          </a:xfrm>
        </p:spPr>
        <p:txBody>
          <a:bodyPr vert="eaVert" ancho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10"/>
          </p:nvPr>
        </p:nvSpPr>
        <p:spPr/>
        <p:txBody>
          <a:bodyPr/>
          <a:lstStyle/>
          <a:p>
            <a:fld id="{E79FAEEE-621B-4F9D-B0C9-9282EED4D31D}" type="datetime1">
              <a:rPr lang="en-CA" smtClean="0"/>
              <a:t>2018-02-06</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7B2023C8-B124-43A9-8F92-0EEF5BAA9995}" type="slidenum">
              <a:rPr lang="en-CA" smtClean="0"/>
              <a:t>‹#›</a:t>
            </a:fld>
            <a:endParaRPr lang="en-CA"/>
          </a:p>
        </p:txBody>
      </p:sp>
    </p:spTree>
    <p:extLst>
      <p:ext uri="{BB962C8B-B14F-4D97-AF65-F5344CB8AC3E}">
        <p14:creationId xmlns:p14="http://schemas.microsoft.com/office/powerpoint/2010/main" val="28991417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grpSp>
        <p:nvGrpSpPr>
          <p:cNvPr id="7" name="Group 6"/>
          <p:cNvGrpSpPr/>
          <p:nvPr/>
        </p:nvGrpSpPr>
        <p:grpSpPr>
          <a:xfrm rot="16200000">
            <a:off x="9093845" y="-109806"/>
            <a:ext cx="2981858" cy="3208867"/>
            <a:chOff x="9206969" y="2963333"/>
            <a:chExt cx="2981858" cy="3208867"/>
          </a:xfrm>
        </p:grpSpPr>
        <p:cxnSp>
          <p:nvCxnSpPr>
            <p:cNvPr id="8" name="Straight Connector 7"/>
            <p:cNvCxnSpPr/>
            <p:nvPr/>
          </p:nvCxnSpPr>
          <p:spPr>
            <a:xfrm flipH="1">
              <a:off x="11276012" y="2963333"/>
              <a:ext cx="912814" cy="912812"/>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cxnSp>
          <p:nvCxnSpPr>
            <p:cNvPr id="9" name="Straight Connector 8"/>
            <p:cNvCxnSpPr/>
            <p:nvPr/>
          </p:nvCxnSpPr>
          <p:spPr>
            <a:xfrm flipH="1">
              <a:off x="9206969" y="3190344"/>
              <a:ext cx="2981857" cy="2981856"/>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cxnSp>
          <p:nvCxnSpPr>
            <p:cNvPr id="10" name="Straight Connector 9"/>
            <p:cNvCxnSpPr/>
            <p:nvPr/>
          </p:nvCxnSpPr>
          <p:spPr>
            <a:xfrm flipH="1">
              <a:off x="10292292" y="3285067"/>
              <a:ext cx="1896534" cy="1896533"/>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cxnSp>
          <p:nvCxnSpPr>
            <p:cNvPr id="11" name="Straight Connector 10"/>
            <p:cNvCxnSpPr/>
            <p:nvPr/>
          </p:nvCxnSpPr>
          <p:spPr>
            <a:xfrm flipH="1">
              <a:off x="10443103" y="3131080"/>
              <a:ext cx="1745722" cy="1745720"/>
            </a:xfrm>
            <a:prstGeom prst="line">
              <a:avLst/>
            </a:prstGeom>
            <a:ln w="28575">
              <a:solidFill>
                <a:schemeClr val="tx2"/>
              </a:solidFill>
            </a:ln>
          </p:spPr>
          <p:style>
            <a:lnRef idx="2">
              <a:schemeClr val="accent1"/>
            </a:lnRef>
            <a:fillRef idx="0">
              <a:schemeClr val="accent1"/>
            </a:fillRef>
            <a:effectRef idx="1">
              <a:schemeClr val="accent1"/>
            </a:effectRef>
            <a:fontRef idx="minor">
              <a:schemeClr val="tx1"/>
            </a:fontRef>
          </p:style>
        </p:cxnSp>
        <p:cxnSp>
          <p:nvCxnSpPr>
            <p:cNvPr id="12" name="Straight Connector 11"/>
            <p:cNvCxnSpPr/>
            <p:nvPr/>
          </p:nvCxnSpPr>
          <p:spPr>
            <a:xfrm flipH="1">
              <a:off x="10918826" y="3683001"/>
              <a:ext cx="1270001" cy="1269999"/>
            </a:xfrm>
            <a:prstGeom prst="line">
              <a:avLst/>
            </a:prstGeom>
            <a:ln w="28575">
              <a:solidFill>
                <a:schemeClr val="tx2"/>
              </a:solidFill>
            </a:ln>
          </p:spPr>
          <p:style>
            <a:lnRef idx="2">
              <a:schemeClr val="accent1"/>
            </a:lnRef>
            <a:fillRef idx="0">
              <a:schemeClr val="accent1"/>
            </a:fillRef>
            <a:effectRef idx="1">
              <a:schemeClr val="accent1"/>
            </a:effectRef>
            <a:fontRef idx="minor">
              <a:schemeClr val="tx1"/>
            </a:fontRef>
          </p:style>
        </p:cxnSp>
      </p:grpSp>
      <p:sp>
        <p:nvSpPr>
          <p:cNvPr id="2" name="Title Placeholder 1"/>
          <p:cNvSpPr>
            <a:spLocks noGrp="1"/>
          </p:cNvSpPr>
          <p:nvPr>
            <p:ph type="title"/>
          </p:nvPr>
        </p:nvSpPr>
        <p:spPr>
          <a:xfrm>
            <a:off x="684212" y="170"/>
            <a:ext cx="8534400" cy="1507067"/>
          </a:xfrm>
          <a:prstGeom prst="rect">
            <a:avLst/>
          </a:prstGeom>
          <a:effectLst/>
        </p:spPr>
        <p:txBody>
          <a:bodyPr vert="horz" lIns="91440" tIns="45720" rIns="91440" bIns="45720" rtlCol="0" anchor="ctr">
            <a:normAutofit/>
          </a:bodyPr>
          <a:lstStyle/>
          <a:p>
            <a:r>
              <a:rPr lang="en-US" dirty="0" smtClean="0"/>
              <a:t>Click to edit Master title style</a:t>
            </a:r>
            <a:endParaRPr lang="en-US" dirty="0"/>
          </a:p>
        </p:txBody>
      </p:sp>
      <p:sp>
        <p:nvSpPr>
          <p:cNvPr id="3" name="Text Placeholder 2"/>
          <p:cNvSpPr>
            <a:spLocks noGrp="1"/>
          </p:cNvSpPr>
          <p:nvPr>
            <p:ph type="body" idx="1"/>
          </p:nvPr>
        </p:nvSpPr>
        <p:spPr>
          <a:xfrm>
            <a:off x="684211" y="1515358"/>
            <a:ext cx="10285797" cy="4656841"/>
          </a:xfrm>
          <a:prstGeom prst="rect">
            <a:avLst/>
          </a:prstGeom>
        </p:spPr>
        <p:txBody>
          <a:bodyPr vert="horz" lIns="91440" tIns="45720" rIns="91440" bIns="45720" rtlCol="0" anchor="t">
            <a:normAutofit/>
          </a:bodyPr>
          <a:lstStyle/>
          <a:p>
            <a:pPr lvl="0"/>
            <a:r>
              <a:rPr lang="en-US" dirty="0" smtClean="0"/>
              <a:t>Click to edit Master text styles</a:t>
            </a:r>
          </a:p>
          <a:p>
            <a:pPr lvl="1"/>
            <a:r>
              <a:rPr lang="en-US" dirty="0" smtClean="0"/>
              <a:t>Second level</a:t>
            </a:r>
          </a:p>
          <a:p>
            <a:pPr lvl="2"/>
            <a:r>
              <a:rPr lang="en-US" dirty="0" smtClean="0"/>
              <a:t>Third level</a:t>
            </a:r>
          </a:p>
          <a:p>
            <a:pPr lvl="3"/>
            <a:r>
              <a:rPr lang="en-US" dirty="0" smtClean="0"/>
              <a:t>Fourth level</a:t>
            </a:r>
          </a:p>
          <a:p>
            <a:pPr lvl="4"/>
            <a:r>
              <a:rPr lang="en-US" dirty="0" smtClean="0"/>
              <a:t>Fifth level</a:t>
            </a:r>
            <a:endParaRPr lang="en-US" dirty="0"/>
          </a:p>
        </p:txBody>
      </p:sp>
      <p:sp>
        <p:nvSpPr>
          <p:cNvPr id="4" name="Date Placeholder 3"/>
          <p:cNvSpPr>
            <a:spLocks noGrp="1"/>
          </p:cNvSpPr>
          <p:nvPr>
            <p:ph type="dt" sz="half" idx="2"/>
          </p:nvPr>
        </p:nvSpPr>
        <p:spPr>
          <a:xfrm>
            <a:off x="9904412" y="6172200"/>
            <a:ext cx="1600200" cy="365125"/>
          </a:xfrm>
          <a:prstGeom prst="rect">
            <a:avLst/>
          </a:prstGeom>
        </p:spPr>
        <p:txBody>
          <a:bodyPr vert="horz" lIns="91440" tIns="45720" rIns="91440" bIns="45720" rtlCol="0" anchor="t"/>
          <a:lstStyle>
            <a:lvl1pPr algn="r">
              <a:defRPr sz="1000" b="0" i="0">
                <a:solidFill>
                  <a:schemeClr val="bg1"/>
                </a:solidFill>
                <a:effectLst/>
                <a:latin typeface="+mn-lt"/>
              </a:defRPr>
            </a:lvl1pPr>
          </a:lstStyle>
          <a:p>
            <a:fld id="{1046A6BF-9417-477F-B83E-822B9F56EF48}" type="datetime1">
              <a:rPr lang="en-CA" smtClean="0"/>
              <a:t>2018-02-06</a:t>
            </a:fld>
            <a:endParaRPr lang="en-CA" dirty="0"/>
          </a:p>
        </p:txBody>
      </p:sp>
      <p:sp>
        <p:nvSpPr>
          <p:cNvPr id="5" name="Footer Placeholder 4"/>
          <p:cNvSpPr>
            <a:spLocks noGrp="1"/>
          </p:cNvSpPr>
          <p:nvPr>
            <p:ph type="ftr" sz="quarter" idx="3"/>
          </p:nvPr>
        </p:nvSpPr>
        <p:spPr>
          <a:xfrm>
            <a:off x="684212" y="6172200"/>
            <a:ext cx="7543800" cy="365125"/>
          </a:xfrm>
          <a:prstGeom prst="rect">
            <a:avLst/>
          </a:prstGeom>
        </p:spPr>
        <p:txBody>
          <a:bodyPr vert="horz" lIns="91440" tIns="45720" rIns="91440" bIns="45720" rtlCol="0" anchor="t"/>
          <a:lstStyle>
            <a:lvl1pPr algn="l">
              <a:defRPr sz="1000" b="0" i="0">
                <a:solidFill>
                  <a:schemeClr val="bg1"/>
                </a:solidFill>
                <a:effectLst/>
                <a:latin typeface="+mn-lt"/>
              </a:defRPr>
            </a:lvl1pPr>
          </a:lstStyle>
          <a:p>
            <a:endParaRPr lang="en-CA" dirty="0"/>
          </a:p>
        </p:txBody>
      </p:sp>
      <p:sp>
        <p:nvSpPr>
          <p:cNvPr id="6" name="Slide Number Placeholder 5"/>
          <p:cNvSpPr>
            <a:spLocks noGrp="1"/>
          </p:cNvSpPr>
          <p:nvPr>
            <p:ph type="sldNum" sz="quarter" idx="4"/>
          </p:nvPr>
        </p:nvSpPr>
        <p:spPr>
          <a:xfrm>
            <a:off x="10363200" y="5578475"/>
            <a:ext cx="1142245" cy="669925"/>
          </a:xfrm>
          <a:prstGeom prst="rect">
            <a:avLst/>
          </a:prstGeom>
        </p:spPr>
        <p:txBody>
          <a:bodyPr vert="horz" lIns="91440" tIns="45720" rIns="91440" bIns="45720" rtlCol="0" anchor="b"/>
          <a:lstStyle>
            <a:lvl1pPr algn="r">
              <a:defRPr sz="2000" b="0" i="0">
                <a:solidFill>
                  <a:schemeClr val="bg1"/>
                </a:solidFill>
                <a:effectLst/>
                <a:latin typeface="+mn-lt"/>
              </a:defRPr>
            </a:lvl1pPr>
          </a:lstStyle>
          <a:p>
            <a:fld id="{7B2023C8-B124-43A9-8F92-0EEF5BAA9995}" type="slidenum">
              <a:rPr lang="en-CA" smtClean="0"/>
              <a:pPr/>
              <a:t>‹#›</a:t>
            </a:fld>
            <a:endParaRPr lang="en-CA" dirty="0"/>
          </a:p>
        </p:txBody>
      </p:sp>
    </p:spTree>
    <p:extLst>
      <p:ext uri="{BB962C8B-B14F-4D97-AF65-F5344CB8AC3E}">
        <p14:creationId xmlns:p14="http://schemas.microsoft.com/office/powerpoint/2010/main" val="220538113"/>
      </p:ext>
    </p:extLst>
  </p:cSld>
  <p:clrMap bg1="dk1" tx1="lt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Lst>
  <p:hf hdr="0" ftr="0" dt="0"/>
  <p:txStyles>
    <p:titleStyle>
      <a:lvl1pPr algn="l" defTabSz="457200" rtl="0" eaLnBrk="1" latinLnBrk="0" hangingPunct="1">
        <a:spcBef>
          <a:spcPct val="0"/>
        </a:spcBef>
        <a:buNone/>
        <a:defRPr lang="en-US" sz="4000" b="1" kern="1200" cap="none" baseline="0" dirty="0" smtClean="0">
          <a:ln w="3175" cmpd="sng">
            <a:noFill/>
          </a:ln>
          <a:solidFill>
            <a:schemeClr val="bg1"/>
          </a:solidFill>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5.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5.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chart" Target="../charts/chart1.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4211" y="6791"/>
            <a:ext cx="8849087" cy="2971801"/>
          </a:xfrm>
        </p:spPr>
        <p:txBody>
          <a:bodyPr>
            <a:normAutofit fontScale="90000"/>
          </a:bodyPr>
          <a:lstStyle/>
          <a:p>
            <a:r>
              <a:rPr lang="en-CA" b="1" cap="none" dirty="0" smtClean="0"/>
              <a:t>Spiffy</a:t>
            </a:r>
            <a:r>
              <a:rPr lang="en-CA" cap="none" dirty="0" smtClean="0"/>
              <a:t>:</a:t>
            </a:r>
            <a:r>
              <a:rPr lang="en-CA" b="1" cap="none" dirty="0" smtClean="0"/>
              <a:t> </a:t>
            </a:r>
            <a:r>
              <a:rPr lang="en-CA" cap="none" dirty="0"/>
              <a:t>Enabling File-System Aware </a:t>
            </a:r>
            <a:r>
              <a:rPr lang="en-CA" sz="5400" cap="none" dirty="0"/>
              <a:t>Storage</a:t>
            </a:r>
            <a:r>
              <a:rPr lang="en-CA" cap="none" dirty="0"/>
              <a:t> </a:t>
            </a:r>
            <a:r>
              <a:rPr lang="en-CA" cap="none" dirty="0" smtClean="0"/>
              <a:t>Applications</a:t>
            </a:r>
            <a:br>
              <a:rPr lang="en-CA" cap="none" dirty="0" smtClean="0"/>
            </a:br>
            <a:endParaRPr lang="en-CA" b="1" cap="none" dirty="0"/>
          </a:p>
        </p:txBody>
      </p:sp>
      <p:sp>
        <p:nvSpPr>
          <p:cNvPr id="3" name="Subtitle 2"/>
          <p:cNvSpPr>
            <a:spLocks noGrp="1"/>
          </p:cNvSpPr>
          <p:nvPr>
            <p:ph type="subTitle" idx="1"/>
          </p:nvPr>
        </p:nvSpPr>
        <p:spPr>
          <a:xfrm>
            <a:off x="684212" y="3421931"/>
            <a:ext cx="10967598" cy="2548380"/>
          </a:xfrm>
        </p:spPr>
        <p:txBody>
          <a:bodyPr>
            <a:normAutofit/>
          </a:bodyPr>
          <a:lstStyle/>
          <a:p>
            <a:r>
              <a:rPr lang="en-CA" sz="2400" dirty="0" err="1" smtClean="0">
                <a:solidFill>
                  <a:schemeClr val="bg1">
                    <a:lumMod val="75000"/>
                    <a:lumOff val="25000"/>
                  </a:schemeClr>
                </a:solidFill>
              </a:rPr>
              <a:t>Kuei</a:t>
            </a:r>
            <a:r>
              <a:rPr lang="en-CA" sz="2400" dirty="0" smtClean="0">
                <a:solidFill>
                  <a:schemeClr val="bg1">
                    <a:lumMod val="75000"/>
                    <a:lumOff val="25000"/>
                  </a:schemeClr>
                </a:solidFill>
              </a:rPr>
              <a:t> Sun, Daniel Fryer, Joseph Chu</a:t>
            </a:r>
            <a:r>
              <a:rPr lang="en-CA" sz="2400" dirty="0">
                <a:solidFill>
                  <a:schemeClr val="bg1">
                    <a:lumMod val="75000"/>
                    <a:lumOff val="25000"/>
                  </a:schemeClr>
                </a:solidFill>
              </a:rPr>
              <a:t>, Matthew </a:t>
            </a:r>
            <a:r>
              <a:rPr lang="en-CA" sz="2400" dirty="0" err="1">
                <a:solidFill>
                  <a:schemeClr val="bg1">
                    <a:lumMod val="75000"/>
                    <a:lumOff val="25000"/>
                  </a:schemeClr>
                </a:solidFill>
              </a:rPr>
              <a:t>Lakier</a:t>
            </a:r>
            <a:r>
              <a:rPr lang="en-CA" sz="2400" dirty="0">
                <a:solidFill>
                  <a:schemeClr val="bg1">
                    <a:lumMod val="75000"/>
                    <a:lumOff val="25000"/>
                  </a:schemeClr>
                </a:solidFill>
              </a:rPr>
              <a:t>, </a:t>
            </a:r>
            <a:endParaRPr lang="en-CA" sz="2400" dirty="0" smtClean="0">
              <a:solidFill>
                <a:schemeClr val="bg1">
                  <a:lumMod val="75000"/>
                  <a:lumOff val="25000"/>
                </a:schemeClr>
              </a:solidFill>
            </a:endParaRPr>
          </a:p>
          <a:p>
            <a:r>
              <a:rPr lang="en-CA" sz="2400" dirty="0" smtClean="0">
                <a:solidFill>
                  <a:schemeClr val="bg1">
                    <a:lumMod val="75000"/>
                    <a:lumOff val="25000"/>
                  </a:schemeClr>
                </a:solidFill>
              </a:rPr>
              <a:t>Angela </a:t>
            </a:r>
            <a:r>
              <a:rPr lang="en-CA" sz="2400" dirty="0" err="1" smtClean="0">
                <a:solidFill>
                  <a:schemeClr val="bg1">
                    <a:lumMod val="75000"/>
                    <a:lumOff val="25000"/>
                  </a:schemeClr>
                </a:solidFill>
              </a:rPr>
              <a:t>Demke</a:t>
            </a:r>
            <a:r>
              <a:rPr lang="en-CA" sz="2400" dirty="0" smtClean="0">
                <a:solidFill>
                  <a:schemeClr val="bg1">
                    <a:lumMod val="75000"/>
                    <a:lumOff val="25000"/>
                  </a:schemeClr>
                </a:solidFill>
              </a:rPr>
              <a:t> Brown, and </a:t>
            </a:r>
            <a:r>
              <a:rPr lang="en-CA" sz="2400" dirty="0" err="1" smtClean="0">
                <a:solidFill>
                  <a:schemeClr val="bg1">
                    <a:lumMod val="75000"/>
                    <a:lumOff val="25000"/>
                  </a:schemeClr>
                </a:solidFill>
              </a:rPr>
              <a:t>Ashvin</a:t>
            </a:r>
            <a:r>
              <a:rPr lang="en-CA" sz="2400" dirty="0" smtClean="0">
                <a:solidFill>
                  <a:schemeClr val="bg1">
                    <a:lumMod val="75000"/>
                    <a:lumOff val="25000"/>
                  </a:schemeClr>
                </a:solidFill>
              </a:rPr>
              <a:t> </a:t>
            </a:r>
            <a:r>
              <a:rPr lang="en-CA" sz="2400" dirty="0" err="1" smtClean="0">
                <a:solidFill>
                  <a:schemeClr val="bg1">
                    <a:lumMod val="75000"/>
                    <a:lumOff val="25000"/>
                  </a:schemeClr>
                </a:solidFill>
              </a:rPr>
              <a:t>Goel</a:t>
            </a:r>
            <a:endParaRPr lang="en-CA" sz="2400" dirty="0" smtClean="0">
              <a:solidFill>
                <a:schemeClr val="bg1">
                  <a:lumMod val="75000"/>
                  <a:lumOff val="25000"/>
                </a:schemeClr>
              </a:solidFill>
            </a:endParaRPr>
          </a:p>
          <a:p>
            <a:endParaRPr lang="en-CA" sz="2400" dirty="0"/>
          </a:p>
          <a:p>
            <a:r>
              <a:rPr lang="en-CA" sz="2400" i="1" dirty="0" smtClean="0">
                <a:solidFill>
                  <a:schemeClr val="bg1">
                    <a:lumMod val="85000"/>
                    <a:lumOff val="15000"/>
                  </a:schemeClr>
                </a:solidFill>
              </a:rPr>
              <a:t>University of Toronto</a:t>
            </a:r>
            <a:endParaRPr lang="en-CA" sz="2400" i="1" dirty="0">
              <a:solidFill>
                <a:schemeClr val="bg1">
                  <a:lumMod val="85000"/>
                  <a:lumOff val="15000"/>
                </a:schemeClr>
              </a:solidFill>
            </a:endParaRPr>
          </a:p>
        </p:txBody>
      </p:sp>
    </p:spTree>
    <p:extLst>
      <p:ext uri="{BB962C8B-B14F-4D97-AF65-F5344CB8AC3E}">
        <p14:creationId xmlns:p14="http://schemas.microsoft.com/office/powerpoint/2010/main" val="2989736815"/>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smtClean="0"/>
              <a:t>Introduction</a:t>
            </a:r>
            <a:endParaRPr lang="en-CA" dirty="0"/>
          </a:p>
        </p:txBody>
      </p:sp>
      <p:sp>
        <p:nvSpPr>
          <p:cNvPr id="3" name="Content Placeholder 2"/>
          <p:cNvSpPr>
            <a:spLocks noGrp="1"/>
          </p:cNvSpPr>
          <p:nvPr>
            <p:ph idx="1"/>
          </p:nvPr>
        </p:nvSpPr>
        <p:spPr>
          <a:xfrm>
            <a:off x="646113" y="1625600"/>
            <a:ext cx="9403743" cy="4622802"/>
          </a:xfrm>
        </p:spPr>
        <p:txBody>
          <a:bodyPr>
            <a:normAutofit/>
          </a:bodyPr>
          <a:lstStyle/>
          <a:p>
            <a:r>
              <a:rPr lang="en-CA" dirty="0" smtClean="0"/>
              <a:t>File-system aware </a:t>
            </a:r>
            <a:r>
              <a:rPr lang="en-CA" dirty="0" smtClean="0"/>
              <a:t>applications</a:t>
            </a:r>
          </a:p>
          <a:p>
            <a:pPr lvl="1"/>
            <a:r>
              <a:rPr lang="en-CA" dirty="0" smtClean="0"/>
              <a:t>E.g. </a:t>
            </a:r>
            <a:r>
              <a:rPr lang="en-CA" dirty="0"/>
              <a:t>partition editor, file system checker, defragmentation </a:t>
            </a:r>
            <a:r>
              <a:rPr lang="en-CA" dirty="0" smtClean="0"/>
              <a:t>tool</a:t>
            </a:r>
          </a:p>
          <a:p>
            <a:pPr lvl="1"/>
            <a:r>
              <a:rPr lang="en-CA" dirty="0" smtClean="0"/>
              <a:t>Operate </a:t>
            </a:r>
            <a:r>
              <a:rPr lang="en-CA" dirty="0"/>
              <a:t>directly on file system metadata structures</a:t>
            </a:r>
          </a:p>
          <a:p>
            <a:pPr lvl="2"/>
            <a:r>
              <a:rPr lang="en-CA" dirty="0"/>
              <a:t>Require detailed knowledge of file system format on disk</a:t>
            </a:r>
            <a:endParaRPr lang="en-CA" dirty="0" smtClean="0"/>
          </a:p>
          <a:p>
            <a:pPr lvl="2"/>
            <a:r>
              <a:rPr lang="en-CA" dirty="0" smtClean="0"/>
              <a:t>Bypass </a:t>
            </a:r>
            <a:r>
              <a:rPr lang="en-CA" dirty="0"/>
              <a:t>VFS </a:t>
            </a:r>
            <a:r>
              <a:rPr lang="en-CA" dirty="0" smtClean="0"/>
              <a:t>layer</a:t>
            </a:r>
          </a:p>
          <a:p>
            <a:pPr lvl="1"/>
            <a:r>
              <a:rPr lang="en-CA" dirty="0" smtClean="0"/>
              <a:t>Essential for successful deployment of file system</a:t>
            </a:r>
          </a:p>
        </p:txBody>
      </p:sp>
      <p:sp>
        <p:nvSpPr>
          <p:cNvPr id="4" name="Slide Number Placeholder 3"/>
          <p:cNvSpPr>
            <a:spLocks noGrp="1"/>
          </p:cNvSpPr>
          <p:nvPr>
            <p:ph type="sldNum" sz="quarter" idx="12"/>
          </p:nvPr>
        </p:nvSpPr>
        <p:spPr/>
        <p:txBody>
          <a:bodyPr/>
          <a:lstStyle/>
          <a:p>
            <a:fld id="{7B2023C8-B124-43A9-8F92-0EEF5BAA9995}" type="slidenum">
              <a:rPr lang="en-CA" smtClean="0"/>
              <a:pPr/>
              <a:t>2</a:t>
            </a:fld>
            <a:endParaRPr lang="en-CA" dirty="0"/>
          </a:p>
        </p:txBody>
      </p:sp>
    </p:spTree>
    <p:extLst>
      <p:ext uri="{BB962C8B-B14F-4D97-AF65-F5344CB8AC3E}">
        <p14:creationId xmlns:p14="http://schemas.microsoft.com/office/powerpoint/2010/main" val="1788902864"/>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smtClean="0"/>
              <a:t>Problem</a:t>
            </a:r>
            <a:endParaRPr lang="en-CA" dirty="0"/>
          </a:p>
        </p:txBody>
      </p:sp>
      <p:sp>
        <p:nvSpPr>
          <p:cNvPr id="3" name="Content Placeholder 2"/>
          <p:cNvSpPr>
            <a:spLocks noGrp="1"/>
          </p:cNvSpPr>
          <p:nvPr>
            <p:ph idx="1"/>
          </p:nvPr>
        </p:nvSpPr>
        <p:spPr>
          <a:xfrm>
            <a:off x="684211" y="1515358"/>
            <a:ext cx="10285797" cy="4866587"/>
          </a:xfrm>
        </p:spPr>
        <p:txBody>
          <a:bodyPr>
            <a:normAutofit/>
          </a:bodyPr>
          <a:lstStyle/>
          <a:p>
            <a:r>
              <a:rPr lang="en-CA" dirty="0" smtClean="0"/>
              <a:t>Each </a:t>
            </a:r>
            <a:r>
              <a:rPr lang="en-CA" dirty="0"/>
              <a:t>file system has to develop its own set of tools from scratch</a:t>
            </a:r>
          </a:p>
          <a:p>
            <a:r>
              <a:rPr lang="en-CA" dirty="0"/>
              <a:t>Only file-system experts develop such </a:t>
            </a:r>
            <a:r>
              <a:rPr lang="en-CA" dirty="0" smtClean="0"/>
              <a:t>tools</a:t>
            </a:r>
          </a:p>
          <a:p>
            <a:r>
              <a:rPr lang="en-CA" dirty="0"/>
              <a:t>Bugs lead to system crash, data corruption, security vulnerability</a:t>
            </a:r>
          </a:p>
          <a:p>
            <a:endParaRPr lang="en-CA" dirty="0" smtClean="0"/>
          </a:p>
          <a:p>
            <a:r>
              <a:rPr lang="en-CA" dirty="0" smtClean="0"/>
              <a:t>Example</a:t>
            </a:r>
            <a:r>
              <a:rPr lang="en-CA" dirty="0"/>
              <a:t>: bug 723343 in </a:t>
            </a:r>
            <a:r>
              <a:rPr lang="en-CA" dirty="0" err="1"/>
              <a:t>ntfsprogs</a:t>
            </a:r>
            <a:endParaRPr lang="en-CA" dirty="0"/>
          </a:p>
          <a:p>
            <a:pPr lvl="1"/>
            <a:r>
              <a:rPr lang="en-CA" dirty="0"/>
              <a:t>NTFS stores the size of </a:t>
            </a:r>
            <a:r>
              <a:rPr lang="en-CA" dirty="0" smtClean="0"/>
              <a:t>MFT </a:t>
            </a:r>
            <a:r>
              <a:rPr lang="en-CA" dirty="0"/>
              <a:t>record as either</a:t>
            </a:r>
            <a:r>
              <a:rPr lang="en-CA" dirty="0" smtClean="0"/>
              <a:t>:</a:t>
            </a:r>
          </a:p>
          <a:p>
            <a:pPr lvl="2"/>
            <a:r>
              <a:rPr lang="en-CA" dirty="0"/>
              <a:t>if </a:t>
            </a:r>
            <a:r>
              <a:rPr lang="en-CA" i="1" dirty="0"/>
              <a:t>value</a:t>
            </a:r>
            <a:r>
              <a:rPr lang="en-CA" dirty="0"/>
              <a:t> &gt; </a:t>
            </a:r>
            <a:r>
              <a:rPr lang="en-CA" dirty="0" smtClean="0"/>
              <a:t>0, size = #</a:t>
            </a:r>
            <a:r>
              <a:rPr lang="en-CA" dirty="0" smtClean="0"/>
              <a:t> </a:t>
            </a:r>
            <a:r>
              <a:rPr lang="en-CA" dirty="0"/>
              <a:t>of clusters per </a:t>
            </a:r>
            <a:r>
              <a:rPr lang="en-CA" dirty="0" smtClean="0"/>
              <a:t>record</a:t>
            </a:r>
          </a:p>
          <a:p>
            <a:pPr lvl="2"/>
            <a:r>
              <a:rPr lang="en-CA" dirty="0"/>
              <a:t>if </a:t>
            </a:r>
            <a:r>
              <a:rPr lang="en-CA" i="1" dirty="0"/>
              <a:t>value</a:t>
            </a:r>
            <a:r>
              <a:rPr lang="en-CA" dirty="0"/>
              <a:t> &lt; </a:t>
            </a:r>
            <a:r>
              <a:rPr lang="en-CA" dirty="0" smtClean="0"/>
              <a:t>0, size = </a:t>
            </a:r>
            <a:r>
              <a:rPr lang="en-CA" dirty="0" smtClean="0"/>
              <a:t> 2</a:t>
            </a:r>
            <a:r>
              <a:rPr lang="en-CA" baseline="30000" dirty="0" smtClean="0"/>
              <a:t>|</a:t>
            </a:r>
            <a:r>
              <a:rPr lang="en-CA" i="1" baseline="30000" dirty="0" smtClean="0"/>
              <a:t>value</a:t>
            </a:r>
            <a:r>
              <a:rPr lang="en-CA" baseline="30000" dirty="0" smtClean="0"/>
              <a:t>|</a:t>
            </a:r>
            <a:endParaRPr lang="en-CA" dirty="0"/>
          </a:p>
          <a:p>
            <a:pPr lvl="1"/>
            <a:r>
              <a:rPr lang="en-CA" dirty="0" err="1" smtClean="0"/>
              <a:t>ntfsprogs</a:t>
            </a:r>
            <a:r>
              <a:rPr lang="en-CA" dirty="0" smtClean="0"/>
              <a:t> </a:t>
            </a:r>
            <a:r>
              <a:rPr lang="en-CA" dirty="0" smtClean="0"/>
              <a:t>misinterprets this </a:t>
            </a:r>
            <a:r>
              <a:rPr lang="en-CA" dirty="0" smtClean="0"/>
              <a:t>field</a:t>
            </a:r>
            <a:r>
              <a:rPr lang="en-CA" dirty="0" smtClean="0"/>
              <a:t>, corrupting </a:t>
            </a:r>
            <a:r>
              <a:rPr lang="en-CA" dirty="0"/>
              <a:t>NTFS during partition resizing</a:t>
            </a:r>
          </a:p>
          <a:p>
            <a:endParaRPr lang="en-CA" dirty="0"/>
          </a:p>
        </p:txBody>
      </p:sp>
      <p:sp>
        <p:nvSpPr>
          <p:cNvPr id="6" name="Slide Number Placeholder 5"/>
          <p:cNvSpPr>
            <a:spLocks noGrp="1"/>
          </p:cNvSpPr>
          <p:nvPr>
            <p:ph type="sldNum" sz="quarter" idx="12"/>
          </p:nvPr>
        </p:nvSpPr>
        <p:spPr/>
        <p:txBody>
          <a:bodyPr/>
          <a:lstStyle/>
          <a:p>
            <a:fld id="{7B2023C8-B124-43A9-8F92-0EEF5BAA9995}" type="slidenum">
              <a:rPr lang="en-CA" smtClean="0"/>
              <a:pPr/>
              <a:t>3</a:t>
            </a:fld>
            <a:endParaRPr lang="en-CA" dirty="0"/>
          </a:p>
        </p:txBody>
      </p:sp>
    </p:spTree>
    <p:extLst>
      <p:ext uri="{BB962C8B-B14F-4D97-AF65-F5344CB8AC3E}">
        <p14:creationId xmlns:p14="http://schemas.microsoft.com/office/powerpoint/2010/main" val="368325232"/>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smtClean="0"/>
              <a:t>Root Cause</a:t>
            </a:r>
            <a:endParaRPr lang="en-CA" dirty="0"/>
          </a:p>
        </p:txBody>
      </p:sp>
      <p:sp>
        <p:nvSpPr>
          <p:cNvPr id="3" name="Content Placeholder 2"/>
          <p:cNvSpPr>
            <a:spLocks noGrp="1"/>
          </p:cNvSpPr>
          <p:nvPr>
            <p:ph idx="1"/>
          </p:nvPr>
        </p:nvSpPr>
        <p:spPr/>
        <p:txBody>
          <a:bodyPr>
            <a:normAutofit/>
          </a:bodyPr>
          <a:lstStyle/>
          <a:p>
            <a:r>
              <a:rPr lang="en-CA" dirty="0" smtClean="0"/>
              <a:t>File-system applications are difficult to write</a:t>
            </a:r>
          </a:p>
          <a:p>
            <a:pPr lvl="1"/>
            <a:r>
              <a:rPr lang="en-CA" dirty="0" smtClean="0"/>
              <a:t>File system format comple</a:t>
            </a:r>
            <a:r>
              <a:rPr lang="en-CA" dirty="0" smtClean="0"/>
              <a:t>x and </a:t>
            </a:r>
            <a:r>
              <a:rPr lang="en-CA" dirty="0" smtClean="0"/>
              <a:t>often poorly documented</a:t>
            </a:r>
          </a:p>
          <a:p>
            <a:pPr lvl="1"/>
            <a:r>
              <a:rPr lang="en-CA" dirty="0" smtClean="0"/>
              <a:t>Applications require detailed knowledge of format</a:t>
            </a:r>
          </a:p>
          <a:p>
            <a:pPr lvl="1"/>
            <a:r>
              <a:rPr lang="en-CA" dirty="0" smtClean="0"/>
              <a:t>Need to handle file system corruption</a:t>
            </a:r>
          </a:p>
        </p:txBody>
      </p:sp>
      <p:sp>
        <p:nvSpPr>
          <p:cNvPr id="5" name="Slide Number Placeholder 4"/>
          <p:cNvSpPr>
            <a:spLocks noGrp="1"/>
          </p:cNvSpPr>
          <p:nvPr>
            <p:ph type="sldNum" sz="quarter" idx="12"/>
          </p:nvPr>
        </p:nvSpPr>
        <p:spPr/>
        <p:txBody>
          <a:bodyPr/>
          <a:lstStyle/>
          <a:p>
            <a:fld id="{7B2023C8-B124-43A9-8F92-0EEF5BAA9995}" type="slidenum">
              <a:rPr lang="en-CA" smtClean="0"/>
              <a:pPr/>
              <a:t>4</a:t>
            </a:fld>
            <a:endParaRPr lang="en-CA" dirty="0"/>
          </a:p>
        </p:txBody>
      </p:sp>
    </p:spTree>
    <p:extLst>
      <p:ext uri="{BB962C8B-B14F-4D97-AF65-F5344CB8AC3E}">
        <p14:creationId xmlns:p14="http://schemas.microsoft.com/office/powerpoint/2010/main" val="905410288"/>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smtClean="0"/>
              <a:t>Goals</a:t>
            </a:r>
            <a:endParaRPr lang="en-CA" dirty="0"/>
          </a:p>
        </p:txBody>
      </p:sp>
      <p:sp>
        <p:nvSpPr>
          <p:cNvPr id="3" name="Content Placeholder 2"/>
          <p:cNvSpPr>
            <a:spLocks noGrp="1"/>
          </p:cNvSpPr>
          <p:nvPr>
            <p:ph idx="1"/>
          </p:nvPr>
        </p:nvSpPr>
        <p:spPr/>
        <p:txBody>
          <a:bodyPr>
            <a:normAutofit/>
          </a:bodyPr>
          <a:lstStyle/>
          <a:p>
            <a:r>
              <a:rPr lang="en-CA" dirty="0"/>
              <a:t>Simplify development of file-system aware applications</a:t>
            </a:r>
          </a:p>
          <a:p>
            <a:pPr lvl="1"/>
            <a:r>
              <a:rPr lang="en-CA" dirty="0"/>
              <a:t>Reduce file-system specific code</a:t>
            </a:r>
          </a:p>
          <a:p>
            <a:pPr lvl="1"/>
            <a:r>
              <a:rPr lang="en-CA" dirty="0"/>
              <a:t>Enable code reuse across file systems</a:t>
            </a:r>
          </a:p>
          <a:p>
            <a:endParaRPr lang="en-CA" dirty="0" smtClean="0"/>
          </a:p>
          <a:p>
            <a:r>
              <a:rPr lang="en-CA" dirty="0" smtClean="0"/>
              <a:t>Improve </a:t>
            </a:r>
            <a:r>
              <a:rPr lang="en-CA" dirty="0"/>
              <a:t>robustness of </a:t>
            </a:r>
            <a:r>
              <a:rPr lang="en-CA" dirty="0" smtClean="0"/>
              <a:t>these </a:t>
            </a:r>
            <a:r>
              <a:rPr lang="en-CA" dirty="0" smtClean="0"/>
              <a:t>applications</a:t>
            </a:r>
          </a:p>
          <a:p>
            <a:pPr lvl="1"/>
            <a:r>
              <a:rPr lang="en-CA" dirty="0" smtClean="0"/>
              <a:t>Enable correct traversal of file system metadata</a:t>
            </a:r>
            <a:endParaRPr lang="en-CA" dirty="0" smtClean="0"/>
          </a:p>
          <a:p>
            <a:pPr lvl="1"/>
            <a:r>
              <a:rPr lang="en-CA" dirty="0" smtClean="0"/>
              <a:t>Ensure type safe access to file system structures</a:t>
            </a:r>
          </a:p>
          <a:p>
            <a:pPr lvl="2"/>
            <a:r>
              <a:rPr lang="en-CA" dirty="0" smtClean="0"/>
              <a:t>Helps </a:t>
            </a:r>
            <a:r>
              <a:rPr lang="en-CA" dirty="0" smtClean="0"/>
              <a:t>detect corruption </a:t>
            </a:r>
            <a:r>
              <a:rPr lang="en-CA" dirty="0" smtClean="0"/>
              <a:t>for both read and write</a:t>
            </a:r>
          </a:p>
          <a:p>
            <a:pPr lvl="2"/>
            <a:r>
              <a:rPr lang="en-CA" dirty="0" smtClean="0"/>
              <a:t>Helps </a:t>
            </a:r>
            <a:r>
              <a:rPr lang="en-CA" dirty="0"/>
              <a:t>reduce error propagation, and further </a:t>
            </a:r>
            <a:r>
              <a:rPr lang="en-CA" dirty="0" smtClean="0"/>
              <a:t>corruption</a:t>
            </a:r>
          </a:p>
          <a:p>
            <a:pPr lvl="2"/>
            <a:endParaRPr lang="en-CA" dirty="0" smtClean="0"/>
          </a:p>
          <a:p>
            <a:endParaRPr lang="en-CA" dirty="0" smtClean="0"/>
          </a:p>
        </p:txBody>
      </p:sp>
      <p:sp>
        <p:nvSpPr>
          <p:cNvPr id="5" name="Slide Number Placeholder 4"/>
          <p:cNvSpPr>
            <a:spLocks noGrp="1"/>
          </p:cNvSpPr>
          <p:nvPr>
            <p:ph type="sldNum" sz="quarter" idx="12"/>
          </p:nvPr>
        </p:nvSpPr>
        <p:spPr/>
        <p:txBody>
          <a:bodyPr/>
          <a:lstStyle/>
          <a:p>
            <a:fld id="{7B2023C8-B124-43A9-8F92-0EEF5BAA9995}" type="slidenum">
              <a:rPr lang="en-CA" smtClean="0"/>
              <a:pPr/>
              <a:t>5</a:t>
            </a:fld>
            <a:endParaRPr lang="en-CA" dirty="0"/>
          </a:p>
        </p:txBody>
      </p:sp>
    </p:spTree>
    <p:extLst>
      <p:ext uri="{BB962C8B-B14F-4D97-AF65-F5344CB8AC3E}">
        <p14:creationId xmlns:p14="http://schemas.microsoft.com/office/powerpoint/2010/main" val="476993693"/>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smtClean="0"/>
              <a:t>Approach: </a:t>
            </a:r>
            <a:r>
              <a:rPr lang="en-CA" dirty="0"/>
              <a:t>Spiffy </a:t>
            </a:r>
            <a:r>
              <a:rPr lang="en-CA" dirty="0" smtClean="0"/>
              <a:t>Framework</a:t>
            </a:r>
            <a:endParaRPr lang="en-CA" dirty="0"/>
          </a:p>
        </p:txBody>
      </p:sp>
      <p:sp>
        <p:nvSpPr>
          <p:cNvPr id="3" name="Content Placeholder 2"/>
          <p:cNvSpPr>
            <a:spLocks noGrp="1"/>
          </p:cNvSpPr>
          <p:nvPr>
            <p:ph idx="1"/>
          </p:nvPr>
        </p:nvSpPr>
        <p:spPr/>
        <p:txBody>
          <a:bodyPr/>
          <a:lstStyle/>
          <a:p>
            <a:pPr marL="457200" indent="-457200">
              <a:buFont typeface="+mj-lt"/>
              <a:buAutoNum type="arabicPeriod"/>
            </a:pPr>
            <a:r>
              <a:rPr lang="en-CA" dirty="0" smtClean="0"/>
              <a:t>File </a:t>
            </a:r>
            <a:r>
              <a:rPr lang="en-CA" dirty="0"/>
              <a:t>system developers specify the format of their file </a:t>
            </a:r>
            <a:r>
              <a:rPr lang="en-CA" dirty="0" smtClean="0"/>
              <a:t>system</a:t>
            </a:r>
          </a:p>
          <a:p>
            <a:pPr marL="457200" indent="-457200">
              <a:buFont typeface="+mj-lt"/>
              <a:buAutoNum type="arabicPeriod"/>
            </a:pPr>
            <a:r>
              <a:rPr lang="en-CA" dirty="0" smtClean="0"/>
              <a:t>Spiffy uses specification to generate parsing and serialization library </a:t>
            </a:r>
          </a:p>
          <a:p>
            <a:pPr marL="457200" indent="-457200">
              <a:buFont typeface="+mj-lt"/>
              <a:buAutoNum type="arabicPeriod"/>
            </a:pPr>
            <a:r>
              <a:rPr lang="en-CA" dirty="0" smtClean="0"/>
              <a:t>Developers use library to build robust file-system aware applications</a:t>
            </a:r>
            <a:endParaRPr lang="en-CA" dirty="0"/>
          </a:p>
          <a:p>
            <a:pPr marL="457200" indent="-457200">
              <a:buFont typeface="+mj-lt"/>
              <a:buAutoNum type="arabicPeriod"/>
            </a:pPr>
            <a:endParaRPr lang="en-CA" dirty="0"/>
          </a:p>
          <a:p>
            <a:pPr marL="457200" indent="-457200">
              <a:buFont typeface="+mj-lt"/>
              <a:buAutoNum type="arabicPeriod"/>
            </a:pPr>
            <a:endParaRPr lang="en-CA" dirty="0"/>
          </a:p>
          <a:p>
            <a:endParaRPr lang="en-CA" dirty="0"/>
          </a:p>
        </p:txBody>
      </p:sp>
      <p:sp>
        <p:nvSpPr>
          <p:cNvPr id="4" name="Slide Number Placeholder 3"/>
          <p:cNvSpPr>
            <a:spLocks noGrp="1"/>
          </p:cNvSpPr>
          <p:nvPr>
            <p:ph type="sldNum" sz="quarter" idx="12"/>
          </p:nvPr>
        </p:nvSpPr>
        <p:spPr/>
        <p:txBody>
          <a:bodyPr/>
          <a:lstStyle/>
          <a:p>
            <a:fld id="{7B2023C8-B124-43A9-8F92-0EEF5BAA9995}" type="slidenum">
              <a:rPr lang="en-CA" smtClean="0"/>
              <a:pPr/>
              <a:t>6</a:t>
            </a:fld>
            <a:endParaRPr lang="en-CA" dirty="0"/>
          </a:p>
        </p:txBody>
      </p:sp>
    </p:spTree>
    <p:extLst>
      <p:ext uri="{BB962C8B-B14F-4D97-AF65-F5344CB8AC3E}">
        <p14:creationId xmlns:p14="http://schemas.microsoft.com/office/powerpoint/2010/main" val="185396360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smtClean="0"/>
              <a:t>Specifyin</a:t>
            </a:r>
            <a:r>
              <a:rPr lang="en-CA" dirty="0" smtClean="0"/>
              <a:t>g Format</a:t>
            </a:r>
            <a:endParaRPr lang="en-CA" dirty="0"/>
          </a:p>
        </p:txBody>
      </p:sp>
      <p:sp>
        <p:nvSpPr>
          <p:cNvPr id="3" name="Content Placeholder 2"/>
          <p:cNvSpPr>
            <a:spLocks noGrp="1"/>
          </p:cNvSpPr>
          <p:nvPr>
            <p:ph idx="1"/>
          </p:nvPr>
        </p:nvSpPr>
        <p:spPr/>
        <p:txBody>
          <a:bodyPr/>
          <a:lstStyle/>
          <a:p>
            <a:pPr marL="514350" indent="-514350">
              <a:buFont typeface="+mj-lt"/>
              <a:buAutoNum type="arabicPeriod"/>
            </a:pPr>
            <a:r>
              <a:rPr lang="en-CA" dirty="0" smtClean="0"/>
              <a:t>File system developers annotate </a:t>
            </a:r>
            <a:r>
              <a:rPr lang="en-CA" dirty="0" smtClean="0"/>
              <a:t>metadata structures in </a:t>
            </a:r>
            <a:r>
              <a:rPr lang="en-CA" dirty="0" smtClean="0"/>
              <a:t/>
            </a:r>
            <a:br>
              <a:rPr lang="en-CA" dirty="0" smtClean="0"/>
            </a:br>
            <a:r>
              <a:rPr lang="en-CA" dirty="0" smtClean="0"/>
              <a:t>header </a:t>
            </a:r>
            <a:r>
              <a:rPr lang="en-CA" dirty="0" smtClean="0"/>
              <a:t>files of existing source </a:t>
            </a:r>
            <a:r>
              <a:rPr lang="en-CA" dirty="0" smtClean="0"/>
              <a:t>code</a:t>
            </a:r>
          </a:p>
          <a:p>
            <a:pPr marL="400050" lvl="1" indent="0">
              <a:buNone/>
            </a:pPr>
            <a:endParaRPr lang="en-CA" dirty="0"/>
          </a:p>
        </p:txBody>
      </p:sp>
      <p:grpSp>
        <p:nvGrpSpPr>
          <p:cNvPr id="38" name="Group 37"/>
          <p:cNvGrpSpPr/>
          <p:nvPr/>
        </p:nvGrpSpPr>
        <p:grpSpPr>
          <a:xfrm>
            <a:off x="844305" y="2832811"/>
            <a:ext cx="9767357" cy="3222517"/>
            <a:chOff x="844305" y="2832811"/>
            <a:chExt cx="9767357" cy="3222517"/>
          </a:xfrm>
          <a:noFill/>
        </p:grpSpPr>
        <p:sp>
          <p:nvSpPr>
            <p:cNvPr id="5" name="Snip Single Corner Rectangle 4"/>
            <p:cNvSpPr/>
            <p:nvPr/>
          </p:nvSpPr>
          <p:spPr>
            <a:xfrm>
              <a:off x="2114410" y="4047345"/>
              <a:ext cx="1332000" cy="774000"/>
            </a:xfrm>
            <a:prstGeom prst="snip1Rect">
              <a:avLst>
                <a:gd name="adj" fmla="val 30778"/>
              </a:avLst>
            </a:prstGeom>
            <a:grpFill/>
            <a:ln w="25400">
              <a:solidFill>
                <a:schemeClr val="bg1"/>
              </a:solidFill>
            </a:ln>
            <a:effectLst>
              <a:glow rad="127000">
                <a:srgbClr val="FFFF00">
                  <a:alpha val="40000"/>
                </a:srgbClr>
              </a:glow>
            </a:effectLst>
          </p:spPr>
          <p:style>
            <a:lnRef idx="2">
              <a:schemeClr val="accent1">
                <a:shade val="50000"/>
              </a:schemeClr>
            </a:lnRef>
            <a:fillRef idx="1">
              <a:schemeClr val="accent1"/>
            </a:fillRef>
            <a:effectRef idx="0">
              <a:schemeClr val="accent1"/>
            </a:effectRef>
            <a:fontRef idx="minor">
              <a:schemeClr val="lt1"/>
            </a:fontRef>
          </p:style>
          <p:txBody>
            <a:bodyPr lIns="0" tIns="0" rIns="0" bIns="126000" rtlCol="0" anchor="ctr"/>
            <a:lstStyle/>
            <a:p>
              <a:pPr algn="ctr"/>
              <a:r>
                <a:rPr lang="en-CA" sz="1600" b="1" dirty="0">
                  <a:solidFill>
                    <a:schemeClr val="bg1"/>
                  </a:solidFill>
                </a:rPr>
                <a:t>Annotated File System Structures</a:t>
              </a:r>
            </a:p>
          </p:txBody>
        </p:sp>
        <p:sp>
          <p:nvSpPr>
            <p:cNvPr id="7" name="TextBox 6"/>
            <p:cNvSpPr txBox="1"/>
            <p:nvPr/>
          </p:nvSpPr>
          <p:spPr>
            <a:xfrm>
              <a:off x="1239816" y="3252232"/>
              <a:ext cx="1329210" cy="584775"/>
            </a:xfrm>
            <a:prstGeom prst="rect">
              <a:avLst/>
            </a:prstGeom>
            <a:grpFill/>
            <a:ln w="25400">
              <a:noFill/>
            </a:ln>
          </p:spPr>
          <p:txBody>
            <a:bodyPr wrap="none" rtlCol="0">
              <a:spAutoFit/>
            </a:bodyPr>
            <a:lstStyle/>
            <a:p>
              <a:pPr algn="ctr"/>
              <a:r>
                <a:rPr lang="en-CA" sz="1600" b="1" dirty="0">
                  <a:solidFill>
                    <a:schemeClr val="bg1"/>
                  </a:solidFill>
                </a:rPr>
                <a:t>File System </a:t>
              </a:r>
            </a:p>
            <a:p>
              <a:pPr algn="ctr"/>
              <a:r>
                <a:rPr lang="en-CA" sz="1600" b="1" dirty="0">
                  <a:solidFill>
                    <a:schemeClr val="bg1"/>
                  </a:solidFill>
                </a:rPr>
                <a:t>Developer</a:t>
              </a:r>
            </a:p>
          </p:txBody>
        </p:sp>
        <p:sp>
          <p:nvSpPr>
            <p:cNvPr id="8" name="Right Arrow 7"/>
            <p:cNvSpPr/>
            <p:nvPr/>
          </p:nvSpPr>
          <p:spPr>
            <a:xfrm>
              <a:off x="1649607" y="4296172"/>
              <a:ext cx="316999" cy="244240"/>
            </a:xfrm>
            <a:prstGeom prst="rightArrow">
              <a:avLst/>
            </a:prstGeom>
            <a:grp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3600">
                <a:solidFill>
                  <a:schemeClr val="bg1"/>
                </a:solidFill>
              </a:endParaRPr>
            </a:p>
          </p:txBody>
        </p:sp>
        <p:sp>
          <p:nvSpPr>
            <p:cNvPr id="9" name="Right Arrow 8"/>
            <p:cNvSpPr/>
            <p:nvPr/>
          </p:nvSpPr>
          <p:spPr>
            <a:xfrm>
              <a:off x="3594214" y="4296172"/>
              <a:ext cx="316999" cy="244240"/>
            </a:xfrm>
            <a:prstGeom prst="rightArrow">
              <a:avLst/>
            </a:prstGeom>
            <a:grp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3600">
                <a:solidFill>
                  <a:schemeClr val="bg1"/>
                </a:solidFill>
              </a:endParaRPr>
            </a:p>
          </p:txBody>
        </p:sp>
        <p:sp>
          <p:nvSpPr>
            <p:cNvPr id="10" name="Rounded Rectangle 9"/>
            <p:cNvSpPr/>
            <p:nvPr/>
          </p:nvSpPr>
          <p:spPr>
            <a:xfrm>
              <a:off x="4059017" y="4047345"/>
              <a:ext cx="1080000" cy="774000"/>
            </a:xfrm>
            <a:prstGeom prst="roundRect">
              <a:avLst/>
            </a:prstGeom>
            <a:grpFill/>
            <a:ln w="25400" cmpd="dbl">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CA" sz="1600" dirty="0">
                  <a:solidFill>
                    <a:schemeClr val="bg1"/>
                  </a:solidFill>
                </a:rPr>
                <a:t>Spiffy Compiler</a:t>
              </a:r>
            </a:p>
          </p:txBody>
        </p:sp>
        <p:sp>
          <p:nvSpPr>
            <p:cNvPr id="11" name="Snip Single Corner Rectangle 10"/>
            <p:cNvSpPr/>
            <p:nvPr/>
          </p:nvSpPr>
          <p:spPr>
            <a:xfrm>
              <a:off x="7432632" y="5281328"/>
              <a:ext cx="1332000" cy="774000"/>
            </a:xfrm>
            <a:prstGeom prst="snip1Rect">
              <a:avLst>
                <a:gd name="adj" fmla="val 30778"/>
              </a:avLst>
            </a:prstGeom>
            <a:grp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lIns="54000" tIns="0" rIns="0" bIns="144000" rtlCol="0" anchor="ctr"/>
            <a:lstStyle/>
            <a:p>
              <a:pPr algn="ctr"/>
              <a:r>
                <a:rPr lang="en-CA" sz="1600" dirty="0">
                  <a:solidFill>
                    <a:schemeClr val="bg1"/>
                  </a:solidFill>
                </a:rPr>
                <a:t>Generic </a:t>
              </a:r>
              <a:r>
                <a:rPr lang="en-CA" sz="1600" dirty="0" smtClean="0">
                  <a:solidFill>
                    <a:schemeClr val="bg1"/>
                  </a:solidFill>
                </a:rPr>
                <a:t>Application</a:t>
              </a:r>
              <a:endParaRPr lang="en-CA" sz="1600" dirty="0">
                <a:solidFill>
                  <a:schemeClr val="bg1"/>
                </a:solidFill>
              </a:endParaRPr>
            </a:p>
          </p:txBody>
        </p:sp>
        <p:sp>
          <p:nvSpPr>
            <p:cNvPr id="13" name="Snip Single Corner Rectangle 12"/>
            <p:cNvSpPr/>
            <p:nvPr/>
          </p:nvSpPr>
          <p:spPr>
            <a:xfrm>
              <a:off x="7432632" y="2832811"/>
              <a:ext cx="1332000" cy="774000"/>
            </a:xfrm>
            <a:prstGeom prst="snip1Rect">
              <a:avLst>
                <a:gd name="adj" fmla="val 30778"/>
              </a:avLst>
            </a:prstGeom>
            <a:grp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144000" rtlCol="0" anchor="ctr"/>
            <a:lstStyle/>
            <a:p>
              <a:pPr algn="ctr"/>
              <a:r>
                <a:rPr lang="en-CA" sz="1600" dirty="0">
                  <a:solidFill>
                    <a:schemeClr val="bg1"/>
                  </a:solidFill>
                </a:rPr>
                <a:t>File </a:t>
              </a:r>
              <a:r>
                <a:rPr lang="en-CA" sz="1600" dirty="0" smtClean="0">
                  <a:solidFill>
                    <a:schemeClr val="bg1"/>
                  </a:solidFill>
                </a:rPr>
                <a:t>System </a:t>
              </a:r>
              <a:r>
                <a:rPr lang="en-CA" sz="1600" dirty="0">
                  <a:solidFill>
                    <a:schemeClr val="bg1"/>
                  </a:solidFill>
                </a:rPr>
                <a:t>Specific Policies</a:t>
              </a:r>
            </a:p>
          </p:txBody>
        </p:sp>
        <p:sp>
          <p:nvSpPr>
            <p:cNvPr id="14" name="Right Arrow 13"/>
            <p:cNvSpPr/>
            <p:nvPr/>
          </p:nvSpPr>
          <p:spPr>
            <a:xfrm rot="5400000">
              <a:off x="7946907" y="4911095"/>
              <a:ext cx="303450" cy="255146"/>
            </a:xfrm>
            <a:prstGeom prst="rightArrow">
              <a:avLst/>
            </a:prstGeom>
            <a:grp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3600">
                <a:solidFill>
                  <a:schemeClr val="bg1"/>
                </a:solidFill>
              </a:endParaRPr>
            </a:p>
          </p:txBody>
        </p:sp>
        <p:sp>
          <p:nvSpPr>
            <p:cNvPr id="15" name="Rectangle 14"/>
            <p:cNvSpPr/>
            <p:nvPr/>
          </p:nvSpPr>
          <p:spPr>
            <a:xfrm>
              <a:off x="5751627" y="4047345"/>
              <a:ext cx="1224000" cy="774000"/>
            </a:xfrm>
            <a:prstGeom prst="rect">
              <a:avLst/>
            </a:prstGeom>
            <a:grp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lIns="0" tIns="46800" rIns="0" bIns="46800" rtlCol="0" anchor="ctr"/>
            <a:lstStyle/>
            <a:p>
              <a:pPr algn="ctr"/>
              <a:r>
                <a:rPr lang="en-CA" sz="1600" dirty="0" smtClean="0">
                  <a:solidFill>
                    <a:schemeClr val="bg1"/>
                  </a:solidFill>
                </a:rPr>
                <a:t>File </a:t>
              </a:r>
              <a:r>
                <a:rPr lang="en-CA" sz="1600" dirty="0">
                  <a:solidFill>
                    <a:schemeClr val="bg1"/>
                  </a:solidFill>
                </a:rPr>
                <a:t>System Library</a:t>
              </a:r>
            </a:p>
          </p:txBody>
        </p:sp>
        <p:sp>
          <p:nvSpPr>
            <p:cNvPr id="16" name="Right Arrow 15"/>
            <p:cNvSpPr/>
            <p:nvPr/>
          </p:nvSpPr>
          <p:spPr>
            <a:xfrm>
              <a:off x="5286822" y="4296172"/>
              <a:ext cx="316999" cy="244240"/>
            </a:xfrm>
            <a:prstGeom prst="rightArrow">
              <a:avLst/>
            </a:prstGeom>
            <a:grp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3600">
                <a:solidFill>
                  <a:schemeClr val="bg1"/>
                </a:solidFill>
              </a:endParaRPr>
            </a:p>
          </p:txBody>
        </p:sp>
        <p:sp>
          <p:nvSpPr>
            <p:cNvPr id="17" name="Rectangle 16"/>
            <p:cNvSpPr/>
            <p:nvPr/>
          </p:nvSpPr>
          <p:spPr>
            <a:xfrm>
              <a:off x="9292902" y="4099894"/>
              <a:ext cx="1318760" cy="636797"/>
            </a:xfrm>
            <a:prstGeom prst="rect">
              <a:avLst/>
            </a:prstGeom>
            <a:grp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36000" rtlCol="0" anchor="ctr"/>
            <a:lstStyle/>
            <a:p>
              <a:pPr algn="ctr"/>
              <a:r>
                <a:rPr lang="en-CA" sz="1600" dirty="0">
                  <a:solidFill>
                    <a:schemeClr val="bg1"/>
                  </a:solidFill>
                </a:rPr>
                <a:t>File System Application</a:t>
              </a:r>
            </a:p>
          </p:txBody>
        </p:sp>
        <p:grpSp>
          <p:nvGrpSpPr>
            <p:cNvPr id="36" name="Group 35"/>
            <p:cNvGrpSpPr/>
            <p:nvPr/>
          </p:nvGrpSpPr>
          <p:grpSpPr>
            <a:xfrm>
              <a:off x="844305" y="3544620"/>
              <a:ext cx="657498" cy="1188370"/>
              <a:chOff x="1323407" y="3472195"/>
              <a:chExt cx="657498" cy="1188370"/>
            </a:xfrm>
            <a:grpFill/>
          </p:grpSpPr>
          <p:sp>
            <p:nvSpPr>
              <p:cNvPr id="6" name="Smiley Face 5"/>
              <p:cNvSpPr/>
              <p:nvPr/>
            </p:nvSpPr>
            <p:spPr>
              <a:xfrm>
                <a:off x="1323407" y="4031169"/>
                <a:ext cx="657498" cy="629396"/>
              </a:xfrm>
              <a:prstGeom prst="smileyFace">
                <a:avLst/>
              </a:prstGeom>
              <a:grpFill/>
              <a:ln w="25400">
                <a:solidFill>
                  <a:schemeClr val="bg1"/>
                </a:solidFill>
              </a:ln>
              <a:effectLst>
                <a:glow rad="127000">
                  <a:srgbClr val="FFFF00">
                    <a:alpha val="40000"/>
                  </a:srgb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3600">
                  <a:solidFill>
                    <a:schemeClr val="bg1"/>
                  </a:solidFill>
                </a:endParaRPr>
              </a:p>
            </p:txBody>
          </p:sp>
          <p:sp>
            <p:nvSpPr>
              <p:cNvPr id="18" name="Isosceles Triangle 17"/>
              <p:cNvSpPr/>
              <p:nvPr/>
            </p:nvSpPr>
            <p:spPr>
              <a:xfrm>
                <a:off x="1439539" y="3472195"/>
                <a:ext cx="415041" cy="640458"/>
              </a:xfrm>
              <a:prstGeom prst="triangle">
                <a:avLst/>
              </a:prstGeom>
              <a:solidFill>
                <a:schemeClr val="accent6"/>
              </a:solidFill>
              <a:ln w="25400">
                <a:solidFill>
                  <a:schemeClr val="accent6"/>
                </a:solidFill>
              </a:ln>
              <a:effectLst>
                <a:glow rad="127000">
                  <a:srgbClr val="FFFF00">
                    <a:alpha val="40000"/>
                  </a:srgb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3600">
                  <a:solidFill>
                    <a:schemeClr val="bg1"/>
                  </a:solidFill>
                </a:endParaRPr>
              </a:p>
            </p:txBody>
          </p:sp>
        </p:grpSp>
        <p:sp>
          <p:nvSpPr>
            <p:cNvPr id="19" name="Right Arrow 18"/>
            <p:cNvSpPr/>
            <p:nvPr/>
          </p:nvSpPr>
          <p:spPr>
            <a:xfrm rot="18900000">
              <a:off x="7054852" y="3727351"/>
              <a:ext cx="316999" cy="244240"/>
            </a:xfrm>
            <a:prstGeom prst="rightArrow">
              <a:avLst/>
            </a:prstGeom>
            <a:grp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3600">
                <a:solidFill>
                  <a:schemeClr val="bg1"/>
                </a:solidFill>
              </a:endParaRPr>
            </a:p>
          </p:txBody>
        </p:sp>
        <p:sp>
          <p:nvSpPr>
            <p:cNvPr id="20" name="Right Arrow 19"/>
            <p:cNvSpPr/>
            <p:nvPr/>
          </p:nvSpPr>
          <p:spPr>
            <a:xfrm rot="16200000">
              <a:off x="7946907" y="3721899"/>
              <a:ext cx="303450" cy="255146"/>
            </a:xfrm>
            <a:prstGeom prst="rightArrow">
              <a:avLst/>
            </a:prstGeom>
            <a:grp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3600">
                <a:solidFill>
                  <a:schemeClr val="bg1"/>
                </a:solidFill>
              </a:endParaRPr>
            </a:p>
          </p:txBody>
        </p:sp>
        <p:sp>
          <p:nvSpPr>
            <p:cNvPr id="21" name="Right Arrow 20"/>
            <p:cNvSpPr/>
            <p:nvPr/>
          </p:nvSpPr>
          <p:spPr>
            <a:xfrm rot="18900000">
              <a:off x="8859377" y="4916548"/>
              <a:ext cx="316999" cy="244240"/>
            </a:xfrm>
            <a:prstGeom prst="rightArrow">
              <a:avLst/>
            </a:prstGeom>
            <a:grp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3600">
                <a:solidFill>
                  <a:schemeClr val="bg1"/>
                </a:solidFill>
              </a:endParaRPr>
            </a:p>
          </p:txBody>
        </p:sp>
        <p:sp>
          <p:nvSpPr>
            <p:cNvPr id="22" name="Right Arrow 21"/>
            <p:cNvSpPr/>
            <p:nvPr/>
          </p:nvSpPr>
          <p:spPr>
            <a:xfrm rot="2700000">
              <a:off x="8866151" y="3721898"/>
              <a:ext cx="303450" cy="255146"/>
            </a:xfrm>
            <a:prstGeom prst="rightArrow">
              <a:avLst/>
            </a:prstGeom>
            <a:grp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3600">
                <a:solidFill>
                  <a:schemeClr val="bg1"/>
                </a:solidFill>
              </a:endParaRPr>
            </a:p>
          </p:txBody>
        </p:sp>
        <p:sp>
          <p:nvSpPr>
            <p:cNvPr id="23" name="Rectangle 22"/>
            <p:cNvSpPr/>
            <p:nvPr/>
          </p:nvSpPr>
          <p:spPr>
            <a:xfrm>
              <a:off x="5709658" y="5281328"/>
              <a:ext cx="1260000" cy="774000"/>
            </a:xfrm>
            <a:prstGeom prst="rect">
              <a:avLst/>
            </a:prstGeom>
            <a:grp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lIns="0" tIns="46800" rIns="0" bIns="46800" rtlCol="0" anchor="ctr"/>
            <a:lstStyle/>
            <a:p>
              <a:pPr algn="ctr"/>
              <a:r>
                <a:rPr lang="en-CA" sz="1600" dirty="0">
                  <a:solidFill>
                    <a:schemeClr val="bg1"/>
                  </a:solidFill>
                </a:rPr>
                <a:t>Spiffy API</a:t>
              </a:r>
            </a:p>
          </p:txBody>
        </p:sp>
        <p:sp>
          <p:nvSpPr>
            <p:cNvPr id="24" name="Right Arrow 23"/>
            <p:cNvSpPr/>
            <p:nvPr/>
          </p:nvSpPr>
          <p:spPr>
            <a:xfrm>
              <a:off x="7054852" y="5473906"/>
              <a:ext cx="316999" cy="244240"/>
            </a:xfrm>
            <a:prstGeom prst="rightArrow">
              <a:avLst/>
            </a:prstGeom>
            <a:grp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3600">
                <a:solidFill>
                  <a:schemeClr val="bg1"/>
                </a:solidFill>
              </a:endParaRPr>
            </a:p>
          </p:txBody>
        </p:sp>
        <p:sp>
          <p:nvSpPr>
            <p:cNvPr id="25" name="Right Arrow 24"/>
            <p:cNvSpPr/>
            <p:nvPr/>
          </p:nvSpPr>
          <p:spPr>
            <a:xfrm rot="16200000">
              <a:off x="6187933" y="4911096"/>
              <a:ext cx="303450" cy="255146"/>
            </a:xfrm>
            <a:prstGeom prst="rightArrow">
              <a:avLst/>
            </a:prstGeom>
            <a:grp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3600">
                <a:solidFill>
                  <a:schemeClr val="bg1"/>
                </a:solidFill>
              </a:endParaRPr>
            </a:p>
          </p:txBody>
        </p:sp>
        <p:grpSp>
          <p:nvGrpSpPr>
            <p:cNvPr id="26" name="Group 25"/>
            <p:cNvGrpSpPr/>
            <p:nvPr/>
          </p:nvGrpSpPr>
          <p:grpSpPr>
            <a:xfrm>
              <a:off x="7769883" y="4070268"/>
              <a:ext cx="657498" cy="662722"/>
              <a:chOff x="5537128" y="1815138"/>
              <a:chExt cx="540000" cy="568593"/>
            </a:xfrm>
            <a:grpFill/>
          </p:grpSpPr>
          <p:sp>
            <p:nvSpPr>
              <p:cNvPr id="27" name="Smiley Face 26"/>
              <p:cNvSpPr/>
              <p:nvPr/>
            </p:nvSpPr>
            <p:spPr>
              <a:xfrm>
                <a:off x="5537128" y="1843731"/>
                <a:ext cx="540000" cy="540000"/>
              </a:xfrm>
              <a:prstGeom prst="smileyFace">
                <a:avLst/>
              </a:prstGeom>
              <a:grp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3600">
                  <a:solidFill>
                    <a:schemeClr val="bg1"/>
                  </a:solidFill>
                </a:endParaRPr>
              </a:p>
            </p:txBody>
          </p:sp>
          <p:sp>
            <p:nvSpPr>
              <p:cNvPr id="28" name="Cloud 27"/>
              <p:cNvSpPr/>
              <p:nvPr/>
            </p:nvSpPr>
            <p:spPr>
              <a:xfrm>
                <a:off x="5936362" y="1815138"/>
                <a:ext cx="82690" cy="183523"/>
              </a:xfrm>
              <a:prstGeom prst="cloud">
                <a:avLst/>
              </a:prstGeom>
              <a:solidFill>
                <a:schemeClr val="accent5"/>
              </a:solid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3600">
                  <a:solidFill>
                    <a:schemeClr val="bg1"/>
                  </a:solidFill>
                </a:endParaRPr>
              </a:p>
            </p:txBody>
          </p:sp>
          <p:sp>
            <p:nvSpPr>
              <p:cNvPr id="29" name="Cloud 28"/>
              <p:cNvSpPr/>
              <p:nvPr/>
            </p:nvSpPr>
            <p:spPr>
              <a:xfrm>
                <a:off x="5597328" y="1815138"/>
                <a:ext cx="82690" cy="183523"/>
              </a:xfrm>
              <a:prstGeom prst="cloud">
                <a:avLst/>
              </a:prstGeom>
              <a:solidFill>
                <a:schemeClr val="accent5"/>
              </a:solid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3600">
                  <a:solidFill>
                    <a:schemeClr val="bg1"/>
                  </a:solidFill>
                </a:endParaRPr>
              </a:p>
            </p:txBody>
          </p:sp>
        </p:grpSp>
        <p:grpSp>
          <p:nvGrpSpPr>
            <p:cNvPr id="37" name="Group 36"/>
            <p:cNvGrpSpPr/>
            <p:nvPr/>
          </p:nvGrpSpPr>
          <p:grpSpPr>
            <a:xfrm>
              <a:off x="2580393" y="5322308"/>
              <a:ext cx="2021395" cy="707886"/>
              <a:chOff x="2381222" y="5249882"/>
              <a:chExt cx="2021395" cy="707886"/>
            </a:xfrm>
            <a:grpFill/>
          </p:grpSpPr>
          <p:sp>
            <p:nvSpPr>
              <p:cNvPr id="12" name="TextBox 11"/>
              <p:cNvSpPr txBox="1"/>
              <p:nvPr/>
            </p:nvSpPr>
            <p:spPr>
              <a:xfrm>
                <a:off x="2951578" y="5371950"/>
                <a:ext cx="1451039" cy="584775"/>
              </a:xfrm>
              <a:prstGeom prst="rect">
                <a:avLst/>
              </a:prstGeom>
              <a:grpFill/>
              <a:ln w="25400">
                <a:noFill/>
              </a:ln>
            </p:spPr>
            <p:txBody>
              <a:bodyPr wrap="none" rtlCol="0">
                <a:spAutoFit/>
              </a:bodyPr>
              <a:lstStyle/>
              <a:p>
                <a:r>
                  <a:rPr lang="en-CA" sz="1600" dirty="0">
                    <a:solidFill>
                      <a:schemeClr val="bg1"/>
                    </a:solidFill>
                  </a:rPr>
                  <a:t> Application</a:t>
                </a:r>
              </a:p>
              <a:p>
                <a:pPr algn="ctr"/>
                <a:r>
                  <a:rPr lang="en-CA" sz="1600" dirty="0">
                    <a:solidFill>
                      <a:schemeClr val="bg1"/>
                    </a:solidFill>
                  </a:rPr>
                  <a:t>Programmer</a:t>
                </a:r>
              </a:p>
            </p:txBody>
          </p:sp>
          <p:grpSp>
            <p:nvGrpSpPr>
              <p:cNvPr id="30" name="Group 29"/>
              <p:cNvGrpSpPr>
                <a:grpSpLocks noChangeAspect="1"/>
              </p:cNvGrpSpPr>
              <p:nvPr/>
            </p:nvGrpSpPr>
            <p:grpSpPr>
              <a:xfrm>
                <a:off x="2381222" y="5449703"/>
                <a:ext cx="416936" cy="420246"/>
                <a:chOff x="5537128" y="1815138"/>
                <a:chExt cx="540000" cy="568593"/>
              </a:xfrm>
              <a:grpFill/>
            </p:grpSpPr>
            <p:sp>
              <p:nvSpPr>
                <p:cNvPr id="31" name="Smiley Face 30"/>
                <p:cNvSpPr/>
                <p:nvPr/>
              </p:nvSpPr>
              <p:spPr>
                <a:xfrm>
                  <a:off x="5537128" y="1843731"/>
                  <a:ext cx="540000" cy="540000"/>
                </a:xfrm>
                <a:prstGeom prst="smileyFace">
                  <a:avLst/>
                </a:prstGeom>
                <a:grp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3600">
                    <a:solidFill>
                      <a:schemeClr val="bg1"/>
                    </a:solidFill>
                  </a:endParaRPr>
                </a:p>
              </p:txBody>
            </p:sp>
            <p:sp>
              <p:nvSpPr>
                <p:cNvPr id="32" name="Cloud 31"/>
                <p:cNvSpPr/>
                <p:nvPr/>
              </p:nvSpPr>
              <p:spPr>
                <a:xfrm>
                  <a:off x="5936362" y="1815138"/>
                  <a:ext cx="82690" cy="183523"/>
                </a:xfrm>
                <a:prstGeom prst="cloud">
                  <a:avLst/>
                </a:prstGeom>
                <a:solidFill>
                  <a:schemeClr val="accent5"/>
                </a:solid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3600">
                    <a:solidFill>
                      <a:schemeClr val="bg1"/>
                    </a:solidFill>
                  </a:endParaRPr>
                </a:p>
              </p:txBody>
            </p:sp>
            <p:sp>
              <p:nvSpPr>
                <p:cNvPr id="33" name="Cloud 32"/>
                <p:cNvSpPr/>
                <p:nvPr/>
              </p:nvSpPr>
              <p:spPr>
                <a:xfrm>
                  <a:off x="5597328" y="1815138"/>
                  <a:ext cx="82690" cy="183523"/>
                </a:xfrm>
                <a:prstGeom prst="cloud">
                  <a:avLst/>
                </a:prstGeom>
                <a:solidFill>
                  <a:schemeClr val="accent5"/>
                </a:solid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3600">
                    <a:solidFill>
                      <a:schemeClr val="bg1"/>
                    </a:solidFill>
                  </a:endParaRPr>
                </a:p>
              </p:txBody>
            </p:sp>
          </p:grpSp>
          <p:sp>
            <p:nvSpPr>
              <p:cNvPr id="34" name="TextBox 33"/>
              <p:cNvSpPr txBox="1"/>
              <p:nvPr/>
            </p:nvSpPr>
            <p:spPr>
              <a:xfrm>
                <a:off x="2759312" y="5249882"/>
                <a:ext cx="327334" cy="707886"/>
              </a:xfrm>
              <a:prstGeom prst="rect">
                <a:avLst/>
              </a:prstGeom>
              <a:grpFill/>
              <a:ln w="25400">
                <a:noFill/>
              </a:ln>
            </p:spPr>
            <p:txBody>
              <a:bodyPr wrap="none" rtlCol="0">
                <a:spAutoFit/>
              </a:bodyPr>
              <a:lstStyle/>
              <a:p>
                <a:r>
                  <a:rPr lang="en-CA" sz="4000" dirty="0">
                    <a:solidFill>
                      <a:schemeClr val="bg1"/>
                    </a:solidFill>
                  </a:rPr>
                  <a:t>:</a:t>
                </a:r>
              </a:p>
            </p:txBody>
          </p:sp>
        </p:grpSp>
      </p:grpSp>
      <p:sp>
        <p:nvSpPr>
          <p:cNvPr id="35" name="Slide Number Placeholder 34"/>
          <p:cNvSpPr>
            <a:spLocks noGrp="1"/>
          </p:cNvSpPr>
          <p:nvPr>
            <p:ph type="sldNum" sz="quarter" idx="12"/>
          </p:nvPr>
        </p:nvSpPr>
        <p:spPr/>
        <p:txBody>
          <a:bodyPr/>
          <a:lstStyle/>
          <a:p>
            <a:fld id="{7B2023C8-B124-43A9-8F92-0EEF5BAA9995}" type="slidenum">
              <a:rPr lang="en-CA" smtClean="0"/>
              <a:pPr/>
              <a:t>7</a:t>
            </a:fld>
            <a:endParaRPr lang="en-CA" dirty="0"/>
          </a:p>
        </p:txBody>
      </p:sp>
    </p:spTree>
    <p:extLst>
      <p:ext uri="{BB962C8B-B14F-4D97-AF65-F5344CB8AC3E}">
        <p14:creationId xmlns:p14="http://schemas.microsoft.com/office/powerpoint/2010/main" val="3874394659"/>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smtClean="0"/>
              <a:t>Generating </a:t>
            </a:r>
            <a:r>
              <a:rPr lang="en-CA" dirty="0" smtClean="0"/>
              <a:t>Library</a:t>
            </a:r>
            <a:endParaRPr lang="en-CA" dirty="0"/>
          </a:p>
        </p:txBody>
      </p:sp>
      <p:sp>
        <p:nvSpPr>
          <p:cNvPr id="3" name="Content Placeholder 2"/>
          <p:cNvSpPr>
            <a:spLocks noGrp="1"/>
          </p:cNvSpPr>
          <p:nvPr>
            <p:ph idx="1"/>
          </p:nvPr>
        </p:nvSpPr>
        <p:spPr/>
        <p:txBody>
          <a:bodyPr/>
          <a:lstStyle/>
          <a:p>
            <a:pPr marL="514350" indent="-514350">
              <a:buFont typeface="+mj-lt"/>
              <a:buAutoNum type="arabicPeriod" startAt="2"/>
            </a:pPr>
            <a:r>
              <a:rPr lang="en-CA" dirty="0" smtClean="0"/>
              <a:t>Spiffy compiler processes annotated metadata </a:t>
            </a:r>
            <a:r>
              <a:rPr lang="en-CA" dirty="0" smtClean="0"/>
              <a:t>structures</a:t>
            </a:r>
            <a:br>
              <a:rPr lang="en-CA" dirty="0" smtClean="0"/>
            </a:br>
            <a:r>
              <a:rPr lang="en-CA" dirty="0" smtClean="0"/>
              <a:t>to generate library </a:t>
            </a:r>
            <a:r>
              <a:rPr lang="en-CA" dirty="0" smtClean="0"/>
              <a:t>for type-safe parsing</a:t>
            </a:r>
            <a:r>
              <a:rPr lang="en-CA" dirty="0"/>
              <a:t>, traversal and </a:t>
            </a:r>
            <a:r>
              <a:rPr lang="en-CA" dirty="0" smtClean="0"/>
              <a:t>serialization of file system structures</a:t>
            </a:r>
          </a:p>
        </p:txBody>
      </p:sp>
      <p:grpSp>
        <p:nvGrpSpPr>
          <p:cNvPr id="69" name="Group 68"/>
          <p:cNvGrpSpPr/>
          <p:nvPr/>
        </p:nvGrpSpPr>
        <p:grpSpPr>
          <a:xfrm>
            <a:off x="844305" y="2832811"/>
            <a:ext cx="9767357" cy="3222517"/>
            <a:chOff x="844305" y="2832811"/>
            <a:chExt cx="9767357" cy="3222517"/>
          </a:xfrm>
          <a:noFill/>
        </p:grpSpPr>
        <p:sp>
          <p:nvSpPr>
            <p:cNvPr id="70" name="Snip Single Corner Rectangle 69"/>
            <p:cNvSpPr/>
            <p:nvPr/>
          </p:nvSpPr>
          <p:spPr>
            <a:xfrm>
              <a:off x="2114410" y="4047345"/>
              <a:ext cx="1332000" cy="774000"/>
            </a:xfrm>
            <a:prstGeom prst="snip1Rect">
              <a:avLst>
                <a:gd name="adj" fmla="val 30778"/>
              </a:avLst>
            </a:prstGeom>
            <a:grpFill/>
            <a:ln w="25400">
              <a:solidFill>
                <a:schemeClr val="bg1"/>
              </a:solidFill>
            </a:ln>
            <a:effectLst>
              <a:glow rad="139700">
                <a:srgbClr val="FFFF00">
                  <a:alpha val="40000"/>
                </a:srgbClr>
              </a:glow>
            </a:effectLst>
          </p:spPr>
          <p:style>
            <a:lnRef idx="2">
              <a:schemeClr val="accent1">
                <a:shade val="50000"/>
              </a:schemeClr>
            </a:lnRef>
            <a:fillRef idx="1">
              <a:schemeClr val="accent1"/>
            </a:fillRef>
            <a:effectRef idx="0">
              <a:schemeClr val="accent1"/>
            </a:effectRef>
            <a:fontRef idx="minor">
              <a:schemeClr val="lt1"/>
            </a:fontRef>
          </p:style>
          <p:txBody>
            <a:bodyPr lIns="0" tIns="0" rIns="0" bIns="126000" rtlCol="0" anchor="ctr"/>
            <a:lstStyle/>
            <a:p>
              <a:pPr algn="ctr"/>
              <a:r>
                <a:rPr lang="en-CA" sz="1600" b="1" dirty="0">
                  <a:solidFill>
                    <a:schemeClr val="bg1"/>
                  </a:solidFill>
                </a:rPr>
                <a:t>Annotated File System Structures</a:t>
              </a:r>
            </a:p>
          </p:txBody>
        </p:sp>
        <p:sp>
          <p:nvSpPr>
            <p:cNvPr id="71" name="TextBox 70"/>
            <p:cNvSpPr txBox="1"/>
            <p:nvPr/>
          </p:nvSpPr>
          <p:spPr>
            <a:xfrm>
              <a:off x="1239816" y="3252232"/>
              <a:ext cx="1329210" cy="584775"/>
            </a:xfrm>
            <a:prstGeom prst="rect">
              <a:avLst/>
            </a:prstGeom>
            <a:grpFill/>
            <a:ln w="25400">
              <a:noFill/>
            </a:ln>
          </p:spPr>
          <p:txBody>
            <a:bodyPr wrap="none" rtlCol="0">
              <a:spAutoFit/>
            </a:bodyPr>
            <a:lstStyle/>
            <a:p>
              <a:pPr algn="ctr"/>
              <a:r>
                <a:rPr lang="en-CA" sz="1600" dirty="0">
                  <a:solidFill>
                    <a:schemeClr val="bg1"/>
                  </a:solidFill>
                </a:rPr>
                <a:t>File System </a:t>
              </a:r>
            </a:p>
            <a:p>
              <a:pPr algn="ctr"/>
              <a:r>
                <a:rPr lang="en-CA" sz="1600" dirty="0">
                  <a:solidFill>
                    <a:schemeClr val="bg1"/>
                  </a:solidFill>
                </a:rPr>
                <a:t>Developer</a:t>
              </a:r>
            </a:p>
          </p:txBody>
        </p:sp>
        <p:sp>
          <p:nvSpPr>
            <p:cNvPr id="72" name="Right Arrow 71"/>
            <p:cNvSpPr/>
            <p:nvPr/>
          </p:nvSpPr>
          <p:spPr>
            <a:xfrm>
              <a:off x="1649607" y="4296172"/>
              <a:ext cx="316999" cy="244240"/>
            </a:xfrm>
            <a:prstGeom prst="rightArrow">
              <a:avLst/>
            </a:prstGeom>
            <a:grp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3600">
                <a:solidFill>
                  <a:schemeClr val="bg1"/>
                </a:solidFill>
              </a:endParaRPr>
            </a:p>
          </p:txBody>
        </p:sp>
        <p:sp>
          <p:nvSpPr>
            <p:cNvPr id="73" name="Right Arrow 72"/>
            <p:cNvSpPr/>
            <p:nvPr/>
          </p:nvSpPr>
          <p:spPr>
            <a:xfrm>
              <a:off x="3594214" y="4296172"/>
              <a:ext cx="316999" cy="244240"/>
            </a:xfrm>
            <a:prstGeom prst="rightArrow">
              <a:avLst/>
            </a:prstGeom>
            <a:grp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3600">
                <a:solidFill>
                  <a:schemeClr val="bg1"/>
                </a:solidFill>
              </a:endParaRPr>
            </a:p>
          </p:txBody>
        </p:sp>
        <p:sp>
          <p:nvSpPr>
            <p:cNvPr id="74" name="Rounded Rectangle 73"/>
            <p:cNvSpPr/>
            <p:nvPr/>
          </p:nvSpPr>
          <p:spPr>
            <a:xfrm>
              <a:off x="4059017" y="4047345"/>
              <a:ext cx="1080000" cy="774000"/>
            </a:xfrm>
            <a:prstGeom prst="roundRect">
              <a:avLst/>
            </a:prstGeom>
            <a:grpFill/>
            <a:ln w="25400" cmpd="dbl">
              <a:solidFill>
                <a:schemeClr val="bg1"/>
              </a:solidFill>
            </a:ln>
            <a:effectLst>
              <a:glow rad="139700">
                <a:srgbClr val="FFFF00">
                  <a:alpha val="40000"/>
                </a:srgbClr>
              </a:glow>
            </a:effectLst>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CA" sz="1600" b="1" dirty="0">
                  <a:solidFill>
                    <a:schemeClr val="bg1"/>
                  </a:solidFill>
                </a:rPr>
                <a:t>Spiffy Compiler</a:t>
              </a:r>
            </a:p>
          </p:txBody>
        </p:sp>
        <p:sp>
          <p:nvSpPr>
            <p:cNvPr id="75" name="Snip Single Corner Rectangle 74"/>
            <p:cNvSpPr/>
            <p:nvPr/>
          </p:nvSpPr>
          <p:spPr>
            <a:xfrm>
              <a:off x="7432632" y="5281328"/>
              <a:ext cx="1332000" cy="774000"/>
            </a:xfrm>
            <a:prstGeom prst="snip1Rect">
              <a:avLst>
                <a:gd name="adj" fmla="val 30778"/>
              </a:avLst>
            </a:prstGeom>
            <a:grp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lIns="54000" tIns="0" rIns="0" bIns="144000" rtlCol="0" anchor="ctr"/>
            <a:lstStyle/>
            <a:p>
              <a:pPr algn="ctr"/>
              <a:r>
                <a:rPr lang="en-CA" sz="1600" dirty="0">
                  <a:solidFill>
                    <a:schemeClr val="bg1"/>
                  </a:solidFill>
                </a:rPr>
                <a:t>Generic </a:t>
              </a:r>
              <a:r>
                <a:rPr lang="en-CA" sz="1600" dirty="0" smtClean="0">
                  <a:solidFill>
                    <a:schemeClr val="bg1"/>
                  </a:solidFill>
                </a:rPr>
                <a:t>Application</a:t>
              </a:r>
              <a:endParaRPr lang="en-CA" sz="1600" dirty="0">
                <a:solidFill>
                  <a:schemeClr val="bg1"/>
                </a:solidFill>
              </a:endParaRPr>
            </a:p>
          </p:txBody>
        </p:sp>
        <p:sp>
          <p:nvSpPr>
            <p:cNvPr id="76" name="Snip Single Corner Rectangle 75"/>
            <p:cNvSpPr/>
            <p:nvPr/>
          </p:nvSpPr>
          <p:spPr>
            <a:xfrm>
              <a:off x="7432632" y="2832811"/>
              <a:ext cx="1332000" cy="774000"/>
            </a:xfrm>
            <a:prstGeom prst="snip1Rect">
              <a:avLst>
                <a:gd name="adj" fmla="val 30778"/>
              </a:avLst>
            </a:prstGeom>
            <a:grp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144000" rtlCol="0" anchor="ctr"/>
            <a:lstStyle/>
            <a:p>
              <a:pPr algn="ctr"/>
              <a:r>
                <a:rPr lang="en-CA" sz="1600" dirty="0">
                  <a:solidFill>
                    <a:schemeClr val="bg1"/>
                  </a:solidFill>
                </a:rPr>
                <a:t>File </a:t>
              </a:r>
              <a:r>
                <a:rPr lang="en-CA" sz="1600" dirty="0" smtClean="0">
                  <a:solidFill>
                    <a:schemeClr val="bg1"/>
                  </a:solidFill>
                </a:rPr>
                <a:t>System </a:t>
              </a:r>
              <a:r>
                <a:rPr lang="en-CA" sz="1600" dirty="0">
                  <a:solidFill>
                    <a:schemeClr val="bg1"/>
                  </a:solidFill>
                </a:rPr>
                <a:t>Specific Policies</a:t>
              </a:r>
            </a:p>
          </p:txBody>
        </p:sp>
        <p:sp>
          <p:nvSpPr>
            <p:cNvPr id="77" name="Right Arrow 76"/>
            <p:cNvSpPr/>
            <p:nvPr/>
          </p:nvSpPr>
          <p:spPr>
            <a:xfrm rot="5400000">
              <a:off x="7946907" y="4911095"/>
              <a:ext cx="303450" cy="255146"/>
            </a:xfrm>
            <a:prstGeom prst="rightArrow">
              <a:avLst/>
            </a:prstGeom>
            <a:grp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3600">
                <a:solidFill>
                  <a:schemeClr val="bg1"/>
                </a:solidFill>
              </a:endParaRPr>
            </a:p>
          </p:txBody>
        </p:sp>
        <p:sp>
          <p:nvSpPr>
            <p:cNvPr id="78" name="Rectangle 77"/>
            <p:cNvSpPr/>
            <p:nvPr/>
          </p:nvSpPr>
          <p:spPr>
            <a:xfrm>
              <a:off x="5751627" y="4047345"/>
              <a:ext cx="1224000" cy="774000"/>
            </a:xfrm>
            <a:prstGeom prst="rect">
              <a:avLst/>
            </a:prstGeom>
            <a:grpFill/>
            <a:ln w="25400">
              <a:solidFill>
                <a:schemeClr val="bg1"/>
              </a:solidFill>
            </a:ln>
            <a:effectLst>
              <a:glow rad="139700">
                <a:srgbClr val="FFFF00">
                  <a:alpha val="40000"/>
                </a:srgbClr>
              </a:glow>
            </a:effectLst>
          </p:spPr>
          <p:style>
            <a:lnRef idx="2">
              <a:schemeClr val="accent1">
                <a:shade val="50000"/>
              </a:schemeClr>
            </a:lnRef>
            <a:fillRef idx="1">
              <a:schemeClr val="accent1"/>
            </a:fillRef>
            <a:effectRef idx="0">
              <a:schemeClr val="accent1"/>
            </a:effectRef>
            <a:fontRef idx="minor">
              <a:schemeClr val="lt1"/>
            </a:fontRef>
          </p:style>
          <p:txBody>
            <a:bodyPr lIns="0" tIns="46800" rIns="0" bIns="46800" rtlCol="0" anchor="ctr"/>
            <a:lstStyle/>
            <a:p>
              <a:pPr algn="ctr"/>
              <a:r>
                <a:rPr lang="en-CA" sz="1600" b="1" dirty="0" smtClean="0">
                  <a:solidFill>
                    <a:schemeClr val="bg1"/>
                  </a:solidFill>
                </a:rPr>
                <a:t>File </a:t>
              </a:r>
              <a:r>
                <a:rPr lang="en-CA" sz="1600" b="1" dirty="0">
                  <a:solidFill>
                    <a:schemeClr val="bg1"/>
                  </a:solidFill>
                </a:rPr>
                <a:t>System Library</a:t>
              </a:r>
            </a:p>
          </p:txBody>
        </p:sp>
        <p:sp>
          <p:nvSpPr>
            <p:cNvPr id="79" name="Right Arrow 78"/>
            <p:cNvSpPr/>
            <p:nvPr/>
          </p:nvSpPr>
          <p:spPr>
            <a:xfrm>
              <a:off x="5286822" y="4296172"/>
              <a:ext cx="316999" cy="244240"/>
            </a:xfrm>
            <a:prstGeom prst="rightArrow">
              <a:avLst/>
            </a:prstGeom>
            <a:grp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3600">
                <a:solidFill>
                  <a:schemeClr val="bg1"/>
                </a:solidFill>
              </a:endParaRPr>
            </a:p>
          </p:txBody>
        </p:sp>
        <p:sp>
          <p:nvSpPr>
            <p:cNvPr id="80" name="Rectangle 79"/>
            <p:cNvSpPr/>
            <p:nvPr/>
          </p:nvSpPr>
          <p:spPr>
            <a:xfrm>
              <a:off x="9292902" y="4099894"/>
              <a:ext cx="1318760" cy="636797"/>
            </a:xfrm>
            <a:prstGeom prst="rect">
              <a:avLst/>
            </a:prstGeom>
            <a:grp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36000" rtlCol="0" anchor="ctr"/>
            <a:lstStyle/>
            <a:p>
              <a:pPr algn="ctr"/>
              <a:r>
                <a:rPr lang="en-CA" sz="1600" dirty="0">
                  <a:solidFill>
                    <a:schemeClr val="bg1"/>
                  </a:solidFill>
                </a:rPr>
                <a:t>File System Application</a:t>
              </a:r>
            </a:p>
          </p:txBody>
        </p:sp>
        <p:grpSp>
          <p:nvGrpSpPr>
            <p:cNvPr id="81" name="Group 80"/>
            <p:cNvGrpSpPr/>
            <p:nvPr/>
          </p:nvGrpSpPr>
          <p:grpSpPr>
            <a:xfrm>
              <a:off x="844305" y="3544620"/>
              <a:ext cx="657498" cy="1188370"/>
              <a:chOff x="1323407" y="3472195"/>
              <a:chExt cx="657498" cy="1188370"/>
            </a:xfrm>
            <a:grpFill/>
          </p:grpSpPr>
          <p:sp>
            <p:nvSpPr>
              <p:cNvPr id="100" name="Smiley Face 99"/>
              <p:cNvSpPr/>
              <p:nvPr/>
            </p:nvSpPr>
            <p:spPr>
              <a:xfrm>
                <a:off x="1323407" y="4031169"/>
                <a:ext cx="657498" cy="629396"/>
              </a:xfrm>
              <a:prstGeom prst="smileyFace">
                <a:avLst/>
              </a:prstGeom>
              <a:grpFill/>
              <a:ln w="25400">
                <a:solidFill>
                  <a:schemeClr val="bg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3600">
                  <a:solidFill>
                    <a:schemeClr val="bg1"/>
                  </a:solidFill>
                </a:endParaRPr>
              </a:p>
            </p:txBody>
          </p:sp>
          <p:sp>
            <p:nvSpPr>
              <p:cNvPr id="101" name="Isosceles Triangle 100"/>
              <p:cNvSpPr/>
              <p:nvPr/>
            </p:nvSpPr>
            <p:spPr>
              <a:xfrm>
                <a:off x="1439539" y="3472195"/>
                <a:ext cx="415041" cy="640458"/>
              </a:xfrm>
              <a:prstGeom prst="triangle">
                <a:avLst/>
              </a:prstGeom>
              <a:solidFill>
                <a:schemeClr val="accent6"/>
              </a:solidFill>
              <a:ln w="25400">
                <a:solidFill>
                  <a:schemeClr val="accent6"/>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3600">
                  <a:solidFill>
                    <a:schemeClr val="bg1"/>
                  </a:solidFill>
                </a:endParaRPr>
              </a:p>
            </p:txBody>
          </p:sp>
        </p:grpSp>
        <p:sp>
          <p:nvSpPr>
            <p:cNvPr id="82" name="Right Arrow 81"/>
            <p:cNvSpPr/>
            <p:nvPr/>
          </p:nvSpPr>
          <p:spPr>
            <a:xfrm rot="18900000">
              <a:off x="7054852" y="3727351"/>
              <a:ext cx="316999" cy="244240"/>
            </a:xfrm>
            <a:prstGeom prst="rightArrow">
              <a:avLst/>
            </a:prstGeom>
            <a:grp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3600">
                <a:solidFill>
                  <a:schemeClr val="bg1"/>
                </a:solidFill>
              </a:endParaRPr>
            </a:p>
          </p:txBody>
        </p:sp>
        <p:sp>
          <p:nvSpPr>
            <p:cNvPr id="83" name="Right Arrow 82"/>
            <p:cNvSpPr/>
            <p:nvPr/>
          </p:nvSpPr>
          <p:spPr>
            <a:xfrm rot="16200000">
              <a:off x="7946907" y="3721899"/>
              <a:ext cx="303450" cy="255146"/>
            </a:xfrm>
            <a:prstGeom prst="rightArrow">
              <a:avLst/>
            </a:prstGeom>
            <a:grp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3600">
                <a:solidFill>
                  <a:schemeClr val="bg1"/>
                </a:solidFill>
              </a:endParaRPr>
            </a:p>
          </p:txBody>
        </p:sp>
        <p:sp>
          <p:nvSpPr>
            <p:cNvPr id="84" name="Right Arrow 83"/>
            <p:cNvSpPr/>
            <p:nvPr/>
          </p:nvSpPr>
          <p:spPr>
            <a:xfrm rot="18900000">
              <a:off x="8859377" y="4916548"/>
              <a:ext cx="316999" cy="244240"/>
            </a:xfrm>
            <a:prstGeom prst="rightArrow">
              <a:avLst/>
            </a:prstGeom>
            <a:grp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3600">
                <a:solidFill>
                  <a:schemeClr val="bg1"/>
                </a:solidFill>
              </a:endParaRPr>
            </a:p>
          </p:txBody>
        </p:sp>
        <p:sp>
          <p:nvSpPr>
            <p:cNvPr id="85" name="Right Arrow 84"/>
            <p:cNvSpPr/>
            <p:nvPr/>
          </p:nvSpPr>
          <p:spPr>
            <a:xfrm rot="2700000">
              <a:off x="8866151" y="3721898"/>
              <a:ext cx="303450" cy="255146"/>
            </a:xfrm>
            <a:prstGeom prst="rightArrow">
              <a:avLst/>
            </a:prstGeom>
            <a:grp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3600">
                <a:solidFill>
                  <a:schemeClr val="bg1"/>
                </a:solidFill>
              </a:endParaRPr>
            </a:p>
          </p:txBody>
        </p:sp>
        <p:sp>
          <p:nvSpPr>
            <p:cNvPr id="86" name="Rectangle 85"/>
            <p:cNvSpPr/>
            <p:nvPr/>
          </p:nvSpPr>
          <p:spPr>
            <a:xfrm>
              <a:off x="5709658" y="5281328"/>
              <a:ext cx="1260000" cy="774000"/>
            </a:xfrm>
            <a:prstGeom prst="rect">
              <a:avLst/>
            </a:prstGeom>
            <a:grp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lIns="0" tIns="46800" rIns="0" bIns="46800" rtlCol="0" anchor="ctr"/>
            <a:lstStyle/>
            <a:p>
              <a:pPr algn="ctr"/>
              <a:r>
                <a:rPr lang="en-CA" sz="1600" dirty="0">
                  <a:solidFill>
                    <a:schemeClr val="bg1"/>
                  </a:solidFill>
                </a:rPr>
                <a:t>Spiffy API</a:t>
              </a:r>
            </a:p>
          </p:txBody>
        </p:sp>
        <p:sp>
          <p:nvSpPr>
            <p:cNvPr id="87" name="Right Arrow 86"/>
            <p:cNvSpPr/>
            <p:nvPr/>
          </p:nvSpPr>
          <p:spPr>
            <a:xfrm>
              <a:off x="7054852" y="5473906"/>
              <a:ext cx="316999" cy="244240"/>
            </a:xfrm>
            <a:prstGeom prst="rightArrow">
              <a:avLst/>
            </a:prstGeom>
            <a:grp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3600">
                <a:solidFill>
                  <a:schemeClr val="bg1"/>
                </a:solidFill>
              </a:endParaRPr>
            </a:p>
          </p:txBody>
        </p:sp>
        <p:sp>
          <p:nvSpPr>
            <p:cNvPr id="88" name="Right Arrow 87"/>
            <p:cNvSpPr/>
            <p:nvPr/>
          </p:nvSpPr>
          <p:spPr>
            <a:xfrm rot="16200000">
              <a:off x="6187933" y="4911096"/>
              <a:ext cx="303450" cy="255146"/>
            </a:xfrm>
            <a:prstGeom prst="rightArrow">
              <a:avLst/>
            </a:prstGeom>
            <a:grp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3600">
                <a:solidFill>
                  <a:schemeClr val="bg1"/>
                </a:solidFill>
              </a:endParaRPr>
            </a:p>
          </p:txBody>
        </p:sp>
        <p:grpSp>
          <p:nvGrpSpPr>
            <p:cNvPr id="89" name="Group 88"/>
            <p:cNvGrpSpPr/>
            <p:nvPr/>
          </p:nvGrpSpPr>
          <p:grpSpPr>
            <a:xfrm>
              <a:off x="7769883" y="4070268"/>
              <a:ext cx="657498" cy="662722"/>
              <a:chOff x="5537128" y="1815138"/>
              <a:chExt cx="540000" cy="568593"/>
            </a:xfrm>
            <a:grpFill/>
          </p:grpSpPr>
          <p:sp>
            <p:nvSpPr>
              <p:cNvPr id="97" name="Smiley Face 96"/>
              <p:cNvSpPr/>
              <p:nvPr/>
            </p:nvSpPr>
            <p:spPr>
              <a:xfrm>
                <a:off x="5537128" y="1843731"/>
                <a:ext cx="540000" cy="540000"/>
              </a:xfrm>
              <a:prstGeom prst="smileyFace">
                <a:avLst/>
              </a:prstGeom>
              <a:grp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3600">
                  <a:solidFill>
                    <a:schemeClr val="bg1"/>
                  </a:solidFill>
                </a:endParaRPr>
              </a:p>
            </p:txBody>
          </p:sp>
          <p:sp>
            <p:nvSpPr>
              <p:cNvPr id="98" name="Cloud 97"/>
              <p:cNvSpPr/>
              <p:nvPr/>
            </p:nvSpPr>
            <p:spPr>
              <a:xfrm>
                <a:off x="5936362" y="1815138"/>
                <a:ext cx="82690" cy="183523"/>
              </a:xfrm>
              <a:prstGeom prst="cloud">
                <a:avLst/>
              </a:prstGeom>
              <a:solidFill>
                <a:schemeClr val="accent5"/>
              </a:solid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3600">
                  <a:solidFill>
                    <a:schemeClr val="bg1"/>
                  </a:solidFill>
                </a:endParaRPr>
              </a:p>
            </p:txBody>
          </p:sp>
          <p:sp>
            <p:nvSpPr>
              <p:cNvPr id="99" name="Cloud 98"/>
              <p:cNvSpPr/>
              <p:nvPr/>
            </p:nvSpPr>
            <p:spPr>
              <a:xfrm>
                <a:off x="5597328" y="1815138"/>
                <a:ext cx="82690" cy="183523"/>
              </a:xfrm>
              <a:prstGeom prst="cloud">
                <a:avLst/>
              </a:prstGeom>
              <a:solidFill>
                <a:schemeClr val="accent5"/>
              </a:solid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3600">
                  <a:solidFill>
                    <a:schemeClr val="bg1"/>
                  </a:solidFill>
                </a:endParaRPr>
              </a:p>
            </p:txBody>
          </p:sp>
        </p:grpSp>
        <p:grpSp>
          <p:nvGrpSpPr>
            <p:cNvPr id="90" name="Group 89"/>
            <p:cNvGrpSpPr/>
            <p:nvPr/>
          </p:nvGrpSpPr>
          <p:grpSpPr>
            <a:xfrm>
              <a:off x="2580393" y="5322308"/>
              <a:ext cx="2021395" cy="707886"/>
              <a:chOff x="2381222" y="5249882"/>
              <a:chExt cx="2021395" cy="707886"/>
            </a:xfrm>
            <a:grpFill/>
          </p:grpSpPr>
          <p:sp>
            <p:nvSpPr>
              <p:cNvPr id="91" name="TextBox 90"/>
              <p:cNvSpPr txBox="1"/>
              <p:nvPr/>
            </p:nvSpPr>
            <p:spPr>
              <a:xfrm>
                <a:off x="2951578" y="5371950"/>
                <a:ext cx="1451039" cy="584775"/>
              </a:xfrm>
              <a:prstGeom prst="rect">
                <a:avLst/>
              </a:prstGeom>
              <a:grpFill/>
              <a:ln w="25400">
                <a:noFill/>
              </a:ln>
            </p:spPr>
            <p:txBody>
              <a:bodyPr wrap="none" rtlCol="0">
                <a:spAutoFit/>
              </a:bodyPr>
              <a:lstStyle/>
              <a:p>
                <a:r>
                  <a:rPr lang="en-CA" sz="1600" dirty="0">
                    <a:solidFill>
                      <a:schemeClr val="bg1"/>
                    </a:solidFill>
                  </a:rPr>
                  <a:t> Application</a:t>
                </a:r>
              </a:p>
              <a:p>
                <a:pPr algn="ctr"/>
                <a:r>
                  <a:rPr lang="en-CA" sz="1600" dirty="0">
                    <a:solidFill>
                      <a:schemeClr val="bg1"/>
                    </a:solidFill>
                  </a:rPr>
                  <a:t>Programmer</a:t>
                </a:r>
              </a:p>
            </p:txBody>
          </p:sp>
          <p:grpSp>
            <p:nvGrpSpPr>
              <p:cNvPr id="92" name="Group 91"/>
              <p:cNvGrpSpPr>
                <a:grpSpLocks noChangeAspect="1"/>
              </p:cNvGrpSpPr>
              <p:nvPr/>
            </p:nvGrpSpPr>
            <p:grpSpPr>
              <a:xfrm>
                <a:off x="2381222" y="5449703"/>
                <a:ext cx="416936" cy="420246"/>
                <a:chOff x="5537128" y="1815138"/>
                <a:chExt cx="540000" cy="568593"/>
              </a:xfrm>
              <a:grpFill/>
            </p:grpSpPr>
            <p:sp>
              <p:nvSpPr>
                <p:cNvPr id="94" name="Smiley Face 93"/>
                <p:cNvSpPr/>
                <p:nvPr/>
              </p:nvSpPr>
              <p:spPr>
                <a:xfrm>
                  <a:off x="5537128" y="1843731"/>
                  <a:ext cx="540000" cy="540000"/>
                </a:xfrm>
                <a:prstGeom prst="smileyFace">
                  <a:avLst/>
                </a:prstGeom>
                <a:grp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3600">
                    <a:solidFill>
                      <a:schemeClr val="bg1"/>
                    </a:solidFill>
                  </a:endParaRPr>
                </a:p>
              </p:txBody>
            </p:sp>
            <p:sp>
              <p:nvSpPr>
                <p:cNvPr id="95" name="Cloud 94"/>
                <p:cNvSpPr/>
                <p:nvPr/>
              </p:nvSpPr>
              <p:spPr>
                <a:xfrm>
                  <a:off x="5936362" y="1815138"/>
                  <a:ext cx="82690" cy="183523"/>
                </a:xfrm>
                <a:prstGeom prst="cloud">
                  <a:avLst/>
                </a:prstGeom>
                <a:solidFill>
                  <a:schemeClr val="accent5"/>
                </a:solid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3600">
                    <a:solidFill>
                      <a:schemeClr val="bg1"/>
                    </a:solidFill>
                  </a:endParaRPr>
                </a:p>
              </p:txBody>
            </p:sp>
            <p:sp>
              <p:nvSpPr>
                <p:cNvPr id="96" name="Cloud 95"/>
                <p:cNvSpPr/>
                <p:nvPr/>
              </p:nvSpPr>
              <p:spPr>
                <a:xfrm>
                  <a:off x="5597328" y="1815138"/>
                  <a:ext cx="82690" cy="183523"/>
                </a:xfrm>
                <a:prstGeom prst="cloud">
                  <a:avLst/>
                </a:prstGeom>
                <a:solidFill>
                  <a:schemeClr val="accent5"/>
                </a:solid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3600">
                    <a:solidFill>
                      <a:schemeClr val="bg1"/>
                    </a:solidFill>
                  </a:endParaRPr>
                </a:p>
              </p:txBody>
            </p:sp>
          </p:grpSp>
          <p:sp>
            <p:nvSpPr>
              <p:cNvPr id="93" name="TextBox 92"/>
              <p:cNvSpPr txBox="1"/>
              <p:nvPr/>
            </p:nvSpPr>
            <p:spPr>
              <a:xfrm>
                <a:off x="2759312" y="5249882"/>
                <a:ext cx="327334" cy="707886"/>
              </a:xfrm>
              <a:prstGeom prst="rect">
                <a:avLst/>
              </a:prstGeom>
              <a:grpFill/>
              <a:ln w="25400">
                <a:noFill/>
              </a:ln>
            </p:spPr>
            <p:txBody>
              <a:bodyPr wrap="none" rtlCol="0">
                <a:spAutoFit/>
              </a:bodyPr>
              <a:lstStyle/>
              <a:p>
                <a:r>
                  <a:rPr lang="en-CA" sz="4000" dirty="0">
                    <a:solidFill>
                      <a:schemeClr val="bg1"/>
                    </a:solidFill>
                  </a:rPr>
                  <a:t>:</a:t>
                </a:r>
              </a:p>
            </p:txBody>
          </p:sp>
        </p:grpSp>
      </p:grpSp>
      <p:sp>
        <p:nvSpPr>
          <p:cNvPr id="4" name="Slide Number Placeholder 3"/>
          <p:cNvSpPr>
            <a:spLocks noGrp="1"/>
          </p:cNvSpPr>
          <p:nvPr>
            <p:ph type="sldNum" sz="quarter" idx="12"/>
          </p:nvPr>
        </p:nvSpPr>
        <p:spPr/>
        <p:txBody>
          <a:bodyPr/>
          <a:lstStyle/>
          <a:p>
            <a:fld id="{7B2023C8-B124-43A9-8F92-0EEF5BAA9995}" type="slidenum">
              <a:rPr lang="en-CA" smtClean="0"/>
              <a:pPr/>
              <a:t>8</a:t>
            </a:fld>
            <a:endParaRPr lang="en-CA" dirty="0"/>
          </a:p>
        </p:txBody>
      </p:sp>
    </p:spTree>
    <p:extLst>
      <p:ext uri="{BB962C8B-B14F-4D97-AF65-F5344CB8AC3E}">
        <p14:creationId xmlns:p14="http://schemas.microsoft.com/office/powerpoint/2010/main" val="3161264054"/>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 </a:t>
            </a:r>
            <a:r>
              <a:rPr lang="en-CA" dirty="0" smtClean="0"/>
              <a:t>Building </a:t>
            </a:r>
            <a:r>
              <a:rPr lang="en-CA" dirty="0" smtClean="0"/>
              <a:t>Applications</a:t>
            </a:r>
            <a:endParaRPr lang="en-CA" dirty="0"/>
          </a:p>
        </p:txBody>
      </p:sp>
      <p:sp>
        <p:nvSpPr>
          <p:cNvPr id="3" name="Content Placeholder 2"/>
          <p:cNvSpPr>
            <a:spLocks noGrp="1"/>
          </p:cNvSpPr>
          <p:nvPr>
            <p:ph idx="1"/>
          </p:nvPr>
        </p:nvSpPr>
        <p:spPr/>
        <p:txBody>
          <a:bodyPr/>
          <a:lstStyle/>
          <a:p>
            <a:pPr marL="514350" indent="-514350">
              <a:buFont typeface="+mj-lt"/>
              <a:buAutoNum type="arabicPeriod" startAt="3"/>
            </a:pPr>
            <a:r>
              <a:rPr lang="en-CA" dirty="0" smtClean="0"/>
              <a:t>Developers </a:t>
            </a:r>
            <a:r>
              <a:rPr lang="en-CA" dirty="0" smtClean="0"/>
              <a:t>u</a:t>
            </a:r>
            <a:r>
              <a:rPr lang="en-CA" dirty="0" smtClean="0"/>
              <a:t>se </a:t>
            </a:r>
            <a:r>
              <a:rPr lang="en-CA" dirty="0" smtClean="0"/>
              <a:t>Spiffy library </a:t>
            </a:r>
            <a:r>
              <a:rPr lang="en-CA" dirty="0" smtClean="0"/>
              <a:t>to build robust </a:t>
            </a:r>
            <a:r>
              <a:rPr lang="en-CA" dirty="0" smtClean="0"/>
              <a:t>applications that work across file systems</a:t>
            </a:r>
            <a:endParaRPr lang="en-CA" dirty="0"/>
          </a:p>
        </p:txBody>
      </p:sp>
      <p:grpSp>
        <p:nvGrpSpPr>
          <p:cNvPr id="69" name="Group 68"/>
          <p:cNvGrpSpPr/>
          <p:nvPr/>
        </p:nvGrpSpPr>
        <p:grpSpPr>
          <a:xfrm>
            <a:off x="844305" y="2832811"/>
            <a:ext cx="9767357" cy="3222517"/>
            <a:chOff x="844305" y="2832811"/>
            <a:chExt cx="9767357" cy="3222517"/>
          </a:xfrm>
          <a:noFill/>
        </p:grpSpPr>
        <p:sp>
          <p:nvSpPr>
            <p:cNvPr id="70" name="Snip Single Corner Rectangle 69"/>
            <p:cNvSpPr/>
            <p:nvPr/>
          </p:nvSpPr>
          <p:spPr>
            <a:xfrm>
              <a:off x="2114410" y="4047345"/>
              <a:ext cx="1332000" cy="774000"/>
            </a:xfrm>
            <a:prstGeom prst="snip1Rect">
              <a:avLst>
                <a:gd name="adj" fmla="val 30778"/>
              </a:avLst>
            </a:prstGeom>
            <a:grpFill/>
            <a:ln w="25400">
              <a:solidFill>
                <a:schemeClr val="bg1"/>
              </a:solidFill>
            </a:ln>
            <a:effectLst/>
          </p:spPr>
          <p:style>
            <a:lnRef idx="2">
              <a:schemeClr val="accent1">
                <a:shade val="50000"/>
              </a:schemeClr>
            </a:lnRef>
            <a:fillRef idx="1">
              <a:schemeClr val="accent1"/>
            </a:fillRef>
            <a:effectRef idx="0">
              <a:schemeClr val="accent1"/>
            </a:effectRef>
            <a:fontRef idx="minor">
              <a:schemeClr val="lt1"/>
            </a:fontRef>
          </p:style>
          <p:txBody>
            <a:bodyPr lIns="0" tIns="0" rIns="0" bIns="126000" rtlCol="0" anchor="ctr"/>
            <a:lstStyle/>
            <a:p>
              <a:pPr algn="ctr"/>
              <a:r>
                <a:rPr lang="en-CA" sz="1600" dirty="0">
                  <a:solidFill>
                    <a:schemeClr val="bg1"/>
                  </a:solidFill>
                </a:rPr>
                <a:t>Annotated File System Structures</a:t>
              </a:r>
            </a:p>
          </p:txBody>
        </p:sp>
        <p:sp>
          <p:nvSpPr>
            <p:cNvPr id="71" name="TextBox 70"/>
            <p:cNvSpPr txBox="1"/>
            <p:nvPr/>
          </p:nvSpPr>
          <p:spPr>
            <a:xfrm>
              <a:off x="1239816" y="3252232"/>
              <a:ext cx="1329210" cy="584775"/>
            </a:xfrm>
            <a:prstGeom prst="rect">
              <a:avLst/>
            </a:prstGeom>
            <a:grpFill/>
            <a:ln w="25400">
              <a:noFill/>
            </a:ln>
          </p:spPr>
          <p:txBody>
            <a:bodyPr wrap="none" rtlCol="0">
              <a:spAutoFit/>
            </a:bodyPr>
            <a:lstStyle/>
            <a:p>
              <a:pPr algn="ctr"/>
              <a:r>
                <a:rPr lang="en-CA" sz="1600" dirty="0">
                  <a:solidFill>
                    <a:schemeClr val="bg1"/>
                  </a:solidFill>
                </a:rPr>
                <a:t>File System </a:t>
              </a:r>
            </a:p>
            <a:p>
              <a:pPr algn="ctr"/>
              <a:r>
                <a:rPr lang="en-CA" sz="1600" dirty="0">
                  <a:solidFill>
                    <a:schemeClr val="bg1"/>
                  </a:solidFill>
                </a:rPr>
                <a:t>Developer</a:t>
              </a:r>
            </a:p>
          </p:txBody>
        </p:sp>
        <p:sp>
          <p:nvSpPr>
            <p:cNvPr id="72" name="Right Arrow 71"/>
            <p:cNvSpPr/>
            <p:nvPr/>
          </p:nvSpPr>
          <p:spPr>
            <a:xfrm>
              <a:off x="1649607" y="4296172"/>
              <a:ext cx="316999" cy="244240"/>
            </a:xfrm>
            <a:prstGeom prst="rightArrow">
              <a:avLst/>
            </a:prstGeom>
            <a:grp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3600">
                <a:solidFill>
                  <a:schemeClr val="bg1"/>
                </a:solidFill>
              </a:endParaRPr>
            </a:p>
          </p:txBody>
        </p:sp>
        <p:sp>
          <p:nvSpPr>
            <p:cNvPr id="73" name="Right Arrow 72"/>
            <p:cNvSpPr/>
            <p:nvPr/>
          </p:nvSpPr>
          <p:spPr>
            <a:xfrm>
              <a:off x="3594214" y="4296172"/>
              <a:ext cx="316999" cy="244240"/>
            </a:xfrm>
            <a:prstGeom prst="rightArrow">
              <a:avLst/>
            </a:prstGeom>
            <a:grp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3600">
                <a:solidFill>
                  <a:schemeClr val="bg1"/>
                </a:solidFill>
              </a:endParaRPr>
            </a:p>
          </p:txBody>
        </p:sp>
        <p:sp>
          <p:nvSpPr>
            <p:cNvPr id="74" name="Rounded Rectangle 73"/>
            <p:cNvSpPr/>
            <p:nvPr/>
          </p:nvSpPr>
          <p:spPr>
            <a:xfrm>
              <a:off x="4059017" y="4047345"/>
              <a:ext cx="1080000" cy="774000"/>
            </a:xfrm>
            <a:prstGeom prst="roundRect">
              <a:avLst/>
            </a:prstGeom>
            <a:grpFill/>
            <a:ln w="25400" cmpd="dbl">
              <a:solidFill>
                <a:schemeClr val="bg1"/>
              </a:solidFill>
            </a:ln>
            <a:effectLst/>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CA" sz="1600" dirty="0">
                  <a:solidFill>
                    <a:schemeClr val="bg1"/>
                  </a:solidFill>
                </a:rPr>
                <a:t>Spiffy Compiler</a:t>
              </a:r>
            </a:p>
          </p:txBody>
        </p:sp>
        <p:sp>
          <p:nvSpPr>
            <p:cNvPr id="75" name="Snip Single Corner Rectangle 74"/>
            <p:cNvSpPr/>
            <p:nvPr/>
          </p:nvSpPr>
          <p:spPr>
            <a:xfrm>
              <a:off x="7432632" y="5281328"/>
              <a:ext cx="1332000" cy="774000"/>
            </a:xfrm>
            <a:prstGeom prst="snip1Rect">
              <a:avLst>
                <a:gd name="adj" fmla="val 30778"/>
              </a:avLst>
            </a:prstGeom>
            <a:grpFill/>
            <a:ln w="25400">
              <a:solidFill>
                <a:schemeClr val="bg1"/>
              </a:solidFill>
            </a:ln>
            <a:effectLst>
              <a:glow rad="139700">
                <a:srgbClr val="FFFF00">
                  <a:alpha val="40000"/>
                </a:srgbClr>
              </a:glow>
            </a:effectLst>
          </p:spPr>
          <p:style>
            <a:lnRef idx="2">
              <a:schemeClr val="accent1">
                <a:shade val="50000"/>
              </a:schemeClr>
            </a:lnRef>
            <a:fillRef idx="1">
              <a:schemeClr val="accent1"/>
            </a:fillRef>
            <a:effectRef idx="0">
              <a:schemeClr val="accent1"/>
            </a:effectRef>
            <a:fontRef idx="minor">
              <a:schemeClr val="lt1"/>
            </a:fontRef>
          </p:style>
          <p:txBody>
            <a:bodyPr lIns="54000" tIns="0" rIns="0" bIns="144000" rtlCol="0" anchor="ctr"/>
            <a:lstStyle/>
            <a:p>
              <a:pPr algn="ctr"/>
              <a:r>
                <a:rPr lang="en-CA" sz="1600" b="1" dirty="0">
                  <a:solidFill>
                    <a:schemeClr val="bg1"/>
                  </a:solidFill>
                </a:rPr>
                <a:t>Generic </a:t>
              </a:r>
              <a:r>
                <a:rPr lang="en-CA" sz="1600" b="1" dirty="0" smtClean="0">
                  <a:solidFill>
                    <a:schemeClr val="bg1"/>
                  </a:solidFill>
                </a:rPr>
                <a:t>Application</a:t>
              </a:r>
              <a:endParaRPr lang="en-CA" sz="1600" b="1" dirty="0">
                <a:solidFill>
                  <a:schemeClr val="bg1"/>
                </a:solidFill>
              </a:endParaRPr>
            </a:p>
          </p:txBody>
        </p:sp>
        <p:sp>
          <p:nvSpPr>
            <p:cNvPr id="76" name="Snip Single Corner Rectangle 75"/>
            <p:cNvSpPr/>
            <p:nvPr/>
          </p:nvSpPr>
          <p:spPr>
            <a:xfrm>
              <a:off x="7432632" y="2832811"/>
              <a:ext cx="1332000" cy="774000"/>
            </a:xfrm>
            <a:prstGeom prst="snip1Rect">
              <a:avLst>
                <a:gd name="adj" fmla="val 30778"/>
              </a:avLst>
            </a:prstGeom>
            <a:grpFill/>
            <a:ln w="25400">
              <a:solidFill>
                <a:schemeClr val="bg1"/>
              </a:solidFill>
            </a:ln>
            <a:effectLst>
              <a:glow rad="139700">
                <a:srgbClr val="FFFF00">
                  <a:alpha val="40000"/>
                </a:srgbClr>
              </a:glow>
            </a:effectLst>
          </p:spPr>
          <p:style>
            <a:lnRef idx="2">
              <a:schemeClr val="accent1">
                <a:shade val="50000"/>
              </a:schemeClr>
            </a:lnRef>
            <a:fillRef idx="1">
              <a:schemeClr val="accent1"/>
            </a:fillRef>
            <a:effectRef idx="0">
              <a:schemeClr val="accent1"/>
            </a:effectRef>
            <a:fontRef idx="minor">
              <a:schemeClr val="lt1"/>
            </a:fontRef>
          </p:style>
          <p:txBody>
            <a:bodyPr lIns="0" tIns="0" rIns="0" bIns="144000" rtlCol="0" anchor="ctr"/>
            <a:lstStyle/>
            <a:p>
              <a:pPr algn="ctr"/>
              <a:r>
                <a:rPr lang="en-CA" sz="1600" b="1" dirty="0">
                  <a:solidFill>
                    <a:schemeClr val="bg1"/>
                  </a:solidFill>
                </a:rPr>
                <a:t>File </a:t>
              </a:r>
              <a:r>
                <a:rPr lang="en-CA" sz="1600" b="1" dirty="0" smtClean="0">
                  <a:solidFill>
                    <a:schemeClr val="bg1"/>
                  </a:solidFill>
                </a:rPr>
                <a:t>System </a:t>
              </a:r>
              <a:r>
                <a:rPr lang="en-CA" sz="1600" b="1" dirty="0">
                  <a:solidFill>
                    <a:schemeClr val="bg1"/>
                  </a:solidFill>
                </a:rPr>
                <a:t>Specific Policies</a:t>
              </a:r>
            </a:p>
          </p:txBody>
        </p:sp>
        <p:sp>
          <p:nvSpPr>
            <p:cNvPr id="77" name="Right Arrow 76"/>
            <p:cNvSpPr/>
            <p:nvPr/>
          </p:nvSpPr>
          <p:spPr>
            <a:xfrm rot="5400000">
              <a:off x="7946907" y="4911095"/>
              <a:ext cx="303450" cy="255146"/>
            </a:xfrm>
            <a:prstGeom prst="rightArrow">
              <a:avLst/>
            </a:prstGeom>
            <a:grp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3600">
                <a:solidFill>
                  <a:schemeClr val="bg1"/>
                </a:solidFill>
              </a:endParaRPr>
            </a:p>
          </p:txBody>
        </p:sp>
        <p:sp>
          <p:nvSpPr>
            <p:cNvPr id="78" name="Rectangle 77"/>
            <p:cNvSpPr/>
            <p:nvPr/>
          </p:nvSpPr>
          <p:spPr>
            <a:xfrm>
              <a:off x="5751627" y="4047345"/>
              <a:ext cx="1224000" cy="774000"/>
            </a:xfrm>
            <a:prstGeom prst="rect">
              <a:avLst/>
            </a:prstGeom>
            <a:grpFill/>
            <a:ln w="25400">
              <a:solidFill>
                <a:schemeClr val="bg1"/>
              </a:solidFill>
            </a:ln>
            <a:effectLst>
              <a:glow rad="139700">
                <a:srgbClr val="FFFF00">
                  <a:alpha val="40000"/>
                </a:srgbClr>
              </a:glow>
            </a:effectLst>
          </p:spPr>
          <p:style>
            <a:lnRef idx="2">
              <a:schemeClr val="accent1">
                <a:shade val="50000"/>
              </a:schemeClr>
            </a:lnRef>
            <a:fillRef idx="1">
              <a:schemeClr val="accent1"/>
            </a:fillRef>
            <a:effectRef idx="0">
              <a:schemeClr val="accent1"/>
            </a:effectRef>
            <a:fontRef idx="minor">
              <a:schemeClr val="lt1"/>
            </a:fontRef>
          </p:style>
          <p:txBody>
            <a:bodyPr lIns="0" tIns="46800" rIns="0" bIns="46800" rtlCol="0" anchor="ctr"/>
            <a:lstStyle/>
            <a:p>
              <a:pPr algn="ctr"/>
              <a:r>
                <a:rPr lang="en-CA" sz="1600" b="1" dirty="0" smtClean="0">
                  <a:solidFill>
                    <a:schemeClr val="bg1"/>
                  </a:solidFill>
                </a:rPr>
                <a:t>File </a:t>
              </a:r>
              <a:r>
                <a:rPr lang="en-CA" sz="1600" b="1" dirty="0">
                  <a:solidFill>
                    <a:schemeClr val="bg1"/>
                  </a:solidFill>
                </a:rPr>
                <a:t>System Library</a:t>
              </a:r>
            </a:p>
          </p:txBody>
        </p:sp>
        <p:sp>
          <p:nvSpPr>
            <p:cNvPr id="79" name="Right Arrow 78"/>
            <p:cNvSpPr/>
            <p:nvPr/>
          </p:nvSpPr>
          <p:spPr>
            <a:xfrm>
              <a:off x="5286822" y="4296172"/>
              <a:ext cx="316999" cy="244240"/>
            </a:xfrm>
            <a:prstGeom prst="rightArrow">
              <a:avLst/>
            </a:prstGeom>
            <a:grp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3600">
                <a:solidFill>
                  <a:schemeClr val="bg1"/>
                </a:solidFill>
              </a:endParaRPr>
            </a:p>
          </p:txBody>
        </p:sp>
        <p:sp>
          <p:nvSpPr>
            <p:cNvPr id="80" name="Rectangle 79"/>
            <p:cNvSpPr/>
            <p:nvPr/>
          </p:nvSpPr>
          <p:spPr>
            <a:xfrm>
              <a:off x="9292902" y="4099894"/>
              <a:ext cx="1318760" cy="636797"/>
            </a:xfrm>
            <a:prstGeom prst="rect">
              <a:avLst/>
            </a:prstGeom>
            <a:grpFill/>
            <a:ln w="25400">
              <a:solidFill>
                <a:schemeClr val="bg1"/>
              </a:solidFill>
            </a:ln>
            <a:effectLst>
              <a:glow rad="139700">
                <a:srgbClr val="FFFF00">
                  <a:alpha val="40000"/>
                </a:srgbClr>
              </a:glow>
            </a:effectLst>
          </p:spPr>
          <p:style>
            <a:lnRef idx="2">
              <a:schemeClr val="accent1">
                <a:shade val="50000"/>
              </a:schemeClr>
            </a:lnRef>
            <a:fillRef idx="1">
              <a:schemeClr val="accent1"/>
            </a:fillRef>
            <a:effectRef idx="0">
              <a:schemeClr val="accent1"/>
            </a:effectRef>
            <a:fontRef idx="minor">
              <a:schemeClr val="lt1"/>
            </a:fontRef>
          </p:style>
          <p:txBody>
            <a:bodyPr lIns="0" tIns="0" rIns="0" bIns="36000" rtlCol="0" anchor="ctr"/>
            <a:lstStyle/>
            <a:p>
              <a:pPr algn="ctr"/>
              <a:r>
                <a:rPr lang="en-CA" sz="1600" b="1" dirty="0">
                  <a:solidFill>
                    <a:schemeClr val="bg1"/>
                  </a:solidFill>
                </a:rPr>
                <a:t>File System Application</a:t>
              </a:r>
            </a:p>
          </p:txBody>
        </p:sp>
        <p:grpSp>
          <p:nvGrpSpPr>
            <p:cNvPr id="81" name="Group 80"/>
            <p:cNvGrpSpPr/>
            <p:nvPr/>
          </p:nvGrpSpPr>
          <p:grpSpPr>
            <a:xfrm>
              <a:off x="844305" y="3544620"/>
              <a:ext cx="657498" cy="1188370"/>
              <a:chOff x="1323407" y="3472195"/>
              <a:chExt cx="657498" cy="1188370"/>
            </a:xfrm>
            <a:grpFill/>
          </p:grpSpPr>
          <p:sp>
            <p:nvSpPr>
              <p:cNvPr id="100" name="Smiley Face 99"/>
              <p:cNvSpPr/>
              <p:nvPr/>
            </p:nvSpPr>
            <p:spPr>
              <a:xfrm>
                <a:off x="1323407" y="4031169"/>
                <a:ext cx="657498" cy="629396"/>
              </a:xfrm>
              <a:prstGeom prst="smileyFace">
                <a:avLst/>
              </a:prstGeom>
              <a:grpFill/>
              <a:ln w="25400">
                <a:solidFill>
                  <a:schemeClr val="bg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3600">
                  <a:solidFill>
                    <a:schemeClr val="bg1"/>
                  </a:solidFill>
                </a:endParaRPr>
              </a:p>
            </p:txBody>
          </p:sp>
          <p:sp>
            <p:nvSpPr>
              <p:cNvPr id="101" name="Isosceles Triangle 100"/>
              <p:cNvSpPr/>
              <p:nvPr/>
            </p:nvSpPr>
            <p:spPr>
              <a:xfrm>
                <a:off x="1439539" y="3472195"/>
                <a:ext cx="415041" cy="640458"/>
              </a:xfrm>
              <a:prstGeom prst="triangle">
                <a:avLst/>
              </a:prstGeom>
              <a:solidFill>
                <a:schemeClr val="accent6"/>
              </a:solidFill>
              <a:ln w="25400">
                <a:solidFill>
                  <a:schemeClr val="accent6"/>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3600">
                  <a:solidFill>
                    <a:schemeClr val="bg1"/>
                  </a:solidFill>
                </a:endParaRPr>
              </a:p>
            </p:txBody>
          </p:sp>
        </p:grpSp>
        <p:sp>
          <p:nvSpPr>
            <p:cNvPr id="82" name="Right Arrow 81"/>
            <p:cNvSpPr/>
            <p:nvPr/>
          </p:nvSpPr>
          <p:spPr>
            <a:xfrm rot="18900000">
              <a:off x="7054852" y="3727351"/>
              <a:ext cx="316999" cy="244240"/>
            </a:xfrm>
            <a:prstGeom prst="rightArrow">
              <a:avLst/>
            </a:prstGeom>
            <a:grp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3600">
                <a:solidFill>
                  <a:schemeClr val="bg1"/>
                </a:solidFill>
              </a:endParaRPr>
            </a:p>
          </p:txBody>
        </p:sp>
        <p:sp>
          <p:nvSpPr>
            <p:cNvPr id="83" name="Right Arrow 82"/>
            <p:cNvSpPr/>
            <p:nvPr/>
          </p:nvSpPr>
          <p:spPr>
            <a:xfrm rot="16200000">
              <a:off x="7946907" y="3721899"/>
              <a:ext cx="303450" cy="255146"/>
            </a:xfrm>
            <a:prstGeom prst="rightArrow">
              <a:avLst/>
            </a:prstGeom>
            <a:grp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3600">
                <a:solidFill>
                  <a:schemeClr val="bg1"/>
                </a:solidFill>
              </a:endParaRPr>
            </a:p>
          </p:txBody>
        </p:sp>
        <p:sp>
          <p:nvSpPr>
            <p:cNvPr id="84" name="Right Arrow 83"/>
            <p:cNvSpPr/>
            <p:nvPr/>
          </p:nvSpPr>
          <p:spPr>
            <a:xfrm rot="18900000">
              <a:off x="8859377" y="4916548"/>
              <a:ext cx="316999" cy="244240"/>
            </a:xfrm>
            <a:prstGeom prst="rightArrow">
              <a:avLst/>
            </a:prstGeom>
            <a:grp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3600">
                <a:solidFill>
                  <a:schemeClr val="bg1"/>
                </a:solidFill>
              </a:endParaRPr>
            </a:p>
          </p:txBody>
        </p:sp>
        <p:sp>
          <p:nvSpPr>
            <p:cNvPr id="85" name="Right Arrow 84"/>
            <p:cNvSpPr/>
            <p:nvPr/>
          </p:nvSpPr>
          <p:spPr>
            <a:xfrm rot="2700000">
              <a:off x="8866151" y="3721898"/>
              <a:ext cx="303450" cy="255146"/>
            </a:xfrm>
            <a:prstGeom prst="rightArrow">
              <a:avLst/>
            </a:prstGeom>
            <a:grp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3600">
                <a:solidFill>
                  <a:schemeClr val="bg1"/>
                </a:solidFill>
              </a:endParaRPr>
            </a:p>
          </p:txBody>
        </p:sp>
        <p:sp>
          <p:nvSpPr>
            <p:cNvPr id="86" name="Rectangle 85"/>
            <p:cNvSpPr/>
            <p:nvPr/>
          </p:nvSpPr>
          <p:spPr>
            <a:xfrm>
              <a:off x="5709658" y="5281328"/>
              <a:ext cx="1260000" cy="774000"/>
            </a:xfrm>
            <a:prstGeom prst="rect">
              <a:avLst/>
            </a:prstGeom>
            <a:grpFill/>
            <a:ln w="25400">
              <a:solidFill>
                <a:schemeClr val="bg1"/>
              </a:solidFill>
            </a:ln>
            <a:effectLst>
              <a:glow rad="139700">
                <a:srgbClr val="FFFF00">
                  <a:alpha val="40000"/>
                </a:srgbClr>
              </a:glow>
            </a:effectLst>
          </p:spPr>
          <p:style>
            <a:lnRef idx="2">
              <a:schemeClr val="accent1">
                <a:shade val="50000"/>
              </a:schemeClr>
            </a:lnRef>
            <a:fillRef idx="1">
              <a:schemeClr val="accent1"/>
            </a:fillRef>
            <a:effectRef idx="0">
              <a:schemeClr val="accent1"/>
            </a:effectRef>
            <a:fontRef idx="minor">
              <a:schemeClr val="lt1"/>
            </a:fontRef>
          </p:style>
          <p:txBody>
            <a:bodyPr lIns="0" tIns="46800" rIns="0" bIns="46800" rtlCol="0" anchor="ctr"/>
            <a:lstStyle/>
            <a:p>
              <a:pPr algn="ctr"/>
              <a:r>
                <a:rPr lang="en-CA" sz="1600" b="1" dirty="0">
                  <a:solidFill>
                    <a:schemeClr val="bg1"/>
                  </a:solidFill>
                </a:rPr>
                <a:t>Spiffy API</a:t>
              </a:r>
            </a:p>
          </p:txBody>
        </p:sp>
        <p:sp>
          <p:nvSpPr>
            <p:cNvPr id="87" name="Right Arrow 86"/>
            <p:cNvSpPr/>
            <p:nvPr/>
          </p:nvSpPr>
          <p:spPr>
            <a:xfrm>
              <a:off x="7054852" y="5473906"/>
              <a:ext cx="316999" cy="244240"/>
            </a:xfrm>
            <a:prstGeom prst="rightArrow">
              <a:avLst/>
            </a:prstGeom>
            <a:grp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3600">
                <a:solidFill>
                  <a:schemeClr val="bg1"/>
                </a:solidFill>
              </a:endParaRPr>
            </a:p>
          </p:txBody>
        </p:sp>
        <p:sp>
          <p:nvSpPr>
            <p:cNvPr id="88" name="Right Arrow 87"/>
            <p:cNvSpPr/>
            <p:nvPr/>
          </p:nvSpPr>
          <p:spPr>
            <a:xfrm rot="16200000">
              <a:off x="6187933" y="4911096"/>
              <a:ext cx="303450" cy="255146"/>
            </a:xfrm>
            <a:prstGeom prst="rightArrow">
              <a:avLst/>
            </a:prstGeom>
            <a:grp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3600">
                <a:solidFill>
                  <a:schemeClr val="bg1"/>
                </a:solidFill>
              </a:endParaRPr>
            </a:p>
          </p:txBody>
        </p:sp>
        <p:grpSp>
          <p:nvGrpSpPr>
            <p:cNvPr id="89" name="Group 88"/>
            <p:cNvGrpSpPr/>
            <p:nvPr/>
          </p:nvGrpSpPr>
          <p:grpSpPr>
            <a:xfrm>
              <a:off x="7769883" y="4070268"/>
              <a:ext cx="657498" cy="662722"/>
              <a:chOff x="5537128" y="1815138"/>
              <a:chExt cx="540000" cy="568593"/>
            </a:xfrm>
            <a:grpFill/>
          </p:grpSpPr>
          <p:sp>
            <p:nvSpPr>
              <p:cNvPr id="97" name="Smiley Face 96"/>
              <p:cNvSpPr/>
              <p:nvPr/>
            </p:nvSpPr>
            <p:spPr>
              <a:xfrm>
                <a:off x="5537128" y="1843731"/>
                <a:ext cx="540000" cy="540000"/>
              </a:xfrm>
              <a:prstGeom prst="smileyFace">
                <a:avLst/>
              </a:prstGeom>
              <a:grpFill/>
              <a:ln w="25400">
                <a:solidFill>
                  <a:schemeClr val="bg1"/>
                </a:solidFill>
              </a:ln>
              <a:effectLst>
                <a:glow rad="139700">
                  <a:srgbClr val="FFFF00">
                    <a:alpha val="40000"/>
                  </a:srgb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3600">
                  <a:solidFill>
                    <a:schemeClr val="bg1"/>
                  </a:solidFill>
                </a:endParaRPr>
              </a:p>
            </p:txBody>
          </p:sp>
          <p:sp>
            <p:nvSpPr>
              <p:cNvPr id="98" name="Cloud 97"/>
              <p:cNvSpPr/>
              <p:nvPr/>
            </p:nvSpPr>
            <p:spPr>
              <a:xfrm>
                <a:off x="5936362" y="1815138"/>
                <a:ext cx="82690" cy="183523"/>
              </a:xfrm>
              <a:prstGeom prst="cloud">
                <a:avLst/>
              </a:prstGeom>
              <a:solidFill>
                <a:schemeClr val="accent5"/>
              </a:solid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3600">
                  <a:solidFill>
                    <a:schemeClr val="bg1"/>
                  </a:solidFill>
                </a:endParaRPr>
              </a:p>
            </p:txBody>
          </p:sp>
          <p:sp>
            <p:nvSpPr>
              <p:cNvPr id="99" name="Cloud 98"/>
              <p:cNvSpPr/>
              <p:nvPr/>
            </p:nvSpPr>
            <p:spPr>
              <a:xfrm>
                <a:off x="5597328" y="1815138"/>
                <a:ext cx="82690" cy="183523"/>
              </a:xfrm>
              <a:prstGeom prst="cloud">
                <a:avLst/>
              </a:prstGeom>
              <a:solidFill>
                <a:schemeClr val="accent5"/>
              </a:solid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3600">
                  <a:solidFill>
                    <a:schemeClr val="bg1"/>
                  </a:solidFill>
                </a:endParaRPr>
              </a:p>
            </p:txBody>
          </p:sp>
        </p:grpSp>
        <p:grpSp>
          <p:nvGrpSpPr>
            <p:cNvPr id="90" name="Group 89"/>
            <p:cNvGrpSpPr/>
            <p:nvPr/>
          </p:nvGrpSpPr>
          <p:grpSpPr>
            <a:xfrm>
              <a:off x="2580393" y="5322308"/>
              <a:ext cx="2021395" cy="707886"/>
              <a:chOff x="2381222" y="5249882"/>
              <a:chExt cx="2021395" cy="707886"/>
            </a:xfrm>
            <a:grpFill/>
          </p:grpSpPr>
          <p:sp>
            <p:nvSpPr>
              <p:cNvPr id="91" name="TextBox 90"/>
              <p:cNvSpPr txBox="1"/>
              <p:nvPr/>
            </p:nvSpPr>
            <p:spPr>
              <a:xfrm>
                <a:off x="2951578" y="5371950"/>
                <a:ext cx="1451039" cy="584775"/>
              </a:xfrm>
              <a:prstGeom prst="rect">
                <a:avLst/>
              </a:prstGeom>
              <a:grpFill/>
              <a:ln w="25400">
                <a:noFill/>
              </a:ln>
            </p:spPr>
            <p:txBody>
              <a:bodyPr wrap="none" rtlCol="0">
                <a:spAutoFit/>
              </a:bodyPr>
              <a:lstStyle/>
              <a:p>
                <a:r>
                  <a:rPr lang="en-CA" sz="1600" dirty="0">
                    <a:solidFill>
                      <a:schemeClr val="bg1"/>
                    </a:solidFill>
                  </a:rPr>
                  <a:t> Application</a:t>
                </a:r>
              </a:p>
              <a:p>
                <a:pPr algn="ctr"/>
                <a:r>
                  <a:rPr lang="en-CA" sz="1600" dirty="0">
                    <a:solidFill>
                      <a:schemeClr val="bg1"/>
                    </a:solidFill>
                  </a:rPr>
                  <a:t>Programmer</a:t>
                </a:r>
              </a:p>
            </p:txBody>
          </p:sp>
          <p:grpSp>
            <p:nvGrpSpPr>
              <p:cNvPr id="92" name="Group 91"/>
              <p:cNvGrpSpPr>
                <a:grpSpLocks noChangeAspect="1"/>
              </p:cNvGrpSpPr>
              <p:nvPr/>
            </p:nvGrpSpPr>
            <p:grpSpPr>
              <a:xfrm>
                <a:off x="2381222" y="5449703"/>
                <a:ext cx="416936" cy="420246"/>
                <a:chOff x="5537128" y="1815138"/>
                <a:chExt cx="540000" cy="568593"/>
              </a:xfrm>
              <a:grpFill/>
            </p:grpSpPr>
            <p:sp>
              <p:nvSpPr>
                <p:cNvPr id="94" name="Smiley Face 93"/>
                <p:cNvSpPr/>
                <p:nvPr/>
              </p:nvSpPr>
              <p:spPr>
                <a:xfrm>
                  <a:off x="5537128" y="1843731"/>
                  <a:ext cx="540000" cy="540000"/>
                </a:xfrm>
                <a:prstGeom prst="smileyFace">
                  <a:avLst/>
                </a:prstGeom>
                <a:grp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3600">
                    <a:solidFill>
                      <a:schemeClr val="bg1"/>
                    </a:solidFill>
                  </a:endParaRPr>
                </a:p>
              </p:txBody>
            </p:sp>
            <p:sp>
              <p:nvSpPr>
                <p:cNvPr id="95" name="Cloud 94"/>
                <p:cNvSpPr/>
                <p:nvPr/>
              </p:nvSpPr>
              <p:spPr>
                <a:xfrm>
                  <a:off x="5936362" y="1815138"/>
                  <a:ext cx="82690" cy="183523"/>
                </a:xfrm>
                <a:prstGeom prst="cloud">
                  <a:avLst/>
                </a:prstGeom>
                <a:solidFill>
                  <a:schemeClr val="accent5"/>
                </a:solid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3600">
                    <a:solidFill>
                      <a:schemeClr val="bg1"/>
                    </a:solidFill>
                  </a:endParaRPr>
                </a:p>
              </p:txBody>
            </p:sp>
            <p:sp>
              <p:nvSpPr>
                <p:cNvPr id="96" name="Cloud 95"/>
                <p:cNvSpPr/>
                <p:nvPr/>
              </p:nvSpPr>
              <p:spPr>
                <a:xfrm>
                  <a:off x="5597328" y="1815138"/>
                  <a:ext cx="82690" cy="183523"/>
                </a:xfrm>
                <a:prstGeom prst="cloud">
                  <a:avLst/>
                </a:prstGeom>
                <a:solidFill>
                  <a:schemeClr val="accent5"/>
                </a:solid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3600">
                    <a:solidFill>
                      <a:schemeClr val="bg1"/>
                    </a:solidFill>
                  </a:endParaRPr>
                </a:p>
              </p:txBody>
            </p:sp>
          </p:grpSp>
          <p:sp>
            <p:nvSpPr>
              <p:cNvPr id="93" name="TextBox 92"/>
              <p:cNvSpPr txBox="1"/>
              <p:nvPr/>
            </p:nvSpPr>
            <p:spPr>
              <a:xfrm>
                <a:off x="2759312" y="5249882"/>
                <a:ext cx="327334" cy="707886"/>
              </a:xfrm>
              <a:prstGeom prst="rect">
                <a:avLst/>
              </a:prstGeom>
              <a:grpFill/>
              <a:ln w="25400">
                <a:noFill/>
              </a:ln>
            </p:spPr>
            <p:txBody>
              <a:bodyPr wrap="none" rtlCol="0">
                <a:spAutoFit/>
              </a:bodyPr>
              <a:lstStyle/>
              <a:p>
                <a:r>
                  <a:rPr lang="en-CA" sz="4000" dirty="0">
                    <a:solidFill>
                      <a:schemeClr val="bg1"/>
                    </a:solidFill>
                  </a:rPr>
                  <a:t>:</a:t>
                </a:r>
              </a:p>
            </p:txBody>
          </p:sp>
        </p:grpSp>
      </p:grpSp>
      <p:sp>
        <p:nvSpPr>
          <p:cNvPr id="4" name="Slide Number Placeholder 3"/>
          <p:cNvSpPr>
            <a:spLocks noGrp="1"/>
          </p:cNvSpPr>
          <p:nvPr>
            <p:ph type="sldNum" sz="quarter" idx="12"/>
          </p:nvPr>
        </p:nvSpPr>
        <p:spPr/>
        <p:txBody>
          <a:bodyPr/>
          <a:lstStyle/>
          <a:p>
            <a:fld id="{7B2023C8-B124-43A9-8F92-0EEF5BAA9995}" type="slidenum">
              <a:rPr lang="en-CA" smtClean="0"/>
              <a:pPr/>
              <a:t>9</a:t>
            </a:fld>
            <a:endParaRPr lang="en-CA" dirty="0"/>
          </a:p>
        </p:txBody>
      </p:sp>
    </p:spTree>
    <p:extLst>
      <p:ext uri="{BB962C8B-B14F-4D97-AF65-F5344CB8AC3E}">
        <p14:creationId xmlns:p14="http://schemas.microsoft.com/office/powerpoint/2010/main" val="3866178816"/>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Talk Outline</a:t>
            </a:r>
            <a:endParaRPr lang="en-CA" dirty="0"/>
          </a:p>
        </p:txBody>
      </p:sp>
      <p:sp>
        <p:nvSpPr>
          <p:cNvPr id="3" name="Content Placeholder 2"/>
          <p:cNvSpPr>
            <a:spLocks noGrp="1"/>
          </p:cNvSpPr>
          <p:nvPr>
            <p:ph idx="1"/>
          </p:nvPr>
        </p:nvSpPr>
        <p:spPr/>
        <p:txBody>
          <a:bodyPr/>
          <a:lstStyle/>
          <a:p>
            <a:r>
              <a:rPr lang="en-US" dirty="0" smtClean="0">
                <a:solidFill>
                  <a:schemeClr val="bg1">
                    <a:lumMod val="50000"/>
                    <a:lumOff val="50000"/>
                  </a:schemeClr>
                </a:solidFill>
              </a:rPr>
              <a:t>Problem</a:t>
            </a:r>
          </a:p>
          <a:p>
            <a:pPr lvl="1"/>
            <a:r>
              <a:rPr lang="en-US" dirty="0" smtClean="0">
                <a:solidFill>
                  <a:schemeClr val="bg1">
                    <a:lumMod val="50000"/>
                    <a:lumOff val="50000"/>
                  </a:schemeClr>
                </a:solidFill>
              </a:rPr>
              <a:t>Hard to write robust file system applications</a:t>
            </a:r>
          </a:p>
          <a:p>
            <a:r>
              <a:rPr lang="en-US" dirty="0" smtClean="0">
                <a:solidFill>
                  <a:schemeClr val="bg1">
                    <a:lumMod val="50000"/>
                    <a:lumOff val="50000"/>
                  </a:schemeClr>
                </a:solidFill>
              </a:rPr>
              <a:t>Approach</a:t>
            </a:r>
          </a:p>
          <a:p>
            <a:r>
              <a:rPr lang="en-US" dirty="0" smtClean="0"/>
              <a:t>Spiffy </a:t>
            </a:r>
            <a:r>
              <a:rPr lang="en-US" dirty="0" smtClean="0"/>
              <a:t>Annotations</a:t>
            </a:r>
          </a:p>
          <a:p>
            <a:r>
              <a:rPr lang="en-US" dirty="0" smtClean="0"/>
              <a:t>Spiffy Library</a:t>
            </a:r>
          </a:p>
          <a:p>
            <a:r>
              <a:rPr lang="en-US" dirty="0" smtClean="0"/>
              <a:t>Spiffy </a:t>
            </a:r>
            <a:r>
              <a:rPr lang="en-US" dirty="0"/>
              <a:t>A</a:t>
            </a:r>
            <a:r>
              <a:rPr lang="en-US" dirty="0" smtClean="0"/>
              <a:t>pplications</a:t>
            </a:r>
          </a:p>
          <a:p>
            <a:r>
              <a:rPr lang="en-US" dirty="0" smtClean="0"/>
              <a:t>Evaluation</a:t>
            </a:r>
          </a:p>
        </p:txBody>
      </p:sp>
      <p:sp>
        <p:nvSpPr>
          <p:cNvPr id="5" name="Slide Number Placeholder 4"/>
          <p:cNvSpPr>
            <a:spLocks noGrp="1"/>
          </p:cNvSpPr>
          <p:nvPr>
            <p:ph type="sldNum" sz="quarter" idx="12"/>
          </p:nvPr>
        </p:nvSpPr>
        <p:spPr/>
        <p:txBody>
          <a:bodyPr/>
          <a:lstStyle/>
          <a:p>
            <a:fld id="{7B2023C8-B124-43A9-8F92-0EEF5BAA9995}" type="slidenum">
              <a:rPr lang="en-CA" smtClean="0"/>
              <a:pPr/>
              <a:t>10</a:t>
            </a:fld>
            <a:endParaRPr lang="en-CA" dirty="0"/>
          </a:p>
        </p:txBody>
      </p:sp>
    </p:spTree>
    <p:extLst>
      <p:ext uri="{BB962C8B-B14F-4D97-AF65-F5344CB8AC3E}">
        <p14:creationId xmlns:p14="http://schemas.microsoft.com/office/powerpoint/2010/main" val="1412301376"/>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smtClean="0"/>
              <a:t>Need for Annotation</a:t>
            </a:r>
            <a:endParaRPr lang="en-CA" dirty="0"/>
          </a:p>
        </p:txBody>
      </p:sp>
      <p:sp>
        <p:nvSpPr>
          <p:cNvPr id="3" name="Content Placeholder 2"/>
          <p:cNvSpPr>
            <a:spLocks noGrp="1"/>
          </p:cNvSpPr>
          <p:nvPr>
            <p:ph idx="1"/>
          </p:nvPr>
        </p:nvSpPr>
        <p:spPr/>
        <p:txBody>
          <a:bodyPr>
            <a:normAutofit lnSpcReduction="10000"/>
          </a:bodyPr>
          <a:lstStyle/>
          <a:p>
            <a:r>
              <a:rPr lang="en-CA" dirty="0" smtClean="0"/>
              <a:t>Enable complete specification of the file system format</a:t>
            </a:r>
          </a:p>
          <a:p>
            <a:pPr lvl="1"/>
            <a:r>
              <a:rPr lang="en-CA" dirty="0" smtClean="0"/>
              <a:t>Allows type-safe parsing and updates of file system structures</a:t>
            </a:r>
          </a:p>
          <a:p>
            <a:r>
              <a:rPr lang="en-CA" dirty="0" smtClean="0"/>
              <a:t>Challenge</a:t>
            </a:r>
          </a:p>
          <a:p>
            <a:pPr lvl="1"/>
            <a:r>
              <a:rPr lang="en-CA" dirty="0" smtClean="0"/>
              <a:t>Data </a:t>
            </a:r>
            <a:r>
              <a:rPr lang="en-CA" dirty="0"/>
              <a:t>structure definitions in </a:t>
            </a:r>
            <a:r>
              <a:rPr lang="en-CA" dirty="0" smtClean="0"/>
              <a:t>source files are </a:t>
            </a:r>
            <a:r>
              <a:rPr lang="en-CA" i="1" dirty="0"/>
              <a:t>incomplete</a:t>
            </a:r>
          </a:p>
          <a:p>
            <a:pPr lvl="1"/>
            <a:r>
              <a:rPr lang="en-CA" dirty="0"/>
              <a:t>E.g., </a:t>
            </a:r>
            <a:r>
              <a:rPr lang="en-CA" sz="1800" dirty="0" err="1">
                <a:solidFill>
                  <a:srgbClr val="002060"/>
                </a:solidFill>
                <a:latin typeface="Courier New" panose="02070309020205020404" pitchFamily="49" charset="0"/>
                <a:cs typeface="Courier New" panose="02070309020205020404" pitchFamily="49" charset="0"/>
              </a:rPr>
              <a:t>struct</a:t>
            </a:r>
            <a:r>
              <a:rPr lang="en-CA" sz="1800" dirty="0">
                <a:latin typeface="Courier New" panose="02070309020205020404" pitchFamily="49" charset="0"/>
                <a:cs typeface="Courier New" panose="02070309020205020404" pitchFamily="49" charset="0"/>
              </a:rPr>
              <a:t> foo {</a:t>
            </a:r>
            <a:br>
              <a:rPr lang="en-CA" sz="1800" dirty="0">
                <a:latin typeface="Courier New" panose="02070309020205020404" pitchFamily="49" charset="0"/>
                <a:cs typeface="Courier New" panose="02070309020205020404" pitchFamily="49" charset="0"/>
              </a:rPr>
            </a:br>
            <a:r>
              <a:rPr lang="en-CA" sz="1800" dirty="0">
                <a:latin typeface="Courier New" panose="02070309020205020404" pitchFamily="49" charset="0"/>
                <a:cs typeface="Courier New" panose="02070309020205020404" pitchFamily="49" charset="0"/>
              </a:rPr>
              <a:t>		     __le32 </a:t>
            </a:r>
            <a:r>
              <a:rPr lang="en-CA" sz="1800" dirty="0" err="1">
                <a:latin typeface="Courier New" panose="02070309020205020404" pitchFamily="49" charset="0"/>
                <a:cs typeface="Courier New" panose="02070309020205020404" pitchFamily="49" charset="0"/>
              </a:rPr>
              <a:t>bar_block_ptr</a:t>
            </a:r>
            <a:r>
              <a:rPr lang="en-CA" sz="1800" dirty="0">
                <a:latin typeface="Courier New" panose="02070309020205020404" pitchFamily="49" charset="0"/>
                <a:cs typeface="Courier New" panose="02070309020205020404" pitchFamily="49" charset="0"/>
              </a:rPr>
              <a:t>;</a:t>
            </a:r>
            <a:br>
              <a:rPr lang="en-CA" sz="1800" dirty="0">
                <a:latin typeface="Courier New" panose="02070309020205020404" pitchFamily="49" charset="0"/>
                <a:cs typeface="Courier New" panose="02070309020205020404" pitchFamily="49" charset="0"/>
              </a:rPr>
            </a:br>
            <a:r>
              <a:rPr lang="en-CA" sz="1800" dirty="0">
                <a:latin typeface="Courier New" panose="02070309020205020404" pitchFamily="49" charset="0"/>
                <a:cs typeface="Courier New" panose="02070309020205020404" pitchFamily="49" charset="0"/>
              </a:rPr>
              <a:t>    };</a:t>
            </a:r>
          </a:p>
          <a:p>
            <a:pPr lvl="2"/>
            <a:r>
              <a:rPr lang="en-CA" dirty="0" err="1" smtClean="0">
                <a:cs typeface="Courier New" panose="02070309020205020404" pitchFamily="49" charset="0"/>
              </a:rPr>
              <a:t>bar_block_ptr</a:t>
            </a:r>
            <a:r>
              <a:rPr lang="en-CA" dirty="0" smtClean="0">
                <a:cs typeface="Courier New" panose="02070309020205020404" pitchFamily="49" charset="0"/>
              </a:rPr>
              <a:t> is </a:t>
            </a:r>
            <a:r>
              <a:rPr lang="en-CA" dirty="0">
                <a:cs typeface="Courier New" panose="02070309020205020404" pitchFamily="49" charset="0"/>
              </a:rPr>
              <a:t>“probably” a 32-bit pointer to type “</a:t>
            </a:r>
            <a:r>
              <a:rPr lang="en-CA" dirty="0" err="1">
                <a:cs typeface="Courier New" panose="02070309020205020404" pitchFamily="49" charset="0"/>
              </a:rPr>
              <a:t>bar_block</a:t>
            </a:r>
            <a:r>
              <a:rPr lang="en-CA" dirty="0">
                <a:cs typeface="Courier New" panose="02070309020205020404" pitchFamily="49" charset="0"/>
              </a:rPr>
              <a:t>”</a:t>
            </a:r>
          </a:p>
          <a:p>
            <a:pPr lvl="2"/>
            <a:r>
              <a:rPr lang="en-CA" dirty="0">
                <a:cs typeface="Courier New" panose="02070309020205020404" pitchFamily="49" charset="0"/>
              </a:rPr>
              <a:t>However, </a:t>
            </a:r>
            <a:r>
              <a:rPr lang="en-CA" dirty="0" smtClean="0">
                <a:cs typeface="Courier New" panose="02070309020205020404" pitchFamily="49" charset="0"/>
              </a:rPr>
              <a:t>parser cannot </a:t>
            </a:r>
            <a:r>
              <a:rPr lang="en-CA" dirty="0">
                <a:cs typeface="Courier New" panose="02070309020205020404" pitchFamily="49" charset="0"/>
              </a:rPr>
              <a:t>deduce this from structure </a:t>
            </a:r>
            <a:r>
              <a:rPr lang="en-CA" dirty="0" smtClean="0">
                <a:cs typeface="Courier New" panose="02070309020205020404" pitchFamily="49" charset="0"/>
              </a:rPr>
              <a:t>definition</a:t>
            </a:r>
            <a:endParaRPr lang="en-CA" dirty="0">
              <a:cs typeface="Courier New" panose="02070309020205020404" pitchFamily="49" charset="0"/>
            </a:endParaRPr>
          </a:p>
          <a:p>
            <a:r>
              <a:rPr lang="en-CA" dirty="0" smtClean="0"/>
              <a:t>Solution</a:t>
            </a:r>
            <a:endParaRPr lang="en-CA" dirty="0"/>
          </a:p>
          <a:p>
            <a:pPr lvl="1"/>
            <a:r>
              <a:rPr lang="en-CA" dirty="0"/>
              <a:t>Annotate existing </a:t>
            </a:r>
            <a:r>
              <a:rPr lang="en-CA" dirty="0" smtClean="0"/>
              <a:t>sources </a:t>
            </a:r>
            <a:r>
              <a:rPr lang="en-CA" dirty="0"/>
              <a:t>to specify missing information</a:t>
            </a:r>
          </a:p>
          <a:p>
            <a:endParaRPr lang="en-CA" dirty="0">
              <a:cs typeface="Courier New" panose="02070309020205020404" pitchFamily="49" charset="0"/>
            </a:endParaRPr>
          </a:p>
          <a:p>
            <a:endParaRPr lang="en-CA" dirty="0"/>
          </a:p>
        </p:txBody>
      </p:sp>
      <p:sp>
        <p:nvSpPr>
          <p:cNvPr id="5" name="Slide Number Placeholder 4"/>
          <p:cNvSpPr>
            <a:spLocks noGrp="1"/>
          </p:cNvSpPr>
          <p:nvPr>
            <p:ph type="sldNum" sz="quarter" idx="12"/>
          </p:nvPr>
        </p:nvSpPr>
        <p:spPr/>
        <p:txBody>
          <a:bodyPr/>
          <a:lstStyle/>
          <a:p>
            <a:fld id="{7B2023C8-B124-43A9-8F92-0EEF5BAA9995}" type="slidenum">
              <a:rPr lang="en-CA" smtClean="0"/>
              <a:pPr/>
              <a:t>11</a:t>
            </a:fld>
            <a:endParaRPr lang="en-CA" dirty="0"/>
          </a:p>
        </p:txBody>
      </p:sp>
    </p:spTree>
    <p:extLst>
      <p:ext uri="{BB962C8B-B14F-4D97-AF65-F5344CB8AC3E}">
        <p14:creationId xmlns:p14="http://schemas.microsoft.com/office/powerpoint/2010/main" val="1215605509"/>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smtClean="0"/>
              <a:t>Annotation Requirements</a:t>
            </a:r>
            <a:endParaRPr lang="en-CA" dirty="0"/>
          </a:p>
        </p:txBody>
      </p:sp>
      <p:sp>
        <p:nvSpPr>
          <p:cNvPr id="3" name="Content Placeholder 2"/>
          <p:cNvSpPr>
            <a:spLocks noGrp="1"/>
          </p:cNvSpPr>
          <p:nvPr>
            <p:ph idx="1"/>
          </p:nvPr>
        </p:nvSpPr>
        <p:spPr/>
        <p:txBody>
          <a:bodyPr>
            <a:normAutofit/>
          </a:bodyPr>
          <a:lstStyle/>
          <a:p>
            <a:r>
              <a:rPr lang="en-US" dirty="0" smtClean="0"/>
              <a:t>File System Pointers</a:t>
            </a:r>
          </a:p>
          <a:p>
            <a:pPr lvl="1"/>
            <a:r>
              <a:rPr lang="en-US" dirty="0" smtClean="0"/>
              <a:t>Need to specify relationships between file system structures</a:t>
            </a:r>
          </a:p>
          <a:p>
            <a:pPr lvl="1"/>
            <a:r>
              <a:rPr lang="en-US" dirty="0" smtClean="0"/>
              <a:t>Use </a:t>
            </a:r>
            <a:r>
              <a:rPr lang="en-US" i="1" dirty="0"/>
              <a:t>P</a:t>
            </a:r>
            <a:r>
              <a:rPr lang="en-US" i="1" dirty="0" smtClean="0"/>
              <a:t>ointer</a:t>
            </a:r>
            <a:r>
              <a:rPr lang="en-US" dirty="0" smtClean="0"/>
              <a:t> annotation to specify this relationship</a:t>
            </a:r>
          </a:p>
          <a:p>
            <a:pPr lvl="1"/>
            <a:r>
              <a:rPr lang="en-US" dirty="0" smtClean="0"/>
              <a:t>Specifies that a data structure field holds an address to a location on physical storage</a:t>
            </a:r>
          </a:p>
          <a:p>
            <a:pPr lvl="1"/>
            <a:r>
              <a:rPr lang="en-US" b="1" dirty="0" smtClean="0"/>
              <a:t>Challenge:</a:t>
            </a:r>
            <a:r>
              <a:rPr lang="en-CA" b="1" dirty="0" smtClean="0"/>
              <a:t> </a:t>
            </a:r>
            <a:r>
              <a:rPr lang="en-CA" dirty="0" smtClean="0"/>
              <a:t>Interpreting address </a:t>
            </a:r>
            <a:r>
              <a:rPr lang="en-CA" dirty="0"/>
              <a:t>may involve multiple layers of translation</a:t>
            </a:r>
          </a:p>
          <a:p>
            <a:pPr lvl="1"/>
            <a:r>
              <a:rPr lang="en-CA" dirty="0"/>
              <a:t>File system structures may be laid out discontiguously</a:t>
            </a:r>
          </a:p>
          <a:p>
            <a:pPr lvl="2"/>
            <a:r>
              <a:rPr lang="en-CA" dirty="0"/>
              <a:t>E.g., Ext4 journal is stored on disk as a regular file</a:t>
            </a:r>
          </a:p>
          <a:p>
            <a:pPr lvl="2"/>
            <a:r>
              <a:rPr lang="en-CA" dirty="0"/>
              <a:t>Regular files can be physically discontiguous on </a:t>
            </a:r>
            <a:r>
              <a:rPr lang="en-CA" dirty="0" smtClean="0"/>
              <a:t>disk</a:t>
            </a:r>
            <a:endParaRPr lang="en-CA" dirty="0"/>
          </a:p>
          <a:p>
            <a:pPr lvl="1"/>
            <a:r>
              <a:rPr lang="en-CA" dirty="0"/>
              <a:t>Pointers have an </a:t>
            </a:r>
            <a:r>
              <a:rPr lang="en-CA" i="1" dirty="0"/>
              <a:t>address space </a:t>
            </a:r>
            <a:r>
              <a:rPr lang="en-CA" dirty="0"/>
              <a:t>that indicates how the address should be mapped to the physical location</a:t>
            </a:r>
          </a:p>
          <a:p>
            <a:pPr lvl="1"/>
            <a:endParaRPr lang="en-US" dirty="0" smtClean="0"/>
          </a:p>
        </p:txBody>
      </p:sp>
      <p:sp>
        <p:nvSpPr>
          <p:cNvPr id="5" name="Slide Number Placeholder 4"/>
          <p:cNvSpPr>
            <a:spLocks noGrp="1"/>
          </p:cNvSpPr>
          <p:nvPr>
            <p:ph type="sldNum" sz="quarter" idx="12"/>
          </p:nvPr>
        </p:nvSpPr>
        <p:spPr/>
        <p:txBody>
          <a:bodyPr/>
          <a:lstStyle/>
          <a:p>
            <a:fld id="{7B2023C8-B124-43A9-8F92-0EEF5BAA9995}" type="slidenum">
              <a:rPr lang="en-CA" smtClean="0"/>
              <a:pPr/>
              <a:t>12</a:t>
            </a:fld>
            <a:endParaRPr lang="en-CA" dirty="0"/>
          </a:p>
        </p:txBody>
      </p:sp>
    </p:spTree>
    <p:extLst>
      <p:ext uri="{BB962C8B-B14F-4D97-AF65-F5344CB8AC3E}">
        <p14:creationId xmlns:p14="http://schemas.microsoft.com/office/powerpoint/2010/main" val="3955000870"/>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smtClean="0"/>
              <a:t>Annotation Requirements</a:t>
            </a:r>
            <a:endParaRPr lang="en-CA" dirty="0"/>
          </a:p>
        </p:txBody>
      </p:sp>
      <p:sp>
        <p:nvSpPr>
          <p:cNvPr id="3" name="Content Placeholder 2"/>
          <p:cNvSpPr>
            <a:spLocks noGrp="1"/>
          </p:cNvSpPr>
          <p:nvPr>
            <p:ph idx="1"/>
          </p:nvPr>
        </p:nvSpPr>
        <p:spPr/>
        <p:txBody>
          <a:bodyPr>
            <a:normAutofit/>
          </a:bodyPr>
          <a:lstStyle/>
          <a:p>
            <a:r>
              <a:rPr lang="en-CA" dirty="0"/>
              <a:t>Cross-Structure Dependencies</a:t>
            </a:r>
          </a:p>
          <a:p>
            <a:pPr lvl="1"/>
            <a:r>
              <a:rPr lang="en-CA" dirty="0"/>
              <a:t>Allows the annotation of structures to reference fields of other structures</a:t>
            </a:r>
          </a:p>
          <a:p>
            <a:pPr lvl="2"/>
            <a:r>
              <a:rPr lang="en-CA" dirty="0"/>
              <a:t>E.g., size of an Ext4 </a:t>
            </a:r>
            <a:r>
              <a:rPr lang="en-CA" dirty="0" err="1"/>
              <a:t>inode</a:t>
            </a:r>
            <a:r>
              <a:rPr lang="en-CA" dirty="0"/>
              <a:t> is </a:t>
            </a:r>
            <a:r>
              <a:rPr lang="en-CA" dirty="0" smtClean="0"/>
              <a:t>stored </a:t>
            </a:r>
            <a:r>
              <a:rPr lang="en-CA" dirty="0"/>
              <a:t>in Ext4 super block</a:t>
            </a:r>
          </a:p>
          <a:p>
            <a:r>
              <a:rPr lang="en-CA" dirty="0" smtClean="0"/>
              <a:t>Context-Sensitive Types</a:t>
            </a:r>
          </a:p>
          <a:p>
            <a:pPr lvl="1"/>
            <a:r>
              <a:rPr lang="en-CA" dirty="0" smtClean="0"/>
              <a:t>E.g., pointers may point to different types of metadata</a:t>
            </a:r>
          </a:p>
          <a:p>
            <a:pPr lvl="2"/>
            <a:r>
              <a:rPr lang="en-CA" dirty="0"/>
              <a:t>P</a:t>
            </a:r>
            <a:r>
              <a:rPr lang="en-CA" dirty="0" smtClean="0"/>
              <a:t>ointers in </a:t>
            </a:r>
            <a:r>
              <a:rPr lang="en-CA" dirty="0" err="1" smtClean="0"/>
              <a:t>inode</a:t>
            </a:r>
            <a:r>
              <a:rPr lang="en-CA" dirty="0" smtClean="0"/>
              <a:t> point to directory entries if </a:t>
            </a:r>
            <a:r>
              <a:rPr lang="en-CA" dirty="0" err="1" smtClean="0"/>
              <a:t>inode</a:t>
            </a:r>
            <a:r>
              <a:rPr lang="en-CA" dirty="0" smtClean="0"/>
              <a:t> is directory</a:t>
            </a:r>
          </a:p>
          <a:p>
            <a:pPr lvl="1"/>
            <a:r>
              <a:rPr lang="en-CA" dirty="0" smtClean="0"/>
              <a:t>E.g., structures may have optional fields</a:t>
            </a:r>
          </a:p>
          <a:p>
            <a:pPr lvl="2"/>
            <a:r>
              <a:rPr lang="en-CA" dirty="0" smtClean="0"/>
              <a:t>Ext4 </a:t>
            </a:r>
            <a:r>
              <a:rPr lang="en-CA" dirty="0" err="1" smtClean="0"/>
              <a:t>inode</a:t>
            </a:r>
            <a:r>
              <a:rPr lang="en-CA" dirty="0" smtClean="0"/>
              <a:t> can store extended attributes if size &gt; 128</a:t>
            </a:r>
          </a:p>
          <a:p>
            <a:r>
              <a:rPr lang="en-CA" dirty="0"/>
              <a:t>Constraint Checking</a:t>
            </a:r>
          </a:p>
          <a:p>
            <a:pPr lvl="1"/>
            <a:r>
              <a:rPr lang="en-CA" dirty="0"/>
              <a:t>Helps detect corrupted metadata </a:t>
            </a:r>
            <a:r>
              <a:rPr lang="en-CA" dirty="0" smtClean="0"/>
              <a:t>structures</a:t>
            </a:r>
          </a:p>
          <a:p>
            <a:pPr lvl="1"/>
            <a:endParaRPr lang="en-CA" dirty="0" smtClean="0"/>
          </a:p>
          <a:p>
            <a:pPr lvl="1"/>
            <a:endParaRPr lang="en-CA" dirty="0"/>
          </a:p>
          <a:p>
            <a:pPr lvl="2"/>
            <a:endParaRPr lang="en-CA" dirty="0" smtClean="0"/>
          </a:p>
          <a:p>
            <a:pPr lvl="1"/>
            <a:endParaRPr lang="en-CA" dirty="0"/>
          </a:p>
        </p:txBody>
      </p:sp>
      <p:sp>
        <p:nvSpPr>
          <p:cNvPr id="5" name="Slide Number Placeholder 4"/>
          <p:cNvSpPr>
            <a:spLocks noGrp="1"/>
          </p:cNvSpPr>
          <p:nvPr>
            <p:ph type="sldNum" sz="quarter" idx="12"/>
          </p:nvPr>
        </p:nvSpPr>
        <p:spPr/>
        <p:txBody>
          <a:bodyPr/>
          <a:lstStyle/>
          <a:p>
            <a:fld id="{7B2023C8-B124-43A9-8F92-0EEF5BAA9995}" type="slidenum">
              <a:rPr lang="en-CA" smtClean="0"/>
              <a:pPr/>
              <a:t>13</a:t>
            </a:fld>
            <a:endParaRPr lang="en-CA" dirty="0"/>
          </a:p>
        </p:txBody>
      </p:sp>
    </p:spTree>
    <p:extLst>
      <p:ext uri="{BB962C8B-B14F-4D97-AF65-F5344CB8AC3E}">
        <p14:creationId xmlns:p14="http://schemas.microsoft.com/office/powerpoint/2010/main" val="659825864"/>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Evaluation: Annotation </a:t>
            </a:r>
            <a:r>
              <a:rPr lang="en-CA" dirty="0" smtClean="0"/>
              <a:t>Effort</a:t>
            </a:r>
            <a:endParaRPr lang="en-CA" dirty="0"/>
          </a:p>
        </p:txBody>
      </p:sp>
      <p:sp>
        <p:nvSpPr>
          <p:cNvPr id="3" name="Content Placeholder 2"/>
          <p:cNvSpPr>
            <a:spLocks noGrp="1"/>
          </p:cNvSpPr>
          <p:nvPr>
            <p:ph idx="1"/>
          </p:nvPr>
        </p:nvSpPr>
        <p:spPr>
          <a:xfrm>
            <a:off x="646112" y="2990597"/>
            <a:ext cx="9403743" cy="3257801"/>
          </a:xfrm>
        </p:spPr>
        <p:txBody>
          <a:bodyPr>
            <a:normAutofit/>
          </a:bodyPr>
          <a:lstStyle/>
          <a:p>
            <a:r>
              <a:rPr lang="en-CA" dirty="0" smtClean="0"/>
              <a:t>LOC required for </a:t>
            </a:r>
            <a:r>
              <a:rPr lang="en-CA" i="1" dirty="0" smtClean="0"/>
              <a:t>file system developers</a:t>
            </a:r>
            <a:r>
              <a:rPr lang="en-CA" dirty="0" smtClean="0"/>
              <a:t> to correctly annotate their file systems</a:t>
            </a:r>
          </a:p>
          <a:p>
            <a:pPr lvl="1"/>
            <a:r>
              <a:rPr lang="en-CA" dirty="0" smtClean="0"/>
              <a:t>Some structures not originally declared</a:t>
            </a:r>
          </a:p>
          <a:p>
            <a:pPr lvl="2"/>
            <a:r>
              <a:rPr lang="en-CA" dirty="0" smtClean="0"/>
              <a:t>E.g. Ext4 indirect block is just an array of 4-byte pointers</a:t>
            </a:r>
          </a:p>
          <a:p>
            <a:pPr lvl="1"/>
            <a:r>
              <a:rPr lang="en-CA" dirty="0" smtClean="0"/>
              <a:t>Some structures need to be revised</a:t>
            </a:r>
          </a:p>
          <a:p>
            <a:pPr lvl="2"/>
            <a:r>
              <a:rPr lang="en-CA" dirty="0" smtClean="0"/>
              <a:t>E.g., Ext4 </a:t>
            </a:r>
            <a:r>
              <a:rPr lang="en-CA" dirty="0" err="1" smtClean="0"/>
              <a:t>inode</a:t>
            </a:r>
            <a:r>
              <a:rPr lang="en-CA" dirty="0" smtClean="0"/>
              <a:t> contains an array of block pointers, but the last 3 are indirect pointers of different levels</a:t>
            </a:r>
          </a:p>
          <a:p>
            <a:pPr lvl="3"/>
            <a:r>
              <a:rPr lang="en-CA" dirty="0" err="1" smtClean="0"/>
              <a:t>Inode</a:t>
            </a:r>
            <a:r>
              <a:rPr lang="en-CA" dirty="0" smtClean="0"/>
              <a:t> structure definition changed to properly annotate the indirect pointers</a:t>
            </a:r>
          </a:p>
        </p:txBody>
      </p:sp>
      <p:graphicFrame>
        <p:nvGraphicFramePr>
          <p:cNvPr id="5" name="Table 4"/>
          <p:cNvGraphicFramePr>
            <a:graphicFrameLocks noGrp="1"/>
          </p:cNvGraphicFramePr>
          <p:nvPr>
            <p:extLst>
              <p:ext uri="{D42A27DB-BD31-4B8C-83A1-F6EECF244321}">
                <p14:modId xmlns:p14="http://schemas.microsoft.com/office/powerpoint/2010/main" val="1419476845"/>
              </p:ext>
            </p:extLst>
          </p:nvPr>
        </p:nvGraphicFramePr>
        <p:xfrm>
          <a:off x="2024016" y="1507237"/>
          <a:ext cx="6359598" cy="1483360"/>
        </p:xfrm>
        <a:graphic>
          <a:graphicData uri="http://schemas.openxmlformats.org/drawingml/2006/table">
            <a:tbl>
              <a:tblPr firstRow="1" bandRow="1">
                <a:tableStyleId>{69012ECD-51FC-41F1-AA8D-1B2483CD663E}</a:tableStyleId>
              </a:tblPr>
              <a:tblGrid>
                <a:gridCol w="2119866">
                  <a:extLst>
                    <a:ext uri="{9D8B030D-6E8A-4147-A177-3AD203B41FA5}">
                      <a16:colId xmlns="" xmlns:a16="http://schemas.microsoft.com/office/drawing/2014/main" val="20000"/>
                    </a:ext>
                  </a:extLst>
                </a:gridCol>
                <a:gridCol w="2119866">
                  <a:extLst>
                    <a:ext uri="{9D8B030D-6E8A-4147-A177-3AD203B41FA5}">
                      <a16:colId xmlns="" xmlns:a16="http://schemas.microsoft.com/office/drawing/2014/main" val="20001"/>
                    </a:ext>
                  </a:extLst>
                </a:gridCol>
                <a:gridCol w="2119866">
                  <a:extLst>
                    <a:ext uri="{9D8B030D-6E8A-4147-A177-3AD203B41FA5}">
                      <a16:colId xmlns="" xmlns:a16="http://schemas.microsoft.com/office/drawing/2014/main" val="20002"/>
                    </a:ext>
                  </a:extLst>
                </a:gridCol>
              </a:tblGrid>
              <a:tr h="370840">
                <a:tc>
                  <a:txBody>
                    <a:bodyPr/>
                    <a:lstStyle/>
                    <a:p>
                      <a:r>
                        <a:rPr lang="en-CA" dirty="0" smtClean="0">
                          <a:solidFill>
                            <a:schemeClr val="tx1"/>
                          </a:solidFill>
                        </a:rPr>
                        <a:t>File System</a:t>
                      </a:r>
                      <a:endParaRPr lang="en-CA" dirty="0">
                        <a:solidFill>
                          <a:schemeClr val="tx1"/>
                        </a:solidFill>
                      </a:endParaRPr>
                    </a:p>
                  </a:txBody>
                  <a:tcPr/>
                </a:tc>
                <a:tc>
                  <a:txBody>
                    <a:bodyPr/>
                    <a:lstStyle/>
                    <a:p>
                      <a:r>
                        <a:rPr lang="en-CA" dirty="0" smtClean="0">
                          <a:solidFill>
                            <a:schemeClr val="tx1"/>
                          </a:solidFill>
                        </a:rPr>
                        <a:t>Line Count</a:t>
                      </a:r>
                      <a:endParaRPr lang="en-CA" dirty="0">
                        <a:solidFill>
                          <a:schemeClr val="tx1"/>
                        </a:solidFill>
                      </a:endParaRPr>
                    </a:p>
                  </a:txBody>
                  <a:tcPr/>
                </a:tc>
                <a:tc>
                  <a:txBody>
                    <a:bodyPr/>
                    <a:lstStyle/>
                    <a:p>
                      <a:r>
                        <a:rPr lang="en-CA" dirty="0" smtClean="0">
                          <a:solidFill>
                            <a:schemeClr val="tx1"/>
                          </a:solidFill>
                        </a:rPr>
                        <a:t>Annotated</a:t>
                      </a:r>
                      <a:endParaRPr lang="en-CA" dirty="0">
                        <a:solidFill>
                          <a:schemeClr val="tx1"/>
                        </a:solidFill>
                      </a:endParaRPr>
                    </a:p>
                  </a:txBody>
                  <a:tcPr/>
                </a:tc>
                <a:extLst>
                  <a:ext uri="{0D108BD9-81ED-4DB2-BD59-A6C34878D82A}">
                    <a16:rowId xmlns="" xmlns:a16="http://schemas.microsoft.com/office/drawing/2014/main" val="10000"/>
                  </a:ext>
                </a:extLst>
              </a:tr>
              <a:tr h="370840">
                <a:tc>
                  <a:txBody>
                    <a:bodyPr/>
                    <a:lstStyle/>
                    <a:p>
                      <a:r>
                        <a:rPr lang="en-CA" dirty="0" smtClean="0">
                          <a:solidFill>
                            <a:schemeClr val="bg1"/>
                          </a:solidFill>
                        </a:rPr>
                        <a:t>Ext4</a:t>
                      </a:r>
                      <a:endParaRPr lang="en-CA" dirty="0">
                        <a:solidFill>
                          <a:schemeClr val="bg1"/>
                        </a:solidFill>
                      </a:endParaRPr>
                    </a:p>
                  </a:txBody>
                  <a:tcPr/>
                </a:tc>
                <a:tc>
                  <a:txBody>
                    <a:bodyPr/>
                    <a:lstStyle/>
                    <a:p>
                      <a:r>
                        <a:rPr lang="en-CA" dirty="0" smtClean="0">
                          <a:solidFill>
                            <a:schemeClr val="bg1"/>
                          </a:solidFill>
                        </a:rPr>
                        <a:t>491</a:t>
                      </a:r>
                      <a:endParaRPr lang="en-CA" dirty="0">
                        <a:solidFill>
                          <a:schemeClr val="bg1"/>
                        </a:solidFill>
                      </a:endParaRPr>
                    </a:p>
                  </a:txBody>
                  <a:tcPr/>
                </a:tc>
                <a:tc>
                  <a:txBody>
                    <a:bodyPr/>
                    <a:lstStyle/>
                    <a:p>
                      <a:r>
                        <a:rPr lang="en-CA" dirty="0" smtClean="0">
                          <a:solidFill>
                            <a:schemeClr val="bg1"/>
                          </a:solidFill>
                        </a:rPr>
                        <a:t>113</a:t>
                      </a:r>
                      <a:endParaRPr lang="en-CA" dirty="0">
                        <a:solidFill>
                          <a:schemeClr val="bg1"/>
                        </a:solidFill>
                      </a:endParaRPr>
                    </a:p>
                  </a:txBody>
                  <a:tcPr/>
                </a:tc>
                <a:extLst>
                  <a:ext uri="{0D108BD9-81ED-4DB2-BD59-A6C34878D82A}">
                    <a16:rowId xmlns="" xmlns:a16="http://schemas.microsoft.com/office/drawing/2014/main" val="10001"/>
                  </a:ext>
                </a:extLst>
              </a:tr>
              <a:tr h="370840">
                <a:tc>
                  <a:txBody>
                    <a:bodyPr/>
                    <a:lstStyle/>
                    <a:p>
                      <a:r>
                        <a:rPr lang="en-CA" dirty="0" err="1" smtClean="0">
                          <a:solidFill>
                            <a:schemeClr val="bg1"/>
                          </a:solidFill>
                        </a:rPr>
                        <a:t>Btrfs</a:t>
                      </a:r>
                      <a:endParaRPr lang="en-CA" dirty="0">
                        <a:solidFill>
                          <a:schemeClr val="bg1"/>
                        </a:solidFill>
                      </a:endParaRPr>
                    </a:p>
                  </a:txBody>
                  <a:tcPr/>
                </a:tc>
                <a:tc>
                  <a:txBody>
                    <a:bodyPr/>
                    <a:lstStyle/>
                    <a:p>
                      <a:r>
                        <a:rPr lang="en-CA" dirty="0" smtClean="0">
                          <a:solidFill>
                            <a:schemeClr val="bg1"/>
                          </a:solidFill>
                        </a:rPr>
                        <a:t>556</a:t>
                      </a:r>
                      <a:endParaRPr lang="en-CA" dirty="0">
                        <a:solidFill>
                          <a:schemeClr val="bg1"/>
                        </a:solidFill>
                      </a:endParaRPr>
                    </a:p>
                  </a:txBody>
                  <a:tcPr/>
                </a:tc>
                <a:tc>
                  <a:txBody>
                    <a:bodyPr/>
                    <a:lstStyle/>
                    <a:p>
                      <a:r>
                        <a:rPr lang="en-CA" dirty="0" smtClean="0">
                          <a:solidFill>
                            <a:schemeClr val="bg1"/>
                          </a:solidFill>
                        </a:rPr>
                        <a:t>151</a:t>
                      </a:r>
                      <a:endParaRPr lang="en-CA" dirty="0">
                        <a:solidFill>
                          <a:schemeClr val="bg1"/>
                        </a:solidFill>
                      </a:endParaRPr>
                    </a:p>
                  </a:txBody>
                  <a:tcPr/>
                </a:tc>
                <a:extLst>
                  <a:ext uri="{0D108BD9-81ED-4DB2-BD59-A6C34878D82A}">
                    <a16:rowId xmlns="" xmlns:a16="http://schemas.microsoft.com/office/drawing/2014/main" val="10002"/>
                  </a:ext>
                </a:extLst>
              </a:tr>
              <a:tr h="370840">
                <a:tc>
                  <a:txBody>
                    <a:bodyPr/>
                    <a:lstStyle/>
                    <a:p>
                      <a:r>
                        <a:rPr lang="en-CA" dirty="0" smtClean="0">
                          <a:solidFill>
                            <a:schemeClr val="bg1"/>
                          </a:solidFill>
                        </a:rPr>
                        <a:t>F2FS</a:t>
                      </a:r>
                      <a:endParaRPr lang="en-CA" dirty="0">
                        <a:solidFill>
                          <a:schemeClr val="bg1"/>
                        </a:solidFill>
                      </a:endParaRPr>
                    </a:p>
                  </a:txBody>
                  <a:tcPr/>
                </a:tc>
                <a:tc>
                  <a:txBody>
                    <a:bodyPr/>
                    <a:lstStyle/>
                    <a:p>
                      <a:r>
                        <a:rPr lang="en-CA" dirty="0" smtClean="0">
                          <a:solidFill>
                            <a:schemeClr val="bg1"/>
                          </a:solidFill>
                        </a:rPr>
                        <a:t>462</a:t>
                      </a:r>
                      <a:endParaRPr lang="en-CA" dirty="0">
                        <a:solidFill>
                          <a:schemeClr val="bg1"/>
                        </a:solidFill>
                      </a:endParaRPr>
                    </a:p>
                  </a:txBody>
                  <a:tcPr/>
                </a:tc>
                <a:tc>
                  <a:txBody>
                    <a:bodyPr/>
                    <a:lstStyle/>
                    <a:p>
                      <a:r>
                        <a:rPr lang="en-CA" dirty="0" smtClean="0">
                          <a:solidFill>
                            <a:schemeClr val="bg1"/>
                          </a:solidFill>
                        </a:rPr>
                        <a:t>127</a:t>
                      </a:r>
                      <a:endParaRPr lang="en-CA" dirty="0">
                        <a:solidFill>
                          <a:schemeClr val="bg1"/>
                        </a:solidFill>
                      </a:endParaRPr>
                    </a:p>
                  </a:txBody>
                  <a:tcPr/>
                </a:tc>
                <a:extLst>
                  <a:ext uri="{0D108BD9-81ED-4DB2-BD59-A6C34878D82A}">
                    <a16:rowId xmlns="" xmlns:a16="http://schemas.microsoft.com/office/drawing/2014/main" val="10003"/>
                  </a:ext>
                </a:extLst>
              </a:tr>
            </a:tbl>
          </a:graphicData>
        </a:graphic>
      </p:graphicFrame>
      <p:sp>
        <p:nvSpPr>
          <p:cNvPr id="6" name="Slide Number Placeholder 5"/>
          <p:cNvSpPr>
            <a:spLocks noGrp="1"/>
          </p:cNvSpPr>
          <p:nvPr>
            <p:ph type="sldNum" sz="quarter" idx="12"/>
          </p:nvPr>
        </p:nvSpPr>
        <p:spPr/>
        <p:txBody>
          <a:bodyPr/>
          <a:lstStyle/>
          <a:p>
            <a:fld id="{7B2023C8-B124-43A9-8F92-0EEF5BAA9995}" type="slidenum">
              <a:rPr lang="en-CA" smtClean="0"/>
              <a:pPr/>
              <a:t>14</a:t>
            </a:fld>
            <a:endParaRPr lang="en-CA" dirty="0"/>
          </a:p>
        </p:txBody>
      </p:sp>
    </p:spTree>
    <p:extLst>
      <p:ext uri="{BB962C8B-B14F-4D97-AF65-F5344CB8AC3E}">
        <p14:creationId xmlns:p14="http://schemas.microsoft.com/office/powerpoint/2010/main" val="3499493329"/>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lstStyle/>
          <a:p>
            <a:r>
              <a:rPr lang="en-US" dirty="0" smtClean="0"/>
              <a:t>Generating Spiffy Library</a:t>
            </a:r>
            <a:endParaRPr lang="en-CA" dirty="0"/>
          </a:p>
        </p:txBody>
      </p:sp>
      <p:sp>
        <p:nvSpPr>
          <p:cNvPr id="6" name="Text Placeholder 5"/>
          <p:cNvSpPr>
            <a:spLocks noGrp="1"/>
          </p:cNvSpPr>
          <p:nvPr>
            <p:ph type="body" idx="1"/>
          </p:nvPr>
        </p:nvSpPr>
        <p:spPr/>
        <p:txBody>
          <a:bodyPr/>
          <a:lstStyle/>
          <a:p>
            <a:r>
              <a:rPr lang="en-CA" dirty="0" smtClean="0"/>
              <a:t>Annotation</a:t>
            </a:r>
            <a:endParaRPr lang="en-CA" dirty="0"/>
          </a:p>
        </p:txBody>
      </p:sp>
      <p:sp>
        <p:nvSpPr>
          <p:cNvPr id="8" name="Text Placeholder 7"/>
          <p:cNvSpPr>
            <a:spLocks noGrp="1"/>
          </p:cNvSpPr>
          <p:nvPr>
            <p:ph type="body" sz="quarter" idx="3"/>
          </p:nvPr>
        </p:nvSpPr>
        <p:spPr/>
        <p:txBody>
          <a:bodyPr/>
          <a:lstStyle/>
          <a:p>
            <a:r>
              <a:rPr lang="en-CA" dirty="0" smtClean="0"/>
              <a:t>Generated Code</a:t>
            </a:r>
            <a:endParaRPr lang="en-CA" dirty="0"/>
          </a:p>
        </p:txBody>
      </p:sp>
      <p:sp>
        <p:nvSpPr>
          <p:cNvPr id="9" name="Content Placeholder 8"/>
          <p:cNvSpPr>
            <a:spLocks noGrp="1"/>
          </p:cNvSpPr>
          <p:nvPr>
            <p:ph sz="quarter" idx="4"/>
          </p:nvPr>
        </p:nvSpPr>
        <p:spPr>
          <a:xfrm>
            <a:off x="5763418" y="2100086"/>
            <a:ext cx="5182222" cy="4072114"/>
          </a:xfrm>
        </p:spPr>
        <p:txBody>
          <a:bodyPr>
            <a:noAutofit/>
          </a:bodyPr>
          <a:lstStyle/>
          <a:p>
            <a:pPr marL="0" indent="0">
              <a:lnSpc>
                <a:spcPts val="2000"/>
              </a:lnSpc>
              <a:spcBef>
                <a:spcPts val="0"/>
              </a:spcBef>
              <a:spcAft>
                <a:spcPts val="0"/>
              </a:spcAft>
              <a:buNone/>
            </a:pPr>
            <a:r>
              <a:rPr lang="en-CA" sz="1400" dirty="0" err="1">
                <a:solidFill>
                  <a:schemeClr val="accent3"/>
                </a:solidFill>
                <a:latin typeface="Courier New" panose="02070309020205020404" pitchFamily="49" charset="0"/>
                <a:cs typeface="Courier New" panose="02070309020205020404" pitchFamily="49" charset="0"/>
              </a:rPr>
              <a:t>int</a:t>
            </a:r>
            <a:r>
              <a:rPr lang="en-CA" sz="1400" dirty="0">
                <a:solidFill>
                  <a:schemeClr val="accent6">
                    <a:lumMod val="75000"/>
                  </a:schemeClr>
                </a:solidFill>
                <a:latin typeface="Courier New" panose="02070309020205020404" pitchFamily="49" charset="0"/>
                <a:cs typeface="Courier New" panose="02070309020205020404" pitchFamily="49" charset="0"/>
              </a:rPr>
              <a:t> </a:t>
            </a:r>
            <a:r>
              <a:rPr lang="en-CA" sz="1400" b="1" dirty="0">
                <a:solidFill>
                  <a:schemeClr val="accent6">
                    <a:lumMod val="75000"/>
                  </a:schemeClr>
                </a:solidFill>
                <a:latin typeface="Courier New" panose="02070309020205020404" pitchFamily="49" charset="0"/>
                <a:cs typeface="Courier New" panose="02070309020205020404" pitchFamily="49" charset="0"/>
              </a:rPr>
              <a:t>parse</a:t>
            </a:r>
            <a:r>
              <a:rPr lang="en-CA" sz="1400" dirty="0">
                <a:solidFill>
                  <a:schemeClr val="accent6">
                    <a:lumMod val="75000"/>
                  </a:schemeClr>
                </a:solidFill>
                <a:latin typeface="Courier New" panose="02070309020205020404" pitchFamily="49" charset="0"/>
                <a:cs typeface="Courier New" panose="02070309020205020404" pitchFamily="49" charset="0"/>
              </a:rPr>
              <a:t>(</a:t>
            </a:r>
            <a:r>
              <a:rPr lang="en-CA" sz="1400" dirty="0" err="1">
                <a:solidFill>
                  <a:schemeClr val="accent3"/>
                </a:solidFill>
                <a:latin typeface="Courier New" panose="02070309020205020404" pitchFamily="49" charset="0"/>
                <a:cs typeface="Courier New" panose="02070309020205020404" pitchFamily="49" charset="0"/>
              </a:rPr>
              <a:t>const</a:t>
            </a:r>
            <a:r>
              <a:rPr lang="en-CA" sz="1400" dirty="0">
                <a:solidFill>
                  <a:schemeClr val="accent6">
                    <a:lumMod val="75000"/>
                  </a:schemeClr>
                </a:solidFill>
                <a:latin typeface="Courier New" panose="02070309020205020404" pitchFamily="49" charset="0"/>
                <a:cs typeface="Courier New" panose="02070309020205020404" pitchFamily="49" charset="0"/>
              </a:rPr>
              <a:t> </a:t>
            </a:r>
            <a:r>
              <a:rPr lang="en-CA" sz="1400" dirty="0">
                <a:solidFill>
                  <a:schemeClr val="accent3"/>
                </a:solidFill>
                <a:latin typeface="Courier New" panose="02070309020205020404" pitchFamily="49" charset="0"/>
                <a:cs typeface="Courier New" panose="02070309020205020404" pitchFamily="49" charset="0"/>
              </a:rPr>
              <a:t>char</a:t>
            </a:r>
            <a:r>
              <a:rPr lang="en-CA" sz="1400" dirty="0">
                <a:solidFill>
                  <a:schemeClr val="accent6">
                    <a:lumMod val="75000"/>
                  </a:schemeClr>
                </a:solidFill>
                <a:latin typeface="Courier New" panose="02070309020205020404" pitchFamily="49" charset="0"/>
                <a:cs typeface="Courier New" panose="02070309020205020404" pitchFamily="49" charset="0"/>
              </a:rPr>
              <a:t> * &amp; </a:t>
            </a:r>
            <a:r>
              <a:rPr lang="en-CA" sz="1400" dirty="0" err="1">
                <a:solidFill>
                  <a:schemeClr val="accent6">
                    <a:lumMod val="75000"/>
                  </a:schemeClr>
                </a:solidFill>
                <a:latin typeface="Courier New" panose="02070309020205020404" pitchFamily="49" charset="0"/>
                <a:cs typeface="Courier New" panose="02070309020205020404" pitchFamily="49" charset="0"/>
              </a:rPr>
              <a:t>buf</a:t>
            </a:r>
            <a:r>
              <a:rPr lang="en-CA" sz="1400" dirty="0">
                <a:solidFill>
                  <a:schemeClr val="accent6">
                    <a:lumMod val="75000"/>
                  </a:schemeClr>
                </a:solidFill>
                <a:latin typeface="Courier New" panose="02070309020205020404" pitchFamily="49" charset="0"/>
                <a:cs typeface="Courier New" panose="02070309020205020404" pitchFamily="49" charset="0"/>
              </a:rPr>
              <a:t>, </a:t>
            </a:r>
            <a:r>
              <a:rPr lang="en-CA" sz="1400" dirty="0">
                <a:solidFill>
                  <a:schemeClr val="accent3"/>
                </a:solidFill>
                <a:latin typeface="Courier New" panose="02070309020205020404" pitchFamily="49" charset="0"/>
                <a:cs typeface="Courier New" panose="02070309020205020404" pitchFamily="49" charset="0"/>
              </a:rPr>
              <a:t>unsigned</a:t>
            </a:r>
            <a:r>
              <a:rPr lang="en-CA" sz="1400" dirty="0">
                <a:solidFill>
                  <a:schemeClr val="accent6">
                    <a:lumMod val="75000"/>
                  </a:schemeClr>
                </a:solidFill>
                <a:latin typeface="Courier New" panose="02070309020205020404" pitchFamily="49" charset="0"/>
                <a:cs typeface="Courier New" panose="02070309020205020404" pitchFamily="49" charset="0"/>
              </a:rPr>
              <a:t> &amp; </a:t>
            </a:r>
            <a:r>
              <a:rPr lang="en-CA" sz="1400" dirty="0" err="1">
                <a:solidFill>
                  <a:schemeClr val="accent6">
                    <a:lumMod val="75000"/>
                  </a:schemeClr>
                </a:solidFill>
                <a:latin typeface="Courier New" panose="02070309020205020404" pitchFamily="49" charset="0"/>
                <a:cs typeface="Courier New" panose="02070309020205020404" pitchFamily="49" charset="0"/>
              </a:rPr>
              <a:t>len</a:t>
            </a:r>
            <a:r>
              <a:rPr lang="en-CA" sz="1400" dirty="0">
                <a:solidFill>
                  <a:schemeClr val="accent6">
                    <a:lumMod val="75000"/>
                  </a:schemeClr>
                </a:solidFill>
                <a:latin typeface="Courier New" panose="02070309020205020404" pitchFamily="49" charset="0"/>
                <a:cs typeface="Courier New" panose="02070309020205020404" pitchFamily="49" charset="0"/>
              </a:rPr>
              <a:t>) {</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a:t>
            </a:r>
            <a:r>
              <a:rPr lang="en-CA" sz="1400" dirty="0" err="1">
                <a:solidFill>
                  <a:schemeClr val="accent3"/>
                </a:solidFill>
                <a:latin typeface="Courier New" panose="02070309020205020404" pitchFamily="49" charset="0"/>
                <a:cs typeface="Courier New" panose="02070309020205020404" pitchFamily="49" charset="0"/>
              </a:rPr>
              <a:t>int</a:t>
            </a:r>
            <a:r>
              <a:rPr lang="en-CA" sz="1400" dirty="0">
                <a:solidFill>
                  <a:schemeClr val="accent6">
                    <a:lumMod val="75000"/>
                  </a:schemeClr>
                </a:solidFill>
                <a:latin typeface="Courier New" panose="02070309020205020404" pitchFamily="49" charset="0"/>
                <a:cs typeface="Courier New" panose="02070309020205020404" pitchFamily="49" charset="0"/>
              </a:rPr>
              <a:t> ret = </a:t>
            </a:r>
            <a:r>
              <a:rPr lang="en-CA" sz="1400" dirty="0" err="1">
                <a:solidFill>
                  <a:schemeClr val="accent6">
                    <a:lumMod val="75000"/>
                  </a:schemeClr>
                </a:solidFill>
                <a:latin typeface="Courier New" panose="02070309020205020404" pitchFamily="49" charset="0"/>
                <a:cs typeface="Courier New" panose="02070309020205020404" pitchFamily="49" charset="0"/>
              </a:rPr>
              <a:t>s_blocks_count.parse</a:t>
            </a:r>
            <a:r>
              <a:rPr lang="en-CA" sz="1400" dirty="0">
                <a:solidFill>
                  <a:schemeClr val="accent6">
                    <a:lumMod val="75000"/>
                  </a:schemeClr>
                </a:solidFill>
                <a:latin typeface="Courier New" panose="02070309020205020404" pitchFamily="49" charset="0"/>
                <a:cs typeface="Courier New" panose="02070309020205020404" pitchFamily="49" charset="0"/>
              </a:rPr>
              <a:t>(</a:t>
            </a:r>
            <a:r>
              <a:rPr lang="en-CA" sz="1400" dirty="0" err="1">
                <a:solidFill>
                  <a:schemeClr val="accent6">
                    <a:lumMod val="75000"/>
                  </a:schemeClr>
                </a:solidFill>
                <a:latin typeface="Courier New" panose="02070309020205020404" pitchFamily="49" charset="0"/>
                <a:cs typeface="Courier New" panose="02070309020205020404" pitchFamily="49" charset="0"/>
              </a:rPr>
              <a:t>buf</a:t>
            </a:r>
            <a:r>
              <a:rPr lang="en-CA" sz="1400" dirty="0">
                <a:solidFill>
                  <a:schemeClr val="accent6">
                    <a:lumMod val="75000"/>
                  </a:schemeClr>
                </a:solidFill>
                <a:latin typeface="Courier New" panose="02070309020205020404" pitchFamily="49" charset="0"/>
                <a:cs typeface="Courier New" panose="02070309020205020404" pitchFamily="49" charset="0"/>
              </a:rPr>
              <a:t>, </a:t>
            </a:r>
            <a:r>
              <a:rPr lang="en-CA" sz="1400" dirty="0" err="1">
                <a:solidFill>
                  <a:schemeClr val="accent6">
                    <a:lumMod val="75000"/>
                  </a:schemeClr>
                </a:solidFill>
                <a:latin typeface="Courier New" panose="02070309020205020404" pitchFamily="49" charset="0"/>
                <a:cs typeface="Courier New" panose="02070309020205020404" pitchFamily="49" charset="0"/>
              </a:rPr>
              <a:t>len</a:t>
            </a:r>
            <a:r>
              <a:rPr lang="en-CA" sz="1400" dirty="0">
                <a:solidFill>
                  <a:schemeClr val="accent6">
                    <a:lumMod val="75000"/>
                  </a:schemeClr>
                </a:solidFill>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if (ret &lt; </a:t>
            </a:r>
            <a:r>
              <a:rPr lang="en-CA" sz="1400" dirty="0">
                <a:solidFill>
                  <a:srgbClr val="0070C0"/>
                </a:solidFill>
                <a:latin typeface="Courier New" panose="02070309020205020404" pitchFamily="49" charset="0"/>
                <a:cs typeface="Courier New" panose="02070309020205020404" pitchFamily="49" charset="0"/>
              </a:rPr>
              <a:t>0</a:t>
            </a:r>
            <a:r>
              <a:rPr lang="en-CA" sz="1400" dirty="0">
                <a:solidFill>
                  <a:schemeClr val="accent6">
                    <a:lumMod val="75000"/>
                  </a:schemeClr>
                </a:solidFill>
                <a:latin typeface="Courier New" panose="02070309020205020404" pitchFamily="49" charset="0"/>
                <a:cs typeface="Courier New" panose="02070309020205020404" pitchFamily="49" charset="0"/>
              </a:rPr>
              <a:t>) return ret;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ret = </a:t>
            </a:r>
            <a:r>
              <a:rPr lang="en-CA" sz="1400" dirty="0" err="1">
                <a:solidFill>
                  <a:schemeClr val="accent6">
                    <a:lumMod val="75000"/>
                  </a:schemeClr>
                </a:solidFill>
                <a:latin typeface="Courier New" panose="02070309020205020404" pitchFamily="49" charset="0"/>
                <a:cs typeface="Courier New" panose="02070309020205020404" pitchFamily="49" charset="0"/>
              </a:rPr>
              <a:t>s_log_block_size.parse</a:t>
            </a:r>
            <a:r>
              <a:rPr lang="en-CA" sz="1400" dirty="0">
                <a:solidFill>
                  <a:schemeClr val="accent6">
                    <a:lumMod val="75000"/>
                  </a:schemeClr>
                </a:solidFill>
                <a:latin typeface="Courier New" panose="02070309020205020404" pitchFamily="49" charset="0"/>
                <a:cs typeface="Courier New" panose="02070309020205020404" pitchFamily="49" charset="0"/>
              </a:rPr>
              <a:t>(</a:t>
            </a:r>
            <a:r>
              <a:rPr lang="en-CA" sz="1400" dirty="0" err="1">
                <a:solidFill>
                  <a:schemeClr val="accent6">
                    <a:lumMod val="75000"/>
                  </a:schemeClr>
                </a:solidFill>
                <a:latin typeface="Courier New" panose="02070309020205020404" pitchFamily="49" charset="0"/>
                <a:cs typeface="Courier New" panose="02070309020205020404" pitchFamily="49" charset="0"/>
              </a:rPr>
              <a:t>buf</a:t>
            </a:r>
            <a:r>
              <a:rPr lang="en-CA" sz="1400" dirty="0">
                <a:solidFill>
                  <a:schemeClr val="accent6">
                    <a:lumMod val="75000"/>
                  </a:schemeClr>
                </a:solidFill>
                <a:latin typeface="Courier New" panose="02070309020205020404" pitchFamily="49" charset="0"/>
                <a:cs typeface="Courier New" panose="02070309020205020404" pitchFamily="49" charset="0"/>
              </a:rPr>
              <a:t>, </a:t>
            </a:r>
            <a:r>
              <a:rPr lang="en-CA" sz="1400" dirty="0" err="1">
                <a:solidFill>
                  <a:schemeClr val="accent6">
                    <a:lumMod val="75000"/>
                  </a:schemeClr>
                </a:solidFill>
                <a:latin typeface="Courier New" panose="02070309020205020404" pitchFamily="49" charset="0"/>
                <a:cs typeface="Courier New" panose="02070309020205020404" pitchFamily="49" charset="0"/>
              </a:rPr>
              <a:t>len</a:t>
            </a:r>
            <a:r>
              <a:rPr lang="en-CA" sz="1400" dirty="0">
                <a:solidFill>
                  <a:schemeClr val="accent6">
                    <a:lumMod val="75000"/>
                  </a:schemeClr>
                </a:solidFill>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if (ret &lt; </a:t>
            </a:r>
            <a:r>
              <a:rPr lang="en-CA" sz="1400" dirty="0">
                <a:solidFill>
                  <a:srgbClr val="0070C0"/>
                </a:solidFill>
                <a:latin typeface="Courier New" panose="02070309020205020404" pitchFamily="49" charset="0"/>
                <a:cs typeface="Courier New" panose="02070309020205020404" pitchFamily="49" charset="0"/>
              </a:rPr>
              <a:t>0</a:t>
            </a:r>
            <a:r>
              <a:rPr lang="en-CA" sz="1400" dirty="0">
                <a:solidFill>
                  <a:schemeClr val="accent6">
                    <a:lumMod val="75000"/>
                  </a:schemeClr>
                </a:solidFill>
                <a:latin typeface="Courier New" panose="02070309020205020404" pitchFamily="49" charset="0"/>
                <a:cs typeface="Courier New" panose="02070309020205020404" pitchFamily="49" charset="0"/>
              </a:rPr>
              <a:t>) return ret;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a:t>
            </a:r>
            <a:r>
              <a:rPr lang="en-CA" sz="1400" dirty="0" smtClean="0">
                <a:solidFill>
                  <a:schemeClr val="accent6">
                    <a:lumMod val="75000"/>
                  </a:schemeClr>
                </a:solidFill>
                <a:latin typeface="Courier New" panose="02070309020205020404" pitchFamily="49" charset="0"/>
                <a:cs typeface="Courier New" panose="02070309020205020404" pitchFamily="49" charset="0"/>
              </a:rPr>
              <a:t>…</a:t>
            </a:r>
            <a:endParaRPr lang="en-CA" sz="1400" dirty="0">
              <a:solidFill>
                <a:schemeClr val="accent6">
                  <a:lumMod val="75000"/>
                </a:schemeClr>
              </a:solidFill>
              <a:latin typeface="Courier New" panose="02070309020205020404" pitchFamily="49" charset="0"/>
              <a:cs typeface="Courier New" panose="02070309020205020404" pitchFamily="49" charset="0"/>
            </a:endParaRP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ret = </a:t>
            </a:r>
            <a:r>
              <a:rPr lang="en-CA" sz="1400" dirty="0" err="1">
                <a:solidFill>
                  <a:schemeClr val="accent6">
                    <a:lumMod val="75000"/>
                  </a:schemeClr>
                </a:solidFill>
                <a:latin typeface="Courier New" panose="02070309020205020404" pitchFamily="49" charset="0"/>
                <a:cs typeface="Courier New" panose="02070309020205020404" pitchFamily="49" charset="0"/>
              </a:rPr>
              <a:t>s_creator_os.parse</a:t>
            </a:r>
            <a:r>
              <a:rPr lang="en-CA" sz="1400" dirty="0">
                <a:solidFill>
                  <a:schemeClr val="accent6">
                    <a:lumMod val="75000"/>
                  </a:schemeClr>
                </a:solidFill>
                <a:latin typeface="Courier New" panose="02070309020205020404" pitchFamily="49" charset="0"/>
                <a:cs typeface="Courier New" panose="02070309020205020404" pitchFamily="49" charset="0"/>
              </a:rPr>
              <a:t>(</a:t>
            </a:r>
            <a:r>
              <a:rPr lang="en-CA" sz="1400" dirty="0" err="1">
                <a:solidFill>
                  <a:schemeClr val="accent6">
                    <a:lumMod val="75000"/>
                  </a:schemeClr>
                </a:solidFill>
                <a:latin typeface="Courier New" panose="02070309020205020404" pitchFamily="49" charset="0"/>
                <a:cs typeface="Courier New" panose="02070309020205020404" pitchFamily="49" charset="0"/>
              </a:rPr>
              <a:t>buf</a:t>
            </a:r>
            <a:r>
              <a:rPr lang="en-CA" sz="1400" dirty="0">
                <a:solidFill>
                  <a:schemeClr val="accent6">
                    <a:lumMod val="75000"/>
                  </a:schemeClr>
                </a:solidFill>
                <a:latin typeface="Courier New" panose="02070309020205020404" pitchFamily="49" charset="0"/>
                <a:cs typeface="Courier New" panose="02070309020205020404" pitchFamily="49" charset="0"/>
              </a:rPr>
              <a:t>, </a:t>
            </a:r>
            <a:r>
              <a:rPr lang="en-CA" sz="1400" dirty="0" err="1">
                <a:solidFill>
                  <a:schemeClr val="accent6">
                    <a:lumMod val="75000"/>
                  </a:schemeClr>
                </a:solidFill>
                <a:latin typeface="Courier New" panose="02070309020205020404" pitchFamily="49" charset="0"/>
                <a:cs typeface="Courier New" panose="02070309020205020404" pitchFamily="49" charset="0"/>
              </a:rPr>
              <a:t>len</a:t>
            </a:r>
            <a:r>
              <a:rPr lang="en-CA" sz="1400" dirty="0">
                <a:solidFill>
                  <a:schemeClr val="accent6">
                    <a:lumMod val="75000"/>
                  </a:schemeClr>
                </a:solidFill>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if (ret &lt; </a:t>
            </a:r>
            <a:r>
              <a:rPr lang="en-CA" sz="1400" dirty="0">
                <a:solidFill>
                  <a:srgbClr val="0070C0"/>
                </a:solidFill>
                <a:latin typeface="Courier New" panose="02070309020205020404" pitchFamily="49" charset="0"/>
                <a:cs typeface="Courier New" panose="02070309020205020404" pitchFamily="49" charset="0"/>
              </a:rPr>
              <a:t>0</a:t>
            </a:r>
            <a:r>
              <a:rPr lang="en-CA" sz="1400" dirty="0">
                <a:solidFill>
                  <a:schemeClr val="accent6">
                    <a:lumMod val="75000"/>
                  </a:schemeClr>
                </a:solidFill>
                <a:latin typeface="Courier New" panose="02070309020205020404" pitchFamily="49" charset="0"/>
                <a:cs typeface="Courier New" panose="02070309020205020404" pitchFamily="49" charset="0"/>
              </a:rPr>
              <a:t>) return ret;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ret = </a:t>
            </a:r>
            <a:r>
              <a:rPr lang="en-CA" sz="1400" dirty="0" err="1">
                <a:solidFill>
                  <a:schemeClr val="accent6">
                    <a:lumMod val="75000"/>
                  </a:schemeClr>
                </a:solidFill>
                <a:latin typeface="Courier New" panose="02070309020205020404" pitchFamily="49" charset="0"/>
                <a:cs typeface="Courier New" panose="02070309020205020404" pitchFamily="49" charset="0"/>
              </a:rPr>
              <a:t>s_block_group_desc.parse</a:t>
            </a:r>
            <a:r>
              <a:rPr lang="en-CA" sz="1400" dirty="0">
                <a:solidFill>
                  <a:schemeClr val="accent6">
                    <a:lumMod val="75000"/>
                  </a:schemeClr>
                </a:solidFill>
                <a:latin typeface="Courier New" panose="02070309020205020404" pitchFamily="49" charset="0"/>
                <a:cs typeface="Courier New" panose="02070309020205020404" pitchFamily="49" charset="0"/>
              </a:rPr>
              <a:t>(</a:t>
            </a:r>
            <a:r>
              <a:rPr lang="en-CA" sz="1400" dirty="0" err="1">
                <a:solidFill>
                  <a:schemeClr val="accent6">
                    <a:lumMod val="75000"/>
                  </a:schemeClr>
                </a:solidFill>
                <a:latin typeface="Courier New" panose="02070309020205020404" pitchFamily="49" charset="0"/>
                <a:cs typeface="Courier New" panose="02070309020205020404" pitchFamily="49" charset="0"/>
              </a:rPr>
              <a:t>buf</a:t>
            </a:r>
            <a:r>
              <a:rPr lang="en-CA" sz="1400" dirty="0">
                <a:solidFill>
                  <a:schemeClr val="accent6">
                    <a:lumMod val="75000"/>
                  </a:schemeClr>
                </a:solidFill>
                <a:latin typeface="Courier New" panose="02070309020205020404" pitchFamily="49" charset="0"/>
                <a:cs typeface="Courier New" panose="02070309020205020404" pitchFamily="49" charset="0"/>
              </a:rPr>
              <a:t>, </a:t>
            </a:r>
            <a:r>
              <a:rPr lang="en-CA" sz="1400" dirty="0" err="1">
                <a:solidFill>
                  <a:schemeClr val="accent6">
                    <a:lumMod val="75000"/>
                  </a:schemeClr>
                </a:solidFill>
                <a:latin typeface="Courier New" panose="02070309020205020404" pitchFamily="49" charset="0"/>
                <a:cs typeface="Courier New" panose="02070309020205020404" pitchFamily="49" charset="0"/>
              </a:rPr>
              <a:t>len</a:t>
            </a:r>
            <a:r>
              <a:rPr lang="en-CA" sz="1400" dirty="0">
                <a:solidFill>
                  <a:schemeClr val="accent6">
                    <a:lumMod val="75000"/>
                  </a:schemeClr>
                </a:solidFill>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if (ret &lt; </a:t>
            </a:r>
            <a:r>
              <a:rPr lang="en-CA" sz="1400" dirty="0">
                <a:solidFill>
                  <a:srgbClr val="0070C0"/>
                </a:solidFill>
                <a:latin typeface="Courier New" panose="02070309020205020404" pitchFamily="49" charset="0"/>
                <a:cs typeface="Courier New" panose="02070309020205020404" pitchFamily="49" charset="0"/>
              </a:rPr>
              <a:t>0</a:t>
            </a:r>
            <a:r>
              <a:rPr lang="en-CA" sz="1400" dirty="0">
                <a:solidFill>
                  <a:schemeClr val="accent6">
                    <a:lumMod val="75000"/>
                  </a:schemeClr>
                </a:solidFill>
                <a:latin typeface="Courier New" panose="02070309020205020404" pitchFamily="49" charset="0"/>
                <a:cs typeface="Courier New" panose="02070309020205020404" pitchFamily="49" charset="0"/>
              </a:rPr>
              <a:t>) return ret;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if (!(this-&gt;</a:t>
            </a:r>
            <a:r>
              <a:rPr lang="en-CA" sz="1400" dirty="0" err="1">
                <a:solidFill>
                  <a:schemeClr val="accent6">
                    <a:lumMod val="75000"/>
                  </a:schemeClr>
                </a:solidFill>
                <a:latin typeface="Courier New" panose="02070309020205020404" pitchFamily="49" charset="0"/>
                <a:cs typeface="Courier New" panose="02070309020205020404" pitchFamily="49" charset="0"/>
              </a:rPr>
              <a:t>s_log_block_size</a:t>
            </a:r>
            <a:r>
              <a:rPr lang="en-CA" sz="1400" dirty="0">
                <a:solidFill>
                  <a:schemeClr val="accent6">
                    <a:lumMod val="75000"/>
                  </a:schemeClr>
                </a:solidFill>
                <a:latin typeface="Courier New" panose="02070309020205020404" pitchFamily="49" charset="0"/>
                <a:cs typeface="Courier New" panose="02070309020205020404" pitchFamily="49" charset="0"/>
              </a:rPr>
              <a:t> &lt;= </a:t>
            </a:r>
            <a:r>
              <a:rPr lang="en-CA" sz="1400" dirty="0">
                <a:solidFill>
                  <a:srgbClr val="0070C0"/>
                </a:solidFill>
                <a:latin typeface="Courier New" panose="02070309020205020404" pitchFamily="49" charset="0"/>
                <a:cs typeface="Courier New" panose="02070309020205020404" pitchFamily="49" charset="0"/>
              </a:rPr>
              <a:t>6</a:t>
            </a:r>
            <a:r>
              <a:rPr lang="en-CA" sz="1400" dirty="0">
                <a:solidFill>
                  <a:schemeClr val="accent6">
                    <a:lumMod val="75000"/>
                  </a:schemeClr>
                </a:solidFill>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return ERR_CORRUPT;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if (!(this-&gt;</a:t>
            </a:r>
            <a:r>
              <a:rPr lang="en-CA" sz="1400" dirty="0" err="1">
                <a:solidFill>
                  <a:schemeClr val="accent6">
                    <a:lumMod val="75000"/>
                  </a:schemeClr>
                </a:solidFill>
                <a:latin typeface="Courier New" panose="02070309020205020404" pitchFamily="49" charset="0"/>
                <a:cs typeface="Courier New" panose="02070309020205020404" pitchFamily="49" charset="0"/>
              </a:rPr>
              <a:t>s_magic</a:t>
            </a:r>
            <a:r>
              <a:rPr lang="en-CA" sz="1400" dirty="0">
                <a:solidFill>
                  <a:schemeClr val="accent6">
                    <a:lumMod val="75000"/>
                  </a:schemeClr>
                </a:solidFill>
                <a:latin typeface="Courier New" panose="02070309020205020404" pitchFamily="49" charset="0"/>
                <a:cs typeface="Courier New" panose="02070309020205020404" pitchFamily="49" charset="0"/>
              </a:rPr>
              <a:t> == </a:t>
            </a:r>
            <a:r>
              <a:rPr lang="en-CA" sz="1400" dirty="0">
                <a:solidFill>
                  <a:srgbClr val="0070C0"/>
                </a:solidFill>
                <a:latin typeface="Courier New" panose="02070309020205020404" pitchFamily="49" charset="0"/>
                <a:cs typeface="Courier New" panose="02070309020205020404" pitchFamily="49" charset="0"/>
              </a:rPr>
              <a:t>0xef53</a:t>
            </a:r>
            <a:r>
              <a:rPr lang="en-CA" sz="1400" dirty="0">
                <a:solidFill>
                  <a:schemeClr val="accent6">
                    <a:lumMod val="75000"/>
                  </a:schemeClr>
                </a:solidFill>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return ERR_CORRUPT;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return </a:t>
            </a:r>
            <a:r>
              <a:rPr lang="en-CA" sz="1400" dirty="0">
                <a:solidFill>
                  <a:srgbClr val="00B0F0"/>
                </a:solidFill>
                <a:latin typeface="Courier New" panose="02070309020205020404" pitchFamily="49" charset="0"/>
                <a:cs typeface="Courier New" panose="02070309020205020404" pitchFamily="49" charset="0"/>
              </a:rPr>
              <a:t>0</a:t>
            </a:r>
            <a:r>
              <a:rPr lang="en-CA" sz="1400" dirty="0">
                <a:solidFill>
                  <a:schemeClr val="accent6">
                    <a:lumMod val="75000"/>
                  </a:schemeClr>
                </a:solidFill>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a:t>
            </a:r>
          </a:p>
        </p:txBody>
      </p:sp>
      <p:sp>
        <p:nvSpPr>
          <p:cNvPr id="10" name="Content Placeholder 6"/>
          <p:cNvSpPr txBox="1">
            <a:spLocks noGrp="1"/>
          </p:cNvSpPr>
          <p:nvPr>
            <p:ph sz="half" idx="2"/>
          </p:nvPr>
        </p:nvSpPr>
        <p:spPr>
          <a:xfrm>
            <a:off x="684211" y="2100086"/>
            <a:ext cx="5070740" cy="4072114"/>
          </a:xfrm>
          <a:prstGeom prst="rect">
            <a:avLst/>
          </a:prstGeom>
        </p:spPr>
        <p:txBody>
          <a:bodyPr vert="horz" lIns="91440" tIns="45720" rIns="91440" bIns="45720" rtlCol="0" anchor="t">
            <a:no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pPr marL="0" indent="0">
              <a:lnSpc>
                <a:spcPts val="2000"/>
              </a:lnSpc>
              <a:spcBef>
                <a:spcPts val="0"/>
              </a:spcBef>
              <a:spcAft>
                <a:spcPts val="0"/>
              </a:spcAft>
              <a:buNone/>
            </a:pPr>
            <a:r>
              <a:rPr lang="en-CA" sz="1400" b="1" dirty="0">
                <a:solidFill>
                  <a:schemeClr val="accent6">
                    <a:lumMod val="75000"/>
                  </a:schemeClr>
                </a:solidFill>
                <a:latin typeface="Courier New" panose="02070309020205020404" pitchFamily="49" charset="0"/>
                <a:cs typeface="Courier New" panose="02070309020205020404" pitchFamily="49" charset="0"/>
              </a:rPr>
              <a:t>FSSUPER</a:t>
            </a:r>
            <a:r>
              <a:rPr lang="en-CA" sz="1400" dirty="0">
                <a:solidFill>
                  <a:schemeClr val="accent6">
                    <a:lumMod val="75000"/>
                  </a:schemeClr>
                </a:solidFill>
                <a:latin typeface="Courier New" panose="02070309020205020404" pitchFamily="49" charset="0"/>
                <a:cs typeface="Courier New" panose="02070309020205020404" pitchFamily="49" charset="0"/>
              </a:rPr>
              <a:t>(</a:t>
            </a:r>
            <a:r>
              <a:rPr lang="en-CA" sz="1400" dirty="0">
                <a:solidFill>
                  <a:schemeClr val="accent3"/>
                </a:solidFill>
                <a:latin typeface="Courier New" panose="02070309020205020404" pitchFamily="49" charset="0"/>
                <a:cs typeface="Courier New" panose="02070309020205020404" pitchFamily="49" charset="0"/>
              </a:rPr>
              <a:t>location</a:t>
            </a:r>
            <a:r>
              <a:rPr lang="en-CA" sz="1400" dirty="0">
                <a:solidFill>
                  <a:schemeClr val="accent6">
                    <a:lumMod val="75000"/>
                  </a:schemeClr>
                </a:solidFill>
                <a:latin typeface="Courier New" panose="02070309020205020404" pitchFamily="49" charset="0"/>
                <a:cs typeface="Courier New" panose="02070309020205020404" pitchFamily="49" charset="0"/>
              </a:rPr>
              <a:t>=</a:t>
            </a:r>
            <a:r>
              <a:rPr lang="en-CA" sz="1400" dirty="0">
                <a:solidFill>
                  <a:srgbClr val="0070C0"/>
                </a:solidFill>
                <a:latin typeface="Courier New" panose="02070309020205020404" pitchFamily="49" charset="0"/>
                <a:cs typeface="Courier New" panose="02070309020205020404" pitchFamily="49" charset="0"/>
              </a:rPr>
              <a:t>1024</a:t>
            </a:r>
            <a:r>
              <a:rPr lang="en-CA" sz="1400" dirty="0">
                <a:solidFill>
                  <a:schemeClr val="accent6">
                    <a:lumMod val="75000"/>
                  </a:schemeClr>
                </a:solidFill>
                <a:latin typeface="Courier New" panose="02070309020205020404" pitchFamily="49" charset="0"/>
                <a:cs typeface="Courier New" panose="02070309020205020404" pitchFamily="49" charset="0"/>
              </a:rPr>
              <a:t>) </a:t>
            </a:r>
            <a:r>
              <a:rPr lang="en-CA" sz="1400" dirty="0" smtClean="0">
                <a:solidFill>
                  <a:schemeClr val="accent6">
                    <a:lumMod val="75000"/>
                  </a:schemeClr>
                </a:solidFill>
                <a:latin typeface="Courier New" panose="02070309020205020404" pitchFamily="49" charset="0"/>
                <a:cs typeface="Courier New" panose="02070309020205020404" pitchFamily="49" charset="0"/>
              </a:rPr>
              <a:t>ext4_super_block </a:t>
            </a:r>
            <a:r>
              <a:rPr lang="en-CA" sz="1400" dirty="0">
                <a:solidFill>
                  <a:schemeClr val="accent6">
                    <a:lumMod val="75000"/>
                  </a:schemeClr>
                </a:solidFill>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__le32	</a:t>
            </a:r>
            <a:r>
              <a:rPr lang="en-CA" sz="1400" dirty="0" err="1">
                <a:solidFill>
                  <a:schemeClr val="accent6">
                    <a:lumMod val="75000"/>
                  </a:schemeClr>
                </a:solidFill>
                <a:latin typeface="Courier New" panose="02070309020205020404" pitchFamily="49" charset="0"/>
                <a:cs typeface="Courier New" panose="02070309020205020404" pitchFamily="49" charset="0"/>
              </a:rPr>
              <a:t>s_blocks_count</a:t>
            </a:r>
            <a:r>
              <a:rPr lang="en-CA" sz="1400" dirty="0">
                <a:solidFill>
                  <a:schemeClr val="accent6">
                    <a:lumMod val="75000"/>
                  </a:schemeClr>
                </a:solidFill>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__le32	</a:t>
            </a:r>
            <a:r>
              <a:rPr lang="en-CA" sz="1400" dirty="0" err="1">
                <a:solidFill>
                  <a:schemeClr val="accent6">
                    <a:lumMod val="75000"/>
                  </a:schemeClr>
                </a:solidFill>
                <a:latin typeface="Courier New" panose="02070309020205020404" pitchFamily="49" charset="0"/>
                <a:cs typeface="Courier New" panose="02070309020205020404" pitchFamily="49" charset="0"/>
              </a:rPr>
              <a:t>s_log_block_size</a:t>
            </a:r>
            <a:r>
              <a:rPr lang="en-CA" sz="1400" dirty="0">
                <a:solidFill>
                  <a:schemeClr val="accent6">
                    <a:lumMod val="75000"/>
                  </a:schemeClr>
                </a:solidFill>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__le32	</a:t>
            </a:r>
            <a:r>
              <a:rPr lang="en-CA" sz="1400" dirty="0" err="1">
                <a:solidFill>
                  <a:schemeClr val="accent6">
                    <a:lumMod val="75000"/>
                  </a:schemeClr>
                </a:solidFill>
                <a:latin typeface="Courier New" panose="02070309020205020404" pitchFamily="49" charset="0"/>
                <a:cs typeface="Courier New" panose="02070309020205020404" pitchFamily="49" charset="0"/>
              </a:rPr>
              <a:t>s_blocks_per_group</a:t>
            </a:r>
            <a:r>
              <a:rPr lang="en-CA" sz="1400" dirty="0" smtClean="0">
                <a:solidFill>
                  <a:schemeClr val="accent6">
                    <a:lumMod val="75000"/>
                  </a:schemeClr>
                </a:solidFill>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a:t>
            </a:r>
            <a:r>
              <a:rPr lang="en-CA" sz="1400" dirty="0" smtClean="0">
                <a:solidFill>
                  <a:schemeClr val="accent6">
                    <a:lumMod val="75000"/>
                  </a:schemeClr>
                </a:solidFill>
                <a:latin typeface="Courier New" panose="02070309020205020404" pitchFamily="49" charset="0"/>
                <a:cs typeface="Courier New" panose="02070309020205020404" pitchFamily="49" charset="0"/>
              </a:rPr>
              <a:t> …</a:t>
            </a:r>
            <a:endParaRPr lang="en-CA" sz="1400" dirty="0">
              <a:solidFill>
                <a:schemeClr val="accent6">
                  <a:lumMod val="75000"/>
                </a:schemeClr>
              </a:solidFill>
              <a:latin typeface="Courier New" panose="02070309020205020404" pitchFamily="49" charset="0"/>
              <a:cs typeface="Courier New" panose="02070309020205020404" pitchFamily="49" charset="0"/>
            </a:endParaRPr>
          </a:p>
          <a:p>
            <a:pPr marL="0" indent="0">
              <a:lnSpc>
                <a:spcPts val="2000"/>
              </a:lnSpc>
              <a:spcBef>
                <a:spcPts val="0"/>
              </a:spcBef>
              <a:spcAft>
                <a:spcPts val="0"/>
              </a:spcAft>
              <a:buNone/>
            </a:pPr>
            <a:r>
              <a:rPr lang="en-CA" sz="1400" dirty="0" smtClean="0">
                <a:solidFill>
                  <a:schemeClr val="accent6">
                    <a:lumMod val="75000"/>
                  </a:schemeClr>
                </a:solidFill>
                <a:latin typeface="Courier New" panose="02070309020205020404" pitchFamily="49" charset="0"/>
                <a:cs typeface="Courier New" panose="02070309020205020404" pitchFamily="49" charset="0"/>
              </a:rPr>
              <a:t>  __</a:t>
            </a:r>
            <a:r>
              <a:rPr lang="en-CA" sz="1400" dirty="0">
                <a:solidFill>
                  <a:schemeClr val="accent6">
                    <a:lumMod val="75000"/>
                  </a:schemeClr>
                </a:solidFill>
                <a:latin typeface="Courier New" panose="02070309020205020404" pitchFamily="49" charset="0"/>
                <a:cs typeface="Courier New" panose="02070309020205020404" pitchFamily="49" charset="0"/>
              </a:rPr>
              <a:t>le16	</a:t>
            </a:r>
            <a:r>
              <a:rPr lang="en-CA" sz="1400" dirty="0" err="1">
                <a:solidFill>
                  <a:schemeClr val="accent6">
                    <a:lumMod val="75000"/>
                  </a:schemeClr>
                </a:solidFill>
                <a:latin typeface="Courier New" panose="02070309020205020404" pitchFamily="49" charset="0"/>
                <a:cs typeface="Courier New" panose="02070309020205020404" pitchFamily="49" charset="0"/>
              </a:rPr>
              <a:t>s_magic</a:t>
            </a:r>
            <a:r>
              <a:rPr lang="en-CA" sz="1400" dirty="0">
                <a:solidFill>
                  <a:schemeClr val="accent6">
                    <a:lumMod val="75000"/>
                  </a:schemeClr>
                </a:solidFill>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a:t>
            </a:r>
            <a:r>
              <a:rPr lang="en-CA" sz="1400" b="1" dirty="0">
                <a:solidFill>
                  <a:schemeClr val="accent6">
                    <a:lumMod val="75000"/>
                  </a:schemeClr>
                </a:solidFill>
                <a:latin typeface="Courier New" panose="02070309020205020404" pitchFamily="49" charset="0"/>
                <a:cs typeface="Courier New" panose="02070309020205020404" pitchFamily="49" charset="0"/>
              </a:rPr>
              <a:t>FIELD</a:t>
            </a:r>
            <a:r>
              <a:rPr lang="en-CA" sz="1400" dirty="0">
                <a:solidFill>
                  <a:schemeClr val="accent6">
                    <a:lumMod val="75000"/>
                  </a:schemeClr>
                </a:solidFill>
                <a:latin typeface="Courier New" panose="02070309020205020404" pitchFamily="49" charset="0"/>
                <a:cs typeface="Courier New" panose="02070309020205020404" pitchFamily="49" charset="0"/>
              </a:rPr>
              <a:t>(</a:t>
            </a:r>
            <a:r>
              <a:rPr lang="en-CA" sz="1400" dirty="0">
                <a:solidFill>
                  <a:schemeClr val="accent3"/>
                </a:solidFill>
                <a:latin typeface="Courier New" panose="02070309020205020404" pitchFamily="49" charset="0"/>
                <a:cs typeface="Courier New" panose="02070309020205020404" pitchFamily="49" charset="0"/>
              </a:rPr>
              <a:t>type</a:t>
            </a:r>
            <a:r>
              <a:rPr lang="en-CA" sz="1400" dirty="0">
                <a:solidFill>
                  <a:schemeClr val="accent6">
                    <a:lumMod val="75000"/>
                  </a:schemeClr>
                </a:solidFill>
                <a:latin typeface="Courier New" panose="02070309020205020404" pitchFamily="49" charset="0"/>
                <a:cs typeface="Courier New" panose="02070309020205020404" pitchFamily="49" charset="0"/>
              </a:rPr>
              <a:t>=</a:t>
            </a:r>
            <a:r>
              <a:rPr lang="en-CA" sz="1400" dirty="0" err="1">
                <a:solidFill>
                  <a:schemeClr val="accent6">
                    <a:lumMod val="75000"/>
                  </a:schemeClr>
                </a:solidFill>
                <a:latin typeface="Courier New" panose="02070309020205020404" pitchFamily="49" charset="0"/>
                <a:cs typeface="Courier New" panose="02070309020205020404" pitchFamily="49" charset="0"/>
              </a:rPr>
              <a:t>enum</a:t>
            </a:r>
            <a:r>
              <a:rPr lang="en-CA" sz="1400" dirty="0">
                <a:solidFill>
                  <a:schemeClr val="accent6">
                    <a:lumMod val="75000"/>
                  </a:schemeClr>
                </a:solidFill>
                <a:latin typeface="Courier New" panose="02070309020205020404" pitchFamily="49" charset="0"/>
                <a:cs typeface="Courier New" panose="02070309020205020404" pitchFamily="49" charset="0"/>
              </a:rPr>
              <a:t> </a:t>
            </a:r>
            <a:r>
              <a:rPr lang="en-CA" sz="1400" dirty="0" smtClean="0">
                <a:solidFill>
                  <a:schemeClr val="accent6">
                    <a:lumMod val="75000"/>
                  </a:schemeClr>
                </a:solidFill>
                <a:latin typeface="Courier New" panose="02070309020205020404" pitchFamily="49" charset="0"/>
                <a:cs typeface="Courier New" panose="02070309020205020404" pitchFamily="49" charset="0"/>
              </a:rPr>
              <a:t>ext4_os</a:t>
            </a:r>
            <a:r>
              <a:rPr lang="en-CA" sz="1400" dirty="0">
                <a:solidFill>
                  <a:schemeClr val="accent6">
                    <a:lumMod val="75000"/>
                  </a:schemeClr>
                </a:solidFill>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__le32	</a:t>
            </a:r>
            <a:r>
              <a:rPr lang="en-CA" sz="1400" dirty="0" err="1">
                <a:solidFill>
                  <a:schemeClr val="accent6">
                    <a:lumMod val="75000"/>
                  </a:schemeClr>
                </a:solidFill>
                <a:latin typeface="Courier New" panose="02070309020205020404" pitchFamily="49" charset="0"/>
                <a:cs typeface="Courier New" panose="02070309020205020404" pitchFamily="49" charset="0"/>
              </a:rPr>
              <a:t>s_creator_os</a:t>
            </a:r>
            <a:r>
              <a:rPr lang="en-CA" sz="1400" dirty="0" smtClean="0">
                <a:solidFill>
                  <a:schemeClr val="accent6">
                    <a:lumMod val="75000"/>
                  </a:schemeClr>
                </a:solidFill>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a:t>
            </a:r>
            <a:r>
              <a:rPr lang="en-CA" sz="1400" dirty="0" smtClean="0">
                <a:solidFill>
                  <a:schemeClr val="accent6">
                    <a:lumMod val="75000"/>
                  </a:schemeClr>
                </a:solidFill>
                <a:latin typeface="Courier New" panose="02070309020205020404" pitchFamily="49" charset="0"/>
                <a:cs typeface="Courier New" panose="02070309020205020404" pitchFamily="49" charset="0"/>
              </a:rPr>
              <a:t> …</a:t>
            </a:r>
            <a:endParaRPr lang="en-CA" sz="1400" dirty="0">
              <a:solidFill>
                <a:schemeClr val="accent6">
                  <a:lumMod val="75000"/>
                </a:schemeClr>
              </a:solidFill>
              <a:latin typeface="Courier New" panose="02070309020205020404" pitchFamily="49" charset="0"/>
              <a:cs typeface="Courier New" panose="02070309020205020404" pitchFamily="49" charset="0"/>
            </a:endParaRPr>
          </a:p>
          <a:p>
            <a:pPr marL="0" indent="0">
              <a:lnSpc>
                <a:spcPts val="2000"/>
              </a:lnSpc>
              <a:spcBef>
                <a:spcPts val="0"/>
              </a:spcBef>
              <a:spcAft>
                <a:spcPts val="0"/>
              </a:spcAft>
              <a:buNone/>
            </a:pPr>
            <a:r>
              <a:rPr lang="en-CA" sz="1400" dirty="0" smtClean="0">
                <a:solidFill>
                  <a:schemeClr val="accent6">
                    <a:lumMod val="75000"/>
                  </a:schemeClr>
                </a:solidFill>
                <a:latin typeface="Courier New" panose="02070309020205020404" pitchFamily="49" charset="0"/>
                <a:cs typeface="Courier New" panose="02070309020205020404" pitchFamily="49" charset="0"/>
              </a:rPr>
              <a:t>  </a:t>
            </a:r>
            <a:r>
              <a:rPr lang="en-CA" sz="1400" b="1" dirty="0" smtClean="0">
                <a:solidFill>
                  <a:schemeClr val="accent6">
                    <a:lumMod val="75000"/>
                  </a:schemeClr>
                </a:solidFill>
                <a:latin typeface="Courier New" panose="02070309020205020404" pitchFamily="49" charset="0"/>
                <a:cs typeface="Courier New" panose="02070309020205020404" pitchFamily="49" charset="0"/>
              </a:rPr>
              <a:t>POINTER</a:t>
            </a:r>
            <a:r>
              <a:rPr lang="en-CA" sz="1400" dirty="0" smtClean="0">
                <a:solidFill>
                  <a:schemeClr val="accent6">
                    <a:lumMod val="75000"/>
                  </a:schemeClr>
                </a:solidFill>
                <a:latin typeface="Courier New" panose="02070309020205020404" pitchFamily="49" charset="0"/>
                <a:cs typeface="Courier New" panose="02070309020205020404" pitchFamily="49" charset="0"/>
              </a:rPr>
              <a:t>(</a:t>
            </a:r>
            <a:r>
              <a:rPr lang="en-CA" sz="1400" dirty="0" smtClean="0">
                <a:solidFill>
                  <a:schemeClr val="accent3"/>
                </a:solidFill>
                <a:latin typeface="Courier New" panose="02070309020205020404" pitchFamily="49" charset="0"/>
                <a:cs typeface="Courier New" panose="02070309020205020404" pitchFamily="49" charset="0"/>
              </a:rPr>
              <a:t>name</a:t>
            </a:r>
            <a:r>
              <a:rPr lang="en-CA" sz="1400" dirty="0" smtClean="0">
                <a:solidFill>
                  <a:schemeClr val="accent6">
                    <a:lumMod val="75000"/>
                  </a:schemeClr>
                </a:solidFill>
                <a:latin typeface="Courier New" panose="02070309020205020404" pitchFamily="49" charset="0"/>
                <a:cs typeface="Courier New" panose="02070309020205020404" pitchFamily="49" charset="0"/>
              </a:rPr>
              <a:t>=</a:t>
            </a:r>
            <a:r>
              <a:rPr lang="en-CA" sz="1400" dirty="0" err="1" smtClean="0">
                <a:solidFill>
                  <a:schemeClr val="accent6">
                    <a:lumMod val="75000"/>
                  </a:schemeClr>
                </a:solidFill>
                <a:latin typeface="Courier New" panose="02070309020205020404" pitchFamily="49" charset="0"/>
                <a:cs typeface="Courier New" panose="02070309020205020404" pitchFamily="49" charset="0"/>
              </a:rPr>
              <a:t>s_block_group_desc</a:t>
            </a:r>
            <a:r>
              <a:rPr lang="en-CA" sz="1400" dirty="0" smtClean="0">
                <a:solidFill>
                  <a:schemeClr val="accent6">
                    <a:lumMod val="75000"/>
                  </a:schemeClr>
                </a:solidFill>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a:t>
            </a:r>
            <a:r>
              <a:rPr lang="en-CA" sz="1400" dirty="0" smtClean="0">
                <a:solidFill>
                  <a:schemeClr val="accent6">
                    <a:lumMod val="75000"/>
                  </a:schemeClr>
                </a:solidFill>
                <a:latin typeface="Courier New" panose="02070309020205020404" pitchFamily="49" charset="0"/>
                <a:cs typeface="Courier New" panose="02070309020205020404" pitchFamily="49" charset="0"/>
              </a:rPr>
              <a:t> </a:t>
            </a:r>
            <a:r>
              <a:rPr lang="en-CA" sz="1400" dirty="0" smtClean="0">
                <a:solidFill>
                  <a:schemeClr val="accent3"/>
                </a:solidFill>
                <a:latin typeface="Courier New" panose="02070309020205020404" pitchFamily="49" charset="0"/>
                <a:cs typeface="Courier New" panose="02070309020205020404" pitchFamily="49" charset="0"/>
              </a:rPr>
              <a:t>type</a:t>
            </a:r>
            <a:r>
              <a:rPr lang="en-CA" sz="1400" dirty="0" smtClean="0">
                <a:solidFill>
                  <a:schemeClr val="accent6">
                    <a:lumMod val="75000"/>
                  </a:schemeClr>
                </a:solidFill>
                <a:latin typeface="Courier New" panose="02070309020205020404" pitchFamily="49" charset="0"/>
                <a:cs typeface="Courier New" panose="02070309020205020404" pitchFamily="49" charset="0"/>
              </a:rPr>
              <a:t>=ext4_group_desc_table</a:t>
            </a:r>
            <a:r>
              <a:rPr lang="en-CA" sz="1400" dirty="0">
                <a:solidFill>
                  <a:schemeClr val="accent6">
                    <a:lumMod val="75000"/>
                  </a:schemeClr>
                </a:solidFill>
                <a:latin typeface="Courier New" panose="02070309020205020404" pitchFamily="49" charset="0"/>
                <a:cs typeface="Courier New" panose="02070309020205020404" pitchFamily="49" charset="0"/>
              </a:rPr>
              <a:t>, </a:t>
            </a:r>
            <a:r>
              <a:rPr lang="en-CA" sz="1400" dirty="0" err="1">
                <a:solidFill>
                  <a:schemeClr val="accent3"/>
                </a:solidFill>
                <a:latin typeface="Courier New" panose="02070309020205020404" pitchFamily="49" charset="0"/>
                <a:cs typeface="Courier New" panose="02070309020205020404" pitchFamily="49" charset="0"/>
              </a:rPr>
              <a:t>aspc</a:t>
            </a:r>
            <a:r>
              <a:rPr lang="en-CA" sz="1400" dirty="0" smtClean="0">
                <a:solidFill>
                  <a:schemeClr val="accent6">
                    <a:lumMod val="75000"/>
                  </a:schemeClr>
                </a:solidFill>
                <a:latin typeface="Courier New" panose="02070309020205020404" pitchFamily="49" charset="0"/>
                <a:cs typeface="Courier New" panose="02070309020205020404" pitchFamily="49" charset="0"/>
              </a:rPr>
              <a:t>=block</a:t>
            </a:r>
            <a:r>
              <a:rPr lang="en-CA" sz="1400" dirty="0">
                <a:solidFill>
                  <a:schemeClr val="accent6">
                    <a:lumMod val="75000"/>
                  </a:schemeClr>
                </a:solidFill>
                <a:latin typeface="Courier New" panose="02070309020205020404" pitchFamily="49" charset="0"/>
                <a:cs typeface="Courier New" panose="02070309020205020404" pitchFamily="49" charset="0"/>
              </a:rPr>
              <a:t>, </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a:t>
            </a:r>
            <a:r>
              <a:rPr lang="en-CA" sz="1400" dirty="0" smtClean="0">
                <a:solidFill>
                  <a:schemeClr val="accent3"/>
                </a:solidFill>
                <a:latin typeface="Courier New" panose="02070309020205020404" pitchFamily="49" charset="0"/>
                <a:cs typeface="Courier New" panose="02070309020205020404" pitchFamily="49" charset="0"/>
              </a:rPr>
              <a:t>expr</a:t>
            </a:r>
            <a:r>
              <a:rPr lang="en-CA" sz="1400" dirty="0">
                <a:solidFill>
                  <a:schemeClr val="accent6">
                    <a:lumMod val="75000"/>
                  </a:schemeClr>
                </a:solidFill>
                <a:latin typeface="Courier New" panose="02070309020205020404" pitchFamily="49" charset="0"/>
                <a:cs typeface="Courier New" panose="02070309020205020404" pitchFamily="49" charset="0"/>
              </a:rPr>
              <a:t>=(</a:t>
            </a:r>
            <a:r>
              <a:rPr lang="en-CA" sz="1400" dirty="0" err="1">
                <a:solidFill>
                  <a:schemeClr val="accent6">
                    <a:lumMod val="75000"/>
                  </a:schemeClr>
                </a:solidFill>
                <a:latin typeface="Courier New" panose="02070309020205020404" pitchFamily="49" charset="0"/>
                <a:cs typeface="Courier New" panose="02070309020205020404" pitchFamily="49" charset="0"/>
              </a:rPr>
              <a:t>self.s_log_block_size</a:t>
            </a:r>
            <a:r>
              <a:rPr lang="en-CA" sz="1400" dirty="0">
                <a:solidFill>
                  <a:schemeClr val="accent6">
                    <a:lumMod val="75000"/>
                  </a:schemeClr>
                </a:solidFill>
                <a:latin typeface="Courier New" panose="02070309020205020404" pitchFamily="49" charset="0"/>
                <a:cs typeface="Courier New" panose="02070309020205020404" pitchFamily="49" charset="0"/>
              </a:rPr>
              <a:t> == </a:t>
            </a:r>
            <a:r>
              <a:rPr lang="en-CA" sz="1400" dirty="0">
                <a:solidFill>
                  <a:srgbClr val="0070C0"/>
                </a:solidFill>
                <a:latin typeface="Courier New" panose="02070309020205020404" pitchFamily="49" charset="0"/>
                <a:cs typeface="Courier New" panose="02070309020205020404" pitchFamily="49" charset="0"/>
              </a:rPr>
              <a:t>0</a:t>
            </a:r>
            <a:r>
              <a:rPr lang="en-CA" sz="1400" dirty="0" smtClean="0">
                <a:solidFill>
                  <a:schemeClr val="accent6">
                    <a:lumMod val="75000"/>
                  </a:schemeClr>
                </a:solidFill>
                <a:latin typeface="Courier New" panose="02070309020205020404" pitchFamily="49" charset="0"/>
                <a:cs typeface="Courier New" panose="02070309020205020404" pitchFamily="49" charset="0"/>
              </a:rPr>
              <a:t>) ? </a:t>
            </a:r>
            <a:r>
              <a:rPr lang="en-CA" sz="1400" dirty="0" smtClean="0">
                <a:solidFill>
                  <a:srgbClr val="0070C0"/>
                </a:solidFill>
                <a:latin typeface="Courier New" panose="02070309020205020404" pitchFamily="49" charset="0"/>
                <a:cs typeface="Courier New" panose="02070309020205020404" pitchFamily="49" charset="0"/>
              </a:rPr>
              <a:t>2</a:t>
            </a:r>
            <a:r>
              <a:rPr lang="en-CA" sz="1400" dirty="0" smtClean="0">
                <a:solidFill>
                  <a:schemeClr val="accent6">
                    <a:lumMod val="75000"/>
                  </a:schemeClr>
                </a:solidFill>
                <a:latin typeface="Courier New" panose="02070309020205020404" pitchFamily="49" charset="0"/>
                <a:cs typeface="Courier New" panose="02070309020205020404" pitchFamily="49" charset="0"/>
              </a:rPr>
              <a:t> : </a:t>
            </a:r>
            <a:r>
              <a:rPr lang="en-CA" sz="1400" dirty="0" smtClean="0">
                <a:solidFill>
                  <a:srgbClr val="0070C0"/>
                </a:solidFill>
                <a:latin typeface="Courier New" panose="02070309020205020404" pitchFamily="49" charset="0"/>
                <a:cs typeface="Courier New" panose="02070309020205020404" pitchFamily="49" charset="0"/>
              </a:rPr>
              <a:t>1</a:t>
            </a:r>
            <a:r>
              <a:rPr lang="en-CA" sz="1400" dirty="0" smtClean="0">
                <a:solidFill>
                  <a:schemeClr val="accent6">
                    <a:lumMod val="75000"/>
                  </a:schemeClr>
                </a:solidFill>
                <a:latin typeface="Courier New" panose="02070309020205020404" pitchFamily="49" charset="0"/>
                <a:cs typeface="Courier New" panose="02070309020205020404" pitchFamily="49" charset="0"/>
              </a:rPr>
              <a:t>);</a:t>
            </a:r>
            <a:endParaRPr lang="en-CA" sz="1400" dirty="0">
              <a:solidFill>
                <a:schemeClr val="accent6">
                  <a:lumMod val="75000"/>
                </a:schemeClr>
              </a:solidFill>
              <a:latin typeface="Courier New" panose="02070309020205020404" pitchFamily="49" charset="0"/>
              <a:cs typeface="Courier New" panose="02070309020205020404" pitchFamily="49" charset="0"/>
            </a:endParaRP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a:t>
            </a:r>
            <a:r>
              <a:rPr lang="en-CA" sz="1400" dirty="0">
                <a:solidFill>
                  <a:srgbClr val="00B050"/>
                </a:solidFill>
                <a:latin typeface="Courier New" panose="02070309020205020404" pitchFamily="49" charset="0"/>
                <a:cs typeface="Courier New" panose="02070309020205020404" pitchFamily="49" charset="0"/>
              </a:rPr>
              <a:t>/* maximum supported block size is 64KB */</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a:t>
            </a:r>
            <a:r>
              <a:rPr lang="en-CA" sz="1400" b="1" dirty="0">
                <a:solidFill>
                  <a:schemeClr val="accent6">
                    <a:lumMod val="75000"/>
                  </a:schemeClr>
                </a:solidFill>
                <a:latin typeface="Courier New" panose="02070309020205020404" pitchFamily="49" charset="0"/>
                <a:cs typeface="Courier New" panose="02070309020205020404" pitchFamily="49" charset="0"/>
              </a:rPr>
              <a:t>CHECK</a:t>
            </a:r>
            <a:r>
              <a:rPr lang="en-CA" sz="1400" dirty="0">
                <a:solidFill>
                  <a:schemeClr val="accent6">
                    <a:lumMod val="75000"/>
                  </a:schemeClr>
                </a:solidFill>
                <a:latin typeface="Courier New" panose="02070309020205020404" pitchFamily="49" charset="0"/>
                <a:cs typeface="Courier New" panose="02070309020205020404" pitchFamily="49" charset="0"/>
              </a:rPr>
              <a:t>(</a:t>
            </a:r>
            <a:r>
              <a:rPr lang="en-CA" sz="1400" dirty="0">
                <a:solidFill>
                  <a:schemeClr val="accent3"/>
                </a:solidFill>
                <a:latin typeface="Courier New" panose="02070309020205020404" pitchFamily="49" charset="0"/>
                <a:cs typeface="Courier New" panose="02070309020205020404" pitchFamily="49" charset="0"/>
              </a:rPr>
              <a:t>expr</a:t>
            </a:r>
            <a:r>
              <a:rPr lang="en-CA" sz="1400" dirty="0">
                <a:solidFill>
                  <a:schemeClr val="accent6">
                    <a:lumMod val="75000"/>
                  </a:schemeClr>
                </a:solidFill>
                <a:latin typeface="Courier New" panose="02070309020205020404" pitchFamily="49" charset="0"/>
                <a:cs typeface="Courier New" panose="02070309020205020404" pitchFamily="49" charset="0"/>
              </a:rPr>
              <a:t>=</a:t>
            </a:r>
            <a:r>
              <a:rPr lang="en-CA" sz="1400" dirty="0" err="1">
                <a:solidFill>
                  <a:schemeClr val="accent6">
                    <a:lumMod val="75000"/>
                  </a:schemeClr>
                </a:solidFill>
                <a:latin typeface="Courier New" panose="02070309020205020404" pitchFamily="49" charset="0"/>
                <a:cs typeface="Courier New" panose="02070309020205020404" pitchFamily="49" charset="0"/>
              </a:rPr>
              <a:t>self.s_log_block_size</a:t>
            </a:r>
            <a:r>
              <a:rPr lang="en-CA" sz="1400" dirty="0">
                <a:solidFill>
                  <a:schemeClr val="accent6">
                    <a:lumMod val="75000"/>
                  </a:schemeClr>
                </a:solidFill>
                <a:latin typeface="Courier New" panose="02070309020205020404" pitchFamily="49" charset="0"/>
                <a:cs typeface="Courier New" panose="02070309020205020404" pitchFamily="49" charset="0"/>
              </a:rPr>
              <a:t> &lt;= </a:t>
            </a:r>
            <a:r>
              <a:rPr lang="en-CA" sz="1400" dirty="0">
                <a:solidFill>
                  <a:srgbClr val="0070C0"/>
                </a:solidFill>
                <a:latin typeface="Courier New" panose="02070309020205020404" pitchFamily="49" charset="0"/>
                <a:cs typeface="Courier New" panose="02070309020205020404" pitchFamily="49" charset="0"/>
              </a:rPr>
              <a:t>6</a:t>
            </a:r>
            <a:r>
              <a:rPr lang="en-CA" sz="1400" dirty="0">
                <a:solidFill>
                  <a:schemeClr val="accent6">
                    <a:lumMod val="75000"/>
                  </a:schemeClr>
                </a:solidFill>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a:t>
            </a:r>
            <a:r>
              <a:rPr lang="en-CA" sz="1400" b="1" dirty="0">
                <a:solidFill>
                  <a:schemeClr val="accent6">
                    <a:lumMod val="75000"/>
                  </a:schemeClr>
                </a:solidFill>
                <a:latin typeface="Courier New" panose="02070309020205020404" pitchFamily="49" charset="0"/>
                <a:cs typeface="Courier New" panose="02070309020205020404" pitchFamily="49" charset="0"/>
              </a:rPr>
              <a:t>CHECK</a:t>
            </a:r>
            <a:r>
              <a:rPr lang="en-CA" sz="1400" dirty="0">
                <a:solidFill>
                  <a:schemeClr val="accent6">
                    <a:lumMod val="75000"/>
                  </a:schemeClr>
                </a:solidFill>
                <a:latin typeface="Courier New" panose="02070309020205020404" pitchFamily="49" charset="0"/>
                <a:cs typeface="Courier New" panose="02070309020205020404" pitchFamily="49" charset="0"/>
              </a:rPr>
              <a:t>(</a:t>
            </a:r>
            <a:r>
              <a:rPr lang="en-CA" sz="1400" dirty="0">
                <a:solidFill>
                  <a:schemeClr val="accent3"/>
                </a:solidFill>
                <a:latin typeface="Courier New" panose="02070309020205020404" pitchFamily="49" charset="0"/>
                <a:cs typeface="Courier New" panose="02070309020205020404" pitchFamily="49" charset="0"/>
              </a:rPr>
              <a:t>expr</a:t>
            </a:r>
            <a:r>
              <a:rPr lang="en-CA" sz="1400" dirty="0">
                <a:solidFill>
                  <a:schemeClr val="accent6">
                    <a:lumMod val="75000"/>
                  </a:schemeClr>
                </a:solidFill>
                <a:latin typeface="Courier New" panose="02070309020205020404" pitchFamily="49" charset="0"/>
                <a:cs typeface="Courier New" panose="02070309020205020404" pitchFamily="49" charset="0"/>
              </a:rPr>
              <a:t>=</a:t>
            </a:r>
            <a:r>
              <a:rPr lang="en-CA" sz="1400" dirty="0" err="1">
                <a:solidFill>
                  <a:schemeClr val="accent6">
                    <a:lumMod val="75000"/>
                  </a:schemeClr>
                </a:solidFill>
                <a:latin typeface="Courier New" panose="02070309020205020404" pitchFamily="49" charset="0"/>
                <a:cs typeface="Courier New" panose="02070309020205020404" pitchFamily="49" charset="0"/>
              </a:rPr>
              <a:t>self.s_magic</a:t>
            </a:r>
            <a:r>
              <a:rPr lang="en-CA" sz="1400" dirty="0">
                <a:solidFill>
                  <a:schemeClr val="accent6">
                    <a:lumMod val="75000"/>
                  </a:schemeClr>
                </a:solidFill>
                <a:latin typeface="Courier New" panose="02070309020205020404" pitchFamily="49" charset="0"/>
                <a:cs typeface="Courier New" panose="02070309020205020404" pitchFamily="49" charset="0"/>
              </a:rPr>
              <a:t> == </a:t>
            </a:r>
            <a:r>
              <a:rPr lang="en-CA" sz="1400" dirty="0">
                <a:solidFill>
                  <a:srgbClr val="0070C0"/>
                </a:solidFill>
                <a:latin typeface="Courier New" panose="02070309020205020404" pitchFamily="49" charset="0"/>
                <a:cs typeface="Courier New" panose="02070309020205020404" pitchFamily="49" charset="0"/>
              </a:rPr>
              <a:t>0xef53</a:t>
            </a:r>
            <a:r>
              <a:rPr lang="en-CA" sz="1400" dirty="0">
                <a:solidFill>
                  <a:schemeClr val="accent6">
                    <a:lumMod val="75000"/>
                  </a:schemeClr>
                </a:solidFill>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a:t>
            </a:r>
          </a:p>
        </p:txBody>
      </p:sp>
      <p:sp>
        <p:nvSpPr>
          <p:cNvPr id="2" name="Slide Number Placeholder 1"/>
          <p:cNvSpPr>
            <a:spLocks noGrp="1"/>
          </p:cNvSpPr>
          <p:nvPr>
            <p:ph type="sldNum" sz="quarter" idx="12"/>
          </p:nvPr>
        </p:nvSpPr>
        <p:spPr/>
        <p:txBody>
          <a:bodyPr/>
          <a:lstStyle/>
          <a:p>
            <a:fld id="{7B2023C8-B124-43A9-8F92-0EEF5BAA9995}" type="slidenum">
              <a:rPr lang="en-CA" smtClean="0"/>
              <a:t>15</a:t>
            </a:fld>
            <a:endParaRPr lang="en-CA"/>
          </a:p>
        </p:txBody>
      </p:sp>
    </p:spTree>
    <p:extLst>
      <p:ext uri="{BB962C8B-B14F-4D97-AF65-F5344CB8AC3E}">
        <p14:creationId xmlns:p14="http://schemas.microsoft.com/office/powerpoint/2010/main" val="688544964"/>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lstStyle/>
          <a:p>
            <a:r>
              <a:rPr lang="en-US" dirty="0" smtClean="0"/>
              <a:t>Generating Spiffy Library</a:t>
            </a:r>
            <a:endParaRPr lang="en-CA" dirty="0"/>
          </a:p>
        </p:txBody>
      </p:sp>
      <p:sp>
        <p:nvSpPr>
          <p:cNvPr id="6" name="Text Placeholder 5"/>
          <p:cNvSpPr>
            <a:spLocks noGrp="1"/>
          </p:cNvSpPr>
          <p:nvPr>
            <p:ph type="body" idx="1"/>
          </p:nvPr>
        </p:nvSpPr>
        <p:spPr/>
        <p:txBody>
          <a:bodyPr/>
          <a:lstStyle/>
          <a:p>
            <a:r>
              <a:rPr lang="en-CA" dirty="0" smtClean="0"/>
              <a:t>Annotation</a:t>
            </a:r>
            <a:endParaRPr lang="en-CA" dirty="0"/>
          </a:p>
        </p:txBody>
      </p:sp>
      <p:sp>
        <p:nvSpPr>
          <p:cNvPr id="8" name="Text Placeholder 7"/>
          <p:cNvSpPr>
            <a:spLocks noGrp="1"/>
          </p:cNvSpPr>
          <p:nvPr>
            <p:ph type="body" sz="quarter" idx="3"/>
          </p:nvPr>
        </p:nvSpPr>
        <p:spPr/>
        <p:txBody>
          <a:bodyPr/>
          <a:lstStyle/>
          <a:p>
            <a:r>
              <a:rPr lang="en-CA" dirty="0" smtClean="0"/>
              <a:t>Generated Code</a:t>
            </a:r>
            <a:endParaRPr lang="en-CA" dirty="0"/>
          </a:p>
        </p:txBody>
      </p:sp>
      <p:sp>
        <p:nvSpPr>
          <p:cNvPr id="9" name="Content Placeholder 8"/>
          <p:cNvSpPr>
            <a:spLocks noGrp="1"/>
          </p:cNvSpPr>
          <p:nvPr>
            <p:ph sz="quarter" idx="4"/>
          </p:nvPr>
        </p:nvSpPr>
        <p:spPr>
          <a:xfrm>
            <a:off x="5763418" y="2100086"/>
            <a:ext cx="5182222" cy="4072114"/>
          </a:xfrm>
        </p:spPr>
        <p:txBody>
          <a:bodyPr>
            <a:noAutofit/>
          </a:bodyPr>
          <a:lstStyle/>
          <a:p>
            <a:pPr marL="0" indent="0">
              <a:lnSpc>
                <a:spcPts val="2000"/>
              </a:lnSpc>
              <a:spcBef>
                <a:spcPts val="0"/>
              </a:spcBef>
              <a:spcAft>
                <a:spcPts val="0"/>
              </a:spcAft>
              <a:buNone/>
            </a:pPr>
            <a:r>
              <a:rPr lang="en-CA" sz="1400" dirty="0" err="1">
                <a:solidFill>
                  <a:schemeClr val="accent3"/>
                </a:solidFill>
                <a:latin typeface="Courier New" panose="02070309020205020404" pitchFamily="49" charset="0"/>
                <a:cs typeface="Courier New" panose="02070309020205020404" pitchFamily="49" charset="0"/>
              </a:rPr>
              <a:t>int</a:t>
            </a:r>
            <a:r>
              <a:rPr lang="en-CA" sz="1400" dirty="0">
                <a:solidFill>
                  <a:schemeClr val="accent6">
                    <a:lumMod val="75000"/>
                  </a:schemeClr>
                </a:solidFill>
                <a:latin typeface="Courier New" panose="02070309020205020404" pitchFamily="49" charset="0"/>
                <a:cs typeface="Courier New" panose="02070309020205020404" pitchFamily="49" charset="0"/>
              </a:rPr>
              <a:t> </a:t>
            </a:r>
            <a:r>
              <a:rPr lang="en-CA" sz="1400" b="1" dirty="0">
                <a:solidFill>
                  <a:schemeClr val="accent6">
                    <a:lumMod val="75000"/>
                  </a:schemeClr>
                </a:solidFill>
                <a:latin typeface="Courier New" panose="02070309020205020404" pitchFamily="49" charset="0"/>
                <a:cs typeface="Courier New" panose="02070309020205020404" pitchFamily="49" charset="0"/>
              </a:rPr>
              <a:t>parse</a:t>
            </a:r>
            <a:r>
              <a:rPr lang="en-CA" sz="1400" dirty="0">
                <a:solidFill>
                  <a:schemeClr val="accent6">
                    <a:lumMod val="75000"/>
                  </a:schemeClr>
                </a:solidFill>
                <a:latin typeface="Courier New" panose="02070309020205020404" pitchFamily="49" charset="0"/>
                <a:cs typeface="Courier New" panose="02070309020205020404" pitchFamily="49" charset="0"/>
              </a:rPr>
              <a:t>(</a:t>
            </a:r>
            <a:r>
              <a:rPr lang="en-CA" sz="1400" dirty="0" err="1">
                <a:solidFill>
                  <a:schemeClr val="accent3"/>
                </a:solidFill>
                <a:latin typeface="Courier New" panose="02070309020205020404" pitchFamily="49" charset="0"/>
                <a:cs typeface="Courier New" panose="02070309020205020404" pitchFamily="49" charset="0"/>
              </a:rPr>
              <a:t>const</a:t>
            </a:r>
            <a:r>
              <a:rPr lang="en-CA" sz="1400" dirty="0">
                <a:solidFill>
                  <a:schemeClr val="accent6">
                    <a:lumMod val="75000"/>
                  </a:schemeClr>
                </a:solidFill>
                <a:latin typeface="Courier New" panose="02070309020205020404" pitchFamily="49" charset="0"/>
                <a:cs typeface="Courier New" panose="02070309020205020404" pitchFamily="49" charset="0"/>
              </a:rPr>
              <a:t> </a:t>
            </a:r>
            <a:r>
              <a:rPr lang="en-CA" sz="1400" dirty="0">
                <a:solidFill>
                  <a:schemeClr val="accent3"/>
                </a:solidFill>
                <a:latin typeface="Courier New" panose="02070309020205020404" pitchFamily="49" charset="0"/>
                <a:cs typeface="Courier New" panose="02070309020205020404" pitchFamily="49" charset="0"/>
              </a:rPr>
              <a:t>char</a:t>
            </a:r>
            <a:r>
              <a:rPr lang="en-CA" sz="1400" dirty="0">
                <a:solidFill>
                  <a:schemeClr val="accent6">
                    <a:lumMod val="75000"/>
                  </a:schemeClr>
                </a:solidFill>
                <a:latin typeface="Courier New" panose="02070309020205020404" pitchFamily="49" charset="0"/>
                <a:cs typeface="Courier New" panose="02070309020205020404" pitchFamily="49" charset="0"/>
              </a:rPr>
              <a:t> * &amp; </a:t>
            </a:r>
            <a:r>
              <a:rPr lang="en-CA" sz="1400" dirty="0" err="1">
                <a:solidFill>
                  <a:schemeClr val="accent6">
                    <a:lumMod val="75000"/>
                  </a:schemeClr>
                </a:solidFill>
                <a:latin typeface="Courier New" panose="02070309020205020404" pitchFamily="49" charset="0"/>
                <a:cs typeface="Courier New" panose="02070309020205020404" pitchFamily="49" charset="0"/>
              </a:rPr>
              <a:t>buf</a:t>
            </a:r>
            <a:r>
              <a:rPr lang="en-CA" sz="1400" dirty="0">
                <a:solidFill>
                  <a:schemeClr val="accent6">
                    <a:lumMod val="75000"/>
                  </a:schemeClr>
                </a:solidFill>
                <a:latin typeface="Courier New" panose="02070309020205020404" pitchFamily="49" charset="0"/>
                <a:cs typeface="Courier New" panose="02070309020205020404" pitchFamily="49" charset="0"/>
              </a:rPr>
              <a:t>, </a:t>
            </a:r>
            <a:r>
              <a:rPr lang="en-CA" sz="1400" dirty="0">
                <a:solidFill>
                  <a:schemeClr val="accent3"/>
                </a:solidFill>
                <a:latin typeface="Courier New" panose="02070309020205020404" pitchFamily="49" charset="0"/>
                <a:cs typeface="Courier New" panose="02070309020205020404" pitchFamily="49" charset="0"/>
              </a:rPr>
              <a:t>unsigned</a:t>
            </a:r>
            <a:r>
              <a:rPr lang="en-CA" sz="1400" dirty="0">
                <a:solidFill>
                  <a:schemeClr val="accent6">
                    <a:lumMod val="75000"/>
                  </a:schemeClr>
                </a:solidFill>
                <a:latin typeface="Courier New" panose="02070309020205020404" pitchFamily="49" charset="0"/>
                <a:cs typeface="Courier New" panose="02070309020205020404" pitchFamily="49" charset="0"/>
              </a:rPr>
              <a:t> &amp; </a:t>
            </a:r>
            <a:r>
              <a:rPr lang="en-CA" sz="1400" dirty="0" err="1">
                <a:solidFill>
                  <a:schemeClr val="accent6">
                    <a:lumMod val="75000"/>
                  </a:schemeClr>
                </a:solidFill>
                <a:latin typeface="Courier New" panose="02070309020205020404" pitchFamily="49" charset="0"/>
                <a:cs typeface="Courier New" panose="02070309020205020404" pitchFamily="49" charset="0"/>
              </a:rPr>
              <a:t>len</a:t>
            </a:r>
            <a:r>
              <a:rPr lang="en-CA" sz="1400" dirty="0">
                <a:solidFill>
                  <a:schemeClr val="accent6">
                    <a:lumMod val="75000"/>
                  </a:schemeClr>
                </a:solidFill>
                <a:latin typeface="Courier New" panose="02070309020205020404" pitchFamily="49" charset="0"/>
                <a:cs typeface="Courier New" panose="02070309020205020404" pitchFamily="49" charset="0"/>
              </a:rPr>
              <a:t>) {</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a:t>
            </a:r>
            <a:r>
              <a:rPr lang="en-CA" sz="1400" dirty="0" err="1">
                <a:solidFill>
                  <a:schemeClr val="accent3"/>
                </a:solidFill>
                <a:latin typeface="Courier New" panose="02070309020205020404" pitchFamily="49" charset="0"/>
                <a:cs typeface="Courier New" panose="02070309020205020404" pitchFamily="49" charset="0"/>
              </a:rPr>
              <a:t>int</a:t>
            </a:r>
            <a:r>
              <a:rPr lang="en-CA" sz="1400" dirty="0">
                <a:solidFill>
                  <a:schemeClr val="accent6">
                    <a:lumMod val="75000"/>
                  </a:schemeClr>
                </a:solidFill>
                <a:latin typeface="Courier New" panose="02070309020205020404" pitchFamily="49" charset="0"/>
                <a:cs typeface="Courier New" panose="02070309020205020404" pitchFamily="49" charset="0"/>
              </a:rPr>
              <a:t> ret = </a:t>
            </a:r>
            <a:r>
              <a:rPr lang="en-CA" sz="1400" dirty="0" err="1">
                <a:solidFill>
                  <a:schemeClr val="accent6">
                    <a:lumMod val="75000"/>
                  </a:schemeClr>
                </a:solidFill>
                <a:latin typeface="Courier New" panose="02070309020205020404" pitchFamily="49" charset="0"/>
                <a:cs typeface="Courier New" panose="02070309020205020404" pitchFamily="49" charset="0"/>
              </a:rPr>
              <a:t>s_blocks_count.parse</a:t>
            </a:r>
            <a:r>
              <a:rPr lang="en-CA" sz="1400" dirty="0">
                <a:solidFill>
                  <a:schemeClr val="accent6">
                    <a:lumMod val="75000"/>
                  </a:schemeClr>
                </a:solidFill>
                <a:latin typeface="Courier New" panose="02070309020205020404" pitchFamily="49" charset="0"/>
                <a:cs typeface="Courier New" panose="02070309020205020404" pitchFamily="49" charset="0"/>
              </a:rPr>
              <a:t>(</a:t>
            </a:r>
            <a:r>
              <a:rPr lang="en-CA" sz="1400" dirty="0" err="1">
                <a:solidFill>
                  <a:schemeClr val="accent6">
                    <a:lumMod val="75000"/>
                  </a:schemeClr>
                </a:solidFill>
                <a:latin typeface="Courier New" panose="02070309020205020404" pitchFamily="49" charset="0"/>
                <a:cs typeface="Courier New" panose="02070309020205020404" pitchFamily="49" charset="0"/>
              </a:rPr>
              <a:t>buf</a:t>
            </a:r>
            <a:r>
              <a:rPr lang="en-CA" sz="1400" dirty="0">
                <a:solidFill>
                  <a:schemeClr val="accent6">
                    <a:lumMod val="75000"/>
                  </a:schemeClr>
                </a:solidFill>
                <a:latin typeface="Courier New" panose="02070309020205020404" pitchFamily="49" charset="0"/>
                <a:cs typeface="Courier New" panose="02070309020205020404" pitchFamily="49" charset="0"/>
              </a:rPr>
              <a:t>, </a:t>
            </a:r>
            <a:r>
              <a:rPr lang="en-CA" sz="1400" dirty="0" err="1">
                <a:solidFill>
                  <a:schemeClr val="accent6">
                    <a:lumMod val="75000"/>
                  </a:schemeClr>
                </a:solidFill>
                <a:latin typeface="Courier New" panose="02070309020205020404" pitchFamily="49" charset="0"/>
                <a:cs typeface="Courier New" panose="02070309020205020404" pitchFamily="49" charset="0"/>
              </a:rPr>
              <a:t>len</a:t>
            </a:r>
            <a:r>
              <a:rPr lang="en-CA" sz="1400" dirty="0">
                <a:solidFill>
                  <a:schemeClr val="accent6">
                    <a:lumMod val="75000"/>
                  </a:schemeClr>
                </a:solidFill>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if (ret &lt; </a:t>
            </a:r>
            <a:r>
              <a:rPr lang="en-CA" sz="1400" dirty="0">
                <a:solidFill>
                  <a:srgbClr val="0070C0"/>
                </a:solidFill>
                <a:latin typeface="Courier New" panose="02070309020205020404" pitchFamily="49" charset="0"/>
                <a:cs typeface="Courier New" panose="02070309020205020404" pitchFamily="49" charset="0"/>
              </a:rPr>
              <a:t>0</a:t>
            </a:r>
            <a:r>
              <a:rPr lang="en-CA" sz="1400" dirty="0">
                <a:solidFill>
                  <a:schemeClr val="accent6">
                    <a:lumMod val="75000"/>
                  </a:schemeClr>
                </a:solidFill>
                <a:latin typeface="Courier New" panose="02070309020205020404" pitchFamily="49" charset="0"/>
                <a:cs typeface="Courier New" panose="02070309020205020404" pitchFamily="49" charset="0"/>
              </a:rPr>
              <a:t>) return ret;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ret = </a:t>
            </a:r>
            <a:r>
              <a:rPr lang="en-CA" sz="1400" dirty="0" err="1">
                <a:solidFill>
                  <a:schemeClr val="accent6">
                    <a:lumMod val="75000"/>
                  </a:schemeClr>
                </a:solidFill>
                <a:latin typeface="Courier New" panose="02070309020205020404" pitchFamily="49" charset="0"/>
                <a:cs typeface="Courier New" panose="02070309020205020404" pitchFamily="49" charset="0"/>
              </a:rPr>
              <a:t>s_log_block_size.parse</a:t>
            </a:r>
            <a:r>
              <a:rPr lang="en-CA" sz="1400" dirty="0">
                <a:solidFill>
                  <a:schemeClr val="accent6">
                    <a:lumMod val="75000"/>
                  </a:schemeClr>
                </a:solidFill>
                <a:latin typeface="Courier New" panose="02070309020205020404" pitchFamily="49" charset="0"/>
                <a:cs typeface="Courier New" panose="02070309020205020404" pitchFamily="49" charset="0"/>
              </a:rPr>
              <a:t>(</a:t>
            </a:r>
            <a:r>
              <a:rPr lang="en-CA" sz="1400" dirty="0" err="1">
                <a:solidFill>
                  <a:schemeClr val="accent6">
                    <a:lumMod val="75000"/>
                  </a:schemeClr>
                </a:solidFill>
                <a:latin typeface="Courier New" panose="02070309020205020404" pitchFamily="49" charset="0"/>
                <a:cs typeface="Courier New" panose="02070309020205020404" pitchFamily="49" charset="0"/>
              </a:rPr>
              <a:t>buf</a:t>
            </a:r>
            <a:r>
              <a:rPr lang="en-CA" sz="1400" dirty="0">
                <a:solidFill>
                  <a:schemeClr val="accent6">
                    <a:lumMod val="75000"/>
                  </a:schemeClr>
                </a:solidFill>
                <a:latin typeface="Courier New" panose="02070309020205020404" pitchFamily="49" charset="0"/>
                <a:cs typeface="Courier New" panose="02070309020205020404" pitchFamily="49" charset="0"/>
              </a:rPr>
              <a:t>, </a:t>
            </a:r>
            <a:r>
              <a:rPr lang="en-CA" sz="1400" dirty="0" err="1">
                <a:solidFill>
                  <a:schemeClr val="accent6">
                    <a:lumMod val="75000"/>
                  </a:schemeClr>
                </a:solidFill>
                <a:latin typeface="Courier New" panose="02070309020205020404" pitchFamily="49" charset="0"/>
                <a:cs typeface="Courier New" panose="02070309020205020404" pitchFamily="49" charset="0"/>
              </a:rPr>
              <a:t>len</a:t>
            </a:r>
            <a:r>
              <a:rPr lang="en-CA" sz="1400" dirty="0">
                <a:solidFill>
                  <a:schemeClr val="accent6">
                    <a:lumMod val="75000"/>
                  </a:schemeClr>
                </a:solidFill>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if (ret &lt; </a:t>
            </a:r>
            <a:r>
              <a:rPr lang="en-CA" sz="1400" dirty="0">
                <a:solidFill>
                  <a:srgbClr val="0070C0"/>
                </a:solidFill>
                <a:latin typeface="Courier New" panose="02070309020205020404" pitchFamily="49" charset="0"/>
                <a:cs typeface="Courier New" panose="02070309020205020404" pitchFamily="49" charset="0"/>
              </a:rPr>
              <a:t>0</a:t>
            </a:r>
            <a:r>
              <a:rPr lang="en-CA" sz="1400" dirty="0">
                <a:solidFill>
                  <a:schemeClr val="accent6">
                    <a:lumMod val="75000"/>
                  </a:schemeClr>
                </a:solidFill>
                <a:latin typeface="Courier New" panose="02070309020205020404" pitchFamily="49" charset="0"/>
                <a:cs typeface="Courier New" panose="02070309020205020404" pitchFamily="49" charset="0"/>
              </a:rPr>
              <a:t>) return ret;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a:t>
            </a:r>
            <a:r>
              <a:rPr lang="en-CA" sz="1400" dirty="0" smtClean="0">
                <a:solidFill>
                  <a:schemeClr val="accent6">
                    <a:lumMod val="75000"/>
                  </a:schemeClr>
                </a:solidFill>
                <a:latin typeface="Courier New" panose="02070309020205020404" pitchFamily="49" charset="0"/>
                <a:cs typeface="Courier New" panose="02070309020205020404" pitchFamily="49" charset="0"/>
              </a:rPr>
              <a:t>…</a:t>
            </a:r>
            <a:endParaRPr lang="en-CA" sz="1400" dirty="0">
              <a:solidFill>
                <a:schemeClr val="accent6">
                  <a:lumMod val="75000"/>
                </a:schemeClr>
              </a:solidFill>
              <a:latin typeface="Courier New" panose="02070309020205020404" pitchFamily="49" charset="0"/>
              <a:cs typeface="Courier New" panose="02070309020205020404" pitchFamily="49" charset="0"/>
            </a:endParaRP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ret = </a:t>
            </a:r>
            <a:r>
              <a:rPr lang="en-CA" sz="1400" dirty="0" err="1">
                <a:solidFill>
                  <a:schemeClr val="accent6">
                    <a:lumMod val="75000"/>
                  </a:schemeClr>
                </a:solidFill>
                <a:latin typeface="Courier New" panose="02070309020205020404" pitchFamily="49" charset="0"/>
                <a:cs typeface="Courier New" panose="02070309020205020404" pitchFamily="49" charset="0"/>
              </a:rPr>
              <a:t>s_creator_os.parse</a:t>
            </a:r>
            <a:r>
              <a:rPr lang="en-CA" sz="1400" dirty="0">
                <a:solidFill>
                  <a:schemeClr val="accent6">
                    <a:lumMod val="75000"/>
                  </a:schemeClr>
                </a:solidFill>
                <a:latin typeface="Courier New" panose="02070309020205020404" pitchFamily="49" charset="0"/>
                <a:cs typeface="Courier New" panose="02070309020205020404" pitchFamily="49" charset="0"/>
              </a:rPr>
              <a:t>(</a:t>
            </a:r>
            <a:r>
              <a:rPr lang="en-CA" sz="1400" dirty="0" err="1">
                <a:solidFill>
                  <a:schemeClr val="accent6">
                    <a:lumMod val="75000"/>
                  </a:schemeClr>
                </a:solidFill>
                <a:latin typeface="Courier New" panose="02070309020205020404" pitchFamily="49" charset="0"/>
                <a:cs typeface="Courier New" panose="02070309020205020404" pitchFamily="49" charset="0"/>
              </a:rPr>
              <a:t>buf</a:t>
            </a:r>
            <a:r>
              <a:rPr lang="en-CA" sz="1400" dirty="0">
                <a:solidFill>
                  <a:schemeClr val="accent6">
                    <a:lumMod val="75000"/>
                  </a:schemeClr>
                </a:solidFill>
                <a:latin typeface="Courier New" panose="02070309020205020404" pitchFamily="49" charset="0"/>
                <a:cs typeface="Courier New" panose="02070309020205020404" pitchFamily="49" charset="0"/>
              </a:rPr>
              <a:t>, </a:t>
            </a:r>
            <a:r>
              <a:rPr lang="en-CA" sz="1400" dirty="0" err="1">
                <a:solidFill>
                  <a:schemeClr val="accent6">
                    <a:lumMod val="75000"/>
                  </a:schemeClr>
                </a:solidFill>
                <a:latin typeface="Courier New" panose="02070309020205020404" pitchFamily="49" charset="0"/>
                <a:cs typeface="Courier New" panose="02070309020205020404" pitchFamily="49" charset="0"/>
              </a:rPr>
              <a:t>len</a:t>
            </a:r>
            <a:r>
              <a:rPr lang="en-CA" sz="1400" dirty="0">
                <a:solidFill>
                  <a:schemeClr val="accent6">
                    <a:lumMod val="75000"/>
                  </a:schemeClr>
                </a:solidFill>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if (ret &lt; </a:t>
            </a:r>
            <a:r>
              <a:rPr lang="en-CA" sz="1400" dirty="0">
                <a:solidFill>
                  <a:srgbClr val="0070C0"/>
                </a:solidFill>
                <a:latin typeface="Courier New" panose="02070309020205020404" pitchFamily="49" charset="0"/>
                <a:cs typeface="Courier New" panose="02070309020205020404" pitchFamily="49" charset="0"/>
              </a:rPr>
              <a:t>0</a:t>
            </a:r>
            <a:r>
              <a:rPr lang="en-CA" sz="1400" dirty="0">
                <a:solidFill>
                  <a:schemeClr val="accent6">
                    <a:lumMod val="75000"/>
                  </a:schemeClr>
                </a:solidFill>
                <a:latin typeface="Courier New" panose="02070309020205020404" pitchFamily="49" charset="0"/>
                <a:cs typeface="Courier New" panose="02070309020205020404" pitchFamily="49" charset="0"/>
              </a:rPr>
              <a:t>) return ret;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ret = </a:t>
            </a:r>
            <a:r>
              <a:rPr lang="en-CA" sz="1400" dirty="0" err="1">
                <a:solidFill>
                  <a:schemeClr val="accent6">
                    <a:lumMod val="75000"/>
                  </a:schemeClr>
                </a:solidFill>
                <a:latin typeface="Courier New" panose="02070309020205020404" pitchFamily="49" charset="0"/>
                <a:cs typeface="Courier New" panose="02070309020205020404" pitchFamily="49" charset="0"/>
              </a:rPr>
              <a:t>s_block_group_desc.parse</a:t>
            </a:r>
            <a:r>
              <a:rPr lang="en-CA" sz="1400" dirty="0">
                <a:solidFill>
                  <a:schemeClr val="accent6">
                    <a:lumMod val="75000"/>
                  </a:schemeClr>
                </a:solidFill>
                <a:latin typeface="Courier New" panose="02070309020205020404" pitchFamily="49" charset="0"/>
                <a:cs typeface="Courier New" panose="02070309020205020404" pitchFamily="49" charset="0"/>
              </a:rPr>
              <a:t>(</a:t>
            </a:r>
            <a:r>
              <a:rPr lang="en-CA" sz="1400" dirty="0" err="1">
                <a:solidFill>
                  <a:schemeClr val="accent6">
                    <a:lumMod val="75000"/>
                  </a:schemeClr>
                </a:solidFill>
                <a:latin typeface="Courier New" panose="02070309020205020404" pitchFamily="49" charset="0"/>
                <a:cs typeface="Courier New" panose="02070309020205020404" pitchFamily="49" charset="0"/>
              </a:rPr>
              <a:t>buf</a:t>
            </a:r>
            <a:r>
              <a:rPr lang="en-CA" sz="1400" dirty="0">
                <a:solidFill>
                  <a:schemeClr val="accent6">
                    <a:lumMod val="75000"/>
                  </a:schemeClr>
                </a:solidFill>
                <a:latin typeface="Courier New" panose="02070309020205020404" pitchFamily="49" charset="0"/>
                <a:cs typeface="Courier New" panose="02070309020205020404" pitchFamily="49" charset="0"/>
              </a:rPr>
              <a:t>, </a:t>
            </a:r>
            <a:r>
              <a:rPr lang="en-CA" sz="1400" dirty="0" err="1">
                <a:solidFill>
                  <a:schemeClr val="accent6">
                    <a:lumMod val="75000"/>
                  </a:schemeClr>
                </a:solidFill>
                <a:latin typeface="Courier New" panose="02070309020205020404" pitchFamily="49" charset="0"/>
                <a:cs typeface="Courier New" panose="02070309020205020404" pitchFamily="49" charset="0"/>
              </a:rPr>
              <a:t>len</a:t>
            </a:r>
            <a:r>
              <a:rPr lang="en-CA" sz="1400" dirty="0">
                <a:solidFill>
                  <a:schemeClr val="accent6">
                    <a:lumMod val="75000"/>
                  </a:schemeClr>
                </a:solidFill>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if (ret &lt; </a:t>
            </a:r>
            <a:r>
              <a:rPr lang="en-CA" sz="1400" dirty="0">
                <a:solidFill>
                  <a:srgbClr val="0070C0"/>
                </a:solidFill>
                <a:latin typeface="Courier New" panose="02070309020205020404" pitchFamily="49" charset="0"/>
                <a:cs typeface="Courier New" panose="02070309020205020404" pitchFamily="49" charset="0"/>
              </a:rPr>
              <a:t>0</a:t>
            </a:r>
            <a:r>
              <a:rPr lang="en-CA" sz="1400" dirty="0">
                <a:solidFill>
                  <a:schemeClr val="accent6">
                    <a:lumMod val="75000"/>
                  </a:schemeClr>
                </a:solidFill>
                <a:latin typeface="Courier New" panose="02070309020205020404" pitchFamily="49" charset="0"/>
                <a:cs typeface="Courier New" panose="02070309020205020404" pitchFamily="49" charset="0"/>
              </a:rPr>
              <a:t>) return ret;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if (!(this-&gt;</a:t>
            </a:r>
            <a:r>
              <a:rPr lang="en-CA" sz="1400" dirty="0" err="1">
                <a:solidFill>
                  <a:schemeClr val="accent6">
                    <a:lumMod val="75000"/>
                  </a:schemeClr>
                </a:solidFill>
                <a:latin typeface="Courier New" panose="02070309020205020404" pitchFamily="49" charset="0"/>
                <a:cs typeface="Courier New" panose="02070309020205020404" pitchFamily="49" charset="0"/>
              </a:rPr>
              <a:t>s_log_block_size</a:t>
            </a:r>
            <a:r>
              <a:rPr lang="en-CA" sz="1400" dirty="0">
                <a:solidFill>
                  <a:schemeClr val="accent6">
                    <a:lumMod val="75000"/>
                  </a:schemeClr>
                </a:solidFill>
                <a:latin typeface="Courier New" panose="02070309020205020404" pitchFamily="49" charset="0"/>
                <a:cs typeface="Courier New" panose="02070309020205020404" pitchFamily="49" charset="0"/>
              </a:rPr>
              <a:t> &lt;= </a:t>
            </a:r>
            <a:r>
              <a:rPr lang="en-CA" sz="1400" dirty="0">
                <a:solidFill>
                  <a:srgbClr val="0070C0"/>
                </a:solidFill>
                <a:latin typeface="Courier New" panose="02070309020205020404" pitchFamily="49" charset="0"/>
                <a:cs typeface="Courier New" panose="02070309020205020404" pitchFamily="49" charset="0"/>
              </a:rPr>
              <a:t>6</a:t>
            </a:r>
            <a:r>
              <a:rPr lang="en-CA" sz="1400" dirty="0">
                <a:solidFill>
                  <a:schemeClr val="accent6">
                    <a:lumMod val="75000"/>
                  </a:schemeClr>
                </a:solidFill>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return ERR_CORRUPT;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if (!(this-&gt;</a:t>
            </a:r>
            <a:r>
              <a:rPr lang="en-CA" sz="1400" dirty="0" err="1">
                <a:solidFill>
                  <a:schemeClr val="accent6">
                    <a:lumMod val="75000"/>
                  </a:schemeClr>
                </a:solidFill>
                <a:latin typeface="Courier New" panose="02070309020205020404" pitchFamily="49" charset="0"/>
                <a:cs typeface="Courier New" panose="02070309020205020404" pitchFamily="49" charset="0"/>
              </a:rPr>
              <a:t>s_magic</a:t>
            </a:r>
            <a:r>
              <a:rPr lang="en-CA" sz="1400" dirty="0">
                <a:solidFill>
                  <a:schemeClr val="accent6">
                    <a:lumMod val="75000"/>
                  </a:schemeClr>
                </a:solidFill>
                <a:latin typeface="Courier New" panose="02070309020205020404" pitchFamily="49" charset="0"/>
                <a:cs typeface="Courier New" panose="02070309020205020404" pitchFamily="49" charset="0"/>
              </a:rPr>
              <a:t> == </a:t>
            </a:r>
            <a:r>
              <a:rPr lang="en-CA" sz="1400" dirty="0">
                <a:solidFill>
                  <a:srgbClr val="0070C0"/>
                </a:solidFill>
                <a:latin typeface="Courier New" panose="02070309020205020404" pitchFamily="49" charset="0"/>
                <a:cs typeface="Courier New" panose="02070309020205020404" pitchFamily="49" charset="0"/>
              </a:rPr>
              <a:t>0xef53</a:t>
            </a:r>
            <a:r>
              <a:rPr lang="en-CA" sz="1400" dirty="0">
                <a:solidFill>
                  <a:schemeClr val="accent6">
                    <a:lumMod val="75000"/>
                  </a:schemeClr>
                </a:solidFill>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return ERR_CORRUPT;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return </a:t>
            </a:r>
            <a:r>
              <a:rPr lang="en-CA" sz="1400" dirty="0">
                <a:solidFill>
                  <a:srgbClr val="00B0F0"/>
                </a:solidFill>
                <a:latin typeface="Courier New" panose="02070309020205020404" pitchFamily="49" charset="0"/>
                <a:cs typeface="Courier New" panose="02070309020205020404" pitchFamily="49" charset="0"/>
              </a:rPr>
              <a:t>0</a:t>
            </a:r>
            <a:r>
              <a:rPr lang="en-CA" sz="1400" dirty="0">
                <a:solidFill>
                  <a:schemeClr val="accent6">
                    <a:lumMod val="75000"/>
                  </a:schemeClr>
                </a:solidFill>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a:t>
            </a:r>
          </a:p>
        </p:txBody>
      </p:sp>
      <p:sp>
        <p:nvSpPr>
          <p:cNvPr id="10" name="Content Placeholder 6"/>
          <p:cNvSpPr txBox="1">
            <a:spLocks noGrp="1"/>
          </p:cNvSpPr>
          <p:nvPr>
            <p:ph sz="half" idx="2"/>
          </p:nvPr>
        </p:nvSpPr>
        <p:spPr>
          <a:xfrm>
            <a:off x="684211" y="2100086"/>
            <a:ext cx="5070740" cy="4072114"/>
          </a:xfrm>
          <a:prstGeom prst="rect">
            <a:avLst/>
          </a:prstGeom>
        </p:spPr>
        <p:txBody>
          <a:bodyPr vert="horz" lIns="91440" tIns="45720" rIns="91440" bIns="45720" rtlCol="0" anchor="t">
            <a:no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pPr marL="0" indent="0">
              <a:lnSpc>
                <a:spcPts val="2000"/>
              </a:lnSpc>
              <a:spcBef>
                <a:spcPts val="0"/>
              </a:spcBef>
              <a:spcAft>
                <a:spcPts val="0"/>
              </a:spcAft>
              <a:buNone/>
            </a:pPr>
            <a:r>
              <a:rPr lang="en-CA" sz="1400" b="1" dirty="0">
                <a:solidFill>
                  <a:schemeClr val="accent6">
                    <a:lumMod val="75000"/>
                  </a:schemeClr>
                </a:solidFill>
                <a:latin typeface="Courier New" panose="02070309020205020404" pitchFamily="49" charset="0"/>
                <a:cs typeface="Courier New" panose="02070309020205020404" pitchFamily="49" charset="0"/>
              </a:rPr>
              <a:t>FSSUPER</a:t>
            </a:r>
            <a:r>
              <a:rPr lang="en-CA" sz="1400" dirty="0">
                <a:solidFill>
                  <a:schemeClr val="accent6">
                    <a:lumMod val="75000"/>
                  </a:schemeClr>
                </a:solidFill>
                <a:latin typeface="Courier New" panose="02070309020205020404" pitchFamily="49" charset="0"/>
                <a:cs typeface="Courier New" panose="02070309020205020404" pitchFamily="49" charset="0"/>
              </a:rPr>
              <a:t>(</a:t>
            </a:r>
            <a:r>
              <a:rPr lang="en-CA" sz="1400" dirty="0">
                <a:solidFill>
                  <a:schemeClr val="accent3"/>
                </a:solidFill>
                <a:latin typeface="Courier New" panose="02070309020205020404" pitchFamily="49" charset="0"/>
                <a:cs typeface="Courier New" panose="02070309020205020404" pitchFamily="49" charset="0"/>
              </a:rPr>
              <a:t>location</a:t>
            </a:r>
            <a:r>
              <a:rPr lang="en-CA" sz="1400" dirty="0">
                <a:solidFill>
                  <a:schemeClr val="accent6">
                    <a:lumMod val="75000"/>
                  </a:schemeClr>
                </a:solidFill>
                <a:latin typeface="Courier New" panose="02070309020205020404" pitchFamily="49" charset="0"/>
                <a:cs typeface="Courier New" panose="02070309020205020404" pitchFamily="49" charset="0"/>
              </a:rPr>
              <a:t>=</a:t>
            </a:r>
            <a:r>
              <a:rPr lang="en-CA" sz="1400" dirty="0">
                <a:solidFill>
                  <a:srgbClr val="0070C0"/>
                </a:solidFill>
                <a:latin typeface="Courier New" panose="02070309020205020404" pitchFamily="49" charset="0"/>
                <a:cs typeface="Courier New" panose="02070309020205020404" pitchFamily="49" charset="0"/>
              </a:rPr>
              <a:t>1024</a:t>
            </a:r>
            <a:r>
              <a:rPr lang="en-CA" sz="1400" dirty="0">
                <a:solidFill>
                  <a:schemeClr val="accent6">
                    <a:lumMod val="75000"/>
                  </a:schemeClr>
                </a:solidFill>
                <a:latin typeface="Courier New" panose="02070309020205020404" pitchFamily="49" charset="0"/>
                <a:cs typeface="Courier New" panose="02070309020205020404" pitchFamily="49" charset="0"/>
              </a:rPr>
              <a:t>) </a:t>
            </a:r>
            <a:r>
              <a:rPr lang="en-CA" sz="1400" dirty="0" smtClean="0">
                <a:solidFill>
                  <a:schemeClr val="accent6">
                    <a:lumMod val="75000"/>
                  </a:schemeClr>
                </a:solidFill>
                <a:latin typeface="Courier New" panose="02070309020205020404" pitchFamily="49" charset="0"/>
                <a:cs typeface="Courier New" panose="02070309020205020404" pitchFamily="49" charset="0"/>
              </a:rPr>
              <a:t>ext4_super_block </a:t>
            </a:r>
            <a:r>
              <a:rPr lang="en-CA" sz="1400" dirty="0">
                <a:solidFill>
                  <a:schemeClr val="accent6">
                    <a:lumMod val="75000"/>
                  </a:schemeClr>
                </a:solidFill>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__le32	</a:t>
            </a:r>
            <a:r>
              <a:rPr lang="en-CA" sz="1400" dirty="0" err="1">
                <a:solidFill>
                  <a:schemeClr val="accent6">
                    <a:lumMod val="75000"/>
                  </a:schemeClr>
                </a:solidFill>
                <a:latin typeface="Courier New" panose="02070309020205020404" pitchFamily="49" charset="0"/>
                <a:cs typeface="Courier New" panose="02070309020205020404" pitchFamily="49" charset="0"/>
              </a:rPr>
              <a:t>s_blocks_count</a:t>
            </a:r>
            <a:r>
              <a:rPr lang="en-CA" sz="1400" dirty="0">
                <a:solidFill>
                  <a:schemeClr val="accent6">
                    <a:lumMod val="75000"/>
                  </a:schemeClr>
                </a:solidFill>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__le32	</a:t>
            </a:r>
            <a:r>
              <a:rPr lang="en-CA" sz="1400" dirty="0" err="1">
                <a:solidFill>
                  <a:schemeClr val="accent6">
                    <a:lumMod val="75000"/>
                  </a:schemeClr>
                </a:solidFill>
                <a:latin typeface="Courier New" panose="02070309020205020404" pitchFamily="49" charset="0"/>
                <a:cs typeface="Courier New" panose="02070309020205020404" pitchFamily="49" charset="0"/>
              </a:rPr>
              <a:t>s_log_block_size</a:t>
            </a:r>
            <a:r>
              <a:rPr lang="en-CA" sz="1400" dirty="0">
                <a:solidFill>
                  <a:schemeClr val="accent6">
                    <a:lumMod val="75000"/>
                  </a:schemeClr>
                </a:solidFill>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__le32	</a:t>
            </a:r>
            <a:r>
              <a:rPr lang="en-CA" sz="1400" dirty="0" err="1">
                <a:solidFill>
                  <a:schemeClr val="accent6">
                    <a:lumMod val="75000"/>
                  </a:schemeClr>
                </a:solidFill>
                <a:latin typeface="Courier New" panose="02070309020205020404" pitchFamily="49" charset="0"/>
                <a:cs typeface="Courier New" panose="02070309020205020404" pitchFamily="49" charset="0"/>
              </a:rPr>
              <a:t>s_blocks_per_group</a:t>
            </a:r>
            <a:r>
              <a:rPr lang="en-CA" sz="1400" dirty="0" smtClean="0">
                <a:solidFill>
                  <a:schemeClr val="accent6">
                    <a:lumMod val="75000"/>
                  </a:schemeClr>
                </a:solidFill>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a:t>
            </a:r>
            <a:r>
              <a:rPr lang="en-CA" sz="1400" dirty="0" smtClean="0">
                <a:solidFill>
                  <a:schemeClr val="accent6">
                    <a:lumMod val="75000"/>
                  </a:schemeClr>
                </a:solidFill>
                <a:latin typeface="Courier New" panose="02070309020205020404" pitchFamily="49" charset="0"/>
                <a:cs typeface="Courier New" panose="02070309020205020404" pitchFamily="49" charset="0"/>
              </a:rPr>
              <a:t> …</a:t>
            </a:r>
            <a:endParaRPr lang="en-CA" sz="1400" dirty="0">
              <a:solidFill>
                <a:schemeClr val="accent6">
                  <a:lumMod val="75000"/>
                </a:schemeClr>
              </a:solidFill>
              <a:latin typeface="Courier New" panose="02070309020205020404" pitchFamily="49" charset="0"/>
              <a:cs typeface="Courier New" panose="02070309020205020404" pitchFamily="49" charset="0"/>
            </a:endParaRPr>
          </a:p>
          <a:p>
            <a:pPr marL="0" indent="0">
              <a:lnSpc>
                <a:spcPts val="2000"/>
              </a:lnSpc>
              <a:spcBef>
                <a:spcPts val="0"/>
              </a:spcBef>
              <a:spcAft>
                <a:spcPts val="0"/>
              </a:spcAft>
              <a:buNone/>
            </a:pPr>
            <a:r>
              <a:rPr lang="en-CA" sz="1400" dirty="0" smtClean="0">
                <a:solidFill>
                  <a:schemeClr val="accent6">
                    <a:lumMod val="75000"/>
                  </a:schemeClr>
                </a:solidFill>
                <a:latin typeface="Courier New" panose="02070309020205020404" pitchFamily="49" charset="0"/>
                <a:cs typeface="Courier New" panose="02070309020205020404" pitchFamily="49" charset="0"/>
              </a:rPr>
              <a:t>  __</a:t>
            </a:r>
            <a:r>
              <a:rPr lang="en-CA" sz="1400" dirty="0">
                <a:solidFill>
                  <a:schemeClr val="accent6">
                    <a:lumMod val="75000"/>
                  </a:schemeClr>
                </a:solidFill>
                <a:latin typeface="Courier New" panose="02070309020205020404" pitchFamily="49" charset="0"/>
                <a:cs typeface="Courier New" panose="02070309020205020404" pitchFamily="49" charset="0"/>
              </a:rPr>
              <a:t>le16	</a:t>
            </a:r>
            <a:r>
              <a:rPr lang="en-CA" sz="1400" dirty="0" err="1">
                <a:solidFill>
                  <a:schemeClr val="accent6">
                    <a:lumMod val="75000"/>
                  </a:schemeClr>
                </a:solidFill>
                <a:latin typeface="Courier New" panose="02070309020205020404" pitchFamily="49" charset="0"/>
                <a:cs typeface="Courier New" panose="02070309020205020404" pitchFamily="49" charset="0"/>
              </a:rPr>
              <a:t>s_magic</a:t>
            </a:r>
            <a:r>
              <a:rPr lang="en-CA" sz="1400" dirty="0">
                <a:solidFill>
                  <a:schemeClr val="accent6">
                    <a:lumMod val="75000"/>
                  </a:schemeClr>
                </a:solidFill>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a:t>
            </a:r>
            <a:r>
              <a:rPr lang="en-CA" sz="1400" b="1" dirty="0">
                <a:solidFill>
                  <a:schemeClr val="accent6">
                    <a:lumMod val="75000"/>
                  </a:schemeClr>
                </a:solidFill>
                <a:latin typeface="Courier New" panose="02070309020205020404" pitchFamily="49" charset="0"/>
                <a:cs typeface="Courier New" panose="02070309020205020404" pitchFamily="49" charset="0"/>
              </a:rPr>
              <a:t>FIELD</a:t>
            </a:r>
            <a:r>
              <a:rPr lang="en-CA" sz="1400" dirty="0">
                <a:solidFill>
                  <a:schemeClr val="accent6">
                    <a:lumMod val="75000"/>
                  </a:schemeClr>
                </a:solidFill>
                <a:latin typeface="Courier New" panose="02070309020205020404" pitchFamily="49" charset="0"/>
                <a:cs typeface="Courier New" panose="02070309020205020404" pitchFamily="49" charset="0"/>
              </a:rPr>
              <a:t>(</a:t>
            </a:r>
            <a:r>
              <a:rPr lang="en-CA" sz="1400" dirty="0">
                <a:solidFill>
                  <a:schemeClr val="accent3"/>
                </a:solidFill>
                <a:latin typeface="Courier New" panose="02070309020205020404" pitchFamily="49" charset="0"/>
                <a:cs typeface="Courier New" panose="02070309020205020404" pitchFamily="49" charset="0"/>
              </a:rPr>
              <a:t>type</a:t>
            </a:r>
            <a:r>
              <a:rPr lang="en-CA" sz="1400" dirty="0">
                <a:solidFill>
                  <a:schemeClr val="accent6">
                    <a:lumMod val="75000"/>
                  </a:schemeClr>
                </a:solidFill>
                <a:latin typeface="Courier New" panose="02070309020205020404" pitchFamily="49" charset="0"/>
                <a:cs typeface="Courier New" panose="02070309020205020404" pitchFamily="49" charset="0"/>
              </a:rPr>
              <a:t>=</a:t>
            </a:r>
            <a:r>
              <a:rPr lang="en-CA" sz="1400" dirty="0" err="1">
                <a:solidFill>
                  <a:schemeClr val="accent6">
                    <a:lumMod val="75000"/>
                  </a:schemeClr>
                </a:solidFill>
                <a:latin typeface="Courier New" panose="02070309020205020404" pitchFamily="49" charset="0"/>
                <a:cs typeface="Courier New" panose="02070309020205020404" pitchFamily="49" charset="0"/>
              </a:rPr>
              <a:t>enum</a:t>
            </a:r>
            <a:r>
              <a:rPr lang="en-CA" sz="1400" dirty="0">
                <a:solidFill>
                  <a:schemeClr val="accent6">
                    <a:lumMod val="75000"/>
                  </a:schemeClr>
                </a:solidFill>
                <a:latin typeface="Courier New" panose="02070309020205020404" pitchFamily="49" charset="0"/>
                <a:cs typeface="Courier New" panose="02070309020205020404" pitchFamily="49" charset="0"/>
              </a:rPr>
              <a:t> </a:t>
            </a:r>
            <a:r>
              <a:rPr lang="en-CA" sz="1400" dirty="0" smtClean="0">
                <a:solidFill>
                  <a:schemeClr val="accent6">
                    <a:lumMod val="75000"/>
                  </a:schemeClr>
                </a:solidFill>
                <a:latin typeface="Courier New" panose="02070309020205020404" pitchFamily="49" charset="0"/>
                <a:cs typeface="Courier New" panose="02070309020205020404" pitchFamily="49" charset="0"/>
              </a:rPr>
              <a:t>ext4_os</a:t>
            </a:r>
            <a:r>
              <a:rPr lang="en-CA" sz="1400" dirty="0">
                <a:solidFill>
                  <a:schemeClr val="accent6">
                    <a:lumMod val="75000"/>
                  </a:schemeClr>
                </a:solidFill>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__le32	</a:t>
            </a:r>
            <a:r>
              <a:rPr lang="en-CA" sz="1400" dirty="0" err="1">
                <a:solidFill>
                  <a:schemeClr val="accent6">
                    <a:lumMod val="75000"/>
                  </a:schemeClr>
                </a:solidFill>
                <a:latin typeface="Courier New" panose="02070309020205020404" pitchFamily="49" charset="0"/>
                <a:cs typeface="Courier New" panose="02070309020205020404" pitchFamily="49" charset="0"/>
              </a:rPr>
              <a:t>s_creator_os</a:t>
            </a:r>
            <a:r>
              <a:rPr lang="en-CA" sz="1400" dirty="0" smtClean="0">
                <a:solidFill>
                  <a:schemeClr val="accent6">
                    <a:lumMod val="75000"/>
                  </a:schemeClr>
                </a:solidFill>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a:t>
            </a:r>
            <a:r>
              <a:rPr lang="en-CA" sz="1400" dirty="0" smtClean="0">
                <a:solidFill>
                  <a:schemeClr val="accent6">
                    <a:lumMod val="75000"/>
                  </a:schemeClr>
                </a:solidFill>
                <a:latin typeface="Courier New" panose="02070309020205020404" pitchFamily="49" charset="0"/>
                <a:cs typeface="Courier New" panose="02070309020205020404" pitchFamily="49" charset="0"/>
              </a:rPr>
              <a:t> …</a:t>
            </a:r>
            <a:endParaRPr lang="en-CA" sz="1400" dirty="0">
              <a:solidFill>
                <a:schemeClr val="accent6">
                  <a:lumMod val="75000"/>
                </a:schemeClr>
              </a:solidFill>
              <a:latin typeface="Courier New" panose="02070309020205020404" pitchFamily="49" charset="0"/>
              <a:cs typeface="Courier New" panose="02070309020205020404" pitchFamily="49" charset="0"/>
            </a:endParaRPr>
          </a:p>
          <a:p>
            <a:pPr marL="0" indent="0">
              <a:lnSpc>
                <a:spcPts val="2000"/>
              </a:lnSpc>
              <a:spcBef>
                <a:spcPts val="0"/>
              </a:spcBef>
              <a:spcAft>
                <a:spcPts val="0"/>
              </a:spcAft>
              <a:buNone/>
            </a:pPr>
            <a:r>
              <a:rPr lang="en-CA" sz="1400" dirty="0" smtClean="0">
                <a:solidFill>
                  <a:schemeClr val="accent6">
                    <a:lumMod val="75000"/>
                  </a:schemeClr>
                </a:solidFill>
                <a:latin typeface="Courier New" panose="02070309020205020404" pitchFamily="49" charset="0"/>
                <a:cs typeface="Courier New" panose="02070309020205020404" pitchFamily="49" charset="0"/>
              </a:rPr>
              <a:t>  </a:t>
            </a:r>
            <a:r>
              <a:rPr lang="en-CA" sz="1400" b="1" dirty="0" smtClean="0">
                <a:solidFill>
                  <a:schemeClr val="accent6">
                    <a:lumMod val="75000"/>
                  </a:schemeClr>
                </a:solidFill>
                <a:latin typeface="Courier New" panose="02070309020205020404" pitchFamily="49" charset="0"/>
                <a:cs typeface="Courier New" panose="02070309020205020404" pitchFamily="49" charset="0"/>
              </a:rPr>
              <a:t>POINTER</a:t>
            </a:r>
            <a:r>
              <a:rPr lang="en-CA" sz="1400" dirty="0" smtClean="0">
                <a:solidFill>
                  <a:schemeClr val="accent6">
                    <a:lumMod val="75000"/>
                  </a:schemeClr>
                </a:solidFill>
                <a:latin typeface="Courier New" panose="02070309020205020404" pitchFamily="49" charset="0"/>
                <a:cs typeface="Courier New" panose="02070309020205020404" pitchFamily="49" charset="0"/>
              </a:rPr>
              <a:t>(</a:t>
            </a:r>
            <a:r>
              <a:rPr lang="en-CA" sz="1400" dirty="0" smtClean="0">
                <a:solidFill>
                  <a:schemeClr val="accent3"/>
                </a:solidFill>
                <a:latin typeface="Courier New" panose="02070309020205020404" pitchFamily="49" charset="0"/>
                <a:cs typeface="Courier New" panose="02070309020205020404" pitchFamily="49" charset="0"/>
              </a:rPr>
              <a:t>name</a:t>
            </a:r>
            <a:r>
              <a:rPr lang="en-CA" sz="1400" dirty="0" smtClean="0">
                <a:solidFill>
                  <a:schemeClr val="accent6">
                    <a:lumMod val="75000"/>
                  </a:schemeClr>
                </a:solidFill>
                <a:latin typeface="Courier New" panose="02070309020205020404" pitchFamily="49" charset="0"/>
                <a:cs typeface="Courier New" panose="02070309020205020404" pitchFamily="49" charset="0"/>
              </a:rPr>
              <a:t>=</a:t>
            </a:r>
            <a:r>
              <a:rPr lang="en-CA" sz="1400" dirty="0" err="1" smtClean="0">
                <a:solidFill>
                  <a:schemeClr val="accent6">
                    <a:lumMod val="75000"/>
                  </a:schemeClr>
                </a:solidFill>
                <a:latin typeface="Courier New" panose="02070309020205020404" pitchFamily="49" charset="0"/>
                <a:cs typeface="Courier New" panose="02070309020205020404" pitchFamily="49" charset="0"/>
              </a:rPr>
              <a:t>s_block_group_desc</a:t>
            </a:r>
            <a:r>
              <a:rPr lang="en-CA" sz="1400" dirty="0" smtClean="0">
                <a:solidFill>
                  <a:schemeClr val="accent6">
                    <a:lumMod val="75000"/>
                  </a:schemeClr>
                </a:solidFill>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a:t>
            </a:r>
            <a:r>
              <a:rPr lang="en-CA" sz="1400" dirty="0" smtClean="0">
                <a:solidFill>
                  <a:schemeClr val="accent6">
                    <a:lumMod val="75000"/>
                  </a:schemeClr>
                </a:solidFill>
                <a:latin typeface="Courier New" panose="02070309020205020404" pitchFamily="49" charset="0"/>
                <a:cs typeface="Courier New" panose="02070309020205020404" pitchFamily="49" charset="0"/>
              </a:rPr>
              <a:t> </a:t>
            </a:r>
            <a:r>
              <a:rPr lang="en-CA" sz="1400" dirty="0" smtClean="0">
                <a:solidFill>
                  <a:schemeClr val="accent3"/>
                </a:solidFill>
                <a:latin typeface="Courier New" panose="02070309020205020404" pitchFamily="49" charset="0"/>
                <a:cs typeface="Courier New" panose="02070309020205020404" pitchFamily="49" charset="0"/>
              </a:rPr>
              <a:t>type</a:t>
            </a:r>
            <a:r>
              <a:rPr lang="en-CA" sz="1400" dirty="0" smtClean="0">
                <a:solidFill>
                  <a:schemeClr val="accent6">
                    <a:lumMod val="75000"/>
                  </a:schemeClr>
                </a:solidFill>
                <a:latin typeface="Courier New" panose="02070309020205020404" pitchFamily="49" charset="0"/>
                <a:cs typeface="Courier New" panose="02070309020205020404" pitchFamily="49" charset="0"/>
              </a:rPr>
              <a:t>=ext4_group_desc_table</a:t>
            </a:r>
            <a:r>
              <a:rPr lang="en-CA" sz="1400" dirty="0">
                <a:solidFill>
                  <a:schemeClr val="accent6">
                    <a:lumMod val="75000"/>
                  </a:schemeClr>
                </a:solidFill>
                <a:latin typeface="Courier New" panose="02070309020205020404" pitchFamily="49" charset="0"/>
                <a:cs typeface="Courier New" panose="02070309020205020404" pitchFamily="49" charset="0"/>
              </a:rPr>
              <a:t>, </a:t>
            </a:r>
            <a:r>
              <a:rPr lang="en-CA" sz="1400" dirty="0" err="1">
                <a:solidFill>
                  <a:schemeClr val="accent3"/>
                </a:solidFill>
                <a:latin typeface="Courier New" panose="02070309020205020404" pitchFamily="49" charset="0"/>
                <a:cs typeface="Courier New" panose="02070309020205020404" pitchFamily="49" charset="0"/>
              </a:rPr>
              <a:t>aspc</a:t>
            </a:r>
            <a:r>
              <a:rPr lang="en-CA" sz="1400" dirty="0" smtClean="0">
                <a:solidFill>
                  <a:schemeClr val="accent6">
                    <a:lumMod val="75000"/>
                  </a:schemeClr>
                </a:solidFill>
                <a:latin typeface="Courier New" panose="02070309020205020404" pitchFamily="49" charset="0"/>
                <a:cs typeface="Courier New" panose="02070309020205020404" pitchFamily="49" charset="0"/>
              </a:rPr>
              <a:t>=block</a:t>
            </a:r>
            <a:r>
              <a:rPr lang="en-CA" sz="1400" dirty="0">
                <a:solidFill>
                  <a:schemeClr val="accent6">
                    <a:lumMod val="75000"/>
                  </a:schemeClr>
                </a:solidFill>
                <a:latin typeface="Courier New" panose="02070309020205020404" pitchFamily="49" charset="0"/>
                <a:cs typeface="Courier New" panose="02070309020205020404" pitchFamily="49" charset="0"/>
              </a:rPr>
              <a:t>, </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a:t>
            </a:r>
            <a:r>
              <a:rPr lang="en-CA" sz="1400" dirty="0" smtClean="0">
                <a:solidFill>
                  <a:schemeClr val="accent3"/>
                </a:solidFill>
                <a:latin typeface="Courier New" panose="02070309020205020404" pitchFamily="49" charset="0"/>
                <a:cs typeface="Courier New" panose="02070309020205020404" pitchFamily="49" charset="0"/>
              </a:rPr>
              <a:t>expr</a:t>
            </a:r>
            <a:r>
              <a:rPr lang="en-CA" sz="1400" dirty="0">
                <a:solidFill>
                  <a:schemeClr val="accent6">
                    <a:lumMod val="75000"/>
                  </a:schemeClr>
                </a:solidFill>
                <a:latin typeface="Courier New" panose="02070309020205020404" pitchFamily="49" charset="0"/>
                <a:cs typeface="Courier New" panose="02070309020205020404" pitchFamily="49" charset="0"/>
              </a:rPr>
              <a:t>=(</a:t>
            </a:r>
            <a:r>
              <a:rPr lang="en-CA" sz="1400" dirty="0" err="1">
                <a:solidFill>
                  <a:schemeClr val="accent6">
                    <a:lumMod val="75000"/>
                  </a:schemeClr>
                </a:solidFill>
                <a:latin typeface="Courier New" panose="02070309020205020404" pitchFamily="49" charset="0"/>
                <a:cs typeface="Courier New" panose="02070309020205020404" pitchFamily="49" charset="0"/>
              </a:rPr>
              <a:t>self.s_log_block_size</a:t>
            </a:r>
            <a:r>
              <a:rPr lang="en-CA" sz="1400" dirty="0">
                <a:solidFill>
                  <a:schemeClr val="accent6">
                    <a:lumMod val="75000"/>
                  </a:schemeClr>
                </a:solidFill>
                <a:latin typeface="Courier New" panose="02070309020205020404" pitchFamily="49" charset="0"/>
                <a:cs typeface="Courier New" panose="02070309020205020404" pitchFamily="49" charset="0"/>
              </a:rPr>
              <a:t> == </a:t>
            </a:r>
            <a:r>
              <a:rPr lang="en-CA" sz="1400" dirty="0">
                <a:solidFill>
                  <a:srgbClr val="0070C0"/>
                </a:solidFill>
                <a:latin typeface="Courier New" panose="02070309020205020404" pitchFamily="49" charset="0"/>
                <a:cs typeface="Courier New" panose="02070309020205020404" pitchFamily="49" charset="0"/>
              </a:rPr>
              <a:t>0</a:t>
            </a:r>
            <a:r>
              <a:rPr lang="en-CA" sz="1400" dirty="0" smtClean="0">
                <a:solidFill>
                  <a:schemeClr val="accent6">
                    <a:lumMod val="75000"/>
                  </a:schemeClr>
                </a:solidFill>
                <a:latin typeface="Courier New" panose="02070309020205020404" pitchFamily="49" charset="0"/>
                <a:cs typeface="Courier New" panose="02070309020205020404" pitchFamily="49" charset="0"/>
              </a:rPr>
              <a:t>) ? </a:t>
            </a:r>
            <a:r>
              <a:rPr lang="en-CA" sz="1400" dirty="0" smtClean="0">
                <a:solidFill>
                  <a:srgbClr val="0070C0"/>
                </a:solidFill>
                <a:latin typeface="Courier New" panose="02070309020205020404" pitchFamily="49" charset="0"/>
                <a:cs typeface="Courier New" panose="02070309020205020404" pitchFamily="49" charset="0"/>
              </a:rPr>
              <a:t>2</a:t>
            </a:r>
            <a:r>
              <a:rPr lang="en-CA" sz="1400" dirty="0" smtClean="0">
                <a:solidFill>
                  <a:schemeClr val="accent6">
                    <a:lumMod val="75000"/>
                  </a:schemeClr>
                </a:solidFill>
                <a:latin typeface="Courier New" panose="02070309020205020404" pitchFamily="49" charset="0"/>
                <a:cs typeface="Courier New" panose="02070309020205020404" pitchFamily="49" charset="0"/>
              </a:rPr>
              <a:t> : </a:t>
            </a:r>
            <a:r>
              <a:rPr lang="en-CA" sz="1400" dirty="0" smtClean="0">
                <a:solidFill>
                  <a:srgbClr val="0070C0"/>
                </a:solidFill>
                <a:latin typeface="Courier New" panose="02070309020205020404" pitchFamily="49" charset="0"/>
                <a:cs typeface="Courier New" panose="02070309020205020404" pitchFamily="49" charset="0"/>
              </a:rPr>
              <a:t>1</a:t>
            </a:r>
            <a:r>
              <a:rPr lang="en-CA" sz="1400" dirty="0" smtClean="0">
                <a:solidFill>
                  <a:schemeClr val="accent6">
                    <a:lumMod val="75000"/>
                  </a:schemeClr>
                </a:solidFill>
                <a:latin typeface="Courier New" panose="02070309020205020404" pitchFamily="49" charset="0"/>
                <a:cs typeface="Courier New" panose="02070309020205020404" pitchFamily="49" charset="0"/>
              </a:rPr>
              <a:t>);</a:t>
            </a:r>
            <a:endParaRPr lang="en-CA" sz="1400" dirty="0">
              <a:solidFill>
                <a:schemeClr val="accent6">
                  <a:lumMod val="75000"/>
                </a:schemeClr>
              </a:solidFill>
              <a:latin typeface="Courier New" panose="02070309020205020404" pitchFamily="49" charset="0"/>
              <a:cs typeface="Courier New" panose="02070309020205020404" pitchFamily="49" charset="0"/>
            </a:endParaRPr>
          </a:p>
          <a:p>
            <a:pPr marL="0" indent="0">
              <a:lnSpc>
                <a:spcPts val="2000"/>
              </a:lnSpc>
              <a:spcBef>
                <a:spcPts val="0"/>
              </a:spcBef>
              <a:spcAft>
                <a:spcPts val="0"/>
              </a:spcAft>
              <a:buNone/>
            </a:pPr>
            <a:r>
              <a:rPr lang="en-CA" sz="1400" dirty="0" smtClean="0">
                <a:solidFill>
                  <a:schemeClr val="accent6">
                    <a:lumMod val="75000"/>
                  </a:schemeClr>
                </a:solidFill>
                <a:latin typeface="Courier New" panose="02070309020205020404" pitchFamily="49" charset="0"/>
                <a:cs typeface="Courier New" panose="02070309020205020404" pitchFamily="49" charset="0"/>
              </a:rPr>
              <a:t>  </a:t>
            </a:r>
            <a:r>
              <a:rPr lang="en-CA" sz="1400" dirty="0" smtClean="0">
                <a:solidFill>
                  <a:srgbClr val="00B050"/>
                </a:solidFill>
                <a:latin typeface="Courier New" panose="02070309020205020404" pitchFamily="49" charset="0"/>
                <a:cs typeface="Courier New" panose="02070309020205020404" pitchFamily="49" charset="0"/>
              </a:rPr>
              <a:t>/* maximum supported block size is 64KB */</a:t>
            </a:r>
          </a:p>
          <a:p>
            <a:pPr marL="0" indent="0">
              <a:lnSpc>
                <a:spcPts val="2000"/>
              </a:lnSpc>
              <a:spcBef>
                <a:spcPts val="0"/>
              </a:spcBef>
              <a:spcAft>
                <a:spcPts val="0"/>
              </a:spcAft>
              <a:buNone/>
            </a:pPr>
            <a:r>
              <a:rPr lang="en-CA" sz="1400" dirty="0" smtClean="0">
                <a:solidFill>
                  <a:schemeClr val="accent6">
                    <a:lumMod val="75000"/>
                  </a:schemeClr>
                </a:solidFill>
                <a:latin typeface="Courier New" panose="02070309020205020404" pitchFamily="49" charset="0"/>
                <a:cs typeface="Courier New" panose="02070309020205020404" pitchFamily="49" charset="0"/>
              </a:rPr>
              <a:t>  </a:t>
            </a:r>
            <a:r>
              <a:rPr lang="en-CA" sz="1400" b="1" dirty="0" smtClean="0">
                <a:solidFill>
                  <a:schemeClr val="accent6">
                    <a:lumMod val="75000"/>
                  </a:schemeClr>
                </a:solidFill>
                <a:latin typeface="Courier New" panose="02070309020205020404" pitchFamily="49" charset="0"/>
                <a:cs typeface="Courier New" panose="02070309020205020404" pitchFamily="49" charset="0"/>
              </a:rPr>
              <a:t>CHECK</a:t>
            </a:r>
            <a:r>
              <a:rPr lang="en-CA" sz="1400" dirty="0" smtClean="0">
                <a:solidFill>
                  <a:schemeClr val="accent6">
                    <a:lumMod val="75000"/>
                  </a:schemeClr>
                </a:solidFill>
                <a:latin typeface="Courier New" panose="02070309020205020404" pitchFamily="49" charset="0"/>
                <a:cs typeface="Courier New" panose="02070309020205020404" pitchFamily="49" charset="0"/>
              </a:rPr>
              <a:t>(</a:t>
            </a:r>
            <a:r>
              <a:rPr lang="en-CA" sz="1400" dirty="0" smtClean="0">
                <a:solidFill>
                  <a:schemeClr val="accent3"/>
                </a:solidFill>
                <a:latin typeface="Courier New" panose="02070309020205020404" pitchFamily="49" charset="0"/>
                <a:cs typeface="Courier New" panose="02070309020205020404" pitchFamily="49" charset="0"/>
              </a:rPr>
              <a:t>expr</a:t>
            </a:r>
            <a:r>
              <a:rPr lang="en-CA" sz="1400" dirty="0" smtClean="0">
                <a:solidFill>
                  <a:schemeClr val="accent6">
                    <a:lumMod val="75000"/>
                  </a:schemeClr>
                </a:solidFill>
                <a:latin typeface="Courier New" panose="02070309020205020404" pitchFamily="49" charset="0"/>
                <a:cs typeface="Courier New" panose="02070309020205020404" pitchFamily="49" charset="0"/>
              </a:rPr>
              <a:t>=</a:t>
            </a:r>
            <a:r>
              <a:rPr lang="en-CA" sz="1400" dirty="0" err="1" smtClean="0">
                <a:solidFill>
                  <a:schemeClr val="accent6">
                    <a:lumMod val="75000"/>
                  </a:schemeClr>
                </a:solidFill>
                <a:latin typeface="Courier New" panose="02070309020205020404" pitchFamily="49" charset="0"/>
                <a:cs typeface="Courier New" panose="02070309020205020404" pitchFamily="49" charset="0"/>
              </a:rPr>
              <a:t>self.s_log_block_size</a:t>
            </a:r>
            <a:r>
              <a:rPr lang="en-CA" sz="1400" dirty="0" smtClean="0">
                <a:solidFill>
                  <a:schemeClr val="accent6">
                    <a:lumMod val="75000"/>
                  </a:schemeClr>
                </a:solidFill>
                <a:latin typeface="Courier New" panose="02070309020205020404" pitchFamily="49" charset="0"/>
                <a:cs typeface="Courier New" panose="02070309020205020404" pitchFamily="49" charset="0"/>
              </a:rPr>
              <a:t> &lt;= </a:t>
            </a:r>
            <a:r>
              <a:rPr lang="en-CA" sz="1400" dirty="0" smtClean="0">
                <a:solidFill>
                  <a:srgbClr val="0070C0"/>
                </a:solidFill>
                <a:latin typeface="Courier New" panose="02070309020205020404" pitchFamily="49" charset="0"/>
                <a:cs typeface="Courier New" panose="02070309020205020404" pitchFamily="49" charset="0"/>
              </a:rPr>
              <a:t>6</a:t>
            </a:r>
            <a:r>
              <a:rPr lang="en-CA" sz="1400" dirty="0" smtClean="0">
                <a:solidFill>
                  <a:schemeClr val="accent6">
                    <a:lumMod val="75000"/>
                  </a:schemeClr>
                </a:solidFill>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400" dirty="0" smtClean="0">
                <a:solidFill>
                  <a:schemeClr val="accent6">
                    <a:lumMod val="75000"/>
                  </a:schemeClr>
                </a:solidFill>
                <a:latin typeface="Courier New" panose="02070309020205020404" pitchFamily="49" charset="0"/>
                <a:cs typeface="Courier New" panose="02070309020205020404" pitchFamily="49" charset="0"/>
              </a:rPr>
              <a:t>  </a:t>
            </a:r>
            <a:r>
              <a:rPr lang="en-CA" sz="1400" b="1" dirty="0">
                <a:solidFill>
                  <a:schemeClr val="accent6">
                    <a:lumMod val="75000"/>
                  </a:schemeClr>
                </a:solidFill>
                <a:latin typeface="Courier New" panose="02070309020205020404" pitchFamily="49" charset="0"/>
                <a:cs typeface="Courier New" panose="02070309020205020404" pitchFamily="49" charset="0"/>
              </a:rPr>
              <a:t>CHECK</a:t>
            </a:r>
            <a:r>
              <a:rPr lang="en-CA" sz="1400" dirty="0">
                <a:solidFill>
                  <a:schemeClr val="accent6">
                    <a:lumMod val="75000"/>
                  </a:schemeClr>
                </a:solidFill>
                <a:latin typeface="Courier New" panose="02070309020205020404" pitchFamily="49" charset="0"/>
                <a:cs typeface="Courier New" panose="02070309020205020404" pitchFamily="49" charset="0"/>
              </a:rPr>
              <a:t>(</a:t>
            </a:r>
            <a:r>
              <a:rPr lang="en-CA" sz="1400" dirty="0">
                <a:solidFill>
                  <a:schemeClr val="accent3"/>
                </a:solidFill>
                <a:latin typeface="Courier New" panose="02070309020205020404" pitchFamily="49" charset="0"/>
                <a:cs typeface="Courier New" panose="02070309020205020404" pitchFamily="49" charset="0"/>
              </a:rPr>
              <a:t>expr</a:t>
            </a:r>
            <a:r>
              <a:rPr lang="en-CA" sz="1400" dirty="0">
                <a:solidFill>
                  <a:schemeClr val="accent6">
                    <a:lumMod val="75000"/>
                  </a:schemeClr>
                </a:solidFill>
                <a:latin typeface="Courier New" panose="02070309020205020404" pitchFamily="49" charset="0"/>
                <a:cs typeface="Courier New" panose="02070309020205020404" pitchFamily="49" charset="0"/>
              </a:rPr>
              <a:t>=</a:t>
            </a:r>
            <a:r>
              <a:rPr lang="en-CA" sz="1400" dirty="0" err="1">
                <a:solidFill>
                  <a:schemeClr val="accent6">
                    <a:lumMod val="75000"/>
                  </a:schemeClr>
                </a:solidFill>
                <a:latin typeface="Courier New" panose="02070309020205020404" pitchFamily="49" charset="0"/>
                <a:cs typeface="Courier New" panose="02070309020205020404" pitchFamily="49" charset="0"/>
              </a:rPr>
              <a:t>self.s_magic</a:t>
            </a:r>
            <a:r>
              <a:rPr lang="en-CA" sz="1400" dirty="0">
                <a:solidFill>
                  <a:schemeClr val="accent6">
                    <a:lumMod val="75000"/>
                  </a:schemeClr>
                </a:solidFill>
                <a:latin typeface="Courier New" panose="02070309020205020404" pitchFamily="49" charset="0"/>
                <a:cs typeface="Courier New" panose="02070309020205020404" pitchFamily="49" charset="0"/>
              </a:rPr>
              <a:t> == </a:t>
            </a:r>
            <a:r>
              <a:rPr lang="en-CA" sz="1400" dirty="0">
                <a:solidFill>
                  <a:srgbClr val="0070C0"/>
                </a:solidFill>
                <a:latin typeface="Courier New" panose="02070309020205020404" pitchFamily="49" charset="0"/>
                <a:cs typeface="Courier New" panose="02070309020205020404" pitchFamily="49" charset="0"/>
              </a:rPr>
              <a:t>0xef53</a:t>
            </a:r>
            <a:r>
              <a:rPr lang="en-CA" sz="1400" dirty="0">
                <a:solidFill>
                  <a:schemeClr val="accent6">
                    <a:lumMod val="75000"/>
                  </a:schemeClr>
                </a:solidFill>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a:t>
            </a:r>
          </a:p>
        </p:txBody>
      </p:sp>
      <p:sp>
        <p:nvSpPr>
          <p:cNvPr id="11" name="Rectangle 10"/>
          <p:cNvSpPr/>
          <p:nvPr/>
        </p:nvSpPr>
        <p:spPr>
          <a:xfrm>
            <a:off x="684211" y="2099739"/>
            <a:ext cx="4519402" cy="1123295"/>
          </a:xfrm>
          <a:prstGeom prst="rect">
            <a:avLst/>
          </a:prstGeom>
          <a:solidFill>
            <a:schemeClr val="tx1">
              <a:alpha val="0"/>
            </a:schemeClr>
          </a:solidFill>
          <a:ln w="38100">
            <a:solidFill>
              <a:srgbClr val="FFFF00"/>
            </a:solidFill>
          </a:ln>
          <a:effectLst>
            <a:glow rad="101600">
              <a:srgbClr val="FFFF00">
                <a:alpha val="40000"/>
              </a:srgb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2" name="Rectangle 11"/>
          <p:cNvSpPr/>
          <p:nvPr/>
        </p:nvSpPr>
        <p:spPr>
          <a:xfrm>
            <a:off x="5763418" y="2160556"/>
            <a:ext cx="5182222" cy="1299081"/>
          </a:xfrm>
          <a:prstGeom prst="rect">
            <a:avLst/>
          </a:prstGeom>
          <a:solidFill>
            <a:schemeClr val="tx1">
              <a:alpha val="0"/>
            </a:schemeClr>
          </a:solidFill>
          <a:ln w="38100">
            <a:solidFill>
              <a:srgbClr val="FFFF00"/>
            </a:solidFill>
          </a:ln>
          <a:effectLst>
            <a:glow rad="101600">
              <a:srgbClr val="FFFF00">
                <a:alpha val="40000"/>
              </a:srgb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cxnSp>
        <p:nvCxnSpPr>
          <p:cNvPr id="14" name="Straight Arrow Connector 15"/>
          <p:cNvCxnSpPr/>
          <p:nvPr/>
        </p:nvCxnSpPr>
        <p:spPr>
          <a:xfrm rot="10800000">
            <a:off x="8187067" y="3442047"/>
            <a:ext cx="0" cy="285413"/>
          </a:xfrm>
          <a:prstGeom prst="straightConnector1">
            <a:avLst/>
          </a:prstGeom>
          <a:ln w="38100">
            <a:solidFill>
              <a:srgbClr val="FF0000">
                <a:alpha val="70000"/>
              </a:srgbClr>
            </a:solidFill>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5"/>
          <p:cNvCxnSpPr/>
          <p:nvPr/>
        </p:nvCxnSpPr>
        <p:spPr>
          <a:xfrm flipV="1">
            <a:off x="3091992" y="3231501"/>
            <a:ext cx="4293" cy="483414"/>
          </a:xfrm>
          <a:prstGeom prst="straightConnector1">
            <a:avLst/>
          </a:prstGeom>
          <a:ln w="38100">
            <a:solidFill>
              <a:srgbClr val="FF0000">
                <a:alpha val="70000"/>
              </a:srgbClr>
            </a:solidFill>
            <a:tailEnd type="triangle"/>
          </a:ln>
        </p:spPr>
        <p:style>
          <a:lnRef idx="1">
            <a:schemeClr val="accent1"/>
          </a:lnRef>
          <a:fillRef idx="0">
            <a:schemeClr val="accent1"/>
          </a:fillRef>
          <a:effectRef idx="0">
            <a:schemeClr val="accent1"/>
          </a:effectRef>
          <a:fontRef idx="minor">
            <a:schemeClr val="tx1"/>
          </a:fontRef>
        </p:style>
      </p:cxnSp>
      <p:sp>
        <p:nvSpPr>
          <p:cNvPr id="13" name="TextBox 12"/>
          <p:cNvSpPr txBox="1"/>
          <p:nvPr/>
        </p:nvSpPr>
        <p:spPr>
          <a:xfrm>
            <a:off x="1324880" y="3714912"/>
            <a:ext cx="7630584" cy="902932"/>
          </a:xfrm>
          <a:prstGeom prst="snip1Rect">
            <a:avLst/>
          </a:prstGeom>
          <a:solidFill>
            <a:schemeClr val="tx1"/>
          </a:solidFill>
          <a:ln w="25400">
            <a:solidFill>
              <a:schemeClr val="tx2"/>
            </a:solidFill>
          </a:ln>
        </p:spPr>
        <p:txBody>
          <a:bodyPr wrap="square" lIns="90000" tIns="46800" rIns="90000" bIns="90000" rtlCol="0">
            <a:spAutoFit/>
          </a:bodyPr>
          <a:lstStyle/>
          <a:p>
            <a:pPr marL="285750" indent="-201613">
              <a:lnSpc>
                <a:spcPts val="2400"/>
              </a:lnSpc>
              <a:spcBef>
                <a:spcPts val="600"/>
              </a:spcBef>
              <a:buFont typeface="Arial" panose="020B0604020202020204" pitchFamily="34" charset="0"/>
              <a:buChar char="•"/>
            </a:pPr>
            <a:r>
              <a:rPr lang="en-CA" dirty="0" smtClean="0">
                <a:solidFill>
                  <a:schemeClr val="bg1"/>
                </a:solidFill>
              </a:rPr>
              <a:t>C++ class generated for each annotated structure and its fields</a:t>
            </a:r>
          </a:p>
          <a:p>
            <a:pPr marL="285750" indent="-201613">
              <a:lnSpc>
                <a:spcPts val="2400"/>
              </a:lnSpc>
              <a:spcBef>
                <a:spcPts val="600"/>
              </a:spcBef>
              <a:buFont typeface="Arial" panose="020B0604020202020204" pitchFamily="34" charset="0"/>
              <a:buChar char="•"/>
            </a:pPr>
            <a:r>
              <a:rPr lang="en-CA" dirty="0" smtClean="0">
                <a:solidFill>
                  <a:schemeClr val="bg1"/>
                </a:solidFill>
              </a:rPr>
              <a:t>Each class enables </a:t>
            </a:r>
            <a:r>
              <a:rPr lang="en-CA" dirty="0">
                <a:solidFill>
                  <a:schemeClr val="bg1"/>
                </a:solidFill>
              </a:rPr>
              <a:t>type-safe </a:t>
            </a:r>
            <a:r>
              <a:rPr lang="en-CA" dirty="0" smtClean="0">
                <a:solidFill>
                  <a:schemeClr val="bg1"/>
                </a:solidFill>
              </a:rPr>
              <a:t>parsing and serialization</a:t>
            </a:r>
            <a:endParaRPr lang="en-CA" dirty="0">
              <a:solidFill>
                <a:schemeClr val="bg1"/>
              </a:solidFill>
            </a:endParaRPr>
          </a:p>
        </p:txBody>
      </p:sp>
      <p:sp>
        <p:nvSpPr>
          <p:cNvPr id="16" name="Slide Number Placeholder 15"/>
          <p:cNvSpPr>
            <a:spLocks noGrp="1"/>
          </p:cNvSpPr>
          <p:nvPr>
            <p:ph type="sldNum" sz="quarter" idx="12"/>
          </p:nvPr>
        </p:nvSpPr>
        <p:spPr/>
        <p:txBody>
          <a:bodyPr/>
          <a:lstStyle/>
          <a:p>
            <a:fld id="{7B2023C8-B124-43A9-8F92-0EEF5BAA9995}" type="slidenum">
              <a:rPr lang="en-CA" smtClean="0"/>
              <a:t>16</a:t>
            </a:fld>
            <a:endParaRPr lang="en-CA"/>
          </a:p>
        </p:txBody>
      </p:sp>
    </p:spTree>
    <p:extLst>
      <p:ext uri="{BB962C8B-B14F-4D97-AF65-F5344CB8AC3E}">
        <p14:creationId xmlns:p14="http://schemas.microsoft.com/office/powerpoint/2010/main" val="3502627075"/>
      </p:ext>
    </p:extLst>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lstStyle/>
          <a:p>
            <a:r>
              <a:rPr lang="en-US" dirty="0" smtClean="0"/>
              <a:t>Generating </a:t>
            </a:r>
            <a:r>
              <a:rPr lang="en-US" dirty="0"/>
              <a:t>Spiffy Library</a:t>
            </a:r>
            <a:endParaRPr lang="en-CA" dirty="0"/>
          </a:p>
        </p:txBody>
      </p:sp>
      <p:sp>
        <p:nvSpPr>
          <p:cNvPr id="6" name="Text Placeholder 5"/>
          <p:cNvSpPr>
            <a:spLocks noGrp="1"/>
          </p:cNvSpPr>
          <p:nvPr>
            <p:ph type="body" idx="1"/>
          </p:nvPr>
        </p:nvSpPr>
        <p:spPr/>
        <p:txBody>
          <a:bodyPr/>
          <a:lstStyle/>
          <a:p>
            <a:r>
              <a:rPr lang="en-CA" dirty="0" smtClean="0"/>
              <a:t>Annotation</a:t>
            </a:r>
            <a:endParaRPr lang="en-CA" dirty="0"/>
          </a:p>
        </p:txBody>
      </p:sp>
      <p:sp>
        <p:nvSpPr>
          <p:cNvPr id="8" name="Text Placeholder 7"/>
          <p:cNvSpPr>
            <a:spLocks noGrp="1"/>
          </p:cNvSpPr>
          <p:nvPr>
            <p:ph type="body" sz="quarter" idx="3"/>
          </p:nvPr>
        </p:nvSpPr>
        <p:spPr/>
        <p:txBody>
          <a:bodyPr/>
          <a:lstStyle/>
          <a:p>
            <a:r>
              <a:rPr lang="en-CA" dirty="0" smtClean="0"/>
              <a:t>Generated Code </a:t>
            </a:r>
            <a:endParaRPr lang="en-CA" dirty="0"/>
          </a:p>
        </p:txBody>
      </p:sp>
      <p:sp>
        <p:nvSpPr>
          <p:cNvPr id="9" name="Content Placeholder 8"/>
          <p:cNvSpPr>
            <a:spLocks noGrp="1"/>
          </p:cNvSpPr>
          <p:nvPr>
            <p:ph sz="quarter" idx="4"/>
          </p:nvPr>
        </p:nvSpPr>
        <p:spPr>
          <a:xfrm>
            <a:off x="5763418" y="2100086"/>
            <a:ext cx="5182222" cy="4072114"/>
          </a:xfrm>
        </p:spPr>
        <p:txBody>
          <a:bodyPr>
            <a:noAutofit/>
          </a:bodyPr>
          <a:lstStyle/>
          <a:p>
            <a:pPr marL="0" indent="0">
              <a:lnSpc>
                <a:spcPts val="2000"/>
              </a:lnSpc>
              <a:spcBef>
                <a:spcPts val="0"/>
              </a:spcBef>
              <a:spcAft>
                <a:spcPts val="0"/>
              </a:spcAft>
              <a:buNone/>
            </a:pPr>
            <a:r>
              <a:rPr lang="en-CA" sz="1400" dirty="0" err="1">
                <a:solidFill>
                  <a:schemeClr val="accent3"/>
                </a:solidFill>
                <a:latin typeface="Courier New" panose="02070309020205020404" pitchFamily="49" charset="0"/>
                <a:cs typeface="Courier New" panose="02070309020205020404" pitchFamily="49" charset="0"/>
              </a:rPr>
              <a:t>int</a:t>
            </a:r>
            <a:r>
              <a:rPr lang="en-CA" sz="1400" dirty="0">
                <a:solidFill>
                  <a:schemeClr val="accent6">
                    <a:lumMod val="75000"/>
                  </a:schemeClr>
                </a:solidFill>
                <a:latin typeface="Courier New" panose="02070309020205020404" pitchFamily="49" charset="0"/>
                <a:cs typeface="Courier New" panose="02070309020205020404" pitchFamily="49" charset="0"/>
              </a:rPr>
              <a:t> </a:t>
            </a:r>
            <a:r>
              <a:rPr lang="en-CA" sz="1400" b="1" dirty="0" smtClean="0">
                <a:solidFill>
                  <a:schemeClr val="accent6">
                    <a:lumMod val="75000"/>
                  </a:schemeClr>
                </a:solidFill>
                <a:latin typeface="Courier New" panose="02070309020205020404" pitchFamily="49" charset="0"/>
                <a:cs typeface="Courier New" panose="02070309020205020404" pitchFamily="49" charset="0"/>
              </a:rPr>
              <a:t>parse</a:t>
            </a:r>
            <a:r>
              <a:rPr lang="en-CA" sz="1400" dirty="0" smtClean="0">
                <a:solidFill>
                  <a:schemeClr val="accent6">
                    <a:lumMod val="75000"/>
                  </a:schemeClr>
                </a:solidFill>
                <a:latin typeface="Courier New" panose="02070309020205020404" pitchFamily="49" charset="0"/>
                <a:cs typeface="Courier New" panose="02070309020205020404" pitchFamily="49" charset="0"/>
              </a:rPr>
              <a:t>(</a:t>
            </a:r>
            <a:r>
              <a:rPr lang="en-CA" sz="1400" dirty="0" err="1" smtClean="0">
                <a:solidFill>
                  <a:schemeClr val="accent3"/>
                </a:solidFill>
                <a:latin typeface="Courier New" panose="02070309020205020404" pitchFamily="49" charset="0"/>
                <a:cs typeface="Courier New" panose="02070309020205020404" pitchFamily="49" charset="0"/>
              </a:rPr>
              <a:t>const</a:t>
            </a:r>
            <a:r>
              <a:rPr lang="en-CA" sz="1400" dirty="0" smtClean="0">
                <a:solidFill>
                  <a:schemeClr val="accent6">
                    <a:lumMod val="75000"/>
                  </a:schemeClr>
                </a:solidFill>
                <a:latin typeface="Courier New" panose="02070309020205020404" pitchFamily="49" charset="0"/>
                <a:cs typeface="Courier New" panose="02070309020205020404" pitchFamily="49" charset="0"/>
              </a:rPr>
              <a:t> </a:t>
            </a:r>
            <a:r>
              <a:rPr lang="en-CA" sz="1400" dirty="0">
                <a:solidFill>
                  <a:schemeClr val="accent3"/>
                </a:solidFill>
                <a:latin typeface="Courier New" panose="02070309020205020404" pitchFamily="49" charset="0"/>
                <a:cs typeface="Courier New" panose="02070309020205020404" pitchFamily="49" charset="0"/>
              </a:rPr>
              <a:t>char</a:t>
            </a:r>
            <a:r>
              <a:rPr lang="en-CA" sz="1400" dirty="0">
                <a:solidFill>
                  <a:schemeClr val="accent6">
                    <a:lumMod val="75000"/>
                  </a:schemeClr>
                </a:solidFill>
                <a:latin typeface="Courier New" panose="02070309020205020404" pitchFamily="49" charset="0"/>
                <a:cs typeface="Courier New" panose="02070309020205020404" pitchFamily="49" charset="0"/>
              </a:rPr>
              <a:t> * &amp; </a:t>
            </a:r>
            <a:r>
              <a:rPr lang="en-CA" sz="1400" dirty="0" err="1">
                <a:solidFill>
                  <a:schemeClr val="accent6">
                    <a:lumMod val="75000"/>
                  </a:schemeClr>
                </a:solidFill>
                <a:latin typeface="Courier New" panose="02070309020205020404" pitchFamily="49" charset="0"/>
                <a:cs typeface="Courier New" panose="02070309020205020404" pitchFamily="49" charset="0"/>
              </a:rPr>
              <a:t>buf</a:t>
            </a:r>
            <a:r>
              <a:rPr lang="en-CA" sz="1400" dirty="0">
                <a:solidFill>
                  <a:schemeClr val="accent6">
                    <a:lumMod val="75000"/>
                  </a:schemeClr>
                </a:solidFill>
                <a:latin typeface="Courier New" panose="02070309020205020404" pitchFamily="49" charset="0"/>
                <a:cs typeface="Courier New" panose="02070309020205020404" pitchFamily="49" charset="0"/>
              </a:rPr>
              <a:t>, </a:t>
            </a:r>
            <a:r>
              <a:rPr lang="en-CA" sz="1400" dirty="0">
                <a:solidFill>
                  <a:schemeClr val="accent3"/>
                </a:solidFill>
                <a:latin typeface="Courier New" panose="02070309020205020404" pitchFamily="49" charset="0"/>
                <a:cs typeface="Courier New" panose="02070309020205020404" pitchFamily="49" charset="0"/>
              </a:rPr>
              <a:t>unsigned</a:t>
            </a:r>
            <a:r>
              <a:rPr lang="en-CA" sz="1400" dirty="0">
                <a:solidFill>
                  <a:schemeClr val="accent6">
                    <a:lumMod val="75000"/>
                  </a:schemeClr>
                </a:solidFill>
                <a:latin typeface="Courier New" panose="02070309020205020404" pitchFamily="49" charset="0"/>
                <a:cs typeface="Courier New" panose="02070309020205020404" pitchFamily="49" charset="0"/>
              </a:rPr>
              <a:t> &amp; </a:t>
            </a:r>
            <a:r>
              <a:rPr lang="en-CA" sz="1400" dirty="0" err="1">
                <a:solidFill>
                  <a:schemeClr val="accent6">
                    <a:lumMod val="75000"/>
                  </a:schemeClr>
                </a:solidFill>
                <a:latin typeface="Courier New" panose="02070309020205020404" pitchFamily="49" charset="0"/>
                <a:cs typeface="Courier New" panose="02070309020205020404" pitchFamily="49" charset="0"/>
              </a:rPr>
              <a:t>len</a:t>
            </a:r>
            <a:r>
              <a:rPr lang="en-CA" sz="1400" dirty="0">
                <a:solidFill>
                  <a:schemeClr val="accent6">
                    <a:lumMod val="75000"/>
                  </a:schemeClr>
                </a:solidFill>
                <a:latin typeface="Courier New" panose="02070309020205020404" pitchFamily="49" charset="0"/>
                <a:cs typeface="Courier New" panose="02070309020205020404" pitchFamily="49" charset="0"/>
              </a:rPr>
              <a:t>) {</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a:t>
            </a:r>
            <a:r>
              <a:rPr lang="en-CA" sz="1400" dirty="0" err="1">
                <a:solidFill>
                  <a:schemeClr val="accent3"/>
                </a:solidFill>
                <a:latin typeface="Courier New" panose="02070309020205020404" pitchFamily="49" charset="0"/>
                <a:cs typeface="Courier New" panose="02070309020205020404" pitchFamily="49" charset="0"/>
              </a:rPr>
              <a:t>int</a:t>
            </a:r>
            <a:r>
              <a:rPr lang="en-CA" sz="1400" dirty="0">
                <a:solidFill>
                  <a:schemeClr val="accent6">
                    <a:lumMod val="75000"/>
                  </a:schemeClr>
                </a:solidFill>
                <a:latin typeface="Courier New" panose="02070309020205020404" pitchFamily="49" charset="0"/>
                <a:cs typeface="Courier New" panose="02070309020205020404" pitchFamily="49" charset="0"/>
              </a:rPr>
              <a:t> ret = </a:t>
            </a:r>
            <a:r>
              <a:rPr lang="en-CA" sz="1400" dirty="0" err="1">
                <a:latin typeface="Courier New" panose="02070309020205020404" pitchFamily="49" charset="0"/>
                <a:cs typeface="Courier New" panose="02070309020205020404" pitchFamily="49" charset="0"/>
              </a:rPr>
              <a:t>s_blocks_count.parse</a:t>
            </a:r>
            <a:r>
              <a:rPr lang="en-CA" sz="1400" dirty="0">
                <a:latin typeface="Courier New" panose="02070309020205020404" pitchFamily="49" charset="0"/>
                <a:cs typeface="Courier New" panose="02070309020205020404" pitchFamily="49" charset="0"/>
              </a:rPr>
              <a:t>(</a:t>
            </a:r>
            <a:r>
              <a:rPr lang="en-CA" sz="1400" dirty="0" err="1">
                <a:latin typeface="Courier New" panose="02070309020205020404" pitchFamily="49" charset="0"/>
                <a:cs typeface="Courier New" panose="02070309020205020404" pitchFamily="49" charset="0"/>
              </a:rPr>
              <a:t>buf</a:t>
            </a:r>
            <a:r>
              <a:rPr lang="en-CA" sz="1400" dirty="0">
                <a:latin typeface="Courier New" panose="02070309020205020404" pitchFamily="49" charset="0"/>
                <a:cs typeface="Courier New" panose="02070309020205020404" pitchFamily="49" charset="0"/>
              </a:rPr>
              <a:t>, </a:t>
            </a:r>
            <a:r>
              <a:rPr lang="en-CA" sz="1400" dirty="0" err="1">
                <a:latin typeface="Courier New" panose="02070309020205020404" pitchFamily="49" charset="0"/>
                <a:cs typeface="Courier New" panose="02070309020205020404" pitchFamily="49" charset="0"/>
              </a:rPr>
              <a:t>len</a:t>
            </a:r>
            <a:r>
              <a:rPr lang="en-CA" sz="1400" dirty="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if (ret &lt; </a:t>
            </a:r>
            <a:r>
              <a:rPr lang="en-CA" sz="1400" dirty="0">
                <a:solidFill>
                  <a:srgbClr val="0070C0"/>
                </a:solidFill>
                <a:latin typeface="Courier New" panose="02070309020205020404" pitchFamily="49" charset="0"/>
                <a:cs typeface="Courier New" panose="02070309020205020404" pitchFamily="49" charset="0"/>
              </a:rPr>
              <a:t>0</a:t>
            </a:r>
            <a:r>
              <a:rPr lang="en-CA" sz="1400" dirty="0">
                <a:solidFill>
                  <a:schemeClr val="accent6">
                    <a:lumMod val="75000"/>
                  </a:schemeClr>
                </a:solidFill>
                <a:latin typeface="Courier New" panose="02070309020205020404" pitchFamily="49" charset="0"/>
                <a:cs typeface="Courier New" panose="02070309020205020404" pitchFamily="49" charset="0"/>
              </a:rPr>
              <a:t>) return ret;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ret = </a:t>
            </a:r>
            <a:r>
              <a:rPr lang="en-CA" sz="1400" dirty="0" err="1">
                <a:solidFill>
                  <a:schemeClr val="accent6">
                    <a:lumMod val="75000"/>
                  </a:schemeClr>
                </a:solidFill>
                <a:latin typeface="Courier New" panose="02070309020205020404" pitchFamily="49" charset="0"/>
                <a:cs typeface="Courier New" panose="02070309020205020404" pitchFamily="49" charset="0"/>
              </a:rPr>
              <a:t>s_log_block_size.parse</a:t>
            </a:r>
            <a:r>
              <a:rPr lang="en-CA" sz="1400" dirty="0">
                <a:solidFill>
                  <a:schemeClr val="accent6">
                    <a:lumMod val="75000"/>
                  </a:schemeClr>
                </a:solidFill>
                <a:latin typeface="Courier New" panose="02070309020205020404" pitchFamily="49" charset="0"/>
                <a:cs typeface="Courier New" panose="02070309020205020404" pitchFamily="49" charset="0"/>
              </a:rPr>
              <a:t>(</a:t>
            </a:r>
            <a:r>
              <a:rPr lang="en-CA" sz="1400" dirty="0" err="1">
                <a:solidFill>
                  <a:schemeClr val="accent6">
                    <a:lumMod val="75000"/>
                  </a:schemeClr>
                </a:solidFill>
                <a:latin typeface="Courier New" panose="02070309020205020404" pitchFamily="49" charset="0"/>
                <a:cs typeface="Courier New" panose="02070309020205020404" pitchFamily="49" charset="0"/>
              </a:rPr>
              <a:t>buf</a:t>
            </a:r>
            <a:r>
              <a:rPr lang="en-CA" sz="1400" dirty="0">
                <a:solidFill>
                  <a:schemeClr val="accent6">
                    <a:lumMod val="75000"/>
                  </a:schemeClr>
                </a:solidFill>
                <a:latin typeface="Courier New" panose="02070309020205020404" pitchFamily="49" charset="0"/>
                <a:cs typeface="Courier New" panose="02070309020205020404" pitchFamily="49" charset="0"/>
              </a:rPr>
              <a:t>, </a:t>
            </a:r>
            <a:r>
              <a:rPr lang="en-CA" sz="1400" dirty="0" err="1">
                <a:solidFill>
                  <a:schemeClr val="accent6">
                    <a:lumMod val="75000"/>
                  </a:schemeClr>
                </a:solidFill>
                <a:latin typeface="Courier New" panose="02070309020205020404" pitchFamily="49" charset="0"/>
                <a:cs typeface="Courier New" panose="02070309020205020404" pitchFamily="49" charset="0"/>
              </a:rPr>
              <a:t>len</a:t>
            </a:r>
            <a:r>
              <a:rPr lang="en-CA" sz="1400" dirty="0">
                <a:solidFill>
                  <a:schemeClr val="accent6">
                    <a:lumMod val="75000"/>
                  </a:schemeClr>
                </a:solidFill>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if (ret &lt; </a:t>
            </a:r>
            <a:r>
              <a:rPr lang="en-CA" sz="1400" dirty="0">
                <a:solidFill>
                  <a:srgbClr val="0070C0"/>
                </a:solidFill>
                <a:latin typeface="Courier New" panose="02070309020205020404" pitchFamily="49" charset="0"/>
                <a:cs typeface="Courier New" panose="02070309020205020404" pitchFamily="49" charset="0"/>
              </a:rPr>
              <a:t>0</a:t>
            </a:r>
            <a:r>
              <a:rPr lang="en-CA" sz="1400" dirty="0">
                <a:solidFill>
                  <a:schemeClr val="accent6">
                    <a:lumMod val="75000"/>
                  </a:schemeClr>
                </a:solidFill>
                <a:latin typeface="Courier New" panose="02070309020205020404" pitchFamily="49" charset="0"/>
                <a:cs typeface="Courier New" panose="02070309020205020404" pitchFamily="49" charset="0"/>
              </a:rPr>
              <a:t>) return ret;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a:t>
            </a:r>
            <a:r>
              <a:rPr lang="en-CA" sz="1400" dirty="0" smtClean="0">
                <a:solidFill>
                  <a:schemeClr val="accent6">
                    <a:lumMod val="75000"/>
                  </a:schemeClr>
                </a:solidFill>
                <a:latin typeface="Courier New" panose="02070309020205020404" pitchFamily="49" charset="0"/>
                <a:cs typeface="Courier New" panose="02070309020205020404" pitchFamily="49" charset="0"/>
              </a:rPr>
              <a:t>…</a:t>
            </a:r>
            <a:endParaRPr lang="en-CA" sz="1400" dirty="0">
              <a:solidFill>
                <a:schemeClr val="accent6">
                  <a:lumMod val="75000"/>
                </a:schemeClr>
              </a:solidFill>
              <a:latin typeface="Courier New" panose="02070309020205020404" pitchFamily="49" charset="0"/>
              <a:cs typeface="Courier New" panose="02070309020205020404" pitchFamily="49" charset="0"/>
            </a:endParaRP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ret = </a:t>
            </a:r>
            <a:r>
              <a:rPr lang="en-CA" sz="1400" dirty="0" err="1">
                <a:solidFill>
                  <a:schemeClr val="accent6">
                    <a:lumMod val="75000"/>
                  </a:schemeClr>
                </a:solidFill>
                <a:latin typeface="Courier New" panose="02070309020205020404" pitchFamily="49" charset="0"/>
                <a:cs typeface="Courier New" panose="02070309020205020404" pitchFamily="49" charset="0"/>
              </a:rPr>
              <a:t>s_creator_os.parse</a:t>
            </a:r>
            <a:r>
              <a:rPr lang="en-CA" sz="1400" dirty="0">
                <a:solidFill>
                  <a:schemeClr val="accent6">
                    <a:lumMod val="75000"/>
                  </a:schemeClr>
                </a:solidFill>
                <a:latin typeface="Courier New" panose="02070309020205020404" pitchFamily="49" charset="0"/>
                <a:cs typeface="Courier New" panose="02070309020205020404" pitchFamily="49" charset="0"/>
              </a:rPr>
              <a:t>(</a:t>
            </a:r>
            <a:r>
              <a:rPr lang="en-CA" sz="1400" dirty="0" err="1">
                <a:solidFill>
                  <a:schemeClr val="accent6">
                    <a:lumMod val="75000"/>
                  </a:schemeClr>
                </a:solidFill>
                <a:latin typeface="Courier New" panose="02070309020205020404" pitchFamily="49" charset="0"/>
                <a:cs typeface="Courier New" panose="02070309020205020404" pitchFamily="49" charset="0"/>
              </a:rPr>
              <a:t>buf</a:t>
            </a:r>
            <a:r>
              <a:rPr lang="en-CA" sz="1400" dirty="0">
                <a:solidFill>
                  <a:schemeClr val="accent6">
                    <a:lumMod val="75000"/>
                  </a:schemeClr>
                </a:solidFill>
                <a:latin typeface="Courier New" panose="02070309020205020404" pitchFamily="49" charset="0"/>
                <a:cs typeface="Courier New" panose="02070309020205020404" pitchFamily="49" charset="0"/>
              </a:rPr>
              <a:t>, </a:t>
            </a:r>
            <a:r>
              <a:rPr lang="en-CA" sz="1400" dirty="0" err="1">
                <a:solidFill>
                  <a:schemeClr val="accent6">
                    <a:lumMod val="75000"/>
                  </a:schemeClr>
                </a:solidFill>
                <a:latin typeface="Courier New" panose="02070309020205020404" pitchFamily="49" charset="0"/>
                <a:cs typeface="Courier New" panose="02070309020205020404" pitchFamily="49" charset="0"/>
              </a:rPr>
              <a:t>len</a:t>
            </a:r>
            <a:r>
              <a:rPr lang="en-CA" sz="1400" dirty="0">
                <a:solidFill>
                  <a:schemeClr val="accent6">
                    <a:lumMod val="75000"/>
                  </a:schemeClr>
                </a:solidFill>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if (ret &lt; </a:t>
            </a:r>
            <a:r>
              <a:rPr lang="en-CA" sz="1400" dirty="0">
                <a:solidFill>
                  <a:srgbClr val="0070C0"/>
                </a:solidFill>
                <a:latin typeface="Courier New" panose="02070309020205020404" pitchFamily="49" charset="0"/>
                <a:cs typeface="Courier New" panose="02070309020205020404" pitchFamily="49" charset="0"/>
              </a:rPr>
              <a:t>0</a:t>
            </a:r>
            <a:r>
              <a:rPr lang="en-CA" sz="1400" dirty="0">
                <a:solidFill>
                  <a:schemeClr val="accent6">
                    <a:lumMod val="75000"/>
                  </a:schemeClr>
                </a:solidFill>
                <a:latin typeface="Courier New" panose="02070309020205020404" pitchFamily="49" charset="0"/>
                <a:cs typeface="Courier New" panose="02070309020205020404" pitchFamily="49" charset="0"/>
              </a:rPr>
              <a:t>) return ret;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ret = </a:t>
            </a:r>
            <a:r>
              <a:rPr lang="en-CA" sz="1400" dirty="0" err="1">
                <a:solidFill>
                  <a:schemeClr val="accent6">
                    <a:lumMod val="75000"/>
                  </a:schemeClr>
                </a:solidFill>
                <a:latin typeface="Courier New" panose="02070309020205020404" pitchFamily="49" charset="0"/>
                <a:cs typeface="Courier New" panose="02070309020205020404" pitchFamily="49" charset="0"/>
              </a:rPr>
              <a:t>s_block_group_desc.parse</a:t>
            </a:r>
            <a:r>
              <a:rPr lang="en-CA" sz="1400" dirty="0">
                <a:solidFill>
                  <a:schemeClr val="accent6">
                    <a:lumMod val="75000"/>
                  </a:schemeClr>
                </a:solidFill>
                <a:latin typeface="Courier New" panose="02070309020205020404" pitchFamily="49" charset="0"/>
                <a:cs typeface="Courier New" panose="02070309020205020404" pitchFamily="49" charset="0"/>
              </a:rPr>
              <a:t>(</a:t>
            </a:r>
            <a:r>
              <a:rPr lang="en-CA" sz="1400" dirty="0" err="1">
                <a:solidFill>
                  <a:schemeClr val="accent6">
                    <a:lumMod val="75000"/>
                  </a:schemeClr>
                </a:solidFill>
                <a:latin typeface="Courier New" panose="02070309020205020404" pitchFamily="49" charset="0"/>
                <a:cs typeface="Courier New" panose="02070309020205020404" pitchFamily="49" charset="0"/>
              </a:rPr>
              <a:t>buf</a:t>
            </a:r>
            <a:r>
              <a:rPr lang="en-CA" sz="1400" dirty="0">
                <a:solidFill>
                  <a:schemeClr val="accent6">
                    <a:lumMod val="75000"/>
                  </a:schemeClr>
                </a:solidFill>
                <a:latin typeface="Courier New" panose="02070309020205020404" pitchFamily="49" charset="0"/>
                <a:cs typeface="Courier New" panose="02070309020205020404" pitchFamily="49" charset="0"/>
              </a:rPr>
              <a:t>, </a:t>
            </a:r>
            <a:r>
              <a:rPr lang="en-CA" sz="1400" dirty="0" err="1">
                <a:solidFill>
                  <a:schemeClr val="accent6">
                    <a:lumMod val="75000"/>
                  </a:schemeClr>
                </a:solidFill>
                <a:latin typeface="Courier New" panose="02070309020205020404" pitchFamily="49" charset="0"/>
                <a:cs typeface="Courier New" panose="02070309020205020404" pitchFamily="49" charset="0"/>
              </a:rPr>
              <a:t>len</a:t>
            </a:r>
            <a:r>
              <a:rPr lang="en-CA" sz="1400" dirty="0">
                <a:solidFill>
                  <a:schemeClr val="accent6">
                    <a:lumMod val="75000"/>
                  </a:schemeClr>
                </a:solidFill>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if (ret &lt; </a:t>
            </a:r>
            <a:r>
              <a:rPr lang="en-CA" sz="1400" dirty="0">
                <a:solidFill>
                  <a:srgbClr val="0070C0"/>
                </a:solidFill>
                <a:latin typeface="Courier New" panose="02070309020205020404" pitchFamily="49" charset="0"/>
                <a:cs typeface="Courier New" panose="02070309020205020404" pitchFamily="49" charset="0"/>
              </a:rPr>
              <a:t>0</a:t>
            </a:r>
            <a:r>
              <a:rPr lang="en-CA" sz="1400" dirty="0">
                <a:solidFill>
                  <a:schemeClr val="accent6">
                    <a:lumMod val="75000"/>
                  </a:schemeClr>
                </a:solidFill>
                <a:latin typeface="Courier New" panose="02070309020205020404" pitchFamily="49" charset="0"/>
                <a:cs typeface="Courier New" panose="02070309020205020404" pitchFamily="49" charset="0"/>
              </a:rPr>
              <a:t>) return </a:t>
            </a:r>
            <a:r>
              <a:rPr lang="en-CA" sz="1400" dirty="0" smtClean="0">
                <a:solidFill>
                  <a:schemeClr val="accent6">
                    <a:lumMod val="75000"/>
                  </a:schemeClr>
                </a:solidFill>
                <a:latin typeface="Courier New" panose="02070309020205020404" pitchFamily="49" charset="0"/>
                <a:cs typeface="Courier New" panose="02070309020205020404" pitchFamily="49" charset="0"/>
              </a:rPr>
              <a:t>ret;</a:t>
            </a:r>
            <a:endParaRPr lang="en-CA" sz="1400" dirty="0">
              <a:solidFill>
                <a:schemeClr val="accent6">
                  <a:lumMod val="75000"/>
                </a:schemeClr>
              </a:solidFill>
              <a:latin typeface="Courier New" panose="02070309020205020404" pitchFamily="49" charset="0"/>
              <a:cs typeface="Courier New" panose="02070309020205020404" pitchFamily="49" charset="0"/>
            </a:endParaRPr>
          </a:p>
          <a:p>
            <a:pPr marL="0" indent="0">
              <a:lnSpc>
                <a:spcPts val="2000"/>
              </a:lnSpc>
              <a:spcBef>
                <a:spcPts val="0"/>
              </a:spcBef>
              <a:spcAft>
                <a:spcPts val="0"/>
              </a:spcAft>
              <a:buNone/>
            </a:pPr>
            <a:r>
              <a:rPr lang="en-CA" sz="1400" dirty="0" smtClean="0">
                <a:solidFill>
                  <a:schemeClr val="accent6">
                    <a:lumMod val="75000"/>
                  </a:schemeClr>
                </a:solidFill>
                <a:latin typeface="Courier New" panose="02070309020205020404" pitchFamily="49" charset="0"/>
                <a:cs typeface="Courier New" panose="02070309020205020404" pitchFamily="49" charset="0"/>
              </a:rPr>
              <a:t>  </a:t>
            </a:r>
            <a:r>
              <a:rPr lang="en-CA" sz="1400" dirty="0" smtClean="0">
                <a:latin typeface="Courier New" panose="02070309020205020404" pitchFamily="49" charset="0"/>
                <a:cs typeface="Courier New" panose="02070309020205020404" pitchFamily="49" charset="0"/>
              </a:rPr>
              <a:t>if (!(this-&gt;</a:t>
            </a:r>
            <a:r>
              <a:rPr lang="en-CA" sz="1400" dirty="0" err="1" smtClean="0">
                <a:latin typeface="Courier New" panose="02070309020205020404" pitchFamily="49" charset="0"/>
                <a:cs typeface="Courier New" panose="02070309020205020404" pitchFamily="49" charset="0"/>
              </a:rPr>
              <a:t>s_log_block_size</a:t>
            </a:r>
            <a:r>
              <a:rPr lang="en-CA" sz="1400" dirty="0" smtClean="0">
                <a:latin typeface="Courier New" panose="02070309020205020404" pitchFamily="49" charset="0"/>
                <a:cs typeface="Courier New" panose="02070309020205020404" pitchFamily="49" charset="0"/>
              </a:rPr>
              <a:t> &lt;= </a:t>
            </a:r>
            <a:r>
              <a:rPr lang="en-CA" sz="1400" dirty="0" smtClean="0">
                <a:solidFill>
                  <a:srgbClr val="0070C0"/>
                </a:solidFill>
                <a:latin typeface="Courier New" panose="02070309020205020404" pitchFamily="49" charset="0"/>
                <a:cs typeface="Courier New" panose="02070309020205020404" pitchFamily="49" charset="0"/>
              </a:rPr>
              <a:t>6</a:t>
            </a:r>
            <a:r>
              <a:rPr lang="en-CA" sz="1400" dirty="0">
                <a:solidFill>
                  <a:schemeClr val="accent6">
                    <a:lumMod val="75000"/>
                  </a:schemeClr>
                </a:solidFill>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return ERR_CORRUPT;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if (!(this-&gt;</a:t>
            </a:r>
            <a:r>
              <a:rPr lang="en-CA" sz="1400" dirty="0" err="1">
                <a:solidFill>
                  <a:schemeClr val="accent6">
                    <a:lumMod val="75000"/>
                  </a:schemeClr>
                </a:solidFill>
                <a:latin typeface="Courier New" panose="02070309020205020404" pitchFamily="49" charset="0"/>
                <a:cs typeface="Courier New" panose="02070309020205020404" pitchFamily="49" charset="0"/>
              </a:rPr>
              <a:t>s_magic</a:t>
            </a:r>
            <a:r>
              <a:rPr lang="en-CA" sz="1400" dirty="0">
                <a:solidFill>
                  <a:schemeClr val="accent6">
                    <a:lumMod val="75000"/>
                  </a:schemeClr>
                </a:solidFill>
                <a:latin typeface="Courier New" panose="02070309020205020404" pitchFamily="49" charset="0"/>
                <a:cs typeface="Courier New" panose="02070309020205020404" pitchFamily="49" charset="0"/>
              </a:rPr>
              <a:t> == </a:t>
            </a:r>
            <a:r>
              <a:rPr lang="en-CA" sz="1400" dirty="0">
                <a:solidFill>
                  <a:srgbClr val="0070C0"/>
                </a:solidFill>
                <a:latin typeface="Courier New" panose="02070309020205020404" pitchFamily="49" charset="0"/>
                <a:cs typeface="Courier New" panose="02070309020205020404" pitchFamily="49" charset="0"/>
              </a:rPr>
              <a:t>0xef53</a:t>
            </a:r>
            <a:r>
              <a:rPr lang="en-CA" sz="1400" dirty="0">
                <a:solidFill>
                  <a:schemeClr val="accent6">
                    <a:lumMod val="75000"/>
                  </a:schemeClr>
                </a:solidFill>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return ERR_CORRUPT;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return </a:t>
            </a:r>
            <a:r>
              <a:rPr lang="en-CA" sz="1400" dirty="0">
                <a:solidFill>
                  <a:srgbClr val="00B0F0"/>
                </a:solidFill>
                <a:latin typeface="Courier New" panose="02070309020205020404" pitchFamily="49" charset="0"/>
                <a:cs typeface="Courier New" panose="02070309020205020404" pitchFamily="49" charset="0"/>
              </a:rPr>
              <a:t>0</a:t>
            </a:r>
            <a:r>
              <a:rPr lang="en-CA" sz="1400" dirty="0">
                <a:solidFill>
                  <a:schemeClr val="accent6">
                    <a:lumMod val="75000"/>
                  </a:schemeClr>
                </a:solidFill>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a:t>
            </a:r>
          </a:p>
        </p:txBody>
      </p:sp>
      <p:sp>
        <p:nvSpPr>
          <p:cNvPr id="10" name="Content Placeholder 6"/>
          <p:cNvSpPr txBox="1">
            <a:spLocks noGrp="1"/>
          </p:cNvSpPr>
          <p:nvPr>
            <p:ph sz="half" idx="2"/>
          </p:nvPr>
        </p:nvSpPr>
        <p:spPr>
          <a:xfrm>
            <a:off x="684211" y="2100086"/>
            <a:ext cx="5070740" cy="4072114"/>
          </a:xfrm>
          <a:prstGeom prst="rect">
            <a:avLst/>
          </a:prstGeom>
        </p:spPr>
        <p:txBody>
          <a:bodyPr vert="horz" lIns="91440" tIns="45720" rIns="91440" bIns="45720" rtlCol="0" anchor="t">
            <a:no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pPr marL="0" indent="0">
              <a:lnSpc>
                <a:spcPts val="2000"/>
              </a:lnSpc>
              <a:spcBef>
                <a:spcPts val="0"/>
              </a:spcBef>
              <a:spcAft>
                <a:spcPts val="0"/>
              </a:spcAft>
              <a:buNone/>
            </a:pPr>
            <a:r>
              <a:rPr lang="en-CA" sz="1400" b="1" dirty="0">
                <a:solidFill>
                  <a:schemeClr val="accent6">
                    <a:lumMod val="75000"/>
                  </a:schemeClr>
                </a:solidFill>
                <a:latin typeface="Courier New" panose="02070309020205020404" pitchFamily="49" charset="0"/>
                <a:cs typeface="Courier New" panose="02070309020205020404" pitchFamily="49" charset="0"/>
              </a:rPr>
              <a:t>FSSUPER</a:t>
            </a:r>
            <a:r>
              <a:rPr lang="en-CA" sz="1400" dirty="0">
                <a:solidFill>
                  <a:schemeClr val="accent6">
                    <a:lumMod val="75000"/>
                  </a:schemeClr>
                </a:solidFill>
                <a:latin typeface="Courier New" panose="02070309020205020404" pitchFamily="49" charset="0"/>
                <a:cs typeface="Courier New" panose="02070309020205020404" pitchFamily="49" charset="0"/>
              </a:rPr>
              <a:t>(</a:t>
            </a:r>
            <a:r>
              <a:rPr lang="en-CA" sz="1400" dirty="0">
                <a:solidFill>
                  <a:schemeClr val="accent3"/>
                </a:solidFill>
                <a:latin typeface="Courier New" panose="02070309020205020404" pitchFamily="49" charset="0"/>
                <a:cs typeface="Courier New" panose="02070309020205020404" pitchFamily="49" charset="0"/>
              </a:rPr>
              <a:t>location</a:t>
            </a:r>
            <a:r>
              <a:rPr lang="en-CA" sz="1400" dirty="0">
                <a:solidFill>
                  <a:schemeClr val="accent6">
                    <a:lumMod val="75000"/>
                  </a:schemeClr>
                </a:solidFill>
                <a:latin typeface="Courier New" panose="02070309020205020404" pitchFamily="49" charset="0"/>
                <a:cs typeface="Courier New" panose="02070309020205020404" pitchFamily="49" charset="0"/>
              </a:rPr>
              <a:t>=</a:t>
            </a:r>
            <a:r>
              <a:rPr lang="en-CA" sz="1400" dirty="0">
                <a:solidFill>
                  <a:srgbClr val="0070C0"/>
                </a:solidFill>
                <a:latin typeface="Courier New" panose="02070309020205020404" pitchFamily="49" charset="0"/>
                <a:cs typeface="Courier New" panose="02070309020205020404" pitchFamily="49" charset="0"/>
              </a:rPr>
              <a:t>1024</a:t>
            </a:r>
            <a:r>
              <a:rPr lang="en-CA" sz="1400" dirty="0">
                <a:solidFill>
                  <a:schemeClr val="accent6">
                    <a:lumMod val="75000"/>
                  </a:schemeClr>
                </a:solidFill>
                <a:latin typeface="Courier New" panose="02070309020205020404" pitchFamily="49" charset="0"/>
                <a:cs typeface="Courier New" panose="02070309020205020404" pitchFamily="49" charset="0"/>
              </a:rPr>
              <a:t>) </a:t>
            </a:r>
            <a:r>
              <a:rPr lang="en-CA" sz="1400" dirty="0" smtClean="0">
                <a:latin typeface="Courier New" panose="02070309020205020404" pitchFamily="49" charset="0"/>
                <a:cs typeface="Courier New" panose="02070309020205020404" pitchFamily="49" charset="0"/>
              </a:rPr>
              <a:t>ext4_super_block </a:t>
            </a:r>
            <a:r>
              <a:rPr lang="en-CA" sz="1400" dirty="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__le32	</a:t>
            </a:r>
            <a:r>
              <a:rPr lang="en-CA" sz="1400" dirty="0" err="1">
                <a:latin typeface="Courier New" panose="02070309020205020404" pitchFamily="49" charset="0"/>
                <a:cs typeface="Courier New" panose="02070309020205020404" pitchFamily="49" charset="0"/>
              </a:rPr>
              <a:t>s_blocks_count</a:t>
            </a:r>
            <a:r>
              <a:rPr lang="en-CA" sz="1400" dirty="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__le32	</a:t>
            </a:r>
            <a:r>
              <a:rPr lang="en-CA" sz="1400" dirty="0" err="1">
                <a:latin typeface="Courier New" panose="02070309020205020404" pitchFamily="49" charset="0"/>
                <a:cs typeface="Courier New" panose="02070309020205020404" pitchFamily="49" charset="0"/>
              </a:rPr>
              <a:t>s_log_block_size</a:t>
            </a:r>
            <a:r>
              <a:rPr lang="en-CA" sz="1400" dirty="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__le32	</a:t>
            </a:r>
            <a:r>
              <a:rPr lang="en-CA" sz="1400" dirty="0" err="1">
                <a:latin typeface="Courier New" panose="02070309020205020404" pitchFamily="49" charset="0"/>
                <a:cs typeface="Courier New" panose="02070309020205020404" pitchFamily="49" charset="0"/>
              </a:rPr>
              <a:t>s_blocks_per_group</a:t>
            </a:r>
            <a:r>
              <a:rPr lang="en-CA" sz="14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a:t>
            </a:r>
            <a:r>
              <a:rPr lang="en-CA" sz="1400" dirty="0" smtClean="0">
                <a:solidFill>
                  <a:schemeClr val="accent6">
                    <a:lumMod val="75000"/>
                  </a:schemeClr>
                </a:solidFill>
                <a:latin typeface="Courier New" panose="02070309020205020404" pitchFamily="49" charset="0"/>
                <a:cs typeface="Courier New" panose="02070309020205020404" pitchFamily="49" charset="0"/>
              </a:rPr>
              <a:t> …</a:t>
            </a:r>
            <a:endParaRPr lang="en-CA" sz="1400" dirty="0">
              <a:solidFill>
                <a:schemeClr val="accent6">
                  <a:lumMod val="75000"/>
                </a:schemeClr>
              </a:solidFill>
              <a:latin typeface="Courier New" panose="02070309020205020404" pitchFamily="49" charset="0"/>
              <a:cs typeface="Courier New" panose="02070309020205020404" pitchFamily="49" charset="0"/>
            </a:endParaRPr>
          </a:p>
          <a:p>
            <a:pPr marL="0" indent="0">
              <a:lnSpc>
                <a:spcPts val="2000"/>
              </a:lnSpc>
              <a:spcBef>
                <a:spcPts val="0"/>
              </a:spcBef>
              <a:spcAft>
                <a:spcPts val="0"/>
              </a:spcAft>
              <a:buNone/>
            </a:pPr>
            <a:r>
              <a:rPr lang="en-CA" sz="1400" dirty="0" smtClean="0">
                <a:solidFill>
                  <a:schemeClr val="accent6">
                    <a:lumMod val="75000"/>
                  </a:schemeClr>
                </a:solidFill>
                <a:latin typeface="Courier New" panose="02070309020205020404" pitchFamily="49" charset="0"/>
                <a:cs typeface="Courier New" panose="02070309020205020404" pitchFamily="49" charset="0"/>
              </a:rPr>
              <a:t>  __</a:t>
            </a:r>
            <a:r>
              <a:rPr lang="en-CA" sz="1400" dirty="0">
                <a:solidFill>
                  <a:schemeClr val="accent6">
                    <a:lumMod val="75000"/>
                  </a:schemeClr>
                </a:solidFill>
                <a:latin typeface="Courier New" panose="02070309020205020404" pitchFamily="49" charset="0"/>
                <a:cs typeface="Courier New" panose="02070309020205020404" pitchFamily="49" charset="0"/>
              </a:rPr>
              <a:t>le16	</a:t>
            </a:r>
            <a:r>
              <a:rPr lang="en-CA" sz="1400" dirty="0" err="1">
                <a:solidFill>
                  <a:schemeClr val="accent6">
                    <a:lumMod val="75000"/>
                  </a:schemeClr>
                </a:solidFill>
                <a:latin typeface="Courier New" panose="02070309020205020404" pitchFamily="49" charset="0"/>
                <a:cs typeface="Courier New" panose="02070309020205020404" pitchFamily="49" charset="0"/>
              </a:rPr>
              <a:t>s_magic</a:t>
            </a:r>
            <a:r>
              <a:rPr lang="en-CA" sz="1400" dirty="0">
                <a:solidFill>
                  <a:schemeClr val="accent6">
                    <a:lumMod val="75000"/>
                  </a:schemeClr>
                </a:solidFill>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a:t>
            </a:r>
            <a:r>
              <a:rPr lang="en-CA" sz="1400" b="1" dirty="0">
                <a:solidFill>
                  <a:schemeClr val="accent6">
                    <a:lumMod val="75000"/>
                  </a:schemeClr>
                </a:solidFill>
                <a:latin typeface="Courier New" panose="02070309020205020404" pitchFamily="49" charset="0"/>
                <a:cs typeface="Courier New" panose="02070309020205020404" pitchFamily="49" charset="0"/>
              </a:rPr>
              <a:t>FIELD</a:t>
            </a:r>
            <a:r>
              <a:rPr lang="en-CA" sz="1400" dirty="0">
                <a:solidFill>
                  <a:schemeClr val="accent6">
                    <a:lumMod val="75000"/>
                  </a:schemeClr>
                </a:solidFill>
                <a:latin typeface="Courier New" panose="02070309020205020404" pitchFamily="49" charset="0"/>
                <a:cs typeface="Courier New" panose="02070309020205020404" pitchFamily="49" charset="0"/>
              </a:rPr>
              <a:t>(</a:t>
            </a:r>
            <a:r>
              <a:rPr lang="en-CA" sz="1400" dirty="0">
                <a:solidFill>
                  <a:schemeClr val="accent3"/>
                </a:solidFill>
                <a:latin typeface="Courier New" panose="02070309020205020404" pitchFamily="49" charset="0"/>
                <a:cs typeface="Courier New" panose="02070309020205020404" pitchFamily="49" charset="0"/>
              </a:rPr>
              <a:t>type</a:t>
            </a:r>
            <a:r>
              <a:rPr lang="en-CA" sz="1400" dirty="0">
                <a:solidFill>
                  <a:schemeClr val="accent6">
                    <a:lumMod val="75000"/>
                  </a:schemeClr>
                </a:solidFill>
                <a:latin typeface="Courier New" panose="02070309020205020404" pitchFamily="49" charset="0"/>
                <a:cs typeface="Courier New" panose="02070309020205020404" pitchFamily="49" charset="0"/>
              </a:rPr>
              <a:t>=</a:t>
            </a:r>
            <a:r>
              <a:rPr lang="en-CA" sz="1400" dirty="0" err="1">
                <a:solidFill>
                  <a:schemeClr val="accent6">
                    <a:lumMod val="75000"/>
                  </a:schemeClr>
                </a:solidFill>
                <a:latin typeface="Courier New" panose="02070309020205020404" pitchFamily="49" charset="0"/>
                <a:cs typeface="Courier New" panose="02070309020205020404" pitchFamily="49" charset="0"/>
              </a:rPr>
              <a:t>enum</a:t>
            </a:r>
            <a:r>
              <a:rPr lang="en-CA" sz="1400" dirty="0">
                <a:solidFill>
                  <a:schemeClr val="accent6">
                    <a:lumMod val="75000"/>
                  </a:schemeClr>
                </a:solidFill>
                <a:latin typeface="Courier New" panose="02070309020205020404" pitchFamily="49" charset="0"/>
                <a:cs typeface="Courier New" panose="02070309020205020404" pitchFamily="49" charset="0"/>
              </a:rPr>
              <a:t> </a:t>
            </a:r>
            <a:r>
              <a:rPr lang="en-CA" sz="1400" dirty="0" smtClean="0">
                <a:solidFill>
                  <a:schemeClr val="accent6">
                    <a:lumMod val="75000"/>
                  </a:schemeClr>
                </a:solidFill>
                <a:latin typeface="Courier New" panose="02070309020205020404" pitchFamily="49" charset="0"/>
                <a:cs typeface="Courier New" panose="02070309020205020404" pitchFamily="49" charset="0"/>
              </a:rPr>
              <a:t>ext4_os</a:t>
            </a:r>
            <a:r>
              <a:rPr lang="en-CA" sz="1400" dirty="0">
                <a:solidFill>
                  <a:schemeClr val="accent6">
                    <a:lumMod val="75000"/>
                  </a:schemeClr>
                </a:solidFill>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__le32	</a:t>
            </a:r>
            <a:r>
              <a:rPr lang="en-CA" sz="1400" dirty="0" err="1">
                <a:solidFill>
                  <a:schemeClr val="accent6">
                    <a:lumMod val="75000"/>
                  </a:schemeClr>
                </a:solidFill>
                <a:latin typeface="Courier New" panose="02070309020205020404" pitchFamily="49" charset="0"/>
                <a:cs typeface="Courier New" panose="02070309020205020404" pitchFamily="49" charset="0"/>
              </a:rPr>
              <a:t>s_creator_os</a:t>
            </a:r>
            <a:r>
              <a:rPr lang="en-CA" sz="1400" dirty="0" smtClean="0">
                <a:solidFill>
                  <a:schemeClr val="accent6">
                    <a:lumMod val="75000"/>
                  </a:schemeClr>
                </a:solidFill>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a:t>
            </a:r>
            <a:r>
              <a:rPr lang="en-CA" sz="1400" dirty="0" smtClean="0">
                <a:solidFill>
                  <a:schemeClr val="accent6">
                    <a:lumMod val="75000"/>
                  </a:schemeClr>
                </a:solidFill>
                <a:latin typeface="Courier New" panose="02070309020205020404" pitchFamily="49" charset="0"/>
                <a:cs typeface="Courier New" panose="02070309020205020404" pitchFamily="49" charset="0"/>
              </a:rPr>
              <a:t> …</a:t>
            </a:r>
            <a:endParaRPr lang="en-CA" sz="1400" dirty="0">
              <a:solidFill>
                <a:schemeClr val="accent6">
                  <a:lumMod val="75000"/>
                </a:schemeClr>
              </a:solidFill>
              <a:latin typeface="Courier New" panose="02070309020205020404" pitchFamily="49" charset="0"/>
              <a:cs typeface="Courier New" panose="02070309020205020404" pitchFamily="49" charset="0"/>
            </a:endParaRPr>
          </a:p>
          <a:p>
            <a:pPr marL="0" indent="0">
              <a:lnSpc>
                <a:spcPts val="2000"/>
              </a:lnSpc>
              <a:spcBef>
                <a:spcPts val="0"/>
              </a:spcBef>
              <a:spcAft>
                <a:spcPts val="0"/>
              </a:spcAft>
              <a:buNone/>
            </a:pPr>
            <a:r>
              <a:rPr lang="en-CA" sz="1400" dirty="0" smtClean="0">
                <a:solidFill>
                  <a:schemeClr val="accent6">
                    <a:lumMod val="75000"/>
                  </a:schemeClr>
                </a:solidFill>
                <a:latin typeface="Courier New" panose="02070309020205020404" pitchFamily="49" charset="0"/>
                <a:cs typeface="Courier New" panose="02070309020205020404" pitchFamily="49" charset="0"/>
              </a:rPr>
              <a:t>  </a:t>
            </a:r>
            <a:r>
              <a:rPr lang="en-CA" sz="1400" b="1" dirty="0" smtClean="0">
                <a:solidFill>
                  <a:schemeClr val="accent6">
                    <a:lumMod val="75000"/>
                  </a:schemeClr>
                </a:solidFill>
                <a:latin typeface="Courier New" panose="02070309020205020404" pitchFamily="49" charset="0"/>
                <a:cs typeface="Courier New" panose="02070309020205020404" pitchFamily="49" charset="0"/>
              </a:rPr>
              <a:t>POINTER</a:t>
            </a:r>
            <a:r>
              <a:rPr lang="en-CA" sz="1400" dirty="0" smtClean="0">
                <a:solidFill>
                  <a:schemeClr val="accent6">
                    <a:lumMod val="75000"/>
                  </a:schemeClr>
                </a:solidFill>
                <a:latin typeface="Courier New" panose="02070309020205020404" pitchFamily="49" charset="0"/>
                <a:cs typeface="Courier New" panose="02070309020205020404" pitchFamily="49" charset="0"/>
              </a:rPr>
              <a:t>(</a:t>
            </a:r>
            <a:r>
              <a:rPr lang="en-CA" sz="1400" dirty="0" smtClean="0">
                <a:solidFill>
                  <a:schemeClr val="accent3"/>
                </a:solidFill>
                <a:latin typeface="Courier New" panose="02070309020205020404" pitchFamily="49" charset="0"/>
                <a:cs typeface="Courier New" panose="02070309020205020404" pitchFamily="49" charset="0"/>
              </a:rPr>
              <a:t>name</a:t>
            </a:r>
            <a:r>
              <a:rPr lang="en-CA" sz="1400" dirty="0" smtClean="0">
                <a:solidFill>
                  <a:schemeClr val="accent6">
                    <a:lumMod val="75000"/>
                  </a:schemeClr>
                </a:solidFill>
                <a:latin typeface="Courier New" panose="02070309020205020404" pitchFamily="49" charset="0"/>
                <a:cs typeface="Courier New" panose="02070309020205020404" pitchFamily="49" charset="0"/>
              </a:rPr>
              <a:t>=</a:t>
            </a:r>
            <a:r>
              <a:rPr lang="en-CA" sz="1400" dirty="0" err="1" smtClean="0">
                <a:solidFill>
                  <a:schemeClr val="accent6">
                    <a:lumMod val="75000"/>
                  </a:schemeClr>
                </a:solidFill>
                <a:latin typeface="Courier New" panose="02070309020205020404" pitchFamily="49" charset="0"/>
                <a:cs typeface="Courier New" panose="02070309020205020404" pitchFamily="49" charset="0"/>
              </a:rPr>
              <a:t>s_block_group_desc</a:t>
            </a:r>
            <a:r>
              <a:rPr lang="en-CA" sz="1400" dirty="0" smtClean="0">
                <a:solidFill>
                  <a:schemeClr val="accent6">
                    <a:lumMod val="75000"/>
                  </a:schemeClr>
                </a:solidFill>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a:t>
            </a:r>
            <a:r>
              <a:rPr lang="en-CA" sz="1400" dirty="0" smtClean="0">
                <a:solidFill>
                  <a:schemeClr val="accent6">
                    <a:lumMod val="75000"/>
                  </a:schemeClr>
                </a:solidFill>
                <a:latin typeface="Courier New" panose="02070309020205020404" pitchFamily="49" charset="0"/>
                <a:cs typeface="Courier New" panose="02070309020205020404" pitchFamily="49" charset="0"/>
              </a:rPr>
              <a:t> </a:t>
            </a:r>
            <a:r>
              <a:rPr lang="en-CA" sz="1400" dirty="0" smtClean="0">
                <a:solidFill>
                  <a:schemeClr val="accent3"/>
                </a:solidFill>
                <a:latin typeface="Courier New" panose="02070309020205020404" pitchFamily="49" charset="0"/>
                <a:cs typeface="Courier New" panose="02070309020205020404" pitchFamily="49" charset="0"/>
              </a:rPr>
              <a:t>type</a:t>
            </a:r>
            <a:r>
              <a:rPr lang="en-CA" sz="1400" dirty="0" smtClean="0">
                <a:solidFill>
                  <a:schemeClr val="accent6">
                    <a:lumMod val="75000"/>
                  </a:schemeClr>
                </a:solidFill>
                <a:latin typeface="Courier New" panose="02070309020205020404" pitchFamily="49" charset="0"/>
                <a:cs typeface="Courier New" panose="02070309020205020404" pitchFamily="49" charset="0"/>
              </a:rPr>
              <a:t>=ext4_group_desc_table</a:t>
            </a:r>
            <a:r>
              <a:rPr lang="en-CA" sz="1400" dirty="0">
                <a:solidFill>
                  <a:schemeClr val="accent6">
                    <a:lumMod val="75000"/>
                  </a:schemeClr>
                </a:solidFill>
                <a:latin typeface="Courier New" panose="02070309020205020404" pitchFamily="49" charset="0"/>
                <a:cs typeface="Courier New" panose="02070309020205020404" pitchFamily="49" charset="0"/>
              </a:rPr>
              <a:t>, </a:t>
            </a:r>
            <a:r>
              <a:rPr lang="en-CA" sz="1400" dirty="0" err="1">
                <a:solidFill>
                  <a:schemeClr val="accent3"/>
                </a:solidFill>
                <a:latin typeface="Courier New" panose="02070309020205020404" pitchFamily="49" charset="0"/>
                <a:cs typeface="Courier New" panose="02070309020205020404" pitchFamily="49" charset="0"/>
              </a:rPr>
              <a:t>aspc</a:t>
            </a:r>
            <a:r>
              <a:rPr lang="en-CA" sz="1400" dirty="0" smtClean="0">
                <a:solidFill>
                  <a:schemeClr val="accent6">
                    <a:lumMod val="75000"/>
                  </a:schemeClr>
                </a:solidFill>
                <a:latin typeface="Courier New" panose="02070309020205020404" pitchFamily="49" charset="0"/>
                <a:cs typeface="Courier New" panose="02070309020205020404" pitchFamily="49" charset="0"/>
              </a:rPr>
              <a:t>=block</a:t>
            </a:r>
            <a:r>
              <a:rPr lang="en-CA" sz="1400" dirty="0">
                <a:solidFill>
                  <a:schemeClr val="accent6">
                    <a:lumMod val="75000"/>
                  </a:schemeClr>
                </a:solidFill>
                <a:latin typeface="Courier New" panose="02070309020205020404" pitchFamily="49" charset="0"/>
                <a:cs typeface="Courier New" panose="02070309020205020404" pitchFamily="49" charset="0"/>
              </a:rPr>
              <a:t>, </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a:t>
            </a:r>
            <a:r>
              <a:rPr lang="en-CA" sz="1400" dirty="0" smtClean="0">
                <a:solidFill>
                  <a:schemeClr val="accent3"/>
                </a:solidFill>
                <a:latin typeface="Courier New" panose="02070309020205020404" pitchFamily="49" charset="0"/>
                <a:cs typeface="Courier New" panose="02070309020205020404" pitchFamily="49" charset="0"/>
              </a:rPr>
              <a:t>expr</a:t>
            </a:r>
            <a:r>
              <a:rPr lang="en-CA" sz="1400" dirty="0">
                <a:solidFill>
                  <a:schemeClr val="accent6">
                    <a:lumMod val="75000"/>
                  </a:schemeClr>
                </a:solidFill>
                <a:latin typeface="Courier New" panose="02070309020205020404" pitchFamily="49" charset="0"/>
                <a:cs typeface="Courier New" panose="02070309020205020404" pitchFamily="49" charset="0"/>
              </a:rPr>
              <a:t>=(</a:t>
            </a:r>
            <a:r>
              <a:rPr lang="en-CA" sz="1400" dirty="0" err="1">
                <a:solidFill>
                  <a:schemeClr val="accent6">
                    <a:lumMod val="75000"/>
                  </a:schemeClr>
                </a:solidFill>
                <a:latin typeface="Courier New" panose="02070309020205020404" pitchFamily="49" charset="0"/>
                <a:cs typeface="Courier New" panose="02070309020205020404" pitchFamily="49" charset="0"/>
              </a:rPr>
              <a:t>self.s_log_block_size</a:t>
            </a:r>
            <a:r>
              <a:rPr lang="en-CA" sz="1400" dirty="0">
                <a:solidFill>
                  <a:schemeClr val="accent6">
                    <a:lumMod val="75000"/>
                  </a:schemeClr>
                </a:solidFill>
                <a:latin typeface="Courier New" panose="02070309020205020404" pitchFamily="49" charset="0"/>
                <a:cs typeface="Courier New" panose="02070309020205020404" pitchFamily="49" charset="0"/>
              </a:rPr>
              <a:t> == </a:t>
            </a:r>
            <a:r>
              <a:rPr lang="en-CA" sz="1400" dirty="0">
                <a:solidFill>
                  <a:srgbClr val="0070C0"/>
                </a:solidFill>
                <a:latin typeface="Courier New" panose="02070309020205020404" pitchFamily="49" charset="0"/>
                <a:cs typeface="Courier New" panose="02070309020205020404" pitchFamily="49" charset="0"/>
              </a:rPr>
              <a:t>0</a:t>
            </a:r>
            <a:r>
              <a:rPr lang="en-CA" sz="1400" dirty="0" smtClean="0">
                <a:solidFill>
                  <a:schemeClr val="accent6">
                    <a:lumMod val="75000"/>
                  </a:schemeClr>
                </a:solidFill>
                <a:latin typeface="Courier New" panose="02070309020205020404" pitchFamily="49" charset="0"/>
                <a:cs typeface="Courier New" panose="02070309020205020404" pitchFamily="49" charset="0"/>
              </a:rPr>
              <a:t>) ? </a:t>
            </a:r>
            <a:r>
              <a:rPr lang="en-CA" sz="1400" dirty="0" smtClean="0">
                <a:solidFill>
                  <a:srgbClr val="0070C0"/>
                </a:solidFill>
                <a:latin typeface="Courier New" panose="02070309020205020404" pitchFamily="49" charset="0"/>
                <a:cs typeface="Courier New" panose="02070309020205020404" pitchFamily="49" charset="0"/>
              </a:rPr>
              <a:t>2</a:t>
            </a:r>
            <a:r>
              <a:rPr lang="en-CA" sz="1400" dirty="0" smtClean="0">
                <a:solidFill>
                  <a:schemeClr val="accent6">
                    <a:lumMod val="75000"/>
                  </a:schemeClr>
                </a:solidFill>
                <a:latin typeface="Courier New" panose="02070309020205020404" pitchFamily="49" charset="0"/>
                <a:cs typeface="Courier New" panose="02070309020205020404" pitchFamily="49" charset="0"/>
              </a:rPr>
              <a:t> : </a:t>
            </a:r>
            <a:r>
              <a:rPr lang="en-CA" sz="1400" dirty="0" smtClean="0">
                <a:solidFill>
                  <a:srgbClr val="0070C0"/>
                </a:solidFill>
                <a:latin typeface="Courier New" panose="02070309020205020404" pitchFamily="49" charset="0"/>
                <a:cs typeface="Courier New" panose="02070309020205020404" pitchFamily="49" charset="0"/>
              </a:rPr>
              <a:t>1</a:t>
            </a:r>
            <a:r>
              <a:rPr lang="en-CA" sz="1400" dirty="0" smtClean="0">
                <a:solidFill>
                  <a:schemeClr val="accent6">
                    <a:lumMod val="75000"/>
                  </a:schemeClr>
                </a:solidFill>
                <a:latin typeface="Courier New" panose="02070309020205020404" pitchFamily="49" charset="0"/>
                <a:cs typeface="Courier New" panose="02070309020205020404" pitchFamily="49" charset="0"/>
              </a:rPr>
              <a:t>);</a:t>
            </a:r>
            <a:endParaRPr lang="en-CA" sz="1400" dirty="0">
              <a:solidFill>
                <a:schemeClr val="accent6">
                  <a:lumMod val="75000"/>
                </a:schemeClr>
              </a:solidFill>
              <a:latin typeface="Courier New" panose="02070309020205020404" pitchFamily="49" charset="0"/>
              <a:cs typeface="Courier New" panose="02070309020205020404" pitchFamily="49" charset="0"/>
            </a:endParaRP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a:t>
            </a:r>
            <a:r>
              <a:rPr lang="en-CA" sz="1400" dirty="0">
                <a:solidFill>
                  <a:srgbClr val="00B050"/>
                </a:solidFill>
                <a:latin typeface="Courier New" panose="02070309020205020404" pitchFamily="49" charset="0"/>
                <a:cs typeface="Courier New" panose="02070309020205020404" pitchFamily="49" charset="0"/>
              </a:rPr>
              <a:t>/* maximum supported block size is 64KB */</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a:t>
            </a:r>
            <a:r>
              <a:rPr lang="en-CA" sz="1400" b="1" dirty="0">
                <a:solidFill>
                  <a:schemeClr val="accent6">
                    <a:lumMod val="75000"/>
                  </a:schemeClr>
                </a:solidFill>
                <a:latin typeface="Courier New" panose="02070309020205020404" pitchFamily="49" charset="0"/>
                <a:cs typeface="Courier New" panose="02070309020205020404" pitchFamily="49" charset="0"/>
              </a:rPr>
              <a:t>CHECK</a:t>
            </a:r>
            <a:r>
              <a:rPr lang="en-CA" sz="1400" dirty="0">
                <a:solidFill>
                  <a:schemeClr val="accent6">
                    <a:lumMod val="75000"/>
                  </a:schemeClr>
                </a:solidFill>
                <a:latin typeface="Courier New" panose="02070309020205020404" pitchFamily="49" charset="0"/>
                <a:cs typeface="Courier New" panose="02070309020205020404" pitchFamily="49" charset="0"/>
              </a:rPr>
              <a:t>(</a:t>
            </a:r>
            <a:r>
              <a:rPr lang="en-CA" sz="1400" dirty="0">
                <a:solidFill>
                  <a:schemeClr val="accent3"/>
                </a:solidFill>
                <a:latin typeface="Courier New" panose="02070309020205020404" pitchFamily="49" charset="0"/>
                <a:cs typeface="Courier New" panose="02070309020205020404" pitchFamily="49" charset="0"/>
              </a:rPr>
              <a:t>expr</a:t>
            </a:r>
            <a:r>
              <a:rPr lang="en-CA" sz="1400" dirty="0">
                <a:solidFill>
                  <a:schemeClr val="accent6">
                    <a:lumMod val="75000"/>
                  </a:schemeClr>
                </a:solidFill>
                <a:latin typeface="Courier New" panose="02070309020205020404" pitchFamily="49" charset="0"/>
                <a:cs typeface="Courier New" panose="02070309020205020404" pitchFamily="49" charset="0"/>
              </a:rPr>
              <a:t>=</a:t>
            </a:r>
            <a:r>
              <a:rPr lang="en-CA" sz="1400" dirty="0" err="1">
                <a:solidFill>
                  <a:schemeClr val="accent6">
                    <a:lumMod val="75000"/>
                  </a:schemeClr>
                </a:solidFill>
                <a:latin typeface="Courier New" panose="02070309020205020404" pitchFamily="49" charset="0"/>
                <a:cs typeface="Courier New" panose="02070309020205020404" pitchFamily="49" charset="0"/>
              </a:rPr>
              <a:t>self.s_log_block_size</a:t>
            </a:r>
            <a:r>
              <a:rPr lang="en-CA" sz="1400" dirty="0">
                <a:solidFill>
                  <a:schemeClr val="accent6">
                    <a:lumMod val="75000"/>
                  </a:schemeClr>
                </a:solidFill>
                <a:latin typeface="Courier New" panose="02070309020205020404" pitchFamily="49" charset="0"/>
                <a:cs typeface="Courier New" panose="02070309020205020404" pitchFamily="49" charset="0"/>
              </a:rPr>
              <a:t> &lt;= </a:t>
            </a:r>
            <a:r>
              <a:rPr lang="en-CA" sz="1400" dirty="0">
                <a:solidFill>
                  <a:srgbClr val="0070C0"/>
                </a:solidFill>
                <a:latin typeface="Courier New" panose="02070309020205020404" pitchFamily="49" charset="0"/>
                <a:cs typeface="Courier New" panose="02070309020205020404" pitchFamily="49" charset="0"/>
              </a:rPr>
              <a:t>6</a:t>
            </a:r>
            <a:r>
              <a:rPr lang="en-CA" sz="1400" dirty="0">
                <a:solidFill>
                  <a:schemeClr val="accent6">
                    <a:lumMod val="75000"/>
                  </a:schemeClr>
                </a:solidFill>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a:t>
            </a:r>
            <a:r>
              <a:rPr lang="en-CA" sz="1400" b="1" dirty="0">
                <a:solidFill>
                  <a:schemeClr val="accent6">
                    <a:lumMod val="75000"/>
                  </a:schemeClr>
                </a:solidFill>
                <a:latin typeface="Courier New" panose="02070309020205020404" pitchFamily="49" charset="0"/>
                <a:cs typeface="Courier New" panose="02070309020205020404" pitchFamily="49" charset="0"/>
              </a:rPr>
              <a:t>CHECK</a:t>
            </a:r>
            <a:r>
              <a:rPr lang="en-CA" sz="1400" dirty="0">
                <a:solidFill>
                  <a:schemeClr val="accent6">
                    <a:lumMod val="75000"/>
                  </a:schemeClr>
                </a:solidFill>
                <a:latin typeface="Courier New" panose="02070309020205020404" pitchFamily="49" charset="0"/>
                <a:cs typeface="Courier New" panose="02070309020205020404" pitchFamily="49" charset="0"/>
              </a:rPr>
              <a:t>(</a:t>
            </a:r>
            <a:r>
              <a:rPr lang="en-CA" sz="1400" dirty="0">
                <a:solidFill>
                  <a:schemeClr val="accent3"/>
                </a:solidFill>
                <a:latin typeface="Courier New" panose="02070309020205020404" pitchFamily="49" charset="0"/>
                <a:cs typeface="Courier New" panose="02070309020205020404" pitchFamily="49" charset="0"/>
              </a:rPr>
              <a:t>expr</a:t>
            </a:r>
            <a:r>
              <a:rPr lang="en-CA" sz="1400" dirty="0">
                <a:solidFill>
                  <a:schemeClr val="accent6">
                    <a:lumMod val="75000"/>
                  </a:schemeClr>
                </a:solidFill>
                <a:latin typeface="Courier New" panose="02070309020205020404" pitchFamily="49" charset="0"/>
                <a:cs typeface="Courier New" panose="02070309020205020404" pitchFamily="49" charset="0"/>
              </a:rPr>
              <a:t>=</a:t>
            </a:r>
            <a:r>
              <a:rPr lang="en-CA" sz="1400" dirty="0" err="1">
                <a:solidFill>
                  <a:schemeClr val="accent6">
                    <a:lumMod val="75000"/>
                  </a:schemeClr>
                </a:solidFill>
                <a:latin typeface="Courier New" panose="02070309020205020404" pitchFamily="49" charset="0"/>
                <a:cs typeface="Courier New" panose="02070309020205020404" pitchFamily="49" charset="0"/>
              </a:rPr>
              <a:t>self.s_magic</a:t>
            </a:r>
            <a:r>
              <a:rPr lang="en-CA" sz="1400" dirty="0">
                <a:solidFill>
                  <a:schemeClr val="accent6">
                    <a:lumMod val="75000"/>
                  </a:schemeClr>
                </a:solidFill>
                <a:latin typeface="Courier New" panose="02070309020205020404" pitchFamily="49" charset="0"/>
                <a:cs typeface="Courier New" panose="02070309020205020404" pitchFamily="49" charset="0"/>
              </a:rPr>
              <a:t> == </a:t>
            </a:r>
            <a:r>
              <a:rPr lang="en-CA" sz="1400" dirty="0">
                <a:solidFill>
                  <a:srgbClr val="0070C0"/>
                </a:solidFill>
                <a:latin typeface="Courier New" panose="02070309020205020404" pitchFamily="49" charset="0"/>
                <a:cs typeface="Courier New" panose="02070309020205020404" pitchFamily="49" charset="0"/>
              </a:rPr>
              <a:t>0xef53</a:t>
            </a:r>
            <a:r>
              <a:rPr lang="en-CA" sz="1400" dirty="0">
                <a:solidFill>
                  <a:schemeClr val="accent6">
                    <a:lumMod val="75000"/>
                  </a:schemeClr>
                </a:solidFill>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a:t>
            </a:r>
          </a:p>
        </p:txBody>
      </p:sp>
      <p:sp>
        <p:nvSpPr>
          <p:cNvPr id="11" name="Rectangle 10"/>
          <p:cNvSpPr/>
          <p:nvPr/>
        </p:nvSpPr>
        <p:spPr>
          <a:xfrm>
            <a:off x="915356" y="3669663"/>
            <a:ext cx="2638550" cy="572400"/>
          </a:xfrm>
          <a:prstGeom prst="rect">
            <a:avLst/>
          </a:prstGeom>
          <a:solidFill>
            <a:schemeClr val="tx1">
              <a:alpha val="0"/>
            </a:schemeClr>
          </a:solidFill>
          <a:ln w="38100">
            <a:solidFill>
              <a:srgbClr val="FFFF00"/>
            </a:solidFill>
          </a:ln>
          <a:effectLst>
            <a:glow rad="101600">
              <a:srgbClr val="FFFF00">
                <a:alpha val="40000"/>
              </a:srgb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2" name="Rectangle 11"/>
          <p:cNvSpPr/>
          <p:nvPr/>
        </p:nvSpPr>
        <p:spPr>
          <a:xfrm>
            <a:off x="5986097" y="3669663"/>
            <a:ext cx="3864914" cy="533625"/>
          </a:xfrm>
          <a:prstGeom prst="rect">
            <a:avLst/>
          </a:prstGeom>
          <a:solidFill>
            <a:schemeClr val="tx1">
              <a:alpha val="0"/>
            </a:schemeClr>
          </a:solidFill>
          <a:ln w="38100">
            <a:solidFill>
              <a:srgbClr val="FFFF00"/>
            </a:solidFill>
          </a:ln>
          <a:effectLst>
            <a:glow rad="101600">
              <a:srgbClr val="FFFF00">
                <a:alpha val="40000"/>
              </a:srgb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cxnSp>
        <p:nvCxnSpPr>
          <p:cNvPr id="13" name="Straight Arrow Connector 12"/>
          <p:cNvCxnSpPr>
            <a:stCxn id="14" idx="1"/>
          </p:cNvCxnSpPr>
          <p:nvPr/>
        </p:nvCxnSpPr>
        <p:spPr>
          <a:xfrm rot="5400000">
            <a:off x="3718529" y="3230289"/>
            <a:ext cx="542097" cy="871342"/>
          </a:xfrm>
          <a:prstGeom prst="bentConnector2">
            <a:avLst/>
          </a:prstGeom>
          <a:ln w="38100">
            <a:solidFill>
              <a:srgbClr val="FF0000">
                <a:alpha val="70000"/>
              </a:srgbClr>
            </a:solidFill>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p:cNvCxnSpPr>
            <a:endCxn id="12" idx="1"/>
          </p:cNvCxnSpPr>
          <p:nvPr/>
        </p:nvCxnSpPr>
        <p:spPr>
          <a:xfrm>
            <a:off x="4798243" y="3394912"/>
            <a:ext cx="1187854" cy="541564"/>
          </a:xfrm>
          <a:prstGeom prst="bentConnector3">
            <a:avLst>
              <a:gd name="adj1" fmla="val 3"/>
            </a:avLst>
          </a:prstGeom>
          <a:ln w="38100">
            <a:solidFill>
              <a:srgbClr val="FF0000">
                <a:alpha val="70000"/>
              </a:srgbClr>
            </a:solidFill>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15"/>
          <p:cNvCxnSpPr>
            <a:stCxn id="18" idx="1"/>
          </p:cNvCxnSpPr>
          <p:nvPr/>
        </p:nvCxnSpPr>
        <p:spPr>
          <a:xfrm>
            <a:off x="8187067" y="3394912"/>
            <a:ext cx="0" cy="285413"/>
          </a:xfrm>
          <a:prstGeom prst="straightConnector1">
            <a:avLst/>
          </a:prstGeom>
          <a:ln w="38100">
            <a:solidFill>
              <a:srgbClr val="FF0000">
                <a:alpha val="70000"/>
              </a:srgbClr>
            </a:solidFill>
            <a:tailEnd type="triangle"/>
          </a:ln>
        </p:spPr>
        <p:style>
          <a:lnRef idx="1">
            <a:schemeClr val="accent1"/>
          </a:lnRef>
          <a:fillRef idx="0">
            <a:schemeClr val="accent1"/>
          </a:fillRef>
          <a:effectRef idx="0">
            <a:schemeClr val="accent1"/>
          </a:effectRef>
          <a:fontRef idx="minor">
            <a:schemeClr val="tx1"/>
          </a:fontRef>
        </p:style>
      </p:cxnSp>
      <p:sp>
        <p:nvSpPr>
          <p:cNvPr id="14" name="TextBox 13"/>
          <p:cNvSpPr txBox="1"/>
          <p:nvPr/>
        </p:nvSpPr>
        <p:spPr>
          <a:xfrm>
            <a:off x="2962460" y="2317379"/>
            <a:ext cx="2925575" cy="1077533"/>
          </a:xfrm>
          <a:prstGeom prst="snip1Rect">
            <a:avLst/>
          </a:prstGeom>
          <a:solidFill>
            <a:schemeClr val="tx1"/>
          </a:solidFill>
          <a:ln w="25400">
            <a:solidFill>
              <a:schemeClr val="tx2"/>
            </a:solidFill>
          </a:ln>
        </p:spPr>
        <p:txBody>
          <a:bodyPr wrap="square" lIns="90000" tIns="0" rIns="0" bIns="46800" rtlCol="0">
            <a:spAutoFit/>
          </a:bodyPr>
          <a:lstStyle/>
          <a:p>
            <a:pPr>
              <a:lnSpc>
                <a:spcPts val="2400"/>
              </a:lnSpc>
              <a:spcBef>
                <a:spcPts val="600"/>
              </a:spcBef>
            </a:pPr>
            <a:r>
              <a:rPr lang="en-CA" dirty="0" smtClean="0">
                <a:solidFill>
                  <a:schemeClr val="bg1"/>
                </a:solidFill>
              </a:rPr>
              <a:t>Specifying </a:t>
            </a:r>
            <a:r>
              <a:rPr lang="en-CA" dirty="0" err="1" smtClean="0">
                <a:solidFill>
                  <a:schemeClr val="bg1"/>
                </a:solidFill>
              </a:rPr>
              <a:t>enum</a:t>
            </a:r>
            <a:r>
              <a:rPr lang="en-CA" dirty="0" smtClean="0">
                <a:solidFill>
                  <a:schemeClr val="bg1"/>
                </a:solidFill>
              </a:rPr>
              <a:t> type allows </a:t>
            </a:r>
            <a:r>
              <a:rPr lang="en-CA" dirty="0" err="1" smtClean="0">
                <a:solidFill>
                  <a:schemeClr val="bg1"/>
                </a:solidFill>
              </a:rPr>
              <a:t>enum</a:t>
            </a:r>
            <a:r>
              <a:rPr lang="en-CA" dirty="0" smtClean="0">
                <a:solidFill>
                  <a:schemeClr val="bg1"/>
                </a:solidFill>
              </a:rPr>
              <a:t> field to be checked for correctness</a:t>
            </a:r>
            <a:endParaRPr lang="en-CA" dirty="0">
              <a:solidFill>
                <a:schemeClr val="bg1"/>
              </a:solidFill>
            </a:endParaRPr>
          </a:p>
        </p:txBody>
      </p:sp>
      <p:sp>
        <p:nvSpPr>
          <p:cNvPr id="18" name="TextBox 17"/>
          <p:cNvSpPr txBox="1"/>
          <p:nvPr/>
        </p:nvSpPr>
        <p:spPr>
          <a:xfrm>
            <a:off x="6169023" y="834299"/>
            <a:ext cx="4036088" cy="2560613"/>
          </a:xfrm>
          <a:prstGeom prst="snip1Rect">
            <a:avLst/>
          </a:prstGeom>
          <a:solidFill>
            <a:schemeClr val="tx1"/>
          </a:solidFill>
          <a:ln w="25400">
            <a:solidFill>
              <a:schemeClr val="tx2"/>
            </a:solidFill>
          </a:ln>
        </p:spPr>
        <p:txBody>
          <a:bodyPr wrap="none" lIns="90000" tIns="0" rIns="0" bIns="46800" rtlCol="0">
            <a:spAutoFit/>
          </a:bodyPr>
          <a:lstStyle/>
          <a:p>
            <a:pPr>
              <a:lnSpc>
                <a:spcPts val="2000"/>
              </a:lnSpc>
            </a:pPr>
            <a:r>
              <a:rPr lang="en-CA" sz="1400" dirty="0" err="1">
                <a:solidFill>
                  <a:schemeClr val="accent3"/>
                </a:solidFill>
                <a:latin typeface="Courier New" panose="02070309020205020404" pitchFamily="49" charset="0"/>
                <a:cs typeface="Courier New" panose="02070309020205020404" pitchFamily="49" charset="0"/>
              </a:rPr>
              <a:t>int</a:t>
            </a:r>
            <a:r>
              <a:rPr lang="en-CA" sz="1400" dirty="0">
                <a:solidFill>
                  <a:schemeClr val="accent6">
                    <a:lumMod val="75000"/>
                  </a:schemeClr>
                </a:solidFill>
                <a:latin typeface="Courier New" panose="02070309020205020404" pitchFamily="49" charset="0"/>
                <a:cs typeface="Courier New" panose="02070309020205020404" pitchFamily="49" charset="0"/>
              </a:rPr>
              <a:t> </a:t>
            </a:r>
            <a:r>
              <a:rPr lang="en-CA" sz="1400" b="1" dirty="0" err="1" smtClean="0">
                <a:solidFill>
                  <a:schemeClr val="bg1"/>
                </a:solidFill>
                <a:latin typeface="Courier New" panose="02070309020205020404" pitchFamily="49" charset="0"/>
                <a:cs typeface="Courier New" panose="02070309020205020404" pitchFamily="49" charset="0"/>
              </a:rPr>
              <a:t>SCreatorOs</a:t>
            </a:r>
            <a:r>
              <a:rPr lang="en-CA" sz="1400" dirty="0" smtClean="0">
                <a:solidFill>
                  <a:schemeClr val="bg1"/>
                </a:solidFill>
                <a:latin typeface="Courier New" panose="02070309020205020404" pitchFamily="49" charset="0"/>
                <a:cs typeface="Courier New" panose="02070309020205020404" pitchFamily="49" charset="0"/>
              </a:rPr>
              <a:t>::</a:t>
            </a:r>
            <a:r>
              <a:rPr lang="en-CA" sz="1400" b="1" dirty="0" smtClean="0">
                <a:solidFill>
                  <a:schemeClr val="accent6">
                    <a:lumMod val="75000"/>
                  </a:schemeClr>
                </a:solidFill>
                <a:latin typeface="Courier New" panose="02070309020205020404" pitchFamily="49" charset="0"/>
                <a:cs typeface="Courier New" panose="02070309020205020404" pitchFamily="49" charset="0"/>
              </a:rPr>
              <a:t>parse</a:t>
            </a:r>
            <a:r>
              <a:rPr lang="en-CA" sz="1400" dirty="0" smtClean="0">
                <a:solidFill>
                  <a:schemeClr val="accent6">
                    <a:lumMod val="75000"/>
                  </a:schemeClr>
                </a:solidFill>
                <a:latin typeface="Courier New" panose="02070309020205020404" pitchFamily="49" charset="0"/>
                <a:cs typeface="Courier New" panose="02070309020205020404" pitchFamily="49" charset="0"/>
              </a:rPr>
              <a:t>(…) {</a:t>
            </a:r>
          </a:p>
          <a:p>
            <a:pPr>
              <a:lnSpc>
                <a:spcPts val="2000"/>
              </a:lnSpc>
            </a:pPr>
            <a:r>
              <a:rPr lang="en-CA" sz="1400" dirty="0" smtClean="0">
                <a:solidFill>
                  <a:schemeClr val="bg1"/>
                </a:solidFill>
                <a:latin typeface="Courier New" panose="02070309020205020404" pitchFamily="49" charset="0"/>
                <a:cs typeface="Courier New" panose="02070309020205020404" pitchFamily="49" charset="0"/>
              </a:rPr>
              <a:t>  if (</a:t>
            </a:r>
            <a:r>
              <a:rPr lang="en-CA" sz="1400" dirty="0" err="1" smtClean="0">
                <a:solidFill>
                  <a:schemeClr val="bg1"/>
                </a:solidFill>
                <a:latin typeface="Courier New" panose="02070309020205020404" pitchFamily="49" charset="0"/>
                <a:cs typeface="Courier New" panose="02070309020205020404" pitchFamily="49" charset="0"/>
              </a:rPr>
              <a:t>len</a:t>
            </a:r>
            <a:r>
              <a:rPr lang="en-CA" sz="1400" dirty="0" smtClean="0">
                <a:solidFill>
                  <a:schemeClr val="bg1"/>
                </a:solidFill>
                <a:latin typeface="Courier New" panose="02070309020205020404" pitchFamily="49" charset="0"/>
                <a:cs typeface="Courier New" panose="02070309020205020404" pitchFamily="49" charset="0"/>
              </a:rPr>
              <a:t> &lt; </a:t>
            </a:r>
            <a:r>
              <a:rPr lang="en-CA" sz="1400" dirty="0" smtClean="0">
                <a:solidFill>
                  <a:srgbClr val="00B0F0"/>
                </a:solidFill>
                <a:latin typeface="Courier New" panose="02070309020205020404" pitchFamily="49" charset="0"/>
                <a:cs typeface="Courier New" panose="02070309020205020404" pitchFamily="49" charset="0"/>
              </a:rPr>
              <a:t>4</a:t>
            </a:r>
            <a:r>
              <a:rPr lang="en-CA" sz="1400" dirty="0" smtClean="0">
                <a:solidFill>
                  <a:schemeClr val="bg1"/>
                </a:solidFill>
                <a:latin typeface="Courier New" panose="02070309020205020404" pitchFamily="49" charset="0"/>
                <a:cs typeface="Courier New" panose="02070309020205020404" pitchFamily="49" charset="0"/>
              </a:rPr>
              <a:t>) return ERR_BUF2SM;</a:t>
            </a:r>
          </a:p>
          <a:p>
            <a:pPr>
              <a:lnSpc>
                <a:spcPts val="2000"/>
              </a:lnSpc>
            </a:pPr>
            <a:r>
              <a:rPr lang="en-CA" sz="1400" dirty="0" smtClean="0">
                <a:solidFill>
                  <a:schemeClr val="bg1"/>
                </a:solidFill>
                <a:latin typeface="Courier New" panose="02070309020205020404" pitchFamily="49" charset="0"/>
                <a:cs typeface="Courier New" panose="02070309020205020404" pitchFamily="49" charset="0"/>
              </a:rPr>
              <a:t>  value = *(__le32 *)</a:t>
            </a:r>
            <a:r>
              <a:rPr lang="en-CA" sz="1400" dirty="0" err="1" smtClean="0">
                <a:solidFill>
                  <a:schemeClr val="bg1"/>
                </a:solidFill>
                <a:latin typeface="Courier New" panose="02070309020205020404" pitchFamily="49" charset="0"/>
                <a:cs typeface="Courier New" panose="02070309020205020404" pitchFamily="49" charset="0"/>
              </a:rPr>
              <a:t>buf</a:t>
            </a:r>
            <a:r>
              <a:rPr lang="en-CA" sz="1400" dirty="0" smtClean="0">
                <a:solidFill>
                  <a:schemeClr val="bg1"/>
                </a:solidFill>
                <a:latin typeface="Courier New" panose="02070309020205020404" pitchFamily="49" charset="0"/>
                <a:cs typeface="Courier New" panose="02070309020205020404" pitchFamily="49" charset="0"/>
              </a:rPr>
              <a:t>;</a:t>
            </a:r>
          </a:p>
          <a:p>
            <a:pPr>
              <a:lnSpc>
                <a:spcPts val="2000"/>
              </a:lnSpc>
            </a:pPr>
            <a:r>
              <a:rPr lang="en-CA" sz="1400" dirty="0">
                <a:solidFill>
                  <a:schemeClr val="bg1"/>
                </a:solidFill>
                <a:latin typeface="Courier New" panose="02070309020205020404" pitchFamily="49" charset="0"/>
                <a:cs typeface="Courier New" panose="02070309020205020404" pitchFamily="49" charset="0"/>
              </a:rPr>
              <a:t> </a:t>
            </a:r>
            <a:r>
              <a:rPr lang="en-CA" sz="1400" dirty="0" smtClean="0">
                <a:solidFill>
                  <a:schemeClr val="bg1"/>
                </a:solidFill>
                <a:latin typeface="Courier New" panose="02070309020205020404" pitchFamily="49" charset="0"/>
                <a:cs typeface="Courier New" panose="02070309020205020404" pitchFamily="49" charset="0"/>
              </a:rPr>
              <a:t> if (!(value </a:t>
            </a:r>
            <a:r>
              <a:rPr lang="en-CA" sz="1400" dirty="0">
                <a:solidFill>
                  <a:schemeClr val="bg1"/>
                </a:solidFill>
                <a:latin typeface="Courier New" panose="02070309020205020404" pitchFamily="49" charset="0"/>
                <a:cs typeface="Courier New" panose="02070309020205020404" pitchFamily="49" charset="0"/>
              </a:rPr>
              <a:t>&gt;= </a:t>
            </a:r>
            <a:r>
              <a:rPr lang="en-CA" sz="1400" dirty="0" smtClean="0">
                <a:solidFill>
                  <a:schemeClr val="bg1"/>
                </a:solidFill>
                <a:latin typeface="Courier New" panose="02070309020205020404" pitchFamily="49" charset="0"/>
                <a:cs typeface="Courier New" panose="02070309020205020404" pitchFamily="49" charset="0"/>
              </a:rPr>
              <a:t>EXT4_OS_LINUX &amp;&amp; </a:t>
            </a:r>
          </a:p>
          <a:p>
            <a:pPr>
              <a:lnSpc>
                <a:spcPts val="2000"/>
              </a:lnSpc>
            </a:pPr>
            <a:r>
              <a:rPr lang="en-CA" sz="1400" dirty="0">
                <a:solidFill>
                  <a:schemeClr val="bg1"/>
                </a:solidFill>
                <a:latin typeface="Courier New" panose="02070309020205020404" pitchFamily="49" charset="0"/>
                <a:cs typeface="Courier New" panose="02070309020205020404" pitchFamily="49" charset="0"/>
              </a:rPr>
              <a:t> </a:t>
            </a:r>
            <a:r>
              <a:rPr lang="en-CA" sz="1400" dirty="0" smtClean="0">
                <a:solidFill>
                  <a:schemeClr val="bg1"/>
                </a:solidFill>
                <a:latin typeface="Courier New" panose="02070309020205020404" pitchFamily="49" charset="0"/>
                <a:cs typeface="Courier New" panose="02070309020205020404" pitchFamily="49" charset="0"/>
              </a:rPr>
              <a:t>       value </a:t>
            </a:r>
            <a:r>
              <a:rPr lang="en-CA" sz="1400" dirty="0">
                <a:solidFill>
                  <a:schemeClr val="bg1"/>
                </a:solidFill>
                <a:latin typeface="Courier New" panose="02070309020205020404" pitchFamily="49" charset="0"/>
                <a:cs typeface="Courier New" panose="02070309020205020404" pitchFamily="49" charset="0"/>
              </a:rPr>
              <a:t>&lt;= </a:t>
            </a:r>
            <a:r>
              <a:rPr lang="en-CA" sz="1400" dirty="0" smtClean="0">
                <a:solidFill>
                  <a:schemeClr val="bg1"/>
                </a:solidFill>
                <a:latin typeface="Courier New" panose="02070309020205020404" pitchFamily="49" charset="0"/>
                <a:cs typeface="Courier New" panose="02070309020205020404" pitchFamily="49" charset="0"/>
              </a:rPr>
              <a:t>EXT3_OS_LITES))</a:t>
            </a:r>
          </a:p>
          <a:p>
            <a:pPr>
              <a:lnSpc>
                <a:spcPts val="2000"/>
              </a:lnSpc>
            </a:pPr>
            <a:r>
              <a:rPr lang="en-CA" sz="1400" dirty="0">
                <a:solidFill>
                  <a:schemeClr val="bg1"/>
                </a:solidFill>
                <a:latin typeface="Courier New" panose="02070309020205020404" pitchFamily="49" charset="0"/>
                <a:cs typeface="Courier New" panose="02070309020205020404" pitchFamily="49" charset="0"/>
              </a:rPr>
              <a:t> </a:t>
            </a:r>
            <a:r>
              <a:rPr lang="en-CA" sz="1400" dirty="0" smtClean="0">
                <a:solidFill>
                  <a:schemeClr val="bg1"/>
                </a:solidFill>
                <a:latin typeface="Courier New" panose="02070309020205020404" pitchFamily="49" charset="0"/>
                <a:cs typeface="Courier New" panose="02070309020205020404" pitchFamily="49" charset="0"/>
              </a:rPr>
              <a:t>   return ERR_CORRUPT;</a:t>
            </a:r>
          </a:p>
          <a:p>
            <a:pPr>
              <a:lnSpc>
                <a:spcPts val="2000"/>
              </a:lnSpc>
            </a:pPr>
            <a:r>
              <a:rPr lang="en-CA" sz="1400" dirty="0">
                <a:solidFill>
                  <a:schemeClr val="bg1"/>
                </a:solidFill>
                <a:latin typeface="Courier New" panose="02070309020205020404" pitchFamily="49" charset="0"/>
                <a:cs typeface="Courier New" panose="02070309020205020404" pitchFamily="49" charset="0"/>
              </a:rPr>
              <a:t> </a:t>
            </a:r>
            <a:r>
              <a:rPr lang="en-CA" sz="1400" dirty="0" smtClean="0">
                <a:solidFill>
                  <a:schemeClr val="bg1"/>
                </a:solidFill>
                <a:latin typeface="Courier New" panose="02070309020205020404" pitchFamily="49" charset="0"/>
                <a:cs typeface="Courier New" panose="02070309020205020404" pitchFamily="49" charset="0"/>
              </a:rPr>
              <a:t> </a:t>
            </a:r>
            <a:r>
              <a:rPr lang="en-CA" sz="1400" dirty="0" err="1" smtClean="0">
                <a:solidFill>
                  <a:schemeClr val="bg1"/>
                </a:solidFill>
                <a:latin typeface="Courier New" panose="02070309020205020404" pitchFamily="49" charset="0"/>
                <a:cs typeface="Courier New" panose="02070309020205020404" pitchFamily="49" charset="0"/>
              </a:rPr>
              <a:t>buf</a:t>
            </a:r>
            <a:r>
              <a:rPr lang="en-CA" sz="1400" dirty="0" smtClean="0">
                <a:solidFill>
                  <a:schemeClr val="bg1"/>
                </a:solidFill>
                <a:latin typeface="Courier New" panose="02070309020205020404" pitchFamily="49" charset="0"/>
                <a:cs typeface="Courier New" panose="02070309020205020404" pitchFamily="49" charset="0"/>
              </a:rPr>
              <a:t> += </a:t>
            </a:r>
            <a:r>
              <a:rPr lang="en-CA" sz="1400" dirty="0" smtClean="0">
                <a:solidFill>
                  <a:srgbClr val="00B0F0"/>
                </a:solidFill>
                <a:latin typeface="Courier New" panose="02070309020205020404" pitchFamily="49" charset="0"/>
                <a:cs typeface="Courier New" panose="02070309020205020404" pitchFamily="49" charset="0"/>
              </a:rPr>
              <a:t>4</a:t>
            </a:r>
            <a:r>
              <a:rPr lang="en-CA" sz="1400" dirty="0" smtClean="0">
                <a:solidFill>
                  <a:schemeClr val="bg1"/>
                </a:solidFill>
                <a:latin typeface="Courier New" panose="02070309020205020404" pitchFamily="49" charset="0"/>
                <a:cs typeface="Courier New" panose="02070309020205020404" pitchFamily="49" charset="0"/>
              </a:rPr>
              <a:t>; </a:t>
            </a:r>
            <a:r>
              <a:rPr lang="en-CA" sz="1400" dirty="0" err="1" smtClean="0">
                <a:solidFill>
                  <a:schemeClr val="bg1"/>
                </a:solidFill>
                <a:latin typeface="Courier New" panose="02070309020205020404" pitchFamily="49" charset="0"/>
                <a:cs typeface="Courier New" panose="02070309020205020404" pitchFamily="49" charset="0"/>
              </a:rPr>
              <a:t>len</a:t>
            </a:r>
            <a:r>
              <a:rPr lang="en-CA" sz="1400" dirty="0" smtClean="0">
                <a:solidFill>
                  <a:schemeClr val="bg1"/>
                </a:solidFill>
                <a:latin typeface="Courier New" panose="02070309020205020404" pitchFamily="49" charset="0"/>
                <a:cs typeface="Courier New" panose="02070309020205020404" pitchFamily="49" charset="0"/>
              </a:rPr>
              <a:t> -= </a:t>
            </a:r>
            <a:r>
              <a:rPr lang="en-CA" sz="1400" dirty="0" smtClean="0">
                <a:solidFill>
                  <a:srgbClr val="00B0F0"/>
                </a:solidFill>
                <a:latin typeface="Courier New" panose="02070309020205020404" pitchFamily="49" charset="0"/>
                <a:cs typeface="Courier New" panose="02070309020205020404" pitchFamily="49" charset="0"/>
              </a:rPr>
              <a:t>4</a:t>
            </a:r>
            <a:r>
              <a:rPr lang="en-CA" sz="1400" dirty="0" smtClean="0">
                <a:solidFill>
                  <a:schemeClr val="bg1"/>
                </a:solidFill>
                <a:latin typeface="Courier New" panose="02070309020205020404" pitchFamily="49" charset="0"/>
                <a:cs typeface="Courier New" panose="02070309020205020404" pitchFamily="49" charset="0"/>
              </a:rPr>
              <a:t>;</a:t>
            </a:r>
          </a:p>
          <a:p>
            <a:pPr>
              <a:lnSpc>
                <a:spcPts val="2000"/>
              </a:lnSpc>
            </a:pPr>
            <a:r>
              <a:rPr lang="en-CA" sz="1400" dirty="0">
                <a:solidFill>
                  <a:schemeClr val="bg1"/>
                </a:solidFill>
                <a:latin typeface="Courier New" panose="02070309020205020404" pitchFamily="49" charset="0"/>
                <a:cs typeface="Courier New" panose="02070309020205020404" pitchFamily="49" charset="0"/>
              </a:rPr>
              <a:t> </a:t>
            </a:r>
            <a:r>
              <a:rPr lang="en-CA" sz="1400" dirty="0" smtClean="0">
                <a:solidFill>
                  <a:schemeClr val="bg1"/>
                </a:solidFill>
                <a:latin typeface="Courier New" panose="02070309020205020404" pitchFamily="49" charset="0"/>
                <a:cs typeface="Courier New" panose="02070309020205020404" pitchFamily="49" charset="0"/>
              </a:rPr>
              <a:t> return </a:t>
            </a:r>
            <a:r>
              <a:rPr lang="en-CA" sz="1400" dirty="0" smtClean="0">
                <a:solidFill>
                  <a:srgbClr val="00B0F0"/>
                </a:solidFill>
                <a:latin typeface="Courier New" panose="02070309020205020404" pitchFamily="49" charset="0"/>
                <a:cs typeface="Courier New" panose="02070309020205020404" pitchFamily="49" charset="0"/>
              </a:rPr>
              <a:t>0</a:t>
            </a:r>
            <a:r>
              <a:rPr lang="en-CA" sz="1400" dirty="0" smtClean="0">
                <a:solidFill>
                  <a:schemeClr val="bg1"/>
                </a:solidFill>
                <a:latin typeface="Courier New" panose="02070309020205020404" pitchFamily="49" charset="0"/>
                <a:cs typeface="Courier New" panose="02070309020205020404" pitchFamily="49" charset="0"/>
              </a:rPr>
              <a:t>;</a:t>
            </a:r>
          </a:p>
          <a:p>
            <a:pPr>
              <a:lnSpc>
                <a:spcPts val="2000"/>
              </a:lnSpc>
            </a:pPr>
            <a:r>
              <a:rPr lang="en-CA" sz="1400" dirty="0">
                <a:solidFill>
                  <a:schemeClr val="bg1"/>
                </a:solidFill>
                <a:latin typeface="Courier New" panose="02070309020205020404" pitchFamily="49" charset="0"/>
                <a:cs typeface="Courier New" panose="02070309020205020404" pitchFamily="49" charset="0"/>
              </a:rPr>
              <a:t>}</a:t>
            </a:r>
          </a:p>
        </p:txBody>
      </p:sp>
      <p:sp>
        <p:nvSpPr>
          <p:cNvPr id="2" name="Slide Number Placeholder 1"/>
          <p:cNvSpPr>
            <a:spLocks noGrp="1"/>
          </p:cNvSpPr>
          <p:nvPr>
            <p:ph type="sldNum" sz="quarter" idx="12"/>
          </p:nvPr>
        </p:nvSpPr>
        <p:spPr/>
        <p:txBody>
          <a:bodyPr/>
          <a:lstStyle/>
          <a:p>
            <a:fld id="{7B2023C8-B124-43A9-8F92-0EEF5BAA9995}" type="slidenum">
              <a:rPr lang="en-CA" smtClean="0"/>
              <a:t>17</a:t>
            </a:fld>
            <a:endParaRPr lang="en-CA"/>
          </a:p>
        </p:txBody>
      </p:sp>
    </p:spTree>
    <p:extLst>
      <p:ext uri="{BB962C8B-B14F-4D97-AF65-F5344CB8AC3E}">
        <p14:creationId xmlns:p14="http://schemas.microsoft.com/office/powerpoint/2010/main" val="1567740252"/>
      </p:ext>
    </p:extLst>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lstStyle/>
          <a:p>
            <a:r>
              <a:rPr lang="en-US" dirty="0" smtClean="0"/>
              <a:t>Generating </a:t>
            </a:r>
            <a:r>
              <a:rPr lang="en-US" dirty="0"/>
              <a:t>Spiffy Library</a:t>
            </a:r>
            <a:endParaRPr lang="en-CA" dirty="0"/>
          </a:p>
        </p:txBody>
      </p:sp>
      <p:sp>
        <p:nvSpPr>
          <p:cNvPr id="6" name="Text Placeholder 5"/>
          <p:cNvSpPr>
            <a:spLocks noGrp="1"/>
          </p:cNvSpPr>
          <p:nvPr>
            <p:ph type="body" idx="1"/>
          </p:nvPr>
        </p:nvSpPr>
        <p:spPr/>
        <p:txBody>
          <a:bodyPr/>
          <a:lstStyle/>
          <a:p>
            <a:r>
              <a:rPr lang="en-CA" dirty="0" smtClean="0"/>
              <a:t>Annotation</a:t>
            </a:r>
            <a:endParaRPr lang="en-CA" dirty="0"/>
          </a:p>
        </p:txBody>
      </p:sp>
      <p:sp>
        <p:nvSpPr>
          <p:cNvPr id="8" name="Text Placeholder 7"/>
          <p:cNvSpPr>
            <a:spLocks noGrp="1"/>
          </p:cNvSpPr>
          <p:nvPr>
            <p:ph type="body" sz="quarter" idx="3"/>
          </p:nvPr>
        </p:nvSpPr>
        <p:spPr/>
        <p:txBody>
          <a:bodyPr/>
          <a:lstStyle/>
          <a:p>
            <a:r>
              <a:rPr lang="en-CA" dirty="0" smtClean="0"/>
              <a:t>Generated Code </a:t>
            </a:r>
            <a:endParaRPr lang="en-CA" dirty="0"/>
          </a:p>
        </p:txBody>
      </p:sp>
      <p:sp>
        <p:nvSpPr>
          <p:cNvPr id="9" name="Content Placeholder 8"/>
          <p:cNvSpPr>
            <a:spLocks noGrp="1"/>
          </p:cNvSpPr>
          <p:nvPr>
            <p:ph sz="quarter" idx="4"/>
          </p:nvPr>
        </p:nvSpPr>
        <p:spPr>
          <a:xfrm>
            <a:off x="5763418" y="2100086"/>
            <a:ext cx="5182222" cy="4072114"/>
          </a:xfrm>
        </p:spPr>
        <p:txBody>
          <a:bodyPr>
            <a:noAutofit/>
          </a:bodyPr>
          <a:lstStyle/>
          <a:p>
            <a:pPr marL="0" indent="0">
              <a:lnSpc>
                <a:spcPts val="2000"/>
              </a:lnSpc>
              <a:spcBef>
                <a:spcPts val="0"/>
              </a:spcBef>
              <a:spcAft>
                <a:spcPts val="0"/>
              </a:spcAft>
              <a:buNone/>
            </a:pPr>
            <a:r>
              <a:rPr lang="en-CA" sz="1400" dirty="0" err="1">
                <a:solidFill>
                  <a:schemeClr val="accent3"/>
                </a:solidFill>
                <a:latin typeface="Courier New" panose="02070309020205020404" pitchFamily="49" charset="0"/>
                <a:cs typeface="Courier New" panose="02070309020205020404" pitchFamily="49" charset="0"/>
              </a:rPr>
              <a:t>int</a:t>
            </a:r>
            <a:r>
              <a:rPr lang="en-CA" sz="1400" dirty="0">
                <a:solidFill>
                  <a:schemeClr val="accent6">
                    <a:lumMod val="75000"/>
                  </a:schemeClr>
                </a:solidFill>
                <a:latin typeface="Courier New" panose="02070309020205020404" pitchFamily="49" charset="0"/>
                <a:cs typeface="Courier New" panose="02070309020205020404" pitchFamily="49" charset="0"/>
              </a:rPr>
              <a:t> </a:t>
            </a:r>
            <a:r>
              <a:rPr lang="en-CA" sz="1400" b="1" dirty="0" smtClean="0">
                <a:solidFill>
                  <a:schemeClr val="accent6">
                    <a:lumMod val="75000"/>
                  </a:schemeClr>
                </a:solidFill>
                <a:latin typeface="Courier New" panose="02070309020205020404" pitchFamily="49" charset="0"/>
                <a:cs typeface="Courier New" panose="02070309020205020404" pitchFamily="49" charset="0"/>
              </a:rPr>
              <a:t>parse</a:t>
            </a:r>
            <a:r>
              <a:rPr lang="en-CA" sz="1400" dirty="0" smtClean="0">
                <a:solidFill>
                  <a:schemeClr val="accent6">
                    <a:lumMod val="75000"/>
                  </a:schemeClr>
                </a:solidFill>
                <a:latin typeface="Courier New" panose="02070309020205020404" pitchFamily="49" charset="0"/>
                <a:cs typeface="Courier New" panose="02070309020205020404" pitchFamily="49" charset="0"/>
              </a:rPr>
              <a:t>(</a:t>
            </a:r>
            <a:r>
              <a:rPr lang="en-CA" sz="1400" dirty="0" err="1" smtClean="0">
                <a:solidFill>
                  <a:schemeClr val="accent3"/>
                </a:solidFill>
                <a:latin typeface="Courier New" panose="02070309020205020404" pitchFamily="49" charset="0"/>
                <a:cs typeface="Courier New" panose="02070309020205020404" pitchFamily="49" charset="0"/>
              </a:rPr>
              <a:t>const</a:t>
            </a:r>
            <a:r>
              <a:rPr lang="en-CA" sz="1400" dirty="0" smtClean="0">
                <a:solidFill>
                  <a:schemeClr val="accent6">
                    <a:lumMod val="75000"/>
                  </a:schemeClr>
                </a:solidFill>
                <a:latin typeface="Courier New" panose="02070309020205020404" pitchFamily="49" charset="0"/>
                <a:cs typeface="Courier New" panose="02070309020205020404" pitchFamily="49" charset="0"/>
              </a:rPr>
              <a:t> </a:t>
            </a:r>
            <a:r>
              <a:rPr lang="en-CA" sz="1400" dirty="0">
                <a:solidFill>
                  <a:schemeClr val="accent3"/>
                </a:solidFill>
                <a:latin typeface="Courier New" panose="02070309020205020404" pitchFamily="49" charset="0"/>
                <a:cs typeface="Courier New" panose="02070309020205020404" pitchFamily="49" charset="0"/>
              </a:rPr>
              <a:t>char</a:t>
            </a:r>
            <a:r>
              <a:rPr lang="en-CA" sz="1400" dirty="0">
                <a:solidFill>
                  <a:schemeClr val="accent6">
                    <a:lumMod val="75000"/>
                  </a:schemeClr>
                </a:solidFill>
                <a:latin typeface="Courier New" panose="02070309020205020404" pitchFamily="49" charset="0"/>
                <a:cs typeface="Courier New" panose="02070309020205020404" pitchFamily="49" charset="0"/>
              </a:rPr>
              <a:t> * &amp; </a:t>
            </a:r>
            <a:r>
              <a:rPr lang="en-CA" sz="1400" dirty="0" err="1">
                <a:solidFill>
                  <a:schemeClr val="accent6">
                    <a:lumMod val="75000"/>
                  </a:schemeClr>
                </a:solidFill>
                <a:latin typeface="Courier New" panose="02070309020205020404" pitchFamily="49" charset="0"/>
                <a:cs typeface="Courier New" panose="02070309020205020404" pitchFamily="49" charset="0"/>
              </a:rPr>
              <a:t>buf</a:t>
            </a:r>
            <a:r>
              <a:rPr lang="en-CA" sz="1400" dirty="0">
                <a:solidFill>
                  <a:schemeClr val="accent6">
                    <a:lumMod val="75000"/>
                  </a:schemeClr>
                </a:solidFill>
                <a:latin typeface="Courier New" panose="02070309020205020404" pitchFamily="49" charset="0"/>
                <a:cs typeface="Courier New" panose="02070309020205020404" pitchFamily="49" charset="0"/>
              </a:rPr>
              <a:t>, </a:t>
            </a:r>
            <a:r>
              <a:rPr lang="en-CA" sz="1400" dirty="0">
                <a:solidFill>
                  <a:schemeClr val="accent3"/>
                </a:solidFill>
                <a:latin typeface="Courier New" panose="02070309020205020404" pitchFamily="49" charset="0"/>
                <a:cs typeface="Courier New" panose="02070309020205020404" pitchFamily="49" charset="0"/>
              </a:rPr>
              <a:t>unsigned</a:t>
            </a:r>
            <a:r>
              <a:rPr lang="en-CA" sz="1400" dirty="0">
                <a:solidFill>
                  <a:schemeClr val="accent6">
                    <a:lumMod val="75000"/>
                  </a:schemeClr>
                </a:solidFill>
                <a:latin typeface="Courier New" panose="02070309020205020404" pitchFamily="49" charset="0"/>
                <a:cs typeface="Courier New" panose="02070309020205020404" pitchFamily="49" charset="0"/>
              </a:rPr>
              <a:t> &amp; </a:t>
            </a:r>
            <a:r>
              <a:rPr lang="en-CA" sz="1400" dirty="0" err="1">
                <a:solidFill>
                  <a:schemeClr val="accent6">
                    <a:lumMod val="75000"/>
                  </a:schemeClr>
                </a:solidFill>
                <a:latin typeface="Courier New" panose="02070309020205020404" pitchFamily="49" charset="0"/>
                <a:cs typeface="Courier New" panose="02070309020205020404" pitchFamily="49" charset="0"/>
              </a:rPr>
              <a:t>len</a:t>
            </a:r>
            <a:r>
              <a:rPr lang="en-CA" sz="1400" dirty="0">
                <a:solidFill>
                  <a:schemeClr val="accent6">
                    <a:lumMod val="75000"/>
                  </a:schemeClr>
                </a:solidFill>
                <a:latin typeface="Courier New" panose="02070309020205020404" pitchFamily="49" charset="0"/>
                <a:cs typeface="Courier New" panose="02070309020205020404" pitchFamily="49" charset="0"/>
              </a:rPr>
              <a:t>) {</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a:t>
            </a:r>
            <a:r>
              <a:rPr lang="en-CA" sz="1400" dirty="0" err="1">
                <a:solidFill>
                  <a:schemeClr val="accent3"/>
                </a:solidFill>
                <a:latin typeface="Courier New" panose="02070309020205020404" pitchFamily="49" charset="0"/>
                <a:cs typeface="Courier New" panose="02070309020205020404" pitchFamily="49" charset="0"/>
              </a:rPr>
              <a:t>int</a:t>
            </a:r>
            <a:r>
              <a:rPr lang="en-CA" sz="1400" dirty="0">
                <a:solidFill>
                  <a:schemeClr val="accent6">
                    <a:lumMod val="75000"/>
                  </a:schemeClr>
                </a:solidFill>
                <a:latin typeface="Courier New" panose="02070309020205020404" pitchFamily="49" charset="0"/>
                <a:cs typeface="Courier New" panose="02070309020205020404" pitchFamily="49" charset="0"/>
              </a:rPr>
              <a:t> ret = </a:t>
            </a:r>
            <a:r>
              <a:rPr lang="en-CA" sz="1400" dirty="0" err="1">
                <a:solidFill>
                  <a:schemeClr val="accent6">
                    <a:lumMod val="75000"/>
                  </a:schemeClr>
                </a:solidFill>
                <a:latin typeface="Courier New" panose="02070309020205020404" pitchFamily="49" charset="0"/>
                <a:cs typeface="Courier New" panose="02070309020205020404" pitchFamily="49" charset="0"/>
              </a:rPr>
              <a:t>s_blocks_count.parse</a:t>
            </a:r>
            <a:r>
              <a:rPr lang="en-CA" sz="1400" dirty="0">
                <a:solidFill>
                  <a:schemeClr val="accent6">
                    <a:lumMod val="75000"/>
                  </a:schemeClr>
                </a:solidFill>
                <a:latin typeface="Courier New" panose="02070309020205020404" pitchFamily="49" charset="0"/>
                <a:cs typeface="Courier New" panose="02070309020205020404" pitchFamily="49" charset="0"/>
              </a:rPr>
              <a:t>(</a:t>
            </a:r>
            <a:r>
              <a:rPr lang="en-CA" sz="1400" dirty="0" err="1">
                <a:solidFill>
                  <a:schemeClr val="accent6">
                    <a:lumMod val="75000"/>
                  </a:schemeClr>
                </a:solidFill>
                <a:latin typeface="Courier New" panose="02070309020205020404" pitchFamily="49" charset="0"/>
                <a:cs typeface="Courier New" panose="02070309020205020404" pitchFamily="49" charset="0"/>
              </a:rPr>
              <a:t>buf</a:t>
            </a:r>
            <a:r>
              <a:rPr lang="en-CA" sz="1400" dirty="0">
                <a:solidFill>
                  <a:schemeClr val="accent6">
                    <a:lumMod val="75000"/>
                  </a:schemeClr>
                </a:solidFill>
                <a:latin typeface="Courier New" panose="02070309020205020404" pitchFamily="49" charset="0"/>
                <a:cs typeface="Courier New" panose="02070309020205020404" pitchFamily="49" charset="0"/>
              </a:rPr>
              <a:t>, </a:t>
            </a:r>
            <a:r>
              <a:rPr lang="en-CA" sz="1400" dirty="0" err="1">
                <a:solidFill>
                  <a:schemeClr val="accent6">
                    <a:lumMod val="75000"/>
                  </a:schemeClr>
                </a:solidFill>
                <a:latin typeface="Courier New" panose="02070309020205020404" pitchFamily="49" charset="0"/>
                <a:cs typeface="Courier New" panose="02070309020205020404" pitchFamily="49" charset="0"/>
              </a:rPr>
              <a:t>len</a:t>
            </a:r>
            <a:r>
              <a:rPr lang="en-CA" sz="1400" dirty="0">
                <a:solidFill>
                  <a:schemeClr val="accent6">
                    <a:lumMod val="75000"/>
                  </a:schemeClr>
                </a:solidFill>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if (ret &lt; </a:t>
            </a:r>
            <a:r>
              <a:rPr lang="en-CA" sz="1400" dirty="0">
                <a:solidFill>
                  <a:srgbClr val="0070C0"/>
                </a:solidFill>
                <a:latin typeface="Courier New" panose="02070309020205020404" pitchFamily="49" charset="0"/>
                <a:cs typeface="Courier New" panose="02070309020205020404" pitchFamily="49" charset="0"/>
              </a:rPr>
              <a:t>0</a:t>
            </a:r>
            <a:r>
              <a:rPr lang="en-CA" sz="1400" dirty="0">
                <a:solidFill>
                  <a:schemeClr val="accent6">
                    <a:lumMod val="75000"/>
                  </a:schemeClr>
                </a:solidFill>
                <a:latin typeface="Courier New" panose="02070309020205020404" pitchFamily="49" charset="0"/>
                <a:cs typeface="Courier New" panose="02070309020205020404" pitchFamily="49" charset="0"/>
              </a:rPr>
              <a:t>) return ret;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ret = </a:t>
            </a:r>
            <a:r>
              <a:rPr lang="en-CA" sz="1400" dirty="0" err="1">
                <a:solidFill>
                  <a:schemeClr val="accent6">
                    <a:lumMod val="75000"/>
                  </a:schemeClr>
                </a:solidFill>
                <a:latin typeface="Courier New" panose="02070309020205020404" pitchFamily="49" charset="0"/>
                <a:cs typeface="Courier New" panose="02070309020205020404" pitchFamily="49" charset="0"/>
              </a:rPr>
              <a:t>s_log_block_size.parse</a:t>
            </a:r>
            <a:r>
              <a:rPr lang="en-CA" sz="1400" dirty="0">
                <a:solidFill>
                  <a:schemeClr val="accent6">
                    <a:lumMod val="75000"/>
                  </a:schemeClr>
                </a:solidFill>
                <a:latin typeface="Courier New" panose="02070309020205020404" pitchFamily="49" charset="0"/>
                <a:cs typeface="Courier New" panose="02070309020205020404" pitchFamily="49" charset="0"/>
              </a:rPr>
              <a:t>(</a:t>
            </a:r>
            <a:r>
              <a:rPr lang="en-CA" sz="1400" dirty="0" err="1">
                <a:solidFill>
                  <a:schemeClr val="accent6">
                    <a:lumMod val="75000"/>
                  </a:schemeClr>
                </a:solidFill>
                <a:latin typeface="Courier New" panose="02070309020205020404" pitchFamily="49" charset="0"/>
                <a:cs typeface="Courier New" panose="02070309020205020404" pitchFamily="49" charset="0"/>
              </a:rPr>
              <a:t>buf</a:t>
            </a:r>
            <a:r>
              <a:rPr lang="en-CA" sz="1400" dirty="0">
                <a:solidFill>
                  <a:schemeClr val="accent6">
                    <a:lumMod val="75000"/>
                  </a:schemeClr>
                </a:solidFill>
                <a:latin typeface="Courier New" panose="02070309020205020404" pitchFamily="49" charset="0"/>
                <a:cs typeface="Courier New" panose="02070309020205020404" pitchFamily="49" charset="0"/>
              </a:rPr>
              <a:t>, </a:t>
            </a:r>
            <a:r>
              <a:rPr lang="en-CA" sz="1400" dirty="0" err="1">
                <a:solidFill>
                  <a:schemeClr val="accent6">
                    <a:lumMod val="75000"/>
                  </a:schemeClr>
                </a:solidFill>
                <a:latin typeface="Courier New" panose="02070309020205020404" pitchFamily="49" charset="0"/>
                <a:cs typeface="Courier New" panose="02070309020205020404" pitchFamily="49" charset="0"/>
              </a:rPr>
              <a:t>len</a:t>
            </a:r>
            <a:r>
              <a:rPr lang="en-CA" sz="1400" dirty="0">
                <a:solidFill>
                  <a:schemeClr val="accent6">
                    <a:lumMod val="75000"/>
                  </a:schemeClr>
                </a:solidFill>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if (ret &lt; </a:t>
            </a:r>
            <a:r>
              <a:rPr lang="en-CA" sz="1400" dirty="0">
                <a:solidFill>
                  <a:srgbClr val="0070C0"/>
                </a:solidFill>
                <a:latin typeface="Courier New" panose="02070309020205020404" pitchFamily="49" charset="0"/>
                <a:cs typeface="Courier New" panose="02070309020205020404" pitchFamily="49" charset="0"/>
              </a:rPr>
              <a:t>0</a:t>
            </a:r>
            <a:r>
              <a:rPr lang="en-CA" sz="1400" dirty="0">
                <a:solidFill>
                  <a:schemeClr val="accent6">
                    <a:lumMod val="75000"/>
                  </a:schemeClr>
                </a:solidFill>
                <a:latin typeface="Courier New" panose="02070309020205020404" pitchFamily="49" charset="0"/>
                <a:cs typeface="Courier New" panose="02070309020205020404" pitchFamily="49" charset="0"/>
              </a:rPr>
              <a:t>) return ret;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a:t>
            </a:r>
            <a:r>
              <a:rPr lang="en-CA" sz="1400" dirty="0" smtClean="0">
                <a:solidFill>
                  <a:schemeClr val="accent6">
                    <a:lumMod val="75000"/>
                  </a:schemeClr>
                </a:solidFill>
                <a:latin typeface="Courier New" panose="02070309020205020404" pitchFamily="49" charset="0"/>
                <a:cs typeface="Courier New" panose="02070309020205020404" pitchFamily="49" charset="0"/>
              </a:rPr>
              <a:t>…</a:t>
            </a:r>
            <a:endParaRPr lang="en-CA" sz="1400" dirty="0">
              <a:solidFill>
                <a:schemeClr val="accent6">
                  <a:lumMod val="75000"/>
                </a:schemeClr>
              </a:solidFill>
              <a:latin typeface="Courier New" panose="02070309020205020404" pitchFamily="49" charset="0"/>
              <a:cs typeface="Courier New" panose="02070309020205020404" pitchFamily="49" charset="0"/>
            </a:endParaRP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ret = </a:t>
            </a:r>
            <a:r>
              <a:rPr lang="en-CA" sz="1400" dirty="0" err="1">
                <a:solidFill>
                  <a:schemeClr val="accent6">
                    <a:lumMod val="75000"/>
                  </a:schemeClr>
                </a:solidFill>
                <a:latin typeface="Courier New" panose="02070309020205020404" pitchFamily="49" charset="0"/>
                <a:cs typeface="Courier New" panose="02070309020205020404" pitchFamily="49" charset="0"/>
              </a:rPr>
              <a:t>s_creator_os.parse</a:t>
            </a:r>
            <a:r>
              <a:rPr lang="en-CA" sz="1400" dirty="0">
                <a:solidFill>
                  <a:schemeClr val="accent6">
                    <a:lumMod val="75000"/>
                  </a:schemeClr>
                </a:solidFill>
                <a:latin typeface="Courier New" panose="02070309020205020404" pitchFamily="49" charset="0"/>
                <a:cs typeface="Courier New" panose="02070309020205020404" pitchFamily="49" charset="0"/>
              </a:rPr>
              <a:t>(</a:t>
            </a:r>
            <a:r>
              <a:rPr lang="en-CA" sz="1400" dirty="0" err="1">
                <a:solidFill>
                  <a:schemeClr val="accent6">
                    <a:lumMod val="75000"/>
                  </a:schemeClr>
                </a:solidFill>
                <a:latin typeface="Courier New" panose="02070309020205020404" pitchFamily="49" charset="0"/>
                <a:cs typeface="Courier New" panose="02070309020205020404" pitchFamily="49" charset="0"/>
              </a:rPr>
              <a:t>buf</a:t>
            </a:r>
            <a:r>
              <a:rPr lang="en-CA" sz="1400" dirty="0">
                <a:solidFill>
                  <a:schemeClr val="accent6">
                    <a:lumMod val="75000"/>
                  </a:schemeClr>
                </a:solidFill>
                <a:latin typeface="Courier New" panose="02070309020205020404" pitchFamily="49" charset="0"/>
                <a:cs typeface="Courier New" panose="02070309020205020404" pitchFamily="49" charset="0"/>
              </a:rPr>
              <a:t>, </a:t>
            </a:r>
            <a:r>
              <a:rPr lang="en-CA" sz="1400" dirty="0" err="1">
                <a:solidFill>
                  <a:schemeClr val="accent6">
                    <a:lumMod val="75000"/>
                  </a:schemeClr>
                </a:solidFill>
                <a:latin typeface="Courier New" panose="02070309020205020404" pitchFamily="49" charset="0"/>
                <a:cs typeface="Courier New" panose="02070309020205020404" pitchFamily="49" charset="0"/>
              </a:rPr>
              <a:t>len</a:t>
            </a:r>
            <a:r>
              <a:rPr lang="en-CA" sz="1400" dirty="0">
                <a:solidFill>
                  <a:schemeClr val="accent6">
                    <a:lumMod val="75000"/>
                  </a:schemeClr>
                </a:solidFill>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if (ret &lt; </a:t>
            </a:r>
            <a:r>
              <a:rPr lang="en-CA" sz="1400" dirty="0">
                <a:solidFill>
                  <a:srgbClr val="0070C0"/>
                </a:solidFill>
                <a:latin typeface="Courier New" panose="02070309020205020404" pitchFamily="49" charset="0"/>
                <a:cs typeface="Courier New" panose="02070309020205020404" pitchFamily="49" charset="0"/>
              </a:rPr>
              <a:t>0</a:t>
            </a:r>
            <a:r>
              <a:rPr lang="en-CA" sz="1400" dirty="0">
                <a:solidFill>
                  <a:schemeClr val="accent6">
                    <a:lumMod val="75000"/>
                  </a:schemeClr>
                </a:solidFill>
                <a:latin typeface="Courier New" panose="02070309020205020404" pitchFamily="49" charset="0"/>
                <a:cs typeface="Courier New" panose="02070309020205020404" pitchFamily="49" charset="0"/>
              </a:rPr>
              <a:t>) return ret;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ret = </a:t>
            </a:r>
            <a:r>
              <a:rPr lang="en-CA" sz="1400" dirty="0" err="1">
                <a:solidFill>
                  <a:schemeClr val="accent6">
                    <a:lumMod val="75000"/>
                  </a:schemeClr>
                </a:solidFill>
                <a:latin typeface="Courier New" panose="02070309020205020404" pitchFamily="49" charset="0"/>
                <a:cs typeface="Courier New" panose="02070309020205020404" pitchFamily="49" charset="0"/>
              </a:rPr>
              <a:t>s_block_group_desc.parse</a:t>
            </a:r>
            <a:r>
              <a:rPr lang="en-CA" sz="1400" dirty="0">
                <a:solidFill>
                  <a:schemeClr val="accent6">
                    <a:lumMod val="75000"/>
                  </a:schemeClr>
                </a:solidFill>
                <a:latin typeface="Courier New" panose="02070309020205020404" pitchFamily="49" charset="0"/>
                <a:cs typeface="Courier New" panose="02070309020205020404" pitchFamily="49" charset="0"/>
              </a:rPr>
              <a:t>(</a:t>
            </a:r>
            <a:r>
              <a:rPr lang="en-CA" sz="1400" dirty="0" err="1">
                <a:solidFill>
                  <a:schemeClr val="accent6">
                    <a:lumMod val="75000"/>
                  </a:schemeClr>
                </a:solidFill>
                <a:latin typeface="Courier New" panose="02070309020205020404" pitchFamily="49" charset="0"/>
                <a:cs typeface="Courier New" panose="02070309020205020404" pitchFamily="49" charset="0"/>
              </a:rPr>
              <a:t>buf</a:t>
            </a:r>
            <a:r>
              <a:rPr lang="en-CA" sz="1400" dirty="0">
                <a:solidFill>
                  <a:schemeClr val="accent6">
                    <a:lumMod val="75000"/>
                  </a:schemeClr>
                </a:solidFill>
                <a:latin typeface="Courier New" panose="02070309020205020404" pitchFamily="49" charset="0"/>
                <a:cs typeface="Courier New" panose="02070309020205020404" pitchFamily="49" charset="0"/>
              </a:rPr>
              <a:t>, </a:t>
            </a:r>
            <a:r>
              <a:rPr lang="en-CA" sz="1400" dirty="0" err="1">
                <a:solidFill>
                  <a:schemeClr val="accent6">
                    <a:lumMod val="75000"/>
                  </a:schemeClr>
                </a:solidFill>
                <a:latin typeface="Courier New" panose="02070309020205020404" pitchFamily="49" charset="0"/>
                <a:cs typeface="Courier New" panose="02070309020205020404" pitchFamily="49" charset="0"/>
              </a:rPr>
              <a:t>len</a:t>
            </a:r>
            <a:r>
              <a:rPr lang="en-CA" sz="1400" dirty="0">
                <a:solidFill>
                  <a:schemeClr val="accent6">
                    <a:lumMod val="75000"/>
                  </a:schemeClr>
                </a:solidFill>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if (ret &lt; </a:t>
            </a:r>
            <a:r>
              <a:rPr lang="en-CA" sz="1400" dirty="0">
                <a:solidFill>
                  <a:srgbClr val="0070C0"/>
                </a:solidFill>
                <a:latin typeface="Courier New" panose="02070309020205020404" pitchFamily="49" charset="0"/>
                <a:cs typeface="Courier New" panose="02070309020205020404" pitchFamily="49" charset="0"/>
              </a:rPr>
              <a:t>0</a:t>
            </a:r>
            <a:r>
              <a:rPr lang="en-CA" sz="1400" dirty="0">
                <a:solidFill>
                  <a:schemeClr val="accent6">
                    <a:lumMod val="75000"/>
                  </a:schemeClr>
                </a:solidFill>
                <a:latin typeface="Courier New" panose="02070309020205020404" pitchFamily="49" charset="0"/>
                <a:cs typeface="Courier New" panose="02070309020205020404" pitchFamily="49" charset="0"/>
              </a:rPr>
              <a:t>) return ret;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if (!(this-&gt;</a:t>
            </a:r>
            <a:r>
              <a:rPr lang="en-CA" sz="1400" dirty="0" err="1">
                <a:solidFill>
                  <a:schemeClr val="accent6">
                    <a:lumMod val="75000"/>
                  </a:schemeClr>
                </a:solidFill>
                <a:latin typeface="Courier New" panose="02070309020205020404" pitchFamily="49" charset="0"/>
                <a:cs typeface="Courier New" panose="02070309020205020404" pitchFamily="49" charset="0"/>
              </a:rPr>
              <a:t>s_log_block_size</a:t>
            </a:r>
            <a:r>
              <a:rPr lang="en-CA" sz="1400" dirty="0">
                <a:solidFill>
                  <a:schemeClr val="accent6">
                    <a:lumMod val="75000"/>
                  </a:schemeClr>
                </a:solidFill>
                <a:latin typeface="Courier New" panose="02070309020205020404" pitchFamily="49" charset="0"/>
                <a:cs typeface="Courier New" panose="02070309020205020404" pitchFamily="49" charset="0"/>
              </a:rPr>
              <a:t> &lt;= </a:t>
            </a:r>
            <a:r>
              <a:rPr lang="en-CA" sz="1400" dirty="0">
                <a:solidFill>
                  <a:srgbClr val="0070C0"/>
                </a:solidFill>
                <a:latin typeface="Courier New" panose="02070309020205020404" pitchFamily="49" charset="0"/>
                <a:cs typeface="Courier New" panose="02070309020205020404" pitchFamily="49" charset="0"/>
              </a:rPr>
              <a:t>6</a:t>
            </a:r>
            <a:r>
              <a:rPr lang="en-CA" sz="1400" dirty="0">
                <a:solidFill>
                  <a:schemeClr val="accent6">
                    <a:lumMod val="75000"/>
                  </a:schemeClr>
                </a:solidFill>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return ERR_CORRUPT;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if (!(this-&gt;</a:t>
            </a:r>
            <a:r>
              <a:rPr lang="en-CA" sz="1400" dirty="0" err="1">
                <a:solidFill>
                  <a:schemeClr val="accent6">
                    <a:lumMod val="75000"/>
                  </a:schemeClr>
                </a:solidFill>
                <a:latin typeface="Courier New" panose="02070309020205020404" pitchFamily="49" charset="0"/>
                <a:cs typeface="Courier New" panose="02070309020205020404" pitchFamily="49" charset="0"/>
              </a:rPr>
              <a:t>s_magic</a:t>
            </a:r>
            <a:r>
              <a:rPr lang="en-CA" sz="1400" dirty="0">
                <a:solidFill>
                  <a:schemeClr val="accent6">
                    <a:lumMod val="75000"/>
                  </a:schemeClr>
                </a:solidFill>
                <a:latin typeface="Courier New" panose="02070309020205020404" pitchFamily="49" charset="0"/>
                <a:cs typeface="Courier New" panose="02070309020205020404" pitchFamily="49" charset="0"/>
              </a:rPr>
              <a:t> == </a:t>
            </a:r>
            <a:r>
              <a:rPr lang="en-CA" sz="1400" dirty="0">
                <a:solidFill>
                  <a:srgbClr val="0070C0"/>
                </a:solidFill>
                <a:latin typeface="Courier New" panose="02070309020205020404" pitchFamily="49" charset="0"/>
                <a:cs typeface="Courier New" panose="02070309020205020404" pitchFamily="49" charset="0"/>
              </a:rPr>
              <a:t>0xef53</a:t>
            </a:r>
            <a:r>
              <a:rPr lang="en-CA" sz="1400" dirty="0">
                <a:solidFill>
                  <a:schemeClr val="accent6">
                    <a:lumMod val="75000"/>
                  </a:schemeClr>
                </a:solidFill>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return ERR_CORRUPT;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return </a:t>
            </a:r>
            <a:r>
              <a:rPr lang="en-CA" sz="1400" dirty="0">
                <a:solidFill>
                  <a:srgbClr val="00B0F0"/>
                </a:solidFill>
                <a:latin typeface="Courier New" panose="02070309020205020404" pitchFamily="49" charset="0"/>
                <a:cs typeface="Courier New" panose="02070309020205020404" pitchFamily="49" charset="0"/>
              </a:rPr>
              <a:t>0</a:t>
            </a:r>
            <a:r>
              <a:rPr lang="en-CA" sz="1400" dirty="0">
                <a:solidFill>
                  <a:schemeClr val="accent6">
                    <a:lumMod val="75000"/>
                  </a:schemeClr>
                </a:solidFill>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a:t>
            </a:r>
          </a:p>
        </p:txBody>
      </p:sp>
      <p:sp>
        <p:nvSpPr>
          <p:cNvPr id="10" name="Content Placeholder 6"/>
          <p:cNvSpPr txBox="1">
            <a:spLocks noGrp="1"/>
          </p:cNvSpPr>
          <p:nvPr>
            <p:ph sz="half" idx="2"/>
          </p:nvPr>
        </p:nvSpPr>
        <p:spPr>
          <a:xfrm>
            <a:off x="684211" y="2100086"/>
            <a:ext cx="5070740" cy="4072114"/>
          </a:xfrm>
          <a:prstGeom prst="rect">
            <a:avLst/>
          </a:prstGeom>
        </p:spPr>
        <p:txBody>
          <a:bodyPr vert="horz" lIns="91440" tIns="45720" rIns="91440" bIns="45720" rtlCol="0" anchor="t">
            <a:no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pPr marL="0" indent="0">
              <a:lnSpc>
                <a:spcPts val="2000"/>
              </a:lnSpc>
              <a:spcBef>
                <a:spcPts val="0"/>
              </a:spcBef>
              <a:spcAft>
                <a:spcPts val="0"/>
              </a:spcAft>
              <a:buNone/>
            </a:pPr>
            <a:r>
              <a:rPr lang="en-CA" sz="1400" b="1" dirty="0">
                <a:solidFill>
                  <a:schemeClr val="accent6">
                    <a:lumMod val="75000"/>
                  </a:schemeClr>
                </a:solidFill>
                <a:latin typeface="Courier New" panose="02070309020205020404" pitchFamily="49" charset="0"/>
                <a:cs typeface="Courier New" panose="02070309020205020404" pitchFamily="49" charset="0"/>
              </a:rPr>
              <a:t>FSSUPER</a:t>
            </a:r>
            <a:r>
              <a:rPr lang="en-CA" sz="1400" dirty="0">
                <a:solidFill>
                  <a:schemeClr val="accent6">
                    <a:lumMod val="75000"/>
                  </a:schemeClr>
                </a:solidFill>
                <a:latin typeface="Courier New" panose="02070309020205020404" pitchFamily="49" charset="0"/>
                <a:cs typeface="Courier New" panose="02070309020205020404" pitchFamily="49" charset="0"/>
              </a:rPr>
              <a:t>(</a:t>
            </a:r>
            <a:r>
              <a:rPr lang="en-CA" sz="1400" dirty="0">
                <a:solidFill>
                  <a:schemeClr val="accent3"/>
                </a:solidFill>
                <a:latin typeface="Courier New" panose="02070309020205020404" pitchFamily="49" charset="0"/>
                <a:cs typeface="Courier New" panose="02070309020205020404" pitchFamily="49" charset="0"/>
              </a:rPr>
              <a:t>location</a:t>
            </a:r>
            <a:r>
              <a:rPr lang="en-CA" sz="1400" dirty="0">
                <a:solidFill>
                  <a:schemeClr val="accent6">
                    <a:lumMod val="75000"/>
                  </a:schemeClr>
                </a:solidFill>
                <a:latin typeface="Courier New" panose="02070309020205020404" pitchFamily="49" charset="0"/>
                <a:cs typeface="Courier New" panose="02070309020205020404" pitchFamily="49" charset="0"/>
              </a:rPr>
              <a:t>=</a:t>
            </a:r>
            <a:r>
              <a:rPr lang="en-CA" sz="1400" dirty="0">
                <a:solidFill>
                  <a:srgbClr val="0070C0"/>
                </a:solidFill>
                <a:latin typeface="Courier New" panose="02070309020205020404" pitchFamily="49" charset="0"/>
                <a:cs typeface="Courier New" panose="02070309020205020404" pitchFamily="49" charset="0"/>
              </a:rPr>
              <a:t>1024</a:t>
            </a:r>
            <a:r>
              <a:rPr lang="en-CA" sz="1400" dirty="0">
                <a:solidFill>
                  <a:schemeClr val="accent6">
                    <a:lumMod val="75000"/>
                  </a:schemeClr>
                </a:solidFill>
                <a:latin typeface="Courier New" panose="02070309020205020404" pitchFamily="49" charset="0"/>
                <a:cs typeface="Courier New" panose="02070309020205020404" pitchFamily="49" charset="0"/>
              </a:rPr>
              <a:t>) </a:t>
            </a:r>
            <a:r>
              <a:rPr lang="en-CA" sz="1400" dirty="0" smtClean="0">
                <a:solidFill>
                  <a:schemeClr val="accent6">
                    <a:lumMod val="75000"/>
                  </a:schemeClr>
                </a:solidFill>
                <a:latin typeface="Courier New" panose="02070309020205020404" pitchFamily="49" charset="0"/>
                <a:cs typeface="Courier New" panose="02070309020205020404" pitchFamily="49" charset="0"/>
              </a:rPr>
              <a:t>ext4_super_block </a:t>
            </a:r>
            <a:r>
              <a:rPr lang="en-CA" sz="1400" dirty="0">
                <a:solidFill>
                  <a:schemeClr val="accent6">
                    <a:lumMod val="75000"/>
                  </a:schemeClr>
                </a:solidFill>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__le32	</a:t>
            </a:r>
            <a:r>
              <a:rPr lang="en-CA" sz="1400" dirty="0" err="1">
                <a:solidFill>
                  <a:schemeClr val="accent6">
                    <a:lumMod val="75000"/>
                  </a:schemeClr>
                </a:solidFill>
                <a:latin typeface="Courier New" panose="02070309020205020404" pitchFamily="49" charset="0"/>
                <a:cs typeface="Courier New" panose="02070309020205020404" pitchFamily="49" charset="0"/>
              </a:rPr>
              <a:t>s_blocks_count</a:t>
            </a:r>
            <a:r>
              <a:rPr lang="en-CA" sz="1400" dirty="0">
                <a:solidFill>
                  <a:schemeClr val="accent6">
                    <a:lumMod val="75000"/>
                  </a:schemeClr>
                </a:solidFill>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__le32	</a:t>
            </a:r>
            <a:r>
              <a:rPr lang="en-CA" sz="1400" dirty="0" err="1">
                <a:solidFill>
                  <a:schemeClr val="accent6">
                    <a:lumMod val="75000"/>
                  </a:schemeClr>
                </a:solidFill>
                <a:latin typeface="Courier New" panose="02070309020205020404" pitchFamily="49" charset="0"/>
                <a:cs typeface="Courier New" panose="02070309020205020404" pitchFamily="49" charset="0"/>
              </a:rPr>
              <a:t>s_log_block_size</a:t>
            </a:r>
            <a:r>
              <a:rPr lang="en-CA" sz="1400" dirty="0">
                <a:solidFill>
                  <a:schemeClr val="accent6">
                    <a:lumMod val="75000"/>
                  </a:schemeClr>
                </a:solidFill>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__le32	</a:t>
            </a:r>
            <a:r>
              <a:rPr lang="en-CA" sz="1400" dirty="0" err="1">
                <a:solidFill>
                  <a:schemeClr val="accent6">
                    <a:lumMod val="75000"/>
                  </a:schemeClr>
                </a:solidFill>
                <a:latin typeface="Courier New" panose="02070309020205020404" pitchFamily="49" charset="0"/>
                <a:cs typeface="Courier New" panose="02070309020205020404" pitchFamily="49" charset="0"/>
              </a:rPr>
              <a:t>s_blocks_per_group</a:t>
            </a:r>
            <a:r>
              <a:rPr lang="en-CA" sz="1400" dirty="0" smtClean="0">
                <a:solidFill>
                  <a:schemeClr val="accent6">
                    <a:lumMod val="75000"/>
                  </a:schemeClr>
                </a:solidFill>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a:t>
            </a:r>
            <a:r>
              <a:rPr lang="en-CA" sz="1400" dirty="0" smtClean="0">
                <a:solidFill>
                  <a:schemeClr val="accent6">
                    <a:lumMod val="75000"/>
                  </a:schemeClr>
                </a:solidFill>
                <a:latin typeface="Courier New" panose="02070309020205020404" pitchFamily="49" charset="0"/>
                <a:cs typeface="Courier New" panose="02070309020205020404" pitchFamily="49" charset="0"/>
              </a:rPr>
              <a:t> …</a:t>
            </a:r>
            <a:endParaRPr lang="en-CA" sz="1400" dirty="0">
              <a:solidFill>
                <a:schemeClr val="accent6">
                  <a:lumMod val="75000"/>
                </a:schemeClr>
              </a:solidFill>
              <a:latin typeface="Courier New" panose="02070309020205020404" pitchFamily="49" charset="0"/>
              <a:cs typeface="Courier New" panose="02070309020205020404" pitchFamily="49" charset="0"/>
            </a:endParaRPr>
          </a:p>
          <a:p>
            <a:pPr marL="0" indent="0">
              <a:lnSpc>
                <a:spcPts val="2000"/>
              </a:lnSpc>
              <a:spcBef>
                <a:spcPts val="0"/>
              </a:spcBef>
              <a:spcAft>
                <a:spcPts val="0"/>
              </a:spcAft>
              <a:buNone/>
            </a:pPr>
            <a:r>
              <a:rPr lang="en-CA" sz="1400" dirty="0" smtClean="0">
                <a:solidFill>
                  <a:schemeClr val="accent6">
                    <a:lumMod val="75000"/>
                  </a:schemeClr>
                </a:solidFill>
                <a:latin typeface="Courier New" panose="02070309020205020404" pitchFamily="49" charset="0"/>
                <a:cs typeface="Courier New" panose="02070309020205020404" pitchFamily="49" charset="0"/>
              </a:rPr>
              <a:t>  __</a:t>
            </a:r>
            <a:r>
              <a:rPr lang="en-CA" sz="1400" dirty="0">
                <a:solidFill>
                  <a:schemeClr val="accent6">
                    <a:lumMod val="75000"/>
                  </a:schemeClr>
                </a:solidFill>
                <a:latin typeface="Courier New" panose="02070309020205020404" pitchFamily="49" charset="0"/>
                <a:cs typeface="Courier New" panose="02070309020205020404" pitchFamily="49" charset="0"/>
              </a:rPr>
              <a:t>le16	</a:t>
            </a:r>
            <a:r>
              <a:rPr lang="en-CA" sz="1400" dirty="0" err="1">
                <a:solidFill>
                  <a:schemeClr val="accent6">
                    <a:lumMod val="75000"/>
                  </a:schemeClr>
                </a:solidFill>
                <a:latin typeface="Courier New" panose="02070309020205020404" pitchFamily="49" charset="0"/>
                <a:cs typeface="Courier New" panose="02070309020205020404" pitchFamily="49" charset="0"/>
              </a:rPr>
              <a:t>s_magic</a:t>
            </a:r>
            <a:r>
              <a:rPr lang="en-CA" sz="1400" dirty="0">
                <a:solidFill>
                  <a:schemeClr val="accent6">
                    <a:lumMod val="75000"/>
                  </a:schemeClr>
                </a:solidFill>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a:t>
            </a:r>
            <a:r>
              <a:rPr lang="en-CA" sz="1400" b="1" dirty="0">
                <a:solidFill>
                  <a:schemeClr val="accent6">
                    <a:lumMod val="75000"/>
                  </a:schemeClr>
                </a:solidFill>
                <a:latin typeface="Courier New" panose="02070309020205020404" pitchFamily="49" charset="0"/>
                <a:cs typeface="Courier New" panose="02070309020205020404" pitchFamily="49" charset="0"/>
              </a:rPr>
              <a:t>FIELD</a:t>
            </a:r>
            <a:r>
              <a:rPr lang="en-CA" sz="1400" dirty="0">
                <a:solidFill>
                  <a:schemeClr val="accent6">
                    <a:lumMod val="75000"/>
                  </a:schemeClr>
                </a:solidFill>
                <a:latin typeface="Courier New" panose="02070309020205020404" pitchFamily="49" charset="0"/>
                <a:cs typeface="Courier New" panose="02070309020205020404" pitchFamily="49" charset="0"/>
              </a:rPr>
              <a:t>(</a:t>
            </a:r>
            <a:r>
              <a:rPr lang="en-CA" sz="1400" dirty="0">
                <a:solidFill>
                  <a:schemeClr val="accent3"/>
                </a:solidFill>
                <a:latin typeface="Courier New" panose="02070309020205020404" pitchFamily="49" charset="0"/>
                <a:cs typeface="Courier New" panose="02070309020205020404" pitchFamily="49" charset="0"/>
              </a:rPr>
              <a:t>type</a:t>
            </a:r>
            <a:r>
              <a:rPr lang="en-CA" sz="1400" dirty="0">
                <a:solidFill>
                  <a:schemeClr val="accent6">
                    <a:lumMod val="75000"/>
                  </a:schemeClr>
                </a:solidFill>
                <a:latin typeface="Courier New" panose="02070309020205020404" pitchFamily="49" charset="0"/>
                <a:cs typeface="Courier New" panose="02070309020205020404" pitchFamily="49" charset="0"/>
              </a:rPr>
              <a:t>=</a:t>
            </a:r>
            <a:r>
              <a:rPr lang="en-CA" sz="1400" dirty="0" err="1">
                <a:solidFill>
                  <a:schemeClr val="accent6">
                    <a:lumMod val="75000"/>
                  </a:schemeClr>
                </a:solidFill>
                <a:latin typeface="Courier New" panose="02070309020205020404" pitchFamily="49" charset="0"/>
                <a:cs typeface="Courier New" panose="02070309020205020404" pitchFamily="49" charset="0"/>
              </a:rPr>
              <a:t>enum</a:t>
            </a:r>
            <a:r>
              <a:rPr lang="en-CA" sz="1400" dirty="0">
                <a:solidFill>
                  <a:schemeClr val="accent6">
                    <a:lumMod val="75000"/>
                  </a:schemeClr>
                </a:solidFill>
                <a:latin typeface="Courier New" panose="02070309020205020404" pitchFamily="49" charset="0"/>
                <a:cs typeface="Courier New" panose="02070309020205020404" pitchFamily="49" charset="0"/>
              </a:rPr>
              <a:t> </a:t>
            </a:r>
            <a:r>
              <a:rPr lang="en-CA" sz="1400" dirty="0" smtClean="0">
                <a:solidFill>
                  <a:schemeClr val="accent6">
                    <a:lumMod val="75000"/>
                  </a:schemeClr>
                </a:solidFill>
                <a:latin typeface="Courier New" panose="02070309020205020404" pitchFamily="49" charset="0"/>
                <a:cs typeface="Courier New" panose="02070309020205020404" pitchFamily="49" charset="0"/>
              </a:rPr>
              <a:t>ext4_os</a:t>
            </a:r>
            <a:r>
              <a:rPr lang="en-CA" sz="1400" dirty="0">
                <a:solidFill>
                  <a:schemeClr val="accent6">
                    <a:lumMod val="75000"/>
                  </a:schemeClr>
                </a:solidFill>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__le32	</a:t>
            </a:r>
            <a:r>
              <a:rPr lang="en-CA" sz="1400" dirty="0" err="1">
                <a:solidFill>
                  <a:schemeClr val="accent6">
                    <a:lumMod val="75000"/>
                  </a:schemeClr>
                </a:solidFill>
                <a:latin typeface="Courier New" panose="02070309020205020404" pitchFamily="49" charset="0"/>
                <a:cs typeface="Courier New" panose="02070309020205020404" pitchFamily="49" charset="0"/>
              </a:rPr>
              <a:t>s_creator_os</a:t>
            </a:r>
            <a:r>
              <a:rPr lang="en-CA" sz="1400" dirty="0" smtClean="0">
                <a:solidFill>
                  <a:schemeClr val="accent6">
                    <a:lumMod val="75000"/>
                  </a:schemeClr>
                </a:solidFill>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a:t>
            </a:r>
            <a:r>
              <a:rPr lang="en-CA" sz="1400" dirty="0" smtClean="0">
                <a:solidFill>
                  <a:schemeClr val="accent6">
                    <a:lumMod val="75000"/>
                  </a:schemeClr>
                </a:solidFill>
                <a:latin typeface="Courier New" panose="02070309020205020404" pitchFamily="49" charset="0"/>
                <a:cs typeface="Courier New" panose="02070309020205020404" pitchFamily="49" charset="0"/>
              </a:rPr>
              <a:t> …</a:t>
            </a:r>
            <a:endParaRPr lang="en-CA" sz="1400" dirty="0">
              <a:solidFill>
                <a:schemeClr val="accent6">
                  <a:lumMod val="75000"/>
                </a:schemeClr>
              </a:solidFill>
              <a:latin typeface="Courier New" panose="02070309020205020404" pitchFamily="49" charset="0"/>
              <a:cs typeface="Courier New" panose="02070309020205020404" pitchFamily="49" charset="0"/>
            </a:endParaRPr>
          </a:p>
          <a:p>
            <a:pPr marL="0" indent="0">
              <a:lnSpc>
                <a:spcPts val="2000"/>
              </a:lnSpc>
              <a:spcBef>
                <a:spcPts val="0"/>
              </a:spcBef>
              <a:spcAft>
                <a:spcPts val="0"/>
              </a:spcAft>
              <a:buNone/>
            </a:pPr>
            <a:r>
              <a:rPr lang="en-CA" sz="1400" dirty="0" smtClean="0">
                <a:solidFill>
                  <a:schemeClr val="accent6">
                    <a:lumMod val="75000"/>
                  </a:schemeClr>
                </a:solidFill>
                <a:latin typeface="Courier New" panose="02070309020205020404" pitchFamily="49" charset="0"/>
                <a:cs typeface="Courier New" panose="02070309020205020404" pitchFamily="49" charset="0"/>
              </a:rPr>
              <a:t>  </a:t>
            </a:r>
            <a:r>
              <a:rPr lang="en-CA" sz="1400" b="1" dirty="0" smtClean="0">
                <a:solidFill>
                  <a:schemeClr val="accent6">
                    <a:lumMod val="75000"/>
                  </a:schemeClr>
                </a:solidFill>
                <a:latin typeface="Courier New" panose="02070309020205020404" pitchFamily="49" charset="0"/>
                <a:cs typeface="Courier New" panose="02070309020205020404" pitchFamily="49" charset="0"/>
              </a:rPr>
              <a:t>POINTER</a:t>
            </a:r>
            <a:r>
              <a:rPr lang="en-CA" sz="1400" dirty="0" smtClean="0">
                <a:solidFill>
                  <a:schemeClr val="accent6">
                    <a:lumMod val="75000"/>
                  </a:schemeClr>
                </a:solidFill>
                <a:latin typeface="Courier New" panose="02070309020205020404" pitchFamily="49" charset="0"/>
                <a:cs typeface="Courier New" panose="02070309020205020404" pitchFamily="49" charset="0"/>
              </a:rPr>
              <a:t>(</a:t>
            </a:r>
            <a:r>
              <a:rPr lang="en-CA" sz="1400" dirty="0" smtClean="0">
                <a:solidFill>
                  <a:schemeClr val="accent3"/>
                </a:solidFill>
                <a:latin typeface="Courier New" panose="02070309020205020404" pitchFamily="49" charset="0"/>
                <a:cs typeface="Courier New" panose="02070309020205020404" pitchFamily="49" charset="0"/>
              </a:rPr>
              <a:t>name</a:t>
            </a:r>
            <a:r>
              <a:rPr lang="en-CA" sz="1400" dirty="0" smtClean="0">
                <a:solidFill>
                  <a:schemeClr val="accent6">
                    <a:lumMod val="75000"/>
                  </a:schemeClr>
                </a:solidFill>
                <a:latin typeface="Courier New" panose="02070309020205020404" pitchFamily="49" charset="0"/>
                <a:cs typeface="Courier New" panose="02070309020205020404" pitchFamily="49" charset="0"/>
              </a:rPr>
              <a:t>=</a:t>
            </a:r>
            <a:r>
              <a:rPr lang="en-CA" sz="1400" dirty="0" err="1" smtClean="0">
                <a:solidFill>
                  <a:schemeClr val="accent6">
                    <a:lumMod val="75000"/>
                  </a:schemeClr>
                </a:solidFill>
                <a:latin typeface="Courier New" panose="02070309020205020404" pitchFamily="49" charset="0"/>
                <a:cs typeface="Courier New" panose="02070309020205020404" pitchFamily="49" charset="0"/>
              </a:rPr>
              <a:t>s_block_group_desc</a:t>
            </a:r>
            <a:r>
              <a:rPr lang="en-CA" sz="1400" dirty="0" smtClean="0">
                <a:solidFill>
                  <a:schemeClr val="accent6">
                    <a:lumMod val="75000"/>
                  </a:schemeClr>
                </a:solidFill>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a:t>
            </a:r>
            <a:r>
              <a:rPr lang="en-CA" sz="1400" dirty="0" smtClean="0">
                <a:solidFill>
                  <a:schemeClr val="accent6">
                    <a:lumMod val="75000"/>
                  </a:schemeClr>
                </a:solidFill>
                <a:latin typeface="Courier New" panose="02070309020205020404" pitchFamily="49" charset="0"/>
                <a:cs typeface="Courier New" panose="02070309020205020404" pitchFamily="49" charset="0"/>
              </a:rPr>
              <a:t> </a:t>
            </a:r>
            <a:r>
              <a:rPr lang="en-CA" sz="1400" dirty="0" smtClean="0">
                <a:solidFill>
                  <a:schemeClr val="accent3"/>
                </a:solidFill>
                <a:latin typeface="Courier New" panose="02070309020205020404" pitchFamily="49" charset="0"/>
                <a:cs typeface="Courier New" panose="02070309020205020404" pitchFamily="49" charset="0"/>
              </a:rPr>
              <a:t>type</a:t>
            </a:r>
            <a:r>
              <a:rPr lang="en-CA" sz="1400" dirty="0" smtClean="0">
                <a:solidFill>
                  <a:schemeClr val="accent6">
                    <a:lumMod val="75000"/>
                  </a:schemeClr>
                </a:solidFill>
                <a:latin typeface="Courier New" panose="02070309020205020404" pitchFamily="49" charset="0"/>
                <a:cs typeface="Courier New" panose="02070309020205020404" pitchFamily="49" charset="0"/>
              </a:rPr>
              <a:t>=ext4_group_desc_table</a:t>
            </a:r>
            <a:r>
              <a:rPr lang="en-CA" sz="1400" dirty="0">
                <a:solidFill>
                  <a:schemeClr val="accent6">
                    <a:lumMod val="75000"/>
                  </a:schemeClr>
                </a:solidFill>
                <a:latin typeface="Courier New" panose="02070309020205020404" pitchFamily="49" charset="0"/>
                <a:cs typeface="Courier New" panose="02070309020205020404" pitchFamily="49" charset="0"/>
              </a:rPr>
              <a:t>, </a:t>
            </a:r>
            <a:r>
              <a:rPr lang="en-CA" sz="1400" dirty="0" err="1">
                <a:solidFill>
                  <a:schemeClr val="accent3"/>
                </a:solidFill>
                <a:latin typeface="Courier New" panose="02070309020205020404" pitchFamily="49" charset="0"/>
                <a:cs typeface="Courier New" panose="02070309020205020404" pitchFamily="49" charset="0"/>
              </a:rPr>
              <a:t>aspc</a:t>
            </a:r>
            <a:r>
              <a:rPr lang="en-CA" sz="1400" dirty="0" smtClean="0">
                <a:solidFill>
                  <a:schemeClr val="accent6">
                    <a:lumMod val="75000"/>
                  </a:schemeClr>
                </a:solidFill>
                <a:latin typeface="Courier New" panose="02070309020205020404" pitchFamily="49" charset="0"/>
                <a:cs typeface="Courier New" panose="02070309020205020404" pitchFamily="49" charset="0"/>
              </a:rPr>
              <a:t>=block</a:t>
            </a:r>
            <a:r>
              <a:rPr lang="en-CA" sz="1400" dirty="0">
                <a:solidFill>
                  <a:schemeClr val="accent6">
                    <a:lumMod val="75000"/>
                  </a:schemeClr>
                </a:solidFill>
                <a:latin typeface="Courier New" panose="02070309020205020404" pitchFamily="49" charset="0"/>
                <a:cs typeface="Courier New" panose="02070309020205020404" pitchFamily="49" charset="0"/>
              </a:rPr>
              <a:t>, </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a:t>
            </a:r>
            <a:r>
              <a:rPr lang="en-CA" sz="1400" dirty="0" smtClean="0">
                <a:solidFill>
                  <a:schemeClr val="accent3"/>
                </a:solidFill>
                <a:latin typeface="Courier New" panose="02070309020205020404" pitchFamily="49" charset="0"/>
                <a:cs typeface="Courier New" panose="02070309020205020404" pitchFamily="49" charset="0"/>
              </a:rPr>
              <a:t>expr</a:t>
            </a:r>
            <a:r>
              <a:rPr lang="en-CA" sz="1400" dirty="0">
                <a:solidFill>
                  <a:schemeClr val="accent6">
                    <a:lumMod val="75000"/>
                  </a:schemeClr>
                </a:solidFill>
                <a:latin typeface="Courier New" panose="02070309020205020404" pitchFamily="49" charset="0"/>
                <a:cs typeface="Courier New" panose="02070309020205020404" pitchFamily="49" charset="0"/>
              </a:rPr>
              <a:t>=(</a:t>
            </a:r>
            <a:r>
              <a:rPr lang="en-CA" sz="1400" dirty="0" err="1">
                <a:solidFill>
                  <a:schemeClr val="accent6">
                    <a:lumMod val="75000"/>
                  </a:schemeClr>
                </a:solidFill>
                <a:latin typeface="Courier New" panose="02070309020205020404" pitchFamily="49" charset="0"/>
                <a:cs typeface="Courier New" panose="02070309020205020404" pitchFamily="49" charset="0"/>
              </a:rPr>
              <a:t>self.s_log_block_size</a:t>
            </a:r>
            <a:r>
              <a:rPr lang="en-CA" sz="1400" dirty="0">
                <a:solidFill>
                  <a:schemeClr val="accent6">
                    <a:lumMod val="75000"/>
                  </a:schemeClr>
                </a:solidFill>
                <a:latin typeface="Courier New" panose="02070309020205020404" pitchFamily="49" charset="0"/>
                <a:cs typeface="Courier New" panose="02070309020205020404" pitchFamily="49" charset="0"/>
              </a:rPr>
              <a:t> == </a:t>
            </a:r>
            <a:r>
              <a:rPr lang="en-CA" sz="1400" dirty="0">
                <a:solidFill>
                  <a:srgbClr val="0070C0"/>
                </a:solidFill>
                <a:latin typeface="Courier New" panose="02070309020205020404" pitchFamily="49" charset="0"/>
                <a:cs typeface="Courier New" panose="02070309020205020404" pitchFamily="49" charset="0"/>
              </a:rPr>
              <a:t>0</a:t>
            </a:r>
            <a:r>
              <a:rPr lang="en-CA" sz="1400" dirty="0" smtClean="0">
                <a:solidFill>
                  <a:schemeClr val="accent6">
                    <a:lumMod val="75000"/>
                  </a:schemeClr>
                </a:solidFill>
                <a:latin typeface="Courier New" panose="02070309020205020404" pitchFamily="49" charset="0"/>
                <a:cs typeface="Courier New" panose="02070309020205020404" pitchFamily="49" charset="0"/>
              </a:rPr>
              <a:t>) ? </a:t>
            </a:r>
            <a:r>
              <a:rPr lang="en-CA" sz="1400" dirty="0" smtClean="0">
                <a:solidFill>
                  <a:srgbClr val="0070C0"/>
                </a:solidFill>
                <a:latin typeface="Courier New" panose="02070309020205020404" pitchFamily="49" charset="0"/>
                <a:cs typeface="Courier New" panose="02070309020205020404" pitchFamily="49" charset="0"/>
              </a:rPr>
              <a:t>2</a:t>
            </a:r>
            <a:r>
              <a:rPr lang="en-CA" sz="1400" dirty="0" smtClean="0">
                <a:solidFill>
                  <a:schemeClr val="accent6">
                    <a:lumMod val="75000"/>
                  </a:schemeClr>
                </a:solidFill>
                <a:latin typeface="Courier New" panose="02070309020205020404" pitchFamily="49" charset="0"/>
                <a:cs typeface="Courier New" panose="02070309020205020404" pitchFamily="49" charset="0"/>
              </a:rPr>
              <a:t> : </a:t>
            </a:r>
            <a:r>
              <a:rPr lang="en-CA" sz="1400" dirty="0" smtClean="0">
                <a:solidFill>
                  <a:srgbClr val="0070C0"/>
                </a:solidFill>
                <a:latin typeface="Courier New" panose="02070309020205020404" pitchFamily="49" charset="0"/>
                <a:cs typeface="Courier New" panose="02070309020205020404" pitchFamily="49" charset="0"/>
              </a:rPr>
              <a:t>1</a:t>
            </a:r>
            <a:r>
              <a:rPr lang="en-CA" sz="1400" dirty="0" smtClean="0">
                <a:solidFill>
                  <a:schemeClr val="accent6">
                    <a:lumMod val="75000"/>
                  </a:schemeClr>
                </a:solidFill>
                <a:latin typeface="Courier New" panose="02070309020205020404" pitchFamily="49" charset="0"/>
                <a:cs typeface="Courier New" panose="02070309020205020404" pitchFamily="49" charset="0"/>
              </a:rPr>
              <a:t>);</a:t>
            </a:r>
            <a:endParaRPr lang="en-CA" sz="1400" dirty="0">
              <a:solidFill>
                <a:schemeClr val="accent6">
                  <a:lumMod val="75000"/>
                </a:schemeClr>
              </a:solidFill>
              <a:latin typeface="Courier New" panose="02070309020205020404" pitchFamily="49" charset="0"/>
              <a:cs typeface="Courier New" panose="02070309020205020404" pitchFamily="49" charset="0"/>
            </a:endParaRP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a:t>
            </a:r>
            <a:r>
              <a:rPr lang="en-CA" sz="1400" dirty="0">
                <a:solidFill>
                  <a:srgbClr val="00B050"/>
                </a:solidFill>
                <a:latin typeface="Courier New" panose="02070309020205020404" pitchFamily="49" charset="0"/>
                <a:cs typeface="Courier New" panose="02070309020205020404" pitchFamily="49" charset="0"/>
              </a:rPr>
              <a:t>/* maximum supported block size is 64KB */</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a:t>
            </a:r>
            <a:r>
              <a:rPr lang="en-CA" sz="1400" b="1" dirty="0">
                <a:solidFill>
                  <a:schemeClr val="accent6">
                    <a:lumMod val="75000"/>
                  </a:schemeClr>
                </a:solidFill>
                <a:latin typeface="Courier New" panose="02070309020205020404" pitchFamily="49" charset="0"/>
                <a:cs typeface="Courier New" panose="02070309020205020404" pitchFamily="49" charset="0"/>
              </a:rPr>
              <a:t>CHECK</a:t>
            </a:r>
            <a:r>
              <a:rPr lang="en-CA" sz="1400" dirty="0">
                <a:solidFill>
                  <a:schemeClr val="accent6">
                    <a:lumMod val="75000"/>
                  </a:schemeClr>
                </a:solidFill>
                <a:latin typeface="Courier New" panose="02070309020205020404" pitchFamily="49" charset="0"/>
                <a:cs typeface="Courier New" panose="02070309020205020404" pitchFamily="49" charset="0"/>
              </a:rPr>
              <a:t>(</a:t>
            </a:r>
            <a:r>
              <a:rPr lang="en-CA" sz="1400" dirty="0">
                <a:solidFill>
                  <a:schemeClr val="accent3"/>
                </a:solidFill>
                <a:latin typeface="Courier New" panose="02070309020205020404" pitchFamily="49" charset="0"/>
                <a:cs typeface="Courier New" panose="02070309020205020404" pitchFamily="49" charset="0"/>
              </a:rPr>
              <a:t>expr</a:t>
            </a:r>
            <a:r>
              <a:rPr lang="en-CA" sz="1400" dirty="0">
                <a:solidFill>
                  <a:schemeClr val="accent6">
                    <a:lumMod val="75000"/>
                  </a:schemeClr>
                </a:solidFill>
                <a:latin typeface="Courier New" panose="02070309020205020404" pitchFamily="49" charset="0"/>
                <a:cs typeface="Courier New" panose="02070309020205020404" pitchFamily="49" charset="0"/>
              </a:rPr>
              <a:t>=</a:t>
            </a:r>
            <a:r>
              <a:rPr lang="en-CA" sz="1400" dirty="0" err="1">
                <a:solidFill>
                  <a:schemeClr val="accent6">
                    <a:lumMod val="75000"/>
                  </a:schemeClr>
                </a:solidFill>
                <a:latin typeface="Courier New" panose="02070309020205020404" pitchFamily="49" charset="0"/>
                <a:cs typeface="Courier New" panose="02070309020205020404" pitchFamily="49" charset="0"/>
              </a:rPr>
              <a:t>self.s_log_block_size</a:t>
            </a:r>
            <a:r>
              <a:rPr lang="en-CA" sz="1400" dirty="0">
                <a:solidFill>
                  <a:schemeClr val="accent6">
                    <a:lumMod val="75000"/>
                  </a:schemeClr>
                </a:solidFill>
                <a:latin typeface="Courier New" panose="02070309020205020404" pitchFamily="49" charset="0"/>
                <a:cs typeface="Courier New" panose="02070309020205020404" pitchFamily="49" charset="0"/>
              </a:rPr>
              <a:t> &lt;= </a:t>
            </a:r>
            <a:r>
              <a:rPr lang="en-CA" sz="1400" dirty="0">
                <a:solidFill>
                  <a:srgbClr val="0070C0"/>
                </a:solidFill>
                <a:latin typeface="Courier New" panose="02070309020205020404" pitchFamily="49" charset="0"/>
                <a:cs typeface="Courier New" panose="02070309020205020404" pitchFamily="49" charset="0"/>
              </a:rPr>
              <a:t>6</a:t>
            </a:r>
            <a:r>
              <a:rPr lang="en-CA" sz="1400" dirty="0">
                <a:solidFill>
                  <a:schemeClr val="accent6">
                    <a:lumMod val="75000"/>
                  </a:schemeClr>
                </a:solidFill>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a:t>
            </a:r>
            <a:r>
              <a:rPr lang="en-CA" sz="1400" b="1" dirty="0">
                <a:solidFill>
                  <a:schemeClr val="accent6">
                    <a:lumMod val="75000"/>
                  </a:schemeClr>
                </a:solidFill>
                <a:latin typeface="Courier New" panose="02070309020205020404" pitchFamily="49" charset="0"/>
                <a:cs typeface="Courier New" panose="02070309020205020404" pitchFamily="49" charset="0"/>
              </a:rPr>
              <a:t>CHECK</a:t>
            </a:r>
            <a:r>
              <a:rPr lang="en-CA" sz="1400" dirty="0">
                <a:solidFill>
                  <a:schemeClr val="accent6">
                    <a:lumMod val="75000"/>
                  </a:schemeClr>
                </a:solidFill>
                <a:latin typeface="Courier New" panose="02070309020205020404" pitchFamily="49" charset="0"/>
                <a:cs typeface="Courier New" panose="02070309020205020404" pitchFamily="49" charset="0"/>
              </a:rPr>
              <a:t>(</a:t>
            </a:r>
            <a:r>
              <a:rPr lang="en-CA" sz="1400" dirty="0">
                <a:solidFill>
                  <a:schemeClr val="accent3"/>
                </a:solidFill>
                <a:latin typeface="Courier New" panose="02070309020205020404" pitchFamily="49" charset="0"/>
                <a:cs typeface="Courier New" panose="02070309020205020404" pitchFamily="49" charset="0"/>
              </a:rPr>
              <a:t>expr</a:t>
            </a:r>
            <a:r>
              <a:rPr lang="en-CA" sz="1400" dirty="0">
                <a:solidFill>
                  <a:schemeClr val="accent6">
                    <a:lumMod val="75000"/>
                  </a:schemeClr>
                </a:solidFill>
                <a:latin typeface="Courier New" panose="02070309020205020404" pitchFamily="49" charset="0"/>
                <a:cs typeface="Courier New" panose="02070309020205020404" pitchFamily="49" charset="0"/>
              </a:rPr>
              <a:t>=</a:t>
            </a:r>
            <a:r>
              <a:rPr lang="en-CA" sz="1400" dirty="0" err="1">
                <a:solidFill>
                  <a:schemeClr val="accent6">
                    <a:lumMod val="75000"/>
                  </a:schemeClr>
                </a:solidFill>
                <a:latin typeface="Courier New" panose="02070309020205020404" pitchFamily="49" charset="0"/>
                <a:cs typeface="Courier New" panose="02070309020205020404" pitchFamily="49" charset="0"/>
              </a:rPr>
              <a:t>self.s_magic</a:t>
            </a:r>
            <a:r>
              <a:rPr lang="en-CA" sz="1400" dirty="0">
                <a:solidFill>
                  <a:schemeClr val="accent6">
                    <a:lumMod val="75000"/>
                  </a:schemeClr>
                </a:solidFill>
                <a:latin typeface="Courier New" panose="02070309020205020404" pitchFamily="49" charset="0"/>
                <a:cs typeface="Courier New" panose="02070309020205020404" pitchFamily="49" charset="0"/>
              </a:rPr>
              <a:t> == </a:t>
            </a:r>
            <a:r>
              <a:rPr lang="en-CA" sz="1400" dirty="0">
                <a:solidFill>
                  <a:srgbClr val="0070C0"/>
                </a:solidFill>
                <a:latin typeface="Courier New" panose="02070309020205020404" pitchFamily="49" charset="0"/>
                <a:cs typeface="Courier New" panose="02070309020205020404" pitchFamily="49" charset="0"/>
              </a:rPr>
              <a:t>0xef53</a:t>
            </a:r>
            <a:r>
              <a:rPr lang="en-CA" sz="1400" dirty="0">
                <a:solidFill>
                  <a:schemeClr val="accent6">
                    <a:lumMod val="75000"/>
                  </a:schemeClr>
                </a:solidFill>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a:t>
            </a:r>
          </a:p>
        </p:txBody>
      </p:sp>
      <p:sp>
        <p:nvSpPr>
          <p:cNvPr id="11" name="Rectangle 10"/>
          <p:cNvSpPr/>
          <p:nvPr/>
        </p:nvSpPr>
        <p:spPr>
          <a:xfrm>
            <a:off x="898789" y="4398919"/>
            <a:ext cx="4713651" cy="850993"/>
          </a:xfrm>
          <a:prstGeom prst="rect">
            <a:avLst/>
          </a:prstGeom>
          <a:solidFill>
            <a:schemeClr val="tx1">
              <a:alpha val="0"/>
            </a:schemeClr>
          </a:solidFill>
          <a:ln w="38100">
            <a:solidFill>
              <a:srgbClr val="FFFF00"/>
            </a:solidFill>
          </a:ln>
          <a:effectLst>
            <a:glow rad="101600">
              <a:srgbClr val="FFFF00">
                <a:alpha val="40000"/>
              </a:srgb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2" name="Rectangle 11"/>
          <p:cNvSpPr/>
          <p:nvPr/>
        </p:nvSpPr>
        <p:spPr>
          <a:xfrm>
            <a:off x="5978054" y="4170349"/>
            <a:ext cx="4476271" cy="533625"/>
          </a:xfrm>
          <a:prstGeom prst="rect">
            <a:avLst/>
          </a:prstGeom>
          <a:solidFill>
            <a:schemeClr val="tx1">
              <a:alpha val="0"/>
            </a:schemeClr>
          </a:solidFill>
          <a:ln w="38100">
            <a:solidFill>
              <a:srgbClr val="FFFF00"/>
            </a:solidFill>
          </a:ln>
          <a:effectLst>
            <a:glow rad="101600">
              <a:srgbClr val="FFFF00">
                <a:alpha val="40000"/>
              </a:srgb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cxnSp>
        <p:nvCxnSpPr>
          <p:cNvPr id="13" name="Straight Arrow Connector 12"/>
          <p:cNvCxnSpPr/>
          <p:nvPr/>
        </p:nvCxnSpPr>
        <p:spPr>
          <a:xfrm flipH="1">
            <a:off x="5184742" y="3800290"/>
            <a:ext cx="932" cy="627446"/>
          </a:xfrm>
          <a:prstGeom prst="straightConnector1">
            <a:avLst/>
          </a:prstGeom>
          <a:ln w="38100">
            <a:solidFill>
              <a:srgbClr val="FF0000">
                <a:alpha val="70000"/>
              </a:srgbClr>
            </a:solidFill>
            <a:tailEnd type="triangle"/>
          </a:ln>
        </p:spPr>
        <p:style>
          <a:lnRef idx="1">
            <a:schemeClr val="accent1"/>
          </a:lnRef>
          <a:fillRef idx="0">
            <a:schemeClr val="accent1"/>
          </a:fillRef>
          <a:effectRef idx="0">
            <a:schemeClr val="accent1"/>
          </a:effectRef>
          <a:fontRef idx="minor">
            <a:schemeClr val="tx1"/>
          </a:fontRef>
        </p:style>
      </p:cxnSp>
      <p:sp>
        <p:nvSpPr>
          <p:cNvPr id="14" name="TextBox 13"/>
          <p:cNvSpPr txBox="1"/>
          <p:nvPr/>
        </p:nvSpPr>
        <p:spPr>
          <a:xfrm>
            <a:off x="3955991" y="2398336"/>
            <a:ext cx="3029270" cy="1389633"/>
          </a:xfrm>
          <a:prstGeom prst="snip1Rect">
            <a:avLst/>
          </a:prstGeom>
          <a:solidFill>
            <a:schemeClr val="tx1"/>
          </a:solidFill>
          <a:ln w="25400">
            <a:solidFill>
              <a:schemeClr val="tx2"/>
            </a:solidFill>
          </a:ln>
        </p:spPr>
        <p:txBody>
          <a:bodyPr wrap="square" lIns="90000" tIns="0" rIns="0" bIns="46800" rtlCol="0">
            <a:spAutoFit/>
          </a:bodyPr>
          <a:lstStyle/>
          <a:p>
            <a:pPr>
              <a:lnSpc>
                <a:spcPts val="2400"/>
              </a:lnSpc>
              <a:spcBef>
                <a:spcPts val="600"/>
              </a:spcBef>
            </a:pPr>
            <a:r>
              <a:rPr lang="en-CA" dirty="0" smtClean="0">
                <a:solidFill>
                  <a:schemeClr val="bg1"/>
                </a:solidFill>
              </a:rPr>
              <a:t>Spiffy supports implicit pointer field, calculated at runtime, allows it to be used like a normal field.</a:t>
            </a:r>
            <a:endParaRPr lang="en-CA" dirty="0">
              <a:solidFill>
                <a:schemeClr val="bg1"/>
              </a:solidFill>
            </a:endParaRPr>
          </a:p>
        </p:txBody>
      </p:sp>
      <p:cxnSp>
        <p:nvCxnSpPr>
          <p:cNvPr id="16" name="Straight Arrow Connector 15"/>
          <p:cNvCxnSpPr>
            <a:endCxn id="12" idx="1"/>
          </p:cNvCxnSpPr>
          <p:nvPr/>
        </p:nvCxnSpPr>
        <p:spPr>
          <a:xfrm rot="16200000" flipH="1">
            <a:off x="5529733" y="3988841"/>
            <a:ext cx="628404" cy="268238"/>
          </a:xfrm>
          <a:prstGeom prst="bentConnector2">
            <a:avLst/>
          </a:prstGeom>
          <a:ln w="38100">
            <a:solidFill>
              <a:srgbClr val="FF0000">
                <a:alpha val="70000"/>
              </a:srgbClr>
            </a:solidFill>
            <a:tailEnd type="triangle"/>
          </a:ln>
        </p:spPr>
        <p:style>
          <a:lnRef idx="1">
            <a:schemeClr val="accent1"/>
          </a:lnRef>
          <a:fillRef idx="0">
            <a:schemeClr val="accent1"/>
          </a:fillRef>
          <a:effectRef idx="0">
            <a:schemeClr val="accent1"/>
          </a:effectRef>
          <a:fontRef idx="minor">
            <a:schemeClr val="tx1"/>
          </a:fontRef>
        </p:style>
      </p:cxnSp>
      <p:sp>
        <p:nvSpPr>
          <p:cNvPr id="2" name="Slide Number Placeholder 1"/>
          <p:cNvSpPr>
            <a:spLocks noGrp="1"/>
          </p:cNvSpPr>
          <p:nvPr>
            <p:ph type="sldNum" sz="quarter" idx="12"/>
          </p:nvPr>
        </p:nvSpPr>
        <p:spPr/>
        <p:txBody>
          <a:bodyPr/>
          <a:lstStyle/>
          <a:p>
            <a:fld id="{7B2023C8-B124-43A9-8F92-0EEF5BAA9995}" type="slidenum">
              <a:rPr lang="en-CA" smtClean="0"/>
              <a:t>18</a:t>
            </a:fld>
            <a:endParaRPr lang="en-CA"/>
          </a:p>
        </p:txBody>
      </p:sp>
    </p:spTree>
    <p:extLst>
      <p:ext uri="{BB962C8B-B14F-4D97-AF65-F5344CB8AC3E}">
        <p14:creationId xmlns:p14="http://schemas.microsoft.com/office/powerpoint/2010/main" val="3899655416"/>
      </p:ext>
    </p:extLst>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lstStyle/>
          <a:p>
            <a:r>
              <a:rPr lang="en-US" dirty="0" smtClean="0"/>
              <a:t>Generating </a:t>
            </a:r>
            <a:r>
              <a:rPr lang="en-US" dirty="0"/>
              <a:t>Spiffy Library</a:t>
            </a:r>
            <a:endParaRPr lang="en-CA" dirty="0"/>
          </a:p>
        </p:txBody>
      </p:sp>
      <p:sp>
        <p:nvSpPr>
          <p:cNvPr id="6" name="Text Placeholder 5"/>
          <p:cNvSpPr>
            <a:spLocks noGrp="1"/>
          </p:cNvSpPr>
          <p:nvPr>
            <p:ph type="body" idx="1"/>
          </p:nvPr>
        </p:nvSpPr>
        <p:spPr/>
        <p:txBody>
          <a:bodyPr/>
          <a:lstStyle/>
          <a:p>
            <a:r>
              <a:rPr lang="en-CA" dirty="0" smtClean="0"/>
              <a:t>Annotation</a:t>
            </a:r>
            <a:endParaRPr lang="en-CA" dirty="0"/>
          </a:p>
        </p:txBody>
      </p:sp>
      <p:sp>
        <p:nvSpPr>
          <p:cNvPr id="8" name="Text Placeholder 7"/>
          <p:cNvSpPr>
            <a:spLocks noGrp="1"/>
          </p:cNvSpPr>
          <p:nvPr>
            <p:ph type="body" sz="quarter" idx="3"/>
          </p:nvPr>
        </p:nvSpPr>
        <p:spPr/>
        <p:txBody>
          <a:bodyPr/>
          <a:lstStyle/>
          <a:p>
            <a:r>
              <a:rPr lang="en-CA" dirty="0" smtClean="0"/>
              <a:t>Generated Code </a:t>
            </a:r>
            <a:endParaRPr lang="en-CA" dirty="0"/>
          </a:p>
        </p:txBody>
      </p:sp>
      <p:sp>
        <p:nvSpPr>
          <p:cNvPr id="9" name="Content Placeholder 8"/>
          <p:cNvSpPr>
            <a:spLocks noGrp="1"/>
          </p:cNvSpPr>
          <p:nvPr>
            <p:ph sz="quarter" idx="4"/>
          </p:nvPr>
        </p:nvSpPr>
        <p:spPr>
          <a:xfrm>
            <a:off x="5763418" y="2100086"/>
            <a:ext cx="5182222" cy="4072114"/>
          </a:xfrm>
        </p:spPr>
        <p:txBody>
          <a:bodyPr>
            <a:noAutofit/>
          </a:bodyPr>
          <a:lstStyle/>
          <a:p>
            <a:pPr marL="0" indent="0">
              <a:lnSpc>
                <a:spcPts val="2000"/>
              </a:lnSpc>
              <a:spcBef>
                <a:spcPts val="0"/>
              </a:spcBef>
              <a:spcAft>
                <a:spcPts val="0"/>
              </a:spcAft>
              <a:buNone/>
            </a:pPr>
            <a:r>
              <a:rPr lang="en-CA" sz="1400" dirty="0" err="1">
                <a:solidFill>
                  <a:schemeClr val="accent3"/>
                </a:solidFill>
                <a:latin typeface="Courier New" panose="02070309020205020404" pitchFamily="49" charset="0"/>
                <a:cs typeface="Courier New" panose="02070309020205020404" pitchFamily="49" charset="0"/>
              </a:rPr>
              <a:t>int</a:t>
            </a:r>
            <a:r>
              <a:rPr lang="en-CA" sz="1400" dirty="0">
                <a:solidFill>
                  <a:schemeClr val="accent6">
                    <a:lumMod val="75000"/>
                  </a:schemeClr>
                </a:solidFill>
                <a:latin typeface="Courier New" panose="02070309020205020404" pitchFamily="49" charset="0"/>
                <a:cs typeface="Courier New" panose="02070309020205020404" pitchFamily="49" charset="0"/>
              </a:rPr>
              <a:t> </a:t>
            </a:r>
            <a:r>
              <a:rPr lang="en-CA" sz="1400" b="1" dirty="0" smtClean="0">
                <a:solidFill>
                  <a:schemeClr val="accent6">
                    <a:lumMod val="75000"/>
                  </a:schemeClr>
                </a:solidFill>
                <a:latin typeface="Courier New" panose="02070309020205020404" pitchFamily="49" charset="0"/>
                <a:cs typeface="Courier New" panose="02070309020205020404" pitchFamily="49" charset="0"/>
              </a:rPr>
              <a:t>parse</a:t>
            </a:r>
            <a:r>
              <a:rPr lang="en-CA" sz="1400" dirty="0" smtClean="0">
                <a:solidFill>
                  <a:schemeClr val="accent6">
                    <a:lumMod val="75000"/>
                  </a:schemeClr>
                </a:solidFill>
                <a:latin typeface="Courier New" panose="02070309020205020404" pitchFamily="49" charset="0"/>
                <a:cs typeface="Courier New" panose="02070309020205020404" pitchFamily="49" charset="0"/>
              </a:rPr>
              <a:t>(</a:t>
            </a:r>
            <a:r>
              <a:rPr lang="en-CA" sz="1400" dirty="0" err="1" smtClean="0">
                <a:solidFill>
                  <a:schemeClr val="accent3"/>
                </a:solidFill>
                <a:latin typeface="Courier New" panose="02070309020205020404" pitchFamily="49" charset="0"/>
                <a:cs typeface="Courier New" panose="02070309020205020404" pitchFamily="49" charset="0"/>
              </a:rPr>
              <a:t>const</a:t>
            </a:r>
            <a:r>
              <a:rPr lang="en-CA" sz="1400" dirty="0" smtClean="0">
                <a:solidFill>
                  <a:schemeClr val="accent6">
                    <a:lumMod val="75000"/>
                  </a:schemeClr>
                </a:solidFill>
                <a:latin typeface="Courier New" panose="02070309020205020404" pitchFamily="49" charset="0"/>
                <a:cs typeface="Courier New" panose="02070309020205020404" pitchFamily="49" charset="0"/>
              </a:rPr>
              <a:t> </a:t>
            </a:r>
            <a:r>
              <a:rPr lang="en-CA" sz="1400" dirty="0">
                <a:solidFill>
                  <a:schemeClr val="accent3"/>
                </a:solidFill>
                <a:latin typeface="Courier New" panose="02070309020205020404" pitchFamily="49" charset="0"/>
                <a:cs typeface="Courier New" panose="02070309020205020404" pitchFamily="49" charset="0"/>
              </a:rPr>
              <a:t>char</a:t>
            </a:r>
            <a:r>
              <a:rPr lang="en-CA" sz="1400" dirty="0">
                <a:solidFill>
                  <a:schemeClr val="accent6">
                    <a:lumMod val="75000"/>
                  </a:schemeClr>
                </a:solidFill>
                <a:latin typeface="Courier New" panose="02070309020205020404" pitchFamily="49" charset="0"/>
                <a:cs typeface="Courier New" panose="02070309020205020404" pitchFamily="49" charset="0"/>
              </a:rPr>
              <a:t> * &amp; </a:t>
            </a:r>
            <a:r>
              <a:rPr lang="en-CA" sz="1400" dirty="0" err="1">
                <a:solidFill>
                  <a:schemeClr val="accent6">
                    <a:lumMod val="75000"/>
                  </a:schemeClr>
                </a:solidFill>
                <a:latin typeface="Courier New" panose="02070309020205020404" pitchFamily="49" charset="0"/>
                <a:cs typeface="Courier New" panose="02070309020205020404" pitchFamily="49" charset="0"/>
              </a:rPr>
              <a:t>buf</a:t>
            </a:r>
            <a:r>
              <a:rPr lang="en-CA" sz="1400" dirty="0">
                <a:solidFill>
                  <a:schemeClr val="accent6">
                    <a:lumMod val="75000"/>
                  </a:schemeClr>
                </a:solidFill>
                <a:latin typeface="Courier New" panose="02070309020205020404" pitchFamily="49" charset="0"/>
                <a:cs typeface="Courier New" panose="02070309020205020404" pitchFamily="49" charset="0"/>
              </a:rPr>
              <a:t>, </a:t>
            </a:r>
            <a:r>
              <a:rPr lang="en-CA" sz="1400" dirty="0">
                <a:solidFill>
                  <a:schemeClr val="accent3"/>
                </a:solidFill>
                <a:latin typeface="Courier New" panose="02070309020205020404" pitchFamily="49" charset="0"/>
                <a:cs typeface="Courier New" panose="02070309020205020404" pitchFamily="49" charset="0"/>
              </a:rPr>
              <a:t>unsigned</a:t>
            </a:r>
            <a:r>
              <a:rPr lang="en-CA" sz="1400" dirty="0">
                <a:solidFill>
                  <a:schemeClr val="accent6">
                    <a:lumMod val="75000"/>
                  </a:schemeClr>
                </a:solidFill>
                <a:latin typeface="Courier New" panose="02070309020205020404" pitchFamily="49" charset="0"/>
                <a:cs typeface="Courier New" panose="02070309020205020404" pitchFamily="49" charset="0"/>
              </a:rPr>
              <a:t> &amp; </a:t>
            </a:r>
            <a:r>
              <a:rPr lang="en-CA" sz="1400" dirty="0" err="1">
                <a:solidFill>
                  <a:schemeClr val="accent6">
                    <a:lumMod val="75000"/>
                  </a:schemeClr>
                </a:solidFill>
                <a:latin typeface="Courier New" panose="02070309020205020404" pitchFamily="49" charset="0"/>
                <a:cs typeface="Courier New" panose="02070309020205020404" pitchFamily="49" charset="0"/>
              </a:rPr>
              <a:t>len</a:t>
            </a:r>
            <a:r>
              <a:rPr lang="en-CA" sz="1400" dirty="0">
                <a:solidFill>
                  <a:schemeClr val="accent6">
                    <a:lumMod val="75000"/>
                  </a:schemeClr>
                </a:solidFill>
                <a:latin typeface="Courier New" panose="02070309020205020404" pitchFamily="49" charset="0"/>
                <a:cs typeface="Courier New" panose="02070309020205020404" pitchFamily="49" charset="0"/>
              </a:rPr>
              <a:t>) {</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a:t>
            </a:r>
            <a:r>
              <a:rPr lang="en-CA" sz="1400" dirty="0" err="1">
                <a:solidFill>
                  <a:schemeClr val="accent3"/>
                </a:solidFill>
                <a:latin typeface="Courier New" panose="02070309020205020404" pitchFamily="49" charset="0"/>
                <a:cs typeface="Courier New" panose="02070309020205020404" pitchFamily="49" charset="0"/>
              </a:rPr>
              <a:t>int</a:t>
            </a:r>
            <a:r>
              <a:rPr lang="en-CA" sz="1400" dirty="0">
                <a:solidFill>
                  <a:schemeClr val="accent6">
                    <a:lumMod val="75000"/>
                  </a:schemeClr>
                </a:solidFill>
                <a:latin typeface="Courier New" panose="02070309020205020404" pitchFamily="49" charset="0"/>
                <a:cs typeface="Courier New" panose="02070309020205020404" pitchFamily="49" charset="0"/>
              </a:rPr>
              <a:t> ret = </a:t>
            </a:r>
            <a:r>
              <a:rPr lang="en-CA" sz="1400" dirty="0" err="1">
                <a:solidFill>
                  <a:schemeClr val="accent6">
                    <a:lumMod val="75000"/>
                  </a:schemeClr>
                </a:solidFill>
                <a:latin typeface="Courier New" panose="02070309020205020404" pitchFamily="49" charset="0"/>
                <a:cs typeface="Courier New" panose="02070309020205020404" pitchFamily="49" charset="0"/>
              </a:rPr>
              <a:t>s_blocks_count.parse</a:t>
            </a:r>
            <a:r>
              <a:rPr lang="en-CA" sz="1400" dirty="0">
                <a:solidFill>
                  <a:schemeClr val="accent6">
                    <a:lumMod val="75000"/>
                  </a:schemeClr>
                </a:solidFill>
                <a:latin typeface="Courier New" panose="02070309020205020404" pitchFamily="49" charset="0"/>
                <a:cs typeface="Courier New" panose="02070309020205020404" pitchFamily="49" charset="0"/>
              </a:rPr>
              <a:t>(</a:t>
            </a:r>
            <a:r>
              <a:rPr lang="en-CA" sz="1400" dirty="0" err="1">
                <a:solidFill>
                  <a:schemeClr val="accent6">
                    <a:lumMod val="75000"/>
                  </a:schemeClr>
                </a:solidFill>
                <a:latin typeface="Courier New" panose="02070309020205020404" pitchFamily="49" charset="0"/>
                <a:cs typeface="Courier New" panose="02070309020205020404" pitchFamily="49" charset="0"/>
              </a:rPr>
              <a:t>buf</a:t>
            </a:r>
            <a:r>
              <a:rPr lang="en-CA" sz="1400" dirty="0">
                <a:solidFill>
                  <a:schemeClr val="accent6">
                    <a:lumMod val="75000"/>
                  </a:schemeClr>
                </a:solidFill>
                <a:latin typeface="Courier New" panose="02070309020205020404" pitchFamily="49" charset="0"/>
                <a:cs typeface="Courier New" panose="02070309020205020404" pitchFamily="49" charset="0"/>
              </a:rPr>
              <a:t>, </a:t>
            </a:r>
            <a:r>
              <a:rPr lang="en-CA" sz="1400" dirty="0" err="1">
                <a:solidFill>
                  <a:schemeClr val="accent6">
                    <a:lumMod val="75000"/>
                  </a:schemeClr>
                </a:solidFill>
                <a:latin typeface="Courier New" panose="02070309020205020404" pitchFamily="49" charset="0"/>
                <a:cs typeface="Courier New" panose="02070309020205020404" pitchFamily="49" charset="0"/>
              </a:rPr>
              <a:t>len</a:t>
            </a:r>
            <a:r>
              <a:rPr lang="en-CA" sz="1400" dirty="0">
                <a:solidFill>
                  <a:schemeClr val="accent6">
                    <a:lumMod val="75000"/>
                  </a:schemeClr>
                </a:solidFill>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if (ret &lt; </a:t>
            </a:r>
            <a:r>
              <a:rPr lang="en-CA" sz="1400" dirty="0">
                <a:solidFill>
                  <a:srgbClr val="0070C0"/>
                </a:solidFill>
                <a:latin typeface="Courier New" panose="02070309020205020404" pitchFamily="49" charset="0"/>
                <a:cs typeface="Courier New" panose="02070309020205020404" pitchFamily="49" charset="0"/>
              </a:rPr>
              <a:t>0</a:t>
            </a:r>
            <a:r>
              <a:rPr lang="en-CA" sz="1400" dirty="0">
                <a:solidFill>
                  <a:schemeClr val="accent6">
                    <a:lumMod val="75000"/>
                  </a:schemeClr>
                </a:solidFill>
                <a:latin typeface="Courier New" panose="02070309020205020404" pitchFamily="49" charset="0"/>
                <a:cs typeface="Courier New" panose="02070309020205020404" pitchFamily="49" charset="0"/>
              </a:rPr>
              <a:t>) return ret;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ret = </a:t>
            </a:r>
            <a:r>
              <a:rPr lang="en-CA" sz="1400" dirty="0" err="1">
                <a:solidFill>
                  <a:schemeClr val="accent6">
                    <a:lumMod val="75000"/>
                  </a:schemeClr>
                </a:solidFill>
                <a:latin typeface="Courier New" panose="02070309020205020404" pitchFamily="49" charset="0"/>
                <a:cs typeface="Courier New" panose="02070309020205020404" pitchFamily="49" charset="0"/>
              </a:rPr>
              <a:t>s_log_block_size.parse</a:t>
            </a:r>
            <a:r>
              <a:rPr lang="en-CA" sz="1400" dirty="0">
                <a:solidFill>
                  <a:schemeClr val="accent6">
                    <a:lumMod val="75000"/>
                  </a:schemeClr>
                </a:solidFill>
                <a:latin typeface="Courier New" panose="02070309020205020404" pitchFamily="49" charset="0"/>
                <a:cs typeface="Courier New" panose="02070309020205020404" pitchFamily="49" charset="0"/>
              </a:rPr>
              <a:t>(</a:t>
            </a:r>
            <a:r>
              <a:rPr lang="en-CA" sz="1400" dirty="0" err="1">
                <a:solidFill>
                  <a:schemeClr val="accent6">
                    <a:lumMod val="75000"/>
                  </a:schemeClr>
                </a:solidFill>
                <a:latin typeface="Courier New" panose="02070309020205020404" pitchFamily="49" charset="0"/>
                <a:cs typeface="Courier New" panose="02070309020205020404" pitchFamily="49" charset="0"/>
              </a:rPr>
              <a:t>buf</a:t>
            </a:r>
            <a:r>
              <a:rPr lang="en-CA" sz="1400" dirty="0">
                <a:solidFill>
                  <a:schemeClr val="accent6">
                    <a:lumMod val="75000"/>
                  </a:schemeClr>
                </a:solidFill>
                <a:latin typeface="Courier New" panose="02070309020205020404" pitchFamily="49" charset="0"/>
                <a:cs typeface="Courier New" panose="02070309020205020404" pitchFamily="49" charset="0"/>
              </a:rPr>
              <a:t>, </a:t>
            </a:r>
            <a:r>
              <a:rPr lang="en-CA" sz="1400" dirty="0" err="1">
                <a:solidFill>
                  <a:schemeClr val="accent6">
                    <a:lumMod val="75000"/>
                  </a:schemeClr>
                </a:solidFill>
                <a:latin typeface="Courier New" panose="02070309020205020404" pitchFamily="49" charset="0"/>
                <a:cs typeface="Courier New" panose="02070309020205020404" pitchFamily="49" charset="0"/>
              </a:rPr>
              <a:t>len</a:t>
            </a:r>
            <a:r>
              <a:rPr lang="en-CA" sz="1400" dirty="0">
                <a:solidFill>
                  <a:schemeClr val="accent6">
                    <a:lumMod val="75000"/>
                  </a:schemeClr>
                </a:solidFill>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if (ret &lt; </a:t>
            </a:r>
            <a:r>
              <a:rPr lang="en-CA" sz="1400" dirty="0">
                <a:solidFill>
                  <a:srgbClr val="0070C0"/>
                </a:solidFill>
                <a:latin typeface="Courier New" panose="02070309020205020404" pitchFamily="49" charset="0"/>
                <a:cs typeface="Courier New" panose="02070309020205020404" pitchFamily="49" charset="0"/>
              </a:rPr>
              <a:t>0</a:t>
            </a:r>
            <a:r>
              <a:rPr lang="en-CA" sz="1400" dirty="0">
                <a:solidFill>
                  <a:schemeClr val="accent6">
                    <a:lumMod val="75000"/>
                  </a:schemeClr>
                </a:solidFill>
                <a:latin typeface="Courier New" panose="02070309020205020404" pitchFamily="49" charset="0"/>
                <a:cs typeface="Courier New" panose="02070309020205020404" pitchFamily="49" charset="0"/>
              </a:rPr>
              <a:t>) return ret;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a:t>
            </a:r>
            <a:r>
              <a:rPr lang="en-CA" sz="1400" dirty="0" smtClean="0">
                <a:solidFill>
                  <a:schemeClr val="accent6">
                    <a:lumMod val="75000"/>
                  </a:schemeClr>
                </a:solidFill>
                <a:latin typeface="Courier New" panose="02070309020205020404" pitchFamily="49" charset="0"/>
                <a:cs typeface="Courier New" panose="02070309020205020404" pitchFamily="49" charset="0"/>
              </a:rPr>
              <a:t>…</a:t>
            </a:r>
            <a:endParaRPr lang="en-CA" sz="1400" dirty="0">
              <a:solidFill>
                <a:schemeClr val="accent6">
                  <a:lumMod val="75000"/>
                </a:schemeClr>
              </a:solidFill>
              <a:latin typeface="Courier New" panose="02070309020205020404" pitchFamily="49" charset="0"/>
              <a:cs typeface="Courier New" panose="02070309020205020404" pitchFamily="49" charset="0"/>
            </a:endParaRP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ret = </a:t>
            </a:r>
            <a:r>
              <a:rPr lang="en-CA" sz="1400" dirty="0" err="1">
                <a:solidFill>
                  <a:schemeClr val="accent6">
                    <a:lumMod val="75000"/>
                  </a:schemeClr>
                </a:solidFill>
                <a:latin typeface="Courier New" panose="02070309020205020404" pitchFamily="49" charset="0"/>
                <a:cs typeface="Courier New" panose="02070309020205020404" pitchFamily="49" charset="0"/>
              </a:rPr>
              <a:t>s_creator_os.parse</a:t>
            </a:r>
            <a:r>
              <a:rPr lang="en-CA" sz="1400" dirty="0">
                <a:solidFill>
                  <a:schemeClr val="accent6">
                    <a:lumMod val="75000"/>
                  </a:schemeClr>
                </a:solidFill>
                <a:latin typeface="Courier New" panose="02070309020205020404" pitchFamily="49" charset="0"/>
                <a:cs typeface="Courier New" panose="02070309020205020404" pitchFamily="49" charset="0"/>
              </a:rPr>
              <a:t>(</a:t>
            </a:r>
            <a:r>
              <a:rPr lang="en-CA" sz="1400" dirty="0" err="1">
                <a:solidFill>
                  <a:schemeClr val="accent6">
                    <a:lumMod val="75000"/>
                  </a:schemeClr>
                </a:solidFill>
                <a:latin typeface="Courier New" panose="02070309020205020404" pitchFamily="49" charset="0"/>
                <a:cs typeface="Courier New" panose="02070309020205020404" pitchFamily="49" charset="0"/>
              </a:rPr>
              <a:t>buf</a:t>
            </a:r>
            <a:r>
              <a:rPr lang="en-CA" sz="1400" dirty="0">
                <a:solidFill>
                  <a:schemeClr val="accent6">
                    <a:lumMod val="75000"/>
                  </a:schemeClr>
                </a:solidFill>
                <a:latin typeface="Courier New" panose="02070309020205020404" pitchFamily="49" charset="0"/>
                <a:cs typeface="Courier New" panose="02070309020205020404" pitchFamily="49" charset="0"/>
              </a:rPr>
              <a:t>, </a:t>
            </a:r>
            <a:r>
              <a:rPr lang="en-CA" sz="1400" dirty="0" err="1">
                <a:solidFill>
                  <a:schemeClr val="accent6">
                    <a:lumMod val="75000"/>
                  </a:schemeClr>
                </a:solidFill>
                <a:latin typeface="Courier New" panose="02070309020205020404" pitchFamily="49" charset="0"/>
                <a:cs typeface="Courier New" panose="02070309020205020404" pitchFamily="49" charset="0"/>
              </a:rPr>
              <a:t>len</a:t>
            </a:r>
            <a:r>
              <a:rPr lang="en-CA" sz="1400" dirty="0">
                <a:solidFill>
                  <a:schemeClr val="accent6">
                    <a:lumMod val="75000"/>
                  </a:schemeClr>
                </a:solidFill>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if (ret &lt; </a:t>
            </a:r>
            <a:r>
              <a:rPr lang="en-CA" sz="1400" dirty="0">
                <a:solidFill>
                  <a:srgbClr val="0070C0"/>
                </a:solidFill>
                <a:latin typeface="Courier New" panose="02070309020205020404" pitchFamily="49" charset="0"/>
                <a:cs typeface="Courier New" panose="02070309020205020404" pitchFamily="49" charset="0"/>
              </a:rPr>
              <a:t>0</a:t>
            </a:r>
            <a:r>
              <a:rPr lang="en-CA" sz="1400" dirty="0">
                <a:solidFill>
                  <a:schemeClr val="accent6">
                    <a:lumMod val="75000"/>
                  </a:schemeClr>
                </a:solidFill>
                <a:latin typeface="Courier New" panose="02070309020205020404" pitchFamily="49" charset="0"/>
                <a:cs typeface="Courier New" panose="02070309020205020404" pitchFamily="49" charset="0"/>
              </a:rPr>
              <a:t>) return ret;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ret = </a:t>
            </a:r>
            <a:r>
              <a:rPr lang="en-CA" sz="1400" dirty="0" err="1">
                <a:solidFill>
                  <a:schemeClr val="accent6">
                    <a:lumMod val="75000"/>
                  </a:schemeClr>
                </a:solidFill>
                <a:latin typeface="Courier New" panose="02070309020205020404" pitchFamily="49" charset="0"/>
                <a:cs typeface="Courier New" panose="02070309020205020404" pitchFamily="49" charset="0"/>
              </a:rPr>
              <a:t>s_block_group_desc.parse</a:t>
            </a:r>
            <a:r>
              <a:rPr lang="en-CA" sz="1400" dirty="0">
                <a:solidFill>
                  <a:schemeClr val="accent6">
                    <a:lumMod val="75000"/>
                  </a:schemeClr>
                </a:solidFill>
                <a:latin typeface="Courier New" panose="02070309020205020404" pitchFamily="49" charset="0"/>
                <a:cs typeface="Courier New" panose="02070309020205020404" pitchFamily="49" charset="0"/>
              </a:rPr>
              <a:t>(</a:t>
            </a:r>
            <a:r>
              <a:rPr lang="en-CA" sz="1400" dirty="0" err="1">
                <a:solidFill>
                  <a:schemeClr val="accent6">
                    <a:lumMod val="75000"/>
                  </a:schemeClr>
                </a:solidFill>
                <a:latin typeface="Courier New" panose="02070309020205020404" pitchFamily="49" charset="0"/>
                <a:cs typeface="Courier New" panose="02070309020205020404" pitchFamily="49" charset="0"/>
              </a:rPr>
              <a:t>buf</a:t>
            </a:r>
            <a:r>
              <a:rPr lang="en-CA" sz="1400" dirty="0">
                <a:solidFill>
                  <a:schemeClr val="accent6">
                    <a:lumMod val="75000"/>
                  </a:schemeClr>
                </a:solidFill>
                <a:latin typeface="Courier New" panose="02070309020205020404" pitchFamily="49" charset="0"/>
                <a:cs typeface="Courier New" panose="02070309020205020404" pitchFamily="49" charset="0"/>
              </a:rPr>
              <a:t>, </a:t>
            </a:r>
            <a:r>
              <a:rPr lang="en-CA" sz="1400" dirty="0" err="1">
                <a:solidFill>
                  <a:schemeClr val="accent6">
                    <a:lumMod val="75000"/>
                  </a:schemeClr>
                </a:solidFill>
                <a:latin typeface="Courier New" panose="02070309020205020404" pitchFamily="49" charset="0"/>
                <a:cs typeface="Courier New" panose="02070309020205020404" pitchFamily="49" charset="0"/>
              </a:rPr>
              <a:t>len</a:t>
            </a:r>
            <a:r>
              <a:rPr lang="en-CA" sz="1400" dirty="0">
                <a:solidFill>
                  <a:schemeClr val="accent6">
                    <a:lumMod val="75000"/>
                  </a:schemeClr>
                </a:solidFill>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if (ret &lt; </a:t>
            </a:r>
            <a:r>
              <a:rPr lang="en-CA" sz="1400" dirty="0">
                <a:solidFill>
                  <a:srgbClr val="0070C0"/>
                </a:solidFill>
                <a:latin typeface="Courier New" panose="02070309020205020404" pitchFamily="49" charset="0"/>
                <a:cs typeface="Courier New" panose="02070309020205020404" pitchFamily="49" charset="0"/>
              </a:rPr>
              <a:t>0</a:t>
            </a:r>
            <a:r>
              <a:rPr lang="en-CA" sz="1400" dirty="0">
                <a:solidFill>
                  <a:schemeClr val="accent6">
                    <a:lumMod val="75000"/>
                  </a:schemeClr>
                </a:solidFill>
                <a:latin typeface="Courier New" panose="02070309020205020404" pitchFamily="49" charset="0"/>
                <a:cs typeface="Courier New" panose="02070309020205020404" pitchFamily="49" charset="0"/>
              </a:rPr>
              <a:t>) return ret;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if (!(this-&gt;</a:t>
            </a:r>
            <a:r>
              <a:rPr lang="en-CA" sz="1400" dirty="0" err="1">
                <a:solidFill>
                  <a:schemeClr val="accent6">
                    <a:lumMod val="75000"/>
                  </a:schemeClr>
                </a:solidFill>
                <a:latin typeface="Courier New" panose="02070309020205020404" pitchFamily="49" charset="0"/>
                <a:cs typeface="Courier New" panose="02070309020205020404" pitchFamily="49" charset="0"/>
              </a:rPr>
              <a:t>s_log_block_size</a:t>
            </a:r>
            <a:r>
              <a:rPr lang="en-CA" sz="1400" dirty="0">
                <a:solidFill>
                  <a:schemeClr val="accent6">
                    <a:lumMod val="75000"/>
                  </a:schemeClr>
                </a:solidFill>
                <a:latin typeface="Courier New" panose="02070309020205020404" pitchFamily="49" charset="0"/>
                <a:cs typeface="Courier New" panose="02070309020205020404" pitchFamily="49" charset="0"/>
              </a:rPr>
              <a:t> &lt;= </a:t>
            </a:r>
            <a:r>
              <a:rPr lang="en-CA" sz="1400" dirty="0">
                <a:solidFill>
                  <a:srgbClr val="0070C0"/>
                </a:solidFill>
                <a:latin typeface="Courier New" panose="02070309020205020404" pitchFamily="49" charset="0"/>
                <a:cs typeface="Courier New" panose="02070309020205020404" pitchFamily="49" charset="0"/>
              </a:rPr>
              <a:t>6</a:t>
            </a:r>
            <a:r>
              <a:rPr lang="en-CA" sz="1400" dirty="0">
                <a:solidFill>
                  <a:schemeClr val="accent6">
                    <a:lumMod val="75000"/>
                  </a:schemeClr>
                </a:solidFill>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return ERR_CORRUPT;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if (!(this-&gt;</a:t>
            </a:r>
            <a:r>
              <a:rPr lang="en-CA" sz="1400" dirty="0" err="1">
                <a:solidFill>
                  <a:schemeClr val="accent6">
                    <a:lumMod val="75000"/>
                  </a:schemeClr>
                </a:solidFill>
                <a:latin typeface="Courier New" panose="02070309020205020404" pitchFamily="49" charset="0"/>
                <a:cs typeface="Courier New" panose="02070309020205020404" pitchFamily="49" charset="0"/>
              </a:rPr>
              <a:t>s_magic</a:t>
            </a:r>
            <a:r>
              <a:rPr lang="en-CA" sz="1400" dirty="0">
                <a:solidFill>
                  <a:schemeClr val="accent6">
                    <a:lumMod val="75000"/>
                  </a:schemeClr>
                </a:solidFill>
                <a:latin typeface="Courier New" panose="02070309020205020404" pitchFamily="49" charset="0"/>
                <a:cs typeface="Courier New" panose="02070309020205020404" pitchFamily="49" charset="0"/>
              </a:rPr>
              <a:t> == </a:t>
            </a:r>
            <a:r>
              <a:rPr lang="en-CA" sz="1400" dirty="0">
                <a:solidFill>
                  <a:srgbClr val="0070C0"/>
                </a:solidFill>
                <a:latin typeface="Courier New" panose="02070309020205020404" pitchFamily="49" charset="0"/>
                <a:cs typeface="Courier New" panose="02070309020205020404" pitchFamily="49" charset="0"/>
              </a:rPr>
              <a:t>0xef53</a:t>
            </a:r>
            <a:r>
              <a:rPr lang="en-CA" sz="1400" dirty="0">
                <a:solidFill>
                  <a:schemeClr val="accent6">
                    <a:lumMod val="75000"/>
                  </a:schemeClr>
                </a:solidFill>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return ERR_CORRUPT;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return </a:t>
            </a:r>
            <a:r>
              <a:rPr lang="en-CA" sz="1400" dirty="0">
                <a:solidFill>
                  <a:srgbClr val="00B0F0"/>
                </a:solidFill>
                <a:latin typeface="Courier New" panose="02070309020205020404" pitchFamily="49" charset="0"/>
                <a:cs typeface="Courier New" panose="02070309020205020404" pitchFamily="49" charset="0"/>
              </a:rPr>
              <a:t>0</a:t>
            </a:r>
            <a:r>
              <a:rPr lang="en-CA" sz="1400" dirty="0">
                <a:solidFill>
                  <a:schemeClr val="accent6">
                    <a:lumMod val="75000"/>
                  </a:schemeClr>
                </a:solidFill>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a:t>
            </a:r>
          </a:p>
        </p:txBody>
      </p:sp>
      <p:sp>
        <p:nvSpPr>
          <p:cNvPr id="10" name="Content Placeholder 6"/>
          <p:cNvSpPr txBox="1">
            <a:spLocks noGrp="1"/>
          </p:cNvSpPr>
          <p:nvPr>
            <p:ph sz="half" idx="2"/>
          </p:nvPr>
        </p:nvSpPr>
        <p:spPr>
          <a:xfrm>
            <a:off x="684211" y="2100086"/>
            <a:ext cx="5070740" cy="4072114"/>
          </a:xfrm>
          <a:prstGeom prst="rect">
            <a:avLst/>
          </a:prstGeom>
        </p:spPr>
        <p:txBody>
          <a:bodyPr vert="horz" lIns="91440" tIns="45720" rIns="91440" bIns="45720" rtlCol="0" anchor="t">
            <a:no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pPr marL="0" indent="0">
              <a:lnSpc>
                <a:spcPts val="2000"/>
              </a:lnSpc>
              <a:spcBef>
                <a:spcPts val="0"/>
              </a:spcBef>
              <a:spcAft>
                <a:spcPts val="0"/>
              </a:spcAft>
              <a:buNone/>
            </a:pPr>
            <a:r>
              <a:rPr lang="en-CA" sz="1400" b="1" dirty="0">
                <a:solidFill>
                  <a:schemeClr val="accent6">
                    <a:lumMod val="75000"/>
                  </a:schemeClr>
                </a:solidFill>
                <a:latin typeface="Courier New" panose="02070309020205020404" pitchFamily="49" charset="0"/>
                <a:cs typeface="Courier New" panose="02070309020205020404" pitchFamily="49" charset="0"/>
              </a:rPr>
              <a:t>FSSUPER</a:t>
            </a:r>
            <a:r>
              <a:rPr lang="en-CA" sz="1400" dirty="0">
                <a:solidFill>
                  <a:schemeClr val="accent6">
                    <a:lumMod val="75000"/>
                  </a:schemeClr>
                </a:solidFill>
                <a:latin typeface="Courier New" panose="02070309020205020404" pitchFamily="49" charset="0"/>
                <a:cs typeface="Courier New" panose="02070309020205020404" pitchFamily="49" charset="0"/>
              </a:rPr>
              <a:t>(</a:t>
            </a:r>
            <a:r>
              <a:rPr lang="en-CA" sz="1400" dirty="0">
                <a:solidFill>
                  <a:schemeClr val="accent3"/>
                </a:solidFill>
                <a:latin typeface="Courier New" panose="02070309020205020404" pitchFamily="49" charset="0"/>
                <a:cs typeface="Courier New" panose="02070309020205020404" pitchFamily="49" charset="0"/>
              </a:rPr>
              <a:t>location</a:t>
            </a:r>
            <a:r>
              <a:rPr lang="en-CA" sz="1400" dirty="0">
                <a:solidFill>
                  <a:schemeClr val="accent6">
                    <a:lumMod val="75000"/>
                  </a:schemeClr>
                </a:solidFill>
                <a:latin typeface="Courier New" panose="02070309020205020404" pitchFamily="49" charset="0"/>
                <a:cs typeface="Courier New" panose="02070309020205020404" pitchFamily="49" charset="0"/>
              </a:rPr>
              <a:t>=</a:t>
            </a:r>
            <a:r>
              <a:rPr lang="en-CA" sz="1400" dirty="0">
                <a:solidFill>
                  <a:srgbClr val="0070C0"/>
                </a:solidFill>
                <a:latin typeface="Courier New" panose="02070309020205020404" pitchFamily="49" charset="0"/>
                <a:cs typeface="Courier New" panose="02070309020205020404" pitchFamily="49" charset="0"/>
              </a:rPr>
              <a:t>1024</a:t>
            </a:r>
            <a:r>
              <a:rPr lang="en-CA" sz="1400" dirty="0">
                <a:solidFill>
                  <a:schemeClr val="accent6">
                    <a:lumMod val="75000"/>
                  </a:schemeClr>
                </a:solidFill>
                <a:latin typeface="Courier New" panose="02070309020205020404" pitchFamily="49" charset="0"/>
                <a:cs typeface="Courier New" panose="02070309020205020404" pitchFamily="49" charset="0"/>
              </a:rPr>
              <a:t>) </a:t>
            </a:r>
            <a:r>
              <a:rPr lang="en-CA" sz="1400" dirty="0" smtClean="0">
                <a:solidFill>
                  <a:schemeClr val="accent6">
                    <a:lumMod val="75000"/>
                  </a:schemeClr>
                </a:solidFill>
                <a:latin typeface="Courier New" panose="02070309020205020404" pitchFamily="49" charset="0"/>
                <a:cs typeface="Courier New" panose="02070309020205020404" pitchFamily="49" charset="0"/>
              </a:rPr>
              <a:t>ext4_super_block </a:t>
            </a:r>
            <a:r>
              <a:rPr lang="en-CA" sz="1400" dirty="0">
                <a:solidFill>
                  <a:schemeClr val="accent6">
                    <a:lumMod val="75000"/>
                  </a:schemeClr>
                </a:solidFill>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__le32	</a:t>
            </a:r>
            <a:r>
              <a:rPr lang="en-CA" sz="1400" dirty="0" err="1">
                <a:solidFill>
                  <a:schemeClr val="accent6">
                    <a:lumMod val="75000"/>
                  </a:schemeClr>
                </a:solidFill>
                <a:latin typeface="Courier New" panose="02070309020205020404" pitchFamily="49" charset="0"/>
                <a:cs typeface="Courier New" panose="02070309020205020404" pitchFamily="49" charset="0"/>
              </a:rPr>
              <a:t>s_blocks_count</a:t>
            </a:r>
            <a:r>
              <a:rPr lang="en-CA" sz="1400" dirty="0">
                <a:solidFill>
                  <a:schemeClr val="accent6">
                    <a:lumMod val="75000"/>
                  </a:schemeClr>
                </a:solidFill>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__le32	</a:t>
            </a:r>
            <a:r>
              <a:rPr lang="en-CA" sz="1400" dirty="0" err="1">
                <a:solidFill>
                  <a:schemeClr val="accent6">
                    <a:lumMod val="75000"/>
                  </a:schemeClr>
                </a:solidFill>
                <a:latin typeface="Courier New" panose="02070309020205020404" pitchFamily="49" charset="0"/>
                <a:cs typeface="Courier New" panose="02070309020205020404" pitchFamily="49" charset="0"/>
              </a:rPr>
              <a:t>s_log_block_size</a:t>
            </a:r>
            <a:r>
              <a:rPr lang="en-CA" sz="1400" dirty="0">
                <a:solidFill>
                  <a:schemeClr val="accent6">
                    <a:lumMod val="75000"/>
                  </a:schemeClr>
                </a:solidFill>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__le32	</a:t>
            </a:r>
            <a:r>
              <a:rPr lang="en-CA" sz="1400" dirty="0" err="1">
                <a:solidFill>
                  <a:schemeClr val="accent6">
                    <a:lumMod val="75000"/>
                  </a:schemeClr>
                </a:solidFill>
                <a:latin typeface="Courier New" panose="02070309020205020404" pitchFamily="49" charset="0"/>
                <a:cs typeface="Courier New" panose="02070309020205020404" pitchFamily="49" charset="0"/>
              </a:rPr>
              <a:t>s_blocks_per_group</a:t>
            </a:r>
            <a:r>
              <a:rPr lang="en-CA" sz="1400" dirty="0" smtClean="0">
                <a:solidFill>
                  <a:schemeClr val="accent6">
                    <a:lumMod val="75000"/>
                  </a:schemeClr>
                </a:solidFill>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a:t>
            </a:r>
            <a:r>
              <a:rPr lang="en-CA" sz="1400" dirty="0" smtClean="0">
                <a:solidFill>
                  <a:schemeClr val="accent6">
                    <a:lumMod val="75000"/>
                  </a:schemeClr>
                </a:solidFill>
                <a:latin typeface="Courier New" panose="02070309020205020404" pitchFamily="49" charset="0"/>
                <a:cs typeface="Courier New" panose="02070309020205020404" pitchFamily="49" charset="0"/>
              </a:rPr>
              <a:t> …</a:t>
            </a:r>
            <a:endParaRPr lang="en-CA" sz="1400" dirty="0">
              <a:solidFill>
                <a:schemeClr val="accent6">
                  <a:lumMod val="75000"/>
                </a:schemeClr>
              </a:solidFill>
              <a:latin typeface="Courier New" panose="02070309020205020404" pitchFamily="49" charset="0"/>
              <a:cs typeface="Courier New" panose="02070309020205020404" pitchFamily="49" charset="0"/>
            </a:endParaRPr>
          </a:p>
          <a:p>
            <a:pPr marL="0" indent="0">
              <a:lnSpc>
                <a:spcPts val="2000"/>
              </a:lnSpc>
              <a:spcBef>
                <a:spcPts val="0"/>
              </a:spcBef>
              <a:spcAft>
                <a:spcPts val="0"/>
              </a:spcAft>
              <a:buNone/>
            </a:pPr>
            <a:r>
              <a:rPr lang="en-CA" sz="1400" dirty="0" smtClean="0">
                <a:solidFill>
                  <a:schemeClr val="accent6">
                    <a:lumMod val="75000"/>
                  </a:schemeClr>
                </a:solidFill>
                <a:latin typeface="Courier New" panose="02070309020205020404" pitchFamily="49" charset="0"/>
                <a:cs typeface="Courier New" panose="02070309020205020404" pitchFamily="49" charset="0"/>
              </a:rPr>
              <a:t>  __</a:t>
            </a:r>
            <a:r>
              <a:rPr lang="en-CA" sz="1400" dirty="0">
                <a:solidFill>
                  <a:schemeClr val="accent6">
                    <a:lumMod val="75000"/>
                  </a:schemeClr>
                </a:solidFill>
                <a:latin typeface="Courier New" panose="02070309020205020404" pitchFamily="49" charset="0"/>
                <a:cs typeface="Courier New" panose="02070309020205020404" pitchFamily="49" charset="0"/>
              </a:rPr>
              <a:t>le16	</a:t>
            </a:r>
            <a:r>
              <a:rPr lang="en-CA" sz="1400" dirty="0" err="1">
                <a:solidFill>
                  <a:schemeClr val="accent6">
                    <a:lumMod val="75000"/>
                  </a:schemeClr>
                </a:solidFill>
                <a:latin typeface="Courier New" panose="02070309020205020404" pitchFamily="49" charset="0"/>
                <a:cs typeface="Courier New" panose="02070309020205020404" pitchFamily="49" charset="0"/>
              </a:rPr>
              <a:t>s_magic</a:t>
            </a:r>
            <a:r>
              <a:rPr lang="en-CA" sz="1400" dirty="0">
                <a:solidFill>
                  <a:schemeClr val="accent6">
                    <a:lumMod val="75000"/>
                  </a:schemeClr>
                </a:solidFill>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a:t>
            </a:r>
            <a:r>
              <a:rPr lang="en-CA" sz="1400" b="1" dirty="0">
                <a:solidFill>
                  <a:schemeClr val="accent6">
                    <a:lumMod val="75000"/>
                  </a:schemeClr>
                </a:solidFill>
                <a:latin typeface="Courier New" panose="02070309020205020404" pitchFamily="49" charset="0"/>
                <a:cs typeface="Courier New" panose="02070309020205020404" pitchFamily="49" charset="0"/>
              </a:rPr>
              <a:t>FIELD</a:t>
            </a:r>
            <a:r>
              <a:rPr lang="en-CA" sz="1400" dirty="0">
                <a:solidFill>
                  <a:schemeClr val="accent6">
                    <a:lumMod val="75000"/>
                  </a:schemeClr>
                </a:solidFill>
                <a:latin typeface="Courier New" panose="02070309020205020404" pitchFamily="49" charset="0"/>
                <a:cs typeface="Courier New" panose="02070309020205020404" pitchFamily="49" charset="0"/>
              </a:rPr>
              <a:t>(</a:t>
            </a:r>
            <a:r>
              <a:rPr lang="en-CA" sz="1400" dirty="0">
                <a:solidFill>
                  <a:schemeClr val="accent3"/>
                </a:solidFill>
                <a:latin typeface="Courier New" panose="02070309020205020404" pitchFamily="49" charset="0"/>
                <a:cs typeface="Courier New" panose="02070309020205020404" pitchFamily="49" charset="0"/>
              </a:rPr>
              <a:t>type</a:t>
            </a:r>
            <a:r>
              <a:rPr lang="en-CA" sz="1400" dirty="0">
                <a:solidFill>
                  <a:schemeClr val="accent6">
                    <a:lumMod val="75000"/>
                  </a:schemeClr>
                </a:solidFill>
                <a:latin typeface="Courier New" panose="02070309020205020404" pitchFamily="49" charset="0"/>
                <a:cs typeface="Courier New" panose="02070309020205020404" pitchFamily="49" charset="0"/>
              </a:rPr>
              <a:t>=</a:t>
            </a:r>
            <a:r>
              <a:rPr lang="en-CA" sz="1400" dirty="0" err="1">
                <a:solidFill>
                  <a:schemeClr val="accent6">
                    <a:lumMod val="75000"/>
                  </a:schemeClr>
                </a:solidFill>
                <a:latin typeface="Courier New" panose="02070309020205020404" pitchFamily="49" charset="0"/>
                <a:cs typeface="Courier New" panose="02070309020205020404" pitchFamily="49" charset="0"/>
              </a:rPr>
              <a:t>enum</a:t>
            </a:r>
            <a:r>
              <a:rPr lang="en-CA" sz="1400" dirty="0">
                <a:solidFill>
                  <a:schemeClr val="accent6">
                    <a:lumMod val="75000"/>
                  </a:schemeClr>
                </a:solidFill>
                <a:latin typeface="Courier New" panose="02070309020205020404" pitchFamily="49" charset="0"/>
                <a:cs typeface="Courier New" panose="02070309020205020404" pitchFamily="49" charset="0"/>
              </a:rPr>
              <a:t> </a:t>
            </a:r>
            <a:r>
              <a:rPr lang="en-CA" sz="1400" dirty="0" smtClean="0">
                <a:solidFill>
                  <a:schemeClr val="accent6">
                    <a:lumMod val="75000"/>
                  </a:schemeClr>
                </a:solidFill>
                <a:latin typeface="Courier New" panose="02070309020205020404" pitchFamily="49" charset="0"/>
                <a:cs typeface="Courier New" panose="02070309020205020404" pitchFamily="49" charset="0"/>
              </a:rPr>
              <a:t>ext4_os</a:t>
            </a:r>
            <a:r>
              <a:rPr lang="en-CA" sz="1400" dirty="0">
                <a:solidFill>
                  <a:schemeClr val="accent6">
                    <a:lumMod val="75000"/>
                  </a:schemeClr>
                </a:solidFill>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__le32	</a:t>
            </a:r>
            <a:r>
              <a:rPr lang="en-CA" sz="1400" dirty="0" err="1">
                <a:solidFill>
                  <a:schemeClr val="accent6">
                    <a:lumMod val="75000"/>
                  </a:schemeClr>
                </a:solidFill>
                <a:latin typeface="Courier New" panose="02070309020205020404" pitchFamily="49" charset="0"/>
                <a:cs typeface="Courier New" panose="02070309020205020404" pitchFamily="49" charset="0"/>
              </a:rPr>
              <a:t>s_creator_os</a:t>
            </a:r>
            <a:r>
              <a:rPr lang="en-CA" sz="1400" dirty="0" smtClean="0">
                <a:solidFill>
                  <a:schemeClr val="accent6">
                    <a:lumMod val="75000"/>
                  </a:schemeClr>
                </a:solidFill>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a:t>
            </a:r>
            <a:r>
              <a:rPr lang="en-CA" sz="1400" dirty="0" smtClean="0">
                <a:solidFill>
                  <a:schemeClr val="accent6">
                    <a:lumMod val="75000"/>
                  </a:schemeClr>
                </a:solidFill>
                <a:latin typeface="Courier New" panose="02070309020205020404" pitchFamily="49" charset="0"/>
                <a:cs typeface="Courier New" panose="02070309020205020404" pitchFamily="49" charset="0"/>
              </a:rPr>
              <a:t> …</a:t>
            </a:r>
            <a:endParaRPr lang="en-CA" sz="1400" dirty="0">
              <a:solidFill>
                <a:schemeClr val="accent6">
                  <a:lumMod val="75000"/>
                </a:schemeClr>
              </a:solidFill>
              <a:latin typeface="Courier New" panose="02070309020205020404" pitchFamily="49" charset="0"/>
              <a:cs typeface="Courier New" panose="02070309020205020404" pitchFamily="49" charset="0"/>
            </a:endParaRPr>
          </a:p>
          <a:p>
            <a:pPr marL="0" indent="0">
              <a:lnSpc>
                <a:spcPts val="2000"/>
              </a:lnSpc>
              <a:spcBef>
                <a:spcPts val="0"/>
              </a:spcBef>
              <a:spcAft>
                <a:spcPts val="0"/>
              </a:spcAft>
              <a:buNone/>
            </a:pPr>
            <a:r>
              <a:rPr lang="en-CA" sz="1400" dirty="0" smtClean="0">
                <a:solidFill>
                  <a:schemeClr val="accent6">
                    <a:lumMod val="75000"/>
                  </a:schemeClr>
                </a:solidFill>
                <a:latin typeface="Courier New" panose="02070309020205020404" pitchFamily="49" charset="0"/>
                <a:cs typeface="Courier New" panose="02070309020205020404" pitchFamily="49" charset="0"/>
              </a:rPr>
              <a:t>  </a:t>
            </a:r>
            <a:r>
              <a:rPr lang="en-CA" sz="1400" b="1" dirty="0" smtClean="0">
                <a:solidFill>
                  <a:schemeClr val="accent6">
                    <a:lumMod val="75000"/>
                  </a:schemeClr>
                </a:solidFill>
                <a:latin typeface="Courier New" panose="02070309020205020404" pitchFamily="49" charset="0"/>
                <a:cs typeface="Courier New" panose="02070309020205020404" pitchFamily="49" charset="0"/>
              </a:rPr>
              <a:t>POINTER</a:t>
            </a:r>
            <a:r>
              <a:rPr lang="en-CA" sz="1400" dirty="0" smtClean="0">
                <a:solidFill>
                  <a:schemeClr val="accent6">
                    <a:lumMod val="75000"/>
                  </a:schemeClr>
                </a:solidFill>
                <a:latin typeface="Courier New" panose="02070309020205020404" pitchFamily="49" charset="0"/>
                <a:cs typeface="Courier New" panose="02070309020205020404" pitchFamily="49" charset="0"/>
              </a:rPr>
              <a:t>(</a:t>
            </a:r>
            <a:r>
              <a:rPr lang="en-CA" sz="1400" dirty="0" smtClean="0">
                <a:solidFill>
                  <a:schemeClr val="accent3"/>
                </a:solidFill>
                <a:latin typeface="Courier New" panose="02070309020205020404" pitchFamily="49" charset="0"/>
                <a:cs typeface="Courier New" panose="02070309020205020404" pitchFamily="49" charset="0"/>
              </a:rPr>
              <a:t>name</a:t>
            </a:r>
            <a:r>
              <a:rPr lang="en-CA" sz="1400" dirty="0" smtClean="0">
                <a:solidFill>
                  <a:schemeClr val="accent6">
                    <a:lumMod val="75000"/>
                  </a:schemeClr>
                </a:solidFill>
                <a:latin typeface="Courier New" panose="02070309020205020404" pitchFamily="49" charset="0"/>
                <a:cs typeface="Courier New" panose="02070309020205020404" pitchFamily="49" charset="0"/>
              </a:rPr>
              <a:t>=</a:t>
            </a:r>
            <a:r>
              <a:rPr lang="en-CA" sz="1400" dirty="0" err="1" smtClean="0">
                <a:solidFill>
                  <a:schemeClr val="accent6">
                    <a:lumMod val="75000"/>
                  </a:schemeClr>
                </a:solidFill>
                <a:latin typeface="Courier New" panose="02070309020205020404" pitchFamily="49" charset="0"/>
                <a:cs typeface="Courier New" panose="02070309020205020404" pitchFamily="49" charset="0"/>
              </a:rPr>
              <a:t>s_block_group_desc</a:t>
            </a:r>
            <a:r>
              <a:rPr lang="en-CA" sz="1400" dirty="0" smtClean="0">
                <a:solidFill>
                  <a:schemeClr val="accent6">
                    <a:lumMod val="75000"/>
                  </a:schemeClr>
                </a:solidFill>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a:t>
            </a:r>
            <a:r>
              <a:rPr lang="en-CA" sz="1400" dirty="0" smtClean="0">
                <a:solidFill>
                  <a:schemeClr val="accent6">
                    <a:lumMod val="75000"/>
                  </a:schemeClr>
                </a:solidFill>
                <a:latin typeface="Courier New" panose="02070309020205020404" pitchFamily="49" charset="0"/>
                <a:cs typeface="Courier New" panose="02070309020205020404" pitchFamily="49" charset="0"/>
              </a:rPr>
              <a:t> </a:t>
            </a:r>
            <a:r>
              <a:rPr lang="en-CA" sz="1400" dirty="0" smtClean="0">
                <a:solidFill>
                  <a:schemeClr val="accent3"/>
                </a:solidFill>
                <a:latin typeface="Courier New" panose="02070309020205020404" pitchFamily="49" charset="0"/>
                <a:cs typeface="Courier New" panose="02070309020205020404" pitchFamily="49" charset="0"/>
              </a:rPr>
              <a:t>type</a:t>
            </a:r>
            <a:r>
              <a:rPr lang="en-CA" sz="1400" dirty="0" smtClean="0">
                <a:solidFill>
                  <a:schemeClr val="accent6">
                    <a:lumMod val="75000"/>
                  </a:schemeClr>
                </a:solidFill>
                <a:latin typeface="Courier New" panose="02070309020205020404" pitchFamily="49" charset="0"/>
                <a:cs typeface="Courier New" panose="02070309020205020404" pitchFamily="49" charset="0"/>
              </a:rPr>
              <a:t>=ext4_group_desc_table</a:t>
            </a:r>
            <a:r>
              <a:rPr lang="en-CA" sz="1400" dirty="0">
                <a:solidFill>
                  <a:schemeClr val="accent6">
                    <a:lumMod val="75000"/>
                  </a:schemeClr>
                </a:solidFill>
                <a:latin typeface="Courier New" panose="02070309020205020404" pitchFamily="49" charset="0"/>
                <a:cs typeface="Courier New" panose="02070309020205020404" pitchFamily="49" charset="0"/>
              </a:rPr>
              <a:t>, </a:t>
            </a:r>
            <a:r>
              <a:rPr lang="en-CA" sz="1400" dirty="0" err="1">
                <a:solidFill>
                  <a:schemeClr val="accent3"/>
                </a:solidFill>
                <a:latin typeface="Courier New" panose="02070309020205020404" pitchFamily="49" charset="0"/>
                <a:cs typeface="Courier New" panose="02070309020205020404" pitchFamily="49" charset="0"/>
              </a:rPr>
              <a:t>aspc</a:t>
            </a:r>
            <a:r>
              <a:rPr lang="en-CA" sz="1400" dirty="0" smtClean="0">
                <a:solidFill>
                  <a:schemeClr val="accent6">
                    <a:lumMod val="75000"/>
                  </a:schemeClr>
                </a:solidFill>
                <a:latin typeface="Courier New" panose="02070309020205020404" pitchFamily="49" charset="0"/>
                <a:cs typeface="Courier New" panose="02070309020205020404" pitchFamily="49" charset="0"/>
              </a:rPr>
              <a:t>=block</a:t>
            </a:r>
            <a:r>
              <a:rPr lang="en-CA" sz="1400" dirty="0">
                <a:solidFill>
                  <a:schemeClr val="accent6">
                    <a:lumMod val="75000"/>
                  </a:schemeClr>
                </a:solidFill>
                <a:latin typeface="Courier New" panose="02070309020205020404" pitchFamily="49" charset="0"/>
                <a:cs typeface="Courier New" panose="02070309020205020404" pitchFamily="49" charset="0"/>
              </a:rPr>
              <a:t>, </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a:t>
            </a:r>
            <a:r>
              <a:rPr lang="en-CA" sz="1400" dirty="0" smtClean="0">
                <a:solidFill>
                  <a:schemeClr val="accent3"/>
                </a:solidFill>
                <a:latin typeface="Courier New" panose="02070309020205020404" pitchFamily="49" charset="0"/>
                <a:cs typeface="Courier New" panose="02070309020205020404" pitchFamily="49" charset="0"/>
              </a:rPr>
              <a:t>expr</a:t>
            </a:r>
            <a:r>
              <a:rPr lang="en-CA" sz="1400" dirty="0">
                <a:solidFill>
                  <a:schemeClr val="accent6">
                    <a:lumMod val="75000"/>
                  </a:schemeClr>
                </a:solidFill>
                <a:latin typeface="Courier New" panose="02070309020205020404" pitchFamily="49" charset="0"/>
                <a:cs typeface="Courier New" panose="02070309020205020404" pitchFamily="49" charset="0"/>
              </a:rPr>
              <a:t>=(</a:t>
            </a:r>
            <a:r>
              <a:rPr lang="en-CA" sz="1400" dirty="0" err="1">
                <a:solidFill>
                  <a:schemeClr val="accent6">
                    <a:lumMod val="75000"/>
                  </a:schemeClr>
                </a:solidFill>
                <a:latin typeface="Courier New" panose="02070309020205020404" pitchFamily="49" charset="0"/>
                <a:cs typeface="Courier New" panose="02070309020205020404" pitchFamily="49" charset="0"/>
              </a:rPr>
              <a:t>self.s_log_block_size</a:t>
            </a:r>
            <a:r>
              <a:rPr lang="en-CA" sz="1400" dirty="0">
                <a:solidFill>
                  <a:schemeClr val="accent6">
                    <a:lumMod val="75000"/>
                  </a:schemeClr>
                </a:solidFill>
                <a:latin typeface="Courier New" panose="02070309020205020404" pitchFamily="49" charset="0"/>
                <a:cs typeface="Courier New" panose="02070309020205020404" pitchFamily="49" charset="0"/>
              </a:rPr>
              <a:t> == </a:t>
            </a:r>
            <a:r>
              <a:rPr lang="en-CA" sz="1400" dirty="0">
                <a:solidFill>
                  <a:srgbClr val="0070C0"/>
                </a:solidFill>
                <a:latin typeface="Courier New" panose="02070309020205020404" pitchFamily="49" charset="0"/>
                <a:cs typeface="Courier New" panose="02070309020205020404" pitchFamily="49" charset="0"/>
              </a:rPr>
              <a:t>0</a:t>
            </a:r>
            <a:r>
              <a:rPr lang="en-CA" sz="1400" dirty="0" smtClean="0">
                <a:solidFill>
                  <a:schemeClr val="accent6">
                    <a:lumMod val="75000"/>
                  </a:schemeClr>
                </a:solidFill>
                <a:latin typeface="Courier New" panose="02070309020205020404" pitchFamily="49" charset="0"/>
                <a:cs typeface="Courier New" panose="02070309020205020404" pitchFamily="49" charset="0"/>
              </a:rPr>
              <a:t>) ? </a:t>
            </a:r>
            <a:r>
              <a:rPr lang="en-CA" sz="1400" dirty="0" smtClean="0">
                <a:solidFill>
                  <a:srgbClr val="0070C0"/>
                </a:solidFill>
                <a:latin typeface="Courier New" panose="02070309020205020404" pitchFamily="49" charset="0"/>
                <a:cs typeface="Courier New" panose="02070309020205020404" pitchFamily="49" charset="0"/>
              </a:rPr>
              <a:t>2</a:t>
            </a:r>
            <a:r>
              <a:rPr lang="en-CA" sz="1400" dirty="0" smtClean="0">
                <a:solidFill>
                  <a:schemeClr val="accent6">
                    <a:lumMod val="75000"/>
                  </a:schemeClr>
                </a:solidFill>
                <a:latin typeface="Courier New" panose="02070309020205020404" pitchFamily="49" charset="0"/>
                <a:cs typeface="Courier New" panose="02070309020205020404" pitchFamily="49" charset="0"/>
              </a:rPr>
              <a:t> : </a:t>
            </a:r>
            <a:r>
              <a:rPr lang="en-CA" sz="1400" dirty="0" smtClean="0">
                <a:solidFill>
                  <a:srgbClr val="0070C0"/>
                </a:solidFill>
                <a:latin typeface="Courier New" panose="02070309020205020404" pitchFamily="49" charset="0"/>
                <a:cs typeface="Courier New" panose="02070309020205020404" pitchFamily="49" charset="0"/>
              </a:rPr>
              <a:t>1</a:t>
            </a:r>
            <a:r>
              <a:rPr lang="en-CA" sz="1400" dirty="0" smtClean="0">
                <a:solidFill>
                  <a:schemeClr val="accent6">
                    <a:lumMod val="75000"/>
                  </a:schemeClr>
                </a:solidFill>
                <a:latin typeface="Courier New" panose="02070309020205020404" pitchFamily="49" charset="0"/>
                <a:cs typeface="Courier New" panose="02070309020205020404" pitchFamily="49" charset="0"/>
              </a:rPr>
              <a:t>);</a:t>
            </a:r>
            <a:endParaRPr lang="en-CA" sz="1400" dirty="0">
              <a:solidFill>
                <a:schemeClr val="accent6">
                  <a:lumMod val="75000"/>
                </a:schemeClr>
              </a:solidFill>
              <a:latin typeface="Courier New" panose="02070309020205020404" pitchFamily="49" charset="0"/>
              <a:cs typeface="Courier New" panose="02070309020205020404" pitchFamily="49" charset="0"/>
            </a:endParaRP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a:t>
            </a:r>
            <a:r>
              <a:rPr lang="en-CA" sz="1400" dirty="0">
                <a:solidFill>
                  <a:srgbClr val="00B050"/>
                </a:solidFill>
                <a:latin typeface="Courier New" panose="02070309020205020404" pitchFamily="49" charset="0"/>
                <a:cs typeface="Courier New" panose="02070309020205020404" pitchFamily="49" charset="0"/>
              </a:rPr>
              <a:t>/* maximum supported block size is 64KB */</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a:t>
            </a:r>
            <a:r>
              <a:rPr lang="en-CA" sz="1400" b="1" dirty="0">
                <a:solidFill>
                  <a:schemeClr val="accent6">
                    <a:lumMod val="75000"/>
                  </a:schemeClr>
                </a:solidFill>
                <a:latin typeface="Courier New" panose="02070309020205020404" pitchFamily="49" charset="0"/>
                <a:cs typeface="Courier New" panose="02070309020205020404" pitchFamily="49" charset="0"/>
              </a:rPr>
              <a:t>CHECK</a:t>
            </a:r>
            <a:r>
              <a:rPr lang="en-CA" sz="1400" dirty="0">
                <a:solidFill>
                  <a:schemeClr val="accent6">
                    <a:lumMod val="75000"/>
                  </a:schemeClr>
                </a:solidFill>
                <a:latin typeface="Courier New" panose="02070309020205020404" pitchFamily="49" charset="0"/>
                <a:cs typeface="Courier New" panose="02070309020205020404" pitchFamily="49" charset="0"/>
              </a:rPr>
              <a:t>(</a:t>
            </a:r>
            <a:r>
              <a:rPr lang="en-CA" sz="1400" dirty="0">
                <a:solidFill>
                  <a:schemeClr val="accent3"/>
                </a:solidFill>
                <a:latin typeface="Courier New" panose="02070309020205020404" pitchFamily="49" charset="0"/>
                <a:cs typeface="Courier New" panose="02070309020205020404" pitchFamily="49" charset="0"/>
              </a:rPr>
              <a:t>expr</a:t>
            </a:r>
            <a:r>
              <a:rPr lang="en-CA" sz="1400" dirty="0">
                <a:solidFill>
                  <a:schemeClr val="accent6">
                    <a:lumMod val="75000"/>
                  </a:schemeClr>
                </a:solidFill>
                <a:latin typeface="Courier New" panose="02070309020205020404" pitchFamily="49" charset="0"/>
                <a:cs typeface="Courier New" panose="02070309020205020404" pitchFamily="49" charset="0"/>
              </a:rPr>
              <a:t>=</a:t>
            </a:r>
            <a:r>
              <a:rPr lang="en-CA" sz="1400" dirty="0" err="1">
                <a:solidFill>
                  <a:schemeClr val="accent6">
                    <a:lumMod val="75000"/>
                  </a:schemeClr>
                </a:solidFill>
                <a:latin typeface="Courier New" panose="02070309020205020404" pitchFamily="49" charset="0"/>
                <a:cs typeface="Courier New" panose="02070309020205020404" pitchFamily="49" charset="0"/>
              </a:rPr>
              <a:t>self.s_log_block_size</a:t>
            </a:r>
            <a:r>
              <a:rPr lang="en-CA" sz="1400" dirty="0">
                <a:solidFill>
                  <a:schemeClr val="accent6">
                    <a:lumMod val="75000"/>
                  </a:schemeClr>
                </a:solidFill>
                <a:latin typeface="Courier New" panose="02070309020205020404" pitchFamily="49" charset="0"/>
                <a:cs typeface="Courier New" panose="02070309020205020404" pitchFamily="49" charset="0"/>
              </a:rPr>
              <a:t> &lt;= </a:t>
            </a:r>
            <a:r>
              <a:rPr lang="en-CA" sz="1400" dirty="0">
                <a:solidFill>
                  <a:srgbClr val="0070C0"/>
                </a:solidFill>
                <a:latin typeface="Courier New" panose="02070309020205020404" pitchFamily="49" charset="0"/>
                <a:cs typeface="Courier New" panose="02070309020205020404" pitchFamily="49" charset="0"/>
              </a:rPr>
              <a:t>6</a:t>
            </a:r>
            <a:r>
              <a:rPr lang="en-CA" sz="1400" dirty="0">
                <a:solidFill>
                  <a:schemeClr val="accent6">
                    <a:lumMod val="75000"/>
                  </a:schemeClr>
                </a:solidFill>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a:t>
            </a:r>
            <a:r>
              <a:rPr lang="en-CA" sz="1400" b="1" dirty="0">
                <a:solidFill>
                  <a:schemeClr val="accent6">
                    <a:lumMod val="75000"/>
                  </a:schemeClr>
                </a:solidFill>
                <a:latin typeface="Courier New" panose="02070309020205020404" pitchFamily="49" charset="0"/>
                <a:cs typeface="Courier New" panose="02070309020205020404" pitchFamily="49" charset="0"/>
              </a:rPr>
              <a:t>CHECK</a:t>
            </a:r>
            <a:r>
              <a:rPr lang="en-CA" sz="1400" dirty="0">
                <a:solidFill>
                  <a:schemeClr val="accent6">
                    <a:lumMod val="75000"/>
                  </a:schemeClr>
                </a:solidFill>
                <a:latin typeface="Courier New" panose="02070309020205020404" pitchFamily="49" charset="0"/>
                <a:cs typeface="Courier New" panose="02070309020205020404" pitchFamily="49" charset="0"/>
              </a:rPr>
              <a:t>(</a:t>
            </a:r>
            <a:r>
              <a:rPr lang="en-CA" sz="1400" dirty="0">
                <a:solidFill>
                  <a:schemeClr val="accent3"/>
                </a:solidFill>
                <a:latin typeface="Courier New" panose="02070309020205020404" pitchFamily="49" charset="0"/>
                <a:cs typeface="Courier New" panose="02070309020205020404" pitchFamily="49" charset="0"/>
              </a:rPr>
              <a:t>expr</a:t>
            </a:r>
            <a:r>
              <a:rPr lang="en-CA" sz="1400" dirty="0">
                <a:solidFill>
                  <a:schemeClr val="accent6">
                    <a:lumMod val="75000"/>
                  </a:schemeClr>
                </a:solidFill>
                <a:latin typeface="Courier New" panose="02070309020205020404" pitchFamily="49" charset="0"/>
                <a:cs typeface="Courier New" panose="02070309020205020404" pitchFamily="49" charset="0"/>
              </a:rPr>
              <a:t>=</a:t>
            </a:r>
            <a:r>
              <a:rPr lang="en-CA" sz="1400" dirty="0" err="1">
                <a:solidFill>
                  <a:schemeClr val="accent6">
                    <a:lumMod val="75000"/>
                  </a:schemeClr>
                </a:solidFill>
                <a:latin typeface="Courier New" panose="02070309020205020404" pitchFamily="49" charset="0"/>
                <a:cs typeface="Courier New" panose="02070309020205020404" pitchFamily="49" charset="0"/>
              </a:rPr>
              <a:t>self.s_magic</a:t>
            </a:r>
            <a:r>
              <a:rPr lang="en-CA" sz="1400" dirty="0">
                <a:solidFill>
                  <a:schemeClr val="accent6">
                    <a:lumMod val="75000"/>
                  </a:schemeClr>
                </a:solidFill>
                <a:latin typeface="Courier New" panose="02070309020205020404" pitchFamily="49" charset="0"/>
                <a:cs typeface="Courier New" panose="02070309020205020404" pitchFamily="49" charset="0"/>
              </a:rPr>
              <a:t> == </a:t>
            </a:r>
            <a:r>
              <a:rPr lang="en-CA" sz="1400" dirty="0">
                <a:solidFill>
                  <a:srgbClr val="0070C0"/>
                </a:solidFill>
                <a:latin typeface="Courier New" panose="02070309020205020404" pitchFamily="49" charset="0"/>
                <a:cs typeface="Courier New" panose="02070309020205020404" pitchFamily="49" charset="0"/>
              </a:rPr>
              <a:t>0xef53</a:t>
            </a:r>
            <a:r>
              <a:rPr lang="en-CA" sz="1400" dirty="0">
                <a:solidFill>
                  <a:schemeClr val="accent6">
                    <a:lumMod val="75000"/>
                  </a:schemeClr>
                </a:solidFill>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a:t>
            </a:r>
          </a:p>
        </p:txBody>
      </p:sp>
      <p:sp>
        <p:nvSpPr>
          <p:cNvPr id="11" name="Rectangle 10"/>
          <p:cNvSpPr/>
          <p:nvPr/>
        </p:nvSpPr>
        <p:spPr>
          <a:xfrm>
            <a:off x="907313" y="5151455"/>
            <a:ext cx="4615301" cy="850993"/>
          </a:xfrm>
          <a:prstGeom prst="rect">
            <a:avLst/>
          </a:prstGeom>
          <a:solidFill>
            <a:schemeClr val="tx1">
              <a:alpha val="0"/>
            </a:schemeClr>
          </a:solidFill>
          <a:ln w="38100">
            <a:solidFill>
              <a:srgbClr val="FFFF00"/>
            </a:solidFill>
          </a:ln>
          <a:effectLst>
            <a:glow rad="101600">
              <a:srgbClr val="FFFF00">
                <a:alpha val="40000"/>
              </a:srgb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2" name="Rectangle 11"/>
          <p:cNvSpPr/>
          <p:nvPr/>
        </p:nvSpPr>
        <p:spPr>
          <a:xfrm>
            <a:off x="5978054" y="4651282"/>
            <a:ext cx="3890224" cy="1079562"/>
          </a:xfrm>
          <a:prstGeom prst="rect">
            <a:avLst/>
          </a:prstGeom>
          <a:solidFill>
            <a:schemeClr val="tx1">
              <a:alpha val="0"/>
            </a:schemeClr>
          </a:solidFill>
          <a:ln w="38100">
            <a:solidFill>
              <a:srgbClr val="FFFF00"/>
            </a:solidFill>
          </a:ln>
          <a:effectLst>
            <a:glow rad="101600">
              <a:srgbClr val="FFFF00">
                <a:alpha val="40000"/>
              </a:srgb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cxnSp>
        <p:nvCxnSpPr>
          <p:cNvPr id="13" name="Straight Arrow Connector 12"/>
          <p:cNvCxnSpPr/>
          <p:nvPr/>
        </p:nvCxnSpPr>
        <p:spPr>
          <a:xfrm>
            <a:off x="5185674" y="3800290"/>
            <a:ext cx="0" cy="1351165"/>
          </a:xfrm>
          <a:prstGeom prst="straightConnector1">
            <a:avLst/>
          </a:prstGeom>
          <a:ln w="38100">
            <a:solidFill>
              <a:srgbClr val="FF0000">
                <a:alpha val="70000"/>
              </a:srgbClr>
            </a:solidFill>
            <a:tailEnd type="triangle"/>
          </a:ln>
        </p:spPr>
        <p:style>
          <a:lnRef idx="1">
            <a:schemeClr val="accent1"/>
          </a:lnRef>
          <a:fillRef idx="0">
            <a:schemeClr val="accent1"/>
          </a:fillRef>
          <a:effectRef idx="0">
            <a:schemeClr val="accent1"/>
          </a:effectRef>
          <a:fontRef idx="minor">
            <a:schemeClr val="tx1"/>
          </a:fontRef>
        </p:style>
      </p:cxnSp>
      <p:sp>
        <p:nvSpPr>
          <p:cNvPr id="14" name="TextBox 13"/>
          <p:cNvSpPr txBox="1"/>
          <p:nvPr/>
        </p:nvSpPr>
        <p:spPr>
          <a:xfrm>
            <a:off x="3965418" y="2701822"/>
            <a:ext cx="2605064" cy="1098468"/>
          </a:xfrm>
          <a:prstGeom prst="snip1Rect">
            <a:avLst/>
          </a:prstGeom>
          <a:solidFill>
            <a:schemeClr val="tx1"/>
          </a:solidFill>
          <a:ln w="25400">
            <a:solidFill>
              <a:schemeClr val="tx2"/>
            </a:solidFill>
          </a:ln>
        </p:spPr>
        <p:txBody>
          <a:bodyPr wrap="square" lIns="90000" tIns="0" rIns="0" bIns="46800" rtlCol="0">
            <a:spAutoFit/>
          </a:bodyPr>
          <a:lstStyle/>
          <a:p>
            <a:pPr>
              <a:lnSpc>
                <a:spcPts val="2400"/>
              </a:lnSpc>
              <a:spcBef>
                <a:spcPts val="600"/>
              </a:spcBef>
            </a:pPr>
            <a:r>
              <a:rPr lang="en-CA" b="1" dirty="0" smtClean="0">
                <a:solidFill>
                  <a:schemeClr val="bg1"/>
                </a:solidFill>
              </a:rPr>
              <a:t>CHECK </a:t>
            </a:r>
            <a:r>
              <a:rPr lang="en-CA" dirty="0" smtClean="0">
                <a:solidFill>
                  <a:schemeClr val="bg1"/>
                </a:solidFill>
              </a:rPr>
              <a:t>annotations help verify constraints during parsing</a:t>
            </a:r>
            <a:endParaRPr lang="en-CA" dirty="0">
              <a:solidFill>
                <a:schemeClr val="bg1"/>
              </a:solidFill>
            </a:endParaRPr>
          </a:p>
        </p:txBody>
      </p:sp>
      <p:cxnSp>
        <p:nvCxnSpPr>
          <p:cNvPr id="16" name="Straight Arrow Connector 15"/>
          <p:cNvCxnSpPr>
            <a:endCxn id="12" idx="1"/>
          </p:cNvCxnSpPr>
          <p:nvPr/>
        </p:nvCxnSpPr>
        <p:spPr>
          <a:xfrm rot="16200000" flipH="1">
            <a:off x="5156435" y="4369443"/>
            <a:ext cx="1374997" cy="268241"/>
          </a:xfrm>
          <a:prstGeom prst="bentConnector2">
            <a:avLst/>
          </a:prstGeom>
          <a:ln w="38100">
            <a:solidFill>
              <a:srgbClr val="FF0000">
                <a:alpha val="70000"/>
              </a:srgbClr>
            </a:solidFill>
            <a:tailEnd type="triangle"/>
          </a:ln>
        </p:spPr>
        <p:style>
          <a:lnRef idx="1">
            <a:schemeClr val="accent1"/>
          </a:lnRef>
          <a:fillRef idx="0">
            <a:schemeClr val="accent1"/>
          </a:fillRef>
          <a:effectRef idx="0">
            <a:schemeClr val="accent1"/>
          </a:effectRef>
          <a:fontRef idx="minor">
            <a:schemeClr val="tx1"/>
          </a:fontRef>
        </p:style>
      </p:cxnSp>
      <p:sp>
        <p:nvSpPr>
          <p:cNvPr id="2" name="Slide Number Placeholder 1"/>
          <p:cNvSpPr>
            <a:spLocks noGrp="1"/>
          </p:cNvSpPr>
          <p:nvPr>
            <p:ph type="sldNum" sz="quarter" idx="12"/>
          </p:nvPr>
        </p:nvSpPr>
        <p:spPr/>
        <p:txBody>
          <a:bodyPr/>
          <a:lstStyle/>
          <a:p>
            <a:fld id="{7B2023C8-B124-43A9-8F92-0EEF5BAA9995}" type="slidenum">
              <a:rPr lang="en-CA" smtClean="0"/>
              <a:t>19</a:t>
            </a:fld>
            <a:endParaRPr lang="en-CA"/>
          </a:p>
        </p:txBody>
      </p:sp>
    </p:spTree>
    <p:extLst>
      <p:ext uri="{BB962C8B-B14F-4D97-AF65-F5344CB8AC3E}">
        <p14:creationId xmlns:p14="http://schemas.microsoft.com/office/powerpoint/2010/main" val="1509883805"/>
      </p:ext>
    </p:extLst>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smtClean="0"/>
              <a:t>Building Spiffy Applications</a:t>
            </a:r>
            <a:endParaRPr lang="en-CA" dirty="0"/>
          </a:p>
        </p:txBody>
      </p:sp>
      <p:sp>
        <p:nvSpPr>
          <p:cNvPr id="3" name="Content Placeholder 2"/>
          <p:cNvSpPr>
            <a:spLocks noGrp="1"/>
          </p:cNvSpPr>
          <p:nvPr>
            <p:ph idx="1"/>
          </p:nvPr>
        </p:nvSpPr>
        <p:spPr>
          <a:xfrm>
            <a:off x="684211" y="1515359"/>
            <a:ext cx="10285797" cy="4593210"/>
          </a:xfrm>
        </p:spPr>
        <p:txBody>
          <a:bodyPr>
            <a:normAutofit/>
          </a:bodyPr>
          <a:lstStyle/>
          <a:p>
            <a:r>
              <a:rPr lang="en-CA" dirty="0" smtClean="0"/>
              <a:t>Example: File System Free Space Tool</a:t>
            </a:r>
          </a:p>
          <a:p>
            <a:pPr lvl="1"/>
            <a:r>
              <a:rPr lang="en-CA" dirty="0" smtClean="0"/>
              <a:t>plot </a:t>
            </a:r>
            <a:r>
              <a:rPr lang="en-CA" dirty="0"/>
              <a:t>histogram of </a:t>
            </a:r>
            <a:r>
              <a:rPr lang="en-CA" dirty="0" smtClean="0"/>
              <a:t>size </a:t>
            </a:r>
            <a:r>
              <a:rPr lang="en-CA" dirty="0"/>
              <a:t>of free extents</a:t>
            </a:r>
            <a:endParaRPr lang="en-CA" dirty="0" smtClean="0"/>
          </a:p>
          <a:p>
            <a:r>
              <a:rPr lang="en-CA" dirty="0" smtClean="0"/>
              <a:t>Manually (ad-hoc processing)</a:t>
            </a:r>
          </a:p>
          <a:p>
            <a:pPr lvl="1"/>
            <a:r>
              <a:rPr lang="en-CA" dirty="0" smtClean="0"/>
              <a:t>Find documentation on format of each file system</a:t>
            </a:r>
          </a:p>
          <a:p>
            <a:pPr lvl="2"/>
            <a:r>
              <a:rPr lang="en-CA" dirty="0" smtClean="0"/>
              <a:t>Learn how each file system keeps track of block allocation information</a:t>
            </a:r>
          </a:p>
          <a:p>
            <a:pPr lvl="1"/>
            <a:r>
              <a:rPr lang="en-CA" dirty="0" smtClean="0"/>
              <a:t>Write code to find and process relevant metadata</a:t>
            </a:r>
          </a:p>
          <a:p>
            <a:pPr lvl="2"/>
            <a:r>
              <a:rPr lang="en-CA" dirty="0" smtClean="0"/>
              <a:t>E.g., block bitmap for Ext4, extent items for </a:t>
            </a:r>
            <a:r>
              <a:rPr lang="en-CA" dirty="0" err="1" smtClean="0"/>
              <a:t>Btrfs</a:t>
            </a:r>
            <a:r>
              <a:rPr lang="en-CA" dirty="0" smtClean="0"/>
              <a:t>, SIT entries for F2FS</a:t>
            </a:r>
          </a:p>
          <a:p>
            <a:r>
              <a:rPr lang="en-CA" dirty="0" smtClean="0"/>
              <a:t>Using Spiffy framework</a:t>
            </a:r>
          </a:p>
          <a:p>
            <a:pPr lvl="1"/>
            <a:r>
              <a:rPr lang="en-CA" dirty="0"/>
              <a:t>Use Spiffy to locate metadata that stores block allocation information</a:t>
            </a:r>
          </a:p>
          <a:p>
            <a:pPr lvl="1"/>
            <a:r>
              <a:rPr lang="en-CA" dirty="0"/>
              <a:t>Write file-system specific code to process metadata structures</a:t>
            </a:r>
          </a:p>
          <a:p>
            <a:endParaRPr lang="en-CA" dirty="0" smtClean="0"/>
          </a:p>
          <a:p>
            <a:pPr lvl="1"/>
            <a:endParaRPr lang="en-CA" dirty="0"/>
          </a:p>
        </p:txBody>
      </p:sp>
      <p:sp>
        <p:nvSpPr>
          <p:cNvPr id="6" name="Slide Number Placeholder 5"/>
          <p:cNvSpPr>
            <a:spLocks noGrp="1"/>
          </p:cNvSpPr>
          <p:nvPr>
            <p:ph type="sldNum" sz="quarter" idx="12"/>
          </p:nvPr>
        </p:nvSpPr>
        <p:spPr/>
        <p:txBody>
          <a:bodyPr/>
          <a:lstStyle/>
          <a:p>
            <a:fld id="{7B2023C8-B124-43A9-8F92-0EEF5BAA9995}" type="slidenum">
              <a:rPr lang="en-CA" smtClean="0"/>
              <a:pPr/>
              <a:t>20</a:t>
            </a:fld>
            <a:endParaRPr lang="en-CA" dirty="0"/>
          </a:p>
        </p:txBody>
      </p:sp>
    </p:spTree>
    <p:extLst>
      <p:ext uri="{BB962C8B-B14F-4D97-AF65-F5344CB8AC3E}">
        <p14:creationId xmlns:p14="http://schemas.microsoft.com/office/powerpoint/2010/main" val="3324490692"/>
      </p:ext>
    </p:extLst>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lstStyle/>
          <a:p>
            <a:r>
              <a:rPr lang="en-CA" dirty="0" smtClean="0"/>
              <a:t>Coding Style Comparison</a:t>
            </a:r>
            <a:endParaRPr lang="en-CA" dirty="0"/>
          </a:p>
        </p:txBody>
      </p:sp>
      <p:sp>
        <p:nvSpPr>
          <p:cNvPr id="10" name="Content Placeholder 9"/>
          <p:cNvSpPr>
            <a:spLocks noGrp="1"/>
          </p:cNvSpPr>
          <p:nvPr>
            <p:ph idx="1"/>
          </p:nvPr>
        </p:nvSpPr>
        <p:spPr>
          <a:xfrm>
            <a:off x="684211" y="1515358"/>
            <a:ext cx="10285797" cy="1124147"/>
          </a:xfrm>
        </p:spPr>
        <p:txBody>
          <a:bodyPr/>
          <a:lstStyle/>
          <a:p>
            <a:r>
              <a:rPr lang="en-CA" dirty="0" smtClean="0"/>
              <a:t>Manual, Ad-hoc processing  (written in C++)</a:t>
            </a:r>
            <a:endParaRPr lang="en-CA" dirty="0"/>
          </a:p>
        </p:txBody>
      </p:sp>
      <p:sp>
        <p:nvSpPr>
          <p:cNvPr id="11" name="Content Placeholder 6"/>
          <p:cNvSpPr txBox="1">
            <a:spLocks/>
          </p:cNvSpPr>
          <p:nvPr/>
        </p:nvSpPr>
        <p:spPr>
          <a:xfrm>
            <a:off x="951929" y="2073898"/>
            <a:ext cx="10285797" cy="4784102"/>
          </a:xfrm>
          <a:prstGeom prst="rect">
            <a:avLst/>
          </a:prstGeom>
        </p:spPr>
        <p:txBody>
          <a:bodyPr vert="horz" lIns="91440" tIns="45720" rIns="91440" bIns="45720" rtlCol="0" anchor="t">
            <a:norm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pPr marL="0" indent="0">
              <a:lnSpc>
                <a:spcPts val="2000"/>
              </a:lnSpc>
              <a:spcBef>
                <a:spcPts val="0"/>
              </a:spcBef>
              <a:spcAft>
                <a:spcPts val="0"/>
              </a:spcAft>
              <a:buFont typeface="Wingdings 3" panose="05040102010807070707" pitchFamily="18" charset="2"/>
              <a:buNone/>
            </a:pPr>
            <a:r>
              <a:rPr lang="en-CA" sz="1600" dirty="0" err="1" smtClean="0">
                <a:solidFill>
                  <a:schemeClr val="accent6">
                    <a:lumMod val="75000"/>
                  </a:schemeClr>
                </a:solidFill>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a:t>
            </a:r>
            <a:r>
              <a:rPr lang="en-CA" sz="1600" b="1" dirty="0" smtClean="0">
                <a:latin typeface="Courier New" panose="02070309020205020404" pitchFamily="49" charset="0"/>
                <a:cs typeface="Courier New" panose="02070309020205020404" pitchFamily="49" charset="0"/>
              </a:rPr>
              <a:t>process_ext4</a:t>
            </a:r>
            <a:r>
              <a:rPr lang="en-CA" sz="1600" dirty="0" smtClean="0">
                <a:latin typeface="Courier New" panose="02070309020205020404" pitchFamily="49" charset="0"/>
                <a:cs typeface="Courier New" panose="02070309020205020404" pitchFamily="49" charset="0"/>
              </a:rPr>
              <a:t>(vector&lt;Extent&gt; &amp; </a:t>
            </a:r>
            <a:r>
              <a:rPr lang="en-CA" sz="1600" dirty="0" err="1" smtClean="0">
                <a:latin typeface="Courier New" panose="02070309020205020404" pitchFamily="49" charset="0"/>
                <a:cs typeface="Courier New" panose="02070309020205020404" pitchFamily="49" charset="0"/>
              </a:rPr>
              <a:t>vec</a:t>
            </a:r>
            <a:r>
              <a:rPr lang="en-CA" sz="1600" dirty="0" smtClean="0">
                <a:latin typeface="Courier New" panose="02070309020205020404" pitchFamily="49" charset="0"/>
                <a:cs typeface="Courier New" panose="02070309020205020404" pitchFamily="49" charset="0"/>
              </a:rPr>
              <a:t>, Device &amp; dev) {</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r>
              <a:rPr lang="en-CA" sz="1600" dirty="0" smtClean="0">
                <a:solidFill>
                  <a:srgbClr val="00B050"/>
                </a:solidFill>
                <a:latin typeface="Courier New" panose="02070309020205020404" pitchFamily="49" charset="0"/>
                <a:cs typeface="Courier New" panose="02070309020205020404" pitchFamily="49" charset="0"/>
              </a:rPr>
              <a:t>/* ext4 super block is 1024 bytes away from start */</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r>
              <a:rPr lang="en-CA" sz="1600" dirty="0" err="1" smtClean="0">
                <a:solidFill>
                  <a:schemeClr val="accent6">
                    <a:lumMod val="75000"/>
                  </a:schemeClr>
                </a:solidFill>
                <a:latin typeface="Courier New" panose="02070309020205020404" pitchFamily="49" charset="0"/>
                <a:cs typeface="Courier New" panose="02070309020205020404" pitchFamily="49" charset="0"/>
              </a:rPr>
              <a:t>struct</a:t>
            </a:r>
            <a:r>
              <a:rPr lang="en-CA" sz="1600" dirty="0" smtClean="0">
                <a:latin typeface="Courier New" panose="02070309020205020404" pitchFamily="49" charset="0"/>
                <a:cs typeface="Courier New" panose="02070309020205020404" pitchFamily="49" charset="0"/>
              </a:rPr>
              <a:t> ext4_super_block * </a:t>
            </a:r>
            <a:r>
              <a:rPr lang="en-CA" sz="1600" dirty="0" err="1" smtClean="0">
                <a:latin typeface="Courier New" panose="02070309020205020404" pitchFamily="49" charset="0"/>
                <a:cs typeface="Courier New" panose="02070309020205020404" pitchFamily="49" charset="0"/>
              </a:rPr>
              <a:t>sb</a:t>
            </a:r>
            <a:r>
              <a:rPr lang="en-CA" sz="1600" dirty="0" smtClean="0">
                <a:latin typeface="Courier New" panose="02070309020205020404" pitchFamily="49" charset="0"/>
                <a:cs typeface="Courier New" panose="02070309020205020404" pitchFamily="49" charset="0"/>
              </a:rPr>
              <a:t> = </a:t>
            </a:r>
            <a:r>
              <a:rPr lang="en-CA" sz="1600" dirty="0" err="1" smtClean="0">
                <a:latin typeface="Courier New" panose="02070309020205020404" pitchFamily="49" charset="0"/>
                <a:cs typeface="Courier New" panose="02070309020205020404" pitchFamily="49" charset="0"/>
              </a:rPr>
              <a:t>dev.read</a:t>
            </a:r>
            <a:r>
              <a:rPr lang="en-CA" sz="1600" dirty="0" smtClean="0">
                <a:latin typeface="Courier New" panose="02070309020205020404" pitchFamily="49" charset="0"/>
                <a:cs typeface="Courier New" panose="02070309020205020404" pitchFamily="49" charset="0"/>
              </a:rPr>
              <a:t>(</a:t>
            </a:r>
            <a:r>
              <a:rPr lang="en-CA" sz="1600" dirty="0" smtClean="0">
                <a:solidFill>
                  <a:srgbClr val="0070C0"/>
                </a:solidFill>
                <a:latin typeface="Courier New" panose="02070309020205020404" pitchFamily="49" charset="0"/>
                <a:cs typeface="Courier New" panose="02070309020205020404" pitchFamily="49" charset="0"/>
              </a:rPr>
              <a:t>1024</a:t>
            </a:r>
            <a:r>
              <a:rPr lang="en-CA" sz="1600" dirty="0" smtClean="0">
                <a:latin typeface="Courier New" panose="02070309020205020404" pitchFamily="49" charset="0"/>
                <a:cs typeface="Courier New" panose="02070309020205020404" pitchFamily="49" charset="0"/>
              </a:rPr>
              <a:t>, SB_SIZE);</a:t>
            </a:r>
          </a:p>
          <a:p>
            <a:pPr marL="0" indent="0">
              <a:lnSpc>
                <a:spcPts val="2000"/>
              </a:lnSpc>
              <a:spcBef>
                <a:spcPts val="0"/>
              </a:spcBef>
              <a:spcAft>
                <a:spcPts val="0"/>
              </a:spcAft>
              <a:buNone/>
            </a:pPr>
            <a:r>
              <a:rPr lang="en-CA" sz="1600" dirty="0">
                <a:latin typeface="Courier New" panose="02070309020205020404" pitchFamily="49" charset="0"/>
                <a:cs typeface="Courier New" panose="02070309020205020404" pitchFamily="49" charset="0"/>
              </a:rPr>
              <a:t> </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blk_size</a:t>
            </a:r>
            <a:r>
              <a:rPr lang="en-CA" sz="1600" dirty="0" smtClean="0">
                <a:latin typeface="Courier New" panose="02070309020205020404" pitchFamily="49" charset="0"/>
                <a:cs typeface="Courier New" panose="02070309020205020404" pitchFamily="49" charset="0"/>
              </a:rPr>
              <a:t> = </a:t>
            </a:r>
            <a:r>
              <a:rPr lang="en-CA" sz="1600" dirty="0">
                <a:solidFill>
                  <a:srgbClr val="0070C0"/>
                </a:solidFill>
                <a:latin typeface="Courier New" panose="02070309020205020404" pitchFamily="49" charset="0"/>
                <a:cs typeface="Courier New" panose="02070309020205020404" pitchFamily="49" charset="0"/>
              </a:rPr>
              <a:t>1024</a:t>
            </a:r>
            <a:r>
              <a:rPr lang="en-CA" sz="1600" dirty="0">
                <a:latin typeface="Courier New" panose="02070309020205020404" pitchFamily="49" charset="0"/>
                <a:cs typeface="Courier New" panose="02070309020205020404" pitchFamily="49" charset="0"/>
              </a:rPr>
              <a:t> &lt;&lt; </a:t>
            </a:r>
            <a:r>
              <a:rPr lang="en-CA" sz="1600" dirty="0" err="1">
                <a:latin typeface="Courier New" panose="02070309020205020404" pitchFamily="49" charset="0"/>
                <a:cs typeface="Courier New" panose="02070309020205020404" pitchFamily="49" charset="0"/>
              </a:rPr>
              <a:t>sb</a:t>
            </a:r>
            <a:r>
              <a:rPr lang="en-CA" sz="1600" dirty="0">
                <a:latin typeface="Courier New" panose="02070309020205020404" pitchFamily="49" charset="0"/>
                <a:cs typeface="Courier New" panose="02070309020205020404" pitchFamily="49" charset="0"/>
              </a:rPr>
              <a:t>-&gt;</a:t>
            </a:r>
            <a:r>
              <a:rPr lang="en-CA" sz="1600" dirty="0" err="1" smtClean="0">
                <a:latin typeface="Courier New" panose="02070309020205020404" pitchFamily="49" charset="0"/>
                <a:cs typeface="Courier New" panose="02070309020205020404" pitchFamily="49" charset="0"/>
              </a:rPr>
              <a:t>s_log_block_size</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dev.set_block_size</a:t>
            </a:r>
            <a:r>
              <a:rPr lang="en-CA" sz="1600" dirty="0" smtClean="0">
                <a:latin typeface="Courier New" panose="02070309020205020404" pitchFamily="49" charset="0"/>
                <a:cs typeface="Courier New" panose="02070309020205020404" pitchFamily="49" charset="0"/>
              </a:rPr>
              <a:t>(</a:t>
            </a:r>
            <a:r>
              <a:rPr lang="en-CA" sz="1600" dirty="0" err="1" smtClean="0">
                <a:latin typeface="Courier New" panose="02070309020205020404" pitchFamily="49" charset="0"/>
                <a:cs typeface="Courier New" panose="02070309020205020404" pitchFamily="49" charset="0"/>
              </a:rPr>
              <a:t>blk_size</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600" dirty="0" smtClean="0">
                <a:solidFill>
                  <a:srgbClr val="00B050"/>
                </a:solidFill>
                <a:latin typeface="Courier New" panose="02070309020205020404" pitchFamily="49" charset="0"/>
                <a:cs typeface="Courier New" panose="02070309020205020404" pitchFamily="49" charset="0"/>
              </a:rPr>
              <a:t>  /* </a:t>
            </a:r>
            <a:r>
              <a:rPr lang="en-CA" sz="1600" dirty="0">
                <a:solidFill>
                  <a:srgbClr val="00B050"/>
                </a:solidFill>
                <a:latin typeface="Courier New" panose="02070309020205020404" pitchFamily="49" charset="0"/>
                <a:cs typeface="Courier New" panose="02070309020205020404" pitchFamily="49" charset="0"/>
              </a:rPr>
              <a:t>block group descriptors start at block 2 or 1 </a:t>
            </a:r>
            <a:r>
              <a:rPr lang="en-CA" sz="1600" dirty="0" smtClean="0">
                <a:solidFill>
                  <a:srgbClr val="00B050"/>
                </a:solidFill>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r>
              <a:rPr lang="en-CA" sz="1600" dirty="0" err="1" smtClean="0">
                <a:solidFill>
                  <a:schemeClr val="accent6">
                    <a:lumMod val="75000"/>
                  </a:schemeClr>
                </a:solidFill>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bg_blknr</a:t>
            </a:r>
            <a:r>
              <a:rPr lang="en-CA" sz="1600" dirty="0" smtClean="0">
                <a:latin typeface="Courier New" panose="02070309020205020404" pitchFamily="49" charset="0"/>
                <a:cs typeface="Courier New" panose="02070309020205020404" pitchFamily="49" charset="0"/>
              </a:rPr>
              <a:t> = (</a:t>
            </a:r>
            <a:r>
              <a:rPr lang="en-CA" sz="1600" dirty="0" err="1" smtClean="0">
                <a:latin typeface="Courier New" panose="02070309020205020404" pitchFamily="49" charset="0"/>
                <a:cs typeface="Courier New" panose="02070309020205020404" pitchFamily="49" charset="0"/>
              </a:rPr>
              <a:t>sb</a:t>
            </a:r>
            <a:r>
              <a:rPr lang="en-CA" sz="1600" dirty="0" smtClean="0">
                <a:latin typeface="Courier New" panose="02070309020205020404" pitchFamily="49" charset="0"/>
                <a:cs typeface="Courier New" panose="02070309020205020404" pitchFamily="49" charset="0"/>
              </a:rPr>
              <a:t>-&gt;</a:t>
            </a:r>
            <a:r>
              <a:rPr lang="en-CA" sz="1600" dirty="0" err="1" smtClean="0">
                <a:latin typeface="Courier New" panose="02070309020205020404" pitchFamily="49" charset="0"/>
                <a:cs typeface="Courier New" panose="02070309020205020404" pitchFamily="49" charset="0"/>
              </a:rPr>
              <a:t>s_log_block_size</a:t>
            </a:r>
            <a:r>
              <a:rPr lang="en-CA" sz="1600" dirty="0" smtClean="0">
                <a:latin typeface="Courier New" panose="02070309020205020404" pitchFamily="49" charset="0"/>
                <a:cs typeface="Courier New" panose="02070309020205020404" pitchFamily="49" charset="0"/>
              </a:rPr>
              <a:t> == </a:t>
            </a:r>
            <a:r>
              <a:rPr lang="en-CA" sz="1600" dirty="0" smtClean="0">
                <a:solidFill>
                  <a:srgbClr val="0070C0"/>
                </a:solidFill>
                <a:latin typeface="Courier New" panose="02070309020205020404" pitchFamily="49" charset="0"/>
                <a:cs typeface="Courier New" panose="02070309020205020404" pitchFamily="49" charset="0"/>
              </a:rPr>
              <a:t>0</a:t>
            </a:r>
            <a:r>
              <a:rPr lang="en-CA" sz="1600" dirty="0" smtClean="0">
                <a:latin typeface="Courier New" panose="02070309020205020404" pitchFamily="49" charset="0"/>
                <a:cs typeface="Courier New" panose="02070309020205020404" pitchFamily="49" charset="0"/>
              </a:rPr>
              <a:t>) </a:t>
            </a:r>
            <a:r>
              <a:rPr lang="en-CA" sz="1600" dirty="0" smtClean="0">
                <a:solidFill>
                  <a:srgbClr val="0070C0"/>
                </a:solidFill>
                <a:latin typeface="Courier New" panose="02070309020205020404" pitchFamily="49" charset="0"/>
                <a:cs typeface="Courier New" panose="02070309020205020404" pitchFamily="49" charset="0"/>
              </a:rPr>
              <a:t>2</a:t>
            </a:r>
            <a:r>
              <a:rPr lang="en-CA" sz="1600" dirty="0" smtClean="0">
                <a:latin typeface="Courier New" panose="02070309020205020404" pitchFamily="49" charset="0"/>
                <a:cs typeface="Courier New" panose="02070309020205020404" pitchFamily="49" charset="0"/>
              </a:rPr>
              <a:t> : </a:t>
            </a:r>
            <a:r>
              <a:rPr lang="en-CA" sz="1600" dirty="0" smtClean="0">
                <a:solidFill>
                  <a:srgbClr val="0070C0"/>
                </a:solidFill>
                <a:latin typeface="Courier New" panose="02070309020205020404" pitchFamily="49" charset="0"/>
                <a:cs typeface="Courier New" panose="02070309020205020404" pitchFamily="49" charset="0"/>
              </a:rPr>
              <a:t>1</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r>
              <a:rPr lang="en-CA" sz="1600" dirty="0" err="1" smtClean="0">
                <a:solidFill>
                  <a:schemeClr val="accent6">
                    <a:lumMod val="75000"/>
                  </a:schemeClr>
                </a:solidFill>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bg_ngrps</a:t>
            </a:r>
            <a:r>
              <a:rPr lang="en-CA" sz="1600" dirty="0" smtClean="0">
                <a:latin typeface="Courier New" panose="02070309020205020404" pitchFamily="49" charset="0"/>
                <a:cs typeface="Courier New" panose="02070309020205020404" pitchFamily="49" charset="0"/>
              </a:rPr>
              <a:t> = ceil(</a:t>
            </a:r>
            <a:r>
              <a:rPr lang="en-CA" sz="1600" dirty="0" err="1" smtClean="0">
                <a:latin typeface="Courier New" panose="02070309020205020404" pitchFamily="49" charset="0"/>
                <a:cs typeface="Courier New" panose="02070309020205020404" pitchFamily="49" charset="0"/>
              </a:rPr>
              <a:t>sb</a:t>
            </a:r>
            <a:r>
              <a:rPr lang="en-CA" sz="1600" dirty="0" smtClean="0">
                <a:latin typeface="Courier New" panose="02070309020205020404" pitchFamily="49" charset="0"/>
                <a:cs typeface="Courier New" panose="02070309020205020404" pitchFamily="49" charset="0"/>
              </a:rPr>
              <a:t>-&gt;</a:t>
            </a:r>
            <a:r>
              <a:rPr lang="en-CA" sz="1600" dirty="0" err="1" smtClean="0">
                <a:latin typeface="Courier New" panose="02070309020205020404" pitchFamily="49" charset="0"/>
                <a:cs typeface="Courier New" panose="02070309020205020404" pitchFamily="49" charset="0"/>
              </a:rPr>
              <a:t>s_blocks_count</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sb</a:t>
            </a:r>
            <a:r>
              <a:rPr lang="en-CA" sz="1600" dirty="0" smtClean="0">
                <a:latin typeface="Courier New" panose="02070309020205020404" pitchFamily="49" charset="0"/>
                <a:cs typeface="Courier New" panose="02070309020205020404" pitchFamily="49" charset="0"/>
              </a:rPr>
              <a:t>-&gt;</a:t>
            </a:r>
            <a:r>
              <a:rPr lang="en-CA" sz="1600" dirty="0" err="1" smtClean="0">
                <a:latin typeface="Courier New" panose="02070309020205020404" pitchFamily="49" charset="0"/>
                <a:cs typeface="Courier New" panose="02070309020205020404" pitchFamily="49" charset="0"/>
              </a:rPr>
              <a:t>s_blocks_per_group</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600" dirty="0">
                <a:latin typeface="Courier New" panose="02070309020205020404" pitchFamily="49" charset="0"/>
                <a:cs typeface="Courier New" panose="02070309020205020404" pitchFamily="49" charset="0"/>
              </a:rPr>
              <a:t> </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bg_nblks</a:t>
            </a:r>
            <a:r>
              <a:rPr lang="en-CA" sz="1600" dirty="0" smtClean="0">
                <a:latin typeface="Courier New" panose="02070309020205020404" pitchFamily="49" charset="0"/>
                <a:cs typeface="Courier New" panose="02070309020205020404" pitchFamily="49" charset="0"/>
              </a:rPr>
              <a:t> </a:t>
            </a:r>
            <a:r>
              <a:rPr lang="en-CA" sz="1600" dirty="0">
                <a:latin typeface="Courier New" panose="02070309020205020404" pitchFamily="49" charset="0"/>
                <a:cs typeface="Courier New" panose="02070309020205020404" pitchFamily="49" charset="0"/>
              </a:rPr>
              <a:t>= </a:t>
            </a:r>
            <a:r>
              <a:rPr lang="en-CA" sz="1600" dirty="0" smtClean="0">
                <a:latin typeface="Courier New" panose="02070309020205020404" pitchFamily="49" charset="0"/>
                <a:cs typeface="Courier New" panose="02070309020205020404" pitchFamily="49" charset="0"/>
              </a:rPr>
              <a:t>ceil(</a:t>
            </a:r>
            <a:r>
              <a:rPr lang="en-CA" sz="1600" dirty="0" err="1" smtClean="0">
                <a:latin typeface="Courier New" panose="02070309020205020404" pitchFamily="49" charset="0"/>
                <a:cs typeface="Courier New" panose="02070309020205020404" pitchFamily="49" charset="0"/>
              </a:rPr>
              <a:t>bg_ngrps</a:t>
            </a:r>
            <a:r>
              <a:rPr lang="en-CA" sz="1600" dirty="0" smtClean="0">
                <a:latin typeface="Courier New" panose="02070309020205020404" pitchFamily="49" charset="0"/>
                <a:cs typeface="Courier New" panose="02070309020205020404" pitchFamily="49" charset="0"/>
              </a:rPr>
              <a:t>*</a:t>
            </a:r>
            <a:r>
              <a:rPr lang="en-CA" sz="1600" dirty="0" err="1" smtClean="0">
                <a:latin typeface="Courier New" panose="02070309020205020404" pitchFamily="49" charset="0"/>
                <a:cs typeface="Courier New" panose="02070309020205020404" pitchFamily="49" charset="0"/>
              </a:rPr>
              <a:t>sizeof</a:t>
            </a:r>
            <a:r>
              <a:rPr lang="en-CA" sz="1600" dirty="0" smtClean="0">
                <a:latin typeface="Courier New" panose="02070309020205020404" pitchFamily="49" charset="0"/>
                <a:cs typeface="Courier New" panose="02070309020205020404" pitchFamily="49" charset="0"/>
              </a:rPr>
              <a:t>(</a:t>
            </a:r>
            <a:r>
              <a:rPr lang="en-CA" sz="1600" dirty="0" err="1" smtClean="0">
                <a:solidFill>
                  <a:schemeClr val="accent6">
                    <a:lumMod val="75000"/>
                  </a:schemeClr>
                </a:solidFill>
                <a:latin typeface="Courier New" panose="02070309020205020404" pitchFamily="49" charset="0"/>
                <a:cs typeface="Courier New" panose="02070309020205020404" pitchFamily="49" charset="0"/>
              </a:rPr>
              <a:t>struct</a:t>
            </a:r>
            <a:r>
              <a:rPr lang="en-CA" sz="1600" dirty="0" smtClean="0">
                <a:latin typeface="Courier New" panose="02070309020205020404" pitchFamily="49" charset="0"/>
                <a:cs typeface="Courier New" panose="02070309020205020404" pitchFamily="49" charset="0"/>
              </a:rPr>
              <a:t> ext4_group_desc), </a:t>
            </a:r>
            <a:r>
              <a:rPr lang="en-CA" sz="1600" dirty="0" err="1">
                <a:latin typeface="Courier New" panose="02070309020205020404" pitchFamily="49" charset="0"/>
                <a:cs typeface="Courier New" panose="02070309020205020404" pitchFamily="49" charset="0"/>
              </a:rPr>
              <a:t>blk_size</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Font typeface="Wingdings 3" panose="05040102010807070707" pitchFamily="18" charset="2"/>
              <a:buNone/>
            </a:pPr>
            <a:r>
              <a:rPr lang="en-CA" sz="1600" dirty="0" smtClean="0">
                <a:solidFill>
                  <a:srgbClr val="00B050"/>
                </a:solidFill>
                <a:latin typeface="Courier New" panose="02070309020205020404" pitchFamily="49" charset="0"/>
                <a:cs typeface="Courier New" panose="02070309020205020404" pitchFamily="49" charset="0"/>
              </a:rPr>
              <a:t>  /* read all of the block group descriptors into memory */</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r>
              <a:rPr lang="en-CA" sz="1600" dirty="0" err="1" smtClean="0">
                <a:solidFill>
                  <a:schemeClr val="accent6">
                    <a:lumMod val="75000"/>
                  </a:schemeClr>
                </a:solidFill>
                <a:latin typeface="Courier New" panose="02070309020205020404" pitchFamily="49" charset="0"/>
                <a:cs typeface="Courier New" panose="02070309020205020404" pitchFamily="49" charset="0"/>
              </a:rPr>
              <a:t>struct</a:t>
            </a:r>
            <a:r>
              <a:rPr lang="en-CA" sz="1600" dirty="0" smtClean="0">
                <a:latin typeface="Courier New" panose="02070309020205020404" pitchFamily="49" charset="0"/>
                <a:cs typeface="Courier New" panose="02070309020205020404" pitchFamily="49" charset="0"/>
              </a:rPr>
              <a:t> ext4_group_desc * </a:t>
            </a:r>
            <a:r>
              <a:rPr lang="en-CA" sz="1600" dirty="0" err="1" smtClean="0">
                <a:latin typeface="Courier New" panose="02070309020205020404" pitchFamily="49" charset="0"/>
                <a:cs typeface="Courier New" panose="02070309020205020404" pitchFamily="49" charset="0"/>
              </a:rPr>
              <a:t>gd</a:t>
            </a:r>
            <a:r>
              <a:rPr lang="en-CA" sz="1600" dirty="0" smtClean="0">
                <a:latin typeface="Courier New" panose="02070309020205020404" pitchFamily="49" charset="0"/>
                <a:cs typeface="Courier New" panose="02070309020205020404" pitchFamily="49" charset="0"/>
              </a:rPr>
              <a:t> = </a:t>
            </a:r>
            <a:r>
              <a:rPr lang="en-CA" sz="1600" dirty="0" err="1" smtClean="0">
                <a:latin typeface="Courier New" panose="02070309020205020404" pitchFamily="49" charset="0"/>
                <a:cs typeface="Courier New" panose="02070309020205020404" pitchFamily="49" charset="0"/>
              </a:rPr>
              <a:t>dev.read_block</a:t>
            </a:r>
            <a:r>
              <a:rPr lang="en-CA" sz="1600" dirty="0" smtClean="0">
                <a:latin typeface="Courier New" panose="02070309020205020404" pitchFamily="49" charset="0"/>
                <a:cs typeface="Courier New" panose="02070309020205020404" pitchFamily="49" charset="0"/>
              </a:rPr>
              <a:t>(</a:t>
            </a:r>
            <a:r>
              <a:rPr lang="en-CA" sz="1600" dirty="0" err="1" smtClean="0">
                <a:latin typeface="Courier New" panose="02070309020205020404" pitchFamily="49" charset="0"/>
                <a:cs typeface="Courier New" panose="02070309020205020404" pitchFamily="49" charset="0"/>
              </a:rPr>
              <a:t>bg_blknr</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bg_nblks</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600" dirty="0" smtClean="0">
                <a:latin typeface="Courier New" panose="02070309020205020404" pitchFamily="49" charset="0"/>
                <a:cs typeface="Courier New" panose="02070309020205020404" pitchFamily="49" charset="0"/>
              </a:rPr>
              <a:t>  for (</a:t>
            </a:r>
            <a:r>
              <a:rPr lang="en-CA" sz="1600" dirty="0" err="1" smtClean="0">
                <a:solidFill>
                  <a:schemeClr val="accent6">
                    <a:lumMod val="75000"/>
                  </a:schemeClr>
                </a:solidFill>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i</a:t>
            </a:r>
            <a:r>
              <a:rPr lang="en-CA" sz="1600" dirty="0" smtClean="0">
                <a:latin typeface="Courier New" panose="02070309020205020404" pitchFamily="49" charset="0"/>
                <a:cs typeface="Courier New" panose="02070309020205020404" pitchFamily="49" charset="0"/>
              </a:rPr>
              <a:t> = </a:t>
            </a:r>
            <a:r>
              <a:rPr lang="en-CA" sz="1600" dirty="0" smtClean="0">
                <a:solidFill>
                  <a:srgbClr val="0070C0"/>
                </a:solidFill>
                <a:latin typeface="Courier New" panose="02070309020205020404" pitchFamily="49" charset="0"/>
                <a:cs typeface="Courier New" panose="02070309020205020404" pitchFamily="49" charset="0"/>
              </a:rPr>
              <a:t>0</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i</a:t>
            </a:r>
            <a:r>
              <a:rPr lang="en-CA" sz="1600" dirty="0" smtClean="0">
                <a:latin typeface="Courier New" panose="02070309020205020404" pitchFamily="49" charset="0"/>
                <a:cs typeface="Courier New" panose="02070309020205020404" pitchFamily="49" charset="0"/>
              </a:rPr>
              <a:t> &lt; </a:t>
            </a:r>
            <a:r>
              <a:rPr lang="en-CA" sz="1600" dirty="0" err="1">
                <a:latin typeface="Courier New" panose="02070309020205020404" pitchFamily="49" charset="0"/>
                <a:cs typeface="Courier New" panose="02070309020205020404" pitchFamily="49" charset="0"/>
              </a:rPr>
              <a:t>bg_ngrps</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i</a:t>
            </a:r>
            <a:r>
              <a:rPr lang="en-CA" sz="1600" dirty="0" smtClean="0">
                <a:latin typeface="Courier New" panose="02070309020205020404" pitchFamily="49" charset="0"/>
                <a:cs typeface="Courier New" panose="02070309020205020404" pitchFamily="49" charset="0"/>
              </a:rPr>
              <a:t>) {</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r>
              <a:rPr lang="en-CA" sz="1600" dirty="0" smtClean="0">
                <a:solidFill>
                  <a:schemeClr val="accent6">
                    <a:lumMod val="75000"/>
                  </a:schemeClr>
                </a:solidFill>
                <a:latin typeface="Courier New" panose="02070309020205020404" pitchFamily="49" charset="0"/>
                <a:cs typeface="Courier New" panose="02070309020205020404" pitchFamily="49" charset="0"/>
              </a:rPr>
              <a:t>char</a:t>
            </a:r>
            <a:r>
              <a:rPr lang="en-CA" sz="1600" dirty="0" smtClean="0">
                <a:latin typeface="Courier New" panose="02070309020205020404" pitchFamily="49" charset="0"/>
                <a:cs typeface="Courier New" panose="02070309020205020404" pitchFamily="49" charset="0"/>
              </a:rPr>
              <a:t> * </a:t>
            </a:r>
            <a:r>
              <a:rPr lang="en-CA" sz="1600" dirty="0" err="1" smtClean="0">
                <a:latin typeface="Courier New" panose="02070309020205020404" pitchFamily="49" charset="0"/>
                <a:cs typeface="Courier New" panose="02070309020205020404" pitchFamily="49" charset="0"/>
              </a:rPr>
              <a:t>buf</a:t>
            </a:r>
            <a:r>
              <a:rPr lang="en-CA" sz="1600" dirty="0" smtClean="0">
                <a:latin typeface="Courier New" panose="02070309020205020404" pitchFamily="49" charset="0"/>
                <a:cs typeface="Courier New" panose="02070309020205020404" pitchFamily="49" charset="0"/>
              </a:rPr>
              <a:t> = </a:t>
            </a:r>
            <a:r>
              <a:rPr lang="en-CA" sz="1600" dirty="0" err="1" smtClean="0">
                <a:latin typeface="Courier New" panose="02070309020205020404" pitchFamily="49" charset="0"/>
                <a:cs typeface="Courier New" panose="02070309020205020404" pitchFamily="49" charset="0"/>
              </a:rPr>
              <a:t>dev.read_block</a:t>
            </a:r>
            <a:r>
              <a:rPr lang="en-CA" sz="1600" dirty="0" smtClean="0">
                <a:latin typeface="Courier New" panose="02070309020205020404" pitchFamily="49" charset="0"/>
                <a:cs typeface="Courier New" panose="02070309020205020404" pitchFamily="49" charset="0"/>
              </a:rPr>
              <a:t>(</a:t>
            </a:r>
            <a:r>
              <a:rPr lang="en-CA" sz="1600" dirty="0" err="1" smtClean="0">
                <a:latin typeface="Courier New" panose="02070309020205020404" pitchFamily="49" charset="0"/>
                <a:cs typeface="Courier New" panose="02070309020205020404" pitchFamily="49" charset="0"/>
              </a:rPr>
              <a:t>gd</a:t>
            </a:r>
            <a:r>
              <a:rPr lang="en-CA" sz="1600" dirty="0" smtClean="0">
                <a:latin typeface="Courier New" panose="02070309020205020404" pitchFamily="49" charset="0"/>
                <a:cs typeface="Courier New" panose="02070309020205020404" pitchFamily="49" charset="0"/>
              </a:rPr>
              <a:t>[</a:t>
            </a:r>
            <a:r>
              <a:rPr lang="en-CA" sz="1600" dirty="0" err="1" smtClean="0">
                <a:latin typeface="Courier New" panose="02070309020205020404" pitchFamily="49" charset="0"/>
                <a:cs typeface="Courier New" panose="02070309020205020404" pitchFamily="49" charset="0"/>
              </a:rPr>
              <a:t>i</a:t>
            </a:r>
            <a:r>
              <a:rPr lang="en-CA" sz="1600" dirty="0" smtClean="0">
                <a:latin typeface="Courier New" panose="02070309020205020404" pitchFamily="49" charset="0"/>
                <a:cs typeface="Courier New" panose="02070309020205020404" pitchFamily="49" charset="0"/>
              </a:rPr>
              <a:t>]-&gt;</a:t>
            </a:r>
            <a:r>
              <a:rPr lang="en-CA" sz="1600" dirty="0" err="1" smtClean="0">
                <a:latin typeface="Courier New" panose="02070309020205020404" pitchFamily="49" charset="0"/>
                <a:cs typeface="Courier New" panose="02070309020205020404" pitchFamily="49" charset="0"/>
              </a:rPr>
              <a:t>bg_block_bitmap</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r>
              <a:rPr lang="en-CA" sz="1600" dirty="0" err="1" smtClean="0">
                <a:solidFill>
                  <a:schemeClr val="accent6">
                    <a:lumMod val="75000"/>
                  </a:schemeClr>
                </a:solidFill>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ret = </a:t>
            </a:r>
            <a:r>
              <a:rPr lang="en-CA" sz="1600" dirty="0" err="1" smtClean="0">
                <a:latin typeface="Courier New" panose="02070309020205020404" pitchFamily="49" charset="0"/>
                <a:cs typeface="Courier New" panose="02070309020205020404" pitchFamily="49" charset="0"/>
              </a:rPr>
              <a:t>process_block_bitmap</a:t>
            </a:r>
            <a:r>
              <a:rPr lang="en-CA" sz="1600" dirty="0" smtClean="0">
                <a:latin typeface="Courier New" panose="02070309020205020404" pitchFamily="49" charset="0"/>
                <a:cs typeface="Courier New" panose="02070309020205020404" pitchFamily="49" charset="0"/>
              </a:rPr>
              <a:t>(</a:t>
            </a:r>
            <a:r>
              <a:rPr lang="en-CA" sz="1600" dirty="0" err="1" smtClean="0">
                <a:latin typeface="Courier New" panose="02070309020205020404" pitchFamily="49" charset="0"/>
                <a:cs typeface="Courier New" panose="02070309020205020404" pitchFamily="49" charset="0"/>
              </a:rPr>
              <a:t>vec</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buf</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p>
          <a:p>
            <a:pPr marL="0" indent="0">
              <a:lnSpc>
                <a:spcPts val="2000"/>
              </a:lnSpc>
              <a:spcBef>
                <a:spcPts val="0"/>
              </a:spcBef>
              <a:spcAft>
                <a:spcPts val="0"/>
              </a:spcAft>
              <a:buFont typeface="Wingdings 3" panose="05040102010807070707" pitchFamily="18" charset="2"/>
              <a:buNone/>
            </a:pPr>
            <a:r>
              <a:rPr lang="en-CA" sz="1600" dirty="0">
                <a:latin typeface="Courier New" panose="02070309020205020404" pitchFamily="49" charset="0"/>
                <a:cs typeface="Courier New" panose="02070309020205020404" pitchFamily="49" charset="0"/>
              </a:rPr>
              <a:t> </a:t>
            </a:r>
            <a:r>
              <a:rPr lang="en-CA" sz="1600" dirty="0" smtClean="0">
                <a:latin typeface="Courier New" panose="02070309020205020404" pitchFamily="49" charset="0"/>
                <a:cs typeface="Courier New" panose="02070309020205020404" pitchFamily="49" charset="0"/>
              </a:rPr>
              <a:t> …</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a:t>
            </a:r>
          </a:p>
        </p:txBody>
      </p:sp>
      <p:sp>
        <p:nvSpPr>
          <p:cNvPr id="2" name="Slide Number Placeholder 1"/>
          <p:cNvSpPr>
            <a:spLocks noGrp="1"/>
          </p:cNvSpPr>
          <p:nvPr>
            <p:ph type="sldNum" sz="quarter" idx="12"/>
          </p:nvPr>
        </p:nvSpPr>
        <p:spPr/>
        <p:txBody>
          <a:bodyPr/>
          <a:lstStyle/>
          <a:p>
            <a:fld id="{7B2023C8-B124-43A9-8F92-0EEF5BAA9995}" type="slidenum">
              <a:rPr lang="en-CA" smtClean="0"/>
              <a:pPr/>
              <a:t>21</a:t>
            </a:fld>
            <a:endParaRPr lang="en-CA" dirty="0"/>
          </a:p>
        </p:txBody>
      </p:sp>
    </p:spTree>
    <p:extLst>
      <p:ext uri="{BB962C8B-B14F-4D97-AF65-F5344CB8AC3E}">
        <p14:creationId xmlns:p14="http://schemas.microsoft.com/office/powerpoint/2010/main" val="3681060296"/>
      </p:ext>
    </p:extLst>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Content Placeholder 6"/>
          <p:cNvSpPr txBox="1">
            <a:spLocks/>
          </p:cNvSpPr>
          <p:nvPr/>
        </p:nvSpPr>
        <p:spPr>
          <a:xfrm>
            <a:off x="951929" y="2073898"/>
            <a:ext cx="10285797" cy="4784102"/>
          </a:xfrm>
          <a:prstGeom prst="rect">
            <a:avLst/>
          </a:prstGeom>
        </p:spPr>
        <p:txBody>
          <a:bodyPr vert="horz" lIns="91440" tIns="45720" rIns="91440" bIns="45720" rtlCol="0" anchor="t">
            <a:norm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pPr marL="0" indent="0">
              <a:lnSpc>
                <a:spcPts val="2000"/>
              </a:lnSpc>
              <a:spcBef>
                <a:spcPts val="0"/>
              </a:spcBef>
              <a:spcAft>
                <a:spcPts val="0"/>
              </a:spcAft>
              <a:buFont typeface="Wingdings 3" panose="05040102010807070707" pitchFamily="18" charset="2"/>
              <a:buNone/>
            </a:pPr>
            <a:r>
              <a:rPr lang="en-CA" sz="1600" dirty="0" err="1" smtClean="0">
                <a:solidFill>
                  <a:schemeClr val="accent6">
                    <a:lumMod val="75000"/>
                  </a:schemeClr>
                </a:solidFill>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a:t>
            </a:r>
            <a:r>
              <a:rPr lang="en-CA" sz="1600" b="1" dirty="0" smtClean="0">
                <a:latin typeface="Courier New" panose="02070309020205020404" pitchFamily="49" charset="0"/>
                <a:cs typeface="Courier New" panose="02070309020205020404" pitchFamily="49" charset="0"/>
              </a:rPr>
              <a:t>process_ext4</a:t>
            </a:r>
            <a:r>
              <a:rPr lang="en-CA" sz="1600" dirty="0" smtClean="0">
                <a:latin typeface="Courier New" panose="02070309020205020404" pitchFamily="49" charset="0"/>
                <a:cs typeface="Courier New" panose="02070309020205020404" pitchFamily="49" charset="0"/>
              </a:rPr>
              <a:t>(vector&lt;Extent&gt; &amp; </a:t>
            </a:r>
            <a:r>
              <a:rPr lang="en-CA" sz="1600" dirty="0" err="1" smtClean="0">
                <a:latin typeface="Courier New" panose="02070309020205020404" pitchFamily="49" charset="0"/>
                <a:cs typeface="Courier New" panose="02070309020205020404" pitchFamily="49" charset="0"/>
              </a:rPr>
              <a:t>vec</a:t>
            </a:r>
            <a:r>
              <a:rPr lang="en-CA" sz="1600" dirty="0" smtClean="0">
                <a:latin typeface="Courier New" panose="02070309020205020404" pitchFamily="49" charset="0"/>
                <a:cs typeface="Courier New" panose="02070309020205020404" pitchFamily="49" charset="0"/>
              </a:rPr>
              <a:t>, Device &amp; dev) {</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r>
              <a:rPr lang="en-CA" sz="1600" dirty="0" smtClean="0">
                <a:solidFill>
                  <a:srgbClr val="00B050"/>
                </a:solidFill>
                <a:latin typeface="Courier New" panose="02070309020205020404" pitchFamily="49" charset="0"/>
                <a:cs typeface="Courier New" panose="02070309020205020404" pitchFamily="49" charset="0"/>
              </a:rPr>
              <a:t>/* ext4 super block is 1024 bytes away from start */</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r>
              <a:rPr lang="en-CA" sz="1600" dirty="0" err="1" smtClean="0">
                <a:solidFill>
                  <a:schemeClr val="accent6">
                    <a:lumMod val="75000"/>
                  </a:schemeClr>
                </a:solidFill>
                <a:latin typeface="Courier New" panose="02070309020205020404" pitchFamily="49" charset="0"/>
                <a:cs typeface="Courier New" panose="02070309020205020404" pitchFamily="49" charset="0"/>
              </a:rPr>
              <a:t>struct</a:t>
            </a:r>
            <a:r>
              <a:rPr lang="en-CA" sz="1600" dirty="0" smtClean="0">
                <a:latin typeface="Courier New" panose="02070309020205020404" pitchFamily="49" charset="0"/>
                <a:cs typeface="Courier New" panose="02070309020205020404" pitchFamily="49" charset="0"/>
              </a:rPr>
              <a:t> ext4_super_block * </a:t>
            </a:r>
            <a:r>
              <a:rPr lang="en-CA" sz="1600" dirty="0" err="1" smtClean="0">
                <a:latin typeface="Courier New" panose="02070309020205020404" pitchFamily="49" charset="0"/>
                <a:cs typeface="Courier New" panose="02070309020205020404" pitchFamily="49" charset="0"/>
              </a:rPr>
              <a:t>sb</a:t>
            </a:r>
            <a:r>
              <a:rPr lang="en-CA" sz="1600" dirty="0" smtClean="0">
                <a:latin typeface="Courier New" panose="02070309020205020404" pitchFamily="49" charset="0"/>
                <a:cs typeface="Courier New" panose="02070309020205020404" pitchFamily="49" charset="0"/>
              </a:rPr>
              <a:t> = </a:t>
            </a:r>
            <a:r>
              <a:rPr lang="en-CA" sz="1600" dirty="0" err="1" smtClean="0">
                <a:latin typeface="Courier New" panose="02070309020205020404" pitchFamily="49" charset="0"/>
                <a:cs typeface="Courier New" panose="02070309020205020404" pitchFamily="49" charset="0"/>
              </a:rPr>
              <a:t>dev.read</a:t>
            </a:r>
            <a:r>
              <a:rPr lang="en-CA" sz="1600" dirty="0" smtClean="0">
                <a:latin typeface="Courier New" panose="02070309020205020404" pitchFamily="49" charset="0"/>
                <a:cs typeface="Courier New" panose="02070309020205020404" pitchFamily="49" charset="0"/>
              </a:rPr>
              <a:t>(</a:t>
            </a:r>
            <a:r>
              <a:rPr lang="en-CA" sz="1600" dirty="0" smtClean="0">
                <a:solidFill>
                  <a:srgbClr val="0070C0"/>
                </a:solidFill>
                <a:latin typeface="Courier New" panose="02070309020205020404" pitchFamily="49" charset="0"/>
                <a:cs typeface="Courier New" panose="02070309020205020404" pitchFamily="49" charset="0"/>
              </a:rPr>
              <a:t>1024</a:t>
            </a:r>
            <a:r>
              <a:rPr lang="en-CA" sz="1600" dirty="0" smtClean="0">
                <a:latin typeface="Courier New" panose="02070309020205020404" pitchFamily="49" charset="0"/>
                <a:cs typeface="Courier New" panose="02070309020205020404" pitchFamily="49" charset="0"/>
              </a:rPr>
              <a:t>, SB_SIZE);</a:t>
            </a:r>
          </a:p>
          <a:p>
            <a:pPr marL="0" indent="0">
              <a:lnSpc>
                <a:spcPts val="2000"/>
              </a:lnSpc>
              <a:spcBef>
                <a:spcPts val="0"/>
              </a:spcBef>
              <a:spcAft>
                <a:spcPts val="0"/>
              </a:spcAft>
              <a:buNone/>
            </a:pPr>
            <a:r>
              <a:rPr lang="en-CA" sz="1600" dirty="0">
                <a:latin typeface="Courier New" panose="02070309020205020404" pitchFamily="49" charset="0"/>
                <a:cs typeface="Courier New" panose="02070309020205020404" pitchFamily="49" charset="0"/>
              </a:rPr>
              <a:t> </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blk_size</a:t>
            </a:r>
            <a:r>
              <a:rPr lang="en-CA" sz="1600" dirty="0" smtClean="0">
                <a:latin typeface="Courier New" panose="02070309020205020404" pitchFamily="49" charset="0"/>
                <a:cs typeface="Courier New" panose="02070309020205020404" pitchFamily="49" charset="0"/>
              </a:rPr>
              <a:t> = </a:t>
            </a:r>
            <a:r>
              <a:rPr lang="en-CA" sz="1600" dirty="0">
                <a:solidFill>
                  <a:srgbClr val="0070C0"/>
                </a:solidFill>
                <a:latin typeface="Courier New" panose="02070309020205020404" pitchFamily="49" charset="0"/>
                <a:cs typeface="Courier New" panose="02070309020205020404" pitchFamily="49" charset="0"/>
              </a:rPr>
              <a:t>1024</a:t>
            </a:r>
            <a:r>
              <a:rPr lang="en-CA" sz="1600" dirty="0">
                <a:latin typeface="Courier New" panose="02070309020205020404" pitchFamily="49" charset="0"/>
                <a:cs typeface="Courier New" panose="02070309020205020404" pitchFamily="49" charset="0"/>
              </a:rPr>
              <a:t> &lt;&lt; </a:t>
            </a:r>
            <a:r>
              <a:rPr lang="en-CA" sz="1600" dirty="0" err="1">
                <a:latin typeface="Courier New" panose="02070309020205020404" pitchFamily="49" charset="0"/>
                <a:cs typeface="Courier New" panose="02070309020205020404" pitchFamily="49" charset="0"/>
              </a:rPr>
              <a:t>sb</a:t>
            </a:r>
            <a:r>
              <a:rPr lang="en-CA" sz="1600" dirty="0">
                <a:latin typeface="Courier New" panose="02070309020205020404" pitchFamily="49" charset="0"/>
                <a:cs typeface="Courier New" panose="02070309020205020404" pitchFamily="49" charset="0"/>
              </a:rPr>
              <a:t>-&gt;</a:t>
            </a:r>
            <a:r>
              <a:rPr lang="en-CA" sz="1600" dirty="0" err="1" smtClean="0">
                <a:latin typeface="Courier New" panose="02070309020205020404" pitchFamily="49" charset="0"/>
                <a:cs typeface="Courier New" panose="02070309020205020404" pitchFamily="49" charset="0"/>
              </a:rPr>
              <a:t>s_log_block_size</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dev.set_block_size</a:t>
            </a:r>
            <a:r>
              <a:rPr lang="en-CA" sz="1600" dirty="0" smtClean="0">
                <a:latin typeface="Courier New" panose="02070309020205020404" pitchFamily="49" charset="0"/>
                <a:cs typeface="Courier New" panose="02070309020205020404" pitchFamily="49" charset="0"/>
              </a:rPr>
              <a:t>(</a:t>
            </a:r>
            <a:r>
              <a:rPr lang="en-CA" sz="1600" dirty="0" err="1" smtClean="0">
                <a:latin typeface="Courier New" panose="02070309020205020404" pitchFamily="49" charset="0"/>
                <a:cs typeface="Courier New" panose="02070309020205020404" pitchFamily="49" charset="0"/>
              </a:rPr>
              <a:t>blk_size</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600" dirty="0" smtClean="0">
                <a:solidFill>
                  <a:srgbClr val="00B050"/>
                </a:solidFill>
                <a:latin typeface="Courier New" panose="02070309020205020404" pitchFamily="49" charset="0"/>
                <a:cs typeface="Courier New" panose="02070309020205020404" pitchFamily="49" charset="0"/>
              </a:rPr>
              <a:t>  /* </a:t>
            </a:r>
            <a:r>
              <a:rPr lang="en-CA" sz="1600" dirty="0">
                <a:solidFill>
                  <a:srgbClr val="00B050"/>
                </a:solidFill>
                <a:latin typeface="Courier New" panose="02070309020205020404" pitchFamily="49" charset="0"/>
                <a:cs typeface="Courier New" panose="02070309020205020404" pitchFamily="49" charset="0"/>
              </a:rPr>
              <a:t>block group descriptors start at block 2 or 1 </a:t>
            </a:r>
            <a:r>
              <a:rPr lang="en-CA" sz="1600" dirty="0" smtClean="0">
                <a:solidFill>
                  <a:srgbClr val="00B050"/>
                </a:solidFill>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r>
              <a:rPr lang="en-CA" sz="1600" dirty="0" err="1" smtClean="0">
                <a:solidFill>
                  <a:schemeClr val="accent6">
                    <a:lumMod val="75000"/>
                  </a:schemeClr>
                </a:solidFill>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bg_blknr</a:t>
            </a:r>
            <a:r>
              <a:rPr lang="en-CA" sz="1600" dirty="0" smtClean="0">
                <a:latin typeface="Courier New" panose="02070309020205020404" pitchFamily="49" charset="0"/>
                <a:cs typeface="Courier New" panose="02070309020205020404" pitchFamily="49" charset="0"/>
              </a:rPr>
              <a:t> = (</a:t>
            </a:r>
            <a:r>
              <a:rPr lang="en-CA" sz="1600" dirty="0" err="1" smtClean="0">
                <a:latin typeface="Courier New" panose="02070309020205020404" pitchFamily="49" charset="0"/>
                <a:cs typeface="Courier New" panose="02070309020205020404" pitchFamily="49" charset="0"/>
              </a:rPr>
              <a:t>sb</a:t>
            </a:r>
            <a:r>
              <a:rPr lang="en-CA" sz="1600" dirty="0" smtClean="0">
                <a:latin typeface="Courier New" panose="02070309020205020404" pitchFamily="49" charset="0"/>
                <a:cs typeface="Courier New" panose="02070309020205020404" pitchFamily="49" charset="0"/>
              </a:rPr>
              <a:t>-&gt;</a:t>
            </a:r>
            <a:r>
              <a:rPr lang="en-CA" sz="1600" dirty="0" err="1" smtClean="0">
                <a:latin typeface="Courier New" panose="02070309020205020404" pitchFamily="49" charset="0"/>
                <a:cs typeface="Courier New" panose="02070309020205020404" pitchFamily="49" charset="0"/>
              </a:rPr>
              <a:t>s_log_block_size</a:t>
            </a:r>
            <a:r>
              <a:rPr lang="en-CA" sz="1600" dirty="0" smtClean="0">
                <a:latin typeface="Courier New" panose="02070309020205020404" pitchFamily="49" charset="0"/>
                <a:cs typeface="Courier New" panose="02070309020205020404" pitchFamily="49" charset="0"/>
              </a:rPr>
              <a:t> == </a:t>
            </a:r>
            <a:r>
              <a:rPr lang="en-CA" sz="1600" dirty="0" smtClean="0">
                <a:solidFill>
                  <a:srgbClr val="0070C0"/>
                </a:solidFill>
                <a:latin typeface="Courier New" panose="02070309020205020404" pitchFamily="49" charset="0"/>
                <a:cs typeface="Courier New" panose="02070309020205020404" pitchFamily="49" charset="0"/>
              </a:rPr>
              <a:t>0</a:t>
            </a:r>
            <a:r>
              <a:rPr lang="en-CA" sz="1600" dirty="0" smtClean="0">
                <a:latin typeface="Courier New" panose="02070309020205020404" pitchFamily="49" charset="0"/>
                <a:cs typeface="Courier New" panose="02070309020205020404" pitchFamily="49" charset="0"/>
              </a:rPr>
              <a:t>) </a:t>
            </a:r>
            <a:r>
              <a:rPr lang="en-CA" sz="1600" dirty="0" smtClean="0">
                <a:solidFill>
                  <a:srgbClr val="0070C0"/>
                </a:solidFill>
                <a:latin typeface="Courier New" panose="02070309020205020404" pitchFamily="49" charset="0"/>
                <a:cs typeface="Courier New" panose="02070309020205020404" pitchFamily="49" charset="0"/>
              </a:rPr>
              <a:t>2</a:t>
            </a:r>
            <a:r>
              <a:rPr lang="en-CA" sz="1600" dirty="0" smtClean="0">
                <a:latin typeface="Courier New" panose="02070309020205020404" pitchFamily="49" charset="0"/>
                <a:cs typeface="Courier New" panose="02070309020205020404" pitchFamily="49" charset="0"/>
              </a:rPr>
              <a:t> : </a:t>
            </a:r>
            <a:r>
              <a:rPr lang="en-CA" sz="1600" dirty="0" smtClean="0">
                <a:solidFill>
                  <a:srgbClr val="0070C0"/>
                </a:solidFill>
                <a:latin typeface="Courier New" panose="02070309020205020404" pitchFamily="49" charset="0"/>
                <a:cs typeface="Courier New" panose="02070309020205020404" pitchFamily="49" charset="0"/>
              </a:rPr>
              <a:t>1</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r>
              <a:rPr lang="en-CA" sz="1600" dirty="0" err="1" smtClean="0">
                <a:solidFill>
                  <a:schemeClr val="accent6">
                    <a:lumMod val="75000"/>
                  </a:schemeClr>
                </a:solidFill>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bg_ngrps</a:t>
            </a:r>
            <a:r>
              <a:rPr lang="en-CA" sz="1600" dirty="0" smtClean="0">
                <a:latin typeface="Courier New" panose="02070309020205020404" pitchFamily="49" charset="0"/>
                <a:cs typeface="Courier New" panose="02070309020205020404" pitchFamily="49" charset="0"/>
              </a:rPr>
              <a:t> = ceil(</a:t>
            </a:r>
            <a:r>
              <a:rPr lang="en-CA" sz="1600" dirty="0" err="1" smtClean="0">
                <a:latin typeface="Courier New" panose="02070309020205020404" pitchFamily="49" charset="0"/>
                <a:cs typeface="Courier New" panose="02070309020205020404" pitchFamily="49" charset="0"/>
              </a:rPr>
              <a:t>sb</a:t>
            </a:r>
            <a:r>
              <a:rPr lang="en-CA" sz="1600" dirty="0" smtClean="0">
                <a:latin typeface="Courier New" panose="02070309020205020404" pitchFamily="49" charset="0"/>
                <a:cs typeface="Courier New" panose="02070309020205020404" pitchFamily="49" charset="0"/>
              </a:rPr>
              <a:t>-&gt;</a:t>
            </a:r>
            <a:r>
              <a:rPr lang="en-CA" sz="1600" dirty="0" err="1" smtClean="0">
                <a:latin typeface="Courier New" panose="02070309020205020404" pitchFamily="49" charset="0"/>
                <a:cs typeface="Courier New" panose="02070309020205020404" pitchFamily="49" charset="0"/>
              </a:rPr>
              <a:t>s_blocks_count</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sb</a:t>
            </a:r>
            <a:r>
              <a:rPr lang="en-CA" sz="1600" dirty="0" smtClean="0">
                <a:latin typeface="Courier New" panose="02070309020205020404" pitchFamily="49" charset="0"/>
                <a:cs typeface="Courier New" panose="02070309020205020404" pitchFamily="49" charset="0"/>
              </a:rPr>
              <a:t>-&gt;</a:t>
            </a:r>
            <a:r>
              <a:rPr lang="en-CA" sz="1600" dirty="0" err="1" smtClean="0">
                <a:latin typeface="Courier New" panose="02070309020205020404" pitchFamily="49" charset="0"/>
                <a:cs typeface="Courier New" panose="02070309020205020404" pitchFamily="49" charset="0"/>
              </a:rPr>
              <a:t>s_blocks_per_group</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600" dirty="0">
                <a:latin typeface="Courier New" panose="02070309020205020404" pitchFamily="49" charset="0"/>
                <a:cs typeface="Courier New" panose="02070309020205020404" pitchFamily="49" charset="0"/>
              </a:rPr>
              <a:t> </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bg_nblks</a:t>
            </a:r>
            <a:r>
              <a:rPr lang="en-CA" sz="1600" dirty="0" smtClean="0">
                <a:latin typeface="Courier New" panose="02070309020205020404" pitchFamily="49" charset="0"/>
                <a:cs typeface="Courier New" panose="02070309020205020404" pitchFamily="49" charset="0"/>
              </a:rPr>
              <a:t> </a:t>
            </a:r>
            <a:r>
              <a:rPr lang="en-CA" sz="1600" dirty="0">
                <a:latin typeface="Courier New" panose="02070309020205020404" pitchFamily="49" charset="0"/>
                <a:cs typeface="Courier New" panose="02070309020205020404" pitchFamily="49" charset="0"/>
              </a:rPr>
              <a:t>= </a:t>
            </a:r>
            <a:r>
              <a:rPr lang="en-CA" sz="1600" dirty="0" smtClean="0">
                <a:latin typeface="Courier New" panose="02070309020205020404" pitchFamily="49" charset="0"/>
                <a:cs typeface="Courier New" panose="02070309020205020404" pitchFamily="49" charset="0"/>
              </a:rPr>
              <a:t>ceil(</a:t>
            </a:r>
            <a:r>
              <a:rPr lang="en-CA" sz="1600" dirty="0" err="1" smtClean="0">
                <a:latin typeface="Courier New" panose="02070309020205020404" pitchFamily="49" charset="0"/>
                <a:cs typeface="Courier New" panose="02070309020205020404" pitchFamily="49" charset="0"/>
              </a:rPr>
              <a:t>bg_ngrps</a:t>
            </a:r>
            <a:r>
              <a:rPr lang="en-CA" sz="1600" dirty="0" smtClean="0">
                <a:latin typeface="Courier New" panose="02070309020205020404" pitchFamily="49" charset="0"/>
                <a:cs typeface="Courier New" panose="02070309020205020404" pitchFamily="49" charset="0"/>
              </a:rPr>
              <a:t>*</a:t>
            </a:r>
            <a:r>
              <a:rPr lang="en-CA" sz="1600" dirty="0" err="1" smtClean="0">
                <a:latin typeface="Courier New" panose="02070309020205020404" pitchFamily="49" charset="0"/>
                <a:cs typeface="Courier New" panose="02070309020205020404" pitchFamily="49" charset="0"/>
              </a:rPr>
              <a:t>sizeof</a:t>
            </a:r>
            <a:r>
              <a:rPr lang="en-CA" sz="1600" dirty="0" smtClean="0">
                <a:latin typeface="Courier New" panose="02070309020205020404" pitchFamily="49" charset="0"/>
                <a:cs typeface="Courier New" panose="02070309020205020404" pitchFamily="49" charset="0"/>
              </a:rPr>
              <a:t>(</a:t>
            </a:r>
            <a:r>
              <a:rPr lang="en-CA" sz="1600" dirty="0" err="1" smtClean="0">
                <a:solidFill>
                  <a:schemeClr val="accent6">
                    <a:lumMod val="75000"/>
                  </a:schemeClr>
                </a:solidFill>
                <a:latin typeface="Courier New" panose="02070309020205020404" pitchFamily="49" charset="0"/>
                <a:cs typeface="Courier New" panose="02070309020205020404" pitchFamily="49" charset="0"/>
              </a:rPr>
              <a:t>struct</a:t>
            </a:r>
            <a:r>
              <a:rPr lang="en-CA" sz="1600" dirty="0" smtClean="0">
                <a:latin typeface="Courier New" panose="02070309020205020404" pitchFamily="49" charset="0"/>
                <a:cs typeface="Courier New" panose="02070309020205020404" pitchFamily="49" charset="0"/>
              </a:rPr>
              <a:t> ext4_group_desc), </a:t>
            </a:r>
            <a:r>
              <a:rPr lang="en-CA" sz="1600" dirty="0" err="1">
                <a:latin typeface="Courier New" panose="02070309020205020404" pitchFamily="49" charset="0"/>
                <a:cs typeface="Courier New" panose="02070309020205020404" pitchFamily="49" charset="0"/>
              </a:rPr>
              <a:t>blk_size</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Font typeface="Wingdings 3" panose="05040102010807070707" pitchFamily="18" charset="2"/>
              <a:buNone/>
            </a:pPr>
            <a:r>
              <a:rPr lang="en-CA" sz="1600" dirty="0" smtClean="0">
                <a:solidFill>
                  <a:srgbClr val="00B050"/>
                </a:solidFill>
                <a:latin typeface="Courier New" panose="02070309020205020404" pitchFamily="49" charset="0"/>
                <a:cs typeface="Courier New" panose="02070309020205020404" pitchFamily="49" charset="0"/>
              </a:rPr>
              <a:t>  /* read all of the block group descriptors into memory */</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r>
              <a:rPr lang="en-CA" sz="1600" dirty="0" err="1" smtClean="0">
                <a:solidFill>
                  <a:schemeClr val="accent6">
                    <a:lumMod val="75000"/>
                  </a:schemeClr>
                </a:solidFill>
                <a:latin typeface="Courier New" panose="02070309020205020404" pitchFamily="49" charset="0"/>
                <a:cs typeface="Courier New" panose="02070309020205020404" pitchFamily="49" charset="0"/>
              </a:rPr>
              <a:t>struct</a:t>
            </a:r>
            <a:r>
              <a:rPr lang="en-CA" sz="1600" dirty="0" smtClean="0">
                <a:latin typeface="Courier New" panose="02070309020205020404" pitchFamily="49" charset="0"/>
                <a:cs typeface="Courier New" panose="02070309020205020404" pitchFamily="49" charset="0"/>
              </a:rPr>
              <a:t> ext4_group_desc * </a:t>
            </a:r>
            <a:r>
              <a:rPr lang="en-CA" sz="1600" dirty="0" err="1" smtClean="0">
                <a:latin typeface="Courier New" panose="02070309020205020404" pitchFamily="49" charset="0"/>
                <a:cs typeface="Courier New" panose="02070309020205020404" pitchFamily="49" charset="0"/>
              </a:rPr>
              <a:t>gd</a:t>
            </a:r>
            <a:r>
              <a:rPr lang="en-CA" sz="1600" dirty="0" smtClean="0">
                <a:latin typeface="Courier New" panose="02070309020205020404" pitchFamily="49" charset="0"/>
                <a:cs typeface="Courier New" panose="02070309020205020404" pitchFamily="49" charset="0"/>
              </a:rPr>
              <a:t> = </a:t>
            </a:r>
            <a:r>
              <a:rPr lang="en-CA" sz="1600" dirty="0" err="1" smtClean="0">
                <a:latin typeface="Courier New" panose="02070309020205020404" pitchFamily="49" charset="0"/>
                <a:cs typeface="Courier New" panose="02070309020205020404" pitchFamily="49" charset="0"/>
              </a:rPr>
              <a:t>dev.read_block</a:t>
            </a:r>
            <a:r>
              <a:rPr lang="en-CA" sz="1600" dirty="0" smtClean="0">
                <a:latin typeface="Courier New" panose="02070309020205020404" pitchFamily="49" charset="0"/>
                <a:cs typeface="Courier New" panose="02070309020205020404" pitchFamily="49" charset="0"/>
              </a:rPr>
              <a:t>(</a:t>
            </a:r>
            <a:r>
              <a:rPr lang="en-CA" sz="1600" dirty="0" err="1" smtClean="0">
                <a:latin typeface="Courier New" panose="02070309020205020404" pitchFamily="49" charset="0"/>
                <a:cs typeface="Courier New" panose="02070309020205020404" pitchFamily="49" charset="0"/>
              </a:rPr>
              <a:t>bg_blknr</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bg_nblks</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600" dirty="0" smtClean="0">
                <a:latin typeface="Courier New" panose="02070309020205020404" pitchFamily="49" charset="0"/>
                <a:cs typeface="Courier New" panose="02070309020205020404" pitchFamily="49" charset="0"/>
              </a:rPr>
              <a:t>  for (</a:t>
            </a:r>
            <a:r>
              <a:rPr lang="en-CA" sz="1600" dirty="0" err="1" smtClean="0">
                <a:solidFill>
                  <a:schemeClr val="accent6">
                    <a:lumMod val="75000"/>
                  </a:schemeClr>
                </a:solidFill>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i</a:t>
            </a:r>
            <a:r>
              <a:rPr lang="en-CA" sz="1600" dirty="0" smtClean="0">
                <a:latin typeface="Courier New" panose="02070309020205020404" pitchFamily="49" charset="0"/>
                <a:cs typeface="Courier New" panose="02070309020205020404" pitchFamily="49" charset="0"/>
              </a:rPr>
              <a:t> = </a:t>
            </a:r>
            <a:r>
              <a:rPr lang="en-CA" sz="1600" dirty="0" smtClean="0">
                <a:solidFill>
                  <a:srgbClr val="0070C0"/>
                </a:solidFill>
                <a:latin typeface="Courier New" panose="02070309020205020404" pitchFamily="49" charset="0"/>
                <a:cs typeface="Courier New" panose="02070309020205020404" pitchFamily="49" charset="0"/>
              </a:rPr>
              <a:t>0</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i</a:t>
            </a:r>
            <a:r>
              <a:rPr lang="en-CA" sz="1600" dirty="0" smtClean="0">
                <a:latin typeface="Courier New" panose="02070309020205020404" pitchFamily="49" charset="0"/>
                <a:cs typeface="Courier New" panose="02070309020205020404" pitchFamily="49" charset="0"/>
              </a:rPr>
              <a:t> &lt; </a:t>
            </a:r>
            <a:r>
              <a:rPr lang="en-CA" sz="1600" dirty="0" err="1">
                <a:latin typeface="Courier New" panose="02070309020205020404" pitchFamily="49" charset="0"/>
                <a:cs typeface="Courier New" panose="02070309020205020404" pitchFamily="49" charset="0"/>
              </a:rPr>
              <a:t>bg_ngrps</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i</a:t>
            </a:r>
            <a:r>
              <a:rPr lang="en-CA" sz="1600" dirty="0" smtClean="0">
                <a:latin typeface="Courier New" panose="02070309020205020404" pitchFamily="49" charset="0"/>
                <a:cs typeface="Courier New" panose="02070309020205020404" pitchFamily="49" charset="0"/>
              </a:rPr>
              <a:t>) {</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r>
              <a:rPr lang="en-CA" sz="1600" dirty="0" smtClean="0">
                <a:solidFill>
                  <a:schemeClr val="accent6">
                    <a:lumMod val="75000"/>
                  </a:schemeClr>
                </a:solidFill>
                <a:latin typeface="Courier New" panose="02070309020205020404" pitchFamily="49" charset="0"/>
                <a:cs typeface="Courier New" panose="02070309020205020404" pitchFamily="49" charset="0"/>
              </a:rPr>
              <a:t>char</a:t>
            </a:r>
            <a:r>
              <a:rPr lang="en-CA" sz="1600" dirty="0" smtClean="0">
                <a:latin typeface="Courier New" panose="02070309020205020404" pitchFamily="49" charset="0"/>
                <a:cs typeface="Courier New" panose="02070309020205020404" pitchFamily="49" charset="0"/>
              </a:rPr>
              <a:t> * </a:t>
            </a:r>
            <a:r>
              <a:rPr lang="en-CA" sz="1600" dirty="0" err="1" smtClean="0">
                <a:latin typeface="Courier New" panose="02070309020205020404" pitchFamily="49" charset="0"/>
                <a:cs typeface="Courier New" panose="02070309020205020404" pitchFamily="49" charset="0"/>
              </a:rPr>
              <a:t>buf</a:t>
            </a:r>
            <a:r>
              <a:rPr lang="en-CA" sz="1600" dirty="0" smtClean="0">
                <a:latin typeface="Courier New" panose="02070309020205020404" pitchFamily="49" charset="0"/>
                <a:cs typeface="Courier New" panose="02070309020205020404" pitchFamily="49" charset="0"/>
              </a:rPr>
              <a:t> = </a:t>
            </a:r>
            <a:r>
              <a:rPr lang="en-CA" sz="1600" dirty="0" err="1" smtClean="0">
                <a:latin typeface="Courier New" panose="02070309020205020404" pitchFamily="49" charset="0"/>
                <a:cs typeface="Courier New" panose="02070309020205020404" pitchFamily="49" charset="0"/>
              </a:rPr>
              <a:t>dev.read_block</a:t>
            </a:r>
            <a:r>
              <a:rPr lang="en-CA" sz="1600" dirty="0" smtClean="0">
                <a:latin typeface="Courier New" panose="02070309020205020404" pitchFamily="49" charset="0"/>
                <a:cs typeface="Courier New" panose="02070309020205020404" pitchFamily="49" charset="0"/>
              </a:rPr>
              <a:t>(</a:t>
            </a:r>
            <a:r>
              <a:rPr lang="en-CA" sz="1600" dirty="0" err="1" smtClean="0">
                <a:latin typeface="Courier New" panose="02070309020205020404" pitchFamily="49" charset="0"/>
                <a:cs typeface="Courier New" panose="02070309020205020404" pitchFamily="49" charset="0"/>
              </a:rPr>
              <a:t>gd</a:t>
            </a:r>
            <a:r>
              <a:rPr lang="en-CA" sz="1600" dirty="0" smtClean="0">
                <a:latin typeface="Courier New" panose="02070309020205020404" pitchFamily="49" charset="0"/>
                <a:cs typeface="Courier New" panose="02070309020205020404" pitchFamily="49" charset="0"/>
              </a:rPr>
              <a:t>[</a:t>
            </a:r>
            <a:r>
              <a:rPr lang="en-CA" sz="1600" dirty="0" err="1" smtClean="0">
                <a:latin typeface="Courier New" panose="02070309020205020404" pitchFamily="49" charset="0"/>
                <a:cs typeface="Courier New" panose="02070309020205020404" pitchFamily="49" charset="0"/>
              </a:rPr>
              <a:t>i</a:t>
            </a:r>
            <a:r>
              <a:rPr lang="en-CA" sz="1600" dirty="0" smtClean="0">
                <a:latin typeface="Courier New" panose="02070309020205020404" pitchFamily="49" charset="0"/>
                <a:cs typeface="Courier New" panose="02070309020205020404" pitchFamily="49" charset="0"/>
              </a:rPr>
              <a:t>]-&gt;</a:t>
            </a:r>
            <a:r>
              <a:rPr lang="en-CA" sz="1600" dirty="0" err="1" smtClean="0">
                <a:latin typeface="Courier New" panose="02070309020205020404" pitchFamily="49" charset="0"/>
                <a:cs typeface="Courier New" panose="02070309020205020404" pitchFamily="49" charset="0"/>
              </a:rPr>
              <a:t>bg_block_bitmap</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r>
              <a:rPr lang="en-CA" sz="1600" dirty="0" err="1" smtClean="0">
                <a:solidFill>
                  <a:schemeClr val="accent6">
                    <a:lumMod val="75000"/>
                  </a:schemeClr>
                </a:solidFill>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ret = </a:t>
            </a:r>
            <a:r>
              <a:rPr lang="en-CA" sz="1600" dirty="0" err="1" smtClean="0">
                <a:latin typeface="Courier New" panose="02070309020205020404" pitchFamily="49" charset="0"/>
                <a:cs typeface="Courier New" panose="02070309020205020404" pitchFamily="49" charset="0"/>
              </a:rPr>
              <a:t>process_block_bitmap</a:t>
            </a:r>
            <a:r>
              <a:rPr lang="en-CA" sz="1600" dirty="0" smtClean="0">
                <a:latin typeface="Courier New" panose="02070309020205020404" pitchFamily="49" charset="0"/>
                <a:cs typeface="Courier New" panose="02070309020205020404" pitchFamily="49" charset="0"/>
              </a:rPr>
              <a:t>(</a:t>
            </a:r>
            <a:r>
              <a:rPr lang="en-CA" sz="1600" dirty="0" err="1" smtClean="0">
                <a:latin typeface="Courier New" panose="02070309020205020404" pitchFamily="49" charset="0"/>
                <a:cs typeface="Courier New" panose="02070309020205020404" pitchFamily="49" charset="0"/>
              </a:rPr>
              <a:t>vec</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buf</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p>
          <a:p>
            <a:pPr marL="0" indent="0">
              <a:lnSpc>
                <a:spcPts val="2000"/>
              </a:lnSpc>
              <a:spcBef>
                <a:spcPts val="0"/>
              </a:spcBef>
              <a:spcAft>
                <a:spcPts val="0"/>
              </a:spcAft>
              <a:buFont typeface="Wingdings 3" panose="05040102010807070707" pitchFamily="18" charset="2"/>
              <a:buNone/>
            </a:pPr>
            <a:r>
              <a:rPr lang="en-CA" sz="1600" dirty="0">
                <a:latin typeface="Courier New" panose="02070309020205020404" pitchFamily="49" charset="0"/>
                <a:cs typeface="Courier New" panose="02070309020205020404" pitchFamily="49" charset="0"/>
              </a:rPr>
              <a:t> </a:t>
            </a:r>
            <a:r>
              <a:rPr lang="en-CA" sz="1600" dirty="0" smtClean="0">
                <a:latin typeface="Courier New" panose="02070309020205020404" pitchFamily="49" charset="0"/>
                <a:cs typeface="Courier New" panose="02070309020205020404" pitchFamily="49" charset="0"/>
              </a:rPr>
              <a:t> …</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a:t>
            </a:r>
          </a:p>
        </p:txBody>
      </p:sp>
      <p:sp>
        <p:nvSpPr>
          <p:cNvPr id="5" name="Title 4"/>
          <p:cNvSpPr>
            <a:spLocks noGrp="1"/>
          </p:cNvSpPr>
          <p:nvPr>
            <p:ph type="title"/>
          </p:nvPr>
        </p:nvSpPr>
        <p:spPr/>
        <p:txBody>
          <a:bodyPr/>
          <a:lstStyle/>
          <a:p>
            <a:r>
              <a:rPr lang="en-CA" dirty="0" smtClean="0"/>
              <a:t>Coding Style Comparison</a:t>
            </a:r>
            <a:endParaRPr lang="en-CA" dirty="0"/>
          </a:p>
        </p:txBody>
      </p:sp>
      <p:sp>
        <p:nvSpPr>
          <p:cNvPr id="2" name="Rectangle 1"/>
          <p:cNvSpPr/>
          <p:nvPr/>
        </p:nvSpPr>
        <p:spPr>
          <a:xfrm>
            <a:off x="1159871" y="2319368"/>
            <a:ext cx="6956981" cy="1159328"/>
          </a:xfrm>
          <a:prstGeom prst="rect">
            <a:avLst/>
          </a:prstGeom>
          <a:solidFill>
            <a:schemeClr val="tx1">
              <a:alpha val="0"/>
            </a:schemeClr>
          </a:solidFill>
          <a:ln w="38100">
            <a:solidFill>
              <a:srgbClr val="FFFF00"/>
            </a:solidFill>
          </a:ln>
          <a:effectLst>
            <a:glow rad="101600">
              <a:srgbClr val="FFFF00">
                <a:alpha val="40000"/>
              </a:srgb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9" name="TextBox 8"/>
          <p:cNvSpPr txBox="1"/>
          <p:nvPr/>
        </p:nvSpPr>
        <p:spPr>
          <a:xfrm>
            <a:off x="8467095" y="2288300"/>
            <a:ext cx="2895003" cy="707886"/>
          </a:xfrm>
          <a:prstGeom prst="rect">
            <a:avLst/>
          </a:prstGeom>
          <a:noFill/>
        </p:spPr>
        <p:txBody>
          <a:bodyPr wrap="square" rtlCol="0">
            <a:spAutoFit/>
          </a:bodyPr>
          <a:lstStyle/>
          <a:p>
            <a:pPr>
              <a:lnSpc>
                <a:spcPts val="2400"/>
              </a:lnSpc>
              <a:spcBef>
                <a:spcPts val="600"/>
              </a:spcBef>
            </a:pPr>
            <a:r>
              <a:rPr lang="en-CA" dirty="0" smtClean="0">
                <a:solidFill>
                  <a:schemeClr val="bg1"/>
                </a:solidFill>
              </a:rPr>
              <a:t>Calculate block size</a:t>
            </a:r>
            <a:br>
              <a:rPr lang="en-CA" dirty="0" smtClean="0">
                <a:solidFill>
                  <a:schemeClr val="bg1"/>
                </a:solidFill>
              </a:rPr>
            </a:br>
            <a:r>
              <a:rPr lang="en-CA" dirty="0" smtClean="0">
                <a:solidFill>
                  <a:schemeClr val="bg1"/>
                </a:solidFill>
              </a:rPr>
              <a:t>from field in super block</a:t>
            </a:r>
            <a:endParaRPr lang="en-CA" dirty="0">
              <a:solidFill>
                <a:schemeClr val="bg1"/>
              </a:solidFill>
            </a:endParaRPr>
          </a:p>
        </p:txBody>
      </p:sp>
      <p:cxnSp>
        <p:nvCxnSpPr>
          <p:cNvPr id="12" name="Straight Arrow Connector 11"/>
          <p:cNvCxnSpPr/>
          <p:nvPr/>
        </p:nvCxnSpPr>
        <p:spPr>
          <a:xfrm rot="10800000" flipV="1">
            <a:off x="6808305" y="2481494"/>
            <a:ext cx="1668973" cy="540000"/>
          </a:xfrm>
          <a:prstGeom prst="bentConnector3">
            <a:avLst>
              <a:gd name="adj1" fmla="val 14269"/>
            </a:avLst>
          </a:prstGeom>
          <a:ln w="38100">
            <a:solidFill>
              <a:srgbClr val="FF0000">
                <a:alpha val="70000"/>
              </a:srgbClr>
            </a:solidFill>
            <a:tailEnd type="triangle"/>
          </a:ln>
        </p:spPr>
        <p:style>
          <a:lnRef idx="1">
            <a:schemeClr val="accent1"/>
          </a:lnRef>
          <a:fillRef idx="0">
            <a:schemeClr val="accent1"/>
          </a:fillRef>
          <a:effectRef idx="0">
            <a:schemeClr val="accent1"/>
          </a:effectRef>
          <a:fontRef idx="minor">
            <a:schemeClr val="tx1"/>
          </a:fontRef>
        </p:style>
      </p:cxnSp>
      <p:sp>
        <p:nvSpPr>
          <p:cNvPr id="15" name="Content Placeholder 9"/>
          <p:cNvSpPr txBox="1">
            <a:spLocks/>
          </p:cNvSpPr>
          <p:nvPr/>
        </p:nvSpPr>
        <p:spPr>
          <a:xfrm>
            <a:off x="684211" y="1515358"/>
            <a:ext cx="10285797" cy="1124147"/>
          </a:xfrm>
          <a:prstGeom prst="rect">
            <a:avLst/>
          </a:prstGeom>
        </p:spPr>
        <p:txBody>
          <a:bodyPr vert="horz" lIns="91440" tIns="45720" rIns="91440" bIns="45720" rtlCol="0" anchor="t">
            <a:norm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r>
              <a:rPr lang="en-CA" dirty="0" smtClean="0"/>
              <a:t>Manual, Ad-hoc processing</a:t>
            </a:r>
            <a:endParaRPr lang="en-CA" dirty="0"/>
          </a:p>
        </p:txBody>
      </p:sp>
      <p:sp>
        <p:nvSpPr>
          <p:cNvPr id="20" name="Slide Number Placeholder 19"/>
          <p:cNvSpPr>
            <a:spLocks noGrp="1"/>
          </p:cNvSpPr>
          <p:nvPr>
            <p:ph type="sldNum" sz="quarter" idx="12"/>
          </p:nvPr>
        </p:nvSpPr>
        <p:spPr/>
        <p:txBody>
          <a:bodyPr/>
          <a:lstStyle/>
          <a:p>
            <a:fld id="{7B2023C8-B124-43A9-8F92-0EEF5BAA9995}" type="slidenum">
              <a:rPr lang="en-CA" smtClean="0"/>
              <a:pPr/>
              <a:t>22</a:t>
            </a:fld>
            <a:endParaRPr lang="en-CA" dirty="0"/>
          </a:p>
        </p:txBody>
      </p:sp>
    </p:spTree>
    <p:extLst>
      <p:ext uri="{BB962C8B-B14F-4D97-AF65-F5344CB8AC3E}">
        <p14:creationId xmlns:p14="http://schemas.microsoft.com/office/powerpoint/2010/main" val="181048239"/>
      </p:ext>
    </p:extLst>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Content Placeholder 6"/>
          <p:cNvSpPr txBox="1">
            <a:spLocks/>
          </p:cNvSpPr>
          <p:nvPr/>
        </p:nvSpPr>
        <p:spPr>
          <a:xfrm>
            <a:off x="951929" y="2073898"/>
            <a:ext cx="10285797" cy="4784102"/>
          </a:xfrm>
          <a:prstGeom prst="rect">
            <a:avLst/>
          </a:prstGeom>
        </p:spPr>
        <p:txBody>
          <a:bodyPr vert="horz" lIns="91440" tIns="45720" rIns="91440" bIns="45720" rtlCol="0" anchor="t">
            <a:norm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pPr marL="0" indent="0">
              <a:lnSpc>
                <a:spcPts val="2000"/>
              </a:lnSpc>
              <a:spcBef>
                <a:spcPts val="0"/>
              </a:spcBef>
              <a:spcAft>
                <a:spcPts val="0"/>
              </a:spcAft>
              <a:buFont typeface="Wingdings 3" panose="05040102010807070707" pitchFamily="18" charset="2"/>
              <a:buNone/>
            </a:pPr>
            <a:r>
              <a:rPr lang="en-CA" sz="1600" dirty="0" err="1" smtClean="0">
                <a:solidFill>
                  <a:schemeClr val="accent6">
                    <a:lumMod val="75000"/>
                  </a:schemeClr>
                </a:solidFill>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a:t>
            </a:r>
            <a:r>
              <a:rPr lang="en-CA" sz="1600" b="1" dirty="0" smtClean="0">
                <a:latin typeface="Courier New" panose="02070309020205020404" pitchFamily="49" charset="0"/>
                <a:cs typeface="Courier New" panose="02070309020205020404" pitchFamily="49" charset="0"/>
              </a:rPr>
              <a:t>process_ext4</a:t>
            </a:r>
            <a:r>
              <a:rPr lang="en-CA" sz="1600" dirty="0" smtClean="0">
                <a:latin typeface="Courier New" panose="02070309020205020404" pitchFamily="49" charset="0"/>
                <a:cs typeface="Courier New" panose="02070309020205020404" pitchFamily="49" charset="0"/>
              </a:rPr>
              <a:t>(vector&lt;Extent&gt; &amp; </a:t>
            </a:r>
            <a:r>
              <a:rPr lang="en-CA" sz="1600" dirty="0" err="1" smtClean="0">
                <a:latin typeface="Courier New" panose="02070309020205020404" pitchFamily="49" charset="0"/>
                <a:cs typeface="Courier New" panose="02070309020205020404" pitchFamily="49" charset="0"/>
              </a:rPr>
              <a:t>vec</a:t>
            </a:r>
            <a:r>
              <a:rPr lang="en-CA" sz="1600" dirty="0" smtClean="0">
                <a:latin typeface="Courier New" panose="02070309020205020404" pitchFamily="49" charset="0"/>
                <a:cs typeface="Courier New" panose="02070309020205020404" pitchFamily="49" charset="0"/>
              </a:rPr>
              <a:t>, Device &amp; dev) {</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r>
              <a:rPr lang="en-CA" sz="1600" dirty="0" smtClean="0">
                <a:solidFill>
                  <a:srgbClr val="00B050"/>
                </a:solidFill>
                <a:latin typeface="Courier New" panose="02070309020205020404" pitchFamily="49" charset="0"/>
                <a:cs typeface="Courier New" panose="02070309020205020404" pitchFamily="49" charset="0"/>
              </a:rPr>
              <a:t>/* ext4 super block is 1024 bytes away from start */</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r>
              <a:rPr lang="en-CA" sz="1600" dirty="0" err="1" smtClean="0">
                <a:solidFill>
                  <a:schemeClr val="accent6">
                    <a:lumMod val="75000"/>
                  </a:schemeClr>
                </a:solidFill>
                <a:latin typeface="Courier New" panose="02070309020205020404" pitchFamily="49" charset="0"/>
                <a:cs typeface="Courier New" panose="02070309020205020404" pitchFamily="49" charset="0"/>
              </a:rPr>
              <a:t>struct</a:t>
            </a:r>
            <a:r>
              <a:rPr lang="en-CA" sz="1600" dirty="0" smtClean="0">
                <a:latin typeface="Courier New" panose="02070309020205020404" pitchFamily="49" charset="0"/>
                <a:cs typeface="Courier New" panose="02070309020205020404" pitchFamily="49" charset="0"/>
              </a:rPr>
              <a:t> ext4_super_block * </a:t>
            </a:r>
            <a:r>
              <a:rPr lang="en-CA" sz="1600" dirty="0" err="1" smtClean="0">
                <a:latin typeface="Courier New" panose="02070309020205020404" pitchFamily="49" charset="0"/>
                <a:cs typeface="Courier New" panose="02070309020205020404" pitchFamily="49" charset="0"/>
              </a:rPr>
              <a:t>sb</a:t>
            </a:r>
            <a:r>
              <a:rPr lang="en-CA" sz="1600" dirty="0" smtClean="0">
                <a:latin typeface="Courier New" panose="02070309020205020404" pitchFamily="49" charset="0"/>
                <a:cs typeface="Courier New" panose="02070309020205020404" pitchFamily="49" charset="0"/>
              </a:rPr>
              <a:t> = </a:t>
            </a:r>
            <a:r>
              <a:rPr lang="en-CA" sz="1600" dirty="0" err="1" smtClean="0">
                <a:latin typeface="Courier New" panose="02070309020205020404" pitchFamily="49" charset="0"/>
                <a:cs typeface="Courier New" panose="02070309020205020404" pitchFamily="49" charset="0"/>
              </a:rPr>
              <a:t>dev.read</a:t>
            </a:r>
            <a:r>
              <a:rPr lang="en-CA" sz="1600" dirty="0" smtClean="0">
                <a:latin typeface="Courier New" panose="02070309020205020404" pitchFamily="49" charset="0"/>
                <a:cs typeface="Courier New" panose="02070309020205020404" pitchFamily="49" charset="0"/>
              </a:rPr>
              <a:t>(</a:t>
            </a:r>
            <a:r>
              <a:rPr lang="en-CA" sz="1600" dirty="0" smtClean="0">
                <a:solidFill>
                  <a:srgbClr val="0070C0"/>
                </a:solidFill>
                <a:latin typeface="Courier New" panose="02070309020205020404" pitchFamily="49" charset="0"/>
                <a:cs typeface="Courier New" panose="02070309020205020404" pitchFamily="49" charset="0"/>
              </a:rPr>
              <a:t>1024</a:t>
            </a:r>
            <a:r>
              <a:rPr lang="en-CA" sz="1600" dirty="0" smtClean="0">
                <a:latin typeface="Courier New" panose="02070309020205020404" pitchFamily="49" charset="0"/>
                <a:cs typeface="Courier New" panose="02070309020205020404" pitchFamily="49" charset="0"/>
              </a:rPr>
              <a:t>, SB_SIZE);</a:t>
            </a:r>
          </a:p>
          <a:p>
            <a:pPr marL="0" indent="0">
              <a:lnSpc>
                <a:spcPts val="2000"/>
              </a:lnSpc>
              <a:spcBef>
                <a:spcPts val="0"/>
              </a:spcBef>
              <a:spcAft>
                <a:spcPts val="0"/>
              </a:spcAft>
              <a:buNone/>
            </a:pPr>
            <a:r>
              <a:rPr lang="en-CA" sz="1600" dirty="0">
                <a:latin typeface="Courier New" panose="02070309020205020404" pitchFamily="49" charset="0"/>
                <a:cs typeface="Courier New" panose="02070309020205020404" pitchFamily="49" charset="0"/>
              </a:rPr>
              <a:t> </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blk_size</a:t>
            </a:r>
            <a:r>
              <a:rPr lang="en-CA" sz="1600" dirty="0" smtClean="0">
                <a:latin typeface="Courier New" panose="02070309020205020404" pitchFamily="49" charset="0"/>
                <a:cs typeface="Courier New" panose="02070309020205020404" pitchFamily="49" charset="0"/>
              </a:rPr>
              <a:t> = </a:t>
            </a:r>
            <a:r>
              <a:rPr lang="en-CA" sz="1600" dirty="0">
                <a:solidFill>
                  <a:srgbClr val="0070C0"/>
                </a:solidFill>
                <a:latin typeface="Courier New" panose="02070309020205020404" pitchFamily="49" charset="0"/>
                <a:cs typeface="Courier New" panose="02070309020205020404" pitchFamily="49" charset="0"/>
              </a:rPr>
              <a:t>1024</a:t>
            </a:r>
            <a:r>
              <a:rPr lang="en-CA" sz="1600" dirty="0">
                <a:latin typeface="Courier New" panose="02070309020205020404" pitchFamily="49" charset="0"/>
                <a:cs typeface="Courier New" panose="02070309020205020404" pitchFamily="49" charset="0"/>
              </a:rPr>
              <a:t> &lt;&lt; </a:t>
            </a:r>
            <a:r>
              <a:rPr lang="en-CA" sz="1600" dirty="0" err="1">
                <a:latin typeface="Courier New" panose="02070309020205020404" pitchFamily="49" charset="0"/>
                <a:cs typeface="Courier New" panose="02070309020205020404" pitchFamily="49" charset="0"/>
              </a:rPr>
              <a:t>sb</a:t>
            </a:r>
            <a:r>
              <a:rPr lang="en-CA" sz="1600" dirty="0">
                <a:latin typeface="Courier New" panose="02070309020205020404" pitchFamily="49" charset="0"/>
                <a:cs typeface="Courier New" panose="02070309020205020404" pitchFamily="49" charset="0"/>
              </a:rPr>
              <a:t>-&gt;</a:t>
            </a:r>
            <a:r>
              <a:rPr lang="en-CA" sz="1600" dirty="0" err="1" smtClean="0">
                <a:latin typeface="Courier New" panose="02070309020205020404" pitchFamily="49" charset="0"/>
                <a:cs typeface="Courier New" panose="02070309020205020404" pitchFamily="49" charset="0"/>
              </a:rPr>
              <a:t>s_log_block_size</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dev.set_block_size</a:t>
            </a:r>
            <a:r>
              <a:rPr lang="en-CA" sz="1600" dirty="0" smtClean="0">
                <a:latin typeface="Courier New" panose="02070309020205020404" pitchFamily="49" charset="0"/>
                <a:cs typeface="Courier New" panose="02070309020205020404" pitchFamily="49" charset="0"/>
              </a:rPr>
              <a:t>(</a:t>
            </a:r>
            <a:r>
              <a:rPr lang="en-CA" sz="1600" dirty="0" err="1" smtClean="0">
                <a:latin typeface="Courier New" panose="02070309020205020404" pitchFamily="49" charset="0"/>
                <a:cs typeface="Courier New" panose="02070309020205020404" pitchFamily="49" charset="0"/>
              </a:rPr>
              <a:t>blk_size</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600" dirty="0" smtClean="0">
                <a:solidFill>
                  <a:srgbClr val="00B050"/>
                </a:solidFill>
                <a:latin typeface="Courier New" panose="02070309020205020404" pitchFamily="49" charset="0"/>
                <a:cs typeface="Courier New" panose="02070309020205020404" pitchFamily="49" charset="0"/>
              </a:rPr>
              <a:t>  /* </a:t>
            </a:r>
            <a:r>
              <a:rPr lang="en-CA" sz="1600" dirty="0">
                <a:solidFill>
                  <a:srgbClr val="00B050"/>
                </a:solidFill>
                <a:latin typeface="Courier New" panose="02070309020205020404" pitchFamily="49" charset="0"/>
                <a:cs typeface="Courier New" panose="02070309020205020404" pitchFamily="49" charset="0"/>
              </a:rPr>
              <a:t>block group descriptors start at block 2 or 1 </a:t>
            </a:r>
            <a:r>
              <a:rPr lang="en-CA" sz="1600" dirty="0" smtClean="0">
                <a:solidFill>
                  <a:srgbClr val="00B050"/>
                </a:solidFill>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r>
              <a:rPr lang="en-CA" sz="1600" dirty="0" err="1" smtClean="0">
                <a:solidFill>
                  <a:schemeClr val="accent6">
                    <a:lumMod val="75000"/>
                  </a:schemeClr>
                </a:solidFill>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bg_blknr</a:t>
            </a:r>
            <a:r>
              <a:rPr lang="en-CA" sz="1600" dirty="0" smtClean="0">
                <a:latin typeface="Courier New" panose="02070309020205020404" pitchFamily="49" charset="0"/>
                <a:cs typeface="Courier New" panose="02070309020205020404" pitchFamily="49" charset="0"/>
              </a:rPr>
              <a:t> = (</a:t>
            </a:r>
            <a:r>
              <a:rPr lang="en-CA" sz="1600" dirty="0" err="1" smtClean="0">
                <a:latin typeface="Courier New" panose="02070309020205020404" pitchFamily="49" charset="0"/>
                <a:cs typeface="Courier New" panose="02070309020205020404" pitchFamily="49" charset="0"/>
              </a:rPr>
              <a:t>sb</a:t>
            </a:r>
            <a:r>
              <a:rPr lang="en-CA" sz="1600" dirty="0" smtClean="0">
                <a:latin typeface="Courier New" panose="02070309020205020404" pitchFamily="49" charset="0"/>
                <a:cs typeface="Courier New" panose="02070309020205020404" pitchFamily="49" charset="0"/>
              </a:rPr>
              <a:t>-&gt;</a:t>
            </a:r>
            <a:r>
              <a:rPr lang="en-CA" sz="1600" dirty="0" err="1" smtClean="0">
                <a:latin typeface="Courier New" panose="02070309020205020404" pitchFamily="49" charset="0"/>
                <a:cs typeface="Courier New" panose="02070309020205020404" pitchFamily="49" charset="0"/>
              </a:rPr>
              <a:t>s_log_block_size</a:t>
            </a:r>
            <a:r>
              <a:rPr lang="en-CA" sz="1600" dirty="0" smtClean="0">
                <a:latin typeface="Courier New" panose="02070309020205020404" pitchFamily="49" charset="0"/>
                <a:cs typeface="Courier New" panose="02070309020205020404" pitchFamily="49" charset="0"/>
              </a:rPr>
              <a:t> == </a:t>
            </a:r>
            <a:r>
              <a:rPr lang="en-CA" sz="1600" dirty="0" smtClean="0">
                <a:solidFill>
                  <a:srgbClr val="0070C0"/>
                </a:solidFill>
                <a:latin typeface="Courier New" panose="02070309020205020404" pitchFamily="49" charset="0"/>
                <a:cs typeface="Courier New" panose="02070309020205020404" pitchFamily="49" charset="0"/>
              </a:rPr>
              <a:t>0</a:t>
            </a:r>
            <a:r>
              <a:rPr lang="en-CA" sz="1600" dirty="0" smtClean="0">
                <a:latin typeface="Courier New" panose="02070309020205020404" pitchFamily="49" charset="0"/>
                <a:cs typeface="Courier New" panose="02070309020205020404" pitchFamily="49" charset="0"/>
              </a:rPr>
              <a:t>) </a:t>
            </a:r>
            <a:r>
              <a:rPr lang="en-CA" sz="1600" dirty="0" smtClean="0">
                <a:solidFill>
                  <a:srgbClr val="0070C0"/>
                </a:solidFill>
                <a:latin typeface="Courier New" panose="02070309020205020404" pitchFamily="49" charset="0"/>
                <a:cs typeface="Courier New" panose="02070309020205020404" pitchFamily="49" charset="0"/>
              </a:rPr>
              <a:t>2</a:t>
            </a:r>
            <a:r>
              <a:rPr lang="en-CA" sz="1600" dirty="0" smtClean="0">
                <a:latin typeface="Courier New" panose="02070309020205020404" pitchFamily="49" charset="0"/>
                <a:cs typeface="Courier New" panose="02070309020205020404" pitchFamily="49" charset="0"/>
              </a:rPr>
              <a:t> : </a:t>
            </a:r>
            <a:r>
              <a:rPr lang="en-CA" sz="1600" dirty="0" smtClean="0">
                <a:solidFill>
                  <a:srgbClr val="0070C0"/>
                </a:solidFill>
                <a:latin typeface="Courier New" panose="02070309020205020404" pitchFamily="49" charset="0"/>
                <a:cs typeface="Courier New" panose="02070309020205020404" pitchFamily="49" charset="0"/>
              </a:rPr>
              <a:t>1</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r>
              <a:rPr lang="en-CA" sz="1600" dirty="0" err="1" smtClean="0">
                <a:solidFill>
                  <a:schemeClr val="accent6">
                    <a:lumMod val="75000"/>
                  </a:schemeClr>
                </a:solidFill>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bg_ngrps</a:t>
            </a:r>
            <a:r>
              <a:rPr lang="en-CA" sz="1600" dirty="0" smtClean="0">
                <a:latin typeface="Courier New" panose="02070309020205020404" pitchFamily="49" charset="0"/>
                <a:cs typeface="Courier New" panose="02070309020205020404" pitchFamily="49" charset="0"/>
              </a:rPr>
              <a:t> = ceil(</a:t>
            </a:r>
            <a:r>
              <a:rPr lang="en-CA" sz="1600" dirty="0" err="1" smtClean="0">
                <a:latin typeface="Courier New" panose="02070309020205020404" pitchFamily="49" charset="0"/>
                <a:cs typeface="Courier New" panose="02070309020205020404" pitchFamily="49" charset="0"/>
              </a:rPr>
              <a:t>sb</a:t>
            </a:r>
            <a:r>
              <a:rPr lang="en-CA" sz="1600" dirty="0" smtClean="0">
                <a:latin typeface="Courier New" panose="02070309020205020404" pitchFamily="49" charset="0"/>
                <a:cs typeface="Courier New" panose="02070309020205020404" pitchFamily="49" charset="0"/>
              </a:rPr>
              <a:t>-&gt;</a:t>
            </a:r>
            <a:r>
              <a:rPr lang="en-CA" sz="1600" dirty="0" err="1" smtClean="0">
                <a:latin typeface="Courier New" panose="02070309020205020404" pitchFamily="49" charset="0"/>
                <a:cs typeface="Courier New" panose="02070309020205020404" pitchFamily="49" charset="0"/>
              </a:rPr>
              <a:t>s_blocks_count</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sb</a:t>
            </a:r>
            <a:r>
              <a:rPr lang="en-CA" sz="1600" dirty="0" smtClean="0">
                <a:latin typeface="Courier New" panose="02070309020205020404" pitchFamily="49" charset="0"/>
                <a:cs typeface="Courier New" panose="02070309020205020404" pitchFamily="49" charset="0"/>
              </a:rPr>
              <a:t>-&gt;</a:t>
            </a:r>
            <a:r>
              <a:rPr lang="en-CA" sz="1600" dirty="0" err="1" smtClean="0">
                <a:latin typeface="Courier New" panose="02070309020205020404" pitchFamily="49" charset="0"/>
                <a:cs typeface="Courier New" panose="02070309020205020404" pitchFamily="49" charset="0"/>
              </a:rPr>
              <a:t>s_blocks_per_group</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600" dirty="0">
                <a:latin typeface="Courier New" panose="02070309020205020404" pitchFamily="49" charset="0"/>
                <a:cs typeface="Courier New" panose="02070309020205020404" pitchFamily="49" charset="0"/>
              </a:rPr>
              <a:t> </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bg_nblks</a:t>
            </a:r>
            <a:r>
              <a:rPr lang="en-CA" sz="1600" dirty="0" smtClean="0">
                <a:latin typeface="Courier New" panose="02070309020205020404" pitchFamily="49" charset="0"/>
                <a:cs typeface="Courier New" panose="02070309020205020404" pitchFamily="49" charset="0"/>
              </a:rPr>
              <a:t> </a:t>
            </a:r>
            <a:r>
              <a:rPr lang="en-CA" sz="1600" dirty="0">
                <a:latin typeface="Courier New" panose="02070309020205020404" pitchFamily="49" charset="0"/>
                <a:cs typeface="Courier New" panose="02070309020205020404" pitchFamily="49" charset="0"/>
              </a:rPr>
              <a:t>= </a:t>
            </a:r>
            <a:r>
              <a:rPr lang="en-CA" sz="1600" dirty="0" smtClean="0">
                <a:latin typeface="Courier New" panose="02070309020205020404" pitchFamily="49" charset="0"/>
                <a:cs typeface="Courier New" panose="02070309020205020404" pitchFamily="49" charset="0"/>
              </a:rPr>
              <a:t>ceil(</a:t>
            </a:r>
            <a:r>
              <a:rPr lang="en-CA" sz="1600" dirty="0" err="1" smtClean="0">
                <a:latin typeface="Courier New" panose="02070309020205020404" pitchFamily="49" charset="0"/>
                <a:cs typeface="Courier New" panose="02070309020205020404" pitchFamily="49" charset="0"/>
              </a:rPr>
              <a:t>bg_ngrps</a:t>
            </a:r>
            <a:r>
              <a:rPr lang="en-CA" sz="1600" dirty="0" smtClean="0">
                <a:latin typeface="Courier New" panose="02070309020205020404" pitchFamily="49" charset="0"/>
                <a:cs typeface="Courier New" panose="02070309020205020404" pitchFamily="49" charset="0"/>
              </a:rPr>
              <a:t>*</a:t>
            </a:r>
            <a:r>
              <a:rPr lang="en-CA" sz="1600" dirty="0" err="1" smtClean="0">
                <a:latin typeface="Courier New" panose="02070309020205020404" pitchFamily="49" charset="0"/>
                <a:cs typeface="Courier New" panose="02070309020205020404" pitchFamily="49" charset="0"/>
              </a:rPr>
              <a:t>sizeof</a:t>
            </a:r>
            <a:r>
              <a:rPr lang="en-CA" sz="1600" dirty="0" smtClean="0">
                <a:latin typeface="Courier New" panose="02070309020205020404" pitchFamily="49" charset="0"/>
                <a:cs typeface="Courier New" panose="02070309020205020404" pitchFamily="49" charset="0"/>
              </a:rPr>
              <a:t>(</a:t>
            </a:r>
            <a:r>
              <a:rPr lang="en-CA" sz="1600" dirty="0" err="1" smtClean="0">
                <a:solidFill>
                  <a:schemeClr val="accent6">
                    <a:lumMod val="75000"/>
                  </a:schemeClr>
                </a:solidFill>
                <a:latin typeface="Courier New" panose="02070309020205020404" pitchFamily="49" charset="0"/>
                <a:cs typeface="Courier New" panose="02070309020205020404" pitchFamily="49" charset="0"/>
              </a:rPr>
              <a:t>struct</a:t>
            </a:r>
            <a:r>
              <a:rPr lang="en-CA" sz="1600" dirty="0" smtClean="0">
                <a:latin typeface="Courier New" panose="02070309020205020404" pitchFamily="49" charset="0"/>
                <a:cs typeface="Courier New" panose="02070309020205020404" pitchFamily="49" charset="0"/>
              </a:rPr>
              <a:t> ext4_group_desc), </a:t>
            </a:r>
            <a:r>
              <a:rPr lang="en-CA" sz="1600" dirty="0" err="1">
                <a:latin typeface="Courier New" panose="02070309020205020404" pitchFamily="49" charset="0"/>
                <a:cs typeface="Courier New" panose="02070309020205020404" pitchFamily="49" charset="0"/>
              </a:rPr>
              <a:t>blk_size</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Font typeface="Wingdings 3" panose="05040102010807070707" pitchFamily="18" charset="2"/>
              <a:buNone/>
            </a:pPr>
            <a:r>
              <a:rPr lang="en-CA" sz="1600" dirty="0" smtClean="0">
                <a:solidFill>
                  <a:srgbClr val="00B050"/>
                </a:solidFill>
                <a:latin typeface="Courier New" panose="02070309020205020404" pitchFamily="49" charset="0"/>
                <a:cs typeface="Courier New" panose="02070309020205020404" pitchFamily="49" charset="0"/>
              </a:rPr>
              <a:t>  /* read all of the block group descriptors into memory */</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r>
              <a:rPr lang="en-CA" sz="1600" dirty="0" err="1" smtClean="0">
                <a:solidFill>
                  <a:schemeClr val="accent6">
                    <a:lumMod val="75000"/>
                  </a:schemeClr>
                </a:solidFill>
                <a:latin typeface="Courier New" panose="02070309020205020404" pitchFamily="49" charset="0"/>
                <a:cs typeface="Courier New" panose="02070309020205020404" pitchFamily="49" charset="0"/>
              </a:rPr>
              <a:t>struct</a:t>
            </a:r>
            <a:r>
              <a:rPr lang="en-CA" sz="1600" dirty="0" smtClean="0">
                <a:latin typeface="Courier New" panose="02070309020205020404" pitchFamily="49" charset="0"/>
                <a:cs typeface="Courier New" panose="02070309020205020404" pitchFamily="49" charset="0"/>
              </a:rPr>
              <a:t> ext4_group_desc * </a:t>
            </a:r>
            <a:r>
              <a:rPr lang="en-CA" sz="1600" dirty="0" err="1" smtClean="0">
                <a:latin typeface="Courier New" panose="02070309020205020404" pitchFamily="49" charset="0"/>
                <a:cs typeface="Courier New" panose="02070309020205020404" pitchFamily="49" charset="0"/>
              </a:rPr>
              <a:t>gd</a:t>
            </a:r>
            <a:r>
              <a:rPr lang="en-CA" sz="1600" dirty="0" smtClean="0">
                <a:latin typeface="Courier New" panose="02070309020205020404" pitchFamily="49" charset="0"/>
                <a:cs typeface="Courier New" panose="02070309020205020404" pitchFamily="49" charset="0"/>
              </a:rPr>
              <a:t> = </a:t>
            </a:r>
            <a:r>
              <a:rPr lang="en-CA" sz="1600" dirty="0" err="1" smtClean="0">
                <a:latin typeface="Courier New" panose="02070309020205020404" pitchFamily="49" charset="0"/>
                <a:cs typeface="Courier New" panose="02070309020205020404" pitchFamily="49" charset="0"/>
              </a:rPr>
              <a:t>dev.read_block</a:t>
            </a:r>
            <a:r>
              <a:rPr lang="en-CA" sz="1600" dirty="0" smtClean="0">
                <a:latin typeface="Courier New" panose="02070309020205020404" pitchFamily="49" charset="0"/>
                <a:cs typeface="Courier New" panose="02070309020205020404" pitchFamily="49" charset="0"/>
              </a:rPr>
              <a:t>(</a:t>
            </a:r>
            <a:r>
              <a:rPr lang="en-CA" sz="1600" dirty="0" err="1" smtClean="0">
                <a:latin typeface="Courier New" panose="02070309020205020404" pitchFamily="49" charset="0"/>
                <a:cs typeface="Courier New" panose="02070309020205020404" pitchFamily="49" charset="0"/>
              </a:rPr>
              <a:t>bg_blknr</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bg_nblks</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600" dirty="0" smtClean="0">
                <a:latin typeface="Courier New" panose="02070309020205020404" pitchFamily="49" charset="0"/>
                <a:cs typeface="Courier New" panose="02070309020205020404" pitchFamily="49" charset="0"/>
              </a:rPr>
              <a:t>  for (</a:t>
            </a:r>
            <a:r>
              <a:rPr lang="en-CA" sz="1600" dirty="0" err="1" smtClean="0">
                <a:solidFill>
                  <a:schemeClr val="accent6">
                    <a:lumMod val="75000"/>
                  </a:schemeClr>
                </a:solidFill>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i</a:t>
            </a:r>
            <a:r>
              <a:rPr lang="en-CA" sz="1600" dirty="0" smtClean="0">
                <a:latin typeface="Courier New" panose="02070309020205020404" pitchFamily="49" charset="0"/>
                <a:cs typeface="Courier New" panose="02070309020205020404" pitchFamily="49" charset="0"/>
              </a:rPr>
              <a:t> = </a:t>
            </a:r>
            <a:r>
              <a:rPr lang="en-CA" sz="1600" dirty="0" smtClean="0">
                <a:solidFill>
                  <a:srgbClr val="0070C0"/>
                </a:solidFill>
                <a:latin typeface="Courier New" panose="02070309020205020404" pitchFamily="49" charset="0"/>
                <a:cs typeface="Courier New" panose="02070309020205020404" pitchFamily="49" charset="0"/>
              </a:rPr>
              <a:t>0</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i</a:t>
            </a:r>
            <a:r>
              <a:rPr lang="en-CA" sz="1600" dirty="0" smtClean="0">
                <a:latin typeface="Courier New" panose="02070309020205020404" pitchFamily="49" charset="0"/>
                <a:cs typeface="Courier New" panose="02070309020205020404" pitchFamily="49" charset="0"/>
              </a:rPr>
              <a:t> &lt; </a:t>
            </a:r>
            <a:r>
              <a:rPr lang="en-CA" sz="1600" dirty="0" err="1">
                <a:latin typeface="Courier New" panose="02070309020205020404" pitchFamily="49" charset="0"/>
                <a:cs typeface="Courier New" panose="02070309020205020404" pitchFamily="49" charset="0"/>
              </a:rPr>
              <a:t>bg_ngrps</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i</a:t>
            </a:r>
            <a:r>
              <a:rPr lang="en-CA" sz="1600" dirty="0" smtClean="0">
                <a:latin typeface="Courier New" panose="02070309020205020404" pitchFamily="49" charset="0"/>
                <a:cs typeface="Courier New" panose="02070309020205020404" pitchFamily="49" charset="0"/>
              </a:rPr>
              <a:t>) {</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r>
              <a:rPr lang="en-CA" sz="1600" dirty="0" smtClean="0">
                <a:solidFill>
                  <a:schemeClr val="accent6">
                    <a:lumMod val="75000"/>
                  </a:schemeClr>
                </a:solidFill>
                <a:latin typeface="Courier New" panose="02070309020205020404" pitchFamily="49" charset="0"/>
                <a:cs typeface="Courier New" panose="02070309020205020404" pitchFamily="49" charset="0"/>
              </a:rPr>
              <a:t>char</a:t>
            </a:r>
            <a:r>
              <a:rPr lang="en-CA" sz="1600" dirty="0" smtClean="0">
                <a:latin typeface="Courier New" panose="02070309020205020404" pitchFamily="49" charset="0"/>
                <a:cs typeface="Courier New" panose="02070309020205020404" pitchFamily="49" charset="0"/>
              </a:rPr>
              <a:t> * </a:t>
            </a:r>
            <a:r>
              <a:rPr lang="en-CA" sz="1600" dirty="0" err="1" smtClean="0">
                <a:latin typeface="Courier New" panose="02070309020205020404" pitchFamily="49" charset="0"/>
                <a:cs typeface="Courier New" panose="02070309020205020404" pitchFamily="49" charset="0"/>
              </a:rPr>
              <a:t>buf</a:t>
            </a:r>
            <a:r>
              <a:rPr lang="en-CA" sz="1600" dirty="0" smtClean="0">
                <a:latin typeface="Courier New" panose="02070309020205020404" pitchFamily="49" charset="0"/>
                <a:cs typeface="Courier New" panose="02070309020205020404" pitchFamily="49" charset="0"/>
              </a:rPr>
              <a:t> = </a:t>
            </a:r>
            <a:r>
              <a:rPr lang="en-CA" sz="1600" dirty="0" err="1" smtClean="0">
                <a:latin typeface="Courier New" panose="02070309020205020404" pitchFamily="49" charset="0"/>
                <a:cs typeface="Courier New" panose="02070309020205020404" pitchFamily="49" charset="0"/>
              </a:rPr>
              <a:t>dev.read_block</a:t>
            </a:r>
            <a:r>
              <a:rPr lang="en-CA" sz="1600" dirty="0" smtClean="0">
                <a:latin typeface="Courier New" panose="02070309020205020404" pitchFamily="49" charset="0"/>
                <a:cs typeface="Courier New" panose="02070309020205020404" pitchFamily="49" charset="0"/>
              </a:rPr>
              <a:t>(</a:t>
            </a:r>
            <a:r>
              <a:rPr lang="en-CA" sz="1600" dirty="0" err="1" smtClean="0">
                <a:latin typeface="Courier New" panose="02070309020205020404" pitchFamily="49" charset="0"/>
                <a:cs typeface="Courier New" panose="02070309020205020404" pitchFamily="49" charset="0"/>
              </a:rPr>
              <a:t>gd</a:t>
            </a:r>
            <a:r>
              <a:rPr lang="en-CA" sz="1600" dirty="0" smtClean="0">
                <a:latin typeface="Courier New" panose="02070309020205020404" pitchFamily="49" charset="0"/>
                <a:cs typeface="Courier New" panose="02070309020205020404" pitchFamily="49" charset="0"/>
              </a:rPr>
              <a:t>[</a:t>
            </a:r>
            <a:r>
              <a:rPr lang="en-CA" sz="1600" dirty="0" err="1" smtClean="0">
                <a:latin typeface="Courier New" panose="02070309020205020404" pitchFamily="49" charset="0"/>
                <a:cs typeface="Courier New" panose="02070309020205020404" pitchFamily="49" charset="0"/>
              </a:rPr>
              <a:t>i</a:t>
            </a:r>
            <a:r>
              <a:rPr lang="en-CA" sz="1600" dirty="0" smtClean="0">
                <a:latin typeface="Courier New" panose="02070309020205020404" pitchFamily="49" charset="0"/>
                <a:cs typeface="Courier New" panose="02070309020205020404" pitchFamily="49" charset="0"/>
              </a:rPr>
              <a:t>]-&gt;</a:t>
            </a:r>
            <a:r>
              <a:rPr lang="en-CA" sz="1600" dirty="0" err="1" smtClean="0">
                <a:latin typeface="Courier New" panose="02070309020205020404" pitchFamily="49" charset="0"/>
                <a:cs typeface="Courier New" panose="02070309020205020404" pitchFamily="49" charset="0"/>
              </a:rPr>
              <a:t>bg_block_bitmap</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r>
              <a:rPr lang="en-CA" sz="1600" dirty="0" err="1" smtClean="0">
                <a:solidFill>
                  <a:schemeClr val="accent6">
                    <a:lumMod val="75000"/>
                  </a:schemeClr>
                </a:solidFill>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ret = </a:t>
            </a:r>
            <a:r>
              <a:rPr lang="en-CA" sz="1600" dirty="0" err="1" smtClean="0">
                <a:latin typeface="Courier New" panose="02070309020205020404" pitchFamily="49" charset="0"/>
                <a:cs typeface="Courier New" panose="02070309020205020404" pitchFamily="49" charset="0"/>
              </a:rPr>
              <a:t>process_block_bitmap</a:t>
            </a:r>
            <a:r>
              <a:rPr lang="en-CA" sz="1600" dirty="0" smtClean="0">
                <a:latin typeface="Courier New" panose="02070309020205020404" pitchFamily="49" charset="0"/>
                <a:cs typeface="Courier New" panose="02070309020205020404" pitchFamily="49" charset="0"/>
              </a:rPr>
              <a:t>(</a:t>
            </a:r>
            <a:r>
              <a:rPr lang="en-CA" sz="1600" dirty="0" err="1" smtClean="0">
                <a:latin typeface="Courier New" panose="02070309020205020404" pitchFamily="49" charset="0"/>
                <a:cs typeface="Courier New" panose="02070309020205020404" pitchFamily="49" charset="0"/>
              </a:rPr>
              <a:t>vec</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buf</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p>
          <a:p>
            <a:pPr marL="0" indent="0">
              <a:lnSpc>
                <a:spcPts val="2000"/>
              </a:lnSpc>
              <a:spcBef>
                <a:spcPts val="0"/>
              </a:spcBef>
              <a:spcAft>
                <a:spcPts val="0"/>
              </a:spcAft>
              <a:buFont typeface="Wingdings 3" panose="05040102010807070707" pitchFamily="18" charset="2"/>
              <a:buNone/>
            </a:pPr>
            <a:r>
              <a:rPr lang="en-CA" sz="1600" dirty="0">
                <a:latin typeface="Courier New" panose="02070309020205020404" pitchFamily="49" charset="0"/>
                <a:cs typeface="Courier New" panose="02070309020205020404" pitchFamily="49" charset="0"/>
              </a:rPr>
              <a:t> </a:t>
            </a:r>
            <a:r>
              <a:rPr lang="en-CA" sz="1600" dirty="0" smtClean="0">
                <a:latin typeface="Courier New" panose="02070309020205020404" pitchFamily="49" charset="0"/>
                <a:cs typeface="Courier New" panose="02070309020205020404" pitchFamily="49" charset="0"/>
              </a:rPr>
              <a:t> …</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a:t>
            </a:r>
          </a:p>
        </p:txBody>
      </p:sp>
      <p:sp>
        <p:nvSpPr>
          <p:cNvPr id="5" name="Title 4"/>
          <p:cNvSpPr>
            <a:spLocks noGrp="1"/>
          </p:cNvSpPr>
          <p:nvPr>
            <p:ph type="title"/>
          </p:nvPr>
        </p:nvSpPr>
        <p:spPr/>
        <p:txBody>
          <a:bodyPr/>
          <a:lstStyle/>
          <a:p>
            <a:r>
              <a:rPr lang="en-CA" dirty="0" smtClean="0"/>
              <a:t>Coding Style Comparison</a:t>
            </a:r>
            <a:endParaRPr lang="en-CA" dirty="0"/>
          </a:p>
        </p:txBody>
      </p:sp>
      <p:sp>
        <p:nvSpPr>
          <p:cNvPr id="2" name="Rectangle 1"/>
          <p:cNvSpPr/>
          <p:nvPr/>
        </p:nvSpPr>
        <p:spPr>
          <a:xfrm>
            <a:off x="1178351" y="3350407"/>
            <a:ext cx="8860171" cy="1132141"/>
          </a:xfrm>
          <a:prstGeom prst="rect">
            <a:avLst/>
          </a:prstGeom>
          <a:solidFill>
            <a:schemeClr val="tx1">
              <a:alpha val="0"/>
            </a:schemeClr>
          </a:solidFill>
          <a:ln w="38100">
            <a:solidFill>
              <a:srgbClr val="FFFF00"/>
            </a:solidFill>
          </a:ln>
          <a:effectLst>
            <a:glow rad="101600">
              <a:srgbClr val="FFFF00">
                <a:alpha val="40000"/>
              </a:srgb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7" name="TextBox 6"/>
          <p:cNvSpPr txBox="1"/>
          <p:nvPr/>
        </p:nvSpPr>
        <p:spPr>
          <a:xfrm>
            <a:off x="8486596" y="1897590"/>
            <a:ext cx="3174359" cy="1015663"/>
          </a:xfrm>
          <a:prstGeom prst="rect">
            <a:avLst/>
          </a:prstGeom>
          <a:noFill/>
        </p:spPr>
        <p:txBody>
          <a:bodyPr wrap="square" rtlCol="0">
            <a:spAutoFit/>
          </a:bodyPr>
          <a:lstStyle/>
          <a:p>
            <a:pPr>
              <a:lnSpc>
                <a:spcPts val="2400"/>
              </a:lnSpc>
              <a:spcBef>
                <a:spcPts val="600"/>
              </a:spcBef>
            </a:pPr>
            <a:r>
              <a:rPr lang="en-CA" dirty="0" smtClean="0">
                <a:solidFill>
                  <a:schemeClr val="bg1"/>
                </a:solidFill>
              </a:rPr>
              <a:t>Rounds up number of blocks used by block group descriptors </a:t>
            </a:r>
            <a:endParaRPr lang="en-CA" dirty="0">
              <a:solidFill>
                <a:schemeClr val="bg1"/>
              </a:solidFill>
            </a:endParaRPr>
          </a:p>
        </p:txBody>
      </p:sp>
      <p:cxnSp>
        <p:nvCxnSpPr>
          <p:cNvPr id="8" name="Straight Arrow Connector 7"/>
          <p:cNvCxnSpPr/>
          <p:nvPr/>
        </p:nvCxnSpPr>
        <p:spPr>
          <a:xfrm flipH="1">
            <a:off x="7673009" y="2092841"/>
            <a:ext cx="841870" cy="1793359"/>
          </a:xfrm>
          <a:prstGeom prst="straightConnector1">
            <a:avLst/>
          </a:prstGeom>
          <a:ln w="38100">
            <a:solidFill>
              <a:srgbClr val="FF0000">
                <a:alpha val="70000"/>
              </a:srgbClr>
            </a:solidFill>
            <a:tailEnd type="triangle"/>
          </a:ln>
        </p:spPr>
        <p:style>
          <a:lnRef idx="1">
            <a:schemeClr val="accent1"/>
          </a:lnRef>
          <a:fillRef idx="0">
            <a:schemeClr val="accent1"/>
          </a:fillRef>
          <a:effectRef idx="0">
            <a:schemeClr val="accent1"/>
          </a:effectRef>
          <a:fontRef idx="minor">
            <a:schemeClr val="tx1"/>
          </a:fontRef>
        </p:style>
      </p:cxnSp>
      <p:sp>
        <p:nvSpPr>
          <p:cNvPr id="15" name="Content Placeholder 9"/>
          <p:cNvSpPr txBox="1">
            <a:spLocks/>
          </p:cNvSpPr>
          <p:nvPr/>
        </p:nvSpPr>
        <p:spPr>
          <a:xfrm>
            <a:off x="684211" y="1515358"/>
            <a:ext cx="10285797" cy="1124147"/>
          </a:xfrm>
          <a:prstGeom prst="rect">
            <a:avLst/>
          </a:prstGeom>
        </p:spPr>
        <p:txBody>
          <a:bodyPr vert="horz" lIns="91440" tIns="45720" rIns="91440" bIns="45720" rtlCol="0" anchor="t">
            <a:norm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r>
              <a:rPr lang="en-CA" dirty="0" smtClean="0"/>
              <a:t>Manual, Ad-hoc processing</a:t>
            </a:r>
            <a:endParaRPr lang="en-CA" dirty="0"/>
          </a:p>
        </p:txBody>
      </p:sp>
      <p:sp>
        <p:nvSpPr>
          <p:cNvPr id="6" name="Slide Number Placeholder 5"/>
          <p:cNvSpPr>
            <a:spLocks noGrp="1"/>
          </p:cNvSpPr>
          <p:nvPr>
            <p:ph type="sldNum" sz="quarter" idx="12"/>
          </p:nvPr>
        </p:nvSpPr>
        <p:spPr/>
        <p:txBody>
          <a:bodyPr/>
          <a:lstStyle/>
          <a:p>
            <a:fld id="{7B2023C8-B124-43A9-8F92-0EEF5BAA9995}" type="slidenum">
              <a:rPr lang="en-CA" smtClean="0"/>
              <a:pPr/>
              <a:t>23</a:t>
            </a:fld>
            <a:endParaRPr lang="en-CA" dirty="0"/>
          </a:p>
        </p:txBody>
      </p:sp>
    </p:spTree>
    <p:extLst>
      <p:ext uri="{BB962C8B-B14F-4D97-AF65-F5344CB8AC3E}">
        <p14:creationId xmlns:p14="http://schemas.microsoft.com/office/powerpoint/2010/main" val="3962273122"/>
      </p:ext>
    </p:extLst>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Content Placeholder 6"/>
          <p:cNvSpPr txBox="1">
            <a:spLocks/>
          </p:cNvSpPr>
          <p:nvPr/>
        </p:nvSpPr>
        <p:spPr>
          <a:xfrm>
            <a:off x="951929" y="2073898"/>
            <a:ext cx="10285797" cy="4784102"/>
          </a:xfrm>
          <a:prstGeom prst="rect">
            <a:avLst/>
          </a:prstGeom>
        </p:spPr>
        <p:txBody>
          <a:bodyPr vert="horz" lIns="91440" tIns="45720" rIns="91440" bIns="45720" rtlCol="0" anchor="t">
            <a:norm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pPr marL="0" indent="0">
              <a:lnSpc>
                <a:spcPts val="2000"/>
              </a:lnSpc>
              <a:spcBef>
                <a:spcPts val="0"/>
              </a:spcBef>
              <a:spcAft>
                <a:spcPts val="0"/>
              </a:spcAft>
              <a:buFont typeface="Wingdings 3" panose="05040102010807070707" pitchFamily="18" charset="2"/>
              <a:buNone/>
            </a:pPr>
            <a:r>
              <a:rPr lang="en-CA" sz="1600" dirty="0" err="1" smtClean="0">
                <a:solidFill>
                  <a:schemeClr val="accent6">
                    <a:lumMod val="75000"/>
                  </a:schemeClr>
                </a:solidFill>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a:t>
            </a:r>
            <a:r>
              <a:rPr lang="en-CA" sz="1600" b="1" dirty="0" smtClean="0">
                <a:latin typeface="Courier New" panose="02070309020205020404" pitchFamily="49" charset="0"/>
                <a:cs typeface="Courier New" panose="02070309020205020404" pitchFamily="49" charset="0"/>
              </a:rPr>
              <a:t>process_ext4</a:t>
            </a:r>
            <a:r>
              <a:rPr lang="en-CA" sz="1600" dirty="0" smtClean="0">
                <a:latin typeface="Courier New" panose="02070309020205020404" pitchFamily="49" charset="0"/>
                <a:cs typeface="Courier New" panose="02070309020205020404" pitchFamily="49" charset="0"/>
              </a:rPr>
              <a:t>(vector&lt;Extent&gt; &amp; </a:t>
            </a:r>
            <a:r>
              <a:rPr lang="en-CA" sz="1600" dirty="0" err="1" smtClean="0">
                <a:latin typeface="Courier New" panose="02070309020205020404" pitchFamily="49" charset="0"/>
                <a:cs typeface="Courier New" panose="02070309020205020404" pitchFamily="49" charset="0"/>
              </a:rPr>
              <a:t>vec</a:t>
            </a:r>
            <a:r>
              <a:rPr lang="en-CA" sz="1600" dirty="0" smtClean="0">
                <a:latin typeface="Courier New" panose="02070309020205020404" pitchFamily="49" charset="0"/>
                <a:cs typeface="Courier New" panose="02070309020205020404" pitchFamily="49" charset="0"/>
              </a:rPr>
              <a:t>, Device &amp; dev) {</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r>
              <a:rPr lang="en-CA" sz="1600" dirty="0" smtClean="0">
                <a:solidFill>
                  <a:srgbClr val="00B050"/>
                </a:solidFill>
                <a:latin typeface="Courier New" panose="02070309020205020404" pitchFamily="49" charset="0"/>
                <a:cs typeface="Courier New" panose="02070309020205020404" pitchFamily="49" charset="0"/>
              </a:rPr>
              <a:t>/* ext4 super block is 1024 bytes away from start */</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r>
              <a:rPr lang="en-CA" sz="1600" dirty="0" err="1" smtClean="0">
                <a:solidFill>
                  <a:schemeClr val="accent6">
                    <a:lumMod val="75000"/>
                  </a:schemeClr>
                </a:solidFill>
                <a:latin typeface="Courier New" panose="02070309020205020404" pitchFamily="49" charset="0"/>
                <a:cs typeface="Courier New" panose="02070309020205020404" pitchFamily="49" charset="0"/>
              </a:rPr>
              <a:t>struct</a:t>
            </a:r>
            <a:r>
              <a:rPr lang="en-CA" sz="1600" dirty="0" smtClean="0">
                <a:latin typeface="Courier New" panose="02070309020205020404" pitchFamily="49" charset="0"/>
                <a:cs typeface="Courier New" panose="02070309020205020404" pitchFamily="49" charset="0"/>
              </a:rPr>
              <a:t> ext4_super_block * </a:t>
            </a:r>
            <a:r>
              <a:rPr lang="en-CA" sz="1600" dirty="0" err="1" smtClean="0">
                <a:latin typeface="Courier New" panose="02070309020205020404" pitchFamily="49" charset="0"/>
                <a:cs typeface="Courier New" panose="02070309020205020404" pitchFamily="49" charset="0"/>
              </a:rPr>
              <a:t>sb</a:t>
            </a:r>
            <a:r>
              <a:rPr lang="en-CA" sz="1600" dirty="0" smtClean="0">
                <a:latin typeface="Courier New" panose="02070309020205020404" pitchFamily="49" charset="0"/>
                <a:cs typeface="Courier New" panose="02070309020205020404" pitchFamily="49" charset="0"/>
              </a:rPr>
              <a:t> = </a:t>
            </a:r>
            <a:r>
              <a:rPr lang="en-CA" sz="1600" dirty="0" err="1" smtClean="0">
                <a:latin typeface="Courier New" panose="02070309020205020404" pitchFamily="49" charset="0"/>
                <a:cs typeface="Courier New" panose="02070309020205020404" pitchFamily="49" charset="0"/>
              </a:rPr>
              <a:t>dev.read</a:t>
            </a:r>
            <a:r>
              <a:rPr lang="en-CA" sz="1600" dirty="0" smtClean="0">
                <a:latin typeface="Courier New" panose="02070309020205020404" pitchFamily="49" charset="0"/>
                <a:cs typeface="Courier New" panose="02070309020205020404" pitchFamily="49" charset="0"/>
              </a:rPr>
              <a:t>(</a:t>
            </a:r>
            <a:r>
              <a:rPr lang="en-CA" sz="1600" dirty="0" smtClean="0">
                <a:solidFill>
                  <a:srgbClr val="0070C0"/>
                </a:solidFill>
                <a:latin typeface="Courier New" panose="02070309020205020404" pitchFamily="49" charset="0"/>
                <a:cs typeface="Courier New" panose="02070309020205020404" pitchFamily="49" charset="0"/>
              </a:rPr>
              <a:t>1024</a:t>
            </a:r>
            <a:r>
              <a:rPr lang="en-CA" sz="1600" dirty="0" smtClean="0">
                <a:latin typeface="Courier New" panose="02070309020205020404" pitchFamily="49" charset="0"/>
                <a:cs typeface="Courier New" panose="02070309020205020404" pitchFamily="49" charset="0"/>
              </a:rPr>
              <a:t>, SB_SIZE);</a:t>
            </a:r>
          </a:p>
          <a:p>
            <a:pPr marL="0" indent="0">
              <a:lnSpc>
                <a:spcPts val="2000"/>
              </a:lnSpc>
              <a:spcBef>
                <a:spcPts val="0"/>
              </a:spcBef>
              <a:spcAft>
                <a:spcPts val="0"/>
              </a:spcAft>
              <a:buNone/>
            </a:pPr>
            <a:r>
              <a:rPr lang="en-CA" sz="1600" dirty="0">
                <a:latin typeface="Courier New" panose="02070309020205020404" pitchFamily="49" charset="0"/>
                <a:cs typeface="Courier New" panose="02070309020205020404" pitchFamily="49" charset="0"/>
              </a:rPr>
              <a:t> </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blk_size</a:t>
            </a:r>
            <a:r>
              <a:rPr lang="en-CA" sz="1600" dirty="0" smtClean="0">
                <a:latin typeface="Courier New" panose="02070309020205020404" pitchFamily="49" charset="0"/>
                <a:cs typeface="Courier New" panose="02070309020205020404" pitchFamily="49" charset="0"/>
              </a:rPr>
              <a:t> = </a:t>
            </a:r>
            <a:r>
              <a:rPr lang="en-CA" sz="1600" dirty="0">
                <a:solidFill>
                  <a:srgbClr val="0070C0"/>
                </a:solidFill>
                <a:latin typeface="Courier New" panose="02070309020205020404" pitchFamily="49" charset="0"/>
                <a:cs typeface="Courier New" panose="02070309020205020404" pitchFamily="49" charset="0"/>
              </a:rPr>
              <a:t>1024</a:t>
            </a:r>
            <a:r>
              <a:rPr lang="en-CA" sz="1600" dirty="0">
                <a:latin typeface="Courier New" panose="02070309020205020404" pitchFamily="49" charset="0"/>
                <a:cs typeface="Courier New" panose="02070309020205020404" pitchFamily="49" charset="0"/>
              </a:rPr>
              <a:t> &lt;&lt; </a:t>
            </a:r>
            <a:r>
              <a:rPr lang="en-CA" sz="1600" dirty="0" err="1">
                <a:latin typeface="Courier New" panose="02070309020205020404" pitchFamily="49" charset="0"/>
                <a:cs typeface="Courier New" panose="02070309020205020404" pitchFamily="49" charset="0"/>
              </a:rPr>
              <a:t>sb</a:t>
            </a:r>
            <a:r>
              <a:rPr lang="en-CA" sz="1600" dirty="0">
                <a:latin typeface="Courier New" panose="02070309020205020404" pitchFamily="49" charset="0"/>
                <a:cs typeface="Courier New" panose="02070309020205020404" pitchFamily="49" charset="0"/>
              </a:rPr>
              <a:t>-&gt;</a:t>
            </a:r>
            <a:r>
              <a:rPr lang="en-CA" sz="1600" dirty="0" err="1" smtClean="0">
                <a:latin typeface="Courier New" panose="02070309020205020404" pitchFamily="49" charset="0"/>
                <a:cs typeface="Courier New" panose="02070309020205020404" pitchFamily="49" charset="0"/>
              </a:rPr>
              <a:t>s_log_block_size</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dev.set_block_size</a:t>
            </a:r>
            <a:r>
              <a:rPr lang="en-CA" sz="1600" dirty="0" smtClean="0">
                <a:latin typeface="Courier New" panose="02070309020205020404" pitchFamily="49" charset="0"/>
                <a:cs typeface="Courier New" panose="02070309020205020404" pitchFamily="49" charset="0"/>
              </a:rPr>
              <a:t>(</a:t>
            </a:r>
            <a:r>
              <a:rPr lang="en-CA" sz="1600" dirty="0" err="1" smtClean="0">
                <a:latin typeface="Courier New" panose="02070309020205020404" pitchFamily="49" charset="0"/>
                <a:cs typeface="Courier New" panose="02070309020205020404" pitchFamily="49" charset="0"/>
              </a:rPr>
              <a:t>blk_size</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600" dirty="0" smtClean="0">
                <a:solidFill>
                  <a:srgbClr val="00B050"/>
                </a:solidFill>
                <a:latin typeface="Courier New" panose="02070309020205020404" pitchFamily="49" charset="0"/>
                <a:cs typeface="Courier New" panose="02070309020205020404" pitchFamily="49" charset="0"/>
              </a:rPr>
              <a:t>  /* </a:t>
            </a:r>
            <a:r>
              <a:rPr lang="en-CA" sz="1600" dirty="0">
                <a:solidFill>
                  <a:srgbClr val="00B050"/>
                </a:solidFill>
                <a:latin typeface="Courier New" panose="02070309020205020404" pitchFamily="49" charset="0"/>
                <a:cs typeface="Courier New" panose="02070309020205020404" pitchFamily="49" charset="0"/>
              </a:rPr>
              <a:t>block group descriptors start at block 2 or 1 </a:t>
            </a:r>
            <a:r>
              <a:rPr lang="en-CA" sz="1600" dirty="0" smtClean="0">
                <a:solidFill>
                  <a:srgbClr val="00B050"/>
                </a:solidFill>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r>
              <a:rPr lang="en-CA" sz="1600" dirty="0" err="1" smtClean="0">
                <a:solidFill>
                  <a:schemeClr val="accent6">
                    <a:lumMod val="75000"/>
                  </a:schemeClr>
                </a:solidFill>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bg_blknr</a:t>
            </a:r>
            <a:r>
              <a:rPr lang="en-CA" sz="1600" dirty="0" smtClean="0">
                <a:latin typeface="Courier New" panose="02070309020205020404" pitchFamily="49" charset="0"/>
                <a:cs typeface="Courier New" panose="02070309020205020404" pitchFamily="49" charset="0"/>
              </a:rPr>
              <a:t> = (</a:t>
            </a:r>
            <a:r>
              <a:rPr lang="en-CA" sz="1600" dirty="0" err="1" smtClean="0">
                <a:latin typeface="Courier New" panose="02070309020205020404" pitchFamily="49" charset="0"/>
                <a:cs typeface="Courier New" panose="02070309020205020404" pitchFamily="49" charset="0"/>
              </a:rPr>
              <a:t>sb</a:t>
            </a:r>
            <a:r>
              <a:rPr lang="en-CA" sz="1600" dirty="0" smtClean="0">
                <a:latin typeface="Courier New" panose="02070309020205020404" pitchFamily="49" charset="0"/>
                <a:cs typeface="Courier New" panose="02070309020205020404" pitchFamily="49" charset="0"/>
              </a:rPr>
              <a:t>-&gt;</a:t>
            </a:r>
            <a:r>
              <a:rPr lang="en-CA" sz="1600" dirty="0" err="1" smtClean="0">
                <a:latin typeface="Courier New" panose="02070309020205020404" pitchFamily="49" charset="0"/>
                <a:cs typeface="Courier New" panose="02070309020205020404" pitchFamily="49" charset="0"/>
              </a:rPr>
              <a:t>s_log_block_size</a:t>
            </a:r>
            <a:r>
              <a:rPr lang="en-CA" sz="1600" dirty="0" smtClean="0">
                <a:latin typeface="Courier New" panose="02070309020205020404" pitchFamily="49" charset="0"/>
                <a:cs typeface="Courier New" panose="02070309020205020404" pitchFamily="49" charset="0"/>
              </a:rPr>
              <a:t> == </a:t>
            </a:r>
            <a:r>
              <a:rPr lang="en-CA" sz="1600" dirty="0" smtClean="0">
                <a:solidFill>
                  <a:srgbClr val="0070C0"/>
                </a:solidFill>
                <a:latin typeface="Courier New" panose="02070309020205020404" pitchFamily="49" charset="0"/>
                <a:cs typeface="Courier New" panose="02070309020205020404" pitchFamily="49" charset="0"/>
              </a:rPr>
              <a:t>0</a:t>
            </a:r>
            <a:r>
              <a:rPr lang="en-CA" sz="1600" dirty="0" smtClean="0">
                <a:latin typeface="Courier New" panose="02070309020205020404" pitchFamily="49" charset="0"/>
                <a:cs typeface="Courier New" panose="02070309020205020404" pitchFamily="49" charset="0"/>
              </a:rPr>
              <a:t>) </a:t>
            </a:r>
            <a:r>
              <a:rPr lang="en-CA" sz="1600" dirty="0" smtClean="0">
                <a:solidFill>
                  <a:srgbClr val="0070C0"/>
                </a:solidFill>
                <a:latin typeface="Courier New" panose="02070309020205020404" pitchFamily="49" charset="0"/>
                <a:cs typeface="Courier New" panose="02070309020205020404" pitchFamily="49" charset="0"/>
              </a:rPr>
              <a:t>2</a:t>
            </a:r>
            <a:r>
              <a:rPr lang="en-CA" sz="1600" dirty="0" smtClean="0">
                <a:latin typeface="Courier New" panose="02070309020205020404" pitchFamily="49" charset="0"/>
                <a:cs typeface="Courier New" panose="02070309020205020404" pitchFamily="49" charset="0"/>
              </a:rPr>
              <a:t> : </a:t>
            </a:r>
            <a:r>
              <a:rPr lang="en-CA" sz="1600" dirty="0" smtClean="0">
                <a:solidFill>
                  <a:srgbClr val="0070C0"/>
                </a:solidFill>
                <a:latin typeface="Courier New" panose="02070309020205020404" pitchFamily="49" charset="0"/>
                <a:cs typeface="Courier New" panose="02070309020205020404" pitchFamily="49" charset="0"/>
              </a:rPr>
              <a:t>1</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r>
              <a:rPr lang="en-CA" sz="1600" dirty="0" err="1" smtClean="0">
                <a:solidFill>
                  <a:schemeClr val="accent6">
                    <a:lumMod val="75000"/>
                  </a:schemeClr>
                </a:solidFill>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bg_ngrps</a:t>
            </a:r>
            <a:r>
              <a:rPr lang="en-CA" sz="1600" dirty="0" smtClean="0">
                <a:latin typeface="Courier New" panose="02070309020205020404" pitchFamily="49" charset="0"/>
                <a:cs typeface="Courier New" panose="02070309020205020404" pitchFamily="49" charset="0"/>
              </a:rPr>
              <a:t> = ceil(</a:t>
            </a:r>
            <a:r>
              <a:rPr lang="en-CA" sz="1600" dirty="0" err="1" smtClean="0">
                <a:latin typeface="Courier New" panose="02070309020205020404" pitchFamily="49" charset="0"/>
                <a:cs typeface="Courier New" panose="02070309020205020404" pitchFamily="49" charset="0"/>
              </a:rPr>
              <a:t>sb</a:t>
            </a:r>
            <a:r>
              <a:rPr lang="en-CA" sz="1600" dirty="0" smtClean="0">
                <a:latin typeface="Courier New" panose="02070309020205020404" pitchFamily="49" charset="0"/>
                <a:cs typeface="Courier New" panose="02070309020205020404" pitchFamily="49" charset="0"/>
              </a:rPr>
              <a:t>-&gt;</a:t>
            </a:r>
            <a:r>
              <a:rPr lang="en-CA" sz="1600" dirty="0" err="1" smtClean="0">
                <a:latin typeface="Courier New" panose="02070309020205020404" pitchFamily="49" charset="0"/>
                <a:cs typeface="Courier New" panose="02070309020205020404" pitchFamily="49" charset="0"/>
              </a:rPr>
              <a:t>s_blocks_count</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sb</a:t>
            </a:r>
            <a:r>
              <a:rPr lang="en-CA" sz="1600" dirty="0" smtClean="0">
                <a:latin typeface="Courier New" panose="02070309020205020404" pitchFamily="49" charset="0"/>
                <a:cs typeface="Courier New" panose="02070309020205020404" pitchFamily="49" charset="0"/>
              </a:rPr>
              <a:t>-&gt;</a:t>
            </a:r>
            <a:r>
              <a:rPr lang="en-CA" sz="1600" dirty="0" err="1" smtClean="0">
                <a:latin typeface="Courier New" panose="02070309020205020404" pitchFamily="49" charset="0"/>
                <a:cs typeface="Courier New" panose="02070309020205020404" pitchFamily="49" charset="0"/>
              </a:rPr>
              <a:t>s_blocks_per_group</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600" dirty="0">
                <a:latin typeface="Courier New" panose="02070309020205020404" pitchFamily="49" charset="0"/>
                <a:cs typeface="Courier New" panose="02070309020205020404" pitchFamily="49" charset="0"/>
              </a:rPr>
              <a:t> </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bg_nblks</a:t>
            </a:r>
            <a:r>
              <a:rPr lang="en-CA" sz="1600" dirty="0" smtClean="0">
                <a:latin typeface="Courier New" panose="02070309020205020404" pitchFamily="49" charset="0"/>
                <a:cs typeface="Courier New" panose="02070309020205020404" pitchFamily="49" charset="0"/>
              </a:rPr>
              <a:t> </a:t>
            </a:r>
            <a:r>
              <a:rPr lang="en-CA" sz="1600" dirty="0">
                <a:latin typeface="Courier New" panose="02070309020205020404" pitchFamily="49" charset="0"/>
                <a:cs typeface="Courier New" panose="02070309020205020404" pitchFamily="49" charset="0"/>
              </a:rPr>
              <a:t>= </a:t>
            </a:r>
            <a:r>
              <a:rPr lang="en-CA" sz="1600" dirty="0" smtClean="0">
                <a:latin typeface="Courier New" panose="02070309020205020404" pitchFamily="49" charset="0"/>
                <a:cs typeface="Courier New" panose="02070309020205020404" pitchFamily="49" charset="0"/>
              </a:rPr>
              <a:t>ceil(</a:t>
            </a:r>
            <a:r>
              <a:rPr lang="en-CA" sz="1600" dirty="0" err="1" smtClean="0">
                <a:latin typeface="Courier New" panose="02070309020205020404" pitchFamily="49" charset="0"/>
                <a:cs typeface="Courier New" panose="02070309020205020404" pitchFamily="49" charset="0"/>
              </a:rPr>
              <a:t>bg_ngrps</a:t>
            </a:r>
            <a:r>
              <a:rPr lang="en-CA" sz="1600" dirty="0" smtClean="0">
                <a:latin typeface="Courier New" panose="02070309020205020404" pitchFamily="49" charset="0"/>
                <a:cs typeface="Courier New" panose="02070309020205020404" pitchFamily="49" charset="0"/>
              </a:rPr>
              <a:t>*</a:t>
            </a:r>
            <a:r>
              <a:rPr lang="en-CA" sz="1600" dirty="0" err="1" smtClean="0">
                <a:latin typeface="Courier New" panose="02070309020205020404" pitchFamily="49" charset="0"/>
                <a:cs typeface="Courier New" panose="02070309020205020404" pitchFamily="49" charset="0"/>
              </a:rPr>
              <a:t>sizeof</a:t>
            </a:r>
            <a:r>
              <a:rPr lang="en-CA" sz="1600" dirty="0" smtClean="0">
                <a:latin typeface="Courier New" panose="02070309020205020404" pitchFamily="49" charset="0"/>
                <a:cs typeface="Courier New" panose="02070309020205020404" pitchFamily="49" charset="0"/>
              </a:rPr>
              <a:t>(</a:t>
            </a:r>
            <a:r>
              <a:rPr lang="en-CA" sz="1600" dirty="0" err="1" smtClean="0">
                <a:solidFill>
                  <a:schemeClr val="accent6">
                    <a:lumMod val="75000"/>
                  </a:schemeClr>
                </a:solidFill>
                <a:latin typeface="Courier New" panose="02070309020205020404" pitchFamily="49" charset="0"/>
                <a:cs typeface="Courier New" panose="02070309020205020404" pitchFamily="49" charset="0"/>
              </a:rPr>
              <a:t>struct</a:t>
            </a:r>
            <a:r>
              <a:rPr lang="en-CA" sz="1600" dirty="0" smtClean="0">
                <a:latin typeface="Courier New" panose="02070309020205020404" pitchFamily="49" charset="0"/>
                <a:cs typeface="Courier New" panose="02070309020205020404" pitchFamily="49" charset="0"/>
              </a:rPr>
              <a:t> ext4_group_desc), </a:t>
            </a:r>
            <a:r>
              <a:rPr lang="en-CA" sz="1600" dirty="0" err="1">
                <a:latin typeface="Courier New" panose="02070309020205020404" pitchFamily="49" charset="0"/>
                <a:cs typeface="Courier New" panose="02070309020205020404" pitchFamily="49" charset="0"/>
              </a:rPr>
              <a:t>blk_size</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Font typeface="Wingdings 3" panose="05040102010807070707" pitchFamily="18" charset="2"/>
              <a:buNone/>
            </a:pPr>
            <a:r>
              <a:rPr lang="en-CA" sz="1600" dirty="0" smtClean="0">
                <a:solidFill>
                  <a:srgbClr val="00B050"/>
                </a:solidFill>
                <a:latin typeface="Courier New" panose="02070309020205020404" pitchFamily="49" charset="0"/>
                <a:cs typeface="Courier New" panose="02070309020205020404" pitchFamily="49" charset="0"/>
              </a:rPr>
              <a:t>  /* read all of the block group descriptors into memory */</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r>
              <a:rPr lang="en-CA" sz="1600" dirty="0" err="1" smtClean="0">
                <a:solidFill>
                  <a:schemeClr val="accent6">
                    <a:lumMod val="75000"/>
                  </a:schemeClr>
                </a:solidFill>
                <a:latin typeface="Courier New" panose="02070309020205020404" pitchFamily="49" charset="0"/>
                <a:cs typeface="Courier New" panose="02070309020205020404" pitchFamily="49" charset="0"/>
              </a:rPr>
              <a:t>struct</a:t>
            </a:r>
            <a:r>
              <a:rPr lang="en-CA" sz="1600" dirty="0" smtClean="0">
                <a:latin typeface="Courier New" panose="02070309020205020404" pitchFamily="49" charset="0"/>
                <a:cs typeface="Courier New" panose="02070309020205020404" pitchFamily="49" charset="0"/>
              </a:rPr>
              <a:t> ext4_group_desc * </a:t>
            </a:r>
            <a:r>
              <a:rPr lang="en-CA" sz="1600" dirty="0" err="1" smtClean="0">
                <a:latin typeface="Courier New" panose="02070309020205020404" pitchFamily="49" charset="0"/>
                <a:cs typeface="Courier New" panose="02070309020205020404" pitchFamily="49" charset="0"/>
              </a:rPr>
              <a:t>gd</a:t>
            </a:r>
            <a:r>
              <a:rPr lang="en-CA" sz="1600" dirty="0" smtClean="0">
                <a:latin typeface="Courier New" panose="02070309020205020404" pitchFamily="49" charset="0"/>
                <a:cs typeface="Courier New" panose="02070309020205020404" pitchFamily="49" charset="0"/>
              </a:rPr>
              <a:t> = </a:t>
            </a:r>
            <a:r>
              <a:rPr lang="en-CA" sz="1600" dirty="0" err="1" smtClean="0">
                <a:latin typeface="Courier New" panose="02070309020205020404" pitchFamily="49" charset="0"/>
                <a:cs typeface="Courier New" panose="02070309020205020404" pitchFamily="49" charset="0"/>
              </a:rPr>
              <a:t>dev.read_block</a:t>
            </a:r>
            <a:r>
              <a:rPr lang="en-CA" sz="1600" dirty="0" smtClean="0">
                <a:latin typeface="Courier New" panose="02070309020205020404" pitchFamily="49" charset="0"/>
                <a:cs typeface="Courier New" panose="02070309020205020404" pitchFamily="49" charset="0"/>
              </a:rPr>
              <a:t>(</a:t>
            </a:r>
            <a:r>
              <a:rPr lang="en-CA" sz="1600" dirty="0" err="1" smtClean="0">
                <a:latin typeface="Courier New" panose="02070309020205020404" pitchFamily="49" charset="0"/>
                <a:cs typeface="Courier New" panose="02070309020205020404" pitchFamily="49" charset="0"/>
              </a:rPr>
              <a:t>bg_blknr</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bg_nblks</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600" dirty="0" smtClean="0">
                <a:latin typeface="Courier New" panose="02070309020205020404" pitchFamily="49" charset="0"/>
                <a:cs typeface="Courier New" panose="02070309020205020404" pitchFamily="49" charset="0"/>
              </a:rPr>
              <a:t>  for (</a:t>
            </a:r>
            <a:r>
              <a:rPr lang="en-CA" sz="1600" dirty="0" err="1" smtClean="0">
                <a:solidFill>
                  <a:schemeClr val="accent6">
                    <a:lumMod val="75000"/>
                  </a:schemeClr>
                </a:solidFill>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i</a:t>
            </a:r>
            <a:r>
              <a:rPr lang="en-CA" sz="1600" dirty="0" smtClean="0">
                <a:latin typeface="Courier New" panose="02070309020205020404" pitchFamily="49" charset="0"/>
                <a:cs typeface="Courier New" panose="02070309020205020404" pitchFamily="49" charset="0"/>
              </a:rPr>
              <a:t> = </a:t>
            </a:r>
            <a:r>
              <a:rPr lang="en-CA" sz="1600" dirty="0" smtClean="0">
                <a:solidFill>
                  <a:srgbClr val="0070C0"/>
                </a:solidFill>
                <a:latin typeface="Courier New" panose="02070309020205020404" pitchFamily="49" charset="0"/>
                <a:cs typeface="Courier New" panose="02070309020205020404" pitchFamily="49" charset="0"/>
              </a:rPr>
              <a:t>0</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i</a:t>
            </a:r>
            <a:r>
              <a:rPr lang="en-CA" sz="1600" dirty="0" smtClean="0">
                <a:latin typeface="Courier New" panose="02070309020205020404" pitchFamily="49" charset="0"/>
                <a:cs typeface="Courier New" panose="02070309020205020404" pitchFamily="49" charset="0"/>
              </a:rPr>
              <a:t> &lt; </a:t>
            </a:r>
            <a:r>
              <a:rPr lang="en-CA" sz="1600" dirty="0" err="1">
                <a:latin typeface="Courier New" panose="02070309020205020404" pitchFamily="49" charset="0"/>
                <a:cs typeface="Courier New" panose="02070309020205020404" pitchFamily="49" charset="0"/>
              </a:rPr>
              <a:t>bg_ngrps</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i</a:t>
            </a:r>
            <a:r>
              <a:rPr lang="en-CA" sz="1600" dirty="0" smtClean="0">
                <a:latin typeface="Courier New" panose="02070309020205020404" pitchFamily="49" charset="0"/>
                <a:cs typeface="Courier New" panose="02070309020205020404" pitchFamily="49" charset="0"/>
              </a:rPr>
              <a:t>) {</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r>
              <a:rPr lang="en-CA" sz="1600" dirty="0" smtClean="0">
                <a:solidFill>
                  <a:schemeClr val="accent6">
                    <a:lumMod val="75000"/>
                  </a:schemeClr>
                </a:solidFill>
                <a:latin typeface="Courier New" panose="02070309020205020404" pitchFamily="49" charset="0"/>
                <a:cs typeface="Courier New" panose="02070309020205020404" pitchFamily="49" charset="0"/>
              </a:rPr>
              <a:t>char</a:t>
            </a:r>
            <a:r>
              <a:rPr lang="en-CA" sz="1600" dirty="0" smtClean="0">
                <a:latin typeface="Courier New" panose="02070309020205020404" pitchFamily="49" charset="0"/>
                <a:cs typeface="Courier New" panose="02070309020205020404" pitchFamily="49" charset="0"/>
              </a:rPr>
              <a:t> * </a:t>
            </a:r>
            <a:r>
              <a:rPr lang="en-CA" sz="1600" dirty="0" err="1" smtClean="0">
                <a:latin typeface="Courier New" panose="02070309020205020404" pitchFamily="49" charset="0"/>
                <a:cs typeface="Courier New" panose="02070309020205020404" pitchFamily="49" charset="0"/>
              </a:rPr>
              <a:t>buf</a:t>
            </a:r>
            <a:r>
              <a:rPr lang="en-CA" sz="1600" dirty="0" smtClean="0">
                <a:latin typeface="Courier New" panose="02070309020205020404" pitchFamily="49" charset="0"/>
                <a:cs typeface="Courier New" panose="02070309020205020404" pitchFamily="49" charset="0"/>
              </a:rPr>
              <a:t> = </a:t>
            </a:r>
            <a:r>
              <a:rPr lang="en-CA" sz="1600" dirty="0" err="1" smtClean="0">
                <a:latin typeface="Courier New" panose="02070309020205020404" pitchFamily="49" charset="0"/>
                <a:cs typeface="Courier New" panose="02070309020205020404" pitchFamily="49" charset="0"/>
              </a:rPr>
              <a:t>dev.read_block</a:t>
            </a:r>
            <a:r>
              <a:rPr lang="en-CA" sz="1600" dirty="0" smtClean="0">
                <a:latin typeface="Courier New" panose="02070309020205020404" pitchFamily="49" charset="0"/>
                <a:cs typeface="Courier New" panose="02070309020205020404" pitchFamily="49" charset="0"/>
              </a:rPr>
              <a:t>(</a:t>
            </a:r>
            <a:r>
              <a:rPr lang="en-CA" sz="1600" dirty="0" err="1" smtClean="0">
                <a:latin typeface="Courier New" panose="02070309020205020404" pitchFamily="49" charset="0"/>
                <a:cs typeface="Courier New" panose="02070309020205020404" pitchFamily="49" charset="0"/>
              </a:rPr>
              <a:t>gd</a:t>
            </a:r>
            <a:r>
              <a:rPr lang="en-CA" sz="1600" dirty="0" smtClean="0">
                <a:latin typeface="Courier New" panose="02070309020205020404" pitchFamily="49" charset="0"/>
                <a:cs typeface="Courier New" panose="02070309020205020404" pitchFamily="49" charset="0"/>
              </a:rPr>
              <a:t>[</a:t>
            </a:r>
            <a:r>
              <a:rPr lang="en-CA" sz="1600" dirty="0" err="1" smtClean="0">
                <a:latin typeface="Courier New" panose="02070309020205020404" pitchFamily="49" charset="0"/>
                <a:cs typeface="Courier New" panose="02070309020205020404" pitchFamily="49" charset="0"/>
              </a:rPr>
              <a:t>i</a:t>
            </a:r>
            <a:r>
              <a:rPr lang="en-CA" sz="1600" dirty="0" smtClean="0">
                <a:latin typeface="Courier New" panose="02070309020205020404" pitchFamily="49" charset="0"/>
                <a:cs typeface="Courier New" panose="02070309020205020404" pitchFamily="49" charset="0"/>
              </a:rPr>
              <a:t>]-&gt;</a:t>
            </a:r>
            <a:r>
              <a:rPr lang="en-CA" sz="1600" dirty="0" err="1" smtClean="0">
                <a:latin typeface="Courier New" panose="02070309020205020404" pitchFamily="49" charset="0"/>
                <a:cs typeface="Courier New" panose="02070309020205020404" pitchFamily="49" charset="0"/>
              </a:rPr>
              <a:t>bg_block_bitmap</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r>
              <a:rPr lang="en-CA" sz="1600" dirty="0" err="1" smtClean="0">
                <a:solidFill>
                  <a:schemeClr val="accent6">
                    <a:lumMod val="75000"/>
                  </a:schemeClr>
                </a:solidFill>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ret = </a:t>
            </a:r>
            <a:r>
              <a:rPr lang="en-CA" sz="1600" dirty="0" err="1" smtClean="0">
                <a:latin typeface="Courier New" panose="02070309020205020404" pitchFamily="49" charset="0"/>
                <a:cs typeface="Courier New" panose="02070309020205020404" pitchFamily="49" charset="0"/>
              </a:rPr>
              <a:t>process_block_bitmap</a:t>
            </a:r>
            <a:r>
              <a:rPr lang="en-CA" sz="1600" dirty="0" smtClean="0">
                <a:latin typeface="Courier New" panose="02070309020205020404" pitchFamily="49" charset="0"/>
                <a:cs typeface="Courier New" panose="02070309020205020404" pitchFamily="49" charset="0"/>
              </a:rPr>
              <a:t>(</a:t>
            </a:r>
            <a:r>
              <a:rPr lang="en-CA" sz="1600" dirty="0" err="1" smtClean="0">
                <a:latin typeface="Courier New" panose="02070309020205020404" pitchFamily="49" charset="0"/>
                <a:cs typeface="Courier New" panose="02070309020205020404" pitchFamily="49" charset="0"/>
              </a:rPr>
              <a:t>vec</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buf</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p>
          <a:p>
            <a:pPr marL="0" indent="0">
              <a:lnSpc>
                <a:spcPts val="2000"/>
              </a:lnSpc>
              <a:spcBef>
                <a:spcPts val="0"/>
              </a:spcBef>
              <a:spcAft>
                <a:spcPts val="0"/>
              </a:spcAft>
              <a:buFont typeface="Wingdings 3" panose="05040102010807070707" pitchFamily="18" charset="2"/>
              <a:buNone/>
            </a:pPr>
            <a:r>
              <a:rPr lang="en-CA" sz="1600" dirty="0">
                <a:latin typeface="Courier New" panose="02070309020205020404" pitchFamily="49" charset="0"/>
                <a:cs typeface="Courier New" panose="02070309020205020404" pitchFamily="49" charset="0"/>
              </a:rPr>
              <a:t> </a:t>
            </a:r>
            <a:r>
              <a:rPr lang="en-CA" sz="1600" dirty="0" smtClean="0">
                <a:latin typeface="Courier New" panose="02070309020205020404" pitchFamily="49" charset="0"/>
                <a:cs typeface="Courier New" panose="02070309020205020404" pitchFamily="49" charset="0"/>
              </a:rPr>
              <a:t> …</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a:t>
            </a:r>
          </a:p>
        </p:txBody>
      </p:sp>
      <p:sp>
        <p:nvSpPr>
          <p:cNvPr id="5" name="Title 4"/>
          <p:cNvSpPr>
            <a:spLocks noGrp="1"/>
          </p:cNvSpPr>
          <p:nvPr>
            <p:ph type="title"/>
          </p:nvPr>
        </p:nvSpPr>
        <p:spPr/>
        <p:txBody>
          <a:bodyPr/>
          <a:lstStyle/>
          <a:p>
            <a:r>
              <a:rPr lang="en-CA" dirty="0" smtClean="0"/>
              <a:t>Coding Style Comparison</a:t>
            </a:r>
            <a:endParaRPr lang="en-CA" dirty="0"/>
          </a:p>
        </p:txBody>
      </p:sp>
      <p:sp>
        <p:nvSpPr>
          <p:cNvPr id="2" name="Rectangle 1"/>
          <p:cNvSpPr/>
          <p:nvPr/>
        </p:nvSpPr>
        <p:spPr>
          <a:xfrm>
            <a:off x="1216058" y="4366951"/>
            <a:ext cx="8088198" cy="1376840"/>
          </a:xfrm>
          <a:prstGeom prst="rect">
            <a:avLst/>
          </a:prstGeom>
          <a:solidFill>
            <a:schemeClr val="tx1">
              <a:alpha val="0"/>
            </a:schemeClr>
          </a:solidFill>
          <a:ln w="38100">
            <a:solidFill>
              <a:srgbClr val="FFFF00"/>
            </a:solidFill>
          </a:ln>
          <a:effectLst>
            <a:glow rad="101600">
              <a:srgbClr val="FFFF00">
                <a:alpha val="40000"/>
              </a:srgb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7" name="TextBox 6"/>
          <p:cNvSpPr txBox="1"/>
          <p:nvPr/>
        </p:nvSpPr>
        <p:spPr>
          <a:xfrm>
            <a:off x="8844815" y="2490101"/>
            <a:ext cx="3174359" cy="989951"/>
          </a:xfrm>
          <a:prstGeom prst="rect">
            <a:avLst/>
          </a:prstGeom>
          <a:noFill/>
        </p:spPr>
        <p:txBody>
          <a:bodyPr wrap="square" rtlCol="0">
            <a:spAutoFit/>
          </a:bodyPr>
          <a:lstStyle/>
          <a:p>
            <a:pPr>
              <a:lnSpc>
                <a:spcPts val="2400"/>
              </a:lnSpc>
              <a:spcBef>
                <a:spcPts val="600"/>
              </a:spcBef>
            </a:pPr>
            <a:r>
              <a:rPr lang="en-CA" dirty="0" smtClean="0">
                <a:solidFill>
                  <a:schemeClr val="bg1"/>
                </a:solidFill>
              </a:rPr>
              <a:t>Extract free extents from block bitmaps and store into </a:t>
            </a:r>
            <a:r>
              <a:rPr lang="en-CA" i="1" dirty="0" err="1" smtClean="0">
                <a:solidFill>
                  <a:schemeClr val="bg1"/>
                </a:solidFill>
              </a:rPr>
              <a:t>vec</a:t>
            </a:r>
            <a:endParaRPr lang="en-CA" dirty="0">
              <a:solidFill>
                <a:schemeClr val="bg1"/>
              </a:solidFill>
            </a:endParaRPr>
          </a:p>
        </p:txBody>
      </p:sp>
      <p:cxnSp>
        <p:nvCxnSpPr>
          <p:cNvPr id="8" name="Straight Arrow Connector 7"/>
          <p:cNvCxnSpPr/>
          <p:nvPr/>
        </p:nvCxnSpPr>
        <p:spPr>
          <a:xfrm rot="10800000" flipV="1">
            <a:off x="6532775" y="3281052"/>
            <a:ext cx="4147794" cy="2016810"/>
          </a:xfrm>
          <a:prstGeom prst="bentConnector3">
            <a:avLst>
              <a:gd name="adj1" fmla="val 0"/>
            </a:avLst>
          </a:prstGeom>
          <a:ln w="38100">
            <a:solidFill>
              <a:srgbClr val="FF0000">
                <a:alpha val="70000"/>
              </a:srgbClr>
            </a:solidFill>
            <a:tailEnd type="triangle"/>
          </a:ln>
        </p:spPr>
        <p:style>
          <a:lnRef idx="1">
            <a:schemeClr val="accent1"/>
          </a:lnRef>
          <a:fillRef idx="0">
            <a:schemeClr val="accent1"/>
          </a:fillRef>
          <a:effectRef idx="0">
            <a:schemeClr val="accent1"/>
          </a:effectRef>
          <a:fontRef idx="minor">
            <a:schemeClr val="tx1"/>
          </a:fontRef>
        </p:style>
      </p:cxnSp>
      <p:sp>
        <p:nvSpPr>
          <p:cNvPr id="13" name="Content Placeholder 9"/>
          <p:cNvSpPr txBox="1">
            <a:spLocks/>
          </p:cNvSpPr>
          <p:nvPr/>
        </p:nvSpPr>
        <p:spPr>
          <a:xfrm>
            <a:off x="684211" y="1515358"/>
            <a:ext cx="10285797" cy="1124147"/>
          </a:xfrm>
          <a:prstGeom prst="rect">
            <a:avLst/>
          </a:prstGeom>
        </p:spPr>
        <p:txBody>
          <a:bodyPr vert="horz" lIns="91440" tIns="45720" rIns="91440" bIns="45720" rtlCol="0" anchor="t">
            <a:norm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r>
              <a:rPr lang="en-CA" dirty="0" smtClean="0"/>
              <a:t>Manual, Ad-hoc processing</a:t>
            </a:r>
            <a:endParaRPr lang="en-CA" dirty="0"/>
          </a:p>
        </p:txBody>
      </p:sp>
      <p:sp>
        <p:nvSpPr>
          <p:cNvPr id="6" name="Slide Number Placeholder 5"/>
          <p:cNvSpPr>
            <a:spLocks noGrp="1"/>
          </p:cNvSpPr>
          <p:nvPr>
            <p:ph type="sldNum" sz="quarter" idx="12"/>
          </p:nvPr>
        </p:nvSpPr>
        <p:spPr/>
        <p:txBody>
          <a:bodyPr/>
          <a:lstStyle/>
          <a:p>
            <a:fld id="{7B2023C8-B124-43A9-8F92-0EEF5BAA9995}" type="slidenum">
              <a:rPr lang="en-CA" smtClean="0"/>
              <a:pPr/>
              <a:t>24</a:t>
            </a:fld>
            <a:endParaRPr lang="en-CA" dirty="0"/>
          </a:p>
        </p:txBody>
      </p:sp>
    </p:spTree>
    <p:extLst>
      <p:ext uri="{BB962C8B-B14F-4D97-AF65-F5344CB8AC3E}">
        <p14:creationId xmlns:p14="http://schemas.microsoft.com/office/powerpoint/2010/main" val="3038896263"/>
      </p:ext>
    </p:extLst>
  </p:cSld>
  <p:clrMapOvr>
    <a:masterClrMapping/>
  </p:clrMapOvr>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Content Placeholder 6"/>
          <p:cNvSpPr txBox="1">
            <a:spLocks/>
          </p:cNvSpPr>
          <p:nvPr/>
        </p:nvSpPr>
        <p:spPr>
          <a:xfrm>
            <a:off x="951929" y="2073898"/>
            <a:ext cx="10285797" cy="4784102"/>
          </a:xfrm>
          <a:prstGeom prst="rect">
            <a:avLst/>
          </a:prstGeom>
        </p:spPr>
        <p:txBody>
          <a:bodyPr vert="horz" lIns="91440" tIns="45720" rIns="91440" bIns="45720" rtlCol="0" anchor="t">
            <a:norm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pPr marL="0" indent="0">
              <a:lnSpc>
                <a:spcPts val="2000"/>
              </a:lnSpc>
              <a:spcBef>
                <a:spcPts val="0"/>
              </a:spcBef>
              <a:spcAft>
                <a:spcPts val="0"/>
              </a:spcAft>
              <a:buFont typeface="Wingdings 3" panose="05040102010807070707" pitchFamily="18" charset="2"/>
              <a:buNone/>
            </a:pPr>
            <a:r>
              <a:rPr lang="en-CA" sz="1600" dirty="0" err="1" smtClean="0">
                <a:solidFill>
                  <a:schemeClr val="accent6">
                    <a:lumMod val="75000"/>
                  </a:schemeClr>
                </a:solidFill>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a:t>
            </a:r>
            <a:r>
              <a:rPr lang="en-CA" sz="1600" b="1" dirty="0" smtClean="0">
                <a:latin typeface="Courier New" panose="02070309020205020404" pitchFamily="49" charset="0"/>
                <a:cs typeface="Courier New" panose="02070309020205020404" pitchFamily="49" charset="0"/>
              </a:rPr>
              <a:t>process_ext4</a:t>
            </a:r>
            <a:r>
              <a:rPr lang="en-CA" sz="1600" dirty="0" smtClean="0">
                <a:latin typeface="Courier New" panose="02070309020205020404" pitchFamily="49" charset="0"/>
                <a:cs typeface="Courier New" panose="02070309020205020404" pitchFamily="49" charset="0"/>
              </a:rPr>
              <a:t>(vector&lt;Extent&gt; &amp; </a:t>
            </a:r>
            <a:r>
              <a:rPr lang="en-CA" sz="1600" dirty="0" err="1" smtClean="0">
                <a:latin typeface="Courier New" panose="02070309020205020404" pitchFamily="49" charset="0"/>
                <a:cs typeface="Courier New" panose="02070309020205020404" pitchFamily="49" charset="0"/>
              </a:rPr>
              <a:t>vec</a:t>
            </a:r>
            <a:r>
              <a:rPr lang="en-CA" sz="1600" dirty="0" smtClean="0">
                <a:latin typeface="Courier New" panose="02070309020205020404" pitchFamily="49" charset="0"/>
                <a:cs typeface="Courier New" panose="02070309020205020404" pitchFamily="49" charset="0"/>
              </a:rPr>
              <a:t>, Device &amp; dev) {</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r>
              <a:rPr lang="en-CA" sz="1600" dirty="0" smtClean="0">
                <a:solidFill>
                  <a:srgbClr val="00B050"/>
                </a:solidFill>
                <a:latin typeface="Courier New" panose="02070309020205020404" pitchFamily="49" charset="0"/>
                <a:cs typeface="Courier New" panose="02070309020205020404" pitchFamily="49" charset="0"/>
              </a:rPr>
              <a:t>/* ext4 super block is 1024 bytes away from start */</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r>
              <a:rPr lang="en-CA" sz="1600" dirty="0" err="1" smtClean="0">
                <a:solidFill>
                  <a:schemeClr val="accent6">
                    <a:lumMod val="75000"/>
                  </a:schemeClr>
                </a:solidFill>
                <a:latin typeface="Courier New" panose="02070309020205020404" pitchFamily="49" charset="0"/>
                <a:cs typeface="Courier New" panose="02070309020205020404" pitchFamily="49" charset="0"/>
              </a:rPr>
              <a:t>struct</a:t>
            </a:r>
            <a:r>
              <a:rPr lang="en-CA" sz="1600" dirty="0" smtClean="0">
                <a:latin typeface="Courier New" panose="02070309020205020404" pitchFamily="49" charset="0"/>
                <a:cs typeface="Courier New" panose="02070309020205020404" pitchFamily="49" charset="0"/>
              </a:rPr>
              <a:t> ext4_super_block * </a:t>
            </a:r>
            <a:r>
              <a:rPr lang="en-CA" sz="1600" dirty="0" err="1" smtClean="0">
                <a:latin typeface="Courier New" panose="02070309020205020404" pitchFamily="49" charset="0"/>
                <a:cs typeface="Courier New" panose="02070309020205020404" pitchFamily="49" charset="0"/>
              </a:rPr>
              <a:t>sb</a:t>
            </a:r>
            <a:r>
              <a:rPr lang="en-CA" sz="1600" dirty="0" smtClean="0">
                <a:latin typeface="Courier New" panose="02070309020205020404" pitchFamily="49" charset="0"/>
                <a:cs typeface="Courier New" panose="02070309020205020404" pitchFamily="49" charset="0"/>
              </a:rPr>
              <a:t> = </a:t>
            </a:r>
            <a:r>
              <a:rPr lang="en-CA" sz="1600" dirty="0" err="1" smtClean="0">
                <a:latin typeface="Courier New" panose="02070309020205020404" pitchFamily="49" charset="0"/>
                <a:cs typeface="Courier New" panose="02070309020205020404" pitchFamily="49" charset="0"/>
              </a:rPr>
              <a:t>dev.read</a:t>
            </a:r>
            <a:r>
              <a:rPr lang="en-CA" sz="1600" dirty="0" smtClean="0">
                <a:latin typeface="Courier New" panose="02070309020205020404" pitchFamily="49" charset="0"/>
                <a:cs typeface="Courier New" panose="02070309020205020404" pitchFamily="49" charset="0"/>
              </a:rPr>
              <a:t>(</a:t>
            </a:r>
            <a:r>
              <a:rPr lang="en-CA" sz="1600" dirty="0" smtClean="0">
                <a:solidFill>
                  <a:srgbClr val="0070C0"/>
                </a:solidFill>
                <a:latin typeface="Courier New" panose="02070309020205020404" pitchFamily="49" charset="0"/>
                <a:cs typeface="Courier New" panose="02070309020205020404" pitchFamily="49" charset="0"/>
              </a:rPr>
              <a:t>1024</a:t>
            </a:r>
            <a:r>
              <a:rPr lang="en-CA" sz="1600" dirty="0" smtClean="0">
                <a:latin typeface="Courier New" panose="02070309020205020404" pitchFamily="49" charset="0"/>
                <a:cs typeface="Courier New" panose="02070309020205020404" pitchFamily="49" charset="0"/>
              </a:rPr>
              <a:t>, SB_SIZE);</a:t>
            </a:r>
          </a:p>
          <a:p>
            <a:pPr marL="0" indent="0">
              <a:lnSpc>
                <a:spcPts val="2000"/>
              </a:lnSpc>
              <a:spcBef>
                <a:spcPts val="0"/>
              </a:spcBef>
              <a:spcAft>
                <a:spcPts val="0"/>
              </a:spcAft>
              <a:buNone/>
            </a:pPr>
            <a:r>
              <a:rPr lang="en-CA" sz="1600" dirty="0">
                <a:latin typeface="Courier New" panose="02070309020205020404" pitchFamily="49" charset="0"/>
                <a:cs typeface="Courier New" panose="02070309020205020404" pitchFamily="49" charset="0"/>
              </a:rPr>
              <a:t> </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blk_size</a:t>
            </a:r>
            <a:r>
              <a:rPr lang="en-CA" sz="1600" dirty="0" smtClean="0">
                <a:latin typeface="Courier New" panose="02070309020205020404" pitchFamily="49" charset="0"/>
                <a:cs typeface="Courier New" panose="02070309020205020404" pitchFamily="49" charset="0"/>
              </a:rPr>
              <a:t> = </a:t>
            </a:r>
            <a:r>
              <a:rPr lang="en-CA" sz="1600" dirty="0">
                <a:solidFill>
                  <a:srgbClr val="0070C0"/>
                </a:solidFill>
                <a:latin typeface="Courier New" panose="02070309020205020404" pitchFamily="49" charset="0"/>
                <a:cs typeface="Courier New" panose="02070309020205020404" pitchFamily="49" charset="0"/>
              </a:rPr>
              <a:t>1024</a:t>
            </a:r>
            <a:r>
              <a:rPr lang="en-CA" sz="1600" dirty="0">
                <a:latin typeface="Courier New" panose="02070309020205020404" pitchFamily="49" charset="0"/>
                <a:cs typeface="Courier New" panose="02070309020205020404" pitchFamily="49" charset="0"/>
              </a:rPr>
              <a:t> &lt;&lt; </a:t>
            </a:r>
            <a:r>
              <a:rPr lang="en-CA" sz="1600" dirty="0" err="1">
                <a:latin typeface="Courier New" panose="02070309020205020404" pitchFamily="49" charset="0"/>
                <a:cs typeface="Courier New" panose="02070309020205020404" pitchFamily="49" charset="0"/>
              </a:rPr>
              <a:t>sb</a:t>
            </a:r>
            <a:r>
              <a:rPr lang="en-CA" sz="1600" dirty="0">
                <a:latin typeface="Courier New" panose="02070309020205020404" pitchFamily="49" charset="0"/>
                <a:cs typeface="Courier New" panose="02070309020205020404" pitchFamily="49" charset="0"/>
              </a:rPr>
              <a:t>-&gt;</a:t>
            </a:r>
            <a:r>
              <a:rPr lang="en-CA" sz="1600" dirty="0" err="1" smtClean="0">
                <a:latin typeface="Courier New" panose="02070309020205020404" pitchFamily="49" charset="0"/>
                <a:cs typeface="Courier New" panose="02070309020205020404" pitchFamily="49" charset="0"/>
              </a:rPr>
              <a:t>s_log_block_size</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dev.set_block_size</a:t>
            </a:r>
            <a:r>
              <a:rPr lang="en-CA" sz="1600" dirty="0" smtClean="0">
                <a:latin typeface="Courier New" panose="02070309020205020404" pitchFamily="49" charset="0"/>
                <a:cs typeface="Courier New" panose="02070309020205020404" pitchFamily="49" charset="0"/>
              </a:rPr>
              <a:t>(</a:t>
            </a:r>
            <a:r>
              <a:rPr lang="en-CA" sz="1600" dirty="0" err="1" smtClean="0">
                <a:latin typeface="Courier New" panose="02070309020205020404" pitchFamily="49" charset="0"/>
                <a:cs typeface="Courier New" panose="02070309020205020404" pitchFamily="49" charset="0"/>
              </a:rPr>
              <a:t>blk_size</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600" dirty="0" smtClean="0">
                <a:solidFill>
                  <a:srgbClr val="00B050"/>
                </a:solidFill>
                <a:latin typeface="Courier New" panose="02070309020205020404" pitchFamily="49" charset="0"/>
                <a:cs typeface="Courier New" panose="02070309020205020404" pitchFamily="49" charset="0"/>
              </a:rPr>
              <a:t>  /* </a:t>
            </a:r>
            <a:r>
              <a:rPr lang="en-CA" sz="1600" dirty="0">
                <a:solidFill>
                  <a:srgbClr val="00B050"/>
                </a:solidFill>
                <a:latin typeface="Courier New" panose="02070309020205020404" pitchFamily="49" charset="0"/>
                <a:cs typeface="Courier New" panose="02070309020205020404" pitchFamily="49" charset="0"/>
              </a:rPr>
              <a:t>block group descriptors start at block 2 or 1 </a:t>
            </a:r>
            <a:r>
              <a:rPr lang="en-CA" sz="1600" dirty="0" smtClean="0">
                <a:solidFill>
                  <a:srgbClr val="00B050"/>
                </a:solidFill>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r>
              <a:rPr lang="en-CA" sz="1600" dirty="0" err="1" smtClean="0">
                <a:solidFill>
                  <a:schemeClr val="accent6">
                    <a:lumMod val="75000"/>
                  </a:schemeClr>
                </a:solidFill>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bg_blknr</a:t>
            </a:r>
            <a:r>
              <a:rPr lang="en-CA" sz="1600" dirty="0" smtClean="0">
                <a:latin typeface="Courier New" panose="02070309020205020404" pitchFamily="49" charset="0"/>
                <a:cs typeface="Courier New" panose="02070309020205020404" pitchFamily="49" charset="0"/>
              </a:rPr>
              <a:t> = (</a:t>
            </a:r>
            <a:r>
              <a:rPr lang="en-CA" sz="1600" dirty="0" err="1" smtClean="0">
                <a:latin typeface="Courier New" panose="02070309020205020404" pitchFamily="49" charset="0"/>
                <a:cs typeface="Courier New" panose="02070309020205020404" pitchFamily="49" charset="0"/>
              </a:rPr>
              <a:t>sb</a:t>
            </a:r>
            <a:r>
              <a:rPr lang="en-CA" sz="1600" dirty="0" smtClean="0">
                <a:latin typeface="Courier New" panose="02070309020205020404" pitchFamily="49" charset="0"/>
                <a:cs typeface="Courier New" panose="02070309020205020404" pitchFamily="49" charset="0"/>
              </a:rPr>
              <a:t>-&gt;</a:t>
            </a:r>
            <a:r>
              <a:rPr lang="en-CA" sz="1600" dirty="0" err="1" smtClean="0">
                <a:latin typeface="Courier New" panose="02070309020205020404" pitchFamily="49" charset="0"/>
                <a:cs typeface="Courier New" panose="02070309020205020404" pitchFamily="49" charset="0"/>
              </a:rPr>
              <a:t>s_log_block_size</a:t>
            </a:r>
            <a:r>
              <a:rPr lang="en-CA" sz="1600" dirty="0" smtClean="0">
                <a:latin typeface="Courier New" panose="02070309020205020404" pitchFamily="49" charset="0"/>
                <a:cs typeface="Courier New" panose="02070309020205020404" pitchFamily="49" charset="0"/>
              </a:rPr>
              <a:t> == </a:t>
            </a:r>
            <a:r>
              <a:rPr lang="en-CA" sz="1600" dirty="0" smtClean="0">
                <a:solidFill>
                  <a:srgbClr val="0070C0"/>
                </a:solidFill>
                <a:latin typeface="Courier New" panose="02070309020205020404" pitchFamily="49" charset="0"/>
                <a:cs typeface="Courier New" panose="02070309020205020404" pitchFamily="49" charset="0"/>
              </a:rPr>
              <a:t>0</a:t>
            </a:r>
            <a:r>
              <a:rPr lang="en-CA" sz="1600" dirty="0" smtClean="0">
                <a:latin typeface="Courier New" panose="02070309020205020404" pitchFamily="49" charset="0"/>
                <a:cs typeface="Courier New" panose="02070309020205020404" pitchFamily="49" charset="0"/>
              </a:rPr>
              <a:t>) </a:t>
            </a:r>
            <a:r>
              <a:rPr lang="en-CA" sz="1600" dirty="0" smtClean="0">
                <a:solidFill>
                  <a:srgbClr val="0070C0"/>
                </a:solidFill>
                <a:latin typeface="Courier New" panose="02070309020205020404" pitchFamily="49" charset="0"/>
                <a:cs typeface="Courier New" panose="02070309020205020404" pitchFamily="49" charset="0"/>
              </a:rPr>
              <a:t>2</a:t>
            </a:r>
            <a:r>
              <a:rPr lang="en-CA" sz="1600" dirty="0" smtClean="0">
                <a:latin typeface="Courier New" panose="02070309020205020404" pitchFamily="49" charset="0"/>
                <a:cs typeface="Courier New" panose="02070309020205020404" pitchFamily="49" charset="0"/>
              </a:rPr>
              <a:t> : </a:t>
            </a:r>
            <a:r>
              <a:rPr lang="en-CA" sz="1600" dirty="0" smtClean="0">
                <a:solidFill>
                  <a:srgbClr val="0070C0"/>
                </a:solidFill>
                <a:latin typeface="Courier New" panose="02070309020205020404" pitchFamily="49" charset="0"/>
                <a:cs typeface="Courier New" panose="02070309020205020404" pitchFamily="49" charset="0"/>
              </a:rPr>
              <a:t>1</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r>
              <a:rPr lang="en-CA" sz="1600" dirty="0" err="1" smtClean="0">
                <a:solidFill>
                  <a:schemeClr val="accent6">
                    <a:lumMod val="75000"/>
                  </a:schemeClr>
                </a:solidFill>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bg_ngrps</a:t>
            </a:r>
            <a:r>
              <a:rPr lang="en-CA" sz="1600" dirty="0" smtClean="0">
                <a:latin typeface="Courier New" panose="02070309020205020404" pitchFamily="49" charset="0"/>
                <a:cs typeface="Courier New" panose="02070309020205020404" pitchFamily="49" charset="0"/>
              </a:rPr>
              <a:t> = ceil(</a:t>
            </a:r>
            <a:r>
              <a:rPr lang="en-CA" sz="1600" dirty="0" err="1" smtClean="0">
                <a:latin typeface="Courier New" panose="02070309020205020404" pitchFamily="49" charset="0"/>
                <a:cs typeface="Courier New" panose="02070309020205020404" pitchFamily="49" charset="0"/>
              </a:rPr>
              <a:t>sb</a:t>
            </a:r>
            <a:r>
              <a:rPr lang="en-CA" sz="1600" dirty="0" smtClean="0">
                <a:latin typeface="Courier New" panose="02070309020205020404" pitchFamily="49" charset="0"/>
                <a:cs typeface="Courier New" panose="02070309020205020404" pitchFamily="49" charset="0"/>
              </a:rPr>
              <a:t>-&gt;</a:t>
            </a:r>
            <a:r>
              <a:rPr lang="en-CA" sz="1600" dirty="0" err="1" smtClean="0">
                <a:latin typeface="Courier New" panose="02070309020205020404" pitchFamily="49" charset="0"/>
                <a:cs typeface="Courier New" panose="02070309020205020404" pitchFamily="49" charset="0"/>
              </a:rPr>
              <a:t>s_blocks_count</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sb</a:t>
            </a:r>
            <a:r>
              <a:rPr lang="en-CA" sz="1600" dirty="0" smtClean="0">
                <a:latin typeface="Courier New" panose="02070309020205020404" pitchFamily="49" charset="0"/>
                <a:cs typeface="Courier New" panose="02070309020205020404" pitchFamily="49" charset="0"/>
              </a:rPr>
              <a:t>-&gt;</a:t>
            </a:r>
            <a:r>
              <a:rPr lang="en-CA" sz="1600" dirty="0" err="1" smtClean="0">
                <a:latin typeface="Courier New" panose="02070309020205020404" pitchFamily="49" charset="0"/>
                <a:cs typeface="Courier New" panose="02070309020205020404" pitchFamily="49" charset="0"/>
              </a:rPr>
              <a:t>s_blocks_per_group</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600" dirty="0">
                <a:latin typeface="Courier New" panose="02070309020205020404" pitchFamily="49" charset="0"/>
                <a:cs typeface="Courier New" panose="02070309020205020404" pitchFamily="49" charset="0"/>
              </a:rPr>
              <a:t> </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bg_nblks</a:t>
            </a:r>
            <a:r>
              <a:rPr lang="en-CA" sz="1600" dirty="0" smtClean="0">
                <a:latin typeface="Courier New" panose="02070309020205020404" pitchFamily="49" charset="0"/>
                <a:cs typeface="Courier New" panose="02070309020205020404" pitchFamily="49" charset="0"/>
              </a:rPr>
              <a:t> </a:t>
            </a:r>
            <a:r>
              <a:rPr lang="en-CA" sz="1600" dirty="0">
                <a:latin typeface="Courier New" panose="02070309020205020404" pitchFamily="49" charset="0"/>
                <a:cs typeface="Courier New" panose="02070309020205020404" pitchFamily="49" charset="0"/>
              </a:rPr>
              <a:t>= </a:t>
            </a:r>
            <a:r>
              <a:rPr lang="en-CA" sz="1600" dirty="0" smtClean="0">
                <a:latin typeface="Courier New" panose="02070309020205020404" pitchFamily="49" charset="0"/>
                <a:cs typeface="Courier New" panose="02070309020205020404" pitchFamily="49" charset="0"/>
              </a:rPr>
              <a:t>ceil(</a:t>
            </a:r>
            <a:r>
              <a:rPr lang="en-CA" sz="1600" dirty="0" err="1" smtClean="0">
                <a:latin typeface="Courier New" panose="02070309020205020404" pitchFamily="49" charset="0"/>
                <a:cs typeface="Courier New" panose="02070309020205020404" pitchFamily="49" charset="0"/>
              </a:rPr>
              <a:t>bg_ngrps</a:t>
            </a:r>
            <a:r>
              <a:rPr lang="en-CA" sz="1600" dirty="0" smtClean="0">
                <a:latin typeface="Courier New" panose="02070309020205020404" pitchFamily="49" charset="0"/>
                <a:cs typeface="Courier New" panose="02070309020205020404" pitchFamily="49" charset="0"/>
              </a:rPr>
              <a:t>*</a:t>
            </a:r>
            <a:r>
              <a:rPr lang="en-CA" sz="1600" dirty="0" err="1" smtClean="0">
                <a:latin typeface="Courier New" panose="02070309020205020404" pitchFamily="49" charset="0"/>
                <a:cs typeface="Courier New" panose="02070309020205020404" pitchFamily="49" charset="0"/>
              </a:rPr>
              <a:t>sizeof</a:t>
            </a:r>
            <a:r>
              <a:rPr lang="en-CA" sz="1600" dirty="0" smtClean="0">
                <a:latin typeface="Courier New" panose="02070309020205020404" pitchFamily="49" charset="0"/>
                <a:cs typeface="Courier New" panose="02070309020205020404" pitchFamily="49" charset="0"/>
              </a:rPr>
              <a:t>(</a:t>
            </a:r>
            <a:r>
              <a:rPr lang="en-CA" sz="1600" dirty="0" err="1" smtClean="0">
                <a:solidFill>
                  <a:schemeClr val="accent6">
                    <a:lumMod val="75000"/>
                  </a:schemeClr>
                </a:solidFill>
                <a:latin typeface="Courier New" panose="02070309020205020404" pitchFamily="49" charset="0"/>
                <a:cs typeface="Courier New" panose="02070309020205020404" pitchFamily="49" charset="0"/>
              </a:rPr>
              <a:t>struct</a:t>
            </a:r>
            <a:r>
              <a:rPr lang="en-CA" sz="1600" dirty="0" smtClean="0">
                <a:latin typeface="Courier New" panose="02070309020205020404" pitchFamily="49" charset="0"/>
                <a:cs typeface="Courier New" panose="02070309020205020404" pitchFamily="49" charset="0"/>
              </a:rPr>
              <a:t> ext4_group_desc), </a:t>
            </a:r>
            <a:r>
              <a:rPr lang="en-CA" sz="1600" dirty="0" err="1">
                <a:latin typeface="Courier New" panose="02070309020205020404" pitchFamily="49" charset="0"/>
                <a:cs typeface="Courier New" panose="02070309020205020404" pitchFamily="49" charset="0"/>
              </a:rPr>
              <a:t>blk_size</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Font typeface="Wingdings 3" panose="05040102010807070707" pitchFamily="18" charset="2"/>
              <a:buNone/>
            </a:pPr>
            <a:r>
              <a:rPr lang="en-CA" sz="1600" dirty="0" smtClean="0">
                <a:solidFill>
                  <a:srgbClr val="00B050"/>
                </a:solidFill>
                <a:latin typeface="Courier New" panose="02070309020205020404" pitchFamily="49" charset="0"/>
                <a:cs typeface="Courier New" panose="02070309020205020404" pitchFamily="49" charset="0"/>
              </a:rPr>
              <a:t>  /* read all of the block group descriptors into memory */</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r>
              <a:rPr lang="en-CA" sz="1600" dirty="0" err="1" smtClean="0">
                <a:solidFill>
                  <a:schemeClr val="accent6">
                    <a:lumMod val="75000"/>
                  </a:schemeClr>
                </a:solidFill>
                <a:latin typeface="Courier New" panose="02070309020205020404" pitchFamily="49" charset="0"/>
                <a:cs typeface="Courier New" panose="02070309020205020404" pitchFamily="49" charset="0"/>
              </a:rPr>
              <a:t>struct</a:t>
            </a:r>
            <a:r>
              <a:rPr lang="en-CA" sz="1600" dirty="0" smtClean="0">
                <a:latin typeface="Courier New" panose="02070309020205020404" pitchFamily="49" charset="0"/>
                <a:cs typeface="Courier New" panose="02070309020205020404" pitchFamily="49" charset="0"/>
              </a:rPr>
              <a:t> ext4_group_desc * </a:t>
            </a:r>
            <a:r>
              <a:rPr lang="en-CA" sz="1600" dirty="0" err="1" smtClean="0">
                <a:latin typeface="Courier New" panose="02070309020205020404" pitchFamily="49" charset="0"/>
                <a:cs typeface="Courier New" panose="02070309020205020404" pitchFamily="49" charset="0"/>
              </a:rPr>
              <a:t>gd</a:t>
            </a:r>
            <a:r>
              <a:rPr lang="en-CA" sz="1600" dirty="0" smtClean="0">
                <a:latin typeface="Courier New" panose="02070309020205020404" pitchFamily="49" charset="0"/>
                <a:cs typeface="Courier New" panose="02070309020205020404" pitchFamily="49" charset="0"/>
              </a:rPr>
              <a:t> = </a:t>
            </a:r>
            <a:r>
              <a:rPr lang="en-CA" sz="1600" dirty="0" err="1" smtClean="0">
                <a:latin typeface="Courier New" panose="02070309020205020404" pitchFamily="49" charset="0"/>
                <a:cs typeface="Courier New" panose="02070309020205020404" pitchFamily="49" charset="0"/>
              </a:rPr>
              <a:t>dev.read_block</a:t>
            </a:r>
            <a:r>
              <a:rPr lang="en-CA" sz="1600" dirty="0" smtClean="0">
                <a:latin typeface="Courier New" panose="02070309020205020404" pitchFamily="49" charset="0"/>
                <a:cs typeface="Courier New" panose="02070309020205020404" pitchFamily="49" charset="0"/>
              </a:rPr>
              <a:t>(</a:t>
            </a:r>
            <a:r>
              <a:rPr lang="en-CA" sz="1600" dirty="0" err="1" smtClean="0">
                <a:latin typeface="Courier New" panose="02070309020205020404" pitchFamily="49" charset="0"/>
                <a:cs typeface="Courier New" panose="02070309020205020404" pitchFamily="49" charset="0"/>
              </a:rPr>
              <a:t>bg_blknr</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bg_nblks</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600" dirty="0" smtClean="0">
                <a:latin typeface="Courier New" panose="02070309020205020404" pitchFamily="49" charset="0"/>
                <a:cs typeface="Courier New" panose="02070309020205020404" pitchFamily="49" charset="0"/>
              </a:rPr>
              <a:t>  for (</a:t>
            </a:r>
            <a:r>
              <a:rPr lang="en-CA" sz="1600" dirty="0" err="1" smtClean="0">
                <a:solidFill>
                  <a:schemeClr val="accent6">
                    <a:lumMod val="75000"/>
                  </a:schemeClr>
                </a:solidFill>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i</a:t>
            </a:r>
            <a:r>
              <a:rPr lang="en-CA" sz="1600" dirty="0" smtClean="0">
                <a:latin typeface="Courier New" panose="02070309020205020404" pitchFamily="49" charset="0"/>
                <a:cs typeface="Courier New" panose="02070309020205020404" pitchFamily="49" charset="0"/>
              </a:rPr>
              <a:t> = </a:t>
            </a:r>
            <a:r>
              <a:rPr lang="en-CA" sz="1600" dirty="0" smtClean="0">
                <a:solidFill>
                  <a:srgbClr val="0070C0"/>
                </a:solidFill>
                <a:latin typeface="Courier New" panose="02070309020205020404" pitchFamily="49" charset="0"/>
                <a:cs typeface="Courier New" panose="02070309020205020404" pitchFamily="49" charset="0"/>
              </a:rPr>
              <a:t>0</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i</a:t>
            </a:r>
            <a:r>
              <a:rPr lang="en-CA" sz="1600" dirty="0" smtClean="0">
                <a:latin typeface="Courier New" panose="02070309020205020404" pitchFamily="49" charset="0"/>
                <a:cs typeface="Courier New" panose="02070309020205020404" pitchFamily="49" charset="0"/>
              </a:rPr>
              <a:t> &lt; </a:t>
            </a:r>
            <a:r>
              <a:rPr lang="en-CA" sz="1600" dirty="0" err="1">
                <a:latin typeface="Courier New" panose="02070309020205020404" pitchFamily="49" charset="0"/>
                <a:cs typeface="Courier New" panose="02070309020205020404" pitchFamily="49" charset="0"/>
              </a:rPr>
              <a:t>bg_ngrps</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i</a:t>
            </a:r>
            <a:r>
              <a:rPr lang="en-CA" sz="1600" dirty="0" smtClean="0">
                <a:latin typeface="Courier New" panose="02070309020205020404" pitchFamily="49" charset="0"/>
                <a:cs typeface="Courier New" panose="02070309020205020404" pitchFamily="49" charset="0"/>
              </a:rPr>
              <a:t>) {</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r>
              <a:rPr lang="en-CA" sz="1600" dirty="0" smtClean="0">
                <a:solidFill>
                  <a:schemeClr val="accent6">
                    <a:lumMod val="75000"/>
                  </a:schemeClr>
                </a:solidFill>
                <a:latin typeface="Courier New" panose="02070309020205020404" pitchFamily="49" charset="0"/>
                <a:cs typeface="Courier New" panose="02070309020205020404" pitchFamily="49" charset="0"/>
              </a:rPr>
              <a:t>char</a:t>
            </a:r>
            <a:r>
              <a:rPr lang="en-CA" sz="1600" dirty="0" smtClean="0">
                <a:latin typeface="Courier New" panose="02070309020205020404" pitchFamily="49" charset="0"/>
                <a:cs typeface="Courier New" panose="02070309020205020404" pitchFamily="49" charset="0"/>
              </a:rPr>
              <a:t> * </a:t>
            </a:r>
            <a:r>
              <a:rPr lang="en-CA" sz="1600" dirty="0" err="1" smtClean="0">
                <a:latin typeface="Courier New" panose="02070309020205020404" pitchFamily="49" charset="0"/>
                <a:cs typeface="Courier New" panose="02070309020205020404" pitchFamily="49" charset="0"/>
              </a:rPr>
              <a:t>buf</a:t>
            </a:r>
            <a:r>
              <a:rPr lang="en-CA" sz="1600" dirty="0" smtClean="0">
                <a:latin typeface="Courier New" panose="02070309020205020404" pitchFamily="49" charset="0"/>
                <a:cs typeface="Courier New" panose="02070309020205020404" pitchFamily="49" charset="0"/>
              </a:rPr>
              <a:t> = </a:t>
            </a:r>
            <a:r>
              <a:rPr lang="en-CA" sz="1600" dirty="0" err="1" smtClean="0">
                <a:latin typeface="Courier New" panose="02070309020205020404" pitchFamily="49" charset="0"/>
                <a:cs typeface="Courier New" panose="02070309020205020404" pitchFamily="49" charset="0"/>
              </a:rPr>
              <a:t>dev.read_block</a:t>
            </a:r>
            <a:r>
              <a:rPr lang="en-CA" sz="1600" dirty="0" smtClean="0">
                <a:latin typeface="Courier New" panose="02070309020205020404" pitchFamily="49" charset="0"/>
                <a:cs typeface="Courier New" panose="02070309020205020404" pitchFamily="49" charset="0"/>
              </a:rPr>
              <a:t>(</a:t>
            </a:r>
            <a:r>
              <a:rPr lang="en-CA" sz="1600" dirty="0" err="1" smtClean="0">
                <a:latin typeface="Courier New" panose="02070309020205020404" pitchFamily="49" charset="0"/>
                <a:cs typeface="Courier New" panose="02070309020205020404" pitchFamily="49" charset="0"/>
              </a:rPr>
              <a:t>gd</a:t>
            </a:r>
            <a:r>
              <a:rPr lang="en-CA" sz="1600" dirty="0" smtClean="0">
                <a:latin typeface="Courier New" panose="02070309020205020404" pitchFamily="49" charset="0"/>
                <a:cs typeface="Courier New" panose="02070309020205020404" pitchFamily="49" charset="0"/>
              </a:rPr>
              <a:t>[</a:t>
            </a:r>
            <a:r>
              <a:rPr lang="en-CA" sz="1600" dirty="0" err="1" smtClean="0">
                <a:latin typeface="Courier New" panose="02070309020205020404" pitchFamily="49" charset="0"/>
                <a:cs typeface="Courier New" panose="02070309020205020404" pitchFamily="49" charset="0"/>
              </a:rPr>
              <a:t>i</a:t>
            </a:r>
            <a:r>
              <a:rPr lang="en-CA" sz="1600" dirty="0" smtClean="0">
                <a:latin typeface="Courier New" panose="02070309020205020404" pitchFamily="49" charset="0"/>
                <a:cs typeface="Courier New" panose="02070309020205020404" pitchFamily="49" charset="0"/>
              </a:rPr>
              <a:t>]-&gt;</a:t>
            </a:r>
            <a:r>
              <a:rPr lang="en-CA" sz="1600" dirty="0" err="1" smtClean="0">
                <a:latin typeface="Courier New" panose="02070309020205020404" pitchFamily="49" charset="0"/>
                <a:cs typeface="Courier New" panose="02070309020205020404" pitchFamily="49" charset="0"/>
              </a:rPr>
              <a:t>bg_block_bitmap</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r>
              <a:rPr lang="en-CA" sz="1600" dirty="0" err="1" smtClean="0">
                <a:solidFill>
                  <a:schemeClr val="accent6">
                    <a:lumMod val="75000"/>
                  </a:schemeClr>
                </a:solidFill>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ret = </a:t>
            </a:r>
            <a:r>
              <a:rPr lang="en-CA" sz="1600" dirty="0" err="1" smtClean="0">
                <a:latin typeface="Courier New" panose="02070309020205020404" pitchFamily="49" charset="0"/>
                <a:cs typeface="Courier New" panose="02070309020205020404" pitchFamily="49" charset="0"/>
              </a:rPr>
              <a:t>process_block_bitmap</a:t>
            </a:r>
            <a:r>
              <a:rPr lang="en-CA" sz="1600" dirty="0" smtClean="0">
                <a:latin typeface="Courier New" panose="02070309020205020404" pitchFamily="49" charset="0"/>
                <a:cs typeface="Courier New" panose="02070309020205020404" pitchFamily="49" charset="0"/>
              </a:rPr>
              <a:t>(</a:t>
            </a:r>
            <a:r>
              <a:rPr lang="en-CA" sz="1600" dirty="0" err="1" smtClean="0">
                <a:latin typeface="Courier New" panose="02070309020205020404" pitchFamily="49" charset="0"/>
                <a:cs typeface="Courier New" panose="02070309020205020404" pitchFamily="49" charset="0"/>
              </a:rPr>
              <a:t>vec</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buf</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p>
          <a:p>
            <a:pPr marL="0" indent="0">
              <a:lnSpc>
                <a:spcPts val="2000"/>
              </a:lnSpc>
              <a:spcBef>
                <a:spcPts val="0"/>
              </a:spcBef>
              <a:spcAft>
                <a:spcPts val="0"/>
              </a:spcAft>
              <a:buFont typeface="Wingdings 3" panose="05040102010807070707" pitchFamily="18" charset="2"/>
              <a:buNone/>
            </a:pPr>
            <a:r>
              <a:rPr lang="en-CA" sz="1600" dirty="0">
                <a:latin typeface="Courier New" panose="02070309020205020404" pitchFamily="49" charset="0"/>
                <a:cs typeface="Courier New" panose="02070309020205020404" pitchFamily="49" charset="0"/>
              </a:rPr>
              <a:t> </a:t>
            </a:r>
            <a:r>
              <a:rPr lang="en-CA" sz="1600" dirty="0" smtClean="0">
                <a:latin typeface="Courier New" panose="02070309020205020404" pitchFamily="49" charset="0"/>
                <a:cs typeface="Courier New" panose="02070309020205020404" pitchFamily="49" charset="0"/>
              </a:rPr>
              <a:t> …</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a:t>
            </a:r>
          </a:p>
        </p:txBody>
      </p:sp>
      <p:sp>
        <p:nvSpPr>
          <p:cNvPr id="5" name="Title 4"/>
          <p:cNvSpPr>
            <a:spLocks noGrp="1"/>
          </p:cNvSpPr>
          <p:nvPr>
            <p:ph type="title"/>
          </p:nvPr>
        </p:nvSpPr>
        <p:spPr/>
        <p:txBody>
          <a:bodyPr/>
          <a:lstStyle/>
          <a:p>
            <a:r>
              <a:rPr lang="en-CA" dirty="0" smtClean="0"/>
              <a:t>Coding Style Comparison</a:t>
            </a:r>
            <a:endParaRPr lang="en-CA" dirty="0"/>
          </a:p>
        </p:txBody>
      </p:sp>
      <p:sp>
        <p:nvSpPr>
          <p:cNvPr id="2" name="TextBox 1"/>
          <p:cNvSpPr txBox="1"/>
          <p:nvPr/>
        </p:nvSpPr>
        <p:spPr>
          <a:xfrm>
            <a:off x="8734308" y="2073898"/>
            <a:ext cx="2681552" cy="1508105"/>
          </a:xfrm>
          <a:prstGeom prst="rect">
            <a:avLst/>
          </a:prstGeom>
          <a:noFill/>
        </p:spPr>
        <p:txBody>
          <a:bodyPr wrap="square" rtlCol="0">
            <a:spAutoFit/>
          </a:bodyPr>
          <a:lstStyle/>
          <a:p>
            <a:pPr>
              <a:lnSpc>
                <a:spcPts val="2400"/>
              </a:lnSpc>
              <a:spcBef>
                <a:spcPts val="600"/>
              </a:spcBef>
            </a:pPr>
            <a:r>
              <a:rPr lang="en-CA" b="1" dirty="0" smtClean="0">
                <a:solidFill>
                  <a:schemeClr val="bg1"/>
                </a:solidFill>
              </a:rPr>
              <a:t>No sanity checks!</a:t>
            </a:r>
          </a:p>
          <a:p>
            <a:pPr marL="263525" indent="-179388">
              <a:buFont typeface="Arial" panose="020B0604020202020204" pitchFamily="34" charset="0"/>
              <a:buChar char="•"/>
            </a:pPr>
            <a:r>
              <a:rPr lang="en-CA" dirty="0" smtClean="0">
                <a:solidFill>
                  <a:schemeClr val="bg1"/>
                </a:solidFill>
              </a:rPr>
              <a:t>Value may be out- of-bound, incorrect</a:t>
            </a:r>
          </a:p>
          <a:p>
            <a:pPr marL="263525" indent="-179388">
              <a:buFont typeface="Arial" panose="020B0604020202020204" pitchFamily="34" charset="0"/>
              <a:buChar char="•"/>
            </a:pPr>
            <a:r>
              <a:rPr lang="en-CA" dirty="0" smtClean="0">
                <a:solidFill>
                  <a:schemeClr val="bg1"/>
                </a:solidFill>
              </a:rPr>
              <a:t>Can cause crashes</a:t>
            </a:r>
            <a:br>
              <a:rPr lang="en-CA" dirty="0" smtClean="0">
                <a:solidFill>
                  <a:schemeClr val="bg1"/>
                </a:solidFill>
              </a:rPr>
            </a:br>
            <a:r>
              <a:rPr lang="en-CA" dirty="0" smtClean="0">
                <a:solidFill>
                  <a:schemeClr val="bg1"/>
                </a:solidFill>
              </a:rPr>
              <a:t>or garbage output</a:t>
            </a:r>
            <a:endParaRPr lang="en-CA" dirty="0">
              <a:solidFill>
                <a:schemeClr val="bg1"/>
              </a:solidFill>
            </a:endParaRPr>
          </a:p>
        </p:txBody>
      </p:sp>
      <p:cxnSp>
        <p:nvCxnSpPr>
          <p:cNvPr id="6" name="Straight Arrow Connector 5"/>
          <p:cNvCxnSpPr/>
          <p:nvPr/>
        </p:nvCxnSpPr>
        <p:spPr>
          <a:xfrm flipH="1">
            <a:off x="6778487" y="2281287"/>
            <a:ext cx="1955821" cy="740209"/>
          </a:xfrm>
          <a:prstGeom prst="straightConnector1">
            <a:avLst/>
          </a:prstGeom>
          <a:ln w="38100">
            <a:solidFill>
              <a:srgbClr val="FF0000">
                <a:alpha val="70000"/>
              </a:srgbClr>
            </a:solidFill>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p:cNvCxnSpPr/>
          <p:nvPr/>
        </p:nvCxnSpPr>
        <p:spPr>
          <a:xfrm flipH="1">
            <a:off x="7374835" y="2281287"/>
            <a:ext cx="1359473" cy="1495583"/>
          </a:xfrm>
          <a:prstGeom prst="straightConnector1">
            <a:avLst/>
          </a:prstGeom>
          <a:ln w="38100">
            <a:solidFill>
              <a:srgbClr val="FF0000">
                <a:alpha val="70000"/>
              </a:srgbClr>
            </a:solidFill>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p:cNvCxnSpPr/>
          <p:nvPr/>
        </p:nvCxnSpPr>
        <p:spPr>
          <a:xfrm rot="5400000">
            <a:off x="6780007" y="3402890"/>
            <a:ext cx="3075904" cy="832699"/>
          </a:xfrm>
          <a:prstGeom prst="bentConnector3">
            <a:avLst>
              <a:gd name="adj1" fmla="val 100085"/>
            </a:avLst>
          </a:prstGeom>
          <a:ln w="38100">
            <a:solidFill>
              <a:srgbClr val="FF0000">
                <a:alpha val="70000"/>
              </a:srgbClr>
            </a:solidFill>
            <a:tailEnd type="triangle"/>
          </a:ln>
        </p:spPr>
        <p:style>
          <a:lnRef idx="1">
            <a:schemeClr val="accent1"/>
          </a:lnRef>
          <a:fillRef idx="0">
            <a:schemeClr val="accent1"/>
          </a:fillRef>
          <a:effectRef idx="0">
            <a:schemeClr val="accent1"/>
          </a:effectRef>
          <a:fontRef idx="minor">
            <a:schemeClr val="tx1"/>
          </a:fontRef>
        </p:style>
      </p:cxnSp>
      <p:sp>
        <p:nvSpPr>
          <p:cNvPr id="16" name="Content Placeholder 9"/>
          <p:cNvSpPr txBox="1">
            <a:spLocks/>
          </p:cNvSpPr>
          <p:nvPr/>
        </p:nvSpPr>
        <p:spPr>
          <a:xfrm>
            <a:off x="684211" y="1515358"/>
            <a:ext cx="10285797" cy="1124147"/>
          </a:xfrm>
          <a:prstGeom prst="rect">
            <a:avLst/>
          </a:prstGeom>
        </p:spPr>
        <p:txBody>
          <a:bodyPr vert="horz" lIns="91440" tIns="45720" rIns="91440" bIns="45720" rtlCol="0" anchor="t">
            <a:norm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r>
              <a:rPr lang="en-CA" dirty="0" smtClean="0"/>
              <a:t>Manual, Ad-hoc processing</a:t>
            </a:r>
            <a:endParaRPr lang="en-CA" dirty="0"/>
          </a:p>
        </p:txBody>
      </p:sp>
      <p:sp>
        <p:nvSpPr>
          <p:cNvPr id="8" name="Slide Number Placeholder 7"/>
          <p:cNvSpPr>
            <a:spLocks noGrp="1"/>
          </p:cNvSpPr>
          <p:nvPr>
            <p:ph type="sldNum" sz="quarter" idx="12"/>
          </p:nvPr>
        </p:nvSpPr>
        <p:spPr/>
        <p:txBody>
          <a:bodyPr/>
          <a:lstStyle/>
          <a:p>
            <a:fld id="{7B2023C8-B124-43A9-8F92-0EEF5BAA9995}" type="slidenum">
              <a:rPr lang="en-CA" smtClean="0"/>
              <a:pPr/>
              <a:t>25</a:t>
            </a:fld>
            <a:endParaRPr lang="en-CA" dirty="0"/>
          </a:p>
        </p:txBody>
      </p:sp>
    </p:spTree>
    <p:extLst>
      <p:ext uri="{BB962C8B-B14F-4D97-AF65-F5344CB8AC3E}">
        <p14:creationId xmlns:p14="http://schemas.microsoft.com/office/powerpoint/2010/main" val="1351305738"/>
      </p:ext>
    </p:extLst>
  </p:cSld>
  <p:clrMapOvr>
    <a:masterClrMapping/>
  </p:clrMapOvr>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lstStyle/>
          <a:p>
            <a:r>
              <a:rPr lang="en-CA" dirty="0" smtClean="0"/>
              <a:t>Coding Style Comparison</a:t>
            </a:r>
            <a:endParaRPr lang="en-CA" dirty="0"/>
          </a:p>
        </p:txBody>
      </p:sp>
      <p:sp>
        <p:nvSpPr>
          <p:cNvPr id="10" name="Content Placeholder 9"/>
          <p:cNvSpPr>
            <a:spLocks noGrp="1"/>
          </p:cNvSpPr>
          <p:nvPr>
            <p:ph idx="1"/>
          </p:nvPr>
        </p:nvSpPr>
        <p:spPr>
          <a:xfrm>
            <a:off x="684211" y="1515358"/>
            <a:ext cx="10285797" cy="1576634"/>
          </a:xfrm>
        </p:spPr>
        <p:txBody>
          <a:bodyPr>
            <a:normAutofit/>
          </a:bodyPr>
          <a:lstStyle/>
          <a:p>
            <a:r>
              <a:rPr lang="en-CA" dirty="0" smtClean="0"/>
              <a:t>Using Spiffy Library</a:t>
            </a:r>
          </a:p>
          <a:p>
            <a:pPr lvl="1"/>
            <a:endParaRPr lang="en-CA" dirty="0" smtClean="0"/>
          </a:p>
          <a:p>
            <a:pPr marL="0" indent="0">
              <a:buNone/>
            </a:pPr>
            <a:r>
              <a:rPr lang="en-CA" dirty="0" smtClean="0"/>
              <a:t>  </a:t>
            </a:r>
            <a:endParaRPr lang="en-CA" dirty="0"/>
          </a:p>
        </p:txBody>
      </p:sp>
      <p:sp>
        <p:nvSpPr>
          <p:cNvPr id="11" name="Content Placeholder 6"/>
          <p:cNvSpPr txBox="1">
            <a:spLocks/>
          </p:cNvSpPr>
          <p:nvPr/>
        </p:nvSpPr>
        <p:spPr>
          <a:xfrm>
            <a:off x="951929" y="2073898"/>
            <a:ext cx="10285797" cy="4278718"/>
          </a:xfrm>
          <a:prstGeom prst="rect">
            <a:avLst/>
          </a:prstGeom>
        </p:spPr>
        <p:txBody>
          <a:bodyPr vert="horz" lIns="91440" tIns="45720" rIns="91440" bIns="45720" rtlCol="0" anchor="t">
            <a:norm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pPr marL="0" indent="0">
              <a:lnSpc>
                <a:spcPts val="2000"/>
              </a:lnSpc>
              <a:spcBef>
                <a:spcPts val="0"/>
              </a:spcBef>
              <a:spcAft>
                <a:spcPts val="0"/>
              </a:spcAft>
              <a:buFont typeface="Wingdings 3" panose="05040102010807070707" pitchFamily="18" charset="2"/>
              <a:buNone/>
            </a:pPr>
            <a:r>
              <a:rPr lang="en-CA" sz="1600" dirty="0">
                <a:solidFill>
                  <a:schemeClr val="accent6">
                    <a:lumMod val="75000"/>
                  </a:schemeClr>
                </a:solidFill>
                <a:latin typeface="Courier New" panose="02070309020205020404" pitchFamily="49" charset="0"/>
                <a:cs typeface="Courier New" panose="02070309020205020404" pitchFamily="49" charset="0"/>
              </a:rPr>
              <a:t> </a:t>
            </a:r>
            <a:r>
              <a:rPr lang="en-CA" sz="1600" dirty="0" smtClean="0">
                <a:solidFill>
                  <a:schemeClr val="accent6">
                    <a:lumMod val="75000"/>
                  </a:schemeClr>
                </a:solidFill>
                <a:latin typeface="Courier New" panose="02070309020205020404" pitchFamily="49" charset="0"/>
                <a:cs typeface="Courier New" panose="02070309020205020404" pitchFamily="49" charset="0"/>
              </a:rPr>
              <a:t>  </a:t>
            </a:r>
            <a:r>
              <a:rPr lang="en-CA" sz="1600" dirty="0" err="1" smtClean="0">
                <a:solidFill>
                  <a:schemeClr val="accent6">
                    <a:lumMod val="75000"/>
                  </a:schemeClr>
                </a:solidFill>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a:t>
            </a:r>
            <a:r>
              <a:rPr lang="en-CA" sz="1600" b="1" dirty="0" smtClean="0">
                <a:latin typeface="Courier New" panose="02070309020205020404" pitchFamily="49" charset="0"/>
                <a:cs typeface="Courier New" panose="02070309020205020404" pitchFamily="49" charset="0"/>
              </a:rPr>
              <a:t>process_ext4</a:t>
            </a:r>
            <a:r>
              <a:rPr lang="en-CA" sz="1600" dirty="0" smtClean="0">
                <a:latin typeface="Courier New" panose="02070309020205020404" pitchFamily="49" charset="0"/>
                <a:cs typeface="Courier New" panose="02070309020205020404" pitchFamily="49" charset="0"/>
              </a:rPr>
              <a:t>(vector&lt;Extent&gt; &amp; </a:t>
            </a:r>
            <a:r>
              <a:rPr lang="en-CA" sz="1600" dirty="0" err="1" smtClean="0">
                <a:latin typeface="Courier New" panose="02070309020205020404" pitchFamily="49" charset="0"/>
                <a:cs typeface="Courier New" panose="02070309020205020404" pitchFamily="49" charset="0"/>
              </a:rPr>
              <a:t>vec</a:t>
            </a:r>
            <a:r>
              <a:rPr lang="en-CA" sz="1600" dirty="0" smtClean="0">
                <a:latin typeface="Courier New" panose="02070309020205020404" pitchFamily="49" charset="0"/>
                <a:cs typeface="Courier New" panose="02070309020205020404" pitchFamily="49" charset="0"/>
              </a:rPr>
              <a:t>, Device &amp; dev) {</a:t>
            </a:r>
          </a:p>
          <a:p>
            <a:pPr marL="0" indent="0">
              <a:lnSpc>
                <a:spcPts val="2000"/>
              </a:lnSpc>
              <a:spcBef>
                <a:spcPts val="0"/>
              </a:spcBef>
              <a:spcAft>
                <a:spcPts val="0"/>
              </a:spcAft>
              <a:buNone/>
            </a:pPr>
            <a:r>
              <a:rPr lang="en-CA" sz="1600" dirty="0">
                <a:latin typeface="Courier New" panose="02070309020205020404" pitchFamily="49" charset="0"/>
                <a:cs typeface="Courier New" panose="02070309020205020404" pitchFamily="49" charset="0"/>
              </a:rPr>
              <a:t>1</a:t>
            </a:r>
            <a:r>
              <a:rPr lang="en-CA" sz="1600" dirty="0" smtClean="0">
                <a:latin typeface="Courier New" panose="02070309020205020404" pitchFamily="49" charset="0"/>
                <a:cs typeface="Courier New" panose="02070309020205020404" pitchFamily="49" charset="0"/>
              </a:rPr>
              <a:t>:  </a:t>
            </a:r>
            <a:r>
              <a:rPr lang="en-CA" sz="1600" dirty="0" smtClean="0">
                <a:latin typeface="Courier New" panose="02070309020205020404" pitchFamily="49" charset="0"/>
                <a:cs typeface="Courier New" panose="02070309020205020404" pitchFamily="49" charset="0"/>
              </a:rPr>
              <a:t>Ext4 </a:t>
            </a:r>
            <a:r>
              <a:rPr lang="en-CA" sz="1600" dirty="0">
                <a:latin typeface="Courier New" panose="02070309020205020404" pitchFamily="49" charset="0"/>
                <a:cs typeface="Courier New" panose="02070309020205020404" pitchFamily="49" charset="0"/>
              </a:rPr>
              <a:t>ext4(dev</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600" dirty="0">
                <a:latin typeface="Courier New" panose="02070309020205020404" pitchFamily="49" charset="0"/>
                <a:cs typeface="Courier New" panose="02070309020205020404" pitchFamily="49" charset="0"/>
              </a:rPr>
              <a:t>2</a:t>
            </a:r>
            <a:r>
              <a:rPr lang="en-CA" sz="1600" dirty="0" smtClean="0">
                <a:latin typeface="Courier New" panose="02070309020205020404" pitchFamily="49" charset="0"/>
                <a:cs typeface="Courier New" panose="02070309020205020404" pitchFamily="49" charset="0"/>
              </a:rPr>
              <a:t>:  </a:t>
            </a:r>
            <a:r>
              <a:rPr lang="en-CA" sz="1600" dirty="0" smtClean="0">
                <a:solidFill>
                  <a:srgbClr val="00B050"/>
                </a:solidFill>
                <a:latin typeface="Courier New" panose="02070309020205020404" pitchFamily="49" charset="0"/>
                <a:cs typeface="Courier New" panose="02070309020205020404" pitchFamily="49" charset="0"/>
              </a:rPr>
              <a:t>/* read super block into memory */</a:t>
            </a:r>
            <a:endParaRPr lang="en-CA" sz="1600" dirty="0">
              <a:solidFill>
                <a:srgbClr val="00B050"/>
              </a:solidFill>
              <a:latin typeface="Courier New" panose="02070309020205020404" pitchFamily="49" charset="0"/>
              <a:cs typeface="Courier New" panose="02070309020205020404" pitchFamily="49" charset="0"/>
            </a:endParaRPr>
          </a:p>
          <a:p>
            <a:pPr marL="0" indent="0">
              <a:lnSpc>
                <a:spcPts val="2000"/>
              </a:lnSpc>
              <a:spcBef>
                <a:spcPts val="0"/>
              </a:spcBef>
              <a:spcAft>
                <a:spcPts val="0"/>
              </a:spcAft>
              <a:buNone/>
            </a:pPr>
            <a:r>
              <a:rPr lang="en-CA" sz="1600" dirty="0">
                <a:latin typeface="Courier New" panose="02070309020205020404" pitchFamily="49" charset="0"/>
                <a:cs typeface="Courier New" panose="02070309020205020404" pitchFamily="49" charset="0"/>
              </a:rPr>
              <a:t>3</a:t>
            </a:r>
            <a:r>
              <a:rPr lang="en-CA" sz="1600" dirty="0" smtClean="0">
                <a:latin typeface="Courier New" panose="02070309020205020404" pitchFamily="49" charset="0"/>
                <a:cs typeface="Courier New" panose="02070309020205020404" pitchFamily="49" charset="0"/>
              </a:rPr>
              <a:t>:  </a:t>
            </a:r>
            <a:r>
              <a:rPr lang="en-CA" sz="1600" dirty="0" smtClean="0">
                <a:latin typeface="Courier New" panose="02070309020205020404" pitchFamily="49" charset="0"/>
                <a:cs typeface="Courier New" panose="02070309020205020404" pitchFamily="49" charset="0"/>
              </a:rPr>
              <a:t>Ext4</a:t>
            </a:r>
            <a:r>
              <a:rPr lang="en-CA" sz="1600" dirty="0">
                <a:latin typeface="Courier New" panose="02070309020205020404" pitchFamily="49" charset="0"/>
                <a:cs typeface="Courier New" panose="02070309020205020404" pitchFamily="49" charset="0"/>
              </a:rPr>
              <a:t>::</a:t>
            </a:r>
            <a:r>
              <a:rPr lang="en-CA" sz="1600" dirty="0" err="1">
                <a:latin typeface="Courier New" panose="02070309020205020404" pitchFamily="49" charset="0"/>
                <a:cs typeface="Courier New" panose="02070309020205020404" pitchFamily="49" charset="0"/>
              </a:rPr>
              <a:t>SuperBlock</a:t>
            </a:r>
            <a:r>
              <a:rPr lang="en-CA" sz="1600" dirty="0">
                <a:latin typeface="Courier New" panose="02070309020205020404" pitchFamily="49" charset="0"/>
                <a:cs typeface="Courier New" panose="02070309020205020404" pitchFamily="49" charset="0"/>
              </a:rPr>
              <a:t> * </a:t>
            </a:r>
            <a:r>
              <a:rPr lang="en-CA" sz="1600" dirty="0" err="1">
                <a:latin typeface="Courier New" panose="02070309020205020404" pitchFamily="49" charset="0"/>
                <a:cs typeface="Courier New" panose="02070309020205020404" pitchFamily="49" charset="0"/>
              </a:rPr>
              <a:t>sb</a:t>
            </a:r>
            <a:r>
              <a:rPr lang="en-CA" sz="1600" dirty="0">
                <a:latin typeface="Courier New" panose="02070309020205020404" pitchFamily="49" charset="0"/>
                <a:cs typeface="Courier New" panose="02070309020205020404" pitchFamily="49" charset="0"/>
              </a:rPr>
              <a:t> = ext4.fetch_super();</a:t>
            </a:r>
          </a:p>
          <a:p>
            <a:pPr marL="0" indent="0">
              <a:lnSpc>
                <a:spcPts val="2000"/>
              </a:lnSpc>
              <a:spcBef>
                <a:spcPts val="0"/>
              </a:spcBef>
              <a:spcAft>
                <a:spcPts val="0"/>
              </a:spcAft>
              <a:buNone/>
            </a:pPr>
            <a:r>
              <a:rPr lang="en-CA" sz="1600" dirty="0">
                <a:latin typeface="Courier New" panose="02070309020205020404" pitchFamily="49" charset="0"/>
                <a:cs typeface="Courier New" panose="02070309020205020404" pitchFamily="49" charset="0"/>
              </a:rPr>
              <a:t>4</a:t>
            </a:r>
            <a:r>
              <a:rPr lang="en-CA" sz="1600" dirty="0" smtClean="0">
                <a:latin typeface="Courier New" panose="02070309020205020404" pitchFamily="49" charset="0"/>
                <a:cs typeface="Courier New" panose="02070309020205020404" pitchFamily="49" charset="0"/>
              </a:rPr>
              <a:t>:  </a:t>
            </a:r>
            <a:r>
              <a:rPr lang="en-CA" sz="1600" dirty="0" smtClean="0">
                <a:latin typeface="Courier New" panose="02070309020205020404" pitchFamily="49" charset="0"/>
                <a:cs typeface="Courier New" panose="02070309020205020404" pitchFamily="49" charset="0"/>
              </a:rPr>
              <a:t>if </a:t>
            </a:r>
            <a:r>
              <a:rPr lang="en-CA" sz="1600" dirty="0">
                <a:latin typeface="Courier New" panose="02070309020205020404" pitchFamily="49" charset="0"/>
                <a:cs typeface="Courier New" panose="02070309020205020404" pitchFamily="49" charset="0"/>
              </a:rPr>
              <a:t>(</a:t>
            </a:r>
            <a:r>
              <a:rPr lang="en-CA" sz="1600" dirty="0" err="1">
                <a:latin typeface="Courier New" panose="02070309020205020404" pitchFamily="49" charset="0"/>
                <a:cs typeface="Courier New" panose="02070309020205020404" pitchFamily="49" charset="0"/>
              </a:rPr>
              <a:t>sb</a:t>
            </a:r>
            <a:r>
              <a:rPr lang="en-CA" sz="1600" dirty="0">
                <a:latin typeface="Courier New" panose="02070309020205020404" pitchFamily="49" charset="0"/>
                <a:cs typeface="Courier New" panose="02070309020205020404" pitchFamily="49" charset="0"/>
              </a:rPr>
              <a:t> == </a:t>
            </a:r>
            <a:r>
              <a:rPr lang="en-CA" sz="1600" dirty="0" err="1">
                <a:latin typeface="Courier New" panose="02070309020205020404" pitchFamily="49" charset="0"/>
                <a:cs typeface="Courier New" panose="02070309020205020404" pitchFamily="49" charset="0"/>
              </a:rPr>
              <a:t>nullptr</a:t>
            </a:r>
            <a:r>
              <a:rPr lang="en-CA" sz="1600" dirty="0">
                <a:latin typeface="Courier New" panose="02070309020205020404" pitchFamily="49" charset="0"/>
                <a:cs typeface="Courier New" panose="02070309020205020404" pitchFamily="49" charset="0"/>
              </a:rPr>
              <a:t>) </a:t>
            </a:r>
            <a:r>
              <a:rPr lang="en-CA" sz="1600" dirty="0" smtClean="0">
                <a:latin typeface="Courier New" panose="02070309020205020404" pitchFamily="49" charset="0"/>
                <a:cs typeface="Courier New" panose="02070309020205020404" pitchFamily="49" charset="0"/>
              </a:rPr>
              <a:t>return </a:t>
            </a:r>
            <a:r>
              <a:rPr lang="en-CA" sz="1600" dirty="0" smtClean="0">
                <a:solidFill>
                  <a:srgbClr val="0070C0"/>
                </a:solidFill>
                <a:latin typeface="Courier New" panose="02070309020205020404" pitchFamily="49" charset="0"/>
                <a:cs typeface="Courier New" panose="02070309020205020404" pitchFamily="49" charset="0"/>
              </a:rPr>
              <a:t>-1</a:t>
            </a:r>
            <a:r>
              <a:rPr lang="en-CA" sz="1600" dirty="0" smtClean="0">
                <a:latin typeface="Courier New" panose="02070309020205020404" pitchFamily="49" charset="0"/>
                <a:cs typeface="Courier New" panose="02070309020205020404" pitchFamily="49" charset="0"/>
              </a:rPr>
              <a:t>;</a:t>
            </a:r>
            <a:endParaRPr lang="en-CA" sz="1600" dirty="0">
              <a:latin typeface="Courier New" panose="02070309020205020404" pitchFamily="49" charset="0"/>
              <a:cs typeface="Courier New" panose="02070309020205020404" pitchFamily="49" charset="0"/>
            </a:endParaRPr>
          </a:p>
          <a:p>
            <a:pPr marL="0" indent="0">
              <a:lnSpc>
                <a:spcPts val="2000"/>
              </a:lnSpc>
              <a:spcBef>
                <a:spcPts val="0"/>
              </a:spcBef>
              <a:spcAft>
                <a:spcPts val="0"/>
              </a:spcAft>
              <a:buNone/>
            </a:pPr>
            <a:r>
              <a:rPr lang="en-CA" sz="1600" dirty="0" smtClean="0">
                <a:latin typeface="Courier New" panose="02070309020205020404" pitchFamily="49" charset="0"/>
                <a:cs typeface="Courier New" panose="02070309020205020404" pitchFamily="49" charset="0"/>
              </a:rPr>
              <a:t>7:  </a:t>
            </a:r>
            <a:r>
              <a:rPr lang="en-CA" sz="1600" dirty="0" err="1" smtClean="0">
                <a:latin typeface="Courier New" panose="02070309020205020404" pitchFamily="49" charset="0"/>
                <a:cs typeface="Courier New" panose="02070309020205020404" pitchFamily="49" charset="0"/>
              </a:rPr>
              <a:t>dev.set_block_size</a:t>
            </a:r>
            <a:r>
              <a:rPr lang="en-CA" sz="1600" dirty="0" smtClean="0">
                <a:latin typeface="Courier New" panose="02070309020205020404" pitchFamily="49" charset="0"/>
                <a:cs typeface="Courier New" panose="02070309020205020404" pitchFamily="49" charset="0"/>
              </a:rPr>
              <a:t>(</a:t>
            </a:r>
            <a:r>
              <a:rPr lang="en-CA" sz="1600" dirty="0" smtClean="0">
                <a:solidFill>
                  <a:srgbClr val="0070C0"/>
                </a:solidFill>
                <a:latin typeface="Courier New" panose="02070309020205020404" pitchFamily="49" charset="0"/>
                <a:cs typeface="Courier New" panose="02070309020205020404" pitchFamily="49" charset="0"/>
              </a:rPr>
              <a:t>1024</a:t>
            </a:r>
            <a:r>
              <a:rPr lang="en-CA" sz="1600" dirty="0" smtClean="0">
                <a:latin typeface="Courier New" panose="02070309020205020404" pitchFamily="49" charset="0"/>
                <a:cs typeface="Courier New" panose="02070309020205020404" pitchFamily="49" charset="0"/>
              </a:rPr>
              <a:t> &lt;&lt; </a:t>
            </a:r>
            <a:r>
              <a:rPr lang="en-CA" sz="1600" dirty="0" err="1" smtClean="0">
                <a:latin typeface="Courier New" panose="02070309020205020404" pitchFamily="49" charset="0"/>
                <a:cs typeface="Courier New" panose="02070309020205020404" pitchFamily="49" charset="0"/>
              </a:rPr>
              <a:t>sb</a:t>
            </a:r>
            <a:r>
              <a:rPr lang="en-CA" sz="1600" dirty="0" smtClean="0">
                <a:latin typeface="Courier New" panose="02070309020205020404" pitchFamily="49" charset="0"/>
                <a:cs typeface="Courier New" panose="02070309020205020404" pitchFamily="49" charset="0"/>
              </a:rPr>
              <a:t>-&gt;</a:t>
            </a:r>
            <a:r>
              <a:rPr lang="en-CA" sz="1600" dirty="0" err="1" smtClean="0">
                <a:latin typeface="Courier New" panose="02070309020205020404" pitchFamily="49" charset="0"/>
                <a:cs typeface="Courier New" panose="02070309020205020404" pitchFamily="49" charset="0"/>
              </a:rPr>
              <a:t>s_log_block_size</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600" dirty="0" smtClean="0">
                <a:latin typeface="Courier New" panose="02070309020205020404" pitchFamily="49" charset="0"/>
                <a:cs typeface="Courier New" panose="02070309020205020404" pitchFamily="49" charset="0"/>
              </a:rPr>
              <a:t>8:  </a:t>
            </a:r>
            <a:r>
              <a:rPr lang="en-CA" sz="1600" dirty="0" smtClean="0">
                <a:solidFill>
                  <a:srgbClr val="00B050"/>
                </a:solidFill>
                <a:latin typeface="Courier New" panose="02070309020205020404" pitchFamily="49" charset="0"/>
                <a:cs typeface="Courier New" panose="02070309020205020404" pitchFamily="49" charset="0"/>
              </a:rPr>
              <a:t>/* traverses file system and finds/processes all block bitmap */</a:t>
            </a:r>
          </a:p>
          <a:p>
            <a:pPr marL="0" indent="0">
              <a:lnSpc>
                <a:spcPts val="2000"/>
              </a:lnSpc>
              <a:spcBef>
                <a:spcPts val="0"/>
              </a:spcBef>
              <a:spcAft>
                <a:spcPts val="0"/>
              </a:spcAft>
              <a:buNone/>
            </a:pPr>
            <a:r>
              <a:rPr lang="en-CA" sz="1600" dirty="0" smtClean="0">
                <a:latin typeface="Courier New" panose="02070309020205020404" pitchFamily="49" charset="0"/>
                <a:cs typeface="Courier New" panose="02070309020205020404" pitchFamily="49" charset="0"/>
              </a:rPr>
              <a:t>9</a:t>
            </a:r>
            <a:r>
              <a:rPr lang="en-CA" sz="1600" dirty="0" smtClean="0">
                <a:latin typeface="Courier New" panose="02070309020205020404" pitchFamily="49" charset="0"/>
                <a:cs typeface="Courier New" panose="02070309020205020404" pitchFamily="49" charset="0"/>
              </a:rPr>
              <a:t>:  return </a:t>
            </a:r>
            <a:r>
              <a:rPr lang="en-CA" sz="1600" dirty="0" err="1">
                <a:latin typeface="Courier New" panose="02070309020205020404" pitchFamily="49" charset="0"/>
                <a:cs typeface="Courier New" panose="02070309020205020404" pitchFamily="49" charset="0"/>
              </a:rPr>
              <a:t>sb</a:t>
            </a:r>
            <a:r>
              <a:rPr lang="en-CA" sz="1600" dirty="0">
                <a:latin typeface="Courier New" panose="02070309020205020404" pitchFamily="49" charset="0"/>
                <a:cs typeface="Courier New" panose="02070309020205020404" pitchFamily="49" charset="0"/>
              </a:rPr>
              <a:t>-&gt;</a:t>
            </a:r>
            <a:r>
              <a:rPr lang="en-CA" sz="1600" dirty="0" err="1">
                <a:latin typeface="Courier New" panose="02070309020205020404" pitchFamily="49" charset="0"/>
                <a:cs typeface="Courier New" panose="02070309020205020404" pitchFamily="49" charset="0"/>
              </a:rPr>
              <a:t>process_by_type</a:t>
            </a:r>
            <a:r>
              <a:rPr lang="en-CA" sz="1600" dirty="0">
                <a:latin typeface="Courier New" panose="02070309020205020404" pitchFamily="49" charset="0"/>
                <a:cs typeface="Courier New" panose="02070309020205020404" pitchFamily="49" charset="0"/>
              </a:rPr>
              <a:t>(BLOCK_BITMAP_TYPE_ID, </a:t>
            </a:r>
            <a:r>
              <a:rPr lang="en-CA" sz="1600" dirty="0" err="1" smtClean="0">
                <a:latin typeface="Courier New" panose="02070309020205020404" pitchFamily="49" charset="0"/>
                <a:cs typeface="Courier New" panose="02070309020205020404" pitchFamily="49" charset="0"/>
              </a:rPr>
              <a:t>process_block_bitmap</a:t>
            </a:r>
            <a:r>
              <a:rPr lang="en-CA" sz="1600" dirty="0" smtClean="0">
                <a:latin typeface="Courier New" panose="02070309020205020404" pitchFamily="49" charset="0"/>
                <a:cs typeface="Courier New" panose="02070309020205020404" pitchFamily="49" charset="0"/>
              </a:rPr>
              <a:t>);</a:t>
            </a:r>
            <a:endParaRPr lang="en-CA" sz="1600" dirty="0" smtClean="0">
              <a:latin typeface="Courier New" panose="02070309020205020404" pitchFamily="49" charset="0"/>
              <a:cs typeface="Courier New" panose="02070309020205020404" pitchFamily="49" charset="0"/>
            </a:endParaRPr>
          </a:p>
          <a:p>
            <a:pPr marL="0" indent="0">
              <a:lnSpc>
                <a:spcPts val="2000"/>
              </a:lnSpc>
              <a:spcBef>
                <a:spcPts val="0"/>
              </a:spcBef>
              <a:spcAft>
                <a:spcPts val="0"/>
              </a:spcAft>
              <a:buNone/>
            </a:pPr>
            <a:r>
              <a:rPr lang="en-CA" sz="1600" dirty="0">
                <a:latin typeface="Courier New" panose="02070309020205020404" pitchFamily="49" charset="0"/>
                <a:cs typeface="Courier New" panose="02070309020205020404" pitchFamily="49" charset="0"/>
              </a:rPr>
              <a:t>}</a:t>
            </a:r>
            <a:endParaRPr lang="en-CA" sz="1600" dirty="0" smtClean="0">
              <a:latin typeface="Courier New" panose="02070309020205020404" pitchFamily="49" charset="0"/>
              <a:cs typeface="Courier New" panose="02070309020205020404" pitchFamily="49" charset="0"/>
            </a:endParaRPr>
          </a:p>
        </p:txBody>
      </p:sp>
      <p:sp>
        <p:nvSpPr>
          <p:cNvPr id="6" name="Content Placeholder 9"/>
          <p:cNvSpPr txBox="1">
            <a:spLocks/>
          </p:cNvSpPr>
          <p:nvPr/>
        </p:nvSpPr>
        <p:spPr>
          <a:xfrm>
            <a:off x="684210" y="4789302"/>
            <a:ext cx="8954839" cy="1767364"/>
          </a:xfrm>
          <a:prstGeom prst="rect">
            <a:avLst/>
          </a:prstGeom>
        </p:spPr>
        <p:txBody>
          <a:bodyPr vert="horz" lIns="91440" tIns="45720" rIns="91440" bIns="45720" rtlCol="0" anchor="t">
            <a:norm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pPr lvl="1"/>
            <a:r>
              <a:rPr lang="en-CA" dirty="0" smtClean="0"/>
              <a:t>Advantages</a:t>
            </a:r>
          </a:p>
          <a:p>
            <a:pPr lvl="2"/>
            <a:r>
              <a:rPr lang="en-CA" dirty="0" smtClean="0"/>
              <a:t>simplifies file system traversal,</a:t>
            </a:r>
            <a:r>
              <a:rPr lang="en-CA" dirty="0"/>
              <a:t> </a:t>
            </a:r>
            <a:r>
              <a:rPr lang="en-CA" dirty="0" smtClean="0"/>
              <a:t>reduces need to know format details</a:t>
            </a:r>
          </a:p>
          <a:p>
            <a:pPr lvl="2"/>
            <a:r>
              <a:rPr lang="en-CA" dirty="0" smtClean="0"/>
              <a:t>library parsing routines have automatically generated sanity checks</a:t>
            </a:r>
          </a:p>
        </p:txBody>
      </p:sp>
      <p:sp>
        <p:nvSpPr>
          <p:cNvPr id="7" name="TextBox 6"/>
          <p:cNvSpPr txBox="1"/>
          <p:nvPr/>
        </p:nvSpPr>
        <p:spPr>
          <a:xfrm>
            <a:off x="8628386" y="2605137"/>
            <a:ext cx="3174359" cy="707886"/>
          </a:xfrm>
          <a:prstGeom prst="rect">
            <a:avLst/>
          </a:prstGeom>
          <a:noFill/>
        </p:spPr>
        <p:txBody>
          <a:bodyPr wrap="square" rtlCol="0">
            <a:spAutoFit/>
          </a:bodyPr>
          <a:lstStyle/>
          <a:p>
            <a:pPr>
              <a:lnSpc>
                <a:spcPts val="2400"/>
              </a:lnSpc>
              <a:spcBef>
                <a:spcPts val="600"/>
              </a:spcBef>
            </a:pPr>
            <a:r>
              <a:rPr lang="en-CA" dirty="0" smtClean="0">
                <a:solidFill>
                  <a:schemeClr val="bg1"/>
                </a:solidFill>
              </a:rPr>
              <a:t>Returns </a:t>
            </a:r>
            <a:r>
              <a:rPr lang="en-CA" i="1" dirty="0" err="1" smtClean="0">
                <a:solidFill>
                  <a:schemeClr val="bg1"/>
                </a:solidFill>
              </a:rPr>
              <a:t>nullptr</a:t>
            </a:r>
            <a:r>
              <a:rPr lang="en-CA" dirty="0" smtClean="0">
                <a:solidFill>
                  <a:schemeClr val="bg1"/>
                </a:solidFill>
              </a:rPr>
              <a:t> if super block is corrupted</a:t>
            </a:r>
            <a:endParaRPr lang="en-CA" dirty="0">
              <a:solidFill>
                <a:schemeClr val="bg1"/>
              </a:solidFill>
            </a:endParaRPr>
          </a:p>
        </p:txBody>
      </p:sp>
      <p:cxnSp>
        <p:nvCxnSpPr>
          <p:cNvPr id="8" name="Straight Arrow Connector 7"/>
          <p:cNvCxnSpPr/>
          <p:nvPr/>
        </p:nvCxnSpPr>
        <p:spPr>
          <a:xfrm rot="10800000" flipV="1">
            <a:off x="5223850" y="2809187"/>
            <a:ext cx="3404538" cy="975161"/>
          </a:xfrm>
          <a:prstGeom prst="bentConnector3">
            <a:avLst>
              <a:gd name="adj1" fmla="val 43884"/>
            </a:avLst>
          </a:prstGeom>
          <a:ln w="38100">
            <a:solidFill>
              <a:srgbClr val="FF0000">
                <a:alpha val="70000"/>
              </a:srgbClr>
            </a:solidFill>
            <a:tailEnd type="triangle"/>
          </a:ln>
        </p:spPr>
        <p:style>
          <a:lnRef idx="1">
            <a:schemeClr val="accent1"/>
          </a:lnRef>
          <a:fillRef idx="0">
            <a:schemeClr val="accent1"/>
          </a:fillRef>
          <a:effectRef idx="0">
            <a:schemeClr val="accent1"/>
          </a:effectRef>
          <a:fontRef idx="minor">
            <a:schemeClr val="tx1"/>
          </a:fontRef>
        </p:style>
      </p:cxnSp>
      <p:sp>
        <p:nvSpPr>
          <p:cNvPr id="12" name="TextBox 11"/>
          <p:cNvSpPr txBox="1"/>
          <p:nvPr/>
        </p:nvSpPr>
        <p:spPr>
          <a:xfrm>
            <a:off x="8628386" y="3470537"/>
            <a:ext cx="2895003" cy="707886"/>
          </a:xfrm>
          <a:prstGeom prst="rect">
            <a:avLst/>
          </a:prstGeom>
          <a:noFill/>
        </p:spPr>
        <p:txBody>
          <a:bodyPr wrap="square" rtlCol="0">
            <a:spAutoFit/>
          </a:bodyPr>
          <a:lstStyle/>
          <a:p>
            <a:pPr>
              <a:lnSpc>
                <a:spcPts val="2400"/>
              </a:lnSpc>
              <a:spcBef>
                <a:spcPts val="600"/>
              </a:spcBef>
            </a:pPr>
            <a:r>
              <a:rPr lang="en-CA" dirty="0" smtClean="0">
                <a:solidFill>
                  <a:schemeClr val="bg1"/>
                </a:solidFill>
              </a:rPr>
              <a:t>Calculate block size</a:t>
            </a:r>
            <a:br>
              <a:rPr lang="en-CA" dirty="0" smtClean="0">
                <a:solidFill>
                  <a:schemeClr val="bg1"/>
                </a:solidFill>
              </a:rPr>
            </a:br>
            <a:r>
              <a:rPr lang="en-CA" dirty="0" smtClean="0">
                <a:solidFill>
                  <a:schemeClr val="bg1"/>
                </a:solidFill>
              </a:rPr>
              <a:t>from field in super block</a:t>
            </a:r>
            <a:endParaRPr lang="en-CA" dirty="0">
              <a:solidFill>
                <a:schemeClr val="bg1"/>
              </a:solidFill>
            </a:endParaRPr>
          </a:p>
        </p:txBody>
      </p:sp>
      <p:cxnSp>
        <p:nvCxnSpPr>
          <p:cNvPr id="13" name="Straight Arrow Connector 11"/>
          <p:cNvCxnSpPr/>
          <p:nvPr/>
        </p:nvCxnSpPr>
        <p:spPr>
          <a:xfrm rot="10800000" flipV="1">
            <a:off x="7550590" y="3650531"/>
            <a:ext cx="1077796" cy="397779"/>
          </a:xfrm>
          <a:prstGeom prst="bentConnector3">
            <a:avLst>
              <a:gd name="adj1" fmla="val 50000"/>
            </a:avLst>
          </a:prstGeom>
          <a:ln w="38100">
            <a:solidFill>
              <a:srgbClr val="FF0000">
                <a:alpha val="70000"/>
              </a:srgbClr>
            </a:solidFill>
            <a:tailEnd type="triangle"/>
          </a:ln>
        </p:spPr>
        <p:style>
          <a:lnRef idx="1">
            <a:schemeClr val="accent1"/>
          </a:lnRef>
          <a:fillRef idx="0">
            <a:schemeClr val="accent1"/>
          </a:fillRef>
          <a:effectRef idx="0">
            <a:schemeClr val="accent1"/>
          </a:effectRef>
          <a:fontRef idx="minor">
            <a:schemeClr val="tx1"/>
          </a:fontRef>
        </p:style>
      </p:cxnSp>
      <p:sp>
        <p:nvSpPr>
          <p:cNvPr id="15" name="Slide Number Placeholder 14"/>
          <p:cNvSpPr>
            <a:spLocks noGrp="1"/>
          </p:cNvSpPr>
          <p:nvPr>
            <p:ph type="sldNum" sz="quarter" idx="12"/>
          </p:nvPr>
        </p:nvSpPr>
        <p:spPr/>
        <p:txBody>
          <a:bodyPr/>
          <a:lstStyle/>
          <a:p>
            <a:fld id="{7B2023C8-B124-43A9-8F92-0EEF5BAA9995}" type="slidenum">
              <a:rPr lang="en-CA" smtClean="0"/>
              <a:pPr/>
              <a:t>26</a:t>
            </a:fld>
            <a:endParaRPr lang="en-CA" dirty="0"/>
          </a:p>
        </p:txBody>
      </p:sp>
    </p:spTree>
    <p:extLst>
      <p:ext uri="{BB962C8B-B14F-4D97-AF65-F5344CB8AC3E}">
        <p14:creationId xmlns:p14="http://schemas.microsoft.com/office/powerpoint/2010/main" val="750288714"/>
      </p:ext>
    </p:extLst>
  </p:cSld>
  <p:clrMapOvr>
    <a:masterClrMapping/>
  </p:clrMapOvr>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smtClean="0"/>
              <a:t>Offline Spiffy Applications</a:t>
            </a:r>
            <a:endParaRPr lang="en-CA" dirty="0"/>
          </a:p>
        </p:txBody>
      </p:sp>
      <p:sp>
        <p:nvSpPr>
          <p:cNvPr id="3" name="Content Placeholder 2"/>
          <p:cNvSpPr>
            <a:spLocks noGrp="1"/>
          </p:cNvSpPr>
          <p:nvPr>
            <p:ph idx="1"/>
          </p:nvPr>
        </p:nvSpPr>
        <p:spPr/>
        <p:txBody>
          <a:bodyPr>
            <a:noAutofit/>
          </a:bodyPr>
          <a:lstStyle/>
          <a:p>
            <a:r>
              <a:rPr lang="en-CA" dirty="0" smtClean="0"/>
              <a:t>Offline applications</a:t>
            </a:r>
          </a:p>
          <a:p>
            <a:pPr lvl="1"/>
            <a:r>
              <a:rPr lang="en-CA" dirty="0" smtClean="0"/>
              <a:t>Full traversal, customizable, filter-based policies</a:t>
            </a:r>
          </a:p>
          <a:p>
            <a:pPr lvl="1"/>
            <a:r>
              <a:rPr lang="en-CA" dirty="0" smtClean="0"/>
              <a:t>File System Dump Tool</a:t>
            </a:r>
          </a:p>
          <a:p>
            <a:pPr lvl="2"/>
            <a:r>
              <a:rPr lang="en-CA" dirty="0" smtClean="0"/>
              <a:t>Prints out all metadata in a file system</a:t>
            </a:r>
          </a:p>
          <a:p>
            <a:pPr lvl="1"/>
            <a:r>
              <a:rPr lang="en-CA" dirty="0" smtClean="0"/>
              <a:t>Type-Specific File System Corruptor</a:t>
            </a:r>
          </a:p>
          <a:p>
            <a:pPr lvl="2"/>
            <a:r>
              <a:rPr lang="en-CA" dirty="0" smtClean="0"/>
              <a:t>Finds and corrupts a field in a specified structure</a:t>
            </a:r>
          </a:p>
          <a:p>
            <a:pPr lvl="1"/>
            <a:r>
              <a:rPr lang="en-CA" dirty="0" smtClean="0"/>
              <a:t>Free Space Display Tool</a:t>
            </a:r>
          </a:p>
          <a:p>
            <a:pPr lvl="1"/>
            <a:r>
              <a:rPr lang="en-CA" dirty="0" smtClean="0"/>
              <a:t>File System Conversion Tool</a:t>
            </a:r>
          </a:p>
          <a:p>
            <a:pPr lvl="2"/>
            <a:r>
              <a:rPr lang="en-CA" dirty="0" smtClean="0"/>
              <a:t>Converts from one file system to another while minimizes moving of data blocks</a:t>
            </a:r>
          </a:p>
          <a:p>
            <a:pPr lvl="2"/>
            <a:r>
              <a:rPr lang="en-CA" dirty="0" smtClean="0"/>
              <a:t>Faster than copying to a difference device, reformat, and copy back</a:t>
            </a:r>
            <a:br>
              <a:rPr lang="en-CA" dirty="0" smtClean="0"/>
            </a:br>
            <a:r>
              <a:rPr lang="en-CA" dirty="0" smtClean="0"/>
              <a:t>	</a:t>
            </a:r>
          </a:p>
          <a:p>
            <a:pPr marL="914400" lvl="2" indent="0">
              <a:buNone/>
            </a:pPr>
            <a:r>
              <a:rPr lang="en-CA" dirty="0"/>
              <a:t>	</a:t>
            </a:r>
            <a:endParaRPr lang="en-CA" dirty="0" smtClean="0"/>
          </a:p>
          <a:p>
            <a:pPr lvl="1"/>
            <a:endParaRPr lang="en-CA" dirty="0"/>
          </a:p>
        </p:txBody>
      </p:sp>
      <p:sp>
        <p:nvSpPr>
          <p:cNvPr id="5" name="Slide Number Placeholder 4"/>
          <p:cNvSpPr>
            <a:spLocks noGrp="1"/>
          </p:cNvSpPr>
          <p:nvPr>
            <p:ph type="sldNum" sz="quarter" idx="12"/>
          </p:nvPr>
        </p:nvSpPr>
        <p:spPr/>
        <p:txBody>
          <a:bodyPr/>
          <a:lstStyle/>
          <a:p>
            <a:fld id="{7B2023C8-B124-43A9-8F92-0EEF5BAA9995}" type="slidenum">
              <a:rPr lang="en-CA" smtClean="0"/>
              <a:pPr/>
              <a:t>27</a:t>
            </a:fld>
            <a:endParaRPr lang="en-CA" dirty="0"/>
          </a:p>
        </p:txBody>
      </p:sp>
    </p:spTree>
    <p:extLst>
      <p:ext uri="{BB962C8B-B14F-4D97-AF65-F5344CB8AC3E}">
        <p14:creationId xmlns:p14="http://schemas.microsoft.com/office/powerpoint/2010/main" val="1364355086"/>
      </p:ext>
    </p:extLst>
  </p:cSld>
  <p:clrMapOvr>
    <a:masterClrMapping/>
  </p:clrMapOvr>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Online Spiffy Applications</a:t>
            </a:r>
            <a:endParaRPr lang="en-CA" dirty="0"/>
          </a:p>
        </p:txBody>
      </p:sp>
      <p:sp>
        <p:nvSpPr>
          <p:cNvPr id="3" name="Content Placeholder 2"/>
          <p:cNvSpPr>
            <a:spLocks noGrp="1"/>
          </p:cNvSpPr>
          <p:nvPr>
            <p:ph idx="1"/>
          </p:nvPr>
        </p:nvSpPr>
        <p:spPr/>
        <p:txBody>
          <a:bodyPr>
            <a:noAutofit/>
          </a:bodyPr>
          <a:lstStyle/>
          <a:p>
            <a:r>
              <a:rPr lang="en-CA" dirty="0" smtClean="0"/>
              <a:t>Online </a:t>
            </a:r>
            <a:r>
              <a:rPr lang="en-CA" dirty="0" smtClean="0"/>
              <a:t>applications</a:t>
            </a:r>
            <a:endParaRPr lang="en-CA" dirty="0" smtClean="0"/>
          </a:p>
          <a:p>
            <a:pPr lvl="1"/>
            <a:r>
              <a:rPr lang="en-CA" dirty="0" smtClean="0"/>
              <a:t>Differentiated Block Layer Cache</a:t>
            </a:r>
          </a:p>
          <a:p>
            <a:pPr lvl="2"/>
            <a:r>
              <a:rPr lang="en-CA" dirty="0"/>
              <a:t>Typically difficult to </a:t>
            </a:r>
            <a:r>
              <a:rPr lang="en-CA" dirty="0" smtClean="0"/>
              <a:t>implement</a:t>
            </a:r>
          </a:p>
          <a:p>
            <a:pPr lvl="2"/>
            <a:r>
              <a:rPr lang="en-CA" dirty="0" smtClean="0"/>
              <a:t> requires file system to provide hints to block layer</a:t>
            </a:r>
          </a:p>
          <a:p>
            <a:pPr lvl="1"/>
            <a:r>
              <a:rPr lang="en-CA" dirty="0"/>
              <a:t>Runtime Interpretation</a:t>
            </a:r>
          </a:p>
          <a:p>
            <a:pPr lvl="2"/>
            <a:r>
              <a:rPr lang="en-CA" dirty="0"/>
              <a:t>Classifies file system IO at the block layer</a:t>
            </a:r>
          </a:p>
          <a:p>
            <a:pPr lvl="2"/>
            <a:r>
              <a:rPr lang="en-CA" dirty="0"/>
              <a:t>Requires </a:t>
            </a:r>
            <a:r>
              <a:rPr lang="en-CA" i="1" dirty="0"/>
              <a:t>no</a:t>
            </a:r>
            <a:r>
              <a:rPr lang="en-CA" dirty="0"/>
              <a:t> modification to file </a:t>
            </a:r>
            <a:r>
              <a:rPr lang="en-CA" dirty="0" smtClean="0"/>
              <a:t>system</a:t>
            </a:r>
            <a:endParaRPr lang="en-CA" dirty="0"/>
          </a:p>
          <a:p>
            <a:pPr lvl="1"/>
            <a:r>
              <a:rPr lang="en-CA" dirty="0" smtClean="0"/>
              <a:t>Spiffy Block Layer Cache</a:t>
            </a:r>
          </a:p>
          <a:p>
            <a:pPr lvl="2"/>
            <a:r>
              <a:rPr lang="en-CA" dirty="0" smtClean="0"/>
              <a:t>Utilizes runtime interpretation module</a:t>
            </a:r>
          </a:p>
          <a:p>
            <a:pPr lvl="2"/>
            <a:r>
              <a:rPr lang="en-CA" dirty="0" smtClean="0"/>
              <a:t>Preferentially caches files belonging to specified user(s)</a:t>
            </a:r>
          </a:p>
          <a:p>
            <a:pPr marL="914400" lvl="2" indent="0">
              <a:buNone/>
            </a:pPr>
            <a:r>
              <a:rPr lang="en-CA" dirty="0"/>
              <a:t>	</a:t>
            </a:r>
            <a:endParaRPr lang="en-CA" dirty="0" smtClean="0"/>
          </a:p>
          <a:p>
            <a:pPr lvl="1"/>
            <a:endParaRPr lang="en-CA" dirty="0"/>
          </a:p>
        </p:txBody>
      </p:sp>
      <p:sp>
        <p:nvSpPr>
          <p:cNvPr id="5" name="Slide Number Placeholder 4"/>
          <p:cNvSpPr>
            <a:spLocks noGrp="1"/>
          </p:cNvSpPr>
          <p:nvPr>
            <p:ph type="sldNum" sz="quarter" idx="12"/>
          </p:nvPr>
        </p:nvSpPr>
        <p:spPr/>
        <p:txBody>
          <a:bodyPr/>
          <a:lstStyle/>
          <a:p>
            <a:fld id="{7B2023C8-B124-43A9-8F92-0EEF5BAA9995}" type="slidenum">
              <a:rPr lang="en-CA" smtClean="0"/>
              <a:pPr/>
              <a:t>28</a:t>
            </a:fld>
            <a:endParaRPr lang="en-CA" dirty="0"/>
          </a:p>
        </p:txBody>
      </p:sp>
    </p:spTree>
    <p:extLst>
      <p:ext uri="{BB962C8B-B14F-4D97-AF65-F5344CB8AC3E}">
        <p14:creationId xmlns:p14="http://schemas.microsoft.com/office/powerpoint/2010/main" val="2815511303"/>
      </p:ext>
    </p:extLst>
  </p:cSld>
  <p:clrMapOvr>
    <a:masterClrMapping/>
  </p:clrMapOvr>
  <p:timing>
    <p:tnLst>
      <p:par>
        <p:cT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smtClean="0"/>
              <a:t>Evaluation: Programming </a:t>
            </a:r>
            <a:r>
              <a:rPr lang="en-CA" dirty="0"/>
              <a:t>Effort</a:t>
            </a:r>
          </a:p>
        </p:txBody>
      </p:sp>
      <p:sp>
        <p:nvSpPr>
          <p:cNvPr id="3" name="Content Placeholder 2"/>
          <p:cNvSpPr>
            <a:spLocks noGrp="1"/>
          </p:cNvSpPr>
          <p:nvPr>
            <p:ph idx="1"/>
          </p:nvPr>
        </p:nvSpPr>
        <p:spPr>
          <a:xfrm>
            <a:off x="646112" y="1543050"/>
            <a:ext cx="10600065" cy="4914311"/>
          </a:xfrm>
        </p:spPr>
        <p:txBody>
          <a:bodyPr>
            <a:normAutofit/>
          </a:bodyPr>
          <a:lstStyle/>
          <a:p>
            <a:endParaRPr lang="en-CA" dirty="0" smtClean="0"/>
          </a:p>
          <a:p>
            <a:endParaRPr lang="en-CA" dirty="0"/>
          </a:p>
          <a:p>
            <a:endParaRPr lang="en-CA" dirty="0" smtClean="0"/>
          </a:p>
          <a:p>
            <a:endParaRPr lang="en-CA" dirty="0" smtClean="0"/>
          </a:p>
          <a:p>
            <a:endParaRPr lang="en-CA" dirty="0" smtClean="0"/>
          </a:p>
          <a:p>
            <a:endParaRPr lang="en-CA" dirty="0" smtClean="0"/>
          </a:p>
          <a:p>
            <a:endParaRPr lang="en-CA" dirty="0" smtClean="0"/>
          </a:p>
          <a:p>
            <a:r>
              <a:rPr lang="en-CA" dirty="0" smtClean="0"/>
              <a:t>Programming effort reduced for read-only file system applications</a:t>
            </a:r>
          </a:p>
          <a:p>
            <a:pPr lvl="1"/>
            <a:r>
              <a:rPr lang="en-CA" dirty="0" smtClean="0"/>
              <a:t>Both online and offline</a:t>
            </a:r>
            <a:endParaRPr lang="en-CA" dirty="0"/>
          </a:p>
        </p:txBody>
      </p:sp>
      <p:graphicFrame>
        <p:nvGraphicFramePr>
          <p:cNvPr id="5" name="Table 4"/>
          <p:cNvGraphicFramePr>
            <a:graphicFrameLocks noGrp="1"/>
          </p:cNvGraphicFramePr>
          <p:nvPr>
            <p:extLst>
              <p:ext uri="{D42A27DB-BD31-4B8C-83A1-F6EECF244321}">
                <p14:modId xmlns:p14="http://schemas.microsoft.com/office/powerpoint/2010/main" val="3410067637"/>
              </p:ext>
            </p:extLst>
          </p:nvPr>
        </p:nvGraphicFramePr>
        <p:xfrm>
          <a:off x="806374" y="1543050"/>
          <a:ext cx="8901277" cy="3337560"/>
        </p:xfrm>
        <a:graphic>
          <a:graphicData uri="http://schemas.openxmlformats.org/drawingml/2006/table">
            <a:tbl>
              <a:tblPr firstRow="1" bandRow="1">
                <a:tableStyleId>{69012ECD-51FC-41F1-AA8D-1B2483CD663E}</a:tableStyleId>
              </a:tblPr>
              <a:tblGrid>
                <a:gridCol w="3593986">
                  <a:extLst>
                    <a:ext uri="{9D8B030D-6E8A-4147-A177-3AD203B41FA5}">
                      <a16:colId xmlns="" xmlns:a16="http://schemas.microsoft.com/office/drawing/2014/main" val="20000"/>
                    </a:ext>
                  </a:extLst>
                </a:gridCol>
                <a:gridCol w="2017336">
                  <a:extLst>
                    <a:ext uri="{9D8B030D-6E8A-4147-A177-3AD203B41FA5}">
                      <a16:colId xmlns="" xmlns:a16="http://schemas.microsoft.com/office/drawing/2014/main" val="20001"/>
                    </a:ext>
                  </a:extLst>
                </a:gridCol>
                <a:gridCol w="3289955">
                  <a:extLst>
                    <a:ext uri="{9D8B030D-6E8A-4147-A177-3AD203B41FA5}">
                      <a16:colId xmlns="" xmlns:a16="http://schemas.microsoft.com/office/drawing/2014/main" val="20002"/>
                    </a:ext>
                  </a:extLst>
                </a:gridCol>
              </a:tblGrid>
              <a:tr h="370840">
                <a:tc>
                  <a:txBody>
                    <a:bodyPr/>
                    <a:lstStyle/>
                    <a:p>
                      <a:r>
                        <a:rPr lang="en-CA" dirty="0" smtClean="0">
                          <a:solidFill>
                            <a:schemeClr val="tx1"/>
                          </a:solidFill>
                        </a:rPr>
                        <a:t>Applications</a:t>
                      </a:r>
                      <a:endParaRPr lang="en-CA" dirty="0">
                        <a:solidFill>
                          <a:schemeClr val="tx1"/>
                        </a:solidFill>
                      </a:endParaRPr>
                    </a:p>
                  </a:txBody>
                  <a:tcPr/>
                </a:tc>
                <a:tc>
                  <a:txBody>
                    <a:bodyPr/>
                    <a:lstStyle/>
                    <a:p>
                      <a:r>
                        <a:rPr lang="en-CA" dirty="0" smtClean="0">
                          <a:solidFill>
                            <a:schemeClr val="tx1"/>
                          </a:solidFill>
                        </a:rPr>
                        <a:t>Generic (LOC)</a:t>
                      </a:r>
                      <a:endParaRPr lang="en-CA" dirty="0">
                        <a:solidFill>
                          <a:schemeClr val="tx1"/>
                        </a:solidFill>
                      </a:endParaRPr>
                    </a:p>
                  </a:txBody>
                  <a:tcPr/>
                </a:tc>
                <a:tc>
                  <a:txBody>
                    <a:bodyPr/>
                    <a:lstStyle/>
                    <a:p>
                      <a:r>
                        <a:rPr lang="en-CA" dirty="0" smtClean="0">
                          <a:solidFill>
                            <a:schemeClr val="tx1"/>
                          </a:solidFill>
                        </a:rPr>
                        <a:t>File-System</a:t>
                      </a:r>
                      <a:r>
                        <a:rPr lang="en-CA" baseline="0" dirty="0" smtClean="0">
                          <a:solidFill>
                            <a:schemeClr val="tx1"/>
                          </a:solidFill>
                        </a:rPr>
                        <a:t> </a:t>
                      </a:r>
                      <a:r>
                        <a:rPr lang="en-CA" dirty="0" smtClean="0">
                          <a:solidFill>
                            <a:schemeClr val="tx1"/>
                          </a:solidFill>
                        </a:rPr>
                        <a:t>Specific (LOC)</a:t>
                      </a:r>
                      <a:endParaRPr lang="en-CA" dirty="0">
                        <a:solidFill>
                          <a:schemeClr val="tx1"/>
                        </a:solidFill>
                      </a:endParaRPr>
                    </a:p>
                  </a:txBody>
                  <a:tcPr/>
                </a:tc>
                <a:extLst>
                  <a:ext uri="{0D108BD9-81ED-4DB2-BD59-A6C34878D82A}">
                    <a16:rowId xmlns="" xmlns:a16="http://schemas.microsoft.com/office/drawing/2014/main" val="10000"/>
                  </a:ext>
                </a:extLst>
              </a:tr>
              <a:tr h="370840">
                <a:tc>
                  <a:txBody>
                    <a:bodyPr/>
                    <a:lstStyle/>
                    <a:p>
                      <a:r>
                        <a:rPr lang="en-CA" dirty="0" smtClean="0">
                          <a:solidFill>
                            <a:schemeClr val="bg1"/>
                          </a:solidFill>
                        </a:rPr>
                        <a:t>XML Dump Tool</a:t>
                      </a:r>
                      <a:endParaRPr lang="en-CA" dirty="0">
                        <a:solidFill>
                          <a:schemeClr val="bg1"/>
                        </a:solidFill>
                      </a:endParaRPr>
                    </a:p>
                  </a:txBody>
                  <a:tcPr/>
                </a:tc>
                <a:tc>
                  <a:txBody>
                    <a:bodyPr/>
                    <a:lstStyle/>
                    <a:p>
                      <a:r>
                        <a:rPr lang="en-CA" dirty="0" smtClean="0">
                          <a:solidFill>
                            <a:schemeClr val="bg1"/>
                          </a:solidFill>
                        </a:rPr>
                        <a:t>565</a:t>
                      </a:r>
                      <a:endParaRPr lang="en-CA" dirty="0">
                        <a:solidFill>
                          <a:schemeClr val="bg1"/>
                        </a:solidFill>
                      </a:endParaRPr>
                    </a:p>
                  </a:txBody>
                  <a:tcPr/>
                </a:tc>
                <a:tc>
                  <a:txBody>
                    <a:bodyPr/>
                    <a:lstStyle/>
                    <a:p>
                      <a:r>
                        <a:rPr lang="en-CA" dirty="0" smtClean="0">
                          <a:solidFill>
                            <a:schemeClr val="bg1"/>
                          </a:solidFill>
                        </a:rPr>
                        <a:t>40~50</a:t>
                      </a:r>
                      <a:endParaRPr lang="en-CA" dirty="0">
                        <a:solidFill>
                          <a:schemeClr val="bg1"/>
                        </a:solidFill>
                      </a:endParaRPr>
                    </a:p>
                  </a:txBody>
                  <a:tcPr/>
                </a:tc>
                <a:extLst>
                  <a:ext uri="{0D108BD9-81ED-4DB2-BD59-A6C34878D82A}">
                    <a16:rowId xmlns="" xmlns:a16="http://schemas.microsoft.com/office/drawing/2014/main" val="10001"/>
                  </a:ext>
                </a:extLst>
              </a:tr>
              <a:tr h="370840">
                <a:tc>
                  <a:txBody>
                    <a:bodyPr/>
                    <a:lstStyle/>
                    <a:p>
                      <a:r>
                        <a:rPr lang="en-CA" dirty="0" smtClean="0">
                          <a:solidFill>
                            <a:schemeClr val="bg1"/>
                          </a:solidFill>
                        </a:rPr>
                        <a:t>Free Space</a:t>
                      </a:r>
                      <a:r>
                        <a:rPr lang="en-CA" baseline="0" dirty="0" smtClean="0">
                          <a:solidFill>
                            <a:schemeClr val="bg1"/>
                          </a:solidFill>
                        </a:rPr>
                        <a:t> Display Tool</a:t>
                      </a:r>
                      <a:endParaRPr lang="en-CA" dirty="0">
                        <a:solidFill>
                          <a:schemeClr val="bg1"/>
                        </a:solidFill>
                      </a:endParaRPr>
                    </a:p>
                  </a:txBody>
                  <a:tcPr/>
                </a:tc>
                <a:tc>
                  <a:txBody>
                    <a:bodyPr/>
                    <a:lstStyle/>
                    <a:p>
                      <a:r>
                        <a:rPr lang="en-CA" dirty="0" smtClean="0">
                          <a:solidFill>
                            <a:schemeClr val="bg1"/>
                          </a:solidFill>
                        </a:rPr>
                        <a:t>271</a:t>
                      </a:r>
                      <a:endParaRPr lang="en-CA" dirty="0">
                        <a:solidFill>
                          <a:schemeClr val="bg1"/>
                        </a:solidFill>
                      </a:endParaRPr>
                    </a:p>
                  </a:txBody>
                  <a:tcPr/>
                </a:tc>
                <a:tc>
                  <a:txBody>
                    <a:bodyPr/>
                    <a:lstStyle/>
                    <a:p>
                      <a:r>
                        <a:rPr lang="en-CA" dirty="0" smtClean="0">
                          <a:solidFill>
                            <a:schemeClr val="bg1"/>
                          </a:solidFill>
                        </a:rPr>
                        <a:t>76~194 (F2FS)</a:t>
                      </a:r>
                      <a:endParaRPr lang="en-CA" dirty="0">
                        <a:solidFill>
                          <a:schemeClr val="bg1"/>
                        </a:solidFill>
                      </a:endParaRPr>
                    </a:p>
                  </a:txBody>
                  <a:tcPr/>
                </a:tc>
                <a:extLst>
                  <a:ext uri="{0D108BD9-81ED-4DB2-BD59-A6C34878D82A}">
                    <a16:rowId xmlns="" xmlns:a16="http://schemas.microsoft.com/office/drawing/2014/main" val="10002"/>
                  </a:ext>
                </a:extLst>
              </a:tr>
              <a:tr h="370840">
                <a:tc>
                  <a:txBody>
                    <a:bodyPr/>
                    <a:lstStyle/>
                    <a:p>
                      <a:r>
                        <a:rPr lang="en-CA" dirty="0" smtClean="0">
                          <a:solidFill>
                            <a:schemeClr val="bg1"/>
                          </a:solidFill>
                        </a:rPr>
                        <a:t>Type-Specific</a:t>
                      </a:r>
                      <a:r>
                        <a:rPr lang="en-CA" baseline="0" dirty="0" smtClean="0">
                          <a:solidFill>
                            <a:schemeClr val="bg1"/>
                          </a:solidFill>
                        </a:rPr>
                        <a:t> Corruptor</a:t>
                      </a:r>
                      <a:endParaRPr lang="en-CA" dirty="0">
                        <a:solidFill>
                          <a:schemeClr val="bg1"/>
                        </a:solidFill>
                      </a:endParaRPr>
                    </a:p>
                  </a:txBody>
                  <a:tcPr/>
                </a:tc>
                <a:tc>
                  <a:txBody>
                    <a:bodyPr/>
                    <a:lstStyle/>
                    <a:p>
                      <a:r>
                        <a:rPr lang="en-CA" dirty="0" smtClean="0">
                          <a:solidFill>
                            <a:schemeClr val="bg1"/>
                          </a:solidFill>
                        </a:rPr>
                        <a:t>455</a:t>
                      </a:r>
                      <a:endParaRPr lang="en-CA" dirty="0">
                        <a:solidFill>
                          <a:schemeClr val="bg1"/>
                        </a:solidFill>
                      </a:endParaRPr>
                    </a:p>
                  </a:txBody>
                  <a:tcPr/>
                </a:tc>
                <a:tc>
                  <a:txBody>
                    <a:bodyPr/>
                    <a:lstStyle/>
                    <a:p>
                      <a:r>
                        <a:rPr lang="en-CA" dirty="0" smtClean="0">
                          <a:solidFill>
                            <a:schemeClr val="bg1"/>
                          </a:solidFill>
                        </a:rPr>
                        <a:t>&lt; 30</a:t>
                      </a:r>
                      <a:endParaRPr lang="en-CA" dirty="0">
                        <a:solidFill>
                          <a:schemeClr val="bg1"/>
                        </a:solidFill>
                      </a:endParaRPr>
                    </a:p>
                  </a:txBody>
                  <a:tcPr/>
                </a:tc>
                <a:extLst>
                  <a:ext uri="{0D108BD9-81ED-4DB2-BD59-A6C34878D82A}">
                    <a16:rowId xmlns="" xmlns:a16="http://schemas.microsoft.com/office/drawing/2014/main" val="10003"/>
                  </a:ext>
                </a:extLst>
              </a:tr>
              <a:tr h="370840">
                <a:tc>
                  <a:txBody>
                    <a:bodyPr/>
                    <a:lstStyle/>
                    <a:p>
                      <a:r>
                        <a:rPr lang="en-CA" dirty="0" smtClean="0">
                          <a:solidFill>
                            <a:schemeClr val="bg1"/>
                          </a:solidFill>
                        </a:rPr>
                        <a:t>Ext4 to F2FS</a:t>
                      </a:r>
                      <a:r>
                        <a:rPr lang="en-CA" baseline="0" dirty="0" smtClean="0">
                          <a:solidFill>
                            <a:schemeClr val="bg1"/>
                          </a:solidFill>
                        </a:rPr>
                        <a:t> </a:t>
                      </a:r>
                      <a:r>
                        <a:rPr lang="en-CA" dirty="0" smtClean="0">
                          <a:solidFill>
                            <a:schemeClr val="bg1"/>
                          </a:solidFill>
                        </a:rPr>
                        <a:t>Converter</a:t>
                      </a:r>
                      <a:endParaRPr lang="en-CA" dirty="0">
                        <a:solidFill>
                          <a:schemeClr val="bg1"/>
                        </a:solidFill>
                      </a:endParaRPr>
                    </a:p>
                  </a:txBody>
                  <a:tcPr/>
                </a:tc>
                <a:tc>
                  <a:txBody>
                    <a:bodyPr/>
                    <a:lstStyle/>
                    <a:p>
                      <a:r>
                        <a:rPr lang="en-CA" dirty="0" smtClean="0">
                          <a:solidFill>
                            <a:schemeClr val="bg1"/>
                          </a:solidFill>
                        </a:rPr>
                        <a:t>504</a:t>
                      </a:r>
                      <a:endParaRPr lang="en-CA" dirty="0">
                        <a:solidFill>
                          <a:schemeClr val="bg1"/>
                        </a:solidFill>
                      </a:endParaRPr>
                    </a:p>
                  </a:txBody>
                  <a:tcPr/>
                </a:tc>
                <a:tc>
                  <a:txBody>
                    <a:bodyPr/>
                    <a:lstStyle/>
                    <a:p>
                      <a:r>
                        <a:rPr lang="en-CA" dirty="0" smtClean="0">
                          <a:solidFill>
                            <a:schemeClr val="bg1"/>
                          </a:solidFill>
                        </a:rPr>
                        <a:t>218 (Ext4)</a:t>
                      </a:r>
                      <a:r>
                        <a:rPr lang="en-CA" baseline="0" dirty="0" smtClean="0">
                          <a:solidFill>
                            <a:schemeClr val="bg1"/>
                          </a:solidFill>
                        </a:rPr>
                        <a:t>, 1760 (F2FS)</a:t>
                      </a:r>
                      <a:endParaRPr lang="en-CA" dirty="0">
                        <a:solidFill>
                          <a:schemeClr val="bg1"/>
                        </a:solidFill>
                      </a:endParaRPr>
                    </a:p>
                  </a:txBody>
                  <a:tcPr/>
                </a:tc>
                <a:extLst>
                  <a:ext uri="{0D108BD9-81ED-4DB2-BD59-A6C34878D82A}">
                    <a16:rowId xmlns="" xmlns:a16="http://schemas.microsoft.com/office/drawing/2014/main" val="10004"/>
                  </a:ext>
                </a:extLst>
              </a:tr>
              <a:tr h="370840">
                <a:tc>
                  <a:txBody>
                    <a:bodyPr/>
                    <a:lstStyle/>
                    <a:p>
                      <a:r>
                        <a:rPr lang="en-CA" dirty="0" smtClean="0">
                          <a:solidFill>
                            <a:schemeClr val="bg1"/>
                          </a:solidFill>
                        </a:rPr>
                        <a:t>Runtime</a:t>
                      </a:r>
                      <a:r>
                        <a:rPr lang="en-CA" baseline="0" dirty="0" smtClean="0">
                          <a:solidFill>
                            <a:schemeClr val="bg1"/>
                          </a:solidFill>
                        </a:rPr>
                        <a:t> Interpretation</a:t>
                      </a:r>
                      <a:endParaRPr lang="en-CA" dirty="0">
                        <a:solidFill>
                          <a:schemeClr val="bg1"/>
                        </a:solidFill>
                      </a:endParaRPr>
                    </a:p>
                  </a:txBody>
                  <a:tcPr/>
                </a:tc>
                <a:tc>
                  <a:txBody>
                    <a:bodyPr/>
                    <a:lstStyle/>
                    <a:p>
                      <a:r>
                        <a:rPr lang="en-CA" dirty="0" smtClean="0">
                          <a:solidFill>
                            <a:schemeClr val="bg1"/>
                          </a:solidFill>
                        </a:rPr>
                        <a:t>2158</a:t>
                      </a:r>
                      <a:endParaRPr lang="en-CA" dirty="0">
                        <a:solidFill>
                          <a:schemeClr val="bg1"/>
                        </a:solidFill>
                      </a:endParaRPr>
                    </a:p>
                  </a:txBody>
                  <a:tcPr/>
                </a:tc>
                <a:tc>
                  <a:txBody>
                    <a:bodyPr/>
                    <a:lstStyle/>
                    <a:p>
                      <a:r>
                        <a:rPr lang="en-CA" dirty="0" smtClean="0">
                          <a:solidFill>
                            <a:schemeClr val="bg1"/>
                          </a:solidFill>
                        </a:rPr>
                        <a:t>111 (Ext4),</a:t>
                      </a:r>
                      <a:r>
                        <a:rPr lang="en-CA" baseline="0" dirty="0" smtClean="0">
                          <a:solidFill>
                            <a:schemeClr val="bg1"/>
                          </a:solidFill>
                        </a:rPr>
                        <a:t> 134 (</a:t>
                      </a:r>
                      <a:r>
                        <a:rPr lang="en-CA" baseline="0" dirty="0" err="1" smtClean="0">
                          <a:solidFill>
                            <a:schemeClr val="bg1"/>
                          </a:solidFill>
                        </a:rPr>
                        <a:t>Btrfs</a:t>
                      </a:r>
                      <a:r>
                        <a:rPr lang="en-CA" baseline="0" dirty="0" smtClean="0">
                          <a:solidFill>
                            <a:schemeClr val="bg1"/>
                          </a:solidFill>
                        </a:rPr>
                        <a:t>)</a:t>
                      </a:r>
                      <a:endParaRPr lang="en-CA" dirty="0">
                        <a:solidFill>
                          <a:schemeClr val="bg1"/>
                        </a:solidFill>
                      </a:endParaRPr>
                    </a:p>
                  </a:txBody>
                  <a:tcPr/>
                </a:tc>
                <a:extLst>
                  <a:ext uri="{0D108BD9-81ED-4DB2-BD59-A6C34878D82A}">
                    <a16:rowId xmlns="" xmlns:a16="http://schemas.microsoft.com/office/drawing/2014/main" val="10005"/>
                  </a:ext>
                </a:extLst>
              </a:tr>
              <a:tr h="370840">
                <a:tc>
                  <a:txBody>
                    <a:bodyPr/>
                    <a:lstStyle/>
                    <a:p>
                      <a:r>
                        <a:rPr lang="en-CA" dirty="0" smtClean="0">
                          <a:solidFill>
                            <a:schemeClr val="bg1"/>
                          </a:solidFill>
                        </a:rPr>
                        <a:t>Differentiated</a:t>
                      </a:r>
                      <a:r>
                        <a:rPr lang="en-CA" baseline="0" dirty="0" smtClean="0">
                          <a:solidFill>
                            <a:schemeClr val="bg1"/>
                          </a:solidFill>
                        </a:rPr>
                        <a:t> Storage</a:t>
                      </a:r>
                      <a:endParaRPr lang="en-CA" dirty="0">
                        <a:solidFill>
                          <a:schemeClr val="bg1"/>
                        </a:solidFill>
                      </a:endParaRPr>
                    </a:p>
                  </a:txBody>
                  <a:tcPr/>
                </a:tc>
                <a:tc>
                  <a:txBody>
                    <a:bodyPr/>
                    <a:lstStyle/>
                    <a:p>
                      <a:endParaRPr lang="en-CA" dirty="0">
                        <a:solidFill>
                          <a:schemeClr val="bg1"/>
                        </a:solidFill>
                      </a:endParaRPr>
                    </a:p>
                  </a:txBody>
                  <a:tcPr/>
                </a:tc>
                <a:tc>
                  <a:txBody>
                    <a:bodyPr/>
                    <a:lstStyle/>
                    <a:p>
                      <a:endParaRPr lang="en-CA" dirty="0">
                        <a:solidFill>
                          <a:schemeClr val="bg1"/>
                        </a:solidFill>
                      </a:endParaRPr>
                    </a:p>
                  </a:txBody>
                  <a:tcPr/>
                </a:tc>
                <a:extLst>
                  <a:ext uri="{0D108BD9-81ED-4DB2-BD59-A6C34878D82A}">
                    <a16:rowId xmlns="" xmlns:a16="http://schemas.microsoft.com/office/drawing/2014/main" val="10006"/>
                  </a:ext>
                </a:extLst>
              </a:tr>
              <a:tr h="370840">
                <a:tc>
                  <a:txBody>
                    <a:bodyPr/>
                    <a:lstStyle/>
                    <a:p>
                      <a:pPr marL="179388" marR="0" lvl="0" indent="0" algn="l" defTabSz="457200" rtl="0" eaLnBrk="1" fontAlgn="auto" latinLnBrk="0" hangingPunct="1">
                        <a:lnSpc>
                          <a:spcPct val="100000"/>
                        </a:lnSpc>
                        <a:spcBef>
                          <a:spcPts val="0"/>
                        </a:spcBef>
                        <a:spcAft>
                          <a:spcPts val="0"/>
                        </a:spcAft>
                        <a:buClrTx/>
                        <a:buSzTx/>
                        <a:buFontTx/>
                        <a:buNone/>
                        <a:tabLst/>
                        <a:defRPr/>
                      </a:pPr>
                      <a:r>
                        <a:rPr lang="en-CA" dirty="0" smtClean="0">
                          <a:solidFill>
                            <a:schemeClr val="bg1"/>
                          </a:solidFill>
                        </a:rPr>
                        <a:t>- Block Layer Cache</a:t>
                      </a:r>
                    </a:p>
                  </a:txBody>
                  <a:tcPr/>
                </a:tc>
                <a:tc>
                  <a:txBody>
                    <a:bodyPr/>
                    <a:lstStyle/>
                    <a:p>
                      <a:r>
                        <a:rPr lang="en-CA" dirty="0" smtClean="0">
                          <a:solidFill>
                            <a:schemeClr val="bg1"/>
                          </a:solidFill>
                        </a:rPr>
                        <a:t>10518</a:t>
                      </a:r>
                      <a:endParaRPr lang="en-CA" dirty="0">
                        <a:solidFill>
                          <a:schemeClr val="bg1"/>
                        </a:solidFill>
                      </a:endParaRPr>
                    </a:p>
                  </a:txBody>
                  <a:tcPr/>
                </a:tc>
                <a:tc>
                  <a:txBody>
                    <a:bodyPr/>
                    <a:lstStyle/>
                    <a:p>
                      <a:r>
                        <a:rPr lang="en-CA" dirty="0" smtClean="0">
                          <a:solidFill>
                            <a:schemeClr val="bg1"/>
                          </a:solidFill>
                        </a:rPr>
                        <a:t>N/A</a:t>
                      </a:r>
                      <a:endParaRPr lang="en-CA" dirty="0">
                        <a:solidFill>
                          <a:schemeClr val="bg1"/>
                        </a:solidFill>
                      </a:endParaRPr>
                    </a:p>
                  </a:txBody>
                  <a:tcPr/>
                </a:tc>
                <a:extLst>
                  <a:ext uri="{0D108BD9-81ED-4DB2-BD59-A6C34878D82A}">
                    <a16:rowId xmlns="" xmlns:a16="http://schemas.microsoft.com/office/drawing/2014/main" val="10007"/>
                  </a:ext>
                </a:extLst>
              </a:tr>
              <a:tr h="370840">
                <a:tc>
                  <a:txBody>
                    <a:bodyPr/>
                    <a:lstStyle/>
                    <a:p>
                      <a:pPr marL="179388" marR="0" lvl="0" indent="0" algn="l" defTabSz="457200" rtl="0" eaLnBrk="1" fontAlgn="auto" latinLnBrk="0" hangingPunct="1">
                        <a:lnSpc>
                          <a:spcPct val="100000"/>
                        </a:lnSpc>
                        <a:spcBef>
                          <a:spcPts val="0"/>
                        </a:spcBef>
                        <a:spcAft>
                          <a:spcPts val="0"/>
                        </a:spcAft>
                        <a:buClrTx/>
                        <a:buSzTx/>
                        <a:buFontTx/>
                        <a:buNone/>
                        <a:tabLst/>
                        <a:defRPr/>
                      </a:pPr>
                      <a:r>
                        <a:rPr lang="en-CA" dirty="0" smtClean="0">
                          <a:solidFill>
                            <a:schemeClr val="bg1"/>
                          </a:solidFill>
                        </a:rPr>
                        <a:t>- Preferential</a:t>
                      </a:r>
                      <a:r>
                        <a:rPr lang="en-CA" baseline="0" dirty="0" smtClean="0">
                          <a:solidFill>
                            <a:schemeClr val="bg1"/>
                          </a:solidFill>
                        </a:rPr>
                        <a:t> Caching</a:t>
                      </a:r>
                      <a:endParaRPr lang="en-CA" dirty="0" smtClean="0">
                        <a:solidFill>
                          <a:schemeClr val="bg1"/>
                        </a:solidFill>
                      </a:endParaRPr>
                    </a:p>
                  </a:txBody>
                  <a:tcPr/>
                </a:tc>
                <a:tc>
                  <a:txBody>
                    <a:bodyPr/>
                    <a:lstStyle/>
                    <a:p>
                      <a:r>
                        <a:rPr lang="en-CA" dirty="0" smtClean="0">
                          <a:solidFill>
                            <a:schemeClr val="bg1"/>
                          </a:solidFill>
                        </a:rPr>
                        <a:t>289</a:t>
                      </a:r>
                      <a:endParaRPr lang="en-CA" dirty="0">
                        <a:solidFill>
                          <a:schemeClr val="bg1"/>
                        </a:solidFill>
                      </a:endParaRPr>
                    </a:p>
                  </a:txBody>
                  <a:tcPr/>
                </a:tc>
                <a:tc>
                  <a:txBody>
                    <a:bodyPr/>
                    <a:lstStyle/>
                    <a:p>
                      <a:r>
                        <a:rPr lang="en-CA" dirty="0" smtClean="0">
                          <a:solidFill>
                            <a:schemeClr val="bg1"/>
                          </a:solidFill>
                        </a:rPr>
                        <a:t>N/A</a:t>
                      </a:r>
                      <a:endParaRPr lang="en-CA" dirty="0">
                        <a:solidFill>
                          <a:schemeClr val="bg1"/>
                        </a:solidFill>
                      </a:endParaRPr>
                    </a:p>
                  </a:txBody>
                  <a:tcPr/>
                </a:tc>
                <a:extLst>
                  <a:ext uri="{0D108BD9-81ED-4DB2-BD59-A6C34878D82A}">
                    <a16:rowId xmlns="" xmlns:a16="http://schemas.microsoft.com/office/drawing/2014/main" val="10008"/>
                  </a:ext>
                </a:extLst>
              </a:tr>
            </a:tbl>
          </a:graphicData>
        </a:graphic>
      </p:graphicFrame>
      <p:sp>
        <p:nvSpPr>
          <p:cNvPr id="6" name="Slide Number Placeholder 5"/>
          <p:cNvSpPr>
            <a:spLocks noGrp="1"/>
          </p:cNvSpPr>
          <p:nvPr>
            <p:ph type="sldNum" sz="quarter" idx="12"/>
          </p:nvPr>
        </p:nvSpPr>
        <p:spPr/>
        <p:txBody>
          <a:bodyPr/>
          <a:lstStyle/>
          <a:p>
            <a:fld id="{7B2023C8-B124-43A9-8F92-0EEF5BAA9995}" type="slidenum">
              <a:rPr lang="en-CA" smtClean="0"/>
              <a:pPr/>
              <a:t>29</a:t>
            </a:fld>
            <a:endParaRPr lang="en-CA" dirty="0"/>
          </a:p>
        </p:txBody>
      </p:sp>
    </p:spTree>
    <p:extLst>
      <p:ext uri="{BB962C8B-B14F-4D97-AF65-F5344CB8AC3E}">
        <p14:creationId xmlns:p14="http://schemas.microsoft.com/office/powerpoint/2010/main" val="919253903"/>
      </p:ext>
    </p:extLst>
  </p:cSld>
  <p:clrMapOvr>
    <a:masterClrMapping/>
  </p:clrMapOvr>
  <p:timing>
    <p:tnLst>
      <p:par>
        <p:cT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smtClean="0"/>
              <a:t>Evaluation: Ext4 to F2FS Converter</a:t>
            </a:r>
            <a:endParaRPr lang="en-CA" dirty="0"/>
          </a:p>
        </p:txBody>
      </p:sp>
      <p:sp>
        <p:nvSpPr>
          <p:cNvPr id="3" name="Content Placeholder 2"/>
          <p:cNvSpPr>
            <a:spLocks noGrp="1"/>
          </p:cNvSpPr>
          <p:nvPr>
            <p:ph idx="1"/>
          </p:nvPr>
        </p:nvSpPr>
        <p:spPr>
          <a:xfrm>
            <a:off x="646112" y="1543050"/>
            <a:ext cx="10600065" cy="4914311"/>
          </a:xfrm>
        </p:spPr>
        <p:txBody>
          <a:bodyPr>
            <a:normAutofit/>
          </a:bodyPr>
          <a:lstStyle/>
          <a:p>
            <a:r>
              <a:rPr lang="en-CA" dirty="0" smtClean="0"/>
              <a:t>Compares manually written vs. Spiffy-assisted application</a:t>
            </a:r>
          </a:p>
          <a:p>
            <a:r>
              <a:rPr lang="en-CA" dirty="0" smtClean="0"/>
              <a:t>Converts 64GB file system with 16GB file set on SSD</a:t>
            </a:r>
          </a:p>
          <a:p>
            <a:pPr lvl="1"/>
            <a:r>
              <a:rPr lang="en-CA" dirty="0" smtClean="0"/>
              <a:t>Copy converter copies data to local disk, reformat, then copies back</a:t>
            </a:r>
          </a:p>
          <a:p>
            <a:endParaRPr lang="en-CA" dirty="0"/>
          </a:p>
          <a:p>
            <a:endParaRPr lang="en-CA" dirty="0" smtClean="0"/>
          </a:p>
          <a:p>
            <a:endParaRPr lang="en-CA" dirty="0"/>
          </a:p>
          <a:p>
            <a:endParaRPr lang="en-CA" dirty="0" smtClean="0"/>
          </a:p>
          <a:p>
            <a:r>
              <a:rPr lang="en-CA" dirty="0" smtClean="0"/>
              <a:t>Copy converter 30~50 times slower</a:t>
            </a:r>
          </a:p>
          <a:p>
            <a:r>
              <a:rPr lang="en-CA" dirty="0" smtClean="0"/>
              <a:t>Overhead of using Spiffy at most 16.7%</a:t>
            </a:r>
          </a:p>
          <a:p>
            <a:endParaRPr lang="en-CA" dirty="0" smtClean="0"/>
          </a:p>
          <a:p>
            <a:endParaRPr lang="en-CA" dirty="0" smtClean="0"/>
          </a:p>
        </p:txBody>
      </p:sp>
      <p:graphicFrame>
        <p:nvGraphicFramePr>
          <p:cNvPr id="5" name="Table 4"/>
          <p:cNvGraphicFramePr>
            <a:graphicFrameLocks noGrp="1"/>
          </p:cNvGraphicFramePr>
          <p:nvPr>
            <p:extLst>
              <p:ext uri="{D42A27DB-BD31-4B8C-83A1-F6EECF244321}">
                <p14:modId xmlns:p14="http://schemas.microsoft.com/office/powerpoint/2010/main" val="2098918572"/>
              </p:ext>
            </p:extLst>
          </p:nvPr>
        </p:nvGraphicFramePr>
        <p:xfrm>
          <a:off x="1645746" y="3073105"/>
          <a:ext cx="7799909" cy="1854200"/>
        </p:xfrm>
        <a:graphic>
          <a:graphicData uri="http://schemas.openxmlformats.org/drawingml/2006/table">
            <a:tbl>
              <a:tblPr firstRow="1" bandRow="1">
                <a:tableStyleId>{69012ECD-51FC-41F1-AA8D-1B2483CD663E}</a:tableStyleId>
              </a:tblPr>
              <a:tblGrid>
                <a:gridCol w="1125734">
                  <a:extLst>
                    <a:ext uri="{9D8B030D-6E8A-4147-A177-3AD203B41FA5}">
                      <a16:colId xmlns="" xmlns:a16="http://schemas.microsoft.com/office/drawing/2014/main" val="20000"/>
                    </a:ext>
                  </a:extLst>
                </a:gridCol>
                <a:gridCol w="2224725">
                  <a:extLst>
                    <a:ext uri="{9D8B030D-6E8A-4147-A177-3AD203B41FA5}">
                      <a16:colId xmlns="" xmlns:a16="http://schemas.microsoft.com/office/drawing/2014/main" val="20001"/>
                    </a:ext>
                  </a:extLst>
                </a:gridCol>
                <a:gridCol w="2224725">
                  <a:extLst>
                    <a:ext uri="{9D8B030D-6E8A-4147-A177-3AD203B41FA5}">
                      <a16:colId xmlns="" xmlns:a16="http://schemas.microsoft.com/office/drawing/2014/main" val="20002"/>
                    </a:ext>
                  </a:extLst>
                </a:gridCol>
                <a:gridCol w="2224725">
                  <a:extLst>
                    <a:ext uri="{9D8B030D-6E8A-4147-A177-3AD203B41FA5}">
                      <a16:colId xmlns="" xmlns:a16="http://schemas.microsoft.com/office/drawing/2014/main" val="20003"/>
                    </a:ext>
                  </a:extLst>
                </a:gridCol>
              </a:tblGrid>
              <a:tr h="370840">
                <a:tc>
                  <a:txBody>
                    <a:bodyPr/>
                    <a:lstStyle/>
                    <a:p>
                      <a:r>
                        <a:rPr lang="en-CA" dirty="0" smtClean="0">
                          <a:solidFill>
                            <a:schemeClr val="tx1"/>
                          </a:solidFill>
                        </a:rPr>
                        <a:t># of files</a:t>
                      </a:r>
                      <a:endParaRPr lang="en-CA" dirty="0">
                        <a:solidFill>
                          <a:schemeClr val="tx1"/>
                        </a:solidFill>
                      </a:endParaRPr>
                    </a:p>
                  </a:txBody>
                  <a:tcPr/>
                </a:tc>
                <a:tc>
                  <a:txBody>
                    <a:bodyPr/>
                    <a:lstStyle/>
                    <a:p>
                      <a:r>
                        <a:rPr lang="en-CA" dirty="0" smtClean="0">
                          <a:solidFill>
                            <a:schemeClr val="tx1"/>
                          </a:solidFill>
                        </a:rPr>
                        <a:t>Copy Converter</a:t>
                      </a:r>
                      <a:endParaRPr lang="en-CA" dirty="0">
                        <a:solidFill>
                          <a:schemeClr val="tx1"/>
                        </a:solidFill>
                      </a:endParaRPr>
                    </a:p>
                  </a:txBody>
                  <a:tcPr/>
                </a:tc>
                <a:tc>
                  <a:txBody>
                    <a:bodyPr/>
                    <a:lstStyle/>
                    <a:p>
                      <a:r>
                        <a:rPr lang="en-CA" dirty="0" smtClean="0">
                          <a:solidFill>
                            <a:schemeClr val="tx1"/>
                          </a:solidFill>
                        </a:rPr>
                        <a:t>Manual</a:t>
                      </a:r>
                      <a:r>
                        <a:rPr lang="en-CA" baseline="0" dirty="0" smtClean="0">
                          <a:solidFill>
                            <a:schemeClr val="tx1"/>
                          </a:solidFill>
                        </a:rPr>
                        <a:t> Converter</a:t>
                      </a:r>
                      <a:endParaRPr lang="en-CA" dirty="0">
                        <a:solidFill>
                          <a:schemeClr val="tx1"/>
                        </a:solidFill>
                      </a:endParaRPr>
                    </a:p>
                  </a:txBody>
                  <a:tcPr/>
                </a:tc>
                <a:tc>
                  <a:txBody>
                    <a:bodyPr/>
                    <a:lstStyle/>
                    <a:p>
                      <a:r>
                        <a:rPr lang="en-CA" dirty="0" smtClean="0">
                          <a:solidFill>
                            <a:schemeClr val="tx1"/>
                          </a:solidFill>
                        </a:rPr>
                        <a:t>Spiffy Converter</a:t>
                      </a:r>
                      <a:endParaRPr lang="en-CA" dirty="0">
                        <a:solidFill>
                          <a:schemeClr val="tx1"/>
                        </a:solidFill>
                      </a:endParaRPr>
                    </a:p>
                  </a:txBody>
                  <a:tcPr/>
                </a:tc>
                <a:extLst>
                  <a:ext uri="{0D108BD9-81ED-4DB2-BD59-A6C34878D82A}">
                    <a16:rowId xmlns="" xmlns:a16="http://schemas.microsoft.com/office/drawing/2014/main" val="10000"/>
                  </a:ext>
                </a:extLst>
              </a:tr>
              <a:tr h="370840">
                <a:tc>
                  <a:txBody>
                    <a:bodyPr/>
                    <a:lstStyle/>
                    <a:p>
                      <a:r>
                        <a:rPr lang="en-CA" sz="1600" dirty="0" smtClean="0">
                          <a:solidFill>
                            <a:schemeClr val="bg1"/>
                          </a:solidFill>
                        </a:rPr>
                        <a:t>20000</a:t>
                      </a:r>
                      <a:endParaRPr lang="en-CA" sz="1600" dirty="0">
                        <a:solidFill>
                          <a:schemeClr val="bg1"/>
                        </a:solidFill>
                      </a:endParaRPr>
                    </a:p>
                  </a:txBody>
                  <a:tcPr/>
                </a:tc>
                <a:tc>
                  <a:txBody>
                    <a:bodyPr/>
                    <a:lstStyle/>
                    <a:p>
                      <a:r>
                        <a:rPr lang="en-CA" sz="1800" b="0" i="0" u="none" strike="noStrike" kern="1200" baseline="0" dirty="0" smtClean="0">
                          <a:solidFill>
                            <a:schemeClr val="bg1"/>
                          </a:solidFill>
                          <a:latin typeface="+mn-lt"/>
                          <a:ea typeface="+mn-ea"/>
                          <a:cs typeface="+mn-cs"/>
                        </a:rPr>
                        <a:t>188.17 ± 3.65s</a:t>
                      </a:r>
                      <a:endParaRPr lang="en-CA" dirty="0">
                        <a:solidFill>
                          <a:schemeClr val="bg1"/>
                        </a:solidFill>
                      </a:endParaRPr>
                    </a:p>
                  </a:txBody>
                  <a:tcPr/>
                </a:tc>
                <a:tc>
                  <a:txBody>
                    <a:bodyPr/>
                    <a:lstStyle/>
                    <a:p>
                      <a:r>
                        <a:rPr lang="en-CA" sz="1800" b="0" i="0" u="none" strike="noStrike" kern="1200" baseline="0" dirty="0" smtClean="0">
                          <a:solidFill>
                            <a:schemeClr val="bg1"/>
                          </a:solidFill>
                          <a:latin typeface="+mn-lt"/>
                          <a:ea typeface="+mn-ea"/>
                          <a:cs typeface="+mn-cs"/>
                        </a:rPr>
                        <a:t>6.55 ± 0.53s</a:t>
                      </a:r>
                      <a:endParaRPr lang="en-CA" dirty="0">
                        <a:solidFill>
                          <a:schemeClr val="bg1"/>
                        </a:solidFill>
                      </a:endParaRP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CA" sz="1800" b="0" i="0" u="none" strike="noStrike" kern="1200" baseline="0" dirty="0" smtClean="0">
                          <a:solidFill>
                            <a:schemeClr val="bg1"/>
                          </a:solidFill>
                          <a:latin typeface="+mn-lt"/>
                          <a:ea typeface="+mn-ea"/>
                          <a:cs typeface="+mn-cs"/>
                        </a:rPr>
                        <a:t>7:03 ± 0:2s</a:t>
                      </a:r>
                      <a:endParaRPr lang="en-CA" dirty="0">
                        <a:solidFill>
                          <a:schemeClr val="bg1"/>
                        </a:solidFill>
                      </a:endParaRPr>
                    </a:p>
                  </a:txBody>
                  <a:tcPr/>
                </a:tc>
                <a:extLst>
                  <a:ext uri="{0D108BD9-81ED-4DB2-BD59-A6C34878D82A}">
                    <a16:rowId xmlns="" xmlns:a16="http://schemas.microsoft.com/office/drawing/2014/main" val="10001"/>
                  </a:ext>
                </a:extLst>
              </a:tr>
              <a:tr h="370840">
                <a:tc>
                  <a:txBody>
                    <a:bodyPr/>
                    <a:lstStyle/>
                    <a:p>
                      <a:r>
                        <a:rPr lang="en-CA" sz="1600" dirty="0" smtClean="0">
                          <a:solidFill>
                            <a:schemeClr val="bg1"/>
                          </a:solidFill>
                        </a:rPr>
                        <a:t>5000</a:t>
                      </a:r>
                      <a:endParaRPr lang="en-CA" sz="1600" dirty="0">
                        <a:solidFill>
                          <a:schemeClr val="bg1"/>
                        </a:solidFill>
                      </a:endParaRPr>
                    </a:p>
                  </a:txBody>
                  <a:tcPr/>
                </a:tc>
                <a:tc>
                  <a:txBody>
                    <a:bodyPr/>
                    <a:lstStyle/>
                    <a:p>
                      <a:r>
                        <a:rPr lang="en-CA" sz="1800" b="0" i="0" u="none" strike="noStrike" kern="1200" baseline="0" dirty="0" smtClean="0">
                          <a:solidFill>
                            <a:schemeClr val="bg1"/>
                          </a:solidFill>
                          <a:latin typeface="+mn-lt"/>
                          <a:ea typeface="+mn-ea"/>
                          <a:cs typeface="+mn-cs"/>
                        </a:rPr>
                        <a:t>190.28 ± 2.15s </a:t>
                      </a:r>
                      <a:endParaRPr lang="en-CA" dirty="0">
                        <a:solidFill>
                          <a:schemeClr val="bg1"/>
                        </a:solidFill>
                      </a:endParaRPr>
                    </a:p>
                  </a:txBody>
                  <a:tcPr/>
                </a:tc>
                <a:tc>
                  <a:txBody>
                    <a:bodyPr/>
                    <a:lstStyle/>
                    <a:p>
                      <a:r>
                        <a:rPr lang="en-CA" sz="1800" b="0" i="0" u="none" strike="noStrike" kern="1200" baseline="0" dirty="0" smtClean="0">
                          <a:solidFill>
                            <a:schemeClr val="bg1"/>
                          </a:solidFill>
                          <a:latin typeface="+mn-lt"/>
                          <a:ea typeface="+mn-ea"/>
                          <a:cs typeface="+mn-cs"/>
                        </a:rPr>
                        <a:t>3.46 ± 0.17s</a:t>
                      </a:r>
                      <a:endParaRPr lang="en-CA" dirty="0">
                        <a:solidFill>
                          <a:schemeClr val="bg1"/>
                        </a:solidFill>
                      </a:endParaRPr>
                    </a:p>
                  </a:txBody>
                  <a:tcPr/>
                </a:tc>
                <a:tc>
                  <a:txBody>
                    <a:bodyPr/>
                    <a:lstStyle/>
                    <a:p>
                      <a:r>
                        <a:rPr lang="en-CA" sz="1800" b="0" i="0" u="none" strike="noStrike" kern="1200" baseline="0" dirty="0" smtClean="0">
                          <a:solidFill>
                            <a:schemeClr val="bg1"/>
                          </a:solidFill>
                          <a:latin typeface="+mn-lt"/>
                          <a:ea typeface="+mn-ea"/>
                          <a:cs typeface="+mn-cs"/>
                        </a:rPr>
                        <a:t>4:01 ± 0:09s </a:t>
                      </a:r>
                      <a:endParaRPr lang="en-CA" dirty="0">
                        <a:solidFill>
                          <a:schemeClr val="bg1"/>
                        </a:solidFill>
                      </a:endParaRPr>
                    </a:p>
                  </a:txBody>
                  <a:tcPr/>
                </a:tc>
                <a:extLst>
                  <a:ext uri="{0D108BD9-81ED-4DB2-BD59-A6C34878D82A}">
                    <a16:rowId xmlns="" xmlns:a16="http://schemas.microsoft.com/office/drawing/2014/main" val="10002"/>
                  </a:ext>
                </a:extLst>
              </a:tr>
              <a:tr h="370840">
                <a:tc>
                  <a:txBody>
                    <a:bodyPr/>
                    <a:lstStyle/>
                    <a:p>
                      <a:r>
                        <a:rPr lang="en-CA" sz="1600" dirty="0" smtClean="0">
                          <a:solidFill>
                            <a:schemeClr val="bg1"/>
                          </a:solidFill>
                        </a:rPr>
                        <a:t>1000</a:t>
                      </a:r>
                      <a:endParaRPr lang="en-CA" sz="1600" dirty="0">
                        <a:solidFill>
                          <a:schemeClr val="bg1"/>
                        </a:solidFill>
                      </a:endParaRPr>
                    </a:p>
                  </a:txBody>
                  <a:tcPr/>
                </a:tc>
                <a:tc>
                  <a:txBody>
                    <a:bodyPr/>
                    <a:lstStyle/>
                    <a:p>
                      <a:r>
                        <a:rPr lang="en-CA" sz="1800" b="0" i="0" u="none" strike="noStrike" kern="1200" baseline="0" dirty="0" smtClean="0">
                          <a:solidFill>
                            <a:schemeClr val="bg1"/>
                          </a:solidFill>
                          <a:latin typeface="+mn-lt"/>
                          <a:ea typeface="+mn-ea"/>
                          <a:cs typeface="+mn-cs"/>
                        </a:rPr>
                        <a:t>192.74 ± 2.28s </a:t>
                      </a:r>
                      <a:endParaRPr lang="en-CA" dirty="0">
                        <a:solidFill>
                          <a:schemeClr val="bg1"/>
                        </a:solidFill>
                      </a:endParaRPr>
                    </a:p>
                  </a:txBody>
                  <a:tcPr/>
                </a:tc>
                <a:tc>
                  <a:txBody>
                    <a:bodyPr/>
                    <a:lstStyle/>
                    <a:p>
                      <a:r>
                        <a:rPr lang="en-CA" sz="1800" b="0" i="0" u="none" strike="noStrike" kern="1200" baseline="0" dirty="0" smtClean="0">
                          <a:solidFill>
                            <a:schemeClr val="bg1"/>
                          </a:solidFill>
                          <a:latin typeface="+mn-lt"/>
                          <a:ea typeface="+mn-ea"/>
                          <a:cs typeface="+mn-cs"/>
                        </a:rPr>
                        <a:t>3.29 ± 0.11s</a:t>
                      </a:r>
                      <a:endParaRPr lang="en-CA" dirty="0">
                        <a:solidFill>
                          <a:schemeClr val="bg1"/>
                        </a:solidFill>
                      </a:endParaRPr>
                    </a:p>
                  </a:txBody>
                  <a:tcPr/>
                </a:tc>
                <a:tc>
                  <a:txBody>
                    <a:bodyPr/>
                    <a:lstStyle/>
                    <a:p>
                      <a:r>
                        <a:rPr lang="en-CA" sz="1800" b="0" i="0" u="none" strike="noStrike" kern="1200" baseline="0" dirty="0" smtClean="0">
                          <a:solidFill>
                            <a:schemeClr val="bg1"/>
                          </a:solidFill>
                          <a:latin typeface="+mn-lt"/>
                          <a:ea typeface="+mn-ea"/>
                          <a:cs typeface="+mn-cs"/>
                        </a:rPr>
                        <a:t>3:84 ± 0:03s </a:t>
                      </a:r>
                      <a:endParaRPr lang="en-CA" dirty="0">
                        <a:solidFill>
                          <a:schemeClr val="bg1"/>
                        </a:solidFill>
                      </a:endParaRPr>
                    </a:p>
                  </a:txBody>
                  <a:tcPr/>
                </a:tc>
                <a:extLst>
                  <a:ext uri="{0D108BD9-81ED-4DB2-BD59-A6C34878D82A}">
                    <a16:rowId xmlns="" xmlns:a16="http://schemas.microsoft.com/office/drawing/2014/main" val="10003"/>
                  </a:ext>
                </a:extLst>
              </a:tr>
              <a:tr h="370840">
                <a:tc>
                  <a:txBody>
                    <a:bodyPr/>
                    <a:lstStyle/>
                    <a:p>
                      <a:r>
                        <a:rPr lang="en-CA" sz="1600" dirty="0" smtClean="0">
                          <a:solidFill>
                            <a:schemeClr val="bg1"/>
                          </a:solidFill>
                        </a:rPr>
                        <a:t>100</a:t>
                      </a:r>
                      <a:endParaRPr lang="en-CA" sz="1600" dirty="0">
                        <a:solidFill>
                          <a:schemeClr val="bg1"/>
                        </a:solidFill>
                      </a:endParaRP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CA" sz="1800" b="0" i="0" u="none" strike="noStrike" kern="1200" baseline="0" dirty="0" smtClean="0">
                          <a:solidFill>
                            <a:schemeClr val="bg1"/>
                          </a:solidFill>
                          <a:latin typeface="+mn-lt"/>
                          <a:ea typeface="+mn-ea"/>
                          <a:cs typeface="+mn-cs"/>
                        </a:rPr>
                        <a:t>195.11 ± 0.18s</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CA" sz="1800" b="0" i="0" u="none" strike="noStrike" kern="1200" baseline="0" dirty="0" smtClean="0">
                          <a:solidFill>
                            <a:schemeClr val="bg1"/>
                          </a:solidFill>
                          <a:latin typeface="+mn-lt"/>
                          <a:ea typeface="+mn-ea"/>
                          <a:cs typeface="+mn-cs"/>
                        </a:rPr>
                        <a:t>3.25 ± 0.11s</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CA" sz="1800" b="0" i="0" u="none" strike="noStrike" kern="1200" baseline="0" dirty="0" smtClean="0">
                          <a:solidFill>
                            <a:schemeClr val="bg1"/>
                          </a:solidFill>
                          <a:latin typeface="+mn-lt"/>
                          <a:ea typeface="+mn-ea"/>
                          <a:cs typeface="+mn-cs"/>
                        </a:rPr>
                        <a:t>3:71 ± 0:13s</a:t>
                      </a:r>
                      <a:endParaRPr lang="en-CA" dirty="0" smtClean="0">
                        <a:solidFill>
                          <a:schemeClr val="bg1"/>
                        </a:solidFill>
                      </a:endParaRPr>
                    </a:p>
                  </a:txBody>
                  <a:tcPr/>
                </a:tc>
                <a:extLst>
                  <a:ext uri="{0D108BD9-81ED-4DB2-BD59-A6C34878D82A}">
                    <a16:rowId xmlns="" xmlns:a16="http://schemas.microsoft.com/office/drawing/2014/main" val="10004"/>
                  </a:ext>
                </a:extLst>
              </a:tr>
            </a:tbl>
          </a:graphicData>
        </a:graphic>
      </p:graphicFrame>
      <p:sp>
        <p:nvSpPr>
          <p:cNvPr id="6" name="Slide Number Placeholder 5"/>
          <p:cNvSpPr>
            <a:spLocks noGrp="1"/>
          </p:cNvSpPr>
          <p:nvPr>
            <p:ph type="sldNum" sz="quarter" idx="12"/>
          </p:nvPr>
        </p:nvSpPr>
        <p:spPr/>
        <p:txBody>
          <a:bodyPr/>
          <a:lstStyle/>
          <a:p>
            <a:fld id="{7B2023C8-B124-43A9-8F92-0EEF5BAA9995}" type="slidenum">
              <a:rPr lang="en-CA" smtClean="0"/>
              <a:pPr/>
              <a:t>30</a:t>
            </a:fld>
            <a:endParaRPr lang="en-CA" dirty="0"/>
          </a:p>
        </p:txBody>
      </p:sp>
    </p:spTree>
    <p:extLst>
      <p:ext uri="{BB962C8B-B14F-4D97-AF65-F5344CB8AC3E}">
        <p14:creationId xmlns:p14="http://schemas.microsoft.com/office/powerpoint/2010/main" val="1496817654"/>
      </p:ext>
    </p:extLst>
  </p:cSld>
  <p:clrMapOvr>
    <a:masterClrMapping/>
  </p:clrMapOvr>
  <p:timing>
    <p:tnLst>
      <p:par>
        <p:cTn id="1" dur="indefinite" restart="never" nodeType="tmRoot"/>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smtClean="0"/>
              <a:t>Evaluation: Corruption Experiment</a:t>
            </a:r>
            <a:endParaRPr lang="en-CA" dirty="0"/>
          </a:p>
        </p:txBody>
      </p:sp>
      <p:sp>
        <p:nvSpPr>
          <p:cNvPr id="3" name="Content Placeholder 2"/>
          <p:cNvSpPr>
            <a:spLocks noGrp="1"/>
          </p:cNvSpPr>
          <p:nvPr>
            <p:ph idx="1"/>
          </p:nvPr>
        </p:nvSpPr>
        <p:spPr>
          <a:xfrm>
            <a:off x="646112" y="1543050"/>
            <a:ext cx="10600065" cy="4914311"/>
          </a:xfrm>
        </p:spPr>
        <p:txBody>
          <a:bodyPr>
            <a:normAutofit/>
          </a:bodyPr>
          <a:lstStyle/>
          <a:p>
            <a:r>
              <a:rPr lang="en-CA" dirty="0" smtClean="0"/>
              <a:t>Run Spiffy dump tool and existing dump tools on corrupt images</a:t>
            </a:r>
          </a:p>
          <a:p>
            <a:pPr lvl="1"/>
            <a:r>
              <a:rPr lang="en-CA" dirty="0" smtClean="0"/>
              <a:t>Corrupt images generated by type-specific corruptor</a:t>
            </a:r>
          </a:p>
          <a:p>
            <a:r>
              <a:rPr lang="en-CA" dirty="0" smtClean="0"/>
              <a:t>Spiffy is robust against corruption, 2 out of 3 existing tools crash:</a:t>
            </a:r>
            <a:endParaRPr lang="en-CA" dirty="0"/>
          </a:p>
          <a:p>
            <a:endParaRPr lang="en-CA" dirty="0" smtClean="0"/>
          </a:p>
          <a:p>
            <a:endParaRPr lang="en-CA" dirty="0" smtClean="0"/>
          </a:p>
          <a:p>
            <a:endParaRPr lang="en-CA" dirty="0" smtClean="0"/>
          </a:p>
          <a:p>
            <a:endParaRPr lang="en-CA" dirty="0" smtClean="0"/>
          </a:p>
          <a:p>
            <a:endParaRPr lang="en-CA" dirty="0" smtClean="0"/>
          </a:p>
        </p:txBody>
      </p:sp>
      <p:graphicFrame>
        <p:nvGraphicFramePr>
          <p:cNvPr id="5" name="Table 4"/>
          <p:cNvGraphicFramePr>
            <a:graphicFrameLocks noGrp="1"/>
          </p:cNvGraphicFramePr>
          <p:nvPr>
            <p:extLst>
              <p:ext uri="{D42A27DB-BD31-4B8C-83A1-F6EECF244321}">
                <p14:modId xmlns:p14="http://schemas.microsoft.com/office/powerpoint/2010/main" val="1346553440"/>
              </p:ext>
            </p:extLst>
          </p:nvPr>
        </p:nvGraphicFramePr>
        <p:xfrm>
          <a:off x="684212" y="3103984"/>
          <a:ext cx="10072159" cy="3012440"/>
        </p:xfrm>
        <a:graphic>
          <a:graphicData uri="http://schemas.openxmlformats.org/drawingml/2006/table">
            <a:tbl>
              <a:tblPr firstRow="1" bandRow="1">
                <a:tableStyleId>{69012ECD-51FC-41F1-AA8D-1B2483CD663E}</a:tableStyleId>
              </a:tblPr>
              <a:tblGrid>
                <a:gridCol w="1173256">
                  <a:extLst>
                    <a:ext uri="{9D8B030D-6E8A-4147-A177-3AD203B41FA5}">
                      <a16:colId xmlns="" xmlns:a16="http://schemas.microsoft.com/office/drawing/2014/main" val="20000"/>
                    </a:ext>
                  </a:extLst>
                </a:gridCol>
                <a:gridCol w="1357460">
                  <a:extLst>
                    <a:ext uri="{9D8B030D-6E8A-4147-A177-3AD203B41FA5}">
                      <a16:colId xmlns="" xmlns:a16="http://schemas.microsoft.com/office/drawing/2014/main" val="20001"/>
                    </a:ext>
                  </a:extLst>
                </a:gridCol>
                <a:gridCol w="2375554">
                  <a:extLst>
                    <a:ext uri="{9D8B030D-6E8A-4147-A177-3AD203B41FA5}">
                      <a16:colId xmlns="" xmlns:a16="http://schemas.microsoft.com/office/drawing/2014/main" val="20002"/>
                    </a:ext>
                  </a:extLst>
                </a:gridCol>
                <a:gridCol w="5165889">
                  <a:extLst>
                    <a:ext uri="{9D8B030D-6E8A-4147-A177-3AD203B41FA5}">
                      <a16:colId xmlns="" xmlns:a16="http://schemas.microsoft.com/office/drawing/2014/main" val="20003"/>
                    </a:ext>
                  </a:extLst>
                </a:gridCol>
              </a:tblGrid>
              <a:tr h="370840">
                <a:tc>
                  <a:txBody>
                    <a:bodyPr/>
                    <a:lstStyle/>
                    <a:p>
                      <a:r>
                        <a:rPr lang="en-CA" dirty="0" smtClean="0">
                          <a:solidFill>
                            <a:schemeClr val="tx1"/>
                          </a:solidFill>
                        </a:rPr>
                        <a:t>Tool</a:t>
                      </a:r>
                      <a:endParaRPr lang="en-CA" dirty="0">
                        <a:solidFill>
                          <a:schemeClr val="tx1"/>
                        </a:solidFill>
                      </a:endParaRPr>
                    </a:p>
                  </a:txBody>
                  <a:tcPr/>
                </a:tc>
                <a:tc>
                  <a:txBody>
                    <a:bodyPr/>
                    <a:lstStyle/>
                    <a:p>
                      <a:r>
                        <a:rPr lang="en-CA" dirty="0" smtClean="0">
                          <a:solidFill>
                            <a:schemeClr val="tx1"/>
                          </a:solidFill>
                        </a:rPr>
                        <a:t>Structure</a:t>
                      </a:r>
                      <a:endParaRPr lang="en-CA" dirty="0">
                        <a:solidFill>
                          <a:schemeClr val="tx1"/>
                        </a:solidFill>
                      </a:endParaRPr>
                    </a:p>
                  </a:txBody>
                  <a:tcPr/>
                </a:tc>
                <a:tc>
                  <a:txBody>
                    <a:bodyPr/>
                    <a:lstStyle/>
                    <a:p>
                      <a:r>
                        <a:rPr lang="en-CA" dirty="0" smtClean="0">
                          <a:solidFill>
                            <a:schemeClr val="tx1"/>
                          </a:solidFill>
                        </a:rPr>
                        <a:t>Field</a:t>
                      </a:r>
                      <a:endParaRPr lang="en-CA" dirty="0">
                        <a:solidFill>
                          <a:schemeClr val="tx1"/>
                        </a:solidFill>
                      </a:endParaRPr>
                    </a:p>
                  </a:txBody>
                  <a:tcPr/>
                </a:tc>
                <a:tc>
                  <a:txBody>
                    <a:bodyPr/>
                    <a:lstStyle/>
                    <a:p>
                      <a:r>
                        <a:rPr lang="en-CA" dirty="0" smtClean="0">
                          <a:solidFill>
                            <a:schemeClr val="tx1"/>
                          </a:solidFill>
                        </a:rPr>
                        <a:t>Description</a:t>
                      </a:r>
                      <a:endParaRPr lang="en-CA" dirty="0">
                        <a:solidFill>
                          <a:schemeClr val="tx1"/>
                        </a:solidFill>
                      </a:endParaRPr>
                    </a:p>
                  </a:txBody>
                  <a:tcPr/>
                </a:tc>
                <a:extLst>
                  <a:ext uri="{0D108BD9-81ED-4DB2-BD59-A6C34878D82A}">
                    <a16:rowId xmlns="" xmlns:a16="http://schemas.microsoft.com/office/drawing/2014/main" val="10000"/>
                  </a:ext>
                </a:extLst>
              </a:tr>
              <a:tr h="370840">
                <a:tc>
                  <a:txBody>
                    <a:bodyPr/>
                    <a:lstStyle/>
                    <a:p>
                      <a:r>
                        <a:rPr lang="en-CA" sz="1600" dirty="0" smtClean="0">
                          <a:solidFill>
                            <a:schemeClr val="bg1"/>
                          </a:solidFill>
                        </a:rPr>
                        <a:t>dumpe2fs</a:t>
                      </a:r>
                      <a:endParaRPr lang="en-CA" sz="1600" dirty="0">
                        <a:solidFill>
                          <a:schemeClr val="bg1"/>
                        </a:solidFill>
                      </a:endParaRPr>
                    </a:p>
                  </a:txBody>
                  <a:tcPr/>
                </a:tc>
                <a:tc>
                  <a:txBody>
                    <a:bodyPr/>
                    <a:lstStyle/>
                    <a:p>
                      <a:r>
                        <a:rPr lang="en-CA" sz="1600" b="0" i="0" u="none" strike="noStrike" kern="1200" baseline="0" dirty="0" smtClean="0">
                          <a:solidFill>
                            <a:schemeClr val="bg1"/>
                          </a:solidFill>
                          <a:latin typeface="+mn-lt"/>
                          <a:ea typeface="+mn-ea"/>
                          <a:cs typeface="+mn-cs"/>
                        </a:rPr>
                        <a:t>super block </a:t>
                      </a:r>
                      <a:endParaRPr lang="en-CA" sz="1600" dirty="0">
                        <a:solidFill>
                          <a:schemeClr val="bg1"/>
                        </a:solidFill>
                      </a:endParaRPr>
                    </a:p>
                  </a:txBody>
                  <a:tcPr/>
                </a:tc>
                <a:tc>
                  <a:txBody>
                    <a:bodyPr/>
                    <a:lstStyle/>
                    <a:p>
                      <a:r>
                        <a:rPr lang="en-CA" sz="1500" b="0" i="0" u="none" strike="noStrike" kern="1200" baseline="0" dirty="0" err="1" smtClean="0">
                          <a:solidFill>
                            <a:schemeClr val="bg1"/>
                          </a:solidFill>
                          <a:latin typeface="Courier New" panose="02070309020205020404" pitchFamily="49" charset="0"/>
                          <a:ea typeface="+mn-ea"/>
                          <a:cs typeface="Courier New" panose="02070309020205020404" pitchFamily="49" charset="0"/>
                        </a:rPr>
                        <a:t>s_creator_os</a:t>
                      </a:r>
                      <a:endParaRPr lang="en-CA" sz="1500" dirty="0">
                        <a:solidFill>
                          <a:schemeClr val="bg1"/>
                        </a:solidFill>
                        <a:latin typeface="Courier New" panose="02070309020205020404" pitchFamily="49" charset="0"/>
                        <a:cs typeface="Courier New" panose="02070309020205020404" pitchFamily="49" charset="0"/>
                      </a:endParaRPr>
                    </a:p>
                  </a:txBody>
                  <a:tcPr/>
                </a:tc>
                <a:tc>
                  <a:txBody>
                    <a:bodyPr/>
                    <a:lstStyle/>
                    <a:p>
                      <a:r>
                        <a:rPr lang="en-CA" sz="1600" b="0" i="0" u="none" strike="noStrike" kern="1200" baseline="0" dirty="0" smtClean="0">
                          <a:solidFill>
                            <a:schemeClr val="bg1"/>
                          </a:solidFill>
                          <a:latin typeface="+mn-lt"/>
                          <a:ea typeface="+mn-ea"/>
                          <a:cs typeface="+mn-cs"/>
                        </a:rPr>
                        <a:t>index out of bound error during OS name lookup</a:t>
                      </a:r>
                    </a:p>
                  </a:txBody>
                  <a:tcPr/>
                </a:tc>
                <a:extLst>
                  <a:ext uri="{0D108BD9-81ED-4DB2-BD59-A6C34878D82A}">
                    <a16:rowId xmlns="" xmlns:a16="http://schemas.microsoft.com/office/drawing/2014/main" val="10001"/>
                  </a:ext>
                </a:extLst>
              </a:tr>
              <a:tr h="370840">
                <a:tc>
                  <a:txBody>
                    <a:bodyPr/>
                    <a:lstStyle/>
                    <a:p>
                      <a:r>
                        <a:rPr lang="en-CA" sz="1600" dirty="0" smtClean="0">
                          <a:solidFill>
                            <a:schemeClr val="bg1"/>
                          </a:solidFill>
                        </a:rPr>
                        <a:t>dump.f2fs</a:t>
                      </a:r>
                      <a:endParaRPr lang="en-CA" sz="1600" dirty="0">
                        <a:solidFill>
                          <a:schemeClr val="bg1"/>
                        </a:solidFill>
                      </a:endParaRPr>
                    </a:p>
                  </a:txBody>
                  <a:tcPr/>
                </a:tc>
                <a:tc>
                  <a:txBody>
                    <a:bodyPr/>
                    <a:lstStyle/>
                    <a:p>
                      <a:r>
                        <a:rPr lang="en-CA" sz="1600" b="0" i="0" u="none" strike="noStrike" kern="1200" baseline="0" dirty="0" smtClean="0">
                          <a:solidFill>
                            <a:schemeClr val="bg1"/>
                          </a:solidFill>
                          <a:latin typeface="+mn-lt"/>
                          <a:ea typeface="+mn-ea"/>
                          <a:cs typeface="+mn-cs"/>
                        </a:rPr>
                        <a:t>super block </a:t>
                      </a:r>
                      <a:endParaRPr lang="en-CA" sz="1600" dirty="0">
                        <a:solidFill>
                          <a:schemeClr val="bg1"/>
                        </a:solidFill>
                      </a:endParaRPr>
                    </a:p>
                  </a:txBody>
                  <a:tcPr/>
                </a:tc>
                <a:tc>
                  <a:txBody>
                    <a:bodyPr/>
                    <a:lstStyle/>
                    <a:p>
                      <a:r>
                        <a:rPr lang="en-CA" sz="1500" b="0" i="0" u="none" strike="noStrike" kern="1200" baseline="0" dirty="0" err="1" smtClean="0">
                          <a:solidFill>
                            <a:schemeClr val="bg1"/>
                          </a:solidFill>
                          <a:latin typeface="Courier New" panose="02070309020205020404" pitchFamily="49" charset="0"/>
                          <a:ea typeface="+mn-ea"/>
                          <a:cs typeface="Courier New" panose="02070309020205020404" pitchFamily="49" charset="0"/>
                        </a:rPr>
                        <a:t>log_blocks_per_seg</a:t>
                      </a:r>
                      <a:r>
                        <a:rPr lang="en-CA" sz="1500" b="0" i="0" u="none" strike="noStrike" kern="1200" baseline="0" dirty="0" smtClean="0">
                          <a:solidFill>
                            <a:schemeClr val="bg1"/>
                          </a:solidFill>
                          <a:latin typeface="Courier New" panose="02070309020205020404" pitchFamily="49" charset="0"/>
                          <a:ea typeface="+mn-ea"/>
                          <a:cs typeface="Courier New" panose="02070309020205020404" pitchFamily="49" charset="0"/>
                        </a:rPr>
                        <a:t> </a:t>
                      </a:r>
                      <a:endParaRPr lang="en-CA" sz="1500" dirty="0">
                        <a:solidFill>
                          <a:schemeClr val="bg1"/>
                        </a:solidFill>
                        <a:latin typeface="Courier New" panose="02070309020205020404" pitchFamily="49" charset="0"/>
                        <a:cs typeface="Courier New" panose="02070309020205020404" pitchFamily="49" charset="0"/>
                      </a:endParaRPr>
                    </a:p>
                  </a:txBody>
                  <a:tcPr/>
                </a:tc>
                <a:tc>
                  <a:txBody>
                    <a:bodyPr/>
                    <a:lstStyle/>
                    <a:p>
                      <a:r>
                        <a:rPr lang="en-CA" sz="1600" b="0" i="0" u="none" strike="noStrike" kern="1200" baseline="0" dirty="0" smtClean="0">
                          <a:solidFill>
                            <a:schemeClr val="bg1"/>
                          </a:solidFill>
                          <a:latin typeface="+mn-lt"/>
                          <a:ea typeface="+mn-ea"/>
                          <a:cs typeface="+mn-cs"/>
                        </a:rPr>
                        <a:t>index out of bound error while building </a:t>
                      </a:r>
                      <a:r>
                        <a:rPr lang="en-CA" sz="1600" b="0" i="0" u="none" strike="noStrike" kern="1200" baseline="0" dirty="0" err="1" smtClean="0">
                          <a:solidFill>
                            <a:schemeClr val="bg1"/>
                          </a:solidFill>
                          <a:latin typeface="+mn-lt"/>
                          <a:ea typeface="+mn-ea"/>
                          <a:cs typeface="+mn-cs"/>
                        </a:rPr>
                        <a:t>nat</a:t>
                      </a:r>
                      <a:r>
                        <a:rPr lang="en-CA" sz="1600" b="0" i="0" u="none" strike="noStrike" kern="1200" baseline="0" dirty="0" smtClean="0">
                          <a:solidFill>
                            <a:schemeClr val="bg1"/>
                          </a:solidFill>
                          <a:latin typeface="+mn-lt"/>
                          <a:ea typeface="+mn-ea"/>
                          <a:cs typeface="+mn-cs"/>
                        </a:rPr>
                        <a:t> bitmap</a:t>
                      </a:r>
                    </a:p>
                  </a:txBody>
                  <a:tcPr/>
                </a:tc>
                <a:extLst>
                  <a:ext uri="{0D108BD9-81ED-4DB2-BD59-A6C34878D82A}">
                    <a16:rowId xmlns="" xmlns:a16="http://schemas.microsoft.com/office/drawing/2014/main" val="10002"/>
                  </a:ext>
                </a:extLst>
              </a:tr>
              <a:tr h="370840">
                <a:tc>
                  <a:txBody>
                    <a:bodyPr/>
                    <a:lstStyle/>
                    <a:p>
                      <a:endParaRPr lang="en-CA" sz="1600" dirty="0">
                        <a:solidFill>
                          <a:schemeClr val="bg1"/>
                        </a:solidFill>
                      </a:endParaRP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CA" sz="1600" b="0" i="0" u="none" strike="noStrike" kern="1200" baseline="0" dirty="0" smtClean="0">
                          <a:solidFill>
                            <a:schemeClr val="bg1"/>
                          </a:solidFill>
                          <a:latin typeface="+mn-lt"/>
                          <a:ea typeface="+mn-ea"/>
                          <a:cs typeface="+mn-cs"/>
                        </a:rPr>
                        <a:t>super block </a:t>
                      </a:r>
                      <a:endParaRPr lang="en-CA" sz="1600" dirty="0" smtClean="0">
                        <a:solidFill>
                          <a:schemeClr val="bg1"/>
                        </a:solidFill>
                      </a:endParaRPr>
                    </a:p>
                    <a:p>
                      <a:endParaRPr lang="en-CA" sz="1600" b="0" i="0" u="none" strike="noStrike" kern="1200" baseline="0" dirty="0" smtClean="0">
                        <a:solidFill>
                          <a:schemeClr val="bg1"/>
                        </a:solidFill>
                        <a:latin typeface="+mn-lt"/>
                        <a:ea typeface="+mn-ea"/>
                        <a:cs typeface="+mn-cs"/>
                      </a:endParaRPr>
                    </a:p>
                  </a:txBody>
                  <a:tcPr/>
                </a:tc>
                <a:tc>
                  <a:txBody>
                    <a:bodyPr/>
                    <a:lstStyle/>
                    <a:p>
                      <a:r>
                        <a:rPr lang="en-CA" sz="1500" b="0" i="0" u="none" strike="noStrike" kern="1200" baseline="0" dirty="0" err="1" smtClean="0">
                          <a:solidFill>
                            <a:schemeClr val="bg1"/>
                          </a:solidFill>
                          <a:latin typeface="Courier New" panose="02070309020205020404" pitchFamily="49" charset="0"/>
                          <a:ea typeface="+mn-ea"/>
                          <a:cs typeface="Courier New" panose="02070309020205020404" pitchFamily="49" charset="0"/>
                        </a:rPr>
                        <a:t>segment_count_main</a:t>
                      </a:r>
                      <a:endParaRPr lang="en-CA" sz="1500" dirty="0">
                        <a:solidFill>
                          <a:schemeClr val="bg1"/>
                        </a:solidFill>
                        <a:latin typeface="Courier New" panose="02070309020205020404" pitchFamily="49" charset="0"/>
                        <a:cs typeface="Courier New" panose="02070309020205020404" pitchFamily="49" charset="0"/>
                      </a:endParaRPr>
                    </a:p>
                  </a:txBody>
                  <a:tcPr/>
                </a:tc>
                <a:tc>
                  <a:txBody>
                    <a:bodyPr/>
                    <a:lstStyle/>
                    <a:p>
                      <a:r>
                        <a:rPr lang="en-CA" sz="1600" b="0" i="0" u="none" strike="noStrike" kern="1200" baseline="0" dirty="0" smtClean="0">
                          <a:solidFill>
                            <a:schemeClr val="bg1"/>
                          </a:solidFill>
                          <a:latin typeface="+mn-lt"/>
                          <a:ea typeface="+mn-ea"/>
                          <a:cs typeface="+mn-cs"/>
                        </a:rPr>
                        <a:t>null pointer dereference after </a:t>
                      </a:r>
                      <a:r>
                        <a:rPr lang="en-CA" sz="1600" b="0" i="0" u="none" strike="noStrike" kern="1200" baseline="0" dirty="0" err="1" smtClean="0">
                          <a:solidFill>
                            <a:schemeClr val="bg1"/>
                          </a:solidFill>
                          <a:latin typeface="+mn-lt"/>
                          <a:ea typeface="+mn-ea"/>
                          <a:cs typeface="+mn-cs"/>
                        </a:rPr>
                        <a:t>calloc</a:t>
                      </a:r>
                      <a:r>
                        <a:rPr lang="en-CA" sz="1600" b="0" i="0" u="none" strike="noStrike" kern="1200" baseline="0" dirty="0" smtClean="0">
                          <a:solidFill>
                            <a:schemeClr val="bg1"/>
                          </a:solidFill>
                          <a:latin typeface="+mn-lt"/>
                          <a:ea typeface="+mn-ea"/>
                          <a:cs typeface="+mn-cs"/>
                        </a:rPr>
                        <a:t> fails</a:t>
                      </a:r>
                    </a:p>
                  </a:txBody>
                  <a:tcPr/>
                </a:tc>
                <a:extLst>
                  <a:ext uri="{0D108BD9-81ED-4DB2-BD59-A6C34878D82A}">
                    <a16:rowId xmlns="" xmlns:a16="http://schemas.microsoft.com/office/drawing/2014/main" val="10003"/>
                  </a:ext>
                </a:extLst>
              </a:tr>
              <a:tr h="370840">
                <a:tc>
                  <a:txBody>
                    <a:bodyPr/>
                    <a:lstStyle/>
                    <a:p>
                      <a:endParaRPr lang="en-CA" sz="1600" dirty="0">
                        <a:solidFill>
                          <a:schemeClr val="bg1"/>
                        </a:solidFill>
                      </a:endParaRPr>
                    </a:p>
                  </a:txBody>
                  <a:tcPr/>
                </a:tc>
                <a:tc>
                  <a:txBody>
                    <a:bodyPr/>
                    <a:lstStyle/>
                    <a:p>
                      <a:r>
                        <a:rPr lang="en-CA" sz="1600" dirty="0" smtClean="0">
                          <a:solidFill>
                            <a:schemeClr val="bg1"/>
                          </a:solidFill>
                        </a:rPr>
                        <a:t>checkpoint</a:t>
                      </a:r>
                      <a:endParaRPr lang="en-CA" sz="1600" dirty="0">
                        <a:solidFill>
                          <a:schemeClr val="bg1"/>
                        </a:solidFill>
                      </a:endParaRP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CA" sz="1500" b="0" i="0" u="none" strike="noStrike" kern="1200" baseline="0" dirty="0" err="1" smtClean="0">
                          <a:solidFill>
                            <a:schemeClr val="bg1"/>
                          </a:solidFill>
                          <a:latin typeface="Courier New" panose="02070309020205020404" pitchFamily="49" charset="0"/>
                          <a:ea typeface="+mn-ea"/>
                          <a:cs typeface="Courier New" panose="02070309020205020404" pitchFamily="49" charset="0"/>
                        </a:rPr>
                        <a:t>cp_blkaddr</a:t>
                      </a:r>
                      <a:endParaRPr lang="en-CA" sz="1500" b="0" i="0" u="none" strike="noStrike" kern="1200" baseline="0" dirty="0" smtClean="0">
                        <a:solidFill>
                          <a:schemeClr val="bg1"/>
                        </a:solidFill>
                        <a:latin typeface="Courier New" panose="02070309020205020404" pitchFamily="49" charset="0"/>
                        <a:ea typeface="+mn-ea"/>
                        <a:cs typeface="Courier New" panose="02070309020205020404" pitchFamily="49" charset="0"/>
                      </a:endParaRPr>
                    </a:p>
                  </a:txBody>
                  <a:tcPr/>
                </a:tc>
                <a:tc>
                  <a:txBody>
                    <a:bodyPr/>
                    <a:lstStyle/>
                    <a:p>
                      <a:r>
                        <a:rPr lang="en-CA" sz="1600" b="0" i="0" u="none" strike="noStrike" kern="1200" baseline="0" dirty="0" smtClean="0">
                          <a:solidFill>
                            <a:schemeClr val="bg1"/>
                          </a:solidFill>
                          <a:latin typeface="+mn-lt"/>
                          <a:ea typeface="+mn-ea"/>
                          <a:cs typeface="+mn-cs"/>
                        </a:rPr>
                        <a:t>double free error during error handling</a:t>
                      </a:r>
                      <a:endParaRPr lang="en-CA" sz="1600" dirty="0">
                        <a:solidFill>
                          <a:schemeClr val="bg1"/>
                        </a:solidFill>
                      </a:endParaRPr>
                    </a:p>
                  </a:txBody>
                  <a:tcPr/>
                </a:tc>
                <a:extLst>
                  <a:ext uri="{0D108BD9-81ED-4DB2-BD59-A6C34878D82A}">
                    <a16:rowId xmlns="" xmlns:a16="http://schemas.microsoft.com/office/drawing/2014/main" val="10004"/>
                  </a:ext>
                </a:extLst>
              </a:tr>
              <a:tr h="370840">
                <a:tc>
                  <a:txBody>
                    <a:bodyPr/>
                    <a:lstStyle/>
                    <a:p>
                      <a:endParaRPr lang="en-CA" sz="1600" dirty="0">
                        <a:solidFill>
                          <a:schemeClr val="bg1"/>
                        </a:solidFill>
                      </a:endParaRPr>
                    </a:p>
                  </a:txBody>
                  <a:tcPr/>
                </a:tc>
                <a:tc>
                  <a:txBody>
                    <a:bodyPr/>
                    <a:lstStyle/>
                    <a:p>
                      <a:r>
                        <a:rPr lang="en-CA" sz="1600" b="0" i="0" u="none" strike="noStrike" kern="1200" baseline="0" dirty="0" smtClean="0">
                          <a:solidFill>
                            <a:schemeClr val="bg1"/>
                          </a:solidFill>
                          <a:latin typeface="+mn-lt"/>
                          <a:ea typeface="+mn-ea"/>
                          <a:cs typeface="+mn-cs"/>
                        </a:rPr>
                        <a:t>summary</a:t>
                      </a:r>
                      <a:endParaRPr lang="en-CA" sz="1600" dirty="0">
                        <a:solidFill>
                          <a:schemeClr val="bg1"/>
                        </a:solidFill>
                      </a:endParaRPr>
                    </a:p>
                  </a:txBody>
                  <a:tcPr/>
                </a:tc>
                <a:tc>
                  <a:txBody>
                    <a:bodyPr/>
                    <a:lstStyle/>
                    <a:p>
                      <a:r>
                        <a:rPr lang="en-CA" sz="1500" b="0" i="0" u="none" strike="noStrike" kern="1200" baseline="0" dirty="0" err="1" smtClean="0">
                          <a:solidFill>
                            <a:schemeClr val="bg1"/>
                          </a:solidFill>
                          <a:latin typeface="Courier New" panose="02070309020205020404" pitchFamily="49" charset="0"/>
                          <a:ea typeface="+mn-ea"/>
                          <a:cs typeface="Courier New" panose="02070309020205020404" pitchFamily="49" charset="0"/>
                        </a:rPr>
                        <a:t>n_nats</a:t>
                      </a:r>
                      <a:r>
                        <a:rPr lang="en-CA" sz="1500" b="0" i="0" u="none" strike="noStrike" kern="1200" baseline="0" dirty="0" smtClean="0">
                          <a:solidFill>
                            <a:schemeClr val="bg1"/>
                          </a:solidFill>
                          <a:latin typeface="Courier New" panose="02070309020205020404" pitchFamily="49" charset="0"/>
                          <a:ea typeface="+mn-ea"/>
                          <a:cs typeface="Courier New" panose="02070309020205020404" pitchFamily="49" charset="0"/>
                        </a:rPr>
                        <a:t> </a:t>
                      </a:r>
                      <a:endParaRPr lang="en-CA" sz="1500" dirty="0">
                        <a:solidFill>
                          <a:schemeClr val="bg1"/>
                        </a:solidFill>
                        <a:latin typeface="Courier New" panose="02070309020205020404" pitchFamily="49" charset="0"/>
                        <a:cs typeface="Courier New" panose="02070309020205020404" pitchFamily="49" charset="0"/>
                      </a:endParaRPr>
                    </a:p>
                  </a:txBody>
                  <a:tcPr/>
                </a:tc>
                <a:tc>
                  <a:txBody>
                    <a:bodyPr/>
                    <a:lstStyle/>
                    <a:p>
                      <a:r>
                        <a:rPr lang="en-CA" sz="1600" b="0" i="0" u="none" strike="noStrike" kern="1200" baseline="0" dirty="0" smtClean="0">
                          <a:solidFill>
                            <a:schemeClr val="bg1"/>
                          </a:solidFill>
                          <a:latin typeface="+mn-lt"/>
                          <a:ea typeface="+mn-ea"/>
                          <a:cs typeface="+mn-cs"/>
                        </a:rPr>
                        <a:t>index out of bound error during </a:t>
                      </a:r>
                      <a:r>
                        <a:rPr lang="en-CA" sz="1600" b="0" i="0" u="none" strike="noStrike" kern="1200" baseline="0" dirty="0" err="1" smtClean="0">
                          <a:solidFill>
                            <a:schemeClr val="bg1"/>
                          </a:solidFill>
                          <a:latin typeface="+mn-lt"/>
                          <a:ea typeface="+mn-ea"/>
                          <a:cs typeface="+mn-cs"/>
                        </a:rPr>
                        <a:t>nid</a:t>
                      </a:r>
                      <a:r>
                        <a:rPr lang="en-CA" sz="1600" b="0" i="0" u="none" strike="noStrike" kern="1200" baseline="0" dirty="0" smtClean="0">
                          <a:solidFill>
                            <a:schemeClr val="bg1"/>
                          </a:solidFill>
                          <a:latin typeface="+mn-lt"/>
                          <a:ea typeface="+mn-ea"/>
                          <a:cs typeface="+mn-cs"/>
                        </a:rPr>
                        <a:t> lookup</a:t>
                      </a:r>
                    </a:p>
                  </a:txBody>
                  <a:tcPr/>
                </a:tc>
                <a:extLst>
                  <a:ext uri="{0D108BD9-81ED-4DB2-BD59-A6C34878D82A}">
                    <a16:rowId xmlns="" xmlns:a16="http://schemas.microsoft.com/office/drawing/2014/main" val="10005"/>
                  </a:ext>
                </a:extLst>
              </a:tr>
              <a:tr h="370840">
                <a:tc>
                  <a:txBody>
                    <a:bodyPr/>
                    <a:lstStyle/>
                    <a:p>
                      <a:endParaRPr lang="en-CA" sz="1600" dirty="0">
                        <a:solidFill>
                          <a:schemeClr val="bg1"/>
                        </a:solidFill>
                      </a:endParaRP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CA" sz="1600" b="0" i="0" u="none" strike="noStrike" kern="1200" baseline="0" dirty="0" err="1" smtClean="0">
                          <a:solidFill>
                            <a:schemeClr val="bg1"/>
                          </a:solidFill>
                          <a:latin typeface="+mn-lt"/>
                          <a:ea typeface="+mn-ea"/>
                          <a:cs typeface="+mn-cs"/>
                        </a:rPr>
                        <a:t>inode</a:t>
                      </a:r>
                      <a:endParaRPr lang="en-CA" sz="1600" dirty="0" smtClean="0">
                        <a:solidFill>
                          <a:schemeClr val="bg1"/>
                        </a:solidFill>
                      </a:endParaRP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CA" sz="1500" b="0" i="0" u="none" strike="noStrike" kern="1200" baseline="0" dirty="0" err="1" smtClean="0">
                          <a:solidFill>
                            <a:schemeClr val="bg1"/>
                          </a:solidFill>
                          <a:latin typeface="Courier New" panose="02070309020205020404" pitchFamily="49" charset="0"/>
                          <a:ea typeface="+mn-ea"/>
                          <a:cs typeface="Courier New" panose="02070309020205020404" pitchFamily="49" charset="0"/>
                        </a:rPr>
                        <a:t>i_namelen</a:t>
                      </a:r>
                      <a:endParaRPr lang="en-CA" sz="1500" dirty="0" smtClean="0">
                        <a:solidFill>
                          <a:schemeClr val="bg1"/>
                        </a:solidFill>
                        <a:latin typeface="Courier New" panose="02070309020205020404" pitchFamily="49" charset="0"/>
                        <a:cs typeface="Courier New" panose="02070309020205020404" pitchFamily="49" charset="0"/>
                      </a:endParaRPr>
                    </a:p>
                    <a:p>
                      <a:endParaRPr lang="en-CA" sz="1500" dirty="0">
                        <a:solidFill>
                          <a:schemeClr val="bg1"/>
                        </a:solidFill>
                        <a:latin typeface="Courier New" panose="02070309020205020404" pitchFamily="49" charset="0"/>
                        <a:cs typeface="Courier New" panose="02070309020205020404" pitchFamily="49" charset="0"/>
                      </a:endParaRP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CA" sz="1600" b="0" i="0" u="none" strike="noStrike" kern="1200" baseline="0" dirty="0" smtClean="0">
                          <a:solidFill>
                            <a:schemeClr val="bg1"/>
                          </a:solidFill>
                          <a:latin typeface="+mn-lt"/>
                          <a:ea typeface="+mn-ea"/>
                          <a:cs typeface="+mn-cs"/>
                        </a:rPr>
                        <a:t>index out of bound error when adding null character to end of name</a:t>
                      </a:r>
                      <a:endParaRPr lang="en-CA" sz="1600" dirty="0" smtClean="0">
                        <a:solidFill>
                          <a:schemeClr val="bg1"/>
                        </a:solidFill>
                      </a:endParaRPr>
                    </a:p>
                  </a:txBody>
                  <a:tcPr/>
                </a:tc>
                <a:extLst>
                  <a:ext uri="{0D108BD9-81ED-4DB2-BD59-A6C34878D82A}">
                    <a16:rowId xmlns="" xmlns:a16="http://schemas.microsoft.com/office/drawing/2014/main" val="10006"/>
                  </a:ext>
                </a:extLst>
              </a:tr>
            </a:tbl>
          </a:graphicData>
        </a:graphic>
      </p:graphicFrame>
      <p:sp>
        <p:nvSpPr>
          <p:cNvPr id="6" name="Slide Number Placeholder 5"/>
          <p:cNvSpPr>
            <a:spLocks noGrp="1"/>
          </p:cNvSpPr>
          <p:nvPr>
            <p:ph type="sldNum" sz="quarter" idx="12"/>
          </p:nvPr>
        </p:nvSpPr>
        <p:spPr/>
        <p:txBody>
          <a:bodyPr/>
          <a:lstStyle/>
          <a:p>
            <a:fld id="{7B2023C8-B124-43A9-8F92-0EEF5BAA9995}" type="slidenum">
              <a:rPr lang="en-CA" smtClean="0"/>
              <a:pPr/>
              <a:t>31</a:t>
            </a:fld>
            <a:endParaRPr lang="en-CA" dirty="0"/>
          </a:p>
        </p:txBody>
      </p:sp>
    </p:spTree>
    <p:extLst>
      <p:ext uri="{BB962C8B-B14F-4D97-AF65-F5344CB8AC3E}">
        <p14:creationId xmlns:p14="http://schemas.microsoft.com/office/powerpoint/2010/main" val="57525318"/>
      </p:ext>
    </p:extLst>
  </p:cSld>
  <p:clrMapOvr>
    <a:masterClrMapping/>
  </p:clrMapOvr>
  <p:timing>
    <p:tnLst>
      <p:par>
        <p:cTn id="1" dur="indefinite" restart="never" nodeType="tmRoot"/>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smtClean="0"/>
              <a:t>Conclusion</a:t>
            </a:r>
            <a:endParaRPr lang="en-CA" dirty="0"/>
          </a:p>
        </p:txBody>
      </p:sp>
      <p:sp>
        <p:nvSpPr>
          <p:cNvPr id="3" name="Content Placeholder 2"/>
          <p:cNvSpPr>
            <a:spLocks noGrp="1"/>
          </p:cNvSpPr>
          <p:nvPr>
            <p:ph idx="1"/>
          </p:nvPr>
        </p:nvSpPr>
        <p:spPr/>
        <p:txBody>
          <a:bodyPr/>
          <a:lstStyle/>
          <a:p>
            <a:r>
              <a:rPr lang="en-CA" dirty="0" smtClean="0"/>
              <a:t>Spiffy framework</a:t>
            </a:r>
          </a:p>
          <a:p>
            <a:pPr lvl="1"/>
            <a:r>
              <a:rPr lang="en-CA" dirty="0" smtClean="0"/>
              <a:t>Annotation language for specifying file system format</a:t>
            </a:r>
          </a:p>
          <a:p>
            <a:pPr lvl="1"/>
            <a:r>
              <a:rPr lang="en-CA" dirty="0" smtClean="0"/>
              <a:t>API for interpreting, parsing, and traversing file system metadata</a:t>
            </a:r>
          </a:p>
          <a:p>
            <a:pPr lvl="2"/>
            <a:r>
              <a:rPr lang="en-CA" dirty="0" smtClean="0"/>
              <a:t>Simplifies development of storage applications</a:t>
            </a:r>
          </a:p>
          <a:p>
            <a:pPr lvl="2"/>
            <a:r>
              <a:rPr lang="en-CA" dirty="0" smtClean="0"/>
              <a:t>Reduces file-system specific code</a:t>
            </a:r>
          </a:p>
          <a:p>
            <a:pPr lvl="1"/>
            <a:r>
              <a:rPr lang="en-CA" dirty="0" smtClean="0"/>
              <a:t>Compiler-generated library from annotated data structures</a:t>
            </a:r>
          </a:p>
          <a:p>
            <a:pPr lvl="2"/>
            <a:r>
              <a:rPr lang="en-CA" dirty="0"/>
              <a:t>Robust against file system </a:t>
            </a:r>
            <a:r>
              <a:rPr lang="en-CA" dirty="0" smtClean="0"/>
              <a:t>corruption</a:t>
            </a:r>
          </a:p>
          <a:p>
            <a:pPr lvl="2"/>
            <a:r>
              <a:rPr lang="en-CA" dirty="0" smtClean="0"/>
              <a:t>Achieves good performance</a:t>
            </a:r>
          </a:p>
          <a:p>
            <a:endParaRPr lang="en-CA" dirty="0"/>
          </a:p>
          <a:p>
            <a:endParaRPr lang="en-CA" dirty="0"/>
          </a:p>
        </p:txBody>
      </p:sp>
      <p:sp>
        <p:nvSpPr>
          <p:cNvPr id="4" name="Slide Number Placeholder 3"/>
          <p:cNvSpPr>
            <a:spLocks noGrp="1"/>
          </p:cNvSpPr>
          <p:nvPr>
            <p:ph type="sldNum" sz="quarter" idx="12"/>
          </p:nvPr>
        </p:nvSpPr>
        <p:spPr/>
        <p:txBody>
          <a:bodyPr/>
          <a:lstStyle/>
          <a:p>
            <a:fld id="{7B2023C8-B124-43A9-8F92-0EEF5BAA9995}" type="slidenum">
              <a:rPr lang="en-CA" smtClean="0"/>
              <a:pPr/>
              <a:t>32</a:t>
            </a:fld>
            <a:endParaRPr lang="en-CA" dirty="0"/>
          </a:p>
        </p:txBody>
      </p:sp>
    </p:spTree>
    <p:extLst>
      <p:ext uri="{BB962C8B-B14F-4D97-AF65-F5344CB8AC3E}">
        <p14:creationId xmlns:p14="http://schemas.microsoft.com/office/powerpoint/2010/main" val="169057136"/>
      </p:ext>
    </p:extLst>
  </p:cSld>
  <p:clrMapOvr>
    <a:masterClrMapping/>
  </p:clrMapOvr>
  <p:timing>
    <p:tnLst>
      <p:par>
        <p:cTn id="1" dur="indefinite" restart="never" nodeType="tmRoot"/>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smtClean="0"/>
              <a:t>Evaluation: Preferential Caching</a:t>
            </a:r>
            <a:endParaRPr lang="en-CA" dirty="0"/>
          </a:p>
        </p:txBody>
      </p:sp>
      <p:sp>
        <p:nvSpPr>
          <p:cNvPr id="3" name="Content Placeholder 2"/>
          <p:cNvSpPr>
            <a:spLocks noGrp="1"/>
          </p:cNvSpPr>
          <p:nvPr>
            <p:ph idx="1"/>
          </p:nvPr>
        </p:nvSpPr>
        <p:spPr>
          <a:xfrm>
            <a:off x="684211" y="1515358"/>
            <a:ext cx="10285797" cy="4583783"/>
          </a:xfrm>
        </p:spPr>
        <p:txBody>
          <a:bodyPr>
            <a:normAutofit lnSpcReduction="10000"/>
          </a:bodyPr>
          <a:lstStyle/>
          <a:p>
            <a:r>
              <a:rPr lang="en-CA" dirty="0" smtClean="0"/>
              <a:t>2 identical fileservers running on block layer cache</a:t>
            </a:r>
          </a:p>
          <a:p>
            <a:endParaRPr lang="en-CA" dirty="0"/>
          </a:p>
          <a:p>
            <a:endParaRPr lang="en-CA" dirty="0" smtClean="0"/>
          </a:p>
          <a:p>
            <a:endParaRPr lang="en-CA" dirty="0"/>
          </a:p>
          <a:p>
            <a:endParaRPr lang="en-CA" dirty="0" smtClean="0"/>
          </a:p>
          <a:p>
            <a:endParaRPr lang="en-CA" dirty="0"/>
          </a:p>
          <a:p>
            <a:endParaRPr lang="en-CA" dirty="0" smtClean="0"/>
          </a:p>
          <a:p>
            <a:endParaRPr lang="en-CA" dirty="0" smtClean="0"/>
          </a:p>
          <a:p>
            <a:r>
              <a:rPr lang="en-CA" dirty="0" smtClean="0"/>
              <a:t>Overall </a:t>
            </a:r>
            <a:r>
              <a:rPr lang="en-CA" dirty="0"/>
              <a:t>p</a:t>
            </a:r>
            <a:r>
              <a:rPr lang="en-CA" dirty="0" smtClean="0"/>
              <a:t>erformance improves with preferential caching</a:t>
            </a:r>
          </a:p>
          <a:p>
            <a:endParaRPr lang="en-CA" dirty="0"/>
          </a:p>
        </p:txBody>
      </p:sp>
      <p:grpSp>
        <p:nvGrpSpPr>
          <p:cNvPr id="9" name="Group 8"/>
          <p:cNvGrpSpPr/>
          <p:nvPr/>
        </p:nvGrpSpPr>
        <p:grpSpPr>
          <a:xfrm>
            <a:off x="1741437" y="2147076"/>
            <a:ext cx="7477175" cy="3007076"/>
            <a:chOff x="1741437" y="3261749"/>
            <a:chExt cx="7477175" cy="3007076"/>
          </a:xfrm>
        </p:grpSpPr>
        <p:graphicFrame>
          <p:nvGraphicFramePr>
            <p:cNvPr id="6" name="Chart 5"/>
            <p:cNvGraphicFramePr>
              <a:graphicFrameLocks/>
            </p:cNvGraphicFramePr>
            <p:nvPr>
              <p:extLst>
                <p:ext uri="{D42A27DB-BD31-4B8C-83A1-F6EECF244321}">
                  <p14:modId xmlns:p14="http://schemas.microsoft.com/office/powerpoint/2010/main" val="228972012"/>
                </p:ext>
              </p:extLst>
            </p:nvPr>
          </p:nvGraphicFramePr>
          <p:xfrm>
            <a:off x="1741437" y="3271174"/>
            <a:ext cx="7477175" cy="2997651"/>
          </p:xfrm>
          <a:graphic>
            <a:graphicData uri="http://schemas.openxmlformats.org/drawingml/2006/chart">
              <c:chart xmlns:c="http://schemas.openxmlformats.org/drawingml/2006/chart" xmlns:r="http://schemas.openxmlformats.org/officeDocument/2006/relationships" r:id="rId2"/>
            </a:graphicData>
          </a:graphic>
        </p:graphicFrame>
        <p:sp>
          <p:nvSpPr>
            <p:cNvPr id="7" name="TextBox 2"/>
            <p:cNvSpPr txBox="1"/>
            <p:nvPr/>
          </p:nvSpPr>
          <p:spPr>
            <a:xfrm>
              <a:off x="2613536" y="4366649"/>
              <a:ext cx="577402" cy="338554"/>
            </a:xfrm>
            <a:prstGeom prst="rect">
              <a:avLst/>
            </a:prstGeom>
            <a:noFill/>
          </p:spPr>
          <p:style>
            <a:lnRef idx="0">
              <a:scrgbClr r="0" g="0" b="0"/>
            </a:lnRef>
            <a:fillRef idx="0">
              <a:scrgbClr r="0" g="0" b="0"/>
            </a:fillRef>
            <a:effectRef idx="0">
              <a:scrgbClr r="0" g="0" b="0"/>
            </a:effectRef>
            <a:fontRef idx="minor">
              <a:schemeClr val="tx1"/>
            </a:fontRef>
          </p:style>
          <p:txBody>
            <a:bodyPr wrap="none" rtlCol="0" anchor="t">
              <a:spAutoFit/>
            </a:bodyPr>
            <a:lstStyle>
              <a:lvl1pPr marL="0" indent="0">
                <a:defRPr sz="1100">
                  <a:solidFill>
                    <a:schemeClr val="tx1"/>
                  </a:solidFill>
                  <a:latin typeface="+mn-lt"/>
                  <a:ea typeface="+mn-ea"/>
                  <a:cs typeface="+mn-cs"/>
                </a:defRPr>
              </a:lvl1pPr>
              <a:lvl2pPr marL="457200" indent="0">
                <a:defRPr sz="1100">
                  <a:solidFill>
                    <a:schemeClr val="tx1"/>
                  </a:solidFill>
                  <a:latin typeface="+mn-lt"/>
                  <a:ea typeface="+mn-ea"/>
                  <a:cs typeface="+mn-cs"/>
                </a:defRPr>
              </a:lvl2pPr>
              <a:lvl3pPr marL="914400" indent="0">
                <a:defRPr sz="1100">
                  <a:solidFill>
                    <a:schemeClr val="tx1"/>
                  </a:solidFill>
                  <a:latin typeface="+mn-lt"/>
                  <a:ea typeface="+mn-ea"/>
                  <a:cs typeface="+mn-cs"/>
                </a:defRPr>
              </a:lvl3pPr>
              <a:lvl4pPr marL="1371600" indent="0">
                <a:defRPr sz="1100">
                  <a:solidFill>
                    <a:schemeClr val="tx1"/>
                  </a:solidFill>
                  <a:latin typeface="+mn-lt"/>
                  <a:ea typeface="+mn-ea"/>
                  <a:cs typeface="+mn-cs"/>
                </a:defRPr>
              </a:lvl4pPr>
              <a:lvl5pPr marL="1828800" indent="0">
                <a:defRPr sz="1100">
                  <a:solidFill>
                    <a:schemeClr val="tx1"/>
                  </a:solidFill>
                  <a:latin typeface="+mn-lt"/>
                  <a:ea typeface="+mn-ea"/>
                  <a:cs typeface="+mn-cs"/>
                </a:defRPr>
              </a:lvl5pPr>
              <a:lvl6pPr marL="2286000" indent="0">
                <a:defRPr sz="1100">
                  <a:solidFill>
                    <a:schemeClr val="tx1"/>
                  </a:solidFill>
                  <a:latin typeface="+mn-lt"/>
                  <a:ea typeface="+mn-ea"/>
                  <a:cs typeface="+mn-cs"/>
                </a:defRPr>
              </a:lvl6pPr>
              <a:lvl7pPr marL="2743200" indent="0">
                <a:defRPr sz="1100">
                  <a:solidFill>
                    <a:schemeClr val="tx1"/>
                  </a:solidFill>
                  <a:latin typeface="+mn-lt"/>
                  <a:ea typeface="+mn-ea"/>
                  <a:cs typeface="+mn-cs"/>
                </a:defRPr>
              </a:lvl7pPr>
              <a:lvl8pPr marL="3200400" indent="0">
                <a:defRPr sz="1100">
                  <a:solidFill>
                    <a:schemeClr val="tx1"/>
                  </a:solidFill>
                  <a:latin typeface="+mn-lt"/>
                  <a:ea typeface="+mn-ea"/>
                  <a:cs typeface="+mn-cs"/>
                </a:defRPr>
              </a:lvl8pPr>
              <a:lvl9pPr marL="3657600" indent="0">
                <a:defRPr sz="1100">
                  <a:solidFill>
                    <a:schemeClr val="tx1"/>
                  </a:solidFill>
                  <a:latin typeface="+mn-lt"/>
                  <a:ea typeface="+mn-ea"/>
                  <a:cs typeface="+mn-cs"/>
                </a:defRPr>
              </a:lvl9pPr>
            </a:lstStyle>
            <a:p>
              <a:r>
                <a:rPr lang="en-CA" sz="1600" b="1" u="sng">
                  <a:solidFill>
                    <a:schemeClr val="bg1"/>
                  </a:solidFill>
                </a:rPr>
                <a:t>Btrfs</a:t>
              </a:r>
            </a:p>
          </p:txBody>
        </p:sp>
        <p:sp>
          <p:nvSpPr>
            <p:cNvPr id="8" name="TextBox 4"/>
            <p:cNvSpPr txBox="1"/>
            <p:nvPr/>
          </p:nvSpPr>
          <p:spPr>
            <a:xfrm>
              <a:off x="2613536" y="3261749"/>
              <a:ext cx="583814" cy="338554"/>
            </a:xfrm>
            <a:prstGeom prst="rect">
              <a:avLst/>
            </a:prstGeom>
            <a:noFill/>
          </p:spPr>
          <p:style>
            <a:lnRef idx="0">
              <a:scrgbClr r="0" g="0" b="0"/>
            </a:lnRef>
            <a:fillRef idx="0">
              <a:scrgbClr r="0" g="0" b="0"/>
            </a:fillRef>
            <a:effectRef idx="0">
              <a:scrgbClr r="0" g="0" b="0"/>
            </a:effectRef>
            <a:fontRef idx="minor">
              <a:schemeClr val="tx1"/>
            </a:fontRef>
          </p:style>
          <p:txBody>
            <a:bodyPr wrap="none" rtlCol="0" anchor="t">
              <a:spAutoFit/>
            </a:bodyPr>
            <a:lstStyle>
              <a:lvl1pPr marL="0" indent="0">
                <a:defRPr sz="1100">
                  <a:solidFill>
                    <a:schemeClr val="tx1"/>
                  </a:solidFill>
                  <a:latin typeface="+mn-lt"/>
                  <a:ea typeface="+mn-ea"/>
                  <a:cs typeface="+mn-cs"/>
                </a:defRPr>
              </a:lvl1pPr>
              <a:lvl2pPr marL="457200" indent="0">
                <a:defRPr sz="1100">
                  <a:solidFill>
                    <a:schemeClr val="tx1"/>
                  </a:solidFill>
                  <a:latin typeface="+mn-lt"/>
                  <a:ea typeface="+mn-ea"/>
                  <a:cs typeface="+mn-cs"/>
                </a:defRPr>
              </a:lvl2pPr>
              <a:lvl3pPr marL="914400" indent="0">
                <a:defRPr sz="1100">
                  <a:solidFill>
                    <a:schemeClr val="tx1"/>
                  </a:solidFill>
                  <a:latin typeface="+mn-lt"/>
                  <a:ea typeface="+mn-ea"/>
                  <a:cs typeface="+mn-cs"/>
                </a:defRPr>
              </a:lvl3pPr>
              <a:lvl4pPr marL="1371600" indent="0">
                <a:defRPr sz="1100">
                  <a:solidFill>
                    <a:schemeClr val="tx1"/>
                  </a:solidFill>
                  <a:latin typeface="+mn-lt"/>
                  <a:ea typeface="+mn-ea"/>
                  <a:cs typeface="+mn-cs"/>
                </a:defRPr>
              </a:lvl4pPr>
              <a:lvl5pPr marL="1828800" indent="0">
                <a:defRPr sz="1100">
                  <a:solidFill>
                    <a:schemeClr val="tx1"/>
                  </a:solidFill>
                  <a:latin typeface="+mn-lt"/>
                  <a:ea typeface="+mn-ea"/>
                  <a:cs typeface="+mn-cs"/>
                </a:defRPr>
              </a:lvl5pPr>
              <a:lvl6pPr marL="2286000" indent="0">
                <a:defRPr sz="1100">
                  <a:solidFill>
                    <a:schemeClr val="tx1"/>
                  </a:solidFill>
                  <a:latin typeface="+mn-lt"/>
                  <a:ea typeface="+mn-ea"/>
                  <a:cs typeface="+mn-cs"/>
                </a:defRPr>
              </a:lvl6pPr>
              <a:lvl7pPr marL="2743200" indent="0">
                <a:defRPr sz="1100">
                  <a:solidFill>
                    <a:schemeClr val="tx1"/>
                  </a:solidFill>
                  <a:latin typeface="+mn-lt"/>
                  <a:ea typeface="+mn-ea"/>
                  <a:cs typeface="+mn-cs"/>
                </a:defRPr>
              </a:lvl7pPr>
              <a:lvl8pPr marL="3200400" indent="0">
                <a:defRPr sz="1100">
                  <a:solidFill>
                    <a:schemeClr val="tx1"/>
                  </a:solidFill>
                  <a:latin typeface="+mn-lt"/>
                  <a:ea typeface="+mn-ea"/>
                  <a:cs typeface="+mn-cs"/>
                </a:defRPr>
              </a:lvl8pPr>
              <a:lvl9pPr marL="3657600" indent="0">
                <a:defRPr sz="1100">
                  <a:solidFill>
                    <a:schemeClr val="tx1"/>
                  </a:solidFill>
                  <a:latin typeface="+mn-lt"/>
                  <a:ea typeface="+mn-ea"/>
                  <a:cs typeface="+mn-cs"/>
                </a:defRPr>
              </a:lvl9pPr>
            </a:lstStyle>
            <a:p>
              <a:r>
                <a:rPr lang="en-CA" sz="1600" b="1" u="sng" dirty="0">
                  <a:solidFill>
                    <a:schemeClr val="bg1"/>
                  </a:solidFill>
                </a:rPr>
                <a:t>Ext4</a:t>
              </a:r>
            </a:p>
          </p:txBody>
        </p:sp>
      </p:grpSp>
      <p:sp>
        <p:nvSpPr>
          <p:cNvPr id="4" name="Slide Number Placeholder 3"/>
          <p:cNvSpPr>
            <a:spLocks noGrp="1"/>
          </p:cNvSpPr>
          <p:nvPr>
            <p:ph type="sldNum" sz="quarter" idx="12"/>
          </p:nvPr>
        </p:nvSpPr>
        <p:spPr/>
        <p:txBody>
          <a:bodyPr/>
          <a:lstStyle/>
          <a:p>
            <a:fld id="{7B2023C8-B124-43A9-8F92-0EEF5BAA9995}" type="slidenum">
              <a:rPr lang="en-CA" smtClean="0"/>
              <a:pPr/>
              <a:t>33</a:t>
            </a:fld>
            <a:endParaRPr lang="en-CA" dirty="0"/>
          </a:p>
        </p:txBody>
      </p:sp>
    </p:spTree>
    <p:extLst>
      <p:ext uri="{BB962C8B-B14F-4D97-AF65-F5344CB8AC3E}">
        <p14:creationId xmlns:p14="http://schemas.microsoft.com/office/powerpoint/2010/main" val="3197873276"/>
      </p:ext>
    </p:extLst>
  </p:cSld>
  <p:clrMapOvr>
    <a:masterClrMapping/>
  </p:clrMapOvr>
  <p:timing>
    <p:tnLst>
      <p:par>
        <p:cTn id="1" dur="indefinite" restart="never" nodeType="tmRoot"/>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smtClean="0"/>
              <a:t>Solution: Spiffy</a:t>
            </a:r>
            <a:r>
              <a:rPr lang="en-CA" dirty="0"/>
              <a:t> </a:t>
            </a:r>
            <a:r>
              <a:rPr lang="en-CA" dirty="0" smtClean="0"/>
              <a:t>File System Library </a:t>
            </a:r>
            <a:endParaRPr lang="en-CA" dirty="0"/>
          </a:p>
        </p:txBody>
      </p:sp>
      <p:sp>
        <p:nvSpPr>
          <p:cNvPr id="3" name="Content Placeholder 2"/>
          <p:cNvSpPr>
            <a:spLocks noGrp="1"/>
          </p:cNvSpPr>
          <p:nvPr>
            <p:ph idx="1"/>
          </p:nvPr>
        </p:nvSpPr>
        <p:spPr/>
        <p:txBody>
          <a:bodyPr/>
          <a:lstStyle/>
          <a:p>
            <a:r>
              <a:rPr lang="en-CA" dirty="0" smtClean="0"/>
              <a:t>Generated from annotated file system header files</a:t>
            </a:r>
          </a:p>
          <a:p>
            <a:r>
              <a:rPr lang="en-CA" dirty="0" smtClean="0"/>
              <a:t>Standard API for finding and traversing file systems structures</a:t>
            </a:r>
          </a:p>
          <a:p>
            <a:pPr lvl="1"/>
            <a:r>
              <a:rPr lang="en-CA" dirty="0" smtClean="0"/>
              <a:t>Provides robust parsing and serialization routines</a:t>
            </a:r>
          </a:p>
          <a:p>
            <a:r>
              <a:rPr lang="en-CA" dirty="0" smtClean="0"/>
              <a:t>Enables building generic application framework</a:t>
            </a:r>
          </a:p>
          <a:p>
            <a:pPr lvl="1"/>
            <a:r>
              <a:rPr lang="en-CA" dirty="0" smtClean="0"/>
              <a:t>Facilitates support for multiple file systems</a:t>
            </a:r>
          </a:p>
          <a:p>
            <a:pPr lvl="1"/>
            <a:r>
              <a:rPr lang="en-CA" dirty="0" smtClean="0"/>
              <a:t>Reduces dependence on file-system specific code </a:t>
            </a:r>
          </a:p>
          <a:p>
            <a:r>
              <a:rPr lang="en-CA" dirty="0" smtClean="0"/>
              <a:t>Example: </a:t>
            </a:r>
            <a:r>
              <a:rPr lang="en-CA" dirty="0"/>
              <a:t>File System Free Space </a:t>
            </a:r>
            <a:r>
              <a:rPr lang="en-CA" dirty="0" smtClean="0"/>
              <a:t>Tool</a:t>
            </a:r>
          </a:p>
          <a:p>
            <a:pPr lvl="1"/>
            <a:r>
              <a:rPr lang="en-CA" dirty="0" smtClean="0"/>
              <a:t>Use Spiffy to locate metadata that stores block allocation information</a:t>
            </a:r>
          </a:p>
          <a:p>
            <a:pPr lvl="1"/>
            <a:r>
              <a:rPr lang="en-CA" dirty="0" smtClean="0"/>
              <a:t>Write file-system specific code to process metadata structures</a:t>
            </a:r>
            <a:endParaRPr lang="en-CA" dirty="0"/>
          </a:p>
        </p:txBody>
      </p:sp>
      <p:sp>
        <p:nvSpPr>
          <p:cNvPr id="5" name="Slide Number Placeholder 4"/>
          <p:cNvSpPr>
            <a:spLocks noGrp="1"/>
          </p:cNvSpPr>
          <p:nvPr>
            <p:ph type="sldNum" sz="quarter" idx="12"/>
          </p:nvPr>
        </p:nvSpPr>
        <p:spPr/>
        <p:txBody>
          <a:bodyPr/>
          <a:lstStyle/>
          <a:p>
            <a:fld id="{7B2023C8-B124-43A9-8F92-0EEF5BAA9995}" type="slidenum">
              <a:rPr lang="en-CA" smtClean="0"/>
              <a:pPr/>
              <a:t>34</a:t>
            </a:fld>
            <a:endParaRPr lang="en-CA" dirty="0"/>
          </a:p>
        </p:txBody>
      </p:sp>
    </p:spTree>
    <p:extLst>
      <p:ext uri="{BB962C8B-B14F-4D97-AF65-F5344CB8AC3E}">
        <p14:creationId xmlns:p14="http://schemas.microsoft.com/office/powerpoint/2010/main" val="3245412089"/>
      </p:ext>
    </p:extLst>
  </p:cSld>
  <p:clrMapOvr>
    <a:masterClrMapping/>
  </p:clrMapOvr>
  <p:timing>
    <p:tnLst>
      <p:par>
        <p:cTn id="1" dur="indefinite" restart="never" nodeType="tmRoot"/>
      </p:par>
    </p:tnLst>
  </p:timing>
</p:sld>
</file>

<file path=ppt/theme/theme1.xml><?xml version="1.0" encoding="utf-8"?>
<a:theme xmlns:a="http://schemas.openxmlformats.org/drawingml/2006/main" name="Slice">
  <a:themeElements>
    <a:clrScheme name="University of Toronto">
      <a:dk1>
        <a:srgbClr val="000000"/>
      </a:dk1>
      <a:lt1>
        <a:srgbClr val="FFFFFF"/>
      </a:lt1>
      <a:dk2>
        <a:srgbClr val="ACE9F8"/>
      </a:dk2>
      <a:lt2>
        <a:srgbClr val="0F486F"/>
      </a:lt2>
      <a:accent1>
        <a:srgbClr val="062958"/>
      </a:accent1>
      <a:accent2>
        <a:srgbClr val="A50E82"/>
      </a:accent2>
      <a:accent3>
        <a:srgbClr val="14967C"/>
      </a:accent3>
      <a:accent4>
        <a:srgbClr val="6A9E1F"/>
      </a:accent4>
      <a:accent5>
        <a:srgbClr val="E87D37"/>
      </a:accent5>
      <a:accent6>
        <a:srgbClr val="C62324"/>
      </a:accent6>
      <a:hlink>
        <a:srgbClr val="0D2E46"/>
      </a:hlink>
      <a:folHlink>
        <a:srgbClr val="356A95"/>
      </a:folHlink>
    </a:clrScheme>
    <a:fontScheme name="Slice">
      <a:majorFont>
        <a:latin typeface="Century Gothic" panose="020B0502020202020204"/>
        <a:ea typeface=""/>
        <a:cs typeface=""/>
        <a:font script="Jpan" typeface="メイリオ"/>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panose="020B0502020202020204"/>
        <a:ea typeface=""/>
        <a:cs typeface=""/>
        <a:font script="Jpan" typeface="メイリオ"/>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Slice">
      <a:fillStyleLst>
        <a:solidFill>
          <a:schemeClr val="phClr"/>
        </a:solidFill>
        <a:gradFill rotWithShape="1">
          <a:gsLst>
            <a:gs pos="0">
              <a:schemeClr val="phClr">
                <a:tint val="62000"/>
                <a:hueMod val="94000"/>
                <a:satMod val="140000"/>
                <a:lumMod val="110000"/>
              </a:schemeClr>
            </a:gs>
            <a:gs pos="100000">
              <a:schemeClr val="phClr">
                <a:tint val="84000"/>
                <a:satMod val="160000"/>
              </a:schemeClr>
            </a:gs>
          </a:gsLst>
          <a:lin ang="5400000" scaled="0"/>
        </a:gradFill>
        <a:gradFill rotWithShape="1">
          <a:gsLst>
            <a:gs pos="0">
              <a:schemeClr val="phClr">
                <a:tint val="98000"/>
                <a:hueMod val="94000"/>
                <a:satMod val="130000"/>
                <a:lumMod val="128000"/>
              </a:schemeClr>
            </a:gs>
            <a:gs pos="100000">
              <a:schemeClr val="phClr">
                <a:shade val="94000"/>
                <a:lumMod val="88000"/>
              </a:schemeClr>
            </a:gs>
          </a:gsLst>
          <a:lin ang="5400000" scaled="0"/>
        </a:gradFill>
      </a:fillStyleLst>
      <a:lnStyleLst>
        <a:ln w="9525" cap="rnd" cmpd="sng" algn="ctr">
          <a:solidFill>
            <a:schemeClr val="phClr">
              <a:tint val="76000"/>
              <a:alpha val="60000"/>
              <a:hueMod val="94000"/>
            </a:schemeClr>
          </a:solidFill>
          <a:prstDash val="solid"/>
        </a:ln>
        <a:ln w="15875" cap="rnd" cmpd="sng" algn="ctr">
          <a:solidFill>
            <a:schemeClr val="phClr">
              <a:hueMod val="94000"/>
            </a:schemeClr>
          </a:solidFill>
          <a:prstDash val="solid"/>
        </a:ln>
        <a:ln w="28575" cap="rnd" cmpd="sng" algn="ctr">
          <a:solidFill>
            <a:schemeClr val="phClr"/>
          </a:solidFill>
          <a:prstDash val="solid"/>
        </a:ln>
      </a:lnStyleLst>
      <a:effectStyleLst>
        <a:effectStyle>
          <a:effectLst/>
        </a:effectStyle>
        <a:effectStyle>
          <a:effectLst>
            <a:innerShdw blurRad="25400" dist="12700" dir="13500000">
              <a:srgbClr val="000000">
                <a:alpha val="45000"/>
              </a:srgbClr>
            </a:innerShdw>
          </a:effectLst>
        </a:effectStyle>
        <a:effectStyle>
          <a:effectLst>
            <a:outerShdw blurRad="50800" dist="38100" dir="5400000" rotWithShape="0">
              <a:srgbClr val="000000">
                <a:alpha val="46000"/>
              </a:srgbClr>
            </a:outerShdw>
          </a:effectLst>
          <a:scene3d>
            <a:camera prst="orthographicFront">
              <a:rot lat="0" lon="0" rev="0"/>
            </a:camera>
            <a:lightRig rig="threePt" dir="t"/>
          </a:scene3d>
          <a:sp3d prstMaterial="plastic">
            <a:bevelT w="25400" h="25400"/>
          </a:sp3d>
        </a:effectStyle>
      </a:effectStyleLst>
      <a:bgFillStyleLst>
        <a:solidFill>
          <a:schemeClr val="phClr"/>
        </a:solidFill>
        <a:gradFill rotWithShape="1">
          <a:gsLst>
            <a:gs pos="10000">
              <a:schemeClr val="phClr">
                <a:tint val="97000"/>
                <a:hueMod val="92000"/>
                <a:satMod val="169000"/>
                <a:lumMod val="164000"/>
              </a:schemeClr>
            </a:gs>
            <a:gs pos="100000">
              <a:schemeClr val="phClr">
                <a:shade val="96000"/>
                <a:satMod val="120000"/>
                <a:lumMod val="90000"/>
              </a:schemeClr>
            </a:gs>
          </a:gsLst>
          <a:lin ang="6120000" scaled="1"/>
        </a:gradFill>
        <a:gradFill rotWithShape="1">
          <a:gsLst>
            <a:gs pos="0">
              <a:schemeClr val="phClr">
                <a:tint val="97000"/>
                <a:hueMod val="92000"/>
                <a:satMod val="169000"/>
                <a:lumMod val="164000"/>
              </a:schemeClr>
            </a:gs>
            <a:gs pos="100000">
              <a:schemeClr val="phClr">
                <a:shade val="96000"/>
                <a:satMod val="120000"/>
                <a:lumMod val="90000"/>
              </a:schemeClr>
            </a:gs>
          </a:gsLst>
          <a:path path="circle">
            <a:fillToRect b="100000"/>
          </a:path>
        </a:gradFill>
      </a:bgFillStyleLst>
    </a:fmtScheme>
  </a:themeElements>
  <a:objectDefaults/>
  <a:extraClrSchemeLst/>
  <a:extLst>
    <a:ext uri="{05A4C25C-085E-4340-85A3-A5531E510DB2}">
      <thm15:themeFamily xmlns:thm15="http://schemas.microsoft.com/office/thememl/2012/main" name="Slice" id="{0507925B-6AC9-4358-8E18-C330545D08F8}" vid="{13FEC7C6-62A9-40C4-99D2-581AACACAA2F}"/>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Slice</Template>
  <TotalTime>1400</TotalTime>
  <Words>3537</Words>
  <Application>Microsoft Office PowerPoint</Application>
  <PresentationFormat>Widescreen</PresentationFormat>
  <Paragraphs>709</Paragraphs>
  <Slides>34</Slides>
  <Notes>24</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34</vt:i4>
      </vt:variant>
    </vt:vector>
  </HeadingPairs>
  <TitlesOfParts>
    <vt:vector size="40" baseType="lpstr">
      <vt:lpstr>Arial</vt:lpstr>
      <vt:lpstr>Calibri</vt:lpstr>
      <vt:lpstr>Century Gothic</vt:lpstr>
      <vt:lpstr>Courier New</vt:lpstr>
      <vt:lpstr>Wingdings 3</vt:lpstr>
      <vt:lpstr>Slice</vt:lpstr>
      <vt:lpstr>Spiffy: Enabling File-System Aware Storage Applications </vt:lpstr>
      <vt:lpstr>Introduction</vt:lpstr>
      <vt:lpstr>Problem</vt:lpstr>
      <vt:lpstr>Root Cause</vt:lpstr>
      <vt:lpstr>Goals</vt:lpstr>
      <vt:lpstr>Approach: Spiffy Framework</vt:lpstr>
      <vt:lpstr>Specifying Format</vt:lpstr>
      <vt:lpstr>Generating Library</vt:lpstr>
      <vt:lpstr> Building Applications</vt:lpstr>
      <vt:lpstr>Talk Outline</vt:lpstr>
      <vt:lpstr>Need for Annotation</vt:lpstr>
      <vt:lpstr>Annotation Requirements</vt:lpstr>
      <vt:lpstr>Annotation Requirements</vt:lpstr>
      <vt:lpstr>Evaluation: Annotation Effort</vt:lpstr>
      <vt:lpstr>Generating Spiffy Library</vt:lpstr>
      <vt:lpstr>Generating Spiffy Library</vt:lpstr>
      <vt:lpstr>Generating Spiffy Library</vt:lpstr>
      <vt:lpstr>Generating Spiffy Library</vt:lpstr>
      <vt:lpstr>Generating Spiffy Library</vt:lpstr>
      <vt:lpstr>Building Spiffy Applications</vt:lpstr>
      <vt:lpstr>Coding Style Comparison</vt:lpstr>
      <vt:lpstr>Coding Style Comparison</vt:lpstr>
      <vt:lpstr>Coding Style Comparison</vt:lpstr>
      <vt:lpstr>Coding Style Comparison</vt:lpstr>
      <vt:lpstr>Coding Style Comparison</vt:lpstr>
      <vt:lpstr>Coding Style Comparison</vt:lpstr>
      <vt:lpstr>Offline Spiffy Applications</vt:lpstr>
      <vt:lpstr>Online Spiffy Applications</vt:lpstr>
      <vt:lpstr>Evaluation: Programming Effort</vt:lpstr>
      <vt:lpstr>Evaluation: Ext4 to F2FS Converter</vt:lpstr>
      <vt:lpstr>Evaluation: Corruption Experiment</vt:lpstr>
      <vt:lpstr>Conclusion</vt:lpstr>
      <vt:lpstr>Evaluation: Preferential Caching</vt:lpstr>
      <vt:lpstr>Solution: Spiffy File System Library </vt:lpstr>
    </vt:vector>
  </TitlesOfParts>
  <Company/>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Jack Sun</dc:creator>
  <cp:lastModifiedBy>Jack Sun</cp:lastModifiedBy>
  <cp:revision>102</cp:revision>
  <dcterms:created xsi:type="dcterms:W3CDTF">2018-01-30T09:02:25Z</dcterms:created>
  <dcterms:modified xsi:type="dcterms:W3CDTF">2018-02-06T21:45:04Z</dcterms:modified>
</cp:coreProperties>
</file>