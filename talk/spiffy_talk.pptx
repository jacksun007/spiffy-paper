
<file path=[Content_Types].xml><?xml version="1.0" encoding="utf-8"?>
<Types xmlns="http://schemas.openxmlformats.org/package/2006/content-types">
  <Default Extension="emf" ContentType="image/x-emf"/>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Lst>
  <p:notesMasterIdLst>
    <p:notesMasterId r:id="rId38"/>
  </p:notesMasterIdLst>
  <p:sldIdLst>
    <p:sldId id="256" r:id="rId2"/>
    <p:sldId id="288" r:id="rId3"/>
    <p:sldId id="290" r:id="rId4"/>
    <p:sldId id="289" r:id="rId5"/>
    <p:sldId id="291" r:id="rId6"/>
    <p:sldId id="309" r:id="rId7"/>
    <p:sldId id="293" r:id="rId8"/>
    <p:sldId id="294" r:id="rId9"/>
    <p:sldId id="295" r:id="rId10"/>
    <p:sldId id="301" r:id="rId11"/>
    <p:sldId id="308" r:id="rId12"/>
    <p:sldId id="313" r:id="rId13"/>
    <p:sldId id="314" r:id="rId14"/>
    <p:sldId id="298" r:id="rId15"/>
    <p:sldId id="315" r:id="rId16"/>
    <p:sldId id="316" r:id="rId17"/>
    <p:sldId id="317" r:id="rId18"/>
    <p:sldId id="320" r:id="rId19"/>
    <p:sldId id="322" r:id="rId20"/>
    <p:sldId id="321" r:id="rId21"/>
    <p:sldId id="318" r:id="rId22"/>
    <p:sldId id="311" r:id="rId23"/>
    <p:sldId id="283" r:id="rId24"/>
    <p:sldId id="306" r:id="rId25"/>
    <p:sldId id="271" r:id="rId26"/>
    <p:sldId id="268" r:id="rId27"/>
    <p:sldId id="312" r:id="rId28"/>
    <p:sldId id="267" r:id="rId29"/>
    <p:sldId id="323" r:id="rId30"/>
    <p:sldId id="279" r:id="rId31"/>
    <p:sldId id="280" r:id="rId32"/>
    <p:sldId id="281" r:id="rId33"/>
    <p:sldId id="258" r:id="rId34"/>
    <p:sldId id="259" r:id="rId35"/>
    <p:sldId id="261" r:id="rId36"/>
    <p:sldId id="260" r:id="rId3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80552" autoAdjust="0"/>
  </p:normalViewPr>
  <p:slideViewPr>
    <p:cSldViewPr snapToGrid="0">
      <p:cViewPr varScale="1">
        <p:scale>
          <a:sx n="90" d="100"/>
          <a:sy n="90" d="100"/>
        </p:scale>
        <p:origin x="552" y="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oleObject" Target="file:///E:\home\fishy\Documents\Research\fast-2018\converter-result.xlsx"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oleObject" Target="file:///E:\home\fishy\Documents\Research\fast-2018\caching-result-stacked.xlsx" TargetMode="External"/><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2081345459931567"/>
          <c:y val="0.34872429032580282"/>
          <c:w val="0.53727052517588814"/>
          <c:h val="0.35818741914426733"/>
        </c:manualLayout>
      </c:layout>
      <c:lineChart>
        <c:grouping val="standard"/>
        <c:varyColors val="0"/>
        <c:ser>
          <c:idx val="0"/>
          <c:order val="0"/>
          <c:tx>
            <c:strRef>
              <c:f>Sheet1!$B$1</c:f>
              <c:strCache>
                <c:ptCount val="1"/>
                <c:pt idx="0">
                  <c:v>Copy Converter</c:v>
                </c:pt>
              </c:strCache>
            </c:strRef>
          </c:tx>
          <c:spPr>
            <a:ln w="28575" cap="rnd">
              <a:solidFill>
                <a:schemeClr val="accent6"/>
              </a:solidFill>
              <a:prstDash val="dash"/>
              <a:round/>
            </a:ln>
            <a:effectLst/>
          </c:spPr>
          <c:marker>
            <c:symbol val="square"/>
            <c:size val="6"/>
            <c:spPr>
              <a:solidFill>
                <a:schemeClr val="accent6"/>
              </a:solidFill>
              <a:ln w="9525">
                <a:solidFill>
                  <a:schemeClr val="accent6"/>
                </a:solidFill>
              </a:ln>
              <a:effectLst/>
            </c:spPr>
          </c:marker>
          <c:cat>
            <c:numRef>
              <c:f>Sheet1!$A$2:$A$5</c:f>
              <c:numCache>
                <c:formatCode>General</c:formatCode>
                <c:ptCount val="4"/>
                <c:pt idx="0">
                  <c:v>20000</c:v>
                </c:pt>
                <c:pt idx="1">
                  <c:v>5000</c:v>
                </c:pt>
                <c:pt idx="2">
                  <c:v>1000</c:v>
                </c:pt>
                <c:pt idx="3">
                  <c:v>100</c:v>
                </c:pt>
              </c:numCache>
            </c:numRef>
          </c:cat>
          <c:val>
            <c:numRef>
              <c:f>Sheet1!$B$2:$B$5</c:f>
              <c:numCache>
                <c:formatCode>General</c:formatCode>
                <c:ptCount val="4"/>
                <c:pt idx="0">
                  <c:v>188.17</c:v>
                </c:pt>
                <c:pt idx="1">
                  <c:v>190.28</c:v>
                </c:pt>
                <c:pt idx="2">
                  <c:v>192.74</c:v>
                </c:pt>
                <c:pt idx="3">
                  <c:v>195.11</c:v>
                </c:pt>
              </c:numCache>
            </c:numRef>
          </c:val>
          <c:smooth val="0"/>
        </c:ser>
        <c:ser>
          <c:idx val="1"/>
          <c:order val="1"/>
          <c:tx>
            <c:strRef>
              <c:f>Sheet1!$C$1</c:f>
              <c:strCache>
                <c:ptCount val="1"/>
                <c:pt idx="0">
                  <c:v>Manual Converter</c:v>
                </c:pt>
              </c:strCache>
            </c:strRef>
          </c:tx>
          <c:spPr>
            <a:ln w="28575" cap="rnd">
              <a:solidFill>
                <a:schemeClr val="accent4"/>
              </a:solidFill>
              <a:prstDash val="solid"/>
              <a:round/>
            </a:ln>
            <a:effectLst/>
          </c:spPr>
          <c:marker>
            <c:symbol val="circle"/>
            <c:size val="6"/>
            <c:spPr>
              <a:solidFill>
                <a:schemeClr val="accent4"/>
              </a:solidFill>
              <a:ln w="9525">
                <a:solidFill>
                  <a:schemeClr val="accent4"/>
                </a:solidFill>
              </a:ln>
              <a:effectLst/>
            </c:spPr>
          </c:marker>
          <c:cat>
            <c:numRef>
              <c:f>Sheet1!$A$2:$A$5</c:f>
              <c:numCache>
                <c:formatCode>General</c:formatCode>
                <c:ptCount val="4"/>
                <c:pt idx="0">
                  <c:v>20000</c:v>
                </c:pt>
                <c:pt idx="1">
                  <c:v>5000</c:v>
                </c:pt>
                <c:pt idx="2">
                  <c:v>1000</c:v>
                </c:pt>
                <c:pt idx="3">
                  <c:v>100</c:v>
                </c:pt>
              </c:numCache>
            </c:numRef>
          </c:cat>
          <c:val>
            <c:numRef>
              <c:f>Sheet1!$C$2:$C$5</c:f>
              <c:numCache>
                <c:formatCode>General</c:formatCode>
                <c:ptCount val="4"/>
                <c:pt idx="0">
                  <c:v>6.55</c:v>
                </c:pt>
                <c:pt idx="1">
                  <c:v>3.46</c:v>
                </c:pt>
                <c:pt idx="2">
                  <c:v>3.29</c:v>
                </c:pt>
                <c:pt idx="3">
                  <c:v>3.25</c:v>
                </c:pt>
              </c:numCache>
            </c:numRef>
          </c:val>
          <c:smooth val="0"/>
        </c:ser>
        <c:ser>
          <c:idx val="2"/>
          <c:order val="2"/>
          <c:tx>
            <c:strRef>
              <c:f>Sheet1!$D$1</c:f>
              <c:strCache>
                <c:ptCount val="1"/>
                <c:pt idx="0">
                  <c:v>Spiffy Converter</c:v>
                </c:pt>
              </c:strCache>
            </c:strRef>
          </c:tx>
          <c:spPr>
            <a:ln w="28575" cap="rnd">
              <a:solidFill>
                <a:schemeClr val="tx2"/>
              </a:solidFill>
              <a:prstDash val="sysDot"/>
              <a:round/>
            </a:ln>
            <a:effectLst/>
          </c:spPr>
          <c:marker>
            <c:symbol val="diamond"/>
            <c:size val="6"/>
            <c:spPr>
              <a:solidFill>
                <a:schemeClr val="tx2"/>
              </a:solidFill>
              <a:ln w="9525">
                <a:solidFill>
                  <a:schemeClr val="tx2"/>
                </a:solidFill>
              </a:ln>
              <a:effectLst/>
            </c:spPr>
          </c:marker>
          <c:cat>
            <c:numRef>
              <c:f>Sheet1!$A$2:$A$5</c:f>
              <c:numCache>
                <c:formatCode>General</c:formatCode>
                <c:ptCount val="4"/>
                <c:pt idx="0">
                  <c:v>20000</c:v>
                </c:pt>
                <c:pt idx="1">
                  <c:v>5000</c:v>
                </c:pt>
                <c:pt idx="2">
                  <c:v>1000</c:v>
                </c:pt>
                <c:pt idx="3">
                  <c:v>100</c:v>
                </c:pt>
              </c:numCache>
            </c:numRef>
          </c:cat>
          <c:val>
            <c:numRef>
              <c:f>Sheet1!$D$2:$D$5</c:f>
              <c:numCache>
                <c:formatCode>0.00</c:formatCode>
                <c:ptCount val="4"/>
                <c:pt idx="0">
                  <c:v>7.03</c:v>
                </c:pt>
                <c:pt idx="1">
                  <c:v>4.01</c:v>
                </c:pt>
                <c:pt idx="2">
                  <c:v>3.84</c:v>
                </c:pt>
                <c:pt idx="3">
                  <c:v>3.71</c:v>
                </c:pt>
              </c:numCache>
            </c:numRef>
          </c:val>
          <c:smooth val="0"/>
        </c:ser>
        <c:dLbls>
          <c:showLegendKey val="0"/>
          <c:showVal val="0"/>
          <c:showCatName val="0"/>
          <c:showSerName val="0"/>
          <c:showPercent val="0"/>
          <c:showBubbleSize val="0"/>
        </c:dLbls>
        <c:marker val="1"/>
        <c:smooth val="0"/>
        <c:axId val="579500816"/>
        <c:axId val="579506256"/>
      </c:lineChart>
      <c:catAx>
        <c:axId val="579500816"/>
        <c:scaling>
          <c:orientation val="minMax"/>
        </c:scaling>
        <c:delete val="0"/>
        <c:axPos val="b"/>
        <c:title>
          <c:tx>
            <c:rich>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US" dirty="0"/>
                  <a:t># of </a:t>
                </a:r>
                <a:r>
                  <a:rPr lang="en-US" dirty="0" smtClean="0"/>
                  <a:t>files</a:t>
                </a:r>
                <a:endParaRPr lang="en-US" dirty="0"/>
              </a:p>
            </c:rich>
          </c:tx>
          <c:layout>
            <c:manualLayout>
              <c:xMode val="edge"/>
              <c:yMode val="edge"/>
              <c:x val="0.62584479240826973"/>
              <c:y val="0.72818252638233838"/>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w="9525" cap="flat" cmpd="sng" algn="ctr">
            <a:solidFill>
              <a:schemeClr val="bg2">
                <a:lumMod val="10000"/>
              </a:schemeClr>
            </a:solidFill>
            <a:round/>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579506256"/>
        <c:crosses val="autoZero"/>
        <c:auto val="0"/>
        <c:lblAlgn val="ctr"/>
        <c:lblOffset val="100"/>
        <c:noMultiLvlLbl val="0"/>
      </c:catAx>
      <c:valAx>
        <c:axId val="579506256"/>
        <c:scaling>
          <c:logBase val="4"/>
          <c:orientation val="minMax"/>
        </c:scaling>
        <c:delete val="0"/>
        <c:axPos val="l"/>
        <c:majorGridlines>
          <c:spPr>
            <a:ln w="9525" cap="flat" cmpd="sng" algn="ctr">
              <a:solidFill>
                <a:schemeClr val="tx1">
                  <a:lumMod val="50000"/>
                </a:schemeClr>
              </a:solidFill>
              <a:round/>
            </a:ln>
            <a:effectLst/>
          </c:spPr>
        </c:majorGridlines>
        <c:title>
          <c:tx>
            <c:rich>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r>
                  <a:rPr lang="en-CA"/>
                  <a:t>seconds</a:t>
                </a:r>
              </a:p>
            </c:rich>
          </c:tx>
          <c:overlay val="0"/>
          <c:spPr>
            <a:noFill/>
            <a:ln>
              <a:noFill/>
            </a:ln>
            <a:effectLst/>
          </c:spPr>
          <c:txPr>
            <a:bodyPr rot="-54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crossAx val="579500816"/>
        <c:crosses val="autoZero"/>
        <c:crossBetween val="between"/>
      </c:valAx>
      <c:spPr>
        <a:solidFill>
          <a:schemeClr val="tx1"/>
        </a:solidFill>
        <a:ln>
          <a:solidFill>
            <a:schemeClr val="tx1">
              <a:lumMod val="50000"/>
            </a:schemeClr>
          </a:solidFill>
        </a:ln>
        <a:effectLst/>
      </c:spPr>
    </c:plotArea>
    <c:legend>
      <c:legendPos val="r"/>
      <c:layout>
        <c:manualLayout>
          <c:xMode val="edge"/>
          <c:yMode val="edge"/>
          <c:x val="0.66858475960888031"/>
          <c:y val="0.33360445625224705"/>
          <c:w val="0.32208596280409679"/>
          <c:h val="0.37050324825699893"/>
        </c:manualLayout>
      </c:layout>
      <c:overlay val="0"/>
      <c:spPr>
        <a:noFill/>
        <a:ln>
          <a:noFill/>
        </a:ln>
        <a:effectLst/>
      </c:spPr>
      <c:txPr>
        <a:bodyPr rot="0" spcFirstLastPara="1" vertOverflow="ellipsis" vert="horz" wrap="square" anchor="ctr" anchorCtr="1"/>
        <a:lstStyle/>
        <a:p>
          <a:pPr>
            <a:defRPr sz="16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600">
          <a:solidFill>
            <a:schemeClr val="bg1"/>
          </a:solidFill>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61083692839279813"/>
          <c:y val="5.1192544430694563E-2"/>
          <c:w val="0.33184206060008237"/>
          <c:h val="0.72176687201094358"/>
        </c:manualLayout>
      </c:layout>
      <c:barChart>
        <c:barDir val="bar"/>
        <c:grouping val="stacked"/>
        <c:varyColors val="0"/>
        <c:ser>
          <c:idx val="0"/>
          <c:order val="0"/>
          <c:tx>
            <c:strRef>
              <c:f>Sheet1!$C$1</c:f>
              <c:strCache>
                <c:ptCount val="1"/>
                <c:pt idx="0">
                  <c:v>Fileserver A</c:v>
                </c:pt>
              </c:strCache>
            </c:strRef>
          </c:tx>
          <c:spPr>
            <a:solidFill>
              <a:schemeClr val="accent5">
                <a:lumMod val="40000"/>
                <a:lumOff val="60000"/>
              </a:schemeClr>
            </a:solidFill>
            <a:ln>
              <a:solidFill>
                <a:schemeClr val="bg1"/>
              </a:solidFill>
            </a:ln>
            <a:effectLst/>
          </c:spPr>
          <c:invertIfNegative val="0"/>
          <c:errBars>
            <c:errBarType val="both"/>
            <c:errValType val="cust"/>
            <c:noEndCap val="0"/>
            <c:pl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plus>
            <c:minus>
              <c:numRef>
                <c:f>Sheet1!$H$2:$H$8</c:f>
                <c:numCache>
                  <c:formatCode>General</c:formatCode>
                  <c:ptCount val="7"/>
                  <c:pt idx="0">
                    <c:v>86.899646070000003</c:v>
                  </c:pt>
                  <c:pt idx="1">
                    <c:v>47.026277149999999</c:v>
                  </c:pt>
                  <c:pt idx="2">
                    <c:v>98.939352290000002</c:v>
                  </c:pt>
                  <c:pt idx="4">
                    <c:v>74.579070639999998</c:v>
                  </c:pt>
                  <c:pt idx="5">
                    <c:v>56.259226890000001</c:v>
                  </c:pt>
                  <c:pt idx="6">
                    <c:v>108.2791673</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Sheet1!$C$2:$C$8</c:f>
              <c:numCache>
                <c:formatCode>General</c:formatCode>
                <c:ptCount val="7"/>
                <c:pt idx="0">
                  <c:v>1904.855278</c:v>
                </c:pt>
                <c:pt idx="1">
                  <c:v>1227.2180559999999</c:v>
                </c:pt>
                <c:pt idx="2">
                  <c:v>2831.1577779999998</c:v>
                </c:pt>
                <c:pt idx="4">
                  <c:v>1472.7113890000001</c:v>
                </c:pt>
                <c:pt idx="5">
                  <c:v>941.54666669999995</c:v>
                </c:pt>
                <c:pt idx="6">
                  <c:v>2555.018333</c:v>
                </c:pt>
              </c:numCache>
            </c:numRef>
          </c:val>
          <c:extLst xmlns:c16r2="http://schemas.microsoft.com/office/drawing/2015/06/chart">
            <c:ext xmlns:c16="http://schemas.microsoft.com/office/drawing/2014/chart" uri="{C3380CC4-5D6E-409C-BE32-E72D297353CC}">
              <c16:uniqueId val="{00000000-23D3-4E46-9757-6E0B39AF495B}"/>
            </c:ext>
          </c:extLst>
        </c:ser>
        <c:ser>
          <c:idx val="1"/>
          <c:order val="1"/>
          <c:tx>
            <c:strRef>
              <c:f>Sheet1!$D$1</c:f>
              <c:strCache>
                <c:ptCount val="1"/>
                <c:pt idx="0">
                  <c:v>Fileserver B</c:v>
                </c:pt>
              </c:strCache>
            </c:strRef>
          </c:tx>
          <c:spPr>
            <a:solidFill>
              <a:schemeClr val="accent3"/>
            </a:solidFill>
            <a:ln>
              <a:solidFill>
                <a:schemeClr val="bg1"/>
              </a:solidFill>
            </a:ln>
            <a:effectLst/>
          </c:spPr>
          <c:invertIfNegative val="0"/>
          <c:errBars>
            <c:errBarType val="both"/>
            <c:errValType val="cust"/>
            <c:noEndCap val="0"/>
            <c:plus>
              <c:numRef>
                <c:f>Sheet1!$I$2:$I$8</c:f>
                <c:numCache>
                  <c:formatCode>General</c:formatCode>
                  <c:ptCount val="7"/>
                  <c:pt idx="0">
                    <c:v>46.519010110000004</c:v>
                  </c:pt>
                  <c:pt idx="1">
                    <c:v>46.575578360000002</c:v>
                  </c:pt>
                  <c:pt idx="2">
                    <c:v>0</c:v>
                  </c:pt>
                  <c:pt idx="4">
                    <c:v>25.918389650000002</c:v>
                  </c:pt>
                  <c:pt idx="5">
                    <c:v>56.659710339999997</c:v>
                  </c:pt>
                  <c:pt idx="6">
                    <c:v>0</c:v>
                  </c:pt>
                </c:numCache>
              </c:numRef>
            </c:plus>
            <c:minus>
              <c:numRef>
                <c:f>Sheet1!$I$2:$I$8</c:f>
                <c:numCache>
                  <c:formatCode>General</c:formatCode>
                  <c:ptCount val="7"/>
                  <c:pt idx="0">
                    <c:v>46.519010110000004</c:v>
                  </c:pt>
                  <c:pt idx="1">
                    <c:v>46.575578360000002</c:v>
                  </c:pt>
                  <c:pt idx="2">
                    <c:v>0</c:v>
                  </c:pt>
                  <c:pt idx="4">
                    <c:v>25.918389650000002</c:v>
                  </c:pt>
                  <c:pt idx="5">
                    <c:v>56.659710339999997</c:v>
                  </c:pt>
                  <c:pt idx="6">
                    <c:v>0</c:v>
                  </c:pt>
                </c:numCache>
              </c:numRef>
            </c:minus>
            <c:spPr>
              <a:noFill/>
              <a:ln w="9525" cap="flat" cmpd="sng" algn="ctr">
                <a:solidFill>
                  <a:schemeClr val="bg1"/>
                </a:solidFill>
                <a:round/>
              </a:ln>
              <a:effectLst/>
            </c:spPr>
          </c:errBars>
          <c:cat>
            <c:strRef>
              <c:f>Sheet1!$B$2:$B$8</c:f>
              <c:strCache>
                <c:ptCount val="7"/>
                <c:pt idx="0">
                  <c:v>Fileserver A + Fileserver B, A is preferred</c:v>
                </c:pt>
                <c:pt idx="1">
                  <c:v>Fileserver A + Fileserver B, no preference</c:v>
                </c:pt>
                <c:pt idx="2">
                  <c:v>Fileserver A, alone</c:v>
                </c:pt>
                <c:pt idx="4">
                  <c:v>Fileserver A + Fileserver B, A is preferred</c:v>
                </c:pt>
                <c:pt idx="5">
                  <c:v>Fileserver A + Fileserver B, no preference</c:v>
                </c:pt>
                <c:pt idx="6">
                  <c:v>Fileserver A, alone</c:v>
                </c:pt>
              </c:strCache>
            </c:strRef>
          </c:cat>
          <c:val>
            <c:numRef>
              <c:f>Sheet1!$D$2:$D$8</c:f>
              <c:numCache>
                <c:formatCode>General</c:formatCode>
                <c:ptCount val="7"/>
                <c:pt idx="0">
                  <c:v>893.80499999999995</c:v>
                </c:pt>
                <c:pt idx="1">
                  <c:v>1227.6741669999999</c:v>
                </c:pt>
                <c:pt idx="2">
                  <c:v>0</c:v>
                </c:pt>
                <c:pt idx="4">
                  <c:v>807.45833330000005</c:v>
                </c:pt>
                <c:pt idx="5">
                  <c:v>930.94916669999998</c:v>
                </c:pt>
                <c:pt idx="6">
                  <c:v>0</c:v>
                </c:pt>
              </c:numCache>
            </c:numRef>
          </c:val>
          <c:extLst xmlns:c16r2="http://schemas.microsoft.com/office/drawing/2015/06/chart">
            <c:ext xmlns:c16="http://schemas.microsoft.com/office/drawing/2014/chart" uri="{C3380CC4-5D6E-409C-BE32-E72D297353CC}">
              <c16:uniqueId val="{00000001-23D3-4E46-9757-6E0B39AF495B}"/>
            </c:ext>
          </c:extLst>
        </c:ser>
        <c:dLbls>
          <c:showLegendKey val="0"/>
          <c:showVal val="0"/>
          <c:showCatName val="0"/>
          <c:showSerName val="0"/>
          <c:showPercent val="0"/>
          <c:showBubbleSize val="0"/>
        </c:dLbls>
        <c:gapWidth val="20"/>
        <c:overlap val="100"/>
        <c:axId val="579495920"/>
        <c:axId val="579495376"/>
      </c:barChart>
      <c:catAx>
        <c:axId val="579495920"/>
        <c:scaling>
          <c:orientation val="minMax"/>
        </c:scaling>
        <c:delete val="0"/>
        <c:axPos val="l"/>
        <c:numFmt formatCode="General" sourceLinked="1"/>
        <c:majorTickMark val="none"/>
        <c:minorTickMark val="none"/>
        <c:tickLblPos val="nextTo"/>
        <c:spPr>
          <a:noFill/>
          <a:ln w="9525" cap="flat" cmpd="sng" algn="ctr">
            <a:solidFill>
              <a:schemeClr val="bg1"/>
            </a:solidFill>
            <a:round/>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579495376"/>
        <c:crosses val="autoZero"/>
        <c:auto val="1"/>
        <c:lblAlgn val="ctr"/>
        <c:lblOffset val="100"/>
        <c:noMultiLvlLbl val="1"/>
      </c:catAx>
      <c:valAx>
        <c:axId val="579495376"/>
        <c:scaling>
          <c:orientation val="minMax"/>
          <c:max val="3000"/>
        </c:scaling>
        <c:delete val="0"/>
        <c:axPos val="b"/>
        <c:majorGridlines>
          <c:spPr>
            <a:ln w="9525" cap="flat" cmpd="sng" algn="ctr">
              <a:solidFill>
                <a:schemeClr val="bg1"/>
              </a:solidFill>
              <a:round/>
            </a:ln>
            <a:effectLst/>
          </c:spPr>
        </c:majorGridlines>
        <c:title>
          <c:tx>
            <c:rich>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r>
                  <a:rPr lang="en-US"/>
                  <a:t>ops/s</a:t>
                </a:r>
              </a:p>
            </c:rich>
          </c:tx>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title>
        <c:numFmt formatCode="General" sourceLinked="1"/>
        <c:majorTickMark val="none"/>
        <c:minorTickMark val="out"/>
        <c:tickLblPos val="nextTo"/>
        <c:spPr>
          <a:noFill/>
          <a:ln>
            <a:solidFill>
              <a:schemeClr val="accent1"/>
            </a:solidFill>
          </a:ln>
          <a:effectLst/>
        </c:spPr>
        <c:txPr>
          <a:bodyPr rot="-6000000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crossAx val="579495920"/>
        <c:crosses val="autoZero"/>
        <c:crossBetween val="between"/>
        <c:majorUnit val="1000"/>
        <c:minorUnit val="500"/>
      </c:valAx>
      <c:spPr>
        <a:noFill/>
        <a:ln>
          <a:solidFill>
            <a:schemeClr val="bg1"/>
          </a:solidFill>
        </a:ln>
        <a:effectLst/>
      </c:spPr>
    </c:plotArea>
    <c:legend>
      <c:legendPos val="b"/>
      <c:layout>
        <c:manualLayout>
          <c:xMode val="edge"/>
          <c:yMode val="edge"/>
          <c:x val="0.14225519748408696"/>
          <c:y val="0.85034517406747667"/>
          <c:w val="0.39392809687657754"/>
          <c:h val="8.9154546150793379E-2"/>
        </c:manualLayout>
      </c:layout>
      <c:overlay val="0"/>
      <c:spPr>
        <a:noFill/>
        <a:ln>
          <a:noFill/>
        </a:ln>
        <a:effectLst/>
      </c:spPr>
      <c:txPr>
        <a:bodyPr rot="0" spcFirstLastPara="1" vertOverflow="ellipsis" vert="horz" wrap="square" anchor="ctr" anchorCtr="1"/>
        <a:lstStyle/>
        <a:p>
          <a:pPr>
            <a:defRPr sz="1400" b="0" i="0" u="none" strike="noStrike" kern="1200" baseline="0">
              <a:solidFill>
                <a:schemeClr val="bg1"/>
              </a:solidFill>
              <a:latin typeface="+mn-lt"/>
              <a:ea typeface="+mn-ea"/>
              <a:cs typeface="+mn-cs"/>
            </a:defRPr>
          </a:pPr>
          <a:endParaRPr lang="en-US"/>
        </a:p>
      </c:txPr>
    </c:legend>
    <c:plotVisOnly val="1"/>
    <c:dispBlanksAs val="gap"/>
    <c:showDLblsOverMax val="0"/>
  </c:chart>
  <c:spPr>
    <a:noFill/>
    <a:ln>
      <a:noFill/>
    </a:ln>
    <a:effectLst/>
  </c:spPr>
  <c:txPr>
    <a:bodyPr/>
    <a:lstStyle/>
    <a:p>
      <a:pPr>
        <a:defRPr sz="1400">
          <a:solidFill>
            <a:schemeClr val="bg1"/>
          </a:solidFill>
        </a:defRPr>
      </a:pPr>
      <a:endParaRPr lang="en-US"/>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9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CA"/>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368C5AD-71DD-4EC0-A413-C51DC95DD2ED}" type="datetimeFigureOut">
              <a:rPr lang="en-CA" smtClean="0"/>
              <a:t>2018-02-09</a:t>
            </a:fld>
            <a:endParaRPr lang="en-CA"/>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CA"/>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CA"/>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CA"/>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5B5BF96-4013-477F-9949-176AD53AFF60}" type="slidenum">
              <a:rPr lang="en-CA" smtClean="0"/>
              <a:t>‹#›</a:t>
            </a:fld>
            <a:endParaRPr lang="en-CA"/>
          </a:p>
        </p:txBody>
      </p:sp>
    </p:spTree>
    <p:extLst>
      <p:ext uri="{BB962C8B-B14F-4D97-AF65-F5344CB8AC3E}">
        <p14:creationId xmlns:p14="http://schemas.microsoft.com/office/powerpoint/2010/main" val="276522190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Hello, my name is Jack,</a:t>
            </a:r>
            <a:r>
              <a:rPr lang="en-CA" baseline="0" dirty="0" smtClean="0"/>
              <a:t> and today, I’ll be talking to you about Spiffy, a framework for writing robust file system aware storage applications. This is work done with my colleagues at the University of Toronto.</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a:t>
            </a:fld>
            <a:endParaRPr lang="en-CA"/>
          </a:p>
        </p:txBody>
      </p:sp>
    </p:spTree>
    <p:extLst>
      <p:ext uri="{BB962C8B-B14F-4D97-AF65-F5344CB8AC3E}">
        <p14:creationId xmlns:p14="http://schemas.microsoft.com/office/powerpoint/2010/main" val="28716424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There is a</a:t>
            </a:r>
            <a:r>
              <a:rPr lang="en-CA" baseline="0" dirty="0" smtClean="0"/>
              <a:t> c</a:t>
            </a:r>
            <a:r>
              <a:rPr lang="en-CA" dirty="0" smtClean="0"/>
              <a:t>lass of applications that work with file system metadata that we call file-system aware applications. Examples</a:t>
            </a:r>
            <a:r>
              <a:rPr lang="en-CA" baseline="0" dirty="0" smtClean="0"/>
              <a:t> of such  </a:t>
            </a:r>
            <a:r>
              <a:rPr lang="en-CA" dirty="0" smtClean="0"/>
              <a:t>applications</a:t>
            </a:r>
            <a:r>
              <a:rPr lang="en-CA" baseline="0" dirty="0" smtClean="0"/>
              <a:t> include a </a:t>
            </a:r>
            <a:r>
              <a:rPr lang="en-CA" dirty="0" smtClean="0"/>
              <a:t>partition editor, a file system</a:t>
            </a:r>
            <a:r>
              <a:rPr lang="en-CA" baseline="0" dirty="0" smtClean="0"/>
              <a:t> checker, and a defragmentation tool. These applications o</a:t>
            </a:r>
            <a:r>
              <a:rPr lang="en-CA" dirty="0" smtClean="0"/>
              <a:t>perate directly on file system metadata structures on</a:t>
            </a:r>
            <a:r>
              <a:rPr lang="en-CA" baseline="0" dirty="0" smtClean="0"/>
              <a:t> disk while bypassing the VFS layer. Therefore, writing file-system aware applications </a:t>
            </a:r>
            <a:r>
              <a:rPr lang="en-CA" sz="1200" b="0" i="0" u="none" strike="noStrike" kern="1200" baseline="0" dirty="0" smtClean="0">
                <a:solidFill>
                  <a:schemeClr val="tx1"/>
                </a:solidFill>
                <a:latin typeface="+mn-lt"/>
                <a:ea typeface="+mn-ea"/>
                <a:cs typeface="+mn-cs"/>
              </a:rPr>
              <a:t>requires detailed understanding of the file system format, including the ability to identify and interpret file system structures. These applications are essential for the successful deployment of a file system, since, for example, people will likely use a file system only if it comes with a file system checker.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2</a:t>
            </a:fld>
            <a:endParaRPr lang="en-CA"/>
          </a:p>
        </p:txBody>
      </p:sp>
    </p:spTree>
    <p:extLst>
      <p:ext uri="{BB962C8B-B14F-4D97-AF65-F5344CB8AC3E}">
        <p14:creationId xmlns:p14="http://schemas.microsoft.com/office/powerpoint/2010/main" val="401762764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However,</a:t>
            </a:r>
            <a:r>
              <a:rPr lang="en-CA" baseline="0" dirty="0" smtClean="0"/>
              <a:t> there are several problems with writing and deploying these tools. </a:t>
            </a:r>
            <a:r>
              <a:rPr lang="en-CA" dirty="0" smtClean="0"/>
              <a:t>Currently, these</a:t>
            </a:r>
            <a:r>
              <a:rPr lang="en-CA" baseline="0" dirty="0" smtClean="0"/>
              <a:t> tools have to be developed from scratch for</a:t>
            </a:r>
            <a:r>
              <a:rPr lang="en-CA" dirty="0" smtClean="0"/>
              <a:t> each file system.</a:t>
            </a:r>
            <a:r>
              <a:rPr lang="en-CA" baseline="0" dirty="0" smtClean="0"/>
              <a:t> Moreover,</a:t>
            </a:r>
            <a:r>
              <a:rPr lang="en-CA" dirty="0" smtClean="0"/>
              <a:t> these</a:t>
            </a:r>
            <a:r>
              <a:rPr lang="en-CA" baseline="0" dirty="0" smtClean="0"/>
              <a:t> tools require significant file system understanding, and are thus typically developed by </a:t>
            </a:r>
            <a:r>
              <a:rPr lang="en-CA" dirty="0" smtClean="0"/>
              <a:t>file system</a:t>
            </a:r>
            <a:r>
              <a:rPr lang="en-CA" baseline="0" dirty="0" smtClean="0"/>
              <a:t> </a:t>
            </a:r>
            <a:r>
              <a:rPr lang="en-CA" dirty="0" smtClean="0"/>
              <a:t>experts.</a:t>
            </a:r>
            <a:r>
              <a:rPr lang="en-CA" baseline="0" dirty="0" smtClean="0"/>
              <a:t> Even so, these tools have bugs, and these bugs can lead to system crashes, data corruption, and security vulnerability. For example, the </a:t>
            </a:r>
            <a:r>
              <a:rPr lang="en-CA" baseline="0" dirty="0" err="1" smtClean="0"/>
              <a:t>ntfsprogs</a:t>
            </a:r>
            <a:r>
              <a:rPr lang="en-CA" baseline="0" dirty="0" smtClean="0"/>
              <a:t> library had a bug that was caused by misinterpreting the NTFS metadata. The size of the master file table or MFT record can be interpreted in two ways: it is the number of clusters per record if the value is positive, otherwise it is two to the power of the absolute value of the field, if the value is </a:t>
            </a:r>
            <a:r>
              <a:rPr lang="en-CA" baseline="0" dirty="0" err="1" smtClean="0"/>
              <a:t>negatve</a:t>
            </a:r>
            <a:r>
              <a:rPr lang="en-CA" baseline="0" dirty="0" smtClean="0"/>
              <a:t>. Unsurprisingly, the </a:t>
            </a:r>
            <a:r>
              <a:rPr lang="en-CA" baseline="0" dirty="0" err="1" smtClean="0"/>
              <a:t>ntfsprogs</a:t>
            </a:r>
            <a:r>
              <a:rPr lang="en-CA" baseline="0" dirty="0" smtClean="0"/>
              <a:t> library used to misinterpret this field, and corrupt file systems when resizing partitions.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a:t>
            </a:fld>
            <a:endParaRPr lang="en-CA"/>
          </a:p>
        </p:txBody>
      </p:sp>
    </p:spTree>
    <p:extLst>
      <p:ext uri="{BB962C8B-B14F-4D97-AF65-F5344CB8AC3E}">
        <p14:creationId xmlns:p14="http://schemas.microsoft.com/office/powerpoint/2010/main" val="238401796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The root cause of all these problems is that these</a:t>
            </a:r>
            <a:r>
              <a:rPr lang="en-CA" baseline="0" dirty="0" smtClean="0"/>
              <a:t> tools are inherently hard to write because the file system format is complex and poorly documented. These a</a:t>
            </a:r>
            <a:r>
              <a:rPr lang="en-CA" dirty="0" smtClean="0"/>
              <a:t>pplications require detailed knowledge </a:t>
            </a:r>
            <a:r>
              <a:rPr lang="en-CA" baseline="0" dirty="0" smtClean="0"/>
              <a:t>for traversing and processing file system metadata.</a:t>
            </a:r>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Since different file systems use different metadata structures, an application cannot be reused across file systems. In addition, these applications need to be robust to file system corruption, or else they can crash or cause even more corruption.</a:t>
            </a:r>
          </a:p>
        </p:txBody>
      </p:sp>
      <p:sp>
        <p:nvSpPr>
          <p:cNvPr id="4" name="Slide Number Placeholder 3"/>
          <p:cNvSpPr>
            <a:spLocks noGrp="1"/>
          </p:cNvSpPr>
          <p:nvPr>
            <p:ph type="sldNum" sz="quarter" idx="10"/>
          </p:nvPr>
        </p:nvSpPr>
        <p:spPr/>
        <p:txBody>
          <a:bodyPr/>
          <a:lstStyle/>
          <a:p>
            <a:fld id="{B5B5BF96-4013-477F-9949-176AD53AFF60}" type="slidenum">
              <a:rPr lang="en-CA" smtClean="0"/>
              <a:t>4</a:t>
            </a:fld>
            <a:endParaRPr lang="en-CA"/>
          </a:p>
        </p:txBody>
      </p:sp>
    </p:spTree>
    <p:extLst>
      <p:ext uri="{BB962C8B-B14F-4D97-AF65-F5344CB8AC3E}">
        <p14:creationId xmlns:p14="http://schemas.microsoft.com/office/powerpoint/2010/main" val="422832688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dirty="0" smtClean="0"/>
              <a:t>Our goal for this work is to</a:t>
            </a:r>
            <a:r>
              <a:rPr lang="en-CA" baseline="0" dirty="0" smtClean="0"/>
              <a:t> simplify development of file-system aware applications in two ways. First, we would like to reduce the amount of file-system specific code that application developers have to write. Second, we would like to make it easier to write applications that work for multiple file systems. We also want to improve the robustness of these applications. In particular, we would like to enable correct traversal of file system metadata, and ensure type-safe access to file system metadata structures. Type-safe access helps with detecting corruption when reading metadata from disk, and also before writing metadata out to disk. This in turn helps reduce error propagation and further corruption from spreading.</a:t>
            </a:r>
            <a:endParaRPr lang="en-CA"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5</a:t>
            </a:fld>
            <a:endParaRPr lang="en-CA"/>
          </a:p>
        </p:txBody>
      </p:sp>
    </p:spTree>
    <p:extLst>
      <p:ext uri="{BB962C8B-B14F-4D97-AF65-F5344CB8AC3E}">
        <p14:creationId xmlns:p14="http://schemas.microsoft.com/office/powerpoint/2010/main" val="135702635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is embodied in the Spiffy framework that help developers with building file-system aware applications. The main idea is to have file system developers specify the format of their file system. With this specification, we can generate the Spiffy parsing and serialization library. Application developers can then use the Spiffy library to build robust file-system aware tools.</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6</a:t>
            </a:fld>
            <a:endParaRPr lang="en-CA"/>
          </a:p>
        </p:txBody>
      </p:sp>
    </p:spTree>
    <p:extLst>
      <p:ext uri="{BB962C8B-B14F-4D97-AF65-F5344CB8AC3E}">
        <p14:creationId xmlns:p14="http://schemas.microsoft.com/office/powerpoint/2010/main" val="4110104010"/>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Our</a:t>
            </a:r>
            <a:r>
              <a:rPr lang="en-CA" baseline="0" dirty="0" smtClean="0"/>
              <a:t> approach to specifying the format of the file system is to have file system developers annotate the metadata structures in the header files of existing source code.</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7</a:t>
            </a:fld>
            <a:endParaRPr lang="en-CA"/>
          </a:p>
        </p:txBody>
      </p:sp>
    </p:spTree>
    <p:extLst>
      <p:ext uri="{BB962C8B-B14F-4D97-AF65-F5344CB8AC3E}">
        <p14:creationId xmlns:p14="http://schemas.microsoft.com/office/powerpoint/2010/main" val="160665102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use the Spiffy compiler to process the annotated metadata structures</a:t>
            </a:r>
            <a:r>
              <a:rPr lang="en-CA" baseline="0" dirty="0" smtClean="0"/>
              <a:t> to generate a library that provides a generic API for type-safe parsing and serialization, as well as facility for traversing the file system. </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8</a:t>
            </a:fld>
            <a:endParaRPr lang="en-CA"/>
          </a:p>
        </p:txBody>
      </p:sp>
    </p:spTree>
    <p:extLst>
      <p:ext uri="{BB962C8B-B14F-4D97-AF65-F5344CB8AC3E}">
        <p14:creationId xmlns:p14="http://schemas.microsoft.com/office/powerpoint/2010/main" val="219366630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Lastly,</a:t>
            </a:r>
            <a:r>
              <a:rPr lang="en-CA" baseline="0" dirty="0" smtClean="0"/>
              <a:t> the application developers can use the Spiffy library to build robust tools. Since the Spiffy API is standardized for all annotated file systems, it is easier for developers to build applications that work for multiple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9</a:t>
            </a:fld>
            <a:endParaRPr lang="en-CA"/>
          </a:p>
        </p:txBody>
      </p:sp>
    </p:spTree>
    <p:extLst>
      <p:ext uri="{BB962C8B-B14F-4D97-AF65-F5344CB8AC3E}">
        <p14:creationId xmlns:p14="http://schemas.microsoft.com/office/powerpoint/2010/main" val="2060796535"/>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To summarize</a:t>
            </a:r>
            <a:r>
              <a:rPr lang="en-CA" baseline="0" dirty="0" smtClean="0"/>
              <a:t> the talk thus far, we’ve described the difficulty with writing robust, and generic file-system applications. Now we will talk about the details of the Spiffy framework and how it helps with this problem.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10</a:t>
            </a:fld>
            <a:endParaRPr lang="en-CA"/>
          </a:p>
        </p:txBody>
      </p:sp>
    </p:spTree>
    <p:extLst>
      <p:ext uri="{BB962C8B-B14F-4D97-AF65-F5344CB8AC3E}">
        <p14:creationId xmlns:p14="http://schemas.microsoft.com/office/powerpoint/2010/main" val="21402443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As a first step, we need a complete specification of the file system format, which will enable type-safe parsing of file system </a:t>
            </a:r>
            <a:r>
              <a:rPr lang="en-CA" baseline="0" dirty="0" err="1" smtClean="0"/>
              <a:t>strutures</a:t>
            </a:r>
            <a:r>
              <a:rPr lang="en-CA" baseline="0" dirty="0" smtClean="0"/>
              <a:t>.</a:t>
            </a:r>
          </a:p>
          <a:p>
            <a:endParaRPr lang="en-CA" baseline="0" dirty="0" smtClean="0"/>
          </a:p>
          <a:p>
            <a:r>
              <a:rPr lang="en-CA" dirty="0" smtClean="0"/>
              <a:t>Ideally,</a:t>
            </a:r>
            <a:r>
              <a:rPr lang="en-CA" baseline="0" dirty="0" smtClean="0"/>
              <a:t> we should be able to extract the format specification from the metadata structure definitions in existing source code. However, these structure definitions do *not* completely describe their actual format on disk. For example, the slide shows a definition of </a:t>
            </a:r>
            <a:r>
              <a:rPr lang="en-CA" baseline="0" dirty="0" err="1" smtClean="0"/>
              <a:t>struct</a:t>
            </a:r>
            <a:r>
              <a:rPr lang="en-CA" baseline="0" dirty="0" smtClean="0"/>
              <a:t> foo in a file system header file. In it, there are two fields, called size and </a:t>
            </a:r>
            <a:r>
              <a:rPr lang="en-CA" baseline="0" dirty="0" err="1" smtClean="0"/>
              <a:t>bar_block_ptr</a:t>
            </a:r>
            <a:r>
              <a:rPr lang="en-CA" baseline="0" dirty="0" smtClean="0"/>
              <a:t>, both of a little endian integer type. By looking at the name, </a:t>
            </a:r>
            <a:r>
              <a:rPr lang="en-CA" baseline="0" dirty="0" err="1" smtClean="0"/>
              <a:t>bar_block_ptr</a:t>
            </a:r>
            <a:r>
              <a:rPr lang="en-CA" baseline="0" dirty="0" smtClean="0"/>
              <a:t>, a programmer may deduce that this field points to a block of type </a:t>
            </a:r>
            <a:r>
              <a:rPr lang="en-CA" baseline="0" dirty="0" err="1" smtClean="0"/>
              <a:t>bar_block</a:t>
            </a:r>
            <a:r>
              <a:rPr lang="en-CA" baseline="0" dirty="0" smtClean="0"/>
              <a:t>, but there is no way to know for sure.</a:t>
            </a:r>
          </a:p>
        </p:txBody>
      </p:sp>
      <p:sp>
        <p:nvSpPr>
          <p:cNvPr id="4" name="Slide Number Placeholder 3"/>
          <p:cNvSpPr>
            <a:spLocks noGrp="1"/>
          </p:cNvSpPr>
          <p:nvPr>
            <p:ph type="sldNum" sz="quarter" idx="10"/>
          </p:nvPr>
        </p:nvSpPr>
        <p:spPr/>
        <p:txBody>
          <a:bodyPr/>
          <a:lstStyle/>
          <a:p>
            <a:fld id="{B5B5BF96-4013-477F-9949-176AD53AFF60}" type="slidenum">
              <a:rPr lang="en-CA" smtClean="0"/>
              <a:t>11</a:t>
            </a:fld>
            <a:endParaRPr lang="en-CA"/>
          </a:p>
        </p:txBody>
      </p:sp>
    </p:spTree>
    <p:extLst>
      <p:ext uri="{BB962C8B-B14F-4D97-AF65-F5344CB8AC3E}">
        <p14:creationId xmlns:p14="http://schemas.microsoft.com/office/powerpoint/2010/main" val="1898869089"/>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Our solution is to annotate this metadata structure so that we can unambiguously specify this missing information. Here we add an FSSTRUCT annotation to </a:t>
            </a:r>
            <a:r>
              <a:rPr lang="en-CA" baseline="0" dirty="0" err="1" smtClean="0"/>
              <a:t>struct</a:t>
            </a:r>
            <a:r>
              <a:rPr lang="en-CA" baseline="0" dirty="0" smtClean="0"/>
              <a:t> foo to indicate that it is an on-disk metadata structure. Then, we add a pointer annotation </a:t>
            </a:r>
            <a:r>
              <a:rPr lang="en-US" baseline="0" dirty="0" smtClean="0"/>
              <a:t>to s</a:t>
            </a:r>
            <a:r>
              <a:rPr lang="en-US" dirty="0" smtClean="0"/>
              <a:t>pecify that a data structure field holds an address to a location on physical storage. Here,</a:t>
            </a:r>
            <a:r>
              <a:rPr lang="en-US" baseline="0" dirty="0" smtClean="0"/>
              <a:t> the pointer annotation added</a:t>
            </a:r>
            <a:r>
              <a:rPr lang="en-CA" baseline="0" dirty="0" smtClean="0"/>
              <a:t> to the </a:t>
            </a:r>
            <a:r>
              <a:rPr lang="en-CA" baseline="0" dirty="0" err="1" smtClean="0"/>
              <a:t>bar_block_ptr</a:t>
            </a:r>
            <a:r>
              <a:rPr lang="en-CA" baseline="0" dirty="0" smtClean="0"/>
              <a:t> field specifies that the field value is the address of a block of type </a:t>
            </a:r>
            <a:r>
              <a:rPr lang="en-CA" baseline="0" dirty="0" err="1" smtClean="0"/>
              <a:t>bar_block</a:t>
            </a:r>
            <a:r>
              <a:rPr lang="en-CA" baseline="0" dirty="0" smtClean="0"/>
              <a:t>.</a:t>
            </a:r>
          </a:p>
          <a:p>
            <a:endParaRPr lang="en-CA" baseline="0" dirty="0" smtClean="0"/>
          </a:p>
          <a:p>
            <a:endParaRPr lang="en-CA" baseline="0" dirty="0" smtClean="0"/>
          </a:p>
        </p:txBody>
      </p:sp>
      <p:sp>
        <p:nvSpPr>
          <p:cNvPr id="4" name="Slide Number Placeholder 3"/>
          <p:cNvSpPr>
            <a:spLocks noGrp="1"/>
          </p:cNvSpPr>
          <p:nvPr>
            <p:ph type="sldNum" sz="quarter" idx="10"/>
          </p:nvPr>
        </p:nvSpPr>
        <p:spPr/>
        <p:txBody>
          <a:bodyPr/>
          <a:lstStyle/>
          <a:p>
            <a:fld id="{B5B5BF96-4013-477F-9949-176AD53AFF60}" type="slidenum">
              <a:rPr lang="en-CA" smtClean="0"/>
              <a:t>12</a:t>
            </a:fld>
            <a:endParaRPr lang="en-CA"/>
          </a:p>
        </p:txBody>
      </p:sp>
    </p:spTree>
    <p:extLst>
      <p:ext uri="{BB962C8B-B14F-4D97-AF65-F5344CB8AC3E}">
        <p14:creationId xmlns:p14="http://schemas.microsoft.com/office/powerpoint/2010/main" val="3391082766"/>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Pointer annotations provide the ability to specify relationships between file system structures. Thus they allow traversal of file system structures.</a:t>
            </a:r>
            <a:endParaRPr lang="en-CA" dirty="0" smtClean="0"/>
          </a:p>
          <a:p>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13</a:t>
            </a:fld>
            <a:endParaRPr lang="en-CA"/>
          </a:p>
        </p:txBody>
      </p:sp>
    </p:spTree>
    <p:extLst>
      <p:ext uri="{BB962C8B-B14F-4D97-AF65-F5344CB8AC3E}">
        <p14:creationId xmlns:p14="http://schemas.microsoft.com/office/powerpoint/2010/main" val="238746244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 I</a:t>
            </a:r>
            <a:r>
              <a:rPr lang="en-CA" dirty="0" smtClean="0"/>
              <a:t>n</a:t>
            </a:r>
            <a:r>
              <a:rPr lang="en-CA" baseline="0" dirty="0" smtClean="0"/>
              <a:t> contrast, all in-</a:t>
            </a:r>
            <a:r>
              <a:rPr lang="en-CA" dirty="0" smtClean="0"/>
              <a:t>memory virtual</a:t>
            </a:r>
            <a:r>
              <a:rPr lang="en-CA" baseline="0" dirty="0" smtClean="0"/>
              <a:t> addresses are </a:t>
            </a:r>
            <a:r>
              <a:rPr lang="en-CA" dirty="0" smtClean="0"/>
              <a:t>translated</a:t>
            </a:r>
            <a:r>
              <a:rPr lang="en-CA" baseline="0" dirty="0" smtClean="0"/>
              <a:t> to physical  addresses using a single translation scheme.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 challenge with file system pointers is that they can store different types of logical addresses, requiring different mappings to obtain the corresponding physical storage address. Our solution is to add an address space type to p</a:t>
            </a:r>
            <a:r>
              <a:rPr lang="en-CA" dirty="0" smtClean="0"/>
              <a:t>ointer annotations to specify how</a:t>
            </a:r>
            <a:r>
              <a:rPr lang="en-CA" baseline="0" dirty="0" smtClean="0"/>
              <a:t> to map an address to its physical location. For example, in the block address space, an address is simply the block number in the file system. In the file address space, an address is an </a:t>
            </a:r>
            <a:r>
              <a:rPr lang="en-CA" baseline="0" dirty="0" err="1" smtClean="0"/>
              <a:t>inode</a:t>
            </a:r>
            <a:r>
              <a:rPr lang="en-CA" baseline="0" dirty="0" smtClean="0"/>
              <a:t> number that identifies a specific file. For example, the Ext4 journal is stored on disk as a regular file, and a field in the super block stores the </a:t>
            </a:r>
            <a:r>
              <a:rPr lang="en-CA" baseline="0" dirty="0" err="1" smtClean="0"/>
              <a:t>inode</a:t>
            </a:r>
            <a:r>
              <a:rPr lang="en-CA" baseline="0" dirty="0" smtClean="0"/>
              <a:t> number of the journal. We specify this field as a pointer to the Ext4 journal in the file address space.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CA" baseline="0" dirty="0" smtClean="0"/>
          </a:p>
          <a:p>
            <a:pPr marL="0" marR="0" lvl="0" indent="0" algn="l" defTabSz="914400" rtl="0" eaLnBrk="1" fontAlgn="auto" latinLnBrk="0" hangingPunct="1">
              <a:lnSpc>
                <a:spcPct val="100000"/>
              </a:lnSpc>
              <a:spcBef>
                <a:spcPts val="0"/>
              </a:spcBef>
              <a:spcAft>
                <a:spcPts val="0"/>
              </a:spcAft>
              <a:buClrTx/>
              <a:buSzTx/>
              <a:buFontTx/>
              <a:buNone/>
              <a:tabLst/>
              <a:defRPr/>
            </a:pPr>
            <a:r>
              <a:rPr lang="en-CA" baseline="0" dirty="0" smtClean="0"/>
              <a:t>Therefore, finding the Ext4 journal involves reading its </a:t>
            </a:r>
            <a:r>
              <a:rPr lang="en-CA" baseline="0" dirty="0" err="1" smtClean="0"/>
              <a:t>inode</a:t>
            </a:r>
            <a:r>
              <a:rPr lang="en-CA" baseline="0" dirty="0" smtClean="0"/>
              <a:t> structure. To solve this problem, each pointer also has an associated address space to indicate how its address should be mapped to physical location.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14</a:t>
            </a:fld>
            <a:endParaRPr lang="en-CA"/>
          </a:p>
        </p:txBody>
      </p:sp>
    </p:spTree>
    <p:extLst>
      <p:ext uri="{BB962C8B-B14F-4D97-AF65-F5344CB8AC3E}">
        <p14:creationId xmlns:p14="http://schemas.microsoft.com/office/powerpoint/2010/main" val="167909540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a:t>
            </a:r>
            <a:r>
              <a:rPr lang="en-CA" baseline="0" dirty="0" smtClean="0"/>
              <a:t> we show an example of the ext4 super block. This structure is annotated with FSSUPER to denote that it’s the super block for Ext4. Inside the annotation is a list of keyword arguments. The location argument specifies that the Ext4 super block is located a thousand and 24 bytes away from the start of the partition. </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18</a:t>
            </a:fld>
            <a:endParaRPr lang="en-CA"/>
          </a:p>
        </p:txBody>
      </p:sp>
    </p:spTree>
    <p:extLst>
      <p:ext uri="{BB962C8B-B14F-4D97-AF65-F5344CB8AC3E}">
        <p14:creationId xmlns:p14="http://schemas.microsoft.com/office/powerpoint/2010/main" val="39325729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19</a:t>
            </a:fld>
            <a:endParaRPr lang="en-CA"/>
          </a:p>
        </p:txBody>
      </p:sp>
    </p:spTree>
    <p:extLst>
      <p:ext uri="{BB962C8B-B14F-4D97-AF65-F5344CB8AC3E}">
        <p14:creationId xmlns:p14="http://schemas.microsoft.com/office/powerpoint/2010/main" val="311740224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baseline="0" dirty="0" smtClean="0"/>
              <a:t>. In the second annotation, we have an implicit block pointer which points to the block group descriptor table. The address of the descriptor table is calculated at runtime, depending on the block size of the file system. The self variable denotes the current structure, so expressions like this can reference other fields in the same structure.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20</a:t>
            </a:fld>
            <a:endParaRPr lang="en-CA"/>
          </a:p>
        </p:txBody>
      </p:sp>
    </p:spTree>
    <p:extLst>
      <p:ext uri="{BB962C8B-B14F-4D97-AF65-F5344CB8AC3E}">
        <p14:creationId xmlns:p14="http://schemas.microsoft.com/office/powerpoint/2010/main" val="157482294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a:t>
            </a:r>
            <a:r>
              <a:rPr lang="en-CA" baseline="0" dirty="0" smtClean="0"/>
              <a:t> we show an example of the code that the Spiffy compiler generates from the annotations. On the right side, we have a fragment of the generated parsing code for the Ext4 super block. We currently generate a C++ class for every annotated class and its fields. This allows us to implement type-safe parsing and serialization, as shown in the example. The CHECK annotation, which supports constraints checking, contains expressions which is verified at runtime during parsing and serialization, to ensure that the metadata is type-safe.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22</a:t>
            </a:fld>
            <a:endParaRPr lang="en-CA"/>
          </a:p>
        </p:txBody>
      </p:sp>
    </p:spTree>
    <p:extLst>
      <p:ext uri="{BB962C8B-B14F-4D97-AF65-F5344CB8AC3E}">
        <p14:creationId xmlns:p14="http://schemas.microsoft.com/office/powerpoint/2010/main" val="679635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take a look at the annotation effort</a:t>
            </a:r>
            <a:r>
              <a:rPr lang="en-CA" baseline="0" dirty="0" smtClean="0"/>
              <a:t> required to completely specify each file system. In all cases, the annotation added to file system metadata definitions is approximately one forth of the total line count. We also needed to handle some special situations while annotating the file system. For example, some metadata structures are not explicitly declared, as is the case for Ext4 indirect blocks, which is just an array of pointers so the Ext4 developers decides to omit their definition. We sometimes also needed make some minor change the structure definition so that our annotation language can correctly annotate it. This does not affect the correctness of the specification or the format of the file system, but we do count the changes as part of the annotation effort.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23</a:t>
            </a:fld>
            <a:endParaRPr lang="en-CA"/>
          </a:p>
        </p:txBody>
      </p:sp>
    </p:spTree>
    <p:extLst>
      <p:ext uri="{BB962C8B-B14F-4D97-AF65-F5344CB8AC3E}">
        <p14:creationId xmlns:p14="http://schemas.microsoft.com/office/powerpoint/2010/main" val="417483949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now show you an example of building a file-system</a:t>
            </a:r>
            <a:r>
              <a:rPr lang="en-CA" baseline="0" dirty="0" smtClean="0"/>
              <a:t> aware application: a free space display tool which plots a histogram of the sizes of free extents available in a file system image. First, we show how an application developer would go about building the tool manually, then we show how using Spiffy reduces programming effort. To manually build a free space tool, a developer must first study available documentation on the format of a file system to learn about its block allocation scheme. Then the developer would have to go through trial-and-error to write code that will locate the relevant metadata so that he or she can process them. In </a:t>
            </a:r>
            <a:r>
              <a:rPr lang="en-CA" baseline="0" dirty="0" err="1" smtClean="0"/>
              <a:t>constrast</a:t>
            </a:r>
            <a:r>
              <a:rPr lang="en-CA" baseline="0" dirty="0" smtClean="0"/>
              <a:t>, the Spiffy library provides the necessary traversal code so that the developer only needs to focus on writing code that processes the block allocation metadata.</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24</a:t>
            </a:fld>
            <a:endParaRPr lang="en-CA"/>
          </a:p>
        </p:txBody>
      </p:sp>
    </p:spTree>
    <p:extLst>
      <p:ext uri="{BB962C8B-B14F-4D97-AF65-F5344CB8AC3E}">
        <p14:creationId xmlns:p14="http://schemas.microsoft.com/office/powerpoint/2010/main" val="395570156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Here, we show a manually written</a:t>
            </a:r>
            <a:r>
              <a:rPr lang="en-CA" baseline="0" dirty="0" smtClean="0"/>
              <a:t> function that needs to traverse through the Ext4 file system to find the bitmaps that contain block allocation information. As you can see, there is a lot of boilerplate code that is needed.</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25</a:t>
            </a:fld>
            <a:endParaRPr lang="en-CA"/>
          </a:p>
        </p:txBody>
      </p:sp>
    </p:spTree>
    <p:extLst>
      <p:ext uri="{BB962C8B-B14F-4D97-AF65-F5344CB8AC3E}">
        <p14:creationId xmlns:p14="http://schemas.microsoft.com/office/powerpoint/2010/main" val="140517068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Also,</a:t>
            </a:r>
            <a:r>
              <a:rPr lang="en-CA" baseline="0" dirty="0" smtClean="0"/>
              <a:t> this </a:t>
            </a:r>
            <a:r>
              <a:rPr lang="en-CA" dirty="0" smtClean="0"/>
              <a:t>function is already overwhelming</a:t>
            </a:r>
            <a:r>
              <a:rPr lang="en-CA" baseline="0" dirty="0" smtClean="0"/>
              <a:t> without any error checking code. Any error during traversal, or corruption in the file system, would cause unexpected behavior in the program, including crashes or garbage output.</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26</a:t>
            </a:fld>
            <a:endParaRPr lang="en-CA"/>
          </a:p>
        </p:txBody>
      </p:sp>
    </p:spTree>
    <p:extLst>
      <p:ext uri="{BB962C8B-B14F-4D97-AF65-F5344CB8AC3E}">
        <p14:creationId xmlns:p14="http://schemas.microsoft.com/office/powerpoint/2010/main" val="1064124572"/>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What we want</a:t>
            </a:r>
            <a:r>
              <a:rPr lang="en-CA" baseline="0" dirty="0" smtClean="0"/>
              <a:t> is an easier way to find and process all of the block bitmaps in Ext4, without needing to write all of the code to traverse the file system.</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27</a:t>
            </a:fld>
            <a:endParaRPr lang="en-CA"/>
          </a:p>
        </p:txBody>
      </p:sp>
    </p:spTree>
    <p:extLst>
      <p:ext uri="{BB962C8B-B14F-4D97-AF65-F5344CB8AC3E}">
        <p14:creationId xmlns:p14="http://schemas.microsoft.com/office/powerpoint/2010/main" val="233866004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processing of all of the block bitmaps reachable from the super block, through its pointers or the pointers of all its children. This avoids the need to write any traversal code manually, so the developer can focus on just the code that processes the block bitmaps. As you can see, there are two advantages to using the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28</a:t>
            </a:fld>
            <a:endParaRPr lang="en-CA"/>
          </a:p>
        </p:txBody>
      </p:sp>
    </p:spTree>
    <p:extLst>
      <p:ext uri="{BB962C8B-B14F-4D97-AF65-F5344CB8AC3E}">
        <p14:creationId xmlns:p14="http://schemas.microsoft.com/office/powerpoint/2010/main" val="328771245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we show the same</a:t>
            </a:r>
            <a:r>
              <a:rPr lang="en-CA" baseline="0" dirty="0" smtClean="0"/>
              <a:t> application, written using Spiffy. On line 3, we retrieve the super block through the </a:t>
            </a:r>
            <a:r>
              <a:rPr lang="en-CA" baseline="0" dirty="0" err="1" smtClean="0"/>
              <a:t>fetch_super</a:t>
            </a:r>
            <a:r>
              <a:rPr lang="en-CA" baseline="0" dirty="0" smtClean="0"/>
              <a:t> function. At this point, if the super block is corrupted, the function will return null. Next, on line 7, invoking the </a:t>
            </a:r>
            <a:r>
              <a:rPr lang="en-CA" baseline="0" dirty="0" err="1" smtClean="0"/>
              <a:t>process_by_type</a:t>
            </a:r>
            <a:r>
              <a:rPr lang="en-CA" baseline="0" dirty="0" smtClean="0"/>
              <a:t> function allows processing of all of the block bitmaps reachable from the super block, through its pointers or the pointers of all its children. This avoids the need to write any traversal code manually, so the developer can focus on just the code that processes the block bitmaps. As you can see, there are two advantages to using the Spiffy library. First, it simplifies file system traversal by reducing the need to know the format details. Second, the library parsing routines have automatically generated sanity checks to help detect corruption.</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29</a:t>
            </a:fld>
            <a:endParaRPr lang="en-CA"/>
          </a:p>
        </p:txBody>
      </p:sp>
    </p:spTree>
    <p:extLst>
      <p:ext uri="{BB962C8B-B14F-4D97-AF65-F5344CB8AC3E}">
        <p14:creationId xmlns:p14="http://schemas.microsoft.com/office/powerpoint/2010/main" val="1738035038"/>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Now let’s talk about the applications</a:t>
            </a:r>
            <a:r>
              <a:rPr lang="en-CA" baseline="0" dirty="0" smtClean="0"/>
              <a:t> we have built using Spiffy, starting with the offline applications, which have exclusive access to a file system image. Our first application is the file system dump tool, which simply prints out all of the metadata in XML format. This tool is helpful for debugging, and we also use it to verify the correctness of our annotations. Next, the type-specific corruptor allows us to specify a field in a metadata structure and corrupt it on disk. This tool enables us to test the robustness of other tools and ensure that they are able to correctly handle corruptions. We ran a series of corruption experiments and discovered crash bugs in existing tools such as dumpe2fs for Ext4 and dump.f2fs, which you can read more about in the paper. Next we built a file system conversion tool which allows converting from one file system to another without moving any data blocks unless necessary. We will come back to evaluating the conversion tool in a bit.</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30</a:t>
            </a:fld>
            <a:endParaRPr lang="en-CA"/>
          </a:p>
        </p:txBody>
      </p:sp>
    </p:spTree>
    <p:extLst>
      <p:ext uri="{BB962C8B-B14F-4D97-AF65-F5344CB8AC3E}">
        <p14:creationId xmlns:p14="http://schemas.microsoft.com/office/powerpoint/2010/main" val="344376954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Next, we discuss the online applications, which</a:t>
            </a:r>
            <a:r>
              <a:rPr lang="en-CA" baseline="0" dirty="0" smtClean="0"/>
              <a:t> operate while the file system is in-use. An example of such an application is the differentiated storage service, which prioritizes caching of metadata blocks and small files. This application was difficult to implement because it requires modification of the file system to provide hints to the block layer. It also requires a lot of file-system specific code to identify the size of the file. However, with Spiffy, we have built a runtime interpretation framework that can identify and interpret metadata at the block layer without modifying the file system. Most of the runtime framework is generic, and little file-system specific code is required to support a rich set of caching policies. Using this framework, we built a block layer cache that preferentially caches files belonging to priority users. Again, you can find more details of this work in the paper.</a:t>
            </a:r>
            <a:endParaRPr lang="en-CA" dirty="0" smtClean="0"/>
          </a:p>
        </p:txBody>
      </p:sp>
      <p:sp>
        <p:nvSpPr>
          <p:cNvPr id="4" name="Slide Number Placeholder 3"/>
          <p:cNvSpPr>
            <a:spLocks noGrp="1"/>
          </p:cNvSpPr>
          <p:nvPr>
            <p:ph type="sldNum" sz="quarter" idx="10"/>
          </p:nvPr>
        </p:nvSpPr>
        <p:spPr/>
        <p:txBody>
          <a:bodyPr/>
          <a:lstStyle/>
          <a:p>
            <a:fld id="{849A0A36-F84D-437B-B821-CB3EBADC1433}" type="slidenum">
              <a:rPr lang="en-CA" smtClean="0"/>
              <a:t>31</a:t>
            </a:fld>
            <a:endParaRPr lang="en-CA"/>
          </a:p>
        </p:txBody>
      </p:sp>
    </p:spTree>
    <p:extLst>
      <p:ext uri="{BB962C8B-B14F-4D97-AF65-F5344CB8AC3E}">
        <p14:creationId xmlns:p14="http://schemas.microsoft.com/office/powerpoint/2010/main" val="49015172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also evaluated</a:t>
            </a:r>
            <a:r>
              <a:rPr lang="en-CA" baseline="0" dirty="0" smtClean="0"/>
              <a:t> the performance of the file system conversion tool. Here, we show 3 types of converters: the copy converter copies data to local disk, reformat, then copy back. We also wrote the conversion tool twice, once manually and once using Spiffy. From the graph, we can see that the copy converter is up to 50 times slower than the other two converters because it has to copy 16GB of data twice. We also compare the performance between manual vs. Spiffy converter, and found a modest 16.7% overhead for using Spiffy. This shows that using the Spiffy library can still achieve good performance, while improving the robustness of the application.</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32</a:t>
            </a:fld>
            <a:endParaRPr lang="en-CA"/>
          </a:p>
        </p:txBody>
      </p:sp>
    </p:spTree>
    <p:extLst>
      <p:ext uri="{BB962C8B-B14F-4D97-AF65-F5344CB8AC3E}">
        <p14:creationId xmlns:p14="http://schemas.microsoft.com/office/powerpoint/2010/main" val="1929725768"/>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In conclusion,</a:t>
            </a:r>
            <a:r>
              <a:rPr lang="en-CA" baseline="0" dirty="0" smtClean="0"/>
              <a:t> we have presented the Spiffy framework. We provide an annotation language for specifying file system format, and a standardized API for interpreting and traversing file system metadata. This API simplifies development of file-system aware applications by reducing the need to write file-system specific code and it enables code reuse across file systems. Lastly, from the annotated metadata definitions, we generate type-safe parsing and serialization library that implements </a:t>
            </a:r>
            <a:r>
              <a:rPr lang="en-CA" baseline="0" smtClean="0"/>
              <a:t>the Spiffy </a:t>
            </a:r>
            <a:r>
              <a:rPr lang="en-CA" baseline="0" dirty="0" smtClean="0"/>
              <a:t>API, and the </a:t>
            </a:r>
            <a:r>
              <a:rPr lang="en-CA" baseline="0" smtClean="0"/>
              <a:t>generated library </a:t>
            </a:r>
            <a:r>
              <a:rPr lang="en-CA" baseline="0" dirty="0" smtClean="0"/>
              <a:t>is robust against file system corruption and achieves good performance.</a:t>
            </a:r>
            <a:endParaRPr lang="en-CA" dirty="0"/>
          </a:p>
        </p:txBody>
      </p:sp>
      <p:sp>
        <p:nvSpPr>
          <p:cNvPr id="4" name="Slide Number Placeholder 3"/>
          <p:cNvSpPr>
            <a:spLocks noGrp="1"/>
          </p:cNvSpPr>
          <p:nvPr>
            <p:ph type="sldNum" sz="quarter" idx="10"/>
          </p:nvPr>
        </p:nvSpPr>
        <p:spPr/>
        <p:txBody>
          <a:bodyPr/>
          <a:lstStyle/>
          <a:p>
            <a:fld id="{B5B5BF96-4013-477F-9949-176AD53AFF60}" type="slidenum">
              <a:rPr lang="en-CA" smtClean="0"/>
              <a:t>33</a:t>
            </a:fld>
            <a:endParaRPr lang="en-CA"/>
          </a:p>
        </p:txBody>
      </p:sp>
    </p:spTree>
    <p:extLst>
      <p:ext uri="{BB962C8B-B14F-4D97-AF65-F5344CB8AC3E}">
        <p14:creationId xmlns:p14="http://schemas.microsoft.com/office/powerpoint/2010/main" val="150789731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We evaluated the programming effort for building Spiffy applications, and show that for read</a:t>
            </a:r>
            <a:r>
              <a:rPr lang="en-CA" baseline="0" dirty="0" smtClean="0"/>
              <a:t>-only applications, for both online and offline, we can drastically reduce the amount of file-system specific code that needs to be written. In most cases, the file-system specific code is merely 10% or fewer compared to the generic application code. For read-write applications, however, since file-system specific metadata structures need to be initialized, there is unfortunately, very little saving, as is the case for the conversion tool. Another exception is the free space tool for F2FS. Because its block allocation information is very complex, the amount of file-system specific code is much more compared to the other two file systems.</a:t>
            </a:r>
            <a:endParaRPr lang="en-CA" dirty="0"/>
          </a:p>
        </p:txBody>
      </p:sp>
      <p:sp>
        <p:nvSpPr>
          <p:cNvPr id="4" name="Slide Number Placeholder 3"/>
          <p:cNvSpPr>
            <a:spLocks noGrp="1"/>
          </p:cNvSpPr>
          <p:nvPr>
            <p:ph type="sldNum" sz="quarter" idx="10"/>
          </p:nvPr>
        </p:nvSpPr>
        <p:spPr/>
        <p:txBody>
          <a:bodyPr/>
          <a:lstStyle/>
          <a:p>
            <a:fld id="{849A0A36-F84D-437B-B821-CB3EBADC1433}" type="slidenum">
              <a:rPr lang="en-CA" smtClean="0"/>
              <a:t>34</a:t>
            </a:fld>
            <a:endParaRPr lang="en-CA"/>
          </a:p>
        </p:txBody>
      </p:sp>
    </p:spTree>
    <p:extLst>
      <p:ext uri="{BB962C8B-B14F-4D97-AF65-F5344CB8AC3E}">
        <p14:creationId xmlns:p14="http://schemas.microsoft.com/office/powerpoint/2010/main" val="56499183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A" dirty="0" smtClean="0"/>
              <a:t>Comparison of output or result needs</a:t>
            </a:r>
            <a:r>
              <a:rPr lang="en-CA" baseline="0" dirty="0" smtClean="0"/>
              <a:t> to </a:t>
            </a:r>
            <a:r>
              <a:rPr lang="en-CA" baseline="0" smtClean="0"/>
              <a:t>be emphasize</a:t>
            </a:r>
            <a:endParaRPr lang="en-CA"/>
          </a:p>
        </p:txBody>
      </p:sp>
      <p:sp>
        <p:nvSpPr>
          <p:cNvPr id="4" name="Slide Number Placeholder 3"/>
          <p:cNvSpPr>
            <a:spLocks noGrp="1"/>
          </p:cNvSpPr>
          <p:nvPr>
            <p:ph type="sldNum" sz="quarter" idx="10"/>
          </p:nvPr>
        </p:nvSpPr>
        <p:spPr/>
        <p:txBody>
          <a:bodyPr/>
          <a:lstStyle/>
          <a:p>
            <a:fld id="{849A0A36-F84D-437B-B821-CB3EBADC1433}" type="slidenum">
              <a:rPr lang="en-CA" smtClean="0"/>
              <a:t>35</a:t>
            </a:fld>
            <a:endParaRPr lang="en-CA"/>
          </a:p>
        </p:txBody>
      </p:sp>
    </p:spTree>
    <p:extLst>
      <p:ext uri="{BB962C8B-B14F-4D97-AF65-F5344CB8AC3E}">
        <p14:creationId xmlns:p14="http://schemas.microsoft.com/office/powerpoint/2010/main" val="422521042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bg>
      <p:bgPr>
        <a:solidFill>
          <a:schemeClr val="accent1">
            <a:lumMod val="90000"/>
            <a:lumOff val="10000"/>
          </a:schemeClr>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684211" y="685800"/>
            <a:ext cx="9129091" cy="2167468"/>
          </a:xfrm>
        </p:spPr>
        <p:txBody>
          <a:bodyPr anchor="b">
            <a:normAutofit/>
          </a:bodyPr>
          <a:lstStyle>
            <a:lvl1pPr algn="l">
              <a:defRPr sz="5400" cap="none" baseline="0">
                <a:solidFill>
                  <a:schemeClr val="tx1"/>
                </a:solidFill>
                <a:effectLst/>
              </a:defRPr>
            </a:lvl1pPr>
          </a:lstStyle>
          <a:p>
            <a:r>
              <a:rPr lang="en-US" dirty="0" smtClean="0"/>
              <a:t>Click to edit Master title style</a:t>
            </a:r>
            <a:endParaRPr lang="en-US" dirty="0"/>
          </a:p>
        </p:txBody>
      </p:sp>
      <p:sp>
        <p:nvSpPr>
          <p:cNvPr id="3" name="Subtitle 2"/>
          <p:cNvSpPr>
            <a:spLocks noGrp="1"/>
          </p:cNvSpPr>
          <p:nvPr>
            <p:ph type="subTitle" idx="1"/>
          </p:nvPr>
        </p:nvSpPr>
        <p:spPr>
          <a:xfrm>
            <a:off x="684212" y="3037337"/>
            <a:ext cx="7694630" cy="2753864"/>
          </a:xfrm>
        </p:spPr>
        <p:txBody>
          <a:bodyPr anchor="t">
            <a:normAutofit/>
          </a:bodyPr>
          <a:lstStyle>
            <a:lvl1pPr marL="0" indent="0" algn="l">
              <a:buNone/>
              <a:defRPr sz="2400" b="0">
                <a:solidFill>
                  <a:schemeClr val="tx1"/>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dirty="0" smtClean="0"/>
              <a:t>Click to edit Master subtitle style</a:t>
            </a:r>
            <a:endParaRPr lang="en-US" dirty="0"/>
          </a:p>
        </p:txBody>
      </p:sp>
      <p:sp>
        <p:nvSpPr>
          <p:cNvPr id="4" name="Date Placeholder 3"/>
          <p:cNvSpPr>
            <a:spLocks noGrp="1"/>
          </p:cNvSpPr>
          <p:nvPr>
            <p:ph type="dt" sz="half" idx="10"/>
          </p:nvPr>
        </p:nvSpPr>
        <p:spPr/>
        <p:txBody>
          <a:bodyPr/>
          <a:lstStyle/>
          <a:p>
            <a:fld id="{0145D206-3748-4927-8C33-DF34FC1F64A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grpSp>
        <p:nvGrpSpPr>
          <p:cNvPr id="7" name="Group 6"/>
          <p:cNvGrpSpPr/>
          <p:nvPr userDrawn="1"/>
        </p:nvGrpSpPr>
        <p:grpSpPr>
          <a:xfrm rot="16200000" flipH="1" flipV="1">
            <a:off x="9096637" y="3762638"/>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17227107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4000" b="1" cap="none" baseline="0"/>
            </a:lvl1pPr>
          </a:lstStyle>
          <a:p>
            <a:r>
              <a:rPr lang="en-US" dirty="0" smtClean="0"/>
              <a:t>Click to edit Master title style</a:t>
            </a:r>
            <a:endParaRPr lang="en-US" dirty="0"/>
          </a:p>
        </p:txBody>
      </p:sp>
      <p:sp>
        <p:nvSpPr>
          <p:cNvPr id="3" name="Content Placeholder 2"/>
          <p:cNvSpPr>
            <a:spLocks noGrp="1"/>
          </p:cNvSpPr>
          <p:nvPr>
            <p:ph idx="1"/>
          </p:nvPr>
        </p:nvSpPr>
        <p:spPr>
          <a:xfrm>
            <a:off x="684211" y="1515358"/>
            <a:ext cx="10285797" cy="4656842"/>
          </a:xfrm>
        </p:spPr>
        <p:txBody>
          <a:bodyPr anchor="t">
            <a:noAutofit/>
          </a:bodyPr>
          <a:lstStyle>
            <a:lvl1pPr>
              <a:defRPr sz="2400"/>
            </a:lvl1pPr>
            <a:lvl2pPr>
              <a:defRPr sz="2000"/>
            </a:lvl2pPr>
            <a:lvl3pPr>
              <a:defRPr sz="1800"/>
            </a:lvl3pPr>
            <a:lvl4pPr>
              <a:defRPr sz="1600"/>
            </a:lvl4pPr>
            <a:lvl5pPr>
              <a:defRPr sz="1600"/>
            </a:lvl5p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10"/>
          </p:nvPr>
        </p:nvSpPr>
        <p:spPr/>
        <p:txBody>
          <a:bodyPr/>
          <a:lstStyle/>
          <a:p>
            <a:fld id="{D6AD7D9F-39FD-4B95-A4F0-514D658B152C}" type="datetime1">
              <a:rPr lang="en-CA" smtClean="0"/>
              <a:t>2018-02-09</a:t>
            </a:fld>
            <a:endParaRPr lang="en-CA"/>
          </a:p>
        </p:txBody>
      </p:sp>
      <p:sp>
        <p:nvSpPr>
          <p:cNvPr id="5" name="Footer Placeholder 4"/>
          <p:cNvSpPr>
            <a:spLocks noGrp="1"/>
          </p:cNvSpPr>
          <p:nvPr>
            <p:ph type="ftr" sz="quarter" idx="11"/>
          </p:nvPr>
        </p:nvSpPr>
        <p:spPr>
          <a:xfrm>
            <a:off x="684212" y="6172200"/>
            <a:ext cx="10285796" cy="365125"/>
          </a:xfrm>
        </p:spPr>
        <p:txBody>
          <a:bodyPr/>
          <a:lstStyle>
            <a:lvl1pPr>
              <a:defRPr sz="1200"/>
            </a:lvl1pPr>
          </a:lstStyle>
          <a:p>
            <a:endParaRPr lang="en-CA" dirty="0"/>
          </a:p>
        </p:txBody>
      </p:sp>
      <p:sp>
        <p:nvSpPr>
          <p:cNvPr id="6" name="Slide Number Placeholder 5"/>
          <p:cNvSpPr>
            <a:spLocks noGrp="1"/>
          </p:cNvSpPr>
          <p:nvPr>
            <p:ph type="sldNum" sz="quarter" idx="12"/>
          </p:nvPr>
        </p:nvSpPr>
        <p:spPr/>
        <p:txBody>
          <a:bodyPr/>
          <a:lstStyle>
            <a:lvl1pPr>
              <a:defRPr sz="2000"/>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6828991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84211" y="2006600"/>
            <a:ext cx="8534401" cy="2281600"/>
          </a:xfrm>
        </p:spPr>
        <p:txBody>
          <a:bodyPr anchor="b">
            <a:normAutofit/>
          </a:bodyPr>
          <a:lstStyle>
            <a:lvl1pPr algn="l">
              <a:defRPr sz="36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3" y="4495800"/>
            <a:ext cx="8534400" cy="14986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7D257ED4-7149-4100-B966-397E56D6DA55}"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33809448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Content Placeholder 2"/>
          <p:cNvSpPr>
            <a:spLocks noGrp="1"/>
          </p:cNvSpPr>
          <p:nvPr>
            <p:ph sz="half" idx="1"/>
          </p:nvPr>
        </p:nvSpPr>
        <p:spPr>
          <a:xfrm>
            <a:off x="684211" y="1515361"/>
            <a:ext cx="5123089" cy="4656839"/>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Content Placeholder 3"/>
          <p:cNvSpPr>
            <a:spLocks noGrp="1"/>
          </p:cNvSpPr>
          <p:nvPr>
            <p:ph sz="half" idx="2"/>
          </p:nvPr>
        </p:nvSpPr>
        <p:spPr>
          <a:xfrm>
            <a:off x="5808133" y="1515362"/>
            <a:ext cx="4934479" cy="4656838"/>
          </a:xfrm>
        </p:spPr>
        <p:txBody>
          <a:bodyPr>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Date Placeholder 4"/>
          <p:cNvSpPr>
            <a:spLocks noGrp="1"/>
          </p:cNvSpPr>
          <p:nvPr>
            <p:ph type="dt" sz="half" idx="10"/>
          </p:nvPr>
        </p:nvSpPr>
        <p:spPr/>
        <p:txBody>
          <a:bodyPr/>
          <a:lstStyle/>
          <a:p>
            <a:fld id="{9ACE3152-893D-476F-92C8-DC87664CFA37}"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54166706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dirty="0" smtClean="0"/>
              <a:t>Click to edit Master title style</a:t>
            </a:r>
            <a:endParaRPr lang="en-US" dirty="0"/>
          </a:p>
        </p:txBody>
      </p:sp>
      <p:sp>
        <p:nvSpPr>
          <p:cNvPr id="3" name="Text Placeholder 2"/>
          <p:cNvSpPr>
            <a:spLocks noGrp="1"/>
          </p:cNvSpPr>
          <p:nvPr>
            <p:ph type="body" idx="1"/>
          </p:nvPr>
        </p:nvSpPr>
        <p:spPr>
          <a:xfrm>
            <a:off x="972080" y="1515357"/>
            <a:ext cx="4649787"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4" name="Content Placeholder 3"/>
          <p:cNvSpPr>
            <a:spLocks noGrp="1"/>
          </p:cNvSpPr>
          <p:nvPr>
            <p:ph sz="half" idx="2"/>
          </p:nvPr>
        </p:nvSpPr>
        <p:spPr>
          <a:xfrm>
            <a:off x="684211" y="2100086"/>
            <a:ext cx="4937655"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5" name="Text Placeholder 4"/>
          <p:cNvSpPr>
            <a:spLocks noGrp="1"/>
          </p:cNvSpPr>
          <p:nvPr>
            <p:ph type="body" sz="quarter" idx="3"/>
          </p:nvPr>
        </p:nvSpPr>
        <p:spPr>
          <a:xfrm>
            <a:off x="6035939" y="1523824"/>
            <a:ext cx="4665134" cy="576262"/>
          </a:xfrm>
        </p:spPr>
        <p:txBody>
          <a:bodyPr anchor="b">
            <a:noAutofit/>
          </a:bodyPr>
          <a:lstStyle>
            <a:lvl1pPr marL="0" indent="0">
              <a:buNone/>
              <a:defRPr sz="2400" b="0">
                <a:solidFill>
                  <a:schemeClr val="bg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smtClean="0"/>
              <a:t>Click to edit Master text styles</a:t>
            </a:r>
          </a:p>
        </p:txBody>
      </p:sp>
      <p:sp>
        <p:nvSpPr>
          <p:cNvPr id="6" name="Content Placeholder 5"/>
          <p:cNvSpPr>
            <a:spLocks noGrp="1"/>
          </p:cNvSpPr>
          <p:nvPr>
            <p:ph sz="quarter" idx="4"/>
          </p:nvPr>
        </p:nvSpPr>
        <p:spPr>
          <a:xfrm>
            <a:off x="5763418" y="2100086"/>
            <a:ext cx="4929188" cy="4072114"/>
          </a:xfrm>
        </p:spPr>
        <p:txBody>
          <a:bodyPr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7" name="Date Placeholder 6"/>
          <p:cNvSpPr>
            <a:spLocks noGrp="1"/>
          </p:cNvSpPr>
          <p:nvPr>
            <p:ph type="dt" sz="half" idx="10"/>
          </p:nvPr>
        </p:nvSpPr>
        <p:spPr/>
        <p:txBody>
          <a:bodyPr/>
          <a:lstStyle/>
          <a:p>
            <a:fld id="{CB2930E9-C17A-4D90-BAE8-42423BBE919E}" type="datetime1">
              <a:rPr lang="en-CA" smtClean="0"/>
              <a:t>2018-02-09</a:t>
            </a:fld>
            <a:endParaRPr lang="en-CA"/>
          </a:p>
        </p:txBody>
      </p:sp>
      <p:sp>
        <p:nvSpPr>
          <p:cNvPr id="8" name="Footer Placeholder 7"/>
          <p:cNvSpPr>
            <a:spLocks noGrp="1"/>
          </p:cNvSpPr>
          <p:nvPr>
            <p:ph type="ftr" sz="quarter" idx="11"/>
          </p:nvPr>
        </p:nvSpPr>
        <p:spPr/>
        <p:txBody>
          <a:bodyPr/>
          <a:lstStyle/>
          <a:p>
            <a:endParaRPr lang="en-CA"/>
          </a:p>
        </p:txBody>
      </p:sp>
      <p:sp>
        <p:nvSpPr>
          <p:cNvPr id="9" name="Slide Number Placeholder 8"/>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6960482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3" name="Date Placeholder 2"/>
          <p:cNvSpPr>
            <a:spLocks noGrp="1"/>
          </p:cNvSpPr>
          <p:nvPr>
            <p:ph type="dt" sz="half" idx="10"/>
          </p:nvPr>
        </p:nvSpPr>
        <p:spPr/>
        <p:txBody>
          <a:bodyPr/>
          <a:lstStyle/>
          <a:p>
            <a:fld id="{32659AD7-8F94-4BFD-9315-264212F1BDBC}"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92938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DA852F67-5290-4349-8ADA-9B77C8B30CA1}" type="datetime1">
              <a:rPr lang="en-CA" smtClean="0"/>
              <a:t>2018-02-09</a:t>
            </a:fld>
            <a:endParaRPr lang="en-CA"/>
          </a:p>
        </p:txBody>
      </p:sp>
      <p:sp>
        <p:nvSpPr>
          <p:cNvPr id="3" name="Footer Placeholder 2"/>
          <p:cNvSpPr>
            <a:spLocks noGrp="1"/>
          </p:cNvSpPr>
          <p:nvPr>
            <p:ph type="ftr" sz="quarter" idx="11"/>
          </p:nvPr>
        </p:nvSpPr>
        <p:spPr/>
        <p:txBody>
          <a:bodyPr/>
          <a:lstStyle/>
          <a:p>
            <a:endParaRPr lang="en-CA"/>
          </a:p>
        </p:txBody>
      </p:sp>
      <p:sp>
        <p:nvSpPr>
          <p:cNvPr id="4" name="Slide Number Placeholder 3"/>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357509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7085012" y="685800"/>
            <a:ext cx="3657600" cy="1371600"/>
          </a:xfrm>
        </p:spPr>
        <p:txBody>
          <a:bodyPr anchor="b">
            <a:normAutofit/>
          </a:bodyPr>
          <a:lstStyle>
            <a:lvl1pPr algn="l">
              <a:defRPr sz="2400" b="0"/>
            </a:lvl1pPr>
          </a:lstStyle>
          <a:p>
            <a:r>
              <a:rPr lang="en-US" smtClean="0"/>
              <a:t>Click to edit Master title style</a:t>
            </a:r>
            <a:endParaRPr lang="en-US" dirty="0"/>
          </a:p>
        </p:txBody>
      </p:sp>
      <p:sp>
        <p:nvSpPr>
          <p:cNvPr id="3" name="Content Placeholder 2"/>
          <p:cNvSpPr>
            <a:spLocks noGrp="1"/>
          </p:cNvSpPr>
          <p:nvPr>
            <p:ph idx="1"/>
          </p:nvPr>
        </p:nvSpPr>
        <p:spPr>
          <a:xfrm>
            <a:off x="684212" y="685800"/>
            <a:ext cx="5943601" cy="5308600"/>
          </a:xfrm>
        </p:spPr>
        <p:txBody>
          <a:bodyPr anchor="ctr">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Text Placeholder 3"/>
          <p:cNvSpPr>
            <a:spLocks noGrp="1"/>
          </p:cNvSpPr>
          <p:nvPr>
            <p:ph type="body" sz="half" idx="2"/>
          </p:nvPr>
        </p:nvSpPr>
        <p:spPr>
          <a:xfrm>
            <a:off x="7085012" y="2209799"/>
            <a:ext cx="3657600" cy="2091267"/>
          </a:xfrm>
        </p:spPr>
        <p:txBody>
          <a:bodyPr anchor="t">
            <a:normAutofit/>
          </a:bodyPr>
          <a:lstStyle>
            <a:lvl1pPr marL="0" indent="0">
              <a:buNone/>
              <a:defRPr sz="16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AA9F9A6-54E7-4285-928E-6A5CE63E658D}"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06049492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722812" y="1447800"/>
            <a:ext cx="6019800" cy="1143000"/>
          </a:xfrm>
        </p:spPr>
        <p:txBody>
          <a:bodyPr anchor="b">
            <a:normAutofit/>
          </a:bodyPr>
          <a:lstStyle>
            <a:lvl1pPr algn="l">
              <a:defRPr sz="2800" b="0"/>
            </a:lvl1pPr>
          </a:lstStyle>
          <a:p>
            <a:r>
              <a:rPr lang="en-US" smtClean="0"/>
              <a:t>Click to edit Master title style</a:t>
            </a:r>
            <a:endParaRPr lang="en-US" dirty="0"/>
          </a:p>
        </p:txBody>
      </p:sp>
      <p:sp>
        <p:nvSpPr>
          <p:cNvPr id="14" name="Picture Placeholder 2"/>
          <p:cNvSpPr>
            <a:spLocks noGrp="1" noChangeAspect="1"/>
          </p:cNvSpPr>
          <p:nvPr>
            <p:ph type="pic" idx="1"/>
          </p:nvPr>
        </p:nvSpPr>
        <p:spPr>
          <a:xfrm>
            <a:off x="989012" y="914400"/>
            <a:ext cx="3280974" cy="45720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4" name="Text Placeholder 3"/>
          <p:cNvSpPr>
            <a:spLocks noGrp="1"/>
          </p:cNvSpPr>
          <p:nvPr>
            <p:ph type="body" sz="half" idx="2"/>
          </p:nvPr>
        </p:nvSpPr>
        <p:spPr>
          <a:xfrm>
            <a:off x="4722812" y="2777066"/>
            <a:ext cx="6021388" cy="2048933"/>
          </a:xfrm>
        </p:spPr>
        <p:txBody>
          <a:bodyPr anchor="t">
            <a:normAutofit/>
          </a:bodyPr>
          <a:lstStyle>
            <a:lvl1pPr marL="0" indent="0">
              <a:buNone/>
              <a:defRPr sz="18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6A9DADFC-E42D-4E18-8E7A-1F87E4DC64CF}" type="datetime1">
              <a:rPr lang="en-CA" smtClean="0"/>
              <a:t>2018-02-09</a:t>
            </a:fld>
            <a:endParaRPr lang="en-CA"/>
          </a:p>
        </p:txBody>
      </p:sp>
      <p:sp>
        <p:nvSpPr>
          <p:cNvPr id="6" name="Footer Placeholder 5"/>
          <p:cNvSpPr>
            <a:spLocks noGrp="1"/>
          </p:cNvSpPr>
          <p:nvPr>
            <p:ph type="ftr" sz="quarter" idx="11"/>
          </p:nvPr>
        </p:nvSpPr>
        <p:spPr/>
        <p:txBody>
          <a:bodyPr/>
          <a:lstStyle/>
          <a:p>
            <a:endParaRPr lang="en-CA"/>
          </a:p>
        </p:txBody>
      </p:sp>
      <p:sp>
        <p:nvSpPr>
          <p:cNvPr id="7" name="Slide Number Placeholder 6"/>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35510327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Panoramic Picture with Capti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dirty="0"/>
          </a:p>
        </p:txBody>
      </p:sp>
      <p:sp>
        <p:nvSpPr>
          <p:cNvPr id="17" name="Picture Placeholder 2"/>
          <p:cNvSpPr>
            <a:spLocks noGrp="1" noChangeAspect="1"/>
          </p:cNvSpPr>
          <p:nvPr>
            <p:ph type="pic" idx="13"/>
          </p:nvPr>
        </p:nvSpPr>
        <p:spPr>
          <a:xfrm>
            <a:off x="685800" y="533400"/>
            <a:ext cx="10818812" cy="3124200"/>
          </a:xfrm>
          <a:prstGeom prst="snip2DiagRect">
            <a:avLst>
              <a:gd name="adj1" fmla="val 10815"/>
              <a:gd name="adj2" fmla="val 0"/>
            </a:avLst>
          </a:prstGeom>
          <a:ln w="15875">
            <a:solidFill>
              <a:schemeClr val="tx1">
                <a:alpha val="40000"/>
              </a:schemeClr>
            </a:solidFill>
          </a:ln>
          <a:effectLst>
            <a:innerShdw blurRad="57150" dist="38100" dir="14460000">
              <a:srgbClr val="000000">
                <a:alpha val="70000"/>
              </a:srgbClr>
            </a:innerShdw>
          </a:effectLst>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smtClean="0"/>
              <a:t>Click icon to add picture</a:t>
            </a:r>
            <a:endParaRPr lang="en-US" dirty="0"/>
          </a:p>
        </p:txBody>
      </p:sp>
      <p:sp>
        <p:nvSpPr>
          <p:cNvPr id="16" name="Text Placeholder 9"/>
          <p:cNvSpPr>
            <a:spLocks noGrp="1"/>
          </p:cNvSpPr>
          <p:nvPr>
            <p:ph type="body" sz="quarter" idx="14"/>
          </p:nvPr>
        </p:nvSpPr>
        <p:spPr>
          <a:xfrm>
            <a:off x="914402" y="3843867"/>
            <a:ext cx="8304210" cy="457200"/>
          </a:xfrm>
        </p:spPr>
        <p:txBody>
          <a:bodyPr anchor="t">
            <a:normAutofit/>
          </a:bodyPr>
          <a:lstStyle>
            <a:lvl1pPr marL="0" indent="0">
              <a:buFontTx/>
              <a:buNone/>
              <a:defRPr sz="1600"/>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Date Placeholder 2"/>
          <p:cNvSpPr>
            <a:spLocks noGrp="1"/>
          </p:cNvSpPr>
          <p:nvPr>
            <p:ph type="dt" sz="half" idx="10"/>
          </p:nvPr>
        </p:nvSpPr>
        <p:spPr/>
        <p:txBody>
          <a:bodyPr/>
          <a:lstStyle/>
          <a:p>
            <a:fld id="{C89DCB4F-0D89-4D46-BA02-4EEC06F0D222}" type="datetime1">
              <a:rPr lang="en-CA" smtClean="0"/>
              <a:t>2018-02-09</a:t>
            </a:fld>
            <a:endParaRPr lang="en-CA"/>
          </a:p>
        </p:txBody>
      </p:sp>
      <p:sp>
        <p:nvSpPr>
          <p:cNvPr id="4" name="Footer Placeholder 3"/>
          <p:cNvSpPr>
            <a:spLocks noGrp="1"/>
          </p:cNvSpPr>
          <p:nvPr>
            <p:ph type="ftr" sz="quarter" idx="11"/>
          </p:nvPr>
        </p:nvSpPr>
        <p:spPr/>
        <p:txBody>
          <a:bodyPr/>
          <a:lstStyle/>
          <a:p>
            <a:endParaRPr lang="en-CA"/>
          </a:p>
        </p:txBody>
      </p:sp>
      <p:sp>
        <p:nvSpPr>
          <p:cNvPr id="5" name="Slide Number Placeholder 4"/>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0329535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anchor="ctr">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2" y="4114800"/>
            <a:ext cx="8535988" cy="1879600"/>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C2696F7-A71E-484D-AC3A-CE094204994B}"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498958645"/>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1411" y="685800"/>
            <a:ext cx="9144001"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1446212" y="3429000"/>
            <a:ext cx="8534400" cy="381000"/>
          </a:xfrm>
        </p:spPr>
        <p:txBody>
          <a:bodyPr anchor="ctr"/>
          <a:lstStyle>
            <a:lvl1pPr marL="0" indent="0">
              <a:buFontTx/>
              <a:buNone/>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smtClean="0"/>
              <a:t>Click to edit Master text styles</a:t>
            </a:r>
          </a:p>
        </p:txBody>
      </p:sp>
      <p:sp>
        <p:nvSpPr>
          <p:cNvPr id="3" name="Text Placeholder 2"/>
          <p:cNvSpPr>
            <a:spLocks noGrp="1"/>
          </p:cNvSpPr>
          <p:nvPr>
            <p:ph type="body" idx="1"/>
          </p:nvPr>
        </p:nvSpPr>
        <p:spPr>
          <a:xfrm>
            <a:off x="684213" y="4301067"/>
            <a:ext cx="8534400" cy="1684865"/>
          </a:xfrm>
        </p:spPr>
        <p:txBody>
          <a:bodyPr anchor="ctr">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FF2026A3-D9E4-42EE-8898-5602D67646A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4" name="TextBox 13"/>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5" name="TextBox 14"/>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78670628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84212" y="3429000"/>
            <a:ext cx="8534400" cy="1697400"/>
          </a:xfrm>
        </p:spPr>
        <p:txBody>
          <a:bodyPr anchor="b">
            <a:normAutofit/>
          </a:bodyPr>
          <a:lstStyle>
            <a:lvl1pPr algn="l">
              <a:defRPr sz="3200" b="0" cap="all"/>
            </a:lvl1pPr>
          </a:lstStyle>
          <a:p>
            <a:r>
              <a:rPr lang="en-US" smtClean="0"/>
              <a:t>Click to edit Master title style</a:t>
            </a:r>
            <a:endParaRPr lang="en-US" dirty="0"/>
          </a:p>
        </p:txBody>
      </p:sp>
      <p:sp>
        <p:nvSpPr>
          <p:cNvPr id="3" name="Text Placeholder 2"/>
          <p:cNvSpPr>
            <a:spLocks noGrp="1"/>
          </p:cNvSpPr>
          <p:nvPr>
            <p:ph type="body" idx="1"/>
          </p:nvPr>
        </p:nvSpPr>
        <p:spPr>
          <a:xfrm>
            <a:off x="684211" y="5132981"/>
            <a:ext cx="8535990" cy="860400"/>
          </a:xfrm>
        </p:spPr>
        <p:txBody>
          <a:bodyPr anchor="t">
            <a:normAutofit/>
          </a:bodyPr>
          <a:lstStyle>
            <a:lvl1pPr marL="0" indent="0" algn="l">
              <a:buNone/>
              <a:defRPr sz="20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382851CE-B33E-4D8E-B913-47C489FB132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3868579887"/>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1141413" y="685800"/>
            <a:ext cx="9144000" cy="2743200"/>
          </a:xfrm>
        </p:spPr>
        <p:txBody>
          <a:bodyPr anchor="ctr">
            <a:normAutofit/>
          </a:bodyPr>
          <a:lstStyle>
            <a:lvl1pPr algn="l">
              <a:defRPr sz="3200" b="0" cap="all">
                <a:solidFill>
                  <a:schemeClr val="tx1"/>
                </a:solidFill>
              </a:defRPr>
            </a:lvl1pPr>
          </a:lstStyle>
          <a:p>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1" cy="1049866"/>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978400"/>
            <a:ext cx="8534401" cy="1016000"/>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D0249205-445A-4022-8550-E0423D1698F6}"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
        <p:nvSpPr>
          <p:cNvPr id="11" name="TextBox 10"/>
          <p:cNvSpPr txBox="1"/>
          <p:nvPr/>
        </p:nvSpPr>
        <p:spPr>
          <a:xfrm>
            <a:off x="531812" y="812222"/>
            <a:ext cx="609600" cy="584776"/>
          </a:xfrm>
          <a:prstGeom prst="rect">
            <a:avLst/>
          </a:prstGeom>
        </p:spPr>
        <p:txBody>
          <a:bodyPr vert="horz" lIns="91440" tIns="45720" rIns="91440" bIns="45720" rtlCol="0" anchor="ctr">
            <a:noAutofit/>
          </a:bodyPr>
          <a:lstStyle/>
          <a:p>
            <a:pPr lvl="0"/>
            <a:r>
              <a:rPr lang="en-US" sz="8000" dirty="0">
                <a:solidFill>
                  <a:schemeClr val="tx1"/>
                </a:solidFill>
                <a:effectLst/>
              </a:rPr>
              <a:t>“</a:t>
            </a:r>
          </a:p>
        </p:txBody>
      </p:sp>
      <p:sp>
        <p:nvSpPr>
          <p:cNvPr id="12" name="TextBox 11"/>
          <p:cNvSpPr txBox="1"/>
          <p:nvPr/>
        </p:nvSpPr>
        <p:spPr>
          <a:xfrm>
            <a:off x="10285412" y="2768601"/>
            <a:ext cx="609600" cy="584776"/>
          </a:xfrm>
          <a:prstGeom prst="rect">
            <a:avLst/>
          </a:prstGeom>
        </p:spPr>
        <p:txBody>
          <a:bodyPr vert="horz" lIns="91440" tIns="45720" rIns="91440" bIns="45720" rtlCol="0" anchor="ctr">
            <a:noAutofit/>
          </a:bodyPr>
          <a:lstStyle/>
          <a:p>
            <a:pPr lvl="0" algn="r"/>
            <a:r>
              <a:rPr lang="en-US" sz="8000" dirty="0">
                <a:solidFill>
                  <a:schemeClr val="tx1"/>
                </a:solidFill>
                <a:effectLst/>
              </a:rPr>
              <a:t>”</a:t>
            </a:r>
          </a:p>
        </p:txBody>
      </p:sp>
    </p:spTree>
    <p:extLst>
      <p:ext uri="{BB962C8B-B14F-4D97-AF65-F5344CB8AC3E}">
        <p14:creationId xmlns:p14="http://schemas.microsoft.com/office/powerpoint/2010/main" val="3253015496"/>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4213" y="685800"/>
            <a:ext cx="10058400" cy="2743200"/>
          </a:xfrm>
        </p:spPr>
        <p:txBody>
          <a:bodyPr vert="horz" lIns="91440" tIns="45720" rIns="91440" bIns="45720" rtlCol="0" anchor="ctr">
            <a:normAutofit/>
          </a:bodyPr>
          <a:lstStyle>
            <a:lvl1pPr>
              <a:defRPr lang="en-US" b="0" dirty="0"/>
            </a:lvl1pPr>
          </a:lstStyle>
          <a:p>
            <a:pPr marL="0" lvl="0"/>
            <a:r>
              <a:rPr lang="en-US" smtClean="0"/>
              <a:t>Click to edit Master title style</a:t>
            </a:r>
            <a:endParaRPr lang="en-US" dirty="0"/>
          </a:p>
        </p:txBody>
      </p:sp>
      <p:sp>
        <p:nvSpPr>
          <p:cNvPr id="10" name="Text Placeholder 9"/>
          <p:cNvSpPr>
            <a:spLocks noGrp="1"/>
          </p:cNvSpPr>
          <p:nvPr>
            <p:ph type="body" sz="quarter" idx="13"/>
          </p:nvPr>
        </p:nvSpPr>
        <p:spPr>
          <a:xfrm>
            <a:off x="684212" y="3928534"/>
            <a:ext cx="8534400" cy="838200"/>
          </a:xfrm>
        </p:spPr>
        <p:txBody>
          <a:bodyPr vert="horz" lIns="91440" tIns="45720" rIns="91440" bIns="45720" rtlCol="0" anchor="b">
            <a:normAutofit/>
          </a:bodyPr>
          <a:lstStyle>
            <a:lvl1pPr>
              <a:buNone/>
              <a:defRPr lang="en-US" sz="2400" b="0" cap="all" dirty="0">
                <a:ln w="3175" cmpd="sng">
                  <a:noFill/>
                </a:ln>
                <a:solidFill>
                  <a:schemeClr val="tx1"/>
                </a:solidFill>
                <a:effectLst/>
              </a:defRPr>
            </a:lvl1pPr>
          </a:lstStyle>
          <a:p>
            <a:pPr marL="0" lvl="0">
              <a:spcBef>
                <a:spcPct val="0"/>
              </a:spcBef>
              <a:buNone/>
            </a:pPr>
            <a:r>
              <a:rPr lang="en-US" smtClean="0"/>
              <a:t>Click to edit Master text styles</a:t>
            </a:r>
          </a:p>
        </p:txBody>
      </p:sp>
      <p:sp>
        <p:nvSpPr>
          <p:cNvPr id="3" name="Text Placeholder 2"/>
          <p:cNvSpPr>
            <a:spLocks noGrp="1"/>
          </p:cNvSpPr>
          <p:nvPr>
            <p:ph type="body" idx="1"/>
          </p:nvPr>
        </p:nvSpPr>
        <p:spPr>
          <a:xfrm>
            <a:off x="684211" y="4766732"/>
            <a:ext cx="8534401" cy="1227667"/>
          </a:xfrm>
        </p:spPr>
        <p:txBody>
          <a:bodyPr anchor="t">
            <a:normAutofit/>
          </a:bodyPr>
          <a:lstStyle>
            <a:lvl1pPr marL="0" indent="0" algn="l">
              <a:buNone/>
              <a:defRPr sz="1800">
                <a:solidFill>
                  <a:schemeClr val="bg2">
                    <a:lumMod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4928CFC7-231B-411E-A147-D21C0786264A}"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19026641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lgn="l">
              <a:defRPr/>
            </a:lvl1pPr>
          </a:lstStyle>
          <a:p>
            <a:r>
              <a:rPr lang="en-US" smtClean="0"/>
              <a:t>Click to edit Master title style</a:t>
            </a:r>
            <a:endParaRPr lang="en-US" dirty="0"/>
          </a:p>
        </p:txBody>
      </p:sp>
      <p:sp>
        <p:nvSpPr>
          <p:cNvPr id="3" name="Vertical Text Placeholder 2"/>
          <p:cNvSpPr>
            <a:spLocks noGrp="1"/>
          </p:cNvSpPr>
          <p:nvPr>
            <p:ph type="body" orient="vert" idx="1"/>
          </p:nvPr>
        </p:nvSpPr>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E4A103E-C7C6-4893-8576-55DC8ED846C7}"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447036131"/>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85212" y="685800"/>
            <a:ext cx="2057400" cy="4572000"/>
          </a:xfrm>
        </p:spPr>
        <p:txBody>
          <a:bodyPr vert="eaVert"/>
          <a:lstStyle/>
          <a:p>
            <a:r>
              <a:rPr lang="en-US" smtClean="0"/>
              <a:t>Click to edit Master title style</a:t>
            </a:r>
            <a:endParaRPr lang="en-US" dirty="0"/>
          </a:p>
        </p:txBody>
      </p:sp>
      <p:sp>
        <p:nvSpPr>
          <p:cNvPr id="3" name="Vertical Text Placeholder 2"/>
          <p:cNvSpPr>
            <a:spLocks noGrp="1"/>
          </p:cNvSpPr>
          <p:nvPr>
            <p:ph type="body" orient="vert" idx="1"/>
          </p:nvPr>
        </p:nvSpPr>
        <p:spPr>
          <a:xfrm>
            <a:off x="685800" y="685800"/>
            <a:ext cx="7823200" cy="5308600"/>
          </a:xfrm>
        </p:spPr>
        <p:txBody>
          <a:bodyPr vert="eaVert" ancho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dirty="0"/>
          </a:p>
        </p:txBody>
      </p:sp>
      <p:sp>
        <p:nvSpPr>
          <p:cNvPr id="4" name="Date Placeholder 3"/>
          <p:cNvSpPr>
            <a:spLocks noGrp="1"/>
          </p:cNvSpPr>
          <p:nvPr>
            <p:ph type="dt" sz="half" idx="10"/>
          </p:nvPr>
        </p:nvSpPr>
        <p:spPr/>
        <p:txBody>
          <a:bodyPr/>
          <a:lstStyle/>
          <a:p>
            <a:fld id="{E79FAEEE-621B-4F9D-B0C9-9282EED4D31D}" type="datetime1">
              <a:rPr lang="en-CA" smtClean="0"/>
              <a:t>2018-02-09</a:t>
            </a:fld>
            <a:endParaRPr lang="en-CA"/>
          </a:p>
        </p:txBody>
      </p:sp>
      <p:sp>
        <p:nvSpPr>
          <p:cNvPr id="5" name="Footer Placeholder 4"/>
          <p:cNvSpPr>
            <a:spLocks noGrp="1"/>
          </p:cNvSpPr>
          <p:nvPr>
            <p:ph type="ftr" sz="quarter" idx="11"/>
          </p:nvPr>
        </p:nvSpPr>
        <p:spPr/>
        <p:txBody>
          <a:bodyPr/>
          <a:lstStyle/>
          <a:p>
            <a:endParaRPr lang="en-CA"/>
          </a:p>
        </p:txBody>
      </p:sp>
      <p:sp>
        <p:nvSpPr>
          <p:cNvPr id="6" name="Slide Number Placeholder 5"/>
          <p:cNvSpPr>
            <a:spLocks noGrp="1"/>
          </p:cNvSpPr>
          <p:nvPr>
            <p:ph type="sldNum" sz="quarter" idx="12"/>
          </p:nvPr>
        </p:nvSpPr>
        <p:spPr/>
        <p:txBody>
          <a:bodyPr/>
          <a:lstStyle/>
          <a:p>
            <a:fld id="{7B2023C8-B124-43A9-8F92-0EEF5BAA9995}" type="slidenum">
              <a:rPr lang="en-CA" smtClean="0"/>
              <a:t>‹#›</a:t>
            </a:fld>
            <a:endParaRPr lang="en-CA"/>
          </a:p>
        </p:txBody>
      </p:sp>
    </p:spTree>
    <p:extLst>
      <p:ext uri="{BB962C8B-B14F-4D97-AF65-F5344CB8AC3E}">
        <p14:creationId xmlns:p14="http://schemas.microsoft.com/office/powerpoint/2010/main" val="289914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theme" Target="../theme/theme1.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tx1"/>
        </a:solidFill>
        <a:effectLst/>
      </p:bgPr>
    </p:bg>
    <p:spTree>
      <p:nvGrpSpPr>
        <p:cNvPr id="1" name=""/>
        <p:cNvGrpSpPr/>
        <p:nvPr/>
      </p:nvGrpSpPr>
      <p:grpSpPr>
        <a:xfrm>
          <a:off x="0" y="0"/>
          <a:ext cx="0" cy="0"/>
          <a:chOff x="0" y="0"/>
          <a:chExt cx="0" cy="0"/>
        </a:xfrm>
      </p:grpSpPr>
      <p:grpSp>
        <p:nvGrpSpPr>
          <p:cNvPr id="7" name="Group 6"/>
          <p:cNvGrpSpPr/>
          <p:nvPr/>
        </p:nvGrpSpPr>
        <p:grpSpPr>
          <a:xfrm rot="16200000">
            <a:off x="9093845" y="-109806"/>
            <a:ext cx="2981858" cy="3208867"/>
            <a:chOff x="9206969" y="2963333"/>
            <a:chExt cx="2981858" cy="3208867"/>
          </a:xfrm>
        </p:grpSpPr>
        <p:cxnSp>
          <p:nvCxnSpPr>
            <p:cNvPr id="8" name="Straight Connector 7"/>
            <p:cNvCxnSpPr/>
            <p:nvPr/>
          </p:nvCxnSpPr>
          <p:spPr>
            <a:xfrm flipH="1">
              <a:off x="11276012" y="2963333"/>
              <a:ext cx="912814" cy="912812"/>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9" name="Straight Connector 8"/>
            <p:cNvCxnSpPr/>
            <p:nvPr/>
          </p:nvCxnSpPr>
          <p:spPr>
            <a:xfrm flipH="1">
              <a:off x="9206969" y="3190344"/>
              <a:ext cx="2981857" cy="2981856"/>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0" name="Straight Connector 9"/>
            <p:cNvCxnSpPr/>
            <p:nvPr/>
          </p:nvCxnSpPr>
          <p:spPr>
            <a:xfrm flipH="1">
              <a:off x="10292292" y="3285067"/>
              <a:ext cx="1896534" cy="1896533"/>
            </a:xfrm>
            <a:prstGeom prst="line">
              <a:avLst/>
            </a:prstGeom>
            <a:ln w="952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1" name="Straight Connector 10"/>
            <p:cNvCxnSpPr/>
            <p:nvPr/>
          </p:nvCxnSpPr>
          <p:spPr>
            <a:xfrm flipH="1">
              <a:off x="10443103" y="3131080"/>
              <a:ext cx="1745722" cy="1745720"/>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cxnSp>
          <p:nvCxnSpPr>
            <p:cNvPr id="12" name="Straight Connector 11"/>
            <p:cNvCxnSpPr/>
            <p:nvPr/>
          </p:nvCxnSpPr>
          <p:spPr>
            <a:xfrm flipH="1">
              <a:off x="10918826" y="3683001"/>
              <a:ext cx="1270001" cy="1269999"/>
            </a:xfrm>
            <a:prstGeom prst="line">
              <a:avLst/>
            </a:prstGeom>
            <a:ln w="28575">
              <a:solidFill>
                <a:schemeClr val="tx2"/>
              </a:solidFill>
            </a:ln>
          </p:spPr>
          <p:style>
            <a:lnRef idx="2">
              <a:schemeClr val="accent1"/>
            </a:lnRef>
            <a:fillRef idx="0">
              <a:schemeClr val="accent1"/>
            </a:fillRef>
            <a:effectRef idx="1">
              <a:schemeClr val="accent1"/>
            </a:effectRef>
            <a:fontRef idx="minor">
              <a:schemeClr val="tx1"/>
            </a:fontRef>
          </p:style>
        </p:cxnSp>
      </p:grpSp>
      <p:sp>
        <p:nvSpPr>
          <p:cNvPr id="2" name="Title Placeholder 1"/>
          <p:cNvSpPr>
            <a:spLocks noGrp="1"/>
          </p:cNvSpPr>
          <p:nvPr>
            <p:ph type="title"/>
          </p:nvPr>
        </p:nvSpPr>
        <p:spPr>
          <a:xfrm>
            <a:off x="684212" y="170"/>
            <a:ext cx="8534400" cy="1507067"/>
          </a:xfrm>
          <a:prstGeom prst="rect">
            <a:avLst/>
          </a:prstGeom>
          <a:effectLst/>
        </p:spPr>
        <p:txBody>
          <a:bodyPr vert="horz" lIns="91440" tIns="45720" rIns="91440" bIns="45720" rtlCol="0" anchor="ctr">
            <a:normAutofit/>
          </a:bodyPr>
          <a:lstStyle/>
          <a:p>
            <a:r>
              <a:rPr lang="en-US" dirty="0" smtClean="0"/>
              <a:t>Click to edit Master title style</a:t>
            </a:r>
            <a:endParaRPr lang="en-US" dirty="0"/>
          </a:p>
        </p:txBody>
      </p:sp>
      <p:sp>
        <p:nvSpPr>
          <p:cNvPr id="3" name="Text Placeholder 2"/>
          <p:cNvSpPr>
            <a:spLocks noGrp="1"/>
          </p:cNvSpPr>
          <p:nvPr>
            <p:ph type="body" idx="1"/>
          </p:nvPr>
        </p:nvSpPr>
        <p:spPr>
          <a:xfrm>
            <a:off x="684211" y="1515358"/>
            <a:ext cx="10285797" cy="4656841"/>
          </a:xfrm>
          <a:prstGeom prst="rect">
            <a:avLst/>
          </a:prstGeom>
        </p:spPr>
        <p:txBody>
          <a:bodyPr vert="horz" lIns="91440" tIns="45720" rIns="91440" bIns="45720" rtlCol="0" anchor="t">
            <a:normAutofit/>
          </a:bodyPr>
          <a:lstStyle/>
          <a:p>
            <a:pPr lvl="0"/>
            <a:r>
              <a:rPr lang="en-US" dirty="0" smtClean="0"/>
              <a:t>Click to edit Master text styles</a:t>
            </a:r>
          </a:p>
          <a:p>
            <a:pPr lvl="1"/>
            <a:r>
              <a:rPr lang="en-US" dirty="0" smtClean="0"/>
              <a:t>Second level</a:t>
            </a:r>
          </a:p>
          <a:p>
            <a:pPr lvl="2"/>
            <a:r>
              <a:rPr lang="en-US" dirty="0" smtClean="0"/>
              <a:t>Third level</a:t>
            </a:r>
          </a:p>
          <a:p>
            <a:pPr lvl="3"/>
            <a:r>
              <a:rPr lang="en-US" dirty="0" smtClean="0"/>
              <a:t>Fourth level</a:t>
            </a:r>
          </a:p>
          <a:p>
            <a:pPr lvl="4"/>
            <a:r>
              <a:rPr lang="en-US" dirty="0" smtClean="0"/>
              <a:t>Fifth level</a:t>
            </a:r>
            <a:endParaRPr lang="en-US" dirty="0"/>
          </a:p>
        </p:txBody>
      </p:sp>
      <p:sp>
        <p:nvSpPr>
          <p:cNvPr id="4" name="Date Placeholder 3"/>
          <p:cNvSpPr>
            <a:spLocks noGrp="1"/>
          </p:cNvSpPr>
          <p:nvPr>
            <p:ph type="dt" sz="half" idx="2"/>
          </p:nvPr>
        </p:nvSpPr>
        <p:spPr>
          <a:xfrm>
            <a:off x="9904412" y="6172200"/>
            <a:ext cx="1600200" cy="365125"/>
          </a:xfrm>
          <a:prstGeom prst="rect">
            <a:avLst/>
          </a:prstGeom>
        </p:spPr>
        <p:txBody>
          <a:bodyPr vert="horz" lIns="91440" tIns="45720" rIns="91440" bIns="45720" rtlCol="0" anchor="t"/>
          <a:lstStyle>
            <a:lvl1pPr algn="r">
              <a:defRPr sz="1000" b="0" i="0">
                <a:solidFill>
                  <a:schemeClr val="bg1"/>
                </a:solidFill>
                <a:effectLst/>
                <a:latin typeface="+mn-lt"/>
              </a:defRPr>
            </a:lvl1pPr>
          </a:lstStyle>
          <a:p>
            <a:fld id="{1046A6BF-9417-477F-B83E-822B9F56EF48}" type="datetime1">
              <a:rPr lang="en-CA" smtClean="0"/>
              <a:t>2018-02-09</a:t>
            </a:fld>
            <a:endParaRPr lang="en-CA" dirty="0"/>
          </a:p>
        </p:txBody>
      </p:sp>
      <p:sp>
        <p:nvSpPr>
          <p:cNvPr id="5" name="Footer Placeholder 4"/>
          <p:cNvSpPr>
            <a:spLocks noGrp="1"/>
          </p:cNvSpPr>
          <p:nvPr>
            <p:ph type="ftr" sz="quarter" idx="3"/>
          </p:nvPr>
        </p:nvSpPr>
        <p:spPr>
          <a:xfrm>
            <a:off x="684212" y="6172200"/>
            <a:ext cx="7543800" cy="365125"/>
          </a:xfrm>
          <a:prstGeom prst="rect">
            <a:avLst/>
          </a:prstGeom>
        </p:spPr>
        <p:txBody>
          <a:bodyPr vert="horz" lIns="91440" tIns="45720" rIns="91440" bIns="45720" rtlCol="0" anchor="t"/>
          <a:lstStyle>
            <a:lvl1pPr algn="l">
              <a:defRPr sz="1000" b="0" i="0">
                <a:solidFill>
                  <a:schemeClr val="bg1"/>
                </a:solidFill>
                <a:effectLst/>
                <a:latin typeface="+mn-lt"/>
              </a:defRPr>
            </a:lvl1pPr>
          </a:lstStyle>
          <a:p>
            <a:endParaRPr lang="en-CA" dirty="0"/>
          </a:p>
        </p:txBody>
      </p:sp>
      <p:sp>
        <p:nvSpPr>
          <p:cNvPr id="6" name="Slide Number Placeholder 5"/>
          <p:cNvSpPr>
            <a:spLocks noGrp="1"/>
          </p:cNvSpPr>
          <p:nvPr>
            <p:ph type="sldNum" sz="quarter" idx="4"/>
          </p:nvPr>
        </p:nvSpPr>
        <p:spPr>
          <a:xfrm>
            <a:off x="10363200" y="5578475"/>
            <a:ext cx="1142245" cy="669925"/>
          </a:xfrm>
          <a:prstGeom prst="rect">
            <a:avLst/>
          </a:prstGeom>
        </p:spPr>
        <p:txBody>
          <a:bodyPr vert="horz" lIns="91440" tIns="45720" rIns="91440" bIns="45720" rtlCol="0" anchor="b"/>
          <a:lstStyle>
            <a:lvl1pPr algn="r">
              <a:defRPr sz="2000" b="0" i="0">
                <a:solidFill>
                  <a:schemeClr val="bg1"/>
                </a:solidFill>
                <a:effectLst/>
                <a:latin typeface="+mn-lt"/>
              </a:defRPr>
            </a:lvl1pPr>
          </a:lstStyle>
          <a:p>
            <a:fld id="{7B2023C8-B124-43A9-8F92-0EEF5BAA9995}" type="slidenum">
              <a:rPr lang="en-CA" smtClean="0"/>
              <a:pPr/>
              <a:t>‹#›</a:t>
            </a:fld>
            <a:endParaRPr lang="en-CA" dirty="0"/>
          </a:p>
        </p:txBody>
      </p:sp>
    </p:spTree>
    <p:extLst>
      <p:ext uri="{BB962C8B-B14F-4D97-AF65-F5344CB8AC3E}">
        <p14:creationId xmlns:p14="http://schemas.microsoft.com/office/powerpoint/2010/main" val="220538113"/>
      </p:ext>
    </p:extLst>
  </p:cSld>
  <p:clrMap bg1="dk1" tx1="lt1" bg2="dk2" tx2="lt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 id="2147483672" r:id="rId12"/>
    <p:sldLayoutId id="2147483673" r:id="rId13"/>
    <p:sldLayoutId id="2147483674" r:id="rId14"/>
    <p:sldLayoutId id="2147483675" r:id="rId15"/>
    <p:sldLayoutId id="2147483676" r:id="rId16"/>
    <p:sldLayoutId id="2147483677" r:id="rId17"/>
  </p:sldLayoutIdLst>
  <p:hf hdr="0" ftr="0" dt="0"/>
  <p:txStyles>
    <p:titleStyle>
      <a:lvl1pPr algn="l" defTabSz="457200" rtl="0" eaLnBrk="1" latinLnBrk="0" hangingPunct="1">
        <a:spcBef>
          <a:spcPct val="0"/>
        </a:spcBef>
        <a:buNone/>
        <a:defRPr lang="en-US" sz="4000" b="1" kern="1200" cap="none" baseline="0" dirty="0" smtClean="0">
          <a:ln w="3175" cmpd="sng">
            <a:noFill/>
          </a:ln>
          <a:solidFill>
            <a:schemeClr val="bg1"/>
          </a:solidFill>
          <a:effectLst/>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5.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normAutofit fontScale="90000"/>
          </a:bodyPr>
          <a:lstStyle/>
          <a:p>
            <a:r>
              <a:rPr lang="en-CA" smtClean="0"/>
              <a:t>Spiffy: Enabling File-System Aware Storage Applications</a:t>
            </a:r>
            <a:br>
              <a:rPr lang="en-CA" smtClean="0"/>
            </a:br>
            <a:endParaRPr lang="en-CA" dirty="0"/>
          </a:p>
        </p:txBody>
      </p:sp>
      <p:sp>
        <p:nvSpPr>
          <p:cNvPr id="3" name="Subtitle 2"/>
          <p:cNvSpPr>
            <a:spLocks noGrp="1"/>
          </p:cNvSpPr>
          <p:nvPr>
            <p:ph type="subTitle" idx="1"/>
          </p:nvPr>
        </p:nvSpPr>
        <p:spPr>
          <a:xfrm>
            <a:off x="684212" y="3037337"/>
            <a:ext cx="8723948" cy="2753864"/>
          </a:xfrm>
        </p:spPr>
        <p:txBody>
          <a:bodyPr/>
          <a:lstStyle/>
          <a:p>
            <a:r>
              <a:rPr lang="en-CA" dirty="0" smtClean="0"/>
              <a:t>Jack Sun, Daniel Fryer, Joseph Chu, Matthew </a:t>
            </a:r>
            <a:r>
              <a:rPr lang="en-CA" dirty="0" err="1" smtClean="0"/>
              <a:t>Lakier</a:t>
            </a:r>
            <a:r>
              <a:rPr lang="en-CA" dirty="0" smtClean="0"/>
              <a:t>, </a:t>
            </a:r>
          </a:p>
          <a:p>
            <a:r>
              <a:rPr lang="en-CA" dirty="0" smtClean="0"/>
              <a:t>Angela </a:t>
            </a:r>
            <a:r>
              <a:rPr lang="en-CA" dirty="0" err="1" smtClean="0"/>
              <a:t>Demke</a:t>
            </a:r>
            <a:r>
              <a:rPr lang="en-CA" dirty="0" smtClean="0"/>
              <a:t> Brown, and </a:t>
            </a:r>
            <a:r>
              <a:rPr lang="en-CA" dirty="0" err="1" smtClean="0"/>
              <a:t>Ashvin</a:t>
            </a:r>
            <a:r>
              <a:rPr lang="en-CA" dirty="0" smtClean="0"/>
              <a:t> </a:t>
            </a:r>
            <a:r>
              <a:rPr lang="en-CA" dirty="0" err="1" smtClean="0"/>
              <a:t>Goel</a:t>
            </a:r>
            <a:endParaRPr lang="en-CA" dirty="0" smtClean="0"/>
          </a:p>
          <a:p>
            <a:endParaRPr lang="en-CA" dirty="0" smtClean="0"/>
          </a:p>
          <a:p>
            <a:r>
              <a:rPr lang="en-CA" i="1" dirty="0" smtClean="0"/>
              <a:t>University of Toronto</a:t>
            </a:r>
            <a:endParaRPr lang="en-CA" i="1" dirty="0"/>
          </a:p>
        </p:txBody>
      </p:sp>
    </p:spTree>
    <p:extLst>
      <p:ext uri="{BB962C8B-B14F-4D97-AF65-F5344CB8AC3E}">
        <p14:creationId xmlns:p14="http://schemas.microsoft.com/office/powerpoint/2010/main" val="2989736815"/>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Introduction</a:t>
            </a:r>
            <a:endParaRPr lang="en-CA" dirty="0"/>
          </a:p>
        </p:txBody>
      </p:sp>
      <p:sp>
        <p:nvSpPr>
          <p:cNvPr id="3" name="Content Placeholder 2"/>
          <p:cNvSpPr>
            <a:spLocks noGrp="1"/>
          </p:cNvSpPr>
          <p:nvPr>
            <p:ph idx="1"/>
          </p:nvPr>
        </p:nvSpPr>
        <p:spPr/>
        <p:txBody>
          <a:bodyPr/>
          <a:lstStyle/>
          <a:p>
            <a:r>
              <a:rPr lang="en-CA" smtClean="0"/>
              <a:t>File-system aware applications</a:t>
            </a:r>
          </a:p>
          <a:p>
            <a:pPr lvl="1"/>
            <a:r>
              <a:rPr lang="en-CA" smtClean="0"/>
              <a:t>E.g. partition editor, file system checker, defragmentation tool</a:t>
            </a:r>
          </a:p>
          <a:p>
            <a:pPr lvl="1"/>
            <a:r>
              <a:rPr lang="en-CA" smtClean="0"/>
              <a:t>Operate directly on file system metadata structures</a:t>
            </a:r>
          </a:p>
          <a:p>
            <a:pPr lvl="2"/>
            <a:r>
              <a:rPr lang="en-CA" smtClean="0"/>
              <a:t>Require detailed knowledge of file system format on disk</a:t>
            </a:r>
          </a:p>
          <a:p>
            <a:pPr lvl="2"/>
            <a:r>
              <a:rPr lang="en-CA" smtClean="0"/>
              <a:t>Bypass VFS layer</a:t>
            </a:r>
          </a:p>
          <a:p>
            <a:pPr lvl="1"/>
            <a:r>
              <a:rPr lang="en-CA" smtClean="0"/>
              <a:t>Essential for successful deployment of file system</a:t>
            </a:r>
            <a:endParaRPr lang="en-CA"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a:t>
            </a:fld>
            <a:endParaRPr lang="en-CA" dirty="0"/>
          </a:p>
        </p:txBody>
      </p:sp>
    </p:spTree>
    <p:extLst>
      <p:ext uri="{BB962C8B-B14F-4D97-AF65-F5344CB8AC3E}">
        <p14:creationId xmlns:p14="http://schemas.microsoft.com/office/powerpoint/2010/main" val="1788902864"/>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Problem</a:t>
            </a:r>
            <a:endParaRPr lang="en-CA" dirty="0"/>
          </a:p>
        </p:txBody>
      </p:sp>
      <p:sp>
        <p:nvSpPr>
          <p:cNvPr id="3" name="Content Placeholder 2"/>
          <p:cNvSpPr>
            <a:spLocks noGrp="1"/>
          </p:cNvSpPr>
          <p:nvPr>
            <p:ph idx="1"/>
          </p:nvPr>
        </p:nvSpPr>
        <p:spPr/>
        <p:txBody>
          <a:bodyPr/>
          <a:lstStyle/>
          <a:p>
            <a:r>
              <a:rPr lang="en-CA" dirty="0" smtClean="0"/>
              <a:t>Tools have to be developed from scratch for each file system</a:t>
            </a:r>
          </a:p>
          <a:p>
            <a:r>
              <a:rPr lang="en-CA" dirty="0" smtClean="0"/>
              <a:t>Tools developed only by experts</a:t>
            </a:r>
          </a:p>
          <a:p>
            <a:r>
              <a:rPr lang="en-CA" dirty="0" smtClean="0"/>
              <a:t>Bugs lead to system crash, data corruption, security vulnerability</a:t>
            </a:r>
          </a:p>
          <a:p>
            <a:endParaRPr lang="en-CA" dirty="0" smtClean="0"/>
          </a:p>
          <a:p>
            <a:r>
              <a:rPr lang="en-CA" dirty="0" smtClean="0"/>
              <a:t>Example: bug 723343 in </a:t>
            </a:r>
            <a:r>
              <a:rPr lang="en-CA" dirty="0" err="1" smtClean="0"/>
              <a:t>ntfsprogs</a:t>
            </a:r>
            <a:endParaRPr lang="en-CA" dirty="0" smtClean="0"/>
          </a:p>
          <a:p>
            <a:pPr lvl="1"/>
            <a:r>
              <a:rPr lang="en-CA" dirty="0" smtClean="0"/>
              <a:t>NTFS stores the size of MFT record as either:</a:t>
            </a:r>
          </a:p>
          <a:p>
            <a:pPr lvl="2"/>
            <a:r>
              <a:rPr lang="en-CA" dirty="0" smtClean="0"/>
              <a:t># of clusters </a:t>
            </a:r>
            <a:r>
              <a:rPr lang="en-CA" dirty="0"/>
              <a:t>per record, if value &gt; </a:t>
            </a:r>
            <a:r>
              <a:rPr lang="en-CA" dirty="0" smtClean="0"/>
              <a:t>0</a:t>
            </a:r>
          </a:p>
          <a:p>
            <a:pPr lvl="2"/>
            <a:r>
              <a:rPr lang="en-CA" dirty="0" smtClean="0"/>
              <a:t>2</a:t>
            </a:r>
            <a:r>
              <a:rPr lang="en-CA" baseline="30000" dirty="0" smtClean="0"/>
              <a:t>|value</a:t>
            </a:r>
            <a:r>
              <a:rPr lang="en-CA" baseline="30000" dirty="0"/>
              <a:t>|</a:t>
            </a:r>
            <a:r>
              <a:rPr lang="en-CA" dirty="0"/>
              <a:t>, if value &lt; </a:t>
            </a:r>
            <a:r>
              <a:rPr lang="en-CA" dirty="0" smtClean="0"/>
              <a:t>0</a:t>
            </a:r>
          </a:p>
          <a:p>
            <a:pPr lvl="1"/>
            <a:r>
              <a:rPr lang="en-CA" dirty="0" err="1" smtClean="0"/>
              <a:t>ntfsprogs</a:t>
            </a:r>
            <a:r>
              <a:rPr lang="en-CA" dirty="0" smtClean="0"/>
              <a:t> misinterprets this field, corrupting NTFS when resizing partitions</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a:t>
            </a:fld>
            <a:endParaRPr lang="en-CA" dirty="0"/>
          </a:p>
        </p:txBody>
      </p:sp>
    </p:spTree>
    <p:extLst>
      <p:ext uri="{BB962C8B-B14F-4D97-AF65-F5344CB8AC3E}">
        <p14:creationId xmlns:p14="http://schemas.microsoft.com/office/powerpoint/2010/main" val="36832523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Root Cause</a:t>
            </a:r>
            <a:endParaRPr lang="en-CA" dirty="0"/>
          </a:p>
        </p:txBody>
      </p:sp>
      <p:sp>
        <p:nvSpPr>
          <p:cNvPr id="3" name="Content Placeholder 2"/>
          <p:cNvSpPr>
            <a:spLocks noGrp="1"/>
          </p:cNvSpPr>
          <p:nvPr>
            <p:ph idx="1"/>
          </p:nvPr>
        </p:nvSpPr>
        <p:spPr/>
        <p:txBody>
          <a:bodyPr/>
          <a:lstStyle/>
          <a:p>
            <a:r>
              <a:rPr lang="en-CA" smtClean="0"/>
              <a:t>File-system applications are difficult to write</a:t>
            </a:r>
          </a:p>
          <a:p>
            <a:pPr lvl="1"/>
            <a:r>
              <a:rPr lang="en-CA" smtClean="0"/>
              <a:t>File system format complex and often poorly documented</a:t>
            </a:r>
          </a:p>
          <a:p>
            <a:pPr lvl="1"/>
            <a:r>
              <a:rPr lang="en-CA" smtClean="0"/>
              <a:t>Require detailed knowledge of format</a:t>
            </a:r>
          </a:p>
          <a:p>
            <a:pPr lvl="1"/>
            <a:r>
              <a:rPr lang="en-CA" smtClean="0"/>
              <a:t>Cannot be reused across file systems</a:t>
            </a:r>
          </a:p>
          <a:p>
            <a:pPr lvl="1"/>
            <a:r>
              <a:rPr lang="en-CA" smtClean="0"/>
              <a:t>Need to handle file system corruption</a:t>
            </a: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4</a:t>
            </a:fld>
            <a:endParaRPr lang="en-CA" dirty="0"/>
          </a:p>
        </p:txBody>
      </p:sp>
    </p:spTree>
    <p:extLst>
      <p:ext uri="{BB962C8B-B14F-4D97-AF65-F5344CB8AC3E}">
        <p14:creationId xmlns:p14="http://schemas.microsoft.com/office/powerpoint/2010/main" val="905410288"/>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Goals</a:t>
            </a:r>
            <a:endParaRPr lang="en-CA" dirty="0"/>
          </a:p>
        </p:txBody>
      </p:sp>
      <p:sp>
        <p:nvSpPr>
          <p:cNvPr id="3" name="Content Placeholder 2"/>
          <p:cNvSpPr>
            <a:spLocks noGrp="1"/>
          </p:cNvSpPr>
          <p:nvPr>
            <p:ph idx="1"/>
          </p:nvPr>
        </p:nvSpPr>
        <p:spPr/>
        <p:txBody>
          <a:bodyPr/>
          <a:lstStyle/>
          <a:p>
            <a:r>
              <a:rPr lang="en-CA" smtClean="0"/>
              <a:t>Simplify development of file-system aware applications</a:t>
            </a:r>
          </a:p>
          <a:p>
            <a:pPr lvl="1"/>
            <a:r>
              <a:rPr lang="en-CA" smtClean="0"/>
              <a:t>Reduce file-system specific code</a:t>
            </a:r>
          </a:p>
          <a:p>
            <a:pPr lvl="1"/>
            <a:r>
              <a:rPr lang="en-CA" smtClean="0"/>
              <a:t>Enable code reuse across file systems</a:t>
            </a:r>
          </a:p>
          <a:p>
            <a:endParaRPr lang="en-CA" smtClean="0"/>
          </a:p>
          <a:p>
            <a:r>
              <a:rPr lang="en-CA" smtClean="0"/>
              <a:t>Improve robustness of these applications</a:t>
            </a:r>
          </a:p>
          <a:p>
            <a:pPr lvl="1"/>
            <a:r>
              <a:rPr lang="en-CA" smtClean="0"/>
              <a:t>Enable correct traversal of file system metadata</a:t>
            </a:r>
          </a:p>
          <a:p>
            <a:pPr lvl="1"/>
            <a:r>
              <a:rPr lang="en-CA" smtClean="0"/>
              <a:t>Ensure type safe access to file system structures</a:t>
            </a:r>
          </a:p>
          <a:p>
            <a:pPr lvl="2"/>
            <a:r>
              <a:rPr lang="en-CA" smtClean="0"/>
              <a:t>Helps detect corruption for both read and write</a:t>
            </a:r>
          </a:p>
          <a:p>
            <a:pPr lvl="2"/>
            <a:r>
              <a:rPr lang="en-CA" smtClean="0"/>
              <a:t>Helps reduce error propagation, and further corruption</a:t>
            </a:r>
          </a:p>
          <a:p>
            <a:pPr lvl="2"/>
            <a:endParaRPr lang="en-CA" smtClean="0"/>
          </a:p>
          <a:p>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5</a:t>
            </a:fld>
            <a:endParaRPr lang="en-CA" dirty="0"/>
          </a:p>
        </p:txBody>
      </p:sp>
    </p:spTree>
    <p:extLst>
      <p:ext uri="{BB962C8B-B14F-4D97-AF65-F5344CB8AC3E}">
        <p14:creationId xmlns:p14="http://schemas.microsoft.com/office/powerpoint/2010/main" val="476993693"/>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Approach: Spiffy Framework</a:t>
            </a:r>
            <a:endParaRPr lang="en-CA" dirty="0"/>
          </a:p>
        </p:txBody>
      </p:sp>
      <p:sp>
        <p:nvSpPr>
          <p:cNvPr id="3" name="Content Placeholder 2"/>
          <p:cNvSpPr>
            <a:spLocks noGrp="1"/>
          </p:cNvSpPr>
          <p:nvPr>
            <p:ph idx="1"/>
          </p:nvPr>
        </p:nvSpPr>
        <p:spPr/>
        <p:txBody>
          <a:bodyPr/>
          <a:lstStyle/>
          <a:p>
            <a:r>
              <a:rPr lang="en-CA" smtClean="0"/>
              <a:t>File system developers specify the format of their file system</a:t>
            </a:r>
          </a:p>
          <a:p>
            <a:r>
              <a:rPr lang="en-CA" smtClean="0"/>
              <a:t>Spiffy uses specification to generate parsing and serialization library </a:t>
            </a:r>
          </a:p>
          <a:p>
            <a:r>
              <a:rPr lang="en-CA" smtClean="0"/>
              <a:t>Developers use library to build robust file-system aware applications</a:t>
            </a:r>
          </a:p>
          <a:p>
            <a:endParaRPr lang="en-CA" smtClean="0"/>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6</a:t>
            </a:fld>
            <a:endParaRPr lang="en-CA" dirty="0"/>
          </a:p>
        </p:txBody>
      </p:sp>
    </p:spTree>
    <p:extLst>
      <p:ext uri="{BB962C8B-B14F-4D97-AF65-F5344CB8AC3E}">
        <p14:creationId xmlns:p14="http://schemas.microsoft.com/office/powerpoint/2010/main" val="1853963608"/>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Specifying Format</a:t>
            </a:r>
            <a:endParaRPr lang="en-CA" dirty="0"/>
          </a:p>
        </p:txBody>
      </p:sp>
      <p:sp>
        <p:nvSpPr>
          <p:cNvPr id="3" name="Content Placeholder 2"/>
          <p:cNvSpPr>
            <a:spLocks noGrp="1"/>
          </p:cNvSpPr>
          <p:nvPr>
            <p:ph idx="1"/>
          </p:nvPr>
        </p:nvSpPr>
        <p:spPr/>
        <p:txBody>
          <a:bodyPr/>
          <a:lstStyle/>
          <a:p>
            <a:r>
              <a:rPr lang="en-CA" dirty="0" smtClean="0"/>
              <a:t>File system developers annotate metadata structures in </a:t>
            </a:r>
            <a:br>
              <a:rPr lang="en-CA" dirty="0" smtClean="0"/>
            </a:br>
            <a:r>
              <a:rPr lang="en-CA" dirty="0" smtClean="0"/>
              <a:t>header files of existing source code</a:t>
            </a:r>
          </a:p>
        </p:txBody>
      </p:sp>
      <p:sp>
        <p:nvSpPr>
          <p:cNvPr id="35" name="Slide Number Placeholder 34"/>
          <p:cNvSpPr>
            <a:spLocks noGrp="1"/>
          </p:cNvSpPr>
          <p:nvPr>
            <p:ph type="sldNum" sz="quarter" idx="12"/>
          </p:nvPr>
        </p:nvSpPr>
        <p:spPr/>
        <p:txBody>
          <a:bodyPr/>
          <a:lstStyle/>
          <a:p>
            <a:fld id="{7B2023C8-B124-43A9-8F92-0EEF5BAA9995}" type="slidenum">
              <a:rPr lang="en-CA" smtClean="0"/>
              <a:pPr/>
              <a:t>7</a:t>
            </a:fld>
            <a:endParaRPr lang="en-CA" dirty="0"/>
          </a:p>
        </p:txBody>
      </p:sp>
      <p:sp>
        <p:nvSpPr>
          <p:cNvPr id="61" name="Rectangle 60"/>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smtClean="0">
                <a:solidFill>
                  <a:schemeClr val="bg1"/>
                </a:solidFill>
              </a:rPr>
              <a:t>File System Developer</a:t>
            </a:r>
            <a:endParaRPr lang="en-CA" b="1" dirty="0">
              <a:solidFill>
                <a:schemeClr val="bg1"/>
              </a:solidFill>
            </a:endParaRPr>
          </a:p>
        </p:txBody>
      </p:sp>
      <p:sp>
        <p:nvSpPr>
          <p:cNvPr id="90" name="Rectangle 89"/>
          <p:cNvSpPr/>
          <p:nvPr/>
        </p:nvSpPr>
        <p:spPr>
          <a:xfrm>
            <a:off x="1320470" y="3184147"/>
            <a:ext cx="1440000"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91" name="Rectangle 90"/>
          <p:cNvSpPr/>
          <p:nvPr/>
        </p:nvSpPr>
        <p:spPr>
          <a:xfrm>
            <a:off x="1320470" y="4131121"/>
            <a:ext cx="1440000" cy="472257"/>
          </a:xfrm>
          <a:prstGeom prst="rect">
            <a:avLst/>
          </a:prstGeom>
          <a:noFill/>
          <a:ln w="25400">
            <a:solidFill>
              <a:schemeClr val="bg1"/>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effectLst>
                  <a:glow rad="101600">
                    <a:srgbClr val="FFFF00">
                      <a:alpha val="40000"/>
                    </a:srgbClr>
                  </a:glow>
                </a:effectLst>
              </a:rPr>
              <a:t>Annotations</a:t>
            </a:r>
            <a:endParaRPr lang="en-CA" dirty="0">
              <a:solidFill>
                <a:schemeClr val="bg1"/>
              </a:solidFill>
              <a:effectLst>
                <a:glow rad="101600">
                  <a:srgbClr val="FFFF00">
                    <a:alpha val="40000"/>
                  </a:srgbClr>
                </a:glow>
              </a:effectLst>
            </a:endParaRPr>
          </a:p>
        </p:txBody>
      </p:sp>
      <p:grpSp>
        <p:nvGrpSpPr>
          <p:cNvPr id="103" name="Group 102"/>
          <p:cNvGrpSpPr/>
          <p:nvPr/>
        </p:nvGrpSpPr>
        <p:grpSpPr>
          <a:xfrm>
            <a:off x="3097485" y="4286250"/>
            <a:ext cx="598488" cy="1292225"/>
            <a:chOff x="4859338" y="3776663"/>
            <a:chExt cx="598488" cy="1292225"/>
          </a:xfrm>
        </p:grpSpPr>
        <p:sp>
          <p:nvSpPr>
            <p:cNvPr id="18" name="Freeform 5"/>
            <p:cNvSpPr>
              <a:spLocks/>
            </p:cNvSpPr>
            <p:nvPr/>
          </p:nvSpPr>
          <p:spPr bwMode="auto">
            <a:xfrm>
              <a:off x="4868863" y="3917950"/>
              <a:ext cx="581025" cy="1139825"/>
            </a:xfrm>
            <a:custGeom>
              <a:avLst/>
              <a:gdLst>
                <a:gd name="T0" fmla="*/ 250 w 1553"/>
                <a:gd name="T1" fmla="*/ 791 h 3047"/>
                <a:gd name="T2" fmla="*/ 194 w 1553"/>
                <a:gd name="T3" fmla="*/ 572 h 3047"/>
                <a:gd name="T4" fmla="*/ 262 w 1553"/>
                <a:gd name="T5" fmla="*/ 325 h 3047"/>
                <a:gd name="T6" fmla="*/ 447 w 1553"/>
                <a:gd name="T7" fmla="*/ 175 h 3047"/>
                <a:gd name="T8" fmla="*/ 678 w 1553"/>
                <a:gd name="T9" fmla="*/ 141 h 3047"/>
                <a:gd name="T10" fmla="*/ 837 w 1553"/>
                <a:gd name="T11" fmla="*/ 216 h 3047"/>
                <a:gd name="T12" fmla="*/ 950 w 1553"/>
                <a:gd name="T13" fmla="*/ 378 h 3047"/>
                <a:gd name="T14" fmla="*/ 959 w 1553"/>
                <a:gd name="T15" fmla="*/ 585 h 3047"/>
                <a:gd name="T16" fmla="*/ 884 w 1553"/>
                <a:gd name="T17" fmla="*/ 816 h 3047"/>
                <a:gd name="T18" fmla="*/ 950 w 1553"/>
                <a:gd name="T19" fmla="*/ 797 h 3047"/>
                <a:gd name="T20" fmla="*/ 1344 w 1553"/>
                <a:gd name="T21" fmla="*/ 85 h 3047"/>
                <a:gd name="T22" fmla="*/ 1516 w 1553"/>
                <a:gd name="T23" fmla="*/ 0 h 3047"/>
                <a:gd name="T24" fmla="*/ 1553 w 1553"/>
                <a:gd name="T25" fmla="*/ 175 h 3047"/>
                <a:gd name="T26" fmla="*/ 1312 w 1553"/>
                <a:gd name="T27" fmla="*/ 807 h 3047"/>
                <a:gd name="T28" fmla="*/ 1253 w 1553"/>
                <a:gd name="T29" fmla="*/ 925 h 3047"/>
                <a:gd name="T30" fmla="*/ 1209 w 1553"/>
                <a:gd name="T31" fmla="*/ 1241 h 3047"/>
                <a:gd name="T32" fmla="*/ 1237 w 1553"/>
                <a:gd name="T33" fmla="*/ 1753 h 3047"/>
                <a:gd name="T34" fmla="*/ 1300 w 1553"/>
                <a:gd name="T35" fmla="*/ 2266 h 3047"/>
                <a:gd name="T36" fmla="*/ 1303 w 1553"/>
                <a:gd name="T37" fmla="*/ 2460 h 3047"/>
                <a:gd name="T38" fmla="*/ 1272 w 1553"/>
                <a:gd name="T39" fmla="*/ 2791 h 3047"/>
                <a:gd name="T40" fmla="*/ 1209 w 1553"/>
                <a:gd name="T41" fmla="*/ 2978 h 3047"/>
                <a:gd name="T42" fmla="*/ 1128 w 1553"/>
                <a:gd name="T43" fmla="*/ 3047 h 3047"/>
                <a:gd name="T44" fmla="*/ 1028 w 1553"/>
                <a:gd name="T45" fmla="*/ 2957 h 3047"/>
                <a:gd name="T46" fmla="*/ 981 w 1553"/>
                <a:gd name="T47" fmla="*/ 2769 h 3047"/>
                <a:gd name="T48" fmla="*/ 978 w 1553"/>
                <a:gd name="T49" fmla="*/ 2491 h 3047"/>
                <a:gd name="T50" fmla="*/ 956 w 1553"/>
                <a:gd name="T51" fmla="*/ 2272 h 3047"/>
                <a:gd name="T52" fmla="*/ 884 w 1553"/>
                <a:gd name="T53" fmla="*/ 2166 h 3047"/>
                <a:gd name="T54" fmla="*/ 847 w 1553"/>
                <a:gd name="T55" fmla="*/ 2135 h 3047"/>
                <a:gd name="T56" fmla="*/ 803 w 1553"/>
                <a:gd name="T57" fmla="*/ 2313 h 3047"/>
                <a:gd name="T58" fmla="*/ 750 w 1553"/>
                <a:gd name="T59" fmla="*/ 2635 h 3047"/>
                <a:gd name="T60" fmla="*/ 716 w 1553"/>
                <a:gd name="T61" fmla="*/ 2778 h 3047"/>
                <a:gd name="T62" fmla="*/ 681 w 1553"/>
                <a:gd name="T63" fmla="*/ 2919 h 3047"/>
                <a:gd name="T64" fmla="*/ 634 w 1553"/>
                <a:gd name="T65" fmla="*/ 3025 h 3047"/>
                <a:gd name="T66" fmla="*/ 559 w 1553"/>
                <a:gd name="T67" fmla="*/ 3044 h 3047"/>
                <a:gd name="T68" fmla="*/ 484 w 1553"/>
                <a:gd name="T69" fmla="*/ 2985 h 3047"/>
                <a:gd name="T70" fmla="*/ 437 w 1553"/>
                <a:gd name="T71" fmla="*/ 2744 h 3047"/>
                <a:gd name="T72" fmla="*/ 425 w 1553"/>
                <a:gd name="T73" fmla="*/ 2382 h 3047"/>
                <a:gd name="T74" fmla="*/ 422 w 1553"/>
                <a:gd name="T75" fmla="*/ 2047 h 3047"/>
                <a:gd name="T76" fmla="*/ 419 w 1553"/>
                <a:gd name="T77" fmla="*/ 1722 h 3047"/>
                <a:gd name="T78" fmla="*/ 375 w 1553"/>
                <a:gd name="T79" fmla="*/ 1572 h 3047"/>
                <a:gd name="T80" fmla="*/ 316 w 1553"/>
                <a:gd name="T81" fmla="*/ 1538 h 3047"/>
                <a:gd name="T82" fmla="*/ 259 w 1553"/>
                <a:gd name="T83" fmla="*/ 1710 h 3047"/>
                <a:gd name="T84" fmla="*/ 212 w 1553"/>
                <a:gd name="T85" fmla="*/ 1985 h 3047"/>
                <a:gd name="T86" fmla="*/ 169 w 1553"/>
                <a:gd name="T87" fmla="*/ 2150 h 3047"/>
                <a:gd name="T88" fmla="*/ 106 w 1553"/>
                <a:gd name="T89" fmla="*/ 2188 h 3047"/>
                <a:gd name="T90" fmla="*/ 41 w 1553"/>
                <a:gd name="T91" fmla="*/ 2085 h 3047"/>
                <a:gd name="T92" fmla="*/ 0 w 1553"/>
                <a:gd name="T93" fmla="*/ 1810 h 3047"/>
                <a:gd name="T94" fmla="*/ 37 w 1553"/>
                <a:gd name="T95" fmla="*/ 1428 h 3047"/>
                <a:gd name="T96" fmla="*/ 137 w 1553"/>
                <a:gd name="T97" fmla="*/ 1116 h 3047"/>
                <a:gd name="T98" fmla="*/ 306 w 1553"/>
                <a:gd name="T99" fmla="*/ 922 h 3047"/>
                <a:gd name="T100" fmla="*/ 250 w 1553"/>
                <a:gd name="T101" fmla="*/ 791 h 30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Lst>
              <a:rect l="0" t="0" r="r" b="b"/>
              <a:pathLst>
                <a:path w="1553" h="3047">
                  <a:moveTo>
                    <a:pt x="250" y="791"/>
                  </a:moveTo>
                  <a:lnTo>
                    <a:pt x="194" y="572"/>
                  </a:lnTo>
                  <a:lnTo>
                    <a:pt x="262" y="325"/>
                  </a:lnTo>
                  <a:lnTo>
                    <a:pt x="447" y="175"/>
                  </a:lnTo>
                  <a:lnTo>
                    <a:pt x="678" y="141"/>
                  </a:lnTo>
                  <a:lnTo>
                    <a:pt x="837" y="216"/>
                  </a:lnTo>
                  <a:lnTo>
                    <a:pt x="950" y="378"/>
                  </a:lnTo>
                  <a:lnTo>
                    <a:pt x="959" y="585"/>
                  </a:lnTo>
                  <a:lnTo>
                    <a:pt x="884" y="816"/>
                  </a:lnTo>
                  <a:lnTo>
                    <a:pt x="950" y="797"/>
                  </a:lnTo>
                  <a:lnTo>
                    <a:pt x="1344" y="85"/>
                  </a:lnTo>
                  <a:lnTo>
                    <a:pt x="1516" y="0"/>
                  </a:lnTo>
                  <a:lnTo>
                    <a:pt x="1553" y="175"/>
                  </a:lnTo>
                  <a:lnTo>
                    <a:pt x="1312" y="807"/>
                  </a:lnTo>
                  <a:cubicBezTo>
                    <a:pt x="1312" y="807"/>
                    <a:pt x="1253" y="913"/>
                    <a:pt x="1253" y="925"/>
                  </a:cubicBezTo>
                  <a:cubicBezTo>
                    <a:pt x="1253" y="938"/>
                    <a:pt x="1209" y="1241"/>
                    <a:pt x="1209" y="1241"/>
                  </a:cubicBezTo>
                  <a:lnTo>
                    <a:pt x="1237" y="1753"/>
                  </a:lnTo>
                  <a:lnTo>
                    <a:pt x="1300" y="2266"/>
                  </a:lnTo>
                  <a:cubicBezTo>
                    <a:pt x="1300" y="2266"/>
                    <a:pt x="1316" y="2428"/>
                    <a:pt x="1303" y="2460"/>
                  </a:cubicBezTo>
                  <a:cubicBezTo>
                    <a:pt x="1291" y="2491"/>
                    <a:pt x="1272" y="2791"/>
                    <a:pt x="1272" y="2791"/>
                  </a:cubicBezTo>
                  <a:lnTo>
                    <a:pt x="1209" y="2978"/>
                  </a:lnTo>
                  <a:lnTo>
                    <a:pt x="1128" y="3047"/>
                  </a:lnTo>
                  <a:lnTo>
                    <a:pt x="1028" y="2957"/>
                  </a:lnTo>
                  <a:lnTo>
                    <a:pt x="981" y="2769"/>
                  </a:lnTo>
                  <a:lnTo>
                    <a:pt x="978" y="2491"/>
                  </a:lnTo>
                  <a:lnTo>
                    <a:pt x="956" y="2272"/>
                  </a:lnTo>
                  <a:lnTo>
                    <a:pt x="884" y="2166"/>
                  </a:lnTo>
                  <a:lnTo>
                    <a:pt x="847" y="2135"/>
                  </a:lnTo>
                  <a:lnTo>
                    <a:pt x="803" y="2313"/>
                  </a:lnTo>
                  <a:lnTo>
                    <a:pt x="750" y="2635"/>
                  </a:lnTo>
                  <a:lnTo>
                    <a:pt x="716" y="2778"/>
                  </a:lnTo>
                  <a:lnTo>
                    <a:pt x="681" y="2919"/>
                  </a:lnTo>
                  <a:lnTo>
                    <a:pt x="634" y="3025"/>
                  </a:lnTo>
                  <a:lnTo>
                    <a:pt x="559" y="3044"/>
                  </a:lnTo>
                  <a:lnTo>
                    <a:pt x="484" y="2985"/>
                  </a:lnTo>
                  <a:lnTo>
                    <a:pt x="437" y="2744"/>
                  </a:lnTo>
                  <a:lnTo>
                    <a:pt x="425" y="2382"/>
                  </a:lnTo>
                  <a:lnTo>
                    <a:pt x="422" y="2047"/>
                  </a:lnTo>
                  <a:lnTo>
                    <a:pt x="419" y="1722"/>
                  </a:lnTo>
                  <a:lnTo>
                    <a:pt x="375" y="1572"/>
                  </a:lnTo>
                  <a:lnTo>
                    <a:pt x="316" y="1538"/>
                  </a:lnTo>
                  <a:lnTo>
                    <a:pt x="259" y="1710"/>
                  </a:lnTo>
                  <a:lnTo>
                    <a:pt x="212" y="1985"/>
                  </a:lnTo>
                  <a:lnTo>
                    <a:pt x="169" y="2150"/>
                  </a:lnTo>
                  <a:lnTo>
                    <a:pt x="106" y="2188"/>
                  </a:lnTo>
                  <a:lnTo>
                    <a:pt x="41" y="2085"/>
                  </a:lnTo>
                  <a:lnTo>
                    <a:pt x="0" y="1810"/>
                  </a:lnTo>
                  <a:lnTo>
                    <a:pt x="37" y="1428"/>
                  </a:lnTo>
                  <a:lnTo>
                    <a:pt x="137" y="1116"/>
                  </a:lnTo>
                  <a:lnTo>
                    <a:pt x="306" y="922"/>
                  </a:lnTo>
                  <a:lnTo>
                    <a:pt x="250" y="791"/>
                  </a:lnTo>
                  <a:close/>
                </a:path>
              </a:pathLst>
            </a:custGeom>
            <a:solidFill>
              <a:srgbClr val="535353"/>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6" name="Freeform 6"/>
            <p:cNvSpPr>
              <a:spLocks/>
            </p:cNvSpPr>
            <p:nvPr/>
          </p:nvSpPr>
          <p:spPr bwMode="auto">
            <a:xfrm>
              <a:off x="4872038" y="4038600"/>
              <a:ext cx="533400" cy="652463"/>
            </a:xfrm>
            <a:custGeom>
              <a:avLst/>
              <a:gdLst>
                <a:gd name="T0" fmla="*/ 163 w 1427"/>
                <a:gd name="T1" fmla="*/ 769 h 1747"/>
                <a:gd name="T2" fmla="*/ 93 w 1427"/>
                <a:gd name="T3" fmla="*/ 901 h 1747"/>
                <a:gd name="T4" fmla="*/ 35 w 1427"/>
                <a:gd name="T5" fmla="*/ 1087 h 1747"/>
                <a:gd name="T6" fmla="*/ 0 w 1427"/>
                <a:gd name="T7" fmla="*/ 1286 h 1747"/>
                <a:gd name="T8" fmla="*/ 0 w 1427"/>
                <a:gd name="T9" fmla="*/ 1586 h 1747"/>
                <a:gd name="T10" fmla="*/ 212 w 1427"/>
                <a:gd name="T11" fmla="*/ 1662 h 1747"/>
                <a:gd name="T12" fmla="*/ 247 w 1427"/>
                <a:gd name="T13" fmla="*/ 1379 h 1747"/>
                <a:gd name="T14" fmla="*/ 287 w 1427"/>
                <a:gd name="T15" fmla="*/ 1273 h 1747"/>
                <a:gd name="T16" fmla="*/ 336 w 1427"/>
                <a:gd name="T17" fmla="*/ 1220 h 1747"/>
                <a:gd name="T18" fmla="*/ 389 w 1427"/>
                <a:gd name="T19" fmla="*/ 1277 h 1747"/>
                <a:gd name="T20" fmla="*/ 429 w 1427"/>
                <a:gd name="T21" fmla="*/ 1432 h 1747"/>
                <a:gd name="T22" fmla="*/ 420 w 1427"/>
                <a:gd name="T23" fmla="*/ 1684 h 1747"/>
                <a:gd name="T24" fmla="*/ 420 w 1427"/>
                <a:gd name="T25" fmla="*/ 1723 h 1747"/>
                <a:gd name="T26" fmla="*/ 579 w 1427"/>
                <a:gd name="T27" fmla="*/ 1723 h 1747"/>
                <a:gd name="T28" fmla="*/ 1096 w 1427"/>
                <a:gd name="T29" fmla="*/ 1547 h 1747"/>
                <a:gd name="T30" fmla="*/ 1255 w 1427"/>
                <a:gd name="T31" fmla="*/ 1520 h 1747"/>
                <a:gd name="T32" fmla="*/ 1206 w 1427"/>
                <a:gd name="T33" fmla="*/ 1193 h 1747"/>
                <a:gd name="T34" fmla="*/ 1206 w 1427"/>
                <a:gd name="T35" fmla="*/ 879 h 1747"/>
                <a:gd name="T36" fmla="*/ 1233 w 1427"/>
                <a:gd name="T37" fmla="*/ 632 h 1747"/>
                <a:gd name="T38" fmla="*/ 1357 w 1427"/>
                <a:gd name="T39" fmla="*/ 376 h 1747"/>
                <a:gd name="T40" fmla="*/ 1427 w 1427"/>
                <a:gd name="T41" fmla="*/ 194 h 1747"/>
                <a:gd name="T42" fmla="*/ 1206 w 1427"/>
                <a:gd name="T43" fmla="*/ 0 h 1747"/>
                <a:gd name="T44" fmla="*/ 1096 w 1427"/>
                <a:gd name="T45" fmla="*/ 208 h 1747"/>
                <a:gd name="T46" fmla="*/ 1021 w 1427"/>
                <a:gd name="T47" fmla="*/ 305 h 1747"/>
                <a:gd name="T48" fmla="*/ 981 w 1427"/>
                <a:gd name="T49" fmla="*/ 437 h 1747"/>
                <a:gd name="T50" fmla="*/ 862 w 1427"/>
                <a:gd name="T51" fmla="*/ 729 h 1747"/>
                <a:gd name="T52" fmla="*/ 451 w 1427"/>
                <a:gd name="T53" fmla="*/ 654 h 1747"/>
                <a:gd name="T54" fmla="*/ 163 w 1427"/>
                <a:gd name="T55" fmla="*/ 769 h 174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Lst>
              <a:rect l="0" t="0" r="r" b="b"/>
              <a:pathLst>
                <a:path w="1427" h="1747">
                  <a:moveTo>
                    <a:pt x="163" y="769"/>
                  </a:moveTo>
                  <a:lnTo>
                    <a:pt x="93" y="901"/>
                  </a:lnTo>
                  <a:lnTo>
                    <a:pt x="35" y="1087"/>
                  </a:lnTo>
                  <a:lnTo>
                    <a:pt x="0" y="1286"/>
                  </a:lnTo>
                  <a:lnTo>
                    <a:pt x="0" y="1586"/>
                  </a:lnTo>
                  <a:cubicBezTo>
                    <a:pt x="96" y="1655"/>
                    <a:pt x="147" y="1646"/>
                    <a:pt x="212" y="1662"/>
                  </a:cubicBezTo>
                  <a:lnTo>
                    <a:pt x="247" y="1379"/>
                  </a:lnTo>
                  <a:lnTo>
                    <a:pt x="287" y="1273"/>
                  </a:lnTo>
                  <a:lnTo>
                    <a:pt x="336" y="1220"/>
                  </a:lnTo>
                  <a:lnTo>
                    <a:pt x="389" y="1277"/>
                  </a:lnTo>
                  <a:lnTo>
                    <a:pt x="429" y="1432"/>
                  </a:lnTo>
                  <a:lnTo>
                    <a:pt x="420" y="1684"/>
                  </a:lnTo>
                  <a:lnTo>
                    <a:pt x="420" y="1723"/>
                  </a:lnTo>
                  <a:cubicBezTo>
                    <a:pt x="492" y="1747"/>
                    <a:pt x="532" y="1737"/>
                    <a:pt x="579" y="1723"/>
                  </a:cubicBezTo>
                  <a:cubicBezTo>
                    <a:pt x="756" y="1649"/>
                    <a:pt x="936" y="1579"/>
                    <a:pt x="1096" y="1547"/>
                  </a:cubicBezTo>
                  <a:cubicBezTo>
                    <a:pt x="1145" y="1538"/>
                    <a:pt x="1113" y="1536"/>
                    <a:pt x="1255" y="1520"/>
                  </a:cubicBezTo>
                  <a:lnTo>
                    <a:pt x="1206" y="1193"/>
                  </a:lnTo>
                  <a:lnTo>
                    <a:pt x="1206" y="879"/>
                  </a:lnTo>
                  <a:lnTo>
                    <a:pt x="1233" y="632"/>
                  </a:lnTo>
                  <a:lnTo>
                    <a:pt x="1357" y="376"/>
                  </a:lnTo>
                  <a:lnTo>
                    <a:pt x="1427" y="194"/>
                  </a:lnTo>
                  <a:cubicBezTo>
                    <a:pt x="1360" y="125"/>
                    <a:pt x="1305" y="49"/>
                    <a:pt x="1206" y="0"/>
                  </a:cubicBezTo>
                  <a:lnTo>
                    <a:pt x="1096" y="208"/>
                  </a:lnTo>
                  <a:lnTo>
                    <a:pt x="1021" y="305"/>
                  </a:lnTo>
                  <a:lnTo>
                    <a:pt x="981" y="437"/>
                  </a:lnTo>
                  <a:lnTo>
                    <a:pt x="862" y="729"/>
                  </a:lnTo>
                  <a:lnTo>
                    <a:pt x="451" y="654"/>
                  </a:lnTo>
                  <a:lnTo>
                    <a:pt x="163" y="769"/>
                  </a:lnTo>
                  <a:close/>
                </a:path>
              </a:pathLst>
            </a:custGeom>
            <a:solidFill>
              <a:srgbClr val="962A22"/>
            </a:solidFill>
            <a:ln w="4763" cap="flat">
              <a:solidFill>
                <a:srgbClr val="962A22"/>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27" name="Freeform 7"/>
            <p:cNvSpPr>
              <a:spLocks/>
            </p:cNvSpPr>
            <p:nvPr/>
          </p:nvSpPr>
          <p:spPr bwMode="auto">
            <a:xfrm>
              <a:off x="5043488" y="4551363"/>
              <a:ext cx="298450" cy="127000"/>
            </a:xfrm>
            <a:custGeom>
              <a:avLst/>
              <a:gdLst>
                <a:gd name="T0" fmla="*/ 0 w 795"/>
                <a:gd name="T1" fmla="*/ 330 h 339"/>
                <a:gd name="T2" fmla="*/ 223 w 795"/>
                <a:gd name="T3" fmla="*/ 275 h 339"/>
                <a:gd name="T4" fmla="*/ 765 w 795"/>
                <a:gd name="T5" fmla="*/ 97 h 339"/>
                <a:gd name="T6" fmla="*/ 795 w 795"/>
                <a:gd name="T7" fmla="*/ 0 h 339"/>
                <a:gd name="T8" fmla="*/ 204 w 795"/>
                <a:gd name="T9" fmla="*/ 240 h 339"/>
                <a:gd name="T10" fmla="*/ 0 w 795"/>
                <a:gd name="T11" fmla="*/ 330 h 339"/>
              </a:gdLst>
              <a:ahLst/>
              <a:cxnLst>
                <a:cxn ang="0">
                  <a:pos x="T0" y="T1"/>
                </a:cxn>
                <a:cxn ang="0">
                  <a:pos x="T2" y="T3"/>
                </a:cxn>
                <a:cxn ang="0">
                  <a:pos x="T4" y="T5"/>
                </a:cxn>
                <a:cxn ang="0">
                  <a:pos x="T6" y="T7"/>
                </a:cxn>
                <a:cxn ang="0">
                  <a:pos x="T8" y="T9"/>
                </a:cxn>
                <a:cxn ang="0">
                  <a:pos x="T10" y="T11"/>
                </a:cxn>
              </a:cxnLst>
              <a:rect l="0" t="0" r="r" b="b"/>
              <a:pathLst>
                <a:path w="795" h="339">
                  <a:moveTo>
                    <a:pt x="0" y="330"/>
                  </a:moveTo>
                  <a:cubicBezTo>
                    <a:pt x="35" y="339"/>
                    <a:pt x="134" y="317"/>
                    <a:pt x="223" y="275"/>
                  </a:cubicBezTo>
                  <a:cubicBezTo>
                    <a:pt x="441" y="170"/>
                    <a:pt x="708" y="60"/>
                    <a:pt x="765" y="97"/>
                  </a:cubicBezTo>
                  <a:lnTo>
                    <a:pt x="795" y="0"/>
                  </a:lnTo>
                  <a:cubicBezTo>
                    <a:pt x="662" y="11"/>
                    <a:pt x="469" y="85"/>
                    <a:pt x="204" y="240"/>
                  </a:cubicBezTo>
                  <a:cubicBezTo>
                    <a:pt x="175" y="257"/>
                    <a:pt x="120" y="295"/>
                    <a:pt x="0" y="330"/>
                  </a:cubicBez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8" name="Freeform 8"/>
            <p:cNvSpPr>
              <a:spLocks/>
            </p:cNvSpPr>
            <p:nvPr/>
          </p:nvSpPr>
          <p:spPr bwMode="auto">
            <a:xfrm>
              <a:off x="5153025" y="4325938"/>
              <a:ext cx="25400" cy="117475"/>
            </a:xfrm>
            <a:custGeom>
              <a:avLst/>
              <a:gdLst>
                <a:gd name="T0" fmla="*/ 39 w 69"/>
                <a:gd name="T1" fmla="*/ 0 h 316"/>
                <a:gd name="T2" fmla="*/ 10 w 69"/>
                <a:gd name="T3" fmla="*/ 75 h 316"/>
                <a:gd name="T4" fmla="*/ 4 w 69"/>
                <a:gd name="T5" fmla="*/ 133 h 316"/>
                <a:gd name="T6" fmla="*/ 9 w 69"/>
                <a:gd name="T7" fmla="*/ 258 h 316"/>
                <a:gd name="T8" fmla="*/ 18 w 69"/>
                <a:gd name="T9" fmla="*/ 310 h 316"/>
                <a:gd name="T10" fmla="*/ 31 w 69"/>
                <a:gd name="T11" fmla="*/ 316 h 316"/>
                <a:gd name="T12" fmla="*/ 45 w 69"/>
                <a:gd name="T13" fmla="*/ 316 h 316"/>
                <a:gd name="T14" fmla="*/ 53 w 69"/>
                <a:gd name="T15" fmla="*/ 286 h 316"/>
                <a:gd name="T16" fmla="*/ 40 w 69"/>
                <a:gd name="T17" fmla="*/ 163 h 316"/>
                <a:gd name="T18" fmla="*/ 36 w 69"/>
                <a:gd name="T19" fmla="*/ 98 h 316"/>
                <a:gd name="T20" fmla="*/ 47 w 69"/>
                <a:gd name="T21" fmla="*/ 56 h 316"/>
                <a:gd name="T22" fmla="*/ 69 w 69"/>
                <a:gd name="T23" fmla="*/ 14 h 316"/>
                <a:gd name="T24" fmla="*/ 39 w 69"/>
                <a:gd name="T25" fmla="*/ 0 h 31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9" h="316">
                  <a:moveTo>
                    <a:pt x="39" y="0"/>
                  </a:moveTo>
                  <a:lnTo>
                    <a:pt x="10" y="75"/>
                  </a:lnTo>
                  <a:cubicBezTo>
                    <a:pt x="10" y="75"/>
                    <a:pt x="0" y="132"/>
                    <a:pt x="4" y="133"/>
                  </a:cubicBezTo>
                  <a:cubicBezTo>
                    <a:pt x="7" y="133"/>
                    <a:pt x="9" y="258"/>
                    <a:pt x="9" y="258"/>
                  </a:cubicBezTo>
                  <a:lnTo>
                    <a:pt x="18" y="310"/>
                  </a:lnTo>
                  <a:lnTo>
                    <a:pt x="31" y="316"/>
                  </a:lnTo>
                  <a:lnTo>
                    <a:pt x="45" y="316"/>
                  </a:lnTo>
                  <a:lnTo>
                    <a:pt x="53" y="286"/>
                  </a:lnTo>
                  <a:lnTo>
                    <a:pt x="40" y="163"/>
                  </a:lnTo>
                  <a:lnTo>
                    <a:pt x="36" y="98"/>
                  </a:lnTo>
                  <a:lnTo>
                    <a:pt x="47" y="56"/>
                  </a:lnTo>
                  <a:lnTo>
                    <a:pt x="69" y="14"/>
                  </a:lnTo>
                  <a:lnTo>
                    <a:pt x="39" y="0"/>
                  </a:lnTo>
                  <a:close/>
                </a:path>
              </a:pathLst>
            </a:custGeom>
            <a:solidFill>
              <a:srgbClr val="FFFFCB"/>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29" name="Freeform 9"/>
            <p:cNvSpPr>
              <a:spLocks noEditPoints="1"/>
            </p:cNvSpPr>
            <p:nvPr/>
          </p:nvSpPr>
          <p:spPr bwMode="auto">
            <a:xfrm>
              <a:off x="5151438" y="4319588"/>
              <a:ext cx="31750" cy="128588"/>
            </a:xfrm>
            <a:custGeom>
              <a:avLst/>
              <a:gdLst>
                <a:gd name="T0" fmla="*/ 45 w 85"/>
                <a:gd name="T1" fmla="*/ 0 h 342"/>
                <a:gd name="T2" fmla="*/ 42 w 85"/>
                <a:gd name="T3" fmla="*/ 6 h 342"/>
                <a:gd name="T4" fmla="*/ 5 w 85"/>
                <a:gd name="T5" fmla="*/ 114 h 342"/>
                <a:gd name="T6" fmla="*/ 13 w 85"/>
                <a:gd name="T7" fmla="*/ 318 h 342"/>
                <a:gd name="T8" fmla="*/ 14 w 85"/>
                <a:gd name="T9" fmla="*/ 318 h 342"/>
                <a:gd name="T10" fmla="*/ 14 w 85"/>
                <a:gd name="T11" fmla="*/ 318 h 342"/>
                <a:gd name="T12" fmla="*/ 26 w 85"/>
                <a:gd name="T13" fmla="*/ 338 h 342"/>
                <a:gd name="T14" fmla="*/ 49 w 85"/>
                <a:gd name="T15" fmla="*/ 339 h 342"/>
                <a:gd name="T16" fmla="*/ 63 w 85"/>
                <a:gd name="T17" fmla="*/ 317 h 342"/>
                <a:gd name="T18" fmla="*/ 49 w 85"/>
                <a:gd name="T19" fmla="*/ 174 h 342"/>
                <a:gd name="T20" fmla="*/ 48 w 85"/>
                <a:gd name="T21" fmla="*/ 117 h 342"/>
                <a:gd name="T22" fmla="*/ 81 w 85"/>
                <a:gd name="T23" fmla="*/ 28 h 342"/>
                <a:gd name="T24" fmla="*/ 85 w 85"/>
                <a:gd name="T25" fmla="*/ 22 h 342"/>
                <a:gd name="T26" fmla="*/ 79 w 85"/>
                <a:gd name="T27" fmla="*/ 19 h 342"/>
                <a:gd name="T28" fmla="*/ 50 w 85"/>
                <a:gd name="T29" fmla="*/ 3 h 342"/>
                <a:gd name="T30" fmla="*/ 45 w 85"/>
                <a:gd name="T31" fmla="*/ 0 h 342"/>
                <a:gd name="T32" fmla="*/ 50 w 85"/>
                <a:gd name="T33" fmla="*/ 17 h 342"/>
                <a:gd name="T34" fmla="*/ 67 w 85"/>
                <a:gd name="T35" fmla="*/ 27 h 342"/>
                <a:gd name="T36" fmla="*/ 35 w 85"/>
                <a:gd name="T37" fmla="*/ 115 h 342"/>
                <a:gd name="T38" fmla="*/ 50 w 85"/>
                <a:gd name="T39" fmla="*/ 318 h 342"/>
                <a:gd name="T40" fmla="*/ 41 w 85"/>
                <a:gd name="T41" fmla="*/ 327 h 342"/>
                <a:gd name="T42" fmla="*/ 26 w 85"/>
                <a:gd name="T43" fmla="*/ 316 h 342"/>
                <a:gd name="T44" fmla="*/ 17 w 85"/>
                <a:gd name="T45" fmla="*/ 118 h 342"/>
                <a:gd name="T46" fmla="*/ 50 w 85"/>
                <a:gd name="T47" fmla="*/ 17 h 3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85" h="342">
                  <a:moveTo>
                    <a:pt x="45" y="0"/>
                  </a:moveTo>
                  <a:lnTo>
                    <a:pt x="42" y="6"/>
                  </a:lnTo>
                  <a:cubicBezTo>
                    <a:pt x="20" y="50"/>
                    <a:pt x="7" y="101"/>
                    <a:pt x="5" y="114"/>
                  </a:cubicBezTo>
                  <a:cubicBezTo>
                    <a:pt x="0" y="154"/>
                    <a:pt x="5" y="266"/>
                    <a:pt x="13" y="318"/>
                  </a:cubicBezTo>
                  <a:lnTo>
                    <a:pt x="14" y="318"/>
                  </a:lnTo>
                  <a:lnTo>
                    <a:pt x="14" y="318"/>
                  </a:lnTo>
                  <a:cubicBezTo>
                    <a:pt x="16" y="328"/>
                    <a:pt x="21" y="334"/>
                    <a:pt x="26" y="338"/>
                  </a:cubicBezTo>
                  <a:cubicBezTo>
                    <a:pt x="31" y="342"/>
                    <a:pt x="43" y="342"/>
                    <a:pt x="49" y="339"/>
                  </a:cubicBezTo>
                  <a:cubicBezTo>
                    <a:pt x="60" y="332"/>
                    <a:pt x="61" y="328"/>
                    <a:pt x="63" y="317"/>
                  </a:cubicBezTo>
                  <a:cubicBezTo>
                    <a:pt x="63" y="311"/>
                    <a:pt x="54" y="228"/>
                    <a:pt x="49" y="174"/>
                  </a:cubicBezTo>
                  <a:cubicBezTo>
                    <a:pt x="46" y="139"/>
                    <a:pt x="47" y="128"/>
                    <a:pt x="48" y="117"/>
                  </a:cubicBezTo>
                  <a:cubicBezTo>
                    <a:pt x="50" y="94"/>
                    <a:pt x="61" y="58"/>
                    <a:pt x="81" y="28"/>
                  </a:cubicBezTo>
                  <a:lnTo>
                    <a:pt x="85" y="22"/>
                  </a:lnTo>
                  <a:lnTo>
                    <a:pt x="79" y="19"/>
                  </a:lnTo>
                  <a:lnTo>
                    <a:pt x="50" y="3"/>
                  </a:lnTo>
                  <a:lnTo>
                    <a:pt x="45" y="0"/>
                  </a:lnTo>
                  <a:close/>
                  <a:moveTo>
                    <a:pt x="50" y="17"/>
                  </a:moveTo>
                  <a:lnTo>
                    <a:pt x="67" y="27"/>
                  </a:lnTo>
                  <a:cubicBezTo>
                    <a:pt x="45" y="59"/>
                    <a:pt x="41" y="78"/>
                    <a:pt x="35" y="115"/>
                  </a:cubicBezTo>
                  <a:cubicBezTo>
                    <a:pt x="30" y="136"/>
                    <a:pt x="49" y="269"/>
                    <a:pt x="50" y="318"/>
                  </a:cubicBezTo>
                  <a:cubicBezTo>
                    <a:pt x="50" y="323"/>
                    <a:pt x="46" y="326"/>
                    <a:pt x="41" y="327"/>
                  </a:cubicBezTo>
                  <a:cubicBezTo>
                    <a:pt x="32" y="327"/>
                    <a:pt x="27" y="321"/>
                    <a:pt x="26" y="316"/>
                  </a:cubicBezTo>
                  <a:cubicBezTo>
                    <a:pt x="15" y="240"/>
                    <a:pt x="16" y="124"/>
                    <a:pt x="17" y="118"/>
                  </a:cubicBezTo>
                  <a:cubicBezTo>
                    <a:pt x="19" y="98"/>
                    <a:pt x="33" y="47"/>
                    <a:pt x="50" y="17"/>
                  </a:cubicBezTo>
                  <a:close/>
                </a:path>
              </a:pathLst>
            </a:custGeom>
            <a:solidFill>
              <a:srgbClr val="D0D08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0" name="Freeform 10"/>
            <p:cNvSpPr>
              <a:spLocks/>
            </p:cNvSpPr>
            <p:nvPr/>
          </p:nvSpPr>
          <p:spPr bwMode="auto">
            <a:xfrm>
              <a:off x="5192713" y="4319588"/>
              <a:ext cx="25400" cy="128588"/>
            </a:xfrm>
            <a:custGeom>
              <a:avLst/>
              <a:gdLst>
                <a:gd name="T0" fmla="*/ 0 w 71"/>
                <a:gd name="T1" fmla="*/ 16 h 341"/>
                <a:gd name="T2" fmla="*/ 41 w 71"/>
                <a:gd name="T3" fmla="*/ 117 h 341"/>
                <a:gd name="T4" fmla="*/ 20 w 71"/>
                <a:gd name="T5" fmla="*/ 309 h 341"/>
                <a:gd name="T6" fmla="*/ 56 w 71"/>
                <a:gd name="T7" fmla="*/ 308 h 341"/>
                <a:gd name="T8" fmla="*/ 71 w 71"/>
                <a:gd name="T9" fmla="*/ 110 h 341"/>
                <a:gd name="T10" fmla="*/ 29 w 71"/>
                <a:gd name="T11" fmla="*/ 0 h 341"/>
                <a:gd name="T12" fmla="*/ 0 w 71"/>
                <a:gd name="T13" fmla="*/ 16 h 341"/>
              </a:gdLst>
              <a:ahLst/>
              <a:cxnLst>
                <a:cxn ang="0">
                  <a:pos x="T0" y="T1"/>
                </a:cxn>
                <a:cxn ang="0">
                  <a:pos x="T2" y="T3"/>
                </a:cxn>
                <a:cxn ang="0">
                  <a:pos x="T4" y="T5"/>
                </a:cxn>
                <a:cxn ang="0">
                  <a:pos x="T6" y="T7"/>
                </a:cxn>
                <a:cxn ang="0">
                  <a:pos x="T8" y="T9"/>
                </a:cxn>
                <a:cxn ang="0">
                  <a:pos x="T10" y="T11"/>
                </a:cxn>
                <a:cxn ang="0">
                  <a:pos x="T12" y="T13"/>
                </a:cxn>
              </a:cxnLst>
              <a:rect l="0" t="0" r="r" b="b"/>
              <a:pathLst>
                <a:path w="71" h="341">
                  <a:moveTo>
                    <a:pt x="0" y="16"/>
                  </a:moveTo>
                  <a:cubicBezTo>
                    <a:pt x="20" y="46"/>
                    <a:pt x="41" y="91"/>
                    <a:pt x="41" y="117"/>
                  </a:cubicBezTo>
                  <a:cubicBezTo>
                    <a:pt x="39" y="248"/>
                    <a:pt x="28" y="246"/>
                    <a:pt x="20" y="309"/>
                  </a:cubicBezTo>
                  <a:cubicBezTo>
                    <a:pt x="19" y="326"/>
                    <a:pt x="48" y="341"/>
                    <a:pt x="56" y="308"/>
                  </a:cubicBezTo>
                  <a:cubicBezTo>
                    <a:pt x="70" y="225"/>
                    <a:pt x="71" y="157"/>
                    <a:pt x="71" y="110"/>
                  </a:cubicBezTo>
                  <a:cubicBezTo>
                    <a:pt x="64" y="67"/>
                    <a:pt x="45" y="34"/>
                    <a:pt x="29" y="0"/>
                  </a:cubicBezTo>
                  <a:lnTo>
                    <a:pt x="0" y="16"/>
                  </a:lnTo>
                  <a:close/>
                </a:path>
              </a:pathLst>
            </a:custGeom>
            <a:solidFill>
              <a:srgbClr val="FFFFCB"/>
            </a:solidFill>
            <a:ln w="4763" cap="flat">
              <a:solidFill>
                <a:srgbClr val="D0D08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1" name="Freeform 11"/>
            <p:cNvSpPr>
              <a:spLocks/>
            </p:cNvSpPr>
            <p:nvPr/>
          </p:nvSpPr>
          <p:spPr bwMode="auto">
            <a:xfrm>
              <a:off x="4935538" y="3967163"/>
              <a:ext cx="314325" cy="298450"/>
            </a:xfrm>
            <a:custGeom>
              <a:avLst/>
              <a:gdLst>
                <a:gd name="T0" fmla="*/ 437 w 842"/>
                <a:gd name="T1" fmla="*/ 1 h 801"/>
                <a:gd name="T2" fmla="*/ 317 w 842"/>
                <a:gd name="T3" fmla="*/ 20 h 801"/>
                <a:gd name="T4" fmla="*/ 3 w 842"/>
                <a:gd name="T5" fmla="*/ 429 h 801"/>
                <a:gd name="T6" fmla="*/ 86 w 842"/>
                <a:gd name="T7" fmla="*/ 702 h 801"/>
                <a:gd name="T8" fmla="*/ 225 w 842"/>
                <a:gd name="T9" fmla="*/ 792 h 801"/>
                <a:gd name="T10" fmla="*/ 277 w 842"/>
                <a:gd name="T11" fmla="*/ 789 h 801"/>
                <a:gd name="T12" fmla="*/ 148 w 842"/>
                <a:gd name="T13" fmla="*/ 700 h 801"/>
                <a:gd name="T14" fmla="*/ 55 w 842"/>
                <a:gd name="T15" fmla="*/ 439 h 801"/>
                <a:gd name="T16" fmla="*/ 127 w 842"/>
                <a:gd name="T17" fmla="*/ 215 h 801"/>
                <a:gd name="T18" fmla="*/ 328 w 842"/>
                <a:gd name="T19" fmla="*/ 65 h 801"/>
                <a:gd name="T20" fmla="*/ 706 w 842"/>
                <a:gd name="T21" fmla="*/ 176 h 801"/>
                <a:gd name="T22" fmla="*/ 750 w 842"/>
                <a:gd name="T23" fmla="*/ 558 h 801"/>
                <a:gd name="T24" fmla="*/ 605 w 842"/>
                <a:gd name="T25" fmla="*/ 801 h 801"/>
                <a:gd name="T26" fmla="*/ 658 w 842"/>
                <a:gd name="T27" fmla="*/ 751 h 801"/>
                <a:gd name="T28" fmla="*/ 790 w 842"/>
                <a:gd name="T29" fmla="*/ 538 h 801"/>
                <a:gd name="T30" fmla="*/ 738 w 842"/>
                <a:gd name="T31" fmla="*/ 157 h 801"/>
                <a:gd name="T32" fmla="*/ 437 w 842"/>
                <a:gd name="T33" fmla="*/ 1 h 8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842" h="801">
                  <a:moveTo>
                    <a:pt x="437" y="1"/>
                  </a:moveTo>
                  <a:cubicBezTo>
                    <a:pt x="397" y="2"/>
                    <a:pt x="357" y="8"/>
                    <a:pt x="317" y="20"/>
                  </a:cubicBezTo>
                  <a:cubicBezTo>
                    <a:pt x="160" y="69"/>
                    <a:pt x="7" y="207"/>
                    <a:pt x="3" y="429"/>
                  </a:cubicBezTo>
                  <a:cubicBezTo>
                    <a:pt x="1" y="536"/>
                    <a:pt x="0" y="587"/>
                    <a:pt x="86" y="702"/>
                  </a:cubicBezTo>
                  <a:cubicBezTo>
                    <a:pt x="116" y="742"/>
                    <a:pt x="159" y="777"/>
                    <a:pt x="225" y="792"/>
                  </a:cubicBezTo>
                  <a:lnTo>
                    <a:pt x="277" y="789"/>
                  </a:lnTo>
                  <a:cubicBezTo>
                    <a:pt x="219" y="753"/>
                    <a:pt x="172" y="728"/>
                    <a:pt x="148" y="700"/>
                  </a:cubicBezTo>
                  <a:cubicBezTo>
                    <a:pt x="59" y="596"/>
                    <a:pt x="53" y="543"/>
                    <a:pt x="55" y="439"/>
                  </a:cubicBezTo>
                  <a:cubicBezTo>
                    <a:pt x="57" y="348"/>
                    <a:pt x="88" y="272"/>
                    <a:pt x="127" y="215"/>
                  </a:cubicBezTo>
                  <a:cubicBezTo>
                    <a:pt x="178" y="138"/>
                    <a:pt x="246" y="90"/>
                    <a:pt x="328" y="65"/>
                  </a:cubicBezTo>
                  <a:cubicBezTo>
                    <a:pt x="472" y="21"/>
                    <a:pt x="631" y="52"/>
                    <a:pt x="706" y="176"/>
                  </a:cubicBezTo>
                  <a:cubicBezTo>
                    <a:pt x="756" y="260"/>
                    <a:pt x="802" y="395"/>
                    <a:pt x="750" y="558"/>
                  </a:cubicBezTo>
                  <a:cubicBezTo>
                    <a:pt x="728" y="623"/>
                    <a:pt x="660" y="715"/>
                    <a:pt x="605" y="801"/>
                  </a:cubicBezTo>
                  <a:lnTo>
                    <a:pt x="658" y="751"/>
                  </a:lnTo>
                  <a:cubicBezTo>
                    <a:pt x="715" y="680"/>
                    <a:pt x="765" y="620"/>
                    <a:pt x="790" y="538"/>
                  </a:cubicBezTo>
                  <a:cubicBezTo>
                    <a:pt x="842" y="362"/>
                    <a:pt x="792" y="248"/>
                    <a:pt x="738" y="157"/>
                  </a:cubicBezTo>
                  <a:cubicBezTo>
                    <a:pt x="674" y="51"/>
                    <a:pt x="558" y="0"/>
                    <a:pt x="437" y="1"/>
                  </a:cubicBez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2" name="Freeform 12"/>
            <p:cNvSpPr>
              <a:spLocks/>
            </p:cNvSpPr>
            <p:nvPr/>
          </p:nvSpPr>
          <p:spPr bwMode="auto">
            <a:xfrm>
              <a:off x="4859338" y="3914775"/>
              <a:ext cx="598488" cy="1154113"/>
            </a:xfrm>
            <a:custGeom>
              <a:avLst/>
              <a:gdLst>
                <a:gd name="T0" fmla="*/ 1337 w 1596"/>
                <a:gd name="T1" fmla="*/ 119 h 3084"/>
                <a:gd name="T2" fmla="*/ 843 w 1596"/>
                <a:gd name="T3" fmla="*/ 884 h 3084"/>
                <a:gd name="T4" fmla="*/ 1074 w 1596"/>
                <a:gd name="T5" fmla="*/ 659 h 3084"/>
                <a:gd name="T6" fmla="*/ 1443 w 1596"/>
                <a:gd name="T7" fmla="*/ 62 h 3084"/>
                <a:gd name="T8" fmla="*/ 1534 w 1596"/>
                <a:gd name="T9" fmla="*/ 60 h 3084"/>
                <a:gd name="T10" fmla="*/ 1432 w 1596"/>
                <a:gd name="T11" fmla="*/ 563 h 3084"/>
                <a:gd name="T12" fmla="*/ 1223 w 1596"/>
                <a:gd name="T13" fmla="*/ 1138 h 3084"/>
                <a:gd name="T14" fmla="*/ 1212 w 1596"/>
                <a:gd name="T15" fmla="*/ 1557 h 3084"/>
                <a:gd name="T16" fmla="*/ 1300 w 1596"/>
                <a:gd name="T17" fmla="*/ 2502 h 3084"/>
                <a:gd name="T18" fmla="*/ 1164 w 1596"/>
                <a:gd name="T19" fmla="*/ 3023 h 3084"/>
                <a:gd name="T20" fmla="*/ 1025 w 1596"/>
                <a:gd name="T21" fmla="*/ 2455 h 3084"/>
                <a:gd name="T22" fmla="*/ 905 w 1596"/>
                <a:gd name="T23" fmla="*/ 2136 h 3084"/>
                <a:gd name="T24" fmla="*/ 851 w 1596"/>
                <a:gd name="T25" fmla="*/ 2167 h 3084"/>
                <a:gd name="T26" fmla="*/ 618 w 1596"/>
                <a:gd name="T27" fmla="*/ 3020 h 3084"/>
                <a:gd name="T28" fmla="*/ 567 w 1596"/>
                <a:gd name="T29" fmla="*/ 3030 h 3084"/>
                <a:gd name="T30" fmla="*/ 489 w 1596"/>
                <a:gd name="T31" fmla="*/ 2842 h 3084"/>
                <a:gd name="T32" fmla="*/ 437 w 1596"/>
                <a:gd name="T33" fmla="*/ 1615 h 3084"/>
                <a:gd name="T34" fmla="*/ 363 w 1596"/>
                <a:gd name="T35" fmla="*/ 1555 h 3084"/>
                <a:gd name="T36" fmla="*/ 360 w 1596"/>
                <a:gd name="T37" fmla="*/ 1557 h 3084"/>
                <a:gd name="T38" fmla="*/ 246 w 1596"/>
                <a:gd name="T39" fmla="*/ 1791 h 3084"/>
                <a:gd name="T40" fmla="*/ 163 w 1596"/>
                <a:gd name="T41" fmla="*/ 2157 h 3084"/>
                <a:gd name="T42" fmla="*/ 121 w 1596"/>
                <a:gd name="T43" fmla="*/ 2156 h 3084"/>
                <a:gd name="T44" fmla="*/ 82 w 1596"/>
                <a:gd name="T45" fmla="*/ 2081 h 3084"/>
                <a:gd name="T46" fmla="*/ 305 w 1596"/>
                <a:gd name="T47" fmla="*/ 1017 h 3084"/>
                <a:gd name="T48" fmla="*/ 278 w 1596"/>
                <a:gd name="T49" fmla="*/ 997 h 3084"/>
                <a:gd name="T50" fmla="*/ 40 w 1596"/>
                <a:gd name="T51" fmla="*/ 2105 h 3084"/>
                <a:gd name="T52" fmla="*/ 132 w 1596"/>
                <a:gd name="T53" fmla="*/ 2209 h 3084"/>
                <a:gd name="T54" fmla="*/ 261 w 1596"/>
                <a:gd name="T55" fmla="*/ 1984 h 3084"/>
                <a:gd name="T56" fmla="*/ 334 w 1596"/>
                <a:gd name="T57" fmla="*/ 1623 h 3084"/>
                <a:gd name="T58" fmla="*/ 373 w 1596"/>
                <a:gd name="T59" fmla="*/ 1589 h 3084"/>
                <a:gd name="T60" fmla="*/ 426 w 1596"/>
                <a:gd name="T61" fmla="*/ 1788 h 3084"/>
                <a:gd name="T62" fmla="*/ 488 w 1596"/>
                <a:gd name="T63" fmla="*/ 3017 h 3084"/>
                <a:gd name="T64" fmla="*/ 638 w 1596"/>
                <a:gd name="T65" fmla="*/ 3065 h 3084"/>
                <a:gd name="T66" fmla="*/ 891 w 1596"/>
                <a:gd name="T67" fmla="*/ 2186 h 3084"/>
                <a:gd name="T68" fmla="*/ 987 w 1596"/>
                <a:gd name="T69" fmla="*/ 2456 h 3084"/>
                <a:gd name="T70" fmla="*/ 1115 w 1596"/>
                <a:gd name="T71" fmla="*/ 3065 h 3084"/>
                <a:gd name="T72" fmla="*/ 1176 w 1596"/>
                <a:gd name="T73" fmla="*/ 3071 h 3084"/>
                <a:gd name="T74" fmla="*/ 1337 w 1596"/>
                <a:gd name="T75" fmla="*/ 2504 h 3084"/>
                <a:gd name="T76" fmla="*/ 1260 w 1596"/>
                <a:gd name="T77" fmla="*/ 1564 h 3084"/>
                <a:gd name="T78" fmla="*/ 1282 w 1596"/>
                <a:gd name="T79" fmla="*/ 994 h 3084"/>
                <a:gd name="T80" fmla="*/ 1319 w 1596"/>
                <a:gd name="T81" fmla="*/ 893 h 3084"/>
                <a:gd name="T82" fmla="*/ 1591 w 1596"/>
                <a:gd name="T83" fmla="*/ 79 h 3084"/>
                <a:gd name="T84" fmla="*/ 1532 w 1596"/>
                <a:gd name="T85" fmla="*/ 1 h 30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596" h="3084">
                  <a:moveTo>
                    <a:pt x="1524" y="0"/>
                  </a:moveTo>
                  <a:cubicBezTo>
                    <a:pt x="1483" y="1"/>
                    <a:pt x="1451" y="14"/>
                    <a:pt x="1419" y="33"/>
                  </a:cubicBezTo>
                  <a:cubicBezTo>
                    <a:pt x="1388" y="53"/>
                    <a:pt x="1361" y="83"/>
                    <a:pt x="1337" y="119"/>
                  </a:cubicBezTo>
                  <a:cubicBezTo>
                    <a:pt x="1288" y="190"/>
                    <a:pt x="1248" y="287"/>
                    <a:pt x="1196" y="390"/>
                  </a:cubicBezTo>
                  <a:cubicBezTo>
                    <a:pt x="1131" y="516"/>
                    <a:pt x="1060" y="620"/>
                    <a:pt x="982" y="720"/>
                  </a:cubicBezTo>
                  <a:cubicBezTo>
                    <a:pt x="938" y="777"/>
                    <a:pt x="897" y="845"/>
                    <a:pt x="843" y="884"/>
                  </a:cubicBezTo>
                  <a:lnTo>
                    <a:pt x="809" y="936"/>
                  </a:lnTo>
                  <a:cubicBezTo>
                    <a:pt x="846" y="909"/>
                    <a:pt x="899" y="857"/>
                    <a:pt x="935" y="822"/>
                  </a:cubicBezTo>
                  <a:cubicBezTo>
                    <a:pt x="989" y="768"/>
                    <a:pt x="1025" y="726"/>
                    <a:pt x="1074" y="659"/>
                  </a:cubicBezTo>
                  <a:cubicBezTo>
                    <a:pt x="1133" y="578"/>
                    <a:pt x="1186" y="491"/>
                    <a:pt x="1229" y="407"/>
                  </a:cubicBezTo>
                  <a:cubicBezTo>
                    <a:pt x="1282" y="303"/>
                    <a:pt x="1323" y="206"/>
                    <a:pt x="1368" y="140"/>
                  </a:cubicBezTo>
                  <a:cubicBezTo>
                    <a:pt x="1390" y="107"/>
                    <a:pt x="1418" y="78"/>
                    <a:pt x="1443" y="62"/>
                  </a:cubicBezTo>
                  <a:cubicBezTo>
                    <a:pt x="1464" y="50"/>
                    <a:pt x="1473" y="46"/>
                    <a:pt x="1501" y="45"/>
                  </a:cubicBezTo>
                  <a:cubicBezTo>
                    <a:pt x="1506" y="45"/>
                    <a:pt x="1514" y="47"/>
                    <a:pt x="1519" y="49"/>
                  </a:cubicBezTo>
                  <a:cubicBezTo>
                    <a:pt x="1524" y="52"/>
                    <a:pt x="1529" y="54"/>
                    <a:pt x="1534" y="60"/>
                  </a:cubicBezTo>
                  <a:cubicBezTo>
                    <a:pt x="1540" y="66"/>
                    <a:pt x="1548" y="76"/>
                    <a:pt x="1550" y="92"/>
                  </a:cubicBezTo>
                  <a:cubicBezTo>
                    <a:pt x="1554" y="122"/>
                    <a:pt x="1551" y="167"/>
                    <a:pt x="1542" y="218"/>
                  </a:cubicBezTo>
                  <a:cubicBezTo>
                    <a:pt x="1524" y="320"/>
                    <a:pt x="1482" y="450"/>
                    <a:pt x="1432" y="563"/>
                  </a:cubicBezTo>
                  <a:cubicBezTo>
                    <a:pt x="1376" y="687"/>
                    <a:pt x="1318" y="775"/>
                    <a:pt x="1287" y="884"/>
                  </a:cubicBezTo>
                  <a:cubicBezTo>
                    <a:pt x="1286" y="885"/>
                    <a:pt x="1284" y="888"/>
                    <a:pt x="1284" y="889"/>
                  </a:cubicBezTo>
                  <a:cubicBezTo>
                    <a:pt x="1264" y="918"/>
                    <a:pt x="1231" y="1028"/>
                    <a:pt x="1223" y="1138"/>
                  </a:cubicBezTo>
                  <a:cubicBezTo>
                    <a:pt x="1214" y="1251"/>
                    <a:pt x="1201" y="1379"/>
                    <a:pt x="1210" y="1532"/>
                  </a:cubicBezTo>
                  <a:lnTo>
                    <a:pt x="1211" y="1548"/>
                  </a:lnTo>
                  <a:lnTo>
                    <a:pt x="1212" y="1557"/>
                  </a:lnTo>
                  <a:cubicBezTo>
                    <a:pt x="1237" y="1751"/>
                    <a:pt x="1259" y="1880"/>
                    <a:pt x="1281" y="2054"/>
                  </a:cubicBezTo>
                  <a:cubicBezTo>
                    <a:pt x="1299" y="2191"/>
                    <a:pt x="1300" y="2324"/>
                    <a:pt x="1302" y="2445"/>
                  </a:cubicBezTo>
                  <a:cubicBezTo>
                    <a:pt x="1302" y="2446"/>
                    <a:pt x="1300" y="2501"/>
                    <a:pt x="1300" y="2502"/>
                  </a:cubicBezTo>
                  <a:cubicBezTo>
                    <a:pt x="1291" y="2632"/>
                    <a:pt x="1286" y="2740"/>
                    <a:pt x="1261" y="2843"/>
                  </a:cubicBezTo>
                  <a:cubicBezTo>
                    <a:pt x="1249" y="2895"/>
                    <a:pt x="1241" y="2940"/>
                    <a:pt x="1224" y="2973"/>
                  </a:cubicBezTo>
                  <a:cubicBezTo>
                    <a:pt x="1208" y="3004"/>
                    <a:pt x="1186" y="3017"/>
                    <a:pt x="1164" y="3023"/>
                  </a:cubicBezTo>
                  <a:cubicBezTo>
                    <a:pt x="1127" y="3021"/>
                    <a:pt x="1098" y="2992"/>
                    <a:pt x="1076" y="2952"/>
                  </a:cubicBezTo>
                  <a:cubicBezTo>
                    <a:pt x="1054" y="2910"/>
                    <a:pt x="1040" y="2856"/>
                    <a:pt x="1033" y="2797"/>
                  </a:cubicBezTo>
                  <a:cubicBezTo>
                    <a:pt x="1018" y="2679"/>
                    <a:pt x="1028" y="2545"/>
                    <a:pt x="1025" y="2455"/>
                  </a:cubicBezTo>
                  <a:cubicBezTo>
                    <a:pt x="1023" y="2392"/>
                    <a:pt x="1001" y="2290"/>
                    <a:pt x="972" y="2232"/>
                  </a:cubicBezTo>
                  <a:cubicBezTo>
                    <a:pt x="958" y="2203"/>
                    <a:pt x="942" y="2178"/>
                    <a:pt x="927" y="2159"/>
                  </a:cubicBezTo>
                  <a:cubicBezTo>
                    <a:pt x="920" y="2150"/>
                    <a:pt x="913" y="2142"/>
                    <a:pt x="905" y="2136"/>
                  </a:cubicBezTo>
                  <a:cubicBezTo>
                    <a:pt x="897" y="2130"/>
                    <a:pt x="873" y="2128"/>
                    <a:pt x="861" y="2128"/>
                  </a:cubicBezTo>
                  <a:lnTo>
                    <a:pt x="855" y="2153"/>
                  </a:lnTo>
                  <a:lnTo>
                    <a:pt x="851" y="2167"/>
                  </a:lnTo>
                  <a:cubicBezTo>
                    <a:pt x="816" y="2323"/>
                    <a:pt x="770" y="2596"/>
                    <a:pt x="733" y="2745"/>
                  </a:cubicBezTo>
                  <a:cubicBezTo>
                    <a:pt x="711" y="2836"/>
                    <a:pt x="686" y="2925"/>
                    <a:pt x="659" y="2980"/>
                  </a:cubicBezTo>
                  <a:cubicBezTo>
                    <a:pt x="646" y="3007"/>
                    <a:pt x="622" y="3017"/>
                    <a:pt x="618" y="3020"/>
                  </a:cubicBezTo>
                  <a:cubicBezTo>
                    <a:pt x="610" y="3024"/>
                    <a:pt x="612" y="3023"/>
                    <a:pt x="593" y="3028"/>
                  </a:cubicBezTo>
                  <a:lnTo>
                    <a:pt x="578" y="3030"/>
                  </a:lnTo>
                  <a:lnTo>
                    <a:pt x="567" y="3030"/>
                  </a:lnTo>
                  <a:cubicBezTo>
                    <a:pt x="561" y="3029"/>
                    <a:pt x="558" y="3029"/>
                    <a:pt x="550" y="3025"/>
                  </a:cubicBezTo>
                  <a:cubicBezTo>
                    <a:pt x="543" y="3021"/>
                    <a:pt x="537" y="3014"/>
                    <a:pt x="528" y="2998"/>
                  </a:cubicBezTo>
                  <a:cubicBezTo>
                    <a:pt x="511" y="2969"/>
                    <a:pt x="496" y="2912"/>
                    <a:pt x="489" y="2842"/>
                  </a:cubicBezTo>
                  <a:cubicBezTo>
                    <a:pt x="474" y="2703"/>
                    <a:pt x="473" y="2509"/>
                    <a:pt x="473" y="2316"/>
                  </a:cubicBezTo>
                  <a:cubicBezTo>
                    <a:pt x="472" y="2122"/>
                    <a:pt x="474" y="1928"/>
                    <a:pt x="463" y="1785"/>
                  </a:cubicBezTo>
                  <a:cubicBezTo>
                    <a:pt x="458" y="1714"/>
                    <a:pt x="450" y="1656"/>
                    <a:pt x="437" y="1615"/>
                  </a:cubicBezTo>
                  <a:cubicBezTo>
                    <a:pt x="430" y="1595"/>
                    <a:pt x="422" y="1579"/>
                    <a:pt x="409" y="1567"/>
                  </a:cubicBezTo>
                  <a:cubicBezTo>
                    <a:pt x="397" y="1556"/>
                    <a:pt x="379" y="1552"/>
                    <a:pt x="363" y="1556"/>
                  </a:cubicBezTo>
                  <a:lnTo>
                    <a:pt x="363" y="1555"/>
                  </a:lnTo>
                  <a:cubicBezTo>
                    <a:pt x="362" y="1555"/>
                    <a:pt x="362" y="1556"/>
                    <a:pt x="361" y="1556"/>
                  </a:cubicBezTo>
                  <a:cubicBezTo>
                    <a:pt x="361" y="1556"/>
                    <a:pt x="360" y="1556"/>
                    <a:pt x="360" y="1556"/>
                  </a:cubicBezTo>
                  <a:lnTo>
                    <a:pt x="360" y="1557"/>
                  </a:lnTo>
                  <a:cubicBezTo>
                    <a:pt x="334" y="1562"/>
                    <a:pt x="314" y="1577"/>
                    <a:pt x="301" y="1594"/>
                  </a:cubicBezTo>
                  <a:cubicBezTo>
                    <a:pt x="288" y="1612"/>
                    <a:pt x="282" y="1631"/>
                    <a:pt x="276" y="1644"/>
                  </a:cubicBezTo>
                  <a:cubicBezTo>
                    <a:pt x="261" y="1679"/>
                    <a:pt x="253" y="1731"/>
                    <a:pt x="246" y="1791"/>
                  </a:cubicBezTo>
                  <a:cubicBezTo>
                    <a:pt x="239" y="1851"/>
                    <a:pt x="233" y="1918"/>
                    <a:pt x="224" y="1979"/>
                  </a:cubicBezTo>
                  <a:cubicBezTo>
                    <a:pt x="215" y="2039"/>
                    <a:pt x="203" y="2094"/>
                    <a:pt x="187" y="2126"/>
                  </a:cubicBezTo>
                  <a:cubicBezTo>
                    <a:pt x="179" y="2143"/>
                    <a:pt x="170" y="2153"/>
                    <a:pt x="163" y="2157"/>
                  </a:cubicBezTo>
                  <a:cubicBezTo>
                    <a:pt x="155" y="2161"/>
                    <a:pt x="150" y="2166"/>
                    <a:pt x="136" y="2163"/>
                  </a:cubicBezTo>
                  <a:lnTo>
                    <a:pt x="128" y="2160"/>
                  </a:lnTo>
                  <a:lnTo>
                    <a:pt x="121" y="2156"/>
                  </a:lnTo>
                  <a:cubicBezTo>
                    <a:pt x="121" y="2156"/>
                    <a:pt x="119" y="2155"/>
                    <a:pt x="117" y="2154"/>
                  </a:cubicBezTo>
                  <a:cubicBezTo>
                    <a:pt x="115" y="2152"/>
                    <a:pt x="114" y="2149"/>
                    <a:pt x="110" y="2143"/>
                  </a:cubicBezTo>
                  <a:cubicBezTo>
                    <a:pt x="101" y="2131"/>
                    <a:pt x="91" y="2110"/>
                    <a:pt x="82" y="2081"/>
                  </a:cubicBezTo>
                  <a:cubicBezTo>
                    <a:pt x="65" y="2024"/>
                    <a:pt x="51" y="1939"/>
                    <a:pt x="46" y="1839"/>
                  </a:cubicBezTo>
                  <a:cubicBezTo>
                    <a:pt x="38" y="1638"/>
                    <a:pt x="68" y="1375"/>
                    <a:pt x="181" y="1144"/>
                  </a:cubicBezTo>
                  <a:cubicBezTo>
                    <a:pt x="207" y="1089"/>
                    <a:pt x="254" y="1045"/>
                    <a:pt x="305" y="1017"/>
                  </a:cubicBezTo>
                  <a:cubicBezTo>
                    <a:pt x="355" y="990"/>
                    <a:pt x="457" y="942"/>
                    <a:pt x="520" y="915"/>
                  </a:cubicBezTo>
                  <a:lnTo>
                    <a:pt x="445" y="920"/>
                  </a:lnTo>
                  <a:cubicBezTo>
                    <a:pt x="377" y="950"/>
                    <a:pt x="332" y="967"/>
                    <a:pt x="278" y="997"/>
                  </a:cubicBezTo>
                  <a:cubicBezTo>
                    <a:pt x="224" y="1026"/>
                    <a:pt x="178" y="1065"/>
                    <a:pt x="147" y="1128"/>
                  </a:cubicBezTo>
                  <a:cubicBezTo>
                    <a:pt x="31" y="1366"/>
                    <a:pt x="0" y="1634"/>
                    <a:pt x="9" y="1840"/>
                  </a:cubicBezTo>
                  <a:cubicBezTo>
                    <a:pt x="13" y="1943"/>
                    <a:pt x="21" y="2043"/>
                    <a:pt x="40" y="2105"/>
                  </a:cubicBezTo>
                  <a:cubicBezTo>
                    <a:pt x="50" y="2136"/>
                    <a:pt x="60" y="2162"/>
                    <a:pt x="73" y="2179"/>
                  </a:cubicBezTo>
                  <a:cubicBezTo>
                    <a:pt x="79" y="2188"/>
                    <a:pt x="92" y="2197"/>
                    <a:pt x="101" y="2203"/>
                  </a:cubicBezTo>
                  <a:cubicBezTo>
                    <a:pt x="108" y="2206"/>
                    <a:pt x="123" y="2210"/>
                    <a:pt x="132" y="2209"/>
                  </a:cubicBezTo>
                  <a:cubicBezTo>
                    <a:pt x="150" y="2209"/>
                    <a:pt x="161" y="2206"/>
                    <a:pt x="178" y="2198"/>
                  </a:cubicBezTo>
                  <a:cubicBezTo>
                    <a:pt x="195" y="2188"/>
                    <a:pt x="211" y="2163"/>
                    <a:pt x="221" y="2143"/>
                  </a:cubicBezTo>
                  <a:cubicBezTo>
                    <a:pt x="241" y="2103"/>
                    <a:pt x="252" y="2046"/>
                    <a:pt x="261" y="1984"/>
                  </a:cubicBezTo>
                  <a:cubicBezTo>
                    <a:pt x="270" y="1922"/>
                    <a:pt x="280" y="1861"/>
                    <a:pt x="287" y="1802"/>
                  </a:cubicBezTo>
                  <a:cubicBezTo>
                    <a:pt x="294" y="1743"/>
                    <a:pt x="303" y="1692"/>
                    <a:pt x="315" y="1665"/>
                  </a:cubicBezTo>
                  <a:cubicBezTo>
                    <a:pt x="321" y="1651"/>
                    <a:pt x="325" y="1636"/>
                    <a:pt x="334" y="1623"/>
                  </a:cubicBezTo>
                  <a:cubicBezTo>
                    <a:pt x="343" y="1611"/>
                    <a:pt x="354" y="1591"/>
                    <a:pt x="372" y="1588"/>
                  </a:cubicBezTo>
                  <a:lnTo>
                    <a:pt x="371" y="1589"/>
                  </a:lnTo>
                  <a:lnTo>
                    <a:pt x="373" y="1589"/>
                  </a:lnTo>
                  <a:cubicBezTo>
                    <a:pt x="379" y="1586"/>
                    <a:pt x="379" y="1589"/>
                    <a:pt x="383" y="1594"/>
                  </a:cubicBezTo>
                  <a:cubicBezTo>
                    <a:pt x="388" y="1598"/>
                    <a:pt x="395" y="1610"/>
                    <a:pt x="401" y="1627"/>
                  </a:cubicBezTo>
                  <a:cubicBezTo>
                    <a:pt x="413" y="1662"/>
                    <a:pt x="421" y="1718"/>
                    <a:pt x="426" y="1788"/>
                  </a:cubicBezTo>
                  <a:cubicBezTo>
                    <a:pt x="436" y="1928"/>
                    <a:pt x="435" y="2122"/>
                    <a:pt x="435" y="2315"/>
                  </a:cubicBezTo>
                  <a:cubicBezTo>
                    <a:pt x="435" y="2509"/>
                    <a:pt x="436" y="2703"/>
                    <a:pt x="451" y="2846"/>
                  </a:cubicBezTo>
                  <a:cubicBezTo>
                    <a:pt x="459" y="2917"/>
                    <a:pt x="470" y="2976"/>
                    <a:pt x="488" y="3017"/>
                  </a:cubicBezTo>
                  <a:cubicBezTo>
                    <a:pt x="497" y="3038"/>
                    <a:pt x="507" y="3054"/>
                    <a:pt x="522" y="3065"/>
                  </a:cubicBezTo>
                  <a:cubicBezTo>
                    <a:pt x="535" y="3076"/>
                    <a:pt x="551" y="3082"/>
                    <a:pt x="568" y="3082"/>
                  </a:cubicBezTo>
                  <a:cubicBezTo>
                    <a:pt x="593" y="3084"/>
                    <a:pt x="618" y="3079"/>
                    <a:pt x="638" y="3065"/>
                  </a:cubicBezTo>
                  <a:cubicBezTo>
                    <a:pt x="660" y="3050"/>
                    <a:pt x="677" y="3027"/>
                    <a:pt x="692" y="2998"/>
                  </a:cubicBezTo>
                  <a:cubicBezTo>
                    <a:pt x="723" y="2939"/>
                    <a:pt x="746" y="2855"/>
                    <a:pt x="768" y="2760"/>
                  </a:cubicBezTo>
                  <a:cubicBezTo>
                    <a:pt x="809" y="2578"/>
                    <a:pt x="871" y="2339"/>
                    <a:pt x="891" y="2186"/>
                  </a:cubicBezTo>
                  <a:cubicBezTo>
                    <a:pt x="894" y="2189"/>
                    <a:pt x="905" y="2201"/>
                    <a:pt x="909" y="2205"/>
                  </a:cubicBezTo>
                  <a:cubicBezTo>
                    <a:pt x="921" y="2221"/>
                    <a:pt x="931" y="2243"/>
                    <a:pt x="944" y="2270"/>
                  </a:cubicBezTo>
                  <a:cubicBezTo>
                    <a:pt x="971" y="2325"/>
                    <a:pt x="986" y="2402"/>
                    <a:pt x="987" y="2456"/>
                  </a:cubicBezTo>
                  <a:cubicBezTo>
                    <a:pt x="990" y="2542"/>
                    <a:pt x="981" y="2679"/>
                    <a:pt x="996" y="2802"/>
                  </a:cubicBezTo>
                  <a:cubicBezTo>
                    <a:pt x="1004" y="2863"/>
                    <a:pt x="1021" y="2940"/>
                    <a:pt x="1047" y="2988"/>
                  </a:cubicBezTo>
                  <a:cubicBezTo>
                    <a:pt x="1065" y="3021"/>
                    <a:pt x="1085" y="3051"/>
                    <a:pt x="1115" y="3065"/>
                  </a:cubicBezTo>
                  <a:cubicBezTo>
                    <a:pt x="1129" y="3071"/>
                    <a:pt x="1129" y="3070"/>
                    <a:pt x="1146" y="3075"/>
                  </a:cubicBezTo>
                  <a:lnTo>
                    <a:pt x="1164" y="3074"/>
                  </a:lnTo>
                  <a:lnTo>
                    <a:pt x="1176" y="3071"/>
                  </a:lnTo>
                  <a:cubicBezTo>
                    <a:pt x="1211" y="3058"/>
                    <a:pt x="1237" y="3029"/>
                    <a:pt x="1257" y="2990"/>
                  </a:cubicBezTo>
                  <a:cubicBezTo>
                    <a:pt x="1276" y="2952"/>
                    <a:pt x="1290" y="2904"/>
                    <a:pt x="1300" y="2849"/>
                  </a:cubicBezTo>
                  <a:cubicBezTo>
                    <a:pt x="1321" y="2741"/>
                    <a:pt x="1328" y="2635"/>
                    <a:pt x="1337" y="2504"/>
                  </a:cubicBezTo>
                  <a:lnTo>
                    <a:pt x="1338" y="2476"/>
                  </a:lnTo>
                  <a:lnTo>
                    <a:pt x="1338" y="2475"/>
                  </a:lnTo>
                  <a:cubicBezTo>
                    <a:pt x="1356" y="2123"/>
                    <a:pt x="1301" y="1901"/>
                    <a:pt x="1260" y="1564"/>
                  </a:cubicBezTo>
                  <a:cubicBezTo>
                    <a:pt x="1258" y="1556"/>
                    <a:pt x="1258" y="1537"/>
                    <a:pt x="1258" y="1537"/>
                  </a:cubicBezTo>
                  <a:cubicBezTo>
                    <a:pt x="1249" y="1386"/>
                    <a:pt x="1251" y="1247"/>
                    <a:pt x="1259" y="1137"/>
                  </a:cubicBezTo>
                  <a:cubicBezTo>
                    <a:pt x="1263" y="1083"/>
                    <a:pt x="1273" y="1033"/>
                    <a:pt x="1282" y="994"/>
                  </a:cubicBezTo>
                  <a:cubicBezTo>
                    <a:pt x="1292" y="954"/>
                    <a:pt x="1298" y="934"/>
                    <a:pt x="1315" y="905"/>
                  </a:cubicBezTo>
                  <a:lnTo>
                    <a:pt x="1317" y="899"/>
                  </a:lnTo>
                  <a:lnTo>
                    <a:pt x="1319" y="893"/>
                  </a:lnTo>
                  <a:cubicBezTo>
                    <a:pt x="1349" y="790"/>
                    <a:pt x="1414" y="710"/>
                    <a:pt x="1471" y="582"/>
                  </a:cubicBezTo>
                  <a:cubicBezTo>
                    <a:pt x="1523" y="466"/>
                    <a:pt x="1565" y="329"/>
                    <a:pt x="1583" y="222"/>
                  </a:cubicBezTo>
                  <a:cubicBezTo>
                    <a:pt x="1593" y="169"/>
                    <a:pt x="1596" y="116"/>
                    <a:pt x="1591" y="79"/>
                  </a:cubicBezTo>
                  <a:cubicBezTo>
                    <a:pt x="1588" y="60"/>
                    <a:pt x="1579" y="42"/>
                    <a:pt x="1570" y="28"/>
                  </a:cubicBezTo>
                  <a:cubicBezTo>
                    <a:pt x="1562" y="15"/>
                    <a:pt x="1546" y="5"/>
                    <a:pt x="1536" y="2"/>
                  </a:cubicBezTo>
                  <a:lnTo>
                    <a:pt x="1532" y="1"/>
                  </a:lnTo>
                  <a:lnTo>
                    <a:pt x="1529" y="0"/>
                  </a:lnTo>
                  <a:lnTo>
                    <a:pt x="1524" y="0"/>
                  </a:lnTo>
                  <a:close/>
                </a:path>
              </a:pathLst>
            </a:custGeom>
            <a:solidFill>
              <a:srgbClr val="000000"/>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3" name="Freeform 13"/>
            <p:cNvSpPr>
              <a:spLocks/>
            </p:cNvSpPr>
            <p:nvPr/>
          </p:nvSpPr>
          <p:spPr bwMode="auto">
            <a:xfrm>
              <a:off x="4902200" y="4216400"/>
              <a:ext cx="282575" cy="106363"/>
            </a:xfrm>
            <a:custGeom>
              <a:avLst/>
              <a:gdLst>
                <a:gd name="T0" fmla="*/ 758 w 758"/>
                <a:gd name="T1" fmla="*/ 265 h 282"/>
                <a:gd name="T2" fmla="*/ 659 w 758"/>
                <a:gd name="T3" fmla="*/ 173 h 282"/>
                <a:gd name="T4" fmla="*/ 489 w 758"/>
                <a:gd name="T5" fmla="*/ 89 h 282"/>
                <a:gd name="T6" fmla="*/ 241 w 758"/>
                <a:gd name="T7" fmla="*/ 13 h 282"/>
                <a:gd name="T8" fmla="*/ 164 w 758"/>
                <a:gd name="T9" fmla="*/ 0 h 282"/>
                <a:gd name="T10" fmla="*/ 73 w 758"/>
                <a:gd name="T11" fmla="*/ 55 h 282"/>
                <a:gd name="T12" fmla="*/ 0 w 758"/>
                <a:gd name="T13" fmla="*/ 164 h 282"/>
                <a:gd name="T14" fmla="*/ 5 w 758"/>
                <a:gd name="T15" fmla="*/ 279 h 282"/>
                <a:gd name="T16" fmla="*/ 285 w 758"/>
                <a:gd name="T17" fmla="*/ 230 h 282"/>
                <a:gd name="T18" fmla="*/ 473 w 758"/>
                <a:gd name="T19" fmla="*/ 226 h 282"/>
                <a:gd name="T20" fmla="*/ 754 w 758"/>
                <a:gd name="T21" fmla="*/ 282 h 282"/>
                <a:gd name="T22" fmla="*/ 758 w 758"/>
                <a:gd name="T23" fmla="*/ 265 h 28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758" h="282">
                  <a:moveTo>
                    <a:pt x="758" y="265"/>
                  </a:moveTo>
                  <a:lnTo>
                    <a:pt x="659" y="173"/>
                  </a:lnTo>
                  <a:lnTo>
                    <a:pt x="489" y="89"/>
                  </a:lnTo>
                  <a:lnTo>
                    <a:pt x="241" y="13"/>
                  </a:lnTo>
                  <a:lnTo>
                    <a:pt x="164" y="0"/>
                  </a:lnTo>
                  <a:lnTo>
                    <a:pt x="73" y="55"/>
                  </a:lnTo>
                  <a:lnTo>
                    <a:pt x="0" y="164"/>
                  </a:lnTo>
                  <a:lnTo>
                    <a:pt x="5" y="279"/>
                  </a:lnTo>
                  <a:lnTo>
                    <a:pt x="285" y="230"/>
                  </a:lnTo>
                  <a:lnTo>
                    <a:pt x="473" y="226"/>
                  </a:lnTo>
                  <a:lnTo>
                    <a:pt x="754" y="282"/>
                  </a:lnTo>
                  <a:lnTo>
                    <a:pt x="758" y="265"/>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4" name="Freeform 14"/>
            <p:cNvSpPr>
              <a:spLocks noEditPoints="1"/>
            </p:cNvSpPr>
            <p:nvPr/>
          </p:nvSpPr>
          <p:spPr bwMode="auto">
            <a:xfrm>
              <a:off x="4908550" y="4233863"/>
              <a:ext cx="100013" cy="84138"/>
            </a:xfrm>
            <a:custGeom>
              <a:avLst/>
              <a:gdLst>
                <a:gd name="T0" fmla="*/ 10 w 266"/>
                <a:gd name="T1" fmla="*/ 227 h 229"/>
                <a:gd name="T2" fmla="*/ 3 w 266"/>
                <a:gd name="T3" fmla="*/ 217 h 229"/>
                <a:gd name="T4" fmla="*/ 5 w 266"/>
                <a:gd name="T5" fmla="*/ 155 h 229"/>
                <a:gd name="T6" fmla="*/ 56 w 266"/>
                <a:gd name="T7" fmla="*/ 64 h 229"/>
                <a:gd name="T8" fmla="*/ 143 w 266"/>
                <a:gd name="T9" fmla="*/ 1 h 229"/>
                <a:gd name="T10" fmla="*/ 152 w 266"/>
                <a:gd name="T11" fmla="*/ 6 h 229"/>
                <a:gd name="T12" fmla="*/ 158 w 266"/>
                <a:gd name="T13" fmla="*/ 13 h 229"/>
                <a:gd name="T14" fmla="*/ 165 w 266"/>
                <a:gd name="T15" fmla="*/ 20 h 229"/>
                <a:gd name="T16" fmla="*/ 172 w 266"/>
                <a:gd name="T17" fmla="*/ 27 h 229"/>
                <a:gd name="T18" fmla="*/ 178 w 266"/>
                <a:gd name="T19" fmla="*/ 32 h 229"/>
                <a:gd name="T20" fmla="*/ 190 w 266"/>
                <a:gd name="T21" fmla="*/ 38 h 229"/>
                <a:gd name="T22" fmla="*/ 203 w 266"/>
                <a:gd name="T23" fmla="*/ 44 h 229"/>
                <a:gd name="T24" fmla="*/ 209 w 266"/>
                <a:gd name="T25" fmla="*/ 51 h 229"/>
                <a:gd name="T26" fmla="*/ 216 w 266"/>
                <a:gd name="T27" fmla="*/ 58 h 229"/>
                <a:gd name="T28" fmla="*/ 221 w 266"/>
                <a:gd name="T29" fmla="*/ 64 h 229"/>
                <a:gd name="T30" fmla="*/ 227 w 266"/>
                <a:gd name="T31" fmla="*/ 70 h 229"/>
                <a:gd name="T32" fmla="*/ 240 w 266"/>
                <a:gd name="T33" fmla="*/ 75 h 229"/>
                <a:gd name="T34" fmla="*/ 253 w 266"/>
                <a:gd name="T35" fmla="*/ 82 h 229"/>
                <a:gd name="T36" fmla="*/ 261 w 266"/>
                <a:gd name="T37" fmla="*/ 89 h 229"/>
                <a:gd name="T38" fmla="*/ 245 w 266"/>
                <a:gd name="T39" fmla="*/ 99 h 229"/>
                <a:gd name="T40" fmla="*/ 117 w 266"/>
                <a:gd name="T41" fmla="*/ 163 h 229"/>
                <a:gd name="T42" fmla="*/ 77 w 266"/>
                <a:gd name="T43" fmla="*/ 194 h 229"/>
                <a:gd name="T44" fmla="*/ 55 w 266"/>
                <a:gd name="T45" fmla="*/ 212 h 229"/>
                <a:gd name="T46" fmla="*/ 52 w 266"/>
                <a:gd name="T47" fmla="*/ 214 h 229"/>
                <a:gd name="T48" fmla="*/ 33 w 266"/>
                <a:gd name="T49" fmla="*/ 223 h 229"/>
                <a:gd name="T50" fmla="*/ 10 w 266"/>
                <a:gd name="T51" fmla="*/ 227 h 229"/>
                <a:gd name="T52" fmla="*/ 28 w 266"/>
                <a:gd name="T53" fmla="*/ 193 h 229"/>
                <a:gd name="T54" fmla="*/ 22 w 266"/>
                <a:gd name="T55" fmla="*/ 188 h 229"/>
                <a:gd name="T56" fmla="*/ 17 w 266"/>
                <a:gd name="T57" fmla="*/ 193 h 229"/>
                <a:gd name="T58" fmla="*/ 22 w 266"/>
                <a:gd name="T59" fmla="*/ 199 h 229"/>
                <a:gd name="T60" fmla="*/ 28 w 266"/>
                <a:gd name="T61" fmla="*/ 193 h 229"/>
                <a:gd name="T62" fmla="*/ 141 w 266"/>
                <a:gd name="T63" fmla="*/ 94 h 229"/>
                <a:gd name="T64" fmla="*/ 134 w 266"/>
                <a:gd name="T65" fmla="*/ 88 h 229"/>
                <a:gd name="T66" fmla="*/ 127 w 266"/>
                <a:gd name="T67" fmla="*/ 94 h 229"/>
                <a:gd name="T68" fmla="*/ 134 w 266"/>
                <a:gd name="T69" fmla="*/ 100 h 229"/>
                <a:gd name="T70" fmla="*/ 141 w 266"/>
                <a:gd name="T71" fmla="*/ 94 h 22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Lst>
              <a:rect l="0" t="0" r="r" b="b"/>
              <a:pathLst>
                <a:path w="266" h="229">
                  <a:moveTo>
                    <a:pt x="10" y="227"/>
                  </a:moveTo>
                  <a:cubicBezTo>
                    <a:pt x="6" y="226"/>
                    <a:pt x="4" y="223"/>
                    <a:pt x="3" y="217"/>
                  </a:cubicBezTo>
                  <a:cubicBezTo>
                    <a:pt x="0" y="202"/>
                    <a:pt x="1" y="169"/>
                    <a:pt x="5" y="155"/>
                  </a:cubicBezTo>
                  <a:cubicBezTo>
                    <a:pt x="11" y="128"/>
                    <a:pt x="33" y="89"/>
                    <a:pt x="56" y="64"/>
                  </a:cubicBezTo>
                  <a:cubicBezTo>
                    <a:pt x="77" y="41"/>
                    <a:pt x="129" y="2"/>
                    <a:pt x="143" y="1"/>
                  </a:cubicBezTo>
                  <a:cubicBezTo>
                    <a:pt x="151" y="0"/>
                    <a:pt x="152" y="0"/>
                    <a:pt x="152" y="6"/>
                  </a:cubicBezTo>
                  <a:cubicBezTo>
                    <a:pt x="152" y="13"/>
                    <a:pt x="152" y="13"/>
                    <a:pt x="158" y="13"/>
                  </a:cubicBezTo>
                  <a:cubicBezTo>
                    <a:pt x="164" y="13"/>
                    <a:pt x="165" y="14"/>
                    <a:pt x="165" y="20"/>
                  </a:cubicBezTo>
                  <a:cubicBezTo>
                    <a:pt x="165" y="26"/>
                    <a:pt x="166" y="27"/>
                    <a:pt x="172" y="27"/>
                  </a:cubicBezTo>
                  <a:cubicBezTo>
                    <a:pt x="177" y="27"/>
                    <a:pt x="178" y="27"/>
                    <a:pt x="178" y="32"/>
                  </a:cubicBezTo>
                  <a:cubicBezTo>
                    <a:pt x="178" y="37"/>
                    <a:pt x="179" y="38"/>
                    <a:pt x="190" y="38"/>
                  </a:cubicBezTo>
                  <a:cubicBezTo>
                    <a:pt x="202" y="38"/>
                    <a:pt x="203" y="38"/>
                    <a:pt x="203" y="44"/>
                  </a:cubicBezTo>
                  <a:cubicBezTo>
                    <a:pt x="203" y="50"/>
                    <a:pt x="203" y="51"/>
                    <a:pt x="209" y="51"/>
                  </a:cubicBezTo>
                  <a:cubicBezTo>
                    <a:pt x="215" y="51"/>
                    <a:pt x="216" y="52"/>
                    <a:pt x="216" y="58"/>
                  </a:cubicBezTo>
                  <a:cubicBezTo>
                    <a:pt x="216" y="63"/>
                    <a:pt x="217" y="64"/>
                    <a:pt x="221" y="64"/>
                  </a:cubicBezTo>
                  <a:cubicBezTo>
                    <a:pt x="226" y="64"/>
                    <a:pt x="227" y="65"/>
                    <a:pt x="227" y="70"/>
                  </a:cubicBezTo>
                  <a:cubicBezTo>
                    <a:pt x="227" y="75"/>
                    <a:pt x="227" y="75"/>
                    <a:pt x="240" y="75"/>
                  </a:cubicBezTo>
                  <a:cubicBezTo>
                    <a:pt x="253" y="75"/>
                    <a:pt x="253" y="75"/>
                    <a:pt x="253" y="82"/>
                  </a:cubicBezTo>
                  <a:cubicBezTo>
                    <a:pt x="253" y="88"/>
                    <a:pt x="254" y="88"/>
                    <a:pt x="261" y="89"/>
                  </a:cubicBezTo>
                  <a:cubicBezTo>
                    <a:pt x="266" y="89"/>
                    <a:pt x="263" y="91"/>
                    <a:pt x="245" y="99"/>
                  </a:cubicBezTo>
                  <a:cubicBezTo>
                    <a:pt x="204" y="116"/>
                    <a:pt x="138" y="149"/>
                    <a:pt x="117" y="163"/>
                  </a:cubicBezTo>
                  <a:cubicBezTo>
                    <a:pt x="106" y="171"/>
                    <a:pt x="88" y="185"/>
                    <a:pt x="77" y="194"/>
                  </a:cubicBezTo>
                  <a:cubicBezTo>
                    <a:pt x="66" y="204"/>
                    <a:pt x="56" y="212"/>
                    <a:pt x="55" y="212"/>
                  </a:cubicBezTo>
                  <a:cubicBezTo>
                    <a:pt x="54" y="212"/>
                    <a:pt x="52" y="213"/>
                    <a:pt x="52" y="214"/>
                  </a:cubicBezTo>
                  <a:cubicBezTo>
                    <a:pt x="51" y="215"/>
                    <a:pt x="43" y="219"/>
                    <a:pt x="33" y="223"/>
                  </a:cubicBezTo>
                  <a:cubicBezTo>
                    <a:pt x="20" y="228"/>
                    <a:pt x="14" y="229"/>
                    <a:pt x="10" y="227"/>
                  </a:cubicBezTo>
                  <a:close/>
                  <a:moveTo>
                    <a:pt x="28" y="193"/>
                  </a:moveTo>
                  <a:cubicBezTo>
                    <a:pt x="28" y="189"/>
                    <a:pt x="27" y="188"/>
                    <a:pt x="22" y="188"/>
                  </a:cubicBezTo>
                  <a:cubicBezTo>
                    <a:pt x="18" y="188"/>
                    <a:pt x="17" y="189"/>
                    <a:pt x="17" y="193"/>
                  </a:cubicBezTo>
                  <a:cubicBezTo>
                    <a:pt x="17" y="198"/>
                    <a:pt x="18" y="199"/>
                    <a:pt x="22" y="199"/>
                  </a:cubicBezTo>
                  <a:cubicBezTo>
                    <a:pt x="27" y="199"/>
                    <a:pt x="28" y="198"/>
                    <a:pt x="28" y="193"/>
                  </a:cubicBezTo>
                  <a:close/>
                  <a:moveTo>
                    <a:pt x="141" y="94"/>
                  </a:moveTo>
                  <a:cubicBezTo>
                    <a:pt x="141" y="89"/>
                    <a:pt x="140" y="88"/>
                    <a:pt x="134" y="88"/>
                  </a:cubicBezTo>
                  <a:cubicBezTo>
                    <a:pt x="128" y="88"/>
                    <a:pt x="127" y="89"/>
                    <a:pt x="127" y="94"/>
                  </a:cubicBezTo>
                  <a:cubicBezTo>
                    <a:pt x="127" y="99"/>
                    <a:pt x="128" y="100"/>
                    <a:pt x="134" y="100"/>
                  </a:cubicBezTo>
                  <a:cubicBezTo>
                    <a:pt x="140" y="100"/>
                    <a:pt x="141" y="99"/>
                    <a:pt x="141"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36" name="Freeform 15"/>
            <p:cNvSpPr>
              <a:spLocks/>
            </p:cNvSpPr>
            <p:nvPr/>
          </p:nvSpPr>
          <p:spPr bwMode="auto">
            <a:xfrm>
              <a:off x="5192713" y="4157663"/>
              <a:ext cx="57150" cy="149225"/>
            </a:xfrm>
            <a:custGeom>
              <a:avLst/>
              <a:gdLst>
                <a:gd name="T0" fmla="*/ 0 w 154"/>
                <a:gd name="T1" fmla="*/ 398 h 398"/>
                <a:gd name="T2" fmla="*/ 1 w 154"/>
                <a:gd name="T3" fmla="*/ 333 h 398"/>
                <a:gd name="T4" fmla="*/ 46 w 154"/>
                <a:gd name="T5" fmla="*/ 203 h 398"/>
                <a:gd name="T6" fmla="*/ 73 w 154"/>
                <a:gd name="T7" fmla="*/ 102 h 398"/>
                <a:gd name="T8" fmla="*/ 108 w 154"/>
                <a:gd name="T9" fmla="*/ 16 h 398"/>
                <a:gd name="T10" fmla="*/ 137 w 154"/>
                <a:gd name="T11" fmla="*/ 0 h 398"/>
                <a:gd name="T12" fmla="*/ 154 w 154"/>
                <a:gd name="T13" fmla="*/ 95 h 398"/>
                <a:gd name="T14" fmla="*/ 82 w 154"/>
                <a:gd name="T15" fmla="*/ 276 h 398"/>
                <a:gd name="T16" fmla="*/ 38 w 154"/>
                <a:gd name="T17" fmla="*/ 350 h 398"/>
                <a:gd name="T18" fmla="*/ 0 w 154"/>
                <a:gd name="T19" fmla="*/ 398 h 3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54" h="398">
                  <a:moveTo>
                    <a:pt x="0" y="398"/>
                  </a:moveTo>
                  <a:lnTo>
                    <a:pt x="1" y="333"/>
                  </a:lnTo>
                  <a:lnTo>
                    <a:pt x="46" y="203"/>
                  </a:lnTo>
                  <a:lnTo>
                    <a:pt x="73" y="102"/>
                  </a:lnTo>
                  <a:lnTo>
                    <a:pt x="108" y="16"/>
                  </a:lnTo>
                  <a:lnTo>
                    <a:pt x="137" y="0"/>
                  </a:lnTo>
                  <a:lnTo>
                    <a:pt x="154" y="95"/>
                  </a:lnTo>
                  <a:lnTo>
                    <a:pt x="82" y="276"/>
                  </a:lnTo>
                  <a:lnTo>
                    <a:pt x="38" y="350"/>
                  </a:lnTo>
                  <a:lnTo>
                    <a:pt x="0" y="398"/>
                  </a:lnTo>
                  <a:close/>
                </a:path>
              </a:pathLst>
            </a:custGeom>
            <a:solidFill>
              <a:srgbClr val="A1BDA8"/>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37" name="Freeform 16"/>
            <p:cNvSpPr>
              <a:spLocks/>
            </p:cNvSpPr>
            <p:nvPr/>
          </p:nvSpPr>
          <p:spPr bwMode="auto">
            <a:xfrm>
              <a:off x="4908550" y="4219575"/>
              <a:ext cx="280988" cy="111125"/>
            </a:xfrm>
            <a:custGeom>
              <a:avLst/>
              <a:gdLst>
                <a:gd name="T0" fmla="*/ 751 w 751"/>
                <a:gd name="T1" fmla="*/ 278 h 296"/>
                <a:gd name="T2" fmla="*/ 137 w 751"/>
                <a:gd name="T3" fmla="*/ 0 h 296"/>
                <a:gd name="T4" fmla="*/ 0 w 751"/>
                <a:gd name="T5" fmla="*/ 296 h 296"/>
                <a:gd name="T6" fmla="*/ 751 w 751"/>
                <a:gd name="T7" fmla="*/ 278 h 296"/>
              </a:gdLst>
              <a:ahLst/>
              <a:cxnLst>
                <a:cxn ang="0">
                  <a:pos x="T0" y="T1"/>
                </a:cxn>
                <a:cxn ang="0">
                  <a:pos x="T2" y="T3"/>
                </a:cxn>
                <a:cxn ang="0">
                  <a:pos x="T4" y="T5"/>
                </a:cxn>
                <a:cxn ang="0">
                  <a:pos x="T6" y="T7"/>
                </a:cxn>
              </a:cxnLst>
              <a:rect l="0" t="0" r="r" b="b"/>
              <a:pathLst>
                <a:path w="751" h="296">
                  <a:moveTo>
                    <a:pt x="751" y="278"/>
                  </a:moveTo>
                  <a:lnTo>
                    <a:pt x="137" y="0"/>
                  </a:lnTo>
                  <a:lnTo>
                    <a:pt x="0" y="296"/>
                  </a:lnTo>
                  <a:lnTo>
                    <a:pt x="751" y="278"/>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38" name="Freeform 17"/>
            <p:cNvSpPr>
              <a:spLocks/>
            </p:cNvSpPr>
            <p:nvPr/>
          </p:nvSpPr>
          <p:spPr bwMode="auto">
            <a:xfrm>
              <a:off x="4859338" y="4230688"/>
              <a:ext cx="334963" cy="93663"/>
            </a:xfrm>
            <a:custGeom>
              <a:avLst/>
              <a:gdLst>
                <a:gd name="T0" fmla="*/ 894 w 898"/>
                <a:gd name="T1" fmla="*/ 221 h 251"/>
                <a:gd name="T2" fmla="*/ 266 w 898"/>
                <a:gd name="T3" fmla="*/ 0 h 251"/>
                <a:gd name="T4" fmla="*/ 134 w 898"/>
                <a:gd name="T5" fmla="*/ 247 h 251"/>
                <a:gd name="T6" fmla="*/ 894 w 898"/>
                <a:gd name="T7" fmla="*/ 221 h 251"/>
              </a:gdLst>
              <a:ahLst/>
              <a:cxnLst>
                <a:cxn ang="0">
                  <a:pos x="T0" y="T1"/>
                </a:cxn>
                <a:cxn ang="0">
                  <a:pos x="T2" y="T3"/>
                </a:cxn>
                <a:cxn ang="0">
                  <a:pos x="T4" y="T5"/>
                </a:cxn>
                <a:cxn ang="0">
                  <a:pos x="T6" y="T7"/>
                </a:cxn>
              </a:cxnLst>
              <a:rect l="0" t="0" r="r" b="b"/>
              <a:pathLst>
                <a:path w="898" h="251">
                  <a:moveTo>
                    <a:pt x="894" y="221"/>
                  </a:moveTo>
                  <a:cubicBezTo>
                    <a:pt x="898" y="251"/>
                    <a:pt x="266" y="0"/>
                    <a:pt x="266" y="0"/>
                  </a:cubicBezTo>
                  <a:cubicBezTo>
                    <a:pt x="0" y="41"/>
                    <a:pt x="97" y="150"/>
                    <a:pt x="134" y="247"/>
                  </a:cubicBezTo>
                  <a:lnTo>
                    <a:pt x="894" y="221"/>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40" name="Freeform 18"/>
            <p:cNvSpPr>
              <a:spLocks/>
            </p:cNvSpPr>
            <p:nvPr/>
          </p:nvSpPr>
          <p:spPr bwMode="auto">
            <a:xfrm>
              <a:off x="5102225" y="4124325"/>
              <a:ext cx="98425" cy="117475"/>
            </a:xfrm>
            <a:custGeom>
              <a:avLst/>
              <a:gdLst>
                <a:gd name="T0" fmla="*/ 9 w 265"/>
                <a:gd name="T1" fmla="*/ 0 h 314"/>
                <a:gd name="T2" fmla="*/ 265 w 265"/>
                <a:gd name="T3" fmla="*/ 163 h 314"/>
                <a:gd name="T4" fmla="*/ 0 w 265"/>
                <a:gd name="T5" fmla="*/ 314 h 314"/>
              </a:gdLst>
              <a:ahLst/>
              <a:cxnLst>
                <a:cxn ang="0">
                  <a:pos x="T0" y="T1"/>
                </a:cxn>
                <a:cxn ang="0">
                  <a:pos x="T2" y="T3"/>
                </a:cxn>
                <a:cxn ang="0">
                  <a:pos x="T4" y="T5"/>
                </a:cxn>
              </a:cxnLst>
              <a:rect l="0" t="0" r="r" b="b"/>
              <a:pathLst>
                <a:path w="265" h="314">
                  <a:moveTo>
                    <a:pt x="9" y="0"/>
                  </a:moveTo>
                  <a:cubicBezTo>
                    <a:pt x="40" y="305"/>
                    <a:pt x="265" y="163"/>
                    <a:pt x="265" y="163"/>
                  </a:cubicBezTo>
                  <a:lnTo>
                    <a:pt x="0" y="314"/>
                  </a:lnTo>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3" name="Freeform 23"/>
            <p:cNvSpPr>
              <a:spLocks/>
            </p:cNvSpPr>
            <p:nvPr/>
          </p:nvSpPr>
          <p:spPr bwMode="auto">
            <a:xfrm>
              <a:off x="4903788" y="4159250"/>
              <a:ext cx="349250" cy="163513"/>
            </a:xfrm>
            <a:custGeom>
              <a:avLst/>
              <a:gdLst>
                <a:gd name="T0" fmla="*/ 746 w 932"/>
                <a:gd name="T1" fmla="*/ 384 h 437"/>
                <a:gd name="T2" fmla="*/ 145 w 932"/>
                <a:gd name="T3" fmla="*/ 150 h 437"/>
                <a:gd name="T4" fmla="*/ 0 w 932"/>
                <a:gd name="T5" fmla="*/ 437 h 437"/>
                <a:gd name="T6" fmla="*/ 742 w 932"/>
                <a:gd name="T7" fmla="*/ 433 h 437"/>
                <a:gd name="T8" fmla="*/ 932 w 932"/>
                <a:gd name="T9" fmla="*/ 0 h 437"/>
                <a:gd name="T10" fmla="*/ 875 w 932"/>
                <a:gd name="T11" fmla="*/ 0 h 437"/>
                <a:gd name="T12" fmla="*/ 746 w 932"/>
                <a:gd name="T13" fmla="*/ 384 h 437"/>
              </a:gdLst>
              <a:ahLst/>
              <a:cxnLst>
                <a:cxn ang="0">
                  <a:pos x="T0" y="T1"/>
                </a:cxn>
                <a:cxn ang="0">
                  <a:pos x="T2" y="T3"/>
                </a:cxn>
                <a:cxn ang="0">
                  <a:pos x="T4" y="T5"/>
                </a:cxn>
                <a:cxn ang="0">
                  <a:pos x="T6" y="T7"/>
                </a:cxn>
                <a:cxn ang="0">
                  <a:pos x="T8" y="T9"/>
                </a:cxn>
                <a:cxn ang="0">
                  <a:pos x="T10" y="T11"/>
                </a:cxn>
                <a:cxn ang="0">
                  <a:pos x="T12" y="T13"/>
                </a:cxn>
              </a:cxnLst>
              <a:rect l="0" t="0" r="r" b="b"/>
              <a:pathLst>
                <a:path w="932" h="437">
                  <a:moveTo>
                    <a:pt x="746" y="384"/>
                  </a:moveTo>
                  <a:lnTo>
                    <a:pt x="145" y="150"/>
                  </a:lnTo>
                  <a:lnTo>
                    <a:pt x="0" y="437"/>
                  </a:lnTo>
                  <a:lnTo>
                    <a:pt x="742" y="433"/>
                  </a:lnTo>
                  <a:lnTo>
                    <a:pt x="932" y="0"/>
                  </a:lnTo>
                  <a:lnTo>
                    <a:pt x="875" y="0"/>
                  </a:lnTo>
                  <a:lnTo>
                    <a:pt x="746" y="384"/>
                  </a:lnTo>
                  <a:close/>
                </a:path>
              </a:pathLst>
            </a:custGeom>
            <a:noFill/>
            <a:ln w="4763" cap="flat">
              <a:solidFill>
                <a:srgbClr val="A1BDA8"/>
              </a:solidFill>
              <a:prstDash val="solid"/>
              <a:miter lim="800000"/>
              <a:headEnd/>
              <a:tailEnd/>
            </a:ln>
            <a:extLst>
              <a:ext uri="{909E8E84-426E-40DD-AFC4-6F175D3DCCD1}">
                <a14:hiddenFill xmlns:a14="http://schemas.microsoft.com/office/drawing/2010/main">
                  <a:solidFill>
                    <a:srgbClr val="FFFFFF"/>
                  </a:solidFill>
                </a14:hiddenFill>
              </a:ext>
            </a:extLst>
          </p:spPr>
          <p:txBody>
            <a:bodyPr vert="horz" wrap="square" lIns="91440" tIns="45720" rIns="91440" bIns="45720" numCol="1" anchor="t" anchorCtr="0" compatLnSpc="1">
              <a:prstTxWarp prst="textNoShape">
                <a:avLst/>
              </a:prstTxWarp>
            </a:bodyPr>
            <a:lstStyle/>
            <a:p>
              <a:endParaRPr lang="en-CA"/>
            </a:p>
          </p:txBody>
        </p:sp>
        <p:sp>
          <p:nvSpPr>
            <p:cNvPr id="94" name="Freeform 24"/>
            <p:cNvSpPr>
              <a:spLocks noEditPoints="1"/>
            </p:cNvSpPr>
            <p:nvPr/>
          </p:nvSpPr>
          <p:spPr bwMode="auto">
            <a:xfrm>
              <a:off x="4892675" y="4146550"/>
              <a:ext cx="363538" cy="187325"/>
            </a:xfrm>
            <a:custGeom>
              <a:avLst/>
              <a:gdLst>
                <a:gd name="T0" fmla="*/ 929 w 973"/>
                <a:gd name="T1" fmla="*/ 14 h 501"/>
                <a:gd name="T2" fmla="*/ 916 w 973"/>
                <a:gd name="T3" fmla="*/ 14 h 501"/>
                <a:gd name="T4" fmla="*/ 897 w 973"/>
                <a:gd name="T5" fmla="*/ 76 h 501"/>
                <a:gd name="T6" fmla="*/ 871 w 973"/>
                <a:gd name="T7" fmla="*/ 134 h 501"/>
                <a:gd name="T8" fmla="*/ 860 w 973"/>
                <a:gd name="T9" fmla="*/ 165 h 501"/>
                <a:gd name="T10" fmla="*/ 845 w 973"/>
                <a:gd name="T11" fmla="*/ 200 h 501"/>
                <a:gd name="T12" fmla="*/ 839 w 973"/>
                <a:gd name="T13" fmla="*/ 214 h 501"/>
                <a:gd name="T14" fmla="*/ 772 w 973"/>
                <a:gd name="T15" fmla="*/ 417 h 501"/>
                <a:gd name="T16" fmla="*/ 190 w 973"/>
                <a:gd name="T17" fmla="*/ 188 h 501"/>
                <a:gd name="T18" fmla="*/ 173 w 973"/>
                <a:gd name="T19" fmla="*/ 190 h 501"/>
                <a:gd name="T20" fmla="*/ 162 w 973"/>
                <a:gd name="T21" fmla="*/ 195 h 501"/>
                <a:gd name="T22" fmla="*/ 43 w 973"/>
                <a:gd name="T23" fmla="*/ 302 h 501"/>
                <a:gd name="T24" fmla="*/ 9 w 973"/>
                <a:gd name="T25" fmla="*/ 471 h 501"/>
                <a:gd name="T26" fmla="*/ 21 w 973"/>
                <a:gd name="T27" fmla="*/ 490 h 501"/>
                <a:gd name="T28" fmla="*/ 38 w 973"/>
                <a:gd name="T29" fmla="*/ 497 h 501"/>
                <a:gd name="T30" fmla="*/ 72 w 973"/>
                <a:gd name="T31" fmla="*/ 497 h 501"/>
                <a:gd name="T32" fmla="*/ 769 w 973"/>
                <a:gd name="T33" fmla="*/ 496 h 501"/>
                <a:gd name="T34" fmla="*/ 776 w 973"/>
                <a:gd name="T35" fmla="*/ 500 h 501"/>
                <a:gd name="T36" fmla="*/ 784 w 973"/>
                <a:gd name="T37" fmla="*/ 498 h 501"/>
                <a:gd name="T38" fmla="*/ 819 w 973"/>
                <a:gd name="T39" fmla="*/ 484 h 501"/>
                <a:gd name="T40" fmla="*/ 826 w 973"/>
                <a:gd name="T41" fmla="*/ 482 h 501"/>
                <a:gd name="T42" fmla="*/ 830 w 973"/>
                <a:gd name="T43" fmla="*/ 475 h 501"/>
                <a:gd name="T44" fmla="*/ 929 w 973"/>
                <a:gd name="T45" fmla="*/ 232 h 501"/>
                <a:gd name="T46" fmla="*/ 973 w 973"/>
                <a:gd name="T47" fmla="*/ 56 h 501"/>
                <a:gd name="T48" fmla="*/ 973 w 973"/>
                <a:gd name="T49" fmla="*/ 50 h 501"/>
                <a:gd name="T50" fmla="*/ 969 w 973"/>
                <a:gd name="T51" fmla="*/ 45 h 501"/>
                <a:gd name="T52" fmla="*/ 944 w 973"/>
                <a:gd name="T53" fmla="*/ 19 h 501"/>
                <a:gd name="T54" fmla="*/ 929 w 973"/>
                <a:gd name="T55" fmla="*/ 14 h 501"/>
                <a:gd name="T56" fmla="*/ 925 w 973"/>
                <a:gd name="T57" fmla="*/ 52 h 501"/>
                <a:gd name="T58" fmla="*/ 934 w 973"/>
                <a:gd name="T59" fmla="*/ 62 h 501"/>
                <a:gd name="T60" fmla="*/ 894 w 973"/>
                <a:gd name="T61" fmla="*/ 219 h 501"/>
                <a:gd name="T62" fmla="*/ 808 w 973"/>
                <a:gd name="T63" fmla="*/ 404 h 501"/>
                <a:gd name="T64" fmla="*/ 914 w 973"/>
                <a:gd name="T65" fmla="*/ 64 h 501"/>
                <a:gd name="T66" fmla="*/ 925 w 973"/>
                <a:gd name="T67" fmla="*/ 52 h 501"/>
                <a:gd name="T68" fmla="*/ 195 w 973"/>
                <a:gd name="T69" fmla="*/ 229 h 501"/>
                <a:gd name="T70" fmla="*/ 781 w 973"/>
                <a:gd name="T71" fmla="*/ 460 h 501"/>
                <a:gd name="T72" fmla="*/ 62 w 973"/>
                <a:gd name="T73" fmla="*/ 461 h 501"/>
                <a:gd name="T74" fmla="*/ 48 w 973"/>
                <a:gd name="T75" fmla="*/ 457 h 501"/>
                <a:gd name="T76" fmla="*/ 46 w 973"/>
                <a:gd name="T77" fmla="*/ 443 h 501"/>
                <a:gd name="T78" fmla="*/ 76 w 973"/>
                <a:gd name="T79" fmla="*/ 325 h 501"/>
                <a:gd name="T80" fmla="*/ 180 w 973"/>
                <a:gd name="T81" fmla="*/ 232 h 501"/>
                <a:gd name="T82" fmla="*/ 195 w 973"/>
                <a:gd name="T83" fmla="*/ 229 h 5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Lst>
              <a:rect l="0" t="0" r="r" b="b"/>
              <a:pathLst>
                <a:path w="973" h="501">
                  <a:moveTo>
                    <a:pt x="929" y="14"/>
                  </a:moveTo>
                  <a:cubicBezTo>
                    <a:pt x="923" y="13"/>
                    <a:pt x="921" y="13"/>
                    <a:pt x="916" y="14"/>
                  </a:cubicBezTo>
                  <a:cubicBezTo>
                    <a:pt x="919" y="0"/>
                    <a:pt x="909" y="36"/>
                    <a:pt x="897" y="76"/>
                  </a:cubicBezTo>
                  <a:cubicBezTo>
                    <a:pt x="890" y="92"/>
                    <a:pt x="888" y="94"/>
                    <a:pt x="871" y="134"/>
                  </a:cubicBezTo>
                  <a:cubicBezTo>
                    <a:pt x="871" y="136"/>
                    <a:pt x="868" y="147"/>
                    <a:pt x="860" y="165"/>
                  </a:cubicBezTo>
                  <a:cubicBezTo>
                    <a:pt x="853" y="182"/>
                    <a:pt x="853" y="182"/>
                    <a:pt x="845" y="200"/>
                  </a:cubicBezTo>
                  <a:cubicBezTo>
                    <a:pt x="843" y="206"/>
                    <a:pt x="841" y="208"/>
                    <a:pt x="839" y="214"/>
                  </a:cubicBezTo>
                  <a:cubicBezTo>
                    <a:pt x="815" y="271"/>
                    <a:pt x="799" y="355"/>
                    <a:pt x="772" y="417"/>
                  </a:cubicBezTo>
                  <a:cubicBezTo>
                    <a:pt x="550" y="244"/>
                    <a:pt x="299" y="174"/>
                    <a:pt x="190" y="188"/>
                  </a:cubicBezTo>
                  <a:lnTo>
                    <a:pt x="173" y="190"/>
                  </a:lnTo>
                  <a:lnTo>
                    <a:pt x="162" y="195"/>
                  </a:lnTo>
                  <a:cubicBezTo>
                    <a:pt x="98" y="236"/>
                    <a:pt x="72" y="257"/>
                    <a:pt x="43" y="302"/>
                  </a:cubicBezTo>
                  <a:cubicBezTo>
                    <a:pt x="13" y="347"/>
                    <a:pt x="0" y="415"/>
                    <a:pt x="9" y="471"/>
                  </a:cubicBezTo>
                  <a:cubicBezTo>
                    <a:pt x="10" y="480"/>
                    <a:pt x="16" y="486"/>
                    <a:pt x="21" y="490"/>
                  </a:cubicBezTo>
                  <a:cubicBezTo>
                    <a:pt x="27" y="494"/>
                    <a:pt x="32" y="496"/>
                    <a:pt x="38" y="497"/>
                  </a:cubicBezTo>
                  <a:cubicBezTo>
                    <a:pt x="49" y="500"/>
                    <a:pt x="60" y="501"/>
                    <a:pt x="72" y="497"/>
                  </a:cubicBezTo>
                  <a:cubicBezTo>
                    <a:pt x="451" y="389"/>
                    <a:pt x="636" y="424"/>
                    <a:pt x="769" y="496"/>
                  </a:cubicBezTo>
                  <a:lnTo>
                    <a:pt x="776" y="500"/>
                  </a:lnTo>
                  <a:lnTo>
                    <a:pt x="784" y="498"/>
                  </a:lnTo>
                  <a:lnTo>
                    <a:pt x="819" y="484"/>
                  </a:lnTo>
                  <a:lnTo>
                    <a:pt x="826" y="482"/>
                  </a:lnTo>
                  <a:lnTo>
                    <a:pt x="830" y="475"/>
                  </a:lnTo>
                  <a:cubicBezTo>
                    <a:pt x="844" y="404"/>
                    <a:pt x="903" y="304"/>
                    <a:pt x="929" y="232"/>
                  </a:cubicBezTo>
                  <a:cubicBezTo>
                    <a:pt x="955" y="160"/>
                    <a:pt x="971" y="101"/>
                    <a:pt x="973" y="56"/>
                  </a:cubicBezTo>
                  <a:lnTo>
                    <a:pt x="973" y="50"/>
                  </a:lnTo>
                  <a:lnTo>
                    <a:pt x="969" y="45"/>
                  </a:lnTo>
                  <a:cubicBezTo>
                    <a:pt x="961" y="33"/>
                    <a:pt x="953" y="25"/>
                    <a:pt x="944" y="19"/>
                  </a:cubicBezTo>
                  <a:cubicBezTo>
                    <a:pt x="939" y="16"/>
                    <a:pt x="934" y="15"/>
                    <a:pt x="929" y="14"/>
                  </a:cubicBezTo>
                  <a:close/>
                  <a:moveTo>
                    <a:pt x="925" y="52"/>
                  </a:moveTo>
                  <a:cubicBezTo>
                    <a:pt x="926" y="52"/>
                    <a:pt x="930" y="58"/>
                    <a:pt x="934" y="62"/>
                  </a:cubicBezTo>
                  <a:cubicBezTo>
                    <a:pt x="932" y="98"/>
                    <a:pt x="918" y="152"/>
                    <a:pt x="894" y="219"/>
                  </a:cubicBezTo>
                  <a:cubicBezTo>
                    <a:pt x="875" y="271"/>
                    <a:pt x="835" y="342"/>
                    <a:pt x="808" y="404"/>
                  </a:cubicBezTo>
                  <a:cubicBezTo>
                    <a:pt x="884" y="192"/>
                    <a:pt x="903" y="119"/>
                    <a:pt x="914" y="64"/>
                  </a:cubicBezTo>
                  <a:cubicBezTo>
                    <a:pt x="920" y="58"/>
                    <a:pt x="925" y="52"/>
                    <a:pt x="925" y="52"/>
                  </a:cubicBezTo>
                  <a:close/>
                  <a:moveTo>
                    <a:pt x="195" y="229"/>
                  </a:moveTo>
                  <a:cubicBezTo>
                    <a:pt x="449" y="256"/>
                    <a:pt x="675" y="359"/>
                    <a:pt x="781" y="460"/>
                  </a:cubicBezTo>
                  <a:cubicBezTo>
                    <a:pt x="641" y="391"/>
                    <a:pt x="287" y="369"/>
                    <a:pt x="62" y="461"/>
                  </a:cubicBezTo>
                  <a:cubicBezTo>
                    <a:pt x="59" y="462"/>
                    <a:pt x="53" y="458"/>
                    <a:pt x="48" y="457"/>
                  </a:cubicBezTo>
                  <a:cubicBezTo>
                    <a:pt x="47" y="452"/>
                    <a:pt x="46" y="443"/>
                    <a:pt x="46" y="443"/>
                  </a:cubicBezTo>
                  <a:cubicBezTo>
                    <a:pt x="40" y="397"/>
                    <a:pt x="52" y="362"/>
                    <a:pt x="76" y="325"/>
                  </a:cubicBezTo>
                  <a:cubicBezTo>
                    <a:pt x="100" y="288"/>
                    <a:pt x="122" y="269"/>
                    <a:pt x="180" y="232"/>
                  </a:cubicBezTo>
                  <a:lnTo>
                    <a:pt x="195" y="229"/>
                  </a:lnTo>
                  <a:close/>
                </a:path>
              </a:pathLst>
            </a:custGeom>
            <a:solidFill>
              <a:srgbClr val="6A8C7D"/>
            </a:solid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CA"/>
            </a:p>
          </p:txBody>
        </p:sp>
        <p:sp>
          <p:nvSpPr>
            <p:cNvPr id="95" name="Freeform 25"/>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6" name="Freeform 26"/>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00000"/>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7" name="Freeform 27"/>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8" name="Freeform 28"/>
            <p:cNvSpPr>
              <a:spLocks noEditPoints="1"/>
            </p:cNvSpPr>
            <p:nvPr/>
          </p:nvSpPr>
          <p:spPr bwMode="auto">
            <a:xfrm>
              <a:off x="4999038" y="4252913"/>
              <a:ext cx="177800" cy="61913"/>
            </a:xfrm>
            <a:custGeom>
              <a:avLst/>
              <a:gdLst>
                <a:gd name="T0" fmla="*/ 445 w 472"/>
                <a:gd name="T1" fmla="*/ 156 h 166"/>
                <a:gd name="T2" fmla="*/ 274 w 472"/>
                <a:gd name="T3" fmla="*/ 120 h 166"/>
                <a:gd name="T4" fmla="*/ 28 w 472"/>
                <a:gd name="T5" fmla="*/ 120 h 166"/>
                <a:gd name="T6" fmla="*/ 0 w 472"/>
                <a:gd name="T7" fmla="*/ 123 h 166"/>
                <a:gd name="T8" fmla="*/ 0 w 472"/>
                <a:gd name="T9" fmla="*/ 118 h 166"/>
                <a:gd name="T10" fmla="*/ 0 w 472"/>
                <a:gd name="T11" fmla="*/ 113 h 166"/>
                <a:gd name="T12" fmla="*/ 37 w 472"/>
                <a:gd name="T13" fmla="*/ 113 h 166"/>
                <a:gd name="T14" fmla="*/ 75 w 472"/>
                <a:gd name="T15" fmla="*/ 113 h 166"/>
                <a:gd name="T16" fmla="*/ 75 w 472"/>
                <a:gd name="T17" fmla="*/ 106 h 166"/>
                <a:gd name="T18" fmla="*/ 87 w 472"/>
                <a:gd name="T19" fmla="*/ 99 h 166"/>
                <a:gd name="T20" fmla="*/ 99 w 472"/>
                <a:gd name="T21" fmla="*/ 94 h 166"/>
                <a:gd name="T22" fmla="*/ 105 w 472"/>
                <a:gd name="T23" fmla="*/ 88 h 166"/>
                <a:gd name="T24" fmla="*/ 110 w 472"/>
                <a:gd name="T25" fmla="*/ 82 h 166"/>
                <a:gd name="T26" fmla="*/ 117 w 472"/>
                <a:gd name="T27" fmla="*/ 75 h 166"/>
                <a:gd name="T28" fmla="*/ 124 w 472"/>
                <a:gd name="T29" fmla="*/ 68 h 166"/>
                <a:gd name="T30" fmla="*/ 136 w 472"/>
                <a:gd name="T31" fmla="*/ 62 h 166"/>
                <a:gd name="T32" fmla="*/ 148 w 472"/>
                <a:gd name="T33" fmla="*/ 62 h 166"/>
                <a:gd name="T34" fmla="*/ 148 w 472"/>
                <a:gd name="T35" fmla="*/ 31 h 166"/>
                <a:gd name="T36" fmla="*/ 148 w 472"/>
                <a:gd name="T37" fmla="*/ 0 h 166"/>
                <a:gd name="T38" fmla="*/ 155 w 472"/>
                <a:gd name="T39" fmla="*/ 0 h 166"/>
                <a:gd name="T40" fmla="*/ 161 w 472"/>
                <a:gd name="T41" fmla="*/ 5 h 166"/>
                <a:gd name="T42" fmla="*/ 169 w 472"/>
                <a:gd name="T43" fmla="*/ 12 h 166"/>
                <a:gd name="T44" fmla="*/ 188 w 472"/>
                <a:gd name="T45" fmla="*/ 13 h 166"/>
                <a:gd name="T46" fmla="*/ 199 w 472"/>
                <a:gd name="T47" fmla="*/ 19 h 166"/>
                <a:gd name="T48" fmla="*/ 213 w 472"/>
                <a:gd name="T49" fmla="*/ 24 h 166"/>
                <a:gd name="T50" fmla="*/ 247 w 472"/>
                <a:gd name="T51" fmla="*/ 35 h 166"/>
                <a:gd name="T52" fmla="*/ 254 w 472"/>
                <a:gd name="T53" fmla="*/ 37 h 166"/>
                <a:gd name="T54" fmla="*/ 274 w 472"/>
                <a:gd name="T55" fmla="*/ 46 h 166"/>
                <a:gd name="T56" fmla="*/ 278 w 472"/>
                <a:gd name="T57" fmla="*/ 49 h 166"/>
                <a:gd name="T58" fmla="*/ 298 w 472"/>
                <a:gd name="T59" fmla="*/ 58 h 166"/>
                <a:gd name="T60" fmla="*/ 307 w 472"/>
                <a:gd name="T61" fmla="*/ 62 h 166"/>
                <a:gd name="T62" fmla="*/ 325 w 472"/>
                <a:gd name="T63" fmla="*/ 72 h 166"/>
                <a:gd name="T64" fmla="*/ 332 w 472"/>
                <a:gd name="T65" fmla="*/ 75 h 166"/>
                <a:gd name="T66" fmla="*/ 450 w 472"/>
                <a:gd name="T67" fmla="*/ 148 h 166"/>
                <a:gd name="T68" fmla="*/ 445 w 472"/>
                <a:gd name="T69" fmla="*/ 156 h 166"/>
                <a:gd name="T70" fmla="*/ 347 w 472"/>
                <a:gd name="T71" fmla="*/ 106 h 166"/>
                <a:gd name="T72" fmla="*/ 336 w 472"/>
                <a:gd name="T73" fmla="*/ 99 h 166"/>
                <a:gd name="T74" fmla="*/ 325 w 472"/>
                <a:gd name="T75" fmla="*/ 106 h 166"/>
                <a:gd name="T76" fmla="*/ 336 w 472"/>
                <a:gd name="T77" fmla="*/ 113 h 166"/>
                <a:gd name="T78" fmla="*/ 347 w 472"/>
                <a:gd name="T79" fmla="*/ 106 h 166"/>
                <a:gd name="T80" fmla="*/ 360 w 472"/>
                <a:gd name="T81" fmla="*/ 106 h 166"/>
                <a:gd name="T82" fmla="*/ 355 w 472"/>
                <a:gd name="T83" fmla="*/ 99 h 166"/>
                <a:gd name="T84" fmla="*/ 349 w 472"/>
                <a:gd name="T85" fmla="*/ 106 h 166"/>
                <a:gd name="T86" fmla="*/ 355 w 472"/>
                <a:gd name="T87" fmla="*/ 113 h 166"/>
                <a:gd name="T88" fmla="*/ 360 w 472"/>
                <a:gd name="T89" fmla="*/ 106 h 166"/>
                <a:gd name="T90" fmla="*/ 174 w 472"/>
                <a:gd name="T91" fmla="*/ 94 h 166"/>
                <a:gd name="T92" fmla="*/ 168 w 472"/>
                <a:gd name="T93" fmla="*/ 88 h 166"/>
                <a:gd name="T94" fmla="*/ 161 w 472"/>
                <a:gd name="T95" fmla="*/ 94 h 166"/>
                <a:gd name="T96" fmla="*/ 168 w 472"/>
                <a:gd name="T97" fmla="*/ 99 h 166"/>
                <a:gd name="T98" fmla="*/ 174 w 472"/>
                <a:gd name="T99" fmla="*/ 94 h 16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472" h="166">
                  <a:moveTo>
                    <a:pt x="445" y="156"/>
                  </a:moveTo>
                  <a:cubicBezTo>
                    <a:pt x="402" y="140"/>
                    <a:pt x="349" y="129"/>
                    <a:pt x="274" y="120"/>
                  </a:cubicBezTo>
                  <a:cubicBezTo>
                    <a:pt x="232" y="115"/>
                    <a:pt x="72" y="115"/>
                    <a:pt x="28" y="120"/>
                  </a:cubicBezTo>
                  <a:lnTo>
                    <a:pt x="0" y="123"/>
                  </a:lnTo>
                  <a:lnTo>
                    <a:pt x="0" y="118"/>
                  </a:lnTo>
                  <a:lnTo>
                    <a:pt x="0" y="113"/>
                  </a:lnTo>
                  <a:lnTo>
                    <a:pt x="37" y="113"/>
                  </a:lnTo>
                  <a:lnTo>
                    <a:pt x="75" y="113"/>
                  </a:lnTo>
                  <a:lnTo>
                    <a:pt x="75" y="106"/>
                  </a:lnTo>
                  <a:cubicBezTo>
                    <a:pt x="75" y="99"/>
                    <a:pt x="75" y="99"/>
                    <a:pt x="87" y="99"/>
                  </a:cubicBezTo>
                  <a:cubicBezTo>
                    <a:pt x="99" y="99"/>
                    <a:pt x="99" y="99"/>
                    <a:pt x="99" y="94"/>
                  </a:cubicBezTo>
                  <a:cubicBezTo>
                    <a:pt x="99" y="89"/>
                    <a:pt x="100" y="88"/>
                    <a:pt x="105" y="88"/>
                  </a:cubicBezTo>
                  <a:cubicBezTo>
                    <a:pt x="110" y="88"/>
                    <a:pt x="110" y="87"/>
                    <a:pt x="110" y="82"/>
                  </a:cubicBezTo>
                  <a:cubicBezTo>
                    <a:pt x="110" y="76"/>
                    <a:pt x="111" y="75"/>
                    <a:pt x="117" y="75"/>
                  </a:cubicBezTo>
                  <a:cubicBezTo>
                    <a:pt x="123" y="75"/>
                    <a:pt x="124" y="74"/>
                    <a:pt x="124" y="68"/>
                  </a:cubicBezTo>
                  <a:cubicBezTo>
                    <a:pt x="124" y="62"/>
                    <a:pt x="124" y="62"/>
                    <a:pt x="136" y="62"/>
                  </a:cubicBezTo>
                  <a:lnTo>
                    <a:pt x="148" y="62"/>
                  </a:lnTo>
                  <a:lnTo>
                    <a:pt x="148" y="31"/>
                  </a:lnTo>
                  <a:lnTo>
                    <a:pt x="148" y="0"/>
                  </a:lnTo>
                  <a:lnTo>
                    <a:pt x="155" y="0"/>
                  </a:lnTo>
                  <a:cubicBezTo>
                    <a:pt x="160" y="0"/>
                    <a:pt x="161" y="1"/>
                    <a:pt x="161" y="5"/>
                  </a:cubicBezTo>
                  <a:cubicBezTo>
                    <a:pt x="161" y="9"/>
                    <a:pt x="163" y="11"/>
                    <a:pt x="169" y="12"/>
                  </a:cubicBezTo>
                  <a:cubicBezTo>
                    <a:pt x="174" y="13"/>
                    <a:pt x="183" y="13"/>
                    <a:pt x="188" y="13"/>
                  </a:cubicBezTo>
                  <a:cubicBezTo>
                    <a:pt x="198" y="13"/>
                    <a:pt x="199" y="14"/>
                    <a:pt x="199" y="19"/>
                  </a:cubicBezTo>
                  <a:cubicBezTo>
                    <a:pt x="199" y="24"/>
                    <a:pt x="199" y="24"/>
                    <a:pt x="213" y="24"/>
                  </a:cubicBezTo>
                  <a:cubicBezTo>
                    <a:pt x="228" y="24"/>
                    <a:pt x="247" y="30"/>
                    <a:pt x="247" y="35"/>
                  </a:cubicBezTo>
                  <a:cubicBezTo>
                    <a:pt x="247" y="36"/>
                    <a:pt x="250" y="37"/>
                    <a:pt x="254" y="37"/>
                  </a:cubicBezTo>
                  <a:cubicBezTo>
                    <a:pt x="262" y="37"/>
                    <a:pt x="274" y="43"/>
                    <a:pt x="274" y="46"/>
                  </a:cubicBezTo>
                  <a:cubicBezTo>
                    <a:pt x="274" y="48"/>
                    <a:pt x="276" y="49"/>
                    <a:pt x="278" y="49"/>
                  </a:cubicBezTo>
                  <a:cubicBezTo>
                    <a:pt x="286" y="49"/>
                    <a:pt x="298" y="55"/>
                    <a:pt x="298" y="58"/>
                  </a:cubicBezTo>
                  <a:cubicBezTo>
                    <a:pt x="298" y="61"/>
                    <a:pt x="300" y="62"/>
                    <a:pt x="307" y="62"/>
                  </a:cubicBezTo>
                  <a:cubicBezTo>
                    <a:pt x="316" y="62"/>
                    <a:pt x="325" y="67"/>
                    <a:pt x="325" y="72"/>
                  </a:cubicBezTo>
                  <a:cubicBezTo>
                    <a:pt x="325" y="74"/>
                    <a:pt x="327" y="75"/>
                    <a:pt x="332" y="75"/>
                  </a:cubicBezTo>
                  <a:cubicBezTo>
                    <a:pt x="344" y="75"/>
                    <a:pt x="411" y="117"/>
                    <a:pt x="450" y="148"/>
                  </a:cubicBezTo>
                  <a:cubicBezTo>
                    <a:pt x="472" y="166"/>
                    <a:pt x="472" y="166"/>
                    <a:pt x="445" y="156"/>
                  </a:cubicBezTo>
                  <a:close/>
                  <a:moveTo>
                    <a:pt x="347" y="106"/>
                  </a:moveTo>
                  <a:cubicBezTo>
                    <a:pt x="347" y="100"/>
                    <a:pt x="347" y="99"/>
                    <a:pt x="336" y="99"/>
                  </a:cubicBezTo>
                  <a:cubicBezTo>
                    <a:pt x="325" y="99"/>
                    <a:pt x="325" y="100"/>
                    <a:pt x="325" y="106"/>
                  </a:cubicBezTo>
                  <a:cubicBezTo>
                    <a:pt x="325" y="112"/>
                    <a:pt x="325" y="113"/>
                    <a:pt x="336" y="113"/>
                  </a:cubicBezTo>
                  <a:cubicBezTo>
                    <a:pt x="347" y="113"/>
                    <a:pt x="347" y="112"/>
                    <a:pt x="347" y="106"/>
                  </a:cubicBezTo>
                  <a:close/>
                  <a:moveTo>
                    <a:pt x="360" y="106"/>
                  </a:moveTo>
                  <a:cubicBezTo>
                    <a:pt x="360" y="100"/>
                    <a:pt x="359" y="99"/>
                    <a:pt x="355" y="99"/>
                  </a:cubicBezTo>
                  <a:cubicBezTo>
                    <a:pt x="350" y="99"/>
                    <a:pt x="349" y="100"/>
                    <a:pt x="349" y="106"/>
                  </a:cubicBezTo>
                  <a:cubicBezTo>
                    <a:pt x="349" y="112"/>
                    <a:pt x="350" y="113"/>
                    <a:pt x="355" y="113"/>
                  </a:cubicBezTo>
                  <a:cubicBezTo>
                    <a:pt x="359" y="113"/>
                    <a:pt x="360" y="112"/>
                    <a:pt x="360" y="106"/>
                  </a:cubicBezTo>
                  <a:close/>
                  <a:moveTo>
                    <a:pt x="174" y="94"/>
                  </a:moveTo>
                  <a:cubicBezTo>
                    <a:pt x="174" y="89"/>
                    <a:pt x="173" y="88"/>
                    <a:pt x="168" y="88"/>
                  </a:cubicBezTo>
                  <a:cubicBezTo>
                    <a:pt x="162" y="88"/>
                    <a:pt x="161" y="89"/>
                    <a:pt x="161" y="94"/>
                  </a:cubicBezTo>
                  <a:cubicBezTo>
                    <a:pt x="161" y="98"/>
                    <a:pt x="162" y="99"/>
                    <a:pt x="168" y="99"/>
                  </a:cubicBezTo>
                  <a:cubicBezTo>
                    <a:pt x="173" y="99"/>
                    <a:pt x="174" y="98"/>
                    <a:pt x="174" y="94"/>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99" name="Freeform 29"/>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0" name="Freeform 30"/>
            <p:cNvSpPr>
              <a:spLocks noEditPoints="1"/>
            </p:cNvSpPr>
            <p:nvPr/>
          </p:nvSpPr>
          <p:spPr bwMode="auto">
            <a:xfrm>
              <a:off x="4862513" y="3951288"/>
              <a:ext cx="515938" cy="815975"/>
            </a:xfrm>
            <a:custGeom>
              <a:avLst/>
              <a:gdLst>
                <a:gd name="T0" fmla="*/ 376 w 1378"/>
                <a:gd name="T1" fmla="*/ 1494 h 2181"/>
                <a:gd name="T2" fmla="*/ 280 w 1378"/>
                <a:gd name="T3" fmla="*/ 1703 h 2181"/>
                <a:gd name="T4" fmla="*/ 53 w 1378"/>
                <a:gd name="T5" fmla="*/ 2056 h 2181"/>
                <a:gd name="T6" fmla="*/ 133 w 1378"/>
                <a:gd name="T7" fmla="*/ 1049 h 2181"/>
                <a:gd name="T8" fmla="*/ 100 w 1378"/>
                <a:gd name="T9" fmla="*/ 1009 h 2181"/>
                <a:gd name="T10" fmla="*/ 184 w 1378"/>
                <a:gd name="T11" fmla="*/ 759 h 2181"/>
                <a:gd name="T12" fmla="*/ 246 w 1378"/>
                <a:gd name="T13" fmla="*/ 691 h 2181"/>
                <a:gd name="T14" fmla="*/ 444 w 1378"/>
                <a:gd name="T15" fmla="*/ 90 h 2181"/>
                <a:gd name="T16" fmla="*/ 992 w 1378"/>
                <a:gd name="T17" fmla="*/ 337 h 2181"/>
                <a:gd name="T18" fmla="*/ 1004 w 1378"/>
                <a:gd name="T19" fmla="*/ 538 h 2181"/>
                <a:gd name="T20" fmla="*/ 1059 w 1378"/>
                <a:gd name="T21" fmla="*/ 509 h 2181"/>
                <a:gd name="T22" fmla="*/ 1347 w 1378"/>
                <a:gd name="T23" fmla="*/ 0 h 2181"/>
                <a:gd name="T24" fmla="*/ 1378 w 1378"/>
                <a:gd name="T25" fmla="*/ 9 h 2181"/>
                <a:gd name="T26" fmla="*/ 1202 w 1378"/>
                <a:gd name="T27" fmla="*/ 344 h 2181"/>
                <a:gd name="T28" fmla="*/ 1022 w 1378"/>
                <a:gd name="T29" fmla="*/ 709 h 2181"/>
                <a:gd name="T30" fmla="*/ 881 w 1378"/>
                <a:gd name="T31" fmla="*/ 1011 h 2181"/>
                <a:gd name="T32" fmla="*/ 581 w 1378"/>
                <a:gd name="T33" fmla="*/ 950 h 2181"/>
                <a:gd name="T34" fmla="*/ 143 w 1378"/>
                <a:gd name="T35" fmla="*/ 1112 h 2181"/>
                <a:gd name="T36" fmla="*/ 136 w 1378"/>
                <a:gd name="T37" fmla="*/ 2068 h 2181"/>
                <a:gd name="T38" fmla="*/ 281 w 1378"/>
                <a:gd name="T39" fmla="*/ 1522 h 2181"/>
                <a:gd name="T40" fmla="*/ 464 w 1378"/>
                <a:gd name="T41" fmla="*/ 2034 h 2181"/>
                <a:gd name="T42" fmla="*/ 431 w 1378"/>
                <a:gd name="T43" fmla="*/ 2181 h 2181"/>
                <a:gd name="T44" fmla="*/ 192 w 1378"/>
                <a:gd name="T45" fmla="*/ 959 h 2181"/>
                <a:gd name="T46" fmla="*/ 416 w 1378"/>
                <a:gd name="T47" fmla="*/ 830 h 2181"/>
                <a:gd name="T48" fmla="*/ 275 w 1378"/>
                <a:gd name="T49" fmla="*/ 751 h 2181"/>
                <a:gd name="T50" fmla="*/ 124 w 1378"/>
                <a:gd name="T51" fmla="*/ 969 h 2181"/>
                <a:gd name="T52" fmla="*/ 160 w 1378"/>
                <a:gd name="T53" fmla="*/ 977 h 2181"/>
                <a:gd name="T54" fmla="*/ 390 w 1378"/>
                <a:gd name="T55" fmla="*/ 768 h 2181"/>
                <a:gd name="T56" fmla="*/ 455 w 1378"/>
                <a:gd name="T57" fmla="*/ 822 h 2181"/>
                <a:gd name="T58" fmla="*/ 255 w 1378"/>
                <a:gd name="T59" fmla="*/ 947 h 2181"/>
                <a:gd name="T60" fmla="*/ 692 w 1378"/>
                <a:gd name="T61" fmla="*/ 933 h 2181"/>
                <a:gd name="T62" fmla="*/ 834 w 1378"/>
                <a:gd name="T63" fmla="*/ 965 h 2181"/>
                <a:gd name="T64" fmla="*/ 922 w 1378"/>
                <a:gd name="T65" fmla="*/ 740 h 2181"/>
                <a:gd name="T66" fmla="*/ 848 w 1378"/>
                <a:gd name="T67" fmla="*/ 769 h 2181"/>
                <a:gd name="T68" fmla="*/ 891 w 1378"/>
                <a:gd name="T69" fmla="*/ 202 h 2181"/>
                <a:gd name="T70" fmla="*/ 249 w 1378"/>
                <a:gd name="T71" fmla="*/ 540 h 2181"/>
                <a:gd name="T72" fmla="*/ 349 w 1378"/>
                <a:gd name="T73" fmla="*/ 713 h 2181"/>
                <a:gd name="T74" fmla="*/ 864 w 1378"/>
                <a:gd name="T75" fmla="*/ 911 h 2181"/>
                <a:gd name="T76" fmla="*/ 1003 w 1378"/>
                <a:gd name="T77" fmla="*/ 643 h 2181"/>
                <a:gd name="T78" fmla="*/ 963 w 1378"/>
                <a:gd name="T79" fmla="*/ 712 h 2181"/>
                <a:gd name="T80" fmla="*/ 929 w 1378"/>
                <a:gd name="T81" fmla="*/ 847 h 2181"/>
                <a:gd name="T82" fmla="*/ 997 w 1378"/>
                <a:gd name="T83" fmla="*/ 579 h 2181"/>
                <a:gd name="T84" fmla="*/ 993 w 1378"/>
                <a:gd name="T85" fmla="*/ 601 h 21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Lst>
              <a:rect l="0" t="0" r="r" b="b"/>
              <a:pathLst>
                <a:path w="1378" h="2181">
                  <a:moveTo>
                    <a:pt x="429" y="2044"/>
                  </a:moveTo>
                  <a:cubicBezTo>
                    <a:pt x="428" y="1893"/>
                    <a:pt x="424" y="1765"/>
                    <a:pt x="421" y="1714"/>
                  </a:cubicBezTo>
                  <a:cubicBezTo>
                    <a:pt x="413" y="1590"/>
                    <a:pt x="398" y="1516"/>
                    <a:pt x="376" y="1494"/>
                  </a:cubicBezTo>
                  <a:cubicBezTo>
                    <a:pt x="368" y="1486"/>
                    <a:pt x="357" y="1490"/>
                    <a:pt x="341" y="1506"/>
                  </a:cubicBezTo>
                  <a:cubicBezTo>
                    <a:pt x="327" y="1522"/>
                    <a:pt x="316" y="1542"/>
                    <a:pt x="306" y="1572"/>
                  </a:cubicBezTo>
                  <a:cubicBezTo>
                    <a:pt x="295" y="1602"/>
                    <a:pt x="290" y="1627"/>
                    <a:pt x="280" y="1703"/>
                  </a:cubicBezTo>
                  <a:cubicBezTo>
                    <a:pt x="245" y="1953"/>
                    <a:pt x="237" y="1993"/>
                    <a:pt x="215" y="2041"/>
                  </a:cubicBezTo>
                  <a:cubicBezTo>
                    <a:pt x="193" y="2087"/>
                    <a:pt x="172" y="2106"/>
                    <a:pt x="136" y="2110"/>
                  </a:cubicBezTo>
                  <a:cubicBezTo>
                    <a:pt x="99" y="2115"/>
                    <a:pt x="73" y="2097"/>
                    <a:pt x="53" y="2056"/>
                  </a:cubicBezTo>
                  <a:cubicBezTo>
                    <a:pt x="36" y="2020"/>
                    <a:pt x="27" y="1987"/>
                    <a:pt x="19" y="1936"/>
                  </a:cubicBezTo>
                  <a:cubicBezTo>
                    <a:pt x="8" y="1865"/>
                    <a:pt x="0" y="1711"/>
                    <a:pt x="2" y="1633"/>
                  </a:cubicBezTo>
                  <a:cubicBezTo>
                    <a:pt x="9" y="1417"/>
                    <a:pt x="55" y="1214"/>
                    <a:pt x="133" y="1049"/>
                  </a:cubicBezTo>
                  <a:cubicBezTo>
                    <a:pt x="141" y="1033"/>
                    <a:pt x="147" y="1020"/>
                    <a:pt x="147" y="1019"/>
                  </a:cubicBezTo>
                  <a:cubicBezTo>
                    <a:pt x="147" y="1019"/>
                    <a:pt x="144" y="1020"/>
                    <a:pt x="140" y="1020"/>
                  </a:cubicBezTo>
                  <a:cubicBezTo>
                    <a:pt x="127" y="1022"/>
                    <a:pt x="108" y="1016"/>
                    <a:pt x="100" y="1009"/>
                  </a:cubicBezTo>
                  <a:cubicBezTo>
                    <a:pt x="89" y="999"/>
                    <a:pt x="87" y="990"/>
                    <a:pt x="88" y="949"/>
                  </a:cubicBezTo>
                  <a:cubicBezTo>
                    <a:pt x="89" y="920"/>
                    <a:pt x="90" y="909"/>
                    <a:pt x="95" y="892"/>
                  </a:cubicBezTo>
                  <a:cubicBezTo>
                    <a:pt x="109" y="837"/>
                    <a:pt x="138" y="794"/>
                    <a:pt x="184" y="759"/>
                  </a:cubicBezTo>
                  <a:cubicBezTo>
                    <a:pt x="209" y="739"/>
                    <a:pt x="248" y="713"/>
                    <a:pt x="253" y="713"/>
                  </a:cubicBezTo>
                  <a:cubicBezTo>
                    <a:pt x="256" y="713"/>
                    <a:pt x="258" y="712"/>
                    <a:pt x="258" y="711"/>
                  </a:cubicBezTo>
                  <a:cubicBezTo>
                    <a:pt x="258" y="710"/>
                    <a:pt x="252" y="701"/>
                    <a:pt x="246" y="691"/>
                  </a:cubicBezTo>
                  <a:cubicBezTo>
                    <a:pt x="225" y="656"/>
                    <a:pt x="210" y="621"/>
                    <a:pt x="203" y="585"/>
                  </a:cubicBezTo>
                  <a:cubicBezTo>
                    <a:pt x="197" y="558"/>
                    <a:pt x="198" y="447"/>
                    <a:pt x="203" y="412"/>
                  </a:cubicBezTo>
                  <a:cubicBezTo>
                    <a:pt x="226" y="268"/>
                    <a:pt x="311" y="155"/>
                    <a:pt x="444" y="90"/>
                  </a:cubicBezTo>
                  <a:cubicBezTo>
                    <a:pt x="480" y="73"/>
                    <a:pt x="498" y="66"/>
                    <a:pt x="533" y="57"/>
                  </a:cubicBezTo>
                  <a:cubicBezTo>
                    <a:pt x="685" y="18"/>
                    <a:pt x="843" y="69"/>
                    <a:pt x="920" y="182"/>
                  </a:cubicBezTo>
                  <a:cubicBezTo>
                    <a:pt x="951" y="229"/>
                    <a:pt x="980" y="289"/>
                    <a:pt x="992" y="337"/>
                  </a:cubicBezTo>
                  <a:cubicBezTo>
                    <a:pt x="1002" y="376"/>
                    <a:pt x="1003" y="389"/>
                    <a:pt x="1003" y="438"/>
                  </a:cubicBezTo>
                  <a:cubicBezTo>
                    <a:pt x="1003" y="481"/>
                    <a:pt x="1001" y="499"/>
                    <a:pt x="994" y="532"/>
                  </a:cubicBezTo>
                  <a:cubicBezTo>
                    <a:pt x="993" y="537"/>
                    <a:pt x="994" y="538"/>
                    <a:pt x="1004" y="538"/>
                  </a:cubicBezTo>
                  <a:cubicBezTo>
                    <a:pt x="1012" y="538"/>
                    <a:pt x="1018" y="540"/>
                    <a:pt x="1022" y="543"/>
                  </a:cubicBezTo>
                  <a:cubicBezTo>
                    <a:pt x="1026" y="545"/>
                    <a:pt x="1030" y="548"/>
                    <a:pt x="1031" y="548"/>
                  </a:cubicBezTo>
                  <a:cubicBezTo>
                    <a:pt x="1032" y="548"/>
                    <a:pt x="1045" y="530"/>
                    <a:pt x="1059" y="509"/>
                  </a:cubicBezTo>
                  <a:cubicBezTo>
                    <a:pt x="1127" y="411"/>
                    <a:pt x="1152" y="367"/>
                    <a:pt x="1234" y="203"/>
                  </a:cubicBezTo>
                  <a:cubicBezTo>
                    <a:pt x="1295" y="80"/>
                    <a:pt x="1309" y="55"/>
                    <a:pt x="1333" y="20"/>
                  </a:cubicBezTo>
                  <a:lnTo>
                    <a:pt x="1347" y="0"/>
                  </a:lnTo>
                  <a:lnTo>
                    <a:pt x="1363" y="0"/>
                  </a:lnTo>
                  <a:lnTo>
                    <a:pt x="1378" y="0"/>
                  </a:lnTo>
                  <a:lnTo>
                    <a:pt x="1378" y="9"/>
                  </a:lnTo>
                  <a:cubicBezTo>
                    <a:pt x="1378" y="16"/>
                    <a:pt x="1376" y="21"/>
                    <a:pt x="1364" y="38"/>
                  </a:cubicBezTo>
                  <a:cubicBezTo>
                    <a:pt x="1342" y="68"/>
                    <a:pt x="1320" y="107"/>
                    <a:pt x="1270" y="209"/>
                  </a:cubicBezTo>
                  <a:cubicBezTo>
                    <a:pt x="1245" y="260"/>
                    <a:pt x="1214" y="321"/>
                    <a:pt x="1202" y="344"/>
                  </a:cubicBezTo>
                  <a:cubicBezTo>
                    <a:pt x="1164" y="415"/>
                    <a:pt x="1111" y="499"/>
                    <a:pt x="1068" y="556"/>
                  </a:cubicBezTo>
                  <a:cubicBezTo>
                    <a:pt x="1052" y="579"/>
                    <a:pt x="1051" y="580"/>
                    <a:pt x="1049" y="598"/>
                  </a:cubicBezTo>
                  <a:cubicBezTo>
                    <a:pt x="1045" y="628"/>
                    <a:pt x="1036" y="666"/>
                    <a:pt x="1022" y="709"/>
                  </a:cubicBezTo>
                  <a:cubicBezTo>
                    <a:pt x="1005" y="761"/>
                    <a:pt x="997" y="780"/>
                    <a:pt x="966" y="848"/>
                  </a:cubicBezTo>
                  <a:cubicBezTo>
                    <a:pt x="935" y="916"/>
                    <a:pt x="923" y="944"/>
                    <a:pt x="915" y="971"/>
                  </a:cubicBezTo>
                  <a:cubicBezTo>
                    <a:pt x="905" y="1004"/>
                    <a:pt x="907" y="1001"/>
                    <a:pt x="881" y="1011"/>
                  </a:cubicBezTo>
                  <a:cubicBezTo>
                    <a:pt x="869" y="1016"/>
                    <a:pt x="857" y="1020"/>
                    <a:pt x="856" y="1020"/>
                  </a:cubicBezTo>
                  <a:cubicBezTo>
                    <a:pt x="855" y="1020"/>
                    <a:pt x="845" y="1016"/>
                    <a:pt x="835" y="1011"/>
                  </a:cubicBezTo>
                  <a:cubicBezTo>
                    <a:pt x="755" y="971"/>
                    <a:pt x="681" y="953"/>
                    <a:pt x="581" y="950"/>
                  </a:cubicBezTo>
                  <a:cubicBezTo>
                    <a:pt x="475" y="947"/>
                    <a:pt x="352" y="965"/>
                    <a:pt x="206" y="1003"/>
                  </a:cubicBezTo>
                  <a:cubicBezTo>
                    <a:pt x="199" y="1005"/>
                    <a:pt x="196" y="1008"/>
                    <a:pt x="188" y="1021"/>
                  </a:cubicBezTo>
                  <a:cubicBezTo>
                    <a:pt x="177" y="1038"/>
                    <a:pt x="159" y="1074"/>
                    <a:pt x="143" y="1112"/>
                  </a:cubicBezTo>
                  <a:cubicBezTo>
                    <a:pt x="61" y="1312"/>
                    <a:pt x="25" y="1549"/>
                    <a:pt x="41" y="1783"/>
                  </a:cubicBezTo>
                  <a:cubicBezTo>
                    <a:pt x="49" y="1900"/>
                    <a:pt x="73" y="2004"/>
                    <a:pt x="101" y="2046"/>
                  </a:cubicBezTo>
                  <a:cubicBezTo>
                    <a:pt x="109" y="2058"/>
                    <a:pt x="125" y="2068"/>
                    <a:pt x="136" y="2068"/>
                  </a:cubicBezTo>
                  <a:cubicBezTo>
                    <a:pt x="155" y="2068"/>
                    <a:pt x="174" y="2049"/>
                    <a:pt x="187" y="2016"/>
                  </a:cubicBezTo>
                  <a:cubicBezTo>
                    <a:pt x="207" y="1965"/>
                    <a:pt x="215" y="1916"/>
                    <a:pt x="236" y="1734"/>
                  </a:cubicBezTo>
                  <a:cubicBezTo>
                    <a:pt x="250" y="1610"/>
                    <a:pt x="258" y="1570"/>
                    <a:pt x="281" y="1522"/>
                  </a:cubicBezTo>
                  <a:cubicBezTo>
                    <a:pt x="298" y="1487"/>
                    <a:pt x="324" y="1467"/>
                    <a:pt x="357" y="1460"/>
                  </a:cubicBezTo>
                  <a:cubicBezTo>
                    <a:pt x="393" y="1453"/>
                    <a:pt x="416" y="1475"/>
                    <a:pt x="432" y="1531"/>
                  </a:cubicBezTo>
                  <a:cubicBezTo>
                    <a:pt x="454" y="1611"/>
                    <a:pt x="461" y="1719"/>
                    <a:pt x="464" y="2034"/>
                  </a:cubicBezTo>
                  <a:lnTo>
                    <a:pt x="466" y="2181"/>
                  </a:lnTo>
                  <a:lnTo>
                    <a:pt x="448" y="2181"/>
                  </a:lnTo>
                  <a:lnTo>
                    <a:pt x="431" y="2181"/>
                  </a:lnTo>
                  <a:lnTo>
                    <a:pt x="429" y="2044"/>
                  </a:lnTo>
                  <a:close/>
                  <a:moveTo>
                    <a:pt x="160" y="977"/>
                  </a:moveTo>
                  <a:cubicBezTo>
                    <a:pt x="177" y="971"/>
                    <a:pt x="184" y="967"/>
                    <a:pt x="192" y="959"/>
                  </a:cubicBezTo>
                  <a:cubicBezTo>
                    <a:pt x="210" y="942"/>
                    <a:pt x="226" y="929"/>
                    <a:pt x="245" y="917"/>
                  </a:cubicBezTo>
                  <a:cubicBezTo>
                    <a:pt x="267" y="903"/>
                    <a:pt x="333" y="870"/>
                    <a:pt x="380" y="849"/>
                  </a:cubicBezTo>
                  <a:cubicBezTo>
                    <a:pt x="416" y="834"/>
                    <a:pt x="423" y="830"/>
                    <a:pt x="416" y="830"/>
                  </a:cubicBezTo>
                  <a:cubicBezTo>
                    <a:pt x="409" y="830"/>
                    <a:pt x="374" y="817"/>
                    <a:pt x="358" y="809"/>
                  </a:cubicBezTo>
                  <a:cubicBezTo>
                    <a:pt x="337" y="797"/>
                    <a:pt x="320" y="784"/>
                    <a:pt x="302" y="766"/>
                  </a:cubicBezTo>
                  <a:cubicBezTo>
                    <a:pt x="288" y="751"/>
                    <a:pt x="288" y="751"/>
                    <a:pt x="275" y="751"/>
                  </a:cubicBezTo>
                  <a:cubicBezTo>
                    <a:pt x="269" y="751"/>
                    <a:pt x="261" y="752"/>
                    <a:pt x="257" y="754"/>
                  </a:cubicBezTo>
                  <a:cubicBezTo>
                    <a:pt x="242" y="761"/>
                    <a:pt x="208" y="787"/>
                    <a:pt x="188" y="807"/>
                  </a:cubicBezTo>
                  <a:cubicBezTo>
                    <a:pt x="137" y="857"/>
                    <a:pt x="117" y="909"/>
                    <a:pt x="124" y="969"/>
                  </a:cubicBezTo>
                  <a:cubicBezTo>
                    <a:pt x="125" y="979"/>
                    <a:pt x="126" y="980"/>
                    <a:pt x="133" y="982"/>
                  </a:cubicBezTo>
                  <a:cubicBezTo>
                    <a:pt x="136" y="984"/>
                    <a:pt x="139" y="985"/>
                    <a:pt x="139" y="985"/>
                  </a:cubicBezTo>
                  <a:cubicBezTo>
                    <a:pt x="139" y="985"/>
                    <a:pt x="149" y="982"/>
                    <a:pt x="160" y="977"/>
                  </a:cubicBezTo>
                  <a:close/>
                  <a:moveTo>
                    <a:pt x="834" y="965"/>
                  </a:moveTo>
                  <a:cubicBezTo>
                    <a:pt x="828" y="958"/>
                    <a:pt x="811" y="945"/>
                    <a:pt x="798" y="935"/>
                  </a:cubicBezTo>
                  <a:cubicBezTo>
                    <a:pt x="694" y="859"/>
                    <a:pt x="546" y="798"/>
                    <a:pt x="390" y="768"/>
                  </a:cubicBezTo>
                  <a:cubicBezTo>
                    <a:pt x="375" y="765"/>
                    <a:pt x="364" y="763"/>
                    <a:pt x="365" y="764"/>
                  </a:cubicBezTo>
                  <a:cubicBezTo>
                    <a:pt x="371" y="769"/>
                    <a:pt x="400" y="788"/>
                    <a:pt x="426" y="804"/>
                  </a:cubicBezTo>
                  <a:lnTo>
                    <a:pt x="455" y="822"/>
                  </a:lnTo>
                  <a:lnTo>
                    <a:pt x="480" y="821"/>
                  </a:lnTo>
                  <a:cubicBezTo>
                    <a:pt x="509" y="819"/>
                    <a:pt x="512" y="817"/>
                    <a:pt x="441" y="849"/>
                  </a:cubicBezTo>
                  <a:cubicBezTo>
                    <a:pt x="347" y="892"/>
                    <a:pt x="261" y="937"/>
                    <a:pt x="255" y="947"/>
                  </a:cubicBezTo>
                  <a:cubicBezTo>
                    <a:pt x="254" y="948"/>
                    <a:pt x="269" y="946"/>
                    <a:pt x="289" y="942"/>
                  </a:cubicBezTo>
                  <a:cubicBezTo>
                    <a:pt x="368" y="926"/>
                    <a:pt x="442" y="920"/>
                    <a:pt x="541" y="922"/>
                  </a:cubicBezTo>
                  <a:cubicBezTo>
                    <a:pt x="610" y="923"/>
                    <a:pt x="638" y="925"/>
                    <a:pt x="692" y="933"/>
                  </a:cubicBezTo>
                  <a:cubicBezTo>
                    <a:pt x="740" y="941"/>
                    <a:pt x="800" y="957"/>
                    <a:pt x="830" y="971"/>
                  </a:cubicBezTo>
                  <a:cubicBezTo>
                    <a:pt x="837" y="974"/>
                    <a:pt x="843" y="976"/>
                    <a:pt x="844" y="976"/>
                  </a:cubicBezTo>
                  <a:cubicBezTo>
                    <a:pt x="846" y="976"/>
                    <a:pt x="841" y="971"/>
                    <a:pt x="834" y="965"/>
                  </a:cubicBezTo>
                  <a:lnTo>
                    <a:pt x="834" y="965"/>
                  </a:lnTo>
                  <a:close/>
                  <a:moveTo>
                    <a:pt x="864" y="911"/>
                  </a:moveTo>
                  <a:cubicBezTo>
                    <a:pt x="875" y="884"/>
                    <a:pt x="919" y="754"/>
                    <a:pt x="922" y="740"/>
                  </a:cubicBezTo>
                  <a:cubicBezTo>
                    <a:pt x="923" y="732"/>
                    <a:pt x="923" y="733"/>
                    <a:pt x="902" y="752"/>
                  </a:cubicBezTo>
                  <a:cubicBezTo>
                    <a:pt x="865" y="788"/>
                    <a:pt x="811" y="834"/>
                    <a:pt x="808" y="832"/>
                  </a:cubicBezTo>
                  <a:cubicBezTo>
                    <a:pt x="808" y="831"/>
                    <a:pt x="826" y="803"/>
                    <a:pt x="848" y="769"/>
                  </a:cubicBezTo>
                  <a:cubicBezTo>
                    <a:pt x="923" y="657"/>
                    <a:pt x="939" y="625"/>
                    <a:pt x="953" y="568"/>
                  </a:cubicBezTo>
                  <a:cubicBezTo>
                    <a:pt x="971" y="497"/>
                    <a:pt x="972" y="414"/>
                    <a:pt x="955" y="347"/>
                  </a:cubicBezTo>
                  <a:cubicBezTo>
                    <a:pt x="942" y="298"/>
                    <a:pt x="915" y="236"/>
                    <a:pt x="891" y="202"/>
                  </a:cubicBezTo>
                  <a:cubicBezTo>
                    <a:pt x="832" y="120"/>
                    <a:pt x="730" y="78"/>
                    <a:pt x="615" y="88"/>
                  </a:cubicBezTo>
                  <a:cubicBezTo>
                    <a:pt x="459" y="101"/>
                    <a:pt x="342" y="185"/>
                    <a:pt x="281" y="327"/>
                  </a:cubicBezTo>
                  <a:cubicBezTo>
                    <a:pt x="254" y="391"/>
                    <a:pt x="243" y="462"/>
                    <a:pt x="249" y="540"/>
                  </a:cubicBezTo>
                  <a:cubicBezTo>
                    <a:pt x="253" y="602"/>
                    <a:pt x="265" y="636"/>
                    <a:pt x="299" y="687"/>
                  </a:cubicBezTo>
                  <a:cubicBezTo>
                    <a:pt x="311" y="706"/>
                    <a:pt x="315" y="709"/>
                    <a:pt x="320" y="710"/>
                  </a:cubicBezTo>
                  <a:cubicBezTo>
                    <a:pt x="324" y="710"/>
                    <a:pt x="337" y="712"/>
                    <a:pt x="349" y="713"/>
                  </a:cubicBezTo>
                  <a:cubicBezTo>
                    <a:pt x="488" y="729"/>
                    <a:pt x="679" y="813"/>
                    <a:pt x="824" y="921"/>
                  </a:cubicBezTo>
                  <a:cubicBezTo>
                    <a:pt x="838" y="931"/>
                    <a:pt x="850" y="938"/>
                    <a:pt x="851" y="938"/>
                  </a:cubicBezTo>
                  <a:cubicBezTo>
                    <a:pt x="852" y="938"/>
                    <a:pt x="858" y="925"/>
                    <a:pt x="864" y="911"/>
                  </a:cubicBezTo>
                  <a:close/>
                  <a:moveTo>
                    <a:pt x="929" y="847"/>
                  </a:moveTo>
                  <a:cubicBezTo>
                    <a:pt x="959" y="781"/>
                    <a:pt x="979" y="728"/>
                    <a:pt x="990" y="693"/>
                  </a:cubicBezTo>
                  <a:cubicBezTo>
                    <a:pt x="998" y="665"/>
                    <a:pt x="1004" y="643"/>
                    <a:pt x="1003" y="643"/>
                  </a:cubicBezTo>
                  <a:cubicBezTo>
                    <a:pt x="1003" y="643"/>
                    <a:pt x="996" y="651"/>
                    <a:pt x="987" y="661"/>
                  </a:cubicBezTo>
                  <a:lnTo>
                    <a:pt x="972" y="679"/>
                  </a:lnTo>
                  <a:lnTo>
                    <a:pt x="963" y="712"/>
                  </a:lnTo>
                  <a:cubicBezTo>
                    <a:pt x="955" y="738"/>
                    <a:pt x="907" y="887"/>
                    <a:pt x="897" y="913"/>
                  </a:cubicBezTo>
                  <a:cubicBezTo>
                    <a:pt x="896" y="916"/>
                    <a:pt x="896" y="917"/>
                    <a:pt x="898" y="916"/>
                  </a:cubicBezTo>
                  <a:cubicBezTo>
                    <a:pt x="899" y="914"/>
                    <a:pt x="913" y="884"/>
                    <a:pt x="929" y="847"/>
                  </a:cubicBezTo>
                  <a:close/>
                  <a:moveTo>
                    <a:pt x="1004" y="587"/>
                  </a:moveTo>
                  <a:cubicBezTo>
                    <a:pt x="1009" y="579"/>
                    <a:pt x="1009" y="578"/>
                    <a:pt x="1006" y="575"/>
                  </a:cubicBezTo>
                  <a:cubicBezTo>
                    <a:pt x="1004" y="572"/>
                    <a:pt x="1003" y="573"/>
                    <a:pt x="997" y="579"/>
                  </a:cubicBezTo>
                  <a:cubicBezTo>
                    <a:pt x="994" y="584"/>
                    <a:pt x="991" y="591"/>
                    <a:pt x="990" y="597"/>
                  </a:cubicBezTo>
                  <a:lnTo>
                    <a:pt x="989" y="606"/>
                  </a:lnTo>
                  <a:lnTo>
                    <a:pt x="993" y="601"/>
                  </a:lnTo>
                  <a:cubicBezTo>
                    <a:pt x="996" y="598"/>
                    <a:pt x="1000" y="591"/>
                    <a:pt x="1004" y="587"/>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1" name="Freeform 31"/>
            <p:cNvSpPr>
              <a:spLocks noEditPoints="1"/>
            </p:cNvSpPr>
            <p:nvPr/>
          </p:nvSpPr>
          <p:spPr bwMode="auto">
            <a:xfrm>
              <a:off x="4908550" y="4230688"/>
              <a:ext cx="100013" cy="87313"/>
            </a:xfrm>
            <a:custGeom>
              <a:avLst/>
              <a:gdLst>
                <a:gd name="T0" fmla="*/ 12 w 268"/>
                <a:gd name="T1" fmla="*/ 232 h 234"/>
                <a:gd name="T2" fmla="*/ 4 w 268"/>
                <a:gd name="T3" fmla="*/ 220 h 234"/>
                <a:gd name="T4" fmla="*/ 23 w 268"/>
                <a:gd name="T5" fmla="*/ 120 h 234"/>
                <a:gd name="T6" fmla="*/ 118 w 268"/>
                <a:gd name="T7" fmla="*/ 20 h 234"/>
                <a:gd name="T8" fmla="*/ 153 w 268"/>
                <a:gd name="T9" fmla="*/ 12 h 234"/>
                <a:gd name="T10" fmla="*/ 160 w 268"/>
                <a:gd name="T11" fmla="*/ 18 h 234"/>
                <a:gd name="T12" fmla="*/ 167 w 268"/>
                <a:gd name="T13" fmla="*/ 25 h 234"/>
                <a:gd name="T14" fmla="*/ 173 w 268"/>
                <a:gd name="T15" fmla="*/ 32 h 234"/>
                <a:gd name="T16" fmla="*/ 180 w 268"/>
                <a:gd name="T17" fmla="*/ 37 h 234"/>
                <a:gd name="T18" fmla="*/ 192 w 268"/>
                <a:gd name="T19" fmla="*/ 43 h 234"/>
                <a:gd name="T20" fmla="*/ 204 w 268"/>
                <a:gd name="T21" fmla="*/ 49 h 234"/>
                <a:gd name="T22" fmla="*/ 211 w 268"/>
                <a:gd name="T23" fmla="*/ 56 h 234"/>
                <a:gd name="T24" fmla="*/ 217 w 268"/>
                <a:gd name="T25" fmla="*/ 63 h 234"/>
                <a:gd name="T26" fmla="*/ 223 w 268"/>
                <a:gd name="T27" fmla="*/ 69 h 234"/>
                <a:gd name="T28" fmla="*/ 228 w 268"/>
                <a:gd name="T29" fmla="*/ 75 h 234"/>
                <a:gd name="T30" fmla="*/ 242 w 268"/>
                <a:gd name="T31" fmla="*/ 80 h 234"/>
                <a:gd name="T32" fmla="*/ 255 w 268"/>
                <a:gd name="T33" fmla="*/ 87 h 234"/>
                <a:gd name="T34" fmla="*/ 262 w 268"/>
                <a:gd name="T35" fmla="*/ 94 h 234"/>
                <a:gd name="T36" fmla="*/ 244 w 268"/>
                <a:gd name="T37" fmla="*/ 105 h 234"/>
                <a:gd name="T38" fmla="*/ 68 w 268"/>
                <a:gd name="T39" fmla="*/ 211 h 234"/>
                <a:gd name="T40" fmla="*/ 58 w 268"/>
                <a:gd name="T41" fmla="*/ 217 h 234"/>
                <a:gd name="T42" fmla="*/ 53 w 268"/>
                <a:gd name="T43" fmla="*/ 219 h 234"/>
                <a:gd name="T44" fmla="*/ 35 w 268"/>
                <a:gd name="T45" fmla="*/ 228 h 234"/>
                <a:gd name="T46" fmla="*/ 12 w 268"/>
                <a:gd name="T47" fmla="*/ 232 h 234"/>
                <a:gd name="T48" fmla="*/ 30 w 268"/>
                <a:gd name="T49" fmla="*/ 198 h 234"/>
                <a:gd name="T50" fmla="*/ 24 w 268"/>
                <a:gd name="T51" fmla="*/ 193 h 234"/>
                <a:gd name="T52" fmla="*/ 19 w 268"/>
                <a:gd name="T53" fmla="*/ 198 h 234"/>
                <a:gd name="T54" fmla="*/ 24 w 268"/>
                <a:gd name="T55" fmla="*/ 204 h 234"/>
                <a:gd name="T56" fmla="*/ 30 w 268"/>
                <a:gd name="T57" fmla="*/ 198 h 234"/>
                <a:gd name="T58" fmla="*/ 142 w 268"/>
                <a:gd name="T59" fmla="*/ 99 h 234"/>
                <a:gd name="T60" fmla="*/ 137 w 268"/>
                <a:gd name="T61" fmla="*/ 93 h 234"/>
                <a:gd name="T62" fmla="*/ 131 w 268"/>
                <a:gd name="T63" fmla="*/ 99 h 234"/>
                <a:gd name="T64" fmla="*/ 137 w 268"/>
                <a:gd name="T65" fmla="*/ 105 h 234"/>
                <a:gd name="T66" fmla="*/ 142 w 268"/>
                <a:gd name="T67" fmla="*/ 99 h 2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68" h="234">
                  <a:moveTo>
                    <a:pt x="12" y="232"/>
                  </a:moveTo>
                  <a:cubicBezTo>
                    <a:pt x="7" y="231"/>
                    <a:pt x="6" y="229"/>
                    <a:pt x="4" y="220"/>
                  </a:cubicBezTo>
                  <a:cubicBezTo>
                    <a:pt x="0" y="185"/>
                    <a:pt x="6" y="153"/>
                    <a:pt x="23" y="120"/>
                  </a:cubicBezTo>
                  <a:cubicBezTo>
                    <a:pt x="45" y="79"/>
                    <a:pt x="70" y="53"/>
                    <a:pt x="118" y="20"/>
                  </a:cubicBezTo>
                  <a:cubicBezTo>
                    <a:pt x="144" y="3"/>
                    <a:pt x="153" y="0"/>
                    <a:pt x="153" y="12"/>
                  </a:cubicBezTo>
                  <a:cubicBezTo>
                    <a:pt x="153" y="18"/>
                    <a:pt x="154" y="18"/>
                    <a:pt x="160" y="18"/>
                  </a:cubicBezTo>
                  <a:cubicBezTo>
                    <a:pt x="166" y="18"/>
                    <a:pt x="167" y="19"/>
                    <a:pt x="167" y="25"/>
                  </a:cubicBezTo>
                  <a:cubicBezTo>
                    <a:pt x="167" y="31"/>
                    <a:pt x="167" y="32"/>
                    <a:pt x="173" y="32"/>
                  </a:cubicBezTo>
                  <a:cubicBezTo>
                    <a:pt x="179" y="32"/>
                    <a:pt x="180" y="32"/>
                    <a:pt x="180" y="37"/>
                  </a:cubicBezTo>
                  <a:cubicBezTo>
                    <a:pt x="180" y="42"/>
                    <a:pt x="180" y="43"/>
                    <a:pt x="192" y="43"/>
                  </a:cubicBezTo>
                  <a:cubicBezTo>
                    <a:pt x="204" y="43"/>
                    <a:pt x="204" y="43"/>
                    <a:pt x="204" y="49"/>
                  </a:cubicBezTo>
                  <a:cubicBezTo>
                    <a:pt x="204" y="55"/>
                    <a:pt x="205" y="56"/>
                    <a:pt x="211" y="56"/>
                  </a:cubicBezTo>
                  <a:cubicBezTo>
                    <a:pt x="217" y="56"/>
                    <a:pt x="217" y="57"/>
                    <a:pt x="217" y="63"/>
                  </a:cubicBezTo>
                  <a:cubicBezTo>
                    <a:pt x="217" y="68"/>
                    <a:pt x="218" y="69"/>
                    <a:pt x="223" y="69"/>
                  </a:cubicBezTo>
                  <a:cubicBezTo>
                    <a:pt x="227" y="69"/>
                    <a:pt x="228" y="70"/>
                    <a:pt x="228" y="75"/>
                  </a:cubicBezTo>
                  <a:cubicBezTo>
                    <a:pt x="228" y="80"/>
                    <a:pt x="229" y="80"/>
                    <a:pt x="242" y="80"/>
                  </a:cubicBezTo>
                  <a:cubicBezTo>
                    <a:pt x="255" y="80"/>
                    <a:pt x="255" y="80"/>
                    <a:pt x="255" y="87"/>
                  </a:cubicBezTo>
                  <a:cubicBezTo>
                    <a:pt x="255" y="93"/>
                    <a:pt x="256" y="93"/>
                    <a:pt x="262" y="94"/>
                  </a:cubicBezTo>
                  <a:cubicBezTo>
                    <a:pt x="268" y="94"/>
                    <a:pt x="264" y="96"/>
                    <a:pt x="244" y="105"/>
                  </a:cubicBezTo>
                  <a:cubicBezTo>
                    <a:pt x="154" y="144"/>
                    <a:pt x="94" y="180"/>
                    <a:pt x="68" y="211"/>
                  </a:cubicBezTo>
                  <a:cubicBezTo>
                    <a:pt x="65" y="214"/>
                    <a:pt x="60" y="217"/>
                    <a:pt x="58" y="217"/>
                  </a:cubicBezTo>
                  <a:cubicBezTo>
                    <a:pt x="56" y="217"/>
                    <a:pt x="54" y="218"/>
                    <a:pt x="53" y="219"/>
                  </a:cubicBezTo>
                  <a:cubicBezTo>
                    <a:pt x="53" y="220"/>
                    <a:pt x="45" y="224"/>
                    <a:pt x="35" y="228"/>
                  </a:cubicBezTo>
                  <a:cubicBezTo>
                    <a:pt x="22" y="233"/>
                    <a:pt x="16" y="234"/>
                    <a:pt x="12" y="232"/>
                  </a:cubicBezTo>
                  <a:close/>
                  <a:moveTo>
                    <a:pt x="30" y="198"/>
                  </a:moveTo>
                  <a:cubicBezTo>
                    <a:pt x="30" y="194"/>
                    <a:pt x="28" y="193"/>
                    <a:pt x="24" y="193"/>
                  </a:cubicBezTo>
                  <a:cubicBezTo>
                    <a:pt x="20" y="193"/>
                    <a:pt x="19" y="194"/>
                    <a:pt x="19" y="198"/>
                  </a:cubicBezTo>
                  <a:cubicBezTo>
                    <a:pt x="19" y="203"/>
                    <a:pt x="20" y="204"/>
                    <a:pt x="24" y="204"/>
                  </a:cubicBezTo>
                  <a:cubicBezTo>
                    <a:pt x="28" y="204"/>
                    <a:pt x="30" y="203"/>
                    <a:pt x="30" y="198"/>
                  </a:cubicBezTo>
                  <a:close/>
                  <a:moveTo>
                    <a:pt x="142" y="99"/>
                  </a:moveTo>
                  <a:cubicBezTo>
                    <a:pt x="142" y="95"/>
                    <a:pt x="141" y="93"/>
                    <a:pt x="137" y="93"/>
                  </a:cubicBezTo>
                  <a:cubicBezTo>
                    <a:pt x="132" y="93"/>
                    <a:pt x="131" y="95"/>
                    <a:pt x="131" y="99"/>
                  </a:cubicBezTo>
                  <a:cubicBezTo>
                    <a:pt x="131" y="103"/>
                    <a:pt x="132" y="105"/>
                    <a:pt x="137" y="105"/>
                  </a:cubicBezTo>
                  <a:cubicBezTo>
                    <a:pt x="141" y="105"/>
                    <a:pt x="142" y="103"/>
                    <a:pt x="142" y="99"/>
                  </a:cubicBezTo>
                  <a:close/>
                </a:path>
              </a:pathLst>
            </a:custGeom>
            <a:solidFill>
              <a:srgbClr val="A1BDA8"/>
            </a:solidFill>
            <a:ln w="3175" cap="flat">
              <a:solidFill>
                <a:srgbClr val="A1BDA8"/>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sp>
          <p:nvSpPr>
            <p:cNvPr id="102" name="Freeform 32"/>
            <p:cNvSpPr>
              <a:spLocks/>
            </p:cNvSpPr>
            <p:nvPr/>
          </p:nvSpPr>
          <p:spPr bwMode="auto">
            <a:xfrm>
              <a:off x="5294313" y="3776663"/>
              <a:ext cx="123825" cy="209550"/>
            </a:xfrm>
            <a:custGeom>
              <a:avLst/>
              <a:gdLst>
                <a:gd name="T0" fmla="*/ 228 w 331"/>
                <a:gd name="T1" fmla="*/ 533 h 559"/>
                <a:gd name="T2" fmla="*/ 330 w 331"/>
                <a:gd name="T3" fmla="*/ 471 h 559"/>
                <a:gd name="T4" fmla="*/ 275 w 331"/>
                <a:gd name="T5" fmla="*/ 230 h 559"/>
                <a:gd name="T6" fmla="*/ 267 w 331"/>
                <a:gd name="T7" fmla="*/ 30 h 559"/>
                <a:gd name="T8" fmla="*/ 159 w 331"/>
                <a:gd name="T9" fmla="*/ 37 h 559"/>
                <a:gd name="T10" fmla="*/ 210 w 331"/>
                <a:gd name="T11" fmla="*/ 116 h 559"/>
                <a:gd name="T12" fmla="*/ 136 w 331"/>
                <a:gd name="T13" fmla="*/ 165 h 559"/>
                <a:gd name="T14" fmla="*/ 81 w 331"/>
                <a:gd name="T15" fmla="*/ 91 h 559"/>
                <a:gd name="T16" fmla="*/ 180 w 331"/>
                <a:gd name="T17" fmla="*/ 294 h 559"/>
                <a:gd name="T18" fmla="*/ 228 w 331"/>
                <a:gd name="T19" fmla="*/ 533 h 5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331" h="559">
                  <a:moveTo>
                    <a:pt x="228" y="533"/>
                  </a:moveTo>
                  <a:cubicBezTo>
                    <a:pt x="228" y="533"/>
                    <a:pt x="315" y="559"/>
                    <a:pt x="330" y="471"/>
                  </a:cubicBezTo>
                  <a:cubicBezTo>
                    <a:pt x="331" y="463"/>
                    <a:pt x="275" y="230"/>
                    <a:pt x="275" y="230"/>
                  </a:cubicBezTo>
                  <a:cubicBezTo>
                    <a:pt x="327" y="137"/>
                    <a:pt x="304" y="55"/>
                    <a:pt x="267" y="30"/>
                  </a:cubicBezTo>
                  <a:cubicBezTo>
                    <a:pt x="223" y="0"/>
                    <a:pt x="159" y="37"/>
                    <a:pt x="159" y="37"/>
                  </a:cubicBezTo>
                  <a:lnTo>
                    <a:pt x="210" y="116"/>
                  </a:lnTo>
                  <a:lnTo>
                    <a:pt x="136" y="165"/>
                  </a:lnTo>
                  <a:lnTo>
                    <a:pt x="81" y="91"/>
                  </a:lnTo>
                  <a:cubicBezTo>
                    <a:pt x="37" y="144"/>
                    <a:pt x="0" y="301"/>
                    <a:pt x="180" y="294"/>
                  </a:cubicBezTo>
                  <a:lnTo>
                    <a:pt x="228" y="533"/>
                  </a:lnTo>
                  <a:close/>
                </a:path>
              </a:pathLst>
            </a:custGeom>
            <a:solidFill>
              <a:srgbClr val="A9B6AC"/>
            </a:solidFill>
            <a:ln w="14288" cap="flat">
              <a:solidFill>
                <a:srgbClr val="445750"/>
              </a:solidFill>
              <a:prstDash val="solid"/>
              <a:miter lim="800000"/>
              <a:headEnd/>
              <a:tailEnd/>
            </a:ln>
          </p:spPr>
          <p:txBody>
            <a:bodyPr vert="horz" wrap="square" lIns="91440" tIns="45720" rIns="91440" bIns="45720" numCol="1" anchor="t" anchorCtr="0" compatLnSpc="1">
              <a:prstTxWarp prst="textNoShape">
                <a:avLst/>
              </a:prstTxWarp>
            </a:bodyPr>
            <a:lstStyle/>
            <a:p>
              <a:endParaRPr lang="en-CA"/>
            </a:p>
          </p:txBody>
        </p:sp>
      </p:grpSp>
    </p:spTree>
    <p:extLst>
      <p:ext uri="{BB962C8B-B14F-4D97-AF65-F5344CB8AC3E}">
        <p14:creationId xmlns:p14="http://schemas.microsoft.com/office/powerpoint/2010/main" val="3874394659"/>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Generating Library</a:t>
            </a:r>
            <a:endParaRPr lang="en-CA" dirty="0"/>
          </a:p>
        </p:txBody>
      </p:sp>
      <p:sp>
        <p:nvSpPr>
          <p:cNvPr id="3" name="Content Placeholder 2"/>
          <p:cNvSpPr>
            <a:spLocks noGrp="1"/>
          </p:cNvSpPr>
          <p:nvPr>
            <p:ph idx="1"/>
          </p:nvPr>
        </p:nvSpPr>
        <p:spPr/>
        <p:txBody>
          <a:bodyPr/>
          <a:lstStyle/>
          <a:p>
            <a:r>
              <a:rPr lang="en-CA" dirty="0" smtClean="0"/>
              <a:t>Spiffy compiler processes annotated metadata structures</a:t>
            </a:r>
            <a:br>
              <a:rPr lang="en-CA" dirty="0" smtClean="0"/>
            </a:br>
            <a:r>
              <a:rPr lang="en-CA" dirty="0" smtClean="0"/>
              <a:t>to generate library that provides a generic API for type-safe parsing, traversal and serialization of file system structures</a:t>
            </a:r>
          </a:p>
        </p:txBody>
      </p:sp>
      <p:sp>
        <p:nvSpPr>
          <p:cNvPr id="4" name="Slide Number Placeholder 3"/>
          <p:cNvSpPr>
            <a:spLocks noGrp="1"/>
          </p:cNvSpPr>
          <p:nvPr>
            <p:ph type="sldNum" sz="quarter" idx="12"/>
          </p:nvPr>
        </p:nvSpPr>
        <p:spPr/>
        <p:txBody>
          <a:bodyPr/>
          <a:lstStyle/>
          <a:p>
            <a:fld id="{7B2023C8-B124-43A9-8F92-0EEF5BAA9995}" type="slidenum">
              <a:rPr lang="en-CA" smtClean="0"/>
              <a:pPr/>
              <a:t>8</a:t>
            </a:fld>
            <a:endParaRPr lang="en-CA" dirty="0"/>
          </a:p>
        </p:txBody>
      </p:sp>
      <p:sp>
        <p:nvSpPr>
          <p:cNvPr id="89" name="Rectangle 88"/>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System Developer</a:t>
            </a:r>
            <a:endParaRPr lang="en-CA" dirty="0">
              <a:solidFill>
                <a:schemeClr val="bg1">
                  <a:lumMod val="50000"/>
                  <a:lumOff val="50000"/>
                </a:schemeClr>
              </a:solidFill>
            </a:endParaRPr>
          </a:p>
        </p:txBody>
      </p:sp>
      <p:sp>
        <p:nvSpPr>
          <p:cNvPr id="92" name="Right Arrow 91"/>
          <p:cNvSpPr/>
          <p:nvPr/>
        </p:nvSpPr>
        <p:spPr>
          <a:xfrm>
            <a:off x="2974282"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grpSp>
        <p:nvGrpSpPr>
          <p:cNvPr id="93" name="Group 92"/>
          <p:cNvGrpSpPr/>
          <p:nvPr/>
        </p:nvGrpSpPr>
        <p:grpSpPr>
          <a:xfrm>
            <a:off x="1320470" y="3184147"/>
            <a:ext cx="1440000" cy="1419231"/>
            <a:chOff x="1467492" y="3155069"/>
            <a:chExt cx="1411173" cy="1419231"/>
          </a:xfrm>
        </p:grpSpPr>
        <p:sp>
          <p:nvSpPr>
            <p:cNvPr id="119" name="Rectangle 118"/>
            <p:cNvSpPr/>
            <p:nvPr/>
          </p:nvSpPr>
          <p:spPr>
            <a:xfrm>
              <a:off x="1467492" y="3155069"/>
              <a:ext cx="1411173"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File </a:t>
              </a:r>
              <a:r>
                <a:rPr lang="en-CA" dirty="0">
                  <a:solidFill>
                    <a:schemeClr val="bg1"/>
                  </a:solidFill>
                </a:rPr>
                <a:t>System </a:t>
              </a:r>
              <a:r>
                <a:rPr lang="en-CA" dirty="0" smtClean="0">
                  <a:solidFill>
                    <a:schemeClr val="bg1"/>
                  </a:solidFill>
                </a:rPr>
                <a:t>Metadata Structures</a:t>
              </a:r>
              <a:endParaRPr lang="en-CA" dirty="0">
                <a:solidFill>
                  <a:schemeClr val="bg1"/>
                </a:solidFill>
              </a:endParaRPr>
            </a:p>
          </p:txBody>
        </p:sp>
        <p:sp>
          <p:nvSpPr>
            <p:cNvPr id="120" name="Rectangle 119"/>
            <p:cNvSpPr/>
            <p:nvPr/>
          </p:nvSpPr>
          <p:spPr>
            <a:xfrm>
              <a:off x="1467492" y="4102043"/>
              <a:ext cx="1411173" cy="472257"/>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Annotations</a:t>
              </a:r>
              <a:endParaRPr lang="en-CA" dirty="0">
                <a:solidFill>
                  <a:schemeClr val="bg1"/>
                </a:solidFill>
              </a:endParaRPr>
            </a:p>
          </p:txBody>
        </p:sp>
      </p:grpSp>
      <p:sp>
        <p:nvSpPr>
          <p:cNvPr id="94" name="Rounded Rectangle 93"/>
          <p:cNvSpPr/>
          <p:nvPr/>
        </p:nvSpPr>
        <p:spPr>
          <a:xfrm>
            <a:off x="3505093" y="3421506"/>
            <a:ext cx="1440000" cy="944513"/>
          </a:xfrm>
          <a:prstGeom prst="roundRect">
            <a:avLst/>
          </a:prstGeom>
          <a:solidFill>
            <a:schemeClr val="accent1">
              <a:lumMod val="90000"/>
              <a:lumOff val="10000"/>
            </a:schemeClr>
          </a:solid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tx1"/>
                </a:solidFill>
              </a:rPr>
              <a:t>Spiffy Compiler</a:t>
            </a:r>
            <a:endParaRPr lang="en-CA" dirty="0">
              <a:solidFill>
                <a:schemeClr val="tx1"/>
              </a:solidFill>
            </a:endParaRPr>
          </a:p>
        </p:txBody>
      </p:sp>
      <p:grpSp>
        <p:nvGrpSpPr>
          <p:cNvPr id="95" name="Group 94"/>
          <p:cNvGrpSpPr/>
          <p:nvPr/>
        </p:nvGrpSpPr>
        <p:grpSpPr>
          <a:xfrm>
            <a:off x="5689716" y="3421506"/>
            <a:ext cx="1761066" cy="944513"/>
            <a:chOff x="6493933" y="3749526"/>
            <a:chExt cx="1761066" cy="944513"/>
          </a:xfrm>
          <a:effectLst>
            <a:glow rad="101600">
              <a:srgbClr val="FFFF00">
                <a:alpha val="40000"/>
              </a:srgbClr>
            </a:glow>
          </a:effectLst>
        </p:grpSpPr>
        <p:sp>
          <p:nvSpPr>
            <p:cNvPr id="101" name="Rectangle 100"/>
            <p:cNvSpPr/>
            <p:nvPr/>
          </p:nvSpPr>
          <p:spPr>
            <a:xfrm>
              <a:off x="6493933" y="3749526"/>
              <a:ext cx="1004159"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effectLst/>
                </a:rPr>
                <a:t>Spiffy Library</a:t>
              </a:r>
              <a:endParaRPr lang="en-CA" dirty="0">
                <a:solidFill>
                  <a:schemeClr val="bg1"/>
                </a:solidFill>
                <a:effectLst/>
              </a:endParaRPr>
            </a:p>
          </p:txBody>
        </p:sp>
        <p:sp>
          <p:nvSpPr>
            <p:cNvPr id="118" name="Rectangle 117"/>
            <p:cNvSpPr/>
            <p:nvPr/>
          </p:nvSpPr>
          <p:spPr>
            <a:xfrm>
              <a:off x="7498092" y="3749526"/>
              <a:ext cx="756907"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API</a:t>
              </a:r>
              <a:endParaRPr lang="en-CA" dirty="0">
                <a:solidFill>
                  <a:schemeClr val="bg1"/>
                </a:solidFill>
              </a:endParaRPr>
            </a:p>
          </p:txBody>
        </p:sp>
      </p:grpSp>
      <p:sp>
        <p:nvSpPr>
          <p:cNvPr id="97" name="Right Arrow 96"/>
          <p:cNvSpPr/>
          <p:nvPr/>
        </p:nvSpPr>
        <p:spPr>
          <a:xfrm>
            <a:off x="5158905"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Tree>
    <p:extLst>
      <p:ext uri="{BB962C8B-B14F-4D97-AF65-F5344CB8AC3E}">
        <p14:creationId xmlns:p14="http://schemas.microsoft.com/office/powerpoint/2010/main" val="3161264054"/>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 Building Applications</a:t>
            </a:r>
            <a:endParaRPr lang="en-CA" dirty="0"/>
          </a:p>
        </p:txBody>
      </p:sp>
      <p:sp>
        <p:nvSpPr>
          <p:cNvPr id="3" name="Content Placeholder 2"/>
          <p:cNvSpPr>
            <a:spLocks noGrp="1"/>
          </p:cNvSpPr>
          <p:nvPr>
            <p:ph idx="1"/>
          </p:nvPr>
        </p:nvSpPr>
        <p:spPr/>
        <p:txBody>
          <a:bodyPr/>
          <a:lstStyle/>
          <a:p>
            <a:r>
              <a:rPr lang="en-CA" dirty="0" smtClean="0"/>
              <a:t>Application developers use Spiffy library to build robust tools</a:t>
            </a:r>
            <a:br>
              <a:rPr lang="en-CA" dirty="0" smtClean="0"/>
            </a:br>
            <a:r>
              <a:rPr lang="en-CA" dirty="0" smtClean="0"/>
              <a:t>that work across file systems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9</a:t>
            </a:fld>
            <a:endParaRPr lang="en-CA" dirty="0"/>
          </a:p>
        </p:txBody>
      </p:sp>
      <p:sp>
        <p:nvSpPr>
          <p:cNvPr id="87" name="Right Arrow 86"/>
          <p:cNvSpPr/>
          <p:nvPr/>
        </p:nvSpPr>
        <p:spPr>
          <a:xfrm>
            <a:off x="2974282" y="3778312"/>
            <a:ext cx="316999" cy="230900"/>
          </a:xfrm>
          <a:prstGeom prst="rightArrow">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grpSp>
        <p:nvGrpSpPr>
          <p:cNvPr id="88" name="Group 87"/>
          <p:cNvGrpSpPr/>
          <p:nvPr/>
        </p:nvGrpSpPr>
        <p:grpSpPr>
          <a:xfrm>
            <a:off x="1320470" y="3184147"/>
            <a:ext cx="1440000" cy="1419231"/>
            <a:chOff x="1467492" y="3155069"/>
            <a:chExt cx="1411173" cy="1419231"/>
          </a:xfrm>
        </p:grpSpPr>
        <p:sp>
          <p:nvSpPr>
            <p:cNvPr id="98" name="Rectangle 97"/>
            <p:cNvSpPr/>
            <p:nvPr/>
          </p:nvSpPr>
          <p:spPr>
            <a:xfrm>
              <a:off x="1467492" y="3155069"/>
              <a:ext cx="1411173" cy="944513"/>
            </a:xfrm>
            <a:prstGeom prst="rect">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a:t>
              </a:r>
              <a:r>
                <a:rPr lang="en-CA" dirty="0">
                  <a:solidFill>
                    <a:schemeClr val="bg1">
                      <a:lumMod val="50000"/>
                      <a:lumOff val="50000"/>
                    </a:schemeClr>
                  </a:solidFill>
                </a:rPr>
                <a:t>System </a:t>
              </a:r>
              <a:r>
                <a:rPr lang="en-CA" dirty="0" smtClean="0">
                  <a:solidFill>
                    <a:schemeClr val="bg1">
                      <a:lumMod val="50000"/>
                      <a:lumOff val="50000"/>
                    </a:schemeClr>
                  </a:solidFill>
                </a:rPr>
                <a:t>Metadata Structures</a:t>
              </a:r>
              <a:endParaRPr lang="en-CA" dirty="0">
                <a:solidFill>
                  <a:schemeClr val="bg1">
                    <a:lumMod val="50000"/>
                    <a:lumOff val="50000"/>
                  </a:schemeClr>
                </a:solidFill>
              </a:endParaRPr>
            </a:p>
          </p:txBody>
        </p:sp>
        <p:sp>
          <p:nvSpPr>
            <p:cNvPr id="99" name="Rectangle 98"/>
            <p:cNvSpPr/>
            <p:nvPr/>
          </p:nvSpPr>
          <p:spPr>
            <a:xfrm>
              <a:off x="1467492" y="4102043"/>
              <a:ext cx="1411173" cy="472257"/>
            </a:xfrm>
            <a:prstGeom prst="rect">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Annotations</a:t>
              </a:r>
              <a:endParaRPr lang="en-CA" dirty="0">
                <a:solidFill>
                  <a:schemeClr val="bg1">
                    <a:lumMod val="50000"/>
                    <a:lumOff val="50000"/>
                  </a:schemeClr>
                </a:solidFill>
              </a:endParaRPr>
            </a:p>
          </p:txBody>
        </p:sp>
      </p:grpSp>
      <p:sp>
        <p:nvSpPr>
          <p:cNvPr id="89" name="Rounded Rectangle 88"/>
          <p:cNvSpPr/>
          <p:nvPr/>
        </p:nvSpPr>
        <p:spPr>
          <a:xfrm>
            <a:off x="3505093" y="3421506"/>
            <a:ext cx="1440000" cy="944513"/>
          </a:xfrm>
          <a:prstGeom prst="roundRect">
            <a:avLst/>
          </a:prstGeom>
          <a:solidFill>
            <a:schemeClr val="bg2"/>
          </a:solid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Spiffy Compiler</a:t>
            </a:r>
            <a:endParaRPr lang="en-CA" dirty="0">
              <a:solidFill>
                <a:schemeClr val="bg1">
                  <a:lumMod val="50000"/>
                  <a:lumOff val="50000"/>
                </a:schemeClr>
              </a:solidFill>
            </a:endParaRPr>
          </a:p>
        </p:txBody>
      </p:sp>
      <p:grpSp>
        <p:nvGrpSpPr>
          <p:cNvPr id="90" name="Group 89"/>
          <p:cNvGrpSpPr/>
          <p:nvPr/>
        </p:nvGrpSpPr>
        <p:grpSpPr>
          <a:xfrm>
            <a:off x="5689716" y="3421506"/>
            <a:ext cx="1761066" cy="944513"/>
            <a:chOff x="6493933" y="3749526"/>
            <a:chExt cx="1761066" cy="944513"/>
          </a:xfrm>
        </p:grpSpPr>
        <p:sp>
          <p:nvSpPr>
            <p:cNvPr id="96" name="Rectangle 95"/>
            <p:cNvSpPr/>
            <p:nvPr/>
          </p:nvSpPr>
          <p:spPr>
            <a:xfrm>
              <a:off x="6493933" y="3749526"/>
              <a:ext cx="1004159"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Library</a:t>
              </a:r>
              <a:endParaRPr lang="en-CA" dirty="0">
                <a:solidFill>
                  <a:schemeClr val="bg1"/>
                </a:solidFill>
              </a:endParaRPr>
            </a:p>
          </p:txBody>
        </p:sp>
        <p:sp>
          <p:nvSpPr>
            <p:cNvPr id="97" name="Rectangle 96"/>
            <p:cNvSpPr/>
            <p:nvPr/>
          </p:nvSpPr>
          <p:spPr>
            <a:xfrm>
              <a:off x="7498092" y="3749526"/>
              <a:ext cx="756907" cy="944513"/>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Spiffy API</a:t>
              </a:r>
              <a:endParaRPr lang="en-CA" dirty="0">
                <a:solidFill>
                  <a:schemeClr val="bg1"/>
                </a:solidFill>
              </a:endParaRPr>
            </a:p>
          </p:txBody>
        </p:sp>
      </p:grpSp>
      <p:grpSp>
        <p:nvGrpSpPr>
          <p:cNvPr id="91" name="Group 90"/>
          <p:cNvGrpSpPr/>
          <p:nvPr/>
        </p:nvGrpSpPr>
        <p:grpSpPr>
          <a:xfrm>
            <a:off x="8195403" y="3184147"/>
            <a:ext cx="1440000" cy="1419230"/>
            <a:chOff x="8681092" y="3396718"/>
            <a:chExt cx="1411173" cy="1419230"/>
          </a:xfrm>
          <a:effectLst>
            <a:glow rad="101600">
              <a:srgbClr val="FFFF00">
                <a:alpha val="40000"/>
              </a:srgbClr>
            </a:glow>
          </a:effectLst>
        </p:grpSpPr>
        <p:sp>
          <p:nvSpPr>
            <p:cNvPr id="94" name="Rectangle 93"/>
            <p:cNvSpPr/>
            <p:nvPr/>
          </p:nvSpPr>
          <p:spPr>
            <a:xfrm>
              <a:off x="8681092" y="3396718"/>
              <a:ext cx="1411173" cy="845082"/>
            </a:xfrm>
            <a:prstGeom prst="rect">
              <a:avLst/>
            </a:prstGeom>
            <a:noFill/>
            <a:ln w="25400">
              <a:solidFill>
                <a:schemeClr val="bg1"/>
              </a:solidFill>
            </a:ln>
            <a:effectLst/>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solidFill>
                </a:rPr>
                <a:t>Generic Application</a:t>
              </a:r>
              <a:endParaRPr lang="en-CA" dirty="0">
                <a:solidFill>
                  <a:schemeClr val="bg1"/>
                </a:solidFill>
              </a:endParaRPr>
            </a:p>
          </p:txBody>
        </p:sp>
        <p:sp>
          <p:nvSpPr>
            <p:cNvPr id="95" name="Rectangle 94"/>
            <p:cNvSpPr/>
            <p:nvPr/>
          </p:nvSpPr>
          <p:spPr>
            <a:xfrm>
              <a:off x="8681092" y="4241800"/>
              <a:ext cx="1411173" cy="574148"/>
            </a:xfrm>
            <a:prstGeom prst="rect">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sz="1400" dirty="0" smtClean="0">
                  <a:solidFill>
                    <a:schemeClr val="bg1"/>
                  </a:solidFill>
                </a:rPr>
                <a:t>File-System Specific Logic</a:t>
              </a:r>
              <a:endParaRPr lang="en-CA" sz="1400" dirty="0">
                <a:solidFill>
                  <a:schemeClr val="bg1"/>
                </a:solidFill>
              </a:endParaRPr>
            </a:p>
          </p:txBody>
        </p:sp>
      </p:grpSp>
      <p:sp>
        <p:nvSpPr>
          <p:cNvPr id="92" name="Right Arrow 91"/>
          <p:cNvSpPr/>
          <p:nvPr/>
        </p:nvSpPr>
        <p:spPr>
          <a:xfrm>
            <a:off x="5158905" y="3778312"/>
            <a:ext cx="316999" cy="230900"/>
          </a:xfrm>
          <a:prstGeom prst="rightArrow">
            <a:avLst/>
          </a:prstGeom>
          <a:noFill/>
          <a:ln w="254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93" name="Right Arrow 92"/>
          <p:cNvSpPr/>
          <p:nvPr/>
        </p:nvSpPr>
        <p:spPr>
          <a:xfrm>
            <a:off x="7664594" y="3778312"/>
            <a:ext cx="316999" cy="230900"/>
          </a:xfrm>
          <a:prstGeom prst="rightArrow">
            <a:avLst/>
          </a:prstGeom>
          <a:noFill/>
          <a:ln w="254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solidFill>
                <a:schemeClr val="bg1"/>
              </a:solidFill>
            </a:endParaRPr>
          </a:p>
        </p:txBody>
      </p:sp>
      <p:sp>
        <p:nvSpPr>
          <p:cNvPr id="86" name="Rectangle 85"/>
          <p:cNvSpPr/>
          <p:nvPr/>
        </p:nvSpPr>
        <p:spPr>
          <a:xfrm>
            <a:off x="8209816" y="4791413"/>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b="1" dirty="0" err="1" smtClean="0">
                <a:solidFill>
                  <a:schemeClr val="bg1"/>
                </a:solidFill>
              </a:rPr>
              <a:t>ApplicationDeveloper</a:t>
            </a:r>
            <a:endParaRPr lang="en-CA" b="1" dirty="0">
              <a:solidFill>
                <a:schemeClr val="bg1"/>
              </a:solidFill>
            </a:endParaRPr>
          </a:p>
        </p:txBody>
      </p:sp>
      <p:sp>
        <p:nvSpPr>
          <p:cNvPr id="100" name="Rectangle 99"/>
          <p:cNvSpPr/>
          <p:nvPr/>
        </p:nvSpPr>
        <p:spPr>
          <a:xfrm>
            <a:off x="1349297" y="4791414"/>
            <a:ext cx="1411173" cy="472257"/>
          </a:xfrm>
          <a:prstGeom prst="rect">
            <a:avLst/>
          </a:prstGeom>
          <a:noFill/>
          <a:ln w="25400">
            <a:noFill/>
          </a:ln>
        </p:spPr>
        <p:style>
          <a:lnRef idx="2">
            <a:schemeClr val="accent1">
              <a:shade val="50000"/>
            </a:schemeClr>
          </a:lnRef>
          <a:fillRef idx="1">
            <a:schemeClr val="accent1"/>
          </a:fillRef>
          <a:effectRef idx="0">
            <a:schemeClr val="accent1"/>
          </a:effectRef>
          <a:fontRef idx="minor">
            <a:schemeClr val="lt1"/>
          </a:fontRef>
        </p:style>
        <p:txBody>
          <a:bodyPr lIns="0" tIns="46800" rIns="0" bIns="46800" rtlCol="0" anchor="ctr"/>
          <a:lstStyle/>
          <a:p>
            <a:pPr algn="ctr"/>
            <a:r>
              <a:rPr lang="en-CA" dirty="0" smtClean="0">
                <a:solidFill>
                  <a:schemeClr val="bg1">
                    <a:lumMod val="50000"/>
                    <a:lumOff val="50000"/>
                  </a:schemeClr>
                </a:solidFill>
              </a:rPr>
              <a:t>File System Developer</a:t>
            </a:r>
            <a:endParaRPr lang="en-CA" dirty="0">
              <a:solidFill>
                <a:schemeClr val="bg1">
                  <a:lumMod val="50000"/>
                  <a:lumOff val="50000"/>
                </a:schemeClr>
              </a:solidFill>
            </a:endParaRPr>
          </a:p>
        </p:txBody>
      </p:sp>
      <p:pic>
        <p:nvPicPr>
          <p:cNvPr id="9" name="Picture 8"/>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761790" y="4603377"/>
            <a:ext cx="1219803" cy="1219846"/>
          </a:xfrm>
          <a:prstGeom prst="rect">
            <a:avLst/>
          </a:prstGeom>
        </p:spPr>
      </p:pic>
    </p:spTree>
    <p:extLst>
      <p:ext uri="{BB962C8B-B14F-4D97-AF65-F5344CB8AC3E}">
        <p14:creationId xmlns:p14="http://schemas.microsoft.com/office/powerpoint/2010/main" val="3866178816"/>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Talk Outline</a:t>
            </a:r>
            <a:endParaRPr lang="en-CA" dirty="0"/>
          </a:p>
        </p:txBody>
      </p:sp>
      <p:sp>
        <p:nvSpPr>
          <p:cNvPr id="3" name="Content Placeholder 2"/>
          <p:cNvSpPr>
            <a:spLocks noGrp="1"/>
          </p:cNvSpPr>
          <p:nvPr>
            <p:ph idx="1"/>
          </p:nvPr>
        </p:nvSpPr>
        <p:spPr/>
        <p:txBody>
          <a:bodyPr/>
          <a:lstStyle/>
          <a:p>
            <a:r>
              <a:rPr lang="en-US" smtClean="0"/>
              <a:t>Problem</a:t>
            </a:r>
          </a:p>
          <a:p>
            <a:pPr lvl="1"/>
            <a:r>
              <a:rPr lang="en-US" smtClean="0"/>
              <a:t>Hard to write robust file system applications</a:t>
            </a:r>
          </a:p>
          <a:p>
            <a:r>
              <a:rPr lang="en-US" smtClean="0"/>
              <a:t>Approach</a:t>
            </a:r>
          </a:p>
          <a:p>
            <a:r>
              <a:rPr lang="en-US" smtClean="0"/>
              <a:t>Spiffy Annotations</a:t>
            </a:r>
          </a:p>
          <a:p>
            <a:r>
              <a:rPr lang="en-US" smtClean="0"/>
              <a:t>Spiffy Library</a:t>
            </a:r>
          </a:p>
          <a:p>
            <a:r>
              <a:rPr lang="en-US" smtClean="0"/>
              <a:t>Spiffy Applications</a:t>
            </a:r>
          </a:p>
          <a:p>
            <a:r>
              <a:rPr lang="en-US" smtClean="0"/>
              <a:t>Evaluation</a:t>
            </a:r>
          </a:p>
          <a:p>
            <a:r>
              <a:rPr lang="en-US" smtClean="0"/>
              <a:t>Conclusion</a:t>
            </a:r>
            <a:endParaRPr lang="en-US"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10</a:t>
            </a:fld>
            <a:endParaRPr lang="en-CA" dirty="0"/>
          </a:p>
        </p:txBody>
      </p:sp>
    </p:spTree>
    <p:extLst>
      <p:ext uri="{BB962C8B-B14F-4D97-AF65-F5344CB8AC3E}">
        <p14:creationId xmlns:p14="http://schemas.microsoft.com/office/powerpoint/2010/main" val="1412301376"/>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smtClean="0"/>
              <a:t>Need complete specification of the file system format</a:t>
            </a:r>
          </a:p>
          <a:p>
            <a:pPr lvl="1"/>
            <a:r>
              <a:rPr lang="en-CA" smtClean="0"/>
              <a:t>Allows type-safe parsing and updates of file system structures</a:t>
            </a:r>
          </a:p>
          <a:p>
            <a:r>
              <a:rPr lang="en-CA" smtClean="0"/>
              <a:t>Challenge</a:t>
            </a:r>
          </a:p>
          <a:p>
            <a:pPr lvl="1"/>
            <a:r>
              <a:rPr lang="en-CA" smtClean="0"/>
              <a:t>Data structure definitions in source files are incomplete</a:t>
            </a:r>
          </a:p>
          <a:p>
            <a:pPr lvl="1"/>
            <a:endParaRPr lang="en-CA" smtClean="0"/>
          </a:p>
          <a:p>
            <a:pPr lvl="1"/>
            <a:endParaRPr lang="en-CA" smtClean="0"/>
          </a:p>
          <a:p>
            <a:pPr lvl="1"/>
            <a:endParaRPr lang="en-CA" smtClean="0"/>
          </a:p>
          <a:p>
            <a:pPr lvl="1"/>
            <a:endParaRPr lang="en-CA" smtClean="0"/>
          </a:p>
          <a:p>
            <a:pPr lvl="1"/>
            <a:r>
              <a:rPr lang="en-CA" smtClean="0"/>
              <a:t>bar_block_ptr is “probably” a 32-bit little endian pointer to type “bar_block”</a:t>
            </a:r>
          </a:p>
          <a:p>
            <a:pPr lvl="1"/>
            <a:r>
              <a:rPr lang="en-CA" smtClean="0"/>
              <a:t>However, its hard to deduce this type information</a:t>
            </a:r>
          </a:p>
          <a:p>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11</a:t>
            </a:fld>
            <a:endParaRPr lang="en-CA" dirty="0"/>
          </a:p>
        </p:txBody>
      </p:sp>
      <p:sp>
        <p:nvSpPr>
          <p:cNvPr id="10" name="Rectangle 9"/>
          <p:cNvSpPr/>
          <p:nvPr/>
        </p:nvSpPr>
        <p:spPr>
          <a:xfrm>
            <a:off x="897466" y="3535274"/>
            <a:ext cx="7860453" cy="1446550"/>
          </a:xfrm>
          <a:prstGeom prst="rect">
            <a:avLst/>
          </a:prstGeom>
        </p:spPr>
        <p:txBody>
          <a:bodyPr wrap="square">
            <a:spAutoFit/>
          </a:bodyPr>
          <a:lstStyle/>
          <a:p>
            <a:pPr lvl="1"/>
            <a:r>
              <a:rPr lang="en-CA" sz="2200" dirty="0" err="1">
                <a:solidFill>
                  <a:schemeClr val="bg1"/>
                </a:solidFill>
                <a:latin typeface="Courier New" panose="02070309020205020404" pitchFamily="49" charset="0"/>
                <a:cs typeface="Courier New" panose="02070309020205020404" pitchFamily="49" charset="0"/>
              </a:rPr>
              <a:t>struct</a:t>
            </a:r>
            <a:r>
              <a:rPr lang="en-CA" sz="2200" dirty="0">
                <a:solidFill>
                  <a:schemeClr val="bg1"/>
                </a:solidFill>
                <a:latin typeface="Courier New" panose="02070309020205020404" pitchFamily="49" charset="0"/>
                <a:cs typeface="Courier New" panose="02070309020205020404" pitchFamily="49" charset="0"/>
              </a:rPr>
              <a:t> foo {</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215605509"/>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Need for Annotations</a:t>
            </a:r>
            <a:endParaRPr lang="en-CA" dirty="0"/>
          </a:p>
        </p:txBody>
      </p:sp>
      <p:sp>
        <p:nvSpPr>
          <p:cNvPr id="3" name="Content Placeholder 2"/>
          <p:cNvSpPr>
            <a:spLocks noGrp="1"/>
          </p:cNvSpPr>
          <p:nvPr>
            <p:ph idx="1"/>
          </p:nvPr>
        </p:nvSpPr>
        <p:spPr/>
        <p:txBody>
          <a:bodyPr/>
          <a:lstStyle/>
          <a:p>
            <a:r>
              <a:rPr lang="en-CA" dirty="0" smtClean="0"/>
              <a:t>Solution</a:t>
            </a:r>
          </a:p>
          <a:p>
            <a:pPr lvl="1"/>
            <a:r>
              <a:rPr lang="en-CA" dirty="0" smtClean="0"/>
              <a:t>Annotate structures to supply missing information</a:t>
            </a:r>
          </a:p>
          <a:p>
            <a:pPr lvl="1"/>
            <a:endParaRPr lang="en-CA" dirty="0" smtClean="0"/>
          </a:p>
          <a:p>
            <a:pPr lvl="1"/>
            <a:endParaRPr lang="en-CA" dirty="0" smtClean="0"/>
          </a:p>
          <a:p>
            <a:pPr lvl="1"/>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12</a:t>
            </a:fld>
            <a:endParaRPr lang="en-CA" dirty="0"/>
          </a:p>
        </p:txBody>
      </p:sp>
      <p:sp>
        <p:nvSpPr>
          <p:cNvPr id="8" name="Rectangle 7"/>
          <p:cNvSpPr/>
          <p:nvPr/>
        </p:nvSpPr>
        <p:spPr>
          <a:xfrm>
            <a:off x="971550" y="3024813"/>
            <a:ext cx="8865738" cy="2123658"/>
          </a:xfrm>
          <a:prstGeom prst="rect">
            <a:avLst/>
          </a:prstGeom>
        </p:spPr>
        <p:txBody>
          <a:bodyPr wrap="squar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FSSTRUCT() </a:t>
            </a:r>
            <a:r>
              <a:rPr lang="en-CA" sz="2200" dirty="0" smtClean="0">
                <a:solidFill>
                  <a:schemeClr val="bg1"/>
                </a:solidFill>
                <a:latin typeface="Courier New" panose="02070309020205020404" pitchFamily="49" charset="0"/>
                <a:cs typeface="Courier New" panose="02070309020205020404" pitchFamily="49" charset="0"/>
              </a:rPr>
              <a:t>foo </a:t>
            </a:r>
            <a:r>
              <a:rPr lang="en-CA" sz="2200" dirty="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__</a:t>
            </a:r>
            <a:r>
              <a:rPr lang="en-CA" sz="2200" dirty="0">
                <a:solidFill>
                  <a:schemeClr val="bg1"/>
                </a:solidFill>
                <a:latin typeface="Courier New" panose="02070309020205020404" pitchFamily="49" charset="0"/>
                <a:cs typeface="Courier New" panose="02070309020205020404" pitchFamily="49" charset="0"/>
              </a:rPr>
              <a:t>le32 </a:t>
            </a:r>
            <a:r>
              <a:rPr lang="en-CA" sz="2200" dirty="0" smtClean="0">
                <a:solidFill>
                  <a:schemeClr val="bg1"/>
                </a:solidFill>
                <a:latin typeface="Courier New" panose="02070309020205020404" pitchFamily="49" charset="0"/>
                <a:cs typeface="Courier New" panose="02070309020205020404" pitchFamily="49" charset="0"/>
              </a:rPr>
              <a:t>size;</a:t>
            </a:r>
          </a:p>
          <a:p>
            <a:pPr lvl="1"/>
            <a:endParaRPr lang="en-CA" sz="2200" dirty="0" smtClean="0">
              <a:solidFill>
                <a:schemeClr val="bg1"/>
              </a:solidFill>
              <a:latin typeface="Courier New" panose="02070309020205020404" pitchFamily="49" charset="0"/>
              <a:cs typeface="Courier New" panose="02070309020205020404" pitchFamily="49" charset="0"/>
            </a:endParaRP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a:t>
            </a:r>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a:solidFill>
                  <a:schemeClr val="bg1"/>
                </a:solidFill>
                <a:latin typeface="Courier New" panose="02070309020205020404" pitchFamily="49" charset="0"/>
                <a:cs typeface="Courier New" panose="02070309020205020404" pitchFamily="49" charset="0"/>
              </a:rPr>
              <a:t> </a:t>
            </a:r>
            <a:r>
              <a:rPr lang="en-CA" sz="2200" dirty="0" smtClean="0">
                <a:solidFill>
                  <a:schemeClr val="bg1"/>
                </a:solidFill>
                <a:latin typeface="Courier New" panose="02070309020205020404" pitchFamily="49" charset="0"/>
                <a:cs typeface="Courier New" panose="02070309020205020404" pitchFamily="49" charset="0"/>
              </a:rPr>
              <a:t>   __</a:t>
            </a:r>
            <a:r>
              <a:rPr lang="en-CA" sz="2200" dirty="0">
                <a:solidFill>
                  <a:schemeClr val="bg1"/>
                </a:solidFill>
                <a:latin typeface="Courier New" panose="02070309020205020404" pitchFamily="49" charset="0"/>
                <a:cs typeface="Courier New" panose="02070309020205020404" pitchFamily="49" charset="0"/>
              </a:rPr>
              <a:t>le32 </a:t>
            </a:r>
            <a:r>
              <a:rPr lang="en-CA" sz="2200" dirty="0" err="1">
                <a:solidFill>
                  <a:schemeClr val="bg1"/>
                </a:solidFill>
                <a:latin typeface="Courier New" panose="02070309020205020404" pitchFamily="49" charset="0"/>
                <a:cs typeface="Courier New" panose="02070309020205020404" pitchFamily="49" charset="0"/>
              </a:rPr>
              <a:t>bar_block_ptr</a:t>
            </a:r>
            <a:r>
              <a:rPr lang="en-CA" sz="2200" dirty="0" smtClean="0">
                <a:solidFill>
                  <a:schemeClr val="bg1"/>
                </a:solidFill>
                <a:latin typeface="Courier New" panose="02070309020205020404" pitchFamily="49" charset="0"/>
                <a:cs typeface="Courier New" panose="02070309020205020404" pitchFamily="49" charset="0"/>
              </a:rPr>
              <a:t>;</a:t>
            </a:r>
          </a:p>
          <a:p>
            <a:pPr lvl="1"/>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1321883387"/>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Annotations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13</a:t>
            </a:fld>
            <a:endParaRPr lang="en-CA" dirty="0"/>
          </a:p>
        </p:txBody>
      </p:sp>
      <p:grpSp>
        <p:nvGrpSpPr>
          <p:cNvPr id="179" name="Group 178"/>
          <p:cNvGrpSpPr/>
          <p:nvPr/>
        </p:nvGrpSpPr>
        <p:grpSpPr>
          <a:xfrm>
            <a:off x="684211" y="1507237"/>
            <a:ext cx="9044580" cy="4410143"/>
            <a:chOff x="684211" y="1507237"/>
            <a:chExt cx="9044580" cy="4410143"/>
          </a:xfrm>
        </p:grpSpPr>
        <p:grpSp>
          <p:nvGrpSpPr>
            <p:cNvPr id="96" name="Group 95"/>
            <p:cNvGrpSpPr/>
            <p:nvPr/>
          </p:nvGrpSpPr>
          <p:grpSpPr>
            <a:xfrm>
              <a:off x="684212" y="4976547"/>
              <a:ext cx="1179762" cy="940832"/>
              <a:chOff x="25154821" y="7455704"/>
              <a:chExt cx="2110198" cy="2062800"/>
            </a:xfrm>
            <a:solidFill>
              <a:schemeClr val="accent5">
                <a:lumMod val="40000"/>
                <a:lumOff val="60000"/>
              </a:schemeClr>
            </a:solidFill>
          </p:grpSpPr>
          <p:sp>
            <p:nvSpPr>
              <p:cNvPr id="102" name="Rectangle 10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3" name="Rectangle 102"/>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bitmap</a:t>
                </a:r>
                <a:endParaRPr lang="en-US" dirty="0">
                  <a:solidFill>
                    <a:schemeClr val="bg1"/>
                  </a:solidFill>
                </a:endParaRPr>
              </a:p>
            </p:txBody>
          </p:sp>
        </p:grpSp>
        <p:cxnSp>
          <p:nvCxnSpPr>
            <p:cNvPr id="98" name="Straight Arrow Connector 97"/>
            <p:cNvCxnSpPr>
              <a:stCxn id="100" idx="2"/>
            </p:cNvCxnSpPr>
            <p:nvPr/>
          </p:nvCxnSpPr>
          <p:spPr>
            <a:xfrm flipH="1">
              <a:off x="1235820" y="2448069"/>
              <a:ext cx="1" cy="518415"/>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00" name="Rectangle 99"/>
            <p:cNvSpPr/>
            <p:nvPr/>
          </p:nvSpPr>
          <p:spPr>
            <a:xfrm>
              <a:off x="684212" y="1507237"/>
              <a:ext cx="1103217"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01" name="Rectangle 100"/>
            <p:cNvSpPr/>
            <p:nvPr/>
          </p:nvSpPr>
          <p:spPr>
            <a:xfrm>
              <a:off x="773090" y="1579602"/>
              <a:ext cx="925462" cy="592432"/>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super block</a:t>
              </a:r>
              <a:endParaRPr lang="en-US" dirty="0">
                <a:solidFill>
                  <a:schemeClr val="bg1"/>
                </a:solidFill>
              </a:endParaRPr>
            </a:p>
          </p:txBody>
        </p:sp>
        <p:grpSp>
          <p:nvGrpSpPr>
            <p:cNvPr id="108" name="Group 107"/>
            <p:cNvGrpSpPr/>
            <p:nvPr/>
          </p:nvGrpSpPr>
          <p:grpSpPr>
            <a:xfrm>
              <a:off x="3016009" y="1507237"/>
              <a:ext cx="4005890" cy="940832"/>
              <a:chOff x="24275265" y="2491036"/>
              <a:chExt cx="4669172" cy="1473330"/>
            </a:xfrm>
          </p:grpSpPr>
          <p:sp>
            <p:nvSpPr>
              <p:cNvPr id="109" name="Rectangle 108"/>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1" name="Rectangle 110"/>
              <p:cNvSpPr/>
              <p:nvPr/>
            </p:nvSpPr>
            <p:spPr>
              <a:xfrm>
                <a:off x="24366499" y="2604357"/>
                <a:ext cx="1771964" cy="572323"/>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ext4 journal</a:t>
                </a:r>
                <a:endParaRPr lang="en-US" dirty="0">
                  <a:solidFill>
                    <a:schemeClr val="bg1"/>
                  </a:solidFill>
                </a:endParaRPr>
              </a:p>
            </p:txBody>
          </p:sp>
        </p:grpSp>
        <p:cxnSp>
          <p:nvCxnSpPr>
            <p:cNvPr id="112" name="Straight Arrow Connector 111"/>
            <p:cNvCxnSpPr>
              <a:stCxn id="100" idx="3"/>
              <a:endCxn id="109" idx="1"/>
            </p:cNvCxnSpPr>
            <p:nvPr/>
          </p:nvCxnSpPr>
          <p:spPr>
            <a:xfrm>
              <a:off x="1787429" y="1977653"/>
              <a:ext cx="1228580"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16" name="Rectangle 115"/>
            <p:cNvSpPr/>
            <p:nvPr/>
          </p:nvSpPr>
          <p:spPr>
            <a:xfrm>
              <a:off x="684211" y="2966483"/>
              <a:ext cx="5854811" cy="105981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17" name="Rectangle 116"/>
            <p:cNvSpPr/>
            <p:nvPr/>
          </p:nvSpPr>
          <p:spPr>
            <a:xfrm>
              <a:off x="773090" y="3040170"/>
              <a:ext cx="2002008" cy="631849"/>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smtClean="0">
                  <a:solidFill>
                    <a:schemeClr val="bg1"/>
                  </a:solidFill>
                </a:rPr>
                <a:t>block group descriptor table</a:t>
              </a:r>
              <a:endParaRPr lang="en-US" dirty="0">
                <a:solidFill>
                  <a:schemeClr val="bg1"/>
                </a:solidFill>
              </a:endParaRPr>
            </a:p>
          </p:txBody>
        </p:sp>
        <p:sp>
          <p:nvSpPr>
            <p:cNvPr id="94" name="Rounded Rectangle 93"/>
            <p:cNvSpPr/>
            <p:nvPr/>
          </p:nvSpPr>
          <p:spPr>
            <a:xfrm>
              <a:off x="2882383" y="3035189"/>
              <a:ext cx="1419770" cy="883283"/>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97" name="Straight Arrow Connector 96"/>
            <p:cNvCxnSpPr/>
            <p:nvPr/>
          </p:nvCxnSpPr>
          <p:spPr>
            <a:xfrm rot="5400000">
              <a:off x="1708464" y="3475509"/>
              <a:ext cx="1058075" cy="1944000"/>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19" name="Group 118"/>
            <p:cNvGrpSpPr/>
            <p:nvPr/>
          </p:nvGrpSpPr>
          <p:grpSpPr>
            <a:xfrm>
              <a:off x="2020220" y="4976547"/>
              <a:ext cx="1175282" cy="940832"/>
              <a:chOff x="25154823" y="7455704"/>
              <a:chExt cx="2078542" cy="2062800"/>
            </a:xfrm>
            <a:solidFill>
              <a:schemeClr val="accent5">
                <a:lumMod val="40000"/>
                <a:lumOff val="60000"/>
              </a:schemeClr>
            </a:solidFill>
          </p:grpSpPr>
          <p:sp>
            <p:nvSpPr>
              <p:cNvPr id="120" name="Rectangle 119"/>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1" name="Rectangle 120"/>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bitmap</a:t>
                </a:r>
                <a:endParaRPr lang="en-US" dirty="0">
                  <a:solidFill>
                    <a:schemeClr val="bg1"/>
                  </a:solidFill>
                </a:endParaRPr>
              </a:p>
            </p:txBody>
          </p:sp>
        </p:grpSp>
        <p:sp>
          <p:nvSpPr>
            <p:cNvPr id="123" name="Rectangle 122"/>
            <p:cNvSpPr/>
            <p:nvPr/>
          </p:nvSpPr>
          <p:spPr>
            <a:xfrm>
              <a:off x="3351747" y="4975562"/>
              <a:ext cx="4848275" cy="940832"/>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24" name="Rectangle 123"/>
            <p:cNvSpPr/>
            <p:nvPr/>
          </p:nvSpPr>
          <p:spPr>
            <a:xfrm>
              <a:off x="3436106" y="5045705"/>
              <a:ext cx="843171" cy="59400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inode</a:t>
              </a:r>
              <a:r>
                <a:rPr lang="en-US" dirty="0" smtClean="0">
                  <a:solidFill>
                    <a:schemeClr val="bg1"/>
                  </a:solidFill>
                </a:rPr>
                <a:t> table</a:t>
              </a:r>
              <a:endParaRPr lang="en-US" dirty="0">
                <a:solidFill>
                  <a:schemeClr val="bg1"/>
                </a:solidFill>
              </a:endParaRPr>
            </a:p>
          </p:txBody>
        </p:sp>
        <p:cxnSp>
          <p:nvCxnSpPr>
            <p:cNvPr id="130" name="Straight Arrow Connector 96"/>
            <p:cNvCxnSpPr>
              <a:stCxn id="94" idx="2"/>
              <a:endCxn id="120" idx="0"/>
            </p:cNvCxnSpPr>
            <p:nvPr/>
          </p:nvCxnSpPr>
          <p:spPr>
            <a:xfrm rot="5400000">
              <a:off x="2571028" y="3955306"/>
              <a:ext cx="1058075" cy="984407"/>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3" name="Rounded Rectangle 132"/>
            <p:cNvSpPr/>
            <p:nvPr/>
          </p:nvSpPr>
          <p:spPr>
            <a:xfrm>
              <a:off x="4435549" y="3059101"/>
              <a:ext cx="1380879" cy="859370"/>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dirty="0" smtClean="0">
                  <a:solidFill>
                    <a:schemeClr val="tx1"/>
                  </a:solidFill>
                </a:rPr>
                <a:t>block group descriptor</a:t>
              </a:r>
              <a:endParaRPr lang="zh-TW" altLang="en-US" dirty="0">
                <a:solidFill>
                  <a:schemeClr val="tx1"/>
                </a:solidFill>
              </a:endParaRPr>
            </a:p>
          </p:txBody>
        </p:sp>
        <p:cxnSp>
          <p:nvCxnSpPr>
            <p:cNvPr id="134" name="Straight Arrow Connector 96"/>
            <p:cNvCxnSpPr/>
            <p:nvPr/>
          </p:nvCxnSpPr>
          <p:spPr>
            <a:xfrm>
              <a:off x="3955312" y="3918471"/>
              <a:ext cx="0" cy="105413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95" name="Rounded Rectangle 94"/>
            <p:cNvSpPr/>
            <p:nvPr/>
          </p:nvSpPr>
          <p:spPr>
            <a:xfrm>
              <a:off x="4376585" y="5045704"/>
              <a:ext cx="965390" cy="795551"/>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a:t>
              </a:r>
              <a:r>
                <a:rPr lang="en-US" altLang="zh-TW" dirty="0" err="1" smtClean="0">
                  <a:solidFill>
                    <a:schemeClr val="tx1"/>
                  </a:solidFill>
                </a:rPr>
                <a:t>reg</a:t>
              </a:r>
              <a:r>
                <a:rPr lang="en-US" altLang="zh-TW" dirty="0" smtClean="0">
                  <a:solidFill>
                    <a:schemeClr val="tx1"/>
                  </a:solidFill>
                </a:rPr>
                <a:t> file)</a:t>
              </a:r>
              <a:endParaRPr lang="zh-TW" altLang="en-US" dirty="0">
                <a:solidFill>
                  <a:schemeClr val="tx1"/>
                </a:solidFill>
              </a:endParaRPr>
            </a:p>
          </p:txBody>
        </p:sp>
        <p:sp>
          <p:nvSpPr>
            <p:cNvPr id="138" name="Rounded Rectangle 137"/>
            <p:cNvSpPr/>
            <p:nvPr/>
          </p:nvSpPr>
          <p:spPr>
            <a:xfrm>
              <a:off x="6782383" y="5045703"/>
              <a:ext cx="1215376" cy="795551"/>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dirty="0" err="1" smtClean="0">
                  <a:solidFill>
                    <a:schemeClr val="tx1"/>
                  </a:solidFill>
                </a:rPr>
                <a:t>inode</a:t>
              </a:r>
              <a:endParaRPr lang="en-US" altLang="zh-TW" dirty="0" smtClean="0">
                <a:solidFill>
                  <a:schemeClr val="tx1"/>
                </a:solidFill>
              </a:endParaRPr>
            </a:p>
            <a:p>
              <a:pPr algn="ctr"/>
              <a:r>
                <a:rPr lang="en-US" altLang="zh-TW" dirty="0" smtClean="0">
                  <a:solidFill>
                    <a:schemeClr val="tx1"/>
                  </a:solidFill>
                </a:rPr>
                <a:t>(directory)</a:t>
              </a:r>
              <a:endParaRPr lang="zh-TW" altLang="en-US" dirty="0">
                <a:solidFill>
                  <a:schemeClr val="tx1"/>
                </a:solidFill>
              </a:endParaRPr>
            </a:p>
          </p:txBody>
        </p:sp>
        <p:sp>
          <p:nvSpPr>
            <p:cNvPr id="139" name="TextBox 138"/>
            <p:cNvSpPr txBox="1"/>
            <p:nvPr/>
          </p:nvSpPr>
          <p:spPr>
            <a:xfrm>
              <a:off x="5919035" y="3145633"/>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sp>
          <p:nvSpPr>
            <p:cNvPr id="140" name="TextBox 139"/>
            <p:cNvSpPr txBox="1"/>
            <p:nvPr/>
          </p:nvSpPr>
          <p:spPr>
            <a:xfrm>
              <a:off x="5790309" y="5081095"/>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nvGrpSpPr>
            <p:cNvPr id="141" name="Group 140"/>
            <p:cNvGrpSpPr/>
            <p:nvPr/>
          </p:nvGrpSpPr>
          <p:grpSpPr>
            <a:xfrm>
              <a:off x="7004276" y="3712818"/>
              <a:ext cx="1103217" cy="940832"/>
              <a:chOff x="25154821" y="7455704"/>
              <a:chExt cx="2110198" cy="2062800"/>
            </a:xfrm>
            <a:solidFill>
              <a:schemeClr val="accent5">
                <a:lumMod val="40000"/>
                <a:lumOff val="60000"/>
              </a:schemeClr>
            </a:solidFill>
          </p:grpSpPr>
          <p:sp>
            <p:nvSpPr>
              <p:cNvPr id="142" name="Rectangle 141"/>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3" name="Rectangle 142"/>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r>
                  <a:rPr lang="en-US" dirty="0" smtClean="0">
                    <a:solidFill>
                      <a:schemeClr val="bg1"/>
                    </a:solidFill>
                  </a:rPr>
                  <a:t> block</a:t>
                </a:r>
                <a:endParaRPr lang="en-US" dirty="0">
                  <a:solidFill>
                    <a:schemeClr val="bg1"/>
                  </a:solidFill>
                </a:endParaRPr>
              </a:p>
            </p:txBody>
          </p:sp>
        </p:grpSp>
        <p:grpSp>
          <p:nvGrpSpPr>
            <p:cNvPr id="144" name="Group 143"/>
            <p:cNvGrpSpPr/>
            <p:nvPr/>
          </p:nvGrpSpPr>
          <p:grpSpPr>
            <a:xfrm>
              <a:off x="8517227" y="4972606"/>
              <a:ext cx="1211564" cy="944774"/>
              <a:chOff x="25154821" y="7455704"/>
              <a:chExt cx="2110198" cy="2062800"/>
            </a:xfrm>
            <a:solidFill>
              <a:schemeClr val="accent5">
                <a:lumMod val="40000"/>
                <a:lumOff val="60000"/>
              </a:schemeClr>
            </a:solidFill>
          </p:grpSpPr>
          <p:sp>
            <p:nvSpPr>
              <p:cNvPr id="145" name="Rectangle 1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46" name="Rectangle 1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indirect</a:t>
                </a:r>
              </a:p>
              <a:p>
                <a:pPr algn="ctr"/>
                <a:r>
                  <a:rPr lang="en-US" dirty="0" smtClean="0">
                    <a:solidFill>
                      <a:schemeClr val="bg1"/>
                    </a:solidFill>
                  </a:rPr>
                  <a:t>block</a:t>
                </a:r>
                <a:endParaRPr lang="en-US" dirty="0">
                  <a:solidFill>
                    <a:schemeClr val="bg1"/>
                  </a:solidFill>
                </a:endParaRPr>
              </a:p>
            </p:txBody>
          </p:sp>
        </p:grpSp>
        <p:grpSp>
          <p:nvGrpSpPr>
            <p:cNvPr id="147" name="Group 146"/>
            <p:cNvGrpSpPr/>
            <p:nvPr/>
          </p:nvGrpSpPr>
          <p:grpSpPr>
            <a:xfrm rot="16200000" flipV="1">
              <a:off x="8958986" y="4533747"/>
              <a:ext cx="327375" cy="584384"/>
              <a:chOff x="27236633" y="9932056"/>
              <a:chExt cx="578250" cy="990600"/>
            </a:xfrm>
          </p:grpSpPr>
          <p:cxnSp>
            <p:nvCxnSpPr>
              <p:cNvPr id="148" name="Straight Arrow Connector 147"/>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9" name="Straight Arrow Connector 148"/>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0" name="Straight Arrow Connector 149"/>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151" name="Group 150"/>
            <p:cNvGrpSpPr/>
            <p:nvPr/>
          </p:nvGrpSpPr>
          <p:grpSpPr>
            <a:xfrm>
              <a:off x="8517411" y="3669023"/>
              <a:ext cx="1211380" cy="984627"/>
              <a:chOff x="20309820" y="9557482"/>
              <a:chExt cx="2053432" cy="1739168"/>
            </a:xfrm>
            <a:solidFill>
              <a:schemeClr val="accent5">
                <a:lumMod val="40000"/>
                <a:lumOff val="60000"/>
              </a:schemeClr>
            </a:solidFill>
          </p:grpSpPr>
          <p:sp>
            <p:nvSpPr>
              <p:cNvPr id="152" name="Rectangle 151"/>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3" name="Rectangle 152"/>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grpSp>
            <p:nvGrpSpPr>
              <p:cNvPr id="154" name="Group 153"/>
              <p:cNvGrpSpPr/>
              <p:nvPr/>
            </p:nvGrpSpPr>
            <p:grpSpPr>
              <a:xfrm>
                <a:off x="20309820" y="9762072"/>
                <a:ext cx="1864380" cy="1534578"/>
                <a:chOff x="25154821" y="7455704"/>
                <a:chExt cx="1864380" cy="1534578"/>
              </a:xfrm>
              <a:grpFill/>
            </p:grpSpPr>
            <p:sp>
              <p:nvSpPr>
                <p:cNvPr id="155" name="Rectangle 154"/>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dirty="0"/>
                </a:p>
              </p:txBody>
            </p:sp>
            <p:sp>
              <p:nvSpPr>
                <p:cNvPr id="156" name="Rectangle 155"/>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dirty="0" err="1" smtClean="0">
                      <a:solidFill>
                        <a:schemeClr val="bg1"/>
                      </a:solidFill>
                    </a:rPr>
                    <a:t>dir</a:t>
                  </a:r>
                  <a:endParaRPr lang="en-US" dirty="0" smtClean="0">
                    <a:solidFill>
                      <a:schemeClr val="bg1"/>
                    </a:solidFill>
                  </a:endParaRPr>
                </a:p>
                <a:p>
                  <a:pPr algn="ctr"/>
                  <a:r>
                    <a:rPr lang="en-US" dirty="0" smtClean="0">
                      <a:solidFill>
                        <a:schemeClr val="bg1"/>
                      </a:solidFill>
                    </a:rPr>
                    <a:t>blocks</a:t>
                  </a:r>
                  <a:endParaRPr lang="en-US" dirty="0">
                    <a:solidFill>
                      <a:schemeClr val="bg1"/>
                    </a:solidFill>
                  </a:endParaRPr>
                </a:p>
              </p:txBody>
            </p:sp>
          </p:grpSp>
        </p:grpSp>
        <p:cxnSp>
          <p:nvCxnSpPr>
            <p:cNvPr id="168" name="Straight Arrow Connector 96"/>
            <p:cNvCxnSpPr>
              <a:stCxn id="138" idx="0"/>
            </p:cNvCxnSpPr>
            <p:nvPr/>
          </p:nvCxnSpPr>
          <p:spPr>
            <a:xfrm flipV="1">
              <a:off x="7390071" y="4652061"/>
              <a:ext cx="0" cy="393642"/>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71" name="Straight Arrow Connector 96"/>
            <p:cNvCxnSpPr>
              <a:stCxn id="138" idx="3"/>
              <a:endCxn id="145" idx="1"/>
            </p:cNvCxnSpPr>
            <p:nvPr/>
          </p:nvCxnSpPr>
          <p:spPr>
            <a:xfrm>
              <a:off x="7997759" y="5443479"/>
              <a:ext cx="519468" cy="1514"/>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74" name="Group 173"/>
            <p:cNvGrpSpPr/>
            <p:nvPr/>
          </p:nvGrpSpPr>
          <p:grpSpPr>
            <a:xfrm rot="5400000">
              <a:off x="4964119" y="3826632"/>
              <a:ext cx="327375" cy="584384"/>
              <a:chOff x="27236633" y="9932056"/>
              <a:chExt cx="578250" cy="990600"/>
            </a:xfrm>
          </p:grpSpPr>
          <p:cxnSp>
            <p:nvCxnSpPr>
              <p:cNvPr id="175" name="Straight Arrow Connector 174"/>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6" name="Straight Arrow Connector 175"/>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7" name="Straight Arrow Connector 176"/>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178" name="TextBox 177"/>
            <p:cNvSpPr txBox="1"/>
            <p:nvPr/>
          </p:nvSpPr>
          <p:spPr>
            <a:xfrm>
              <a:off x="4854119" y="4042168"/>
              <a:ext cx="543739" cy="523220"/>
            </a:xfrm>
            <a:prstGeom prst="rect">
              <a:avLst/>
            </a:prstGeom>
            <a:noFill/>
          </p:spPr>
          <p:txBody>
            <a:bodyPr wrap="none" rtlCol="0">
              <a:spAutoFit/>
            </a:bodyPr>
            <a:lstStyle/>
            <a:p>
              <a:r>
                <a:rPr lang="en-CA" sz="2800" dirty="0" smtClean="0">
                  <a:solidFill>
                    <a:schemeClr val="bg1"/>
                  </a:solidFill>
                </a:rPr>
                <a:t>…</a:t>
              </a:r>
              <a:endParaRPr lang="en-CA" sz="2800" dirty="0">
                <a:solidFill>
                  <a:schemeClr val="bg1"/>
                </a:solidFill>
              </a:endParaRPr>
            </a:p>
          </p:txBody>
        </p:sp>
      </p:grpSp>
      <p:sp>
        <p:nvSpPr>
          <p:cNvPr id="180" name="TextBox 179"/>
          <p:cNvSpPr txBox="1"/>
          <p:nvPr/>
        </p:nvSpPr>
        <p:spPr>
          <a:xfrm>
            <a:off x="7997759" y="1832952"/>
            <a:ext cx="1947969" cy="646331"/>
          </a:xfrm>
          <a:prstGeom prst="rect">
            <a:avLst/>
          </a:prstGeom>
          <a:noFill/>
        </p:spPr>
        <p:txBody>
          <a:bodyPr wrap="none" rtlCol="0">
            <a:spAutoFit/>
          </a:bodyPr>
          <a:lstStyle/>
          <a:p>
            <a:r>
              <a:rPr lang="en-CA" dirty="0" smtClean="0">
                <a:solidFill>
                  <a:schemeClr val="bg1"/>
                </a:solidFill>
              </a:rPr>
              <a:t>Ext4 File System </a:t>
            </a:r>
            <a:br>
              <a:rPr lang="en-CA" dirty="0" smtClean="0">
                <a:solidFill>
                  <a:schemeClr val="bg1"/>
                </a:solidFill>
              </a:rPr>
            </a:br>
            <a:r>
              <a:rPr lang="en-CA" dirty="0" smtClean="0">
                <a:solidFill>
                  <a:schemeClr val="bg1"/>
                </a:solidFill>
              </a:rPr>
              <a:t>Metadata Tree</a:t>
            </a:r>
            <a:endParaRPr lang="en-CA" dirty="0">
              <a:solidFill>
                <a:schemeClr val="bg1"/>
              </a:solidFill>
            </a:endParaRPr>
          </a:p>
        </p:txBody>
      </p:sp>
    </p:spTree>
    <p:extLst>
      <p:ext uri="{BB962C8B-B14F-4D97-AF65-F5344CB8AC3E}">
        <p14:creationId xmlns:p14="http://schemas.microsoft.com/office/powerpoint/2010/main" val="240211293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Pointer Address Space</a:t>
            </a:r>
            <a:endParaRPr lang="en-CA" dirty="0"/>
          </a:p>
        </p:txBody>
      </p:sp>
      <p:sp>
        <p:nvSpPr>
          <p:cNvPr id="3" name="Content Placeholder 2"/>
          <p:cNvSpPr>
            <a:spLocks noGrp="1"/>
          </p:cNvSpPr>
          <p:nvPr>
            <p:ph idx="1"/>
          </p:nvPr>
        </p:nvSpPr>
        <p:spPr/>
        <p:txBody>
          <a:bodyPr/>
          <a:lstStyle/>
          <a:p>
            <a:r>
              <a:rPr lang="en-US" dirty="0" smtClean="0"/>
              <a:t>Challenge: </a:t>
            </a:r>
            <a:r>
              <a:rPr lang="en-CA" dirty="0"/>
              <a:t>File system pointer can store different types of </a:t>
            </a:r>
            <a:r>
              <a:rPr lang="en-CA" dirty="0" smtClean="0"/>
              <a:t/>
            </a:r>
            <a:br>
              <a:rPr lang="en-CA" dirty="0" smtClean="0"/>
            </a:br>
            <a:r>
              <a:rPr lang="en-CA" dirty="0" smtClean="0"/>
              <a:t>logical </a:t>
            </a:r>
            <a:r>
              <a:rPr lang="en-CA" dirty="0" smtClean="0"/>
              <a:t>addresses</a:t>
            </a:r>
          </a:p>
          <a:p>
            <a:pPr lvl="1"/>
            <a:r>
              <a:rPr lang="en-CA" dirty="0" smtClean="0"/>
              <a:t>Need different mappings to obtain physical address</a:t>
            </a:r>
          </a:p>
          <a:p>
            <a:r>
              <a:rPr lang="en-CA" dirty="0" smtClean="0"/>
              <a:t>Solution: Pointer annotations specify an </a:t>
            </a:r>
            <a:r>
              <a:rPr lang="en-CA" i="1" dirty="0"/>
              <a:t>address space</a:t>
            </a:r>
            <a:r>
              <a:rPr lang="en-CA" b="1" dirty="0"/>
              <a:t> </a:t>
            </a:r>
            <a:r>
              <a:rPr lang="en-CA" dirty="0"/>
              <a:t>that indicates how the address should be </a:t>
            </a:r>
            <a:r>
              <a:rPr lang="en-CA" dirty="0" smtClean="0"/>
              <a:t>mapped to </a:t>
            </a:r>
            <a:r>
              <a:rPr lang="en-CA" dirty="0"/>
              <a:t>physical location</a:t>
            </a:r>
          </a:p>
          <a:p>
            <a:endParaRPr lang="en-CA" dirty="0" smtClean="0"/>
          </a:p>
          <a:p>
            <a:endParaRPr lang="en-CA" dirty="0" smtClean="0"/>
          </a:p>
          <a:p>
            <a:pPr marL="0" indent="0">
              <a:buNone/>
            </a:pPr>
            <a:endParaRPr lang="en-CA" dirty="0" smtClean="0"/>
          </a:p>
        </p:txBody>
      </p:sp>
      <p:sp>
        <p:nvSpPr>
          <p:cNvPr id="5" name="Slide Number Placeholder 4"/>
          <p:cNvSpPr>
            <a:spLocks noGrp="1"/>
          </p:cNvSpPr>
          <p:nvPr>
            <p:ph type="sldNum" sz="quarter" idx="12"/>
          </p:nvPr>
        </p:nvSpPr>
        <p:spPr/>
        <p:txBody>
          <a:bodyPr/>
          <a:lstStyle/>
          <a:p>
            <a:fld id="{7B2023C8-B124-43A9-8F92-0EEF5BAA9995}" type="slidenum">
              <a:rPr lang="en-CA" smtClean="0"/>
              <a:pPr/>
              <a:t>14</a:t>
            </a:fld>
            <a:endParaRPr lang="en-CA" dirty="0"/>
          </a:p>
        </p:txBody>
      </p:sp>
      <p:sp>
        <p:nvSpPr>
          <p:cNvPr id="8" name="Rectangle 7"/>
          <p:cNvSpPr/>
          <p:nvPr/>
        </p:nvSpPr>
        <p:spPr>
          <a:xfrm>
            <a:off x="1506062" y="3986019"/>
            <a:ext cx="7443063" cy="430887"/>
          </a:xfrm>
          <a:prstGeom prst="rect">
            <a:avLst/>
          </a:prstGeom>
        </p:spPr>
        <p:txBody>
          <a:bodyPr wrap="none">
            <a:spAutoFit/>
          </a:bodyPr>
          <a:lstStyle/>
          <a:p>
            <a:pPr lvl="1"/>
            <a:r>
              <a:rPr lang="en-CA" sz="2200" b="1" dirty="0" smtClean="0">
                <a:solidFill>
                  <a:schemeClr val="bg1"/>
                </a:solidFill>
                <a:latin typeface="Courier New" panose="02070309020205020404" pitchFamily="49" charset="0"/>
                <a:cs typeface="Courier New" panose="02070309020205020404" pitchFamily="49" charset="0"/>
              </a:rPr>
              <a:t>POINTER</a:t>
            </a:r>
            <a:r>
              <a:rPr lang="en-CA" sz="2200" dirty="0" smtClean="0">
                <a:solidFill>
                  <a:schemeClr val="bg1"/>
                </a:solidFill>
                <a:latin typeface="Courier New" panose="02070309020205020404" pitchFamily="49" charset="0"/>
                <a:cs typeface="Courier New" panose="02070309020205020404" pitchFamily="49" charset="0"/>
              </a:rPr>
              <a:t>(</a:t>
            </a:r>
            <a:r>
              <a:rPr lang="en-CA" sz="2200" dirty="0" err="1" smtClean="0">
                <a:solidFill>
                  <a:schemeClr val="bg1"/>
                </a:solidFill>
                <a:latin typeface="Courier New" panose="02070309020205020404" pitchFamily="49" charset="0"/>
                <a:cs typeface="Courier New" panose="02070309020205020404" pitchFamily="49" charset="0"/>
              </a:rPr>
              <a:t>addrspace</a:t>
            </a:r>
            <a:r>
              <a:rPr lang="en-CA" sz="2200" dirty="0" smtClean="0">
                <a:solidFill>
                  <a:schemeClr val="bg1"/>
                </a:solidFill>
                <a:latin typeface="Courier New" panose="02070309020205020404" pitchFamily="49" charset="0"/>
                <a:cs typeface="Courier New" panose="02070309020205020404" pitchFamily="49" charset="0"/>
              </a:rPr>
              <a:t>=block, type=</a:t>
            </a:r>
            <a:r>
              <a:rPr lang="en-CA" sz="2200" dirty="0" err="1" smtClean="0">
                <a:solidFill>
                  <a:schemeClr val="bg1"/>
                </a:solidFill>
                <a:latin typeface="Courier New" panose="02070309020205020404" pitchFamily="49" charset="0"/>
                <a:cs typeface="Courier New" panose="02070309020205020404" pitchFamily="49" charset="0"/>
              </a:rPr>
              <a:t>bar_block</a:t>
            </a:r>
            <a:r>
              <a:rPr lang="en-CA" sz="2200" dirty="0" smtClean="0">
                <a:solidFill>
                  <a:schemeClr val="bg1"/>
                </a:solidFill>
                <a:latin typeface="Courier New" panose="02070309020205020404" pitchFamily="49" charset="0"/>
                <a:cs typeface="Courier New" panose="02070309020205020404" pitchFamily="49" charset="0"/>
              </a:rPr>
              <a:t>)</a:t>
            </a:r>
            <a:endParaRPr lang="en-CA" sz="2200" dirty="0">
              <a:solidFill>
                <a:schemeClr val="bg1"/>
              </a:solidFill>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3955000870"/>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Block Address Space</a:t>
            </a:r>
            <a:endParaRPr lang="en-CA" dirty="0"/>
          </a:p>
        </p:txBody>
      </p:sp>
      <p:sp>
        <p:nvSpPr>
          <p:cNvPr id="3" name="Content Placeholder 2"/>
          <p:cNvSpPr>
            <a:spLocks noGrp="1"/>
          </p:cNvSpPr>
          <p:nvPr>
            <p:ph idx="1"/>
          </p:nvPr>
        </p:nvSpPr>
        <p:spPr/>
        <p:txBody>
          <a:bodyPr/>
          <a:lstStyle/>
          <a:p>
            <a:r>
              <a:rPr lang="en-CA" dirty="0"/>
              <a:t>Block address is the block number in the file system</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15</a:t>
            </a:fld>
            <a:endParaRPr lang="en-CA" dirty="0"/>
          </a:p>
        </p:txBody>
      </p:sp>
      <p:grpSp>
        <p:nvGrpSpPr>
          <p:cNvPr id="6" name="Group 5"/>
          <p:cNvGrpSpPr/>
          <p:nvPr/>
        </p:nvGrpSpPr>
        <p:grpSpPr>
          <a:xfrm>
            <a:off x="1095154" y="5240219"/>
            <a:ext cx="1076231" cy="847281"/>
            <a:chOff x="25154821" y="7455704"/>
            <a:chExt cx="2110198" cy="2062800"/>
          </a:xfrm>
          <a:solidFill>
            <a:schemeClr val="accent5">
              <a:lumMod val="40000"/>
              <a:lumOff val="60000"/>
            </a:schemeClr>
          </a:solidFill>
        </p:grpSpPr>
        <p:sp>
          <p:nvSpPr>
            <p:cNvPr id="53" name="Rectangle 52"/>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4" name="Rectangle 53"/>
            <p:cNvSpPr/>
            <p:nvPr/>
          </p:nvSpPr>
          <p:spPr>
            <a:xfrm>
              <a:off x="25324825"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bitmap</a:t>
              </a:r>
              <a:endParaRPr lang="en-US" sz="1600" dirty="0">
                <a:solidFill>
                  <a:schemeClr val="bg1"/>
                </a:solidFill>
              </a:endParaRPr>
            </a:p>
          </p:txBody>
        </p:sp>
      </p:grpSp>
      <p:cxnSp>
        <p:nvCxnSpPr>
          <p:cNvPr id="7" name="Straight Arrow Connector 6"/>
          <p:cNvCxnSpPr>
            <a:stCxn id="8" idx="2"/>
          </p:cNvCxnSpPr>
          <p:nvPr/>
        </p:nvCxnSpPr>
        <p:spPr>
          <a:xfrm flipH="1">
            <a:off x="1598355" y="2963160"/>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1095154" y="211587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1176232" y="218104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3222322" y="2115879"/>
            <a:ext cx="3654350" cy="847281"/>
            <a:chOff x="24275265" y="2491036"/>
            <a:chExt cx="4669172" cy="1473330"/>
          </a:xfrm>
        </p:grpSpPr>
        <p:sp>
          <p:nvSpPr>
            <p:cNvPr id="51" name="Rectangle 50"/>
            <p:cNvSpPr/>
            <p:nvPr/>
          </p:nvSpPr>
          <p:spPr>
            <a:xfrm>
              <a:off x="24275265" y="2491036"/>
              <a:ext cx="4669172"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2" name="Rectangle 51"/>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1" name="Straight Arrow Connector 10"/>
          <p:cNvCxnSpPr>
            <a:stCxn id="8" idx="3"/>
            <a:endCxn id="51" idx="1"/>
          </p:cNvCxnSpPr>
          <p:nvPr/>
        </p:nvCxnSpPr>
        <p:spPr>
          <a:xfrm>
            <a:off x="2101557" y="2539519"/>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1095153" y="3430025"/>
            <a:ext cx="5341017"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176232" y="349638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4" name="Rounded Rectangle 13"/>
          <p:cNvSpPr/>
          <p:nvPr/>
        </p:nvSpPr>
        <p:spPr>
          <a:xfrm>
            <a:off x="3100423" y="349190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15" name="Straight Arrow Connector 96"/>
          <p:cNvCxnSpPr/>
          <p:nvPr/>
        </p:nvCxnSpPr>
        <p:spPr>
          <a:xfrm rot="5400000">
            <a:off x="2035700" y="3877085"/>
            <a:ext cx="952866" cy="1773403"/>
          </a:xfrm>
          <a:prstGeom prst="bentConnector3">
            <a:avLst>
              <a:gd name="adj1" fmla="val 26888"/>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16" name="Group 15"/>
          <p:cNvGrpSpPr/>
          <p:nvPr/>
        </p:nvGrpSpPr>
        <p:grpSpPr>
          <a:xfrm>
            <a:off x="2313919" y="5240219"/>
            <a:ext cx="1072144" cy="847281"/>
            <a:chOff x="25154823" y="7455704"/>
            <a:chExt cx="2078542" cy="2062800"/>
          </a:xfrm>
          <a:solidFill>
            <a:schemeClr val="accent5">
              <a:lumMod val="40000"/>
              <a:lumOff val="60000"/>
            </a:schemeClr>
          </a:solidFill>
        </p:grpSpPr>
        <p:sp>
          <p:nvSpPr>
            <p:cNvPr id="49" name="Rectangle 48"/>
            <p:cNvSpPr/>
            <p:nvPr/>
          </p:nvSpPr>
          <p:spPr>
            <a:xfrm>
              <a:off x="25154823" y="7455704"/>
              <a:ext cx="2078542"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50" name="Rectangle 49"/>
            <p:cNvSpPr/>
            <p:nvPr/>
          </p:nvSpPr>
          <p:spPr>
            <a:xfrm>
              <a:off x="25324824" y="7614366"/>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bitmap</a:t>
              </a:r>
              <a:endParaRPr lang="en-US" sz="1600" dirty="0">
                <a:solidFill>
                  <a:schemeClr val="bg1"/>
                </a:solidFill>
              </a:endParaRPr>
            </a:p>
          </p:txBody>
        </p:sp>
      </p:grpSp>
      <p:sp>
        <p:nvSpPr>
          <p:cNvPr id="17" name="Rectangle 16"/>
          <p:cNvSpPr/>
          <p:nvPr/>
        </p:nvSpPr>
        <p:spPr>
          <a:xfrm>
            <a:off x="3528597" y="5239332"/>
            <a:ext cx="4422810"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8" name="Rectangle 17"/>
          <p:cNvSpPr/>
          <p:nvPr/>
        </p:nvSpPr>
        <p:spPr>
          <a:xfrm>
            <a:off x="3605553" y="5302501"/>
            <a:ext cx="769178" cy="53493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table</a:t>
            </a:r>
            <a:endParaRPr lang="en-US" sz="1600" dirty="0">
              <a:solidFill>
                <a:schemeClr val="bg1"/>
              </a:solidFill>
            </a:endParaRPr>
          </a:p>
        </p:txBody>
      </p:sp>
      <p:cxnSp>
        <p:nvCxnSpPr>
          <p:cNvPr id="19" name="Straight Arrow Connector 96"/>
          <p:cNvCxnSpPr>
            <a:stCxn id="14" idx="2"/>
            <a:endCxn id="49" idx="0"/>
          </p:cNvCxnSpPr>
          <p:nvPr/>
        </p:nvCxnSpPr>
        <p:spPr>
          <a:xfrm rot="5400000">
            <a:off x="2822569" y="4314777"/>
            <a:ext cx="952866" cy="898020"/>
          </a:xfrm>
          <a:prstGeom prst="bentConnector3">
            <a:avLst>
              <a:gd name="adj1" fmla="val 50000"/>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0" name="Rounded Rectangle 19"/>
          <p:cNvSpPr/>
          <p:nvPr/>
        </p:nvSpPr>
        <p:spPr>
          <a:xfrm>
            <a:off x="4517289" y="3513434"/>
            <a:ext cx="1259699" cy="773919"/>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cxnSp>
        <p:nvCxnSpPr>
          <p:cNvPr id="21" name="Straight Arrow Connector 96"/>
          <p:cNvCxnSpPr/>
          <p:nvPr/>
        </p:nvCxnSpPr>
        <p:spPr>
          <a:xfrm>
            <a:off x="4079196" y="4287353"/>
            <a:ext cx="0" cy="94931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22" name="Rounded Rectangle 21"/>
          <p:cNvSpPr/>
          <p:nvPr/>
        </p:nvSpPr>
        <p:spPr>
          <a:xfrm>
            <a:off x="4463500" y="5302500"/>
            <a:ext cx="880671"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23" name="Rounded Rectangle 22"/>
          <p:cNvSpPr/>
          <p:nvPr/>
        </p:nvSpPr>
        <p:spPr>
          <a:xfrm>
            <a:off x="6658175" y="5302499"/>
            <a:ext cx="1108720" cy="716446"/>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sp>
        <p:nvSpPr>
          <p:cNvPr id="24" name="TextBox 23"/>
          <p:cNvSpPr txBox="1"/>
          <p:nvPr/>
        </p:nvSpPr>
        <p:spPr>
          <a:xfrm>
            <a:off x="5870590" y="359136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sp>
        <p:nvSpPr>
          <p:cNvPr id="25" name="TextBox 24"/>
          <p:cNvSpPr txBox="1"/>
          <p:nvPr/>
        </p:nvSpPr>
        <p:spPr>
          <a:xfrm>
            <a:off x="5753161" y="533437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26" name="Group 25"/>
          <p:cNvGrpSpPr/>
          <p:nvPr/>
        </p:nvGrpSpPr>
        <p:grpSpPr>
          <a:xfrm>
            <a:off x="6860595" y="4102149"/>
            <a:ext cx="1006403" cy="847281"/>
            <a:chOff x="25154821" y="7455704"/>
            <a:chExt cx="2110198" cy="2062800"/>
          </a:xfrm>
          <a:solidFill>
            <a:schemeClr val="accent5">
              <a:lumMod val="40000"/>
              <a:lumOff val="60000"/>
            </a:schemeClr>
          </a:solidFill>
        </p:grpSpPr>
        <p:sp>
          <p:nvSpPr>
            <p:cNvPr id="47" name="Rectangle 46"/>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8" name="Rectangle 47"/>
            <p:cNvSpPr/>
            <p:nvPr/>
          </p:nvSpPr>
          <p:spPr>
            <a:xfrm>
              <a:off x="25324824" y="7614364"/>
              <a:ext cx="1770194" cy="130236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grpSp>
        <p:nvGrpSpPr>
          <p:cNvPr id="27" name="Group 26"/>
          <p:cNvGrpSpPr/>
          <p:nvPr/>
        </p:nvGrpSpPr>
        <p:grpSpPr>
          <a:xfrm>
            <a:off x="8240776" y="5236670"/>
            <a:ext cx="1105242" cy="850831"/>
            <a:chOff x="25154821" y="7455704"/>
            <a:chExt cx="2110198" cy="2062800"/>
          </a:xfrm>
          <a:solidFill>
            <a:schemeClr val="accent5">
              <a:lumMod val="40000"/>
              <a:lumOff val="60000"/>
            </a:schemeClr>
          </a:solidFill>
        </p:grpSpPr>
        <p:sp>
          <p:nvSpPr>
            <p:cNvPr id="45" name="Rectangle 44"/>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6" name="Rectangle 45"/>
            <p:cNvSpPr/>
            <p:nvPr/>
          </p:nvSpPr>
          <p:spPr>
            <a:xfrm>
              <a:off x="25324824" y="7615302"/>
              <a:ext cx="1770193" cy="173698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indirect</a:t>
              </a:r>
            </a:p>
            <a:p>
              <a:pPr algn="ctr"/>
              <a:r>
                <a:rPr lang="en-US" sz="1600" dirty="0" smtClean="0">
                  <a:solidFill>
                    <a:schemeClr val="bg1"/>
                  </a:solidFill>
                </a:rPr>
                <a:t>block</a:t>
              </a:r>
              <a:endParaRPr lang="en-US" sz="1600" dirty="0">
                <a:solidFill>
                  <a:schemeClr val="bg1"/>
                </a:solidFill>
              </a:endParaRPr>
            </a:p>
          </p:txBody>
        </p:sp>
      </p:grpSp>
      <p:grpSp>
        <p:nvGrpSpPr>
          <p:cNvPr id="28" name="Group 27"/>
          <p:cNvGrpSpPr/>
          <p:nvPr/>
        </p:nvGrpSpPr>
        <p:grpSpPr>
          <a:xfrm rot="16200000" flipV="1">
            <a:off x="8645680" y="4838037"/>
            <a:ext cx="294823" cy="533101"/>
            <a:chOff x="27236633" y="9932056"/>
            <a:chExt cx="578250" cy="990600"/>
          </a:xfrm>
        </p:grpSpPr>
        <p:cxnSp>
          <p:nvCxnSpPr>
            <p:cNvPr id="42" name="Straight Arrow Connector 41"/>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3" name="Straight Arrow Connector 42"/>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4" name="Straight Arrow Connector 43"/>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grpSp>
        <p:nvGrpSpPr>
          <p:cNvPr id="29" name="Group 28"/>
          <p:cNvGrpSpPr/>
          <p:nvPr/>
        </p:nvGrpSpPr>
        <p:grpSpPr>
          <a:xfrm>
            <a:off x="8240944" y="4062709"/>
            <a:ext cx="1105074" cy="886721"/>
            <a:chOff x="20309820" y="9557482"/>
            <a:chExt cx="2053432" cy="1739168"/>
          </a:xfrm>
          <a:solidFill>
            <a:schemeClr val="accent5">
              <a:lumMod val="40000"/>
              <a:lumOff val="60000"/>
            </a:schemeClr>
          </a:solidFill>
        </p:grpSpPr>
        <p:sp>
          <p:nvSpPr>
            <p:cNvPr id="37" name="Rectangle 36"/>
            <p:cNvSpPr/>
            <p:nvPr/>
          </p:nvSpPr>
          <p:spPr>
            <a:xfrm>
              <a:off x="20498872" y="955748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38" name="Rectangle 37"/>
            <p:cNvSpPr/>
            <p:nvPr/>
          </p:nvSpPr>
          <p:spPr>
            <a:xfrm>
              <a:off x="20403622" y="9652732"/>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grpSp>
          <p:nvGrpSpPr>
            <p:cNvPr id="39" name="Group 38"/>
            <p:cNvGrpSpPr/>
            <p:nvPr/>
          </p:nvGrpSpPr>
          <p:grpSpPr>
            <a:xfrm>
              <a:off x="20309820" y="9762072"/>
              <a:ext cx="1864380" cy="1534578"/>
              <a:chOff x="25154821" y="7455704"/>
              <a:chExt cx="1864380" cy="1534578"/>
            </a:xfrm>
            <a:grpFill/>
          </p:grpSpPr>
          <p:sp>
            <p:nvSpPr>
              <p:cNvPr id="40" name="Rectangle 39"/>
              <p:cNvSpPr/>
              <p:nvPr/>
            </p:nvSpPr>
            <p:spPr>
              <a:xfrm>
                <a:off x="25154821" y="7455704"/>
                <a:ext cx="1864380" cy="1534578"/>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1" name="Rectangle 40"/>
              <p:cNvSpPr/>
              <p:nvPr/>
            </p:nvSpPr>
            <p:spPr>
              <a:xfrm>
                <a:off x="25324824" y="7614367"/>
                <a:ext cx="1541977" cy="1072557"/>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endParaRPr lang="en-US" sz="1600" dirty="0" smtClean="0">
                  <a:solidFill>
                    <a:schemeClr val="bg1"/>
                  </a:solidFill>
                </a:endParaRPr>
              </a:p>
              <a:p>
                <a:pPr algn="ctr"/>
                <a:r>
                  <a:rPr lang="en-US" sz="1600" dirty="0" smtClean="0">
                    <a:solidFill>
                      <a:schemeClr val="bg1"/>
                    </a:solidFill>
                  </a:rPr>
                  <a:t>blocks</a:t>
                </a:r>
                <a:endParaRPr lang="en-US" sz="1600" dirty="0">
                  <a:solidFill>
                    <a:schemeClr val="bg1"/>
                  </a:solidFill>
                </a:endParaRPr>
              </a:p>
            </p:txBody>
          </p:sp>
        </p:grpSp>
      </p:grpSp>
      <p:cxnSp>
        <p:nvCxnSpPr>
          <p:cNvPr id="30" name="Straight Arrow Connector 96"/>
          <p:cNvCxnSpPr>
            <a:stCxn id="23" idx="0"/>
          </p:cNvCxnSpPr>
          <p:nvPr/>
        </p:nvCxnSpPr>
        <p:spPr>
          <a:xfrm flipV="1">
            <a:off x="7212534" y="4947999"/>
            <a:ext cx="0" cy="35450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96"/>
          <p:cNvCxnSpPr>
            <a:stCxn id="23" idx="3"/>
            <a:endCxn id="45" idx="1"/>
          </p:cNvCxnSpPr>
          <p:nvPr/>
        </p:nvCxnSpPr>
        <p:spPr>
          <a:xfrm>
            <a:off x="7766894" y="5660722"/>
            <a:ext cx="473882" cy="1363"/>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32" name="Group 31"/>
          <p:cNvGrpSpPr/>
          <p:nvPr/>
        </p:nvGrpSpPr>
        <p:grpSpPr>
          <a:xfrm rot="5400000">
            <a:off x="5001386" y="4201233"/>
            <a:ext cx="294823" cy="533101"/>
            <a:chOff x="27236633" y="9932056"/>
            <a:chExt cx="578250" cy="990600"/>
          </a:xfrm>
        </p:grpSpPr>
        <p:cxnSp>
          <p:nvCxnSpPr>
            <p:cNvPr id="34" name="Straight Arrow Connector 33"/>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p:cNvSpPr txBox="1"/>
          <p:nvPr/>
        </p:nvSpPr>
        <p:spPr>
          <a:xfrm>
            <a:off x="1703299" y="3023854"/>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
        <p:nvSpPr>
          <p:cNvPr id="57" name="TextBox 56"/>
          <p:cNvSpPr txBox="1"/>
          <p:nvPr/>
        </p:nvSpPr>
        <p:spPr>
          <a:xfrm>
            <a:off x="4527051" y="4633428"/>
            <a:ext cx="1332416" cy="338554"/>
          </a:xfrm>
          <a:prstGeom prst="rect">
            <a:avLst/>
          </a:prstGeom>
          <a:noFill/>
        </p:spPr>
        <p:txBody>
          <a:bodyPr wrap="none" rtlCol="0">
            <a:spAutoFit/>
          </a:bodyPr>
          <a:lstStyle/>
          <a:p>
            <a:r>
              <a:rPr lang="en-CA" sz="1600" i="1" dirty="0" smtClean="0">
                <a:solidFill>
                  <a:schemeClr val="bg1"/>
                </a:solidFill>
              </a:rPr>
              <a:t>block </a:t>
            </a:r>
            <a:r>
              <a:rPr lang="en-CA" sz="1600" i="1" dirty="0" err="1" smtClean="0">
                <a:solidFill>
                  <a:schemeClr val="bg1"/>
                </a:solidFill>
              </a:rPr>
              <a:t>addr</a:t>
            </a:r>
            <a:r>
              <a:rPr lang="en-CA" sz="1600" i="1" dirty="0" smtClean="0">
                <a:solidFill>
                  <a:schemeClr val="bg1"/>
                </a:solidFill>
              </a:rPr>
              <a:t>.</a:t>
            </a:r>
            <a:endParaRPr lang="en-CA" sz="1600" i="1" dirty="0">
              <a:solidFill>
                <a:schemeClr val="bg1"/>
              </a:solidFill>
            </a:endParaRPr>
          </a:p>
        </p:txBody>
      </p:sp>
    </p:spTree>
    <p:extLst>
      <p:ext uri="{BB962C8B-B14F-4D97-AF65-F5344CB8AC3E}">
        <p14:creationId xmlns:p14="http://schemas.microsoft.com/office/powerpoint/2010/main" val="1376925857"/>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File Address Space</a:t>
            </a:r>
            <a:endParaRPr lang="en-CA" dirty="0"/>
          </a:p>
        </p:txBody>
      </p:sp>
      <p:sp>
        <p:nvSpPr>
          <p:cNvPr id="3" name="Content Placeholder 2"/>
          <p:cNvSpPr>
            <a:spLocks noGrp="1"/>
          </p:cNvSpPr>
          <p:nvPr>
            <p:ph idx="1"/>
          </p:nvPr>
        </p:nvSpPr>
        <p:spPr/>
        <p:txBody>
          <a:bodyPr/>
          <a:lstStyle/>
          <a:p>
            <a:r>
              <a:rPr lang="en-CA" dirty="0"/>
              <a:t>File address is an index into the </a:t>
            </a:r>
            <a:r>
              <a:rPr lang="en-CA" dirty="0" err="1"/>
              <a:t>inode</a:t>
            </a:r>
            <a:r>
              <a:rPr lang="en-CA" dirty="0"/>
              <a:t> table for a </a:t>
            </a:r>
            <a:r>
              <a:rPr lang="en-CA" dirty="0" smtClean="0"/>
              <a:t>file</a:t>
            </a:r>
          </a:p>
          <a:p>
            <a:pPr lvl="1"/>
            <a:r>
              <a:rPr lang="en-CA" dirty="0" smtClean="0"/>
              <a:t>E.g. Ext4 journal is stored as a regular file  </a:t>
            </a:r>
          </a:p>
          <a:p>
            <a:pPr lvl="1"/>
            <a:r>
              <a:rPr lang="en-CA" dirty="0" smtClean="0"/>
              <a:t>Regular file may be physically discontiguous</a:t>
            </a:r>
          </a:p>
          <a:p>
            <a:pPr lvl="1"/>
            <a:r>
              <a:rPr lang="en-CA" dirty="0" smtClean="0"/>
              <a:t>Mapping function may reassemble blocks</a:t>
            </a:r>
            <a:endParaRPr lang="en-CA" dirty="0"/>
          </a:p>
          <a:p>
            <a:pPr lvl="1"/>
            <a:endParaRPr lang="en-CA" dirty="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16</a:t>
            </a:fld>
            <a:endParaRPr lang="en-CA" dirty="0"/>
          </a:p>
        </p:txBody>
      </p:sp>
      <p:cxnSp>
        <p:nvCxnSpPr>
          <p:cNvPr id="7" name="Straight Arrow Connector 6"/>
          <p:cNvCxnSpPr>
            <a:stCxn id="8" idx="2"/>
          </p:cNvCxnSpPr>
          <p:nvPr/>
        </p:nvCxnSpPr>
        <p:spPr>
          <a:xfrm flipH="1">
            <a:off x="3767589" y="4354881"/>
            <a:ext cx="1" cy="466867"/>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8" name="Rectangle 7"/>
          <p:cNvSpPr/>
          <p:nvPr/>
        </p:nvSpPr>
        <p:spPr>
          <a:xfrm>
            <a:off x="3264388" y="3507600"/>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9" name="Rectangle 8"/>
          <p:cNvSpPr/>
          <p:nvPr/>
        </p:nvSpPr>
        <p:spPr>
          <a:xfrm>
            <a:off x="3345466" y="3572769"/>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0" name="Group 9"/>
          <p:cNvGrpSpPr/>
          <p:nvPr/>
        </p:nvGrpSpPr>
        <p:grpSpPr>
          <a:xfrm>
            <a:off x="5391556" y="3507600"/>
            <a:ext cx="3654350" cy="847281"/>
            <a:chOff x="24275265" y="2491036"/>
            <a:chExt cx="4669172" cy="1473330"/>
          </a:xfrm>
        </p:grpSpPr>
        <p:sp>
          <p:nvSpPr>
            <p:cNvPr id="52" name="Rectangle 51"/>
            <p:cNvSpPr/>
            <p:nvPr/>
          </p:nvSpPr>
          <p:spPr>
            <a:xfrm>
              <a:off x="24275265" y="2491036"/>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53" name="Rectangle 52"/>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1" name="Straight Arrow Connector 10"/>
          <p:cNvCxnSpPr>
            <a:stCxn id="8" idx="3"/>
            <a:endCxn id="52" idx="1"/>
          </p:cNvCxnSpPr>
          <p:nvPr/>
        </p:nvCxnSpPr>
        <p:spPr>
          <a:xfrm>
            <a:off x="4270791" y="3931240"/>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2" name="Rectangle 11"/>
          <p:cNvSpPr/>
          <p:nvPr/>
        </p:nvSpPr>
        <p:spPr>
          <a:xfrm>
            <a:off x="967747" y="4821746"/>
            <a:ext cx="3901965" cy="954429"/>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3" name="Rectangle 12"/>
          <p:cNvSpPr/>
          <p:nvPr/>
        </p:nvSpPr>
        <p:spPr>
          <a:xfrm>
            <a:off x="1048826" y="4888106"/>
            <a:ext cx="1826320" cy="569021"/>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block group descriptor table</a:t>
            </a:r>
            <a:endParaRPr lang="en-US" sz="1600" dirty="0">
              <a:solidFill>
                <a:schemeClr val="bg1">
                  <a:lumMod val="50000"/>
                  <a:lumOff val="50000"/>
                </a:schemeClr>
              </a:solidFill>
            </a:endParaRPr>
          </a:p>
        </p:txBody>
      </p:sp>
      <p:sp>
        <p:nvSpPr>
          <p:cNvPr id="14" name="Rounded Rectangle 13"/>
          <p:cNvSpPr/>
          <p:nvPr/>
        </p:nvSpPr>
        <p:spPr>
          <a:xfrm>
            <a:off x="2973017" y="4883621"/>
            <a:ext cx="1295177" cy="795454"/>
          </a:xfrm>
          <a:prstGeom prst="roundRect">
            <a:avLst/>
          </a:prstGeom>
          <a:solidFill>
            <a:schemeClr val="accent3">
              <a:lumMod val="20000"/>
              <a:lumOff val="80000"/>
            </a:schemeClr>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bg1">
                    <a:lumMod val="50000"/>
                    <a:lumOff val="50000"/>
                  </a:schemeClr>
                </a:solidFill>
              </a:rPr>
              <a:t>block group descriptor</a:t>
            </a:r>
            <a:endParaRPr lang="zh-TW" altLang="en-US" sz="1600" dirty="0">
              <a:solidFill>
                <a:schemeClr val="bg1">
                  <a:lumMod val="50000"/>
                  <a:lumOff val="50000"/>
                </a:schemeClr>
              </a:solidFill>
            </a:endParaRPr>
          </a:p>
        </p:txBody>
      </p:sp>
      <p:sp>
        <p:nvSpPr>
          <p:cNvPr id="24" name="TextBox 23"/>
          <p:cNvSpPr txBox="1"/>
          <p:nvPr/>
        </p:nvSpPr>
        <p:spPr>
          <a:xfrm>
            <a:off x="4286527" y="4983083"/>
            <a:ext cx="492443" cy="461665"/>
          </a:xfrm>
          <a:prstGeom prst="rect">
            <a:avLst/>
          </a:prstGeom>
          <a:noFill/>
        </p:spPr>
        <p:txBody>
          <a:bodyPr wrap="none" rtlCol="0">
            <a:spAutoFit/>
          </a:bodyPr>
          <a:lstStyle/>
          <a:p>
            <a:r>
              <a:rPr lang="en-CA" sz="2400" dirty="0" smtClean="0">
                <a:solidFill>
                  <a:schemeClr val="bg1">
                    <a:lumMod val="50000"/>
                    <a:lumOff val="50000"/>
                  </a:schemeClr>
                </a:solidFill>
              </a:rPr>
              <a:t>…</a:t>
            </a:r>
            <a:endParaRPr lang="en-CA" sz="2400" dirty="0">
              <a:solidFill>
                <a:schemeClr val="bg1">
                  <a:lumMod val="50000"/>
                  <a:lumOff val="50000"/>
                </a:schemeClr>
              </a:solidFill>
            </a:endParaRPr>
          </a:p>
        </p:txBody>
      </p:sp>
      <p:sp>
        <p:nvSpPr>
          <p:cNvPr id="33" name="TextBox 32"/>
          <p:cNvSpPr txBox="1"/>
          <p:nvPr/>
        </p:nvSpPr>
        <p:spPr>
          <a:xfrm>
            <a:off x="4295334" y="3507600"/>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grpSp>
        <p:nvGrpSpPr>
          <p:cNvPr id="56" name="Group 55"/>
          <p:cNvGrpSpPr/>
          <p:nvPr/>
        </p:nvGrpSpPr>
        <p:grpSpPr>
          <a:xfrm rot="5400000">
            <a:off x="3473194" y="5593114"/>
            <a:ext cx="294823" cy="533101"/>
            <a:chOff x="27236633" y="9932056"/>
            <a:chExt cx="578250" cy="990600"/>
          </a:xfrm>
        </p:grpSpPr>
        <p:cxnSp>
          <p:nvCxnSpPr>
            <p:cNvPr id="57" name="Straight Arrow Connector 56"/>
            <p:cNvCxnSpPr/>
            <p:nvPr/>
          </p:nvCxnSpPr>
          <p:spPr>
            <a:xfrm>
              <a:off x="27236633" y="104273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8" name="Straight Arrow Connector 57"/>
            <p:cNvCxnSpPr/>
            <p:nvPr/>
          </p:nvCxnSpPr>
          <p:spPr>
            <a:xfrm>
              <a:off x="27236633" y="109226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59" name="Straight Arrow Connector 58"/>
            <p:cNvCxnSpPr/>
            <p:nvPr/>
          </p:nvCxnSpPr>
          <p:spPr>
            <a:xfrm>
              <a:off x="27236633" y="9932056"/>
              <a:ext cx="578250" cy="0"/>
            </a:xfrm>
            <a:prstGeom prst="straightConnector1">
              <a:avLst/>
            </a:prstGeom>
            <a:ln w="63500">
              <a:solidFill>
                <a:schemeClr val="accent6">
                  <a:alpha val="2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61" name="Rectangle 60"/>
          <p:cNvSpPr/>
          <p:nvPr/>
        </p:nvSpPr>
        <p:spPr>
          <a:xfrm>
            <a:off x="7089186" y="5485532"/>
            <a:ext cx="1576385" cy="329131"/>
          </a:xfrm>
          <a:prstGeom prst="rect">
            <a:avLst/>
          </a:prstGeom>
          <a:solidFill>
            <a:schemeClr val="tx1"/>
          </a:solidFill>
          <a:ln w="12700">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physical disk</a:t>
            </a:r>
            <a:endParaRPr lang="en-US" sz="1600" dirty="0">
              <a:solidFill>
                <a:schemeClr val="bg1"/>
              </a:solidFill>
            </a:endParaRPr>
          </a:p>
        </p:txBody>
      </p:sp>
      <p:cxnSp>
        <p:nvCxnSpPr>
          <p:cNvPr id="67" name="Straight Connector 66"/>
          <p:cNvCxnSpPr/>
          <p:nvPr/>
        </p:nvCxnSpPr>
        <p:spPr>
          <a:xfrm flipH="1">
            <a:off x="5390595" y="4354881"/>
            <a:ext cx="961"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68" name="Straight Connector 67"/>
          <p:cNvCxnSpPr/>
          <p:nvPr/>
        </p:nvCxnSpPr>
        <p:spPr>
          <a:xfrm flipH="1">
            <a:off x="6698512" y="4376079"/>
            <a:ext cx="326684"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0" name="Straight Connector 69"/>
          <p:cNvCxnSpPr/>
          <p:nvPr/>
        </p:nvCxnSpPr>
        <p:spPr>
          <a:xfrm>
            <a:off x="7061796" y="4376079"/>
            <a:ext cx="361105"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73" name="Straight Connector 72"/>
          <p:cNvCxnSpPr/>
          <p:nvPr/>
        </p:nvCxnSpPr>
        <p:spPr>
          <a:xfrm>
            <a:off x="9045906" y="4376079"/>
            <a:ext cx="1317294" cy="466865"/>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grpSp>
        <p:nvGrpSpPr>
          <p:cNvPr id="96" name="Group 95"/>
          <p:cNvGrpSpPr/>
          <p:nvPr/>
        </p:nvGrpSpPr>
        <p:grpSpPr>
          <a:xfrm>
            <a:off x="5391556" y="4823599"/>
            <a:ext cx="4971644" cy="635381"/>
            <a:chOff x="5391556" y="4823599"/>
            <a:chExt cx="4971644" cy="635381"/>
          </a:xfrm>
        </p:grpSpPr>
        <p:sp>
          <p:nvSpPr>
            <p:cNvPr id="60" name="Rectangle 59"/>
            <p:cNvSpPr/>
            <p:nvPr/>
          </p:nvSpPr>
          <p:spPr>
            <a:xfrm>
              <a:off x="5391556" y="4823599"/>
              <a:ext cx="1306956"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2" name="Rectangle 61"/>
            <p:cNvSpPr/>
            <p:nvPr/>
          </p:nvSpPr>
          <p:spPr>
            <a:xfrm>
              <a:off x="6697758" y="4823599"/>
              <a:ext cx="719141"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3" name="Rectangle 62"/>
            <p:cNvSpPr/>
            <p:nvPr/>
          </p:nvSpPr>
          <p:spPr>
            <a:xfrm>
              <a:off x="7416145" y="4823599"/>
              <a:ext cx="167648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64" name="Rectangle 63"/>
            <p:cNvSpPr/>
            <p:nvPr/>
          </p:nvSpPr>
          <p:spPr>
            <a:xfrm>
              <a:off x="9823770" y="4823599"/>
              <a:ext cx="539430" cy="635381"/>
            </a:xfrm>
            <a:prstGeom prst="rect">
              <a:avLst/>
            </a:prstGeom>
            <a:solidFill>
              <a:schemeClr val="accent3"/>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8" name="Rectangle 77"/>
            <p:cNvSpPr/>
            <p:nvPr/>
          </p:nvSpPr>
          <p:spPr>
            <a:xfrm>
              <a:off x="9091871" y="4823599"/>
              <a:ext cx="732654" cy="635381"/>
            </a:xfrm>
            <a:prstGeom prst="rect">
              <a:avLst/>
            </a:prstGeom>
            <a:solidFill>
              <a:schemeClr val="tx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grpSp>
      <p:cxnSp>
        <p:nvCxnSpPr>
          <p:cNvPr id="85" name="Straight Connector 84"/>
          <p:cNvCxnSpPr/>
          <p:nvPr/>
        </p:nvCxnSpPr>
        <p:spPr>
          <a:xfrm>
            <a:off x="8365010" y="4376079"/>
            <a:ext cx="734371" cy="445667"/>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cxnSp>
        <p:nvCxnSpPr>
          <p:cNvPr id="90" name="Straight Connector 89"/>
          <p:cNvCxnSpPr/>
          <p:nvPr/>
        </p:nvCxnSpPr>
        <p:spPr>
          <a:xfrm>
            <a:off x="8399721" y="4380614"/>
            <a:ext cx="1437562" cy="462330"/>
          </a:xfrm>
          <a:prstGeom prst="line">
            <a:avLst/>
          </a:prstGeom>
          <a:ln w="15875">
            <a:solidFill>
              <a:schemeClr val="bg1">
                <a:alpha val="60000"/>
              </a:schemeClr>
            </a:solidFill>
            <a:prstDash val="sys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944444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F2FS NID Address Space</a:t>
            </a:r>
            <a:endParaRPr lang="en-CA" dirty="0"/>
          </a:p>
        </p:txBody>
      </p:sp>
      <p:sp>
        <p:nvSpPr>
          <p:cNvPr id="3" name="Content Placeholder 2"/>
          <p:cNvSpPr>
            <a:spLocks noGrp="1"/>
          </p:cNvSpPr>
          <p:nvPr>
            <p:ph idx="1"/>
          </p:nvPr>
        </p:nvSpPr>
        <p:spPr/>
        <p:txBody>
          <a:bodyPr/>
          <a:lstStyle/>
          <a:p>
            <a:r>
              <a:rPr lang="en-CA" dirty="0"/>
              <a:t>NID address is an index </a:t>
            </a:r>
            <a:r>
              <a:rPr lang="en-CA" dirty="0" smtClean="0"/>
              <a:t>into the </a:t>
            </a:r>
            <a:r>
              <a:rPr lang="en-CA" dirty="0"/>
              <a:t>node address table for an </a:t>
            </a:r>
            <a:r>
              <a:rPr lang="en-CA" dirty="0" smtClean="0"/>
              <a:t/>
            </a:r>
            <a:br>
              <a:rPr lang="en-CA" dirty="0" smtClean="0"/>
            </a:br>
            <a:r>
              <a:rPr lang="en-CA" dirty="0" smtClean="0"/>
              <a:t>F2FS </a:t>
            </a:r>
            <a:r>
              <a:rPr lang="en-CA" dirty="0"/>
              <a:t>metadata </a:t>
            </a:r>
            <a:r>
              <a:rPr lang="en-CA" dirty="0" smtClean="0"/>
              <a:t>block</a:t>
            </a:r>
          </a:p>
          <a:p>
            <a:r>
              <a:rPr lang="en-CA" dirty="0" smtClean="0"/>
              <a:t>Required to traverse indirect blocks</a:t>
            </a:r>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17</a:t>
            </a:fld>
            <a:endParaRPr lang="en-CA" dirty="0"/>
          </a:p>
        </p:txBody>
      </p:sp>
    </p:spTree>
    <p:extLst>
      <p:ext uri="{BB962C8B-B14F-4D97-AF65-F5344CB8AC3E}">
        <p14:creationId xmlns:p14="http://schemas.microsoft.com/office/powerpoint/2010/main" val="279727393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FSSUPER Annotation</a:t>
            </a:r>
            <a:endParaRPr lang="en-CA" dirty="0"/>
          </a:p>
        </p:txBody>
      </p:sp>
      <p:sp>
        <p:nvSpPr>
          <p:cNvPr id="3" name="Content Placeholder 2"/>
          <p:cNvSpPr>
            <a:spLocks noGrp="1"/>
          </p:cNvSpPr>
          <p:nvPr>
            <p:ph idx="1"/>
          </p:nvPr>
        </p:nvSpPr>
        <p:spPr>
          <a:xfrm>
            <a:off x="684211" y="1515358"/>
            <a:ext cx="10285797" cy="1589349"/>
          </a:xfrm>
        </p:spPr>
        <p:txBody>
          <a:bodyPr/>
          <a:lstStyle/>
          <a:p>
            <a:r>
              <a:rPr lang="en-CA" dirty="0" smtClean="0"/>
              <a:t>Super block is the root of every file system tree</a:t>
            </a:r>
          </a:p>
          <a:p>
            <a:pPr lvl="1"/>
            <a:r>
              <a:rPr lang="en-CA" dirty="0" smtClean="0"/>
              <a:t>Specified using FSSUPER annotation</a:t>
            </a:r>
          </a:p>
          <a:p>
            <a:pPr lvl="1"/>
            <a:r>
              <a:rPr lang="en-CA" i="1" dirty="0" smtClean="0"/>
              <a:t>location </a:t>
            </a:r>
            <a:r>
              <a:rPr lang="en-CA" dirty="0" smtClean="0"/>
              <a:t>argument specifies </a:t>
            </a:r>
            <a:r>
              <a:rPr lang="en-CA" dirty="0"/>
              <a:t>address in byte offset</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18</a:t>
            </a:fld>
            <a:endParaRPr lang="en-CA" dirty="0"/>
          </a:p>
        </p:txBody>
      </p:sp>
      <p:sp>
        <p:nvSpPr>
          <p:cNvPr id="6" name="Rectangle 5"/>
          <p:cNvSpPr/>
          <p:nvPr/>
        </p:nvSpPr>
        <p:spPr>
          <a:xfrm>
            <a:off x="950024" y="3027765"/>
            <a:ext cx="6641621" cy="1754326"/>
          </a:xfrm>
          <a:prstGeom prst="rect">
            <a:avLst/>
          </a:prstGeom>
        </p:spPr>
        <p:txBody>
          <a:bodyPr wrap="square">
            <a:spAutoFit/>
          </a:bodyPr>
          <a:lstStyle/>
          <a:p>
            <a:r>
              <a:rPr lang="en-CA" b="1" dirty="0">
                <a:solidFill>
                  <a:schemeClr val="bg1"/>
                </a:solidFill>
                <a:latin typeface="Courier New" panose="02070309020205020404" pitchFamily="49" charset="0"/>
                <a:cs typeface="Courier New" panose="02070309020205020404" pitchFamily="49" charset="0"/>
              </a:rPr>
              <a:t>FSSUPER</a:t>
            </a:r>
            <a:r>
              <a:rPr lang="en-CA" dirty="0">
                <a:solidFill>
                  <a:schemeClr val="bg1"/>
                </a:solidFill>
                <a:latin typeface="Courier New" panose="02070309020205020404" pitchFamily="49" charset="0"/>
                <a:cs typeface="Courier New" panose="02070309020205020404" pitchFamily="49" charset="0"/>
              </a:rPr>
              <a:t>(location=1024) ext4_super_block {</a:t>
            </a:r>
          </a:p>
          <a:p>
            <a:r>
              <a:rPr lang="en-CA" dirty="0">
                <a:solidFill>
                  <a:schemeClr val="bg1"/>
                </a:solidFill>
                <a:latin typeface="Courier New" panose="02070309020205020404" pitchFamily="49" charset="0"/>
                <a:cs typeface="Courier New" panose="02070309020205020404" pitchFamily="49" charset="0"/>
              </a:rPr>
              <a:t>  __le32 </a:t>
            </a:r>
            <a:r>
              <a:rPr lang="en-CA" dirty="0" err="1">
                <a:solidFill>
                  <a:schemeClr val="bg1"/>
                </a:solidFill>
                <a:latin typeface="Courier New" panose="02070309020205020404" pitchFamily="49" charset="0"/>
                <a:cs typeface="Courier New" panose="02070309020205020404" pitchFamily="49" charset="0"/>
              </a:rPr>
              <a:t>s_log_block_size</a:t>
            </a:r>
            <a:r>
              <a:rPr lang="en-CA" dirty="0">
                <a:solidFill>
                  <a:schemeClr val="bg1"/>
                </a:solidFill>
                <a:latin typeface="Courier New" panose="02070309020205020404" pitchFamily="49" charset="0"/>
                <a:cs typeface="Courier New" panose="02070309020205020404" pitchFamily="49" charset="0"/>
              </a:rPr>
              <a:t>;</a:t>
            </a:r>
          </a:p>
          <a:p>
            <a:r>
              <a:rPr lang="en-CA" dirty="0" smtClean="0">
                <a:solidFill>
                  <a:schemeClr val="bg1"/>
                </a:solidFill>
                <a:latin typeface="Courier New" panose="02070309020205020404" pitchFamily="49" charset="0"/>
                <a:cs typeface="Courier New" panose="02070309020205020404" pitchFamily="49" charset="0"/>
              </a:rPr>
              <a:t>  ...</a:t>
            </a:r>
          </a:p>
          <a:p>
            <a:r>
              <a:rPr lang="fr-FR" dirty="0" smtClean="0">
                <a:solidFill>
                  <a:schemeClr val="bg1"/>
                </a:solidFill>
                <a:latin typeface="Courier New" panose="02070309020205020404" pitchFamily="49" charset="0"/>
                <a:cs typeface="Courier New" panose="02070309020205020404" pitchFamily="49" charset="0"/>
              </a:rPr>
              <a:t>  </a:t>
            </a:r>
            <a:r>
              <a:rPr lang="fr-FR" b="1" dirty="0" smtClean="0">
                <a:solidFill>
                  <a:schemeClr val="bg1"/>
                </a:solidFill>
                <a:latin typeface="Courier New" panose="02070309020205020404" pitchFamily="49" charset="0"/>
                <a:cs typeface="Courier New" panose="02070309020205020404" pitchFamily="49" charset="0"/>
              </a:rPr>
              <a:t>POINTER</a:t>
            </a:r>
            <a:r>
              <a:rPr lang="fr-FR" dirty="0" smtClean="0">
                <a:solidFill>
                  <a:schemeClr val="bg1"/>
                </a:solidFill>
                <a:latin typeface="Courier New" panose="02070309020205020404" pitchFamily="49" charset="0"/>
                <a:cs typeface="Courier New" panose="02070309020205020404" pitchFamily="49" charset="0"/>
              </a:rPr>
              <a:t>(</a:t>
            </a:r>
            <a:r>
              <a:rPr lang="fr-FR" dirty="0" err="1" smtClean="0">
                <a:solidFill>
                  <a:schemeClr val="bg1"/>
                </a:solidFill>
                <a:latin typeface="Courier New" panose="02070309020205020404" pitchFamily="49" charset="0"/>
                <a:cs typeface="Courier New" panose="02070309020205020404" pitchFamily="49" charset="0"/>
              </a:rPr>
              <a:t>addrspace</a:t>
            </a:r>
            <a:r>
              <a:rPr lang="fr-FR" dirty="0" smtClean="0">
                <a:solidFill>
                  <a:schemeClr val="bg1"/>
                </a:solidFill>
                <a:latin typeface="Courier New" panose="02070309020205020404" pitchFamily="49" charset="0"/>
                <a:cs typeface="Courier New" panose="02070309020205020404" pitchFamily="49" charset="0"/>
              </a:rPr>
              <a:t>=file</a:t>
            </a:r>
            <a:r>
              <a:rPr lang="fr-FR" dirty="0">
                <a:solidFill>
                  <a:schemeClr val="bg1"/>
                </a:solidFill>
                <a:latin typeface="Courier New" panose="02070309020205020404" pitchFamily="49" charset="0"/>
                <a:cs typeface="Courier New" panose="02070309020205020404" pitchFamily="49" charset="0"/>
              </a:rPr>
              <a:t>, type=ext4_journal)</a:t>
            </a:r>
          </a:p>
          <a:p>
            <a:r>
              <a:rPr lang="fr-FR" dirty="0" smtClean="0">
                <a:solidFill>
                  <a:schemeClr val="bg1"/>
                </a:solidFill>
                <a:latin typeface="Courier New" panose="02070309020205020404" pitchFamily="49" charset="0"/>
                <a:cs typeface="Courier New" panose="02070309020205020404" pitchFamily="49" charset="0"/>
              </a:rPr>
              <a:t>  __</a:t>
            </a:r>
            <a:r>
              <a:rPr lang="fr-FR" dirty="0">
                <a:solidFill>
                  <a:schemeClr val="bg1"/>
                </a:solidFill>
                <a:latin typeface="Courier New" panose="02070309020205020404" pitchFamily="49" charset="0"/>
                <a:cs typeface="Courier New" panose="02070309020205020404" pitchFamily="49" charset="0"/>
              </a:rPr>
              <a:t>le32 </a:t>
            </a:r>
            <a:r>
              <a:rPr lang="fr-FR" dirty="0" err="1">
                <a:solidFill>
                  <a:schemeClr val="bg1"/>
                </a:solidFill>
                <a:latin typeface="Courier New" panose="02070309020205020404" pitchFamily="49" charset="0"/>
                <a:cs typeface="Courier New" panose="02070309020205020404" pitchFamily="49" charset="0"/>
              </a:rPr>
              <a:t>s_journal_inum</a:t>
            </a:r>
            <a:r>
              <a:rPr lang="fr-FR" dirty="0">
                <a:solidFill>
                  <a:schemeClr val="bg1"/>
                </a:solidFill>
                <a:latin typeface="Courier New" panose="02070309020205020404" pitchFamily="49" charset="0"/>
                <a:cs typeface="Courier New" panose="02070309020205020404" pitchFamily="49" charset="0"/>
              </a:rPr>
              <a:t>;</a:t>
            </a:r>
            <a:endParaRPr lang="en-CA" dirty="0" smtClean="0">
              <a:solidFill>
                <a:schemeClr val="bg1"/>
              </a:solidFill>
              <a:latin typeface="Courier New" panose="02070309020205020404" pitchFamily="49" charset="0"/>
              <a:cs typeface="Courier New" panose="02070309020205020404" pitchFamily="49" charset="0"/>
            </a:endParaRPr>
          </a:p>
          <a:p>
            <a:r>
              <a:rPr lang="en-CA" dirty="0" smtClean="0">
                <a:solidFill>
                  <a:schemeClr val="bg1"/>
                </a:solidFill>
                <a:latin typeface="Courier New" panose="02070309020205020404" pitchFamily="49" charset="0"/>
                <a:cs typeface="Courier New" panose="02070309020205020404" pitchFamily="49" charset="0"/>
              </a:rPr>
              <a:t>};</a:t>
            </a:r>
            <a:endParaRPr lang="en-CA" dirty="0">
              <a:solidFill>
                <a:schemeClr val="bg1"/>
              </a:solidFill>
              <a:latin typeface="Courier New" panose="02070309020205020404" pitchFamily="49" charset="0"/>
              <a:cs typeface="Courier New" panose="02070309020205020404" pitchFamily="49" charset="0"/>
            </a:endParaRPr>
          </a:p>
        </p:txBody>
      </p:sp>
      <p:sp>
        <p:nvSpPr>
          <p:cNvPr id="13" name="Rectangle 12"/>
          <p:cNvSpPr/>
          <p:nvPr/>
        </p:nvSpPr>
        <p:spPr>
          <a:xfrm>
            <a:off x="5188490" y="4640965"/>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5269568" y="4706134"/>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15" name="Group 14"/>
          <p:cNvGrpSpPr/>
          <p:nvPr/>
        </p:nvGrpSpPr>
        <p:grpSpPr>
          <a:xfrm>
            <a:off x="7315660" y="4640965"/>
            <a:ext cx="2604519" cy="847281"/>
            <a:chOff x="24275265" y="2491036"/>
            <a:chExt cx="3327800" cy="1473330"/>
          </a:xfrm>
        </p:grpSpPr>
        <p:sp>
          <p:nvSpPr>
            <p:cNvPr id="16" name="Rectangle 15"/>
            <p:cNvSpPr/>
            <p:nvPr/>
          </p:nvSpPr>
          <p:spPr>
            <a:xfrm>
              <a:off x="24275265" y="2491036"/>
              <a:ext cx="3327800"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solidFill>
                  <a:schemeClr val="bg1"/>
                </a:solidFill>
              </a:endParaRPr>
            </a:p>
          </p:txBody>
        </p:sp>
        <p:sp>
          <p:nvSpPr>
            <p:cNvPr id="17" name="Rectangle 16"/>
            <p:cNvSpPr/>
            <p:nvPr/>
          </p:nvSpPr>
          <p:spPr>
            <a:xfrm>
              <a:off x="24366499" y="2604357"/>
              <a:ext cx="1771964" cy="572323"/>
            </a:xfrm>
            <a:prstGeom prst="rect">
              <a:avLst/>
            </a:prstGeom>
            <a:solidFill>
              <a:schemeClr val="tx1"/>
            </a:solid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ext4 journal</a:t>
              </a:r>
              <a:endParaRPr lang="en-US" sz="1600" dirty="0">
                <a:solidFill>
                  <a:schemeClr val="bg1"/>
                </a:solidFill>
              </a:endParaRPr>
            </a:p>
          </p:txBody>
        </p:sp>
      </p:grpSp>
      <p:cxnSp>
        <p:nvCxnSpPr>
          <p:cNvPr id="18" name="Straight Arrow Connector 17"/>
          <p:cNvCxnSpPr>
            <a:stCxn id="13" idx="3"/>
            <a:endCxn id="16" idx="1"/>
          </p:cNvCxnSpPr>
          <p:nvPr/>
        </p:nvCxnSpPr>
        <p:spPr>
          <a:xfrm>
            <a:off x="6194893" y="5064606"/>
            <a:ext cx="1120765" cy="0"/>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9" name="TextBox 18"/>
          <p:cNvSpPr txBox="1"/>
          <p:nvPr/>
        </p:nvSpPr>
        <p:spPr>
          <a:xfrm>
            <a:off x="6219436" y="4640965"/>
            <a:ext cx="1061509" cy="338554"/>
          </a:xfrm>
          <a:prstGeom prst="rect">
            <a:avLst/>
          </a:prstGeom>
          <a:noFill/>
        </p:spPr>
        <p:txBody>
          <a:bodyPr wrap="none" rtlCol="0">
            <a:spAutoFit/>
          </a:bodyPr>
          <a:lstStyle/>
          <a:p>
            <a:r>
              <a:rPr lang="en-CA" sz="1600" i="1" dirty="0">
                <a:solidFill>
                  <a:schemeClr val="bg1"/>
                </a:solidFill>
              </a:rPr>
              <a:t>file </a:t>
            </a:r>
            <a:r>
              <a:rPr lang="en-CA" sz="1600" i="1" dirty="0" err="1">
                <a:solidFill>
                  <a:schemeClr val="bg1"/>
                </a:solidFill>
              </a:rPr>
              <a:t>addr</a:t>
            </a:r>
            <a:r>
              <a:rPr lang="en-CA" sz="1600" i="1" dirty="0">
                <a:solidFill>
                  <a:schemeClr val="bg1"/>
                </a:solidFill>
              </a:rPr>
              <a:t>.</a:t>
            </a:r>
          </a:p>
        </p:txBody>
      </p:sp>
    </p:spTree>
    <p:extLst>
      <p:ext uri="{BB962C8B-B14F-4D97-AF65-F5344CB8AC3E}">
        <p14:creationId xmlns:p14="http://schemas.microsoft.com/office/powerpoint/2010/main" val="6600694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Missing Pointer</a:t>
            </a:r>
            <a:endParaRPr lang="en-CA" dirty="0"/>
          </a:p>
        </p:txBody>
      </p:sp>
      <p:sp>
        <p:nvSpPr>
          <p:cNvPr id="3" name="Content Placeholder 2"/>
          <p:cNvSpPr>
            <a:spLocks noGrp="1"/>
          </p:cNvSpPr>
          <p:nvPr>
            <p:ph idx="1"/>
          </p:nvPr>
        </p:nvSpPr>
        <p:spPr>
          <a:xfrm>
            <a:off x="684212" y="1515358"/>
            <a:ext cx="9949352" cy="4279386"/>
          </a:xfrm>
        </p:spPr>
        <p:txBody>
          <a:bodyPr/>
          <a:lstStyle/>
          <a:p>
            <a:r>
              <a:rPr lang="en-CA" dirty="0" smtClean="0"/>
              <a:t>Location of some metadata is relative to another and is known</a:t>
            </a:r>
          </a:p>
          <a:p>
            <a:pPr lvl="1"/>
            <a:r>
              <a:rPr lang="en-CA" dirty="0" smtClean="0"/>
              <a:t>E.g. Ext4 block group descriptor table is </a:t>
            </a:r>
            <a:br>
              <a:rPr lang="en-CA" dirty="0" smtClean="0"/>
            </a:br>
            <a:r>
              <a:rPr lang="en-CA" dirty="0" smtClean="0"/>
              <a:t>the next block following the super block</a:t>
            </a:r>
          </a:p>
          <a:p>
            <a:pPr lvl="1"/>
            <a:r>
              <a:rPr lang="en-CA" dirty="0" smtClean="0"/>
              <a:t>Ext4 super block does not have a </a:t>
            </a:r>
            <a:br>
              <a:rPr lang="en-CA" dirty="0" smtClean="0"/>
            </a:br>
            <a:r>
              <a:rPr lang="en-CA" dirty="0" smtClean="0"/>
              <a:t>field that points to descriptor table</a:t>
            </a:r>
          </a:p>
          <a:p>
            <a:pPr lvl="1"/>
            <a:r>
              <a:rPr lang="en-CA" dirty="0" smtClean="0"/>
              <a:t>Pointer required for file system </a:t>
            </a:r>
            <a:br>
              <a:rPr lang="en-CA" dirty="0" smtClean="0"/>
            </a:br>
            <a:r>
              <a:rPr lang="en-CA" dirty="0" smtClean="0"/>
              <a:t>traversal</a:t>
            </a:r>
          </a:p>
        </p:txBody>
      </p:sp>
      <p:sp>
        <p:nvSpPr>
          <p:cNvPr id="4" name="Slide Number Placeholder 3"/>
          <p:cNvSpPr>
            <a:spLocks noGrp="1"/>
          </p:cNvSpPr>
          <p:nvPr>
            <p:ph type="sldNum" sz="quarter" idx="12"/>
          </p:nvPr>
        </p:nvSpPr>
        <p:spPr/>
        <p:txBody>
          <a:bodyPr/>
          <a:lstStyle/>
          <a:p>
            <a:fld id="{7B2023C8-B124-43A9-8F92-0EEF5BAA9995}" type="slidenum">
              <a:rPr lang="en-CA" smtClean="0"/>
              <a:pPr/>
              <a:t>19</a:t>
            </a:fld>
            <a:endParaRPr lang="en-CA" dirty="0"/>
          </a:p>
        </p:txBody>
      </p:sp>
      <p:cxnSp>
        <p:nvCxnSpPr>
          <p:cNvPr id="6" name="Straight Arrow Connector 5"/>
          <p:cNvCxnSpPr>
            <a:stCxn id="7" idx="2"/>
          </p:cNvCxnSpPr>
          <p:nvPr/>
        </p:nvCxnSpPr>
        <p:spPr>
          <a:xfrm flipH="1">
            <a:off x="7272581" y="3375330"/>
            <a:ext cx="1" cy="466867"/>
          </a:xfrm>
          <a:prstGeom prst="straightConnector1">
            <a:avLst/>
          </a:prstGeom>
          <a:ln w="25400">
            <a:solidFill>
              <a:schemeClr val="accent6">
                <a:alpha val="60000"/>
              </a:schemeClr>
            </a:solidFill>
            <a:prstDash val="sysDot"/>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6769380" y="2528049"/>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6850458" y="2593218"/>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8896551" y="2528049"/>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7775783" y="2951690"/>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6769380" y="3842195"/>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6850458" y="3908555"/>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8774649" y="3904070"/>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024368" y="4003532"/>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292475" y="4609626"/>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377525" y="3436024"/>
            <a:ext cx="1705916" cy="338554"/>
          </a:xfrm>
          <a:prstGeom prst="rect">
            <a:avLst/>
          </a:prstGeom>
          <a:noFill/>
        </p:spPr>
        <p:txBody>
          <a:bodyPr wrap="none" rtlCol="0">
            <a:spAutoFit/>
          </a:bodyPr>
          <a:lstStyle/>
          <a:p>
            <a:r>
              <a:rPr lang="en-CA" sz="1600" i="1" dirty="0" smtClean="0">
                <a:solidFill>
                  <a:schemeClr val="bg1"/>
                </a:solidFill>
              </a:rPr>
              <a:t>missing pointer</a:t>
            </a:r>
            <a:endParaRPr lang="en-CA" sz="1600" i="1" dirty="0">
              <a:solidFill>
                <a:schemeClr val="bg1"/>
              </a:solidFill>
            </a:endParaRPr>
          </a:p>
        </p:txBody>
      </p:sp>
    </p:spTree>
    <p:extLst>
      <p:ext uri="{BB962C8B-B14F-4D97-AF65-F5344CB8AC3E}">
        <p14:creationId xmlns:p14="http://schemas.microsoft.com/office/powerpoint/2010/main" val="325491069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dirty="0" smtClean="0"/>
              <a:t>Implicit Pointer</a:t>
            </a:r>
            <a:endParaRPr lang="en-CA" dirty="0"/>
          </a:p>
        </p:txBody>
      </p:sp>
      <p:sp>
        <p:nvSpPr>
          <p:cNvPr id="3" name="Content Placeholder 2"/>
          <p:cNvSpPr>
            <a:spLocks noGrp="1"/>
          </p:cNvSpPr>
          <p:nvPr>
            <p:ph idx="1"/>
          </p:nvPr>
        </p:nvSpPr>
        <p:spPr>
          <a:xfrm>
            <a:off x="684211" y="1515358"/>
            <a:ext cx="10285797" cy="2205149"/>
          </a:xfrm>
        </p:spPr>
        <p:txBody>
          <a:bodyPr/>
          <a:lstStyle/>
          <a:p>
            <a:r>
              <a:rPr lang="en-CA" dirty="0" smtClean="0"/>
              <a:t>Solution: Implicit pointer</a:t>
            </a:r>
          </a:p>
          <a:p>
            <a:pPr lvl="1"/>
            <a:r>
              <a:rPr lang="en-CA" i="1" dirty="0" smtClean="0"/>
              <a:t>expr </a:t>
            </a:r>
            <a:r>
              <a:rPr lang="en-CA" dirty="0" smtClean="0"/>
              <a:t>specifies how to calculate address of the pointer</a:t>
            </a:r>
          </a:p>
          <a:p>
            <a:pPr lvl="2"/>
            <a:r>
              <a:rPr lang="en-CA" dirty="0" smtClean="0"/>
              <a:t>Expression can reference other fields in the structure</a:t>
            </a:r>
          </a:p>
          <a:p>
            <a:pPr lvl="1"/>
            <a:r>
              <a:rPr lang="en-CA" i="1" dirty="0" smtClean="0"/>
              <a:t>name</a:t>
            </a:r>
            <a:r>
              <a:rPr lang="en-CA" dirty="0" smtClean="0"/>
              <a:t> allows pointer to be accessed </a:t>
            </a:r>
            <a:endParaRPr lang="en-CA" i="1" dirty="0" smtClean="0"/>
          </a:p>
        </p:txBody>
      </p:sp>
      <p:sp>
        <p:nvSpPr>
          <p:cNvPr id="4" name="Slide Number Placeholder 3"/>
          <p:cNvSpPr>
            <a:spLocks noGrp="1"/>
          </p:cNvSpPr>
          <p:nvPr>
            <p:ph type="sldNum" sz="quarter" idx="12"/>
          </p:nvPr>
        </p:nvSpPr>
        <p:spPr/>
        <p:txBody>
          <a:bodyPr/>
          <a:lstStyle/>
          <a:p>
            <a:fld id="{7B2023C8-B124-43A9-8F92-0EEF5BAA9995}" type="slidenum">
              <a:rPr lang="en-CA" smtClean="0"/>
              <a:pPr/>
              <a:t>20</a:t>
            </a:fld>
            <a:endParaRPr lang="en-CA" dirty="0"/>
          </a:p>
        </p:txBody>
      </p:sp>
      <p:sp>
        <p:nvSpPr>
          <p:cNvPr id="5" name="Rectangle 4"/>
          <p:cNvSpPr/>
          <p:nvPr/>
        </p:nvSpPr>
        <p:spPr>
          <a:xfrm>
            <a:off x="942890" y="3434715"/>
            <a:ext cx="6641621" cy="1923604"/>
          </a:xfrm>
          <a:prstGeom prst="rect">
            <a:avLst/>
          </a:prstGeom>
        </p:spPr>
        <p:txBody>
          <a:bodyPr wrap="square">
            <a:spAutoFit/>
          </a:bodyPr>
          <a:lstStyle/>
          <a:p>
            <a:r>
              <a:rPr lang="en-CA" sz="1700" b="1" dirty="0">
                <a:solidFill>
                  <a:schemeClr val="bg1"/>
                </a:solidFill>
                <a:latin typeface="Courier New" panose="02070309020205020404" pitchFamily="49" charset="0"/>
                <a:cs typeface="Courier New" panose="02070309020205020404" pitchFamily="49" charset="0"/>
              </a:rPr>
              <a:t>FSSUPER</a:t>
            </a:r>
            <a:r>
              <a:rPr lang="en-CA" sz="1700" dirty="0">
                <a:solidFill>
                  <a:schemeClr val="bg1"/>
                </a:solidFill>
                <a:latin typeface="Courier New" panose="02070309020205020404" pitchFamily="49" charset="0"/>
                <a:cs typeface="Courier New" panose="02070309020205020404" pitchFamily="49" charset="0"/>
              </a:rPr>
              <a:t>(location=1024) ext4_super_block {</a:t>
            </a:r>
          </a:p>
          <a:p>
            <a:r>
              <a:rPr lang="en-CA" sz="1700" dirty="0">
                <a:solidFill>
                  <a:schemeClr val="bg1"/>
                </a:solidFill>
                <a:latin typeface="Courier New" panose="02070309020205020404" pitchFamily="49" charset="0"/>
                <a:cs typeface="Courier New" panose="02070309020205020404" pitchFamily="49" charset="0"/>
              </a:rPr>
              <a:t>  __le32 </a:t>
            </a:r>
            <a:r>
              <a:rPr lang="en-CA" sz="1700" dirty="0" err="1">
                <a:solidFill>
                  <a:schemeClr val="bg1"/>
                </a:solidFill>
                <a:latin typeface="Courier New" panose="02070309020205020404" pitchFamily="49" charset="0"/>
                <a:cs typeface="Courier New" panose="02070309020205020404" pitchFamily="49" charset="0"/>
              </a:rPr>
              <a:t>s_log_block_size</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  ...</a:t>
            </a:r>
          </a:p>
          <a:p>
            <a:r>
              <a:rPr lang="en-CA" sz="1700" dirty="0" smtClean="0">
                <a:solidFill>
                  <a:schemeClr val="bg1"/>
                </a:solidFill>
                <a:latin typeface="Courier New" panose="02070309020205020404" pitchFamily="49" charset="0"/>
                <a:cs typeface="Courier New" panose="02070309020205020404" pitchFamily="49" charset="0"/>
              </a:rPr>
              <a:t>  </a:t>
            </a:r>
            <a:r>
              <a:rPr lang="en-CA" sz="1700" b="1" dirty="0" smtClean="0">
                <a:solidFill>
                  <a:schemeClr val="bg1"/>
                </a:solidFill>
                <a:latin typeface="Courier New" panose="02070309020205020404" pitchFamily="49" charset="0"/>
                <a:cs typeface="Courier New" panose="02070309020205020404" pitchFamily="49" charset="0"/>
              </a:rPr>
              <a:t>POINTER</a:t>
            </a:r>
            <a:r>
              <a:rPr lang="en-CA" sz="1700" dirty="0" smtClean="0">
                <a:solidFill>
                  <a:schemeClr val="bg1"/>
                </a:solidFill>
                <a:latin typeface="Courier New" panose="02070309020205020404" pitchFamily="49" charset="0"/>
                <a:cs typeface="Courier New" panose="02070309020205020404" pitchFamily="49" charset="0"/>
              </a:rPr>
              <a:t>(</a:t>
            </a:r>
            <a:r>
              <a:rPr lang="en-CA" sz="17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name=</a:t>
            </a:r>
            <a:r>
              <a:rPr lang="en-CA" sz="1700" dirty="0" err="1"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s_block_group_desc</a:t>
            </a:r>
            <a:r>
              <a:rPr lang="en-CA" sz="1700" dirty="0">
                <a:solidFill>
                  <a:schemeClr val="bg1"/>
                </a:solidFill>
                <a:latin typeface="Courier New" panose="02070309020205020404" pitchFamily="49" charset="0"/>
                <a:cs typeface="Courier New" panose="02070309020205020404" pitchFamily="49" charset="0"/>
              </a:rPr>
              <a:t>,</a:t>
            </a:r>
          </a:p>
          <a:p>
            <a:r>
              <a:rPr lang="en-CA" sz="1700" dirty="0">
                <a:solidFill>
                  <a:schemeClr val="bg1"/>
                </a:solidFill>
                <a:latin typeface="Courier New" panose="02070309020205020404" pitchFamily="49" charset="0"/>
                <a:cs typeface="Courier New" panose="02070309020205020404" pitchFamily="49" charset="0"/>
              </a:rPr>
              <a:t>  type=ext4_group_desc_table, </a:t>
            </a:r>
            <a:r>
              <a:rPr lang="en-CA" sz="1700" dirty="0" err="1" smtClean="0">
                <a:solidFill>
                  <a:schemeClr val="bg1"/>
                </a:solidFill>
                <a:latin typeface="Courier New" panose="02070309020205020404" pitchFamily="49" charset="0"/>
                <a:cs typeface="Courier New" panose="02070309020205020404" pitchFamily="49" charset="0"/>
              </a:rPr>
              <a:t>addrspace</a:t>
            </a:r>
            <a:r>
              <a:rPr lang="en-CA" sz="1700" dirty="0" smtClean="0">
                <a:solidFill>
                  <a:schemeClr val="bg1"/>
                </a:solidFill>
                <a:latin typeface="Courier New" panose="02070309020205020404" pitchFamily="49" charset="0"/>
                <a:cs typeface="Courier New" panose="02070309020205020404" pitchFamily="49" charset="0"/>
              </a:rPr>
              <a:t>=block</a:t>
            </a:r>
            <a:r>
              <a:rPr lang="en-CA" sz="1700" dirty="0">
                <a:solidFill>
                  <a:schemeClr val="bg1"/>
                </a:solidFill>
                <a:latin typeface="Courier New" panose="02070309020205020404" pitchFamily="49" charset="0"/>
                <a:cs typeface="Courier New" panose="02070309020205020404" pitchFamily="49" charset="0"/>
              </a:rPr>
              <a:t>, </a:t>
            </a:r>
          </a:p>
          <a:p>
            <a:r>
              <a:rPr lang="en-CA" sz="1700" dirty="0">
                <a:solidFill>
                  <a:schemeClr val="bg1"/>
                </a:solidFill>
                <a:latin typeface="Courier New" panose="02070309020205020404" pitchFamily="49" charset="0"/>
                <a:cs typeface="Courier New" panose="02070309020205020404" pitchFamily="49" charset="0"/>
              </a:rPr>
              <a:t>  </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expr=(</a:t>
            </a:r>
            <a:r>
              <a:rPr lang="en-CA" sz="17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self.s_log_block_size</a:t>
            </a:r>
            <a:r>
              <a:rPr lang="en-CA" sz="17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 0) ? 2 : 1</a:t>
            </a:r>
            <a:r>
              <a:rPr lang="en-CA" sz="1700" dirty="0">
                <a:solidFill>
                  <a:schemeClr val="bg1"/>
                </a:solidFill>
                <a:latin typeface="Courier New" panose="02070309020205020404" pitchFamily="49" charset="0"/>
                <a:cs typeface="Courier New" panose="02070309020205020404" pitchFamily="49" charset="0"/>
              </a:rPr>
              <a:t>);</a:t>
            </a:r>
          </a:p>
          <a:p>
            <a:r>
              <a:rPr lang="en-CA" sz="1700" dirty="0" smtClean="0">
                <a:solidFill>
                  <a:schemeClr val="bg1"/>
                </a:solidFill>
                <a:latin typeface="Courier New" panose="02070309020205020404" pitchFamily="49" charset="0"/>
                <a:cs typeface="Courier New" panose="02070309020205020404" pitchFamily="49" charset="0"/>
              </a:rPr>
              <a:t>};</a:t>
            </a:r>
            <a:endParaRPr lang="en-CA" sz="1700" dirty="0">
              <a:solidFill>
                <a:schemeClr val="bg1"/>
              </a:solidFill>
              <a:latin typeface="Courier New" panose="02070309020205020404" pitchFamily="49" charset="0"/>
              <a:cs typeface="Courier New" panose="02070309020205020404" pitchFamily="49" charset="0"/>
            </a:endParaRPr>
          </a:p>
        </p:txBody>
      </p:sp>
      <p:cxnSp>
        <p:nvCxnSpPr>
          <p:cNvPr id="6" name="Straight Arrow Connector 5"/>
          <p:cNvCxnSpPr>
            <a:stCxn id="7" idx="2"/>
          </p:cNvCxnSpPr>
          <p:nvPr/>
        </p:nvCxnSpPr>
        <p:spPr>
          <a:xfrm flipH="1">
            <a:off x="7836112" y="3938844"/>
            <a:ext cx="1" cy="466867"/>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7" name="Rectangle 6"/>
          <p:cNvSpPr/>
          <p:nvPr/>
        </p:nvSpPr>
        <p:spPr>
          <a:xfrm>
            <a:off x="7332911" y="3091563"/>
            <a:ext cx="1006403" cy="847281"/>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8" name="Rectangle 7"/>
          <p:cNvSpPr/>
          <p:nvPr/>
        </p:nvSpPr>
        <p:spPr>
          <a:xfrm>
            <a:off x="7413989" y="3156732"/>
            <a:ext cx="844247" cy="533524"/>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super block</a:t>
            </a:r>
            <a:endParaRPr lang="en-US" sz="1600" dirty="0">
              <a:solidFill>
                <a:schemeClr val="bg1"/>
              </a:solidFill>
            </a:endParaRPr>
          </a:p>
        </p:txBody>
      </p:sp>
      <p:grpSp>
        <p:nvGrpSpPr>
          <p:cNvPr id="9" name="Group 8"/>
          <p:cNvGrpSpPr/>
          <p:nvPr/>
        </p:nvGrpSpPr>
        <p:grpSpPr>
          <a:xfrm>
            <a:off x="9460082" y="3091563"/>
            <a:ext cx="1737015" cy="847281"/>
            <a:chOff x="24275265" y="2491036"/>
            <a:chExt cx="2219388" cy="1473330"/>
          </a:xfrm>
        </p:grpSpPr>
        <p:sp>
          <p:nvSpPr>
            <p:cNvPr id="10" name="Rectangle 9"/>
            <p:cNvSpPr/>
            <p:nvPr/>
          </p:nvSpPr>
          <p:spPr>
            <a:xfrm>
              <a:off x="24275265" y="2491036"/>
              <a:ext cx="2219388" cy="1473330"/>
            </a:xfrm>
            <a:prstGeom prst="rect">
              <a:avLst/>
            </a:prstGeom>
            <a:solidFill>
              <a:schemeClr val="accent5">
                <a:lumMod val="20000"/>
                <a:lumOff val="80000"/>
              </a:schemeClr>
            </a:solidFill>
            <a:ln w="12700">
              <a:solidFill>
                <a:schemeClr val="bg1">
                  <a:lumMod val="50000"/>
                  <a:lumOff val="50000"/>
                </a:schemeClr>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1" name="Rectangle 10"/>
            <p:cNvSpPr/>
            <p:nvPr/>
          </p:nvSpPr>
          <p:spPr>
            <a:xfrm>
              <a:off x="24366499" y="2604357"/>
              <a:ext cx="1771964" cy="572323"/>
            </a:xfrm>
            <a:prstGeom prst="rect">
              <a:avLst/>
            </a:prstGeom>
            <a:solidFill>
              <a:schemeClr val="tx1"/>
            </a:solidFill>
            <a:ln w="12700">
              <a:solidFill>
                <a:schemeClr val="bg1">
                  <a:lumMod val="50000"/>
                  <a:lumOff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lumMod val="50000"/>
                      <a:lumOff val="50000"/>
                    </a:schemeClr>
                  </a:solidFill>
                </a:rPr>
                <a:t>ext4 journal</a:t>
              </a:r>
              <a:endParaRPr lang="en-US" sz="1600" dirty="0">
                <a:solidFill>
                  <a:schemeClr val="bg1">
                    <a:lumMod val="50000"/>
                    <a:lumOff val="50000"/>
                  </a:schemeClr>
                </a:solidFill>
              </a:endParaRPr>
            </a:p>
          </p:txBody>
        </p:sp>
      </p:grpSp>
      <p:cxnSp>
        <p:nvCxnSpPr>
          <p:cNvPr id="12" name="Straight Arrow Connector 11"/>
          <p:cNvCxnSpPr>
            <a:stCxn id="7" idx="3"/>
            <a:endCxn id="10" idx="1"/>
          </p:cNvCxnSpPr>
          <p:nvPr/>
        </p:nvCxnSpPr>
        <p:spPr>
          <a:xfrm>
            <a:off x="8339314" y="3515204"/>
            <a:ext cx="1120765" cy="0"/>
          </a:xfrm>
          <a:prstGeom prst="straightConnector1">
            <a:avLst/>
          </a:prstGeom>
          <a:ln w="63500">
            <a:solidFill>
              <a:schemeClr val="accent6">
                <a:alpha val="2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sp>
        <p:nvSpPr>
          <p:cNvPr id="13" name="Rectangle 12"/>
          <p:cNvSpPr/>
          <p:nvPr/>
        </p:nvSpPr>
        <p:spPr>
          <a:xfrm>
            <a:off x="7332911" y="4405709"/>
            <a:ext cx="3864184" cy="954429"/>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14" name="Rectangle 13"/>
          <p:cNvSpPr/>
          <p:nvPr/>
        </p:nvSpPr>
        <p:spPr>
          <a:xfrm>
            <a:off x="7413989" y="4472069"/>
            <a:ext cx="1826320" cy="569021"/>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block group descriptor table</a:t>
            </a:r>
            <a:endParaRPr lang="en-US" sz="1600" dirty="0">
              <a:solidFill>
                <a:schemeClr val="bg1"/>
              </a:solidFill>
            </a:endParaRPr>
          </a:p>
        </p:txBody>
      </p:sp>
      <p:sp>
        <p:nvSpPr>
          <p:cNvPr id="15" name="Rounded Rectangle 14"/>
          <p:cNvSpPr/>
          <p:nvPr/>
        </p:nvSpPr>
        <p:spPr>
          <a:xfrm>
            <a:off x="9338180" y="4467584"/>
            <a:ext cx="1295177" cy="795454"/>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smtClean="0">
                <a:solidFill>
                  <a:schemeClr val="tx1"/>
                </a:solidFill>
              </a:rPr>
              <a:t>block group descriptor</a:t>
            </a:r>
            <a:endParaRPr lang="zh-TW" altLang="en-US" sz="1600" dirty="0">
              <a:solidFill>
                <a:schemeClr val="tx1"/>
              </a:solidFill>
            </a:endParaRPr>
          </a:p>
        </p:txBody>
      </p:sp>
      <p:sp>
        <p:nvSpPr>
          <p:cNvPr id="17" name="TextBox 16"/>
          <p:cNvSpPr txBox="1"/>
          <p:nvPr/>
        </p:nvSpPr>
        <p:spPr>
          <a:xfrm>
            <a:off x="10587899" y="4567046"/>
            <a:ext cx="492443" cy="461665"/>
          </a:xfrm>
          <a:prstGeom prst="rect">
            <a:avLst/>
          </a:prstGeom>
          <a:noFill/>
        </p:spPr>
        <p:txBody>
          <a:bodyPr wrap="none" rtlCol="0">
            <a:spAutoFit/>
          </a:bodyPr>
          <a:lstStyle/>
          <a:p>
            <a:r>
              <a:rPr lang="en-CA" sz="2400" dirty="0" smtClean="0">
                <a:solidFill>
                  <a:schemeClr val="bg1"/>
                </a:solidFill>
              </a:rPr>
              <a:t>…</a:t>
            </a:r>
            <a:endParaRPr lang="en-CA" sz="2400" dirty="0">
              <a:solidFill>
                <a:schemeClr val="bg1"/>
              </a:solidFill>
            </a:endParaRPr>
          </a:p>
        </p:txBody>
      </p:sp>
      <p:grpSp>
        <p:nvGrpSpPr>
          <p:cNvPr id="18" name="Group 17"/>
          <p:cNvGrpSpPr/>
          <p:nvPr/>
        </p:nvGrpSpPr>
        <p:grpSpPr>
          <a:xfrm rot="5400000">
            <a:off x="9856006" y="5173140"/>
            <a:ext cx="294823" cy="533101"/>
            <a:chOff x="27236633" y="9932056"/>
            <a:chExt cx="578250" cy="990600"/>
          </a:xfrm>
        </p:grpSpPr>
        <p:cxnSp>
          <p:nvCxnSpPr>
            <p:cNvPr id="19" name="Straight Arrow Connector 18"/>
            <p:cNvCxnSpPr/>
            <p:nvPr/>
          </p:nvCxnSpPr>
          <p:spPr>
            <a:xfrm>
              <a:off x="27236633" y="104273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a:off x="27236633" y="109226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Straight Arrow Connector 20"/>
            <p:cNvCxnSpPr/>
            <p:nvPr/>
          </p:nvCxnSpPr>
          <p:spPr>
            <a:xfrm>
              <a:off x="27236633" y="9932056"/>
              <a:ext cx="578250" cy="0"/>
            </a:xfrm>
            <a:prstGeom prst="straightConnector1">
              <a:avLst/>
            </a:prstGeom>
            <a:ln w="63500">
              <a:solidFill>
                <a:schemeClr val="accent6">
                  <a:alpha val="60000"/>
                </a:schemeClr>
              </a:solidFill>
              <a:tailEnd type="triangle"/>
            </a:ln>
          </p:spPr>
          <p:style>
            <a:lnRef idx="1">
              <a:schemeClr val="accent1"/>
            </a:lnRef>
            <a:fillRef idx="0">
              <a:schemeClr val="accent1"/>
            </a:fillRef>
            <a:effectRef idx="0">
              <a:schemeClr val="accent1"/>
            </a:effectRef>
            <a:fontRef idx="minor">
              <a:schemeClr val="tx1"/>
            </a:fontRef>
          </p:style>
        </p:cxnSp>
      </p:grpSp>
      <p:sp>
        <p:nvSpPr>
          <p:cNvPr id="22" name="TextBox 21"/>
          <p:cNvSpPr txBox="1"/>
          <p:nvPr/>
        </p:nvSpPr>
        <p:spPr>
          <a:xfrm>
            <a:off x="7941056" y="3999538"/>
            <a:ext cx="1651414" cy="338554"/>
          </a:xfrm>
          <a:prstGeom prst="rect">
            <a:avLst/>
          </a:prstGeom>
          <a:noFill/>
        </p:spPr>
        <p:txBody>
          <a:bodyPr wrap="none" rtlCol="0">
            <a:spAutoFit/>
          </a:bodyPr>
          <a:lstStyle/>
          <a:p>
            <a:r>
              <a:rPr lang="en-CA" sz="1600" i="1" dirty="0">
                <a:solidFill>
                  <a:schemeClr val="bg1"/>
                </a:solidFill>
              </a:rPr>
              <a:t>i</a:t>
            </a:r>
            <a:r>
              <a:rPr lang="en-CA" sz="1600" i="1" dirty="0" smtClean="0">
                <a:solidFill>
                  <a:schemeClr val="bg1"/>
                </a:solidFill>
              </a:rPr>
              <a:t>mplicit pointer</a:t>
            </a:r>
            <a:endParaRPr lang="en-CA" sz="1600" i="1" dirty="0">
              <a:solidFill>
                <a:schemeClr val="bg1"/>
              </a:solidFill>
            </a:endParaRPr>
          </a:p>
        </p:txBody>
      </p:sp>
    </p:spTree>
    <p:extLst>
      <p:ext uri="{BB962C8B-B14F-4D97-AF65-F5344CB8AC3E}">
        <p14:creationId xmlns:p14="http://schemas.microsoft.com/office/powerpoint/2010/main" val="247439990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WHEN expression</a:t>
            </a:r>
            <a:endParaRPr lang="en-CA" dirty="0"/>
          </a:p>
        </p:txBody>
      </p:sp>
      <p:sp>
        <p:nvSpPr>
          <p:cNvPr id="3" name="Content Placeholder 2"/>
          <p:cNvSpPr>
            <a:spLocks noGrp="1"/>
          </p:cNvSpPr>
          <p:nvPr>
            <p:ph idx="1"/>
          </p:nvPr>
        </p:nvSpPr>
        <p:spPr/>
        <p:txBody>
          <a:bodyPr/>
          <a:lstStyle/>
          <a:p>
            <a:r>
              <a:rPr lang="en-CA" dirty="0" smtClean="0"/>
              <a:t>Context-Sensitive Types</a:t>
            </a:r>
          </a:p>
          <a:p>
            <a:pPr lvl="1"/>
            <a:r>
              <a:rPr lang="en-CA" dirty="0" smtClean="0"/>
              <a:t>E.g., pointers may point to different types of metadata</a:t>
            </a:r>
          </a:p>
          <a:p>
            <a:pPr lvl="2"/>
            <a:r>
              <a:rPr lang="en-CA" dirty="0" smtClean="0"/>
              <a:t>Pointers in </a:t>
            </a:r>
            <a:r>
              <a:rPr lang="en-CA" dirty="0" err="1" smtClean="0"/>
              <a:t>inode</a:t>
            </a:r>
            <a:r>
              <a:rPr lang="en-CA" dirty="0" smtClean="0"/>
              <a:t> point to directory blocks if </a:t>
            </a:r>
            <a:r>
              <a:rPr lang="en-CA" dirty="0" err="1" smtClean="0"/>
              <a:t>inode</a:t>
            </a:r>
            <a:r>
              <a:rPr lang="en-CA" dirty="0" smtClean="0"/>
              <a:t> is directory</a:t>
            </a:r>
          </a:p>
          <a:p>
            <a:pPr lvl="2"/>
            <a:r>
              <a:rPr lang="en-CA" dirty="0" smtClean="0"/>
              <a:t>Supported by specifying </a:t>
            </a:r>
            <a:r>
              <a:rPr lang="en-CA" i="1" dirty="0" smtClean="0"/>
              <a:t>when </a:t>
            </a:r>
            <a:r>
              <a:rPr lang="en-CA" dirty="0" smtClean="0"/>
              <a:t>expression in POINTER annotation</a:t>
            </a:r>
          </a:p>
        </p:txBody>
      </p:sp>
      <p:sp>
        <p:nvSpPr>
          <p:cNvPr id="4" name="Slide Number Placeholder 3"/>
          <p:cNvSpPr>
            <a:spLocks noGrp="1"/>
          </p:cNvSpPr>
          <p:nvPr>
            <p:ph type="sldNum" sz="quarter" idx="12"/>
          </p:nvPr>
        </p:nvSpPr>
        <p:spPr/>
        <p:txBody>
          <a:bodyPr/>
          <a:lstStyle/>
          <a:p>
            <a:fld id="{7B2023C8-B124-43A9-8F92-0EEF5BAA9995}" type="slidenum">
              <a:rPr lang="en-CA" smtClean="0"/>
              <a:pPr/>
              <a:t>21</a:t>
            </a:fld>
            <a:endParaRPr lang="en-CA" dirty="0"/>
          </a:p>
        </p:txBody>
      </p:sp>
      <p:sp>
        <p:nvSpPr>
          <p:cNvPr id="46" name="Rectangle 45"/>
          <p:cNvSpPr/>
          <p:nvPr/>
        </p:nvSpPr>
        <p:spPr>
          <a:xfrm>
            <a:off x="986658" y="3389050"/>
            <a:ext cx="5441519" cy="2554545"/>
          </a:xfrm>
          <a:prstGeom prst="rect">
            <a:avLst/>
          </a:prstGeom>
        </p:spPr>
        <p:txBody>
          <a:bodyPr wrap="square">
            <a:spAutoFit/>
          </a:bodyPr>
          <a:lstStyle/>
          <a:p>
            <a:r>
              <a:rPr lang="en-CA" sz="1600" b="1" dirty="0">
                <a:solidFill>
                  <a:schemeClr val="bg1"/>
                </a:solidFill>
                <a:latin typeface="Courier New" panose="02070309020205020404" pitchFamily="49" charset="0"/>
                <a:cs typeface="Courier New" panose="02070309020205020404" pitchFamily="49" charset="0"/>
              </a:rPr>
              <a:t>FSSTRUCT</a:t>
            </a:r>
            <a:r>
              <a:rPr lang="en-CA" sz="1600" dirty="0" smtClean="0">
                <a:solidFill>
                  <a:schemeClr val="bg1"/>
                </a:solidFill>
                <a:latin typeface="Courier New" panose="02070309020205020404" pitchFamily="49" charset="0"/>
                <a:cs typeface="Courier New" panose="02070309020205020404" pitchFamily="49" charset="0"/>
              </a:rPr>
              <a:t>(...) ext4_inode {</a:t>
            </a:r>
            <a:endParaRPr lang="en-CA" sz="1600" dirty="0">
              <a:solidFill>
                <a:schemeClr val="bg1"/>
              </a:solidFill>
              <a:latin typeface="Courier New" panose="02070309020205020404" pitchFamily="49" charset="0"/>
              <a:cs typeface="Courier New" panose="02070309020205020404" pitchFamily="49" charset="0"/>
            </a:endParaRPr>
          </a:p>
          <a:p>
            <a:r>
              <a:rPr lang="en-CA" sz="1600" dirty="0">
                <a:solidFill>
                  <a:schemeClr val="bg1"/>
                </a:solidFill>
                <a:latin typeface="Courier New" panose="02070309020205020404" pitchFamily="49" charset="0"/>
                <a:cs typeface="Courier New" panose="02070309020205020404" pitchFamily="49" charset="0"/>
              </a:rPr>
              <a:t>  __le16 </a:t>
            </a:r>
            <a:r>
              <a:rPr lang="en-CA" sz="1600" dirty="0" err="1">
                <a:solidFill>
                  <a:schemeClr val="bg1"/>
                </a:solidFill>
                <a:latin typeface="Courier New" panose="02070309020205020404" pitchFamily="49" charset="0"/>
                <a:cs typeface="Courier New" panose="02070309020205020404" pitchFamily="49" charset="0"/>
              </a:rPr>
              <a:t>i_mode</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p>
          <a:p>
            <a:r>
              <a:rPr lang="en-CA" sz="1600" dirty="0">
                <a:solidFill>
                  <a:schemeClr val="bg1"/>
                </a:solidFill>
                <a:latin typeface="Courier New" panose="02070309020205020404" pitchFamily="49" charset="0"/>
                <a:cs typeface="Courier New" panose="02070309020205020404" pitchFamily="49" charset="0"/>
              </a:rPr>
              <a:t>  </a:t>
            </a:r>
            <a:r>
              <a:rPr lang="en-CA" sz="1600" b="1" dirty="0" smtClean="0">
                <a:solidFill>
                  <a:schemeClr val="bg1"/>
                </a:solidFill>
                <a:latin typeface="Courier New" panose="02070309020205020404" pitchFamily="49" charset="0"/>
                <a:cs typeface="Courier New" panose="02070309020205020404" pitchFamily="49" charset="0"/>
              </a:rPr>
              <a:t>POINTER</a:t>
            </a:r>
            <a:r>
              <a:rPr lang="en-CA" sz="1600" dirty="0" smtClean="0">
                <a:solidFill>
                  <a:schemeClr val="bg1"/>
                </a:solidFill>
                <a:latin typeface="Courier New" panose="02070309020205020404" pitchFamily="49" charset="0"/>
                <a:cs typeface="Courier New" panose="02070309020205020404" pitchFamily="49" charset="0"/>
              </a:rPr>
              <a:t>(</a:t>
            </a:r>
            <a:r>
              <a:rPr lang="en-CA" sz="1600" dirty="0" err="1" smtClean="0">
                <a:solidFill>
                  <a:schemeClr val="bg1"/>
                </a:solidFill>
                <a:latin typeface="Courier New" panose="02070309020205020404" pitchFamily="49" charset="0"/>
                <a:cs typeface="Courier New" panose="02070309020205020404" pitchFamily="49" charset="0"/>
              </a:rPr>
              <a:t>addrspace</a:t>
            </a:r>
            <a:r>
              <a:rPr lang="en-CA" sz="1600" dirty="0" smtClean="0">
                <a:solidFill>
                  <a:schemeClr val="bg1"/>
                </a:solidFill>
                <a:latin typeface="Courier New" panose="02070309020205020404" pitchFamily="49" charset="0"/>
                <a:cs typeface="Courier New" panose="02070309020205020404" pitchFamily="49" charset="0"/>
              </a:rPr>
              <a:t>=block</a:t>
            </a:r>
            <a:r>
              <a:rPr lang="en-CA" sz="1600" dirty="0">
                <a:solidFill>
                  <a:schemeClr val="bg1"/>
                </a:solidFill>
                <a:latin typeface="Courier New" panose="02070309020205020404" pitchFamily="49" charset="0"/>
                <a:cs typeface="Courier New" panose="02070309020205020404" pitchFamily="49" charset="0"/>
              </a:rPr>
              <a:t>, type=</a:t>
            </a:r>
            <a:r>
              <a:rPr lang="en-CA" sz="1600" dirty="0" err="1">
                <a:solidFill>
                  <a:schemeClr val="bg1"/>
                </a:solidFill>
                <a:latin typeface="Courier New" panose="02070309020205020404" pitchFamily="49" charset="0"/>
                <a:cs typeface="Courier New" panose="02070309020205020404" pitchFamily="49" charset="0"/>
              </a:rPr>
              <a:t>dir_block</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sz="16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a:t>
            </a:r>
            <a:r>
              <a:rPr lang="en-CA" sz="1600" dirty="0" smtClean="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S_IFDIR</a:t>
            </a:r>
            <a:r>
              <a:rPr lang="en-CA" sz="1600" dirty="0" smtClean="0">
                <a:solidFill>
                  <a:schemeClr val="bg1"/>
                </a:solidFill>
                <a:latin typeface="Courier New" panose="02070309020205020404" pitchFamily="49" charset="0"/>
                <a:cs typeface="Courier New" panose="02070309020205020404" pitchFamily="49" charset="0"/>
              </a:rPr>
              <a:t>)</a:t>
            </a:r>
            <a:endParaRPr lang="en-CA" sz="1600" dirty="0">
              <a:solidFill>
                <a:schemeClr val="bg1"/>
              </a:solidFill>
              <a:latin typeface="Courier New" panose="02070309020205020404" pitchFamily="49" charset="0"/>
              <a:cs typeface="Courier New" panose="02070309020205020404" pitchFamily="49" charset="0"/>
            </a:endParaRPr>
          </a:p>
          <a:p>
            <a:r>
              <a:rPr lang="en-CA" sz="1600" dirty="0">
                <a:solidFill>
                  <a:schemeClr val="bg1"/>
                </a:solidFill>
                <a:latin typeface="Courier New" panose="02070309020205020404" pitchFamily="49" charset="0"/>
                <a:cs typeface="Courier New" panose="02070309020205020404" pitchFamily="49" charset="0"/>
              </a:rPr>
              <a:t>  </a:t>
            </a:r>
            <a:r>
              <a:rPr lang="en-CA" sz="1600" b="1" dirty="0" smtClean="0">
                <a:solidFill>
                  <a:schemeClr val="bg1"/>
                </a:solidFill>
                <a:latin typeface="Courier New" panose="02070309020205020404" pitchFamily="49" charset="0"/>
                <a:cs typeface="Courier New" panose="02070309020205020404" pitchFamily="49" charset="0"/>
              </a:rPr>
              <a:t>POINTER</a:t>
            </a:r>
            <a:r>
              <a:rPr lang="en-CA" sz="1600" dirty="0" smtClean="0">
                <a:solidFill>
                  <a:schemeClr val="bg1"/>
                </a:solidFill>
                <a:latin typeface="Courier New" panose="02070309020205020404" pitchFamily="49" charset="0"/>
                <a:cs typeface="Courier New" panose="02070309020205020404" pitchFamily="49" charset="0"/>
              </a:rPr>
              <a:t>(</a:t>
            </a:r>
            <a:r>
              <a:rPr lang="en-CA" sz="1600" dirty="0" err="1" smtClean="0">
                <a:solidFill>
                  <a:schemeClr val="bg1"/>
                </a:solidFill>
                <a:latin typeface="Courier New" panose="02070309020205020404" pitchFamily="49" charset="0"/>
                <a:cs typeface="Courier New" panose="02070309020205020404" pitchFamily="49" charset="0"/>
              </a:rPr>
              <a:t>addrspace</a:t>
            </a:r>
            <a:r>
              <a:rPr lang="en-CA" sz="1600" dirty="0" smtClean="0">
                <a:solidFill>
                  <a:schemeClr val="bg1"/>
                </a:solidFill>
                <a:latin typeface="Courier New" panose="02070309020205020404" pitchFamily="49" charset="0"/>
                <a:cs typeface="Courier New" panose="02070309020205020404" pitchFamily="49" charset="0"/>
              </a:rPr>
              <a:t>=block</a:t>
            </a:r>
            <a:r>
              <a:rPr lang="en-CA" sz="1600" dirty="0">
                <a:solidFill>
                  <a:schemeClr val="bg1"/>
                </a:solidFill>
                <a:latin typeface="Courier New" panose="02070309020205020404" pitchFamily="49" charset="0"/>
                <a:cs typeface="Courier New" panose="02070309020205020404" pitchFamily="49" charset="0"/>
              </a:rPr>
              <a:t>, </a:t>
            </a:r>
            <a:r>
              <a:rPr lang="en-CA" sz="1600" dirty="0" smtClean="0">
                <a:solidFill>
                  <a:schemeClr val="bg1"/>
                </a:solidFill>
                <a:latin typeface="Courier New" panose="02070309020205020404" pitchFamily="49" charset="0"/>
                <a:cs typeface="Courier New" panose="02070309020205020404" pitchFamily="49" charset="0"/>
              </a:rPr>
              <a:t>type=</a:t>
            </a:r>
            <a:r>
              <a:rPr lang="en-CA" sz="1600" dirty="0" err="1" smtClean="0">
                <a:solidFill>
                  <a:schemeClr val="bg1"/>
                </a:solidFill>
                <a:latin typeface="Courier New" panose="02070309020205020404" pitchFamily="49" charset="0"/>
                <a:cs typeface="Courier New" panose="02070309020205020404" pitchFamily="49" charset="0"/>
              </a:rPr>
              <a:t>data_block</a:t>
            </a:r>
            <a:r>
              <a:rPr lang="en-CA" sz="1600" dirty="0" smtClean="0">
                <a:solidFill>
                  <a:schemeClr val="bg1"/>
                </a:solidFill>
                <a:latin typeface="Courier New" panose="02070309020205020404" pitchFamily="49" charset="0"/>
                <a:cs typeface="Courier New" panose="02070309020205020404" pitchFamily="49" charset="0"/>
              </a:rPr>
              <a:t>,</a:t>
            </a:r>
          </a:p>
          <a:p>
            <a:r>
              <a:rPr lang="en-CA" sz="1600" dirty="0" smtClean="0">
                <a:solidFill>
                  <a:schemeClr val="bg1"/>
                </a:solidFill>
                <a:latin typeface="Courier New" panose="02070309020205020404" pitchFamily="49" charset="0"/>
                <a:cs typeface="Courier New" panose="02070309020205020404" pitchFamily="49" charset="0"/>
              </a:rPr>
              <a:t>          </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when=</a:t>
            </a:r>
            <a:r>
              <a:rPr lang="en-CA" sz="1600" dirty="0" err="1">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self.i_mode</a:t>
            </a:r>
            <a:r>
              <a:rPr lang="en-CA" sz="1600" dirty="0">
                <a:solidFill>
                  <a:schemeClr val="bg1"/>
                </a:solidFill>
                <a:effectLst>
                  <a:glow rad="101600">
                    <a:srgbClr val="FFFF00">
                      <a:alpha val="40000"/>
                    </a:srgbClr>
                  </a:glow>
                </a:effectLst>
                <a:latin typeface="Courier New" panose="02070309020205020404" pitchFamily="49" charset="0"/>
                <a:cs typeface="Courier New" panose="02070309020205020404" pitchFamily="49" charset="0"/>
              </a:rPr>
              <a:t> &amp; S_IFREG</a:t>
            </a:r>
            <a:r>
              <a:rPr lang="en-CA" sz="1600" dirty="0">
                <a:solidFill>
                  <a:schemeClr val="bg1"/>
                </a:solidFill>
                <a:latin typeface="Courier New" panose="02070309020205020404" pitchFamily="49" charset="0"/>
                <a:cs typeface="Courier New" panose="02070309020205020404" pitchFamily="49" charset="0"/>
              </a:rPr>
              <a:t>)                 </a:t>
            </a:r>
          </a:p>
          <a:p>
            <a:r>
              <a:rPr lang="en-CA" sz="1600" dirty="0">
                <a:solidFill>
                  <a:schemeClr val="bg1"/>
                </a:solidFill>
                <a:latin typeface="Courier New" panose="02070309020205020404" pitchFamily="49" charset="0"/>
                <a:cs typeface="Courier New" panose="02070309020205020404" pitchFamily="49" charset="0"/>
              </a:rPr>
              <a:t>  __</a:t>
            </a:r>
            <a:r>
              <a:rPr lang="en-CA" sz="1600" dirty="0" smtClean="0">
                <a:solidFill>
                  <a:schemeClr val="bg1"/>
                </a:solidFill>
                <a:latin typeface="Courier New" panose="02070309020205020404" pitchFamily="49" charset="0"/>
                <a:cs typeface="Courier New" panose="02070309020205020404" pitchFamily="49" charset="0"/>
              </a:rPr>
              <a:t>le32 </a:t>
            </a:r>
            <a:r>
              <a:rPr lang="en-CA" sz="1600" dirty="0" err="1" smtClean="0">
                <a:solidFill>
                  <a:schemeClr val="bg1"/>
                </a:solidFill>
                <a:latin typeface="Courier New" panose="02070309020205020404" pitchFamily="49" charset="0"/>
                <a:cs typeface="Courier New" panose="02070309020205020404" pitchFamily="49" charset="0"/>
              </a:rPr>
              <a:t>i_block</a:t>
            </a:r>
            <a:r>
              <a:rPr lang="en-CA" sz="1600" dirty="0" smtClean="0">
                <a:solidFill>
                  <a:schemeClr val="bg1"/>
                </a:solidFill>
                <a:latin typeface="Courier New" panose="02070309020205020404" pitchFamily="49" charset="0"/>
                <a:cs typeface="Courier New" panose="02070309020205020404" pitchFamily="49" charset="0"/>
              </a:rPr>
              <a:t>[EXT3_NDIR_BLOCKS</a:t>
            </a:r>
            <a:r>
              <a:rPr lang="en-CA" sz="1600" dirty="0">
                <a:solidFill>
                  <a:schemeClr val="bg1"/>
                </a:solidFill>
                <a:latin typeface="Courier New" panose="02070309020205020404" pitchFamily="49" charset="0"/>
                <a:cs typeface="Courier New" panose="02070309020205020404" pitchFamily="49" charset="0"/>
              </a:rPr>
              <a:t>];</a:t>
            </a:r>
          </a:p>
          <a:p>
            <a:r>
              <a:rPr lang="en-CA" sz="1600" dirty="0">
                <a:solidFill>
                  <a:schemeClr val="bg1"/>
                </a:solidFill>
                <a:latin typeface="Courier New" panose="02070309020205020404" pitchFamily="49" charset="0"/>
                <a:cs typeface="Courier New" panose="02070309020205020404" pitchFamily="49" charset="0"/>
              </a:rPr>
              <a:t>   …</a:t>
            </a:r>
          </a:p>
          <a:p>
            <a:r>
              <a:rPr lang="en-CA" sz="1600" dirty="0" smtClean="0">
                <a:solidFill>
                  <a:schemeClr val="bg1"/>
                </a:solidFill>
                <a:latin typeface="Courier New" panose="02070309020205020404" pitchFamily="49" charset="0"/>
                <a:cs typeface="Courier New" panose="02070309020205020404" pitchFamily="49" charset="0"/>
              </a:rPr>
              <a:t>};</a:t>
            </a:r>
            <a:endParaRPr lang="en-CA" sz="1600" dirty="0">
              <a:solidFill>
                <a:schemeClr val="bg1"/>
              </a:solidFill>
              <a:latin typeface="Courier New" panose="02070309020205020404" pitchFamily="49" charset="0"/>
              <a:cs typeface="Courier New" panose="02070309020205020404" pitchFamily="49" charset="0"/>
            </a:endParaRPr>
          </a:p>
        </p:txBody>
      </p:sp>
      <p:grpSp>
        <p:nvGrpSpPr>
          <p:cNvPr id="51" name="Group 50"/>
          <p:cNvGrpSpPr/>
          <p:nvPr/>
        </p:nvGrpSpPr>
        <p:grpSpPr>
          <a:xfrm>
            <a:off x="6696147" y="3389050"/>
            <a:ext cx="4005890" cy="2329679"/>
            <a:chOff x="6381750" y="2764522"/>
            <a:chExt cx="4520240" cy="2891821"/>
          </a:xfrm>
        </p:grpSpPr>
        <p:grpSp>
          <p:nvGrpSpPr>
            <p:cNvPr id="8" name="Group 7"/>
            <p:cNvGrpSpPr/>
            <p:nvPr/>
          </p:nvGrpSpPr>
          <p:grpSpPr>
            <a:xfrm>
              <a:off x="6381750" y="2764522"/>
              <a:ext cx="4520240" cy="1416953"/>
              <a:chOff x="23807537" y="2491038"/>
              <a:chExt cx="4669172" cy="1473330"/>
            </a:xfrm>
          </p:grpSpPr>
          <p:sp>
            <p:nvSpPr>
              <p:cNvPr id="43" name="Rectangle 42"/>
              <p:cNvSpPr/>
              <p:nvPr/>
            </p:nvSpPr>
            <p:spPr>
              <a:xfrm>
                <a:off x="23807537" y="2491038"/>
                <a:ext cx="4669172" cy="1473330"/>
              </a:xfrm>
              <a:prstGeom prst="rect">
                <a:avLst/>
              </a:prstGeom>
              <a:solidFill>
                <a:schemeClr val="accent5">
                  <a:lumMod val="40000"/>
                  <a:lumOff val="60000"/>
                </a:schemeClr>
              </a:solid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4" name="TextBox 43"/>
              <p:cNvSpPr txBox="1"/>
              <p:nvPr/>
            </p:nvSpPr>
            <p:spPr>
              <a:xfrm>
                <a:off x="26976511" y="2607046"/>
                <a:ext cx="1285884" cy="352024"/>
              </a:xfrm>
              <a:prstGeom prst="rect">
                <a:avLst/>
              </a:prstGeom>
              <a:noFill/>
              <a:ln w="12700">
                <a:solidFill>
                  <a:schemeClr val="accent6">
                    <a:lumMod val="60000"/>
                    <a:lumOff val="40000"/>
                  </a:schemeClr>
                </a:solidFill>
              </a:ln>
            </p:spPr>
            <p:txBody>
              <a:bodyPr wrap="square" rtlCol="0">
                <a:spAutoFit/>
              </a:bodyPr>
              <a:lstStyle/>
              <a:p>
                <a:r>
                  <a:rPr lang="en-US" altLang="zh-TW" sz="1600" dirty="0" smtClean="0">
                    <a:solidFill>
                      <a:schemeClr val="accent2">
                        <a:lumMod val="50000"/>
                      </a:schemeClr>
                    </a:solidFill>
                  </a:rPr>
                  <a:t>….</a:t>
                </a:r>
                <a:endParaRPr lang="zh-TW" altLang="en-US" sz="1600" dirty="0">
                  <a:solidFill>
                    <a:schemeClr val="accent2">
                      <a:lumMod val="50000"/>
                    </a:schemeClr>
                  </a:solidFill>
                </a:endParaRPr>
              </a:p>
            </p:txBody>
          </p:sp>
          <p:sp>
            <p:nvSpPr>
              <p:cNvPr id="45" name="Rectangle 44"/>
              <p:cNvSpPr/>
              <p:nvPr/>
            </p:nvSpPr>
            <p:spPr>
              <a:xfrm>
                <a:off x="26798399" y="2563046"/>
                <a:ext cx="1606114" cy="504056"/>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inode</a:t>
                </a:r>
                <a:r>
                  <a:rPr lang="en-US" sz="1600" dirty="0" smtClean="0">
                    <a:solidFill>
                      <a:schemeClr val="bg1"/>
                    </a:solidFill>
                  </a:rPr>
                  <a:t> block</a:t>
                </a:r>
                <a:endParaRPr lang="en-US" sz="1600" dirty="0">
                  <a:solidFill>
                    <a:schemeClr val="bg1"/>
                  </a:solidFill>
                </a:endParaRPr>
              </a:p>
            </p:txBody>
          </p:sp>
        </p:grpSp>
        <p:sp>
          <p:nvSpPr>
            <p:cNvPr id="9" name="Rounded Rectangle 8"/>
            <p:cNvSpPr/>
            <p:nvPr/>
          </p:nvSpPr>
          <p:spPr>
            <a:xfrm>
              <a:off x="6523701"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a:t>
              </a:r>
              <a:r>
                <a:rPr lang="en-US" altLang="zh-TW" sz="1600" dirty="0" err="1" smtClean="0">
                  <a:solidFill>
                    <a:schemeClr val="tx1"/>
                  </a:solidFill>
                </a:rPr>
                <a:t>reg</a:t>
              </a:r>
              <a:r>
                <a:rPr lang="en-US" altLang="zh-TW" sz="1600" dirty="0" smtClean="0">
                  <a:solidFill>
                    <a:schemeClr val="tx1"/>
                  </a:solidFill>
                </a:rPr>
                <a:t> file)</a:t>
              </a:r>
              <a:endParaRPr lang="zh-TW" altLang="en-US" sz="1600" dirty="0">
                <a:solidFill>
                  <a:schemeClr val="tx1"/>
                </a:solidFill>
              </a:endParaRPr>
            </a:p>
          </p:txBody>
        </p:sp>
        <p:sp>
          <p:nvSpPr>
            <p:cNvPr id="10" name="Rounded Rectangle 9"/>
            <p:cNvSpPr/>
            <p:nvPr/>
          </p:nvSpPr>
          <p:spPr>
            <a:xfrm>
              <a:off x="7916382" y="2889011"/>
              <a:ext cx="1244869" cy="1167975"/>
            </a:xfrm>
            <a:prstGeom prst="roundRect">
              <a:avLst/>
            </a:prstGeom>
            <a:solidFill>
              <a:schemeClr val="accent3"/>
            </a:solidFill>
            <a:ln w="12700">
              <a:solidFill>
                <a:schemeClr val="accent5">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rIns="0" rtlCol="0" anchor="ctr"/>
            <a:lstStyle/>
            <a:p>
              <a:pPr algn="ctr"/>
              <a:r>
                <a:rPr lang="en-US" altLang="zh-TW" sz="1600" dirty="0" err="1" smtClean="0">
                  <a:solidFill>
                    <a:schemeClr val="tx1"/>
                  </a:solidFill>
                </a:rPr>
                <a:t>inode</a:t>
              </a:r>
              <a:endParaRPr lang="en-US" altLang="zh-TW" sz="1600" dirty="0" smtClean="0">
                <a:solidFill>
                  <a:schemeClr val="tx1"/>
                </a:solidFill>
              </a:endParaRPr>
            </a:p>
            <a:p>
              <a:pPr algn="ctr"/>
              <a:r>
                <a:rPr lang="en-US" altLang="zh-TW" sz="1600" dirty="0" smtClean="0">
                  <a:solidFill>
                    <a:schemeClr val="tx1"/>
                  </a:solidFill>
                </a:rPr>
                <a:t>(directory)</a:t>
              </a:r>
              <a:endParaRPr lang="zh-TW" altLang="en-US" sz="1600" dirty="0">
                <a:solidFill>
                  <a:schemeClr val="tx1"/>
                </a:solidFill>
              </a:endParaRPr>
            </a:p>
          </p:txBody>
        </p:sp>
        <p:grpSp>
          <p:nvGrpSpPr>
            <p:cNvPr id="12" name="Group 11"/>
            <p:cNvGrpSpPr/>
            <p:nvPr/>
          </p:nvGrpSpPr>
          <p:grpSpPr>
            <a:xfrm>
              <a:off x="7916382" y="4488492"/>
              <a:ext cx="1244868" cy="1167851"/>
              <a:chOff x="25154821" y="7455704"/>
              <a:chExt cx="2110198" cy="2062800"/>
            </a:xfrm>
            <a:solidFill>
              <a:schemeClr val="accent5">
                <a:lumMod val="40000"/>
                <a:lumOff val="60000"/>
              </a:schemeClr>
            </a:solidFill>
          </p:grpSpPr>
          <p:sp>
            <p:nvSpPr>
              <p:cNvPr id="39" name="Rectangle 38"/>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0" name="Rectangle 39"/>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err="1" smtClean="0">
                    <a:solidFill>
                      <a:schemeClr val="bg1"/>
                    </a:solidFill>
                  </a:rPr>
                  <a:t>dir</a:t>
                </a:r>
                <a:r>
                  <a:rPr lang="en-US" sz="1600" dirty="0" smtClean="0">
                    <a:solidFill>
                      <a:schemeClr val="bg1"/>
                    </a:solidFill>
                  </a:rPr>
                  <a:t> block</a:t>
                </a:r>
                <a:endParaRPr lang="en-US" sz="1600" dirty="0">
                  <a:solidFill>
                    <a:schemeClr val="bg1"/>
                  </a:solidFill>
                </a:endParaRPr>
              </a:p>
            </p:txBody>
          </p:sp>
        </p:grpSp>
        <p:cxnSp>
          <p:nvCxnSpPr>
            <p:cNvPr id="15" name="Straight Arrow Connector 14"/>
            <p:cNvCxnSpPr>
              <a:stCxn id="10" idx="2"/>
              <a:endCxn id="39" idx="0"/>
            </p:cNvCxnSpPr>
            <p:nvPr/>
          </p:nvCxnSpPr>
          <p:spPr>
            <a:xfrm flipH="1">
              <a:off x="8538816" y="4056986"/>
              <a:ext cx="1"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a:stCxn id="9" idx="2"/>
              <a:endCxn id="48" idx="0"/>
            </p:cNvCxnSpPr>
            <p:nvPr/>
          </p:nvCxnSpPr>
          <p:spPr>
            <a:xfrm>
              <a:off x="7146136" y="4056986"/>
              <a:ext cx="0" cy="431506"/>
            </a:xfrm>
            <a:prstGeom prst="straightConnector1">
              <a:avLst/>
            </a:prstGeom>
            <a:ln w="63500">
              <a:solidFill>
                <a:schemeClr val="accent6">
                  <a:alpha val="60000"/>
                </a:schemeClr>
              </a:solidFill>
              <a:prstDash val="solid"/>
              <a:tailEnd type="triangle"/>
            </a:ln>
          </p:spPr>
          <p:style>
            <a:lnRef idx="1">
              <a:schemeClr val="accent1"/>
            </a:lnRef>
            <a:fillRef idx="0">
              <a:schemeClr val="accent1"/>
            </a:fillRef>
            <a:effectRef idx="0">
              <a:schemeClr val="accent1"/>
            </a:effectRef>
            <a:fontRef idx="minor">
              <a:schemeClr val="tx1"/>
            </a:fontRef>
          </p:style>
        </p:cxnSp>
        <p:grpSp>
          <p:nvGrpSpPr>
            <p:cNvPr id="47" name="Group 46"/>
            <p:cNvGrpSpPr/>
            <p:nvPr/>
          </p:nvGrpSpPr>
          <p:grpSpPr>
            <a:xfrm>
              <a:off x="6523702" y="4488492"/>
              <a:ext cx="1244868" cy="1167851"/>
              <a:chOff x="25154821" y="7455704"/>
              <a:chExt cx="2110198" cy="2062800"/>
            </a:xfrm>
            <a:solidFill>
              <a:schemeClr val="accent5">
                <a:lumMod val="40000"/>
                <a:lumOff val="60000"/>
              </a:schemeClr>
            </a:solidFill>
          </p:grpSpPr>
          <p:sp>
            <p:nvSpPr>
              <p:cNvPr id="48" name="Rectangle 47"/>
              <p:cNvSpPr/>
              <p:nvPr/>
            </p:nvSpPr>
            <p:spPr>
              <a:xfrm>
                <a:off x="25154821" y="7455704"/>
                <a:ext cx="2110198" cy="2062800"/>
              </a:xfrm>
              <a:prstGeom prst="rect">
                <a:avLst/>
              </a:prstGeom>
              <a:grpFill/>
              <a:ln w="127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TW" altLang="en-US" sz="1600" dirty="0"/>
              </a:p>
            </p:txBody>
          </p:sp>
          <p:sp>
            <p:nvSpPr>
              <p:cNvPr id="49" name="Rectangle 48"/>
              <p:cNvSpPr/>
              <p:nvPr/>
            </p:nvSpPr>
            <p:spPr>
              <a:xfrm>
                <a:off x="25324824" y="7614366"/>
                <a:ext cx="1770194" cy="1142180"/>
              </a:xfrm>
              <a:prstGeom prst="rect">
                <a:avLst/>
              </a:prstGeom>
              <a:solidFill>
                <a:schemeClr val="tx1"/>
              </a:solidFill>
              <a:ln w="12700">
                <a:solidFill>
                  <a:schemeClr val="accent6">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1600" dirty="0" smtClean="0">
                    <a:solidFill>
                      <a:schemeClr val="bg1"/>
                    </a:solidFill>
                  </a:rPr>
                  <a:t>data </a:t>
                </a:r>
                <a:r>
                  <a:rPr lang="en-US" sz="1600" dirty="0" smtClean="0">
                    <a:solidFill>
                      <a:schemeClr val="bg1"/>
                    </a:solidFill>
                  </a:rPr>
                  <a:t>block</a:t>
                </a:r>
                <a:endParaRPr lang="en-US" sz="1600" dirty="0">
                  <a:solidFill>
                    <a:schemeClr val="bg1"/>
                  </a:solidFill>
                </a:endParaRPr>
              </a:p>
            </p:txBody>
          </p:sp>
        </p:grpSp>
      </p:grpSp>
    </p:spTree>
    <p:extLst>
      <p:ext uri="{BB962C8B-B14F-4D97-AF65-F5344CB8AC3E}">
        <p14:creationId xmlns:p14="http://schemas.microsoft.com/office/powerpoint/2010/main" val="194327566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US" smtClean="0"/>
              <a:t>Generating Spiffy Library</a:t>
            </a:r>
            <a:endParaRPr lang="en-CA" dirty="0"/>
          </a:p>
        </p:txBody>
      </p:sp>
      <p:sp>
        <p:nvSpPr>
          <p:cNvPr id="3" name="Text Placeholder 2"/>
          <p:cNvSpPr>
            <a:spLocks noGrp="1"/>
          </p:cNvSpPr>
          <p:nvPr>
            <p:ph type="body" idx="1"/>
          </p:nvPr>
        </p:nvSpPr>
        <p:spPr/>
        <p:txBody>
          <a:bodyPr/>
          <a:lstStyle/>
          <a:p>
            <a:r>
              <a:rPr lang="en-CA" dirty="0" smtClean="0"/>
              <a:t>Annotation</a:t>
            </a:r>
            <a:endParaRPr lang="en-CA" dirty="0"/>
          </a:p>
        </p:txBody>
      </p:sp>
      <p:sp>
        <p:nvSpPr>
          <p:cNvPr id="10" name="Content Placeholder 6"/>
          <p:cNvSpPr txBox="1">
            <a:spLocks noGrp="1"/>
          </p:cNvSpPr>
          <p:nvPr>
            <p:ph sz="half" idx="2"/>
          </p:nvPr>
        </p:nvSpPr>
        <p:spPr>
          <a:xfrm>
            <a:off x="684211" y="2100086"/>
            <a:ext cx="9863287" cy="4072114"/>
          </a:xfrm>
        </p:spPr>
        <p:txBody>
          <a:bodyPr>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spcBef>
                <a:spcPts val="0"/>
              </a:spcBef>
              <a:spcAft>
                <a:spcPts val="0"/>
              </a:spcAft>
              <a:buNone/>
            </a:pPr>
            <a:r>
              <a:rPr lang="en-CA" sz="1500" b="1" dirty="0" smtClean="0">
                <a:latin typeface="Courier New" panose="02070309020205020404" pitchFamily="49" charset="0"/>
                <a:cs typeface="Courier New" panose="02070309020205020404" pitchFamily="49" charset="0"/>
              </a:rPr>
              <a:t>FSSUPER</a:t>
            </a:r>
            <a:r>
              <a:rPr lang="en-CA" sz="1500" dirty="0" smtClean="0">
                <a:latin typeface="Courier New" panose="02070309020205020404" pitchFamily="49" charset="0"/>
                <a:cs typeface="Courier New" panose="02070309020205020404" pitchFamily="49" charset="0"/>
              </a:rPr>
              <a:t>(…) ext4_super_block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s_log_block_size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__le16 </a:t>
            </a:r>
            <a:r>
              <a:rPr lang="en-CA" sz="1500" dirty="0" err="1" smtClean="0">
                <a:latin typeface="Courier New" panose="02070309020205020404" pitchFamily="49" charset="0"/>
                <a:cs typeface="Courier New" panose="02070309020205020404" pitchFamily="49" charset="0"/>
              </a:rPr>
              <a:t>s_magic</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__le32 </a:t>
            </a:r>
            <a:r>
              <a:rPr lang="en-CA" sz="1500" dirty="0" err="1" smtClean="0">
                <a:latin typeface="Courier New" panose="02070309020205020404" pitchFamily="49" charset="0"/>
                <a:cs typeface="Courier New" panose="02070309020205020404" pitchFamily="49" charset="0"/>
              </a:rPr>
              <a:t>s_inode_size</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self.s_log_block_size</a:t>
            </a:r>
            <a:r>
              <a:rPr lang="en-CA" sz="1500" dirty="0" smtClean="0">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b="1" dirty="0" smtClean="0">
                <a:latin typeface="Courier New" panose="02070309020205020404" pitchFamily="49" charset="0"/>
                <a:cs typeface="Courier New" panose="02070309020205020404" pitchFamily="49" charset="0"/>
              </a:rPr>
              <a:t>CHECK</a:t>
            </a:r>
            <a:r>
              <a:rPr lang="en-CA" sz="1500" dirty="0" smtClean="0">
                <a:latin typeface="Courier New" panose="02070309020205020404" pitchFamily="49" charset="0"/>
                <a:cs typeface="Courier New" panose="02070309020205020404" pitchFamily="49" charset="0"/>
              </a:rPr>
              <a:t>(expr=</a:t>
            </a:r>
            <a:r>
              <a:rPr lang="en-CA" sz="1500" dirty="0" err="1" smtClean="0">
                <a:latin typeface="Courier New" panose="02070309020205020404" pitchFamily="49" charset="0"/>
                <a:cs typeface="Courier New" panose="02070309020205020404" pitchFamily="49" charset="0"/>
              </a:rPr>
              <a:t>self.s_magic</a:t>
            </a:r>
            <a:r>
              <a:rPr lang="en-CA" sz="1500" dirty="0" smtClean="0">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buNone/>
            </a:pPr>
            <a:endParaRPr lang="en-CA" dirty="0" smtClean="0"/>
          </a:p>
          <a:p>
            <a:r>
              <a:rPr lang="en-CA" dirty="0" smtClean="0"/>
              <a:t>C++ class generated for every annotated class and its fields</a:t>
            </a:r>
          </a:p>
          <a:p>
            <a:pPr lvl="1"/>
            <a:r>
              <a:rPr lang="en-CA" sz="1800" dirty="0" smtClean="0"/>
              <a:t>Enables type-safe parsing and serialization</a:t>
            </a:r>
          </a:p>
          <a:p>
            <a:endParaRPr lang="en-CA" dirty="0" smtClean="0"/>
          </a:p>
        </p:txBody>
      </p:sp>
      <p:sp>
        <p:nvSpPr>
          <p:cNvPr id="4" name="Text Placeholder 3"/>
          <p:cNvSpPr>
            <a:spLocks noGrp="1"/>
          </p:cNvSpPr>
          <p:nvPr>
            <p:ph type="body" sz="quarter" idx="3"/>
          </p:nvPr>
        </p:nvSpPr>
        <p:spPr>
          <a:xfrm>
            <a:off x="5982774" y="1523824"/>
            <a:ext cx="4665134" cy="576262"/>
          </a:xfrm>
        </p:spPr>
        <p:txBody>
          <a:bodyPr/>
          <a:lstStyle/>
          <a:p>
            <a:r>
              <a:rPr lang="en-CA" dirty="0" smtClean="0"/>
              <a:t>Generated Code</a:t>
            </a:r>
            <a:endParaRPr lang="en-CA" dirty="0"/>
          </a:p>
        </p:txBody>
      </p:sp>
      <p:sp>
        <p:nvSpPr>
          <p:cNvPr id="9" name="Content Placeholder 8"/>
          <p:cNvSpPr>
            <a:spLocks noGrp="1"/>
          </p:cNvSpPr>
          <p:nvPr>
            <p:ph sz="quarter" idx="4"/>
          </p:nvPr>
        </p:nvSpPr>
        <p:spPr>
          <a:xfrm>
            <a:off x="5621867" y="2100086"/>
            <a:ext cx="5999519" cy="2885540"/>
          </a:xfrm>
        </p:spPr>
        <p:txBody>
          <a:bodyPr>
            <a:noAutofit/>
          </a:bodyPr>
          <a:lstStyle/>
          <a:p>
            <a:pPr marL="0" indent="0">
              <a:spcBef>
                <a:spcPts val="0"/>
              </a:spcBef>
              <a:spcAft>
                <a:spcPts val="0"/>
              </a:spcAft>
              <a:buNone/>
            </a:pPr>
            <a:r>
              <a:rPr lang="en-CA" sz="1500" dirty="0" err="1" smtClean="0">
                <a:latin typeface="Courier New" panose="02070309020205020404" pitchFamily="49" charset="0"/>
                <a:cs typeface="Courier New" panose="02070309020205020404" pitchFamily="49" charset="0"/>
              </a:rPr>
              <a:t>int</a:t>
            </a:r>
            <a:r>
              <a:rPr lang="en-CA" sz="1500" dirty="0" smtClean="0">
                <a:latin typeface="Courier New" panose="02070309020205020404" pitchFamily="49" charset="0"/>
                <a:cs typeface="Courier New" panose="02070309020205020404" pitchFamily="49" charset="0"/>
              </a:rPr>
              <a:t> parse(</a:t>
            </a:r>
            <a:r>
              <a:rPr lang="en-CA" sz="1500" dirty="0" err="1" smtClean="0">
                <a:latin typeface="Courier New" panose="02070309020205020404" pitchFamily="49" charset="0"/>
                <a:cs typeface="Courier New" panose="02070309020205020404" pitchFamily="49" charset="0"/>
              </a:rPr>
              <a:t>const</a:t>
            </a:r>
            <a:r>
              <a:rPr lang="en-CA" sz="1500" dirty="0" smtClean="0">
                <a:latin typeface="Courier New" panose="02070309020205020404" pitchFamily="49" charset="0"/>
                <a:cs typeface="Courier New" panose="02070309020205020404" pitchFamily="49" charset="0"/>
              </a:rPr>
              <a:t> char * &amp; </a:t>
            </a:r>
            <a:r>
              <a:rPr lang="en-CA" sz="1500" dirty="0" err="1" smtClean="0">
                <a:latin typeface="Courier New" panose="02070309020205020404" pitchFamily="49" charset="0"/>
                <a:cs typeface="Courier New" panose="02070309020205020404" pitchFamily="49" charset="0"/>
              </a:rPr>
              <a:t>buf</a:t>
            </a:r>
            <a:r>
              <a:rPr lang="en-CA" sz="1500" dirty="0" smtClean="0">
                <a:latin typeface="Courier New" panose="02070309020205020404" pitchFamily="49" charset="0"/>
                <a:cs typeface="Courier New" panose="02070309020205020404" pitchFamily="49" charset="0"/>
              </a:rPr>
              <a:t>, unsigned &amp; </a:t>
            </a:r>
            <a:r>
              <a:rPr lang="en-CA" sz="1500" dirty="0" err="1" smtClean="0">
                <a:latin typeface="Courier New" panose="02070309020205020404" pitchFamily="49" charset="0"/>
                <a:cs typeface="Courier New" panose="02070309020205020404" pitchFamily="49" charset="0"/>
              </a:rPr>
              <a:t>len</a:t>
            </a: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dirty="0" err="1" smtClean="0">
                <a:latin typeface="Courier New" panose="02070309020205020404" pitchFamily="49" charset="0"/>
                <a:cs typeface="Courier New" panose="02070309020205020404" pitchFamily="49" charset="0"/>
              </a:rPr>
              <a:t>int</a:t>
            </a:r>
            <a:r>
              <a:rPr lang="en-CA" sz="1500" dirty="0" smtClean="0">
                <a:latin typeface="Courier New" panose="02070309020205020404" pitchFamily="49" charset="0"/>
                <a:cs typeface="Courier New" panose="02070309020205020404" pitchFamily="49" charset="0"/>
              </a:rPr>
              <a:t> ret = </a:t>
            </a:r>
            <a:r>
              <a:rPr lang="en-CA" sz="1500" dirty="0" err="1" smtClean="0">
                <a:latin typeface="Courier New" panose="02070309020205020404" pitchFamily="49" charset="0"/>
                <a:cs typeface="Courier New" panose="02070309020205020404" pitchFamily="49" charset="0"/>
              </a:rPr>
              <a:t>s_log_block_size.parse</a:t>
            </a:r>
            <a:r>
              <a:rPr lang="en-CA" sz="1500" dirty="0" smtClean="0">
                <a:latin typeface="Courier New" panose="02070309020205020404" pitchFamily="49" charset="0"/>
                <a:cs typeface="Courier New" panose="02070309020205020404" pitchFamily="49" charset="0"/>
              </a:rPr>
              <a:t>(</a:t>
            </a:r>
            <a:r>
              <a:rPr lang="en-CA" sz="1500" dirty="0" err="1" smtClean="0">
                <a:latin typeface="Courier New" panose="02070309020205020404" pitchFamily="49" charset="0"/>
                <a:cs typeface="Courier New" panose="02070309020205020404" pitchFamily="49" charset="0"/>
              </a:rPr>
              <a:t>buf</a:t>
            </a:r>
            <a:r>
              <a:rPr lang="en-CA" sz="1500" dirty="0" smtClean="0">
                <a:latin typeface="Courier New" panose="02070309020205020404" pitchFamily="49" charset="0"/>
                <a:cs typeface="Courier New" panose="02070309020205020404" pitchFamily="49" charset="0"/>
              </a:rPr>
              <a:t>, </a:t>
            </a:r>
            <a:r>
              <a:rPr lang="en-CA" sz="1500" dirty="0" err="1" smtClean="0">
                <a:latin typeface="Courier New" panose="02070309020205020404" pitchFamily="49" charset="0"/>
                <a:cs typeface="Courier New" panose="02070309020205020404" pitchFamily="49" charset="0"/>
              </a:rPr>
              <a:t>len</a:t>
            </a: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if (ret &lt; 0) return ret;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if (!(this-&gt;</a:t>
            </a:r>
            <a:r>
              <a:rPr lang="en-CA" sz="1500" dirty="0" err="1" smtClean="0">
                <a:effectLst>
                  <a:glow rad="101600">
                    <a:srgbClr val="FFFF00">
                      <a:alpha val="40000"/>
                    </a:srgbClr>
                  </a:glow>
                </a:effectLst>
                <a:latin typeface="Courier New" panose="02070309020205020404" pitchFamily="49" charset="0"/>
                <a:cs typeface="Courier New" panose="02070309020205020404" pitchFamily="49" charset="0"/>
              </a:rPr>
              <a:t>s_log_block_size</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&lt;= 6))</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if (!(this-&gt;</a:t>
            </a:r>
            <a:r>
              <a:rPr lang="en-CA" sz="1500" dirty="0" err="1" smtClean="0">
                <a:effectLst>
                  <a:glow rad="101600">
                    <a:srgbClr val="FFFF00">
                      <a:alpha val="40000"/>
                    </a:srgbClr>
                  </a:glow>
                </a:effectLst>
                <a:latin typeface="Courier New" panose="02070309020205020404" pitchFamily="49" charset="0"/>
                <a:cs typeface="Courier New" panose="02070309020205020404" pitchFamily="49" charset="0"/>
              </a:rPr>
              <a:t>s_magic</a:t>
            </a: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 0xef53))</a:t>
            </a:r>
          </a:p>
          <a:p>
            <a:pPr marL="0" indent="0">
              <a:spcBef>
                <a:spcPts val="0"/>
              </a:spcBef>
              <a:spcAft>
                <a:spcPts val="0"/>
              </a:spcAft>
              <a:buNone/>
            </a:pPr>
            <a:r>
              <a:rPr lang="en-CA" sz="1500" dirty="0" smtClean="0">
                <a:effectLst>
                  <a:glow rad="101600">
                    <a:srgbClr val="FFFF00">
                      <a:alpha val="40000"/>
                    </a:srgbClr>
                  </a:glow>
                </a:effectLst>
                <a:latin typeface="Courier New" panose="02070309020205020404" pitchFamily="49" charset="0"/>
                <a:cs typeface="Courier New" panose="02070309020205020404" pitchFamily="49" charset="0"/>
              </a:rPr>
              <a:t>    return ERR_CORRUPT;</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  return 0;</a:t>
            </a:r>
          </a:p>
          <a:p>
            <a:pPr marL="0" indent="0">
              <a:spcBef>
                <a:spcPts val="0"/>
              </a:spcBef>
              <a:spcAft>
                <a:spcPts val="0"/>
              </a:spcAft>
              <a:buNone/>
            </a:pPr>
            <a:r>
              <a:rPr lang="en-CA" sz="1500" dirty="0" smtClean="0">
                <a:latin typeface="Courier New" panose="02070309020205020404" pitchFamily="49" charset="0"/>
                <a:cs typeface="Courier New" panose="02070309020205020404" pitchFamily="49" charset="0"/>
              </a:rPr>
              <a:t>}</a:t>
            </a:r>
          </a:p>
          <a:p>
            <a:pPr marL="0" indent="0">
              <a:spcBef>
                <a:spcPts val="0"/>
              </a:spcBef>
              <a:spcAft>
                <a:spcPts val="0"/>
              </a:spcAft>
              <a:buNone/>
            </a:pPr>
            <a:endParaRPr lang="en-CA" sz="1500" dirty="0" smtClean="0">
              <a:latin typeface="Courier New" panose="02070309020205020404" pitchFamily="49" charset="0"/>
              <a:cs typeface="Courier New" panose="02070309020205020404" pitchFamily="49" charset="0"/>
            </a:endParaRPr>
          </a:p>
          <a:p>
            <a:pPr marL="0" indent="0">
              <a:spcBef>
                <a:spcPts val="0"/>
              </a:spcBef>
              <a:spcAft>
                <a:spcPts val="0"/>
              </a:spcAft>
              <a:buNone/>
            </a:pPr>
            <a:endParaRPr lang="en-CA" sz="1500" dirty="0">
              <a:latin typeface="Courier New" panose="02070309020205020404" pitchFamily="49" charset="0"/>
              <a:cs typeface="Courier New" panose="02070309020205020404" pitchFamily="49" charset="0"/>
            </a:endParaRPr>
          </a:p>
        </p:txBody>
      </p:sp>
      <p:sp>
        <p:nvSpPr>
          <p:cNvPr id="2" name="Slide Number Placeholder 1"/>
          <p:cNvSpPr>
            <a:spLocks noGrp="1"/>
          </p:cNvSpPr>
          <p:nvPr>
            <p:ph type="sldNum" sz="quarter" idx="12"/>
          </p:nvPr>
        </p:nvSpPr>
        <p:spPr/>
        <p:txBody>
          <a:bodyPr/>
          <a:lstStyle/>
          <a:p>
            <a:fld id="{7B2023C8-B124-43A9-8F92-0EEF5BAA9995}" type="slidenum">
              <a:rPr lang="en-CA" smtClean="0"/>
              <a:pPr/>
              <a:t>22</a:t>
            </a:fld>
            <a:endParaRPr lang="en-CA"/>
          </a:p>
        </p:txBody>
      </p:sp>
      <p:sp>
        <p:nvSpPr>
          <p:cNvPr id="6" name="Right Arrow 5"/>
          <p:cNvSpPr/>
          <p:nvPr/>
        </p:nvSpPr>
        <p:spPr>
          <a:xfrm>
            <a:off x="4714327" y="2684468"/>
            <a:ext cx="277598" cy="168965"/>
          </a:xfrm>
          <a:prstGeom prst="rightArrow">
            <a:avLst/>
          </a:prstGeom>
          <a:noFill/>
          <a:ln w="25400">
            <a:solidFill>
              <a:schemeClr val="bg1"/>
            </a:solidFill>
            <a:prstDash val="solid"/>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Tree>
    <p:extLst>
      <p:ext uri="{BB962C8B-B14F-4D97-AF65-F5344CB8AC3E}">
        <p14:creationId xmlns:p14="http://schemas.microsoft.com/office/powerpoint/2010/main" val="2450566777"/>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Annotation Effort</a:t>
            </a:r>
            <a:endParaRPr lang="en-CA" dirty="0"/>
          </a:p>
        </p:txBody>
      </p:sp>
      <p:sp>
        <p:nvSpPr>
          <p:cNvPr id="3" name="Content Placeholder 2"/>
          <p:cNvSpPr>
            <a:spLocks noGrp="1"/>
          </p:cNvSpPr>
          <p:nvPr>
            <p:ph idx="1"/>
          </p:nvPr>
        </p:nvSpPr>
        <p:spPr/>
        <p:txBody>
          <a:bodyPr/>
          <a:lstStyle/>
          <a:p>
            <a:endParaRPr lang="en-CA" dirty="0" smtClean="0"/>
          </a:p>
          <a:p>
            <a:endParaRPr lang="en-CA" dirty="0"/>
          </a:p>
          <a:p>
            <a:endParaRPr lang="en-CA" dirty="0" smtClean="0"/>
          </a:p>
          <a:p>
            <a:r>
              <a:rPr lang="en-CA" dirty="0" smtClean="0"/>
              <a:t>LOC </a:t>
            </a:r>
            <a:r>
              <a:rPr lang="en-CA" dirty="0" smtClean="0"/>
              <a:t>required </a:t>
            </a:r>
            <a:r>
              <a:rPr lang="en-CA" dirty="0" smtClean="0"/>
              <a:t>to </a:t>
            </a:r>
            <a:r>
              <a:rPr lang="en-CA" dirty="0" smtClean="0"/>
              <a:t>correctly annotate </a:t>
            </a:r>
            <a:r>
              <a:rPr lang="en-CA" dirty="0" smtClean="0"/>
              <a:t>modern </a:t>
            </a:r>
            <a:r>
              <a:rPr lang="en-CA" dirty="0" smtClean="0"/>
              <a:t>file systems</a:t>
            </a:r>
          </a:p>
          <a:p>
            <a:pPr lvl="1"/>
            <a:r>
              <a:rPr lang="en-CA" dirty="0" smtClean="0"/>
              <a:t>Some structures not originally declared</a:t>
            </a:r>
          </a:p>
          <a:p>
            <a:pPr lvl="2"/>
            <a:r>
              <a:rPr lang="en-CA" dirty="0" smtClean="0"/>
              <a:t>E.g. Ext4 indirect block is just an array of 4-byte pointers</a:t>
            </a:r>
          </a:p>
          <a:p>
            <a:pPr lvl="1"/>
            <a:r>
              <a:rPr lang="en-CA" dirty="0" smtClean="0"/>
              <a:t>Some structures need to be </a:t>
            </a:r>
            <a:r>
              <a:rPr lang="en-CA" dirty="0" smtClean="0"/>
              <a:t>changed</a:t>
            </a:r>
            <a:endParaRPr lang="en-CA" dirty="0" smtClean="0"/>
          </a:p>
          <a:p>
            <a:pPr lvl="2"/>
            <a:r>
              <a:rPr lang="en-CA" dirty="0" smtClean="0"/>
              <a:t>E.g. block pointers in Ext4 </a:t>
            </a:r>
            <a:r>
              <a:rPr lang="en-CA" dirty="0" err="1" smtClean="0"/>
              <a:t>inode</a:t>
            </a:r>
            <a:r>
              <a:rPr lang="en-CA" dirty="0" smtClean="0"/>
              <a:t> </a:t>
            </a:r>
            <a:r>
              <a:rPr lang="en-CA" dirty="0" smtClean="0"/>
              <a:t>is an array of pointers, but the last 3 are indirect pointers of different level</a:t>
            </a:r>
          </a:p>
          <a:p>
            <a:pPr lvl="2"/>
            <a:r>
              <a:rPr lang="en-CA" dirty="0" smtClean="0"/>
              <a:t>Indirect pointers </a:t>
            </a:r>
          </a:p>
          <a:p>
            <a:pPr lvl="2"/>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23</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419476845"/>
              </p:ext>
            </p:extLst>
          </p:nvPr>
        </p:nvGraphicFramePr>
        <p:xfrm>
          <a:off x="2024016" y="1507237"/>
          <a:ext cx="6359598" cy="1483360"/>
        </p:xfrm>
        <a:graphic>
          <a:graphicData uri="http://schemas.openxmlformats.org/drawingml/2006/table">
            <a:tbl>
              <a:tblPr firstRow="1" bandRow="1">
                <a:tableStyleId>{69012ECD-51FC-41F1-AA8D-1B2483CD663E}</a:tableStyleId>
              </a:tblPr>
              <a:tblGrid>
                <a:gridCol w="2119866">
                  <a:extLst>
                    <a:ext uri="{9D8B030D-6E8A-4147-A177-3AD203B41FA5}">
                      <a16:colId xmlns:a16="http://schemas.microsoft.com/office/drawing/2014/main" xmlns="" val="20000"/>
                    </a:ext>
                  </a:extLst>
                </a:gridCol>
                <a:gridCol w="2119866">
                  <a:extLst>
                    <a:ext uri="{9D8B030D-6E8A-4147-A177-3AD203B41FA5}">
                      <a16:colId xmlns:a16="http://schemas.microsoft.com/office/drawing/2014/main" xmlns="" val="20001"/>
                    </a:ext>
                  </a:extLst>
                </a:gridCol>
                <a:gridCol w="2119866">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File System</a:t>
                      </a:r>
                      <a:endParaRPr lang="en-CA" dirty="0">
                        <a:solidFill>
                          <a:schemeClr val="tx1"/>
                        </a:solidFill>
                      </a:endParaRPr>
                    </a:p>
                  </a:txBody>
                  <a:tcPr/>
                </a:tc>
                <a:tc>
                  <a:txBody>
                    <a:bodyPr/>
                    <a:lstStyle/>
                    <a:p>
                      <a:r>
                        <a:rPr lang="en-CA" dirty="0" smtClean="0">
                          <a:solidFill>
                            <a:schemeClr val="tx1"/>
                          </a:solidFill>
                        </a:rPr>
                        <a:t>Line Count</a:t>
                      </a:r>
                      <a:endParaRPr lang="en-CA" dirty="0">
                        <a:solidFill>
                          <a:schemeClr val="tx1"/>
                        </a:solidFill>
                      </a:endParaRPr>
                    </a:p>
                  </a:txBody>
                  <a:tcPr/>
                </a:tc>
                <a:tc>
                  <a:txBody>
                    <a:bodyPr/>
                    <a:lstStyle/>
                    <a:p>
                      <a:r>
                        <a:rPr lang="en-CA" dirty="0" smtClean="0">
                          <a:solidFill>
                            <a:schemeClr val="tx1"/>
                          </a:solidFill>
                        </a:rPr>
                        <a:t>Annotated</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Ext4</a:t>
                      </a:r>
                      <a:endParaRPr lang="en-CA" dirty="0">
                        <a:solidFill>
                          <a:schemeClr val="bg1"/>
                        </a:solidFill>
                      </a:endParaRPr>
                    </a:p>
                  </a:txBody>
                  <a:tcPr/>
                </a:tc>
                <a:tc>
                  <a:txBody>
                    <a:bodyPr/>
                    <a:lstStyle/>
                    <a:p>
                      <a:r>
                        <a:rPr lang="en-CA" dirty="0" smtClean="0">
                          <a:solidFill>
                            <a:schemeClr val="bg1"/>
                          </a:solidFill>
                        </a:rPr>
                        <a:t>491</a:t>
                      </a:r>
                      <a:endParaRPr lang="en-CA" dirty="0">
                        <a:solidFill>
                          <a:schemeClr val="bg1"/>
                        </a:solidFill>
                      </a:endParaRPr>
                    </a:p>
                  </a:txBody>
                  <a:tcPr/>
                </a:tc>
                <a:tc>
                  <a:txBody>
                    <a:bodyPr/>
                    <a:lstStyle/>
                    <a:p>
                      <a:r>
                        <a:rPr lang="en-CA" dirty="0" smtClean="0">
                          <a:solidFill>
                            <a:schemeClr val="bg1"/>
                          </a:solidFill>
                        </a:rPr>
                        <a:t>113</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err="1" smtClean="0">
                          <a:solidFill>
                            <a:schemeClr val="bg1"/>
                          </a:solidFill>
                        </a:rPr>
                        <a:t>Btrfs</a:t>
                      </a:r>
                      <a:endParaRPr lang="en-CA" dirty="0">
                        <a:solidFill>
                          <a:schemeClr val="bg1"/>
                        </a:solidFill>
                      </a:endParaRPr>
                    </a:p>
                  </a:txBody>
                  <a:tcPr/>
                </a:tc>
                <a:tc>
                  <a:txBody>
                    <a:bodyPr/>
                    <a:lstStyle/>
                    <a:p>
                      <a:r>
                        <a:rPr lang="en-CA" dirty="0" smtClean="0">
                          <a:solidFill>
                            <a:schemeClr val="bg1"/>
                          </a:solidFill>
                        </a:rPr>
                        <a:t>556</a:t>
                      </a:r>
                      <a:endParaRPr lang="en-CA" dirty="0">
                        <a:solidFill>
                          <a:schemeClr val="bg1"/>
                        </a:solidFill>
                      </a:endParaRPr>
                    </a:p>
                  </a:txBody>
                  <a:tcPr/>
                </a:tc>
                <a:tc>
                  <a:txBody>
                    <a:bodyPr/>
                    <a:lstStyle/>
                    <a:p>
                      <a:r>
                        <a:rPr lang="en-CA" dirty="0" smtClean="0">
                          <a:solidFill>
                            <a:schemeClr val="bg1"/>
                          </a:solidFill>
                        </a:rPr>
                        <a:t>151</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F2FS</a:t>
                      </a:r>
                      <a:endParaRPr lang="en-CA" dirty="0">
                        <a:solidFill>
                          <a:schemeClr val="bg1"/>
                        </a:solidFill>
                      </a:endParaRPr>
                    </a:p>
                  </a:txBody>
                  <a:tcPr/>
                </a:tc>
                <a:tc>
                  <a:txBody>
                    <a:bodyPr/>
                    <a:lstStyle/>
                    <a:p>
                      <a:r>
                        <a:rPr lang="en-CA" dirty="0" smtClean="0">
                          <a:solidFill>
                            <a:schemeClr val="bg1"/>
                          </a:solidFill>
                        </a:rPr>
                        <a:t>462</a:t>
                      </a:r>
                      <a:endParaRPr lang="en-CA" dirty="0">
                        <a:solidFill>
                          <a:schemeClr val="bg1"/>
                        </a:solidFill>
                      </a:endParaRPr>
                    </a:p>
                  </a:txBody>
                  <a:tcPr/>
                </a:tc>
                <a:tc>
                  <a:txBody>
                    <a:bodyPr/>
                    <a:lstStyle/>
                    <a:p>
                      <a:r>
                        <a:rPr lang="en-CA" dirty="0" smtClean="0">
                          <a:solidFill>
                            <a:schemeClr val="bg1"/>
                          </a:solidFill>
                        </a:rPr>
                        <a:t>127</a:t>
                      </a:r>
                      <a:endParaRPr lang="en-CA" dirty="0">
                        <a:solidFill>
                          <a:schemeClr val="bg1"/>
                        </a:solidFill>
                      </a:endParaRPr>
                    </a:p>
                  </a:txBody>
                  <a:tcPr/>
                </a:tc>
                <a:extLst>
                  <a:ext uri="{0D108BD9-81ED-4DB2-BD59-A6C34878D82A}">
                    <a16:rowId xmlns:a16="http://schemas.microsoft.com/office/drawing/2014/main" xmlns="" val="10003"/>
                  </a:ext>
                </a:extLst>
              </a:tr>
            </a:tbl>
          </a:graphicData>
        </a:graphic>
      </p:graphicFrame>
    </p:spTree>
    <p:extLst>
      <p:ext uri="{BB962C8B-B14F-4D97-AF65-F5344CB8AC3E}">
        <p14:creationId xmlns:p14="http://schemas.microsoft.com/office/powerpoint/2010/main" val="3499493329"/>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Building Application</a:t>
            </a:r>
            <a:endParaRPr lang="en-CA" dirty="0"/>
          </a:p>
        </p:txBody>
      </p:sp>
      <p:sp>
        <p:nvSpPr>
          <p:cNvPr id="3" name="Content Placeholder 2"/>
          <p:cNvSpPr>
            <a:spLocks noGrp="1"/>
          </p:cNvSpPr>
          <p:nvPr>
            <p:ph idx="1"/>
          </p:nvPr>
        </p:nvSpPr>
        <p:spPr/>
        <p:txBody>
          <a:bodyPr/>
          <a:lstStyle/>
          <a:p>
            <a:r>
              <a:rPr lang="en-CA" smtClean="0"/>
              <a:t>Example: File System Free Space Tool</a:t>
            </a:r>
          </a:p>
          <a:p>
            <a:pPr lvl="1"/>
            <a:r>
              <a:rPr lang="en-CA" smtClean="0"/>
              <a:t>plots histogram of size of free extents</a:t>
            </a:r>
          </a:p>
          <a:p>
            <a:r>
              <a:rPr lang="en-CA" smtClean="0"/>
              <a:t>Manually (ad-hoc processing)</a:t>
            </a:r>
          </a:p>
          <a:p>
            <a:pPr lvl="1"/>
            <a:r>
              <a:rPr lang="en-CA" smtClean="0"/>
              <a:t>Find documentation on format of each file system</a:t>
            </a:r>
          </a:p>
          <a:p>
            <a:pPr lvl="2"/>
            <a:r>
              <a:rPr lang="en-CA" smtClean="0"/>
              <a:t>Learn how each file system keeps track of block allocation information</a:t>
            </a:r>
          </a:p>
          <a:p>
            <a:pPr lvl="1"/>
            <a:r>
              <a:rPr lang="en-CA" smtClean="0"/>
              <a:t>Write code to find and process relevant metadata</a:t>
            </a:r>
          </a:p>
          <a:p>
            <a:pPr lvl="2"/>
            <a:r>
              <a:rPr lang="en-CA" smtClean="0"/>
              <a:t>Often through trial-and-error</a:t>
            </a:r>
          </a:p>
          <a:p>
            <a:r>
              <a:rPr lang="en-CA" smtClean="0"/>
              <a:t>Using Spiffy framework</a:t>
            </a:r>
          </a:p>
          <a:p>
            <a:pPr lvl="1"/>
            <a:r>
              <a:rPr lang="en-CA" smtClean="0"/>
              <a:t>Use Spiffy to locate metadata that stores block allocation information</a:t>
            </a:r>
          </a:p>
          <a:p>
            <a:pPr lvl="1"/>
            <a:r>
              <a:rPr lang="en-CA" smtClean="0"/>
              <a:t>Write file-system specific code to process metadata structures</a:t>
            </a:r>
          </a:p>
          <a:p>
            <a:endParaRPr lang="en-CA" smtClean="0"/>
          </a:p>
          <a:p>
            <a:pPr lvl="1"/>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24</a:t>
            </a:fld>
            <a:endParaRPr lang="en-CA" dirty="0"/>
          </a:p>
        </p:txBody>
      </p:sp>
    </p:spTree>
    <p:extLst>
      <p:ext uri="{BB962C8B-B14F-4D97-AF65-F5344CB8AC3E}">
        <p14:creationId xmlns:p14="http://schemas.microsoft.com/office/powerpoint/2010/main" val="3324490692"/>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4" name="Content Placeholder 3"/>
          <p:cNvSpPr>
            <a:spLocks noGrp="1"/>
          </p:cNvSpPr>
          <p:nvPr>
            <p:ph idx="1"/>
          </p:nvPr>
        </p:nvSpPr>
        <p:spPr/>
        <p:txBody>
          <a:bodyPr/>
          <a:lstStyle/>
          <a:p>
            <a:r>
              <a:rPr lang="en-CA" dirty="0"/>
              <a:t>Ad-hoc processing, No error-checking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25</a:t>
            </a:fld>
            <a:endParaRPr lang="en-CA" dirty="0"/>
          </a:p>
        </p:txBody>
      </p:sp>
      <p:sp>
        <p:nvSpPr>
          <p:cNvPr id="7" name="TextBox 6"/>
          <p:cNvSpPr txBox="1"/>
          <p:nvPr/>
        </p:nvSpPr>
        <p:spPr>
          <a:xfrm>
            <a:off x="8362122" y="2468890"/>
            <a:ext cx="3009463"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LOTS of boilerplate code to walk through the intermediate structures</a:t>
            </a:r>
            <a:endParaRPr lang="en-CA" dirty="0">
              <a:solidFill>
                <a:schemeClr val="bg1"/>
              </a:solidFill>
            </a:endParaRPr>
          </a:p>
        </p:txBody>
      </p:sp>
    </p:spTree>
    <p:extLst>
      <p:ext uri="{BB962C8B-B14F-4D97-AF65-F5344CB8AC3E}">
        <p14:creationId xmlns:p14="http://schemas.microsoft.com/office/powerpoint/2010/main" val="3038896263"/>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Manually-Written Application</a:t>
            </a:r>
            <a:endParaRPr lang="en-CA" dirty="0"/>
          </a:p>
        </p:txBody>
      </p:sp>
      <p:sp>
        <p:nvSpPr>
          <p:cNvPr id="7" name="Content Placeholder 6"/>
          <p:cNvSpPr>
            <a:spLocks noGrp="1"/>
          </p:cNvSpPr>
          <p:nvPr>
            <p:ph idx="1"/>
          </p:nvPr>
        </p:nvSpPr>
        <p:spPr/>
        <p:txBody>
          <a:bodyPr/>
          <a:lstStyle/>
          <a:p>
            <a:r>
              <a:rPr lang="en-CA" dirty="0"/>
              <a:t>Ad-hoc processing, No error-checking</a:t>
            </a:r>
          </a:p>
          <a:p>
            <a:endParaRPr lang="en-CA" dirty="0"/>
          </a:p>
        </p:txBody>
      </p:sp>
      <p:sp>
        <p:nvSpPr>
          <p:cNvPr id="8" name="Slide Number Placeholder 7"/>
          <p:cNvSpPr>
            <a:spLocks noGrp="1"/>
          </p:cNvSpPr>
          <p:nvPr>
            <p:ph type="sldNum" sz="quarter" idx="12"/>
          </p:nvPr>
        </p:nvSpPr>
        <p:spPr/>
        <p:txBody>
          <a:bodyPr/>
          <a:lstStyle/>
          <a:p>
            <a:fld id="{7B2023C8-B124-43A9-8F92-0EEF5BAA9995}" type="slidenum">
              <a:rPr lang="en-CA" smtClean="0"/>
              <a:pPr/>
              <a:t>26</a:t>
            </a:fld>
            <a:endParaRPr lang="en-CA" dirty="0"/>
          </a:p>
        </p:txBody>
      </p:sp>
      <p:sp>
        <p:nvSpPr>
          <p:cNvPr id="2" name="TextBox 1"/>
          <p:cNvSpPr txBox="1"/>
          <p:nvPr/>
        </p:nvSpPr>
        <p:spPr>
          <a:xfrm>
            <a:off x="8734308" y="2073898"/>
            <a:ext cx="2681552" cy="1508105"/>
          </a:xfrm>
          <a:prstGeom prst="rect">
            <a:avLst/>
          </a:prstGeom>
          <a:noFill/>
        </p:spPr>
        <p:txBody>
          <a:bodyPr wrap="square" rtlCol="0">
            <a:spAutoFit/>
          </a:bodyPr>
          <a:lstStyle/>
          <a:p>
            <a:pPr>
              <a:lnSpc>
                <a:spcPts val="2400"/>
              </a:lnSpc>
              <a:spcBef>
                <a:spcPts val="600"/>
              </a:spcBef>
            </a:pPr>
            <a:r>
              <a:rPr lang="en-CA" b="1" dirty="0" smtClean="0">
                <a:solidFill>
                  <a:schemeClr val="bg1"/>
                </a:solidFill>
              </a:rPr>
              <a:t>No sanity checks!</a:t>
            </a:r>
          </a:p>
          <a:p>
            <a:pPr marL="263525" indent="-179388">
              <a:buFont typeface="Arial" panose="020B0604020202020204" pitchFamily="34" charset="0"/>
              <a:buChar char="•"/>
            </a:pPr>
            <a:r>
              <a:rPr lang="en-CA" dirty="0" smtClean="0">
                <a:solidFill>
                  <a:schemeClr val="bg1"/>
                </a:solidFill>
              </a:rPr>
              <a:t>Value may be out- of-bound, incorrect</a:t>
            </a:r>
          </a:p>
          <a:p>
            <a:pPr marL="263525" indent="-179388">
              <a:buFont typeface="Arial" panose="020B0604020202020204" pitchFamily="34" charset="0"/>
              <a:buChar char="•"/>
            </a:pPr>
            <a:r>
              <a:rPr lang="en-CA" dirty="0" smtClean="0">
                <a:solidFill>
                  <a:schemeClr val="bg1"/>
                </a:solidFill>
              </a:rPr>
              <a:t>Can cause crashes</a:t>
            </a:r>
            <a:br>
              <a:rPr lang="en-CA" dirty="0" smtClean="0">
                <a:solidFill>
                  <a:schemeClr val="bg1"/>
                </a:solidFill>
              </a:rPr>
            </a:br>
            <a:r>
              <a:rPr lang="en-CA" dirty="0" smtClean="0">
                <a:solidFill>
                  <a:schemeClr val="bg1"/>
                </a:solidFill>
              </a:rPr>
              <a:t>or garbage output</a:t>
            </a:r>
            <a:endParaRPr lang="en-CA" dirty="0">
              <a:solidFill>
                <a:schemeClr val="bg1"/>
              </a:solidFill>
            </a:endParaRPr>
          </a:p>
        </p:txBody>
      </p:sp>
      <p:cxnSp>
        <p:nvCxnSpPr>
          <p:cNvPr id="6" name="Straight Arrow Connector 5"/>
          <p:cNvCxnSpPr/>
          <p:nvPr/>
        </p:nvCxnSpPr>
        <p:spPr>
          <a:xfrm flipH="1">
            <a:off x="6778487" y="2281287"/>
            <a:ext cx="1955821" cy="740209"/>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9" name="Straight Arrow Connector 8"/>
          <p:cNvCxnSpPr/>
          <p:nvPr/>
        </p:nvCxnSpPr>
        <p:spPr>
          <a:xfrm flipH="1">
            <a:off x="7374835" y="2281287"/>
            <a:ext cx="1359473" cy="1495583"/>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Straight Arrow Connector 11"/>
          <p:cNvCxnSpPr/>
          <p:nvPr/>
        </p:nvCxnSpPr>
        <p:spPr>
          <a:xfrm rot="5400000">
            <a:off x="6780007" y="3402890"/>
            <a:ext cx="3075904" cy="832699"/>
          </a:xfrm>
          <a:prstGeom prst="bentConnector3">
            <a:avLst>
              <a:gd name="adj1" fmla="val 100085"/>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1"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351305738"/>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Content Placeholder 6"/>
          <p:cNvSpPr txBox="1">
            <a:spLocks/>
          </p:cNvSpPr>
          <p:nvPr/>
        </p:nvSpPr>
        <p:spPr>
          <a:xfrm>
            <a:off x="951929" y="2073898"/>
            <a:ext cx="10285797" cy="4784102"/>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4">
                    <a:lumMod val="75000"/>
                  </a:schemeClr>
                </a:solidFill>
                <a:latin typeface="Courier New" panose="02070309020205020404" pitchFamily="49" charset="0"/>
                <a:cs typeface="Courier New" panose="02070309020205020404" pitchFamily="49" charset="0"/>
              </a:rPr>
              <a:t>/* ext4 super block is 1024 bytes away from start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ext4_super_block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SB_SIZE);</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 = </a:t>
            </a:r>
            <a:r>
              <a:rPr lang="en-CA" sz="1600" dirty="0">
                <a:solidFill>
                  <a:srgbClr val="0070C0"/>
                </a:solidFill>
                <a:latin typeface="Courier New" panose="02070309020205020404" pitchFamily="49" charset="0"/>
                <a:cs typeface="Courier New" panose="02070309020205020404" pitchFamily="49" charset="0"/>
              </a:rPr>
              <a:t>1024</a:t>
            </a:r>
            <a:r>
              <a:rPr lang="en-CA" sz="1600" dirty="0">
                <a:latin typeface="Courier New" panose="02070309020205020404" pitchFamily="49" charset="0"/>
                <a:cs typeface="Courier New" panose="02070309020205020404" pitchFamily="49" charset="0"/>
              </a:rPr>
              <a:t> &lt;&lt;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block group descriptors start at block 2 or 1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smtClean="0">
                <a:solidFill>
                  <a:srgbClr val="0070C0"/>
                </a:solidFill>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 ceil(</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s_blocks_count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s_blocks_per_group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 </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ceil(</a:t>
            </a:r>
            <a:r>
              <a:rPr lang="en-CA" sz="1600" dirty="0" err="1" smtClean="0">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sizeof</a:t>
            </a:r>
            <a:r>
              <a:rPr lang="en-CA" sz="1600" dirty="0" smtClean="0">
                <a:latin typeface="Courier New" panose="02070309020205020404" pitchFamily="49" charset="0"/>
                <a:cs typeface="Courier New" panose="02070309020205020404" pitchFamily="49" charset="0"/>
              </a:rPr>
              <a:t>(</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a:t>
            </a:r>
            <a:r>
              <a:rPr lang="en-CA" sz="1600" dirty="0" err="1">
                <a:latin typeface="Courier New" panose="02070309020205020404" pitchFamily="49" charset="0"/>
                <a:cs typeface="Courier New" panose="02070309020205020404" pitchFamily="49" charset="0"/>
              </a:rPr>
              <a:t>blk_size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solidFill>
                  <a:srgbClr val="00B050"/>
                </a:solidFill>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all of the block group descriptors into memory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struct</a:t>
            </a:r>
            <a:r>
              <a:rPr lang="en-CA" sz="1600" dirty="0" smtClean="0">
                <a:latin typeface="Courier New" panose="02070309020205020404" pitchFamily="49" charset="0"/>
                <a:cs typeface="Courier New" panose="02070309020205020404" pitchFamily="49" charset="0"/>
              </a:rPr>
              <a:t> ext4_group_desc * </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bg_blknr</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bg_nblks</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for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 </a:t>
            </a:r>
            <a:r>
              <a:rPr lang="en-CA" sz="1600" dirty="0" smtClean="0">
                <a:solidFill>
                  <a:srgbClr val="0070C0"/>
                </a:solidFill>
                <a:latin typeface="Courier New" panose="02070309020205020404" pitchFamily="49" charset="0"/>
                <a:cs typeface="Courier New" panose="02070309020205020404" pitchFamily="49" charset="0"/>
              </a:rPr>
              <a:t>0</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&lt; </a:t>
            </a:r>
            <a:r>
              <a:rPr lang="en-CA" sz="1600" dirty="0" err="1">
                <a:latin typeface="Courier New" panose="02070309020205020404" pitchFamily="49" charset="0"/>
                <a:cs typeface="Courier New" panose="02070309020205020404" pitchFamily="49" charset="0"/>
              </a:rPr>
              <a:t>bg_ngrps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char</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dev.read_block</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gd</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i</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bg_block_bitmap</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ret =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buf</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 …</a:t>
            </a:r>
          </a:p>
          <a:p>
            <a:pPr marL="0" indent="0">
              <a:lnSpc>
                <a:spcPts val="2000"/>
              </a:lnSpc>
              <a:spcBef>
                <a:spcPts val="0"/>
              </a:spcBef>
              <a:spcAft>
                <a:spcPts val="0"/>
              </a:spcAft>
              <a:buFont typeface="Wingdings 3" panose="05040102010807070707" pitchFamily="18" charset="2"/>
              <a:buNone/>
            </a:pPr>
            <a:r>
              <a:rPr lang="en-CA" sz="1600" dirty="0" smtClean="0">
                <a:latin typeface="Courier New" panose="02070309020205020404" pitchFamily="49" charset="0"/>
                <a:cs typeface="Courier New" panose="02070309020205020404" pitchFamily="49" charset="0"/>
              </a:rPr>
              <a:t>}</a:t>
            </a:r>
          </a:p>
        </p:txBody>
      </p:sp>
      <p:sp>
        <p:nvSpPr>
          <p:cNvPr id="5" name="Title 4"/>
          <p:cNvSpPr>
            <a:spLocks noGrp="1"/>
          </p:cNvSpPr>
          <p:nvPr>
            <p:ph type="title"/>
          </p:nvPr>
        </p:nvSpPr>
        <p:spPr/>
        <p:txBody>
          <a:bodyPr/>
          <a:lstStyle/>
          <a:p>
            <a:r>
              <a:rPr lang="en-CA" smtClean="0"/>
              <a:t>Manually-Written Application</a:t>
            </a:r>
            <a:endParaRPr lang="en-CA" dirty="0"/>
          </a:p>
        </p:txBody>
      </p:sp>
      <p:sp>
        <p:nvSpPr>
          <p:cNvPr id="9" name="Content Placeholder 8"/>
          <p:cNvSpPr>
            <a:spLocks noGrp="1"/>
          </p:cNvSpPr>
          <p:nvPr>
            <p:ph idx="1"/>
          </p:nvPr>
        </p:nvSpPr>
        <p:spPr/>
        <p:txBody>
          <a:bodyPr/>
          <a:lstStyle/>
          <a:p>
            <a:r>
              <a:rPr lang="en-CA" dirty="0"/>
              <a:t>Ad-hoc processing, No error-checking</a:t>
            </a:r>
          </a:p>
          <a:p>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27</a:t>
            </a:fld>
            <a:endParaRPr lang="en-CA" dirty="0"/>
          </a:p>
        </p:txBody>
      </p:sp>
      <p:sp>
        <p:nvSpPr>
          <p:cNvPr id="2" name="Rectangle 1"/>
          <p:cNvSpPr/>
          <p:nvPr/>
        </p:nvSpPr>
        <p:spPr>
          <a:xfrm>
            <a:off x="1381538" y="5396947"/>
            <a:ext cx="5237923" cy="346843"/>
          </a:xfrm>
          <a:prstGeom prst="rect">
            <a:avLst/>
          </a:prstGeom>
          <a:solidFill>
            <a:schemeClr val="tx1">
              <a:alpha val="0"/>
            </a:schemeClr>
          </a:solidFill>
          <a:ln w="38100">
            <a:solidFill>
              <a:srgbClr val="FFFF00"/>
            </a:solidFill>
          </a:ln>
          <a:effectLst>
            <a:glow rad="101600">
              <a:srgbClr val="FFFF00">
                <a:alpha val="40000"/>
              </a:srgbClr>
            </a:glo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CA"/>
          </a:p>
        </p:txBody>
      </p:sp>
      <p:sp>
        <p:nvSpPr>
          <p:cNvPr id="7" name="TextBox 6"/>
          <p:cNvSpPr txBox="1"/>
          <p:nvPr/>
        </p:nvSpPr>
        <p:spPr>
          <a:xfrm>
            <a:off x="8404493" y="2131673"/>
            <a:ext cx="2790802" cy="1015663"/>
          </a:xfrm>
          <a:prstGeom prst="rect">
            <a:avLst/>
          </a:prstGeom>
          <a:noFill/>
        </p:spPr>
        <p:txBody>
          <a:bodyPr wrap="square" rtlCol="0">
            <a:spAutoFit/>
          </a:bodyPr>
          <a:lstStyle/>
          <a:p>
            <a:pPr>
              <a:lnSpc>
                <a:spcPts val="2400"/>
              </a:lnSpc>
              <a:spcBef>
                <a:spcPts val="600"/>
              </a:spcBef>
            </a:pPr>
            <a:r>
              <a:rPr lang="en-CA" dirty="0" smtClean="0">
                <a:solidFill>
                  <a:schemeClr val="bg1"/>
                </a:solidFill>
              </a:rPr>
              <a:t>We want an easier way to find and process all of the block bitmaps</a:t>
            </a:r>
            <a:endParaRPr lang="en-CA" dirty="0">
              <a:solidFill>
                <a:schemeClr val="bg1"/>
              </a:solidFill>
            </a:endParaRPr>
          </a:p>
        </p:txBody>
      </p:sp>
      <p:cxnSp>
        <p:nvCxnSpPr>
          <p:cNvPr id="8" name="Straight Arrow Connector 7"/>
          <p:cNvCxnSpPr/>
          <p:nvPr/>
        </p:nvCxnSpPr>
        <p:spPr>
          <a:xfrm rot="10800000" flipV="1">
            <a:off x="6619463" y="3220281"/>
            <a:ext cx="3476019" cy="2358192"/>
          </a:xfrm>
          <a:prstGeom prst="bentConnector3">
            <a:avLst>
              <a:gd name="adj1" fmla="val -38"/>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3" name="Content Placeholder 9"/>
          <p:cNvSpPr txBox="1">
            <a:spLocks/>
          </p:cNvSpPr>
          <p:nvPr/>
        </p:nvSpPr>
        <p:spPr>
          <a:xfrm>
            <a:off x="684211" y="1515358"/>
            <a:ext cx="10285797" cy="1124147"/>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endParaRPr lang="en-CA" dirty="0"/>
          </a:p>
        </p:txBody>
      </p:sp>
    </p:spTree>
    <p:extLst>
      <p:ext uri="{BB962C8B-B14F-4D97-AF65-F5344CB8AC3E}">
        <p14:creationId xmlns:p14="http://schemas.microsoft.com/office/powerpoint/2010/main" val="2763951438"/>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a:t>
            </a:r>
            <a:endParaRPr lang="en-CA" dirty="0"/>
          </a:p>
        </p:txBody>
      </p:sp>
      <p:sp>
        <p:nvSpPr>
          <p:cNvPr id="10" name="Content Placeholder 9"/>
          <p:cNvSpPr>
            <a:spLocks noGrp="1"/>
          </p:cNvSpPr>
          <p:nvPr>
            <p:ph idx="1"/>
          </p:nvPr>
        </p:nvSpPr>
        <p:spPr/>
        <p:txBody>
          <a:bodyPr/>
          <a:lstStyle/>
          <a:p>
            <a:r>
              <a:rPr lang="en-CA" dirty="0" smtClean="0"/>
              <a:t>Using Spiffy </a:t>
            </a:r>
            <a:r>
              <a:rPr lang="en-CA" dirty="0" smtClean="0"/>
              <a:t>Library</a:t>
            </a:r>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28</a:t>
            </a:fld>
            <a:endParaRPr lang="en-CA" dirty="0"/>
          </a:p>
        </p:txBody>
      </p:sp>
      <p:sp>
        <p:nvSpPr>
          <p:cNvPr id="11" name="Content Placeholder 6"/>
          <p:cNvSpPr txBox="1">
            <a:spLocks/>
          </p:cNvSpPr>
          <p:nvPr/>
        </p:nvSpPr>
        <p:spPr>
          <a:xfrm>
            <a:off x="951929" y="2073898"/>
            <a:ext cx="10285797" cy="4278718"/>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smtClean="0">
                <a:latin typeface="Courier New" panose="02070309020205020404" pitchFamily="49" charset="0"/>
                <a:cs typeface="Courier New" panose="02070309020205020404" pitchFamily="49" charset="0"/>
              </a:rPr>
              <a:t>process_ext4</a:t>
            </a:r>
            <a:r>
              <a:rPr lang="en-CA" sz="1600" dirty="0" smtClean="0">
                <a:latin typeface="Courier New" panose="02070309020205020404" pitchFamily="49" charset="0"/>
                <a:cs typeface="Courier New" panose="02070309020205020404" pitchFamily="49" charset="0"/>
              </a:rPr>
              <a:t>(vector&lt;Extent&gt;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Ext4 </a:t>
            </a:r>
            <a:r>
              <a:rPr lang="en-CA" sz="1600" dirty="0">
                <a:latin typeface="Courier New" panose="02070309020205020404" pitchFamily="49" charset="0"/>
                <a:cs typeface="Courier New" panose="02070309020205020404" pitchFamily="49" charset="0"/>
              </a:rPr>
              <a:t>ext4(dev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Ext4</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ext4.fetch_super();</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smtClean="0">
                <a:solidFill>
                  <a:srgbClr val="0070C0"/>
                </a:solidFill>
                <a:latin typeface="Courier New" panose="02070309020205020404" pitchFamily="49" charset="0"/>
                <a:cs typeface="Courier New" panose="02070309020205020404" pitchFamily="49" charset="0"/>
              </a:rPr>
              <a:t>1024</a:t>
            </a:r>
            <a:r>
              <a:rPr lang="en-CA" sz="1600" dirty="0" smtClean="0">
                <a:latin typeface="Courier New" panose="02070309020205020404" pitchFamily="49" charset="0"/>
                <a:cs typeface="Courier New" panose="02070309020205020404" pitchFamily="49" charset="0"/>
              </a:rPr>
              <a:t> &lt;&lt; </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s_log_block_size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a:solidFill>
                  <a:schemeClr val="accent4">
                    <a:lumMod val="75000"/>
                  </a:schemeClr>
                </a:solidFill>
                <a:latin typeface="Courier New" panose="02070309020205020404" pitchFamily="49" charset="0"/>
                <a:cs typeface="Courier New" panose="02070309020205020404" pitchFamily="49" charset="0"/>
              </a:rPr>
              <a:t>/* traverse file system and find/process all block bitmaps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(BLOCK_BITMAP, </a:t>
            </a:r>
            <a:r>
              <a:rPr lang="en-CA" sz="1600" dirty="0" err="1" smtClean="0">
                <a:latin typeface="Courier New" panose="02070309020205020404" pitchFamily="49" charset="0"/>
                <a:cs typeface="Courier New" panose="02070309020205020404" pitchFamily="49" charset="0"/>
              </a:rPr>
              <a:t>process_block_bitmap</a:t>
            </a:r>
            <a:r>
              <a:rPr lang="en-CA" sz="1600" dirty="0" smtClean="0">
                <a:latin typeface="Courier New" panose="02070309020205020404" pitchFamily="49" charset="0"/>
                <a:cs typeface="Courier New" panose="02070309020205020404" pitchFamily="49" charset="0"/>
              </a:rPr>
              <a:t>, &amp;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
        <p:nvSpPr>
          <p:cNvPr id="6" name="Content Placeholder 9"/>
          <p:cNvSpPr txBox="1">
            <a:spLocks/>
          </p:cNvSpPr>
          <p:nvPr/>
        </p:nvSpPr>
        <p:spPr>
          <a:xfrm>
            <a:off x="684210" y="4411614"/>
            <a:ext cx="8954839" cy="1767364"/>
          </a:xfrm>
          <a:prstGeom prst="rect">
            <a:avLst/>
          </a:prstGeom>
        </p:spPr>
        <p:txBody>
          <a:bodyPr vert="horz" lIns="91440" tIns="45720" rIns="91440" bIns="45720" rtlCol="0" anchor="t">
            <a:norm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lvl="1"/>
            <a:r>
              <a:rPr lang="en-CA" dirty="0" smtClean="0"/>
              <a:t>Advantages</a:t>
            </a:r>
          </a:p>
          <a:p>
            <a:pPr lvl="2"/>
            <a:r>
              <a:rPr lang="en-CA" dirty="0" smtClean="0"/>
              <a:t>simplifies file system traversal,</a:t>
            </a:r>
            <a:r>
              <a:rPr lang="en-CA" dirty="0"/>
              <a:t> </a:t>
            </a:r>
            <a:r>
              <a:rPr lang="en-CA" dirty="0" smtClean="0"/>
              <a:t>reduces need to know format details</a:t>
            </a:r>
          </a:p>
          <a:p>
            <a:pPr lvl="2"/>
            <a:r>
              <a:rPr lang="en-CA" dirty="0" smtClean="0"/>
              <a:t>library parsing routines have automatically generated sanity checks</a:t>
            </a:r>
          </a:p>
        </p:txBody>
      </p:sp>
      <p:sp>
        <p:nvSpPr>
          <p:cNvPr id="7" name="TextBox 6"/>
          <p:cNvSpPr txBox="1"/>
          <p:nvPr/>
        </p:nvSpPr>
        <p:spPr>
          <a:xfrm>
            <a:off x="8409726" y="1743298"/>
            <a:ext cx="2642588" cy="707886"/>
          </a:xfrm>
          <a:prstGeom prst="rect">
            <a:avLst/>
          </a:prstGeom>
          <a:noFill/>
        </p:spPr>
        <p:txBody>
          <a:bodyPr wrap="square" rtlCol="0">
            <a:spAutoFit/>
          </a:bodyPr>
          <a:lstStyle/>
          <a:p>
            <a:pPr>
              <a:lnSpc>
                <a:spcPts val="2400"/>
              </a:lnSpc>
              <a:spcBef>
                <a:spcPts val="600"/>
              </a:spcBef>
            </a:pPr>
            <a:r>
              <a:rPr lang="en-CA" dirty="0" smtClean="0">
                <a:solidFill>
                  <a:schemeClr val="bg1"/>
                </a:solidFill>
              </a:rPr>
              <a:t>Returns </a:t>
            </a:r>
            <a:r>
              <a:rPr lang="en-CA" i="1" dirty="0" err="1" smtClean="0">
                <a:solidFill>
                  <a:schemeClr val="bg1"/>
                </a:solidFill>
              </a:rPr>
              <a:t>nullptr</a:t>
            </a:r>
            <a:r>
              <a:rPr lang="en-CA" dirty="0" smtClean="0">
                <a:solidFill>
                  <a:schemeClr val="bg1"/>
                </a:solidFill>
              </a:rPr>
              <a:t> if super block is corrupted</a:t>
            </a:r>
            <a:endParaRPr lang="en-CA" dirty="0">
              <a:solidFill>
                <a:schemeClr val="bg1"/>
              </a:solidFill>
            </a:endParaRPr>
          </a:p>
        </p:txBody>
      </p:sp>
      <p:cxnSp>
        <p:nvCxnSpPr>
          <p:cNvPr id="8" name="Straight Arrow Connector 7"/>
          <p:cNvCxnSpPr/>
          <p:nvPr/>
        </p:nvCxnSpPr>
        <p:spPr>
          <a:xfrm flipH="1">
            <a:off x="6808304" y="1997765"/>
            <a:ext cx="1601422" cy="101379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p:cNvCxnSpPr/>
          <p:nvPr/>
        </p:nvCxnSpPr>
        <p:spPr>
          <a:xfrm flipH="1">
            <a:off x="9044609" y="3507933"/>
            <a:ext cx="594441" cy="437902"/>
          </a:xfrm>
          <a:prstGeom prst="straightConnector1">
            <a:avLst/>
          </a:prstGeom>
          <a:ln w="38100">
            <a:solidFill>
              <a:srgbClr val="FF0000">
                <a:alpha val="70000"/>
              </a:srgbClr>
            </a:solidFill>
            <a:tailEnd type="triangle"/>
          </a:ln>
        </p:spPr>
        <p:style>
          <a:lnRef idx="1">
            <a:schemeClr val="accent1"/>
          </a:lnRef>
          <a:fillRef idx="0">
            <a:schemeClr val="accent1"/>
          </a:fillRef>
          <a:effectRef idx="0">
            <a:schemeClr val="accent1"/>
          </a:effectRef>
          <a:fontRef idx="minor">
            <a:schemeClr val="tx1"/>
          </a:fontRef>
        </p:style>
      </p:cxnSp>
      <p:sp>
        <p:nvSpPr>
          <p:cNvPr id="16" name="TextBox 15"/>
          <p:cNvSpPr txBox="1"/>
          <p:nvPr/>
        </p:nvSpPr>
        <p:spPr>
          <a:xfrm>
            <a:off x="9142135" y="3128159"/>
            <a:ext cx="1177770" cy="400110"/>
          </a:xfrm>
          <a:prstGeom prst="rect">
            <a:avLst/>
          </a:prstGeom>
          <a:noFill/>
        </p:spPr>
        <p:txBody>
          <a:bodyPr wrap="square" rtlCol="0">
            <a:spAutoFit/>
          </a:bodyPr>
          <a:lstStyle/>
          <a:p>
            <a:pPr>
              <a:lnSpc>
                <a:spcPts val="2400"/>
              </a:lnSpc>
              <a:spcBef>
                <a:spcPts val="600"/>
              </a:spcBef>
            </a:pPr>
            <a:r>
              <a:rPr lang="en-CA" b="1" dirty="0" smtClean="0">
                <a:solidFill>
                  <a:schemeClr val="bg1"/>
                </a:solidFill>
              </a:rPr>
              <a:t>THAT’S IT</a:t>
            </a:r>
            <a:endParaRPr lang="en-CA" b="1" dirty="0">
              <a:solidFill>
                <a:schemeClr val="bg1"/>
              </a:solidFill>
            </a:endParaRPr>
          </a:p>
        </p:txBody>
      </p:sp>
    </p:spTree>
    <p:extLst>
      <p:ext uri="{BB962C8B-B14F-4D97-AF65-F5344CB8AC3E}">
        <p14:creationId xmlns:p14="http://schemas.microsoft.com/office/powerpoint/2010/main" val="750288714"/>
      </p:ext>
    </p:extLst>
  </p:cSld>
  <p:clrMapOvr>
    <a:masterClrMapping/>
  </p:clrMapOvr>
  <p:timing>
    <p:tnLst>
      <p:par>
        <p:cTn id="1" dur="indefinite" restart="never" nodeType="tmRoot"/>
      </p:par>
    </p:tn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le 4"/>
          <p:cNvSpPr>
            <a:spLocks noGrp="1"/>
          </p:cNvSpPr>
          <p:nvPr>
            <p:ph type="title"/>
          </p:nvPr>
        </p:nvSpPr>
        <p:spPr/>
        <p:txBody>
          <a:bodyPr/>
          <a:lstStyle/>
          <a:p>
            <a:r>
              <a:rPr lang="en-CA" smtClean="0"/>
              <a:t>Spiffy Application</a:t>
            </a:r>
            <a:endParaRPr lang="en-CA" dirty="0"/>
          </a:p>
        </p:txBody>
      </p:sp>
      <p:sp>
        <p:nvSpPr>
          <p:cNvPr id="10" name="Content Placeholder 9"/>
          <p:cNvSpPr>
            <a:spLocks noGrp="1"/>
          </p:cNvSpPr>
          <p:nvPr>
            <p:ph idx="1"/>
          </p:nvPr>
        </p:nvSpPr>
        <p:spPr/>
        <p:txBody>
          <a:bodyPr/>
          <a:lstStyle/>
          <a:p>
            <a:r>
              <a:rPr lang="en-CA" dirty="0" smtClean="0"/>
              <a:t>Using Spiffy </a:t>
            </a:r>
            <a:r>
              <a:rPr lang="en-CA" dirty="0" smtClean="0"/>
              <a:t>Library</a:t>
            </a:r>
          </a:p>
          <a:p>
            <a:endParaRPr lang="en-CA" dirty="0"/>
          </a:p>
          <a:p>
            <a:endParaRPr lang="en-CA" dirty="0" smtClean="0"/>
          </a:p>
          <a:p>
            <a:endParaRPr lang="en-CA" dirty="0"/>
          </a:p>
          <a:p>
            <a:endParaRPr lang="en-CA" dirty="0" smtClean="0"/>
          </a:p>
          <a:p>
            <a:endParaRPr lang="en-CA" dirty="0"/>
          </a:p>
          <a:p>
            <a:r>
              <a:rPr lang="en-CA" dirty="0" smtClean="0"/>
              <a:t>Code to traverse file system similar across file systems</a:t>
            </a:r>
          </a:p>
          <a:p>
            <a:r>
              <a:rPr lang="en-CA" dirty="0" smtClean="0"/>
              <a:t>Only need to write file-system specific code to process block allocation metadata</a:t>
            </a:r>
            <a:endParaRPr lang="en-CA" dirty="0" smtClean="0"/>
          </a:p>
          <a:p>
            <a:pPr lvl="1"/>
            <a:endParaRPr lang="en-CA" dirty="0" smtClean="0"/>
          </a:p>
        </p:txBody>
      </p:sp>
      <p:sp>
        <p:nvSpPr>
          <p:cNvPr id="15" name="Slide Number Placeholder 14"/>
          <p:cNvSpPr>
            <a:spLocks noGrp="1"/>
          </p:cNvSpPr>
          <p:nvPr>
            <p:ph type="sldNum" sz="quarter" idx="12"/>
          </p:nvPr>
        </p:nvSpPr>
        <p:spPr/>
        <p:txBody>
          <a:bodyPr/>
          <a:lstStyle/>
          <a:p>
            <a:fld id="{7B2023C8-B124-43A9-8F92-0EEF5BAA9995}" type="slidenum">
              <a:rPr lang="en-CA" smtClean="0"/>
              <a:pPr/>
              <a:t>29</a:t>
            </a:fld>
            <a:endParaRPr lang="en-CA" dirty="0"/>
          </a:p>
        </p:txBody>
      </p:sp>
      <p:sp>
        <p:nvSpPr>
          <p:cNvPr id="11" name="Content Placeholder 6"/>
          <p:cNvSpPr txBox="1">
            <a:spLocks/>
          </p:cNvSpPr>
          <p:nvPr/>
        </p:nvSpPr>
        <p:spPr>
          <a:xfrm>
            <a:off x="951929" y="2073898"/>
            <a:ext cx="10285797" cy="2370511"/>
          </a:xfrm>
          <a:prstGeom prst="rect">
            <a:avLst/>
          </a:prstGeom>
        </p:spPr>
        <p:txBody>
          <a:bodyPr vert="horz" lIns="91440" tIns="45720" rIns="91440" bIns="45720" rtlCol="0" anchor="t">
            <a:noAutofit/>
          </a:bodyPr>
          <a:lstStyle>
            <a:lvl1pPr marL="2857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400" kern="1200" cap="none">
                <a:solidFill>
                  <a:schemeClr val="bg1"/>
                </a:solidFill>
                <a:effectLst/>
                <a:latin typeface="+mn-lt"/>
                <a:ea typeface="+mn-ea"/>
                <a:cs typeface="+mn-cs"/>
              </a:defRPr>
            </a:lvl1pPr>
            <a:lvl2pPr marL="7429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2000" kern="1200" cap="none">
                <a:solidFill>
                  <a:schemeClr val="bg1"/>
                </a:solidFill>
                <a:effectLst/>
                <a:latin typeface="+mn-lt"/>
                <a:ea typeface="+mn-ea"/>
                <a:cs typeface="+mn-cs"/>
              </a:defRPr>
            </a:lvl2pPr>
            <a:lvl3pPr marL="1200150" indent="-2857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800" kern="1200" cap="none">
                <a:solidFill>
                  <a:schemeClr val="bg1"/>
                </a:solidFill>
                <a:effectLst/>
                <a:latin typeface="+mn-lt"/>
                <a:ea typeface="+mn-ea"/>
                <a:cs typeface="+mn-cs"/>
              </a:defRPr>
            </a:lvl3pPr>
            <a:lvl4pPr marL="15430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4pPr>
            <a:lvl5pPr marL="2000250" indent="-171450" algn="l" defTabSz="457200" rtl="0" eaLnBrk="1" latinLnBrk="0" hangingPunct="1">
              <a:spcBef>
                <a:spcPct val="20000"/>
              </a:spcBef>
              <a:spcAft>
                <a:spcPts val="600"/>
              </a:spcAft>
              <a:buClr>
                <a:schemeClr val="accent1"/>
              </a:buClr>
              <a:buSzPct val="80000"/>
              <a:buFont typeface="Wingdings 3" panose="05040102010807070707" pitchFamily="18" charset="2"/>
              <a:buChar char=""/>
              <a:defRPr sz="1600" kern="1200" cap="none">
                <a:solidFill>
                  <a:schemeClr val="bg1"/>
                </a:solidFill>
                <a:effectLst/>
                <a:latin typeface="+mn-lt"/>
                <a:ea typeface="+mn-ea"/>
                <a:cs typeface="+mn-cs"/>
              </a:defRPr>
            </a:lvl5pPr>
            <a:lvl6pPr marL="25146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6pPr>
            <a:lvl7pPr marL="29718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7pPr>
            <a:lvl8pPr marL="34290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8pPr>
            <a:lvl9pPr marL="3886200" indent="-228600" algn="l" defTabSz="457200" rtl="0" eaLnBrk="1" latinLnBrk="0" hangingPunct="1">
              <a:spcBef>
                <a:spcPct val="20000"/>
              </a:spcBef>
              <a:spcAft>
                <a:spcPts val="600"/>
              </a:spcAft>
              <a:buClr>
                <a:schemeClr val="tx1"/>
              </a:buClr>
              <a:buSzPct val="80000"/>
              <a:buFont typeface="Wingdings 3" panose="05040102010807070707" pitchFamily="18" charset="2"/>
              <a:buChar char=""/>
              <a:defRPr sz="1400" kern="1200" cap="none">
                <a:solidFill>
                  <a:schemeClr val="bg2">
                    <a:lumMod val="75000"/>
                  </a:schemeClr>
                </a:solidFill>
                <a:effectLst/>
                <a:latin typeface="+mn-lt"/>
                <a:ea typeface="+mn-ea"/>
                <a:cs typeface="+mn-cs"/>
              </a:defRPr>
            </a:lvl9pPr>
          </a:lstStyle>
          <a:p>
            <a:pPr marL="0" indent="0">
              <a:lnSpc>
                <a:spcPts val="2000"/>
              </a:lnSpc>
              <a:spcBef>
                <a:spcPts val="0"/>
              </a:spcBef>
              <a:spcAft>
                <a:spcPts val="0"/>
              </a:spcAft>
              <a:buFont typeface="Wingdings 3" panose="05040102010807070707" pitchFamily="18" charset="2"/>
              <a:buNone/>
            </a:pPr>
            <a:r>
              <a:rPr lang="en-CA" sz="1600" dirty="0">
                <a:solidFill>
                  <a:schemeClr val="accent6">
                    <a:lumMod val="75000"/>
                  </a:schemeClr>
                </a:solidFill>
                <a:latin typeface="Courier New" panose="02070309020205020404" pitchFamily="49" charset="0"/>
                <a:cs typeface="Courier New" panose="02070309020205020404" pitchFamily="49" charset="0"/>
              </a:rPr>
              <a:t> </a:t>
            </a:r>
            <a:r>
              <a:rPr lang="en-CA" sz="1600" dirty="0" smtClean="0">
                <a:solidFill>
                  <a:schemeClr val="accent6">
                    <a:lumMod val="75000"/>
                  </a:schemeClr>
                </a:solidFill>
                <a:latin typeface="Courier New" panose="02070309020205020404" pitchFamily="49" charset="0"/>
                <a:cs typeface="Courier New" panose="02070309020205020404" pitchFamily="49" charset="0"/>
              </a:rPr>
              <a:t> </a:t>
            </a:r>
            <a:r>
              <a:rPr lang="en-CA" sz="1600" dirty="0" err="1" smtClean="0">
                <a:solidFill>
                  <a:schemeClr val="accent6">
                    <a:lumMod val="75000"/>
                  </a:schemeClr>
                </a:solidFill>
                <a:latin typeface="Courier New" panose="02070309020205020404" pitchFamily="49" charset="0"/>
                <a:cs typeface="Courier New" panose="02070309020205020404" pitchFamily="49" charset="0"/>
              </a:rPr>
              <a:t>int</a:t>
            </a:r>
            <a:r>
              <a:rPr lang="en-CA" sz="1600" dirty="0" smtClean="0">
                <a:latin typeface="Courier New" panose="02070309020205020404" pitchFamily="49" charset="0"/>
                <a:cs typeface="Courier New" panose="02070309020205020404" pitchFamily="49" charset="0"/>
              </a:rPr>
              <a:t> </a:t>
            </a:r>
            <a:r>
              <a:rPr lang="en-CA" sz="1600" b="1" dirty="0" err="1" smtClean="0">
                <a:latin typeface="Courier New" panose="02070309020205020404" pitchFamily="49" charset="0"/>
                <a:cs typeface="Courier New" panose="02070309020205020404" pitchFamily="49" charset="0"/>
              </a:rPr>
              <a:t>process_btrfs</a:t>
            </a:r>
            <a:r>
              <a:rPr lang="en-CA" sz="1600" dirty="0" smtClean="0">
                <a:latin typeface="Courier New" panose="02070309020205020404" pitchFamily="49" charset="0"/>
                <a:cs typeface="Courier New" panose="02070309020205020404" pitchFamily="49" charset="0"/>
              </a:rPr>
              <a:t>(vector&lt;Extent</a:t>
            </a:r>
            <a:r>
              <a:rPr lang="en-CA" sz="1600" dirty="0" smtClean="0">
                <a:latin typeface="Courier New" panose="02070309020205020404" pitchFamily="49" charset="0"/>
                <a:cs typeface="Courier New" panose="02070309020205020404" pitchFamily="49" charset="0"/>
              </a:rPr>
              <a:t>&gt; &amp; </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 Device &amp; dev) {</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(dev</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2</a:t>
            </a:r>
            <a:r>
              <a:rPr lang="en-CA" sz="1600" dirty="0" smtClean="0">
                <a:latin typeface="Courier New" panose="02070309020205020404" pitchFamily="49" charset="0"/>
                <a:cs typeface="Courier New" panose="02070309020205020404" pitchFamily="49" charset="0"/>
              </a:rPr>
              <a:t>:  </a:t>
            </a:r>
            <a:r>
              <a:rPr lang="en-CA" sz="1600" dirty="0">
                <a:solidFill>
                  <a:schemeClr val="accent4">
                    <a:lumMod val="75000"/>
                  </a:schemeClr>
                </a:solidFill>
                <a:latin typeface="Courier New" panose="02070309020205020404" pitchFamily="49" charset="0"/>
                <a:cs typeface="Courier New" panose="02070309020205020404" pitchFamily="49" charset="0"/>
              </a:rPr>
              <a:t>/* read super block into memory */</a:t>
            </a:r>
          </a:p>
          <a:p>
            <a:pPr marL="0" indent="0">
              <a:lnSpc>
                <a:spcPts val="2000"/>
              </a:lnSpc>
              <a:spcBef>
                <a:spcPts val="0"/>
              </a:spcBef>
              <a:spcAft>
                <a:spcPts val="0"/>
              </a:spcAft>
              <a:buNone/>
            </a:pPr>
            <a:r>
              <a:rPr lang="en-CA" sz="1600" b="1" dirty="0">
                <a:latin typeface="Courier New" panose="02070309020205020404" pitchFamily="49" charset="0"/>
                <a:cs typeface="Courier New" panose="02070309020205020404" pitchFamily="49" charset="0"/>
              </a:rPr>
              <a:t>3</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err="1" smtClean="0">
                <a:latin typeface="Courier New" panose="02070309020205020404" pitchFamily="49" charset="0"/>
                <a:cs typeface="Courier New" panose="02070309020205020404" pitchFamily="49" charset="0"/>
              </a:rPr>
              <a:t>Btrfs</a:t>
            </a:r>
            <a:r>
              <a:rPr lang="en-CA" sz="1600" dirty="0" smtClean="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SuperBlock</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smtClean="0">
                <a:latin typeface="Courier New" panose="02070309020205020404" pitchFamily="49" charset="0"/>
                <a:cs typeface="Courier New" panose="02070309020205020404" pitchFamily="49" charset="0"/>
              </a:rPr>
              <a:t>btrfs.fetch_super</a:t>
            </a:r>
            <a:r>
              <a:rPr lang="en-CA" sz="1600" dirty="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a:latin typeface="Courier New" panose="02070309020205020404" pitchFamily="49" charset="0"/>
                <a:cs typeface="Courier New" panose="02070309020205020404" pitchFamily="49" charset="0"/>
              </a:rPr>
              <a:t>4</a:t>
            </a:r>
            <a:r>
              <a:rPr lang="en-CA" sz="1600" dirty="0" smtClean="0">
                <a:latin typeface="Courier New" panose="02070309020205020404" pitchFamily="49" charset="0"/>
                <a:cs typeface="Courier New" panose="02070309020205020404" pitchFamily="49" charset="0"/>
              </a:rPr>
              <a:t>:  if </a:t>
            </a:r>
            <a:r>
              <a:rPr lang="en-CA" sz="1600" dirty="0">
                <a:latin typeface="Courier New" panose="02070309020205020404" pitchFamily="49" charset="0"/>
                <a:cs typeface="Courier New" panose="02070309020205020404" pitchFamily="49" charset="0"/>
              </a:rPr>
              <a:t>(</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 == </a:t>
            </a:r>
            <a:r>
              <a:rPr lang="en-CA" sz="1600" dirty="0" err="1">
                <a:latin typeface="Courier New" panose="02070309020205020404" pitchFamily="49" charset="0"/>
                <a:cs typeface="Courier New" panose="02070309020205020404" pitchFamily="49" charset="0"/>
              </a:rPr>
              <a:t>nullptr</a:t>
            </a:r>
            <a:r>
              <a:rPr lang="en-CA" sz="1600" dirty="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smtClean="0">
                <a:solidFill>
                  <a:srgbClr val="0070C0"/>
                </a:solidFill>
                <a:latin typeface="Courier New" panose="02070309020205020404" pitchFamily="49" charset="0"/>
                <a:cs typeface="Courier New" panose="02070309020205020404" pitchFamily="49" charset="0"/>
              </a:rPr>
              <a:t>-1</a:t>
            </a:r>
            <a:r>
              <a:rPr lang="en-CA" sz="1600" dirty="0" smtClean="0">
                <a:latin typeface="Courier New" panose="02070309020205020404" pitchFamily="49" charset="0"/>
                <a:cs typeface="Courier New" panose="02070309020205020404" pitchFamily="49" charset="0"/>
              </a:rPr>
              <a:t>;</a:t>
            </a:r>
            <a:endParaRPr lang="en-CA" sz="1600" dirty="0">
              <a:latin typeface="Courier New" panose="02070309020205020404" pitchFamily="49" charset="0"/>
              <a:cs typeface="Courier New" panose="02070309020205020404" pitchFamily="49" charset="0"/>
            </a:endParaRP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5:  </a:t>
            </a:r>
            <a:r>
              <a:rPr lang="en-CA" sz="1600" dirty="0" err="1" smtClean="0">
                <a:latin typeface="Courier New" panose="02070309020205020404" pitchFamily="49" charset="0"/>
                <a:cs typeface="Courier New" panose="02070309020205020404" pitchFamily="49" charset="0"/>
              </a:rPr>
              <a:t>dev.set_block_size</a:t>
            </a:r>
            <a:r>
              <a:rPr lang="en-CA" sz="1600" dirty="0" smtClean="0">
                <a:latin typeface="Courier New" panose="02070309020205020404" pitchFamily="49" charset="0"/>
                <a:cs typeface="Courier New" panose="02070309020205020404" pitchFamily="49" charset="0"/>
              </a:rPr>
              <a:t>(</a:t>
            </a:r>
            <a:r>
              <a:rPr lang="en-CA" sz="1600" dirty="0" err="1" smtClean="0">
                <a:latin typeface="Courier New" panose="02070309020205020404" pitchFamily="49" charset="0"/>
                <a:cs typeface="Courier New" panose="02070309020205020404" pitchFamily="49" charset="0"/>
              </a:rPr>
              <a:t>sb</a:t>
            </a:r>
            <a:r>
              <a:rPr lang="en-CA" sz="1600" dirty="0" smtClean="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sectorsize</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6:  </a:t>
            </a:r>
            <a:r>
              <a:rPr lang="en-CA" sz="1600" dirty="0" smtClean="0">
                <a:solidFill>
                  <a:schemeClr val="accent4">
                    <a:lumMod val="75000"/>
                  </a:schemeClr>
                </a:solidFill>
                <a:latin typeface="Courier New" panose="02070309020205020404" pitchFamily="49" charset="0"/>
                <a:cs typeface="Courier New" panose="02070309020205020404" pitchFamily="49" charset="0"/>
              </a:rPr>
              <a:t>/* traverse file system and find/process all extent items */</a:t>
            </a:r>
          </a:p>
          <a:p>
            <a:pPr marL="0" indent="0">
              <a:lnSpc>
                <a:spcPts val="2000"/>
              </a:lnSpc>
              <a:spcBef>
                <a:spcPts val="0"/>
              </a:spcBef>
              <a:spcAft>
                <a:spcPts val="0"/>
              </a:spcAft>
              <a:buNone/>
            </a:pPr>
            <a:r>
              <a:rPr lang="en-CA" sz="1600" b="1" dirty="0" smtClean="0">
                <a:latin typeface="Courier New" panose="02070309020205020404" pitchFamily="49" charset="0"/>
                <a:cs typeface="Courier New" panose="02070309020205020404" pitchFamily="49" charset="0"/>
              </a:rPr>
              <a:t>7</a:t>
            </a:r>
            <a:r>
              <a:rPr lang="en-CA" sz="1600" dirty="0" smtClean="0">
                <a:latin typeface="Courier New" panose="02070309020205020404" pitchFamily="49" charset="0"/>
                <a:cs typeface="Courier New" panose="02070309020205020404" pitchFamily="49" charset="0"/>
              </a:rPr>
              <a:t>:</a:t>
            </a:r>
            <a:r>
              <a:rPr lang="en-CA" sz="1600" b="1"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return </a:t>
            </a:r>
            <a:r>
              <a:rPr lang="en-CA" sz="1600" dirty="0" err="1">
                <a:latin typeface="Courier New" panose="02070309020205020404" pitchFamily="49" charset="0"/>
                <a:cs typeface="Courier New" panose="02070309020205020404" pitchFamily="49" charset="0"/>
              </a:rPr>
              <a:t>sb</a:t>
            </a:r>
            <a:r>
              <a:rPr lang="en-CA" sz="1600" dirty="0">
                <a:latin typeface="Courier New" panose="02070309020205020404" pitchFamily="49" charset="0"/>
                <a:cs typeface="Courier New" panose="02070309020205020404" pitchFamily="49" charset="0"/>
              </a:rPr>
              <a:t>-&gt;</a:t>
            </a:r>
            <a:r>
              <a:rPr lang="en-CA" sz="1600" dirty="0" err="1" smtClean="0">
                <a:latin typeface="Courier New" panose="02070309020205020404" pitchFamily="49" charset="0"/>
                <a:cs typeface="Courier New" panose="02070309020205020404" pitchFamily="49" charset="0"/>
              </a:rPr>
              <a:t>process_by_type</a:t>
            </a:r>
            <a:r>
              <a:rPr lang="en-CA" sz="1600" dirty="0" smtClean="0">
                <a:latin typeface="Courier New" panose="02070309020205020404" pitchFamily="49" charset="0"/>
                <a:cs typeface="Courier New" panose="02070309020205020404" pitchFamily="49" charset="0"/>
              </a:rPr>
              <a:t>(EXTENT_ITEM, </a:t>
            </a:r>
            <a:r>
              <a:rPr lang="en-CA" sz="1600" dirty="0" err="1" smtClean="0">
                <a:latin typeface="Courier New" panose="02070309020205020404" pitchFamily="49" charset="0"/>
                <a:cs typeface="Courier New" panose="02070309020205020404" pitchFamily="49" charset="0"/>
              </a:rPr>
              <a:t>process_extent_item</a:t>
            </a:r>
            <a:r>
              <a:rPr lang="en-CA" sz="1600" dirty="0" smtClean="0">
                <a:latin typeface="Courier New" panose="02070309020205020404" pitchFamily="49" charset="0"/>
                <a:cs typeface="Courier New" panose="02070309020205020404" pitchFamily="49" charset="0"/>
              </a:rPr>
              <a:t>, </a:t>
            </a:r>
            <a:r>
              <a:rPr lang="en-CA" sz="1600" dirty="0" smtClean="0">
                <a:latin typeface="Courier New" panose="02070309020205020404" pitchFamily="49" charset="0"/>
                <a:cs typeface="Courier New" panose="02070309020205020404" pitchFamily="49" charset="0"/>
              </a:rPr>
              <a:t>&amp;</a:t>
            </a:r>
            <a:r>
              <a:rPr lang="en-CA" sz="1600" dirty="0" err="1" smtClean="0">
                <a:latin typeface="Courier New" panose="02070309020205020404" pitchFamily="49" charset="0"/>
                <a:cs typeface="Courier New" panose="02070309020205020404" pitchFamily="49" charset="0"/>
              </a:rPr>
              <a:t>vec</a:t>
            </a:r>
            <a:r>
              <a:rPr lang="en-CA" sz="1600" dirty="0" smtClean="0">
                <a:latin typeface="Courier New" panose="02070309020205020404" pitchFamily="49" charset="0"/>
                <a:cs typeface="Courier New" panose="02070309020205020404" pitchFamily="49" charset="0"/>
              </a:rPr>
              <a:t>);</a:t>
            </a:r>
          </a:p>
          <a:p>
            <a:pPr marL="0" indent="0">
              <a:lnSpc>
                <a:spcPts val="2000"/>
              </a:lnSpc>
              <a:spcBef>
                <a:spcPts val="0"/>
              </a:spcBef>
              <a:spcAft>
                <a:spcPts val="0"/>
              </a:spcAft>
              <a:buNone/>
            </a:pPr>
            <a:r>
              <a:rPr lang="en-CA" sz="1600" dirty="0" smtClean="0">
                <a:latin typeface="Courier New" panose="02070309020205020404" pitchFamily="49" charset="0"/>
                <a:cs typeface="Courier New" panose="02070309020205020404" pitchFamily="49" charset="0"/>
              </a:rPr>
              <a:t>  }</a:t>
            </a:r>
          </a:p>
        </p:txBody>
      </p:sp>
    </p:spTree>
    <p:extLst>
      <p:ext uri="{BB962C8B-B14F-4D97-AF65-F5344CB8AC3E}">
        <p14:creationId xmlns:p14="http://schemas.microsoft.com/office/powerpoint/2010/main" val="2275067380"/>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Offline Spiffy Applications</a:t>
            </a:r>
            <a:endParaRPr lang="en-CA" dirty="0"/>
          </a:p>
        </p:txBody>
      </p:sp>
      <p:sp>
        <p:nvSpPr>
          <p:cNvPr id="3" name="Content Placeholder 2"/>
          <p:cNvSpPr>
            <a:spLocks noGrp="1"/>
          </p:cNvSpPr>
          <p:nvPr>
            <p:ph idx="1"/>
          </p:nvPr>
        </p:nvSpPr>
        <p:spPr/>
        <p:txBody>
          <a:bodyPr/>
          <a:lstStyle/>
          <a:p>
            <a:r>
              <a:rPr lang="en-CA" smtClean="0"/>
              <a:t>Have exclusive access to file system image</a:t>
            </a:r>
          </a:p>
          <a:p>
            <a:r>
              <a:rPr lang="en-CA" smtClean="0"/>
              <a:t>File System Dump Tool</a:t>
            </a:r>
          </a:p>
          <a:p>
            <a:pPr lvl="1"/>
            <a:r>
              <a:rPr lang="en-CA" smtClean="0"/>
              <a:t>Prints out all metadata in a file system</a:t>
            </a:r>
          </a:p>
          <a:p>
            <a:r>
              <a:rPr lang="en-CA" smtClean="0"/>
              <a:t>Type-Specific File System Corruptor</a:t>
            </a:r>
          </a:p>
          <a:p>
            <a:pPr lvl="1"/>
            <a:r>
              <a:rPr lang="en-CA" smtClean="0"/>
              <a:t>Finds and corrupts a field in a specified structure</a:t>
            </a:r>
          </a:p>
          <a:p>
            <a:r>
              <a:rPr lang="en-CA" smtClean="0"/>
              <a:t>File System Conversion Tool</a:t>
            </a:r>
          </a:p>
          <a:p>
            <a:pPr lvl="1"/>
            <a:r>
              <a:rPr lang="en-CA" smtClean="0"/>
              <a:t>Converts from one file system to another</a:t>
            </a:r>
          </a:p>
          <a:p>
            <a:pPr lvl="1"/>
            <a:r>
              <a:rPr lang="en-CA" smtClean="0"/>
              <a:t>minimizes moving of data blocks</a:t>
            </a:r>
          </a:p>
          <a:p>
            <a:pPr lvl="1"/>
            <a:r>
              <a:rPr lang="en-CA" smtClean="0"/>
              <a:t>Faster than copying to a difference device, reformat, and copy back	</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30</a:t>
            </a:fld>
            <a:endParaRPr lang="en-CA" dirty="0"/>
          </a:p>
        </p:txBody>
      </p:sp>
    </p:spTree>
    <p:extLst>
      <p:ext uri="{BB962C8B-B14F-4D97-AF65-F5344CB8AC3E}">
        <p14:creationId xmlns:p14="http://schemas.microsoft.com/office/powerpoint/2010/main" val="1364355086"/>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Online Applications</a:t>
            </a:r>
            <a:endParaRPr lang="en-CA" dirty="0"/>
          </a:p>
        </p:txBody>
      </p:sp>
      <p:sp>
        <p:nvSpPr>
          <p:cNvPr id="3" name="Content Placeholder 2"/>
          <p:cNvSpPr>
            <a:spLocks noGrp="1"/>
          </p:cNvSpPr>
          <p:nvPr>
            <p:ph idx="1"/>
          </p:nvPr>
        </p:nvSpPr>
        <p:spPr/>
        <p:txBody>
          <a:bodyPr/>
          <a:lstStyle/>
          <a:p>
            <a:r>
              <a:rPr lang="en-CA" smtClean="0"/>
              <a:t>Operates while file system is in-use</a:t>
            </a:r>
          </a:p>
          <a:p>
            <a:r>
              <a:rPr lang="en-CA" smtClean="0"/>
              <a:t>Differentiated Storage Service</a:t>
            </a:r>
          </a:p>
          <a:p>
            <a:pPr lvl="1"/>
            <a:r>
              <a:rPr lang="en-CA" smtClean="0"/>
              <a:t>Prioritize metadata and small files</a:t>
            </a:r>
          </a:p>
          <a:p>
            <a:pPr lvl="1"/>
            <a:r>
              <a:rPr lang="en-CA" smtClean="0"/>
              <a:t>Difficult to implement</a:t>
            </a:r>
          </a:p>
          <a:p>
            <a:pPr lvl="1"/>
            <a:r>
              <a:rPr lang="en-CA" smtClean="0"/>
              <a:t>Requires file system to provide hints to block layer</a:t>
            </a:r>
          </a:p>
          <a:p>
            <a:r>
              <a:rPr lang="en-CA" smtClean="0"/>
              <a:t>Runtime Interpretation</a:t>
            </a:r>
          </a:p>
          <a:p>
            <a:pPr lvl="1"/>
            <a:r>
              <a:rPr lang="en-CA" smtClean="0"/>
              <a:t>Classifies file system IO at the block layer</a:t>
            </a:r>
          </a:p>
          <a:p>
            <a:pPr lvl="1"/>
            <a:r>
              <a:rPr lang="en-CA" smtClean="0"/>
              <a:t>Requires no modification to file system</a:t>
            </a:r>
          </a:p>
          <a:p>
            <a:pPr lvl="1"/>
            <a:r>
              <a:rPr lang="en-CA" smtClean="0"/>
              <a:t>Requires little file-system specific code</a:t>
            </a:r>
          </a:p>
          <a:p>
            <a:r>
              <a:rPr lang="en-CA" smtClean="0"/>
              <a:t>Spiffy Block Layer Cache</a:t>
            </a:r>
          </a:p>
          <a:p>
            <a:pPr lvl="1"/>
            <a:r>
              <a:rPr lang="en-CA" smtClean="0"/>
              <a:t>Preferentially caches files belonging to priority users</a:t>
            </a:r>
          </a:p>
          <a:p>
            <a:pPr lvl="1"/>
            <a:endParaRPr lang="en-CA" dirty="0"/>
          </a:p>
        </p:txBody>
      </p:sp>
      <p:sp>
        <p:nvSpPr>
          <p:cNvPr id="5" name="Slide Number Placeholder 4"/>
          <p:cNvSpPr>
            <a:spLocks noGrp="1"/>
          </p:cNvSpPr>
          <p:nvPr>
            <p:ph type="sldNum" sz="quarter" idx="12"/>
          </p:nvPr>
        </p:nvSpPr>
        <p:spPr/>
        <p:txBody>
          <a:bodyPr/>
          <a:lstStyle/>
          <a:p>
            <a:fld id="{7B2023C8-B124-43A9-8F92-0EEF5BAA9995}" type="slidenum">
              <a:rPr lang="en-CA" smtClean="0"/>
              <a:pPr/>
              <a:t>31</a:t>
            </a:fld>
            <a:endParaRPr lang="en-CA" dirty="0"/>
          </a:p>
        </p:txBody>
      </p:sp>
    </p:spTree>
    <p:extLst>
      <p:ext uri="{BB962C8B-B14F-4D97-AF65-F5344CB8AC3E}">
        <p14:creationId xmlns:p14="http://schemas.microsoft.com/office/powerpoint/2010/main" val="2815511303"/>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Ext4 to F2FS Converter</a:t>
            </a:r>
            <a:endParaRPr lang="en-CA" dirty="0"/>
          </a:p>
        </p:txBody>
      </p:sp>
      <p:sp>
        <p:nvSpPr>
          <p:cNvPr id="3" name="Content Placeholder 2"/>
          <p:cNvSpPr>
            <a:spLocks noGrp="1"/>
          </p:cNvSpPr>
          <p:nvPr>
            <p:ph idx="1"/>
          </p:nvPr>
        </p:nvSpPr>
        <p:spPr/>
        <p:txBody>
          <a:bodyPr/>
          <a:lstStyle/>
          <a:p>
            <a:r>
              <a:rPr lang="en-CA" smtClean="0"/>
              <a:t>Converts 64GB file system with 16GB file set on SSD</a:t>
            </a:r>
          </a:p>
          <a:p>
            <a:pPr lvl="1"/>
            <a:r>
              <a:rPr lang="en-CA" smtClean="0"/>
              <a:t>Copy converter copies data to local disk, reformat, then copies back</a:t>
            </a:r>
          </a:p>
          <a:p>
            <a:pPr lvl="1"/>
            <a:r>
              <a:rPr lang="en-CA" smtClean="0"/>
              <a:t>Spiffy converter and Manual converter minimizes moving data blocks</a:t>
            </a:r>
          </a:p>
          <a:p>
            <a:endParaRPr lang="en-CA" smtClean="0"/>
          </a:p>
          <a:p>
            <a:endParaRPr lang="en-CA" smtClean="0"/>
          </a:p>
          <a:p>
            <a:endParaRPr lang="en-CA" smtClean="0"/>
          </a:p>
          <a:p>
            <a:endParaRPr lang="en-CA" smtClean="0"/>
          </a:p>
          <a:p>
            <a:endParaRPr lang="en-CA" smtClean="0"/>
          </a:p>
          <a:p>
            <a:r>
              <a:rPr lang="en-CA" smtClean="0"/>
              <a:t>Copy converter 30~50 times slower</a:t>
            </a:r>
          </a:p>
          <a:p>
            <a:r>
              <a:rPr lang="en-CA" smtClean="0"/>
              <a:t>Overhead of using Spiffy at most 16.7%</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32</a:t>
            </a:fld>
            <a:endParaRPr lang="en-CA" dirty="0"/>
          </a:p>
        </p:txBody>
      </p:sp>
      <p:graphicFrame>
        <p:nvGraphicFramePr>
          <p:cNvPr id="7" name="Chart 6"/>
          <p:cNvGraphicFramePr>
            <a:graphicFrameLocks/>
          </p:cNvGraphicFramePr>
          <p:nvPr>
            <p:extLst>
              <p:ext uri="{D42A27DB-BD31-4B8C-83A1-F6EECF244321}">
                <p14:modId xmlns:p14="http://schemas.microsoft.com/office/powerpoint/2010/main" val="228874709"/>
              </p:ext>
            </p:extLst>
          </p:nvPr>
        </p:nvGraphicFramePr>
        <p:xfrm>
          <a:off x="1420739" y="1630018"/>
          <a:ext cx="8167835" cy="4283420"/>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496817654"/>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Conclusion</a:t>
            </a:r>
            <a:endParaRPr lang="en-CA" dirty="0"/>
          </a:p>
        </p:txBody>
      </p:sp>
      <p:sp>
        <p:nvSpPr>
          <p:cNvPr id="3" name="Content Placeholder 2"/>
          <p:cNvSpPr>
            <a:spLocks noGrp="1"/>
          </p:cNvSpPr>
          <p:nvPr>
            <p:ph idx="1"/>
          </p:nvPr>
        </p:nvSpPr>
        <p:spPr/>
        <p:txBody>
          <a:bodyPr/>
          <a:lstStyle/>
          <a:p>
            <a:r>
              <a:rPr lang="en-CA" smtClean="0"/>
              <a:t>Spiffy framework</a:t>
            </a:r>
          </a:p>
          <a:p>
            <a:pPr lvl="1"/>
            <a:r>
              <a:rPr lang="en-CA" smtClean="0"/>
              <a:t>Annotation language for specifying file system format</a:t>
            </a:r>
          </a:p>
          <a:p>
            <a:pPr lvl="1"/>
            <a:r>
              <a:rPr lang="en-CA" smtClean="0"/>
              <a:t>API for interpreting, and traversing file system metadata</a:t>
            </a:r>
          </a:p>
          <a:p>
            <a:pPr lvl="2"/>
            <a:r>
              <a:rPr lang="en-CA" smtClean="0"/>
              <a:t>Simplifies development of file-system aware applications</a:t>
            </a:r>
          </a:p>
          <a:p>
            <a:pPr lvl="2"/>
            <a:r>
              <a:rPr lang="en-CA" smtClean="0"/>
              <a:t>Reduces file-system specific code</a:t>
            </a:r>
          </a:p>
          <a:p>
            <a:pPr lvl="2"/>
            <a:r>
              <a:rPr lang="en-CA" smtClean="0"/>
              <a:t>Enables code reuse across file systems</a:t>
            </a:r>
          </a:p>
          <a:p>
            <a:pPr lvl="1"/>
            <a:r>
              <a:rPr lang="en-CA" smtClean="0"/>
              <a:t>Generated library from annotated data structures</a:t>
            </a:r>
          </a:p>
          <a:p>
            <a:pPr lvl="2"/>
            <a:r>
              <a:rPr lang="en-CA" smtClean="0"/>
              <a:t>Robust against file system corruption</a:t>
            </a:r>
          </a:p>
          <a:p>
            <a:pPr lvl="2"/>
            <a:r>
              <a:rPr lang="en-CA" smtClean="0"/>
              <a:t>Achieves good performance</a:t>
            </a:r>
          </a:p>
          <a:p>
            <a:endParaRPr lang="en-CA" smtClean="0"/>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33</a:t>
            </a:fld>
            <a:endParaRPr lang="en-CA" dirty="0"/>
          </a:p>
        </p:txBody>
      </p:sp>
    </p:spTree>
    <p:extLst>
      <p:ext uri="{BB962C8B-B14F-4D97-AF65-F5344CB8AC3E}">
        <p14:creationId xmlns:p14="http://schemas.microsoft.com/office/powerpoint/2010/main" val="169057136"/>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Programming Effort</a:t>
            </a:r>
            <a:endParaRPr lang="en-CA" dirty="0"/>
          </a:p>
        </p:txBody>
      </p:sp>
      <p:sp>
        <p:nvSpPr>
          <p:cNvPr id="3" name="Content Placeholder 2"/>
          <p:cNvSpPr>
            <a:spLocks noGrp="1"/>
          </p:cNvSpPr>
          <p:nvPr>
            <p:ph idx="1"/>
          </p:nvPr>
        </p:nvSpPr>
        <p:spPr/>
        <p:txBody>
          <a:bodyPr/>
          <a:lstStyle/>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Programming effort reduced for read-only file system applications</a:t>
            </a:r>
          </a:p>
          <a:p>
            <a:pPr lvl="1"/>
            <a:r>
              <a:rPr lang="en-CA" smtClean="0"/>
              <a:t>Both online and offline</a:t>
            </a:r>
            <a:endParaRPr lang="en-CA" dirty="0"/>
          </a:p>
        </p:txBody>
      </p:sp>
      <p:sp>
        <p:nvSpPr>
          <p:cNvPr id="6" name="Slide Number Placeholder 5"/>
          <p:cNvSpPr>
            <a:spLocks noGrp="1"/>
          </p:cNvSpPr>
          <p:nvPr>
            <p:ph type="sldNum" sz="quarter" idx="12"/>
          </p:nvPr>
        </p:nvSpPr>
        <p:spPr/>
        <p:txBody>
          <a:bodyPr/>
          <a:lstStyle/>
          <a:p>
            <a:fld id="{7B2023C8-B124-43A9-8F92-0EEF5BAA9995}" type="slidenum">
              <a:rPr lang="en-CA" smtClean="0"/>
              <a:pPr/>
              <a:t>34</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3410067637"/>
              </p:ext>
            </p:extLst>
          </p:nvPr>
        </p:nvGraphicFramePr>
        <p:xfrm>
          <a:off x="806374" y="1543050"/>
          <a:ext cx="8901277" cy="3337560"/>
        </p:xfrm>
        <a:graphic>
          <a:graphicData uri="http://schemas.openxmlformats.org/drawingml/2006/table">
            <a:tbl>
              <a:tblPr firstRow="1" bandRow="1">
                <a:tableStyleId>{69012ECD-51FC-41F1-AA8D-1B2483CD663E}</a:tableStyleId>
              </a:tblPr>
              <a:tblGrid>
                <a:gridCol w="3593986">
                  <a:extLst>
                    <a:ext uri="{9D8B030D-6E8A-4147-A177-3AD203B41FA5}">
                      <a16:colId xmlns:a16="http://schemas.microsoft.com/office/drawing/2014/main" xmlns="" val="20000"/>
                    </a:ext>
                  </a:extLst>
                </a:gridCol>
                <a:gridCol w="2017336">
                  <a:extLst>
                    <a:ext uri="{9D8B030D-6E8A-4147-A177-3AD203B41FA5}">
                      <a16:colId xmlns:a16="http://schemas.microsoft.com/office/drawing/2014/main" xmlns="" val="20001"/>
                    </a:ext>
                  </a:extLst>
                </a:gridCol>
                <a:gridCol w="3289955">
                  <a:extLst>
                    <a:ext uri="{9D8B030D-6E8A-4147-A177-3AD203B41FA5}">
                      <a16:colId xmlns:a16="http://schemas.microsoft.com/office/drawing/2014/main" xmlns="" val="20002"/>
                    </a:ext>
                  </a:extLst>
                </a:gridCol>
              </a:tblGrid>
              <a:tr h="370840">
                <a:tc>
                  <a:txBody>
                    <a:bodyPr/>
                    <a:lstStyle/>
                    <a:p>
                      <a:r>
                        <a:rPr lang="en-CA" dirty="0" smtClean="0">
                          <a:solidFill>
                            <a:schemeClr val="tx1"/>
                          </a:solidFill>
                        </a:rPr>
                        <a:t>Applications</a:t>
                      </a:r>
                      <a:endParaRPr lang="en-CA" dirty="0">
                        <a:solidFill>
                          <a:schemeClr val="tx1"/>
                        </a:solidFill>
                      </a:endParaRPr>
                    </a:p>
                  </a:txBody>
                  <a:tcPr/>
                </a:tc>
                <a:tc>
                  <a:txBody>
                    <a:bodyPr/>
                    <a:lstStyle/>
                    <a:p>
                      <a:r>
                        <a:rPr lang="en-CA" dirty="0" smtClean="0">
                          <a:solidFill>
                            <a:schemeClr val="tx1"/>
                          </a:solidFill>
                        </a:rPr>
                        <a:t>Generic (LOC)</a:t>
                      </a:r>
                      <a:endParaRPr lang="en-CA" dirty="0">
                        <a:solidFill>
                          <a:schemeClr val="tx1"/>
                        </a:solidFill>
                      </a:endParaRPr>
                    </a:p>
                  </a:txBody>
                  <a:tcPr/>
                </a:tc>
                <a:tc>
                  <a:txBody>
                    <a:bodyPr/>
                    <a:lstStyle/>
                    <a:p>
                      <a:r>
                        <a:rPr lang="en-CA" dirty="0" smtClean="0">
                          <a:solidFill>
                            <a:schemeClr val="tx1"/>
                          </a:solidFill>
                        </a:rPr>
                        <a:t>File-System</a:t>
                      </a:r>
                      <a:r>
                        <a:rPr lang="en-CA" baseline="0" dirty="0" smtClean="0">
                          <a:solidFill>
                            <a:schemeClr val="tx1"/>
                          </a:solidFill>
                        </a:rPr>
                        <a:t> </a:t>
                      </a:r>
                      <a:r>
                        <a:rPr lang="en-CA" dirty="0" smtClean="0">
                          <a:solidFill>
                            <a:schemeClr val="tx1"/>
                          </a:solidFill>
                        </a:rPr>
                        <a:t>Specific (LOC)</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dirty="0" smtClean="0">
                          <a:solidFill>
                            <a:schemeClr val="bg1"/>
                          </a:solidFill>
                        </a:rPr>
                        <a:t>XML Dump Tool</a:t>
                      </a:r>
                      <a:endParaRPr lang="en-CA" dirty="0">
                        <a:solidFill>
                          <a:schemeClr val="bg1"/>
                        </a:solidFill>
                      </a:endParaRPr>
                    </a:p>
                  </a:txBody>
                  <a:tcPr/>
                </a:tc>
                <a:tc>
                  <a:txBody>
                    <a:bodyPr/>
                    <a:lstStyle/>
                    <a:p>
                      <a:r>
                        <a:rPr lang="en-CA" dirty="0" smtClean="0">
                          <a:solidFill>
                            <a:schemeClr val="bg1"/>
                          </a:solidFill>
                        </a:rPr>
                        <a:t>565</a:t>
                      </a:r>
                      <a:endParaRPr lang="en-CA" dirty="0">
                        <a:solidFill>
                          <a:schemeClr val="bg1"/>
                        </a:solidFill>
                      </a:endParaRPr>
                    </a:p>
                  </a:txBody>
                  <a:tcPr/>
                </a:tc>
                <a:tc>
                  <a:txBody>
                    <a:bodyPr/>
                    <a:lstStyle/>
                    <a:p>
                      <a:r>
                        <a:rPr lang="en-CA" dirty="0" smtClean="0">
                          <a:solidFill>
                            <a:schemeClr val="bg1"/>
                          </a:solidFill>
                        </a:rPr>
                        <a:t>40~50</a:t>
                      </a:r>
                      <a:endParaRPr lang="en-CA" dirty="0">
                        <a:solidFill>
                          <a:schemeClr val="bg1"/>
                        </a:solidFill>
                      </a:endParaRPr>
                    </a:p>
                  </a:txBody>
                  <a:tcPr/>
                </a:tc>
                <a:extLst>
                  <a:ext uri="{0D108BD9-81ED-4DB2-BD59-A6C34878D82A}">
                    <a16:rowId xmlns:a16="http://schemas.microsoft.com/office/drawing/2014/main" xmlns="" val="10001"/>
                  </a:ext>
                </a:extLst>
              </a:tr>
              <a:tr h="370840">
                <a:tc>
                  <a:txBody>
                    <a:bodyPr/>
                    <a:lstStyle/>
                    <a:p>
                      <a:r>
                        <a:rPr lang="en-CA" dirty="0" smtClean="0">
                          <a:solidFill>
                            <a:schemeClr val="bg1"/>
                          </a:solidFill>
                        </a:rPr>
                        <a:t>Free Space</a:t>
                      </a:r>
                      <a:r>
                        <a:rPr lang="en-CA" baseline="0" dirty="0" smtClean="0">
                          <a:solidFill>
                            <a:schemeClr val="bg1"/>
                          </a:solidFill>
                        </a:rPr>
                        <a:t> Display Tool</a:t>
                      </a:r>
                      <a:endParaRPr lang="en-CA" dirty="0">
                        <a:solidFill>
                          <a:schemeClr val="bg1"/>
                        </a:solidFill>
                      </a:endParaRPr>
                    </a:p>
                  </a:txBody>
                  <a:tcPr/>
                </a:tc>
                <a:tc>
                  <a:txBody>
                    <a:bodyPr/>
                    <a:lstStyle/>
                    <a:p>
                      <a:r>
                        <a:rPr lang="en-CA" dirty="0" smtClean="0">
                          <a:solidFill>
                            <a:schemeClr val="bg1"/>
                          </a:solidFill>
                        </a:rPr>
                        <a:t>271</a:t>
                      </a:r>
                      <a:endParaRPr lang="en-CA" dirty="0">
                        <a:solidFill>
                          <a:schemeClr val="bg1"/>
                        </a:solidFill>
                      </a:endParaRPr>
                    </a:p>
                  </a:txBody>
                  <a:tcPr/>
                </a:tc>
                <a:tc>
                  <a:txBody>
                    <a:bodyPr/>
                    <a:lstStyle/>
                    <a:p>
                      <a:r>
                        <a:rPr lang="en-CA" dirty="0" smtClean="0">
                          <a:solidFill>
                            <a:schemeClr val="bg1"/>
                          </a:solidFill>
                        </a:rPr>
                        <a:t>76~194 (F2FS)</a:t>
                      </a:r>
                      <a:endParaRPr lang="en-CA" dirty="0">
                        <a:solidFill>
                          <a:schemeClr val="bg1"/>
                        </a:solidFill>
                      </a:endParaRPr>
                    </a:p>
                  </a:txBody>
                  <a:tcPr/>
                </a:tc>
                <a:extLst>
                  <a:ext uri="{0D108BD9-81ED-4DB2-BD59-A6C34878D82A}">
                    <a16:rowId xmlns:a16="http://schemas.microsoft.com/office/drawing/2014/main" xmlns="" val="10002"/>
                  </a:ext>
                </a:extLst>
              </a:tr>
              <a:tr h="370840">
                <a:tc>
                  <a:txBody>
                    <a:bodyPr/>
                    <a:lstStyle/>
                    <a:p>
                      <a:r>
                        <a:rPr lang="en-CA" dirty="0" smtClean="0">
                          <a:solidFill>
                            <a:schemeClr val="bg1"/>
                          </a:solidFill>
                        </a:rPr>
                        <a:t>Type-Specific</a:t>
                      </a:r>
                      <a:r>
                        <a:rPr lang="en-CA" baseline="0" dirty="0" smtClean="0">
                          <a:solidFill>
                            <a:schemeClr val="bg1"/>
                          </a:solidFill>
                        </a:rPr>
                        <a:t> Corruptor</a:t>
                      </a:r>
                      <a:endParaRPr lang="en-CA" dirty="0">
                        <a:solidFill>
                          <a:schemeClr val="bg1"/>
                        </a:solidFill>
                      </a:endParaRPr>
                    </a:p>
                  </a:txBody>
                  <a:tcPr/>
                </a:tc>
                <a:tc>
                  <a:txBody>
                    <a:bodyPr/>
                    <a:lstStyle/>
                    <a:p>
                      <a:r>
                        <a:rPr lang="en-CA" dirty="0" smtClean="0">
                          <a:solidFill>
                            <a:schemeClr val="bg1"/>
                          </a:solidFill>
                        </a:rPr>
                        <a:t>455</a:t>
                      </a:r>
                      <a:endParaRPr lang="en-CA" dirty="0">
                        <a:solidFill>
                          <a:schemeClr val="bg1"/>
                        </a:solidFill>
                      </a:endParaRPr>
                    </a:p>
                  </a:txBody>
                  <a:tcPr/>
                </a:tc>
                <a:tc>
                  <a:txBody>
                    <a:bodyPr/>
                    <a:lstStyle/>
                    <a:p>
                      <a:r>
                        <a:rPr lang="en-CA" dirty="0" smtClean="0">
                          <a:solidFill>
                            <a:schemeClr val="bg1"/>
                          </a:solidFill>
                        </a:rPr>
                        <a:t>&lt; 30</a:t>
                      </a:r>
                      <a:endParaRPr lang="en-CA" dirty="0">
                        <a:solidFill>
                          <a:schemeClr val="bg1"/>
                        </a:solidFill>
                      </a:endParaRPr>
                    </a:p>
                  </a:txBody>
                  <a:tcPr/>
                </a:tc>
                <a:extLst>
                  <a:ext uri="{0D108BD9-81ED-4DB2-BD59-A6C34878D82A}">
                    <a16:rowId xmlns:a16="http://schemas.microsoft.com/office/drawing/2014/main" xmlns="" val="10003"/>
                  </a:ext>
                </a:extLst>
              </a:tr>
              <a:tr h="370840">
                <a:tc>
                  <a:txBody>
                    <a:bodyPr/>
                    <a:lstStyle/>
                    <a:p>
                      <a:r>
                        <a:rPr lang="en-CA" dirty="0" smtClean="0">
                          <a:solidFill>
                            <a:schemeClr val="bg1"/>
                          </a:solidFill>
                        </a:rPr>
                        <a:t>Ext4 to F2FS</a:t>
                      </a:r>
                      <a:r>
                        <a:rPr lang="en-CA" baseline="0" dirty="0" smtClean="0">
                          <a:solidFill>
                            <a:schemeClr val="bg1"/>
                          </a:solidFill>
                        </a:rPr>
                        <a:t> </a:t>
                      </a:r>
                      <a:r>
                        <a:rPr lang="en-CA" dirty="0" smtClean="0">
                          <a:solidFill>
                            <a:schemeClr val="bg1"/>
                          </a:solidFill>
                        </a:rPr>
                        <a:t>Converter</a:t>
                      </a:r>
                      <a:endParaRPr lang="en-CA" dirty="0">
                        <a:solidFill>
                          <a:schemeClr val="bg1"/>
                        </a:solidFill>
                      </a:endParaRPr>
                    </a:p>
                  </a:txBody>
                  <a:tcPr/>
                </a:tc>
                <a:tc>
                  <a:txBody>
                    <a:bodyPr/>
                    <a:lstStyle/>
                    <a:p>
                      <a:r>
                        <a:rPr lang="en-CA" dirty="0" smtClean="0">
                          <a:solidFill>
                            <a:schemeClr val="bg1"/>
                          </a:solidFill>
                        </a:rPr>
                        <a:t>504</a:t>
                      </a:r>
                      <a:endParaRPr lang="en-CA" dirty="0">
                        <a:solidFill>
                          <a:schemeClr val="bg1"/>
                        </a:solidFill>
                      </a:endParaRPr>
                    </a:p>
                  </a:txBody>
                  <a:tcPr/>
                </a:tc>
                <a:tc>
                  <a:txBody>
                    <a:bodyPr/>
                    <a:lstStyle/>
                    <a:p>
                      <a:r>
                        <a:rPr lang="en-CA" dirty="0" smtClean="0">
                          <a:solidFill>
                            <a:schemeClr val="bg1"/>
                          </a:solidFill>
                        </a:rPr>
                        <a:t>218 (Ext4)</a:t>
                      </a:r>
                      <a:r>
                        <a:rPr lang="en-CA" baseline="0" dirty="0" smtClean="0">
                          <a:solidFill>
                            <a:schemeClr val="bg1"/>
                          </a:solidFill>
                        </a:rPr>
                        <a:t>, 1760 (F2FS)</a:t>
                      </a:r>
                      <a:endParaRPr lang="en-CA" dirty="0">
                        <a:solidFill>
                          <a:schemeClr val="bg1"/>
                        </a:solidFill>
                      </a:endParaRPr>
                    </a:p>
                  </a:txBody>
                  <a:tcPr/>
                </a:tc>
                <a:extLst>
                  <a:ext uri="{0D108BD9-81ED-4DB2-BD59-A6C34878D82A}">
                    <a16:rowId xmlns:a16="http://schemas.microsoft.com/office/drawing/2014/main" xmlns="" val="10004"/>
                  </a:ext>
                </a:extLst>
              </a:tr>
              <a:tr h="370840">
                <a:tc>
                  <a:txBody>
                    <a:bodyPr/>
                    <a:lstStyle/>
                    <a:p>
                      <a:r>
                        <a:rPr lang="en-CA" dirty="0" smtClean="0">
                          <a:solidFill>
                            <a:schemeClr val="bg1"/>
                          </a:solidFill>
                        </a:rPr>
                        <a:t>Runtime</a:t>
                      </a:r>
                      <a:r>
                        <a:rPr lang="en-CA" baseline="0" dirty="0" smtClean="0">
                          <a:solidFill>
                            <a:schemeClr val="bg1"/>
                          </a:solidFill>
                        </a:rPr>
                        <a:t> Interpretation</a:t>
                      </a:r>
                      <a:endParaRPr lang="en-CA" dirty="0">
                        <a:solidFill>
                          <a:schemeClr val="bg1"/>
                        </a:solidFill>
                      </a:endParaRPr>
                    </a:p>
                  </a:txBody>
                  <a:tcPr/>
                </a:tc>
                <a:tc>
                  <a:txBody>
                    <a:bodyPr/>
                    <a:lstStyle/>
                    <a:p>
                      <a:r>
                        <a:rPr lang="en-CA" dirty="0" smtClean="0">
                          <a:solidFill>
                            <a:schemeClr val="bg1"/>
                          </a:solidFill>
                        </a:rPr>
                        <a:t>2158</a:t>
                      </a:r>
                      <a:endParaRPr lang="en-CA" dirty="0">
                        <a:solidFill>
                          <a:schemeClr val="bg1"/>
                        </a:solidFill>
                      </a:endParaRPr>
                    </a:p>
                  </a:txBody>
                  <a:tcPr/>
                </a:tc>
                <a:tc>
                  <a:txBody>
                    <a:bodyPr/>
                    <a:lstStyle/>
                    <a:p>
                      <a:r>
                        <a:rPr lang="en-CA" dirty="0" smtClean="0">
                          <a:solidFill>
                            <a:schemeClr val="bg1"/>
                          </a:solidFill>
                        </a:rPr>
                        <a:t>111 (Ext4),</a:t>
                      </a:r>
                      <a:r>
                        <a:rPr lang="en-CA" baseline="0" dirty="0" smtClean="0">
                          <a:solidFill>
                            <a:schemeClr val="bg1"/>
                          </a:solidFill>
                        </a:rPr>
                        <a:t> 134 (</a:t>
                      </a:r>
                      <a:r>
                        <a:rPr lang="en-CA" baseline="0" dirty="0" err="1" smtClean="0">
                          <a:solidFill>
                            <a:schemeClr val="bg1"/>
                          </a:solidFill>
                        </a:rPr>
                        <a:t>Btrfs</a:t>
                      </a:r>
                      <a:r>
                        <a:rPr lang="en-CA" baseline="0" dirty="0" smtClean="0">
                          <a:solidFill>
                            <a:schemeClr val="bg1"/>
                          </a:solidFill>
                        </a:rPr>
                        <a:t>)</a:t>
                      </a:r>
                      <a:endParaRPr lang="en-CA" dirty="0">
                        <a:solidFill>
                          <a:schemeClr val="bg1"/>
                        </a:solidFill>
                      </a:endParaRPr>
                    </a:p>
                  </a:txBody>
                  <a:tcPr/>
                </a:tc>
                <a:extLst>
                  <a:ext uri="{0D108BD9-81ED-4DB2-BD59-A6C34878D82A}">
                    <a16:rowId xmlns:a16="http://schemas.microsoft.com/office/drawing/2014/main" xmlns="" val="10005"/>
                  </a:ext>
                </a:extLst>
              </a:tr>
              <a:tr h="370840">
                <a:tc>
                  <a:txBody>
                    <a:bodyPr/>
                    <a:lstStyle/>
                    <a:p>
                      <a:r>
                        <a:rPr lang="en-CA" dirty="0" smtClean="0">
                          <a:solidFill>
                            <a:schemeClr val="bg1"/>
                          </a:solidFill>
                        </a:rPr>
                        <a:t>Differentiated</a:t>
                      </a:r>
                      <a:r>
                        <a:rPr lang="en-CA" baseline="0" dirty="0" smtClean="0">
                          <a:solidFill>
                            <a:schemeClr val="bg1"/>
                          </a:solidFill>
                        </a:rPr>
                        <a:t> Storage</a:t>
                      </a:r>
                      <a:endParaRPr lang="en-CA" dirty="0">
                        <a:solidFill>
                          <a:schemeClr val="bg1"/>
                        </a:solidFill>
                      </a:endParaRPr>
                    </a:p>
                  </a:txBody>
                  <a:tcPr/>
                </a:tc>
                <a:tc>
                  <a:txBody>
                    <a:bodyPr/>
                    <a:lstStyle/>
                    <a:p>
                      <a:endParaRPr lang="en-CA" dirty="0">
                        <a:solidFill>
                          <a:schemeClr val="bg1"/>
                        </a:solidFill>
                      </a:endParaRPr>
                    </a:p>
                  </a:txBody>
                  <a:tcPr/>
                </a:tc>
                <a:tc>
                  <a:txBody>
                    <a:bodyPr/>
                    <a:lstStyle/>
                    <a:p>
                      <a:endParaRPr lang="en-CA" dirty="0">
                        <a:solidFill>
                          <a:schemeClr val="bg1"/>
                        </a:solidFill>
                      </a:endParaRPr>
                    </a:p>
                  </a:txBody>
                  <a:tcPr/>
                </a:tc>
                <a:extLst>
                  <a:ext uri="{0D108BD9-81ED-4DB2-BD59-A6C34878D82A}">
                    <a16:rowId xmlns:a16="http://schemas.microsoft.com/office/drawing/2014/main" xmlns="" val="10006"/>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Block Layer Cache</a:t>
                      </a:r>
                    </a:p>
                  </a:txBody>
                  <a:tcPr/>
                </a:tc>
                <a:tc>
                  <a:txBody>
                    <a:bodyPr/>
                    <a:lstStyle/>
                    <a:p>
                      <a:r>
                        <a:rPr lang="en-CA" dirty="0" smtClean="0">
                          <a:solidFill>
                            <a:schemeClr val="bg1"/>
                          </a:solidFill>
                        </a:rPr>
                        <a:t>10518</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7"/>
                  </a:ext>
                </a:extLst>
              </a:tr>
              <a:tr h="370840">
                <a:tc>
                  <a:txBody>
                    <a:bodyPr/>
                    <a:lstStyle/>
                    <a:p>
                      <a:pPr marL="179388" marR="0" lvl="0" indent="0" algn="l" defTabSz="457200" rtl="0" eaLnBrk="1" fontAlgn="auto" latinLnBrk="0" hangingPunct="1">
                        <a:lnSpc>
                          <a:spcPct val="100000"/>
                        </a:lnSpc>
                        <a:spcBef>
                          <a:spcPts val="0"/>
                        </a:spcBef>
                        <a:spcAft>
                          <a:spcPts val="0"/>
                        </a:spcAft>
                        <a:buClrTx/>
                        <a:buSzTx/>
                        <a:buFontTx/>
                        <a:buNone/>
                        <a:tabLst/>
                        <a:defRPr/>
                      </a:pPr>
                      <a:r>
                        <a:rPr lang="en-CA" dirty="0" smtClean="0">
                          <a:solidFill>
                            <a:schemeClr val="bg1"/>
                          </a:solidFill>
                        </a:rPr>
                        <a:t>- Preferential</a:t>
                      </a:r>
                      <a:r>
                        <a:rPr lang="en-CA" baseline="0" dirty="0" smtClean="0">
                          <a:solidFill>
                            <a:schemeClr val="bg1"/>
                          </a:solidFill>
                        </a:rPr>
                        <a:t> Caching</a:t>
                      </a:r>
                      <a:endParaRPr lang="en-CA" dirty="0" smtClean="0">
                        <a:solidFill>
                          <a:schemeClr val="bg1"/>
                        </a:solidFill>
                      </a:endParaRPr>
                    </a:p>
                  </a:txBody>
                  <a:tcPr/>
                </a:tc>
                <a:tc>
                  <a:txBody>
                    <a:bodyPr/>
                    <a:lstStyle/>
                    <a:p>
                      <a:r>
                        <a:rPr lang="en-CA" dirty="0" smtClean="0">
                          <a:solidFill>
                            <a:schemeClr val="bg1"/>
                          </a:solidFill>
                        </a:rPr>
                        <a:t>289</a:t>
                      </a:r>
                      <a:endParaRPr lang="en-CA" dirty="0">
                        <a:solidFill>
                          <a:schemeClr val="bg1"/>
                        </a:solidFill>
                      </a:endParaRPr>
                    </a:p>
                  </a:txBody>
                  <a:tcPr/>
                </a:tc>
                <a:tc>
                  <a:txBody>
                    <a:bodyPr/>
                    <a:lstStyle/>
                    <a:p>
                      <a:r>
                        <a:rPr lang="en-CA" dirty="0" smtClean="0">
                          <a:solidFill>
                            <a:schemeClr val="bg1"/>
                          </a:solidFill>
                        </a:rPr>
                        <a:t>N/A</a:t>
                      </a:r>
                      <a:endParaRPr lang="en-CA" dirty="0">
                        <a:solidFill>
                          <a:schemeClr val="bg1"/>
                        </a:solidFill>
                      </a:endParaRPr>
                    </a:p>
                  </a:txBody>
                  <a:tcPr/>
                </a:tc>
                <a:extLst>
                  <a:ext uri="{0D108BD9-81ED-4DB2-BD59-A6C34878D82A}">
                    <a16:rowId xmlns:a16="http://schemas.microsoft.com/office/drawing/2014/main" xmlns="" val="10008"/>
                  </a:ext>
                </a:extLst>
              </a:tr>
            </a:tbl>
          </a:graphicData>
        </a:graphic>
      </p:graphicFrame>
    </p:spTree>
    <p:extLst>
      <p:ext uri="{BB962C8B-B14F-4D97-AF65-F5344CB8AC3E}">
        <p14:creationId xmlns:p14="http://schemas.microsoft.com/office/powerpoint/2010/main" val="919253903"/>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Corruption Experiment</a:t>
            </a:r>
            <a:endParaRPr lang="en-CA" dirty="0"/>
          </a:p>
        </p:txBody>
      </p:sp>
      <p:sp>
        <p:nvSpPr>
          <p:cNvPr id="3" name="Content Placeholder 2"/>
          <p:cNvSpPr>
            <a:spLocks noGrp="1"/>
          </p:cNvSpPr>
          <p:nvPr>
            <p:ph idx="1"/>
          </p:nvPr>
        </p:nvSpPr>
        <p:spPr/>
        <p:txBody>
          <a:bodyPr/>
          <a:lstStyle/>
          <a:p>
            <a:r>
              <a:rPr lang="en-CA" smtClean="0"/>
              <a:t>Run Spiffy dump tool and existing dump tools on corrupt images</a:t>
            </a:r>
          </a:p>
          <a:p>
            <a:pPr lvl="1"/>
            <a:r>
              <a:rPr lang="en-CA" smtClean="0"/>
              <a:t>Corrupt images generated by type-specific corruptor</a:t>
            </a:r>
          </a:p>
          <a:p>
            <a:r>
              <a:rPr lang="en-CA" smtClean="0"/>
              <a:t>Spiffy is robust against corruption, 2 out of 3 existing tools crash:</a:t>
            </a:r>
          </a:p>
          <a:p>
            <a:endParaRPr lang="en-CA" smtClean="0"/>
          </a:p>
          <a:p>
            <a:endParaRPr lang="en-CA" smtClean="0"/>
          </a:p>
          <a:p>
            <a:endParaRPr lang="en-CA" smtClean="0"/>
          </a:p>
          <a:p>
            <a:endParaRPr lang="en-CA" smtClean="0"/>
          </a:p>
          <a:p>
            <a:endParaRPr lang="en-CA" dirty="0" smtClean="0"/>
          </a:p>
        </p:txBody>
      </p:sp>
      <p:sp>
        <p:nvSpPr>
          <p:cNvPr id="6" name="Slide Number Placeholder 5"/>
          <p:cNvSpPr>
            <a:spLocks noGrp="1"/>
          </p:cNvSpPr>
          <p:nvPr>
            <p:ph type="sldNum" sz="quarter" idx="12"/>
          </p:nvPr>
        </p:nvSpPr>
        <p:spPr/>
        <p:txBody>
          <a:bodyPr/>
          <a:lstStyle/>
          <a:p>
            <a:fld id="{7B2023C8-B124-43A9-8F92-0EEF5BAA9995}" type="slidenum">
              <a:rPr lang="en-CA" smtClean="0"/>
              <a:pPr/>
              <a:t>35</a:t>
            </a:fld>
            <a:endParaRPr lang="en-CA" dirty="0"/>
          </a:p>
        </p:txBody>
      </p:sp>
      <p:graphicFrame>
        <p:nvGraphicFramePr>
          <p:cNvPr id="5" name="Table 4"/>
          <p:cNvGraphicFramePr>
            <a:graphicFrameLocks noGrp="1"/>
          </p:cNvGraphicFramePr>
          <p:nvPr>
            <p:extLst>
              <p:ext uri="{D42A27DB-BD31-4B8C-83A1-F6EECF244321}">
                <p14:modId xmlns:p14="http://schemas.microsoft.com/office/powerpoint/2010/main" val="1346553440"/>
              </p:ext>
            </p:extLst>
          </p:nvPr>
        </p:nvGraphicFramePr>
        <p:xfrm>
          <a:off x="684212" y="3103984"/>
          <a:ext cx="10072159" cy="3012440"/>
        </p:xfrm>
        <a:graphic>
          <a:graphicData uri="http://schemas.openxmlformats.org/drawingml/2006/table">
            <a:tbl>
              <a:tblPr firstRow="1" bandRow="1">
                <a:tableStyleId>{69012ECD-51FC-41F1-AA8D-1B2483CD663E}</a:tableStyleId>
              </a:tblPr>
              <a:tblGrid>
                <a:gridCol w="1173256">
                  <a:extLst>
                    <a:ext uri="{9D8B030D-6E8A-4147-A177-3AD203B41FA5}">
                      <a16:colId xmlns:a16="http://schemas.microsoft.com/office/drawing/2014/main" xmlns="" val="20000"/>
                    </a:ext>
                  </a:extLst>
                </a:gridCol>
                <a:gridCol w="1357460">
                  <a:extLst>
                    <a:ext uri="{9D8B030D-6E8A-4147-A177-3AD203B41FA5}">
                      <a16:colId xmlns:a16="http://schemas.microsoft.com/office/drawing/2014/main" xmlns="" val="20001"/>
                    </a:ext>
                  </a:extLst>
                </a:gridCol>
                <a:gridCol w="2375554">
                  <a:extLst>
                    <a:ext uri="{9D8B030D-6E8A-4147-A177-3AD203B41FA5}">
                      <a16:colId xmlns:a16="http://schemas.microsoft.com/office/drawing/2014/main" xmlns="" val="20002"/>
                    </a:ext>
                  </a:extLst>
                </a:gridCol>
                <a:gridCol w="5165889">
                  <a:extLst>
                    <a:ext uri="{9D8B030D-6E8A-4147-A177-3AD203B41FA5}">
                      <a16:colId xmlns:a16="http://schemas.microsoft.com/office/drawing/2014/main" xmlns="" val="20003"/>
                    </a:ext>
                  </a:extLst>
                </a:gridCol>
              </a:tblGrid>
              <a:tr h="370840">
                <a:tc>
                  <a:txBody>
                    <a:bodyPr/>
                    <a:lstStyle/>
                    <a:p>
                      <a:r>
                        <a:rPr lang="en-CA" dirty="0" smtClean="0">
                          <a:solidFill>
                            <a:schemeClr val="tx1"/>
                          </a:solidFill>
                        </a:rPr>
                        <a:t>Tool</a:t>
                      </a:r>
                      <a:endParaRPr lang="en-CA" dirty="0">
                        <a:solidFill>
                          <a:schemeClr val="tx1"/>
                        </a:solidFill>
                      </a:endParaRPr>
                    </a:p>
                  </a:txBody>
                  <a:tcPr/>
                </a:tc>
                <a:tc>
                  <a:txBody>
                    <a:bodyPr/>
                    <a:lstStyle/>
                    <a:p>
                      <a:r>
                        <a:rPr lang="en-CA" dirty="0" smtClean="0">
                          <a:solidFill>
                            <a:schemeClr val="tx1"/>
                          </a:solidFill>
                        </a:rPr>
                        <a:t>Structure</a:t>
                      </a:r>
                      <a:endParaRPr lang="en-CA" dirty="0">
                        <a:solidFill>
                          <a:schemeClr val="tx1"/>
                        </a:solidFill>
                      </a:endParaRPr>
                    </a:p>
                  </a:txBody>
                  <a:tcPr/>
                </a:tc>
                <a:tc>
                  <a:txBody>
                    <a:bodyPr/>
                    <a:lstStyle/>
                    <a:p>
                      <a:r>
                        <a:rPr lang="en-CA" dirty="0" smtClean="0">
                          <a:solidFill>
                            <a:schemeClr val="tx1"/>
                          </a:solidFill>
                        </a:rPr>
                        <a:t>Field</a:t>
                      </a:r>
                      <a:endParaRPr lang="en-CA" dirty="0">
                        <a:solidFill>
                          <a:schemeClr val="tx1"/>
                        </a:solidFill>
                      </a:endParaRPr>
                    </a:p>
                  </a:txBody>
                  <a:tcPr/>
                </a:tc>
                <a:tc>
                  <a:txBody>
                    <a:bodyPr/>
                    <a:lstStyle/>
                    <a:p>
                      <a:r>
                        <a:rPr lang="en-CA" dirty="0" smtClean="0">
                          <a:solidFill>
                            <a:schemeClr val="tx1"/>
                          </a:solidFill>
                        </a:rPr>
                        <a:t>Description</a:t>
                      </a:r>
                      <a:endParaRPr lang="en-CA" dirty="0">
                        <a:solidFill>
                          <a:schemeClr val="tx1"/>
                        </a:solidFill>
                      </a:endParaRPr>
                    </a:p>
                  </a:txBody>
                  <a:tcPr/>
                </a:tc>
                <a:extLst>
                  <a:ext uri="{0D108BD9-81ED-4DB2-BD59-A6C34878D82A}">
                    <a16:rowId xmlns:a16="http://schemas.microsoft.com/office/drawing/2014/main" xmlns="" val="10000"/>
                  </a:ext>
                </a:extLst>
              </a:tr>
              <a:tr h="370840">
                <a:tc>
                  <a:txBody>
                    <a:bodyPr/>
                    <a:lstStyle/>
                    <a:p>
                      <a:r>
                        <a:rPr lang="en-CA" sz="1600" dirty="0" smtClean="0">
                          <a:solidFill>
                            <a:schemeClr val="bg1"/>
                          </a:solidFill>
                        </a:rPr>
                        <a:t>dumpe2fs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s_creator_os</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OS name lookup</a:t>
                      </a:r>
                    </a:p>
                  </a:txBody>
                  <a:tcPr/>
                </a:tc>
                <a:extLst>
                  <a:ext uri="{0D108BD9-81ED-4DB2-BD59-A6C34878D82A}">
                    <a16:rowId xmlns:a16="http://schemas.microsoft.com/office/drawing/2014/main" xmlns="" val="10001"/>
                  </a:ext>
                </a:extLst>
              </a:tr>
              <a:tr h="370840">
                <a:tc>
                  <a:txBody>
                    <a:bodyPr/>
                    <a:lstStyle/>
                    <a:p>
                      <a:r>
                        <a:rPr lang="en-CA" sz="1600" dirty="0" smtClean="0">
                          <a:solidFill>
                            <a:schemeClr val="bg1"/>
                          </a:solidFill>
                        </a:rPr>
                        <a:t>dump.f2fs</a:t>
                      </a:r>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super block </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log_blocks_per_seg</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while building </a:t>
                      </a:r>
                      <a:r>
                        <a:rPr lang="en-CA" sz="1600" b="0" i="0" u="none" strike="noStrike" kern="1200" baseline="0" dirty="0" err="1" smtClean="0">
                          <a:solidFill>
                            <a:schemeClr val="bg1"/>
                          </a:solidFill>
                          <a:latin typeface="+mn-lt"/>
                          <a:ea typeface="+mn-ea"/>
                          <a:cs typeface="+mn-cs"/>
                        </a:rPr>
                        <a:t>nat</a:t>
                      </a:r>
                      <a:r>
                        <a:rPr lang="en-CA" sz="1600" b="0" i="0" u="none" strike="noStrike" kern="1200" baseline="0" dirty="0" smtClean="0">
                          <a:solidFill>
                            <a:schemeClr val="bg1"/>
                          </a:solidFill>
                          <a:latin typeface="+mn-lt"/>
                          <a:ea typeface="+mn-ea"/>
                          <a:cs typeface="+mn-cs"/>
                        </a:rPr>
                        <a:t> bitmap</a:t>
                      </a:r>
                    </a:p>
                  </a:txBody>
                  <a:tcPr/>
                </a:tc>
                <a:extLst>
                  <a:ext uri="{0D108BD9-81ED-4DB2-BD59-A6C34878D82A}">
                    <a16:rowId xmlns:a16="http://schemas.microsoft.com/office/drawing/2014/main" xmlns="" val="10002"/>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super block </a:t>
                      </a:r>
                      <a:endParaRPr lang="en-CA" sz="1600" dirty="0" smtClean="0">
                        <a:solidFill>
                          <a:schemeClr val="bg1"/>
                        </a:solidFill>
                      </a:endParaRPr>
                    </a:p>
                    <a:p>
                      <a:endParaRPr lang="en-CA" sz="1600" b="0" i="0" u="none" strike="noStrike" kern="1200" baseline="0" dirty="0" smtClean="0">
                        <a:solidFill>
                          <a:schemeClr val="bg1"/>
                        </a:solidFill>
                        <a:latin typeface="+mn-lt"/>
                        <a:ea typeface="+mn-ea"/>
                        <a:cs typeface="+mn-cs"/>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segment_count_main</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null pointer dereference after </a:t>
                      </a:r>
                      <a:r>
                        <a:rPr lang="en-CA" sz="1600" b="0" i="0" u="none" strike="noStrike" kern="1200" baseline="0" dirty="0" err="1" smtClean="0">
                          <a:solidFill>
                            <a:schemeClr val="bg1"/>
                          </a:solidFill>
                          <a:latin typeface="+mn-lt"/>
                          <a:ea typeface="+mn-ea"/>
                          <a:cs typeface="+mn-cs"/>
                        </a:rPr>
                        <a:t>calloc</a:t>
                      </a:r>
                      <a:r>
                        <a:rPr lang="en-CA" sz="1600" b="0" i="0" u="none" strike="noStrike" kern="1200" baseline="0" dirty="0" smtClean="0">
                          <a:solidFill>
                            <a:schemeClr val="bg1"/>
                          </a:solidFill>
                          <a:latin typeface="+mn-lt"/>
                          <a:ea typeface="+mn-ea"/>
                          <a:cs typeface="+mn-cs"/>
                        </a:rPr>
                        <a:t> fails</a:t>
                      </a:r>
                    </a:p>
                  </a:txBody>
                  <a:tcPr/>
                </a:tc>
                <a:extLst>
                  <a:ext uri="{0D108BD9-81ED-4DB2-BD59-A6C34878D82A}">
                    <a16:rowId xmlns:a16="http://schemas.microsoft.com/office/drawing/2014/main" xmlns="" val="10003"/>
                  </a:ext>
                </a:extLst>
              </a:tr>
              <a:tr h="370840">
                <a:tc>
                  <a:txBody>
                    <a:bodyPr/>
                    <a:lstStyle/>
                    <a:p>
                      <a:endParaRPr lang="en-CA" sz="1600" dirty="0">
                        <a:solidFill>
                          <a:schemeClr val="bg1"/>
                        </a:solidFill>
                      </a:endParaRPr>
                    </a:p>
                  </a:txBody>
                  <a:tcPr/>
                </a:tc>
                <a:tc>
                  <a:txBody>
                    <a:bodyPr/>
                    <a:lstStyle/>
                    <a:p>
                      <a:r>
                        <a:rPr lang="en-CA" sz="1600" dirty="0" smtClean="0">
                          <a:solidFill>
                            <a:schemeClr val="bg1"/>
                          </a:solidFill>
                        </a:rPr>
                        <a:t>checkpoint</a:t>
                      </a:r>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cp_blkaddr</a:t>
                      </a:r>
                      <a:endPar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double free error during error handling</a:t>
                      </a:r>
                      <a:endParaRPr lang="en-CA" sz="1600" dirty="0">
                        <a:solidFill>
                          <a:schemeClr val="bg1"/>
                        </a:solidFill>
                      </a:endParaRPr>
                    </a:p>
                  </a:txBody>
                  <a:tcPr/>
                </a:tc>
                <a:extLst>
                  <a:ext uri="{0D108BD9-81ED-4DB2-BD59-A6C34878D82A}">
                    <a16:rowId xmlns:a16="http://schemas.microsoft.com/office/drawing/2014/main" xmlns="" val="10004"/>
                  </a:ext>
                </a:extLst>
              </a:tr>
              <a:tr h="370840">
                <a:tc>
                  <a:txBody>
                    <a:bodyPr/>
                    <a:lstStyle/>
                    <a:p>
                      <a:endParaRPr lang="en-CA" sz="1600" dirty="0">
                        <a:solidFill>
                          <a:schemeClr val="bg1"/>
                        </a:solidFill>
                      </a:endParaRPr>
                    </a:p>
                  </a:txBody>
                  <a:tcPr/>
                </a:tc>
                <a:tc>
                  <a:txBody>
                    <a:bodyPr/>
                    <a:lstStyle/>
                    <a:p>
                      <a:r>
                        <a:rPr lang="en-CA" sz="1600" b="0" i="0" u="none" strike="noStrike" kern="1200" baseline="0" dirty="0" smtClean="0">
                          <a:solidFill>
                            <a:schemeClr val="bg1"/>
                          </a:solidFill>
                          <a:latin typeface="+mn-lt"/>
                          <a:ea typeface="+mn-ea"/>
                          <a:cs typeface="+mn-cs"/>
                        </a:rPr>
                        <a:t>summary</a:t>
                      </a:r>
                      <a:endParaRPr lang="en-CA" sz="1600" dirty="0">
                        <a:solidFill>
                          <a:schemeClr val="bg1"/>
                        </a:solidFill>
                      </a:endParaRPr>
                    </a:p>
                  </a:txBody>
                  <a:tcPr/>
                </a:tc>
                <a:tc>
                  <a:txBody>
                    <a:bodyPr/>
                    <a:lstStyle/>
                    <a:p>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n_nats</a:t>
                      </a:r>
                      <a:r>
                        <a:rPr lang="en-CA" sz="1500" b="0" i="0" u="none" strike="noStrike" kern="1200" baseline="0" dirty="0" smtClean="0">
                          <a:solidFill>
                            <a:schemeClr val="bg1"/>
                          </a:solidFill>
                          <a:latin typeface="Courier New" panose="02070309020205020404" pitchFamily="49" charset="0"/>
                          <a:ea typeface="+mn-ea"/>
                          <a:cs typeface="Courier New" panose="02070309020205020404" pitchFamily="49" charset="0"/>
                        </a:rPr>
                        <a:t> </a:t>
                      </a:r>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r>
                        <a:rPr lang="en-CA" sz="1600" b="0" i="0" u="none" strike="noStrike" kern="1200" baseline="0" dirty="0" smtClean="0">
                          <a:solidFill>
                            <a:schemeClr val="bg1"/>
                          </a:solidFill>
                          <a:latin typeface="+mn-lt"/>
                          <a:ea typeface="+mn-ea"/>
                          <a:cs typeface="+mn-cs"/>
                        </a:rPr>
                        <a:t>index out of bound error during </a:t>
                      </a:r>
                      <a:r>
                        <a:rPr lang="en-CA" sz="1600" b="0" i="0" u="none" strike="noStrike" kern="1200" baseline="0" dirty="0" err="1" smtClean="0">
                          <a:solidFill>
                            <a:schemeClr val="bg1"/>
                          </a:solidFill>
                          <a:latin typeface="+mn-lt"/>
                          <a:ea typeface="+mn-ea"/>
                          <a:cs typeface="+mn-cs"/>
                        </a:rPr>
                        <a:t>nid</a:t>
                      </a:r>
                      <a:r>
                        <a:rPr lang="en-CA" sz="1600" b="0" i="0" u="none" strike="noStrike" kern="1200" baseline="0" dirty="0" smtClean="0">
                          <a:solidFill>
                            <a:schemeClr val="bg1"/>
                          </a:solidFill>
                          <a:latin typeface="+mn-lt"/>
                          <a:ea typeface="+mn-ea"/>
                          <a:cs typeface="+mn-cs"/>
                        </a:rPr>
                        <a:t> lookup</a:t>
                      </a:r>
                    </a:p>
                  </a:txBody>
                  <a:tcPr/>
                </a:tc>
                <a:extLst>
                  <a:ext uri="{0D108BD9-81ED-4DB2-BD59-A6C34878D82A}">
                    <a16:rowId xmlns:a16="http://schemas.microsoft.com/office/drawing/2014/main" xmlns="" val="10005"/>
                  </a:ext>
                </a:extLst>
              </a:tr>
              <a:tr h="370840">
                <a:tc>
                  <a:txBody>
                    <a:bodyPr/>
                    <a:lstStyle/>
                    <a:p>
                      <a:endParaRPr lang="en-CA" sz="1600" dirty="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err="1" smtClean="0">
                          <a:solidFill>
                            <a:schemeClr val="bg1"/>
                          </a:solidFill>
                          <a:latin typeface="+mn-lt"/>
                          <a:ea typeface="+mn-ea"/>
                          <a:cs typeface="+mn-cs"/>
                        </a:rPr>
                        <a:t>inode</a:t>
                      </a:r>
                      <a:endParaRPr lang="en-CA" sz="1600" dirty="0" smtClean="0">
                        <a:solidFill>
                          <a:schemeClr val="bg1"/>
                        </a:solidFill>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500" b="0" i="0" u="none" strike="noStrike" kern="1200" baseline="0" dirty="0" err="1" smtClean="0">
                          <a:solidFill>
                            <a:schemeClr val="bg1"/>
                          </a:solidFill>
                          <a:latin typeface="Courier New" panose="02070309020205020404" pitchFamily="49" charset="0"/>
                          <a:ea typeface="+mn-ea"/>
                          <a:cs typeface="Courier New" panose="02070309020205020404" pitchFamily="49" charset="0"/>
                        </a:rPr>
                        <a:t>i_namelen</a:t>
                      </a:r>
                      <a:endParaRPr lang="en-CA" sz="1500" dirty="0" smtClean="0">
                        <a:solidFill>
                          <a:schemeClr val="bg1"/>
                        </a:solidFill>
                        <a:latin typeface="Courier New" panose="02070309020205020404" pitchFamily="49" charset="0"/>
                        <a:cs typeface="Courier New" panose="02070309020205020404" pitchFamily="49" charset="0"/>
                      </a:endParaRPr>
                    </a:p>
                    <a:p>
                      <a:endParaRPr lang="en-CA" sz="1500" dirty="0">
                        <a:solidFill>
                          <a:schemeClr val="bg1"/>
                        </a:solidFill>
                        <a:latin typeface="Courier New" panose="02070309020205020404" pitchFamily="49" charset="0"/>
                        <a:cs typeface="Courier New" panose="02070309020205020404" pitchFamily="49" charset="0"/>
                      </a:endParaRPr>
                    </a:p>
                  </a:txBody>
                  <a:tcPr/>
                </a:tc>
                <a:tc>
                  <a:txBody>
                    <a:bodyPr/>
                    <a:lstStyle/>
                    <a:p>
                      <a:pPr marL="0" marR="0" lvl="0" indent="0" algn="l" defTabSz="457200" rtl="0" eaLnBrk="1" fontAlgn="auto" latinLnBrk="0" hangingPunct="1">
                        <a:lnSpc>
                          <a:spcPct val="100000"/>
                        </a:lnSpc>
                        <a:spcBef>
                          <a:spcPts val="0"/>
                        </a:spcBef>
                        <a:spcAft>
                          <a:spcPts val="0"/>
                        </a:spcAft>
                        <a:buClrTx/>
                        <a:buSzTx/>
                        <a:buFontTx/>
                        <a:buNone/>
                        <a:tabLst/>
                        <a:defRPr/>
                      </a:pPr>
                      <a:r>
                        <a:rPr lang="en-CA" sz="1600" b="0" i="0" u="none" strike="noStrike" kern="1200" baseline="0" dirty="0" smtClean="0">
                          <a:solidFill>
                            <a:schemeClr val="bg1"/>
                          </a:solidFill>
                          <a:latin typeface="+mn-lt"/>
                          <a:ea typeface="+mn-ea"/>
                          <a:cs typeface="+mn-cs"/>
                        </a:rPr>
                        <a:t>index out of bound error when adding null character to end of name</a:t>
                      </a:r>
                      <a:endParaRPr lang="en-CA" sz="1600" dirty="0" smtClean="0">
                        <a:solidFill>
                          <a:schemeClr val="bg1"/>
                        </a:solidFill>
                      </a:endParaRPr>
                    </a:p>
                  </a:txBody>
                  <a:tcPr/>
                </a:tc>
                <a:extLst>
                  <a:ext uri="{0D108BD9-81ED-4DB2-BD59-A6C34878D82A}">
                    <a16:rowId xmlns:a16="http://schemas.microsoft.com/office/drawing/2014/main" xmlns="" val="10006"/>
                  </a:ext>
                </a:extLst>
              </a:tr>
            </a:tbl>
          </a:graphicData>
        </a:graphic>
      </p:graphicFrame>
    </p:spTree>
    <p:extLst>
      <p:ext uri="{BB962C8B-B14F-4D97-AF65-F5344CB8AC3E}">
        <p14:creationId xmlns:p14="http://schemas.microsoft.com/office/powerpoint/2010/main" val="57525318"/>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CA" smtClean="0"/>
              <a:t>Evaluation: Preferential Caching</a:t>
            </a:r>
            <a:endParaRPr lang="en-CA" dirty="0"/>
          </a:p>
        </p:txBody>
      </p:sp>
      <p:sp>
        <p:nvSpPr>
          <p:cNvPr id="3" name="Content Placeholder 2"/>
          <p:cNvSpPr>
            <a:spLocks noGrp="1"/>
          </p:cNvSpPr>
          <p:nvPr>
            <p:ph idx="1"/>
          </p:nvPr>
        </p:nvSpPr>
        <p:spPr/>
        <p:txBody>
          <a:bodyPr/>
          <a:lstStyle/>
          <a:p>
            <a:r>
              <a:rPr lang="en-CA" smtClean="0"/>
              <a:t>2 identical fileservers running on block layer cache</a:t>
            </a:r>
          </a:p>
          <a:p>
            <a:endParaRPr lang="en-CA" smtClean="0"/>
          </a:p>
          <a:p>
            <a:endParaRPr lang="en-CA" smtClean="0"/>
          </a:p>
          <a:p>
            <a:endParaRPr lang="en-CA" smtClean="0"/>
          </a:p>
          <a:p>
            <a:endParaRPr lang="en-CA" smtClean="0"/>
          </a:p>
          <a:p>
            <a:endParaRPr lang="en-CA" smtClean="0"/>
          </a:p>
          <a:p>
            <a:endParaRPr lang="en-CA" smtClean="0"/>
          </a:p>
          <a:p>
            <a:endParaRPr lang="en-CA" smtClean="0"/>
          </a:p>
          <a:p>
            <a:r>
              <a:rPr lang="en-CA" smtClean="0"/>
              <a:t>Overall performance improves with preferential caching</a:t>
            </a:r>
          </a:p>
          <a:p>
            <a:endParaRPr lang="en-CA" dirty="0"/>
          </a:p>
        </p:txBody>
      </p:sp>
      <p:sp>
        <p:nvSpPr>
          <p:cNvPr id="4" name="Slide Number Placeholder 3"/>
          <p:cNvSpPr>
            <a:spLocks noGrp="1"/>
          </p:cNvSpPr>
          <p:nvPr>
            <p:ph type="sldNum" sz="quarter" idx="12"/>
          </p:nvPr>
        </p:nvSpPr>
        <p:spPr/>
        <p:txBody>
          <a:bodyPr/>
          <a:lstStyle/>
          <a:p>
            <a:fld id="{7B2023C8-B124-43A9-8F92-0EEF5BAA9995}" type="slidenum">
              <a:rPr lang="en-CA" smtClean="0"/>
              <a:pPr/>
              <a:t>36</a:t>
            </a:fld>
            <a:endParaRPr lang="en-CA" dirty="0"/>
          </a:p>
        </p:txBody>
      </p:sp>
      <p:grpSp>
        <p:nvGrpSpPr>
          <p:cNvPr id="9" name="Group 8"/>
          <p:cNvGrpSpPr/>
          <p:nvPr/>
        </p:nvGrpSpPr>
        <p:grpSpPr>
          <a:xfrm>
            <a:off x="1741437" y="2147076"/>
            <a:ext cx="7477175" cy="3007076"/>
            <a:chOff x="1741437" y="3261749"/>
            <a:chExt cx="7477175" cy="3007076"/>
          </a:xfrm>
        </p:grpSpPr>
        <p:graphicFrame>
          <p:nvGraphicFramePr>
            <p:cNvPr id="6" name="Chart 5"/>
            <p:cNvGraphicFramePr>
              <a:graphicFrameLocks/>
            </p:cNvGraphicFramePr>
            <p:nvPr>
              <p:extLst>
                <p:ext uri="{D42A27DB-BD31-4B8C-83A1-F6EECF244321}">
                  <p14:modId xmlns:p14="http://schemas.microsoft.com/office/powerpoint/2010/main" val="228972012"/>
                </p:ext>
              </p:extLst>
            </p:nvPr>
          </p:nvGraphicFramePr>
          <p:xfrm>
            <a:off x="1741437" y="3271174"/>
            <a:ext cx="7477175" cy="2997651"/>
          </p:xfrm>
          <a:graphic>
            <a:graphicData uri="http://schemas.openxmlformats.org/drawingml/2006/chart">
              <c:chart xmlns:c="http://schemas.openxmlformats.org/drawingml/2006/chart" xmlns:r="http://schemas.openxmlformats.org/officeDocument/2006/relationships" r:id="rId2"/>
            </a:graphicData>
          </a:graphic>
        </p:graphicFrame>
        <p:sp>
          <p:nvSpPr>
            <p:cNvPr id="7" name="TextBox 2"/>
            <p:cNvSpPr txBox="1"/>
            <p:nvPr/>
          </p:nvSpPr>
          <p:spPr>
            <a:xfrm>
              <a:off x="2613536" y="4366649"/>
              <a:ext cx="577402"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a:solidFill>
                    <a:schemeClr val="bg1"/>
                  </a:solidFill>
                </a:rPr>
                <a:t>Btrfs</a:t>
              </a:r>
            </a:p>
          </p:txBody>
        </p:sp>
        <p:sp>
          <p:nvSpPr>
            <p:cNvPr id="8" name="TextBox 4"/>
            <p:cNvSpPr txBox="1"/>
            <p:nvPr/>
          </p:nvSpPr>
          <p:spPr>
            <a:xfrm>
              <a:off x="2613536" y="3261749"/>
              <a:ext cx="583814" cy="338554"/>
            </a:xfrm>
            <a:prstGeom prst="rect">
              <a:avLst/>
            </a:prstGeom>
            <a:noFill/>
          </p:spPr>
          <p:style>
            <a:lnRef idx="0">
              <a:scrgbClr r="0" g="0" b="0"/>
            </a:lnRef>
            <a:fillRef idx="0">
              <a:scrgbClr r="0" g="0" b="0"/>
            </a:fillRef>
            <a:effectRef idx="0">
              <a:scrgbClr r="0" g="0" b="0"/>
            </a:effectRef>
            <a:fontRef idx="minor">
              <a:schemeClr val="tx1"/>
            </a:fontRef>
          </p:style>
          <p:txBody>
            <a:bodyPr wrap="none" rtlCol="0" anchor="t">
              <a:spAutoFit/>
            </a:bodyPr>
            <a:lstStyle>
              <a:lvl1pPr marL="0" indent="0">
                <a:defRPr sz="1100">
                  <a:solidFill>
                    <a:schemeClr val="tx1"/>
                  </a:solidFill>
                  <a:latin typeface="+mn-lt"/>
                  <a:ea typeface="+mn-ea"/>
                  <a:cs typeface="+mn-cs"/>
                </a:defRPr>
              </a:lvl1pPr>
              <a:lvl2pPr marL="457200" indent="0">
                <a:defRPr sz="1100">
                  <a:solidFill>
                    <a:schemeClr val="tx1"/>
                  </a:solidFill>
                  <a:latin typeface="+mn-lt"/>
                  <a:ea typeface="+mn-ea"/>
                  <a:cs typeface="+mn-cs"/>
                </a:defRPr>
              </a:lvl2pPr>
              <a:lvl3pPr marL="914400" indent="0">
                <a:defRPr sz="1100">
                  <a:solidFill>
                    <a:schemeClr val="tx1"/>
                  </a:solidFill>
                  <a:latin typeface="+mn-lt"/>
                  <a:ea typeface="+mn-ea"/>
                  <a:cs typeface="+mn-cs"/>
                </a:defRPr>
              </a:lvl3pPr>
              <a:lvl4pPr marL="1371600" indent="0">
                <a:defRPr sz="1100">
                  <a:solidFill>
                    <a:schemeClr val="tx1"/>
                  </a:solidFill>
                  <a:latin typeface="+mn-lt"/>
                  <a:ea typeface="+mn-ea"/>
                  <a:cs typeface="+mn-cs"/>
                </a:defRPr>
              </a:lvl4pPr>
              <a:lvl5pPr marL="1828800" indent="0">
                <a:defRPr sz="1100">
                  <a:solidFill>
                    <a:schemeClr val="tx1"/>
                  </a:solidFill>
                  <a:latin typeface="+mn-lt"/>
                  <a:ea typeface="+mn-ea"/>
                  <a:cs typeface="+mn-cs"/>
                </a:defRPr>
              </a:lvl5pPr>
              <a:lvl6pPr marL="2286000" indent="0">
                <a:defRPr sz="1100">
                  <a:solidFill>
                    <a:schemeClr val="tx1"/>
                  </a:solidFill>
                  <a:latin typeface="+mn-lt"/>
                  <a:ea typeface="+mn-ea"/>
                  <a:cs typeface="+mn-cs"/>
                </a:defRPr>
              </a:lvl6pPr>
              <a:lvl7pPr marL="2743200" indent="0">
                <a:defRPr sz="1100">
                  <a:solidFill>
                    <a:schemeClr val="tx1"/>
                  </a:solidFill>
                  <a:latin typeface="+mn-lt"/>
                  <a:ea typeface="+mn-ea"/>
                  <a:cs typeface="+mn-cs"/>
                </a:defRPr>
              </a:lvl7pPr>
              <a:lvl8pPr marL="3200400" indent="0">
                <a:defRPr sz="1100">
                  <a:solidFill>
                    <a:schemeClr val="tx1"/>
                  </a:solidFill>
                  <a:latin typeface="+mn-lt"/>
                  <a:ea typeface="+mn-ea"/>
                  <a:cs typeface="+mn-cs"/>
                </a:defRPr>
              </a:lvl8pPr>
              <a:lvl9pPr marL="3657600" indent="0">
                <a:defRPr sz="1100">
                  <a:solidFill>
                    <a:schemeClr val="tx1"/>
                  </a:solidFill>
                  <a:latin typeface="+mn-lt"/>
                  <a:ea typeface="+mn-ea"/>
                  <a:cs typeface="+mn-cs"/>
                </a:defRPr>
              </a:lvl9pPr>
            </a:lstStyle>
            <a:p>
              <a:r>
                <a:rPr lang="en-CA" sz="1600" b="1" u="sng" dirty="0">
                  <a:solidFill>
                    <a:schemeClr val="bg1"/>
                  </a:solidFill>
                </a:rPr>
                <a:t>Ext4</a:t>
              </a:r>
            </a:p>
          </p:txBody>
        </p:sp>
      </p:grpSp>
    </p:spTree>
    <p:extLst>
      <p:ext uri="{BB962C8B-B14F-4D97-AF65-F5344CB8AC3E}">
        <p14:creationId xmlns:p14="http://schemas.microsoft.com/office/powerpoint/2010/main" val="3197873276"/>
      </p:ext>
    </p:extLst>
  </p:cSld>
  <p:clrMapOvr>
    <a:masterClrMapping/>
  </p:clrMapOvr>
  <p:timing>
    <p:tnLst>
      <p:par>
        <p:cTn id="1" dur="indefinite" restart="never" nodeType="tmRoot"/>
      </p:par>
    </p:tnLst>
  </p:timing>
</p:sld>
</file>

<file path=ppt/theme/theme1.xml><?xml version="1.0" encoding="utf-8"?>
<a:theme xmlns:a="http://schemas.openxmlformats.org/drawingml/2006/main" name="Slice">
  <a:themeElements>
    <a:clrScheme name="University of Toronto">
      <a:dk1>
        <a:srgbClr val="000000"/>
      </a:dk1>
      <a:lt1>
        <a:srgbClr val="FFFFFF"/>
      </a:lt1>
      <a:dk2>
        <a:srgbClr val="ACE9F8"/>
      </a:dk2>
      <a:lt2>
        <a:srgbClr val="0F486F"/>
      </a:lt2>
      <a:accent1>
        <a:srgbClr val="062958"/>
      </a:accent1>
      <a:accent2>
        <a:srgbClr val="A50E82"/>
      </a:accent2>
      <a:accent3>
        <a:srgbClr val="14967C"/>
      </a:accent3>
      <a:accent4>
        <a:srgbClr val="6A9E1F"/>
      </a:accent4>
      <a:accent5>
        <a:srgbClr val="E87D37"/>
      </a:accent5>
      <a:accent6>
        <a:srgbClr val="C62324"/>
      </a:accent6>
      <a:hlink>
        <a:srgbClr val="0D2E46"/>
      </a:hlink>
      <a:folHlink>
        <a:srgbClr val="356A95"/>
      </a:folHlink>
    </a:clrScheme>
    <a:fontScheme name="Slice">
      <a:maj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entury Gothic" panose="020B0502020202020204"/>
        <a:ea typeface=""/>
        <a:cs typeface=""/>
        <a:font script="Jpan" typeface="メイリオ"/>
        <a:font script="Hang" typeface="HY중고딕"/>
        <a:font script="Hans" typeface="幼圆"/>
        <a:font script="Hant" typeface="微軟正黑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Slice">
      <a:fillStyleLst>
        <a:solidFill>
          <a:schemeClr val="phClr"/>
        </a:solidFill>
        <a:gradFill rotWithShape="1">
          <a:gsLst>
            <a:gs pos="0">
              <a:schemeClr val="phClr">
                <a:tint val="62000"/>
                <a:hueMod val="94000"/>
                <a:satMod val="140000"/>
                <a:lumMod val="110000"/>
              </a:schemeClr>
            </a:gs>
            <a:gs pos="100000">
              <a:schemeClr val="phClr">
                <a:tint val="84000"/>
                <a:satMod val="160000"/>
              </a:schemeClr>
            </a:gs>
          </a:gsLst>
          <a:lin ang="5400000" scaled="0"/>
        </a:gradFill>
        <a:gradFill rotWithShape="1">
          <a:gsLst>
            <a:gs pos="0">
              <a:schemeClr val="phClr">
                <a:tint val="98000"/>
                <a:hueMod val="94000"/>
                <a:satMod val="130000"/>
                <a:lumMod val="128000"/>
              </a:schemeClr>
            </a:gs>
            <a:gs pos="100000">
              <a:schemeClr val="phClr">
                <a:shade val="94000"/>
                <a:lumMod val="88000"/>
              </a:schemeClr>
            </a:gs>
          </a:gsLst>
          <a:lin ang="5400000" scaled="0"/>
        </a:gradFill>
      </a:fillStyleLst>
      <a:lnStyleLst>
        <a:ln w="9525" cap="rnd" cmpd="sng" algn="ctr">
          <a:solidFill>
            <a:schemeClr val="phClr">
              <a:tint val="76000"/>
              <a:alpha val="60000"/>
              <a:hueMod val="94000"/>
            </a:schemeClr>
          </a:solidFill>
          <a:prstDash val="solid"/>
        </a:ln>
        <a:ln w="15875" cap="rnd" cmpd="sng" algn="ctr">
          <a:solidFill>
            <a:schemeClr val="phClr">
              <a:hueMod val="94000"/>
            </a:schemeClr>
          </a:solidFill>
          <a:prstDash val="solid"/>
        </a:ln>
        <a:ln w="28575" cap="rnd" cmpd="sng" algn="ctr">
          <a:solidFill>
            <a:schemeClr val="phClr"/>
          </a:solidFill>
          <a:prstDash val="solid"/>
        </a:ln>
      </a:lnStyleLst>
      <a:effectStyleLst>
        <a:effectStyle>
          <a:effectLst/>
        </a:effectStyle>
        <a:effectStyle>
          <a:effectLst>
            <a:innerShdw blurRad="25400" dist="12700" dir="13500000">
              <a:srgbClr val="000000">
                <a:alpha val="45000"/>
              </a:srgbClr>
            </a:innerShdw>
          </a:effectLst>
        </a:effectStyle>
        <a:effectStyle>
          <a:effectLst>
            <a:outerShdw blurRad="50800" dist="38100" dir="5400000" rotWithShape="0">
              <a:srgbClr val="000000">
                <a:alpha val="46000"/>
              </a:srgbClr>
            </a:outerShdw>
          </a:effectLst>
          <a:scene3d>
            <a:camera prst="orthographicFront">
              <a:rot lat="0" lon="0" rev="0"/>
            </a:camera>
            <a:lightRig rig="threePt" dir="t"/>
          </a:scene3d>
          <a:sp3d prstMaterial="plastic">
            <a:bevelT w="25400" h="25400"/>
          </a:sp3d>
        </a:effectStyle>
      </a:effectStyleLst>
      <a:bgFillStyleLst>
        <a:solidFill>
          <a:schemeClr val="phClr"/>
        </a:solidFill>
        <a:gradFill rotWithShape="1">
          <a:gsLst>
            <a:gs pos="10000">
              <a:schemeClr val="phClr">
                <a:tint val="97000"/>
                <a:hueMod val="92000"/>
                <a:satMod val="169000"/>
                <a:lumMod val="164000"/>
              </a:schemeClr>
            </a:gs>
            <a:gs pos="100000">
              <a:schemeClr val="phClr">
                <a:shade val="96000"/>
                <a:satMod val="120000"/>
                <a:lumMod val="90000"/>
              </a:schemeClr>
            </a:gs>
          </a:gsLst>
          <a:lin ang="6120000" scaled="1"/>
        </a:gradFill>
        <a:gradFill rotWithShape="1">
          <a:gsLst>
            <a:gs pos="0">
              <a:schemeClr val="phClr">
                <a:tint val="97000"/>
                <a:hueMod val="92000"/>
                <a:satMod val="169000"/>
                <a:lumMod val="164000"/>
              </a:schemeClr>
            </a:gs>
            <a:gs pos="100000">
              <a:schemeClr val="phClr">
                <a:shade val="96000"/>
                <a:satMod val="120000"/>
                <a:lumMod val="90000"/>
              </a:schemeClr>
            </a:gs>
          </a:gsLst>
          <a:path path="circle">
            <a:fillToRect b="100000"/>
          </a:path>
        </a:gradFill>
      </a:bgFillStyleLst>
    </a:fmtScheme>
  </a:themeElements>
  <a:objectDefaults/>
  <a:extraClrSchemeLst/>
  <a:extLst>
    <a:ext uri="{05A4C25C-085E-4340-85A3-A5531E510DB2}">
      <thm15:themeFamily xmlns:thm15="http://schemas.microsoft.com/office/thememl/2012/main" name="Slice" id="{0507925B-6AC9-4358-8E18-C330545D08F8}" vid="{13FEC7C6-62A9-40C4-99D2-581AACACAA2F}"/>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Slice</Template>
  <TotalTime>3088</TotalTime>
  <Words>5200</Words>
  <Application>Microsoft Office PowerPoint</Application>
  <PresentationFormat>Widescreen</PresentationFormat>
  <Paragraphs>618</Paragraphs>
  <Slides>36</Slides>
  <Notes>31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36</vt:i4>
      </vt:variant>
    </vt:vector>
  </HeadingPairs>
  <TitlesOfParts>
    <vt:vector size="43" baseType="lpstr">
      <vt:lpstr>微軟正黑體</vt:lpstr>
      <vt:lpstr>Arial</vt:lpstr>
      <vt:lpstr>Calibri</vt:lpstr>
      <vt:lpstr>Century Gothic</vt:lpstr>
      <vt:lpstr>Courier New</vt:lpstr>
      <vt:lpstr>Wingdings 3</vt:lpstr>
      <vt:lpstr>Slice</vt:lpstr>
      <vt:lpstr>Spiffy: Enabling File-System Aware Storage Applications </vt:lpstr>
      <vt:lpstr>Introduction</vt:lpstr>
      <vt:lpstr>Problem</vt:lpstr>
      <vt:lpstr>Root Cause</vt:lpstr>
      <vt:lpstr>Goals</vt:lpstr>
      <vt:lpstr>Approach: Spiffy Framework</vt:lpstr>
      <vt:lpstr>Specifying Format</vt:lpstr>
      <vt:lpstr>Generating Library</vt:lpstr>
      <vt:lpstr> Building Applications</vt:lpstr>
      <vt:lpstr>Talk Outline</vt:lpstr>
      <vt:lpstr>Need for Annotations</vt:lpstr>
      <vt:lpstr>Need for Annotations</vt:lpstr>
      <vt:lpstr>Pointer Annotations</vt:lpstr>
      <vt:lpstr>Pointer Address Space</vt:lpstr>
      <vt:lpstr>Block Address Space</vt:lpstr>
      <vt:lpstr>File Address Space</vt:lpstr>
      <vt:lpstr>F2FS NID Address Space</vt:lpstr>
      <vt:lpstr>FSSUPER Annotation</vt:lpstr>
      <vt:lpstr>Missing Pointer</vt:lpstr>
      <vt:lpstr>Implicit Pointer</vt:lpstr>
      <vt:lpstr>WHEN expression</vt:lpstr>
      <vt:lpstr>Generating Spiffy Library</vt:lpstr>
      <vt:lpstr>Evaluation: Annotation Effort</vt:lpstr>
      <vt:lpstr>Building Application</vt:lpstr>
      <vt:lpstr>Manually-Written Application</vt:lpstr>
      <vt:lpstr>Manually-Written Application</vt:lpstr>
      <vt:lpstr>Manually-Written Application</vt:lpstr>
      <vt:lpstr>Spiffy Application</vt:lpstr>
      <vt:lpstr>Spiffy Application</vt:lpstr>
      <vt:lpstr>Offline Spiffy Applications</vt:lpstr>
      <vt:lpstr>Online Applications</vt:lpstr>
      <vt:lpstr>Evaluation: Ext4 to F2FS Converter</vt:lpstr>
      <vt:lpstr>Conclusion</vt:lpstr>
      <vt:lpstr>Evaluation: Programming Effort</vt:lpstr>
      <vt:lpstr>Evaluation: Corruption Experiment</vt:lpstr>
      <vt:lpstr>Evaluation: Preferential Caching</vt:lpstr>
    </vt:vector>
  </TitlesOfParts>
  <Company/>
  <LinksUpToDate>false</LinksUpToDate>
  <SharedDoc>false</SharedDoc>
  <HyperlinksChanged>false</HyperlinksChanged>
  <AppVersion>15.0000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Jack Sun</dc:creator>
  <cp:lastModifiedBy>Jack Sun</cp:lastModifiedBy>
  <cp:revision>219</cp:revision>
  <dcterms:created xsi:type="dcterms:W3CDTF">2018-01-30T09:02:25Z</dcterms:created>
  <dcterms:modified xsi:type="dcterms:W3CDTF">2018-02-09T10:23:34Z</dcterms:modified>
</cp:coreProperties>
</file>