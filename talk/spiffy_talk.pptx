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1"/>
  </p:notesMasterIdLst>
  <p:sldIdLst>
    <p:sldId id="256" r:id="rId2"/>
    <p:sldId id="288" r:id="rId3"/>
    <p:sldId id="290" r:id="rId4"/>
    <p:sldId id="289" r:id="rId5"/>
    <p:sldId id="291" r:id="rId6"/>
    <p:sldId id="309" r:id="rId7"/>
    <p:sldId id="293" r:id="rId8"/>
    <p:sldId id="294" r:id="rId9"/>
    <p:sldId id="295" r:id="rId10"/>
    <p:sldId id="301" r:id="rId11"/>
    <p:sldId id="308" r:id="rId12"/>
    <p:sldId id="313" r:id="rId13"/>
    <p:sldId id="314" r:id="rId14"/>
    <p:sldId id="298" r:id="rId15"/>
    <p:sldId id="315" r:id="rId16"/>
    <p:sldId id="316" r:id="rId17"/>
    <p:sldId id="317" r:id="rId18"/>
    <p:sldId id="320" r:id="rId19"/>
    <p:sldId id="322" r:id="rId20"/>
    <p:sldId id="321" r:id="rId21"/>
    <p:sldId id="318" r:id="rId22"/>
    <p:sldId id="311" r:id="rId23"/>
    <p:sldId id="283" r:id="rId24"/>
    <p:sldId id="306" r:id="rId25"/>
    <p:sldId id="271" r:id="rId26"/>
    <p:sldId id="268" r:id="rId27"/>
    <p:sldId id="312" r:id="rId28"/>
    <p:sldId id="267" r:id="rId29"/>
    <p:sldId id="323" r:id="rId30"/>
    <p:sldId id="324" r:id="rId31"/>
    <p:sldId id="325" r:id="rId32"/>
    <p:sldId id="326" r:id="rId33"/>
    <p:sldId id="279" r:id="rId34"/>
    <p:sldId id="280" r:id="rId35"/>
    <p:sldId id="281" r:id="rId36"/>
    <p:sldId id="258" r:id="rId37"/>
    <p:sldId id="259" r:id="rId38"/>
    <p:sldId id="261" r:id="rId39"/>
    <p:sldId id="260"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552" autoAdjust="0"/>
  </p:normalViewPr>
  <p:slideViewPr>
    <p:cSldViewPr snapToGrid="0">
      <p:cViewPr varScale="1">
        <p:scale>
          <a:sx n="90" d="100"/>
          <a:sy n="90" d="100"/>
        </p:scale>
        <p:origin x="1272"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0.34872429032580282"/>
          <c:w val="0.53727052517588814"/>
          <c:h val="0.358187419144267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ser>
        <c:ser>
          <c:idx val="1"/>
          <c:order val="1"/>
          <c:tx>
            <c:strRef>
              <c:f>Sheet1!$C$1</c:f>
              <c:strCache>
                <c:ptCount val="1"/>
                <c:pt idx="0">
                  <c:v>Manual Converter</c:v>
                </c:pt>
              </c:strCache>
            </c:strRef>
          </c:tx>
          <c:spPr>
            <a:ln w="28575" cap="rnd">
              <a:solidFill>
                <a:schemeClr val="accent4"/>
              </a:solidFill>
              <a:prstDash val="solid"/>
              <a:round/>
            </a:ln>
            <a:effectLst/>
          </c:spPr>
          <c:marker>
            <c:symbol val="circle"/>
            <c:size val="6"/>
            <c:spPr>
              <a:solidFill>
                <a:schemeClr val="accent4"/>
              </a:solidFill>
              <a:ln w="9525">
                <a:solidFill>
                  <a:schemeClr val="accent4"/>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General</c:formatCode>
                <c:ptCount val="4"/>
                <c:pt idx="0">
                  <c:v>6.55</c:v>
                </c:pt>
                <c:pt idx="1">
                  <c:v>3.46</c:v>
                </c:pt>
                <c:pt idx="2">
                  <c:v>3.29</c:v>
                </c:pt>
                <c:pt idx="3">
                  <c:v>3.25</c:v>
                </c:pt>
              </c:numCache>
            </c:numRef>
          </c:val>
          <c:smooth val="0"/>
        </c:ser>
        <c:ser>
          <c:idx val="2"/>
          <c:order val="2"/>
          <c:tx>
            <c:strRef>
              <c:f>Sheet1!$D$1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Sheet1!$D$2:$D$5</c:f>
              <c:numCache>
                <c:formatCode>0.00</c:formatCode>
                <c:ptCount val="4"/>
                <c:pt idx="0">
                  <c:v>7.03</c:v>
                </c:pt>
                <c:pt idx="1">
                  <c:v>4.01</c:v>
                </c:pt>
                <c:pt idx="2">
                  <c:v>3.84</c:v>
                </c:pt>
                <c:pt idx="3">
                  <c:v>3.71</c:v>
                </c:pt>
              </c:numCache>
            </c:numRef>
          </c:val>
          <c:smooth val="0"/>
        </c:ser>
        <c:dLbls>
          <c:showLegendKey val="0"/>
          <c:showVal val="0"/>
          <c:showCatName val="0"/>
          <c:showSerName val="0"/>
          <c:showPercent val="0"/>
          <c:showBubbleSize val="0"/>
        </c:dLbls>
        <c:marker val="1"/>
        <c:smooth val="0"/>
        <c:axId val="1060318176"/>
        <c:axId val="1060318720"/>
      </c:lineChart>
      <c:catAx>
        <c:axId val="1060318176"/>
        <c:scaling>
          <c:orientation val="minMax"/>
        </c:scaling>
        <c:delete val="0"/>
        <c:axPos val="b"/>
        <c:title>
          <c:tx>
            <c:rich>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US" dirty="0"/>
                  <a:t># of </a:t>
                </a:r>
                <a:r>
                  <a:rPr lang="en-US" dirty="0" smtClean="0"/>
                  <a:t>files</a:t>
                </a:r>
                <a:endParaRPr lang="en-US" dirty="0"/>
              </a:p>
            </c:rich>
          </c:tx>
          <c:layout>
            <c:manualLayout>
              <c:xMode val="edge"/>
              <c:yMode val="edge"/>
              <c:x val="0.62584479240826973"/>
              <c:y val="0.72818252638233838"/>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1060318720"/>
        <c:crosses val="autoZero"/>
        <c:auto val="0"/>
        <c:lblAlgn val="ctr"/>
        <c:lblOffset val="100"/>
        <c:noMultiLvlLbl val="0"/>
      </c:catAx>
      <c:valAx>
        <c:axId val="1060318720"/>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CA"/>
                  <a:t>seconds</a:t>
                </a:r>
              </a:p>
            </c:rich>
          </c:tx>
          <c:overlay val="0"/>
          <c:spPr>
            <a:noFill/>
            <a:ln>
              <a:noFill/>
            </a:ln>
            <a:effectLst/>
          </c:spPr>
          <c:txPr>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1060318176"/>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66858475960888031"/>
          <c:y val="0.33360445625224705"/>
          <c:w val="0.32208596280409679"/>
          <c:h val="0.37050324825699893"/>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1060312736"/>
        <c:axId val="1060317632"/>
      </c:barChart>
      <c:catAx>
        <c:axId val="1060312736"/>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1060317632"/>
        <c:crosses val="autoZero"/>
        <c:auto val="1"/>
        <c:lblAlgn val="ctr"/>
        <c:lblOffset val="100"/>
        <c:noMultiLvlLbl val="1"/>
      </c:catAx>
      <c:valAx>
        <c:axId val="1060317632"/>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1060312736"/>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2018-02-09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Spiffy, a framework for writing robust file system aware storage applications. This is work done with my colleagues at the University of Toronto.</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used to misinterpret this field, and corrupt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a:t>
            </a:r>
          </a:p>
          <a:p>
            <a:endParaRPr lang="en-CA" baseline="0" dirty="0" smtClean="0"/>
          </a:p>
          <a:p>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3391082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file system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2387462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 I</a:t>
            </a:r>
            <a:r>
              <a:rPr lang="en-CA" dirty="0" smtClean="0"/>
              <a:t>n</a:t>
            </a:r>
            <a:r>
              <a:rPr lang="en-CA" baseline="0" dirty="0" smtClean="0"/>
              <a:t> contrast, all in-</a:t>
            </a:r>
            <a:r>
              <a:rPr lang="en-CA" dirty="0" smtClean="0"/>
              <a:t>memory virtual</a:t>
            </a:r>
            <a:r>
              <a:rPr lang="en-CA" baseline="0" dirty="0" smtClean="0"/>
              <a:t> addresses are </a:t>
            </a:r>
            <a:r>
              <a:rPr lang="en-CA" dirty="0" smtClean="0"/>
              <a:t>translated</a:t>
            </a:r>
            <a:r>
              <a:rPr lang="en-CA" baseline="0" dirty="0" smtClean="0"/>
              <a:t> to physical  addresses using a single translation scheme.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For example, in the block address space, an address is simply the block number in the file system. 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Therefore, finding the Ext4 journal involves reading its </a:t>
            </a:r>
            <a:r>
              <a:rPr lang="en-CA" baseline="0" dirty="0" err="1" smtClean="0"/>
              <a:t>inode</a:t>
            </a:r>
            <a:r>
              <a:rPr lang="en-CA" baseline="0" dirty="0" smtClean="0"/>
              <a:t> structure. To solve this problem, each pointer also has an associated address space to indicate how its address should be mapped to physical location.</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This structure is annotated with FSSUPER to denote that it’s the super block for Ext4. Inside the annotation is a list of keyword arguments. The location argument specifies that the Ext4 super block is located a thousand and 24 bytes away from the start of the partition.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3932572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 In the second annotation, we have an implicit block pointer which points to the block group descriptor table. The address of the descriptor table is calculated at runtime, depending on the block size of the file system. The self variable denotes the current structure, so expressions like this can reference other fields in the same structure.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31174022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 In the second annotation, we have an implicit block pointer which points to the block group descriptor table. The address of the descriptor table is calculated at runtime, depending on the block size of the file system. The self variable denotes the current structure, so expressions like this can reference other fields in the same structure.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1574822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a:t>
            </a:r>
            <a:r>
              <a:rPr lang="en-CA" baseline="0" dirty="0" smtClean="0"/>
              <a:t> we show an example of the code that the Spiffy compiler generates from the annotations. On the right side, we have a fragment of the generated parsing code for the Ext4 super block. We currently generate a C++ class for every annotated class and its fields. This allows us to implement type-safe parsing and serialization, as shown in the example. The CHECK annotation, which supports constraints checking, contains expressions which is verified at runtime during parsing and serialization, to ensure that the metadata is type-safe.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In all cases, the annotation added to file system metadata definitions is approximately one forth of the total line count. We also needed to handle some special situations while annotating the file system. For example, some metadata structures are not explicitly declared, as is the case for Ext4 indirect blocks, which is just an array of pointers so the Ext4 developers decides to omit their definition. We sometimes also needed make some minor change the structure definition so that our annotation language can correctly annotate it. This does not affect the correctness of the specification or the format of the file system, but we do count the changes as part of the annotation effort.</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23</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you an example of building a file-system</a:t>
            </a:r>
            <a:r>
              <a:rPr lang="en-CA" baseline="0" dirty="0" smtClean="0"/>
              <a:t> aware application: a free space display tool which plots a histogram of the sizes of free extents available in a file system image. First, we show how an application developer would go about building the tool manually, then we show how using Spiffy reduces programming effort. To manually build a free space tool, a developer must first study available documentation on the format of a file system to learn about its block allocation scheme. Then the developer would have to go through trial-and-error to write code that will locate the relevant metadata so that he or she can process them.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needs to traverse through the Ext4 file system to find the bitmaps that contain block allocation information. As you can see, there is a lot of boilerplate code that is needed.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this </a:t>
            </a:r>
            <a:r>
              <a:rPr lang="en-CA" dirty="0" smtClean="0"/>
              <a:t>function is already overwhelming</a:t>
            </a:r>
            <a:r>
              <a:rPr lang="en-CA" baseline="0" dirty="0" smtClean="0"/>
              <a:t> without any error checking code. Any error during traversal, or corruption in the file system, would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What we want</a:t>
            </a:r>
            <a:r>
              <a:rPr lang="en-CA" baseline="0" dirty="0" smtClean="0"/>
              <a:t> is an easier way to find and process all of the block bitmaps in Ext4, without needing to write all of the code to traverse the file system.</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At this point, if the super block is corrupted, the function will return null. Next, on line 7, invoking the </a:t>
            </a:r>
            <a:r>
              <a:rPr lang="en-CA" baseline="0" dirty="0" err="1" smtClean="0"/>
              <a:t>process_by_type</a:t>
            </a:r>
            <a:r>
              <a:rPr lang="en-CA" baseline="0" dirty="0" smtClean="0"/>
              <a:t> function allows processing of all of the block bitmaps reachable from the super block, through its pointers or the pointers of all its children. This avoids the need to write any traversal code manually, so the developer can focus on just the code that processes the block bitmaps. As you can see, there are two advantages to using the Spiffy library. First, it simplifies file system traversal by reducing the need to know the format details. Second, the library parsing routines have automatically generated sanity checks to help detect corruption.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At this point, if the super block is corrupted, the function will return null. Next, on line 7, invoking the </a:t>
            </a:r>
            <a:r>
              <a:rPr lang="en-CA" baseline="0" dirty="0" err="1" smtClean="0"/>
              <a:t>process_by_type</a:t>
            </a:r>
            <a:r>
              <a:rPr lang="en-CA" baseline="0" dirty="0" smtClean="0"/>
              <a:t> function allows processing of all of the block bitmaps reachable from the super block, through its pointers or the pointers of all its children. This avoids the need to write any traversal code manually, so the developer can focus on just the code that processes the block bitmaps. As you can see, there are two advantages to using the Spiffy library. First, it simplifies file system traversal by reducing the need to know the format details. Second, the library parsing routines have automatically generated sanity checks to help detect corruption.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17380350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let’s talk about the applications</a:t>
            </a:r>
            <a:r>
              <a:rPr lang="en-CA" baseline="0" dirty="0" smtClean="0"/>
              <a:t> we have built using Spiffy, starting with the offline applications, which have exclusive access to a file system image. Our first application is the file system dump tool, which simply prints out all of the metadata in XML format. This tool is helpful for debugging, and we also use it to verify the correctness of our annotations. Next, the type-specific corruptor allows us to specify a field in a metadata structure and corrupt it on disk. This tool enables us to test the robustness of other tools and ensure that they are able to correctly handle corruptions. We ran a series of corruption experiments and discovered crash bugs in existing tools such as dumpe2fs for Ext4 and dump.f2fs, which you can read more about in the paper. Next we built a file system conversion tool which allows converting from one file system to another without moving any data blocks unless necessary. We will come back to evaluating the conversion tool in a bit.</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33</a:t>
            </a:fld>
            <a:endParaRPr lang="en-CA"/>
          </a:p>
        </p:txBody>
      </p:sp>
    </p:spTree>
    <p:extLst>
      <p:ext uri="{BB962C8B-B14F-4D97-AF65-F5344CB8AC3E}">
        <p14:creationId xmlns:p14="http://schemas.microsoft.com/office/powerpoint/2010/main" val="34437695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discuss the online applications, which</a:t>
            </a:r>
            <a:r>
              <a:rPr lang="en-CA" baseline="0" dirty="0" smtClean="0"/>
              <a:t> operate while the file system is in-use. An example of such an application is the differentiated storage service, which prioritizes caching of metadata blocks and small files. This application was difficult to implement because it requires modification of the file system to provide hints to the block layer. It also requires a lot of file-system specific code to identify the size of the file. However, with Spiffy, we have built a runtime interpretation framework that can identify and interpret metadata at the block layer without modifying the file system. Most of the runtime framework is generic, and little file-system specific code is required to support a rich set of caching policies. Using this framework, we built a block layer cache that preferentially caches files belonging to priority users. Again, you can find more details of this work in the paper.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34</a:t>
            </a:fld>
            <a:endParaRPr lang="en-CA"/>
          </a:p>
        </p:txBody>
      </p:sp>
    </p:spTree>
    <p:extLst>
      <p:ext uri="{BB962C8B-B14F-4D97-AF65-F5344CB8AC3E}">
        <p14:creationId xmlns:p14="http://schemas.microsoft.com/office/powerpoint/2010/main" val="4901517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also evaluated</a:t>
            </a:r>
            <a:r>
              <a:rPr lang="en-CA" baseline="0" dirty="0" smtClean="0"/>
              <a:t> the performance of the file system conversion tool. Here, we show 3 types of converters: the copy converter copies data to local disk, reformat, then copy back. We also wrote the conversion tool twice, once manually and once using Spiffy. From the graph, we can see that the copy converter is up to 50 times slower than the other two converters because it has to copy 16GB of data twice. We also compare the performance between manual vs. Spiffy converter, and found a modest 16.7% overhead for using Spiffy. This shows that using the Spiffy library can still achieve good performance, while improving the robustness of the application.</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35</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and a standardized API for interpreting and traversing file system metadata. This API simplifies development of file-system aware applications by reducing the need to write file-system specific code and it enables code reuse across file systems. Lastly, from the annotated metadata definitions, we generate type-safe parsing and serialization library that implements </a:t>
            </a:r>
            <a:r>
              <a:rPr lang="en-CA" baseline="0" smtClean="0"/>
              <a:t>the Spiffy </a:t>
            </a:r>
            <a:r>
              <a:rPr lang="en-CA" baseline="0" dirty="0" smtClean="0"/>
              <a:t>API, and the </a:t>
            </a:r>
            <a:r>
              <a:rPr lang="en-CA" baseline="0" smtClean="0"/>
              <a:t>generated library </a:t>
            </a:r>
            <a:r>
              <a:rPr lang="en-CA" baseline="0" dirty="0" smtClean="0"/>
              <a:t>is robust against file system corruption and achieves good performance.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36</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file-system specific metadata structures need to be initialized, there is unfortunately, very little saving, as is the case for the conversion tool.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37</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38</a:t>
            </a:fld>
            <a:endParaRPr lang="en-CA"/>
          </a:p>
        </p:txBody>
      </p:sp>
    </p:spTree>
    <p:extLst>
      <p:ext uri="{BB962C8B-B14F-4D97-AF65-F5344CB8AC3E}">
        <p14:creationId xmlns:p14="http://schemas.microsoft.com/office/powerpoint/2010/main" val="42252104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400" b="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rot="16200000" flipH="1" flipV="1">
            <a:off x="9096637" y="3762638"/>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2018-02-09</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7D257ED4-7149-4100-B966-397E56D6DA55}"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2018-02-09</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2018-02-09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2018-02-09</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2018-02-09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2018-02-09</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CA" smtClean="0"/>
              <a:t>Spiffy: Enabling File-System Aware Storage Applications</a:t>
            </a:r>
            <a:br>
              <a:rPr lang="en-CA" smtClean="0"/>
            </a:br>
            <a:endParaRPr lang="en-CA" dirty="0"/>
          </a:p>
        </p:txBody>
      </p:sp>
      <p:sp>
        <p:nvSpPr>
          <p:cNvPr id="3" name="Subtitle 2"/>
          <p:cNvSpPr>
            <a:spLocks noGrp="1"/>
          </p:cNvSpPr>
          <p:nvPr>
            <p:ph type="subTitle" idx="1"/>
          </p:nvPr>
        </p:nvSpPr>
        <p:spPr>
          <a:xfrm>
            <a:off x="684212" y="3037337"/>
            <a:ext cx="8723948" cy="2753864"/>
          </a:xfrm>
        </p:spPr>
        <p:txBody>
          <a:bodyPr/>
          <a:lstStyle/>
          <a:p>
            <a:r>
              <a:rPr lang="en-CA" dirty="0" smtClean="0"/>
              <a:t>Jack Sun, Daniel Fryer, Joseph Chu, Matthew </a:t>
            </a:r>
            <a:r>
              <a:rPr lang="en-CA" dirty="0" err="1" smtClean="0"/>
              <a:t>Lakier</a:t>
            </a:r>
            <a:r>
              <a:rPr lang="en-CA" dirty="0" smtClean="0"/>
              <a:t>, </a:t>
            </a:r>
          </a:p>
          <a:p>
            <a:r>
              <a:rPr lang="en-CA" dirty="0" smtClean="0"/>
              <a:t>Angela </a:t>
            </a:r>
            <a:r>
              <a:rPr lang="en-CA" dirty="0" err="1" smtClean="0"/>
              <a:t>Demke</a:t>
            </a:r>
            <a:r>
              <a:rPr lang="en-CA" dirty="0" smtClean="0"/>
              <a:t> Brown, and </a:t>
            </a:r>
            <a:r>
              <a:rPr lang="en-CA" dirty="0" err="1" smtClean="0"/>
              <a:t>Ashvin</a:t>
            </a:r>
            <a:r>
              <a:rPr lang="en-CA" dirty="0" smtClean="0"/>
              <a:t> </a:t>
            </a:r>
            <a:r>
              <a:rPr lang="en-CA" dirty="0" err="1" smtClean="0"/>
              <a:t>Goel</a:t>
            </a:r>
            <a:endParaRPr lang="en-CA" dirty="0" smtClean="0"/>
          </a:p>
          <a:p>
            <a:endParaRPr lang="en-CA" dirty="0" smtClean="0"/>
          </a:p>
          <a:p>
            <a:r>
              <a:rPr lang="en-CA" i="1" dirty="0" smtClean="0"/>
              <a:t>University of Toronto</a:t>
            </a:r>
            <a:endParaRPr lang="en-CA" i="1" dirty="0"/>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smtClean="0"/>
              <a:t>File-system aware applications</a:t>
            </a:r>
          </a:p>
          <a:p>
            <a:pPr lvl="1"/>
            <a:r>
              <a:rPr lang="en-CA" smtClean="0"/>
              <a:t>E.g. partition editor, file system checker, defragmentation tool</a:t>
            </a:r>
          </a:p>
          <a:p>
            <a:pPr lvl="1"/>
            <a:r>
              <a:rPr lang="en-CA" smtClean="0"/>
              <a:t>Operate directly on file system metadata structures</a:t>
            </a:r>
          </a:p>
          <a:p>
            <a:pPr lvl="2"/>
            <a:r>
              <a:rPr lang="en-CA" smtClean="0"/>
              <a:t>Require detailed knowledge of file system format on disk</a:t>
            </a:r>
          </a:p>
          <a:p>
            <a:pPr lvl="2"/>
            <a:r>
              <a:rPr lang="en-CA" smtClean="0"/>
              <a:t>Bypass VFS layer</a:t>
            </a:r>
          </a:p>
          <a:p>
            <a:pPr lvl="1"/>
            <a:r>
              <a:rPr lang="en-CA" smtClean="0"/>
              <a:t>Essential for successful deployment of file system</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p:txBody>
          <a:bodyPr/>
          <a:lstStyle/>
          <a:p>
            <a:r>
              <a:rPr lang="en-CA" dirty="0" smtClean="0"/>
              <a:t>Tools have to be developed from scratch for each file system</a:t>
            </a:r>
          </a:p>
          <a:p>
            <a:r>
              <a:rPr lang="en-CA" dirty="0" smtClean="0"/>
              <a:t>Tools developed only by experts</a:t>
            </a:r>
          </a:p>
          <a:p>
            <a:r>
              <a:rPr lang="en-CA" dirty="0" smtClean="0"/>
              <a:t>Bugs lead to system crash, data corruption, security vulnerability</a:t>
            </a:r>
          </a:p>
          <a:p>
            <a:endParaRPr lang="en-CA" dirty="0" smtClean="0"/>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a:t>
            </a:r>
            <a:r>
              <a:rPr lang="en-CA" dirty="0"/>
              <a:t>per record, if value &gt; </a:t>
            </a:r>
            <a:r>
              <a:rPr lang="en-CA" dirty="0" smtClean="0"/>
              <a:t>0</a:t>
            </a:r>
          </a:p>
          <a:p>
            <a:pPr lvl="2"/>
            <a:r>
              <a:rPr lang="en-CA" dirty="0" smtClean="0"/>
              <a:t>2</a:t>
            </a:r>
            <a:r>
              <a:rPr lang="en-CA" baseline="30000" dirty="0" smtClean="0"/>
              <a:t>|value</a:t>
            </a:r>
            <a:r>
              <a:rPr lang="en-CA" baseline="30000" dirty="0"/>
              <a:t>|</a:t>
            </a:r>
            <a:r>
              <a:rPr lang="en-CA" dirty="0"/>
              <a:t>, if value &lt; </a:t>
            </a:r>
            <a:r>
              <a:rPr lang="en-CA" dirty="0" smtClean="0"/>
              <a:t>0</a:t>
            </a:r>
          </a:p>
          <a:p>
            <a:pPr lvl="1"/>
            <a:r>
              <a:rPr lang="en-CA" dirty="0" err="1" smtClean="0"/>
              <a:t>ntfsprogs</a:t>
            </a:r>
            <a:r>
              <a:rPr lang="en-CA" dirty="0" smtClean="0"/>
              <a:t> misinterprets this field, corrupting NTFS when resizing partitions</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endParaRPr lang="en-CA" smtClean="0"/>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
        <p:nvSpPr>
          <p:cNvPr id="61" name="Rectangle 60"/>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File System Developer</a:t>
            </a:r>
            <a:endParaRPr lang="en-CA" b="1" dirty="0">
              <a:solidFill>
                <a:schemeClr val="bg1"/>
              </a:solidFill>
            </a:endParaRPr>
          </a:p>
        </p:txBody>
      </p:sp>
      <p:sp>
        <p:nvSpPr>
          <p:cNvPr id="90" name="Rectangle 8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91" name="Rectangle 90"/>
          <p:cNvSpPr/>
          <p:nvPr/>
        </p:nvSpPr>
        <p:spPr>
          <a:xfrm>
            <a:off x="1320470" y="4131121"/>
            <a:ext cx="1440000" cy="472257"/>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effectLst>
                  <a:glow rad="101600">
                    <a:srgbClr val="FFFF00">
                      <a:alpha val="40000"/>
                    </a:srgbClr>
                  </a:glow>
                </a:effectLst>
              </a:rPr>
              <a:t>Annotations</a:t>
            </a:r>
            <a:endParaRPr lang="en-CA" dirty="0">
              <a:solidFill>
                <a:schemeClr val="bg1"/>
              </a:solidFill>
              <a:effectLst>
                <a:glow rad="101600">
                  <a:srgbClr val="FFFF00">
                    <a:alpha val="40000"/>
                  </a:srgbClr>
                </a:glow>
              </a:effectLst>
            </a:endParaRPr>
          </a:p>
        </p:txBody>
      </p:sp>
      <p:grpSp>
        <p:nvGrpSpPr>
          <p:cNvPr id="103" name="Group 102"/>
          <p:cNvGrpSpPr/>
          <p:nvPr/>
        </p:nvGrpSpPr>
        <p:grpSpPr>
          <a:xfrm>
            <a:off x="3097485" y="4286250"/>
            <a:ext cx="598488" cy="1292225"/>
            <a:chOff x="4859338" y="3776663"/>
            <a:chExt cx="598488" cy="1292225"/>
          </a:xfrm>
        </p:grpSpPr>
        <p:sp>
          <p:nvSpPr>
            <p:cNvPr id="1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6"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27"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8"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9"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0"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1"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2"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3"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4"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3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0"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9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9"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0"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1"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89" name="Rectangle 88"/>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lumMod val="50000"/>
                    <a:lumOff val="50000"/>
                  </a:schemeClr>
                </a:solidFill>
              </a:rPr>
              <a:t>File System Developer</a:t>
            </a:r>
            <a:endParaRPr lang="en-CA" dirty="0">
              <a:solidFill>
                <a:schemeClr val="bg1">
                  <a:lumMod val="50000"/>
                  <a:lumOff val="50000"/>
                </a:schemeClr>
              </a:solidFill>
            </a:endParaRPr>
          </a:p>
        </p:txBody>
      </p:sp>
      <p:sp>
        <p:nvSpPr>
          <p:cNvPr id="92" name="Right Arrow 91"/>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grpSp>
        <p:nvGrpSpPr>
          <p:cNvPr id="93" name="Group 92"/>
          <p:cNvGrpSpPr/>
          <p:nvPr/>
        </p:nvGrpSpPr>
        <p:grpSpPr>
          <a:xfrm>
            <a:off x="1320470" y="3184147"/>
            <a:ext cx="1440000" cy="1419231"/>
            <a:chOff x="1467492" y="3155069"/>
            <a:chExt cx="1411173" cy="1419231"/>
          </a:xfrm>
        </p:grpSpPr>
        <p:sp>
          <p:nvSpPr>
            <p:cNvPr id="119" name="Rectangle 118"/>
            <p:cNvSpPr/>
            <p:nvPr/>
          </p:nvSpPr>
          <p:spPr>
            <a:xfrm>
              <a:off x="1467492" y="3155069"/>
              <a:ext cx="1411173"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120" name="Rectangle 119"/>
            <p:cNvSpPr/>
            <p:nvPr/>
          </p:nvSpPr>
          <p:spPr>
            <a:xfrm>
              <a:off x="1467492" y="4102043"/>
              <a:ext cx="1411173" cy="472257"/>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Annotations</a:t>
              </a:r>
              <a:endParaRPr lang="en-CA" dirty="0">
                <a:solidFill>
                  <a:schemeClr val="bg1"/>
                </a:solidFill>
              </a:endParaRPr>
            </a:p>
          </p:txBody>
        </p:sp>
      </p:grpSp>
      <p:sp>
        <p:nvSpPr>
          <p:cNvPr id="94" name="Rounded Rectangle 93"/>
          <p:cNvSpPr/>
          <p:nvPr/>
        </p:nvSpPr>
        <p:spPr>
          <a:xfrm>
            <a:off x="3505093" y="3421506"/>
            <a:ext cx="1440000" cy="944513"/>
          </a:xfrm>
          <a:prstGeom prst="roundRect">
            <a:avLst/>
          </a:prstGeom>
          <a:solidFill>
            <a:schemeClr val="accent1">
              <a:lumMod val="90000"/>
              <a:lumOff val="1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tx1"/>
                </a:solidFill>
              </a:rPr>
              <a:t>Spiffy Compiler</a:t>
            </a:r>
            <a:endParaRPr lang="en-CA" dirty="0">
              <a:solidFill>
                <a:schemeClr val="tx1"/>
              </a:solidFill>
            </a:endParaRPr>
          </a:p>
        </p:txBody>
      </p:sp>
      <p:grpSp>
        <p:nvGrpSpPr>
          <p:cNvPr id="95" name="Group 94"/>
          <p:cNvGrpSpPr/>
          <p:nvPr/>
        </p:nvGrpSpPr>
        <p:grpSpPr>
          <a:xfrm>
            <a:off x="5689716" y="3421506"/>
            <a:ext cx="1761066" cy="944513"/>
            <a:chOff x="6493933" y="3749526"/>
            <a:chExt cx="1761066" cy="944513"/>
          </a:xfrm>
          <a:effectLst>
            <a:glow rad="101600">
              <a:srgbClr val="FFFF00">
                <a:alpha val="40000"/>
              </a:srgbClr>
            </a:glow>
          </a:effectLst>
        </p:grpSpPr>
        <p:sp>
          <p:nvSpPr>
            <p:cNvPr id="101" name="Rectangle 100"/>
            <p:cNvSpPr/>
            <p:nvPr/>
          </p:nvSpPr>
          <p:spPr>
            <a:xfrm>
              <a:off x="6493933" y="3749526"/>
              <a:ext cx="1004159"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effectLst/>
                </a:rPr>
                <a:t>Spiffy Library</a:t>
              </a:r>
              <a:endParaRPr lang="en-CA" dirty="0">
                <a:solidFill>
                  <a:schemeClr val="bg1"/>
                </a:solidFill>
                <a:effectLst/>
              </a:endParaRPr>
            </a:p>
          </p:txBody>
        </p:sp>
        <p:sp>
          <p:nvSpPr>
            <p:cNvPr id="118" name="Rectangle 117"/>
            <p:cNvSpPr/>
            <p:nvPr/>
          </p:nvSpPr>
          <p:spPr>
            <a:xfrm>
              <a:off x="7498092" y="3749526"/>
              <a:ext cx="756907"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Spiffy API</a:t>
              </a:r>
              <a:endParaRPr lang="en-CA" dirty="0">
                <a:solidFill>
                  <a:schemeClr val="bg1"/>
                </a:solidFill>
              </a:endParaRPr>
            </a:p>
          </p:txBody>
        </p:sp>
      </p:grpSp>
      <p:sp>
        <p:nvSpPr>
          <p:cNvPr id="97" name="Right Arrow 96"/>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sp>
        <p:nvSpPr>
          <p:cNvPr id="87" name="Right Arrow 86"/>
          <p:cNvSpPr/>
          <p:nvPr/>
        </p:nvSpPr>
        <p:spPr>
          <a:xfrm>
            <a:off x="2974282" y="3778312"/>
            <a:ext cx="316999" cy="230900"/>
          </a:xfrm>
          <a:prstGeom prst="rightArrow">
            <a:avLst/>
          </a:prstGeom>
          <a:noFill/>
          <a:ln w="254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grpSp>
        <p:nvGrpSpPr>
          <p:cNvPr id="88" name="Group 87"/>
          <p:cNvGrpSpPr/>
          <p:nvPr/>
        </p:nvGrpSpPr>
        <p:grpSpPr>
          <a:xfrm>
            <a:off x="1320470" y="3184147"/>
            <a:ext cx="1440000" cy="1419231"/>
            <a:chOff x="1467492" y="3155069"/>
            <a:chExt cx="1411173" cy="1419231"/>
          </a:xfrm>
        </p:grpSpPr>
        <p:sp>
          <p:nvSpPr>
            <p:cNvPr id="98" name="Rectangle 97"/>
            <p:cNvSpPr/>
            <p:nvPr/>
          </p:nvSpPr>
          <p:spPr>
            <a:xfrm>
              <a:off x="1467492" y="3155069"/>
              <a:ext cx="1411173" cy="944513"/>
            </a:xfrm>
            <a:prstGeom prst="rect">
              <a:avLst/>
            </a:prstGeom>
            <a:noFill/>
            <a:ln w="254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lumMod val="50000"/>
                      <a:lumOff val="50000"/>
                    </a:schemeClr>
                  </a:solidFill>
                </a:rPr>
                <a:t>File </a:t>
              </a:r>
              <a:r>
                <a:rPr lang="en-CA" dirty="0">
                  <a:solidFill>
                    <a:schemeClr val="bg1">
                      <a:lumMod val="50000"/>
                      <a:lumOff val="50000"/>
                    </a:schemeClr>
                  </a:solidFill>
                </a:rPr>
                <a:t>System </a:t>
              </a:r>
              <a:r>
                <a:rPr lang="en-CA" dirty="0" smtClean="0">
                  <a:solidFill>
                    <a:schemeClr val="bg1">
                      <a:lumMod val="50000"/>
                      <a:lumOff val="50000"/>
                    </a:schemeClr>
                  </a:solidFill>
                </a:rPr>
                <a:t>Metadata Structures</a:t>
              </a:r>
              <a:endParaRPr lang="en-CA" dirty="0">
                <a:solidFill>
                  <a:schemeClr val="bg1">
                    <a:lumMod val="50000"/>
                    <a:lumOff val="50000"/>
                  </a:schemeClr>
                </a:solidFill>
              </a:endParaRPr>
            </a:p>
          </p:txBody>
        </p:sp>
        <p:sp>
          <p:nvSpPr>
            <p:cNvPr id="99" name="Rectangle 98"/>
            <p:cNvSpPr/>
            <p:nvPr/>
          </p:nvSpPr>
          <p:spPr>
            <a:xfrm>
              <a:off x="1467492" y="4102043"/>
              <a:ext cx="1411173" cy="472257"/>
            </a:xfrm>
            <a:prstGeom prst="rect">
              <a:avLst/>
            </a:prstGeom>
            <a:noFill/>
            <a:ln w="254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lumMod val="50000"/>
                      <a:lumOff val="50000"/>
                    </a:schemeClr>
                  </a:solidFill>
                </a:rPr>
                <a:t>Annotations</a:t>
              </a:r>
              <a:endParaRPr lang="en-CA" dirty="0">
                <a:solidFill>
                  <a:schemeClr val="bg1">
                    <a:lumMod val="50000"/>
                    <a:lumOff val="50000"/>
                  </a:schemeClr>
                </a:solidFill>
              </a:endParaRPr>
            </a:p>
          </p:txBody>
        </p:sp>
      </p:grpSp>
      <p:sp>
        <p:nvSpPr>
          <p:cNvPr id="89" name="Rounded Rectangle 88"/>
          <p:cNvSpPr/>
          <p:nvPr/>
        </p:nvSpPr>
        <p:spPr>
          <a:xfrm>
            <a:off x="3505093" y="3421506"/>
            <a:ext cx="1440000" cy="944513"/>
          </a:xfrm>
          <a:prstGeom prst="roundRect">
            <a:avLst/>
          </a:prstGeom>
          <a:solidFill>
            <a:schemeClr val="bg2"/>
          </a:solidFill>
          <a:ln w="254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lumMod val="50000"/>
                    <a:lumOff val="50000"/>
                  </a:schemeClr>
                </a:solidFill>
              </a:rPr>
              <a:t>Spiffy Compiler</a:t>
            </a:r>
            <a:endParaRPr lang="en-CA" dirty="0">
              <a:solidFill>
                <a:schemeClr val="bg1">
                  <a:lumMod val="50000"/>
                  <a:lumOff val="50000"/>
                </a:schemeClr>
              </a:solidFill>
            </a:endParaRPr>
          </a:p>
        </p:txBody>
      </p:sp>
      <p:grpSp>
        <p:nvGrpSpPr>
          <p:cNvPr id="90" name="Group 89"/>
          <p:cNvGrpSpPr/>
          <p:nvPr/>
        </p:nvGrpSpPr>
        <p:grpSpPr>
          <a:xfrm>
            <a:off x="5689716" y="3421506"/>
            <a:ext cx="1761066" cy="944513"/>
            <a:chOff x="6493933" y="3749526"/>
            <a:chExt cx="1761066" cy="944513"/>
          </a:xfrm>
        </p:grpSpPr>
        <p:sp>
          <p:nvSpPr>
            <p:cNvPr id="96" name="Rectangle 95"/>
            <p:cNvSpPr/>
            <p:nvPr/>
          </p:nvSpPr>
          <p:spPr>
            <a:xfrm>
              <a:off x="6493933" y="3749526"/>
              <a:ext cx="1004159"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Spiffy Library</a:t>
              </a:r>
              <a:endParaRPr lang="en-CA" dirty="0">
                <a:solidFill>
                  <a:schemeClr val="bg1"/>
                </a:solidFill>
              </a:endParaRPr>
            </a:p>
          </p:txBody>
        </p:sp>
        <p:sp>
          <p:nvSpPr>
            <p:cNvPr id="97" name="Rectangle 96"/>
            <p:cNvSpPr/>
            <p:nvPr/>
          </p:nvSpPr>
          <p:spPr>
            <a:xfrm>
              <a:off x="7498092" y="3749526"/>
              <a:ext cx="756907"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Spiffy API</a:t>
              </a:r>
              <a:endParaRPr lang="en-CA" dirty="0">
                <a:solidFill>
                  <a:schemeClr val="bg1"/>
                </a:solidFill>
              </a:endParaRPr>
            </a:p>
          </p:txBody>
        </p:sp>
      </p:grpSp>
      <p:grpSp>
        <p:nvGrpSpPr>
          <p:cNvPr id="91" name="Group 90"/>
          <p:cNvGrpSpPr/>
          <p:nvPr/>
        </p:nvGrpSpPr>
        <p:grpSpPr>
          <a:xfrm>
            <a:off x="8195403" y="3184147"/>
            <a:ext cx="1440000" cy="1419230"/>
            <a:chOff x="8681092" y="3396718"/>
            <a:chExt cx="1411173" cy="1419230"/>
          </a:xfrm>
          <a:effectLst>
            <a:glow rad="101600">
              <a:srgbClr val="FFFF00">
                <a:alpha val="40000"/>
              </a:srgbClr>
            </a:glow>
          </a:effectLst>
        </p:grpSpPr>
        <p:sp>
          <p:nvSpPr>
            <p:cNvPr id="94" name="Rectangle 93"/>
            <p:cNvSpPr/>
            <p:nvPr/>
          </p:nvSpPr>
          <p:spPr>
            <a:xfrm>
              <a:off x="8681092" y="3396718"/>
              <a:ext cx="1411173" cy="845082"/>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Generic Application</a:t>
              </a:r>
              <a:endParaRPr lang="en-CA" dirty="0">
                <a:solidFill>
                  <a:schemeClr val="bg1"/>
                </a:solidFill>
              </a:endParaRPr>
            </a:p>
          </p:txBody>
        </p:sp>
        <p:sp>
          <p:nvSpPr>
            <p:cNvPr id="95" name="Rectangle 94"/>
            <p:cNvSpPr/>
            <p:nvPr/>
          </p:nvSpPr>
          <p:spPr>
            <a:xfrm>
              <a:off x="8681092" y="4241800"/>
              <a:ext cx="1411173" cy="574148"/>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400" dirty="0" smtClean="0">
                  <a:solidFill>
                    <a:schemeClr val="bg1"/>
                  </a:solidFill>
                </a:rPr>
                <a:t>File-System Specific Logic</a:t>
              </a:r>
              <a:endParaRPr lang="en-CA" sz="1400" dirty="0">
                <a:solidFill>
                  <a:schemeClr val="bg1"/>
                </a:solidFill>
              </a:endParaRPr>
            </a:p>
          </p:txBody>
        </p:sp>
      </p:grpSp>
      <p:sp>
        <p:nvSpPr>
          <p:cNvPr id="92" name="Right Arrow 91"/>
          <p:cNvSpPr/>
          <p:nvPr/>
        </p:nvSpPr>
        <p:spPr>
          <a:xfrm>
            <a:off x="5158905" y="3778312"/>
            <a:ext cx="316999" cy="230900"/>
          </a:xfrm>
          <a:prstGeom prst="rightArrow">
            <a:avLst/>
          </a:prstGeom>
          <a:noFill/>
          <a:ln w="254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93" name="Right Arrow 92"/>
          <p:cNvSpPr/>
          <p:nvPr/>
        </p:nvSpPr>
        <p:spPr>
          <a:xfrm>
            <a:off x="7664594"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86" name="Rectangle 85"/>
          <p:cNvSpPr/>
          <p:nvPr/>
        </p:nvSpPr>
        <p:spPr>
          <a:xfrm>
            <a:off x="8209816" y="4791413"/>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err="1" smtClean="0">
                <a:solidFill>
                  <a:schemeClr val="bg1"/>
                </a:solidFill>
              </a:rPr>
              <a:t>ApplicationDeveloper</a:t>
            </a:r>
            <a:endParaRPr lang="en-CA" b="1" dirty="0">
              <a:solidFill>
                <a:schemeClr val="bg1"/>
              </a:solidFill>
            </a:endParaRPr>
          </a:p>
        </p:txBody>
      </p:sp>
      <p:sp>
        <p:nvSpPr>
          <p:cNvPr id="100" name="Rectangle 99"/>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lumMod val="50000"/>
                    <a:lumOff val="50000"/>
                  </a:schemeClr>
                </a:solidFill>
              </a:rPr>
              <a:t>File System Developer</a:t>
            </a:r>
            <a:endParaRPr lang="en-CA" dirty="0">
              <a:solidFill>
                <a:schemeClr val="bg1">
                  <a:lumMod val="50000"/>
                  <a:lumOff val="50000"/>
                </a:schemeClr>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61790" y="4603377"/>
            <a:ext cx="1219803" cy="1219846"/>
          </a:xfrm>
          <a:prstGeom prst="rect">
            <a:avLst/>
          </a:prstGeom>
        </p:spPr>
      </p:pic>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smtClean="0"/>
              <a:t>Problem</a:t>
            </a:r>
          </a:p>
          <a:p>
            <a:pPr lvl="1"/>
            <a:r>
              <a:rPr lang="en-US" smtClean="0"/>
              <a:t>Hard to write robust file system applications</a:t>
            </a:r>
          </a:p>
          <a:p>
            <a:r>
              <a:rPr lang="en-US" smtClean="0"/>
              <a:t>Approach</a:t>
            </a:r>
          </a:p>
          <a:p>
            <a:r>
              <a:rPr lang="en-US" smtClean="0"/>
              <a:t>Spiffy Annotations</a:t>
            </a:r>
          </a:p>
          <a:p>
            <a:r>
              <a:rPr lang="en-US" smtClean="0"/>
              <a:t>Spiffy Library</a:t>
            </a:r>
          </a:p>
          <a:p>
            <a:r>
              <a:rPr lang="en-US" smtClean="0"/>
              <a:t>Spiffy Applications</a:t>
            </a:r>
          </a:p>
          <a:p>
            <a:r>
              <a:rPr lang="en-US" smtClean="0"/>
              <a:t>Evaluation</a:t>
            </a:r>
          </a:p>
          <a:p>
            <a:r>
              <a:rPr lang="en-US"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smtClean="0"/>
              <a:t>Need complete specification of the file system format</a:t>
            </a:r>
          </a:p>
          <a:p>
            <a:pPr lvl="1"/>
            <a:r>
              <a:rPr lang="en-CA" smtClean="0"/>
              <a:t>Allows type-safe parsing and updates of file system structures</a:t>
            </a:r>
          </a:p>
          <a:p>
            <a:r>
              <a:rPr lang="en-CA" smtClean="0"/>
              <a:t>Challenge</a:t>
            </a:r>
          </a:p>
          <a:p>
            <a:pPr lvl="1"/>
            <a:r>
              <a:rPr lang="en-CA" smtClean="0"/>
              <a:t>Data structure definitions in source files are incomplete</a:t>
            </a:r>
          </a:p>
          <a:p>
            <a:pPr lvl="1"/>
            <a:endParaRPr lang="en-CA" smtClean="0"/>
          </a:p>
          <a:p>
            <a:pPr lvl="1"/>
            <a:endParaRPr lang="en-CA" smtClean="0"/>
          </a:p>
          <a:p>
            <a:pPr lvl="1"/>
            <a:endParaRPr lang="en-CA" smtClean="0"/>
          </a:p>
          <a:p>
            <a:pPr lvl="1"/>
            <a:endParaRPr lang="en-CA" smtClean="0"/>
          </a:p>
          <a:p>
            <a:pPr lvl="1"/>
            <a:r>
              <a:rPr lang="en-CA" smtClean="0"/>
              <a:t>bar_block_ptr is “probably” a 32-bit little endian pointer to type “bar_block”</a:t>
            </a:r>
          </a:p>
          <a:p>
            <a:pPr lvl="1"/>
            <a:r>
              <a:rPr lang="en-CA" smtClean="0"/>
              <a:t>However, its hard to deduce this type information</a:t>
            </a: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
        <p:nvSpPr>
          <p:cNvPr id="10" name="Rectangle 9"/>
          <p:cNvSpPr/>
          <p:nvPr/>
        </p:nvSpPr>
        <p:spPr>
          <a:xfrm>
            <a:off x="897466" y="3535274"/>
            <a:ext cx="7860453" cy="1446550"/>
          </a:xfrm>
          <a:prstGeom prst="rect">
            <a:avLst/>
          </a:prstGeom>
        </p:spPr>
        <p:txBody>
          <a:bodyPr wrap="square">
            <a:spAutoFit/>
          </a:bodyPr>
          <a:lstStyle/>
          <a:p>
            <a:pPr lvl="1"/>
            <a:r>
              <a:rPr lang="en-CA" sz="2200" dirty="0" err="1">
                <a:solidFill>
                  <a:schemeClr val="bg1"/>
                </a:solidFill>
                <a:latin typeface="Courier New" panose="02070309020205020404" pitchFamily="49" charset="0"/>
                <a:cs typeface="Courier New" panose="02070309020205020404" pitchFamily="49" charset="0"/>
              </a:rPr>
              <a:t>struct</a:t>
            </a:r>
            <a:r>
              <a:rPr lang="en-CA" sz="2200" dirty="0">
                <a:solidFill>
                  <a:schemeClr val="bg1"/>
                </a:solidFill>
                <a:latin typeface="Courier New" panose="02070309020205020404" pitchFamily="49" charset="0"/>
                <a:cs typeface="Courier New" panose="02070309020205020404" pitchFamily="49" charset="0"/>
              </a:rPr>
              <a:t> foo {</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
        <p:nvSpPr>
          <p:cNvPr id="8" name="Rectangle 7"/>
          <p:cNvSpPr/>
          <p:nvPr/>
        </p:nvSpPr>
        <p:spPr>
          <a:xfrm>
            <a:off x="971550" y="3024813"/>
            <a:ext cx="8865738" cy="2123658"/>
          </a:xfrm>
          <a:prstGeom prst="rect">
            <a:avLst/>
          </a:prstGeom>
        </p:spPr>
        <p:txBody>
          <a:bodyPr wrap="squar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FSSTRUCT() </a:t>
            </a:r>
            <a:r>
              <a:rPr lang="en-CA" sz="2200" dirty="0" smtClean="0">
                <a:solidFill>
                  <a:schemeClr val="bg1"/>
                </a:solidFill>
                <a:latin typeface="Courier New" panose="02070309020205020404" pitchFamily="49" charset="0"/>
                <a:cs typeface="Courier New" panose="02070309020205020404" pitchFamily="49" charset="0"/>
              </a:rPr>
              <a:t>foo </a:t>
            </a:r>
            <a:r>
              <a:rPr lang="en-CA" sz="2200" dirty="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endParaRPr lang="en-CA" sz="2200" dirty="0" smtClean="0">
              <a:solidFill>
                <a:schemeClr val="bg1"/>
              </a:solidFill>
              <a:latin typeface="Courier New" panose="02070309020205020404" pitchFamily="49" charset="0"/>
              <a:cs typeface="Courier New" panose="02070309020205020404" pitchFamily="49" charset="0"/>
            </a:endParaRP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a:t>
            </a:r>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218833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Annotations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13</a:t>
            </a:fld>
            <a:endParaRPr lang="en-CA" dirty="0"/>
          </a:p>
        </p:txBody>
      </p:sp>
      <p:grpSp>
        <p:nvGrpSpPr>
          <p:cNvPr id="179" name="Group 178"/>
          <p:cNvGrpSpPr/>
          <p:nvPr/>
        </p:nvGrpSpPr>
        <p:grpSpPr>
          <a:xfrm>
            <a:off x="684211" y="1507237"/>
            <a:ext cx="9044580" cy="4410143"/>
            <a:chOff x="684211" y="1507237"/>
            <a:chExt cx="9044580" cy="4410143"/>
          </a:xfrm>
        </p:grpSpPr>
        <p:grpSp>
          <p:nvGrpSpPr>
            <p:cNvPr id="96" name="Group 95"/>
            <p:cNvGrpSpPr/>
            <p:nvPr/>
          </p:nvGrpSpPr>
          <p:grpSpPr>
            <a:xfrm>
              <a:off x="684212" y="4976547"/>
              <a:ext cx="1179762" cy="940832"/>
              <a:chOff x="25154821" y="7455704"/>
              <a:chExt cx="2110198" cy="2062800"/>
            </a:xfrm>
            <a:solidFill>
              <a:schemeClr val="accent5">
                <a:lumMod val="40000"/>
                <a:lumOff val="60000"/>
              </a:schemeClr>
            </a:solidFill>
          </p:grpSpPr>
          <p:sp>
            <p:nvSpPr>
              <p:cNvPr id="102" name="Rectangle 101"/>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3" name="Rectangle 102"/>
              <p:cNvSpPr/>
              <p:nvPr/>
            </p:nvSpPr>
            <p:spPr>
              <a:xfrm>
                <a:off x="25324825"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bitmap</a:t>
                </a:r>
                <a:endParaRPr lang="en-US" dirty="0">
                  <a:solidFill>
                    <a:schemeClr val="bg1"/>
                  </a:solidFill>
                </a:endParaRPr>
              </a:p>
            </p:txBody>
          </p:sp>
        </p:grpSp>
        <p:cxnSp>
          <p:nvCxnSpPr>
            <p:cNvPr id="98" name="Straight Arrow Connector 97"/>
            <p:cNvCxnSpPr>
              <a:stCxn id="100" idx="2"/>
            </p:cNvCxnSpPr>
            <p:nvPr/>
          </p:nvCxnSpPr>
          <p:spPr>
            <a:xfrm flipH="1">
              <a:off x="1235820" y="2448069"/>
              <a:ext cx="1" cy="51841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684212" y="1507237"/>
              <a:ext cx="1103217"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1" name="Rectangle 100"/>
            <p:cNvSpPr/>
            <p:nvPr/>
          </p:nvSpPr>
          <p:spPr>
            <a:xfrm>
              <a:off x="773090" y="1579602"/>
              <a:ext cx="925462" cy="592432"/>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super block</a:t>
              </a:r>
              <a:endParaRPr lang="en-US" dirty="0">
                <a:solidFill>
                  <a:schemeClr val="bg1"/>
                </a:solidFill>
              </a:endParaRPr>
            </a:p>
          </p:txBody>
        </p:sp>
        <p:grpSp>
          <p:nvGrpSpPr>
            <p:cNvPr id="108" name="Group 107"/>
            <p:cNvGrpSpPr/>
            <p:nvPr/>
          </p:nvGrpSpPr>
          <p:grpSpPr>
            <a:xfrm>
              <a:off x="3016009" y="1507237"/>
              <a:ext cx="4005890" cy="940832"/>
              <a:chOff x="24275265" y="2491036"/>
              <a:chExt cx="4669172" cy="1473330"/>
            </a:xfrm>
          </p:grpSpPr>
          <p:sp>
            <p:nvSpPr>
              <p:cNvPr id="109" name="Rectangle 108"/>
              <p:cNvSpPr/>
              <p:nvPr/>
            </p:nvSpPr>
            <p:spPr>
              <a:xfrm>
                <a:off x="24275265" y="2491036"/>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1" name="Rectangle 110"/>
              <p:cNvSpPr/>
              <p:nvPr/>
            </p:nvSpPr>
            <p:spPr>
              <a:xfrm>
                <a:off x="24366499" y="2604357"/>
                <a:ext cx="1771964" cy="572323"/>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ext4 journal</a:t>
                </a:r>
                <a:endParaRPr lang="en-US" dirty="0">
                  <a:solidFill>
                    <a:schemeClr val="bg1"/>
                  </a:solidFill>
                </a:endParaRPr>
              </a:p>
            </p:txBody>
          </p:sp>
        </p:grpSp>
        <p:cxnSp>
          <p:nvCxnSpPr>
            <p:cNvPr id="112" name="Straight Arrow Connector 111"/>
            <p:cNvCxnSpPr>
              <a:stCxn id="100" idx="3"/>
              <a:endCxn id="109" idx="1"/>
            </p:cNvCxnSpPr>
            <p:nvPr/>
          </p:nvCxnSpPr>
          <p:spPr>
            <a:xfrm>
              <a:off x="1787429" y="1977653"/>
              <a:ext cx="1228580"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684211" y="2966483"/>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7" name="Rectangle 116"/>
            <p:cNvSpPr/>
            <p:nvPr/>
          </p:nvSpPr>
          <p:spPr>
            <a:xfrm>
              <a:off x="773090" y="3040170"/>
              <a:ext cx="2002008" cy="631849"/>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sp>
          <p:nvSpPr>
            <p:cNvPr id="94" name="Rounded Rectangle 93"/>
            <p:cNvSpPr/>
            <p:nvPr/>
          </p:nvSpPr>
          <p:spPr>
            <a:xfrm>
              <a:off x="2882383" y="3035189"/>
              <a:ext cx="1419770" cy="883283"/>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97" name="Straight Arrow Connector 96"/>
            <p:cNvCxnSpPr/>
            <p:nvPr/>
          </p:nvCxnSpPr>
          <p:spPr>
            <a:xfrm rot="5400000">
              <a:off x="1708464" y="3475509"/>
              <a:ext cx="1058075" cy="1944000"/>
            </a:xfrm>
            <a:prstGeom prst="bentConnector3">
              <a:avLst>
                <a:gd name="adj1" fmla="val 26888"/>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19" name="Group 118"/>
            <p:cNvGrpSpPr/>
            <p:nvPr/>
          </p:nvGrpSpPr>
          <p:grpSpPr>
            <a:xfrm>
              <a:off x="2020220" y="4976547"/>
              <a:ext cx="1175282" cy="940832"/>
              <a:chOff x="25154823" y="7455704"/>
              <a:chExt cx="2078542" cy="2062800"/>
            </a:xfrm>
            <a:solidFill>
              <a:schemeClr val="accent5">
                <a:lumMod val="40000"/>
                <a:lumOff val="60000"/>
              </a:schemeClr>
            </a:solidFill>
          </p:grpSpPr>
          <p:sp>
            <p:nvSpPr>
              <p:cNvPr id="120" name="Rectangle 119"/>
              <p:cNvSpPr/>
              <p:nvPr/>
            </p:nvSpPr>
            <p:spPr>
              <a:xfrm>
                <a:off x="25154823" y="7455704"/>
                <a:ext cx="2078542"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1" name="Rectangle 120"/>
              <p:cNvSpPr/>
              <p:nvPr/>
            </p:nvSpPr>
            <p:spPr>
              <a:xfrm>
                <a:off x="25324824"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bitmap</a:t>
                </a:r>
                <a:endParaRPr lang="en-US" dirty="0">
                  <a:solidFill>
                    <a:schemeClr val="bg1"/>
                  </a:solidFill>
                </a:endParaRPr>
              </a:p>
            </p:txBody>
          </p:sp>
        </p:grpSp>
        <p:sp>
          <p:nvSpPr>
            <p:cNvPr id="123" name="Rectangle 122"/>
            <p:cNvSpPr/>
            <p:nvPr/>
          </p:nvSpPr>
          <p:spPr>
            <a:xfrm>
              <a:off x="3351747" y="4975562"/>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4" name="Rectangle 123"/>
            <p:cNvSpPr/>
            <p:nvPr/>
          </p:nvSpPr>
          <p:spPr>
            <a:xfrm>
              <a:off x="3436106" y="5045705"/>
              <a:ext cx="843171" cy="594000"/>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130" name="Straight Arrow Connector 96"/>
            <p:cNvCxnSpPr>
              <a:stCxn id="94" idx="2"/>
              <a:endCxn id="120" idx="0"/>
            </p:cNvCxnSpPr>
            <p:nvPr/>
          </p:nvCxnSpPr>
          <p:spPr>
            <a:xfrm rot="5400000">
              <a:off x="2571028" y="3955306"/>
              <a:ext cx="1058075" cy="984407"/>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435549" y="3059101"/>
              <a:ext cx="1380879" cy="859370"/>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134" name="Straight Arrow Connector 96"/>
            <p:cNvCxnSpPr/>
            <p:nvPr/>
          </p:nvCxnSpPr>
          <p:spPr>
            <a:xfrm>
              <a:off x="3955312" y="3918471"/>
              <a:ext cx="0" cy="105413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4376585" y="5045704"/>
              <a:ext cx="965390" cy="795551"/>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138" name="Rounded Rectangle 137"/>
            <p:cNvSpPr/>
            <p:nvPr/>
          </p:nvSpPr>
          <p:spPr>
            <a:xfrm>
              <a:off x="6782383" y="5045703"/>
              <a:ext cx="1215376" cy="795551"/>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139" name="TextBox 138"/>
            <p:cNvSpPr txBox="1"/>
            <p:nvPr/>
          </p:nvSpPr>
          <p:spPr>
            <a:xfrm>
              <a:off x="5919035" y="3145633"/>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sp>
          <p:nvSpPr>
            <p:cNvPr id="140" name="TextBox 139"/>
            <p:cNvSpPr txBox="1"/>
            <p:nvPr/>
          </p:nvSpPr>
          <p:spPr>
            <a:xfrm>
              <a:off x="5790309" y="5081095"/>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grpSp>
          <p:nvGrpSpPr>
            <p:cNvPr id="141" name="Group 140"/>
            <p:cNvGrpSpPr/>
            <p:nvPr/>
          </p:nvGrpSpPr>
          <p:grpSpPr>
            <a:xfrm>
              <a:off x="7004276" y="3712818"/>
              <a:ext cx="1103217" cy="940832"/>
              <a:chOff x="25154821" y="7455704"/>
              <a:chExt cx="2110198" cy="2062800"/>
            </a:xfrm>
            <a:solidFill>
              <a:schemeClr val="accent5">
                <a:lumMod val="40000"/>
                <a:lumOff val="60000"/>
              </a:schemeClr>
            </a:solidFill>
          </p:grpSpPr>
          <p:sp>
            <p:nvSpPr>
              <p:cNvPr id="142" name="Rectangle 141"/>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3" name="Rectangle 142"/>
              <p:cNvSpPr/>
              <p:nvPr/>
            </p:nvSpPr>
            <p:spPr>
              <a:xfrm>
                <a:off x="25324824" y="7614364"/>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r>
                  <a:rPr lang="en-US" dirty="0" smtClean="0">
                    <a:solidFill>
                      <a:schemeClr val="bg1"/>
                    </a:solidFill>
                  </a:rPr>
                  <a:t> block</a:t>
                </a:r>
                <a:endParaRPr lang="en-US" dirty="0">
                  <a:solidFill>
                    <a:schemeClr val="bg1"/>
                  </a:solidFill>
                </a:endParaRPr>
              </a:p>
            </p:txBody>
          </p:sp>
        </p:grpSp>
        <p:grpSp>
          <p:nvGrpSpPr>
            <p:cNvPr id="144" name="Group 143"/>
            <p:cNvGrpSpPr/>
            <p:nvPr/>
          </p:nvGrpSpPr>
          <p:grpSpPr>
            <a:xfrm>
              <a:off x="8517227" y="4972606"/>
              <a:ext cx="1211564" cy="944774"/>
              <a:chOff x="25154821" y="7455704"/>
              <a:chExt cx="2110198" cy="2062800"/>
            </a:xfrm>
            <a:solidFill>
              <a:schemeClr val="accent5">
                <a:lumMod val="40000"/>
                <a:lumOff val="60000"/>
              </a:schemeClr>
            </a:solidFill>
          </p:grpSpPr>
          <p:sp>
            <p:nvSpPr>
              <p:cNvPr id="145" name="Rectangle 144"/>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6" name="Rectangle 145"/>
              <p:cNvSpPr/>
              <p:nvPr/>
            </p:nvSpPr>
            <p:spPr>
              <a:xfrm>
                <a:off x="25324824" y="7615302"/>
                <a:ext cx="1770193" cy="173698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endParaRPr lang="en-US" dirty="0" smtClean="0">
                  <a:solidFill>
                    <a:schemeClr val="bg1"/>
                  </a:solidFill>
                </a:endParaRPr>
              </a:p>
              <a:p>
                <a:pPr algn="ctr"/>
                <a:r>
                  <a:rPr lang="en-US" dirty="0" smtClean="0">
                    <a:solidFill>
                      <a:schemeClr val="bg1"/>
                    </a:solidFill>
                  </a:rPr>
                  <a:t>indirect</a:t>
                </a:r>
              </a:p>
              <a:p>
                <a:pPr algn="ctr"/>
                <a:r>
                  <a:rPr lang="en-US" dirty="0" smtClean="0">
                    <a:solidFill>
                      <a:schemeClr val="bg1"/>
                    </a:solidFill>
                  </a:rPr>
                  <a:t>block</a:t>
                </a:r>
                <a:endParaRPr lang="en-US" dirty="0">
                  <a:solidFill>
                    <a:schemeClr val="bg1"/>
                  </a:solidFill>
                </a:endParaRPr>
              </a:p>
            </p:txBody>
          </p:sp>
        </p:grpSp>
        <p:grpSp>
          <p:nvGrpSpPr>
            <p:cNvPr id="147" name="Group 146"/>
            <p:cNvGrpSpPr/>
            <p:nvPr/>
          </p:nvGrpSpPr>
          <p:grpSpPr>
            <a:xfrm rot="16200000" flipV="1">
              <a:off x="8958986" y="4533747"/>
              <a:ext cx="327375" cy="584384"/>
              <a:chOff x="27236633" y="9932056"/>
              <a:chExt cx="578250" cy="990600"/>
            </a:xfrm>
          </p:grpSpPr>
          <p:cxnSp>
            <p:nvCxnSpPr>
              <p:cNvPr id="148" name="Straight Arrow Connector 147"/>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1" name="Group 150"/>
            <p:cNvGrpSpPr/>
            <p:nvPr/>
          </p:nvGrpSpPr>
          <p:grpSpPr>
            <a:xfrm>
              <a:off x="8517411" y="3669023"/>
              <a:ext cx="1211380" cy="984627"/>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3" name="Rectangle 152"/>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nvGrpSpPr>
              <p:cNvPr id="154" name="Group 153"/>
              <p:cNvGrpSpPr/>
              <p:nvPr/>
            </p:nvGrpSpPr>
            <p:grpSpPr>
              <a:xfrm>
                <a:off x="20309820" y="9762072"/>
                <a:ext cx="1864380" cy="1534578"/>
                <a:chOff x="25154821" y="7455704"/>
                <a:chExt cx="1864380" cy="1534578"/>
              </a:xfrm>
              <a:grpFill/>
            </p:grpSpPr>
            <p:sp>
              <p:nvSpPr>
                <p:cNvPr id="155" name="Rectangle 154"/>
                <p:cNvSpPr/>
                <p:nvPr/>
              </p:nvSpPr>
              <p:spPr>
                <a:xfrm>
                  <a:off x="25154821" y="7455704"/>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6" name="Rectangle 155"/>
                <p:cNvSpPr/>
                <p:nvPr/>
              </p:nvSpPr>
              <p:spPr>
                <a:xfrm>
                  <a:off x="25324824" y="7614367"/>
                  <a:ext cx="1541977" cy="107255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endParaRPr lang="en-US" dirty="0" smtClean="0">
                    <a:solidFill>
                      <a:schemeClr val="bg1"/>
                    </a:solidFill>
                  </a:endParaRPr>
                </a:p>
                <a:p>
                  <a:pPr algn="ctr"/>
                  <a:r>
                    <a:rPr lang="en-US" dirty="0" smtClean="0">
                      <a:solidFill>
                        <a:schemeClr val="bg1"/>
                      </a:solidFill>
                    </a:rPr>
                    <a:t>blocks</a:t>
                  </a:r>
                  <a:endParaRPr lang="en-US" dirty="0">
                    <a:solidFill>
                      <a:schemeClr val="bg1"/>
                    </a:solidFill>
                  </a:endParaRPr>
                </a:p>
              </p:txBody>
            </p:sp>
          </p:grpSp>
        </p:grpSp>
        <p:cxnSp>
          <p:nvCxnSpPr>
            <p:cNvPr id="168" name="Straight Arrow Connector 96"/>
            <p:cNvCxnSpPr>
              <a:stCxn id="138" idx="0"/>
            </p:cNvCxnSpPr>
            <p:nvPr/>
          </p:nvCxnSpPr>
          <p:spPr>
            <a:xfrm flipV="1">
              <a:off x="7390071" y="4652061"/>
              <a:ext cx="0" cy="39364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a:stCxn id="138" idx="3"/>
              <a:endCxn id="145" idx="1"/>
            </p:cNvCxnSpPr>
            <p:nvPr/>
          </p:nvCxnSpPr>
          <p:spPr>
            <a:xfrm>
              <a:off x="7997759" y="5443479"/>
              <a:ext cx="519468" cy="151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4964119" y="3826632"/>
              <a:ext cx="327375" cy="584384"/>
              <a:chOff x="27236633" y="9932056"/>
              <a:chExt cx="578250" cy="990600"/>
            </a:xfrm>
          </p:grpSpPr>
          <p:cxnSp>
            <p:nvCxnSpPr>
              <p:cNvPr id="175" name="Straight Arrow Connector 174"/>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78" name="TextBox 177"/>
            <p:cNvSpPr txBox="1"/>
            <p:nvPr/>
          </p:nvSpPr>
          <p:spPr>
            <a:xfrm>
              <a:off x="4854119" y="4042168"/>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grpSp>
      <p:sp>
        <p:nvSpPr>
          <p:cNvPr id="180" name="TextBox 179"/>
          <p:cNvSpPr txBox="1"/>
          <p:nvPr/>
        </p:nvSpPr>
        <p:spPr>
          <a:xfrm>
            <a:off x="7997759" y="1832952"/>
            <a:ext cx="1947969" cy="646331"/>
          </a:xfrm>
          <a:prstGeom prst="rect">
            <a:avLst/>
          </a:prstGeom>
          <a:noFill/>
        </p:spPr>
        <p:txBody>
          <a:bodyPr wrap="none" rtlCol="0">
            <a:spAutoFit/>
          </a:bodyPr>
          <a:lstStyle/>
          <a:p>
            <a:r>
              <a:rPr lang="en-CA" dirty="0" smtClean="0">
                <a:solidFill>
                  <a:schemeClr val="bg1"/>
                </a:solidFill>
              </a:rPr>
              <a:t>Ext4 File System </a:t>
            </a:r>
            <a:br>
              <a:rPr lang="en-CA" dirty="0" smtClean="0">
                <a:solidFill>
                  <a:schemeClr val="bg1"/>
                </a:solidFill>
              </a:rPr>
            </a:br>
            <a:r>
              <a:rPr lang="en-CA" dirty="0" smtClean="0">
                <a:solidFill>
                  <a:schemeClr val="bg1"/>
                </a:solidFill>
              </a:rPr>
              <a:t>Metadata Tree</a:t>
            </a:r>
            <a:endParaRPr lang="en-CA" dirty="0">
              <a:solidFill>
                <a:schemeClr val="bg1"/>
              </a:solidFill>
            </a:endParaRPr>
          </a:p>
        </p:txBody>
      </p:sp>
    </p:spTree>
    <p:extLst>
      <p:ext uri="{BB962C8B-B14F-4D97-AF65-F5344CB8AC3E}">
        <p14:creationId xmlns:p14="http://schemas.microsoft.com/office/powerpoint/2010/main" val="2402112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endParaRPr lang="en-CA" dirty="0" smtClean="0"/>
          </a:p>
          <a:p>
            <a:endParaRPr lang="en-CA" dirty="0" smtClean="0"/>
          </a:p>
          <a:p>
            <a:pPr marL="0" indent="0">
              <a:buNone/>
            </a:pP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
        <p:nvSpPr>
          <p:cNvPr id="8" name="Rectangle 7"/>
          <p:cNvSpPr/>
          <p:nvPr/>
        </p:nvSpPr>
        <p:spPr>
          <a:xfrm>
            <a:off x="1506062" y="3986019"/>
            <a:ext cx="7443063" cy="430887"/>
          </a:xfrm>
          <a:prstGeom prst="rect">
            <a:avLst/>
          </a:prstGeom>
        </p:spPr>
        <p:txBody>
          <a:bodyPr wrap="non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a:t>
            </a:r>
            <a:r>
              <a:rPr lang="en-CA" sz="2200" dirty="0" err="1" smtClean="0">
                <a:solidFill>
                  <a:schemeClr val="bg1"/>
                </a:solidFill>
                <a:latin typeface="Courier New" panose="02070309020205020404" pitchFamily="49" charset="0"/>
                <a:cs typeface="Courier New" panose="02070309020205020404" pitchFamily="49" charset="0"/>
              </a:rPr>
              <a:t>addrspace</a:t>
            </a:r>
            <a:r>
              <a:rPr lang="en-CA" sz="2200" dirty="0" smtClean="0">
                <a:solidFill>
                  <a:schemeClr val="bg1"/>
                </a:solidFill>
                <a:latin typeface="Courier New" panose="02070309020205020404" pitchFamily="49" charset="0"/>
                <a:cs typeface="Courier New" panose="02070309020205020404" pitchFamily="49" charset="0"/>
              </a:rPr>
              <a:t>=block,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Block Address Space</a:t>
            </a:r>
            <a:endParaRPr lang="en-CA" dirty="0"/>
          </a:p>
        </p:txBody>
      </p:sp>
      <p:sp>
        <p:nvSpPr>
          <p:cNvPr id="3" name="Content Placeholder 2"/>
          <p:cNvSpPr>
            <a:spLocks noGrp="1"/>
          </p:cNvSpPr>
          <p:nvPr>
            <p:ph idx="1"/>
          </p:nvPr>
        </p:nvSpPr>
        <p:spPr/>
        <p:txBody>
          <a:bodyPr/>
          <a:lstStyle/>
          <a:p>
            <a:r>
              <a:rPr lang="en-CA" dirty="0"/>
              <a:t>Block address is the block number in the file system</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15</a:t>
            </a:fld>
            <a:endParaRPr lang="en-CA" dirty="0"/>
          </a:p>
        </p:txBody>
      </p:sp>
      <p:grpSp>
        <p:nvGrpSpPr>
          <p:cNvPr id="6" name="Group 5"/>
          <p:cNvGrpSpPr/>
          <p:nvPr/>
        </p:nvGrpSpPr>
        <p:grpSpPr>
          <a:xfrm>
            <a:off x="1095154" y="5240219"/>
            <a:ext cx="1076231" cy="847281"/>
            <a:chOff x="25154821" y="7455704"/>
            <a:chExt cx="2110198" cy="2062800"/>
          </a:xfrm>
          <a:solidFill>
            <a:schemeClr val="accent5">
              <a:lumMod val="40000"/>
              <a:lumOff val="60000"/>
            </a:schemeClr>
          </a:solidFill>
        </p:grpSpPr>
        <p:sp>
          <p:nvSpPr>
            <p:cNvPr id="53" name="Rectangle 52"/>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4" name="Rectangle 53"/>
            <p:cNvSpPr/>
            <p:nvPr/>
          </p:nvSpPr>
          <p:spPr>
            <a:xfrm>
              <a:off x="25324825"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bitmap</a:t>
              </a:r>
              <a:endParaRPr lang="en-US" sz="1600" dirty="0">
                <a:solidFill>
                  <a:schemeClr val="bg1"/>
                </a:solidFill>
              </a:endParaRPr>
            </a:p>
          </p:txBody>
        </p:sp>
      </p:grpSp>
      <p:cxnSp>
        <p:nvCxnSpPr>
          <p:cNvPr id="7" name="Straight Arrow Connector 6"/>
          <p:cNvCxnSpPr>
            <a:stCxn id="8" idx="2"/>
          </p:cNvCxnSpPr>
          <p:nvPr/>
        </p:nvCxnSpPr>
        <p:spPr>
          <a:xfrm flipH="1">
            <a:off x="1598355" y="2963160"/>
            <a:ext cx="1" cy="46686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1095154" y="2115879"/>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9" name="Rectangle 8"/>
          <p:cNvSpPr/>
          <p:nvPr/>
        </p:nvSpPr>
        <p:spPr>
          <a:xfrm>
            <a:off x="1176232" y="2181048"/>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0" name="Group 9"/>
          <p:cNvGrpSpPr/>
          <p:nvPr/>
        </p:nvGrpSpPr>
        <p:grpSpPr>
          <a:xfrm>
            <a:off x="3222322" y="2115879"/>
            <a:ext cx="3654350" cy="847281"/>
            <a:chOff x="24275265" y="2491036"/>
            <a:chExt cx="4669172" cy="1473330"/>
          </a:xfrm>
        </p:grpSpPr>
        <p:sp>
          <p:nvSpPr>
            <p:cNvPr id="51" name="Rectangle 50"/>
            <p:cNvSpPr/>
            <p:nvPr/>
          </p:nvSpPr>
          <p:spPr>
            <a:xfrm>
              <a:off x="24275265" y="2491036"/>
              <a:ext cx="4669172"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2" name="Rectangle 51"/>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1" name="Straight Arrow Connector 10"/>
          <p:cNvCxnSpPr>
            <a:stCxn id="8" idx="3"/>
            <a:endCxn id="51" idx="1"/>
          </p:cNvCxnSpPr>
          <p:nvPr/>
        </p:nvCxnSpPr>
        <p:spPr>
          <a:xfrm>
            <a:off x="2101557" y="2539519"/>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1095153" y="3430025"/>
            <a:ext cx="5341017"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3" name="Rectangle 12"/>
          <p:cNvSpPr/>
          <p:nvPr/>
        </p:nvSpPr>
        <p:spPr>
          <a:xfrm>
            <a:off x="1176232" y="3496385"/>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4" name="Rounded Rectangle 13"/>
          <p:cNvSpPr/>
          <p:nvPr/>
        </p:nvSpPr>
        <p:spPr>
          <a:xfrm>
            <a:off x="3100423" y="3491900"/>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cxnSp>
        <p:nvCxnSpPr>
          <p:cNvPr id="15" name="Straight Arrow Connector 96"/>
          <p:cNvCxnSpPr/>
          <p:nvPr/>
        </p:nvCxnSpPr>
        <p:spPr>
          <a:xfrm rot="5400000">
            <a:off x="2035700" y="3877085"/>
            <a:ext cx="952866" cy="1773403"/>
          </a:xfrm>
          <a:prstGeom prst="bentConnector3">
            <a:avLst>
              <a:gd name="adj1" fmla="val 26888"/>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6" name="Group 15"/>
          <p:cNvGrpSpPr/>
          <p:nvPr/>
        </p:nvGrpSpPr>
        <p:grpSpPr>
          <a:xfrm>
            <a:off x="2313919" y="5240219"/>
            <a:ext cx="1072144" cy="847281"/>
            <a:chOff x="25154823" y="7455704"/>
            <a:chExt cx="2078542" cy="2062800"/>
          </a:xfrm>
          <a:solidFill>
            <a:schemeClr val="accent5">
              <a:lumMod val="40000"/>
              <a:lumOff val="60000"/>
            </a:schemeClr>
          </a:solidFill>
        </p:grpSpPr>
        <p:sp>
          <p:nvSpPr>
            <p:cNvPr id="49" name="Rectangle 48"/>
            <p:cNvSpPr/>
            <p:nvPr/>
          </p:nvSpPr>
          <p:spPr>
            <a:xfrm>
              <a:off x="25154823" y="7455704"/>
              <a:ext cx="2078542"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0" name="Rectangle 49"/>
            <p:cNvSpPr/>
            <p:nvPr/>
          </p:nvSpPr>
          <p:spPr>
            <a:xfrm>
              <a:off x="25324824"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bitmap</a:t>
              </a:r>
              <a:endParaRPr lang="en-US" sz="1600" dirty="0">
                <a:solidFill>
                  <a:schemeClr val="bg1"/>
                </a:solidFill>
              </a:endParaRPr>
            </a:p>
          </p:txBody>
        </p:sp>
      </p:grpSp>
      <p:sp>
        <p:nvSpPr>
          <p:cNvPr id="17" name="Rectangle 16"/>
          <p:cNvSpPr/>
          <p:nvPr/>
        </p:nvSpPr>
        <p:spPr>
          <a:xfrm>
            <a:off x="3528597" y="5239332"/>
            <a:ext cx="4422810"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8" name="Rectangle 17"/>
          <p:cNvSpPr/>
          <p:nvPr/>
        </p:nvSpPr>
        <p:spPr>
          <a:xfrm>
            <a:off x="3605553" y="5302501"/>
            <a:ext cx="769178" cy="534936"/>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table</a:t>
            </a:r>
            <a:endParaRPr lang="en-US" sz="1600" dirty="0">
              <a:solidFill>
                <a:schemeClr val="bg1"/>
              </a:solidFill>
            </a:endParaRPr>
          </a:p>
        </p:txBody>
      </p:sp>
      <p:cxnSp>
        <p:nvCxnSpPr>
          <p:cNvPr id="19" name="Straight Arrow Connector 96"/>
          <p:cNvCxnSpPr>
            <a:stCxn id="14" idx="2"/>
            <a:endCxn id="49" idx="0"/>
          </p:cNvCxnSpPr>
          <p:nvPr/>
        </p:nvCxnSpPr>
        <p:spPr>
          <a:xfrm rot="5400000">
            <a:off x="2822569" y="4314777"/>
            <a:ext cx="952866" cy="898020"/>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 name="Rounded Rectangle 19"/>
          <p:cNvSpPr/>
          <p:nvPr/>
        </p:nvSpPr>
        <p:spPr>
          <a:xfrm>
            <a:off x="4517289" y="3513434"/>
            <a:ext cx="1259699" cy="773919"/>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cxnSp>
        <p:nvCxnSpPr>
          <p:cNvPr id="21" name="Straight Arrow Connector 96"/>
          <p:cNvCxnSpPr/>
          <p:nvPr/>
        </p:nvCxnSpPr>
        <p:spPr>
          <a:xfrm>
            <a:off x="4079196" y="4287353"/>
            <a:ext cx="0" cy="9493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2" name="Rounded Rectangle 21"/>
          <p:cNvSpPr/>
          <p:nvPr/>
        </p:nvSpPr>
        <p:spPr>
          <a:xfrm>
            <a:off x="4463500" y="5302500"/>
            <a:ext cx="880671" cy="716446"/>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a:t>
            </a:r>
            <a:r>
              <a:rPr lang="en-US" altLang="zh-TW" sz="1600" dirty="0" err="1" smtClean="0">
                <a:solidFill>
                  <a:schemeClr val="tx1"/>
                </a:solidFill>
              </a:rPr>
              <a:t>reg</a:t>
            </a:r>
            <a:r>
              <a:rPr lang="en-US" altLang="zh-TW" sz="1600" dirty="0" smtClean="0">
                <a:solidFill>
                  <a:schemeClr val="tx1"/>
                </a:solidFill>
              </a:rPr>
              <a:t> file)</a:t>
            </a:r>
            <a:endParaRPr lang="zh-TW" altLang="en-US" sz="1600" dirty="0">
              <a:solidFill>
                <a:schemeClr val="tx1"/>
              </a:solidFill>
            </a:endParaRPr>
          </a:p>
        </p:txBody>
      </p:sp>
      <p:sp>
        <p:nvSpPr>
          <p:cNvPr id="23" name="Rounded Rectangle 22"/>
          <p:cNvSpPr/>
          <p:nvPr/>
        </p:nvSpPr>
        <p:spPr>
          <a:xfrm>
            <a:off x="6658175" y="5302499"/>
            <a:ext cx="1108720" cy="716446"/>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(directory)</a:t>
            </a:r>
            <a:endParaRPr lang="zh-TW" altLang="en-US" sz="1600" dirty="0">
              <a:solidFill>
                <a:schemeClr val="tx1"/>
              </a:solidFill>
            </a:endParaRPr>
          </a:p>
        </p:txBody>
      </p:sp>
      <p:sp>
        <p:nvSpPr>
          <p:cNvPr id="24" name="TextBox 23"/>
          <p:cNvSpPr txBox="1"/>
          <p:nvPr/>
        </p:nvSpPr>
        <p:spPr>
          <a:xfrm>
            <a:off x="5870590" y="359136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sp>
        <p:nvSpPr>
          <p:cNvPr id="25" name="TextBox 24"/>
          <p:cNvSpPr txBox="1"/>
          <p:nvPr/>
        </p:nvSpPr>
        <p:spPr>
          <a:xfrm>
            <a:off x="5753161" y="533437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26" name="Group 25"/>
          <p:cNvGrpSpPr/>
          <p:nvPr/>
        </p:nvGrpSpPr>
        <p:grpSpPr>
          <a:xfrm>
            <a:off x="6860595" y="4102149"/>
            <a:ext cx="1006403" cy="847281"/>
            <a:chOff x="25154821" y="7455704"/>
            <a:chExt cx="2110198" cy="2062800"/>
          </a:xfrm>
          <a:solidFill>
            <a:schemeClr val="accent5">
              <a:lumMod val="40000"/>
              <a:lumOff val="60000"/>
            </a:schemeClr>
          </a:solidFill>
        </p:grpSpPr>
        <p:sp>
          <p:nvSpPr>
            <p:cNvPr id="47" name="Rectangle 46"/>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8" name="Rectangle 47"/>
            <p:cNvSpPr/>
            <p:nvPr/>
          </p:nvSpPr>
          <p:spPr>
            <a:xfrm>
              <a:off x="25324824" y="7614364"/>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r>
                <a:rPr lang="en-US" sz="1600" dirty="0" smtClean="0">
                  <a:solidFill>
                    <a:schemeClr val="bg1"/>
                  </a:solidFill>
                </a:rPr>
                <a:t> block</a:t>
              </a:r>
              <a:endParaRPr lang="en-US" sz="1600" dirty="0">
                <a:solidFill>
                  <a:schemeClr val="bg1"/>
                </a:solidFill>
              </a:endParaRPr>
            </a:p>
          </p:txBody>
        </p:sp>
      </p:grpSp>
      <p:grpSp>
        <p:nvGrpSpPr>
          <p:cNvPr id="27" name="Group 26"/>
          <p:cNvGrpSpPr/>
          <p:nvPr/>
        </p:nvGrpSpPr>
        <p:grpSpPr>
          <a:xfrm>
            <a:off x="8240776" y="5236670"/>
            <a:ext cx="1105242" cy="850831"/>
            <a:chOff x="25154821" y="7455704"/>
            <a:chExt cx="2110198" cy="2062800"/>
          </a:xfrm>
          <a:solidFill>
            <a:schemeClr val="accent5">
              <a:lumMod val="40000"/>
              <a:lumOff val="60000"/>
            </a:schemeClr>
          </a:solidFill>
        </p:grpSpPr>
        <p:sp>
          <p:nvSpPr>
            <p:cNvPr id="45" name="Rectangle 44"/>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6" name="Rectangle 45"/>
            <p:cNvSpPr/>
            <p:nvPr/>
          </p:nvSpPr>
          <p:spPr>
            <a:xfrm>
              <a:off x="25324824" y="7615302"/>
              <a:ext cx="1770193" cy="173698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endParaRPr lang="en-US" sz="1600" dirty="0" smtClean="0">
                <a:solidFill>
                  <a:schemeClr val="bg1"/>
                </a:solidFill>
              </a:endParaRPr>
            </a:p>
            <a:p>
              <a:pPr algn="ctr"/>
              <a:r>
                <a:rPr lang="en-US" sz="1600" dirty="0" smtClean="0">
                  <a:solidFill>
                    <a:schemeClr val="bg1"/>
                  </a:solidFill>
                </a:rPr>
                <a:t>indirect</a:t>
              </a:r>
            </a:p>
            <a:p>
              <a:pPr algn="ctr"/>
              <a:r>
                <a:rPr lang="en-US" sz="1600" dirty="0" smtClean="0">
                  <a:solidFill>
                    <a:schemeClr val="bg1"/>
                  </a:solidFill>
                </a:rPr>
                <a:t>block</a:t>
              </a:r>
              <a:endParaRPr lang="en-US" sz="1600" dirty="0">
                <a:solidFill>
                  <a:schemeClr val="bg1"/>
                </a:solidFill>
              </a:endParaRPr>
            </a:p>
          </p:txBody>
        </p:sp>
      </p:grpSp>
      <p:grpSp>
        <p:nvGrpSpPr>
          <p:cNvPr id="28" name="Group 27"/>
          <p:cNvGrpSpPr/>
          <p:nvPr/>
        </p:nvGrpSpPr>
        <p:grpSpPr>
          <a:xfrm rot="16200000" flipV="1">
            <a:off x="8645680" y="4838037"/>
            <a:ext cx="294823" cy="533101"/>
            <a:chOff x="27236633" y="9932056"/>
            <a:chExt cx="578250" cy="990600"/>
          </a:xfrm>
        </p:grpSpPr>
        <p:cxnSp>
          <p:nvCxnSpPr>
            <p:cNvPr id="42" name="Straight Arrow Connector 41"/>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9" name="Group 28"/>
          <p:cNvGrpSpPr/>
          <p:nvPr/>
        </p:nvGrpSpPr>
        <p:grpSpPr>
          <a:xfrm>
            <a:off x="8240944" y="4062709"/>
            <a:ext cx="1105074" cy="886721"/>
            <a:chOff x="20309820" y="9557482"/>
            <a:chExt cx="2053432" cy="1739168"/>
          </a:xfrm>
          <a:solidFill>
            <a:schemeClr val="accent5">
              <a:lumMod val="40000"/>
              <a:lumOff val="60000"/>
            </a:schemeClr>
          </a:solidFill>
        </p:grpSpPr>
        <p:sp>
          <p:nvSpPr>
            <p:cNvPr id="37" name="Rectangle 36"/>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38" name="Rectangle 37"/>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grpSp>
          <p:nvGrpSpPr>
            <p:cNvPr id="39" name="Group 38"/>
            <p:cNvGrpSpPr/>
            <p:nvPr/>
          </p:nvGrpSpPr>
          <p:grpSpPr>
            <a:xfrm>
              <a:off x="20309820" y="9762072"/>
              <a:ext cx="1864380" cy="1534578"/>
              <a:chOff x="25154821" y="7455704"/>
              <a:chExt cx="1864380" cy="1534578"/>
            </a:xfrm>
            <a:grpFill/>
          </p:grpSpPr>
          <p:sp>
            <p:nvSpPr>
              <p:cNvPr id="40" name="Rectangle 39"/>
              <p:cNvSpPr/>
              <p:nvPr/>
            </p:nvSpPr>
            <p:spPr>
              <a:xfrm>
                <a:off x="25154821" y="7455704"/>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1" name="Rectangle 40"/>
              <p:cNvSpPr/>
              <p:nvPr/>
            </p:nvSpPr>
            <p:spPr>
              <a:xfrm>
                <a:off x="25324824" y="7614367"/>
                <a:ext cx="1541977" cy="107255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endParaRPr lang="en-US" sz="1600" dirty="0" smtClean="0">
                  <a:solidFill>
                    <a:schemeClr val="bg1"/>
                  </a:solidFill>
                </a:endParaRPr>
              </a:p>
              <a:p>
                <a:pPr algn="ctr"/>
                <a:r>
                  <a:rPr lang="en-US" sz="1600" dirty="0" smtClean="0">
                    <a:solidFill>
                      <a:schemeClr val="bg1"/>
                    </a:solidFill>
                  </a:rPr>
                  <a:t>blocks</a:t>
                </a:r>
                <a:endParaRPr lang="en-US" sz="1600" dirty="0">
                  <a:solidFill>
                    <a:schemeClr val="bg1"/>
                  </a:solidFill>
                </a:endParaRPr>
              </a:p>
            </p:txBody>
          </p:sp>
        </p:grpSp>
      </p:grpSp>
      <p:cxnSp>
        <p:nvCxnSpPr>
          <p:cNvPr id="30" name="Straight Arrow Connector 96"/>
          <p:cNvCxnSpPr>
            <a:stCxn id="23" idx="0"/>
          </p:cNvCxnSpPr>
          <p:nvPr/>
        </p:nvCxnSpPr>
        <p:spPr>
          <a:xfrm flipV="1">
            <a:off x="7212534" y="4947999"/>
            <a:ext cx="0" cy="35450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96"/>
          <p:cNvCxnSpPr>
            <a:stCxn id="23" idx="3"/>
            <a:endCxn id="45" idx="1"/>
          </p:cNvCxnSpPr>
          <p:nvPr/>
        </p:nvCxnSpPr>
        <p:spPr>
          <a:xfrm>
            <a:off x="7766894" y="5660722"/>
            <a:ext cx="473882" cy="1363"/>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32" name="Group 31"/>
          <p:cNvGrpSpPr/>
          <p:nvPr/>
        </p:nvGrpSpPr>
        <p:grpSpPr>
          <a:xfrm rot="5400000">
            <a:off x="5001386" y="4201233"/>
            <a:ext cx="294823" cy="533101"/>
            <a:chOff x="27236633" y="9932056"/>
            <a:chExt cx="578250" cy="990600"/>
          </a:xfrm>
        </p:grpSpPr>
        <p:cxnSp>
          <p:nvCxnSpPr>
            <p:cNvPr id="34" name="Straight Arrow Connector 33"/>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p:cNvSpPr txBox="1"/>
          <p:nvPr/>
        </p:nvSpPr>
        <p:spPr>
          <a:xfrm>
            <a:off x="1703299" y="3023854"/>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
        <p:nvSpPr>
          <p:cNvPr id="57" name="TextBox 56"/>
          <p:cNvSpPr txBox="1"/>
          <p:nvPr/>
        </p:nvSpPr>
        <p:spPr>
          <a:xfrm>
            <a:off x="4527051" y="4633428"/>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Tree>
    <p:extLst>
      <p:ext uri="{BB962C8B-B14F-4D97-AF65-F5344CB8AC3E}">
        <p14:creationId xmlns:p14="http://schemas.microsoft.com/office/powerpoint/2010/main" val="137692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 Address Space</a:t>
            </a:r>
            <a:endParaRPr lang="en-CA" dirty="0"/>
          </a:p>
        </p:txBody>
      </p:sp>
      <p:sp>
        <p:nvSpPr>
          <p:cNvPr id="3" name="Content Placeholder 2"/>
          <p:cNvSpPr>
            <a:spLocks noGrp="1"/>
          </p:cNvSpPr>
          <p:nvPr>
            <p:ph idx="1"/>
          </p:nvPr>
        </p:nvSpPr>
        <p:spPr/>
        <p:txBody>
          <a:bodyPr/>
          <a:lstStyle/>
          <a:p>
            <a:r>
              <a:rPr lang="en-CA" dirty="0"/>
              <a:t>File address is an index into the </a:t>
            </a:r>
            <a:r>
              <a:rPr lang="en-CA" dirty="0" err="1"/>
              <a:t>inode</a:t>
            </a:r>
            <a:r>
              <a:rPr lang="en-CA" dirty="0"/>
              <a:t> table for a </a:t>
            </a:r>
            <a:r>
              <a:rPr lang="en-CA" dirty="0" smtClean="0"/>
              <a:t>file</a:t>
            </a:r>
          </a:p>
          <a:p>
            <a:pPr lvl="1"/>
            <a:r>
              <a:rPr lang="en-CA" dirty="0" smtClean="0"/>
              <a:t>E.g. Ext4 journal is stored as a regular file  </a:t>
            </a:r>
          </a:p>
          <a:p>
            <a:pPr lvl="1"/>
            <a:r>
              <a:rPr lang="en-CA" dirty="0" smtClean="0"/>
              <a:t>Regular file may be physically discontiguous</a:t>
            </a:r>
          </a:p>
          <a:p>
            <a:pPr lvl="1"/>
            <a:r>
              <a:rPr lang="en-CA" dirty="0" smtClean="0"/>
              <a:t>Mapping function may reassemble blocks</a:t>
            </a:r>
            <a:endParaRPr lang="en-CA" dirty="0"/>
          </a:p>
          <a:p>
            <a:pPr lvl="1"/>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16</a:t>
            </a:fld>
            <a:endParaRPr lang="en-CA" dirty="0"/>
          </a:p>
        </p:txBody>
      </p:sp>
      <p:cxnSp>
        <p:nvCxnSpPr>
          <p:cNvPr id="7" name="Straight Arrow Connector 6"/>
          <p:cNvCxnSpPr>
            <a:stCxn id="8" idx="2"/>
          </p:cNvCxnSpPr>
          <p:nvPr/>
        </p:nvCxnSpPr>
        <p:spPr>
          <a:xfrm flipH="1">
            <a:off x="3767589" y="4354881"/>
            <a:ext cx="1" cy="466867"/>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3264388" y="3507600"/>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9" name="Rectangle 8"/>
          <p:cNvSpPr/>
          <p:nvPr/>
        </p:nvSpPr>
        <p:spPr>
          <a:xfrm>
            <a:off x="3345466" y="3572769"/>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0" name="Group 9"/>
          <p:cNvGrpSpPr/>
          <p:nvPr/>
        </p:nvGrpSpPr>
        <p:grpSpPr>
          <a:xfrm>
            <a:off x="5391556" y="3507600"/>
            <a:ext cx="3654350" cy="847281"/>
            <a:chOff x="24275265" y="2491036"/>
            <a:chExt cx="4669172" cy="1473330"/>
          </a:xfrm>
        </p:grpSpPr>
        <p:sp>
          <p:nvSpPr>
            <p:cNvPr id="52" name="Rectangle 51"/>
            <p:cNvSpPr/>
            <p:nvPr/>
          </p:nvSpPr>
          <p:spPr>
            <a:xfrm>
              <a:off x="24275265" y="2491036"/>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53" name="Rectangle 52"/>
            <p:cNvSpPr/>
            <p:nvPr/>
          </p:nvSpPr>
          <p:spPr>
            <a:xfrm>
              <a:off x="24366499" y="2604357"/>
              <a:ext cx="1771964" cy="572323"/>
            </a:xfrm>
            <a:prstGeom prst="rect">
              <a:avLst/>
            </a:prstGeom>
            <a:solidFill>
              <a:schemeClr val="tx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1" name="Straight Arrow Connector 10"/>
          <p:cNvCxnSpPr>
            <a:stCxn id="8" idx="3"/>
            <a:endCxn id="52" idx="1"/>
          </p:cNvCxnSpPr>
          <p:nvPr/>
        </p:nvCxnSpPr>
        <p:spPr>
          <a:xfrm>
            <a:off x="4270791" y="3931240"/>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967747" y="4821746"/>
            <a:ext cx="3901965" cy="954429"/>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3" name="Rectangle 12"/>
          <p:cNvSpPr/>
          <p:nvPr/>
        </p:nvSpPr>
        <p:spPr>
          <a:xfrm>
            <a:off x="1048826" y="4888106"/>
            <a:ext cx="1826320" cy="569021"/>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block group descriptor table</a:t>
            </a:r>
            <a:endParaRPr lang="en-US" sz="1600" dirty="0">
              <a:solidFill>
                <a:schemeClr val="bg1">
                  <a:lumMod val="50000"/>
                  <a:lumOff val="50000"/>
                </a:schemeClr>
              </a:solidFill>
            </a:endParaRPr>
          </a:p>
        </p:txBody>
      </p:sp>
      <p:sp>
        <p:nvSpPr>
          <p:cNvPr id="14" name="Rounded Rectangle 13"/>
          <p:cNvSpPr/>
          <p:nvPr/>
        </p:nvSpPr>
        <p:spPr>
          <a:xfrm>
            <a:off x="2973017" y="4883621"/>
            <a:ext cx="1295177" cy="795454"/>
          </a:xfrm>
          <a:prstGeom prst="roundRect">
            <a:avLst/>
          </a:prstGeom>
          <a:solidFill>
            <a:schemeClr val="accent3">
              <a:lumMod val="20000"/>
              <a:lumOff val="80000"/>
            </a:schemeClr>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bg1">
                    <a:lumMod val="50000"/>
                    <a:lumOff val="50000"/>
                  </a:schemeClr>
                </a:solidFill>
              </a:rPr>
              <a:t>block group descriptor</a:t>
            </a:r>
            <a:endParaRPr lang="zh-TW" altLang="en-US" sz="1600" dirty="0">
              <a:solidFill>
                <a:schemeClr val="bg1">
                  <a:lumMod val="50000"/>
                  <a:lumOff val="50000"/>
                </a:schemeClr>
              </a:solidFill>
            </a:endParaRPr>
          </a:p>
        </p:txBody>
      </p:sp>
      <p:sp>
        <p:nvSpPr>
          <p:cNvPr id="24" name="TextBox 23"/>
          <p:cNvSpPr txBox="1"/>
          <p:nvPr/>
        </p:nvSpPr>
        <p:spPr>
          <a:xfrm>
            <a:off x="4286527" y="4983083"/>
            <a:ext cx="492443" cy="461665"/>
          </a:xfrm>
          <a:prstGeom prst="rect">
            <a:avLst/>
          </a:prstGeom>
          <a:noFill/>
        </p:spPr>
        <p:txBody>
          <a:bodyPr wrap="none" rtlCol="0">
            <a:spAutoFit/>
          </a:bodyPr>
          <a:lstStyle/>
          <a:p>
            <a:r>
              <a:rPr lang="en-CA" sz="2400" dirty="0" smtClean="0">
                <a:solidFill>
                  <a:schemeClr val="bg1">
                    <a:lumMod val="50000"/>
                    <a:lumOff val="50000"/>
                  </a:schemeClr>
                </a:solidFill>
              </a:rPr>
              <a:t>…</a:t>
            </a:r>
            <a:endParaRPr lang="en-CA" sz="2400" dirty="0">
              <a:solidFill>
                <a:schemeClr val="bg1">
                  <a:lumMod val="50000"/>
                  <a:lumOff val="50000"/>
                </a:schemeClr>
              </a:solidFill>
            </a:endParaRPr>
          </a:p>
        </p:txBody>
      </p:sp>
      <p:sp>
        <p:nvSpPr>
          <p:cNvPr id="33" name="TextBox 32"/>
          <p:cNvSpPr txBox="1"/>
          <p:nvPr/>
        </p:nvSpPr>
        <p:spPr>
          <a:xfrm>
            <a:off x="4295334" y="3507600"/>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grpSp>
        <p:nvGrpSpPr>
          <p:cNvPr id="56" name="Group 55"/>
          <p:cNvGrpSpPr/>
          <p:nvPr/>
        </p:nvGrpSpPr>
        <p:grpSpPr>
          <a:xfrm rot="5400000">
            <a:off x="3473194" y="5593114"/>
            <a:ext cx="294823" cy="533101"/>
            <a:chOff x="27236633" y="9932056"/>
            <a:chExt cx="578250" cy="990600"/>
          </a:xfrm>
        </p:grpSpPr>
        <p:cxnSp>
          <p:nvCxnSpPr>
            <p:cNvPr id="57" name="Straight Arrow Connector 56"/>
            <p:cNvCxnSpPr/>
            <p:nvPr/>
          </p:nvCxnSpPr>
          <p:spPr>
            <a:xfrm>
              <a:off x="27236633" y="104273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a:off x="27236633" y="109226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a:off x="27236633" y="99320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61" name="Rectangle 60"/>
          <p:cNvSpPr/>
          <p:nvPr/>
        </p:nvSpPr>
        <p:spPr>
          <a:xfrm>
            <a:off x="7089186" y="5485532"/>
            <a:ext cx="1576385" cy="329131"/>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physical disk</a:t>
            </a:r>
            <a:endParaRPr lang="en-US" sz="1600" dirty="0">
              <a:solidFill>
                <a:schemeClr val="bg1"/>
              </a:solidFill>
            </a:endParaRPr>
          </a:p>
        </p:txBody>
      </p:sp>
      <p:cxnSp>
        <p:nvCxnSpPr>
          <p:cNvPr id="67" name="Straight Connector 66"/>
          <p:cNvCxnSpPr/>
          <p:nvPr/>
        </p:nvCxnSpPr>
        <p:spPr>
          <a:xfrm flipH="1">
            <a:off x="5390595" y="4354881"/>
            <a:ext cx="961" cy="4668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a:off x="6698512" y="4376079"/>
            <a:ext cx="326684"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a:off x="7061796" y="4376079"/>
            <a:ext cx="361105"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a:off x="9045906" y="4376079"/>
            <a:ext cx="1317294" cy="4668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grpSp>
        <p:nvGrpSpPr>
          <p:cNvPr id="96" name="Group 95"/>
          <p:cNvGrpSpPr/>
          <p:nvPr/>
        </p:nvGrpSpPr>
        <p:grpSpPr>
          <a:xfrm>
            <a:off x="5391556" y="4823599"/>
            <a:ext cx="4971644" cy="635381"/>
            <a:chOff x="5391556" y="4823599"/>
            <a:chExt cx="4971644" cy="635381"/>
          </a:xfrm>
        </p:grpSpPr>
        <p:sp>
          <p:nvSpPr>
            <p:cNvPr id="60" name="Rectangle 59"/>
            <p:cNvSpPr/>
            <p:nvPr/>
          </p:nvSpPr>
          <p:spPr>
            <a:xfrm>
              <a:off x="5391556" y="4823599"/>
              <a:ext cx="1306956"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2" name="Rectangle 61"/>
            <p:cNvSpPr/>
            <p:nvPr/>
          </p:nvSpPr>
          <p:spPr>
            <a:xfrm>
              <a:off x="6697758" y="4823599"/>
              <a:ext cx="719141" cy="635381"/>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3" name="Rectangle 62"/>
            <p:cNvSpPr/>
            <p:nvPr/>
          </p:nvSpPr>
          <p:spPr>
            <a:xfrm>
              <a:off x="7416145" y="4823599"/>
              <a:ext cx="1676480"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4" name="Rectangle 63"/>
            <p:cNvSpPr/>
            <p:nvPr/>
          </p:nvSpPr>
          <p:spPr>
            <a:xfrm>
              <a:off x="9823770" y="4823599"/>
              <a:ext cx="539430"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8" name="Rectangle 77"/>
            <p:cNvSpPr/>
            <p:nvPr/>
          </p:nvSpPr>
          <p:spPr>
            <a:xfrm>
              <a:off x="9091871" y="4823599"/>
              <a:ext cx="732654" cy="635381"/>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85" name="Straight Connector 84"/>
          <p:cNvCxnSpPr/>
          <p:nvPr/>
        </p:nvCxnSpPr>
        <p:spPr>
          <a:xfrm>
            <a:off x="8365010" y="4376079"/>
            <a:ext cx="734371"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8399721" y="4380614"/>
            <a:ext cx="1437562" cy="46233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9444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F2FS NID Address Space</a:t>
            </a:r>
            <a:endParaRPr lang="en-CA" dirty="0"/>
          </a:p>
        </p:txBody>
      </p:sp>
      <p:sp>
        <p:nvSpPr>
          <p:cNvPr id="3" name="Content Placeholder 2"/>
          <p:cNvSpPr>
            <a:spLocks noGrp="1"/>
          </p:cNvSpPr>
          <p:nvPr>
            <p:ph idx="1"/>
          </p:nvPr>
        </p:nvSpPr>
        <p:spPr/>
        <p:txBody>
          <a:bodyPr/>
          <a:lstStyle/>
          <a:p>
            <a:r>
              <a:rPr lang="en-CA" dirty="0"/>
              <a:t>NID address is an index </a:t>
            </a:r>
            <a:r>
              <a:rPr lang="en-CA" dirty="0" smtClean="0"/>
              <a:t>into the </a:t>
            </a:r>
            <a:r>
              <a:rPr lang="en-CA" dirty="0"/>
              <a:t>node address table for an </a:t>
            </a:r>
            <a:r>
              <a:rPr lang="en-CA" dirty="0" smtClean="0"/>
              <a:t/>
            </a:r>
            <a:br>
              <a:rPr lang="en-CA" dirty="0" smtClean="0"/>
            </a:br>
            <a:r>
              <a:rPr lang="en-CA" dirty="0" smtClean="0"/>
              <a:t>F2FS </a:t>
            </a:r>
            <a:r>
              <a:rPr lang="en-CA" dirty="0"/>
              <a:t>metadata </a:t>
            </a:r>
            <a:r>
              <a:rPr lang="en-CA" dirty="0" smtClean="0"/>
              <a:t>block</a:t>
            </a:r>
          </a:p>
          <a:p>
            <a:r>
              <a:rPr lang="en-CA" dirty="0" smtClean="0"/>
              <a:t>Required to traverse indirect blocks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17</a:t>
            </a:fld>
            <a:endParaRPr lang="en-CA" dirty="0"/>
          </a:p>
        </p:txBody>
      </p:sp>
    </p:spTree>
    <p:extLst>
      <p:ext uri="{BB962C8B-B14F-4D97-AF65-F5344CB8AC3E}">
        <p14:creationId xmlns:p14="http://schemas.microsoft.com/office/powerpoint/2010/main" val="27972739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FSSUPER Annotation</a:t>
            </a:r>
            <a:endParaRPr lang="en-CA" dirty="0"/>
          </a:p>
        </p:txBody>
      </p:sp>
      <p:sp>
        <p:nvSpPr>
          <p:cNvPr id="3" name="Content Placeholder 2"/>
          <p:cNvSpPr>
            <a:spLocks noGrp="1"/>
          </p:cNvSpPr>
          <p:nvPr>
            <p:ph idx="1"/>
          </p:nvPr>
        </p:nvSpPr>
        <p:spPr>
          <a:xfrm>
            <a:off x="684211" y="1515358"/>
            <a:ext cx="10285797" cy="1589349"/>
          </a:xfrm>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 </a:t>
            </a:r>
            <a:r>
              <a:rPr lang="en-CA" dirty="0" smtClean="0"/>
              <a:t>argument specifies </a:t>
            </a:r>
            <a:r>
              <a:rPr lang="en-CA" dirty="0"/>
              <a:t>address in byte offset</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18</a:t>
            </a:fld>
            <a:endParaRPr lang="en-CA" dirty="0"/>
          </a:p>
        </p:txBody>
      </p:sp>
      <p:sp>
        <p:nvSpPr>
          <p:cNvPr id="6" name="Rectangle 5"/>
          <p:cNvSpPr/>
          <p:nvPr/>
        </p:nvSpPr>
        <p:spPr>
          <a:xfrm>
            <a:off x="950024" y="3027765"/>
            <a:ext cx="6641621" cy="1754326"/>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FSSUPER</a:t>
            </a:r>
            <a:r>
              <a:rPr lang="en-CA" dirty="0">
                <a:solidFill>
                  <a:schemeClr val="bg1"/>
                </a:solidFill>
                <a:latin typeface="Courier New" panose="02070309020205020404" pitchFamily="49" charset="0"/>
                <a:cs typeface="Courier New" panose="02070309020205020404" pitchFamily="49" charset="0"/>
              </a:rPr>
              <a:t>(location=1024) ext4_super_block {</a:t>
            </a:r>
          </a:p>
          <a:p>
            <a:r>
              <a:rPr lang="en-CA" dirty="0">
                <a:solidFill>
                  <a:schemeClr val="bg1"/>
                </a:solidFill>
                <a:latin typeface="Courier New" panose="02070309020205020404" pitchFamily="49" charset="0"/>
                <a:cs typeface="Courier New" panose="02070309020205020404" pitchFamily="49" charset="0"/>
              </a:rPr>
              <a:t>  __le32 </a:t>
            </a:r>
            <a:r>
              <a:rPr lang="en-CA" dirty="0" err="1">
                <a:solidFill>
                  <a:schemeClr val="bg1"/>
                </a:solidFill>
                <a:latin typeface="Courier New" panose="02070309020205020404" pitchFamily="49" charset="0"/>
                <a:cs typeface="Courier New" panose="02070309020205020404" pitchFamily="49" charset="0"/>
              </a:rPr>
              <a:t>s_log_block_size</a:t>
            </a:r>
            <a:r>
              <a:rPr lang="en-CA" dirty="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p>
          <a:p>
            <a:r>
              <a:rPr lang="fr-FR" dirty="0" smtClean="0">
                <a:solidFill>
                  <a:schemeClr val="bg1"/>
                </a:solidFill>
                <a:latin typeface="Courier New" panose="02070309020205020404" pitchFamily="49" charset="0"/>
                <a:cs typeface="Courier New" panose="02070309020205020404" pitchFamily="49" charset="0"/>
              </a:rPr>
              <a:t>  </a:t>
            </a:r>
            <a:r>
              <a:rPr lang="fr-FR" b="1" dirty="0" smtClean="0">
                <a:solidFill>
                  <a:schemeClr val="bg1"/>
                </a:solidFill>
                <a:latin typeface="Courier New" panose="02070309020205020404" pitchFamily="49" charset="0"/>
                <a:cs typeface="Courier New" panose="02070309020205020404" pitchFamily="49" charset="0"/>
              </a:rPr>
              <a:t>POINTER</a:t>
            </a:r>
            <a:r>
              <a:rPr lang="fr-FR" dirty="0" smtClean="0">
                <a:solidFill>
                  <a:schemeClr val="bg1"/>
                </a:solidFill>
                <a:latin typeface="Courier New" panose="02070309020205020404" pitchFamily="49" charset="0"/>
                <a:cs typeface="Courier New" panose="02070309020205020404" pitchFamily="49" charset="0"/>
              </a:rPr>
              <a:t>(</a:t>
            </a:r>
            <a:r>
              <a:rPr lang="fr-FR" dirty="0" err="1" smtClean="0">
                <a:solidFill>
                  <a:schemeClr val="bg1"/>
                </a:solidFill>
                <a:latin typeface="Courier New" panose="02070309020205020404" pitchFamily="49" charset="0"/>
                <a:cs typeface="Courier New" panose="02070309020205020404" pitchFamily="49" charset="0"/>
              </a:rPr>
              <a:t>addrspace</a:t>
            </a:r>
            <a:r>
              <a:rPr lang="fr-FR" dirty="0" smtClean="0">
                <a:solidFill>
                  <a:schemeClr val="bg1"/>
                </a:solidFill>
                <a:latin typeface="Courier New" panose="02070309020205020404" pitchFamily="49" charset="0"/>
                <a:cs typeface="Courier New" panose="02070309020205020404" pitchFamily="49" charset="0"/>
              </a:rPr>
              <a:t>=file</a:t>
            </a:r>
            <a:r>
              <a:rPr lang="fr-FR" dirty="0">
                <a:solidFill>
                  <a:schemeClr val="bg1"/>
                </a:solidFill>
                <a:latin typeface="Courier New" panose="02070309020205020404" pitchFamily="49" charset="0"/>
                <a:cs typeface="Courier New" panose="02070309020205020404" pitchFamily="49" charset="0"/>
              </a:rPr>
              <a:t>, type=ext4_journal)</a:t>
            </a:r>
          </a:p>
          <a:p>
            <a:r>
              <a:rPr lang="fr-FR" dirty="0" smtClean="0">
                <a:solidFill>
                  <a:schemeClr val="bg1"/>
                </a:solidFill>
                <a:latin typeface="Courier New" panose="02070309020205020404" pitchFamily="49" charset="0"/>
                <a:cs typeface="Courier New" panose="02070309020205020404" pitchFamily="49" charset="0"/>
              </a:rPr>
              <a:t>  __</a:t>
            </a:r>
            <a:r>
              <a:rPr lang="fr-FR" dirty="0">
                <a:solidFill>
                  <a:schemeClr val="bg1"/>
                </a:solidFill>
                <a:latin typeface="Courier New" panose="02070309020205020404" pitchFamily="49" charset="0"/>
                <a:cs typeface="Courier New" panose="02070309020205020404" pitchFamily="49" charset="0"/>
              </a:rPr>
              <a:t>le32 </a:t>
            </a:r>
            <a:r>
              <a:rPr lang="fr-FR" dirty="0" err="1">
                <a:solidFill>
                  <a:schemeClr val="bg1"/>
                </a:solidFill>
                <a:latin typeface="Courier New" panose="02070309020205020404" pitchFamily="49" charset="0"/>
                <a:cs typeface="Courier New" panose="02070309020205020404" pitchFamily="49" charset="0"/>
              </a:rPr>
              <a:t>s_journal_inum</a:t>
            </a:r>
            <a:r>
              <a:rPr lang="fr-FR" dirty="0">
                <a:solidFill>
                  <a:schemeClr val="bg1"/>
                </a:solidFill>
                <a:latin typeface="Courier New" panose="02070309020205020404" pitchFamily="49" charset="0"/>
                <a:cs typeface="Courier New" panose="02070309020205020404" pitchFamily="49" charset="0"/>
              </a:rPr>
              <a:t>;</a:t>
            </a:r>
            <a:endParaRPr lang="en-CA" dirty="0" smtClean="0">
              <a:solidFill>
                <a:schemeClr val="bg1"/>
              </a:solidFill>
              <a:latin typeface="Courier New" panose="02070309020205020404" pitchFamily="49" charset="0"/>
              <a:cs typeface="Courier New" panose="02070309020205020404" pitchFamily="49" charset="0"/>
            </a:endParaRP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13" name="Rectangle 12"/>
          <p:cNvSpPr/>
          <p:nvPr/>
        </p:nvSpPr>
        <p:spPr>
          <a:xfrm>
            <a:off x="5188490" y="4640965"/>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5269568" y="4706134"/>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5" name="Group 14"/>
          <p:cNvGrpSpPr/>
          <p:nvPr/>
        </p:nvGrpSpPr>
        <p:grpSpPr>
          <a:xfrm>
            <a:off x="7315660" y="4640965"/>
            <a:ext cx="2604519" cy="847281"/>
            <a:chOff x="24275265" y="2491036"/>
            <a:chExt cx="3327800" cy="1473330"/>
          </a:xfrm>
        </p:grpSpPr>
        <p:sp>
          <p:nvSpPr>
            <p:cNvPr id="16" name="Rectangle 15"/>
            <p:cNvSpPr/>
            <p:nvPr/>
          </p:nvSpPr>
          <p:spPr>
            <a:xfrm>
              <a:off x="24275265" y="2491036"/>
              <a:ext cx="3327800"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17" name="Rectangle 16"/>
            <p:cNvSpPr/>
            <p:nvPr/>
          </p:nvSpPr>
          <p:spPr>
            <a:xfrm>
              <a:off x="24366499" y="2604357"/>
              <a:ext cx="1771964" cy="572323"/>
            </a:xfrm>
            <a:prstGeom prst="rect">
              <a:avLst/>
            </a:prstGeom>
            <a:solidFill>
              <a:schemeClr val="tx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8" name="Straight Arrow Connector 17"/>
          <p:cNvCxnSpPr>
            <a:stCxn id="13" idx="3"/>
            <a:endCxn id="16" idx="1"/>
          </p:cNvCxnSpPr>
          <p:nvPr/>
        </p:nvCxnSpPr>
        <p:spPr>
          <a:xfrm>
            <a:off x="6194893" y="5064606"/>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219436" y="4640965"/>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spTree>
    <p:extLst>
      <p:ext uri="{BB962C8B-B14F-4D97-AF65-F5344CB8AC3E}">
        <p14:creationId xmlns:p14="http://schemas.microsoft.com/office/powerpoint/2010/main" val="660069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Missing Pointer</a:t>
            </a:r>
            <a:endParaRPr lang="en-CA" dirty="0"/>
          </a:p>
        </p:txBody>
      </p:sp>
      <p:sp>
        <p:nvSpPr>
          <p:cNvPr id="3" name="Content Placeholder 2"/>
          <p:cNvSpPr>
            <a:spLocks noGrp="1"/>
          </p:cNvSpPr>
          <p:nvPr>
            <p:ph idx="1"/>
          </p:nvPr>
        </p:nvSpPr>
        <p:spPr>
          <a:xfrm>
            <a:off x="684212" y="1515358"/>
            <a:ext cx="9949352" cy="4279386"/>
          </a:xfrm>
        </p:spPr>
        <p:txBody>
          <a:bodyPr/>
          <a:lstStyle/>
          <a:p>
            <a:r>
              <a:rPr lang="en-CA" dirty="0" smtClean="0"/>
              <a:t>Location of some metadata is relative to another and is known</a:t>
            </a:r>
          </a:p>
          <a:p>
            <a:pPr lvl="1"/>
            <a:r>
              <a:rPr lang="en-CA" dirty="0" smtClean="0"/>
              <a:t>E.g. Ext4 block group descriptor table is </a:t>
            </a:r>
            <a:br>
              <a:rPr lang="en-CA" dirty="0" smtClean="0"/>
            </a:br>
            <a:r>
              <a:rPr lang="en-CA" dirty="0" smtClean="0"/>
              <a:t>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19</a:t>
            </a:fld>
            <a:endParaRPr lang="en-CA" dirty="0"/>
          </a:p>
        </p:txBody>
      </p:sp>
      <p:cxnSp>
        <p:nvCxnSpPr>
          <p:cNvPr id="6" name="Straight Arrow Connector 5"/>
          <p:cNvCxnSpPr>
            <a:stCxn id="7" idx="2"/>
          </p:cNvCxnSpPr>
          <p:nvPr/>
        </p:nvCxnSpPr>
        <p:spPr>
          <a:xfrm flipH="1">
            <a:off x="7272581" y="3375330"/>
            <a:ext cx="1" cy="466867"/>
          </a:xfrm>
          <a:prstGeom prst="straightConnector1">
            <a:avLst/>
          </a:prstGeom>
          <a:ln w="25400">
            <a:solidFill>
              <a:schemeClr val="accent6">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769380" y="2528049"/>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8" name="Rectangle 7"/>
          <p:cNvSpPr/>
          <p:nvPr/>
        </p:nvSpPr>
        <p:spPr>
          <a:xfrm>
            <a:off x="6850458" y="2593218"/>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9" name="Group 8"/>
          <p:cNvGrpSpPr/>
          <p:nvPr/>
        </p:nvGrpSpPr>
        <p:grpSpPr>
          <a:xfrm>
            <a:off x="8896551" y="2528049"/>
            <a:ext cx="1737015" cy="847281"/>
            <a:chOff x="24275265" y="2491036"/>
            <a:chExt cx="2219388" cy="1473330"/>
          </a:xfrm>
        </p:grpSpPr>
        <p:sp>
          <p:nvSpPr>
            <p:cNvPr id="10" name="Rectangle 9"/>
            <p:cNvSpPr/>
            <p:nvPr/>
          </p:nvSpPr>
          <p:spPr>
            <a:xfrm>
              <a:off x="24275265" y="2491036"/>
              <a:ext cx="2219388"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1" name="Rectangle 10"/>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2" name="Straight Arrow Connector 11"/>
          <p:cNvCxnSpPr>
            <a:stCxn id="7" idx="3"/>
            <a:endCxn id="10" idx="1"/>
          </p:cNvCxnSpPr>
          <p:nvPr/>
        </p:nvCxnSpPr>
        <p:spPr>
          <a:xfrm>
            <a:off x="7775783" y="2951690"/>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6769380" y="3842195"/>
            <a:ext cx="3864184"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6850458" y="3908555"/>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5" name="Rounded Rectangle 14"/>
          <p:cNvSpPr/>
          <p:nvPr/>
        </p:nvSpPr>
        <p:spPr>
          <a:xfrm>
            <a:off x="8774649" y="3904070"/>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sp>
        <p:nvSpPr>
          <p:cNvPr id="17" name="TextBox 16"/>
          <p:cNvSpPr txBox="1"/>
          <p:nvPr/>
        </p:nvSpPr>
        <p:spPr>
          <a:xfrm>
            <a:off x="10024368" y="400353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18" name="Group 17"/>
          <p:cNvGrpSpPr/>
          <p:nvPr/>
        </p:nvGrpSpPr>
        <p:grpSpPr>
          <a:xfrm rot="5400000">
            <a:off x="9292475" y="4609626"/>
            <a:ext cx="294823" cy="533101"/>
            <a:chOff x="27236633" y="9932056"/>
            <a:chExt cx="578250" cy="990600"/>
          </a:xfrm>
        </p:grpSpPr>
        <p:cxnSp>
          <p:nvCxnSpPr>
            <p:cNvPr id="19" name="Straight Arrow Connector 18"/>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2" name="TextBox 21"/>
          <p:cNvSpPr txBox="1"/>
          <p:nvPr/>
        </p:nvSpPr>
        <p:spPr>
          <a:xfrm>
            <a:off x="7377525" y="3436024"/>
            <a:ext cx="1705916" cy="338554"/>
          </a:xfrm>
          <a:prstGeom prst="rect">
            <a:avLst/>
          </a:prstGeom>
          <a:noFill/>
        </p:spPr>
        <p:txBody>
          <a:bodyPr wrap="none" rtlCol="0">
            <a:spAutoFit/>
          </a:bodyPr>
          <a:lstStyle/>
          <a:p>
            <a:r>
              <a:rPr lang="en-CA" sz="1600" i="1" dirty="0" smtClean="0">
                <a:solidFill>
                  <a:schemeClr val="bg1"/>
                </a:solidFill>
              </a:rPr>
              <a:t>missing pointer</a:t>
            </a:r>
            <a:endParaRPr lang="en-CA" sz="1600" i="1" dirty="0">
              <a:solidFill>
                <a:schemeClr val="bg1"/>
              </a:solidFill>
            </a:endParaRPr>
          </a:p>
        </p:txBody>
      </p:sp>
    </p:spTree>
    <p:extLst>
      <p:ext uri="{BB962C8B-B14F-4D97-AF65-F5344CB8AC3E}">
        <p14:creationId xmlns:p14="http://schemas.microsoft.com/office/powerpoint/2010/main" val="3254910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Implicit Pointer</a:t>
            </a:r>
            <a:endParaRPr lang="en-CA" dirty="0"/>
          </a:p>
        </p:txBody>
      </p:sp>
      <p:sp>
        <p:nvSpPr>
          <p:cNvPr id="3" name="Content Placeholder 2"/>
          <p:cNvSpPr>
            <a:spLocks noGrp="1"/>
          </p:cNvSpPr>
          <p:nvPr>
            <p:ph idx="1"/>
          </p:nvPr>
        </p:nvSpPr>
        <p:spPr>
          <a:xfrm>
            <a:off x="684211" y="1515358"/>
            <a:ext cx="10285797" cy="2205149"/>
          </a:xfrm>
        </p:spPr>
        <p:txBody>
          <a:bodyPr/>
          <a:lstStyle/>
          <a:p>
            <a:r>
              <a:rPr lang="en-CA" dirty="0" smtClean="0"/>
              <a:t>Solution: Implicit pointer</a:t>
            </a:r>
          </a:p>
          <a:p>
            <a:pPr lvl="1"/>
            <a:r>
              <a:rPr lang="en-CA" i="1" dirty="0" smtClean="0"/>
              <a:t>expr </a:t>
            </a:r>
            <a:r>
              <a:rPr lang="en-CA" dirty="0" smtClean="0"/>
              <a:t>specifies how to calculate address of the pointer</a:t>
            </a:r>
          </a:p>
          <a:p>
            <a:pPr lvl="2"/>
            <a:r>
              <a:rPr lang="en-CA" dirty="0" smtClean="0"/>
              <a:t>Expression can reference other fields in the structure</a:t>
            </a:r>
          </a:p>
          <a:p>
            <a:pPr lvl="1"/>
            <a:r>
              <a:rPr lang="en-CA" i="1" dirty="0" smtClean="0"/>
              <a:t>name</a:t>
            </a:r>
            <a:r>
              <a:rPr lang="en-CA" dirty="0" smtClean="0"/>
              <a:t> allows pointer to be accessed </a:t>
            </a:r>
            <a:endParaRPr lang="en-CA" i="1"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20</a:t>
            </a:fld>
            <a:endParaRPr lang="en-CA" dirty="0"/>
          </a:p>
        </p:txBody>
      </p:sp>
      <p:sp>
        <p:nvSpPr>
          <p:cNvPr id="5" name="Rectangle 4"/>
          <p:cNvSpPr/>
          <p:nvPr/>
        </p:nvSpPr>
        <p:spPr>
          <a:xfrm>
            <a:off x="942890" y="3434715"/>
            <a:ext cx="6641621" cy="1923604"/>
          </a:xfrm>
          <a:prstGeom prst="rect">
            <a:avLst/>
          </a:prstGeom>
        </p:spPr>
        <p:txBody>
          <a:bodyPr wrap="square">
            <a:spAutoFit/>
          </a:bodyPr>
          <a:lstStyle/>
          <a:p>
            <a:r>
              <a:rPr lang="en-CA" sz="1700" b="1" dirty="0">
                <a:solidFill>
                  <a:schemeClr val="bg1"/>
                </a:solidFill>
                <a:latin typeface="Courier New" panose="02070309020205020404" pitchFamily="49" charset="0"/>
                <a:cs typeface="Courier New" panose="02070309020205020404" pitchFamily="49" charset="0"/>
              </a:rPr>
              <a:t>FSSUPER</a:t>
            </a:r>
            <a:r>
              <a:rPr lang="en-CA" sz="1700" dirty="0">
                <a:solidFill>
                  <a:schemeClr val="bg1"/>
                </a:solidFill>
                <a:latin typeface="Courier New" panose="02070309020205020404" pitchFamily="49" charset="0"/>
                <a:cs typeface="Courier New" panose="02070309020205020404" pitchFamily="49" charset="0"/>
              </a:rPr>
              <a:t>(location=1024) ext4_super_block {</a:t>
            </a:r>
          </a:p>
          <a:p>
            <a:r>
              <a:rPr lang="en-CA" sz="1700" dirty="0">
                <a:solidFill>
                  <a:schemeClr val="bg1"/>
                </a:solidFill>
                <a:latin typeface="Courier New" panose="02070309020205020404" pitchFamily="49" charset="0"/>
                <a:cs typeface="Courier New" panose="02070309020205020404" pitchFamily="49" charset="0"/>
              </a:rPr>
              <a:t>  __le32 </a:t>
            </a:r>
            <a:r>
              <a:rPr lang="en-CA" sz="1700" dirty="0" err="1">
                <a:solidFill>
                  <a:schemeClr val="bg1"/>
                </a:solidFill>
                <a:latin typeface="Courier New" panose="02070309020205020404" pitchFamily="49" charset="0"/>
                <a:cs typeface="Courier New" panose="02070309020205020404" pitchFamily="49" charset="0"/>
              </a:rPr>
              <a:t>s_log_block_size</a:t>
            </a:r>
            <a:r>
              <a:rPr lang="en-CA" sz="1700" dirty="0">
                <a:solidFill>
                  <a:schemeClr val="bg1"/>
                </a:solidFill>
                <a:latin typeface="Courier New" panose="02070309020205020404" pitchFamily="49" charset="0"/>
                <a:cs typeface="Courier New" panose="02070309020205020404" pitchFamily="49" charset="0"/>
              </a:rPr>
              <a:t>;</a:t>
            </a:r>
          </a:p>
          <a:p>
            <a:r>
              <a:rPr lang="en-CA" sz="1700" dirty="0" smtClean="0">
                <a:solidFill>
                  <a:schemeClr val="bg1"/>
                </a:solidFill>
                <a:latin typeface="Courier New" panose="02070309020205020404" pitchFamily="49" charset="0"/>
                <a:cs typeface="Courier New" panose="02070309020205020404" pitchFamily="49" charset="0"/>
              </a:rPr>
              <a:t>  ...</a:t>
            </a:r>
          </a:p>
          <a:p>
            <a:r>
              <a:rPr lang="en-CA" sz="1700" dirty="0" smtClean="0">
                <a:solidFill>
                  <a:schemeClr val="bg1"/>
                </a:solidFill>
                <a:latin typeface="Courier New" panose="02070309020205020404" pitchFamily="49" charset="0"/>
                <a:cs typeface="Courier New" panose="02070309020205020404" pitchFamily="49" charset="0"/>
              </a:rPr>
              <a:t>  </a:t>
            </a:r>
            <a:r>
              <a:rPr lang="en-CA" sz="1700" b="1" dirty="0" smtClean="0">
                <a:solidFill>
                  <a:schemeClr val="bg1"/>
                </a:solidFill>
                <a:latin typeface="Courier New" panose="02070309020205020404" pitchFamily="49" charset="0"/>
                <a:cs typeface="Courier New" panose="02070309020205020404" pitchFamily="49" charset="0"/>
              </a:rPr>
              <a:t>POINTER</a:t>
            </a:r>
            <a:r>
              <a:rPr lang="en-CA" sz="1700" dirty="0" smtClean="0">
                <a:solidFill>
                  <a:schemeClr val="bg1"/>
                </a:solidFill>
                <a:latin typeface="Courier New" panose="02070309020205020404" pitchFamily="49" charset="0"/>
                <a:cs typeface="Courier New" panose="02070309020205020404" pitchFamily="49" charset="0"/>
              </a:rPr>
              <a:t>(</a:t>
            </a:r>
            <a:r>
              <a:rPr lang="en-CA" sz="1700" dirty="0"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name=</a:t>
            </a:r>
            <a:r>
              <a:rPr lang="en-CA" sz="1700" dirty="0" err="1"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s_block_group_desc</a:t>
            </a:r>
            <a:r>
              <a:rPr lang="en-CA" sz="1700" dirty="0">
                <a:solidFill>
                  <a:schemeClr val="bg1"/>
                </a:solidFill>
                <a:latin typeface="Courier New" panose="02070309020205020404" pitchFamily="49" charset="0"/>
                <a:cs typeface="Courier New" panose="02070309020205020404" pitchFamily="49" charset="0"/>
              </a:rPr>
              <a:t>,</a:t>
            </a:r>
          </a:p>
          <a:p>
            <a:r>
              <a:rPr lang="en-CA" sz="1700" dirty="0">
                <a:solidFill>
                  <a:schemeClr val="bg1"/>
                </a:solidFill>
                <a:latin typeface="Courier New" panose="02070309020205020404" pitchFamily="49" charset="0"/>
                <a:cs typeface="Courier New" panose="02070309020205020404" pitchFamily="49" charset="0"/>
              </a:rPr>
              <a:t>  type=ext4_group_desc_table, </a:t>
            </a:r>
            <a:r>
              <a:rPr lang="en-CA" sz="1700" dirty="0" err="1" smtClean="0">
                <a:solidFill>
                  <a:schemeClr val="bg1"/>
                </a:solidFill>
                <a:latin typeface="Courier New" panose="02070309020205020404" pitchFamily="49" charset="0"/>
                <a:cs typeface="Courier New" panose="02070309020205020404" pitchFamily="49" charset="0"/>
              </a:rPr>
              <a:t>addrspace</a:t>
            </a:r>
            <a:r>
              <a:rPr lang="en-CA" sz="1700" dirty="0" smtClean="0">
                <a:solidFill>
                  <a:schemeClr val="bg1"/>
                </a:solidFill>
                <a:latin typeface="Courier New" panose="02070309020205020404" pitchFamily="49" charset="0"/>
                <a:cs typeface="Courier New" panose="02070309020205020404" pitchFamily="49" charset="0"/>
              </a:rPr>
              <a:t>=block</a:t>
            </a:r>
            <a:r>
              <a:rPr lang="en-CA" sz="1700" dirty="0">
                <a:solidFill>
                  <a:schemeClr val="bg1"/>
                </a:solidFill>
                <a:latin typeface="Courier New" panose="02070309020205020404" pitchFamily="49" charset="0"/>
                <a:cs typeface="Courier New" panose="02070309020205020404" pitchFamily="49" charset="0"/>
              </a:rPr>
              <a:t>, </a:t>
            </a:r>
          </a:p>
          <a:p>
            <a:r>
              <a:rPr lang="en-CA" sz="1700" dirty="0">
                <a:solidFill>
                  <a:schemeClr val="bg1"/>
                </a:solidFill>
                <a:latin typeface="Courier New" panose="02070309020205020404" pitchFamily="49" charset="0"/>
                <a:cs typeface="Courier New" panose="02070309020205020404" pitchFamily="49" charset="0"/>
              </a:rPr>
              <a:t>  </a:t>
            </a:r>
            <a:r>
              <a:rPr lang="en-CA" sz="17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expr=(</a:t>
            </a:r>
            <a:r>
              <a:rPr lang="en-CA" sz="1700"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self.s_log_block_size</a:t>
            </a:r>
            <a:r>
              <a:rPr lang="en-CA" sz="17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 0) ? 2 : 1</a:t>
            </a:r>
            <a:r>
              <a:rPr lang="en-CA" sz="1700" dirty="0">
                <a:solidFill>
                  <a:schemeClr val="bg1"/>
                </a:solidFill>
                <a:latin typeface="Courier New" panose="02070309020205020404" pitchFamily="49" charset="0"/>
                <a:cs typeface="Courier New" panose="02070309020205020404" pitchFamily="49" charset="0"/>
              </a:rPr>
              <a:t>);</a:t>
            </a:r>
          </a:p>
          <a:p>
            <a:r>
              <a:rPr lang="en-CA" sz="1700" dirty="0" smtClean="0">
                <a:solidFill>
                  <a:schemeClr val="bg1"/>
                </a:solidFill>
                <a:latin typeface="Courier New" panose="02070309020205020404" pitchFamily="49" charset="0"/>
                <a:cs typeface="Courier New" panose="02070309020205020404" pitchFamily="49" charset="0"/>
              </a:rPr>
              <a:t>};</a:t>
            </a:r>
            <a:endParaRPr lang="en-CA" sz="1700" dirty="0">
              <a:solidFill>
                <a:schemeClr val="bg1"/>
              </a:solidFill>
              <a:latin typeface="Courier New" panose="02070309020205020404" pitchFamily="49" charset="0"/>
              <a:cs typeface="Courier New" panose="02070309020205020404" pitchFamily="49" charset="0"/>
            </a:endParaRPr>
          </a:p>
        </p:txBody>
      </p:sp>
      <p:cxnSp>
        <p:nvCxnSpPr>
          <p:cNvPr id="6" name="Straight Arrow Connector 5"/>
          <p:cNvCxnSpPr>
            <a:stCxn id="7" idx="2"/>
          </p:cNvCxnSpPr>
          <p:nvPr/>
        </p:nvCxnSpPr>
        <p:spPr>
          <a:xfrm flipH="1">
            <a:off x="7836112" y="3938844"/>
            <a:ext cx="1" cy="46686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7332911" y="3091563"/>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8" name="Rectangle 7"/>
          <p:cNvSpPr/>
          <p:nvPr/>
        </p:nvSpPr>
        <p:spPr>
          <a:xfrm>
            <a:off x="7413989" y="3156732"/>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9" name="Group 8"/>
          <p:cNvGrpSpPr/>
          <p:nvPr/>
        </p:nvGrpSpPr>
        <p:grpSpPr>
          <a:xfrm>
            <a:off x="9460082" y="3091563"/>
            <a:ext cx="1737015" cy="847281"/>
            <a:chOff x="24275265" y="2491036"/>
            <a:chExt cx="2219388" cy="1473330"/>
          </a:xfrm>
        </p:grpSpPr>
        <p:sp>
          <p:nvSpPr>
            <p:cNvPr id="10" name="Rectangle 9"/>
            <p:cNvSpPr/>
            <p:nvPr/>
          </p:nvSpPr>
          <p:spPr>
            <a:xfrm>
              <a:off x="24275265" y="2491036"/>
              <a:ext cx="2219388"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1" name="Rectangle 10"/>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2" name="Straight Arrow Connector 11"/>
          <p:cNvCxnSpPr>
            <a:stCxn id="7" idx="3"/>
            <a:endCxn id="10" idx="1"/>
          </p:cNvCxnSpPr>
          <p:nvPr/>
        </p:nvCxnSpPr>
        <p:spPr>
          <a:xfrm>
            <a:off x="8339314" y="3515204"/>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7332911" y="4405709"/>
            <a:ext cx="3864184"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7413989" y="4472069"/>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5" name="Rounded Rectangle 14"/>
          <p:cNvSpPr/>
          <p:nvPr/>
        </p:nvSpPr>
        <p:spPr>
          <a:xfrm>
            <a:off x="9338180" y="4467584"/>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sp>
        <p:nvSpPr>
          <p:cNvPr id="17" name="TextBox 16"/>
          <p:cNvSpPr txBox="1"/>
          <p:nvPr/>
        </p:nvSpPr>
        <p:spPr>
          <a:xfrm>
            <a:off x="10587899" y="4567046"/>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18" name="Group 17"/>
          <p:cNvGrpSpPr/>
          <p:nvPr/>
        </p:nvGrpSpPr>
        <p:grpSpPr>
          <a:xfrm rot="5400000">
            <a:off x="9856006" y="5173140"/>
            <a:ext cx="294823" cy="533101"/>
            <a:chOff x="27236633" y="9932056"/>
            <a:chExt cx="578250" cy="990600"/>
          </a:xfrm>
        </p:grpSpPr>
        <p:cxnSp>
          <p:nvCxnSpPr>
            <p:cNvPr id="19" name="Straight Arrow Connector 18"/>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2" name="TextBox 21"/>
          <p:cNvSpPr txBox="1"/>
          <p:nvPr/>
        </p:nvSpPr>
        <p:spPr>
          <a:xfrm>
            <a:off x="7941056" y="3999538"/>
            <a:ext cx="1651414" cy="338554"/>
          </a:xfrm>
          <a:prstGeom prst="rect">
            <a:avLst/>
          </a:prstGeom>
          <a:noFill/>
        </p:spPr>
        <p:txBody>
          <a:bodyPr wrap="none" rtlCol="0">
            <a:spAutoFit/>
          </a:bodyPr>
          <a:lstStyle/>
          <a:p>
            <a:r>
              <a:rPr lang="en-CA" sz="1600" i="1" dirty="0">
                <a:solidFill>
                  <a:schemeClr val="bg1"/>
                </a:solidFill>
              </a:rPr>
              <a:t>i</a:t>
            </a:r>
            <a:r>
              <a:rPr lang="en-CA" sz="1600" i="1" dirty="0" smtClean="0">
                <a:solidFill>
                  <a:schemeClr val="bg1"/>
                </a:solidFill>
              </a:rPr>
              <a:t>mplicit pointer</a:t>
            </a:r>
            <a:endParaRPr lang="en-CA" sz="1600" i="1" dirty="0">
              <a:solidFill>
                <a:schemeClr val="bg1"/>
              </a:solidFill>
            </a:endParaRPr>
          </a:p>
        </p:txBody>
      </p:sp>
    </p:spTree>
    <p:extLst>
      <p:ext uri="{BB962C8B-B14F-4D97-AF65-F5344CB8AC3E}">
        <p14:creationId xmlns:p14="http://schemas.microsoft.com/office/powerpoint/2010/main" val="24743999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WHEN expression</a:t>
            </a:r>
            <a:endParaRPr lang="en-CA" dirty="0"/>
          </a:p>
        </p:txBody>
      </p:sp>
      <p:sp>
        <p:nvSpPr>
          <p:cNvPr id="3" name="Content Placeholder 2"/>
          <p:cNvSpPr>
            <a:spLocks noGrp="1"/>
          </p:cNvSpPr>
          <p:nvPr>
            <p:ph idx="1"/>
          </p:nvPr>
        </p:nvSpPr>
        <p:spPr/>
        <p:txBody>
          <a:bodyPr/>
          <a:lstStyle/>
          <a:p>
            <a:r>
              <a:rPr lang="en-CA" dirty="0" smtClean="0"/>
              <a:t>Context-Sensitive Types</a:t>
            </a:r>
          </a:p>
          <a:p>
            <a:pPr lvl="1"/>
            <a:r>
              <a:rPr lang="en-CA" dirty="0" smtClean="0"/>
              <a:t>E.g., pointers may point to different types of metadata</a:t>
            </a:r>
          </a:p>
          <a:p>
            <a:pPr lvl="2"/>
            <a:r>
              <a:rPr lang="en-CA" dirty="0" smtClean="0"/>
              <a:t>Pointers in </a:t>
            </a:r>
            <a:r>
              <a:rPr lang="en-CA" dirty="0" err="1" smtClean="0"/>
              <a:t>inode</a:t>
            </a:r>
            <a:r>
              <a:rPr lang="en-CA" dirty="0" smtClean="0"/>
              <a:t> point to directory blocks if </a:t>
            </a:r>
            <a:r>
              <a:rPr lang="en-CA" dirty="0" err="1" smtClean="0"/>
              <a:t>inode</a:t>
            </a:r>
            <a:r>
              <a:rPr lang="en-CA" dirty="0" smtClean="0"/>
              <a:t> is directory</a:t>
            </a:r>
          </a:p>
          <a:p>
            <a:pPr lvl="2"/>
            <a:r>
              <a:rPr lang="en-CA" dirty="0" smtClean="0"/>
              <a:t>Supported by specifying </a:t>
            </a:r>
            <a:r>
              <a:rPr lang="en-CA" i="1" dirty="0" smtClean="0"/>
              <a:t>when </a:t>
            </a:r>
            <a:r>
              <a:rPr lang="en-CA" dirty="0" smtClean="0"/>
              <a:t>expression in POINTER annotation</a:t>
            </a:r>
          </a:p>
        </p:txBody>
      </p:sp>
      <p:sp>
        <p:nvSpPr>
          <p:cNvPr id="4" name="Slide Number Placeholder 3"/>
          <p:cNvSpPr>
            <a:spLocks noGrp="1"/>
          </p:cNvSpPr>
          <p:nvPr>
            <p:ph type="sldNum" sz="quarter" idx="12"/>
          </p:nvPr>
        </p:nvSpPr>
        <p:spPr/>
        <p:txBody>
          <a:bodyPr/>
          <a:lstStyle/>
          <a:p>
            <a:fld id="{7B2023C8-B124-43A9-8F92-0EEF5BAA9995}" type="slidenum">
              <a:rPr lang="en-CA" smtClean="0"/>
              <a:pPr/>
              <a:t>21</a:t>
            </a:fld>
            <a:endParaRPr lang="en-CA" dirty="0"/>
          </a:p>
        </p:txBody>
      </p:sp>
      <p:sp>
        <p:nvSpPr>
          <p:cNvPr id="46" name="Rectangle 45"/>
          <p:cNvSpPr/>
          <p:nvPr/>
        </p:nvSpPr>
        <p:spPr>
          <a:xfrm>
            <a:off x="986658" y="3389050"/>
            <a:ext cx="5441519" cy="2554545"/>
          </a:xfrm>
          <a:prstGeom prst="rect">
            <a:avLst/>
          </a:prstGeom>
        </p:spPr>
        <p:txBody>
          <a:bodyPr wrap="square">
            <a:spAutoFit/>
          </a:bodyPr>
          <a:lstStyle/>
          <a:p>
            <a:r>
              <a:rPr lang="en-CA" sz="1600" b="1" dirty="0">
                <a:solidFill>
                  <a:schemeClr val="bg1"/>
                </a:solidFill>
                <a:latin typeface="Courier New" panose="02070309020205020404" pitchFamily="49" charset="0"/>
                <a:cs typeface="Courier New" panose="02070309020205020404" pitchFamily="49" charset="0"/>
              </a:rPr>
              <a:t>FSSTRUCT</a:t>
            </a:r>
            <a:r>
              <a:rPr lang="en-CA" sz="1600" dirty="0" smtClean="0">
                <a:solidFill>
                  <a:schemeClr val="bg1"/>
                </a:solidFill>
                <a:latin typeface="Courier New" panose="02070309020205020404" pitchFamily="49" charset="0"/>
                <a:cs typeface="Courier New" panose="02070309020205020404" pitchFamily="49" charset="0"/>
              </a:rPr>
              <a:t>(...) ext4_inode {</a:t>
            </a:r>
            <a:endParaRPr lang="en-CA" sz="1600" dirty="0">
              <a:solidFill>
                <a:schemeClr val="bg1"/>
              </a:solidFill>
              <a:latin typeface="Courier New" panose="02070309020205020404" pitchFamily="49" charset="0"/>
              <a:cs typeface="Courier New" panose="02070309020205020404" pitchFamily="49" charset="0"/>
            </a:endParaRPr>
          </a:p>
          <a:p>
            <a:r>
              <a:rPr lang="en-CA" sz="1600" dirty="0">
                <a:solidFill>
                  <a:schemeClr val="bg1"/>
                </a:solidFill>
                <a:latin typeface="Courier New" panose="02070309020205020404" pitchFamily="49" charset="0"/>
                <a:cs typeface="Courier New" panose="02070309020205020404" pitchFamily="49" charset="0"/>
              </a:rPr>
              <a:t>  __le16 </a:t>
            </a:r>
            <a:r>
              <a:rPr lang="en-CA" sz="1600" dirty="0" err="1">
                <a:solidFill>
                  <a:schemeClr val="bg1"/>
                </a:solidFill>
                <a:latin typeface="Courier New" panose="02070309020205020404" pitchFamily="49" charset="0"/>
                <a:cs typeface="Courier New" panose="02070309020205020404" pitchFamily="49" charset="0"/>
              </a:rPr>
              <a:t>i_mode</a:t>
            </a:r>
            <a:r>
              <a:rPr lang="en-CA" sz="1600" dirty="0">
                <a:solidFill>
                  <a:schemeClr val="bg1"/>
                </a:solidFill>
                <a:latin typeface="Courier New" panose="02070309020205020404" pitchFamily="49" charset="0"/>
                <a:cs typeface="Courier New" panose="02070309020205020404" pitchFamily="49" charset="0"/>
              </a:rPr>
              <a:t>;</a:t>
            </a:r>
          </a:p>
          <a:p>
            <a:r>
              <a:rPr lang="en-CA" sz="1600" dirty="0">
                <a:solidFill>
                  <a:schemeClr val="bg1"/>
                </a:solidFill>
                <a:latin typeface="Courier New" panose="02070309020205020404" pitchFamily="49" charset="0"/>
                <a:cs typeface="Courier New" panose="02070309020205020404" pitchFamily="49" charset="0"/>
              </a:rPr>
              <a:t>   …</a:t>
            </a:r>
          </a:p>
          <a:p>
            <a:r>
              <a:rPr lang="en-CA" sz="1600" dirty="0">
                <a:solidFill>
                  <a:schemeClr val="bg1"/>
                </a:solidFill>
                <a:latin typeface="Courier New" panose="02070309020205020404" pitchFamily="49" charset="0"/>
                <a:cs typeface="Courier New" panose="02070309020205020404" pitchFamily="49" charset="0"/>
              </a:rPr>
              <a:t>  </a:t>
            </a:r>
            <a:r>
              <a:rPr lang="en-CA" sz="1600" b="1" dirty="0" smtClean="0">
                <a:solidFill>
                  <a:schemeClr val="bg1"/>
                </a:solidFill>
                <a:latin typeface="Courier New" panose="02070309020205020404" pitchFamily="49" charset="0"/>
                <a:cs typeface="Courier New" panose="02070309020205020404" pitchFamily="49" charset="0"/>
              </a:rPr>
              <a:t>POINTER</a:t>
            </a:r>
            <a:r>
              <a:rPr lang="en-CA" sz="1600" dirty="0" smtClean="0">
                <a:solidFill>
                  <a:schemeClr val="bg1"/>
                </a:solidFill>
                <a:latin typeface="Courier New" panose="02070309020205020404" pitchFamily="49" charset="0"/>
                <a:cs typeface="Courier New" panose="02070309020205020404" pitchFamily="49" charset="0"/>
              </a:rPr>
              <a:t>(</a:t>
            </a:r>
            <a:r>
              <a:rPr lang="en-CA" sz="1600" dirty="0" err="1" smtClean="0">
                <a:solidFill>
                  <a:schemeClr val="bg1"/>
                </a:solidFill>
                <a:latin typeface="Courier New" panose="02070309020205020404" pitchFamily="49" charset="0"/>
                <a:cs typeface="Courier New" panose="02070309020205020404" pitchFamily="49" charset="0"/>
              </a:rPr>
              <a:t>addrspace</a:t>
            </a:r>
            <a:r>
              <a:rPr lang="en-CA" sz="1600" dirty="0" smtClean="0">
                <a:solidFill>
                  <a:schemeClr val="bg1"/>
                </a:solidFill>
                <a:latin typeface="Courier New" panose="02070309020205020404" pitchFamily="49" charset="0"/>
                <a:cs typeface="Courier New" panose="02070309020205020404" pitchFamily="49" charset="0"/>
              </a:rPr>
              <a:t>=block</a:t>
            </a:r>
            <a:r>
              <a:rPr lang="en-CA" sz="1600" dirty="0">
                <a:solidFill>
                  <a:schemeClr val="bg1"/>
                </a:solidFill>
                <a:latin typeface="Courier New" panose="02070309020205020404" pitchFamily="49" charset="0"/>
                <a:cs typeface="Courier New" panose="02070309020205020404" pitchFamily="49" charset="0"/>
              </a:rPr>
              <a:t>, type=</a:t>
            </a:r>
            <a:r>
              <a:rPr lang="en-CA" sz="1600" dirty="0" err="1">
                <a:solidFill>
                  <a:schemeClr val="bg1"/>
                </a:solidFill>
                <a:latin typeface="Courier New" panose="02070309020205020404" pitchFamily="49" charset="0"/>
                <a:cs typeface="Courier New" panose="02070309020205020404" pitchFamily="49" charset="0"/>
              </a:rPr>
              <a:t>dir_block</a:t>
            </a:r>
            <a:r>
              <a:rPr lang="en-CA" sz="1600" dirty="0">
                <a:solidFill>
                  <a:schemeClr val="bg1"/>
                </a:solidFill>
                <a:latin typeface="Courier New" panose="02070309020205020404" pitchFamily="49" charset="0"/>
                <a:cs typeface="Courier New" panose="02070309020205020404" pitchFamily="49" charset="0"/>
              </a:rPr>
              <a:t>,</a:t>
            </a:r>
          </a:p>
          <a:p>
            <a:r>
              <a:rPr lang="en-CA" sz="1600" dirty="0">
                <a:solidFill>
                  <a:schemeClr val="bg1"/>
                </a:solidFill>
                <a:latin typeface="Courier New" panose="02070309020205020404" pitchFamily="49" charset="0"/>
                <a:cs typeface="Courier New" panose="02070309020205020404" pitchFamily="49" charset="0"/>
              </a:rPr>
              <a:t>          </a:t>
            </a:r>
            <a:r>
              <a:rPr lang="en-CA" sz="16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when=</a:t>
            </a:r>
            <a:r>
              <a:rPr lang="en-CA" sz="1600"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self.i_mode</a:t>
            </a:r>
            <a:r>
              <a:rPr lang="en-CA" sz="16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&amp; </a:t>
            </a:r>
            <a:r>
              <a:rPr lang="en-CA" sz="1600" dirty="0"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S_IFDIR</a:t>
            </a:r>
            <a:r>
              <a:rPr lang="en-CA" sz="1600" dirty="0" smtClean="0">
                <a:solidFill>
                  <a:schemeClr val="bg1"/>
                </a:solidFill>
                <a:latin typeface="Courier New" panose="02070309020205020404" pitchFamily="49" charset="0"/>
                <a:cs typeface="Courier New" panose="02070309020205020404" pitchFamily="49" charset="0"/>
              </a:rPr>
              <a:t>)</a:t>
            </a:r>
            <a:endParaRPr lang="en-CA" sz="1600" dirty="0">
              <a:solidFill>
                <a:schemeClr val="bg1"/>
              </a:solidFill>
              <a:latin typeface="Courier New" panose="02070309020205020404" pitchFamily="49" charset="0"/>
              <a:cs typeface="Courier New" panose="02070309020205020404" pitchFamily="49" charset="0"/>
            </a:endParaRPr>
          </a:p>
          <a:p>
            <a:r>
              <a:rPr lang="en-CA" sz="1600" dirty="0">
                <a:solidFill>
                  <a:schemeClr val="bg1"/>
                </a:solidFill>
                <a:latin typeface="Courier New" panose="02070309020205020404" pitchFamily="49" charset="0"/>
                <a:cs typeface="Courier New" panose="02070309020205020404" pitchFamily="49" charset="0"/>
              </a:rPr>
              <a:t>  </a:t>
            </a:r>
            <a:r>
              <a:rPr lang="en-CA" sz="1600" b="1" dirty="0" smtClean="0">
                <a:solidFill>
                  <a:schemeClr val="bg1"/>
                </a:solidFill>
                <a:latin typeface="Courier New" panose="02070309020205020404" pitchFamily="49" charset="0"/>
                <a:cs typeface="Courier New" panose="02070309020205020404" pitchFamily="49" charset="0"/>
              </a:rPr>
              <a:t>POINTER</a:t>
            </a:r>
            <a:r>
              <a:rPr lang="en-CA" sz="1600" dirty="0" smtClean="0">
                <a:solidFill>
                  <a:schemeClr val="bg1"/>
                </a:solidFill>
                <a:latin typeface="Courier New" panose="02070309020205020404" pitchFamily="49" charset="0"/>
                <a:cs typeface="Courier New" panose="02070309020205020404" pitchFamily="49" charset="0"/>
              </a:rPr>
              <a:t>(</a:t>
            </a:r>
            <a:r>
              <a:rPr lang="en-CA" sz="1600" dirty="0" err="1" smtClean="0">
                <a:solidFill>
                  <a:schemeClr val="bg1"/>
                </a:solidFill>
                <a:latin typeface="Courier New" panose="02070309020205020404" pitchFamily="49" charset="0"/>
                <a:cs typeface="Courier New" panose="02070309020205020404" pitchFamily="49" charset="0"/>
              </a:rPr>
              <a:t>addrspace</a:t>
            </a:r>
            <a:r>
              <a:rPr lang="en-CA" sz="1600" dirty="0" smtClean="0">
                <a:solidFill>
                  <a:schemeClr val="bg1"/>
                </a:solidFill>
                <a:latin typeface="Courier New" panose="02070309020205020404" pitchFamily="49" charset="0"/>
                <a:cs typeface="Courier New" panose="02070309020205020404" pitchFamily="49" charset="0"/>
              </a:rPr>
              <a:t>=block</a:t>
            </a:r>
            <a:r>
              <a:rPr lang="en-CA" sz="1600" dirty="0">
                <a:solidFill>
                  <a:schemeClr val="bg1"/>
                </a:solidFill>
                <a:latin typeface="Courier New" panose="02070309020205020404" pitchFamily="49" charset="0"/>
                <a:cs typeface="Courier New" panose="02070309020205020404" pitchFamily="49" charset="0"/>
              </a:rPr>
              <a:t>, </a:t>
            </a:r>
            <a:r>
              <a:rPr lang="en-CA" sz="1600" dirty="0" smtClean="0">
                <a:solidFill>
                  <a:schemeClr val="bg1"/>
                </a:solidFill>
                <a:latin typeface="Courier New" panose="02070309020205020404" pitchFamily="49" charset="0"/>
                <a:cs typeface="Courier New" panose="02070309020205020404" pitchFamily="49" charset="0"/>
              </a:rPr>
              <a:t>type=</a:t>
            </a:r>
            <a:r>
              <a:rPr lang="en-CA" sz="1600" dirty="0" err="1" smtClean="0">
                <a:solidFill>
                  <a:schemeClr val="bg1"/>
                </a:solidFill>
                <a:latin typeface="Courier New" panose="02070309020205020404" pitchFamily="49" charset="0"/>
                <a:cs typeface="Courier New" panose="02070309020205020404" pitchFamily="49" charset="0"/>
              </a:rPr>
              <a:t>data_block</a:t>
            </a:r>
            <a:r>
              <a:rPr lang="en-CA" sz="1600" dirty="0" smtClean="0">
                <a:solidFill>
                  <a:schemeClr val="bg1"/>
                </a:solidFill>
                <a:latin typeface="Courier New" panose="02070309020205020404" pitchFamily="49" charset="0"/>
                <a:cs typeface="Courier New" panose="02070309020205020404" pitchFamily="49" charset="0"/>
              </a:rPr>
              <a:t>,</a:t>
            </a:r>
          </a:p>
          <a:p>
            <a:r>
              <a:rPr lang="en-CA" sz="1600" dirty="0" smtClean="0">
                <a:solidFill>
                  <a:schemeClr val="bg1"/>
                </a:solidFill>
                <a:latin typeface="Courier New" panose="02070309020205020404" pitchFamily="49" charset="0"/>
                <a:cs typeface="Courier New" panose="02070309020205020404" pitchFamily="49" charset="0"/>
              </a:rPr>
              <a:t>          </a:t>
            </a:r>
            <a:r>
              <a:rPr lang="en-CA" sz="16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when=</a:t>
            </a:r>
            <a:r>
              <a:rPr lang="en-CA" sz="1600"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self.i_mode</a:t>
            </a:r>
            <a:r>
              <a:rPr lang="en-CA" sz="16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&amp; S_IFREG</a:t>
            </a:r>
            <a:r>
              <a:rPr lang="en-CA" sz="1600" dirty="0">
                <a:solidFill>
                  <a:schemeClr val="bg1"/>
                </a:solidFill>
                <a:latin typeface="Courier New" panose="02070309020205020404" pitchFamily="49" charset="0"/>
                <a:cs typeface="Courier New" panose="02070309020205020404" pitchFamily="49" charset="0"/>
              </a:rPr>
              <a:t>)                 </a:t>
            </a:r>
          </a:p>
          <a:p>
            <a:r>
              <a:rPr lang="en-CA" sz="1600" dirty="0">
                <a:solidFill>
                  <a:schemeClr val="bg1"/>
                </a:solidFill>
                <a:latin typeface="Courier New" panose="02070309020205020404" pitchFamily="49" charset="0"/>
                <a:cs typeface="Courier New" panose="02070309020205020404" pitchFamily="49" charset="0"/>
              </a:rPr>
              <a:t>  __</a:t>
            </a:r>
            <a:r>
              <a:rPr lang="en-CA" sz="1600" dirty="0" smtClean="0">
                <a:solidFill>
                  <a:schemeClr val="bg1"/>
                </a:solidFill>
                <a:latin typeface="Courier New" panose="02070309020205020404" pitchFamily="49" charset="0"/>
                <a:cs typeface="Courier New" panose="02070309020205020404" pitchFamily="49" charset="0"/>
              </a:rPr>
              <a:t>le32 </a:t>
            </a:r>
            <a:r>
              <a:rPr lang="en-CA" sz="1600" dirty="0" err="1" smtClean="0">
                <a:solidFill>
                  <a:schemeClr val="bg1"/>
                </a:solidFill>
                <a:latin typeface="Courier New" panose="02070309020205020404" pitchFamily="49" charset="0"/>
                <a:cs typeface="Courier New" panose="02070309020205020404" pitchFamily="49" charset="0"/>
              </a:rPr>
              <a:t>i_block</a:t>
            </a:r>
            <a:r>
              <a:rPr lang="en-CA" sz="1600" dirty="0" smtClean="0">
                <a:solidFill>
                  <a:schemeClr val="bg1"/>
                </a:solidFill>
                <a:latin typeface="Courier New" panose="02070309020205020404" pitchFamily="49" charset="0"/>
                <a:cs typeface="Courier New" panose="02070309020205020404" pitchFamily="49" charset="0"/>
              </a:rPr>
              <a:t>[EXT3_NDIR_BLOCKS</a:t>
            </a:r>
            <a:r>
              <a:rPr lang="en-CA" sz="1600" dirty="0">
                <a:solidFill>
                  <a:schemeClr val="bg1"/>
                </a:solidFill>
                <a:latin typeface="Courier New" panose="02070309020205020404" pitchFamily="49" charset="0"/>
                <a:cs typeface="Courier New" panose="02070309020205020404" pitchFamily="49" charset="0"/>
              </a:rPr>
              <a:t>];</a:t>
            </a:r>
          </a:p>
          <a:p>
            <a:r>
              <a:rPr lang="en-CA" sz="1600" dirty="0">
                <a:solidFill>
                  <a:schemeClr val="bg1"/>
                </a:solidFill>
                <a:latin typeface="Courier New" panose="02070309020205020404" pitchFamily="49" charset="0"/>
                <a:cs typeface="Courier New" panose="02070309020205020404" pitchFamily="49" charset="0"/>
              </a:rPr>
              <a:t>   …</a:t>
            </a:r>
          </a:p>
          <a:p>
            <a:r>
              <a:rPr lang="en-CA" sz="1600" dirty="0" smtClean="0">
                <a:solidFill>
                  <a:schemeClr val="bg1"/>
                </a:solidFill>
                <a:latin typeface="Courier New" panose="02070309020205020404" pitchFamily="49" charset="0"/>
                <a:cs typeface="Courier New" panose="02070309020205020404" pitchFamily="49" charset="0"/>
              </a:rPr>
              <a:t>};</a:t>
            </a:r>
            <a:endParaRPr lang="en-CA" sz="1600" dirty="0">
              <a:solidFill>
                <a:schemeClr val="bg1"/>
              </a:solidFill>
              <a:latin typeface="Courier New" panose="02070309020205020404" pitchFamily="49" charset="0"/>
              <a:cs typeface="Courier New" panose="02070309020205020404" pitchFamily="49" charset="0"/>
            </a:endParaRPr>
          </a:p>
        </p:txBody>
      </p:sp>
      <p:grpSp>
        <p:nvGrpSpPr>
          <p:cNvPr id="51" name="Group 50"/>
          <p:cNvGrpSpPr/>
          <p:nvPr/>
        </p:nvGrpSpPr>
        <p:grpSpPr>
          <a:xfrm>
            <a:off x="6696147" y="3389050"/>
            <a:ext cx="4005890" cy="2329679"/>
            <a:chOff x="6381750" y="2764522"/>
            <a:chExt cx="4520240" cy="2891821"/>
          </a:xfrm>
        </p:grpSpPr>
        <p:grpSp>
          <p:nvGrpSpPr>
            <p:cNvPr id="8" name="Group 7"/>
            <p:cNvGrpSpPr/>
            <p:nvPr/>
          </p:nvGrpSpPr>
          <p:grpSpPr>
            <a:xfrm>
              <a:off x="6381750" y="2764522"/>
              <a:ext cx="4520240" cy="1416953"/>
              <a:chOff x="23807537" y="2491038"/>
              <a:chExt cx="4669172" cy="1473330"/>
            </a:xfrm>
          </p:grpSpPr>
          <p:sp>
            <p:nvSpPr>
              <p:cNvPr id="43" name="Rectangle 42"/>
              <p:cNvSpPr/>
              <p:nvPr/>
            </p:nvSpPr>
            <p:spPr>
              <a:xfrm>
                <a:off x="23807537" y="2491038"/>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4" name="TextBox 43"/>
              <p:cNvSpPr txBox="1"/>
              <p:nvPr/>
            </p:nvSpPr>
            <p:spPr>
              <a:xfrm>
                <a:off x="26976511" y="2607046"/>
                <a:ext cx="1285884" cy="352024"/>
              </a:xfrm>
              <a:prstGeom prst="rect">
                <a:avLst/>
              </a:prstGeom>
              <a:noFill/>
              <a:ln w="12700">
                <a:solidFill>
                  <a:schemeClr val="accent6">
                    <a:lumMod val="60000"/>
                    <a:lumOff val="40000"/>
                  </a:schemeClr>
                </a:solidFill>
              </a:ln>
            </p:spPr>
            <p:txBody>
              <a:bodyPr wrap="square" rtlCol="0">
                <a:spAutoFit/>
              </a:bodyPr>
              <a:lstStyle/>
              <a:p>
                <a:r>
                  <a:rPr lang="en-US" altLang="zh-TW" sz="1600" dirty="0" smtClean="0">
                    <a:solidFill>
                      <a:schemeClr val="accent2">
                        <a:lumMod val="50000"/>
                      </a:schemeClr>
                    </a:solidFill>
                  </a:rPr>
                  <a:t>….</a:t>
                </a:r>
                <a:endParaRPr lang="zh-TW" altLang="en-US" sz="1600" dirty="0">
                  <a:solidFill>
                    <a:schemeClr val="accent2">
                      <a:lumMod val="50000"/>
                    </a:schemeClr>
                  </a:solidFill>
                </a:endParaRPr>
              </a:p>
            </p:txBody>
          </p:sp>
          <p:sp>
            <p:nvSpPr>
              <p:cNvPr id="45" name="Rectangle 44"/>
              <p:cNvSpPr/>
              <p:nvPr/>
            </p:nvSpPr>
            <p:spPr>
              <a:xfrm>
                <a:off x="26798399" y="2563046"/>
                <a:ext cx="1606114" cy="504056"/>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block</a:t>
                </a:r>
                <a:endParaRPr lang="en-US" sz="1600" dirty="0">
                  <a:solidFill>
                    <a:schemeClr val="bg1"/>
                  </a:solidFill>
                </a:endParaRPr>
              </a:p>
            </p:txBody>
          </p:sp>
        </p:grpSp>
        <p:sp>
          <p:nvSpPr>
            <p:cNvPr id="9" name="Rounded Rectangle 8"/>
            <p:cNvSpPr/>
            <p:nvPr/>
          </p:nvSpPr>
          <p:spPr>
            <a:xfrm>
              <a:off x="6523701" y="2889011"/>
              <a:ext cx="1244869" cy="1167975"/>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a:t>
              </a:r>
              <a:r>
                <a:rPr lang="en-US" altLang="zh-TW" sz="1600" dirty="0" err="1" smtClean="0">
                  <a:solidFill>
                    <a:schemeClr val="tx1"/>
                  </a:solidFill>
                </a:rPr>
                <a:t>reg</a:t>
              </a:r>
              <a:r>
                <a:rPr lang="en-US" altLang="zh-TW" sz="1600" dirty="0" smtClean="0">
                  <a:solidFill>
                    <a:schemeClr val="tx1"/>
                  </a:solidFill>
                </a:rPr>
                <a:t> file)</a:t>
              </a:r>
              <a:endParaRPr lang="zh-TW" altLang="en-US" sz="1600" dirty="0">
                <a:solidFill>
                  <a:schemeClr val="tx1"/>
                </a:solidFill>
              </a:endParaRPr>
            </a:p>
          </p:txBody>
        </p:sp>
        <p:sp>
          <p:nvSpPr>
            <p:cNvPr id="10" name="Rounded Rectangle 9"/>
            <p:cNvSpPr/>
            <p:nvPr/>
          </p:nvSpPr>
          <p:spPr>
            <a:xfrm>
              <a:off x="7916382" y="2889011"/>
              <a:ext cx="1244869" cy="1167975"/>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(directory)</a:t>
              </a:r>
              <a:endParaRPr lang="zh-TW" altLang="en-US" sz="1600" dirty="0">
                <a:solidFill>
                  <a:schemeClr val="tx1"/>
                </a:solidFill>
              </a:endParaRPr>
            </a:p>
          </p:txBody>
        </p:sp>
        <p:grpSp>
          <p:nvGrpSpPr>
            <p:cNvPr id="12" name="Group 11"/>
            <p:cNvGrpSpPr/>
            <p:nvPr/>
          </p:nvGrpSpPr>
          <p:grpSpPr>
            <a:xfrm>
              <a:off x="7916382" y="4488492"/>
              <a:ext cx="1244868" cy="1167851"/>
              <a:chOff x="25154821" y="7455704"/>
              <a:chExt cx="2110198" cy="2062800"/>
            </a:xfrm>
            <a:solidFill>
              <a:schemeClr val="accent5">
                <a:lumMod val="40000"/>
                <a:lumOff val="60000"/>
              </a:schemeClr>
            </a:solidFill>
          </p:grpSpPr>
          <p:sp>
            <p:nvSpPr>
              <p:cNvPr id="39" name="Rectangle 38"/>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0" name="Rectangle 39"/>
              <p:cNvSpPr/>
              <p:nvPr/>
            </p:nvSpPr>
            <p:spPr>
              <a:xfrm>
                <a:off x="25324824" y="7614366"/>
                <a:ext cx="1770194" cy="1142180"/>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r>
                  <a:rPr lang="en-US" sz="1600" dirty="0" smtClean="0">
                    <a:solidFill>
                      <a:schemeClr val="bg1"/>
                    </a:solidFill>
                  </a:rPr>
                  <a:t> block</a:t>
                </a:r>
                <a:endParaRPr lang="en-US" sz="1600" dirty="0">
                  <a:solidFill>
                    <a:schemeClr val="bg1"/>
                  </a:solidFill>
                </a:endParaRPr>
              </a:p>
            </p:txBody>
          </p:sp>
        </p:grpSp>
        <p:cxnSp>
          <p:nvCxnSpPr>
            <p:cNvPr id="15" name="Straight Arrow Connector 14"/>
            <p:cNvCxnSpPr>
              <a:stCxn id="10" idx="2"/>
              <a:endCxn id="39" idx="0"/>
            </p:cNvCxnSpPr>
            <p:nvPr/>
          </p:nvCxnSpPr>
          <p:spPr>
            <a:xfrm flipH="1">
              <a:off x="8538816" y="4056986"/>
              <a:ext cx="1" cy="431506"/>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9" idx="2"/>
              <a:endCxn id="48" idx="0"/>
            </p:cNvCxnSpPr>
            <p:nvPr/>
          </p:nvCxnSpPr>
          <p:spPr>
            <a:xfrm>
              <a:off x="7146136" y="4056986"/>
              <a:ext cx="0" cy="431506"/>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47" name="Group 46"/>
            <p:cNvGrpSpPr/>
            <p:nvPr/>
          </p:nvGrpSpPr>
          <p:grpSpPr>
            <a:xfrm>
              <a:off x="6523702" y="4488492"/>
              <a:ext cx="1244868" cy="1167851"/>
              <a:chOff x="25154821" y="7455704"/>
              <a:chExt cx="2110198" cy="2062800"/>
            </a:xfrm>
            <a:solidFill>
              <a:schemeClr val="accent5">
                <a:lumMod val="40000"/>
                <a:lumOff val="60000"/>
              </a:schemeClr>
            </a:solidFill>
          </p:grpSpPr>
          <p:sp>
            <p:nvSpPr>
              <p:cNvPr id="48" name="Rectangle 47"/>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9" name="Rectangle 48"/>
              <p:cNvSpPr/>
              <p:nvPr/>
            </p:nvSpPr>
            <p:spPr>
              <a:xfrm>
                <a:off x="25324824" y="7614366"/>
                <a:ext cx="1770194" cy="1142180"/>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data block</a:t>
                </a:r>
                <a:endParaRPr lang="en-US" sz="1600" dirty="0">
                  <a:solidFill>
                    <a:schemeClr val="bg1"/>
                  </a:solidFill>
                </a:endParaRPr>
              </a:p>
            </p:txBody>
          </p:sp>
        </p:grpSp>
      </p:grpSp>
    </p:spTree>
    <p:extLst>
      <p:ext uri="{BB962C8B-B14F-4D97-AF65-F5344CB8AC3E}">
        <p14:creationId xmlns:p14="http://schemas.microsoft.com/office/powerpoint/2010/main" val="19432756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Generating Spiffy Library</a:t>
            </a:r>
            <a:endParaRPr lang="en-CA" dirty="0"/>
          </a:p>
        </p:txBody>
      </p:sp>
      <p:sp>
        <p:nvSpPr>
          <p:cNvPr id="3" name="Text Placeholder 2"/>
          <p:cNvSpPr>
            <a:spLocks noGrp="1"/>
          </p:cNvSpPr>
          <p:nvPr>
            <p:ph type="body" idx="1"/>
          </p:nvPr>
        </p:nvSpPr>
        <p:spPr/>
        <p:txBody>
          <a:bodyPr/>
          <a:lstStyle/>
          <a:p>
            <a:r>
              <a:rPr lang="en-CA" dirty="0" smtClean="0"/>
              <a:t>Annotation</a:t>
            </a:r>
            <a:endParaRPr lang="en-CA" dirty="0"/>
          </a:p>
        </p:txBody>
      </p:sp>
      <p:sp>
        <p:nvSpPr>
          <p:cNvPr id="10" name="Content Placeholder 6"/>
          <p:cNvSpPr txBox="1">
            <a:spLocks noGrp="1"/>
          </p:cNvSpPr>
          <p:nvPr>
            <p:ph sz="half" idx="2"/>
          </p:nvPr>
        </p:nvSpPr>
        <p:spPr>
          <a:xfrm>
            <a:off x="684211" y="2100086"/>
            <a:ext cx="9863287" cy="4072114"/>
          </a:xfrm>
        </p:spPr>
        <p:txBody>
          <a:bodyPr>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b="1" dirty="0" smtClean="0">
                <a:latin typeface="Courier New" panose="02070309020205020404" pitchFamily="49" charset="0"/>
                <a:cs typeface="Courier New" panose="02070309020205020404" pitchFamily="49" charset="0"/>
              </a:rPr>
              <a:t>FSSUPER</a:t>
            </a:r>
            <a:r>
              <a:rPr lang="en-CA" sz="1500" dirty="0" smtClean="0">
                <a:latin typeface="Courier New" panose="02070309020205020404" pitchFamily="49" charset="0"/>
                <a:cs typeface="Courier New" panose="02070309020205020404" pitchFamily="49" charset="0"/>
              </a:rPr>
              <a:t>(…) ext4_super_block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__le32 </a:t>
            </a:r>
            <a:r>
              <a:rPr lang="en-CA" sz="1500" dirty="0" err="1" smtClean="0">
                <a:latin typeface="Courier New" panose="02070309020205020404" pitchFamily="49" charset="0"/>
                <a:cs typeface="Courier New" panose="02070309020205020404" pitchFamily="49" charset="0"/>
              </a:rPr>
              <a:t>s_log_block_size</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__le16 </a:t>
            </a:r>
            <a:r>
              <a:rPr lang="en-CA" sz="1500" dirty="0" err="1" smtClean="0">
                <a:latin typeface="Courier New" panose="02070309020205020404" pitchFamily="49" charset="0"/>
                <a:cs typeface="Courier New" panose="02070309020205020404" pitchFamily="49" charset="0"/>
              </a:rPr>
              <a:t>s_magic</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__le32 </a:t>
            </a:r>
            <a:r>
              <a:rPr lang="en-CA" sz="1500" dirty="0" err="1" smtClean="0">
                <a:latin typeface="Courier New" panose="02070309020205020404" pitchFamily="49" charset="0"/>
                <a:cs typeface="Courier New" panose="02070309020205020404" pitchFamily="49" charset="0"/>
              </a:rPr>
              <a:t>s_inode_size</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b="1" dirty="0" smtClean="0">
                <a:latin typeface="Courier New" panose="02070309020205020404" pitchFamily="49" charset="0"/>
                <a:cs typeface="Courier New" panose="02070309020205020404" pitchFamily="49" charset="0"/>
              </a:rPr>
              <a:t>CHECK</a:t>
            </a:r>
            <a:r>
              <a:rPr lang="en-CA" sz="1500" dirty="0" smtClean="0">
                <a:latin typeface="Courier New" panose="02070309020205020404" pitchFamily="49" charset="0"/>
                <a:cs typeface="Courier New" panose="02070309020205020404" pitchFamily="49" charset="0"/>
              </a:rPr>
              <a:t>(expr=</a:t>
            </a:r>
            <a:r>
              <a:rPr lang="en-CA" sz="1500" dirty="0" err="1" smtClean="0">
                <a:latin typeface="Courier New" panose="02070309020205020404" pitchFamily="49" charset="0"/>
                <a:cs typeface="Courier New" panose="02070309020205020404" pitchFamily="49" charset="0"/>
              </a:rPr>
              <a:t>self.s_log_block_size</a:t>
            </a:r>
            <a:r>
              <a:rPr lang="en-CA" sz="1500" dirty="0" smtClean="0">
                <a:latin typeface="Courier New" panose="02070309020205020404" pitchFamily="49" charset="0"/>
                <a:cs typeface="Courier New" panose="02070309020205020404" pitchFamily="49" charset="0"/>
              </a:rPr>
              <a:t> &lt;= 6);</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b="1" dirty="0" smtClean="0">
                <a:latin typeface="Courier New" panose="02070309020205020404" pitchFamily="49" charset="0"/>
                <a:cs typeface="Courier New" panose="02070309020205020404" pitchFamily="49" charset="0"/>
              </a:rPr>
              <a:t>CHECK</a:t>
            </a:r>
            <a:r>
              <a:rPr lang="en-CA" sz="1500" dirty="0" smtClean="0">
                <a:latin typeface="Courier New" panose="02070309020205020404" pitchFamily="49" charset="0"/>
                <a:cs typeface="Courier New" panose="02070309020205020404" pitchFamily="49" charset="0"/>
              </a:rPr>
              <a:t>(expr=</a:t>
            </a:r>
            <a:r>
              <a:rPr lang="en-CA" sz="1500" dirty="0" err="1" smtClean="0">
                <a:latin typeface="Courier New" panose="02070309020205020404" pitchFamily="49" charset="0"/>
                <a:cs typeface="Courier New" panose="02070309020205020404" pitchFamily="49" charset="0"/>
              </a:rPr>
              <a:t>self.s_magic</a:t>
            </a:r>
            <a:r>
              <a:rPr lang="en-CA" sz="1500" dirty="0" smtClean="0">
                <a:latin typeface="Courier New" panose="02070309020205020404" pitchFamily="49" charset="0"/>
                <a:cs typeface="Courier New" panose="02070309020205020404" pitchFamily="49" charset="0"/>
              </a:rPr>
              <a:t> == 0xef53);</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a:t>
            </a:r>
          </a:p>
          <a:p>
            <a:pPr marL="0" indent="0">
              <a:buNone/>
            </a:pPr>
            <a:endParaRPr lang="en-CA" dirty="0" smtClean="0"/>
          </a:p>
          <a:p>
            <a:r>
              <a:rPr lang="en-CA" dirty="0" smtClean="0"/>
              <a:t>C++ class generated for every annotated class and its fields</a:t>
            </a:r>
          </a:p>
          <a:p>
            <a:pPr lvl="1"/>
            <a:r>
              <a:rPr lang="en-CA" sz="1800" dirty="0" smtClean="0"/>
              <a:t>Enables type-safe parsing and serialization</a:t>
            </a:r>
          </a:p>
          <a:p>
            <a:endParaRPr lang="en-CA" dirty="0" smtClean="0"/>
          </a:p>
        </p:txBody>
      </p:sp>
      <p:sp>
        <p:nvSpPr>
          <p:cNvPr id="4" name="Text Placeholder 3"/>
          <p:cNvSpPr>
            <a:spLocks noGrp="1"/>
          </p:cNvSpPr>
          <p:nvPr>
            <p:ph type="body" sz="quarter" idx="3"/>
          </p:nvPr>
        </p:nvSpPr>
        <p:spPr>
          <a:xfrm>
            <a:off x="5982774" y="1523824"/>
            <a:ext cx="4665134" cy="576262"/>
          </a:xfrm>
        </p:spPr>
        <p:txBody>
          <a:bodyPr/>
          <a:lstStyle/>
          <a:p>
            <a:r>
              <a:rPr lang="en-CA" dirty="0" smtClean="0"/>
              <a:t>Generated Code</a:t>
            </a:r>
            <a:endParaRPr lang="en-CA" dirty="0"/>
          </a:p>
        </p:txBody>
      </p:sp>
      <p:sp>
        <p:nvSpPr>
          <p:cNvPr id="9" name="Content Placeholder 8"/>
          <p:cNvSpPr>
            <a:spLocks noGrp="1"/>
          </p:cNvSpPr>
          <p:nvPr>
            <p:ph sz="quarter" idx="4"/>
          </p:nvPr>
        </p:nvSpPr>
        <p:spPr>
          <a:xfrm>
            <a:off x="5621867" y="2100086"/>
            <a:ext cx="5999519" cy="2885540"/>
          </a:xfrm>
        </p:spPr>
        <p:txBody>
          <a:bodyPr>
            <a:noAutofit/>
          </a:bodyPr>
          <a:lstStyle/>
          <a:p>
            <a:pPr marL="0" indent="0">
              <a:spcBef>
                <a:spcPts val="0"/>
              </a:spcBef>
              <a:spcAft>
                <a:spcPts val="0"/>
              </a:spcAft>
              <a:buNone/>
            </a:pPr>
            <a:r>
              <a:rPr lang="en-CA" sz="1500" dirty="0" err="1" smtClean="0">
                <a:latin typeface="Courier New" panose="02070309020205020404" pitchFamily="49" charset="0"/>
                <a:cs typeface="Courier New" panose="02070309020205020404" pitchFamily="49" charset="0"/>
              </a:rPr>
              <a:t>int</a:t>
            </a:r>
            <a:r>
              <a:rPr lang="en-CA" sz="1500" dirty="0" smtClean="0">
                <a:latin typeface="Courier New" panose="02070309020205020404" pitchFamily="49" charset="0"/>
                <a:cs typeface="Courier New" panose="02070309020205020404" pitchFamily="49" charset="0"/>
              </a:rPr>
              <a:t> parse(</a:t>
            </a:r>
            <a:r>
              <a:rPr lang="en-CA" sz="1500" dirty="0" err="1" smtClean="0">
                <a:latin typeface="Courier New" panose="02070309020205020404" pitchFamily="49" charset="0"/>
                <a:cs typeface="Courier New" panose="02070309020205020404" pitchFamily="49" charset="0"/>
              </a:rPr>
              <a:t>const</a:t>
            </a:r>
            <a:r>
              <a:rPr lang="en-CA" sz="1500" dirty="0" smtClean="0">
                <a:latin typeface="Courier New" panose="02070309020205020404" pitchFamily="49" charset="0"/>
                <a:cs typeface="Courier New" panose="02070309020205020404" pitchFamily="49" charset="0"/>
              </a:rPr>
              <a:t> char * &amp; </a:t>
            </a:r>
            <a:r>
              <a:rPr lang="en-CA" sz="1500" dirty="0" err="1" smtClean="0">
                <a:latin typeface="Courier New" panose="02070309020205020404" pitchFamily="49" charset="0"/>
                <a:cs typeface="Courier New" panose="02070309020205020404" pitchFamily="49" charset="0"/>
              </a:rPr>
              <a:t>buf</a:t>
            </a:r>
            <a:r>
              <a:rPr lang="en-CA" sz="1500" dirty="0" smtClean="0">
                <a:latin typeface="Courier New" panose="02070309020205020404" pitchFamily="49" charset="0"/>
                <a:cs typeface="Courier New" panose="02070309020205020404" pitchFamily="49" charset="0"/>
              </a:rPr>
              <a:t>, unsigned &amp; </a:t>
            </a:r>
            <a:r>
              <a:rPr lang="en-CA" sz="1500" dirty="0" err="1" smtClean="0">
                <a:latin typeface="Courier New" panose="02070309020205020404" pitchFamily="49" charset="0"/>
                <a:cs typeface="Courier New" panose="02070309020205020404" pitchFamily="49" charset="0"/>
              </a:rPr>
              <a:t>len</a:t>
            </a:r>
            <a:r>
              <a:rPr lang="en-CA" sz="15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dirty="0" err="1" smtClean="0">
                <a:latin typeface="Courier New" panose="02070309020205020404" pitchFamily="49" charset="0"/>
                <a:cs typeface="Courier New" panose="02070309020205020404" pitchFamily="49" charset="0"/>
              </a:rPr>
              <a:t>int</a:t>
            </a:r>
            <a:r>
              <a:rPr lang="en-CA" sz="1500" dirty="0" smtClean="0">
                <a:latin typeface="Courier New" panose="02070309020205020404" pitchFamily="49" charset="0"/>
                <a:cs typeface="Courier New" panose="02070309020205020404" pitchFamily="49" charset="0"/>
              </a:rPr>
              <a:t> ret = </a:t>
            </a:r>
            <a:r>
              <a:rPr lang="en-CA" sz="1500" dirty="0" err="1" smtClean="0">
                <a:latin typeface="Courier New" panose="02070309020205020404" pitchFamily="49" charset="0"/>
                <a:cs typeface="Courier New" panose="02070309020205020404" pitchFamily="49" charset="0"/>
              </a:rPr>
              <a:t>s_log_block_size.parse</a:t>
            </a:r>
            <a:r>
              <a:rPr lang="en-CA" sz="1500" dirty="0" smtClean="0">
                <a:latin typeface="Courier New" panose="02070309020205020404" pitchFamily="49" charset="0"/>
                <a:cs typeface="Courier New" panose="02070309020205020404" pitchFamily="49" charset="0"/>
              </a:rPr>
              <a:t>(</a:t>
            </a:r>
            <a:r>
              <a:rPr lang="en-CA" sz="1500" dirty="0" err="1" smtClean="0">
                <a:latin typeface="Courier New" panose="02070309020205020404" pitchFamily="49" charset="0"/>
                <a:cs typeface="Courier New" panose="02070309020205020404" pitchFamily="49" charset="0"/>
              </a:rPr>
              <a:t>buf</a:t>
            </a:r>
            <a:r>
              <a:rPr lang="en-CA" sz="1500" dirty="0" smtClean="0">
                <a:latin typeface="Courier New" panose="02070309020205020404" pitchFamily="49" charset="0"/>
                <a:cs typeface="Courier New" panose="02070309020205020404" pitchFamily="49" charset="0"/>
              </a:rPr>
              <a:t>, </a:t>
            </a:r>
            <a:r>
              <a:rPr lang="en-CA" sz="1500" dirty="0" err="1" smtClean="0">
                <a:latin typeface="Courier New" panose="02070309020205020404" pitchFamily="49" charset="0"/>
                <a:cs typeface="Courier New" panose="02070309020205020404" pitchFamily="49" charset="0"/>
              </a:rPr>
              <a:t>len</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if (ret &lt; 0) return ret;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if (!(this-&gt;</a:t>
            </a:r>
            <a:r>
              <a:rPr lang="en-CA" sz="15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 &lt;= 6))</a:t>
            </a:r>
          </a:p>
          <a:p>
            <a:pPr marL="0" indent="0">
              <a:spcBef>
                <a:spcPts val="0"/>
              </a:spcBef>
              <a:spcAft>
                <a:spcPts val="0"/>
              </a:spcAft>
              <a:buNone/>
            </a:pP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spcBef>
                <a:spcPts val="0"/>
              </a:spcBef>
              <a:spcAft>
                <a:spcPts val="0"/>
              </a:spcAft>
              <a:buNone/>
            </a:pP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  if (!(this-&gt;</a:t>
            </a:r>
            <a:r>
              <a:rPr lang="en-CA" sz="1500" dirty="0" err="1" smtClean="0">
                <a:effectLst>
                  <a:glow rad="101600">
                    <a:srgbClr val="FFFF00">
                      <a:alpha val="40000"/>
                    </a:srgbClr>
                  </a:glow>
                </a:effectLst>
                <a:latin typeface="Courier New" panose="02070309020205020404" pitchFamily="49" charset="0"/>
                <a:cs typeface="Courier New" panose="02070309020205020404" pitchFamily="49" charset="0"/>
              </a:rPr>
              <a:t>s_magic</a:t>
            </a: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 == 0xef53))</a:t>
            </a:r>
          </a:p>
          <a:p>
            <a:pPr marL="0" indent="0">
              <a:spcBef>
                <a:spcPts val="0"/>
              </a:spcBef>
              <a:spcAft>
                <a:spcPts val="0"/>
              </a:spcAft>
              <a:buNone/>
            </a:pP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500" dirty="0" smtClean="0">
              <a:latin typeface="Courier New" panose="02070309020205020404" pitchFamily="49" charset="0"/>
              <a:cs typeface="Courier New" panose="02070309020205020404" pitchFamily="49" charset="0"/>
            </a:endParaRPr>
          </a:p>
          <a:p>
            <a:pPr marL="0" indent="0">
              <a:spcBef>
                <a:spcPts val="0"/>
              </a:spcBef>
              <a:spcAft>
                <a:spcPts val="0"/>
              </a:spcAft>
              <a:buNone/>
            </a:pPr>
            <a:endParaRPr lang="en-CA" sz="15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pPr/>
              <a:t>22</a:t>
            </a:fld>
            <a:endParaRPr lang="en-CA"/>
          </a:p>
        </p:txBody>
      </p:sp>
      <p:sp>
        <p:nvSpPr>
          <p:cNvPr id="6" name="Right Arrow 5"/>
          <p:cNvSpPr/>
          <p:nvPr/>
        </p:nvSpPr>
        <p:spPr>
          <a:xfrm>
            <a:off x="4714327" y="2684468"/>
            <a:ext cx="277598" cy="168965"/>
          </a:xfrm>
          <a:prstGeom prst="rightArrow">
            <a:avLst/>
          </a:prstGeom>
          <a:noFill/>
          <a:ln w="254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endParaRPr lang="en-CA" dirty="0" smtClean="0"/>
          </a:p>
          <a:p>
            <a:endParaRPr lang="en-CA" dirty="0"/>
          </a:p>
          <a:p>
            <a:endParaRPr lang="en-CA" dirty="0" smtClean="0"/>
          </a:p>
          <a:p>
            <a:r>
              <a:rPr lang="en-CA" dirty="0" smtClean="0"/>
              <a:t>LOC required to correctly annotate modern file systems</a:t>
            </a:r>
          </a:p>
          <a:p>
            <a:pPr lvl="1"/>
            <a:r>
              <a:rPr lang="en-CA" dirty="0" smtClean="0"/>
              <a:t>Some structures not originally declared</a:t>
            </a:r>
          </a:p>
          <a:p>
            <a:pPr lvl="2"/>
            <a:r>
              <a:rPr lang="en-CA" dirty="0" smtClean="0"/>
              <a:t>E.g. Ext4 indirect block is just an array of 4-byte pointers</a:t>
            </a:r>
          </a:p>
          <a:p>
            <a:pPr lvl="1"/>
            <a:r>
              <a:rPr lang="en-CA" dirty="0" smtClean="0"/>
              <a:t>Some structures need to be changed</a:t>
            </a:r>
          </a:p>
          <a:p>
            <a:pPr lvl="2"/>
            <a:r>
              <a:rPr lang="en-CA" dirty="0" smtClean="0"/>
              <a:t>E.g. block pointers in Ext4 </a:t>
            </a:r>
            <a:r>
              <a:rPr lang="en-CA" dirty="0" err="1" smtClean="0"/>
              <a:t>inode</a:t>
            </a:r>
            <a:r>
              <a:rPr lang="en-CA" dirty="0" smtClean="0"/>
              <a:t> is an array of pointers, but the last 3 are indirect pointers of different level</a:t>
            </a:r>
          </a:p>
          <a:p>
            <a:pPr lvl="2"/>
            <a:r>
              <a:rPr lang="en-CA" dirty="0" smtClean="0"/>
              <a:t>Indirect pointers </a:t>
            </a:r>
          </a:p>
          <a:p>
            <a:pPr lvl="2"/>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419476845"/>
              </p:ext>
            </p:extLst>
          </p:nvPr>
        </p:nvGraphicFramePr>
        <p:xfrm>
          <a:off x="2024016" y="1507237"/>
          <a:ext cx="6359598" cy="1483360"/>
        </p:xfrm>
        <a:graphic>
          <a:graphicData uri="http://schemas.openxmlformats.org/drawingml/2006/table">
            <a:tbl>
              <a:tblPr firstRow="1" bandRow="1">
                <a:tableStyleId>{69012ECD-51FC-41F1-AA8D-1B2483CD663E}</a:tableStyleId>
              </a:tblPr>
              <a:tblGrid>
                <a:gridCol w="2119866">
                  <a:extLst>
                    <a:ext uri="{9D8B030D-6E8A-4147-A177-3AD203B41FA5}">
                      <a16:colId xmlns="" xmlns:a16="http://schemas.microsoft.com/office/drawing/2014/main" val="20000"/>
                    </a:ext>
                  </a:extLst>
                </a:gridCol>
                <a:gridCol w="2119866">
                  <a:extLst>
                    <a:ext uri="{9D8B030D-6E8A-4147-A177-3AD203B41FA5}">
                      <a16:colId xmlns="" xmlns:a16="http://schemas.microsoft.com/office/drawing/2014/main" val="20001"/>
                    </a:ext>
                  </a:extLst>
                </a:gridCol>
                <a:gridCol w="2119866">
                  <a:extLst>
                    <a:ext uri="{9D8B030D-6E8A-4147-A177-3AD203B41FA5}">
                      <a16:colId xmlns="" xmlns:a16="http://schemas.microsoft.com/office/drawing/2014/main" val="20002"/>
                    </a:ext>
                  </a:extLst>
                </a:gridCol>
              </a:tblGrid>
              <a:tr h="370840">
                <a:tc>
                  <a:txBody>
                    <a:bodyPr/>
                    <a:lstStyle/>
                    <a:p>
                      <a:r>
                        <a:rPr lang="en-CA" dirty="0" smtClean="0">
                          <a:solidFill>
                            <a:schemeClr val="tx1"/>
                          </a:solidFill>
                        </a:rPr>
                        <a:t>File System</a:t>
                      </a:r>
                      <a:endParaRPr lang="en-CA" dirty="0">
                        <a:solidFill>
                          <a:schemeClr val="tx1"/>
                        </a:solidFill>
                      </a:endParaRPr>
                    </a:p>
                  </a:txBody>
                  <a:tcPr/>
                </a:tc>
                <a:tc>
                  <a:txBody>
                    <a:bodyPr/>
                    <a:lstStyle/>
                    <a:p>
                      <a:r>
                        <a:rPr lang="en-CA" dirty="0" smtClean="0">
                          <a:solidFill>
                            <a:schemeClr val="tx1"/>
                          </a:solidFill>
                        </a:rPr>
                        <a:t>Line Count</a:t>
                      </a:r>
                      <a:endParaRPr lang="en-CA" dirty="0">
                        <a:solidFill>
                          <a:schemeClr val="tx1"/>
                        </a:solidFill>
                      </a:endParaRPr>
                    </a:p>
                  </a:txBody>
                  <a:tcPr/>
                </a:tc>
                <a:tc>
                  <a:txBody>
                    <a:bodyPr/>
                    <a:lstStyle/>
                    <a:p>
                      <a:r>
                        <a:rPr lang="en-CA" dirty="0" smtClean="0">
                          <a:solidFill>
                            <a:schemeClr val="tx1"/>
                          </a:solidFill>
                        </a:rPr>
                        <a:t>Annotated</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dirty="0" smtClean="0">
                          <a:solidFill>
                            <a:schemeClr val="bg1"/>
                          </a:solidFill>
                        </a:rPr>
                        <a:t>Ext4</a:t>
                      </a:r>
                      <a:endParaRPr lang="en-CA" dirty="0">
                        <a:solidFill>
                          <a:schemeClr val="bg1"/>
                        </a:solidFill>
                      </a:endParaRPr>
                    </a:p>
                  </a:txBody>
                  <a:tcPr/>
                </a:tc>
                <a:tc>
                  <a:txBody>
                    <a:bodyPr/>
                    <a:lstStyle/>
                    <a:p>
                      <a:r>
                        <a:rPr lang="en-CA" dirty="0" smtClean="0">
                          <a:solidFill>
                            <a:schemeClr val="bg1"/>
                          </a:solidFill>
                        </a:rPr>
                        <a:t>491</a:t>
                      </a:r>
                      <a:endParaRPr lang="en-CA" dirty="0">
                        <a:solidFill>
                          <a:schemeClr val="bg1"/>
                        </a:solidFill>
                      </a:endParaRPr>
                    </a:p>
                  </a:txBody>
                  <a:tcPr/>
                </a:tc>
                <a:tc>
                  <a:txBody>
                    <a:bodyPr/>
                    <a:lstStyle/>
                    <a:p>
                      <a:r>
                        <a:rPr lang="en-CA" dirty="0" smtClean="0">
                          <a:solidFill>
                            <a:schemeClr val="bg1"/>
                          </a:solidFill>
                        </a:rPr>
                        <a:t>113</a:t>
                      </a:r>
                      <a:endParaRPr lang="en-CA"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dirty="0" err="1" smtClean="0">
                          <a:solidFill>
                            <a:schemeClr val="bg1"/>
                          </a:solidFill>
                        </a:rPr>
                        <a:t>Btrfs</a:t>
                      </a:r>
                      <a:endParaRPr lang="en-CA" dirty="0">
                        <a:solidFill>
                          <a:schemeClr val="bg1"/>
                        </a:solidFill>
                      </a:endParaRPr>
                    </a:p>
                  </a:txBody>
                  <a:tcPr/>
                </a:tc>
                <a:tc>
                  <a:txBody>
                    <a:bodyPr/>
                    <a:lstStyle/>
                    <a:p>
                      <a:r>
                        <a:rPr lang="en-CA" dirty="0" smtClean="0">
                          <a:solidFill>
                            <a:schemeClr val="bg1"/>
                          </a:solidFill>
                        </a:rPr>
                        <a:t>556</a:t>
                      </a:r>
                      <a:endParaRPr lang="en-CA" dirty="0">
                        <a:solidFill>
                          <a:schemeClr val="bg1"/>
                        </a:solidFill>
                      </a:endParaRPr>
                    </a:p>
                  </a:txBody>
                  <a:tcPr/>
                </a:tc>
                <a:tc>
                  <a:txBody>
                    <a:bodyPr/>
                    <a:lstStyle/>
                    <a:p>
                      <a:r>
                        <a:rPr lang="en-CA" dirty="0" smtClean="0">
                          <a:solidFill>
                            <a:schemeClr val="bg1"/>
                          </a:solidFill>
                        </a:rPr>
                        <a:t>151</a:t>
                      </a:r>
                      <a:endParaRPr lang="en-CA"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dirty="0" smtClean="0">
                          <a:solidFill>
                            <a:schemeClr val="bg1"/>
                          </a:solidFill>
                        </a:rPr>
                        <a:t>F2FS</a:t>
                      </a:r>
                      <a:endParaRPr lang="en-CA" dirty="0">
                        <a:solidFill>
                          <a:schemeClr val="bg1"/>
                        </a:solidFill>
                      </a:endParaRPr>
                    </a:p>
                  </a:txBody>
                  <a:tcPr/>
                </a:tc>
                <a:tc>
                  <a:txBody>
                    <a:bodyPr/>
                    <a:lstStyle/>
                    <a:p>
                      <a:r>
                        <a:rPr lang="en-CA" dirty="0" smtClean="0">
                          <a:solidFill>
                            <a:schemeClr val="bg1"/>
                          </a:solidFill>
                        </a:rPr>
                        <a:t>462</a:t>
                      </a:r>
                      <a:endParaRPr lang="en-CA" dirty="0">
                        <a:solidFill>
                          <a:schemeClr val="bg1"/>
                        </a:solidFill>
                      </a:endParaRPr>
                    </a:p>
                  </a:txBody>
                  <a:tcPr/>
                </a:tc>
                <a:tc>
                  <a:txBody>
                    <a:bodyPr/>
                    <a:lstStyle/>
                    <a:p>
                      <a:r>
                        <a:rPr lang="en-CA" dirty="0" smtClean="0">
                          <a:solidFill>
                            <a:schemeClr val="bg1"/>
                          </a:solidFill>
                        </a:rPr>
                        <a:t>127</a:t>
                      </a:r>
                      <a:endParaRPr lang="en-CA" dirty="0">
                        <a:solidFill>
                          <a:schemeClr val="bg1"/>
                        </a:solidFill>
                      </a:endParaRPr>
                    </a:p>
                  </a:txBody>
                  <a:tcPr/>
                </a:tc>
                <a:extLst>
                  <a:ext uri="{0D108BD9-81ED-4DB2-BD59-A6C34878D82A}">
                    <a16:rowId xmlns="" xmlns:a16="http://schemas.microsoft.com/office/drawing/2014/main" val="10003"/>
                  </a:ext>
                </a:extLst>
              </a:tr>
            </a:tbl>
          </a:graphicData>
        </a:graphic>
      </p:graphicFrame>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a:t>
            </a:r>
            <a:endParaRPr lang="en-CA" dirty="0"/>
          </a:p>
        </p:txBody>
      </p:sp>
      <p:sp>
        <p:nvSpPr>
          <p:cNvPr id="3" name="Content Placeholder 2"/>
          <p:cNvSpPr>
            <a:spLocks noGrp="1"/>
          </p:cNvSpPr>
          <p:nvPr>
            <p:ph idx="1"/>
          </p:nvPr>
        </p:nvSpPr>
        <p:spPr/>
        <p:txBody>
          <a:bodyPr/>
          <a:lstStyle/>
          <a:p>
            <a:r>
              <a:rPr lang="en-CA" smtClean="0"/>
              <a:t>Example: File System Free Space Tool</a:t>
            </a:r>
          </a:p>
          <a:p>
            <a:pPr lvl="1"/>
            <a:r>
              <a:rPr lang="en-CA" smtClean="0"/>
              <a:t>plots histogram of size of free extents</a:t>
            </a:r>
          </a:p>
          <a:p>
            <a:r>
              <a:rPr lang="en-CA" smtClean="0"/>
              <a:t>Manually (ad-hoc processing)</a:t>
            </a:r>
          </a:p>
          <a:p>
            <a:pPr lvl="1"/>
            <a:r>
              <a:rPr lang="en-CA" smtClean="0"/>
              <a:t>Find documentation on format of each file system</a:t>
            </a:r>
          </a:p>
          <a:p>
            <a:pPr lvl="2"/>
            <a:r>
              <a:rPr lang="en-CA" smtClean="0"/>
              <a:t>Learn how each file system keeps track of block allocation information</a:t>
            </a:r>
          </a:p>
          <a:p>
            <a:pPr lvl="1"/>
            <a:r>
              <a:rPr lang="en-CA" smtClean="0"/>
              <a:t>Write code to find and process relevant metadata</a:t>
            </a:r>
          </a:p>
          <a:p>
            <a:pPr lvl="2"/>
            <a:r>
              <a:rPr lang="en-CA" smtClean="0"/>
              <a:t>Often through trial-and-error</a:t>
            </a:r>
          </a:p>
          <a:p>
            <a:r>
              <a:rPr lang="en-CA" smtClean="0"/>
              <a:t>Using Spiffy framework</a:t>
            </a:r>
          </a:p>
          <a:p>
            <a:pPr lvl="1"/>
            <a:r>
              <a:rPr lang="en-CA" smtClean="0"/>
              <a:t>Use Spiffy to locate metadata that stores block allocation information</a:t>
            </a:r>
          </a:p>
          <a:p>
            <a:pPr lvl="1"/>
            <a:r>
              <a:rPr lang="en-CA" smtClean="0"/>
              <a:t>Write file-system specific code to process metadata structures</a:t>
            </a:r>
          </a:p>
          <a:p>
            <a:endParaRPr lang="en-CA" smtClean="0"/>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24</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4" name="Content Placeholder 3"/>
          <p:cNvSpPr>
            <a:spLocks noGrp="1"/>
          </p:cNvSpPr>
          <p:nvPr>
            <p:ph idx="1"/>
          </p:nvPr>
        </p:nvSpPr>
        <p:spPr/>
        <p:txBody>
          <a:bodyPr/>
          <a:lstStyle/>
          <a:p>
            <a:r>
              <a:rPr lang="en-CA" dirty="0"/>
              <a:t>Ad-hoc processing, No error-checking</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25</a:t>
            </a:fld>
            <a:endParaRPr lang="en-CA" dirty="0"/>
          </a:p>
        </p:txBody>
      </p:sp>
      <p:sp>
        <p:nvSpPr>
          <p:cNvPr id="7" name="TextBox 6"/>
          <p:cNvSpPr txBox="1"/>
          <p:nvPr/>
        </p:nvSpPr>
        <p:spPr>
          <a:xfrm>
            <a:off x="8362122" y="2468890"/>
            <a:ext cx="3009463"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Manually-Written Application</a:t>
            </a:r>
            <a:endParaRPr lang="en-CA" dirty="0"/>
          </a:p>
        </p:txBody>
      </p:sp>
      <p:sp>
        <p:nvSpPr>
          <p:cNvPr id="7" name="Content Placeholder 6"/>
          <p:cNvSpPr>
            <a:spLocks noGrp="1"/>
          </p:cNvSpPr>
          <p:nvPr>
            <p:ph idx="1"/>
          </p:nvPr>
        </p:nvSpPr>
        <p:spPr/>
        <p:txBody>
          <a:bodyPr/>
          <a:lstStyle/>
          <a:p>
            <a:r>
              <a:rPr lang="en-CA" dirty="0"/>
              <a:t>Ad-hoc processing, No error-checking</a:t>
            </a:r>
          </a:p>
          <a:p>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26</a:t>
            </a:fld>
            <a:endParaRPr lang="en-CA" dirty="0"/>
          </a:p>
        </p:txBody>
      </p:sp>
      <p:sp>
        <p:nvSpPr>
          <p:cNvPr id="2" name="TextBox 1"/>
          <p:cNvSpPr txBox="1"/>
          <p:nvPr/>
        </p:nvSpPr>
        <p:spPr>
          <a:xfrm>
            <a:off x="8734308" y="2073898"/>
            <a:ext cx="2681552" cy="1508105"/>
          </a:xfrm>
          <a:prstGeom prst="rect">
            <a:avLst/>
          </a:prstGeom>
          <a:noFill/>
        </p:spPr>
        <p:txBody>
          <a:bodyPr wrap="square" rtlCol="0">
            <a:spAutoFit/>
          </a:bodyPr>
          <a:lstStyle/>
          <a:p>
            <a:pPr>
              <a:lnSpc>
                <a:spcPts val="2400"/>
              </a:lnSpc>
              <a:spcBef>
                <a:spcPts val="600"/>
              </a:spcBef>
            </a:pPr>
            <a:r>
              <a:rPr lang="en-CA" b="1" dirty="0" smtClean="0">
                <a:solidFill>
                  <a:schemeClr val="bg1"/>
                </a:solidFill>
              </a:rPr>
              <a:t>No sanity checks!</a:t>
            </a:r>
          </a:p>
          <a:p>
            <a:pPr marL="263525" indent="-179388">
              <a:buFont typeface="Arial" panose="020B0604020202020204" pitchFamily="34" charset="0"/>
              <a:buChar char="•"/>
            </a:pPr>
            <a:r>
              <a:rPr lang="en-CA" dirty="0" smtClean="0">
                <a:solidFill>
                  <a:schemeClr val="bg1"/>
                </a:solidFill>
              </a:rPr>
              <a:t>Value may be out- of-bound, incorrect</a:t>
            </a:r>
          </a:p>
          <a:p>
            <a:pPr marL="263525" indent="-179388">
              <a:buFont typeface="Arial" panose="020B0604020202020204" pitchFamily="34" charset="0"/>
              <a:buChar char="•"/>
            </a:pPr>
            <a:r>
              <a:rPr lang="en-CA" dirty="0" smtClean="0">
                <a:solidFill>
                  <a:schemeClr val="bg1"/>
                </a:solidFill>
              </a:rPr>
              <a:t>Can cause crashes</a:t>
            </a:r>
            <a:br>
              <a:rPr lang="en-CA" dirty="0" smtClean="0">
                <a:solidFill>
                  <a:schemeClr val="bg1"/>
                </a:solidFill>
              </a:rPr>
            </a:br>
            <a:r>
              <a:rPr lang="en-CA" dirty="0" smtClean="0">
                <a:solidFill>
                  <a:schemeClr val="bg1"/>
                </a:solidFill>
              </a:rPr>
              <a:t>or garbage output</a:t>
            </a:r>
            <a:endParaRPr lang="en-CA" dirty="0">
              <a:solidFill>
                <a:schemeClr val="bg1"/>
              </a:solidFill>
            </a:endParaRPr>
          </a:p>
        </p:txBody>
      </p:sp>
      <p:cxnSp>
        <p:nvCxnSpPr>
          <p:cNvPr id="6" name="Straight Arrow Connector 5"/>
          <p:cNvCxnSpPr/>
          <p:nvPr/>
        </p:nvCxnSpPr>
        <p:spPr>
          <a:xfrm flipH="1">
            <a:off x="6778487" y="2281287"/>
            <a:ext cx="1955821" cy="74020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374835" y="2281287"/>
            <a:ext cx="1359473" cy="149558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a:off x="6780007" y="3402890"/>
            <a:ext cx="3075904" cy="832699"/>
          </a:xfrm>
          <a:prstGeom prst="bentConnector3">
            <a:avLst>
              <a:gd name="adj1" fmla="val 100085"/>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9" name="Content Placeholder 8"/>
          <p:cNvSpPr>
            <a:spLocks noGrp="1"/>
          </p:cNvSpPr>
          <p:nvPr>
            <p:ph idx="1"/>
          </p:nvPr>
        </p:nvSpPr>
        <p:spPr/>
        <p:txBody>
          <a:bodyPr/>
          <a:lstStyle/>
          <a:p>
            <a:r>
              <a:rPr lang="en-CA" dirty="0"/>
              <a:t>Ad-hoc processing, No error-checking</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27</a:t>
            </a:fld>
            <a:endParaRPr lang="en-CA" dirty="0"/>
          </a:p>
        </p:txBody>
      </p:sp>
      <p:sp>
        <p:nvSpPr>
          <p:cNvPr id="2" name="Rectangle 1"/>
          <p:cNvSpPr/>
          <p:nvPr/>
        </p:nvSpPr>
        <p:spPr>
          <a:xfrm>
            <a:off x="1381538" y="5396947"/>
            <a:ext cx="5237923" cy="346843"/>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p:cNvSpPr txBox="1"/>
          <p:nvPr/>
        </p:nvSpPr>
        <p:spPr>
          <a:xfrm>
            <a:off x="8404493" y="2131673"/>
            <a:ext cx="2790802"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We want an easier way to find and process all of the block bitmaps</a:t>
            </a:r>
            <a:endParaRPr lang="en-CA" dirty="0">
              <a:solidFill>
                <a:schemeClr val="bg1"/>
              </a:solidFill>
            </a:endParaRPr>
          </a:p>
        </p:txBody>
      </p:sp>
      <p:cxnSp>
        <p:nvCxnSpPr>
          <p:cNvPr id="8" name="Straight Arrow Connector 7"/>
          <p:cNvCxnSpPr/>
          <p:nvPr/>
        </p:nvCxnSpPr>
        <p:spPr>
          <a:xfrm rot="10800000" flipV="1">
            <a:off x="6619463" y="3220281"/>
            <a:ext cx="3476019" cy="2358192"/>
          </a:xfrm>
          <a:prstGeom prst="bentConnector3">
            <a:avLst>
              <a:gd name="adj1" fmla="val -38"/>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endParaRPr lang="en-CA" dirty="0"/>
          </a:p>
        </p:txBody>
      </p: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a:t>
            </a:r>
            <a:endParaRPr lang="en-CA" dirty="0"/>
          </a:p>
        </p:txBody>
      </p:sp>
      <p:sp>
        <p:nvSpPr>
          <p:cNvPr id="10" name="Content Placeholder 9"/>
          <p:cNvSpPr>
            <a:spLocks noGrp="1"/>
          </p:cNvSpPr>
          <p:nvPr>
            <p:ph idx="1"/>
          </p:nvPr>
        </p:nvSpPr>
        <p:spPr/>
        <p:txBody>
          <a:bodyPr/>
          <a:lstStyle/>
          <a:p>
            <a:r>
              <a:rPr lang="en-CA" dirty="0" smtClean="0"/>
              <a:t>Using Spiffy Library</a:t>
            </a:r>
          </a:p>
        </p:txBody>
      </p:sp>
      <p:sp>
        <p:nvSpPr>
          <p:cNvPr id="15" name="Slide Number Placeholder 14"/>
          <p:cNvSpPr>
            <a:spLocks noGrp="1"/>
          </p:cNvSpPr>
          <p:nvPr>
            <p:ph type="sldNum" sz="quarter" idx="12"/>
          </p:nvPr>
        </p:nvSpPr>
        <p:spPr/>
        <p:txBody>
          <a:bodyPr/>
          <a:lstStyle/>
          <a:p>
            <a:fld id="{7B2023C8-B124-43A9-8F92-0EEF5BAA9995}" type="slidenum">
              <a:rPr lang="en-CA" smtClean="0"/>
              <a:pPr/>
              <a:t>28</a:t>
            </a:fld>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(BLOCK_BITMAP,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 &amp;</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
        <p:nvSpPr>
          <p:cNvPr id="6" name="Content Placeholder 9"/>
          <p:cNvSpPr txBox="1">
            <a:spLocks/>
          </p:cNvSpPr>
          <p:nvPr/>
        </p:nvSpPr>
        <p:spPr>
          <a:xfrm>
            <a:off x="684210" y="4411614"/>
            <a:ext cx="8954839" cy="1767364"/>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lvl="1"/>
            <a:r>
              <a:rPr lang="en-CA" dirty="0" smtClean="0"/>
              <a:t>Advantages</a:t>
            </a:r>
          </a:p>
          <a:p>
            <a:pPr lvl="2"/>
            <a:r>
              <a:rPr lang="en-CA" dirty="0" smtClean="0"/>
              <a:t>simplifies file system traversal,</a:t>
            </a:r>
            <a:r>
              <a:rPr lang="en-CA" dirty="0"/>
              <a:t> </a:t>
            </a:r>
            <a:r>
              <a:rPr lang="en-CA" dirty="0" smtClean="0"/>
              <a:t>reduces need to know format details</a:t>
            </a:r>
          </a:p>
          <a:p>
            <a:pPr lvl="2"/>
            <a:r>
              <a:rPr lang="en-CA" dirty="0" smtClean="0"/>
              <a:t>library parsing routines have automatically generated sanity checks</a:t>
            </a:r>
          </a:p>
        </p:txBody>
      </p:sp>
      <p:sp>
        <p:nvSpPr>
          <p:cNvPr id="7" name="TextBox 6"/>
          <p:cNvSpPr txBox="1"/>
          <p:nvPr/>
        </p:nvSpPr>
        <p:spPr>
          <a:xfrm>
            <a:off x="8409726" y="1743298"/>
            <a:ext cx="2642588"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dirty="0" smtClean="0">
                <a:solidFill>
                  <a:schemeClr val="bg1"/>
                </a:solidFill>
              </a:rPr>
              <a:t> if super block is corrupted</a:t>
            </a:r>
            <a:endParaRPr lang="en-CA" dirty="0">
              <a:solidFill>
                <a:schemeClr val="bg1"/>
              </a:solidFill>
            </a:endParaRPr>
          </a:p>
        </p:txBody>
      </p:sp>
      <p:cxnSp>
        <p:nvCxnSpPr>
          <p:cNvPr id="8" name="Straight Arrow Connector 7"/>
          <p:cNvCxnSpPr/>
          <p:nvPr/>
        </p:nvCxnSpPr>
        <p:spPr>
          <a:xfrm flipH="1">
            <a:off x="6808304" y="1997765"/>
            <a:ext cx="1601422" cy="101379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9044609" y="3507933"/>
            <a:ext cx="594441" cy="43790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9142135" y="3128159"/>
            <a:ext cx="1177770" cy="400110"/>
          </a:xfrm>
          <a:prstGeom prst="rect">
            <a:avLst/>
          </a:prstGeom>
          <a:noFill/>
        </p:spPr>
        <p:txBody>
          <a:bodyPr wrap="square" rtlCol="0">
            <a:spAutoFit/>
          </a:bodyPr>
          <a:lstStyle/>
          <a:p>
            <a:pPr>
              <a:lnSpc>
                <a:spcPts val="2400"/>
              </a:lnSpc>
              <a:spcBef>
                <a:spcPts val="600"/>
              </a:spcBef>
            </a:pPr>
            <a:r>
              <a:rPr lang="en-CA" b="1" dirty="0" smtClean="0">
                <a:solidFill>
                  <a:schemeClr val="bg1"/>
                </a:solidFill>
              </a:rPr>
              <a:t>THAT’S IT</a:t>
            </a:r>
            <a:endParaRPr lang="en-CA" b="1" dirty="0">
              <a:solidFill>
                <a:schemeClr val="bg1"/>
              </a:solidFill>
            </a:endParaRPr>
          </a:p>
        </p:txBody>
      </p: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a:t>
            </a:r>
            <a:endParaRPr lang="en-CA" dirty="0"/>
          </a:p>
        </p:txBody>
      </p:sp>
      <p:sp>
        <p:nvSpPr>
          <p:cNvPr id="10" name="Content Placeholder 9"/>
          <p:cNvSpPr>
            <a:spLocks noGrp="1"/>
          </p:cNvSpPr>
          <p:nvPr>
            <p:ph idx="1"/>
          </p:nvPr>
        </p:nvSpPr>
        <p:spPr/>
        <p:txBody>
          <a:bodyPr/>
          <a:lstStyle/>
          <a:p>
            <a:r>
              <a:rPr lang="en-CA" dirty="0" smtClean="0"/>
              <a:t>Using Spiffy Library</a:t>
            </a:r>
          </a:p>
          <a:p>
            <a:endParaRPr lang="en-CA" dirty="0"/>
          </a:p>
          <a:p>
            <a:endParaRPr lang="en-CA" dirty="0" smtClean="0"/>
          </a:p>
          <a:p>
            <a:endParaRPr lang="en-CA" dirty="0"/>
          </a:p>
          <a:p>
            <a:endParaRPr lang="en-CA" dirty="0" smtClean="0"/>
          </a:p>
          <a:p>
            <a:endParaRPr lang="en-CA" dirty="0"/>
          </a:p>
          <a:p>
            <a:r>
              <a:rPr lang="en-CA" dirty="0" smtClean="0"/>
              <a:t>Code to traverse file system similar across file systems</a:t>
            </a:r>
          </a:p>
          <a:p>
            <a:r>
              <a:rPr lang="en-CA" dirty="0" smtClean="0"/>
              <a:t>Only need to write file-system specific code to process block allocation metadata</a:t>
            </a:r>
          </a:p>
          <a:p>
            <a:pPr lvl="1"/>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29</a:t>
            </a:fld>
            <a:endParaRPr lang="en-CA" dirty="0"/>
          </a:p>
        </p:txBody>
      </p:sp>
      <p:sp>
        <p:nvSpPr>
          <p:cNvPr id="11" name="Content Placeholder 6"/>
          <p:cNvSpPr txBox="1">
            <a:spLocks/>
          </p:cNvSpPr>
          <p:nvPr/>
        </p:nvSpPr>
        <p:spPr>
          <a:xfrm>
            <a:off x="951929" y="2073898"/>
            <a:ext cx="10285797" cy="2370511"/>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err="1" smtClean="0">
                <a:latin typeface="Courier New" panose="02070309020205020404" pitchFamily="49" charset="0"/>
                <a:cs typeface="Courier New" panose="02070309020205020404" pitchFamily="49" charset="0"/>
              </a:rPr>
              <a:t>process_btrfs</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(dev);</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btrfs.fetch_super</a:t>
            </a:r>
            <a:r>
              <a:rPr lang="en-CA" sz="16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sectorsize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smtClean="0">
                <a:solidFill>
                  <a:schemeClr val="accent4">
                    <a:lumMod val="75000"/>
                  </a:schemeClr>
                </a:solidFill>
                <a:latin typeface="Courier New" panose="02070309020205020404" pitchFamily="49" charset="0"/>
                <a:cs typeface="Courier New" panose="02070309020205020404" pitchFamily="49" charset="0"/>
              </a:rPr>
              <a:t>/* traverse file system and find/process all extent items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(EXTENT_ITEM, </a:t>
            </a:r>
            <a:r>
              <a:rPr lang="en-CA" sz="1600" dirty="0" err="1" smtClean="0">
                <a:latin typeface="Courier New" panose="02070309020205020404" pitchFamily="49" charset="0"/>
                <a:cs typeface="Courier New" panose="02070309020205020404" pitchFamily="49" charset="0"/>
              </a:rPr>
              <a:t>process_extent_item</a:t>
            </a:r>
            <a:r>
              <a:rPr lang="en-CA" sz="1600" dirty="0" smtClean="0">
                <a:latin typeface="Courier New" panose="02070309020205020404" pitchFamily="49" charset="0"/>
                <a:cs typeface="Courier New" panose="02070309020205020404" pitchFamily="49" charset="0"/>
              </a:rPr>
              <a:t>, &amp;</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7506738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Type-Specific Corruptor</a:t>
            </a:r>
            <a:endParaRPr lang="en-CA" dirty="0"/>
          </a:p>
        </p:txBody>
      </p:sp>
      <p:sp>
        <p:nvSpPr>
          <p:cNvPr id="3" name="Content Placeholder 2"/>
          <p:cNvSpPr>
            <a:spLocks noGrp="1"/>
          </p:cNvSpPr>
          <p:nvPr>
            <p:ph idx="1"/>
          </p:nvPr>
        </p:nvSpPr>
        <p:spPr/>
        <p:txBody>
          <a:bodyPr/>
          <a:lstStyle/>
          <a:p>
            <a:r>
              <a:rPr lang="en-CA" dirty="0"/>
              <a:t>Finds and corrupts a field in a specified </a:t>
            </a:r>
            <a:r>
              <a:rPr lang="en-CA" dirty="0" smtClean="0"/>
              <a:t>structure</a:t>
            </a:r>
            <a:endParaRPr lang="en-CA" dirty="0"/>
          </a:p>
          <a:p>
            <a:r>
              <a:rPr lang="en-CA" dirty="0" smtClean="0"/>
              <a:t>Works for all annotated file systems</a:t>
            </a:r>
          </a:p>
          <a:p>
            <a:pPr lvl="1"/>
            <a:r>
              <a:rPr lang="en-CA" dirty="0" smtClean="0"/>
              <a:t>Small bootstrap code is required to initialize library</a:t>
            </a:r>
          </a:p>
          <a:p>
            <a:pPr lvl="1"/>
            <a:r>
              <a:rPr lang="en-CA" dirty="0" smtClean="0"/>
              <a:t>Generic Application Code: 455 LOC</a:t>
            </a:r>
            <a:endParaRPr lang="en-CA" dirty="0"/>
          </a:p>
          <a:p>
            <a:pPr lvl="1"/>
            <a:r>
              <a:rPr lang="en-CA" dirty="0" smtClean="0"/>
              <a:t>File-System Specific Code: &lt; 30 LOC each</a:t>
            </a:r>
          </a:p>
          <a:p>
            <a:r>
              <a:rPr lang="en-CA" dirty="0" smtClean="0"/>
              <a:t>Corruption Experiment</a:t>
            </a:r>
          </a:p>
          <a:p>
            <a:pPr lvl="1"/>
            <a:r>
              <a:rPr lang="en-CA" dirty="0" smtClean="0"/>
              <a:t>Ran existing tools on corrupt file system image</a:t>
            </a:r>
          </a:p>
          <a:p>
            <a:pPr lvl="1"/>
            <a:r>
              <a:rPr lang="en-CA" dirty="0" smtClean="0"/>
              <a:t>Discovered crash bugs in dumpe2fs (Ext4) and dump.f2fs (F2FS)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30</a:t>
            </a:fld>
            <a:endParaRPr lang="en-CA" dirty="0"/>
          </a:p>
        </p:txBody>
      </p:sp>
    </p:spTree>
    <p:extLst>
      <p:ext uri="{BB962C8B-B14F-4D97-AF65-F5344CB8AC3E}">
        <p14:creationId xmlns:p14="http://schemas.microsoft.com/office/powerpoint/2010/main" val="19219273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 System Conversion Tool</a:t>
            </a:r>
            <a:endParaRPr lang="en-CA" dirty="0"/>
          </a:p>
        </p:txBody>
      </p:sp>
      <p:sp>
        <p:nvSpPr>
          <p:cNvPr id="3" name="Content Placeholder 2"/>
          <p:cNvSpPr>
            <a:spLocks noGrp="1"/>
          </p:cNvSpPr>
          <p:nvPr>
            <p:ph idx="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1177832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Block Layer Cache</a:t>
            </a:r>
            <a:endParaRPr lang="en-CA" dirty="0"/>
          </a:p>
        </p:txBody>
      </p:sp>
      <p:sp>
        <p:nvSpPr>
          <p:cNvPr id="3" name="Content Placeholder 2"/>
          <p:cNvSpPr>
            <a:spLocks noGrp="1"/>
          </p:cNvSpPr>
          <p:nvPr>
            <p:ph idx="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15405202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Offline Spiffy Applications</a:t>
            </a:r>
            <a:endParaRPr lang="en-CA" dirty="0"/>
          </a:p>
        </p:txBody>
      </p:sp>
      <p:sp>
        <p:nvSpPr>
          <p:cNvPr id="3" name="Content Placeholder 2"/>
          <p:cNvSpPr>
            <a:spLocks noGrp="1"/>
          </p:cNvSpPr>
          <p:nvPr>
            <p:ph idx="1"/>
          </p:nvPr>
        </p:nvSpPr>
        <p:spPr/>
        <p:txBody>
          <a:bodyPr/>
          <a:lstStyle/>
          <a:p>
            <a:r>
              <a:rPr lang="en-CA" dirty="0" smtClean="0"/>
              <a:t>Have exclusive access to file system image</a:t>
            </a:r>
          </a:p>
          <a:p>
            <a:r>
              <a:rPr lang="en-CA" dirty="0" smtClean="0"/>
              <a:t>File System Dump Tool</a:t>
            </a:r>
          </a:p>
          <a:p>
            <a:pPr lvl="1"/>
            <a:r>
              <a:rPr lang="en-CA" dirty="0" smtClean="0"/>
              <a:t>Prints out all metadata in a file system</a:t>
            </a:r>
          </a:p>
          <a:p>
            <a:r>
              <a:rPr lang="en-CA" dirty="0" smtClean="0"/>
              <a:t>Type-Specific File System Corruptor</a:t>
            </a:r>
          </a:p>
          <a:p>
            <a:pPr lvl="1"/>
            <a:r>
              <a:rPr lang="en-CA" dirty="0" smtClean="0"/>
              <a:t>Finds and corrupts a field in a specified structure</a:t>
            </a:r>
          </a:p>
          <a:p>
            <a:r>
              <a:rPr lang="en-CA" dirty="0" smtClean="0"/>
              <a:t>File System Conversion Tool</a:t>
            </a:r>
          </a:p>
          <a:p>
            <a:pPr lvl="1"/>
            <a:r>
              <a:rPr lang="en-CA" dirty="0" smtClean="0"/>
              <a:t>Converts from one file system to another</a:t>
            </a:r>
          </a:p>
          <a:p>
            <a:pPr lvl="1"/>
            <a:r>
              <a:rPr lang="en-CA" dirty="0" smtClean="0"/>
              <a:t>minimizes moving of data blocks</a:t>
            </a:r>
          </a:p>
          <a:p>
            <a:pPr lvl="1"/>
            <a:r>
              <a:rPr lang="en-CA" dirty="0" smtClean="0"/>
              <a:t>Faster than copying to a difference device, reformat, and copy back	</a:t>
            </a:r>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33</a:t>
            </a:fld>
            <a:endParaRPr lang="en-CA" dirty="0"/>
          </a:p>
        </p:txBody>
      </p:sp>
    </p:spTree>
    <p:extLst>
      <p:ext uri="{BB962C8B-B14F-4D97-AF65-F5344CB8AC3E}">
        <p14:creationId xmlns:p14="http://schemas.microsoft.com/office/powerpoint/2010/main" val="1364355086"/>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Online Applications</a:t>
            </a:r>
            <a:endParaRPr lang="en-CA" dirty="0"/>
          </a:p>
        </p:txBody>
      </p:sp>
      <p:sp>
        <p:nvSpPr>
          <p:cNvPr id="3" name="Content Placeholder 2"/>
          <p:cNvSpPr>
            <a:spLocks noGrp="1"/>
          </p:cNvSpPr>
          <p:nvPr>
            <p:ph idx="1"/>
          </p:nvPr>
        </p:nvSpPr>
        <p:spPr/>
        <p:txBody>
          <a:bodyPr/>
          <a:lstStyle/>
          <a:p>
            <a:r>
              <a:rPr lang="en-CA" smtClean="0"/>
              <a:t>Operates while file system is in-use</a:t>
            </a:r>
          </a:p>
          <a:p>
            <a:r>
              <a:rPr lang="en-CA" smtClean="0"/>
              <a:t>Differentiated Storage Service</a:t>
            </a:r>
          </a:p>
          <a:p>
            <a:pPr lvl="1"/>
            <a:r>
              <a:rPr lang="en-CA" smtClean="0"/>
              <a:t>Prioritize metadata and small files</a:t>
            </a:r>
          </a:p>
          <a:p>
            <a:pPr lvl="1"/>
            <a:r>
              <a:rPr lang="en-CA" smtClean="0"/>
              <a:t>Difficult to implement</a:t>
            </a:r>
          </a:p>
          <a:p>
            <a:pPr lvl="1"/>
            <a:r>
              <a:rPr lang="en-CA" smtClean="0"/>
              <a:t>Requires file system to provide hints to block layer</a:t>
            </a:r>
          </a:p>
          <a:p>
            <a:r>
              <a:rPr lang="en-CA" smtClean="0"/>
              <a:t>Runtime Interpretation</a:t>
            </a:r>
          </a:p>
          <a:p>
            <a:pPr lvl="1"/>
            <a:r>
              <a:rPr lang="en-CA" smtClean="0"/>
              <a:t>Classifies file system IO at the block layer</a:t>
            </a:r>
          </a:p>
          <a:p>
            <a:pPr lvl="1"/>
            <a:r>
              <a:rPr lang="en-CA" smtClean="0"/>
              <a:t>Requires no modification to file system</a:t>
            </a:r>
          </a:p>
          <a:p>
            <a:pPr lvl="1"/>
            <a:r>
              <a:rPr lang="en-CA" smtClean="0"/>
              <a:t>Requires little file-system specific code</a:t>
            </a:r>
          </a:p>
          <a:p>
            <a:r>
              <a:rPr lang="en-CA" smtClean="0"/>
              <a:t>Spiffy Block Layer Cache</a:t>
            </a:r>
          </a:p>
          <a:p>
            <a:pPr lvl="1"/>
            <a:r>
              <a:rPr lang="en-CA" smtClean="0"/>
              <a:t>Preferentially caches files belonging to priority users</a:t>
            </a:r>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34</a:t>
            </a:fld>
            <a:endParaRPr lang="en-CA" dirty="0"/>
          </a:p>
        </p:txBody>
      </p:sp>
    </p:spTree>
    <p:extLst>
      <p:ext uri="{BB962C8B-B14F-4D97-AF65-F5344CB8AC3E}">
        <p14:creationId xmlns:p14="http://schemas.microsoft.com/office/powerpoint/2010/main" val="281551130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smtClean="0"/>
              <a:t>Converts 64GB file system with 16GB file set on SSD</a:t>
            </a:r>
          </a:p>
          <a:p>
            <a:pPr lvl="1"/>
            <a:r>
              <a:rPr lang="en-CA" smtClean="0"/>
              <a:t>Copy converter copies data to local disk, reformat, then copies back</a:t>
            </a:r>
          </a:p>
          <a:p>
            <a:pPr lvl="1"/>
            <a:r>
              <a:rPr lang="en-CA" smtClean="0"/>
              <a:t>Spiffy converter and Manual converter minimizes moving data blocks</a:t>
            </a:r>
          </a:p>
          <a:p>
            <a:endParaRPr lang="en-CA" smtClean="0"/>
          </a:p>
          <a:p>
            <a:endParaRPr lang="en-CA" smtClean="0"/>
          </a:p>
          <a:p>
            <a:endParaRPr lang="en-CA" smtClean="0"/>
          </a:p>
          <a:p>
            <a:endParaRPr lang="en-CA" smtClean="0"/>
          </a:p>
          <a:p>
            <a:endParaRPr lang="en-CA" smtClean="0"/>
          </a:p>
          <a:p>
            <a:r>
              <a:rPr lang="en-CA" smtClean="0"/>
              <a:t>Copy converter 30~50 times slower</a:t>
            </a:r>
          </a:p>
          <a:p>
            <a:r>
              <a:rPr lang="en-CA" smtClean="0"/>
              <a:t>Overhead of using Spiffy at most 16.7%</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35</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228874709"/>
              </p:ext>
            </p:extLst>
          </p:nvPr>
        </p:nvGraphicFramePr>
        <p:xfrm>
          <a:off x="1420739" y="1630018"/>
          <a:ext cx="8167835" cy="428342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smtClean="0"/>
              <a:t>Spiffy framework</a:t>
            </a:r>
          </a:p>
          <a:p>
            <a:pPr lvl="1"/>
            <a:r>
              <a:rPr lang="en-CA" smtClean="0"/>
              <a:t>Annotation language for specifying file system format</a:t>
            </a:r>
          </a:p>
          <a:p>
            <a:pPr lvl="1"/>
            <a:r>
              <a:rPr lang="en-CA" smtClean="0"/>
              <a:t>API for interpreting, and traversing file system metadata</a:t>
            </a:r>
          </a:p>
          <a:p>
            <a:pPr lvl="2"/>
            <a:r>
              <a:rPr lang="en-CA" smtClean="0"/>
              <a:t>Simplifies development of file-system aware applications</a:t>
            </a:r>
          </a:p>
          <a:p>
            <a:pPr lvl="2"/>
            <a:r>
              <a:rPr lang="en-CA" smtClean="0"/>
              <a:t>Reduces file-system specific code</a:t>
            </a:r>
          </a:p>
          <a:p>
            <a:pPr lvl="2"/>
            <a:r>
              <a:rPr lang="en-CA" smtClean="0"/>
              <a:t>Enables code reuse across file systems</a:t>
            </a:r>
          </a:p>
          <a:p>
            <a:pPr lvl="1"/>
            <a:r>
              <a:rPr lang="en-CA" smtClean="0"/>
              <a:t>Generated library from annotated data structures</a:t>
            </a:r>
          </a:p>
          <a:p>
            <a:pPr lvl="2"/>
            <a:r>
              <a:rPr lang="en-CA" smtClean="0"/>
              <a:t>Robust against file system corruption</a:t>
            </a:r>
          </a:p>
          <a:p>
            <a:pPr lvl="2"/>
            <a:r>
              <a:rPr lang="en-CA" smtClean="0"/>
              <a:t>Achieves good performance</a:t>
            </a:r>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36</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Programming Effort</a:t>
            </a:r>
            <a:endParaRPr lang="en-CA" dirty="0"/>
          </a:p>
        </p:txBody>
      </p:sp>
      <p:sp>
        <p:nvSpPr>
          <p:cNvPr id="3" name="Content Placeholder 2"/>
          <p:cNvSpPr>
            <a:spLocks noGrp="1"/>
          </p:cNvSpPr>
          <p:nvPr>
            <p:ph idx="1"/>
          </p:nvPr>
        </p:nvSpPr>
        <p:spPr/>
        <p:txBody>
          <a:bodyPr/>
          <a:lstStyle/>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Programming effort reduced for read-only file system applications</a:t>
            </a:r>
          </a:p>
          <a:p>
            <a:pPr lvl="1"/>
            <a:r>
              <a:rPr lang="en-CA" smtClean="0"/>
              <a:t>Both online and offline</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37</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 xmlns:a16="http://schemas.microsoft.com/office/drawing/2014/main" val="20000"/>
                    </a:ext>
                  </a:extLst>
                </a:gridCol>
                <a:gridCol w="2017336">
                  <a:extLst>
                    <a:ext uri="{9D8B030D-6E8A-4147-A177-3AD203B41FA5}">
                      <a16:colId xmlns="" xmlns:a16="http://schemas.microsoft.com/office/drawing/2014/main" val="20001"/>
                    </a:ext>
                  </a:extLst>
                </a:gridCol>
                <a:gridCol w="3289955">
                  <a:extLst>
                    <a:ext uri="{9D8B030D-6E8A-4147-A177-3AD203B41FA5}">
                      <a16:colId xmlns="" xmlns:a16="http://schemas.microsoft.com/office/drawing/2014/main"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 xmlns:a16="http://schemas.microsoft.com/office/drawing/2014/main"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 xmlns:a16="http://schemas.microsoft.com/office/drawing/2014/main"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 xmlns:a16="http://schemas.microsoft.com/office/drawing/2014/main"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 xmlns:a16="http://schemas.microsoft.com/office/drawing/2014/main"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 xmlns:a16="http://schemas.microsoft.com/office/drawing/2014/main"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 xmlns:a16="http://schemas.microsoft.com/office/drawing/2014/main" val="10008"/>
                  </a:ext>
                </a:extLst>
              </a:tr>
            </a:tbl>
          </a:graphicData>
        </a:graphic>
      </p:graphicFrame>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Corruption Experiment</a:t>
            </a:r>
            <a:endParaRPr lang="en-CA" dirty="0"/>
          </a:p>
        </p:txBody>
      </p:sp>
      <p:sp>
        <p:nvSpPr>
          <p:cNvPr id="3" name="Content Placeholder 2"/>
          <p:cNvSpPr>
            <a:spLocks noGrp="1"/>
          </p:cNvSpPr>
          <p:nvPr>
            <p:ph idx="1"/>
          </p:nvPr>
        </p:nvSpPr>
        <p:spPr/>
        <p:txBody>
          <a:bodyPr/>
          <a:lstStyle/>
          <a:p>
            <a:r>
              <a:rPr lang="en-CA" smtClean="0"/>
              <a:t>Run Spiffy dump tool and existing dump tools on corrupt images</a:t>
            </a:r>
          </a:p>
          <a:p>
            <a:pPr lvl="1"/>
            <a:r>
              <a:rPr lang="en-CA" smtClean="0"/>
              <a:t>Corrupt images generated by type-specific corruptor</a:t>
            </a:r>
          </a:p>
          <a:p>
            <a:r>
              <a:rPr lang="en-CA" smtClean="0"/>
              <a:t>Spiffy is robust against corruption, 2 out of 3 existing tools crash:</a:t>
            </a:r>
          </a:p>
          <a:p>
            <a:endParaRPr lang="en-CA" smtClean="0"/>
          </a:p>
          <a:p>
            <a:endParaRPr lang="en-CA" smtClean="0"/>
          </a:p>
          <a:p>
            <a:endParaRPr lang="en-CA" smtClean="0"/>
          </a:p>
          <a:p>
            <a:endParaRPr lang="en-CA" smtClean="0"/>
          </a:p>
          <a:p>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38</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 xmlns:a16="http://schemas.microsoft.com/office/drawing/2014/main" val="20000"/>
                    </a:ext>
                  </a:extLst>
                </a:gridCol>
                <a:gridCol w="1357460">
                  <a:extLst>
                    <a:ext uri="{9D8B030D-6E8A-4147-A177-3AD203B41FA5}">
                      <a16:colId xmlns="" xmlns:a16="http://schemas.microsoft.com/office/drawing/2014/main" val="20001"/>
                    </a:ext>
                  </a:extLst>
                </a:gridCol>
                <a:gridCol w="2375554">
                  <a:extLst>
                    <a:ext uri="{9D8B030D-6E8A-4147-A177-3AD203B41FA5}">
                      <a16:colId xmlns="" xmlns:a16="http://schemas.microsoft.com/office/drawing/2014/main" val="20002"/>
                    </a:ext>
                  </a:extLst>
                </a:gridCol>
                <a:gridCol w="5165889">
                  <a:extLst>
                    <a:ext uri="{9D8B030D-6E8A-4147-A177-3AD203B41FA5}">
                      <a16:colId xmlns="" xmlns:a16="http://schemas.microsoft.com/office/drawing/2014/main"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 xmlns:a16="http://schemas.microsoft.com/office/drawing/2014/main"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 xmlns:a16="http://schemas.microsoft.com/office/drawing/2014/main"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 xmlns:a16="http://schemas.microsoft.com/office/drawing/2014/main"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 xmlns:a16="http://schemas.microsoft.com/office/drawing/2014/main"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 xmlns:a16="http://schemas.microsoft.com/office/drawing/2014/main"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 xmlns:a16="http://schemas.microsoft.com/office/drawing/2014/main" val="10006"/>
                  </a:ext>
                </a:extLst>
              </a:tr>
            </a:tbl>
          </a:graphicData>
        </a:graphic>
      </p:graphicFrame>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Preferential Caching</a:t>
            </a:r>
            <a:endParaRPr lang="en-CA" dirty="0"/>
          </a:p>
        </p:txBody>
      </p:sp>
      <p:sp>
        <p:nvSpPr>
          <p:cNvPr id="3" name="Content Placeholder 2"/>
          <p:cNvSpPr>
            <a:spLocks noGrp="1"/>
          </p:cNvSpPr>
          <p:nvPr>
            <p:ph idx="1"/>
          </p:nvPr>
        </p:nvSpPr>
        <p:spPr/>
        <p:txBody>
          <a:bodyPr/>
          <a:lstStyle/>
          <a:p>
            <a:r>
              <a:rPr lang="en-CA" smtClean="0"/>
              <a:t>2 identical fileservers running on block layer cache</a:t>
            </a:r>
          </a:p>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Overall performance improves with preferential caching</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39</a:t>
            </a:fld>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3095</TotalTime>
  <Words>5273</Words>
  <Application>Microsoft Office PowerPoint</Application>
  <PresentationFormat>Widescreen</PresentationFormat>
  <Paragraphs>632</Paragraphs>
  <Slides>39</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微軟正黑體</vt:lpstr>
      <vt:lpstr>Arial</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F2FS NID Address Space</vt:lpstr>
      <vt:lpstr>FSSUPER Annotation</vt:lpstr>
      <vt:lpstr>Missing Pointer</vt:lpstr>
      <vt:lpstr>Implicit Pointer</vt:lpstr>
      <vt:lpstr>WHEN expression</vt:lpstr>
      <vt:lpstr>Generating Spiffy Library</vt:lpstr>
      <vt:lpstr>Evaluation: Annotation Effort</vt:lpstr>
      <vt:lpstr>Building Application</vt:lpstr>
      <vt:lpstr>Manually-Written Application</vt:lpstr>
      <vt:lpstr>Manually-Written Application</vt:lpstr>
      <vt:lpstr>Manually-Written Application</vt:lpstr>
      <vt:lpstr>Spiffy Application</vt:lpstr>
      <vt:lpstr>Spiffy Application</vt:lpstr>
      <vt:lpstr>Type-Specific Corruptor</vt:lpstr>
      <vt:lpstr>File System Conversion Tool</vt:lpstr>
      <vt:lpstr>Spiffy Block Layer Cache</vt:lpstr>
      <vt:lpstr>Offline Spiffy Applications</vt:lpstr>
      <vt:lpstr>Online Applications</vt:lpstr>
      <vt:lpstr>Evaluation: Ext4 to F2FS Converter</vt:lpstr>
      <vt:lpstr>Conclusion</vt:lpstr>
      <vt:lpstr>Evaluation: Programming Effort</vt:lpstr>
      <vt:lpstr>Evaluation: Corruption Experiment</vt:lpstr>
      <vt:lpstr>Evaluation: Preferential Caching</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220</cp:revision>
  <dcterms:created xsi:type="dcterms:W3CDTF">2018-01-30T09:02:25Z</dcterms:created>
  <dcterms:modified xsi:type="dcterms:W3CDTF">2018-02-09T18:35:56Z</dcterms:modified>
</cp:coreProperties>
</file>