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4"/>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22" r:id="rId18"/>
    <p:sldId id="321" r:id="rId19"/>
    <p:sldId id="318" r:id="rId20"/>
    <p:sldId id="331" r:id="rId21"/>
    <p:sldId id="311" r:id="rId22"/>
    <p:sldId id="283" r:id="rId23"/>
    <p:sldId id="306" r:id="rId24"/>
    <p:sldId id="271" r:id="rId25"/>
    <p:sldId id="312" r:id="rId26"/>
    <p:sldId id="268" r:id="rId27"/>
    <p:sldId id="267" r:id="rId28"/>
    <p:sldId id="328" r:id="rId29"/>
    <p:sldId id="329" r:id="rId30"/>
    <p:sldId id="323" r:id="rId31"/>
    <p:sldId id="330" r:id="rId32"/>
    <p:sldId id="324" r:id="rId33"/>
    <p:sldId id="325" r:id="rId34"/>
    <p:sldId id="281" r:id="rId35"/>
    <p:sldId id="326" r:id="rId36"/>
    <p:sldId id="258" r:id="rId37"/>
    <p:sldId id="332" r:id="rId38"/>
    <p:sldId id="259" r:id="rId39"/>
    <p:sldId id="261" r:id="rId40"/>
    <p:sldId id="260" r:id="rId41"/>
    <p:sldId id="327" r:id="rId42"/>
    <p:sldId id="32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861541D-2620-421F-9E2E-648A24C65F11}">
          <p14:sldIdLst>
            <p14:sldId id="256"/>
            <p14:sldId id="288"/>
            <p14:sldId id="290"/>
            <p14:sldId id="289"/>
            <p14:sldId id="291"/>
            <p14:sldId id="309"/>
            <p14:sldId id="293"/>
            <p14:sldId id="294"/>
            <p14:sldId id="295"/>
            <p14:sldId id="301"/>
            <p14:sldId id="308"/>
            <p14:sldId id="313"/>
            <p14:sldId id="314"/>
            <p14:sldId id="298"/>
            <p14:sldId id="315"/>
            <p14:sldId id="316"/>
            <p14:sldId id="322"/>
            <p14:sldId id="321"/>
            <p14:sldId id="318"/>
            <p14:sldId id="331"/>
            <p14:sldId id="311"/>
            <p14:sldId id="283"/>
            <p14:sldId id="306"/>
            <p14:sldId id="271"/>
            <p14:sldId id="312"/>
            <p14:sldId id="268"/>
            <p14:sldId id="267"/>
            <p14:sldId id="328"/>
            <p14:sldId id="329"/>
            <p14:sldId id="323"/>
            <p14:sldId id="330"/>
            <p14:sldId id="324"/>
            <p14:sldId id="325"/>
            <p14:sldId id="281"/>
            <p14:sldId id="326"/>
            <p14:sldId id="258"/>
            <p14:sldId id="332"/>
            <p14:sldId id="259"/>
            <p14:sldId id="261"/>
            <p14:sldId id="260"/>
            <p14:sldId id="327"/>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207" autoAdjust="0"/>
  </p:normalViewPr>
  <p:slideViewPr>
    <p:cSldViewPr snapToGrid="0">
      <p:cViewPr varScale="1">
        <p:scale>
          <a:sx n="90" d="100"/>
          <a:sy n="90" d="100"/>
        </p:scale>
        <p:origin x="55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5.9911271909187234E-2"/>
          <c:w val="0.53601315044091302"/>
          <c:h val="0.747351351351351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282120720"/>
        <c:axId val="282113648"/>
      </c:lineChart>
      <c:catAx>
        <c:axId val="282120720"/>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7198242241862016"/>
              <c:y val="0.847156566390116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282113648"/>
        <c:crosses val="autoZero"/>
        <c:auto val="0"/>
        <c:lblAlgn val="ctr"/>
        <c:lblOffset val="100"/>
        <c:noMultiLvlLbl val="0"/>
      </c:catAx>
      <c:valAx>
        <c:axId val="282113648"/>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282120720"/>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282120176"/>
        <c:axId val="282111472"/>
      </c:barChart>
      <c:catAx>
        <c:axId val="282120176"/>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2111472"/>
        <c:crosses val="autoZero"/>
        <c:auto val="1"/>
        <c:lblAlgn val="ctr"/>
        <c:lblOffset val="100"/>
        <c:noMultiLvlLbl val="1"/>
      </c:catAx>
      <c:valAx>
        <c:axId val="282111472"/>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82120176"/>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block, file and NID address 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1212408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95146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a:t>
            </a:r>
            <a:r>
              <a:rPr lang="en-CA" dirty="0" smtClean="0"/>
              <a:t>E.g. the Ext4 block group descriptor table is the next block following the super block, but the</a:t>
            </a:r>
            <a:r>
              <a:rPr lang="en-CA" baseline="0" dirty="0" smtClean="0"/>
              <a:t> </a:t>
            </a:r>
            <a:r>
              <a:rPr lang="en-CA" dirty="0" smtClean="0"/>
              <a:t>Ext4 super block does not have a </a:t>
            </a:r>
            <a:r>
              <a:rPr lang="en-CA" dirty="0" smtClean="0"/>
              <a:t>field </a:t>
            </a:r>
            <a:r>
              <a:rPr lang="en-CA" dirty="0" smtClean="0"/>
              <a:t>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t>
            </a:r>
            <a:r>
              <a:rPr lang="en-CA" baseline="0" dirty="0" err="1" smtClean="0"/>
              <a:t>and</a:t>
            </a:r>
            <a:r>
              <a:rPr lang="en-CA" baseline="0" dirty="0" smtClean="0"/>
              <a:t>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p>
          <a:p>
            <a:endParaRPr lang="en-CA" dirty="0" smtClean="0"/>
          </a:p>
          <a:p>
            <a:r>
              <a:rPr lang="en-CA" dirty="0" smtClean="0"/>
              <a:t>In</a:t>
            </a:r>
            <a:r>
              <a:rPr lang="en-CA" baseline="0" dirty="0" smtClean="0"/>
              <a:t> this example, the pointer annotation creates a logical field called </a:t>
            </a:r>
            <a:r>
              <a:rPr lang="en-CA" baseline="0" dirty="0" err="1" smtClean="0"/>
              <a:t>s_block_group_desc</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table.</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In</a:t>
            </a:r>
            <a:r>
              <a:rPr lang="en-CA" baseline="0" dirty="0" smtClean="0"/>
              <a:t> this example, there are two pointer annotation to the same </a:t>
            </a:r>
            <a:r>
              <a:rPr lang="en-CA" baseline="0" dirty="0" err="1" smtClean="0"/>
              <a:t>i_block</a:t>
            </a:r>
            <a:r>
              <a:rPr lang="en-CA" baseline="0" dirty="0" smtClean="0"/>
              <a:t> array. The first annotation specified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The second annotation specified that this same </a:t>
            </a:r>
            <a:r>
              <a:rPr lang="en-CA" baseline="0" dirty="0" err="1" smtClean="0"/>
              <a:t>i_block</a:t>
            </a:r>
            <a:r>
              <a:rPr lang="en-CA" baseline="0" dirty="0" smtClean="0"/>
              <a:t> is an array of pointers to </a:t>
            </a:r>
            <a:r>
              <a:rPr lang="en-CA" baseline="0" dirty="0" err="1" smtClean="0"/>
              <a:t>data_blocks</a:t>
            </a:r>
            <a:r>
              <a:rPr lang="en-CA" baseline="0" dirty="0" smtClean="0"/>
              <a:t>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21674246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a:t>
            </a:r>
            <a:r>
              <a:rPr lang="en-CA" baseline="0" dirty="0" smtClean="0"/>
              <a:t>top example, </a:t>
            </a:r>
            <a:r>
              <a:rPr lang="en-CA" baseline="0" dirty="0" smtClean="0"/>
              <a:t>we specify that the block size must be at most 64KB, and the magic field of the super block must be the Ext4 </a:t>
            </a:r>
            <a:r>
              <a:rPr lang="en-CA" baseline="0" dirty="0" smtClean="0"/>
              <a:t>magic </a:t>
            </a:r>
            <a:r>
              <a:rPr lang="en-CA" baseline="0" dirty="0" smtClean="0"/>
              <a:t>number.</a:t>
            </a:r>
            <a:endParaRPr lang="en-CA"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a:t>
            </a:r>
            <a:r>
              <a:rPr lang="en-CA" baseline="0" dirty="0" smtClean="0"/>
              <a:t>bottom example shows a </a:t>
            </a:r>
            <a:r>
              <a:rPr lang="en-CA" baseline="0" dirty="0" smtClean="0"/>
              <a:t>fragment of the generated parsing code for the Ext4 super block. This example shows how the check annotations are implemented. These checks help detect super block metadata corruption</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595412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a:t>
            </a:r>
            <a:r>
              <a:rPr lang="en-CA" baseline="0" dirty="0" smtClean="0"/>
              <a:t>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a:t>
            </a:r>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22</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highlighted in yellow,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a:t>
            </a:r>
            <a:r>
              <a:rPr lang="en-CA" baseline="0" dirty="0" smtClean="0"/>
              <a:t>this function </a:t>
            </a:r>
            <a:r>
              <a:rPr lang="en-CA" baseline="0" dirty="0" smtClean="0"/>
              <a:t>on the slide, we have shown </a:t>
            </a:r>
            <a:r>
              <a:rPr lang="en-CA" baseline="0" dirty="0" smtClean="0"/>
              <a:t>it without </a:t>
            </a:r>
            <a:r>
              <a:rPr lang="en-CA" baseline="0" dirty="0" smtClean="0"/>
              <a:t>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2094793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3945045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a:t>
            </a:r>
            <a:r>
              <a:rPr lang="en-CA" baseline="0" dirty="0" err="1" smtClean="0"/>
              <a:t>process_by_type</a:t>
            </a:r>
            <a:r>
              <a:rPr lang="en-CA" baseline="0" dirty="0" smtClean="0"/>
              <a:t>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28822580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dump.f2fs. Incidentally, none of these bugs 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32</a:t>
            </a:fld>
            <a:endParaRPr lang="en-CA"/>
          </a:p>
        </p:txBody>
      </p:sp>
    </p:spTree>
    <p:extLst>
      <p:ext uri="{BB962C8B-B14F-4D97-AF65-F5344CB8AC3E}">
        <p14:creationId xmlns:p14="http://schemas.microsoft.com/office/powerpoint/2010/main" val="16916630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698671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also implemented a file-system aware</a:t>
            </a:r>
            <a:r>
              <a:rPr lang="en-CA" baseline="0" dirty="0" smtClean="0"/>
              <a:t> block layer caching framework that s</a:t>
            </a:r>
            <a:r>
              <a:rPr lang="en-CA" dirty="0" smtClean="0"/>
              <a:t>upports a rich set of caching policies.</a:t>
            </a:r>
            <a:r>
              <a:rPr lang="en-CA" baseline="0" dirty="0" smtClean="0"/>
              <a:t> These policy </a:t>
            </a:r>
            <a:r>
              <a:rPr lang="en-CA" dirty="0" smtClean="0"/>
              <a:t>require file-system specific information,</a:t>
            </a:r>
            <a:r>
              <a:rPr lang="en-CA" baseline="0" dirty="0" smtClean="0"/>
              <a:t> e.g.,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block.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a:t>
            </a:r>
            <a:r>
              <a:rPr lang="en-CA" dirty="0" err="1" smtClean="0"/>
              <a:t>Spiify</a:t>
            </a:r>
            <a:r>
              <a:rPr lang="en-CA" dirty="0" smtClean="0"/>
              <a:t>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a:p>
            <a:endParaRPr lang="en-CA" dirty="0" smtClean="0"/>
          </a:p>
          <a:p>
            <a:r>
              <a:rPr lang="en-CA" dirty="0" smtClean="0"/>
              <a:t>Roughly 5% of the</a:t>
            </a:r>
            <a:r>
              <a:rPr lang="en-CA" baseline="0" dirty="0" smtClean="0"/>
              <a:t> generic interpretation and caching policy code</a:t>
            </a:r>
            <a:r>
              <a:rPr lang="en-CA" baseline="0" dirty="0" smtClean="0"/>
              <a:t>.</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1879014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38</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39</a:t>
            </a:fld>
            <a:endParaRPr lang="en-CA"/>
          </a:p>
        </p:txBody>
      </p:sp>
    </p:spTree>
    <p:extLst>
      <p:ext uri="{BB962C8B-B14F-4D97-AF65-F5344CB8AC3E}">
        <p14:creationId xmlns:p14="http://schemas.microsoft.com/office/powerpoint/2010/main" val="42252104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42</a:t>
            </a:fld>
            <a:endParaRPr lang="en-CA"/>
          </a:p>
        </p:txBody>
      </p:sp>
    </p:spTree>
    <p:extLst>
      <p:ext uri="{BB962C8B-B14F-4D97-AF65-F5344CB8AC3E}">
        <p14:creationId xmlns:p14="http://schemas.microsoft.com/office/powerpoint/2010/main" val="393257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2018-02-09</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5400" b="0" cap="none" baseline="0">
                <a:solidFill>
                  <a:schemeClr val="tx1"/>
                </a:solidFill>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smtClean="0"/>
              <a:t>Click to edit Master text styles</a:t>
            </a:r>
          </a:p>
        </p:txBody>
      </p:sp>
      <p:sp>
        <p:nvSpPr>
          <p:cNvPr id="4" name="Date Placeholder 3"/>
          <p:cNvSpPr>
            <a:spLocks noGrp="1"/>
          </p:cNvSpPr>
          <p:nvPr>
            <p:ph type="dt" sz="half" idx="10"/>
          </p:nvPr>
        </p:nvSpPr>
        <p:spPr/>
        <p:txBody>
          <a:bodyPr/>
          <a:lstStyle>
            <a:lvl1pPr>
              <a:defRPr>
                <a:solidFill>
                  <a:schemeClr val="tx1"/>
                </a:solidFill>
              </a:defRPr>
            </a:lvl1pPr>
          </a:lstStyle>
          <a:p>
            <a:fld id="{7D257ED4-7149-4100-B966-397E56D6DA55}" type="datetime1">
              <a:rPr lang="en-CA" smtClean="0"/>
              <a:pPr/>
              <a:t>2018-02-09</a:t>
            </a:fld>
            <a:endParaRPr lang="en-CA"/>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CA"/>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7B2023C8-B124-43A9-8F92-0EEF5BAA9995}" type="slidenum">
              <a:rPr lang="en-CA" smtClean="0"/>
              <a:pPr/>
              <a:t>‹#›</a:t>
            </a:fld>
            <a:endParaRPr lang="en-CA"/>
          </a:p>
        </p:txBody>
      </p:sp>
      <p:grpSp>
        <p:nvGrpSpPr>
          <p:cNvPr id="7" name="Group 6"/>
          <p:cNvGrpSpPr/>
          <p:nvPr userDrawn="1"/>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2018-02-09</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707066"/>
            <a:ext cx="9129091" cy="2167468"/>
          </a:xfrm>
        </p:spPr>
        <p:txBody>
          <a:bodyPr>
            <a:normAutofit fontScale="90000"/>
          </a:bodyPr>
          <a:lstStyle/>
          <a:p>
            <a:r>
              <a:rPr lang="en-CA" dirty="0" smtClean="0"/>
              <a:t>Spiffy: Enabling File-System Aware Storage </a:t>
            </a:r>
            <a:r>
              <a:rPr lang="en-CA" dirty="0" smtClean="0"/>
              <a:t>Applications</a:t>
            </a:r>
            <a:br>
              <a:rPr lang="en-CA" dirty="0" smtClean="0"/>
            </a:br>
            <a:endParaRPr lang="en-CA" dirty="0"/>
          </a:p>
        </p:txBody>
      </p:sp>
      <p:sp>
        <p:nvSpPr>
          <p:cNvPr id="3" name="Subtitle 2"/>
          <p:cNvSpPr>
            <a:spLocks noGrp="1"/>
          </p:cNvSpPr>
          <p:nvPr>
            <p:ph type="subTitle" idx="1"/>
          </p:nvPr>
        </p:nvSpPr>
        <p:spPr>
          <a:xfrm>
            <a:off x="684211" y="3037337"/>
            <a:ext cx="8863825" cy="2753864"/>
          </a:xfrm>
        </p:spPr>
        <p:txBody>
          <a:bodyPr/>
          <a:lstStyle/>
          <a:p>
            <a:r>
              <a:rPr lang="en-CA" dirty="0" err="1" smtClean="0"/>
              <a:t>Kue</a:t>
            </a:r>
            <a:r>
              <a:rPr lang="en-CA" dirty="0" err="1" smtClean="0"/>
              <a:t>i</a:t>
            </a:r>
            <a:r>
              <a:rPr lang="en-CA" dirty="0" smtClean="0"/>
              <a:t> (</a:t>
            </a:r>
            <a:r>
              <a:rPr lang="en-CA" dirty="0" smtClean="0"/>
              <a:t>Jack) </a:t>
            </a:r>
            <a:r>
              <a:rPr lang="en-CA" dirty="0" smtClean="0"/>
              <a:t>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glow rad="101600">
                    <a:srgbClr val="FFFF00">
                      <a:alpha val="40000"/>
                    </a:srgbClr>
                  </a:glow>
                </a:effectLst>
              </a:rPr>
              <a:t>Annotations</a:t>
            </a:r>
            <a:endParaRPr lang="en-CA" b="1" dirty="0">
              <a:solidFill>
                <a:schemeClr val="bg1"/>
              </a:solidFill>
              <a:effectLst>
                <a:glow rad="101600">
                  <a:srgbClr val="FFFF00">
                    <a:alpha val="40000"/>
                  </a:srgbClr>
                </a:glow>
              </a:effectLst>
            </a:endParaRPr>
          </a:p>
        </p:txBody>
      </p:sp>
      <p:grpSp>
        <p:nvGrpSpPr>
          <p:cNvPr id="103" name="Group 102"/>
          <p:cNvGrpSpPr/>
          <p:nvPr/>
        </p:nvGrpSpPr>
        <p:grpSpPr>
          <a:xfrm>
            <a:off x="2799312" y="4644061"/>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4" name="Rounded Rectangle 93"/>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95" name="Group 94"/>
          <p:cNvGrpSpPr/>
          <p:nvPr/>
        </p:nvGrpSpPr>
        <p:grpSpPr>
          <a:xfrm>
            <a:off x="5689716" y="3421506"/>
            <a:ext cx="1761066" cy="944513"/>
            <a:chOff x="6493933" y="3749526"/>
            <a:chExt cx="1761066" cy="944513"/>
          </a:xfrm>
          <a:effectLst/>
        </p:grpSpPr>
        <p:sp>
          <p:nvSpPr>
            <p:cNvPr id="101" name="Rectangle 100"/>
            <p:cNvSpPr/>
            <p:nvPr/>
          </p:nvSpPr>
          <p:spPr>
            <a:xfrm>
              <a:off x="6493933" y="3749526"/>
              <a:ext cx="1004159"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118" name="Rectangle 117"/>
            <p:cNvSpPr/>
            <p:nvPr/>
          </p:nvSpPr>
          <p:spPr>
            <a:xfrm>
              <a:off x="7498092" y="3749526"/>
              <a:ext cx="756907" cy="944513"/>
            </a:xfrm>
            <a:prstGeom prst="rect">
              <a:avLst/>
            </a:prstGeom>
            <a:solidFill>
              <a:srgbClr val="FFFF00"/>
            </a:solid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15" name="Rectangle 14"/>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sp>
        <p:nvSpPr>
          <p:cNvPr id="16" name="Rectangle 15"/>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17" name="Rectangle 16"/>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nvGrpSpPr>
          <p:cNvPr id="68" name="Group 67"/>
          <p:cNvGrpSpPr/>
          <p:nvPr/>
        </p:nvGrpSpPr>
        <p:grpSpPr>
          <a:xfrm>
            <a:off x="2799312" y="4644061"/>
            <a:ext cx="598488" cy="1292225"/>
            <a:chOff x="4859338" y="3776663"/>
            <a:chExt cx="598488" cy="1292225"/>
          </a:xfrm>
        </p:grpSpPr>
        <p:sp>
          <p:nvSpPr>
            <p:cNvPr id="69"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0"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2"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3"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4"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5"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6"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7"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78"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9"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0"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1"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2"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0"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1"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grpSp>
        <p:nvGrpSpPr>
          <p:cNvPr id="91" name="Group 90"/>
          <p:cNvGrpSpPr/>
          <p:nvPr/>
        </p:nvGrpSpPr>
        <p:grpSpPr>
          <a:xfrm>
            <a:off x="8195402" y="3009900"/>
            <a:ext cx="1882875" cy="1978991"/>
            <a:chOff x="8681092" y="3099999"/>
            <a:chExt cx="1411173" cy="1715949"/>
          </a:xfrm>
          <a:solidFill>
            <a:srgbClr val="FFFF00"/>
          </a:solidFill>
          <a:effectLst/>
        </p:grpSpPr>
        <p:sp>
          <p:nvSpPr>
            <p:cNvPr id="94" name="Rectangle 93"/>
            <p:cNvSpPr/>
            <p:nvPr/>
          </p:nvSpPr>
          <p:spPr>
            <a:xfrm>
              <a:off x="8681092" y="3099999"/>
              <a:ext cx="1411173" cy="1075731"/>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Generic Application</a:t>
              </a:r>
              <a:endParaRPr lang="en-CA" b="1" dirty="0">
                <a:solidFill>
                  <a:schemeClr val="bg1"/>
                </a:solidFill>
              </a:endParaRPr>
            </a:p>
          </p:txBody>
        </p:sp>
        <p:sp>
          <p:nvSpPr>
            <p:cNvPr id="95" name="Rectangle 94"/>
            <p:cNvSpPr/>
            <p:nvPr/>
          </p:nvSpPr>
          <p:spPr>
            <a:xfrm>
              <a:off x="8681092" y="4175730"/>
              <a:ext cx="1411173" cy="640218"/>
            </a:xfrm>
            <a:prstGeom prst="rect">
              <a:avLst/>
            </a:prstGeom>
            <a:grp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File-System Specific Logic</a:t>
              </a:r>
              <a:endParaRPr lang="en-CA" b="1" dirty="0">
                <a:solidFill>
                  <a:schemeClr val="bg1"/>
                </a:solidFill>
              </a:endParaRPr>
            </a:p>
          </p:txBody>
        </p:sp>
      </p:grpSp>
      <p:sp>
        <p:nvSpPr>
          <p:cNvPr id="93" name="Right Arrow 92"/>
          <p:cNvSpPr/>
          <p:nvPr/>
        </p:nvSpPr>
        <p:spPr>
          <a:xfrm>
            <a:off x="7664594"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428474" y="5141490"/>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err="1" smtClean="0">
                <a:solidFill>
                  <a:schemeClr val="bg1"/>
                </a:solidFill>
              </a:rPr>
              <a:t>ApplicationDeveloper</a:t>
            </a:r>
            <a:endParaRPr lang="en-CA" dirty="0">
              <a:solidFill>
                <a:schemeClr val="bg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891608"/>
            <a:ext cx="1219803" cy="1219846"/>
          </a:xfrm>
          <a:prstGeom prst="rect">
            <a:avLst/>
          </a:prstGeom>
        </p:spPr>
      </p:pic>
      <p:sp>
        <p:nvSpPr>
          <p:cNvPr id="21" name="Right Arrow 20"/>
          <p:cNvSpPr/>
          <p:nvPr/>
        </p:nvSpPr>
        <p:spPr>
          <a:xfrm>
            <a:off x="2974282"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2" name="Rounded Rectangle 21"/>
          <p:cNvSpPr/>
          <p:nvPr/>
        </p:nvSpPr>
        <p:spPr>
          <a:xfrm>
            <a:off x="3505093" y="3438240"/>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tx1"/>
                </a:solidFill>
              </a:rPr>
              <a:t>Spiffy Compiler</a:t>
            </a:r>
            <a:endParaRPr lang="en-CA" b="1" dirty="0">
              <a:solidFill>
                <a:schemeClr val="tx1"/>
              </a:solidFill>
            </a:endParaRPr>
          </a:p>
        </p:txBody>
      </p:sp>
      <p:grpSp>
        <p:nvGrpSpPr>
          <p:cNvPr id="23" name="Group 22"/>
          <p:cNvGrpSpPr/>
          <p:nvPr/>
        </p:nvGrpSpPr>
        <p:grpSpPr>
          <a:xfrm>
            <a:off x="5689716" y="3438240"/>
            <a:ext cx="1761066" cy="944513"/>
            <a:chOff x="6493933" y="3749526"/>
            <a:chExt cx="1761066" cy="944513"/>
          </a:xfrm>
          <a:effectLst/>
        </p:grpSpPr>
        <p:sp>
          <p:nvSpPr>
            <p:cNvPr id="24" name="Rectangle 23"/>
            <p:cNvSpPr/>
            <p:nvPr/>
          </p:nvSpPr>
          <p:spPr>
            <a:xfrm>
              <a:off x="6493933" y="3749526"/>
              <a:ext cx="1004159"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Spiffy Library</a:t>
              </a:r>
              <a:endParaRPr lang="en-CA" b="1" dirty="0">
                <a:solidFill>
                  <a:schemeClr val="bg1"/>
                </a:solidFill>
                <a:effectLst/>
              </a:endParaRPr>
            </a:p>
          </p:txBody>
        </p:sp>
        <p:sp>
          <p:nvSpPr>
            <p:cNvPr id="25" name="Rectangle 24"/>
            <p:cNvSpPr/>
            <p:nvPr/>
          </p:nvSpPr>
          <p:spPr>
            <a:xfrm>
              <a:off x="7498092" y="3749526"/>
              <a:ext cx="756907" cy="944513"/>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Spiffy API</a:t>
              </a:r>
              <a:endParaRPr lang="en-CA" b="1" dirty="0">
                <a:solidFill>
                  <a:schemeClr val="bg1"/>
                </a:solidFill>
              </a:endParaRPr>
            </a:p>
          </p:txBody>
        </p:sp>
      </p:grpSp>
      <p:sp>
        <p:nvSpPr>
          <p:cNvPr id="26" name="Right Arrow 25"/>
          <p:cNvSpPr/>
          <p:nvPr/>
        </p:nvSpPr>
        <p:spPr>
          <a:xfrm>
            <a:off x="5158905" y="3795046"/>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27" name="Rectangle 26"/>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System Developer</a:t>
            </a:r>
            <a:endParaRPr lang="en-CA" dirty="0">
              <a:solidFill>
                <a:schemeClr val="bg1"/>
              </a:solidFill>
            </a:endParaRPr>
          </a:p>
        </p:txBody>
      </p:sp>
      <p:grpSp>
        <p:nvGrpSpPr>
          <p:cNvPr id="5" name="Group 4"/>
          <p:cNvGrpSpPr/>
          <p:nvPr/>
        </p:nvGrpSpPr>
        <p:grpSpPr>
          <a:xfrm>
            <a:off x="1320470" y="3200881"/>
            <a:ext cx="1440000" cy="1419231"/>
            <a:chOff x="1320470" y="3184147"/>
            <a:chExt cx="1440000" cy="1419231"/>
          </a:xfrm>
        </p:grpSpPr>
        <p:sp>
          <p:nvSpPr>
            <p:cNvPr id="28" name="Rectangle 27"/>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29" name="Rectangle 28"/>
            <p:cNvSpPr/>
            <p:nvPr/>
          </p:nvSpPr>
          <p:spPr>
            <a:xfrm>
              <a:off x="1320470" y="4131121"/>
              <a:ext cx="1440000" cy="472257"/>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effectLst/>
                </a:rPr>
                <a:t>Annotations</a:t>
              </a:r>
              <a:endParaRPr lang="en-CA" b="1" dirty="0">
                <a:solidFill>
                  <a:schemeClr val="bg1"/>
                </a:solidFill>
                <a:effectLst/>
              </a:endParaRPr>
            </a:p>
          </p:txBody>
        </p:sp>
      </p:grpSp>
      <p:grpSp>
        <p:nvGrpSpPr>
          <p:cNvPr id="80" name="Group 79"/>
          <p:cNvGrpSpPr/>
          <p:nvPr/>
        </p:nvGrpSpPr>
        <p:grpSpPr>
          <a:xfrm>
            <a:off x="2799312" y="4644061"/>
            <a:ext cx="598488" cy="1292225"/>
            <a:chOff x="4859338" y="3776663"/>
            <a:chExt cx="598488" cy="1292225"/>
          </a:xfrm>
        </p:grpSpPr>
        <p:sp>
          <p:nvSpPr>
            <p:cNvPr id="8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8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8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1"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4"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0"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11"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2"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structure definitions in source files are incomplete</a:t>
            </a:r>
          </a:p>
          <a:p>
            <a:pPr lvl="1"/>
            <a:endParaRPr lang="en-CA" dirty="0" smtClean="0"/>
          </a:p>
          <a:p>
            <a:pPr lvl="1"/>
            <a:endParaRPr lang="en-CA" dirty="0" smtClean="0"/>
          </a:p>
          <a:p>
            <a:pPr lvl="1"/>
            <a:endParaRPr lang="en-CA" dirty="0" smtClean="0"/>
          </a:p>
          <a:p>
            <a:pPr lvl="1"/>
            <a:endParaRPr lang="en-CA" dirty="0" smtClean="0"/>
          </a:p>
          <a:p>
            <a:pPr lvl="1"/>
            <a:r>
              <a:rPr lang="en-CA" dirty="0" err="1" smtClean="0"/>
              <a:t>bar_block_ptr</a:t>
            </a:r>
            <a:r>
              <a:rPr lang="en-CA" dirty="0" smtClean="0"/>
              <a:t> is “probably” a 32-bit little endian pointer to type “</a:t>
            </a:r>
            <a:r>
              <a:rPr lang="en-CA" dirty="0" err="1" smtClean="0"/>
              <a:t>bar_block</a:t>
            </a:r>
            <a:r>
              <a:rPr lang="en-CA" dirty="0" smtClean="0"/>
              <a:t>”</a:t>
            </a:r>
          </a:p>
          <a:p>
            <a:pPr lvl="1"/>
            <a:r>
              <a:rPr lang="en-CA" dirty="0"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grpSp>
        <p:nvGrpSpPr>
          <p:cNvPr id="96" name="Group 95"/>
          <p:cNvGrpSpPr/>
          <p:nvPr/>
        </p:nvGrpSpPr>
        <p:grpSpPr>
          <a:xfrm>
            <a:off x="344346" y="3973747"/>
            <a:ext cx="1179762" cy="940832"/>
            <a:chOff x="25154821" y="7455704"/>
            <a:chExt cx="2110198" cy="2062800"/>
          </a:xfrm>
          <a:solidFill>
            <a:schemeClr val="accent5">
              <a:lumMod val="40000"/>
              <a:lumOff val="60000"/>
            </a:schemeClr>
          </a:solidFill>
        </p:grpSpPr>
        <p:sp>
          <p:nvSpPr>
            <p:cNvPr id="102" name="Rectangle 10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3" name="Rectangle 102"/>
            <p:cNvSpPr/>
            <p:nvPr/>
          </p:nvSpPr>
          <p:spPr>
            <a:xfrm>
              <a:off x="25324825"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bitmap</a:t>
              </a:r>
              <a:endParaRPr lang="en-US" dirty="0">
                <a:solidFill>
                  <a:schemeClr val="bg1"/>
                </a:solidFill>
              </a:endParaRPr>
            </a:p>
          </p:txBody>
        </p:sp>
      </p:grpSp>
      <p:cxnSp>
        <p:nvCxnSpPr>
          <p:cNvPr id="98" name="Straight Arrow Connector 97"/>
          <p:cNvCxnSpPr/>
          <p:nvPr/>
        </p:nvCxnSpPr>
        <p:spPr>
          <a:xfrm flipH="1">
            <a:off x="895954" y="2115059"/>
            <a:ext cx="0" cy="3600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344346" y="1207568"/>
            <a:ext cx="1103217"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1" name="Rectangle 100"/>
          <p:cNvSpPr/>
          <p:nvPr/>
        </p:nvSpPr>
        <p:spPr>
          <a:xfrm>
            <a:off x="433223" y="1260430"/>
            <a:ext cx="925462" cy="59243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super block</a:t>
            </a:r>
            <a:endParaRPr lang="en-US" dirty="0">
              <a:solidFill>
                <a:schemeClr val="bg1"/>
              </a:solidFill>
            </a:endParaRPr>
          </a:p>
        </p:txBody>
      </p:sp>
      <p:grpSp>
        <p:nvGrpSpPr>
          <p:cNvPr id="108" name="Group 107"/>
          <p:cNvGrpSpPr/>
          <p:nvPr/>
        </p:nvGrpSpPr>
        <p:grpSpPr>
          <a:xfrm>
            <a:off x="2484771" y="1207568"/>
            <a:ext cx="3714385" cy="940832"/>
            <a:chOff x="24275265" y="2491036"/>
            <a:chExt cx="4669172" cy="1473330"/>
          </a:xfrm>
        </p:grpSpPr>
        <p:sp>
          <p:nvSpPr>
            <p:cNvPr id="109" name="Rectangle 108"/>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1" name="Rectangle 110"/>
            <p:cNvSpPr/>
            <p:nvPr/>
          </p:nvSpPr>
          <p:spPr>
            <a:xfrm>
              <a:off x="24366498" y="2604357"/>
              <a:ext cx="2165335"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a:t>
              </a:r>
              <a:endParaRPr lang="en-US" dirty="0">
                <a:solidFill>
                  <a:schemeClr val="bg1"/>
                </a:solidFill>
              </a:endParaRPr>
            </a:p>
          </p:txBody>
        </p:sp>
      </p:grpSp>
      <p:cxnSp>
        <p:nvCxnSpPr>
          <p:cNvPr id="112" name="Straight Arrow Connector 111"/>
          <p:cNvCxnSpPr>
            <a:stCxn id="100" idx="3"/>
            <a:endCxn id="109" idx="1"/>
          </p:cNvCxnSpPr>
          <p:nvPr/>
        </p:nvCxnSpPr>
        <p:spPr>
          <a:xfrm>
            <a:off x="1447563" y="1677984"/>
            <a:ext cx="1037208"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344345" y="2482748"/>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428061" y="2570215"/>
            <a:ext cx="2002008" cy="631849"/>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sp>
        <p:nvSpPr>
          <p:cNvPr id="94" name="Rounded Rectangle 93"/>
          <p:cNvSpPr/>
          <p:nvPr/>
        </p:nvSpPr>
        <p:spPr>
          <a:xfrm>
            <a:off x="2529818" y="2552616"/>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7" name="Straight Arrow Connector 96"/>
          <p:cNvCxnSpPr/>
          <p:nvPr/>
        </p:nvCxnSpPr>
        <p:spPr>
          <a:xfrm rot="5400000">
            <a:off x="1663279" y="2714823"/>
            <a:ext cx="537848" cy="1980000"/>
          </a:xfrm>
          <a:prstGeom prst="bentConnector3">
            <a:avLst>
              <a:gd name="adj1" fmla="val 3347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19" name="Group 118"/>
          <p:cNvGrpSpPr/>
          <p:nvPr/>
        </p:nvGrpSpPr>
        <p:grpSpPr>
          <a:xfrm>
            <a:off x="1680354" y="3973747"/>
            <a:ext cx="1175282" cy="940832"/>
            <a:chOff x="25154823" y="7455704"/>
            <a:chExt cx="2078542" cy="2062800"/>
          </a:xfrm>
          <a:solidFill>
            <a:schemeClr val="accent5">
              <a:lumMod val="40000"/>
              <a:lumOff val="60000"/>
            </a:schemeClr>
          </a:solidFill>
        </p:grpSpPr>
        <p:sp>
          <p:nvSpPr>
            <p:cNvPr id="120" name="Rectangle 119"/>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1" name="Rectangle 120"/>
            <p:cNvSpPr/>
            <p:nvPr/>
          </p:nvSpPr>
          <p:spPr>
            <a:xfrm>
              <a:off x="25324824" y="7614366"/>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bitmap</a:t>
              </a:r>
              <a:endParaRPr lang="en-US" dirty="0">
                <a:solidFill>
                  <a:schemeClr val="bg1"/>
                </a:solidFill>
              </a:endParaRPr>
            </a:p>
          </p:txBody>
        </p:sp>
      </p:grpSp>
      <p:sp>
        <p:nvSpPr>
          <p:cNvPr id="123" name="Rectangle 122"/>
          <p:cNvSpPr/>
          <p:nvPr/>
        </p:nvSpPr>
        <p:spPr>
          <a:xfrm>
            <a:off x="3011881" y="3972762"/>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096240" y="4042905"/>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120" idx="0"/>
          </p:cNvCxnSpPr>
          <p:nvPr/>
        </p:nvCxnSpPr>
        <p:spPr>
          <a:xfrm rot="5400000">
            <a:off x="2484925" y="3218969"/>
            <a:ext cx="537848" cy="971708"/>
          </a:xfrm>
          <a:prstGeom prst="bentConnector3">
            <a:avLst>
              <a:gd name="adj1" fmla="val 52362"/>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95682" y="2570215"/>
            <a:ext cx="1380879" cy="86171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flipH="1">
            <a:off x="3539246" y="3455917"/>
            <a:ext cx="0" cy="5400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024617" y="4042904"/>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442517" y="4042903"/>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579169" y="257021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40" name="TextBox 139"/>
          <p:cNvSpPr txBox="1"/>
          <p:nvPr/>
        </p:nvSpPr>
        <p:spPr>
          <a:xfrm>
            <a:off x="5450443" y="407829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nvGrpSpPr>
          <p:cNvPr id="141" name="Group 140"/>
          <p:cNvGrpSpPr/>
          <p:nvPr/>
        </p:nvGrpSpPr>
        <p:grpSpPr>
          <a:xfrm>
            <a:off x="6498596" y="5244095"/>
            <a:ext cx="1103217" cy="940832"/>
            <a:chOff x="25154821" y="7455704"/>
            <a:chExt cx="2110198" cy="2062800"/>
          </a:xfrm>
          <a:solidFill>
            <a:schemeClr val="accent5">
              <a:lumMod val="40000"/>
              <a:lumOff val="60000"/>
            </a:schemeClr>
          </a:solidFill>
        </p:grpSpPr>
        <p:sp>
          <p:nvSpPr>
            <p:cNvPr id="142" name="Rectangle 14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3" name="Rectangle 142"/>
            <p:cNvSpPr/>
            <p:nvPr/>
          </p:nvSpPr>
          <p:spPr>
            <a:xfrm>
              <a:off x="25324824" y="7614364"/>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r>
                <a:rPr lang="en-US" dirty="0" smtClean="0">
                  <a:solidFill>
                    <a:schemeClr val="bg1"/>
                  </a:solidFill>
                </a:rPr>
                <a:t> block</a:t>
              </a:r>
              <a:endParaRPr lang="en-US" dirty="0">
                <a:solidFill>
                  <a:schemeClr val="bg1"/>
                </a:solidFill>
              </a:endParaRPr>
            </a:p>
          </p:txBody>
        </p:sp>
      </p:grpSp>
      <p:grpSp>
        <p:nvGrpSpPr>
          <p:cNvPr id="144" name="Group 143"/>
          <p:cNvGrpSpPr/>
          <p:nvPr/>
        </p:nvGrpSpPr>
        <p:grpSpPr>
          <a:xfrm>
            <a:off x="8177361" y="3969806"/>
            <a:ext cx="1211564" cy="944774"/>
            <a:chOff x="25154821" y="7455704"/>
            <a:chExt cx="2110198" cy="2062800"/>
          </a:xfrm>
          <a:solidFill>
            <a:schemeClr val="accent5">
              <a:lumMod val="40000"/>
              <a:lumOff val="60000"/>
            </a:schemeClr>
          </a:solidFill>
        </p:grpSpPr>
        <p:sp>
          <p:nvSpPr>
            <p:cNvPr id="145" name="Rectangle 1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6" name="Rectangle 145"/>
            <p:cNvSpPr/>
            <p:nvPr/>
          </p:nvSpPr>
          <p:spPr>
            <a:xfrm>
              <a:off x="25324824" y="7615302"/>
              <a:ext cx="1770193" cy="17369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indirect</a:t>
              </a:r>
            </a:p>
            <a:p>
              <a:pPr algn="ctr"/>
              <a:r>
                <a:rPr lang="en-US" dirty="0" smtClean="0">
                  <a:solidFill>
                    <a:schemeClr val="bg1"/>
                  </a:solidFill>
                </a:rPr>
                <a:t>block</a:t>
              </a:r>
              <a:endParaRPr lang="en-US" dirty="0">
                <a:solidFill>
                  <a:schemeClr val="bg1"/>
                </a:solidFill>
              </a:endParaRPr>
            </a:p>
          </p:txBody>
        </p:sp>
      </p:grpSp>
      <p:grpSp>
        <p:nvGrpSpPr>
          <p:cNvPr id="151" name="Group 150"/>
          <p:cNvGrpSpPr/>
          <p:nvPr/>
        </p:nvGrpSpPr>
        <p:grpSpPr>
          <a:xfrm>
            <a:off x="8169836" y="5200300"/>
            <a:ext cx="1211380" cy="984627"/>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nvGrpSpPr>
            <p:cNvPr id="154" name="Group 153"/>
            <p:cNvGrpSpPr/>
            <p:nvPr/>
          </p:nvGrpSpPr>
          <p:grpSpPr>
            <a:xfrm>
              <a:off x="20309820" y="9762072"/>
              <a:ext cx="1864380" cy="1534578"/>
              <a:chOff x="25154821" y="7455704"/>
              <a:chExt cx="1864380" cy="1534578"/>
            </a:xfrm>
            <a:grpFill/>
          </p:grpSpPr>
          <p:sp>
            <p:nvSpPr>
              <p:cNvPr id="155" name="Rectangle 154"/>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6" name="Rectangle 155"/>
              <p:cNvSpPr/>
              <p:nvPr/>
            </p:nvSpPr>
            <p:spPr>
              <a:xfrm>
                <a:off x="25324824" y="7614367"/>
                <a:ext cx="1541977" cy="107255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blocks</a:t>
                </a:r>
                <a:endParaRPr lang="en-US" dirty="0">
                  <a:solidFill>
                    <a:schemeClr val="bg1"/>
                  </a:solidFill>
                </a:endParaRPr>
              </a:p>
            </p:txBody>
          </p:sp>
        </p:grpSp>
      </p:grpSp>
      <p:cxnSp>
        <p:nvCxnSpPr>
          <p:cNvPr id="168" name="Straight Arrow Connector 96"/>
          <p:cNvCxnSpPr>
            <a:stCxn id="138" idx="2"/>
            <a:endCxn id="142" idx="0"/>
          </p:cNvCxnSpPr>
          <p:nvPr/>
        </p:nvCxnSpPr>
        <p:spPr>
          <a:xfrm>
            <a:off x="7050205" y="4838454"/>
            <a:ext cx="0" cy="40564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a:stCxn id="138" idx="3"/>
            <a:endCxn id="145" idx="1"/>
          </p:cNvCxnSpPr>
          <p:nvPr/>
        </p:nvCxnSpPr>
        <p:spPr>
          <a:xfrm>
            <a:off x="7657893" y="4440679"/>
            <a:ext cx="519468" cy="15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4624253" y="3327414"/>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78" name="TextBox 177"/>
          <p:cNvSpPr txBox="1"/>
          <p:nvPr/>
        </p:nvSpPr>
        <p:spPr>
          <a:xfrm>
            <a:off x="4514253" y="3466750"/>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80" name="TextBox 179"/>
          <p:cNvSpPr txBox="1"/>
          <p:nvPr/>
        </p:nvSpPr>
        <p:spPr>
          <a:xfrm>
            <a:off x="7601813" y="1856754"/>
            <a:ext cx="1947969" cy="646331"/>
          </a:xfrm>
          <a:prstGeom prst="rect">
            <a:avLst/>
          </a:prstGeom>
          <a:noFill/>
        </p:spPr>
        <p:txBody>
          <a:bodyPr wrap="none" rtlCol="0">
            <a:spAutoFit/>
          </a:bodyPr>
          <a:lstStyle/>
          <a:p>
            <a:r>
              <a:rPr lang="en-CA" dirty="0" smtClean="0">
                <a:solidFill>
                  <a:schemeClr val="bg1"/>
                </a:solidFill>
              </a:rPr>
              <a:t>Ext4 File System </a:t>
            </a:r>
            <a:br>
              <a:rPr lang="en-CA" dirty="0" smtClean="0">
                <a:solidFill>
                  <a:schemeClr val="bg1"/>
                </a:solidFill>
              </a:rPr>
            </a:br>
            <a:r>
              <a:rPr lang="en-CA" dirty="0" smtClean="0">
                <a:solidFill>
                  <a:schemeClr val="bg1"/>
                </a:solidFill>
              </a:rPr>
              <a:t>Metadata Tree</a:t>
            </a:r>
            <a:endParaRPr lang="en-CA" dirty="0">
              <a:solidFill>
                <a:schemeClr val="bg1"/>
              </a:solidFill>
            </a:endParaRPr>
          </a:p>
        </p:txBody>
      </p:sp>
      <p:grpSp>
        <p:nvGrpSpPr>
          <p:cNvPr id="147" name="Group 146"/>
          <p:cNvGrpSpPr/>
          <p:nvPr/>
        </p:nvGrpSpPr>
        <p:grpSpPr>
          <a:xfrm rot="5400000">
            <a:off x="8619455" y="4810663"/>
            <a:ext cx="327375"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2" name="Group 71"/>
          <p:cNvGrpSpPr/>
          <p:nvPr/>
        </p:nvGrpSpPr>
        <p:grpSpPr>
          <a:xfrm>
            <a:off x="3955704" y="5254226"/>
            <a:ext cx="1103217" cy="940832"/>
            <a:chOff x="25154821" y="7455704"/>
            <a:chExt cx="2110198" cy="2062800"/>
          </a:xfrm>
          <a:solidFill>
            <a:schemeClr val="accent5">
              <a:lumMod val="40000"/>
              <a:lumOff val="60000"/>
            </a:schemeClr>
          </a:solidFill>
        </p:grpSpPr>
        <p:sp>
          <p:nvSpPr>
            <p:cNvPr id="73" name="Rectangle 72"/>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74" name="Rectangle 73"/>
            <p:cNvSpPr/>
            <p:nvPr/>
          </p:nvSpPr>
          <p:spPr>
            <a:xfrm>
              <a:off x="25324824" y="7614364"/>
              <a:ext cx="1770194" cy="130236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data </a:t>
              </a:r>
              <a:r>
                <a:rPr lang="en-US" dirty="0" smtClean="0">
                  <a:solidFill>
                    <a:schemeClr val="bg1"/>
                  </a:solidFill>
                </a:rPr>
                <a:t>block</a:t>
              </a:r>
              <a:endParaRPr lang="en-US" dirty="0">
                <a:solidFill>
                  <a:schemeClr val="bg1"/>
                </a:solidFill>
              </a:endParaRPr>
            </a:p>
          </p:txBody>
        </p:sp>
      </p:grpSp>
      <p:cxnSp>
        <p:nvCxnSpPr>
          <p:cNvPr id="75" name="Straight Arrow Connector 96"/>
          <p:cNvCxnSpPr>
            <a:stCxn id="95" idx="2"/>
            <a:endCxn id="73" idx="0"/>
          </p:cNvCxnSpPr>
          <p:nvPr/>
        </p:nvCxnSpPr>
        <p:spPr>
          <a:xfrm>
            <a:off x="4507312" y="4838455"/>
            <a:ext cx="1" cy="41577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r>
              <a:rPr lang="en-CA" dirty="0" smtClean="0"/>
              <a:t>Examples: Block, File, F2FS NID address spaces</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sp>
        <p:nvSpPr>
          <p:cNvPr id="53" name="Rectangle 52"/>
          <p:cNvSpPr/>
          <p:nvPr/>
        </p:nvSpPr>
        <p:spPr>
          <a:xfrm>
            <a:off x="1095154" y="5240219"/>
            <a:ext cx="1076231"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4" name="Rectangle 53"/>
          <p:cNvSpPr/>
          <p:nvPr/>
        </p:nvSpPr>
        <p:spPr>
          <a:xfrm>
            <a:off x="1181858" y="5305388"/>
            <a:ext cx="902824" cy="534936"/>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bitmap</a:t>
            </a:r>
            <a:endParaRPr lang="en-US" sz="1600" dirty="0">
              <a:solidFill>
                <a:schemeClr val="bg1"/>
              </a:solidFill>
            </a:endParaRPr>
          </a:p>
        </p:txBody>
      </p:sp>
      <p:cxnSp>
        <p:nvCxnSpPr>
          <p:cNvPr id="7" name="Straight Arrow Connector 6"/>
          <p:cNvCxnSpPr>
            <a:stCxn id="8" idx="2"/>
          </p:cNvCxnSpPr>
          <p:nvPr/>
        </p:nvCxnSpPr>
        <p:spPr>
          <a:xfrm flipH="1">
            <a:off x="1598355" y="2963160"/>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095154" y="211587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1176232" y="2181048"/>
            <a:ext cx="844247" cy="533524"/>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sp>
        <p:nvSpPr>
          <p:cNvPr id="51" name="Rectangle 50"/>
          <p:cNvSpPr/>
          <p:nvPr/>
        </p:nvSpPr>
        <p:spPr>
          <a:xfrm>
            <a:off x="3222322" y="2115879"/>
            <a:ext cx="3654350" cy="847281"/>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2" name="Rectangle 51"/>
          <p:cNvSpPr/>
          <p:nvPr/>
        </p:nvSpPr>
        <p:spPr>
          <a:xfrm>
            <a:off x="3293727" y="2181048"/>
            <a:ext cx="1386836" cy="32913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cxnSp>
        <p:nvCxnSpPr>
          <p:cNvPr id="11" name="Straight Arrow Connector 10"/>
          <p:cNvCxnSpPr>
            <a:stCxn id="8" idx="3"/>
            <a:endCxn id="51" idx="1"/>
          </p:cNvCxnSpPr>
          <p:nvPr/>
        </p:nvCxnSpPr>
        <p:spPr>
          <a:xfrm>
            <a:off x="2101557" y="2539519"/>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095153" y="3430025"/>
            <a:ext cx="5341017"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176232" y="3496385"/>
            <a:ext cx="1826320" cy="569021"/>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4" name="Rounded Rectangle 13"/>
          <p:cNvSpPr/>
          <p:nvPr/>
        </p:nvSpPr>
        <p:spPr>
          <a:xfrm>
            <a:off x="3100423" y="3491900"/>
            <a:ext cx="1295177" cy="795454"/>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15" name="Straight Arrow Connector 96"/>
          <p:cNvCxnSpPr/>
          <p:nvPr/>
        </p:nvCxnSpPr>
        <p:spPr>
          <a:xfrm rot="5400000">
            <a:off x="2035700" y="3877085"/>
            <a:ext cx="952866" cy="1773403"/>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9" name="Rectangle 48"/>
          <p:cNvSpPr/>
          <p:nvPr/>
        </p:nvSpPr>
        <p:spPr>
          <a:xfrm>
            <a:off x="2313919" y="5240219"/>
            <a:ext cx="1072144"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0" name="Rectangle 49"/>
          <p:cNvSpPr/>
          <p:nvPr/>
        </p:nvSpPr>
        <p:spPr>
          <a:xfrm>
            <a:off x="2401608" y="5305388"/>
            <a:ext cx="913093" cy="534936"/>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bitmap</a:t>
            </a:r>
            <a:endParaRPr lang="en-US" sz="1600" dirty="0">
              <a:solidFill>
                <a:schemeClr val="bg1"/>
              </a:solidFill>
            </a:endParaRPr>
          </a:p>
        </p:txBody>
      </p:sp>
      <p:sp>
        <p:nvSpPr>
          <p:cNvPr id="17" name="Rectangle 16"/>
          <p:cNvSpPr/>
          <p:nvPr/>
        </p:nvSpPr>
        <p:spPr>
          <a:xfrm>
            <a:off x="3528597" y="5239332"/>
            <a:ext cx="4422810"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8" name="Rectangle 17"/>
          <p:cNvSpPr/>
          <p:nvPr/>
        </p:nvSpPr>
        <p:spPr>
          <a:xfrm>
            <a:off x="3605553" y="5302501"/>
            <a:ext cx="769178" cy="534936"/>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table</a:t>
            </a:r>
            <a:endParaRPr lang="en-US" sz="1600" dirty="0">
              <a:solidFill>
                <a:schemeClr val="bg1"/>
              </a:solidFill>
            </a:endParaRPr>
          </a:p>
        </p:txBody>
      </p:sp>
      <p:cxnSp>
        <p:nvCxnSpPr>
          <p:cNvPr id="19" name="Straight Arrow Connector 96"/>
          <p:cNvCxnSpPr>
            <a:stCxn id="14" idx="2"/>
            <a:endCxn id="49" idx="0"/>
          </p:cNvCxnSpPr>
          <p:nvPr/>
        </p:nvCxnSpPr>
        <p:spPr>
          <a:xfrm rot="5400000">
            <a:off x="2822569" y="4314777"/>
            <a:ext cx="952866" cy="898020"/>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p:cNvSpPr/>
          <p:nvPr/>
        </p:nvSpPr>
        <p:spPr>
          <a:xfrm>
            <a:off x="4517289" y="3496386"/>
            <a:ext cx="1259699" cy="790968"/>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a:solidFill>
                  <a:schemeClr val="tx1"/>
                </a:solidFill>
              </a:rPr>
              <a:t>block group descriptor</a:t>
            </a:r>
            <a:endParaRPr lang="zh-TW" altLang="en-US" sz="1600" dirty="0">
              <a:solidFill>
                <a:schemeClr val="tx1"/>
              </a:solidFill>
            </a:endParaRPr>
          </a:p>
        </p:txBody>
      </p:sp>
      <p:cxnSp>
        <p:nvCxnSpPr>
          <p:cNvPr id="21" name="Straight Arrow Connector 96"/>
          <p:cNvCxnSpPr/>
          <p:nvPr/>
        </p:nvCxnSpPr>
        <p:spPr>
          <a:xfrm>
            <a:off x="4079196" y="4287353"/>
            <a:ext cx="0" cy="9493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2" name="Rounded Rectangle 21"/>
          <p:cNvSpPr/>
          <p:nvPr/>
        </p:nvSpPr>
        <p:spPr>
          <a:xfrm>
            <a:off x="4463500" y="5302500"/>
            <a:ext cx="880671" cy="716446"/>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23" name="Rounded Rectangle 22"/>
          <p:cNvSpPr/>
          <p:nvPr/>
        </p:nvSpPr>
        <p:spPr>
          <a:xfrm>
            <a:off x="6658175" y="5302499"/>
            <a:ext cx="1108720" cy="716446"/>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sp>
        <p:nvSpPr>
          <p:cNvPr id="24" name="TextBox 23"/>
          <p:cNvSpPr txBox="1"/>
          <p:nvPr/>
        </p:nvSpPr>
        <p:spPr>
          <a:xfrm>
            <a:off x="5870590" y="359136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25" name="TextBox 24"/>
          <p:cNvSpPr txBox="1"/>
          <p:nvPr/>
        </p:nvSpPr>
        <p:spPr>
          <a:xfrm>
            <a:off x="5753161" y="533437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47" name="Rectangle 46"/>
          <p:cNvSpPr/>
          <p:nvPr/>
        </p:nvSpPr>
        <p:spPr>
          <a:xfrm>
            <a:off x="9398217" y="5239332"/>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8" name="Rectangle 47"/>
          <p:cNvSpPr/>
          <p:nvPr/>
        </p:nvSpPr>
        <p:spPr>
          <a:xfrm>
            <a:off x="9479295" y="5304501"/>
            <a:ext cx="844247" cy="534936"/>
          </a:xfrm>
          <a:prstGeom prst="rect">
            <a:avLst/>
          </a:prstGeom>
          <a:solidFill>
            <a:schemeClr val="accent5">
              <a:lumMod val="40000"/>
              <a:lumOff val="6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cxnSp>
        <p:nvCxnSpPr>
          <p:cNvPr id="31" name="Straight Arrow Connector 96"/>
          <p:cNvCxnSpPr>
            <a:stCxn id="23" idx="3"/>
            <a:endCxn id="47" idx="1"/>
          </p:cNvCxnSpPr>
          <p:nvPr/>
        </p:nvCxnSpPr>
        <p:spPr>
          <a:xfrm>
            <a:off x="7766895" y="5660722"/>
            <a:ext cx="1631322" cy="2251"/>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rot="5400000">
            <a:off x="5001386" y="4201233"/>
            <a:ext cx="294823" cy="533101"/>
            <a:chOff x="27236633" y="9932056"/>
            <a:chExt cx="578250" cy="990600"/>
          </a:xfrm>
        </p:grpSpPr>
        <p:cxnSp>
          <p:nvCxnSpPr>
            <p:cNvPr id="34" name="Straight Arrow Connector 33"/>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703299" y="3023854"/>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7" name="TextBox 56"/>
          <p:cNvSpPr txBox="1"/>
          <p:nvPr/>
        </p:nvSpPr>
        <p:spPr>
          <a:xfrm>
            <a:off x="4527051" y="4633428"/>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8" name="TextBox 57"/>
          <p:cNvSpPr txBox="1"/>
          <p:nvPr/>
        </p:nvSpPr>
        <p:spPr>
          <a:xfrm>
            <a:off x="7999094" y="5226650"/>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p:txBody>
          <a:bodyPr/>
          <a:lstStyle/>
          <a:p>
            <a:r>
              <a:rPr lang="en-CA" dirty="0"/>
              <a:t>File address is an index into the </a:t>
            </a:r>
            <a:r>
              <a:rPr lang="en-CA" dirty="0" err="1"/>
              <a:t>inode</a:t>
            </a:r>
            <a:r>
              <a:rPr lang="en-CA" dirty="0"/>
              <a:t> </a:t>
            </a:r>
            <a:r>
              <a:rPr lang="en-CA" dirty="0" smtClean="0"/>
              <a:t>table for a file</a:t>
            </a:r>
          </a:p>
          <a:p>
            <a:pPr lvl="1"/>
            <a:r>
              <a:rPr lang="en-CA" dirty="0" smtClean="0"/>
              <a:t>E.g. Ext4 journal is stored as a regular file  </a:t>
            </a:r>
          </a:p>
          <a:p>
            <a:pPr lvl="1"/>
            <a:r>
              <a:rPr lang="en-CA" dirty="0" smtClean="0"/>
              <a:t>Regular file may be physically discontiguous</a:t>
            </a:r>
          </a:p>
          <a:p>
            <a:pPr lvl="1"/>
            <a:r>
              <a:rPr lang="en-CA" dirty="0" smtClean="0"/>
              <a:t>Requires </a:t>
            </a:r>
            <a:r>
              <a:rPr lang="en-CA" dirty="0"/>
              <a:t>mapping </a:t>
            </a:r>
            <a:r>
              <a:rPr lang="en-CA" dirty="0" smtClean="0"/>
              <a:t>logical </a:t>
            </a:r>
            <a:r>
              <a:rPr lang="en-CA" dirty="0"/>
              <a:t>blocks of the </a:t>
            </a:r>
            <a:r>
              <a:rPr lang="en-CA" dirty="0" smtClean="0"/>
              <a:t>file to </a:t>
            </a:r>
            <a:r>
              <a:rPr lang="en-CA" dirty="0"/>
              <a:t>their physical </a:t>
            </a:r>
            <a:r>
              <a:rPr lang="en-CA" dirty="0" smtClean="0"/>
              <a:t>locations</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cxnSp>
        <p:nvCxnSpPr>
          <p:cNvPr id="7" name="Straight Arrow Connector 6"/>
          <p:cNvCxnSpPr>
            <a:stCxn id="8" idx="2"/>
          </p:cNvCxnSpPr>
          <p:nvPr/>
        </p:nvCxnSpPr>
        <p:spPr>
          <a:xfrm flipH="1">
            <a:off x="3767589" y="4354881"/>
            <a:ext cx="1" cy="466867"/>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264388" y="3507600"/>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3345466" y="3572769"/>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5391556" y="3507600"/>
            <a:ext cx="3654350" cy="847281"/>
            <a:chOff x="24275265" y="2491036"/>
            <a:chExt cx="4669172" cy="1473330"/>
          </a:xfrm>
        </p:grpSpPr>
        <p:sp>
          <p:nvSpPr>
            <p:cNvPr id="52" name="Rectangle 51"/>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53" name="Rectangle 52"/>
            <p:cNvSpPr/>
            <p:nvPr/>
          </p:nvSpPr>
          <p:spPr>
            <a:xfrm>
              <a:off x="24366499" y="2604357"/>
              <a:ext cx="1771964"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1" name="Straight Arrow Connector 10"/>
          <p:cNvCxnSpPr>
            <a:stCxn id="8" idx="3"/>
            <a:endCxn id="52" idx="1"/>
          </p:cNvCxnSpPr>
          <p:nvPr/>
        </p:nvCxnSpPr>
        <p:spPr>
          <a:xfrm>
            <a:off x="4270791" y="3931240"/>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967747" y="4821746"/>
            <a:ext cx="3901965" cy="954429"/>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048826" y="4888106"/>
            <a:ext cx="1826320" cy="56902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block group descriptor table</a:t>
            </a:r>
            <a:endParaRPr lang="en-US" sz="1600" dirty="0">
              <a:solidFill>
                <a:schemeClr val="bg1">
                  <a:lumMod val="50000"/>
                  <a:lumOff val="50000"/>
                </a:schemeClr>
              </a:solidFill>
            </a:endParaRPr>
          </a:p>
        </p:txBody>
      </p:sp>
      <p:sp>
        <p:nvSpPr>
          <p:cNvPr id="14" name="Rounded Rectangle 13"/>
          <p:cNvSpPr/>
          <p:nvPr/>
        </p:nvSpPr>
        <p:spPr>
          <a:xfrm>
            <a:off x="2973017" y="4883621"/>
            <a:ext cx="1295177" cy="795454"/>
          </a:xfrm>
          <a:prstGeom prst="roundRect">
            <a:avLst/>
          </a:prstGeom>
          <a:solidFill>
            <a:schemeClr val="accent3">
              <a:lumMod val="20000"/>
              <a:lumOff val="80000"/>
            </a:schemeClr>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bg1">
                    <a:lumMod val="50000"/>
                    <a:lumOff val="50000"/>
                  </a:schemeClr>
                </a:solidFill>
              </a:rPr>
              <a:t>block group descriptor</a:t>
            </a:r>
            <a:endParaRPr lang="zh-TW" altLang="en-US" sz="1600" dirty="0">
              <a:solidFill>
                <a:schemeClr val="bg1">
                  <a:lumMod val="50000"/>
                  <a:lumOff val="50000"/>
                </a:schemeClr>
              </a:solidFill>
            </a:endParaRPr>
          </a:p>
        </p:txBody>
      </p:sp>
      <p:sp>
        <p:nvSpPr>
          <p:cNvPr id="24" name="TextBox 23"/>
          <p:cNvSpPr txBox="1"/>
          <p:nvPr/>
        </p:nvSpPr>
        <p:spPr>
          <a:xfrm>
            <a:off x="4286527" y="4983083"/>
            <a:ext cx="492443" cy="461665"/>
          </a:xfrm>
          <a:prstGeom prst="rect">
            <a:avLst/>
          </a:prstGeom>
          <a:noFill/>
        </p:spPr>
        <p:txBody>
          <a:bodyPr wrap="none" rtlCol="0">
            <a:spAutoFit/>
          </a:bodyPr>
          <a:lstStyle/>
          <a:p>
            <a:r>
              <a:rPr lang="en-CA" sz="2400" dirty="0" smtClean="0">
                <a:solidFill>
                  <a:schemeClr val="bg1">
                    <a:lumMod val="50000"/>
                    <a:lumOff val="50000"/>
                  </a:schemeClr>
                </a:solidFill>
              </a:rPr>
              <a:t>…</a:t>
            </a:r>
            <a:endParaRPr lang="en-CA" sz="2400" dirty="0">
              <a:solidFill>
                <a:schemeClr val="bg1">
                  <a:lumMod val="50000"/>
                  <a:lumOff val="50000"/>
                </a:schemeClr>
              </a:solidFill>
            </a:endParaRPr>
          </a:p>
        </p:txBody>
      </p:sp>
      <p:sp>
        <p:nvSpPr>
          <p:cNvPr id="33" name="TextBox 32"/>
          <p:cNvSpPr txBox="1"/>
          <p:nvPr/>
        </p:nvSpPr>
        <p:spPr>
          <a:xfrm>
            <a:off x="4295334" y="3507600"/>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grpSp>
        <p:nvGrpSpPr>
          <p:cNvPr id="56" name="Group 55"/>
          <p:cNvGrpSpPr/>
          <p:nvPr/>
        </p:nvGrpSpPr>
        <p:grpSpPr>
          <a:xfrm rot="5400000">
            <a:off x="3473194" y="5593114"/>
            <a:ext cx="294823" cy="533101"/>
            <a:chOff x="27236633" y="9932056"/>
            <a:chExt cx="578250" cy="990600"/>
          </a:xfrm>
        </p:grpSpPr>
        <p:cxnSp>
          <p:nvCxnSpPr>
            <p:cNvPr id="57" name="Straight Arrow Connector 56"/>
            <p:cNvCxnSpPr/>
            <p:nvPr/>
          </p:nvCxnSpPr>
          <p:spPr>
            <a:xfrm>
              <a:off x="27236633" y="104273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7236633" y="109226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27236633" y="99320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61" name="Rectangle 60"/>
          <p:cNvSpPr/>
          <p:nvPr/>
        </p:nvSpPr>
        <p:spPr>
          <a:xfrm>
            <a:off x="7089186" y="5485532"/>
            <a:ext cx="1576385" cy="329131"/>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physical disk</a:t>
            </a:r>
            <a:endParaRPr lang="en-US" sz="1600" dirty="0">
              <a:solidFill>
                <a:schemeClr val="bg1"/>
              </a:solidFill>
            </a:endParaRPr>
          </a:p>
        </p:txBody>
      </p:sp>
      <p:cxnSp>
        <p:nvCxnSpPr>
          <p:cNvPr id="67" name="Straight Connector 66"/>
          <p:cNvCxnSpPr/>
          <p:nvPr/>
        </p:nvCxnSpPr>
        <p:spPr>
          <a:xfrm flipH="1">
            <a:off x="5390595" y="4354881"/>
            <a:ext cx="961"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6698512" y="4376079"/>
            <a:ext cx="326684"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a:off x="7061796" y="4376079"/>
            <a:ext cx="361105"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9045906" y="4376079"/>
            <a:ext cx="1317294"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grpSp>
        <p:nvGrpSpPr>
          <p:cNvPr id="96" name="Group 95"/>
          <p:cNvGrpSpPr/>
          <p:nvPr/>
        </p:nvGrpSpPr>
        <p:grpSpPr>
          <a:xfrm>
            <a:off x="5391556" y="4823599"/>
            <a:ext cx="4971644" cy="635381"/>
            <a:chOff x="5391556" y="4823599"/>
            <a:chExt cx="4971644" cy="635381"/>
          </a:xfrm>
        </p:grpSpPr>
        <p:sp>
          <p:nvSpPr>
            <p:cNvPr id="60" name="Rectangle 59"/>
            <p:cNvSpPr/>
            <p:nvPr/>
          </p:nvSpPr>
          <p:spPr>
            <a:xfrm>
              <a:off x="5391556" y="4823599"/>
              <a:ext cx="1306956"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61"/>
            <p:cNvSpPr/>
            <p:nvPr/>
          </p:nvSpPr>
          <p:spPr>
            <a:xfrm>
              <a:off x="6697758" y="4823599"/>
              <a:ext cx="719141"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Rectangle 62"/>
            <p:cNvSpPr/>
            <p:nvPr/>
          </p:nvSpPr>
          <p:spPr>
            <a:xfrm>
              <a:off x="7416145" y="4823599"/>
              <a:ext cx="167648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Rectangle 63"/>
            <p:cNvSpPr/>
            <p:nvPr/>
          </p:nvSpPr>
          <p:spPr>
            <a:xfrm>
              <a:off x="9823770" y="4823599"/>
              <a:ext cx="53943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Rectangle 77"/>
            <p:cNvSpPr/>
            <p:nvPr/>
          </p:nvSpPr>
          <p:spPr>
            <a:xfrm>
              <a:off x="9091871" y="4823599"/>
              <a:ext cx="732654"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85" name="Straight Connector 84"/>
          <p:cNvCxnSpPr/>
          <p:nvPr/>
        </p:nvCxnSpPr>
        <p:spPr>
          <a:xfrm>
            <a:off x="8365010" y="4376079"/>
            <a:ext cx="734371"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8399721" y="4380614"/>
            <a:ext cx="1437562" cy="46233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84212" y="1515358"/>
            <a:ext cx="9949352" cy="4279386"/>
          </a:xfrm>
        </p:spPr>
        <p:txBody>
          <a:bodyPr/>
          <a:lstStyle/>
          <a:p>
            <a:r>
              <a:rPr lang="en-CA" dirty="0" smtClean="0"/>
              <a:t>Locations of some structures are implicit in the code</a:t>
            </a:r>
          </a:p>
          <a:p>
            <a:r>
              <a:rPr lang="en-CA" dirty="0" smtClean="0"/>
              <a:t>E.g. Ext4 block group descriptor table is </a:t>
            </a:r>
            <a:r>
              <a:rPr lang="en-CA" dirty="0" smtClean="0"/>
              <a:t>the </a:t>
            </a:r>
            <a:r>
              <a:rPr lang="en-CA" dirty="0" smtClean="0"/>
              <a:t>next block following the super </a:t>
            </a:r>
            <a:r>
              <a:rPr lang="en-CA" dirty="0" smtClean="0"/>
              <a:t>block</a:t>
            </a:r>
          </a:p>
          <a:p>
            <a:pPr lvl="1"/>
            <a:r>
              <a:rPr lang="en-CA" dirty="0" smtClean="0"/>
              <a:t>Ext4 </a:t>
            </a:r>
            <a:r>
              <a:rPr lang="en-CA" dirty="0" smtClean="0"/>
              <a:t>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sp>
        <p:nvSpPr>
          <p:cNvPr id="42" name="Rectangle 41"/>
          <p:cNvSpPr/>
          <p:nvPr/>
        </p:nvSpPr>
        <p:spPr>
          <a:xfrm>
            <a:off x="7243460" y="3548764"/>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3" name="Rectangle 42"/>
          <p:cNvSpPr/>
          <p:nvPr/>
        </p:nvSpPr>
        <p:spPr>
          <a:xfrm>
            <a:off x="7324538" y="3613933"/>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44" name="Group 43"/>
          <p:cNvGrpSpPr/>
          <p:nvPr/>
        </p:nvGrpSpPr>
        <p:grpSpPr>
          <a:xfrm>
            <a:off x="9370631" y="3548764"/>
            <a:ext cx="1737015" cy="847281"/>
            <a:chOff x="24275265" y="2491036"/>
            <a:chExt cx="2219388" cy="1473330"/>
          </a:xfrm>
        </p:grpSpPr>
        <p:sp>
          <p:nvSpPr>
            <p:cNvPr id="55" name="Rectangle 54"/>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6" name="Rectangle 55"/>
            <p:cNvSpPr/>
            <p:nvPr/>
          </p:nvSpPr>
          <p:spPr>
            <a:xfrm>
              <a:off x="24366499" y="2604357"/>
              <a:ext cx="1771964"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45" name="Straight Arrow Connector 44"/>
          <p:cNvCxnSpPr>
            <a:stCxn id="42" idx="3"/>
            <a:endCxn id="55" idx="1"/>
          </p:cNvCxnSpPr>
          <p:nvPr/>
        </p:nvCxnSpPr>
        <p:spPr>
          <a:xfrm>
            <a:off x="8249863" y="3972405"/>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7243460" y="4862910"/>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7" name="Rectangle 46"/>
          <p:cNvSpPr/>
          <p:nvPr/>
        </p:nvSpPr>
        <p:spPr>
          <a:xfrm>
            <a:off x="7324538" y="4929270"/>
            <a:ext cx="1826320" cy="56902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48" name="Rounded Rectangle 47"/>
          <p:cNvSpPr/>
          <p:nvPr/>
        </p:nvSpPr>
        <p:spPr>
          <a:xfrm>
            <a:off x="9248729" y="4924785"/>
            <a:ext cx="1295177" cy="795454"/>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49" name="TextBox 48"/>
          <p:cNvSpPr txBox="1"/>
          <p:nvPr/>
        </p:nvSpPr>
        <p:spPr>
          <a:xfrm>
            <a:off x="10572879" y="5024247"/>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50" name="Group 49"/>
          <p:cNvGrpSpPr/>
          <p:nvPr/>
        </p:nvGrpSpPr>
        <p:grpSpPr>
          <a:xfrm rot="5400000">
            <a:off x="9766555" y="5630341"/>
            <a:ext cx="294823" cy="533101"/>
            <a:chOff x="27236633" y="9932056"/>
            <a:chExt cx="578250" cy="990600"/>
          </a:xfrm>
        </p:grpSpPr>
        <p:cxnSp>
          <p:nvCxnSpPr>
            <p:cNvPr id="52" name="Straight Arrow Connector 51"/>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57" name="Straight Arrow Connector 56"/>
          <p:cNvCxnSpPr/>
          <p:nvPr/>
        </p:nvCxnSpPr>
        <p:spPr>
          <a:xfrm flipH="1">
            <a:off x="7721461" y="4405974"/>
            <a:ext cx="1" cy="466867"/>
          </a:xfrm>
          <a:prstGeom prst="straightConnector1">
            <a:avLst/>
          </a:prstGeom>
          <a:ln w="25400">
            <a:solidFill>
              <a:schemeClr val="accent6">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7826405" y="4466668"/>
            <a:ext cx="1705916" cy="338554"/>
          </a:xfrm>
          <a:prstGeom prst="rect">
            <a:avLst/>
          </a:prstGeom>
          <a:noFill/>
        </p:spPr>
        <p:txBody>
          <a:bodyPr wrap="none" rtlCol="0">
            <a:spAutoFit/>
          </a:bodyPr>
          <a:lstStyle/>
          <a:p>
            <a:r>
              <a:rPr lang="en-CA" sz="1600" i="1" dirty="0" smtClean="0">
                <a:solidFill>
                  <a:schemeClr val="bg1"/>
                </a:solidFill>
              </a:rPr>
              <a:t>missing pointer</a:t>
            </a:r>
            <a:endParaRPr lang="en-CA" sz="1600" i="1" dirty="0">
              <a:solidFill>
                <a:schemeClr val="bg1"/>
              </a:solidFill>
            </a:endParaRPr>
          </a:p>
        </p:txBody>
      </p:sp>
    </p:spTree>
    <p:extLst>
      <p:ext uri="{BB962C8B-B14F-4D97-AF65-F5344CB8AC3E}">
        <p14:creationId xmlns:p14="http://schemas.microsoft.com/office/powerpoint/2010/main" val="3254910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 annotation</a:t>
            </a:r>
          </a:p>
          <a:p>
            <a:pPr lvl="1"/>
            <a:r>
              <a:rPr lang="en-CA" i="1" dirty="0" smtClean="0"/>
              <a:t>name</a:t>
            </a:r>
            <a:r>
              <a:rPr lang="en-CA" dirty="0" smtClean="0"/>
              <a:t> creates a logical pointer field that can be dereferenced</a:t>
            </a:r>
          </a:p>
          <a:p>
            <a:pPr lvl="1"/>
            <a:r>
              <a:rPr lang="en-CA" i="1" dirty="0"/>
              <a:t>expr </a:t>
            </a:r>
            <a:r>
              <a:rPr lang="en-CA" dirty="0" smtClean="0"/>
              <a:t>is a C expression that specifies </a:t>
            </a:r>
            <a:r>
              <a:rPr lang="en-CA" dirty="0"/>
              <a:t>how to </a:t>
            </a:r>
            <a:r>
              <a:rPr lang="en-CA" dirty="0" smtClean="0"/>
              <a:t>calculate the field value</a:t>
            </a:r>
            <a:endParaRPr lang="en-CA" dirty="0"/>
          </a:p>
          <a:p>
            <a:pPr lvl="2"/>
            <a:r>
              <a:rPr lang="en-CA" dirty="0"/>
              <a:t>Expression can reference other fields in the structure</a:t>
            </a:r>
          </a:p>
          <a:p>
            <a:pPr lvl="1"/>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5" name="Rectangle 4"/>
          <p:cNvSpPr/>
          <p:nvPr/>
        </p:nvSpPr>
        <p:spPr>
          <a:xfrm>
            <a:off x="942890" y="3434715"/>
            <a:ext cx="6641621" cy="1923604"/>
          </a:xfrm>
          <a:prstGeom prst="rect">
            <a:avLst/>
          </a:prstGeom>
        </p:spPr>
        <p:txBody>
          <a:bodyPr wrap="square">
            <a:spAutoFit/>
          </a:bodyPr>
          <a:lstStyle/>
          <a:p>
            <a:r>
              <a:rPr lang="en-CA" sz="1700" b="1" dirty="0" smtClean="0">
                <a:solidFill>
                  <a:schemeClr val="bg1"/>
                </a:solidFill>
                <a:latin typeface="Courier New" panose="02070309020205020404" pitchFamily="49" charset="0"/>
                <a:cs typeface="Courier New" panose="02070309020205020404" pitchFamily="49" charset="0"/>
              </a:rPr>
              <a:t>FSSUPER</a:t>
            </a:r>
            <a:r>
              <a:rPr lang="en-CA" sz="1700" dirty="0" smtClean="0">
                <a:solidFill>
                  <a:schemeClr val="bg1"/>
                </a:solidFill>
                <a:latin typeface="Courier New" panose="02070309020205020404" pitchFamily="49" charset="0"/>
                <a:cs typeface="Courier New" panose="02070309020205020404" pitchFamily="49" charset="0"/>
              </a:rPr>
              <a:t>(...) </a:t>
            </a:r>
            <a:r>
              <a:rPr lang="en-CA" sz="1700" dirty="0">
                <a:solidFill>
                  <a:schemeClr val="bg1"/>
                </a:solidFill>
                <a:latin typeface="Courier New" panose="02070309020205020404" pitchFamily="49" charset="0"/>
                <a:cs typeface="Courier New" panose="02070309020205020404" pitchFamily="49" charset="0"/>
              </a:rPr>
              <a:t>ext4_super_block {</a:t>
            </a:r>
          </a:p>
          <a:p>
            <a:r>
              <a:rPr lang="en-CA" sz="1700" dirty="0">
                <a:solidFill>
                  <a:schemeClr val="bg1"/>
                </a:solidFill>
                <a:latin typeface="Courier New" panose="02070309020205020404" pitchFamily="49" charset="0"/>
                <a:cs typeface="Courier New" panose="02070309020205020404" pitchFamily="49" charset="0"/>
              </a:rPr>
              <a:t>  __le32 </a:t>
            </a:r>
            <a:r>
              <a:rPr lang="en-CA" sz="1700" dirty="0" err="1">
                <a:solidFill>
                  <a:schemeClr val="bg1"/>
                </a:solidFill>
                <a:latin typeface="Courier New" panose="02070309020205020404" pitchFamily="49" charset="0"/>
                <a:cs typeface="Courier New" panose="02070309020205020404" pitchFamily="49" charset="0"/>
              </a:rPr>
              <a:t>s_log_block_size</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  ...</a:t>
            </a:r>
          </a:p>
          <a:p>
            <a:r>
              <a:rPr lang="en-CA" sz="1700" dirty="0" smtClean="0">
                <a:solidFill>
                  <a:schemeClr val="bg1"/>
                </a:solidFill>
                <a:latin typeface="Courier New" panose="02070309020205020404" pitchFamily="49" charset="0"/>
                <a:cs typeface="Courier New" panose="02070309020205020404" pitchFamily="49" charset="0"/>
              </a:rPr>
              <a:t>  </a:t>
            </a:r>
            <a:r>
              <a:rPr lang="en-CA" sz="1700" b="1" dirty="0" smtClean="0">
                <a:solidFill>
                  <a:schemeClr val="bg1"/>
                </a:solidFill>
                <a:latin typeface="Courier New" panose="02070309020205020404" pitchFamily="49" charset="0"/>
                <a:cs typeface="Courier New" panose="02070309020205020404" pitchFamily="49" charset="0"/>
              </a:rPr>
              <a:t>POINTER</a:t>
            </a:r>
            <a:r>
              <a:rPr lang="en-CA" sz="1700" dirty="0" smtClean="0">
                <a:solidFill>
                  <a:schemeClr val="bg1"/>
                </a:solidFill>
                <a:latin typeface="Courier New" panose="02070309020205020404" pitchFamily="49" charset="0"/>
                <a:cs typeface="Courier New" panose="02070309020205020404" pitchFamily="49" charset="0"/>
              </a:rPr>
              <a:t>(</a:t>
            </a:r>
            <a:r>
              <a:rPr lang="en-CA" sz="17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name=</a:t>
            </a:r>
            <a:r>
              <a:rPr lang="en-CA" sz="1700" dirty="0" err="1"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s_block_group_desc</a:t>
            </a:r>
            <a:r>
              <a:rPr lang="en-CA" sz="1700" dirty="0">
                <a:solidFill>
                  <a:schemeClr val="bg1"/>
                </a:solidFill>
                <a:latin typeface="Courier New" panose="02070309020205020404" pitchFamily="49" charset="0"/>
                <a:cs typeface="Courier New" panose="02070309020205020404" pitchFamily="49" charset="0"/>
              </a:rPr>
              <a:t>,</a:t>
            </a:r>
          </a:p>
          <a:p>
            <a:r>
              <a:rPr lang="en-CA" sz="1700" dirty="0">
                <a:solidFill>
                  <a:schemeClr val="bg1"/>
                </a:solidFill>
                <a:latin typeface="Courier New" panose="02070309020205020404" pitchFamily="49" charset="0"/>
                <a:cs typeface="Courier New" panose="02070309020205020404" pitchFamily="49" charset="0"/>
              </a:rPr>
              <a:t>  type=ext4_group_desc_table, </a:t>
            </a:r>
            <a:r>
              <a:rPr lang="en-CA" sz="1700" dirty="0" err="1" smtClean="0">
                <a:solidFill>
                  <a:schemeClr val="bg1"/>
                </a:solidFill>
                <a:latin typeface="Courier New" panose="02070309020205020404" pitchFamily="49" charset="0"/>
                <a:cs typeface="Courier New" panose="02070309020205020404" pitchFamily="49" charset="0"/>
              </a:rPr>
              <a:t>addrspace</a:t>
            </a:r>
            <a:r>
              <a:rPr lang="en-CA" sz="1700" dirty="0" smtClean="0">
                <a:solidFill>
                  <a:schemeClr val="bg1"/>
                </a:solidFill>
                <a:latin typeface="Courier New" panose="02070309020205020404" pitchFamily="49" charset="0"/>
                <a:cs typeface="Courier New" panose="02070309020205020404" pitchFamily="49" charset="0"/>
              </a:rPr>
              <a:t>=block</a:t>
            </a:r>
            <a:r>
              <a:rPr lang="en-CA" sz="1700" dirty="0">
                <a:solidFill>
                  <a:schemeClr val="bg1"/>
                </a:solidFill>
                <a:latin typeface="Courier New" panose="02070309020205020404" pitchFamily="49" charset="0"/>
                <a:cs typeface="Courier New" panose="02070309020205020404" pitchFamily="49" charset="0"/>
              </a:rPr>
              <a:t>, </a:t>
            </a:r>
          </a:p>
          <a:p>
            <a:r>
              <a:rPr lang="en-CA" sz="1700" dirty="0">
                <a:solidFill>
                  <a:schemeClr val="bg1"/>
                </a:solidFill>
                <a:latin typeface="Courier New" panose="02070309020205020404" pitchFamily="49" charset="0"/>
                <a:cs typeface="Courier New" panose="02070309020205020404" pitchFamily="49" charset="0"/>
              </a:rPr>
              <a:t>  </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expr=(</a:t>
            </a:r>
            <a:r>
              <a:rPr lang="en-CA" sz="17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self.s_log_block_size</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 0) ? 2 : 1</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a:t>
            </a:r>
            <a:endParaRPr lang="en-CA" sz="1700" dirty="0">
              <a:solidFill>
                <a:schemeClr val="bg1"/>
              </a:solidFill>
              <a:latin typeface="Courier New" panose="02070309020205020404" pitchFamily="49" charset="0"/>
              <a:cs typeface="Courier New" panose="02070309020205020404" pitchFamily="49" charset="0"/>
            </a:endParaRPr>
          </a:p>
        </p:txBody>
      </p:sp>
      <p:grpSp>
        <p:nvGrpSpPr>
          <p:cNvPr id="16" name="Group 15"/>
          <p:cNvGrpSpPr/>
          <p:nvPr/>
        </p:nvGrpSpPr>
        <p:grpSpPr>
          <a:xfrm>
            <a:off x="7243460" y="3548764"/>
            <a:ext cx="3864186" cy="2495539"/>
            <a:chOff x="7243460" y="3548764"/>
            <a:chExt cx="3864186" cy="2495539"/>
          </a:xfrm>
        </p:grpSpPr>
        <p:cxnSp>
          <p:nvCxnSpPr>
            <p:cNvPr id="6" name="Straight Arrow Connector 5"/>
            <p:cNvCxnSpPr>
              <a:stCxn id="7" idx="2"/>
            </p:cNvCxnSpPr>
            <p:nvPr/>
          </p:nvCxnSpPr>
          <p:spPr>
            <a:xfrm flipH="1">
              <a:off x="7746661" y="4396045"/>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243460" y="3548764"/>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324538" y="3613933"/>
              <a:ext cx="844247" cy="5335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370631" y="3548764"/>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249863" y="3972405"/>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243460" y="4862910"/>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324538" y="4929270"/>
              <a:ext cx="1826320" cy="569021"/>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248729" y="4924785"/>
              <a:ext cx="1295177" cy="795454"/>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572879" y="5024247"/>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766555" y="5630341"/>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851605" y="4456739"/>
              <a:ext cx="1651414" cy="338554"/>
            </a:xfrm>
            <a:prstGeom prst="rect">
              <a:avLst/>
            </a:prstGeom>
            <a:noFill/>
          </p:spPr>
          <p:txBody>
            <a:bodyPr wrap="none" rtlCol="0">
              <a:spAutoFit/>
            </a:bodyPr>
            <a:lstStyle/>
            <a:p>
              <a:r>
                <a:rPr lang="en-CA" sz="1600" i="1" dirty="0">
                  <a:solidFill>
                    <a:schemeClr val="bg1"/>
                  </a:solidFill>
                </a:rPr>
                <a:t>i</a:t>
              </a:r>
              <a:r>
                <a:rPr lang="en-CA" sz="1600" i="1" dirty="0" smtClean="0">
                  <a:solidFill>
                    <a:schemeClr val="bg1"/>
                  </a:solidFill>
                </a:rPr>
                <a:t>mplicit pointer</a:t>
              </a:r>
              <a:endParaRPr lang="en-CA" sz="1600" i="1" dirty="0">
                <a:solidFill>
                  <a:schemeClr val="bg1"/>
                </a:solidFill>
              </a:endParaRPr>
            </a:p>
          </p:txBody>
        </p:sp>
      </p:grpSp>
    </p:spTree>
    <p:extLst>
      <p:ext uri="{BB962C8B-B14F-4D97-AF65-F5344CB8AC3E}">
        <p14:creationId xmlns:p14="http://schemas.microsoft.com/office/powerpoint/2010/main" val="24743999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Context-Sensitive </a:t>
            </a:r>
            <a:r>
              <a:rPr lang="en-CA" dirty="0" smtClean="0"/>
              <a:t>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a:t>
            </a:r>
            <a:r>
              <a:rPr lang="en-CA" dirty="0" smtClean="0"/>
              <a:t>blocks</a:t>
            </a:r>
            <a:endParaRPr lang="en-CA" dirty="0" smtClean="0"/>
          </a:p>
          <a:p>
            <a:r>
              <a:rPr lang="en-CA" dirty="0" smtClean="0"/>
              <a:t>Supported by specifying WHEN</a:t>
            </a:r>
            <a:r>
              <a:rPr lang="en-CA" i="1" dirty="0" smtClean="0"/>
              <a:t> </a:t>
            </a:r>
            <a:r>
              <a:rPr lang="en-CA" dirty="0" smtClean="0"/>
              <a:t>condition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sp>
        <p:nvSpPr>
          <p:cNvPr id="46" name="Rectangle 45"/>
          <p:cNvSpPr/>
          <p:nvPr/>
        </p:nvSpPr>
        <p:spPr>
          <a:xfrm>
            <a:off x="973958" y="3115723"/>
            <a:ext cx="7499177" cy="2862322"/>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FSSTRUCT</a:t>
            </a:r>
            <a:r>
              <a:rPr lang="en-CA" dirty="0" smtClean="0">
                <a:solidFill>
                  <a:schemeClr val="bg1"/>
                </a:solidFill>
                <a:latin typeface="Courier New" panose="02070309020205020404" pitchFamily="49" charset="0"/>
                <a:cs typeface="Courier New" panose="02070309020205020404" pitchFamily="49" charset="0"/>
              </a:rPr>
              <a:t>(...) ext4_inode {</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__le16 </a:t>
            </a:r>
            <a:r>
              <a:rPr lang="en-CA" dirty="0" err="1">
                <a:solidFill>
                  <a:schemeClr val="bg1"/>
                </a:solidFill>
                <a:latin typeface="Courier New" panose="02070309020205020404" pitchFamily="49" charset="0"/>
                <a:cs typeface="Courier New" panose="02070309020205020404" pitchFamily="49" charset="0"/>
              </a:rPr>
              <a:t>i_mode</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type=</a:t>
            </a:r>
            <a:r>
              <a:rPr lang="en-CA" dirty="0" err="1">
                <a:solidFill>
                  <a:schemeClr val="bg1"/>
                </a:solidFill>
                <a:latin typeface="Courier New" panose="02070309020205020404" pitchFamily="49" charset="0"/>
                <a:cs typeface="Courier New" panose="02070309020205020404" pitchFamily="49" charset="0"/>
              </a:rPr>
              <a:t>dir_block</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a:t>
            </a:r>
            <a:r>
              <a:rPr lang="en-CA"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S_IFDIR</a:t>
            </a:r>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a:p>
            <a:r>
              <a:rPr lang="en-CA" dirty="0">
                <a:solidFill>
                  <a:schemeClr val="bg1"/>
                </a:solidFill>
                <a:latin typeface="Courier New" panose="02070309020205020404" pitchFamily="49" charset="0"/>
                <a:cs typeface="Courier New" panose="02070309020205020404" pitchFamily="49" charset="0"/>
              </a:rPr>
              <a:t>  </a:t>
            </a:r>
            <a:r>
              <a:rPr lang="en-CA" b="1" dirty="0" smtClean="0">
                <a:solidFill>
                  <a:schemeClr val="bg1"/>
                </a:solidFill>
                <a:latin typeface="Courier New" panose="02070309020205020404" pitchFamily="49" charset="0"/>
                <a:cs typeface="Courier New" panose="02070309020205020404" pitchFamily="49" charset="0"/>
              </a:rPr>
              <a:t>POINTER</a:t>
            </a:r>
            <a:r>
              <a:rPr lang="en-CA" dirty="0" smtClean="0">
                <a:solidFill>
                  <a:schemeClr val="bg1"/>
                </a:solidFill>
                <a:latin typeface="Courier New" panose="02070309020205020404" pitchFamily="49" charset="0"/>
                <a:cs typeface="Courier New" panose="02070309020205020404" pitchFamily="49" charset="0"/>
              </a:rPr>
              <a:t>(</a:t>
            </a:r>
            <a:r>
              <a:rPr lang="en-CA" dirty="0" err="1" smtClean="0">
                <a:solidFill>
                  <a:schemeClr val="bg1"/>
                </a:solidFill>
                <a:latin typeface="Courier New" panose="02070309020205020404" pitchFamily="49" charset="0"/>
                <a:cs typeface="Courier New" panose="02070309020205020404" pitchFamily="49" charset="0"/>
              </a:rPr>
              <a:t>addrspace</a:t>
            </a:r>
            <a:r>
              <a:rPr lang="en-CA" dirty="0" smtClean="0">
                <a:solidFill>
                  <a:schemeClr val="bg1"/>
                </a:solidFill>
                <a:latin typeface="Courier New" panose="02070309020205020404" pitchFamily="49" charset="0"/>
                <a:cs typeface="Courier New" panose="02070309020205020404" pitchFamily="49" charset="0"/>
              </a:rPr>
              <a:t>=block</a:t>
            </a:r>
            <a:r>
              <a:rPr lang="en-CA" dirty="0">
                <a:solidFill>
                  <a:schemeClr val="bg1"/>
                </a:solidFill>
                <a:latin typeface="Courier New" panose="02070309020205020404" pitchFamily="49" charset="0"/>
                <a:cs typeface="Courier New" panose="02070309020205020404" pitchFamily="49" charset="0"/>
              </a:rPr>
              <a:t>, </a:t>
            </a:r>
            <a:r>
              <a:rPr lang="en-CA" dirty="0" smtClean="0">
                <a:solidFill>
                  <a:schemeClr val="bg1"/>
                </a:solidFill>
                <a:latin typeface="Courier New" panose="02070309020205020404" pitchFamily="49" charset="0"/>
                <a:cs typeface="Courier New" panose="02070309020205020404" pitchFamily="49" charset="0"/>
              </a:rPr>
              <a:t>type=</a:t>
            </a:r>
            <a:r>
              <a:rPr lang="en-CA" dirty="0" err="1" smtClean="0">
                <a:solidFill>
                  <a:schemeClr val="bg1"/>
                </a:solidFill>
                <a:latin typeface="Courier New" panose="02070309020205020404" pitchFamily="49" charset="0"/>
                <a:cs typeface="Courier New" panose="02070309020205020404" pitchFamily="49" charset="0"/>
              </a:rPr>
              <a:t>data_block</a:t>
            </a:r>
            <a:r>
              <a:rPr lang="en-CA" dirty="0" smtClean="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S_IFREG</a:t>
            </a:r>
            <a:r>
              <a:rPr lang="en-CA" dirty="0">
                <a:solidFill>
                  <a:schemeClr val="bg1"/>
                </a:solidFill>
                <a:latin typeface="Courier New" panose="02070309020205020404" pitchFamily="49" charset="0"/>
                <a:cs typeface="Courier New" panose="02070309020205020404" pitchFamily="49" charset="0"/>
              </a:rPr>
              <a:t>)                 </a:t>
            </a:r>
          </a:p>
          <a:p>
            <a:r>
              <a:rPr lang="en-CA" dirty="0">
                <a:solidFill>
                  <a:schemeClr val="bg1"/>
                </a:solidFill>
                <a:latin typeface="Courier New" panose="02070309020205020404" pitchFamily="49" charset="0"/>
                <a:cs typeface="Courier New" panose="02070309020205020404" pitchFamily="49" charset="0"/>
              </a:rPr>
              <a:t>  __</a:t>
            </a:r>
            <a:r>
              <a:rPr lang="en-CA" dirty="0" smtClean="0">
                <a:solidFill>
                  <a:schemeClr val="bg1"/>
                </a:solidFill>
                <a:latin typeface="Courier New" panose="02070309020205020404" pitchFamily="49" charset="0"/>
                <a:cs typeface="Courier New" panose="02070309020205020404" pitchFamily="49" charset="0"/>
              </a:rPr>
              <a:t>le32 </a:t>
            </a:r>
            <a:r>
              <a:rPr lang="en-CA" dirty="0" err="1" smtClean="0">
                <a:solidFill>
                  <a:schemeClr val="bg1"/>
                </a:solidFill>
                <a:latin typeface="Courier New" panose="02070309020205020404" pitchFamily="49" charset="0"/>
                <a:cs typeface="Courier New" panose="02070309020205020404" pitchFamily="49" charset="0"/>
              </a:rPr>
              <a:t>i_block</a:t>
            </a:r>
            <a:r>
              <a:rPr lang="en-CA" dirty="0" smtClean="0">
                <a:solidFill>
                  <a:schemeClr val="bg1"/>
                </a:solidFill>
                <a:latin typeface="Courier New" panose="02070309020205020404" pitchFamily="49" charset="0"/>
                <a:cs typeface="Courier New" panose="02070309020205020404" pitchFamily="49" charset="0"/>
              </a:rPr>
              <a:t>[EXT3_NDIR_BLOCKS</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grpSp>
        <p:nvGrpSpPr>
          <p:cNvPr id="51" name="Group 50"/>
          <p:cNvGrpSpPr/>
          <p:nvPr/>
        </p:nvGrpSpPr>
        <p:grpSpPr>
          <a:xfrm>
            <a:off x="7291390" y="3242723"/>
            <a:ext cx="4005890" cy="2329679"/>
            <a:chOff x="6381750" y="2764522"/>
            <a:chExt cx="4520240" cy="2891821"/>
          </a:xfrm>
        </p:grpSpPr>
        <p:grpSp>
          <p:nvGrpSpPr>
            <p:cNvPr id="8" name="Group 7"/>
            <p:cNvGrpSpPr/>
            <p:nvPr/>
          </p:nvGrpSpPr>
          <p:grpSpPr>
            <a:xfrm>
              <a:off x="6381750" y="2764522"/>
              <a:ext cx="4520240" cy="1416953"/>
              <a:chOff x="23807537" y="2491038"/>
              <a:chExt cx="4669172" cy="1473330"/>
            </a:xfrm>
          </p:grpSpPr>
          <p:sp>
            <p:nvSpPr>
              <p:cNvPr id="43" name="Rectangle 42"/>
              <p:cNvSpPr/>
              <p:nvPr/>
            </p:nvSpPr>
            <p:spPr>
              <a:xfrm>
                <a:off x="23807537" y="2491038"/>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5" name="Rectangle 44"/>
              <p:cNvSpPr/>
              <p:nvPr/>
            </p:nvSpPr>
            <p:spPr>
              <a:xfrm>
                <a:off x="26870154" y="2561094"/>
                <a:ext cx="1606115" cy="504056"/>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block</a:t>
                </a:r>
                <a:endParaRPr lang="en-US" sz="1600" dirty="0">
                  <a:solidFill>
                    <a:schemeClr val="bg1"/>
                  </a:solidFill>
                </a:endParaRPr>
              </a:p>
            </p:txBody>
          </p:sp>
        </p:grpSp>
        <p:sp>
          <p:nvSpPr>
            <p:cNvPr id="9" name="Rounded Rectangle 8"/>
            <p:cNvSpPr/>
            <p:nvPr/>
          </p:nvSpPr>
          <p:spPr>
            <a:xfrm>
              <a:off x="6523701" y="2889011"/>
              <a:ext cx="1244869" cy="116797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10" name="Rounded Rectangle 9"/>
            <p:cNvSpPr/>
            <p:nvPr/>
          </p:nvSpPr>
          <p:spPr>
            <a:xfrm>
              <a:off x="7916382" y="2889011"/>
              <a:ext cx="1244869" cy="116797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grpSp>
          <p:nvGrpSpPr>
            <p:cNvPr id="12" name="Group 11"/>
            <p:cNvGrpSpPr/>
            <p:nvPr/>
          </p:nvGrpSpPr>
          <p:grpSpPr>
            <a:xfrm>
              <a:off x="7916382" y="4488492"/>
              <a:ext cx="1244868" cy="1167851"/>
              <a:chOff x="25154821" y="7455704"/>
              <a:chExt cx="2110198" cy="2062800"/>
            </a:xfrm>
            <a:solidFill>
              <a:schemeClr val="accent5">
                <a:lumMod val="40000"/>
                <a:lumOff val="60000"/>
              </a:schemeClr>
            </a:solidFill>
          </p:grpSpPr>
          <p:sp>
            <p:nvSpPr>
              <p:cNvPr id="39" name="Rectangle 38"/>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0" name="Rectangle 39"/>
              <p:cNvSpPr/>
              <p:nvPr/>
            </p:nvSpPr>
            <p:spPr>
              <a:xfrm>
                <a:off x="25324824" y="7614366"/>
                <a:ext cx="1770194" cy="114218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cxnSp>
          <p:nvCxnSpPr>
            <p:cNvPr id="15" name="Straight Arrow Connector 14"/>
            <p:cNvCxnSpPr>
              <a:stCxn id="10" idx="2"/>
              <a:endCxn id="39" idx="0"/>
            </p:cNvCxnSpPr>
            <p:nvPr/>
          </p:nvCxnSpPr>
          <p:spPr>
            <a:xfrm flipH="1">
              <a:off x="8538816" y="4056986"/>
              <a:ext cx="1"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9" idx="2"/>
              <a:endCxn id="48" idx="0"/>
            </p:cNvCxnSpPr>
            <p:nvPr/>
          </p:nvCxnSpPr>
          <p:spPr>
            <a:xfrm>
              <a:off x="7146136" y="4056986"/>
              <a:ext cx="0"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a:xfrm>
              <a:off x="6523702" y="4488492"/>
              <a:ext cx="1244868" cy="1167851"/>
              <a:chOff x="25154821" y="7455704"/>
              <a:chExt cx="2110198" cy="2062800"/>
            </a:xfrm>
            <a:solidFill>
              <a:schemeClr val="accent5">
                <a:lumMod val="40000"/>
                <a:lumOff val="60000"/>
              </a:schemeClr>
            </a:solidFill>
          </p:grpSpPr>
          <p:sp>
            <p:nvSpPr>
              <p:cNvPr id="48" name="Rectangle 47"/>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9" name="Rectangle 48"/>
              <p:cNvSpPr/>
              <p:nvPr/>
            </p:nvSpPr>
            <p:spPr>
              <a:xfrm>
                <a:off x="25324824" y="7614366"/>
                <a:ext cx="1770194" cy="114218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data block</a:t>
                </a:r>
                <a:endParaRPr lang="en-US" sz="1600" dirty="0">
                  <a:solidFill>
                    <a:schemeClr val="bg1"/>
                  </a:solidFill>
                </a:endParaRPr>
              </a:p>
            </p:txBody>
          </p:sp>
        </p:grpSp>
      </p:grpSp>
    </p:spTree>
    <p:extLst>
      <p:ext uri="{BB962C8B-B14F-4D97-AF65-F5344CB8AC3E}">
        <p14:creationId xmlns:p14="http://schemas.microsoft.com/office/powerpoint/2010/main" val="19432756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Check Annotations</a:t>
            </a:r>
            <a:endParaRPr lang="en-CA" dirty="0"/>
          </a:p>
        </p:txBody>
      </p:sp>
      <p:sp>
        <p:nvSpPr>
          <p:cNvPr id="2" name="Slide Number Placeholder 1"/>
          <p:cNvSpPr>
            <a:spLocks noGrp="1"/>
          </p:cNvSpPr>
          <p:nvPr>
            <p:ph type="sldNum" sz="quarter" idx="12"/>
          </p:nvPr>
        </p:nvSpPr>
        <p:spPr/>
        <p:txBody>
          <a:bodyPr/>
          <a:lstStyle/>
          <a:p>
            <a:fld id="{7B2023C8-B124-43A9-8F92-0EEF5BAA9995}" type="slidenum">
              <a:rPr lang="en-CA" smtClean="0"/>
              <a:pPr/>
              <a:t>20</a:t>
            </a:fld>
            <a:endParaRPr lang="en-CA"/>
          </a:p>
        </p:txBody>
      </p:sp>
      <p:sp>
        <p:nvSpPr>
          <p:cNvPr id="10" name="Content Placeholder 6"/>
          <p:cNvSpPr txBox="1">
            <a:spLocks noGrp="1"/>
          </p:cNvSpPr>
          <p:nvPr>
            <p:ph idx="4294967295"/>
          </p:nvPr>
        </p:nvSpPr>
        <p:spPr>
          <a:xfrm>
            <a:off x="747711" y="3603625"/>
            <a:ext cx="10285413" cy="517525"/>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G</a:t>
            </a:r>
            <a:r>
              <a:rPr lang="en-CA" dirty="0" smtClean="0"/>
              <a:t>enerated Code for ext4_super_block</a:t>
            </a:r>
          </a:p>
          <a:p>
            <a:pPr marL="0" indent="0">
              <a:buNone/>
            </a:pPr>
            <a:endParaRPr lang="en-CA" sz="1800" dirty="0" smtClean="0"/>
          </a:p>
          <a:p>
            <a:endParaRPr lang="en-CA" dirty="0" smtClean="0"/>
          </a:p>
        </p:txBody>
      </p:sp>
      <p:sp>
        <p:nvSpPr>
          <p:cNvPr id="9" name="Content Placeholder 8"/>
          <p:cNvSpPr>
            <a:spLocks noGrp="1"/>
          </p:cNvSpPr>
          <p:nvPr>
            <p:ph sz="quarter" idx="4294967295"/>
          </p:nvPr>
        </p:nvSpPr>
        <p:spPr>
          <a:xfrm>
            <a:off x="747711" y="4175125"/>
            <a:ext cx="10604500" cy="2060575"/>
          </a:xfrm>
        </p:spPr>
        <p:txBody>
          <a:bodyPr>
            <a:noAutofit/>
          </a:bodyPr>
          <a:lstStyle/>
          <a:p>
            <a:pPr marL="0" indent="0">
              <a:spcBef>
                <a:spcPts val="0"/>
              </a:spcBef>
              <a:spcAft>
                <a:spcPts val="0"/>
              </a:spcAft>
              <a:buNone/>
            </a:pP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Ext4SuperBlock::parse(</a:t>
            </a:r>
            <a:r>
              <a:rPr lang="en-CA" sz="1800" dirty="0" err="1" smtClean="0">
                <a:latin typeface="Courier New" panose="02070309020205020404" pitchFamily="49" charset="0"/>
                <a:cs typeface="Courier New" panose="02070309020205020404" pitchFamily="49" charset="0"/>
              </a:rPr>
              <a:t>const</a:t>
            </a:r>
            <a:r>
              <a:rPr lang="en-CA" sz="1800" dirty="0" smtClean="0">
                <a:latin typeface="Courier New" panose="02070309020205020404" pitchFamily="49" charset="0"/>
                <a:cs typeface="Courier New" panose="02070309020205020404" pitchFamily="49" charset="0"/>
              </a:rPr>
              <a:t> char * &amp; </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unsigned &amp;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ret; </a:t>
            </a:r>
          </a:p>
          <a:p>
            <a:pPr marL="0" indent="0">
              <a:spcBef>
                <a:spcPts val="0"/>
              </a:spcBef>
              <a:spcAft>
                <a:spcPts val="0"/>
              </a:spcAft>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if ((ret </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s_log_block_size.parse</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&lt; 0) return ret;</a:t>
            </a:r>
            <a:endParaRPr lang="en-CA" sz="18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endParaRPr lang="en-CA" sz="18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if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&lt;= 6</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ERR_CORRUPT;</a:t>
            </a:r>
          </a:p>
          <a:p>
            <a:pPr marL="0" indent="0">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if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0xef53</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return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ERR_CORRUPT;</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800" dirty="0" smtClean="0">
                <a:latin typeface="Courier New" panose="02070309020205020404" pitchFamily="49" charset="0"/>
                <a:cs typeface="Courier New" panose="02070309020205020404" pitchFamily="49" charset="0"/>
              </a:rPr>
              <a:t>}</a:t>
            </a:r>
            <a:endParaRPr lang="en-CA" sz="1800" dirty="0" smtClean="0">
              <a:latin typeface="Courier New" panose="02070309020205020404" pitchFamily="49" charset="0"/>
              <a:cs typeface="Courier New" panose="02070309020205020404" pitchFamily="49" charset="0"/>
            </a:endParaRPr>
          </a:p>
        </p:txBody>
      </p:sp>
      <p:sp>
        <p:nvSpPr>
          <p:cNvPr id="7" name="Rectangle 6"/>
          <p:cNvSpPr/>
          <p:nvPr/>
        </p:nvSpPr>
        <p:spPr>
          <a:xfrm>
            <a:off x="747711" y="1519416"/>
            <a:ext cx="6096000" cy="2031325"/>
          </a:xfrm>
          <a:prstGeom prst="rect">
            <a:avLst/>
          </a:prstGeom>
        </p:spPr>
        <p:txBody>
          <a:bodyPr>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smtClean="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__le16 </a:t>
            </a:r>
            <a:r>
              <a:rPr lang="en-CA" dirty="0" err="1" smtClean="0">
                <a:solidFill>
                  <a:schemeClr val="bg1"/>
                </a:solidFill>
                <a:latin typeface="Courier New" panose="02070309020205020404" pitchFamily="49" charset="0"/>
                <a:cs typeface="Courier New" panose="02070309020205020404" pitchFamily="49" charset="0"/>
              </a:rPr>
              <a:t>s_magic</a:t>
            </a:r>
            <a:r>
              <a:rPr lang="en-CA" dirty="0" smtClean="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r>
              <a:rPr lang="en-CA" dirty="0">
                <a:solidFill>
                  <a:schemeClr val="bg1"/>
                </a:solidFill>
                <a:latin typeface="Courier New" panose="02070309020205020404" pitchFamily="49" charset="0"/>
                <a:cs typeface="Courier New" panose="02070309020205020404" pitchFamily="49" charset="0"/>
              </a:rPr>
              <a:t>…</a:t>
            </a:r>
          </a:p>
          <a:p>
            <a:r>
              <a:rPr lang="en-CA" dirty="0">
                <a:solidFill>
                  <a:schemeClr val="bg1"/>
                </a:solidFill>
                <a:latin typeface="Courier New" panose="02070309020205020404" pitchFamily="49" charset="0"/>
                <a:cs typeface="Courier New" panose="02070309020205020404" pitchFamily="49" charset="0"/>
              </a:rPr>
              <a:t>  </a:t>
            </a:r>
            <a:r>
              <a:rPr lang="en-CA" b="1" dirty="0">
                <a:solidFill>
                  <a:schemeClr val="bg1"/>
                </a:solidFill>
                <a:latin typeface="Courier New" panose="02070309020205020404" pitchFamily="49" charset="0"/>
                <a:cs typeface="Courier New" panose="02070309020205020404" pitchFamily="49" charset="0"/>
              </a:rPr>
              <a:t>CHECK</a:t>
            </a:r>
            <a:r>
              <a:rPr lang="en-CA" dirty="0">
                <a:solidFill>
                  <a:schemeClr val="bg1"/>
                </a:solidFill>
                <a:latin typeface="Courier New" panose="02070309020205020404" pitchFamily="49" charset="0"/>
                <a:cs typeface="Courier New" panose="02070309020205020404" pitchFamily="49" charset="0"/>
              </a:rPr>
              <a:t>(expr=</a:t>
            </a:r>
            <a:r>
              <a:rPr lang="en-CA" dirty="0" err="1">
                <a:solidFill>
                  <a:schemeClr val="bg1"/>
                </a:solidFill>
                <a:latin typeface="Courier New" panose="02070309020205020404" pitchFamily="49" charset="0"/>
                <a:cs typeface="Courier New" panose="02070309020205020404" pitchFamily="49" charset="0"/>
              </a:rPr>
              <a:t>self.s_log_block_size</a:t>
            </a:r>
            <a:r>
              <a:rPr lang="en-CA" dirty="0">
                <a:solidFill>
                  <a:schemeClr val="bg1"/>
                </a:solidFill>
                <a:latin typeface="Courier New" panose="02070309020205020404" pitchFamily="49" charset="0"/>
                <a:cs typeface="Courier New" panose="02070309020205020404" pitchFamily="49" charset="0"/>
              </a:rPr>
              <a:t> &lt;= 6);</a:t>
            </a:r>
          </a:p>
          <a:p>
            <a:r>
              <a:rPr lang="en-CA" dirty="0">
                <a:solidFill>
                  <a:schemeClr val="bg1"/>
                </a:solidFill>
                <a:latin typeface="Courier New" panose="02070309020205020404" pitchFamily="49" charset="0"/>
                <a:cs typeface="Courier New" panose="02070309020205020404" pitchFamily="49" charset="0"/>
              </a:rPr>
              <a:t>  </a:t>
            </a:r>
            <a:r>
              <a:rPr lang="en-CA" b="1" dirty="0">
                <a:solidFill>
                  <a:schemeClr val="bg1"/>
                </a:solidFill>
                <a:latin typeface="Courier New" panose="02070309020205020404" pitchFamily="49" charset="0"/>
                <a:cs typeface="Courier New" panose="02070309020205020404" pitchFamily="49" charset="0"/>
              </a:rPr>
              <a:t>CHECK</a:t>
            </a:r>
            <a:r>
              <a:rPr lang="en-CA" dirty="0">
                <a:solidFill>
                  <a:schemeClr val="bg1"/>
                </a:solidFill>
                <a:latin typeface="Courier New" panose="02070309020205020404" pitchFamily="49" charset="0"/>
                <a:cs typeface="Courier New" panose="02070309020205020404" pitchFamily="49" charset="0"/>
              </a:rPr>
              <a:t>(expr=</a:t>
            </a:r>
            <a:r>
              <a:rPr lang="en-CA" dirty="0" err="1">
                <a:solidFill>
                  <a:schemeClr val="bg1"/>
                </a:solidFill>
                <a:latin typeface="Courier New" panose="02070309020205020404" pitchFamily="49" charset="0"/>
                <a:cs typeface="Courier New" panose="02070309020205020404" pitchFamily="49" charset="0"/>
              </a:rPr>
              <a:t>self.s_magic</a:t>
            </a:r>
            <a:r>
              <a:rPr lang="en-CA" dirty="0">
                <a:solidFill>
                  <a:schemeClr val="bg1"/>
                </a:solidFill>
                <a:latin typeface="Courier New" panose="02070309020205020404" pitchFamily="49" charset="0"/>
                <a:cs typeface="Courier New" panose="02070309020205020404" pitchFamily="49" charset="0"/>
              </a:rPr>
              <a:t> == 0xef53);</a:t>
            </a:r>
          </a:p>
          <a:p>
            <a:r>
              <a:rPr lang="en-CA" dirty="0">
                <a:solidFill>
                  <a:schemeClr val="bg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4324913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10" name="Content Placeholder 6"/>
          <p:cNvSpPr txBox="1">
            <a:spLocks noGrp="1"/>
          </p:cNvSpPr>
          <p:nvPr>
            <p:ph idx="1"/>
          </p:nvPr>
        </p:nvSpPr>
        <p:spPr>
          <a:xfrm>
            <a:off x="684211" y="1515358"/>
            <a:ext cx="10285797" cy="1546819"/>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C</a:t>
            </a:r>
            <a:r>
              <a:rPr lang="en-CA" dirty="0"/>
              <a:t>++ classes </a:t>
            </a:r>
            <a:r>
              <a:rPr lang="en-CA" dirty="0" smtClean="0"/>
              <a:t>are generated </a:t>
            </a:r>
            <a:r>
              <a:rPr lang="en-CA" dirty="0"/>
              <a:t>for all annotated structures </a:t>
            </a:r>
            <a:r>
              <a:rPr lang="en-CA" dirty="0" smtClean="0"/>
              <a:t/>
            </a:r>
            <a:br>
              <a:rPr lang="en-CA" dirty="0" smtClean="0"/>
            </a:br>
            <a:r>
              <a:rPr lang="en-CA" dirty="0" smtClean="0"/>
              <a:t>and </a:t>
            </a:r>
            <a:r>
              <a:rPr lang="en-CA" dirty="0"/>
              <a:t>their fields</a:t>
            </a:r>
          </a:p>
          <a:p>
            <a:pPr lvl="1"/>
            <a:r>
              <a:rPr lang="en-CA" dirty="0"/>
              <a:t>Enables type-safe parsing and serialization</a:t>
            </a:r>
          </a:p>
          <a:p>
            <a:pPr lvl="1"/>
            <a:r>
              <a:rPr lang="en-CA" dirty="0"/>
              <a:t>Allows introspection of type, size, name, and </a:t>
            </a:r>
            <a:r>
              <a:rPr lang="en-CA" dirty="0" smtClean="0"/>
              <a:t>parent</a:t>
            </a:r>
          </a:p>
          <a:p>
            <a:endParaRPr lang="en-CA" dirty="0" smtClean="0"/>
          </a:p>
          <a:p>
            <a:endParaRPr lang="en-CA" dirty="0" smtClean="0"/>
          </a:p>
          <a:p>
            <a:endParaRPr lang="en-CA" dirty="0"/>
          </a:p>
          <a:p>
            <a:endParaRPr lang="en-CA" dirty="0" smtClean="0"/>
          </a:p>
          <a:p>
            <a:endParaRPr lang="en-CA" dirty="0" smtClean="0"/>
          </a:p>
        </p:txBody>
      </p:sp>
      <p:sp>
        <p:nvSpPr>
          <p:cNvPr id="2" name="Slide Number Placeholder 1"/>
          <p:cNvSpPr>
            <a:spLocks noGrp="1"/>
          </p:cNvSpPr>
          <p:nvPr>
            <p:ph type="sldNum" sz="quarter" idx="12"/>
          </p:nvPr>
        </p:nvSpPr>
        <p:spPr/>
        <p:txBody>
          <a:bodyPr/>
          <a:lstStyle/>
          <a:p>
            <a:fld id="{7B2023C8-B124-43A9-8F92-0EEF5BAA9995}" type="slidenum">
              <a:rPr lang="en-CA" smtClean="0"/>
              <a:pPr/>
              <a:t>21</a:t>
            </a:fld>
            <a:endParaRPr lang="en-CA"/>
          </a:p>
        </p:txBody>
      </p:sp>
      <p:sp>
        <p:nvSpPr>
          <p:cNvPr id="11" name="Content Placeholder 8"/>
          <p:cNvSpPr txBox="1">
            <a:spLocks/>
          </p:cNvSpPr>
          <p:nvPr/>
        </p:nvSpPr>
        <p:spPr>
          <a:xfrm>
            <a:off x="747711" y="4174943"/>
            <a:ext cx="10604500" cy="2060757"/>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Ext4SuperBlock::parse(</a:t>
            </a:r>
            <a:r>
              <a:rPr lang="en-CA" sz="1800" dirty="0" err="1" smtClean="0">
                <a:latin typeface="Courier New" panose="02070309020205020404" pitchFamily="49" charset="0"/>
                <a:cs typeface="Courier New" panose="02070309020205020404" pitchFamily="49" charset="0"/>
              </a:rPr>
              <a:t>const</a:t>
            </a:r>
            <a:r>
              <a:rPr lang="en-CA" sz="1800" dirty="0" smtClean="0">
                <a:latin typeface="Courier New" panose="02070309020205020404" pitchFamily="49" charset="0"/>
                <a:cs typeface="Courier New" panose="02070309020205020404" pitchFamily="49" charset="0"/>
              </a:rPr>
              <a:t> char * &amp; </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unsigned &amp;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a:t>
            </a:r>
          </a:p>
          <a:p>
            <a:pPr marL="0" indent="0">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if ((ret = </a:t>
            </a:r>
            <a:r>
              <a:rPr lang="en-CA" sz="1800" dirty="0" err="1" smtClean="0">
                <a:latin typeface="Courier New" panose="02070309020205020404" pitchFamily="49" charset="0"/>
                <a:cs typeface="Courier New" panose="02070309020205020404" pitchFamily="49" charset="0"/>
              </a:rPr>
              <a:t>s_log_block_size.parse</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len</a:t>
            </a:r>
            <a:r>
              <a:rPr lang="en-CA" sz="1800" dirty="0" smtClean="0">
                <a:latin typeface="Courier New" panose="02070309020205020404" pitchFamily="49" charset="0"/>
                <a:cs typeface="Courier New" panose="02070309020205020404" pitchFamily="49" charset="0"/>
              </a:rPr>
              <a:t>)) &lt; 0) return ret;</a:t>
            </a:r>
          </a:p>
          <a:p>
            <a:pPr marL="0" indent="0">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if (!(</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&lt;= 6)) return ERR_CORRUPT;</a:t>
            </a:r>
          </a:p>
          <a:p>
            <a:pPr marL="0" indent="0">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if (!(</a:t>
            </a:r>
            <a:r>
              <a:rPr lang="en-CA" sz="1800" dirty="0" err="1" smtClean="0">
                <a:effectLst/>
                <a:latin typeface="Courier New" panose="02070309020205020404" pitchFamily="49" charset="0"/>
                <a:cs typeface="Courier New" panose="02070309020205020404" pitchFamily="49" charset="0"/>
              </a:rPr>
              <a:t>s_magic</a:t>
            </a:r>
            <a:r>
              <a:rPr lang="en-CA" sz="1800" dirty="0" smtClean="0">
                <a:effectLst/>
                <a:latin typeface="Courier New" panose="02070309020205020404" pitchFamily="49" charset="0"/>
                <a:cs typeface="Courier New" panose="02070309020205020404" pitchFamily="49" charset="0"/>
              </a:rPr>
              <a:t> == 0xef53)) return ERR_CORRUPT;</a:t>
            </a:r>
          </a:p>
          <a:p>
            <a:pPr marL="0" indent="0">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return 0;</a:t>
            </a:r>
          </a:p>
          <a:p>
            <a:pPr marL="0" indent="0">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endParaRPr lang="en-CA" sz="1800" dirty="0" smtClean="0">
              <a:latin typeface="Courier New" panose="02070309020205020404" pitchFamily="49" charset="0"/>
              <a:cs typeface="Courier New" panose="02070309020205020404" pitchFamily="49" charset="0"/>
            </a:endParaRPr>
          </a:p>
        </p:txBody>
      </p:sp>
      <p:sp>
        <p:nvSpPr>
          <p:cNvPr id="12" name="Content Placeholder 6"/>
          <p:cNvSpPr txBox="1">
            <a:spLocks/>
          </p:cNvSpPr>
          <p:nvPr/>
        </p:nvSpPr>
        <p:spPr>
          <a:xfrm>
            <a:off x="747711" y="3603625"/>
            <a:ext cx="10285413" cy="517525"/>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smtClean="0"/>
              <a:t>Generated Code for ext4_super_block</a:t>
            </a:r>
          </a:p>
          <a:p>
            <a:pPr marL="0" indent="0">
              <a:buFont typeface="Wingdings 3" panose="05040102010807070707" pitchFamily="18" charset="2"/>
              <a:buNone/>
            </a:pPr>
            <a:endParaRPr lang="en-CA" sz="1800" smtClean="0"/>
          </a:p>
          <a:p>
            <a:endParaRPr lang="en-CA" dirty="0" smtClean="0"/>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2" y="170"/>
            <a:ext cx="8534400" cy="1507067"/>
          </a:xfrm>
        </p:spPr>
        <p:txBody>
          <a:bodyPr/>
          <a:lstStyle/>
          <a:p>
            <a:r>
              <a:rPr lang="en-CA" dirty="0" smtClean="0"/>
              <a:t>Evaluation: Annotation Effort</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22</a:t>
            </a:fld>
            <a:endParaRPr lang="en-CA" dirty="0"/>
          </a:p>
        </p:txBody>
      </p:sp>
      <p:sp>
        <p:nvSpPr>
          <p:cNvPr id="3" name="Content Placeholder 2"/>
          <p:cNvSpPr>
            <a:spLocks noGrp="1"/>
          </p:cNvSpPr>
          <p:nvPr>
            <p:ph idx="4294967295"/>
          </p:nvPr>
        </p:nvSpPr>
        <p:spPr>
          <a:xfrm>
            <a:off x="684212" y="3301555"/>
            <a:ext cx="10285413" cy="2631412"/>
          </a:xfrm>
        </p:spPr>
        <p:txBody>
          <a:bodyPr/>
          <a:lstStyle/>
          <a:p>
            <a:r>
              <a:rPr lang="en-CA" dirty="0" smtClean="0"/>
              <a:t>Lines </a:t>
            </a:r>
            <a:r>
              <a:rPr lang="en-CA" dirty="0" smtClean="0"/>
              <a:t>of code required to correctly annotate modern file systems</a:t>
            </a:r>
          </a:p>
          <a:p>
            <a:pPr lvl="1"/>
            <a:r>
              <a:rPr lang="en-CA" dirty="0" smtClean="0"/>
              <a:t>Need to declare some structures</a:t>
            </a:r>
          </a:p>
          <a:p>
            <a:pPr lvl="2"/>
            <a:r>
              <a:rPr lang="en-CA" dirty="0" smtClean="0"/>
              <a:t>E.g. Ext4 indirect block is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the first 12 are direct block pointers, while the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Applications</a:t>
            </a:r>
            <a:endParaRPr lang="en-CA" dirty="0"/>
          </a:p>
        </p:txBody>
      </p:sp>
      <p:sp>
        <p:nvSpPr>
          <p:cNvPr id="3" name="Content Placeholder 2"/>
          <p:cNvSpPr>
            <a:spLocks noGrp="1"/>
          </p:cNvSpPr>
          <p:nvPr>
            <p:ph idx="1"/>
          </p:nvPr>
        </p:nvSpPr>
        <p:spPr/>
        <p:txBody>
          <a:bodyPr/>
          <a:lstStyle/>
          <a:p>
            <a:r>
              <a:rPr lang="en-CA" dirty="0" smtClean="0"/>
              <a:t>Example: File System Free Space Tool</a:t>
            </a:r>
          </a:p>
          <a:p>
            <a:pPr lvl="1"/>
            <a:r>
              <a:rPr lang="en-CA" dirty="0"/>
              <a:t>P</a:t>
            </a:r>
            <a:r>
              <a:rPr lang="en-CA" dirty="0" smtClean="0"/>
              <a:t>lots histogram of size of free extents</a:t>
            </a:r>
          </a:p>
          <a:p>
            <a:pPr lvl="1"/>
            <a:r>
              <a:rPr lang="en-CA" dirty="0" smtClean="0"/>
              <a:t>Application requires knowledge of how file system tracks block allocation</a:t>
            </a:r>
          </a:p>
          <a:p>
            <a:r>
              <a:rPr lang="en-CA" dirty="0" smtClean="0"/>
              <a:t>Manually</a:t>
            </a:r>
          </a:p>
          <a:p>
            <a:pPr lvl="1"/>
            <a:r>
              <a:rPr lang="en-CA" dirty="0"/>
              <a:t>W</a:t>
            </a:r>
            <a:r>
              <a:rPr lang="en-CA" dirty="0" smtClean="0"/>
              <a:t>rite code to traverse file system and access relevant metadata</a:t>
            </a:r>
          </a:p>
          <a:p>
            <a:pPr lvl="2"/>
            <a:r>
              <a:rPr lang="en-CA" dirty="0"/>
              <a:t>Often through </a:t>
            </a:r>
            <a:r>
              <a:rPr lang="en-CA" dirty="0" smtClean="0"/>
              <a:t>trial-and-error</a:t>
            </a:r>
          </a:p>
          <a:p>
            <a:pPr lvl="1"/>
            <a:r>
              <a:rPr lang="en-CA" dirty="0" smtClean="0"/>
              <a:t>Write code to process relevant metadata</a:t>
            </a:r>
          </a:p>
          <a:p>
            <a:r>
              <a:rPr lang="en-CA" dirty="0" smtClean="0"/>
              <a:t>Spiffy framework</a:t>
            </a:r>
          </a:p>
          <a:p>
            <a:pPr lvl="1"/>
            <a:r>
              <a:rPr lang="en-CA" dirty="0" smtClean="0"/>
              <a:t>Simplifies the traversal and helps make it more robust</a:t>
            </a:r>
          </a:p>
          <a:p>
            <a:pPr lvl="1"/>
            <a:r>
              <a:rPr lang="en-CA" dirty="0" smtClean="0"/>
              <a:t>Application program focuses on processing relevant metadata</a:t>
            </a:r>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ext4_super_block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dev.read</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1024</a:t>
            </a:r>
            <a:r>
              <a:rPr lang="en-CA" sz="1800" dirty="0">
                <a:effectLst>
                  <a:glow rad="101600">
                    <a:srgbClr val="FFFF00">
                      <a:alpha val="40000"/>
                    </a:srgbClr>
                  </a:glow>
                </a:effectLst>
                <a:latin typeface="Courier New" panose="02070309020205020404" pitchFamily="49" charset="0"/>
                <a:cs typeface="Courier New" panose="02070309020205020404" pitchFamily="49" charset="0"/>
              </a:rPr>
              <a:t> &lt;&lt; </a:t>
            </a:r>
            <a:r>
              <a:rPr lang="en-CA" sz="1800" dirty="0" err="1">
                <a:effectLst>
                  <a:glow rad="101600">
                    <a:srgbClr val="FFFF00">
                      <a:alpha val="40000"/>
                    </a:srgbClr>
                  </a:glow>
                </a:effectLst>
                <a:latin typeface="Courier New" panose="02070309020205020404" pitchFamily="49" charset="0"/>
                <a:cs typeface="Courier New" panose="02070309020205020404" pitchFamily="49" charset="0"/>
              </a:rPr>
              <a:t>sb</a:t>
            </a:r>
            <a:r>
              <a:rPr lang="en-CA" sz="1800" dirty="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dev.set_block_size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2</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1</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ceil(</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s_blocks_count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s_blocks_per_group</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ceil(</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sizeof</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a:t>
            </a:r>
            <a:r>
              <a:rPr lang="en-CA" sz="1800" dirty="0" err="1">
                <a:effectLst>
                  <a:glow rad="101600">
                    <a:srgbClr val="FFFF00">
                      <a:alpha val="40000"/>
                    </a:srgbClr>
                  </a:glow>
                </a:effectLst>
                <a:latin typeface="Courier New" panose="02070309020205020404" pitchFamily="49" charset="0"/>
                <a:cs typeface="Courier New" panose="02070309020205020404" pitchFamily="49" charset="0"/>
              </a:rPr>
              <a:t>blk_size</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struct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ext4_group_desc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bg_blknr</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bg_nblks</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latin typeface="Courier New" panose="02070309020205020404" pitchFamily="49" charset="0"/>
                <a:cs typeface="Courier New" panose="02070309020205020404" pitchFamily="49" charset="0"/>
              </a:rPr>
              <a:t>  </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for (</a:t>
            </a:r>
            <a:r>
              <a:rPr lang="en-CA" sz="1800"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smtClean="0">
                <a:solidFill>
                  <a:srgbClr val="0070C0"/>
                </a:solidFill>
                <a:effectLst>
                  <a:glow rad="101600">
                    <a:srgbClr val="FFFF00">
                      <a:alpha val="40000"/>
                    </a:srgbClr>
                  </a:glow>
                </a:effectLst>
                <a:latin typeface="Courier New" panose="02070309020205020404" pitchFamily="49" charset="0"/>
                <a:cs typeface="Courier New" panose="02070309020205020404" pitchFamily="49" charset="0"/>
              </a:rPr>
              <a:t>0</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&lt; </a:t>
            </a:r>
            <a:r>
              <a:rPr lang="en-CA" sz="1800" dirty="0" err="1">
                <a:effectLst>
                  <a:glow rad="101600">
                    <a:srgbClr val="FFFF00">
                      <a:alpha val="40000"/>
                    </a:srgbClr>
                  </a:glow>
                </a:effectLst>
                <a:latin typeface="Courier New" panose="02070309020205020404" pitchFamily="49" charset="0"/>
                <a:cs typeface="Courier New" panose="02070309020205020404" pitchFamily="49" charset="0"/>
              </a:rPr>
              <a:t>bg_ngrps</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char</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buf</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 = </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dev.read_block</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dirty="0" err="1" smtClean="0">
                <a:effectLst>
                  <a:glow rad="101600">
                    <a:srgbClr val="FFFF00">
                      <a:alpha val="40000"/>
                    </a:srgbClr>
                  </a:glow>
                </a:effectLst>
                <a:latin typeface="Courier New" panose="02070309020205020404" pitchFamily="49" charset="0"/>
                <a:cs typeface="Courier New" panose="02070309020205020404" pitchFamily="49" charset="0"/>
              </a:rPr>
              <a:t>bg_block_bitmap</a:t>
            </a:r>
            <a:r>
              <a:rPr lang="en-CA" sz="1800"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b="1" dirty="0" smtClean="0">
                <a:latin typeface="Courier New" panose="02070309020205020404" pitchFamily="49" charset="0"/>
                <a:cs typeface="Courier New" panose="02070309020205020404" pitchFamily="49" charset="0"/>
              </a:rPr>
              <a:t> ret = </a:t>
            </a:r>
            <a:r>
              <a:rPr lang="en-CA" sz="1800" b="1" dirty="0" err="1" smtClean="0">
                <a:latin typeface="Courier New" panose="02070309020205020404" pitchFamily="49" charset="0"/>
                <a:cs typeface="Courier New" panose="02070309020205020404" pitchFamily="49" charset="0"/>
              </a:rPr>
              <a:t>process_block_bitmap</a:t>
            </a:r>
            <a:r>
              <a:rPr lang="en-CA" sz="1800" b="1" dirty="0" smtClean="0">
                <a:latin typeface="Courier New" panose="02070309020205020404" pitchFamily="49" charset="0"/>
                <a:cs typeface="Courier New" panose="02070309020205020404" pitchFamily="49" charset="0"/>
              </a:rPr>
              <a:t>(</a:t>
            </a:r>
            <a:r>
              <a:rPr lang="en-CA" sz="1800" b="1" dirty="0" err="1" smtClean="0">
                <a:latin typeface="Courier New" panose="02070309020205020404" pitchFamily="49" charset="0"/>
                <a:cs typeface="Courier New" panose="02070309020205020404" pitchFamily="49" charset="0"/>
              </a:rPr>
              <a:t>buf</a:t>
            </a:r>
            <a:r>
              <a:rPr lang="en-CA" sz="1800" b="1" dirty="0" smtClean="0">
                <a:latin typeface="Courier New" panose="02070309020205020404" pitchFamily="49" charset="0"/>
                <a:cs typeface="Courier New" panose="02070309020205020404" pitchFamily="49" charset="0"/>
              </a:rPr>
              <a:t>, </a:t>
            </a:r>
            <a:r>
              <a:rPr lang="en-CA" sz="1800" b="1" dirty="0" err="1" smtClean="0">
                <a:latin typeface="Courier New" panose="02070309020205020404" pitchFamily="49" charset="0"/>
                <a:cs typeface="Courier New" panose="02070309020205020404" pitchFamily="49" charset="0"/>
              </a:rPr>
              <a:t>vec</a:t>
            </a:r>
            <a:r>
              <a:rPr lang="en-CA" sz="1800" b="1"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
        <p:nvSpPr>
          <p:cNvPr id="7" name="TextBox 6"/>
          <p:cNvSpPr txBox="1"/>
          <p:nvPr/>
        </p:nvSpPr>
        <p:spPr>
          <a:xfrm>
            <a:off x="1941949" y="5405604"/>
            <a:ext cx="7885815" cy="576096"/>
          </a:xfrm>
          <a:prstGeom prst="rect">
            <a:avLst/>
          </a:prstGeom>
          <a:solidFill>
            <a:schemeClr val="accent5">
              <a:lumMod val="20000"/>
              <a:lumOff val="80000"/>
            </a:schemeClr>
          </a:solidFill>
          <a:ln w="25400">
            <a:solidFill>
              <a:schemeClr val="bg1"/>
            </a:solidFill>
            <a:prstDash val="sysDash"/>
          </a:ln>
        </p:spPr>
        <p:txBody>
          <a:bodyPr wrap="square" rtlCol="0" anchor="ctr" anchorCtr="0">
            <a:noAutofit/>
          </a:bodyPr>
          <a:lstStyle/>
          <a:p>
            <a:pPr algn="ct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dirty="0" err="1">
                <a:effectLst/>
                <a:latin typeface="Courier New" panose="02070309020205020404" pitchFamily="49" charset="0"/>
                <a:cs typeface="Courier New" panose="02070309020205020404" pitchFamily="49" charset="0"/>
              </a:rPr>
              <a:t>sb</a:t>
            </a:r>
            <a:r>
              <a:rPr lang="en-CA" sz="1800" dirty="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]-&gt;</a:t>
            </a:r>
            <a:r>
              <a:rPr lang="en-CA" sz="1800" dirty="0" err="1" smtClean="0">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b="1" dirty="0" err="1" smtClean="0">
                <a:solidFill>
                  <a:schemeClr val="accent6">
                    <a:lumMod val="75000"/>
                  </a:schemeClr>
                </a:solidFill>
                <a:effectLst>
                  <a:glow rad="101600">
                    <a:srgbClr val="FFFF00">
                      <a:alpha val="40000"/>
                    </a:srgbClr>
                  </a:glow>
                </a:effectLst>
                <a:latin typeface="Courier New" panose="02070309020205020404" pitchFamily="49" charset="0"/>
                <a:cs typeface="Courier New" panose="02070309020205020404" pitchFamily="49" charset="0"/>
              </a:rPr>
              <a:t>int</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ret = </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process_block_bitmap</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buf</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vec</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en-CA" dirty="0"/>
          </a:p>
        </p:txBody>
      </p:sp>
      <p:sp>
        <p:nvSpPr>
          <p:cNvPr id="11" name="TextBox 10"/>
          <p:cNvSpPr txBox="1"/>
          <p:nvPr/>
        </p:nvSpPr>
        <p:spPr>
          <a:xfrm>
            <a:off x="3015675" y="5405604"/>
            <a:ext cx="5805051" cy="576096"/>
          </a:xfrm>
          <a:prstGeom prst="rect">
            <a:avLst/>
          </a:prstGeom>
          <a:solidFill>
            <a:schemeClr val="accent5">
              <a:lumMod val="20000"/>
              <a:lumOff val="80000"/>
            </a:schemeClr>
          </a:solidFill>
          <a:ln w="25400">
            <a:solidFill>
              <a:schemeClr val="bg1"/>
            </a:solidFill>
            <a:prstDash val="sysDash"/>
          </a:ln>
        </p:spPr>
        <p:txBody>
          <a:bodyPr wrap="square" rtlCol="0" anchor="ctr" anchorCtr="0">
            <a:noAutofit/>
          </a:bodyPr>
          <a:lstStyle/>
          <a:p>
            <a:pPr algn="ctr">
              <a:lnSpc>
                <a:spcPts val="2400"/>
              </a:lnSpc>
              <a:spcBef>
                <a:spcPts val="600"/>
              </a:spcBef>
            </a:pPr>
            <a:r>
              <a:rPr lang="en-CA" dirty="0">
                <a:solidFill>
                  <a:schemeClr val="bg1"/>
                </a:solidFill>
              </a:rPr>
              <a:t>Ideally, we would only have to write this </a:t>
            </a:r>
            <a:r>
              <a:rPr lang="en-CA" dirty="0" smtClean="0">
                <a:solidFill>
                  <a:schemeClr val="bg1"/>
                </a:solidFill>
              </a:rPr>
              <a:t>function</a:t>
            </a:r>
            <a:endParaRPr lang="en-CA" dirty="0">
              <a:solidFill>
                <a:schemeClr val="bg1"/>
              </a:solidFill>
            </a:endParaRPr>
          </a:p>
        </p:txBody>
      </p:sp>
      <p:cxnSp>
        <p:nvCxnSpPr>
          <p:cNvPr id="8" name="Straight Arrow Connector 7"/>
          <p:cNvCxnSpPr/>
          <p:nvPr/>
        </p:nvCxnSpPr>
        <p:spPr>
          <a:xfrm rot="10800000">
            <a:off x="6870700" y="4965701"/>
            <a:ext cx="1117600" cy="612775"/>
          </a:xfrm>
          <a:prstGeom prst="bentConnector3">
            <a:avLst>
              <a:gd name="adj1" fmla="val 0"/>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684212" y="1507237"/>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a:t>
            </a:r>
            <a:r>
              <a:rPr lang="en-CA" sz="1800" b="1" dirty="0" smtClean="0">
                <a:latin typeface="Courier New" panose="02070309020205020404" pitchFamily="49" charset="0"/>
                <a:cs typeface="Courier New" panose="02070309020205020404" pitchFamily="49" charset="0"/>
              </a:rPr>
              <a:t>process_ext4</a:t>
            </a:r>
            <a:r>
              <a:rPr lang="en-CA" sz="1800" dirty="0" smtClean="0">
                <a:latin typeface="Courier New" panose="02070309020205020404" pitchFamily="49" charset="0"/>
                <a:cs typeface="Courier New" panose="02070309020205020404" pitchFamily="49" charset="0"/>
              </a:rPr>
              <a:t>(vector&lt;Extent&gt; &amp;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4">
                    <a:lumMod val="75000"/>
                  </a:schemeClr>
                </a:solidFill>
                <a:effectLst/>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ext4_super_block * </a:t>
            </a:r>
            <a:r>
              <a:rPr lang="en-CA" sz="1800" dirty="0" err="1" smtClean="0">
                <a:effectLst/>
                <a:latin typeface="Courier New" panose="02070309020205020404" pitchFamily="49" charset="0"/>
                <a:cs typeface="Courier New" panose="02070309020205020404" pitchFamily="49" charset="0"/>
              </a:rPr>
              <a:t>sb</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a:t>
            </a:r>
            <a:r>
              <a:rPr lang="en-CA" sz="1800" dirty="0" smtClean="0">
                <a:effectLst/>
                <a:latin typeface="Courier New" panose="02070309020205020404" pitchFamily="49" charset="0"/>
                <a:cs typeface="Courier New" panose="02070309020205020404" pitchFamily="49" charset="0"/>
              </a:rPr>
              <a:t>(</a:t>
            </a:r>
            <a:r>
              <a:rPr lang="en-CA" sz="1800" dirty="0" smtClean="0">
                <a:solidFill>
                  <a:srgbClr val="0070C0"/>
                </a:solidFill>
                <a:effectLst/>
                <a:latin typeface="Courier New" panose="02070309020205020404" pitchFamily="49" charset="0"/>
                <a:cs typeface="Courier New" panose="02070309020205020404" pitchFamily="49" charset="0"/>
              </a:rPr>
              <a:t>1024</a:t>
            </a:r>
            <a:r>
              <a:rPr lang="en-CA" sz="1800" dirty="0" smtClean="0">
                <a:effectLst/>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 = </a:t>
            </a:r>
            <a:r>
              <a:rPr lang="en-CA" sz="1800" dirty="0">
                <a:solidFill>
                  <a:srgbClr val="0070C0"/>
                </a:solidFill>
                <a:effectLst/>
                <a:latin typeface="Courier New" panose="02070309020205020404" pitchFamily="49" charset="0"/>
                <a:cs typeface="Courier New" panose="02070309020205020404" pitchFamily="49" charset="0"/>
              </a:rPr>
              <a:t>1024</a:t>
            </a:r>
            <a:r>
              <a:rPr lang="en-CA" sz="1800" dirty="0">
                <a:effectLst/>
                <a:latin typeface="Courier New" panose="02070309020205020404" pitchFamily="49" charset="0"/>
                <a:cs typeface="Courier New" panose="02070309020205020404" pitchFamily="49" charset="0"/>
              </a:rPr>
              <a:t> &lt;&lt; </a:t>
            </a:r>
            <a:r>
              <a:rPr lang="en-CA" sz="1800" b="1" dirty="0" err="1">
                <a:effectLst>
                  <a:glow rad="101600">
                    <a:srgbClr val="FFFF00">
                      <a:alpha val="40000"/>
                    </a:srgbClr>
                  </a:glow>
                </a:effectLst>
                <a:latin typeface="Courier New" panose="02070309020205020404" pitchFamily="49" charset="0"/>
                <a:cs typeface="Courier New" panose="02070309020205020404" pitchFamily="49" charset="0"/>
              </a:rPr>
              <a:t>sb</a:t>
            </a:r>
            <a:r>
              <a:rPr lang="en-CA" sz="1800" b="1" dirty="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dev.set_block_size</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 (</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smtClean="0">
                <a:solidFill>
                  <a:srgbClr val="0070C0"/>
                </a:solidFill>
                <a:effectLst/>
                <a:latin typeface="Courier New" panose="02070309020205020404" pitchFamily="49" charset="0"/>
                <a:cs typeface="Courier New" panose="02070309020205020404" pitchFamily="49" charset="0"/>
              </a:rPr>
              <a:t>2</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1</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 ceil(</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s_blocks_count</a:t>
            </a:r>
            <a:r>
              <a:rPr lang="en-CA" sz="1800" dirty="0" smtClean="0">
                <a:effectLst/>
                <a:latin typeface="Courier New" panose="02070309020205020404" pitchFamily="49" charset="0"/>
                <a:cs typeface="Courier New" panose="02070309020205020404" pitchFamily="49" charset="0"/>
              </a:rPr>
              <a:t>, </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sb</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s_blocks_per_group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 </a:t>
            </a:r>
            <a:r>
              <a:rPr lang="en-CA" sz="1800" dirty="0">
                <a:effectLst/>
                <a:latin typeface="Courier New" panose="02070309020205020404" pitchFamily="49" charset="0"/>
                <a:cs typeface="Courier New" panose="02070309020205020404" pitchFamily="49" charset="0"/>
              </a:rPr>
              <a:t>= </a:t>
            </a:r>
            <a:r>
              <a:rPr lang="en-CA" sz="1800" dirty="0" smtClean="0">
                <a:effectLst/>
                <a:latin typeface="Courier New" panose="02070309020205020404" pitchFamily="49" charset="0"/>
                <a:cs typeface="Courier New" panose="02070309020205020404" pitchFamily="49" charset="0"/>
              </a:rPr>
              <a:t>ceil(</a:t>
            </a:r>
            <a:r>
              <a:rPr lang="en-CA" sz="1800" dirty="0" err="1" smtClean="0">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sizeof</a:t>
            </a:r>
            <a:r>
              <a:rPr lang="en-CA" sz="1800" dirty="0" smtClean="0">
                <a:effectLst/>
                <a:latin typeface="Courier New" panose="02070309020205020404" pitchFamily="49" charset="0"/>
                <a:cs typeface="Courier New" panose="02070309020205020404" pitchFamily="49" charset="0"/>
              </a:rPr>
              <a:t>(</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a:t>
            </a:r>
            <a:r>
              <a:rPr lang="en-CA" sz="1800" dirty="0" err="1">
                <a:effectLst/>
                <a:latin typeface="Courier New" panose="02070309020205020404" pitchFamily="49" charset="0"/>
                <a:cs typeface="Courier New" panose="02070309020205020404" pitchFamily="49" charset="0"/>
              </a:rPr>
              <a:t>blk_size</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solidFill>
                  <a:srgbClr val="00B050"/>
                </a:solidFill>
                <a:effectLst/>
                <a:latin typeface="Courier New" panose="02070309020205020404" pitchFamily="49" charset="0"/>
                <a:cs typeface="Courier New" panose="02070309020205020404" pitchFamily="49" charset="0"/>
              </a:rPr>
              <a:t>  </a:t>
            </a:r>
            <a:r>
              <a:rPr lang="en-CA" sz="1800" dirty="0">
                <a:solidFill>
                  <a:schemeClr val="accent4">
                    <a:lumMod val="75000"/>
                  </a:schemeClr>
                </a:solidFill>
                <a:effectLst/>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struct</a:t>
            </a:r>
            <a:r>
              <a:rPr lang="en-CA" sz="1800" dirty="0" smtClean="0">
                <a:effectLst/>
                <a:latin typeface="Courier New" panose="02070309020205020404" pitchFamily="49" charset="0"/>
                <a:cs typeface="Courier New" panose="02070309020205020404" pitchFamily="49" charset="0"/>
              </a:rPr>
              <a:t> ext4_group_desc * </a:t>
            </a:r>
            <a:r>
              <a:rPr lang="en-CA" sz="1800" dirty="0" err="1" smtClean="0">
                <a:effectLst/>
                <a:latin typeface="Courier New" panose="02070309020205020404" pitchFamily="49" charset="0"/>
                <a:cs typeface="Courier New" panose="02070309020205020404" pitchFamily="49" charset="0"/>
              </a:rPr>
              <a:t>gd</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dirty="0" err="1" smtClean="0">
                <a:effectLst/>
                <a:latin typeface="Courier New" panose="02070309020205020404" pitchFamily="49" charset="0"/>
                <a:cs typeface="Courier New" panose="02070309020205020404" pitchFamily="49" charset="0"/>
              </a:rPr>
              <a:t>bg_blknr</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bg_nblks</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800" dirty="0" smtClean="0">
                <a:effectLst/>
                <a:latin typeface="Courier New" panose="02070309020205020404" pitchFamily="49" charset="0"/>
                <a:cs typeface="Courier New" panose="02070309020205020404" pitchFamily="49" charset="0"/>
              </a:rPr>
              <a:t>  for (</a:t>
            </a:r>
            <a:r>
              <a:rPr lang="en-CA" sz="1800" dirty="0" err="1" smtClean="0">
                <a:solidFill>
                  <a:schemeClr val="accent6">
                    <a:lumMod val="75000"/>
                  </a:schemeClr>
                </a:solidFill>
                <a:effectLst/>
                <a:latin typeface="Courier New" panose="02070309020205020404" pitchFamily="49" charset="0"/>
                <a:cs typeface="Courier New" panose="02070309020205020404" pitchFamily="49" charset="0"/>
              </a:rPr>
              <a:t>int</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 </a:t>
            </a:r>
            <a:r>
              <a:rPr lang="en-CA" sz="1800" dirty="0" smtClean="0">
                <a:solidFill>
                  <a:srgbClr val="0070C0"/>
                </a:solidFill>
                <a:effectLst/>
                <a:latin typeface="Courier New" panose="02070309020205020404" pitchFamily="49" charset="0"/>
                <a:cs typeface="Courier New" panose="02070309020205020404" pitchFamily="49" charset="0"/>
              </a:rPr>
              <a:t>0</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&lt; </a:t>
            </a:r>
            <a:r>
              <a:rPr lang="en-CA" sz="1800" dirty="0" err="1">
                <a:effectLst/>
                <a:latin typeface="Courier New" panose="02070309020205020404" pitchFamily="49" charset="0"/>
                <a:cs typeface="Courier New" panose="02070309020205020404" pitchFamily="49" charset="0"/>
              </a:rPr>
              <a:t>bg_ngrps</a:t>
            </a:r>
            <a:r>
              <a:rPr lang="en-CA" sz="1800" dirty="0" smtClean="0">
                <a:effectLst/>
                <a:latin typeface="Courier New" panose="02070309020205020404" pitchFamily="49" charset="0"/>
                <a:cs typeface="Courier New" panose="02070309020205020404" pitchFamily="49" charset="0"/>
              </a:rPr>
              <a:t>; ++</a:t>
            </a:r>
            <a:r>
              <a:rPr lang="en-CA" sz="1800" dirty="0" err="1" smtClean="0">
                <a:effectLst/>
                <a:latin typeface="Courier New" panose="02070309020205020404" pitchFamily="49" charset="0"/>
                <a:cs typeface="Courier New" panose="02070309020205020404" pitchFamily="49" charset="0"/>
              </a:rPr>
              <a:t>i</a:t>
            </a:r>
            <a:r>
              <a:rPr lang="en-CA" sz="1800" dirty="0" smtClean="0">
                <a:effectLst/>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effectLst/>
                <a:latin typeface="Courier New" panose="02070309020205020404" pitchFamily="49" charset="0"/>
                <a:cs typeface="Courier New" panose="02070309020205020404" pitchFamily="49" charset="0"/>
              </a:rPr>
              <a:t>	</a:t>
            </a:r>
            <a:r>
              <a:rPr lang="en-CA" sz="1800" dirty="0" smtClean="0">
                <a:solidFill>
                  <a:schemeClr val="accent6">
                    <a:lumMod val="75000"/>
                  </a:schemeClr>
                </a:solidFill>
                <a:effectLst/>
                <a:latin typeface="Courier New" panose="02070309020205020404" pitchFamily="49" charset="0"/>
                <a:cs typeface="Courier New" panose="02070309020205020404" pitchFamily="49" charset="0"/>
              </a:rPr>
              <a:t>char</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buf</a:t>
            </a:r>
            <a:r>
              <a:rPr lang="en-CA" sz="1800" dirty="0" smtClean="0">
                <a:effectLst/>
                <a:latin typeface="Courier New" panose="02070309020205020404" pitchFamily="49" charset="0"/>
                <a:cs typeface="Courier New" panose="02070309020205020404" pitchFamily="49" charset="0"/>
              </a:rPr>
              <a:t> = </a:t>
            </a:r>
            <a:r>
              <a:rPr lang="en-CA" sz="1800" dirty="0" err="1" smtClean="0">
                <a:effectLst/>
                <a:latin typeface="Courier New" panose="02070309020205020404" pitchFamily="49" charset="0"/>
                <a:cs typeface="Courier New" panose="02070309020205020404" pitchFamily="49" charset="0"/>
              </a:rPr>
              <a:t>dev.read_block</a:t>
            </a:r>
            <a:r>
              <a:rPr lang="en-CA" sz="1800" dirty="0" smtClean="0">
                <a:effectLst/>
                <a:latin typeface="Courier New" panose="02070309020205020404" pitchFamily="49" charset="0"/>
                <a:cs typeface="Courier New" panose="02070309020205020404" pitchFamily="49" charset="0"/>
              </a:rPr>
              <a: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gd</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i</a:t>
            </a:r>
            <a:r>
              <a:rPr lang="en-CA" sz="1800" b="1" dirty="0" smtClean="0">
                <a:effectLst>
                  <a:glow rad="101600">
                    <a:srgbClr val="FFFF00">
                      <a:alpha val="40000"/>
                    </a:srgbClr>
                  </a:glow>
                </a:effectLst>
                <a:latin typeface="Courier New" panose="02070309020205020404" pitchFamily="49" charset="0"/>
                <a:cs typeface="Courier New" panose="02070309020205020404" pitchFamily="49" charset="0"/>
              </a:rPr>
              <a:t>]-&gt;</a:t>
            </a:r>
            <a:r>
              <a:rPr lang="en-CA" sz="1800" b="1" dirty="0" err="1" smtClean="0">
                <a:effectLst>
                  <a:glow rad="101600">
                    <a:srgbClr val="FFFF00">
                      <a:alpha val="40000"/>
                    </a:srgbClr>
                  </a:glow>
                </a:effectLst>
                <a:latin typeface="Courier New" panose="02070309020205020404" pitchFamily="49" charset="0"/>
                <a:cs typeface="Courier New" panose="02070309020205020404" pitchFamily="49" charset="0"/>
              </a:rPr>
              <a:t>bg_block_bitmap</a:t>
            </a:r>
            <a:r>
              <a:rPr lang="en-CA" sz="1800" dirty="0" smtClean="0">
                <a:effectLst/>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r>
              <a:rPr lang="en-CA" sz="18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800" dirty="0" smtClean="0">
                <a:latin typeface="Courier New" panose="02070309020205020404" pitchFamily="49" charset="0"/>
                <a:cs typeface="Courier New" panose="02070309020205020404" pitchFamily="49" charset="0"/>
              </a:rPr>
              <a:t> ret = </a:t>
            </a:r>
            <a:r>
              <a:rPr lang="en-CA" sz="1800" dirty="0" err="1" smtClean="0">
                <a:latin typeface="Courier New" panose="02070309020205020404" pitchFamily="49" charset="0"/>
                <a:cs typeface="Courier New" panose="02070309020205020404" pitchFamily="49" charset="0"/>
              </a:rPr>
              <a:t>process_block_bitmap</a:t>
            </a:r>
            <a:r>
              <a:rPr lang="en-CA" sz="1800" dirty="0" smtClean="0">
                <a:latin typeface="Courier New" panose="02070309020205020404" pitchFamily="49" charset="0"/>
                <a:cs typeface="Courier New" panose="02070309020205020404" pitchFamily="49" charset="0"/>
              </a:rPr>
              <a:t>(</a:t>
            </a:r>
            <a:r>
              <a:rPr lang="en-CA" sz="1800" dirty="0" err="1" smtClean="0">
                <a:latin typeface="Courier New" panose="02070309020205020404" pitchFamily="49" charset="0"/>
                <a:cs typeface="Courier New" panose="02070309020205020404" pitchFamily="49" charset="0"/>
              </a:rPr>
              <a:t>buf</a:t>
            </a:r>
            <a:r>
              <a:rPr lang="en-CA" sz="1800" dirty="0" smtClean="0">
                <a:latin typeface="Courier New" panose="02070309020205020404" pitchFamily="49" charset="0"/>
                <a:cs typeface="Courier New" panose="02070309020205020404" pitchFamily="49" charset="0"/>
              </a:rPr>
              <a:t>, </a:t>
            </a:r>
            <a:r>
              <a:rPr lang="en-CA" sz="1800" dirty="0" err="1" smtClean="0">
                <a:latin typeface="Courier New" panose="02070309020205020404" pitchFamily="49" charset="0"/>
                <a:cs typeface="Courier New" panose="02070309020205020404" pitchFamily="49" charset="0"/>
              </a:rPr>
              <a:t>vec</a:t>
            </a:r>
            <a:r>
              <a:rPr lang="en-CA" sz="18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a:latin typeface="Courier New" panose="02070309020205020404" pitchFamily="49" charset="0"/>
                <a:cs typeface="Courier New" panose="02070309020205020404" pitchFamily="49" charset="0"/>
              </a:rPr>
              <a:t> </a:t>
            </a:r>
            <a:r>
              <a:rPr lang="en-CA" sz="18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8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13" name="TextBox 12"/>
          <p:cNvSpPr txBox="1"/>
          <p:nvPr/>
        </p:nvSpPr>
        <p:spPr>
          <a:xfrm>
            <a:off x="3238500" y="5405604"/>
            <a:ext cx="6589264" cy="842796"/>
          </a:xfrm>
          <a:prstGeom prst="rect">
            <a:avLst/>
          </a:prstGeom>
          <a:solidFill>
            <a:schemeClr val="accent5">
              <a:lumMod val="20000"/>
              <a:lumOff val="80000"/>
            </a:schemeClr>
          </a:solidFill>
          <a:ln w="25400">
            <a:solidFill>
              <a:schemeClr val="bg1"/>
            </a:solidFill>
            <a:prstDash val="sysDash"/>
          </a:ln>
        </p:spPr>
        <p:txBody>
          <a:bodyPr wrap="square" rtlCol="0" anchor="ctr" anchorCtr="0">
            <a:noAutofit/>
          </a:bodyPr>
          <a:lstStyle/>
          <a:p>
            <a:pPr algn="ctr">
              <a:lnSpc>
                <a:spcPts val="2400"/>
              </a:lnSpc>
              <a:spcBef>
                <a:spcPts val="600"/>
              </a:spcBef>
            </a:pPr>
            <a:r>
              <a:rPr lang="en-CA" b="1" dirty="0">
                <a:solidFill>
                  <a:schemeClr val="bg1"/>
                </a:solidFill>
              </a:rPr>
              <a:t>No sanity </a:t>
            </a:r>
            <a:r>
              <a:rPr lang="en-CA" b="1" dirty="0" smtClean="0">
                <a:solidFill>
                  <a:schemeClr val="bg1"/>
                </a:solidFill>
              </a:rPr>
              <a:t>checks! </a:t>
            </a:r>
            <a:r>
              <a:rPr lang="en-CA" dirty="0" smtClean="0">
                <a:solidFill>
                  <a:schemeClr val="bg1"/>
                </a:solidFill>
              </a:rPr>
              <a:t>Value </a:t>
            </a:r>
            <a:r>
              <a:rPr lang="en-CA" dirty="0">
                <a:solidFill>
                  <a:schemeClr val="bg1"/>
                </a:solidFill>
              </a:rPr>
              <a:t>may be out- </a:t>
            </a:r>
            <a:r>
              <a:rPr lang="en-CA" dirty="0" smtClean="0">
                <a:solidFill>
                  <a:schemeClr val="bg1"/>
                </a:solidFill>
              </a:rPr>
              <a:t>of-bound or invalid, which can </a:t>
            </a:r>
            <a:r>
              <a:rPr lang="en-CA" dirty="0">
                <a:solidFill>
                  <a:schemeClr val="bg1"/>
                </a:solidFill>
              </a:rPr>
              <a:t>cause </a:t>
            </a:r>
            <a:r>
              <a:rPr lang="en-CA" dirty="0" smtClean="0">
                <a:solidFill>
                  <a:schemeClr val="bg1"/>
                </a:solidFill>
              </a:rPr>
              <a:t>crashes or </a:t>
            </a:r>
            <a:r>
              <a:rPr lang="en-CA" dirty="0">
                <a:solidFill>
                  <a:schemeClr val="bg1"/>
                </a:solidFill>
              </a:rPr>
              <a:t>garbage output</a:t>
            </a:r>
            <a:endParaRPr lang="en-CA" dirty="0">
              <a:solidFill>
                <a:schemeClr val="bg1"/>
              </a:solidFill>
            </a:endParaRP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Application Using Spiffy Library</a:t>
            </a: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27</a:t>
            </a:fld>
            <a:endParaRPr lang="en-CA" dirty="0"/>
          </a:p>
        </p:txBody>
      </p:sp>
      <p:sp>
        <p:nvSpPr>
          <p:cNvPr id="11"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b="1" dirty="0">
                <a:latin typeface="Courier New" panose="02070309020205020404" pitchFamily="49" charset="0"/>
                <a:cs typeface="Courier New" panose="02070309020205020404" pitchFamily="49" charset="0"/>
              </a:rPr>
              <a:t>3</a:t>
            </a:r>
            <a:r>
              <a:rPr lang="en-CA" sz="2000" b="1" dirty="0" smtClean="0">
                <a:latin typeface="Courier New" panose="02070309020205020404" pitchFamily="49" charset="0"/>
                <a:cs typeface="Courier New" panose="02070309020205020404" pitchFamily="49" charset="0"/>
              </a:rPr>
              <a:t>:  Ext4</a:t>
            </a:r>
            <a:r>
              <a:rPr lang="en-CA" sz="2000" b="1" dirty="0">
                <a:latin typeface="Courier New" panose="02070309020205020404" pitchFamily="49" charset="0"/>
                <a:cs typeface="Courier New" panose="02070309020205020404" pitchFamily="49" charset="0"/>
              </a:rPr>
              <a:t>::</a:t>
            </a:r>
            <a:r>
              <a:rPr lang="en-CA" sz="2000" b="1" dirty="0" err="1">
                <a:latin typeface="Courier New" panose="02070309020205020404" pitchFamily="49" charset="0"/>
                <a:cs typeface="Courier New" panose="02070309020205020404" pitchFamily="49" charset="0"/>
              </a:rPr>
              <a:t>SuperBlock</a:t>
            </a:r>
            <a:r>
              <a:rPr lang="en-CA" sz="2000" b="1" dirty="0">
                <a:latin typeface="Courier New" panose="02070309020205020404" pitchFamily="49" charset="0"/>
                <a:cs typeface="Courier New" panose="02070309020205020404" pitchFamily="49" charset="0"/>
              </a:rPr>
              <a:t> *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7:  return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process_by_type</a:t>
            </a:r>
            <a:r>
              <a:rPr lang="en-CA" sz="2000" dirty="0" smtClean="0">
                <a:latin typeface="Courier New" panose="02070309020205020404" pitchFamily="49" charset="0"/>
                <a:cs typeface="Courier New" panose="02070309020205020404" pitchFamily="49" charset="0"/>
              </a:rPr>
              <a:t>(BLOCK_BITMAP, </a:t>
            </a:r>
            <a:r>
              <a:rPr lang="en-CA" sz="2000" dirty="0" smtClean="0">
                <a:latin typeface="Courier New" panose="02070309020205020404" pitchFamily="49" charset="0"/>
                <a:cs typeface="Courier New" panose="02070309020205020404" pitchFamily="49" charset="0"/>
              </a:rPr>
              <a:t/>
            </a:r>
            <a:br>
              <a:rPr lang="en-CA" sz="2000" dirty="0" smtClean="0">
                <a:latin typeface="Courier New" panose="02070309020205020404" pitchFamily="49" charset="0"/>
                <a:cs typeface="Courier New" panose="02070309020205020404" pitchFamily="49" charset="0"/>
              </a:rPr>
            </a:b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process_block_bitmap</a:t>
            </a:r>
            <a:r>
              <a:rPr lang="en-CA" sz="2000" dirty="0" smtClean="0">
                <a:latin typeface="Courier New" panose="02070309020205020404" pitchFamily="49" charset="0"/>
                <a:cs typeface="Courier New" panose="02070309020205020404" pitchFamily="49" charset="0"/>
              </a:rPr>
              <a:t>, &amp;</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7" name="TextBox 6"/>
          <p:cNvSpPr txBox="1"/>
          <p:nvPr/>
        </p:nvSpPr>
        <p:spPr>
          <a:xfrm>
            <a:off x="8595139" y="1995894"/>
            <a:ext cx="1856961" cy="1015663"/>
          </a:xfrm>
          <a:prstGeom prst="rect">
            <a:avLst/>
          </a:prstGeom>
          <a:solidFill>
            <a:schemeClr val="accent5">
              <a:lumMod val="20000"/>
              <a:lumOff val="80000"/>
            </a:schemeClr>
          </a:solidFill>
          <a:ln w="12700">
            <a:solidFill>
              <a:srgbClr val="FF0000"/>
            </a:solidFill>
            <a:prstDash val="dash"/>
          </a:ln>
        </p:spPr>
        <p:txBody>
          <a:bodyPr wrap="square" rtlCol="0">
            <a:spAutoFit/>
          </a:bodyPr>
          <a:lstStyle/>
          <a:p>
            <a:pPr algn="ct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i="1" dirty="0" smtClean="0">
                <a:solidFill>
                  <a:schemeClr val="bg1"/>
                </a:solidFill>
              </a:rPr>
              <a:t/>
            </a:r>
            <a:br>
              <a:rPr lang="en-CA" i="1" dirty="0" smtClean="0">
                <a:solidFill>
                  <a:schemeClr val="bg1"/>
                </a:solidFill>
              </a:rPr>
            </a:br>
            <a:r>
              <a:rPr lang="en-CA" dirty="0" smtClean="0">
                <a:solidFill>
                  <a:schemeClr val="bg1"/>
                </a:solidFill>
              </a:rPr>
              <a:t>if </a:t>
            </a:r>
            <a:r>
              <a:rPr lang="en-CA" dirty="0" smtClean="0">
                <a:solidFill>
                  <a:schemeClr val="bg1"/>
                </a:solidFill>
              </a:rPr>
              <a:t>super </a:t>
            </a:r>
            <a:r>
              <a:rPr lang="en-CA" dirty="0" smtClean="0">
                <a:solidFill>
                  <a:schemeClr val="bg1"/>
                </a:solidFill>
              </a:rPr>
              <a:t>block</a:t>
            </a:r>
            <a:br>
              <a:rPr lang="en-CA" dirty="0" smtClean="0">
                <a:solidFill>
                  <a:schemeClr val="bg1"/>
                </a:solidFill>
              </a:rPr>
            </a:br>
            <a:r>
              <a:rPr lang="en-CA" dirty="0" smtClean="0">
                <a:solidFill>
                  <a:schemeClr val="bg1"/>
                </a:solidFill>
              </a:rPr>
              <a:t> </a:t>
            </a:r>
            <a:r>
              <a:rPr lang="en-CA" dirty="0" smtClean="0">
                <a:solidFill>
                  <a:schemeClr val="bg1"/>
                </a:solidFill>
              </a:rPr>
              <a:t>is corrupted</a:t>
            </a:r>
            <a:endParaRPr lang="en-CA" dirty="0">
              <a:solidFill>
                <a:schemeClr val="bg1"/>
              </a:solidFill>
            </a:endParaRPr>
          </a:p>
        </p:txBody>
      </p:sp>
      <p:cxnSp>
        <p:nvCxnSpPr>
          <p:cNvPr id="8" name="Straight Arrow Connector 7"/>
          <p:cNvCxnSpPr>
            <a:stCxn id="7" idx="1"/>
          </p:cNvCxnSpPr>
          <p:nvPr/>
        </p:nvCxnSpPr>
        <p:spPr>
          <a:xfrm flipH="1">
            <a:off x="7937501" y="2503726"/>
            <a:ext cx="657638" cy="125174"/>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r>
              <a:rPr lang="en-CA" sz="2000" b="1" dirty="0" smtClean="0">
                <a:latin typeface="Courier New" panose="02070309020205020404" pitchFamily="49" charset="0"/>
                <a:cs typeface="Courier New" panose="02070309020205020404" pitchFamily="49" charset="0"/>
              </a:rPr>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dirty="0"/>
              <a:t>Application Using Spiffy Library</a:t>
            </a:r>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cxnSp>
        <p:nvCxnSpPr>
          <p:cNvPr id="14" name="Straight Arrow Connector 13"/>
          <p:cNvCxnSpPr/>
          <p:nvPr/>
        </p:nvCxnSpPr>
        <p:spPr>
          <a:xfrm flipV="1">
            <a:off x="6096000" y="4394201"/>
            <a:ext cx="0" cy="457199"/>
          </a:xfrm>
          <a:prstGeom prst="straightConnector1">
            <a:avLst/>
          </a:prstGeom>
          <a:ln w="635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054600" y="4995059"/>
            <a:ext cx="2082800" cy="400110"/>
          </a:xfrm>
          <a:prstGeom prst="rect">
            <a:avLst/>
          </a:prstGeom>
          <a:noFill/>
        </p:spPr>
        <p:txBody>
          <a:bodyPr wrap="square" rtlCol="0">
            <a:spAutoFit/>
          </a:bodyPr>
          <a:lstStyle/>
          <a:p>
            <a:pPr algn="ctr">
              <a:lnSpc>
                <a:spcPts val="2400"/>
              </a:lnSpc>
              <a:spcBef>
                <a:spcPts val="600"/>
              </a:spcBef>
            </a:pPr>
            <a:r>
              <a:rPr lang="en-CA" sz="2800" b="1" dirty="0" smtClean="0">
                <a:solidFill>
                  <a:schemeClr val="bg1"/>
                </a:solidFill>
              </a:rPr>
              <a:t>THAT’S IT</a:t>
            </a:r>
            <a:endParaRPr lang="en-CA" sz="2800" b="1" dirty="0">
              <a:solidFill>
                <a:schemeClr val="bg1"/>
              </a:solidFill>
            </a:endParaRPr>
          </a:p>
        </p:txBody>
      </p:sp>
    </p:spTree>
    <p:extLst>
      <p:ext uri="{BB962C8B-B14F-4D97-AF65-F5344CB8AC3E}">
        <p14:creationId xmlns:p14="http://schemas.microsoft.com/office/powerpoint/2010/main" val="318214544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2" y="170"/>
            <a:ext cx="8534400" cy="1507067"/>
          </a:xfrm>
        </p:spPr>
        <p:txBody>
          <a:bodyPr/>
          <a:lstStyle/>
          <a:p>
            <a:r>
              <a:rPr lang="en-CA" dirty="0"/>
              <a:t>Application Using Spiffy Library</a:t>
            </a:r>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
        <p:nvSpPr>
          <p:cNvPr id="10" name="Content Placeholder 9"/>
          <p:cNvSpPr>
            <a:spLocks noGrp="1"/>
          </p:cNvSpPr>
          <p:nvPr>
            <p:ph idx="4294967295"/>
          </p:nvPr>
        </p:nvSpPr>
        <p:spPr>
          <a:xfrm>
            <a:off x="684212" y="4633178"/>
            <a:ext cx="10285413" cy="1577975"/>
          </a:xfrm>
        </p:spPr>
        <p:txBody>
          <a:bodyPr/>
          <a:lstStyle/>
          <a:p>
            <a:r>
              <a:rPr lang="en-CA" dirty="0"/>
              <a:t>Advantages</a:t>
            </a:r>
          </a:p>
          <a:p>
            <a:pPr lvl="1"/>
            <a:r>
              <a:rPr lang="en-CA" dirty="0"/>
              <a:t>simplifies file system traversal, reduces need to know format details</a:t>
            </a:r>
          </a:p>
          <a:p>
            <a:pPr lvl="1"/>
            <a:r>
              <a:rPr lang="en-CA" dirty="0"/>
              <a:t>library parsing routines have automatically generated sanity checks</a:t>
            </a:r>
          </a:p>
          <a:p>
            <a:pPr marL="0" indent="0">
              <a:buNone/>
            </a:pPr>
            <a:endParaRPr lang="en-CA" dirty="0" smtClean="0"/>
          </a:p>
        </p:txBody>
      </p:sp>
      <p:sp>
        <p:nvSpPr>
          <p:cNvPr id="17" name="Content Placeholder 6"/>
          <p:cNvSpPr txBox="1">
            <a:spLocks/>
          </p:cNvSpPr>
          <p:nvPr/>
        </p:nvSpPr>
        <p:spPr>
          <a:xfrm>
            <a:off x="684212" y="1507237"/>
            <a:ext cx="10285797" cy="3000968"/>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process_ext4</a:t>
            </a:r>
            <a:r>
              <a:rPr lang="en-CA" sz="2000" dirty="0" smtClean="0">
                <a:latin typeface="Courier New" panose="02070309020205020404" pitchFamily="49" charset="0"/>
                <a:cs typeface="Courier New" panose="02070309020205020404" pitchFamily="49" charset="0"/>
              </a:rPr>
              <a:t>(vector&lt;Extent&gt;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Ext4 </a:t>
            </a:r>
            <a:r>
              <a:rPr lang="en-CA" sz="2000" dirty="0">
                <a:latin typeface="Courier New" panose="02070309020205020404" pitchFamily="49" charset="0"/>
                <a:cs typeface="Courier New" panose="02070309020205020404" pitchFamily="49" charset="0"/>
              </a:rPr>
              <a:t>ext4(dev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Ext4</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smtClean="0">
                <a:solidFill>
                  <a:srgbClr val="0070C0"/>
                </a:solidFill>
                <a:latin typeface="Courier New" panose="02070309020205020404" pitchFamily="49" charset="0"/>
                <a:cs typeface="Courier New" panose="02070309020205020404" pitchFamily="49" charset="0"/>
              </a:rPr>
              <a:t>1024</a:t>
            </a:r>
            <a:r>
              <a:rPr lang="en-CA" sz="2000" dirty="0" smtClean="0">
                <a:latin typeface="Courier New" panose="02070309020205020404" pitchFamily="49" charset="0"/>
                <a:cs typeface="Courier New" panose="02070309020205020404" pitchFamily="49" charset="0"/>
              </a:rPr>
              <a:t> &lt;&lt; </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s_log_block_size</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(BLOCK_BITMAP, </a:t>
            </a:r>
            <a:r>
              <a:rPr lang="en-CA" sz="2000" b="1" dirty="0" smtClean="0">
                <a:latin typeface="Courier New" panose="02070309020205020404" pitchFamily="49" charset="0"/>
                <a:cs typeface="Courier New" panose="02070309020205020404" pitchFamily="49" charset="0"/>
              </a:rPr>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process_block_bitmap</a:t>
            </a:r>
            <a:r>
              <a:rPr lang="en-CA" sz="2000" b="1" dirty="0" smtClean="0">
                <a:latin typeface="Courier New" panose="02070309020205020404" pitchFamily="49" charset="0"/>
                <a:cs typeface="Courier New" panose="02070309020205020404" pitchFamily="49" charset="0"/>
              </a:rPr>
              <a:t>, &amp;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6738799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Spiffy </a:t>
            </a:r>
            <a:r>
              <a:rPr lang="en-CA" dirty="0" smtClean="0"/>
              <a:t>Application for </a:t>
            </a:r>
            <a:r>
              <a:rPr lang="en-CA" dirty="0" err="1" smtClean="0"/>
              <a:t>Btrfs</a:t>
            </a:r>
            <a:endParaRPr lang="en-CA" dirty="0"/>
          </a:p>
        </p:txBody>
      </p:sp>
      <p:sp>
        <p:nvSpPr>
          <p:cNvPr id="10" name="Content Placeholder 9"/>
          <p:cNvSpPr>
            <a:spLocks noGrp="1"/>
          </p:cNvSpPr>
          <p:nvPr>
            <p:ph idx="1"/>
          </p:nvPr>
        </p:nvSpPr>
        <p:spPr/>
        <p:txBody>
          <a:bodyPr/>
          <a:lstStyle/>
          <a:p>
            <a:pPr marL="0" indent="0">
              <a:buNone/>
            </a:pPr>
            <a:endParaRPr lang="en-CA" dirty="0"/>
          </a:p>
          <a:p>
            <a:endParaRPr lang="en-CA" dirty="0" smtClean="0"/>
          </a:p>
          <a:p>
            <a:endParaRPr lang="en-CA" dirty="0"/>
          </a:p>
          <a:p>
            <a:endParaRPr lang="en-CA" dirty="0" smtClean="0"/>
          </a:p>
          <a:p>
            <a:pPr marL="0" indent="0">
              <a:buNone/>
            </a:pPr>
            <a:endParaRPr lang="en-CA" dirty="0"/>
          </a:p>
        </p:txBody>
      </p:sp>
      <p:sp>
        <p:nvSpPr>
          <p:cNvPr id="15" name="Slide Number Placeholder 14"/>
          <p:cNvSpPr>
            <a:spLocks noGrp="1"/>
          </p:cNvSpPr>
          <p:nvPr>
            <p:ph type="sldNum" sz="quarter" idx="12"/>
          </p:nvPr>
        </p:nvSpPr>
        <p:spPr/>
        <p:txBody>
          <a:bodyPr/>
          <a:lstStyle/>
          <a:p>
            <a:fld id="{7B2023C8-B124-43A9-8F92-0EEF5BAA9995}" type="slidenum">
              <a:rPr lang="en-CA" smtClean="0"/>
              <a:pPr/>
              <a:t>30</a:t>
            </a:fld>
            <a:endParaRPr lang="en-CA" dirty="0"/>
          </a:p>
        </p:txBody>
      </p:sp>
      <p:sp>
        <p:nvSpPr>
          <p:cNvPr id="6" name="Content Placeholder 6"/>
          <p:cNvSpPr txBox="1">
            <a:spLocks/>
          </p:cNvSpPr>
          <p:nvPr/>
        </p:nvSpPr>
        <p:spPr>
          <a:xfrm>
            <a:off x="684212" y="1507237"/>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Font typeface="Wingdings 3" panose="05040102010807070707" pitchFamily="18" charset="2"/>
              <a:buNone/>
            </a:pPr>
            <a:r>
              <a:rPr lang="en-CA" sz="2000" dirty="0">
                <a:solidFill>
                  <a:schemeClr val="accent6">
                    <a:lumMod val="75000"/>
                  </a:schemeClr>
                </a:solidFill>
                <a:latin typeface="Courier New" panose="02070309020205020404" pitchFamily="49" charset="0"/>
                <a:cs typeface="Courier New" panose="02070309020205020404" pitchFamily="49" charset="0"/>
              </a:rPr>
              <a:t> </a:t>
            </a:r>
            <a:r>
              <a:rPr lang="en-CA" sz="2000" dirty="0" smtClean="0">
                <a:solidFill>
                  <a:schemeClr val="accent6">
                    <a:lumMod val="75000"/>
                  </a:schemeClr>
                </a:solidFill>
                <a:latin typeface="Courier New" panose="02070309020205020404" pitchFamily="49" charset="0"/>
                <a:cs typeface="Courier New" panose="02070309020205020404" pitchFamily="49" charset="0"/>
              </a:rPr>
              <a:t> </a:t>
            </a:r>
            <a:r>
              <a:rPr lang="en-CA" sz="20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2000"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process_btrfs</a:t>
            </a:r>
            <a:r>
              <a:rPr lang="en-CA" sz="2000" dirty="0" smtClean="0">
                <a:latin typeface="Courier New" panose="02070309020205020404" pitchFamily="49" charset="0"/>
                <a:cs typeface="Courier New" panose="02070309020205020404" pitchFamily="49" charset="0"/>
              </a:rPr>
              <a:t>(vector&lt;Extent</a:t>
            </a:r>
            <a:r>
              <a:rPr lang="en-CA" sz="2000" dirty="0" smtClean="0">
                <a:latin typeface="Courier New" panose="02070309020205020404" pitchFamily="49" charset="0"/>
                <a:cs typeface="Courier New" panose="02070309020205020404" pitchFamily="49" charset="0"/>
              </a:rPr>
              <a:t>&gt; &amp; </a:t>
            </a:r>
            <a:r>
              <a:rPr lang="en-CA" sz="2000" dirty="0" err="1" smtClean="0">
                <a:latin typeface="Courier New" panose="02070309020205020404" pitchFamily="49" charset="0"/>
                <a:cs typeface="Courier New" panose="02070309020205020404" pitchFamily="49" charset="0"/>
              </a:rPr>
              <a:t>vec</a:t>
            </a:r>
            <a:r>
              <a:rPr lang="en-CA" sz="2000" dirty="0" smtClean="0">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(dev</a:t>
            </a:r>
            <a:r>
              <a:rPr lang="en-CA" sz="20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2</a:t>
            </a:r>
            <a:r>
              <a:rPr lang="en-CA" sz="2000" dirty="0" smtClean="0">
                <a:latin typeface="Courier New" panose="02070309020205020404" pitchFamily="49" charset="0"/>
                <a:cs typeface="Courier New" panose="02070309020205020404" pitchFamily="49" charset="0"/>
              </a:rPr>
              <a:t>:  </a:t>
            </a:r>
            <a:r>
              <a:rPr lang="en-CA" sz="20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3</a:t>
            </a:r>
            <a:r>
              <a:rPr lang="en-CA" sz="2000" dirty="0" smtClean="0">
                <a:latin typeface="Courier New" panose="02070309020205020404" pitchFamily="49" charset="0"/>
                <a:cs typeface="Courier New" panose="02070309020205020404" pitchFamily="49" charset="0"/>
              </a:rPr>
              <a:t>:  </a:t>
            </a:r>
            <a:r>
              <a:rPr lang="en-CA" sz="2000" dirty="0" err="1" smtClean="0">
                <a:latin typeface="Courier New" panose="02070309020205020404" pitchFamily="49" charset="0"/>
                <a:cs typeface="Courier New" panose="02070309020205020404" pitchFamily="49" charset="0"/>
              </a:rPr>
              <a:t>Btrfs</a:t>
            </a:r>
            <a:r>
              <a:rPr lang="en-CA" sz="2000" dirty="0" smtClean="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SuperBlock</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smtClean="0">
                <a:latin typeface="Courier New" panose="02070309020205020404" pitchFamily="49" charset="0"/>
                <a:cs typeface="Courier New" panose="02070309020205020404" pitchFamily="49" charset="0"/>
              </a:rPr>
              <a:t>btrfs.fetch_super</a:t>
            </a:r>
            <a:r>
              <a:rPr lang="en-CA" sz="200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a:latin typeface="Courier New" panose="02070309020205020404" pitchFamily="49" charset="0"/>
                <a:cs typeface="Courier New" panose="02070309020205020404" pitchFamily="49" charset="0"/>
              </a:rPr>
              <a:t>4</a:t>
            </a:r>
            <a:r>
              <a:rPr lang="en-CA" sz="2000" dirty="0" smtClean="0">
                <a:latin typeface="Courier New" panose="02070309020205020404" pitchFamily="49" charset="0"/>
                <a:cs typeface="Courier New" panose="02070309020205020404" pitchFamily="49" charset="0"/>
              </a:rPr>
              <a:t>:  if </a:t>
            </a:r>
            <a:r>
              <a:rPr lang="en-CA" sz="2000" dirty="0">
                <a:latin typeface="Courier New" panose="02070309020205020404" pitchFamily="49" charset="0"/>
                <a:cs typeface="Courier New" panose="02070309020205020404" pitchFamily="49" charset="0"/>
              </a:rPr>
              <a:t>(</a:t>
            </a:r>
            <a:r>
              <a:rPr lang="en-CA" sz="2000" dirty="0" err="1">
                <a:latin typeface="Courier New" panose="02070309020205020404" pitchFamily="49" charset="0"/>
                <a:cs typeface="Courier New" panose="02070309020205020404" pitchFamily="49" charset="0"/>
              </a:rPr>
              <a:t>sb</a:t>
            </a:r>
            <a:r>
              <a:rPr lang="en-CA" sz="2000" dirty="0">
                <a:latin typeface="Courier New" panose="02070309020205020404" pitchFamily="49" charset="0"/>
                <a:cs typeface="Courier New" panose="02070309020205020404" pitchFamily="49" charset="0"/>
              </a:rPr>
              <a:t> == </a:t>
            </a:r>
            <a:r>
              <a:rPr lang="en-CA" sz="2000" dirty="0" err="1">
                <a:latin typeface="Courier New" panose="02070309020205020404" pitchFamily="49" charset="0"/>
                <a:cs typeface="Courier New" panose="02070309020205020404" pitchFamily="49" charset="0"/>
              </a:rPr>
              <a:t>nullptr</a:t>
            </a:r>
            <a:r>
              <a:rPr lang="en-CA" sz="2000" dirty="0">
                <a:latin typeface="Courier New" panose="02070309020205020404" pitchFamily="49" charset="0"/>
                <a:cs typeface="Courier New" panose="02070309020205020404" pitchFamily="49" charset="0"/>
              </a:rPr>
              <a:t>) </a:t>
            </a:r>
            <a:r>
              <a:rPr lang="en-CA" sz="2000" dirty="0" smtClean="0">
                <a:latin typeface="Courier New" panose="02070309020205020404" pitchFamily="49" charset="0"/>
                <a:cs typeface="Courier New" panose="02070309020205020404" pitchFamily="49" charset="0"/>
              </a:rPr>
              <a:t>return </a:t>
            </a:r>
            <a:r>
              <a:rPr lang="en-CA" sz="2000" dirty="0" smtClean="0">
                <a:solidFill>
                  <a:srgbClr val="0070C0"/>
                </a:solidFill>
                <a:latin typeface="Courier New" panose="02070309020205020404" pitchFamily="49" charset="0"/>
                <a:cs typeface="Courier New" panose="02070309020205020404" pitchFamily="49" charset="0"/>
              </a:rPr>
              <a:t>-1</a:t>
            </a:r>
            <a:r>
              <a:rPr lang="en-CA" sz="2000" dirty="0" smtClean="0">
                <a:latin typeface="Courier New" panose="02070309020205020404" pitchFamily="49" charset="0"/>
                <a:cs typeface="Courier New" panose="02070309020205020404" pitchFamily="49" charset="0"/>
              </a:rPr>
              <a:t>;</a:t>
            </a:r>
            <a:endParaRPr lang="en-CA" sz="200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5:  </a:t>
            </a:r>
            <a:r>
              <a:rPr lang="en-CA" sz="2000" dirty="0" err="1" smtClean="0">
                <a:latin typeface="Courier New" panose="02070309020205020404" pitchFamily="49" charset="0"/>
                <a:cs typeface="Courier New" panose="02070309020205020404" pitchFamily="49" charset="0"/>
              </a:rPr>
              <a:t>dev.set_block_size</a:t>
            </a:r>
            <a:r>
              <a:rPr lang="en-CA" sz="2000" dirty="0" smtClean="0">
                <a:latin typeface="Courier New" panose="02070309020205020404" pitchFamily="49" charset="0"/>
                <a:cs typeface="Courier New" panose="02070309020205020404" pitchFamily="49" charset="0"/>
              </a:rPr>
              <a:t>(</a:t>
            </a:r>
            <a:r>
              <a:rPr lang="en-CA" sz="2000" dirty="0" err="1" smtClean="0">
                <a:latin typeface="Courier New" panose="02070309020205020404" pitchFamily="49" charset="0"/>
                <a:cs typeface="Courier New" panose="02070309020205020404" pitchFamily="49" charset="0"/>
              </a:rPr>
              <a:t>sb</a:t>
            </a:r>
            <a:r>
              <a:rPr lang="en-CA" sz="2000" dirty="0" smtClean="0">
                <a:latin typeface="Courier New" panose="02070309020205020404" pitchFamily="49" charset="0"/>
                <a:cs typeface="Courier New" panose="02070309020205020404" pitchFamily="49" charset="0"/>
              </a:rPr>
              <a:t>-</a:t>
            </a:r>
            <a:r>
              <a:rPr lang="en-CA" sz="2000" dirty="0" smtClean="0">
                <a:latin typeface="Courier New" panose="02070309020205020404" pitchFamily="49" charset="0"/>
                <a:cs typeface="Courier New" panose="02070309020205020404" pitchFamily="49" charset="0"/>
              </a:rPr>
              <a:t>&gt;</a:t>
            </a:r>
            <a:r>
              <a:rPr lang="en-CA" sz="2000" dirty="0" err="1" smtClean="0">
                <a:latin typeface="Courier New" panose="02070309020205020404" pitchFamily="49" charset="0"/>
                <a:cs typeface="Courier New" panose="02070309020205020404" pitchFamily="49" charset="0"/>
              </a:rPr>
              <a:t>sectorsize</a:t>
            </a:r>
            <a:r>
              <a:rPr lang="en-CA" sz="2000" dirty="0" smtClean="0">
                <a:latin typeface="Courier New" panose="02070309020205020404" pitchFamily="49" charset="0"/>
                <a:cs typeface="Courier New" panose="02070309020205020404" pitchFamily="49" charset="0"/>
              </a:rPr>
              <a:t>);</a:t>
            </a:r>
            <a:endParaRPr lang="en-CA" sz="20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6:  </a:t>
            </a:r>
            <a:r>
              <a:rPr lang="en-CA" sz="20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a:t>
            </a:r>
            <a:r>
              <a:rPr lang="en-CA" sz="2000" dirty="0" smtClean="0">
                <a:solidFill>
                  <a:schemeClr val="accent4">
                    <a:lumMod val="75000"/>
                  </a:schemeClr>
                </a:solidFill>
                <a:latin typeface="Courier New" panose="02070309020205020404" pitchFamily="49" charset="0"/>
                <a:cs typeface="Courier New" panose="02070309020205020404" pitchFamily="49" charset="0"/>
              </a:rPr>
              <a:t>extent items */</a:t>
            </a:r>
            <a:endParaRPr lang="en-CA" sz="2000" dirty="0">
              <a:solidFill>
                <a:schemeClr val="accent4">
                  <a:lumMod val="75000"/>
                </a:schemeClr>
              </a:solidFill>
              <a:latin typeface="Courier New" panose="02070309020205020404" pitchFamily="49" charset="0"/>
              <a:cs typeface="Courier New" panose="02070309020205020404" pitchFamily="49" charset="0"/>
            </a:endParaRPr>
          </a:p>
          <a:p>
            <a:pPr marL="0" indent="0">
              <a:spcBef>
                <a:spcPts val="0"/>
              </a:spcBef>
              <a:spcAft>
                <a:spcPts val="0"/>
              </a:spcAft>
              <a:buNone/>
            </a:pPr>
            <a:r>
              <a:rPr lang="en-CA" sz="2000" b="1" dirty="0" smtClean="0">
                <a:latin typeface="Courier New" panose="02070309020205020404" pitchFamily="49" charset="0"/>
                <a:cs typeface="Courier New" panose="02070309020205020404" pitchFamily="49" charset="0"/>
              </a:rPr>
              <a:t>7:  return </a:t>
            </a:r>
            <a:r>
              <a:rPr lang="en-CA" sz="2000" b="1" dirty="0" err="1">
                <a:latin typeface="Courier New" panose="02070309020205020404" pitchFamily="49" charset="0"/>
                <a:cs typeface="Courier New" panose="02070309020205020404" pitchFamily="49" charset="0"/>
              </a:rPr>
              <a:t>sb</a:t>
            </a:r>
            <a:r>
              <a:rPr lang="en-CA" sz="2000" b="1" dirty="0">
                <a:latin typeface="Courier New" panose="02070309020205020404" pitchFamily="49" charset="0"/>
                <a:cs typeface="Courier New" panose="02070309020205020404" pitchFamily="49" charset="0"/>
              </a:rPr>
              <a:t>-&gt;</a:t>
            </a:r>
            <a:r>
              <a:rPr lang="en-CA" sz="2000" b="1" dirty="0" err="1" smtClean="0">
                <a:latin typeface="Courier New" panose="02070309020205020404" pitchFamily="49" charset="0"/>
                <a:cs typeface="Courier New" panose="02070309020205020404" pitchFamily="49" charset="0"/>
              </a:rPr>
              <a:t>process_by_type</a:t>
            </a:r>
            <a:r>
              <a:rPr lang="en-CA" sz="2000" b="1" dirty="0" smtClean="0">
                <a:latin typeface="Courier New" panose="02070309020205020404" pitchFamily="49" charset="0"/>
                <a:cs typeface="Courier New" panose="02070309020205020404" pitchFamily="49" charset="0"/>
              </a:rPr>
              <a:t>(EXTENT_ITEM, </a:t>
            </a:r>
            <a:br>
              <a:rPr lang="en-CA" sz="2000" b="1" dirty="0" smtClean="0">
                <a:latin typeface="Courier New" panose="02070309020205020404" pitchFamily="49" charset="0"/>
                <a:cs typeface="Courier New" panose="02070309020205020404" pitchFamily="49" charset="0"/>
              </a:rPr>
            </a:br>
            <a:r>
              <a:rPr lang="en-CA" sz="2000" b="1" dirty="0" smtClean="0">
                <a:latin typeface="Courier New" panose="02070309020205020404" pitchFamily="49" charset="0"/>
                <a:cs typeface="Courier New" panose="02070309020205020404" pitchFamily="49" charset="0"/>
              </a:rPr>
              <a:t>                               </a:t>
            </a:r>
            <a:r>
              <a:rPr lang="en-CA" sz="2000" b="1" dirty="0" err="1" smtClean="0">
                <a:latin typeface="Courier New" panose="02070309020205020404" pitchFamily="49" charset="0"/>
                <a:cs typeface="Courier New" panose="02070309020205020404" pitchFamily="49" charset="0"/>
              </a:rPr>
              <a:t>process_extent_item</a:t>
            </a:r>
            <a:r>
              <a:rPr lang="en-CA" sz="2000" b="1" dirty="0" smtClean="0">
                <a:latin typeface="Courier New" panose="02070309020205020404" pitchFamily="49" charset="0"/>
                <a:cs typeface="Courier New" panose="02070309020205020404" pitchFamily="49" charset="0"/>
              </a:rPr>
              <a:t>, </a:t>
            </a:r>
            <a:r>
              <a:rPr lang="en-CA" sz="2000" b="1" dirty="0" smtClean="0">
                <a:latin typeface="Courier New" panose="02070309020205020404" pitchFamily="49" charset="0"/>
                <a:cs typeface="Courier New" panose="02070309020205020404" pitchFamily="49" charset="0"/>
              </a:rPr>
              <a:t>&amp;</a:t>
            </a:r>
            <a:r>
              <a:rPr lang="en-CA" sz="2000" b="1" dirty="0" err="1" smtClean="0">
                <a:latin typeface="Courier New" panose="02070309020205020404" pitchFamily="49" charset="0"/>
                <a:cs typeface="Courier New" panose="02070309020205020404" pitchFamily="49" charset="0"/>
              </a:rPr>
              <a:t>vec</a:t>
            </a:r>
            <a:r>
              <a:rPr lang="en-CA" sz="2000" b="1"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20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t>File System Free Space Tool</a:t>
            </a:r>
          </a:p>
          <a:p>
            <a:r>
              <a:rPr lang="en-CA" dirty="0" smtClean="0"/>
              <a:t>Type-Specific File System Corruptor</a:t>
            </a:r>
          </a:p>
          <a:p>
            <a:r>
              <a:rPr lang="en-CA" dirty="0" smtClean="0"/>
              <a:t>File System Conversion Tool</a:t>
            </a:r>
          </a:p>
          <a:p>
            <a:r>
              <a:rPr lang="en-CA" dirty="0" smtClean="0"/>
              <a:t>File-system aware block layer cache</a:t>
            </a:r>
            <a:endParaRPr lang="en-CA" dirty="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139518544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4211" y="170"/>
            <a:ext cx="9565575" cy="1507067"/>
          </a:xfrm>
        </p:spPr>
        <p:txBody>
          <a:bodyPr/>
          <a:lstStyle/>
          <a:p>
            <a:r>
              <a:rPr lang="en-CA" dirty="0" smtClean="0"/>
              <a:t>Type-Specific File System Corruptor</a:t>
            </a:r>
            <a:endParaRPr lang="en-CA" dirty="0"/>
          </a:p>
        </p:txBody>
      </p:sp>
      <p:sp>
        <p:nvSpPr>
          <p:cNvPr id="3" name="Content Placeholder 2"/>
          <p:cNvSpPr>
            <a:spLocks noGrp="1"/>
          </p:cNvSpPr>
          <p:nvPr>
            <p:ph idx="1"/>
          </p:nvPr>
        </p:nvSpPr>
        <p:spPr/>
        <p:txBody>
          <a:bodyPr/>
          <a:lstStyle/>
          <a:p>
            <a:r>
              <a:rPr lang="en-CA" dirty="0"/>
              <a:t>Finds and corrupts a field in a specified </a:t>
            </a:r>
            <a:r>
              <a:rPr lang="en-CA" dirty="0" smtClean="0"/>
              <a:t>structure</a:t>
            </a:r>
            <a:endParaRPr lang="en-CA" dirty="0"/>
          </a:p>
          <a:p>
            <a:r>
              <a:rPr lang="en-CA" dirty="0" smtClean="0"/>
              <a:t>Works for all annotated file systems</a:t>
            </a:r>
          </a:p>
          <a:p>
            <a:pPr lvl="1"/>
            <a:r>
              <a:rPr lang="en-CA" dirty="0" smtClean="0"/>
              <a:t>Generic Application Code: 455 LOC</a:t>
            </a:r>
            <a:endParaRPr lang="en-CA" dirty="0"/>
          </a:p>
          <a:p>
            <a:pPr lvl="1"/>
            <a:r>
              <a:rPr lang="en-CA" dirty="0" smtClean="0"/>
              <a:t>File-System Specific Code: &lt; 30 LOC </a:t>
            </a:r>
            <a:r>
              <a:rPr lang="en-CA" dirty="0" smtClean="0"/>
              <a:t>each</a:t>
            </a:r>
            <a:endParaRPr lang="en-CA" dirty="0" smtClean="0"/>
          </a:p>
          <a:p>
            <a:r>
              <a:rPr lang="en-CA" dirty="0" smtClean="0"/>
              <a:t>Corruption Experiment</a:t>
            </a:r>
          </a:p>
          <a:p>
            <a:pPr lvl="1"/>
            <a:r>
              <a:rPr lang="en-CA" dirty="0" smtClean="0"/>
              <a:t>Ran existing tools on corrupt file system image</a:t>
            </a:r>
          </a:p>
          <a:p>
            <a:pPr lvl="1"/>
            <a:r>
              <a:rPr lang="en-CA" dirty="0" smtClean="0"/>
              <a:t>Discovered 1 crash bug in dumpe2fs (Ext4)</a:t>
            </a:r>
          </a:p>
          <a:p>
            <a:pPr lvl="1"/>
            <a:r>
              <a:rPr lang="en-CA" dirty="0" smtClean="0"/>
              <a:t>Discovered 5 crash bugs in dump.f2fs (F2FS)</a:t>
            </a:r>
          </a:p>
          <a:p>
            <a:pPr lvl="1"/>
            <a:r>
              <a:rPr lang="en-CA" dirty="0" smtClean="0"/>
              <a:t>None in our Spiffy dump tool on Ext4, </a:t>
            </a:r>
            <a:r>
              <a:rPr lang="en-CA" dirty="0" err="1" smtClean="0"/>
              <a:t>Btrfs</a:t>
            </a:r>
            <a:r>
              <a:rPr lang="en-CA" dirty="0" smtClean="0"/>
              <a:t> and F2FS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32</a:t>
            </a:fld>
            <a:endParaRPr lang="en-CA" dirty="0"/>
          </a:p>
        </p:txBody>
      </p:sp>
    </p:spTree>
    <p:extLst>
      <p:ext uri="{BB962C8B-B14F-4D97-AF65-F5344CB8AC3E}">
        <p14:creationId xmlns:p14="http://schemas.microsoft.com/office/powerpoint/2010/main" val="19219273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a:t>
            </a:r>
            <a:r>
              <a:rPr lang="en-CA" dirty="0" smtClean="0"/>
              <a:t>copying</a:t>
            </a:r>
            <a:br>
              <a:rPr lang="en-CA" dirty="0" smtClean="0"/>
            </a:br>
            <a:r>
              <a:rPr lang="en-CA" dirty="0" smtClean="0"/>
              <a:t>data </a:t>
            </a:r>
            <a:r>
              <a:rPr lang="en-CA" dirty="0" smtClean="0"/>
              <a:t>blocks</a:t>
            </a:r>
          </a:p>
          <a:p>
            <a:pPr marL="457200" lvl="1" indent="0">
              <a:buNone/>
            </a:pPr>
            <a:endParaRPr lang="en-CA" dirty="0" smtClean="0"/>
          </a:p>
          <a:p>
            <a:r>
              <a:rPr lang="en-CA" dirty="0" smtClean="0"/>
              <a:t>Currently, converts from Ext4 to F2FS</a:t>
            </a:r>
            <a:endParaRPr lang="en-CA" dirty="0"/>
          </a:p>
          <a:p>
            <a:pPr lvl="1"/>
            <a:r>
              <a:rPr lang="en-CA" dirty="0"/>
              <a:t>Generic </a:t>
            </a:r>
            <a:r>
              <a:rPr lang="en-CA" dirty="0" smtClean="0"/>
              <a:t>application code</a:t>
            </a:r>
            <a:r>
              <a:rPr lang="en-CA" dirty="0"/>
              <a:t>: </a:t>
            </a:r>
            <a:r>
              <a:rPr lang="en-CA" dirty="0" smtClean="0"/>
              <a:t>504 </a:t>
            </a:r>
            <a:r>
              <a:rPr lang="en-CA" dirty="0"/>
              <a:t>LOC</a:t>
            </a:r>
          </a:p>
          <a:p>
            <a:pPr lvl="1"/>
            <a:r>
              <a:rPr lang="en-CA" dirty="0" smtClean="0"/>
              <a:t>Ext4 </a:t>
            </a:r>
            <a:r>
              <a:rPr lang="en-CA" dirty="0"/>
              <a:t>s</a:t>
            </a:r>
            <a:r>
              <a:rPr lang="en-CA" dirty="0" smtClean="0"/>
              <a:t>pecific code (source file system): 218 LOC</a:t>
            </a:r>
          </a:p>
          <a:p>
            <a:pPr lvl="1"/>
            <a:r>
              <a:rPr lang="en-CA" dirty="0" smtClean="0"/>
              <a:t>F2FS specific code (destination file system): 1760 LOC</a:t>
            </a:r>
          </a:p>
          <a:p>
            <a:pPr lvl="1"/>
            <a:endParaRPr lang="en-CA" dirty="0"/>
          </a:p>
          <a:p>
            <a:pPr marL="0" indent="0">
              <a:buNone/>
            </a:pP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177832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dirty="0" smtClean="0"/>
              <a:t>Copy converter copies data to local disk, reformat, then copies back</a:t>
            </a:r>
          </a:p>
          <a:p>
            <a:r>
              <a:rPr lang="en-CA" dirty="0"/>
              <a:t>Converts 64GB file system with 16GB </a:t>
            </a:r>
            <a:r>
              <a:rPr lang="en-CA" dirty="0" smtClean="0"/>
              <a:t>of data on </a:t>
            </a:r>
            <a:r>
              <a:rPr lang="en-CA" dirty="0"/>
              <a:t>SSD</a:t>
            </a:r>
          </a:p>
          <a:p>
            <a:endParaRPr lang="en-CA" dirty="0" smtClean="0"/>
          </a:p>
          <a:p>
            <a:endParaRPr lang="en-CA" dirty="0" smtClean="0"/>
          </a:p>
          <a:p>
            <a:endParaRPr lang="en-CA" dirty="0" smtClean="0"/>
          </a:p>
          <a:p>
            <a:endParaRPr lang="en-CA" dirty="0" smtClean="0"/>
          </a:p>
          <a:p>
            <a:endParaRPr lang="en-CA" dirty="0" smtClean="0"/>
          </a:p>
          <a:p>
            <a:r>
              <a:rPr lang="en-CA" dirty="0" smtClean="0"/>
              <a:t>Copy converter 30~50 times slower</a:t>
            </a:r>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3476948218"/>
              </p:ext>
            </p:extLst>
          </p:nvPr>
        </p:nvGraphicFramePr>
        <p:xfrm>
          <a:off x="1743191" y="3086101"/>
          <a:ext cx="7634725" cy="249237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882743" y="0"/>
            <a:ext cx="3309257" cy="32063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a:xfrm>
            <a:off x="684211" y="170"/>
            <a:ext cx="10821233" cy="1507067"/>
          </a:xfrm>
        </p:spPr>
        <p:txBody>
          <a:bodyPr/>
          <a:lstStyle/>
          <a:p>
            <a:r>
              <a:rPr lang="en-CA" dirty="0"/>
              <a:t>File-system </a:t>
            </a:r>
            <a:r>
              <a:rPr lang="en-CA" dirty="0" smtClean="0"/>
              <a:t>Aware Block Layer Cache</a:t>
            </a:r>
            <a:endParaRPr lang="en-CA" dirty="0"/>
          </a:p>
        </p:txBody>
      </p:sp>
      <p:sp>
        <p:nvSpPr>
          <p:cNvPr id="3" name="Content Placeholder 2"/>
          <p:cNvSpPr>
            <a:spLocks noGrp="1"/>
          </p:cNvSpPr>
          <p:nvPr>
            <p:ph idx="1"/>
          </p:nvPr>
        </p:nvSpPr>
        <p:spPr/>
        <p:txBody>
          <a:bodyPr>
            <a:normAutofit lnSpcReduction="10000"/>
          </a:bodyPr>
          <a:lstStyle/>
          <a:p>
            <a:r>
              <a:rPr lang="en-CA" dirty="0" smtClean="0"/>
              <a:t>Supports a rich set of caching policies that require file-system specific information at the block layer</a:t>
            </a:r>
          </a:p>
          <a:p>
            <a:pPr lvl="1"/>
            <a:r>
              <a:rPr lang="en-CA" dirty="0"/>
              <a:t>Cache file system </a:t>
            </a:r>
            <a:r>
              <a:rPr lang="en-CA" dirty="0" smtClean="0"/>
              <a:t>metadata</a:t>
            </a:r>
          </a:p>
          <a:p>
            <a:pPr lvl="2"/>
            <a:r>
              <a:rPr lang="en-CA" dirty="0" smtClean="0"/>
              <a:t>Requires knowing whether a block is data or metadata</a:t>
            </a:r>
            <a:endParaRPr lang="en-CA" dirty="0"/>
          </a:p>
          <a:p>
            <a:pPr lvl="1"/>
            <a:r>
              <a:rPr lang="en-CA" dirty="0" smtClean="0"/>
              <a:t>Cache small files, cache a specific user’s files</a:t>
            </a:r>
          </a:p>
          <a:p>
            <a:pPr lvl="2"/>
            <a:r>
              <a:rPr lang="en-CA" dirty="0" smtClean="0"/>
              <a:t>Requires knowing the file to which a block belongs, and the file’s size or owner</a:t>
            </a:r>
          </a:p>
          <a:p>
            <a:r>
              <a:rPr lang="en-CA" dirty="0" smtClean="0"/>
              <a:t>Requires no changes to the file system!</a:t>
            </a:r>
          </a:p>
          <a:p>
            <a:r>
              <a:rPr lang="en-CA" dirty="0" smtClean="0"/>
              <a:t>Identifies and </a:t>
            </a:r>
            <a:r>
              <a:rPr lang="en-CA" dirty="0"/>
              <a:t>i</a:t>
            </a:r>
            <a:r>
              <a:rPr lang="en-CA" dirty="0" smtClean="0"/>
              <a:t>nterprets blocks as they are read or written</a:t>
            </a:r>
          </a:p>
          <a:p>
            <a:pPr lvl="1"/>
            <a:r>
              <a:rPr lang="en-CA" dirty="0" smtClean="0"/>
              <a:t>Identifies the types of blocks</a:t>
            </a:r>
          </a:p>
          <a:p>
            <a:pPr lvl="1"/>
            <a:r>
              <a:rPr lang="en-CA" dirty="0" smtClean="0"/>
              <a:t>Interprets their contents to extract file-system specific information</a:t>
            </a:r>
          </a:p>
          <a:p>
            <a:pPr lvl="1"/>
            <a:r>
              <a:rPr lang="en-CA" dirty="0" smtClean="0"/>
              <a:t>Requires </a:t>
            </a:r>
            <a:r>
              <a:rPr lang="en-CA" dirty="0"/>
              <a:t>little file-system specific </a:t>
            </a:r>
            <a:r>
              <a:rPr lang="en-CA" dirty="0" smtClean="0"/>
              <a:t>code</a:t>
            </a: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35</a:t>
            </a:fld>
            <a:endParaRPr lang="en-CA" dirty="0"/>
          </a:p>
        </p:txBody>
      </p:sp>
      <p:grpSp>
        <p:nvGrpSpPr>
          <p:cNvPr id="6" name="Group 5"/>
          <p:cNvGrpSpPr>
            <a:grpSpLocks noChangeAspect="1"/>
          </p:cNvGrpSpPr>
          <p:nvPr/>
        </p:nvGrpSpPr>
        <p:grpSpPr>
          <a:xfrm rot="16200000">
            <a:off x="10260307" y="-78082"/>
            <a:ext cx="1853611" cy="2009775"/>
            <a:chOff x="9206969" y="2963333"/>
            <a:chExt cx="2981858" cy="3208867"/>
          </a:xfrm>
        </p:grpSpPr>
        <p:cxnSp>
          <p:nvCxnSpPr>
            <p:cNvPr id="7" name="Straight Connector 6"/>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405202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a:xfrm>
            <a:off x="684211" y="1515358"/>
            <a:ext cx="10607566" cy="4656842"/>
          </a:xfrm>
        </p:spPr>
        <p:txBody>
          <a:bodyPr/>
          <a:lstStyle/>
          <a:p>
            <a:r>
              <a:rPr lang="en-CA" dirty="0" smtClean="0"/>
              <a:t>Spiffy framework</a:t>
            </a:r>
          </a:p>
          <a:p>
            <a:pPr lvl="1"/>
            <a:r>
              <a:rPr lang="en-CA" dirty="0" smtClean="0"/>
              <a:t>Annotation language for specifying file system format</a:t>
            </a:r>
          </a:p>
          <a:p>
            <a:pPr lvl="1"/>
            <a:r>
              <a:rPr lang="en-CA" dirty="0" smtClean="0"/>
              <a:t>Enables generating a library for traversing file system </a:t>
            </a:r>
            <a:r>
              <a:rPr lang="en-CA" dirty="0" smtClean="0"/>
              <a:t>metadata</a:t>
            </a:r>
            <a:endParaRPr lang="en-CA" dirty="0" smtClean="0"/>
          </a:p>
          <a:p>
            <a:r>
              <a:rPr lang="en-CA" dirty="0" smtClean="0"/>
              <a:t>Simplifies development of file-system aware applications</a:t>
            </a:r>
          </a:p>
          <a:p>
            <a:pPr lvl="1"/>
            <a:r>
              <a:rPr lang="en-CA" dirty="0" smtClean="0"/>
              <a:t>Reduces file-system specific code</a:t>
            </a:r>
          </a:p>
          <a:p>
            <a:pPr lvl="1"/>
            <a:r>
              <a:rPr lang="en-CA" dirty="0" smtClean="0"/>
              <a:t>Enables code reuse across file </a:t>
            </a:r>
            <a:r>
              <a:rPr lang="en-CA" dirty="0" smtClean="0"/>
              <a:t>systems</a:t>
            </a:r>
            <a:endParaRPr lang="en-CA" dirty="0" smtClean="0"/>
          </a:p>
          <a:p>
            <a:r>
              <a:rPr lang="en-CA" dirty="0" smtClean="0"/>
              <a:t>Enables writing robust applications</a:t>
            </a:r>
          </a:p>
          <a:p>
            <a:pPr lvl="1"/>
            <a:r>
              <a:rPr lang="en-CA" dirty="0" smtClean="0"/>
              <a:t>Provides type-safe parsing and serialization of metadata</a:t>
            </a:r>
          </a:p>
          <a:p>
            <a:pPr lvl="1"/>
            <a:r>
              <a:rPr lang="en-CA" dirty="0" smtClean="0"/>
              <a:t>Helps detect file system corruption</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684211" y="1488556"/>
            <a:ext cx="9225333" cy="2470034"/>
          </a:xfrm>
        </p:spPr>
        <p:txBody>
          <a:bodyPr>
            <a:normAutofit fontScale="90000"/>
          </a:bodyPr>
          <a:lstStyle/>
          <a:p>
            <a:r>
              <a:rPr lang="en-CA" dirty="0"/>
              <a:t>Spiffy: Enabling File-System Aware Storage </a:t>
            </a:r>
            <a:r>
              <a:rPr lang="en-CA" dirty="0" smtClean="0"/>
              <a:t>Applications</a:t>
            </a:r>
            <a:br>
              <a:rPr lang="en-CA" dirty="0" smtClean="0"/>
            </a:br>
            <a:endParaRPr lang="en-CA" dirty="0"/>
          </a:p>
        </p:txBody>
      </p:sp>
      <p:sp>
        <p:nvSpPr>
          <p:cNvPr id="6" name="Text Placeholder 5"/>
          <p:cNvSpPr>
            <a:spLocks noGrp="1"/>
          </p:cNvSpPr>
          <p:nvPr>
            <p:ph type="body" idx="1"/>
          </p:nvPr>
        </p:nvSpPr>
        <p:spPr>
          <a:xfrm>
            <a:off x="684213" y="3912781"/>
            <a:ext cx="8534400" cy="2081619"/>
          </a:xfrm>
        </p:spPr>
        <p:txBody>
          <a:bodyPr/>
          <a:lstStyle/>
          <a:p>
            <a:endParaRPr lang="en-CA" dirty="0" smtClean="0"/>
          </a:p>
          <a:p>
            <a:endParaRPr lang="en-CA" dirty="0"/>
          </a:p>
          <a:p>
            <a:r>
              <a:rPr lang="en-CA" dirty="0" smtClean="0"/>
              <a:t>Presented by </a:t>
            </a:r>
            <a:r>
              <a:rPr lang="en-CA" dirty="0" err="1" smtClean="0"/>
              <a:t>Kuei</a:t>
            </a:r>
            <a:r>
              <a:rPr lang="en-CA" dirty="0" smtClean="0"/>
              <a:t> (Jack) Sun</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37</a:t>
            </a:fld>
            <a:endParaRPr lang="en-CA" dirty="0"/>
          </a:p>
        </p:txBody>
      </p:sp>
    </p:spTree>
    <p:extLst>
      <p:ext uri="{BB962C8B-B14F-4D97-AF65-F5344CB8AC3E}">
        <p14:creationId xmlns:p14="http://schemas.microsoft.com/office/powerpoint/2010/main" val="36095128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38</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39</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40</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41</a:t>
            </a:fld>
            <a:endParaRPr lang="en-CA" dirty="0"/>
          </a:p>
        </p:txBody>
      </p:sp>
    </p:spTree>
    <p:extLst>
      <p:ext uri="{BB962C8B-B14F-4D97-AF65-F5344CB8AC3E}">
        <p14:creationId xmlns:p14="http://schemas.microsoft.com/office/powerpoint/2010/main" val="2284282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42</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3467</TotalTime>
  <Words>5677</Words>
  <Application>Microsoft Office PowerPoint</Application>
  <PresentationFormat>Widescreen</PresentationFormat>
  <Paragraphs>673</Paragraphs>
  <Slides>42</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微軟正黑體</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Missing Pointer</vt:lpstr>
      <vt:lpstr>Implicit Pointer</vt:lpstr>
      <vt:lpstr>Context-Sensitive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Applications</vt:lpstr>
      <vt:lpstr>Type-Specific File System Corruptor</vt:lpstr>
      <vt:lpstr>File System Conversion Tool</vt:lpstr>
      <vt:lpstr>Evaluation: Ext4 to F2FS Converter</vt:lpstr>
      <vt:lpstr>File-system Aware Block Layer Cache</vt:lpstr>
      <vt:lpstr>Conclusion</vt:lpstr>
      <vt:lpstr>Spiffy: Enabling File-System Aware Storage Applications </vt:lpstr>
      <vt:lpstr>Evaluation: Programming Effort</vt:lpstr>
      <vt:lpstr>Evaluation: Corruption Experiment</vt:lpstr>
      <vt:lpstr>Evaluation: Preferential Caching</vt:lpstr>
      <vt:lpstr>F2FS NID Address Space</vt:lpstr>
      <vt:lpstr>FSSUPER Annotation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316</cp:revision>
  <dcterms:created xsi:type="dcterms:W3CDTF">2018-01-30T09:02:25Z</dcterms:created>
  <dcterms:modified xsi:type="dcterms:W3CDTF">2018-02-10T04:58:25Z</dcterms:modified>
</cp:coreProperties>
</file>