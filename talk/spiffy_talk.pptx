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9"/>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5" r:id="rId16"/>
    <p:sldId id="316" r:id="rId17"/>
    <p:sldId id="322" r:id="rId18"/>
    <p:sldId id="321" r:id="rId19"/>
    <p:sldId id="318" r:id="rId20"/>
    <p:sldId id="331" r:id="rId21"/>
    <p:sldId id="311" r:id="rId22"/>
    <p:sldId id="283" r:id="rId23"/>
    <p:sldId id="306" r:id="rId24"/>
    <p:sldId id="271" r:id="rId25"/>
    <p:sldId id="312" r:id="rId26"/>
    <p:sldId id="268" r:id="rId27"/>
    <p:sldId id="267" r:id="rId28"/>
    <p:sldId id="328" r:id="rId29"/>
    <p:sldId id="329" r:id="rId30"/>
    <p:sldId id="323" r:id="rId31"/>
    <p:sldId id="330" r:id="rId32"/>
    <p:sldId id="324" r:id="rId33"/>
    <p:sldId id="325" r:id="rId34"/>
    <p:sldId id="281" r:id="rId35"/>
    <p:sldId id="326" r:id="rId36"/>
    <p:sldId id="258" r:id="rId37"/>
    <p:sldId id="332" r:id="rId38"/>
    <p:sldId id="333" r:id="rId39"/>
    <p:sldId id="334" r:id="rId40"/>
    <p:sldId id="335" r:id="rId41"/>
    <p:sldId id="336" r:id="rId42"/>
    <p:sldId id="337" r:id="rId43"/>
    <p:sldId id="259" r:id="rId44"/>
    <p:sldId id="261" r:id="rId45"/>
    <p:sldId id="260" r:id="rId46"/>
    <p:sldId id="320" r:id="rId47"/>
    <p:sldId id="327"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61541D-2620-421F-9E2E-648A24C65F11}">
          <p14:sldIdLst>
            <p14:sldId id="256"/>
          </p14:sldIdLst>
        </p14:section>
        <p14:section name="Overview" id="{03F43739-95F6-4A6F-BB88-2EA12EA041BB}">
          <p14:sldIdLst>
            <p14:sldId id="288"/>
            <p14:sldId id="290"/>
            <p14:sldId id="289"/>
            <p14:sldId id="291"/>
          </p14:sldIdLst>
        </p14:section>
        <p14:section name="Approach" id="{D3A81287-0026-4487-AFDD-A7954D2B0927}">
          <p14:sldIdLst>
            <p14:sldId id="309"/>
            <p14:sldId id="293"/>
            <p14:sldId id="294"/>
            <p14:sldId id="295"/>
            <p14:sldId id="301"/>
          </p14:sldIdLst>
        </p14:section>
        <p14:section name="Spiffy Annotations" id="{DC8B91C2-2328-4C4C-A290-CF974BCCB498}">
          <p14:sldIdLst>
            <p14:sldId id="308"/>
            <p14:sldId id="313"/>
            <p14:sldId id="314"/>
            <p14:sldId id="298"/>
            <p14:sldId id="315"/>
            <p14:sldId id="316"/>
            <p14:sldId id="322"/>
            <p14:sldId id="321"/>
            <p14:sldId id="318"/>
            <p14:sldId id="331"/>
            <p14:sldId id="311"/>
            <p14:sldId id="283"/>
          </p14:sldIdLst>
        </p14:section>
        <p14:section name="Spiffy Applications" id="{F3675913-66BC-4082-8C9C-F179F5D76D67}">
          <p14:sldIdLst>
            <p14:sldId id="306"/>
            <p14:sldId id="271"/>
            <p14:sldId id="312"/>
            <p14:sldId id="268"/>
            <p14:sldId id="267"/>
            <p14:sldId id="328"/>
            <p14:sldId id="329"/>
            <p14:sldId id="323"/>
            <p14:sldId id="330"/>
            <p14:sldId id="324"/>
            <p14:sldId id="325"/>
            <p14:sldId id="281"/>
            <p14:sldId id="326"/>
          </p14:sldIdLst>
        </p14:section>
        <p14:section name="Conclusion" id="{25FDAF9A-7C5C-46E7-8D21-64F73DCF15CF}">
          <p14:sldIdLst>
            <p14:sldId id="258"/>
            <p14:sldId id="332"/>
          </p14:sldIdLst>
        </p14:section>
        <p14:section name="Spiffy API" id="{A190B886-A086-45E6-A7A2-932A5365A943}">
          <p14:sldIdLst>
            <p14:sldId id="333"/>
            <p14:sldId id="334"/>
            <p14:sldId id="335"/>
            <p14:sldId id="336"/>
            <p14:sldId id="337"/>
          </p14:sldIdLst>
        </p14:section>
        <p14:section name="Backup Slides" id="{9E320F9C-22C3-4C92-9FBA-6C852AD15B6B}">
          <p14:sldIdLst>
            <p14:sldId id="259"/>
            <p14:sldId id="261"/>
            <p14:sldId id="260"/>
            <p14:sldId id="320"/>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615" autoAdjust="0"/>
  </p:normalViewPr>
  <p:slideViewPr>
    <p:cSldViewPr snapToGrid="0">
      <p:cViewPr varScale="1">
        <p:scale>
          <a:sx n="52" d="100"/>
          <a:sy n="52" d="100"/>
        </p:scale>
        <p:origin x="135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5.9911271909187234E-2"/>
          <c:w val="0.53601315044091302"/>
          <c:h val="0.747351351351351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353495704"/>
        <c:axId val="353492568"/>
      </c:lineChart>
      <c:catAx>
        <c:axId val="353495704"/>
        <c:scaling>
          <c:orientation val="minMax"/>
        </c:scaling>
        <c:delete val="0"/>
        <c:axPos val="b"/>
        <c:title>
          <c:tx>
            <c:rich>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r>
                  <a:rPr lang="en-US" sz="1800" dirty="0"/>
                  <a:t># of </a:t>
                </a:r>
                <a:r>
                  <a:rPr lang="en-US" sz="1800" dirty="0" smtClean="0"/>
                  <a:t>files</a:t>
                </a:r>
                <a:endParaRPr lang="en-US" sz="1800" dirty="0"/>
              </a:p>
            </c:rich>
          </c:tx>
          <c:layout>
            <c:manualLayout>
              <c:xMode val="edge"/>
              <c:yMode val="edge"/>
              <c:x val="0.67198242241862016"/>
              <c:y val="0.84715656639011638"/>
            </c:manualLayout>
          </c:layout>
          <c:overlay val="0"/>
          <c:spPr>
            <a:noFill/>
            <a:ln>
              <a:noFill/>
            </a:ln>
            <a:effectLst/>
          </c:spPr>
          <c:txPr>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crossAx val="353492568"/>
        <c:crosses val="autoZero"/>
        <c:auto val="0"/>
        <c:lblAlgn val="ctr"/>
        <c:lblOffset val="100"/>
        <c:noMultiLvlLbl val="0"/>
      </c:catAx>
      <c:valAx>
        <c:axId val="353492568"/>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bg1"/>
                    </a:solidFill>
                    <a:latin typeface="+mn-lt"/>
                    <a:ea typeface="+mn-ea"/>
                    <a:cs typeface="+mn-cs"/>
                  </a:defRPr>
                </a:pPr>
                <a:r>
                  <a:rPr lang="en-CA" sz="1800"/>
                  <a:t>seconds</a:t>
                </a:r>
              </a:p>
            </c:rich>
          </c:tx>
          <c:layout/>
          <c:overlay val="0"/>
          <c:spPr>
            <a:noFill/>
            <a:ln>
              <a:noFill/>
            </a:ln>
            <a:effectLst/>
          </c:spPr>
          <c:txPr>
            <a:bodyPr rot="-54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crossAx val="353495704"/>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353499232"/>
        <c:axId val="353497664"/>
      </c:barChart>
      <c:catAx>
        <c:axId val="353499232"/>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353497664"/>
        <c:crosses val="autoZero"/>
        <c:auto val="1"/>
        <c:lblAlgn val="ctr"/>
        <c:lblOffset val="100"/>
        <c:noMultiLvlLbl val="1"/>
      </c:catAx>
      <c:valAx>
        <c:axId val="353497664"/>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353499232"/>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2018-02-12</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Spiffy, a framework for writing robust file system aware storage applications.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a:t>
            </a:r>
            <a:r>
              <a:rPr lang="en-CA" baseline="0" dirty="0" smtClean="0"/>
              <a:t>misinterpreted </a:t>
            </a:r>
            <a:r>
              <a:rPr lang="en-CA" baseline="0" dirty="0" smtClean="0"/>
              <a:t>this field, and </a:t>
            </a:r>
            <a:r>
              <a:rPr lang="en-CA" baseline="0" dirty="0" smtClean="0"/>
              <a:t>corrupted </a:t>
            </a:r>
            <a:r>
              <a:rPr lang="en-CA" baseline="0" dirty="0" smtClean="0"/>
              <a:t>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a:t>
            </a:r>
            <a:r>
              <a:rPr lang="en-CA" baseline="0" dirty="0" smtClean="0"/>
              <a:t>metadata. Since </a:t>
            </a:r>
            <a:r>
              <a:rPr lang="en-CA" baseline="0" dirty="0" smtClean="0"/>
              <a:t>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 </a:t>
            </a:r>
            <a:r>
              <a:rPr lang="en-CA" dirty="0" smtClean="0"/>
              <a:t>Ideally</a:t>
            </a:r>
            <a:r>
              <a:rPr lang="en-CA" dirty="0" smtClean="0"/>
              <a:t>,</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a:t>
            </a:r>
            <a:r>
              <a:rPr lang="en-CA" baseline="0" dirty="0" smtClean="0"/>
              <a:t>of the </a:t>
            </a:r>
            <a:r>
              <a:rPr lang="en-CA" baseline="0" dirty="0" smtClean="0"/>
              <a:t>file </a:t>
            </a:r>
            <a:r>
              <a:rPr lang="en-CA" baseline="0" dirty="0" smtClean="0"/>
              <a:t>system.</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file and NID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1212408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95146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a:t>
            </a:r>
            <a:r>
              <a:rPr lang="en-CA" baseline="0" dirty="0" smtClean="0"/>
              <a:t>For example,</a:t>
            </a:r>
            <a:r>
              <a:rPr lang="en-CA" dirty="0" smtClean="0"/>
              <a:t> </a:t>
            </a:r>
            <a:r>
              <a:rPr lang="en-CA" dirty="0" smtClean="0"/>
              <a:t>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117402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t>
            </a:r>
            <a:r>
              <a:rPr lang="en-CA" baseline="0" dirty="0" smtClean="0"/>
              <a:t>an expression</a:t>
            </a:r>
            <a:r>
              <a:rPr lang="en-CA" baseline="0" dirty="0" smtClean="0"/>
              <a:t>.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r>
              <a:rPr lang="en-CA" dirty="0" smtClean="0"/>
              <a:t>.</a:t>
            </a:r>
            <a:endParaRPr lang="en-CA" dirty="0" smtClean="0"/>
          </a:p>
          <a:p>
            <a:r>
              <a:rPr lang="en-CA" dirty="0" smtClean="0"/>
              <a:t>In</a:t>
            </a:r>
            <a:r>
              <a:rPr lang="en-CA" baseline="0" dirty="0" smtClean="0"/>
              <a:t> this example, the pointer annotation creates a logical field called </a:t>
            </a:r>
            <a:r>
              <a:rPr lang="en-CA" baseline="0" dirty="0" err="1" smtClean="0"/>
              <a:t>s_block_group_descriptor</a:t>
            </a:r>
            <a:r>
              <a:rPr lang="en-CA" baseline="0" dirty="0" smtClean="0"/>
              <a:t>, </a:t>
            </a:r>
            <a:r>
              <a:rPr lang="en-CA" baseline="0" dirty="0" smtClean="0"/>
              <a:t>and evaluates the expression at runtime that assigns the field a value of 2 or 1 </a:t>
            </a:r>
            <a:r>
              <a:rPr lang="en-CA" baseline="0" dirty="0" smtClean="0"/>
              <a:t>depending on </a:t>
            </a:r>
            <a:r>
              <a:rPr lang="en-CA" baseline="0" dirty="0" smtClean="0"/>
              <a:t>the block size of the file system. </a:t>
            </a:r>
            <a:r>
              <a:rPr lang="en-CA" baseline="0" dirty="0" smtClean="0"/>
              <a:t>Now, </a:t>
            </a:r>
            <a:r>
              <a:rPr lang="en-CA" baseline="0" dirty="0" smtClean="0"/>
              <a:t>this field name can be used to traverse the file system from the super block to the block group descriptor table</a:t>
            </a:r>
            <a:r>
              <a:rPr lang="en-CA" baseline="0" dirty="0" smtClean="0"/>
              <a:t>.</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15748229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 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In</a:t>
            </a:r>
            <a:r>
              <a:rPr lang="en-CA" baseline="0" dirty="0" smtClean="0"/>
              <a:t> this example, there are two pointer </a:t>
            </a:r>
            <a:r>
              <a:rPr lang="en-CA" baseline="0" dirty="0" smtClean="0"/>
              <a:t>annotations </a:t>
            </a:r>
            <a:r>
              <a:rPr lang="en-CA" baseline="0" dirty="0" smtClean="0"/>
              <a:t>to the same </a:t>
            </a:r>
            <a:r>
              <a:rPr lang="en-CA" baseline="0" dirty="0" err="1" smtClean="0"/>
              <a:t>i_block</a:t>
            </a:r>
            <a:r>
              <a:rPr lang="en-CA" baseline="0" dirty="0" smtClean="0"/>
              <a:t> array. The first annotation </a:t>
            </a:r>
            <a:r>
              <a:rPr lang="en-CA" baseline="0" dirty="0" smtClean="0"/>
              <a:t>specifies </a:t>
            </a:r>
            <a:r>
              <a:rPr lang="en-CA" baseline="0" dirty="0" smtClean="0"/>
              <a:t>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The second annotation </a:t>
            </a:r>
            <a:r>
              <a:rPr lang="en-CA" baseline="0" dirty="0" smtClean="0"/>
              <a:t>specifies </a:t>
            </a:r>
            <a:r>
              <a:rPr lang="en-CA" baseline="0" dirty="0" smtClean="0"/>
              <a:t>that this same </a:t>
            </a:r>
            <a:r>
              <a:rPr lang="en-CA" baseline="0" dirty="0" err="1" smtClean="0"/>
              <a:t>i_block</a:t>
            </a:r>
            <a:r>
              <a:rPr lang="en-CA" baseline="0" dirty="0" smtClean="0"/>
              <a:t> </a:t>
            </a:r>
            <a:r>
              <a:rPr lang="en-CA" baseline="0" dirty="0" smtClean="0"/>
              <a:t>field is </a:t>
            </a:r>
            <a:r>
              <a:rPr lang="en-CA" baseline="0" dirty="0" smtClean="0"/>
              <a:t>an array of pointers to </a:t>
            </a:r>
            <a:r>
              <a:rPr lang="en-CA" baseline="0" dirty="0" smtClean="0"/>
              <a:t>data blocks </a:t>
            </a:r>
            <a:r>
              <a:rPr lang="en-CA" baseline="0" dirty="0" smtClean="0"/>
              <a:t>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2167424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top example, we specify that the block size must be at most 64KB, and the magic field of the super block must be the Ext4 magic number</a:t>
            </a:r>
            <a:r>
              <a:rPr lang="en-CA" baseline="0" dirty="0" smtClean="0"/>
              <a:t>.</a:t>
            </a: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bottom example shows a fragment of the generated parsing code for the Ext4 super block. This example shows how </a:t>
            </a:r>
            <a:r>
              <a:rPr lang="en-CA" baseline="0" dirty="0" smtClean="0"/>
              <a:t>check </a:t>
            </a:r>
            <a:r>
              <a:rPr lang="en-CA" baseline="0" dirty="0" smtClean="0"/>
              <a:t>annotations are implemented. These checks help detect </a:t>
            </a:r>
            <a:r>
              <a:rPr lang="en-CA" baseline="0" dirty="0" smtClean="0"/>
              <a:t>metadata corruptions.</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5954121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a:t>
            </a:r>
            <a:r>
              <a:rPr lang="en-CA" baseline="0" dirty="0" smtClean="0"/>
              <a:t>For example,</a:t>
            </a:r>
            <a:r>
              <a:rPr lang="en-CA" dirty="0" smtClean="0"/>
              <a:t> </a:t>
            </a:r>
            <a:r>
              <a:rPr lang="en-CA" dirty="0" smtClean="0"/>
              <a:t>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22</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a:t>
            </a:r>
            <a:r>
              <a:rPr lang="en-CA" baseline="0" dirty="0" smtClean="0"/>
              <a:t>code </a:t>
            </a:r>
            <a:r>
              <a:rPr lang="en-CA" baseline="0" dirty="0" smtClean="0"/>
              <a:t>is </a:t>
            </a:r>
            <a:r>
              <a:rPr lang="en-CA" baseline="0" dirty="0" smtClean="0"/>
              <a:t>needed to walk through the intermediate metadata structures.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a:t>
            </a:r>
            <a:r>
              <a:rPr lang="en-CA" baseline="0" dirty="0" smtClean="0"/>
              <a:t>the Spiffy library. </a:t>
            </a:r>
          </a:p>
          <a:p>
            <a:r>
              <a:rPr lang="en-CA" baseline="0" dirty="0" smtClean="0"/>
              <a:t>On </a:t>
            </a:r>
            <a:r>
              <a:rPr lang="en-CA" baseline="0" dirty="0" smtClean="0"/>
              <a:t>line 3, we retrieve the super block through the </a:t>
            </a:r>
            <a:r>
              <a:rPr lang="en-CA" baseline="0" dirty="0" err="1" smtClean="0"/>
              <a:t>fetch_super</a:t>
            </a:r>
            <a:r>
              <a:rPr lang="en-CA" baseline="0" dirty="0" smtClean="0"/>
              <a:t> function. If the super block is </a:t>
            </a:r>
            <a:r>
              <a:rPr lang="en-CA" baseline="0" dirty="0" smtClean="0"/>
              <a:t>corrupted at </a:t>
            </a:r>
            <a:r>
              <a:rPr lang="en-CA" baseline="0" smtClean="0"/>
              <a:t>this point, </a:t>
            </a:r>
            <a:r>
              <a:rPr lang="en-CA" baseline="0" dirty="0" smtClean="0"/>
              <a:t>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2094793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3945045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a:t>
            </a:r>
            <a:r>
              <a:rPr lang="en-CA" baseline="0" dirty="0" smtClean="0"/>
              <a:t>the </a:t>
            </a:r>
            <a:r>
              <a:rPr lang="en-CA" baseline="0" dirty="0" err="1" smtClean="0"/>
              <a:t>process_by_type</a:t>
            </a:r>
            <a:r>
              <a:rPr lang="en-CA" baseline="0" dirty="0" smtClean="0"/>
              <a:t> function takes </a:t>
            </a:r>
            <a:r>
              <a:rPr lang="en-CA" baseline="0" dirty="0" smtClean="0"/>
              <a:t>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30</a:t>
            </a:fld>
            <a:endParaRPr lang="en-CA"/>
          </a:p>
        </p:txBody>
      </p:sp>
    </p:spTree>
    <p:extLst>
      <p:ext uri="{BB962C8B-B14F-4D97-AF65-F5344CB8AC3E}">
        <p14:creationId xmlns:p14="http://schemas.microsoft.com/office/powerpoint/2010/main" val="1738035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31</a:t>
            </a:fld>
            <a:endParaRPr lang="en-CA"/>
          </a:p>
        </p:txBody>
      </p:sp>
    </p:spTree>
    <p:extLst>
      <p:ext uri="{BB962C8B-B14F-4D97-AF65-F5344CB8AC3E}">
        <p14:creationId xmlns:p14="http://schemas.microsoft.com/office/powerpoint/2010/main" val="28822580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Incidentally, none of these bugs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16916630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r>
              <a:rPr lang="en-CA" baseline="0" dirty="0" smtClean="0"/>
              <a:t>.</a:t>
            </a: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a:t>
            </a:r>
            <a:r>
              <a:rPr lang="en-CA" baseline="0" dirty="0" smtClean="0"/>
              <a:t>this tool </a:t>
            </a:r>
            <a:r>
              <a:rPr lang="en-CA" baseline="0" dirty="0" smtClean="0"/>
              <a:t>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33</a:t>
            </a:fld>
            <a:endParaRPr lang="en-CA"/>
          </a:p>
        </p:txBody>
      </p:sp>
    </p:spTree>
    <p:extLst>
      <p:ext uri="{BB962C8B-B14F-4D97-AF65-F5344CB8AC3E}">
        <p14:creationId xmlns:p14="http://schemas.microsoft.com/office/powerpoint/2010/main" val="4698671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34</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also implemented a file-system aware</a:t>
            </a:r>
            <a:r>
              <a:rPr lang="en-CA" baseline="0" dirty="0" smtClean="0"/>
              <a:t> block layer caching framework that s</a:t>
            </a:r>
            <a:r>
              <a:rPr lang="en-CA" dirty="0" smtClean="0"/>
              <a:t>upports a rich set of caching policies.</a:t>
            </a:r>
            <a:r>
              <a:rPr lang="en-CA" baseline="0" dirty="0" smtClean="0"/>
              <a:t> These </a:t>
            </a:r>
            <a:r>
              <a:rPr lang="en-CA" baseline="0" dirty="0" smtClean="0"/>
              <a:t>policies </a:t>
            </a:r>
            <a:r>
              <a:rPr lang="en-CA" dirty="0" smtClean="0"/>
              <a:t>require file-system specific </a:t>
            </a:r>
            <a:r>
              <a:rPr lang="en-CA" dirty="0" smtClean="0"/>
              <a:t>information.</a:t>
            </a:r>
            <a:r>
              <a:rPr lang="en-CA" baseline="0" dirty="0" smtClean="0"/>
              <a:t> For example, </a:t>
            </a:r>
            <a:r>
              <a:rPr lang="en-CA" baseline="0" dirty="0" smtClean="0"/>
              <a:t>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a:t>
            </a:r>
            <a:r>
              <a:rPr lang="en-CA" dirty="0" smtClean="0"/>
              <a:t>metadata. </a:t>
            </a:r>
            <a:r>
              <a:rPr lang="en-CA" dirty="0" smtClean="0"/>
              <a:t>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a:t>
            </a:r>
            <a:r>
              <a:rPr lang="en-CA" dirty="0" smtClean="0"/>
              <a:t>Spiffy </a:t>
            </a:r>
            <a:r>
              <a:rPr lang="en-CA" dirty="0" smtClean="0"/>
              <a:t>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r>
              <a:rPr lang="en-CA" dirty="0" smtClean="0"/>
              <a:t>.</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18790149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Thank you, are</a:t>
            </a:r>
            <a:r>
              <a:rPr lang="en-CA" baseline="0" dirty="0" smtClean="0"/>
              <a:t> there any questions?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37</a:t>
            </a:fld>
            <a:endParaRPr lang="en-CA"/>
          </a:p>
        </p:txBody>
      </p:sp>
    </p:spTree>
    <p:extLst>
      <p:ext uri="{BB962C8B-B14F-4D97-AF65-F5344CB8AC3E}">
        <p14:creationId xmlns:p14="http://schemas.microsoft.com/office/powerpoint/2010/main" val="4139925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43</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44</a:t>
            </a:fld>
            <a:endParaRPr lang="en-CA"/>
          </a:p>
        </p:txBody>
      </p:sp>
    </p:spTree>
    <p:extLst>
      <p:ext uri="{BB962C8B-B14F-4D97-AF65-F5344CB8AC3E}">
        <p14:creationId xmlns:p14="http://schemas.microsoft.com/office/powerpoint/2010/main" val="42252104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46</a:t>
            </a:fld>
            <a:endParaRPr lang="en-CA"/>
          </a:p>
        </p:txBody>
      </p:sp>
    </p:spTree>
    <p:extLst>
      <p:ext uri="{BB962C8B-B14F-4D97-AF65-F5344CB8AC3E}">
        <p14:creationId xmlns:p14="http://schemas.microsoft.com/office/powerpoint/2010/main" val="393257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rot="16200000" flipH="1" flipV="1">
            <a:off x="9096637" y="3762638"/>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4212" y="170"/>
            <a:ext cx="10285796" cy="1507067"/>
          </a:xfrm>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2018-02-12</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a:xfrm>
            <a:off x="10970008" y="6049645"/>
            <a:ext cx="753625" cy="487680"/>
          </a:xfrm>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5400" b="0" cap="none" baseline="0">
                <a:solidFill>
                  <a:schemeClr val="tx1"/>
                </a:solidFill>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smtClean="0"/>
              <a:t>Click to edit Master text styles</a:t>
            </a:r>
          </a:p>
        </p:txBody>
      </p:sp>
      <p:sp>
        <p:nvSpPr>
          <p:cNvPr id="4" name="Date Placeholder 3"/>
          <p:cNvSpPr>
            <a:spLocks noGrp="1"/>
          </p:cNvSpPr>
          <p:nvPr>
            <p:ph type="dt" sz="half" idx="10"/>
          </p:nvPr>
        </p:nvSpPr>
        <p:spPr/>
        <p:txBody>
          <a:bodyPr/>
          <a:lstStyle>
            <a:lvl1pPr>
              <a:defRPr>
                <a:solidFill>
                  <a:schemeClr val="tx1"/>
                </a:solidFill>
              </a:defRPr>
            </a:lvl1pPr>
          </a:lstStyle>
          <a:p>
            <a:fld id="{7D257ED4-7149-4100-B966-397E56D6DA55}" type="datetime1">
              <a:rPr lang="en-CA" smtClean="0"/>
              <a:pPr/>
              <a:t>2018-02-12</a:t>
            </a:fld>
            <a:endParaRPr lang="en-CA"/>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CA"/>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7B2023C8-B124-43A9-8F92-0EEF5BAA9995}" type="slidenum">
              <a:rPr lang="en-CA" smtClean="0"/>
              <a:pPr/>
              <a:t>‹#›</a:t>
            </a:fld>
            <a:endParaRPr lang="en-CA"/>
          </a:p>
        </p:txBody>
      </p:sp>
      <p:grpSp>
        <p:nvGrpSpPr>
          <p:cNvPr id="7" name="Group 6"/>
          <p:cNvGrpSpPr/>
          <p:nvPr userDrawn="1"/>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2018-02-12</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2018-02-12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2018-02-12</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2018-02-12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2018-02-12</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4211" y="707066"/>
            <a:ext cx="9129091" cy="2167468"/>
          </a:xfrm>
        </p:spPr>
        <p:txBody>
          <a:bodyPr>
            <a:normAutofit fontScale="90000"/>
          </a:bodyPr>
          <a:lstStyle/>
          <a:p>
            <a:r>
              <a:rPr lang="en-CA" dirty="0" smtClean="0"/>
              <a:t>Spiffy: Enabling File-System Aware Storage Applications</a:t>
            </a:r>
            <a:br>
              <a:rPr lang="en-CA" dirty="0" smtClean="0"/>
            </a:br>
            <a:endParaRPr lang="en-CA" dirty="0"/>
          </a:p>
        </p:txBody>
      </p:sp>
      <p:sp>
        <p:nvSpPr>
          <p:cNvPr id="3" name="Subtitle 2"/>
          <p:cNvSpPr>
            <a:spLocks noGrp="1"/>
          </p:cNvSpPr>
          <p:nvPr>
            <p:ph type="subTitle" idx="1"/>
          </p:nvPr>
        </p:nvSpPr>
        <p:spPr>
          <a:xfrm>
            <a:off x="684211" y="3037337"/>
            <a:ext cx="8863825" cy="2753864"/>
          </a:xfrm>
        </p:spPr>
        <p:txBody>
          <a:bodyPr/>
          <a:lstStyle/>
          <a:p>
            <a:r>
              <a:rPr lang="en-CA" dirty="0" err="1" smtClean="0"/>
              <a:t>Kuei</a:t>
            </a:r>
            <a:r>
              <a:rPr lang="en-CA" dirty="0" smtClean="0"/>
              <a:t> (Jack) 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i="1" dirty="0" smtClean="0"/>
              <a:t>University of Toronto</a:t>
            </a:r>
            <a:endParaRPr lang="en-CA" i="1"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p>
          <a:p>
            <a:pPr lvl="2"/>
            <a:r>
              <a:rPr lang="en-CA" dirty="0" smtClean="0"/>
              <a:t>2</a:t>
            </a:r>
            <a:r>
              <a:rPr lang="en-CA" baseline="30000" dirty="0" smtClean="0"/>
              <a:t>|value</a:t>
            </a:r>
            <a:r>
              <a:rPr lang="en-CA" baseline="30000" dirty="0"/>
              <a:t>|</a:t>
            </a:r>
            <a:r>
              <a:rPr lang="en-CA" dirty="0"/>
              <a:t>, if value &lt; </a:t>
            </a:r>
            <a:r>
              <a:rPr lang="en-CA" dirty="0" smtClean="0"/>
              <a:t>0</a:t>
            </a:r>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Specifying Format</a:t>
            </a:r>
            <a:endParaRPr lang="en-CA" dirty="0"/>
          </a:p>
        </p:txBody>
      </p:sp>
      <p:sp>
        <p:nvSpPr>
          <p:cNvPr id="3" name="Content Placeholder 2"/>
          <p:cNvSpPr>
            <a:spLocks noGrp="1"/>
          </p:cNvSpPr>
          <p:nvPr>
            <p:ph idx="1"/>
          </p:nvPr>
        </p:nvSpPr>
        <p:spPr>
          <a:xfrm>
            <a:off x="684212" y="1516762"/>
            <a:ext cx="10285797" cy="4656842"/>
          </a:xfrm>
        </p:spPr>
        <p:txBody>
          <a:bodyPr/>
          <a:lstStyle/>
          <a:p>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
        <p:nvSpPr>
          <p:cNvPr id="61" name="Rectangle 60"/>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90" name="Rectangle 8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91" name="Rectangle 90"/>
          <p:cNvSpPr/>
          <p:nvPr/>
        </p:nvSpPr>
        <p:spPr>
          <a:xfrm>
            <a:off x="1320470" y="4131121"/>
            <a:ext cx="1440000" cy="472257"/>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103" name="Group 102"/>
          <p:cNvGrpSpPr/>
          <p:nvPr/>
        </p:nvGrpSpPr>
        <p:grpSpPr>
          <a:xfrm>
            <a:off x="2799312" y="4644061"/>
            <a:ext cx="598488" cy="1292225"/>
            <a:chOff x="4859338" y="3776663"/>
            <a:chExt cx="598488" cy="1292225"/>
          </a:xfrm>
        </p:grpSpPr>
        <p:sp>
          <p:nvSpPr>
            <p:cNvPr id="1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6"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27"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8"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9"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0"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1"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2"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3"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4"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3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0"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9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9"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0"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1"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a:xfrm>
            <a:off x="684212" y="1507237"/>
            <a:ext cx="10285797" cy="4656842"/>
          </a:xfrm>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92" name="Right Arrow 91"/>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94" name="Rounded Rectangle 93"/>
          <p:cNvSpPr/>
          <p:nvPr/>
        </p:nvSpPr>
        <p:spPr>
          <a:xfrm>
            <a:off x="3505093" y="3421506"/>
            <a:ext cx="1440000" cy="944513"/>
          </a:xfrm>
          <a:prstGeom prst="roundRect">
            <a:avLst/>
          </a:prstGeom>
          <a:solidFill>
            <a:schemeClr val="accent5">
              <a:lumMod val="75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95" name="Group 94"/>
          <p:cNvGrpSpPr/>
          <p:nvPr/>
        </p:nvGrpSpPr>
        <p:grpSpPr>
          <a:xfrm>
            <a:off x="5689716" y="3421506"/>
            <a:ext cx="1761066" cy="944513"/>
            <a:chOff x="6493933" y="3749526"/>
            <a:chExt cx="1761066" cy="944513"/>
          </a:xfrm>
          <a:solidFill>
            <a:schemeClr val="accent5">
              <a:lumMod val="40000"/>
              <a:lumOff val="60000"/>
            </a:schemeClr>
          </a:solidFill>
          <a:effectLst/>
        </p:grpSpPr>
        <p:sp>
          <p:nvSpPr>
            <p:cNvPr id="101" name="Rectangle 100"/>
            <p:cNvSpPr/>
            <p:nvPr/>
          </p:nvSpPr>
          <p:spPr>
            <a:xfrm>
              <a:off x="6493933" y="3749526"/>
              <a:ext cx="1004159"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118" name="Rectangle 117"/>
            <p:cNvSpPr/>
            <p:nvPr/>
          </p:nvSpPr>
          <p:spPr>
            <a:xfrm>
              <a:off x="7498092" y="3749526"/>
              <a:ext cx="756907"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97" name="Right Arrow 96"/>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39" name="Rectangle 38"/>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40" name="Rectangle 3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41" name="Rectangle 40"/>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42" name="Group 41"/>
          <p:cNvGrpSpPr/>
          <p:nvPr/>
        </p:nvGrpSpPr>
        <p:grpSpPr>
          <a:xfrm>
            <a:off x="2799312" y="4644061"/>
            <a:ext cx="598488" cy="1292225"/>
            <a:chOff x="4859338" y="3776663"/>
            <a:chExt cx="598488" cy="1292225"/>
          </a:xfrm>
        </p:grpSpPr>
        <p:sp>
          <p:nvSpPr>
            <p:cNvPr id="4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0"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1"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2"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4"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5"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grpSp>
        <p:nvGrpSpPr>
          <p:cNvPr id="91" name="Group 90"/>
          <p:cNvGrpSpPr/>
          <p:nvPr/>
        </p:nvGrpSpPr>
        <p:grpSpPr>
          <a:xfrm>
            <a:off x="8195402" y="3009900"/>
            <a:ext cx="1882875" cy="1978991"/>
            <a:chOff x="8681092" y="3099999"/>
            <a:chExt cx="1411173" cy="1715949"/>
          </a:xfrm>
          <a:solidFill>
            <a:srgbClr val="FFFF00"/>
          </a:solidFill>
          <a:effectLst/>
        </p:grpSpPr>
        <p:sp>
          <p:nvSpPr>
            <p:cNvPr id="94" name="Rectangle 93"/>
            <p:cNvSpPr/>
            <p:nvPr/>
          </p:nvSpPr>
          <p:spPr>
            <a:xfrm>
              <a:off x="8681092" y="3099999"/>
              <a:ext cx="1411173" cy="1075731"/>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Generic Application</a:t>
              </a:r>
              <a:endParaRPr lang="en-CA" b="1" dirty="0">
                <a:solidFill>
                  <a:schemeClr val="bg1"/>
                </a:solidFill>
              </a:endParaRPr>
            </a:p>
          </p:txBody>
        </p:sp>
        <p:sp>
          <p:nvSpPr>
            <p:cNvPr id="95" name="Rectangle 94"/>
            <p:cNvSpPr/>
            <p:nvPr/>
          </p:nvSpPr>
          <p:spPr>
            <a:xfrm>
              <a:off x="8681092" y="4175730"/>
              <a:ext cx="1411173" cy="640218"/>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File-System Specific Logic</a:t>
              </a:r>
              <a:endParaRPr lang="en-CA" b="1" dirty="0">
                <a:solidFill>
                  <a:schemeClr val="bg1"/>
                </a:solidFill>
              </a:endParaRPr>
            </a:p>
          </p:txBody>
        </p:sp>
      </p:grpSp>
      <p:sp>
        <p:nvSpPr>
          <p:cNvPr id="93" name="Right Arrow 92"/>
          <p:cNvSpPr/>
          <p:nvPr/>
        </p:nvSpPr>
        <p:spPr>
          <a:xfrm>
            <a:off x="7664594" y="3795046"/>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86" name="Rectangle 85"/>
          <p:cNvSpPr/>
          <p:nvPr/>
        </p:nvSpPr>
        <p:spPr>
          <a:xfrm>
            <a:off x="8428474" y="5141490"/>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err="1" smtClean="0">
                <a:solidFill>
                  <a:schemeClr val="bg1"/>
                </a:solidFill>
              </a:rPr>
              <a:t>ApplicationDeveloper</a:t>
            </a:r>
            <a:endParaRPr lang="en-CA" dirty="0">
              <a:solidFill>
                <a:schemeClr val="bg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61790" y="4891608"/>
            <a:ext cx="1219803" cy="1219846"/>
          </a:xfrm>
          <a:prstGeom prst="rect">
            <a:avLst/>
          </a:prstGeom>
        </p:spPr>
      </p:pic>
      <p:sp>
        <p:nvSpPr>
          <p:cNvPr id="46" name="Right Arrow 45"/>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47" name="Rounded Rectangle 46"/>
          <p:cNvSpPr/>
          <p:nvPr/>
        </p:nvSpPr>
        <p:spPr>
          <a:xfrm>
            <a:off x="3571768" y="3421506"/>
            <a:ext cx="1440000" cy="944513"/>
          </a:xfrm>
          <a:prstGeom prst="round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Compiler</a:t>
            </a:r>
            <a:endParaRPr lang="en-CA" b="1" dirty="0">
              <a:solidFill>
                <a:schemeClr val="bg1"/>
              </a:solidFill>
            </a:endParaRPr>
          </a:p>
        </p:txBody>
      </p:sp>
      <p:grpSp>
        <p:nvGrpSpPr>
          <p:cNvPr id="48" name="Group 47"/>
          <p:cNvGrpSpPr/>
          <p:nvPr/>
        </p:nvGrpSpPr>
        <p:grpSpPr>
          <a:xfrm>
            <a:off x="5689716" y="3421506"/>
            <a:ext cx="1761066" cy="944513"/>
            <a:chOff x="6493933" y="3749526"/>
            <a:chExt cx="1761066" cy="944513"/>
          </a:xfrm>
          <a:noFill/>
          <a:effectLst/>
        </p:grpSpPr>
        <p:sp>
          <p:nvSpPr>
            <p:cNvPr id="49" name="Rectangle 48"/>
            <p:cNvSpPr/>
            <p:nvPr/>
          </p:nvSpPr>
          <p:spPr>
            <a:xfrm>
              <a:off x="6493933" y="3749526"/>
              <a:ext cx="1004159"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50" name="Rectangle 49"/>
            <p:cNvSpPr/>
            <p:nvPr/>
          </p:nvSpPr>
          <p:spPr>
            <a:xfrm>
              <a:off x="7498092" y="3749526"/>
              <a:ext cx="756907"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51" name="Right Arrow 50"/>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52" name="Rectangle 51"/>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53" name="Rectangle 52"/>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54" name="Rectangle 53"/>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55" name="Group 54"/>
          <p:cNvGrpSpPr/>
          <p:nvPr/>
        </p:nvGrpSpPr>
        <p:grpSpPr>
          <a:xfrm>
            <a:off x="2799312" y="4644061"/>
            <a:ext cx="598488" cy="1292225"/>
            <a:chOff x="4859338" y="3776663"/>
            <a:chExt cx="598488" cy="1292225"/>
          </a:xfrm>
        </p:grpSpPr>
        <p:sp>
          <p:nvSpPr>
            <p:cNvPr id="56"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7"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8"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9"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0"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1"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2"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3"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9"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70"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71"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2"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3"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structure definitions in source files are incomplete</a:t>
            </a:r>
          </a:p>
          <a:p>
            <a:pPr lvl="1"/>
            <a:endParaRPr lang="en-CA" dirty="0" smtClean="0"/>
          </a:p>
          <a:p>
            <a:pPr lvl="1"/>
            <a:endParaRPr lang="en-CA" dirty="0" smtClean="0"/>
          </a:p>
          <a:p>
            <a:pPr lvl="1"/>
            <a:endParaRPr lang="en-CA" dirty="0" smtClean="0"/>
          </a:p>
          <a:p>
            <a:pPr lvl="1"/>
            <a:endParaRPr lang="en-CA" dirty="0" smtClean="0"/>
          </a:p>
          <a:p>
            <a:pPr lvl="1"/>
            <a:r>
              <a:rPr lang="en-CA" dirty="0" err="1" smtClean="0"/>
              <a:t>bar_block_ptr</a:t>
            </a:r>
            <a:r>
              <a:rPr lang="en-CA" dirty="0" smtClean="0"/>
              <a:t> is “probably” a 32-bit little endian pointer to type “</a:t>
            </a:r>
            <a:r>
              <a:rPr lang="en-CA" dirty="0" err="1" smtClean="0"/>
              <a:t>bar_block</a:t>
            </a:r>
            <a:r>
              <a:rPr lang="en-CA" dirty="0" smtClean="0"/>
              <a:t>”</a:t>
            </a:r>
          </a:p>
          <a:p>
            <a:pPr lvl="1"/>
            <a:r>
              <a:rPr lang="en-CA" dirty="0"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971550" y="3024813"/>
            <a:ext cx="8865738"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sp>
        <p:nvSpPr>
          <p:cNvPr id="180" name="TextBox 179"/>
          <p:cNvSpPr txBox="1"/>
          <p:nvPr/>
        </p:nvSpPr>
        <p:spPr>
          <a:xfrm>
            <a:off x="8020913" y="1856754"/>
            <a:ext cx="2529860" cy="830997"/>
          </a:xfrm>
          <a:prstGeom prst="rect">
            <a:avLst/>
          </a:prstGeom>
          <a:noFill/>
        </p:spPr>
        <p:txBody>
          <a:bodyPr wrap="none" rtlCol="0">
            <a:spAutoFit/>
          </a:bodyPr>
          <a:lstStyle/>
          <a:p>
            <a:r>
              <a:rPr lang="en-CA" sz="2400" dirty="0" smtClean="0">
                <a:solidFill>
                  <a:schemeClr val="bg1"/>
                </a:solidFill>
              </a:rPr>
              <a:t>Ext4 File System </a:t>
            </a:r>
            <a:br>
              <a:rPr lang="en-CA" sz="2400" dirty="0" smtClean="0">
                <a:solidFill>
                  <a:schemeClr val="bg1"/>
                </a:solidFill>
              </a:rPr>
            </a:br>
            <a:r>
              <a:rPr lang="en-CA" sz="2400" dirty="0" smtClean="0">
                <a:solidFill>
                  <a:schemeClr val="bg1"/>
                </a:solidFill>
              </a:rPr>
              <a:t>Metadata Tree</a:t>
            </a:r>
            <a:endParaRPr lang="en-CA" sz="2400" dirty="0">
              <a:solidFill>
                <a:schemeClr val="bg1"/>
              </a:solidFill>
            </a:endParaRPr>
          </a:p>
        </p:txBody>
      </p:sp>
      <p:grpSp>
        <p:nvGrpSpPr>
          <p:cNvPr id="147" name="Group 146"/>
          <p:cNvGrpSpPr/>
          <p:nvPr/>
        </p:nvGrpSpPr>
        <p:grpSpPr>
          <a:xfrm rot="5400000">
            <a:off x="8864131" y="5207740"/>
            <a:ext cx="676223" cy="584384"/>
            <a:chOff x="27236633" y="9932056"/>
            <a:chExt cx="578250" cy="990600"/>
          </a:xfrm>
        </p:grpSpPr>
        <p:cxnSp>
          <p:nvCxnSpPr>
            <p:cNvPr id="148" name="Straight Arrow Connector 147"/>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02" name="Rectangle 101"/>
          <p:cNvSpPr/>
          <p:nvPr/>
        </p:nvSpPr>
        <p:spPr>
          <a:xfrm>
            <a:off x="763449" y="42209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block</a:t>
            </a:r>
          </a:p>
          <a:p>
            <a:pPr algn="ctr"/>
            <a:r>
              <a:rPr lang="en-CA" altLang="zh-TW" dirty="0" smtClean="0">
                <a:solidFill>
                  <a:schemeClr val="bg1"/>
                </a:solidFill>
              </a:rPr>
              <a:t>bitmap</a:t>
            </a:r>
            <a:endParaRPr lang="zh-TW" altLang="en-US" dirty="0">
              <a:solidFill>
                <a:schemeClr val="bg1"/>
              </a:solidFill>
            </a:endParaRPr>
          </a:p>
        </p:txBody>
      </p:sp>
      <p:cxnSp>
        <p:nvCxnSpPr>
          <p:cNvPr id="98" name="Straight Arrow Connector 97"/>
          <p:cNvCxnSpPr/>
          <p:nvPr/>
        </p:nvCxnSpPr>
        <p:spPr>
          <a:xfrm>
            <a:off x="1342857" y="188088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763446" y="120756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109" name="Rectangle 108"/>
          <p:cNvSpPr/>
          <p:nvPr/>
        </p:nvSpPr>
        <p:spPr>
          <a:xfrm>
            <a:off x="3430981" y="120756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112" name="Straight Arrow Connector 111"/>
          <p:cNvCxnSpPr>
            <a:stCxn id="100" idx="3"/>
            <a:endCxn id="109" idx="1"/>
          </p:cNvCxnSpPr>
          <p:nvPr/>
        </p:nvCxnSpPr>
        <p:spPr>
          <a:xfrm>
            <a:off x="1866663" y="1543652"/>
            <a:ext cx="1564318"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763445" y="233987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7" name="Rectangle 116"/>
          <p:cNvSpPr/>
          <p:nvPr/>
        </p:nvSpPr>
        <p:spPr>
          <a:xfrm>
            <a:off x="847161" y="2427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97" name="Straight Arrow Connector 96"/>
          <p:cNvCxnSpPr>
            <a:stCxn id="21" idx="2"/>
            <a:endCxn id="102" idx="0"/>
          </p:cNvCxnSpPr>
          <p:nvPr/>
        </p:nvCxnSpPr>
        <p:spPr>
          <a:xfrm rot="5400000">
            <a:off x="1884057" y="2787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3430981" y="4220986"/>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4" name="Rectangle 123"/>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130" name="Straight Arrow Connector 96"/>
          <p:cNvCxnSpPr>
            <a:stCxn id="94" idx="2"/>
            <a:endCxn id="71" idx="0"/>
          </p:cNvCxnSpPr>
          <p:nvPr/>
        </p:nvCxnSpPr>
        <p:spPr>
          <a:xfrm rot="5400000">
            <a:off x="2721207" y="3283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514782" y="2427340"/>
            <a:ext cx="1380879" cy="86171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134" name="Straight Arrow Connector 96"/>
          <p:cNvCxnSpPr/>
          <p:nvPr/>
        </p:nvCxnSpPr>
        <p:spPr>
          <a:xfrm>
            <a:off x="3958346" y="3289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138" name="Rounded Rectangle 137"/>
          <p:cNvSpPr/>
          <p:nvPr/>
        </p:nvSpPr>
        <p:spPr>
          <a:xfrm>
            <a:off x="6861617"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139" name="TextBox 138"/>
          <p:cNvSpPr txBox="1"/>
          <p:nvPr/>
        </p:nvSpPr>
        <p:spPr>
          <a:xfrm>
            <a:off x="5998269" y="2579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140" name="TextBox 139"/>
          <p:cNvSpPr txBox="1"/>
          <p:nvPr/>
        </p:nvSpPr>
        <p:spPr>
          <a:xfrm>
            <a:off x="5869543" y="44210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142" name="Rectangle 141"/>
          <p:cNvSpPr/>
          <p:nvPr/>
        </p:nvSpPr>
        <p:spPr>
          <a:xfrm>
            <a:off x="6917696" y="5815595"/>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a:t>
            </a:r>
            <a:endParaRPr lang="zh-TW" altLang="en-US" dirty="0">
              <a:solidFill>
                <a:schemeClr val="bg1"/>
              </a:solidFill>
            </a:endParaRPr>
          </a:p>
        </p:txBody>
      </p:sp>
      <p:sp>
        <p:nvSpPr>
          <p:cNvPr id="145" name="Rectangle 144"/>
          <p:cNvSpPr/>
          <p:nvPr/>
        </p:nvSpPr>
        <p:spPr>
          <a:xfrm>
            <a:off x="8596461" y="4219015"/>
            <a:ext cx="1211564" cy="944774"/>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indirect</a:t>
            </a:r>
          </a:p>
          <a:p>
            <a:pPr algn="ctr"/>
            <a:r>
              <a:rPr lang="en-CA" altLang="zh-TW" dirty="0" smtClean="0">
                <a:solidFill>
                  <a:schemeClr val="bg1"/>
                </a:solidFill>
              </a:rPr>
              <a:t>block</a:t>
            </a:r>
            <a:endParaRPr lang="zh-TW" altLang="en-US" dirty="0">
              <a:solidFill>
                <a:schemeClr val="bg1"/>
              </a:solidFill>
            </a:endParaRPr>
          </a:p>
        </p:txBody>
      </p:sp>
      <p:grpSp>
        <p:nvGrpSpPr>
          <p:cNvPr id="151" name="Group 150"/>
          <p:cNvGrpSpPr/>
          <p:nvPr/>
        </p:nvGrpSpPr>
        <p:grpSpPr>
          <a:xfrm>
            <a:off x="8588936" y="5771801"/>
            <a:ext cx="1211380" cy="761972"/>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3" name="Rectangle 152"/>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5" name="Rectangle 154"/>
            <p:cNvSpPr/>
            <p:nvPr/>
          </p:nvSpPr>
          <p:spPr>
            <a:xfrm>
              <a:off x="20309820" y="9762072"/>
              <a:ext cx="1864381"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blocks</a:t>
              </a:r>
              <a:endParaRPr lang="zh-TW" altLang="en-US" dirty="0">
                <a:solidFill>
                  <a:schemeClr val="bg1"/>
                </a:solidFill>
              </a:endParaRPr>
            </a:p>
          </p:txBody>
        </p:sp>
      </p:grpSp>
      <p:cxnSp>
        <p:nvCxnSpPr>
          <p:cNvPr id="168" name="Straight Arrow Connector 96"/>
          <p:cNvCxnSpPr>
            <a:stCxn id="138" idx="2"/>
            <a:endCxn id="142" idx="0"/>
          </p:cNvCxnSpPr>
          <p:nvPr/>
        </p:nvCxnSpPr>
        <p:spPr>
          <a:xfrm>
            <a:off x="7469305" y="5089178"/>
            <a:ext cx="0" cy="7264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8076993" y="4691402"/>
            <a:ext cx="519468" cy="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5043353" y="3194064"/>
            <a:ext cx="327375" cy="584384"/>
            <a:chOff x="27236633" y="9932056"/>
            <a:chExt cx="578250" cy="990600"/>
          </a:xfrm>
        </p:grpSpPr>
        <p:cxnSp>
          <p:nvCxnSpPr>
            <p:cNvPr id="175" name="Straight Arrow Connector 174"/>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4374804" y="5825726"/>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data</a:t>
            </a:r>
          </a:p>
          <a:p>
            <a:pPr algn="ctr"/>
            <a:r>
              <a:rPr lang="en-CA" altLang="zh-TW" dirty="0" smtClean="0">
                <a:solidFill>
                  <a:schemeClr val="bg1"/>
                </a:solidFill>
              </a:rPr>
              <a:t>block</a:t>
            </a:r>
            <a:endParaRPr lang="zh-TW" altLang="en-US" dirty="0">
              <a:solidFill>
                <a:schemeClr val="bg1"/>
              </a:solidFill>
            </a:endParaRPr>
          </a:p>
        </p:txBody>
      </p:sp>
      <p:cxnSp>
        <p:nvCxnSpPr>
          <p:cNvPr id="75" name="Straight Arrow Connector 96"/>
          <p:cNvCxnSpPr>
            <a:stCxn id="95" idx="2"/>
            <a:endCxn id="73" idx="0"/>
          </p:cNvCxnSpPr>
          <p:nvPr/>
        </p:nvCxnSpPr>
        <p:spPr>
          <a:xfrm>
            <a:off x="4926412" y="5089178"/>
            <a:ext cx="1" cy="73654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2115509" y="42209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inode</a:t>
            </a:r>
            <a:endParaRPr lang="en-CA" altLang="zh-TW" dirty="0" smtClean="0">
              <a:solidFill>
                <a:schemeClr val="bg1"/>
              </a:solidFill>
            </a:endParaRPr>
          </a:p>
          <a:p>
            <a:pPr algn="ctr"/>
            <a:r>
              <a:rPr lang="en-CA" altLang="zh-TW" dirty="0" smtClean="0">
                <a:solidFill>
                  <a:schemeClr val="bg1"/>
                </a:solidFill>
              </a:rPr>
              <a:t>bitmap</a:t>
            </a:r>
            <a:endParaRPr lang="zh-TW" altLang="en-US" dirty="0">
              <a:solidFill>
                <a:schemeClr val="bg1"/>
              </a:solidFill>
            </a:endParaRPr>
          </a:p>
        </p:txBody>
      </p:sp>
      <p:grpSp>
        <p:nvGrpSpPr>
          <p:cNvPr id="32" name="Group 31"/>
          <p:cNvGrpSpPr/>
          <p:nvPr/>
        </p:nvGrpSpPr>
        <p:grpSpPr>
          <a:xfrm>
            <a:off x="2948918" y="2415923"/>
            <a:ext cx="1419770" cy="902183"/>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Tree>
    <p:extLst>
      <p:ext uri="{BB962C8B-B14F-4D97-AF65-F5344CB8AC3E}">
        <p14:creationId xmlns:p14="http://schemas.microsoft.com/office/powerpoint/2010/main" val="240211293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r>
              <a:rPr lang="en-CA" dirty="0" smtClean="0"/>
              <a:t>Examples: Block, File, F2FS NID address spaces</a:t>
            </a:r>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7" name="Group 76"/>
          <p:cNvGrpSpPr/>
          <p:nvPr/>
        </p:nvGrpSpPr>
        <p:grpSpPr>
          <a:xfrm rot="5400000">
            <a:off x="9532776" y="6007510"/>
            <a:ext cx="424783" cy="584384"/>
            <a:chOff x="27236633" y="9932056"/>
            <a:chExt cx="578250" cy="990600"/>
          </a:xfrm>
        </p:grpSpPr>
        <p:cxnSp>
          <p:nvCxnSpPr>
            <p:cNvPr id="113" name="Straight Arrow Connector 112"/>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p:txBody>
          <a:bodyPr/>
          <a:lstStyle/>
          <a:p>
            <a:r>
              <a:rPr lang="en-CA" dirty="0" smtClean="0"/>
              <a:t>Block Address Space</a:t>
            </a:r>
            <a:endParaRPr lang="en-CA" dirty="0"/>
          </a:p>
        </p:txBody>
      </p:sp>
      <p:sp>
        <p:nvSpPr>
          <p:cNvPr id="3" name="Content Placeholder 2"/>
          <p:cNvSpPr>
            <a:spLocks noGrp="1"/>
          </p:cNvSpPr>
          <p:nvPr>
            <p:ph idx="1"/>
          </p:nvPr>
        </p:nvSpPr>
        <p:spPr/>
        <p:txBody>
          <a:bodyPr/>
          <a:lstStyle/>
          <a:p>
            <a:r>
              <a:rPr lang="en-CA" dirty="0"/>
              <a:t>Block address is the block number in the file system</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15</a:t>
            </a:fld>
            <a:endParaRPr lang="en-CA" dirty="0"/>
          </a:p>
        </p:txBody>
      </p:sp>
      <p:sp>
        <p:nvSpPr>
          <p:cNvPr id="78" name="Rectangle 77"/>
          <p:cNvSpPr/>
          <p:nvPr/>
        </p:nvSpPr>
        <p:spPr>
          <a:xfrm>
            <a:off x="1306374" y="51734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block</a:t>
            </a:r>
          </a:p>
          <a:p>
            <a:pPr algn="ctr"/>
            <a:r>
              <a:rPr lang="en-CA" altLang="zh-TW" dirty="0" smtClean="0">
                <a:solidFill>
                  <a:schemeClr val="bg1"/>
                </a:solidFill>
              </a:rPr>
              <a:t>bitmap</a:t>
            </a:r>
            <a:endParaRPr lang="zh-TW" altLang="en-US" dirty="0">
              <a:solidFill>
                <a:schemeClr val="bg1"/>
              </a:solidFill>
            </a:endParaRPr>
          </a:p>
        </p:txBody>
      </p:sp>
      <p:cxnSp>
        <p:nvCxnSpPr>
          <p:cNvPr id="79" name="Straight Arrow Connector 78"/>
          <p:cNvCxnSpPr/>
          <p:nvPr/>
        </p:nvCxnSpPr>
        <p:spPr>
          <a:xfrm>
            <a:off x="1885782" y="283338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1306371" y="216006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81" name="Rectangle 80"/>
          <p:cNvSpPr/>
          <p:nvPr/>
        </p:nvSpPr>
        <p:spPr>
          <a:xfrm>
            <a:off x="3875699" y="216006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82" name="Straight Arrow Connector 81"/>
          <p:cNvCxnSpPr>
            <a:stCxn id="80" idx="3"/>
            <a:endCxn id="81" idx="1"/>
          </p:cNvCxnSpPr>
          <p:nvPr/>
        </p:nvCxnSpPr>
        <p:spPr>
          <a:xfrm>
            <a:off x="2409588" y="2496152"/>
            <a:ext cx="1466111"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3" name="Rectangle 82"/>
          <p:cNvSpPr/>
          <p:nvPr/>
        </p:nvSpPr>
        <p:spPr>
          <a:xfrm>
            <a:off x="1306370" y="329237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4" name="Rectangle 83"/>
          <p:cNvSpPr/>
          <p:nvPr/>
        </p:nvSpPr>
        <p:spPr>
          <a:xfrm>
            <a:off x="1390086" y="33798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85" name="Straight Arrow Connector 96"/>
          <p:cNvCxnSpPr>
            <a:stCxn id="106" idx="2"/>
            <a:endCxn id="78" idx="0"/>
          </p:cNvCxnSpPr>
          <p:nvPr/>
        </p:nvCxnSpPr>
        <p:spPr>
          <a:xfrm rot="5400000">
            <a:off x="2426982" y="37398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3973906" y="5173486"/>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7" name="Rectangle 86"/>
          <p:cNvSpPr/>
          <p:nvPr/>
        </p:nvSpPr>
        <p:spPr>
          <a:xfrm>
            <a:off x="4058265" y="53469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88" name="Straight Arrow Connector 96"/>
          <p:cNvCxnSpPr>
            <a:stCxn id="105" idx="2"/>
            <a:endCxn id="103" idx="0"/>
          </p:cNvCxnSpPr>
          <p:nvPr/>
        </p:nvCxnSpPr>
        <p:spPr>
          <a:xfrm rot="5400000">
            <a:off x="3264132" y="42358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9" name="Rounded Rectangle 88"/>
          <p:cNvSpPr/>
          <p:nvPr/>
        </p:nvSpPr>
        <p:spPr>
          <a:xfrm>
            <a:off x="5057707" y="3379840"/>
            <a:ext cx="1380879" cy="86171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90" name="Straight Arrow Connector 96"/>
          <p:cNvCxnSpPr/>
          <p:nvPr/>
        </p:nvCxnSpPr>
        <p:spPr>
          <a:xfrm>
            <a:off x="4501271" y="42415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1" name="Rounded Rectangle 90"/>
          <p:cNvSpPr/>
          <p:nvPr/>
        </p:nvSpPr>
        <p:spPr>
          <a:xfrm>
            <a:off x="4986642" y="52461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92" name="Rounded Rectangle 91"/>
          <p:cNvSpPr/>
          <p:nvPr/>
        </p:nvSpPr>
        <p:spPr>
          <a:xfrm>
            <a:off x="7404542" y="52461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93" name="TextBox 92"/>
          <p:cNvSpPr txBox="1"/>
          <p:nvPr/>
        </p:nvSpPr>
        <p:spPr>
          <a:xfrm>
            <a:off x="6541194" y="35322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94" name="TextBox 93"/>
          <p:cNvSpPr txBox="1"/>
          <p:nvPr/>
        </p:nvSpPr>
        <p:spPr>
          <a:xfrm>
            <a:off x="6412468" y="53735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96" name="Rectangle 95"/>
          <p:cNvSpPr/>
          <p:nvPr/>
        </p:nvSpPr>
        <p:spPr>
          <a:xfrm>
            <a:off x="9139386" y="5171515"/>
            <a:ext cx="1211564" cy="944774"/>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indirect</a:t>
            </a:r>
          </a:p>
          <a:p>
            <a:pPr algn="ctr"/>
            <a:r>
              <a:rPr lang="en-CA" altLang="zh-TW" dirty="0" smtClean="0">
                <a:solidFill>
                  <a:schemeClr val="bg1"/>
                </a:solidFill>
              </a:rPr>
              <a:t>block</a:t>
            </a:r>
            <a:endParaRPr lang="zh-TW" altLang="en-US" dirty="0">
              <a:solidFill>
                <a:schemeClr val="bg1"/>
              </a:solidFill>
            </a:endParaRPr>
          </a:p>
        </p:txBody>
      </p:sp>
      <p:cxnSp>
        <p:nvCxnSpPr>
          <p:cNvPr id="99" name="Straight Arrow Connector 96"/>
          <p:cNvCxnSpPr/>
          <p:nvPr/>
        </p:nvCxnSpPr>
        <p:spPr>
          <a:xfrm flipV="1">
            <a:off x="8619918" y="5643902"/>
            <a:ext cx="519468" cy="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0" name="Group 99"/>
          <p:cNvGrpSpPr/>
          <p:nvPr/>
        </p:nvGrpSpPr>
        <p:grpSpPr>
          <a:xfrm rot="5400000">
            <a:off x="5586278" y="4146564"/>
            <a:ext cx="327375" cy="584384"/>
            <a:chOff x="27236633" y="9932056"/>
            <a:chExt cx="578250" cy="990600"/>
          </a:xfrm>
        </p:grpSpPr>
        <p:cxnSp>
          <p:nvCxnSpPr>
            <p:cNvPr id="107" name="Straight Arrow Connector 106"/>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98" name="Straight Arrow Connector 96"/>
          <p:cNvCxnSpPr>
            <a:stCxn id="92" idx="2"/>
          </p:cNvCxnSpPr>
          <p:nvPr/>
        </p:nvCxnSpPr>
        <p:spPr>
          <a:xfrm>
            <a:off x="8012230" y="6041678"/>
            <a:ext cx="0" cy="45631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5469337" y="6041678"/>
            <a:ext cx="1" cy="46267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2658434" y="51734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inode</a:t>
            </a:r>
            <a:endParaRPr lang="en-CA" altLang="zh-TW" dirty="0" smtClean="0">
              <a:solidFill>
                <a:schemeClr val="bg1"/>
              </a:solidFill>
            </a:endParaRPr>
          </a:p>
          <a:p>
            <a:pPr algn="ctr"/>
            <a:r>
              <a:rPr lang="en-CA" altLang="zh-TW" dirty="0" smtClean="0">
                <a:solidFill>
                  <a:schemeClr val="bg1"/>
                </a:solidFill>
              </a:rPr>
              <a:t>bitmap</a:t>
            </a:r>
            <a:endParaRPr lang="zh-TW" altLang="en-US" dirty="0">
              <a:solidFill>
                <a:schemeClr val="bg1"/>
              </a:solidFill>
            </a:endParaRPr>
          </a:p>
        </p:txBody>
      </p:sp>
      <p:grpSp>
        <p:nvGrpSpPr>
          <p:cNvPr id="104" name="Group 103"/>
          <p:cNvGrpSpPr/>
          <p:nvPr/>
        </p:nvGrpSpPr>
        <p:grpSpPr>
          <a:xfrm>
            <a:off x="3491843" y="3368423"/>
            <a:ext cx="1419770" cy="902183"/>
            <a:chOff x="2529818" y="2415923"/>
            <a:chExt cx="1419770" cy="902183"/>
          </a:xfrm>
        </p:grpSpPr>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56" name="Rectangle 155"/>
          <p:cNvSpPr/>
          <p:nvPr/>
        </p:nvSpPr>
        <p:spPr>
          <a:xfrm>
            <a:off x="353577" y="2840357"/>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57" name="Rectangle 156"/>
          <p:cNvSpPr/>
          <p:nvPr/>
        </p:nvSpPr>
        <p:spPr>
          <a:xfrm>
            <a:off x="443927" y="463348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59" name="Rectangle 158"/>
          <p:cNvSpPr/>
          <p:nvPr/>
        </p:nvSpPr>
        <p:spPr>
          <a:xfrm>
            <a:off x="5057707" y="463348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0" name="Rectangle 159"/>
          <p:cNvSpPr/>
          <p:nvPr/>
        </p:nvSpPr>
        <p:spPr>
          <a:xfrm>
            <a:off x="4833432"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1" name="Rectangle 160"/>
          <p:cNvSpPr/>
          <p:nvPr/>
        </p:nvSpPr>
        <p:spPr>
          <a:xfrm>
            <a:off x="9218612"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2" name="Rectangle 161"/>
          <p:cNvSpPr/>
          <p:nvPr/>
        </p:nvSpPr>
        <p:spPr>
          <a:xfrm>
            <a:off x="7522606"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3" name="Rectangle 162"/>
          <p:cNvSpPr/>
          <p:nvPr/>
        </p:nvSpPr>
        <p:spPr>
          <a:xfrm>
            <a:off x="2415911" y="2106494"/>
            <a:ext cx="5163845"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37692585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6038754" y="358881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sp>
        <p:nvSpPr>
          <p:cNvPr id="2" name="Title 1"/>
          <p:cNvSpPr>
            <a:spLocks noGrp="1"/>
          </p:cNvSpPr>
          <p:nvPr>
            <p:ph type="title"/>
          </p:nvPr>
        </p:nvSpPr>
        <p:spPr/>
        <p:txBody>
          <a:bodyPr/>
          <a:lstStyle/>
          <a:p>
            <a:r>
              <a:rPr lang="en-CA" dirty="0" smtClean="0"/>
              <a:t>File Address Space</a:t>
            </a:r>
            <a:endParaRPr lang="en-CA" dirty="0"/>
          </a:p>
        </p:txBody>
      </p:sp>
      <p:sp>
        <p:nvSpPr>
          <p:cNvPr id="3" name="Content Placeholder 2"/>
          <p:cNvSpPr>
            <a:spLocks noGrp="1"/>
          </p:cNvSpPr>
          <p:nvPr>
            <p:ph idx="1"/>
          </p:nvPr>
        </p:nvSpPr>
        <p:spPr>
          <a:xfrm>
            <a:off x="684211" y="1450020"/>
            <a:ext cx="10285797" cy="4656842"/>
          </a:xfrm>
        </p:spPr>
        <p:txBody>
          <a:bodyPr/>
          <a:lstStyle/>
          <a:p>
            <a:r>
              <a:rPr lang="en-CA" dirty="0"/>
              <a:t>File address is an index into the </a:t>
            </a:r>
            <a:r>
              <a:rPr lang="en-CA" dirty="0" err="1"/>
              <a:t>inode</a:t>
            </a:r>
            <a:r>
              <a:rPr lang="en-CA" dirty="0"/>
              <a:t> </a:t>
            </a:r>
            <a:r>
              <a:rPr lang="en-CA" dirty="0" smtClean="0"/>
              <a:t>table for a file</a:t>
            </a:r>
          </a:p>
          <a:p>
            <a:pPr lvl="1"/>
            <a:r>
              <a:rPr lang="en-CA" dirty="0" smtClean="0"/>
              <a:t>E.g. Ext4 journal is stored as a regular file  </a:t>
            </a:r>
          </a:p>
          <a:p>
            <a:pPr lvl="1"/>
            <a:r>
              <a:rPr lang="en-CA" dirty="0" smtClean="0"/>
              <a:t>Regular file may be physically discontiguous</a:t>
            </a:r>
          </a:p>
          <a:p>
            <a:pPr lvl="1"/>
            <a:r>
              <a:rPr lang="en-CA" dirty="0" smtClean="0"/>
              <a:t>Requires </a:t>
            </a:r>
            <a:r>
              <a:rPr lang="en-CA" dirty="0"/>
              <a:t>mapping </a:t>
            </a:r>
            <a:r>
              <a:rPr lang="en-CA" dirty="0" smtClean="0"/>
              <a:t>logical </a:t>
            </a:r>
            <a:r>
              <a:rPr lang="en-CA" dirty="0"/>
              <a:t>blocks of the </a:t>
            </a:r>
            <a:r>
              <a:rPr lang="en-CA" dirty="0" smtClean="0"/>
              <a:t>file to </a:t>
            </a:r>
            <a:r>
              <a:rPr lang="en-CA" dirty="0"/>
              <a:t>their physical </a:t>
            </a:r>
            <a:r>
              <a:rPr lang="en-CA" dirty="0" smtClean="0"/>
              <a:t>locations</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16</a:t>
            </a:fld>
            <a:endParaRPr lang="en-CA" dirty="0"/>
          </a:p>
        </p:txBody>
      </p:sp>
      <p:sp>
        <p:nvSpPr>
          <p:cNvPr id="61" name="Rectangle 60"/>
          <p:cNvSpPr/>
          <p:nvPr/>
        </p:nvSpPr>
        <p:spPr>
          <a:xfrm>
            <a:off x="6438235" y="5793262"/>
            <a:ext cx="3743989" cy="445613"/>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ext4 journal on physical disk</a:t>
            </a:r>
            <a:endParaRPr lang="en-US" dirty="0">
              <a:solidFill>
                <a:schemeClr val="bg1"/>
              </a:solidFill>
            </a:endParaRPr>
          </a:p>
        </p:txBody>
      </p:sp>
      <p:cxnSp>
        <p:nvCxnSpPr>
          <p:cNvPr id="70" name="Straight Connector 69"/>
          <p:cNvCxnSpPr/>
          <p:nvPr/>
        </p:nvCxnSpPr>
        <p:spPr>
          <a:xfrm>
            <a:off x="7264634" y="4280417"/>
            <a:ext cx="764079" cy="7640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6038754" y="4989148"/>
            <a:ext cx="1193124"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0" name="Straight Connector 89"/>
          <p:cNvCxnSpPr/>
          <p:nvPr/>
        </p:nvCxnSpPr>
        <p:spPr>
          <a:xfrm>
            <a:off x="7846774" y="4270294"/>
            <a:ext cx="1373629" cy="72716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885782" y="426213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1306371" y="35888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cxnSp>
        <p:nvCxnSpPr>
          <p:cNvPr id="37" name="Straight Arrow Connector 36"/>
          <p:cNvCxnSpPr>
            <a:stCxn id="35" idx="3"/>
            <a:endCxn id="36" idx="1"/>
          </p:cNvCxnSpPr>
          <p:nvPr/>
        </p:nvCxnSpPr>
        <p:spPr>
          <a:xfrm>
            <a:off x="2409588" y="3924902"/>
            <a:ext cx="3629166"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1306370" y="4721123"/>
            <a:ext cx="4342405"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9" name="Rectangle 38"/>
          <p:cNvSpPr/>
          <p:nvPr/>
        </p:nvSpPr>
        <p:spPr>
          <a:xfrm>
            <a:off x="1390086" y="480859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40" name="Straight Arrow Connector 96"/>
          <p:cNvCxnSpPr>
            <a:stCxn id="51" idx="2"/>
          </p:cNvCxnSpPr>
          <p:nvPr/>
        </p:nvCxnSpPr>
        <p:spPr>
          <a:xfrm rot="5400000">
            <a:off x="2426982" y="516863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a:stCxn id="50" idx="2"/>
          </p:cNvCxnSpPr>
          <p:nvPr/>
        </p:nvCxnSpPr>
        <p:spPr>
          <a:xfrm rot="5400000">
            <a:off x="3264132" y="566464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4501271" y="567030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69987" y="4979869"/>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49" name="Group 48"/>
          <p:cNvGrpSpPr/>
          <p:nvPr/>
        </p:nvGrpSpPr>
        <p:grpSpPr>
          <a:xfrm>
            <a:off x="3491843" y="4797173"/>
            <a:ext cx="1419770" cy="902183"/>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4" name="Rectangle 53"/>
          <p:cNvSpPr/>
          <p:nvPr/>
        </p:nvSpPr>
        <p:spPr>
          <a:xfrm>
            <a:off x="353577" y="4269107"/>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55" name="Rectangle 54"/>
          <p:cNvSpPr/>
          <p:nvPr/>
        </p:nvSpPr>
        <p:spPr>
          <a:xfrm>
            <a:off x="443927" y="606223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5" name="Rectangle 4"/>
          <p:cNvSpPr/>
          <p:nvPr/>
        </p:nvSpPr>
        <p:spPr>
          <a:xfrm>
            <a:off x="353577" y="4260986"/>
            <a:ext cx="5494773" cy="2444614"/>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1" name="Rectangle 70"/>
          <p:cNvSpPr/>
          <p:nvPr/>
        </p:nvSpPr>
        <p:spPr>
          <a:xfrm>
            <a:off x="9226029" y="4989148"/>
            <a:ext cx="1442717"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2" name="Rectangle 71"/>
          <p:cNvSpPr/>
          <p:nvPr/>
        </p:nvSpPr>
        <p:spPr>
          <a:xfrm>
            <a:off x="8018085" y="4989148"/>
            <a:ext cx="521848"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5" name="Straight Connector 74"/>
          <p:cNvCxnSpPr/>
          <p:nvPr/>
        </p:nvCxnSpPr>
        <p:spPr>
          <a:xfrm>
            <a:off x="7788509" y="4251842"/>
            <a:ext cx="764079" cy="7640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9257760" y="4270294"/>
            <a:ext cx="1373629" cy="72716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6035005" y="4243035"/>
            <a:ext cx="3706" cy="80144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7225591" y="4259166"/>
            <a:ext cx="3706" cy="80144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6061703" y="4987386"/>
            <a:ext cx="4607043" cy="672168"/>
          </a:xfrm>
          <a:prstGeom prst="rect">
            <a:avLst/>
          </a:prstGeom>
          <a:noFill/>
          <a:ln w="1905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bg1"/>
              </a:solidFill>
            </a:endParaRPr>
          </a:p>
        </p:txBody>
      </p:sp>
      <p:cxnSp>
        <p:nvCxnSpPr>
          <p:cNvPr id="91" name="Straight Connector 90"/>
          <p:cNvCxnSpPr/>
          <p:nvPr/>
        </p:nvCxnSpPr>
        <p:spPr>
          <a:xfrm>
            <a:off x="7248084" y="3588818"/>
            <a:ext cx="0" cy="691599"/>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7807118" y="3588818"/>
            <a:ext cx="0" cy="663742"/>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944444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Missing Pointer</a:t>
            </a:r>
            <a:endParaRPr lang="en-CA" dirty="0"/>
          </a:p>
        </p:txBody>
      </p:sp>
      <p:sp>
        <p:nvSpPr>
          <p:cNvPr id="3" name="Content Placeholder 2"/>
          <p:cNvSpPr>
            <a:spLocks noGrp="1"/>
          </p:cNvSpPr>
          <p:nvPr>
            <p:ph idx="1"/>
          </p:nvPr>
        </p:nvSpPr>
        <p:spPr>
          <a:xfrm>
            <a:off x="617537" y="1770259"/>
            <a:ext cx="9949352" cy="4279386"/>
          </a:xfrm>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17</a:t>
            </a:fld>
            <a:endParaRPr lang="en-CA" dirty="0"/>
          </a:p>
        </p:txBody>
      </p:sp>
      <p:cxnSp>
        <p:nvCxnSpPr>
          <p:cNvPr id="76" name="Straight Arrow Connector 75"/>
          <p:cNvCxnSpPr/>
          <p:nvPr/>
        </p:nvCxnSpPr>
        <p:spPr>
          <a:xfrm>
            <a:off x="7915107" y="4032386"/>
            <a:ext cx="0" cy="59348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7" name="Rectangle 76"/>
          <p:cNvSpPr/>
          <p:nvPr/>
        </p:nvSpPr>
        <p:spPr>
          <a:xfrm>
            <a:off x="7335696" y="33602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78" name="Rectangle 77"/>
          <p:cNvSpPr/>
          <p:nvPr/>
        </p:nvSpPr>
        <p:spPr>
          <a:xfrm>
            <a:off x="9905025" y="3360218"/>
            <a:ext cx="1972651"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79" name="Straight Arrow Connector 78"/>
          <p:cNvCxnSpPr>
            <a:stCxn id="77" idx="3"/>
            <a:endCxn id="78" idx="1"/>
          </p:cNvCxnSpPr>
          <p:nvPr/>
        </p:nvCxnSpPr>
        <p:spPr>
          <a:xfrm>
            <a:off x="8438913" y="3696302"/>
            <a:ext cx="1466112"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7335695" y="4625873"/>
            <a:ext cx="454198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1" name="Rectangle 80"/>
          <p:cNvSpPr/>
          <p:nvPr/>
        </p:nvSpPr>
        <p:spPr>
          <a:xfrm>
            <a:off x="7419411" y="4713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82" name="Straight Arrow Connector 96"/>
          <p:cNvCxnSpPr>
            <a:stCxn id="90" idx="2"/>
          </p:cNvCxnSpPr>
          <p:nvPr/>
        </p:nvCxnSpPr>
        <p:spPr>
          <a:xfrm rot="5400000">
            <a:off x="8456307" y="5073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96"/>
          <p:cNvCxnSpPr>
            <a:stCxn id="89" idx="2"/>
          </p:cNvCxnSpPr>
          <p:nvPr/>
        </p:nvCxnSpPr>
        <p:spPr>
          <a:xfrm rot="5400000">
            <a:off x="9293457" y="5569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96"/>
          <p:cNvCxnSpPr/>
          <p:nvPr/>
        </p:nvCxnSpPr>
        <p:spPr>
          <a:xfrm>
            <a:off x="10530596" y="5575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5" name="TextBox 84"/>
          <p:cNvSpPr txBox="1"/>
          <p:nvPr/>
        </p:nvSpPr>
        <p:spPr>
          <a:xfrm>
            <a:off x="11275119" y="4865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86" name="Group 85"/>
          <p:cNvGrpSpPr/>
          <p:nvPr/>
        </p:nvGrpSpPr>
        <p:grpSpPr>
          <a:xfrm>
            <a:off x="9521168" y="4701923"/>
            <a:ext cx="1419770" cy="902183"/>
            <a:chOff x="2529818" y="2415923"/>
            <a:chExt cx="1419770" cy="902183"/>
          </a:xfrm>
        </p:grpSpPr>
        <p:sp>
          <p:nvSpPr>
            <p:cNvPr id="89" name="Rounded Rectangle 88"/>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90" name="Rectangle 89"/>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87" name="Rectangle 86"/>
          <p:cNvSpPr/>
          <p:nvPr/>
        </p:nvSpPr>
        <p:spPr>
          <a:xfrm>
            <a:off x="5915025" y="4032386"/>
            <a:ext cx="1865313" cy="5934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1" dirty="0" smtClean="0">
                <a:solidFill>
                  <a:schemeClr val="bg1"/>
                </a:solidFill>
              </a:rPr>
              <a:t>missing pointer</a:t>
            </a:r>
          </a:p>
        </p:txBody>
      </p:sp>
      <p:sp>
        <p:nvSpPr>
          <p:cNvPr id="88" name="Rectangle 87"/>
          <p:cNvSpPr/>
          <p:nvPr/>
        </p:nvSpPr>
        <p:spPr>
          <a:xfrm>
            <a:off x="8454683" y="3235838"/>
            <a:ext cx="3532877"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25491069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Implicit Pointer</a:t>
            </a:r>
            <a:endParaRPr lang="en-CA" dirty="0"/>
          </a:p>
        </p:txBody>
      </p:sp>
      <p:sp>
        <p:nvSpPr>
          <p:cNvPr id="3" name="Content Placeholder 2"/>
          <p:cNvSpPr>
            <a:spLocks noGrp="1"/>
          </p:cNvSpPr>
          <p:nvPr>
            <p:ph idx="1"/>
          </p:nvPr>
        </p:nvSpPr>
        <p:spPr>
          <a:xfrm>
            <a:off x="684211" y="1515358"/>
            <a:ext cx="10285797" cy="2205149"/>
          </a:xfrm>
        </p:spPr>
        <p:txBody>
          <a:bodyPr/>
          <a:lstStyle/>
          <a:p>
            <a:r>
              <a:rPr lang="en-CA" dirty="0" smtClean="0"/>
              <a:t>Solution: Implicit pointer annotation</a:t>
            </a:r>
          </a:p>
          <a:p>
            <a:pPr lvl="1"/>
            <a:r>
              <a:rPr lang="en-CA" i="1" dirty="0" smtClean="0"/>
              <a:t>name</a:t>
            </a:r>
            <a:r>
              <a:rPr lang="en-CA" dirty="0" smtClean="0"/>
              <a:t> creates a logical pointer field that can be dereferenced</a:t>
            </a:r>
          </a:p>
          <a:p>
            <a:pPr lvl="1"/>
            <a:r>
              <a:rPr lang="en-CA" i="1" dirty="0"/>
              <a:t>expr </a:t>
            </a:r>
            <a:r>
              <a:rPr lang="en-CA" dirty="0" smtClean="0"/>
              <a:t>is a C expression that specifies </a:t>
            </a:r>
            <a:r>
              <a:rPr lang="en-CA" dirty="0"/>
              <a:t>how to </a:t>
            </a:r>
            <a:r>
              <a:rPr lang="en-CA" dirty="0" smtClean="0"/>
              <a:t>calculate the field value</a:t>
            </a:r>
            <a:endParaRPr lang="en-CA" dirty="0"/>
          </a:p>
          <a:p>
            <a:pPr lvl="2"/>
            <a:r>
              <a:rPr lang="en-CA" dirty="0"/>
              <a:t>Expression can reference other fields in the structure</a:t>
            </a:r>
          </a:p>
          <a:p>
            <a:pPr lvl="1"/>
            <a:endParaRPr lang="en-CA" i="1"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18</a:t>
            </a:fld>
            <a:endParaRPr lang="en-CA" dirty="0"/>
          </a:p>
        </p:txBody>
      </p:sp>
      <p:sp>
        <p:nvSpPr>
          <p:cNvPr id="5" name="Rectangle 4"/>
          <p:cNvSpPr/>
          <p:nvPr/>
        </p:nvSpPr>
        <p:spPr>
          <a:xfrm>
            <a:off x="87545" y="3729990"/>
            <a:ext cx="7253468" cy="2246769"/>
          </a:xfrm>
          <a:prstGeom prst="rect">
            <a:avLst/>
          </a:prstGeom>
        </p:spPr>
        <p:txBody>
          <a:bodyPr wrap="square">
            <a:spAutoFit/>
          </a:bodyPr>
          <a:lstStyle/>
          <a:p>
            <a:r>
              <a:rPr lang="en-CA" sz="2000" b="1" dirty="0" smtClean="0">
                <a:solidFill>
                  <a:schemeClr val="bg1"/>
                </a:solidFill>
                <a:latin typeface="Courier New" panose="02070309020205020404" pitchFamily="49" charset="0"/>
                <a:cs typeface="Courier New" panose="02070309020205020404" pitchFamily="49" charset="0"/>
              </a:rPr>
              <a:t>FSSUPER</a:t>
            </a:r>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latin typeface="Courier New" panose="02070309020205020404" pitchFamily="49" charset="0"/>
                <a:cs typeface="Courier New" panose="02070309020205020404" pitchFamily="49" charset="0"/>
              </a:rPr>
              <a:t>ext4_super_block {</a:t>
            </a:r>
          </a:p>
          <a:p>
            <a:r>
              <a:rPr lang="en-CA" sz="2000" dirty="0">
                <a:solidFill>
                  <a:schemeClr val="bg1"/>
                </a:solidFill>
                <a:latin typeface="Courier New" panose="02070309020205020404" pitchFamily="49" charset="0"/>
                <a:cs typeface="Courier New" panose="02070309020205020404" pitchFamily="49" charset="0"/>
              </a:rPr>
              <a:t>  __le32 </a:t>
            </a:r>
            <a:r>
              <a:rPr lang="en-CA" sz="2000" dirty="0" err="1">
                <a:solidFill>
                  <a:schemeClr val="bg1"/>
                </a:solidFill>
                <a:latin typeface="Courier New" panose="02070309020205020404" pitchFamily="49" charset="0"/>
                <a:cs typeface="Courier New" panose="02070309020205020404" pitchFamily="49" charset="0"/>
              </a:rPr>
              <a:t>s_log_block_size</a:t>
            </a:r>
            <a:r>
              <a:rPr lang="en-CA" sz="2000" dirty="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2000" dirty="0" err="1"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type=ext4_group_desc_table, </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2000" dirty="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p:txBody>
      </p:sp>
      <p:grpSp>
        <p:nvGrpSpPr>
          <p:cNvPr id="39" name="Group 38"/>
          <p:cNvGrpSpPr/>
          <p:nvPr/>
        </p:nvGrpSpPr>
        <p:grpSpPr>
          <a:xfrm>
            <a:off x="5915025" y="3306644"/>
            <a:ext cx="6158200" cy="3200343"/>
            <a:chOff x="5753100" y="3306644"/>
            <a:chExt cx="6158200" cy="3200343"/>
          </a:xfrm>
        </p:grpSpPr>
        <p:cxnSp>
          <p:nvCxnSpPr>
            <p:cNvPr id="40" name="Straight Arrow Connector 39"/>
            <p:cNvCxnSpPr/>
            <p:nvPr/>
          </p:nvCxnSpPr>
          <p:spPr>
            <a:xfrm>
              <a:off x="7753182" y="4032386"/>
              <a:ext cx="0" cy="59348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1" name="Rectangle 40"/>
            <p:cNvSpPr/>
            <p:nvPr/>
          </p:nvSpPr>
          <p:spPr>
            <a:xfrm>
              <a:off x="7173771" y="33602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42" name="Rectangle 41"/>
            <p:cNvSpPr/>
            <p:nvPr/>
          </p:nvSpPr>
          <p:spPr>
            <a:xfrm>
              <a:off x="9743100" y="3360218"/>
              <a:ext cx="1972651"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43" name="Straight Arrow Connector 42"/>
            <p:cNvCxnSpPr>
              <a:stCxn id="41" idx="3"/>
              <a:endCxn id="42" idx="1"/>
            </p:cNvCxnSpPr>
            <p:nvPr/>
          </p:nvCxnSpPr>
          <p:spPr>
            <a:xfrm>
              <a:off x="8276988" y="3696302"/>
              <a:ext cx="1466112"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Rectangle 43"/>
            <p:cNvSpPr/>
            <p:nvPr/>
          </p:nvSpPr>
          <p:spPr>
            <a:xfrm>
              <a:off x="7173770" y="4625873"/>
              <a:ext cx="454198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5" name="Rectangle 44"/>
            <p:cNvSpPr/>
            <p:nvPr/>
          </p:nvSpPr>
          <p:spPr>
            <a:xfrm>
              <a:off x="7257486" y="4713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46" name="Straight Arrow Connector 96"/>
            <p:cNvCxnSpPr>
              <a:stCxn id="54" idx="2"/>
            </p:cNvCxnSpPr>
            <p:nvPr/>
          </p:nvCxnSpPr>
          <p:spPr>
            <a:xfrm rot="5400000">
              <a:off x="8294382" y="5073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96"/>
            <p:cNvCxnSpPr>
              <a:stCxn id="53" idx="2"/>
            </p:cNvCxnSpPr>
            <p:nvPr/>
          </p:nvCxnSpPr>
          <p:spPr>
            <a:xfrm rot="5400000">
              <a:off x="9131532" y="5569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96"/>
            <p:cNvCxnSpPr/>
            <p:nvPr/>
          </p:nvCxnSpPr>
          <p:spPr>
            <a:xfrm>
              <a:off x="10368671" y="5575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9" name="TextBox 48"/>
            <p:cNvSpPr txBox="1"/>
            <p:nvPr/>
          </p:nvSpPr>
          <p:spPr>
            <a:xfrm>
              <a:off x="11113194" y="4865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50" name="Group 49"/>
            <p:cNvGrpSpPr/>
            <p:nvPr/>
          </p:nvGrpSpPr>
          <p:grpSpPr>
            <a:xfrm>
              <a:off x="9359243" y="4701923"/>
              <a:ext cx="1419770" cy="902183"/>
              <a:chOff x="2529818" y="2415923"/>
              <a:chExt cx="1419770" cy="902183"/>
            </a:xfrm>
          </p:grpSpPr>
          <p:sp>
            <p:nvSpPr>
              <p:cNvPr id="53" name="Rounded Rectangle 52"/>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54" name="Rectangle 53"/>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1" name="Rectangle 50"/>
            <p:cNvSpPr/>
            <p:nvPr/>
          </p:nvSpPr>
          <p:spPr>
            <a:xfrm>
              <a:off x="5753100" y="4032386"/>
              <a:ext cx="1865313" cy="5934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1" dirty="0" smtClean="0">
                  <a:solidFill>
                    <a:schemeClr val="bg1"/>
                  </a:solidFill>
                </a:rPr>
                <a:t>implicit pointer</a:t>
              </a:r>
            </a:p>
            <a:p>
              <a:pPr algn="ctr"/>
              <a:r>
                <a:rPr lang="en-US" b="1" i="1" dirty="0" smtClean="0">
                  <a:solidFill>
                    <a:schemeClr val="bg1"/>
                  </a:solidFill>
                </a:rPr>
                <a:t>annotation</a:t>
              </a:r>
            </a:p>
          </p:txBody>
        </p:sp>
        <p:sp>
          <p:nvSpPr>
            <p:cNvPr id="52" name="Rectangle 51"/>
            <p:cNvSpPr/>
            <p:nvPr/>
          </p:nvSpPr>
          <p:spPr>
            <a:xfrm>
              <a:off x="8283312" y="3306644"/>
              <a:ext cx="3627988"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5" name="Rectangle 54"/>
          <p:cNvSpPr/>
          <p:nvPr/>
        </p:nvSpPr>
        <p:spPr>
          <a:xfrm>
            <a:off x="7982683" y="4097561"/>
            <a:ext cx="2666114" cy="369332"/>
          </a:xfrm>
          <a:prstGeom prst="rect">
            <a:avLst/>
          </a:prstGeom>
          <a:noFill/>
          <a:ln>
            <a:noFill/>
          </a:ln>
        </p:spPr>
        <p:txBody>
          <a:bodyPr wrap="none">
            <a:spAutoFit/>
          </a:bodyPr>
          <a:lstStyle/>
          <a:p>
            <a:r>
              <a:rPr lang="en-CA" dirty="0" err="1">
                <a:solidFill>
                  <a:schemeClr val="bg1"/>
                </a:solidFill>
                <a:effectLst/>
                <a:latin typeface="Courier New" panose="02070309020205020404" pitchFamily="49" charset="0"/>
                <a:cs typeface="Courier New" panose="02070309020205020404" pitchFamily="49" charset="0"/>
              </a:rPr>
              <a:t>s_block_group_desc</a:t>
            </a:r>
            <a:endParaRPr lang="en-CA" dirty="0">
              <a:effectLst/>
            </a:endParaRPr>
          </a:p>
        </p:txBody>
      </p:sp>
    </p:spTree>
    <p:extLst>
      <p:ext uri="{BB962C8B-B14F-4D97-AF65-F5344CB8AC3E}">
        <p14:creationId xmlns:p14="http://schemas.microsoft.com/office/powerpoint/2010/main" val="247439990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Context-Sensitive </a:t>
            </a:r>
            <a:r>
              <a:rPr lang="en-CA" dirty="0" smtClean="0"/>
              <a:t>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WHEN</a:t>
            </a:r>
            <a:r>
              <a:rPr lang="en-CA" i="1" dirty="0" smtClean="0"/>
              <a:t> </a:t>
            </a:r>
            <a:r>
              <a:rPr lang="en-CA" dirty="0" smtClean="0"/>
              <a:t>condition in pointer annotation</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19</a:t>
            </a:fld>
            <a:endParaRPr lang="en-CA" dirty="0"/>
          </a:p>
        </p:txBody>
      </p:sp>
      <p:sp>
        <p:nvSpPr>
          <p:cNvPr id="46" name="Rectangle 45"/>
          <p:cNvSpPr/>
          <p:nvPr/>
        </p:nvSpPr>
        <p:spPr>
          <a:xfrm>
            <a:off x="592958" y="3182398"/>
            <a:ext cx="7499177" cy="3170099"/>
          </a:xfrm>
          <a:prstGeom prst="rect">
            <a:avLst/>
          </a:prstGeom>
        </p:spPr>
        <p:txBody>
          <a:bodyPr wrap="square">
            <a:spAutoFit/>
          </a:bodyPr>
          <a:lstStyle/>
          <a:p>
            <a:r>
              <a:rPr lang="en-CA" sz="2000" b="1" dirty="0">
                <a:solidFill>
                  <a:schemeClr val="bg1"/>
                </a:solidFill>
                <a:latin typeface="Courier New" panose="02070309020205020404" pitchFamily="49" charset="0"/>
                <a:cs typeface="Courier New" panose="02070309020205020404" pitchFamily="49" charset="0"/>
              </a:rPr>
              <a:t>FSSTRUCT</a:t>
            </a:r>
            <a:r>
              <a:rPr lang="en-CA" sz="2000" dirty="0" smtClean="0">
                <a:solidFill>
                  <a:schemeClr val="bg1"/>
                </a:solidFill>
                <a:latin typeface="Courier New" panose="02070309020205020404" pitchFamily="49" charset="0"/>
                <a:cs typeface="Courier New" panose="02070309020205020404" pitchFamily="49" charset="0"/>
              </a:rPr>
              <a:t>(...) ext4_inode {</a:t>
            </a:r>
            <a:endParaRPr lang="en-CA" sz="2000" dirty="0">
              <a:solidFill>
                <a:schemeClr val="bg1"/>
              </a:solidFill>
              <a:latin typeface="Courier New" panose="02070309020205020404" pitchFamily="49" charset="0"/>
              <a:cs typeface="Courier New" panose="02070309020205020404" pitchFamily="49" charset="0"/>
            </a:endParaRPr>
          </a:p>
          <a:p>
            <a:r>
              <a:rPr lang="en-CA" sz="2000" dirty="0">
                <a:solidFill>
                  <a:schemeClr val="bg1"/>
                </a:solidFill>
                <a:latin typeface="Courier New" panose="02070309020205020404" pitchFamily="49" charset="0"/>
                <a:cs typeface="Courier New" panose="02070309020205020404" pitchFamily="49" charset="0"/>
              </a:rPr>
              <a:t>  __le16 </a:t>
            </a:r>
            <a:r>
              <a:rPr lang="en-CA" sz="2000" dirty="0" err="1">
                <a:solidFill>
                  <a:schemeClr val="bg1"/>
                </a:solidFill>
                <a:latin typeface="Courier New" panose="02070309020205020404" pitchFamily="49" charset="0"/>
                <a:cs typeface="Courier New" panose="02070309020205020404" pitchFamily="49" charset="0"/>
              </a:rPr>
              <a:t>i_mode</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type=</a:t>
            </a:r>
            <a:r>
              <a:rPr lang="en-CA" sz="2000" dirty="0" err="1">
                <a:solidFill>
                  <a:schemeClr val="bg1"/>
                </a:solidFill>
                <a:latin typeface="Courier New" panose="02070309020205020404" pitchFamily="49" charset="0"/>
                <a:cs typeface="Courier New" panose="02070309020205020404" pitchFamily="49" charset="0"/>
              </a:rPr>
              <a:t>dir_block</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a:t>
            </a:r>
            <a:r>
              <a:rPr lang="en-CA" sz="2000" dirty="0"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S_IFDIR</a:t>
            </a:r>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a:p>
            <a:r>
              <a:rPr lang="en-CA" sz="2000" dirty="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a:t>
            </a:r>
            <a:r>
              <a:rPr lang="en-CA" sz="2000" dirty="0" smtClean="0">
                <a:solidFill>
                  <a:schemeClr val="bg1"/>
                </a:solidFill>
                <a:latin typeface="Courier New" panose="02070309020205020404" pitchFamily="49" charset="0"/>
                <a:cs typeface="Courier New" panose="02070309020205020404" pitchFamily="49" charset="0"/>
              </a:rPr>
              <a:t>type=</a:t>
            </a:r>
            <a:r>
              <a:rPr lang="en-CA" sz="2000" dirty="0" err="1" smtClean="0">
                <a:solidFill>
                  <a:schemeClr val="bg1"/>
                </a:solidFill>
                <a:latin typeface="Courier New" panose="02070309020205020404" pitchFamily="49" charset="0"/>
                <a:cs typeface="Courier New" panose="02070309020205020404" pitchFamily="49" charset="0"/>
              </a:rPr>
              <a:t>data_block</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__</a:t>
            </a:r>
            <a:r>
              <a:rPr lang="en-CA" sz="2000" dirty="0" smtClean="0">
                <a:solidFill>
                  <a:schemeClr val="bg1"/>
                </a:solidFill>
                <a:latin typeface="Courier New" panose="02070309020205020404" pitchFamily="49" charset="0"/>
                <a:cs typeface="Courier New" panose="02070309020205020404" pitchFamily="49" charset="0"/>
              </a:rPr>
              <a:t>le32 </a:t>
            </a:r>
            <a:r>
              <a:rPr lang="en-CA" sz="2000" dirty="0" err="1" smtClean="0">
                <a:solidFill>
                  <a:schemeClr val="bg1"/>
                </a:solidFill>
                <a:latin typeface="Courier New" panose="02070309020205020404" pitchFamily="49" charset="0"/>
                <a:cs typeface="Courier New" panose="02070309020205020404" pitchFamily="49" charset="0"/>
              </a:rPr>
              <a:t>i_block</a:t>
            </a:r>
            <a:r>
              <a:rPr lang="en-CA" sz="2000" dirty="0" smtClean="0">
                <a:solidFill>
                  <a:schemeClr val="bg1"/>
                </a:solidFill>
                <a:latin typeface="Courier New" panose="02070309020205020404" pitchFamily="49" charset="0"/>
                <a:cs typeface="Courier New" panose="02070309020205020404" pitchFamily="49" charset="0"/>
              </a:rPr>
              <a:t>[EXT3_NDIR_BLOCKS</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p>
          <a:p>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p:txBody>
      </p:sp>
      <p:grpSp>
        <p:nvGrpSpPr>
          <p:cNvPr id="5" name="Group 4"/>
          <p:cNvGrpSpPr/>
          <p:nvPr/>
        </p:nvGrpSpPr>
        <p:grpSpPr>
          <a:xfrm>
            <a:off x="7326706" y="3183802"/>
            <a:ext cx="4360469" cy="2332820"/>
            <a:chOff x="3430981" y="4220986"/>
            <a:chExt cx="4360469" cy="2332820"/>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24" name="TextBox 23"/>
            <p:cNvSpPr txBox="1"/>
            <p:nvPr/>
          </p:nvSpPr>
          <p:spPr>
            <a:xfrm>
              <a:off x="5869543" y="44210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a:t>
              </a:r>
              <a:endParaRPr lang="zh-TW" altLang="en-US" dirty="0">
                <a:solidFill>
                  <a:schemeClr val="bg1"/>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data</a:t>
              </a:r>
            </a:p>
            <a:p>
              <a:pPr algn="ctr"/>
              <a:r>
                <a:rPr lang="en-CA" altLang="zh-TW" dirty="0" smtClean="0">
                  <a:solidFill>
                    <a:schemeClr val="bg1"/>
                  </a:solidFill>
                </a:rPr>
                <a:t>block</a:t>
              </a:r>
              <a:endParaRPr lang="zh-TW" altLang="en-US" dirty="0">
                <a:solidFill>
                  <a:schemeClr val="bg1"/>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327566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795335" y="1233666"/>
            <a:ext cx="6586539" cy="2246769"/>
          </a:xfrm>
          <a:prstGeom prst="rect">
            <a:avLst/>
          </a:prstGeom>
        </p:spPr>
        <p:txBody>
          <a:bodyPr wrap="square">
            <a:spAutoFit/>
          </a:bodyPr>
          <a:lstStyle/>
          <a:p>
            <a:r>
              <a:rPr lang="en-CA" sz="2000" b="1" dirty="0" smtClean="0">
                <a:solidFill>
                  <a:schemeClr val="bg1"/>
                </a:solidFill>
                <a:latin typeface="Courier New" panose="02070309020205020404" pitchFamily="49" charset="0"/>
                <a:cs typeface="Courier New" panose="02070309020205020404" pitchFamily="49" charset="0"/>
              </a:rPr>
              <a:t>FSSUPER</a:t>
            </a:r>
            <a:r>
              <a:rPr lang="en-CA" sz="2000" dirty="0">
                <a:solidFill>
                  <a:schemeClr val="bg1"/>
                </a:solidFill>
                <a:latin typeface="Courier New" panose="02070309020205020404" pitchFamily="49" charset="0"/>
                <a:cs typeface="Courier New" panose="02070309020205020404" pitchFamily="49" charset="0"/>
              </a:rPr>
              <a:t>(…) ext4_super_block {</a:t>
            </a:r>
          </a:p>
          <a:p>
            <a:r>
              <a:rPr lang="en-CA" sz="2000" dirty="0">
                <a:solidFill>
                  <a:schemeClr val="bg1"/>
                </a:solidFill>
                <a:latin typeface="Courier New" panose="02070309020205020404" pitchFamily="49" charset="0"/>
                <a:cs typeface="Courier New" panose="02070309020205020404" pitchFamily="49" charset="0"/>
              </a:rPr>
              <a:t>  __le32 </a:t>
            </a:r>
            <a:r>
              <a:rPr lang="en-CA" sz="2000" dirty="0" err="1">
                <a:solidFill>
                  <a:schemeClr val="bg1"/>
                </a:solidFill>
                <a:latin typeface="Courier New" panose="02070309020205020404" pitchFamily="49" charset="0"/>
                <a:cs typeface="Courier New" panose="02070309020205020404" pitchFamily="49" charset="0"/>
              </a:rPr>
              <a:t>s_log_block_size</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__le16 </a:t>
            </a:r>
            <a:r>
              <a:rPr lang="en-CA" sz="2000" dirty="0" err="1" smtClean="0">
                <a:solidFill>
                  <a:schemeClr val="bg1"/>
                </a:solidFill>
                <a:latin typeface="Courier New" panose="02070309020205020404" pitchFamily="49" charset="0"/>
                <a:cs typeface="Courier New" panose="02070309020205020404" pitchFamily="49" charset="0"/>
              </a:rPr>
              <a:t>s_magic</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a:solidFill>
                  <a:schemeClr val="bg1"/>
                </a:solidFill>
                <a:latin typeface="Courier New" panose="02070309020205020404" pitchFamily="49" charset="0"/>
                <a:cs typeface="Courier New" panose="02070309020205020404" pitchFamily="49" charset="0"/>
              </a:rPr>
              <a:t>CHECK</a:t>
            </a:r>
            <a:r>
              <a:rPr lang="en-CA" sz="2000" dirty="0">
                <a:solidFill>
                  <a:schemeClr val="bg1"/>
                </a:solidFill>
                <a:latin typeface="Courier New" panose="02070309020205020404" pitchFamily="49" charset="0"/>
                <a:cs typeface="Courier New" panose="02070309020205020404" pitchFamily="49" charset="0"/>
              </a:rPr>
              <a:t>(expr=</a:t>
            </a:r>
            <a:r>
              <a:rPr lang="en-CA" sz="2000" dirty="0" err="1">
                <a:solidFill>
                  <a:schemeClr val="bg1"/>
                </a:solidFill>
                <a:latin typeface="Courier New" panose="02070309020205020404" pitchFamily="49" charset="0"/>
                <a:cs typeface="Courier New" panose="02070309020205020404" pitchFamily="49" charset="0"/>
              </a:rPr>
              <a:t>self.s_log_block_size</a:t>
            </a:r>
            <a:r>
              <a:rPr lang="en-CA" sz="2000" dirty="0">
                <a:solidFill>
                  <a:schemeClr val="bg1"/>
                </a:solidFill>
                <a:latin typeface="Courier New" panose="02070309020205020404" pitchFamily="49" charset="0"/>
                <a:cs typeface="Courier New" panose="02070309020205020404" pitchFamily="49" charset="0"/>
              </a:rPr>
              <a:t> </a:t>
            </a:r>
            <a:r>
              <a:rPr lang="en-CA" sz="2000" dirty="0" smtClean="0">
                <a:solidFill>
                  <a:schemeClr val="bg1"/>
                </a:solidFill>
                <a:latin typeface="Courier New" panose="02070309020205020404" pitchFamily="49" charset="0"/>
                <a:cs typeface="Courier New" panose="02070309020205020404" pitchFamily="49" charset="0"/>
              </a:rPr>
              <a:t>&lt;= 6</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a:solidFill>
                  <a:schemeClr val="bg1"/>
                </a:solidFill>
                <a:latin typeface="Courier New" panose="02070309020205020404" pitchFamily="49" charset="0"/>
                <a:cs typeface="Courier New" panose="02070309020205020404" pitchFamily="49" charset="0"/>
              </a:rPr>
              <a:t>CHECK</a:t>
            </a:r>
            <a:r>
              <a:rPr lang="en-CA" sz="2000" dirty="0">
                <a:solidFill>
                  <a:schemeClr val="bg1"/>
                </a:solidFill>
                <a:latin typeface="Courier New" panose="02070309020205020404" pitchFamily="49" charset="0"/>
                <a:cs typeface="Courier New" panose="02070309020205020404" pitchFamily="49" charset="0"/>
              </a:rPr>
              <a:t>(expr=</a:t>
            </a:r>
            <a:r>
              <a:rPr lang="en-CA" sz="2000" dirty="0" err="1">
                <a:solidFill>
                  <a:schemeClr val="bg1"/>
                </a:solidFill>
                <a:latin typeface="Courier New" panose="02070309020205020404" pitchFamily="49" charset="0"/>
                <a:cs typeface="Courier New" panose="02070309020205020404" pitchFamily="49" charset="0"/>
              </a:rPr>
              <a:t>self.s_magic</a:t>
            </a:r>
            <a:r>
              <a:rPr lang="en-CA" sz="2000" dirty="0">
                <a:solidFill>
                  <a:schemeClr val="bg1"/>
                </a:solidFill>
                <a:latin typeface="Courier New" panose="02070309020205020404" pitchFamily="49" charset="0"/>
                <a:cs typeface="Courier New" panose="02070309020205020404" pitchFamily="49" charset="0"/>
              </a:rPr>
              <a:t> == 0xef53);</a:t>
            </a:r>
          </a:p>
          <a:p>
            <a:r>
              <a:rPr lang="en-CA" sz="2000" dirty="0">
                <a:solidFill>
                  <a:schemeClr val="bg1"/>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2" name="Slide Number Placeholder 1"/>
          <p:cNvSpPr>
            <a:spLocks noGrp="1"/>
          </p:cNvSpPr>
          <p:nvPr>
            <p:ph type="sldNum" sz="quarter" idx="12"/>
          </p:nvPr>
        </p:nvSpPr>
        <p:spPr/>
        <p:txBody>
          <a:bodyPr/>
          <a:lstStyle/>
          <a:p>
            <a:fld id="{7B2023C8-B124-43A9-8F92-0EEF5BAA9995}" type="slidenum">
              <a:rPr lang="en-CA" smtClean="0"/>
              <a:pPr/>
              <a:t>20</a:t>
            </a:fld>
            <a:endParaRPr lang="en-CA"/>
          </a:p>
        </p:txBody>
      </p:sp>
      <p:sp>
        <p:nvSpPr>
          <p:cNvPr id="8" name="Content Placeholder 8"/>
          <p:cNvSpPr txBox="1">
            <a:spLocks/>
          </p:cNvSpPr>
          <p:nvPr/>
        </p:nvSpPr>
        <p:spPr>
          <a:xfrm>
            <a:off x="684211" y="4174943"/>
            <a:ext cx="10604500" cy="2534467"/>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Ext4SuperBlock::parse(</a:t>
            </a:r>
            <a:r>
              <a:rPr lang="en-CA" sz="2000" dirty="0" err="1" smtClean="0">
                <a:latin typeface="Courier New" panose="02070309020205020404" pitchFamily="49" charset="0"/>
                <a:cs typeface="Courier New" panose="02070309020205020404" pitchFamily="49" charset="0"/>
              </a:rPr>
              <a:t>const</a:t>
            </a:r>
            <a:r>
              <a:rPr lang="en-CA" sz="2000" dirty="0" smtClean="0">
                <a:latin typeface="Courier New" panose="02070309020205020404" pitchFamily="49" charset="0"/>
                <a:cs typeface="Courier New" panose="02070309020205020404" pitchFamily="49" charset="0"/>
              </a:rPr>
              <a:t> char * &amp; </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unsigned &amp;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ret;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if ((ret = </a:t>
            </a:r>
            <a:r>
              <a:rPr lang="en-CA" sz="2000" dirty="0" err="1" smtClean="0">
                <a:latin typeface="Courier New" panose="02070309020205020404" pitchFamily="49" charset="0"/>
                <a:cs typeface="Courier New" panose="02070309020205020404" pitchFamily="49" charset="0"/>
              </a:rPr>
              <a:t>s_log_block_size.parse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&lt; 0) return ret;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s_log_block_size</a:t>
            </a:r>
            <a:r>
              <a:rPr lang="en-CA" sz="2000" dirty="0" smtClean="0">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s_magic</a:t>
            </a:r>
            <a:r>
              <a:rPr lang="en-CA" sz="2000" dirty="0" smtClean="0">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684211" y="3603625"/>
            <a:ext cx="10285413" cy="517525"/>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Generated Code for ext4_super_block</a:t>
            </a:r>
          </a:p>
          <a:p>
            <a:pPr marL="0" indent="0">
              <a:buFont typeface="Wingdings 3" panose="05040102010807070707" pitchFamily="18" charset="2"/>
              <a:buNone/>
            </a:pPr>
            <a:endParaRPr lang="en-CA" sz="1800" dirty="0" smtClean="0"/>
          </a:p>
          <a:p>
            <a:endParaRPr lang="en-CA" dirty="0" smtClean="0"/>
          </a:p>
        </p:txBody>
      </p:sp>
    </p:spTree>
    <p:extLst>
      <p:ext uri="{BB962C8B-B14F-4D97-AF65-F5344CB8AC3E}">
        <p14:creationId xmlns:p14="http://schemas.microsoft.com/office/powerpoint/2010/main" val="6432491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10" name="Content Placeholder 6"/>
          <p:cNvSpPr txBox="1">
            <a:spLocks noGrp="1"/>
          </p:cNvSpPr>
          <p:nvPr>
            <p:ph idx="1"/>
          </p:nvPr>
        </p:nvSpPr>
        <p:spPr>
          <a:xfrm>
            <a:off x="684211" y="1515358"/>
            <a:ext cx="10285797" cy="1546819"/>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C</a:t>
            </a:r>
            <a:r>
              <a:rPr lang="en-CA" dirty="0"/>
              <a:t>++ classes </a:t>
            </a:r>
            <a:r>
              <a:rPr lang="en-CA" dirty="0" smtClean="0"/>
              <a:t>are generated </a:t>
            </a:r>
            <a:r>
              <a:rPr lang="en-CA" dirty="0"/>
              <a:t>for all annotated structures </a:t>
            </a:r>
            <a:r>
              <a:rPr lang="en-CA" dirty="0" smtClean="0"/>
              <a:t/>
            </a:r>
            <a:br>
              <a:rPr lang="en-CA" dirty="0" smtClean="0"/>
            </a:br>
            <a:r>
              <a:rPr lang="en-CA" dirty="0" smtClean="0"/>
              <a:t>and </a:t>
            </a:r>
            <a:r>
              <a:rPr lang="en-CA" dirty="0"/>
              <a:t>their fields</a:t>
            </a:r>
          </a:p>
          <a:p>
            <a:pPr lvl="1"/>
            <a:r>
              <a:rPr lang="en-CA" dirty="0"/>
              <a:t>Enables type-safe parsing and serialization</a:t>
            </a:r>
          </a:p>
          <a:p>
            <a:pPr lvl="1"/>
            <a:r>
              <a:rPr lang="en-CA" dirty="0"/>
              <a:t>Allows introspection of type, size, name, and </a:t>
            </a:r>
            <a:r>
              <a:rPr lang="en-CA" dirty="0" smtClean="0"/>
              <a:t>parent</a:t>
            </a:r>
          </a:p>
          <a:p>
            <a:endParaRPr lang="en-CA" dirty="0" smtClean="0"/>
          </a:p>
          <a:p>
            <a:endParaRPr lang="en-CA" dirty="0" smtClean="0"/>
          </a:p>
          <a:p>
            <a:endParaRPr lang="en-CA" dirty="0"/>
          </a:p>
          <a:p>
            <a:endParaRPr lang="en-CA" dirty="0" smtClean="0"/>
          </a:p>
          <a:p>
            <a:endParaRPr lang="en-CA" dirty="0" smtClean="0"/>
          </a:p>
        </p:txBody>
      </p:sp>
      <p:sp>
        <p:nvSpPr>
          <p:cNvPr id="2" name="Slide Number Placeholder 1"/>
          <p:cNvSpPr>
            <a:spLocks noGrp="1"/>
          </p:cNvSpPr>
          <p:nvPr>
            <p:ph type="sldNum" sz="quarter" idx="12"/>
          </p:nvPr>
        </p:nvSpPr>
        <p:spPr/>
        <p:txBody>
          <a:bodyPr/>
          <a:lstStyle/>
          <a:p>
            <a:fld id="{7B2023C8-B124-43A9-8F92-0EEF5BAA9995}" type="slidenum">
              <a:rPr lang="en-CA" smtClean="0"/>
              <a:pPr/>
              <a:t>21</a:t>
            </a:fld>
            <a:endParaRPr lang="en-CA"/>
          </a:p>
        </p:txBody>
      </p:sp>
      <p:sp>
        <p:nvSpPr>
          <p:cNvPr id="11" name="Content Placeholder 8"/>
          <p:cNvSpPr txBox="1">
            <a:spLocks/>
          </p:cNvSpPr>
          <p:nvPr/>
        </p:nvSpPr>
        <p:spPr>
          <a:xfrm>
            <a:off x="684211" y="4174943"/>
            <a:ext cx="10604500" cy="2534467"/>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Ext4SuperBlock::parse(</a:t>
            </a:r>
            <a:r>
              <a:rPr lang="en-CA" sz="2000" dirty="0" err="1" smtClean="0">
                <a:latin typeface="Courier New" panose="02070309020205020404" pitchFamily="49" charset="0"/>
                <a:cs typeface="Courier New" panose="02070309020205020404" pitchFamily="49" charset="0"/>
              </a:rPr>
              <a:t>const</a:t>
            </a:r>
            <a:r>
              <a:rPr lang="en-CA" sz="2000" dirty="0" smtClean="0">
                <a:latin typeface="Courier New" panose="02070309020205020404" pitchFamily="49" charset="0"/>
                <a:cs typeface="Courier New" panose="02070309020205020404" pitchFamily="49" charset="0"/>
              </a:rPr>
              <a:t> char * &amp; </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unsigned &amp;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ret;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if ((ret = </a:t>
            </a:r>
            <a:r>
              <a:rPr lang="en-CA" sz="2000" dirty="0" err="1" smtClean="0">
                <a:latin typeface="Courier New" panose="02070309020205020404" pitchFamily="49" charset="0"/>
                <a:cs typeface="Courier New" panose="02070309020205020404" pitchFamily="49" charset="0"/>
              </a:rPr>
              <a:t>s_log_block_size.parse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&lt; 0) return ret;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s_log_block_size</a:t>
            </a:r>
            <a:r>
              <a:rPr lang="en-CA" sz="2000" dirty="0" smtClean="0">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s_magic</a:t>
            </a:r>
            <a:r>
              <a:rPr lang="en-CA" sz="2000" dirty="0" smtClean="0">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a:t>
            </a:r>
          </a:p>
        </p:txBody>
      </p:sp>
      <p:sp>
        <p:nvSpPr>
          <p:cNvPr id="12" name="Content Placeholder 6"/>
          <p:cNvSpPr txBox="1">
            <a:spLocks/>
          </p:cNvSpPr>
          <p:nvPr/>
        </p:nvSpPr>
        <p:spPr>
          <a:xfrm>
            <a:off x="684211" y="3603625"/>
            <a:ext cx="10285413" cy="517525"/>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Generated Code for ext4_super_block</a:t>
            </a:r>
          </a:p>
          <a:p>
            <a:pPr marL="0" indent="0">
              <a:buFont typeface="Wingdings 3" panose="05040102010807070707" pitchFamily="18" charset="2"/>
              <a:buNone/>
            </a:pPr>
            <a:endParaRPr lang="en-CA" sz="1800" dirty="0" smtClean="0"/>
          </a:p>
          <a:p>
            <a:endParaRPr lang="en-CA" dirty="0" smtClean="0"/>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endParaRPr lang="en-CA" dirty="0" smtClean="0"/>
          </a:p>
          <a:p>
            <a:endParaRPr lang="en-CA" dirty="0"/>
          </a:p>
          <a:p>
            <a:endParaRPr lang="en-CA" dirty="0" smtClean="0"/>
          </a:p>
          <a:p>
            <a:endParaRPr lang="en-CA" dirty="0"/>
          </a:p>
          <a:p>
            <a:r>
              <a:rPr lang="en-CA" dirty="0" smtClean="0"/>
              <a:t>Lines of code required to correctly annotate modern file systems</a:t>
            </a:r>
          </a:p>
          <a:p>
            <a:pPr lvl="1"/>
            <a:r>
              <a:rPr lang="en-CA" dirty="0" smtClean="0"/>
              <a:t>Need to declare some structures</a:t>
            </a:r>
          </a:p>
          <a:p>
            <a:pPr lvl="2"/>
            <a:r>
              <a:rPr lang="en-CA" dirty="0" smtClean="0"/>
              <a:t>E.g. Ext4 indirect block is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a:p>
            <a:pPr lvl="2"/>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22</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4041947549"/>
              </p:ext>
            </p:extLst>
          </p:nvPr>
        </p:nvGraphicFramePr>
        <p:xfrm>
          <a:off x="2024016" y="1507237"/>
          <a:ext cx="6359598" cy="1706880"/>
        </p:xfrm>
        <a:graphic>
          <a:graphicData uri="http://schemas.openxmlformats.org/drawingml/2006/table">
            <a:tbl>
              <a:tblPr firstRow="1" bandRow="1">
                <a:tableStyleId>{69012ECD-51FC-41F1-AA8D-1B2483CD663E}</a:tableStyleId>
              </a:tblPr>
              <a:tblGrid>
                <a:gridCol w="2119866">
                  <a:extLst>
                    <a:ext uri="{9D8B030D-6E8A-4147-A177-3AD203B41FA5}">
                      <a16:colId xmlns:a16="http://schemas.microsoft.com/office/drawing/2014/main" xmlns="" val="20000"/>
                    </a:ext>
                  </a:extLst>
                </a:gridCol>
                <a:gridCol w="2119866">
                  <a:extLst>
                    <a:ext uri="{9D8B030D-6E8A-4147-A177-3AD203B41FA5}">
                      <a16:colId xmlns:a16="http://schemas.microsoft.com/office/drawing/2014/main" xmlns="" val="20001"/>
                    </a:ext>
                  </a:extLst>
                </a:gridCol>
                <a:gridCol w="2119866">
                  <a:extLst>
                    <a:ext uri="{9D8B030D-6E8A-4147-A177-3AD203B41FA5}">
                      <a16:colId xmlns:a16="http://schemas.microsoft.com/office/drawing/2014/main" xmlns="" val="20002"/>
                    </a:ext>
                  </a:extLst>
                </a:gridCol>
              </a:tblGrid>
              <a:tr h="370840">
                <a:tc>
                  <a:txBody>
                    <a:bodyPr/>
                    <a:lstStyle/>
                    <a:p>
                      <a:r>
                        <a:rPr lang="en-CA" sz="2200" dirty="0" smtClean="0">
                          <a:solidFill>
                            <a:schemeClr val="tx1"/>
                          </a:solidFill>
                        </a:rPr>
                        <a:t>File System</a:t>
                      </a:r>
                      <a:endParaRPr lang="en-CA" sz="2200" dirty="0">
                        <a:solidFill>
                          <a:schemeClr val="tx1"/>
                        </a:solidFill>
                      </a:endParaRPr>
                    </a:p>
                  </a:txBody>
                  <a:tcPr/>
                </a:tc>
                <a:tc>
                  <a:txBody>
                    <a:bodyPr/>
                    <a:lstStyle/>
                    <a:p>
                      <a:r>
                        <a:rPr lang="en-CA" sz="2200" dirty="0" smtClean="0">
                          <a:solidFill>
                            <a:schemeClr val="tx1"/>
                          </a:solidFill>
                        </a:rPr>
                        <a:t>Line Count</a:t>
                      </a:r>
                      <a:endParaRPr lang="en-CA" sz="2200" dirty="0">
                        <a:solidFill>
                          <a:schemeClr val="tx1"/>
                        </a:solidFill>
                      </a:endParaRPr>
                    </a:p>
                  </a:txBody>
                  <a:tcPr/>
                </a:tc>
                <a:tc>
                  <a:txBody>
                    <a:bodyPr/>
                    <a:lstStyle/>
                    <a:p>
                      <a:r>
                        <a:rPr lang="en-CA" sz="2200" dirty="0" smtClean="0">
                          <a:solidFill>
                            <a:schemeClr val="tx1"/>
                          </a:solidFill>
                        </a:rPr>
                        <a:t>Annotated</a:t>
                      </a:r>
                      <a:endParaRPr lang="en-CA" sz="2200"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sz="2200" dirty="0" smtClean="0">
                          <a:solidFill>
                            <a:schemeClr val="bg1"/>
                          </a:solidFill>
                        </a:rPr>
                        <a:t>Ext4</a:t>
                      </a:r>
                      <a:endParaRPr lang="en-CA" sz="2200" dirty="0">
                        <a:solidFill>
                          <a:schemeClr val="bg1"/>
                        </a:solidFill>
                      </a:endParaRPr>
                    </a:p>
                  </a:txBody>
                  <a:tcPr/>
                </a:tc>
                <a:tc>
                  <a:txBody>
                    <a:bodyPr/>
                    <a:lstStyle/>
                    <a:p>
                      <a:r>
                        <a:rPr lang="en-CA" sz="2200" dirty="0" smtClean="0">
                          <a:solidFill>
                            <a:schemeClr val="bg1"/>
                          </a:solidFill>
                        </a:rPr>
                        <a:t>491</a:t>
                      </a:r>
                      <a:endParaRPr lang="en-CA" sz="2200" dirty="0">
                        <a:solidFill>
                          <a:schemeClr val="bg1"/>
                        </a:solidFill>
                      </a:endParaRPr>
                    </a:p>
                  </a:txBody>
                  <a:tcPr/>
                </a:tc>
                <a:tc>
                  <a:txBody>
                    <a:bodyPr/>
                    <a:lstStyle/>
                    <a:p>
                      <a:r>
                        <a:rPr lang="en-CA" sz="2200" dirty="0" smtClean="0">
                          <a:solidFill>
                            <a:schemeClr val="bg1"/>
                          </a:solidFill>
                        </a:rPr>
                        <a:t>113</a:t>
                      </a:r>
                      <a:endParaRPr lang="en-CA" sz="2200"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sz="2200" dirty="0" err="1" smtClean="0">
                          <a:solidFill>
                            <a:schemeClr val="bg1"/>
                          </a:solidFill>
                        </a:rPr>
                        <a:t>Btrfs</a:t>
                      </a:r>
                      <a:endParaRPr lang="en-CA" sz="2200" dirty="0">
                        <a:solidFill>
                          <a:schemeClr val="bg1"/>
                        </a:solidFill>
                      </a:endParaRPr>
                    </a:p>
                  </a:txBody>
                  <a:tcPr/>
                </a:tc>
                <a:tc>
                  <a:txBody>
                    <a:bodyPr/>
                    <a:lstStyle/>
                    <a:p>
                      <a:r>
                        <a:rPr lang="en-CA" sz="2200" dirty="0" smtClean="0">
                          <a:solidFill>
                            <a:schemeClr val="bg1"/>
                          </a:solidFill>
                        </a:rPr>
                        <a:t>556</a:t>
                      </a:r>
                      <a:endParaRPr lang="en-CA" sz="2200" dirty="0">
                        <a:solidFill>
                          <a:schemeClr val="bg1"/>
                        </a:solidFill>
                      </a:endParaRPr>
                    </a:p>
                  </a:txBody>
                  <a:tcPr/>
                </a:tc>
                <a:tc>
                  <a:txBody>
                    <a:bodyPr/>
                    <a:lstStyle/>
                    <a:p>
                      <a:r>
                        <a:rPr lang="en-CA" sz="2200" dirty="0" smtClean="0">
                          <a:solidFill>
                            <a:schemeClr val="bg1"/>
                          </a:solidFill>
                        </a:rPr>
                        <a:t>151</a:t>
                      </a:r>
                      <a:endParaRPr lang="en-CA" sz="2200"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sz="2200" dirty="0" smtClean="0">
                          <a:solidFill>
                            <a:schemeClr val="bg1"/>
                          </a:solidFill>
                        </a:rPr>
                        <a:t>F2FS</a:t>
                      </a:r>
                      <a:endParaRPr lang="en-CA" sz="2200" dirty="0">
                        <a:solidFill>
                          <a:schemeClr val="bg1"/>
                        </a:solidFill>
                      </a:endParaRPr>
                    </a:p>
                  </a:txBody>
                  <a:tcPr/>
                </a:tc>
                <a:tc>
                  <a:txBody>
                    <a:bodyPr/>
                    <a:lstStyle/>
                    <a:p>
                      <a:r>
                        <a:rPr lang="en-CA" sz="2200" dirty="0" smtClean="0">
                          <a:solidFill>
                            <a:schemeClr val="bg1"/>
                          </a:solidFill>
                        </a:rPr>
                        <a:t>462</a:t>
                      </a:r>
                      <a:endParaRPr lang="en-CA" sz="2200" dirty="0">
                        <a:solidFill>
                          <a:schemeClr val="bg1"/>
                        </a:solidFill>
                      </a:endParaRPr>
                    </a:p>
                  </a:txBody>
                  <a:tcPr/>
                </a:tc>
                <a:tc>
                  <a:txBody>
                    <a:bodyPr/>
                    <a:lstStyle/>
                    <a:p>
                      <a:r>
                        <a:rPr lang="en-CA" sz="2200" dirty="0" smtClean="0">
                          <a:solidFill>
                            <a:schemeClr val="bg1"/>
                          </a:solidFill>
                        </a:rPr>
                        <a:t>127</a:t>
                      </a:r>
                      <a:endParaRPr lang="en-CA" sz="2200" dirty="0">
                        <a:solidFill>
                          <a:schemeClr val="bg1"/>
                        </a:solidFill>
                      </a:endParaRPr>
                    </a:p>
                  </a:txBody>
                  <a:tcPr/>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mtClean="0"/>
              <a:t>Example: File System Free Space Tool</a:t>
            </a:r>
          </a:p>
          <a:p>
            <a:pPr lvl="1"/>
            <a:r>
              <a:rPr lang="en-CA" smtClean="0"/>
              <a:t>Plots histogram of size of free extents</a:t>
            </a:r>
          </a:p>
          <a:p>
            <a:pPr lvl="1"/>
            <a:r>
              <a:rPr lang="en-CA" smtClean="0"/>
              <a:t>Application requires knowledge of how file system tracks block allocation</a:t>
            </a:r>
          </a:p>
          <a:p>
            <a:r>
              <a:rPr lang="en-CA" smtClean="0"/>
              <a:t>Manually</a:t>
            </a:r>
          </a:p>
          <a:p>
            <a:pPr lvl="1"/>
            <a:r>
              <a:rPr lang="en-CA" smtClean="0"/>
              <a:t>Write code to traverse file system and access relevant metadata</a:t>
            </a:r>
          </a:p>
          <a:p>
            <a:pPr lvl="2"/>
            <a:r>
              <a:rPr lang="en-CA" smtClean="0"/>
              <a:t>Often through trial-and-error</a:t>
            </a:r>
          </a:p>
          <a:p>
            <a:pPr lvl="1"/>
            <a:r>
              <a:rPr lang="en-CA" smtClean="0"/>
              <a:t>Write code to process relevant metadata</a:t>
            </a:r>
          </a:p>
          <a:p>
            <a:r>
              <a:rPr lang="en-CA" smtClean="0"/>
              <a:t>Spiffy framework</a:t>
            </a:r>
          </a:p>
          <a:p>
            <a:pPr lvl="1"/>
            <a:r>
              <a:rPr lang="en-CA" smtClean="0"/>
              <a:t>Simplifies the traversal and helps make it more robust</a:t>
            </a:r>
          </a:p>
          <a:p>
            <a:pPr lvl="1"/>
            <a:r>
              <a:rPr lang="en-CA" smtClean="0"/>
              <a:t>Application program focuses on processing relevant metadata</a:t>
            </a:r>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684212" y="1507237"/>
            <a:ext cx="10285797" cy="4784102"/>
          </a:xfrm>
          <a:prstGeom prst="rect">
            <a:avLst/>
          </a:prstGeom>
          <a:noFill/>
          <a:ln>
            <a:noFill/>
          </a:ln>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2000"/>
              </a:lnSpc>
              <a:spcBef>
                <a:spcPts val="0"/>
              </a:spcBef>
              <a:spcAft>
                <a:spcPts val="0"/>
              </a:spcAft>
              <a:buNone/>
            </a:pP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&lt;&lt;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ceil(</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b="1" dirty="0" smtClean="0">
                <a:latin typeface="Courier New" panose="02070309020205020404" pitchFamily="49" charset="0"/>
                <a:cs typeface="Courier New" panose="02070309020205020404" pitchFamily="49" charset="0"/>
              </a:rPr>
              <a:t> ret = </a:t>
            </a:r>
            <a:r>
              <a:rPr lang="en-CA" sz="1800" b="1" dirty="0" err="1" smtClean="0">
                <a:latin typeface="Courier New" panose="02070309020205020404" pitchFamily="49" charset="0"/>
                <a:cs typeface="Courier New" panose="02070309020205020404" pitchFamily="49" charset="0"/>
              </a:rPr>
              <a:t>process_block_bitmap</a:t>
            </a:r>
            <a:r>
              <a:rPr lang="en-CA" sz="1800" b="1" dirty="0" smtClean="0">
                <a:latin typeface="Courier New" panose="02070309020205020404" pitchFamily="49" charset="0"/>
                <a:cs typeface="Courier New" panose="02070309020205020404" pitchFamily="49" charset="0"/>
              </a:rPr>
              <a:t>(</a:t>
            </a:r>
            <a:r>
              <a:rPr lang="en-CA" sz="1800" b="1" dirty="0" err="1" smtClean="0">
                <a:latin typeface="Courier New" panose="02070309020205020404" pitchFamily="49" charset="0"/>
                <a:cs typeface="Courier New" panose="02070309020205020404" pitchFamily="49" charset="0"/>
              </a:rPr>
              <a:t>buf</a:t>
            </a: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vec</a:t>
            </a:r>
            <a:r>
              <a:rPr lang="en-CA" sz="18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
        <p:nvSpPr>
          <p:cNvPr id="7" name="TextBox 6"/>
          <p:cNvSpPr txBox="1"/>
          <p:nvPr/>
        </p:nvSpPr>
        <p:spPr>
          <a:xfrm>
            <a:off x="1941949" y="5405604"/>
            <a:ext cx="7885815" cy="5760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&lt;&lt;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25</a:t>
            </a:fld>
            <a:endParaRPr lang="en-CA" dirty="0"/>
          </a:p>
        </p:txBody>
      </p:sp>
      <p:sp>
        <p:nvSpPr>
          <p:cNvPr id="11" name="TextBox 10"/>
          <p:cNvSpPr txBox="1"/>
          <p:nvPr/>
        </p:nvSpPr>
        <p:spPr>
          <a:xfrm>
            <a:off x="3015675" y="5405604"/>
            <a:ext cx="5805051" cy="5760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dirty="0">
                <a:solidFill>
                  <a:schemeClr val="bg1"/>
                </a:solidFill>
              </a:rPr>
              <a:t>Ideally, we would only have to write this </a:t>
            </a:r>
            <a:r>
              <a:rPr lang="en-CA" dirty="0" smtClean="0">
                <a:solidFill>
                  <a:schemeClr val="bg1"/>
                </a:solidFill>
              </a:rPr>
              <a:t>function</a:t>
            </a:r>
            <a:endParaRPr lang="en-CA" dirty="0">
              <a:solidFill>
                <a:schemeClr val="bg1"/>
              </a:solidFill>
            </a:endParaRPr>
          </a:p>
        </p:txBody>
      </p:sp>
      <p:cxnSp>
        <p:nvCxnSpPr>
          <p:cNvPr id="8" name="Straight Arrow Connector 7"/>
          <p:cNvCxnSpPr/>
          <p:nvPr/>
        </p:nvCxnSpPr>
        <p:spPr>
          <a:xfrm rot="10800000">
            <a:off x="6870700" y="4965701"/>
            <a:ext cx="1117600" cy="612775"/>
          </a:xfrm>
          <a:prstGeom prst="bentConnector3">
            <a:avLst>
              <a:gd name="adj1" fmla="val 0"/>
            </a:avLst>
          </a:prstGeom>
          <a:ln w="381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a:solidFill>
                  <a:srgbClr val="0070C0"/>
                </a:solidFill>
                <a:effectLst/>
                <a:latin typeface="Courier New" panose="02070309020205020404" pitchFamily="49" charset="0"/>
                <a:cs typeface="Courier New" panose="02070309020205020404" pitchFamily="49" charset="0"/>
              </a:rPr>
              <a:t>1024</a:t>
            </a:r>
            <a:r>
              <a:rPr lang="en-CA" sz="1800" dirty="0">
                <a:effectLst/>
                <a:latin typeface="Courier New" panose="02070309020205020404" pitchFamily="49" charset="0"/>
                <a:cs typeface="Courier New" panose="02070309020205020404" pitchFamily="49" charset="0"/>
              </a:rPr>
              <a:t> &lt;&lt; </a:t>
            </a:r>
            <a:r>
              <a:rPr lang="en-CA" sz="1800" b="1" dirty="0" err="1">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ret = </a:t>
            </a:r>
            <a:r>
              <a:rPr lang="en-CA" sz="1800" dirty="0" err="1" smtClean="0">
                <a:latin typeface="Courier New" panose="02070309020205020404" pitchFamily="49" charset="0"/>
                <a:cs typeface="Courier New" panose="02070309020205020404" pitchFamily="49" charset="0"/>
              </a:rPr>
              <a:t>process_block_bitmap</a:t>
            </a:r>
            <a:r>
              <a:rPr lang="en-CA" sz="1800" dirty="0" smtClean="0">
                <a:latin typeface="Courier New" panose="02070309020205020404" pitchFamily="49" charset="0"/>
                <a:cs typeface="Courier New" panose="02070309020205020404" pitchFamily="49" charset="0"/>
              </a:rPr>
              <a:t>(</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26</a:t>
            </a:fld>
            <a:endParaRPr lang="en-CA" dirty="0"/>
          </a:p>
        </p:txBody>
      </p:sp>
      <p:sp>
        <p:nvSpPr>
          <p:cNvPr id="13" name="TextBox 12"/>
          <p:cNvSpPr txBox="1"/>
          <p:nvPr/>
        </p:nvSpPr>
        <p:spPr>
          <a:xfrm>
            <a:off x="3238500" y="5405604"/>
            <a:ext cx="6589264" cy="8427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b="1" dirty="0">
                <a:solidFill>
                  <a:schemeClr val="bg1"/>
                </a:solidFill>
              </a:rPr>
              <a:t>No sanity </a:t>
            </a:r>
            <a:r>
              <a:rPr lang="en-CA" b="1" dirty="0" smtClean="0">
                <a:solidFill>
                  <a:schemeClr val="bg1"/>
                </a:solidFill>
              </a:rPr>
              <a:t>checks! </a:t>
            </a:r>
            <a:r>
              <a:rPr lang="en-CA" dirty="0" smtClean="0">
                <a:solidFill>
                  <a:schemeClr val="bg1"/>
                </a:solidFill>
              </a:rPr>
              <a:t>Value </a:t>
            </a:r>
            <a:r>
              <a:rPr lang="en-CA" dirty="0">
                <a:solidFill>
                  <a:schemeClr val="bg1"/>
                </a:solidFill>
              </a:rPr>
              <a:t>may be </a:t>
            </a:r>
            <a:r>
              <a:rPr lang="en-CA" dirty="0" smtClean="0">
                <a:solidFill>
                  <a:schemeClr val="bg1"/>
                </a:solidFill>
              </a:rPr>
              <a:t>out-of-bound or invalid, which can </a:t>
            </a:r>
            <a:r>
              <a:rPr lang="en-CA" dirty="0">
                <a:solidFill>
                  <a:schemeClr val="bg1"/>
                </a:solidFill>
              </a:rPr>
              <a:t>cause </a:t>
            </a:r>
            <a:r>
              <a:rPr lang="en-CA" dirty="0" smtClean="0">
                <a:solidFill>
                  <a:schemeClr val="bg1"/>
                </a:solidFill>
              </a:rPr>
              <a:t>crashes or </a:t>
            </a:r>
            <a:r>
              <a:rPr lang="en-CA" dirty="0">
                <a:solidFill>
                  <a:schemeClr val="bg1"/>
                </a:solidFill>
              </a:rPr>
              <a:t>garbage output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27</a:t>
            </a:fld>
            <a:endParaRPr lang="en-CA" dirty="0"/>
          </a:p>
        </p:txBody>
      </p:sp>
      <p:sp>
        <p:nvSpPr>
          <p:cNvPr id="11"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b="1" dirty="0">
                <a:latin typeface="Courier New" panose="02070309020205020404" pitchFamily="49" charset="0"/>
                <a:cs typeface="Courier New" panose="02070309020205020404" pitchFamily="49" charset="0"/>
              </a:rPr>
              <a:t>3</a:t>
            </a:r>
            <a:r>
              <a:rPr lang="en-CA" sz="2000" b="1" dirty="0" smtClean="0">
                <a:latin typeface="Courier New" panose="02070309020205020404" pitchFamily="49" charset="0"/>
                <a:cs typeface="Courier New" panose="02070309020205020404" pitchFamily="49" charset="0"/>
              </a:rPr>
              <a:t>:  Ext4</a:t>
            </a:r>
            <a:r>
              <a:rPr lang="en-CA" sz="2000" b="1" dirty="0">
                <a:latin typeface="Courier New" panose="02070309020205020404" pitchFamily="49" charset="0"/>
                <a:cs typeface="Courier New" panose="02070309020205020404" pitchFamily="49" charset="0"/>
              </a:rPr>
              <a:t>::</a:t>
            </a:r>
            <a:r>
              <a:rPr lang="en-CA" sz="2000" b="1" dirty="0" err="1">
                <a:latin typeface="Courier New" panose="02070309020205020404" pitchFamily="49" charset="0"/>
                <a:cs typeface="Courier New" panose="02070309020205020404" pitchFamily="49" charset="0"/>
              </a:rPr>
              <a:t>SuperBlock</a:t>
            </a:r>
            <a:r>
              <a:rPr lang="en-CA" sz="2000" b="1" dirty="0">
                <a:latin typeface="Courier New" panose="02070309020205020404" pitchFamily="49" charset="0"/>
                <a:cs typeface="Courier New" panose="02070309020205020404" pitchFamily="49" charset="0"/>
              </a:rPr>
              <a:t> *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7:  return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process_by_type</a:t>
            </a:r>
            <a:r>
              <a:rPr lang="en-CA" sz="2000" dirty="0" smtClean="0">
                <a:latin typeface="Courier New" panose="02070309020205020404" pitchFamily="49" charset="0"/>
                <a:cs typeface="Courier New" panose="02070309020205020404" pitchFamily="49" charset="0"/>
              </a:rPr>
              <a:t>(BLOCK_BITMAP, </a:t>
            </a:r>
            <a:br>
              <a:rPr lang="en-CA" sz="2000" dirty="0" smtClean="0">
                <a:latin typeface="Courier New" panose="02070309020205020404" pitchFamily="49" charset="0"/>
                <a:cs typeface="Courier New" panose="02070309020205020404" pitchFamily="49" charset="0"/>
              </a:rPr>
            </a:b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process_block_bitmap</a:t>
            </a:r>
            <a:r>
              <a:rPr lang="en-CA" sz="2000" dirty="0" smtClean="0">
                <a:latin typeface="Courier New" panose="02070309020205020404" pitchFamily="49" charset="0"/>
                <a:cs typeface="Courier New" panose="02070309020205020404" pitchFamily="49" charset="0"/>
              </a:rPr>
              <a:t>, &amp;</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7" name="TextBox 6"/>
          <p:cNvSpPr txBox="1"/>
          <p:nvPr/>
        </p:nvSpPr>
        <p:spPr>
          <a:xfrm>
            <a:off x="8661814" y="2062569"/>
            <a:ext cx="1856961" cy="1015663"/>
          </a:xfrm>
          <a:prstGeom prst="rect">
            <a:avLst/>
          </a:prstGeom>
          <a:solidFill>
            <a:schemeClr val="accent5">
              <a:lumMod val="20000"/>
              <a:lumOff val="80000"/>
            </a:schemeClr>
          </a:solidFill>
          <a:ln w="12700">
            <a:solidFill>
              <a:schemeClr val="bg1"/>
            </a:solidFill>
            <a:prstDash val="solid"/>
          </a:ln>
        </p:spPr>
        <p:txBody>
          <a:bodyPr wrap="square" rtlCol="0">
            <a:spAutoFit/>
          </a:bodyPr>
          <a:lstStyle/>
          <a:p>
            <a:pPr algn="ct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i="1" dirty="0" smtClean="0">
                <a:solidFill>
                  <a:schemeClr val="bg1"/>
                </a:solidFill>
              </a:rPr>
              <a:t/>
            </a:r>
            <a:br>
              <a:rPr lang="en-CA" i="1" dirty="0" smtClean="0">
                <a:solidFill>
                  <a:schemeClr val="bg1"/>
                </a:solidFill>
              </a:rPr>
            </a:br>
            <a:r>
              <a:rPr lang="en-CA" dirty="0" smtClean="0">
                <a:solidFill>
                  <a:schemeClr val="bg1"/>
                </a:solidFill>
              </a:rPr>
              <a:t>if super block</a:t>
            </a:r>
            <a:br>
              <a:rPr lang="en-CA" dirty="0" smtClean="0">
                <a:solidFill>
                  <a:schemeClr val="bg1"/>
                </a:solidFill>
              </a:rPr>
            </a:br>
            <a:r>
              <a:rPr lang="en-CA" dirty="0" smtClean="0">
                <a:solidFill>
                  <a:schemeClr val="bg1"/>
                </a:solidFill>
              </a:rPr>
              <a:t> is corrupted</a:t>
            </a:r>
            <a:endParaRPr lang="en-CA" dirty="0">
              <a:solidFill>
                <a:schemeClr val="bg1"/>
              </a:solidFill>
            </a:endParaRPr>
          </a:p>
        </p:txBody>
      </p:sp>
      <p:cxnSp>
        <p:nvCxnSpPr>
          <p:cNvPr id="8" name="Straight Arrow Connector 7"/>
          <p:cNvCxnSpPr>
            <a:stCxn id="7" idx="1"/>
          </p:cNvCxnSpPr>
          <p:nvPr/>
        </p:nvCxnSpPr>
        <p:spPr>
          <a:xfrm flipH="1">
            <a:off x="8004176" y="2570401"/>
            <a:ext cx="657638" cy="125174"/>
          </a:xfrm>
          <a:prstGeom prst="straightConnector1">
            <a:avLst/>
          </a:prstGeom>
          <a:ln w="381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28</a:t>
            </a:fld>
            <a:endParaRPr lang="en-CA" dirty="0"/>
          </a:p>
        </p:txBody>
      </p:sp>
      <p:cxnSp>
        <p:nvCxnSpPr>
          <p:cNvPr id="14" name="Straight Arrow Connector 13"/>
          <p:cNvCxnSpPr/>
          <p:nvPr/>
        </p:nvCxnSpPr>
        <p:spPr>
          <a:xfrm flipV="1">
            <a:off x="6096000" y="4394201"/>
            <a:ext cx="0" cy="4571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054600" y="4995059"/>
            <a:ext cx="2082800" cy="400110"/>
          </a:xfrm>
          <a:prstGeom prst="rect">
            <a:avLst/>
          </a:prstGeom>
          <a:noFill/>
        </p:spPr>
        <p:txBody>
          <a:bodyPr wrap="square" rtlCol="0">
            <a:spAutoFit/>
          </a:bodyPr>
          <a:lstStyle/>
          <a:p>
            <a:pPr algn="ctr">
              <a:lnSpc>
                <a:spcPts val="2400"/>
              </a:lnSpc>
              <a:spcBef>
                <a:spcPts val="600"/>
              </a:spcBef>
            </a:pPr>
            <a:r>
              <a:rPr lang="en-CA" sz="2800" b="1" dirty="0" smtClean="0">
                <a:solidFill>
                  <a:schemeClr val="bg1"/>
                </a:solidFill>
              </a:rPr>
              <a:t>THAT’S IT</a:t>
            </a:r>
            <a:endParaRPr lang="en-CA" sz="2800" b="1" dirty="0">
              <a:solidFill>
                <a:schemeClr val="bg1"/>
              </a:solidFill>
            </a:endParaRPr>
          </a:p>
        </p:txBody>
      </p:sp>
    </p:spTree>
    <p:extLst>
      <p:ext uri="{BB962C8B-B14F-4D97-AF65-F5344CB8AC3E}">
        <p14:creationId xmlns:p14="http://schemas.microsoft.com/office/powerpoint/2010/main" val="318214544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684212" y="1507237"/>
            <a:ext cx="10285797" cy="3000968"/>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smtClean="0"/>
          </a:p>
          <a:p>
            <a:endParaRPr lang="en-CA" dirty="0" smtClean="0"/>
          </a:p>
          <a:p>
            <a:pPr lvl="3"/>
            <a:endParaRPr lang="en-CA" dirty="0" smtClean="0"/>
          </a:p>
          <a:p>
            <a:r>
              <a:rPr lang="en-CA" dirty="0" smtClean="0"/>
              <a:t>Advantages</a:t>
            </a:r>
          </a:p>
          <a:p>
            <a:pPr lvl="1"/>
            <a:r>
              <a:rPr lang="en-CA" dirty="0" smtClean="0"/>
              <a:t>simplifies file system traversal, reduces need to know format details</a:t>
            </a:r>
          </a:p>
          <a:p>
            <a:pPr lvl="1"/>
            <a:r>
              <a:rPr lang="en-CA" dirty="0" smtClean="0"/>
              <a:t>library parsing routines have automatically generated sanity checks</a:t>
            </a:r>
          </a:p>
          <a:p>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29</a:t>
            </a:fld>
            <a:endParaRPr lang="en-CA" dirty="0"/>
          </a:p>
        </p:txBody>
      </p:sp>
    </p:spTree>
    <p:extLst>
      <p:ext uri="{BB962C8B-B14F-4D97-AF65-F5344CB8AC3E}">
        <p14:creationId xmlns:p14="http://schemas.microsoft.com/office/powerpoint/2010/main" val="67387994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smtClean="0"/>
          </a:p>
          <a:p>
            <a:endParaRPr lang="en-CA" smtClean="0"/>
          </a:p>
          <a:p>
            <a:endParaRPr lang="en-CA" smtClean="0"/>
          </a:p>
          <a:p>
            <a:endParaRPr lang="en-CA" smtClean="0"/>
          </a:p>
          <a:p>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30</a:t>
            </a:fld>
            <a:endParaRPr lang="en-CA" dirty="0"/>
          </a:p>
        </p:txBody>
      </p:sp>
      <p:sp>
        <p:nvSpPr>
          <p:cNvPr id="6"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process_btrfs</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smtClean="0">
                <a:latin typeface="Courier New" panose="02070309020205020404" pitchFamily="49" charset="0"/>
                <a:cs typeface="Courier New" panose="02070309020205020404" pitchFamily="49" charset="0"/>
              </a:rPr>
              <a:t>btrfs.fetch_super</a:t>
            </a:r>
            <a:r>
              <a:rPr lang="en-CA" sz="20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sectorsize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a:t>
            </a:r>
            <a:r>
              <a:rPr lang="en-CA" sz="2000" dirty="0" smtClean="0">
                <a:solidFill>
                  <a:schemeClr val="accent4">
                    <a:lumMod val="75000"/>
                  </a:schemeClr>
                </a:solidFill>
                <a:latin typeface="Courier New" panose="02070309020205020404" pitchFamily="49" charset="0"/>
                <a:cs typeface="Courier New" panose="02070309020205020404" pitchFamily="49" charset="0"/>
              </a:rPr>
              <a:t>extent items */</a:t>
            </a:r>
            <a:endParaRPr lang="en-CA" sz="2000" dirty="0">
              <a:solidFill>
                <a:schemeClr val="accent4">
                  <a:lumMod val="75000"/>
                </a:schemeClr>
              </a:solidFill>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(EXTENT_ITEM,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process_extent_item</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7506738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sp>
        <p:nvSpPr>
          <p:cNvPr id="3" name="Content Placeholder 2"/>
          <p:cNvSpPr>
            <a:spLocks noGrp="1"/>
          </p:cNvSpPr>
          <p:nvPr>
            <p:ph idx="1"/>
          </p:nvPr>
        </p:nvSpPr>
        <p:spPr/>
        <p:txBody>
          <a:bodyPr/>
          <a:lstStyle/>
          <a:p>
            <a:r>
              <a:rPr lang="en-CA" dirty="0" smtClean="0"/>
              <a:t>File System Free Space Tool</a:t>
            </a:r>
          </a:p>
          <a:p>
            <a:r>
              <a:rPr lang="en-CA" dirty="0" smtClean="0"/>
              <a:t>Type-Specific File System Corruptor</a:t>
            </a:r>
          </a:p>
          <a:p>
            <a:r>
              <a:rPr lang="en-CA" dirty="0" smtClean="0"/>
              <a:t>File System Conversion Tool</a:t>
            </a:r>
          </a:p>
          <a:p>
            <a:r>
              <a:rPr lang="en-CA" dirty="0" smtClean="0"/>
              <a:t>File-system aware block layer cache</a:t>
            </a:r>
            <a:endParaRPr lang="en-CA" dirty="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139518544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882743" y="0"/>
            <a:ext cx="3309257" cy="32063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8" name="Group 7"/>
          <p:cNvGrpSpPr>
            <a:grpSpLocks noChangeAspect="1"/>
          </p:cNvGrpSpPr>
          <p:nvPr/>
        </p:nvGrpSpPr>
        <p:grpSpPr>
          <a:xfrm rot="16200000">
            <a:off x="9777384" y="-105877"/>
            <a:ext cx="2317014" cy="2512219"/>
            <a:chOff x="9206969" y="2963333"/>
            <a:chExt cx="2981858" cy="3208867"/>
          </a:xfrm>
        </p:grpSpPr>
        <p:cxnSp>
          <p:nvCxnSpPr>
            <p:cNvPr id="9" name="Straight Connector 8"/>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smtClean="0"/>
              <a:t>Finds and corrupts a field in a specified structure</a:t>
            </a:r>
          </a:p>
          <a:p>
            <a:r>
              <a:rPr lang="en-CA" smtClean="0"/>
              <a:t>Works for all annotated file systems</a:t>
            </a:r>
          </a:p>
          <a:p>
            <a:pPr lvl="1"/>
            <a:r>
              <a:rPr lang="en-CA" smtClean="0"/>
              <a:t>Generic Application Code: 455 LOC</a:t>
            </a:r>
          </a:p>
          <a:p>
            <a:pPr lvl="1"/>
            <a:r>
              <a:rPr lang="en-CA" smtClean="0"/>
              <a:t>File-System Specific Code: &lt; 30 LOC each</a:t>
            </a:r>
          </a:p>
          <a:p>
            <a:r>
              <a:rPr lang="en-CA" smtClean="0"/>
              <a:t>Corruption Experiment</a:t>
            </a:r>
          </a:p>
          <a:p>
            <a:pPr lvl="1"/>
            <a:r>
              <a:rPr lang="en-CA" smtClean="0"/>
              <a:t>Ran existing tools on corrupt file system image</a:t>
            </a:r>
          </a:p>
          <a:p>
            <a:pPr lvl="1"/>
            <a:r>
              <a:rPr lang="en-CA" smtClean="0"/>
              <a:t>Discovered 1 crash bug in dumpe2fs (Ext4)</a:t>
            </a:r>
          </a:p>
          <a:p>
            <a:pPr lvl="1"/>
            <a:r>
              <a:rPr lang="en-CA" smtClean="0"/>
              <a:t>Discovered 5 crash bugs in dump.f2fs (F2FS)</a:t>
            </a:r>
          </a:p>
          <a:p>
            <a:pPr lvl="1"/>
            <a:r>
              <a:rPr lang="en-CA" smtClean="0"/>
              <a:t>None in our Spiffy dump tool on Ext4, Btrfs and F2FS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192192736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smtClean="0"/>
              <a:t>Converts one file system to another while minimizing copying</a:t>
            </a:r>
            <a:br>
              <a:rPr lang="en-CA" smtClean="0"/>
            </a:br>
            <a:r>
              <a:rPr lang="en-CA" smtClean="0"/>
              <a:t>data blocks</a:t>
            </a:r>
          </a:p>
          <a:p>
            <a:pPr lvl="1"/>
            <a:endParaRPr lang="en-CA" smtClean="0"/>
          </a:p>
          <a:p>
            <a:r>
              <a:rPr lang="en-CA" smtClean="0"/>
              <a:t>Currently, converts from Ext4 to F2FS</a:t>
            </a:r>
          </a:p>
          <a:p>
            <a:pPr lvl="1"/>
            <a:r>
              <a:rPr lang="en-CA" smtClean="0"/>
              <a:t>Generic application code: 504 LOC</a:t>
            </a:r>
          </a:p>
          <a:p>
            <a:pPr lvl="1"/>
            <a:r>
              <a:rPr lang="en-CA" smtClean="0"/>
              <a:t>Ext4 specific code (source file system): 218 LOC</a:t>
            </a:r>
          </a:p>
          <a:p>
            <a:pPr lvl="1"/>
            <a:r>
              <a:rPr lang="en-CA" smtClean="0"/>
              <a:t>F2FS specific code (destination file system): 1760 LOC</a:t>
            </a:r>
          </a:p>
          <a:p>
            <a:pPr lvl="1"/>
            <a:endParaRPr lang="en-CA" smtClean="0"/>
          </a:p>
          <a:p>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33</a:t>
            </a:fld>
            <a:endParaRPr lang="en-CA" dirty="0"/>
          </a:p>
        </p:txBody>
      </p:sp>
    </p:spTree>
    <p:extLst>
      <p:ext uri="{BB962C8B-B14F-4D97-AF65-F5344CB8AC3E}">
        <p14:creationId xmlns:p14="http://schemas.microsoft.com/office/powerpoint/2010/main" val="117783207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endParaRPr lang="en-CA" dirty="0" smtClean="0"/>
          </a:p>
          <a:p>
            <a:endParaRPr lang="en-CA" dirty="0" smtClean="0"/>
          </a:p>
          <a:p>
            <a:endParaRPr lang="en-CA" dirty="0" smtClean="0"/>
          </a:p>
          <a:p>
            <a:r>
              <a:rPr lang="en-CA" dirty="0" smtClean="0"/>
              <a:t>Copy converter 30~50 times slower</a:t>
            </a:r>
          </a:p>
        </p:txBody>
      </p:sp>
      <p:sp>
        <p:nvSpPr>
          <p:cNvPr id="6" name="Slide Number Placeholder 5"/>
          <p:cNvSpPr>
            <a:spLocks noGrp="1"/>
          </p:cNvSpPr>
          <p:nvPr>
            <p:ph type="sldNum" sz="quarter" idx="12"/>
          </p:nvPr>
        </p:nvSpPr>
        <p:spPr/>
        <p:txBody>
          <a:bodyPr/>
          <a:lstStyle/>
          <a:p>
            <a:fld id="{7B2023C8-B124-43A9-8F92-0EEF5BAA9995}" type="slidenum">
              <a:rPr lang="en-CA" smtClean="0"/>
              <a:pPr/>
              <a:t>34</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2879694734"/>
              </p:ext>
            </p:extLst>
          </p:nvPr>
        </p:nvGraphicFramePr>
        <p:xfrm>
          <a:off x="1676516" y="3019426"/>
          <a:ext cx="7634725" cy="249237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882743" y="0"/>
            <a:ext cx="3309257" cy="32063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r>
              <a:rPr lang="en-CA" dirty="0" smtClean="0"/>
              <a:t>Supports a rich set of caching policies that require file-system specific information at the block layer</a:t>
            </a:r>
          </a:p>
          <a:p>
            <a:pPr lvl="1"/>
            <a:r>
              <a:rPr lang="en-CA" dirty="0" smtClean="0"/>
              <a:t>Cache file system metadata</a:t>
            </a:r>
          </a:p>
          <a:p>
            <a:pPr lvl="2"/>
            <a:r>
              <a:rPr lang="en-CA" dirty="0" smtClean="0"/>
              <a:t>Requires knowing whether a block is data or metadata</a:t>
            </a:r>
          </a:p>
          <a:p>
            <a:pPr lvl="1"/>
            <a:r>
              <a:rPr lang="en-CA" dirty="0" smtClean="0"/>
              <a:t>Cache small files, cache a specific user’s files</a:t>
            </a:r>
          </a:p>
          <a:p>
            <a:pPr lvl="2"/>
            <a:r>
              <a:rPr lang="en-CA" dirty="0" smtClean="0"/>
              <a:t>Requires knowing the file to which a block belongs, and the file’s size or owner</a:t>
            </a:r>
          </a:p>
          <a:p>
            <a:r>
              <a:rPr lang="en-CA" dirty="0" smtClean="0"/>
              <a:t>Requires no changes to the file system!</a:t>
            </a:r>
          </a:p>
          <a:p>
            <a:r>
              <a:rPr lang="en-CA" dirty="0" smtClean="0"/>
              <a:t>Identifies and interprets blocks as they are read or written</a:t>
            </a:r>
          </a:p>
          <a:p>
            <a:pPr lvl="1"/>
            <a:r>
              <a:rPr lang="en-CA" dirty="0" smtClean="0"/>
              <a:t>Identifies the types of blocks</a:t>
            </a:r>
          </a:p>
          <a:p>
            <a:pPr lvl="1"/>
            <a:r>
              <a:rPr lang="en-CA" dirty="0" smtClean="0"/>
              <a:t>Interprets their contents to extract file-system specific information</a:t>
            </a:r>
          </a:p>
          <a:p>
            <a:pPr lvl="1"/>
            <a:r>
              <a:rPr lang="en-CA" dirty="0" smtClean="0"/>
              <a:t>Requires little file-system specific code</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35</a:t>
            </a:fld>
            <a:endParaRPr lang="en-CA" dirty="0"/>
          </a:p>
        </p:txBody>
      </p:sp>
      <p:grpSp>
        <p:nvGrpSpPr>
          <p:cNvPr id="6" name="Group 5"/>
          <p:cNvGrpSpPr>
            <a:grpSpLocks noChangeAspect="1"/>
          </p:cNvGrpSpPr>
          <p:nvPr/>
        </p:nvGrpSpPr>
        <p:grpSpPr>
          <a:xfrm rot="16200000">
            <a:off x="10260307" y="-78082"/>
            <a:ext cx="1853611" cy="2009775"/>
            <a:chOff x="9206969" y="2963333"/>
            <a:chExt cx="2981858" cy="3208867"/>
          </a:xfrm>
        </p:grpSpPr>
        <p:cxnSp>
          <p:nvCxnSpPr>
            <p:cNvPr id="7" name="Straight Connector 6"/>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4052027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smtClean="0"/>
              <a:t>Spiffy framework</a:t>
            </a:r>
          </a:p>
          <a:p>
            <a:pPr lvl="1"/>
            <a:r>
              <a:rPr lang="en-CA" smtClean="0"/>
              <a:t>Annotation language for specifying file system format</a:t>
            </a:r>
          </a:p>
          <a:p>
            <a:pPr lvl="1"/>
            <a:r>
              <a:rPr lang="en-CA" smtClean="0"/>
              <a:t>Enables generating a library for traversing file system metadata</a:t>
            </a:r>
          </a:p>
          <a:p>
            <a:r>
              <a:rPr lang="en-CA" smtClean="0"/>
              <a:t>Simplifies development of file-system aware applications</a:t>
            </a:r>
          </a:p>
          <a:p>
            <a:pPr lvl="1"/>
            <a:r>
              <a:rPr lang="en-CA" smtClean="0"/>
              <a:t>Reduces file-system specific code</a:t>
            </a:r>
          </a:p>
          <a:p>
            <a:pPr lvl="1"/>
            <a:r>
              <a:rPr lang="en-CA" smtClean="0"/>
              <a:t>Enables code reuse across file systems</a:t>
            </a:r>
          </a:p>
          <a:p>
            <a:r>
              <a:rPr lang="en-CA" smtClean="0"/>
              <a:t>Enables writing robust applications</a:t>
            </a:r>
          </a:p>
          <a:p>
            <a:pPr lvl="1"/>
            <a:r>
              <a:rPr lang="en-CA" smtClean="0"/>
              <a:t>Provides type-safe parsing and serialization of metadata</a:t>
            </a:r>
          </a:p>
          <a:p>
            <a:pPr lvl="1"/>
            <a:r>
              <a:rPr lang="en-CA" smtClean="0"/>
              <a:t>Helps detect file system corruption</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36</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684211" y="1488556"/>
            <a:ext cx="9225333" cy="2470034"/>
          </a:xfrm>
        </p:spPr>
        <p:txBody>
          <a:bodyPr>
            <a:normAutofit fontScale="90000"/>
          </a:bodyPr>
          <a:lstStyle/>
          <a:p>
            <a:r>
              <a:rPr lang="en-CA" smtClean="0"/>
              <a:t>Spiffy: Enabling File-System Aware Storage Applications</a:t>
            </a:r>
            <a:br>
              <a:rPr lang="en-CA" smtClean="0"/>
            </a:br>
            <a:endParaRPr lang="en-CA" dirty="0"/>
          </a:p>
        </p:txBody>
      </p:sp>
      <p:sp>
        <p:nvSpPr>
          <p:cNvPr id="6" name="Text Placeholder 5"/>
          <p:cNvSpPr>
            <a:spLocks noGrp="1"/>
          </p:cNvSpPr>
          <p:nvPr>
            <p:ph type="body" idx="1"/>
          </p:nvPr>
        </p:nvSpPr>
        <p:spPr>
          <a:xfrm>
            <a:off x="684213" y="3912781"/>
            <a:ext cx="8534400" cy="2081619"/>
          </a:xfrm>
        </p:spPr>
        <p:txBody>
          <a:bodyPr/>
          <a:lstStyle/>
          <a:p>
            <a:endParaRPr lang="en-CA" smtClean="0"/>
          </a:p>
          <a:p>
            <a:endParaRPr lang="en-CA" smtClean="0"/>
          </a:p>
          <a:p>
            <a:r>
              <a:rPr lang="en-CA" smtClean="0"/>
              <a:t>Presented by Kuei (Jack) Sun</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37</a:t>
            </a:fld>
            <a:endParaRPr lang="en-CA" dirty="0"/>
          </a:p>
        </p:txBody>
      </p:sp>
    </p:spTree>
    <p:extLst>
      <p:ext uri="{BB962C8B-B14F-4D97-AF65-F5344CB8AC3E}">
        <p14:creationId xmlns:p14="http://schemas.microsoft.com/office/powerpoint/2010/main" val="360951287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API (C++)</a:t>
            </a:r>
            <a:endParaRPr lang="en-CA" dirty="0"/>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17643834"/>
              </p:ext>
            </p:extLst>
          </p:nvPr>
        </p:nvGraphicFramePr>
        <p:xfrm>
          <a:off x="684213" y="1317626"/>
          <a:ext cx="10285413" cy="5149214"/>
        </p:xfrm>
        <a:graphic>
          <a:graphicData uri="http://schemas.openxmlformats.org/drawingml/2006/table">
            <a:tbl>
              <a:tblPr firstRow="1" bandRow="1">
                <a:tableStyleId>{5C22544A-7EE6-4342-B048-85BDC9FD1C3A}</a:tableStyleId>
              </a:tblPr>
              <a:tblGrid>
                <a:gridCol w="1589087"/>
                <a:gridCol w="4597400"/>
                <a:gridCol w="4098926"/>
              </a:tblGrid>
              <a:tr h="370840">
                <a:tc>
                  <a:txBody>
                    <a:bodyPr/>
                    <a:lstStyle/>
                    <a:p>
                      <a:r>
                        <a:rPr lang="en-CA" dirty="0" smtClean="0"/>
                        <a:t>Base Class</a:t>
                      </a:r>
                      <a:endParaRPr lang="en-CA"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CA" dirty="0" smtClean="0"/>
                        <a:t>Member Functions</a:t>
                      </a:r>
                      <a:endParaRPr lang="en-CA"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CA" dirty="0" smtClean="0"/>
                        <a:t>Description</a:t>
                      </a:r>
                      <a:endParaRPr lang="en-CA"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r>
              <a:tr h="370840">
                <a:tc gridSpan="3">
                  <a:txBody>
                    <a:bodyPr/>
                    <a:lstStyle/>
                    <a:p>
                      <a:r>
                        <a:rPr lang="en-CA" sz="1800" dirty="0" smtClean="0">
                          <a:latin typeface="+mn-lt"/>
                          <a:cs typeface="Courier New" panose="02070309020205020404" pitchFamily="49" charset="0"/>
                        </a:rPr>
                        <a:t>Spiffy File System Library</a:t>
                      </a:r>
                      <a:endParaRPr lang="en-CA" sz="1800" dirty="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02894">
                <a:tc rowSpan="4">
                  <a:txBody>
                    <a:bodyPr/>
                    <a:lstStyle/>
                    <a:p>
                      <a:r>
                        <a:rPr lang="en-CA" sz="1600" dirty="0" smtClean="0">
                          <a:latin typeface="Courier New" panose="02070309020205020404" pitchFamily="49" charset="0"/>
                          <a:cs typeface="Courier New" panose="02070309020205020404" pitchFamily="49" charset="0"/>
                        </a:rPr>
                        <a:t>Entity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process_fields</a:t>
                      </a:r>
                      <a:r>
                        <a:rPr lang="en-CA" sz="1600" dirty="0" smtClean="0">
                          <a:latin typeface="Courier New" panose="02070309020205020404" pitchFamily="49" charset="0"/>
                          <a:cs typeface="Courier New" panose="02070309020205020404" pitchFamily="49" charset="0"/>
                        </a:rPr>
                        <a:t>(Visitor</a:t>
                      </a:r>
                      <a:r>
                        <a:rPr lang="en-CA" sz="1600" baseline="0" dirty="0" smtClean="0">
                          <a:latin typeface="Courier New" panose="02070309020205020404" pitchFamily="49" charset="0"/>
                          <a:cs typeface="Courier New" panose="02070309020205020404" pitchFamily="49" charset="0"/>
                        </a:rPr>
                        <a:t> &amp; 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allows </a:t>
                      </a:r>
                      <a:r>
                        <a:rPr lang="en-CA" sz="1600" b="0" i="1" u="none" strike="noStrike" kern="1200" baseline="0" dirty="0" smtClean="0">
                          <a:solidFill>
                            <a:schemeClr val="dk1"/>
                          </a:solidFill>
                          <a:latin typeface="+mn-lt"/>
                          <a:ea typeface="+mn-ea"/>
                          <a:cs typeface="+mn-cs"/>
                        </a:rPr>
                        <a:t>v</a:t>
                      </a:r>
                      <a:r>
                        <a:rPr lang="en-CA" sz="1600" b="0" i="0" u="none" strike="noStrike" kern="1200" baseline="0" dirty="0" smtClean="0">
                          <a:solidFill>
                            <a:schemeClr val="dk1"/>
                          </a:solidFill>
                          <a:latin typeface="+mn-lt"/>
                          <a:ea typeface="+mn-ea"/>
                          <a:cs typeface="+mn-cs"/>
                        </a:rPr>
                        <a:t> to visit all fields of this object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39394">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process_pointer</a:t>
                      </a:r>
                      <a:r>
                        <a:rPr lang="en-CA" sz="1600" dirty="0" smtClean="0">
                          <a:latin typeface="Courier New" panose="02070309020205020404" pitchFamily="49" charset="0"/>
                          <a:cs typeface="Courier New" panose="02070309020205020404" pitchFamily="49" charset="0"/>
                        </a:rPr>
                        <a:t>(Visitor</a:t>
                      </a:r>
                      <a:r>
                        <a:rPr lang="en-CA" sz="1600" baseline="0" dirty="0" smtClean="0">
                          <a:latin typeface="Courier New" panose="02070309020205020404" pitchFamily="49" charset="0"/>
                          <a:cs typeface="Courier New" panose="02070309020205020404" pitchFamily="49" charset="0"/>
                        </a:rPr>
                        <a:t> &amp; 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mn-lt"/>
                          <a:ea typeface="+mn-ea"/>
                          <a:cs typeface="+mn-cs"/>
                        </a:rPr>
                        <a:t>allows </a:t>
                      </a:r>
                      <a:r>
                        <a:rPr lang="en-CA" sz="1600" b="0" i="1" u="none" strike="noStrike" kern="1200" baseline="0" dirty="0" smtClean="0">
                          <a:solidFill>
                            <a:schemeClr val="dk1"/>
                          </a:solidFill>
                          <a:latin typeface="+mn-lt"/>
                          <a:ea typeface="+mn-ea"/>
                          <a:cs typeface="+mn-cs"/>
                        </a:rPr>
                        <a:t>v</a:t>
                      </a:r>
                      <a:r>
                        <a:rPr lang="en-CA" sz="1600" b="0" i="0" u="none" strike="noStrike" kern="1200" baseline="0" dirty="0" smtClean="0">
                          <a:solidFill>
                            <a:schemeClr val="dk1"/>
                          </a:solidFill>
                          <a:latin typeface="+mn-lt"/>
                          <a:ea typeface="+mn-ea"/>
                          <a:cs typeface="+mn-cs"/>
                        </a:rPr>
                        <a:t> to visit all pointers of this object</a:t>
                      </a:r>
                      <a:endParaRPr lang="en-CA" sz="1600" dirty="0" smtClean="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62256">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t,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                    Visitor</a:t>
                      </a:r>
                      <a:r>
                        <a:rPr lang="en-CA" sz="1600" baseline="0" dirty="0" smtClean="0">
                          <a:latin typeface="Courier New" panose="02070309020205020404" pitchFamily="49" charset="0"/>
                          <a:cs typeface="Courier New" panose="02070309020205020404" pitchFamily="49" charset="0"/>
                        </a:rPr>
                        <a:t> &amp; 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allows </a:t>
                      </a:r>
                      <a:r>
                        <a:rPr lang="en-CA" sz="1600" b="0" i="1" u="none" strike="noStrike" kern="1200" baseline="0" dirty="0" smtClean="0">
                          <a:solidFill>
                            <a:schemeClr val="dk1"/>
                          </a:solidFill>
                          <a:latin typeface="+mn-lt"/>
                          <a:ea typeface="+mn-ea"/>
                          <a:cs typeface="+mn-cs"/>
                        </a:rPr>
                        <a:t>v</a:t>
                      </a:r>
                      <a:r>
                        <a:rPr lang="en-CA" sz="1600" b="0" i="0" u="none" strike="noStrike" kern="1200" baseline="0" dirty="0" smtClean="0">
                          <a:solidFill>
                            <a:schemeClr val="dk1"/>
                          </a:solidFill>
                          <a:latin typeface="+mn-lt"/>
                          <a:ea typeface="+mn-ea"/>
                          <a:cs typeface="+mn-cs"/>
                        </a:rPr>
                        <a:t> to visit all structures of type </a:t>
                      </a:r>
                      <a:r>
                        <a:rPr lang="en-CA" sz="1600" b="0" i="1" u="none" strike="noStrike" kern="1200" baseline="0" dirty="0" smtClean="0">
                          <a:solidFill>
                            <a:schemeClr val="dk1"/>
                          </a:solidFill>
                          <a:latin typeface="+mn-lt"/>
                          <a:ea typeface="+mn-ea"/>
                          <a:cs typeface="+mn-cs"/>
                        </a:rPr>
                        <a:t>t </a:t>
                      </a:r>
                      <a:r>
                        <a:rPr lang="en-CA" sz="1600" b="0" i="0" u="none" strike="noStrike" kern="1200" baseline="0" dirty="0" smtClean="0">
                          <a:solidFill>
                            <a:schemeClr val="dk1"/>
                          </a:solidFill>
                          <a:latin typeface="+mn-lt"/>
                          <a:ea typeface="+mn-ea"/>
                          <a:cs typeface="+mn-cs"/>
                        </a:rPr>
                        <a:t>that is reachable from this object</a:t>
                      </a:r>
                      <a:endParaRPr lang="en-CA" sz="1600" i="1"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62256">
                <a:tc vMerge="1">
                  <a:txBody>
                    <a:bodyPr/>
                    <a:lstStyle/>
                    <a:p>
                      <a:endParaRPr lang="en-CA"/>
                    </a:p>
                  </a:txBody>
                  <a:tcPr/>
                </a:tc>
                <a:tc>
                  <a:txBody>
                    <a:bodyPr/>
                    <a:lstStyle/>
                    <a:p>
                      <a:r>
                        <a:rPr lang="en-CA" sz="1600" dirty="0" err="1" smtClean="0">
                          <a:latin typeface="Courier New" panose="02070309020205020404" pitchFamily="49" charset="0"/>
                          <a:cs typeface="Courier New" panose="02070309020205020404" pitchFamily="49" charset="0"/>
                        </a:rPr>
                        <a:t>get_name</a:t>
                      </a:r>
                      <a:r>
                        <a:rPr lang="en-CA" sz="1600" dirty="0" smtClean="0">
                          <a:latin typeface="Courier New" panose="02070309020205020404" pitchFamily="49" charset="0"/>
                          <a:cs typeface="Courier New" panose="02070309020205020404" pitchFamily="49" charset="0"/>
                        </a:rPr>
                        <a:t>(),</a:t>
                      </a:r>
                      <a:r>
                        <a:rPr lang="en-CA" sz="1600" baseline="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get_size</a:t>
                      </a:r>
                      <a:r>
                        <a:rPr lang="en-CA" sz="1600" dirty="0" smtClean="0">
                          <a:latin typeface="Courier New" panose="02070309020205020404" pitchFamily="49" charset="0"/>
                          <a:cs typeface="Courier New" panose="02070309020205020404" pitchFamily="49" charset="0"/>
                        </a:rPr>
                        <a:t>(), etc.</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smtClean="0"/>
                        <a:t>allows for type introspection </a:t>
                      </a:r>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70840">
                <a:tc>
                  <a:txBody>
                    <a:bodyPr/>
                    <a:lstStyle/>
                    <a:p>
                      <a:r>
                        <a:rPr lang="en-CA" sz="1600" dirty="0" smtClean="0">
                          <a:latin typeface="Courier New" panose="02070309020205020404" pitchFamily="49" charset="0"/>
                          <a:cs typeface="Courier New" panose="02070309020205020404" pitchFamily="49" charset="0"/>
                        </a:rPr>
                        <a:t>Container</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save(bool </a:t>
                      </a:r>
                      <a:r>
                        <a:rPr lang="en-CA" sz="1600" dirty="0" err="1" smtClean="0">
                          <a:latin typeface="Courier New" panose="02070309020205020404" pitchFamily="49" charset="0"/>
                          <a:cs typeface="Courier New" panose="02070309020205020404" pitchFamily="49" charset="0"/>
                        </a:rPr>
                        <a:t>alloc</a:t>
                      </a:r>
                      <a:r>
                        <a:rPr lang="en-CA" sz="1600" dirty="0" smtClean="0">
                          <a:latin typeface="Courier New" panose="02070309020205020404" pitchFamily="49" charset="0"/>
                          <a:cs typeface="Courier New" panose="02070309020205020404" pitchFamily="49" charset="0"/>
                        </a:rPr>
                        <a:t>=true)</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serializes and persists the container</a:t>
                      </a:r>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70840">
                <a:tc>
                  <a:txBody>
                    <a:bodyPr/>
                    <a:lstStyle/>
                    <a:p>
                      <a:r>
                        <a:rPr lang="en-CA" sz="1600" dirty="0" smtClean="0">
                          <a:latin typeface="Courier New" panose="02070309020205020404" pitchFamily="49" charset="0"/>
                          <a:cs typeface="Courier New" panose="02070309020205020404" pitchFamily="49" charset="0"/>
                        </a:rPr>
                        <a:t>Pointer</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smtClean="0">
                          <a:latin typeface="Courier New" panose="02070309020205020404" pitchFamily="49" charset="0"/>
                          <a:cs typeface="Courier New" panose="02070309020205020404" pitchFamily="49" charset="0"/>
                        </a:rPr>
                        <a:t>Container</a:t>
                      </a:r>
                      <a:r>
                        <a:rPr lang="en-CA" sz="1600" baseline="0" dirty="0" smtClean="0">
                          <a:latin typeface="Courier New" panose="02070309020205020404" pitchFamily="49" charset="0"/>
                          <a:cs typeface="Courier New" panose="02070309020205020404" pitchFamily="49" charset="0"/>
                        </a:rPr>
                        <a:t> * fetch()</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retrieves pointed-to container from disk</a:t>
                      </a:r>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92417">
                <a:tc rowSpan="3">
                  <a:txBody>
                    <a:bodyPr/>
                    <a:lstStyle/>
                    <a:p>
                      <a:r>
                        <a:rPr lang="en-CA" sz="1600" dirty="0" err="1" smtClean="0">
                          <a:latin typeface="Courier New" panose="02070309020205020404" pitchFamily="49" charset="0"/>
                          <a:cs typeface="Courier New" panose="02070309020205020404" pitchFamily="49" charset="0"/>
                        </a:rPr>
                        <a:t>FileSystem</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FileSystem</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(IO &amp;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io</a:t>
                      </a:r>
                      <a:r>
                        <a:rPr lang="en-CA" sz="1600" b="0" i="0" u="none" strike="noStrike" kern="1200" baseline="0" smtClean="0">
                          <a:solidFill>
                            <a:schemeClr val="dk1"/>
                          </a:solidFill>
                          <a:latin typeface="Courier New" panose="02070309020205020404" pitchFamily="49" charset="0"/>
                          <a:ea typeface="+mn-ea"/>
                          <a:cs typeface="Courier New" panose="02070309020205020404" pitchFamily="49" charset="0"/>
                        </a:rPr>
                        <a:t>) </a:t>
                      </a:r>
                      <a:endPar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mn-lt"/>
                          <a:ea typeface="+mn-ea"/>
                          <a:cs typeface="+mn-cs"/>
                        </a:rPr>
                        <a:t>instantiates a new file </a:t>
                      </a:r>
                      <a:r>
                        <a:rPr lang="en-CA" sz="1600" b="0" i="0" u="none" strike="noStrike" kern="1200" baseline="0" smtClean="0">
                          <a:solidFill>
                            <a:schemeClr val="dk1"/>
                          </a:solidFill>
                          <a:latin typeface="+mn-lt"/>
                          <a:ea typeface="+mn-ea"/>
                          <a:cs typeface="+mn-cs"/>
                        </a:rPr>
                        <a:t>system object</a:t>
                      </a:r>
                      <a:endParaRPr lang="en-CA" sz="1600" b="0" i="0" u="none" strike="noStrike" kern="1200" baseline="0" dirty="0" smtClean="0">
                        <a:solidFill>
                          <a:schemeClr val="dk1"/>
                        </a:solidFill>
                        <a:latin typeface="+mn-lt"/>
                        <a:ea typeface="+mn-ea"/>
                        <a:cs typeface="+mn-cs"/>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7369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Container</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fetch_super</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mn-lt"/>
                          <a:ea typeface="+mn-ea"/>
                          <a:cs typeface="+mn-cs"/>
                        </a:rPr>
                        <a:t>retrieves the super block from disk</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67087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Container</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parse_by_type</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int</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type,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const</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char *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buf</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size_t</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len</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parses the buffer </a:t>
                      </a:r>
                      <a:r>
                        <a:rPr lang="en-CA" sz="1600" b="0" i="1" u="none" strike="noStrike" kern="1200" baseline="0" dirty="0" err="1" smtClean="0">
                          <a:solidFill>
                            <a:schemeClr val="dk1"/>
                          </a:solidFill>
                          <a:latin typeface="+mn-lt"/>
                          <a:ea typeface="+mn-ea"/>
                          <a:cs typeface="+mn-cs"/>
                        </a:rPr>
                        <a:t>buf</a:t>
                      </a:r>
                      <a:r>
                        <a:rPr lang="en-CA" sz="1600" b="0" i="0" u="none" strike="noStrike" kern="1200" baseline="0" dirty="0" smtClean="0">
                          <a:solidFill>
                            <a:schemeClr val="dk1"/>
                          </a:solidFill>
                          <a:latin typeface="+mn-lt"/>
                          <a:ea typeface="+mn-ea"/>
                          <a:cs typeface="+mn-cs"/>
                        </a:rPr>
                        <a:t> as metadata container </a:t>
                      </a:r>
                      <a:r>
                        <a:rPr lang="en-CA" sz="1600" b="0" i="1" u="none" strike="noStrike" kern="1200" baseline="0" dirty="0" smtClean="0">
                          <a:solidFill>
                            <a:schemeClr val="dk1"/>
                          </a:solidFill>
                          <a:latin typeface="+mn-lt"/>
                          <a:ea typeface="+mn-ea"/>
                          <a:cs typeface="+mn-cs"/>
                        </a:rPr>
                        <a:t>type</a:t>
                      </a: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07023">
                <a:tc gridSpan="3">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dirty="0" smtClean="0">
                          <a:latin typeface="+mn-lt"/>
                          <a:cs typeface="Courier New" panose="02070309020205020404" pitchFamily="49" charset="0"/>
                        </a:rPr>
                        <a:t>Application Developer</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136843">
                <a:tc>
                  <a:txBody>
                    <a:bodyPr/>
                    <a:lstStyle/>
                    <a:p>
                      <a:r>
                        <a:rPr lang="en-CA" sz="1600" dirty="0" smtClean="0">
                          <a:latin typeface="Courier New" panose="02070309020205020404" pitchFamily="49" charset="0"/>
                          <a:cs typeface="Courier New" panose="02070309020205020404" pitchFamily="49" charset="0"/>
                        </a:rPr>
                        <a:t>Visitor</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virtual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visit(Entity</a:t>
                      </a:r>
                      <a:r>
                        <a:rPr lang="en-CA" sz="1600" baseline="0" dirty="0" smtClean="0">
                          <a:latin typeface="Courier New" panose="02070309020205020404" pitchFamily="49" charset="0"/>
                          <a:cs typeface="Courier New" panose="02070309020205020404" pitchFamily="49" charset="0"/>
                        </a:rPr>
                        <a:t> &amp; e)=0;</a:t>
                      </a: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visits an entity and possibly processes it</a:t>
                      </a:r>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bl>
          </a:graphicData>
        </a:graphic>
      </p:graphicFrame>
      <p:sp>
        <p:nvSpPr>
          <p:cNvPr id="4" name="Slide Number Placeholder 3"/>
          <p:cNvSpPr>
            <a:spLocks noGrp="1"/>
          </p:cNvSpPr>
          <p:nvPr>
            <p:ph type="sldNum" sz="quarter" idx="12"/>
          </p:nvPr>
        </p:nvSpPr>
        <p:spPr/>
        <p:txBody>
          <a:bodyPr/>
          <a:lstStyle/>
          <a:p>
            <a:fld id="{7B2023C8-B124-43A9-8F92-0EEF5BAA9995}" type="slidenum">
              <a:rPr lang="en-CA" smtClean="0"/>
              <a:pPr/>
              <a:t>38</a:t>
            </a:fld>
            <a:endParaRPr lang="en-CA" dirty="0"/>
          </a:p>
        </p:txBody>
      </p:sp>
    </p:spTree>
    <p:extLst>
      <p:ext uri="{BB962C8B-B14F-4D97-AF65-F5344CB8AC3E}">
        <p14:creationId xmlns:p14="http://schemas.microsoft.com/office/powerpoint/2010/main" val="372489747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pv</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cout</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&lt;&lt; </a:t>
            </a:r>
            <a:r>
              <a:rPr lang="en-CA" sz="1800" dirty="0" err="1">
                <a:latin typeface="Courier New" panose="02070309020205020404" pitchFamily="49" charset="0"/>
                <a:cs typeface="Courier New" panose="02070309020205020404" pitchFamily="49" charset="0"/>
              </a:rPr>
              <a:t>e.get_name</a:t>
            </a:r>
            <a:r>
              <a:rPr lang="en-CA" sz="1800" dirty="0">
                <a:latin typeface="Courier New" panose="02070309020205020404" pitchFamily="49" charset="0"/>
                <a:cs typeface="Courier New" panose="02070309020205020404" pitchFamily="49" charset="0"/>
              </a:rPr>
              <a:t>() &lt;&lt; </a:t>
            </a:r>
            <a:r>
              <a:rPr lang="en-CA" sz="1800" dirty="0" err="1">
                <a:latin typeface="Courier New" panose="02070309020205020404" pitchFamily="49" charset="0"/>
                <a:cs typeface="Courier New" panose="02070309020205020404" pitchFamily="49" charset="0"/>
              </a:rPr>
              <a:t>endl</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err="1">
                <a:latin typeface="Courier New" panose="02070309020205020404" pitchFamily="49" charset="0"/>
                <a:cs typeface="Courier New" panose="02070309020205020404" pitchFamily="49" charset="0"/>
              </a:rPr>
              <a:t>e.process_pointers</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pv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sup = </a:t>
            </a:r>
            <a:r>
              <a:rPr lang="en-CA" sz="1800" dirty="0" err="1" smtClean="0">
                <a:latin typeface="Courier New" panose="02070309020205020404" pitchFamily="49" charset="0"/>
                <a:cs typeface="Courier New" panose="02070309020205020404" pitchFamily="49" charset="0"/>
              </a:rPr>
              <a:t>fs.fetch_super</a:t>
            </a: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39</a:t>
            </a:fld>
            <a:endParaRPr lang="en-CA" dirty="0"/>
          </a:p>
        </p:txBody>
      </p:sp>
      <p:sp>
        <p:nvSpPr>
          <p:cNvPr id="6" name="Content Placeholder 4"/>
          <p:cNvSpPr txBox="1">
            <a:spLocks/>
          </p:cNvSpPr>
          <p:nvPr/>
        </p:nvSpPr>
        <p:spPr>
          <a:xfrm>
            <a:off x="5829300" y="4140200"/>
            <a:ext cx="5384800" cy="2624838"/>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smtClean="0"/>
              <a:t>Simple example to traverse the entire file system</a:t>
            </a:r>
          </a:p>
          <a:p>
            <a:pPr>
              <a:spcBef>
                <a:spcPts val="0"/>
              </a:spcBef>
              <a:spcAft>
                <a:spcPts val="0"/>
              </a:spcAft>
            </a:pPr>
            <a:r>
              <a:rPr lang="en-CA" dirty="0" smtClean="0"/>
              <a:t>No file-system specific code required (except for bootstrap)</a:t>
            </a:r>
            <a:endParaRPr lang="en-CA" dirty="0"/>
          </a:p>
        </p:txBody>
      </p:sp>
    </p:spTree>
    <p:extLst>
      <p:ext uri="{BB962C8B-B14F-4D97-AF65-F5344CB8AC3E}">
        <p14:creationId xmlns:p14="http://schemas.microsoft.com/office/powerpoint/2010/main" val="387016417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b="1" dirty="0" err="1">
                <a:latin typeface="Courier New" panose="02070309020205020404" pitchFamily="49" charset="0"/>
                <a:cs typeface="Courier New" panose="02070309020205020404" pitchFamily="49" charset="0"/>
              </a:rPr>
              <a:t>EntVisitor</a:t>
            </a:r>
            <a:r>
              <a:rPr lang="en-CA" sz="1800" b="1" dirty="0">
                <a:latin typeface="Courier New" panose="02070309020205020404" pitchFamily="49" charset="0"/>
                <a:cs typeface="Courier New" panose="02070309020205020404" pitchFamily="49" charset="0"/>
              </a:rPr>
              <a:t> </a:t>
            </a:r>
            <a:r>
              <a:rPr lang="en-CA" sz="1800" b="1" dirty="0" err="1">
                <a:latin typeface="Courier New" panose="02070309020205020404" pitchFamily="49" charset="0"/>
                <a:cs typeface="Courier New" panose="02070309020205020404" pitchFamily="49" charset="0"/>
              </a:rPr>
              <a:t>ev</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b="1" dirty="0" err="1">
                <a:latin typeface="Courier New" panose="02070309020205020404" pitchFamily="49" charset="0"/>
                <a:cs typeface="Courier New" panose="02070309020205020404" pitchFamily="49" charset="0"/>
              </a:rPr>
              <a:t>PtrVisitor</a:t>
            </a:r>
            <a:r>
              <a:rPr lang="en-CA" sz="1800" b="1" dirty="0">
                <a:latin typeface="Courier New" panose="02070309020205020404" pitchFamily="49" charset="0"/>
                <a:cs typeface="Courier New" panose="02070309020205020404" pitchFamily="49" charset="0"/>
              </a:rPr>
              <a:t> </a:t>
            </a:r>
            <a:r>
              <a:rPr lang="en-CA" sz="1800" b="1" dirty="0" err="1">
                <a:latin typeface="Courier New" panose="02070309020205020404" pitchFamily="49" charset="0"/>
                <a:cs typeface="Courier New" panose="02070309020205020404" pitchFamily="49" charset="0"/>
              </a:rPr>
              <a:t>pv</a:t>
            </a:r>
            <a:r>
              <a:rPr lang="en-CA" sz="18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cout</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&lt;&lt; </a:t>
            </a:r>
            <a:r>
              <a:rPr lang="en-CA" sz="1800" dirty="0" err="1">
                <a:latin typeface="Courier New" panose="02070309020205020404" pitchFamily="49" charset="0"/>
                <a:cs typeface="Courier New" panose="02070309020205020404" pitchFamily="49" charset="0"/>
              </a:rPr>
              <a:t>e.get_name</a:t>
            </a:r>
            <a:r>
              <a:rPr lang="en-CA" sz="1800" dirty="0">
                <a:latin typeface="Courier New" panose="02070309020205020404" pitchFamily="49" charset="0"/>
                <a:cs typeface="Courier New" panose="02070309020205020404" pitchFamily="49" charset="0"/>
              </a:rPr>
              <a:t>() &lt;&lt; </a:t>
            </a:r>
            <a:r>
              <a:rPr lang="en-CA" sz="1800" dirty="0" err="1">
                <a:latin typeface="Courier New" panose="02070309020205020404" pitchFamily="49" charset="0"/>
                <a:cs typeface="Courier New" panose="02070309020205020404" pitchFamily="49" charset="0"/>
              </a:rPr>
              <a:t>endl</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err="1">
                <a:latin typeface="Courier New" panose="02070309020205020404" pitchFamily="49" charset="0"/>
                <a:cs typeface="Courier New" panose="02070309020205020404" pitchFamily="49" charset="0"/>
              </a:rPr>
              <a:t>e.process_pointers</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pv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Container </a:t>
            </a:r>
            <a:r>
              <a:rPr lang="en-CA" sz="1800" b="1" dirty="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sup = </a:t>
            </a:r>
            <a:r>
              <a:rPr lang="en-CA" sz="1800" b="1" dirty="0" err="1" smtClean="0">
                <a:latin typeface="Courier New" panose="02070309020205020404" pitchFamily="49" charset="0"/>
                <a:cs typeface="Courier New" panose="02070309020205020404" pitchFamily="49" charset="0"/>
              </a:rPr>
              <a:t>fs.fetch_super</a:t>
            </a:r>
            <a:r>
              <a:rPr lang="en-CA" sz="1800" b="1" dirty="0" smtClean="0">
                <a:latin typeface="Courier New" panose="02070309020205020404" pitchFamily="49" charset="0"/>
                <a:cs typeface="Courier New" panose="02070309020205020404" pitchFamily="49" charset="0"/>
              </a:rPr>
              <a:t>();</a:t>
            </a:r>
            <a:endParaRPr lang="en-CA" sz="1800" b="1"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ev.visit</a:t>
            </a:r>
            <a:r>
              <a:rPr lang="en-CA" sz="1800" b="1"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40</a:t>
            </a:fld>
            <a:endParaRPr lang="en-CA" dirty="0"/>
          </a:p>
        </p:txBody>
      </p:sp>
      <p:sp>
        <p:nvSpPr>
          <p:cNvPr id="6" name="Content Placeholder 4"/>
          <p:cNvSpPr txBox="1">
            <a:spLocks/>
          </p:cNvSpPr>
          <p:nvPr/>
        </p:nvSpPr>
        <p:spPr>
          <a:xfrm>
            <a:off x="5829300" y="4140200"/>
            <a:ext cx="5384800" cy="1803400"/>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smtClean="0"/>
              <a:t>Traversal begins from super block</a:t>
            </a:r>
          </a:p>
          <a:p>
            <a:pPr>
              <a:spcBef>
                <a:spcPts val="0"/>
              </a:spcBef>
              <a:spcAft>
                <a:spcPts val="0"/>
              </a:spcAft>
            </a:pPr>
            <a:r>
              <a:rPr lang="en-CA" dirty="0" smtClean="0"/>
              <a:t>Uses two mutually recursive visitors to traverse the whole file system</a:t>
            </a:r>
          </a:p>
        </p:txBody>
      </p:sp>
    </p:spTree>
    <p:extLst>
      <p:ext uri="{BB962C8B-B14F-4D97-AF65-F5344CB8AC3E}">
        <p14:creationId xmlns:p14="http://schemas.microsoft.com/office/powerpoint/2010/main" val="88257061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pv</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b="1" dirty="0" err="1">
                <a:latin typeface="Courier New" panose="02070309020205020404" pitchFamily="49" charset="0"/>
                <a:cs typeface="Courier New" panose="02070309020205020404" pitchFamily="49" charset="0"/>
              </a:rPr>
              <a:t>int</a:t>
            </a:r>
            <a:r>
              <a:rPr lang="en-CA" sz="1800" b="1" dirty="0">
                <a:latin typeface="Courier New" panose="02070309020205020404" pitchFamily="49" charset="0"/>
                <a:cs typeface="Courier New" panose="02070309020205020404" pitchFamily="49" charset="0"/>
              </a:rPr>
              <a:t> </a:t>
            </a:r>
            <a:r>
              <a:rPr lang="en-CA" sz="1800" b="1" dirty="0" err="1">
                <a:latin typeface="Courier New" panose="02070309020205020404" pitchFamily="49" charset="0"/>
                <a:cs typeface="Courier New" panose="02070309020205020404" pitchFamily="49" charset="0"/>
              </a:rPr>
              <a:t>EntVisitor</a:t>
            </a:r>
            <a:r>
              <a:rPr lang="en-CA" sz="1800" b="1"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cout</a:t>
            </a:r>
            <a:r>
              <a:rPr lang="en-CA" sz="1800" b="1" dirty="0" smtClean="0">
                <a:latin typeface="Courier New" panose="02070309020205020404" pitchFamily="49" charset="0"/>
                <a:cs typeface="Courier New" panose="02070309020205020404" pitchFamily="49" charset="0"/>
              </a:rPr>
              <a:t> </a:t>
            </a:r>
            <a:r>
              <a:rPr lang="en-CA" sz="1800" b="1" dirty="0">
                <a:latin typeface="Courier New" panose="02070309020205020404" pitchFamily="49" charset="0"/>
                <a:cs typeface="Courier New" panose="02070309020205020404" pitchFamily="49" charset="0"/>
              </a:rPr>
              <a:t>&lt;&lt; </a:t>
            </a:r>
            <a:r>
              <a:rPr lang="en-CA" sz="1800" b="1" dirty="0" err="1">
                <a:latin typeface="Courier New" panose="02070309020205020404" pitchFamily="49" charset="0"/>
                <a:cs typeface="Courier New" panose="02070309020205020404" pitchFamily="49" charset="0"/>
              </a:rPr>
              <a:t>e.get_name</a:t>
            </a:r>
            <a:r>
              <a:rPr lang="en-CA" sz="1800" b="1" dirty="0">
                <a:latin typeface="Courier New" panose="02070309020205020404" pitchFamily="49" charset="0"/>
                <a:cs typeface="Courier New" panose="02070309020205020404" pitchFamily="49" charset="0"/>
              </a:rPr>
              <a:t>() &lt;&lt; </a:t>
            </a:r>
            <a:r>
              <a:rPr lang="en-CA" sz="1800" b="1" dirty="0" err="1">
                <a:latin typeface="Courier New" panose="02070309020205020404" pitchFamily="49" charset="0"/>
                <a:cs typeface="Courier New" panose="02070309020205020404" pitchFamily="49" charset="0"/>
              </a:rPr>
              <a:t>endl</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b="1" dirty="0" smtClean="0">
                <a:latin typeface="Courier New" panose="02070309020205020404" pitchFamily="49" charset="0"/>
                <a:cs typeface="Courier New" panose="02070309020205020404" pitchFamily="49" charset="0"/>
              </a:rPr>
              <a:t>  return </a:t>
            </a:r>
            <a:r>
              <a:rPr lang="en-CA" sz="1800" b="1" dirty="0" err="1">
                <a:latin typeface="Courier New" panose="02070309020205020404" pitchFamily="49" charset="0"/>
                <a:cs typeface="Courier New" panose="02070309020205020404" pitchFamily="49" charset="0"/>
              </a:rPr>
              <a:t>e.process_pointers</a:t>
            </a:r>
            <a:r>
              <a:rPr lang="en-CA" sz="1800" b="1" dirty="0">
                <a:latin typeface="Courier New" panose="02070309020205020404" pitchFamily="49" charset="0"/>
                <a:cs typeface="Courier New" panose="02070309020205020404" pitchFamily="49" charset="0"/>
              </a:rPr>
              <a:t>(</a:t>
            </a:r>
            <a:r>
              <a:rPr lang="en-CA" sz="1800" b="1" dirty="0" err="1">
                <a:latin typeface="Courier New" panose="02070309020205020404" pitchFamily="49" charset="0"/>
                <a:cs typeface="Courier New" panose="02070309020205020404" pitchFamily="49" charset="0"/>
              </a:rPr>
              <a:t>pv</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b="1" dirty="0" smtClean="0">
                <a:latin typeface="Courier New" panose="02070309020205020404" pitchFamily="49" charset="0"/>
                <a:cs typeface="Courier New" panose="02070309020205020404" pitchFamily="49" charset="0"/>
              </a:rPr>
              <a:t>}</a:t>
            </a:r>
            <a:endParaRPr lang="en-CA" sz="1800" b="1"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sup = </a:t>
            </a:r>
            <a:r>
              <a:rPr lang="en-CA" sz="1800" dirty="0" err="1" smtClean="0">
                <a:latin typeface="Courier New" panose="02070309020205020404" pitchFamily="49" charset="0"/>
                <a:cs typeface="Courier New" panose="02070309020205020404" pitchFamily="49" charset="0"/>
              </a:rPr>
              <a:t>fs.fetch_super</a:t>
            </a: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41</a:t>
            </a:fld>
            <a:endParaRPr lang="en-CA" dirty="0"/>
          </a:p>
        </p:txBody>
      </p:sp>
      <p:sp>
        <p:nvSpPr>
          <p:cNvPr id="6" name="Content Placeholder 4"/>
          <p:cNvSpPr txBox="1">
            <a:spLocks/>
          </p:cNvSpPr>
          <p:nvPr/>
        </p:nvSpPr>
        <p:spPr>
          <a:xfrm>
            <a:off x="5829300" y="4140200"/>
            <a:ext cx="5384800" cy="1803400"/>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err="1" smtClean="0"/>
              <a:t>EntVisitor</a:t>
            </a:r>
            <a:r>
              <a:rPr lang="en-CA" dirty="0" smtClean="0"/>
              <a:t> prints name of entity </a:t>
            </a:r>
            <a:r>
              <a:rPr lang="en-CA" i="1" dirty="0" smtClean="0"/>
              <a:t>e</a:t>
            </a:r>
            <a:r>
              <a:rPr lang="en-CA" dirty="0" smtClean="0"/>
              <a:t>, then calls </a:t>
            </a:r>
            <a:r>
              <a:rPr lang="en-CA" dirty="0" err="1">
                <a:latin typeface="Courier New" panose="02070309020205020404" pitchFamily="49" charset="0"/>
                <a:cs typeface="Courier New" panose="02070309020205020404" pitchFamily="49" charset="0"/>
              </a:rPr>
              <a:t>PtrVisitor</a:t>
            </a:r>
            <a:r>
              <a:rPr lang="en-CA" dirty="0">
                <a:latin typeface="Courier New" panose="02070309020205020404" pitchFamily="49" charset="0"/>
                <a:cs typeface="Courier New" panose="02070309020205020404" pitchFamily="49" charset="0"/>
              </a:rPr>
              <a:t>::</a:t>
            </a:r>
            <a:r>
              <a:rPr lang="en-CA" dirty="0" smtClean="0">
                <a:latin typeface="Courier New" panose="02070309020205020404" pitchFamily="49" charset="0"/>
                <a:cs typeface="Courier New" panose="02070309020205020404" pitchFamily="49" charset="0"/>
              </a:rPr>
              <a:t>visit </a:t>
            </a:r>
            <a:r>
              <a:rPr lang="en-CA" dirty="0" smtClean="0">
                <a:cs typeface="Courier New" panose="02070309020205020404" pitchFamily="49" charset="0"/>
              </a:rPr>
              <a:t>on all pointer fields within entity </a:t>
            </a:r>
            <a:r>
              <a:rPr lang="en-CA" i="1" dirty="0" smtClean="0">
                <a:cs typeface="Courier New" panose="02070309020205020404" pitchFamily="49" charset="0"/>
              </a:rPr>
              <a:t>e</a:t>
            </a:r>
            <a:endParaRPr lang="en-CA" dirty="0" smtClean="0"/>
          </a:p>
        </p:txBody>
      </p:sp>
    </p:spTree>
    <p:extLst>
      <p:ext uri="{BB962C8B-B14F-4D97-AF65-F5344CB8AC3E}">
        <p14:creationId xmlns:p14="http://schemas.microsoft.com/office/powerpoint/2010/main" val="116965341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pv</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b="1" dirty="0" err="1" smtClean="0">
                <a:latin typeface="Courier New" panose="02070309020205020404" pitchFamily="49" charset="0"/>
                <a:cs typeface="Courier New" panose="02070309020205020404" pitchFamily="49" charset="0"/>
              </a:rPr>
              <a:t>int</a:t>
            </a: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PtrVisitor</a:t>
            </a:r>
            <a:r>
              <a:rPr lang="en-CA" sz="1800" b="1" dirty="0" smtClean="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tmp</a:t>
            </a:r>
            <a:r>
              <a:rPr lang="en-CA" sz="1800" b="1" dirty="0" smtClean="0">
                <a:latin typeface="Courier New" panose="02070309020205020404" pitchFamily="49" charset="0"/>
                <a:cs typeface="Courier New" panose="02070309020205020404" pitchFamily="49" charset="0"/>
              </a:rPr>
              <a:t> </a:t>
            </a:r>
            <a:r>
              <a:rPr lang="en-CA" sz="1800" b="1"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ev.visit</a:t>
            </a:r>
            <a:r>
              <a:rPr lang="en-CA" sz="1800" b="1" dirty="0">
                <a:latin typeface="Courier New" panose="02070309020205020404" pitchFamily="49" charset="0"/>
                <a:cs typeface="Courier New" panose="02070309020205020404" pitchFamily="49" charset="0"/>
              </a:rPr>
              <a:t>(*</a:t>
            </a:r>
            <a:r>
              <a:rPr lang="en-CA" sz="1800" b="1" dirty="0" err="1">
                <a:latin typeface="Courier New" panose="02070309020205020404" pitchFamily="49" charset="0"/>
                <a:cs typeface="Courier New" panose="02070309020205020404" pitchFamily="49" charset="0"/>
              </a:rPr>
              <a:t>tmp</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cout</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&lt;&lt; </a:t>
            </a:r>
            <a:r>
              <a:rPr lang="en-CA" sz="1800" dirty="0" err="1">
                <a:latin typeface="Courier New" panose="02070309020205020404" pitchFamily="49" charset="0"/>
                <a:cs typeface="Courier New" panose="02070309020205020404" pitchFamily="49" charset="0"/>
              </a:rPr>
              <a:t>e.get_name</a:t>
            </a:r>
            <a:r>
              <a:rPr lang="en-CA" sz="1800" dirty="0">
                <a:latin typeface="Courier New" panose="02070309020205020404" pitchFamily="49" charset="0"/>
                <a:cs typeface="Courier New" panose="02070309020205020404" pitchFamily="49" charset="0"/>
              </a:rPr>
              <a:t>() &lt;&lt; </a:t>
            </a:r>
            <a:r>
              <a:rPr lang="en-CA" sz="1800" dirty="0" err="1">
                <a:latin typeface="Courier New" panose="02070309020205020404" pitchFamily="49" charset="0"/>
                <a:cs typeface="Courier New" panose="02070309020205020404" pitchFamily="49" charset="0"/>
              </a:rPr>
              <a:t>endl</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err="1">
                <a:latin typeface="Courier New" panose="02070309020205020404" pitchFamily="49" charset="0"/>
                <a:cs typeface="Courier New" panose="02070309020205020404" pitchFamily="49" charset="0"/>
              </a:rPr>
              <a:t>e.process_pointers</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pv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sup = </a:t>
            </a:r>
            <a:r>
              <a:rPr lang="en-CA" sz="1800" dirty="0" err="1" smtClean="0">
                <a:latin typeface="Courier New" panose="02070309020205020404" pitchFamily="49" charset="0"/>
                <a:cs typeface="Courier New" panose="02070309020205020404" pitchFamily="49" charset="0"/>
              </a:rPr>
              <a:t>fs.fetch_super</a:t>
            </a: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42</a:t>
            </a:fld>
            <a:endParaRPr lang="en-CA" dirty="0"/>
          </a:p>
        </p:txBody>
      </p:sp>
      <p:sp>
        <p:nvSpPr>
          <p:cNvPr id="6" name="Content Placeholder 4"/>
          <p:cNvSpPr txBox="1">
            <a:spLocks/>
          </p:cNvSpPr>
          <p:nvPr/>
        </p:nvSpPr>
        <p:spPr>
          <a:xfrm>
            <a:off x="5829300" y="4140200"/>
            <a:ext cx="5384800" cy="1803400"/>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err="1" smtClean="0"/>
              <a:t>PtrVisitor</a:t>
            </a:r>
            <a:r>
              <a:rPr lang="en-CA" dirty="0" smtClean="0"/>
              <a:t> fetches the pointed-to Container from disk, then calls </a:t>
            </a:r>
            <a:r>
              <a:rPr lang="en-CA" dirty="0" err="1">
                <a:latin typeface="Courier New" panose="02070309020205020404" pitchFamily="49" charset="0"/>
                <a:cs typeface="Courier New" panose="02070309020205020404" pitchFamily="49" charset="0"/>
              </a:rPr>
              <a:t>EntVisitor</a:t>
            </a:r>
            <a:r>
              <a:rPr lang="en-CA" dirty="0">
                <a:latin typeface="Courier New" panose="02070309020205020404" pitchFamily="49" charset="0"/>
                <a:cs typeface="Courier New" panose="02070309020205020404" pitchFamily="49" charset="0"/>
              </a:rPr>
              <a:t>::</a:t>
            </a:r>
            <a:r>
              <a:rPr lang="en-CA" dirty="0" smtClean="0">
                <a:latin typeface="Courier New" panose="02070309020205020404" pitchFamily="49" charset="0"/>
                <a:cs typeface="Courier New" panose="02070309020205020404" pitchFamily="49" charset="0"/>
              </a:rPr>
              <a:t>visit </a:t>
            </a:r>
            <a:r>
              <a:rPr lang="en-CA" dirty="0" smtClean="0"/>
              <a:t>on the pointed-to Container</a:t>
            </a:r>
          </a:p>
        </p:txBody>
      </p:sp>
    </p:spTree>
    <p:extLst>
      <p:ext uri="{BB962C8B-B14F-4D97-AF65-F5344CB8AC3E}">
        <p14:creationId xmlns:p14="http://schemas.microsoft.com/office/powerpoint/2010/main" val="312105245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43</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a16="http://schemas.microsoft.com/office/drawing/2014/main" xmlns="" val="20000"/>
                    </a:ext>
                  </a:extLst>
                </a:gridCol>
                <a:gridCol w="2017336">
                  <a:extLst>
                    <a:ext uri="{9D8B030D-6E8A-4147-A177-3AD203B41FA5}">
                      <a16:colId xmlns:a16="http://schemas.microsoft.com/office/drawing/2014/main" xmlns="" val="20001"/>
                    </a:ext>
                  </a:extLst>
                </a:gridCol>
                <a:gridCol w="3289955">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a16="http://schemas.microsoft.com/office/drawing/2014/main" xmlns=""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a16="http://schemas.microsoft.com/office/drawing/2014/main" xmlns=""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a16="http://schemas.microsoft.com/office/drawing/2014/main" xmlns=""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a16="http://schemas.microsoft.com/office/drawing/2014/main" xmlns=""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dirty="0" smtClean="0"/>
              <a:t>Run Spiffy dump tool and existing dump tools on corrupt images</a:t>
            </a:r>
          </a:p>
          <a:p>
            <a:pPr lvl="1"/>
            <a:r>
              <a:rPr lang="en-CA" dirty="0" smtClean="0"/>
              <a:t>Corrupt images generated by type-specific corruptor</a:t>
            </a:r>
          </a:p>
          <a:p>
            <a:r>
              <a:rPr lang="en-CA" dirty="0" smtClean="0"/>
              <a:t>Spiffy is robust against corruption, </a:t>
            </a:r>
            <a:r>
              <a:rPr lang="en-CA" dirty="0" smtClean="0"/>
              <a:t>found crashes on existing tools</a:t>
            </a:r>
            <a:endParaRPr lang="en-CA" dirty="0" smtClean="0"/>
          </a:p>
          <a:p>
            <a:endParaRPr lang="en-CA" dirty="0" smtClean="0"/>
          </a:p>
          <a:p>
            <a:endParaRPr lang="en-CA" dirty="0" smtClean="0"/>
          </a:p>
          <a:p>
            <a:endParaRPr lang="en-CA" dirty="0" smtClean="0"/>
          </a:p>
          <a:p>
            <a:endParaRPr lang="en-CA" dirty="0"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44</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a16="http://schemas.microsoft.com/office/drawing/2014/main" xmlns="" val="20000"/>
                    </a:ext>
                  </a:extLst>
                </a:gridCol>
                <a:gridCol w="1357460">
                  <a:extLst>
                    <a:ext uri="{9D8B030D-6E8A-4147-A177-3AD203B41FA5}">
                      <a16:colId xmlns:a16="http://schemas.microsoft.com/office/drawing/2014/main" xmlns="" val="20001"/>
                    </a:ext>
                  </a:extLst>
                </a:gridCol>
                <a:gridCol w="2375554">
                  <a:extLst>
                    <a:ext uri="{9D8B030D-6E8A-4147-A177-3AD203B41FA5}">
                      <a16:colId xmlns:a16="http://schemas.microsoft.com/office/drawing/2014/main" xmlns="" val="20002"/>
                    </a:ext>
                  </a:extLst>
                </a:gridCol>
                <a:gridCol w="5165889">
                  <a:extLst>
                    <a:ext uri="{9D8B030D-6E8A-4147-A177-3AD203B41FA5}">
                      <a16:colId xmlns:a16="http://schemas.microsoft.com/office/drawing/2014/main" xmlns=""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a16="http://schemas.microsoft.com/office/drawing/2014/main" xmlns=""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a16="http://schemas.microsoft.com/office/drawing/2014/main" xmlns=""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a16="http://schemas.microsoft.com/office/drawing/2014/main" xmlns=""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a16="http://schemas.microsoft.com/office/drawing/2014/main" xmlns=""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a16="http://schemas.microsoft.com/office/drawing/2014/main" xmlns=""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a16="http://schemas.microsoft.com/office/drawing/2014/main" xmlns=""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45</a:t>
            </a:fld>
            <a:endParaRPr lang="en-CA" dirty="0"/>
          </a:p>
        </p:txBody>
      </p:sp>
      <p:grpSp>
        <p:nvGrpSpPr>
          <p:cNvPr id="9" name="Group 8"/>
          <p:cNvGrpSpPr/>
          <p:nvPr/>
        </p:nvGrpSpPr>
        <p:grpSpPr>
          <a:xfrm>
            <a:off x="1741437" y="21978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FSSUPER Annotation</a:t>
            </a:r>
            <a:endParaRPr lang="en-CA" dirty="0"/>
          </a:p>
        </p:txBody>
      </p:sp>
      <p:sp>
        <p:nvSpPr>
          <p:cNvPr id="3" name="Content Placeholder 2"/>
          <p:cNvSpPr>
            <a:spLocks noGrp="1"/>
          </p:cNvSpPr>
          <p:nvPr>
            <p:ph idx="1"/>
          </p:nvPr>
        </p:nvSpPr>
        <p:spPr>
          <a:xfrm>
            <a:off x="684211" y="1515358"/>
            <a:ext cx="10285797" cy="1589349"/>
          </a:xfrm>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 </a:t>
            </a:r>
            <a:r>
              <a:rPr lang="en-CA" dirty="0" smtClean="0"/>
              <a:t>argument specifies </a:t>
            </a:r>
            <a:r>
              <a:rPr lang="en-CA" dirty="0"/>
              <a:t>address in byte offset</a:t>
            </a:r>
          </a:p>
        </p:txBody>
      </p:sp>
      <p:sp>
        <p:nvSpPr>
          <p:cNvPr id="4" name="Slide Number Placeholder 3"/>
          <p:cNvSpPr>
            <a:spLocks noGrp="1"/>
          </p:cNvSpPr>
          <p:nvPr>
            <p:ph type="sldNum" sz="quarter" idx="12"/>
          </p:nvPr>
        </p:nvSpPr>
        <p:spPr/>
        <p:txBody>
          <a:bodyPr/>
          <a:lstStyle/>
          <a:p>
            <a:fld id="{7B2023C8-B124-43A9-8F92-0EEF5BAA9995}" type="slidenum">
              <a:rPr lang="en-CA" smtClean="0"/>
              <a:pPr/>
              <a:t>46</a:t>
            </a:fld>
            <a:endParaRPr lang="en-CA" dirty="0"/>
          </a:p>
        </p:txBody>
      </p:sp>
      <p:sp>
        <p:nvSpPr>
          <p:cNvPr id="6" name="Rectangle 5"/>
          <p:cNvSpPr/>
          <p:nvPr/>
        </p:nvSpPr>
        <p:spPr>
          <a:xfrm>
            <a:off x="950024" y="3027765"/>
            <a:ext cx="6641621" cy="1754326"/>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(location=1024)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p>
          <a:p>
            <a:r>
              <a:rPr lang="fr-FR" dirty="0" smtClean="0">
                <a:solidFill>
                  <a:schemeClr val="bg1"/>
                </a:solidFill>
                <a:latin typeface="Courier New" panose="02070309020205020404" pitchFamily="49" charset="0"/>
                <a:cs typeface="Courier New" panose="02070309020205020404" pitchFamily="49" charset="0"/>
              </a:rPr>
              <a:t>  </a:t>
            </a:r>
            <a:r>
              <a:rPr lang="fr-FR" b="1" dirty="0" smtClean="0">
                <a:solidFill>
                  <a:schemeClr val="bg1"/>
                </a:solidFill>
                <a:latin typeface="Courier New" panose="02070309020205020404" pitchFamily="49" charset="0"/>
                <a:cs typeface="Courier New" panose="02070309020205020404" pitchFamily="49" charset="0"/>
              </a:rPr>
              <a:t>POINTER</a:t>
            </a:r>
            <a:r>
              <a:rPr lang="fr-FR" dirty="0" smtClean="0">
                <a:solidFill>
                  <a:schemeClr val="bg1"/>
                </a:solidFill>
                <a:latin typeface="Courier New" panose="02070309020205020404" pitchFamily="49" charset="0"/>
                <a:cs typeface="Courier New" panose="02070309020205020404" pitchFamily="49" charset="0"/>
              </a:rPr>
              <a:t>(</a:t>
            </a:r>
            <a:r>
              <a:rPr lang="fr-FR" dirty="0" err="1" smtClean="0">
                <a:solidFill>
                  <a:schemeClr val="bg1"/>
                </a:solidFill>
                <a:latin typeface="Courier New" panose="02070309020205020404" pitchFamily="49" charset="0"/>
                <a:cs typeface="Courier New" panose="02070309020205020404" pitchFamily="49" charset="0"/>
              </a:rPr>
              <a:t>addrspace</a:t>
            </a:r>
            <a:r>
              <a:rPr lang="fr-FR" dirty="0" smtClean="0">
                <a:solidFill>
                  <a:schemeClr val="bg1"/>
                </a:solidFill>
                <a:latin typeface="Courier New" panose="02070309020205020404" pitchFamily="49" charset="0"/>
                <a:cs typeface="Courier New" panose="02070309020205020404" pitchFamily="49" charset="0"/>
              </a:rPr>
              <a:t>=file</a:t>
            </a:r>
            <a:r>
              <a:rPr lang="fr-FR" dirty="0">
                <a:solidFill>
                  <a:schemeClr val="bg1"/>
                </a:solidFill>
                <a:latin typeface="Courier New" panose="02070309020205020404" pitchFamily="49" charset="0"/>
                <a:cs typeface="Courier New" panose="02070309020205020404" pitchFamily="49" charset="0"/>
              </a:rPr>
              <a:t>, type=ext4_journal)</a:t>
            </a:r>
          </a:p>
          <a:p>
            <a:r>
              <a:rPr lang="fr-FR" dirty="0" smtClean="0">
                <a:solidFill>
                  <a:schemeClr val="bg1"/>
                </a:solidFill>
                <a:latin typeface="Courier New" panose="02070309020205020404" pitchFamily="49" charset="0"/>
                <a:cs typeface="Courier New" panose="02070309020205020404" pitchFamily="49" charset="0"/>
              </a:rPr>
              <a:t>  __</a:t>
            </a:r>
            <a:r>
              <a:rPr lang="fr-FR" dirty="0">
                <a:solidFill>
                  <a:schemeClr val="bg1"/>
                </a:solidFill>
                <a:latin typeface="Courier New" panose="02070309020205020404" pitchFamily="49" charset="0"/>
                <a:cs typeface="Courier New" panose="02070309020205020404" pitchFamily="49" charset="0"/>
              </a:rPr>
              <a:t>le32 </a:t>
            </a:r>
            <a:r>
              <a:rPr lang="fr-FR" dirty="0" err="1">
                <a:solidFill>
                  <a:schemeClr val="bg1"/>
                </a:solidFill>
                <a:latin typeface="Courier New" panose="02070309020205020404" pitchFamily="49" charset="0"/>
                <a:cs typeface="Courier New" panose="02070309020205020404" pitchFamily="49" charset="0"/>
              </a:rPr>
              <a:t>s_journal_inum</a:t>
            </a:r>
            <a:r>
              <a:rPr lang="fr-FR" dirty="0">
                <a:solidFill>
                  <a:schemeClr val="bg1"/>
                </a:solidFill>
                <a:latin typeface="Courier New" panose="02070309020205020404" pitchFamily="49" charset="0"/>
                <a:cs typeface="Courier New" panose="02070309020205020404" pitchFamily="49" charset="0"/>
              </a:rPr>
              <a:t>;</a:t>
            </a:r>
            <a:endParaRPr lang="en-CA" dirty="0" smtClean="0">
              <a:solidFill>
                <a:schemeClr val="bg1"/>
              </a:solidFill>
              <a:latin typeface="Courier New" panose="02070309020205020404" pitchFamily="49" charset="0"/>
              <a:cs typeface="Courier New" panose="02070309020205020404" pitchFamily="49" charset="0"/>
            </a:endParaRP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3" name="Rectangle 12"/>
          <p:cNvSpPr/>
          <p:nvPr/>
        </p:nvSpPr>
        <p:spPr>
          <a:xfrm>
            <a:off x="5188490" y="4640965"/>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5269568" y="4706134"/>
            <a:ext cx="844247" cy="5335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supzer</a:t>
            </a:r>
            <a:r>
              <a:rPr lang="en-US" sz="1600" dirty="0" smtClean="0">
                <a:solidFill>
                  <a:schemeClr val="bg1"/>
                </a:solidFill>
              </a:rPr>
              <a:t> block</a:t>
            </a:r>
            <a:endParaRPr lang="en-US" sz="1600" dirty="0">
              <a:solidFill>
                <a:schemeClr val="bg1"/>
              </a:solidFill>
            </a:endParaRPr>
          </a:p>
        </p:txBody>
      </p:sp>
      <p:sp>
        <p:nvSpPr>
          <p:cNvPr id="16" name="Rectangle 15"/>
          <p:cNvSpPr/>
          <p:nvPr/>
        </p:nvSpPr>
        <p:spPr>
          <a:xfrm>
            <a:off x="7315660" y="4640965"/>
            <a:ext cx="2604519"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17" name="Rectangle 16"/>
          <p:cNvSpPr/>
          <p:nvPr/>
        </p:nvSpPr>
        <p:spPr>
          <a:xfrm>
            <a:off x="7387065" y="4706134"/>
            <a:ext cx="1386836" cy="32913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cxnSp>
        <p:nvCxnSpPr>
          <p:cNvPr id="18" name="Straight Arrow Connector 17"/>
          <p:cNvCxnSpPr>
            <a:stCxn id="13" idx="3"/>
            <a:endCxn id="16" idx="1"/>
          </p:cNvCxnSpPr>
          <p:nvPr/>
        </p:nvCxnSpPr>
        <p:spPr>
          <a:xfrm>
            <a:off x="6194893" y="5064606"/>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219436" y="4640965"/>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spTree>
    <p:extLst>
      <p:ext uri="{BB962C8B-B14F-4D97-AF65-F5344CB8AC3E}">
        <p14:creationId xmlns:p14="http://schemas.microsoft.com/office/powerpoint/2010/main" val="660069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F2FS NID Address Space</a:t>
            </a:r>
            <a:endParaRPr lang="en-CA" dirty="0"/>
          </a:p>
        </p:txBody>
      </p:sp>
      <p:sp>
        <p:nvSpPr>
          <p:cNvPr id="3" name="Content Placeholder 2"/>
          <p:cNvSpPr>
            <a:spLocks noGrp="1"/>
          </p:cNvSpPr>
          <p:nvPr>
            <p:ph idx="1"/>
          </p:nvPr>
        </p:nvSpPr>
        <p:spPr/>
        <p:txBody>
          <a:bodyPr/>
          <a:lstStyle/>
          <a:p>
            <a:r>
              <a:rPr lang="en-CA" dirty="0"/>
              <a:t>NID address is an index </a:t>
            </a:r>
            <a:r>
              <a:rPr lang="en-CA" dirty="0" smtClean="0"/>
              <a:t>into the </a:t>
            </a:r>
            <a:r>
              <a:rPr lang="en-CA" dirty="0"/>
              <a:t>node address table for an </a:t>
            </a:r>
            <a:r>
              <a:rPr lang="en-CA" dirty="0" smtClean="0"/>
              <a:t/>
            </a:r>
            <a:br>
              <a:rPr lang="en-CA" dirty="0" smtClean="0"/>
            </a:br>
            <a:r>
              <a:rPr lang="en-CA" dirty="0" smtClean="0"/>
              <a:t>F2FS </a:t>
            </a:r>
            <a:r>
              <a:rPr lang="en-CA" dirty="0"/>
              <a:t>metadata </a:t>
            </a:r>
            <a:r>
              <a:rPr lang="en-CA" dirty="0" smtClean="0"/>
              <a:t>block</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47</a:t>
            </a:fld>
            <a:endParaRPr lang="en-CA" dirty="0"/>
          </a:p>
        </p:txBody>
      </p:sp>
    </p:spTree>
    <p:extLst>
      <p:ext uri="{BB962C8B-B14F-4D97-AF65-F5344CB8AC3E}">
        <p14:creationId xmlns:p14="http://schemas.microsoft.com/office/powerpoint/2010/main" val="228428297"/>
      </p:ext>
    </p:extLst>
  </p:cSld>
  <p:clrMapOvr>
    <a:masterClrMapping/>
  </p:clrMapOvr>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4534</TotalTime>
  <Words>6403</Words>
  <Application>Microsoft Office PowerPoint</Application>
  <PresentationFormat>Widescreen</PresentationFormat>
  <Paragraphs>852</Paragraphs>
  <Slides>47</Slides>
  <Notes>40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微軟正黑體</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Missing Pointer</vt:lpstr>
      <vt:lpstr>Implicit Pointer</vt:lpstr>
      <vt:lpstr>Context-Sensitive Types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Applications</vt:lpstr>
      <vt:lpstr>Type-Specific File System Corruptor</vt:lpstr>
      <vt:lpstr>File System Conversion Tool</vt:lpstr>
      <vt:lpstr>Evaluation: Ext4 to F2FS Converter</vt:lpstr>
      <vt:lpstr>File-system Aware Block Layer Cache</vt:lpstr>
      <vt:lpstr>Conclusion</vt:lpstr>
      <vt:lpstr>Spiffy: Enabling File-System Aware Storage Applications </vt:lpstr>
      <vt:lpstr>Spiffy API (C++)</vt:lpstr>
      <vt:lpstr>File-System Agnostic Traversal</vt:lpstr>
      <vt:lpstr>File-System Agnostic Traversal</vt:lpstr>
      <vt:lpstr>File-System Agnostic Traversal</vt:lpstr>
      <vt:lpstr>File-System Agnostic Traversal</vt:lpstr>
      <vt:lpstr>Evaluation: Programming Effort</vt:lpstr>
      <vt:lpstr>Evaluation: Corruption Experiment</vt:lpstr>
      <vt:lpstr>Evaluation: Preferential Caching</vt:lpstr>
      <vt:lpstr>FSSUPER Annotation</vt:lpstr>
      <vt:lpstr>F2FS NID Address Space</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422</cp:revision>
  <dcterms:created xsi:type="dcterms:W3CDTF">2018-01-30T09:02:25Z</dcterms:created>
  <dcterms:modified xsi:type="dcterms:W3CDTF">2018-02-13T22:31:33Z</dcterms:modified>
</cp:coreProperties>
</file>