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2"/>
  </p:notesMasterIdLst>
  <p:sldIdLst>
    <p:sldId id="256" r:id="rId2"/>
    <p:sldId id="288" r:id="rId3"/>
    <p:sldId id="290" r:id="rId4"/>
    <p:sldId id="289" r:id="rId5"/>
    <p:sldId id="291" r:id="rId6"/>
    <p:sldId id="309" r:id="rId7"/>
    <p:sldId id="293" r:id="rId8"/>
    <p:sldId id="294" r:id="rId9"/>
    <p:sldId id="295" r:id="rId10"/>
    <p:sldId id="301" r:id="rId11"/>
    <p:sldId id="308" r:id="rId12"/>
    <p:sldId id="298" r:id="rId13"/>
    <p:sldId id="310" r:id="rId14"/>
    <p:sldId id="300" r:id="rId15"/>
    <p:sldId id="302" r:id="rId16"/>
    <p:sldId id="311" r:id="rId17"/>
    <p:sldId id="283" r:id="rId18"/>
    <p:sldId id="306" r:id="rId19"/>
    <p:sldId id="271" r:id="rId20"/>
    <p:sldId id="268" r:id="rId21"/>
    <p:sldId id="312" r:id="rId22"/>
    <p:sldId id="267" r:id="rId23"/>
    <p:sldId id="279" r:id="rId24"/>
    <p:sldId id="280" r:id="rId25"/>
    <p:sldId id="259" r:id="rId26"/>
    <p:sldId id="281" r:id="rId27"/>
    <p:sldId id="258" r:id="rId28"/>
    <p:sldId id="261" r:id="rId29"/>
    <p:sldId id="260" r:id="rId30"/>
    <p:sldId id="297"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3" autoAdjust="0"/>
  </p:normalViewPr>
  <p:slideViewPr>
    <p:cSldViewPr snapToGrid="0">
      <p:cViewPr varScale="1">
        <p:scale>
          <a:sx n="82" d="100"/>
          <a:sy n="82" d="100"/>
        </p:scale>
        <p:origin x="159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home\fishy\Documents\Research\fast-2018\caching-result-stacked.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081345459931567"/>
          <c:y val="0.34872429032580282"/>
          <c:w val="0.53727052517588814"/>
          <c:h val="0.35818741914426733"/>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ser>
        <c:ser>
          <c:idx val="1"/>
          <c:order val="1"/>
          <c:tx>
            <c:strRef>
              <c:f>Sheet1!$C$1</c:f>
              <c:strCache>
                <c:ptCount val="1"/>
                <c:pt idx="0">
                  <c:v>Manual Converter</c:v>
                </c:pt>
              </c:strCache>
            </c:strRef>
          </c:tx>
          <c:spPr>
            <a:ln w="28575" cap="rnd">
              <a:solidFill>
                <a:schemeClr val="accent4"/>
              </a:solidFill>
              <a:prstDash val="solid"/>
              <a:round/>
            </a:ln>
            <a:effectLst/>
          </c:spPr>
          <c:marker>
            <c:symbol val="circle"/>
            <c:size val="6"/>
            <c:spPr>
              <a:solidFill>
                <a:schemeClr val="accent4"/>
              </a:solidFill>
              <a:ln w="9525">
                <a:solidFill>
                  <a:schemeClr val="accent4"/>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General</c:formatCode>
                <c:ptCount val="4"/>
                <c:pt idx="0">
                  <c:v>6.55</c:v>
                </c:pt>
                <c:pt idx="1">
                  <c:v>3.46</c:v>
                </c:pt>
                <c:pt idx="2">
                  <c:v>3.29</c:v>
                </c:pt>
                <c:pt idx="3">
                  <c:v>3.25</c:v>
                </c:pt>
              </c:numCache>
            </c:numRef>
          </c:val>
          <c:smooth val="0"/>
        </c:ser>
        <c:ser>
          <c:idx val="2"/>
          <c:order val="2"/>
          <c:tx>
            <c:strRef>
              <c:f>Sheet1!$D$1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Sheet1!$D$2:$D$5</c:f>
              <c:numCache>
                <c:formatCode>0.00</c:formatCode>
                <c:ptCount val="4"/>
                <c:pt idx="0">
                  <c:v>7.03</c:v>
                </c:pt>
                <c:pt idx="1">
                  <c:v>4.01</c:v>
                </c:pt>
                <c:pt idx="2">
                  <c:v>3.84</c:v>
                </c:pt>
                <c:pt idx="3">
                  <c:v>3.71</c:v>
                </c:pt>
              </c:numCache>
            </c:numRef>
          </c:val>
          <c:smooth val="0"/>
        </c:ser>
        <c:dLbls>
          <c:showLegendKey val="0"/>
          <c:showVal val="0"/>
          <c:showCatName val="0"/>
          <c:showSerName val="0"/>
          <c:showPercent val="0"/>
          <c:showBubbleSize val="0"/>
        </c:dLbls>
        <c:marker val="1"/>
        <c:smooth val="0"/>
        <c:axId val="324189616"/>
        <c:axId val="648331504"/>
      </c:lineChart>
      <c:catAx>
        <c:axId val="324189616"/>
        <c:scaling>
          <c:orientation val="minMax"/>
        </c:scaling>
        <c:delete val="0"/>
        <c:axPos val="b"/>
        <c:title>
          <c:tx>
            <c:rich>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US" dirty="0"/>
                  <a:t># of </a:t>
                </a:r>
                <a:r>
                  <a:rPr lang="en-US" dirty="0" smtClean="0"/>
                  <a:t>files</a:t>
                </a:r>
                <a:endParaRPr lang="en-US" dirty="0"/>
              </a:p>
            </c:rich>
          </c:tx>
          <c:layout>
            <c:manualLayout>
              <c:xMode val="edge"/>
              <c:yMode val="edge"/>
              <c:x val="0.62584479240826973"/>
              <c:y val="0.72818252638233838"/>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648331504"/>
        <c:crosses val="autoZero"/>
        <c:auto val="0"/>
        <c:lblAlgn val="ctr"/>
        <c:lblOffset val="100"/>
        <c:noMultiLvlLbl val="0"/>
      </c:catAx>
      <c:valAx>
        <c:axId val="648331504"/>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CA"/>
                  <a:t>seconds</a:t>
                </a:r>
              </a:p>
            </c:rich>
          </c:tx>
          <c:layout/>
          <c:overlay val="0"/>
          <c:spPr>
            <a:noFill/>
            <a:ln>
              <a:noFill/>
            </a:ln>
            <a:effectLst/>
          </c:spPr>
          <c:txPr>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324189616"/>
        <c:crosses val="autoZero"/>
        <c:crossBetween val="between"/>
      </c:valAx>
      <c:spPr>
        <a:solidFill>
          <a:schemeClr val="tx1"/>
        </a:solidFill>
        <a:ln>
          <a:solidFill>
            <a:schemeClr val="tx1">
              <a:lumMod val="50000"/>
            </a:schemeClr>
          </a:solidFill>
        </a:ln>
        <a:effectLst/>
      </c:spPr>
    </c:plotArea>
    <c:legend>
      <c:legendPos val="r"/>
      <c:layout>
        <c:manualLayout>
          <c:xMode val="edge"/>
          <c:yMode val="edge"/>
          <c:x val="0.66858475960888031"/>
          <c:y val="0.33360445625224705"/>
          <c:w val="0.32208596280409679"/>
          <c:h val="0.37050324825699893"/>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61083692839279813"/>
          <c:y val="5.1192544430694563E-2"/>
          <c:w val="0.33184206060008237"/>
          <c:h val="0.72176687201094358"/>
        </c:manualLayout>
      </c:layout>
      <c:barChart>
        <c:barDir val="bar"/>
        <c:grouping val="stacked"/>
        <c:varyColors val="0"/>
        <c:ser>
          <c:idx val="0"/>
          <c:order val="0"/>
          <c:tx>
            <c:strRef>
              <c:f>Sheet1!$C$1</c:f>
              <c:strCache>
                <c:ptCount val="1"/>
                <c:pt idx="0">
                  <c:v>Fileserver A</c:v>
                </c:pt>
              </c:strCache>
            </c:strRef>
          </c:tx>
          <c:spPr>
            <a:solidFill>
              <a:schemeClr val="accent5">
                <a:lumMod val="40000"/>
                <a:lumOff val="60000"/>
              </a:schemeClr>
            </a:solidFill>
            <a:ln>
              <a:solidFill>
                <a:schemeClr val="bg1"/>
              </a:solidFill>
            </a:ln>
            <a:effectLst/>
          </c:spPr>
          <c:invertIfNegative val="0"/>
          <c:errBars>
            <c:errBarType val="both"/>
            <c:errValType val="cust"/>
            <c:noEndCap val="0"/>
            <c:pl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plus>
            <c:min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Sheet1!$C$2:$C$8</c:f>
              <c:numCache>
                <c:formatCode>General</c:formatCode>
                <c:ptCount val="7"/>
                <c:pt idx="0">
                  <c:v>1904.855278</c:v>
                </c:pt>
                <c:pt idx="1">
                  <c:v>1227.2180559999999</c:v>
                </c:pt>
                <c:pt idx="2">
                  <c:v>2831.1577779999998</c:v>
                </c:pt>
                <c:pt idx="4">
                  <c:v>1472.7113890000001</c:v>
                </c:pt>
                <c:pt idx="5">
                  <c:v>941.54666669999995</c:v>
                </c:pt>
                <c:pt idx="6">
                  <c:v>2555.018333</c:v>
                </c:pt>
              </c:numCache>
            </c:numRef>
          </c:val>
          <c:extLst xmlns:c16r2="http://schemas.microsoft.com/office/drawing/2015/06/chart">
            <c:ext xmlns:c16="http://schemas.microsoft.com/office/drawing/2014/chart" uri="{C3380CC4-5D6E-409C-BE32-E72D297353CC}">
              <c16:uniqueId val="{00000000-23D3-4E46-9757-6E0B39AF495B}"/>
            </c:ext>
          </c:extLst>
        </c:ser>
        <c:ser>
          <c:idx val="1"/>
          <c:order val="1"/>
          <c:tx>
            <c:strRef>
              <c:f>Sheet1!$D$1</c:f>
              <c:strCache>
                <c:ptCount val="1"/>
                <c:pt idx="0">
                  <c:v>Fileserver B</c:v>
                </c:pt>
              </c:strCache>
            </c:strRef>
          </c:tx>
          <c:spPr>
            <a:solidFill>
              <a:schemeClr val="accent3"/>
            </a:solidFill>
            <a:ln>
              <a:solidFill>
                <a:schemeClr val="bg1"/>
              </a:solidFill>
            </a:ln>
            <a:effectLst/>
          </c:spPr>
          <c:invertIfNegative val="0"/>
          <c:errBars>
            <c:errBarType val="both"/>
            <c:errValType val="cust"/>
            <c:noEndCap val="0"/>
            <c:plus>
              <c:numRef>
                <c:f>Sheet1!$I$2:$I$8</c:f>
                <c:numCache>
                  <c:formatCode>General</c:formatCode>
                  <c:ptCount val="7"/>
                  <c:pt idx="0">
                    <c:v>46.519010110000004</c:v>
                  </c:pt>
                  <c:pt idx="1">
                    <c:v>46.575578360000002</c:v>
                  </c:pt>
                  <c:pt idx="2">
                    <c:v>0</c:v>
                  </c:pt>
                  <c:pt idx="4">
                    <c:v>25.918389650000002</c:v>
                  </c:pt>
                  <c:pt idx="5">
                    <c:v>56.659710339999997</c:v>
                  </c:pt>
                  <c:pt idx="6">
                    <c:v>0</c:v>
                  </c:pt>
                </c:numCache>
              </c:numRef>
            </c:plus>
            <c:minus>
              <c:numRef>
                <c:f>Sheet1!$I$2:$I$8</c:f>
                <c:numCache>
                  <c:formatCode>General</c:formatCode>
                  <c:ptCount val="7"/>
                  <c:pt idx="0">
                    <c:v>46.519010110000004</c:v>
                  </c:pt>
                  <c:pt idx="1">
                    <c:v>46.575578360000002</c:v>
                  </c:pt>
                  <c:pt idx="2">
                    <c:v>0</c:v>
                  </c:pt>
                  <c:pt idx="4">
                    <c:v>25.918389650000002</c:v>
                  </c:pt>
                  <c:pt idx="5">
                    <c:v>56.659710339999997</c:v>
                  </c:pt>
                  <c:pt idx="6">
                    <c:v>0</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Sheet1!$D$2:$D$8</c:f>
              <c:numCache>
                <c:formatCode>General</c:formatCode>
                <c:ptCount val="7"/>
                <c:pt idx="0">
                  <c:v>893.80499999999995</c:v>
                </c:pt>
                <c:pt idx="1">
                  <c:v>1227.6741669999999</c:v>
                </c:pt>
                <c:pt idx="2">
                  <c:v>0</c:v>
                </c:pt>
                <c:pt idx="4">
                  <c:v>807.45833330000005</c:v>
                </c:pt>
                <c:pt idx="5">
                  <c:v>930.94916669999998</c:v>
                </c:pt>
                <c:pt idx="6">
                  <c:v>0</c:v>
                </c:pt>
              </c:numCache>
            </c:numRef>
          </c:val>
          <c:extLst xmlns:c16r2="http://schemas.microsoft.com/office/drawing/2015/06/chart">
            <c:ext xmlns:c16="http://schemas.microsoft.com/office/drawing/2014/chart" uri="{C3380CC4-5D6E-409C-BE32-E72D297353CC}">
              <c16:uniqueId val="{00000001-23D3-4E46-9757-6E0B39AF495B}"/>
            </c:ext>
          </c:extLst>
        </c:ser>
        <c:dLbls>
          <c:showLegendKey val="0"/>
          <c:showVal val="0"/>
          <c:showCatName val="0"/>
          <c:showSerName val="0"/>
          <c:showPercent val="0"/>
          <c:showBubbleSize val="0"/>
        </c:dLbls>
        <c:gapWidth val="20"/>
        <c:overlap val="100"/>
        <c:axId val="648325520"/>
        <c:axId val="648324976"/>
      </c:barChart>
      <c:catAx>
        <c:axId val="648325520"/>
        <c:scaling>
          <c:orientation val="minMax"/>
        </c:scaling>
        <c:delete val="0"/>
        <c:axPos val="l"/>
        <c:numFmt formatCode="General" sourceLinked="1"/>
        <c:majorTickMark val="none"/>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648324976"/>
        <c:crosses val="autoZero"/>
        <c:auto val="1"/>
        <c:lblAlgn val="ctr"/>
        <c:lblOffset val="100"/>
        <c:noMultiLvlLbl val="1"/>
      </c:catAx>
      <c:valAx>
        <c:axId val="648324976"/>
        <c:scaling>
          <c:orientation val="minMax"/>
          <c:max val="3000"/>
        </c:scaling>
        <c:delete val="0"/>
        <c:axPos val="b"/>
        <c:majorGridlines>
          <c:spPr>
            <a:ln w="9525" cap="flat" cmpd="sng" algn="ctr">
              <a:solidFill>
                <a:schemeClr val="bg1"/>
              </a:solidFill>
              <a:round/>
            </a:ln>
            <a:effectLst/>
          </c:spPr>
        </c:majorGridlines>
        <c:title>
          <c:tx>
            <c:rich>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r>
                  <a:rPr lang="en-US"/>
                  <a:t>ops/s</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title>
        <c:numFmt formatCode="General" sourceLinked="1"/>
        <c:majorTickMark val="none"/>
        <c:minorTickMark val="out"/>
        <c:tickLblPos val="nextTo"/>
        <c:spPr>
          <a:noFill/>
          <a:ln>
            <a:solidFill>
              <a:schemeClr val="accent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648325520"/>
        <c:crosses val="autoZero"/>
        <c:crossBetween val="between"/>
        <c:majorUnit val="1000"/>
        <c:minorUnit val="500"/>
      </c:valAx>
      <c:spPr>
        <a:noFill/>
        <a:ln>
          <a:solidFill>
            <a:schemeClr val="bg1"/>
          </a:solidFill>
        </a:ln>
        <a:effectLst/>
      </c:spPr>
    </c:plotArea>
    <c:legend>
      <c:legendPos val="b"/>
      <c:layout>
        <c:manualLayout>
          <c:xMode val="edge"/>
          <c:yMode val="edge"/>
          <c:x val="0.14225519748408696"/>
          <c:y val="0.85034517406747667"/>
          <c:w val="0.39392809687657754"/>
          <c:h val="8.9154546150793379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4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68C5AD-71DD-4EC0-A413-C51DC95DD2ED}" type="datetimeFigureOut">
              <a:rPr lang="en-CA" smtClean="0"/>
              <a:t>2018-02-08</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5BF96-4013-477F-9949-176AD53AFF60}" type="slidenum">
              <a:rPr lang="en-CA" smtClean="0"/>
              <a:t>‹#›</a:t>
            </a:fld>
            <a:endParaRPr lang="en-CA"/>
          </a:p>
        </p:txBody>
      </p:sp>
    </p:spTree>
    <p:extLst>
      <p:ext uri="{BB962C8B-B14F-4D97-AF65-F5344CB8AC3E}">
        <p14:creationId xmlns:p14="http://schemas.microsoft.com/office/powerpoint/2010/main" val="276522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Hello, my name is Jack,</a:t>
            </a:r>
            <a:r>
              <a:rPr lang="en-CA" baseline="0" dirty="0" smtClean="0"/>
              <a:t> and today, I’ll be talking to you about our work at the University of Toronto, titled Spiffy, enabling file system aware storage applications.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a:t>
            </a:fld>
            <a:endParaRPr lang="en-CA"/>
          </a:p>
        </p:txBody>
      </p:sp>
    </p:spTree>
    <p:extLst>
      <p:ext uri="{BB962C8B-B14F-4D97-AF65-F5344CB8AC3E}">
        <p14:creationId xmlns:p14="http://schemas.microsoft.com/office/powerpoint/2010/main" val="2871642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of applications that work with file system metadata, such as partition editor, file system</a:t>
            </a:r>
            <a:r>
              <a:rPr lang="en-CA" baseline="0" dirty="0" smtClean="0"/>
              <a:t> checker, and defragmentation tools. These applications, which we call file-system aware applications, o</a:t>
            </a:r>
            <a:r>
              <a:rPr lang="en-CA" dirty="0" smtClean="0"/>
              <a:t>perate directly on file system metadata structures on</a:t>
            </a:r>
            <a:r>
              <a:rPr lang="en-CA" baseline="0" dirty="0" smtClean="0"/>
              <a:t> disk and completely bypass the VFS layer. Therefore, writing file-system aware applications </a:t>
            </a:r>
            <a:r>
              <a:rPr lang="en-CA" sz="1200" b="0" i="0" u="none" strike="noStrike" kern="1200" baseline="0" dirty="0" smtClean="0">
                <a:solidFill>
                  <a:schemeClr val="tx1"/>
                </a:solidFill>
                <a:latin typeface="+mn-lt"/>
                <a:ea typeface="+mn-ea"/>
                <a:cs typeface="+mn-cs"/>
              </a:rPr>
              <a:t>requires a detailed understanding of the file system format, including the ability to identify and interpret file system structures. </a:t>
            </a:r>
            <a:r>
              <a:rPr lang="en-CA" sz="1200" b="0" i="0" u="none" strike="noStrike" kern="1200" baseline="0" dirty="0" smtClean="0">
                <a:solidFill>
                  <a:schemeClr val="tx1"/>
                </a:solidFill>
                <a:latin typeface="+mn-lt"/>
                <a:ea typeface="+mn-ea"/>
                <a:cs typeface="+mn-cs"/>
              </a:rPr>
              <a:t>These applications are essential for the successful deployment of a file system, since not </a:t>
            </a:r>
            <a:r>
              <a:rPr lang="en-CA" sz="1200" b="0" i="0" u="none" strike="noStrike" kern="1200" baseline="0" dirty="0" smtClean="0">
                <a:solidFill>
                  <a:schemeClr val="tx1"/>
                </a:solidFill>
                <a:latin typeface="+mn-lt"/>
                <a:ea typeface="+mn-ea"/>
                <a:cs typeface="+mn-cs"/>
              </a:rPr>
              <a:t>many people would want to use a file system that does not come with a file system </a:t>
            </a:r>
            <a:r>
              <a:rPr lang="en-CA" sz="1200" b="0" i="0" u="none" strike="noStrike" kern="1200" baseline="0" dirty="0" smtClean="0">
                <a:solidFill>
                  <a:schemeClr val="tx1"/>
                </a:solidFill>
                <a:latin typeface="+mn-lt"/>
                <a:ea typeface="+mn-ea"/>
                <a:cs typeface="+mn-cs"/>
              </a:rPr>
              <a:t>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017627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Currently, only file system</a:t>
            </a:r>
            <a:r>
              <a:rPr lang="en-CA" baseline="0" dirty="0" smtClean="0"/>
              <a:t> </a:t>
            </a:r>
            <a:r>
              <a:rPr lang="en-CA" dirty="0" smtClean="0"/>
              <a:t>experts develop these</a:t>
            </a:r>
            <a:r>
              <a:rPr lang="en-CA" baseline="0" dirty="0" smtClean="0"/>
              <a:t> tools, but even then, bugs still occur, and these bugs can lead to system crashes, data corruption, and security vulnerability. For example, there is a bug in </a:t>
            </a:r>
            <a:r>
              <a:rPr lang="en-CA" baseline="0" dirty="0" err="1" smtClean="0"/>
              <a:t>ntfsprogs</a:t>
            </a:r>
            <a:r>
              <a:rPr lang="en-CA" baseline="0" dirty="0" smtClean="0"/>
              <a:t> that was caused by misinterpreting the NTFS metadata. The size of an MFT record can be interpreted in two ways: if the value is positive, then the size is the number of clusters per record, otherwise it is two to the absolute value of the field. Not knowing this, </a:t>
            </a:r>
            <a:r>
              <a:rPr lang="en-CA" baseline="0" dirty="0" err="1" smtClean="0"/>
              <a:t>ntfsprogs</a:t>
            </a:r>
            <a:r>
              <a:rPr lang="en-CA" baseline="0" dirty="0" smtClean="0"/>
              <a:t> used to corrupt </a:t>
            </a:r>
            <a:r>
              <a:rPr lang="en-CA" baseline="0" dirty="0" smtClean="0"/>
              <a:t>file systems during partition </a:t>
            </a:r>
            <a:r>
              <a:rPr lang="en-CA" baseline="0" dirty="0" smtClean="0"/>
              <a:t>resizing.</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2384017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File system format is complex. Therefore, a</a:t>
            </a:r>
            <a:r>
              <a:rPr lang="en-CA" dirty="0" smtClean="0"/>
              <a:t>pplications require detailed knowledge </a:t>
            </a:r>
            <a:r>
              <a:rPr lang="en-CA" baseline="0" dirty="0" smtClean="0"/>
              <a:t>for processing file system metadata. In addition, they need to handle file system corruption in a robust manner.</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4228326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so that application developers can write fewer lines of file-system specific code, as well as having an easier time building applications that support multiple file systems. We also want to improve the robustness of these applications. This is done by enabling correct traversal of file system metadata, and ensuring type-safe access to file system metadata structures. Type-safe access helps with detecting corruption when reading metadata from disk, and also before writing metadata out to disk. This in turn helps reduce error propagation and further corruption from occurring.</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357026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introduce our</a:t>
            </a:r>
            <a:r>
              <a:rPr lang="en-CA" baseline="0" dirty="0" smtClean="0"/>
              <a:t> approach, the Spiffy framework, which aims to help developers with building file-system aware applications. The main idea is to have file system developers specify the format of their file system so that we can use it to generate a parsing and serialization library. Application developers can then use the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4110104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16066510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type-safe parsing and serialization, as well </a:t>
            </a:r>
            <a:r>
              <a:rPr lang="en-CA" baseline="0" dirty="0" smtClean="0"/>
              <a:t>as facility for traversing </a:t>
            </a:r>
            <a:r>
              <a:rPr lang="en-CA" baseline="0" dirty="0" smtClean="0"/>
              <a:t>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19366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a:t>
            </a:r>
            <a:r>
              <a:rPr lang="en-CA" baseline="0" dirty="0" smtClean="0"/>
              <a:t>Since the </a:t>
            </a:r>
            <a:r>
              <a:rPr lang="en-CA" baseline="0" dirty="0" smtClean="0"/>
              <a:t>Spiffy API is standardized for all annotated file systems, developers will have an easier time building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20607965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file-system applications. Now we will talk about each of the component in the Spiffy framework in more detail, followed by </a:t>
            </a:r>
            <a:r>
              <a:rPr lang="en-CA" baseline="0" dirty="0" smtClean="0"/>
              <a:t>an evaluation </a:t>
            </a:r>
            <a:r>
              <a:rPr lang="en-CA" baseline="0" dirty="0" smtClean="0"/>
              <a:t>for each of the component.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21402443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a:t>
            </a:r>
            <a:r>
              <a:rPr lang="en-CA" dirty="0" smtClean="0"/>
              <a:t>order</a:t>
            </a:r>
            <a:r>
              <a:rPr lang="en-CA" baseline="0" dirty="0" smtClean="0"/>
              <a:t> to generate the Spiffy library, we need a complete specification of the file system format. </a:t>
            </a:r>
            <a:r>
              <a:rPr lang="en-CA" dirty="0" smtClean="0"/>
              <a:t>Intuitively,</a:t>
            </a:r>
            <a:r>
              <a:rPr lang="en-CA" baseline="0" dirty="0" smtClean="0"/>
              <a:t> we want to extract the specification from the structure definition in existing source code. However, structure definitions for file system metadata does *not* completely describe their actual format on disk. For example, This is what you would typically see in the header file of a file system’s source code. </a:t>
            </a:r>
            <a:r>
              <a:rPr lang="en-CA" baseline="0" dirty="0" err="1" smtClean="0"/>
              <a:t>struct</a:t>
            </a:r>
            <a:r>
              <a:rPr lang="en-CA" baseline="0" dirty="0" smtClean="0"/>
              <a:t> foo has a block pointer that points to </a:t>
            </a:r>
            <a:r>
              <a:rPr lang="en-CA" baseline="0" dirty="0" err="1" smtClean="0"/>
              <a:t>struct</a:t>
            </a:r>
            <a:r>
              <a:rPr lang="en-CA" baseline="0" dirty="0" smtClean="0"/>
              <a:t> bar. However, we kind of deduced this information from the name of the field, and this is not good enough. Therefore, our solution is to annotate structure definitions for file system metadata so that we can unambiguously specify all of the missing information.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18988690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most important information that</a:t>
            </a:r>
            <a:r>
              <a:rPr lang="en-CA" baseline="0" dirty="0" smtClean="0"/>
              <a:t> we need to specify file system format is the ability to specify relationships between file system structures, and this is done through the POINTER annotation. POINTER annotation specifies that a field in a metadata structure holds an address to a location on disk. However, unlike an in-memory pointer which always refers to an in-memory address, interpreting an address for a file system may involve multiple layers of translation. For example, the Ext4 journal is stored on disk as a regular file. Therefore, finding the Ext4 journal involves reading its </a:t>
            </a:r>
            <a:r>
              <a:rPr lang="en-CA" baseline="0" dirty="0" err="1" smtClean="0"/>
              <a:t>inode</a:t>
            </a:r>
            <a:r>
              <a:rPr lang="en-CA" baseline="0" dirty="0" smtClean="0"/>
              <a:t> structure. To solve this problem, each pointer also has an associated address space to indicate how its address should be mapped to physical location.</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12</a:t>
            </a:fld>
            <a:endParaRPr lang="en-CA"/>
          </a:p>
        </p:txBody>
      </p:sp>
    </p:spTree>
    <p:extLst>
      <p:ext uri="{BB962C8B-B14F-4D97-AF65-F5344CB8AC3E}">
        <p14:creationId xmlns:p14="http://schemas.microsoft.com/office/powerpoint/2010/main" val="16790954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a:t>
            </a:r>
            <a:r>
              <a:rPr lang="en-CA" baseline="0" dirty="0" smtClean="0"/>
              <a:t>This </a:t>
            </a:r>
            <a:r>
              <a:rPr lang="en-CA" baseline="0" dirty="0" smtClean="0"/>
              <a:t>structure </a:t>
            </a:r>
            <a:r>
              <a:rPr lang="en-CA" baseline="0" dirty="0" smtClean="0"/>
              <a:t>is </a:t>
            </a:r>
            <a:r>
              <a:rPr lang="en-CA" baseline="0" dirty="0" smtClean="0"/>
              <a:t>annotated with FSSUPER to denote that it’s the super block for Ext4. Inside the annotation is a list of keyword arguments. The location argument specifies that the Ext4 super block is located a thousand and 24 bytes away from the start of the partition. In the first pointer annotation, we see that the address for </a:t>
            </a:r>
            <a:r>
              <a:rPr lang="en-CA" baseline="0" dirty="0" smtClean="0"/>
              <a:t>the ext4 </a:t>
            </a:r>
            <a:r>
              <a:rPr lang="en-CA" baseline="0" dirty="0" smtClean="0"/>
              <a:t>journal in </a:t>
            </a:r>
            <a:r>
              <a:rPr lang="en-CA" baseline="0" dirty="0" smtClean="0"/>
              <a:t>is the </a:t>
            </a:r>
            <a:r>
              <a:rPr lang="en-CA" baseline="0" dirty="0" smtClean="0"/>
              <a:t>file address </a:t>
            </a:r>
            <a:r>
              <a:rPr lang="en-CA" baseline="0" dirty="0" smtClean="0"/>
              <a:t>space like we just mentioned. </a:t>
            </a:r>
            <a:r>
              <a:rPr lang="en-CA" baseline="0" dirty="0" smtClean="0"/>
              <a:t>In the second annotation, we have an implicit block pointer which points to the block group descriptor table. The address of the descriptor table is calculated at runtime, depending on the block size of the file system. The self variable denotes the current structure, so expressions like this can reference other fields in the same structure.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41037089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Sometimes, however,</a:t>
            </a:r>
            <a:r>
              <a:rPr lang="en-CA" baseline="0" dirty="0" smtClean="0"/>
              <a:t> an expression in the </a:t>
            </a:r>
            <a:r>
              <a:rPr lang="en-CA" baseline="0" dirty="0" smtClean="0"/>
              <a:t>annotations </a:t>
            </a:r>
            <a:r>
              <a:rPr lang="en-CA" baseline="0" dirty="0" smtClean="0"/>
              <a:t>may require references to fields in a different structure. We call this cross-structure dependencies. For example, the size of an ext4 </a:t>
            </a:r>
            <a:r>
              <a:rPr lang="en-CA" baseline="0" dirty="0" err="1" smtClean="0"/>
              <a:t>inode</a:t>
            </a:r>
            <a:r>
              <a:rPr lang="en-CA" baseline="0" dirty="0" smtClean="0"/>
              <a:t> is stored in a field in the super block. Next, many file system metadata are context-sensitive. For example, pointers may point to different types of metadata. In the case of an </a:t>
            </a:r>
            <a:r>
              <a:rPr lang="en-CA" baseline="0" dirty="0" err="1" smtClean="0"/>
              <a:t>inode</a:t>
            </a:r>
            <a:r>
              <a:rPr lang="en-CA" baseline="0" dirty="0" smtClean="0"/>
              <a:t>, its pointers may point to directory </a:t>
            </a:r>
            <a:r>
              <a:rPr lang="en-CA" baseline="0" dirty="0" smtClean="0"/>
              <a:t>blocks, if the </a:t>
            </a:r>
            <a:r>
              <a:rPr lang="en-CA" baseline="0" dirty="0" err="1" smtClean="0"/>
              <a:t>inode</a:t>
            </a:r>
            <a:r>
              <a:rPr lang="en-CA" baseline="0" dirty="0" smtClean="0"/>
              <a:t> is a directory, otherwise they point to data </a:t>
            </a:r>
            <a:r>
              <a:rPr lang="en-CA" baseline="0" dirty="0" smtClean="0"/>
              <a:t>blocks. Similarly, some structures may have optional fields, such as an ext4 </a:t>
            </a:r>
            <a:r>
              <a:rPr lang="en-CA" baseline="0" dirty="0" err="1" smtClean="0"/>
              <a:t>inode</a:t>
            </a:r>
            <a:r>
              <a:rPr lang="en-CA" baseline="0" dirty="0" smtClean="0"/>
              <a:t>, which can store extended attributes if its size is greater than 128. Lastly, constraint checking is important to help with detecting </a:t>
            </a:r>
            <a:r>
              <a:rPr lang="en-CA" baseline="0" dirty="0" smtClean="0"/>
              <a:t>corruption in </a:t>
            </a:r>
            <a:r>
              <a:rPr lang="en-CA" baseline="0" dirty="0" smtClean="0"/>
              <a:t>metadata structures.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2259219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15</a:t>
            </a:fld>
            <a:endParaRPr lang="en-CA"/>
          </a:p>
        </p:txBody>
      </p:sp>
    </p:spTree>
    <p:extLst>
      <p:ext uri="{BB962C8B-B14F-4D97-AF65-F5344CB8AC3E}">
        <p14:creationId xmlns:p14="http://schemas.microsoft.com/office/powerpoint/2010/main" val="32926037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a:t>
            </a:r>
            <a:r>
              <a:rPr lang="en-CA" baseline="0" dirty="0" smtClean="0"/>
              <a:t> we show an example of the code that the Spiffy compiler generates from the annotations. On the right side, we have a fragment of the generated parsing code for the Ext4 super block. We currently generate a C++ class for every annotated class and its fields. This allows us to implement type-safe parsing and serialization, as shown in the example. The CHECK annotation, which supports constraints checking, contains expressions which is verified at </a:t>
            </a:r>
            <a:r>
              <a:rPr lang="en-CA" baseline="0" dirty="0" smtClean="0"/>
              <a:t>runtime during parsing and serialization, </a:t>
            </a:r>
            <a:r>
              <a:rPr lang="en-CA" baseline="0" dirty="0" smtClean="0"/>
              <a:t>to ensure that the metadata is type-safe.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16</a:t>
            </a:fld>
            <a:endParaRPr lang="en-CA"/>
          </a:p>
        </p:txBody>
      </p:sp>
    </p:spTree>
    <p:extLst>
      <p:ext uri="{BB962C8B-B14F-4D97-AF65-F5344CB8AC3E}">
        <p14:creationId xmlns:p14="http://schemas.microsoft.com/office/powerpoint/2010/main" val="6796354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In all cases, the annotation added to file system metadata definitions is approximately one forth of the total line count. We also needed to handle some special situations while annotating the file system. For example, some metadata structures are not explicitly declared, as is the case for Ext4 indirect blocks, which is just an array of pointers so the Ext4 developers decides to omit their definition. We sometimes also needed make some minor change the structure definition so that our annotation language can correctly annotate it. This does not affect the correctness of the specification or the format of the file system, but we do count the changes as part of the annotation effort.</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17</a:t>
            </a:fld>
            <a:endParaRPr lang="en-CA"/>
          </a:p>
        </p:txBody>
      </p:sp>
    </p:spTree>
    <p:extLst>
      <p:ext uri="{BB962C8B-B14F-4D97-AF65-F5344CB8AC3E}">
        <p14:creationId xmlns:p14="http://schemas.microsoft.com/office/powerpoint/2010/main" val="41748394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you an example of building a file-system</a:t>
            </a:r>
            <a:r>
              <a:rPr lang="en-CA" baseline="0" dirty="0" smtClean="0"/>
              <a:t> aware application: a free space display tool which plots a histogram of the sizes of free extents available in a file </a:t>
            </a:r>
            <a:r>
              <a:rPr lang="en-CA" baseline="0" dirty="0" smtClean="0"/>
              <a:t>system image. </a:t>
            </a:r>
            <a:r>
              <a:rPr lang="en-CA" baseline="0" dirty="0" smtClean="0"/>
              <a:t>First, we show how an application developer would go about building the tool manually, then we show how using Spiffy reduces programming effort. To manually build a free space tool, a developer must first study available documentation on the format of a file system to learn about its block allocation scheme. Then the developer would have to go through trial-and-error to write code that will locate the relevant metadata so that he or she can process them. In </a:t>
            </a:r>
            <a:r>
              <a:rPr lang="en-CA" baseline="0" dirty="0" err="1" smtClean="0"/>
              <a:t>constrast</a:t>
            </a:r>
            <a:r>
              <a:rPr lang="en-CA" baseline="0" dirty="0" smtClean="0"/>
              <a:t>, the Spiffy library provides the necessary traversal code so that the developer only needs to focus on writing code that processes the block allocation metadata.</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39557015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needs to traverse through the Ext4 file system to find the bitmaps that contain block allocation information. As you can see, there is a lot of boilerplate code that is needed.</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14051706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this </a:t>
            </a:r>
            <a:r>
              <a:rPr lang="en-CA" dirty="0" smtClean="0"/>
              <a:t>function </a:t>
            </a:r>
            <a:r>
              <a:rPr lang="en-CA" dirty="0" smtClean="0"/>
              <a:t>is already overwhelming</a:t>
            </a:r>
            <a:r>
              <a:rPr lang="en-CA" baseline="0" dirty="0" smtClean="0"/>
              <a:t> without any error checking code. Any error during </a:t>
            </a:r>
            <a:r>
              <a:rPr lang="en-CA" baseline="0" dirty="0" smtClean="0"/>
              <a:t>traversal, </a:t>
            </a:r>
            <a:r>
              <a:rPr lang="en-CA" baseline="0" dirty="0" smtClean="0"/>
              <a:t>or corruption in the file </a:t>
            </a:r>
            <a:r>
              <a:rPr lang="en-CA" baseline="0" dirty="0" smtClean="0"/>
              <a:t>system, </a:t>
            </a:r>
            <a:r>
              <a:rPr lang="en-CA" baseline="0" dirty="0" smtClean="0"/>
              <a:t>would cause unexpected behavior in the </a:t>
            </a:r>
            <a:r>
              <a:rPr lang="en-CA" baseline="0" dirty="0" smtClean="0"/>
              <a:t>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1064124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What we want</a:t>
            </a:r>
            <a:r>
              <a:rPr lang="en-CA" baseline="0" dirty="0" smtClean="0"/>
              <a:t> is an easier way to find and process all of the block bitmaps in Ext4, without needing to write all of the code to traverse the file system.</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21</a:t>
            </a:fld>
            <a:endParaRPr lang="en-CA"/>
          </a:p>
        </p:txBody>
      </p:sp>
    </p:spTree>
    <p:extLst>
      <p:ext uri="{BB962C8B-B14F-4D97-AF65-F5344CB8AC3E}">
        <p14:creationId xmlns:p14="http://schemas.microsoft.com/office/powerpoint/2010/main" val="23386600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Spiffy. On line 3, we retrieve the super block through the </a:t>
            </a:r>
            <a:r>
              <a:rPr lang="en-CA" baseline="0" dirty="0" err="1" smtClean="0"/>
              <a:t>fetch_super</a:t>
            </a:r>
            <a:r>
              <a:rPr lang="en-CA" baseline="0" dirty="0" smtClean="0"/>
              <a:t> function. At this point, if the super block is corrupted, the function will return null. Next, on line 7, invoking the </a:t>
            </a:r>
            <a:r>
              <a:rPr lang="en-CA" baseline="0" dirty="0" err="1" smtClean="0"/>
              <a:t>process_by_type</a:t>
            </a:r>
            <a:r>
              <a:rPr lang="en-CA" baseline="0" dirty="0" smtClean="0"/>
              <a:t> function allows </a:t>
            </a:r>
            <a:r>
              <a:rPr lang="en-CA" baseline="0" dirty="0" smtClean="0"/>
              <a:t>processing of all </a:t>
            </a:r>
            <a:r>
              <a:rPr lang="en-CA" baseline="0" dirty="0" smtClean="0"/>
              <a:t>of the block bitmaps reachable from the super </a:t>
            </a:r>
            <a:r>
              <a:rPr lang="en-CA" baseline="0" dirty="0" smtClean="0"/>
              <a:t>block, through its pointers or the pointers of all its children. This avoids the need to write any traversal code manually, so the developer can focus on just the code that processes the block bitmaps. As </a:t>
            </a:r>
            <a:r>
              <a:rPr lang="en-CA" baseline="0" dirty="0" smtClean="0"/>
              <a:t>you can see, there are two </a:t>
            </a:r>
            <a:r>
              <a:rPr lang="en-CA" baseline="0" dirty="0" smtClean="0"/>
              <a:t>advantages </a:t>
            </a:r>
            <a:r>
              <a:rPr lang="en-CA" baseline="0" dirty="0" smtClean="0"/>
              <a:t>to using </a:t>
            </a:r>
            <a:r>
              <a:rPr lang="en-CA" baseline="0" dirty="0" smtClean="0"/>
              <a:t>the </a:t>
            </a:r>
            <a:r>
              <a:rPr lang="en-CA" baseline="0" dirty="0" smtClean="0"/>
              <a:t>Spiffy library. First, it simplifies file system traversal by reducing the need to know the format details. Second, the library parsing routines have automatically generated sanity checks to help detect corruption.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22</a:t>
            </a:fld>
            <a:endParaRPr lang="en-CA"/>
          </a:p>
        </p:txBody>
      </p:sp>
    </p:spTree>
    <p:extLst>
      <p:ext uri="{BB962C8B-B14F-4D97-AF65-F5344CB8AC3E}">
        <p14:creationId xmlns:p14="http://schemas.microsoft.com/office/powerpoint/2010/main" val="32877124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let’s talk about the applications</a:t>
            </a:r>
            <a:r>
              <a:rPr lang="en-CA" baseline="0" dirty="0" smtClean="0"/>
              <a:t> we have built using Spiffy, starting with the offline applications, which have exclusive access to a file system image. Our first application is the file system dump tool, which simply prints out all of the metadata in XML format. This tool is helpful for debugging, and we also use it to verify the correctness of our annotations. Next, the type-specific corruptor allows us to specify a field in a metadata structure and corrupt it on disk. This tool enables us to test the robustness of other </a:t>
            </a:r>
            <a:r>
              <a:rPr lang="en-CA" baseline="0" dirty="0" smtClean="0"/>
              <a:t>tools and ensure that they are able to correctly handle corruptions. </a:t>
            </a:r>
            <a:r>
              <a:rPr lang="en-CA" baseline="0" dirty="0" smtClean="0"/>
              <a:t>We ran a series of corruption experiments and discovered crash bugs in existing tools such as dumpe2fs </a:t>
            </a:r>
            <a:r>
              <a:rPr lang="en-CA" baseline="0" dirty="0" smtClean="0"/>
              <a:t>for Ext4 and </a:t>
            </a:r>
            <a:r>
              <a:rPr lang="en-CA" baseline="0" dirty="0" smtClean="0"/>
              <a:t>dump.f2fs, which you can read </a:t>
            </a:r>
            <a:r>
              <a:rPr lang="en-CA" baseline="0" dirty="0" smtClean="0"/>
              <a:t>more about </a:t>
            </a:r>
            <a:r>
              <a:rPr lang="en-CA" baseline="0" dirty="0" smtClean="0"/>
              <a:t>in the paper. Next we built a file system conversion tool which allows converting from one file system to another without moving any data blocks unless necessary. </a:t>
            </a:r>
            <a:r>
              <a:rPr lang="en-CA" baseline="0" dirty="0" smtClean="0"/>
              <a:t>We will come back to evaluating the conversion tool in a bit.</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23</a:t>
            </a:fld>
            <a:endParaRPr lang="en-CA"/>
          </a:p>
        </p:txBody>
      </p:sp>
    </p:spTree>
    <p:extLst>
      <p:ext uri="{BB962C8B-B14F-4D97-AF65-F5344CB8AC3E}">
        <p14:creationId xmlns:p14="http://schemas.microsoft.com/office/powerpoint/2010/main" val="34437695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discuss the online applications, which</a:t>
            </a:r>
            <a:r>
              <a:rPr lang="en-CA" baseline="0" dirty="0" smtClean="0"/>
              <a:t> operate while the file system is in-use. An example of such an application is the differentiated storage service, which prioritizes caching of metadata </a:t>
            </a:r>
            <a:r>
              <a:rPr lang="en-CA" baseline="0" dirty="0" smtClean="0"/>
              <a:t>blocks and </a:t>
            </a:r>
            <a:r>
              <a:rPr lang="en-CA" baseline="0" dirty="0" smtClean="0"/>
              <a:t>small files. This application was difficult to implement because it requires modification of the file system to provide hints to the block layer. It also requires a lot of file-system specific code to identify the size of the file, for example. However, with Spiffy, we have built a runtime interpretation framework that can identify and interpret metadata at the block layer without modifying the file system. </a:t>
            </a:r>
            <a:r>
              <a:rPr lang="en-CA" baseline="0" dirty="0" smtClean="0"/>
              <a:t>Most </a:t>
            </a:r>
            <a:r>
              <a:rPr lang="en-CA" baseline="0" dirty="0" smtClean="0"/>
              <a:t>of </a:t>
            </a:r>
            <a:r>
              <a:rPr lang="en-CA" baseline="0" dirty="0" smtClean="0"/>
              <a:t>the runtime </a:t>
            </a:r>
            <a:r>
              <a:rPr lang="en-CA" baseline="0" dirty="0" smtClean="0"/>
              <a:t>framework is generic, and little file-system specific </a:t>
            </a:r>
            <a:r>
              <a:rPr lang="en-CA" baseline="0" dirty="0" smtClean="0"/>
              <a:t>code is </a:t>
            </a:r>
            <a:r>
              <a:rPr lang="en-CA" baseline="0" dirty="0" smtClean="0"/>
              <a:t>required to support a rich set of caching policies. Using </a:t>
            </a:r>
            <a:r>
              <a:rPr lang="en-CA" baseline="0" dirty="0" smtClean="0"/>
              <a:t>this </a:t>
            </a:r>
            <a:r>
              <a:rPr lang="en-CA" baseline="0" dirty="0" smtClean="0"/>
              <a:t>framework, we built a block layer cache that preferentially caches files belonging to priority </a:t>
            </a:r>
            <a:r>
              <a:rPr lang="en-CA" baseline="0" dirty="0" smtClean="0"/>
              <a:t>users. Again, you can find more details of this work in the paper.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24</a:t>
            </a:fld>
            <a:endParaRPr lang="en-CA"/>
          </a:p>
        </p:txBody>
      </p:sp>
    </p:spTree>
    <p:extLst>
      <p:ext uri="{BB962C8B-B14F-4D97-AF65-F5344CB8AC3E}">
        <p14:creationId xmlns:p14="http://schemas.microsoft.com/office/powerpoint/2010/main" val="49015172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evaluated the programming effort for building Spiffy applications, and show that for read</a:t>
            </a:r>
            <a:r>
              <a:rPr lang="en-CA" baseline="0" dirty="0" smtClean="0"/>
              <a:t>-only applications, for both online and offline, we can drastically reduce the amount of file-system specific code that needs to be written. In most cases, the file-system specific code is merely 10% or fewer compared to the generic application code. For read-write applications, however, </a:t>
            </a:r>
            <a:r>
              <a:rPr lang="en-CA" baseline="0" dirty="0" smtClean="0"/>
              <a:t>since file-system specific </a:t>
            </a:r>
            <a:r>
              <a:rPr lang="en-CA" baseline="0" dirty="0" smtClean="0"/>
              <a:t>metadata structures need to be initialized, there is </a:t>
            </a:r>
            <a:r>
              <a:rPr lang="en-CA" baseline="0" dirty="0" smtClean="0"/>
              <a:t>unfortunately, very </a:t>
            </a:r>
            <a:r>
              <a:rPr lang="en-CA" baseline="0" dirty="0" smtClean="0"/>
              <a:t>little </a:t>
            </a:r>
            <a:r>
              <a:rPr lang="en-CA" baseline="0" dirty="0" smtClean="0"/>
              <a:t>saving, as is the case for the conversion tool. </a:t>
            </a:r>
            <a:r>
              <a:rPr lang="en-CA" baseline="0" dirty="0" smtClean="0"/>
              <a:t>Another exception is the free space tool for F2FS. Because its block allocation information is very complex, the amount of file-system specific code is much more compared to the other two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25</a:t>
            </a:fld>
            <a:endParaRPr lang="en-CA"/>
          </a:p>
        </p:txBody>
      </p:sp>
    </p:spTree>
    <p:extLst>
      <p:ext uri="{BB962C8B-B14F-4D97-AF65-F5344CB8AC3E}">
        <p14:creationId xmlns:p14="http://schemas.microsoft.com/office/powerpoint/2010/main" val="56499183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also evaluated</a:t>
            </a:r>
            <a:r>
              <a:rPr lang="en-CA" baseline="0" dirty="0" smtClean="0"/>
              <a:t> the performance of the file </a:t>
            </a:r>
            <a:r>
              <a:rPr lang="en-CA" baseline="0" dirty="0" smtClean="0"/>
              <a:t>system conversion tool. Here, we show 3 types of converters: the copy converter copies data to local disk, reformat, then copy back. We also wrote the conversion tool twice, once manually and </a:t>
            </a:r>
            <a:r>
              <a:rPr lang="en-CA" baseline="0" dirty="0" smtClean="0"/>
              <a:t>once using </a:t>
            </a:r>
            <a:r>
              <a:rPr lang="en-CA" baseline="0" dirty="0" smtClean="0"/>
              <a:t>Spiffy. From the graph, we can see that the copy converter </a:t>
            </a:r>
            <a:r>
              <a:rPr lang="en-CA" baseline="0" dirty="0" smtClean="0"/>
              <a:t>is </a:t>
            </a:r>
            <a:r>
              <a:rPr lang="en-CA" baseline="0" dirty="0" smtClean="0"/>
              <a:t>up to 50 times slower than the other </a:t>
            </a:r>
            <a:r>
              <a:rPr lang="en-CA" baseline="0" dirty="0" smtClean="0"/>
              <a:t>two converters </a:t>
            </a:r>
            <a:r>
              <a:rPr lang="en-CA" baseline="0" dirty="0" smtClean="0"/>
              <a:t>because it has to copy 16GB of data twice. We </a:t>
            </a:r>
            <a:r>
              <a:rPr lang="en-CA" baseline="0" dirty="0" smtClean="0"/>
              <a:t>also compare </a:t>
            </a:r>
            <a:r>
              <a:rPr lang="en-CA" baseline="0" dirty="0" smtClean="0"/>
              <a:t>the performance between manual vs. Spiffy converter, and found a modest 16.7% </a:t>
            </a:r>
            <a:r>
              <a:rPr lang="en-CA" baseline="0" dirty="0" smtClean="0"/>
              <a:t>overhead for using Spiffy. This shows </a:t>
            </a:r>
            <a:r>
              <a:rPr lang="en-CA" baseline="0" dirty="0" smtClean="0"/>
              <a:t>that using the Spiffy library can still achieve good performance, while improving the robustness of the application.</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26</a:t>
            </a:fld>
            <a:endParaRPr lang="en-CA"/>
          </a:p>
        </p:txBody>
      </p:sp>
    </p:spTree>
    <p:extLst>
      <p:ext uri="{BB962C8B-B14F-4D97-AF65-F5344CB8AC3E}">
        <p14:creationId xmlns:p14="http://schemas.microsoft.com/office/powerpoint/2010/main" val="19297257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and </a:t>
            </a:r>
            <a:r>
              <a:rPr lang="en-CA" baseline="0" dirty="0" smtClean="0"/>
              <a:t>a </a:t>
            </a:r>
            <a:r>
              <a:rPr lang="en-CA" baseline="0" dirty="0" smtClean="0"/>
              <a:t>standardized API for interpreting and traversing file system metadata. This API simplifies development of file-system aware applications by reducing the need to write file-system specific code and it enables code reuse across file systems. Lastly, from the annotated metadata definitions, we generate type-safe parsing and serialization library </a:t>
            </a:r>
            <a:r>
              <a:rPr lang="en-CA" baseline="0" dirty="0" smtClean="0"/>
              <a:t>that implements </a:t>
            </a:r>
            <a:r>
              <a:rPr lang="en-CA" baseline="0" smtClean="0"/>
              <a:t>the Spiffy </a:t>
            </a:r>
            <a:r>
              <a:rPr lang="en-CA" baseline="0" dirty="0" smtClean="0"/>
              <a:t>API, and the </a:t>
            </a:r>
            <a:r>
              <a:rPr lang="en-CA" baseline="0" smtClean="0"/>
              <a:t>generated library </a:t>
            </a:r>
            <a:r>
              <a:rPr lang="en-CA" baseline="0" dirty="0" smtClean="0"/>
              <a:t>is robust against file system corruption and achieves good performance.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15078973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Comparison of output or result needs</a:t>
            </a:r>
            <a:r>
              <a:rPr lang="en-CA" baseline="0" dirty="0" smtClean="0"/>
              <a:t> to </a:t>
            </a:r>
            <a:r>
              <a:rPr lang="en-CA" baseline="0" smtClean="0"/>
              <a:t>be emphasize</a:t>
            </a:r>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28</a:t>
            </a:fld>
            <a:endParaRPr lang="en-CA"/>
          </a:p>
        </p:txBody>
      </p:sp>
    </p:spTree>
    <p:extLst>
      <p:ext uri="{BB962C8B-B14F-4D97-AF65-F5344CB8AC3E}">
        <p14:creationId xmlns:p14="http://schemas.microsoft.com/office/powerpoint/2010/main" val="42252104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gradFill rotWithShape="1">
          <a:gsLst>
            <a:gs pos="10000">
              <a:schemeClr val="tx2">
                <a:lumMod val="90000"/>
              </a:schemeClr>
            </a:gs>
            <a:gs pos="100000">
              <a:schemeClr val="bg2"/>
            </a:gs>
          </a:gsLst>
          <a:lin ang="6120000" scaled="1"/>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85800"/>
            <a:ext cx="9129091" cy="2167468"/>
          </a:xfrm>
        </p:spPr>
        <p:txBody>
          <a:bodyPr anchor="b">
            <a:normAutofit/>
          </a:bodyPr>
          <a:lstStyle>
            <a:lvl1pPr algn="l">
              <a:defRPr sz="5400" cap="none" baseline="0">
                <a:solidFill>
                  <a:schemeClr val="tx1"/>
                </a:solidFill>
                <a:effectLst/>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684212" y="3037337"/>
            <a:ext cx="7694630" cy="2753864"/>
          </a:xfrm>
        </p:spPr>
        <p:txBody>
          <a:bodyPr anchor="t">
            <a:normAutofit/>
          </a:bodyPr>
          <a:lstStyle>
            <a:lvl1pPr marL="0" indent="0" algn="l">
              <a:buNone/>
              <a:defRPr sz="2100">
                <a:solidFill>
                  <a:schemeClr val="bg1">
                    <a:lumMod val="95000"/>
                    <a:lumOff val="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Click to edit Master subtitle style</a:t>
            </a:r>
            <a:endParaRPr lang="en-US" dirty="0"/>
          </a:p>
        </p:txBody>
      </p:sp>
      <p:sp>
        <p:nvSpPr>
          <p:cNvPr id="4" name="Date Placeholder 3"/>
          <p:cNvSpPr>
            <a:spLocks noGrp="1"/>
          </p:cNvSpPr>
          <p:nvPr>
            <p:ph type="dt" sz="half" idx="10"/>
          </p:nvPr>
        </p:nvSpPr>
        <p:spPr/>
        <p:txBody>
          <a:bodyPr/>
          <a:lstStyle/>
          <a:p>
            <a:fld id="{0145D206-3748-4927-8C33-DF34FC1F64AB}"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grpSp>
        <p:nvGrpSpPr>
          <p:cNvPr id="7" name="Group 6"/>
          <p:cNvGrpSpPr/>
          <p:nvPr userDrawn="1"/>
        </p:nvGrpSpPr>
        <p:grpSpPr>
          <a:xfrm>
            <a:off x="6108170" y="545795"/>
            <a:ext cx="6080672" cy="6323990"/>
            <a:chOff x="6108170" y="-151790"/>
            <a:chExt cx="6080672" cy="6323990"/>
          </a:xfrm>
        </p:grpSpPr>
        <p:cxnSp>
          <p:nvCxnSpPr>
            <p:cNvPr id="16" name="Straight Connector 15"/>
            <p:cNvCxnSpPr/>
            <p:nvPr/>
          </p:nvCxnSpPr>
          <p:spPr>
            <a:xfrm flipH="1">
              <a:off x="8378842" y="-151790"/>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72271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1" cap="none" baseline="0"/>
            </a:lvl1pPr>
          </a:lstStyle>
          <a:p>
            <a:r>
              <a:rPr lang="en-US" dirty="0" smtClean="0"/>
              <a:t>Click to edit Master title style</a:t>
            </a:r>
            <a:endParaRPr lang="en-US" dirty="0"/>
          </a:p>
        </p:txBody>
      </p:sp>
      <p:sp>
        <p:nvSpPr>
          <p:cNvPr id="3" name="Content Placeholder 2"/>
          <p:cNvSpPr>
            <a:spLocks noGrp="1"/>
          </p:cNvSpPr>
          <p:nvPr>
            <p:ph idx="1"/>
          </p:nvPr>
        </p:nvSpPr>
        <p:spPr>
          <a:xfrm>
            <a:off x="684211" y="1515358"/>
            <a:ext cx="10285797" cy="4656842"/>
          </a:xfrm>
        </p:spPr>
        <p:txBody>
          <a:bodyPr anchor="t">
            <a:normAutofit/>
          </a:bodyPr>
          <a:lstStyle>
            <a:lvl1pPr>
              <a:defRPr sz="2400"/>
            </a:lvl1pPr>
            <a:lvl2pPr>
              <a:defRPr sz="2000"/>
            </a:lvl2pPr>
            <a:lvl3pPr>
              <a:defRPr sz="1800"/>
            </a:lvl3pPr>
            <a:lvl4pPr>
              <a:defRPr sz="1600"/>
            </a:lvl4pPr>
            <a:lvl5pPr>
              <a:defRPr sz="16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D6AD7D9F-39FD-4B95-A4F0-514D658B152C}" type="datetime1">
              <a:rPr lang="en-CA" smtClean="0"/>
              <a:t>2018-02-08</a:t>
            </a:fld>
            <a:endParaRPr lang="en-CA"/>
          </a:p>
        </p:txBody>
      </p:sp>
      <p:sp>
        <p:nvSpPr>
          <p:cNvPr id="5" name="Footer Placeholder 4"/>
          <p:cNvSpPr>
            <a:spLocks noGrp="1"/>
          </p:cNvSpPr>
          <p:nvPr>
            <p:ph type="ftr" sz="quarter" idx="11"/>
          </p:nvPr>
        </p:nvSpPr>
        <p:spPr>
          <a:xfrm>
            <a:off x="684212" y="6172200"/>
            <a:ext cx="10285796" cy="365125"/>
          </a:xfrm>
        </p:spPr>
        <p:txBody>
          <a:bodyPr/>
          <a:lstStyle>
            <a:lvl1pPr>
              <a:defRPr sz="1200"/>
            </a:lvl1pPr>
          </a:lstStyle>
          <a:p>
            <a:endParaRPr lang="en-CA" dirty="0"/>
          </a:p>
        </p:txBody>
      </p:sp>
      <p:sp>
        <p:nvSpPr>
          <p:cNvPr id="6" name="Slide Number Placeholder 5"/>
          <p:cNvSpPr>
            <a:spLocks noGrp="1"/>
          </p:cNvSpPr>
          <p:nvPr>
            <p:ph type="sldNum" sz="quarter" idx="12"/>
          </p:nvPr>
        </p:nvSpPr>
        <p:spPr/>
        <p:txBody>
          <a:bodyPr/>
          <a:lstStyle>
            <a:lvl1pPr>
              <a:defRPr sz="2000"/>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682899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7D257ED4-7149-4100-B966-397E56D6DA55}"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33809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4211" y="1515361"/>
            <a:ext cx="5123089" cy="465683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5808133" y="1515362"/>
            <a:ext cx="4934479" cy="4656838"/>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p:txBody>
          <a:bodyPr/>
          <a:lstStyle/>
          <a:p>
            <a:fld id="{9ACE3152-893D-476F-92C8-DC87664CFA37}" type="datetime1">
              <a:rPr lang="en-CA" smtClean="0"/>
              <a:t>2018-02-08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541667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972080" y="1515357"/>
            <a:ext cx="4649787"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4" name="Content Placeholder 3"/>
          <p:cNvSpPr>
            <a:spLocks noGrp="1"/>
          </p:cNvSpPr>
          <p:nvPr>
            <p:ph sz="half" idx="2"/>
          </p:nvPr>
        </p:nvSpPr>
        <p:spPr>
          <a:xfrm>
            <a:off x="684211" y="2100086"/>
            <a:ext cx="4937655"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6035939" y="1523824"/>
            <a:ext cx="4665134"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6" name="Content Placeholder 5"/>
          <p:cNvSpPr>
            <a:spLocks noGrp="1"/>
          </p:cNvSpPr>
          <p:nvPr>
            <p:ph sz="quarter" idx="4"/>
          </p:nvPr>
        </p:nvSpPr>
        <p:spPr>
          <a:xfrm>
            <a:off x="5763418" y="2100086"/>
            <a:ext cx="4929188"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Date Placeholder 6"/>
          <p:cNvSpPr>
            <a:spLocks noGrp="1"/>
          </p:cNvSpPr>
          <p:nvPr>
            <p:ph type="dt" sz="half" idx="10"/>
          </p:nvPr>
        </p:nvSpPr>
        <p:spPr/>
        <p:txBody>
          <a:bodyPr/>
          <a:lstStyle/>
          <a:p>
            <a:fld id="{CB2930E9-C17A-4D90-BAE8-42423BBE919E}" type="datetime1">
              <a:rPr lang="en-CA" smtClean="0"/>
              <a:t>2018-02-08</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6960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32659AD7-8F94-4BFD-9315-264212F1BDBC}" type="datetime1">
              <a:rPr lang="en-CA" smtClean="0"/>
              <a:t>2018-02-08</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929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52F67-5290-4349-8ADA-9B77C8B30CA1}" type="datetime1">
              <a:rPr lang="en-CA" smtClean="0"/>
              <a:t>2018-02-08</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35750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AA9F9A6-54E7-4285-928E-6A5CE63E658D}" type="datetime1">
              <a:rPr lang="en-CA" smtClean="0"/>
              <a:t>2018-02-08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60494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A9DADFC-E42D-4E18-8E7A-1F87E4DC64CF}" type="datetime1">
              <a:rPr lang="en-CA" smtClean="0"/>
              <a:t>2018-02-08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355103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Date Placeholder 2"/>
          <p:cNvSpPr>
            <a:spLocks noGrp="1"/>
          </p:cNvSpPr>
          <p:nvPr>
            <p:ph type="dt" sz="half" idx="10"/>
          </p:nvPr>
        </p:nvSpPr>
        <p:spPr/>
        <p:txBody>
          <a:bodyPr/>
          <a:lstStyle/>
          <a:p>
            <a:fld id="{C89DCB4F-0D89-4D46-BA02-4EEC06F0D222}" type="datetime1">
              <a:rPr lang="en-CA" smtClean="0"/>
              <a:t>2018-02-08</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03295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2696F7-A71E-484D-AC3A-CE094204994B}"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498958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F2026A3-D9E4-42EE-8898-5602D67646A6}"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7867062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2851CE-B33E-4D8E-B913-47C489FB1326}"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8685798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0249205-445A-4022-8550-E0423D1698F6}"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3015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928CFC7-231B-411E-A147-D21C0786264A}"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902664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E4A103E-C7C6-4893-8576-55DC8ED846C7}"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470361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79FAEEE-621B-4F9D-B0C9-9282EED4D31D}" type="datetime1">
              <a:rPr lang="en-CA" smtClean="0"/>
              <a:t>2018-02-08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9914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7" name="Group 6"/>
          <p:cNvGrpSpPr/>
          <p:nvPr/>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170"/>
            <a:ext cx="8534400" cy="1507067"/>
          </a:xfrm>
          <a:prstGeom prst="rect">
            <a:avLst/>
          </a:prstGeom>
          <a:effectLst/>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84211" y="1515358"/>
            <a:ext cx="10285797" cy="4656841"/>
          </a:xfrm>
          <a:prstGeom prst="rect">
            <a:avLst/>
          </a:prstGeom>
        </p:spPr>
        <p:txBody>
          <a:bodyPr vert="horz" lIns="91440" tIns="45720" rIns="91440" bIns="45720" rtlCol="0"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1"/>
                </a:solidFill>
                <a:effectLst/>
                <a:latin typeface="+mn-lt"/>
              </a:defRPr>
            </a:lvl1pPr>
          </a:lstStyle>
          <a:p>
            <a:fld id="{1046A6BF-9417-477F-B83E-822B9F56EF48}" type="datetime1">
              <a:rPr lang="en-CA" smtClean="0"/>
              <a:t>2018-02-08</a:t>
            </a:fld>
            <a:endParaRPr lang="en-CA"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1"/>
                </a:solidFill>
                <a:effectLst/>
                <a:latin typeface="+mn-lt"/>
              </a:defRPr>
            </a:lvl1pPr>
          </a:lstStyle>
          <a:p>
            <a:endParaRPr lang="en-CA"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2000" b="0" i="0">
                <a:solidFill>
                  <a:schemeClr val="bg1"/>
                </a:solidFill>
                <a:effectLst/>
                <a:latin typeface="+mn-lt"/>
              </a:defRPr>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205381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hf hdr="0" ftr="0" dt="0"/>
  <p:txStyles>
    <p:titleStyle>
      <a:lvl1pPr algn="l" defTabSz="457200" rtl="0" eaLnBrk="1" latinLnBrk="0" hangingPunct="1">
        <a:spcBef>
          <a:spcPct val="0"/>
        </a:spcBef>
        <a:buNone/>
        <a:defRPr lang="en-US" sz="4000" b="1" kern="1200" cap="none" baseline="0" dirty="0" smtClean="0">
          <a:ln w="3175" cmpd="sng">
            <a:noFill/>
          </a:ln>
          <a:solidFill>
            <a:schemeClr val="bg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791"/>
            <a:ext cx="8849087" cy="2971801"/>
          </a:xfrm>
        </p:spPr>
        <p:txBody>
          <a:bodyPr>
            <a:normAutofit fontScale="90000"/>
          </a:bodyPr>
          <a:lstStyle/>
          <a:p>
            <a:r>
              <a:rPr lang="en-CA" b="1" cap="none" dirty="0" smtClean="0"/>
              <a:t>Spiffy</a:t>
            </a:r>
            <a:r>
              <a:rPr lang="en-CA" cap="none" dirty="0" smtClean="0"/>
              <a:t>:</a:t>
            </a:r>
            <a:r>
              <a:rPr lang="en-CA" b="1" cap="none" dirty="0" smtClean="0"/>
              <a:t> </a:t>
            </a:r>
            <a:r>
              <a:rPr lang="en-CA" cap="none" dirty="0"/>
              <a:t>Enabling File-System Aware </a:t>
            </a:r>
            <a:r>
              <a:rPr lang="en-CA" sz="5400" cap="none" dirty="0"/>
              <a:t>Storage</a:t>
            </a:r>
            <a:r>
              <a:rPr lang="en-CA" cap="none" dirty="0"/>
              <a:t> </a:t>
            </a:r>
            <a:r>
              <a:rPr lang="en-CA" cap="none" dirty="0" smtClean="0"/>
              <a:t>Applications</a:t>
            </a:r>
            <a:br>
              <a:rPr lang="en-CA" cap="none" dirty="0" smtClean="0"/>
            </a:br>
            <a:endParaRPr lang="en-CA" b="1" cap="none" dirty="0"/>
          </a:p>
        </p:txBody>
      </p:sp>
      <p:sp>
        <p:nvSpPr>
          <p:cNvPr id="3" name="Subtitle 2"/>
          <p:cNvSpPr>
            <a:spLocks noGrp="1"/>
          </p:cNvSpPr>
          <p:nvPr>
            <p:ph type="subTitle" idx="1"/>
          </p:nvPr>
        </p:nvSpPr>
        <p:spPr>
          <a:xfrm>
            <a:off x="684212" y="3421931"/>
            <a:ext cx="10967598" cy="2548380"/>
          </a:xfrm>
        </p:spPr>
        <p:txBody>
          <a:bodyPr>
            <a:normAutofit/>
          </a:bodyPr>
          <a:lstStyle/>
          <a:p>
            <a:r>
              <a:rPr lang="en-CA" sz="2400" dirty="0" err="1" smtClean="0">
                <a:solidFill>
                  <a:schemeClr val="bg1">
                    <a:lumMod val="75000"/>
                    <a:lumOff val="25000"/>
                  </a:schemeClr>
                </a:solidFill>
              </a:rPr>
              <a:t>Kuei</a:t>
            </a:r>
            <a:r>
              <a:rPr lang="en-CA" sz="2400" dirty="0" smtClean="0">
                <a:solidFill>
                  <a:schemeClr val="bg1">
                    <a:lumMod val="75000"/>
                    <a:lumOff val="25000"/>
                  </a:schemeClr>
                </a:solidFill>
              </a:rPr>
              <a:t> Sun, Daniel Fryer, Joseph Chu</a:t>
            </a:r>
            <a:r>
              <a:rPr lang="en-CA" sz="2400" dirty="0">
                <a:solidFill>
                  <a:schemeClr val="bg1">
                    <a:lumMod val="75000"/>
                    <a:lumOff val="25000"/>
                  </a:schemeClr>
                </a:solidFill>
              </a:rPr>
              <a:t>, Matthew </a:t>
            </a:r>
            <a:r>
              <a:rPr lang="en-CA" sz="2400" dirty="0" err="1">
                <a:solidFill>
                  <a:schemeClr val="bg1">
                    <a:lumMod val="75000"/>
                    <a:lumOff val="25000"/>
                  </a:schemeClr>
                </a:solidFill>
              </a:rPr>
              <a:t>Lakier</a:t>
            </a:r>
            <a:r>
              <a:rPr lang="en-CA" sz="2400" dirty="0">
                <a:solidFill>
                  <a:schemeClr val="bg1">
                    <a:lumMod val="75000"/>
                    <a:lumOff val="25000"/>
                  </a:schemeClr>
                </a:solidFill>
              </a:rPr>
              <a:t>, </a:t>
            </a:r>
            <a:endParaRPr lang="en-CA" sz="2400" dirty="0" smtClean="0">
              <a:solidFill>
                <a:schemeClr val="bg1">
                  <a:lumMod val="75000"/>
                  <a:lumOff val="25000"/>
                </a:schemeClr>
              </a:solidFill>
            </a:endParaRPr>
          </a:p>
          <a:p>
            <a:r>
              <a:rPr lang="en-CA" sz="2400" dirty="0" smtClean="0">
                <a:solidFill>
                  <a:schemeClr val="bg1">
                    <a:lumMod val="75000"/>
                    <a:lumOff val="25000"/>
                  </a:schemeClr>
                </a:solidFill>
              </a:rPr>
              <a:t>Angela </a:t>
            </a:r>
            <a:r>
              <a:rPr lang="en-CA" sz="2400" dirty="0" err="1" smtClean="0">
                <a:solidFill>
                  <a:schemeClr val="bg1">
                    <a:lumMod val="75000"/>
                    <a:lumOff val="25000"/>
                  </a:schemeClr>
                </a:solidFill>
              </a:rPr>
              <a:t>Demke</a:t>
            </a:r>
            <a:r>
              <a:rPr lang="en-CA" sz="2400" dirty="0" smtClean="0">
                <a:solidFill>
                  <a:schemeClr val="bg1">
                    <a:lumMod val="75000"/>
                    <a:lumOff val="25000"/>
                  </a:schemeClr>
                </a:solidFill>
              </a:rPr>
              <a:t> Brown, and </a:t>
            </a:r>
            <a:r>
              <a:rPr lang="en-CA" sz="2400" dirty="0" err="1" smtClean="0">
                <a:solidFill>
                  <a:schemeClr val="bg1">
                    <a:lumMod val="75000"/>
                    <a:lumOff val="25000"/>
                  </a:schemeClr>
                </a:solidFill>
              </a:rPr>
              <a:t>Ashvin</a:t>
            </a:r>
            <a:r>
              <a:rPr lang="en-CA" sz="2400" dirty="0" smtClean="0">
                <a:solidFill>
                  <a:schemeClr val="bg1">
                    <a:lumMod val="75000"/>
                    <a:lumOff val="25000"/>
                  </a:schemeClr>
                </a:solidFill>
              </a:rPr>
              <a:t> </a:t>
            </a:r>
            <a:r>
              <a:rPr lang="en-CA" sz="2400" dirty="0" err="1" smtClean="0">
                <a:solidFill>
                  <a:schemeClr val="bg1">
                    <a:lumMod val="75000"/>
                    <a:lumOff val="25000"/>
                  </a:schemeClr>
                </a:solidFill>
              </a:rPr>
              <a:t>Goel</a:t>
            </a:r>
            <a:endParaRPr lang="en-CA" sz="2400" dirty="0" smtClean="0">
              <a:solidFill>
                <a:schemeClr val="bg1">
                  <a:lumMod val="75000"/>
                  <a:lumOff val="25000"/>
                </a:schemeClr>
              </a:solidFill>
            </a:endParaRPr>
          </a:p>
          <a:p>
            <a:endParaRPr lang="en-CA" sz="2400" dirty="0"/>
          </a:p>
          <a:p>
            <a:r>
              <a:rPr lang="en-CA" sz="2400" i="1" dirty="0" smtClean="0">
                <a:solidFill>
                  <a:schemeClr val="bg1">
                    <a:lumMod val="85000"/>
                    <a:lumOff val="15000"/>
                  </a:schemeClr>
                </a:solidFill>
              </a:rPr>
              <a:t>University of Toronto</a:t>
            </a:r>
            <a:endParaRPr lang="en-CA" sz="2400" i="1" dirty="0">
              <a:solidFill>
                <a:schemeClr val="bg1">
                  <a:lumMod val="85000"/>
                  <a:lumOff val="15000"/>
                </a:schemeClr>
              </a:solidFill>
            </a:endParaRPr>
          </a:p>
        </p:txBody>
      </p:sp>
    </p:spTree>
    <p:extLst>
      <p:ext uri="{BB962C8B-B14F-4D97-AF65-F5344CB8AC3E}">
        <p14:creationId xmlns:p14="http://schemas.microsoft.com/office/powerpoint/2010/main" val="29897368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Introduction</a:t>
            </a:r>
            <a:endParaRPr lang="en-CA" dirty="0"/>
          </a:p>
        </p:txBody>
      </p:sp>
      <p:sp>
        <p:nvSpPr>
          <p:cNvPr id="3" name="Content Placeholder 2"/>
          <p:cNvSpPr>
            <a:spLocks noGrp="1"/>
          </p:cNvSpPr>
          <p:nvPr>
            <p:ph idx="1"/>
          </p:nvPr>
        </p:nvSpPr>
        <p:spPr>
          <a:xfrm>
            <a:off x="646113" y="1625600"/>
            <a:ext cx="9403743" cy="4622802"/>
          </a:xfrm>
        </p:spPr>
        <p:txBody>
          <a:bodyPr>
            <a:normAutofit/>
          </a:bodyPr>
          <a:lstStyle/>
          <a:p>
            <a:r>
              <a:rPr lang="en-CA" dirty="0" smtClean="0"/>
              <a:t>File-system aware applications</a:t>
            </a:r>
          </a:p>
          <a:p>
            <a:pPr lvl="1"/>
            <a:r>
              <a:rPr lang="en-CA" dirty="0" smtClean="0"/>
              <a:t>E.g. </a:t>
            </a:r>
            <a:r>
              <a:rPr lang="en-CA" dirty="0"/>
              <a:t>partition editor, file system checker, defragmentation </a:t>
            </a:r>
            <a:r>
              <a:rPr lang="en-CA" dirty="0" smtClean="0"/>
              <a:t>tool</a:t>
            </a:r>
          </a:p>
          <a:p>
            <a:pPr lvl="1"/>
            <a:r>
              <a:rPr lang="en-CA" dirty="0" smtClean="0"/>
              <a:t>Operate </a:t>
            </a:r>
            <a:r>
              <a:rPr lang="en-CA" dirty="0"/>
              <a:t>directly on file system metadata structures</a:t>
            </a:r>
          </a:p>
          <a:p>
            <a:pPr lvl="2"/>
            <a:r>
              <a:rPr lang="en-CA" dirty="0"/>
              <a:t>Require detailed knowledge of file system format on disk</a:t>
            </a:r>
            <a:endParaRPr lang="en-CA" dirty="0" smtClean="0"/>
          </a:p>
          <a:p>
            <a:pPr lvl="2"/>
            <a:r>
              <a:rPr lang="en-CA" dirty="0" smtClean="0"/>
              <a:t>Bypass </a:t>
            </a:r>
            <a:r>
              <a:rPr lang="en-CA" dirty="0"/>
              <a:t>VFS </a:t>
            </a:r>
            <a:r>
              <a:rPr lang="en-CA" dirty="0" smtClean="0"/>
              <a:t>layer</a:t>
            </a:r>
          </a:p>
          <a:p>
            <a:pPr lvl="1"/>
            <a:r>
              <a:rPr lang="en-CA" dirty="0" smtClean="0"/>
              <a:t>Essential for successful deployment of file system</a:t>
            </a:r>
          </a:p>
        </p:txBody>
      </p:sp>
      <p:sp>
        <p:nvSpPr>
          <p:cNvPr id="4" name="Slide Number Placeholder 3"/>
          <p:cNvSpPr>
            <a:spLocks noGrp="1"/>
          </p:cNvSpPr>
          <p:nvPr>
            <p:ph type="sldNum" sz="quarter" idx="12"/>
          </p:nvPr>
        </p:nvSpPr>
        <p:spPr/>
        <p:txBody>
          <a:bodyPr/>
          <a:lstStyle/>
          <a:p>
            <a:fld id="{7B2023C8-B124-43A9-8F92-0EEF5BAA9995}" type="slidenum">
              <a:rPr lang="en-CA" smtClean="0"/>
              <a:pPr/>
              <a:t>2</a:t>
            </a:fld>
            <a:endParaRPr lang="en-CA" dirty="0"/>
          </a:p>
        </p:txBody>
      </p:sp>
    </p:spTree>
    <p:extLst>
      <p:ext uri="{BB962C8B-B14F-4D97-AF65-F5344CB8AC3E}">
        <p14:creationId xmlns:p14="http://schemas.microsoft.com/office/powerpoint/2010/main" val="17889028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Problem</a:t>
            </a:r>
            <a:endParaRPr lang="en-CA" dirty="0"/>
          </a:p>
        </p:txBody>
      </p:sp>
      <p:sp>
        <p:nvSpPr>
          <p:cNvPr id="3" name="Content Placeholder 2"/>
          <p:cNvSpPr>
            <a:spLocks noGrp="1"/>
          </p:cNvSpPr>
          <p:nvPr>
            <p:ph idx="1"/>
          </p:nvPr>
        </p:nvSpPr>
        <p:spPr>
          <a:xfrm>
            <a:off x="684211" y="1515358"/>
            <a:ext cx="10285797" cy="4866587"/>
          </a:xfrm>
        </p:spPr>
        <p:txBody>
          <a:bodyPr>
            <a:normAutofit/>
          </a:bodyPr>
          <a:lstStyle/>
          <a:p>
            <a:r>
              <a:rPr lang="en-CA" dirty="0" smtClean="0"/>
              <a:t>Each </a:t>
            </a:r>
            <a:r>
              <a:rPr lang="en-CA" dirty="0"/>
              <a:t>file system has to develop its own set of tools from scratch</a:t>
            </a:r>
          </a:p>
          <a:p>
            <a:r>
              <a:rPr lang="en-CA" dirty="0"/>
              <a:t>Only file-system experts develop such </a:t>
            </a:r>
            <a:r>
              <a:rPr lang="en-CA" dirty="0" smtClean="0"/>
              <a:t>tools</a:t>
            </a:r>
          </a:p>
          <a:p>
            <a:r>
              <a:rPr lang="en-CA" dirty="0"/>
              <a:t>Bugs lead to system crash, data corruption, security vulnerability</a:t>
            </a:r>
          </a:p>
          <a:p>
            <a:endParaRPr lang="en-CA" dirty="0" smtClean="0"/>
          </a:p>
          <a:p>
            <a:r>
              <a:rPr lang="en-CA" dirty="0" smtClean="0"/>
              <a:t>Example</a:t>
            </a:r>
            <a:r>
              <a:rPr lang="en-CA" dirty="0"/>
              <a:t>: bug 723343 in </a:t>
            </a:r>
            <a:r>
              <a:rPr lang="en-CA" dirty="0" err="1"/>
              <a:t>ntfsprogs</a:t>
            </a:r>
            <a:endParaRPr lang="en-CA" dirty="0"/>
          </a:p>
          <a:p>
            <a:pPr lvl="1"/>
            <a:r>
              <a:rPr lang="en-CA" dirty="0"/>
              <a:t>NTFS stores the size of </a:t>
            </a:r>
            <a:r>
              <a:rPr lang="en-CA" dirty="0" smtClean="0"/>
              <a:t>MFT </a:t>
            </a:r>
            <a:r>
              <a:rPr lang="en-CA" dirty="0"/>
              <a:t>record as either</a:t>
            </a:r>
            <a:r>
              <a:rPr lang="en-CA" dirty="0" smtClean="0"/>
              <a:t>:</a:t>
            </a:r>
          </a:p>
          <a:p>
            <a:pPr lvl="2"/>
            <a:r>
              <a:rPr lang="en-CA" dirty="0"/>
              <a:t>if </a:t>
            </a:r>
            <a:r>
              <a:rPr lang="en-CA" i="1" dirty="0"/>
              <a:t>value</a:t>
            </a:r>
            <a:r>
              <a:rPr lang="en-CA" dirty="0"/>
              <a:t> &gt; </a:t>
            </a:r>
            <a:r>
              <a:rPr lang="en-CA" dirty="0" smtClean="0"/>
              <a:t>0, size = # </a:t>
            </a:r>
            <a:r>
              <a:rPr lang="en-CA" dirty="0"/>
              <a:t>of clusters per </a:t>
            </a:r>
            <a:r>
              <a:rPr lang="en-CA" dirty="0" smtClean="0"/>
              <a:t>record</a:t>
            </a:r>
          </a:p>
          <a:p>
            <a:pPr lvl="2"/>
            <a:r>
              <a:rPr lang="en-CA" dirty="0"/>
              <a:t>if </a:t>
            </a:r>
            <a:r>
              <a:rPr lang="en-CA" i="1" dirty="0"/>
              <a:t>value</a:t>
            </a:r>
            <a:r>
              <a:rPr lang="en-CA" dirty="0"/>
              <a:t> &lt; </a:t>
            </a:r>
            <a:r>
              <a:rPr lang="en-CA" dirty="0" smtClean="0"/>
              <a:t>0, size =  2</a:t>
            </a:r>
            <a:r>
              <a:rPr lang="en-CA" baseline="30000" dirty="0" smtClean="0"/>
              <a:t>|</a:t>
            </a:r>
            <a:r>
              <a:rPr lang="en-CA" i="1" baseline="30000" dirty="0" smtClean="0"/>
              <a:t>value</a:t>
            </a:r>
            <a:r>
              <a:rPr lang="en-CA" baseline="30000" dirty="0" smtClean="0"/>
              <a:t>|</a:t>
            </a:r>
            <a:endParaRPr lang="en-CA" dirty="0"/>
          </a:p>
          <a:p>
            <a:pPr lvl="1"/>
            <a:r>
              <a:rPr lang="en-CA" dirty="0" err="1" smtClean="0"/>
              <a:t>ntfsprogs</a:t>
            </a:r>
            <a:r>
              <a:rPr lang="en-CA" dirty="0" smtClean="0"/>
              <a:t> misinterprets this field, corrupting </a:t>
            </a:r>
            <a:r>
              <a:rPr lang="en-CA" dirty="0"/>
              <a:t>NTFS during partition resizing</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a:t>
            </a:fld>
            <a:endParaRPr lang="en-CA" dirty="0"/>
          </a:p>
        </p:txBody>
      </p:sp>
    </p:spTree>
    <p:extLst>
      <p:ext uri="{BB962C8B-B14F-4D97-AF65-F5344CB8AC3E}">
        <p14:creationId xmlns:p14="http://schemas.microsoft.com/office/powerpoint/2010/main" val="36832523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Root Cause</a:t>
            </a:r>
            <a:endParaRPr lang="en-CA" dirty="0"/>
          </a:p>
        </p:txBody>
      </p:sp>
      <p:sp>
        <p:nvSpPr>
          <p:cNvPr id="3" name="Content Placeholder 2"/>
          <p:cNvSpPr>
            <a:spLocks noGrp="1"/>
          </p:cNvSpPr>
          <p:nvPr>
            <p:ph idx="1"/>
          </p:nvPr>
        </p:nvSpPr>
        <p:spPr/>
        <p:txBody>
          <a:bodyPr>
            <a:normAutofit/>
          </a:bodyPr>
          <a:lstStyle/>
          <a:p>
            <a:r>
              <a:rPr lang="en-CA" dirty="0" smtClean="0"/>
              <a:t>File-system applications are difficult to write</a:t>
            </a:r>
          </a:p>
          <a:p>
            <a:pPr lvl="1"/>
            <a:r>
              <a:rPr lang="en-CA" dirty="0" smtClean="0"/>
              <a:t>File system format complex and often poorly documented</a:t>
            </a:r>
          </a:p>
          <a:p>
            <a:pPr lvl="1"/>
            <a:r>
              <a:rPr lang="en-CA" dirty="0" smtClean="0"/>
              <a:t>Applications require detailed knowledge of format</a:t>
            </a:r>
          </a:p>
          <a:p>
            <a:pPr lvl="1"/>
            <a:r>
              <a:rPr lang="en-CA" dirty="0" smtClean="0"/>
              <a:t>Need to handle file system corruption</a:t>
            </a:r>
          </a:p>
        </p:txBody>
      </p:sp>
      <p:sp>
        <p:nvSpPr>
          <p:cNvPr id="5" name="Slide Number Placeholder 4"/>
          <p:cNvSpPr>
            <a:spLocks noGrp="1"/>
          </p:cNvSpPr>
          <p:nvPr>
            <p:ph type="sldNum" sz="quarter" idx="12"/>
          </p:nvPr>
        </p:nvSpPr>
        <p:spPr/>
        <p:txBody>
          <a:bodyPr/>
          <a:lstStyle/>
          <a:p>
            <a:fld id="{7B2023C8-B124-43A9-8F92-0EEF5BAA9995}" type="slidenum">
              <a:rPr lang="en-CA" smtClean="0"/>
              <a:pPr/>
              <a:t>4</a:t>
            </a:fld>
            <a:endParaRPr lang="en-CA" dirty="0"/>
          </a:p>
        </p:txBody>
      </p:sp>
    </p:spTree>
    <p:extLst>
      <p:ext uri="{BB962C8B-B14F-4D97-AF65-F5344CB8AC3E}">
        <p14:creationId xmlns:p14="http://schemas.microsoft.com/office/powerpoint/2010/main" val="90541028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Goals</a:t>
            </a:r>
            <a:endParaRPr lang="en-CA" dirty="0"/>
          </a:p>
        </p:txBody>
      </p:sp>
      <p:sp>
        <p:nvSpPr>
          <p:cNvPr id="3" name="Content Placeholder 2"/>
          <p:cNvSpPr>
            <a:spLocks noGrp="1"/>
          </p:cNvSpPr>
          <p:nvPr>
            <p:ph idx="1"/>
          </p:nvPr>
        </p:nvSpPr>
        <p:spPr/>
        <p:txBody>
          <a:bodyPr>
            <a:normAutofit/>
          </a:bodyPr>
          <a:lstStyle/>
          <a:p>
            <a:r>
              <a:rPr lang="en-CA" dirty="0"/>
              <a:t>Simplify development of file-system aware applications</a:t>
            </a:r>
          </a:p>
          <a:p>
            <a:pPr lvl="1"/>
            <a:r>
              <a:rPr lang="en-CA" dirty="0"/>
              <a:t>Reduce file-system specific code</a:t>
            </a:r>
          </a:p>
          <a:p>
            <a:pPr lvl="1"/>
            <a:r>
              <a:rPr lang="en-CA" dirty="0"/>
              <a:t>Enable code reuse across file systems</a:t>
            </a:r>
          </a:p>
          <a:p>
            <a:endParaRPr lang="en-CA" dirty="0" smtClean="0"/>
          </a:p>
          <a:p>
            <a:r>
              <a:rPr lang="en-CA" dirty="0" smtClean="0"/>
              <a:t>Improve </a:t>
            </a:r>
            <a:r>
              <a:rPr lang="en-CA" dirty="0"/>
              <a:t>robustness of </a:t>
            </a:r>
            <a:r>
              <a:rPr lang="en-CA" dirty="0" smtClean="0"/>
              <a:t>these applications</a:t>
            </a:r>
          </a:p>
          <a:p>
            <a:pPr lvl="1"/>
            <a:r>
              <a:rPr lang="en-CA" dirty="0" smtClean="0"/>
              <a:t>Enable correct traversal of file system metadata</a:t>
            </a:r>
          </a:p>
          <a:p>
            <a:pPr lvl="1"/>
            <a:r>
              <a:rPr lang="en-CA" dirty="0" smtClean="0"/>
              <a:t>Ensure type safe access to file system structures</a:t>
            </a:r>
          </a:p>
          <a:p>
            <a:pPr lvl="2"/>
            <a:r>
              <a:rPr lang="en-CA" dirty="0" smtClean="0"/>
              <a:t>Helps detect corruption for both read and write</a:t>
            </a:r>
          </a:p>
          <a:p>
            <a:pPr lvl="2"/>
            <a:r>
              <a:rPr lang="en-CA" dirty="0" smtClean="0"/>
              <a:t>Helps </a:t>
            </a:r>
            <a:r>
              <a:rPr lang="en-CA" dirty="0"/>
              <a:t>reduce error propagation, and further </a:t>
            </a:r>
            <a:r>
              <a:rPr lang="en-CA" dirty="0" smtClean="0"/>
              <a:t>corruption</a:t>
            </a:r>
          </a:p>
          <a:p>
            <a:pPr lvl="2"/>
            <a:endParaRPr lang="en-CA" dirty="0" smtClean="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5</a:t>
            </a:fld>
            <a:endParaRPr lang="en-CA" dirty="0"/>
          </a:p>
        </p:txBody>
      </p:sp>
    </p:spTree>
    <p:extLst>
      <p:ext uri="{BB962C8B-B14F-4D97-AF65-F5344CB8AC3E}">
        <p14:creationId xmlns:p14="http://schemas.microsoft.com/office/powerpoint/2010/main" val="4769936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Approach: </a:t>
            </a:r>
            <a:r>
              <a:rPr lang="en-CA" dirty="0"/>
              <a:t>Spiffy </a:t>
            </a:r>
            <a:r>
              <a:rPr lang="en-CA" dirty="0" smtClean="0"/>
              <a:t>Framework</a:t>
            </a:r>
            <a:endParaRPr lang="en-CA" dirty="0"/>
          </a:p>
        </p:txBody>
      </p:sp>
      <p:sp>
        <p:nvSpPr>
          <p:cNvPr id="3" name="Content Placeholder 2"/>
          <p:cNvSpPr>
            <a:spLocks noGrp="1"/>
          </p:cNvSpPr>
          <p:nvPr>
            <p:ph idx="1"/>
          </p:nvPr>
        </p:nvSpPr>
        <p:spPr/>
        <p:txBody>
          <a:bodyPr/>
          <a:lstStyle/>
          <a:p>
            <a:pPr marL="457200" indent="-457200">
              <a:buFont typeface="+mj-lt"/>
              <a:buAutoNum type="arabicPeriod"/>
            </a:pPr>
            <a:r>
              <a:rPr lang="en-CA" dirty="0" smtClean="0"/>
              <a:t>File </a:t>
            </a:r>
            <a:r>
              <a:rPr lang="en-CA" dirty="0"/>
              <a:t>system developers specify the format of their file </a:t>
            </a:r>
            <a:r>
              <a:rPr lang="en-CA" dirty="0" smtClean="0"/>
              <a:t>system</a:t>
            </a:r>
          </a:p>
          <a:p>
            <a:pPr marL="457200" indent="-457200">
              <a:buFont typeface="+mj-lt"/>
              <a:buAutoNum type="arabicPeriod"/>
            </a:pPr>
            <a:r>
              <a:rPr lang="en-CA" dirty="0" smtClean="0"/>
              <a:t>Spiffy uses specification to generate parsing and serialization library </a:t>
            </a:r>
          </a:p>
          <a:p>
            <a:pPr marL="457200" indent="-457200">
              <a:buFont typeface="+mj-lt"/>
              <a:buAutoNum type="arabicPeriod"/>
            </a:pPr>
            <a:r>
              <a:rPr lang="en-CA" dirty="0" smtClean="0"/>
              <a:t>Developers use library to build robust file-system aware applications</a:t>
            </a:r>
            <a:endParaRPr lang="en-CA" dirty="0"/>
          </a:p>
          <a:p>
            <a:pPr marL="457200" indent="-457200">
              <a:buFont typeface="+mj-lt"/>
              <a:buAutoNum type="arabicPeriod"/>
            </a:pPr>
            <a:endParaRPr lang="en-CA" dirty="0"/>
          </a:p>
          <a:p>
            <a:pPr marL="457200" indent="-457200">
              <a:buFont typeface="+mj-lt"/>
              <a:buAutoNum type="arabicPeriod"/>
            </a:pPr>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6</a:t>
            </a:fld>
            <a:endParaRPr lang="en-CA" dirty="0"/>
          </a:p>
        </p:txBody>
      </p:sp>
    </p:spTree>
    <p:extLst>
      <p:ext uri="{BB962C8B-B14F-4D97-AF65-F5344CB8AC3E}">
        <p14:creationId xmlns:p14="http://schemas.microsoft.com/office/powerpoint/2010/main" val="18539636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Specifying Format</a:t>
            </a:r>
            <a:endParaRPr lang="en-CA" dirty="0"/>
          </a:p>
        </p:txBody>
      </p:sp>
      <p:sp>
        <p:nvSpPr>
          <p:cNvPr id="3" name="Content Placeholder 2"/>
          <p:cNvSpPr>
            <a:spLocks noGrp="1"/>
          </p:cNvSpPr>
          <p:nvPr>
            <p:ph idx="1"/>
          </p:nvPr>
        </p:nvSpPr>
        <p:spPr>
          <a:xfrm>
            <a:off x="684211" y="1515358"/>
            <a:ext cx="10285797" cy="1172568"/>
          </a:xfrm>
        </p:spPr>
        <p:txBody>
          <a:bodyPr/>
          <a:lstStyle/>
          <a:p>
            <a:pPr marL="514350" indent="-514350">
              <a:buFont typeface="+mj-lt"/>
              <a:buAutoNum type="arabicPeriod"/>
            </a:pPr>
            <a:r>
              <a:rPr lang="en-CA" dirty="0" smtClean="0"/>
              <a:t>File system developers annotate metadata structures in </a:t>
            </a:r>
            <a:br>
              <a:rPr lang="en-CA" dirty="0" smtClean="0"/>
            </a:br>
            <a:r>
              <a:rPr lang="en-CA" dirty="0" smtClean="0"/>
              <a:t>header files of existing source code</a:t>
            </a:r>
          </a:p>
        </p:txBody>
      </p:sp>
      <p:sp>
        <p:nvSpPr>
          <p:cNvPr id="35" name="Slide Number Placeholder 34"/>
          <p:cNvSpPr>
            <a:spLocks noGrp="1"/>
          </p:cNvSpPr>
          <p:nvPr>
            <p:ph type="sldNum" sz="quarter" idx="12"/>
          </p:nvPr>
        </p:nvSpPr>
        <p:spPr/>
        <p:txBody>
          <a:bodyPr/>
          <a:lstStyle/>
          <a:p>
            <a:fld id="{7B2023C8-B124-43A9-8F92-0EEF5BAA9995}" type="slidenum">
              <a:rPr lang="en-CA" smtClean="0"/>
              <a:pPr/>
              <a:t>7</a:t>
            </a:fld>
            <a:endParaRPr lang="en-CA" dirty="0"/>
          </a:p>
        </p:txBody>
      </p:sp>
      <p:grpSp>
        <p:nvGrpSpPr>
          <p:cNvPr id="82" name="Group 81"/>
          <p:cNvGrpSpPr/>
          <p:nvPr/>
        </p:nvGrpSpPr>
        <p:grpSpPr>
          <a:xfrm>
            <a:off x="824305" y="2832811"/>
            <a:ext cx="9787357" cy="3222517"/>
            <a:chOff x="824305" y="2832811"/>
            <a:chExt cx="9787357" cy="3222517"/>
          </a:xfrm>
        </p:grpSpPr>
        <p:sp>
          <p:nvSpPr>
            <p:cNvPr id="5" name="Snip Single Corner Rectangle 4"/>
            <p:cNvSpPr/>
            <p:nvPr/>
          </p:nvSpPr>
          <p:spPr>
            <a:xfrm>
              <a:off x="2184504" y="4065180"/>
              <a:ext cx="1332000" cy="774000"/>
            </a:xfrm>
            <a:prstGeom prst="snip1Rect">
              <a:avLst>
                <a:gd name="adj" fmla="val 16653"/>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Annotated File System Structures</a:t>
              </a:r>
            </a:p>
          </p:txBody>
        </p:sp>
        <p:sp>
          <p:nvSpPr>
            <p:cNvPr id="7" name="TextBox 6"/>
            <p:cNvSpPr txBox="1"/>
            <p:nvPr/>
          </p:nvSpPr>
          <p:spPr>
            <a:xfrm>
              <a:off x="1487383" y="3112971"/>
              <a:ext cx="1186542" cy="523220"/>
            </a:xfrm>
            <a:prstGeom prst="rect">
              <a:avLst/>
            </a:prstGeom>
            <a:noFill/>
            <a:ln w="25400">
              <a:noFill/>
            </a:ln>
            <a:effectLst>
              <a:glow rad="101600">
                <a:srgbClr val="FFFF00">
                  <a:alpha val="40000"/>
                </a:srgbClr>
              </a:glow>
            </a:effectLst>
          </p:spPr>
          <p:txBody>
            <a:bodyPr wrap="none" rtlCol="0">
              <a:spAutoFit/>
            </a:bodyPr>
            <a:lstStyle/>
            <a:p>
              <a:pPr algn="ctr"/>
              <a:r>
                <a:rPr lang="en-CA" sz="1400" b="1" dirty="0">
                  <a:solidFill>
                    <a:schemeClr val="bg1"/>
                  </a:solidFill>
                </a:rPr>
                <a:t>File System </a:t>
              </a:r>
            </a:p>
            <a:p>
              <a:pPr algn="ctr"/>
              <a:r>
                <a:rPr lang="en-CA" sz="1400" b="1" dirty="0">
                  <a:solidFill>
                    <a:schemeClr val="bg1"/>
                  </a:solidFill>
                </a:rPr>
                <a:t>Developer</a:t>
              </a:r>
            </a:p>
          </p:txBody>
        </p:sp>
        <p:sp>
          <p:nvSpPr>
            <p:cNvPr id="8" name="Right Arrow 7"/>
            <p:cNvSpPr/>
            <p:nvPr/>
          </p:nvSpPr>
          <p:spPr>
            <a:xfrm>
              <a:off x="1737224"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0" name="Rounded Rectangle 9"/>
            <p:cNvSpPr/>
            <p:nvPr/>
          </p:nvSpPr>
          <p:spPr>
            <a:xfrm>
              <a:off x="4094065" y="4065180"/>
              <a:ext cx="1080000" cy="774000"/>
            </a:xfrm>
            <a:prstGeom prst="roundRect">
              <a:avLst/>
            </a:prstGeom>
            <a:noFill/>
            <a:ln w="25400" cmpd="dbl">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dirty="0">
                  <a:solidFill>
                    <a:schemeClr val="bg1"/>
                  </a:solidFill>
                </a:rPr>
                <a:t>Spiffy Compiler</a:t>
              </a:r>
            </a:p>
          </p:txBody>
        </p:sp>
        <p:sp>
          <p:nvSpPr>
            <p:cNvPr id="11" name="Snip Single Corner Rectangle 10"/>
            <p:cNvSpPr/>
            <p:nvPr/>
          </p:nvSpPr>
          <p:spPr>
            <a:xfrm>
              <a:off x="7432632" y="5281328"/>
              <a:ext cx="1332000" cy="774000"/>
            </a:xfrm>
            <a:prstGeom prst="snip1Rect">
              <a:avLst>
                <a:gd name="adj" fmla="val 17937"/>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0" rIns="0" bIns="144000" rtlCol="0" anchor="ctr"/>
            <a:lstStyle/>
            <a:p>
              <a:pPr algn="ctr"/>
              <a:r>
                <a:rPr lang="en-CA" sz="1600" dirty="0" smtClean="0">
                  <a:solidFill>
                    <a:schemeClr val="bg1"/>
                  </a:solidFill>
                </a:rPr>
                <a:t>Generic  </a:t>
              </a:r>
              <a:br>
                <a:rPr lang="en-CA" sz="1600" dirty="0" smtClean="0">
                  <a:solidFill>
                    <a:schemeClr val="bg1"/>
                  </a:solidFill>
                </a:rPr>
              </a:br>
              <a:r>
                <a:rPr lang="en-CA" sz="1600" dirty="0" smtClean="0">
                  <a:solidFill>
                    <a:schemeClr val="bg1"/>
                  </a:solidFill>
                </a:rPr>
                <a:t>Application</a:t>
              </a:r>
              <a:endParaRPr lang="en-CA" sz="1600" dirty="0">
                <a:solidFill>
                  <a:schemeClr val="bg1"/>
                </a:solidFill>
              </a:endParaRPr>
            </a:p>
          </p:txBody>
        </p:sp>
        <p:sp>
          <p:nvSpPr>
            <p:cNvPr id="13" name="Snip Single Corner Rectangle 12"/>
            <p:cNvSpPr/>
            <p:nvPr/>
          </p:nvSpPr>
          <p:spPr>
            <a:xfrm>
              <a:off x="7432632" y="2832811"/>
              <a:ext cx="1332000" cy="774000"/>
            </a:xfrm>
            <a:prstGeom prst="snip1Rect">
              <a:avLst>
                <a:gd name="adj" fmla="val 17937"/>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File </a:t>
              </a:r>
              <a:r>
                <a:rPr lang="en-CA" sz="1600" dirty="0" smtClean="0">
                  <a:solidFill>
                    <a:schemeClr val="bg1"/>
                  </a:solidFill>
                </a:rPr>
                <a:t>System </a:t>
              </a:r>
              <a:r>
                <a:rPr lang="en-CA" sz="1600" dirty="0">
                  <a:solidFill>
                    <a:schemeClr val="bg1"/>
                  </a:solidFill>
                </a:rPr>
                <a:t>Specific Policies</a:t>
              </a:r>
            </a:p>
          </p:txBody>
        </p:sp>
        <p:sp>
          <p:nvSpPr>
            <p:cNvPr id="14" name="Right Arrow 13"/>
            <p:cNvSpPr/>
            <p:nvPr/>
          </p:nvSpPr>
          <p:spPr>
            <a:xfrm rot="5400000">
              <a:off x="7946907" y="4930973"/>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5" name="Rectangle 14"/>
            <p:cNvSpPr/>
            <p:nvPr/>
          </p:nvSpPr>
          <p:spPr>
            <a:xfrm>
              <a:off x="5751627" y="4065180"/>
              <a:ext cx="122400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smtClean="0">
                  <a:solidFill>
                    <a:schemeClr val="bg1"/>
                  </a:solidFill>
                </a:rPr>
                <a:t>File </a:t>
              </a:r>
              <a:r>
                <a:rPr lang="en-CA" sz="1600" dirty="0">
                  <a:solidFill>
                    <a:schemeClr val="bg1"/>
                  </a:solidFill>
                </a:rPr>
                <a:t>System Library</a:t>
              </a:r>
            </a:p>
          </p:txBody>
        </p:sp>
        <p:sp>
          <p:nvSpPr>
            <p:cNvPr id="16" name="Right Arrow 15"/>
            <p:cNvSpPr/>
            <p:nvPr/>
          </p:nvSpPr>
          <p:spPr>
            <a:xfrm>
              <a:off x="5304346"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17" name="Rectangle 16"/>
            <p:cNvSpPr/>
            <p:nvPr/>
          </p:nvSpPr>
          <p:spPr>
            <a:xfrm>
              <a:off x="9292902" y="4065180"/>
              <a:ext cx="131876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dirty="0">
                  <a:solidFill>
                    <a:schemeClr val="bg1"/>
                  </a:solidFill>
                </a:rPr>
                <a:t>File System Application</a:t>
              </a:r>
            </a:p>
          </p:txBody>
        </p:sp>
        <p:sp>
          <p:nvSpPr>
            <p:cNvPr id="19" name="Right Arrow 18"/>
            <p:cNvSpPr/>
            <p:nvPr/>
          </p:nvSpPr>
          <p:spPr>
            <a:xfrm rot="18900000">
              <a:off x="7054852" y="3727351"/>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0" name="Right Arrow 19"/>
            <p:cNvSpPr/>
            <p:nvPr/>
          </p:nvSpPr>
          <p:spPr>
            <a:xfrm rot="16200000">
              <a:off x="7946907" y="3721899"/>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1" name="Right Arrow 20"/>
            <p:cNvSpPr/>
            <p:nvPr/>
          </p:nvSpPr>
          <p:spPr>
            <a:xfrm rot="18900000">
              <a:off x="8859377" y="493642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2" name="Right Arrow 21"/>
            <p:cNvSpPr/>
            <p:nvPr/>
          </p:nvSpPr>
          <p:spPr>
            <a:xfrm rot="2700000">
              <a:off x="8866151" y="3721898"/>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3" name="Rectangle 22"/>
            <p:cNvSpPr/>
            <p:nvPr/>
          </p:nvSpPr>
          <p:spPr>
            <a:xfrm>
              <a:off x="5709658" y="5281328"/>
              <a:ext cx="126000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a:solidFill>
                    <a:schemeClr val="bg1"/>
                  </a:solidFill>
                </a:rPr>
                <a:t>Spiffy API</a:t>
              </a:r>
            </a:p>
          </p:txBody>
        </p:sp>
        <p:sp>
          <p:nvSpPr>
            <p:cNvPr id="24" name="Right Arrow 23"/>
            <p:cNvSpPr/>
            <p:nvPr/>
          </p:nvSpPr>
          <p:spPr>
            <a:xfrm>
              <a:off x="7054852" y="547390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25" name="Right Arrow 24"/>
            <p:cNvSpPr/>
            <p:nvPr/>
          </p:nvSpPr>
          <p:spPr>
            <a:xfrm rot="16200000">
              <a:off x="6187933" y="4930974"/>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pic>
          <p:nvPicPr>
            <p:cNvPr id="39" name="Picture 3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78658" y="4032191"/>
              <a:ext cx="839949" cy="839978"/>
            </a:xfrm>
            <a:prstGeom prst="rect">
              <a:avLst/>
            </a:prstGeom>
          </p:spPr>
        </p:pic>
        <p:grpSp>
          <p:nvGrpSpPr>
            <p:cNvPr id="72" name="Group 71"/>
            <p:cNvGrpSpPr/>
            <p:nvPr/>
          </p:nvGrpSpPr>
          <p:grpSpPr>
            <a:xfrm>
              <a:off x="824305" y="3607630"/>
              <a:ext cx="782638" cy="1689100"/>
              <a:chOff x="1494268" y="4778493"/>
              <a:chExt cx="782638" cy="1689100"/>
            </a:xfrm>
            <a:effectLst>
              <a:glow rad="101600">
                <a:srgbClr val="FFFF00">
                  <a:alpha val="40000"/>
                </a:srgbClr>
              </a:glow>
            </a:effectLst>
          </p:grpSpPr>
          <p:sp>
            <p:nvSpPr>
              <p:cNvPr id="44" name="Freeform 5"/>
              <p:cNvSpPr>
                <a:spLocks/>
              </p:cNvSpPr>
              <p:nvPr/>
            </p:nvSpPr>
            <p:spPr bwMode="auto">
              <a:xfrm>
                <a:off x="1508556" y="4964230"/>
                <a:ext cx="758825" cy="148907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5" name="Freeform 6"/>
              <p:cNvSpPr>
                <a:spLocks/>
              </p:cNvSpPr>
              <p:nvPr/>
            </p:nvSpPr>
            <p:spPr bwMode="auto">
              <a:xfrm>
                <a:off x="1511731" y="5119805"/>
                <a:ext cx="696913" cy="854075"/>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6350"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46" name="Freeform 7"/>
              <p:cNvSpPr>
                <a:spLocks/>
              </p:cNvSpPr>
              <p:nvPr/>
            </p:nvSpPr>
            <p:spPr bwMode="auto">
              <a:xfrm>
                <a:off x="1737156" y="5792905"/>
                <a:ext cx="387350" cy="1651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7" name="Freeform 8"/>
              <p:cNvSpPr>
                <a:spLocks/>
              </p:cNvSpPr>
              <p:nvPr/>
            </p:nvSpPr>
            <p:spPr bwMode="auto">
              <a:xfrm>
                <a:off x="1880031" y="5496043"/>
                <a:ext cx="33338" cy="153988"/>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8" name="Freeform 9"/>
              <p:cNvSpPr>
                <a:spLocks noEditPoints="1"/>
              </p:cNvSpPr>
              <p:nvPr/>
            </p:nvSpPr>
            <p:spPr bwMode="auto">
              <a:xfrm>
                <a:off x="1876856" y="5489693"/>
                <a:ext cx="41275" cy="1666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49" name="Freeform 10"/>
              <p:cNvSpPr>
                <a:spLocks/>
              </p:cNvSpPr>
              <p:nvPr/>
            </p:nvSpPr>
            <p:spPr bwMode="auto">
              <a:xfrm>
                <a:off x="1930831" y="5489693"/>
                <a:ext cx="34925" cy="1666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6350"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50" name="Freeform 11"/>
              <p:cNvSpPr>
                <a:spLocks/>
              </p:cNvSpPr>
              <p:nvPr/>
            </p:nvSpPr>
            <p:spPr bwMode="auto">
              <a:xfrm>
                <a:off x="1594281" y="5027730"/>
                <a:ext cx="412750" cy="390525"/>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1" name="Freeform 12"/>
              <p:cNvSpPr>
                <a:spLocks/>
              </p:cNvSpPr>
              <p:nvPr/>
            </p:nvSpPr>
            <p:spPr bwMode="auto">
              <a:xfrm>
                <a:off x="1495856" y="4959468"/>
                <a:ext cx="781050" cy="1508125"/>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2" name="Freeform 13"/>
              <p:cNvSpPr>
                <a:spLocks/>
              </p:cNvSpPr>
              <p:nvPr/>
            </p:nvSpPr>
            <p:spPr bwMode="auto">
              <a:xfrm>
                <a:off x="1551418" y="5354755"/>
                <a:ext cx="369888" cy="13811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3" name="Freeform 14"/>
              <p:cNvSpPr>
                <a:spLocks noEditPoints="1"/>
              </p:cNvSpPr>
              <p:nvPr/>
            </p:nvSpPr>
            <p:spPr bwMode="auto">
              <a:xfrm>
                <a:off x="1560943" y="5375393"/>
                <a:ext cx="130175" cy="111125"/>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54" name="Freeform 15"/>
              <p:cNvSpPr>
                <a:spLocks/>
              </p:cNvSpPr>
              <p:nvPr/>
            </p:nvSpPr>
            <p:spPr bwMode="auto">
              <a:xfrm>
                <a:off x="1930831" y="5276968"/>
                <a:ext cx="74613" cy="19367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55" name="Freeform 16"/>
              <p:cNvSpPr>
                <a:spLocks/>
              </p:cNvSpPr>
              <p:nvPr/>
            </p:nvSpPr>
            <p:spPr bwMode="auto">
              <a:xfrm>
                <a:off x="1559356" y="5359518"/>
                <a:ext cx="368300" cy="144463"/>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6" name="Freeform 17"/>
              <p:cNvSpPr>
                <a:spLocks/>
              </p:cNvSpPr>
              <p:nvPr/>
            </p:nvSpPr>
            <p:spPr bwMode="auto">
              <a:xfrm>
                <a:off x="1494268" y="5372218"/>
                <a:ext cx="439738" cy="122238"/>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57" name="Freeform 18"/>
              <p:cNvSpPr>
                <a:spLocks/>
              </p:cNvSpPr>
              <p:nvPr/>
            </p:nvSpPr>
            <p:spPr bwMode="auto">
              <a:xfrm>
                <a:off x="1813356" y="5234105"/>
                <a:ext cx="128588" cy="152400"/>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62" name="Freeform 23"/>
              <p:cNvSpPr>
                <a:spLocks/>
              </p:cNvSpPr>
              <p:nvPr/>
            </p:nvSpPr>
            <p:spPr bwMode="auto">
              <a:xfrm>
                <a:off x="1553006" y="5278555"/>
                <a:ext cx="455613" cy="2143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63" name="Freeform 24"/>
              <p:cNvSpPr>
                <a:spLocks noEditPoints="1"/>
              </p:cNvSpPr>
              <p:nvPr/>
            </p:nvSpPr>
            <p:spPr bwMode="auto">
              <a:xfrm>
                <a:off x="1538718" y="5262680"/>
                <a:ext cx="474663" cy="24447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4" name="Freeform 25"/>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5" name="Freeform 26"/>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6" name="Freeform 27"/>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7" name="Freeform 28"/>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8" name="Freeform 29"/>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9" name="Freeform 30"/>
              <p:cNvSpPr>
                <a:spLocks noEditPoints="1"/>
              </p:cNvSpPr>
              <p:nvPr/>
            </p:nvSpPr>
            <p:spPr bwMode="auto">
              <a:xfrm>
                <a:off x="1500618" y="5007093"/>
                <a:ext cx="673100" cy="1066800"/>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0" name="Freeform 31"/>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71" name="Freeform 32"/>
              <p:cNvSpPr>
                <a:spLocks/>
              </p:cNvSpPr>
              <p:nvPr/>
            </p:nvSpPr>
            <p:spPr bwMode="auto">
              <a:xfrm>
                <a:off x="2064181" y="4778493"/>
                <a:ext cx="161925" cy="2730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9050"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
          <p:nvSpPr>
            <p:cNvPr id="73" name="Right Arrow 72"/>
            <p:cNvSpPr/>
            <p:nvPr/>
          </p:nvSpPr>
          <p:spPr>
            <a:xfrm>
              <a:off x="3646785"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74" name="TextBox 73"/>
            <p:cNvSpPr txBox="1"/>
            <p:nvPr/>
          </p:nvSpPr>
          <p:spPr>
            <a:xfrm>
              <a:off x="9235248" y="3178470"/>
              <a:ext cx="1051891" cy="461665"/>
            </a:xfrm>
            <a:prstGeom prst="rect">
              <a:avLst/>
            </a:prstGeom>
            <a:noFill/>
            <a:ln w="25400">
              <a:noFill/>
            </a:ln>
          </p:spPr>
          <p:txBody>
            <a:bodyPr wrap="none" rtlCol="0">
              <a:spAutoFit/>
            </a:bodyPr>
            <a:lstStyle/>
            <a:p>
              <a:pPr algn="ctr"/>
              <a:r>
                <a:rPr lang="en-CA" sz="1200" i="1" dirty="0" smtClean="0">
                  <a:solidFill>
                    <a:schemeClr val="bg1"/>
                  </a:solidFill>
                </a:rPr>
                <a:t>Application</a:t>
              </a:r>
              <a:endParaRPr lang="en-CA" sz="1200" i="1" dirty="0">
                <a:solidFill>
                  <a:schemeClr val="bg1"/>
                </a:solidFill>
              </a:endParaRPr>
            </a:p>
            <a:p>
              <a:pPr algn="ctr"/>
              <a:r>
                <a:rPr lang="en-CA" sz="1200" i="1" dirty="0">
                  <a:solidFill>
                    <a:schemeClr val="bg1"/>
                  </a:solidFill>
                </a:rPr>
                <a:t>Developer</a:t>
              </a:r>
            </a:p>
          </p:txBody>
        </p:sp>
        <p:cxnSp>
          <p:nvCxnSpPr>
            <p:cNvPr id="76" name="Straight Arrow Connector 75"/>
            <p:cNvCxnSpPr/>
            <p:nvPr/>
          </p:nvCxnSpPr>
          <p:spPr>
            <a:xfrm flipH="1">
              <a:off x="8577545" y="3464992"/>
              <a:ext cx="712276" cy="732542"/>
            </a:xfrm>
            <a:prstGeom prst="straightConnector1">
              <a:avLst/>
            </a:prstGeom>
            <a:ln w="12700">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74394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Generating Library</a:t>
            </a:r>
            <a:endParaRPr lang="en-CA" dirty="0"/>
          </a:p>
        </p:txBody>
      </p:sp>
      <p:sp>
        <p:nvSpPr>
          <p:cNvPr id="3" name="Content Placeholder 2"/>
          <p:cNvSpPr>
            <a:spLocks noGrp="1"/>
          </p:cNvSpPr>
          <p:nvPr>
            <p:ph idx="1"/>
          </p:nvPr>
        </p:nvSpPr>
        <p:spPr>
          <a:xfrm>
            <a:off x="684211" y="1515358"/>
            <a:ext cx="10285797" cy="1282801"/>
          </a:xfrm>
        </p:spPr>
        <p:txBody>
          <a:bodyPr/>
          <a:lstStyle/>
          <a:p>
            <a:pPr marL="514350" indent="-514350">
              <a:buFont typeface="+mj-lt"/>
              <a:buAutoNum type="arabicPeriod" startAt="2"/>
            </a:pPr>
            <a:r>
              <a:rPr lang="en-CA" dirty="0" smtClean="0"/>
              <a:t>Spiffy compiler processes annotated metadata structures</a:t>
            </a:r>
            <a:br>
              <a:rPr lang="en-CA" dirty="0" smtClean="0"/>
            </a:br>
            <a:r>
              <a:rPr lang="en-CA" dirty="0" smtClean="0"/>
              <a:t>to generate library for type-safe parsing</a:t>
            </a:r>
            <a:r>
              <a:rPr lang="en-CA" dirty="0"/>
              <a:t>, traversal and </a:t>
            </a:r>
            <a:r>
              <a:rPr lang="en-CA" dirty="0" smtClean="0"/>
              <a:t>serialization of file system structures</a:t>
            </a:r>
          </a:p>
        </p:txBody>
      </p:sp>
      <p:sp>
        <p:nvSpPr>
          <p:cNvPr id="4" name="Slide Number Placeholder 3"/>
          <p:cNvSpPr>
            <a:spLocks noGrp="1"/>
          </p:cNvSpPr>
          <p:nvPr>
            <p:ph type="sldNum" sz="quarter" idx="12"/>
          </p:nvPr>
        </p:nvSpPr>
        <p:spPr/>
        <p:txBody>
          <a:bodyPr/>
          <a:lstStyle/>
          <a:p>
            <a:fld id="{7B2023C8-B124-43A9-8F92-0EEF5BAA9995}" type="slidenum">
              <a:rPr lang="en-CA" smtClean="0"/>
              <a:pPr/>
              <a:t>8</a:t>
            </a:fld>
            <a:endParaRPr lang="en-CA" dirty="0"/>
          </a:p>
        </p:txBody>
      </p:sp>
      <p:sp>
        <p:nvSpPr>
          <p:cNvPr id="39" name="Snip Single Corner Rectangle 38"/>
          <p:cNvSpPr/>
          <p:nvPr/>
        </p:nvSpPr>
        <p:spPr>
          <a:xfrm>
            <a:off x="2184504" y="4065180"/>
            <a:ext cx="1332000" cy="774000"/>
          </a:xfrm>
          <a:prstGeom prst="snip1Rect">
            <a:avLst>
              <a:gd name="adj" fmla="val 16653"/>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Annotated File System Structures</a:t>
            </a:r>
          </a:p>
        </p:txBody>
      </p:sp>
      <p:sp>
        <p:nvSpPr>
          <p:cNvPr id="40" name="TextBox 39"/>
          <p:cNvSpPr txBox="1"/>
          <p:nvPr/>
        </p:nvSpPr>
        <p:spPr>
          <a:xfrm>
            <a:off x="1487383" y="3112971"/>
            <a:ext cx="1186542" cy="523220"/>
          </a:xfrm>
          <a:prstGeom prst="rect">
            <a:avLst/>
          </a:prstGeom>
          <a:noFill/>
          <a:ln w="25400">
            <a:noFill/>
          </a:ln>
          <a:effectLst>
            <a:glow rad="101600">
              <a:srgbClr val="FFFF00">
                <a:alpha val="40000"/>
              </a:srgbClr>
            </a:glow>
          </a:effectLst>
        </p:spPr>
        <p:txBody>
          <a:bodyPr wrap="none" rtlCol="0">
            <a:spAutoFit/>
          </a:bodyPr>
          <a:lstStyle/>
          <a:p>
            <a:pPr algn="ctr"/>
            <a:r>
              <a:rPr lang="en-CA" sz="1400" i="1" dirty="0">
                <a:solidFill>
                  <a:schemeClr val="bg1"/>
                </a:solidFill>
              </a:rPr>
              <a:t>File System </a:t>
            </a:r>
          </a:p>
          <a:p>
            <a:pPr algn="ctr"/>
            <a:r>
              <a:rPr lang="en-CA" sz="1400" i="1" dirty="0">
                <a:solidFill>
                  <a:schemeClr val="bg1"/>
                </a:solidFill>
              </a:rPr>
              <a:t>Developer</a:t>
            </a:r>
          </a:p>
        </p:txBody>
      </p:sp>
      <p:sp>
        <p:nvSpPr>
          <p:cNvPr id="41" name="Right Arrow 40"/>
          <p:cNvSpPr/>
          <p:nvPr/>
        </p:nvSpPr>
        <p:spPr>
          <a:xfrm>
            <a:off x="1737224"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2" name="Rounded Rectangle 41"/>
          <p:cNvSpPr/>
          <p:nvPr/>
        </p:nvSpPr>
        <p:spPr>
          <a:xfrm>
            <a:off x="4094065" y="4065180"/>
            <a:ext cx="1080000" cy="774000"/>
          </a:xfrm>
          <a:prstGeom prst="roundRect">
            <a:avLst/>
          </a:prstGeom>
          <a:noFill/>
          <a:ln w="25400" cmpd="dbl">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b="1" dirty="0">
                <a:solidFill>
                  <a:schemeClr val="bg1"/>
                </a:solidFill>
              </a:rPr>
              <a:t>Spiffy Compiler</a:t>
            </a:r>
          </a:p>
        </p:txBody>
      </p:sp>
      <p:sp>
        <p:nvSpPr>
          <p:cNvPr id="43" name="Snip Single Corner Rectangle 42"/>
          <p:cNvSpPr/>
          <p:nvPr/>
        </p:nvSpPr>
        <p:spPr>
          <a:xfrm>
            <a:off x="7432632" y="5281328"/>
            <a:ext cx="1332000" cy="774000"/>
          </a:xfrm>
          <a:prstGeom prst="snip1Rect">
            <a:avLst>
              <a:gd name="adj" fmla="val 17937"/>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2000" tIns="0" rIns="0" bIns="144000" rtlCol="0" anchor="ctr"/>
          <a:lstStyle/>
          <a:p>
            <a:pPr algn="ctr"/>
            <a:r>
              <a:rPr lang="en-CA" sz="1600" dirty="0" smtClean="0">
                <a:solidFill>
                  <a:schemeClr val="bg1"/>
                </a:solidFill>
              </a:rPr>
              <a:t>Generic  </a:t>
            </a:r>
            <a:br>
              <a:rPr lang="en-CA" sz="1600" dirty="0" smtClean="0">
                <a:solidFill>
                  <a:schemeClr val="bg1"/>
                </a:solidFill>
              </a:rPr>
            </a:br>
            <a:r>
              <a:rPr lang="en-CA" sz="1600" dirty="0" smtClean="0">
                <a:solidFill>
                  <a:schemeClr val="bg1"/>
                </a:solidFill>
              </a:rPr>
              <a:t>Application</a:t>
            </a:r>
            <a:endParaRPr lang="en-CA" sz="1600" dirty="0">
              <a:solidFill>
                <a:schemeClr val="bg1"/>
              </a:solidFill>
            </a:endParaRPr>
          </a:p>
        </p:txBody>
      </p:sp>
      <p:sp>
        <p:nvSpPr>
          <p:cNvPr id="44" name="Snip Single Corner Rectangle 43"/>
          <p:cNvSpPr/>
          <p:nvPr/>
        </p:nvSpPr>
        <p:spPr>
          <a:xfrm>
            <a:off x="7432632" y="2832811"/>
            <a:ext cx="1332000" cy="774000"/>
          </a:xfrm>
          <a:prstGeom prst="snip1Rect">
            <a:avLst>
              <a:gd name="adj" fmla="val 17937"/>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File </a:t>
            </a:r>
            <a:r>
              <a:rPr lang="en-CA" sz="1600" dirty="0" smtClean="0">
                <a:solidFill>
                  <a:schemeClr val="bg1"/>
                </a:solidFill>
              </a:rPr>
              <a:t>System </a:t>
            </a:r>
            <a:r>
              <a:rPr lang="en-CA" sz="1600" dirty="0">
                <a:solidFill>
                  <a:schemeClr val="bg1"/>
                </a:solidFill>
              </a:rPr>
              <a:t>Specific Policies</a:t>
            </a:r>
          </a:p>
        </p:txBody>
      </p:sp>
      <p:sp>
        <p:nvSpPr>
          <p:cNvPr id="45" name="Right Arrow 44"/>
          <p:cNvSpPr/>
          <p:nvPr/>
        </p:nvSpPr>
        <p:spPr>
          <a:xfrm rot="5400000">
            <a:off x="7946907" y="4930973"/>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6" name="Rectangle 45"/>
          <p:cNvSpPr/>
          <p:nvPr/>
        </p:nvSpPr>
        <p:spPr>
          <a:xfrm>
            <a:off x="5751627" y="4065180"/>
            <a:ext cx="1224000" cy="774000"/>
          </a:xfrm>
          <a:prstGeom prst="rect">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smtClean="0">
                <a:solidFill>
                  <a:schemeClr val="bg1"/>
                </a:solidFill>
              </a:rPr>
              <a:t>File </a:t>
            </a:r>
            <a:r>
              <a:rPr lang="en-CA" sz="1600" dirty="0">
                <a:solidFill>
                  <a:schemeClr val="bg1"/>
                </a:solidFill>
              </a:rPr>
              <a:t>System Library</a:t>
            </a:r>
          </a:p>
        </p:txBody>
      </p:sp>
      <p:sp>
        <p:nvSpPr>
          <p:cNvPr id="47" name="Right Arrow 46"/>
          <p:cNvSpPr/>
          <p:nvPr/>
        </p:nvSpPr>
        <p:spPr>
          <a:xfrm>
            <a:off x="5304346"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8" name="Rectangle 47"/>
          <p:cNvSpPr/>
          <p:nvPr/>
        </p:nvSpPr>
        <p:spPr>
          <a:xfrm>
            <a:off x="9292902" y="4065180"/>
            <a:ext cx="131876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dirty="0">
                <a:solidFill>
                  <a:schemeClr val="bg1"/>
                </a:solidFill>
              </a:rPr>
              <a:t>File System Application</a:t>
            </a:r>
          </a:p>
        </p:txBody>
      </p:sp>
      <p:sp>
        <p:nvSpPr>
          <p:cNvPr id="49" name="Right Arrow 48"/>
          <p:cNvSpPr/>
          <p:nvPr/>
        </p:nvSpPr>
        <p:spPr>
          <a:xfrm rot="18900000">
            <a:off x="7054852" y="3727351"/>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0" name="Right Arrow 49"/>
          <p:cNvSpPr/>
          <p:nvPr/>
        </p:nvSpPr>
        <p:spPr>
          <a:xfrm rot="16200000">
            <a:off x="7946907" y="3721899"/>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1" name="Right Arrow 50"/>
          <p:cNvSpPr/>
          <p:nvPr/>
        </p:nvSpPr>
        <p:spPr>
          <a:xfrm rot="18900000">
            <a:off x="8859377" y="493642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2" name="Right Arrow 51"/>
          <p:cNvSpPr/>
          <p:nvPr/>
        </p:nvSpPr>
        <p:spPr>
          <a:xfrm rot="2700000">
            <a:off x="8866151" y="3721898"/>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3" name="Rectangle 52"/>
          <p:cNvSpPr/>
          <p:nvPr/>
        </p:nvSpPr>
        <p:spPr>
          <a:xfrm>
            <a:off x="5709658" y="5281328"/>
            <a:ext cx="1260000" cy="774000"/>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a:solidFill>
                  <a:schemeClr val="bg1"/>
                </a:solidFill>
              </a:rPr>
              <a:t>Spiffy API</a:t>
            </a:r>
          </a:p>
        </p:txBody>
      </p:sp>
      <p:sp>
        <p:nvSpPr>
          <p:cNvPr id="54" name="Right Arrow 53"/>
          <p:cNvSpPr/>
          <p:nvPr/>
        </p:nvSpPr>
        <p:spPr>
          <a:xfrm>
            <a:off x="7054852" y="547390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5" name="Right Arrow 54"/>
          <p:cNvSpPr/>
          <p:nvPr/>
        </p:nvSpPr>
        <p:spPr>
          <a:xfrm rot="16200000">
            <a:off x="6187933" y="4930974"/>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pic>
        <p:nvPicPr>
          <p:cNvPr id="56" name="Picture 5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78658" y="4032191"/>
            <a:ext cx="839949" cy="839978"/>
          </a:xfrm>
          <a:prstGeom prst="rect">
            <a:avLst/>
          </a:prstGeom>
        </p:spPr>
      </p:pic>
      <p:grpSp>
        <p:nvGrpSpPr>
          <p:cNvPr id="57" name="Group 56"/>
          <p:cNvGrpSpPr/>
          <p:nvPr/>
        </p:nvGrpSpPr>
        <p:grpSpPr>
          <a:xfrm>
            <a:off x="824305" y="3607630"/>
            <a:ext cx="782638" cy="1689100"/>
            <a:chOff x="1494268" y="4778493"/>
            <a:chExt cx="782638" cy="1689100"/>
          </a:xfrm>
          <a:effectLst/>
        </p:grpSpPr>
        <p:sp>
          <p:nvSpPr>
            <p:cNvPr id="61" name="Freeform 5"/>
            <p:cNvSpPr>
              <a:spLocks/>
            </p:cNvSpPr>
            <p:nvPr/>
          </p:nvSpPr>
          <p:spPr bwMode="auto">
            <a:xfrm>
              <a:off x="1508556" y="4964230"/>
              <a:ext cx="758825" cy="148907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2" name="Freeform 6"/>
            <p:cNvSpPr>
              <a:spLocks/>
            </p:cNvSpPr>
            <p:nvPr/>
          </p:nvSpPr>
          <p:spPr bwMode="auto">
            <a:xfrm>
              <a:off x="1511731" y="5119805"/>
              <a:ext cx="696913" cy="854075"/>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6350"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3" name="Freeform 7"/>
            <p:cNvSpPr>
              <a:spLocks/>
            </p:cNvSpPr>
            <p:nvPr/>
          </p:nvSpPr>
          <p:spPr bwMode="auto">
            <a:xfrm>
              <a:off x="1737156" y="5792905"/>
              <a:ext cx="387350" cy="1651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4" name="Freeform 8"/>
            <p:cNvSpPr>
              <a:spLocks/>
            </p:cNvSpPr>
            <p:nvPr/>
          </p:nvSpPr>
          <p:spPr bwMode="auto">
            <a:xfrm>
              <a:off x="1880031" y="5496043"/>
              <a:ext cx="33338" cy="153988"/>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5" name="Freeform 9"/>
            <p:cNvSpPr>
              <a:spLocks noEditPoints="1"/>
            </p:cNvSpPr>
            <p:nvPr/>
          </p:nvSpPr>
          <p:spPr bwMode="auto">
            <a:xfrm>
              <a:off x="1876856" y="5489693"/>
              <a:ext cx="41275" cy="1666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6" name="Freeform 10"/>
            <p:cNvSpPr>
              <a:spLocks/>
            </p:cNvSpPr>
            <p:nvPr/>
          </p:nvSpPr>
          <p:spPr bwMode="auto">
            <a:xfrm>
              <a:off x="1930831" y="5489693"/>
              <a:ext cx="34925" cy="1666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6350"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7" name="Freeform 11"/>
            <p:cNvSpPr>
              <a:spLocks/>
            </p:cNvSpPr>
            <p:nvPr/>
          </p:nvSpPr>
          <p:spPr bwMode="auto">
            <a:xfrm>
              <a:off x="1594281" y="5027730"/>
              <a:ext cx="412750" cy="390525"/>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8" name="Freeform 12"/>
            <p:cNvSpPr>
              <a:spLocks/>
            </p:cNvSpPr>
            <p:nvPr/>
          </p:nvSpPr>
          <p:spPr bwMode="auto">
            <a:xfrm>
              <a:off x="1495856" y="4959468"/>
              <a:ext cx="781050" cy="1508125"/>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ffectLst/>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2" name="Freeform 13"/>
            <p:cNvSpPr>
              <a:spLocks/>
            </p:cNvSpPr>
            <p:nvPr/>
          </p:nvSpPr>
          <p:spPr bwMode="auto">
            <a:xfrm>
              <a:off x="1551418" y="5354755"/>
              <a:ext cx="369888" cy="13811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3" name="Freeform 14"/>
            <p:cNvSpPr>
              <a:spLocks noEditPoints="1"/>
            </p:cNvSpPr>
            <p:nvPr/>
          </p:nvSpPr>
          <p:spPr bwMode="auto">
            <a:xfrm>
              <a:off x="1560943" y="5375393"/>
              <a:ext cx="130175" cy="111125"/>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4" name="Freeform 15"/>
            <p:cNvSpPr>
              <a:spLocks/>
            </p:cNvSpPr>
            <p:nvPr/>
          </p:nvSpPr>
          <p:spPr bwMode="auto">
            <a:xfrm>
              <a:off x="1930831" y="5276968"/>
              <a:ext cx="74613" cy="19367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5" name="Freeform 16"/>
            <p:cNvSpPr>
              <a:spLocks/>
            </p:cNvSpPr>
            <p:nvPr/>
          </p:nvSpPr>
          <p:spPr bwMode="auto">
            <a:xfrm>
              <a:off x="1559356" y="5359518"/>
              <a:ext cx="368300" cy="144463"/>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6" name="Freeform 17"/>
            <p:cNvSpPr>
              <a:spLocks/>
            </p:cNvSpPr>
            <p:nvPr/>
          </p:nvSpPr>
          <p:spPr bwMode="auto">
            <a:xfrm>
              <a:off x="1494268" y="5372218"/>
              <a:ext cx="439738" cy="122238"/>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7" name="Freeform 18"/>
            <p:cNvSpPr>
              <a:spLocks/>
            </p:cNvSpPr>
            <p:nvPr/>
          </p:nvSpPr>
          <p:spPr bwMode="auto">
            <a:xfrm>
              <a:off x="1813356" y="5234105"/>
              <a:ext cx="128588" cy="152400"/>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8" name="Freeform 23"/>
            <p:cNvSpPr>
              <a:spLocks/>
            </p:cNvSpPr>
            <p:nvPr/>
          </p:nvSpPr>
          <p:spPr bwMode="auto">
            <a:xfrm>
              <a:off x="1553006" y="5278555"/>
              <a:ext cx="455613" cy="2143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9" name="Freeform 24"/>
            <p:cNvSpPr>
              <a:spLocks noEditPoints="1"/>
            </p:cNvSpPr>
            <p:nvPr/>
          </p:nvSpPr>
          <p:spPr bwMode="auto">
            <a:xfrm>
              <a:off x="1538718" y="5262680"/>
              <a:ext cx="474663" cy="24447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10" name="Freeform 25"/>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1" name="Freeform 26"/>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2" name="Freeform 27"/>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3" name="Freeform 28"/>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4" name="Freeform 29"/>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5" name="Freeform 30"/>
            <p:cNvSpPr>
              <a:spLocks noEditPoints="1"/>
            </p:cNvSpPr>
            <p:nvPr/>
          </p:nvSpPr>
          <p:spPr bwMode="auto">
            <a:xfrm>
              <a:off x="1500618" y="5007093"/>
              <a:ext cx="673100" cy="1066800"/>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6" name="Freeform 31"/>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7" name="Freeform 32"/>
            <p:cNvSpPr>
              <a:spLocks/>
            </p:cNvSpPr>
            <p:nvPr/>
          </p:nvSpPr>
          <p:spPr bwMode="auto">
            <a:xfrm>
              <a:off x="2064181" y="4778493"/>
              <a:ext cx="161925" cy="2730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9050"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
        <p:nvSpPr>
          <p:cNvPr id="58" name="Right Arrow 57"/>
          <p:cNvSpPr/>
          <p:nvPr/>
        </p:nvSpPr>
        <p:spPr>
          <a:xfrm>
            <a:off x="3646785"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9" name="TextBox 58"/>
          <p:cNvSpPr txBox="1"/>
          <p:nvPr/>
        </p:nvSpPr>
        <p:spPr>
          <a:xfrm>
            <a:off x="9235248" y="3178470"/>
            <a:ext cx="1051891" cy="461665"/>
          </a:xfrm>
          <a:prstGeom prst="rect">
            <a:avLst/>
          </a:prstGeom>
          <a:noFill/>
          <a:ln w="25400">
            <a:noFill/>
          </a:ln>
        </p:spPr>
        <p:txBody>
          <a:bodyPr wrap="none" rtlCol="0">
            <a:spAutoFit/>
          </a:bodyPr>
          <a:lstStyle/>
          <a:p>
            <a:pPr algn="ctr"/>
            <a:r>
              <a:rPr lang="en-CA" sz="1200" i="1" dirty="0" smtClean="0">
                <a:solidFill>
                  <a:schemeClr val="bg1"/>
                </a:solidFill>
              </a:rPr>
              <a:t>Application</a:t>
            </a:r>
            <a:endParaRPr lang="en-CA" sz="1200" i="1" dirty="0">
              <a:solidFill>
                <a:schemeClr val="bg1"/>
              </a:solidFill>
            </a:endParaRPr>
          </a:p>
          <a:p>
            <a:pPr algn="ctr"/>
            <a:r>
              <a:rPr lang="en-CA" sz="1200" i="1" dirty="0">
                <a:solidFill>
                  <a:schemeClr val="bg1"/>
                </a:solidFill>
              </a:rPr>
              <a:t>Developer</a:t>
            </a:r>
          </a:p>
        </p:txBody>
      </p:sp>
      <p:cxnSp>
        <p:nvCxnSpPr>
          <p:cNvPr id="60" name="Straight Arrow Connector 59"/>
          <p:cNvCxnSpPr/>
          <p:nvPr/>
        </p:nvCxnSpPr>
        <p:spPr>
          <a:xfrm flipH="1">
            <a:off x="8577545" y="3464992"/>
            <a:ext cx="712276" cy="732542"/>
          </a:xfrm>
          <a:prstGeom prst="straightConnector1">
            <a:avLst/>
          </a:prstGeom>
          <a:ln w="12700">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26405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 </a:t>
            </a:r>
            <a:r>
              <a:rPr lang="en-CA" dirty="0" smtClean="0"/>
              <a:t>Building Applications</a:t>
            </a:r>
            <a:endParaRPr lang="en-CA" dirty="0"/>
          </a:p>
        </p:txBody>
      </p:sp>
      <p:sp>
        <p:nvSpPr>
          <p:cNvPr id="3" name="Content Placeholder 2"/>
          <p:cNvSpPr>
            <a:spLocks noGrp="1"/>
          </p:cNvSpPr>
          <p:nvPr>
            <p:ph idx="1"/>
          </p:nvPr>
        </p:nvSpPr>
        <p:spPr>
          <a:xfrm>
            <a:off x="684211" y="1515358"/>
            <a:ext cx="10285797" cy="1238067"/>
          </a:xfrm>
        </p:spPr>
        <p:txBody>
          <a:bodyPr/>
          <a:lstStyle/>
          <a:p>
            <a:pPr marL="514350" indent="-514350">
              <a:buFont typeface="+mj-lt"/>
              <a:buAutoNum type="arabicPeriod" startAt="3"/>
            </a:pPr>
            <a:r>
              <a:rPr lang="en-CA" dirty="0" smtClean="0"/>
              <a:t>Application developers use Spiffy library to build robust tools</a:t>
            </a:r>
            <a:br>
              <a:rPr lang="en-CA" dirty="0" smtClean="0"/>
            </a:br>
            <a:r>
              <a:rPr lang="en-CA" dirty="0" smtClean="0"/>
              <a:t>that work across file systems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9</a:t>
            </a:fld>
            <a:endParaRPr lang="en-CA" dirty="0"/>
          </a:p>
        </p:txBody>
      </p:sp>
      <p:sp>
        <p:nvSpPr>
          <p:cNvPr id="39" name="Snip Single Corner Rectangle 38"/>
          <p:cNvSpPr/>
          <p:nvPr/>
        </p:nvSpPr>
        <p:spPr>
          <a:xfrm>
            <a:off x="2184504" y="4065180"/>
            <a:ext cx="1332000" cy="774000"/>
          </a:xfrm>
          <a:prstGeom prst="snip1Rect">
            <a:avLst>
              <a:gd name="adj" fmla="val 16653"/>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Annotated File System Structures</a:t>
            </a:r>
          </a:p>
        </p:txBody>
      </p:sp>
      <p:sp>
        <p:nvSpPr>
          <p:cNvPr id="40" name="TextBox 39"/>
          <p:cNvSpPr txBox="1"/>
          <p:nvPr/>
        </p:nvSpPr>
        <p:spPr>
          <a:xfrm>
            <a:off x="1487383" y="3112971"/>
            <a:ext cx="1186542" cy="523220"/>
          </a:xfrm>
          <a:prstGeom prst="rect">
            <a:avLst/>
          </a:prstGeom>
          <a:noFill/>
          <a:ln w="25400">
            <a:noFill/>
          </a:ln>
          <a:effectLst>
            <a:glow rad="101600">
              <a:srgbClr val="FFFF00">
                <a:alpha val="40000"/>
              </a:srgbClr>
            </a:glow>
          </a:effectLst>
        </p:spPr>
        <p:txBody>
          <a:bodyPr wrap="none" rtlCol="0">
            <a:spAutoFit/>
          </a:bodyPr>
          <a:lstStyle/>
          <a:p>
            <a:pPr algn="ctr"/>
            <a:r>
              <a:rPr lang="en-CA" sz="1400" i="1" dirty="0">
                <a:solidFill>
                  <a:schemeClr val="bg1"/>
                </a:solidFill>
              </a:rPr>
              <a:t>File System </a:t>
            </a:r>
          </a:p>
          <a:p>
            <a:pPr algn="ctr"/>
            <a:r>
              <a:rPr lang="en-CA" sz="1400" i="1" dirty="0">
                <a:solidFill>
                  <a:schemeClr val="bg1"/>
                </a:solidFill>
              </a:rPr>
              <a:t>Developer</a:t>
            </a:r>
          </a:p>
        </p:txBody>
      </p:sp>
      <p:sp>
        <p:nvSpPr>
          <p:cNvPr id="41" name="Right Arrow 40"/>
          <p:cNvSpPr/>
          <p:nvPr/>
        </p:nvSpPr>
        <p:spPr>
          <a:xfrm>
            <a:off x="1737224"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2" name="Rounded Rectangle 41"/>
          <p:cNvSpPr/>
          <p:nvPr/>
        </p:nvSpPr>
        <p:spPr>
          <a:xfrm>
            <a:off x="4094065" y="4065180"/>
            <a:ext cx="1080000" cy="774000"/>
          </a:xfrm>
          <a:prstGeom prst="roundRect">
            <a:avLst/>
          </a:prstGeom>
          <a:noFill/>
          <a:ln w="25400" cmpd="dbl">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CA" sz="1600" dirty="0">
                <a:solidFill>
                  <a:schemeClr val="bg1"/>
                </a:solidFill>
              </a:rPr>
              <a:t>Spiffy Compiler</a:t>
            </a:r>
          </a:p>
        </p:txBody>
      </p:sp>
      <p:sp>
        <p:nvSpPr>
          <p:cNvPr id="43" name="Snip Single Corner Rectangle 42"/>
          <p:cNvSpPr/>
          <p:nvPr/>
        </p:nvSpPr>
        <p:spPr>
          <a:xfrm>
            <a:off x="7432632" y="5281328"/>
            <a:ext cx="1332000" cy="774000"/>
          </a:xfrm>
          <a:prstGeom prst="snip1Rect">
            <a:avLst>
              <a:gd name="adj" fmla="val 17937"/>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72000" tIns="0" rIns="0" bIns="144000" rtlCol="0" anchor="ctr"/>
          <a:lstStyle/>
          <a:p>
            <a:pPr algn="ctr"/>
            <a:r>
              <a:rPr lang="en-CA" sz="1600" dirty="0" smtClean="0">
                <a:solidFill>
                  <a:schemeClr val="bg1"/>
                </a:solidFill>
              </a:rPr>
              <a:t>Generic  </a:t>
            </a:r>
            <a:br>
              <a:rPr lang="en-CA" sz="1600" dirty="0" smtClean="0">
                <a:solidFill>
                  <a:schemeClr val="bg1"/>
                </a:solidFill>
              </a:rPr>
            </a:br>
            <a:r>
              <a:rPr lang="en-CA" sz="1600" dirty="0" smtClean="0">
                <a:solidFill>
                  <a:schemeClr val="bg1"/>
                </a:solidFill>
              </a:rPr>
              <a:t>Application</a:t>
            </a:r>
            <a:endParaRPr lang="en-CA" sz="1600" dirty="0">
              <a:solidFill>
                <a:schemeClr val="bg1"/>
              </a:solidFill>
            </a:endParaRPr>
          </a:p>
        </p:txBody>
      </p:sp>
      <p:sp>
        <p:nvSpPr>
          <p:cNvPr id="44" name="Snip Single Corner Rectangle 43"/>
          <p:cNvSpPr/>
          <p:nvPr/>
        </p:nvSpPr>
        <p:spPr>
          <a:xfrm>
            <a:off x="7432632" y="2832811"/>
            <a:ext cx="1332000" cy="774000"/>
          </a:xfrm>
          <a:prstGeom prst="snip1Rect">
            <a:avLst>
              <a:gd name="adj" fmla="val 17937"/>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72000" rtlCol="0" anchor="ctr"/>
          <a:lstStyle/>
          <a:p>
            <a:pPr algn="ctr"/>
            <a:r>
              <a:rPr lang="en-CA" sz="1600" dirty="0">
                <a:solidFill>
                  <a:schemeClr val="bg1"/>
                </a:solidFill>
              </a:rPr>
              <a:t>File </a:t>
            </a:r>
            <a:r>
              <a:rPr lang="en-CA" sz="1600" dirty="0" smtClean="0">
                <a:solidFill>
                  <a:schemeClr val="bg1"/>
                </a:solidFill>
              </a:rPr>
              <a:t>System </a:t>
            </a:r>
            <a:r>
              <a:rPr lang="en-CA" sz="1600" dirty="0">
                <a:solidFill>
                  <a:schemeClr val="bg1"/>
                </a:solidFill>
              </a:rPr>
              <a:t>Specific Policies</a:t>
            </a:r>
          </a:p>
        </p:txBody>
      </p:sp>
      <p:sp>
        <p:nvSpPr>
          <p:cNvPr id="45" name="Right Arrow 44"/>
          <p:cNvSpPr/>
          <p:nvPr/>
        </p:nvSpPr>
        <p:spPr>
          <a:xfrm rot="5400000">
            <a:off x="7946907" y="4930973"/>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6" name="Rectangle 45"/>
          <p:cNvSpPr/>
          <p:nvPr/>
        </p:nvSpPr>
        <p:spPr>
          <a:xfrm>
            <a:off x="5751627" y="4065180"/>
            <a:ext cx="1224000" cy="774000"/>
          </a:xfrm>
          <a:prstGeom prst="rect">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smtClean="0">
                <a:solidFill>
                  <a:schemeClr val="bg1"/>
                </a:solidFill>
              </a:rPr>
              <a:t>File </a:t>
            </a:r>
            <a:r>
              <a:rPr lang="en-CA" sz="1600" dirty="0">
                <a:solidFill>
                  <a:schemeClr val="bg1"/>
                </a:solidFill>
              </a:rPr>
              <a:t>System Library</a:t>
            </a:r>
          </a:p>
        </p:txBody>
      </p:sp>
      <p:sp>
        <p:nvSpPr>
          <p:cNvPr id="47" name="Right Arrow 46"/>
          <p:cNvSpPr/>
          <p:nvPr/>
        </p:nvSpPr>
        <p:spPr>
          <a:xfrm>
            <a:off x="5304346"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48" name="Rectangle 47"/>
          <p:cNvSpPr/>
          <p:nvPr/>
        </p:nvSpPr>
        <p:spPr>
          <a:xfrm>
            <a:off x="9292902" y="4065180"/>
            <a:ext cx="1318760" cy="774000"/>
          </a:xfrm>
          <a:prstGeom prst="rect">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0" rIns="0" bIns="36000" rtlCol="0" anchor="ctr"/>
          <a:lstStyle/>
          <a:p>
            <a:pPr algn="ctr"/>
            <a:r>
              <a:rPr lang="en-CA" sz="1600" dirty="0">
                <a:solidFill>
                  <a:schemeClr val="bg1"/>
                </a:solidFill>
              </a:rPr>
              <a:t>File System Application</a:t>
            </a:r>
          </a:p>
        </p:txBody>
      </p:sp>
      <p:sp>
        <p:nvSpPr>
          <p:cNvPr id="49" name="Right Arrow 48"/>
          <p:cNvSpPr/>
          <p:nvPr/>
        </p:nvSpPr>
        <p:spPr>
          <a:xfrm rot="18900000">
            <a:off x="7054852" y="3727351"/>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0" name="Right Arrow 49"/>
          <p:cNvSpPr/>
          <p:nvPr/>
        </p:nvSpPr>
        <p:spPr>
          <a:xfrm rot="16200000">
            <a:off x="7946907" y="3721899"/>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1" name="Right Arrow 50"/>
          <p:cNvSpPr/>
          <p:nvPr/>
        </p:nvSpPr>
        <p:spPr>
          <a:xfrm rot="18900000">
            <a:off x="8859377" y="493642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2" name="Right Arrow 51"/>
          <p:cNvSpPr/>
          <p:nvPr/>
        </p:nvSpPr>
        <p:spPr>
          <a:xfrm rot="2700000">
            <a:off x="8866151" y="3721898"/>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3" name="Rectangle 52"/>
          <p:cNvSpPr/>
          <p:nvPr/>
        </p:nvSpPr>
        <p:spPr>
          <a:xfrm>
            <a:off x="5709658" y="5281328"/>
            <a:ext cx="1260000" cy="774000"/>
          </a:xfrm>
          <a:prstGeom prst="rect">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600" dirty="0">
                <a:solidFill>
                  <a:schemeClr val="bg1"/>
                </a:solidFill>
              </a:rPr>
              <a:t>Spiffy API</a:t>
            </a:r>
          </a:p>
        </p:txBody>
      </p:sp>
      <p:sp>
        <p:nvSpPr>
          <p:cNvPr id="54" name="Right Arrow 53"/>
          <p:cNvSpPr/>
          <p:nvPr/>
        </p:nvSpPr>
        <p:spPr>
          <a:xfrm>
            <a:off x="7054852" y="5473906"/>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5" name="Right Arrow 54"/>
          <p:cNvSpPr/>
          <p:nvPr/>
        </p:nvSpPr>
        <p:spPr>
          <a:xfrm rot="16200000">
            <a:off x="6187933" y="4930974"/>
            <a:ext cx="303450" cy="255146"/>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pic>
        <p:nvPicPr>
          <p:cNvPr id="56" name="Picture 5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78658" y="4032191"/>
            <a:ext cx="839949" cy="839978"/>
          </a:xfrm>
          <a:prstGeom prst="rect">
            <a:avLst/>
          </a:prstGeom>
          <a:effectLst>
            <a:glow rad="101600">
              <a:srgbClr val="FFFF00">
                <a:alpha val="40000"/>
              </a:srgbClr>
            </a:glow>
          </a:effectLst>
        </p:spPr>
      </p:pic>
      <p:grpSp>
        <p:nvGrpSpPr>
          <p:cNvPr id="57" name="Group 56"/>
          <p:cNvGrpSpPr/>
          <p:nvPr/>
        </p:nvGrpSpPr>
        <p:grpSpPr>
          <a:xfrm>
            <a:off x="824305" y="3607630"/>
            <a:ext cx="782638" cy="1689100"/>
            <a:chOff x="1494268" y="4778493"/>
            <a:chExt cx="782638" cy="1689100"/>
          </a:xfrm>
          <a:effectLst/>
        </p:grpSpPr>
        <p:sp>
          <p:nvSpPr>
            <p:cNvPr id="61" name="Freeform 5"/>
            <p:cNvSpPr>
              <a:spLocks/>
            </p:cNvSpPr>
            <p:nvPr/>
          </p:nvSpPr>
          <p:spPr bwMode="auto">
            <a:xfrm>
              <a:off x="1508556" y="4964230"/>
              <a:ext cx="758825" cy="148907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2" name="Freeform 6"/>
            <p:cNvSpPr>
              <a:spLocks/>
            </p:cNvSpPr>
            <p:nvPr/>
          </p:nvSpPr>
          <p:spPr bwMode="auto">
            <a:xfrm>
              <a:off x="1511731" y="5119805"/>
              <a:ext cx="696913" cy="854075"/>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6350"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3" name="Freeform 7"/>
            <p:cNvSpPr>
              <a:spLocks/>
            </p:cNvSpPr>
            <p:nvPr/>
          </p:nvSpPr>
          <p:spPr bwMode="auto">
            <a:xfrm>
              <a:off x="1737156" y="5792905"/>
              <a:ext cx="387350" cy="1651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4" name="Freeform 8"/>
            <p:cNvSpPr>
              <a:spLocks/>
            </p:cNvSpPr>
            <p:nvPr/>
          </p:nvSpPr>
          <p:spPr bwMode="auto">
            <a:xfrm>
              <a:off x="1880031" y="5496043"/>
              <a:ext cx="33338" cy="153988"/>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5" name="Freeform 9"/>
            <p:cNvSpPr>
              <a:spLocks noEditPoints="1"/>
            </p:cNvSpPr>
            <p:nvPr/>
          </p:nvSpPr>
          <p:spPr bwMode="auto">
            <a:xfrm>
              <a:off x="1876856" y="5489693"/>
              <a:ext cx="41275" cy="1666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6" name="Freeform 10"/>
            <p:cNvSpPr>
              <a:spLocks/>
            </p:cNvSpPr>
            <p:nvPr/>
          </p:nvSpPr>
          <p:spPr bwMode="auto">
            <a:xfrm>
              <a:off x="1930831" y="5489693"/>
              <a:ext cx="34925" cy="1666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6350"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67" name="Freeform 11"/>
            <p:cNvSpPr>
              <a:spLocks/>
            </p:cNvSpPr>
            <p:nvPr/>
          </p:nvSpPr>
          <p:spPr bwMode="auto">
            <a:xfrm>
              <a:off x="1594281" y="5027730"/>
              <a:ext cx="412750" cy="390525"/>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68" name="Freeform 12"/>
            <p:cNvSpPr>
              <a:spLocks/>
            </p:cNvSpPr>
            <p:nvPr/>
          </p:nvSpPr>
          <p:spPr bwMode="auto">
            <a:xfrm>
              <a:off x="1495856" y="4959468"/>
              <a:ext cx="781050" cy="1508125"/>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2" name="Freeform 13"/>
            <p:cNvSpPr>
              <a:spLocks/>
            </p:cNvSpPr>
            <p:nvPr/>
          </p:nvSpPr>
          <p:spPr bwMode="auto">
            <a:xfrm>
              <a:off x="1551418" y="5354755"/>
              <a:ext cx="369888" cy="13811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3" name="Freeform 14"/>
            <p:cNvSpPr>
              <a:spLocks noEditPoints="1"/>
            </p:cNvSpPr>
            <p:nvPr/>
          </p:nvSpPr>
          <p:spPr bwMode="auto">
            <a:xfrm>
              <a:off x="1560943" y="5375393"/>
              <a:ext cx="130175" cy="111125"/>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4" name="Freeform 15"/>
            <p:cNvSpPr>
              <a:spLocks/>
            </p:cNvSpPr>
            <p:nvPr/>
          </p:nvSpPr>
          <p:spPr bwMode="auto">
            <a:xfrm>
              <a:off x="1930831" y="5276968"/>
              <a:ext cx="74613" cy="19367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05" name="Freeform 16"/>
            <p:cNvSpPr>
              <a:spLocks/>
            </p:cNvSpPr>
            <p:nvPr/>
          </p:nvSpPr>
          <p:spPr bwMode="auto">
            <a:xfrm>
              <a:off x="1559356" y="5359518"/>
              <a:ext cx="368300" cy="144463"/>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6" name="Freeform 17"/>
            <p:cNvSpPr>
              <a:spLocks/>
            </p:cNvSpPr>
            <p:nvPr/>
          </p:nvSpPr>
          <p:spPr bwMode="auto">
            <a:xfrm>
              <a:off x="1494268" y="5372218"/>
              <a:ext cx="439738" cy="122238"/>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7" name="Freeform 18"/>
            <p:cNvSpPr>
              <a:spLocks/>
            </p:cNvSpPr>
            <p:nvPr/>
          </p:nvSpPr>
          <p:spPr bwMode="auto">
            <a:xfrm>
              <a:off x="1813356" y="5234105"/>
              <a:ext cx="128588" cy="152400"/>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8" name="Freeform 23"/>
            <p:cNvSpPr>
              <a:spLocks/>
            </p:cNvSpPr>
            <p:nvPr/>
          </p:nvSpPr>
          <p:spPr bwMode="auto">
            <a:xfrm>
              <a:off x="1553006" y="5278555"/>
              <a:ext cx="455613" cy="2143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6350"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109" name="Freeform 24"/>
            <p:cNvSpPr>
              <a:spLocks noEditPoints="1"/>
            </p:cNvSpPr>
            <p:nvPr/>
          </p:nvSpPr>
          <p:spPr bwMode="auto">
            <a:xfrm>
              <a:off x="1538718" y="5262680"/>
              <a:ext cx="474663" cy="24447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110" name="Freeform 25"/>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1" name="Freeform 26"/>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2" name="Freeform 27"/>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3" name="Freeform 28"/>
            <p:cNvSpPr>
              <a:spLocks noEditPoints="1"/>
            </p:cNvSpPr>
            <p:nvPr/>
          </p:nvSpPr>
          <p:spPr bwMode="auto">
            <a:xfrm>
              <a:off x="1678418" y="5400793"/>
              <a:ext cx="231775" cy="8096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4" name="Freeform 29"/>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5" name="Freeform 30"/>
            <p:cNvSpPr>
              <a:spLocks noEditPoints="1"/>
            </p:cNvSpPr>
            <p:nvPr/>
          </p:nvSpPr>
          <p:spPr bwMode="auto">
            <a:xfrm>
              <a:off x="1500618" y="5007093"/>
              <a:ext cx="673100" cy="1066800"/>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6" name="Freeform 31"/>
            <p:cNvSpPr>
              <a:spLocks noEditPoints="1"/>
            </p:cNvSpPr>
            <p:nvPr/>
          </p:nvSpPr>
          <p:spPr bwMode="auto">
            <a:xfrm>
              <a:off x="1559356" y="5372218"/>
              <a:ext cx="131763" cy="114300"/>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17" name="Freeform 32"/>
            <p:cNvSpPr>
              <a:spLocks/>
            </p:cNvSpPr>
            <p:nvPr/>
          </p:nvSpPr>
          <p:spPr bwMode="auto">
            <a:xfrm>
              <a:off x="2064181" y="4778493"/>
              <a:ext cx="161925" cy="2730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9050"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
        <p:nvSpPr>
          <p:cNvPr id="58" name="Right Arrow 57"/>
          <p:cNvSpPr/>
          <p:nvPr/>
        </p:nvSpPr>
        <p:spPr>
          <a:xfrm>
            <a:off x="3646785" y="4330060"/>
            <a:ext cx="316999" cy="24424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sz="3600">
              <a:solidFill>
                <a:schemeClr val="bg1"/>
              </a:solidFill>
            </a:endParaRPr>
          </a:p>
        </p:txBody>
      </p:sp>
      <p:sp>
        <p:nvSpPr>
          <p:cNvPr id="59" name="TextBox 58"/>
          <p:cNvSpPr txBox="1"/>
          <p:nvPr/>
        </p:nvSpPr>
        <p:spPr>
          <a:xfrm>
            <a:off x="9235248" y="3178470"/>
            <a:ext cx="1051891" cy="461665"/>
          </a:xfrm>
          <a:prstGeom prst="rect">
            <a:avLst/>
          </a:prstGeom>
          <a:noFill/>
          <a:ln w="25400">
            <a:noFill/>
          </a:ln>
        </p:spPr>
        <p:txBody>
          <a:bodyPr wrap="none" rtlCol="0">
            <a:spAutoFit/>
          </a:bodyPr>
          <a:lstStyle/>
          <a:p>
            <a:pPr algn="ctr"/>
            <a:r>
              <a:rPr lang="en-CA" sz="1200" b="1" dirty="0" smtClean="0">
                <a:solidFill>
                  <a:schemeClr val="bg1"/>
                </a:solidFill>
              </a:rPr>
              <a:t>Application</a:t>
            </a:r>
            <a:endParaRPr lang="en-CA" sz="1200" b="1" dirty="0">
              <a:solidFill>
                <a:schemeClr val="bg1"/>
              </a:solidFill>
            </a:endParaRPr>
          </a:p>
          <a:p>
            <a:pPr algn="ctr"/>
            <a:r>
              <a:rPr lang="en-CA" sz="1200" b="1" dirty="0">
                <a:solidFill>
                  <a:schemeClr val="bg1"/>
                </a:solidFill>
              </a:rPr>
              <a:t>Developer</a:t>
            </a:r>
          </a:p>
        </p:txBody>
      </p:sp>
      <p:cxnSp>
        <p:nvCxnSpPr>
          <p:cNvPr id="60" name="Straight Arrow Connector 59"/>
          <p:cNvCxnSpPr/>
          <p:nvPr/>
        </p:nvCxnSpPr>
        <p:spPr>
          <a:xfrm flipH="1">
            <a:off x="8577545" y="3464992"/>
            <a:ext cx="712276" cy="732542"/>
          </a:xfrm>
          <a:prstGeom prst="straightConnector1">
            <a:avLst/>
          </a:prstGeom>
          <a:ln w="12700">
            <a:solidFill>
              <a:schemeClr val="bg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6178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Talk Outline</a:t>
            </a:r>
            <a:endParaRPr lang="en-CA" dirty="0"/>
          </a:p>
        </p:txBody>
      </p:sp>
      <p:sp>
        <p:nvSpPr>
          <p:cNvPr id="3" name="Content Placeholder 2"/>
          <p:cNvSpPr>
            <a:spLocks noGrp="1"/>
          </p:cNvSpPr>
          <p:nvPr>
            <p:ph idx="1"/>
          </p:nvPr>
        </p:nvSpPr>
        <p:spPr/>
        <p:txBody>
          <a:bodyPr/>
          <a:lstStyle/>
          <a:p>
            <a:r>
              <a:rPr lang="en-US" dirty="0" smtClean="0">
                <a:solidFill>
                  <a:schemeClr val="bg1">
                    <a:lumMod val="50000"/>
                    <a:lumOff val="50000"/>
                  </a:schemeClr>
                </a:solidFill>
              </a:rPr>
              <a:t>Problem</a:t>
            </a:r>
          </a:p>
          <a:p>
            <a:pPr lvl="1"/>
            <a:r>
              <a:rPr lang="en-US" dirty="0" smtClean="0">
                <a:solidFill>
                  <a:schemeClr val="bg1">
                    <a:lumMod val="50000"/>
                    <a:lumOff val="50000"/>
                  </a:schemeClr>
                </a:solidFill>
              </a:rPr>
              <a:t>Hard to write robust file system applications</a:t>
            </a:r>
          </a:p>
          <a:p>
            <a:r>
              <a:rPr lang="en-US" dirty="0" smtClean="0">
                <a:solidFill>
                  <a:schemeClr val="bg1">
                    <a:lumMod val="50000"/>
                    <a:lumOff val="50000"/>
                  </a:schemeClr>
                </a:solidFill>
              </a:rPr>
              <a:t>Approach</a:t>
            </a:r>
          </a:p>
          <a:p>
            <a:r>
              <a:rPr lang="en-US" dirty="0" smtClean="0"/>
              <a:t>Spiffy Annotations</a:t>
            </a:r>
          </a:p>
          <a:p>
            <a:r>
              <a:rPr lang="en-US" dirty="0" smtClean="0"/>
              <a:t>Spiffy Library</a:t>
            </a:r>
          </a:p>
          <a:p>
            <a:r>
              <a:rPr lang="en-US" dirty="0" smtClean="0"/>
              <a:t>Spiffy </a:t>
            </a:r>
            <a:r>
              <a:rPr lang="en-US" dirty="0"/>
              <a:t>A</a:t>
            </a:r>
            <a:r>
              <a:rPr lang="en-US" dirty="0" smtClean="0"/>
              <a:t>pplications</a:t>
            </a:r>
          </a:p>
          <a:p>
            <a:r>
              <a:rPr lang="en-US" dirty="0" smtClean="0"/>
              <a:t>Evaluation</a:t>
            </a:r>
          </a:p>
          <a:p>
            <a:r>
              <a:rPr lang="en-US" dirty="0" smtClean="0"/>
              <a:t>Conclusion</a:t>
            </a:r>
          </a:p>
        </p:txBody>
      </p:sp>
      <p:sp>
        <p:nvSpPr>
          <p:cNvPr id="5" name="Slide Number Placeholder 4"/>
          <p:cNvSpPr>
            <a:spLocks noGrp="1"/>
          </p:cNvSpPr>
          <p:nvPr>
            <p:ph type="sldNum" sz="quarter" idx="12"/>
          </p:nvPr>
        </p:nvSpPr>
        <p:spPr/>
        <p:txBody>
          <a:bodyPr/>
          <a:lstStyle/>
          <a:p>
            <a:fld id="{7B2023C8-B124-43A9-8F92-0EEF5BAA9995}" type="slidenum">
              <a:rPr lang="en-CA" smtClean="0"/>
              <a:pPr/>
              <a:t>10</a:t>
            </a:fld>
            <a:endParaRPr lang="en-CA" dirty="0"/>
          </a:p>
        </p:txBody>
      </p:sp>
    </p:spTree>
    <p:extLst>
      <p:ext uri="{BB962C8B-B14F-4D97-AF65-F5344CB8AC3E}">
        <p14:creationId xmlns:p14="http://schemas.microsoft.com/office/powerpoint/2010/main" val="141230137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Need for Annotation</a:t>
            </a:r>
            <a:endParaRPr lang="en-CA" dirty="0"/>
          </a:p>
        </p:txBody>
      </p:sp>
      <p:sp>
        <p:nvSpPr>
          <p:cNvPr id="3" name="Content Placeholder 2"/>
          <p:cNvSpPr>
            <a:spLocks noGrp="1"/>
          </p:cNvSpPr>
          <p:nvPr>
            <p:ph idx="1"/>
          </p:nvPr>
        </p:nvSpPr>
        <p:spPr/>
        <p:txBody>
          <a:bodyPr>
            <a:normAutofit lnSpcReduction="10000"/>
          </a:bodyPr>
          <a:lstStyle/>
          <a:p>
            <a:r>
              <a:rPr lang="en-CA" dirty="0" smtClean="0"/>
              <a:t>Enable complete specification of the file system format</a:t>
            </a:r>
          </a:p>
          <a:p>
            <a:pPr lvl="1"/>
            <a:r>
              <a:rPr lang="en-CA" dirty="0" smtClean="0"/>
              <a:t>Allows type-safe parsing and updates of file system structures</a:t>
            </a:r>
          </a:p>
          <a:p>
            <a:r>
              <a:rPr lang="en-CA" dirty="0" smtClean="0"/>
              <a:t>Challenge</a:t>
            </a:r>
          </a:p>
          <a:p>
            <a:pPr lvl="1"/>
            <a:r>
              <a:rPr lang="en-CA" dirty="0" smtClean="0"/>
              <a:t>Data </a:t>
            </a:r>
            <a:r>
              <a:rPr lang="en-CA" dirty="0"/>
              <a:t>structure definitions in </a:t>
            </a:r>
            <a:r>
              <a:rPr lang="en-CA" dirty="0" smtClean="0"/>
              <a:t>source files are </a:t>
            </a:r>
            <a:r>
              <a:rPr lang="en-CA" i="1" dirty="0"/>
              <a:t>incomplete</a:t>
            </a:r>
          </a:p>
          <a:p>
            <a:pPr lvl="1"/>
            <a:r>
              <a:rPr lang="en-CA" dirty="0"/>
              <a:t>E.g., </a:t>
            </a:r>
            <a:r>
              <a:rPr lang="en-CA" sz="1800" dirty="0" err="1">
                <a:solidFill>
                  <a:srgbClr val="002060"/>
                </a:solidFill>
                <a:latin typeface="Courier New" panose="02070309020205020404" pitchFamily="49" charset="0"/>
                <a:cs typeface="Courier New" panose="02070309020205020404" pitchFamily="49" charset="0"/>
              </a:rPr>
              <a:t>struct</a:t>
            </a:r>
            <a:r>
              <a:rPr lang="en-CA" sz="1800" dirty="0">
                <a:latin typeface="Courier New" panose="02070309020205020404" pitchFamily="49" charset="0"/>
                <a:cs typeface="Courier New" panose="02070309020205020404" pitchFamily="49" charset="0"/>
              </a:rPr>
              <a:t> foo {</a:t>
            </a:r>
            <a:br>
              <a:rPr lang="en-CA" sz="1800" dirty="0">
                <a:latin typeface="Courier New" panose="02070309020205020404" pitchFamily="49" charset="0"/>
                <a:cs typeface="Courier New" panose="02070309020205020404" pitchFamily="49" charset="0"/>
              </a:rPr>
            </a:br>
            <a:r>
              <a:rPr lang="en-CA" sz="1800" dirty="0">
                <a:latin typeface="Courier New" panose="02070309020205020404" pitchFamily="49" charset="0"/>
                <a:cs typeface="Courier New" panose="02070309020205020404" pitchFamily="49" charset="0"/>
              </a:rPr>
              <a:t>		     __le32 </a:t>
            </a:r>
            <a:r>
              <a:rPr lang="en-CA" sz="1800" dirty="0" err="1">
                <a:latin typeface="Courier New" panose="02070309020205020404" pitchFamily="49" charset="0"/>
                <a:cs typeface="Courier New" panose="02070309020205020404" pitchFamily="49" charset="0"/>
              </a:rPr>
              <a:t>bar_block_ptr</a:t>
            </a:r>
            <a:r>
              <a:rPr lang="en-CA" sz="1800" dirty="0">
                <a:latin typeface="Courier New" panose="02070309020205020404" pitchFamily="49" charset="0"/>
                <a:cs typeface="Courier New" panose="02070309020205020404" pitchFamily="49" charset="0"/>
              </a:rPr>
              <a:t>;</a:t>
            </a:r>
            <a:br>
              <a:rPr lang="en-CA" sz="1800" dirty="0">
                <a:latin typeface="Courier New" panose="02070309020205020404" pitchFamily="49" charset="0"/>
                <a:cs typeface="Courier New" panose="02070309020205020404" pitchFamily="49" charset="0"/>
              </a:rPr>
            </a:br>
            <a:r>
              <a:rPr lang="en-CA" sz="1800" dirty="0">
                <a:latin typeface="Courier New" panose="02070309020205020404" pitchFamily="49" charset="0"/>
                <a:cs typeface="Courier New" panose="02070309020205020404" pitchFamily="49" charset="0"/>
              </a:rPr>
              <a:t>    };</a:t>
            </a:r>
          </a:p>
          <a:p>
            <a:pPr lvl="2"/>
            <a:r>
              <a:rPr lang="en-CA" dirty="0" err="1" smtClean="0">
                <a:cs typeface="Courier New" panose="02070309020205020404" pitchFamily="49" charset="0"/>
              </a:rPr>
              <a:t>bar_block_ptr</a:t>
            </a:r>
            <a:r>
              <a:rPr lang="en-CA" dirty="0" smtClean="0">
                <a:cs typeface="Courier New" panose="02070309020205020404" pitchFamily="49" charset="0"/>
              </a:rPr>
              <a:t> is </a:t>
            </a:r>
            <a:r>
              <a:rPr lang="en-CA" dirty="0">
                <a:cs typeface="Courier New" panose="02070309020205020404" pitchFamily="49" charset="0"/>
              </a:rPr>
              <a:t>“probably” a 32-bit pointer to type “</a:t>
            </a:r>
            <a:r>
              <a:rPr lang="en-CA" dirty="0" err="1">
                <a:cs typeface="Courier New" panose="02070309020205020404" pitchFamily="49" charset="0"/>
              </a:rPr>
              <a:t>bar_block</a:t>
            </a:r>
            <a:r>
              <a:rPr lang="en-CA" dirty="0">
                <a:cs typeface="Courier New" panose="02070309020205020404" pitchFamily="49" charset="0"/>
              </a:rPr>
              <a:t>”</a:t>
            </a:r>
          </a:p>
          <a:p>
            <a:pPr lvl="2"/>
            <a:r>
              <a:rPr lang="en-CA" dirty="0">
                <a:cs typeface="Courier New" panose="02070309020205020404" pitchFamily="49" charset="0"/>
              </a:rPr>
              <a:t>However, </a:t>
            </a:r>
            <a:r>
              <a:rPr lang="en-CA" dirty="0" smtClean="0">
                <a:cs typeface="Courier New" panose="02070309020205020404" pitchFamily="49" charset="0"/>
              </a:rPr>
              <a:t>code parser cannot </a:t>
            </a:r>
            <a:r>
              <a:rPr lang="en-CA" dirty="0">
                <a:cs typeface="Courier New" panose="02070309020205020404" pitchFamily="49" charset="0"/>
              </a:rPr>
              <a:t>deduce this from structure </a:t>
            </a:r>
            <a:r>
              <a:rPr lang="en-CA" dirty="0" smtClean="0">
                <a:cs typeface="Courier New" panose="02070309020205020404" pitchFamily="49" charset="0"/>
              </a:rPr>
              <a:t>definition</a:t>
            </a:r>
            <a:endParaRPr lang="en-CA" dirty="0">
              <a:cs typeface="Courier New" panose="02070309020205020404" pitchFamily="49" charset="0"/>
            </a:endParaRPr>
          </a:p>
          <a:p>
            <a:r>
              <a:rPr lang="en-CA" dirty="0" smtClean="0"/>
              <a:t>Solution</a:t>
            </a:r>
            <a:endParaRPr lang="en-CA" dirty="0"/>
          </a:p>
          <a:p>
            <a:pPr lvl="1"/>
            <a:r>
              <a:rPr lang="en-CA" dirty="0"/>
              <a:t>Annotate existing </a:t>
            </a:r>
            <a:r>
              <a:rPr lang="en-CA" dirty="0" smtClean="0"/>
              <a:t>sources </a:t>
            </a:r>
            <a:r>
              <a:rPr lang="en-CA" dirty="0"/>
              <a:t>to specify missing information</a:t>
            </a:r>
          </a:p>
          <a:p>
            <a:endParaRPr lang="en-CA" dirty="0">
              <a:cs typeface="Courier New" panose="02070309020205020404" pitchFamily="49" charset="0"/>
            </a:endParaRPr>
          </a:p>
          <a:p>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11</a:t>
            </a:fld>
            <a:endParaRPr lang="en-CA" dirty="0"/>
          </a:p>
        </p:txBody>
      </p:sp>
    </p:spTree>
    <p:extLst>
      <p:ext uri="{BB962C8B-B14F-4D97-AF65-F5344CB8AC3E}">
        <p14:creationId xmlns:p14="http://schemas.microsoft.com/office/powerpoint/2010/main" val="121560550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Annotation Requirements</a:t>
            </a:r>
            <a:endParaRPr lang="en-CA" dirty="0"/>
          </a:p>
        </p:txBody>
      </p:sp>
      <p:sp>
        <p:nvSpPr>
          <p:cNvPr id="3" name="Content Placeholder 2"/>
          <p:cNvSpPr>
            <a:spLocks noGrp="1"/>
          </p:cNvSpPr>
          <p:nvPr>
            <p:ph idx="1"/>
          </p:nvPr>
        </p:nvSpPr>
        <p:spPr/>
        <p:txBody>
          <a:bodyPr>
            <a:normAutofit/>
          </a:bodyPr>
          <a:lstStyle/>
          <a:p>
            <a:r>
              <a:rPr lang="en-US" dirty="0" smtClean="0"/>
              <a:t>File System Pointers</a:t>
            </a:r>
          </a:p>
          <a:p>
            <a:pPr lvl="1"/>
            <a:r>
              <a:rPr lang="en-US" dirty="0" smtClean="0"/>
              <a:t>Need to specify relationships between file system structures</a:t>
            </a:r>
          </a:p>
          <a:p>
            <a:pPr lvl="1"/>
            <a:r>
              <a:rPr lang="en-US" dirty="0" smtClean="0"/>
              <a:t>Use </a:t>
            </a:r>
            <a:r>
              <a:rPr lang="en-US" i="1" dirty="0"/>
              <a:t>P</a:t>
            </a:r>
            <a:r>
              <a:rPr lang="en-US" i="1" dirty="0" smtClean="0"/>
              <a:t>ointer</a:t>
            </a:r>
            <a:r>
              <a:rPr lang="en-US" dirty="0" smtClean="0"/>
              <a:t> annotation to specify this relationship</a:t>
            </a:r>
          </a:p>
          <a:p>
            <a:pPr lvl="1"/>
            <a:r>
              <a:rPr lang="en-US" dirty="0" smtClean="0"/>
              <a:t>Specifies that a data structure field holds an address to a location on physical storage</a:t>
            </a:r>
          </a:p>
          <a:p>
            <a:pPr lvl="1"/>
            <a:r>
              <a:rPr lang="en-US" b="1" dirty="0" smtClean="0"/>
              <a:t>Challenge:</a:t>
            </a:r>
            <a:r>
              <a:rPr lang="en-CA" b="1" dirty="0" smtClean="0"/>
              <a:t> </a:t>
            </a:r>
            <a:r>
              <a:rPr lang="en-CA" dirty="0" smtClean="0"/>
              <a:t>Interpreting address </a:t>
            </a:r>
            <a:r>
              <a:rPr lang="en-CA" dirty="0"/>
              <a:t>may involve multiple layers of translation</a:t>
            </a:r>
          </a:p>
          <a:p>
            <a:pPr lvl="2"/>
            <a:r>
              <a:rPr lang="en-CA" dirty="0" smtClean="0"/>
              <a:t>E.g</a:t>
            </a:r>
            <a:r>
              <a:rPr lang="en-CA" dirty="0"/>
              <a:t>., Ext4 journal is stored on disk as a regular file</a:t>
            </a:r>
          </a:p>
          <a:p>
            <a:pPr lvl="2"/>
            <a:r>
              <a:rPr lang="en-CA" dirty="0" smtClean="0"/>
              <a:t>Physical address of regular file stored in </a:t>
            </a:r>
            <a:r>
              <a:rPr lang="en-CA" dirty="0" err="1" smtClean="0"/>
              <a:t>inode</a:t>
            </a:r>
            <a:r>
              <a:rPr lang="en-CA" dirty="0" smtClean="0"/>
              <a:t> structure</a:t>
            </a:r>
          </a:p>
          <a:p>
            <a:pPr lvl="2"/>
            <a:r>
              <a:rPr lang="en-CA" dirty="0" smtClean="0"/>
              <a:t>Must read associated </a:t>
            </a:r>
            <a:r>
              <a:rPr lang="en-CA" dirty="0" err="1" smtClean="0"/>
              <a:t>inode</a:t>
            </a:r>
            <a:r>
              <a:rPr lang="en-CA" dirty="0" smtClean="0"/>
              <a:t> to physically locate Ext4 journal</a:t>
            </a:r>
            <a:endParaRPr lang="en-CA" dirty="0"/>
          </a:p>
          <a:p>
            <a:pPr lvl="1"/>
            <a:r>
              <a:rPr lang="en-CA" dirty="0"/>
              <a:t>Pointers have an </a:t>
            </a:r>
            <a:r>
              <a:rPr lang="en-CA" i="1" dirty="0"/>
              <a:t>address space </a:t>
            </a:r>
            <a:r>
              <a:rPr lang="en-CA" dirty="0"/>
              <a:t>that indicates how the address should be mapped to the physical location</a:t>
            </a:r>
          </a:p>
          <a:p>
            <a:pPr lvl="1"/>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12</a:t>
            </a:fld>
            <a:endParaRPr lang="en-CA" dirty="0"/>
          </a:p>
        </p:txBody>
      </p:sp>
    </p:spTree>
    <p:extLst>
      <p:ext uri="{BB962C8B-B14F-4D97-AF65-F5344CB8AC3E}">
        <p14:creationId xmlns:p14="http://schemas.microsoft.com/office/powerpoint/2010/main" val="395500087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FSSUPER and POINTER annotation</a:t>
            </a:r>
            <a:endParaRPr lang="en-CA" dirty="0"/>
          </a:p>
        </p:txBody>
      </p:sp>
      <p:sp>
        <p:nvSpPr>
          <p:cNvPr id="9" name="Content Placeholder 8"/>
          <p:cNvSpPr>
            <a:spLocks noGrp="1"/>
          </p:cNvSpPr>
          <p:nvPr>
            <p:ph sz="half" idx="1"/>
          </p:nvPr>
        </p:nvSpPr>
        <p:spPr/>
        <p:txBody>
          <a:bodyPr>
            <a:noAutofit/>
          </a:bodyPr>
          <a:lstStyle/>
          <a:p>
            <a:pPr marL="0" indent="0">
              <a:lnSpc>
                <a:spcPts val="2000"/>
              </a:lnSpc>
              <a:spcBef>
                <a:spcPts val="0"/>
              </a:spcBef>
              <a:spcAft>
                <a:spcPts val="0"/>
              </a:spcAft>
              <a:buNone/>
            </a:pPr>
            <a:r>
              <a:rPr lang="en-CA" sz="1400" b="1" dirty="0">
                <a:solidFill>
                  <a:schemeClr val="accent6">
                    <a:lumMod val="75000"/>
                  </a:schemeClr>
                </a:solidFill>
                <a:latin typeface="Courier New" panose="02070309020205020404" pitchFamily="49" charset="0"/>
                <a:cs typeface="Courier New" panose="02070309020205020404" pitchFamily="49" charset="0"/>
              </a:rPr>
              <a:t>FSSUPER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location</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rgbClr val="002060"/>
                </a:solidFill>
                <a:latin typeface="Courier New" panose="02070309020205020404" pitchFamily="49" charset="0"/>
                <a:cs typeface="Courier New" panose="02070309020205020404" pitchFamily="49" charset="0"/>
              </a:rPr>
              <a:t>1024</a:t>
            </a:r>
            <a:r>
              <a:rPr lang="en-CA" sz="1400" dirty="0">
                <a:latin typeface="Courier New" panose="02070309020205020404" pitchFamily="49" charset="0"/>
                <a:cs typeface="Courier New" panose="02070309020205020404" pitchFamily="49" charset="0"/>
              </a:rPr>
              <a:t>) ext4_super_block </a:t>
            </a:r>
            <a:r>
              <a:rPr lang="en-CA" sz="14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smtClean="0">
                <a:latin typeface="Courier New" panose="02070309020205020404" pitchFamily="49" charset="0"/>
                <a:cs typeface="Courier New" panose="02070309020205020404" pitchFamily="49" charset="0"/>
              </a:rPr>
              <a:t>  __le32 </a:t>
            </a:r>
            <a:r>
              <a:rPr lang="en-CA" sz="1400" dirty="0" err="1" smtClean="0">
                <a:latin typeface="Courier New" panose="02070309020205020404" pitchFamily="49" charset="0"/>
                <a:cs typeface="Courier New" panose="02070309020205020404" pitchFamily="49" charset="0"/>
              </a:rPr>
              <a:t>s_log_block_size</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fr-FR" sz="1400" dirty="0" smtClean="0">
                <a:solidFill>
                  <a:schemeClr val="accent6">
                    <a:lumMod val="75000"/>
                  </a:schemeClr>
                </a:solidFill>
                <a:latin typeface="Courier New" panose="02070309020205020404" pitchFamily="49" charset="0"/>
                <a:cs typeface="Courier New" panose="02070309020205020404" pitchFamily="49" charset="0"/>
              </a:rPr>
              <a:t>  </a:t>
            </a:r>
            <a:r>
              <a:rPr lang="fr-FR"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fr-FR" sz="1400" dirty="0" smtClean="0">
                <a:solidFill>
                  <a:schemeClr val="accent6">
                    <a:lumMod val="75000"/>
                  </a:schemeClr>
                </a:solidFill>
                <a:latin typeface="Courier New" panose="02070309020205020404" pitchFamily="49" charset="0"/>
                <a:cs typeface="Courier New" panose="02070309020205020404" pitchFamily="49" charset="0"/>
              </a:rPr>
              <a:t>(</a:t>
            </a:r>
            <a:r>
              <a:rPr lang="fr-FR" sz="1400" dirty="0" err="1">
                <a:solidFill>
                  <a:schemeClr val="accent3"/>
                </a:solidFill>
                <a:latin typeface="Courier New" panose="02070309020205020404" pitchFamily="49" charset="0"/>
                <a:cs typeface="Courier New" panose="02070309020205020404" pitchFamily="49" charset="0"/>
              </a:rPr>
              <a:t>aspc</a:t>
            </a:r>
            <a:r>
              <a:rPr lang="fr-FR" sz="1400" dirty="0" smtClean="0">
                <a:latin typeface="Courier New" panose="02070309020205020404" pitchFamily="49" charset="0"/>
                <a:cs typeface="Courier New" panose="02070309020205020404" pitchFamily="49" charset="0"/>
              </a:rPr>
              <a:t>=file</a:t>
            </a:r>
            <a:r>
              <a:rPr lang="fr-FR" sz="1400" dirty="0">
                <a:latin typeface="Courier New" panose="02070309020205020404" pitchFamily="49" charset="0"/>
                <a:cs typeface="Courier New" panose="02070309020205020404" pitchFamily="49" charset="0"/>
              </a:rPr>
              <a:t>, </a:t>
            </a:r>
            <a:r>
              <a:rPr lang="fr-FR" sz="1400" dirty="0">
                <a:solidFill>
                  <a:schemeClr val="accent3"/>
                </a:solidFill>
                <a:latin typeface="Courier New" panose="02070309020205020404" pitchFamily="49" charset="0"/>
                <a:cs typeface="Courier New" panose="02070309020205020404" pitchFamily="49" charset="0"/>
              </a:rPr>
              <a:t>type</a:t>
            </a:r>
            <a:r>
              <a:rPr lang="fr-FR" sz="1400" dirty="0" smtClean="0">
                <a:latin typeface="Courier New" panose="02070309020205020404" pitchFamily="49" charset="0"/>
                <a:cs typeface="Courier New" panose="02070309020205020404" pitchFamily="49" charset="0"/>
              </a:rPr>
              <a:t>=ext4_journal)</a:t>
            </a:r>
          </a:p>
          <a:p>
            <a:pPr marL="0" indent="0">
              <a:lnSpc>
                <a:spcPts val="2000"/>
              </a:lnSpc>
              <a:spcBef>
                <a:spcPts val="0"/>
              </a:spcBef>
              <a:spcAft>
                <a:spcPts val="0"/>
              </a:spcAft>
              <a:buNone/>
            </a:pPr>
            <a:r>
              <a:rPr lang="fr-FR" sz="1400" dirty="0" smtClean="0">
                <a:latin typeface="Courier New" panose="02070309020205020404" pitchFamily="49" charset="0"/>
                <a:cs typeface="Courier New" panose="02070309020205020404" pitchFamily="49" charset="0"/>
              </a:rPr>
              <a:t>  __le32 </a:t>
            </a:r>
            <a:r>
              <a:rPr lang="fr-FR" sz="1400" dirty="0" err="1" smtClean="0">
                <a:latin typeface="Courier New" panose="02070309020205020404" pitchFamily="49" charset="0"/>
                <a:cs typeface="Courier New" panose="02070309020205020404" pitchFamily="49" charset="0"/>
              </a:rPr>
              <a:t>s_journal_inum</a:t>
            </a:r>
            <a:r>
              <a:rPr lang="fr-FR" sz="1400" dirty="0">
                <a:latin typeface="Courier New" panose="02070309020205020404" pitchFamily="49" charset="0"/>
                <a:cs typeface="Courier New" panose="02070309020205020404" pitchFamily="49" charset="0"/>
              </a:rPr>
              <a:t>;</a:t>
            </a:r>
            <a:endParaRPr lang="en-CA" sz="14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POINTER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name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latin typeface="Courier New" panose="02070309020205020404" pitchFamily="49" charset="0"/>
                <a:cs typeface="Courier New" panose="02070309020205020404" pitchFamily="49" charset="0"/>
              </a:rPr>
              <a:t>s_block_group_desc</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a:latin typeface="Courier New" panose="02070309020205020404" pitchFamily="49" charset="0"/>
                <a:cs typeface="Courier New" panose="02070309020205020404" pitchFamily="49" charset="0"/>
              </a:rPr>
              <a:t>=ex</a:t>
            </a:r>
            <a:r>
              <a:rPr lang="en-CA" sz="1400" dirty="0">
                <a:solidFill>
                  <a:schemeClr val="accent6">
                    <a:lumMod val="75000"/>
                  </a:schemeClr>
                </a:solidFill>
                <a:latin typeface="Courier New" panose="02070309020205020404" pitchFamily="49" charset="0"/>
                <a:cs typeface="Courier New" panose="02070309020205020404" pitchFamily="49" charset="0"/>
              </a:rPr>
              <a:t>t4_group_desc_table, </a:t>
            </a:r>
            <a:r>
              <a:rPr lang="en-CA" sz="1400" dirty="0" err="1">
                <a:solidFill>
                  <a:schemeClr val="accent3"/>
                </a:solidFill>
                <a:latin typeface="Courier New" panose="02070309020205020404" pitchFamily="49" charset="0"/>
                <a:cs typeface="Courier New" panose="02070309020205020404" pitchFamily="49" charset="0"/>
              </a:rPr>
              <a:t>aspc</a:t>
            </a:r>
            <a:r>
              <a:rPr lang="en-CA" sz="1400" dirty="0">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smtClean="0">
                <a:latin typeface="Courier New" panose="02070309020205020404" pitchFamily="49" charset="0"/>
                <a:cs typeface="Courier New" panose="02070309020205020404" pitchFamily="49" charset="0"/>
              </a:rPr>
              <a:t>=(</a:t>
            </a:r>
            <a:r>
              <a:rPr lang="en-CA" sz="1400" dirty="0" err="1" smtClean="0">
                <a:latin typeface="Courier New" panose="02070309020205020404" pitchFamily="49" charset="0"/>
                <a:cs typeface="Courier New" panose="02070309020205020404" pitchFamily="49" charset="0"/>
              </a:rPr>
              <a:t>self.s_log_block_size</a:t>
            </a:r>
            <a:r>
              <a:rPr lang="en-CA" sz="1400" dirty="0" smtClean="0">
                <a:latin typeface="Courier New" panose="02070309020205020404" pitchFamily="49" charset="0"/>
                <a:cs typeface="Courier New" panose="02070309020205020404" pitchFamily="49" charset="0"/>
              </a:rPr>
              <a:t> == 0</a:t>
            </a:r>
            <a:r>
              <a:rPr lang="en-CA" sz="1400" dirty="0">
                <a:latin typeface="Courier New" panose="02070309020205020404" pitchFamily="49" charset="0"/>
                <a:cs typeface="Courier New" panose="02070309020205020404" pitchFamily="49" charset="0"/>
              </a:rPr>
              <a:t>) ? </a:t>
            </a:r>
            <a:r>
              <a:rPr lang="en-CA" sz="1400" dirty="0">
                <a:solidFill>
                  <a:srgbClr val="002060"/>
                </a:solidFill>
                <a:latin typeface="Courier New" panose="02070309020205020404" pitchFamily="49" charset="0"/>
                <a:cs typeface="Courier New" panose="02070309020205020404" pitchFamily="49" charset="0"/>
              </a:rPr>
              <a:t>2</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2060"/>
                </a:solidFill>
                <a:latin typeface="Courier New" panose="02070309020205020404" pitchFamily="49" charset="0"/>
                <a:cs typeface="Courier New" panose="02070309020205020404" pitchFamily="49" charset="0"/>
              </a:rPr>
              <a:t>1</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400" dirty="0" smtClean="0">
              <a:solidFill>
                <a:schemeClr val="accent6">
                  <a:lumMod val="75000"/>
                </a:schemeClr>
              </a:solidFill>
              <a:latin typeface="Courier New" panose="02070309020205020404" pitchFamily="49" charset="0"/>
              <a:cs typeface="Courier New" panose="02070309020205020404" pitchFamily="49" charset="0"/>
            </a:endParaRPr>
          </a:p>
          <a:p>
            <a:r>
              <a:rPr lang="en-CA" dirty="0"/>
              <a:t>FSSUPER specifies </a:t>
            </a:r>
            <a:r>
              <a:rPr lang="en-CA" dirty="0" smtClean="0"/>
              <a:t>the structure</a:t>
            </a:r>
            <a:r>
              <a:rPr lang="en-CA" dirty="0"/>
              <a:t/>
            </a:r>
            <a:br>
              <a:rPr lang="en-CA" dirty="0"/>
            </a:br>
            <a:r>
              <a:rPr lang="en-CA" dirty="0"/>
              <a:t>as super block</a:t>
            </a:r>
          </a:p>
          <a:p>
            <a:pPr lvl="1"/>
            <a:r>
              <a:rPr lang="en-CA" i="1" dirty="0"/>
              <a:t>location</a:t>
            </a:r>
            <a:r>
              <a:rPr lang="en-CA" dirty="0"/>
              <a:t> argument specifies address in byte offset</a:t>
            </a:r>
          </a:p>
          <a:p>
            <a:pPr marL="0" indent="0">
              <a:lnSpc>
                <a:spcPts val="2000"/>
              </a:lnSpc>
              <a:spcBef>
                <a:spcPts val="0"/>
              </a:spcBef>
              <a:spcAft>
                <a:spcPts val="0"/>
              </a:spcAft>
              <a:buNone/>
            </a:pPr>
            <a:endParaRPr lang="en-CA" sz="1400" dirty="0">
              <a:solidFill>
                <a:schemeClr val="accent6">
                  <a:lumMod val="75000"/>
                </a:schemeClr>
              </a:solidFill>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7B2023C8-B124-43A9-8F92-0EEF5BAA9995}" type="slidenum">
              <a:rPr lang="en-CA" smtClean="0"/>
              <a:t>13</a:t>
            </a:fld>
            <a:endParaRPr lang="en-CA"/>
          </a:p>
        </p:txBody>
      </p:sp>
      <p:sp>
        <p:nvSpPr>
          <p:cNvPr id="3" name="Content Placeholder 2"/>
          <p:cNvSpPr>
            <a:spLocks noGrp="1"/>
          </p:cNvSpPr>
          <p:nvPr>
            <p:ph sz="half" idx="2"/>
          </p:nvPr>
        </p:nvSpPr>
        <p:spPr/>
        <p:txBody>
          <a:bodyPr/>
          <a:lstStyle/>
          <a:p>
            <a:r>
              <a:rPr lang="en-CA" dirty="0" smtClean="0"/>
              <a:t>POINTER annotation</a:t>
            </a:r>
          </a:p>
          <a:p>
            <a:pPr lvl="1"/>
            <a:r>
              <a:rPr lang="en-CA" i="1" dirty="0" err="1" smtClean="0"/>
              <a:t>aspc</a:t>
            </a:r>
            <a:r>
              <a:rPr lang="en-CA" dirty="0" smtClean="0"/>
              <a:t> specifies the address space for mapping the address to physical location</a:t>
            </a:r>
          </a:p>
          <a:p>
            <a:pPr lvl="1"/>
            <a:r>
              <a:rPr lang="en-CA" i="1" dirty="0" smtClean="0"/>
              <a:t>type</a:t>
            </a:r>
            <a:r>
              <a:rPr lang="en-CA" dirty="0" smtClean="0"/>
              <a:t> is the type of the pointed-to structure</a:t>
            </a:r>
          </a:p>
          <a:p>
            <a:r>
              <a:rPr lang="en-CA" dirty="0" smtClean="0"/>
              <a:t>Implicit Pointer</a:t>
            </a:r>
          </a:p>
          <a:p>
            <a:pPr lvl="1"/>
            <a:r>
              <a:rPr lang="en-CA" dirty="0" smtClean="0"/>
              <a:t>Field computed at runtime</a:t>
            </a:r>
          </a:p>
          <a:p>
            <a:pPr lvl="1"/>
            <a:r>
              <a:rPr lang="en-CA" i="1" dirty="0" smtClean="0"/>
              <a:t>expr</a:t>
            </a:r>
            <a:r>
              <a:rPr lang="en-CA" dirty="0" smtClean="0"/>
              <a:t> specifies the computation</a:t>
            </a:r>
          </a:p>
          <a:p>
            <a:pPr lvl="1"/>
            <a:r>
              <a:rPr lang="en-CA" dirty="0" smtClean="0"/>
              <a:t>accessible via </a:t>
            </a:r>
            <a:r>
              <a:rPr lang="en-CA" i="1" dirty="0" smtClean="0"/>
              <a:t>name</a:t>
            </a:r>
            <a:r>
              <a:rPr lang="en-CA" dirty="0" smtClean="0"/>
              <a:t> argument</a:t>
            </a:r>
          </a:p>
          <a:p>
            <a:pPr lvl="2"/>
            <a:endParaRPr lang="en-CA" dirty="0"/>
          </a:p>
        </p:txBody>
      </p:sp>
    </p:spTree>
    <p:extLst>
      <p:ext uri="{BB962C8B-B14F-4D97-AF65-F5344CB8AC3E}">
        <p14:creationId xmlns:p14="http://schemas.microsoft.com/office/powerpoint/2010/main" val="169314000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Annotation Requirements</a:t>
            </a:r>
            <a:endParaRPr lang="en-CA" dirty="0"/>
          </a:p>
        </p:txBody>
      </p:sp>
      <p:sp>
        <p:nvSpPr>
          <p:cNvPr id="3" name="Content Placeholder 2"/>
          <p:cNvSpPr>
            <a:spLocks noGrp="1"/>
          </p:cNvSpPr>
          <p:nvPr>
            <p:ph idx="1"/>
          </p:nvPr>
        </p:nvSpPr>
        <p:spPr/>
        <p:txBody>
          <a:bodyPr>
            <a:normAutofit/>
          </a:bodyPr>
          <a:lstStyle/>
          <a:p>
            <a:r>
              <a:rPr lang="en-CA" dirty="0"/>
              <a:t>Cross-Structure Dependencies</a:t>
            </a:r>
          </a:p>
          <a:p>
            <a:pPr lvl="1"/>
            <a:r>
              <a:rPr lang="en-CA" dirty="0"/>
              <a:t>Allows the annotation of structures to reference fields of other structures</a:t>
            </a:r>
          </a:p>
          <a:p>
            <a:pPr lvl="2"/>
            <a:r>
              <a:rPr lang="en-CA" dirty="0"/>
              <a:t>E.g., size of an Ext4 </a:t>
            </a:r>
            <a:r>
              <a:rPr lang="en-CA" dirty="0" err="1"/>
              <a:t>inode</a:t>
            </a:r>
            <a:r>
              <a:rPr lang="en-CA" dirty="0"/>
              <a:t> is </a:t>
            </a:r>
            <a:r>
              <a:rPr lang="en-CA" dirty="0" smtClean="0"/>
              <a:t>stored </a:t>
            </a:r>
            <a:r>
              <a:rPr lang="en-CA" dirty="0"/>
              <a:t>in Ext4 super block</a:t>
            </a:r>
          </a:p>
          <a:p>
            <a:r>
              <a:rPr lang="en-CA" dirty="0" smtClean="0"/>
              <a:t>Context-Sensitive Types</a:t>
            </a:r>
          </a:p>
          <a:p>
            <a:pPr lvl="1"/>
            <a:r>
              <a:rPr lang="en-CA" dirty="0" smtClean="0"/>
              <a:t>E.g., pointers may point to different types of metadata</a:t>
            </a:r>
          </a:p>
          <a:p>
            <a:pPr lvl="2"/>
            <a:r>
              <a:rPr lang="en-CA" dirty="0"/>
              <a:t>P</a:t>
            </a:r>
            <a:r>
              <a:rPr lang="en-CA" dirty="0" smtClean="0"/>
              <a:t>ointers in </a:t>
            </a:r>
            <a:r>
              <a:rPr lang="en-CA" dirty="0" err="1" smtClean="0"/>
              <a:t>inode</a:t>
            </a:r>
            <a:r>
              <a:rPr lang="en-CA" dirty="0" smtClean="0"/>
              <a:t> point to directory blocks if </a:t>
            </a:r>
            <a:r>
              <a:rPr lang="en-CA" dirty="0" err="1" smtClean="0"/>
              <a:t>inode</a:t>
            </a:r>
            <a:r>
              <a:rPr lang="en-CA" dirty="0" smtClean="0"/>
              <a:t> is directory</a:t>
            </a:r>
          </a:p>
          <a:p>
            <a:pPr lvl="1"/>
            <a:r>
              <a:rPr lang="en-CA" dirty="0" smtClean="0"/>
              <a:t>E.g., structures may have optional fields</a:t>
            </a:r>
          </a:p>
          <a:p>
            <a:pPr lvl="2"/>
            <a:r>
              <a:rPr lang="en-CA" dirty="0" smtClean="0"/>
              <a:t>Ext4 </a:t>
            </a:r>
            <a:r>
              <a:rPr lang="en-CA" dirty="0" err="1" smtClean="0"/>
              <a:t>inode</a:t>
            </a:r>
            <a:r>
              <a:rPr lang="en-CA" dirty="0" smtClean="0"/>
              <a:t> can store extended attributes if size &gt; 128</a:t>
            </a:r>
          </a:p>
          <a:p>
            <a:r>
              <a:rPr lang="en-CA" dirty="0"/>
              <a:t>Constraint Checking</a:t>
            </a:r>
          </a:p>
          <a:p>
            <a:pPr lvl="1"/>
            <a:r>
              <a:rPr lang="en-CA" dirty="0"/>
              <a:t>Helps detect corrupted metadata </a:t>
            </a:r>
            <a:r>
              <a:rPr lang="en-CA" dirty="0" smtClean="0"/>
              <a:t>structures</a:t>
            </a:r>
          </a:p>
          <a:p>
            <a:pPr lvl="1"/>
            <a:endParaRPr lang="en-CA" dirty="0" smtClean="0"/>
          </a:p>
          <a:p>
            <a:pPr lvl="1"/>
            <a:endParaRPr lang="en-CA" dirty="0"/>
          </a:p>
          <a:p>
            <a:pPr lvl="2"/>
            <a:endParaRPr lang="en-CA" dirty="0" smtClean="0"/>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14</a:t>
            </a:fld>
            <a:endParaRPr lang="en-CA" dirty="0"/>
          </a:p>
        </p:txBody>
      </p:sp>
    </p:spTree>
    <p:extLst>
      <p:ext uri="{BB962C8B-B14F-4D97-AF65-F5344CB8AC3E}">
        <p14:creationId xmlns:p14="http://schemas.microsoft.com/office/powerpoint/2010/main" val="65982586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err="1" smtClean="0"/>
              <a:t>Exmple</a:t>
            </a:r>
            <a:r>
              <a:rPr lang="en-US" dirty="0" smtClean="0"/>
              <a:t> Annotations</a:t>
            </a:r>
            <a:endParaRPr lang="en-CA" dirty="0"/>
          </a:p>
        </p:txBody>
      </p:sp>
      <p:sp>
        <p:nvSpPr>
          <p:cNvPr id="10" name="Content Placeholder 6"/>
          <p:cNvSpPr txBox="1">
            <a:spLocks noGrp="1"/>
          </p:cNvSpPr>
          <p:nvPr>
            <p:ph sz="half" idx="1"/>
          </p:nvPr>
        </p:nvSpPr>
        <p:spPr>
          <a:xfrm>
            <a:off x="684211" y="1515361"/>
            <a:ext cx="4782311" cy="4656839"/>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None/>
            </a:pPr>
            <a:r>
              <a:rPr lang="en-CA" sz="1400" b="1" dirty="0" smtClean="0">
                <a:solidFill>
                  <a:schemeClr val="accent6">
                    <a:lumMod val="75000"/>
                  </a:schemeClr>
                </a:solidFill>
                <a:latin typeface="Courier New" panose="02070309020205020404" pitchFamily="49" charset="0"/>
                <a:cs typeface="Courier New" panose="02070309020205020404" pitchFamily="49" charset="0"/>
              </a:rPr>
              <a:t>FSSUPER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name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sb</a:t>
            </a:r>
            <a:r>
              <a:rPr lang="en-CA" sz="1400" dirty="0" smtClean="0">
                <a:solidFill>
                  <a:schemeClr val="accent6">
                    <a:lumMod val="75000"/>
                  </a:schemeClr>
                </a:solidFill>
                <a:latin typeface="Courier New" panose="02070309020205020404" pitchFamily="49" charset="0"/>
                <a:cs typeface="Courier New" panose="02070309020205020404" pitchFamily="49" charset="0"/>
              </a:rPr>
              <a:t>, …) ext4_super_block {</a:t>
            </a: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__le32 </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s_log_block_size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6">
                    <a:lumMod val="75000"/>
                  </a:schemeClr>
                </a:solidFill>
                <a:latin typeface="Courier New" panose="02070309020205020404" pitchFamily="49" charset="0"/>
                <a:cs typeface="Courier New" panose="02070309020205020404" pitchFamily="49" charset="0"/>
              </a:rPr>
              <a:t>__</a:t>
            </a:r>
            <a:r>
              <a:rPr lang="en-CA" sz="1400" dirty="0" smtClean="0">
                <a:solidFill>
                  <a:schemeClr val="accent6">
                    <a:lumMod val="75000"/>
                  </a:schemeClr>
                </a:solidFill>
                <a:latin typeface="Courier New" panose="02070309020205020404" pitchFamily="49" charset="0"/>
                <a:cs typeface="Courier New" panose="02070309020205020404" pitchFamily="49" charset="0"/>
              </a:rPr>
              <a:t>le16 </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s_magic</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__</a:t>
            </a:r>
            <a:r>
              <a:rPr lang="en-CA" sz="1400" dirty="0" smtClean="0">
                <a:solidFill>
                  <a:schemeClr val="accent6">
                    <a:lumMod val="75000"/>
                  </a:schemeClr>
                </a:solidFill>
                <a:latin typeface="Courier New" panose="02070309020205020404" pitchFamily="49" charset="0"/>
                <a:cs typeface="Courier New" panose="02070309020205020404" pitchFamily="49" charset="0"/>
              </a:rPr>
              <a:t>le32 </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s_inode_size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b="1" dirty="0" smtClean="0">
                <a:solidFill>
                  <a:schemeClr val="accent6">
                    <a:lumMod val="75000"/>
                  </a:schemeClr>
                </a:solidFill>
                <a:latin typeface="Courier New" panose="02070309020205020404" pitchFamily="49" charset="0"/>
                <a:cs typeface="Courier New" panose="02070309020205020404" pitchFamily="49" charset="0"/>
              </a:rPr>
              <a:t>  CHECK</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self.s_log_block_size</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6">
                    <a:lumMod val="75000"/>
                  </a:schemeClr>
                </a:solidFill>
                <a:latin typeface="Courier New" panose="02070309020205020404" pitchFamily="49" charset="0"/>
                <a:cs typeface="Courier New" panose="02070309020205020404" pitchFamily="49" charset="0"/>
              </a:rPr>
              <a:t>&lt;= </a:t>
            </a:r>
            <a:r>
              <a:rPr lang="en-CA" sz="1400" dirty="0">
                <a:solidFill>
                  <a:srgbClr val="002060"/>
                </a:solidFill>
                <a:latin typeface="Courier New" panose="02070309020205020404" pitchFamily="49" charset="0"/>
                <a:cs typeface="Courier New" panose="02070309020205020404" pitchFamily="49" charset="0"/>
              </a:rPr>
              <a:t>6</a:t>
            </a:r>
            <a:r>
              <a:rPr lang="en-CA" sz="1400" dirty="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self.s_magic</a:t>
            </a:r>
            <a:r>
              <a:rPr lang="en-CA" sz="1400" dirty="0">
                <a:solidFill>
                  <a:schemeClr val="accent6">
                    <a:lumMod val="75000"/>
                  </a:schemeClr>
                </a:solidFill>
                <a:latin typeface="Courier New" panose="02070309020205020404" pitchFamily="49" charset="0"/>
                <a:cs typeface="Courier New" panose="02070309020205020404" pitchFamily="49" charset="0"/>
              </a:rPr>
              <a:t> == </a:t>
            </a:r>
            <a:r>
              <a:rPr lang="en-CA" sz="1400" dirty="0">
                <a:solidFill>
                  <a:srgbClr val="002060"/>
                </a:solidFill>
                <a:latin typeface="Courier New" panose="02070309020205020404" pitchFamily="49" charset="0"/>
                <a:cs typeface="Courier New" panose="02070309020205020404" pitchFamily="49" charset="0"/>
              </a:rPr>
              <a:t>0xef53</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400" b="1"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b="1" dirty="0" smtClean="0">
                <a:solidFill>
                  <a:schemeClr val="accent6">
                    <a:lumMod val="75000"/>
                  </a:schemeClr>
                </a:solidFill>
                <a:latin typeface="Courier New" panose="02070309020205020404" pitchFamily="49" charset="0"/>
                <a:cs typeface="Courier New" panose="02070309020205020404" pitchFamily="49" charset="0"/>
              </a:rPr>
              <a:t>FSSTRUCT</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size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sb.s_inode_size</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ext4_inode {</a:t>
            </a: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__le16 </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i_mode</a:t>
            </a:r>
            <a:r>
              <a:rPr lang="en-CA" sz="1400" dirty="0">
                <a:solidFill>
                  <a:schemeClr val="accent6">
                    <a:lumMod val="75000"/>
                  </a:schemeClr>
                </a:solidFill>
                <a:latin typeface="Courier New" panose="02070309020205020404" pitchFamily="49" charset="0"/>
                <a:cs typeface="Courier New" panose="02070309020205020404" pitchFamily="49" charset="0"/>
              </a:rPr>
              <a:t>;</a:t>
            </a:r>
            <a:endParaRPr lang="en-CA" sz="1400" dirty="0" smtClean="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3"/>
                </a:solidFill>
                <a:latin typeface="Courier New" panose="02070309020205020404" pitchFamily="49" charset="0"/>
                <a:cs typeface="Courier New" panose="02070309020205020404" pitchFamily="49" charset="0"/>
              </a:rPr>
              <a:t>aspc</a:t>
            </a:r>
            <a:r>
              <a:rPr lang="en-CA" sz="1400" dirty="0" smtClean="0">
                <a:solidFill>
                  <a:schemeClr val="accent6">
                    <a:lumMod val="75000"/>
                  </a:schemeClr>
                </a:solidFill>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dir_block</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when</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self.i_mode</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6">
                    <a:lumMod val="75000"/>
                  </a:schemeClr>
                </a:solidFill>
                <a:latin typeface="Courier New" panose="02070309020205020404" pitchFamily="49" charset="0"/>
                <a:cs typeface="Courier New" panose="02070309020205020404" pitchFamily="49" charset="0"/>
              </a:rPr>
              <a:t>&amp; </a:t>
            </a:r>
            <a:r>
              <a:rPr lang="en-CA" sz="1400" dirty="0" smtClean="0">
                <a:solidFill>
                  <a:schemeClr val="accent6">
                    <a:lumMod val="75000"/>
                  </a:schemeClr>
                </a:solidFill>
                <a:latin typeface="Courier New" panose="02070309020205020404" pitchFamily="49" charset="0"/>
                <a:cs typeface="Courier New" panose="02070309020205020404" pitchFamily="49" charset="0"/>
              </a:rPr>
              <a:t>S_IFDIR</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b="1" dirty="0" smtClean="0">
                <a:solidFill>
                  <a:schemeClr val="accent6">
                    <a:lumMod val="75000"/>
                  </a:schemeClr>
                </a:solidFill>
                <a:latin typeface="Courier New" panose="02070309020205020404" pitchFamily="49" charset="0"/>
                <a:cs typeface="Courier New" panose="02070309020205020404" pitchFamily="49" charset="0"/>
              </a:rPr>
              <a:t>POINTER</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3"/>
                </a:solidFill>
                <a:latin typeface="Courier New" panose="02070309020205020404" pitchFamily="49" charset="0"/>
                <a:cs typeface="Courier New" panose="02070309020205020404" pitchFamily="49" charset="0"/>
              </a:rPr>
              <a:t>aspc</a:t>
            </a:r>
            <a:r>
              <a:rPr lang="en-CA" sz="1400" dirty="0" smtClean="0">
                <a:solidFill>
                  <a:schemeClr val="accent6">
                    <a:lumMod val="75000"/>
                  </a:schemeClr>
                </a:solidFill>
                <a:latin typeface="Courier New" panose="02070309020205020404" pitchFamily="49" charset="0"/>
                <a:cs typeface="Courier New" panose="02070309020205020404" pitchFamily="49" charset="0"/>
              </a:rPr>
              <a:t>=block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type</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err="1">
                <a:solidFill>
                  <a:schemeClr val="accent6">
                    <a:lumMod val="75000"/>
                  </a:schemeClr>
                </a:solidFill>
                <a:latin typeface="Courier New" panose="02070309020205020404" pitchFamily="49" charset="0"/>
                <a:cs typeface="Courier New" panose="02070309020205020404" pitchFamily="49" charset="0"/>
              </a:rPr>
              <a:t>data_block</a:t>
            </a:r>
            <a:r>
              <a:rPr lang="en-CA" sz="1400" dirty="0">
                <a:solidFill>
                  <a:schemeClr val="accent6">
                    <a:lumMod val="75000"/>
                  </a:schemeClr>
                </a:solidFill>
                <a:latin typeface="Courier New" panose="02070309020205020404" pitchFamily="49" charset="0"/>
                <a:cs typeface="Courier New" panose="02070309020205020404" pitchFamily="49" charset="0"/>
              </a:rPr>
              <a:t>,                 </a:t>
            </a:r>
            <a:endParaRPr lang="en-CA" sz="1400" dirty="0" smtClean="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3"/>
                </a:solidFill>
                <a:latin typeface="Courier New" panose="02070309020205020404" pitchFamily="49" charset="0"/>
                <a:cs typeface="Courier New" panose="02070309020205020404" pitchFamily="49" charset="0"/>
              </a:rPr>
              <a:t>when</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err="1" smtClean="0">
                <a:solidFill>
                  <a:schemeClr val="accent6">
                    <a:lumMod val="75000"/>
                  </a:schemeClr>
                </a:solidFill>
                <a:latin typeface="Courier New" panose="02070309020205020404" pitchFamily="49" charset="0"/>
                <a:cs typeface="Courier New" panose="02070309020205020404" pitchFamily="49" charset="0"/>
              </a:rPr>
              <a:t>self.i_mode</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solidFill>
                  <a:schemeClr val="accent6">
                    <a:lumMod val="75000"/>
                  </a:schemeClr>
                </a:solidFill>
                <a:latin typeface="Courier New" panose="02070309020205020404" pitchFamily="49" charset="0"/>
                <a:cs typeface="Courier New" panose="02070309020205020404" pitchFamily="49" charset="0"/>
              </a:rPr>
              <a:t>&amp; </a:t>
            </a:r>
            <a:r>
              <a:rPr lang="en-CA" sz="1400" dirty="0" smtClean="0">
                <a:solidFill>
                  <a:schemeClr val="accent6">
                    <a:lumMod val="75000"/>
                  </a:schemeClr>
                </a:solidFill>
                <a:latin typeface="Courier New" panose="02070309020205020404" pitchFamily="49" charset="0"/>
                <a:cs typeface="Courier New" panose="02070309020205020404" pitchFamily="49" charset="0"/>
              </a:rPr>
              <a:t>S_IFREG</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__</a:t>
            </a:r>
            <a:r>
              <a:rPr lang="en-CA" sz="1400" dirty="0">
                <a:solidFill>
                  <a:schemeClr val="accent6">
                    <a:lumMod val="75000"/>
                  </a:schemeClr>
                </a:solidFill>
                <a:latin typeface="Courier New" panose="02070309020205020404" pitchFamily="49" charset="0"/>
                <a:cs typeface="Courier New" panose="02070309020205020404" pitchFamily="49" charset="0"/>
              </a:rPr>
              <a:t>le32	</a:t>
            </a:r>
            <a:r>
              <a:rPr lang="en-CA" sz="1400" dirty="0" err="1">
                <a:solidFill>
                  <a:schemeClr val="accent6">
                    <a:lumMod val="75000"/>
                  </a:schemeClr>
                </a:solidFill>
                <a:latin typeface="Courier New" panose="02070309020205020404" pitchFamily="49" charset="0"/>
                <a:cs typeface="Courier New" panose="02070309020205020404" pitchFamily="49" charset="0"/>
              </a:rPr>
              <a:t>i_block</a:t>
            </a:r>
            <a:r>
              <a:rPr lang="en-CA" sz="1400" dirty="0">
                <a:solidFill>
                  <a:schemeClr val="accent6">
                    <a:lumMod val="75000"/>
                  </a:schemeClr>
                </a:solidFill>
                <a:latin typeface="Courier New" panose="02070309020205020404" pitchFamily="49" charset="0"/>
                <a:cs typeface="Courier New" panose="02070309020205020404" pitchFamily="49" charset="0"/>
              </a:rPr>
              <a:t>[EXT3_NDIR_BLOCKS</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7B2023C8-B124-43A9-8F92-0EEF5BAA9995}" type="slidenum">
              <a:rPr lang="en-CA" smtClean="0"/>
              <a:t>15</a:t>
            </a:fld>
            <a:endParaRPr lang="en-CA"/>
          </a:p>
        </p:txBody>
      </p:sp>
      <p:sp>
        <p:nvSpPr>
          <p:cNvPr id="7" name="Content Placeholder 6"/>
          <p:cNvSpPr>
            <a:spLocks noGrp="1"/>
          </p:cNvSpPr>
          <p:nvPr>
            <p:ph sz="half" idx="2"/>
          </p:nvPr>
        </p:nvSpPr>
        <p:spPr/>
        <p:txBody>
          <a:bodyPr/>
          <a:lstStyle/>
          <a:p>
            <a:r>
              <a:rPr lang="en-CA" dirty="0" smtClean="0"/>
              <a:t>CHECK annotation</a:t>
            </a:r>
          </a:p>
          <a:p>
            <a:pPr lvl="1"/>
            <a:r>
              <a:rPr lang="en-CA" dirty="0" smtClean="0"/>
              <a:t>Enables constraint checking</a:t>
            </a:r>
          </a:p>
          <a:p>
            <a:r>
              <a:rPr lang="en-CA" dirty="0" smtClean="0"/>
              <a:t>FSSUPER/FSSTRUCT</a:t>
            </a:r>
          </a:p>
          <a:p>
            <a:pPr lvl="1"/>
            <a:r>
              <a:rPr lang="en-CA" i="1" dirty="0" smtClean="0"/>
              <a:t>name </a:t>
            </a:r>
            <a:r>
              <a:rPr lang="en-CA" dirty="0" smtClean="0"/>
              <a:t>argument allows structure to be referenced by others</a:t>
            </a:r>
          </a:p>
          <a:p>
            <a:pPr lvl="1"/>
            <a:r>
              <a:rPr lang="en-CA" dirty="0" smtClean="0"/>
              <a:t>e.g., </a:t>
            </a:r>
            <a:r>
              <a:rPr lang="en-CA" i="1" dirty="0" smtClean="0"/>
              <a:t>size</a:t>
            </a:r>
            <a:r>
              <a:rPr lang="en-CA" dirty="0" smtClean="0"/>
              <a:t> argument for ext4_inode references field in super block </a:t>
            </a:r>
            <a:endParaRPr lang="en-CA" i="1" dirty="0" smtClean="0"/>
          </a:p>
          <a:p>
            <a:r>
              <a:rPr lang="en-CA" i="1" dirty="0" smtClean="0"/>
              <a:t>when</a:t>
            </a:r>
            <a:r>
              <a:rPr lang="en-CA" dirty="0" smtClean="0"/>
              <a:t> argument</a:t>
            </a:r>
          </a:p>
          <a:p>
            <a:pPr lvl="1"/>
            <a:r>
              <a:rPr lang="en-CA" dirty="0" smtClean="0"/>
              <a:t>Supports context-sensitive types</a:t>
            </a:r>
          </a:p>
          <a:p>
            <a:pPr lvl="1"/>
            <a:r>
              <a:rPr lang="en-CA" dirty="0" smtClean="0"/>
              <a:t>Evaluated at runtime </a:t>
            </a:r>
            <a:endParaRPr lang="en-CA" dirty="0"/>
          </a:p>
        </p:txBody>
      </p:sp>
    </p:spTree>
    <p:extLst>
      <p:ext uri="{BB962C8B-B14F-4D97-AF65-F5344CB8AC3E}">
        <p14:creationId xmlns:p14="http://schemas.microsoft.com/office/powerpoint/2010/main" val="6885449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Generating Spiffy Library</a:t>
            </a:r>
            <a:endParaRPr lang="en-CA" dirty="0"/>
          </a:p>
        </p:txBody>
      </p:sp>
      <p:sp>
        <p:nvSpPr>
          <p:cNvPr id="3" name="Text Placeholder 2"/>
          <p:cNvSpPr>
            <a:spLocks noGrp="1"/>
          </p:cNvSpPr>
          <p:nvPr>
            <p:ph type="body" idx="1"/>
          </p:nvPr>
        </p:nvSpPr>
        <p:spPr/>
        <p:txBody>
          <a:bodyPr/>
          <a:lstStyle/>
          <a:p>
            <a:r>
              <a:rPr lang="en-CA" dirty="0" smtClean="0"/>
              <a:t>Annotation</a:t>
            </a:r>
            <a:endParaRPr lang="en-CA" dirty="0"/>
          </a:p>
        </p:txBody>
      </p:sp>
      <p:sp>
        <p:nvSpPr>
          <p:cNvPr id="10" name="Content Placeholder 6"/>
          <p:cNvSpPr txBox="1">
            <a:spLocks noGrp="1"/>
          </p:cNvSpPr>
          <p:nvPr>
            <p:ph sz="half" idx="2"/>
          </p:nvPr>
        </p:nvSpPr>
        <p:spPr>
          <a:xfrm>
            <a:off x="684211" y="2100086"/>
            <a:ext cx="9678989" cy="4072114"/>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None/>
            </a:pPr>
            <a:r>
              <a:rPr lang="en-CA" sz="1400" b="1" dirty="0">
                <a:solidFill>
                  <a:schemeClr val="accent6">
                    <a:lumMod val="75000"/>
                  </a:schemeClr>
                </a:solidFill>
                <a:latin typeface="Courier New" panose="02070309020205020404" pitchFamily="49" charset="0"/>
                <a:cs typeface="Courier New" panose="02070309020205020404" pitchFamily="49" charset="0"/>
              </a:rPr>
              <a:t>FSSUPER</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location</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rgbClr val="002060"/>
                </a:solidFill>
                <a:latin typeface="Courier New" panose="02070309020205020404" pitchFamily="49" charset="0"/>
                <a:cs typeface="Courier New" panose="02070309020205020404" pitchFamily="49" charset="0"/>
              </a:rPr>
              <a:t>1024</a:t>
            </a: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ext4_super_block {</a:t>
            </a:r>
          </a:p>
          <a:p>
            <a:pPr marL="0" indent="0">
              <a:lnSpc>
                <a:spcPts val="2000"/>
              </a:lnSpc>
              <a:spcBef>
                <a:spcPts val="0"/>
              </a:spcBef>
              <a:spcAft>
                <a:spcPts val="0"/>
              </a:spcAft>
              <a:buNone/>
            </a:pPr>
            <a:r>
              <a:rPr lang="en-CA" sz="1400" dirty="0" smtClean="0">
                <a:latin typeface="Courier New" panose="02070309020205020404" pitchFamily="49" charset="0"/>
                <a:cs typeface="Courier New" panose="02070309020205020404" pitchFamily="49" charset="0"/>
              </a:rPr>
              <a:t>  __le32 </a:t>
            </a:r>
            <a:r>
              <a:rPr lang="en-CA" sz="1400" dirty="0" err="1" smtClean="0">
                <a:latin typeface="Courier New" panose="02070309020205020404" pitchFamily="49" charset="0"/>
                <a:cs typeface="Courier New" panose="02070309020205020404" pitchFamily="49" charset="0"/>
              </a:rPr>
              <a:t>s_log_block_size</a:t>
            </a:r>
            <a:r>
              <a:rPr lang="en-CA" sz="14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smtClean="0">
                <a:latin typeface="Courier New" panose="02070309020205020404" pitchFamily="49" charset="0"/>
                <a:cs typeface="Courier New" panose="02070309020205020404" pitchFamily="49" charset="0"/>
              </a:rPr>
              <a:t>  </a:t>
            </a:r>
            <a:r>
              <a:rPr lang="en-CA" sz="1400" dirty="0">
                <a:latin typeface="Courier New" panose="02070309020205020404" pitchFamily="49" charset="0"/>
                <a:cs typeface="Courier New" panose="02070309020205020404" pitchFamily="49" charset="0"/>
              </a:rPr>
              <a:t>__</a:t>
            </a:r>
            <a:r>
              <a:rPr lang="en-CA" sz="1400" dirty="0" smtClean="0">
                <a:latin typeface="Courier New" panose="02070309020205020404" pitchFamily="49" charset="0"/>
                <a:cs typeface="Courier New" panose="02070309020205020404" pitchFamily="49" charset="0"/>
              </a:rPr>
              <a:t>le16 </a:t>
            </a:r>
            <a:r>
              <a:rPr lang="en-CA" sz="1400" dirty="0" err="1" smtClean="0">
                <a:latin typeface="Courier New" panose="02070309020205020404" pitchFamily="49" charset="0"/>
                <a:cs typeface="Courier New" panose="02070309020205020404" pitchFamily="49" charset="0"/>
              </a:rPr>
              <a:t>s_magic</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latin typeface="Courier New" panose="02070309020205020404" pitchFamily="49" charset="0"/>
                <a:cs typeface="Courier New" panose="02070309020205020404" pitchFamily="49" charset="0"/>
              </a:rPr>
              <a:t>  __</a:t>
            </a:r>
            <a:r>
              <a:rPr lang="en-CA" sz="1400" dirty="0" smtClean="0">
                <a:latin typeface="Courier New" panose="02070309020205020404" pitchFamily="49" charset="0"/>
                <a:cs typeface="Courier New" panose="02070309020205020404" pitchFamily="49" charset="0"/>
              </a:rPr>
              <a:t>le32 </a:t>
            </a:r>
            <a:r>
              <a:rPr lang="en-CA" sz="1400" dirty="0" err="1" smtClean="0">
                <a:latin typeface="Courier New" panose="02070309020205020404" pitchFamily="49" charset="0"/>
                <a:cs typeface="Courier New" panose="02070309020205020404" pitchFamily="49" charset="0"/>
              </a:rPr>
              <a:t>s_inode_size</a:t>
            </a:r>
            <a:r>
              <a:rPr lang="en-CA" sz="14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None/>
            </a:pPr>
            <a:r>
              <a:rPr lang="en-CA" sz="1400" b="1" dirty="0" smtClean="0">
                <a:solidFill>
                  <a:schemeClr val="accent6">
                    <a:lumMod val="75000"/>
                  </a:schemeClr>
                </a:solidFill>
                <a:latin typeface="Courier New" panose="02070309020205020404" pitchFamily="49" charset="0"/>
                <a:cs typeface="Courier New" panose="02070309020205020404" pitchFamily="49" charset="0"/>
              </a:rPr>
              <a:t>  CHECK</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r>
              <a:rPr lang="en-CA" sz="1400" dirty="0" smtClean="0">
                <a:solidFill>
                  <a:schemeClr val="accent3"/>
                </a:solidFill>
                <a:latin typeface="Courier New" panose="02070309020205020404" pitchFamily="49" charset="0"/>
                <a:cs typeface="Courier New" panose="02070309020205020404" pitchFamily="49" charset="0"/>
              </a:rPr>
              <a:t>expr</a:t>
            </a:r>
            <a:r>
              <a:rPr lang="en-CA" sz="1400" dirty="0" smtClean="0">
                <a:latin typeface="Courier New" panose="02070309020205020404" pitchFamily="49" charset="0"/>
                <a:cs typeface="Courier New" panose="02070309020205020404" pitchFamily="49" charset="0"/>
              </a:rPr>
              <a:t>=</a:t>
            </a:r>
            <a:r>
              <a:rPr lang="en-CA" sz="1400" dirty="0" err="1" smtClean="0">
                <a:latin typeface="Courier New" panose="02070309020205020404" pitchFamily="49" charset="0"/>
                <a:cs typeface="Courier New" panose="02070309020205020404" pitchFamily="49" charset="0"/>
              </a:rPr>
              <a:t>self.s_log_block_size</a:t>
            </a:r>
            <a:r>
              <a:rPr lang="en-CA" sz="1400" dirty="0" smtClean="0">
                <a:solidFill>
                  <a:schemeClr val="accent6">
                    <a:lumMod val="75000"/>
                  </a:schemeClr>
                </a:solidFill>
                <a:latin typeface="Courier New" panose="02070309020205020404" pitchFamily="49" charset="0"/>
                <a:cs typeface="Courier New" panose="02070309020205020404" pitchFamily="49" charset="0"/>
              </a:rPr>
              <a:t> </a:t>
            </a:r>
            <a:r>
              <a:rPr lang="en-CA" sz="1400" dirty="0">
                <a:latin typeface="Courier New" panose="02070309020205020404" pitchFamily="49" charset="0"/>
                <a:cs typeface="Courier New" panose="02070309020205020404" pitchFamily="49" charset="0"/>
              </a:rPr>
              <a:t>&lt;= </a:t>
            </a:r>
            <a:r>
              <a:rPr lang="en-CA" sz="1400" dirty="0">
                <a:solidFill>
                  <a:srgbClr val="002060"/>
                </a:solidFill>
                <a:latin typeface="Courier New" panose="02070309020205020404" pitchFamily="49" charset="0"/>
                <a:cs typeface="Courier New" panose="02070309020205020404" pitchFamily="49" charset="0"/>
              </a:rPr>
              <a:t>6</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solidFill>
                  <a:schemeClr val="accent6">
                    <a:lumMod val="75000"/>
                  </a:schemeClr>
                </a:solidFill>
                <a:latin typeface="Courier New" panose="02070309020205020404" pitchFamily="49" charset="0"/>
                <a:cs typeface="Courier New" panose="02070309020205020404" pitchFamily="49" charset="0"/>
              </a:rPr>
              <a:t>  </a:t>
            </a:r>
            <a:r>
              <a:rPr lang="en-CA" sz="1400" b="1" dirty="0">
                <a:solidFill>
                  <a:schemeClr val="accent6">
                    <a:lumMod val="75000"/>
                  </a:schemeClr>
                </a:solidFill>
                <a:latin typeface="Courier New" panose="02070309020205020404" pitchFamily="49" charset="0"/>
                <a:cs typeface="Courier New" panose="02070309020205020404" pitchFamily="49" charset="0"/>
              </a:rPr>
              <a:t>CHECK</a:t>
            </a:r>
            <a:r>
              <a:rPr lang="en-CA" sz="1400" dirty="0">
                <a:solidFill>
                  <a:schemeClr val="accent6">
                    <a:lumMod val="75000"/>
                  </a:schemeClr>
                </a:solidFill>
                <a:latin typeface="Courier New" panose="02070309020205020404" pitchFamily="49" charset="0"/>
                <a:cs typeface="Courier New" panose="02070309020205020404" pitchFamily="49" charset="0"/>
              </a:rPr>
              <a:t>(</a:t>
            </a:r>
            <a:r>
              <a:rPr lang="en-CA" sz="1400" dirty="0">
                <a:solidFill>
                  <a:schemeClr val="accent3"/>
                </a:solidFill>
                <a:latin typeface="Courier New" panose="02070309020205020404" pitchFamily="49" charset="0"/>
                <a:cs typeface="Courier New" panose="02070309020205020404" pitchFamily="49" charset="0"/>
              </a:rPr>
              <a:t>expr</a:t>
            </a:r>
            <a:r>
              <a:rPr lang="en-CA" sz="1400" dirty="0">
                <a:latin typeface="Courier New" panose="02070309020205020404" pitchFamily="49" charset="0"/>
                <a:cs typeface="Courier New" panose="02070309020205020404" pitchFamily="49" charset="0"/>
              </a:rPr>
              <a:t>=</a:t>
            </a:r>
            <a:r>
              <a:rPr lang="en-CA" sz="1400" dirty="0" err="1">
                <a:latin typeface="Courier New" panose="02070309020205020404" pitchFamily="49" charset="0"/>
                <a:cs typeface="Courier New" panose="02070309020205020404" pitchFamily="49" charset="0"/>
              </a:rPr>
              <a:t>self.s_magic</a:t>
            </a:r>
            <a:r>
              <a:rPr lang="en-CA" sz="1400" dirty="0">
                <a:latin typeface="Courier New" panose="02070309020205020404" pitchFamily="49" charset="0"/>
                <a:cs typeface="Courier New" panose="02070309020205020404" pitchFamily="49" charset="0"/>
              </a:rPr>
              <a:t> == </a:t>
            </a:r>
            <a:r>
              <a:rPr lang="en-CA" sz="1400" dirty="0">
                <a:solidFill>
                  <a:srgbClr val="002060"/>
                </a:solidFill>
                <a:latin typeface="Courier New" panose="02070309020205020404" pitchFamily="49" charset="0"/>
                <a:cs typeface="Courier New" panose="02070309020205020404" pitchFamily="49" charset="0"/>
              </a:rPr>
              <a:t>0xef53</a:t>
            </a: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solidFill>
                  <a:schemeClr val="accent6">
                    <a:lumMod val="75000"/>
                  </a:schemeClr>
                </a:solidFill>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endParaRPr lang="en-CA" sz="1400" dirty="0" smtClean="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endParaRPr lang="en-CA" sz="1400" dirty="0">
              <a:solidFill>
                <a:schemeClr val="accent6">
                  <a:lumMod val="75000"/>
                </a:schemeClr>
              </a:solidFill>
              <a:latin typeface="Courier New" panose="02070309020205020404" pitchFamily="49" charset="0"/>
              <a:cs typeface="Courier New" panose="02070309020205020404" pitchFamily="49" charset="0"/>
            </a:endParaRPr>
          </a:p>
          <a:p>
            <a:r>
              <a:rPr lang="en-CA" dirty="0"/>
              <a:t>C++ class generated for every annotated class and its fields</a:t>
            </a:r>
          </a:p>
          <a:p>
            <a:pPr lvl="1"/>
            <a:r>
              <a:rPr lang="en-CA" dirty="0"/>
              <a:t>Enables type-safe parsing and serialization</a:t>
            </a:r>
          </a:p>
          <a:p>
            <a:pPr marL="0" indent="0">
              <a:lnSpc>
                <a:spcPts val="2000"/>
              </a:lnSpc>
              <a:spcBef>
                <a:spcPts val="0"/>
              </a:spcBef>
              <a:spcAft>
                <a:spcPts val="0"/>
              </a:spcAft>
              <a:buNone/>
            </a:pPr>
            <a:endParaRPr lang="en-CA" sz="1400" dirty="0" smtClean="0">
              <a:solidFill>
                <a:schemeClr val="accent6">
                  <a:lumMod val="75000"/>
                </a:schemeClr>
              </a:solidFill>
              <a:latin typeface="Courier New" panose="02070309020205020404" pitchFamily="49" charset="0"/>
              <a:cs typeface="Courier New" panose="02070309020205020404" pitchFamily="49" charset="0"/>
            </a:endParaRPr>
          </a:p>
        </p:txBody>
      </p:sp>
      <p:sp>
        <p:nvSpPr>
          <p:cNvPr id="4" name="Text Placeholder 3"/>
          <p:cNvSpPr>
            <a:spLocks noGrp="1"/>
          </p:cNvSpPr>
          <p:nvPr>
            <p:ph type="body" sz="quarter" idx="3"/>
          </p:nvPr>
        </p:nvSpPr>
        <p:spPr/>
        <p:txBody>
          <a:bodyPr/>
          <a:lstStyle/>
          <a:p>
            <a:r>
              <a:rPr lang="en-CA" dirty="0" smtClean="0"/>
              <a:t>Generated Code</a:t>
            </a:r>
            <a:endParaRPr lang="en-CA" dirty="0"/>
          </a:p>
        </p:txBody>
      </p:sp>
      <p:sp>
        <p:nvSpPr>
          <p:cNvPr id="9" name="Content Placeholder 8"/>
          <p:cNvSpPr>
            <a:spLocks noGrp="1"/>
          </p:cNvSpPr>
          <p:nvPr>
            <p:ph sz="quarter" idx="4"/>
          </p:nvPr>
        </p:nvSpPr>
        <p:spPr>
          <a:xfrm>
            <a:off x="5621866" y="2100086"/>
            <a:ext cx="5191908" cy="2601123"/>
          </a:xfrm>
        </p:spPr>
        <p:txBody>
          <a:bodyPr>
            <a:noAutofit/>
          </a:bodyPr>
          <a:lstStyle/>
          <a:p>
            <a:pPr marL="0" indent="0">
              <a:lnSpc>
                <a:spcPts val="2000"/>
              </a:lnSpc>
              <a:spcBef>
                <a:spcPts val="0"/>
              </a:spcBef>
              <a:spcAft>
                <a:spcPts val="0"/>
              </a:spcAft>
              <a:buNone/>
            </a:pPr>
            <a:r>
              <a:rPr lang="en-CA" sz="1400" dirty="0" err="1">
                <a:latin typeface="Courier New" panose="02070309020205020404" pitchFamily="49" charset="0"/>
                <a:cs typeface="Courier New" panose="02070309020205020404" pitchFamily="49" charset="0"/>
              </a:rPr>
              <a:t>int</a:t>
            </a:r>
            <a:r>
              <a:rPr lang="en-CA" sz="1400" dirty="0">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parse(</a:t>
            </a:r>
            <a:r>
              <a:rPr lang="en-CA" sz="1400" dirty="0" err="1" smtClean="0">
                <a:latin typeface="Courier New" panose="02070309020205020404" pitchFamily="49" charset="0"/>
                <a:cs typeface="Courier New" panose="02070309020205020404" pitchFamily="49" charset="0"/>
              </a:rPr>
              <a:t>const</a:t>
            </a:r>
            <a:r>
              <a:rPr lang="en-CA" sz="1400" dirty="0" smtClean="0">
                <a:latin typeface="Courier New" panose="02070309020205020404" pitchFamily="49" charset="0"/>
                <a:cs typeface="Courier New" panose="02070309020205020404" pitchFamily="49" charset="0"/>
              </a:rPr>
              <a:t> </a:t>
            </a:r>
            <a:r>
              <a:rPr lang="en-CA" sz="1400" dirty="0">
                <a:latin typeface="Courier New" panose="02070309020205020404" pitchFamily="49" charset="0"/>
                <a:cs typeface="Courier New" panose="02070309020205020404" pitchFamily="49" charset="0"/>
              </a:rPr>
              <a:t>char * &amp; </a:t>
            </a:r>
            <a:r>
              <a:rPr lang="en-CA" sz="1400" dirty="0" err="1" smtClean="0">
                <a:latin typeface="Courier New" panose="02070309020205020404" pitchFamily="49" charset="0"/>
                <a:cs typeface="Courier New" panose="02070309020205020404" pitchFamily="49" charset="0"/>
              </a:rPr>
              <a:t>buf</a:t>
            </a:r>
            <a:r>
              <a:rPr lang="en-CA" sz="1400" dirty="0" smtClean="0">
                <a:latin typeface="Courier New" panose="02070309020205020404" pitchFamily="49" charset="0"/>
                <a:cs typeface="Courier New" panose="02070309020205020404" pitchFamily="49" charset="0"/>
              </a:rPr>
              <a:t>, unsigned </a:t>
            </a:r>
            <a:r>
              <a:rPr lang="en-CA" sz="1400" dirty="0">
                <a:latin typeface="Courier New" panose="02070309020205020404" pitchFamily="49" charset="0"/>
                <a:cs typeface="Courier New" panose="02070309020205020404" pitchFamily="49" charset="0"/>
              </a:rPr>
              <a:t>&amp; </a:t>
            </a:r>
            <a:r>
              <a:rPr lang="en-CA" sz="1400" dirty="0" err="1">
                <a:latin typeface="Courier New" panose="02070309020205020404" pitchFamily="49" charset="0"/>
                <a:cs typeface="Courier New" panose="02070309020205020404" pitchFamily="49" charset="0"/>
              </a:rPr>
              <a:t>len</a:t>
            </a:r>
            <a:r>
              <a:rPr lang="en-CA" sz="1400" dirty="0">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a:t>
            </a:r>
            <a:endParaRPr lang="en-CA" sz="14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latin typeface="Courier New" panose="02070309020205020404" pitchFamily="49" charset="0"/>
                <a:cs typeface="Courier New" panose="02070309020205020404" pitchFamily="49" charset="0"/>
              </a:rPr>
              <a:t>  </a:t>
            </a:r>
            <a:r>
              <a:rPr lang="en-CA" sz="1400" dirty="0" err="1" smtClean="0">
                <a:latin typeface="Courier New" panose="02070309020205020404" pitchFamily="49" charset="0"/>
                <a:cs typeface="Courier New" panose="02070309020205020404" pitchFamily="49" charset="0"/>
              </a:rPr>
              <a:t>int</a:t>
            </a:r>
            <a:r>
              <a:rPr lang="en-CA" sz="1400" dirty="0" smtClean="0">
                <a:latin typeface="Courier New" panose="02070309020205020404" pitchFamily="49" charset="0"/>
                <a:cs typeface="Courier New" panose="02070309020205020404" pitchFamily="49" charset="0"/>
              </a:rPr>
              <a:t> ret </a:t>
            </a:r>
            <a:r>
              <a:rPr lang="en-CA" sz="1400" dirty="0">
                <a:latin typeface="Courier New" panose="02070309020205020404" pitchFamily="49" charset="0"/>
                <a:cs typeface="Courier New" panose="02070309020205020404" pitchFamily="49" charset="0"/>
              </a:rPr>
              <a:t>= </a:t>
            </a:r>
            <a:r>
              <a:rPr lang="en-CA" sz="1400" dirty="0" err="1">
                <a:latin typeface="Courier New" panose="02070309020205020404" pitchFamily="49" charset="0"/>
                <a:cs typeface="Courier New" panose="02070309020205020404" pitchFamily="49" charset="0"/>
              </a:rPr>
              <a:t>s_log_block_size.parse</a:t>
            </a:r>
            <a:r>
              <a:rPr lang="en-CA" sz="1400" dirty="0">
                <a:latin typeface="Courier New" panose="02070309020205020404" pitchFamily="49" charset="0"/>
                <a:cs typeface="Courier New" panose="02070309020205020404" pitchFamily="49" charset="0"/>
              </a:rPr>
              <a:t>(</a:t>
            </a:r>
            <a:r>
              <a:rPr lang="en-CA" sz="1400" dirty="0" err="1">
                <a:latin typeface="Courier New" panose="02070309020205020404" pitchFamily="49" charset="0"/>
                <a:cs typeface="Courier New" panose="02070309020205020404" pitchFamily="49" charset="0"/>
              </a:rPr>
              <a:t>buf</a:t>
            </a:r>
            <a:r>
              <a:rPr lang="en-CA" sz="1400" dirty="0">
                <a:latin typeface="Courier New" panose="02070309020205020404" pitchFamily="49" charset="0"/>
                <a:cs typeface="Courier New" panose="02070309020205020404" pitchFamily="49" charset="0"/>
              </a:rPr>
              <a:t>, </a:t>
            </a:r>
            <a:r>
              <a:rPr lang="en-CA" sz="1400" dirty="0" err="1">
                <a:latin typeface="Courier New" panose="02070309020205020404" pitchFamily="49" charset="0"/>
                <a:cs typeface="Courier New" panose="02070309020205020404" pitchFamily="49" charset="0"/>
              </a:rPr>
              <a:t>len</a:t>
            </a:r>
            <a:r>
              <a:rPr lang="en-CA" sz="14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400" dirty="0">
                <a:latin typeface="Courier New" panose="02070309020205020404" pitchFamily="49" charset="0"/>
                <a:cs typeface="Courier New" panose="02070309020205020404" pitchFamily="49" charset="0"/>
              </a:rPr>
              <a:t>  if (ret &lt; 0) return ret;</a:t>
            </a:r>
          </a:p>
          <a:p>
            <a:pPr marL="0" indent="0">
              <a:lnSpc>
                <a:spcPts val="2000"/>
              </a:lnSpc>
              <a:spcBef>
                <a:spcPts val="0"/>
              </a:spcBef>
              <a:spcAft>
                <a:spcPts val="0"/>
              </a:spcAft>
              <a:buNone/>
            </a:pPr>
            <a:r>
              <a:rPr lang="en-CA" sz="1400" dirty="0">
                <a:latin typeface="Courier New" panose="02070309020205020404" pitchFamily="49" charset="0"/>
                <a:cs typeface="Courier New" panose="02070309020205020404" pitchFamily="49" charset="0"/>
              </a:rPr>
              <a:t>  </a:t>
            </a:r>
            <a:r>
              <a:rPr lang="en-CA" sz="1400" dirty="0" smtClean="0">
                <a:latin typeface="Courier New" panose="02070309020205020404" pitchFamily="49" charset="0"/>
                <a:cs typeface="Courier New" panose="02070309020205020404" pitchFamily="49" charset="0"/>
              </a:rPr>
              <a:t>…</a:t>
            </a:r>
            <a:endParaRPr lang="en-CA" sz="14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400" dirty="0" smtClean="0">
                <a:latin typeface="Courier New" panose="02070309020205020404" pitchFamily="49" charset="0"/>
                <a:cs typeface="Courier New" panose="02070309020205020404" pitchFamily="49" charset="0"/>
              </a:rPr>
              <a:t>  </a:t>
            </a:r>
            <a:r>
              <a:rPr lang="en-CA" sz="1400" dirty="0" smtClean="0">
                <a:effectLst>
                  <a:glow rad="101600">
                    <a:srgbClr val="FFFF00">
                      <a:alpha val="40000"/>
                    </a:srgbClr>
                  </a:glow>
                </a:effectLst>
                <a:latin typeface="Courier New" panose="02070309020205020404" pitchFamily="49" charset="0"/>
                <a:cs typeface="Courier New" panose="02070309020205020404" pitchFamily="49" charset="0"/>
              </a:rPr>
              <a:t>if </a:t>
            </a:r>
            <a:r>
              <a:rPr lang="en-CA" sz="1400" dirty="0">
                <a:effectLst>
                  <a:glow rad="101600">
                    <a:srgbClr val="FFFF00">
                      <a:alpha val="40000"/>
                    </a:srgbClr>
                  </a:glow>
                </a:effectLst>
                <a:latin typeface="Courier New" panose="02070309020205020404" pitchFamily="49" charset="0"/>
                <a:cs typeface="Courier New" panose="02070309020205020404" pitchFamily="49" charset="0"/>
              </a:rPr>
              <a:t>(!(this-&gt;</a:t>
            </a:r>
            <a:r>
              <a:rPr lang="en-CA" sz="1400" dirty="0" err="1">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400" dirty="0">
                <a:effectLst>
                  <a:glow rad="101600">
                    <a:srgbClr val="FFFF00">
                      <a:alpha val="40000"/>
                    </a:srgbClr>
                  </a:glow>
                </a:effectLst>
                <a:latin typeface="Courier New" panose="02070309020205020404" pitchFamily="49" charset="0"/>
                <a:cs typeface="Courier New" panose="02070309020205020404" pitchFamily="49" charset="0"/>
              </a:rPr>
              <a:t> &lt;= 6))</a:t>
            </a:r>
          </a:p>
          <a:p>
            <a:pPr marL="0" indent="0">
              <a:lnSpc>
                <a:spcPts val="2000"/>
              </a:lnSpc>
              <a:spcBef>
                <a:spcPts val="0"/>
              </a:spcBef>
              <a:spcAft>
                <a:spcPts val="0"/>
              </a:spcAft>
              <a:buNone/>
            </a:pPr>
            <a:r>
              <a:rPr lang="en-CA" sz="1400" dirty="0">
                <a:effectLst>
                  <a:glow rad="101600">
                    <a:srgbClr val="FFFF00">
                      <a:alpha val="40000"/>
                    </a:srgbClr>
                  </a:glow>
                </a:effectLst>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effectLst>
                  <a:glow rad="101600">
                    <a:srgbClr val="FFFF00">
                      <a:alpha val="40000"/>
                    </a:srgbClr>
                  </a:glow>
                </a:effectLst>
                <a:latin typeface="Courier New" panose="02070309020205020404" pitchFamily="49" charset="0"/>
                <a:cs typeface="Courier New" panose="02070309020205020404" pitchFamily="49" charset="0"/>
              </a:rPr>
              <a:t>  if (!(this-&gt;</a:t>
            </a:r>
            <a:r>
              <a:rPr lang="en-CA" sz="1400" dirty="0" err="1">
                <a:effectLst>
                  <a:glow rad="101600">
                    <a:srgbClr val="FFFF00">
                      <a:alpha val="40000"/>
                    </a:srgbClr>
                  </a:glow>
                </a:effectLst>
                <a:latin typeface="Courier New" panose="02070309020205020404" pitchFamily="49" charset="0"/>
                <a:cs typeface="Courier New" panose="02070309020205020404" pitchFamily="49" charset="0"/>
              </a:rPr>
              <a:t>s_magic</a:t>
            </a:r>
            <a:r>
              <a:rPr lang="en-CA" sz="1400" dirty="0">
                <a:effectLst>
                  <a:glow rad="101600">
                    <a:srgbClr val="FFFF00">
                      <a:alpha val="40000"/>
                    </a:srgbClr>
                  </a:glow>
                </a:effectLst>
                <a:latin typeface="Courier New" panose="02070309020205020404" pitchFamily="49" charset="0"/>
                <a:cs typeface="Courier New" panose="02070309020205020404" pitchFamily="49" charset="0"/>
              </a:rPr>
              <a:t> == 0xef53))</a:t>
            </a:r>
          </a:p>
          <a:p>
            <a:pPr marL="0" indent="0">
              <a:lnSpc>
                <a:spcPts val="2000"/>
              </a:lnSpc>
              <a:spcBef>
                <a:spcPts val="0"/>
              </a:spcBef>
              <a:spcAft>
                <a:spcPts val="0"/>
              </a:spcAft>
              <a:buNone/>
            </a:pPr>
            <a:r>
              <a:rPr lang="en-CA" sz="1400" dirty="0">
                <a:effectLst>
                  <a:glow rad="101600">
                    <a:srgbClr val="FFFF00">
                      <a:alpha val="40000"/>
                    </a:srgbClr>
                  </a:glow>
                </a:effectLst>
                <a:latin typeface="Courier New" panose="02070309020205020404" pitchFamily="49" charset="0"/>
                <a:cs typeface="Courier New" panose="02070309020205020404" pitchFamily="49" charset="0"/>
              </a:rPr>
              <a:t>    return ERR_CORRUPT;</a:t>
            </a:r>
          </a:p>
          <a:p>
            <a:pPr marL="0" indent="0">
              <a:lnSpc>
                <a:spcPts val="2000"/>
              </a:lnSpc>
              <a:spcBef>
                <a:spcPts val="0"/>
              </a:spcBef>
              <a:spcAft>
                <a:spcPts val="0"/>
              </a:spcAft>
              <a:buNone/>
            </a:pPr>
            <a:r>
              <a:rPr lang="en-CA" sz="1400" dirty="0">
                <a:latin typeface="Courier New" panose="02070309020205020404" pitchFamily="49" charset="0"/>
                <a:cs typeface="Courier New" panose="02070309020205020404" pitchFamily="49" charset="0"/>
              </a:rPr>
              <a:t>  return 0;</a:t>
            </a:r>
          </a:p>
          <a:p>
            <a:pPr marL="0" indent="0">
              <a:lnSpc>
                <a:spcPts val="2000"/>
              </a:lnSpc>
              <a:spcBef>
                <a:spcPts val="0"/>
              </a:spcBef>
              <a:spcAft>
                <a:spcPts val="0"/>
              </a:spcAft>
              <a:buNone/>
            </a:pPr>
            <a:r>
              <a:rPr lang="en-CA" sz="14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endParaRPr lang="en-CA" sz="1400" dirty="0">
              <a:solidFill>
                <a:schemeClr val="accent6">
                  <a:lumMod val="75000"/>
                </a:schemeClr>
              </a:solidFill>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endParaRPr lang="en-CA" sz="1400" dirty="0">
              <a:solidFill>
                <a:schemeClr val="accent6">
                  <a:lumMod val="75000"/>
                </a:schemeClr>
              </a:solidFill>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7B2023C8-B124-43A9-8F92-0EEF5BAA9995}" type="slidenum">
              <a:rPr lang="en-CA" smtClean="0"/>
              <a:t>16</a:t>
            </a:fld>
            <a:endParaRPr lang="en-CA"/>
          </a:p>
        </p:txBody>
      </p:sp>
      <p:sp>
        <p:nvSpPr>
          <p:cNvPr id="6" name="Right Arrow 5"/>
          <p:cNvSpPr/>
          <p:nvPr/>
        </p:nvSpPr>
        <p:spPr>
          <a:xfrm>
            <a:off x="5345150" y="3588027"/>
            <a:ext cx="277598" cy="168965"/>
          </a:xfrm>
          <a:prstGeom prst="rightArrow">
            <a:avLst/>
          </a:prstGeom>
          <a:noFill/>
          <a:ln w="254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45056677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Evaluation: Annotation </a:t>
            </a:r>
            <a:r>
              <a:rPr lang="en-CA" dirty="0" smtClean="0"/>
              <a:t>Effort</a:t>
            </a:r>
            <a:endParaRPr lang="en-CA" dirty="0"/>
          </a:p>
        </p:txBody>
      </p:sp>
      <p:sp>
        <p:nvSpPr>
          <p:cNvPr id="3" name="Content Placeholder 2"/>
          <p:cNvSpPr>
            <a:spLocks noGrp="1"/>
          </p:cNvSpPr>
          <p:nvPr>
            <p:ph idx="1"/>
          </p:nvPr>
        </p:nvSpPr>
        <p:spPr>
          <a:xfrm>
            <a:off x="646112" y="2990597"/>
            <a:ext cx="9403743" cy="3257801"/>
          </a:xfrm>
        </p:spPr>
        <p:txBody>
          <a:bodyPr>
            <a:normAutofit/>
          </a:bodyPr>
          <a:lstStyle/>
          <a:p>
            <a:r>
              <a:rPr lang="en-CA" dirty="0" smtClean="0"/>
              <a:t>LOC required for </a:t>
            </a:r>
            <a:r>
              <a:rPr lang="en-CA" i="1" dirty="0" smtClean="0"/>
              <a:t>file system developers</a:t>
            </a:r>
            <a:r>
              <a:rPr lang="en-CA" dirty="0" smtClean="0"/>
              <a:t> to correctly annotate their file systems</a:t>
            </a:r>
          </a:p>
          <a:p>
            <a:pPr lvl="1"/>
            <a:r>
              <a:rPr lang="en-CA" dirty="0" smtClean="0"/>
              <a:t>Some structures not originally declared</a:t>
            </a:r>
          </a:p>
          <a:p>
            <a:pPr lvl="2"/>
            <a:r>
              <a:rPr lang="en-CA" dirty="0" smtClean="0"/>
              <a:t>E.g. Ext4 indirect block is just an array of 4-byte pointers</a:t>
            </a:r>
          </a:p>
          <a:p>
            <a:pPr lvl="1"/>
            <a:r>
              <a:rPr lang="en-CA" dirty="0" smtClean="0"/>
              <a:t>Some structures need to be revised</a:t>
            </a:r>
          </a:p>
          <a:p>
            <a:pPr lvl="2"/>
            <a:r>
              <a:rPr lang="en-CA" dirty="0" smtClean="0"/>
              <a:t>Due to limitation of the annotation language</a:t>
            </a:r>
          </a:p>
          <a:p>
            <a:pPr lvl="2"/>
            <a:r>
              <a:rPr lang="en-CA" dirty="0" smtClean="0"/>
              <a:t>Does not affect correctness</a:t>
            </a:r>
          </a:p>
        </p:txBody>
      </p:sp>
      <p:graphicFrame>
        <p:nvGraphicFramePr>
          <p:cNvPr id="5" name="Table 4"/>
          <p:cNvGraphicFramePr>
            <a:graphicFrameLocks noGrp="1"/>
          </p:cNvGraphicFramePr>
          <p:nvPr>
            <p:extLst>
              <p:ext uri="{D42A27DB-BD31-4B8C-83A1-F6EECF244321}">
                <p14:modId xmlns:p14="http://schemas.microsoft.com/office/powerpoint/2010/main" val="1419476845"/>
              </p:ext>
            </p:extLst>
          </p:nvPr>
        </p:nvGraphicFramePr>
        <p:xfrm>
          <a:off x="2024016" y="1507237"/>
          <a:ext cx="6359598" cy="1483360"/>
        </p:xfrm>
        <a:graphic>
          <a:graphicData uri="http://schemas.openxmlformats.org/drawingml/2006/table">
            <a:tbl>
              <a:tblPr firstRow="1" bandRow="1">
                <a:tableStyleId>{69012ECD-51FC-41F1-AA8D-1B2483CD663E}</a:tableStyleId>
              </a:tblPr>
              <a:tblGrid>
                <a:gridCol w="2119866">
                  <a:extLst>
                    <a:ext uri="{9D8B030D-6E8A-4147-A177-3AD203B41FA5}">
                      <a16:colId xmlns="" xmlns:a16="http://schemas.microsoft.com/office/drawing/2014/main" val="20000"/>
                    </a:ext>
                  </a:extLst>
                </a:gridCol>
                <a:gridCol w="2119866">
                  <a:extLst>
                    <a:ext uri="{9D8B030D-6E8A-4147-A177-3AD203B41FA5}">
                      <a16:colId xmlns="" xmlns:a16="http://schemas.microsoft.com/office/drawing/2014/main" val="20001"/>
                    </a:ext>
                  </a:extLst>
                </a:gridCol>
                <a:gridCol w="2119866">
                  <a:extLst>
                    <a:ext uri="{9D8B030D-6E8A-4147-A177-3AD203B41FA5}">
                      <a16:colId xmlns="" xmlns:a16="http://schemas.microsoft.com/office/drawing/2014/main" val="20002"/>
                    </a:ext>
                  </a:extLst>
                </a:gridCol>
              </a:tblGrid>
              <a:tr h="370840">
                <a:tc>
                  <a:txBody>
                    <a:bodyPr/>
                    <a:lstStyle/>
                    <a:p>
                      <a:r>
                        <a:rPr lang="en-CA" dirty="0" smtClean="0">
                          <a:solidFill>
                            <a:schemeClr val="tx1"/>
                          </a:solidFill>
                        </a:rPr>
                        <a:t>File System</a:t>
                      </a:r>
                      <a:endParaRPr lang="en-CA" dirty="0">
                        <a:solidFill>
                          <a:schemeClr val="tx1"/>
                        </a:solidFill>
                      </a:endParaRPr>
                    </a:p>
                  </a:txBody>
                  <a:tcPr/>
                </a:tc>
                <a:tc>
                  <a:txBody>
                    <a:bodyPr/>
                    <a:lstStyle/>
                    <a:p>
                      <a:r>
                        <a:rPr lang="en-CA" dirty="0" smtClean="0">
                          <a:solidFill>
                            <a:schemeClr val="tx1"/>
                          </a:solidFill>
                        </a:rPr>
                        <a:t>Line Count</a:t>
                      </a:r>
                      <a:endParaRPr lang="en-CA" dirty="0">
                        <a:solidFill>
                          <a:schemeClr val="tx1"/>
                        </a:solidFill>
                      </a:endParaRPr>
                    </a:p>
                  </a:txBody>
                  <a:tcPr/>
                </a:tc>
                <a:tc>
                  <a:txBody>
                    <a:bodyPr/>
                    <a:lstStyle/>
                    <a:p>
                      <a:r>
                        <a:rPr lang="en-CA" dirty="0" smtClean="0">
                          <a:solidFill>
                            <a:schemeClr val="tx1"/>
                          </a:solidFill>
                        </a:rPr>
                        <a:t>Annotated</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dirty="0" smtClean="0">
                          <a:solidFill>
                            <a:schemeClr val="bg1"/>
                          </a:solidFill>
                        </a:rPr>
                        <a:t>Ext4</a:t>
                      </a:r>
                      <a:endParaRPr lang="en-CA" dirty="0">
                        <a:solidFill>
                          <a:schemeClr val="bg1"/>
                        </a:solidFill>
                      </a:endParaRPr>
                    </a:p>
                  </a:txBody>
                  <a:tcPr/>
                </a:tc>
                <a:tc>
                  <a:txBody>
                    <a:bodyPr/>
                    <a:lstStyle/>
                    <a:p>
                      <a:r>
                        <a:rPr lang="en-CA" dirty="0" smtClean="0">
                          <a:solidFill>
                            <a:schemeClr val="bg1"/>
                          </a:solidFill>
                        </a:rPr>
                        <a:t>491</a:t>
                      </a:r>
                      <a:endParaRPr lang="en-CA" dirty="0">
                        <a:solidFill>
                          <a:schemeClr val="bg1"/>
                        </a:solidFill>
                      </a:endParaRPr>
                    </a:p>
                  </a:txBody>
                  <a:tcPr/>
                </a:tc>
                <a:tc>
                  <a:txBody>
                    <a:bodyPr/>
                    <a:lstStyle/>
                    <a:p>
                      <a:r>
                        <a:rPr lang="en-CA" dirty="0" smtClean="0">
                          <a:solidFill>
                            <a:schemeClr val="bg1"/>
                          </a:solidFill>
                        </a:rPr>
                        <a:t>113</a:t>
                      </a:r>
                      <a:endParaRPr lang="en-CA" dirty="0">
                        <a:solidFill>
                          <a:schemeClr val="bg1"/>
                        </a:solidFill>
                      </a:endParaRPr>
                    </a:p>
                  </a:txBody>
                  <a:tcPr/>
                </a:tc>
                <a:extLst>
                  <a:ext uri="{0D108BD9-81ED-4DB2-BD59-A6C34878D82A}">
                    <a16:rowId xmlns="" xmlns:a16="http://schemas.microsoft.com/office/drawing/2014/main" val="10001"/>
                  </a:ext>
                </a:extLst>
              </a:tr>
              <a:tr h="370840">
                <a:tc>
                  <a:txBody>
                    <a:bodyPr/>
                    <a:lstStyle/>
                    <a:p>
                      <a:r>
                        <a:rPr lang="en-CA" dirty="0" err="1" smtClean="0">
                          <a:solidFill>
                            <a:schemeClr val="bg1"/>
                          </a:solidFill>
                        </a:rPr>
                        <a:t>Btrfs</a:t>
                      </a:r>
                      <a:endParaRPr lang="en-CA" dirty="0">
                        <a:solidFill>
                          <a:schemeClr val="bg1"/>
                        </a:solidFill>
                      </a:endParaRPr>
                    </a:p>
                  </a:txBody>
                  <a:tcPr/>
                </a:tc>
                <a:tc>
                  <a:txBody>
                    <a:bodyPr/>
                    <a:lstStyle/>
                    <a:p>
                      <a:r>
                        <a:rPr lang="en-CA" dirty="0" smtClean="0">
                          <a:solidFill>
                            <a:schemeClr val="bg1"/>
                          </a:solidFill>
                        </a:rPr>
                        <a:t>556</a:t>
                      </a:r>
                      <a:endParaRPr lang="en-CA" dirty="0">
                        <a:solidFill>
                          <a:schemeClr val="bg1"/>
                        </a:solidFill>
                      </a:endParaRPr>
                    </a:p>
                  </a:txBody>
                  <a:tcPr/>
                </a:tc>
                <a:tc>
                  <a:txBody>
                    <a:bodyPr/>
                    <a:lstStyle/>
                    <a:p>
                      <a:r>
                        <a:rPr lang="en-CA" dirty="0" smtClean="0">
                          <a:solidFill>
                            <a:schemeClr val="bg1"/>
                          </a:solidFill>
                        </a:rPr>
                        <a:t>151</a:t>
                      </a:r>
                      <a:endParaRPr lang="en-CA" dirty="0">
                        <a:solidFill>
                          <a:schemeClr val="bg1"/>
                        </a:solidFill>
                      </a:endParaRPr>
                    </a:p>
                  </a:txBody>
                  <a:tcPr/>
                </a:tc>
                <a:extLst>
                  <a:ext uri="{0D108BD9-81ED-4DB2-BD59-A6C34878D82A}">
                    <a16:rowId xmlns="" xmlns:a16="http://schemas.microsoft.com/office/drawing/2014/main" val="10002"/>
                  </a:ext>
                </a:extLst>
              </a:tr>
              <a:tr h="370840">
                <a:tc>
                  <a:txBody>
                    <a:bodyPr/>
                    <a:lstStyle/>
                    <a:p>
                      <a:r>
                        <a:rPr lang="en-CA" dirty="0" smtClean="0">
                          <a:solidFill>
                            <a:schemeClr val="bg1"/>
                          </a:solidFill>
                        </a:rPr>
                        <a:t>F2FS</a:t>
                      </a:r>
                      <a:endParaRPr lang="en-CA" dirty="0">
                        <a:solidFill>
                          <a:schemeClr val="bg1"/>
                        </a:solidFill>
                      </a:endParaRPr>
                    </a:p>
                  </a:txBody>
                  <a:tcPr/>
                </a:tc>
                <a:tc>
                  <a:txBody>
                    <a:bodyPr/>
                    <a:lstStyle/>
                    <a:p>
                      <a:r>
                        <a:rPr lang="en-CA" dirty="0" smtClean="0">
                          <a:solidFill>
                            <a:schemeClr val="bg1"/>
                          </a:solidFill>
                        </a:rPr>
                        <a:t>462</a:t>
                      </a:r>
                      <a:endParaRPr lang="en-CA" dirty="0">
                        <a:solidFill>
                          <a:schemeClr val="bg1"/>
                        </a:solidFill>
                      </a:endParaRPr>
                    </a:p>
                  </a:txBody>
                  <a:tcPr/>
                </a:tc>
                <a:tc>
                  <a:txBody>
                    <a:bodyPr/>
                    <a:lstStyle/>
                    <a:p>
                      <a:r>
                        <a:rPr lang="en-CA" dirty="0" smtClean="0">
                          <a:solidFill>
                            <a:schemeClr val="bg1"/>
                          </a:solidFill>
                        </a:rPr>
                        <a:t>127</a:t>
                      </a:r>
                      <a:endParaRPr lang="en-CA" dirty="0">
                        <a:solidFill>
                          <a:schemeClr val="bg1"/>
                        </a:solidFill>
                      </a:endParaRPr>
                    </a:p>
                  </a:txBody>
                  <a:tcPr/>
                </a:tc>
                <a:extLst>
                  <a:ext uri="{0D108BD9-81ED-4DB2-BD59-A6C34878D82A}">
                    <a16:rowId xmlns="" xmlns:a16="http://schemas.microsoft.com/office/drawing/2014/main" val="10003"/>
                  </a:ext>
                </a:extLst>
              </a:tr>
            </a:tbl>
          </a:graphicData>
        </a:graphic>
      </p:graphicFrame>
      <p:sp>
        <p:nvSpPr>
          <p:cNvPr id="6" name="Slide Number Placeholder 5"/>
          <p:cNvSpPr>
            <a:spLocks noGrp="1"/>
          </p:cNvSpPr>
          <p:nvPr>
            <p:ph type="sldNum" sz="quarter" idx="12"/>
          </p:nvPr>
        </p:nvSpPr>
        <p:spPr/>
        <p:txBody>
          <a:bodyPr/>
          <a:lstStyle/>
          <a:p>
            <a:fld id="{7B2023C8-B124-43A9-8F92-0EEF5BAA9995}" type="slidenum">
              <a:rPr lang="en-CA" smtClean="0"/>
              <a:pPr/>
              <a:t>17</a:t>
            </a:fld>
            <a:endParaRPr lang="en-CA" dirty="0"/>
          </a:p>
        </p:txBody>
      </p:sp>
    </p:spTree>
    <p:extLst>
      <p:ext uri="{BB962C8B-B14F-4D97-AF65-F5344CB8AC3E}">
        <p14:creationId xmlns:p14="http://schemas.microsoft.com/office/powerpoint/2010/main" val="349949332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Building Application</a:t>
            </a:r>
            <a:endParaRPr lang="en-CA" dirty="0"/>
          </a:p>
        </p:txBody>
      </p:sp>
      <p:sp>
        <p:nvSpPr>
          <p:cNvPr id="3" name="Content Placeholder 2"/>
          <p:cNvSpPr>
            <a:spLocks noGrp="1"/>
          </p:cNvSpPr>
          <p:nvPr>
            <p:ph idx="1"/>
          </p:nvPr>
        </p:nvSpPr>
        <p:spPr>
          <a:xfrm>
            <a:off x="684211" y="1515359"/>
            <a:ext cx="10285797" cy="4593210"/>
          </a:xfrm>
        </p:spPr>
        <p:txBody>
          <a:bodyPr>
            <a:normAutofit/>
          </a:bodyPr>
          <a:lstStyle/>
          <a:p>
            <a:r>
              <a:rPr lang="en-CA" dirty="0" smtClean="0"/>
              <a:t>Example: File System Free Space Tool</a:t>
            </a:r>
          </a:p>
          <a:p>
            <a:pPr lvl="1"/>
            <a:r>
              <a:rPr lang="en-CA" dirty="0" smtClean="0"/>
              <a:t>plots </a:t>
            </a:r>
            <a:r>
              <a:rPr lang="en-CA" dirty="0"/>
              <a:t>histogram of </a:t>
            </a:r>
            <a:r>
              <a:rPr lang="en-CA" dirty="0" smtClean="0"/>
              <a:t>size </a:t>
            </a:r>
            <a:r>
              <a:rPr lang="en-CA" dirty="0"/>
              <a:t>of free extents</a:t>
            </a:r>
            <a:endParaRPr lang="en-CA" dirty="0" smtClean="0"/>
          </a:p>
          <a:p>
            <a:r>
              <a:rPr lang="en-CA" dirty="0" smtClean="0"/>
              <a:t>Manually (ad-hoc processing)</a:t>
            </a:r>
          </a:p>
          <a:p>
            <a:pPr lvl="1"/>
            <a:r>
              <a:rPr lang="en-CA" dirty="0" smtClean="0"/>
              <a:t>Find documentation on format of each file system</a:t>
            </a:r>
          </a:p>
          <a:p>
            <a:pPr lvl="2"/>
            <a:r>
              <a:rPr lang="en-CA" dirty="0" smtClean="0"/>
              <a:t>Learn how each file system keeps track of block allocation information</a:t>
            </a:r>
          </a:p>
          <a:p>
            <a:pPr lvl="1"/>
            <a:r>
              <a:rPr lang="en-CA" dirty="0" smtClean="0"/>
              <a:t>Write code to find and process relevant metadata</a:t>
            </a:r>
          </a:p>
          <a:p>
            <a:pPr lvl="2"/>
            <a:r>
              <a:rPr lang="en-CA" dirty="0" smtClean="0"/>
              <a:t>Often through trial-and-error</a:t>
            </a:r>
          </a:p>
          <a:p>
            <a:r>
              <a:rPr lang="en-CA" dirty="0" smtClean="0"/>
              <a:t>Using Spiffy framework</a:t>
            </a:r>
          </a:p>
          <a:p>
            <a:pPr lvl="1"/>
            <a:r>
              <a:rPr lang="en-CA" dirty="0"/>
              <a:t>Use Spiffy to locate metadata that stores block allocation information</a:t>
            </a:r>
          </a:p>
          <a:p>
            <a:pPr lvl="1"/>
            <a:r>
              <a:rPr lang="en-CA" dirty="0"/>
              <a:t>Write file-system specific code to process metadata structures</a:t>
            </a:r>
          </a:p>
          <a:p>
            <a:endParaRPr lang="en-CA" dirty="0" smtClean="0"/>
          </a:p>
          <a:p>
            <a:pPr lvl="1"/>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18</a:t>
            </a:fld>
            <a:endParaRPr lang="en-CA" dirty="0"/>
          </a:p>
        </p:txBody>
      </p:sp>
    </p:spTree>
    <p:extLst>
      <p:ext uri="{BB962C8B-B14F-4D97-AF65-F5344CB8AC3E}">
        <p14:creationId xmlns:p14="http://schemas.microsoft.com/office/powerpoint/2010/main" val="332449069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dirty="0" smtClean="0"/>
              <a:t>Manually-Written Application</a:t>
            </a:r>
            <a:endParaRPr lang="en-CA" dirty="0"/>
          </a:p>
        </p:txBody>
      </p:sp>
      <p:sp>
        <p:nvSpPr>
          <p:cNvPr id="7" name="TextBox 6"/>
          <p:cNvSpPr txBox="1"/>
          <p:nvPr/>
        </p:nvSpPr>
        <p:spPr>
          <a:xfrm>
            <a:off x="8362122" y="2468890"/>
            <a:ext cx="3009463" cy="1015663"/>
          </a:xfrm>
          <a:prstGeom prst="rect">
            <a:avLst/>
          </a:prstGeom>
          <a:noFill/>
        </p:spPr>
        <p:txBody>
          <a:bodyPr wrap="square" rtlCol="0">
            <a:spAutoFit/>
          </a:bodyPr>
          <a:lstStyle/>
          <a:p>
            <a:pPr>
              <a:lnSpc>
                <a:spcPts val="2400"/>
              </a:lnSpc>
              <a:spcBef>
                <a:spcPts val="600"/>
              </a:spcBef>
            </a:pPr>
            <a:r>
              <a:rPr lang="en-CA" dirty="0" smtClean="0">
                <a:solidFill>
                  <a:schemeClr val="bg1"/>
                </a:solidFill>
              </a:rPr>
              <a:t>LOTS of boilerplate code to walk through the intermediate structures</a:t>
            </a:r>
            <a:endParaRPr lang="en-CA" dirty="0">
              <a:solidFill>
                <a:schemeClr val="bg1"/>
              </a:solidFill>
            </a:endParaRPr>
          </a:p>
        </p:txBody>
      </p:sp>
      <p:sp>
        <p:nvSpPr>
          <p:cNvPr id="13"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smtClean="0"/>
              <a:t>Ad-hoc processing, No error-checking</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19</a:t>
            </a:fld>
            <a:endParaRPr lang="en-CA" dirty="0"/>
          </a:p>
        </p:txBody>
      </p:sp>
    </p:spTree>
    <p:extLst>
      <p:ext uri="{BB962C8B-B14F-4D97-AF65-F5344CB8AC3E}">
        <p14:creationId xmlns:p14="http://schemas.microsoft.com/office/powerpoint/2010/main" val="303889626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a:t>Manually-Written Application</a:t>
            </a:r>
          </a:p>
        </p:txBody>
      </p:sp>
      <p:sp>
        <p:nvSpPr>
          <p:cNvPr id="2" name="TextBox 1"/>
          <p:cNvSpPr txBox="1"/>
          <p:nvPr/>
        </p:nvSpPr>
        <p:spPr>
          <a:xfrm>
            <a:off x="8734308" y="2073898"/>
            <a:ext cx="2681552" cy="1508105"/>
          </a:xfrm>
          <a:prstGeom prst="rect">
            <a:avLst/>
          </a:prstGeom>
          <a:noFill/>
        </p:spPr>
        <p:txBody>
          <a:bodyPr wrap="square" rtlCol="0">
            <a:spAutoFit/>
          </a:bodyPr>
          <a:lstStyle/>
          <a:p>
            <a:pPr>
              <a:lnSpc>
                <a:spcPts val="2400"/>
              </a:lnSpc>
              <a:spcBef>
                <a:spcPts val="600"/>
              </a:spcBef>
            </a:pPr>
            <a:r>
              <a:rPr lang="en-CA" b="1" dirty="0" smtClean="0">
                <a:solidFill>
                  <a:schemeClr val="bg1"/>
                </a:solidFill>
              </a:rPr>
              <a:t>No sanity checks!</a:t>
            </a:r>
          </a:p>
          <a:p>
            <a:pPr marL="263525" indent="-179388">
              <a:buFont typeface="Arial" panose="020B0604020202020204" pitchFamily="34" charset="0"/>
              <a:buChar char="•"/>
            </a:pPr>
            <a:r>
              <a:rPr lang="en-CA" dirty="0" smtClean="0">
                <a:solidFill>
                  <a:schemeClr val="bg1"/>
                </a:solidFill>
              </a:rPr>
              <a:t>Value may be out- of-bound, incorrect</a:t>
            </a:r>
          </a:p>
          <a:p>
            <a:pPr marL="263525" indent="-179388">
              <a:buFont typeface="Arial" panose="020B0604020202020204" pitchFamily="34" charset="0"/>
              <a:buChar char="•"/>
            </a:pPr>
            <a:r>
              <a:rPr lang="en-CA" dirty="0" smtClean="0">
                <a:solidFill>
                  <a:schemeClr val="bg1"/>
                </a:solidFill>
              </a:rPr>
              <a:t>Can cause crashes</a:t>
            </a:r>
            <a:br>
              <a:rPr lang="en-CA" dirty="0" smtClean="0">
                <a:solidFill>
                  <a:schemeClr val="bg1"/>
                </a:solidFill>
              </a:rPr>
            </a:br>
            <a:r>
              <a:rPr lang="en-CA" dirty="0" smtClean="0">
                <a:solidFill>
                  <a:schemeClr val="bg1"/>
                </a:solidFill>
              </a:rPr>
              <a:t>or garbage output</a:t>
            </a:r>
            <a:endParaRPr lang="en-CA" dirty="0">
              <a:solidFill>
                <a:schemeClr val="bg1"/>
              </a:solidFill>
            </a:endParaRPr>
          </a:p>
        </p:txBody>
      </p:sp>
      <p:cxnSp>
        <p:nvCxnSpPr>
          <p:cNvPr id="6" name="Straight Arrow Connector 5"/>
          <p:cNvCxnSpPr/>
          <p:nvPr/>
        </p:nvCxnSpPr>
        <p:spPr>
          <a:xfrm flipH="1">
            <a:off x="6778487" y="2281287"/>
            <a:ext cx="1955821" cy="740209"/>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a:off x="7374835" y="2281287"/>
            <a:ext cx="1359473" cy="1495583"/>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rot="5400000">
            <a:off x="6780007" y="3402890"/>
            <a:ext cx="3075904" cy="832699"/>
          </a:xfrm>
          <a:prstGeom prst="bentConnector3">
            <a:avLst>
              <a:gd name="adj1" fmla="val 100085"/>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a:t>Ad-hoc processing, No error-checking</a:t>
            </a:r>
          </a:p>
        </p:txBody>
      </p:sp>
      <p:sp>
        <p:nvSpPr>
          <p:cNvPr id="8" name="Slide Number Placeholder 7"/>
          <p:cNvSpPr>
            <a:spLocks noGrp="1"/>
          </p:cNvSpPr>
          <p:nvPr>
            <p:ph type="sldNum" sz="quarter" idx="12"/>
          </p:nvPr>
        </p:nvSpPr>
        <p:spPr/>
        <p:txBody>
          <a:bodyPr/>
          <a:lstStyle/>
          <a:p>
            <a:fld id="{7B2023C8-B124-43A9-8F92-0EEF5BAA9995}" type="slidenum">
              <a:rPr lang="en-CA" smtClean="0"/>
              <a:pPr/>
              <a:t>20</a:t>
            </a:fld>
            <a:endParaRPr lang="en-CA" dirty="0"/>
          </a:p>
        </p:txBody>
      </p:sp>
      <p:sp>
        <p:nvSpPr>
          <p:cNvPr id="11"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5130573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dirty="0"/>
              <a:t>Manually-Written Application</a:t>
            </a:r>
          </a:p>
        </p:txBody>
      </p:sp>
      <p:sp>
        <p:nvSpPr>
          <p:cNvPr id="2" name="Rectangle 1"/>
          <p:cNvSpPr/>
          <p:nvPr/>
        </p:nvSpPr>
        <p:spPr>
          <a:xfrm>
            <a:off x="1381538" y="5396947"/>
            <a:ext cx="5237923" cy="346843"/>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p:cNvSpPr txBox="1"/>
          <p:nvPr/>
        </p:nvSpPr>
        <p:spPr>
          <a:xfrm>
            <a:off x="8404493" y="2131673"/>
            <a:ext cx="2790802" cy="1015663"/>
          </a:xfrm>
          <a:prstGeom prst="rect">
            <a:avLst/>
          </a:prstGeom>
          <a:noFill/>
        </p:spPr>
        <p:txBody>
          <a:bodyPr wrap="square" rtlCol="0">
            <a:spAutoFit/>
          </a:bodyPr>
          <a:lstStyle/>
          <a:p>
            <a:pPr>
              <a:lnSpc>
                <a:spcPts val="2400"/>
              </a:lnSpc>
              <a:spcBef>
                <a:spcPts val="600"/>
              </a:spcBef>
            </a:pPr>
            <a:r>
              <a:rPr lang="en-CA" dirty="0" smtClean="0">
                <a:solidFill>
                  <a:schemeClr val="bg1"/>
                </a:solidFill>
              </a:rPr>
              <a:t>We want an easier way to find and process all of the block bitmaps</a:t>
            </a:r>
            <a:endParaRPr lang="en-CA" dirty="0">
              <a:solidFill>
                <a:schemeClr val="bg1"/>
              </a:solidFill>
            </a:endParaRPr>
          </a:p>
        </p:txBody>
      </p:sp>
      <p:cxnSp>
        <p:nvCxnSpPr>
          <p:cNvPr id="8" name="Straight Arrow Connector 7"/>
          <p:cNvCxnSpPr/>
          <p:nvPr/>
        </p:nvCxnSpPr>
        <p:spPr>
          <a:xfrm rot="10800000" flipV="1">
            <a:off x="6619463" y="3220281"/>
            <a:ext cx="3476019" cy="2358192"/>
          </a:xfrm>
          <a:prstGeom prst="bentConnector3">
            <a:avLst>
              <a:gd name="adj1" fmla="val -38"/>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3"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r>
              <a:rPr lang="en-CA" dirty="0"/>
              <a:t>Ad-hoc processing, No error-checking</a:t>
            </a:r>
          </a:p>
        </p:txBody>
      </p:sp>
      <p:sp>
        <p:nvSpPr>
          <p:cNvPr id="6" name="Slide Number Placeholder 5"/>
          <p:cNvSpPr>
            <a:spLocks noGrp="1"/>
          </p:cNvSpPr>
          <p:nvPr>
            <p:ph type="sldNum" sz="quarter" idx="12"/>
          </p:nvPr>
        </p:nvSpPr>
        <p:spPr/>
        <p:txBody>
          <a:bodyPr/>
          <a:lstStyle/>
          <a:p>
            <a:fld id="{7B2023C8-B124-43A9-8F92-0EEF5BAA9995}" type="slidenum">
              <a:rPr lang="en-CA" smtClean="0"/>
              <a:pPr/>
              <a:t>21</a:t>
            </a:fld>
            <a:endParaRPr lang="en-CA" dirty="0"/>
          </a:p>
        </p:txBody>
      </p:sp>
    </p:spTree>
    <p:extLst>
      <p:ext uri="{BB962C8B-B14F-4D97-AF65-F5344CB8AC3E}">
        <p14:creationId xmlns:p14="http://schemas.microsoft.com/office/powerpoint/2010/main" val="276395143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dirty="0" smtClean="0"/>
              <a:t>Spiffy Application</a:t>
            </a:r>
            <a:endParaRPr lang="en-CA" dirty="0"/>
          </a:p>
        </p:txBody>
      </p:sp>
      <p:sp>
        <p:nvSpPr>
          <p:cNvPr id="10" name="Content Placeholder 9"/>
          <p:cNvSpPr>
            <a:spLocks noGrp="1"/>
          </p:cNvSpPr>
          <p:nvPr>
            <p:ph idx="1"/>
          </p:nvPr>
        </p:nvSpPr>
        <p:spPr>
          <a:xfrm>
            <a:off x="684211" y="1515358"/>
            <a:ext cx="10285797" cy="1576634"/>
          </a:xfrm>
        </p:spPr>
        <p:txBody>
          <a:bodyPr>
            <a:normAutofit/>
          </a:bodyPr>
          <a:lstStyle/>
          <a:p>
            <a:r>
              <a:rPr lang="en-CA" dirty="0" smtClean="0"/>
              <a:t>Using Spiffy Library</a:t>
            </a:r>
          </a:p>
          <a:p>
            <a:pPr lvl="1"/>
            <a:endParaRPr lang="en-CA" dirty="0" smtClean="0"/>
          </a:p>
          <a:p>
            <a:pPr marL="0" indent="0">
              <a:buNone/>
            </a:pPr>
            <a:r>
              <a:rPr lang="en-CA" dirty="0" smtClean="0"/>
              <a:t>  </a:t>
            </a:r>
            <a:endParaRPr lang="en-CA" dirty="0"/>
          </a:p>
        </p:txBody>
      </p:sp>
      <p:sp>
        <p:nvSpPr>
          <p:cNvPr id="11" name="Content Placeholder 6"/>
          <p:cNvSpPr txBox="1">
            <a:spLocks/>
          </p:cNvSpPr>
          <p:nvPr/>
        </p:nvSpPr>
        <p:spPr>
          <a:xfrm>
            <a:off x="951929" y="2073898"/>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Ext4 </a:t>
            </a:r>
            <a:r>
              <a:rPr lang="en-CA" sz="1600" dirty="0">
                <a:latin typeface="Courier New" panose="02070309020205020404" pitchFamily="49" charset="0"/>
                <a:cs typeface="Courier New" panose="02070309020205020404" pitchFamily="49" charset="0"/>
              </a:rPr>
              <a:t>ext4(dev</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lnSpc>
                <a:spcPts val="2000"/>
              </a:lnSpc>
              <a:spcBef>
                <a:spcPts val="0"/>
              </a:spcBef>
              <a:spcAft>
                <a:spcPts val="0"/>
              </a:spcAft>
              <a:buNone/>
            </a:pPr>
            <a:r>
              <a:rPr lang="en-CA" sz="1600" b="1"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Ext4</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ext4.fetch_super();</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&lt;&lt;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lnSpc>
                <a:spcPts val="2000"/>
              </a:lnSpc>
              <a:spcBef>
                <a:spcPts val="0"/>
              </a:spcBef>
              <a:spcAft>
                <a:spcPts val="0"/>
              </a:spcAft>
              <a:buNone/>
            </a:pPr>
            <a:r>
              <a:rPr lang="en-CA" sz="1600" b="1" dirty="0" smtClean="0">
                <a:latin typeface="Courier New" panose="02070309020205020404" pitchFamily="49" charset="0"/>
                <a:cs typeface="Courier New" panose="02070309020205020404" pitchFamily="49" charset="0"/>
              </a:rPr>
              <a:t>7</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process_by_type</a:t>
            </a:r>
            <a:r>
              <a:rPr lang="en-CA" sz="1600" dirty="0" smtClean="0">
                <a:latin typeface="Courier New" panose="02070309020205020404" pitchFamily="49" charset="0"/>
                <a:cs typeface="Courier New" panose="02070309020205020404" pitchFamily="49" charset="0"/>
              </a:rPr>
              <a:t>(BLOCK_BITMAP,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 &amp;</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sp>
        <p:nvSpPr>
          <p:cNvPr id="6" name="Content Placeholder 9"/>
          <p:cNvSpPr txBox="1">
            <a:spLocks/>
          </p:cNvSpPr>
          <p:nvPr/>
        </p:nvSpPr>
        <p:spPr>
          <a:xfrm>
            <a:off x="684210" y="4411614"/>
            <a:ext cx="8954839" cy="1767364"/>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lvl="1"/>
            <a:r>
              <a:rPr lang="en-CA" dirty="0" smtClean="0"/>
              <a:t>Advantages</a:t>
            </a:r>
          </a:p>
          <a:p>
            <a:pPr lvl="2"/>
            <a:r>
              <a:rPr lang="en-CA" dirty="0" smtClean="0"/>
              <a:t>simplifies file system traversal,</a:t>
            </a:r>
            <a:r>
              <a:rPr lang="en-CA" dirty="0"/>
              <a:t> </a:t>
            </a:r>
            <a:r>
              <a:rPr lang="en-CA" dirty="0" smtClean="0"/>
              <a:t>reduces need to know format details</a:t>
            </a:r>
          </a:p>
          <a:p>
            <a:pPr lvl="2"/>
            <a:r>
              <a:rPr lang="en-CA" dirty="0" smtClean="0"/>
              <a:t>library parsing routines have automatically generated sanity checks</a:t>
            </a:r>
          </a:p>
        </p:txBody>
      </p:sp>
      <p:sp>
        <p:nvSpPr>
          <p:cNvPr id="7" name="TextBox 6"/>
          <p:cNvSpPr txBox="1"/>
          <p:nvPr/>
        </p:nvSpPr>
        <p:spPr>
          <a:xfrm>
            <a:off x="8409726" y="1743298"/>
            <a:ext cx="2642588" cy="707886"/>
          </a:xfrm>
          <a:prstGeom prst="rect">
            <a:avLst/>
          </a:prstGeom>
          <a:noFill/>
        </p:spPr>
        <p:txBody>
          <a:bodyPr wrap="square" rtlCol="0">
            <a:spAutoFit/>
          </a:bodyPr>
          <a:lstStyle/>
          <a:p>
            <a:pPr>
              <a:lnSpc>
                <a:spcPts val="2400"/>
              </a:lnSpc>
              <a:spcBef>
                <a:spcPts val="600"/>
              </a:spcBef>
            </a:pPr>
            <a:r>
              <a:rPr lang="en-CA" dirty="0" smtClean="0">
                <a:solidFill>
                  <a:schemeClr val="bg1"/>
                </a:solidFill>
              </a:rPr>
              <a:t>Returns </a:t>
            </a:r>
            <a:r>
              <a:rPr lang="en-CA" i="1" dirty="0" err="1" smtClean="0">
                <a:solidFill>
                  <a:schemeClr val="bg1"/>
                </a:solidFill>
              </a:rPr>
              <a:t>nullptr</a:t>
            </a:r>
            <a:r>
              <a:rPr lang="en-CA" dirty="0" smtClean="0">
                <a:solidFill>
                  <a:schemeClr val="bg1"/>
                </a:solidFill>
              </a:rPr>
              <a:t> if super block is corrupted</a:t>
            </a:r>
            <a:endParaRPr lang="en-CA" dirty="0">
              <a:solidFill>
                <a:schemeClr val="bg1"/>
              </a:solidFill>
            </a:endParaRPr>
          </a:p>
        </p:txBody>
      </p:sp>
      <p:cxnSp>
        <p:nvCxnSpPr>
          <p:cNvPr id="8" name="Straight Arrow Connector 7"/>
          <p:cNvCxnSpPr/>
          <p:nvPr/>
        </p:nvCxnSpPr>
        <p:spPr>
          <a:xfrm flipH="1">
            <a:off x="6808304" y="1997765"/>
            <a:ext cx="1601422" cy="101379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5" name="Slide Number Placeholder 14"/>
          <p:cNvSpPr>
            <a:spLocks noGrp="1"/>
          </p:cNvSpPr>
          <p:nvPr>
            <p:ph type="sldNum" sz="quarter" idx="12"/>
          </p:nvPr>
        </p:nvSpPr>
        <p:spPr/>
        <p:txBody>
          <a:bodyPr/>
          <a:lstStyle/>
          <a:p>
            <a:fld id="{7B2023C8-B124-43A9-8F92-0EEF5BAA9995}" type="slidenum">
              <a:rPr lang="en-CA" smtClean="0"/>
              <a:pPr/>
              <a:t>22</a:t>
            </a:fld>
            <a:endParaRPr lang="en-CA" dirty="0"/>
          </a:p>
        </p:txBody>
      </p:sp>
      <p:cxnSp>
        <p:nvCxnSpPr>
          <p:cNvPr id="14" name="Straight Arrow Connector 13"/>
          <p:cNvCxnSpPr/>
          <p:nvPr/>
        </p:nvCxnSpPr>
        <p:spPr>
          <a:xfrm flipH="1">
            <a:off x="9044609" y="3507933"/>
            <a:ext cx="594441" cy="43790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9142135" y="3128159"/>
            <a:ext cx="1177770" cy="400110"/>
          </a:xfrm>
          <a:prstGeom prst="rect">
            <a:avLst/>
          </a:prstGeom>
          <a:noFill/>
        </p:spPr>
        <p:txBody>
          <a:bodyPr wrap="square" rtlCol="0">
            <a:spAutoFit/>
          </a:bodyPr>
          <a:lstStyle/>
          <a:p>
            <a:pPr>
              <a:lnSpc>
                <a:spcPts val="2400"/>
              </a:lnSpc>
              <a:spcBef>
                <a:spcPts val="600"/>
              </a:spcBef>
            </a:pPr>
            <a:r>
              <a:rPr lang="en-CA" b="1" dirty="0" smtClean="0">
                <a:solidFill>
                  <a:schemeClr val="bg1"/>
                </a:solidFill>
              </a:rPr>
              <a:t>THAT’S IT</a:t>
            </a:r>
            <a:endParaRPr lang="en-CA" b="1" dirty="0">
              <a:solidFill>
                <a:schemeClr val="bg1"/>
              </a:solidFill>
            </a:endParaRPr>
          </a:p>
        </p:txBody>
      </p:sp>
    </p:spTree>
    <p:extLst>
      <p:ext uri="{BB962C8B-B14F-4D97-AF65-F5344CB8AC3E}">
        <p14:creationId xmlns:p14="http://schemas.microsoft.com/office/powerpoint/2010/main" val="75028871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Offline Spiffy Applications</a:t>
            </a:r>
            <a:endParaRPr lang="en-CA" dirty="0"/>
          </a:p>
        </p:txBody>
      </p:sp>
      <p:sp>
        <p:nvSpPr>
          <p:cNvPr id="3" name="Content Placeholder 2"/>
          <p:cNvSpPr>
            <a:spLocks noGrp="1"/>
          </p:cNvSpPr>
          <p:nvPr>
            <p:ph idx="1"/>
          </p:nvPr>
        </p:nvSpPr>
        <p:spPr/>
        <p:txBody>
          <a:bodyPr>
            <a:normAutofit/>
          </a:bodyPr>
          <a:lstStyle/>
          <a:p>
            <a:r>
              <a:rPr lang="en-CA" dirty="0" smtClean="0"/>
              <a:t>Have exclusive access to file system image</a:t>
            </a:r>
          </a:p>
          <a:p>
            <a:r>
              <a:rPr lang="en-CA" dirty="0" smtClean="0"/>
              <a:t>File System Dump Tool</a:t>
            </a:r>
          </a:p>
          <a:p>
            <a:pPr lvl="1"/>
            <a:r>
              <a:rPr lang="en-CA" dirty="0" smtClean="0"/>
              <a:t>Prints out all metadata in a file system</a:t>
            </a:r>
          </a:p>
          <a:p>
            <a:r>
              <a:rPr lang="en-CA" dirty="0" smtClean="0"/>
              <a:t>Type-Specific File System Corruptor</a:t>
            </a:r>
          </a:p>
          <a:p>
            <a:pPr lvl="1"/>
            <a:r>
              <a:rPr lang="en-CA" dirty="0" smtClean="0"/>
              <a:t>Finds and corrupts a field in a specified structure</a:t>
            </a:r>
          </a:p>
          <a:p>
            <a:r>
              <a:rPr lang="en-CA" dirty="0" smtClean="0"/>
              <a:t>File System Conversion Tool</a:t>
            </a:r>
          </a:p>
          <a:p>
            <a:pPr lvl="1"/>
            <a:r>
              <a:rPr lang="en-CA" dirty="0" smtClean="0"/>
              <a:t>Converts from one file system to another</a:t>
            </a:r>
          </a:p>
          <a:p>
            <a:pPr lvl="1"/>
            <a:r>
              <a:rPr lang="en-CA" dirty="0" smtClean="0"/>
              <a:t>minimizes moving of data blocks</a:t>
            </a:r>
          </a:p>
          <a:p>
            <a:pPr lvl="1"/>
            <a:r>
              <a:rPr lang="en-CA" dirty="0" smtClean="0"/>
              <a:t>Faster than copying to a difference device, reformat, and copy back</a:t>
            </a:r>
            <a:r>
              <a:rPr lang="en-CA" dirty="0"/>
              <a:t>	</a:t>
            </a:r>
            <a:endParaRPr lang="en-CA" dirty="0" smtClean="0"/>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23</a:t>
            </a:fld>
            <a:endParaRPr lang="en-CA" dirty="0"/>
          </a:p>
        </p:txBody>
      </p:sp>
    </p:spTree>
    <p:extLst>
      <p:ext uri="{BB962C8B-B14F-4D97-AF65-F5344CB8AC3E}">
        <p14:creationId xmlns:p14="http://schemas.microsoft.com/office/powerpoint/2010/main" val="1364355086"/>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Online Applications</a:t>
            </a:r>
            <a:endParaRPr lang="en-CA" dirty="0"/>
          </a:p>
        </p:txBody>
      </p:sp>
      <p:sp>
        <p:nvSpPr>
          <p:cNvPr id="3" name="Content Placeholder 2"/>
          <p:cNvSpPr>
            <a:spLocks noGrp="1"/>
          </p:cNvSpPr>
          <p:nvPr>
            <p:ph idx="1"/>
          </p:nvPr>
        </p:nvSpPr>
        <p:spPr/>
        <p:txBody>
          <a:bodyPr>
            <a:normAutofit fontScale="92500" lnSpcReduction="10000"/>
          </a:bodyPr>
          <a:lstStyle/>
          <a:p>
            <a:r>
              <a:rPr lang="en-CA" dirty="0" smtClean="0"/>
              <a:t>Operates while file system is in-use</a:t>
            </a:r>
          </a:p>
          <a:p>
            <a:r>
              <a:rPr lang="en-CA" dirty="0" smtClean="0"/>
              <a:t>Differentiated Storage Service</a:t>
            </a:r>
          </a:p>
          <a:p>
            <a:pPr lvl="1"/>
            <a:r>
              <a:rPr lang="en-CA" dirty="0" smtClean="0"/>
              <a:t>Prioritize metadata and small files</a:t>
            </a:r>
          </a:p>
          <a:p>
            <a:pPr lvl="1"/>
            <a:r>
              <a:rPr lang="en-CA" dirty="0" smtClean="0"/>
              <a:t>Difficult to implement</a:t>
            </a:r>
          </a:p>
          <a:p>
            <a:pPr lvl="1"/>
            <a:r>
              <a:rPr lang="en-CA" dirty="0" smtClean="0"/>
              <a:t>Requires file system to provide hints to block layer</a:t>
            </a:r>
          </a:p>
          <a:p>
            <a:r>
              <a:rPr lang="en-CA" dirty="0"/>
              <a:t>Runtime Interpretation</a:t>
            </a:r>
          </a:p>
          <a:p>
            <a:pPr lvl="1"/>
            <a:r>
              <a:rPr lang="en-CA" dirty="0"/>
              <a:t>Classifies file system IO at the block layer</a:t>
            </a:r>
          </a:p>
          <a:p>
            <a:pPr lvl="1"/>
            <a:r>
              <a:rPr lang="en-CA" dirty="0"/>
              <a:t>Requires </a:t>
            </a:r>
            <a:r>
              <a:rPr lang="en-CA" i="1" dirty="0"/>
              <a:t>no</a:t>
            </a:r>
            <a:r>
              <a:rPr lang="en-CA" dirty="0"/>
              <a:t> modification to file </a:t>
            </a:r>
            <a:r>
              <a:rPr lang="en-CA" dirty="0" smtClean="0"/>
              <a:t>system</a:t>
            </a:r>
          </a:p>
          <a:p>
            <a:pPr lvl="1"/>
            <a:r>
              <a:rPr lang="en-CA" dirty="0" smtClean="0"/>
              <a:t>Requires little file-system specific code</a:t>
            </a:r>
            <a:endParaRPr lang="en-CA" dirty="0"/>
          </a:p>
          <a:p>
            <a:r>
              <a:rPr lang="en-CA" dirty="0" smtClean="0"/>
              <a:t>Spiffy Block Layer Cache</a:t>
            </a:r>
          </a:p>
          <a:p>
            <a:pPr lvl="1"/>
            <a:r>
              <a:rPr lang="en-CA" dirty="0"/>
              <a:t>P</a:t>
            </a:r>
            <a:r>
              <a:rPr lang="en-CA" dirty="0" smtClean="0"/>
              <a:t>referentially caches files belonging to priority users</a:t>
            </a:r>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24</a:t>
            </a:fld>
            <a:endParaRPr lang="en-CA" dirty="0"/>
          </a:p>
        </p:txBody>
      </p:sp>
    </p:spTree>
    <p:extLst>
      <p:ext uri="{BB962C8B-B14F-4D97-AF65-F5344CB8AC3E}">
        <p14:creationId xmlns:p14="http://schemas.microsoft.com/office/powerpoint/2010/main" val="281551130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Evaluation: Programming </a:t>
            </a:r>
            <a:r>
              <a:rPr lang="en-CA" dirty="0"/>
              <a:t>Effort</a:t>
            </a:r>
          </a:p>
        </p:txBody>
      </p:sp>
      <p:sp>
        <p:nvSpPr>
          <p:cNvPr id="3" name="Content Placeholder 2"/>
          <p:cNvSpPr>
            <a:spLocks noGrp="1"/>
          </p:cNvSpPr>
          <p:nvPr>
            <p:ph idx="1"/>
          </p:nvPr>
        </p:nvSpPr>
        <p:spPr>
          <a:xfrm>
            <a:off x="646112" y="1543050"/>
            <a:ext cx="10600065" cy="4914311"/>
          </a:xfrm>
        </p:spPr>
        <p:txBody>
          <a:bodyPr>
            <a:normAutofit/>
          </a:bodyPr>
          <a:lstStyle/>
          <a:p>
            <a:endParaRPr lang="en-CA" dirty="0" smtClean="0"/>
          </a:p>
          <a:p>
            <a:endParaRPr lang="en-CA" dirty="0"/>
          </a:p>
          <a:p>
            <a:endParaRPr lang="en-CA" dirty="0" smtClean="0"/>
          </a:p>
          <a:p>
            <a:endParaRPr lang="en-CA" dirty="0" smtClean="0"/>
          </a:p>
          <a:p>
            <a:endParaRPr lang="en-CA" dirty="0" smtClean="0"/>
          </a:p>
          <a:p>
            <a:endParaRPr lang="en-CA" dirty="0" smtClean="0"/>
          </a:p>
          <a:p>
            <a:endParaRPr lang="en-CA" dirty="0" smtClean="0"/>
          </a:p>
          <a:p>
            <a:r>
              <a:rPr lang="en-CA" dirty="0" smtClean="0"/>
              <a:t>Programming effort reduced for read-only file system applications</a:t>
            </a:r>
          </a:p>
          <a:p>
            <a:pPr lvl="1"/>
            <a:r>
              <a:rPr lang="en-CA" dirty="0" smtClean="0"/>
              <a:t>Both online and offline</a:t>
            </a:r>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410067637"/>
              </p:ext>
            </p:extLst>
          </p:nvPr>
        </p:nvGraphicFramePr>
        <p:xfrm>
          <a:off x="806374" y="1543050"/>
          <a:ext cx="8901277" cy="3337560"/>
        </p:xfrm>
        <a:graphic>
          <a:graphicData uri="http://schemas.openxmlformats.org/drawingml/2006/table">
            <a:tbl>
              <a:tblPr firstRow="1" bandRow="1">
                <a:tableStyleId>{69012ECD-51FC-41F1-AA8D-1B2483CD663E}</a:tableStyleId>
              </a:tblPr>
              <a:tblGrid>
                <a:gridCol w="3593986">
                  <a:extLst>
                    <a:ext uri="{9D8B030D-6E8A-4147-A177-3AD203B41FA5}">
                      <a16:colId xmlns="" xmlns:a16="http://schemas.microsoft.com/office/drawing/2014/main" val="20000"/>
                    </a:ext>
                  </a:extLst>
                </a:gridCol>
                <a:gridCol w="2017336">
                  <a:extLst>
                    <a:ext uri="{9D8B030D-6E8A-4147-A177-3AD203B41FA5}">
                      <a16:colId xmlns="" xmlns:a16="http://schemas.microsoft.com/office/drawing/2014/main" val="20001"/>
                    </a:ext>
                  </a:extLst>
                </a:gridCol>
                <a:gridCol w="3289955">
                  <a:extLst>
                    <a:ext uri="{9D8B030D-6E8A-4147-A177-3AD203B41FA5}">
                      <a16:colId xmlns="" xmlns:a16="http://schemas.microsoft.com/office/drawing/2014/main" val="20002"/>
                    </a:ext>
                  </a:extLst>
                </a:gridCol>
              </a:tblGrid>
              <a:tr h="370840">
                <a:tc>
                  <a:txBody>
                    <a:bodyPr/>
                    <a:lstStyle/>
                    <a:p>
                      <a:r>
                        <a:rPr lang="en-CA" dirty="0" smtClean="0">
                          <a:solidFill>
                            <a:schemeClr val="tx1"/>
                          </a:solidFill>
                        </a:rPr>
                        <a:t>Applications</a:t>
                      </a:r>
                      <a:endParaRPr lang="en-CA" dirty="0">
                        <a:solidFill>
                          <a:schemeClr val="tx1"/>
                        </a:solidFill>
                      </a:endParaRPr>
                    </a:p>
                  </a:txBody>
                  <a:tcPr/>
                </a:tc>
                <a:tc>
                  <a:txBody>
                    <a:bodyPr/>
                    <a:lstStyle/>
                    <a:p>
                      <a:r>
                        <a:rPr lang="en-CA" dirty="0" smtClean="0">
                          <a:solidFill>
                            <a:schemeClr val="tx1"/>
                          </a:solidFill>
                        </a:rPr>
                        <a:t>Generic (LOC)</a:t>
                      </a:r>
                      <a:endParaRPr lang="en-CA" dirty="0">
                        <a:solidFill>
                          <a:schemeClr val="tx1"/>
                        </a:solidFill>
                      </a:endParaRPr>
                    </a:p>
                  </a:txBody>
                  <a:tcPr/>
                </a:tc>
                <a:tc>
                  <a:txBody>
                    <a:bodyPr/>
                    <a:lstStyle/>
                    <a:p>
                      <a:r>
                        <a:rPr lang="en-CA" dirty="0" smtClean="0">
                          <a:solidFill>
                            <a:schemeClr val="tx1"/>
                          </a:solidFill>
                        </a:rPr>
                        <a:t>File-System</a:t>
                      </a:r>
                      <a:r>
                        <a:rPr lang="en-CA" baseline="0" dirty="0" smtClean="0">
                          <a:solidFill>
                            <a:schemeClr val="tx1"/>
                          </a:solidFill>
                        </a:rPr>
                        <a:t> </a:t>
                      </a:r>
                      <a:r>
                        <a:rPr lang="en-CA" dirty="0" smtClean="0">
                          <a:solidFill>
                            <a:schemeClr val="tx1"/>
                          </a:solidFill>
                        </a:rPr>
                        <a:t>Specific (LOC)</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dirty="0" smtClean="0">
                          <a:solidFill>
                            <a:schemeClr val="bg1"/>
                          </a:solidFill>
                        </a:rPr>
                        <a:t>XML Dump Tool</a:t>
                      </a:r>
                      <a:endParaRPr lang="en-CA" dirty="0">
                        <a:solidFill>
                          <a:schemeClr val="bg1"/>
                        </a:solidFill>
                      </a:endParaRPr>
                    </a:p>
                  </a:txBody>
                  <a:tcPr/>
                </a:tc>
                <a:tc>
                  <a:txBody>
                    <a:bodyPr/>
                    <a:lstStyle/>
                    <a:p>
                      <a:r>
                        <a:rPr lang="en-CA" dirty="0" smtClean="0">
                          <a:solidFill>
                            <a:schemeClr val="bg1"/>
                          </a:solidFill>
                        </a:rPr>
                        <a:t>565</a:t>
                      </a:r>
                      <a:endParaRPr lang="en-CA" dirty="0">
                        <a:solidFill>
                          <a:schemeClr val="bg1"/>
                        </a:solidFill>
                      </a:endParaRPr>
                    </a:p>
                  </a:txBody>
                  <a:tcPr/>
                </a:tc>
                <a:tc>
                  <a:txBody>
                    <a:bodyPr/>
                    <a:lstStyle/>
                    <a:p>
                      <a:r>
                        <a:rPr lang="en-CA" dirty="0" smtClean="0">
                          <a:solidFill>
                            <a:schemeClr val="bg1"/>
                          </a:solidFill>
                        </a:rPr>
                        <a:t>40~50</a:t>
                      </a:r>
                      <a:endParaRPr lang="en-CA" dirty="0">
                        <a:solidFill>
                          <a:schemeClr val="bg1"/>
                        </a:solidFill>
                      </a:endParaRPr>
                    </a:p>
                  </a:txBody>
                  <a:tcPr/>
                </a:tc>
                <a:extLst>
                  <a:ext uri="{0D108BD9-81ED-4DB2-BD59-A6C34878D82A}">
                    <a16:rowId xmlns="" xmlns:a16="http://schemas.microsoft.com/office/drawing/2014/main" val="10001"/>
                  </a:ext>
                </a:extLst>
              </a:tr>
              <a:tr h="370840">
                <a:tc>
                  <a:txBody>
                    <a:bodyPr/>
                    <a:lstStyle/>
                    <a:p>
                      <a:r>
                        <a:rPr lang="en-CA" dirty="0" smtClean="0">
                          <a:solidFill>
                            <a:schemeClr val="bg1"/>
                          </a:solidFill>
                        </a:rPr>
                        <a:t>Free Space</a:t>
                      </a:r>
                      <a:r>
                        <a:rPr lang="en-CA" baseline="0" dirty="0" smtClean="0">
                          <a:solidFill>
                            <a:schemeClr val="bg1"/>
                          </a:solidFill>
                        </a:rPr>
                        <a:t> Display Tool</a:t>
                      </a:r>
                      <a:endParaRPr lang="en-CA" dirty="0">
                        <a:solidFill>
                          <a:schemeClr val="bg1"/>
                        </a:solidFill>
                      </a:endParaRPr>
                    </a:p>
                  </a:txBody>
                  <a:tcPr/>
                </a:tc>
                <a:tc>
                  <a:txBody>
                    <a:bodyPr/>
                    <a:lstStyle/>
                    <a:p>
                      <a:r>
                        <a:rPr lang="en-CA" dirty="0" smtClean="0">
                          <a:solidFill>
                            <a:schemeClr val="bg1"/>
                          </a:solidFill>
                        </a:rPr>
                        <a:t>271</a:t>
                      </a:r>
                      <a:endParaRPr lang="en-CA" dirty="0">
                        <a:solidFill>
                          <a:schemeClr val="bg1"/>
                        </a:solidFill>
                      </a:endParaRPr>
                    </a:p>
                  </a:txBody>
                  <a:tcPr/>
                </a:tc>
                <a:tc>
                  <a:txBody>
                    <a:bodyPr/>
                    <a:lstStyle/>
                    <a:p>
                      <a:r>
                        <a:rPr lang="en-CA" dirty="0" smtClean="0">
                          <a:solidFill>
                            <a:schemeClr val="bg1"/>
                          </a:solidFill>
                        </a:rPr>
                        <a:t>76~194 (F2FS)</a:t>
                      </a:r>
                      <a:endParaRPr lang="en-CA" dirty="0">
                        <a:solidFill>
                          <a:schemeClr val="bg1"/>
                        </a:solidFill>
                      </a:endParaRPr>
                    </a:p>
                  </a:txBody>
                  <a:tcPr/>
                </a:tc>
                <a:extLst>
                  <a:ext uri="{0D108BD9-81ED-4DB2-BD59-A6C34878D82A}">
                    <a16:rowId xmlns="" xmlns:a16="http://schemas.microsoft.com/office/drawing/2014/main" val="10002"/>
                  </a:ext>
                </a:extLst>
              </a:tr>
              <a:tr h="370840">
                <a:tc>
                  <a:txBody>
                    <a:bodyPr/>
                    <a:lstStyle/>
                    <a:p>
                      <a:r>
                        <a:rPr lang="en-CA" dirty="0" smtClean="0">
                          <a:solidFill>
                            <a:schemeClr val="bg1"/>
                          </a:solidFill>
                        </a:rPr>
                        <a:t>Type-Specific</a:t>
                      </a:r>
                      <a:r>
                        <a:rPr lang="en-CA" baseline="0" dirty="0" smtClean="0">
                          <a:solidFill>
                            <a:schemeClr val="bg1"/>
                          </a:solidFill>
                        </a:rPr>
                        <a:t> Corruptor</a:t>
                      </a:r>
                      <a:endParaRPr lang="en-CA" dirty="0">
                        <a:solidFill>
                          <a:schemeClr val="bg1"/>
                        </a:solidFill>
                      </a:endParaRPr>
                    </a:p>
                  </a:txBody>
                  <a:tcPr/>
                </a:tc>
                <a:tc>
                  <a:txBody>
                    <a:bodyPr/>
                    <a:lstStyle/>
                    <a:p>
                      <a:r>
                        <a:rPr lang="en-CA" dirty="0" smtClean="0">
                          <a:solidFill>
                            <a:schemeClr val="bg1"/>
                          </a:solidFill>
                        </a:rPr>
                        <a:t>455</a:t>
                      </a:r>
                      <a:endParaRPr lang="en-CA" dirty="0">
                        <a:solidFill>
                          <a:schemeClr val="bg1"/>
                        </a:solidFill>
                      </a:endParaRPr>
                    </a:p>
                  </a:txBody>
                  <a:tcPr/>
                </a:tc>
                <a:tc>
                  <a:txBody>
                    <a:bodyPr/>
                    <a:lstStyle/>
                    <a:p>
                      <a:r>
                        <a:rPr lang="en-CA" dirty="0" smtClean="0">
                          <a:solidFill>
                            <a:schemeClr val="bg1"/>
                          </a:solidFill>
                        </a:rPr>
                        <a:t>&lt; 30</a:t>
                      </a:r>
                      <a:endParaRPr lang="en-CA" dirty="0">
                        <a:solidFill>
                          <a:schemeClr val="bg1"/>
                        </a:solidFill>
                      </a:endParaRPr>
                    </a:p>
                  </a:txBody>
                  <a:tcPr/>
                </a:tc>
                <a:extLst>
                  <a:ext uri="{0D108BD9-81ED-4DB2-BD59-A6C34878D82A}">
                    <a16:rowId xmlns="" xmlns:a16="http://schemas.microsoft.com/office/drawing/2014/main" val="10003"/>
                  </a:ext>
                </a:extLst>
              </a:tr>
              <a:tr h="370840">
                <a:tc>
                  <a:txBody>
                    <a:bodyPr/>
                    <a:lstStyle/>
                    <a:p>
                      <a:r>
                        <a:rPr lang="en-CA" dirty="0" smtClean="0">
                          <a:solidFill>
                            <a:schemeClr val="bg1"/>
                          </a:solidFill>
                        </a:rPr>
                        <a:t>Ext4 to F2FS</a:t>
                      </a:r>
                      <a:r>
                        <a:rPr lang="en-CA" baseline="0" dirty="0" smtClean="0">
                          <a:solidFill>
                            <a:schemeClr val="bg1"/>
                          </a:solidFill>
                        </a:rPr>
                        <a:t> </a:t>
                      </a:r>
                      <a:r>
                        <a:rPr lang="en-CA" dirty="0" smtClean="0">
                          <a:solidFill>
                            <a:schemeClr val="bg1"/>
                          </a:solidFill>
                        </a:rPr>
                        <a:t>Converter</a:t>
                      </a:r>
                      <a:endParaRPr lang="en-CA" dirty="0">
                        <a:solidFill>
                          <a:schemeClr val="bg1"/>
                        </a:solidFill>
                      </a:endParaRPr>
                    </a:p>
                  </a:txBody>
                  <a:tcPr/>
                </a:tc>
                <a:tc>
                  <a:txBody>
                    <a:bodyPr/>
                    <a:lstStyle/>
                    <a:p>
                      <a:r>
                        <a:rPr lang="en-CA" dirty="0" smtClean="0">
                          <a:solidFill>
                            <a:schemeClr val="bg1"/>
                          </a:solidFill>
                        </a:rPr>
                        <a:t>504</a:t>
                      </a:r>
                      <a:endParaRPr lang="en-CA" dirty="0">
                        <a:solidFill>
                          <a:schemeClr val="bg1"/>
                        </a:solidFill>
                      </a:endParaRPr>
                    </a:p>
                  </a:txBody>
                  <a:tcPr/>
                </a:tc>
                <a:tc>
                  <a:txBody>
                    <a:bodyPr/>
                    <a:lstStyle/>
                    <a:p>
                      <a:r>
                        <a:rPr lang="en-CA" dirty="0" smtClean="0">
                          <a:solidFill>
                            <a:schemeClr val="bg1"/>
                          </a:solidFill>
                        </a:rPr>
                        <a:t>218 (Ext4)</a:t>
                      </a:r>
                      <a:r>
                        <a:rPr lang="en-CA" baseline="0" dirty="0" smtClean="0">
                          <a:solidFill>
                            <a:schemeClr val="bg1"/>
                          </a:solidFill>
                        </a:rPr>
                        <a:t>, 1760 (F2FS)</a:t>
                      </a:r>
                      <a:endParaRPr lang="en-CA" dirty="0">
                        <a:solidFill>
                          <a:schemeClr val="bg1"/>
                        </a:solidFill>
                      </a:endParaRPr>
                    </a:p>
                  </a:txBody>
                  <a:tcPr/>
                </a:tc>
                <a:extLst>
                  <a:ext uri="{0D108BD9-81ED-4DB2-BD59-A6C34878D82A}">
                    <a16:rowId xmlns="" xmlns:a16="http://schemas.microsoft.com/office/drawing/2014/main" val="10004"/>
                  </a:ext>
                </a:extLst>
              </a:tr>
              <a:tr h="370840">
                <a:tc>
                  <a:txBody>
                    <a:bodyPr/>
                    <a:lstStyle/>
                    <a:p>
                      <a:r>
                        <a:rPr lang="en-CA" dirty="0" smtClean="0">
                          <a:solidFill>
                            <a:schemeClr val="bg1"/>
                          </a:solidFill>
                        </a:rPr>
                        <a:t>Runtime</a:t>
                      </a:r>
                      <a:r>
                        <a:rPr lang="en-CA" baseline="0" dirty="0" smtClean="0">
                          <a:solidFill>
                            <a:schemeClr val="bg1"/>
                          </a:solidFill>
                        </a:rPr>
                        <a:t> Interpretation</a:t>
                      </a:r>
                      <a:endParaRPr lang="en-CA" dirty="0">
                        <a:solidFill>
                          <a:schemeClr val="bg1"/>
                        </a:solidFill>
                      </a:endParaRPr>
                    </a:p>
                  </a:txBody>
                  <a:tcPr/>
                </a:tc>
                <a:tc>
                  <a:txBody>
                    <a:bodyPr/>
                    <a:lstStyle/>
                    <a:p>
                      <a:r>
                        <a:rPr lang="en-CA" dirty="0" smtClean="0">
                          <a:solidFill>
                            <a:schemeClr val="bg1"/>
                          </a:solidFill>
                        </a:rPr>
                        <a:t>2158</a:t>
                      </a:r>
                      <a:endParaRPr lang="en-CA" dirty="0">
                        <a:solidFill>
                          <a:schemeClr val="bg1"/>
                        </a:solidFill>
                      </a:endParaRPr>
                    </a:p>
                  </a:txBody>
                  <a:tcPr/>
                </a:tc>
                <a:tc>
                  <a:txBody>
                    <a:bodyPr/>
                    <a:lstStyle/>
                    <a:p>
                      <a:r>
                        <a:rPr lang="en-CA" dirty="0" smtClean="0">
                          <a:solidFill>
                            <a:schemeClr val="bg1"/>
                          </a:solidFill>
                        </a:rPr>
                        <a:t>111 (Ext4),</a:t>
                      </a:r>
                      <a:r>
                        <a:rPr lang="en-CA" baseline="0" dirty="0" smtClean="0">
                          <a:solidFill>
                            <a:schemeClr val="bg1"/>
                          </a:solidFill>
                        </a:rPr>
                        <a:t> 134 (</a:t>
                      </a:r>
                      <a:r>
                        <a:rPr lang="en-CA" baseline="0" dirty="0" err="1" smtClean="0">
                          <a:solidFill>
                            <a:schemeClr val="bg1"/>
                          </a:solidFill>
                        </a:rPr>
                        <a:t>Btrfs</a:t>
                      </a:r>
                      <a:r>
                        <a:rPr lang="en-CA" baseline="0" dirty="0" smtClean="0">
                          <a:solidFill>
                            <a:schemeClr val="bg1"/>
                          </a:solidFill>
                        </a:rPr>
                        <a:t>)</a:t>
                      </a:r>
                      <a:endParaRPr lang="en-CA" dirty="0">
                        <a:solidFill>
                          <a:schemeClr val="bg1"/>
                        </a:solidFill>
                      </a:endParaRPr>
                    </a:p>
                  </a:txBody>
                  <a:tcPr/>
                </a:tc>
                <a:extLst>
                  <a:ext uri="{0D108BD9-81ED-4DB2-BD59-A6C34878D82A}">
                    <a16:rowId xmlns="" xmlns:a16="http://schemas.microsoft.com/office/drawing/2014/main" val="10005"/>
                  </a:ext>
                </a:extLst>
              </a:tr>
              <a:tr h="370840">
                <a:tc>
                  <a:txBody>
                    <a:bodyPr/>
                    <a:lstStyle/>
                    <a:p>
                      <a:r>
                        <a:rPr lang="en-CA" dirty="0" smtClean="0">
                          <a:solidFill>
                            <a:schemeClr val="bg1"/>
                          </a:solidFill>
                        </a:rPr>
                        <a:t>Differentiated</a:t>
                      </a:r>
                      <a:r>
                        <a:rPr lang="en-CA" baseline="0" dirty="0" smtClean="0">
                          <a:solidFill>
                            <a:schemeClr val="bg1"/>
                          </a:solidFill>
                        </a:rPr>
                        <a:t> Storage</a:t>
                      </a:r>
                      <a:endParaRPr lang="en-CA" dirty="0">
                        <a:solidFill>
                          <a:schemeClr val="bg1"/>
                        </a:solidFill>
                      </a:endParaRPr>
                    </a:p>
                  </a:txBody>
                  <a:tcPr/>
                </a:tc>
                <a:tc>
                  <a:txBody>
                    <a:bodyPr/>
                    <a:lstStyle/>
                    <a:p>
                      <a:endParaRPr lang="en-CA" dirty="0">
                        <a:solidFill>
                          <a:schemeClr val="bg1"/>
                        </a:solidFill>
                      </a:endParaRPr>
                    </a:p>
                  </a:txBody>
                  <a:tcPr/>
                </a:tc>
                <a:tc>
                  <a:txBody>
                    <a:bodyPr/>
                    <a:lstStyle/>
                    <a:p>
                      <a:endParaRPr lang="en-CA" dirty="0">
                        <a:solidFill>
                          <a:schemeClr val="bg1"/>
                        </a:solidFill>
                      </a:endParaRPr>
                    </a:p>
                  </a:txBody>
                  <a:tcPr/>
                </a:tc>
                <a:extLst>
                  <a:ext uri="{0D108BD9-81ED-4DB2-BD59-A6C34878D82A}">
                    <a16:rowId xmlns="" xmlns:a16="http://schemas.microsoft.com/office/drawing/2014/main" val="10006"/>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Block Layer Cache</a:t>
                      </a:r>
                    </a:p>
                  </a:txBody>
                  <a:tcPr/>
                </a:tc>
                <a:tc>
                  <a:txBody>
                    <a:bodyPr/>
                    <a:lstStyle/>
                    <a:p>
                      <a:r>
                        <a:rPr lang="en-CA" dirty="0" smtClean="0">
                          <a:solidFill>
                            <a:schemeClr val="bg1"/>
                          </a:solidFill>
                        </a:rPr>
                        <a:t>10518</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 xmlns:a16="http://schemas.microsoft.com/office/drawing/2014/main" val="10007"/>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Preferential</a:t>
                      </a:r>
                      <a:r>
                        <a:rPr lang="en-CA" baseline="0" dirty="0" smtClean="0">
                          <a:solidFill>
                            <a:schemeClr val="bg1"/>
                          </a:solidFill>
                        </a:rPr>
                        <a:t> Caching</a:t>
                      </a:r>
                      <a:endParaRPr lang="en-CA" dirty="0" smtClean="0">
                        <a:solidFill>
                          <a:schemeClr val="bg1"/>
                        </a:solidFill>
                      </a:endParaRPr>
                    </a:p>
                  </a:txBody>
                  <a:tcPr/>
                </a:tc>
                <a:tc>
                  <a:txBody>
                    <a:bodyPr/>
                    <a:lstStyle/>
                    <a:p>
                      <a:r>
                        <a:rPr lang="en-CA" dirty="0" smtClean="0">
                          <a:solidFill>
                            <a:schemeClr val="bg1"/>
                          </a:solidFill>
                        </a:rPr>
                        <a:t>289</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 xmlns:a16="http://schemas.microsoft.com/office/drawing/2014/main" val="10008"/>
                  </a:ext>
                </a:extLst>
              </a:tr>
            </a:tbl>
          </a:graphicData>
        </a:graphic>
      </p:graphicFrame>
      <p:sp>
        <p:nvSpPr>
          <p:cNvPr id="6" name="Slide Number Placeholder 5"/>
          <p:cNvSpPr>
            <a:spLocks noGrp="1"/>
          </p:cNvSpPr>
          <p:nvPr>
            <p:ph type="sldNum" sz="quarter" idx="12"/>
          </p:nvPr>
        </p:nvSpPr>
        <p:spPr/>
        <p:txBody>
          <a:bodyPr/>
          <a:lstStyle/>
          <a:p>
            <a:fld id="{7B2023C8-B124-43A9-8F92-0EEF5BAA9995}" type="slidenum">
              <a:rPr lang="en-CA" smtClean="0"/>
              <a:pPr/>
              <a:t>25</a:t>
            </a:fld>
            <a:endParaRPr lang="en-CA" dirty="0"/>
          </a:p>
        </p:txBody>
      </p:sp>
    </p:spTree>
    <p:extLst>
      <p:ext uri="{BB962C8B-B14F-4D97-AF65-F5344CB8AC3E}">
        <p14:creationId xmlns:p14="http://schemas.microsoft.com/office/powerpoint/2010/main" val="91925390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3" y="0"/>
            <a:ext cx="8534400" cy="1507067"/>
          </a:xfrm>
        </p:spPr>
        <p:txBody>
          <a:bodyPr/>
          <a:lstStyle/>
          <a:p>
            <a:r>
              <a:rPr lang="en-CA" dirty="0" smtClean="0"/>
              <a:t>Evaluation: Ext4 to F2FS Converter</a:t>
            </a:r>
            <a:endParaRPr lang="en-CA" dirty="0"/>
          </a:p>
        </p:txBody>
      </p:sp>
      <p:sp>
        <p:nvSpPr>
          <p:cNvPr id="3" name="Content Placeholder 2"/>
          <p:cNvSpPr>
            <a:spLocks noGrp="1"/>
          </p:cNvSpPr>
          <p:nvPr>
            <p:ph idx="1"/>
          </p:nvPr>
        </p:nvSpPr>
        <p:spPr>
          <a:xfrm>
            <a:off x="646113" y="1543050"/>
            <a:ext cx="9717088" cy="4914311"/>
          </a:xfrm>
        </p:spPr>
        <p:txBody>
          <a:bodyPr>
            <a:normAutofit lnSpcReduction="10000"/>
          </a:bodyPr>
          <a:lstStyle/>
          <a:p>
            <a:r>
              <a:rPr lang="en-CA" dirty="0"/>
              <a:t>Converts 64GB file system with 16GB file set on SSD</a:t>
            </a:r>
          </a:p>
          <a:p>
            <a:pPr lvl="1"/>
            <a:r>
              <a:rPr lang="en-CA" dirty="0"/>
              <a:t>Copy converter copies data to local disk, reformat, then copies back</a:t>
            </a:r>
          </a:p>
          <a:p>
            <a:pPr lvl="1"/>
            <a:r>
              <a:rPr lang="en-CA" dirty="0"/>
              <a:t>Spiffy converter and Manual converter minimizes moving data blocks</a:t>
            </a:r>
          </a:p>
          <a:p>
            <a:endParaRPr lang="en-CA" dirty="0"/>
          </a:p>
          <a:p>
            <a:endParaRPr lang="en-CA" dirty="0"/>
          </a:p>
          <a:p>
            <a:endParaRPr lang="en-CA" dirty="0"/>
          </a:p>
          <a:p>
            <a:endParaRPr lang="en-CA" dirty="0"/>
          </a:p>
          <a:p>
            <a:endParaRPr lang="en-CA" dirty="0"/>
          </a:p>
          <a:p>
            <a:r>
              <a:rPr lang="en-CA" dirty="0"/>
              <a:t>Copy converter 30~50 times slower</a:t>
            </a:r>
          </a:p>
          <a:p>
            <a:r>
              <a:rPr lang="en-CA" dirty="0"/>
              <a:t>Overhead of using Spiffy at most 16.7</a:t>
            </a:r>
            <a:r>
              <a:rPr lang="en-CA" dirty="0" smtClean="0"/>
              <a:t>%</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26</a:t>
            </a:fld>
            <a:endParaRPr lang="en-CA" dirty="0"/>
          </a:p>
        </p:txBody>
      </p:sp>
      <p:graphicFrame>
        <p:nvGraphicFramePr>
          <p:cNvPr id="7" name="Chart 6"/>
          <p:cNvGraphicFramePr>
            <a:graphicFrameLocks/>
          </p:cNvGraphicFramePr>
          <p:nvPr>
            <p:extLst>
              <p:ext uri="{D42A27DB-BD31-4B8C-83A1-F6EECF244321}">
                <p14:modId xmlns:p14="http://schemas.microsoft.com/office/powerpoint/2010/main" val="228874709"/>
              </p:ext>
            </p:extLst>
          </p:nvPr>
        </p:nvGraphicFramePr>
        <p:xfrm>
          <a:off x="1420739" y="1630018"/>
          <a:ext cx="8167835" cy="428342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9681765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Conclusion</a:t>
            </a:r>
            <a:endParaRPr lang="en-CA" dirty="0"/>
          </a:p>
        </p:txBody>
      </p:sp>
      <p:sp>
        <p:nvSpPr>
          <p:cNvPr id="3" name="Content Placeholder 2"/>
          <p:cNvSpPr>
            <a:spLocks noGrp="1"/>
          </p:cNvSpPr>
          <p:nvPr>
            <p:ph idx="1"/>
          </p:nvPr>
        </p:nvSpPr>
        <p:spPr/>
        <p:txBody>
          <a:bodyPr/>
          <a:lstStyle/>
          <a:p>
            <a:r>
              <a:rPr lang="en-CA" dirty="0" smtClean="0"/>
              <a:t>Spiffy framework</a:t>
            </a:r>
          </a:p>
          <a:p>
            <a:pPr lvl="1"/>
            <a:r>
              <a:rPr lang="en-CA" dirty="0" smtClean="0"/>
              <a:t>Annotation language for specifying file system format</a:t>
            </a:r>
          </a:p>
          <a:p>
            <a:pPr lvl="1"/>
            <a:r>
              <a:rPr lang="en-CA" dirty="0" smtClean="0"/>
              <a:t>API for interpreting, and traversing file system metadata</a:t>
            </a:r>
          </a:p>
          <a:p>
            <a:pPr lvl="2"/>
            <a:r>
              <a:rPr lang="en-CA" dirty="0" smtClean="0"/>
              <a:t>Simplifies development of file-system aware applications</a:t>
            </a:r>
          </a:p>
          <a:p>
            <a:pPr lvl="2"/>
            <a:r>
              <a:rPr lang="en-CA" dirty="0" smtClean="0"/>
              <a:t>Reduces file-system specific code</a:t>
            </a:r>
          </a:p>
          <a:p>
            <a:pPr lvl="2"/>
            <a:r>
              <a:rPr lang="en-CA" dirty="0" smtClean="0"/>
              <a:t>Enables code reuse across file systems</a:t>
            </a:r>
          </a:p>
          <a:p>
            <a:pPr lvl="1"/>
            <a:r>
              <a:rPr lang="en-CA" dirty="0" smtClean="0"/>
              <a:t>Generated library from annotated data structures</a:t>
            </a:r>
          </a:p>
          <a:p>
            <a:pPr lvl="2"/>
            <a:r>
              <a:rPr lang="en-CA" dirty="0"/>
              <a:t>Robust against file system </a:t>
            </a:r>
            <a:r>
              <a:rPr lang="en-CA" dirty="0" smtClean="0"/>
              <a:t>corruption</a:t>
            </a:r>
          </a:p>
          <a:p>
            <a:pPr lvl="2"/>
            <a:r>
              <a:rPr lang="en-CA" dirty="0" smtClean="0"/>
              <a:t>Achieves good performance</a:t>
            </a:r>
          </a:p>
          <a:p>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27</a:t>
            </a:fld>
            <a:endParaRPr lang="en-CA" dirty="0"/>
          </a:p>
        </p:txBody>
      </p:sp>
    </p:spTree>
    <p:extLst>
      <p:ext uri="{BB962C8B-B14F-4D97-AF65-F5344CB8AC3E}">
        <p14:creationId xmlns:p14="http://schemas.microsoft.com/office/powerpoint/2010/main" val="169057136"/>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Evaluation: Corruption Experiment</a:t>
            </a:r>
            <a:endParaRPr lang="en-CA" dirty="0"/>
          </a:p>
        </p:txBody>
      </p:sp>
      <p:sp>
        <p:nvSpPr>
          <p:cNvPr id="3" name="Content Placeholder 2"/>
          <p:cNvSpPr>
            <a:spLocks noGrp="1"/>
          </p:cNvSpPr>
          <p:nvPr>
            <p:ph idx="1"/>
          </p:nvPr>
        </p:nvSpPr>
        <p:spPr>
          <a:xfrm>
            <a:off x="646112" y="1543050"/>
            <a:ext cx="10600065" cy="4914311"/>
          </a:xfrm>
        </p:spPr>
        <p:txBody>
          <a:bodyPr>
            <a:normAutofit/>
          </a:bodyPr>
          <a:lstStyle/>
          <a:p>
            <a:r>
              <a:rPr lang="en-CA" dirty="0" smtClean="0"/>
              <a:t>Run Spiffy dump tool and existing dump tools on corrupt images</a:t>
            </a:r>
          </a:p>
          <a:p>
            <a:pPr lvl="1"/>
            <a:r>
              <a:rPr lang="en-CA" dirty="0" smtClean="0"/>
              <a:t>Corrupt images generated by type-specific corruptor</a:t>
            </a:r>
          </a:p>
          <a:p>
            <a:r>
              <a:rPr lang="en-CA" dirty="0" smtClean="0"/>
              <a:t>Spiffy is robust against corruption, 2 out of 3 existing tools crash:</a:t>
            </a:r>
            <a:endParaRPr lang="en-CA" dirty="0"/>
          </a:p>
          <a:p>
            <a:endParaRPr lang="en-CA" dirty="0" smtClean="0"/>
          </a:p>
          <a:p>
            <a:endParaRPr lang="en-CA" dirty="0" smtClean="0"/>
          </a:p>
          <a:p>
            <a:endParaRPr lang="en-CA" dirty="0" smtClean="0"/>
          </a:p>
          <a:p>
            <a:endParaRPr lang="en-CA" dirty="0" smtClean="0"/>
          </a:p>
          <a:p>
            <a:endParaRPr lang="en-CA" dirty="0" smtClean="0"/>
          </a:p>
        </p:txBody>
      </p:sp>
      <p:graphicFrame>
        <p:nvGraphicFramePr>
          <p:cNvPr id="5" name="Table 4"/>
          <p:cNvGraphicFramePr>
            <a:graphicFrameLocks noGrp="1"/>
          </p:cNvGraphicFramePr>
          <p:nvPr>
            <p:extLst>
              <p:ext uri="{D42A27DB-BD31-4B8C-83A1-F6EECF244321}">
                <p14:modId xmlns:p14="http://schemas.microsoft.com/office/powerpoint/2010/main" val="1346553440"/>
              </p:ext>
            </p:extLst>
          </p:nvPr>
        </p:nvGraphicFramePr>
        <p:xfrm>
          <a:off x="684212" y="3103984"/>
          <a:ext cx="10072159" cy="3012440"/>
        </p:xfrm>
        <a:graphic>
          <a:graphicData uri="http://schemas.openxmlformats.org/drawingml/2006/table">
            <a:tbl>
              <a:tblPr firstRow="1" bandRow="1">
                <a:tableStyleId>{69012ECD-51FC-41F1-AA8D-1B2483CD663E}</a:tableStyleId>
              </a:tblPr>
              <a:tblGrid>
                <a:gridCol w="1173256">
                  <a:extLst>
                    <a:ext uri="{9D8B030D-6E8A-4147-A177-3AD203B41FA5}">
                      <a16:colId xmlns="" xmlns:a16="http://schemas.microsoft.com/office/drawing/2014/main" val="20000"/>
                    </a:ext>
                  </a:extLst>
                </a:gridCol>
                <a:gridCol w="1357460">
                  <a:extLst>
                    <a:ext uri="{9D8B030D-6E8A-4147-A177-3AD203B41FA5}">
                      <a16:colId xmlns="" xmlns:a16="http://schemas.microsoft.com/office/drawing/2014/main" val="20001"/>
                    </a:ext>
                  </a:extLst>
                </a:gridCol>
                <a:gridCol w="2375554">
                  <a:extLst>
                    <a:ext uri="{9D8B030D-6E8A-4147-A177-3AD203B41FA5}">
                      <a16:colId xmlns="" xmlns:a16="http://schemas.microsoft.com/office/drawing/2014/main" val="20002"/>
                    </a:ext>
                  </a:extLst>
                </a:gridCol>
                <a:gridCol w="5165889">
                  <a:extLst>
                    <a:ext uri="{9D8B030D-6E8A-4147-A177-3AD203B41FA5}">
                      <a16:colId xmlns="" xmlns:a16="http://schemas.microsoft.com/office/drawing/2014/main" val="20003"/>
                    </a:ext>
                  </a:extLst>
                </a:gridCol>
              </a:tblGrid>
              <a:tr h="370840">
                <a:tc>
                  <a:txBody>
                    <a:bodyPr/>
                    <a:lstStyle/>
                    <a:p>
                      <a:r>
                        <a:rPr lang="en-CA" dirty="0" smtClean="0">
                          <a:solidFill>
                            <a:schemeClr val="tx1"/>
                          </a:solidFill>
                        </a:rPr>
                        <a:t>Tool</a:t>
                      </a:r>
                      <a:endParaRPr lang="en-CA" dirty="0">
                        <a:solidFill>
                          <a:schemeClr val="tx1"/>
                        </a:solidFill>
                      </a:endParaRPr>
                    </a:p>
                  </a:txBody>
                  <a:tcPr/>
                </a:tc>
                <a:tc>
                  <a:txBody>
                    <a:bodyPr/>
                    <a:lstStyle/>
                    <a:p>
                      <a:r>
                        <a:rPr lang="en-CA" dirty="0" smtClean="0">
                          <a:solidFill>
                            <a:schemeClr val="tx1"/>
                          </a:solidFill>
                        </a:rPr>
                        <a:t>Structure</a:t>
                      </a:r>
                      <a:endParaRPr lang="en-CA" dirty="0">
                        <a:solidFill>
                          <a:schemeClr val="tx1"/>
                        </a:solidFill>
                      </a:endParaRPr>
                    </a:p>
                  </a:txBody>
                  <a:tcPr/>
                </a:tc>
                <a:tc>
                  <a:txBody>
                    <a:bodyPr/>
                    <a:lstStyle/>
                    <a:p>
                      <a:r>
                        <a:rPr lang="en-CA" dirty="0" smtClean="0">
                          <a:solidFill>
                            <a:schemeClr val="tx1"/>
                          </a:solidFill>
                        </a:rPr>
                        <a:t>Field</a:t>
                      </a:r>
                      <a:endParaRPr lang="en-CA" dirty="0">
                        <a:solidFill>
                          <a:schemeClr val="tx1"/>
                        </a:solidFill>
                      </a:endParaRPr>
                    </a:p>
                  </a:txBody>
                  <a:tcPr/>
                </a:tc>
                <a:tc>
                  <a:txBody>
                    <a:bodyPr/>
                    <a:lstStyle/>
                    <a:p>
                      <a:r>
                        <a:rPr lang="en-CA" dirty="0" smtClean="0">
                          <a:solidFill>
                            <a:schemeClr val="tx1"/>
                          </a:solidFill>
                        </a:rPr>
                        <a:t>Description</a:t>
                      </a:r>
                      <a:endParaRPr lang="en-CA" dirty="0">
                        <a:solidFill>
                          <a:schemeClr val="tx1"/>
                        </a:solidFill>
                      </a:endParaRPr>
                    </a:p>
                  </a:txBody>
                  <a:tcPr/>
                </a:tc>
                <a:extLst>
                  <a:ext uri="{0D108BD9-81ED-4DB2-BD59-A6C34878D82A}">
                    <a16:rowId xmlns="" xmlns:a16="http://schemas.microsoft.com/office/drawing/2014/main" val="10000"/>
                  </a:ext>
                </a:extLst>
              </a:tr>
              <a:tr h="370840">
                <a:tc>
                  <a:txBody>
                    <a:bodyPr/>
                    <a:lstStyle/>
                    <a:p>
                      <a:r>
                        <a:rPr lang="en-CA" sz="1600" dirty="0" smtClean="0">
                          <a:solidFill>
                            <a:schemeClr val="bg1"/>
                          </a:solidFill>
                        </a:rPr>
                        <a:t>dumpe2fs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s_creator_os</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OS name lookup</a:t>
                      </a:r>
                    </a:p>
                  </a:txBody>
                  <a:tcPr/>
                </a:tc>
                <a:extLst>
                  <a:ext uri="{0D108BD9-81ED-4DB2-BD59-A6C34878D82A}">
                    <a16:rowId xmlns="" xmlns:a16="http://schemas.microsoft.com/office/drawing/2014/main" val="10001"/>
                  </a:ext>
                </a:extLst>
              </a:tr>
              <a:tr h="370840">
                <a:tc>
                  <a:txBody>
                    <a:bodyPr/>
                    <a:lstStyle/>
                    <a:p>
                      <a:r>
                        <a:rPr lang="en-CA" sz="1600" dirty="0" smtClean="0">
                          <a:solidFill>
                            <a:schemeClr val="bg1"/>
                          </a:solidFill>
                        </a:rPr>
                        <a:t>dump.f2fs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log_blocks_per_seg</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while building </a:t>
                      </a:r>
                      <a:r>
                        <a:rPr lang="en-CA" sz="1600" b="0" i="0" u="none" strike="noStrike" kern="1200" baseline="0" dirty="0" err="1" smtClean="0">
                          <a:solidFill>
                            <a:schemeClr val="bg1"/>
                          </a:solidFill>
                          <a:latin typeface="+mn-lt"/>
                          <a:ea typeface="+mn-ea"/>
                          <a:cs typeface="+mn-cs"/>
                        </a:rPr>
                        <a:t>nat</a:t>
                      </a:r>
                      <a:r>
                        <a:rPr lang="en-CA" sz="1600" b="0" i="0" u="none" strike="noStrike" kern="1200" baseline="0" dirty="0" smtClean="0">
                          <a:solidFill>
                            <a:schemeClr val="bg1"/>
                          </a:solidFill>
                          <a:latin typeface="+mn-lt"/>
                          <a:ea typeface="+mn-ea"/>
                          <a:cs typeface="+mn-cs"/>
                        </a:rPr>
                        <a:t> bitmap</a:t>
                      </a:r>
                    </a:p>
                  </a:txBody>
                  <a:tcPr/>
                </a:tc>
                <a:extLst>
                  <a:ext uri="{0D108BD9-81ED-4DB2-BD59-A6C34878D82A}">
                    <a16:rowId xmlns="" xmlns:a16="http://schemas.microsoft.com/office/drawing/2014/main" val="10002"/>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super block </a:t>
                      </a:r>
                      <a:endParaRPr lang="en-CA" sz="1600" dirty="0" smtClean="0">
                        <a:solidFill>
                          <a:schemeClr val="bg1"/>
                        </a:solidFill>
                      </a:endParaRPr>
                    </a:p>
                    <a:p>
                      <a:endParaRPr lang="en-CA" sz="1600" b="0" i="0" u="none" strike="noStrike" kern="1200" baseline="0" dirty="0" smtClean="0">
                        <a:solidFill>
                          <a:schemeClr val="bg1"/>
                        </a:solidFill>
                        <a:latin typeface="+mn-lt"/>
                        <a:ea typeface="+mn-ea"/>
                        <a:cs typeface="+mn-cs"/>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segment_count_main</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null pointer dereference after </a:t>
                      </a:r>
                      <a:r>
                        <a:rPr lang="en-CA" sz="1600" b="0" i="0" u="none" strike="noStrike" kern="1200" baseline="0" dirty="0" err="1" smtClean="0">
                          <a:solidFill>
                            <a:schemeClr val="bg1"/>
                          </a:solidFill>
                          <a:latin typeface="+mn-lt"/>
                          <a:ea typeface="+mn-ea"/>
                          <a:cs typeface="+mn-cs"/>
                        </a:rPr>
                        <a:t>calloc</a:t>
                      </a:r>
                      <a:r>
                        <a:rPr lang="en-CA" sz="1600" b="0" i="0" u="none" strike="noStrike" kern="1200" baseline="0" dirty="0" smtClean="0">
                          <a:solidFill>
                            <a:schemeClr val="bg1"/>
                          </a:solidFill>
                          <a:latin typeface="+mn-lt"/>
                          <a:ea typeface="+mn-ea"/>
                          <a:cs typeface="+mn-cs"/>
                        </a:rPr>
                        <a:t> fails</a:t>
                      </a:r>
                    </a:p>
                  </a:txBody>
                  <a:tcPr/>
                </a:tc>
                <a:extLst>
                  <a:ext uri="{0D108BD9-81ED-4DB2-BD59-A6C34878D82A}">
                    <a16:rowId xmlns="" xmlns:a16="http://schemas.microsoft.com/office/drawing/2014/main" val="10003"/>
                  </a:ext>
                </a:extLst>
              </a:tr>
              <a:tr h="370840">
                <a:tc>
                  <a:txBody>
                    <a:bodyPr/>
                    <a:lstStyle/>
                    <a:p>
                      <a:endParaRPr lang="en-CA" sz="1600" dirty="0">
                        <a:solidFill>
                          <a:schemeClr val="bg1"/>
                        </a:solidFill>
                      </a:endParaRPr>
                    </a:p>
                  </a:txBody>
                  <a:tcPr/>
                </a:tc>
                <a:tc>
                  <a:txBody>
                    <a:bodyPr/>
                    <a:lstStyle/>
                    <a:p>
                      <a:r>
                        <a:rPr lang="en-CA" sz="1600" dirty="0" smtClean="0">
                          <a:solidFill>
                            <a:schemeClr val="bg1"/>
                          </a:solidFill>
                        </a:rPr>
                        <a:t>checkpoint</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cp_blkaddr</a:t>
                      </a:r>
                      <a:endPar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double free error during error handling</a:t>
                      </a:r>
                      <a:endParaRPr lang="en-CA" sz="1600" dirty="0">
                        <a:solidFill>
                          <a:schemeClr val="bg1"/>
                        </a:solidFill>
                      </a:endParaRPr>
                    </a:p>
                  </a:txBody>
                  <a:tcPr/>
                </a:tc>
                <a:extLst>
                  <a:ext uri="{0D108BD9-81ED-4DB2-BD59-A6C34878D82A}">
                    <a16:rowId xmlns="" xmlns:a16="http://schemas.microsoft.com/office/drawing/2014/main" val="10004"/>
                  </a:ext>
                </a:extLst>
              </a:tr>
              <a:tr h="370840">
                <a:tc>
                  <a:txBody>
                    <a:bodyPr/>
                    <a:lstStyle/>
                    <a:p>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summary</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n_nats</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a:t>
                      </a:r>
                      <a:r>
                        <a:rPr lang="en-CA" sz="1600" b="0" i="0" u="none" strike="noStrike" kern="1200" baseline="0" dirty="0" err="1" smtClean="0">
                          <a:solidFill>
                            <a:schemeClr val="bg1"/>
                          </a:solidFill>
                          <a:latin typeface="+mn-lt"/>
                          <a:ea typeface="+mn-ea"/>
                          <a:cs typeface="+mn-cs"/>
                        </a:rPr>
                        <a:t>nid</a:t>
                      </a:r>
                      <a:r>
                        <a:rPr lang="en-CA" sz="1600" b="0" i="0" u="none" strike="noStrike" kern="1200" baseline="0" dirty="0" smtClean="0">
                          <a:solidFill>
                            <a:schemeClr val="bg1"/>
                          </a:solidFill>
                          <a:latin typeface="+mn-lt"/>
                          <a:ea typeface="+mn-ea"/>
                          <a:cs typeface="+mn-cs"/>
                        </a:rPr>
                        <a:t> lookup</a:t>
                      </a:r>
                    </a:p>
                  </a:txBody>
                  <a:tcPr/>
                </a:tc>
                <a:extLst>
                  <a:ext uri="{0D108BD9-81ED-4DB2-BD59-A6C34878D82A}">
                    <a16:rowId xmlns="" xmlns:a16="http://schemas.microsoft.com/office/drawing/2014/main" val="10005"/>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err="1" smtClean="0">
                          <a:solidFill>
                            <a:schemeClr val="bg1"/>
                          </a:solidFill>
                          <a:latin typeface="+mn-lt"/>
                          <a:ea typeface="+mn-ea"/>
                          <a:cs typeface="+mn-cs"/>
                        </a:rPr>
                        <a:t>inode</a:t>
                      </a:r>
                      <a:endParaRPr lang="en-CA" sz="1600" dirty="0" smtClean="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i_namelen</a:t>
                      </a:r>
                      <a:endParaRPr lang="en-CA" sz="1500" dirty="0" smtClean="0">
                        <a:solidFill>
                          <a:schemeClr val="bg1"/>
                        </a:solidFill>
                        <a:latin typeface="Courier New" panose="02070309020205020404" pitchFamily="49" charset="0"/>
                        <a:cs typeface="Courier New" panose="02070309020205020404" pitchFamily="49" charset="0"/>
                      </a:endParaRPr>
                    </a:p>
                    <a:p>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index out of bound error when adding null character to end of name</a:t>
                      </a:r>
                      <a:endParaRPr lang="en-CA" sz="1600" dirty="0" smtClean="0">
                        <a:solidFill>
                          <a:schemeClr val="bg1"/>
                        </a:solidFill>
                      </a:endParaRPr>
                    </a:p>
                  </a:txBody>
                  <a:tcPr/>
                </a:tc>
                <a:extLst>
                  <a:ext uri="{0D108BD9-81ED-4DB2-BD59-A6C34878D82A}">
                    <a16:rowId xmlns="" xmlns:a16="http://schemas.microsoft.com/office/drawing/2014/main" val="10006"/>
                  </a:ext>
                </a:extLst>
              </a:tr>
            </a:tbl>
          </a:graphicData>
        </a:graphic>
      </p:graphicFrame>
      <p:sp>
        <p:nvSpPr>
          <p:cNvPr id="6" name="Slide Number Placeholder 5"/>
          <p:cNvSpPr>
            <a:spLocks noGrp="1"/>
          </p:cNvSpPr>
          <p:nvPr>
            <p:ph type="sldNum" sz="quarter" idx="12"/>
          </p:nvPr>
        </p:nvSpPr>
        <p:spPr/>
        <p:txBody>
          <a:bodyPr/>
          <a:lstStyle/>
          <a:p>
            <a:fld id="{7B2023C8-B124-43A9-8F92-0EEF5BAA9995}" type="slidenum">
              <a:rPr lang="en-CA" smtClean="0"/>
              <a:pPr/>
              <a:t>28</a:t>
            </a:fld>
            <a:endParaRPr lang="en-CA" dirty="0"/>
          </a:p>
        </p:txBody>
      </p:sp>
    </p:spTree>
    <p:extLst>
      <p:ext uri="{BB962C8B-B14F-4D97-AF65-F5344CB8AC3E}">
        <p14:creationId xmlns:p14="http://schemas.microsoft.com/office/powerpoint/2010/main" val="5752531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Evaluation: Preferential Caching</a:t>
            </a:r>
            <a:endParaRPr lang="en-CA" dirty="0"/>
          </a:p>
        </p:txBody>
      </p:sp>
      <p:sp>
        <p:nvSpPr>
          <p:cNvPr id="3" name="Content Placeholder 2"/>
          <p:cNvSpPr>
            <a:spLocks noGrp="1"/>
          </p:cNvSpPr>
          <p:nvPr>
            <p:ph idx="1"/>
          </p:nvPr>
        </p:nvSpPr>
        <p:spPr>
          <a:xfrm>
            <a:off x="684211" y="1515358"/>
            <a:ext cx="10285797" cy="4583783"/>
          </a:xfrm>
        </p:spPr>
        <p:txBody>
          <a:bodyPr>
            <a:normAutofit lnSpcReduction="10000"/>
          </a:bodyPr>
          <a:lstStyle/>
          <a:p>
            <a:r>
              <a:rPr lang="en-CA" dirty="0" smtClean="0"/>
              <a:t>2 identical fileservers running on block layer cache</a:t>
            </a:r>
          </a:p>
          <a:p>
            <a:endParaRPr lang="en-CA" dirty="0"/>
          </a:p>
          <a:p>
            <a:endParaRPr lang="en-CA" dirty="0" smtClean="0"/>
          </a:p>
          <a:p>
            <a:endParaRPr lang="en-CA" dirty="0"/>
          </a:p>
          <a:p>
            <a:endParaRPr lang="en-CA" dirty="0" smtClean="0"/>
          </a:p>
          <a:p>
            <a:endParaRPr lang="en-CA" dirty="0"/>
          </a:p>
          <a:p>
            <a:endParaRPr lang="en-CA" dirty="0" smtClean="0"/>
          </a:p>
          <a:p>
            <a:endParaRPr lang="en-CA" dirty="0" smtClean="0"/>
          </a:p>
          <a:p>
            <a:r>
              <a:rPr lang="en-CA" dirty="0" smtClean="0"/>
              <a:t>Overall </a:t>
            </a:r>
            <a:r>
              <a:rPr lang="en-CA" dirty="0"/>
              <a:t>p</a:t>
            </a:r>
            <a:r>
              <a:rPr lang="en-CA" dirty="0" smtClean="0"/>
              <a:t>erformance improves with preferential caching</a:t>
            </a:r>
          </a:p>
          <a:p>
            <a:endParaRPr lang="en-CA" dirty="0"/>
          </a:p>
        </p:txBody>
      </p:sp>
      <p:grpSp>
        <p:nvGrpSpPr>
          <p:cNvPr id="9" name="Group 8"/>
          <p:cNvGrpSpPr/>
          <p:nvPr/>
        </p:nvGrpSpPr>
        <p:grpSpPr>
          <a:xfrm>
            <a:off x="1741437" y="2147076"/>
            <a:ext cx="7477175" cy="3007076"/>
            <a:chOff x="1741437" y="3261749"/>
            <a:chExt cx="7477175" cy="3007076"/>
          </a:xfrm>
        </p:grpSpPr>
        <p:graphicFrame>
          <p:nvGraphicFramePr>
            <p:cNvPr id="6" name="Chart 5"/>
            <p:cNvGraphicFramePr>
              <a:graphicFrameLocks/>
            </p:cNvGraphicFramePr>
            <p:nvPr>
              <p:extLst>
                <p:ext uri="{D42A27DB-BD31-4B8C-83A1-F6EECF244321}">
                  <p14:modId xmlns:p14="http://schemas.microsoft.com/office/powerpoint/2010/main" val="228972012"/>
                </p:ext>
              </p:extLst>
            </p:nvPr>
          </p:nvGraphicFramePr>
          <p:xfrm>
            <a:off x="1741437" y="3271174"/>
            <a:ext cx="7477175" cy="2997651"/>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2"/>
            <p:cNvSpPr txBox="1"/>
            <p:nvPr/>
          </p:nvSpPr>
          <p:spPr>
            <a:xfrm>
              <a:off x="2613536" y="4366649"/>
              <a:ext cx="577402"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a:solidFill>
                    <a:schemeClr val="bg1"/>
                  </a:solidFill>
                </a:rPr>
                <a:t>Btrfs</a:t>
              </a:r>
            </a:p>
          </p:txBody>
        </p:sp>
        <p:sp>
          <p:nvSpPr>
            <p:cNvPr id="8" name="TextBox 4"/>
            <p:cNvSpPr txBox="1"/>
            <p:nvPr/>
          </p:nvSpPr>
          <p:spPr>
            <a:xfrm>
              <a:off x="2613536" y="3261749"/>
              <a:ext cx="583814"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dirty="0">
                  <a:solidFill>
                    <a:schemeClr val="bg1"/>
                  </a:solidFill>
                </a:rPr>
                <a:t>Ext4</a:t>
              </a:r>
            </a:p>
          </p:txBody>
        </p:sp>
      </p:grpSp>
      <p:sp>
        <p:nvSpPr>
          <p:cNvPr id="4" name="Slide Number Placeholder 3"/>
          <p:cNvSpPr>
            <a:spLocks noGrp="1"/>
          </p:cNvSpPr>
          <p:nvPr>
            <p:ph type="sldNum" sz="quarter" idx="12"/>
          </p:nvPr>
        </p:nvSpPr>
        <p:spPr/>
        <p:txBody>
          <a:bodyPr/>
          <a:lstStyle/>
          <a:p>
            <a:fld id="{7B2023C8-B124-43A9-8F92-0EEF5BAA9995}" type="slidenum">
              <a:rPr lang="en-CA" smtClean="0"/>
              <a:pPr/>
              <a:t>29</a:t>
            </a:fld>
            <a:endParaRPr lang="en-CA" dirty="0"/>
          </a:p>
        </p:txBody>
      </p:sp>
    </p:spTree>
    <p:extLst>
      <p:ext uri="{BB962C8B-B14F-4D97-AF65-F5344CB8AC3E}">
        <p14:creationId xmlns:p14="http://schemas.microsoft.com/office/powerpoint/2010/main" val="3197873276"/>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Solution: Spiffy</a:t>
            </a:r>
            <a:r>
              <a:rPr lang="en-CA" dirty="0"/>
              <a:t> </a:t>
            </a:r>
            <a:r>
              <a:rPr lang="en-CA" dirty="0" smtClean="0"/>
              <a:t>File System Library </a:t>
            </a:r>
            <a:endParaRPr lang="en-CA" dirty="0"/>
          </a:p>
        </p:txBody>
      </p:sp>
      <p:sp>
        <p:nvSpPr>
          <p:cNvPr id="3" name="Content Placeholder 2"/>
          <p:cNvSpPr>
            <a:spLocks noGrp="1"/>
          </p:cNvSpPr>
          <p:nvPr>
            <p:ph idx="1"/>
          </p:nvPr>
        </p:nvSpPr>
        <p:spPr/>
        <p:txBody>
          <a:bodyPr/>
          <a:lstStyle/>
          <a:p>
            <a:r>
              <a:rPr lang="en-CA" dirty="0" smtClean="0"/>
              <a:t>Generated from annotated file system header files</a:t>
            </a:r>
          </a:p>
          <a:p>
            <a:r>
              <a:rPr lang="en-CA" dirty="0" smtClean="0"/>
              <a:t>Standard API for finding and traversing file systems structures</a:t>
            </a:r>
          </a:p>
          <a:p>
            <a:pPr lvl="1"/>
            <a:r>
              <a:rPr lang="en-CA" dirty="0" smtClean="0"/>
              <a:t>Provides robust parsing and serialization routines</a:t>
            </a:r>
          </a:p>
          <a:p>
            <a:r>
              <a:rPr lang="en-CA" dirty="0" smtClean="0"/>
              <a:t>Enables building generic application framework</a:t>
            </a:r>
          </a:p>
          <a:p>
            <a:pPr lvl="1"/>
            <a:r>
              <a:rPr lang="en-CA" dirty="0" smtClean="0"/>
              <a:t>Facilitates support for multiple file systems</a:t>
            </a:r>
          </a:p>
          <a:p>
            <a:pPr lvl="1"/>
            <a:r>
              <a:rPr lang="en-CA" dirty="0" smtClean="0"/>
              <a:t>Reduces dependence on file-system specific code </a:t>
            </a:r>
          </a:p>
          <a:p>
            <a:r>
              <a:rPr lang="en-CA" dirty="0" smtClean="0"/>
              <a:t>Example: </a:t>
            </a:r>
            <a:r>
              <a:rPr lang="en-CA" dirty="0"/>
              <a:t>File System Free Space </a:t>
            </a:r>
            <a:r>
              <a:rPr lang="en-CA" dirty="0" smtClean="0"/>
              <a:t>Tool</a:t>
            </a:r>
          </a:p>
          <a:p>
            <a:pPr lvl="1"/>
            <a:r>
              <a:rPr lang="en-CA" dirty="0" smtClean="0"/>
              <a:t>Use Spiffy to locate metadata that stores block allocation information</a:t>
            </a:r>
          </a:p>
          <a:p>
            <a:pPr lvl="1"/>
            <a:r>
              <a:rPr lang="en-CA" dirty="0" smtClean="0"/>
              <a:t>Write file-system specific code to process metadata structures</a:t>
            </a:r>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30</a:t>
            </a:fld>
            <a:endParaRPr lang="en-CA" dirty="0"/>
          </a:p>
        </p:txBody>
      </p:sp>
    </p:spTree>
    <p:extLst>
      <p:ext uri="{BB962C8B-B14F-4D97-AF65-F5344CB8AC3E}">
        <p14:creationId xmlns:p14="http://schemas.microsoft.com/office/powerpoint/2010/main" val="3245412089"/>
      </p:ext>
    </p:extLst>
  </p:cSld>
  <p:clrMapOvr>
    <a:masterClrMapping/>
  </p:clrMapOvr>
  <p:timing>
    <p:tnLst>
      <p:par>
        <p:cTn id="1" dur="indefinite" restart="never" nodeType="tmRoot"/>
      </p:par>
    </p:tnLst>
  </p:timing>
</p:sld>
</file>

<file path=ppt/theme/theme1.xml><?xml version="1.0" encoding="utf-8"?>
<a:theme xmlns:a="http://schemas.openxmlformats.org/drawingml/2006/main" name="Slice">
  <a:themeElements>
    <a:clrScheme name="University of Toronto">
      <a:dk1>
        <a:srgbClr val="000000"/>
      </a:dk1>
      <a:lt1>
        <a:srgbClr val="FFFFFF"/>
      </a:lt1>
      <a:dk2>
        <a:srgbClr val="ACE9F8"/>
      </a:dk2>
      <a:lt2>
        <a:srgbClr val="0F486F"/>
      </a:lt2>
      <a:accent1>
        <a:srgbClr val="062958"/>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2031</TotalTime>
  <Words>4704</Words>
  <Application>Microsoft Office PowerPoint</Application>
  <PresentationFormat>Widescreen</PresentationFormat>
  <Paragraphs>528</Paragraphs>
  <Slides>30</Slides>
  <Notes>28</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Arial</vt:lpstr>
      <vt:lpstr>Calibri</vt:lpstr>
      <vt:lpstr>Century Gothic</vt:lpstr>
      <vt:lpstr>Courier New</vt:lpstr>
      <vt:lpstr>Wingdings 3</vt:lpstr>
      <vt:lpstr>Slice</vt:lpstr>
      <vt:lpstr>Spiffy: Enabling File-System Aware Storage Applications </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vt:lpstr>
      <vt:lpstr>Annotation Requirements</vt:lpstr>
      <vt:lpstr>FSSUPER and POINTER annotation</vt:lpstr>
      <vt:lpstr>Annotation Requirements</vt:lpstr>
      <vt:lpstr>Exmple Annotations</vt:lpstr>
      <vt:lpstr>Generating Spiffy Library</vt:lpstr>
      <vt:lpstr>Evaluation: Annotation Effort</vt:lpstr>
      <vt:lpstr>Building Application</vt:lpstr>
      <vt:lpstr>Manually-Written Application</vt:lpstr>
      <vt:lpstr>Manually-Written Application</vt:lpstr>
      <vt:lpstr>Manually-Written Application</vt:lpstr>
      <vt:lpstr>Spiffy Application</vt:lpstr>
      <vt:lpstr>Offline Spiffy Applications</vt:lpstr>
      <vt:lpstr>Online Applications</vt:lpstr>
      <vt:lpstr>Evaluation: Programming Effort</vt:lpstr>
      <vt:lpstr>Evaluation: Ext4 to F2FS Converter</vt:lpstr>
      <vt:lpstr>Conclusion</vt:lpstr>
      <vt:lpstr>Evaluation: Corruption Experiment</vt:lpstr>
      <vt:lpstr>Evaluation: Preferential Caching</vt:lpstr>
      <vt:lpstr>Solution: Spiffy File System Library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Sun</dc:creator>
  <cp:lastModifiedBy>Jack Sun</cp:lastModifiedBy>
  <cp:revision>164</cp:revision>
  <dcterms:created xsi:type="dcterms:W3CDTF">2018-01-30T09:02:25Z</dcterms:created>
  <dcterms:modified xsi:type="dcterms:W3CDTF">2018-02-08T15:38:46Z</dcterms:modified>
</cp:coreProperties>
</file>