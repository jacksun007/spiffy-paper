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42"/>
  </p:notesMasterIdLst>
  <p:sldIdLst>
    <p:sldId id="256" r:id="rId2"/>
    <p:sldId id="288" r:id="rId3"/>
    <p:sldId id="290" r:id="rId4"/>
    <p:sldId id="289" r:id="rId5"/>
    <p:sldId id="291" r:id="rId6"/>
    <p:sldId id="309" r:id="rId7"/>
    <p:sldId id="293" r:id="rId8"/>
    <p:sldId id="294" r:id="rId9"/>
    <p:sldId id="295" r:id="rId10"/>
    <p:sldId id="301" r:id="rId11"/>
    <p:sldId id="308" r:id="rId12"/>
    <p:sldId id="313" r:id="rId13"/>
    <p:sldId id="314" r:id="rId14"/>
    <p:sldId id="298" r:id="rId15"/>
    <p:sldId id="315" r:id="rId16"/>
    <p:sldId id="316" r:id="rId17"/>
    <p:sldId id="322" r:id="rId18"/>
    <p:sldId id="321" r:id="rId19"/>
    <p:sldId id="318" r:id="rId20"/>
    <p:sldId id="311" r:id="rId21"/>
    <p:sldId id="283" r:id="rId22"/>
    <p:sldId id="306" r:id="rId23"/>
    <p:sldId id="271" r:id="rId24"/>
    <p:sldId id="312" r:id="rId25"/>
    <p:sldId id="268" r:id="rId26"/>
    <p:sldId id="267" r:id="rId27"/>
    <p:sldId id="328" r:id="rId28"/>
    <p:sldId id="329" r:id="rId29"/>
    <p:sldId id="323" r:id="rId30"/>
    <p:sldId id="330" r:id="rId31"/>
    <p:sldId id="324" r:id="rId32"/>
    <p:sldId id="325" r:id="rId33"/>
    <p:sldId id="281" r:id="rId34"/>
    <p:sldId id="326" r:id="rId35"/>
    <p:sldId id="258" r:id="rId36"/>
    <p:sldId id="259" r:id="rId37"/>
    <p:sldId id="261" r:id="rId38"/>
    <p:sldId id="260" r:id="rId39"/>
    <p:sldId id="327" r:id="rId40"/>
    <p:sldId id="320"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861541D-2620-421F-9E2E-648A24C65F11}">
          <p14:sldIdLst>
            <p14:sldId id="256"/>
            <p14:sldId id="288"/>
            <p14:sldId id="290"/>
            <p14:sldId id="289"/>
            <p14:sldId id="291"/>
            <p14:sldId id="309"/>
            <p14:sldId id="293"/>
            <p14:sldId id="294"/>
            <p14:sldId id="295"/>
            <p14:sldId id="301"/>
            <p14:sldId id="308"/>
            <p14:sldId id="313"/>
            <p14:sldId id="314"/>
            <p14:sldId id="298"/>
            <p14:sldId id="315"/>
            <p14:sldId id="316"/>
            <p14:sldId id="322"/>
            <p14:sldId id="321"/>
            <p14:sldId id="318"/>
            <p14:sldId id="311"/>
            <p14:sldId id="283"/>
            <p14:sldId id="306"/>
            <p14:sldId id="271"/>
            <p14:sldId id="312"/>
            <p14:sldId id="268"/>
            <p14:sldId id="267"/>
            <p14:sldId id="328"/>
            <p14:sldId id="329"/>
            <p14:sldId id="323"/>
            <p14:sldId id="330"/>
            <p14:sldId id="324"/>
            <p14:sldId id="325"/>
            <p14:sldId id="281"/>
            <p14:sldId id="326"/>
            <p14:sldId id="258"/>
            <p14:sldId id="259"/>
          </p14:sldIdLst>
        </p14:section>
        <p14:section name="Untitled Section" id="{C4F42328-FDA2-42EF-99EB-9D4F43E348A4}">
          <p14:sldIdLst>
            <p14:sldId id="261"/>
            <p14:sldId id="260"/>
            <p14:sldId id="327"/>
            <p14:sldId id="32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725" autoAdjust="0"/>
  </p:normalViewPr>
  <p:slideViewPr>
    <p:cSldViewPr snapToGrid="0">
      <p:cViewPr varScale="1">
        <p:scale>
          <a:sx n="45" d="100"/>
          <a:sy n="45" d="100"/>
        </p:scale>
        <p:origin x="738" y="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onverter-resul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E:\home\fishy\Documents\Research\fast-2018\caching-result-stacked.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081345459931567"/>
          <c:y val="0.34872429032580282"/>
          <c:w val="0.53727052517588814"/>
          <c:h val="0.35818741914426733"/>
        </c:manualLayout>
      </c:layout>
      <c:lineChart>
        <c:grouping val="standard"/>
        <c:varyColors val="0"/>
        <c:ser>
          <c:idx val="0"/>
          <c:order val="0"/>
          <c:tx>
            <c:strRef>
              <c:f>Sheet1!$B$1</c:f>
              <c:strCache>
                <c:ptCount val="1"/>
                <c:pt idx="0">
                  <c:v>Copy Converter</c:v>
                </c:pt>
              </c:strCache>
            </c:strRef>
          </c:tx>
          <c:spPr>
            <a:ln w="28575" cap="rnd">
              <a:solidFill>
                <a:schemeClr val="accent6"/>
              </a:solidFill>
              <a:prstDash val="dash"/>
              <a:round/>
            </a:ln>
            <a:effectLst/>
          </c:spPr>
          <c:marker>
            <c:symbol val="square"/>
            <c:size val="6"/>
            <c:spPr>
              <a:solidFill>
                <a:schemeClr val="accent6"/>
              </a:solidFill>
              <a:ln w="9525">
                <a:solidFill>
                  <a:schemeClr val="accent6"/>
                </a:solidFill>
              </a:ln>
              <a:effectLst/>
            </c:spPr>
          </c:marker>
          <c:cat>
            <c:numRef>
              <c:f>Sheet1!$A$2:$A$5</c:f>
              <c:numCache>
                <c:formatCode>General</c:formatCode>
                <c:ptCount val="4"/>
                <c:pt idx="0">
                  <c:v>20000</c:v>
                </c:pt>
                <c:pt idx="1">
                  <c:v>5000</c:v>
                </c:pt>
                <c:pt idx="2">
                  <c:v>1000</c:v>
                </c:pt>
                <c:pt idx="3">
                  <c:v>100</c:v>
                </c:pt>
              </c:numCache>
            </c:numRef>
          </c:cat>
          <c:val>
            <c:numRef>
              <c:f>Sheet1!$B$2:$B$5</c:f>
              <c:numCache>
                <c:formatCode>General</c:formatCode>
                <c:ptCount val="4"/>
                <c:pt idx="0">
                  <c:v>188.17</c:v>
                </c:pt>
                <c:pt idx="1">
                  <c:v>190.28</c:v>
                </c:pt>
                <c:pt idx="2">
                  <c:v>192.74</c:v>
                </c:pt>
                <c:pt idx="3">
                  <c:v>195.11</c:v>
                </c:pt>
              </c:numCache>
            </c:numRef>
          </c:val>
          <c:smooth val="0"/>
          <c:extLst>
            <c:ext xmlns:c16="http://schemas.microsoft.com/office/drawing/2014/chart" uri="{C3380CC4-5D6E-409C-BE32-E72D297353CC}">
              <c16:uniqueId val="{00000000-9CC1-4262-BF0E-2ECA5CEA12BB}"/>
            </c:ext>
          </c:extLst>
        </c:ser>
        <c:ser>
          <c:idx val="1"/>
          <c:order val="1"/>
          <c:tx>
            <c:strRef>
              <c:f>Sheet1!$C$1</c:f>
              <c:strCache>
                <c:ptCount val="1"/>
                <c:pt idx="0">
                  <c:v>Manual Converter</c:v>
                </c:pt>
              </c:strCache>
            </c:strRef>
          </c:tx>
          <c:spPr>
            <a:ln w="28575" cap="rnd">
              <a:solidFill>
                <a:schemeClr val="accent4"/>
              </a:solidFill>
              <a:prstDash val="solid"/>
              <a:round/>
            </a:ln>
            <a:effectLst/>
          </c:spPr>
          <c:marker>
            <c:symbol val="circle"/>
            <c:size val="6"/>
            <c:spPr>
              <a:solidFill>
                <a:schemeClr val="accent4"/>
              </a:solidFill>
              <a:ln w="9525">
                <a:solidFill>
                  <a:schemeClr val="accent4"/>
                </a:solidFill>
              </a:ln>
              <a:effectLst/>
            </c:spPr>
          </c:marker>
          <c:cat>
            <c:numRef>
              <c:f>Sheet1!$A$2:$A$5</c:f>
              <c:numCache>
                <c:formatCode>General</c:formatCode>
                <c:ptCount val="4"/>
                <c:pt idx="0">
                  <c:v>20000</c:v>
                </c:pt>
                <c:pt idx="1">
                  <c:v>5000</c:v>
                </c:pt>
                <c:pt idx="2">
                  <c:v>1000</c:v>
                </c:pt>
                <c:pt idx="3">
                  <c:v>100</c:v>
                </c:pt>
              </c:numCache>
            </c:numRef>
          </c:cat>
          <c:val>
            <c:numRef>
              <c:f>Sheet1!$C$2:$C$5</c:f>
              <c:numCache>
                <c:formatCode>General</c:formatCode>
                <c:ptCount val="4"/>
                <c:pt idx="0">
                  <c:v>6.55</c:v>
                </c:pt>
                <c:pt idx="1">
                  <c:v>3.46</c:v>
                </c:pt>
                <c:pt idx="2">
                  <c:v>3.29</c:v>
                </c:pt>
                <c:pt idx="3">
                  <c:v>3.25</c:v>
                </c:pt>
              </c:numCache>
            </c:numRef>
          </c:val>
          <c:smooth val="0"/>
          <c:extLst>
            <c:ext xmlns:c16="http://schemas.microsoft.com/office/drawing/2014/chart" uri="{C3380CC4-5D6E-409C-BE32-E72D297353CC}">
              <c16:uniqueId val="{00000001-9CC1-4262-BF0E-2ECA5CEA12BB}"/>
            </c:ext>
          </c:extLst>
        </c:ser>
        <c:ser>
          <c:idx val="2"/>
          <c:order val="2"/>
          <c:tx>
            <c:strRef>
              <c:f>Sheet1!$D$1</c:f>
              <c:strCache>
                <c:ptCount val="1"/>
                <c:pt idx="0">
                  <c:v>Spiffy Converter</c:v>
                </c:pt>
              </c:strCache>
            </c:strRef>
          </c:tx>
          <c:spPr>
            <a:ln w="28575" cap="rnd">
              <a:solidFill>
                <a:schemeClr val="tx2"/>
              </a:solidFill>
              <a:prstDash val="sysDot"/>
              <a:round/>
            </a:ln>
            <a:effectLst/>
          </c:spPr>
          <c:marker>
            <c:symbol val="diamond"/>
            <c:size val="6"/>
            <c:spPr>
              <a:solidFill>
                <a:schemeClr val="tx2"/>
              </a:solidFill>
              <a:ln w="9525">
                <a:solidFill>
                  <a:schemeClr val="tx2"/>
                </a:solidFill>
              </a:ln>
              <a:effectLst/>
            </c:spPr>
          </c:marker>
          <c:cat>
            <c:numRef>
              <c:f>Sheet1!$A$2:$A$5</c:f>
              <c:numCache>
                <c:formatCode>General</c:formatCode>
                <c:ptCount val="4"/>
                <c:pt idx="0">
                  <c:v>20000</c:v>
                </c:pt>
                <c:pt idx="1">
                  <c:v>5000</c:v>
                </c:pt>
                <c:pt idx="2">
                  <c:v>1000</c:v>
                </c:pt>
                <c:pt idx="3">
                  <c:v>100</c:v>
                </c:pt>
              </c:numCache>
            </c:numRef>
          </c:cat>
          <c:val>
            <c:numRef>
              <c:f>Sheet1!$D$2:$D$5</c:f>
              <c:numCache>
                <c:formatCode>0.00</c:formatCode>
                <c:ptCount val="4"/>
                <c:pt idx="0">
                  <c:v>7.03</c:v>
                </c:pt>
                <c:pt idx="1">
                  <c:v>4.01</c:v>
                </c:pt>
                <c:pt idx="2">
                  <c:v>3.84</c:v>
                </c:pt>
                <c:pt idx="3">
                  <c:v>3.71</c:v>
                </c:pt>
              </c:numCache>
            </c:numRef>
          </c:val>
          <c:smooth val="0"/>
          <c:extLst>
            <c:ext xmlns:c16="http://schemas.microsoft.com/office/drawing/2014/chart" uri="{C3380CC4-5D6E-409C-BE32-E72D297353CC}">
              <c16:uniqueId val="{00000002-9CC1-4262-BF0E-2ECA5CEA12BB}"/>
            </c:ext>
          </c:extLst>
        </c:ser>
        <c:dLbls>
          <c:showLegendKey val="0"/>
          <c:showVal val="0"/>
          <c:showCatName val="0"/>
          <c:showSerName val="0"/>
          <c:showPercent val="0"/>
          <c:showBubbleSize val="0"/>
        </c:dLbls>
        <c:marker val="1"/>
        <c:smooth val="0"/>
        <c:axId val="1060318176"/>
        <c:axId val="1060318720"/>
      </c:lineChart>
      <c:catAx>
        <c:axId val="1060318176"/>
        <c:scaling>
          <c:orientation val="minMax"/>
        </c:scaling>
        <c:delete val="0"/>
        <c:axPos val="b"/>
        <c:title>
          <c:tx>
            <c:rich>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r>
                  <a:rPr lang="en-US" dirty="0"/>
                  <a:t># of </a:t>
                </a:r>
                <a:r>
                  <a:rPr lang="en-US" dirty="0" smtClean="0"/>
                  <a:t>files</a:t>
                </a:r>
                <a:endParaRPr lang="en-US" dirty="0"/>
              </a:p>
            </c:rich>
          </c:tx>
          <c:layout>
            <c:manualLayout>
              <c:xMode val="edge"/>
              <c:yMode val="edge"/>
              <c:x val="0.62584479240826973"/>
              <c:y val="0.72818252638233838"/>
            </c:manualLayout>
          </c:layout>
          <c:overlay val="0"/>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bg2">
                <a:lumMod val="10000"/>
              </a:schemeClr>
            </a:solidFill>
            <a:round/>
          </a:ln>
          <a:effectLst/>
        </c:spPr>
        <c:txPr>
          <a:bodyPr rot="-600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crossAx val="1060318720"/>
        <c:crosses val="autoZero"/>
        <c:auto val="0"/>
        <c:lblAlgn val="ctr"/>
        <c:lblOffset val="100"/>
        <c:noMultiLvlLbl val="0"/>
      </c:catAx>
      <c:valAx>
        <c:axId val="1060318720"/>
        <c:scaling>
          <c:logBase val="4"/>
          <c:orientation val="minMax"/>
        </c:scaling>
        <c:delete val="0"/>
        <c:axPos val="l"/>
        <c:majorGridlines>
          <c:spPr>
            <a:ln w="9525" cap="flat" cmpd="sng" algn="ctr">
              <a:solidFill>
                <a:schemeClr val="tx1">
                  <a:lumMod val="50000"/>
                </a:schemeClr>
              </a:solidFill>
              <a:round/>
            </a:ln>
            <a:effectLst/>
          </c:spPr>
        </c:majorGridlines>
        <c:title>
          <c:tx>
            <c:rich>
              <a:bodyPr rot="-5400000" spcFirstLastPara="1" vertOverflow="ellipsis" vert="horz" wrap="square" anchor="ctr" anchorCtr="1"/>
              <a:lstStyle/>
              <a:p>
                <a:pPr>
                  <a:defRPr sz="1600" b="0" i="0" u="none" strike="noStrike" kern="1200" baseline="0">
                    <a:solidFill>
                      <a:schemeClr val="bg1"/>
                    </a:solidFill>
                    <a:latin typeface="+mn-lt"/>
                    <a:ea typeface="+mn-ea"/>
                    <a:cs typeface="+mn-cs"/>
                  </a:defRPr>
                </a:pPr>
                <a:r>
                  <a:rPr lang="en-CA"/>
                  <a:t>seconds</a:t>
                </a:r>
              </a:p>
            </c:rich>
          </c:tx>
          <c:layout/>
          <c:overlay val="0"/>
          <c:spPr>
            <a:noFill/>
            <a:ln>
              <a:noFill/>
            </a:ln>
            <a:effectLst/>
          </c:spPr>
          <c:txPr>
            <a:bodyPr rot="-54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crossAx val="1060318176"/>
        <c:crosses val="autoZero"/>
        <c:crossBetween val="between"/>
      </c:valAx>
      <c:spPr>
        <a:solidFill>
          <a:schemeClr val="tx1"/>
        </a:solidFill>
        <a:ln>
          <a:solidFill>
            <a:schemeClr val="tx1">
              <a:lumMod val="50000"/>
            </a:schemeClr>
          </a:solidFill>
        </a:ln>
        <a:effectLst/>
      </c:spPr>
    </c:plotArea>
    <c:legend>
      <c:legendPos val="r"/>
      <c:layout>
        <c:manualLayout>
          <c:xMode val="edge"/>
          <c:yMode val="edge"/>
          <c:x val="0.66858475960888031"/>
          <c:y val="0.33360445625224705"/>
          <c:w val="0.32208596280409679"/>
          <c:h val="0.37050324825699893"/>
        </c:manualLayout>
      </c:layout>
      <c:overlay val="0"/>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600">
          <a:solidFill>
            <a:schemeClr val="bg1"/>
          </a:solidFill>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61083692839279813"/>
          <c:y val="5.1192544430694563E-2"/>
          <c:w val="0.33184206060008237"/>
          <c:h val="0.72176687201094358"/>
        </c:manualLayout>
      </c:layout>
      <c:barChart>
        <c:barDir val="bar"/>
        <c:grouping val="stacked"/>
        <c:varyColors val="0"/>
        <c:ser>
          <c:idx val="0"/>
          <c:order val="0"/>
          <c:tx>
            <c:strRef>
              <c:f>Sheet1!$C$1</c:f>
              <c:strCache>
                <c:ptCount val="1"/>
                <c:pt idx="0">
                  <c:v>Fileserver A</c:v>
                </c:pt>
              </c:strCache>
            </c:strRef>
          </c:tx>
          <c:spPr>
            <a:solidFill>
              <a:schemeClr val="accent5">
                <a:lumMod val="40000"/>
                <a:lumOff val="60000"/>
              </a:schemeClr>
            </a:solidFill>
            <a:ln>
              <a:solidFill>
                <a:schemeClr val="bg1"/>
              </a:solidFill>
            </a:ln>
            <a:effectLst/>
          </c:spPr>
          <c:invertIfNegative val="0"/>
          <c:errBars>
            <c:errBarType val="both"/>
            <c:errValType val="cust"/>
            <c:noEndCap val="0"/>
            <c:pl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plus>
            <c:min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Sheet1!$C$2:$C$8</c:f>
              <c:numCache>
                <c:formatCode>General</c:formatCode>
                <c:ptCount val="7"/>
                <c:pt idx="0">
                  <c:v>1904.855278</c:v>
                </c:pt>
                <c:pt idx="1">
                  <c:v>1227.2180559999999</c:v>
                </c:pt>
                <c:pt idx="2">
                  <c:v>2831.1577779999998</c:v>
                </c:pt>
                <c:pt idx="4">
                  <c:v>1472.7113890000001</c:v>
                </c:pt>
                <c:pt idx="5">
                  <c:v>941.54666669999995</c:v>
                </c:pt>
                <c:pt idx="6">
                  <c:v>2555.018333</c:v>
                </c:pt>
              </c:numCache>
            </c:numRef>
          </c:val>
          <c:extLst>
            <c:ext xmlns:c16="http://schemas.microsoft.com/office/drawing/2014/chart" uri="{C3380CC4-5D6E-409C-BE32-E72D297353CC}">
              <c16:uniqueId val="{00000000-23D3-4E46-9757-6E0B39AF495B}"/>
            </c:ext>
          </c:extLst>
        </c:ser>
        <c:ser>
          <c:idx val="1"/>
          <c:order val="1"/>
          <c:tx>
            <c:strRef>
              <c:f>Sheet1!$D$1</c:f>
              <c:strCache>
                <c:ptCount val="1"/>
                <c:pt idx="0">
                  <c:v>Fileserver B</c:v>
                </c:pt>
              </c:strCache>
            </c:strRef>
          </c:tx>
          <c:spPr>
            <a:solidFill>
              <a:schemeClr val="accent3"/>
            </a:solidFill>
            <a:ln>
              <a:solidFill>
                <a:schemeClr val="bg1"/>
              </a:solidFill>
            </a:ln>
            <a:effectLst/>
          </c:spPr>
          <c:invertIfNegative val="0"/>
          <c:errBars>
            <c:errBarType val="both"/>
            <c:errValType val="cust"/>
            <c:noEndCap val="0"/>
            <c:plus>
              <c:numRef>
                <c:f>Sheet1!$I$2:$I$8</c:f>
                <c:numCache>
                  <c:formatCode>General</c:formatCode>
                  <c:ptCount val="7"/>
                  <c:pt idx="0">
                    <c:v>46.519010110000004</c:v>
                  </c:pt>
                  <c:pt idx="1">
                    <c:v>46.575578360000002</c:v>
                  </c:pt>
                  <c:pt idx="2">
                    <c:v>0</c:v>
                  </c:pt>
                  <c:pt idx="4">
                    <c:v>25.918389650000002</c:v>
                  </c:pt>
                  <c:pt idx="5">
                    <c:v>56.659710339999997</c:v>
                  </c:pt>
                  <c:pt idx="6">
                    <c:v>0</c:v>
                  </c:pt>
                </c:numCache>
              </c:numRef>
            </c:plus>
            <c:minus>
              <c:numRef>
                <c:f>Sheet1!$I$2:$I$8</c:f>
                <c:numCache>
                  <c:formatCode>General</c:formatCode>
                  <c:ptCount val="7"/>
                  <c:pt idx="0">
                    <c:v>46.519010110000004</c:v>
                  </c:pt>
                  <c:pt idx="1">
                    <c:v>46.575578360000002</c:v>
                  </c:pt>
                  <c:pt idx="2">
                    <c:v>0</c:v>
                  </c:pt>
                  <c:pt idx="4">
                    <c:v>25.918389650000002</c:v>
                  </c:pt>
                  <c:pt idx="5">
                    <c:v>56.659710339999997</c:v>
                  </c:pt>
                  <c:pt idx="6">
                    <c:v>0</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Sheet1!$D$2:$D$8</c:f>
              <c:numCache>
                <c:formatCode>General</c:formatCode>
                <c:ptCount val="7"/>
                <c:pt idx="0">
                  <c:v>893.80499999999995</c:v>
                </c:pt>
                <c:pt idx="1">
                  <c:v>1227.6741669999999</c:v>
                </c:pt>
                <c:pt idx="2">
                  <c:v>0</c:v>
                </c:pt>
                <c:pt idx="4">
                  <c:v>807.45833330000005</c:v>
                </c:pt>
                <c:pt idx="5">
                  <c:v>930.94916669999998</c:v>
                </c:pt>
                <c:pt idx="6">
                  <c:v>0</c:v>
                </c:pt>
              </c:numCache>
            </c:numRef>
          </c:val>
          <c:extLst>
            <c:ext xmlns:c16="http://schemas.microsoft.com/office/drawing/2014/chart" uri="{C3380CC4-5D6E-409C-BE32-E72D297353CC}">
              <c16:uniqueId val="{00000001-23D3-4E46-9757-6E0B39AF495B}"/>
            </c:ext>
          </c:extLst>
        </c:ser>
        <c:dLbls>
          <c:showLegendKey val="0"/>
          <c:showVal val="0"/>
          <c:showCatName val="0"/>
          <c:showSerName val="0"/>
          <c:showPercent val="0"/>
          <c:showBubbleSize val="0"/>
        </c:dLbls>
        <c:gapWidth val="20"/>
        <c:overlap val="100"/>
        <c:axId val="1060312736"/>
        <c:axId val="1060317632"/>
      </c:barChart>
      <c:catAx>
        <c:axId val="1060312736"/>
        <c:scaling>
          <c:orientation val="minMax"/>
        </c:scaling>
        <c:delete val="0"/>
        <c:axPos val="l"/>
        <c:numFmt formatCode="General" sourceLinked="1"/>
        <c:majorTickMark val="none"/>
        <c:minorTickMark val="none"/>
        <c:tickLblPos val="nextTo"/>
        <c:spPr>
          <a:noFill/>
          <a:ln w="9525" cap="flat" cmpd="sng" algn="ctr">
            <a:solidFill>
              <a:schemeClr val="bg1"/>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1060317632"/>
        <c:crosses val="autoZero"/>
        <c:auto val="1"/>
        <c:lblAlgn val="ctr"/>
        <c:lblOffset val="100"/>
        <c:noMultiLvlLbl val="1"/>
      </c:catAx>
      <c:valAx>
        <c:axId val="1060317632"/>
        <c:scaling>
          <c:orientation val="minMax"/>
          <c:max val="3000"/>
        </c:scaling>
        <c:delete val="0"/>
        <c:axPos val="b"/>
        <c:majorGridlines>
          <c:spPr>
            <a:ln w="9525" cap="flat" cmpd="sng" algn="ctr">
              <a:solidFill>
                <a:schemeClr val="bg1"/>
              </a:solidFill>
              <a:round/>
            </a:ln>
            <a:effectLst/>
          </c:spPr>
        </c:majorGridlines>
        <c:title>
          <c:tx>
            <c:rich>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r>
                  <a:rPr lang="en-US"/>
                  <a:t>ops/s</a:t>
                </a:r>
              </a:p>
            </c:rich>
          </c:tx>
          <c:layout/>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title>
        <c:numFmt formatCode="General" sourceLinked="1"/>
        <c:majorTickMark val="none"/>
        <c:minorTickMark val="out"/>
        <c:tickLblPos val="nextTo"/>
        <c:spPr>
          <a:noFill/>
          <a:ln>
            <a:solidFill>
              <a:schemeClr val="accent1"/>
            </a:solidFill>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1060312736"/>
        <c:crosses val="autoZero"/>
        <c:crossBetween val="between"/>
        <c:majorUnit val="1000"/>
        <c:minorUnit val="500"/>
      </c:valAx>
      <c:spPr>
        <a:noFill/>
        <a:ln>
          <a:solidFill>
            <a:schemeClr val="bg1"/>
          </a:solidFill>
        </a:ln>
        <a:effectLst/>
      </c:spPr>
    </c:plotArea>
    <c:legend>
      <c:legendPos val="b"/>
      <c:layout>
        <c:manualLayout>
          <c:xMode val="edge"/>
          <c:yMode val="edge"/>
          <c:x val="0.14225519748408696"/>
          <c:y val="0.85034517406747667"/>
          <c:w val="0.39392809687657754"/>
          <c:h val="8.9154546150793379E-2"/>
        </c:manualLayout>
      </c:layout>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4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68C5AD-71DD-4EC0-A413-C51DC95DD2ED}" type="datetimeFigureOut">
              <a:rPr lang="en-CA" smtClean="0"/>
              <a:t>2018-02-09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B5BF96-4013-477F-9949-176AD53AFF60}" type="slidenum">
              <a:rPr lang="en-CA" smtClean="0"/>
              <a:t>‹#›</a:t>
            </a:fld>
            <a:endParaRPr lang="en-CA"/>
          </a:p>
        </p:txBody>
      </p:sp>
    </p:spTree>
    <p:extLst>
      <p:ext uri="{BB962C8B-B14F-4D97-AF65-F5344CB8AC3E}">
        <p14:creationId xmlns:p14="http://schemas.microsoft.com/office/powerpoint/2010/main" val="2765221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Hello, my name is Jack,</a:t>
            </a:r>
            <a:r>
              <a:rPr lang="en-CA" baseline="0" dirty="0" smtClean="0"/>
              <a:t> and today, I’ll be talking to you about Spiffy, a framework for writing robust file system aware storage applications. This is work done with my colleagues at the University of Toronto.</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a:t>
            </a:fld>
            <a:endParaRPr lang="en-CA"/>
          </a:p>
        </p:txBody>
      </p:sp>
    </p:spTree>
    <p:extLst>
      <p:ext uri="{BB962C8B-B14F-4D97-AF65-F5344CB8AC3E}">
        <p14:creationId xmlns:p14="http://schemas.microsoft.com/office/powerpoint/2010/main" val="28716424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There is a</a:t>
            </a:r>
            <a:r>
              <a:rPr lang="en-CA" baseline="0" dirty="0" smtClean="0"/>
              <a:t> c</a:t>
            </a:r>
            <a:r>
              <a:rPr lang="en-CA" dirty="0" smtClean="0"/>
              <a:t>lass of applications that work with file system metadata that we call file-system aware applications. Examples</a:t>
            </a:r>
            <a:r>
              <a:rPr lang="en-CA" baseline="0" dirty="0" smtClean="0"/>
              <a:t> of such  </a:t>
            </a:r>
            <a:r>
              <a:rPr lang="en-CA" dirty="0" smtClean="0"/>
              <a:t>applications</a:t>
            </a:r>
            <a:r>
              <a:rPr lang="en-CA" baseline="0" dirty="0" smtClean="0"/>
              <a:t> include a </a:t>
            </a:r>
            <a:r>
              <a:rPr lang="en-CA" dirty="0" smtClean="0"/>
              <a:t>partition editor, a file system</a:t>
            </a:r>
            <a:r>
              <a:rPr lang="en-CA" baseline="0" dirty="0" smtClean="0"/>
              <a:t> checker, and a defragmentation tool. These applications o</a:t>
            </a:r>
            <a:r>
              <a:rPr lang="en-CA" dirty="0" smtClean="0"/>
              <a:t>perate directly on file system metadata structures on</a:t>
            </a:r>
            <a:r>
              <a:rPr lang="en-CA" baseline="0" dirty="0" smtClean="0"/>
              <a:t> disk while bypassing the VFS layer. Therefore, writing file-system aware applications </a:t>
            </a:r>
            <a:r>
              <a:rPr lang="en-CA" sz="1200" b="0" i="0" u="none" strike="noStrike" kern="1200" baseline="0" dirty="0" smtClean="0">
                <a:solidFill>
                  <a:schemeClr val="tx1"/>
                </a:solidFill>
                <a:latin typeface="+mn-lt"/>
                <a:ea typeface="+mn-ea"/>
                <a:cs typeface="+mn-cs"/>
              </a:rPr>
              <a:t>requires detailed understanding of the file system format, including the ability to identify and interpret file system structures. These applications are essential for the successful deployment of a file system, since, for example, people will likely use a file system only if it comes with a file system checker.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0176276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However,</a:t>
            </a:r>
            <a:r>
              <a:rPr lang="en-CA" baseline="0" dirty="0" smtClean="0"/>
              <a:t> there are several problems with writing and deploying these tools. </a:t>
            </a:r>
            <a:r>
              <a:rPr lang="en-CA" dirty="0" smtClean="0"/>
              <a:t>Currently, these</a:t>
            </a:r>
            <a:r>
              <a:rPr lang="en-CA" baseline="0" dirty="0" smtClean="0"/>
              <a:t> tools have to be developed from scratch for</a:t>
            </a:r>
            <a:r>
              <a:rPr lang="en-CA" dirty="0" smtClean="0"/>
              <a:t> each file system.</a:t>
            </a:r>
            <a:r>
              <a:rPr lang="en-CA" baseline="0" dirty="0" smtClean="0"/>
              <a:t> Moreover,</a:t>
            </a:r>
            <a:r>
              <a:rPr lang="en-CA" dirty="0" smtClean="0"/>
              <a:t> these</a:t>
            </a:r>
            <a:r>
              <a:rPr lang="en-CA" baseline="0" dirty="0" smtClean="0"/>
              <a:t> tools require significant file system understanding, and are thus typically developed by </a:t>
            </a:r>
            <a:r>
              <a:rPr lang="en-CA" dirty="0" smtClean="0"/>
              <a:t>file system</a:t>
            </a:r>
            <a:r>
              <a:rPr lang="en-CA" baseline="0" dirty="0" smtClean="0"/>
              <a:t> </a:t>
            </a:r>
            <a:r>
              <a:rPr lang="en-CA" dirty="0" smtClean="0"/>
              <a:t>experts.</a:t>
            </a:r>
            <a:r>
              <a:rPr lang="en-CA" baseline="0" dirty="0" smtClean="0"/>
              <a:t> Even so, these tools have bugs, and these bugs can lead to system crashes, data corruption, and security vulnerability. For example, the </a:t>
            </a:r>
            <a:r>
              <a:rPr lang="en-CA" baseline="0" dirty="0" err="1" smtClean="0"/>
              <a:t>ntfsprogs</a:t>
            </a:r>
            <a:r>
              <a:rPr lang="en-CA" baseline="0" dirty="0" smtClean="0"/>
              <a:t> library had a bug that was caused by misinterpreting the NTFS metadata. The size of the master file table or MFT record can be interpreted in two ways: it is the number of clusters per record if the value is positive, otherwise it is two to the power of the absolute value of the field, if the value is </a:t>
            </a:r>
            <a:r>
              <a:rPr lang="en-CA" baseline="0" dirty="0" err="1" smtClean="0"/>
              <a:t>negatve</a:t>
            </a:r>
            <a:r>
              <a:rPr lang="en-CA" baseline="0" dirty="0" smtClean="0"/>
              <a:t>. Unsurprisingly, the </a:t>
            </a:r>
            <a:r>
              <a:rPr lang="en-CA" baseline="0" dirty="0" err="1" smtClean="0"/>
              <a:t>ntfsprogs</a:t>
            </a:r>
            <a:r>
              <a:rPr lang="en-CA" baseline="0" dirty="0" smtClean="0"/>
              <a:t> library used to misinterpret this field, and corrupt file systems when resizing partitions.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a:t>
            </a:fld>
            <a:endParaRPr lang="en-CA"/>
          </a:p>
        </p:txBody>
      </p:sp>
    </p:spTree>
    <p:extLst>
      <p:ext uri="{BB962C8B-B14F-4D97-AF65-F5344CB8AC3E}">
        <p14:creationId xmlns:p14="http://schemas.microsoft.com/office/powerpoint/2010/main" val="23840179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root cause of all these problems is that these</a:t>
            </a:r>
            <a:r>
              <a:rPr lang="en-CA" baseline="0" dirty="0" smtClean="0"/>
              <a:t> tools are inherently hard to write because the file system format is complex and poorly documented. These a</a:t>
            </a:r>
            <a:r>
              <a:rPr lang="en-CA" dirty="0" smtClean="0"/>
              <a:t>pplications require detailed knowledge </a:t>
            </a:r>
            <a:r>
              <a:rPr lang="en-CA" baseline="0" dirty="0" smtClean="0"/>
              <a:t>for traversing and processing file system metadata.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Since different file systems use different metadata structures, an application cannot be reused across file systems. In addition, these applications need to be robust to file system corruption, or else they can crash or cause even more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42283268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Our goal for this work is to</a:t>
            </a:r>
            <a:r>
              <a:rPr lang="en-CA" baseline="0" dirty="0" smtClean="0"/>
              <a:t> simplify development of file-system aware applications in two ways. First, we would like to reduce the amount of file-system specific code that application developers have to write. Second, we would like to make it easier to write applications that work for multiple file systems. We also want to improve the robustness of these applications. In particular, we would like to enable correct traversal of file system metadata, and ensure type-safe access to file system metadata structures. Type-safe access helps with detecting corruption when reading metadata from disk, and also before writing metadata out to disk. This in turn helps reduce error propagation and further corruption from spreading.</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5</a:t>
            </a:fld>
            <a:endParaRPr lang="en-CA"/>
          </a:p>
        </p:txBody>
      </p:sp>
    </p:spTree>
    <p:extLst>
      <p:ext uri="{BB962C8B-B14F-4D97-AF65-F5344CB8AC3E}">
        <p14:creationId xmlns:p14="http://schemas.microsoft.com/office/powerpoint/2010/main" val="13570263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is embodied in the Spiffy framework that help developers with building file-system aware applications. The main idea is to have file system developers specify the format of their file system. With this specification, we can generate the Spiffy parsing and serialization library. Application developers can then use the Spiffy library to build robust file-system aware tools.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6</a:t>
            </a:fld>
            <a:endParaRPr lang="en-CA"/>
          </a:p>
        </p:txBody>
      </p:sp>
    </p:spTree>
    <p:extLst>
      <p:ext uri="{BB962C8B-B14F-4D97-AF65-F5344CB8AC3E}">
        <p14:creationId xmlns:p14="http://schemas.microsoft.com/office/powerpoint/2010/main" val="41101040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to specifying the format of the file system is to have file system developers annotate the metadata structures in the header files of existing source code.</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16066510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use the Spiffy compiler to process the annotated metadata structures</a:t>
            </a:r>
            <a:r>
              <a:rPr lang="en-CA" baseline="0" dirty="0" smtClean="0"/>
              <a:t> to generate a library that provides a generic API for type-safe parsing and serialization, as well as facility for traversing the file system. </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193666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Lastly,</a:t>
            </a:r>
            <a:r>
              <a:rPr lang="en-CA" baseline="0" dirty="0" smtClean="0"/>
              <a:t> the application developers can use the Spiffy library to build robust tools. Since the Spiffy API is standardized for all annotated file systems, it is easier for developers to build applications that work for multiple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20607965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To summarize</a:t>
            </a:r>
            <a:r>
              <a:rPr lang="en-CA" baseline="0" dirty="0" smtClean="0"/>
              <a:t> the talk thus far, we’ve described the difficulty with writing robust, and generic file-system applications. Now we will talk about the details of the Spiffy framework and how it helps with this problem.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21402443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a first step, we need a complete specification of the file system format, which will enable type-safe parsing of file system </a:t>
            </a:r>
            <a:r>
              <a:rPr lang="en-CA" baseline="0" dirty="0" err="1" smtClean="0"/>
              <a:t>strutures</a:t>
            </a:r>
            <a:r>
              <a:rPr lang="en-CA" baseline="0" dirty="0" smtClean="0"/>
              <a:t>.</a:t>
            </a:r>
          </a:p>
          <a:p>
            <a:endParaRPr lang="en-CA" baseline="0" dirty="0" smtClean="0"/>
          </a:p>
          <a:p>
            <a:r>
              <a:rPr lang="en-CA" dirty="0" smtClean="0"/>
              <a:t>Ideally,</a:t>
            </a:r>
            <a:r>
              <a:rPr lang="en-CA" baseline="0" dirty="0" smtClean="0"/>
              <a:t> we should be able to extract the format specification from the metadata structure definitions in existing source code. However, these structure definitions do *not* completely describe their actual format on disk. For example, the slide shows a definition of </a:t>
            </a:r>
            <a:r>
              <a:rPr lang="en-CA" baseline="0" dirty="0" err="1" smtClean="0"/>
              <a:t>struct</a:t>
            </a:r>
            <a:r>
              <a:rPr lang="en-CA" baseline="0" dirty="0" smtClean="0"/>
              <a:t> foo in a file system header file. In it, there are two fields, called size and </a:t>
            </a:r>
            <a:r>
              <a:rPr lang="en-CA" baseline="0" dirty="0" err="1" smtClean="0"/>
              <a:t>bar_block_ptr</a:t>
            </a:r>
            <a:r>
              <a:rPr lang="en-CA" baseline="0" dirty="0" smtClean="0"/>
              <a:t>, both of a little endian integer type. By looking at the name, </a:t>
            </a:r>
            <a:r>
              <a:rPr lang="en-CA" baseline="0" dirty="0" err="1" smtClean="0"/>
              <a:t>bar_block_ptr</a:t>
            </a:r>
            <a:r>
              <a:rPr lang="en-CA" baseline="0" dirty="0" smtClean="0"/>
              <a:t>, a programmer may deduce that this field points to a block of type </a:t>
            </a:r>
            <a:r>
              <a:rPr lang="en-CA" baseline="0" dirty="0" err="1" smtClean="0"/>
              <a:t>bar_block</a:t>
            </a:r>
            <a:r>
              <a:rPr lang="en-CA" baseline="0" dirty="0" smtClean="0"/>
              <a:t>, but there is no way to know for sure.</a:t>
            </a:r>
          </a:p>
        </p:txBody>
      </p:sp>
      <p:sp>
        <p:nvSpPr>
          <p:cNvPr id="4" name="Slide Number Placeholder 3"/>
          <p:cNvSpPr>
            <a:spLocks noGrp="1"/>
          </p:cNvSpPr>
          <p:nvPr>
            <p:ph type="sldNum" sz="quarter" idx="10"/>
          </p:nvPr>
        </p:nvSpPr>
        <p:spPr/>
        <p:txBody>
          <a:bodyPr/>
          <a:lstStyle/>
          <a:p>
            <a:fld id="{B5B5BF96-4013-477F-9949-176AD53AFF60}" type="slidenum">
              <a:rPr lang="en-CA" smtClean="0"/>
              <a:t>11</a:t>
            </a:fld>
            <a:endParaRPr lang="en-CA"/>
          </a:p>
        </p:txBody>
      </p:sp>
    </p:spTree>
    <p:extLst>
      <p:ext uri="{BB962C8B-B14F-4D97-AF65-F5344CB8AC3E}">
        <p14:creationId xmlns:p14="http://schemas.microsoft.com/office/powerpoint/2010/main" val="18988690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Our solution is to annotate this metadata structure so that we can unambiguously specify this missing information. Here we add an FSSTRUCT annotation to </a:t>
            </a:r>
            <a:r>
              <a:rPr lang="en-CA" baseline="0" dirty="0" err="1" smtClean="0"/>
              <a:t>struct</a:t>
            </a:r>
            <a:r>
              <a:rPr lang="en-CA" baseline="0" dirty="0" smtClean="0"/>
              <a:t> foo to indicate that it is an on-disk metadata structure. Then, we add a pointer annotation </a:t>
            </a:r>
            <a:r>
              <a:rPr lang="en-US" baseline="0" dirty="0" smtClean="0"/>
              <a:t>to s</a:t>
            </a:r>
            <a:r>
              <a:rPr lang="en-US" dirty="0" smtClean="0"/>
              <a:t>pecify that a data structure field holds an address to a location on physical storage. Here,</a:t>
            </a:r>
            <a:r>
              <a:rPr lang="en-US" baseline="0" dirty="0" smtClean="0"/>
              <a:t> the pointer annotation added</a:t>
            </a:r>
            <a:r>
              <a:rPr lang="en-CA" baseline="0" dirty="0" smtClean="0"/>
              <a:t> to the </a:t>
            </a:r>
            <a:r>
              <a:rPr lang="en-CA" baseline="0" dirty="0" err="1" smtClean="0"/>
              <a:t>bar_block_ptr</a:t>
            </a:r>
            <a:r>
              <a:rPr lang="en-CA" baseline="0" dirty="0" smtClean="0"/>
              <a:t> field specifies that the field value is the address of a block of type </a:t>
            </a:r>
            <a:r>
              <a:rPr lang="en-CA" baseline="0" dirty="0" err="1" smtClean="0"/>
              <a:t>bar_block</a:t>
            </a:r>
            <a:r>
              <a:rPr lang="en-CA" baseline="0" dirty="0" smtClean="0"/>
              <a:t>.</a:t>
            </a:r>
          </a:p>
          <a:p>
            <a:endParaRPr lang="en-CA" baseline="0" dirty="0" smtClean="0"/>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12</a:t>
            </a:fld>
            <a:endParaRPr lang="en-CA"/>
          </a:p>
        </p:txBody>
      </p:sp>
    </p:spTree>
    <p:extLst>
      <p:ext uri="{BB962C8B-B14F-4D97-AF65-F5344CB8AC3E}">
        <p14:creationId xmlns:p14="http://schemas.microsoft.com/office/powerpoint/2010/main" val="33910827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Pointer annotations provide the ability to specify relationships between file system structures. Thus they allow traversal of file system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13</a:t>
            </a:fld>
            <a:endParaRPr lang="en-CA"/>
          </a:p>
        </p:txBody>
      </p:sp>
    </p:spTree>
    <p:extLst>
      <p:ext uri="{BB962C8B-B14F-4D97-AF65-F5344CB8AC3E}">
        <p14:creationId xmlns:p14="http://schemas.microsoft.com/office/powerpoint/2010/main" val="23874624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a:t>
            </a:r>
            <a:r>
              <a:rPr lang="en-CA" baseline="0" dirty="0" smtClean="0"/>
              <a:t>challenge with file system pointers is that they can store different types of logical addresses, requiring different mappings to obtain the corresponding physical storage address. Our solution is to add an address space type to p</a:t>
            </a:r>
            <a:r>
              <a:rPr lang="en-CA" dirty="0" smtClean="0"/>
              <a:t>ointer annotations to specify how</a:t>
            </a:r>
            <a:r>
              <a:rPr lang="en-CA" baseline="0" dirty="0" smtClean="0"/>
              <a:t> to map an address to its physical </a:t>
            </a:r>
            <a:r>
              <a:rPr lang="en-CA" baseline="0" dirty="0" smtClean="0"/>
              <a:t>location. Examples of such address spaces include the block, file and NID address spaces that I will describe next.</a:t>
            </a:r>
          </a:p>
        </p:txBody>
      </p:sp>
      <p:sp>
        <p:nvSpPr>
          <p:cNvPr id="4" name="Slide Number Placeholder 3"/>
          <p:cNvSpPr>
            <a:spLocks noGrp="1"/>
          </p:cNvSpPr>
          <p:nvPr>
            <p:ph type="sldNum" sz="quarter" idx="10"/>
          </p:nvPr>
        </p:nvSpPr>
        <p:spPr/>
        <p:txBody>
          <a:bodyPr/>
          <a:lstStyle/>
          <a:p>
            <a:fld id="{849A0A36-F84D-437B-B821-CB3EBADC1433}" type="slidenum">
              <a:rPr lang="en-CA" smtClean="0"/>
              <a:t>14</a:t>
            </a:fld>
            <a:endParaRPr lang="en-CA"/>
          </a:p>
        </p:txBody>
      </p:sp>
    </p:spTree>
    <p:extLst>
      <p:ext uri="{BB962C8B-B14F-4D97-AF65-F5344CB8AC3E}">
        <p14:creationId xmlns:p14="http://schemas.microsoft.com/office/powerpoint/2010/main" val="16790954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block address space, an address is simply the block number in the file system. This is the most common address space.</a:t>
            </a:r>
          </a:p>
        </p:txBody>
      </p:sp>
      <p:sp>
        <p:nvSpPr>
          <p:cNvPr id="4" name="Slide Number Placeholder 3"/>
          <p:cNvSpPr>
            <a:spLocks noGrp="1"/>
          </p:cNvSpPr>
          <p:nvPr>
            <p:ph type="sldNum" sz="quarter" idx="10"/>
          </p:nvPr>
        </p:nvSpPr>
        <p:spPr/>
        <p:txBody>
          <a:bodyPr/>
          <a:lstStyle/>
          <a:p>
            <a:fld id="{B5B5BF96-4013-477F-9949-176AD53AFF60}" type="slidenum">
              <a:rPr lang="en-CA" smtClean="0"/>
              <a:t>15</a:t>
            </a:fld>
            <a:endParaRPr lang="en-CA"/>
          </a:p>
        </p:txBody>
      </p:sp>
    </p:spTree>
    <p:extLst>
      <p:ext uri="{BB962C8B-B14F-4D97-AF65-F5344CB8AC3E}">
        <p14:creationId xmlns:p14="http://schemas.microsoft.com/office/powerpoint/2010/main" val="12124089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file address space, an address is an </a:t>
            </a:r>
            <a:r>
              <a:rPr lang="en-CA" baseline="0" dirty="0" err="1" smtClean="0"/>
              <a:t>inode</a:t>
            </a:r>
            <a:r>
              <a:rPr lang="en-CA" baseline="0" dirty="0" smtClean="0"/>
              <a:t> number that identifies a specific file. For example, the Ext4 journal is stored on disk as a regular file, and a field in the super block stores the </a:t>
            </a:r>
            <a:r>
              <a:rPr lang="en-CA" baseline="0" dirty="0" err="1" smtClean="0"/>
              <a:t>inode</a:t>
            </a:r>
            <a:r>
              <a:rPr lang="en-CA" baseline="0" dirty="0" smtClean="0"/>
              <a:t> number of the journal. We specify this field as a pointer to the Ext4 journal in the file address space. This address space requires mapping the logical blocks of the journal file to their physical locations.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16</a:t>
            </a:fld>
            <a:endParaRPr lang="en-CA"/>
          </a:p>
        </p:txBody>
      </p:sp>
    </p:spTree>
    <p:extLst>
      <p:ext uri="{BB962C8B-B14F-4D97-AF65-F5344CB8AC3E}">
        <p14:creationId xmlns:p14="http://schemas.microsoft.com/office/powerpoint/2010/main" val="951463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l</a:t>
            </a:r>
            <a:r>
              <a:rPr lang="en-CA" dirty="0" smtClean="0"/>
              <a:t>ocations of some structures are implicit in the code, and not</a:t>
            </a:r>
            <a:r>
              <a:rPr lang="en-CA" baseline="0" dirty="0" smtClean="0"/>
              <a:t> part of the structure definition in header files. </a:t>
            </a:r>
            <a:r>
              <a:rPr lang="en-CA" dirty="0" smtClean="0"/>
              <a:t>E.g. the Ext4 block group descriptor table is the next block following the super block, but the</a:t>
            </a:r>
            <a:r>
              <a:rPr lang="en-CA" baseline="0" dirty="0" smtClean="0"/>
              <a:t> </a:t>
            </a:r>
            <a:r>
              <a:rPr lang="en-CA" dirty="0" smtClean="0"/>
              <a:t>Ext4 super block does not have a </a:t>
            </a:r>
            <a:br>
              <a:rPr lang="en-CA" dirty="0" smtClean="0"/>
            </a:br>
            <a:r>
              <a:rPr lang="en-CA" dirty="0" smtClean="0"/>
              <a:t>field that points to this descriptor table. However, we</a:t>
            </a:r>
            <a:r>
              <a:rPr lang="en-CA" baseline="0" dirty="0" smtClean="0"/>
              <a:t> need such a p</a:t>
            </a:r>
            <a:r>
              <a:rPr lang="en-CA" dirty="0" smtClean="0"/>
              <a:t>ointer to traverse the file system.</a:t>
            </a:r>
          </a:p>
        </p:txBody>
      </p:sp>
      <p:sp>
        <p:nvSpPr>
          <p:cNvPr id="4" name="Slide Number Placeholder 3"/>
          <p:cNvSpPr>
            <a:spLocks noGrp="1"/>
          </p:cNvSpPr>
          <p:nvPr>
            <p:ph type="sldNum" sz="quarter" idx="10"/>
          </p:nvPr>
        </p:nvSpPr>
        <p:spPr/>
        <p:txBody>
          <a:bodyPr/>
          <a:lstStyle/>
          <a:p>
            <a:fld id="{B5B5BF96-4013-477F-9949-176AD53AFF60}" type="slidenum">
              <a:rPr lang="en-CA" smtClean="0"/>
              <a:t>17</a:t>
            </a:fld>
            <a:endParaRPr lang="en-CA"/>
          </a:p>
        </p:txBody>
      </p:sp>
    </p:spTree>
    <p:extLst>
      <p:ext uri="{BB962C8B-B14F-4D97-AF65-F5344CB8AC3E}">
        <p14:creationId xmlns:p14="http://schemas.microsoft.com/office/powerpoint/2010/main" val="31174022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Our s</a:t>
            </a:r>
            <a:r>
              <a:rPr lang="en-CA" dirty="0" smtClean="0"/>
              <a:t>olution</a:t>
            </a:r>
            <a:r>
              <a:rPr lang="en-CA" baseline="0" dirty="0" smtClean="0"/>
              <a:t> is to provide an i</a:t>
            </a:r>
            <a:r>
              <a:rPr lang="en-CA" dirty="0" smtClean="0"/>
              <a:t>mplicit pointer annotation that take two</a:t>
            </a:r>
            <a:r>
              <a:rPr lang="en-CA" baseline="0" dirty="0" smtClean="0"/>
              <a:t> additional arguments, a name, and </a:t>
            </a:r>
            <a:r>
              <a:rPr lang="en-CA" baseline="0" dirty="0" err="1" smtClean="0"/>
              <a:t>and</a:t>
            </a:r>
            <a:r>
              <a:rPr lang="en-CA" baseline="0" dirty="0" smtClean="0"/>
              <a:t> expression. The </a:t>
            </a:r>
            <a:r>
              <a:rPr lang="en-CA" i="1" dirty="0" smtClean="0"/>
              <a:t>name</a:t>
            </a:r>
            <a:r>
              <a:rPr lang="en-CA" dirty="0" smtClean="0"/>
              <a:t> argument</a:t>
            </a:r>
            <a:r>
              <a:rPr lang="en-CA" baseline="0" dirty="0" smtClean="0"/>
              <a:t> </a:t>
            </a:r>
            <a:r>
              <a:rPr lang="en-CA" dirty="0" smtClean="0"/>
              <a:t>creates a logical pointer field that can be accessed</a:t>
            </a:r>
            <a:r>
              <a:rPr lang="en-CA" baseline="0" dirty="0" smtClean="0"/>
              <a:t> and </a:t>
            </a:r>
            <a:r>
              <a:rPr lang="en-CA" dirty="0" smtClean="0"/>
              <a:t>dereferenced.</a:t>
            </a:r>
            <a:r>
              <a:rPr lang="en-CA" baseline="0" dirty="0" smtClean="0"/>
              <a:t> The </a:t>
            </a:r>
            <a:r>
              <a:rPr lang="en-CA" i="1" dirty="0" smtClean="0"/>
              <a:t>expr argument </a:t>
            </a:r>
            <a:r>
              <a:rPr lang="en-CA" dirty="0" smtClean="0"/>
              <a:t>is a C expression that specifies how to calculate the field value, which is the pointer address.</a:t>
            </a:r>
          </a:p>
          <a:p>
            <a:endParaRPr lang="en-CA" dirty="0" smtClean="0"/>
          </a:p>
          <a:p>
            <a:r>
              <a:rPr lang="en-CA" dirty="0" smtClean="0"/>
              <a:t>In</a:t>
            </a:r>
            <a:r>
              <a:rPr lang="en-CA" baseline="0" dirty="0" smtClean="0"/>
              <a:t> this example, the pointer annotation creates a logical field called </a:t>
            </a:r>
            <a:r>
              <a:rPr lang="en-CA" baseline="0" dirty="0" err="1" smtClean="0"/>
              <a:t>s_block_group_desc</a:t>
            </a:r>
            <a:r>
              <a:rPr lang="en-CA" baseline="0" dirty="0" smtClean="0"/>
              <a:t>, and evaluates the expression at runtime that assigns the field a value of 2 or 1 depending the block size of the file system. Now this field name can be used to traverse the file system from the super block to the block group descriptor table.</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18</a:t>
            </a:fld>
            <a:endParaRPr lang="en-CA"/>
          </a:p>
        </p:txBody>
      </p:sp>
    </p:spTree>
    <p:extLst>
      <p:ext uri="{BB962C8B-B14F-4D97-AF65-F5344CB8AC3E}">
        <p14:creationId xmlns:p14="http://schemas.microsoft.com/office/powerpoint/2010/main" val="15748229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 pointer may point to different types of metadata</a:t>
            </a:r>
            <a:r>
              <a:rPr lang="en-CA" baseline="0" dirty="0" smtClean="0"/>
              <a:t> in different contexts. For example, p</a:t>
            </a:r>
            <a:r>
              <a:rPr lang="en-CA" dirty="0" smtClean="0"/>
              <a:t>ointers in an </a:t>
            </a:r>
            <a:r>
              <a:rPr lang="en-CA" dirty="0" err="1" smtClean="0"/>
              <a:t>inode</a:t>
            </a:r>
            <a:r>
              <a:rPr lang="en-CA" dirty="0" smtClean="0"/>
              <a:t> structure can point to directory or data blocks, depending</a:t>
            </a:r>
            <a:r>
              <a:rPr lang="en-CA" baseline="0" dirty="0" smtClean="0"/>
              <a:t> on the type of the </a:t>
            </a:r>
            <a:r>
              <a:rPr lang="en-CA" baseline="0" dirty="0" err="1" smtClean="0"/>
              <a:t>inode</a:t>
            </a:r>
            <a:r>
              <a:rPr lang="en-CA" baseline="0" dirty="0" smtClean="0"/>
              <a:t>. We support such context-sensitive types by </a:t>
            </a:r>
            <a:r>
              <a:rPr lang="en-CA" dirty="0" smtClean="0"/>
              <a:t>specifying a </a:t>
            </a:r>
            <a:r>
              <a:rPr lang="en-CA" i="1" dirty="0" smtClean="0"/>
              <a:t>WHEN condition</a:t>
            </a:r>
            <a:r>
              <a:rPr lang="en-CA" i="1" baseline="0" dirty="0" smtClean="0"/>
              <a:t> </a:t>
            </a:r>
            <a:r>
              <a:rPr lang="en-CA" dirty="0" smtClean="0"/>
              <a:t>in pointer annotations. The field is a valid pointer of</a:t>
            </a:r>
            <a:r>
              <a:rPr lang="en-CA" baseline="0" dirty="0" smtClean="0"/>
              <a:t> the specified type </a:t>
            </a:r>
            <a:r>
              <a:rPr lang="en-CA" dirty="0" smtClean="0"/>
              <a:t>only if </a:t>
            </a:r>
            <a:r>
              <a:rPr lang="en-CA" baseline="0" dirty="0" smtClean="0"/>
              <a:t>the</a:t>
            </a:r>
            <a:r>
              <a:rPr lang="en-CA" dirty="0" smtClean="0"/>
              <a:t> expression in a when condition evaluates to true. In</a:t>
            </a:r>
            <a:r>
              <a:rPr lang="en-CA" baseline="0" dirty="0" smtClean="0"/>
              <a:t> this example, there are two pointer annotation to the same </a:t>
            </a:r>
            <a:r>
              <a:rPr lang="en-CA" baseline="0" dirty="0" err="1" smtClean="0"/>
              <a:t>i_block</a:t>
            </a:r>
            <a:r>
              <a:rPr lang="en-CA" baseline="0" dirty="0" smtClean="0"/>
              <a:t> array. The first annotation specified that </a:t>
            </a:r>
            <a:r>
              <a:rPr lang="en-CA" baseline="0" dirty="0" err="1" smtClean="0"/>
              <a:t>i_block</a:t>
            </a:r>
            <a:r>
              <a:rPr lang="en-CA" baseline="0" dirty="0" smtClean="0"/>
              <a:t> is an array of pointers to </a:t>
            </a:r>
            <a:r>
              <a:rPr lang="en-CA" baseline="0" dirty="0" err="1" smtClean="0"/>
              <a:t>dir_blocks</a:t>
            </a:r>
            <a:r>
              <a:rPr lang="en-CA" baseline="0" dirty="0" smtClean="0"/>
              <a:t> only when the </a:t>
            </a:r>
            <a:r>
              <a:rPr lang="en-CA" baseline="0" dirty="0" err="1" smtClean="0"/>
              <a:t>inode’s</a:t>
            </a:r>
            <a:r>
              <a:rPr lang="en-CA" baseline="0" dirty="0" smtClean="0"/>
              <a:t> mode field indicates a directory. The second annotation specified that this same </a:t>
            </a:r>
            <a:r>
              <a:rPr lang="en-CA" baseline="0" dirty="0" err="1" smtClean="0"/>
              <a:t>i_block</a:t>
            </a:r>
            <a:r>
              <a:rPr lang="en-CA" baseline="0" dirty="0" smtClean="0"/>
              <a:t> is an array of pointers to </a:t>
            </a:r>
            <a:r>
              <a:rPr lang="en-CA" baseline="0" dirty="0" err="1" smtClean="0"/>
              <a:t>data_blocks</a:t>
            </a:r>
            <a:r>
              <a:rPr lang="en-CA" baseline="0" dirty="0" smtClean="0"/>
              <a:t> when the </a:t>
            </a:r>
            <a:r>
              <a:rPr lang="en-CA" baseline="0" dirty="0" err="1" smtClean="0"/>
              <a:t>inode’s</a:t>
            </a:r>
            <a:r>
              <a:rPr lang="en-CA" baseline="0" dirty="0" smtClean="0"/>
              <a:t> mode field indicates a regular file.</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19</a:t>
            </a:fld>
            <a:endParaRPr lang="en-CA"/>
          </a:p>
        </p:txBody>
      </p:sp>
    </p:spTree>
    <p:extLst>
      <p:ext uri="{BB962C8B-B14F-4D97-AF65-F5344CB8AC3E}">
        <p14:creationId xmlns:p14="http://schemas.microsoft.com/office/powerpoint/2010/main" val="21674246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Spiffy provides a CHECK annotation that helps to check metadata structure constraints at runtime. In the example on the left, we specify that the block size must be at most 64KB, and the magic field of the super block must be the Ext4 file system magic number.</a:t>
            </a:r>
            <a:endParaRPr lang="en-CA" dirty="0" smtClean="0"/>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right side shows a fragment of the generated parsing code for the Ext4 super block. This example shows how the check annotations are implemented. These checks help detect super block metadata corruption.</a:t>
            </a:r>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generated Spiffy library contains a C++ class for every annotated structure and its fields. This allows us to implement type-safe parsing and serialization. It also allows us to introspect each structure and its fields to get their types, sizes, names and parents.</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6796354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take a look at the annotation effort</a:t>
            </a:r>
            <a:r>
              <a:rPr lang="en-CA" baseline="0" dirty="0" smtClean="0"/>
              <a:t> required to completely specify each file system</a:t>
            </a:r>
            <a:r>
              <a:rPr lang="en-CA" baseline="0" dirty="0" smtClean="0"/>
              <a:t>. The line count column shows the number of lines of code that define the on-disk data structures in each file system. The annotated column shows the annotations we have added to the original structure definitions. In </a:t>
            </a:r>
            <a:r>
              <a:rPr lang="en-CA" baseline="0" dirty="0" smtClean="0"/>
              <a:t>all cases, the </a:t>
            </a:r>
            <a:r>
              <a:rPr lang="en-CA" baseline="0" dirty="0" smtClean="0"/>
              <a:t>annotations are approximately </a:t>
            </a:r>
            <a:r>
              <a:rPr lang="en-CA" baseline="0" dirty="0" smtClean="0"/>
              <a:t>one forth of the total line </a:t>
            </a:r>
            <a:r>
              <a:rPr lang="en-CA" baseline="0" dirty="0" smtClean="0"/>
              <a:t>count. These numbers include the types of annotations that we have shown earlier, as well as two special cases. We needed to declare some metadata </a:t>
            </a:r>
            <a:r>
              <a:rPr lang="en-CA" baseline="0" dirty="0" smtClean="0"/>
              <a:t>structures </a:t>
            </a:r>
            <a:r>
              <a:rPr lang="en-CA" baseline="0" dirty="0" smtClean="0"/>
              <a:t>that were not declared at all, such as an Ext4 </a:t>
            </a:r>
            <a:r>
              <a:rPr lang="en-CA" baseline="0" dirty="0" smtClean="0"/>
              <a:t>indirect </a:t>
            </a:r>
            <a:r>
              <a:rPr lang="en-CA" baseline="0" dirty="0" smtClean="0"/>
              <a:t>block, </a:t>
            </a:r>
            <a:r>
              <a:rPr lang="en-CA" baseline="0" dirty="0" smtClean="0"/>
              <a:t>which </a:t>
            </a:r>
            <a:r>
              <a:rPr lang="en-CA" baseline="0" dirty="0" smtClean="0"/>
              <a:t>the code assumes is array </a:t>
            </a:r>
            <a:r>
              <a:rPr lang="en-CA" baseline="0" dirty="0" smtClean="0"/>
              <a:t>of </a:t>
            </a:r>
            <a:r>
              <a:rPr lang="en-CA" baseline="0" dirty="0" smtClean="0"/>
              <a:t>pointers. We also made minor changes to some structure definitions for clarity, in particular when a single type definition is used to access multiple different types. </a:t>
            </a:r>
            <a:r>
              <a:rPr lang="en-CA" dirty="0" smtClean="0"/>
              <a:t>E.g. block pointers in Ext4 </a:t>
            </a:r>
            <a:r>
              <a:rPr lang="en-CA" dirty="0" err="1" smtClean="0"/>
              <a:t>inode</a:t>
            </a:r>
            <a:r>
              <a:rPr lang="en-CA" dirty="0" smtClean="0"/>
              <a:t> is an array of 15 pointers, the first 12 are direct block pointers, while the last 3 are indirect pointers of different types.</a:t>
            </a:r>
          </a:p>
        </p:txBody>
      </p:sp>
      <p:sp>
        <p:nvSpPr>
          <p:cNvPr id="4" name="Slide Number Placeholder 3"/>
          <p:cNvSpPr>
            <a:spLocks noGrp="1"/>
          </p:cNvSpPr>
          <p:nvPr>
            <p:ph type="sldNum" sz="quarter" idx="10"/>
          </p:nvPr>
        </p:nvSpPr>
        <p:spPr/>
        <p:txBody>
          <a:bodyPr/>
          <a:lstStyle/>
          <a:p>
            <a:fld id="{849A0A36-F84D-437B-B821-CB3EBADC1433}" type="slidenum">
              <a:rPr lang="en-CA" smtClean="0"/>
              <a:t>21</a:t>
            </a:fld>
            <a:endParaRPr lang="en-CA"/>
          </a:p>
        </p:txBody>
      </p:sp>
    </p:spTree>
    <p:extLst>
      <p:ext uri="{BB962C8B-B14F-4D97-AF65-F5344CB8AC3E}">
        <p14:creationId xmlns:p14="http://schemas.microsoft.com/office/powerpoint/2010/main" val="41748394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show </a:t>
            </a:r>
            <a:r>
              <a:rPr lang="en-CA" dirty="0" smtClean="0"/>
              <a:t>an </a:t>
            </a:r>
            <a:r>
              <a:rPr lang="en-CA" dirty="0" smtClean="0"/>
              <a:t>example of building a file-system</a:t>
            </a:r>
            <a:r>
              <a:rPr lang="en-CA" baseline="0" dirty="0" smtClean="0"/>
              <a:t> aware application: a free space display tool </a:t>
            </a:r>
            <a:r>
              <a:rPr lang="en-CA" baseline="0" dirty="0" smtClean="0"/>
              <a:t>that plots </a:t>
            </a:r>
            <a:r>
              <a:rPr lang="en-CA" baseline="0" dirty="0" smtClean="0"/>
              <a:t>a histogram of the sizes of free extents available in a file system image. </a:t>
            </a:r>
            <a:r>
              <a:rPr lang="en-CA" baseline="0" dirty="0" smtClean="0"/>
              <a:t>For this application, we require knowledge of how file system keeps </a:t>
            </a:r>
            <a:r>
              <a:rPr lang="en-CA" dirty="0" smtClean="0"/>
              <a:t>track of block allocation information. The</a:t>
            </a:r>
            <a:r>
              <a:rPr lang="en-CA" baseline="0" dirty="0" smtClean="0"/>
              <a:t> manual approach requires first</a:t>
            </a:r>
            <a:r>
              <a:rPr lang="en-CA" dirty="0" smtClean="0"/>
              <a:t> traversing</a:t>
            </a:r>
            <a:r>
              <a:rPr lang="en-CA" baseline="0" dirty="0" smtClean="0"/>
              <a:t> the file system to access the block allocation information, and then processing this information to obtain the free space extents. In </a:t>
            </a:r>
            <a:r>
              <a:rPr lang="en-CA" baseline="0" dirty="0" err="1" smtClean="0"/>
              <a:t>constrast</a:t>
            </a:r>
            <a:r>
              <a:rPr lang="en-CA" baseline="0" dirty="0" smtClean="0"/>
              <a:t>, the Spiffy library provides the necessary traversal code so that the developer only needs to focus on writing code that processes the block allocation metadata</a:t>
            </a:r>
            <a:r>
              <a:rPr lang="en-CA" baseline="0" dirty="0" smtClean="0"/>
              <a:t>.</a:t>
            </a:r>
          </a:p>
        </p:txBody>
      </p:sp>
      <p:sp>
        <p:nvSpPr>
          <p:cNvPr id="4" name="Slide Number Placeholder 3"/>
          <p:cNvSpPr>
            <a:spLocks noGrp="1"/>
          </p:cNvSpPr>
          <p:nvPr>
            <p:ph type="sldNum" sz="quarter" idx="10"/>
          </p:nvPr>
        </p:nvSpPr>
        <p:spPr/>
        <p:txBody>
          <a:bodyPr/>
          <a:lstStyle/>
          <a:p>
            <a:fld id="{B5B5BF96-4013-477F-9949-176AD53AFF60}" type="slidenum">
              <a:rPr lang="en-CA" smtClean="0"/>
              <a:t>22</a:t>
            </a:fld>
            <a:endParaRPr lang="en-CA"/>
          </a:p>
        </p:txBody>
      </p:sp>
    </p:spTree>
    <p:extLst>
      <p:ext uri="{BB962C8B-B14F-4D97-AF65-F5344CB8AC3E}">
        <p14:creationId xmlns:p14="http://schemas.microsoft.com/office/powerpoint/2010/main" val="395570156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a manually written</a:t>
            </a:r>
            <a:r>
              <a:rPr lang="en-CA" baseline="0" dirty="0" smtClean="0"/>
              <a:t> function that </a:t>
            </a:r>
            <a:r>
              <a:rPr lang="en-CA" baseline="0" dirty="0" smtClean="0"/>
              <a:t>traverses the </a:t>
            </a:r>
            <a:r>
              <a:rPr lang="en-CA" baseline="0" dirty="0" smtClean="0"/>
              <a:t>Ext4 file system to find the bitmaps that contain block allocation information. As you can see, </a:t>
            </a:r>
            <a:r>
              <a:rPr lang="en-CA" baseline="0" dirty="0" smtClean="0"/>
              <a:t>a </a:t>
            </a:r>
            <a:r>
              <a:rPr lang="en-CA" baseline="0" dirty="0" smtClean="0"/>
              <a:t>lot of boilerplate </a:t>
            </a:r>
            <a:r>
              <a:rPr lang="en-CA" baseline="0" dirty="0" smtClean="0"/>
              <a:t>code, highlighted in yellow, is needed.</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23</a:t>
            </a:fld>
            <a:endParaRPr lang="en-CA"/>
          </a:p>
        </p:txBody>
      </p:sp>
    </p:spTree>
    <p:extLst>
      <p:ext uri="{BB962C8B-B14F-4D97-AF65-F5344CB8AC3E}">
        <p14:creationId xmlns:p14="http://schemas.microsoft.com/office/powerpoint/2010/main" val="14051706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dirty="0" smtClean="0"/>
              <a:t>What we want</a:t>
            </a:r>
            <a:r>
              <a:rPr lang="en-CA" baseline="0" dirty="0" smtClean="0"/>
              <a:t> is an easier way to </a:t>
            </a:r>
            <a:r>
              <a:rPr lang="en-CA" baseline="0" dirty="0" smtClean="0"/>
              <a:t>get to the function that processes the block bitmaps, </a:t>
            </a:r>
            <a:r>
              <a:rPr lang="en-CA" baseline="0" dirty="0" smtClean="0"/>
              <a:t>without needing to write all of the code to traverse the file system</a:t>
            </a:r>
            <a:r>
              <a:rPr lang="en-CA" baseline="0" dirty="0" smtClean="0"/>
              <a:t>.</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24</a:t>
            </a:fld>
            <a:endParaRPr lang="en-CA"/>
          </a:p>
        </p:txBody>
      </p:sp>
    </p:spTree>
    <p:extLst>
      <p:ext uri="{BB962C8B-B14F-4D97-AF65-F5344CB8AC3E}">
        <p14:creationId xmlns:p14="http://schemas.microsoft.com/office/powerpoint/2010/main" val="23386600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Also,</a:t>
            </a:r>
            <a:r>
              <a:rPr lang="en-CA" baseline="0" dirty="0" smtClean="0"/>
              <a:t> </a:t>
            </a:r>
            <a:r>
              <a:rPr lang="en-CA" baseline="0" dirty="0" smtClean="0"/>
              <a:t>to fit it on the slide, we have shown this function without any error checks. In practice, these checks are easy to accidentally omit. In that case, any </a:t>
            </a:r>
            <a:r>
              <a:rPr lang="en-CA" baseline="0" dirty="0" smtClean="0"/>
              <a:t>error during traversal, or corruption in the file system, </a:t>
            </a:r>
            <a:r>
              <a:rPr lang="en-CA" baseline="0" dirty="0" smtClean="0"/>
              <a:t>could </a:t>
            </a:r>
            <a:r>
              <a:rPr lang="en-CA" baseline="0" dirty="0" smtClean="0"/>
              <a:t>cause unexpected behavior in the program, including crashes or garbage output.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25</a:t>
            </a:fld>
            <a:endParaRPr lang="en-CA"/>
          </a:p>
        </p:txBody>
      </p:sp>
    </p:spTree>
    <p:extLst>
      <p:ext uri="{BB962C8B-B14F-4D97-AF65-F5344CB8AC3E}">
        <p14:creationId xmlns:p14="http://schemas.microsoft.com/office/powerpoint/2010/main" val="10641245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Spiffy. On line 3, we retrieve the super block through the </a:t>
            </a:r>
            <a:r>
              <a:rPr lang="en-CA" baseline="0" dirty="0" err="1" smtClean="0"/>
              <a:t>fetch_super</a:t>
            </a:r>
            <a:r>
              <a:rPr lang="en-CA" baseline="0" dirty="0" smtClean="0"/>
              <a:t> function. </a:t>
            </a:r>
            <a:r>
              <a:rPr lang="en-CA" baseline="0" dirty="0" smtClean="0"/>
              <a:t>If the </a:t>
            </a:r>
            <a:r>
              <a:rPr lang="en-CA" baseline="0" dirty="0" smtClean="0"/>
              <a:t>super block is corrupted, the function will return null.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26</a:t>
            </a:fld>
            <a:endParaRPr lang="en-CA"/>
          </a:p>
        </p:txBody>
      </p:sp>
    </p:spTree>
    <p:extLst>
      <p:ext uri="{BB962C8B-B14F-4D97-AF65-F5344CB8AC3E}">
        <p14:creationId xmlns:p14="http://schemas.microsoft.com/office/powerpoint/2010/main" val="328771245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Next</a:t>
            </a:r>
            <a:r>
              <a:rPr lang="en-CA" baseline="0" dirty="0" smtClean="0"/>
              <a:t>, on line 7, invoking the </a:t>
            </a:r>
            <a:r>
              <a:rPr lang="en-CA" baseline="0" dirty="0" err="1" smtClean="0"/>
              <a:t>process_by_type</a:t>
            </a:r>
            <a:r>
              <a:rPr lang="en-CA" baseline="0" dirty="0" smtClean="0"/>
              <a:t> function allows processing </a:t>
            </a:r>
            <a:r>
              <a:rPr lang="en-CA" baseline="0" dirty="0" smtClean="0"/>
              <a:t>all </a:t>
            </a:r>
            <a:r>
              <a:rPr lang="en-CA" baseline="0" dirty="0" smtClean="0"/>
              <a:t>of the block bitmaps reachable from the super block, through </a:t>
            </a:r>
            <a:r>
              <a:rPr lang="en-CA" baseline="0" dirty="0" smtClean="0"/>
              <a:t>its annotated pointers. This </a:t>
            </a:r>
            <a:r>
              <a:rPr lang="en-CA" baseline="0" dirty="0" smtClean="0"/>
              <a:t>avoids the need to write any traversal code manually, so the developer can focus on just the code that processes the block </a:t>
            </a:r>
            <a:r>
              <a:rPr lang="en-CA" baseline="0" dirty="0" smtClean="0"/>
              <a:t>bitmaps.</a:t>
            </a:r>
          </a:p>
        </p:txBody>
      </p:sp>
      <p:sp>
        <p:nvSpPr>
          <p:cNvPr id="4" name="Slide Number Placeholder 3"/>
          <p:cNvSpPr>
            <a:spLocks noGrp="1"/>
          </p:cNvSpPr>
          <p:nvPr>
            <p:ph type="sldNum" sz="quarter" idx="10"/>
          </p:nvPr>
        </p:nvSpPr>
        <p:spPr/>
        <p:txBody>
          <a:bodyPr/>
          <a:lstStyle/>
          <a:p>
            <a:fld id="{B5B5BF96-4013-477F-9949-176AD53AFF60}" type="slidenum">
              <a:rPr lang="en-CA" smtClean="0"/>
              <a:t>27</a:t>
            </a:fld>
            <a:endParaRPr lang="en-CA"/>
          </a:p>
        </p:txBody>
      </p:sp>
    </p:spTree>
    <p:extLst>
      <p:ext uri="{BB962C8B-B14F-4D97-AF65-F5344CB8AC3E}">
        <p14:creationId xmlns:p14="http://schemas.microsoft.com/office/powerpoint/2010/main" val="20947934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a:t>
            </a:r>
            <a:r>
              <a:rPr lang="en-CA" baseline="0" dirty="0" smtClean="0"/>
              <a:t>you can see, there are two advantages to using the Spiffy library. First, it simplifies file system traversal by reducing the need to know the format details. Second, the library parsing routines </a:t>
            </a:r>
            <a:r>
              <a:rPr lang="en-CA" baseline="0" dirty="0" smtClean="0"/>
              <a:t>include automatically generated </a:t>
            </a:r>
            <a:r>
              <a:rPr lang="en-CA" baseline="0" dirty="0" smtClean="0"/>
              <a:t>sanity checks to help detect corruption</a:t>
            </a:r>
            <a:r>
              <a:rPr lang="en-CA" baseline="0" dirty="0" smtClean="0"/>
              <a:t>. </a:t>
            </a:r>
          </a:p>
        </p:txBody>
      </p:sp>
      <p:sp>
        <p:nvSpPr>
          <p:cNvPr id="4" name="Slide Number Placeholder 3"/>
          <p:cNvSpPr>
            <a:spLocks noGrp="1"/>
          </p:cNvSpPr>
          <p:nvPr>
            <p:ph type="sldNum" sz="quarter" idx="10"/>
          </p:nvPr>
        </p:nvSpPr>
        <p:spPr/>
        <p:txBody>
          <a:bodyPr/>
          <a:lstStyle/>
          <a:p>
            <a:fld id="{B5B5BF96-4013-477F-9949-176AD53AFF60}" type="slidenum">
              <a:rPr lang="en-CA" smtClean="0"/>
              <a:t>28</a:t>
            </a:fld>
            <a:endParaRPr lang="en-CA"/>
          </a:p>
        </p:txBody>
      </p:sp>
    </p:spTree>
    <p:extLst>
      <p:ext uri="{BB962C8B-B14F-4D97-AF65-F5344CB8AC3E}">
        <p14:creationId xmlns:p14="http://schemas.microsoft.com/office/powerpoint/2010/main" val="394504528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t>
            </a:r>
            <a:r>
              <a:rPr lang="en-CA" baseline="0" dirty="0" smtClean="0"/>
              <a:t>Spiffy application for </a:t>
            </a:r>
            <a:r>
              <a:rPr lang="en-CA" baseline="0" dirty="0" err="1" smtClean="0"/>
              <a:t>btrfs</a:t>
            </a:r>
            <a:r>
              <a:rPr lang="en-CA" baseline="0" dirty="0" smtClean="0"/>
              <a:t>. The main change is that </a:t>
            </a:r>
            <a:r>
              <a:rPr lang="en-CA" baseline="0" dirty="0" err="1" smtClean="0"/>
              <a:t>process_by_type</a:t>
            </a:r>
            <a:r>
              <a:rPr lang="en-CA" baseline="0" dirty="0" smtClean="0"/>
              <a:t> takes a different structure type argument, an extent item, and a processing function for an extent item. The programmer can thus focus on just processing the </a:t>
            </a:r>
            <a:r>
              <a:rPr lang="en-CA" baseline="0" dirty="0" err="1" smtClean="0"/>
              <a:t>btrfs</a:t>
            </a:r>
            <a:r>
              <a:rPr lang="en-CA" baseline="0" dirty="0" smtClean="0"/>
              <a:t> block allocation information.</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29</a:t>
            </a:fld>
            <a:endParaRPr lang="en-CA"/>
          </a:p>
        </p:txBody>
      </p:sp>
    </p:spTree>
    <p:extLst>
      <p:ext uri="{BB962C8B-B14F-4D97-AF65-F5344CB8AC3E}">
        <p14:creationId xmlns:p14="http://schemas.microsoft.com/office/powerpoint/2010/main" val="17380350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talked about the free space</a:t>
            </a:r>
            <a:r>
              <a:rPr lang="en-CA" baseline="0" dirty="0" smtClean="0"/>
              <a:t> tool. Now, I am going to describe some other tools that we have developed using Spiffy.</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30</a:t>
            </a:fld>
            <a:endParaRPr lang="en-CA"/>
          </a:p>
        </p:txBody>
      </p:sp>
    </p:spTree>
    <p:extLst>
      <p:ext uri="{BB962C8B-B14F-4D97-AF65-F5344CB8AC3E}">
        <p14:creationId xmlns:p14="http://schemas.microsoft.com/office/powerpoint/2010/main" val="28822580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type-specific corruptor allows us to specify a field in a metadata structure and corrupt it on disk. This tool works on all our annotated file systems. It enables us to test the robustness of other tools to check that they are able to correctly handle file system corruption. This tool has 455 lines of generic code, and less than 30 lines of file-system specific bootstrap code for each file system.</a:t>
            </a:r>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ran a series of corruption experiments using this type-specific corruptor tool and discovered crash bugs in existing tools such as dumpe2fs for Ext4 and dump.f2fs. Incidentally, none of these bugs were triggered in 5000 random corruption experiments, showing the usefulness of the type-specific corruptor.</a:t>
            </a:r>
          </a:p>
        </p:txBody>
      </p:sp>
      <p:sp>
        <p:nvSpPr>
          <p:cNvPr id="4" name="Slide Number Placeholder 3"/>
          <p:cNvSpPr>
            <a:spLocks noGrp="1"/>
          </p:cNvSpPr>
          <p:nvPr>
            <p:ph type="sldNum" sz="quarter" idx="10"/>
          </p:nvPr>
        </p:nvSpPr>
        <p:spPr/>
        <p:txBody>
          <a:bodyPr/>
          <a:lstStyle/>
          <a:p>
            <a:fld id="{B5B5BF96-4013-477F-9949-176AD53AFF60}" type="slidenum">
              <a:rPr lang="en-CA" smtClean="0"/>
              <a:t>31</a:t>
            </a:fld>
            <a:endParaRPr lang="en-CA"/>
          </a:p>
        </p:txBody>
      </p:sp>
    </p:spTree>
    <p:extLst>
      <p:ext uri="{BB962C8B-B14F-4D97-AF65-F5344CB8AC3E}">
        <p14:creationId xmlns:p14="http://schemas.microsoft.com/office/powerpoint/2010/main" val="169166309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have also built a file system conversion tool that allows converting from one file system to another without moving any data blocks unless they would be overwritten by metadata that must be placed in a fixed location in the destination file system.</a:t>
            </a:r>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Currently, the tools converts from Ext4 file systems to F2FS file systems. The generic code in this application has 504 lines. We read the Ext4 metadata into memory with 218 lines of code, and then generate corresponding F2Fs metadata with 1760 lines of code. Most of these lines are needed to initialize F2FS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32</a:t>
            </a:fld>
            <a:endParaRPr lang="en-CA"/>
          </a:p>
        </p:txBody>
      </p:sp>
    </p:spTree>
    <p:extLst>
      <p:ext uri="{BB962C8B-B14F-4D97-AF65-F5344CB8AC3E}">
        <p14:creationId xmlns:p14="http://schemas.microsoft.com/office/powerpoint/2010/main" val="4698671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a:t>
            </a:r>
            <a:r>
              <a:rPr lang="en-CA" dirty="0" smtClean="0"/>
              <a:t>evaluate</a:t>
            </a:r>
            <a:r>
              <a:rPr lang="en-CA" baseline="0" dirty="0" smtClean="0"/>
              <a:t> our conversion tool against a copy-based convertor. The </a:t>
            </a:r>
            <a:r>
              <a:rPr lang="en-CA" baseline="0" dirty="0" smtClean="0"/>
              <a:t>copy converter copies </a:t>
            </a:r>
            <a:r>
              <a:rPr lang="en-CA" baseline="0" dirty="0" smtClean="0"/>
              <a:t>file system contents to another local </a:t>
            </a:r>
            <a:r>
              <a:rPr lang="en-CA" baseline="0" dirty="0" smtClean="0"/>
              <a:t>disk, </a:t>
            </a:r>
            <a:r>
              <a:rPr lang="en-CA" baseline="0" dirty="0" smtClean="0"/>
              <a:t>reformats the source disk, and then copies everything back</a:t>
            </a:r>
            <a:r>
              <a:rPr lang="en-CA" baseline="0" dirty="0" smtClean="0"/>
              <a:t>. </a:t>
            </a:r>
            <a:r>
              <a:rPr lang="en-CA" baseline="0" dirty="0" smtClean="0"/>
              <a:t>This graph shows the time to convert a file system with 16GB of data, while varying the number of files in the file system. With fewer files in the file system, less metadata needs to be converted, which reduces the conversion time for our tool. The copy convertor performance is dominated by the size of the file system data, and doesn’t vary much for different numbers of files. In this log graph, we </a:t>
            </a:r>
            <a:r>
              <a:rPr lang="en-CA" baseline="0" dirty="0" smtClean="0"/>
              <a:t>can see that the copy converter is </a:t>
            </a:r>
            <a:r>
              <a:rPr lang="en-CA" baseline="0" dirty="0" smtClean="0"/>
              <a:t>30-50 </a:t>
            </a:r>
            <a:r>
              <a:rPr lang="en-CA" baseline="0" dirty="0" smtClean="0"/>
              <a:t>times slower than the </a:t>
            </a:r>
            <a:r>
              <a:rPr lang="en-CA" baseline="0" dirty="0" smtClean="0"/>
              <a:t>Spiffy converter.</a:t>
            </a:r>
          </a:p>
        </p:txBody>
      </p:sp>
      <p:sp>
        <p:nvSpPr>
          <p:cNvPr id="4" name="Slide Number Placeholder 3"/>
          <p:cNvSpPr>
            <a:spLocks noGrp="1"/>
          </p:cNvSpPr>
          <p:nvPr>
            <p:ph type="sldNum" sz="quarter" idx="10"/>
          </p:nvPr>
        </p:nvSpPr>
        <p:spPr/>
        <p:txBody>
          <a:bodyPr/>
          <a:lstStyle/>
          <a:p>
            <a:fld id="{849A0A36-F84D-437B-B821-CB3EBADC1433}" type="slidenum">
              <a:rPr lang="en-CA" smtClean="0"/>
              <a:t>33</a:t>
            </a:fld>
            <a:endParaRPr lang="en-CA"/>
          </a:p>
        </p:txBody>
      </p:sp>
    </p:spTree>
    <p:extLst>
      <p:ext uri="{BB962C8B-B14F-4D97-AF65-F5344CB8AC3E}">
        <p14:creationId xmlns:p14="http://schemas.microsoft.com/office/powerpoint/2010/main" val="192972576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also implemented a file-system aware</a:t>
            </a:r>
            <a:r>
              <a:rPr lang="en-CA" baseline="0" dirty="0" smtClean="0"/>
              <a:t> block layer caching framework that s</a:t>
            </a:r>
            <a:r>
              <a:rPr lang="en-CA" dirty="0" smtClean="0"/>
              <a:t>upports a rich set of caching policies.</a:t>
            </a:r>
            <a:r>
              <a:rPr lang="en-CA" baseline="0" dirty="0" smtClean="0"/>
              <a:t> These policy </a:t>
            </a:r>
            <a:r>
              <a:rPr lang="en-CA" dirty="0" smtClean="0"/>
              <a:t>require file-system specific information,</a:t>
            </a:r>
            <a:r>
              <a:rPr lang="en-CA" baseline="0" dirty="0" smtClean="0"/>
              <a:t> e.g., to c</a:t>
            </a:r>
            <a:r>
              <a:rPr lang="en-CA" dirty="0" smtClean="0"/>
              <a:t>ache file system metadata,</a:t>
            </a:r>
            <a:r>
              <a:rPr lang="en-CA" baseline="0" dirty="0" smtClean="0"/>
              <a:t> we need to </a:t>
            </a:r>
            <a:r>
              <a:rPr lang="en-CA" dirty="0" smtClean="0"/>
              <a:t>know</a:t>
            </a:r>
            <a:r>
              <a:rPr lang="en-CA" baseline="0" dirty="0" smtClean="0"/>
              <a:t> </a:t>
            </a:r>
            <a:r>
              <a:rPr lang="en-CA" dirty="0" smtClean="0"/>
              <a:t>whether a block is data or metadata block. Similarly, to cache small files, or to cache a specific user’s files,</a:t>
            </a:r>
            <a:r>
              <a:rPr lang="en-CA" baseline="0" dirty="0" smtClean="0"/>
              <a:t> we need to </a:t>
            </a:r>
            <a:r>
              <a:rPr lang="en-CA" dirty="0" smtClean="0"/>
              <a:t>know</a:t>
            </a:r>
            <a:r>
              <a:rPr lang="en-CA" baseline="0" dirty="0" smtClean="0"/>
              <a:t> </a:t>
            </a:r>
            <a:r>
              <a:rPr lang="en-CA" dirty="0" smtClean="0"/>
              <a:t>the file to which a block belongs, and the corresponding</a:t>
            </a:r>
            <a:r>
              <a:rPr lang="en-CA" baseline="0" dirty="0" smtClean="0"/>
              <a:t> </a:t>
            </a:r>
            <a:r>
              <a:rPr lang="en-CA" dirty="0" smtClean="0"/>
              <a:t>file’s size or owner.</a:t>
            </a:r>
            <a:r>
              <a:rPr lang="en-CA" baseline="0" dirty="0" smtClean="0"/>
              <a:t> Our framework re</a:t>
            </a:r>
            <a:r>
              <a:rPr lang="en-CA" dirty="0" smtClean="0"/>
              <a:t>quires no changes to the file system, and works for multiple file systems!</a:t>
            </a:r>
            <a:r>
              <a:rPr lang="en-CA" baseline="0" dirty="0" smtClean="0"/>
              <a:t> </a:t>
            </a:r>
            <a:r>
              <a:rPr lang="en-CA" dirty="0" smtClean="0"/>
              <a:t>It identifies and interprets blocks as</a:t>
            </a:r>
            <a:r>
              <a:rPr lang="en-CA" baseline="0" dirty="0" smtClean="0"/>
              <a:t> they </a:t>
            </a:r>
            <a:r>
              <a:rPr lang="en-CA" dirty="0" smtClean="0"/>
              <a:t>are read or written at the block layer. It uses the </a:t>
            </a:r>
            <a:r>
              <a:rPr lang="en-CA" dirty="0" err="1" smtClean="0"/>
              <a:t>Spiify</a:t>
            </a:r>
            <a:r>
              <a:rPr lang="en-CA" dirty="0" smtClean="0"/>
              <a:t> library to identify the types of blocks, and for interpreting their contents to extract file-system specific information. Our</a:t>
            </a:r>
            <a:r>
              <a:rPr lang="en-CA" baseline="0" dirty="0" smtClean="0"/>
              <a:t> use of Spiffy allows us to implement our file-system aware cache with </a:t>
            </a:r>
            <a:r>
              <a:rPr lang="en-CA" dirty="0" smtClean="0"/>
              <a:t>little file-system specific code.</a:t>
            </a:r>
          </a:p>
          <a:p>
            <a:endParaRPr lang="en-CA" dirty="0" smtClean="0"/>
          </a:p>
          <a:p>
            <a:r>
              <a:rPr lang="en-CA" dirty="0" smtClean="0"/>
              <a:t>Roughly 5% of the</a:t>
            </a:r>
            <a:r>
              <a:rPr lang="en-CA" baseline="0" dirty="0" smtClean="0"/>
              <a:t> generic interpretation and caching policy code.</a:t>
            </a:r>
            <a:endParaRPr lang="en-CA" dirty="0" smtClean="0"/>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However, with Spiffy, we have built a runtime interpretation framework that can identify and interpret metadata at the block layer without modifying the file system. Most of the runtime framework is generic, and little file-system specific code is required to support a rich set of caching policies. Using this framework, we built a block layer cache that preferentially caches files belonging to priority users. Again, you can find more details of this work in the paper.</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34</a:t>
            </a:fld>
            <a:endParaRPr lang="en-CA"/>
          </a:p>
        </p:txBody>
      </p:sp>
    </p:spTree>
    <p:extLst>
      <p:ext uri="{BB962C8B-B14F-4D97-AF65-F5344CB8AC3E}">
        <p14:creationId xmlns:p14="http://schemas.microsoft.com/office/powerpoint/2010/main" val="187901492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conclusion,</a:t>
            </a:r>
            <a:r>
              <a:rPr lang="en-CA" baseline="0" dirty="0" smtClean="0"/>
              <a:t> we have presented the Spiffy framework. We provide an annotation language for specifying file system format, </a:t>
            </a:r>
            <a:r>
              <a:rPr lang="en-CA" baseline="0" dirty="0" smtClean="0"/>
              <a:t>which enables generating a library for traversing file system metadata. </a:t>
            </a:r>
          </a:p>
          <a:p>
            <a:endParaRPr lang="en-CA" baseline="0" dirty="0" smtClean="0"/>
          </a:p>
          <a:p>
            <a:r>
              <a:rPr lang="en-CA" baseline="0" dirty="0" smtClean="0"/>
              <a:t>The Spiffy library simplifies </a:t>
            </a:r>
            <a:r>
              <a:rPr lang="en-CA" baseline="0" dirty="0" smtClean="0"/>
              <a:t>development of file-system aware applications by reducing the need to write file-system specific code and it enables code reuse across file </a:t>
            </a:r>
            <a:r>
              <a:rPr lang="en-CA" baseline="0" dirty="0" smtClean="0"/>
              <a:t>systems.</a:t>
            </a:r>
          </a:p>
          <a:p>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It also helps developers write robust applications by providing type-safe parsing and serialization of metadata, </a:t>
            </a:r>
            <a:r>
              <a:rPr lang="en-CA" baseline="0" smtClean="0"/>
              <a:t>and helping to </a:t>
            </a:r>
            <a:r>
              <a:rPr lang="en-CA" baseline="0" dirty="0" smtClean="0"/>
              <a:t>detect file system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35</a:t>
            </a:fld>
            <a:endParaRPr lang="en-CA"/>
          </a:p>
        </p:txBody>
      </p:sp>
    </p:spTree>
    <p:extLst>
      <p:ext uri="{BB962C8B-B14F-4D97-AF65-F5344CB8AC3E}">
        <p14:creationId xmlns:p14="http://schemas.microsoft.com/office/powerpoint/2010/main" val="150789731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evaluated the programming effort for building Spiffy applications, and show that for read</a:t>
            </a:r>
            <a:r>
              <a:rPr lang="en-CA" baseline="0" dirty="0" smtClean="0"/>
              <a:t>-only applications, for both online and offline, we can drastically reduce the amount of file-system specific code that needs to be written. In most cases, the file-system specific code is merely 10% or fewer compared to the generic application code. For read-write applications, however, since file-system specific metadata structures need to be initialized, there is unfortunately, very little saving, as is the case for the conversion tool. Another exception is the free space tool for F2FS. Because its block allocation information is very complex, the amount of file-system specific code is much more compared to the other two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36</a:t>
            </a:fld>
            <a:endParaRPr lang="en-CA"/>
          </a:p>
        </p:txBody>
      </p:sp>
    </p:spTree>
    <p:extLst>
      <p:ext uri="{BB962C8B-B14F-4D97-AF65-F5344CB8AC3E}">
        <p14:creationId xmlns:p14="http://schemas.microsoft.com/office/powerpoint/2010/main" val="56499183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Comparison of output or result needs</a:t>
            </a:r>
            <a:r>
              <a:rPr lang="en-CA" baseline="0" dirty="0" smtClean="0"/>
              <a:t> to </a:t>
            </a:r>
            <a:r>
              <a:rPr lang="en-CA" baseline="0" smtClean="0"/>
              <a:t>be emphasize</a:t>
            </a:r>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37</a:t>
            </a:fld>
            <a:endParaRPr lang="en-CA"/>
          </a:p>
        </p:txBody>
      </p:sp>
    </p:spTree>
    <p:extLst>
      <p:ext uri="{BB962C8B-B14F-4D97-AF65-F5344CB8AC3E}">
        <p14:creationId xmlns:p14="http://schemas.microsoft.com/office/powerpoint/2010/main" val="42252104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show an example of the ext4 super block. This structure is annotated with FSSUPER to denote that it’s the super block for Ext4. Inside the annotation is a list of keyword arguments. The location argument specifies that the Ext4 super block is located a thousand and 24 bytes away from the start of the partition.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40</a:t>
            </a:fld>
            <a:endParaRPr lang="en-CA"/>
          </a:p>
        </p:txBody>
      </p:sp>
    </p:spTree>
    <p:extLst>
      <p:ext uri="{BB962C8B-B14F-4D97-AF65-F5344CB8AC3E}">
        <p14:creationId xmlns:p14="http://schemas.microsoft.com/office/powerpoint/2010/main" val="3932572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lumMod val="90000"/>
            <a:lumOff val="10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84211" y="685800"/>
            <a:ext cx="9129091" cy="2167468"/>
          </a:xfrm>
        </p:spPr>
        <p:txBody>
          <a:bodyPr anchor="b">
            <a:normAutofit/>
          </a:bodyPr>
          <a:lstStyle>
            <a:lvl1pPr algn="l">
              <a:defRPr sz="5400" cap="none" baseline="0">
                <a:solidFill>
                  <a:schemeClr val="tx1"/>
                </a:solidFill>
                <a:effectLst/>
              </a:defRPr>
            </a:lvl1pPr>
          </a:lstStyle>
          <a:p>
            <a:r>
              <a:rPr lang="en-US" dirty="0" smtClean="0"/>
              <a:t>Click to edit Master title style</a:t>
            </a:r>
            <a:endParaRPr lang="en-US" dirty="0"/>
          </a:p>
        </p:txBody>
      </p:sp>
      <p:sp>
        <p:nvSpPr>
          <p:cNvPr id="3" name="Subtitle 2"/>
          <p:cNvSpPr>
            <a:spLocks noGrp="1"/>
          </p:cNvSpPr>
          <p:nvPr>
            <p:ph type="subTitle" idx="1"/>
          </p:nvPr>
        </p:nvSpPr>
        <p:spPr>
          <a:xfrm>
            <a:off x="684212" y="3037337"/>
            <a:ext cx="7694630" cy="2753864"/>
          </a:xfrm>
        </p:spPr>
        <p:txBody>
          <a:bodyPr anchor="t">
            <a:normAutofit/>
          </a:bodyPr>
          <a:lstStyle>
            <a:lvl1pPr marL="0" indent="0" algn="l">
              <a:buNone/>
              <a:defRPr sz="2400" b="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smtClean="0"/>
              <a:t>Click to edit Master subtitle style</a:t>
            </a:r>
            <a:endParaRPr lang="en-US" dirty="0"/>
          </a:p>
        </p:txBody>
      </p:sp>
      <p:sp>
        <p:nvSpPr>
          <p:cNvPr id="4" name="Date Placeholder 3"/>
          <p:cNvSpPr>
            <a:spLocks noGrp="1"/>
          </p:cNvSpPr>
          <p:nvPr>
            <p:ph type="dt" sz="half" idx="10"/>
          </p:nvPr>
        </p:nvSpPr>
        <p:spPr/>
        <p:txBody>
          <a:bodyPr/>
          <a:lstStyle/>
          <a:p>
            <a:fld id="{0145D206-3748-4927-8C33-DF34FC1F64AB}"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grpSp>
        <p:nvGrpSpPr>
          <p:cNvPr id="7" name="Group 6"/>
          <p:cNvGrpSpPr/>
          <p:nvPr userDrawn="1"/>
        </p:nvGrpSpPr>
        <p:grpSpPr>
          <a:xfrm rot="16200000" flipH="1" flipV="1">
            <a:off x="9096637" y="3762638"/>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722710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4000" b="1" cap="none" baseline="0"/>
            </a:lvl1pPr>
          </a:lstStyle>
          <a:p>
            <a:r>
              <a:rPr lang="en-US" dirty="0" smtClean="0"/>
              <a:t>Click to edit Master title style</a:t>
            </a:r>
            <a:endParaRPr lang="en-US" dirty="0"/>
          </a:p>
        </p:txBody>
      </p:sp>
      <p:sp>
        <p:nvSpPr>
          <p:cNvPr id="3" name="Content Placeholder 2"/>
          <p:cNvSpPr>
            <a:spLocks noGrp="1"/>
          </p:cNvSpPr>
          <p:nvPr>
            <p:ph idx="1"/>
          </p:nvPr>
        </p:nvSpPr>
        <p:spPr>
          <a:xfrm>
            <a:off x="684211" y="1515358"/>
            <a:ext cx="10285797" cy="4656842"/>
          </a:xfrm>
        </p:spPr>
        <p:txBody>
          <a:bodyPr anchor="t">
            <a:noAutofit/>
          </a:bodyPr>
          <a:lstStyle>
            <a:lvl1pPr>
              <a:defRPr sz="2400"/>
            </a:lvl1pPr>
            <a:lvl2pPr>
              <a:defRPr sz="2000"/>
            </a:lvl2pPr>
            <a:lvl3pPr>
              <a:defRPr sz="1800"/>
            </a:lvl3pPr>
            <a:lvl4pPr>
              <a:defRPr sz="1600"/>
            </a:lvl4pPr>
            <a:lvl5pPr>
              <a:defRPr sz="16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D6AD7D9F-39FD-4B95-A4F0-514D658B152C}" type="datetime1">
              <a:rPr lang="en-CA" smtClean="0"/>
              <a:t>2018-02-09</a:t>
            </a:fld>
            <a:endParaRPr lang="en-CA"/>
          </a:p>
        </p:txBody>
      </p:sp>
      <p:sp>
        <p:nvSpPr>
          <p:cNvPr id="5" name="Footer Placeholder 4"/>
          <p:cNvSpPr>
            <a:spLocks noGrp="1"/>
          </p:cNvSpPr>
          <p:nvPr>
            <p:ph type="ftr" sz="quarter" idx="11"/>
          </p:nvPr>
        </p:nvSpPr>
        <p:spPr>
          <a:xfrm>
            <a:off x="684212" y="6172200"/>
            <a:ext cx="10285796" cy="365125"/>
          </a:xfrm>
        </p:spPr>
        <p:txBody>
          <a:bodyPr/>
          <a:lstStyle>
            <a:lvl1pPr>
              <a:defRPr sz="1200"/>
            </a:lvl1pPr>
          </a:lstStyle>
          <a:p>
            <a:endParaRPr lang="en-CA" dirty="0"/>
          </a:p>
        </p:txBody>
      </p:sp>
      <p:sp>
        <p:nvSpPr>
          <p:cNvPr id="6" name="Slide Number Placeholder 5"/>
          <p:cNvSpPr>
            <a:spLocks noGrp="1"/>
          </p:cNvSpPr>
          <p:nvPr>
            <p:ph type="sldNum" sz="quarter" idx="12"/>
          </p:nvPr>
        </p:nvSpPr>
        <p:spPr/>
        <p:txBody>
          <a:bodyPr/>
          <a:lstStyle>
            <a:lvl1pPr>
              <a:defRPr sz="2000"/>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682899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7D257ED4-7149-4100-B966-397E56D6DA55}"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338094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84211" y="1515361"/>
            <a:ext cx="5123089" cy="4656839"/>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Content Placeholder 3"/>
          <p:cNvSpPr>
            <a:spLocks noGrp="1"/>
          </p:cNvSpPr>
          <p:nvPr>
            <p:ph sz="half" idx="2"/>
          </p:nvPr>
        </p:nvSpPr>
        <p:spPr>
          <a:xfrm>
            <a:off x="5808133" y="1515362"/>
            <a:ext cx="4934479" cy="4656838"/>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Date Placeholder 4"/>
          <p:cNvSpPr>
            <a:spLocks noGrp="1"/>
          </p:cNvSpPr>
          <p:nvPr>
            <p:ph type="dt" sz="half" idx="10"/>
          </p:nvPr>
        </p:nvSpPr>
        <p:spPr/>
        <p:txBody>
          <a:bodyPr/>
          <a:lstStyle/>
          <a:p>
            <a:fld id="{9ACE3152-893D-476F-92C8-DC87664CFA37}" type="datetime1">
              <a:rPr lang="en-CA" smtClean="0"/>
              <a:t>2018-02-09</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5416670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smtClean="0"/>
              <a:t>Click to edit Master title style</a:t>
            </a:r>
            <a:endParaRPr lang="en-US" dirty="0"/>
          </a:p>
        </p:txBody>
      </p:sp>
      <p:sp>
        <p:nvSpPr>
          <p:cNvPr id="3" name="Text Placeholder 2"/>
          <p:cNvSpPr>
            <a:spLocks noGrp="1"/>
          </p:cNvSpPr>
          <p:nvPr>
            <p:ph type="body" idx="1"/>
          </p:nvPr>
        </p:nvSpPr>
        <p:spPr>
          <a:xfrm>
            <a:off x="972080" y="1515357"/>
            <a:ext cx="4649787"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4" name="Content Placeholder 3"/>
          <p:cNvSpPr>
            <a:spLocks noGrp="1"/>
          </p:cNvSpPr>
          <p:nvPr>
            <p:ph sz="half" idx="2"/>
          </p:nvPr>
        </p:nvSpPr>
        <p:spPr>
          <a:xfrm>
            <a:off x="684211" y="2100086"/>
            <a:ext cx="4937655"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ext Placeholder 4"/>
          <p:cNvSpPr>
            <a:spLocks noGrp="1"/>
          </p:cNvSpPr>
          <p:nvPr>
            <p:ph type="body" sz="quarter" idx="3"/>
          </p:nvPr>
        </p:nvSpPr>
        <p:spPr>
          <a:xfrm>
            <a:off x="6035939" y="1523824"/>
            <a:ext cx="4665134"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6" name="Content Placeholder 5"/>
          <p:cNvSpPr>
            <a:spLocks noGrp="1"/>
          </p:cNvSpPr>
          <p:nvPr>
            <p:ph sz="quarter" idx="4"/>
          </p:nvPr>
        </p:nvSpPr>
        <p:spPr>
          <a:xfrm>
            <a:off x="5763418" y="2100086"/>
            <a:ext cx="4929188"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7" name="Date Placeholder 6"/>
          <p:cNvSpPr>
            <a:spLocks noGrp="1"/>
          </p:cNvSpPr>
          <p:nvPr>
            <p:ph type="dt" sz="half" idx="10"/>
          </p:nvPr>
        </p:nvSpPr>
        <p:spPr/>
        <p:txBody>
          <a:bodyPr/>
          <a:lstStyle/>
          <a:p>
            <a:fld id="{CB2930E9-C17A-4D90-BAE8-42423BBE919E}" type="datetime1">
              <a:rPr lang="en-CA" smtClean="0"/>
              <a:t>2018-02-09</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69604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32659AD7-8F94-4BFD-9315-264212F1BDBC}" type="datetime1">
              <a:rPr lang="en-CA" smtClean="0"/>
              <a:t>2018-02-09</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9293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852F67-5290-4349-8ADA-9B77C8B30CA1}" type="datetime1">
              <a:rPr lang="en-CA" smtClean="0"/>
              <a:t>2018-02-09</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35750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AA9F9A6-54E7-4285-928E-6A5CE63E658D}" type="datetime1">
              <a:rPr lang="en-CA" smtClean="0"/>
              <a:t>2018-02-09</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604949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A9DADFC-E42D-4E18-8E7A-1F87E4DC64CF}" type="datetime1">
              <a:rPr lang="en-CA" smtClean="0"/>
              <a:t>2018-02-09</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355103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Date Placeholder 2"/>
          <p:cNvSpPr>
            <a:spLocks noGrp="1"/>
          </p:cNvSpPr>
          <p:nvPr>
            <p:ph type="dt" sz="half" idx="10"/>
          </p:nvPr>
        </p:nvSpPr>
        <p:spPr/>
        <p:txBody>
          <a:bodyPr/>
          <a:lstStyle/>
          <a:p>
            <a:fld id="{C89DCB4F-0D89-4D46-BA02-4EEC06F0D222}" type="datetime1">
              <a:rPr lang="en-CA" smtClean="0"/>
              <a:t>2018-02-09</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03295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2696F7-A71E-484D-AC3A-CE094204994B}"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4989586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F2026A3-D9E4-42EE-8898-5602D67646A6}"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7867062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82851CE-B33E-4D8E-B913-47C489FB1326}"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8685798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0249205-445A-4022-8550-E0423D1698F6}"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2530154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928CFC7-231B-411E-A147-D21C0786264A}"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9026641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E4A103E-C7C6-4893-8576-55DC8ED846C7}"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470361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79FAEEE-621B-4F9D-B0C9-9282EED4D31D}"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9914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7" name="Group 6"/>
          <p:cNvGrpSpPr/>
          <p:nvPr/>
        </p:nvGrpSpPr>
        <p:grpSpPr>
          <a:xfrm rot="16200000">
            <a:off x="9093845" y="-109806"/>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170"/>
            <a:ext cx="8534400" cy="1507067"/>
          </a:xfrm>
          <a:prstGeom prst="rect">
            <a:avLst/>
          </a:prstGeom>
          <a:effectLst/>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684211" y="1515358"/>
            <a:ext cx="10285797" cy="4656841"/>
          </a:xfrm>
          <a:prstGeom prst="rect">
            <a:avLst/>
          </a:prstGeom>
        </p:spPr>
        <p:txBody>
          <a:bodyPr vert="horz" lIns="91440" tIns="45720" rIns="91440" bIns="45720" rtlCol="0"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1"/>
                </a:solidFill>
                <a:effectLst/>
                <a:latin typeface="+mn-lt"/>
              </a:defRPr>
            </a:lvl1pPr>
          </a:lstStyle>
          <a:p>
            <a:fld id="{1046A6BF-9417-477F-B83E-822B9F56EF48}" type="datetime1">
              <a:rPr lang="en-CA" smtClean="0"/>
              <a:t>2018-02-09</a:t>
            </a:fld>
            <a:endParaRPr lang="en-CA" dirty="0"/>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1"/>
                </a:solidFill>
                <a:effectLst/>
                <a:latin typeface="+mn-lt"/>
              </a:defRPr>
            </a:lvl1pPr>
          </a:lstStyle>
          <a:p>
            <a:endParaRPr lang="en-CA" dirty="0"/>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2000" b="0" i="0">
                <a:solidFill>
                  <a:schemeClr val="bg1"/>
                </a:solidFill>
                <a:effectLst/>
                <a:latin typeface="+mn-lt"/>
              </a:defRPr>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20538113"/>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hf hdr="0" ftr="0" dt="0"/>
  <p:txStyles>
    <p:titleStyle>
      <a:lvl1pPr algn="l" defTabSz="457200" rtl="0" eaLnBrk="1" latinLnBrk="0" hangingPunct="1">
        <a:spcBef>
          <a:spcPct val="0"/>
        </a:spcBef>
        <a:buNone/>
        <a:defRPr lang="en-US" sz="4000" b="1" kern="1200" cap="none" baseline="0" dirty="0" smtClean="0">
          <a:ln w="3175" cmpd="sng">
            <a:noFill/>
          </a:ln>
          <a:solidFill>
            <a:schemeClr val="bg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CA" smtClean="0"/>
              <a:t>Spiffy: Enabling File-System Aware Storage Applications</a:t>
            </a:r>
            <a:br>
              <a:rPr lang="en-CA" smtClean="0"/>
            </a:br>
            <a:endParaRPr lang="en-CA" dirty="0"/>
          </a:p>
        </p:txBody>
      </p:sp>
      <p:sp>
        <p:nvSpPr>
          <p:cNvPr id="3" name="Subtitle 2"/>
          <p:cNvSpPr>
            <a:spLocks noGrp="1"/>
          </p:cNvSpPr>
          <p:nvPr>
            <p:ph type="subTitle" idx="1"/>
          </p:nvPr>
        </p:nvSpPr>
        <p:spPr>
          <a:xfrm>
            <a:off x="684212" y="3037337"/>
            <a:ext cx="8723948" cy="2753864"/>
          </a:xfrm>
        </p:spPr>
        <p:txBody>
          <a:bodyPr/>
          <a:lstStyle/>
          <a:p>
            <a:r>
              <a:rPr lang="en-CA" dirty="0" smtClean="0"/>
              <a:t>Jack Sun, Daniel Fryer, Joseph Chu, Matthew </a:t>
            </a:r>
            <a:r>
              <a:rPr lang="en-CA" dirty="0" err="1" smtClean="0"/>
              <a:t>Lakier</a:t>
            </a:r>
            <a:r>
              <a:rPr lang="en-CA" dirty="0" smtClean="0"/>
              <a:t>, </a:t>
            </a:r>
          </a:p>
          <a:p>
            <a:r>
              <a:rPr lang="en-CA" dirty="0" smtClean="0"/>
              <a:t>Angela </a:t>
            </a:r>
            <a:r>
              <a:rPr lang="en-CA" dirty="0" err="1" smtClean="0"/>
              <a:t>Demke</a:t>
            </a:r>
            <a:r>
              <a:rPr lang="en-CA" dirty="0" smtClean="0"/>
              <a:t> Brown, and </a:t>
            </a:r>
            <a:r>
              <a:rPr lang="en-CA" dirty="0" err="1" smtClean="0"/>
              <a:t>Ashvin</a:t>
            </a:r>
            <a:r>
              <a:rPr lang="en-CA" dirty="0" smtClean="0"/>
              <a:t> </a:t>
            </a:r>
            <a:r>
              <a:rPr lang="en-CA" dirty="0" err="1" smtClean="0"/>
              <a:t>Goel</a:t>
            </a:r>
            <a:endParaRPr lang="en-CA" dirty="0" smtClean="0"/>
          </a:p>
          <a:p>
            <a:endParaRPr lang="en-CA" dirty="0" smtClean="0"/>
          </a:p>
          <a:p>
            <a:r>
              <a:rPr lang="en-CA" i="1" dirty="0" smtClean="0"/>
              <a:t>University of Toronto</a:t>
            </a:r>
            <a:endParaRPr lang="en-CA" i="1" dirty="0"/>
          </a:p>
        </p:txBody>
      </p:sp>
    </p:spTree>
    <p:extLst>
      <p:ext uri="{BB962C8B-B14F-4D97-AF65-F5344CB8AC3E}">
        <p14:creationId xmlns:p14="http://schemas.microsoft.com/office/powerpoint/2010/main" val="298973681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Introduction</a:t>
            </a:r>
            <a:endParaRPr lang="en-CA" dirty="0"/>
          </a:p>
        </p:txBody>
      </p:sp>
      <p:sp>
        <p:nvSpPr>
          <p:cNvPr id="3" name="Content Placeholder 2"/>
          <p:cNvSpPr>
            <a:spLocks noGrp="1"/>
          </p:cNvSpPr>
          <p:nvPr>
            <p:ph idx="1"/>
          </p:nvPr>
        </p:nvSpPr>
        <p:spPr/>
        <p:txBody>
          <a:bodyPr/>
          <a:lstStyle/>
          <a:p>
            <a:r>
              <a:rPr lang="en-CA" smtClean="0"/>
              <a:t>File-system aware applications</a:t>
            </a:r>
          </a:p>
          <a:p>
            <a:pPr lvl="1"/>
            <a:r>
              <a:rPr lang="en-CA" smtClean="0"/>
              <a:t>E.g. partition editor, file system checker, defragmentation tool</a:t>
            </a:r>
          </a:p>
          <a:p>
            <a:pPr lvl="1"/>
            <a:r>
              <a:rPr lang="en-CA" smtClean="0"/>
              <a:t>Operate directly on file system metadata structures</a:t>
            </a:r>
          </a:p>
          <a:p>
            <a:pPr lvl="2"/>
            <a:r>
              <a:rPr lang="en-CA" smtClean="0"/>
              <a:t>Require detailed knowledge of file system format on disk</a:t>
            </a:r>
          </a:p>
          <a:p>
            <a:pPr lvl="2"/>
            <a:r>
              <a:rPr lang="en-CA" smtClean="0"/>
              <a:t>Bypass VFS layer</a:t>
            </a:r>
          </a:p>
          <a:p>
            <a:pPr lvl="1"/>
            <a:r>
              <a:rPr lang="en-CA" smtClean="0"/>
              <a:t>Essential for successful deployment of file system</a:t>
            </a:r>
            <a:endParaRPr lang="en-CA"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2</a:t>
            </a:fld>
            <a:endParaRPr lang="en-CA" dirty="0"/>
          </a:p>
        </p:txBody>
      </p:sp>
    </p:spTree>
    <p:extLst>
      <p:ext uri="{BB962C8B-B14F-4D97-AF65-F5344CB8AC3E}">
        <p14:creationId xmlns:p14="http://schemas.microsoft.com/office/powerpoint/2010/main" val="178890286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Problem</a:t>
            </a:r>
            <a:endParaRPr lang="en-CA" dirty="0"/>
          </a:p>
        </p:txBody>
      </p:sp>
      <p:sp>
        <p:nvSpPr>
          <p:cNvPr id="3" name="Content Placeholder 2"/>
          <p:cNvSpPr>
            <a:spLocks noGrp="1"/>
          </p:cNvSpPr>
          <p:nvPr>
            <p:ph idx="1"/>
          </p:nvPr>
        </p:nvSpPr>
        <p:spPr/>
        <p:txBody>
          <a:bodyPr/>
          <a:lstStyle/>
          <a:p>
            <a:r>
              <a:rPr lang="en-CA" dirty="0" smtClean="0"/>
              <a:t>Tools have to be developed from scratch for each file system</a:t>
            </a:r>
          </a:p>
          <a:p>
            <a:r>
              <a:rPr lang="en-CA" dirty="0" smtClean="0"/>
              <a:t>Tools developed only by experts</a:t>
            </a:r>
          </a:p>
          <a:p>
            <a:r>
              <a:rPr lang="en-CA" dirty="0" smtClean="0"/>
              <a:t>Bugs lead to system crash, data corruption, security vulnerability</a:t>
            </a:r>
          </a:p>
          <a:p>
            <a:endParaRPr lang="en-CA" dirty="0" smtClean="0"/>
          </a:p>
          <a:p>
            <a:r>
              <a:rPr lang="en-CA" dirty="0" smtClean="0"/>
              <a:t>Example: bug 723343 in </a:t>
            </a:r>
            <a:r>
              <a:rPr lang="en-CA" dirty="0" err="1" smtClean="0"/>
              <a:t>ntfsprogs</a:t>
            </a:r>
            <a:endParaRPr lang="en-CA" dirty="0" smtClean="0"/>
          </a:p>
          <a:p>
            <a:pPr lvl="1"/>
            <a:r>
              <a:rPr lang="en-CA" dirty="0" smtClean="0"/>
              <a:t>NTFS stores the size of MFT record as either:</a:t>
            </a:r>
          </a:p>
          <a:p>
            <a:pPr lvl="2"/>
            <a:r>
              <a:rPr lang="en-CA" dirty="0" smtClean="0"/>
              <a:t># of clusters </a:t>
            </a:r>
            <a:r>
              <a:rPr lang="en-CA" dirty="0"/>
              <a:t>per record, if value &gt; </a:t>
            </a:r>
            <a:r>
              <a:rPr lang="en-CA" dirty="0" smtClean="0"/>
              <a:t>0</a:t>
            </a:r>
          </a:p>
          <a:p>
            <a:pPr lvl="2"/>
            <a:r>
              <a:rPr lang="en-CA" dirty="0" smtClean="0"/>
              <a:t>2</a:t>
            </a:r>
            <a:r>
              <a:rPr lang="en-CA" baseline="30000" dirty="0" smtClean="0"/>
              <a:t>|value</a:t>
            </a:r>
            <a:r>
              <a:rPr lang="en-CA" baseline="30000" dirty="0"/>
              <a:t>|</a:t>
            </a:r>
            <a:r>
              <a:rPr lang="en-CA" dirty="0"/>
              <a:t>, if value &lt; </a:t>
            </a:r>
            <a:r>
              <a:rPr lang="en-CA" dirty="0" smtClean="0"/>
              <a:t>0</a:t>
            </a:r>
          </a:p>
          <a:p>
            <a:pPr lvl="1"/>
            <a:r>
              <a:rPr lang="en-CA" dirty="0" err="1" smtClean="0"/>
              <a:t>ntfsprogs</a:t>
            </a:r>
            <a:r>
              <a:rPr lang="en-CA" dirty="0" smtClean="0"/>
              <a:t> misinterprets this field, corrupting NTFS when resizing partitions</a:t>
            </a:r>
          </a:p>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a:t>
            </a:fld>
            <a:endParaRPr lang="en-CA" dirty="0"/>
          </a:p>
        </p:txBody>
      </p:sp>
    </p:spTree>
    <p:extLst>
      <p:ext uri="{BB962C8B-B14F-4D97-AF65-F5344CB8AC3E}">
        <p14:creationId xmlns:p14="http://schemas.microsoft.com/office/powerpoint/2010/main" val="36832523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Root Cause</a:t>
            </a:r>
            <a:endParaRPr lang="en-CA" dirty="0"/>
          </a:p>
        </p:txBody>
      </p:sp>
      <p:sp>
        <p:nvSpPr>
          <p:cNvPr id="3" name="Content Placeholder 2"/>
          <p:cNvSpPr>
            <a:spLocks noGrp="1"/>
          </p:cNvSpPr>
          <p:nvPr>
            <p:ph idx="1"/>
          </p:nvPr>
        </p:nvSpPr>
        <p:spPr/>
        <p:txBody>
          <a:bodyPr/>
          <a:lstStyle/>
          <a:p>
            <a:r>
              <a:rPr lang="en-CA" smtClean="0"/>
              <a:t>File-system applications are difficult to write</a:t>
            </a:r>
          </a:p>
          <a:p>
            <a:pPr lvl="1"/>
            <a:r>
              <a:rPr lang="en-CA" smtClean="0"/>
              <a:t>File system format complex and often poorly documented</a:t>
            </a:r>
          </a:p>
          <a:p>
            <a:pPr lvl="1"/>
            <a:r>
              <a:rPr lang="en-CA" smtClean="0"/>
              <a:t>Require detailed knowledge of format</a:t>
            </a:r>
          </a:p>
          <a:p>
            <a:pPr lvl="1"/>
            <a:r>
              <a:rPr lang="en-CA" smtClean="0"/>
              <a:t>Cannot be reused across file systems</a:t>
            </a:r>
          </a:p>
          <a:p>
            <a:pPr lvl="1"/>
            <a:r>
              <a:rPr lang="en-CA" smtClean="0"/>
              <a:t>Need to handle file system corruption</a:t>
            </a:r>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4</a:t>
            </a:fld>
            <a:endParaRPr lang="en-CA" dirty="0"/>
          </a:p>
        </p:txBody>
      </p:sp>
    </p:spTree>
    <p:extLst>
      <p:ext uri="{BB962C8B-B14F-4D97-AF65-F5344CB8AC3E}">
        <p14:creationId xmlns:p14="http://schemas.microsoft.com/office/powerpoint/2010/main" val="90541028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Goals</a:t>
            </a:r>
            <a:endParaRPr lang="en-CA" dirty="0"/>
          </a:p>
        </p:txBody>
      </p:sp>
      <p:sp>
        <p:nvSpPr>
          <p:cNvPr id="3" name="Content Placeholder 2"/>
          <p:cNvSpPr>
            <a:spLocks noGrp="1"/>
          </p:cNvSpPr>
          <p:nvPr>
            <p:ph idx="1"/>
          </p:nvPr>
        </p:nvSpPr>
        <p:spPr/>
        <p:txBody>
          <a:bodyPr/>
          <a:lstStyle/>
          <a:p>
            <a:r>
              <a:rPr lang="en-CA" smtClean="0"/>
              <a:t>Simplify development of file-system aware applications</a:t>
            </a:r>
          </a:p>
          <a:p>
            <a:pPr lvl="1"/>
            <a:r>
              <a:rPr lang="en-CA" smtClean="0"/>
              <a:t>Reduce file-system specific code</a:t>
            </a:r>
          </a:p>
          <a:p>
            <a:pPr lvl="1"/>
            <a:r>
              <a:rPr lang="en-CA" smtClean="0"/>
              <a:t>Enable code reuse across file systems</a:t>
            </a:r>
          </a:p>
          <a:p>
            <a:endParaRPr lang="en-CA" smtClean="0"/>
          </a:p>
          <a:p>
            <a:r>
              <a:rPr lang="en-CA" smtClean="0"/>
              <a:t>Improve robustness of these applications</a:t>
            </a:r>
          </a:p>
          <a:p>
            <a:pPr lvl="1"/>
            <a:r>
              <a:rPr lang="en-CA" smtClean="0"/>
              <a:t>Enable correct traversal of file system metadata</a:t>
            </a:r>
          </a:p>
          <a:p>
            <a:pPr lvl="1"/>
            <a:r>
              <a:rPr lang="en-CA" smtClean="0"/>
              <a:t>Ensure type safe access to file system structures</a:t>
            </a:r>
          </a:p>
          <a:p>
            <a:pPr lvl="2"/>
            <a:r>
              <a:rPr lang="en-CA" smtClean="0"/>
              <a:t>Helps detect corruption for both read and write</a:t>
            </a:r>
          </a:p>
          <a:p>
            <a:pPr lvl="2"/>
            <a:r>
              <a:rPr lang="en-CA" smtClean="0"/>
              <a:t>Helps reduce error propagation, and further corruption</a:t>
            </a:r>
          </a:p>
          <a:p>
            <a:pPr lvl="2"/>
            <a:endParaRPr lang="en-CA" smtClean="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5</a:t>
            </a:fld>
            <a:endParaRPr lang="en-CA" dirty="0"/>
          </a:p>
        </p:txBody>
      </p:sp>
    </p:spTree>
    <p:extLst>
      <p:ext uri="{BB962C8B-B14F-4D97-AF65-F5344CB8AC3E}">
        <p14:creationId xmlns:p14="http://schemas.microsoft.com/office/powerpoint/2010/main" val="47699369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Approach: Spiffy Framework</a:t>
            </a:r>
            <a:endParaRPr lang="en-CA" dirty="0"/>
          </a:p>
        </p:txBody>
      </p:sp>
      <p:sp>
        <p:nvSpPr>
          <p:cNvPr id="3" name="Content Placeholder 2"/>
          <p:cNvSpPr>
            <a:spLocks noGrp="1"/>
          </p:cNvSpPr>
          <p:nvPr>
            <p:ph idx="1"/>
          </p:nvPr>
        </p:nvSpPr>
        <p:spPr/>
        <p:txBody>
          <a:bodyPr/>
          <a:lstStyle/>
          <a:p>
            <a:r>
              <a:rPr lang="en-CA" smtClean="0"/>
              <a:t>File system developers specify the format of their file system</a:t>
            </a:r>
          </a:p>
          <a:p>
            <a:r>
              <a:rPr lang="en-CA" smtClean="0"/>
              <a:t>Spiffy uses specification to generate parsing and serialization library </a:t>
            </a:r>
          </a:p>
          <a:p>
            <a:r>
              <a:rPr lang="en-CA" smtClean="0"/>
              <a:t>Developers use library to build robust file-system aware applications</a:t>
            </a:r>
          </a:p>
          <a:p>
            <a:endParaRPr lang="en-CA" smtClean="0"/>
          </a:p>
          <a:p>
            <a:endParaRPr lang="en-CA" smtClean="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6</a:t>
            </a:fld>
            <a:endParaRPr lang="en-CA" dirty="0"/>
          </a:p>
        </p:txBody>
      </p:sp>
    </p:spTree>
    <p:extLst>
      <p:ext uri="{BB962C8B-B14F-4D97-AF65-F5344CB8AC3E}">
        <p14:creationId xmlns:p14="http://schemas.microsoft.com/office/powerpoint/2010/main" val="18539636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Specifying Format</a:t>
            </a:r>
            <a:endParaRPr lang="en-CA" dirty="0"/>
          </a:p>
        </p:txBody>
      </p:sp>
      <p:sp>
        <p:nvSpPr>
          <p:cNvPr id="3" name="Content Placeholder 2"/>
          <p:cNvSpPr>
            <a:spLocks noGrp="1"/>
          </p:cNvSpPr>
          <p:nvPr>
            <p:ph idx="1"/>
          </p:nvPr>
        </p:nvSpPr>
        <p:spPr/>
        <p:txBody>
          <a:bodyPr/>
          <a:lstStyle/>
          <a:p>
            <a:r>
              <a:rPr lang="en-CA" dirty="0" smtClean="0"/>
              <a:t>File system developers annotate metadata structures in </a:t>
            </a:r>
            <a:br>
              <a:rPr lang="en-CA" dirty="0" smtClean="0"/>
            </a:br>
            <a:r>
              <a:rPr lang="en-CA" dirty="0" smtClean="0"/>
              <a:t>header files of existing source code</a:t>
            </a:r>
          </a:p>
        </p:txBody>
      </p:sp>
      <p:sp>
        <p:nvSpPr>
          <p:cNvPr id="35" name="Slide Number Placeholder 34"/>
          <p:cNvSpPr>
            <a:spLocks noGrp="1"/>
          </p:cNvSpPr>
          <p:nvPr>
            <p:ph type="sldNum" sz="quarter" idx="12"/>
          </p:nvPr>
        </p:nvSpPr>
        <p:spPr/>
        <p:txBody>
          <a:bodyPr/>
          <a:lstStyle/>
          <a:p>
            <a:fld id="{7B2023C8-B124-43A9-8F92-0EEF5BAA9995}" type="slidenum">
              <a:rPr lang="en-CA" smtClean="0"/>
              <a:pPr/>
              <a:t>7</a:t>
            </a:fld>
            <a:endParaRPr lang="en-CA" dirty="0"/>
          </a:p>
        </p:txBody>
      </p:sp>
      <p:sp>
        <p:nvSpPr>
          <p:cNvPr id="61" name="Rectangle 60"/>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90" name="Rectangle 89"/>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91" name="Rectangle 90"/>
          <p:cNvSpPr/>
          <p:nvPr/>
        </p:nvSpPr>
        <p:spPr>
          <a:xfrm>
            <a:off x="1320470" y="4131121"/>
            <a:ext cx="1440000" cy="472257"/>
          </a:xfrm>
          <a:prstGeom prst="rect">
            <a:avLst/>
          </a:prstGeom>
          <a:solidFill>
            <a:srgbClr val="FFFF00"/>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glow rad="101600">
                    <a:srgbClr val="FFFF00">
                      <a:alpha val="40000"/>
                    </a:srgbClr>
                  </a:glow>
                </a:effectLst>
              </a:rPr>
              <a:t>Annotations</a:t>
            </a:r>
            <a:endParaRPr lang="en-CA" b="1" dirty="0">
              <a:solidFill>
                <a:schemeClr val="bg1"/>
              </a:solidFill>
              <a:effectLst>
                <a:glow rad="101600">
                  <a:srgbClr val="FFFF00">
                    <a:alpha val="40000"/>
                  </a:srgbClr>
                </a:glow>
              </a:effectLst>
            </a:endParaRPr>
          </a:p>
        </p:txBody>
      </p:sp>
      <p:grpSp>
        <p:nvGrpSpPr>
          <p:cNvPr id="103" name="Group 102"/>
          <p:cNvGrpSpPr/>
          <p:nvPr/>
        </p:nvGrpSpPr>
        <p:grpSpPr>
          <a:xfrm>
            <a:off x="2799312" y="4644061"/>
            <a:ext cx="598488" cy="1292225"/>
            <a:chOff x="4859338" y="3776663"/>
            <a:chExt cx="598488" cy="1292225"/>
          </a:xfrm>
        </p:grpSpPr>
        <p:sp>
          <p:nvSpPr>
            <p:cNvPr id="18"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6"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27"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8"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9"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0"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31"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2"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3"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4"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36"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7"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38"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40"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93"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94"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95"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6"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7"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8"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9"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0"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1"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2"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87439465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Generating Library</a:t>
            </a:r>
            <a:endParaRPr lang="en-CA" dirty="0"/>
          </a:p>
        </p:txBody>
      </p:sp>
      <p:sp>
        <p:nvSpPr>
          <p:cNvPr id="3" name="Content Placeholder 2"/>
          <p:cNvSpPr>
            <a:spLocks noGrp="1"/>
          </p:cNvSpPr>
          <p:nvPr>
            <p:ph idx="1"/>
          </p:nvPr>
        </p:nvSpPr>
        <p:spPr/>
        <p:txBody>
          <a:bodyPr/>
          <a:lstStyle/>
          <a:p>
            <a:r>
              <a:rPr lang="en-CA" dirty="0" smtClean="0"/>
              <a:t>Spiffy compiler processes annotated metadata structures</a:t>
            </a:r>
            <a:br>
              <a:rPr lang="en-CA" dirty="0" smtClean="0"/>
            </a:br>
            <a:r>
              <a:rPr lang="en-CA" dirty="0" smtClean="0"/>
              <a:t>to generate library that provides a generic API for type-safe parsing, traversal and serialization of file system structures</a:t>
            </a:r>
          </a:p>
        </p:txBody>
      </p:sp>
      <p:sp>
        <p:nvSpPr>
          <p:cNvPr id="4" name="Slide Number Placeholder 3"/>
          <p:cNvSpPr>
            <a:spLocks noGrp="1"/>
          </p:cNvSpPr>
          <p:nvPr>
            <p:ph type="sldNum" sz="quarter" idx="12"/>
          </p:nvPr>
        </p:nvSpPr>
        <p:spPr/>
        <p:txBody>
          <a:bodyPr/>
          <a:lstStyle/>
          <a:p>
            <a:fld id="{7B2023C8-B124-43A9-8F92-0EEF5BAA9995}" type="slidenum">
              <a:rPr lang="en-CA" smtClean="0"/>
              <a:pPr/>
              <a:t>8</a:t>
            </a:fld>
            <a:endParaRPr lang="en-CA" dirty="0"/>
          </a:p>
        </p:txBody>
      </p:sp>
      <p:sp>
        <p:nvSpPr>
          <p:cNvPr id="92" name="Right Arrow 91"/>
          <p:cNvSpPr/>
          <p:nvPr/>
        </p:nvSpPr>
        <p:spPr>
          <a:xfrm>
            <a:off x="2974282"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94" name="Rounded Rectangle 93"/>
          <p:cNvSpPr/>
          <p:nvPr/>
        </p:nvSpPr>
        <p:spPr>
          <a:xfrm>
            <a:off x="3505093" y="3421506"/>
            <a:ext cx="1440000" cy="944513"/>
          </a:xfrm>
          <a:prstGeom prst="roundRect">
            <a:avLst/>
          </a:prstGeom>
          <a:solidFill>
            <a:schemeClr val="accent1">
              <a:lumMod val="90000"/>
              <a:lumOff val="10000"/>
            </a:schemeClr>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tx1"/>
                </a:solidFill>
              </a:rPr>
              <a:t>Spiffy Compiler</a:t>
            </a:r>
            <a:endParaRPr lang="en-CA" b="1" dirty="0">
              <a:solidFill>
                <a:schemeClr val="tx1"/>
              </a:solidFill>
            </a:endParaRPr>
          </a:p>
        </p:txBody>
      </p:sp>
      <p:grpSp>
        <p:nvGrpSpPr>
          <p:cNvPr id="95" name="Group 94"/>
          <p:cNvGrpSpPr/>
          <p:nvPr/>
        </p:nvGrpSpPr>
        <p:grpSpPr>
          <a:xfrm>
            <a:off x="5689716" y="3421506"/>
            <a:ext cx="1761066" cy="944513"/>
            <a:chOff x="6493933" y="3749526"/>
            <a:chExt cx="1761066" cy="944513"/>
          </a:xfrm>
          <a:effectLst/>
        </p:grpSpPr>
        <p:sp>
          <p:nvSpPr>
            <p:cNvPr id="101" name="Rectangle 100"/>
            <p:cNvSpPr/>
            <p:nvPr/>
          </p:nvSpPr>
          <p:spPr>
            <a:xfrm>
              <a:off x="6493933" y="3749526"/>
              <a:ext cx="1004159" cy="944513"/>
            </a:xfrm>
            <a:prstGeom prst="rect">
              <a:avLst/>
            </a:prstGeom>
            <a:solidFill>
              <a:srgbClr val="FFFF00"/>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Spiffy Library</a:t>
              </a:r>
              <a:endParaRPr lang="en-CA" b="1" dirty="0">
                <a:solidFill>
                  <a:schemeClr val="bg1"/>
                </a:solidFill>
                <a:effectLst/>
              </a:endParaRPr>
            </a:p>
          </p:txBody>
        </p:sp>
        <p:sp>
          <p:nvSpPr>
            <p:cNvPr id="118" name="Rectangle 117"/>
            <p:cNvSpPr/>
            <p:nvPr/>
          </p:nvSpPr>
          <p:spPr>
            <a:xfrm>
              <a:off x="7498092" y="3749526"/>
              <a:ext cx="756907" cy="944513"/>
            </a:xfrm>
            <a:prstGeom prst="rect">
              <a:avLst/>
            </a:prstGeom>
            <a:solidFill>
              <a:srgbClr val="FFFF00"/>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Spiffy API</a:t>
              </a:r>
              <a:endParaRPr lang="en-CA" b="1" dirty="0">
                <a:solidFill>
                  <a:schemeClr val="bg1"/>
                </a:solidFill>
              </a:endParaRPr>
            </a:p>
          </p:txBody>
        </p:sp>
      </p:grpSp>
      <p:sp>
        <p:nvSpPr>
          <p:cNvPr id="97" name="Right Arrow 96"/>
          <p:cNvSpPr/>
          <p:nvPr/>
        </p:nvSpPr>
        <p:spPr>
          <a:xfrm>
            <a:off x="5158905"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15" name="Rectangle 14"/>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16" name="Rectangle 15"/>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17" name="Rectangle 16"/>
          <p:cNvSpPr/>
          <p:nvPr/>
        </p:nvSpPr>
        <p:spPr>
          <a:xfrm>
            <a:off x="1320470" y="4131121"/>
            <a:ext cx="1440000" cy="472257"/>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Annotations</a:t>
            </a:r>
            <a:endParaRPr lang="en-CA" b="1" dirty="0">
              <a:solidFill>
                <a:schemeClr val="bg1"/>
              </a:solidFill>
              <a:effectLst/>
            </a:endParaRPr>
          </a:p>
        </p:txBody>
      </p:sp>
      <p:grpSp>
        <p:nvGrpSpPr>
          <p:cNvPr id="68" name="Group 67"/>
          <p:cNvGrpSpPr/>
          <p:nvPr/>
        </p:nvGrpSpPr>
        <p:grpSpPr>
          <a:xfrm>
            <a:off x="2799312" y="4644061"/>
            <a:ext cx="598488" cy="1292225"/>
            <a:chOff x="4859338" y="3776663"/>
            <a:chExt cx="598488" cy="1292225"/>
          </a:xfrm>
        </p:grpSpPr>
        <p:sp>
          <p:nvSpPr>
            <p:cNvPr id="69"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0"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1"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2"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3"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4"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5"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6"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7"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8"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9"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80"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81"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82"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83"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84"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85"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86"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87"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88"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0"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1"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6"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8"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16126405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 Building Applications</a:t>
            </a:r>
            <a:endParaRPr lang="en-CA" dirty="0"/>
          </a:p>
        </p:txBody>
      </p:sp>
      <p:sp>
        <p:nvSpPr>
          <p:cNvPr id="3" name="Content Placeholder 2"/>
          <p:cNvSpPr>
            <a:spLocks noGrp="1"/>
          </p:cNvSpPr>
          <p:nvPr>
            <p:ph idx="1"/>
          </p:nvPr>
        </p:nvSpPr>
        <p:spPr/>
        <p:txBody>
          <a:bodyPr/>
          <a:lstStyle/>
          <a:p>
            <a:r>
              <a:rPr lang="en-CA" dirty="0" smtClean="0"/>
              <a:t>Application developers use Spiffy library to build robust tools</a:t>
            </a:r>
            <a:br>
              <a:rPr lang="en-CA" dirty="0" smtClean="0"/>
            </a:br>
            <a:r>
              <a:rPr lang="en-CA" dirty="0" smtClean="0"/>
              <a:t>that work across file systems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9</a:t>
            </a:fld>
            <a:endParaRPr lang="en-CA" dirty="0"/>
          </a:p>
        </p:txBody>
      </p:sp>
      <p:grpSp>
        <p:nvGrpSpPr>
          <p:cNvPr id="91" name="Group 90"/>
          <p:cNvGrpSpPr/>
          <p:nvPr/>
        </p:nvGrpSpPr>
        <p:grpSpPr>
          <a:xfrm>
            <a:off x="8195402" y="2971801"/>
            <a:ext cx="1882875" cy="2156791"/>
            <a:chOff x="8681092" y="2945832"/>
            <a:chExt cx="1411173" cy="1870116"/>
          </a:xfrm>
          <a:solidFill>
            <a:srgbClr val="FFFF00"/>
          </a:solidFill>
          <a:effectLst/>
        </p:grpSpPr>
        <p:sp>
          <p:nvSpPr>
            <p:cNvPr id="94" name="Rectangle 93"/>
            <p:cNvSpPr/>
            <p:nvPr/>
          </p:nvSpPr>
          <p:spPr>
            <a:xfrm>
              <a:off x="8681092" y="2945832"/>
              <a:ext cx="1411173" cy="1295968"/>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Generic Application</a:t>
              </a:r>
              <a:endParaRPr lang="en-CA" b="1" dirty="0">
                <a:solidFill>
                  <a:schemeClr val="bg1"/>
                </a:solidFill>
              </a:endParaRPr>
            </a:p>
          </p:txBody>
        </p:sp>
        <p:sp>
          <p:nvSpPr>
            <p:cNvPr id="95" name="Rectangle 94"/>
            <p:cNvSpPr/>
            <p:nvPr/>
          </p:nvSpPr>
          <p:spPr>
            <a:xfrm>
              <a:off x="8681092" y="4241800"/>
              <a:ext cx="1411173" cy="574148"/>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File-System Specific Logic</a:t>
              </a:r>
              <a:endParaRPr lang="en-CA" b="1" dirty="0">
                <a:solidFill>
                  <a:schemeClr val="bg1"/>
                </a:solidFill>
              </a:endParaRPr>
            </a:p>
          </p:txBody>
        </p:sp>
      </p:grpSp>
      <p:sp>
        <p:nvSpPr>
          <p:cNvPr id="93" name="Right Arrow 92"/>
          <p:cNvSpPr/>
          <p:nvPr/>
        </p:nvSpPr>
        <p:spPr>
          <a:xfrm>
            <a:off x="7664594"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86" name="Rectangle 85"/>
          <p:cNvSpPr/>
          <p:nvPr/>
        </p:nvSpPr>
        <p:spPr>
          <a:xfrm>
            <a:off x="8428474" y="5268490"/>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err="1" smtClean="0">
                <a:solidFill>
                  <a:schemeClr val="bg1"/>
                </a:solidFill>
              </a:rPr>
              <a:t>ApplicationDeveloper</a:t>
            </a:r>
            <a:endParaRPr lang="en-CA" dirty="0">
              <a:solidFill>
                <a:schemeClr val="bg1"/>
              </a:solidFill>
            </a:endParaRPr>
          </a:p>
        </p:txBody>
      </p:sp>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61790" y="4891608"/>
            <a:ext cx="1219803" cy="1219846"/>
          </a:xfrm>
          <a:prstGeom prst="rect">
            <a:avLst/>
          </a:prstGeom>
        </p:spPr>
      </p:pic>
      <p:sp>
        <p:nvSpPr>
          <p:cNvPr id="21" name="Right Arrow 20"/>
          <p:cNvSpPr/>
          <p:nvPr/>
        </p:nvSpPr>
        <p:spPr>
          <a:xfrm>
            <a:off x="2974282"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22" name="Rounded Rectangle 21"/>
          <p:cNvSpPr/>
          <p:nvPr/>
        </p:nvSpPr>
        <p:spPr>
          <a:xfrm>
            <a:off x="3505093" y="3421506"/>
            <a:ext cx="1440000" cy="944513"/>
          </a:xfrm>
          <a:prstGeom prst="roundRect">
            <a:avLst/>
          </a:prstGeom>
          <a:solidFill>
            <a:schemeClr val="accent1">
              <a:lumMod val="90000"/>
              <a:lumOff val="10000"/>
            </a:schemeClr>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tx1"/>
                </a:solidFill>
              </a:rPr>
              <a:t>Spiffy Compiler</a:t>
            </a:r>
            <a:endParaRPr lang="en-CA" b="1" dirty="0">
              <a:solidFill>
                <a:schemeClr val="tx1"/>
              </a:solidFill>
            </a:endParaRPr>
          </a:p>
        </p:txBody>
      </p:sp>
      <p:grpSp>
        <p:nvGrpSpPr>
          <p:cNvPr id="23" name="Group 22"/>
          <p:cNvGrpSpPr/>
          <p:nvPr/>
        </p:nvGrpSpPr>
        <p:grpSpPr>
          <a:xfrm>
            <a:off x="5689716" y="3421506"/>
            <a:ext cx="1761066" cy="944513"/>
            <a:chOff x="6493933" y="3749526"/>
            <a:chExt cx="1761066" cy="944513"/>
          </a:xfrm>
          <a:effectLst/>
        </p:grpSpPr>
        <p:sp>
          <p:nvSpPr>
            <p:cNvPr id="24" name="Rectangle 23"/>
            <p:cNvSpPr/>
            <p:nvPr/>
          </p:nvSpPr>
          <p:spPr>
            <a:xfrm>
              <a:off x="6493933" y="3749526"/>
              <a:ext cx="1004159" cy="944513"/>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Spiffy Library</a:t>
              </a:r>
              <a:endParaRPr lang="en-CA" b="1" dirty="0">
                <a:solidFill>
                  <a:schemeClr val="bg1"/>
                </a:solidFill>
                <a:effectLst/>
              </a:endParaRPr>
            </a:p>
          </p:txBody>
        </p:sp>
        <p:sp>
          <p:nvSpPr>
            <p:cNvPr id="25" name="Rectangle 24"/>
            <p:cNvSpPr/>
            <p:nvPr/>
          </p:nvSpPr>
          <p:spPr>
            <a:xfrm>
              <a:off x="7498092" y="3749526"/>
              <a:ext cx="756907" cy="944513"/>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Spiffy API</a:t>
              </a:r>
              <a:endParaRPr lang="en-CA" b="1" dirty="0">
                <a:solidFill>
                  <a:schemeClr val="bg1"/>
                </a:solidFill>
              </a:endParaRPr>
            </a:p>
          </p:txBody>
        </p:sp>
      </p:grpSp>
      <p:sp>
        <p:nvSpPr>
          <p:cNvPr id="26" name="Right Arrow 25"/>
          <p:cNvSpPr/>
          <p:nvPr/>
        </p:nvSpPr>
        <p:spPr>
          <a:xfrm>
            <a:off x="5158905"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27" name="Rectangle 26"/>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28" name="Rectangle 27"/>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29" name="Rectangle 28"/>
          <p:cNvSpPr/>
          <p:nvPr/>
        </p:nvSpPr>
        <p:spPr>
          <a:xfrm>
            <a:off x="1320470" y="4131121"/>
            <a:ext cx="1440000" cy="472257"/>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Annotations</a:t>
            </a:r>
            <a:endParaRPr lang="en-CA" b="1" dirty="0">
              <a:solidFill>
                <a:schemeClr val="bg1"/>
              </a:solidFill>
              <a:effectLst/>
            </a:endParaRPr>
          </a:p>
        </p:txBody>
      </p:sp>
      <p:grpSp>
        <p:nvGrpSpPr>
          <p:cNvPr id="80" name="Group 79"/>
          <p:cNvGrpSpPr/>
          <p:nvPr/>
        </p:nvGrpSpPr>
        <p:grpSpPr>
          <a:xfrm>
            <a:off x="2799312" y="4644061"/>
            <a:ext cx="598488" cy="1292225"/>
            <a:chOff x="4859338" y="3776663"/>
            <a:chExt cx="598488" cy="1292225"/>
          </a:xfrm>
        </p:grpSpPr>
        <p:sp>
          <p:nvSpPr>
            <p:cNvPr id="81"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82"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83"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84"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85"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1"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2"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3"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4"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5"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6"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7"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8"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9"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10"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11"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12"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3"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4"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5"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6"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7"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8"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9"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86617881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Talk Outline</a:t>
            </a:r>
            <a:endParaRPr lang="en-CA" dirty="0"/>
          </a:p>
        </p:txBody>
      </p:sp>
      <p:sp>
        <p:nvSpPr>
          <p:cNvPr id="3" name="Content Placeholder 2"/>
          <p:cNvSpPr>
            <a:spLocks noGrp="1"/>
          </p:cNvSpPr>
          <p:nvPr>
            <p:ph idx="1"/>
          </p:nvPr>
        </p:nvSpPr>
        <p:spPr/>
        <p:txBody>
          <a:bodyPr/>
          <a:lstStyle/>
          <a:p>
            <a:r>
              <a:rPr lang="en-US" smtClean="0"/>
              <a:t>Problem</a:t>
            </a:r>
          </a:p>
          <a:p>
            <a:pPr lvl="1"/>
            <a:r>
              <a:rPr lang="en-US" smtClean="0"/>
              <a:t>Hard to write robust file system applications</a:t>
            </a:r>
          </a:p>
          <a:p>
            <a:r>
              <a:rPr lang="en-US" smtClean="0"/>
              <a:t>Approach</a:t>
            </a:r>
          </a:p>
          <a:p>
            <a:r>
              <a:rPr lang="en-US" smtClean="0"/>
              <a:t>Spiffy Annotations</a:t>
            </a:r>
          </a:p>
          <a:p>
            <a:r>
              <a:rPr lang="en-US" smtClean="0"/>
              <a:t>Spiffy Library</a:t>
            </a:r>
          </a:p>
          <a:p>
            <a:r>
              <a:rPr lang="en-US" smtClean="0"/>
              <a:t>Spiffy Applications</a:t>
            </a:r>
          </a:p>
          <a:p>
            <a:r>
              <a:rPr lang="en-US" smtClean="0"/>
              <a:t>Evaluation</a:t>
            </a:r>
          </a:p>
          <a:p>
            <a:r>
              <a:rPr lang="en-US" smtClean="0"/>
              <a:t>Conclusion</a:t>
            </a:r>
            <a:endParaRPr lang="en-US"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10</a:t>
            </a:fld>
            <a:endParaRPr lang="en-CA" dirty="0"/>
          </a:p>
        </p:txBody>
      </p:sp>
    </p:spTree>
    <p:extLst>
      <p:ext uri="{BB962C8B-B14F-4D97-AF65-F5344CB8AC3E}">
        <p14:creationId xmlns:p14="http://schemas.microsoft.com/office/powerpoint/2010/main" val="141230137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Need complete specification of the file system format</a:t>
            </a:r>
          </a:p>
          <a:p>
            <a:pPr lvl="1"/>
            <a:r>
              <a:rPr lang="en-CA" dirty="0" smtClean="0"/>
              <a:t>Allows type-safe parsing and updates of file system structures</a:t>
            </a:r>
          </a:p>
          <a:p>
            <a:r>
              <a:rPr lang="en-CA" dirty="0" smtClean="0"/>
              <a:t>Challenge</a:t>
            </a:r>
          </a:p>
          <a:p>
            <a:pPr lvl="1"/>
            <a:r>
              <a:rPr lang="en-CA" dirty="0" smtClean="0"/>
              <a:t>Data structure definitions in source files are incomplete</a:t>
            </a:r>
          </a:p>
          <a:p>
            <a:pPr lvl="1"/>
            <a:endParaRPr lang="en-CA" dirty="0" smtClean="0"/>
          </a:p>
          <a:p>
            <a:pPr lvl="1"/>
            <a:endParaRPr lang="en-CA" dirty="0" smtClean="0"/>
          </a:p>
          <a:p>
            <a:pPr lvl="1"/>
            <a:endParaRPr lang="en-CA" dirty="0" smtClean="0"/>
          </a:p>
          <a:p>
            <a:pPr lvl="1"/>
            <a:endParaRPr lang="en-CA" dirty="0" smtClean="0"/>
          </a:p>
          <a:p>
            <a:pPr lvl="1"/>
            <a:r>
              <a:rPr lang="en-CA" dirty="0" err="1" smtClean="0"/>
              <a:t>bar_block_ptr</a:t>
            </a:r>
            <a:r>
              <a:rPr lang="en-CA" dirty="0" smtClean="0"/>
              <a:t> is “probably” a 32-bit little endian pointer to type “</a:t>
            </a:r>
            <a:r>
              <a:rPr lang="en-CA" dirty="0" err="1" smtClean="0"/>
              <a:t>bar_block</a:t>
            </a:r>
            <a:r>
              <a:rPr lang="en-CA" dirty="0" smtClean="0"/>
              <a:t>”</a:t>
            </a:r>
          </a:p>
          <a:p>
            <a:pPr lvl="1"/>
            <a:r>
              <a:rPr lang="en-CA" dirty="0" smtClean="0"/>
              <a:t>However, its hard to deduce this type information</a:t>
            </a:r>
          </a:p>
          <a:p>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11</a:t>
            </a:fld>
            <a:endParaRPr lang="en-CA" dirty="0"/>
          </a:p>
        </p:txBody>
      </p:sp>
      <p:sp>
        <p:nvSpPr>
          <p:cNvPr id="10" name="Rectangle 9"/>
          <p:cNvSpPr/>
          <p:nvPr/>
        </p:nvSpPr>
        <p:spPr>
          <a:xfrm>
            <a:off x="897466" y="3535274"/>
            <a:ext cx="7860453" cy="1446550"/>
          </a:xfrm>
          <a:prstGeom prst="rect">
            <a:avLst/>
          </a:prstGeom>
        </p:spPr>
        <p:txBody>
          <a:bodyPr wrap="square">
            <a:spAutoFit/>
          </a:bodyPr>
          <a:lstStyle/>
          <a:p>
            <a:pPr lvl="1"/>
            <a:r>
              <a:rPr lang="en-CA" sz="2200" dirty="0" err="1">
                <a:solidFill>
                  <a:schemeClr val="bg1"/>
                </a:solidFill>
                <a:latin typeface="Courier New" panose="02070309020205020404" pitchFamily="49" charset="0"/>
                <a:cs typeface="Courier New" panose="02070309020205020404" pitchFamily="49" charset="0"/>
              </a:rPr>
              <a:t>struct</a:t>
            </a:r>
            <a:r>
              <a:rPr lang="en-CA" sz="2200" dirty="0">
                <a:solidFill>
                  <a:schemeClr val="bg1"/>
                </a:solidFill>
                <a:latin typeface="Courier New" panose="02070309020205020404" pitchFamily="49" charset="0"/>
                <a:cs typeface="Courier New" panose="02070309020205020404" pitchFamily="49" charset="0"/>
              </a:rPr>
              <a:t> foo {</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21560550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12</a:t>
            </a:fld>
            <a:endParaRPr lang="en-CA" dirty="0"/>
          </a:p>
        </p:txBody>
      </p:sp>
      <p:sp>
        <p:nvSpPr>
          <p:cNvPr id="8" name="Rectangle 7"/>
          <p:cNvSpPr/>
          <p:nvPr/>
        </p:nvSpPr>
        <p:spPr>
          <a:xfrm>
            <a:off x="971550" y="3024813"/>
            <a:ext cx="8865738" cy="2123658"/>
          </a:xfrm>
          <a:prstGeom prst="rect">
            <a:avLst/>
          </a:prstGeom>
        </p:spPr>
        <p:txBody>
          <a:bodyPr wrap="squar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FSSTRUCT() </a:t>
            </a:r>
            <a:r>
              <a:rPr lang="en-CA" sz="2200" dirty="0" smtClean="0">
                <a:solidFill>
                  <a:schemeClr val="bg1"/>
                </a:solidFill>
                <a:latin typeface="Courier New" panose="02070309020205020404" pitchFamily="49" charset="0"/>
                <a:cs typeface="Courier New" panose="02070309020205020404" pitchFamily="49" charset="0"/>
              </a:rPr>
              <a:t>foo </a:t>
            </a:r>
            <a:r>
              <a:rPr lang="en-CA" sz="2200" dirty="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endParaRPr lang="en-CA" sz="2200" dirty="0" smtClean="0">
              <a:solidFill>
                <a:schemeClr val="bg1"/>
              </a:solidFill>
              <a:latin typeface="Courier New" panose="02070309020205020404" pitchFamily="49" charset="0"/>
              <a:cs typeface="Courier New" panose="02070309020205020404" pitchFamily="49" charset="0"/>
            </a:endParaRP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a:t>
            </a:r>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32188338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Annotations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13</a:t>
            </a:fld>
            <a:endParaRPr lang="en-CA" dirty="0"/>
          </a:p>
        </p:txBody>
      </p:sp>
      <p:grpSp>
        <p:nvGrpSpPr>
          <p:cNvPr id="96" name="Group 95"/>
          <p:cNvGrpSpPr/>
          <p:nvPr/>
        </p:nvGrpSpPr>
        <p:grpSpPr>
          <a:xfrm>
            <a:off x="344346" y="3973747"/>
            <a:ext cx="1179762" cy="940832"/>
            <a:chOff x="25154821" y="7455704"/>
            <a:chExt cx="2110198" cy="2062800"/>
          </a:xfrm>
          <a:solidFill>
            <a:schemeClr val="accent5">
              <a:lumMod val="40000"/>
              <a:lumOff val="60000"/>
            </a:schemeClr>
          </a:solidFill>
        </p:grpSpPr>
        <p:sp>
          <p:nvSpPr>
            <p:cNvPr id="102" name="Rectangle 101"/>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03" name="Rectangle 102"/>
            <p:cNvSpPr/>
            <p:nvPr/>
          </p:nvSpPr>
          <p:spPr>
            <a:xfrm>
              <a:off x="25324825" y="7614366"/>
              <a:ext cx="1770194" cy="1302361"/>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bitmap</a:t>
              </a:r>
              <a:endParaRPr lang="en-US" dirty="0">
                <a:solidFill>
                  <a:schemeClr val="bg1"/>
                </a:solidFill>
              </a:endParaRPr>
            </a:p>
          </p:txBody>
        </p:sp>
      </p:grpSp>
      <p:cxnSp>
        <p:nvCxnSpPr>
          <p:cNvPr id="98" name="Straight Arrow Connector 97"/>
          <p:cNvCxnSpPr>
            <a:stCxn id="100" idx="2"/>
          </p:cNvCxnSpPr>
          <p:nvPr/>
        </p:nvCxnSpPr>
        <p:spPr>
          <a:xfrm flipH="1">
            <a:off x="895954" y="2051559"/>
            <a:ext cx="1" cy="405931"/>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344346" y="1110727"/>
            <a:ext cx="1103217"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01" name="Rectangle 100"/>
          <p:cNvSpPr/>
          <p:nvPr/>
        </p:nvSpPr>
        <p:spPr>
          <a:xfrm>
            <a:off x="319936" y="1183092"/>
            <a:ext cx="925462" cy="59243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super block</a:t>
            </a:r>
            <a:endParaRPr lang="en-US" dirty="0">
              <a:solidFill>
                <a:schemeClr val="bg1"/>
              </a:solidFill>
            </a:endParaRPr>
          </a:p>
        </p:txBody>
      </p:sp>
      <p:grpSp>
        <p:nvGrpSpPr>
          <p:cNvPr id="108" name="Group 107"/>
          <p:cNvGrpSpPr/>
          <p:nvPr/>
        </p:nvGrpSpPr>
        <p:grpSpPr>
          <a:xfrm>
            <a:off x="2676143" y="1110727"/>
            <a:ext cx="4005890" cy="940832"/>
            <a:chOff x="24275265" y="2491036"/>
            <a:chExt cx="4669172" cy="1473330"/>
          </a:xfrm>
        </p:grpSpPr>
        <p:sp>
          <p:nvSpPr>
            <p:cNvPr id="109" name="Rectangle 108"/>
            <p:cNvSpPr/>
            <p:nvPr/>
          </p:nvSpPr>
          <p:spPr>
            <a:xfrm>
              <a:off x="24275265" y="2491036"/>
              <a:ext cx="4669172"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1" name="Rectangle 110"/>
            <p:cNvSpPr/>
            <p:nvPr/>
          </p:nvSpPr>
          <p:spPr>
            <a:xfrm>
              <a:off x="24366499" y="2604357"/>
              <a:ext cx="1771964" cy="57232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ext4 journal</a:t>
              </a:r>
              <a:endParaRPr lang="en-US" dirty="0">
                <a:solidFill>
                  <a:schemeClr val="bg1"/>
                </a:solidFill>
              </a:endParaRPr>
            </a:p>
          </p:txBody>
        </p:sp>
      </p:grpSp>
      <p:cxnSp>
        <p:nvCxnSpPr>
          <p:cNvPr id="112" name="Straight Arrow Connector 111"/>
          <p:cNvCxnSpPr>
            <a:stCxn id="100" idx="3"/>
            <a:endCxn id="109" idx="1"/>
          </p:cNvCxnSpPr>
          <p:nvPr/>
        </p:nvCxnSpPr>
        <p:spPr>
          <a:xfrm>
            <a:off x="1447563" y="1581143"/>
            <a:ext cx="1228580"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16" name="Rectangle 115"/>
          <p:cNvSpPr/>
          <p:nvPr/>
        </p:nvSpPr>
        <p:spPr>
          <a:xfrm>
            <a:off x="344345" y="2391065"/>
            <a:ext cx="585481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7" name="Rectangle 116"/>
          <p:cNvSpPr/>
          <p:nvPr/>
        </p:nvSpPr>
        <p:spPr>
          <a:xfrm>
            <a:off x="433224" y="2464752"/>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sp>
        <p:nvSpPr>
          <p:cNvPr id="94" name="Rounded Rectangle 93"/>
          <p:cNvSpPr/>
          <p:nvPr/>
        </p:nvSpPr>
        <p:spPr>
          <a:xfrm>
            <a:off x="2542517" y="2459771"/>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cxnSp>
        <p:nvCxnSpPr>
          <p:cNvPr id="97" name="Straight Arrow Connector 96"/>
          <p:cNvCxnSpPr/>
          <p:nvPr/>
        </p:nvCxnSpPr>
        <p:spPr>
          <a:xfrm rot="5400000">
            <a:off x="1368598" y="2900091"/>
            <a:ext cx="1058075" cy="1944000"/>
          </a:xfrm>
          <a:prstGeom prst="bentConnector3">
            <a:avLst>
              <a:gd name="adj1" fmla="val 26888"/>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19" name="Group 118"/>
          <p:cNvGrpSpPr/>
          <p:nvPr/>
        </p:nvGrpSpPr>
        <p:grpSpPr>
          <a:xfrm>
            <a:off x="1680354" y="3973747"/>
            <a:ext cx="1175282" cy="940832"/>
            <a:chOff x="25154823" y="7455704"/>
            <a:chExt cx="2078542" cy="2062800"/>
          </a:xfrm>
          <a:solidFill>
            <a:schemeClr val="accent5">
              <a:lumMod val="40000"/>
              <a:lumOff val="60000"/>
            </a:schemeClr>
          </a:solidFill>
        </p:grpSpPr>
        <p:sp>
          <p:nvSpPr>
            <p:cNvPr id="120" name="Rectangle 119"/>
            <p:cNvSpPr/>
            <p:nvPr/>
          </p:nvSpPr>
          <p:spPr>
            <a:xfrm>
              <a:off x="25154823" y="7455704"/>
              <a:ext cx="2078542"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21" name="Rectangle 120"/>
            <p:cNvSpPr/>
            <p:nvPr/>
          </p:nvSpPr>
          <p:spPr>
            <a:xfrm>
              <a:off x="25324824" y="7614366"/>
              <a:ext cx="1770194" cy="1302361"/>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bitmap</a:t>
              </a:r>
              <a:endParaRPr lang="en-US" dirty="0">
                <a:solidFill>
                  <a:schemeClr val="bg1"/>
                </a:solidFill>
              </a:endParaRPr>
            </a:p>
          </p:txBody>
        </p:sp>
      </p:grpSp>
      <p:sp>
        <p:nvSpPr>
          <p:cNvPr id="123" name="Rectangle 122"/>
          <p:cNvSpPr/>
          <p:nvPr/>
        </p:nvSpPr>
        <p:spPr>
          <a:xfrm>
            <a:off x="3011881" y="3972762"/>
            <a:ext cx="4848275"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24" name="Rectangle 123"/>
          <p:cNvSpPr/>
          <p:nvPr/>
        </p:nvSpPr>
        <p:spPr>
          <a:xfrm>
            <a:off x="3096240" y="4042905"/>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table</a:t>
            </a:r>
            <a:endParaRPr lang="en-US" dirty="0">
              <a:solidFill>
                <a:schemeClr val="bg1"/>
              </a:solidFill>
            </a:endParaRPr>
          </a:p>
        </p:txBody>
      </p:sp>
      <p:cxnSp>
        <p:nvCxnSpPr>
          <p:cNvPr id="130" name="Straight Arrow Connector 96"/>
          <p:cNvCxnSpPr>
            <a:stCxn id="94" idx="2"/>
            <a:endCxn id="120" idx="0"/>
          </p:cNvCxnSpPr>
          <p:nvPr/>
        </p:nvCxnSpPr>
        <p:spPr>
          <a:xfrm rot="5400000">
            <a:off x="2444853" y="3166197"/>
            <a:ext cx="630693" cy="984407"/>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3" name="Rounded Rectangle 132"/>
          <p:cNvSpPr/>
          <p:nvPr/>
        </p:nvSpPr>
        <p:spPr>
          <a:xfrm>
            <a:off x="4095683" y="2483683"/>
            <a:ext cx="1380879" cy="859370"/>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cxnSp>
        <p:nvCxnSpPr>
          <p:cNvPr id="134" name="Straight Arrow Connector 96"/>
          <p:cNvCxnSpPr/>
          <p:nvPr/>
        </p:nvCxnSpPr>
        <p:spPr>
          <a:xfrm>
            <a:off x="3615446" y="3343053"/>
            <a:ext cx="0" cy="1054134"/>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5" name="Rounded Rectangle 94"/>
          <p:cNvSpPr/>
          <p:nvPr/>
        </p:nvSpPr>
        <p:spPr>
          <a:xfrm>
            <a:off x="4036719" y="4042904"/>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a:t>
            </a:r>
            <a:r>
              <a:rPr lang="en-US" altLang="zh-TW" dirty="0" err="1" smtClean="0">
                <a:solidFill>
                  <a:schemeClr val="tx1"/>
                </a:solidFill>
              </a:rPr>
              <a:t>reg</a:t>
            </a:r>
            <a:r>
              <a:rPr lang="en-US" altLang="zh-TW" dirty="0" smtClean="0">
                <a:solidFill>
                  <a:schemeClr val="tx1"/>
                </a:solidFill>
              </a:rPr>
              <a:t> file)</a:t>
            </a:r>
            <a:endParaRPr lang="zh-TW" altLang="en-US" dirty="0">
              <a:solidFill>
                <a:schemeClr val="tx1"/>
              </a:solidFill>
            </a:endParaRPr>
          </a:p>
        </p:txBody>
      </p:sp>
      <p:sp>
        <p:nvSpPr>
          <p:cNvPr id="138" name="Rounded Rectangle 137"/>
          <p:cNvSpPr/>
          <p:nvPr/>
        </p:nvSpPr>
        <p:spPr>
          <a:xfrm>
            <a:off x="6442517" y="4042903"/>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(directory)</a:t>
            </a:r>
            <a:endParaRPr lang="zh-TW" altLang="en-US" dirty="0">
              <a:solidFill>
                <a:schemeClr val="tx1"/>
              </a:solidFill>
            </a:endParaRPr>
          </a:p>
        </p:txBody>
      </p:sp>
      <p:sp>
        <p:nvSpPr>
          <p:cNvPr id="139" name="TextBox 138"/>
          <p:cNvSpPr txBox="1"/>
          <p:nvPr/>
        </p:nvSpPr>
        <p:spPr>
          <a:xfrm>
            <a:off x="5579169" y="2570215"/>
            <a:ext cx="543739" cy="523220"/>
          </a:xfrm>
          <a:prstGeom prst="rect">
            <a:avLst/>
          </a:prstGeom>
          <a:noFill/>
        </p:spPr>
        <p:txBody>
          <a:bodyPr wrap="none" rtlCol="0">
            <a:spAutoFit/>
          </a:bodyPr>
          <a:lstStyle/>
          <a:p>
            <a:r>
              <a:rPr lang="en-CA" sz="2800" dirty="0" smtClean="0">
                <a:solidFill>
                  <a:schemeClr val="bg1"/>
                </a:solidFill>
              </a:rPr>
              <a:t>…</a:t>
            </a:r>
            <a:endParaRPr lang="en-CA" sz="2800" dirty="0">
              <a:solidFill>
                <a:schemeClr val="bg1"/>
              </a:solidFill>
            </a:endParaRPr>
          </a:p>
        </p:txBody>
      </p:sp>
      <p:sp>
        <p:nvSpPr>
          <p:cNvPr id="140" name="TextBox 139"/>
          <p:cNvSpPr txBox="1"/>
          <p:nvPr/>
        </p:nvSpPr>
        <p:spPr>
          <a:xfrm>
            <a:off x="5450443" y="4078295"/>
            <a:ext cx="543739" cy="523220"/>
          </a:xfrm>
          <a:prstGeom prst="rect">
            <a:avLst/>
          </a:prstGeom>
          <a:noFill/>
        </p:spPr>
        <p:txBody>
          <a:bodyPr wrap="none" rtlCol="0">
            <a:spAutoFit/>
          </a:bodyPr>
          <a:lstStyle/>
          <a:p>
            <a:r>
              <a:rPr lang="en-CA" sz="2800" dirty="0" smtClean="0">
                <a:solidFill>
                  <a:schemeClr val="bg1"/>
                </a:solidFill>
              </a:rPr>
              <a:t>…</a:t>
            </a:r>
            <a:endParaRPr lang="en-CA" sz="2800" dirty="0">
              <a:solidFill>
                <a:schemeClr val="bg1"/>
              </a:solidFill>
            </a:endParaRPr>
          </a:p>
        </p:txBody>
      </p:sp>
      <p:grpSp>
        <p:nvGrpSpPr>
          <p:cNvPr id="141" name="Group 140"/>
          <p:cNvGrpSpPr/>
          <p:nvPr/>
        </p:nvGrpSpPr>
        <p:grpSpPr>
          <a:xfrm>
            <a:off x="6664410" y="3137400"/>
            <a:ext cx="1103217" cy="940832"/>
            <a:chOff x="25154821" y="7455704"/>
            <a:chExt cx="2110198" cy="2062800"/>
          </a:xfrm>
          <a:solidFill>
            <a:schemeClr val="accent5">
              <a:lumMod val="40000"/>
              <a:lumOff val="60000"/>
            </a:schemeClr>
          </a:solidFill>
        </p:grpSpPr>
        <p:sp>
          <p:nvSpPr>
            <p:cNvPr id="142" name="Rectangle 141"/>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43" name="Rectangle 142"/>
            <p:cNvSpPr/>
            <p:nvPr/>
          </p:nvSpPr>
          <p:spPr>
            <a:xfrm>
              <a:off x="25324824" y="7614364"/>
              <a:ext cx="1770194" cy="1302361"/>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dir</a:t>
              </a:r>
              <a:r>
                <a:rPr lang="en-US" dirty="0" smtClean="0">
                  <a:solidFill>
                    <a:schemeClr val="bg1"/>
                  </a:solidFill>
                </a:rPr>
                <a:t> block</a:t>
              </a:r>
              <a:endParaRPr lang="en-US" dirty="0">
                <a:solidFill>
                  <a:schemeClr val="bg1"/>
                </a:solidFill>
              </a:endParaRPr>
            </a:p>
          </p:txBody>
        </p:sp>
      </p:grpSp>
      <p:grpSp>
        <p:nvGrpSpPr>
          <p:cNvPr id="144" name="Group 143"/>
          <p:cNvGrpSpPr/>
          <p:nvPr/>
        </p:nvGrpSpPr>
        <p:grpSpPr>
          <a:xfrm>
            <a:off x="8177361" y="3969806"/>
            <a:ext cx="1211564" cy="944774"/>
            <a:chOff x="25154821" y="7455704"/>
            <a:chExt cx="2110198" cy="2062800"/>
          </a:xfrm>
          <a:solidFill>
            <a:schemeClr val="accent5">
              <a:lumMod val="40000"/>
              <a:lumOff val="60000"/>
            </a:schemeClr>
          </a:solidFill>
        </p:grpSpPr>
        <p:sp>
          <p:nvSpPr>
            <p:cNvPr id="145" name="Rectangle 144"/>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46" name="Rectangle 145"/>
            <p:cNvSpPr/>
            <p:nvPr/>
          </p:nvSpPr>
          <p:spPr>
            <a:xfrm>
              <a:off x="25324824" y="7615302"/>
              <a:ext cx="1770193" cy="17369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dir</a:t>
              </a:r>
              <a:endParaRPr lang="en-US" dirty="0" smtClean="0">
                <a:solidFill>
                  <a:schemeClr val="bg1"/>
                </a:solidFill>
              </a:endParaRPr>
            </a:p>
            <a:p>
              <a:pPr algn="ctr"/>
              <a:r>
                <a:rPr lang="en-US" dirty="0" smtClean="0">
                  <a:solidFill>
                    <a:schemeClr val="bg1"/>
                  </a:solidFill>
                </a:rPr>
                <a:t>indirect</a:t>
              </a:r>
            </a:p>
            <a:p>
              <a:pPr algn="ctr"/>
              <a:r>
                <a:rPr lang="en-US" dirty="0" smtClean="0">
                  <a:solidFill>
                    <a:schemeClr val="bg1"/>
                  </a:solidFill>
                </a:rPr>
                <a:t>block</a:t>
              </a:r>
              <a:endParaRPr lang="en-US" dirty="0">
                <a:solidFill>
                  <a:schemeClr val="bg1"/>
                </a:solidFill>
              </a:endParaRPr>
            </a:p>
          </p:txBody>
        </p:sp>
      </p:grpSp>
      <p:grpSp>
        <p:nvGrpSpPr>
          <p:cNvPr id="147" name="Group 146"/>
          <p:cNvGrpSpPr/>
          <p:nvPr/>
        </p:nvGrpSpPr>
        <p:grpSpPr>
          <a:xfrm rot="16200000" flipV="1">
            <a:off x="8619120" y="3530947"/>
            <a:ext cx="327375" cy="584384"/>
            <a:chOff x="27236633" y="9932056"/>
            <a:chExt cx="578250" cy="990600"/>
          </a:xfrm>
        </p:grpSpPr>
        <p:cxnSp>
          <p:nvCxnSpPr>
            <p:cNvPr id="148" name="Straight Arrow Connector 147"/>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51" name="Group 150"/>
          <p:cNvGrpSpPr/>
          <p:nvPr/>
        </p:nvGrpSpPr>
        <p:grpSpPr>
          <a:xfrm>
            <a:off x="8177545" y="3093605"/>
            <a:ext cx="1211380" cy="984627"/>
            <a:chOff x="20309820" y="9557482"/>
            <a:chExt cx="2053432" cy="1739168"/>
          </a:xfrm>
          <a:solidFill>
            <a:schemeClr val="accent5">
              <a:lumMod val="40000"/>
              <a:lumOff val="60000"/>
            </a:schemeClr>
          </a:solidFill>
        </p:grpSpPr>
        <p:sp>
          <p:nvSpPr>
            <p:cNvPr id="152" name="Rectangle 151"/>
            <p:cNvSpPr/>
            <p:nvPr/>
          </p:nvSpPr>
          <p:spPr>
            <a:xfrm>
              <a:off x="20498872" y="955748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3" name="Rectangle 152"/>
            <p:cNvSpPr/>
            <p:nvPr/>
          </p:nvSpPr>
          <p:spPr>
            <a:xfrm>
              <a:off x="20403622" y="965273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grpSp>
          <p:nvGrpSpPr>
            <p:cNvPr id="154" name="Group 153"/>
            <p:cNvGrpSpPr/>
            <p:nvPr/>
          </p:nvGrpSpPr>
          <p:grpSpPr>
            <a:xfrm>
              <a:off x="20309820" y="9762072"/>
              <a:ext cx="1864380" cy="1534578"/>
              <a:chOff x="25154821" y="7455704"/>
              <a:chExt cx="1864380" cy="1534578"/>
            </a:xfrm>
            <a:grpFill/>
          </p:grpSpPr>
          <p:sp>
            <p:nvSpPr>
              <p:cNvPr id="155" name="Rectangle 154"/>
              <p:cNvSpPr/>
              <p:nvPr/>
            </p:nvSpPr>
            <p:spPr>
              <a:xfrm>
                <a:off x="25154821" y="7455704"/>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6" name="Rectangle 155"/>
              <p:cNvSpPr/>
              <p:nvPr/>
            </p:nvSpPr>
            <p:spPr>
              <a:xfrm>
                <a:off x="25324824" y="7614367"/>
                <a:ext cx="1541977" cy="107255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dir</a:t>
                </a:r>
                <a:endParaRPr lang="en-US" dirty="0" smtClean="0">
                  <a:solidFill>
                    <a:schemeClr val="bg1"/>
                  </a:solidFill>
                </a:endParaRPr>
              </a:p>
              <a:p>
                <a:pPr algn="ctr"/>
                <a:r>
                  <a:rPr lang="en-US" dirty="0" smtClean="0">
                    <a:solidFill>
                      <a:schemeClr val="bg1"/>
                    </a:solidFill>
                  </a:rPr>
                  <a:t>blocks</a:t>
                </a:r>
                <a:endParaRPr lang="en-US" dirty="0">
                  <a:solidFill>
                    <a:schemeClr val="bg1"/>
                  </a:solidFill>
                </a:endParaRPr>
              </a:p>
            </p:txBody>
          </p:sp>
        </p:grpSp>
      </p:grpSp>
      <p:cxnSp>
        <p:nvCxnSpPr>
          <p:cNvPr id="168" name="Straight Arrow Connector 96"/>
          <p:cNvCxnSpPr>
            <a:stCxn id="138" idx="0"/>
          </p:cNvCxnSpPr>
          <p:nvPr/>
        </p:nvCxnSpPr>
        <p:spPr>
          <a:xfrm flipV="1">
            <a:off x="7050205" y="3649261"/>
            <a:ext cx="0" cy="39364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71" name="Straight Arrow Connector 96"/>
          <p:cNvCxnSpPr>
            <a:stCxn id="138" idx="3"/>
            <a:endCxn id="145" idx="1"/>
          </p:cNvCxnSpPr>
          <p:nvPr/>
        </p:nvCxnSpPr>
        <p:spPr>
          <a:xfrm>
            <a:off x="7657893" y="4440679"/>
            <a:ext cx="519468" cy="1514"/>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rot="5400000">
            <a:off x="4624253" y="3251214"/>
            <a:ext cx="327375" cy="584384"/>
            <a:chOff x="27236633" y="9932056"/>
            <a:chExt cx="578250" cy="990600"/>
          </a:xfrm>
        </p:grpSpPr>
        <p:cxnSp>
          <p:nvCxnSpPr>
            <p:cNvPr id="175" name="Straight Arrow Connector 174"/>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178" name="TextBox 177"/>
          <p:cNvSpPr txBox="1"/>
          <p:nvPr/>
        </p:nvSpPr>
        <p:spPr>
          <a:xfrm>
            <a:off x="4514253" y="3466750"/>
            <a:ext cx="543739" cy="523220"/>
          </a:xfrm>
          <a:prstGeom prst="rect">
            <a:avLst/>
          </a:prstGeom>
          <a:noFill/>
        </p:spPr>
        <p:txBody>
          <a:bodyPr wrap="none" rtlCol="0">
            <a:spAutoFit/>
          </a:bodyPr>
          <a:lstStyle/>
          <a:p>
            <a:r>
              <a:rPr lang="en-CA" sz="2800" dirty="0" smtClean="0">
                <a:solidFill>
                  <a:schemeClr val="bg1"/>
                </a:solidFill>
              </a:rPr>
              <a:t>…</a:t>
            </a:r>
            <a:endParaRPr lang="en-CA" sz="2800" dirty="0">
              <a:solidFill>
                <a:schemeClr val="bg1"/>
              </a:solidFill>
            </a:endParaRPr>
          </a:p>
        </p:txBody>
      </p:sp>
      <p:sp>
        <p:nvSpPr>
          <p:cNvPr id="180" name="TextBox 179"/>
          <p:cNvSpPr txBox="1"/>
          <p:nvPr/>
        </p:nvSpPr>
        <p:spPr>
          <a:xfrm>
            <a:off x="7997759" y="1832952"/>
            <a:ext cx="1947969" cy="646331"/>
          </a:xfrm>
          <a:prstGeom prst="rect">
            <a:avLst/>
          </a:prstGeom>
          <a:noFill/>
        </p:spPr>
        <p:txBody>
          <a:bodyPr wrap="none" rtlCol="0">
            <a:spAutoFit/>
          </a:bodyPr>
          <a:lstStyle/>
          <a:p>
            <a:r>
              <a:rPr lang="en-CA" dirty="0" smtClean="0">
                <a:solidFill>
                  <a:schemeClr val="bg1"/>
                </a:solidFill>
              </a:rPr>
              <a:t>Ext4 File System </a:t>
            </a:r>
            <a:br>
              <a:rPr lang="en-CA" dirty="0" smtClean="0">
                <a:solidFill>
                  <a:schemeClr val="bg1"/>
                </a:solidFill>
              </a:rPr>
            </a:br>
            <a:r>
              <a:rPr lang="en-CA" dirty="0" smtClean="0">
                <a:solidFill>
                  <a:schemeClr val="bg1"/>
                </a:solidFill>
              </a:rPr>
              <a:t>Metadata Tree</a:t>
            </a:r>
            <a:endParaRPr lang="en-CA" dirty="0">
              <a:solidFill>
                <a:schemeClr val="bg1"/>
              </a:solidFill>
            </a:endParaRPr>
          </a:p>
        </p:txBody>
      </p:sp>
    </p:spTree>
    <p:extLst>
      <p:ext uri="{BB962C8B-B14F-4D97-AF65-F5344CB8AC3E}">
        <p14:creationId xmlns:p14="http://schemas.microsoft.com/office/powerpoint/2010/main" val="24021129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Address Space</a:t>
            </a:r>
            <a:endParaRPr lang="en-CA" dirty="0"/>
          </a:p>
        </p:txBody>
      </p:sp>
      <p:sp>
        <p:nvSpPr>
          <p:cNvPr id="3" name="Content Placeholder 2"/>
          <p:cNvSpPr>
            <a:spLocks noGrp="1"/>
          </p:cNvSpPr>
          <p:nvPr>
            <p:ph idx="1"/>
          </p:nvPr>
        </p:nvSpPr>
        <p:spPr/>
        <p:txBody>
          <a:bodyPr/>
          <a:lstStyle/>
          <a:p>
            <a:r>
              <a:rPr lang="en-US" dirty="0" smtClean="0"/>
              <a:t>Challenge: </a:t>
            </a:r>
            <a:r>
              <a:rPr lang="en-CA" dirty="0"/>
              <a:t>File system pointer can store different types of </a:t>
            </a:r>
            <a:r>
              <a:rPr lang="en-CA" dirty="0" smtClean="0"/>
              <a:t/>
            </a:r>
            <a:br>
              <a:rPr lang="en-CA" dirty="0" smtClean="0"/>
            </a:br>
            <a:r>
              <a:rPr lang="en-CA" dirty="0" smtClean="0"/>
              <a:t>logical addresses</a:t>
            </a:r>
          </a:p>
          <a:p>
            <a:pPr lvl="1"/>
            <a:r>
              <a:rPr lang="en-CA" dirty="0" smtClean="0"/>
              <a:t>Need different mappings to obtain physical address</a:t>
            </a:r>
          </a:p>
          <a:p>
            <a:r>
              <a:rPr lang="en-CA" dirty="0" smtClean="0"/>
              <a:t>Solution: Pointer annotations specify an </a:t>
            </a:r>
            <a:r>
              <a:rPr lang="en-CA" i="1" dirty="0"/>
              <a:t>address space</a:t>
            </a:r>
            <a:r>
              <a:rPr lang="en-CA" b="1" dirty="0"/>
              <a:t> </a:t>
            </a:r>
            <a:r>
              <a:rPr lang="en-CA" dirty="0"/>
              <a:t>that indicates how the address should be </a:t>
            </a:r>
            <a:r>
              <a:rPr lang="en-CA" dirty="0" smtClean="0"/>
              <a:t>mapped to </a:t>
            </a:r>
            <a:r>
              <a:rPr lang="en-CA" dirty="0"/>
              <a:t>physical location</a:t>
            </a:r>
          </a:p>
          <a:p>
            <a:endParaRPr lang="en-CA" dirty="0" smtClean="0"/>
          </a:p>
          <a:p>
            <a:endParaRPr lang="en-CA" dirty="0" smtClean="0"/>
          </a:p>
          <a:p>
            <a:r>
              <a:rPr lang="en-CA" dirty="0" smtClean="0"/>
              <a:t>Examples: Block, File, F2FS NID address spaces</a:t>
            </a:r>
          </a:p>
        </p:txBody>
      </p:sp>
      <p:sp>
        <p:nvSpPr>
          <p:cNvPr id="5" name="Slide Number Placeholder 4"/>
          <p:cNvSpPr>
            <a:spLocks noGrp="1"/>
          </p:cNvSpPr>
          <p:nvPr>
            <p:ph type="sldNum" sz="quarter" idx="12"/>
          </p:nvPr>
        </p:nvSpPr>
        <p:spPr/>
        <p:txBody>
          <a:bodyPr/>
          <a:lstStyle/>
          <a:p>
            <a:fld id="{7B2023C8-B124-43A9-8F92-0EEF5BAA9995}" type="slidenum">
              <a:rPr lang="en-CA" smtClean="0"/>
              <a:pPr/>
              <a:t>14</a:t>
            </a:fld>
            <a:endParaRPr lang="en-CA" dirty="0"/>
          </a:p>
        </p:txBody>
      </p:sp>
      <p:sp>
        <p:nvSpPr>
          <p:cNvPr id="8" name="Rectangle 7"/>
          <p:cNvSpPr/>
          <p:nvPr/>
        </p:nvSpPr>
        <p:spPr>
          <a:xfrm>
            <a:off x="1506062" y="3986019"/>
            <a:ext cx="7443063" cy="430887"/>
          </a:xfrm>
          <a:prstGeom prst="rect">
            <a:avLst/>
          </a:prstGeom>
        </p:spPr>
        <p:txBody>
          <a:bodyPr wrap="non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a:t>
            </a:r>
            <a:r>
              <a:rPr lang="en-CA" sz="2200" dirty="0" err="1" smtClean="0">
                <a:solidFill>
                  <a:schemeClr val="bg1"/>
                </a:solidFill>
                <a:latin typeface="Courier New" panose="02070309020205020404" pitchFamily="49" charset="0"/>
                <a:cs typeface="Courier New" panose="02070309020205020404" pitchFamily="49" charset="0"/>
              </a:rPr>
              <a:t>addrspace</a:t>
            </a:r>
            <a:r>
              <a:rPr lang="en-CA" sz="2200" dirty="0" smtClean="0">
                <a:solidFill>
                  <a:schemeClr val="bg1"/>
                </a:solidFill>
                <a:latin typeface="Courier New" panose="02070309020205020404" pitchFamily="49" charset="0"/>
                <a:cs typeface="Courier New" panose="02070309020205020404" pitchFamily="49" charset="0"/>
              </a:rPr>
              <a:t>=block,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95500087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Block Address Space</a:t>
            </a:r>
            <a:endParaRPr lang="en-CA" dirty="0"/>
          </a:p>
        </p:txBody>
      </p:sp>
      <p:sp>
        <p:nvSpPr>
          <p:cNvPr id="3" name="Content Placeholder 2"/>
          <p:cNvSpPr>
            <a:spLocks noGrp="1"/>
          </p:cNvSpPr>
          <p:nvPr>
            <p:ph idx="1"/>
          </p:nvPr>
        </p:nvSpPr>
        <p:spPr/>
        <p:txBody>
          <a:bodyPr/>
          <a:lstStyle/>
          <a:p>
            <a:r>
              <a:rPr lang="en-CA" dirty="0"/>
              <a:t>Block address is the block number in the file system</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15</a:t>
            </a:fld>
            <a:endParaRPr lang="en-CA" dirty="0"/>
          </a:p>
        </p:txBody>
      </p:sp>
      <p:grpSp>
        <p:nvGrpSpPr>
          <p:cNvPr id="6" name="Group 5"/>
          <p:cNvGrpSpPr/>
          <p:nvPr/>
        </p:nvGrpSpPr>
        <p:grpSpPr>
          <a:xfrm>
            <a:off x="1095154" y="5240219"/>
            <a:ext cx="1076231" cy="847281"/>
            <a:chOff x="25154821" y="7455704"/>
            <a:chExt cx="2110198" cy="2062800"/>
          </a:xfrm>
          <a:solidFill>
            <a:schemeClr val="accent5">
              <a:lumMod val="40000"/>
              <a:lumOff val="60000"/>
            </a:schemeClr>
          </a:solidFill>
        </p:grpSpPr>
        <p:sp>
          <p:nvSpPr>
            <p:cNvPr id="53" name="Rectangle 52"/>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54" name="Rectangle 53"/>
            <p:cNvSpPr/>
            <p:nvPr/>
          </p:nvSpPr>
          <p:spPr>
            <a:xfrm>
              <a:off x="25324825" y="7614366"/>
              <a:ext cx="1770194" cy="130236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bitmap</a:t>
              </a:r>
              <a:endParaRPr lang="en-US" sz="1600" dirty="0">
                <a:solidFill>
                  <a:schemeClr val="bg1"/>
                </a:solidFill>
              </a:endParaRPr>
            </a:p>
          </p:txBody>
        </p:sp>
      </p:grpSp>
      <p:cxnSp>
        <p:nvCxnSpPr>
          <p:cNvPr id="7" name="Straight Arrow Connector 6"/>
          <p:cNvCxnSpPr>
            <a:stCxn id="8" idx="2"/>
          </p:cNvCxnSpPr>
          <p:nvPr/>
        </p:nvCxnSpPr>
        <p:spPr>
          <a:xfrm flipH="1">
            <a:off x="1598355" y="2963160"/>
            <a:ext cx="1" cy="46686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1095154" y="2115879"/>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9" name="Rectangle 8"/>
          <p:cNvSpPr/>
          <p:nvPr/>
        </p:nvSpPr>
        <p:spPr>
          <a:xfrm>
            <a:off x="1176232" y="2181048"/>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10" name="Group 9"/>
          <p:cNvGrpSpPr/>
          <p:nvPr/>
        </p:nvGrpSpPr>
        <p:grpSpPr>
          <a:xfrm>
            <a:off x="3222322" y="2115879"/>
            <a:ext cx="3654350" cy="847281"/>
            <a:chOff x="24275265" y="2491036"/>
            <a:chExt cx="4669172" cy="1473330"/>
          </a:xfrm>
        </p:grpSpPr>
        <p:sp>
          <p:nvSpPr>
            <p:cNvPr id="51" name="Rectangle 50"/>
            <p:cNvSpPr/>
            <p:nvPr/>
          </p:nvSpPr>
          <p:spPr>
            <a:xfrm>
              <a:off x="24275265" y="2491036"/>
              <a:ext cx="4669172" cy="1473330"/>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52" name="Rectangle 51"/>
            <p:cNvSpPr/>
            <p:nvPr/>
          </p:nvSpPr>
          <p:spPr>
            <a:xfrm>
              <a:off x="24366499" y="2604357"/>
              <a:ext cx="1771964" cy="572323"/>
            </a:xfrm>
            <a:prstGeom prst="rect">
              <a:avLst/>
            </a:prstGeom>
            <a:solidFill>
              <a:schemeClr val="tx1"/>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ext4 journal</a:t>
              </a:r>
              <a:endParaRPr lang="en-US" sz="1600" dirty="0">
                <a:solidFill>
                  <a:schemeClr val="bg1">
                    <a:lumMod val="50000"/>
                    <a:lumOff val="50000"/>
                  </a:schemeClr>
                </a:solidFill>
              </a:endParaRPr>
            </a:p>
          </p:txBody>
        </p:sp>
      </p:grpSp>
      <p:cxnSp>
        <p:nvCxnSpPr>
          <p:cNvPr id="11" name="Straight Arrow Connector 10"/>
          <p:cNvCxnSpPr>
            <a:stCxn id="8" idx="3"/>
            <a:endCxn id="51" idx="1"/>
          </p:cNvCxnSpPr>
          <p:nvPr/>
        </p:nvCxnSpPr>
        <p:spPr>
          <a:xfrm>
            <a:off x="2101557" y="2539519"/>
            <a:ext cx="1120765" cy="0"/>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1095153" y="3430025"/>
            <a:ext cx="5341017" cy="954429"/>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3" name="Rectangle 12"/>
          <p:cNvSpPr/>
          <p:nvPr/>
        </p:nvSpPr>
        <p:spPr>
          <a:xfrm>
            <a:off x="1176232" y="3496385"/>
            <a:ext cx="1826320" cy="56902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group descriptor table</a:t>
            </a:r>
            <a:endParaRPr lang="en-US" sz="1600" dirty="0">
              <a:solidFill>
                <a:schemeClr val="bg1"/>
              </a:solidFill>
            </a:endParaRPr>
          </a:p>
        </p:txBody>
      </p:sp>
      <p:sp>
        <p:nvSpPr>
          <p:cNvPr id="14" name="Rounded Rectangle 13"/>
          <p:cNvSpPr/>
          <p:nvPr/>
        </p:nvSpPr>
        <p:spPr>
          <a:xfrm>
            <a:off x="3100423" y="3491900"/>
            <a:ext cx="1295177" cy="795454"/>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tx1"/>
                </a:solidFill>
              </a:rPr>
              <a:t>block group descriptor</a:t>
            </a:r>
            <a:endParaRPr lang="zh-TW" altLang="en-US" sz="1600" dirty="0">
              <a:solidFill>
                <a:schemeClr val="tx1"/>
              </a:solidFill>
            </a:endParaRPr>
          </a:p>
        </p:txBody>
      </p:sp>
      <p:cxnSp>
        <p:nvCxnSpPr>
          <p:cNvPr id="15" name="Straight Arrow Connector 96"/>
          <p:cNvCxnSpPr/>
          <p:nvPr/>
        </p:nvCxnSpPr>
        <p:spPr>
          <a:xfrm rot="5400000">
            <a:off x="2035700" y="3877085"/>
            <a:ext cx="952866" cy="1773403"/>
          </a:xfrm>
          <a:prstGeom prst="bentConnector3">
            <a:avLst>
              <a:gd name="adj1" fmla="val 26888"/>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6" name="Group 15"/>
          <p:cNvGrpSpPr/>
          <p:nvPr/>
        </p:nvGrpSpPr>
        <p:grpSpPr>
          <a:xfrm>
            <a:off x="2313919" y="5240219"/>
            <a:ext cx="1072144" cy="847281"/>
            <a:chOff x="25154823" y="7455704"/>
            <a:chExt cx="2078542" cy="2062800"/>
          </a:xfrm>
          <a:solidFill>
            <a:schemeClr val="accent5">
              <a:lumMod val="40000"/>
              <a:lumOff val="60000"/>
            </a:schemeClr>
          </a:solidFill>
        </p:grpSpPr>
        <p:sp>
          <p:nvSpPr>
            <p:cNvPr id="49" name="Rectangle 48"/>
            <p:cNvSpPr/>
            <p:nvPr/>
          </p:nvSpPr>
          <p:spPr>
            <a:xfrm>
              <a:off x="25154823" y="7455704"/>
              <a:ext cx="2078542"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50" name="Rectangle 49"/>
            <p:cNvSpPr/>
            <p:nvPr/>
          </p:nvSpPr>
          <p:spPr>
            <a:xfrm>
              <a:off x="25324824" y="7614366"/>
              <a:ext cx="1770194" cy="130236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inode</a:t>
              </a:r>
              <a:r>
                <a:rPr lang="en-US" sz="1600" dirty="0" smtClean="0">
                  <a:solidFill>
                    <a:schemeClr val="bg1"/>
                  </a:solidFill>
                </a:rPr>
                <a:t> bitmap</a:t>
              </a:r>
              <a:endParaRPr lang="en-US" sz="1600" dirty="0">
                <a:solidFill>
                  <a:schemeClr val="bg1"/>
                </a:solidFill>
              </a:endParaRPr>
            </a:p>
          </p:txBody>
        </p:sp>
      </p:grpSp>
      <p:sp>
        <p:nvSpPr>
          <p:cNvPr id="17" name="Rectangle 16"/>
          <p:cNvSpPr/>
          <p:nvPr/>
        </p:nvSpPr>
        <p:spPr>
          <a:xfrm>
            <a:off x="3528597" y="5239332"/>
            <a:ext cx="4422810"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8" name="Rectangle 17"/>
          <p:cNvSpPr/>
          <p:nvPr/>
        </p:nvSpPr>
        <p:spPr>
          <a:xfrm>
            <a:off x="3605553" y="5302501"/>
            <a:ext cx="769178" cy="534936"/>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inode</a:t>
            </a:r>
            <a:r>
              <a:rPr lang="en-US" sz="1600" dirty="0" smtClean="0">
                <a:solidFill>
                  <a:schemeClr val="bg1"/>
                </a:solidFill>
              </a:rPr>
              <a:t> table</a:t>
            </a:r>
            <a:endParaRPr lang="en-US" sz="1600" dirty="0">
              <a:solidFill>
                <a:schemeClr val="bg1"/>
              </a:solidFill>
            </a:endParaRPr>
          </a:p>
        </p:txBody>
      </p:sp>
      <p:cxnSp>
        <p:nvCxnSpPr>
          <p:cNvPr id="19" name="Straight Arrow Connector 96"/>
          <p:cNvCxnSpPr>
            <a:stCxn id="14" idx="2"/>
            <a:endCxn id="49" idx="0"/>
          </p:cNvCxnSpPr>
          <p:nvPr/>
        </p:nvCxnSpPr>
        <p:spPr>
          <a:xfrm rot="5400000">
            <a:off x="2822569" y="4314777"/>
            <a:ext cx="952866" cy="898020"/>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 name="Rounded Rectangle 19"/>
          <p:cNvSpPr/>
          <p:nvPr/>
        </p:nvSpPr>
        <p:spPr>
          <a:xfrm>
            <a:off x="4517289" y="3513434"/>
            <a:ext cx="1259699" cy="773919"/>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tx1"/>
                </a:solidFill>
              </a:rPr>
              <a:t>block group descriptor</a:t>
            </a:r>
            <a:endParaRPr lang="zh-TW" altLang="en-US" sz="1600" dirty="0">
              <a:solidFill>
                <a:schemeClr val="tx1"/>
              </a:solidFill>
            </a:endParaRPr>
          </a:p>
        </p:txBody>
      </p:sp>
      <p:cxnSp>
        <p:nvCxnSpPr>
          <p:cNvPr id="21" name="Straight Arrow Connector 96"/>
          <p:cNvCxnSpPr/>
          <p:nvPr/>
        </p:nvCxnSpPr>
        <p:spPr>
          <a:xfrm>
            <a:off x="4079196" y="4287353"/>
            <a:ext cx="0" cy="94931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2" name="Rounded Rectangle 21"/>
          <p:cNvSpPr/>
          <p:nvPr/>
        </p:nvSpPr>
        <p:spPr>
          <a:xfrm>
            <a:off x="4463500" y="5302500"/>
            <a:ext cx="880671" cy="716446"/>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a:t>
            </a:r>
            <a:r>
              <a:rPr lang="en-US" altLang="zh-TW" sz="1600" dirty="0" err="1" smtClean="0">
                <a:solidFill>
                  <a:schemeClr val="tx1"/>
                </a:solidFill>
              </a:rPr>
              <a:t>reg</a:t>
            </a:r>
            <a:r>
              <a:rPr lang="en-US" altLang="zh-TW" sz="1600" dirty="0" smtClean="0">
                <a:solidFill>
                  <a:schemeClr val="tx1"/>
                </a:solidFill>
              </a:rPr>
              <a:t> file)</a:t>
            </a:r>
            <a:endParaRPr lang="zh-TW" altLang="en-US" sz="1600" dirty="0">
              <a:solidFill>
                <a:schemeClr val="tx1"/>
              </a:solidFill>
            </a:endParaRPr>
          </a:p>
        </p:txBody>
      </p:sp>
      <p:sp>
        <p:nvSpPr>
          <p:cNvPr id="23" name="Rounded Rectangle 22"/>
          <p:cNvSpPr/>
          <p:nvPr/>
        </p:nvSpPr>
        <p:spPr>
          <a:xfrm>
            <a:off x="6658175" y="5302499"/>
            <a:ext cx="1108720" cy="716446"/>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(directory)</a:t>
            </a:r>
            <a:endParaRPr lang="zh-TW" altLang="en-US" sz="1600" dirty="0">
              <a:solidFill>
                <a:schemeClr val="tx1"/>
              </a:solidFill>
            </a:endParaRPr>
          </a:p>
        </p:txBody>
      </p:sp>
      <p:sp>
        <p:nvSpPr>
          <p:cNvPr id="24" name="TextBox 23"/>
          <p:cNvSpPr txBox="1"/>
          <p:nvPr/>
        </p:nvSpPr>
        <p:spPr>
          <a:xfrm>
            <a:off x="5870590" y="3591362"/>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sp>
        <p:nvSpPr>
          <p:cNvPr id="25" name="TextBox 24"/>
          <p:cNvSpPr txBox="1"/>
          <p:nvPr/>
        </p:nvSpPr>
        <p:spPr>
          <a:xfrm>
            <a:off x="5753161" y="5334372"/>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grpSp>
        <p:nvGrpSpPr>
          <p:cNvPr id="26" name="Group 25"/>
          <p:cNvGrpSpPr/>
          <p:nvPr/>
        </p:nvGrpSpPr>
        <p:grpSpPr>
          <a:xfrm>
            <a:off x="6860595" y="4102149"/>
            <a:ext cx="1006403" cy="847281"/>
            <a:chOff x="25154821" y="7455704"/>
            <a:chExt cx="2110198" cy="2062800"/>
          </a:xfrm>
          <a:solidFill>
            <a:schemeClr val="accent5">
              <a:lumMod val="40000"/>
              <a:lumOff val="60000"/>
            </a:schemeClr>
          </a:solidFill>
        </p:grpSpPr>
        <p:sp>
          <p:nvSpPr>
            <p:cNvPr id="47" name="Rectangle 46"/>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8" name="Rectangle 47"/>
            <p:cNvSpPr/>
            <p:nvPr/>
          </p:nvSpPr>
          <p:spPr>
            <a:xfrm>
              <a:off x="25324824" y="7614364"/>
              <a:ext cx="1770194" cy="130236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dir</a:t>
              </a:r>
              <a:r>
                <a:rPr lang="en-US" sz="1600" dirty="0" smtClean="0">
                  <a:solidFill>
                    <a:schemeClr val="bg1"/>
                  </a:solidFill>
                </a:rPr>
                <a:t> block</a:t>
              </a:r>
              <a:endParaRPr lang="en-US" sz="1600" dirty="0">
                <a:solidFill>
                  <a:schemeClr val="bg1"/>
                </a:solidFill>
              </a:endParaRPr>
            </a:p>
          </p:txBody>
        </p:sp>
      </p:grpSp>
      <p:grpSp>
        <p:nvGrpSpPr>
          <p:cNvPr id="27" name="Group 26"/>
          <p:cNvGrpSpPr/>
          <p:nvPr/>
        </p:nvGrpSpPr>
        <p:grpSpPr>
          <a:xfrm>
            <a:off x="8240776" y="5236670"/>
            <a:ext cx="1105242" cy="850831"/>
            <a:chOff x="25154821" y="7455704"/>
            <a:chExt cx="2110198" cy="2062800"/>
          </a:xfrm>
          <a:solidFill>
            <a:schemeClr val="accent5">
              <a:lumMod val="40000"/>
              <a:lumOff val="60000"/>
            </a:schemeClr>
          </a:solidFill>
        </p:grpSpPr>
        <p:sp>
          <p:nvSpPr>
            <p:cNvPr id="45" name="Rectangle 44"/>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6" name="Rectangle 45"/>
            <p:cNvSpPr/>
            <p:nvPr/>
          </p:nvSpPr>
          <p:spPr>
            <a:xfrm>
              <a:off x="25324824" y="7615302"/>
              <a:ext cx="1770193" cy="1736987"/>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dir</a:t>
              </a:r>
              <a:endParaRPr lang="en-US" sz="1600" dirty="0" smtClean="0">
                <a:solidFill>
                  <a:schemeClr val="bg1"/>
                </a:solidFill>
              </a:endParaRPr>
            </a:p>
            <a:p>
              <a:pPr algn="ctr"/>
              <a:r>
                <a:rPr lang="en-US" sz="1600" dirty="0" smtClean="0">
                  <a:solidFill>
                    <a:schemeClr val="bg1"/>
                  </a:solidFill>
                </a:rPr>
                <a:t>indirect</a:t>
              </a:r>
            </a:p>
            <a:p>
              <a:pPr algn="ctr"/>
              <a:r>
                <a:rPr lang="en-US" sz="1600" dirty="0" smtClean="0">
                  <a:solidFill>
                    <a:schemeClr val="bg1"/>
                  </a:solidFill>
                </a:rPr>
                <a:t>block</a:t>
              </a:r>
              <a:endParaRPr lang="en-US" sz="1600" dirty="0">
                <a:solidFill>
                  <a:schemeClr val="bg1"/>
                </a:solidFill>
              </a:endParaRPr>
            </a:p>
          </p:txBody>
        </p:sp>
      </p:grpSp>
      <p:grpSp>
        <p:nvGrpSpPr>
          <p:cNvPr id="28" name="Group 27"/>
          <p:cNvGrpSpPr/>
          <p:nvPr/>
        </p:nvGrpSpPr>
        <p:grpSpPr>
          <a:xfrm rot="16200000" flipV="1">
            <a:off x="8645680" y="4838037"/>
            <a:ext cx="294823" cy="533101"/>
            <a:chOff x="27236633" y="9932056"/>
            <a:chExt cx="578250" cy="990600"/>
          </a:xfrm>
        </p:grpSpPr>
        <p:cxnSp>
          <p:nvCxnSpPr>
            <p:cNvPr id="42" name="Straight Arrow Connector 41"/>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9" name="Group 28"/>
          <p:cNvGrpSpPr/>
          <p:nvPr/>
        </p:nvGrpSpPr>
        <p:grpSpPr>
          <a:xfrm>
            <a:off x="8240944" y="4062709"/>
            <a:ext cx="1105074" cy="886721"/>
            <a:chOff x="20309820" y="9557482"/>
            <a:chExt cx="2053432" cy="1739168"/>
          </a:xfrm>
          <a:solidFill>
            <a:schemeClr val="accent5">
              <a:lumMod val="40000"/>
              <a:lumOff val="60000"/>
            </a:schemeClr>
          </a:solidFill>
        </p:grpSpPr>
        <p:sp>
          <p:nvSpPr>
            <p:cNvPr id="37" name="Rectangle 36"/>
            <p:cNvSpPr/>
            <p:nvPr/>
          </p:nvSpPr>
          <p:spPr>
            <a:xfrm>
              <a:off x="20498872" y="955748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38" name="Rectangle 37"/>
            <p:cNvSpPr/>
            <p:nvPr/>
          </p:nvSpPr>
          <p:spPr>
            <a:xfrm>
              <a:off x="20403622" y="965273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grpSp>
          <p:nvGrpSpPr>
            <p:cNvPr id="39" name="Group 38"/>
            <p:cNvGrpSpPr/>
            <p:nvPr/>
          </p:nvGrpSpPr>
          <p:grpSpPr>
            <a:xfrm>
              <a:off x="20309820" y="9762072"/>
              <a:ext cx="1864380" cy="1534578"/>
              <a:chOff x="25154821" y="7455704"/>
              <a:chExt cx="1864380" cy="1534578"/>
            </a:xfrm>
            <a:grpFill/>
          </p:grpSpPr>
          <p:sp>
            <p:nvSpPr>
              <p:cNvPr id="40" name="Rectangle 39"/>
              <p:cNvSpPr/>
              <p:nvPr/>
            </p:nvSpPr>
            <p:spPr>
              <a:xfrm>
                <a:off x="25154821" y="7455704"/>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1" name="Rectangle 40"/>
              <p:cNvSpPr/>
              <p:nvPr/>
            </p:nvSpPr>
            <p:spPr>
              <a:xfrm>
                <a:off x="25324824" y="7614367"/>
                <a:ext cx="1541977" cy="1072557"/>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dir</a:t>
                </a:r>
                <a:endParaRPr lang="en-US" sz="1600" dirty="0" smtClean="0">
                  <a:solidFill>
                    <a:schemeClr val="bg1"/>
                  </a:solidFill>
                </a:endParaRPr>
              </a:p>
              <a:p>
                <a:pPr algn="ctr"/>
                <a:r>
                  <a:rPr lang="en-US" sz="1600" dirty="0" smtClean="0">
                    <a:solidFill>
                      <a:schemeClr val="bg1"/>
                    </a:solidFill>
                  </a:rPr>
                  <a:t>blocks</a:t>
                </a:r>
                <a:endParaRPr lang="en-US" sz="1600" dirty="0">
                  <a:solidFill>
                    <a:schemeClr val="bg1"/>
                  </a:solidFill>
                </a:endParaRPr>
              </a:p>
            </p:txBody>
          </p:sp>
        </p:grpSp>
      </p:grpSp>
      <p:cxnSp>
        <p:nvCxnSpPr>
          <p:cNvPr id="30" name="Straight Arrow Connector 96"/>
          <p:cNvCxnSpPr>
            <a:stCxn id="23" idx="0"/>
          </p:cNvCxnSpPr>
          <p:nvPr/>
        </p:nvCxnSpPr>
        <p:spPr>
          <a:xfrm flipV="1">
            <a:off x="7212534" y="4947999"/>
            <a:ext cx="0" cy="35450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96"/>
          <p:cNvCxnSpPr>
            <a:stCxn id="23" idx="3"/>
            <a:endCxn id="45" idx="1"/>
          </p:cNvCxnSpPr>
          <p:nvPr/>
        </p:nvCxnSpPr>
        <p:spPr>
          <a:xfrm>
            <a:off x="7766894" y="5660722"/>
            <a:ext cx="473882" cy="1363"/>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32" name="Group 31"/>
          <p:cNvGrpSpPr/>
          <p:nvPr/>
        </p:nvGrpSpPr>
        <p:grpSpPr>
          <a:xfrm rot="5400000">
            <a:off x="5001386" y="4201233"/>
            <a:ext cx="294823" cy="533101"/>
            <a:chOff x="27236633" y="9932056"/>
            <a:chExt cx="578250" cy="990600"/>
          </a:xfrm>
        </p:grpSpPr>
        <p:cxnSp>
          <p:nvCxnSpPr>
            <p:cNvPr id="34" name="Straight Arrow Connector 33"/>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56" name="TextBox 55"/>
          <p:cNvSpPr txBox="1"/>
          <p:nvPr/>
        </p:nvSpPr>
        <p:spPr>
          <a:xfrm>
            <a:off x="1703299" y="3023854"/>
            <a:ext cx="1332416" cy="338554"/>
          </a:xfrm>
          <a:prstGeom prst="rect">
            <a:avLst/>
          </a:prstGeom>
          <a:noFill/>
        </p:spPr>
        <p:txBody>
          <a:bodyPr wrap="none" rtlCol="0">
            <a:spAutoFit/>
          </a:bodyPr>
          <a:lstStyle/>
          <a:p>
            <a:r>
              <a:rPr lang="en-CA" sz="1600" i="1" dirty="0" smtClean="0">
                <a:solidFill>
                  <a:schemeClr val="bg1"/>
                </a:solidFill>
              </a:rPr>
              <a:t>block </a:t>
            </a:r>
            <a:r>
              <a:rPr lang="en-CA" sz="1600" i="1" dirty="0" err="1" smtClean="0">
                <a:solidFill>
                  <a:schemeClr val="bg1"/>
                </a:solidFill>
              </a:rPr>
              <a:t>addr</a:t>
            </a:r>
            <a:r>
              <a:rPr lang="en-CA" sz="1600" i="1" dirty="0" smtClean="0">
                <a:solidFill>
                  <a:schemeClr val="bg1"/>
                </a:solidFill>
              </a:rPr>
              <a:t>.</a:t>
            </a:r>
            <a:endParaRPr lang="en-CA" sz="1600" i="1" dirty="0">
              <a:solidFill>
                <a:schemeClr val="bg1"/>
              </a:solidFill>
            </a:endParaRPr>
          </a:p>
        </p:txBody>
      </p:sp>
      <p:sp>
        <p:nvSpPr>
          <p:cNvPr id="57" name="TextBox 56"/>
          <p:cNvSpPr txBox="1"/>
          <p:nvPr/>
        </p:nvSpPr>
        <p:spPr>
          <a:xfrm>
            <a:off x="4527051" y="4633428"/>
            <a:ext cx="1332416" cy="338554"/>
          </a:xfrm>
          <a:prstGeom prst="rect">
            <a:avLst/>
          </a:prstGeom>
          <a:noFill/>
        </p:spPr>
        <p:txBody>
          <a:bodyPr wrap="none" rtlCol="0">
            <a:spAutoFit/>
          </a:bodyPr>
          <a:lstStyle/>
          <a:p>
            <a:r>
              <a:rPr lang="en-CA" sz="1600" i="1" dirty="0" smtClean="0">
                <a:solidFill>
                  <a:schemeClr val="bg1"/>
                </a:solidFill>
              </a:rPr>
              <a:t>block </a:t>
            </a:r>
            <a:r>
              <a:rPr lang="en-CA" sz="1600" i="1" dirty="0" err="1" smtClean="0">
                <a:solidFill>
                  <a:schemeClr val="bg1"/>
                </a:solidFill>
              </a:rPr>
              <a:t>addr</a:t>
            </a:r>
            <a:r>
              <a:rPr lang="en-CA" sz="1600" i="1" dirty="0" smtClean="0">
                <a:solidFill>
                  <a:schemeClr val="bg1"/>
                </a:solidFill>
              </a:rPr>
              <a:t>.</a:t>
            </a:r>
            <a:endParaRPr lang="en-CA" sz="1600" i="1" dirty="0">
              <a:solidFill>
                <a:schemeClr val="bg1"/>
              </a:solidFill>
            </a:endParaRPr>
          </a:p>
        </p:txBody>
      </p:sp>
    </p:spTree>
    <p:extLst>
      <p:ext uri="{BB962C8B-B14F-4D97-AF65-F5344CB8AC3E}">
        <p14:creationId xmlns:p14="http://schemas.microsoft.com/office/powerpoint/2010/main" val="1376925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 Address Space</a:t>
            </a:r>
            <a:endParaRPr lang="en-CA" dirty="0"/>
          </a:p>
        </p:txBody>
      </p:sp>
      <p:sp>
        <p:nvSpPr>
          <p:cNvPr id="3" name="Content Placeholder 2"/>
          <p:cNvSpPr>
            <a:spLocks noGrp="1"/>
          </p:cNvSpPr>
          <p:nvPr>
            <p:ph idx="1"/>
          </p:nvPr>
        </p:nvSpPr>
        <p:spPr/>
        <p:txBody>
          <a:bodyPr/>
          <a:lstStyle/>
          <a:p>
            <a:r>
              <a:rPr lang="en-CA" dirty="0"/>
              <a:t>File address is an index into the </a:t>
            </a:r>
            <a:r>
              <a:rPr lang="en-CA" dirty="0" err="1"/>
              <a:t>inode</a:t>
            </a:r>
            <a:r>
              <a:rPr lang="en-CA" dirty="0"/>
              <a:t> </a:t>
            </a:r>
            <a:r>
              <a:rPr lang="en-CA" dirty="0" smtClean="0"/>
              <a:t>table for a file</a:t>
            </a:r>
            <a:endParaRPr lang="en-CA" dirty="0" smtClean="0"/>
          </a:p>
          <a:p>
            <a:pPr lvl="1"/>
            <a:r>
              <a:rPr lang="en-CA" dirty="0" smtClean="0"/>
              <a:t>E.g. Ext4 journal is stored as a regular file  </a:t>
            </a:r>
          </a:p>
          <a:p>
            <a:pPr lvl="1"/>
            <a:r>
              <a:rPr lang="en-CA" dirty="0" smtClean="0"/>
              <a:t>Regular file may be physically discontiguous</a:t>
            </a:r>
          </a:p>
          <a:p>
            <a:pPr lvl="1"/>
            <a:r>
              <a:rPr lang="en-CA" dirty="0" smtClean="0"/>
              <a:t>Requires </a:t>
            </a:r>
            <a:r>
              <a:rPr lang="en-CA" dirty="0"/>
              <a:t>mapping </a:t>
            </a:r>
            <a:r>
              <a:rPr lang="en-CA" dirty="0" smtClean="0"/>
              <a:t>logical </a:t>
            </a:r>
            <a:r>
              <a:rPr lang="en-CA" dirty="0"/>
              <a:t>blocks of the </a:t>
            </a:r>
            <a:r>
              <a:rPr lang="en-CA" dirty="0" smtClean="0"/>
              <a:t>file to </a:t>
            </a:r>
            <a:r>
              <a:rPr lang="en-CA" dirty="0"/>
              <a:t>their physical </a:t>
            </a:r>
            <a:r>
              <a:rPr lang="en-CA" dirty="0" smtClean="0"/>
              <a:t>locations</a:t>
            </a:r>
            <a:endParaRPr lang="en-CA" dirty="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16</a:t>
            </a:fld>
            <a:endParaRPr lang="en-CA" dirty="0"/>
          </a:p>
        </p:txBody>
      </p:sp>
      <p:cxnSp>
        <p:nvCxnSpPr>
          <p:cNvPr id="7" name="Straight Arrow Connector 6"/>
          <p:cNvCxnSpPr>
            <a:stCxn id="8" idx="2"/>
          </p:cNvCxnSpPr>
          <p:nvPr/>
        </p:nvCxnSpPr>
        <p:spPr>
          <a:xfrm flipH="1">
            <a:off x="3767589" y="4354881"/>
            <a:ext cx="1" cy="466867"/>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3264388" y="3507600"/>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9" name="Rectangle 8"/>
          <p:cNvSpPr/>
          <p:nvPr/>
        </p:nvSpPr>
        <p:spPr>
          <a:xfrm>
            <a:off x="3345466" y="3572769"/>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10" name="Group 9"/>
          <p:cNvGrpSpPr/>
          <p:nvPr/>
        </p:nvGrpSpPr>
        <p:grpSpPr>
          <a:xfrm>
            <a:off x="5391556" y="3507600"/>
            <a:ext cx="3654350" cy="847281"/>
            <a:chOff x="24275265" y="2491036"/>
            <a:chExt cx="4669172" cy="1473330"/>
          </a:xfrm>
        </p:grpSpPr>
        <p:sp>
          <p:nvSpPr>
            <p:cNvPr id="52" name="Rectangle 51"/>
            <p:cNvSpPr/>
            <p:nvPr/>
          </p:nvSpPr>
          <p:spPr>
            <a:xfrm>
              <a:off x="24275265" y="2491036"/>
              <a:ext cx="4669172"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solidFill>
                  <a:schemeClr val="bg1"/>
                </a:solidFill>
              </a:endParaRPr>
            </a:p>
          </p:txBody>
        </p:sp>
        <p:sp>
          <p:nvSpPr>
            <p:cNvPr id="53" name="Rectangle 52"/>
            <p:cNvSpPr/>
            <p:nvPr/>
          </p:nvSpPr>
          <p:spPr>
            <a:xfrm>
              <a:off x="24366499" y="2604357"/>
              <a:ext cx="1771964" cy="572323"/>
            </a:xfrm>
            <a:prstGeom prst="rect">
              <a:avLst/>
            </a:prstGeom>
            <a:solidFill>
              <a:schemeClr val="tx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ext4 journal</a:t>
              </a:r>
              <a:endParaRPr lang="en-US" sz="1600" dirty="0">
                <a:solidFill>
                  <a:schemeClr val="bg1"/>
                </a:solidFill>
              </a:endParaRPr>
            </a:p>
          </p:txBody>
        </p:sp>
      </p:grpSp>
      <p:cxnSp>
        <p:nvCxnSpPr>
          <p:cNvPr id="11" name="Straight Arrow Connector 10"/>
          <p:cNvCxnSpPr>
            <a:stCxn id="8" idx="3"/>
            <a:endCxn id="52" idx="1"/>
          </p:cNvCxnSpPr>
          <p:nvPr/>
        </p:nvCxnSpPr>
        <p:spPr>
          <a:xfrm>
            <a:off x="4270791" y="3931240"/>
            <a:ext cx="1120765"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967747" y="4821746"/>
            <a:ext cx="3901965" cy="954429"/>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3" name="Rectangle 12"/>
          <p:cNvSpPr/>
          <p:nvPr/>
        </p:nvSpPr>
        <p:spPr>
          <a:xfrm>
            <a:off x="1048826" y="4888106"/>
            <a:ext cx="1826320" cy="569021"/>
          </a:xfrm>
          <a:prstGeom prst="rect">
            <a:avLst/>
          </a:prstGeom>
          <a:solidFill>
            <a:schemeClr val="tx1"/>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block group descriptor table</a:t>
            </a:r>
            <a:endParaRPr lang="en-US" sz="1600" dirty="0">
              <a:solidFill>
                <a:schemeClr val="bg1">
                  <a:lumMod val="50000"/>
                  <a:lumOff val="50000"/>
                </a:schemeClr>
              </a:solidFill>
            </a:endParaRPr>
          </a:p>
        </p:txBody>
      </p:sp>
      <p:sp>
        <p:nvSpPr>
          <p:cNvPr id="14" name="Rounded Rectangle 13"/>
          <p:cNvSpPr/>
          <p:nvPr/>
        </p:nvSpPr>
        <p:spPr>
          <a:xfrm>
            <a:off x="2973017" y="4883621"/>
            <a:ext cx="1295177" cy="795454"/>
          </a:xfrm>
          <a:prstGeom prst="roundRect">
            <a:avLst/>
          </a:prstGeom>
          <a:solidFill>
            <a:schemeClr val="accent3">
              <a:lumMod val="20000"/>
              <a:lumOff val="80000"/>
            </a:schemeClr>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bg1">
                    <a:lumMod val="50000"/>
                    <a:lumOff val="50000"/>
                  </a:schemeClr>
                </a:solidFill>
              </a:rPr>
              <a:t>block group descriptor</a:t>
            </a:r>
            <a:endParaRPr lang="zh-TW" altLang="en-US" sz="1600" dirty="0">
              <a:solidFill>
                <a:schemeClr val="bg1">
                  <a:lumMod val="50000"/>
                  <a:lumOff val="50000"/>
                </a:schemeClr>
              </a:solidFill>
            </a:endParaRPr>
          </a:p>
        </p:txBody>
      </p:sp>
      <p:sp>
        <p:nvSpPr>
          <p:cNvPr id="24" name="TextBox 23"/>
          <p:cNvSpPr txBox="1"/>
          <p:nvPr/>
        </p:nvSpPr>
        <p:spPr>
          <a:xfrm>
            <a:off x="4286527" y="4983083"/>
            <a:ext cx="492443" cy="461665"/>
          </a:xfrm>
          <a:prstGeom prst="rect">
            <a:avLst/>
          </a:prstGeom>
          <a:noFill/>
        </p:spPr>
        <p:txBody>
          <a:bodyPr wrap="none" rtlCol="0">
            <a:spAutoFit/>
          </a:bodyPr>
          <a:lstStyle/>
          <a:p>
            <a:r>
              <a:rPr lang="en-CA" sz="2400" dirty="0" smtClean="0">
                <a:solidFill>
                  <a:schemeClr val="bg1">
                    <a:lumMod val="50000"/>
                    <a:lumOff val="50000"/>
                  </a:schemeClr>
                </a:solidFill>
              </a:rPr>
              <a:t>…</a:t>
            </a:r>
            <a:endParaRPr lang="en-CA" sz="2400" dirty="0">
              <a:solidFill>
                <a:schemeClr val="bg1">
                  <a:lumMod val="50000"/>
                  <a:lumOff val="50000"/>
                </a:schemeClr>
              </a:solidFill>
            </a:endParaRPr>
          </a:p>
        </p:txBody>
      </p:sp>
      <p:sp>
        <p:nvSpPr>
          <p:cNvPr id="33" name="TextBox 32"/>
          <p:cNvSpPr txBox="1"/>
          <p:nvPr/>
        </p:nvSpPr>
        <p:spPr>
          <a:xfrm>
            <a:off x="4295334" y="3507600"/>
            <a:ext cx="1061509" cy="338554"/>
          </a:xfrm>
          <a:prstGeom prst="rect">
            <a:avLst/>
          </a:prstGeom>
          <a:noFill/>
        </p:spPr>
        <p:txBody>
          <a:bodyPr wrap="none" rtlCol="0">
            <a:spAutoFit/>
          </a:bodyPr>
          <a:lstStyle/>
          <a:p>
            <a:r>
              <a:rPr lang="en-CA" sz="1600" i="1" dirty="0">
                <a:solidFill>
                  <a:schemeClr val="bg1"/>
                </a:solidFill>
              </a:rPr>
              <a:t>file </a:t>
            </a:r>
            <a:r>
              <a:rPr lang="en-CA" sz="1600" i="1" dirty="0" err="1">
                <a:solidFill>
                  <a:schemeClr val="bg1"/>
                </a:solidFill>
              </a:rPr>
              <a:t>addr</a:t>
            </a:r>
            <a:r>
              <a:rPr lang="en-CA" sz="1600" i="1" dirty="0">
                <a:solidFill>
                  <a:schemeClr val="bg1"/>
                </a:solidFill>
              </a:rPr>
              <a:t>.</a:t>
            </a:r>
          </a:p>
        </p:txBody>
      </p:sp>
      <p:grpSp>
        <p:nvGrpSpPr>
          <p:cNvPr id="56" name="Group 55"/>
          <p:cNvGrpSpPr/>
          <p:nvPr/>
        </p:nvGrpSpPr>
        <p:grpSpPr>
          <a:xfrm rot="5400000">
            <a:off x="3473194" y="5593114"/>
            <a:ext cx="294823" cy="533101"/>
            <a:chOff x="27236633" y="9932056"/>
            <a:chExt cx="578250" cy="990600"/>
          </a:xfrm>
        </p:grpSpPr>
        <p:cxnSp>
          <p:nvCxnSpPr>
            <p:cNvPr id="57" name="Straight Arrow Connector 56"/>
            <p:cNvCxnSpPr/>
            <p:nvPr/>
          </p:nvCxnSpPr>
          <p:spPr>
            <a:xfrm>
              <a:off x="27236633" y="10427356"/>
              <a:ext cx="578250" cy="0"/>
            </a:xfrm>
            <a:prstGeom prst="straightConnector1">
              <a:avLst/>
            </a:prstGeom>
            <a:ln w="63500">
              <a:solidFill>
                <a:schemeClr val="accent6">
                  <a:alpha val="2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a:off x="27236633" y="10922656"/>
              <a:ext cx="578250" cy="0"/>
            </a:xfrm>
            <a:prstGeom prst="straightConnector1">
              <a:avLst/>
            </a:prstGeom>
            <a:ln w="63500">
              <a:solidFill>
                <a:schemeClr val="accent6">
                  <a:alpha val="2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p:nvPr/>
          </p:nvCxnSpPr>
          <p:spPr>
            <a:xfrm>
              <a:off x="27236633" y="9932056"/>
              <a:ext cx="578250" cy="0"/>
            </a:xfrm>
            <a:prstGeom prst="straightConnector1">
              <a:avLst/>
            </a:prstGeom>
            <a:ln w="63500">
              <a:solidFill>
                <a:schemeClr val="accent6">
                  <a:alpha val="2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61" name="Rectangle 60"/>
          <p:cNvSpPr/>
          <p:nvPr/>
        </p:nvSpPr>
        <p:spPr>
          <a:xfrm>
            <a:off x="7089186" y="5485532"/>
            <a:ext cx="1576385" cy="329131"/>
          </a:xfrm>
          <a:prstGeom prst="rect">
            <a:avLst/>
          </a:prstGeom>
          <a:solidFill>
            <a:schemeClr val="tx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physical disk</a:t>
            </a:r>
            <a:endParaRPr lang="en-US" sz="1600" dirty="0">
              <a:solidFill>
                <a:schemeClr val="bg1"/>
              </a:solidFill>
            </a:endParaRPr>
          </a:p>
        </p:txBody>
      </p:sp>
      <p:cxnSp>
        <p:nvCxnSpPr>
          <p:cNvPr id="67" name="Straight Connector 66"/>
          <p:cNvCxnSpPr/>
          <p:nvPr/>
        </p:nvCxnSpPr>
        <p:spPr>
          <a:xfrm flipH="1">
            <a:off x="5390595" y="4354881"/>
            <a:ext cx="961" cy="466865"/>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68" name="Straight Connector 67"/>
          <p:cNvCxnSpPr/>
          <p:nvPr/>
        </p:nvCxnSpPr>
        <p:spPr>
          <a:xfrm flipH="1">
            <a:off x="6698512" y="4376079"/>
            <a:ext cx="326684" cy="44566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70" name="Straight Connector 69"/>
          <p:cNvCxnSpPr/>
          <p:nvPr/>
        </p:nvCxnSpPr>
        <p:spPr>
          <a:xfrm>
            <a:off x="7061796" y="4376079"/>
            <a:ext cx="361105" cy="44566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73" name="Straight Connector 72"/>
          <p:cNvCxnSpPr/>
          <p:nvPr/>
        </p:nvCxnSpPr>
        <p:spPr>
          <a:xfrm>
            <a:off x="9045906" y="4376079"/>
            <a:ext cx="1317294" cy="466865"/>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grpSp>
        <p:nvGrpSpPr>
          <p:cNvPr id="96" name="Group 95"/>
          <p:cNvGrpSpPr/>
          <p:nvPr/>
        </p:nvGrpSpPr>
        <p:grpSpPr>
          <a:xfrm>
            <a:off x="5391556" y="4823599"/>
            <a:ext cx="4971644" cy="635381"/>
            <a:chOff x="5391556" y="4823599"/>
            <a:chExt cx="4971644" cy="635381"/>
          </a:xfrm>
        </p:grpSpPr>
        <p:sp>
          <p:nvSpPr>
            <p:cNvPr id="60" name="Rectangle 59"/>
            <p:cNvSpPr/>
            <p:nvPr/>
          </p:nvSpPr>
          <p:spPr>
            <a:xfrm>
              <a:off x="5391556" y="4823599"/>
              <a:ext cx="1306956" cy="635381"/>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2" name="Rectangle 61"/>
            <p:cNvSpPr/>
            <p:nvPr/>
          </p:nvSpPr>
          <p:spPr>
            <a:xfrm>
              <a:off x="6697758" y="4823599"/>
              <a:ext cx="719141" cy="635381"/>
            </a:xfrm>
            <a:prstGeom prst="rect">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3" name="Rectangle 62"/>
            <p:cNvSpPr/>
            <p:nvPr/>
          </p:nvSpPr>
          <p:spPr>
            <a:xfrm>
              <a:off x="7416145" y="4823599"/>
              <a:ext cx="1676480" cy="635381"/>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4" name="Rectangle 63"/>
            <p:cNvSpPr/>
            <p:nvPr/>
          </p:nvSpPr>
          <p:spPr>
            <a:xfrm>
              <a:off x="9823770" y="4823599"/>
              <a:ext cx="539430" cy="635381"/>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8" name="Rectangle 77"/>
            <p:cNvSpPr/>
            <p:nvPr/>
          </p:nvSpPr>
          <p:spPr>
            <a:xfrm>
              <a:off x="9091871" y="4823599"/>
              <a:ext cx="732654" cy="635381"/>
            </a:xfrm>
            <a:prstGeom prst="rect">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cxnSp>
        <p:nvCxnSpPr>
          <p:cNvPr id="85" name="Straight Connector 84"/>
          <p:cNvCxnSpPr/>
          <p:nvPr/>
        </p:nvCxnSpPr>
        <p:spPr>
          <a:xfrm>
            <a:off x="8365010" y="4376079"/>
            <a:ext cx="734371" cy="44566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p:nvPr/>
        </p:nvCxnSpPr>
        <p:spPr>
          <a:xfrm>
            <a:off x="8399721" y="4380614"/>
            <a:ext cx="1437562" cy="462330"/>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94444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Missing Pointer</a:t>
            </a:r>
            <a:endParaRPr lang="en-CA" dirty="0"/>
          </a:p>
        </p:txBody>
      </p:sp>
      <p:sp>
        <p:nvSpPr>
          <p:cNvPr id="3" name="Content Placeholder 2"/>
          <p:cNvSpPr>
            <a:spLocks noGrp="1"/>
          </p:cNvSpPr>
          <p:nvPr>
            <p:ph idx="1"/>
          </p:nvPr>
        </p:nvSpPr>
        <p:spPr>
          <a:xfrm>
            <a:off x="684212" y="1515358"/>
            <a:ext cx="9949352" cy="4279386"/>
          </a:xfrm>
        </p:spPr>
        <p:txBody>
          <a:bodyPr/>
          <a:lstStyle/>
          <a:p>
            <a:r>
              <a:rPr lang="en-CA" dirty="0" smtClean="0"/>
              <a:t>L</a:t>
            </a:r>
            <a:r>
              <a:rPr lang="en-CA" dirty="0" smtClean="0"/>
              <a:t>ocations </a:t>
            </a:r>
            <a:r>
              <a:rPr lang="en-CA" dirty="0" smtClean="0"/>
              <a:t>of </a:t>
            </a:r>
            <a:r>
              <a:rPr lang="en-CA" dirty="0" smtClean="0"/>
              <a:t>some structures are implicit in the code</a:t>
            </a:r>
          </a:p>
          <a:p>
            <a:r>
              <a:rPr lang="en-CA" dirty="0" smtClean="0"/>
              <a:t>E.g</a:t>
            </a:r>
            <a:r>
              <a:rPr lang="en-CA" dirty="0" smtClean="0"/>
              <a:t>. Ext4 block group descriptor table is </a:t>
            </a:r>
            <a:br>
              <a:rPr lang="en-CA" dirty="0" smtClean="0"/>
            </a:br>
            <a:r>
              <a:rPr lang="en-CA" dirty="0" smtClean="0"/>
              <a:t>the next block following the super block</a:t>
            </a:r>
          </a:p>
          <a:p>
            <a:pPr lvl="1"/>
            <a:r>
              <a:rPr lang="en-CA" dirty="0" smtClean="0"/>
              <a:t>Ext4 super block does not have a </a:t>
            </a:r>
            <a:br>
              <a:rPr lang="en-CA" dirty="0" smtClean="0"/>
            </a:br>
            <a:r>
              <a:rPr lang="en-CA" dirty="0" smtClean="0"/>
              <a:t>field that points to descriptor table</a:t>
            </a:r>
          </a:p>
          <a:p>
            <a:pPr lvl="1"/>
            <a:r>
              <a:rPr lang="en-CA" dirty="0" smtClean="0"/>
              <a:t>Pointer required for file system </a:t>
            </a:r>
            <a:br>
              <a:rPr lang="en-CA" dirty="0" smtClean="0"/>
            </a:br>
            <a:r>
              <a:rPr lang="en-CA" dirty="0" smtClean="0"/>
              <a:t>traversal</a:t>
            </a:r>
          </a:p>
        </p:txBody>
      </p:sp>
      <p:sp>
        <p:nvSpPr>
          <p:cNvPr id="4" name="Slide Number Placeholder 3"/>
          <p:cNvSpPr>
            <a:spLocks noGrp="1"/>
          </p:cNvSpPr>
          <p:nvPr>
            <p:ph type="sldNum" sz="quarter" idx="12"/>
          </p:nvPr>
        </p:nvSpPr>
        <p:spPr/>
        <p:txBody>
          <a:bodyPr/>
          <a:lstStyle/>
          <a:p>
            <a:fld id="{7B2023C8-B124-43A9-8F92-0EEF5BAA9995}" type="slidenum">
              <a:rPr lang="en-CA" smtClean="0"/>
              <a:pPr/>
              <a:t>17</a:t>
            </a:fld>
            <a:endParaRPr lang="en-CA" dirty="0"/>
          </a:p>
        </p:txBody>
      </p:sp>
      <p:cxnSp>
        <p:nvCxnSpPr>
          <p:cNvPr id="6" name="Straight Arrow Connector 5"/>
          <p:cNvCxnSpPr>
            <a:stCxn id="7" idx="2"/>
          </p:cNvCxnSpPr>
          <p:nvPr/>
        </p:nvCxnSpPr>
        <p:spPr>
          <a:xfrm flipH="1">
            <a:off x="7849051" y="3375330"/>
            <a:ext cx="1" cy="466867"/>
          </a:xfrm>
          <a:prstGeom prst="straightConnector1">
            <a:avLst/>
          </a:prstGeom>
          <a:ln w="25400">
            <a:solidFill>
              <a:schemeClr val="accent6">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7345850" y="2528049"/>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8" name="Rectangle 7"/>
          <p:cNvSpPr/>
          <p:nvPr/>
        </p:nvSpPr>
        <p:spPr>
          <a:xfrm>
            <a:off x="7426928" y="2593218"/>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9" name="Group 8"/>
          <p:cNvGrpSpPr/>
          <p:nvPr/>
        </p:nvGrpSpPr>
        <p:grpSpPr>
          <a:xfrm>
            <a:off x="9473021" y="2528049"/>
            <a:ext cx="1737015" cy="847281"/>
            <a:chOff x="24275265" y="2491036"/>
            <a:chExt cx="2219388" cy="1473330"/>
          </a:xfrm>
        </p:grpSpPr>
        <p:sp>
          <p:nvSpPr>
            <p:cNvPr id="10" name="Rectangle 9"/>
            <p:cNvSpPr/>
            <p:nvPr/>
          </p:nvSpPr>
          <p:spPr>
            <a:xfrm>
              <a:off x="24275265" y="2491036"/>
              <a:ext cx="2219388" cy="1473330"/>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1" name="Rectangle 10"/>
            <p:cNvSpPr/>
            <p:nvPr/>
          </p:nvSpPr>
          <p:spPr>
            <a:xfrm>
              <a:off x="24366499" y="2604357"/>
              <a:ext cx="1771964" cy="572323"/>
            </a:xfrm>
            <a:prstGeom prst="rect">
              <a:avLst/>
            </a:prstGeom>
            <a:solidFill>
              <a:schemeClr val="tx1"/>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ext4 journal</a:t>
              </a:r>
              <a:endParaRPr lang="en-US" sz="1600" dirty="0">
                <a:solidFill>
                  <a:schemeClr val="bg1">
                    <a:lumMod val="50000"/>
                    <a:lumOff val="50000"/>
                  </a:schemeClr>
                </a:solidFill>
              </a:endParaRPr>
            </a:p>
          </p:txBody>
        </p:sp>
      </p:grpSp>
      <p:cxnSp>
        <p:nvCxnSpPr>
          <p:cNvPr id="12" name="Straight Arrow Connector 11"/>
          <p:cNvCxnSpPr>
            <a:stCxn id="7" idx="3"/>
            <a:endCxn id="10" idx="1"/>
          </p:cNvCxnSpPr>
          <p:nvPr/>
        </p:nvCxnSpPr>
        <p:spPr>
          <a:xfrm>
            <a:off x="8352253" y="2951690"/>
            <a:ext cx="1120765" cy="0"/>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7345850" y="3842195"/>
            <a:ext cx="3864184" cy="954429"/>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4" name="Rectangle 13"/>
          <p:cNvSpPr/>
          <p:nvPr/>
        </p:nvSpPr>
        <p:spPr>
          <a:xfrm>
            <a:off x="7426928" y="3908555"/>
            <a:ext cx="1826320" cy="56902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group descriptor table</a:t>
            </a:r>
            <a:endParaRPr lang="en-US" sz="1600" dirty="0">
              <a:solidFill>
                <a:schemeClr val="bg1"/>
              </a:solidFill>
            </a:endParaRPr>
          </a:p>
        </p:txBody>
      </p:sp>
      <p:sp>
        <p:nvSpPr>
          <p:cNvPr id="15" name="Rounded Rectangle 14"/>
          <p:cNvSpPr/>
          <p:nvPr/>
        </p:nvSpPr>
        <p:spPr>
          <a:xfrm>
            <a:off x="9351119" y="3904070"/>
            <a:ext cx="1295177" cy="795454"/>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tx1"/>
                </a:solidFill>
              </a:rPr>
              <a:t>block group descriptor</a:t>
            </a:r>
            <a:endParaRPr lang="zh-TW" altLang="en-US" sz="1600" dirty="0">
              <a:solidFill>
                <a:schemeClr val="tx1"/>
              </a:solidFill>
            </a:endParaRPr>
          </a:p>
        </p:txBody>
      </p:sp>
      <p:sp>
        <p:nvSpPr>
          <p:cNvPr id="17" name="TextBox 16"/>
          <p:cNvSpPr txBox="1"/>
          <p:nvPr/>
        </p:nvSpPr>
        <p:spPr>
          <a:xfrm>
            <a:off x="10600838" y="4003532"/>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grpSp>
        <p:nvGrpSpPr>
          <p:cNvPr id="18" name="Group 17"/>
          <p:cNvGrpSpPr/>
          <p:nvPr/>
        </p:nvGrpSpPr>
        <p:grpSpPr>
          <a:xfrm rot="5400000">
            <a:off x="9868945" y="4609626"/>
            <a:ext cx="294823" cy="533101"/>
            <a:chOff x="27236633" y="9932056"/>
            <a:chExt cx="578250" cy="990600"/>
          </a:xfrm>
        </p:grpSpPr>
        <p:cxnSp>
          <p:nvCxnSpPr>
            <p:cNvPr id="19" name="Straight Arrow Connector 18"/>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2" name="TextBox 21"/>
          <p:cNvSpPr txBox="1"/>
          <p:nvPr/>
        </p:nvSpPr>
        <p:spPr>
          <a:xfrm>
            <a:off x="7953995" y="3436024"/>
            <a:ext cx="1705916" cy="338554"/>
          </a:xfrm>
          <a:prstGeom prst="rect">
            <a:avLst/>
          </a:prstGeom>
          <a:noFill/>
        </p:spPr>
        <p:txBody>
          <a:bodyPr wrap="none" rtlCol="0">
            <a:spAutoFit/>
          </a:bodyPr>
          <a:lstStyle/>
          <a:p>
            <a:r>
              <a:rPr lang="en-CA" sz="1600" i="1" dirty="0" smtClean="0">
                <a:solidFill>
                  <a:schemeClr val="bg1"/>
                </a:solidFill>
              </a:rPr>
              <a:t>missing pointer</a:t>
            </a:r>
            <a:endParaRPr lang="en-CA" sz="1600" i="1" dirty="0">
              <a:solidFill>
                <a:schemeClr val="bg1"/>
              </a:solidFill>
            </a:endParaRPr>
          </a:p>
        </p:txBody>
      </p:sp>
    </p:spTree>
    <p:extLst>
      <p:ext uri="{BB962C8B-B14F-4D97-AF65-F5344CB8AC3E}">
        <p14:creationId xmlns:p14="http://schemas.microsoft.com/office/powerpoint/2010/main" val="32549106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Implicit </a:t>
            </a:r>
            <a:r>
              <a:rPr lang="en-CA" dirty="0" smtClean="0"/>
              <a:t>Pointer</a:t>
            </a:r>
            <a:endParaRPr lang="en-CA" dirty="0"/>
          </a:p>
        </p:txBody>
      </p:sp>
      <p:sp>
        <p:nvSpPr>
          <p:cNvPr id="3" name="Content Placeholder 2"/>
          <p:cNvSpPr>
            <a:spLocks noGrp="1"/>
          </p:cNvSpPr>
          <p:nvPr>
            <p:ph idx="1"/>
          </p:nvPr>
        </p:nvSpPr>
        <p:spPr>
          <a:xfrm>
            <a:off x="684211" y="1515358"/>
            <a:ext cx="10285797" cy="2205149"/>
          </a:xfrm>
        </p:spPr>
        <p:txBody>
          <a:bodyPr/>
          <a:lstStyle/>
          <a:p>
            <a:r>
              <a:rPr lang="en-CA" dirty="0" smtClean="0"/>
              <a:t>Solution: Implicit </a:t>
            </a:r>
            <a:r>
              <a:rPr lang="en-CA" dirty="0" smtClean="0"/>
              <a:t>pointer annotation</a:t>
            </a:r>
            <a:endParaRPr lang="en-CA" dirty="0" smtClean="0"/>
          </a:p>
          <a:p>
            <a:pPr lvl="1"/>
            <a:r>
              <a:rPr lang="en-CA" i="1" dirty="0" smtClean="0"/>
              <a:t>name</a:t>
            </a:r>
            <a:r>
              <a:rPr lang="en-CA" dirty="0" smtClean="0"/>
              <a:t> creates a logical pointer field that can be dereferenced</a:t>
            </a:r>
          </a:p>
          <a:p>
            <a:pPr lvl="1"/>
            <a:r>
              <a:rPr lang="en-CA" i="1" dirty="0"/>
              <a:t>expr </a:t>
            </a:r>
            <a:r>
              <a:rPr lang="en-CA" dirty="0" smtClean="0"/>
              <a:t>is a C expression that specifies </a:t>
            </a:r>
            <a:r>
              <a:rPr lang="en-CA" dirty="0"/>
              <a:t>how to </a:t>
            </a:r>
            <a:r>
              <a:rPr lang="en-CA" dirty="0" smtClean="0"/>
              <a:t>calculate the field value</a:t>
            </a:r>
            <a:endParaRPr lang="en-CA" dirty="0"/>
          </a:p>
          <a:p>
            <a:pPr lvl="2"/>
            <a:r>
              <a:rPr lang="en-CA" dirty="0"/>
              <a:t>Expression can reference other fields in the structure</a:t>
            </a:r>
          </a:p>
          <a:p>
            <a:pPr lvl="1"/>
            <a:endParaRPr lang="en-CA" i="1"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18</a:t>
            </a:fld>
            <a:endParaRPr lang="en-CA" dirty="0"/>
          </a:p>
        </p:txBody>
      </p:sp>
      <p:sp>
        <p:nvSpPr>
          <p:cNvPr id="5" name="Rectangle 4"/>
          <p:cNvSpPr/>
          <p:nvPr/>
        </p:nvSpPr>
        <p:spPr>
          <a:xfrm>
            <a:off x="942890" y="3434715"/>
            <a:ext cx="6641621" cy="1923604"/>
          </a:xfrm>
          <a:prstGeom prst="rect">
            <a:avLst/>
          </a:prstGeom>
        </p:spPr>
        <p:txBody>
          <a:bodyPr wrap="square">
            <a:spAutoFit/>
          </a:bodyPr>
          <a:lstStyle/>
          <a:p>
            <a:r>
              <a:rPr lang="en-CA" sz="1700" b="1" dirty="0" smtClean="0">
                <a:solidFill>
                  <a:schemeClr val="bg1"/>
                </a:solidFill>
                <a:latin typeface="Courier New" panose="02070309020205020404" pitchFamily="49" charset="0"/>
                <a:cs typeface="Courier New" panose="02070309020205020404" pitchFamily="49" charset="0"/>
              </a:rPr>
              <a:t>FSSUPER</a:t>
            </a:r>
            <a:r>
              <a:rPr lang="en-CA" sz="1700" dirty="0" smtClean="0">
                <a:solidFill>
                  <a:schemeClr val="bg1"/>
                </a:solidFill>
                <a:latin typeface="Courier New" panose="02070309020205020404" pitchFamily="49" charset="0"/>
                <a:cs typeface="Courier New" panose="02070309020205020404" pitchFamily="49" charset="0"/>
              </a:rPr>
              <a:t>(...) </a:t>
            </a:r>
            <a:r>
              <a:rPr lang="en-CA" sz="1700" dirty="0">
                <a:solidFill>
                  <a:schemeClr val="bg1"/>
                </a:solidFill>
                <a:latin typeface="Courier New" panose="02070309020205020404" pitchFamily="49" charset="0"/>
                <a:cs typeface="Courier New" panose="02070309020205020404" pitchFamily="49" charset="0"/>
              </a:rPr>
              <a:t>ext4_super_block {</a:t>
            </a:r>
          </a:p>
          <a:p>
            <a:r>
              <a:rPr lang="en-CA" sz="1700" dirty="0">
                <a:solidFill>
                  <a:schemeClr val="bg1"/>
                </a:solidFill>
                <a:latin typeface="Courier New" panose="02070309020205020404" pitchFamily="49" charset="0"/>
                <a:cs typeface="Courier New" panose="02070309020205020404" pitchFamily="49" charset="0"/>
              </a:rPr>
              <a:t>  __le32 </a:t>
            </a:r>
            <a:r>
              <a:rPr lang="en-CA" sz="1700" dirty="0" err="1">
                <a:solidFill>
                  <a:schemeClr val="bg1"/>
                </a:solidFill>
                <a:latin typeface="Courier New" panose="02070309020205020404" pitchFamily="49" charset="0"/>
                <a:cs typeface="Courier New" panose="02070309020205020404" pitchFamily="49" charset="0"/>
              </a:rPr>
              <a:t>s_log_block_size</a:t>
            </a:r>
            <a:r>
              <a:rPr lang="en-CA" sz="1700" dirty="0">
                <a:solidFill>
                  <a:schemeClr val="bg1"/>
                </a:solidFill>
                <a:latin typeface="Courier New" panose="02070309020205020404" pitchFamily="49" charset="0"/>
                <a:cs typeface="Courier New" panose="02070309020205020404" pitchFamily="49" charset="0"/>
              </a:rPr>
              <a:t>;</a:t>
            </a:r>
          </a:p>
          <a:p>
            <a:r>
              <a:rPr lang="en-CA" sz="1700" dirty="0" smtClean="0">
                <a:solidFill>
                  <a:schemeClr val="bg1"/>
                </a:solidFill>
                <a:latin typeface="Courier New" panose="02070309020205020404" pitchFamily="49" charset="0"/>
                <a:cs typeface="Courier New" panose="02070309020205020404" pitchFamily="49" charset="0"/>
              </a:rPr>
              <a:t>  ...</a:t>
            </a:r>
          </a:p>
          <a:p>
            <a:r>
              <a:rPr lang="en-CA" sz="1700" dirty="0" smtClean="0">
                <a:solidFill>
                  <a:schemeClr val="bg1"/>
                </a:solidFill>
                <a:latin typeface="Courier New" panose="02070309020205020404" pitchFamily="49" charset="0"/>
                <a:cs typeface="Courier New" panose="02070309020205020404" pitchFamily="49" charset="0"/>
              </a:rPr>
              <a:t>  </a:t>
            </a:r>
            <a:r>
              <a:rPr lang="en-CA" sz="1700" b="1" dirty="0" smtClean="0">
                <a:solidFill>
                  <a:schemeClr val="bg1"/>
                </a:solidFill>
                <a:latin typeface="Courier New" panose="02070309020205020404" pitchFamily="49" charset="0"/>
                <a:cs typeface="Courier New" panose="02070309020205020404" pitchFamily="49" charset="0"/>
              </a:rPr>
              <a:t>POINTER</a:t>
            </a:r>
            <a:r>
              <a:rPr lang="en-CA" sz="1700" dirty="0" smtClean="0">
                <a:solidFill>
                  <a:schemeClr val="bg1"/>
                </a:solidFill>
                <a:latin typeface="Courier New" panose="02070309020205020404" pitchFamily="49" charset="0"/>
                <a:cs typeface="Courier New" panose="02070309020205020404" pitchFamily="49" charset="0"/>
              </a:rPr>
              <a:t>(</a:t>
            </a:r>
            <a:r>
              <a:rPr lang="en-CA" sz="1700" dirty="0" smtClean="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name=</a:t>
            </a:r>
            <a:r>
              <a:rPr lang="en-CA" sz="1700" dirty="0" err="1" smtClean="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s_block_group_desc</a:t>
            </a:r>
            <a:r>
              <a:rPr lang="en-CA" sz="1700" dirty="0">
                <a:solidFill>
                  <a:schemeClr val="bg1"/>
                </a:solidFill>
                <a:latin typeface="Courier New" panose="02070309020205020404" pitchFamily="49" charset="0"/>
                <a:cs typeface="Courier New" panose="02070309020205020404" pitchFamily="49" charset="0"/>
              </a:rPr>
              <a:t>,</a:t>
            </a:r>
          </a:p>
          <a:p>
            <a:r>
              <a:rPr lang="en-CA" sz="1700" dirty="0">
                <a:solidFill>
                  <a:schemeClr val="bg1"/>
                </a:solidFill>
                <a:latin typeface="Courier New" panose="02070309020205020404" pitchFamily="49" charset="0"/>
                <a:cs typeface="Courier New" panose="02070309020205020404" pitchFamily="49" charset="0"/>
              </a:rPr>
              <a:t>  type=ext4_group_desc_table, </a:t>
            </a:r>
            <a:r>
              <a:rPr lang="en-CA" sz="1700" dirty="0" err="1" smtClean="0">
                <a:solidFill>
                  <a:schemeClr val="bg1"/>
                </a:solidFill>
                <a:latin typeface="Courier New" panose="02070309020205020404" pitchFamily="49" charset="0"/>
                <a:cs typeface="Courier New" panose="02070309020205020404" pitchFamily="49" charset="0"/>
              </a:rPr>
              <a:t>addrspace</a:t>
            </a:r>
            <a:r>
              <a:rPr lang="en-CA" sz="1700" dirty="0" smtClean="0">
                <a:solidFill>
                  <a:schemeClr val="bg1"/>
                </a:solidFill>
                <a:latin typeface="Courier New" panose="02070309020205020404" pitchFamily="49" charset="0"/>
                <a:cs typeface="Courier New" panose="02070309020205020404" pitchFamily="49" charset="0"/>
              </a:rPr>
              <a:t>=block</a:t>
            </a:r>
            <a:r>
              <a:rPr lang="en-CA" sz="1700" dirty="0">
                <a:solidFill>
                  <a:schemeClr val="bg1"/>
                </a:solidFill>
                <a:latin typeface="Courier New" panose="02070309020205020404" pitchFamily="49" charset="0"/>
                <a:cs typeface="Courier New" panose="02070309020205020404" pitchFamily="49" charset="0"/>
              </a:rPr>
              <a:t>, </a:t>
            </a:r>
          </a:p>
          <a:p>
            <a:r>
              <a:rPr lang="en-CA" sz="1700" dirty="0">
                <a:solidFill>
                  <a:schemeClr val="bg1"/>
                </a:solidFill>
                <a:latin typeface="Courier New" panose="02070309020205020404" pitchFamily="49" charset="0"/>
                <a:cs typeface="Courier New" panose="02070309020205020404" pitchFamily="49" charset="0"/>
              </a:rPr>
              <a:t>  </a:t>
            </a:r>
            <a:r>
              <a:rPr lang="en-CA" sz="1700"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expr=(</a:t>
            </a:r>
            <a:r>
              <a:rPr lang="en-CA" sz="1700" dirty="0" err="1">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self.s_log_block_size</a:t>
            </a:r>
            <a:r>
              <a:rPr lang="en-CA" sz="1700"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 == 0) ? 2 : 1</a:t>
            </a:r>
            <a:r>
              <a:rPr lang="en-CA" sz="1700" dirty="0">
                <a:solidFill>
                  <a:schemeClr val="bg1"/>
                </a:solidFill>
                <a:latin typeface="Courier New" panose="02070309020205020404" pitchFamily="49" charset="0"/>
                <a:cs typeface="Courier New" panose="02070309020205020404" pitchFamily="49" charset="0"/>
              </a:rPr>
              <a:t>);</a:t>
            </a:r>
          </a:p>
          <a:p>
            <a:r>
              <a:rPr lang="en-CA" sz="1700" dirty="0" smtClean="0">
                <a:solidFill>
                  <a:schemeClr val="bg1"/>
                </a:solidFill>
                <a:latin typeface="Courier New" panose="02070309020205020404" pitchFamily="49" charset="0"/>
                <a:cs typeface="Courier New" panose="02070309020205020404" pitchFamily="49" charset="0"/>
              </a:rPr>
              <a:t>};</a:t>
            </a:r>
            <a:endParaRPr lang="en-CA" sz="1700" dirty="0">
              <a:solidFill>
                <a:schemeClr val="bg1"/>
              </a:solidFill>
              <a:latin typeface="Courier New" panose="02070309020205020404" pitchFamily="49" charset="0"/>
              <a:cs typeface="Courier New" panose="02070309020205020404" pitchFamily="49" charset="0"/>
            </a:endParaRPr>
          </a:p>
        </p:txBody>
      </p:sp>
      <p:cxnSp>
        <p:nvCxnSpPr>
          <p:cNvPr id="6" name="Straight Arrow Connector 5"/>
          <p:cNvCxnSpPr>
            <a:stCxn id="7" idx="2"/>
          </p:cNvCxnSpPr>
          <p:nvPr/>
        </p:nvCxnSpPr>
        <p:spPr>
          <a:xfrm flipH="1">
            <a:off x="7746661" y="4396045"/>
            <a:ext cx="1" cy="46686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7243460" y="3548764"/>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8" name="Rectangle 7"/>
          <p:cNvSpPr/>
          <p:nvPr/>
        </p:nvSpPr>
        <p:spPr>
          <a:xfrm>
            <a:off x="7324538" y="3613933"/>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9" name="Group 8"/>
          <p:cNvGrpSpPr/>
          <p:nvPr/>
        </p:nvGrpSpPr>
        <p:grpSpPr>
          <a:xfrm>
            <a:off x="9370631" y="3548764"/>
            <a:ext cx="1737015" cy="847281"/>
            <a:chOff x="24275265" y="2491036"/>
            <a:chExt cx="2219388" cy="1473330"/>
          </a:xfrm>
        </p:grpSpPr>
        <p:sp>
          <p:nvSpPr>
            <p:cNvPr id="10" name="Rectangle 9"/>
            <p:cNvSpPr/>
            <p:nvPr/>
          </p:nvSpPr>
          <p:spPr>
            <a:xfrm>
              <a:off x="24275265" y="2491036"/>
              <a:ext cx="2219388" cy="1473330"/>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1" name="Rectangle 10"/>
            <p:cNvSpPr/>
            <p:nvPr/>
          </p:nvSpPr>
          <p:spPr>
            <a:xfrm>
              <a:off x="24366499" y="2604357"/>
              <a:ext cx="1771964" cy="572323"/>
            </a:xfrm>
            <a:prstGeom prst="rect">
              <a:avLst/>
            </a:prstGeom>
            <a:solidFill>
              <a:schemeClr val="tx1"/>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ext4 journal</a:t>
              </a:r>
              <a:endParaRPr lang="en-US" sz="1600" dirty="0">
                <a:solidFill>
                  <a:schemeClr val="bg1">
                    <a:lumMod val="50000"/>
                    <a:lumOff val="50000"/>
                  </a:schemeClr>
                </a:solidFill>
              </a:endParaRPr>
            </a:p>
          </p:txBody>
        </p:sp>
      </p:grpSp>
      <p:cxnSp>
        <p:nvCxnSpPr>
          <p:cNvPr id="12" name="Straight Arrow Connector 11"/>
          <p:cNvCxnSpPr>
            <a:stCxn id="7" idx="3"/>
            <a:endCxn id="10" idx="1"/>
          </p:cNvCxnSpPr>
          <p:nvPr/>
        </p:nvCxnSpPr>
        <p:spPr>
          <a:xfrm>
            <a:off x="8249863" y="3972405"/>
            <a:ext cx="1120765" cy="0"/>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7243460" y="4862910"/>
            <a:ext cx="3864184" cy="954429"/>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4" name="Rectangle 13"/>
          <p:cNvSpPr/>
          <p:nvPr/>
        </p:nvSpPr>
        <p:spPr>
          <a:xfrm>
            <a:off x="7324538" y="4929270"/>
            <a:ext cx="1826320" cy="56902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group descriptor table</a:t>
            </a:r>
            <a:endParaRPr lang="en-US" sz="1600" dirty="0">
              <a:solidFill>
                <a:schemeClr val="bg1"/>
              </a:solidFill>
            </a:endParaRPr>
          </a:p>
        </p:txBody>
      </p:sp>
      <p:sp>
        <p:nvSpPr>
          <p:cNvPr id="15" name="Rounded Rectangle 14"/>
          <p:cNvSpPr/>
          <p:nvPr/>
        </p:nvSpPr>
        <p:spPr>
          <a:xfrm>
            <a:off x="9248729" y="4924785"/>
            <a:ext cx="1295177" cy="795454"/>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tx1"/>
                </a:solidFill>
              </a:rPr>
              <a:t>block group descriptor</a:t>
            </a:r>
            <a:endParaRPr lang="zh-TW" altLang="en-US" sz="1600" dirty="0">
              <a:solidFill>
                <a:schemeClr val="tx1"/>
              </a:solidFill>
            </a:endParaRPr>
          </a:p>
        </p:txBody>
      </p:sp>
      <p:sp>
        <p:nvSpPr>
          <p:cNvPr id="17" name="TextBox 16"/>
          <p:cNvSpPr txBox="1"/>
          <p:nvPr/>
        </p:nvSpPr>
        <p:spPr>
          <a:xfrm>
            <a:off x="10498448" y="5024247"/>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grpSp>
        <p:nvGrpSpPr>
          <p:cNvPr id="18" name="Group 17"/>
          <p:cNvGrpSpPr/>
          <p:nvPr/>
        </p:nvGrpSpPr>
        <p:grpSpPr>
          <a:xfrm rot="5400000">
            <a:off x="9766555" y="5630341"/>
            <a:ext cx="294823" cy="533101"/>
            <a:chOff x="27236633" y="9932056"/>
            <a:chExt cx="578250" cy="990600"/>
          </a:xfrm>
        </p:grpSpPr>
        <p:cxnSp>
          <p:nvCxnSpPr>
            <p:cNvPr id="19" name="Straight Arrow Connector 18"/>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2" name="TextBox 21"/>
          <p:cNvSpPr txBox="1"/>
          <p:nvPr/>
        </p:nvSpPr>
        <p:spPr>
          <a:xfrm>
            <a:off x="7851605" y="4456739"/>
            <a:ext cx="1651414" cy="338554"/>
          </a:xfrm>
          <a:prstGeom prst="rect">
            <a:avLst/>
          </a:prstGeom>
          <a:noFill/>
        </p:spPr>
        <p:txBody>
          <a:bodyPr wrap="none" rtlCol="0">
            <a:spAutoFit/>
          </a:bodyPr>
          <a:lstStyle/>
          <a:p>
            <a:r>
              <a:rPr lang="en-CA" sz="1600" i="1" dirty="0">
                <a:solidFill>
                  <a:schemeClr val="bg1"/>
                </a:solidFill>
              </a:rPr>
              <a:t>i</a:t>
            </a:r>
            <a:r>
              <a:rPr lang="en-CA" sz="1600" i="1" dirty="0" smtClean="0">
                <a:solidFill>
                  <a:schemeClr val="bg1"/>
                </a:solidFill>
              </a:rPr>
              <a:t>mplicit pointer</a:t>
            </a:r>
            <a:endParaRPr lang="en-CA" sz="1600" i="1" dirty="0">
              <a:solidFill>
                <a:schemeClr val="bg1"/>
              </a:solidFill>
            </a:endParaRPr>
          </a:p>
        </p:txBody>
      </p:sp>
    </p:spTree>
    <p:extLst>
      <p:ext uri="{BB962C8B-B14F-4D97-AF65-F5344CB8AC3E}">
        <p14:creationId xmlns:p14="http://schemas.microsoft.com/office/powerpoint/2010/main" val="24743999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Context-Sensitive </a:t>
            </a:r>
            <a:r>
              <a:rPr lang="en-CA" dirty="0" smtClean="0"/>
              <a:t>Types</a:t>
            </a:r>
            <a:endParaRPr lang="en-CA" dirty="0"/>
          </a:p>
        </p:txBody>
      </p:sp>
      <p:sp>
        <p:nvSpPr>
          <p:cNvPr id="3" name="Content Placeholder 2"/>
          <p:cNvSpPr>
            <a:spLocks noGrp="1"/>
          </p:cNvSpPr>
          <p:nvPr>
            <p:ph idx="1"/>
          </p:nvPr>
        </p:nvSpPr>
        <p:spPr/>
        <p:txBody>
          <a:bodyPr/>
          <a:lstStyle/>
          <a:p>
            <a:r>
              <a:rPr lang="en-CA" dirty="0" smtClean="0"/>
              <a:t>A pointer </a:t>
            </a:r>
            <a:r>
              <a:rPr lang="en-CA" dirty="0" smtClean="0"/>
              <a:t>may point to different types of metadata</a:t>
            </a:r>
          </a:p>
          <a:p>
            <a:pPr lvl="1"/>
            <a:r>
              <a:rPr lang="en-CA" dirty="0" smtClean="0"/>
              <a:t>Pointers in </a:t>
            </a:r>
            <a:r>
              <a:rPr lang="en-CA" dirty="0" err="1" smtClean="0"/>
              <a:t>inode</a:t>
            </a:r>
            <a:r>
              <a:rPr lang="en-CA" dirty="0" smtClean="0"/>
              <a:t> </a:t>
            </a:r>
            <a:r>
              <a:rPr lang="en-CA" dirty="0" smtClean="0"/>
              <a:t>structure can point </a:t>
            </a:r>
            <a:r>
              <a:rPr lang="en-CA" dirty="0" smtClean="0"/>
              <a:t>to directory </a:t>
            </a:r>
            <a:r>
              <a:rPr lang="en-CA" dirty="0" smtClean="0"/>
              <a:t>or data blocks</a:t>
            </a:r>
            <a:endParaRPr lang="en-CA" dirty="0" smtClean="0"/>
          </a:p>
          <a:p>
            <a:pPr lvl="2"/>
            <a:endParaRPr lang="en-CA" dirty="0" smtClean="0"/>
          </a:p>
          <a:p>
            <a:r>
              <a:rPr lang="en-CA" dirty="0" smtClean="0"/>
              <a:t>Supported </a:t>
            </a:r>
            <a:r>
              <a:rPr lang="en-CA" dirty="0" smtClean="0"/>
              <a:t>by specifying </a:t>
            </a:r>
            <a:r>
              <a:rPr lang="en-CA" dirty="0" smtClean="0"/>
              <a:t>WHEN</a:t>
            </a:r>
            <a:r>
              <a:rPr lang="en-CA" i="1" dirty="0" smtClean="0"/>
              <a:t> </a:t>
            </a:r>
            <a:r>
              <a:rPr lang="en-CA" dirty="0" smtClean="0"/>
              <a:t>condition </a:t>
            </a:r>
            <a:r>
              <a:rPr lang="en-CA" dirty="0" smtClean="0"/>
              <a:t>in </a:t>
            </a:r>
            <a:r>
              <a:rPr lang="en-CA" dirty="0" smtClean="0"/>
              <a:t>pointer </a:t>
            </a:r>
            <a:r>
              <a:rPr lang="en-CA" dirty="0" smtClean="0"/>
              <a:t>annotation</a:t>
            </a:r>
          </a:p>
        </p:txBody>
      </p:sp>
      <p:sp>
        <p:nvSpPr>
          <p:cNvPr id="4" name="Slide Number Placeholder 3"/>
          <p:cNvSpPr>
            <a:spLocks noGrp="1"/>
          </p:cNvSpPr>
          <p:nvPr>
            <p:ph type="sldNum" sz="quarter" idx="12"/>
          </p:nvPr>
        </p:nvSpPr>
        <p:spPr/>
        <p:txBody>
          <a:bodyPr/>
          <a:lstStyle/>
          <a:p>
            <a:fld id="{7B2023C8-B124-43A9-8F92-0EEF5BAA9995}" type="slidenum">
              <a:rPr lang="en-CA" smtClean="0"/>
              <a:pPr/>
              <a:t>19</a:t>
            </a:fld>
            <a:endParaRPr lang="en-CA" dirty="0"/>
          </a:p>
        </p:txBody>
      </p:sp>
      <p:sp>
        <p:nvSpPr>
          <p:cNvPr id="46" name="Rectangle 45"/>
          <p:cNvSpPr/>
          <p:nvPr/>
        </p:nvSpPr>
        <p:spPr>
          <a:xfrm>
            <a:off x="986658" y="3687223"/>
            <a:ext cx="7499177" cy="2862322"/>
          </a:xfrm>
          <a:prstGeom prst="rect">
            <a:avLst/>
          </a:prstGeom>
        </p:spPr>
        <p:txBody>
          <a:bodyPr wrap="square">
            <a:spAutoFit/>
          </a:bodyPr>
          <a:lstStyle/>
          <a:p>
            <a:r>
              <a:rPr lang="en-CA" b="1" dirty="0">
                <a:solidFill>
                  <a:schemeClr val="bg1"/>
                </a:solidFill>
                <a:latin typeface="Courier New" panose="02070309020205020404" pitchFamily="49" charset="0"/>
                <a:cs typeface="Courier New" panose="02070309020205020404" pitchFamily="49" charset="0"/>
              </a:rPr>
              <a:t>FSSTRUCT</a:t>
            </a:r>
            <a:r>
              <a:rPr lang="en-CA" dirty="0" smtClean="0">
                <a:solidFill>
                  <a:schemeClr val="bg1"/>
                </a:solidFill>
                <a:latin typeface="Courier New" panose="02070309020205020404" pitchFamily="49" charset="0"/>
                <a:cs typeface="Courier New" panose="02070309020205020404" pitchFamily="49" charset="0"/>
              </a:rPr>
              <a:t>(...) ext4_inode {</a:t>
            </a:r>
            <a:endParaRPr lang="en-CA" dirty="0">
              <a:solidFill>
                <a:schemeClr val="bg1"/>
              </a:solidFill>
              <a:latin typeface="Courier New" panose="02070309020205020404" pitchFamily="49" charset="0"/>
              <a:cs typeface="Courier New" panose="02070309020205020404" pitchFamily="49" charset="0"/>
            </a:endParaRPr>
          </a:p>
          <a:p>
            <a:r>
              <a:rPr lang="en-CA" dirty="0">
                <a:solidFill>
                  <a:schemeClr val="bg1"/>
                </a:solidFill>
                <a:latin typeface="Courier New" panose="02070309020205020404" pitchFamily="49" charset="0"/>
                <a:cs typeface="Courier New" panose="02070309020205020404" pitchFamily="49" charset="0"/>
              </a:rPr>
              <a:t>  __le16 </a:t>
            </a:r>
            <a:r>
              <a:rPr lang="en-CA" dirty="0" err="1">
                <a:solidFill>
                  <a:schemeClr val="bg1"/>
                </a:solidFill>
                <a:latin typeface="Courier New" panose="02070309020205020404" pitchFamily="49" charset="0"/>
                <a:cs typeface="Courier New" panose="02070309020205020404" pitchFamily="49" charset="0"/>
              </a:rPr>
              <a:t>i_mode</a:t>
            </a:r>
            <a:r>
              <a:rPr lang="en-CA" dirty="0">
                <a:solidFill>
                  <a:schemeClr val="bg1"/>
                </a:solidFill>
                <a:latin typeface="Courier New" panose="02070309020205020404" pitchFamily="49" charset="0"/>
                <a:cs typeface="Courier New" panose="02070309020205020404" pitchFamily="49" charset="0"/>
              </a:rPr>
              <a:t>;</a:t>
            </a:r>
          </a:p>
          <a:p>
            <a:r>
              <a:rPr lang="en-CA" dirty="0">
                <a:solidFill>
                  <a:schemeClr val="bg1"/>
                </a:solidFill>
                <a:latin typeface="Courier New" panose="02070309020205020404" pitchFamily="49" charset="0"/>
                <a:cs typeface="Courier New" panose="02070309020205020404" pitchFamily="49" charset="0"/>
              </a:rPr>
              <a:t>   …</a:t>
            </a:r>
          </a:p>
          <a:p>
            <a:r>
              <a:rPr lang="en-CA" dirty="0">
                <a:solidFill>
                  <a:schemeClr val="bg1"/>
                </a:solidFill>
                <a:latin typeface="Courier New" panose="02070309020205020404" pitchFamily="49" charset="0"/>
                <a:cs typeface="Courier New" panose="02070309020205020404" pitchFamily="49" charset="0"/>
              </a:rPr>
              <a:t>  </a:t>
            </a:r>
            <a:r>
              <a:rPr lang="en-CA" b="1" dirty="0" smtClean="0">
                <a:solidFill>
                  <a:schemeClr val="bg1"/>
                </a:solidFill>
                <a:latin typeface="Courier New" panose="02070309020205020404" pitchFamily="49" charset="0"/>
                <a:cs typeface="Courier New" panose="02070309020205020404" pitchFamily="49" charset="0"/>
              </a:rPr>
              <a:t>POINTER</a:t>
            </a:r>
            <a:r>
              <a:rPr lang="en-CA" dirty="0" smtClean="0">
                <a:solidFill>
                  <a:schemeClr val="bg1"/>
                </a:solidFill>
                <a:latin typeface="Courier New" panose="02070309020205020404" pitchFamily="49" charset="0"/>
                <a:cs typeface="Courier New" panose="02070309020205020404" pitchFamily="49" charset="0"/>
              </a:rPr>
              <a:t>(</a:t>
            </a:r>
            <a:r>
              <a:rPr lang="en-CA" dirty="0" err="1" smtClean="0">
                <a:solidFill>
                  <a:schemeClr val="bg1"/>
                </a:solidFill>
                <a:latin typeface="Courier New" panose="02070309020205020404" pitchFamily="49" charset="0"/>
                <a:cs typeface="Courier New" panose="02070309020205020404" pitchFamily="49" charset="0"/>
              </a:rPr>
              <a:t>addrspace</a:t>
            </a:r>
            <a:r>
              <a:rPr lang="en-CA" dirty="0" smtClean="0">
                <a:solidFill>
                  <a:schemeClr val="bg1"/>
                </a:solidFill>
                <a:latin typeface="Courier New" panose="02070309020205020404" pitchFamily="49" charset="0"/>
                <a:cs typeface="Courier New" panose="02070309020205020404" pitchFamily="49" charset="0"/>
              </a:rPr>
              <a:t>=block</a:t>
            </a:r>
            <a:r>
              <a:rPr lang="en-CA" dirty="0">
                <a:solidFill>
                  <a:schemeClr val="bg1"/>
                </a:solidFill>
                <a:latin typeface="Courier New" panose="02070309020205020404" pitchFamily="49" charset="0"/>
                <a:cs typeface="Courier New" panose="02070309020205020404" pitchFamily="49" charset="0"/>
              </a:rPr>
              <a:t>, type=</a:t>
            </a:r>
            <a:r>
              <a:rPr lang="en-CA" dirty="0" err="1">
                <a:solidFill>
                  <a:schemeClr val="bg1"/>
                </a:solidFill>
                <a:latin typeface="Courier New" panose="02070309020205020404" pitchFamily="49" charset="0"/>
                <a:cs typeface="Courier New" panose="02070309020205020404" pitchFamily="49" charset="0"/>
              </a:rPr>
              <a:t>dir_block</a:t>
            </a:r>
            <a:r>
              <a:rPr lang="en-CA" dirty="0">
                <a:solidFill>
                  <a:schemeClr val="bg1"/>
                </a:solidFill>
                <a:latin typeface="Courier New" panose="02070309020205020404" pitchFamily="49" charset="0"/>
                <a:cs typeface="Courier New" panose="02070309020205020404" pitchFamily="49" charset="0"/>
              </a:rPr>
              <a:t>,</a:t>
            </a:r>
          </a:p>
          <a:p>
            <a:r>
              <a:rPr lang="en-CA" dirty="0">
                <a:solidFill>
                  <a:schemeClr val="bg1"/>
                </a:solidFill>
                <a:latin typeface="Courier New" panose="02070309020205020404" pitchFamily="49" charset="0"/>
                <a:cs typeface="Courier New" panose="02070309020205020404" pitchFamily="49" charset="0"/>
              </a:rPr>
              <a:t>          </a:t>
            </a:r>
            <a:r>
              <a:rPr lang="en-CA"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when=</a:t>
            </a:r>
            <a:r>
              <a:rPr lang="en-CA" dirty="0" err="1">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self.i_mode</a:t>
            </a:r>
            <a:r>
              <a:rPr lang="en-CA"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 &amp; </a:t>
            </a:r>
            <a:r>
              <a:rPr lang="en-CA" dirty="0" smtClean="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S_IFDIR</a:t>
            </a:r>
            <a:r>
              <a:rPr lang="en-CA" dirty="0" smtClean="0">
                <a:solidFill>
                  <a:schemeClr val="bg1"/>
                </a:solidFill>
                <a:latin typeface="Courier New" panose="02070309020205020404" pitchFamily="49" charset="0"/>
                <a:cs typeface="Courier New" panose="02070309020205020404" pitchFamily="49" charset="0"/>
              </a:rPr>
              <a:t>)</a:t>
            </a:r>
            <a:endParaRPr lang="en-CA" dirty="0">
              <a:solidFill>
                <a:schemeClr val="bg1"/>
              </a:solidFill>
              <a:latin typeface="Courier New" panose="02070309020205020404" pitchFamily="49" charset="0"/>
              <a:cs typeface="Courier New" panose="02070309020205020404" pitchFamily="49" charset="0"/>
            </a:endParaRPr>
          </a:p>
          <a:p>
            <a:r>
              <a:rPr lang="en-CA" dirty="0">
                <a:solidFill>
                  <a:schemeClr val="bg1"/>
                </a:solidFill>
                <a:latin typeface="Courier New" panose="02070309020205020404" pitchFamily="49" charset="0"/>
                <a:cs typeface="Courier New" panose="02070309020205020404" pitchFamily="49" charset="0"/>
              </a:rPr>
              <a:t>  </a:t>
            </a:r>
            <a:r>
              <a:rPr lang="en-CA" b="1" dirty="0" smtClean="0">
                <a:solidFill>
                  <a:schemeClr val="bg1"/>
                </a:solidFill>
                <a:latin typeface="Courier New" panose="02070309020205020404" pitchFamily="49" charset="0"/>
                <a:cs typeface="Courier New" panose="02070309020205020404" pitchFamily="49" charset="0"/>
              </a:rPr>
              <a:t>POINTER</a:t>
            </a:r>
            <a:r>
              <a:rPr lang="en-CA" dirty="0" smtClean="0">
                <a:solidFill>
                  <a:schemeClr val="bg1"/>
                </a:solidFill>
                <a:latin typeface="Courier New" panose="02070309020205020404" pitchFamily="49" charset="0"/>
                <a:cs typeface="Courier New" panose="02070309020205020404" pitchFamily="49" charset="0"/>
              </a:rPr>
              <a:t>(</a:t>
            </a:r>
            <a:r>
              <a:rPr lang="en-CA" dirty="0" err="1" smtClean="0">
                <a:solidFill>
                  <a:schemeClr val="bg1"/>
                </a:solidFill>
                <a:latin typeface="Courier New" panose="02070309020205020404" pitchFamily="49" charset="0"/>
                <a:cs typeface="Courier New" panose="02070309020205020404" pitchFamily="49" charset="0"/>
              </a:rPr>
              <a:t>addrspace</a:t>
            </a:r>
            <a:r>
              <a:rPr lang="en-CA" dirty="0" smtClean="0">
                <a:solidFill>
                  <a:schemeClr val="bg1"/>
                </a:solidFill>
                <a:latin typeface="Courier New" panose="02070309020205020404" pitchFamily="49" charset="0"/>
                <a:cs typeface="Courier New" panose="02070309020205020404" pitchFamily="49" charset="0"/>
              </a:rPr>
              <a:t>=block</a:t>
            </a:r>
            <a:r>
              <a:rPr lang="en-CA" dirty="0">
                <a:solidFill>
                  <a:schemeClr val="bg1"/>
                </a:solidFill>
                <a:latin typeface="Courier New" panose="02070309020205020404" pitchFamily="49" charset="0"/>
                <a:cs typeface="Courier New" panose="02070309020205020404" pitchFamily="49" charset="0"/>
              </a:rPr>
              <a:t>, </a:t>
            </a:r>
            <a:r>
              <a:rPr lang="en-CA" dirty="0" smtClean="0">
                <a:solidFill>
                  <a:schemeClr val="bg1"/>
                </a:solidFill>
                <a:latin typeface="Courier New" panose="02070309020205020404" pitchFamily="49" charset="0"/>
                <a:cs typeface="Courier New" panose="02070309020205020404" pitchFamily="49" charset="0"/>
              </a:rPr>
              <a:t>type=</a:t>
            </a:r>
            <a:r>
              <a:rPr lang="en-CA" dirty="0" err="1" smtClean="0">
                <a:solidFill>
                  <a:schemeClr val="bg1"/>
                </a:solidFill>
                <a:latin typeface="Courier New" panose="02070309020205020404" pitchFamily="49" charset="0"/>
                <a:cs typeface="Courier New" panose="02070309020205020404" pitchFamily="49" charset="0"/>
              </a:rPr>
              <a:t>data_block</a:t>
            </a:r>
            <a:r>
              <a:rPr lang="en-CA" dirty="0" smtClean="0">
                <a:solidFill>
                  <a:schemeClr val="bg1"/>
                </a:solidFill>
                <a:latin typeface="Courier New" panose="02070309020205020404" pitchFamily="49" charset="0"/>
                <a:cs typeface="Courier New" panose="02070309020205020404" pitchFamily="49" charset="0"/>
              </a:rPr>
              <a:t>,</a:t>
            </a:r>
          </a:p>
          <a:p>
            <a:r>
              <a:rPr lang="en-CA" dirty="0" smtClean="0">
                <a:solidFill>
                  <a:schemeClr val="bg1"/>
                </a:solidFill>
                <a:latin typeface="Courier New" panose="02070309020205020404" pitchFamily="49" charset="0"/>
                <a:cs typeface="Courier New" panose="02070309020205020404" pitchFamily="49" charset="0"/>
              </a:rPr>
              <a:t>          </a:t>
            </a:r>
            <a:r>
              <a:rPr lang="en-CA"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when=</a:t>
            </a:r>
            <a:r>
              <a:rPr lang="en-CA" dirty="0" err="1">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self.i_mode</a:t>
            </a:r>
            <a:r>
              <a:rPr lang="en-CA"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 &amp; S_IFREG</a:t>
            </a:r>
            <a:r>
              <a:rPr lang="en-CA" dirty="0">
                <a:solidFill>
                  <a:schemeClr val="bg1"/>
                </a:solidFill>
                <a:latin typeface="Courier New" panose="02070309020205020404" pitchFamily="49" charset="0"/>
                <a:cs typeface="Courier New" panose="02070309020205020404" pitchFamily="49" charset="0"/>
              </a:rPr>
              <a:t>)                 </a:t>
            </a:r>
          </a:p>
          <a:p>
            <a:r>
              <a:rPr lang="en-CA" dirty="0">
                <a:solidFill>
                  <a:schemeClr val="bg1"/>
                </a:solidFill>
                <a:latin typeface="Courier New" panose="02070309020205020404" pitchFamily="49" charset="0"/>
                <a:cs typeface="Courier New" panose="02070309020205020404" pitchFamily="49" charset="0"/>
              </a:rPr>
              <a:t>  __</a:t>
            </a:r>
            <a:r>
              <a:rPr lang="en-CA" dirty="0" smtClean="0">
                <a:solidFill>
                  <a:schemeClr val="bg1"/>
                </a:solidFill>
                <a:latin typeface="Courier New" panose="02070309020205020404" pitchFamily="49" charset="0"/>
                <a:cs typeface="Courier New" panose="02070309020205020404" pitchFamily="49" charset="0"/>
              </a:rPr>
              <a:t>le32 </a:t>
            </a:r>
            <a:r>
              <a:rPr lang="en-CA" dirty="0" err="1" smtClean="0">
                <a:solidFill>
                  <a:schemeClr val="bg1"/>
                </a:solidFill>
                <a:latin typeface="Courier New" panose="02070309020205020404" pitchFamily="49" charset="0"/>
                <a:cs typeface="Courier New" panose="02070309020205020404" pitchFamily="49" charset="0"/>
              </a:rPr>
              <a:t>i_block</a:t>
            </a:r>
            <a:r>
              <a:rPr lang="en-CA" dirty="0" smtClean="0">
                <a:solidFill>
                  <a:schemeClr val="bg1"/>
                </a:solidFill>
                <a:latin typeface="Courier New" panose="02070309020205020404" pitchFamily="49" charset="0"/>
                <a:cs typeface="Courier New" panose="02070309020205020404" pitchFamily="49" charset="0"/>
              </a:rPr>
              <a:t>[EXT3_NDIR_BLOCKS</a:t>
            </a:r>
            <a:r>
              <a:rPr lang="en-CA" dirty="0">
                <a:solidFill>
                  <a:schemeClr val="bg1"/>
                </a:solidFill>
                <a:latin typeface="Courier New" panose="02070309020205020404" pitchFamily="49" charset="0"/>
                <a:cs typeface="Courier New" panose="02070309020205020404" pitchFamily="49" charset="0"/>
              </a:rPr>
              <a:t>];</a:t>
            </a:r>
          </a:p>
          <a:p>
            <a:r>
              <a:rPr lang="en-CA" dirty="0">
                <a:solidFill>
                  <a:schemeClr val="bg1"/>
                </a:solidFill>
                <a:latin typeface="Courier New" panose="02070309020205020404" pitchFamily="49" charset="0"/>
                <a:cs typeface="Courier New" panose="02070309020205020404" pitchFamily="49" charset="0"/>
              </a:rPr>
              <a:t>   …</a:t>
            </a:r>
          </a:p>
          <a:p>
            <a:r>
              <a:rPr lang="en-CA" dirty="0" smtClean="0">
                <a:solidFill>
                  <a:schemeClr val="bg1"/>
                </a:solidFill>
                <a:latin typeface="Courier New" panose="02070309020205020404" pitchFamily="49" charset="0"/>
                <a:cs typeface="Courier New" panose="02070309020205020404" pitchFamily="49" charset="0"/>
              </a:rPr>
              <a:t>};</a:t>
            </a:r>
            <a:endParaRPr lang="en-CA" dirty="0">
              <a:solidFill>
                <a:schemeClr val="bg1"/>
              </a:solidFill>
              <a:latin typeface="Courier New" panose="02070309020205020404" pitchFamily="49" charset="0"/>
              <a:cs typeface="Courier New" panose="02070309020205020404" pitchFamily="49" charset="0"/>
            </a:endParaRPr>
          </a:p>
        </p:txBody>
      </p:sp>
      <p:grpSp>
        <p:nvGrpSpPr>
          <p:cNvPr id="51" name="Group 50"/>
          <p:cNvGrpSpPr/>
          <p:nvPr/>
        </p:nvGrpSpPr>
        <p:grpSpPr>
          <a:xfrm>
            <a:off x="7342190" y="3687223"/>
            <a:ext cx="4005890" cy="2329679"/>
            <a:chOff x="6381750" y="2764522"/>
            <a:chExt cx="4520240" cy="2891821"/>
          </a:xfrm>
        </p:grpSpPr>
        <p:grpSp>
          <p:nvGrpSpPr>
            <p:cNvPr id="8" name="Group 7"/>
            <p:cNvGrpSpPr/>
            <p:nvPr/>
          </p:nvGrpSpPr>
          <p:grpSpPr>
            <a:xfrm>
              <a:off x="6381750" y="2764522"/>
              <a:ext cx="4520240" cy="1416953"/>
              <a:chOff x="23807537" y="2491038"/>
              <a:chExt cx="4669172" cy="1473330"/>
            </a:xfrm>
          </p:grpSpPr>
          <p:sp>
            <p:nvSpPr>
              <p:cNvPr id="43" name="Rectangle 42"/>
              <p:cNvSpPr/>
              <p:nvPr/>
            </p:nvSpPr>
            <p:spPr>
              <a:xfrm>
                <a:off x="23807537" y="2491038"/>
                <a:ext cx="4669172"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4" name="TextBox 43"/>
              <p:cNvSpPr txBox="1"/>
              <p:nvPr/>
            </p:nvSpPr>
            <p:spPr>
              <a:xfrm>
                <a:off x="26976511" y="2607046"/>
                <a:ext cx="1285884" cy="352024"/>
              </a:xfrm>
              <a:prstGeom prst="rect">
                <a:avLst/>
              </a:prstGeom>
              <a:noFill/>
              <a:ln w="12700">
                <a:solidFill>
                  <a:schemeClr val="accent6">
                    <a:lumMod val="60000"/>
                    <a:lumOff val="40000"/>
                  </a:schemeClr>
                </a:solidFill>
              </a:ln>
            </p:spPr>
            <p:txBody>
              <a:bodyPr wrap="square" rtlCol="0">
                <a:spAutoFit/>
              </a:bodyPr>
              <a:lstStyle/>
              <a:p>
                <a:r>
                  <a:rPr lang="en-US" altLang="zh-TW" sz="1600" dirty="0" smtClean="0">
                    <a:solidFill>
                      <a:schemeClr val="accent2">
                        <a:lumMod val="50000"/>
                      </a:schemeClr>
                    </a:solidFill>
                  </a:rPr>
                  <a:t>….</a:t>
                </a:r>
                <a:endParaRPr lang="zh-TW" altLang="en-US" sz="1600" dirty="0">
                  <a:solidFill>
                    <a:schemeClr val="accent2">
                      <a:lumMod val="50000"/>
                    </a:schemeClr>
                  </a:solidFill>
                </a:endParaRPr>
              </a:p>
            </p:txBody>
          </p:sp>
          <p:sp>
            <p:nvSpPr>
              <p:cNvPr id="45" name="Rectangle 44"/>
              <p:cNvSpPr/>
              <p:nvPr/>
            </p:nvSpPr>
            <p:spPr>
              <a:xfrm>
                <a:off x="26798399" y="2563046"/>
                <a:ext cx="1606114" cy="504056"/>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inode</a:t>
                </a:r>
                <a:r>
                  <a:rPr lang="en-US" sz="1600" dirty="0" smtClean="0">
                    <a:solidFill>
                      <a:schemeClr val="bg1"/>
                    </a:solidFill>
                  </a:rPr>
                  <a:t> block</a:t>
                </a:r>
                <a:endParaRPr lang="en-US" sz="1600" dirty="0">
                  <a:solidFill>
                    <a:schemeClr val="bg1"/>
                  </a:solidFill>
                </a:endParaRPr>
              </a:p>
            </p:txBody>
          </p:sp>
        </p:grpSp>
        <p:sp>
          <p:nvSpPr>
            <p:cNvPr id="9" name="Rounded Rectangle 8"/>
            <p:cNvSpPr/>
            <p:nvPr/>
          </p:nvSpPr>
          <p:spPr>
            <a:xfrm>
              <a:off x="6523701" y="2889011"/>
              <a:ext cx="1244869" cy="1167975"/>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a:t>
              </a:r>
              <a:r>
                <a:rPr lang="en-US" altLang="zh-TW" sz="1600" dirty="0" err="1" smtClean="0">
                  <a:solidFill>
                    <a:schemeClr val="tx1"/>
                  </a:solidFill>
                </a:rPr>
                <a:t>reg</a:t>
              </a:r>
              <a:r>
                <a:rPr lang="en-US" altLang="zh-TW" sz="1600" dirty="0" smtClean="0">
                  <a:solidFill>
                    <a:schemeClr val="tx1"/>
                  </a:solidFill>
                </a:rPr>
                <a:t> file)</a:t>
              </a:r>
              <a:endParaRPr lang="zh-TW" altLang="en-US" sz="1600" dirty="0">
                <a:solidFill>
                  <a:schemeClr val="tx1"/>
                </a:solidFill>
              </a:endParaRPr>
            </a:p>
          </p:txBody>
        </p:sp>
        <p:sp>
          <p:nvSpPr>
            <p:cNvPr id="10" name="Rounded Rectangle 9"/>
            <p:cNvSpPr/>
            <p:nvPr/>
          </p:nvSpPr>
          <p:spPr>
            <a:xfrm>
              <a:off x="7916382" y="2889011"/>
              <a:ext cx="1244869" cy="1167975"/>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(directory)</a:t>
              </a:r>
              <a:endParaRPr lang="zh-TW" altLang="en-US" sz="1600" dirty="0">
                <a:solidFill>
                  <a:schemeClr val="tx1"/>
                </a:solidFill>
              </a:endParaRPr>
            </a:p>
          </p:txBody>
        </p:sp>
        <p:grpSp>
          <p:nvGrpSpPr>
            <p:cNvPr id="12" name="Group 11"/>
            <p:cNvGrpSpPr/>
            <p:nvPr/>
          </p:nvGrpSpPr>
          <p:grpSpPr>
            <a:xfrm>
              <a:off x="7916382" y="4488492"/>
              <a:ext cx="1244868" cy="1167851"/>
              <a:chOff x="25154821" y="7455704"/>
              <a:chExt cx="2110198" cy="2062800"/>
            </a:xfrm>
            <a:solidFill>
              <a:schemeClr val="accent5">
                <a:lumMod val="40000"/>
                <a:lumOff val="60000"/>
              </a:schemeClr>
            </a:solidFill>
          </p:grpSpPr>
          <p:sp>
            <p:nvSpPr>
              <p:cNvPr id="39" name="Rectangle 38"/>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0" name="Rectangle 39"/>
              <p:cNvSpPr/>
              <p:nvPr/>
            </p:nvSpPr>
            <p:spPr>
              <a:xfrm>
                <a:off x="25324824" y="7614366"/>
                <a:ext cx="1770194" cy="1142180"/>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dir</a:t>
                </a:r>
                <a:r>
                  <a:rPr lang="en-US" sz="1600" dirty="0" smtClean="0">
                    <a:solidFill>
                      <a:schemeClr val="bg1"/>
                    </a:solidFill>
                  </a:rPr>
                  <a:t> block</a:t>
                </a:r>
                <a:endParaRPr lang="en-US" sz="1600" dirty="0">
                  <a:solidFill>
                    <a:schemeClr val="bg1"/>
                  </a:solidFill>
                </a:endParaRPr>
              </a:p>
            </p:txBody>
          </p:sp>
        </p:grpSp>
        <p:cxnSp>
          <p:nvCxnSpPr>
            <p:cNvPr id="15" name="Straight Arrow Connector 14"/>
            <p:cNvCxnSpPr>
              <a:stCxn id="10" idx="2"/>
              <a:endCxn id="39" idx="0"/>
            </p:cNvCxnSpPr>
            <p:nvPr/>
          </p:nvCxnSpPr>
          <p:spPr>
            <a:xfrm flipH="1">
              <a:off x="8538816" y="4056986"/>
              <a:ext cx="1" cy="431506"/>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9" idx="2"/>
              <a:endCxn id="48" idx="0"/>
            </p:cNvCxnSpPr>
            <p:nvPr/>
          </p:nvCxnSpPr>
          <p:spPr>
            <a:xfrm>
              <a:off x="7146136" y="4056986"/>
              <a:ext cx="0" cy="431506"/>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47" name="Group 46"/>
            <p:cNvGrpSpPr/>
            <p:nvPr/>
          </p:nvGrpSpPr>
          <p:grpSpPr>
            <a:xfrm>
              <a:off x="6523702" y="4488492"/>
              <a:ext cx="1244868" cy="1167851"/>
              <a:chOff x="25154821" y="7455704"/>
              <a:chExt cx="2110198" cy="2062800"/>
            </a:xfrm>
            <a:solidFill>
              <a:schemeClr val="accent5">
                <a:lumMod val="40000"/>
                <a:lumOff val="60000"/>
              </a:schemeClr>
            </a:solidFill>
          </p:grpSpPr>
          <p:sp>
            <p:nvSpPr>
              <p:cNvPr id="48" name="Rectangle 47"/>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9" name="Rectangle 48"/>
              <p:cNvSpPr/>
              <p:nvPr/>
            </p:nvSpPr>
            <p:spPr>
              <a:xfrm>
                <a:off x="25324824" y="7614366"/>
                <a:ext cx="1770194" cy="1142180"/>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data block</a:t>
                </a:r>
                <a:endParaRPr lang="en-US" sz="1600" dirty="0">
                  <a:solidFill>
                    <a:schemeClr val="bg1"/>
                  </a:solidFill>
                </a:endParaRPr>
              </a:p>
            </p:txBody>
          </p:sp>
        </p:grpSp>
      </p:grpSp>
    </p:spTree>
    <p:extLst>
      <p:ext uri="{BB962C8B-B14F-4D97-AF65-F5344CB8AC3E}">
        <p14:creationId xmlns:p14="http://schemas.microsoft.com/office/powerpoint/2010/main" val="19432756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Check Annotations</a:t>
            </a:r>
            <a:endParaRPr lang="en-CA" dirty="0"/>
          </a:p>
        </p:txBody>
      </p:sp>
      <p:sp>
        <p:nvSpPr>
          <p:cNvPr id="3" name="Text Placeholder 2"/>
          <p:cNvSpPr>
            <a:spLocks noGrp="1"/>
          </p:cNvSpPr>
          <p:nvPr>
            <p:ph type="body" idx="1"/>
          </p:nvPr>
        </p:nvSpPr>
        <p:spPr/>
        <p:txBody>
          <a:bodyPr/>
          <a:lstStyle/>
          <a:p>
            <a:r>
              <a:rPr lang="en-CA" dirty="0" smtClean="0"/>
              <a:t>Annotation</a:t>
            </a:r>
            <a:endParaRPr lang="en-CA" dirty="0"/>
          </a:p>
        </p:txBody>
      </p:sp>
      <p:sp>
        <p:nvSpPr>
          <p:cNvPr id="10" name="Content Placeholder 6"/>
          <p:cNvSpPr txBox="1">
            <a:spLocks noGrp="1"/>
          </p:cNvSpPr>
          <p:nvPr>
            <p:ph sz="half" idx="2"/>
          </p:nvPr>
        </p:nvSpPr>
        <p:spPr>
          <a:xfrm>
            <a:off x="684211" y="2100086"/>
            <a:ext cx="9863287" cy="4072114"/>
          </a:xfrm>
        </p:spPr>
        <p:txBody>
          <a:bodyPr>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b="1" dirty="0" smtClean="0">
                <a:latin typeface="Courier New" panose="02070309020205020404" pitchFamily="49" charset="0"/>
                <a:cs typeface="Courier New" panose="02070309020205020404" pitchFamily="49" charset="0"/>
              </a:rPr>
              <a:t>FSSUPER</a:t>
            </a:r>
            <a:r>
              <a:rPr lang="en-CA" sz="1500" dirty="0" smtClean="0">
                <a:latin typeface="Courier New" panose="02070309020205020404" pitchFamily="49" charset="0"/>
                <a:cs typeface="Courier New" panose="02070309020205020404" pitchFamily="49" charset="0"/>
              </a:rPr>
              <a:t>(…) ext4_super_block {</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__le32 </a:t>
            </a:r>
            <a:r>
              <a:rPr lang="en-CA" sz="1500" dirty="0" err="1" smtClean="0">
                <a:latin typeface="Courier New" panose="02070309020205020404" pitchFamily="49" charset="0"/>
                <a:cs typeface="Courier New" panose="02070309020205020404" pitchFamily="49" charset="0"/>
              </a:rPr>
              <a:t>s_log_block_size</a:t>
            </a:r>
            <a:r>
              <a:rPr lang="en-CA" sz="15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__le16 </a:t>
            </a:r>
            <a:r>
              <a:rPr lang="en-CA" sz="1500" dirty="0" err="1" smtClean="0">
                <a:latin typeface="Courier New" panose="02070309020205020404" pitchFamily="49" charset="0"/>
                <a:cs typeface="Courier New" panose="02070309020205020404" pitchFamily="49" charset="0"/>
              </a:rPr>
              <a:t>s_magic</a:t>
            </a:r>
            <a:r>
              <a:rPr lang="en-CA" sz="15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__le32 </a:t>
            </a:r>
            <a:r>
              <a:rPr lang="en-CA" sz="1500" dirty="0" err="1" smtClean="0">
                <a:latin typeface="Courier New" panose="02070309020205020404" pitchFamily="49" charset="0"/>
                <a:cs typeface="Courier New" panose="02070309020205020404" pitchFamily="49" charset="0"/>
              </a:rPr>
              <a:t>s_inode_size</a:t>
            </a:r>
            <a:r>
              <a:rPr lang="en-CA" sz="15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a:t>
            </a:r>
            <a:r>
              <a:rPr lang="en-CA" sz="1500" b="1" dirty="0" smtClean="0">
                <a:latin typeface="Courier New" panose="02070309020205020404" pitchFamily="49" charset="0"/>
                <a:cs typeface="Courier New" panose="02070309020205020404" pitchFamily="49" charset="0"/>
              </a:rPr>
              <a:t>CHECK</a:t>
            </a:r>
            <a:r>
              <a:rPr lang="en-CA" sz="1500" dirty="0" smtClean="0">
                <a:latin typeface="Courier New" panose="02070309020205020404" pitchFamily="49" charset="0"/>
                <a:cs typeface="Courier New" panose="02070309020205020404" pitchFamily="49" charset="0"/>
              </a:rPr>
              <a:t>(expr=</a:t>
            </a:r>
            <a:r>
              <a:rPr lang="en-CA" sz="1500" dirty="0" err="1" smtClean="0">
                <a:latin typeface="Courier New" panose="02070309020205020404" pitchFamily="49" charset="0"/>
                <a:cs typeface="Courier New" panose="02070309020205020404" pitchFamily="49" charset="0"/>
              </a:rPr>
              <a:t>self.s_log_block_size</a:t>
            </a:r>
            <a:r>
              <a:rPr lang="en-CA" sz="1500" dirty="0" smtClean="0">
                <a:latin typeface="Courier New" panose="02070309020205020404" pitchFamily="49" charset="0"/>
                <a:cs typeface="Courier New" panose="02070309020205020404" pitchFamily="49" charset="0"/>
              </a:rPr>
              <a:t> &lt;= 6);</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a:t>
            </a:r>
            <a:r>
              <a:rPr lang="en-CA" sz="1500" b="1" dirty="0" smtClean="0">
                <a:latin typeface="Courier New" panose="02070309020205020404" pitchFamily="49" charset="0"/>
                <a:cs typeface="Courier New" panose="02070309020205020404" pitchFamily="49" charset="0"/>
              </a:rPr>
              <a:t>CHECK</a:t>
            </a:r>
            <a:r>
              <a:rPr lang="en-CA" sz="1500" dirty="0" smtClean="0">
                <a:latin typeface="Courier New" panose="02070309020205020404" pitchFamily="49" charset="0"/>
                <a:cs typeface="Courier New" panose="02070309020205020404" pitchFamily="49" charset="0"/>
              </a:rPr>
              <a:t>(expr=</a:t>
            </a:r>
            <a:r>
              <a:rPr lang="en-CA" sz="1500" dirty="0" err="1" smtClean="0">
                <a:latin typeface="Courier New" panose="02070309020205020404" pitchFamily="49" charset="0"/>
                <a:cs typeface="Courier New" panose="02070309020205020404" pitchFamily="49" charset="0"/>
              </a:rPr>
              <a:t>self.s_magic</a:t>
            </a:r>
            <a:r>
              <a:rPr lang="en-CA" sz="1500" dirty="0" smtClean="0">
                <a:latin typeface="Courier New" panose="02070309020205020404" pitchFamily="49" charset="0"/>
                <a:cs typeface="Courier New" panose="02070309020205020404" pitchFamily="49" charset="0"/>
              </a:rPr>
              <a:t> == 0xef53);</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a:t>
            </a:r>
          </a:p>
          <a:p>
            <a:pPr marL="0" indent="0">
              <a:buNone/>
            </a:pPr>
            <a:endParaRPr lang="en-CA" dirty="0" smtClean="0"/>
          </a:p>
          <a:p>
            <a:endParaRPr lang="en-CA" dirty="0" smtClean="0"/>
          </a:p>
          <a:p>
            <a:r>
              <a:rPr lang="en-CA" dirty="0" smtClean="0"/>
              <a:t>C</a:t>
            </a:r>
            <a:r>
              <a:rPr lang="en-CA" dirty="0" smtClean="0"/>
              <a:t>++ </a:t>
            </a:r>
            <a:r>
              <a:rPr lang="en-CA" dirty="0" smtClean="0"/>
              <a:t>classes are generated </a:t>
            </a:r>
            <a:r>
              <a:rPr lang="en-CA" dirty="0" smtClean="0"/>
              <a:t>for </a:t>
            </a:r>
            <a:r>
              <a:rPr lang="en-CA" dirty="0" smtClean="0"/>
              <a:t>all annotated structures and </a:t>
            </a:r>
            <a:r>
              <a:rPr lang="en-CA" dirty="0" smtClean="0"/>
              <a:t>their</a:t>
            </a:r>
            <a:r>
              <a:rPr lang="en-CA" dirty="0" smtClean="0"/>
              <a:t> fields</a:t>
            </a:r>
            <a:endParaRPr lang="en-CA" dirty="0" smtClean="0"/>
          </a:p>
          <a:p>
            <a:pPr lvl="1"/>
            <a:r>
              <a:rPr lang="en-CA" sz="1800" dirty="0" smtClean="0"/>
              <a:t>Enables type-safe parsing and serialization</a:t>
            </a:r>
          </a:p>
          <a:p>
            <a:endParaRPr lang="en-CA" dirty="0" smtClean="0"/>
          </a:p>
        </p:txBody>
      </p:sp>
      <p:sp>
        <p:nvSpPr>
          <p:cNvPr id="4" name="Text Placeholder 3"/>
          <p:cNvSpPr>
            <a:spLocks noGrp="1"/>
          </p:cNvSpPr>
          <p:nvPr>
            <p:ph type="body" sz="quarter" idx="3"/>
          </p:nvPr>
        </p:nvSpPr>
        <p:spPr>
          <a:xfrm>
            <a:off x="5982774" y="1523824"/>
            <a:ext cx="4665134" cy="576262"/>
          </a:xfrm>
        </p:spPr>
        <p:txBody>
          <a:bodyPr/>
          <a:lstStyle/>
          <a:p>
            <a:r>
              <a:rPr lang="en-CA" dirty="0" smtClean="0"/>
              <a:t>Generated </a:t>
            </a:r>
            <a:r>
              <a:rPr lang="en-CA" dirty="0" smtClean="0"/>
              <a:t>Code for ext4_super_block</a:t>
            </a:r>
            <a:endParaRPr lang="en-CA" dirty="0"/>
          </a:p>
        </p:txBody>
      </p:sp>
      <p:sp>
        <p:nvSpPr>
          <p:cNvPr id="9" name="Content Placeholder 8"/>
          <p:cNvSpPr>
            <a:spLocks noGrp="1"/>
          </p:cNvSpPr>
          <p:nvPr>
            <p:ph sz="quarter" idx="4"/>
          </p:nvPr>
        </p:nvSpPr>
        <p:spPr>
          <a:xfrm>
            <a:off x="5621867" y="2100086"/>
            <a:ext cx="5999519" cy="2885540"/>
          </a:xfrm>
        </p:spPr>
        <p:txBody>
          <a:bodyPr>
            <a:noAutofit/>
          </a:bodyPr>
          <a:lstStyle/>
          <a:p>
            <a:pPr marL="0" indent="0">
              <a:spcBef>
                <a:spcPts val="0"/>
              </a:spcBef>
              <a:spcAft>
                <a:spcPts val="0"/>
              </a:spcAft>
              <a:buNone/>
            </a:pPr>
            <a:r>
              <a:rPr lang="en-CA" sz="1800" dirty="0" err="1" smtClean="0">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Ext4SuperBlock::parse(</a:t>
            </a:r>
            <a:r>
              <a:rPr lang="en-CA" sz="1800" dirty="0" err="1" smtClean="0">
                <a:latin typeface="Courier New" panose="02070309020205020404" pitchFamily="49" charset="0"/>
                <a:cs typeface="Courier New" panose="02070309020205020404" pitchFamily="49" charset="0"/>
              </a:rPr>
              <a:t>const</a:t>
            </a:r>
            <a:r>
              <a:rPr lang="en-CA" sz="1800" dirty="0" smtClean="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char * &amp; </a:t>
            </a:r>
            <a:r>
              <a:rPr lang="en-CA" sz="1800" dirty="0" err="1" smtClean="0">
                <a:latin typeface="Courier New" panose="02070309020205020404" pitchFamily="49" charset="0"/>
                <a:cs typeface="Courier New" panose="02070309020205020404" pitchFamily="49" charset="0"/>
              </a:rPr>
              <a:t>buf</a:t>
            </a:r>
            <a:r>
              <a:rPr lang="en-CA" sz="1800" dirty="0" smtClean="0">
                <a:latin typeface="Courier New" panose="02070309020205020404" pitchFamily="49" charset="0"/>
                <a:cs typeface="Courier New" panose="02070309020205020404" pitchFamily="49" charset="0"/>
              </a:rPr>
              <a:t>, unsigned &amp; </a:t>
            </a:r>
            <a:r>
              <a:rPr lang="en-CA" sz="1800" dirty="0" err="1" smtClean="0">
                <a:latin typeface="Courier New" panose="02070309020205020404" pitchFamily="49" charset="0"/>
                <a:cs typeface="Courier New" panose="02070309020205020404" pitchFamily="49" charset="0"/>
              </a:rPr>
              <a:t>len</a:t>
            </a:r>
            <a:r>
              <a:rPr lang="en-CA" sz="1800" dirty="0" smtClean="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ret = </a:t>
            </a:r>
            <a:r>
              <a:rPr lang="en-CA" sz="1800" dirty="0" err="1" smtClean="0">
                <a:latin typeface="Courier New" panose="02070309020205020404" pitchFamily="49" charset="0"/>
                <a:cs typeface="Courier New" panose="02070309020205020404" pitchFamily="49" charset="0"/>
              </a:rPr>
              <a:t>s_log_block_size.parse</a:t>
            </a:r>
            <a:r>
              <a:rPr lang="en-CA" sz="1800" dirty="0" smtClean="0">
                <a:latin typeface="Courier New" panose="02070309020205020404" pitchFamily="49" charset="0"/>
                <a:cs typeface="Courier New" panose="02070309020205020404" pitchFamily="49" charset="0"/>
              </a:rPr>
              <a:t>(</a:t>
            </a:r>
            <a:r>
              <a:rPr lang="en-CA" sz="1800" dirty="0" err="1" smtClean="0">
                <a:latin typeface="Courier New" panose="02070309020205020404" pitchFamily="49" charset="0"/>
                <a:cs typeface="Courier New" panose="02070309020205020404" pitchFamily="49" charset="0"/>
              </a:rPr>
              <a:t>buf</a:t>
            </a: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len</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(ret &lt; 0) return ret;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if </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s_log_block_size</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&lt;= 6))</a:t>
            </a:r>
          </a:p>
          <a:p>
            <a:pPr marL="0" indent="0">
              <a:spcBef>
                <a:spcPts val="0"/>
              </a:spcBef>
              <a:spcAft>
                <a:spcPts val="0"/>
              </a:spcAft>
              <a:buNone/>
            </a:pP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return ERR_CORRUPT;</a:t>
            </a:r>
          </a:p>
          <a:p>
            <a:pPr marL="0" indent="0">
              <a:spcBef>
                <a:spcPts val="0"/>
              </a:spcBef>
              <a:spcAft>
                <a:spcPts val="0"/>
              </a:spcAft>
              <a:buNone/>
            </a:pP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if </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s_magic</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0xef53))</a:t>
            </a:r>
          </a:p>
          <a:p>
            <a:pPr marL="0" indent="0">
              <a:spcBef>
                <a:spcPts val="0"/>
              </a:spcBef>
              <a:spcAft>
                <a:spcPts val="0"/>
              </a:spcAft>
              <a:buNone/>
            </a:pP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return ERR_CORRUPT;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smtClean="0">
              <a:latin typeface="Courier New" panose="02070309020205020404" pitchFamily="49" charset="0"/>
              <a:cs typeface="Courier New" panose="02070309020205020404" pitchFamily="49" charset="0"/>
            </a:endParaRP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7B2023C8-B124-43A9-8F92-0EEF5BAA9995}" type="slidenum">
              <a:rPr lang="en-CA" smtClean="0"/>
              <a:pPr/>
              <a:t>20</a:t>
            </a:fld>
            <a:endParaRPr lang="en-CA"/>
          </a:p>
        </p:txBody>
      </p:sp>
      <p:sp>
        <p:nvSpPr>
          <p:cNvPr id="6" name="Right Arrow 5"/>
          <p:cNvSpPr/>
          <p:nvPr/>
        </p:nvSpPr>
        <p:spPr>
          <a:xfrm>
            <a:off x="4714327" y="2684468"/>
            <a:ext cx="277598" cy="168965"/>
          </a:xfrm>
          <a:prstGeom prst="rightArrow">
            <a:avLst/>
          </a:prstGeom>
          <a:noFill/>
          <a:ln w="254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245056677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Annotation Effort</a:t>
            </a:r>
            <a:endParaRPr lang="en-CA" dirty="0"/>
          </a:p>
        </p:txBody>
      </p:sp>
      <p:sp>
        <p:nvSpPr>
          <p:cNvPr id="3" name="Content Placeholder 2"/>
          <p:cNvSpPr>
            <a:spLocks noGrp="1"/>
          </p:cNvSpPr>
          <p:nvPr>
            <p:ph idx="1"/>
          </p:nvPr>
        </p:nvSpPr>
        <p:spPr/>
        <p:txBody>
          <a:bodyPr/>
          <a:lstStyle/>
          <a:p>
            <a:endParaRPr lang="en-CA" dirty="0" smtClean="0"/>
          </a:p>
          <a:p>
            <a:endParaRPr lang="en-CA" dirty="0"/>
          </a:p>
          <a:p>
            <a:endParaRPr lang="en-CA" dirty="0" smtClean="0"/>
          </a:p>
          <a:p>
            <a:r>
              <a:rPr lang="en-CA" dirty="0" smtClean="0"/>
              <a:t>Lines of code </a:t>
            </a:r>
            <a:r>
              <a:rPr lang="en-CA" dirty="0" smtClean="0"/>
              <a:t>required to correctly annotate modern file systems</a:t>
            </a:r>
          </a:p>
          <a:p>
            <a:pPr lvl="1"/>
            <a:r>
              <a:rPr lang="en-CA" dirty="0" smtClean="0"/>
              <a:t>Need to declare some structures</a:t>
            </a:r>
            <a:endParaRPr lang="en-CA" dirty="0" smtClean="0"/>
          </a:p>
          <a:p>
            <a:pPr lvl="2"/>
            <a:r>
              <a:rPr lang="en-CA" dirty="0" smtClean="0"/>
              <a:t>E.g. Ext4 indirect block is </a:t>
            </a:r>
            <a:r>
              <a:rPr lang="en-CA" dirty="0" smtClean="0"/>
              <a:t>assumed to be an </a:t>
            </a:r>
            <a:r>
              <a:rPr lang="en-CA" dirty="0" smtClean="0"/>
              <a:t>array </a:t>
            </a:r>
            <a:r>
              <a:rPr lang="en-CA" dirty="0" smtClean="0"/>
              <a:t>of 4-byte pointers</a:t>
            </a:r>
          </a:p>
          <a:p>
            <a:pPr lvl="1"/>
            <a:r>
              <a:rPr lang="en-CA" dirty="0" smtClean="0"/>
              <a:t>Changed some structures for clarity</a:t>
            </a:r>
            <a:endParaRPr lang="en-CA" dirty="0" smtClean="0"/>
          </a:p>
          <a:p>
            <a:pPr lvl="2"/>
            <a:r>
              <a:rPr lang="en-CA" dirty="0" smtClean="0"/>
              <a:t>E.g. block pointers in Ext4 </a:t>
            </a:r>
            <a:r>
              <a:rPr lang="en-CA" dirty="0" err="1" smtClean="0"/>
              <a:t>inode</a:t>
            </a:r>
            <a:r>
              <a:rPr lang="en-CA" dirty="0" smtClean="0"/>
              <a:t> is an array of </a:t>
            </a:r>
            <a:r>
              <a:rPr lang="en-CA" dirty="0" smtClean="0"/>
              <a:t>15 pointers</a:t>
            </a:r>
            <a:r>
              <a:rPr lang="en-CA" dirty="0" smtClean="0"/>
              <a:t>, </a:t>
            </a:r>
            <a:r>
              <a:rPr lang="en-CA" dirty="0" smtClean="0"/>
              <a:t>the first </a:t>
            </a:r>
            <a:r>
              <a:rPr lang="en-CA" dirty="0" smtClean="0"/>
              <a:t>12 are direct block pointers, while </a:t>
            </a:r>
            <a:r>
              <a:rPr lang="en-CA" dirty="0" smtClean="0"/>
              <a:t>the </a:t>
            </a:r>
            <a:r>
              <a:rPr lang="en-CA" dirty="0" smtClean="0"/>
              <a:t>last 3 are indirect </a:t>
            </a:r>
            <a:r>
              <a:rPr lang="en-CA" dirty="0" smtClean="0"/>
              <a:t>pointers of different types</a:t>
            </a:r>
            <a:endParaRPr lang="en-CA" dirty="0" smtClean="0"/>
          </a:p>
          <a:p>
            <a:pPr lvl="2"/>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21</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1419476845"/>
              </p:ext>
            </p:extLst>
          </p:nvPr>
        </p:nvGraphicFramePr>
        <p:xfrm>
          <a:off x="2024016" y="1507237"/>
          <a:ext cx="6359598" cy="1483360"/>
        </p:xfrm>
        <a:graphic>
          <a:graphicData uri="http://schemas.openxmlformats.org/drawingml/2006/table">
            <a:tbl>
              <a:tblPr firstRow="1" bandRow="1">
                <a:tableStyleId>{69012ECD-51FC-41F1-AA8D-1B2483CD663E}</a:tableStyleId>
              </a:tblPr>
              <a:tblGrid>
                <a:gridCol w="2119866">
                  <a:extLst>
                    <a:ext uri="{9D8B030D-6E8A-4147-A177-3AD203B41FA5}">
                      <a16:colId xmlns:a16="http://schemas.microsoft.com/office/drawing/2014/main" val="20000"/>
                    </a:ext>
                  </a:extLst>
                </a:gridCol>
                <a:gridCol w="2119866">
                  <a:extLst>
                    <a:ext uri="{9D8B030D-6E8A-4147-A177-3AD203B41FA5}">
                      <a16:colId xmlns:a16="http://schemas.microsoft.com/office/drawing/2014/main" val="20001"/>
                    </a:ext>
                  </a:extLst>
                </a:gridCol>
                <a:gridCol w="2119866">
                  <a:extLst>
                    <a:ext uri="{9D8B030D-6E8A-4147-A177-3AD203B41FA5}">
                      <a16:colId xmlns:a16="http://schemas.microsoft.com/office/drawing/2014/main" val="20002"/>
                    </a:ext>
                  </a:extLst>
                </a:gridCol>
              </a:tblGrid>
              <a:tr h="370840">
                <a:tc>
                  <a:txBody>
                    <a:bodyPr/>
                    <a:lstStyle/>
                    <a:p>
                      <a:r>
                        <a:rPr lang="en-CA" dirty="0" smtClean="0">
                          <a:solidFill>
                            <a:schemeClr val="tx1"/>
                          </a:solidFill>
                        </a:rPr>
                        <a:t>File System</a:t>
                      </a:r>
                      <a:endParaRPr lang="en-CA" dirty="0">
                        <a:solidFill>
                          <a:schemeClr val="tx1"/>
                        </a:solidFill>
                      </a:endParaRPr>
                    </a:p>
                  </a:txBody>
                  <a:tcPr/>
                </a:tc>
                <a:tc>
                  <a:txBody>
                    <a:bodyPr/>
                    <a:lstStyle/>
                    <a:p>
                      <a:r>
                        <a:rPr lang="en-CA" dirty="0" smtClean="0">
                          <a:solidFill>
                            <a:schemeClr val="tx1"/>
                          </a:solidFill>
                        </a:rPr>
                        <a:t>Line Count</a:t>
                      </a:r>
                      <a:endParaRPr lang="en-CA" dirty="0">
                        <a:solidFill>
                          <a:schemeClr val="tx1"/>
                        </a:solidFill>
                      </a:endParaRPr>
                    </a:p>
                  </a:txBody>
                  <a:tcPr/>
                </a:tc>
                <a:tc>
                  <a:txBody>
                    <a:bodyPr/>
                    <a:lstStyle/>
                    <a:p>
                      <a:r>
                        <a:rPr lang="en-CA" dirty="0" smtClean="0">
                          <a:solidFill>
                            <a:schemeClr val="tx1"/>
                          </a:solidFill>
                        </a:rPr>
                        <a:t>Annotated</a:t>
                      </a:r>
                      <a:endParaRPr lang="en-CA" dirty="0">
                        <a:solidFill>
                          <a:schemeClr val="tx1"/>
                        </a:solidFill>
                      </a:endParaRPr>
                    </a:p>
                  </a:txBody>
                  <a:tcPr/>
                </a:tc>
                <a:extLst>
                  <a:ext uri="{0D108BD9-81ED-4DB2-BD59-A6C34878D82A}">
                    <a16:rowId xmlns:a16="http://schemas.microsoft.com/office/drawing/2014/main" val="10000"/>
                  </a:ext>
                </a:extLst>
              </a:tr>
              <a:tr h="370840">
                <a:tc>
                  <a:txBody>
                    <a:bodyPr/>
                    <a:lstStyle/>
                    <a:p>
                      <a:r>
                        <a:rPr lang="en-CA" dirty="0" smtClean="0">
                          <a:solidFill>
                            <a:schemeClr val="bg1"/>
                          </a:solidFill>
                        </a:rPr>
                        <a:t>Ext4</a:t>
                      </a:r>
                      <a:endParaRPr lang="en-CA" dirty="0">
                        <a:solidFill>
                          <a:schemeClr val="bg1"/>
                        </a:solidFill>
                      </a:endParaRPr>
                    </a:p>
                  </a:txBody>
                  <a:tcPr/>
                </a:tc>
                <a:tc>
                  <a:txBody>
                    <a:bodyPr/>
                    <a:lstStyle/>
                    <a:p>
                      <a:r>
                        <a:rPr lang="en-CA" dirty="0" smtClean="0">
                          <a:solidFill>
                            <a:schemeClr val="bg1"/>
                          </a:solidFill>
                        </a:rPr>
                        <a:t>491</a:t>
                      </a:r>
                      <a:endParaRPr lang="en-CA" dirty="0">
                        <a:solidFill>
                          <a:schemeClr val="bg1"/>
                        </a:solidFill>
                      </a:endParaRPr>
                    </a:p>
                  </a:txBody>
                  <a:tcPr/>
                </a:tc>
                <a:tc>
                  <a:txBody>
                    <a:bodyPr/>
                    <a:lstStyle/>
                    <a:p>
                      <a:r>
                        <a:rPr lang="en-CA" dirty="0" smtClean="0">
                          <a:solidFill>
                            <a:schemeClr val="bg1"/>
                          </a:solidFill>
                        </a:rPr>
                        <a:t>113</a:t>
                      </a:r>
                      <a:endParaRPr lang="en-CA" dirty="0">
                        <a:solidFill>
                          <a:schemeClr val="bg1"/>
                        </a:solidFill>
                      </a:endParaRPr>
                    </a:p>
                  </a:txBody>
                  <a:tcPr/>
                </a:tc>
                <a:extLst>
                  <a:ext uri="{0D108BD9-81ED-4DB2-BD59-A6C34878D82A}">
                    <a16:rowId xmlns:a16="http://schemas.microsoft.com/office/drawing/2014/main" val="10001"/>
                  </a:ext>
                </a:extLst>
              </a:tr>
              <a:tr h="370840">
                <a:tc>
                  <a:txBody>
                    <a:bodyPr/>
                    <a:lstStyle/>
                    <a:p>
                      <a:r>
                        <a:rPr lang="en-CA" dirty="0" err="1" smtClean="0">
                          <a:solidFill>
                            <a:schemeClr val="bg1"/>
                          </a:solidFill>
                        </a:rPr>
                        <a:t>Btrfs</a:t>
                      </a:r>
                      <a:endParaRPr lang="en-CA" dirty="0">
                        <a:solidFill>
                          <a:schemeClr val="bg1"/>
                        </a:solidFill>
                      </a:endParaRPr>
                    </a:p>
                  </a:txBody>
                  <a:tcPr/>
                </a:tc>
                <a:tc>
                  <a:txBody>
                    <a:bodyPr/>
                    <a:lstStyle/>
                    <a:p>
                      <a:r>
                        <a:rPr lang="en-CA" dirty="0" smtClean="0">
                          <a:solidFill>
                            <a:schemeClr val="bg1"/>
                          </a:solidFill>
                        </a:rPr>
                        <a:t>556</a:t>
                      </a:r>
                      <a:endParaRPr lang="en-CA" dirty="0">
                        <a:solidFill>
                          <a:schemeClr val="bg1"/>
                        </a:solidFill>
                      </a:endParaRPr>
                    </a:p>
                  </a:txBody>
                  <a:tcPr/>
                </a:tc>
                <a:tc>
                  <a:txBody>
                    <a:bodyPr/>
                    <a:lstStyle/>
                    <a:p>
                      <a:r>
                        <a:rPr lang="en-CA" dirty="0" smtClean="0">
                          <a:solidFill>
                            <a:schemeClr val="bg1"/>
                          </a:solidFill>
                        </a:rPr>
                        <a:t>151</a:t>
                      </a:r>
                      <a:endParaRPr lang="en-CA" dirty="0">
                        <a:solidFill>
                          <a:schemeClr val="bg1"/>
                        </a:solidFill>
                      </a:endParaRPr>
                    </a:p>
                  </a:txBody>
                  <a:tcPr/>
                </a:tc>
                <a:extLst>
                  <a:ext uri="{0D108BD9-81ED-4DB2-BD59-A6C34878D82A}">
                    <a16:rowId xmlns:a16="http://schemas.microsoft.com/office/drawing/2014/main" val="10002"/>
                  </a:ext>
                </a:extLst>
              </a:tr>
              <a:tr h="370840">
                <a:tc>
                  <a:txBody>
                    <a:bodyPr/>
                    <a:lstStyle/>
                    <a:p>
                      <a:r>
                        <a:rPr lang="en-CA" dirty="0" smtClean="0">
                          <a:solidFill>
                            <a:schemeClr val="bg1"/>
                          </a:solidFill>
                        </a:rPr>
                        <a:t>F2FS</a:t>
                      </a:r>
                      <a:endParaRPr lang="en-CA" dirty="0">
                        <a:solidFill>
                          <a:schemeClr val="bg1"/>
                        </a:solidFill>
                      </a:endParaRPr>
                    </a:p>
                  </a:txBody>
                  <a:tcPr/>
                </a:tc>
                <a:tc>
                  <a:txBody>
                    <a:bodyPr/>
                    <a:lstStyle/>
                    <a:p>
                      <a:r>
                        <a:rPr lang="en-CA" dirty="0" smtClean="0">
                          <a:solidFill>
                            <a:schemeClr val="bg1"/>
                          </a:solidFill>
                        </a:rPr>
                        <a:t>462</a:t>
                      </a:r>
                      <a:endParaRPr lang="en-CA" dirty="0">
                        <a:solidFill>
                          <a:schemeClr val="bg1"/>
                        </a:solidFill>
                      </a:endParaRPr>
                    </a:p>
                  </a:txBody>
                  <a:tcPr/>
                </a:tc>
                <a:tc>
                  <a:txBody>
                    <a:bodyPr/>
                    <a:lstStyle/>
                    <a:p>
                      <a:r>
                        <a:rPr lang="en-CA" dirty="0" smtClean="0">
                          <a:solidFill>
                            <a:schemeClr val="bg1"/>
                          </a:solidFill>
                        </a:rPr>
                        <a:t>127</a:t>
                      </a:r>
                      <a:endParaRPr lang="en-CA" dirty="0">
                        <a:solidFill>
                          <a:schemeClr val="bg1"/>
                        </a:solidFill>
                      </a:endParaRP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49949332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Building </a:t>
            </a:r>
            <a:r>
              <a:rPr lang="en-CA" dirty="0" smtClean="0"/>
              <a:t>Applications</a:t>
            </a:r>
            <a:endParaRPr lang="en-CA" dirty="0"/>
          </a:p>
        </p:txBody>
      </p:sp>
      <p:sp>
        <p:nvSpPr>
          <p:cNvPr id="3" name="Content Placeholder 2"/>
          <p:cNvSpPr>
            <a:spLocks noGrp="1"/>
          </p:cNvSpPr>
          <p:nvPr>
            <p:ph idx="1"/>
          </p:nvPr>
        </p:nvSpPr>
        <p:spPr/>
        <p:txBody>
          <a:bodyPr/>
          <a:lstStyle/>
          <a:p>
            <a:r>
              <a:rPr lang="en-CA" dirty="0" smtClean="0"/>
              <a:t>Example: File System Free Space Tool</a:t>
            </a:r>
          </a:p>
          <a:p>
            <a:pPr lvl="1"/>
            <a:r>
              <a:rPr lang="en-CA" dirty="0"/>
              <a:t>P</a:t>
            </a:r>
            <a:r>
              <a:rPr lang="en-CA" dirty="0" smtClean="0"/>
              <a:t>lots </a:t>
            </a:r>
            <a:r>
              <a:rPr lang="en-CA" dirty="0" smtClean="0"/>
              <a:t>histogram of size of free </a:t>
            </a:r>
            <a:r>
              <a:rPr lang="en-CA" dirty="0" smtClean="0"/>
              <a:t>extents</a:t>
            </a:r>
          </a:p>
          <a:p>
            <a:pPr lvl="1"/>
            <a:r>
              <a:rPr lang="en-CA" dirty="0" smtClean="0"/>
              <a:t>Application requires knowledge of how file system tracks block allocation</a:t>
            </a:r>
            <a:endParaRPr lang="en-CA" dirty="0" smtClean="0"/>
          </a:p>
          <a:p>
            <a:r>
              <a:rPr lang="en-CA" dirty="0" smtClean="0"/>
              <a:t>Manually</a:t>
            </a:r>
            <a:endParaRPr lang="en-CA" dirty="0" smtClean="0"/>
          </a:p>
          <a:p>
            <a:pPr lvl="1"/>
            <a:r>
              <a:rPr lang="en-CA" dirty="0"/>
              <a:t>W</a:t>
            </a:r>
            <a:r>
              <a:rPr lang="en-CA" dirty="0" smtClean="0"/>
              <a:t>rite code to traverse file system and access relevant metadata</a:t>
            </a:r>
          </a:p>
          <a:p>
            <a:pPr lvl="2"/>
            <a:r>
              <a:rPr lang="en-CA" dirty="0"/>
              <a:t>Often through </a:t>
            </a:r>
            <a:r>
              <a:rPr lang="en-CA" dirty="0" smtClean="0"/>
              <a:t>trial-and-error</a:t>
            </a:r>
            <a:endParaRPr lang="en-CA" dirty="0" smtClean="0"/>
          </a:p>
          <a:p>
            <a:pPr lvl="1"/>
            <a:r>
              <a:rPr lang="en-CA" dirty="0" smtClean="0"/>
              <a:t>Write </a:t>
            </a:r>
            <a:r>
              <a:rPr lang="en-CA" dirty="0" smtClean="0"/>
              <a:t>code to </a:t>
            </a:r>
            <a:r>
              <a:rPr lang="en-CA" dirty="0" smtClean="0"/>
              <a:t>process </a:t>
            </a:r>
            <a:r>
              <a:rPr lang="en-CA" dirty="0" smtClean="0"/>
              <a:t>relevant metadata</a:t>
            </a:r>
          </a:p>
          <a:p>
            <a:r>
              <a:rPr lang="en-CA" dirty="0" smtClean="0"/>
              <a:t>Spiffy </a:t>
            </a:r>
            <a:r>
              <a:rPr lang="en-CA" dirty="0" smtClean="0"/>
              <a:t>framework</a:t>
            </a:r>
          </a:p>
          <a:p>
            <a:pPr lvl="1"/>
            <a:r>
              <a:rPr lang="en-CA" dirty="0" smtClean="0"/>
              <a:t>Simplifies the traversal and helps make it more robust</a:t>
            </a:r>
          </a:p>
          <a:p>
            <a:pPr lvl="1"/>
            <a:r>
              <a:rPr lang="en-CA" dirty="0" smtClean="0"/>
              <a:t>Application program focuses on processing relevant metadata</a:t>
            </a:r>
            <a:endParaRPr lang="en-CA" dirty="0" smtClean="0"/>
          </a:p>
          <a:p>
            <a:pPr lvl="1"/>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22</a:t>
            </a:fld>
            <a:endParaRPr lang="en-CA" dirty="0"/>
          </a:p>
        </p:txBody>
      </p:sp>
    </p:spTree>
    <p:extLst>
      <p:ext uri="{BB962C8B-B14F-4D97-AF65-F5344CB8AC3E}">
        <p14:creationId xmlns:p14="http://schemas.microsoft.com/office/powerpoint/2010/main" val="3324490692"/>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struct</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ext4_super_block *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sb</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dev.read</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600" dirty="0" smtClean="0">
                <a:solidFill>
                  <a:srgbClr val="0070C0"/>
                </a:solidFill>
                <a:effectLst>
                  <a:glow rad="101600">
                    <a:srgbClr val="FFFF00">
                      <a:alpha val="40000"/>
                    </a:srgbClr>
                  </a:glow>
                </a:effectLst>
                <a:latin typeface="Courier New" panose="02070309020205020404" pitchFamily="49" charset="0"/>
                <a:cs typeface="Courier New" panose="02070309020205020404" pitchFamily="49" charset="0"/>
              </a:rPr>
              <a:t>1024</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int</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blk_size</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600" dirty="0">
                <a:solidFill>
                  <a:srgbClr val="0070C0"/>
                </a:solidFill>
                <a:effectLst>
                  <a:glow rad="101600">
                    <a:srgbClr val="FFFF00">
                      <a:alpha val="40000"/>
                    </a:srgbClr>
                  </a:glow>
                </a:effectLst>
                <a:latin typeface="Courier New" panose="02070309020205020404" pitchFamily="49" charset="0"/>
                <a:cs typeface="Courier New" panose="02070309020205020404" pitchFamily="49" charset="0"/>
              </a:rPr>
              <a:t>1024</a:t>
            </a:r>
            <a:r>
              <a:rPr lang="en-CA" sz="1600" dirty="0">
                <a:effectLst>
                  <a:glow rad="101600">
                    <a:srgbClr val="FFFF00">
                      <a:alpha val="40000"/>
                    </a:srgbClr>
                  </a:glow>
                </a:effectLst>
                <a:latin typeface="Courier New" panose="02070309020205020404" pitchFamily="49" charset="0"/>
                <a:cs typeface="Courier New" panose="02070309020205020404" pitchFamily="49" charset="0"/>
              </a:rPr>
              <a:t> &lt;&lt; </a:t>
            </a:r>
            <a:r>
              <a:rPr lang="en-CA" sz="1600" dirty="0" err="1">
                <a:effectLst>
                  <a:glow rad="101600">
                    <a:srgbClr val="FFFF00">
                      <a:alpha val="40000"/>
                    </a:srgbClr>
                  </a:glow>
                </a:effectLst>
                <a:latin typeface="Courier New" panose="02070309020205020404" pitchFamily="49" charset="0"/>
                <a:cs typeface="Courier New" panose="02070309020205020404" pitchFamily="49" charset="0"/>
              </a:rPr>
              <a:t>sb</a:t>
            </a:r>
            <a:r>
              <a:rPr lang="en-CA" sz="1600" dirty="0">
                <a:effectLst>
                  <a:glow rad="101600">
                    <a:srgbClr val="FFFF00">
                      <a:alpha val="40000"/>
                    </a:srgbClr>
                  </a:glow>
                </a:effectLst>
                <a:latin typeface="Courier New" panose="02070309020205020404" pitchFamily="49" charset="0"/>
                <a:cs typeface="Courier New" panose="02070309020205020404" pitchFamily="49" charset="0"/>
              </a:rPr>
              <a:t>-&gt;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s_log_block_size</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dev.set_block_size</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blk_size</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a:solidFill>
                  <a:schemeClr val="accent4">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int</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bg_blknr</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sb</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-&gt;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s_log_block_size</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600" dirty="0" smtClean="0">
                <a:solidFill>
                  <a:srgbClr val="0070C0"/>
                </a:solidFill>
                <a:effectLst>
                  <a:glow rad="101600">
                    <a:srgbClr val="FFFF00">
                      <a:alpha val="40000"/>
                    </a:srgbClr>
                  </a:glow>
                </a:effectLst>
                <a:latin typeface="Courier New" panose="02070309020205020404" pitchFamily="49" charset="0"/>
                <a:cs typeface="Courier New" panose="02070309020205020404" pitchFamily="49" charset="0"/>
              </a:rPr>
              <a:t>0</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smtClean="0">
                <a:solidFill>
                  <a:srgbClr val="0070C0"/>
                </a:solidFill>
                <a:effectLst>
                  <a:glow rad="101600">
                    <a:srgbClr val="FFFF00">
                      <a:alpha val="40000"/>
                    </a:srgbClr>
                  </a:glow>
                </a:effectLst>
                <a:latin typeface="Courier New" panose="02070309020205020404" pitchFamily="49" charset="0"/>
                <a:cs typeface="Courier New" panose="02070309020205020404" pitchFamily="49" charset="0"/>
              </a:rPr>
              <a:t>2</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600" dirty="0" smtClean="0">
                <a:solidFill>
                  <a:srgbClr val="0070C0"/>
                </a:solidFill>
                <a:effectLst>
                  <a:glow rad="101600">
                    <a:srgbClr val="FFFF00">
                      <a:alpha val="40000"/>
                    </a:srgbClr>
                  </a:glow>
                </a:effectLst>
                <a:latin typeface="Courier New" panose="02070309020205020404" pitchFamily="49" charset="0"/>
                <a:cs typeface="Courier New" panose="02070309020205020404" pitchFamily="49" charset="0"/>
              </a:rPr>
              <a:t>1</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int</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bg_ngrps</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ceil(</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sb</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-&gt;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s_blocks_count</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sb</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-&gt;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s_blocks_per_group</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int</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bg_nblks</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ceil(</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bg_ngrps</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sizeof</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struct</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ext4_group_desc), </a:t>
            </a:r>
            <a:r>
              <a:rPr lang="en-CA" sz="1600" dirty="0" err="1">
                <a:effectLst>
                  <a:glow rad="101600">
                    <a:srgbClr val="FFFF00">
                      <a:alpha val="40000"/>
                    </a:srgbClr>
                  </a:glow>
                </a:effectLst>
                <a:latin typeface="Courier New" panose="02070309020205020404" pitchFamily="49" charset="0"/>
                <a:cs typeface="Courier New" panose="02070309020205020404" pitchFamily="49" charset="0"/>
              </a:rPr>
              <a:t>blk_size</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a:solidFill>
                  <a:schemeClr val="accent4">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struct</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ext4_group_desc *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gd</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dev.read_block</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bg_blknr</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bg_nblks</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for (</a:t>
            </a:r>
            <a:r>
              <a:rPr lang="en-CA" sz="1600" dirty="0" err="1"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int</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i</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600" dirty="0" smtClean="0">
                <a:solidFill>
                  <a:srgbClr val="0070C0"/>
                </a:solidFill>
                <a:effectLst>
                  <a:glow rad="101600">
                    <a:srgbClr val="FFFF00">
                      <a:alpha val="40000"/>
                    </a:srgbClr>
                  </a:glow>
                </a:effectLst>
                <a:latin typeface="Courier New" panose="02070309020205020404" pitchFamily="49" charset="0"/>
                <a:cs typeface="Courier New" panose="02070309020205020404" pitchFamily="49" charset="0"/>
              </a:rPr>
              <a:t>0</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i</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&lt; </a:t>
            </a:r>
            <a:r>
              <a:rPr lang="en-CA" sz="1600" dirty="0" err="1">
                <a:effectLst>
                  <a:glow rad="101600">
                    <a:srgbClr val="FFFF00">
                      <a:alpha val="40000"/>
                    </a:srgbClr>
                  </a:glow>
                </a:effectLst>
                <a:latin typeface="Courier New" panose="02070309020205020404" pitchFamily="49" charset="0"/>
                <a:cs typeface="Courier New" panose="02070309020205020404" pitchFamily="49" charset="0"/>
              </a:rPr>
              <a:t>bg_ngrps</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i</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char</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buf</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dev.read_block</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gd</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i</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]-&gt;</a:t>
            </a:r>
            <a:r>
              <a:rPr lang="en-CA" sz="1600" dirty="0" err="1" smtClean="0">
                <a:effectLst>
                  <a:glow rad="101600">
                    <a:srgbClr val="FFFF00">
                      <a:alpha val="40000"/>
                    </a:srgbClr>
                  </a:glow>
                </a:effectLst>
                <a:latin typeface="Courier New" panose="02070309020205020404" pitchFamily="49" charset="0"/>
                <a:cs typeface="Courier New" panose="02070309020205020404" pitchFamily="49" charset="0"/>
              </a:rPr>
              <a:t>bg_block_bitmap</a:t>
            </a:r>
            <a:r>
              <a:rPr lang="en-CA" sz="16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b="1"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b="1" dirty="0" smtClean="0">
                <a:latin typeface="Courier New" panose="02070309020205020404" pitchFamily="49" charset="0"/>
                <a:cs typeface="Courier New" panose="02070309020205020404" pitchFamily="49" charset="0"/>
              </a:rPr>
              <a:t> ret = </a:t>
            </a:r>
            <a:r>
              <a:rPr lang="en-CA" sz="1600" b="1" dirty="0" err="1" smtClean="0">
                <a:latin typeface="Courier New" panose="02070309020205020404" pitchFamily="49" charset="0"/>
                <a:cs typeface="Courier New" panose="02070309020205020404" pitchFamily="49" charset="0"/>
              </a:rPr>
              <a:t>process_block_bitmap</a:t>
            </a:r>
            <a:r>
              <a:rPr lang="en-CA" sz="1600" b="1" dirty="0" smtClean="0">
                <a:latin typeface="Courier New" panose="02070309020205020404" pitchFamily="49" charset="0"/>
                <a:cs typeface="Courier New" panose="02070309020205020404" pitchFamily="49" charset="0"/>
              </a:rPr>
              <a:t>(</a:t>
            </a:r>
            <a:r>
              <a:rPr lang="en-CA" sz="1600" b="1" dirty="0" err="1" smtClean="0">
                <a:latin typeface="Courier New" panose="02070309020205020404" pitchFamily="49" charset="0"/>
                <a:cs typeface="Courier New" panose="02070309020205020404" pitchFamily="49" charset="0"/>
              </a:rPr>
              <a:t>buf</a:t>
            </a:r>
            <a:r>
              <a:rPr lang="en-CA" sz="1600" b="1" dirty="0" smtClean="0">
                <a:latin typeface="Courier New" panose="02070309020205020404" pitchFamily="49" charset="0"/>
                <a:cs typeface="Courier New" panose="02070309020205020404" pitchFamily="49" charset="0"/>
              </a:rPr>
              <a:t>, </a:t>
            </a:r>
            <a:r>
              <a:rPr lang="en-CA" sz="1600" b="1" dirty="0" err="1" smtClean="0">
                <a:latin typeface="Courier New" panose="02070309020205020404" pitchFamily="49" charset="0"/>
                <a:cs typeface="Courier New" panose="02070309020205020404" pitchFamily="49" charset="0"/>
              </a:rPr>
              <a:t>vec</a:t>
            </a:r>
            <a:r>
              <a:rPr lang="en-CA" sz="1600" b="1"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23</a:t>
            </a:fld>
            <a:endParaRPr lang="en-CA" dirty="0"/>
          </a:p>
        </p:txBody>
      </p:sp>
      <p:sp>
        <p:nvSpPr>
          <p:cNvPr id="7" name="TextBox 6"/>
          <p:cNvSpPr txBox="1"/>
          <p:nvPr/>
        </p:nvSpPr>
        <p:spPr>
          <a:xfrm>
            <a:off x="8362122" y="2468890"/>
            <a:ext cx="3009463" cy="1015663"/>
          </a:xfrm>
          <a:prstGeom prst="rect">
            <a:avLst/>
          </a:prstGeom>
          <a:noFill/>
        </p:spPr>
        <p:txBody>
          <a:bodyPr wrap="square" rtlCol="0">
            <a:spAutoFit/>
          </a:bodyPr>
          <a:lstStyle/>
          <a:p>
            <a:pPr>
              <a:lnSpc>
                <a:spcPts val="2400"/>
              </a:lnSpc>
              <a:spcBef>
                <a:spcPts val="600"/>
              </a:spcBef>
            </a:pPr>
            <a:r>
              <a:rPr lang="en-CA" dirty="0" smtClean="0">
                <a:solidFill>
                  <a:schemeClr val="bg1"/>
                </a:solidFill>
              </a:rPr>
              <a:t>LOTS of boilerplate code to walk through the intermediate structures</a:t>
            </a:r>
            <a:endParaRPr lang="en-CA" dirty="0">
              <a:solidFill>
                <a:schemeClr val="bg1"/>
              </a:solidFill>
            </a:endParaRPr>
          </a:p>
        </p:txBody>
      </p:sp>
      <p:sp>
        <p:nvSpPr>
          <p:cNvPr id="2" name="Content Placeholder 1"/>
          <p:cNvSpPr>
            <a:spLocks noGrp="1"/>
          </p:cNvSpPr>
          <p:nvPr>
            <p:ph idx="1"/>
          </p:nvPr>
        </p:nvSpPr>
        <p:spPr/>
        <p:txBody>
          <a:bodyPr/>
          <a:lstStyle/>
          <a:p>
            <a:endParaRPr lang="en-CA"/>
          </a:p>
        </p:txBody>
      </p:sp>
    </p:spTree>
    <p:extLst>
      <p:ext uri="{BB962C8B-B14F-4D97-AF65-F5344CB8AC3E}">
        <p14:creationId xmlns:p14="http://schemas.microsoft.com/office/powerpoint/2010/main" val="303889626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b="1"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b="1" dirty="0" smtClean="0">
                <a:latin typeface="Courier New" panose="02070309020205020404" pitchFamily="49" charset="0"/>
                <a:cs typeface="Courier New" panose="02070309020205020404" pitchFamily="49" charset="0"/>
              </a:rPr>
              <a:t> ret = </a:t>
            </a:r>
            <a:r>
              <a:rPr lang="en-CA" sz="1600" b="1" dirty="0" err="1" smtClean="0">
                <a:latin typeface="Courier New" panose="02070309020205020404" pitchFamily="49" charset="0"/>
                <a:cs typeface="Courier New" panose="02070309020205020404" pitchFamily="49" charset="0"/>
              </a:rPr>
              <a:t>process_block_bitmap</a:t>
            </a:r>
            <a:r>
              <a:rPr lang="en-CA" sz="1600" b="1" dirty="0" smtClean="0">
                <a:latin typeface="Courier New" panose="02070309020205020404" pitchFamily="49" charset="0"/>
                <a:cs typeface="Courier New" panose="02070309020205020404" pitchFamily="49" charset="0"/>
              </a:rPr>
              <a:t>(</a:t>
            </a:r>
            <a:r>
              <a:rPr lang="en-CA" sz="1600" b="1" dirty="0" err="1" smtClean="0">
                <a:latin typeface="Courier New" panose="02070309020205020404" pitchFamily="49" charset="0"/>
                <a:cs typeface="Courier New" panose="02070309020205020404" pitchFamily="49" charset="0"/>
              </a:rPr>
              <a:t>buf</a:t>
            </a:r>
            <a:r>
              <a:rPr lang="en-CA" sz="1600" b="1" dirty="0" smtClean="0">
                <a:latin typeface="Courier New" panose="02070309020205020404" pitchFamily="49" charset="0"/>
                <a:cs typeface="Courier New" panose="02070309020205020404" pitchFamily="49" charset="0"/>
              </a:rPr>
              <a:t>, </a:t>
            </a:r>
            <a:r>
              <a:rPr lang="en-CA" sz="1600" b="1" dirty="0" err="1" smtClean="0">
                <a:latin typeface="Courier New" panose="02070309020205020404" pitchFamily="49" charset="0"/>
                <a:cs typeface="Courier New" panose="02070309020205020404" pitchFamily="49" charset="0"/>
              </a:rPr>
              <a:t>vec</a:t>
            </a:r>
            <a:r>
              <a:rPr lang="en-CA" sz="1600" b="1"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9" name="Content Placeholder 8"/>
          <p:cNvSpPr>
            <a:spLocks noGrp="1"/>
          </p:cNvSpPr>
          <p:nvPr>
            <p:ph idx="1"/>
          </p:nvPr>
        </p:nvSpPr>
        <p:spPr/>
        <p:txBody>
          <a:bodyPr/>
          <a:lstStyle/>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24</a:t>
            </a:fld>
            <a:endParaRPr lang="en-CA" dirty="0"/>
          </a:p>
        </p:txBody>
      </p:sp>
      <p:sp>
        <p:nvSpPr>
          <p:cNvPr id="7" name="TextBox 6"/>
          <p:cNvSpPr txBox="1"/>
          <p:nvPr/>
        </p:nvSpPr>
        <p:spPr>
          <a:xfrm>
            <a:off x="8723473" y="2301801"/>
            <a:ext cx="2790802" cy="989951"/>
          </a:xfrm>
          <a:prstGeom prst="rect">
            <a:avLst/>
          </a:prstGeom>
          <a:noFill/>
        </p:spPr>
        <p:txBody>
          <a:bodyPr wrap="square" rtlCol="0">
            <a:spAutoFit/>
          </a:bodyPr>
          <a:lstStyle/>
          <a:p>
            <a:pPr>
              <a:lnSpc>
                <a:spcPts val="2400"/>
              </a:lnSpc>
              <a:spcBef>
                <a:spcPts val="600"/>
              </a:spcBef>
            </a:pPr>
            <a:r>
              <a:rPr lang="en-CA" dirty="0" smtClean="0">
                <a:solidFill>
                  <a:schemeClr val="bg1"/>
                </a:solidFill>
              </a:rPr>
              <a:t>Ideally, we would only have to write this function.</a:t>
            </a:r>
            <a:endParaRPr lang="en-CA" dirty="0">
              <a:solidFill>
                <a:schemeClr val="bg1"/>
              </a:solidFill>
            </a:endParaRPr>
          </a:p>
        </p:txBody>
      </p:sp>
      <p:cxnSp>
        <p:nvCxnSpPr>
          <p:cNvPr id="8" name="Straight Arrow Connector 7"/>
          <p:cNvCxnSpPr/>
          <p:nvPr/>
        </p:nvCxnSpPr>
        <p:spPr>
          <a:xfrm rot="10800000" flipV="1">
            <a:off x="6619463" y="3220281"/>
            <a:ext cx="3476019" cy="2358192"/>
          </a:xfrm>
          <a:prstGeom prst="bentConnector3">
            <a:avLst>
              <a:gd name="adj1" fmla="val -38"/>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3"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endParaRPr lang="en-CA" dirty="0"/>
          </a:p>
        </p:txBody>
      </p:sp>
    </p:spTree>
    <p:extLst>
      <p:ext uri="{BB962C8B-B14F-4D97-AF65-F5344CB8AC3E}">
        <p14:creationId xmlns:p14="http://schemas.microsoft.com/office/powerpoint/2010/main" val="2763951438"/>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Manually-Written Application</a:t>
            </a:r>
            <a:endParaRPr lang="en-CA" dirty="0"/>
          </a:p>
        </p:txBody>
      </p:sp>
      <p:sp>
        <p:nvSpPr>
          <p:cNvPr id="7" name="Content Placeholder 6"/>
          <p:cNvSpPr>
            <a:spLocks noGrp="1"/>
          </p:cNvSpPr>
          <p:nvPr>
            <p:ph idx="1"/>
          </p:nvPr>
        </p:nvSpPr>
        <p:spPr/>
        <p:txBody>
          <a:bodyPr/>
          <a:lstStyle/>
          <a:p>
            <a:endParaRPr lang="en-CA" dirty="0"/>
          </a:p>
        </p:txBody>
      </p:sp>
      <p:sp>
        <p:nvSpPr>
          <p:cNvPr id="8" name="Slide Number Placeholder 7"/>
          <p:cNvSpPr>
            <a:spLocks noGrp="1"/>
          </p:cNvSpPr>
          <p:nvPr>
            <p:ph type="sldNum" sz="quarter" idx="12"/>
          </p:nvPr>
        </p:nvSpPr>
        <p:spPr/>
        <p:txBody>
          <a:bodyPr/>
          <a:lstStyle/>
          <a:p>
            <a:fld id="{7B2023C8-B124-43A9-8F92-0EEF5BAA9995}" type="slidenum">
              <a:rPr lang="en-CA" smtClean="0"/>
              <a:pPr/>
              <a:t>25</a:t>
            </a:fld>
            <a:endParaRPr lang="en-CA" dirty="0"/>
          </a:p>
        </p:txBody>
      </p:sp>
      <p:sp>
        <p:nvSpPr>
          <p:cNvPr id="2" name="TextBox 1"/>
          <p:cNvSpPr txBox="1"/>
          <p:nvPr/>
        </p:nvSpPr>
        <p:spPr>
          <a:xfrm>
            <a:off x="8734308" y="2073898"/>
            <a:ext cx="2681552" cy="1508105"/>
          </a:xfrm>
          <a:prstGeom prst="rect">
            <a:avLst/>
          </a:prstGeom>
          <a:noFill/>
        </p:spPr>
        <p:txBody>
          <a:bodyPr wrap="square" rtlCol="0">
            <a:spAutoFit/>
          </a:bodyPr>
          <a:lstStyle/>
          <a:p>
            <a:pPr>
              <a:lnSpc>
                <a:spcPts val="2400"/>
              </a:lnSpc>
              <a:spcBef>
                <a:spcPts val="600"/>
              </a:spcBef>
            </a:pPr>
            <a:r>
              <a:rPr lang="en-CA" b="1" dirty="0" smtClean="0">
                <a:solidFill>
                  <a:schemeClr val="bg1"/>
                </a:solidFill>
              </a:rPr>
              <a:t>No sanity checks!</a:t>
            </a:r>
          </a:p>
          <a:p>
            <a:pPr marL="263525" indent="-179388">
              <a:buFont typeface="Arial" panose="020B0604020202020204" pitchFamily="34" charset="0"/>
              <a:buChar char="•"/>
            </a:pPr>
            <a:r>
              <a:rPr lang="en-CA" dirty="0" smtClean="0">
                <a:solidFill>
                  <a:schemeClr val="bg1"/>
                </a:solidFill>
              </a:rPr>
              <a:t>Value may be out- of-bound, incorrect</a:t>
            </a:r>
          </a:p>
          <a:p>
            <a:pPr marL="263525" indent="-179388">
              <a:buFont typeface="Arial" panose="020B0604020202020204" pitchFamily="34" charset="0"/>
              <a:buChar char="•"/>
            </a:pPr>
            <a:r>
              <a:rPr lang="en-CA" dirty="0" smtClean="0">
                <a:solidFill>
                  <a:schemeClr val="bg1"/>
                </a:solidFill>
              </a:rPr>
              <a:t>Can cause crashes</a:t>
            </a:r>
            <a:br>
              <a:rPr lang="en-CA" dirty="0" smtClean="0">
                <a:solidFill>
                  <a:schemeClr val="bg1"/>
                </a:solidFill>
              </a:rPr>
            </a:br>
            <a:r>
              <a:rPr lang="en-CA" dirty="0" smtClean="0">
                <a:solidFill>
                  <a:schemeClr val="bg1"/>
                </a:solidFill>
              </a:rPr>
              <a:t>or garbage output</a:t>
            </a:r>
            <a:endParaRPr lang="en-CA" dirty="0">
              <a:solidFill>
                <a:schemeClr val="bg1"/>
              </a:solidFill>
            </a:endParaRPr>
          </a:p>
        </p:txBody>
      </p:sp>
      <p:cxnSp>
        <p:nvCxnSpPr>
          <p:cNvPr id="6" name="Straight Arrow Connector 5"/>
          <p:cNvCxnSpPr/>
          <p:nvPr/>
        </p:nvCxnSpPr>
        <p:spPr>
          <a:xfrm flipH="1">
            <a:off x="6778487" y="2281287"/>
            <a:ext cx="1955821" cy="740209"/>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flipH="1">
            <a:off x="7374835" y="2281287"/>
            <a:ext cx="1359473" cy="1495583"/>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rot="5400000">
            <a:off x="6780007" y="3402890"/>
            <a:ext cx="3075904" cy="832699"/>
          </a:xfrm>
          <a:prstGeom prst="bentConnector3">
            <a:avLst>
              <a:gd name="adj1" fmla="val 100085"/>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1"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b="1"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b="1" dirty="0" smtClean="0">
                <a:latin typeface="Courier New" panose="02070309020205020404" pitchFamily="49" charset="0"/>
                <a:cs typeface="Courier New" panose="02070309020205020404" pitchFamily="49" charset="0"/>
              </a:rPr>
              <a:t> ret = </a:t>
            </a:r>
            <a:r>
              <a:rPr lang="en-CA" sz="1600" b="1" dirty="0" err="1" smtClean="0">
                <a:latin typeface="Courier New" panose="02070309020205020404" pitchFamily="49" charset="0"/>
                <a:cs typeface="Courier New" panose="02070309020205020404" pitchFamily="49" charset="0"/>
              </a:rPr>
              <a:t>process_block_bitmap</a:t>
            </a:r>
            <a:r>
              <a:rPr lang="en-CA" sz="1600" b="1" dirty="0" smtClean="0">
                <a:latin typeface="Courier New" panose="02070309020205020404" pitchFamily="49" charset="0"/>
                <a:cs typeface="Courier New" panose="02070309020205020404" pitchFamily="49" charset="0"/>
              </a:rPr>
              <a:t>(</a:t>
            </a:r>
            <a:r>
              <a:rPr lang="en-CA" sz="1600" b="1" dirty="0" err="1" smtClean="0">
                <a:latin typeface="Courier New" panose="02070309020205020404" pitchFamily="49" charset="0"/>
                <a:cs typeface="Courier New" panose="02070309020205020404" pitchFamily="49" charset="0"/>
              </a:rPr>
              <a:t>buf</a:t>
            </a:r>
            <a:r>
              <a:rPr lang="en-CA" sz="1600" b="1" dirty="0" smtClean="0">
                <a:latin typeface="Courier New" panose="02070309020205020404" pitchFamily="49" charset="0"/>
                <a:cs typeface="Courier New" panose="02070309020205020404" pitchFamily="49" charset="0"/>
              </a:rPr>
              <a:t>, </a:t>
            </a:r>
            <a:r>
              <a:rPr lang="en-CA" sz="1600" b="1" dirty="0" err="1" smtClean="0">
                <a:latin typeface="Courier New" panose="02070309020205020404" pitchFamily="49" charset="0"/>
                <a:cs typeface="Courier New" panose="02070309020205020404" pitchFamily="49" charset="0"/>
              </a:rPr>
              <a:t>vec</a:t>
            </a:r>
            <a:r>
              <a:rPr lang="en-CA" sz="1600" b="1"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351305738"/>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dirty="0" smtClean="0"/>
              <a:t>Application Using Spiffy Library</a:t>
            </a:r>
            <a:endParaRPr lang="en-CA" dirty="0"/>
          </a:p>
        </p:txBody>
      </p:sp>
      <p:sp>
        <p:nvSpPr>
          <p:cNvPr id="15" name="Slide Number Placeholder 14"/>
          <p:cNvSpPr>
            <a:spLocks noGrp="1"/>
          </p:cNvSpPr>
          <p:nvPr>
            <p:ph type="sldNum" sz="quarter" idx="12"/>
          </p:nvPr>
        </p:nvSpPr>
        <p:spPr/>
        <p:txBody>
          <a:bodyPr/>
          <a:lstStyle/>
          <a:p>
            <a:fld id="{7B2023C8-B124-43A9-8F92-0EEF5BAA9995}" type="slidenum">
              <a:rPr lang="en-CA" smtClean="0"/>
              <a:pPr/>
              <a:t>26</a:t>
            </a:fld>
            <a:endParaRPr lang="en-CA" dirty="0"/>
          </a:p>
        </p:txBody>
      </p:sp>
      <p:sp>
        <p:nvSpPr>
          <p:cNvPr id="11" name="Content Placeholder 6"/>
          <p:cNvSpPr txBox="1">
            <a:spLocks/>
          </p:cNvSpPr>
          <p:nvPr/>
        </p:nvSpPr>
        <p:spPr>
          <a:xfrm>
            <a:off x="951929" y="2073898"/>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1600" dirty="0">
                <a:solidFill>
                  <a:schemeClr val="accent6">
                    <a:lumMod val="75000"/>
                  </a:schemeClr>
                </a:solidFill>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600" dirty="0">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  Ext4 </a:t>
            </a:r>
            <a:r>
              <a:rPr lang="en-CA" sz="1600" dirty="0">
                <a:latin typeface="Courier New" panose="02070309020205020404" pitchFamily="49" charset="0"/>
                <a:cs typeface="Courier New" panose="02070309020205020404" pitchFamily="49" charset="0"/>
              </a:rPr>
              <a:t>ext4(dev</a:t>
            </a:r>
            <a:r>
              <a:rPr lang="en-CA" sz="16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600" dirty="0">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b="1" dirty="0">
                <a:latin typeface="Courier New" panose="02070309020205020404" pitchFamily="49" charset="0"/>
                <a:cs typeface="Courier New" panose="02070309020205020404" pitchFamily="49" charset="0"/>
              </a:rPr>
              <a:t>3</a:t>
            </a:r>
            <a:r>
              <a:rPr lang="en-CA" sz="2000" b="1" dirty="0" smtClean="0">
                <a:latin typeface="Courier New" panose="02070309020205020404" pitchFamily="49" charset="0"/>
                <a:cs typeface="Courier New" panose="02070309020205020404" pitchFamily="49" charset="0"/>
              </a:rPr>
              <a:t>:  Ext4</a:t>
            </a:r>
            <a:r>
              <a:rPr lang="en-CA" sz="2000" b="1" dirty="0">
                <a:latin typeface="Courier New" panose="02070309020205020404" pitchFamily="49" charset="0"/>
                <a:cs typeface="Courier New" panose="02070309020205020404" pitchFamily="49" charset="0"/>
              </a:rPr>
              <a:t>::</a:t>
            </a:r>
            <a:r>
              <a:rPr lang="en-CA" sz="2000" b="1" dirty="0" err="1">
                <a:latin typeface="Courier New" panose="02070309020205020404" pitchFamily="49" charset="0"/>
                <a:cs typeface="Courier New" panose="02070309020205020404" pitchFamily="49" charset="0"/>
              </a:rPr>
              <a:t>SuperBlock</a:t>
            </a:r>
            <a:r>
              <a:rPr lang="en-CA" sz="2000" b="1" dirty="0">
                <a:latin typeface="Courier New" panose="02070309020205020404" pitchFamily="49" charset="0"/>
                <a:cs typeface="Courier New" panose="02070309020205020404" pitchFamily="49" charset="0"/>
              </a:rPr>
              <a:t> *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600" dirty="0">
                <a:latin typeface="Courier New" panose="02070309020205020404" pitchFamily="49" charset="0"/>
                <a:cs typeface="Courier New" panose="02070309020205020404" pitchFamily="49" charset="0"/>
              </a:rPr>
              <a:t>4</a:t>
            </a:r>
            <a:r>
              <a:rPr lang="en-CA" sz="1600" dirty="0" smtClean="0">
                <a:latin typeface="Courier New" panose="02070309020205020404" pitchFamily="49" charset="0"/>
                <a:cs typeface="Courier New" panose="02070309020205020404" pitchFamily="49" charset="0"/>
              </a:rPr>
              <a:t>:  if </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nullptr</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endParaRPr lang="en-CA" sz="16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600" dirty="0" smtClean="0">
                <a:latin typeface="Courier New" panose="02070309020205020404" pitchFamily="49" charset="0"/>
                <a:cs typeface="Courier New" panose="02070309020205020404" pitchFamily="49" charset="0"/>
              </a:rPr>
              <a:t>5: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&lt;&lt;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600" dirty="0" smtClean="0">
                <a:latin typeface="Courier New" panose="02070309020205020404" pitchFamily="49" charset="0"/>
                <a:cs typeface="Courier New" panose="02070309020205020404" pitchFamily="49" charset="0"/>
              </a:rPr>
              <a:t>6:  </a:t>
            </a:r>
            <a:r>
              <a:rPr lang="en-CA" sz="16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spcBef>
                <a:spcPts val="0"/>
              </a:spcBef>
              <a:spcAft>
                <a:spcPts val="0"/>
              </a:spcAft>
              <a:buNone/>
            </a:pPr>
            <a:r>
              <a:rPr lang="en-CA" sz="1600" dirty="0" smtClean="0">
                <a:latin typeface="Courier New" panose="02070309020205020404" pitchFamily="49" charset="0"/>
                <a:cs typeface="Courier New" panose="02070309020205020404" pitchFamily="49" charset="0"/>
              </a:rPr>
              <a:t>7:  return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process_by_type</a:t>
            </a:r>
            <a:r>
              <a:rPr lang="en-CA" sz="1600" dirty="0" smtClean="0">
                <a:latin typeface="Courier New" panose="02070309020205020404" pitchFamily="49" charset="0"/>
                <a:cs typeface="Courier New" panose="02070309020205020404" pitchFamily="49" charset="0"/>
              </a:rPr>
              <a:t>(BLOCK_BITMAP,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 &amp;</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600" dirty="0" smtClean="0">
                <a:latin typeface="Courier New" panose="02070309020205020404" pitchFamily="49" charset="0"/>
                <a:cs typeface="Courier New" panose="02070309020205020404" pitchFamily="49" charset="0"/>
              </a:rPr>
              <a:t>  }</a:t>
            </a:r>
          </a:p>
        </p:txBody>
      </p:sp>
      <p:sp>
        <p:nvSpPr>
          <p:cNvPr id="7" name="TextBox 6"/>
          <p:cNvSpPr txBox="1"/>
          <p:nvPr/>
        </p:nvSpPr>
        <p:spPr>
          <a:xfrm>
            <a:off x="8409726" y="1743298"/>
            <a:ext cx="2642588" cy="707886"/>
          </a:xfrm>
          <a:prstGeom prst="rect">
            <a:avLst/>
          </a:prstGeom>
          <a:noFill/>
        </p:spPr>
        <p:txBody>
          <a:bodyPr wrap="square" rtlCol="0">
            <a:spAutoFit/>
          </a:bodyPr>
          <a:lstStyle/>
          <a:p>
            <a:pPr>
              <a:lnSpc>
                <a:spcPts val="2400"/>
              </a:lnSpc>
              <a:spcBef>
                <a:spcPts val="600"/>
              </a:spcBef>
            </a:pPr>
            <a:r>
              <a:rPr lang="en-CA" dirty="0" smtClean="0">
                <a:solidFill>
                  <a:schemeClr val="bg1"/>
                </a:solidFill>
              </a:rPr>
              <a:t>Returns </a:t>
            </a:r>
            <a:r>
              <a:rPr lang="en-CA" i="1" dirty="0" err="1" smtClean="0">
                <a:solidFill>
                  <a:schemeClr val="bg1"/>
                </a:solidFill>
              </a:rPr>
              <a:t>nullptr</a:t>
            </a:r>
            <a:r>
              <a:rPr lang="en-CA" dirty="0" smtClean="0">
                <a:solidFill>
                  <a:schemeClr val="bg1"/>
                </a:solidFill>
              </a:rPr>
              <a:t> if super block is corrupted</a:t>
            </a:r>
            <a:endParaRPr lang="en-CA" dirty="0">
              <a:solidFill>
                <a:schemeClr val="bg1"/>
              </a:solidFill>
            </a:endParaRPr>
          </a:p>
        </p:txBody>
      </p:sp>
      <p:cxnSp>
        <p:nvCxnSpPr>
          <p:cNvPr id="8" name="Straight Arrow Connector 7"/>
          <p:cNvCxnSpPr/>
          <p:nvPr/>
        </p:nvCxnSpPr>
        <p:spPr>
          <a:xfrm flipH="1">
            <a:off x="6808304" y="1997765"/>
            <a:ext cx="1601422" cy="1013792"/>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0288714"/>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dirty="0"/>
              <a:t>Application Using Spiffy Library</a:t>
            </a:r>
            <a:endParaRPr lang="en-CA" dirty="0"/>
          </a:p>
        </p:txBody>
      </p:sp>
      <p:sp>
        <p:nvSpPr>
          <p:cNvPr id="10" name="Content Placeholder 9"/>
          <p:cNvSpPr>
            <a:spLocks noGrp="1"/>
          </p:cNvSpPr>
          <p:nvPr>
            <p:ph idx="1"/>
          </p:nvPr>
        </p:nvSpPr>
        <p:spPr/>
        <p:txBody>
          <a:bodyPr/>
          <a:lstStyle/>
          <a:p>
            <a:pPr marL="0" indent="0">
              <a:buNone/>
            </a:pPr>
            <a:endParaRPr lang="en-CA" dirty="0" smtClean="0"/>
          </a:p>
        </p:txBody>
      </p:sp>
      <p:sp>
        <p:nvSpPr>
          <p:cNvPr id="15" name="Slide Number Placeholder 14"/>
          <p:cNvSpPr>
            <a:spLocks noGrp="1"/>
          </p:cNvSpPr>
          <p:nvPr>
            <p:ph type="sldNum" sz="quarter" idx="12"/>
          </p:nvPr>
        </p:nvSpPr>
        <p:spPr/>
        <p:txBody>
          <a:bodyPr/>
          <a:lstStyle/>
          <a:p>
            <a:fld id="{7B2023C8-B124-43A9-8F92-0EEF5BAA9995}" type="slidenum">
              <a:rPr lang="en-CA" smtClean="0"/>
              <a:pPr/>
              <a:t>27</a:t>
            </a:fld>
            <a:endParaRPr lang="en-CA" dirty="0"/>
          </a:p>
        </p:txBody>
      </p:sp>
      <p:sp>
        <p:nvSpPr>
          <p:cNvPr id="11" name="Content Placeholder 6"/>
          <p:cNvSpPr txBox="1">
            <a:spLocks/>
          </p:cNvSpPr>
          <p:nvPr/>
        </p:nvSpPr>
        <p:spPr>
          <a:xfrm>
            <a:off x="951929" y="2073898"/>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a:solidFill>
                  <a:schemeClr val="accent6">
                    <a:lumMod val="75000"/>
                  </a:schemeClr>
                </a:solidFill>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  Ext4 </a:t>
            </a:r>
            <a:r>
              <a:rPr lang="en-CA" sz="1600" dirty="0">
                <a:latin typeface="Courier New" panose="02070309020205020404" pitchFamily="49" charset="0"/>
                <a:cs typeface="Courier New" panose="02070309020205020404" pitchFamily="49" charset="0"/>
              </a:rPr>
              <a:t>ext4(dev</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lnSpc>
                <a:spcPts val="2000"/>
              </a:lnSpc>
              <a:spcBef>
                <a:spcPts val="0"/>
              </a:spcBef>
              <a:spcAft>
                <a:spcPts val="0"/>
              </a:spcAft>
              <a:buNone/>
            </a:pPr>
            <a:r>
              <a:rPr lang="en-CA" sz="1600" b="1" dirty="0">
                <a:latin typeface="Courier New" panose="02070309020205020404" pitchFamily="49" charset="0"/>
                <a:cs typeface="Courier New" panose="02070309020205020404" pitchFamily="49" charset="0"/>
              </a:rPr>
              <a:t>3</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Ext4</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SuperBlock</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ext4.fetch_super();</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4</a:t>
            </a:r>
            <a:r>
              <a:rPr lang="en-CA" sz="1600" dirty="0" smtClean="0">
                <a:latin typeface="Courier New" panose="02070309020205020404" pitchFamily="49" charset="0"/>
                <a:cs typeface="Courier New" panose="02070309020205020404" pitchFamily="49" charset="0"/>
              </a:rPr>
              <a:t>:  if </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nullptr</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endParaRPr lang="en-CA" sz="16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5: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&lt;&lt;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6:  </a:t>
            </a:r>
            <a:r>
              <a:rPr lang="en-CA" sz="16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lnSpc>
                <a:spcPts val="2000"/>
              </a:lnSpc>
              <a:spcBef>
                <a:spcPts val="0"/>
              </a:spcBef>
              <a:spcAft>
                <a:spcPts val="0"/>
              </a:spcAft>
              <a:buNone/>
            </a:pPr>
            <a:r>
              <a:rPr lang="en-CA" sz="1600" b="1" dirty="0" smtClean="0">
                <a:latin typeface="Courier New" panose="02070309020205020404" pitchFamily="49" charset="0"/>
                <a:cs typeface="Courier New" panose="02070309020205020404" pitchFamily="49" charset="0"/>
              </a:rPr>
              <a:t>7:  return </a:t>
            </a:r>
            <a:r>
              <a:rPr lang="en-CA" sz="1600" b="1" dirty="0" err="1">
                <a:latin typeface="Courier New" panose="02070309020205020404" pitchFamily="49" charset="0"/>
                <a:cs typeface="Courier New" panose="02070309020205020404" pitchFamily="49" charset="0"/>
              </a:rPr>
              <a:t>sb</a:t>
            </a:r>
            <a:r>
              <a:rPr lang="en-CA" sz="1600" b="1" dirty="0">
                <a:latin typeface="Courier New" panose="02070309020205020404" pitchFamily="49" charset="0"/>
                <a:cs typeface="Courier New" panose="02070309020205020404" pitchFamily="49" charset="0"/>
              </a:rPr>
              <a:t>-&gt;</a:t>
            </a:r>
            <a:r>
              <a:rPr lang="en-CA" sz="1600" b="1" dirty="0" err="1" smtClean="0">
                <a:latin typeface="Courier New" panose="02070309020205020404" pitchFamily="49" charset="0"/>
                <a:cs typeface="Courier New" panose="02070309020205020404" pitchFamily="49" charset="0"/>
              </a:rPr>
              <a:t>process_by_type</a:t>
            </a:r>
            <a:r>
              <a:rPr lang="en-CA" sz="1600" b="1" dirty="0" smtClean="0">
                <a:latin typeface="Courier New" panose="02070309020205020404" pitchFamily="49" charset="0"/>
                <a:cs typeface="Courier New" panose="02070309020205020404" pitchFamily="49" charset="0"/>
              </a:rPr>
              <a:t>(BLOCK_BITMAP, </a:t>
            </a:r>
            <a:r>
              <a:rPr lang="en-CA" sz="1600" b="1" dirty="0" err="1" smtClean="0">
                <a:latin typeface="Courier New" panose="02070309020205020404" pitchFamily="49" charset="0"/>
                <a:cs typeface="Courier New" panose="02070309020205020404" pitchFamily="49" charset="0"/>
              </a:rPr>
              <a:t>process_block_bitmap</a:t>
            </a:r>
            <a:r>
              <a:rPr lang="en-CA" sz="1600" b="1" dirty="0" smtClean="0">
                <a:latin typeface="Courier New" panose="02070309020205020404" pitchFamily="49" charset="0"/>
                <a:cs typeface="Courier New" panose="02070309020205020404" pitchFamily="49" charset="0"/>
              </a:rPr>
              <a:t>, &amp;</a:t>
            </a:r>
            <a:r>
              <a:rPr lang="en-CA" sz="1600" b="1" dirty="0" err="1" smtClean="0">
                <a:latin typeface="Courier New" panose="02070309020205020404" pitchFamily="49" charset="0"/>
                <a:cs typeface="Courier New" panose="02070309020205020404" pitchFamily="49" charset="0"/>
              </a:rPr>
              <a:t>vec</a:t>
            </a:r>
            <a:r>
              <a:rPr lang="en-CA" sz="1600" b="1"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p>
        </p:txBody>
      </p:sp>
      <p:cxnSp>
        <p:nvCxnSpPr>
          <p:cNvPr id="14" name="Straight Arrow Connector 13"/>
          <p:cNvCxnSpPr/>
          <p:nvPr/>
        </p:nvCxnSpPr>
        <p:spPr>
          <a:xfrm flipH="1">
            <a:off x="9044609" y="3507933"/>
            <a:ext cx="594441" cy="437902"/>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9142135" y="3128159"/>
            <a:ext cx="1177770" cy="400110"/>
          </a:xfrm>
          <a:prstGeom prst="rect">
            <a:avLst/>
          </a:prstGeom>
          <a:noFill/>
        </p:spPr>
        <p:txBody>
          <a:bodyPr wrap="square" rtlCol="0">
            <a:spAutoFit/>
          </a:bodyPr>
          <a:lstStyle/>
          <a:p>
            <a:pPr>
              <a:lnSpc>
                <a:spcPts val="2400"/>
              </a:lnSpc>
              <a:spcBef>
                <a:spcPts val="600"/>
              </a:spcBef>
            </a:pPr>
            <a:r>
              <a:rPr lang="en-CA" b="1" dirty="0" smtClean="0">
                <a:solidFill>
                  <a:schemeClr val="bg1"/>
                </a:solidFill>
              </a:rPr>
              <a:t>THAT’S IT</a:t>
            </a:r>
            <a:endParaRPr lang="en-CA" b="1" dirty="0">
              <a:solidFill>
                <a:schemeClr val="bg1"/>
              </a:solidFill>
            </a:endParaRPr>
          </a:p>
        </p:txBody>
      </p:sp>
    </p:spTree>
    <p:extLst>
      <p:ext uri="{BB962C8B-B14F-4D97-AF65-F5344CB8AC3E}">
        <p14:creationId xmlns:p14="http://schemas.microsoft.com/office/powerpoint/2010/main" val="3182145446"/>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dirty="0"/>
              <a:t>Application Using Spiffy Library</a:t>
            </a:r>
            <a:endParaRPr lang="en-CA" dirty="0"/>
          </a:p>
        </p:txBody>
      </p:sp>
      <p:sp>
        <p:nvSpPr>
          <p:cNvPr id="10" name="Content Placeholder 9"/>
          <p:cNvSpPr>
            <a:spLocks noGrp="1"/>
          </p:cNvSpPr>
          <p:nvPr>
            <p:ph idx="1"/>
          </p:nvPr>
        </p:nvSpPr>
        <p:spPr/>
        <p:txBody>
          <a:bodyPr/>
          <a:lstStyle/>
          <a:p>
            <a:pPr marL="0" indent="0">
              <a:buNone/>
            </a:pPr>
            <a:endParaRPr lang="en-CA" dirty="0" smtClean="0"/>
          </a:p>
        </p:txBody>
      </p:sp>
      <p:sp>
        <p:nvSpPr>
          <p:cNvPr id="15" name="Slide Number Placeholder 14"/>
          <p:cNvSpPr>
            <a:spLocks noGrp="1"/>
          </p:cNvSpPr>
          <p:nvPr>
            <p:ph type="sldNum" sz="quarter" idx="12"/>
          </p:nvPr>
        </p:nvSpPr>
        <p:spPr/>
        <p:txBody>
          <a:bodyPr/>
          <a:lstStyle/>
          <a:p>
            <a:fld id="{7B2023C8-B124-43A9-8F92-0EEF5BAA9995}" type="slidenum">
              <a:rPr lang="en-CA" smtClean="0"/>
              <a:pPr/>
              <a:t>28</a:t>
            </a:fld>
            <a:endParaRPr lang="en-CA" dirty="0"/>
          </a:p>
        </p:txBody>
      </p:sp>
      <p:sp>
        <p:nvSpPr>
          <p:cNvPr id="11" name="Content Placeholder 6"/>
          <p:cNvSpPr txBox="1">
            <a:spLocks/>
          </p:cNvSpPr>
          <p:nvPr/>
        </p:nvSpPr>
        <p:spPr>
          <a:xfrm>
            <a:off x="951929" y="2073898"/>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a:solidFill>
                  <a:schemeClr val="accent6">
                    <a:lumMod val="75000"/>
                  </a:schemeClr>
                </a:solidFill>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  Ext4 </a:t>
            </a:r>
            <a:r>
              <a:rPr lang="en-CA" sz="1600" dirty="0">
                <a:latin typeface="Courier New" panose="02070309020205020404" pitchFamily="49" charset="0"/>
                <a:cs typeface="Courier New" panose="02070309020205020404" pitchFamily="49" charset="0"/>
              </a:rPr>
              <a:t>ext4(dev</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lnSpc>
                <a:spcPts val="2000"/>
              </a:lnSpc>
              <a:spcBef>
                <a:spcPts val="0"/>
              </a:spcBef>
              <a:spcAft>
                <a:spcPts val="0"/>
              </a:spcAft>
              <a:buNone/>
            </a:pPr>
            <a:r>
              <a:rPr lang="en-CA" sz="1600" b="1" dirty="0">
                <a:latin typeface="Courier New" panose="02070309020205020404" pitchFamily="49" charset="0"/>
                <a:cs typeface="Courier New" panose="02070309020205020404" pitchFamily="49" charset="0"/>
              </a:rPr>
              <a:t>3</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Ext4</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SuperBlock</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ext4.fetch_super();</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4</a:t>
            </a:r>
            <a:r>
              <a:rPr lang="en-CA" sz="1600" dirty="0" smtClean="0">
                <a:latin typeface="Courier New" panose="02070309020205020404" pitchFamily="49" charset="0"/>
                <a:cs typeface="Courier New" panose="02070309020205020404" pitchFamily="49" charset="0"/>
              </a:rPr>
              <a:t>:  if </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nullptr</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endParaRPr lang="en-CA" sz="16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5: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&lt;&lt;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6:  </a:t>
            </a:r>
            <a:r>
              <a:rPr lang="en-CA" sz="16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lnSpc>
                <a:spcPts val="2000"/>
              </a:lnSpc>
              <a:spcBef>
                <a:spcPts val="0"/>
              </a:spcBef>
              <a:spcAft>
                <a:spcPts val="0"/>
              </a:spcAft>
              <a:buNone/>
            </a:pPr>
            <a:r>
              <a:rPr lang="en-CA" sz="1600" b="1" dirty="0" smtClean="0">
                <a:latin typeface="Courier New" panose="02070309020205020404" pitchFamily="49" charset="0"/>
                <a:cs typeface="Courier New" panose="02070309020205020404" pitchFamily="49" charset="0"/>
              </a:rPr>
              <a:t>7:  return </a:t>
            </a:r>
            <a:r>
              <a:rPr lang="en-CA" sz="1600" b="1" dirty="0" err="1">
                <a:latin typeface="Courier New" panose="02070309020205020404" pitchFamily="49" charset="0"/>
                <a:cs typeface="Courier New" panose="02070309020205020404" pitchFamily="49" charset="0"/>
              </a:rPr>
              <a:t>sb</a:t>
            </a:r>
            <a:r>
              <a:rPr lang="en-CA" sz="1600" b="1" dirty="0">
                <a:latin typeface="Courier New" panose="02070309020205020404" pitchFamily="49" charset="0"/>
                <a:cs typeface="Courier New" panose="02070309020205020404" pitchFamily="49" charset="0"/>
              </a:rPr>
              <a:t>-&gt;</a:t>
            </a:r>
            <a:r>
              <a:rPr lang="en-CA" sz="1600" b="1" dirty="0" err="1" smtClean="0">
                <a:latin typeface="Courier New" panose="02070309020205020404" pitchFamily="49" charset="0"/>
                <a:cs typeface="Courier New" panose="02070309020205020404" pitchFamily="49" charset="0"/>
              </a:rPr>
              <a:t>process_by_type</a:t>
            </a:r>
            <a:r>
              <a:rPr lang="en-CA" sz="1600" b="1" dirty="0" smtClean="0">
                <a:latin typeface="Courier New" panose="02070309020205020404" pitchFamily="49" charset="0"/>
                <a:cs typeface="Courier New" panose="02070309020205020404" pitchFamily="49" charset="0"/>
              </a:rPr>
              <a:t>(BLOCK_BITMAP, </a:t>
            </a:r>
            <a:r>
              <a:rPr lang="en-CA" sz="1600" b="1" dirty="0" err="1" smtClean="0">
                <a:latin typeface="Courier New" panose="02070309020205020404" pitchFamily="49" charset="0"/>
                <a:cs typeface="Courier New" panose="02070309020205020404" pitchFamily="49" charset="0"/>
              </a:rPr>
              <a:t>process_block_bitmap</a:t>
            </a:r>
            <a:r>
              <a:rPr lang="en-CA" sz="1600" b="1" dirty="0" smtClean="0">
                <a:latin typeface="Courier New" panose="02070309020205020404" pitchFamily="49" charset="0"/>
                <a:cs typeface="Courier New" panose="02070309020205020404" pitchFamily="49" charset="0"/>
              </a:rPr>
              <a:t>, &amp;</a:t>
            </a:r>
            <a:r>
              <a:rPr lang="en-CA" sz="1600" b="1" dirty="0" err="1" smtClean="0">
                <a:latin typeface="Courier New" panose="02070309020205020404" pitchFamily="49" charset="0"/>
                <a:cs typeface="Courier New" panose="02070309020205020404" pitchFamily="49" charset="0"/>
              </a:rPr>
              <a:t>vec</a:t>
            </a:r>
            <a:r>
              <a:rPr lang="en-CA" sz="1600" b="1"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p>
        </p:txBody>
      </p:sp>
      <p:sp>
        <p:nvSpPr>
          <p:cNvPr id="6" name="Content Placeholder 9"/>
          <p:cNvSpPr txBox="1">
            <a:spLocks/>
          </p:cNvSpPr>
          <p:nvPr/>
        </p:nvSpPr>
        <p:spPr>
          <a:xfrm>
            <a:off x="684210" y="4411614"/>
            <a:ext cx="8954839" cy="1767364"/>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lvl="1"/>
            <a:endParaRPr lang="en-CA" dirty="0" smtClean="0"/>
          </a:p>
          <a:p>
            <a:pPr lvl="1"/>
            <a:r>
              <a:rPr lang="en-CA" dirty="0" smtClean="0"/>
              <a:t>Advantages</a:t>
            </a:r>
            <a:endParaRPr lang="en-CA" dirty="0" smtClean="0"/>
          </a:p>
          <a:p>
            <a:pPr lvl="2"/>
            <a:r>
              <a:rPr lang="en-CA" dirty="0" smtClean="0"/>
              <a:t>simplifies file system traversal,</a:t>
            </a:r>
            <a:r>
              <a:rPr lang="en-CA" dirty="0"/>
              <a:t> </a:t>
            </a:r>
            <a:r>
              <a:rPr lang="en-CA" dirty="0" smtClean="0"/>
              <a:t>reduces need to know format details</a:t>
            </a:r>
          </a:p>
          <a:p>
            <a:pPr lvl="2"/>
            <a:r>
              <a:rPr lang="en-CA" dirty="0" smtClean="0"/>
              <a:t>library parsing routines have automatically generated sanity checks</a:t>
            </a:r>
          </a:p>
        </p:txBody>
      </p:sp>
      <p:cxnSp>
        <p:nvCxnSpPr>
          <p:cNvPr id="14" name="Straight Arrow Connector 13"/>
          <p:cNvCxnSpPr/>
          <p:nvPr/>
        </p:nvCxnSpPr>
        <p:spPr>
          <a:xfrm flipH="1">
            <a:off x="9044609" y="3507933"/>
            <a:ext cx="594441" cy="437902"/>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9142135" y="3128159"/>
            <a:ext cx="1177770" cy="400110"/>
          </a:xfrm>
          <a:prstGeom prst="rect">
            <a:avLst/>
          </a:prstGeom>
          <a:noFill/>
        </p:spPr>
        <p:txBody>
          <a:bodyPr wrap="square" rtlCol="0">
            <a:spAutoFit/>
          </a:bodyPr>
          <a:lstStyle/>
          <a:p>
            <a:pPr>
              <a:lnSpc>
                <a:spcPts val="2400"/>
              </a:lnSpc>
              <a:spcBef>
                <a:spcPts val="600"/>
              </a:spcBef>
            </a:pPr>
            <a:r>
              <a:rPr lang="en-CA" b="1" dirty="0" smtClean="0">
                <a:solidFill>
                  <a:schemeClr val="bg1"/>
                </a:solidFill>
              </a:rPr>
              <a:t>THAT’S IT</a:t>
            </a:r>
            <a:endParaRPr lang="en-CA" b="1" dirty="0">
              <a:solidFill>
                <a:schemeClr val="bg1"/>
              </a:solidFill>
            </a:endParaRPr>
          </a:p>
        </p:txBody>
      </p:sp>
    </p:spTree>
    <p:extLst>
      <p:ext uri="{BB962C8B-B14F-4D97-AF65-F5344CB8AC3E}">
        <p14:creationId xmlns:p14="http://schemas.microsoft.com/office/powerpoint/2010/main" val="67387994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dirty="0" smtClean="0"/>
              <a:t>Spiffy </a:t>
            </a:r>
            <a:r>
              <a:rPr lang="en-CA" dirty="0" err="1" smtClean="0"/>
              <a:t>Btrfs</a:t>
            </a:r>
            <a:r>
              <a:rPr lang="en-CA" dirty="0" smtClean="0"/>
              <a:t> Application</a:t>
            </a:r>
            <a:endParaRPr lang="en-CA" dirty="0"/>
          </a:p>
        </p:txBody>
      </p:sp>
      <p:sp>
        <p:nvSpPr>
          <p:cNvPr id="10" name="Content Placeholder 9"/>
          <p:cNvSpPr>
            <a:spLocks noGrp="1"/>
          </p:cNvSpPr>
          <p:nvPr>
            <p:ph idx="1"/>
          </p:nvPr>
        </p:nvSpPr>
        <p:spPr/>
        <p:txBody>
          <a:bodyPr/>
          <a:lstStyle/>
          <a:p>
            <a:pPr marL="0" indent="0">
              <a:buNone/>
            </a:pPr>
            <a:endParaRPr lang="en-CA" dirty="0"/>
          </a:p>
          <a:p>
            <a:endParaRPr lang="en-CA" dirty="0" smtClean="0"/>
          </a:p>
          <a:p>
            <a:endParaRPr lang="en-CA" dirty="0"/>
          </a:p>
          <a:p>
            <a:endParaRPr lang="en-CA" dirty="0" smtClean="0"/>
          </a:p>
          <a:p>
            <a:pPr marL="0" indent="0">
              <a:buNone/>
            </a:pPr>
            <a:endParaRPr lang="en-CA" dirty="0"/>
          </a:p>
        </p:txBody>
      </p:sp>
      <p:sp>
        <p:nvSpPr>
          <p:cNvPr id="15" name="Slide Number Placeholder 14"/>
          <p:cNvSpPr>
            <a:spLocks noGrp="1"/>
          </p:cNvSpPr>
          <p:nvPr>
            <p:ph type="sldNum" sz="quarter" idx="12"/>
          </p:nvPr>
        </p:nvSpPr>
        <p:spPr/>
        <p:txBody>
          <a:bodyPr/>
          <a:lstStyle/>
          <a:p>
            <a:fld id="{7B2023C8-B124-43A9-8F92-0EEF5BAA9995}" type="slidenum">
              <a:rPr lang="en-CA" smtClean="0"/>
              <a:pPr/>
              <a:t>29</a:t>
            </a:fld>
            <a:endParaRPr lang="en-CA" dirty="0"/>
          </a:p>
        </p:txBody>
      </p:sp>
      <p:sp>
        <p:nvSpPr>
          <p:cNvPr id="11" name="Content Placeholder 6"/>
          <p:cNvSpPr txBox="1">
            <a:spLocks/>
          </p:cNvSpPr>
          <p:nvPr/>
        </p:nvSpPr>
        <p:spPr>
          <a:xfrm>
            <a:off x="951929" y="2073898"/>
            <a:ext cx="10285797" cy="2370511"/>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a:solidFill>
                  <a:schemeClr val="accent6">
                    <a:lumMod val="75000"/>
                  </a:schemeClr>
                </a:solidFill>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err="1" smtClean="0">
                <a:latin typeface="Courier New" panose="02070309020205020404" pitchFamily="49" charset="0"/>
                <a:cs typeface="Courier New" panose="02070309020205020404" pitchFamily="49" charset="0"/>
              </a:rPr>
              <a:t>process_btrfs</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Btrfs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btrfs</a:t>
            </a:r>
            <a:r>
              <a:rPr lang="en-CA" sz="1600" dirty="0" smtClean="0">
                <a:latin typeface="Courier New" panose="02070309020205020404" pitchFamily="49" charset="0"/>
                <a:cs typeface="Courier New" panose="02070309020205020404" pitchFamily="49" charset="0"/>
              </a:rPr>
              <a:t>(dev);</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lnSpc>
                <a:spcPts val="2000"/>
              </a:lnSpc>
              <a:spcBef>
                <a:spcPts val="0"/>
              </a:spcBef>
              <a:spcAft>
                <a:spcPts val="0"/>
              </a:spcAft>
              <a:buNone/>
            </a:pPr>
            <a:r>
              <a:rPr lang="en-CA" sz="1600" b="1" dirty="0">
                <a:latin typeface="Courier New" panose="02070309020205020404" pitchFamily="49" charset="0"/>
                <a:cs typeface="Courier New" panose="02070309020205020404" pitchFamily="49" charset="0"/>
              </a:rPr>
              <a:t>3</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Btrfs</a:t>
            </a:r>
            <a:r>
              <a:rPr lang="en-CA" sz="1600" dirty="0" smtClean="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SuperBlock</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btrfs.fetch_super</a:t>
            </a:r>
            <a:r>
              <a:rPr lang="en-CA" sz="16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4</a:t>
            </a:r>
            <a:r>
              <a:rPr lang="en-CA" sz="1600" dirty="0" smtClean="0">
                <a:latin typeface="Courier New" panose="02070309020205020404" pitchFamily="49" charset="0"/>
                <a:cs typeface="Courier New" panose="02070309020205020404" pitchFamily="49" charset="0"/>
              </a:rPr>
              <a:t>:  if </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nullptr</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endParaRPr lang="en-CA" sz="16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5: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sectorsize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6:  </a:t>
            </a:r>
            <a:r>
              <a:rPr lang="en-CA" sz="1600" dirty="0" smtClean="0">
                <a:solidFill>
                  <a:schemeClr val="accent4">
                    <a:lumMod val="75000"/>
                  </a:schemeClr>
                </a:solidFill>
                <a:latin typeface="Courier New" panose="02070309020205020404" pitchFamily="49" charset="0"/>
                <a:cs typeface="Courier New" panose="02070309020205020404" pitchFamily="49" charset="0"/>
              </a:rPr>
              <a:t>/* traverse file system and find/process all extent items */</a:t>
            </a:r>
          </a:p>
          <a:p>
            <a:pPr marL="0" indent="0">
              <a:lnSpc>
                <a:spcPts val="2000"/>
              </a:lnSpc>
              <a:spcBef>
                <a:spcPts val="0"/>
              </a:spcBef>
              <a:spcAft>
                <a:spcPts val="0"/>
              </a:spcAft>
              <a:buNone/>
            </a:pPr>
            <a:r>
              <a:rPr lang="en-CA" sz="1600" b="1" dirty="0" smtClean="0">
                <a:latin typeface="Courier New" panose="02070309020205020404" pitchFamily="49" charset="0"/>
                <a:cs typeface="Courier New" panose="02070309020205020404" pitchFamily="49" charset="0"/>
              </a:rPr>
              <a:t>7</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return </a:t>
            </a:r>
            <a:r>
              <a:rPr lang="en-CA" sz="1600" b="1" dirty="0" err="1">
                <a:latin typeface="Courier New" panose="02070309020205020404" pitchFamily="49" charset="0"/>
                <a:cs typeface="Courier New" panose="02070309020205020404" pitchFamily="49" charset="0"/>
              </a:rPr>
              <a:t>sb</a:t>
            </a:r>
            <a:r>
              <a:rPr lang="en-CA" sz="1600" b="1" dirty="0">
                <a:latin typeface="Courier New" panose="02070309020205020404" pitchFamily="49" charset="0"/>
                <a:cs typeface="Courier New" panose="02070309020205020404" pitchFamily="49" charset="0"/>
              </a:rPr>
              <a:t>-&gt;</a:t>
            </a:r>
            <a:r>
              <a:rPr lang="en-CA" sz="1600" b="1" dirty="0" err="1" smtClean="0">
                <a:latin typeface="Courier New" panose="02070309020205020404" pitchFamily="49" charset="0"/>
                <a:cs typeface="Courier New" panose="02070309020205020404" pitchFamily="49" charset="0"/>
              </a:rPr>
              <a:t>process_by_type</a:t>
            </a:r>
            <a:r>
              <a:rPr lang="en-CA" sz="1600" b="1" dirty="0" smtClean="0">
                <a:latin typeface="Courier New" panose="02070309020205020404" pitchFamily="49" charset="0"/>
                <a:cs typeface="Courier New" panose="02070309020205020404" pitchFamily="49" charset="0"/>
              </a:rPr>
              <a:t>(EXTENT_ITEM, </a:t>
            </a:r>
            <a:r>
              <a:rPr lang="en-CA" sz="1600" b="1" dirty="0" err="1" smtClean="0">
                <a:latin typeface="Courier New" panose="02070309020205020404" pitchFamily="49" charset="0"/>
                <a:cs typeface="Courier New" panose="02070309020205020404" pitchFamily="49" charset="0"/>
              </a:rPr>
              <a:t>process_extent_item</a:t>
            </a:r>
            <a:r>
              <a:rPr lang="en-CA" sz="1600" b="1" dirty="0" smtClean="0">
                <a:latin typeface="Courier New" panose="02070309020205020404" pitchFamily="49" charset="0"/>
                <a:cs typeface="Courier New" panose="02070309020205020404" pitchFamily="49" charset="0"/>
              </a:rPr>
              <a:t>, &amp;</a:t>
            </a:r>
            <a:r>
              <a:rPr lang="en-CA" sz="1600" b="1" dirty="0" err="1" smtClean="0">
                <a:latin typeface="Courier New" panose="02070309020205020404" pitchFamily="49" charset="0"/>
                <a:cs typeface="Courier New" panose="02070309020205020404" pitchFamily="49" charset="0"/>
              </a:rPr>
              <a:t>vec</a:t>
            </a:r>
            <a:r>
              <a:rPr lang="en-CA" sz="1600" b="1"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275067380"/>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t>
            </a:r>
            <a:r>
              <a:rPr lang="en-CA" dirty="0" smtClean="0"/>
              <a:t>Applications</a:t>
            </a:r>
            <a:endParaRPr lang="en-CA" dirty="0"/>
          </a:p>
        </p:txBody>
      </p:sp>
      <p:sp>
        <p:nvSpPr>
          <p:cNvPr id="3" name="Content Placeholder 2"/>
          <p:cNvSpPr>
            <a:spLocks noGrp="1"/>
          </p:cNvSpPr>
          <p:nvPr>
            <p:ph idx="1"/>
          </p:nvPr>
        </p:nvSpPr>
        <p:spPr/>
        <p:txBody>
          <a:bodyPr/>
          <a:lstStyle/>
          <a:p>
            <a:r>
              <a:rPr lang="en-CA" dirty="0" smtClean="0"/>
              <a:t>File System Free Space Tool</a:t>
            </a:r>
          </a:p>
          <a:p>
            <a:r>
              <a:rPr lang="en-CA" dirty="0" smtClean="0"/>
              <a:t>Type-Specific </a:t>
            </a:r>
            <a:r>
              <a:rPr lang="en-CA" dirty="0" smtClean="0"/>
              <a:t>File System Corruptor</a:t>
            </a:r>
          </a:p>
          <a:p>
            <a:r>
              <a:rPr lang="en-CA" dirty="0" smtClean="0"/>
              <a:t>File </a:t>
            </a:r>
            <a:r>
              <a:rPr lang="en-CA" dirty="0" smtClean="0"/>
              <a:t>System Conversion </a:t>
            </a:r>
            <a:r>
              <a:rPr lang="en-CA" dirty="0" smtClean="0"/>
              <a:t>Tool</a:t>
            </a:r>
          </a:p>
          <a:p>
            <a:r>
              <a:rPr lang="en-CA" dirty="0" smtClean="0"/>
              <a:t>File-system aware block layer cache</a:t>
            </a:r>
            <a:endParaRPr lang="en-CA" dirty="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30</a:t>
            </a:fld>
            <a:endParaRPr lang="en-CA" dirty="0"/>
          </a:p>
        </p:txBody>
      </p:sp>
    </p:spTree>
    <p:extLst>
      <p:ext uri="{BB962C8B-B14F-4D97-AF65-F5344CB8AC3E}">
        <p14:creationId xmlns:p14="http://schemas.microsoft.com/office/powerpoint/2010/main" val="1395185443"/>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4211" y="170"/>
            <a:ext cx="9565575" cy="1507067"/>
          </a:xfrm>
        </p:spPr>
        <p:txBody>
          <a:bodyPr/>
          <a:lstStyle/>
          <a:p>
            <a:r>
              <a:rPr lang="en-CA" dirty="0" smtClean="0"/>
              <a:t>Type-Specific </a:t>
            </a:r>
            <a:r>
              <a:rPr lang="en-CA" dirty="0" smtClean="0"/>
              <a:t>File System Corruptor</a:t>
            </a:r>
            <a:endParaRPr lang="en-CA" dirty="0"/>
          </a:p>
        </p:txBody>
      </p:sp>
      <p:sp>
        <p:nvSpPr>
          <p:cNvPr id="3" name="Content Placeholder 2"/>
          <p:cNvSpPr>
            <a:spLocks noGrp="1"/>
          </p:cNvSpPr>
          <p:nvPr>
            <p:ph idx="1"/>
          </p:nvPr>
        </p:nvSpPr>
        <p:spPr/>
        <p:txBody>
          <a:bodyPr/>
          <a:lstStyle/>
          <a:p>
            <a:r>
              <a:rPr lang="en-CA" dirty="0"/>
              <a:t>Finds and corrupts a field in a specified </a:t>
            </a:r>
            <a:r>
              <a:rPr lang="en-CA" dirty="0" smtClean="0"/>
              <a:t>structure</a:t>
            </a:r>
            <a:endParaRPr lang="en-CA" dirty="0"/>
          </a:p>
          <a:p>
            <a:r>
              <a:rPr lang="en-CA" dirty="0" smtClean="0"/>
              <a:t>Works for all annotated file systems</a:t>
            </a:r>
          </a:p>
          <a:p>
            <a:pPr lvl="1"/>
            <a:r>
              <a:rPr lang="en-CA" dirty="0" smtClean="0"/>
              <a:t>Generic </a:t>
            </a:r>
            <a:r>
              <a:rPr lang="en-CA" dirty="0" smtClean="0"/>
              <a:t>Application Code: 455 LOC</a:t>
            </a:r>
            <a:endParaRPr lang="en-CA" dirty="0"/>
          </a:p>
          <a:p>
            <a:pPr lvl="1"/>
            <a:r>
              <a:rPr lang="en-CA" dirty="0" smtClean="0"/>
              <a:t>File-System Specific Code: &lt; 30 LOC each</a:t>
            </a:r>
          </a:p>
          <a:p>
            <a:endParaRPr lang="en-CA" dirty="0" smtClean="0"/>
          </a:p>
          <a:p>
            <a:r>
              <a:rPr lang="en-CA" dirty="0" smtClean="0"/>
              <a:t>Corruption </a:t>
            </a:r>
            <a:r>
              <a:rPr lang="en-CA" dirty="0" smtClean="0"/>
              <a:t>Experiment</a:t>
            </a:r>
          </a:p>
          <a:p>
            <a:pPr lvl="1"/>
            <a:r>
              <a:rPr lang="en-CA" dirty="0" smtClean="0"/>
              <a:t>Ran existing tools on corrupt file system image</a:t>
            </a:r>
          </a:p>
          <a:p>
            <a:pPr lvl="1"/>
            <a:r>
              <a:rPr lang="en-CA" dirty="0" smtClean="0"/>
              <a:t>Discovered </a:t>
            </a:r>
            <a:r>
              <a:rPr lang="en-CA" dirty="0" smtClean="0"/>
              <a:t>1 </a:t>
            </a:r>
            <a:r>
              <a:rPr lang="en-CA" dirty="0" smtClean="0"/>
              <a:t>crash bug </a:t>
            </a:r>
            <a:r>
              <a:rPr lang="en-CA" dirty="0" smtClean="0"/>
              <a:t>in dumpe2fs (</a:t>
            </a:r>
            <a:r>
              <a:rPr lang="en-CA" dirty="0" smtClean="0"/>
              <a:t>Ext4)</a:t>
            </a:r>
          </a:p>
          <a:p>
            <a:pPr lvl="1"/>
            <a:r>
              <a:rPr lang="en-CA" dirty="0" smtClean="0"/>
              <a:t>Discovered 5 crash bugs in </a:t>
            </a:r>
            <a:r>
              <a:rPr lang="en-CA" dirty="0" smtClean="0"/>
              <a:t>dump.f2fs </a:t>
            </a:r>
            <a:r>
              <a:rPr lang="en-CA" dirty="0" smtClean="0"/>
              <a:t>(F2FS</a:t>
            </a:r>
            <a:r>
              <a:rPr lang="en-CA" dirty="0" smtClean="0"/>
              <a:t>)</a:t>
            </a:r>
          </a:p>
          <a:p>
            <a:pPr lvl="1"/>
            <a:r>
              <a:rPr lang="en-CA" dirty="0" smtClean="0"/>
              <a:t>None in our Spiffy dump tool on Ext4, </a:t>
            </a:r>
            <a:r>
              <a:rPr lang="en-CA" dirty="0" err="1" smtClean="0"/>
              <a:t>Btrfs</a:t>
            </a:r>
            <a:r>
              <a:rPr lang="en-CA" dirty="0" smtClean="0"/>
              <a:t> and F2FS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31</a:t>
            </a:fld>
            <a:endParaRPr lang="en-CA" dirty="0"/>
          </a:p>
        </p:txBody>
      </p:sp>
    </p:spTree>
    <p:extLst>
      <p:ext uri="{BB962C8B-B14F-4D97-AF65-F5344CB8AC3E}">
        <p14:creationId xmlns:p14="http://schemas.microsoft.com/office/powerpoint/2010/main" val="19219273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 System Conversion Tool</a:t>
            </a:r>
            <a:endParaRPr lang="en-CA" dirty="0"/>
          </a:p>
        </p:txBody>
      </p:sp>
      <p:sp>
        <p:nvSpPr>
          <p:cNvPr id="3" name="Content Placeholder 2"/>
          <p:cNvSpPr>
            <a:spLocks noGrp="1"/>
          </p:cNvSpPr>
          <p:nvPr>
            <p:ph idx="1"/>
          </p:nvPr>
        </p:nvSpPr>
        <p:spPr/>
        <p:txBody>
          <a:bodyPr/>
          <a:lstStyle/>
          <a:p>
            <a:r>
              <a:rPr lang="en-CA" dirty="0" smtClean="0"/>
              <a:t>Converts one file system to another while minimizing copying data blocks</a:t>
            </a:r>
          </a:p>
          <a:p>
            <a:pPr marL="457200" lvl="1" indent="0">
              <a:buNone/>
            </a:pPr>
            <a:endParaRPr lang="en-CA" dirty="0" smtClean="0"/>
          </a:p>
          <a:p>
            <a:r>
              <a:rPr lang="en-CA" dirty="0" smtClean="0"/>
              <a:t>Currently, converts from Ext4 to F2FS</a:t>
            </a:r>
            <a:endParaRPr lang="en-CA" dirty="0"/>
          </a:p>
          <a:p>
            <a:pPr lvl="1"/>
            <a:r>
              <a:rPr lang="en-CA" dirty="0"/>
              <a:t>Generic </a:t>
            </a:r>
            <a:r>
              <a:rPr lang="en-CA" dirty="0" smtClean="0"/>
              <a:t>application code</a:t>
            </a:r>
            <a:r>
              <a:rPr lang="en-CA" dirty="0"/>
              <a:t>: </a:t>
            </a:r>
            <a:r>
              <a:rPr lang="en-CA" dirty="0" smtClean="0"/>
              <a:t>504 </a:t>
            </a:r>
            <a:r>
              <a:rPr lang="en-CA" dirty="0"/>
              <a:t>LOC</a:t>
            </a:r>
          </a:p>
          <a:p>
            <a:pPr lvl="1"/>
            <a:r>
              <a:rPr lang="en-CA" dirty="0" smtClean="0"/>
              <a:t>Ext4 </a:t>
            </a:r>
            <a:r>
              <a:rPr lang="en-CA" dirty="0"/>
              <a:t>s</a:t>
            </a:r>
            <a:r>
              <a:rPr lang="en-CA" dirty="0" smtClean="0"/>
              <a:t>pecific code (source file system): 218 LOC</a:t>
            </a:r>
          </a:p>
          <a:p>
            <a:pPr lvl="1"/>
            <a:r>
              <a:rPr lang="en-CA" dirty="0" smtClean="0"/>
              <a:t>F2FS specific code (destination file system): 1760 LOC</a:t>
            </a:r>
          </a:p>
          <a:p>
            <a:pPr lvl="1"/>
            <a:endParaRPr lang="en-CA" dirty="0"/>
          </a:p>
          <a:p>
            <a:pPr marL="0" indent="0">
              <a:buNone/>
            </a:pPr>
            <a:endParaRPr lang="en-CA"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32</a:t>
            </a:fld>
            <a:endParaRPr lang="en-CA" dirty="0"/>
          </a:p>
        </p:txBody>
      </p:sp>
    </p:spTree>
    <p:extLst>
      <p:ext uri="{BB962C8B-B14F-4D97-AF65-F5344CB8AC3E}">
        <p14:creationId xmlns:p14="http://schemas.microsoft.com/office/powerpoint/2010/main" val="11778320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Ext4 to F2FS Converter</a:t>
            </a:r>
            <a:endParaRPr lang="en-CA" dirty="0"/>
          </a:p>
        </p:txBody>
      </p:sp>
      <p:sp>
        <p:nvSpPr>
          <p:cNvPr id="3" name="Content Placeholder 2"/>
          <p:cNvSpPr>
            <a:spLocks noGrp="1"/>
          </p:cNvSpPr>
          <p:nvPr>
            <p:ph idx="1"/>
          </p:nvPr>
        </p:nvSpPr>
        <p:spPr/>
        <p:txBody>
          <a:bodyPr/>
          <a:lstStyle/>
          <a:p>
            <a:r>
              <a:rPr lang="en-CA" dirty="0" smtClean="0"/>
              <a:t>Compare copy-based converter vs. Spiffy converter</a:t>
            </a:r>
          </a:p>
          <a:p>
            <a:pPr lvl="1"/>
            <a:r>
              <a:rPr lang="en-CA" dirty="0" smtClean="0"/>
              <a:t>Copy </a:t>
            </a:r>
            <a:r>
              <a:rPr lang="en-CA" dirty="0" smtClean="0"/>
              <a:t>converter copies data to local disk, reformat, then copies back</a:t>
            </a:r>
          </a:p>
          <a:p>
            <a:r>
              <a:rPr lang="en-CA" dirty="0"/>
              <a:t>Converts 64GB file system with 16GB </a:t>
            </a:r>
            <a:r>
              <a:rPr lang="en-CA" dirty="0" smtClean="0"/>
              <a:t>of data on </a:t>
            </a:r>
            <a:r>
              <a:rPr lang="en-CA" dirty="0"/>
              <a:t>SSD</a:t>
            </a:r>
          </a:p>
          <a:p>
            <a:endParaRPr lang="en-CA" dirty="0" smtClean="0"/>
          </a:p>
          <a:p>
            <a:endParaRPr lang="en-CA" dirty="0" smtClean="0"/>
          </a:p>
          <a:p>
            <a:endParaRPr lang="en-CA" dirty="0" smtClean="0"/>
          </a:p>
          <a:p>
            <a:endParaRPr lang="en-CA" dirty="0" smtClean="0"/>
          </a:p>
          <a:p>
            <a:endParaRPr lang="en-CA" dirty="0" smtClean="0"/>
          </a:p>
          <a:p>
            <a:r>
              <a:rPr lang="en-CA" dirty="0" smtClean="0"/>
              <a:t>Copy converter 30~50 times </a:t>
            </a:r>
            <a:r>
              <a:rPr lang="en-CA" dirty="0" smtClean="0"/>
              <a:t>slower</a:t>
            </a:r>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33</a:t>
            </a:fld>
            <a:endParaRPr lang="en-CA" dirty="0"/>
          </a:p>
        </p:txBody>
      </p:sp>
      <p:graphicFrame>
        <p:nvGraphicFramePr>
          <p:cNvPr id="7" name="Chart 6"/>
          <p:cNvGraphicFramePr>
            <a:graphicFrameLocks/>
          </p:cNvGraphicFramePr>
          <p:nvPr>
            <p:extLst>
              <p:ext uri="{D42A27DB-BD31-4B8C-83A1-F6EECF244321}">
                <p14:modId xmlns:p14="http://schemas.microsoft.com/office/powerpoint/2010/main" val="3294785395"/>
              </p:ext>
            </p:extLst>
          </p:nvPr>
        </p:nvGraphicFramePr>
        <p:xfrm>
          <a:off x="1743191" y="1906809"/>
          <a:ext cx="8167835" cy="4265391"/>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496817654"/>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4211" y="170"/>
            <a:ext cx="10821233" cy="1507067"/>
          </a:xfrm>
        </p:spPr>
        <p:txBody>
          <a:bodyPr/>
          <a:lstStyle/>
          <a:p>
            <a:r>
              <a:rPr lang="en-CA" dirty="0"/>
              <a:t>File-system </a:t>
            </a:r>
            <a:r>
              <a:rPr lang="en-CA" dirty="0" smtClean="0"/>
              <a:t>Aware Block Layer Cache</a:t>
            </a:r>
            <a:endParaRPr lang="en-CA" dirty="0"/>
          </a:p>
        </p:txBody>
      </p:sp>
      <p:sp>
        <p:nvSpPr>
          <p:cNvPr id="3" name="Content Placeholder 2"/>
          <p:cNvSpPr>
            <a:spLocks noGrp="1"/>
          </p:cNvSpPr>
          <p:nvPr>
            <p:ph idx="1"/>
          </p:nvPr>
        </p:nvSpPr>
        <p:spPr/>
        <p:txBody>
          <a:bodyPr/>
          <a:lstStyle/>
          <a:p>
            <a:r>
              <a:rPr lang="en-CA" dirty="0" smtClean="0"/>
              <a:t>Supports a rich set of caching policies that require file-system specific information at the block layer</a:t>
            </a:r>
          </a:p>
          <a:p>
            <a:pPr lvl="1"/>
            <a:r>
              <a:rPr lang="en-CA" dirty="0"/>
              <a:t>Cache file system </a:t>
            </a:r>
            <a:r>
              <a:rPr lang="en-CA" dirty="0" smtClean="0"/>
              <a:t>metadata</a:t>
            </a:r>
          </a:p>
          <a:p>
            <a:pPr lvl="2"/>
            <a:r>
              <a:rPr lang="en-CA" dirty="0" smtClean="0"/>
              <a:t>Requires knowing whether a block is data or metadata</a:t>
            </a:r>
            <a:endParaRPr lang="en-CA" dirty="0"/>
          </a:p>
          <a:p>
            <a:pPr lvl="1"/>
            <a:r>
              <a:rPr lang="en-CA" dirty="0" smtClean="0"/>
              <a:t>Cache small files, cache a specific user’s files</a:t>
            </a:r>
          </a:p>
          <a:p>
            <a:pPr lvl="2"/>
            <a:r>
              <a:rPr lang="en-CA" dirty="0" smtClean="0"/>
              <a:t>Requires knowing the file to which a block belongs, and the file’s size or owner</a:t>
            </a:r>
          </a:p>
          <a:p>
            <a:r>
              <a:rPr lang="en-CA" dirty="0" smtClean="0"/>
              <a:t>Requires no changes to the file system!</a:t>
            </a:r>
          </a:p>
          <a:p>
            <a:r>
              <a:rPr lang="en-CA" dirty="0" smtClean="0"/>
              <a:t>Identifies and </a:t>
            </a:r>
            <a:r>
              <a:rPr lang="en-CA" dirty="0"/>
              <a:t>i</a:t>
            </a:r>
            <a:r>
              <a:rPr lang="en-CA" dirty="0" smtClean="0"/>
              <a:t>nterprets </a:t>
            </a:r>
            <a:r>
              <a:rPr lang="en-CA" dirty="0" smtClean="0"/>
              <a:t>blocks as they are read or written</a:t>
            </a:r>
          </a:p>
          <a:p>
            <a:pPr lvl="1"/>
            <a:r>
              <a:rPr lang="en-CA" dirty="0" smtClean="0"/>
              <a:t>Identifies the types of blocks</a:t>
            </a:r>
          </a:p>
          <a:p>
            <a:pPr lvl="1"/>
            <a:r>
              <a:rPr lang="en-CA" dirty="0" smtClean="0"/>
              <a:t>Interprets their contents to extract </a:t>
            </a:r>
            <a:r>
              <a:rPr lang="en-CA" dirty="0" smtClean="0"/>
              <a:t>file-system specific information</a:t>
            </a:r>
          </a:p>
          <a:p>
            <a:pPr lvl="1"/>
            <a:r>
              <a:rPr lang="en-CA" dirty="0" smtClean="0"/>
              <a:t>Requires </a:t>
            </a:r>
            <a:r>
              <a:rPr lang="en-CA" dirty="0"/>
              <a:t>little file-system specific </a:t>
            </a:r>
            <a:r>
              <a:rPr lang="en-CA" dirty="0" smtClean="0"/>
              <a:t>code</a:t>
            </a:r>
            <a:endParaRPr lang="en-CA" dirty="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34</a:t>
            </a:fld>
            <a:endParaRPr lang="en-CA" dirty="0"/>
          </a:p>
        </p:txBody>
      </p:sp>
    </p:spTree>
    <p:extLst>
      <p:ext uri="{BB962C8B-B14F-4D97-AF65-F5344CB8AC3E}">
        <p14:creationId xmlns:p14="http://schemas.microsoft.com/office/powerpoint/2010/main" val="154052027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Conclusion</a:t>
            </a:r>
            <a:endParaRPr lang="en-CA" dirty="0"/>
          </a:p>
        </p:txBody>
      </p:sp>
      <p:sp>
        <p:nvSpPr>
          <p:cNvPr id="3" name="Content Placeholder 2"/>
          <p:cNvSpPr>
            <a:spLocks noGrp="1"/>
          </p:cNvSpPr>
          <p:nvPr>
            <p:ph idx="1"/>
          </p:nvPr>
        </p:nvSpPr>
        <p:spPr>
          <a:xfrm>
            <a:off x="684211" y="1515358"/>
            <a:ext cx="10607566" cy="4656842"/>
          </a:xfrm>
        </p:spPr>
        <p:txBody>
          <a:bodyPr/>
          <a:lstStyle/>
          <a:p>
            <a:r>
              <a:rPr lang="en-CA" dirty="0" smtClean="0"/>
              <a:t>Spiffy framework</a:t>
            </a:r>
          </a:p>
          <a:p>
            <a:pPr lvl="1"/>
            <a:r>
              <a:rPr lang="en-CA" dirty="0" smtClean="0"/>
              <a:t>Annotation language for specifying file system </a:t>
            </a:r>
            <a:r>
              <a:rPr lang="en-CA" dirty="0" smtClean="0"/>
              <a:t>format</a:t>
            </a:r>
          </a:p>
          <a:p>
            <a:pPr lvl="1"/>
            <a:r>
              <a:rPr lang="en-CA" dirty="0" smtClean="0"/>
              <a:t>Enables generating a library for traversing file system metadata</a:t>
            </a:r>
            <a:endParaRPr lang="en-CA" dirty="0" smtClean="0"/>
          </a:p>
          <a:p>
            <a:endParaRPr lang="en-CA" dirty="0" smtClean="0"/>
          </a:p>
          <a:p>
            <a:r>
              <a:rPr lang="en-CA" dirty="0" smtClean="0"/>
              <a:t>Simplifies </a:t>
            </a:r>
            <a:r>
              <a:rPr lang="en-CA" dirty="0" smtClean="0"/>
              <a:t>development of file-system aware applications</a:t>
            </a:r>
          </a:p>
          <a:p>
            <a:pPr lvl="1"/>
            <a:r>
              <a:rPr lang="en-CA" dirty="0" smtClean="0"/>
              <a:t>Reduces file-system specific code</a:t>
            </a:r>
          </a:p>
          <a:p>
            <a:pPr lvl="1"/>
            <a:r>
              <a:rPr lang="en-CA" dirty="0" smtClean="0"/>
              <a:t>Enables code reuse across file systems</a:t>
            </a:r>
          </a:p>
          <a:p>
            <a:endParaRPr lang="en-CA" dirty="0" smtClean="0"/>
          </a:p>
          <a:p>
            <a:r>
              <a:rPr lang="en-CA" dirty="0" smtClean="0"/>
              <a:t>Enables writing robust applications</a:t>
            </a:r>
          </a:p>
          <a:p>
            <a:pPr lvl="1"/>
            <a:r>
              <a:rPr lang="en-CA" dirty="0" smtClean="0"/>
              <a:t>Provides type-safe parsing and serialization of metadata</a:t>
            </a:r>
            <a:endParaRPr lang="en-CA" dirty="0" smtClean="0"/>
          </a:p>
          <a:p>
            <a:pPr lvl="1"/>
            <a:r>
              <a:rPr lang="en-CA" dirty="0" smtClean="0"/>
              <a:t>Helps detect file </a:t>
            </a:r>
            <a:r>
              <a:rPr lang="en-CA" dirty="0" smtClean="0"/>
              <a:t>system </a:t>
            </a:r>
            <a:r>
              <a:rPr lang="en-CA" dirty="0" smtClean="0"/>
              <a:t>corruption</a:t>
            </a:r>
            <a:endParaRPr lang="en-CA" dirty="0" smtClean="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35</a:t>
            </a:fld>
            <a:endParaRPr lang="en-CA" dirty="0"/>
          </a:p>
        </p:txBody>
      </p:sp>
    </p:spTree>
    <p:extLst>
      <p:ext uri="{BB962C8B-B14F-4D97-AF65-F5344CB8AC3E}">
        <p14:creationId xmlns:p14="http://schemas.microsoft.com/office/powerpoint/2010/main" val="169057136"/>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Programming Effort</a:t>
            </a:r>
            <a:endParaRPr lang="en-CA" dirty="0"/>
          </a:p>
        </p:txBody>
      </p:sp>
      <p:sp>
        <p:nvSpPr>
          <p:cNvPr id="3" name="Content Placeholder 2"/>
          <p:cNvSpPr>
            <a:spLocks noGrp="1"/>
          </p:cNvSpPr>
          <p:nvPr>
            <p:ph idx="1"/>
          </p:nvPr>
        </p:nvSpPr>
        <p:spPr/>
        <p:txBody>
          <a:bodyPr/>
          <a:lstStyle/>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Programming effort reduced for read-only file system applications</a:t>
            </a:r>
          </a:p>
          <a:p>
            <a:pPr lvl="1"/>
            <a:r>
              <a:rPr lang="en-CA" smtClean="0"/>
              <a:t>Both online and offline</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36</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3410067637"/>
              </p:ext>
            </p:extLst>
          </p:nvPr>
        </p:nvGraphicFramePr>
        <p:xfrm>
          <a:off x="806374" y="1543050"/>
          <a:ext cx="8901277" cy="3337560"/>
        </p:xfrm>
        <a:graphic>
          <a:graphicData uri="http://schemas.openxmlformats.org/drawingml/2006/table">
            <a:tbl>
              <a:tblPr firstRow="1" bandRow="1">
                <a:tableStyleId>{69012ECD-51FC-41F1-AA8D-1B2483CD663E}</a:tableStyleId>
              </a:tblPr>
              <a:tblGrid>
                <a:gridCol w="3593986">
                  <a:extLst>
                    <a:ext uri="{9D8B030D-6E8A-4147-A177-3AD203B41FA5}">
                      <a16:colId xmlns:a16="http://schemas.microsoft.com/office/drawing/2014/main" val="20000"/>
                    </a:ext>
                  </a:extLst>
                </a:gridCol>
                <a:gridCol w="2017336">
                  <a:extLst>
                    <a:ext uri="{9D8B030D-6E8A-4147-A177-3AD203B41FA5}">
                      <a16:colId xmlns:a16="http://schemas.microsoft.com/office/drawing/2014/main" val="20001"/>
                    </a:ext>
                  </a:extLst>
                </a:gridCol>
                <a:gridCol w="3289955">
                  <a:extLst>
                    <a:ext uri="{9D8B030D-6E8A-4147-A177-3AD203B41FA5}">
                      <a16:colId xmlns:a16="http://schemas.microsoft.com/office/drawing/2014/main" val="20002"/>
                    </a:ext>
                  </a:extLst>
                </a:gridCol>
              </a:tblGrid>
              <a:tr h="370840">
                <a:tc>
                  <a:txBody>
                    <a:bodyPr/>
                    <a:lstStyle/>
                    <a:p>
                      <a:r>
                        <a:rPr lang="en-CA" dirty="0" smtClean="0">
                          <a:solidFill>
                            <a:schemeClr val="tx1"/>
                          </a:solidFill>
                        </a:rPr>
                        <a:t>Applications</a:t>
                      </a:r>
                      <a:endParaRPr lang="en-CA" dirty="0">
                        <a:solidFill>
                          <a:schemeClr val="tx1"/>
                        </a:solidFill>
                      </a:endParaRPr>
                    </a:p>
                  </a:txBody>
                  <a:tcPr/>
                </a:tc>
                <a:tc>
                  <a:txBody>
                    <a:bodyPr/>
                    <a:lstStyle/>
                    <a:p>
                      <a:r>
                        <a:rPr lang="en-CA" dirty="0" smtClean="0">
                          <a:solidFill>
                            <a:schemeClr val="tx1"/>
                          </a:solidFill>
                        </a:rPr>
                        <a:t>Generic (LOC)</a:t>
                      </a:r>
                      <a:endParaRPr lang="en-CA" dirty="0">
                        <a:solidFill>
                          <a:schemeClr val="tx1"/>
                        </a:solidFill>
                      </a:endParaRPr>
                    </a:p>
                  </a:txBody>
                  <a:tcPr/>
                </a:tc>
                <a:tc>
                  <a:txBody>
                    <a:bodyPr/>
                    <a:lstStyle/>
                    <a:p>
                      <a:r>
                        <a:rPr lang="en-CA" dirty="0" smtClean="0">
                          <a:solidFill>
                            <a:schemeClr val="tx1"/>
                          </a:solidFill>
                        </a:rPr>
                        <a:t>File-System</a:t>
                      </a:r>
                      <a:r>
                        <a:rPr lang="en-CA" baseline="0" dirty="0" smtClean="0">
                          <a:solidFill>
                            <a:schemeClr val="tx1"/>
                          </a:solidFill>
                        </a:rPr>
                        <a:t> </a:t>
                      </a:r>
                      <a:r>
                        <a:rPr lang="en-CA" dirty="0" smtClean="0">
                          <a:solidFill>
                            <a:schemeClr val="tx1"/>
                          </a:solidFill>
                        </a:rPr>
                        <a:t>Specific (LOC)</a:t>
                      </a:r>
                      <a:endParaRPr lang="en-CA" dirty="0">
                        <a:solidFill>
                          <a:schemeClr val="tx1"/>
                        </a:solidFill>
                      </a:endParaRPr>
                    </a:p>
                  </a:txBody>
                  <a:tcPr/>
                </a:tc>
                <a:extLst>
                  <a:ext uri="{0D108BD9-81ED-4DB2-BD59-A6C34878D82A}">
                    <a16:rowId xmlns:a16="http://schemas.microsoft.com/office/drawing/2014/main" val="10000"/>
                  </a:ext>
                </a:extLst>
              </a:tr>
              <a:tr h="370840">
                <a:tc>
                  <a:txBody>
                    <a:bodyPr/>
                    <a:lstStyle/>
                    <a:p>
                      <a:r>
                        <a:rPr lang="en-CA" dirty="0" smtClean="0">
                          <a:solidFill>
                            <a:schemeClr val="bg1"/>
                          </a:solidFill>
                        </a:rPr>
                        <a:t>XML Dump Tool</a:t>
                      </a:r>
                      <a:endParaRPr lang="en-CA" dirty="0">
                        <a:solidFill>
                          <a:schemeClr val="bg1"/>
                        </a:solidFill>
                      </a:endParaRPr>
                    </a:p>
                  </a:txBody>
                  <a:tcPr/>
                </a:tc>
                <a:tc>
                  <a:txBody>
                    <a:bodyPr/>
                    <a:lstStyle/>
                    <a:p>
                      <a:r>
                        <a:rPr lang="en-CA" dirty="0" smtClean="0">
                          <a:solidFill>
                            <a:schemeClr val="bg1"/>
                          </a:solidFill>
                        </a:rPr>
                        <a:t>565</a:t>
                      </a:r>
                      <a:endParaRPr lang="en-CA" dirty="0">
                        <a:solidFill>
                          <a:schemeClr val="bg1"/>
                        </a:solidFill>
                      </a:endParaRPr>
                    </a:p>
                  </a:txBody>
                  <a:tcPr/>
                </a:tc>
                <a:tc>
                  <a:txBody>
                    <a:bodyPr/>
                    <a:lstStyle/>
                    <a:p>
                      <a:r>
                        <a:rPr lang="en-CA" dirty="0" smtClean="0">
                          <a:solidFill>
                            <a:schemeClr val="bg1"/>
                          </a:solidFill>
                        </a:rPr>
                        <a:t>40~50</a:t>
                      </a:r>
                      <a:endParaRPr lang="en-CA" dirty="0">
                        <a:solidFill>
                          <a:schemeClr val="bg1"/>
                        </a:solidFill>
                      </a:endParaRPr>
                    </a:p>
                  </a:txBody>
                  <a:tcPr/>
                </a:tc>
                <a:extLst>
                  <a:ext uri="{0D108BD9-81ED-4DB2-BD59-A6C34878D82A}">
                    <a16:rowId xmlns:a16="http://schemas.microsoft.com/office/drawing/2014/main" val="10001"/>
                  </a:ext>
                </a:extLst>
              </a:tr>
              <a:tr h="370840">
                <a:tc>
                  <a:txBody>
                    <a:bodyPr/>
                    <a:lstStyle/>
                    <a:p>
                      <a:r>
                        <a:rPr lang="en-CA" dirty="0" smtClean="0">
                          <a:solidFill>
                            <a:schemeClr val="bg1"/>
                          </a:solidFill>
                        </a:rPr>
                        <a:t>Free Space</a:t>
                      </a:r>
                      <a:r>
                        <a:rPr lang="en-CA" baseline="0" dirty="0" smtClean="0">
                          <a:solidFill>
                            <a:schemeClr val="bg1"/>
                          </a:solidFill>
                        </a:rPr>
                        <a:t> Display Tool</a:t>
                      </a:r>
                      <a:endParaRPr lang="en-CA" dirty="0">
                        <a:solidFill>
                          <a:schemeClr val="bg1"/>
                        </a:solidFill>
                      </a:endParaRPr>
                    </a:p>
                  </a:txBody>
                  <a:tcPr/>
                </a:tc>
                <a:tc>
                  <a:txBody>
                    <a:bodyPr/>
                    <a:lstStyle/>
                    <a:p>
                      <a:r>
                        <a:rPr lang="en-CA" dirty="0" smtClean="0">
                          <a:solidFill>
                            <a:schemeClr val="bg1"/>
                          </a:solidFill>
                        </a:rPr>
                        <a:t>271</a:t>
                      </a:r>
                      <a:endParaRPr lang="en-CA" dirty="0">
                        <a:solidFill>
                          <a:schemeClr val="bg1"/>
                        </a:solidFill>
                      </a:endParaRPr>
                    </a:p>
                  </a:txBody>
                  <a:tcPr/>
                </a:tc>
                <a:tc>
                  <a:txBody>
                    <a:bodyPr/>
                    <a:lstStyle/>
                    <a:p>
                      <a:r>
                        <a:rPr lang="en-CA" dirty="0" smtClean="0">
                          <a:solidFill>
                            <a:schemeClr val="bg1"/>
                          </a:solidFill>
                        </a:rPr>
                        <a:t>76~194 (F2FS)</a:t>
                      </a:r>
                      <a:endParaRPr lang="en-CA" dirty="0">
                        <a:solidFill>
                          <a:schemeClr val="bg1"/>
                        </a:solidFill>
                      </a:endParaRPr>
                    </a:p>
                  </a:txBody>
                  <a:tcPr/>
                </a:tc>
                <a:extLst>
                  <a:ext uri="{0D108BD9-81ED-4DB2-BD59-A6C34878D82A}">
                    <a16:rowId xmlns:a16="http://schemas.microsoft.com/office/drawing/2014/main" val="10002"/>
                  </a:ext>
                </a:extLst>
              </a:tr>
              <a:tr h="370840">
                <a:tc>
                  <a:txBody>
                    <a:bodyPr/>
                    <a:lstStyle/>
                    <a:p>
                      <a:r>
                        <a:rPr lang="en-CA" dirty="0" smtClean="0">
                          <a:solidFill>
                            <a:schemeClr val="bg1"/>
                          </a:solidFill>
                        </a:rPr>
                        <a:t>Type-Specific</a:t>
                      </a:r>
                      <a:r>
                        <a:rPr lang="en-CA" baseline="0" dirty="0" smtClean="0">
                          <a:solidFill>
                            <a:schemeClr val="bg1"/>
                          </a:solidFill>
                        </a:rPr>
                        <a:t> Corruptor</a:t>
                      </a:r>
                      <a:endParaRPr lang="en-CA" dirty="0">
                        <a:solidFill>
                          <a:schemeClr val="bg1"/>
                        </a:solidFill>
                      </a:endParaRPr>
                    </a:p>
                  </a:txBody>
                  <a:tcPr/>
                </a:tc>
                <a:tc>
                  <a:txBody>
                    <a:bodyPr/>
                    <a:lstStyle/>
                    <a:p>
                      <a:r>
                        <a:rPr lang="en-CA" dirty="0" smtClean="0">
                          <a:solidFill>
                            <a:schemeClr val="bg1"/>
                          </a:solidFill>
                        </a:rPr>
                        <a:t>455</a:t>
                      </a:r>
                      <a:endParaRPr lang="en-CA" dirty="0">
                        <a:solidFill>
                          <a:schemeClr val="bg1"/>
                        </a:solidFill>
                      </a:endParaRPr>
                    </a:p>
                  </a:txBody>
                  <a:tcPr/>
                </a:tc>
                <a:tc>
                  <a:txBody>
                    <a:bodyPr/>
                    <a:lstStyle/>
                    <a:p>
                      <a:r>
                        <a:rPr lang="en-CA" dirty="0" smtClean="0">
                          <a:solidFill>
                            <a:schemeClr val="bg1"/>
                          </a:solidFill>
                        </a:rPr>
                        <a:t>&lt; 30</a:t>
                      </a:r>
                      <a:endParaRPr lang="en-CA" dirty="0">
                        <a:solidFill>
                          <a:schemeClr val="bg1"/>
                        </a:solidFill>
                      </a:endParaRPr>
                    </a:p>
                  </a:txBody>
                  <a:tcPr/>
                </a:tc>
                <a:extLst>
                  <a:ext uri="{0D108BD9-81ED-4DB2-BD59-A6C34878D82A}">
                    <a16:rowId xmlns:a16="http://schemas.microsoft.com/office/drawing/2014/main" val="10003"/>
                  </a:ext>
                </a:extLst>
              </a:tr>
              <a:tr h="370840">
                <a:tc>
                  <a:txBody>
                    <a:bodyPr/>
                    <a:lstStyle/>
                    <a:p>
                      <a:r>
                        <a:rPr lang="en-CA" dirty="0" smtClean="0">
                          <a:solidFill>
                            <a:schemeClr val="bg1"/>
                          </a:solidFill>
                        </a:rPr>
                        <a:t>Ext4 to F2FS</a:t>
                      </a:r>
                      <a:r>
                        <a:rPr lang="en-CA" baseline="0" dirty="0" smtClean="0">
                          <a:solidFill>
                            <a:schemeClr val="bg1"/>
                          </a:solidFill>
                        </a:rPr>
                        <a:t> </a:t>
                      </a:r>
                      <a:r>
                        <a:rPr lang="en-CA" dirty="0" smtClean="0">
                          <a:solidFill>
                            <a:schemeClr val="bg1"/>
                          </a:solidFill>
                        </a:rPr>
                        <a:t>Converter</a:t>
                      </a:r>
                      <a:endParaRPr lang="en-CA" dirty="0">
                        <a:solidFill>
                          <a:schemeClr val="bg1"/>
                        </a:solidFill>
                      </a:endParaRPr>
                    </a:p>
                  </a:txBody>
                  <a:tcPr/>
                </a:tc>
                <a:tc>
                  <a:txBody>
                    <a:bodyPr/>
                    <a:lstStyle/>
                    <a:p>
                      <a:r>
                        <a:rPr lang="en-CA" dirty="0" smtClean="0">
                          <a:solidFill>
                            <a:schemeClr val="bg1"/>
                          </a:solidFill>
                        </a:rPr>
                        <a:t>504</a:t>
                      </a:r>
                      <a:endParaRPr lang="en-CA" dirty="0">
                        <a:solidFill>
                          <a:schemeClr val="bg1"/>
                        </a:solidFill>
                      </a:endParaRPr>
                    </a:p>
                  </a:txBody>
                  <a:tcPr/>
                </a:tc>
                <a:tc>
                  <a:txBody>
                    <a:bodyPr/>
                    <a:lstStyle/>
                    <a:p>
                      <a:r>
                        <a:rPr lang="en-CA" dirty="0" smtClean="0">
                          <a:solidFill>
                            <a:schemeClr val="bg1"/>
                          </a:solidFill>
                        </a:rPr>
                        <a:t>218 (Ext4)</a:t>
                      </a:r>
                      <a:r>
                        <a:rPr lang="en-CA" baseline="0" dirty="0" smtClean="0">
                          <a:solidFill>
                            <a:schemeClr val="bg1"/>
                          </a:solidFill>
                        </a:rPr>
                        <a:t>, 1760 (F2FS)</a:t>
                      </a:r>
                      <a:endParaRPr lang="en-CA" dirty="0">
                        <a:solidFill>
                          <a:schemeClr val="bg1"/>
                        </a:solidFill>
                      </a:endParaRPr>
                    </a:p>
                  </a:txBody>
                  <a:tcPr/>
                </a:tc>
                <a:extLst>
                  <a:ext uri="{0D108BD9-81ED-4DB2-BD59-A6C34878D82A}">
                    <a16:rowId xmlns:a16="http://schemas.microsoft.com/office/drawing/2014/main" val="10004"/>
                  </a:ext>
                </a:extLst>
              </a:tr>
              <a:tr h="370840">
                <a:tc>
                  <a:txBody>
                    <a:bodyPr/>
                    <a:lstStyle/>
                    <a:p>
                      <a:r>
                        <a:rPr lang="en-CA" dirty="0" smtClean="0">
                          <a:solidFill>
                            <a:schemeClr val="bg1"/>
                          </a:solidFill>
                        </a:rPr>
                        <a:t>Runtime</a:t>
                      </a:r>
                      <a:r>
                        <a:rPr lang="en-CA" baseline="0" dirty="0" smtClean="0">
                          <a:solidFill>
                            <a:schemeClr val="bg1"/>
                          </a:solidFill>
                        </a:rPr>
                        <a:t> Interpretation</a:t>
                      </a:r>
                      <a:endParaRPr lang="en-CA" dirty="0">
                        <a:solidFill>
                          <a:schemeClr val="bg1"/>
                        </a:solidFill>
                      </a:endParaRPr>
                    </a:p>
                  </a:txBody>
                  <a:tcPr/>
                </a:tc>
                <a:tc>
                  <a:txBody>
                    <a:bodyPr/>
                    <a:lstStyle/>
                    <a:p>
                      <a:r>
                        <a:rPr lang="en-CA" dirty="0" smtClean="0">
                          <a:solidFill>
                            <a:schemeClr val="bg1"/>
                          </a:solidFill>
                        </a:rPr>
                        <a:t>2158</a:t>
                      </a:r>
                      <a:endParaRPr lang="en-CA" dirty="0">
                        <a:solidFill>
                          <a:schemeClr val="bg1"/>
                        </a:solidFill>
                      </a:endParaRPr>
                    </a:p>
                  </a:txBody>
                  <a:tcPr/>
                </a:tc>
                <a:tc>
                  <a:txBody>
                    <a:bodyPr/>
                    <a:lstStyle/>
                    <a:p>
                      <a:r>
                        <a:rPr lang="en-CA" dirty="0" smtClean="0">
                          <a:solidFill>
                            <a:schemeClr val="bg1"/>
                          </a:solidFill>
                        </a:rPr>
                        <a:t>111 (Ext4),</a:t>
                      </a:r>
                      <a:r>
                        <a:rPr lang="en-CA" baseline="0" dirty="0" smtClean="0">
                          <a:solidFill>
                            <a:schemeClr val="bg1"/>
                          </a:solidFill>
                        </a:rPr>
                        <a:t> 134 (</a:t>
                      </a:r>
                      <a:r>
                        <a:rPr lang="en-CA" baseline="0" dirty="0" err="1" smtClean="0">
                          <a:solidFill>
                            <a:schemeClr val="bg1"/>
                          </a:solidFill>
                        </a:rPr>
                        <a:t>Btrfs</a:t>
                      </a:r>
                      <a:r>
                        <a:rPr lang="en-CA" baseline="0" dirty="0" smtClean="0">
                          <a:solidFill>
                            <a:schemeClr val="bg1"/>
                          </a:solidFill>
                        </a:rPr>
                        <a:t>)</a:t>
                      </a:r>
                      <a:endParaRPr lang="en-CA" dirty="0">
                        <a:solidFill>
                          <a:schemeClr val="bg1"/>
                        </a:solidFill>
                      </a:endParaRPr>
                    </a:p>
                  </a:txBody>
                  <a:tcPr/>
                </a:tc>
                <a:extLst>
                  <a:ext uri="{0D108BD9-81ED-4DB2-BD59-A6C34878D82A}">
                    <a16:rowId xmlns:a16="http://schemas.microsoft.com/office/drawing/2014/main" val="10005"/>
                  </a:ext>
                </a:extLst>
              </a:tr>
              <a:tr h="370840">
                <a:tc>
                  <a:txBody>
                    <a:bodyPr/>
                    <a:lstStyle/>
                    <a:p>
                      <a:r>
                        <a:rPr lang="en-CA" dirty="0" smtClean="0">
                          <a:solidFill>
                            <a:schemeClr val="bg1"/>
                          </a:solidFill>
                        </a:rPr>
                        <a:t>Differentiated</a:t>
                      </a:r>
                      <a:r>
                        <a:rPr lang="en-CA" baseline="0" dirty="0" smtClean="0">
                          <a:solidFill>
                            <a:schemeClr val="bg1"/>
                          </a:solidFill>
                        </a:rPr>
                        <a:t> Storage</a:t>
                      </a:r>
                      <a:endParaRPr lang="en-CA" dirty="0">
                        <a:solidFill>
                          <a:schemeClr val="bg1"/>
                        </a:solidFill>
                      </a:endParaRPr>
                    </a:p>
                  </a:txBody>
                  <a:tcPr/>
                </a:tc>
                <a:tc>
                  <a:txBody>
                    <a:bodyPr/>
                    <a:lstStyle/>
                    <a:p>
                      <a:endParaRPr lang="en-CA" dirty="0">
                        <a:solidFill>
                          <a:schemeClr val="bg1"/>
                        </a:solidFill>
                      </a:endParaRPr>
                    </a:p>
                  </a:txBody>
                  <a:tcPr/>
                </a:tc>
                <a:tc>
                  <a:txBody>
                    <a:bodyPr/>
                    <a:lstStyle/>
                    <a:p>
                      <a:endParaRPr lang="en-CA" dirty="0">
                        <a:solidFill>
                          <a:schemeClr val="bg1"/>
                        </a:solidFill>
                      </a:endParaRPr>
                    </a:p>
                  </a:txBody>
                  <a:tcPr/>
                </a:tc>
                <a:extLst>
                  <a:ext uri="{0D108BD9-81ED-4DB2-BD59-A6C34878D82A}">
                    <a16:rowId xmlns:a16="http://schemas.microsoft.com/office/drawing/2014/main" val="10006"/>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Block Layer Cache</a:t>
                      </a:r>
                    </a:p>
                  </a:txBody>
                  <a:tcPr/>
                </a:tc>
                <a:tc>
                  <a:txBody>
                    <a:bodyPr/>
                    <a:lstStyle/>
                    <a:p>
                      <a:r>
                        <a:rPr lang="en-CA" dirty="0" smtClean="0">
                          <a:solidFill>
                            <a:schemeClr val="bg1"/>
                          </a:solidFill>
                        </a:rPr>
                        <a:t>10518</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a16="http://schemas.microsoft.com/office/drawing/2014/main" val="10007"/>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Preferential</a:t>
                      </a:r>
                      <a:r>
                        <a:rPr lang="en-CA" baseline="0" dirty="0" smtClean="0">
                          <a:solidFill>
                            <a:schemeClr val="bg1"/>
                          </a:solidFill>
                        </a:rPr>
                        <a:t> Caching</a:t>
                      </a:r>
                      <a:endParaRPr lang="en-CA" dirty="0" smtClean="0">
                        <a:solidFill>
                          <a:schemeClr val="bg1"/>
                        </a:solidFill>
                      </a:endParaRPr>
                    </a:p>
                  </a:txBody>
                  <a:tcPr/>
                </a:tc>
                <a:tc>
                  <a:txBody>
                    <a:bodyPr/>
                    <a:lstStyle/>
                    <a:p>
                      <a:r>
                        <a:rPr lang="en-CA" dirty="0" smtClean="0">
                          <a:solidFill>
                            <a:schemeClr val="bg1"/>
                          </a:solidFill>
                        </a:rPr>
                        <a:t>289</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919253903"/>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Corruption Experiment</a:t>
            </a:r>
            <a:endParaRPr lang="en-CA" dirty="0"/>
          </a:p>
        </p:txBody>
      </p:sp>
      <p:sp>
        <p:nvSpPr>
          <p:cNvPr id="3" name="Content Placeholder 2"/>
          <p:cNvSpPr>
            <a:spLocks noGrp="1"/>
          </p:cNvSpPr>
          <p:nvPr>
            <p:ph idx="1"/>
          </p:nvPr>
        </p:nvSpPr>
        <p:spPr/>
        <p:txBody>
          <a:bodyPr/>
          <a:lstStyle/>
          <a:p>
            <a:r>
              <a:rPr lang="en-CA" smtClean="0"/>
              <a:t>Run Spiffy dump tool and existing dump tools on corrupt images</a:t>
            </a:r>
          </a:p>
          <a:p>
            <a:pPr lvl="1"/>
            <a:r>
              <a:rPr lang="en-CA" smtClean="0"/>
              <a:t>Corrupt images generated by type-specific corruptor</a:t>
            </a:r>
          </a:p>
          <a:p>
            <a:r>
              <a:rPr lang="en-CA" smtClean="0"/>
              <a:t>Spiffy is robust against corruption, 2 out of 3 existing tools crash:</a:t>
            </a:r>
          </a:p>
          <a:p>
            <a:endParaRPr lang="en-CA" smtClean="0"/>
          </a:p>
          <a:p>
            <a:endParaRPr lang="en-CA" smtClean="0"/>
          </a:p>
          <a:p>
            <a:endParaRPr lang="en-CA" smtClean="0"/>
          </a:p>
          <a:p>
            <a:endParaRPr lang="en-CA" smtClean="0"/>
          </a:p>
          <a:p>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37</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1346553440"/>
              </p:ext>
            </p:extLst>
          </p:nvPr>
        </p:nvGraphicFramePr>
        <p:xfrm>
          <a:off x="684212" y="3103984"/>
          <a:ext cx="10072159" cy="3012440"/>
        </p:xfrm>
        <a:graphic>
          <a:graphicData uri="http://schemas.openxmlformats.org/drawingml/2006/table">
            <a:tbl>
              <a:tblPr firstRow="1" bandRow="1">
                <a:tableStyleId>{69012ECD-51FC-41F1-AA8D-1B2483CD663E}</a:tableStyleId>
              </a:tblPr>
              <a:tblGrid>
                <a:gridCol w="1173256">
                  <a:extLst>
                    <a:ext uri="{9D8B030D-6E8A-4147-A177-3AD203B41FA5}">
                      <a16:colId xmlns:a16="http://schemas.microsoft.com/office/drawing/2014/main" val="20000"/>
                    </a:ext>
                  </a:extLst>
                </a:gridCol>
                <a:gridCol w="1357460">
                  <a:extLst>
                    <a:ext uri="{9D8B030D-6E8A-4147-A177-3AD203B41FA5}">
                      <a16:colId xmlns:a16="http://schemas.microsoft.com/office/drawing/2014/main" val="20001"/>
                    </a:ext>
                  </a:extLst>
                </a:gridCol>
                <a:gridCol w="2375554">
                  <a:extLst>
                    <a:ext uri="{9D8B030D-6E8A-4147-A177-3AD203B41FA5}">
                      <a16:colId xmlns:a16="http://schemas.microsoft.com/office/drawing/2014/main" val="20002"/>
                    </a:ext>
                  </a:extLst>
                </a:gridCol>
                <a:gridCol w="5165889">
                  <a:extLst>
                    <a:ext uri="{9D8B030D-6E8A-4147-A177-3AD203B41FA5}">
                      <a16:colId xmlns:a16="http://schemas.microsoft.com/office/drawing/2014/main" val="20003"/>
                    </a:ext>
                  </a:extLst>
                </a:gridCol>
              </a:tblGrid>
              <a:tr h="370840">
                <a:tc>
                  <a:txBody>
                    <a:bodyPr/>
                    <a:lstStyle/>
                    <a:p>
                      <a:r>
                        <a:rPr lang="en-CA" dirty="0" smtClean="0">
                          <a:solidFill>
                            <a:schemeClr val="tx1"/>
                          </a:solidFill>
                        </a:rPr>
                        <a:t>Tool</a:t>
                      </a:r>
                      <a:endParaRPr lang="en-CA" dirty="0">
                        <a:solidFill>
                          <a:schemeClr val="tx1"/>
                        </a:solidFill>
                      </a:endParaRPr>
                    </a:p>
                  </a:txBody>
                  <a:tcPr/>
                </a:tc>
                <a:tc>
                  <a:txBody>
                    <a:bodyPr/>
                    <a:lstStyle/>
                    <a:p>
                      <a:r>
                        <a:rPr lang="en-CA" dirty="0" smtClean="0">
                          <a:solidFill>
                            <a:schemeClr val="tx1"/>
                          </a:solidFill>
                        </a:rPr>
                        <a:t>Structure</a:t>
                      </a:r>
                      <a:endParaRPr lang="en-CA" dirty="0">
                        <a:solidFill>
                          <a:schemeClr val="tx1"/>
                        </a:solidFill>
                      </a:endParaRPr>
                    </a:p>
                  </a:txBody>
                  <a:tcPr/>
                </a:tc>
                <a:tc>
                  <a:txBody>
                    <a:bodyPr/>
                    <a:lstStyle/>
                    <a:p>
                      <a:r>
                        <a:rPr lang="en-CA" dirty="0" smtClean="0">
                          <a:solidFill>
                            <a:schemeClr val="tx1"/>
                          </a:solidFill>
                        </a:rPr>
                        <a:t>Field</a:t>
                      </a:r>
                      <a:endParaRPr lang="en-CA" dirty="0">
                        <a:solidFill>
                          <a:schemeClr val="tx1"/>
                        </a:solidFill>
                      </a:endParaRPr>
                    </a:p>
                  </a:txBody>
                  <a:tcPr/>
                </a:tc>
                <a:tc>
                  <a:txBody>
                    <a:bodyPr/>
                    <a:lstStyle/>
                    <a:p>
                      <a:r>
                        <a:rPr lang="en-CA" dirty="0" smtClean="0">
                          <a:solidFill>
                            <a:schemeClr val="tx1"/>
                          </a:solidFill>
                        </a:rPr>
                        <a:t>Description</a:t>
                      </a:r>
                      <a:endParaRPr lang="en-CA" dirty="0">
                        <a:solidFill>
                          <a:schemeClr val="tx1"/>
                        </a:solidFill>
                      </a:endParaRPr>
                    </a:p>
                  </a:txBody>
                  <a:tcPr/>
                </a:tc>
                <a:extLst>
                  <a:ext uri="{0D108BD9-81ED-4DB2-BD59-A6C34878D82A}">
                    <a16:rowId xmlns:a16="http://schemas.microsoft.com/office/drawing/2014/main" val="10000"/>
                  </a:ext>
                </a:extLst>
              </a:tr>
              <a:tr h="370840">
                <a:tc>
                  <a:txBody>
                    <a:bodyPr/>
                    <a:lstStyle/>
                    <a:p>
                      <a:r>
                        <a:rPr lang="en-CA" sz="1600" dirty="0" smtClean="0">
                          <a:solidFill>
                            <a:schemeClr val="bg1"/>
                          </a:solidFill>
                        </a:rPr>
                        <a:t>dumpe2fs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s_creator_os</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OS name lookup</a:t>
                      </a:r>
                    </a:p>
                  </a:txBody>
                  <a:tcPr/>
                </a:tc>
                <a:extLst>
                  <a:ext uri="{0D108BD9-81ED-4DB2-BD59-A6C34878D82A}">
                    <a16:rowId xmlns:a16="http://schemas.microsoft.com/office/drawing/2014/main" val="10001"/>
                  </a:ext>
                </a:extLst>
              </a:tr>
              <a:tr h="370840">
                <a:tc>
                  <a:txBody>
                    <a:bodyPr/>
                    <a:lstStyle/>
                    <a:p>
                      <a:r>
                        <a:rPr lang="en-CA" sz="1600" dirty="0" smtClean="0">
                          <a:solidFill>
                            <a:schemeClr val="bg1"/>
                          </a:solidFill>
                        </a:rPr>
                        <a:t>dump.f2fs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log_blocks_per_seg</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while building </a:t>
                      </a:r>
                      <a:r>
                        <a:rPr lang="en-CA" sz="1600" b="0" i="0" u="none" strike="noStrike" kern="1200" baseline="0" dirty="0" err="1" smtClean="0">
                          <a:solidFill>
                            <a:schemeClr val="bg1"/>
                          </a:solidFill>
                          <a:latin typeface="+mn-lt"/>
                          <a:ea typeface="+mn-ea"/>
                          <a:cs typeface="+mn-cs"/>
                        </a:rPr>
                        <a:t>nat</a:t>
                      </a:r>
                      <a:r>
                        <a:rPr lang="en-CA" sz="1600" b="0" i="0" u="none" strike="noStrike" kern="1200" baseline="0" dirty="0" smtClean="0">
                          <a:solidFill>
                            <a:schemeClr val="bg1"/>
                          </a:solidFill>
                          <a:latin typeface="+mn-lt"/>
                          <a:ea typeface="+mn-ea"/>
                          <a:cs typeface="+mn-cs"/>
                        </a:rPr>
                        <a:t> bitmap</a:t>
                      </a:r>
                    </a:p>
                  </a:txBody>
                  <a:tcPr/>
                </a:tc>
                <a:extLst>
                  <a:ext uri="{0D108BD9-81ED-4DB2-BD59-A6C34878D82A}">
                    <a16:rowId xmlns:a16="http://schemas.microsoft.com/office/drawing/2014/main" val="10002"/>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super block </a:t>
                      </a:r>
                      <a:endParaRPr lang="en-CA" sz="1600" dirty="0" smtClean="0">
                        <a:solidFill>
                          <a:schemeClr val="bg1"/>
                        </a:solidFill>
                      </a:endParaRPr>
                    </a:p>
                    <a:p>
                      <a:endParaRPr lang="en-CA" sz="1600" b="0" i="0" u="none" strike="noStrike" kern="1200" baseline="0" dirty="0" smtClean="0">
                        <a:solidFill>
                          <a:schemeClr val="bg1"/>
                        </a:solidFill>
                        <a:latin typeface="+mn-lt"/>
                        <a:ea typeface="+mn-ea"/>
                        <a:cs typeface="+mn-cs"/>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segment_count_main</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null pointer dereference after </a:t>
                      </a:r>
                      <a:r>
                        <a:rPr lang="en-CA" sz="1600" b="0" i="0" u="none" strike="noStrike" kern="1200" baseline="0" dirty="0" err="1" smtClean="0">
                          <a:solidFill>
                            <a:schemeClr val="bg1"/>
                          </a:solidFill>
                          <a:latin typeface="+mn-lt"/>
                          <a:ea typeface="+mn-ea"/>
                          <a:cs typeface="+mn-cs"/>
                        </a:rPr>
                        <a:t>calloc</a:t>
                      </a:r>
                      <a:r>
                        <a:rPr lang="en-CA" sz="1600" b="0" i="0" u="none" strike="noStrike" kern="1200" baseline="0" dirty="0" smtClean="0">
                          <a:solidFill>
                            <a:schemeClr val="bg1"/>
                          </a:solidFill>
                          <a:latin typeface="+mn-lt"/>
                          <a:ea typeface="+mn-ea"/>
                          <a:cs typeface="+mn-cs"/>
                        </a:rPr>
                        <a:t> fails</a:t>
                      </a:r>
                    </a:p>
                  </a:txBody>
                  <a:tcPr/>
                </a:tc>
                <a:extLst>
                  <a:ext uri="{0D108BD9-81ED-4DB2-BD59-A6C34878D82A}">
                    <a16:rowId xmlns:a16="http://schemas.microsoft.com/office/drawing/2014/main" val="10003"/>
                  </a:ext>
                </a:extLst>
              </a:tr>
              <a:tr h="370840">
                <a:tc>
                  <a:txBody>
                    <a:bodyPr/>
                    <a:lstStyle/>
                    <a:p>
                      <a:endParaRPr lang="en-CA" sz="1600" dirty="0">
                        <a:solidFill>
                          <a:schemeClr val="bg1"/>
                        </a:solidFill>
                      </a:endParaRPr>
                    </a:p>
                  </a:txBody>
                  <a:tcPr/>
                </a:tc>
                <a:tc>
                  <a:txBody>
                    <a:bodyPr/>
                    <a:lstStyle/>
                    <a:p>
                      <a:r>
                        <a:rPr lang="en-CA" sz="1600" dirty="0" smtClean="0">
                          <a:solidFill>
                            <a:schemeClr val="bg1"/>
                          </a:solidFill>
                        </a:rPr>
                        <a:t>checkpoint</a:t>
                      </a:r>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cp_blkaddr</a:t>
                      </a:r>
                      <a:endPar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double free error during error handling</a:t>
                      </a:r>
                      <a:endParaRPr lang="en-CA" sz="1600" dirty="0">
                        <a:solidFill>
                          <a:schemeClr val="bg1"/>
                        </a:solidFill>
                      </a:endParaRPr>
                    </a:p>
                  </a:txBody>
                  <a:tcPr/>
                </a:tc>
                <a:extLst>
                  <a:ext uri="{0D108BD9-81ED-4DB2-BD59-A6C34878D82A}">
                    <a16:rowId xmlns:a16="http://schemas.microsoft.com/office/drawing/2014/main" val="10004"/>
                  </a:ext>
                </a:extLst>
              </a:tr>
              <a:tr h="370840">
                <a:tc>
                  <a:txBody>
                    <a:bodyPr/>
                    <a:lstStyle/>
                    <a:p>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summary</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n_nats</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a:t>
                      </a:r>
                      <a:r>
                        <a:rPr lang="en-CA" sz="1600" b="0" i="0" u="none" strike="noStrike" kern="1200" baseline="0" dirty="0" err="1" smtClean="0">
                          <a:solidFill>
                            <a:schemeClr val="bg1"/>
                          </a:solidFill>
                          <a:latin typeface="+mn-lt"/>
                          <a:ea typeface="+mn-ea"/>
                          <a:cs typeface="+mn-cs"/>
                        </a:rPr>
                        <a:t>nid</a:t>
                      </a:r>
                      <a:r>
                        <a:rPr lang="en-CA" sz="1600" b="0" i="0" u="none" strike="noStrike" kern="1200" baseline="0" dirty="0" smtClean="0">
                          <a:solidFill>
                            <a:schemeClr val="bg1"/>
                          </a:solidFill>
                          <a:latin typeface="+mn-lt"/>
                          <a:ea typeface="+mn-ea"/>
                          <a:cs typeface="+mn-cs"/>
                        </a:rPr>
                        <a:t> lookup</a:t>
                      </a:r>
                    </a:p>
                  </a:txBody>
                  <a:tcPr/>
                </a:tc>
                <a:extLst>
                  <a:ext uri="{0D108BD9-81ED-4DB2-BD59-A6C34878D82A}">
                    <a16:rowId xmlns:a16="http://schemas.microsoft.com/office/drawing/2014/main" val="10005"/>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err="1" smtClean="0">
                          <a:solidFill>
                            <a:schemeClr val="bg1"/>
                          </a:solidFill>
                          <a:latin typeface="+mn-lt"/>
                          <a:ea typeface="+mn-ea"/>
                          <a:cs typeface="+mn-cs"/>
                        </a:rPr>
                        <a:t>inode</a:t>
                      </a:r>
                      <a:endParaRPr lang="en-CA" sz="1600" dirty="0" smtClean="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i_namelen</a:t>
                      </a:r>
                      <a:endParaRPr lang="en-CA" sz="1500" dirty="0" smtClean="0">
                        <a:solidFill>
                          <a:schemeClr val="bg1"/>
                        </a:solidFill>
                        <a:latin typeface="Courier New" panose="02070309020205020404" pitchFamily="49" charset="0"/>
                        <a:cs typeface="Courier New" panose="02070309020205020404" pitchFamily="49" charset="0"/>
                      </a:endParaRPr>
                    </a:p>
                    <a:p>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index out of bound error when adding null character to end of name</a:t>
                      </a:r>
                      <a:endParaRPr lang="en-CA" sz="1600" dirty="0" smtClean="0">
                        <a:solidFill>
                          <a:schemeClr val="bg1"/>
                        </a:solidFill>
                      </a:endParaRPr>
                    </a:p>
                  </a:txBody>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57525318"/>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Preferential Caching</a:t>
            </a:r>
            <a:endParaRPr lang="en-CA" dirty="0"/>
          </a:p>
        </p:txBody>
      </p:sp>
      <p:sp>
        <p:nvSpPr>
          <p:cNvPr id="3" name="Content Placeholder 2"/>
          <p:cNvSpPr>
            <a:spLocks noGrp="1"/>
          </p:cNvSpPr>
          <p:nvPr>
            <p:ph idx="1"/>
          </p:nvPr>
        </p:nvSpPr>
        <p:spPr/>
        <p:txBody>
          <a:bodyPr/>
          <a:lstStyle/>
          <a:p>
            <a:r>
              <a:rPr lang="en-CA" smtClean="0"/>
              <a:t>2 identical fileservers running on block layer cache</a:t>
            </a:r>
          </a:p>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Overall performance improves with preferential caching</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38</a:t>
            </a:fld>
            <a:endParaRPr lang="en-CA" dirty="0"/>
          </a:p>
        </p:txBody>
      </p:sp>
      <p:grpSp>
        <p:nvGrpSpPr>
          <p:cNvPr id="9" name="Group 8"/>
          <p:cNvGrpSpPr/>
          <p:nvPr/>
        </p:nvGrpSpPr>
        <p:grpSpPr>
          <a:xfrm>
            <a:off x="1741437" y="2147076"/>
            <a:ext cx="7477175" cy="3007076"/>
            <a:chOff x="1741437" y="3261749"/>
            <a:chExt cx="7477175" cy="3007076"/>
          </a:xfrm>
        </p:grpSpPr>
        <p:graphicFrame>
          <p:nvGraphicFramePr>
            <p:cNvPr id="6" name="Chart 5"/>
            <p:cNvGraphicFramePr>
              <a:graphicFrameLocks/>
            </p:cNvGraphicFramePr>
            <p:nvPr>
              <p:extLst>
                <p:ext uri="{D42A27DB-BD31-4B8C-83A1-F6EECF244321}">
                  <p14:modId xmlns:p14="http://schemas.microsoft.com/office/powerpoint/2010/main" val="228972012"/>
                </p:ext>
              </p:extLst>
            </p:nvPr>
          </p:nvGraphicFramePr>
          <p:xfrm>
            <a:off x="1741437" y="3271174"/>
            <a:ext cx="7477175" cy="2997651"/>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2"/>
            <p:cNvSpPr txBox="1"/>
            <p:nvPr/>
          </p:nvSpPr>
          <p:spPr>
            <a:xfrm>
              <a:off x="2613536" y="4366649"/>
              <a:ext cx="577402"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a:solidFill>
                    <a:schemeClr val="bg1"/>
                  </a:solidFill>
                </a:rPr>
                <a:t>Btrfs</a:t>
              </a:r>
            </a:p>
          </p:txBody>
        </p:sp>
        <p:sp>
          <p:nvSpPr>
            <p:cNvPr id="8" name="TextBox 4"/>
            <p:cNvSpPr txBox="1"/>
            <p:nvPr/>
          </p:nvSpPr>
          <p:spPr>
            <a:xfrm>
              <a:off x="2613536" y="3261749"/>
              <a:ext cx="583814"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dirty="0">
                  <a:solidFill>
                    <a:schemeClr val="bg1"/>
                  </a:solidFill>
                </a:rPr>
                <a:t>Ext4</a:t>
              </a:r>
            </a:p>
          </p:txBody>
        </p:sp>
      </p:grpSp>
    </p:spTree>
    <p:extLst>
      <p:ext uri="{BB962C8B-B14F-4D97-AF65-F5344CB8AC3E}">
        <p14:creationId xmlns:p14="http://schemas.microsoft.com/office/powerpoint/2010/main" val="3197873276"/>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F2FS NID Address Space</a:t>
            </a:r>
            <a:endParaRPr lang="en-CA" dirty="0"/>
          </a:p>
        </p:txBody>
      </p:sp>
      <p:sp>
        <p:nvSpPr>
          <p:cNvPr id="3" name="Content Placeholder 2"/>
          <p:cNvSpPr>
            <a:spLocks noGrp="1"/>
          </p:cNvSpPr>
          <p:nvPr>
            <p:ph idx="1"/>
          </p:nvPr>
        </p:nvSpPr>
        <p:spPr/>
        <p:txBody>
          <a:bodyPr/>
          <a:lstStyle/>
          <a:p>
            <a:r>
              <a:rPr lang="en-CA" dirty="0"/>
              <a:t>NID address is an index </a:t>
            </a:r>
            <a:r>
              <a:rPr lang="en-CA" dirty="0" smtClean="0"/>
              <a:t>into the </a:t>
            </a:r>
            <a:r>
              <a:rPr lang="en-CA" dirty="0"/>
              <a:t>node address table for an </a:t>
            </a:r>
            <a:r>
              <a:rPr lang="en-CA" dirty="0" smtClean="0"/>
              <a:t/>
            </a:r>
            <a:br>
              <a:rPr lang="en-CA" dirty="0" smtClean="0"/>
            </a:br>
            <a:r>
              <a:rPr lang="en-CA" dirty="0" smtClean="0"/>
              <a:t>F2FS </a:t>
            </a:r>
            <a:r>
              <a:rPr lang="en-CA" dirty="0"/>
              <a:t>metadata </a:t>
            </a:r>
            <a:r>
              <a:rPr lang="en-CA" dirty="0" smtClean="0"/>
              <a:t>block</a:t>
            </a:r>
          </a:p>
          <a:p>
            <a:r>
              <a:rPr lang="en-CA" dirty="0" smtClean="0"/>
              <a:t>Required to traverse indirect blocks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39</a:t>
            </a:fld>
            <a:endParaRPr lang="en-CA" dirty="0"/>
          </a:p>
        </p:txBody>
      </p:sp>
    </p:spTree>
    <p:extLst>
      <p:ext uri="{BB962C8B-B14F-4D97-AF65-F5344CB8AC3E}">
        <p14:creationId xmlns:p14="http://schemas.microsoft.com/office/powerpoint/2010/main" val="2284282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FSSUPER Annotation</a:t>
            </a:r>
            <a:endParaRPr lang="en-CA" dirty="0"/>
          </a:p>
        </p:txBody>
      </p:sp>
      <p:sp>
        <p:nvSpPr>
          <p:cNvPr id="3" name="Content Placeholder 2"/>
          <p:cNvSpPr>
            <a:spLocks noGrp="1"/>
          </p:cNvSpPr>
          <p:nvPr>
            <p:ph idx="1"/>
          </p:nvPr>
        </p:nvSpPr>
        <p:spPr>
          <a:xfrm>
            <a:off x="684211" y="1515358"/>
            <a:ext cx="10285797" cy="1589349"/>
          </a:xfrm>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 </a:t>
            </a:r>
            <a:r>
              <a:rPr lang="en-CA" dirty="0" smtClean="0"/>
              <a:t>argument specifies </a:t>
            </a:r>
            <a:r>
              <a:rPr lang="en-CA" dirty="0"/>
              <a:t>address in byte offset</a:t>
            </a:r>
          </a:p>
        </p:txBody>
      </p:sp>
      <p:sp>
        <p:nvSpPr>
          <p:cNvPr id="4" name="Slide Number Placeholder 3"/>
          <p:cNvSpPr>
            <a:spLocks noGrp="1"/>
          </p:cNvSpPr>
          <p:nvPr>
            <p:ph type="sldNum" sz="quarter" idx="12"/>
          </p:nvPr>
        </p:nvSpPr>
        <p:spPr/>
        <p:txBody>
          <a:bodyPr/>
          <a:lstStyle/>
          <a:p>
            <a:fld id="{7B2023C8-B124-43A9-8F92-0EEF5BAA9995}" type="slidenum">
              <a:rPr lang="en-CA" smtClean="0"/>
              <a:pPr/>
              <a:t>40</a:t>
            </a:fld>
            <a:endParaRPr lang="en-CA" dirty="0"/>
          </a:p>
        </p:txBody>
      </p:sp>
      <p:sp>
        <p:nvSpPr>
          <p:cNvPr id="6" name="Rectangle 5"/>
          <p:cNvSpPr/>
          <p:nvPr/>
        </p:nvSpPr>
        <p:spPr>
          <a:xfrm>
            <a:off x="950024" y="3027765"/>
            <a:ext cx="6641621" cy="1754326"/>
          </a:xfrm>
          <a:prstGeom prst="rect">
            <a:avLst/>
          </a:prstGeom>
        </p:spPr>
        <p:txBody>
          <a:bodyPr wrap="square">
            <a:spAutoFit/>
          </a:bodyPr>
          <a:lstStyle/>
          <a:p>
            <a:r>
              <a:rPr lang="en-CA" b="1" dirty="0">
                <a:solidFill>
                  <a:schemeClr val="bg1"/>
                </a:solidFill>
                <a:latin typeface="Courier New" panose="02070309020205020404" pitchFamily="49" charset="0"/>
                <a:cs typeface="Courier New" panose="02070309020205020404" pitchFamily="49" charset="0"/>
              </a:rPr>
              <a:t>FSSUPER</a:t>
            </a:r>
            <a:r>
              <a:rPr lang="en-CA" dirty="0">
                <a:solidFill>
                  <a:schemeClr val="bg1"/>
                </a:solidFill>
                <a:latin typeface="Courier New" panose="02070309020205020404" pitchFamily="49" charset="0"/>
                <a:cs typeface="Courier New" panose="02070309020205020404" pitchFamily="49" charset="0"/>
              </a:rPr>
              <a:t>(location=1024) ext4_super_block {</a:t>
            </a:r>
          </a:p>
          <a:p>
            <a:r>
              <a:rPr lang="en-CA" dirty="0">
                <a:solidFill>
                  <a:schemeClr val="bg1"/>
                </a:solidFill>
                <a:latin typeface="Courier New" panose="02070309020205020404" pitchFamily="49" charset="0"/>
                <a:cs typeface="Courier New" panose="02070309020205020404" pitchFamily="49" charset="0"/>
              </a:rPr>
              <a:t>  __le32 </a:t>
            </a:r>
            <a:r>
              <a:rPr lang="en-CA" dirty="0" err="1">
                <a:solidFill>
                  <a:schemeClr val="bg1"/>
                </a:solidFill>
                <a:latin typeface="Courier New" panose="02070309020205020404" pitchFamily="49" charset="0"/>
                <a:cs typeface="Courier New" panose="02070309020205020404" pitchFamily="49" charset="0"/>
              </a:rPr>
              <a:t>s_log_block_size</a:t>
            </a:r>
            <a:r>
              <a:rPr lang="en-CA" dirty="0">
                <a:solidFill>
                  <a:schemeClr val="bg1"/>
                </a:solidFill>
                <a:latin typeface="Courier New" panose="02070309020205020404" pitchFamily="49" charset="0"/>
                <a:cs typeface="Courier New" panose="02070309020205020404" pitchFamily="49" charset="0"/>
              </a:rPr>
              <a:t>;</a:t>
            </a:r>
          </a:p>
          <a:p>
            <a:r>
              <a:rPr lang="en-CA" dirty="0" smtClean="0">
                <a:solidFill>
                  <a:schemeClr val="bg1"/>
                </a:solidFill>
                <a:latin typeface="Courier New" panose="02070309020205020404" pitchFamily="49" charset="0"/>
                <a:cs typeface="Courier New" panose="02070309020205020404" pitchFamily="49" charset="0"/>
              </a:rPr>
              <a:t>  ...</a:t>
            </a:r>
          </a:p>
          <a:p>
            <a:r>
              <a:rPr lang="fr-FR" dirty="0" smtClean="0">
                <a:solidFill>
                  <a:schemeClr val="bg1"/>
                </a:solidFill>
                <a:latin typeface="Courier New" panose="02070309020205020404" pitchFamily="49" charset="0"/>
                <a:cs typeface="Courier New" panose="02070309020205020404" pitchFamily="49" charset="0"/>
              </a:rPr>
              <a:t>  </a:t>
            </a:r>
            <a:r>
              <a:rPr lang="fr-FR" b="1" dirty="0" smtClean="0">
                <a:solidFill>
                  <a:schemeClr val="bg1"/>
                </a:solidFill>
                <a:latin typeface="Courier New" panose="02070309020205020404" pitchFamily="49" charset="0"/>
                <a:cs typeface="Courier New" panose="02070309020205020404" pitchFamily="49" charset="0"/>
              </a:rPr>
              <a:t>POINTER</a:t>
            </a:r>
            <a:r>
              <a:rPr lang="fr-FR" dirty="0" smtClean="0">
                <a:solidFill>
                  <a:schemeClr val="bg1"/>
                </a:solidFill>
                <a:latin typeface="Courier New" panose="02070309020205020404" pitchFamily="49" charset="0"/>
                <a:cs typeface="Courier New" panose="02070309020205020404" pitchFamily="49" charset="0"/>
              </a:rPr>
              <a:t>(</a:t>
            </a:r>
            <a:r>
              <a:rPr lang="fr-FR" dirty="0" err="1" smtClean="0">
                <a:solidFill>
                  <a:schemeClr val="bg1"/>
                </a:solidFill>
                <a:latin typeface="Courier New" panose="02070309020205020404" pitchFamily="49" charset="0"/>
                <a:cs typeface="Courier New" panose="02070309020205020404" pitchFamily="49" charset="0"/>
              </a:rPr>
              <a:t>addrspace</a:t>
            </a:r>
            <a:r>
              <a:rPr lang="fr-FR" dirty="0" smtClean="0">
                <a:solidFill>
                  <a:schemeClr val="bg1"/>
                </a:solidFill>
                <a:latin typeface="Courier New" panose="02070309020205020404" pitchFamily="49" charset="0"/>
                <a:cs typeface="Courier New" panose="02070309020205020404" pitchFamily="49" charset="0"/>
              </a:rPr>
              <a:t>=file</a:t>
            </a:r>
            <a:r>
              <a:rPr lang="fr-FR" dirty="0">
                <a:solidFill>
                  <a:schemeClr val="bg1"/>
                </a:solidFill>
                <a:latin typeface="Courier New" panose="02070309020205020404" pitchFamily="49" charset="0"/>
                <a:cs typeface="Courier New" panose="02070309020205020404" pitchFamily="49" charset="0"/>
              </a:rPr>
              <a:t>, type=ext4_journal)</a:t>
            </a:r>
          </a:p>
          <a:p>
            <a:r>
              <a:rPr lang="fr-FR" dirty="0" smtClean="0">
                <a:solidFill>
                  <a:schemeClr val="bg1"/>
                </a:solidFill>
                <a:latin typeface="Courier New" panose="02070309020205020404" pitchFamily="49" charset="0"/>
                <a:cs typeface="Courier New" panose="02070309020205020404" pitchFamily="49" charset="0"/>
              </a:rPr>
              <a:t>  __</a:t>
            </a:r>
            <a:r>
              <a:rPr lang="fr-FR" dirty="0">
                <a:solidFill>
                  <a:schemeClr val="bg1"/>
                </a:solidFill>
                <a:latin typeface="Courier New" panose="02070309020205020404" pitchFamily="49" charset="0"/>
                <a:cs typeface="Courier New" panose="02070309020205020404" pitchFamily="49" charset="0"/>
              </a:rPr>
              <a:t>le32 </a:t>
            </a:r>
            <a:r>
              <a:rPr lang="fr-FR" dirty="0" err="1">
                <a:solidFill>
                  <a:schemeClr val="bg1"/>
                </a:solidFill>
                <a:latin typeface="Courier New" panose="02070309020205020404" pitchFamily="49" charset="0"/>
                <a:cs typeface="Courier New" panose="02070309020205020404" pitchFamily="49" charset="0"/>
              </a:rPr>
              <a:t>s_journal_inum</a:t>
            </a:r>
            <a:r>
              <a:rPr lang="fr-FR" dirty="0">
                <a:solidFill>
                  <a:schemeClr val="bg1"/>
                </a:solidFill>
                <a:latin typeface="Courier New" panose="02070309020205020404" pitchFamily="49" charset="0"/>
                <a:cs typeface="Courier New" panose="02070309020205020404" pitchFamily="49" charset="0"/>
              </a:rPr>
              <a:t>;</a:t>
            </a:r>
            <a:endParaRPr lang="en-CA" dirty="0" smtClean="0">
              <a:solidFill>
                <a:schemeClr val="bg1"/>
              </a:solidFill>
              <a:latin typeface="Courier New" panose="02070309020205020404" pitchFamily="49" charset="0"/>
              <a:cs typeface="Courier New" panose="02070309020205020404" pitchFamily="49" charset="0"/>
            </a:endParaRPr>
          </a:p>
          <a:p>
            <a:r>
              <a:rPr lang="en-CA" dirty="0" smtClean="0">
                <a:solidFill>
                  <a:schemeClr val="bg1"/>
                </a:solidFill>
                <a:latin typeface="Courier New" panose="02070309020205020404" pitchFamily="49" charset="0"/>
                <a:cs typeface="Courier New" panose="02070309020205020404" pitchFamily="49" charset="0"/>
              </a:rPr>
              <a:t>};</a:t>
            </a:r>
            <a:endParaRPr lang="en-CA" dirty="0">
              <a:solidFill>
                <a:schemeClr val="bg1"/>
              </a:solidFill>
              <a:latin typeface="Courier New" panose="02070309020205020404" pitchFamily="49" charset="0"/>
              <a:cs typeface="Courier New" panose="02070309020205020404" pitchFamily="49" charset="0"/>
            </a:endParaRPr>
          </a:p>
        </p:txBody>
      </p:sp>
      <p:sp>
        <p:nvSpPr>
          <p:cNvPr id="13" name="Rectangle 12"/>
          <p:cNvSpPr/>
          <p:nvPr/>
        </p:nvSpPr>
        <p:spPr>
          <a:xfrm>
            <a:off x="5188490" y="4640965"/>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4" name="Rectangle 13"/>
          <p:cNvSpPr/>
          <p:nvPr/>
        </p:nvSpPr>
        <p:spPr>
          <a:xfrm>
            <a:off x="5269568" y="4706134"/>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15" name="Group 14"/>
          <p:cNvGrpSpPr/>
          <p:nvPr/>
        </p:nvGrpSpPr>
        <p:grpSpPr>
          <a:xfrm>
            <a:off x="7315660" y="4640965"/>
            <a:ext cx="2604519" cy="847281"/>
            <a:chOff x="24275265" y="2491036"/>
            <a:chExt cx="3327800" cy="1473330"/>
          </a:xfrm>
        </p:grpSpPr>
        <p:sp>
          <p:nvSpPr>
            <p:cNvPr id="16" name="Rectangle 15"/>
            <p:cNvSpPr/>
            <p:nvPr/>
          </p:nvSpPr>
          <p:spPr>
            <a:xfrm>
              <a:off x="24275265" y="2491036"/>
              <a:ext cx="3327800"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solidFill>
                  <a:schemeClr val="bg1"/>
                </a:solidFill>
              </a:endParaRPr>
            </a:p>
          </p:txBody>
        </p:sp>
        <p:sp>
          <p:nvSpPr>
            <p:cNvPr id="17" name="Rectangle 16"/>
            <p:cNvSpPr/>
            <p:nvPr/>
          </p:nvSpPr>
          <p:spPr>
            <a:xfrm>
              <a:off x="24366499" y="2604357"/>
              <a:ext cx="1771964" cy="572323"/>
            </a:xfrm>
            <a:prstGeom prst="rect">
              <a:avLst/>
            </a:prstGeom>
            <a:solidFill>
              <a:schemeClr val="tx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ext4 journal</a:t>
              </a:r>
              <a:endParaRPr lang="en-US" sz="1600" dirty="0">
                <a:solidFill>
                  <a:schemeClr val="bg1"/>
                </a:solidFill>
              </a:endParaRPr>
            </a:p>
          </p:txBody>
        </p:sp>
      </p:grpSp>
      <p:cxnSp>
        <p:nvCxnSpPr>
          <p:cNvPr id="18" name="Straight Arrow Connector 17"/>
          <p:cNvCxnSpPr>
            <a:stCxn id="13" idx="3"/>
            <a:endCxn id="16" idx="1"/>
          </p:cNvCxnSpPr>
          <p:nvPr/>
        </p:nvCxnSpPr>
        <p:spPr>
          <a:xfrm>
            <a:off x="6194893" y="5064606"/>
            <a:ext cx="1120765"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6219436" y="4640965"/>
            <a:ext cx="1061509" cy="338554"/>
          </a:xfrm>
          <a:prstGeom prst="rect">
            <a:avLst/>
          </a:prstGeom>
          <a:noFill/>
        </p:spPr>
        <p:txBody>
          <a:bodyPr wrap="none" rtlCol="0">
            <a:spAutoFit/>
          </a:bodyPr>
          <a:lstStyle/>
          <a:p>
            <a:r>
              <a:rPr lang="en-CA" sz="1600" i="1" dirty="0">
                <a:solidFill>
                  <a:schemeClr val="bg1"/>
                </a:solidFill>
              </a:rPr>
              <a:t>file </a:t>
            </a:r>
            <a:r>
              <a:rPr lang="en-CA" sz="1600" i="1" dirty="0" err="1">
                <a:solidFill>
                  <a:schemeClr val="bg1"/>
                </a:solidFill>
              </a:rPr>
              <a:t>addr</a:t>
            </a:r>
            <a:r>
              <a:rPr lang="en-CA" sz="1600" i="1" dirty="0">
                <a:solidFill>
                  <a:schemeClr val="bg1"/>
                </a:solidFill>
              </a:rPr>
              <a:t>.</a:t>
            </a:r>
          </a:p>
        </p:txBody>
      </p:sp>
    </p:spTree>
    <p:extLst>
      <p:ext uri="{BB962C8B-B14F-4D97-AF65-F5344CB8AC3E}">
        <p14:creationId xmlns:p14="http://schemas.microsoft.com/office/powerpoint/2010/main" val="66006945"/>
      </p:ext>
    </p:extLst>
  </p:cSld>
  <p:clrMapOvr>
    <a:masterClrMapping/>
  </p:clrMapOvr>
</p:sld>
</file>

<file path=ppt/theme/theme1.xml><?xml version="1.0" encoding="utf-8"?>
<a:theme xmlns:a="http://schemas.openxmlformats.org/drawingml/2006/main" name="Slice">
  <a:themeElements>
    <a:clrScheme name="University of Toronto">
      <a:dk1>
        <a:srgbClr val="000000"/>
      </a:dk1>
      <a:lt1>
        <a:srgbClr val="FFFFFF"/>
      </a:lt1>
      <a:dk2>
        <a:srgbClr val="ACE9F8"/>
      </a:dk2>
      <a:lt2>
        <a:srgbClr val="0F486F"/>
      </a:lt2>
      <a:accent1>
        <a:srgbClr val="062958"/>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3367</TotalTime>
  <Words>5725</Words>
  <Application>Microsoft Office PowerPoint</Application>
  <PresentationFormat>Widescreen</PresentationFormat>
  <Paragraphs>680</Paragraphs>
  <Slides>40</Slides>
  <Notes>38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40</vt:i4>
      </vt:variant>
    </vt:vector>
  </HeadingPairs>
  <TitlesOfParts>
    <vt:vector size="47" baseType="lpstr">
      <vt:lpstr>微軟正黑體</vt:lpstr>
      <vt:lpstr>Arial</vt:lpstr>
      <vt:lpstr>Calibri</vt:lpstr>
      <vt:lpstr>Century Gothic</vt:lpstr>
      <vt:lpstr>Courier New</vt:lpstr>
      <vt:lpstr>Wingdings 3</vt:lpstr>
      <vt:lpstr>Slice</vt:lpstr>
      <vt:lpstr>Spiffy: Enabling File-System Aware Storage Applications </vt:lpstr>
      <vt:lpstr>Introduction</vt:lpstr>
      <vt:lpstr>Problem</vt:lpstr>
      <vt:lpstr>Root Cause</vt:lpstr>
      <vt:lpstr>Goals</vt:lpstr>
      <vt:lpstr>Approach: Spiffy Framework</vt:lpstr>
      <vt:lpstr>Specifying Format</vt:lpstr>
      <vt:lpstr>Generating Library</vt:lpstr>
      <vt:lpstr> Building Applications</vt:lpstr>
      <vt:lpstr>Talk Outline</vt:lpstr>
      <vt:lpstr>Need for Annotations</vt:lpstr>
      <vt:lpstr>Need for Annotations</vt:lpstr>
      <vt:lpstr>Pointer Annotations</vt:lpstr>
      <vt:lpstr>Pointer Address Space</vt:lpstr>
      <vt:lpstr>Block Address Space</vt:lpstr>
      <vt:lpstr>File Address Space</vt:lpstr>
      <vt:lpstr>Missing Pointer</vt:lpstr>
      <vt:lpstr>Implicit Pointer</vt:lpstr>
      <vt:lpstr>Context-Sensitive Types</vt:lpstr>
      <vt:lpstr>Check Annotations</vt:lpstr>
      <vt:lpstr>Evaluation: Annotation Effort</vt:lpstr>
      <vt:lpstr>Building Applications</vt:lpstr>
      <vt:lpstr>Manually-Written Application</vt:lpstr>
      <vt:lpstr>Manually-Written Application</vt:lpstr>
      <vt:lpstr>Manually-Written Application</vt:lpstr>
      <vt:lpstr>Application Using Spiffy Library</vt:lpstr>
      <vt:lpstr>Application Using Spiffy Library</vt:lpstr>
      <vt:lpstr>Application Using Spiffy Library</vt:lpstr>
      <vt:lpstr>Spiffy Btrfs Application</vt:lpstr>
      <vt:lpstr>Spiffy Applications</vt:lpstr>
      <vt:lpstr>Type-Specific File System Corruptor</vt:lpstr>
      <vt:lpstr>File System Conversion Tool</vt:lpstr>
      <vt:lpstr>Evaluation: Ext4 to F2FS Converter</vt:lpstr>
      <vt:lpstr>File-system Aware Block Layer Cache</vt:lpstr>
      <vt:lpstr>Conclusion</vt:lpstr>
      <vt:lpstr>Evaluation: Programming Effort</vt:lpstr>
      <vt:lpstr>Evaluation: Corruption Experiment</vt:lpstr>
      <vt:lpstr>Evaluation: Preferential Caching</vt:lpstr>
      <vt:lpstr>F2FS NID Address Space</vt:lpstr>
      <vt:lpstr>FSSUPER Annotation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Jack Sun</dc:creator>
  <cp:lastModifiedBy>Ashvin Goel</cp:lastModifiedBy>
  <cp:revision>294</cp:revision>
  <dcterms:created xsi:type="dcterms:W3CDTF">2018-01-30T09:02:25Z</dcterms:created>
  <dcterms:modified xsi:type="dcterms:W3CDTF">2018-02-09T23:50:20Z</dcterms:modified>
</cp:coreProperties>
</file>