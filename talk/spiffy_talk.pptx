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4"/>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0" r:id="rId16"/>
    <p:sldId id="300" r:id="rId17"/>
    <p:sldId id="302" r:id="rId18"/>
    <p:sldId id="311" r:id="rId19"/>
    <p:sldId id="283" r:id="rId20"/>
    <p:sldId id="306" r:id="rId21"/>
    <p:sldId id="271" r:id="rId22"/>
    <p:sldId id="268" r:id="rId23"/>
    <p:sldId id="312" r:id="rId24"/>
    <p:sldId id="267" r:id="rId25"/>
    <p:sldId id="279" r:id="rId26"/>
    <p:sldId id="280" r:id="rId27"/>
    <p:sldId id="259" r:id="rId28"/>
    <p:sldId id="281" r:id="rId29"/>
    <p:sldId id="258" r:id="rId30"/>
    <p:sldId id="261" r:id="rId31"/>
    <p:sldId id="260" r:id="rId32"/>
    <p:sldId id="297"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434" autoAdjust="0"/>
  </p:normalViewPr>
  <p:slideViewPr>
    <p:cSldViewPr snapToGrid="0">
      <p:cViewPr>
        <p:scale>
          <a:sx n="100" d="100"/>
          <a:sy n="100" d="100"/>
        </p:scale>
        <p:origin x="-240" y="-8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ser>
        <c:dLbls>
          <c:showLegendKey val="0"/>
          <c:showVal val="0"/>
          <c:showCatName val="0"/>
          <c:showSerName val="0"/>
          <c:showPercent val="0"/>
          <c:showBubbleSize val="0"/>
        </c:dLbls>
        <c:marker val="1"/>
        <c:smooth val="0"/>
        <c:axId val="352256448"/>
        <c:axId val="352253704"/>
      </c:lineChart>
      <c:catAx>
        <c:axId val="352256448"/>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352253704"/>
        <c:crosses val="autoZero"/>
        <c:auto val="0"/>
        <c:lblAlgn val="ctr"/>
        <c:lblOffset val="100"/>
        <c:noMultiLvlLbl val="0"/>
      </c:catAx>
      <c:valAx>
        <c:axId val="352253704"/>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352256448"/>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352258408"/>
        <c:axId val="352254096"/>
      </c:barChart>
      <c:catAx>
        <c:axId val="352258408"/>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2254096"/>
        <c:crosses val="autoZero"/>
        <c:auto val="1"/>
        <c:lblAlgn val="ctr"/>
        <c:lblOffset val="100"/>
        <c:noMultiLvlLbl val="1"/>
      </c:catAx>
      <c:valAx>
        <c:axId val="352254096"/>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2258408"/>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t>
            </a:r>
            <a:r>
              <a:rPr lang="en-CA" baseline="0" dirty="0" smtClean="0"/>
              <a:t>about Spiffy, a framework for writing robust file </a:t>
            </a:r>
            <a:r>
              <a:rPr lang="en-CA" baseline="0" dirty="0" smtClean="0"/>
              <a:t>system aware storage applications</a:t>
            </a:r>
            <a:r>
              <a:rPr lang="en-CA" baseline="0" dirty="0" smtClean="0"/>
              <a:t>.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a:t>
            </a:r>
            <a:r>
              <a:rPr lang="en-CA" dirty="0" smtClean="0"/>
              <a:t>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a:t>
            </a:r>
            <a:r>
              <a:rPr lang="en-CA" dirty="0" smtClean="0"/>
              <a:t>editor, </a:t>
            </a:r>
            <a:r>
              <a:rPr lang="en-CA" dirty="0" smtClean="0"/>
              <a:t>a file </a:t>
            </a:r>
            <a:r>
              <a:rPr lang="en-CA" dirty="0" smtClean="0"/>
              <a:t>system</a:t>
            </a:r>
            <a:r>
              <a:rPr lang="en-CA" baseline="0" dirty="0" smtClean="0"/>
              <a:t> checker, and </a:t>
            </a:r>
            <a:r>
              <a:rPr lang="en-CA" baseline="0" dirty="0" smtClean="0"/>
              <a:t>a defragmentation tool. </a:t>
            </a:r>
            <a:r>
              <a:rPr lang="en-CA" baseline="0" dirty="0" smtClean="0"/>
              <a:t>These </a:t>
            </a:r>
            <a:r>
              <a:rPr lang="en-CA" baseline="0" dirty="0" smtClean="0"/>
              <a:t>applications o</a:t>
            </a:r>
            <a:r>
              <a:rPr lang="en-CA" dirty="0" smtClean="0"/>
              <a:t>perate </a:t>
            </a:r>
            <a:r>
              <a:rPr lang="en-CA" dirty="0" smtClean="0"/>
              <a:t>directly on file system metadata structures on</a:t>
            </a:r>
            <a:r>
              <a:rPr lang="en-CA" baseline="0" dirty="0" smtClean="0"/>
              <a:t> </a:t>
            </a:r>
            <a:r>
              <a:rPr lang="en-CA" baseline="0" dirty="0" smtClean="0"/>
              <a:t>disk while bypassing </a:t>
            </a:r>
            <a:r>
              <a:rPr lang="en-CA" baseline="0" dirty="0" smtClean="0"/>
              <a:t>the VFS layer. Therefore, writing file-system aware applications </a:t>
            </a:r>
            <a:r>
              <a:rPr lang="en-CA" sz="1200" b="0" i="0" u="none" strike="noStrike" kern="1200" baseline="0" dirty="0" smtClean="0">
                <a:solidFill>
                  <a:schemeClr val="tx1"/>
                </a:solidFill>
                <a:latin typeface="+mn-lt"/>
                <a:ea typeface="+mn-ea"/>
                <a:cs typeface="+mn-cs"/>
              </a:rPr>
              <a:t>requires </a:t>
            </a:r>
            <a:r>
              <a:rPr lang="en-CA" sz="1200" b="0" i="0" u="none" strike="noStrike" kern="1200" baseline="0" dirty="0" smtClean="0">
                <a:solidFill>
                  <a:schemeClr val="tx1"/>
                </a:solidFill>
                <a:latin typeface="+mn-lt"/>
                <a:ea typeface="+mn-ea"/>
                <a:cs typeface="+mn-cs"/>
              </a:rPr>
              <a:t>detailed </a:t>
            </a:r>
            <a:r>
              <a:rPr lang="en-CA" sz="1200" b="0" i="0" u="none" strike="noStrike" kern="1200" baseline="0" dirty="0" smtClean="0">
                <a:solidFill>
                  <a:schemeClr val="tx1"/>
                </a:solidFill>
                <a:latin typeface="+mn-lt"/>
                <a:ea typeface="+mn-ea"/>
                <a:cs typeface="+mn-cs"/>
              </a:rPr>
              <a:t>understanding of the file system format, including the ability to identify and interpret file system structures. These applications are essential for the successful deployment of a file system, </a:t>
            </a:r>
            <a:r>
              <a:rPr lang="en-CA" sz="1200" b="0" i="0" u="none" strike="noStrike" kern="1200" baseline="0" dirty="0" smtClean="0">
                <a:solidFill>
                  <a:schemeClr val="tx1"/>
                </a:solidFill>
                <a:latin typeface="+mn-lt"/>
                <a:ea typeface="+mn-ea"/>
                <a:cs typeface="+mn-cs"/>
              </a:rPr>
              <a:t>since, for example, people will likely use </a:t>
            </a:r>
            <a:r>
              <a:rPr lang="en-CA" sz="1200" b="0" i="0" u="none" strike="noStrike" kern="1200" baseline="0" dirty="0" smtClean="0">
                <a:solidFill>
                  <a:schemeClr val="tx1"/>
                </a:solidFill>
                <a:latin typeface="+mn-lt"/>
                <a:ea typeface="+mn-ea"/>
                <a:cs typeface="+mn-cs"/>
              </a:rPr>
              <a:t>a file </a:t>
            </a:r>
            <a:r>
              <a:rPr lang="en-CA" sz="1200" b="0" i="0" u="none" strike="noStrike" kern="1200" baseline="0" dirty="0" smtClean="0">
                <a:solidFill>
                  <a:schemeClr val="tx1"/>
                </a:solidFill>
                <a:latin typeface="+mn-lt"/>
                <a:ea typeface="+mn-ea"/>
                <a:cs typeface="+mn-cs"/>
              </a:rPr>
              <a:t>system only if it comes </a:t>
            </a:r>
            <a:r>
              <a:rPr lang="en-CA" sz="1200" b="0" i="0" u="none" strike="noStrike" kern="1200" baseline="0" dirty="0" smtClean="0">
                <a:solidFill>
                  <a:schemeClr val="tx1"/>
                </a:solidFill>
                <a:latin typeface="+mn-lt"/>
                <a:ea typeface="+mn-ea"/>
                <a:cs typeface="+mn-cs"/>
              </a:rPr>
              <a:t>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a:t>
            </a:r>
            <a:r>
              <a:rPr lang="en-CA" dirty="0" smtClean="0"/>
              <a:t>system</a:t>
            </a:r>
            <a:r>
              <a:rPr lang="en-CA" baseline="0" dirty="0" smtClean="0"/>
              <a:t> </a:t>
            </a:r>
            <a:r>
              <a:rPr lang="en-CA" dirty="0" smtClean="0"/>
              <a:t>experts.</a:t>
            </a:r>
            <a:r>
              <a:rPr lang="en-CA" baseline="0" dirty="0" smtClean="0"/>
              <a:t> Even so, these tools have bugs, </a:t>
            </a:r>
            <a:r>
              <a:rPr lang="en-CA" baseline="0" dirty="0" smtClean="0"/>
              <a:t>and these bugs can lead to system crashes, data corruption, and security vulnerability. For example, </a:t>
            </a:r>
            <a:r>
              <a:rPr lang="en-CA" baseline="0" dirty="0" smtClean="0"/>
              <a:t>the </a:t>
            </a:r>
            <a:r>
              <a:rPr lang="en-CA" baseline="0" dirty="0" err="1" smtClean="0"/>
              <a:t>ntfsprogs</a:t>
            </a:r>
            <a:r>
              <a:rPr lang="en-CA" baseline="0" dirty="0" smtClean="0"/>
              <a:t> </a:t>
            </a:r>
            <a:r>
              <a:rPr lang="en-CA" baseline="0" dirty="0" smtClean="0"/>
              <a:t>library </a:t>
            </a:r>
            <a:r>
              <a:rPr lang="en-CA" baseline="0" dirty="0" smtClean="0"/>
              <a:t>had a bug that </a:t>
            </a:r>
            <a:r>
              <a:rPr lang="en-CA" baseline="0" dirty="0" smtClean="0"/>
              <a:t>was caused by misinterpreting the NTFS metadata. The size of </a:t>
            </a:r>
            <a:r>
              <a:rPr lang="en-CA" baseline="0" dirty="0" smtClean="0"/>
              <a:t>the master file table or MFT </a:t>
            </a:r>
            <a:r>
              <a:rPr lang="en-CA" baseline="0" dirty="0" smtClean="0"/>
              <a:t>record can be interpreted in two </a:t>
            </a:r>
            <a:r>
              <a:rPr lang="en-CA" baseline="0" dirty="0" smtClean="0"/>
              <a:t>ways: it is the </a:t>
            </a:r>
            <a:r>
              <a:rPr lang="en-CA" baseline="0" dirty="0" smtClean="0"/>
              <a:t>number of clusters per </a:t>
            </a:r>
            <a:r>
              <a:rPr lang="en-CA" baseline="0" dirty="0" smtClean="0"/>
              <a:t>record if the value is positive, otherwise it </a:t>
            </a:r>
            <a:r>
              <a:rPr lang="en-CA" baseline="0" dirty="0" smtClean="0"/>
              <a:t>is two to the power of the absolute value of the </a:t>
            </a:r>
            <a:r>
              <a:rPr lang="en-CA" baseline="0" dirty="0" smtClean="0"/>
              <a:t>field, if the value is </a:t>
            </a:r>
            <a:r>
              <a:rPr lang="en-CA" baseline="0" dirty="0" err="1" smtClean="0"/>
              <a:t>negatve</a:t>
            </a:r>
            <a:r>
              <a:rPr lang="en-CA" baseline="0" dirty="0" smtClean="0"/>
              <a:t>. Unsurprisingly, </a:t>
            </a:r>
            <a:r>
              <a:rPr lang="en-CA" baseline="0" dirty="0" smtClean="0"/>
              <a:t>the </a:t>
            </a:r>
            <a:r>
              <a:rPr lang="en-CA" baseline="0" dirty="0" err="1" smtClean="0"/>
              <a:t>ntfsprogs</a:t>
            </a:r>
            <a:r>
              <a:rPr lang="en-CA" baseline="0" dirty="0" smtClean="0"/>
              <a:t> library used to </a:t>
            </a:r>
            <a:r>
              <a:rPr lang="en-CA" baseline="0" dirty="0" smtClean="0"/>
              <a:t>misinterpret this field, and corrupt </a:t>
            </a:r>
            <a:r>
              <a:rPr lang="en-CA" baseline="0" dirty="0" smtClean="0"/>
              <a:t>file systems </a:t>
            </a:r>
            <a:r>
              <a:rPr lang="en-CA" baseline="0" dirty="0" smtClean="0"/>
              <a:t>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a:t>
            </a:r>
            <a:r>
              <a:rPr lang="en-CA" baseline="0" dirty="0" smtClean="0"/>
              <a:t>write because the file </a:t>
            </a:r>
            <a:r>
              <a:rPr lang="en-CA" baseline="0" dirty="0" smtClean="0"/>
              <a:t>system format is </a:t>
            </a:r>
            <a:r>
              <a:rPr lang="en-CA" baseline="0" dirty="0" smtClean="0"/>
              <a:t>complex and poorly documented. These a</a:t>
            </a:r>
            <a:r>
              <a:rPr lang="en-CA" dirty="0" smtClean="0"/>
              <a:t>pplications </a:t>
            </a:r>
            <a:r>
              <a:rPr lang="en-CA" dirty="0" smtClean="0"/>
              <a:t>require detailed knowledge </a:t>
            </a:r>
            <a:r>
              <a:rPr lang="en-CA" baseline="0" dirty="0" smtClean="0"/>
              <a:t>for traversing and </a:t>
            </a:r>
            <a:r>
              <a:rPr lang="en-CA" baseline="0" dirty="0" smtClean="0"/>
              <a:t>processing file system </a:t>
            </a:r>
            <a:r>
              <a:rPr lang="en-CA" baseline="0" dirty="0" smtClean="0"/>
              <a:t>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a:t>
            </a:r>
            <a:r>
              <a:rPr lang="en-CA" baseline="0" dirty="0" smtClean="0"/>
              <a:t>In addition, </a:t>
            </a:r>
            <a:r>
              <a:rPr lang="en-CA" baseline="0" dirty="0" smtClean="0"/>
              <a:t>these applications need to be robust to file </a:t>
            </a:r>
            <a:r>
              <a:rPr lang="en-CA" baseline="0" dirty="0" smtClean="0"/>
              <a:t>system </a:t>
            </a:r>
            <a:r>
              <a:rPr lang="en-CA" baseline="0" dirty="0" smtClean="0"/>
              <a:t>corruption, or else they can crash or cause even more corruption.</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a:t>
            </a:r>
            <a:r>
              <a:rPr lang="en-CA" baseline="0" dirty="0" smtClean="0"/>
              <a:t>in two ways. First, we would like to reduce the amount of file-system specific code that application </a:t>
            </a:r>
            <a:r>
              <a:rPr lang="en-CA" baseline="0" dirty="0" smtClean="0"/>
              <a:t>developers </a:t>
            </a:r>
            <a:r>
              <a:rPr lang="en-CA" baseline="0" dirty="0" smtClean="0"/>
              <a:t>have to write. Second, we would like to make it easier to write applications that work for multiple </a:t>
            </a:r>
            <a:r>
              <a:rPr lang="en-CA" baseline="0" dirty="0" smtClean="0"/>
              <a:t>file systems. We also want to improve the robustness of these </a:t>
            </a:r>
            <a:r>
              <a:rPr lang="en-CA" baseline="0" dirty="0" smtClean="0"/>
              <a:t>applications. In particular, we would like to enable </a:t>
            </a:r>
            <a:r>
              <a:rPr lang="en-CA" baseline="0" dirty="0" smtClean="0"/>
              <a:t>correct traversal of file system metadata, and </a:t>
            </a:r>
            <a:r>
              <a:rPr lang="en-CA" baseline="0" dirty="0" smtClean="0"/>
              <a:t>ensure type-safe </a:t>
            </a:r>
            <a:r>
              <a:rPr lang="en-CA" baseline="0" dirty="0" smtClean="0"/>
              <a:t>access to file system metadata structures. Type-safe access helps with detecting corruption when reading metadata from disk, and also before writing metadata out to disk. This in turn helps reduce error propagation and further corruption from </a:t>
            </a:r>
            <a:r>
              <a:rPr lang="en-CA" baseline="0" dirty="0" smtClean="0"/>
              <a:t>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a:t>
            </a:r>
            <a:r>
              <a:rPr lang="en-CA" baseline="0" dirty="0" smtClean="0"/>
              <a:t>the Spiffy </a:t>
            </a:r>
            <a:r>
              <a:rPr lang="en-CA" baseline="0" dirty="0" smtClean="0"/>
              <a:t>framework that </a:t>
            </a:r>
            <a:r>
              <a:rPr lang="en-CA" baseline="0" dirty="0" smtClean="0"/>
              <a:t>help developers with building file-system aware applications. The main idea is to have file system developers specify the format of their file </a:t>
            </a:r>
            <a:r>
              <a:rPr lang="en-CA" baseline="0" dirty="0" smtClean="0"/>
              <a:t>system. With this specification, we </a:t>
            </a:r>
            <a:r>
              <a:rPr lang="en-CA" baseline="0" dirty="0" smtClean="0"/>
              <a:t>can </a:t>
            </a:r>
            <a:r>
              <a:rPr lang="en-CA" baseline="0" dirty="0" smtClean="0"/>
              <a:t>generate the Spiffy </a:t>
            </a:r>
            <a:r>
              <a:rPr lang="en-CA" baseline="0" dirty="0" smtClean="0"/>
              <a:t>parsing and serialization </a:t>
            </a:r>
            <a:r>
              <a:rPr lang="en-CA" baseline="0" dirty="0" smtClean="0"/>
              <a:t>library. </a:t>
            </a:r>
            <a:r>
              <a:rPr lang="en-CA" baseline="0" dirty="0" smtClean="0"/>
              <a:t>Application developers can then use the </a:t>
            </a:r>
            <a:r>
              <a:rPr lang="en-CA" baseline="0" dirty="0" smtClean="0"/>
              <a:t>Spiffy library </a:t>
            </a:r>
            <a:r>
              <a:rPr lang="en-CA" baseline="0" dirty="0" smtClean="0"/>
              <a:t>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a:t>
            </a:r>
            <a:r>
              <a:rPr lang="en-CA" baseline="0" dirty="0" smtClean="0"/>
              <a:t>that </a:t>
            </a:r>
            <a:r>
              <a:rPr lang="en-CA" baseline="0" dirty="0" smtClean="0"/>
              <a:t>provides </a:t>
            </a:r>
            <a:r>
              <a:rPr lang="en-CA" baseline="0" dirty="0" smtClean="0"/>
              <a:t>a generic API for type-safe </a:t>
            </a:r>
            <a:r>
              <a:rPr lang="en-CA" baseline="0" dirty="0" smtClean="0"/>
              <a:t>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a:t>
            </a:r>
            <a:r>
              <a:rPr lang="en-CA" baseline="0" dirty="0" smtClean="0"/>
              <a:t>it is easier for developers to build applications </a:t>
            </a:r>
            <a:r>
              <a:rPr lang="en-CA" baseline="0" dirty="0" smtClean="0"/>
              <a:t>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a:t>
            </a:r>
            <a:r>
              <a:rPr lang="en-CA" baseline="0" dirty="0" smtClean="0"/>
              <a:t>robust, and generic </a:t>
            </a:r>
            <a:r>
              <a:rPr lang="en-CA" baseline="0" dirty="0" smtClean="0"/>
              <a:t>file-system applications. Now we will talk about </a:t>
            </a:r>
            <a:r>
              <a:rPr lang="en-CA" baseline="0" dirty="0" smtClean="0"/>
              <a:t>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a:t>
            </a:r>
            <a:r>
              <a:rPr lang="en-CA" baseline="0" dirty="0" smtClean="0"/>
              <a:t>need a complete specification of the file system </a:t>
            </a:r>
            <a:r>
              <a:rPr lang="en-CA" baseline="0" dirty="0" smtClean="0"/>
              <a:t>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a:t>
            </a:r>
            <a:r>
              <a:rPr lang="en-CA" baseline="0" dirty="0" smtClean="0"/>
              <a:t>we </a:t>
            </a:r>
            <a:r>
              <a:rPr lang="en-CA" baseline="0" dirty="0" smtClean="0"/>
              <a:t>should be able to extract </a:t>
            </a:r>
            <a:r>
              <a:rPr lang="en-CA" baseline="0" dirty="0" smtClean="0"/>
              <a:t>the </a:t>
            </a:r>
            <a:r>
              <a:rPr lang="en-CA" baseline="0" dirty="0" smtClean="0"/>
              <a:t>format specification </a:t>
            </a:r>
            <a:r>
              <a:rPr lang="en-CA" baseline="0" dirty="0" smtClean="0"/>
              <a:t>from </a:t>
            </a:r>
            <a:r>
              <a:rPr lang="en-CA" baseline="0" dirty="0" smtClean="0"/>
              <a:t>the metadata </a:t>
            </a:r>
            <a:r>
              <a:rPr lang="en-CA" baseline="0" dirty="0" smtClean="0"/>
              <a:t>structure </a:t>
            </a:r>
            <a:r>
              <a:rPr lang="en-CA" baseline="0" dirty="0" smtClean="0"/>
              <a:t>definitions </a:t>
            </a:r>
            <a:r>
              <a:rPr lang="en-CA" baseline="0" dirty="0" smtClean="0"/>
              <a:t>in existing source code. However, </a:t>
            </a:r>
            <a:r>
              <a:rPr lang="en-CA" baseline="0" dirty="0" smtClean="0"/>
              <a:t>these structure </a:t>
            </a:r>
            <a:r>
              <a:rPr lang="en-CA" baseline="0" dirty="0" smtClean="0"/>
              <a:t>definitions </a:t>
            </a:r>
            <a:r>
              <a:rPr lang="en-CA" baseline="0" dirty="0" smtClean="0"/>
              <a:t>do </a:t>
            </a:r>
            <a:r>
              <a:rPr lang="en-CA" baseline="0" dirty="0" smtClean="0"/>
              <a:t>*not* completely describe their actual format on disk. For example, </a:t>
            </a:r>
            <a:r>
              <a:rPr lang="en-CA" baseline="0" dirty="0" smtClean="0"/>
              <a:t>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a:t>
            </a:r>
            <a:r>
              <a:rPr lang="en-CA" baseline="0" dirty="0" smtClean="0"/>
              <a:t>solution </a:t>
            </a:r>
            <a:r>
              <a:rPr lang="en-CA" baseline="0" dirty="0" smtClean="0"/>
              <a:t>is to annotate this metadata </a:t>
            </a:r>
            <a:r>
              <a:rPr lang="en-CA" baseline="0" dirty="0" smtClean="0"/>
              <a:t>structure </a:t>
            </a:r>
            <a:r>
              <a:rPr lang="en-CA" baseline="0" dirty="0" smtClean="0"/>
              <a:t>so </a:t>
            </a:r>
            <a:r>
              <a:rPr lang="en-CA" baseline="0" dirty="0" smtClean="0"/>
              <a:t>that we can unambiguously specify </a:t>
            </a:r>
            <a:r>
              <a:rPr lang="en-CA" baseline="0" dirty="0" smtClean="0"/>
              <a:t>this missing </a:t>
            </a:r>
            <a:r>
              <a:rPr lang="en-CA" baseline="0" dirty="0" smtClean="0"/>
              <a:t>information</a:t>
            </a:r>
            <a:r>
              <a:rPr lang="en-CA" baseline="0" dirty="0" smtClean="0"/>
              <a:t>.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 I</a:t>
            </a:r>
            <a:r>
              <a:rPr lang="en-CA" dirty="0" smtClean="0"/>
              <a:t>n</a:t>
            </a:r>
            <a:r>
              <a:rPr lang="en-CA" baseline="0" dirty="0" smtClean="0"/>
              <a:t> contrast, all in-</a:t>
            </a:r>
            <a:r>
              <a:rPr lang="en-CA" dirty="0" smtClean="0"/>
              <a:t>memory virtual</a:t>
            </a:r>
            <a:r>
              <a:rPr lang="en-CA" baseline="0" dirty="0" smtClean="0"/>
              <a:t> addresses are </a:t>
            </a:r>
            <a:r>
              <a:rPr lang="en-CA" dirty="0" smtClean="0"/>
              <a:t>translated</a:t>
            </a:r>
            <a:r>
              <a:rPr lang="en-CA" baseline="0" dirty="0" smtClean="0"/>
              <a:t> to physical  addresses using a single translation scheme.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For example, in the block address space, an address is simply the block number in the file system. In the file address space, an address is an </a:t>
            </a:r>
            <a:r>
              <a:rPr lang="en-CA" baseline="0" dirty="0" err="1" smtClean="0"/>
              <a:t>inode</a:t>
            </a:r>
            <a:r>
              <a:rPr lang="en-CA" baseline="0" dirty="0" smtClean="0"/>
              <a:t> number that identifies a specific file. For example, the </a:t>
            </a:r>
            <a:r>
              <a:rPr lang="en-CA" baseline="0" dirty="0" smtClean="0"/>
              <a:t>Ext4 journal is stored on disk as a regular </a:t>
            </a:r>
            <a:r>
              <a:rPr lang="en-CA" baseline="0" dirty="0" smtClean="0"/>
              <a:t>file, and a field in the super block stores the </a:t>
            </a:r>
            <a:r>
              <a:rPr lang="en-CA" baseline="0" dirty="0" err="1" smtClean="0"/>
              <a:t>inode</a:t>
            </a:r>
            <a:r>
              <a:rPr lang="en-CA" baseline="0" dirty="0" smtClean="0"/>
              <a:t> number of the journal. We specify this field as a pointer to the Ext4 journal in the file address space.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Therefore</a:t>
            </a:r>
            <a:r>
              <a:rPr lang="en-CA" baseline="0" dirty="0" smtClean="0"/>
              <a:t>, finding the Ext4 journal involves reading its </a:t>
            </a:r>
            <a:r>
              <a:rPr lang="en-CA" baseline="0" dirty="0" err="1" smtClean="0"/>
              <a:t>inode</a:t>
            </a:r>
            <a:r>
              <a:rPr lang="en-CA" baseline="0" dirty="0" smtClean="0"/>
              <a:t> structure. To solve this problem, each pointer also has an associated address space to indicate how its address should be mapped to physical location.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In the first pointer annotation, we see that the address for the ext4 journal in is the file address space like we just mentioned.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41037089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Sometimes, however,</a:t>
            </a:r>
            <a:r>
              <a:rPr lang="en-CA" baseline="0" dirty="0" smtClean="0"/>
              <a:t> an expression in the annotations may require references to fields in a different structure. We call this cross-structure dependencies. For example, the size of an ext4 </a:t>
            </a:r>
            <a:r>
              <a:rPr lang="en-CA" baseline="0" dirty="0" err="1" smtClean="0"/>
              <a:t>inode</a:t>
            </a:r>
            <a:r>
              <a:rPr lang="en-CA" baseline="0" dirty="0" smtClean="0"/>
              <a:t> is stored in a field in the super block. Next, many file system metadata are context-sensitive. For example, pointers may point to different types of metadata. In the case of an </a:t>
            </a:r>
            <a:r>
              <a:rPr lang="en-CA" baseline="0" dirty="0" err="1" smtClean="0"/>
              <a:t>inode</a:t>
            </a:r>
            <a:r>
              <a:rPr lang="en-CA" baseline="0" dirty="0" smtClean="0"/>
              <a:t>, its pointers may point to directory blocks, if the </a:t>
            </a:r>
            <a:r>
              <a:rPr lang="en-CA" baseline="0" dirty="0" err="1" smtClean="0"/>
              <a:t>inode</a:t>
            </a:r>
            <a:r>
              <a:rPr lang="en-CA" baseline="0" dirty="0" smtClean="0"/>
              <a:t> is a directory, otherwise they point to data blocks. Similarly, some structures may have optional fields, such as an ext4 </a:t>
            </a:r>
            <a:r>
              <a:rPr lang="en-CA" baseline="0" dirty="0" err="1" smtClean="0"/>
              <a:t>inode</a:t>
            </a:r>
            <a:r>
              <a:rPr lang="en-CA" baseline="0" dirty="0" smtClean="0"/>
              <a:t>, which can store extended attributes if its size is greater than 128. Lastly, constraint checking is important to help with detecting corruption in metadata structures.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16</a:t>
            </a:fld>
            <a:endParaRPr lang="en-CA"/>
          </a:p>
        </p:txBody>
      </p:sp>
    </p:spTree>
    <p:extLst>
      <p:ext uri="{BB962C8B-B14F-4D97-AF65-F5344CB8AC3E}">
        <p14:creationId xmlns:p14="http://schemas.microsoft.com/office/powerpoint/2010/main" val="2259219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2926037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a:t>
            </a:r>
            <a:r>
              <a:rPr lang="en-CA" baseline="0" dirty="0" smtClean="0"/>
              <a:t> we show an example of the code that the Spiffy compiler generates from the annotations. On the right side, we have a fragment of the generated parsing code for the Ext4 super block. We currently generate a C++ class for every annotated class and its fields. This allows us to implement type-safe parsing and serialization, as shown in the example. The CHECK annotation, which supports constraints checking, contains expressions which is verified at runtime during parsing and serialization, to ensure that the metadata is type-safe.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In all cases, the annotation added to file system metadata definitions is approximately one forth of the total line count. We also needed to handle some special situations while annotating the file system. For example, some metadata structures are not explicitly declared, as is the case for Ext4 indirect blocks, which is just an array of pointers so the Ext4 developers decides to omit their definition. We sometimes also needed make some minor change the structure definition so that our annotation language can correctly annotate it. This does not affect the correctness of the specification or the format of the file system, but we do count the changes as part of the annotation effort.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19</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you an example of building a file-system</a:t>
            </a:r>
            <a:r>
              <a:rPr lang="en-CA" baseline="0" dirty="0" smtClean="0"/>
              <a:t> aware application: a free space display tool which plots a histogram of the sizes of free extents available in a file system image. First, we show how an application developer would go about building the tool manually, then we show how using Spiffy reduces programming effort. To manually build a free space tool, a developer must first study available documentation on the format of a file system to learn about its block allocation scheme. Then the developer would have to go through trial-and-error to write code that will locate the relevant metadata so that he or she can process them.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needs to traverse through the Ext4 file system to find the bitmaps that contain block allocation information. As you can see, there is a lot of boilerplate code that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this </a:t>
            </a:r>
            <a:r>
              <a:rPr lang="en-CA" dirty="0" smtClean="0"/>
              <a:t>function is already overwhelming</a:t>
            </a:r>
            <a:r>
              <a:rPr lang="en-CA" baseline="0" dirty="0" smtClean="0"/>
              <a:t> without any error checking code. Any error during traversal, or corruption in the file system, would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we want</a:t>
            </a:r>
            <a:r>
              <a:rPr lang="en-CA" baseline="0" dirty="0" smtClean="0"/>
              <a:t> is an easier way to find and process all of the block bitmaps in Ext4, without needing to write all of the code to traverse the file system.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processing of all of the block bitmaps reachable from the super block, through its pointers or the pointers of all its children. This avoids the need to write any traversal code manually, so the developer can focus on just the code that processes the block bitmaps. As you can see, there are two advantages to using the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let’s talk about the applications</a:t>
            </a:r>
            <a:r>
              <a:rPr lang="en-CA" baseline="0" dirty="0" smtClean="0"/>
              <a:t> we have built using Spiffy, starting with the offline applications, which have exclusive access to a file system image. Our first application is the file system dump tool, which simply prints out all of the metadata in XML format. This tool is helpful for debugging, and we also use it to verify the correctness of our annotations. Next, the type-specific corruptor allows us to specify a field in a metadata structure and corrupt it on disk. This tool enables us to test the robustness of other tools and ensure that they are able to correctly handle corruptions. We ran a series of corruption experiments and discovered crash bugs in existing tools such as dumpe2fs for Ext4 and dump.f2fs, which you can read more about in the paper. Next we built a file system conversion tool which allows converting from one file system to another without moving any data blocks unless necessary. We will come back to evaluating the conversion tool in a bit.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25</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discuss the online applications, which</a:t>
            </a:r>
            <a:r>
              <a:rPr lang="en-CA" baseline="0" dirty="0" smtClean="0"/>
              <a:t> operate while the file system is in-use. An example of such an application is the differentiated storage service, which prioritizes caching of metadata blocks and small files. This application was difficult to implement because it requires modification of the file system to provide hints to the block layer. It also requires a lot of file-system specific code to identify the size of the file. However, with Spiffy, we have built a runtime interpretation framework that can identify and interpret metadata at the block layer without modifying the file system. Most of the runtime framework is generic, and little file-system specific code is required to support a rich set of caching policies. Using this framework, we built a block layer cache that preferentially caches files belonging to priority users. Again, you can find more details of this work in the paper.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26</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27</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evaluated</a:t>
            </a:r>
            <a:r>
              <a:rPr lang="en-CA" baseline="0" dirty="0" smtClean="0"/>
              <a:t> the performance of the file system conversion tool. Here, we show 3 types of converters: the copy converter copies data to local disk, reformat, then copy back. We also wrote the conversion tool twice, once manually and once using Spiffy. From the graph, we can see that the copy converter is up to 50 times slower than the other two converters because it has to copy 16GB of data twice. We also compare the performance between manual vs. Spiffy converter, and found a modest 16.7% overhead for using Spiffy. This shows that using the Spiffy library can still achieve good performance, while improving the robustness of the application.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28</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and a standardized API for interpreting and traversing file system metadata. This API simplifies development of file-system aware applications by reducing the need to write file-system specific code and it enables code reuse across file systems. Lastly, from the annotated metadata definitions, we generate type-safe parsing and serialization library that implements </a:t>
            </a:r>
            <a:r>
              <a:rPr lang="en-CA" baseline="0" smtClean="0"/>
              <a:t>the Spiffy </a:t>
            </a:r>
            <a:r>
              <a:rPr lang="en-CA" baseline="0" dirty="0" smtClean="0"/>
              <a:t>API, and the </a:t>
            </a:r>
            <a:r>
              <a:rPr lang="en-CA" baseline="0" smtClean="0"/>
              <a:t>generated library </a:t>
            </a:r>
            <a:r>
              <a:rPr lang="en-CA" baseline="0" dirty="0" smtClean="0"/>
              <a:t>is robust against file system corruption and achieves good performance.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2018-02-08</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2018-02-08</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CA" smtClean="0"/>
              <a:t>Spiffy: Enabling File-System Aware Storage Applications</a:t>
            </a:r>
            <a:br>
              <a:rPr lang="en-CA" smtClean="0"/>
            </a:br>
            <a:endParaRPr lang="en-CA" dirty="0"/>
          </a:p>
        </p:txBody>
      </p:sp>
      <p:sp>
        <p:nvSpPr>
          <p:cNvPr id="3" name="Subtitle 2"/>
          <p:cNvSpPr>
            <a:spLocks noGrp="1"/>
          </p:cNvSpPr>
          <p:nvPr>
            <p:ph type="subTitle" idx="1"/>
          </p:nvPr>
        </p:nvSpPr>
        <p:spPr>
          <a:xfrm>
            <a:off x="684212" y="3037337"/>
            <a:ext cx="8723948" cy="2753864"/>
          </a:xfrm>
        </p:spPr>
        <p:txBody>
          <a:bodyPr/>
          <a:lstStyle/>
          <a:p>
            <a:r>
              <a:rPr lang="en-CA" dirty="0" smtClean="0"/>
              <a:t>Jack</a:t>
            </a:r>
            <a:r>
              <a:rPr lang="en-CA" dirty="0" smtClean="0"/>
              <a:t>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dirty="0" smtClean="0"/>
              <a:t>University of Toronto</a:t>
            </a:r>
            <a:endParaRPr lang="en-CA"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endParaRPr lang="en-CA" dirty="0" smtClean="0"/>
          </a:p>
          <a:p>
            <a:pPr lvl="2"/>
            <a:r>
              <a:rPr lang="en-CA" dirty="0" smtClean="0"/>
              <a:t>2</a:t>
            </a:r>
            <a:r>
              <a:rPr lang="en-CA" baseline="30000" dirty="0" smtClean="0"/>
              <a:t>|value</a:t>
            </a:r>
            <a:r>
              <a:rPr lang="en-CA" baseline="30000" dirty="0"/>
              <a:t>|</a:t>
            </a:r>
            <a:r>
              <a:rPr lang="en-CA" dirty="0"/>
              <a:t>, if value &lt; </a:t>
            </a:r>
            <a:r>
              <a:rPr lang="en-CA" dirty="0" smtClean="0"/>
              <a:t>0</a:t>
            </a:r>
            <a:endParaRPr lang="en-CA" dirty="0" smtClean="0"/>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a:t>
            </a:r>
            <a:r>
              <a:rPr lang="en-CA" smtClean="0"/>
              <a:t>equire detailed knowledge of format</a:t>
            </a:r>
          </a:p>
          <a:p>
            <a:pPr lvl="1"/>
            <a:r>
              <a:rPr lang="en-CA" smtClean="0"/>
              <a:t>Cannot be reused across file systems</a:t>
            </a:r>
            <a:endParaRPr lang="en-CA" smtClean="0"/>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a:t>
            </a:r>
            <a:br>
              <a:rPr lang="en-CA" smtClean="0"/>
            </a:br>
            <a:r>
              <a:rPr lang="en-CA" smtClean="0"/>
              <a:t>header files of existing source code</a:t>
            </a:r>
            <a:endParaRPr lang="en-CA" dirty="0" smtClean="0"/>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grpSp>
        <p:nvGrpSpPr>
          <p:cNvPr id="82" name="Group 81"/>
          <p:cNvGrpSpPr/>
          <p:nvPr/>
        </p:nvGrpSpPr>
        <p:grpSpPr>
          <a:xfrm>
            <a:off x="824305" y="2832811"/>
            <a:ext cx="9787357" cy="3222517"/>
            <a:chOff x="824305" y="2832811"/>
            <a:chExt cx="9787357" cy="3222517"/>
          </a:xfrm>
        </p:grpSpPr>
        <p:sp>
          <p:nvSpPr>
            <p:cNvPr id="5" name="Snip Single Corner Rectangle 4"/>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7" name="TextBox 6"/>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b="1" dirty="0">
                  <a:solidFill>
                    <a:schemeClr val="bg1"/>
                  </a:solidFill>
                </a:rPr>
                <a:t>File System </a:t>
              </a:r>
            </a:p>
            <a:p>
              <a:pPr algn="ctr"/>
              <a:r>
                <a:rPr lang="en-CA" sz="1400" b="1" dirty="0">
                  <a:solidFill>
                    <a:schemeClr val="bg1"/>
                  </a:solidFill>
                </a:rPr>
                <a:t>Developer</a:t>
              </a:r>
            </a:p>
          </p:txBody>
        </p:sp>
        <p:sp>
          <p:nvSpPr>
            <p:cNvPr id="8" name="Right Arrow 7"/>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 name="Rounded Rectangle 9"/>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11" name="Snip Single Corner Rectangle 10"/>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13" name="Snip Single Corner Rectangle 12"/>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14" name="Right Arrow 13"/>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5" name="Rectangle 14"/>
            <p:cNvSpPr/>
            <p:nvPr/>
          </p:nvSpPr>
          <p:spPr>
            <a:xfrm>
              <a:off x="5751627" y="4065180"/>
              <a:ext cx="1224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16" name="Right Arrow 15"/>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7" name="Rectangle 16"/>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19" name="Right Arrow 1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0" name="Right Arrow 1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1" name="Right Arrow 2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2" name="Right Arrow 2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3" name="Rectangle 2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24" name="Right Arrow 2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5" name="Right Arrow 2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39" name="Picture 3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72" name="Group 71"/>
            <p:cNvGrpSpPr/>
            <p:nvPr/>
          </p:nvGrpSpPr>
          <p:grpSpPr>
            <a:xfrm>
              <a:off x="824305" y="3607630"/>
              <a:ext cx="782638" cy="1689100"/>
              <a:chOff x="1494268" y="4778493"/>
              <a:chExt cx="782638" cy="1689100"/>
            </a:xfrm>
            <a:effectLst>
              <a:glow rad="101600">
                <a:srgbClr val="FFFF00">
                  <a:alpha val="40000"/>
                </a:srgbClr>
              </a:glow>
            </a:effectLst>
          </p:grpSpPr>
          <p:sp>
            <p:nvSpPr>
              <p:cNvPr id="44"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5"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6"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9"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0"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2"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3"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8"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9"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0"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73" name="Right Arrow 72"/>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TextBox 73"/>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76" name="Straight Arrow Connector 75"/>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smtClean="0"/>
              <a:t>Spiffy compiler processes annotated metadata structures</a:t>
            </a:r>
            <a:br>
              <a:rPr lang="en-CA" smtClean="0"/>
            </a:br>
            <a:r>
              <a:rPr lang="en-CA" smtClean="0"/>
              <a:t>to generate library that provides a generic </a:t>
            </a:r>
            <a:r>
              <a:rPr lang="en-CA" smtClean="0"/>
              <a:t>API </a:t>
            </a:r>
            <a:r>
              <a:rPr lang="en-CA" smtClean="0"/>
              <a:t>for type-safe parsing, traversal and serialization of file system structures</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b="1"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smtClean="0"/>
              <a:t>Application developers use Spiffy library to build robust tools</a:t>
            </a:r>
            <a:br>
              <a:rPr lang="en-CA" smtClean="0"/>
            </a:br>
            <a:r>
              <a:rPr lang="en-CA"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a:effectLst>
            <a:glow rad="101600">
              <a:srgbClr val="FFFF00">
                <a:alpha val="40000"/>
              </a:srgbClr>
            </a:glow>
          </a:effectLst>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b="1" dirty="0" smtClean="0">
                <a:solidFill>
                  <a:schemeClr val="bg1"/>
                </a:solidFill>
              </a:rPr>
              <a:t>Application</a:t>
            </a:r>
            <a:endParaRPr lang="en-CA" sz="1200" b="1" dirty="0">
              <a:solidFill>
                <a:schemeClr val="bg1"/>
              </a:solidFill>
            </a:endParaRPr>
          </a:p>
          <a:p>
            <a:pPr algn="ctr"/>
            <a:r>
              <a:rPr lang="en-CA" sz="1200" b="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smtClean="0"/>
              <a:t>Need</a:t>
            </a:r>
            <a:r>
              <a:rPr lang="en-CA" smtClean="0"/>
              <a:t> complete specification of the file system format</a:t>
            </a:r>
          </a:p>
          <a:p>
            <a:pPr lvl="1"/>
            <a:r>
              <a:rPr lang="en-CA" smtClean="0"/>
              <a:t>Allows type-safe parsing and updates of file system structures</a:t>
            </a:r>
          </a:p>
          <a:p>
            <a:r>
              <a:rPr lang="en-CA" smtClean="0"/>
              <a:t>Challenge</a:t>
            </a:r>
          </a:p>
          <a:p>
            <a:pPr lvl="1"/>
            <a:r>
              <a:rPr lang="en-CA" smtClean="0"/>
              <a:t>Data structure definitions in source files are incomplete</a:t>
            </a:r>
          </a:p>
          <a:p>
            <a:pPr lvl="1"/>
            <a:endParaRPr lang="en-CA" smtClean="0"/>
          </a:p>
          <a:p>
            <a:pPr lvl="1"/>
            <a:endParaRPr lang="en-CA" smtClean="0"/>
          </a:p>
          <a:p>
            <a:pPr lvl="1"/>
            <a:endParaRPr lang="en-CA" smtClean="0"/>
          </a:p>
          <a:p>
            <a:pPr lvl="1"/>
            <a:endParaRPr lang="en-CA" smtClean="0"/>
          </a:p>
          <a:p>
            <a:pPr lvl="1"/>
            <a:r>
              <a:rPr lang="en-CA" smtClean="0"/>
              <a:t>bar_block_ptr is “probably” a 32-bit little endian pointer to type “bar_block”</a:t>
            </a:r>
          </a:p>
          <a:p>
            <a:pPr lvl="1"/>
            <a:r>
              <a:rPr lang="en-CA"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smtClean="0"/>
              <a:t>Solution</a:t>
            </a:r>
          </a:p>
          <a:p>
            <a:pPr lvl="1"/>
            <a:r>
              <a:rPr lang="en-CA" smtClean="0"/>
              <a:t>Annotate structures to supply missing information</a:t>
            </a:r>
          </a:p>
          <a:p>
            <a:pPr lvl="1"/>
            <a:endParaRPr lang="en-CA" smtClean="0"/>
          </a:p>
          <a:p>
            <a:pPr lvl="1"/>
            <a:endParaRPr lang="en-CA"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897466" y="3332074"/>
            <a:ext cx="8930297"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8" name="Content Placeholder 7"/>
          <p:cNvSpPr>
            <a:spLocks noGrp="1"/>
          </p:cNvSpPr>
          <p:nvPr>
            <p:ph idx="1"/>
          </p:nvPr>
        </p:nvSpPr>
        <p:spPr/>
        <p:txBody>
          <a:bodyPr/>
          <a:lstStyle/>
          <a:p>
            <a:r>
              <a:rPr lang="en-CA" dirty="0" smtClean="0"/>
              <a:t>Tree diagram</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Address space examples</a:t>
            </a:r>
            <a:endParaRPr lang="en-CA" dirty="0"/>
          </a:p>
          <a:p>
            <a:pPr lvl="1"/>
            <a:r>
              <a:rPr lang="en-CA" dirty="0"/>
              <a:t>Block address is the block number in the file system</a:t>
            </a:r>
          </a:p>
          <a:p>
            <a:pPr lvl="1"/>
            <a:r>
              <a:rPr lang="en-CA" dirty="0"/>
              <a:t>File address is an index into the </a:t>
            </a:r>
            <a:r>
              <a:rPr lang="en-CA" dirty="0" err="1"/>
              <a:t>inode</a:t>
            </a:r>
            <a:r>
              <a:rPr lang="en-CA" dirty="0"/>
              <a:t> table for a file</a:t>
            </a:r>
          </a:p>
          <a:p>
            <a:pPr lvl="1"/>
            <a:r>
              <a:rPr lang="en-CA" dirty="0"/>
              <a:t>NID address is an index into node address table for an F2FS metadata </a:t>
            </a:r>
            <a:r>
              <a:rPr lang="en-CA" dirty="0" smtClean="0"/>
              <a:t>block</a:t>
            </a:r>
            <a:endParaRPr lang="en-CA" dirty="0"/>
          </a:p>
          <a:p>
            <a:endParaRPr lang="en-CA" dirty="0" smtClean="0"/>
          </a:p>
          <a:p>
            <a:pPr lvl="2"/>
            <a:r>
              <a:rPr lang="en-CA" dirty="0" smtClean="0"/>
              <a:t>Physical address of regular file stored in </a:t>
            </a:r>
            <a:r>
              <a:rPr lang="en-CA" dirty="0" err="1" smtClean="0"/>
              <a:t>inode</a:t>
            </a:r>
            <a:r>
              <a:rPr lang="en-CA" dirty="0" smtClean="0"/>
              <a:t> structure</a:t>
            </a:r>
          </a:p>
          <a:p>
            <a:pPr lvl="2"/>
            <a:r>
              <a:rPr lang="en-CA" dirty="0" smtClean="0"/>
              <a:t>Must read associated </a:t>
            </a:r>
            <a:r>
              <a:rPr lang="en-CA" dirty="0" err="1" smtClean="0"/>
              <a:t>inode</a:t>
            </a:r>
            <a:r>
              <a:rPr lang="en-CA" dirty="0" smtClean="0"/>
              <a:t> to physically locate Ext4 journal</a:t>
            </a:r>
          </a:p>
          <a:p>
            <a:pPr lvl="1"/>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FSSUPER and POINTER annotation</a:t>
            </a:r>
            <a:endParaRPr lang="en-CA" dirty="0"/>
          </a:p>
        </p:txBody>
      </p:sp>
      <p:sp>
        <p:nvSpPr>
          <p:cNvPr id="9" name="Content Placeholder 8"/>
          <p:cNvSpPr>
            <a:spLocks noGrp="1"/>
          </p:cNvSpPr>
          <p:nvPr>
            <p:ph sz="half" idx="1"/>
          </p:nvPr>
        </p:nvSpPr>
        <p:spPr/>
        <p:txBody>
          <a:bodyPr>
            <a:normAutofit fontScale="62500" lnSpcReduction="20000"/>
          </a:bodyPr>
          <a:lstStyle/>
          <a:p>
            <a:r>
              <a:rPr lang="en-CA" dirty="0" smtClean="0"/>
              <a:t>FSSUPER(location=1024) ext4_super_block {</a:t>
            </a:r>
          </a:p>
          <a:p>
            <a:r>
              <a:rPr lang="en-CA" dirty="0" smtClean="0"/>
              <a:t>  __le32 </a:t>
            </a:r>
            <a:r>
              <a:rPr lang="en-CA" dirty="0" err="1" smtClean="0"/>
              <a:t>s_log_block_size</a:t>
            </a:r>
            <a:r>
              <a:rPr lang="en-CA" dirty="0" smtClean="0"/>
              <a:t>;</a:t>
            </a:r>
          </a:p>
          <a:p>
            <a:r>
              <a:rPr lang="en-CA" dirty="0" smtClean="0"/>
              <a:t>   …</a:t>
            </a:r>
          </a:p>
          <a:p>
            <a:r>
              <a:rPr lang="fr-FR" dirty="0" smtClean="0"/>
              <a:t>  POINTER(</a:t>
            </a:r>
            <a:r>
              <a:rPr lang="fr-FR" dirty="0" err="1" smtClean="0"/>
              <a:t>aspc</a:t>
            </a:r>
            <a:r>
              <a:rPr lang="fr-FR" dirty="0" smtClean="0"/>
              <a:t>=file, type=ext4_journal)</a:t>
            </a:r>
          </a:p>
          <a:p>
            <a:r>
              <a:rPr lang="fr-FR" dirty="0" smtClean="0"/>
              <a:t>  __le32 </a:t>
            </a:r>
            <a:r>
              <a:rPr lang="fr-FR" dirty="0" err="1" smtClean="0"/>
              <a:t>s_journal_inum</a:t>
            </a:r>
            <a:r>
              <a:rPr lang="fr-FR" dirty="0" smtClean="0"/>
              <a:t>;</a:t>
            </a:r>
            <a:endParaRPr lang="en-CA" dirty="0" smtClean="0"/>
          </a:p>
          <a:p>
            <a:r>
              <a:rPr lang="en-CA" dirty="0" smtClean="0"/>
              <a:t>   …</a:t>
            </a:r>
          </a:p>
          <a:p>
            <a:r>
              <a:rPr lang="en-CA" dirty="0" smtClean="0"/>
              <a:t>  POINTER(name=</a:t>
            </a:r>
            <a:r>
              <a:rPr lang="en-CA" dirty="0" err="1" smtClean="0"/>
              <a:t>s_block_group_desc</a:t>
            </a:r>
            <a:r>
              <a:rPr lang="en-CA" dirty="0" smtClean="0"/>
              <a:t>,</a:t>
            </a:r>
          </a:p>
          <a:p>
            <a:r>
              <a:rPr lang="en-CA" dirty="0" smtClean="0"/>
              <a:t>  type=ext4_group_desc_table, </a:t>
            </a:r>
            <a:r>
              <a:rPr lang="en-CA" dirty="0" err="1" smtClean="0"/>
              <a:t>aspc</a:t>
            </a:r>
            <a:r>
              <a:rPr lang="en-CA" dirty="0" smtClean="0"/>
              <a:t>=block, </a:t>
            </a:r>
          </a:p>
          <a:p>
            <a:r>
              <a:rPr lang="en-CA" dirty="0" smtClean="0"/>
              <a:t>  expr=(</a:t>
            </a:r>
            <a:r>
              <a:rPr lang="en-CA" dirty="0" err="1" smtClean="0"/>
              <a:t>self.s_log_block_size</a:t>
            </a:r>
            <a:r>
              <a:rPr lang="en-CA" dirty="0" smtClean="0"/>
              <a:t> == 0) ? 2 : 1);</a:t>
            </a:r>
          </a:p>
          <a:p>
            <a:r>
              <a:rPr lang="en-CA" dirty="0" smtClean="0"/>
              <a:t>};</a:t>
            </a:r>
          </a:p>
          <a:p>
            <a:endParaRPr lang="en-CA" dirty="0" smtClean="0"/>
          </a:p>
          <a:p>
            <a:r>
              <a:rPr lang="en-CA" dirty="0" smtClean="0"/>
              <a:t>FSSUPER specifies the structure</a:t>
            </a:r>
            <a:br>
              <a:rPr lang="en-CA" dirty="0" smtClean="0"/>
            </a:br>
            <a:r>
              <a:rPr lang="en-CA" dirty="0" smtClean="0"/>
              <a:t>as super block</a:t>
            </a:r>
          </a:p>
          <a:p>
            <a:pPr lvl="1"/>
            <a:r>
              <a:rPr lang="en-CA" dirty="0" smtClean="0"/>
              <a:t>location argument specifies address in byte offset</a:t>
            </a:r>
          </a:p>
          <a:p>
            <a:endParaRPr lang="en-CA" dirty="0"/>
          </a:p>
        </p:txBody>
      </p:sp>
      <p:sp>
        <p:nvSpPr>
          <p:cNvPr id="3" name="Content Placeholder 2"/>
          <p:cNvSpPr>
            <a:spLocks noGrp="1"/>
          </p:cNvSpPr>
          <p:nvPr>
            <p:ph sz="half" idx="2"/>
          </p:nvPr>
        </p:nvSpPr>
        <p:spPr/>
        <p:txBody>
          <a:bodyPr>
            <a:normAutofit fontScale="62500" lnSpcReduction="20000"/>
          </a:bodyPr>
          <a:lstStyle/>
          <a:p>
            <a:r>
              <a:rPr lang="en-CA" smtClean="0"/>
              <a:t>POINTER annotation</a:t>
            </a:r>
          </a:p>
          <a:p>
            <a:pPr lvl="1"/>
            <a:r>
              <a:rPr lang="en-CA" smtClean="0"/>
              <a:t>aspc specifies the address space for mapping the address to physical location</a:t>
            </a:r>
          </a:p>
          <a:p>
            <a:pPr lvl="1"/>
            <a:r>
              <a:rPr lang="en-CA" smtClean="0"/>
              <a:t>type is the type of the pointed-to structure</a:t>
            </a:r>
          </a:p>
          <a:p>
            <a:r>
              <a:rPr lang="en-CA" smtClean="0"/>
              <a:t>Implicit Pointer</a:t>
            </a:r>
          </a:p>
          <a:p>
            <a:pPr lvl="1"/>
            <a:r>
              <a:rPr lang="en-CA" smtClean="0"/>
              <a:t>Field computed at runtime</a:t>
            </a:r>
          </a:p>
          <a:p>
            <a:pPr lvl="1"/>
            <a:r>
              <a:rPr lang="en-CA" smtClean="0"/>
              <a:t>expr specifies the computation</a:t>
            </a:r>
          </a:p>
          <a:p>
            <a:pPr lvl="1"/>
            <a:r>
              <a:rPr lang="en-CA" smtClean="0"/>
              <a:t>accessible via name argument</a:t>
            </a:r>
          </a:p>
          <a:p>
            <a:pPr lvl="2"/>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15</a:t>
            </a:fld>
            <a:endParaRPr lang="en-CA"/>
          </a:p>
        </p:txBody>
      </p:sp>
    </p:spTree>
    <p:extLst>
      <p:ext uri="{BB962C8B-B14F-4D97-AF65-F5344CB8AC3E}">
        <p14:creationId xmlns:p14="http://schemas.microsoft.com/office/powerpoint/2010/main" val="16931400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Annotation Requirements</a:t>
            </a:r>
            <a:endParaRPr lang="en-CA" dirty="0"/>
          </a:p>
        </p:txBody>
      </p:sp>
      <p:sp>
        <p:nvSpPr>
          <p:cNvPr id="3" name="Content Placeholder 2"/>
          <p:cNvSpPr>
            <a:spLocks noGrp="1"/>
          </p:cNvSpPr>
          <p:nvPr>
            <p:ph idx="1"/>
          </p:nvPr>
        </p:nvSpPr>
        <p:spPr/>
        <p:txBody>
          <a:bodyPr/>
          <a:lstStyle/>
          <a:p>
            <a:r>
              <a:rPr lang="en-CA" dirty="0" smtClean="0"/>
              <a:t>Cross-Structure Dependencies</a:t>
            </a:r>
          </a:p>
          <a:p>
            <a:pPr lvl="1"/>
            <a:r>
              <a:rPr lang="en-CA" dirty="0" smtClean="0"/>
              <a:t>Allows the annotation of structures to reference fields of other structures</a:t>
            </a:r>
          </a:p>
          <a:p>
            <a:pPr lvl="2"/>
            <a:r>
              <a:rPr lang="en-CA" dirty="0" smtClean="0"/>
              <a:t>E.g., size of an Ext4 </a:t>
            </a:r>
            <a:r>
              <a:rPr lang="en-CA" dirty="0" err="1" smtClean="0"/>
              <a:t>inode</a:t>
            </a:r>
            <a:r>
              <a:rPr lang="en-CA" dirty="0" smtClean="0"/>
              <a:t> is stored in Ext4 super block</a:t>
            </a:r>
          </a:p>
          <a:p>
            <a:r>
              <a:rPr lang="en-CA" dirty="0" smtClean="0"/>
              <a:t>Context-Sensitive Types</a:t>
            </a:r>
          </a:p>
          <a:p>
            <a:pPr lvl="1"/>
            <a:r>
              <a:rPr lang="en-CA" dirty="0" smtClean="0"/>
              <a:t>E.g., pointers may point to different types of metadata</a:t>
            </a:r>
          </a:p>
          <a:p>
            <a:pPr lvl="2"/>
            <a:r>
              <a:rPr lang="en-CA" dirty="0" smtClean="0"/>
              <a:t>Pointers in </a:t>
            </a:r>
            <a:r>
              <a:rPr lang="en-CA" dirty="0" err="1" smtClean="0"/>
              <a:t>inode</a:t>
            </a:r>
            <a:r>
              <a:rPr lang="en-CA" dirty="0" smtClean="0"/>
              <a:t> point to directory blocks if </a:t>
            </a:r>
            <a:r>
              <a:rPr lang="en-CA" dirty="0" err="1" smtClean="0"/>
              <a:t>inode</a:t>
            </a:r>
            <a:r>
              <a:rPr lang="en-CA" dirty="0" smtClean="0"/>
              <a:t> is directory</a:t>
            </a:r>
          </a:p>
          <a:p>
            <a:pPr lvl="1"/>
            <a:r>
              <a:rPr lang="en-CA" dirty="0" smtClean="0"/>
              <a:t>E.g., structures may have optional fields</a:t>
            </a:r>
          </a:p>
          <a:p>
            <a:pPr lvl="2"/>
            <a:r>
              <a:rPr lang="en-CA" dirty="0" smtClean="0"/>
              <a:t>Ext4 </a:t>
            </a:r>
            <a:r>
              <a:rPr lang="en-CA" dirty="0" err="1" smtClean="0"/>
              <a:t>inode</a:t>
            </a:r>
            <a:r>
              <a:rPr lang="en-CA" dirty="0" smtClean="0"/>
              <a:t> can store extended attributes if size &gt; 128</a:t>
            </a:r>
          </a:p>
          <a:p>
            <a:r>
              <a:rPr lang="en-CA" dirty="0" smtClean="0"/>
              <a:t>Constraint Checking</a:t>
            </a:r>
          </a:p>
          <a:p>
            <a:pPr lvl="1"/>
            <a:r>
              <a:rPr lang="en-CA" dirty="0" smtClean="0"/>
              <a:t>Helps detect corrupted metadata structures</a:t>
            </a:r>
          </a:p>
          <a:p>
            <a:pPr lvl="1"/>
            <a:endParaRPr lang="en-CA" dirty="0" smtClean="0"/>
          </a:p>
          <a:p>
            <a:pPr lvl="1"/>
            <a:endParaRPr lang="en-CA" dirty="0" smtClean="0"/>
          </a:p>
          <a:p>
            <a:pPr lvl="2"/>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16</a:t>
            </a:fld>
            <a:endParaRPr lang="en-CA" dirty="0"/>
          </a:p>
        </p:txBody>
      </p:sp>
    </p:spTree>
    <p:extLst>
      <p:ext uri="{BB962C8B-B14F-4D97-AF65-F5344CB8AC3E}">
        <p14:creationId xmlns:p14="http://schemas.microsoft.com/office/powerpoint/2010/main" val="65982586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Exmple Annotations</a:t>
            </a:r>
            <a:endParaRPr lang="en-CA" dirty="0"/>
          </a:p>
        </p:txBody>
      </p:sp>
      <p:sp>
        <p:nvSpPr>
          <p:cNvPr id="10" name="Content Placeholder 6"/>
          <p:cNvSpPr txBox="1">
            <a:spLocks noGrp="1"/>
          </p:cNvSpPr>
          <p:nvPr>
            <p:ph sz="half" idx="1"/>
          </p:nvPr>
        </p:nvSpPr>
        <p:spPr/>
        <p:txBody>
          <a:bodyPr>
            <a:normAutofit fontScale="47500" lnSpcReduction="20000"/>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FSSUPER(name=</a:t>
            </a:r>
            <a:r>
              <a:rPr lang="en-CA" dirty="0" err="1" smtClean="0"/>
              <a:t>sb</a:t>
            </a:r>
            <a:r>
              <a:rPr lang="en-CA" dirty="0" smtClean="0"/>
              <a:t>, …) ext4_super_block {</a:t>
            </a:r>
          </a:p>
          <a:p>
            <a:r>
              <a:rPr lang="en-CA" dirty="0" smtClean="0"/>
              <a:t>  __le32 </a:t>
            </a:r>
            <a:r>
              <a:rPr lang="en-CA" dirty="0" err="1" smtClean="0"/>
              <a:t>s_log_block_size</a:t>
            </a:r>
            <a:r>
              <a:rPr lang="en-CA" dirty="0" smtClean="0"/>
              <a:t>;</a:t>
            </a:r>
          </a:p>
          <a:p>
            <a:r>
              <a:rPr lang="en-CA" dirty="0" smtClean="0"/>
              <a:t>  __le16 </a:t>
            </a:r>
            <a:r>
              <a:rPr lang="en-CA" dirty="0" err="1" smtClean="0"/>
              <a:t>s_magic</a:t>
            </a:r>
            <a:r>
              <a:rPr lang="en-CA" dirty="0" smtClean="0"/>
              <a:t>;</a:t>
            </a:r>
          </a:p>
          <a:p>
            <a:r>
              <a:rPr lang="en-CA" dirty="0" smtClean="0"/>
              <a:t>  __le32 </a:t>
            </a:r>
            <a:r>
              <a:rPr lang="en-CA" dirty="0" err="1" smtClean="0"/>
              <a:t>s_inode_size</a:t>
            </a:r>
            <a:r>
              <a:rPr lang="en-CA" dirty="0" smtClean="0"/>
              <a:t>;</a:t>
            </a:r>
          </a:p>
          <a:p>
            <a:r>
              <a:rPr lang="en-CA" dirty="0" smtClean="0"/>
              <a:t>   …</a:t>
            </a:r>
          </a:p>
          <a:p>
            <a:r>
              <a:rPr lang="en-CA" dirty="0" smtClean="0"/>
              <a:t>  CHECK(expr=</a:t>
            </a:r>
            <a:r>
              <a:rPr lang="en-CA" dirty="0" err="1" smtClean="0"/>
              <a:t>self.s_log_block_size</a:t>
            </a:r>
            <a:r>
              <a:rPr lang="en-CA" dirty="0" smtClean="0"/>
              <a:t> &lt;= 6);</a:t>
            </a:r>
          </a:p>
          <a:p>
            <a:r>
              <a:rPr lang="en-CA" dirty="0" smtClean="0"/>
              <a:t>  CHECK(expr=</a:t>
            </a:r>
            <a:r>
              <a:rPr lang="en-CA" dirty="0" err="1" smtClean="0"/>
              <a:t>self.s_magic</a:t>
            </a:r>
            <a:r>
              <a:rPr lang="en-CA" dirty="0" smtClean="0"/>
              <a:t> == 0xef53);</a:t>
            </a:r>
          </a:p>
          <a:p>
            <a:r>
              <a:rPr lang="en-CA" dirty="0" smtClean="0"/>
              <a:t>};</a:t>
            </a:r>
          </a:p>
          <a:p>
            <a:endParaRPr lang="en-CA" dirty="0" smtClean="0"/>
          </a:p>
          <a:p>
            <a:r>
              <a:rPr lang="en-CA" dirty="0" smtClean="0"/>
              <a:t>FSSTRUCT(size=</a:t>
            </a:r>
            <a:r>
              <a:rPr lang="en-CA" dirty="0" err="1" smtClean="0"/>
              <a:t>sb.s_inode_size</a:t>
            </a:r>
            <a:r>
              <a:rPr lang="en-CA" dirty="0" smtClean="0"/>
              <a:t>) ext4_inode {</a:t>
            </a:r>
          </a:p>
          <a:p>
            <a:r>
              <a:rPr lang="en-CA" dirty="0" smtClean="0"/>
              <a:t>  __le16 </a:t>
            </a:r>
            <a:r>
              <a:rPr lang="en-CA" dirty="0" err="1" smtClean="0"/>
              <a:t>i_mode</a:t>
            </a:r>
            <a:r>
              <a:rPr lang="en-CA" dirty="0" smtClean="0"/>
              <a:t>;</a:t>
            </a:r>
          </a:p>
          <a:p>
            <a:r>
              <a:rPr lang="en-CA" dirty="0" smtClean="0"/>
              <a:t>   …</a:t>
            </a:r>
          </a:p>
          <a:p>
            <a:r>
              <a:rPr lang="en-CA" dirty="0" smtClean="0"/>
              <a:t>  POINTER(</a:t>
            </a:r>
            <a:r>
              <a:rPr lang="en-CA" dirty="0" err="1" smtClean="0"/>
              <a:t>aspc</a:t>
            </a:r>
            <a:r>
              <a:rPr lang="en-CA" dirty="0" smtClean="0"/>
              <a:t>=block, type=</a:t>
            </a:r>
            <a:r>
              <a:rPr lang="en-CA" dirty="0" err="1" smtClean="0"/>
              <a:t>dir_block</a:t>
            </a:r>
            <a:r>
              <a:rPr lang="en-CA" dirty="0" smtClean="0"/>
              <a:t>,</a:t>
            </a:r>
          </a:p>
          <a:p>
            <a:r>
              <a:rPr lang="en-CA" dirty="0" smtClean="0"/>
              <a:t>          when=</a:t>
            </a:r>
            <a:r>
              <a:rPr lang="en-CA" dirty="0" err="1" smtClean="0"/>
              <a:t>self.i_mode</a:t>
            </a:r>
            <a:r>
              <a:rPr lang="en-CA" dirty="0" smtClean="0"/>
              <a:t> &amp; S_IFDIR)          </a:t>
            </a:r>
          </a:p>
          <a:p>
            <a:r>
              <a:rPr lang="en-CA" dirty="0" smtClean="0"/>
              <a:t>  POINTER(</a:t>
            </a:r>
            <a:r>
              <a:rPr lang="en-CA" dirty="0" err="1" smtClean="0"/>
              <a:t>aspc</a:t>
            </a:r>
            <a:r>
              <a:rPr lang="en-CA" dirty="0" smtClean="0"/>
              <a:t>=block, type=</a:t>
            </a:r>
            <a:r>
              <a:rPr lang="en-CA" dirty="0" err="1" smtClean="0"/>
              <a:t>data_block</a:t>
            </a:r>
            <a:r>
              <a:rPr lang="en-CA" dirty="0" smtClean="0"/>
              <a:t>,                 </a:t>
            </a:r>
          </a:p>
          <a:p>
            <a:r>
              <a:rPr lang="en-CA" dirty="0" smtClean="0"/>
              <a:t>          when=</a:t>
            </a:r>
            <a:r>
              <a:rPr lang="en-CA" dirty="0" err="1" smtClean="0"/>
              <a:t>self.i_mode</a:t>
            </a:r>
            <a:r>
              <a:rPr lang="en-CA" dirty="0" smtClean="0"/>
              <a:t> &amp; S_IFREG)                 </a:t>
            </a:r>
          </a:p>
          <a:p>
            <a:r>
              <a:rPr lang="en-CA" dirty="0" smtClean="0"/>
              <a:t>  __le32	</a:t>
            </a:r>
            <a:r>
              <a:rPr lang="en-CA" dirty="0" err="1" smtClean="0"/>
              <a:t>i_block</a:t>
            </a:r>
            <a:r>
              <a:rPr lang="en-CA" dirty="0" smtClean="0"/>
              <a:t>[EXT3_NDIR_BLOCKS];</a:t>
            </a:r>
          </a:p>
          <a:p>
            <a:r>
              <a:rPr lang="en-CA" dirty="0" smtClean="0"/>
              <a:t>   …</a:t>
            </a:r>
          </a:p>
          <a:p>
            <a:r>
              <a:rPr lang="en-CA" dirty="0" smtClean="0"/>
              <a:t>};</a:t>
            </a:r>
            <a:endParaRPr lang="en-CA" dirty="0"/>
          </a:p>
        </p:txBody>
      </p:sp>
      <p:sp>
        <p:nvSpPr>
          <p:cNvPr id="7" name="Content Placeholder 6"/>
          <p:cNvSpPr>
            <a:spLocks noGrp="1"/>
          </p:cNvSpPr>
          <p:nvPr>
            <p:ph sz="half" idx="2"/>
          </p:nvPr>
        </p:nvSpPr>
        <p:spPr/>
        <p:txBody>
          <a:bodyPr>
            <a:normAutofit fontScale="47500" lnSpcReduction="20000"/>
          </a:bodyPr>
          <a:lstStyle/>
          <a:p>
            <a:r>
              <a:rPr lang="en-CA" dirty="0" smtClean="0"/>
              <a:t>CHECK annotation</a:t>
            </a:r>
          </a:p>
          <a:p>
            <a:pPr lvl="1"/>
            <a:r>
              <a:rPr lang="en-CA" dirty="0" smtClean="0"/>
              <a:t>Enables constraint checking</a:t>
            </a:r>
          </a:p>
          <a:p>
            <a:r>
              <a:rPr lang="en-CA" dirty="0" smtClean="0"/>
              <a:t>FSSUPER/FSSTRUCT</a:t>
            </a:r>
          </a:p>
          <a:p>
            <a:pPr lvl="1"/>
            <a:r>
              <a:rPr lang="en-CA" dirty="0" smtClean="0"/>
              <a:t>name argument allows structure to be referenced by others</a:t>
            </a:r>
          </a:p>
          <a:p>
            <a:pPr lvl="1"/>
            <a:r>
              <a:rPr lang="en-CA" dirty="0" smtClean="0"/>
              <a:t>e.g., size argument for ext4_inode references field in super block </a:t>
            </a:r>
          </a:p>
          <a:p>
            <a:r>
              <a:rPr lang="en-CA" dirty="0" smtClean="0"/>
              <a:t>when argument</a:t>
            </a:r>
          </a:p>
          <a:p>
            <a:pPr lvl="1"/>
            <a:r>
              <a:rPr lang="en-CA" dirty="0" smtClean="0"/>
              <a:t>Supports context-sensitive types</a:t>
            </a:r>
          </a:p>
          <a:p>
            <a:pPr lvl="1"/>
            <a:r>
              <a:rPr lang="en-CA" dirty="0" smtClean="0"/>
              <a:t>Evaluated at runtime </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17</a:t>
            </a:fld>
            <a:endParaRPr lang="en-CA"/>
          </a:p>
        </p:txBody>
      </p:sp>
    </p:spTree>
    <p:extLst>
      <p:ext uri="{BB962C8B-B14F-4D97-AF65-F5344CB8AC3E}">
        <p14:creationId xmlns:p14="http://schemas.microsoft.com/office/powerpoint/2010/main" val="6885449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3" name="Text Placeholder 2"/>
          <p:cNvSpPr>
            <a:spLocks noGrp="1"/>
          </p:cNvSpPr>
          <p:nvPr>
            <p:ph type="body" idx="1"/>
          </p:nvPr>
        </p:nvSpPr>
        <p:spPr/>
        <p:txBody>
          <a:bodyPr/>
          <a:lstStyle/>
          <a:p>
            <a:r>
              <a:rPr lang="en-CA" smtClean="0"/>
              <a:t>Annotation</a:t>
            </a:r>
            <a:endParaRPr lang="en-CA" dirty="0"/>
          </a:p>
        </p:txBody>
      </p:sp>
      <p:sp>
        <p:nvSpPr>
          <p:cNvPr id="10" name="Content Placeholder 6"/>
          <p:cNvSpPr txBox="1">
            <a:spLocks noGrp="1"/>
          </p:cNvSpPr>
          <p:nvPr>
            <p:ph sz="half" idx="2"/>
          </p:nvPr>
        </p:nvSpPr>
        <p:spPr/>
        <p:txBody>
          <a:bodyPr>
            <a:normAutofit fontScale="62500" lnSpcReduction="20000"/>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smtClean="0"/>
              <a:t>FSSUPER(location=1024) ext4_super_block {</a:t>
            </a:r>
          </a:p>
          <a:p>
            <a:r>
              <a:rPr lang="en-CA" smtClean="0"/>
              <a:t>  __le32 s_log_block_size;</a:t>
            </a:r>
          </a:p>
          <a:p>
            <a:r>
              <a:rPr lang="en-CA" smtClean="0"/>
              <a:t>  __le16 s_magic;</a:t>
            </a:r>
          </a:p>
          <a:p>
            <a:r>
              <a:rPr lang="en-CA" smtClean="0"/>
              <a:t>  __le32 s_inode_size;</a:t>
            </a:r>
          </a:p>
          <a:p>
            <a:r>
              <a:rPr lang="en-CA" smtClean="0"/>
              <a:t>   …</a:t>
            </a:r>
          </a:p>
          <a:p>
            <a:r>
              <a:rPr lang="en-CA" smtClean="0"/>
              <a:t>  CHECK(expr=self.s_log_block_size &lt;= 6);</a:t>
            </a:r>
          </a:p>
          <a:p>
            <a:r>
              <a:rPr lang="en-CA" smtClean="0"/>
              <a:t>  CHECK(expr=self.s_magic == 0xef53);</a:t>
            </a:r>
          </a:p>
          <a:p>
            <a:r>
              <a:rPr lang="en-CA" smtClean="0"/>
              <a:t>};</a:t>
            </a:r>
          </a:p>
          <a:p>
            <a:endParaRPr lang="en-CA" smtClean="0"/>
          </a:p>
          <a:p>
            <a:endParaRPr lang="en-CA" smtClean="0"/>
          </a:p>
          <a:p>
            <a:r>
              <a:rPr lang="en-CA" smtClean="0"/>
              <a:t>C++ class generated for every annotated class and its fields</a:t>
            </a:r>
          </a:p>
          <a:p>
            <a:pPr lvl="1"/>
            <a:r>
              <a:rPr lang="en-CA" smtClean="0"/>
              <a:t>Enables type-safe parsing and serialization</a:t>
            </a:r>
          </a:p>
          <a:p>
            <a:endParaRPr lang="en-CA" dirty="0" smtClean="0"/>
          </a:p>
        </p:txBody>
      </p:sp>
      <p:sp>
        <p:nvSpPr>
          <p:cNvPr id="4" name="Text Placeholder 3"/>
          <p:cNvSpPr>
            <a:spLocks noGrp="1"/>
          </p:cNvSpPr>
          <p:nvPr>
            <p:ph type="body" sz="quarter" idx="3"/>
          </p:nvPr>
        </p:nvSpPr>
        <p:spPr/>
        <p:txBody>
          <a:bodyPr/>
          <a:lstStyle/>
          <a:p>
            <a:r>
              <a:rPr lang="en-CA" smtClean="0"/>
              <a:t>Generated Code</a:t>
            </a:r>
            <a:endParaRPr lang="en-CA" dirty="0"/>
          </a:p>
        </p:txBody>
      </p:sp>
      <p:sp>
        <p:nvSpPr>
          <p:cNvPr id="9" name="Content Placeholder 8"/>
          <p:cNvSpPr>
            <a:spLocks noGrp="1"/>
          </p:cNvSpPr>
          <p:nvPr>
            <p:ph sz="quarter" idx="4"/>
          </p:nvPr>
        </p:nvSpPr>
        <p:spPr/>
        <p:txBody>
          <a:bodyPr>
            <a:normAutofit fontScale="70000" lnSpcReduction="20000"/>
          </a:bodyPr>
          <a:lstStyle/>
          <a:p>
            <a:r>
              <a:rPr lang="en-CA" smtClean="0"/>
              <a:t>int parse(const char * &amp; buf, unsigned &amp; len) {</a:t>
            </a:r>
          </a:p>
          <a:p>
            <a:r>
              <a:rPr lang="en-CA" smtClean="0"/>
              <a:t>  int ret = s_log_block_size.parse(buf, len);</a:t>
            </a:r>
          </a:p>
          <a:p>
            <a:r>
              <a:rPr lang="en-CA" smtClean="0"/>
              <a:t>  if (ret &lt; 0) return ret;</a:t>
            </a:r>
          </a:p>
          <a:p>
            <a:r>
              <a:rPr lang="en-CA" smtClean="0"/>
              <a:t>  …</a:t>
            </a:r>
          </a:p>
          <a:p>
            <a:r>
              <a:rPr lang="en-CA" smtClean="0"/>
              <a:t>  if (!(this-&gt;s_log_block_size &lt;= 6))</a:t>
            </a:r>
          </a:p>
          <a:p>
            <a:r>
              <a:rPr lang="en-CA" smtClean="0"/>
              <a:t>    return ERR_CORRUPT;</a:t>
            </a:r>
          </a:p>
          <a:p>
            <a:r>
              <a:rPr lang="en-CA" smtClean="0"/>
              <a:t>  if (!(this-&gt;s_magic == 0xef53))</a:t>
            </a:r>
          </a:p>
          <a:p>
            <a:r>
              <a:rPr lang="en-CA" smtClean="0"/>
              <a:t>    return ERR_CORRUPT;</a:t>
            </a:r>
          </a:p>
          <a:p>
            <a:r>
              <a:rPr lang="en-CA" smtClean="0"/>
              <a:t>  return 0;</a:t>
            </a:r>
          </a:p>
          <a:p>
            <a:r>
              <a:rPr lang="en-CA" smtClean="0"/>
              <a:t>}</a:t>
            </a:r>
          </a:p>
          <a:p>
            <a:endParaRPr lang="en-CA" smtClean="0"/>
          </a:p>
          <a:p>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18</a:t>
            </a:fld>
            <a:endParaRPr lang="en-CA"/>
          </a:p>
        </p:txBody>
      </p:sp>
      <p:sp>
        <p:nvSpPr>
          <p:cNvPr id="6" name="Right Arrow 5"/>
          <p:cNvSpPr/>
          <p:nvPr/>
        </p:nvSpPr>
        <p:spPr>
          <a:xfrm>
            <a:off x="5345150" y="3588027"/>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r>
              <a:rPr lang="en-CA" smtClean="0"/>
              <a:t>LOC required for file system developers to correctly annotate their file systems</a:t>
            </a:r>
          </a:p>
          <a:p>
            <a:pPr lvl="1"/>
            <a:r>
              <a:rPr lang="en-CA" smtClean="0"/>
              <a:t>Some structures not originally declared</a:t>
            </a:r>
          </a:p>
          <a:p>
            <a:pPr lvl="2"/>
            <a:r>
              <a:rPr lang="en-CA" smtClean="0"/>
              <a:t>E.g. Ext4 indirect block is just an array of 4-byte pointers</a:t>
            </a:r>
          </a:p>
          <a:p>
            <a:pPr lvl="1"/>
            <a:r>
              <a:rPr lang="en-CA" smtClean="0"/>
              <a:t>Some structures need to be revised</a:t>
            </a:r>
          </a:p>
          <a:p>
            <a:pPr lvl="2"/>
            <a:r>
              <a:rPr lang="en-CA" smtClean="0"/>
              <a:t>Due to limitation of the annotation language</a:t>
            </a:r>
          </a:p>
          <a:p>
            <a:pPr lvl="2"/>
            <a:r>
              <a:rPr lang="en-CA" smtClean="0"/>
              <a:t>Does not affect correctness</a:t>
            </a:r>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19</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 xmlns:a16="http://schemas.microsoft.com/office/drawing/2014/main" val="20000"/>
                    </a:ext>
                  </a:extLst>
                </a:gridCol>
                <a:gridCol w="2119866">
                  <a:extLst>
                    <a:ext uri="{9D8B030D-6E8A-4147-A177-3AD203B41FA5}">
                      <a16:colId xmlns="" xmlns:a16="http://schemas.microsoft.com/office/drawing/2014/main" val="20001"/>
                    </a:ext>
                  </a:extLst>
                </a:gridCol>
                <a:gridCol w="2119866">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r>
              <a:rPr lang="en-CA" smtClean="0"/>
              <a:t>Manually (ad-hoc processing)</a:t>
            </a:r>
          </a:p>
          <a:p>
            <a:pPr lvl="1"/>
            <a:r>
              <a:rPr lang="en-CA" smtClean="0"/>
              <a:t>Find documentation on format of each file system</a:t>
            </a:r>
          </a:p>
          <a:p>
            <a:pPr lvl="2"/>
            <a:r>
              <a:rPr lang="en-CA" smtClean="0"/>
              <a:t>Learn how each file system keeps track of block allocation information</a:t>
            </a:r>
          </a:p>
          <a:p>
            <a:pPr lvl="1"/>
            <a:r>
              <a:rPr lang="en-CA" smtClean="0"/>
              <a:t>Write code to find and process relevant metadata</a:t>
            </a:r>
          </a:p>
          <a:p>
            <a:pPr lvl="2"/>
            <a:r>
              <a:rPr lang="en-CA" smtClean="0"/>
              <a:t>Often through trial-and-error</a:t>
            </a:r>
          </a:p>
          <a:p>
            <a:r>
              <a:rPr lang="en-CA" smtClean="0"/>
              <a:t>Using Spiffy framework</a:t>
            </a:r>
          </a:p>
          <a:p>
            <a:pPr lvl="1"/>
            <a:r>
              <a:rPr lang="en-CA" smtClean="0"/>
              <a:t>Use Spiffy to locate metadata that stores block allocation information</a:t>
            </a:r>
          </a:p>
          <a:p>
            <a:pPr lvl="1"/>
            <a:r>
              <a:rPr lang="en-CA" smtClean="0"/>
              <a:t>Write file-system specific code to process metadata structures</a:t>
            </a:r>
          </a:p>
          <a:p>
            <a:endParaRPr lang="en-CA"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20</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4" name="Content Placeholder 3"/>
          <p:cNvSpPr>
            <a:spLocks noGrp="1"/>
          </p:cNvSpPr>
          <p:nvPr>
            <p:ph idx="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pPr/>
              <a:t>21</a:t>
            </a:fld>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Ad-hoc processing, No error-checking</a:t>
            </a:r>
            <a:endParaRPr lang="en-CA" dirty="0"/>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Manually-Written Application</a:t>
            </a:r>
            <a:endParaRPr lang="en-CA" dirty="0"/>
          </a:p>
        </p:txBody>
      </p:sp>
      <p:sp>
        <p:nvSpPr>
          <p:cNvPr id="7" name="Content Placeholder 6"/>
          <p:cNvSpPr>
            <a:spLocks noGrp="1"/>
          </p:cNvSpPr>
          <p:nvPr>
            <p:ph idx="1"/>
          </p:nvPr>
        </p:nvSpPr>
        <p:spPr/>
        <p:txBody>
          <a:bodyPr/>
          <a:lstStyle/>
          <a:p>
            <a:endParaRPr lang="en-CA"/>
          </a:p>
        </p:txBody>
      </p:sp>
      <p:sp>
        <p:nvSpPr>
          <p:cNvPr id="8" name="Slide Number Placeholder 7"/>
          <p:cNvSpPr>
            <a:spLocks noGrp="1"/>
          </p:cNvSpPr>
          <p:nvPr>
            <p:ph type="sldNum" sz="quarter" idx="12"/>
          </p:nvPr>
        </p:nvSpPr>
        <p:spPr/>
        <p:txBody>
          <a:bodyPr/>
          <a:lstStyle/>
          <a:p>
            <a:fld id="{7B2023C8-B124-43A9-8F92-0EEF5BAA9995}" type="slidenum">
              <a:rPr lang="en-CA" smtClean="0"/>
              <a:pPr/>
              <a:t>22</a:t>
            </a:fld>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p>
        </p:txBody>
      </p: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9" name="Content Placeholder 8"/>
          <p:cNvSpPr>
            <a:spLocks noGrp="1"/>
          </p:cNvSpPr>
          <p:nvPr>
            <p:ph idx="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
        <p:nvSpPr>
          <p:cNvPr id="2" name="Rectangle 1"/>
          <p:cNvSpPr/>
          <p:nvPr/>
        </p:nvSpPr>
        <p:spPr>
          <a:xfrm>
            <a:off x="1381538" y="5396947"/>
            <a:ext cx="5237923" cy="34684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04493" y="2131673"/>
            <a:ext cx="2790802"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We want an easier way to find and process all of the block bitmaps</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a:t>
            </a:r>
            <a:endParaRPr lang="en-CA" dirty="0"/>
          </a:p>
        </p:txBody>
      </p:sp>
      <p:sp>
        <p:nvSpPr>
          <p:cNvPr id="10" name="Content Placeholder 9"/>
          <p:cNvSpPr>
            <a:spLocks noGrp="1"/>
          </p:cNvSpPr>
          <p:nvPr>
            <p:ph idx="1"/>
          </p:nvPr>
        </p:nvSpPr>
        <p:spPr/>
        <p:txBody>
          <a:bodyPr/>
          <a:lstStyle/>
          <a:p>
            <a:r>
              <a:rPr lang="en-CA" smtClean="0"/>
              <a:t>Using Spiffy Library</a:t>
            </a:r>
          </a:p>
          <a:p>
            <a:pPr lvl="1"/>
            <a:endParaRPr lang="en-CA" smtClean="0"/>
          </a:p>
          <a:p>
            <a:r>
              <a:rPr lang="en-CA" smtClean="0"/>
              <a:t>  </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24</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Offline Spiffy Applications</a:t>
            </a:r>
            <a:endParaRPr lang="en-CA" dirty="0"/>
          </a:p>
        </p:txBody>
      </p:sp>
      <p:sp>
        <p:nvSpPr>
          <p:cNvPr id="3" name="Content Placeholder 2"/>
          <p:cNvSpPr>
            <a:spLocks noGrp="1"/>
          </p:cNvSpPr>
          <p:nvPr>
            <p:ph idx="1"/>
          </p:nvPr>
        </p:nvSpPr>
        <p:spPr/>
        <p:txBody>
          <a:bodyPr/>
          <a:lstStyle/>
          <a:p>
            <a:r>
              <a:rPr lang="en-CA" smtClean="0"/>
              <a:t>Have exclusive access to file system image</a:t>
            </a:r>
          </a:p>
          <a:p>
            <a:r>
              <a:rPr lang="en-CA" smtClean="0"/>
              <a:t>File System Dump Tool</a:t>
            </a:r>
          </a:p>
          <a:p>
            <a:pPr lvl="1"/>
            <a:r>
              <a:rPr lang="en-CA" smtClean="0"/>
              <a:t>Prints out all metadata in a file system</a:t>
            </a:r>
          </a:p>
          <a:p>
            <a:r>
              <a:rPr lang="en-CA" smtClean="0"/>
              <a:t>Type-Specific File System Corruptor</a:t>
            </a:r>
          </a:p>
          <a:p>
            <a:pPr lvl="1"/>
            <a:r>
              <a:rPr lang="en-CA" smtClean="0"/>
              <a:t>Finds and corrupts a field in a specified structure</a:t>
            </a:r>
          </a:p>
          <a:p>
            <a:r>
              <a:rPr lang="en-CA" smtClean="0"/>
              <a:t>File System Conversion Tool</a:t>
            </a:r>
          </a:p>
          <a:p>
            <a:pPr lvl="1"/>
            <a:r>
              <a:rPr lang="en-CA" smtClean="0"/>
              <a:t>Converts from one file system to another</a:t>
            </a:r>
          </a:p>
          <a:p>
            <a:pPr lvl="1"/>
            <a:r>
              <a:rPr lang="en-CA" smtClean="0"/>
              <a:t>minimizes moving of data blocks</a:t>
            </a:r>
          </a:p>
          <a:p>
            <a:pPr lvl="1"/>
            <a:r>
              <a:rPr lang="en-CA" smtClean="0"/>
              <a:t>Faster than copying to a difference device, reformat, and copy back	</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25</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Online Applications</a:t>
            </a:r>
            <a:endParaRPr lang="en-CA" dirty="0"/>
          </a:p>
        </p:txBody>
      </p:sp>
      <p:sp>
        <p:nvSpPr>
          <p:cNvPr id="3" name="Content Placeholder 2"/>
          <p:cNvSpPr>
            <a:spLocks noGrp="1"/>
          </p:cNvSpPr>
          <p:nvPr>
            <p:ph idx="1"/>
          </p:nvPr>
        </p:nvSpPr>
        <p:spPr/>
        <p:txBody>
          <a:bodyPr/>
          <a:lstStyle/>
          <a:p>
            <a:r>
              <a:rPr lang="en-CA" smtClean="0"/>
              <a:t>Operates while file system is in-use</a:t>
            </a:r>
          </a:p>
          <a:p>
            <a:r>
              <a:rPr lang="en-CA" smtClean="0"/>
              <a:t>Differentiated Storage Service</a:t>
            </a:r>
          </a:p>
          <a:p>
            <a:pPr lvl="1"/>
            <a:r>
              <a:rPr lang="en-CA" smtClean="0"/>
              <a:t>Prioritize metadata and small files</a:t>
            </a:r>
          </a:p>
          <a:p>
            <a:pPr lvl="1"/>
            <a:r>
              <a:rPr lang="en-CA" smtClean="0"/>
              <a:t>Difficult to implement</a:t>
            </a:r>
          </a:p>
          <a:p>
            <a:pPr lvl="1"/>
            <a:r>
              <a:rPr lang="en-CA" smtClean="0"/>
              <a:t>Requires file system to provide hints to block layer</a:t>
            </a:r>
          </a:p>
          <a:p>
            <a:r>
              <a:rPr lang="en-CA" smtClean="0"/>
              <a:t>Runtime Interpretation</a:t>
            </a:r>
          </a:p>
          <a:p>
            <a:pPr lvl="1"/>
            <a:r>
              <a:rPr lang="en-CA" smtClean="0"/>
              <a:t>Classifies file system IO at the block layer</a:t>
            </a:r>
          </a:p>
          <a:p>
            <a:pPr lvl="1"/>
            <a:r>
              <a:rPr lang="en-CA" smtClean="0"/>
              <a:t>Requires no modification to file system</a:t>
            </a:r>
          </a:p>
          <a:p>
            <a:pPr lvl="1"/>
            <a:r>
              <a:rPr lang="en-CA" smtClean="0"/>
              <a:t>Requires little file-system specific code</a:t>
            </a:r>
          </a:p>
          <a:p>
            <a:r>
              <a:rPr lang="en-CA" smtClean="0"/>
              <a:t>Spiffy Block Layer Cache</a:t>
            </a:r>
          </a:p>
          <a:p>
            <a:pPr lvl="1"/>
            <a:r>
              <a:rPr lang="en-CA" smtClean="0"/>
              <a:t>Preferentially caches files belonging to priority users</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26</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27</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 xmlns:a16="http://schemas.microsoft.com/office/drawing/2014/main" val="20000"/>
                    </a:ext>
                  </a:extLst>
                </a:gridCol>
                <a:gridCol w="2017336">
                  <a:extLst>
                    <a:ext uri="{9D8B030D-6E8A-4147-A177-3AD203B41FA5}">
                      <a16:colId xmlns="" xmlns:a16="http://schemas.microsoft.com/office/drawing/2014/main" val="20001"/>
                    </a:ext>
                  </a:extLst>
                </a:gridCol>
                <a:gridCol w="3289955">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smtClean="0"/>
              <a:t>Converts 64GB file system with 16GB file set on SSD</a:t>
            </a:r>
          </a:p>
          <a:p>
            <a:pPr lvl="1"/>
            <a:r>
              <a:rPr lang="en-CA" smtClean="0"/>
              <a:t>Copy converter copies data to local disk, reformat, then copies back</a:t>
            </a:r>
          </a:p>
          <a:p>
            <a:pPr lvl="1"/>
            <a:r>
              <a:rPr lang="en-CA" smtClean="0"/>
              <a:t>Spiffy converter and Manual converter minimizes moving data blocks</a:t>
            </a:r>
          </a:p>
          <a:p>
            <a:endParaRPr lang="en-CA" smtClean="0"/>
          </a:p>
          <a:p>
            <a:endParaRPr lang="en-CA" smtClean="0"/>
          </a:p>
          <a:p>
            <a:endParaRPr lang="en-CA" smtClean="0"/>
          </a:p>
          <a:p>
            <a:endParaRPr lang="en-CA" smtClean="0"/>
          </a:p>
          <a:p>
            <a:endParaRPr lang="en-CA" smtClean="0"/>
          </a:p>
          <a:p>
            <a:r>
              <a:rPr lang="en-CA" smtClean="0"/>
              <a:t>Copy converter 30~50 times slower</a:t>
            </a:r>
          </a:p>
          <a:p>
            <a:r>
              <a:rPr lang="en-CA" smtClean="0"/>
              <a:t>Overhead of using Spiffy at most 16.7%</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28</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28874709"/>
              </p:ext>
            </p:extLst>
          </p:nvPr>
        </p:nvGraphicFramePr>
        <p:xfrm>
          <a:off x="1420739" y="1630018"/>
          <a:ext cx="8167835" cy="42834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API for interpreting, and traversing file system metadata</a:t>
            </a:r>
          </a:p>
          <a:p>
            <a:pPr lvl="2"/>
            <a:r>
              <a:rPr lang="en-CA" smtClean="0"/>
              <a:t>Simplifies development of file-system aware applications</a:t>
            </a:r>
          </a:p>
          <a:p>
            <a:pPr lvl="2"/>
            <a:r>
              <a:rPr lang="en-CA" smtClean="0"/>
              <a:t>Reduces file-system specific code</a:t>
            </a:r>
          </a:p>
          <a:p>
            <a:pPr lvl="2"/>
            <a:r>
              <a:rPr lang="en-CA" smtClean="0"/>
              <a:t>Enables code reuse across file systems</a:t>
            </a:r>
          </a:p>
          <a:p>
            <a:pPr lvl="1"/>
            <a:r>
              <a:rPr lang="en-CA" smtClean="0"/>
              <a:t>Generated library from annotated data structures</a:t>
            </a:r>
          </a:p>
          <a:p>
            <a:pPr lvl="2"/>
            <a:r>
              <a:rPr lang="en-CA" smtClean="0"/>
              <a:t>Robust against file system corruption</a:t>
            </a:r>
          </a:p>
          <a:p>
            <a:pPr lvl="2"/>
            <a:r>
              <a:rPr lang="en-CA" smtClean="0"/>
              <a:t>Achieves good performance</a:t>
            </a:r>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30</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 xmlns:a16="http://schemas.microsoft.com/office/drawing/2014/main" val="20000"/>
                    </a:ext>
                  </a:extLst>
                </a:gridCol>
                <a:gridCol w="1357460">
                  <a:extLst>
                    <a:ext uri="{9D8B030D-6E8A-4147-A177-3AD203B41FA5}">
                      <a16:colId xmlns="" xmlns:a16="http://schemas.microsoft.com/office/drawing/2014/main" val="20001"/>
                    </a:ext>
                  </a:extLst>
                </a:gridCol>
                <a:gridCol w="2375554">
                  <a:extLst>
                    <a:ext uri="{9D8B030D-6E8A-4147-A177-3AD203B41FA5}">
                      <a16:colId xmlns="" xmlns:a16="http://schemas.microsoft.com/office/drawing/2014/main" val="20002"/>
                    </a:ext>
                  </a:extLst>
                </a:gridCol>
                <a:gridCol w="5165889">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31</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Solution: Spiffy File System Library </a:t>
            </a:r>
            <a:endParaRPr lang="en-CA" dirty="0"/>
          </a:p>
        </p:txBody>
      </p:sp>
      <p:sp>
        <p:nvSpPr>
          <p:cNvPr id="3" name="Content Placeholder 2"/>
          <p:cNvSpPr>
            <a:spLocks noGrp="1"/>
          </p:cNvSpPr>
          <p:nvPr>
            <p:ph idx="1"/>
          </p:nvPr>
        </p:nvSpPr>
        <p:spPr/>
        <p:txBody>
          <a:bodyPr/>
          <a:lstStyle/>
          <a:p>
            <a:r>
              <a:rPr lang="en-CA" smtClean="0"/>
              <a:t>Generated from annotated file system header files</a:t>
            </a:r>
          </a:p>
          <a:p>
            <a:r>
              <a:rPr lang="en-CA" smtClean="0"/>
              <a:t>Standard API for finding and traversing file systems structures</a:t>
            </a:r>
          </a:p>
          <a:p>
            <a:pPr lvl="1"/>
            <a:r>
              <a:rPr lang="en-CA" smtClean="0"/>
              <a:t>Provides robust parsing and serialization routines</a:t>
            </a:r>
          </a:p>
          <a:p>
            <a:r>
              <a:rPr lang="en-CA" smtClean="0"/>
              <a:t>Enables building generic application framework</a:t>
            </a:r>
          </a:p>
          <a:p>
            <a:pPr lvl="1"/>
            <a:r>
              <a:rPr lang="en-CA" smtClean="0"/>
              <a:t>Facilitates support for multiple file systems</a:t>
            </a:r>
          </a:p>
          <a:p>
            <a:pPr lvl="1"/>
            <a:r>
              <a:rPr lang="en-CA" smtClean="0"/>
              <a:t>Reduces dependence on file-system specific code </a:t>
            </a:r>
          </a:p>
          <a:p>
            <a:r>
              <a:rPr lang="en-CA" smtClean="0"/>
              <a:t>Example: File System Free Space Tool</a:t>
            </a:r>
          </a:p>
          <a:p>
            <a:pPr lvl="1"/>
            <a:r>
              <a:rPr lang="en-CA" smtClean="0"/>
              <a:t>Use Spiffy to locate metadata that stores block allocation information</a:t>
            </a:r>
          </a:p>
          <a:p>
            <a:pPr lvl="1"/>
            <a:r>
              <a:rPr lang="en-CA" smtClean="0"/>
              <a:t>Write file-system specific code to process metadata structures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3245412089"/>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2883</TotalTime>
  <Words>5063</Words>
  <Application>Microsoft Office PowerPoint</Application>
  <PresentationFormat>Widescreen</PresentationFormat>
  <Paragraphs>563</Paragraphs>
  <Slides>32</Slides>
  <Notes>30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FSSUPER and POINTER annotation</vt:lpstr>
      <vt:lpstr>Annotation Requirements</vt:lpstr>
      <vt:lpstr>Exmple Annotations</vt:lpstr>
      <vt:lpstr>Generating Spiffy Library</vt:lpstr>
      <vt:lpstr>Evaluation: Annotation Effort</vt:lpstr>
      <vt:lpstr>Building Application</vt:lpstr>
      <vt:lpstr>Manually-Written Application</vt:lpstr>
      <vt:lpstr>Manually-Written Application</vt:lpstr>
      <vt:lpstr>Manually-Written Application</vt:lpstr>
      <vt:lpstr>Spiffy Application</vt:lpstr>
      <vt:lpstr>Offline Spiffy Applications</vt:lpstr>
      <vt:lpstr>Online Applications</vt:lpstr>
      <vt:lpstr>Evaluation: Programming Effort</vt:lpstr>
      <vt:lpstr>Evaluation: Ext4 to F2FS Converter</vt:lpstr>
      <vt:lpstr>Conclusion</vt:lpstr>
      <vt:lpstr>Evaluation: Corruption Experiment</vt:lpstr>
      <vt:lpstr>Evaluation: Preferential Caching</vt:lpstr>
      <vt:lpstr>Solution: Spiffy File System Library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196</cp:revision>
  <dcterms:created xsi:type="dcterms:W3CDTF">2018-01-30T09:02:25Z</dcterms:created>
  <dcterms:modified xsi:type="dcterms:W3CDTF">2018-02-09T06:42:21Z</dcterms:modified>
</cp:coreProperties>
</file>