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49"/>
  </p:notesMasterIdLst>
  <p:sldIdLst>
    <p:sldId id="256" r:id="rId2"/>
    <p:sldId id="288" r:id="rId3"/>
    <p:sldId id="290" r:id="rId4"/>
    <p:sldId id="289" r:id="rId5"/>
    <p:sldId id="291" r:id="rId6"/>
    <p:sldId id="309" r:id="rId7"/>
    <p:sldId id="293" r:id="rId8"/>
    <p:sldId id="294" r:id="rId9"/>
    <p:sldId id="295" r:id="rId10"/>
    <p:sldId id="301" r:id="rId11"/>
    <p:sldId id="308" r:id="rId12"/>
    <p:sldId id="313" r:id="rId13"/>
    <p:sldId id="314" r:id="rId14"/>
    <p:sldId id="298" r:id="rId15"/>
    <p:sldId id="315" r:id="rId16"/>
    <p:sldId id="316" r:id="rId17"/>
    <p:sldId id="322" r:id="rId18"/>
    <p:sldId id="321" r:id="rId19"/>
    <p:sldId id="318" r:id="rId20"/>
    <p:sldId id="331" r:id="rId21"/>
    <p:sldId id="311" r:id="rId22"/>
    <p:sldId id="283" r:id="rId23"/>
    <p:sldId id="306" r:id="rId24"/>
    <p:sldId id="271" r:id="rId25"/>
    <p:sldId id="312" r:id="rId26"/>
    <p:sldId id="268" r:id="rId27"/>
    <p:sldId id="267" r:id="rId28"/>
    <p:sldId id="328" r:id="rId29"/>
    <p:sldId id="329" r:id="rId30"/>
    <p:sldId id="323" r:id="rId31"/>
    <p:sldId id="330" r:id="rId32"/>
    <p:sldId id="324" r:id="rId33"/>
    <p:sldId id="325" r:id="rId34"/>
    <p:sldId id="281" r:id="rId35"/>
    <p:sldId id="326" r:id="rId36"/>
    <p:sldId id="258" r:id="rId37"/>
    <p:sldId id="332" r:id="rId38"/>
    <p:sldId id="333" r:id="rId39"/>
    <p:sldId id="334" r:id="rId40"/>
    <p:sldId id="335" r:id="rId41"/>
    <p:sldId id="336" r:id="rId42"/>
    <p:sldId id="337" r:id="rId43"/>
    <p:sldId id="259" r:id="rId44"/>
    <p:sldId id="261" r:id="rId45"/>
    <p:sldId id="260" r:id="rId46"/>
    <p:sldId id="320" r:id="rId47"/>
    <p:sldId id="327" r:id="rId4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0861541D-2620-421F-9E2E-648A24C65F11}">
          <p14:sldIdLst>
            <p14:sldId id="256"/>
          </p14:sldIdLst>
        </p14:section>
        <p14:section name="Overview" id="{03F43739-95F6-4A6F-BB88-2EA12EA041BB}">
          <p14:sldIdLst>
            <p14:sldId id="288"/>
            <p14:sldId id="290"/>
            <p14:sldId id="289"/>
            <p14:sldId id="291"/>
          </p14:sldIdLst>
        </p14:section>
        <p14:section name="Approach" id="{D3A81287-0026-4487-AFDD-A7954D2B0927}">
          <p14:sldIdLst>
            <p14:sldId id="309"/>
            <p14:sldId id="293"/>
            <p14:sldId id="294"/>
            <p14:sldId id="295"/>
            <p14:sldId id="301"/>
          </p14:sldIdLst>
        </p14:section>
        <p14:section name="Spiffy Annotations" id="{DC8B91C2-2328-4C4C-A290-CF974BCCB498}">
          <p14:sldIdLst>
            <p14:sldId id="308"/>
            <p14:sldId id="313"/>
            <p14:sldId id="314"/>
            <p14:sldId id="298"/>
            <p14:sldId id="315"/>
            <p14:sldId id="316"/>
            <p14:sldId id="322"/>
            <p14:sldId id="321"/>
            <p14:sldId id="318"/>
            <p14:sldId id="331"/>
            <p14:sldId id="311"/>
            <p14:sldId id="283"/>
          </p14:sldIdLst>
        </p14:section>
        <p14:section name="Spiffy Applications" id="{F3675913-66BC-4082-8C9C-F179F5D76D67}">
          <p14:sldIdLst>
            <p14:sldId id="306"/>
            <p14:sldId id="271"/>
            <p14:sldId id="312"/>
            <p14:sldId id="268"/>
            <p14:sldId id="267"/>
            <p14:sldId id="328"/>
            <p14:sldId id="329"/>
            <p14:sldId id="323"/>
            <p14:sldId id="330"/>
            <p14:sldId id="324"/>
            <p14:sldId id="325"/>
            <p14:sldId id="281"/>
            <p14:sldId id="326"/>
          </p14:sldIdLst>
        </p14:section>
        <p14:section name="Conclusion" id="{25FDAF9A-7C5C-46E7-8D21-64F73DCF15CF}">
          <p14:sldIdLst>
            <p14:sldId id="258"/>
            <p14:sldId id="332"/>
          </p14:sldIdLst>
        </p14:section>
        <p14:section name="Spiffy API" id="{A190B886-A086-45E6-A7A2-932A5365A943}">
          <p14:sldIdLst>
            <p14:sldId id="333"/>
            <p14:sldId id="334"/>
            <p14:sldId id="335"/>
            <p14:sldId id="336"/>
            <p14:sldId id="337"/>
          </p14:sldIdLst>
        </p14:section>
        <p14:section name="Backup Slides" id="{9E320F9C-22C3-4C92-9FBA-6C852AD15B6B}">
          <p14:sldIdLst>
            <p14:sldId id="259"/>
            <p14:sldId id="261"/>
            <p14:sldId id="260"/>
            <p14:sldId id="320"/>
            <p14:sldId id="32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5615" autoAdjust="0"/>
  </p:normalViewPr>
  <p:slideViewPr>
    <p:cSldViewPr snapToGrid="0">
      <p:cViewPr varScale="1">
        <p:scale>
          <a:sx n="52" d="100"/>
          <a:sy n="52" d="100"/>
        </p:scale>
        <p:origin x="1356"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s>
</file>

<file path=ppt/charts/_rels/chart1.xml.rels><?xml version="1.0" encoding="UTF-8" standalone="yes"?>
<Relationships xmlns="http://schemas.openxmlformats.org/package/2006/relationships"><Relationship Id="rId3" Type="http://schemas.openxmlformats.org/officeDocument/2006/relationships/oleObject" Target="file:///E:\home\fishy\Documents\Research\fast-2018\converter-result.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E:\home\fishy\Documents\Research\fast-2018\caching-result-stacked.xlsx" TargetMode="External"/><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2081345459931567"/>
          <c:y val="5.9911271909187234E-2"/>
          <c:w val="0.53601315044091302"/>
          <c:h val="0.74735135135135133"/>
        </c:manualLayout>
      </c:layout>
      <c:lineChart>
        <c:grouping val="standard"/>
        <c:varyColors val="0"/>
        <c:ser>
          <c:idx val="0"/>
          <c:order val="0"/>
          <c:tx>
            <c:strRef>
              <c:f>Sheet1!$B$1</c:f>
              <c:strCache>
                <c:ptCount val="1"/>
                <c:pt idx="0">
                  <c:v>Copy Converter</c:v>
                </c:pt>
              </c:strCache>
            </c:strRef>
          </c:tx>
          <c:spPr>
            <a:ln w="28575" cap="rnd">
              <a:solidFill>
                <a:schemeClr val="accent6"/>
              </a:solidFill>
              <a:prstDash val="dash"/>
              <a:round/>
            </a:ln>
            <a:effectLst/>
          </c:spPr>
          <c:marker>
            <c:symbol val="square"/>
            <c:size val="6"/>
            <c:spPr>
              <a:solidFill>
                <a:schemeClr val="accent6"/>
              </a:solidFill>
              <a:ln w="9525">
                <a:solidFill>
                  <a:schemeClr val="accent6"/>
                </a:solidFill>
              </a:ln>
              <a:effectLst/>
            </c:spPr>
          </c:marker>
          <c:cat>
            <c:numRef>
              <c:f>Sheet1!$A$2:$A$5</c:f>
              <c:numCache>
                <c:formatCode>General</c:formatCode>
                <c:ptCount val="4"/>
                <c:pt idx="0">
                  <c:v>20000</c:v>
                </c:pt>
                <c:pt idx="1">
                  <c:v>5000</c:v>
                </c:pt>
                <c:pt idx="2">
                  <c:v>1000</c:v>
                </c:pt>
                <c:pt idx="3">
                  <c:v>100</c:v>
                </c:pt>
              </c:numCache>
            </c:numRef>
          </c:cat>
          <c:val>
            <c:numRef>
              <c:f>Sheet1!$B$2:$B$5</c:f>
              <c:numCache>
                <c:formatCode>General</c:formatCode>
                <c:ptCount val="4"/>
                <c:pt idx="0">
                  <c:v>188.17</c:v>
                </c:pt>
                <c:pt idx="1">
                  <c:v>190.28</c:v>
                </c:pt>
                <c:pt idx="2">
                  <c:v>192.74</c:v>
                </c:pt>
                <c:pt idx="3">
                  <c:v>195.11</c:v>
                </c:pt>
              </c:numCache>
            </c:numRef>
          </c:val>
          <c:smooth val="0"/>
          <c:extLst xmlns:c16r2="http://schemas.microsoft.com/office/drawing/2015/06/chart">
            <c:ext xmlns:c16="http://schemas.microsoft.com/office/drawing/2014/chart" uri="{C3380CC4-5D6E-409C-BE32-E72D297353CC}">
              <c16:uniqueId val="{00000000-9CC1-4262-BF0E-2ECA5CEA12BB}"/>
            </c:ext>
          </c:extLst>
        </c:ser>
        <c:ser>
          <c:idx val="2"/>
          <c:order val="1"/>
          <c:tx>
            <c:strRef>
              <c:f>Sheet1!$C$1</c:f>
              <c:strCache>
                <c:ptCount val="1"/>
                <c:pt idx="0">
                  <c:v>Spiffy Converter</c:v>
                </c:pt>
              </c:strCache>
            </c:strRef>
          </c:tx>
          <c:spPr>
            <a:ln w="28575" cap="rnd">
              <a:solidFill>
                <a:schemeClr val="tx2"/>
              </a:solidFill>
              <a:prstDash val="sysDot"/>
              <a:round/>
            </a:ln>
            <a:effectLst/>
          </c:spPr>
          <c:marker>
            <c:symbol val="diamond"/>
            <c:size val="6"/>
            <c:spPr>
              <a:solidFill>
                <a:schemeClr val="tx2"/>
              </a:solidFill>
              <a:ln w="9525">
                <a:solidFill>
                  <a:schemeClr val="tx2"/>
                </a:solidFill>
              </a:ln>
              <a:effectLst/>
            </c:spPr>
          </c:marker>
          <c:cat>
            <c:numRef>
              <c:f>Sheet1!$A$2:$A$5</c:f>
              <c:numCache>
                <c:formatCode>General</c:formatCode>
                <c:ptCount val="4"/>
                <c:pt idx="0">
                  <c:v>20000</c:v>
                </c:pt>
                <c:pt idx="1">
                  <c:v>5000</c:v>
                </c:pt>
                <c:pt idx="2">
                  <c:v>1000</c:v>
                </c:pt>
                <c:pt idx="3">
                  <c:v>100</c:v>
                </c:pt>
              </c:numCache>
            </c:numRef>
          </c:cat>
          <c:val>
            <c:numRef>
              <c:f>Sheet1!$C$2:$C$5</c:f>
              <c:numCache>
                <c:formatCode>0.00</c:formatCode>
                <c:ptCount val="4"/>
                <c:pt idx="0">
                  <c:v>7.03</c:v>
                </c:pt>
                <c:pt idx="1">
                  <c:v>4.01</c:v>
                </c:pt>
                <c:pt idx="2">
                  <c:v>3.84</c:v>
                </c:pt>
                <c:pt idx="3">
                  <c:v>3.71</c:v>
                </c:pt>
              </c:numCache>
            </c:numRef>
          </c:val>
          <c:smooth val="0"/>
          <c:extLst xmlns:c16r2="http://schemas.microsoft.com/office/drawing/2015/06/chart">
            <c:ext xmlns:c16="http://schemas.microsoft.com/office/drawing/2014/chart" uri="{C3380CC4-5D6E-409C-BE32-E72D297353CC}">
              <c16:uniqueId val="{00000002-9CC1-4262-BF0E-2ECA5CEA12BB}"/>
            </c:ext>
          </c:extLst>
        </c:ser>
        <c:dLbls>
          <c:showLegendKey val="0"/>
          <c:showVal val="0"/>
          <c:showCatName val="0"/>
          <c:showSerName val="0"/>
          <c:showPercent val="0"/>
          <c:showBubbleSize val="0"/>
        </c:dLbls>
        <c:marker val="1"/>
        <c:smooth val="0"/>
        <c:axId val="353495704"/>
        <c:axId val="353492568"/>
      </c:lineChart>
      <c:catAx>
        <c:axId val="353495704"/>
        <c:scaling>
          <c:orientation val="minMax"/>
        </c:scaling>
        <c:delete val="0"/>
        <c:axPos val="b"/>
        <c:title>
          <c:tx>
            <c:rich>
              <a:bodyPr rot="0" spcFirstLastPara="1" vertOverflow="ellipsis" vert="horz" wrap="square" anchor="ctr" anchorCtr="1"/>
              <a:lstStyle/>
              <a:p>
                <a:pPr>
                  <a:defRPr sz="1800" b="0" i="0" u="none" strike="noStrike" kern="1200" baseline="0">
                    <a:solidFill>
                      <a:schemeClr val="bg1"/>
                    </a:solidFill>
                    <a:latin typeface="+mn-lt"/>
                    <a:ea typeface="+mn-ea"/>
                    <a:cs typeface="+mn-cs"/>
                  </a:defRPr>
                </a:pPr>
                <a:r>
                  <a:rPr lang="en-US" sz="1800" dirty="0"/>
                  <a:t># of </a:t>
                </a:r>
                <a:r>
                  <a:rPr lang="en-US" sz="1800" dirty="0" smtClean="0"/>
                  <a:t>files</a:t>
                </a:r>
                <a:endParaRPr lang="en-US" sz="1800" dirty="0"/>
              </a:p>
            </c:rich>
          </c:tx>
          <c:layout>
            <c:manualLayout>
              <c:xMode val="edge"/>
              <c:yMode val="edge"/>
              <c:x val="0.67198242241862016"/>
              <c:y val="0.84715656639011638"/>
            </c:manualLayout>
          </c:layout>
          <c:overlay val="0"/>
          <c:spPr>
            <a:noFill/>
            <a:ln>
              <a:noFill/>
            </a:ln>
            <a:effectLst/>
          </c:spPr>
          <c:txPr>
            <a:bodyPr rot="0" spcFirstLastPara="1" vertOverflow="ellipsis" vert="horz" wrap="square" anchor="ctr" anchorCtr="1"/>
            <a:lstStyle/>
            <a:p>
              <a:pPr>
                <a:defRPr sz="1800" b="0" i="0" u="none" strike="noStrike" kern="1200" baseline="0">
                  <a:solidFill>
                    <a:schemeClr val="bg1"/>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bg2">
                <a:lumMod val="10000"/>
              </a:schemeClr>
            </a:solidFill>
            <a:round/>
          </a:ln>
          <a:effectLst/>
        </c:spPr>
        <c:txPr>
          <a:bodyPr rot="-60000000" spcFirstLastPara="1" vertOverflow="ellipsis" vert="horz" wrap="square" anchor="ctr" anchorCtr="1"/>
          <a:lstStyle/>
          <a:p>
            <a:pPr>
              <a:defRPr sz="1800" b="0" i="0" u="none" strike="noStrike" kern="1200" baseline="0">
                <a:solidFill>
                  <a:schemeClr val="bg1"/>
                </a:solidFill>
                <a:latin typeface="+mn-lt"/>
                <a:ea typeface="+mn-ea"/>
                <a:cs typeface="+mn-cs"/>
              </a:defRPr>
            </a:pPr>
            <a:endParaRPr lang="en-US"/>
          </a:p>
        </c:txPr>
        <c:crossAx val="353492568"/>
        <c:crosses val="autoZero"/>
        <c:auto val="0"/>
        <c:lblAlgn val="ctr"/>
        <c:lblOffset val="100"/>
        <c:noMultiLvlLbl val="0"/>
      </c:catAx>
      <c:valAx>
        <c:axId val="353492568"/>
        <c:scaling>
          <c:logBase val="4"/>
          <c:orientation val="minMax"/>
        </c:scaling>
        <c:delete val="0"/>
        <c:axPos val="l"/>
        <c:majorGridlines>
          <c:spPr>
            <a:ln w="9525" cap="flat" cmpd="sng" algn="ctr">
              <a:solidFill>
                <a:schemeClr val="tx1">
                  <a:lumMod val="50000"/>
                </a:schemeClr>
              </a:solidFill>
              <a:round/>
            </a:ln>
            <a:effectLst/>
          </c:spPr>
        </c:majorGridlines>
        <c:title>
          <c:tx>
            <c:rich>
              <a:bodyPr rot="-5400000" spcFirstLastPara="1" vertOverflow="ellipsis" vert="horz" wrap="square" anchor="ctr" anchorCtr="1"/>
              <a:lstStyle/>
              <a:p>
                <a:pPr>
                  <a:defRPr sz="1800" b="0" i="0" u="none" strike="noStrike" kern="1200" baseline="0">
                    <a:solidFill>
                      <a:schemeClr val="bg1"/>
                    </a:solidFill>
                    <a:latin typeface="+mn-lt"/>
                    <a:ea typeface="+mn-ea"/>
                    <a:cs typeface="+mn-cs"/>
                  </a:defRPr>
                </a:pPr>
                <a:r>
                  <a:rPr lang="en-CA" sz="1800"/>
                  <a:t>seconds</a:t>
                </a:r>
              </a:p>
            </c:rich>
          </c:tx>
          <c:layout/>
          <c:overlay val="0"/>
          <c:spPr>
            <a:noFill/>
            <a:ln>
              <a:noFill/>
            </a:ln>
            <a:effectLst/>
          </c:spPr>
          <c:txPr>
            <a:bodyPr rot="-5400000" spcFirstLastPara="1" vertOverflow="ellipsis" vert="horz" wrap="square" anchor="ctr" anchorCtr="1"/>
            <a:lstStyle/>
            <a:p>
              <a:pPr>
                <a:defRPr sz="1800" b="0" i="0" u="none" strike="noStrike" kern="1200" baseline="0">
                  <a:solidFill>
                    <a:schemeClr val="bg1"/>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800" b="0" i="0" u="none" strike="noStrike" kern="1200" baseline="0">
                <a:solidFill>
                  <a:schemeClr val="bg1"/>
                </a:solidFill>
                <a:latin typeface="+mn-lt"/>
                <a:ea typeface="+mn-ea"/>
                <a:cs typeface="+mn-cs"/>
              </a:defRPr>
            </a:pPr>
            <a:endParaRPr lang="en-US"/>
          </a:p>
        </c:txPr>
        <c:crossAx val="353495704"/>
        <c:crosses val="autoZero"/>
        <c:crossBetween val="between"/>
      </c:valAx>
      <c:spPr>
        <a:solidFill>
          <a:schemeClr val="tx1"/>
        </a:solidFill>
        <a:ln>
          <a:solidFill>
            <a:schemeClr val="tx1">
              <a:lumMod val="50000"/>
            </a:schemeClr>
          </a:solidFill>
        </a:ln>
        <a:effectLst/>
      </c:spPr>
    </c:plotArea>
    <c:legend>
      <c:legendPos val="r"/>
      <c:layout>
        <c:manualLayout>
          <c:xMode val="edge"/>
          <c:yMode val="edge"/>
          <c:x val="0.70445091342517252"/>
          <c:y val="6.265615508636839E-2"/>
          <c:w val="0.26533503171365047"/>
          <c:h val="0.64145139331892442"/>
        </c:manualLayout>
      </c:layout>
      <c:overlay val="0"/>
      <c:spPr>
        <a:noFill/>
        <a:ln>
          <a:noFill/>
        </a:ln>
        <a:effectLst/>
      </c:spPr>
      <c:txPr>
        <a:bodyPr rot="0" spcFirstLastPara="1" vertOverflow="ellipsis" vert="horz" wrap="square" anchor="ctr" anchorCtr="1"/>
        <a:lstStyle/>
        <a:p>
          <a:pPr>
            <a:defRPr sz="1800" b="0" i="0" u="none" strike="noStrike" kern="1200" baseline="0">
              <a:solidFill>
                <a:schemeClr val="bg1"/>
              </a:solidFill>
              <a:latin typeface="+mn-lt"/>
              <a:ea typeface="+mn-ea"/>
              <a:cs typeface="+mn-cs"/>
            </a:defRPr>
          </a:pPr>
          <a:endParaRPr lang="en-US"/>
        </a:p>
      </c:txPr>
    </c:legend>
    <c:plotVisOnly val="1"/>
    <c:dispBlanksAs val="gap"/>
    <c:showDLblsOverMax val="0"/>
  </c:chart>
  <c:spPr>
    <a:noFill/>
    <a:ln>
      <a:noFill/>
    </a:ln>
    <a:effectLst/>
  </c:spPr>
  <c:txPr>
    <a:bodyPr/>
    <a:lstStyle/>
    <a:p>
      <a:pPr>
        <a:defRPr sz="1600">
          <a:solidFill>
            <a:schemeClr val="bg1"/>
          </a:solidFill>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61083692839279813"/>
          <c:y val="5.1192544430694563E-2"/>
          <c:w val="0.33184206060008237"/>
          <c:h val="0.72176687201094358"/>
        </c:manualLayout>
      </c:layout>
      <c:barChart>
        <c:barDir val="bar"/>
        <c:grouping val="stacked"/>
        <c:varyColors val="0"/>
        <c:ser>
          <c:idx val="0"/>
          <c:order val="0"/>
          <c:tx>
            <c:strRef>
              <c:f>Sheet1!$C$1</c:f>
              <c:strCache>
                <c:ptCount val="1"/>
                <c:pt idx="0">
                  <c:v>Fileserver A</c:v>
                </c:pt>
              </c:strCache>
            </c:strRef>
          </c:tx>
          <c:spPr>
            <a:solidFill>
              <a:schemeClr val="accent5">
                <a:lumMod val="40000"/>
                <a:lumOff val="60000"/>
              </a:schemeClr>
            </a:solidFill>
            <a:ln>
              <a:solidFill>
                <a:schemeClr val="bg1"/>
              </a:solidFill>
            </a:ln>
            <a:effectLst/>
          </c:spPr>
          <c:invertIfNegative val="0"/>
          <c:errBars>
            <c:errBarType val="both"/>
            <c:errValType val="cust"/>
            <c:noEndCap val="0"/>
            <c:plus>
              <c:numRef>
                <c:f>Sheet1!$H$2:$H$8</c:f>
                <c:numCache>
                  <c:formatCode>General</c:formatCode>
                  <c:ptCount val="7"/>
                  <c:pt idx="0">
                    <c:v>86.899646070000003</c:v>
                  </c:pt>
                  <c:pt idx="1">
                    <c:v>47.026277149999999</c:v>
                  </c:pt>
                  <c:pt idx="2">
                    <c:v>98.939352290000002</c:v>
                  </c:pt>
                  <c:pt idx="4">
                    <c:v>74.579070639999998</c:v>
                  </c:pt>
                  <c:pt idx="5">
                    <c:v>56.259226890000001</c:v>
                  </c:pt>
                  <c:pt idx="6">
                    <c:v>108.2791673</c:v>
                  </c:pt>
                </c:numCache>
              </c:numRef>
            </c:plus>
            <c:minus>
              <c:numRef>
                <c:f>Sheet1!$H$2:$H$8</c:f>
                <c:numCache>
                  <c:formatCode>General</c:formatCode>
                  <c:ptCount val="7"/>
                  <c:pt idx="0">
                    <c:v>86.899646070000003</c:v>
                  </c:pt>
                  <c:pt idx="1">
                    <c:v>47.026277149999999</c:v>
                  </c:pt>
                  <c:pt idx="2">
                    <c:v>98.939352290000002</c:v>
                  </c:pt>
                  <c:pt idx="4">
                    <c:v>74.579070639999998</c:v>
                  </c:pt>
                  <c:pt idx="5">
                    <c:v>56.259226890000001</c:v>
                  </c:pt>
                  <c:pt idx="6">
                    <c:v>108.2791673</c:v>
                  </c:pt>
                </c:numCache>
              </c:numRef>
            </c:minus>
            <c:spPr>
              <a:noFill/>
              <a:ln w="9525" cap="flat" cmpd="sng" algn="ctr">
                <a:solidFill>
                  <a:schemeClr val="bg1"/>
                </a:solidFill>
                <a:round/>
              </a:ln>
              <a:effectLst/>
            </c:spPr>
          </c:errBars>
          <c:cat>
            <c:strRef>
              <c:f>Sheet1!$B$2:$B$8</c:f>
              <c:strCache>
                <c:ptCount val="7"/>
                <c:pt idx="0">
                  <c:v>Fileserver A + Fileserver B, A is preferred</c:v>
                </c:pt>
                <c:pt idx="1">
                  <c:v>Fileserver A + Fileserver B, no preference</c:v>
                </c:pt>
                <c:pt idx="2">
                  <c:v>Fileserver A, alone</c:v>
                </c:pt>
                <c:pt idx="4">
                  <c:v>Fileserver A + Fileserver B, A is preferred</c:v>
                </c:pt>
                <c:pt idx="5">
                  <c:v>Fileserver A + Fileserver B, no preference</c:v>
                </c:pt>
                <c:pt idx="6">
                  <c:v>Fileserver A, alone</c:v>
                </c:pt>
              </c:strCache>
            </c:strRef>
          </c:cat>
          <c:val>
            <c:numRef>
              <c:f>Sheet1!$C$2:$C$8</c:f>
              <c:numCache>
                <c:formatCode>General</c:formatCode>
                <c:ptCount val="7"/>
                <c:pt idx="0">
                  <c:v>1904.855278</c:v>
                </c:pt>
                <c:pt idx="1">
                  <c:v>1227.2180559999999</c:v>
                </c:pt>
                <c:pt idx="2">
                  <c:v>2831.1577779999998</c:v>
                </c:pt>
                <c:pt idx="4">
                  <c:v>1472.7113890000001</c:v>
                </c:pt>
                <c:pt idx="5">
                  <c:v>941.54666669999995</c:v>
                </c:pt>
                <c:pt idx="6">
                  <c:v>2555.018333</c:v>
                </c:pt>
              </c:numCache>
            </c:numRef>
          </c:val>
          <c:extLst xmlns:c16r2="http://schemas.microsoft.com/office/drawing/2015/06/chart">
            <c:ext xmlns:c16="http://schemas.microsoft.com/office/drawing/2014/chart" uri="{C3380CC4-5D6E-409C-BE32-E72D297353CC}">
              <c16:uniqueId val="{00000000-23D3-4E46-9757-6E0B39AF495B}"/>
            </c:ext>
          </c:extLst>
        </c:ser>
        <c:ser>
          <c:idx val="1"/>
          <c:order val="1"/>
          <c:tx>
            <c:strRef>
              <c:f>Sheet1!$D$1</c:f>
              <c:strCache>
                <c:ptCount val="1"/>
                <c:pt idx="0">
                  <c:v>Fileserver B</c:v>
                </c:pt>
              </c:strCache>
            </c:strRef>
          </c:tx>
          <c:spPr>
            <a:solidFill>
              <a:schemeClr val="accent3"/>
            </a:solidFill>
            <a:ln>
              <a:solidFill>
                <a:schemeClr val="bg1"/>
              </a:solidFill>
            </a:ln>
            <a:effectLst/>
          </c:spPr>
          <c:invertIfNegative val="0"/>
          <c:errBars>
            <c:errBarType val="both"/>
            <c:errValType val="cust"/>
            <c:noEndCap val="0"/>
            <c:plus>
              <c:numRef>
                <c:f>Sheet1!$I$2:$I$8</c:f>
                <c:numCache>
                  <c:formatCode>General</c:formatCode>
                  <c:ptCount val="7"/>
                  <c:pt idx="0">
                    <c:v>46.519010110000004</c:v>
                  </c:pt>
                  <c:pt idx="1">
                    <c:v>46.575578360000002</c:v>
                  </c:pt>
                  <c:pt idx="2">
                    <c:v>0</c:v>
                  </c:pt>
                  <c:pt idx="4">
                    <c:v>25.918389650000002</c:v>
                  </c:pt>
                  <c:pt idx="5">
                    <c:v>56.659710339999997</c:v>
                  </c:pt>
                  <c:pt idx="6">
                    <c:v>0</c:v>
                  </c:pt>
                </c:numCache>
              </c:numRef>
            </c:plus>
            <c:minus>
              <c:numRef>
                <c:f>Sheet1!$I$2:$I$8</c:f>
                <c:numCache>
                  <c:formatCode>General</c:formatCode>
                  <c:ptCount val="7"/>
                  <c:pt idx="0">
                    <c:v>46.519010110000004</c:v>
                  </c:pt>
                  <c:pt idx="1">
                    <c:v>46.575578360000002</c:v>
                  </c:pt>
                  <c:pt idx="2">
                    <c:v>0</c:v>
                  </c:pt>
                  <c:pt idx="4">
                    <c:v>25.918389650000002</c:v>
                  </c:pt>
                  <c:pt idx="5">
                    <c:v>56.659710339999997</c:v>
                  </c:pt>
                  <c:pt idx="6">
                    <c:v>0</c:v>
                  </c:pt>
                </c:numCache>
              </c:numRef>
            </c:minus>
            <c:spPr>
              <a:noFill/>
              <a:ln w="9525" cap="flat" cmpd="sng" algn="ctr">
                <a:solidFill>
                  <a:schemeClr val="bg1"/>
                </a:solidFill>
                <a:round/>
              </a:ln>
              <a:effectLst/>
            </c:spPr>
          </c:errBars>
          <c:cat>
            <c:strRef>
              <c:f>Sheet1!$B$2:$B$8</c:f>
              <c:strCache>
                <c:ptCount val="7"/>
                <c:pt idx="0">
                  <c:v>Fileserver A + Fileserver B, A is preferred</c:v>
                </c:pt>
                <c:pt idx="1">
                  <c:v>Fileserver A + Fileserver B, no preference</c:v>
                </c:pt>
                <c:pt idx="2">
                  <c:v>Fileserver A, alone</c:v>
                </c:pt>
                <c:pt idx="4">
                  <c:v>Fileserver A + Fileserver B, A is preferred</c:v>
                </c:pt>
                <c:pt idx="5">
                  <c:v>Fileserver A + Fileserver B, no preference</c:v>
                </c:pt>
                <c:pt idx="6">
                  <c:v>Fileserver A, alone</c:v>
                </c:pt>
              </c:strCache>
            </c:strRef>
          </c:cat>
          <c:val>
            <c:numRef>
              <c:f>Sheet1!$D$2:$D$8</c:f>
              <c:numCache>
                <c:formatCode>General</c:formatCode>
                <c:ptCount val="7"/>
                <c:pt idx="0">
                  <c:v>893.80499999999995</c:v>
                </c:pt>
                <c:pt idx="1">
                  <c:v>1227.6741669999999</c:v>
                </c:pt>
                <c:pt idx="2">
                  <c:v>0</c:v>
                </c:pt>
                <c:pt idx="4">
                  <c:v>807.45833330000005</c:v>
                </c:pt>
                <c:pt idx="5">
                  <c:v>930.94916669999998</c:v>
                </c:pt>
                <c:pt idx="6">
                  <c:v>0</c:v>
                </c:pt>
              </c:numCache>
            </c:numRef>
          </c:val>
          <c:extLst xmlns:c16r2="http://schemas.microsoft.com/office/drawing/2015/06/chart">
            <c:ext xmlns:c16="http://schemas.microsoft.com/office/drawing/2014/chart" uri="{C3380CC4-5D6E-409C-BE32-E72D297353CC}">
              <c16:uniqueId val="{00000001-23D3-4E46-9757-6E0B39AF495B}"/>
            </c:ext>
          </c:extLst>
        </c:ser>
        <c:dLbls>
          <c:showLegendKey val="0"/>
          <c:showVal val="0"/>
          <c:showCatName val="0"/>
          <c:showSerName val="0"/>
          <c:showPercent val="0"/>
          <c:showBubbleSize val="0"/>
        </c:dLbls>
        <c:gapWidth val="20"/>
        <c:overlap val="100"/>
        <c:axId val="353499232"/>
        <c:axId val="353497664"/>
      </c:barChart>
      <c:catAx>
        <c:axId val="353499232"/>
        <c:scaling>
          <c:orientation val="minMax"/>
        </c:scaling>
        <c:delete val="0"/>
        <c:axPos val="l"/>
        <c:numFmt formatCode="General" sourceLinked="1"/>
        <c:majorTickMark val="none"/>
        <c:minorTickMark val="none"/>
        <c:tickLblPos val="nextTo"/>
        <c:spPr>
          <a:noFill/>
          <a:ln w="9525" cap="flat" cmpd="sng" algn="ctr">
            <a:solidFill>
              <a:schemeClr val="bg1"/>
            </a:solidFill>
            <a:round/>
          </a:ln>
          <a:effectLst/>
        </c:spPr>
        <c:txPr>
          <a:bodyPr rot="-6000000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crossAx val="353497664"/>
        <c:crosses val="autoZero"/>
        <c:auto val="1"/>
        <c:lblAlgn val="ctr"/>
        <c:lblOffset val="100"/>
        <c:noMultiLvlLbl val="1"/>
      </c:catAx>
      <c:valAx>
        <c:axId val="353497664"/>
        <c:scaling>
          <c:orientation val="minMax"/>
          <c:max val="3000"/>
        </c:scaling>
        <c:delete val="0"/>
        <c:axPos val="b"/>
        <c:majorGridlines>
          <c:spPr>
            <a:ln w="9525" cap="flat" cmpd="sng" algn="ctr">
              <a:solidFill>
                <a:schemeClr val="bg1"/>
              </a:solidFill>
              <a:round/>
            </a:ln>
            <a:effectLst/>
          </c:spPr>
        </c:majorGridlines>
        <c:title>
          <c:tx>
            <c:rich>
              <a:bodyPr rot="0" spcFirstLastPara="1" vertOverflow="ellipsis" vert="horz" wrap="square" anchor="ctr" anchorCtr="1"/>
              <a:lstStyle/>
              <a:p>
                <a:pPr>
                  <a:defRPr sz="1400" b="0" i="0" u="none" strike="noStrike" kern="1200" baseline="0">
                    <a:solidFill>
                      <a:schemeClr val="bg1"/>
                    </a:solidFill>
                    <a:latin typeface="+mn-lt"/>
                    <a:ea typeface="+mn-ea"/>
                    <a:cs typeface="+mn-cs"/>
                  </a:defRPr>
                </a:pPr>
                <a:r>
                  <a:rPr lang="en-US"/>
                  <a:t>ops/s</a:t>
                </a:r>
              </a:p>
            </c:rich>
          </c:tx>
          <c:overlay val="0"/>
          <c:spPr>
            <a:noFill/>
            <a:ln>
              <a:noFill/>
            </a:ln>
            <a:effectLst/>
          </c:spPr>
          <c:txPr>
            <a:bodyPr rot="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title>
        <c:numFmt formatCode="General" sourceLinked="1"/>
        <c:majorTickMark val="none"/>
        <c:minorTickMark val="out"/>
        <c:tickLblPos val="nextTo"/>
        <c:spPr>
          <a:noFill/>
          <a:ln>
            <a:solidFill>
              <a:schemeClr val="accent1"/>
            </a:solidFill>
          </a:ln>
          <a:effectLst/>
        </c:spPr>
        <c:txPr>
          <a:bodyPr rot="-6000000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crossAx val="353499232"/>
        <c:crosses val="autoZero"/>
        <c:crossBetween val="between"/>
        <c:majorUnit val="1000"/>
        <c:minorUnit val="500"/>
      </c:valAx>
      <c:spPr>
        <a:noFill/>
        <a:ln>
          <a:solidFill>
            <a:schemeClr val="bg1"/>
          </a:solidFill>
        </a:ln>
        <a:effectLst/>
      </c:spPr>
    </c:plotArea>
    <c:legend>
      <c:legendPos val="b"/>
      <c:layout>
        <c:manualLayout>
          <c:xMode val="edge"/>
          <c:yMode val="edge"/>
          <c:x val="0.14225519748408696"/>
          <c:y val="0.85034517406747667"/>
          <c:w val="0.39392809687657754"/>
          <c:h val="8.9154546150793379E-2"/>
        </c:manualLayout>
      </c:layout>
      <c:overlay val="0"/>
      <c:spPr>
        <a:noFill/>
        <a:ln>
          <a:noFill/>
        </a:ln>
        <a:effectLst/>
      </c:spPr>
      <c:txPr>
        <a:bodyPr rot="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legend>
    <c:plotVisOnly val="1"/>
    <c:dispBlanksAs val="gap"/>
    <c:showDLblsOverMax val="0"/>
  </c:chart>
  <c:spPr>
    <a:noFill/>
    <a:ln>
      <a:noFill/>
    </a:ln>
    <a:effectLst/>
  </c:spPr>
  <c:txPr>
    <a:bodyPr/>
    <a:lstStyle/>
    <a:p>
      <a:pPr>
        <a:defRPr sz="1400">
          <a:solidFill>
            <a:schemeClr val="bg1"/>
          </a:solidFill>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68C5AD-71DD-4EC0-A413-C51DC95DD2ED}" type="datetimeFigureOut">
              <a:rPr lang="en-CA" smtClean="0"/>
              <a:t>2018-02-12</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5B5BF96-4013-477F-9949-176AD53AFF60}" type="slidenum">
              <a:rPr lang="en-CA" smtClean="0"/>
              <a:t>‹#›</a:t>
            </a:fld>
            <a:endParaRPr lang="en-CA"/>
          </a:p>
        </p:txBody>
      </p:sp>
    </p:spTree>
    <p:extLst>
      <p:ext uri="{BB962C8B-B14F-4D97-AF65-F5344CB8AC3E}">
        <p14:creationId xmlns:p14="http://schemas.microsoft.com/office/powerpoint/2010/main" val="27652219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Hello, my name is Jack,</a:t>
            </a:r>
            <a:r>
              <a:rPr lang="en-CA" baseline="0" dirty="0" smtClean="0"/>
              <a:t> and today, I’ll be talking to you about Spiffy, a framework for writing robust file system aware storage applications. This is work done with my colleagues at the University of Toronto.</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a:t>
            </a:fld>
            <a:endParaRPr lang="en-CA"/>
          </a:p>
        </p:txBody>
      </p:sp>
    </p:spTree>
    <p:extLst>
      <p:ext uri="{BB962C8B-B14F-4D97-AF65-F5344CB8AC3E}">
        <p14:creationId xmlns:p14="http://schemas.microsoft.com/office/powerpoint/2010/main" val="28716424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There is a</a:t>
            </a:r>
            <a:r>
              <a:rPr lang="en-CA" baseline="0" dirty="0" smtClean="0"/>
              <a:t> c</a:t>
            </a:r>
            <a:r>
              <a:rPr lang="en-CA" dirty="0" smtClean="0"/>
              <a:t>lass of applications that work with file system metadata that we call file-system aware applications. Examples</a:t>
            </a:r>
            <a:r>
              <a:rPr lang="en-CA" baseline="0" dirty="0" smtClean="0"/>
              <a:t> of such  </a:t>
            </a:r>
            <a:r>
              <a:rPr lang="en-CA" dirty="0" smtClean="0"/>
              <a:t>applications</a:t>
            </a:r>
            <a:r>
              <a:rPr lang="en-CA" baseline="0" dirty="0" smtClean="0"/>
              <a:t> include a </a:t>
            </a:r>
            <a:r>
              <a:rPr lang="en-CA" dirty="0" smtClean="0"/>
              <a:t>partition editor, a file system</a:t>
            </a:r>
            <a:r>
              <a:rPr lang="en-CA" baseline="0" dirty="0" smtClean="0"/>
              <a:t> checker, and a defragmentation tool. These applications o</a:t>
            </a:r>
            <a:r>
              <a:rPr lang="en-CA" dirty="0" smtClean="0"/>
              <a:t>perate directly on file system metadata structures on</a:t>
            </a:r>
            <a:r>
              <a:rPr lang="en-CA" baseline="0" dirty="0" smtClean="0"/>
              <a:t> disk while bypassing the VFS layer. Therefore, writing file-system aware applications </a:t>
            </a:r>
            <a:r>
              <a:rPr lang="en-CA" sz="1200" b="0" i="0" u="none" strike="noStrike" kern="1200" baseline="0" dirty="0" smtClean="0">
                <a:solidFill>
                  <a:schemeClr val="tx1"/>
                </a:solidFill>
                <a:latin typeface="+mn-lt"/>
                <a:ea typeface="+mn-ea"/>
                <a:cs typeface="+mn-cs"/>
              </a:rPr>
              <a:t>requires detailed understanding of the file system format, including the ability to identify and interpret file system structures. These applications are essential for the successful deployment of a file system, since, for example, people will likely use a file system only if it comes with a file system checker.</a:t>
            </a:r>
            <a:endParaRPr lang="en-CA" dirty="0" smtClean="0"/>
          </a:p>
        </p:txBody>
      </p:sp>
      <p:sp>
        <p:nvSpPr>
          <p:cNvPr id="4" name="Slide Number Placeholder 3"/>
          <p:cNvSpPr>
            <a:spLocks noGrp="1"/>
          </p:cNvSpPr>
          <p:nvPr>
            <p:ph type="sldNum" sz="quarter" idx="10"/>
          </p:nvPr>
        </p:nvSpPr>
        <p:spPr/>
        <p:txBody>
          <a:bodyPr/>
          <a:lstStyle/>
          <a:p>
            <a:fld id="{849A0A36-F84D-437B-B821-CB3EBADC1433}" type="slidenum">
              <a:rPr lang="en-CA" smtClean="0"/>
              <a:t>2</a:t>
            </a:fld>
            <a:endParaRPr lang="en-CA"/>
          </a:p>
        </p:txBody>
      </p:sp>
    </p:spTree>
    <p:extLst>
      <p:ext uri="{BB962C8B-B14F-4D97-AF65-F5344CB8AC3E}">
        <p14:creationId xmlns:p14="http://schemas.microsoft.com/office/powerpoint/2010/main" val="40176276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However,</a:t>
            </a:r>
            <a:r>
              <a:rPr lang="en-CA" baseline="0" dirty="0" smtClean="0"/>
              <a:t> there are several problems with writing and deploying these tools. </a:t>
            </a:r>
            <a:r>
              <a:rPr lang="en-CA" dirty="0" smtClean="0"/>
              <a:t>Currently, these</a:t>
            </a:r>
            <a:r>
              <a:rPr lang="en-CA" baseline="0" dirty="0" smtClean="0"/>
              <a:t> tools have to be developed from scratch for</a:t>
            </a:r>
            <a:r>
              <a:rPr lang="en-CA" dirty="0" smtClean="0"/>
              <a:t> each file system.</a:t>
            </a:r>
            <a:r>
              <a:rPr lang="en-CA" baseline="0" dirty="0" smtClean="0"/>
              <a:t> Moreover,</a:t>
            </a:r>
            <a:r>
              <a:rPr lang="en-CA" dirty="0" smtClean="0"/>
              <a:t> these</a:t>
            </a:r>
            <a:r>
              <a:rPr lang="en-CA" baseline="0" dirty="0" smtClean="0"/>
              <a:t> tools require significant file system understanding, and are thus typically developed by </a:t>
            </a:r>
            <a:r>
              <a:rPr lang="en-CA" dirty="0" smtClean="0"/>
              <a:t>file system</a:t>
            </a:r>
            <a:r>
              <a:rPr lang="en-CA" baseline="0" dirty="0" smtClean="0"/>
              <a:t> </a:t>
            </a:r>
            <a:r>
              <a:rPr lang="en-CA" dirty="0" smtClean="0"/>
              <a:t>experts.</a:t>
            </a:r>
            <a:r>
              <a:rPr lang="en-CA" baseline="0" dirty="0" smtClean="0"/>
              <a:t> Even so, these tools have bugs, and these bugs can lead to system crashes, data corruption, and security vulnerability. For example, the </a:t>
            </a:r>
            <a:r>
              <a:rPr lang="en-CA" baseline="0" dirty="0" err="1" smtClean="0"/>
              <a:t>ntfsprogs</a:t>
            </a:r>
            <a:r>
              <a:rPr lang="en-CA" baseline="0" dirty="0" smtClean="0"/>
              <a:t> library had a bug that was caused by misinterpreting the NTFS metadata. The size of the master file table or MFT record can be interpreted in two ways: it is the number of clusters per record if the value is positive, otherwise it is two to the power of the absolute value of the field, if the value is </a:t>
            </a:r>
            <a:r>
              <a:rPr lang="en-CA" baseline="0" dirty="0" err="1" smtClean="0"/>
              <a:t>negatve</a:t>
            </a:r>
            <a:r>
              <a:rPr lang="en-CA" baseline="0" dirty="0" smtClean="0"/>
              <a:t>. Unsurprisingly, the </a:t>
            </a:r>
            <a:r>
              <a:rPr lang="en-CA" baseline="0" dirty="0" err="1" smtClean="0"/>
              <a:t>ntfsprogs</a:t>
            </a:r>
            <a:r>
              <a:rPr lang="en-CA" baseline="0" dirty="0" smtClean="0"/>
              <a:t> library </a:t>
            </a:r>
            <a:r>
              <a:rPr lang="en-CA" baseline="0" dirty="0" smtClean="0"/>
              <a:t>misinterpreted </a:t>
            </a:r>
            <a:r>
              <a:rPr lang="en-CA" baseline="0" dirty="0" smtClean="0"/>
              <a:t>this field, and </a:t>
            </a:r>
            <a:r>
              <a:rPr lang="en-CA" baseline="0" dirty="0" smtClean="0"/>
              <a:t>corrupted </a:t>
            </a:r>
            <a:r>
              <a:rPr lang="en-CA" baseline="0" dirty="0" smtClean="0"/>
              <a:t>file systems when resizing partitions.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3</a:t>
            </a:fld>
            <a:endParaRPr lang="en-CA"/>
          </a:p>
        </p:txBody>
      </p:sp>
    </p:spTree>
    <p:extLst>
      <p:ext uri="{BB962C8B-B14F-4D97-AF65-F5344CB8AC3E}">
        <p14:creationId xmlns:p14="http://schemas.microsoft.com/office/powerpoint/2010/main" val="23840179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The root cause of all these problems is that these</a:t>
            </a:r>
            <a:r>
              <a:rPr lang="en-CA" baseline="0" dirty="0" smtClean="0"/>
              <a:t> tools are inherently hard to write because the file system format is complex and poorly documented. These a</a:t>
            </a:r>
            <a:r>
              <a:rPr lang="en-CA" dirty="0" smtClean="0"/>
              <a:t>pplications require detailed knowledge </a:t>
            </a:r>
            <a:r>
              <a:rPr lang="en-CA" baseline="0" dirty="0" smtClean="0"/>
              <a:t>for traversing and processing file system </a:t>
            </a:r>
            <a:r>
              <a:rPr lang="en-CA" baseline="0" dirty="0" smtClean="0"/>
              <a:t>metadata. Since </a:t>
            </a:r>
            <a:r>
              <a:rPr lang="en-CA" baseline="0" dirty="0" smtClean="0"/>
              <a:t>different file systems use different metadata structures, an application cannot be reused across file systems. In addition, these applications need to be robust to file system corruption, or else they can crash or cause even more corruption.</a:t>
            </a:r>
          </a:p>
        </p:txBody>
      </p:sp>
      <p:sp>
        <p:nvSpPr>
          <p:cNvPr id="4" name="Slide Number Placeholder 3"/>
          <p:cNvSpPr>
            <a:spLocks noGrp="1"/>
          </p:cNvSpPr>
          <p:nvPr>
            <p:ph type="sldNum" sz="quarter" idx="10"/>
          </p:nvPr>
        </p:nvSpPr>
        <p:spPr/>
        <p:txBody>
          <a:bodyPr/>
          <a:lstStyle/>
          <a:p>
            <a:fld id="{B5B5BF96-4013-477F-9949-176AD53AFF60}" type="slidenum">
              <a:rPr lang="en-CA" smtClean="0"/>
              <a:t>4</a:t>
            </a:fld>
            <a:endParaRPr lang="en-CA"/>
          </a:p>
        </p:txBody>
      </p:sp>
    </p:spTree>
    <p:extLst>
      <p:ext uri="{BB962C8B-B14F-4D97-AF65-F5344CB8AC3E}">
        <p14:creationId xmlns:p14="http://schemas.microsoft.com/office/powerpoint/2010/main" val="42283268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Our goal for this work is to</a:t>
            </a:r>
            <a:r>
              <a:rPr lang="en-CA" baseline="0" dirty="0" smtClean="0"/>
              <a:t> simplify development of file-system aware applications in two ways. First, we would like to reduce the amount of file-system specific code that application developers have to write. Second, we would like to make it easier to write applications that work for multiple file systems. We also want to improve the robustness of these applications. In particular, we would like to enable correct traversal of file system metadata, and ensure type-safe access to file system metadata structures. Type-safe access helps with detecting corruption when reading metadata from disk, and also before writing metadata out to disk. This in turn helps reduce error propagation and further corruption from spreading.</a:t>
            </a:r>
            <a:endParaRPr lang="en-CA"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5</a:t>
            </a:fld>
            <a:endParaRPr lang="en-CA"/>
          </a:p>
        </p:txBody>
      </p:sp>
    </p:spTree>
    <p:extLst>
      <p:ext uri="{BB962C8B-B14F-4D97-AF65-F5344CB8AC3E}">
        <p14:creationId xmlns:p14="http://schemas.microsoft.com/office/powerpoint/2010/main" val="13570263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Our</a:t>
            </a:r>
            <a:r>
              <a:rPr lang="en-CA" baseline="0" dirty="0" smtClean="0"/>
              <a:t> approach is embodied in the Spiffy framework that help developers with building file-system aware applications. The main idea is to have file system developers specify the format of their file system. With this specification, we can generate the Spiffy parsing and serialization library. Application developers can then use the Spiffy library to build robust file-system aware tools.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6</a:t>
            </a:fld>
            <a:endParaRPr lang="en-CA"/>
          </a:p>
        </p:txBody>
      </p:sp>
    </p:spTree>
    <p:extLst>
      <p:ext uri="{BB962C8B-B14F-4D97-AF65-F5344CB8AC3E}">
        <p14:creationId xmlns:p14="http://schemas.microsoft.com/office/powerpoint/2010/main" val="41101040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Our</a:t>
            </a:r>
            <a:r>
              <a:rPr lang="en-CA" baseline="0" dirty="0" smtClean="0"/>
              <a:t> approach to specifying the format of the file system is to have file system developers annotate the metadata structures in the header files of existing source code.</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7</a:t>
            </a:fld>
            <a:endParaRPr lang="en-CA"/>
          </a:p>
        </p:txBody>
      </p:sp>
    </p:spTree>
    <p:extLst>
      <p:ext uri="{BB962C8B-B14F-4D97-AF65-F5344CB8AC3E}">
        <p14:creationId xmlns:p14="http://schemas.microsoft.com/office/powerpoint/2010/main" val="16066510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Next, we use the Spiffy compiler to process the annotated metadata structures</a:t>
            </a:r>
            <a:r>
              <a:rPr lang="en-CA" baseline="0" dirty="0" smtClean="0"/>
              <a:t> to generate a library that provides a generic API for type-safe parsing and serialization, as well as facility for traversing the file system. </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8</a:t>
            </a:fld>
            <a:endParaRPr lang="en-CA"/>
          </a:p>
        </p:txBody>
      </p:sp>
    </p:spTree>
    <p:extLst>
      <p:ext uri="{BB962C8B-B14F-4D97-AF65-F5344CB8AC3E}">
        <p14:creationId xmlns:p14="http://schemas.microsoft.com/office/powerpoint/2010/main" val="21936663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Lastly,</a:t>
            </a:r>
            <a:r>
              <a:rPr lang="en-CA" baseline="0" dirty="0" smtClean="0"/>
              <a:t> the application developers can use the Spiffy library to build robust tools. Since the Spiffy API is standardized for all annotated file systems, it is easier for developers to build applications that work for multiple file systems.</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9</a:t>
            </a:fld>
            <a:endParaRPr lang="en-CA"/>
          </a:p>
        </p:txBody>
      </p:sp>
    </p:spTree>
    <p:extLst>
      <p:ext uri="{BB962C8B-B14F-4D97-AF65-F5344CB8AC3E}">
        <p14:creationId xmlns:p14="http://schemas.microsoft.com/office/powerpoint/2010/main" val="20607965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To summarize</a:t>
            </a:r>
            <a:r>
              <a:rPr lang="en-CA" baseline="0" dirty="0" smtClean="0"/>
              <a:t> the talk thus far, we’ve described the difficulty with writing robust, and generic file-system applications. Now we will talk about the details of the Spiffy framework and how it helps with this problem. </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10</a:t>
            </a:fld>
            <a:endParaRPr lang="en-CA"/>
          </a:p>
        </p:txBody>
      </p:sp>
    </p:spTree>
    <p:extLst>
      <p:ext uri="{BB962C8B-B14F-4D97-AF65-F5344CB8AC3E}">
        <p14:creationId xmlns:p14="http://schemas.microsoft.com/office/powerpoint/2010/main" val="21402443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As a first step, we need a complete specification of the file system format, which will enable type-safe parsing of file system </a:t>
            </a:r>
            <a:r>
              <a:rPr lang="en-CA" baseline="0" dirty="0" err="1" smtClean="0"/>
              <a:t>strutures</a:t>
            </a:r>
            <a:r>
              <a:rPr lang="en-CA" baseline="0" dirty="0" smtClean="0"/>
              <a:t>. </a:t>
            </a:r>
            <a:r>
              <a:rPr lang="en-CA" dirty="0" smtClean="0"/>
              <a:t>Ideally</a:t>
            </a:r>
            <a:r>
              <a:rPr lang="en-CA" dirty="0" smtClean="0"/>
              <a:t>,</a:t>
            </a:r>
            <a:r>
              <a:rPr lang="en-CA" baseline="0" dirty="0" smtClean="0"/>
              <a:t> we should be able to extract the format specification from the metadata structure definitions in existing source code. However, these structure definitions do *not* completely describe their actual format on disk. For example, the slide shows a definition of </a:t>
            </a:r>
            <a:r>
              <a:rPr lang="en-CA" baseline="0" dirty="0" err="1" smtClean="0"/>
              <a:t>struct</a:t>
            </a:r>
            <a:r>
              <a:rPr lang="en-CA" baseline="0" dirty="0" smtClean="0"/>
              <a:t> foo in a file system header file. In it, there are two fields, called size and </a:t>
            </a:r>
            <a:r>
              <a:rPr lang="en-CA" baseline="0" dirty="0" err="1" smtClean="0"/>
              <a:t>bar_block_ptr</a:t>
            </a:r>
            <a:r>
              <a:rPr lang="en-CA" baseline="0" dirty="0" smtClean="0"/>
              <a:t>, both of a little endian integer type. By looking at the name, </a:t>
            </a:r>
            <a:r>
              <a:rPr lang="en-CA" baseline="0" dirty="0" err="1" smtClean="0"/>
              <a:t>bar_block_ptr</a:t>
            </a:r>
            <a:r>
              <a:rPr lang="en-CA" baseline="0" dirty="0" smtClean="0"/>
              <a:t>, a programmer may deduce that this field points to a block of type </a:t>
            </a:r>
            <a:r>
              <a:rPr lang="en-CA" baseline="0" dirty="0" err="1" smtClean="0"/>
              <a:t>bar_block</a:t>
            </a:r>
            <a:r>
              <a:rPr lang="en-CA" baseline="0" dirty="0" smtClean="0"/>
              <a:t>, but there is no way to know for sure.</a:t>
            </a:r>
          </a:p>
        </p:txBody>
      </p:sp>
      <p:sp>
        <p:nvSpPr>
          <p:cNvPr id="4" name="Slide Number Placeholder 3"/>
          <p:cNvSpPr>
            <a:spLocks noGrp="1"/>
          </p:cNvSpPr>
          <p:nvPr>
            <p:ph type="sldNum" sz="quarter" idx="10"/>
          </p:nvPr>
        </p:nvSpPr>
        <p:spPr/>
        <p:txBody>
          <a:bodyPr/>
          <a:lstStyle/>
          <a:p>
            <a:fld id="{B5B5BF96-4013-477F-9949-176AD53AFF60}" type="slidenum">
              <a:rPr lang="en-CA" smtClean="0"/>
              <a:t>11</a:t>
            </a:fld>
            <a:endParaRPr lang="en-CA"/>
          </a:p>
        </p:txBody>
      </p:sp>
    </p:spTree>
    <p:extLst>
      <p:ext uri="{BB962C8B-B14F-4D97-AF65-F5344CB8AC3E}">
        <p14:creationId xmlns:p14="http://schemas.microsoft.com/office/powerpoint/2010/main" val="18988690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Our solution is to annotate this metadata structure so that we can unambiguously specify this missing information. Here we add an FSSTRUCT annotation to </a:t>
            </a:r>
            <a:r>
              <a:rPr lang="en-CA" baseline="0" dirty="0" err="1" smtClean="0"/>
              <a:t>struct</a:t>
            </a:r>
            <a:r>
              <a:rPr lang="en-CA" baseline="0" dirty="0" smtClean="0"/>
              <a:t> foo to indicate that it is an on-disk metadata structure. Then, we add a pointer annotation </a:t>
            </a:r>
            <a:r>
              <a:rPr lang="en-US" baseline="0" dirty="0" smtClean="0"/>
              <a:t>to s</a:t>
            </a:r>
            <a:r>
              <a:rPr lang="en-US" dirty="0" smtClean="0"/>
              <a:t>pecify that a data structure field holds an address to a location on physical storage. Here,</a:t>
            </a:r>
            <a:r>
              <a:rPr lang="en-US" baseline="0" dirty="0" smtClean="0"/>
              <a:t> the pointer annotation added</a:t>
            </a:r>
            <a:r>
              <a:rPr lang="en-CA" baseline="0" dirty="0" smtClean="0"/>
              <a:t> to the </a:t>
            </a:r>
            <a:r>
              <a:rPr lang="en-CA" baseline="0" dirty="0" err="1" smtClean="0"/>
              <a:t>bar_block_ptr</a:t>
            </a:r>
            <a:r>
              <a:rPr lang="en-CA" baseline="0" dirty="0" smtClean="0"/>
              <a:t> field specifies that the field value is the address of a block of type </a:t>
            </a:r>
            <a:r>
              <a:rPr lang="en-CA" baseline="0" dirty="0" err="1" smtClean="0"/>
              <a:t>bar_block</a:t>
            </a:r>
            <a:r>
              <a:rPr lang="en-CA" baseline="0" dirty="0" smtClean="0"/>
              <a:t>.</a:t>
            </a:r>
          </a:p>
          <a:p>
            <a:endParaRPr lang="en-CA" baseline="0" dirty="0" smtClean="0"/>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12</a:t>
            </a:fld>
            <a:endParaRPr lang="en-CA"/>
          </a:p>
        </p:txBody>
      </p:sp>
    </p:spTree>
    <p:extLst>
      <p:ext uri="{BB962C8B-B14F-4D97-AF65-F5344CB8AC3E}">
        <p14:creationId xmlns:p14="http://schemas.microsoft.com/office/powerpoint/2010/main" val="339108276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Pointer annotations provide the ability to specify relationships between file system structures. Thus they allow traversal </a:t>
            </a:r>
            <a:r>
              <a:rPr lang="en-CA" baseline="0" dirty="0" smtClean="0"/>
              <a:t>of the </a:t>
            </a:r>
            <a:r>
              <a:rPr lang="en-CA" baseline="0" dirty="0" smtClean="0"/>
              <a:t>file </a:t>
            </a:r>
            <a:r>
              <a:rPr lang="en-CA" baseline="0" dirty="0" smtClean="0"/>
              <a:t>system.</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13</a:t>
            </a:fld>
            <a:endParaRPr lang="en-CA"/>
          </a:p>
        </p:txBody>
      </p:sp>
    </p:spTree>
    <p:extLst>
      <p:ext uri="{BB962C8B-B14F-4D97-AF65-F5344CB8AC3E}">
        <p14:creationId xmlns:p14="http://schemas.microsoft.com/office/powerpoint/2010/main" val="238746244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challenge with file system pointers is that they can store different types of logical addresses, requiring different mappings to obtain the corresponding physical storage address. Our solution is to add an address space type to p</a:t>
            </a:r>
            <a:r>
              <a:rPr lang="en-CA" dirty="0" smtClean="0"/>
              <a:t>ointer annotations to specify how</a:t>
            </a:r>
            <a:r>
              <a:rPr lang="en-CA" baseline="0" dirty="0" smtClean="0"/>
              <a:t> to map an address to its physical location. Examples of such address spaces include the block, file and NID address spaces that I will describe next.</a:t>
            </a:r>
          </a:p>
        </p:txBody>
      </p:sp>
      <p:sp>
        <p:nvSpPr>
          <p:cNvPr id="4" name="Slide Number Placeholder 3"/>
          <p:cNvSpPr>
            <a:spLocks noGrp="1"/>
          </p:cNvSpPr>
          <p:nvPr>
            <p:ph type="sldNum" sz="quarter" idx="10"/>
          </p:nvPr>
        </p:nvSpPr>
        <p:spPr/>
        <p:txBody>
          <a:bodyPr/>
          <a:lstStyle/>
          <a:p>
            <a:fld id="{849A0A36-F84D-437B-B821-CB3EBADC1433}" type="slidenum">
              <a:rPr lang="en-CA" smtClean="0"/>
              <a:t>14</a:t>
            </a:fld>
            <a:endParaRPr lang="en-CA"/>
          </a:p>
        </p:txBody>
      </p:sp>
    </p:spTree>
    <p:extLst>
      <p:ext uri="{BB962C8B-B14F-4D97-AF65-F5344CB8AC3E}">
        <p14:creationId xmlns:p14="http://schemas.microsoft.com/office/powerpoint/2010/main" val="16790954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In the block address space, an address is simply the block number in the file system. This is the most common address space.</a:t>
            </a:r>
          </a:p>
        </p:txBody>
      </p:sp>
      <p:sp>
        <p:nvSpPr>
          <p:cNvPr id="4" name="Slide Number Placeholder 3"/>
          <p:cNvSpPr>
            <a:spLocks noGrp="1"/>
          </p:cNvSpPr>
          <p:nvPr>
            <p:ph type="sldNum" sz="quarter" idx="10"/>
          </p:nvPr>
        </p:nvSpPr>
        <p:spPr/>
        <p:txBody>
          <a:bodyPr/>
          <a:lstStyle/>
          <a:p>
            <a:fld id="{B5B5BF96-4013-477F-9949-176AD53AFF60}" type="slidenum">
              <a:rPr lang="en-CA" smtClean="0"/>
              <a:t>15</a:t>
            </a:fld>
            <a:endParaRPr lang="en-CA"/>
          </a:p>
        </p:txBody>
      </p:sp>
    </p:spTree>
    <p:extLst>
      <p:ext uri="{BB962C8B-B14F-4D97-AF65-F5344CB8AC3E}">
        <p14:creationId xmlns:p14="http://schemas.microsoft.com/office/powerpoint/2010/main" val="121240892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In the file address space, an address is an </a:t>
            </a:r>
            <a:r>
              <a:rPr lang="en-CA" baseline="0" dirty="0" err="1" smtClean="0"/>
              <a:t>inode</a:t>
            </a:r>
            <a:r>
              <a:rPr lang="en-CA" baseline="0" dirty="0" smtClean="0"/>
              <a:t> number that identifies a specific file. For example, the Ext4 journal is stored on disk as a regular file, and a field in the super block stores the </a:t>
            </a:r>
            <a:r>
              <a:rPr lang="en-CA" baseline="0" dirty="0" err="1" smtClean="0"/>
              <a:t>inode</a:t>
            </a:r>
            <a:r>
              <a:rPr lang="en-CA" baseline="0" dirty="0" smtClean="0"/>
              <a:t> number of the journal. We specify this field as a pointer to the Ext4 journal in the file address space. This address space requires mapping the logical blocks of the journal file to their physical locations.</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16</a:t>
            </a:fld>
            <a:endParaRPr lang="en-CA"/>
          </a:p>
        </p:txBody>
      </p:sp>
    </p:spTree>
    <p:extLst>
      <p:ext uri="{BB962C8B-B14F-4D97-AF65-F5344CB8AC3E}">
        <p14:creationId xmlns:p14="http://schemas.microsoft.com/office/powerpoint/2010/main" val="9514634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The l</a:t>
            </a:r>
            <a:r>
              <a:rPr lang="en-CA" dirty="0" smtClean="0"/>
              <a:t>ocations of some structures are implicit in the code, and not</a:t>
            </a:r>
            <a:r>
              <a:rPr lang="en-CA" baseline="0" dirty="0" smtClean="0"/>
              <a:t> part of the structure definition in header files. </a:t>
            </a:r>
            <a:r>
              <a:rPr lang="en-CA" baseline="0" dirty="0" smtClean="0"/>
              <a:t>For example,</a:t>
            </a:r>
            <a:r>
              <a:rPr lang="en-CA" dirty="0" smtClean="0"/>
              <a:t> </a:t>
            </a:r>
            <a:r>
              <a:rPr lang="en-CA" dirty="0" smtClean="0"/>
              <a:t>the Ext4 block group descriptor table is the next block following the super block, but the</a:t>
            </a:r>
            <a:r>
              <a:rPr lang="en-CA" baseline="0" dirty="0" smtClean="0"/>
              <a:t> </a:t>
            </a:r>
            <a:r>
              <a:rPr lang="en-CA" dirty="0" smtClean="0"/>
              <a:t>Ext4 super block does not have a field that points to this descriptor table. However, we</a:t>
            </a:r>
            <a:r>
              <a:rPr lang="en-CA" baseline="0" dirty="0" smtClean="0"/>
              <a:t> need such a p</a:t>
            </a:r>
            <a:r>
              <a:rPr lang="en-CA" dirty="0" smtClean="0"/>
              <a:t>ointer to traverse the file system.</a:t>
            </a:r>
          </a:p>
        </p:txBody>
      </p:sp>
      <p:sp>
        <p:nvSpPr>
          <p:cNvPr id="4" name="Slide Number Placeholder 3"/>
          <p:cNvSpPr>
            <a:spLocks noGrp="1"/>
          </p:cNvSpPr>
          <p:nvPr>
            <p:ph type="sldNum" sz="quarter" idx="10"/>
          </p:nvPr>
        </p:nvSpPr>
        <p:spPr/>
        <p:txBody>
          <a:bodyPr/>
          <a:lstStyle/>
          <a:p>
            <a:fld id="{B5B5BF96-4013-477F-9949-176AD53AFF60}" type="slidenum">
              <a:rPr lang="en-CA" smtClean="0"/>
              <a:t>17</a:t>
            </a:fld>
            <a:endParaRPr lang="en-CA"/>
          </a:p>
        </p:txBody>
      </p:sp>
    </p:spTree>
    <p:extLst>
      <p:ext uri="{BB962C8B-B14F-4D97-AF65-F5344CB8AC3E}">
        <p14:creationId xmlns:p14="http://schemas.microsoft.com/office/powerpoint/2010/main" val="311740224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Our s</a:t>
            </a:r>
            <a:r>
              <a:rPr lang="en-CA" dirty="0" smtClean="0"/>
              <a:t>olution</a:t>
            </a:r>
            <a:r>
              <a:rPr lang="en-CA" baseline="0" dirty="0" smtClean="0"/>
              <a:t> is to provide an i</a:t>
            </a:r>
            <a:r>
              <a:rPr lang="en-CA" dirty="0" smtClean="0"/>
              <a:t>mplicit pointer annotation that take two</a:t>
            </a:r>
            <a:r>
              <a:rPr lang="en-CA" baseline="0" dirty="0" smtClean="0"/>
              <a:t> additional arguments, a name, and </a:t>
            </a:r>
            <a:r>
              <a:rPr lang="en-CA" baseline="0" dirty="0" smtClean="0"/>
              <a:t>an expression</a:t>
            </a:r>
            <a:r>
              <a:rPr lang="en-CA" baseline="0" dirty="0" smtClean="0"/>
              <a:t>. The </a:t>
            </a:r>
            <a:r>
              <a:rPr lang="en-CA" i="1" dirty="0" smtClean="0"/>
              <a:t>name</a:t>
            </a:r>
            <a:r>
              <a:rPr lang="en-CA" dirty="0" smtClean="0"/>
              <a:t> argument</a:t>
            </a:r>
            <a:r>
              <a:rPr lang="en-CA" baseline="0" dirty="0" smtClean="0"/>
              <a:t> </a:t>
            </a:r>
            <a:r>
              <a:rPr lang="en-CA" dirty="0" smtClean="0"/>
              <a:t>creates a logical pointer field that can be accessed</a:t>
            </a:r>
            <a:r>
              <a:rPr lang="en-CA" baseline="0" dirty="0" smtClean="0"/>
              <a:t> and </a:t>
            </a:r>
            <a:r>
              <a:rPr lang="en-CA" dirty="0" smtClean="0"/>
              <a:t>dereferenced.</a:t>
            </a:r>
            <a:r>
              <a:rPr lang="en-CA" baseline="0" dirty="0" smtClean="0"/>
              <a:t> The </a:t>
            </a:r>
            <a:r>
              <a:rPr lang="en-CA" i="1" dirty="0" smtClean="0"/>
              <a:t>expr argument </a:t>
            </a:r>
            <a:r>
              <a:rPr lang="en-CA" dirty="0" smtClean="0"/>
              <a:t>is a C expression that specifies how to calculate the field value, which is the pointer address</a:t>
            </a:r>
            <a:r>
              <a:rPr lang="en-CA" dirty="0" smtClean="0"/>
              <a:t>.</a:t>
            </a:r>
            <a:endParaRPr lang="en-CA" dirty="0" smtClean="0"/>
          </a:p>
          <a:p>
            <a:r>
              <a:rPr lang="en-CA" dirty="0" smtClean="0"/>
              <a:t>In</a:t>
            </a:r>
            <a:r>
              <a:rPr lang="en-CA" baseline="0" dirty="0" smtClean="0"/>
              <a:t> this example, the pointer annotation creates a logical field called </a:t>
            </a:r>
            <a:r>
              <a:rPr lang="en-CA" baseline="0" dirty="0" err="1" smtClean="0"/>
              <a:t>s_block_group_descriptor</a:t>
            </a:r>
            <a:r>
              <a:rPr lang="en-CA" baseline="0" dirty="0" smtClean="0"/>
              <a:t>, </a:t>
            </a:r>
            <a:r>
              <a:rPr lang="en-CA" baseline="0" dirty="0" smtClean="0"/>
              <a:t>and evaluates the expression at runtime that assigns the field a value of 2 or 1 depending the block size of the file system. </a:t>
            </a:r>
            <a:r>
              <a:rPr lang="en-CA" baseline="0" dirty="0" smtClean="0"/>
              <a:t>Now, </a:t>
            </a:r>
            <a:r>
              <a:rPr lang="en-CA" baseline="0" dirty="0" smtClean="0"/>
              <a:t>this field name can be used to traverse the file system from the super block to the block group descriptor table</a:t>
            </a:r>
            <a:r>
              <a:rPr lang="en-CA" baseline="0" dirty="0" smtClean="0"/>
              <a:t>.</a:t>
            </a:r>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18</a:t>
            </a:fld>
            <a:endParaRPr lang="en-CA"/>
          </a:p>
        </p:txBody>
      </p:sp>
    </p:spTree>
    <p:extLst>
      <p:ext uri="{BB962C8B-B14F-4D97-AF65-F5344CB8AC3E}">
        <p14:creationId xmlns:p14="http://schemas.microsoft.com/office/powerpoint/2010/main" val="157482294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A pointer may point to different types of metadata</a:t>
            </a:r>
            <a:r>
              <a:rPr lang="en-CA" baseline="0" dirty="0" smtClean="0"/>
              <a:t> in different contexts. For example, p</a:t>
            </a:r>
            <a:r>
              <a:rPr lang="en-CA" dirty="0" smtClean="0"/>
              <a:t>ointers in an </a:t>
            </a:r>
            <a:r>
              <a:rPr lang="en-CA" dirty="0" err="1" smtClean="0"/>
              <a:t>inode</a:t>
            </a:r>
            <a:r>
              <a:rPr lang="en-CA" dirty="0" smtClean="0"/>
              <a:t> structure can point to directory or data blocks, depending</a:t>
            </a:r>
            <a:r>
              <a:rPr lang="en-CA" baseline="0" dirty="0" smtClean="0"/>
              <a:t> on the type of the </a:t>
            </a:r>
            <a:r>
              <a:rPr lang="en-CA" baseline="0" dirty="0" err="1" smtClean="0"/>
              <a:t>inode</a:t>
            </a:r>
            <a:r>
              <a:rPr lang="en-CA" baseline="0" dirty="0" smtClean="0"/>
              <a:t>. We support such context-sensitive types by </a:t>
            </a:r>
            <a:r>
              <a:rPr lang="en-CA" dirty="0" smtClean="0"/>
              <a:t>specifying a </a:t>
            </a:r>
            <a:r>
              <a:rPr lang="en-CA" i="1" dirty="0" smtClean="0"/>
              <a:t>WHEN condition</a:t>
            </a:r>
            <a:r>
              <a:rPr lang="en-CA" i="1" baseline="0" dirty="0" smtClean="0"/>
              <a:t> </a:t>
            </a:r>
            <a:r>
              <a:rPr lang="en-CA" dirty="0" smtClean="0"/>
              <a:t>in pointer annotations. The field is a valid pointer of</a:t>
            </a:r>
            <a:r>
              <a:rPr lang="en-CA" baseline="0" dirty="0" smtClean="0"/>
              <a:t> the specified type </a:t>
            </a:r>
            <a:r>
              <a:rPr lang="en-CA" dirty="0" smtClean="0"/>
              <a:t>only if </a:t>
            </a:r>
            <a:r>
              <a:rPr lang="en-CA" baseline="0" dirty="0" smtClean="0"/>
              <a:t>the</a:t>
            </a:r>
            <a:r>
              <a:rPr lang="en-CA" dirty="0" smtClean="0"/>
              <a:t> expression in a when condition evaluates to true. In</a:t>
            </a:r>
            <a:r>
              <a:rPr lang="en-CA" baseline="0" dirty="0" smtClean="0"/>
              <a:t> this example, there are two pointer annotation to the same </a:t>
            </a:r>
            <a:r>
              <a:rPr lang="en-CA" baseline="0" dirty="0" err="1" smtClean="0"/>
              <a:t>i_block</a:t>
            </a:r>
            <a:r>
              <a:rPr lang="en-CA" baseline="0" dirty="0" smtClean="0"/>
              <a:t> array. The first annotation </a:t>
            </a:r>
            <a:r>
              <a:rPr lang="en-CA" baseline="0" dirty="0" smtClean="0"/>
              <a:t>specifies </a:t>
            </a:r>
            <a:r>
              <a:rPr lang="en-CA" baseline="0" dirty="0" smtClean="0"/>
              <a:t>that </a:t>
            </a:r>
            <a:r>
              <a:rPr lang="en-CA" baseline="0" dirty="0" err="1" smtClean="0"/>
              <a:t>i_block</a:t>
            </a:r>
            <a:r>
              <a:rPr lang="en-CA" baseline="0" dirty="0" smtClean="0"/>
              <a:t> is an array of pointers to </a:t>
            </a:r>
            <a:r>
              <a:rPr lang="en-CA" baseline="0" dirty="0" err="1" smtClean="0"/>
              <a:t>dir_blocks</a:t>
            </a:r>
            <a:r>
              <a:rPr lang="en-CA" baseline="0" dirty="0" smtClean="0"/>
              <a:t> only when the </a:t>
            </a:r>
            <a:r>
              <a:rPr lang="en-CA" baseline="0" dirty="0" err="1" smtClean="0"/>
              <a:t>inode’s</a:t>
            </a:r>
            <a:r>
              <a:rPr lang="en-CA" baseline="0" dirty="0" smtClean="0"/>
              <a:t> mode field indicates a directory. The second annotation </a:t>
            </a:r>
            <a:r>
              <a:rPr lang="en-CA" baseline="0" dirty="0" smtClean="0"/>
              <a:t>specifies </a:t>
            </a:r>
            <a:r>
              <a:rPr lang="en-CA" baseline="0" dirty="0" smtClean="0"/>
              <a:t>that this same </a:t>
            </a:r>
            <a:r>
              <a:rPr lang="en-CA" baseline="0" dirty="0" err="1" smtClean="0"/>
              <a:t>i_block</a:t>
            </a:r>
            <a:r>
              <a:rPr lang="en-CA" baseline="0" dirty="0" smtClean="0"/>
              <a:t> is an array of pointers to </a:t>
            </a:r>
            <a:r>
              <a:rPr lang="en-CA" baseline="0" dirty="0" smtClean="0"/>
              <a:t>data blocks </a:t>
            </a:r>
            <a:r>
              <a:rPr lang="en-CA" baseline="0" dirty="0" smtClean="0"/>
              <a:t>when the </a:t>
            </a:r>
            <a:r>
              <a:rPr lang="en-CA" baseline="0" dirty="0" err="1" smtClean="0"/>
              <a:t>inode’s</a:t>
            </a:r>
            <a:r>
              <a:rPr lang="en-CA" baseline="0" dirty="0" smtClean="0"/>
              <a:t> mode field indicates a regular file.</a:t>
            </a:r>
            <a:endParaRPr lang="en-CA"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19</a:t>
            </a:fld>
            <a:endParaRPr lang="en-CA"/>
          </a:p>
        </p:txBody>
      </p:sp>
    </p:spTree>
    <p:extLst>
      <p:ext uri="{BB962C8B-B14F-4D97-AF65-F5344CB8AC3E}">
        <p14:creationId xmlns:p14="http://schemas.microsoft.com/office/powerpoint/2010/main" val="21674246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Spiffy provides a CHECK annotation that helps to check metadata structure constraints at runtime. In the top example, we specify that the block size must be at most 64KB, and the magic field of the super block must be the Ext4 magic number</a:t>
            </a:r>
            <a:r>
              <a:rPr lang="en-CA" baseline="0" dirty="0" smtClean="0"/>
              <a:t>.</a:t>
            </a:r>
            <a:endParaRPr lang="en-CA" baseline="0" dirty="0" smtClean="0"/>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bottom example shows a fragment of the generated parsing code for the Ext4 super block. This example shows how </a:t>
            </a:r>
            <a:r>
              <a:rPr lang="en-CA" baseline="0" dirty="0" smtClean="0"/>
              <a:t>check </a:t>
            </a:r>
            <a:r>
              <a:rPr lang="en-CA" baseline="0" dirty="0" smtClean="0"/>
              <a:t>annotations are implemented. These checks help detect </a:t>
            </a:r>
            <a:r>
              <a:rPr lang="en-CA" baseline="0" dirty="0" smtClean="0"/>
              <a:t>metadata corruptions.</a:t>
            </a:r>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20</a:t>
            </a:fld>
            <a:endParaRPr lang="en-CA"/>
          </a:p>
        </p:txBody>
      </p:sp>
    </p:spTree>
    <p:extLst>
      <p:ext uri="{BB962C8B-B14F-4D97-AF65-F5344CB8AC3E}">
        <p14:creationId xmlns:p14="http://schemas.microsoft.com/office/powerpoint/2010/main" val="35954121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generated Spiffy library contains a C++ class for every annotated structure and its fields. This allows us to implement type-safe parsing and serialization. It also allows us to introspect each structure and its fields to get their types, sizes, names and parents.</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21</a:t>
            </a:fld>
            <a:endParaRPr lang="en-CA"/>
          </a:p>
        </p:txBody>
      </p:sp>
    </p:spTree>
    <p:extLst>
      <p:ext uri="{BB962C8B-B14F-4D97-AF65-F5344CB8AC3E}">
        <p14:creationId xmlns:p14="http://schemas.microsoft.com/office/powerpoint/2010/main" val="6796354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now take a look at the annotation effort</a:t>
            </a:r>
            <a:r>
              <a:rPr lang="en-CA" baseline="0" dirty="0" smtClean="0"/>
              <a:t> required to completely specify each file system. The line count column shows the number of lines of code that define the on-disk data structures in each file system. The annotated column shows the annotations we have added to the original structure definitions. In all cases, the annotations are approximately one forth of the total line count. These numbers include the types of annotations that we have shown earlier, as well as two special cases. We needed to declare some metadata structures that were not declared at all, such as an Ext4 indirect block, which the code assumes is array of pointers. We also made minor changes to some structure definitions for clarity, in particular when a single type definition is used to access multiple different types. </a:t>
            </a:r>
            <a:r>
              <a:rPr lang="en-CA" baseline="0" dirty="0" smtClean="0"/>
              <a:t>For example,</a:t>
            </a:r>
            <a:r>
              <a:rPr lang="en-CA" dirty="0" smtClean="0"/>
              <a:t> </a:t>
            </a:r>
            <a:r>
              <a:rPr lang="en-CA" dirty="0" smtClean="0"/>
              <a:t>block pointers in Ext4 </a:t>
            </a:r>
            <a:r>
              <a:rPr lang="en-CA" dirty="0" err="1" smtClean="0"/>
              <a:t>inode</a:t>
            </a:r>
            <a:r>
              <a:rPr lang="en-CA" dirty="0" smtClean="0"/>
              <a:t> is an array of 15 pointers, the first 12 are direct block pointers, while the last 3 are indirect pointers of different types.</a:t>
            </a:r>
          </a:p>
        </p:txBody>
      </p:sp>
      <p:sp>
        <p:nvSpPr>
          <p:cNvPr id="4" name="Slide Number Placeholder 3"/>
          <p:cNvSpPr>
            <a:spLocks noGrp="1"/>
          </p:cNvSpPr>
          <p:nvPr>
            <p:ph type="sldNum" sz="quarter" idx="10"/>
          </p:nvPr>
        </p:nvSpPr>
        <p:spPr/>
        <p:txBody>
          <a:bodyPr/>
          <a:lstStyle/>
          <a:p>
            <a:fld id="{849A0A36-F84D-437B-B821-CB3EBADC1433}" type="slidenum">
              <a:rPr lang="en-CA" smtClean="0"/>
              <a:t>22</a:t>
            </a:fld>
            <a:endParaRPr lang="en-CA"/>
          </a:p>
        </p:txBody>
      </p:sp>
    </p:spTree>
    <p:extLst>
      <p:ext uri="{BB962C8B-B14F-4D97-AF65-F5344CB8AC3E}">
        <p14:creationId xmlns:p14="http://schemas.microsoft.com/office/powerpoint/2010/main" val="417483949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now show an example of building a file-system</a:t>
            </a:r>
            <a:r>
              <a:rPr lang="en-CA" baseline="0" dirty="0" smtClean="0"/>
              <a:t> aware application: a free space display tool that plots a histogram of the sizes of free extents available in a file system image. For this application, we require knowledge of how file system keeps </a:t>
            </a:r>
            <a:r>
              <a:rPr lang="en-CA" dirty="0" smtClean="0"/>
              <a:t>track of block allocation information. The</a:t>
            </a:r>
            <a:r>
              <a:rPr lang="en-CA" baseline="0" dirty="0" smtClean="0"/>
              <a:t> manual approach requires first</a:t>
            </a:r>
            <a:r>
              <a:rPr lang="en-CA" dirty="0" smtClean="0"/>
              <a:t> traversing</a:t>
            </a:r>
            <a:r>
              <a:rPr lang="en-CA" baseline="0" dirty="0" smtClean="0"/>
              <a:t> the file system to access the block allocation information, and then processing this information to obtain the free space extents. In </a:t>
            </a:r>
            <a:r>
              <a:rPr lang="en-CA" baseline="0" dirty="0" err="1" smtClean="0"/>
              <a:t>constrast</a:t>
            </a:r>
            <a:r>
              <a:rPr lang="en-CA" baseline="0" dirty="0" smtClean="0"/>
              <a:t>, the Spiffy library provides the necessary traversal code so that the developer only needs to focus on writing code that processes the block allocation metadata.</a:t>
            </a:r>
          </a:p>
        </p:txBody>
      </p:sp>
      <p:sp>
        <p:nvSpPr>
          <p:cNvPr id="4" name="Slide Number Placeholder 3"/>
          <p:cNvSpPr>
            <a:spLocks noGrp="1"/>
          </p:cNvSpPr>
          <p:nvPr>
            <p:ph type="sldNum" sz="quarter" idx="10"/>
          </p:nvPr>
        </p:nvSpPr>
        <p:spPr/>
        <p:txBody>
          <a:bodyPr/>
          <a:lstStyle/>
          <a:p>
            <a:fld id="{B5B5BF96-4013-477F-9949-176AD53AFF60}" type="slidenum">
              <a:rPr lang="en-CA" smtClean="0"/>
              <a:t>23</a:t>
            </a:fld>
            <a:endParaRPr lang="en-CA"/>
          </a:p>
        </p:txBody>
      </p:sp>
    </p:spTree>
    <p:extLst>
      <p:ext uri="{BB962C8B-B14F-4D97-AF65-F5344CB8AC3E}">
        <p14:creationId xmlns:p14="http://schemas.microsoft.com/office/powerpoint/2010/main" val="395570156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 we show a manually written</a:t>
            </a:r>
            <a:r>
              <a:rPr lang="en-CA" baseline="0" dirty="0" smtClean="0"/>
              <a:t> function that traverses the Ext4 file system to find the bitmaps that contain block allocation information. As you can see, a lot of boilerplate </a:t>
            </a:r>
            <a:r>
              <a:rPr lang="en-CA" baseline="0" dirty="0" smtClean="0"/>
              <a:t>code </a:t>
            </a:r>
            <a:r>
              <a:rPr lang="en-CA" baseline="0" dirty="0" smtClean="0"/>
              <a:t>is </a:t>
            </a:r>
            <a:r>
              <a:rPr lang="en-CA" baseline="0" dirty="0" smtClean="0"/>
              <a:t>needed to walk through the intermediate metadata structures.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24</a:t>
            </a:fld>
            <a:endParaRPr lang="en-CA"/>
          </a:p>
        </p:txBody>
      </p:sp>
    </p:spTree>
    <p:extLst>
      <p:ext uri="{BB962C8B-B14F-4D97-AF65-F5344CB8AC3E}">
        <p14:creationId xmlns:p14="http://schemas.microsoft.com/office/powerpoint/2010/main" val="140517068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dirty="0" smtClean="0"/>
              <a:t>What we want</a:t>
            </a:r>
            <a:r>
              <a:rPr lang="en-CA" baseline="0" dirty="0" smtClean="0"/>
              <a:t> is an easier way to get to the function that processes the block bitmaps, without needing to write all of the code to traverse the file system.</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25</a:t>
            </a:fld>
            <a:endParaRPr lang="en-CA"/>
          </a:p>
        </p:txBody>
      </p:sp>
    </p:spTree>
    <p:extLst>
      <p:ext uri="{BB962C8B-B14F-4D97-AF65-F5344CB8AC3E}">
        <p14:creationId xmlns:p14="http://schemas.microsoft.com/office/powerpoint/2010/main" val="233866004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Also,</a:t>
            </a:r>
            <a:r>
              <a:rPr lang="en-CA" baseline="0" dirty="0" smtClean="0"/>
              <a:t> to fit this function on the slide, we have shown it without any error checks. In practice, these checks are easy to accidentally omit. In that case, any error during traversal, or corruption in the file system, could cause unexpected behavior in the program, including crashes or garbage output.</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26</a:t>
            </a:fld>
            <a:endParaRPr lang="en-CA"/>
          </a:p>
        </p:txBody>
      </p:sp>
    </p:spTree>
    <p:extLst>
      <p:ext uri="{BB962C8B-B14F-4D97-AF65-F5344CB8AC3E}">
        <p14:creationId xmlns:p14="http://schemas.microsoft.com/office/powerpoint/2010/main" val="106412457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 we show the same</a:t>
            </a:r>
            <a:r>
              <a:rPr lang="en-CA" baseline="0" dirty="0" smtClean="0"/>
              <a:t> application, written using </a:t>
            </a:r>
            <a:r>
              <a:rPr lang="en-CA" baseline="0" dirty="0" smtClean="0"/>
              <a:t>the Spiffy library. </a:t>
            </a:r>
          </a:p>
          <a:p>
            <a:r>
              <a:rPr lang="en-CA" baseline="0" dirty="0" smtClean="0"/>
              <a:t>On </a:t>
            </a:r>
            <a:r>
              <a:rPr lang="en-CA" baseline="0" dirty="0" smtClean="0"/>
              <a:t>line 3, we retrieve the super block through the </a:t>
            </a:r>
            <a:r>
              <a:rPr lang="en-CA" baseline="0" dirty="0" err="1" smtClean="0"/>
              <a:t>fetch_super</a:t>
            </a:r>
            <a:r>
              <a:rPr lang="en-CA" baseline="0" dirty="0" smtClean="0"/>
              <a:t> function. If the super block is corrupted, the function will return null. </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27</a:t>
            </a:fld>
            <a:endParaRPr lang="en-CA"/>
          </a:p>
        </p:txBody>
      </p:sp>
    </p:spTree>
    <p:extLst>
      <p:ext uri="{BB962C8B-B14F-4D97-AF65-F5344CB8AC3E}">
        <p14:creationId xmlns:p14="http://schemas.microsoft.com/office/powerpoint/2010/main" val="328771245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Next, on line 7, invoking the </a:t>
            </a:r>
            <a:r>
              <a:rPr lang="en-CA" baseline="0" dirty="0" err="1" smtClean="0"/>
              <a:t>process_by_type</a:t>
            </a:r>
            <a:r>
              <a:rPr lang="en-CA" baseline="0" dirty="0" smtClean="0"/>
              <a:t> function allows processing all of the block bitmaps reachable from the super block, through its annotated pointers. This avoids the need to write any traversal code manually, so the developer can focus on just the code that processes the block bitmaps.</a:t>
            </a:r>
          </a:p>
        </p:txBody>
      </p:sp>
      <p:sp>
        <p:nvSpPr>
          <p:cNvPr id="4" name="Slide Number Placeholder 3"/>
          <p:cNvSpPr>
            <a:spLocks noGrp="1"/>
          </p:cNvSpPr>
          <p:nvPr>
            <p:ph type="sldNum" sz="quarter" idx="10"/>
          </p:nvPr>
        </p:nvSpPr>
        <p:spPr/>
        <p:txBody>
          <a:bodyPr/>
          <a:lstStyle/>
          <a:p>
            <a:fld id="{B5B5BF96-4013-477F-9949-176AD53AFF60}" type="slidenum">
              <a:rPr lang="en-CA" smtClean="0"/>
              <a:t>28</a:t>
            </a:fld>
            <a:endParaRPr lang="en-CA"/>
          </a:p>
        </p:txBody>
      </p:sp>
    </p:spTree>
    <p:extLst>
      <p:ext uri="{BB962C8B-B14F-4D97-AF65-F5344CB8AC3E}">
        <p14:creationId xmlns:p14="http://schemas.microsoft.com/office/powerpoint/2010/main" val="209479342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As you can see, there are two advantages to using the Spiffy library. First, it simplifies file system traversal by reducing the need to know the format details. Second, the library parsing routines include automatically generated sanity checks to help detect corruption. </a:t>
            </a:r>
          </a:p>
        </p:txBody>
      </p:sp>
      <p:sp>
        <p:nvSpPr>
          <p:cNvPr id="4" name="Slide Number Placeholder 3"/>
          <p:cNvSpPr>
            <a:spLocks noGrp="1"/>
          </p:cNvSpPr>
          <p:nvPr>
            <p:ph type="sldNum" sz="quarter" idx="10"/>
          </p:nvPr>
        </p:nvSpPr>
        <p:spPr/>
        <p:txBody>
          <a:bodyPr/>
          <a:lstStyle/>
          <a:p>
            <a:fld id="{B5B5BF96-4013-477F-9949-176AD53AFF60}" type="slidenum">
              <a:rPr lang="en-CA" smtClean="0"/>
              <a:t>29</a:t>
            </a:fld>
            <a:endParaRPr lang="en-CA"/>
          </a:p>
        </p:txBody>
      </p:sp>
    </p:spTree>
    <p:extLst>
      <p:ext uri="{BB962C8B-B14F-4D97-AF65-F5344CB8AC3E}">
        <p14:creationId xmlns:p14="http://schemas.microsoft.com/office/powerpoint/2010/main" val="394504528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 we show the same</a:t>
            </a:r>
            <a:r>
              <a:rPr lang="en-CA" baseline="0" dirty="0" smtClean="0"/>
              <a:t> Spiffy application for </a:t>
            </a:r>
            <a:r>
              <a:rPr lang="en-CA" baseline="0" dirty="0" err="1" smtClean="0"/>
              <a:t>btrfs</a:t>
            </a:r>
            <a:r>
              <a:rPr lang="en-CA" baseline="0" dirty="0" smtClean="0"/>
              <a:t>. The main change is that </a:t>
            </a:r>
            <a:r>
              <a:rPr lang="en-CA" baseline="0" dirty="0" smtClean="0"/>
              <a:t>the </a:t>
            </a:r>
            <a:r>
              <a:rPr lang="en-CA" baseline="0" dirty="0" err="1" smtClean="0"/>
              <a:t>process_by_type</a:t>
            </a:r>
            <a:r>
              <a:rPr lang="en-CA" baseline="0" dirty="0" smtClean="0"/>
              <a:t> function takes </a:t>
            </a:r>
            <a:r>
              <a:rPr lang="en-CA" baseline="0" dirty="0" smtClean="0"/>
              <a:t>a different structure type argument, an extent item, and a processing function for an extent item. The programmer can thus focus on just processing the </a:t>
            </a:r>
            <a:r>
              <a:rPr lang="en-CA" baseline="0" dirty="0" err="1" smtClean="0"/>
              <a:t>btrfs</a:t>
            </a:r>
            <a:r>
              <a:rPr lang="en-CA" baseline="0" dirty="0" smtClean="0"/>
              <a:t> block allocation information.</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30</a:t>
            </a:fld>
            <a:endParaRPr lang="en-CA"/>
          </a:p>
        </p:txBody>
      </p:sp>
    </p:spTree>
    <p:extLst>
      <p:ext uri="{BB962C8B-B14F-4D97-AF65-F5344CB8AC3E}">
        <p14:creationId xmlns:p14="http://schemas.microsoft.com/office/powerpoint/2010/main" val="17380350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have talked about the free space</a:t>
            </a:r>
            <a:r>
              <a:rPr lang="en-CA" baseline="0" dirty="0" smtClean="0"/>
              <a:t> tool. Now, I am going to describe some other tools that we have developed using Spiffy.</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31</a:t>
            </a:fld>
            <a:endParaRPr lang="en-CA"/>
          </a:p>
        </p:txBody>
      </p:sp>
    </p:spTree>
    <p:extLst>
      <p:ext uri="{BB962C8B-B14F-4D97-AF65-F5344CB8AC3E}">
        <p14:creationId xmlns:p14="http://schemas.microsoft.com/office/powerpoint/2010/main" val="288225805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type-specific corruptor allows us to specify a field in a metadata structure and corrupt it on disk. This tool works on all our annotated file systems. It enables us to test the robustness of other tools to check that they are able to correctly handle file system corruption. This tool has 455 lines of generic code, and less than 30 lines of file-system specific bootstrap code for each file system.</a:t>
            </a:r>
          </a:p>
          <a:p>
            <a:pPr marL="0" marR="0" indent="0" algn="l" defTabSz="914400" rtl="0" eaLnBrk="1" fontAlgn="auto" latinLnBrk="0" hangingPunct="1">
              <a:lnSpc>
                <a:spcPct val="100000"/>
              </a:lnSpc>
              <a:spcBef>
                <a:spcPts val="0"/>
              </a:spcBef>
              <a:spcAft>
                <a:spcPts val="0"/>
              </a:spcAft>
              <a:buClrTx/>
              <a:buSzTx/>
              <a:buFontTx/>
              <a:buNone/>
              <a:tabLst/>
              <a:defRPr/>
            </a:pPr>
            <a:endParaRPr lang="en-CA" baseline="0" dirty="0" smtClean="0"/>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We ran a series of corruption experiments using this type-specific corruptor tool and discovered crash bugs in existing tools such as dumpe2fs for Ext4 and dump.f2fs. Incidentally, none of these bugs were triggered in 5000 random corruption experiments, showing the usefulness of the type-specific corruptor.</a:t>
            </a:r>
          </a:p>
        </p:txBody>
      </p:sp>
      <p:sp>
        <p:nvSpPr>
          <p:cNvPr id="4" name="Slide Number Placeholder 3"/>
          <p:cNvSpPr>
            <a:spLocks noGrp="1"/>
          </p:cNvSpPr>
          <p:nvPr>
            <p:ph type="sldNum" sz="quarter" idx="10"/>
          </p:nvPr>
        </p:nvSpPr>
        <p:spPr/>
        <p:txBody>
          <a:bodyPr/>
          <a:lstStyle/>
          <a:p>
            <a:fld id="{B5B5BF96-4013-477F-9949-176AD53AFF60}" type="slidenum">
              <a:rPr lang="en-CA" smtClean="0"/>
              <a:t>32</a:t>
            </a:fld>
            <a:endParaRPr lang="en-CA"/>
          </a:p>
        </p:txBody>
      </p:sp>
    </p:spTree>
    <p:extLst>
      <p:ext uri="{BB962C8B-B14F-4D97-AF65-F5344CB8AC3E}">
        <p14:creationId xmlns:p14="http://schemas.microsoft.com/office/powerpoint/2010/main" val="169166309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we have also built a file system conversion tool that allows converting from one file system to another without moving any data blocks unless they would be overwritten by metadata that must be placed in a fixed location in the destination file system</a:t>
            </a:r>
            <a:r>
              <a:rPr lang="en-CA" baseline="0" dirty="0" smtClean="0"/>
              <a:t>.</a:t>
            </a:r>
            <a:endParaRPr lang="en-CA" baseline="0" dirty="0" smtClean="0"/>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Currently, the tools converts from Ext4 file systems to F2FS file systems. The generic code in this application has 504 lines. We read the Ext4 metadata into memory with 218 lines of code, and then generate corresponding F2Fs metadata with 1760 lines of code. Most of these lines are needed to initialize F2FS structures.</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33</a:t>
            </a:fld>
            <a:endParaRPr lang="en-CA"/>
          </a:p>
        </p:txBody>
      </p:sp>
    </p:spTree>
    <p:extLst>
      <p:ext uri="{BB962C8B-B14F-4D97-AF65-F5344CB8AC3E}">
        <p14:creationId xmlns:p14="http://schemas.microsoft.com/office/powerpoint/2010/main" val="46986716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a:t>
            </a:r>
            <a:r>
              <a:rPr lang="en-CA" baseline="0" dirty="0" smtClean="0"/>
              <a:t> we </a:t>
            </a:r>
            <a:r>
              <a:rPr lang="en-CA" dirty="0" smtClean="0"/>
              <a:t>evaluate</a:t>
            </a:r>
            <a:r>
              <a:rPr lang="en-CA" baseline="0" dirty="0" smtClean="0"/>
              <a:t> our conversion tool against a copy-based convertor. The copy converter copies file system contents to another local disk, reformats the source disk, and then copies everything back. This graph shows the time to convert a file system with 16GB of data, while varying the number of files in the file system. With fewer files in the file system, less metadata needs to be converted, which reduces the conversion time for our tool. The copy convertor performance is dominated by the size of the file system data, and doesn’t vary much for different numbers of files. In this log graph, we can see that the copy converter is 30-50 times slower than the Spiffy converter.</a:t>
            </a:r>
          </a:p>
        </p:txBody>
      </p:sp>
      <p:sp>
        <p:nvSpPr>
          <p:cNvPr id="4" name="Slide Number Placeholder 3"/>
          <p:cNvSpPr>
            <a:spLocks noGrp="1"/>
          </p:cNvSpPr>
          <p:nvPr>
            <p:ph type="sldNum" sz="quarter" idx="10"/>
          </p:nvPr>
        </p:nvSpPr>
        <p:spPr/>
        <p:txBody>
          <a:bodyPr/>
          <a:lstStyle/>
          <a:p>
            <a:fld id="{849A0A36-F84D-437B-B821-CB3EBADC1433}" type="slidenum">
              <a:rPr lang="en-CA" smtClean="0"/>
              <a:t>34</a:t>
            </a:fld>
            <a:endParaRPr lang="en-CA"/>
          </a:p>
        </p:txBody>
      </p:sp>
    </p:spTree>
    <p:extLst>
      <p:ext uri="{BB962C8B-B14F-4D97-AF65-F5344CB8AC3E}">
        <p14:creationId xmlns:p14="http://schemas.microsoft.com/office/powerpoint/2010/main" val="192972576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have also implemented a file-system aware</a:t>
            </a:r>
            <a:r>
              <a:rPr lang="en-CA" baseline="0" dirty="0" smtClean="0"/>
              <a:t> block layer caching framework that s</a:t>
            </a:r>
            <a:r>
              <a:rPr lang="en-CA" dirty="0" smtClean="0"/>
              <a:t>upports a rich set of caching policies.</a:t>
            </a:r>
            <a:r>
              <a:rPr lang="en-CA" baseline="0" dirty="0" smtClean="0"/>
              <a:t> These policy </a:t>
            </a:r>
            <a:r>
              <a:rPr lang="en-CA" dirty="0" smtClean="0"/>
              <a:t>require file-system specific </a:t>
            </a:r>
            <a:r>
              <a:rPr lang="en-CA" dirty="0" smtClean="0"/>
              <a:t>information.</a:t>
            </a:r>
            <a:r>
              <a:rPr lang="en-CA" baseline="0" dirty="0" smtClean="0"/>
              <a:t> For example, </a:t>
            </a:r>
            <a:r>
              <a:rPr lang="en-CA" baseline="0" dirty="0" smtClean="0"/>
              <a:t>to c</a:t>
            </a:r>
            <a:r>
              <a:rPr lang="en-CA" dirty="0" smtClean="0"/>
              <a:t>ache file system metadata,</a:t>
            </a:r>
            <a:r>
              <a:rPr lang="en-CA" baseline="0" dirty="0" smtClean="0"/>
              <a:t> we need to </a:t>
            </a:r>
            <a:r>
              <a:rPr lang="en-CA" dirty="0" smtClean="0"/>
              <a:t>know</a:t>
            </a:r>
            <a:r>
              <a:rPr lang="en-CA" baseline="0" dirty="0" smtClean="0"/>
              <a:t> </a:t>
            </a:r>
            <a:r>
              <a:rPr lang="en-CA" dirty="0" smtClean="0"/>
              <a:t>whether a block is data or </a:t>
            </a:r>
            <a:r>
              <a:rPr lang="en-CA" dirty="0" smtClean="0"/>
              <a:t>metadata. </a:t>
            </a:r>
            <a:r>
              <a:rPr lang="en-CA" dirty="0" smtClean="0"/>
              <a:t>Similarly, to cache small files, or to cache a specific user’s files,</a:t>
            </a:r>
            <a:r>
              <a:rPr lang="en-CA" baseline="0" dirty="0" smtClean="0"/>
              <a:t> we need to </a:t>
            </a:r>
            <a:r>
              <a:rPr lang="en-CA" dirty="0" smtClean="0"/>
              <a:t>know</a:t>
            </a:r>
            <a:r>
              <a:rPr lang="en-CA" baseline="0" dirty="0" smtClean="0"/>
              <a:t> </a:t>
            </a:r>
            <a:r>
              <a:rPr lang="en-CA" dirty="0" smtClean="0"/>
              <a:t>the file to which a block belongs, and the corresponding</a:t>
            </a:r>
            <a:r>
              <a:rPr lang="en-CA" baseline="0" dirty="0" smtClean="0"/>
              <a:t> </a:t>
            </a:r>
            <a:r>
              <a:rPr lang="en-CA" dirty="0" smtClean="0"/>
              <a:t>file’s size or owner.</a:t>
            </a:r>
            <a:r>
              <a:rPr lang="en-CA" baseline="0" dirty="0" smtClean="0"/>
              <a:t> Our framework re</a:t>
            </a:r>
            <a:r>
              <a:rPr lang="en-CA" dirty="0" smtClean="0"/>
              <a:t>quires no changes to the file system, and works for multiple file systems!</a:t>
            </a:r>
            <a:r>
              <a:rPr lang="en-CA" baseline="0" dirty="0" smtClean="0"/>
              <a:t> </a:t>
            </a:r>
            <a:r>
              <a:rPr lang="en-CA" dirty="0" smtClean="0"/>
              <a:t>It identifies and interprets blocks as</a:t>
            </a:r>
            <a:r>
              <a:rPr lang="en-CA" baseline="0" dirty="0" smtClean="0"/>
              <a:t> they </a:t>
            </a:r>
            <a:r>
              <a:rPr lang="en-CA" dirty="0" smtClean="0"/>
              <a:t>are read or written at the block layer. It uses the </a:t>
            </a:r>
            <a:r>
              <a:rPr lang="en-CA" dirty="0" smtClean="0"/>
              <a:t>Spiffy </a:t>
            </a:r>
            <a:r>
              <a:rPr lang="en-CA" dirty="0" smtClean="0"/>
              <a:t>library to identify the types of blocks, and for interpreting their contents to extract file-system specific information. Our</a:t>
            </a:r>
            <a:r>
              <a:rPr lang="en-CA" baseline="0" dirty="0" smtClean="0"/>
              <a:t> use of Spiffy allows us to implement our file-system aware cache with </a:t>
            </a:r>
            <a:r>
              <a:rPr lang="en-CA" dirty="0" smtClean="0"/>
              <a:t>little file-system specific code</a:t>
            </a:r>
            <a:r>
              <a:rPr lang="en-CA" dirty="0" smtClean="0"/>
              <a:t>.</a:t>
            </a:r>
            <a:endParaRPr lang="en-CA"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35</a:t>
            </a:fld>
            <a:endParaRPr lang="en-CA"/>
          </a:p>
        </p:txBody>
      </p:sp>
    </p:spTree>
    <p:extLst>
      <p:ext uri="{BB962C8B-B14F-4D97-AF65-F5344CB8AC3E}">
        <p14:creationId xmlns:p14="http://schemas.microsoft.com/office/powerpoint/2010/main" val="187901492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In conclusion,</a:t>
            </a:r>
            <a:r>
              <a:rPr lang="en-CA" baseline="0" dirty="0" smtClean="0"/>
              <a:t> we have presented the Spiffy framework. We provide an annotation language for specifying file system format, which enables generating a library for traversing file system metadata. </a:t>
            </a:r>
          </a:p>
          <a:p>
            <a:r>
              <a:rPr lang="en-CA" baseline="0" dirty="0" smtClean="0"/>
              <a:t>The Spiffy library simplifies development of file-system aware applications by reducing the need to write file-system specific code and it enables code reuse across file systems.</a:t>
            </a:r>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It also helps developers write robust applications by providing type-safe parsing and serialization of metadata, and helping to detect file system corruption.</a:t>
            </a:r>
          </a:p>
        </p:txBody>
      </p:sp>
      <p:sp>
        <p:nvSpPr>
          <p:cNvPr id="4" name="Slide Number Placeholder 3"/>
          <p:cNvSpPr>
            <a:spLocks noGrp="1"/>
          </p:cNvSpPr>
          <p:nvPr>
            <p:ph type="sldNum" sz="quarter" idx="10"/>
          </p:nvPr>
        </p:nvSpPr>
        <p:spPr/>
        <p:txBody>
          <a:bodyPr/>
          <a:lstStyle/>
          <a:p>
            <a:fld id="{B5B5BF96-4013-477F-9949-176AD53AFF60}" type="slidenum">
              <a:rPr lang="en-CA" smtClean="0"/>
              <a:t>36</a:t>
            </a:fld>
            <a:endParaRPr lang="en-CA"/>
          </a:p>
        </p:txBody>
      </p:sp>
    </p:spTree>
    <p:extLst>
      <p:ext uri="{BB962C8B-B14F-4D97-AF65-F5344CB8AC3E}">
        <p14:creationId xmlns:p14="http://schemas.microsoft.com/office/powerpoint/2010/main" val="150789731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Thank you, are</a:t>
            </a:r>
            <a:r>
              <a:rPr lang="en-CA" baseline="0" dirty="0" smtClean="0"/>
              <a:t> there any questions?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37</a:t>
            </a:fld>
            <a:endParaRPr lang="en-CA"/>
          </a:p>
        </p:txBody>
      </p:sp>
    </p:spTree>
    <p:extLst>
      <p:ext uri="{BB962C8B-B14F-4D97-AF65-F5344CB8AC3E}">
        <p14:creationId xmlns:p14="http://schemas.microsoft.com/office/powerpoint/2010/main" val="41399257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evaluated the programming effort for building Spiffy applications, and show that for read</a:t>
            </a:r>
            <a:r>
              <a:rPr lang="en-CA" baseline="0" dirty="0" smtClean="0"/>
              <a:t>-only applications, for both online and offline, we can drastically reduce the amount of file-system specific code that needs to be written. In most cases, the file-system specific code is merely 10% or fewer compared to the generic application code. For read-write applications, however, since file-system specific metadata structures need to be initialized, there is unfortunately, very little saving, as is the case for the conversion tool. Another exception is the free space tool for F2FS. Because its block allocation information is very complex, the amount of file-system specific code is much more compared to the other two file systems.</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43</a:t>
            </a:fld>
            <a:endParaRPr lang="en-CA"/>
          </a:p>
        </p:txBody>
      </p:sp>
    </p:spTree>
    <p:extLst>
      <p:ext uri="{BB962C8B-B14F-4D97-AF65-F5344CB8AC3E}">
        <p14:creationId xmlns:p14="http://schemas.microsoft.com/office/powerpoint/2010/main" val="56499183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Comparison of output or result needs</a:t>
            </a:r>
            <a:r>
              <a:rPr lang="en-CA" baseline="0" dirty="0" smtClean="0"/>
              <a:t> to </a:t>
            </a:r>
            <a:r>
              <a:rPr lang="en-CA" baseline="0" smtClean="0"/>
              <a:t>be emphasize</a:t>
            </a:r>
            <a:endParaRPr lang="en-CA"/>
          </a:p>
        </p:txBody>
      </p:sp>
      <p:sp>
        <p:nvSpPr>
          <p:cNvPr id="4" name="Slide Number Placeholder 3"/>
          <p:cNvSpPr>
            <a:spLocks noGrp="1"/>
          </p:cNvSpPr>
          <p:nvPr>
            <p:ph type="sldNum" sz="quarter" idx="10"/>
          </p:nvPr>
        </p:nvSpPr>
        <p:spPr/>
        <p:txBody>
          <a:bodyPr/>
          <a:lstStyle/>
          <a:p>
            <a:fld id="{849A0A36-F84D-437B-B821-CB3EBADC1433}" type="slidenum">
              <a:rPr lang="en-CA" smtClean="0"/>
              <a:t>44</a:t>
            </a:fld>
            <a:endParaRPr lang="en-CA"/>
          </a:p>
        </p:txBody>
      </p:sp>
    </p:spTree>
    <p:extLst>
      <p:ext uri="{BB962C8B-B14F-4D97-AF65-F5344CB8AC3E}">
        <p14:creationId xmlns:p14="http://schemas.microsoft.com/office/powerpoint/2010/main" val="422521042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a:t>
            </a:r>
            <a:r>
              <a:rPr lang="en-CA" baseline="0" dirty="0" smtClean="0"/>
              <a:t> we show an example of the ext4 super block. This structure is annotated with FSSUPER to denote that it’s the super block for Ext4. Inside the annotation is a list of keyword arguments. The location argument specifies that the Ext4 super block is located a thousand and 24 bytes away from the start of the partition. </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46</a:t>
            </a:fld>
            <a:endParaRPr lang="en-CA"/>
          </a:p>
        </p:txBody>
      </p:sp>
    </p:spTree>
    <p:extLst>
      <p:ext uri="{BB962C8B-B14F-4D97-AF65-F5344CB8AC3E}">
        <p14:creationId xmlns:p14="http://schemas.microsoft.com/office/powerpoint/2010/main" val="3932572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accent1">
            <a:lumMod val="90000"/>
            <a:lumOff val="10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684211" y="685800"/>
            <a:ext cx="9129091" cy="2167468"/>
          </a:xfrm>
        </p:spPr>
        <p:txBody>
          <a:bodyPr anchor="b">
            <a:normAutofit/>
          </a:bodyPr>
          <a:lstStyle>
            <a:lvl1pPr algn="l">
              <a:defRPr sz="5400" cap="none" baseline="0">
                <a:solidFill>
                  <a:schemeClr val="tx1"/>
                </a:solidFill>
                <a:effectLst/>
              </a:defRPr>
            </a:lvl1pPr>
          </a:lstStyle>
          <a:p>
            <a:r>
              <a:rPr lang="en-US" dirty="0" smtClean="0"/>
              <a:t>Click to edit Master title style</a:t>
            </a:r>
            <a:endParaRPr lang="en-US" dirty="0"/>
          </a:p>
        </p:txBody>
      </p:sp>
      <p:sp>
        <p:nvSpPr>
          <p:cNvPr id="3" name="Subtitle 2"/>
          <p:cNvSpPr>
            <a:spLocks noGrp="1"/>
          </p:cNvSpPr>
          <p:nvPr>
            <p:ph type="subTitle" idx="1"/>
          </p:nvPr>
        </p:nvSpPr>
        <p:spPr>
          <a:xfrm>
            <a:off x="684212" y="3037337"/>
            <a:ext cx="7694630" cy="2753864"/>
          </a:xfrm>
        </p:spPr>
        <p:txBody>
          <a:bodyPr anchor="t">
            <a:normAutofit/>
          </a:bodyPr>
          <a:lstStyle>
            <a:lvl1pPr marL="0" indent="0" algn="l">
              <a:buNone/>
              <a:defRPr sz="2400" b="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smtClean="0"/>
              <a:t>Click to edit Master subtitle style</a:t>
            </a:r>
            <a:endParaRPr lang="en-US" dirty="0"/>
          </a:p>
        </p:txBody>
      </p:sp>
      <p:sp>
        <p:nvSpPr>
          <p:cNvPr id="4" name="Date Placeholder 3"/>
          <p:cNvSpPr>
            <a:spLocks noGrp="1"/>
          </p:cNvSpPr>
          <p:nvPr>
            <p:ph type="dt" sz="half" idx="10"/>
          </p:nvPr>
        </p:nvSpPr>
        <p:spPr/>
        <p:txBody>
          <a:bodyPr/>
          <a:lstStyle/>
          <a:p>
            <a:fld id="{0145D206-3748-4927-8C33-DF34FC1F64AB}" type="datetime1">
              <a:rPr lang="en-CA" smtClean="0"/>
              <a:t>2018-02-12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grpSp>
        <p:nvGrpSpPr>
          <p:cNvPr id="7" name="Group 6"/>
          <p:cNvGrpSpPr/>
          <p:nvPr userDrawn="1"/>
        </p:nvGrpSpPr>
        <p:grpSpPr>
          <a:xfrm rot="16200000" flipH="1" flipV="1">
            <a:off x="9096637" y="3762638"/>
            <a:ext cx="2981858" cy="3208867"/>
            <a:chOff x="9206969" y="2963333"/>
            <a:chExt cx="2981858" cy="3208867"/>
          </a:xfrm>
        </p:grpSpPr>
        <p:cxnSp>
          <p:nvCxnSpPr>
            <p:cNvPr id="8" name="Straight Connector 7"/>
            <p:cNvCxnSpPr/>
            <p:nvPr/>
          </p:nvCxnSpPr>
          <p:spPr>
            <a:xfrm flipH="1">
              <a:off x="11276012" y="2963333"/>
              <a:ext cx="912814" cy="912812"/>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9206969" y="3190344"/>
              <a:ext cx="2981857" cy="2981856"/>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292292" y="3285067"/>
              <a:ext cx="1896534" cy="189653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443103" y="3131080"/>
              <a:ext cx="1745722" cy="174572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918826" y="3683001"/>
              <a:ext cx="1270001" cy="1269999"/>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722710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84212" y="170"/>
            <a:ext cx="10285796" cy="1507067"/>
          </a:xfrm>
        </p:spPr>
        <p:txBody>
          <a:bodyPr>
            <a:normAutofit/>
          </a:bodyPr>
          <a:lstStyle>
            <a:lvl1pPr>
              <a:defRPr sz="4000" b="1" cap="none" baseline="0"/>
            </a:lvl1pPr>
          </a:lstStyle>
          <a:p>
            <a:r>
              <a:rPr lang="en-US" dirty="0" smtClean="0"/>
              <a:t>Click to edit Master title style</a:t>
            </a:r>
            <a:endParaRPr lang="en-US" dirty="0"/>
          </a:p>
        </p:txBody>
      </p:sp>
      <p:sp>
        <p:nvSpPr>
          <p:cNvPr id="3" name="Content Placeholder 2"/>
          <p:cNvSpPr>
            <a:spLocks noGrp="1"/>
          </p:cNvSpPr>
          <p:nvPr>
            <p:ph idx="1"/>
          </p:nvPr>
        </p:nvSpPr>
        <p:spPr>
          <a:xfrm>
            <a:off x="684211" y="1515358"/>
            <a:ext cx="10285797" cy="4656842"/>
          </a:xfrm>
        </p:spPr>
        <p:txBody>
          <a:bodyPr anchor="t">
            <a:noAutofit/>
          </a:bodyPr>
          <a:lstStyle>
            <a:lvl1pPr>
              <a:defRPr sz="2400"/>
            </a:lvl1pPr>
            <a:lvl2pPr>
              <a:defRPr sz="2000"/>
            </a:lvl2pPr>
            <a:lvl3pPr>
              <a:defRPr sz="1800"/>
            </a:lvl3pPr>
            <a:lvl4pPr>
              <a:defRPr sz="1600"/>
            </a:lvl4pPr>
            <a:lvl5pPr>
              <a:defRPr sz="1600"/>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Date Placeholder 3"/>
          <p:cNvSpPr>
            <a:spLocks noGrp="1"/>
          </p:cNvSpPr>
          <p:nvPr>
            <p:ph type="dt" sz="half" idx="10"/>
          </p:nvPr>
        </p:nvSpPr>
        <p:spPr/>
        <p:txBody>
          <a:bodyPr/>
          <a:lstStyle/>
          <a:p>
            <a:fld id="{D6AD7D9F-39FD-4B95-A4F0-514D658B152C}" type="datetime1">
              <a:rPr lang="en-CA" smtClean="0"/>
              <a:t>2018-02-12</a:t>
            </a:fld>
            <a:endParaRPr lang="en-CA"/>
          </a:p>
        </p:txBody>
      </p:sp>
      <p:sp>
        <p:nvSpPr>
          <p:cNvPr id="5" name="Footer Placeholder 4"/>
          <p:cNvSpPr>
            <a:spLocks noGrp="1"/>
          </p:cNvSpPr>
          <p:nvPr>
            <p:ph type="ftr" sz="quarter" idx="11"/>
          </p:nvPr>
        </p:nvSpPr>
        <p:spPr>
          <a:xfrm>
            <a:off x="684212" y="6172200"/>
            <a:ext cx="10285796" cy="365125"/>
          </a:xfrm>
        </p:spPr>
        <p:txBody>
          <a:bodyPr/>
          <a:lstStyle>
            <a:lvl1pPr>
              <a:defRPr sz="1200"/>
            </a:lvl1pPr>
          </a:lstStyle>
          <a:p>
            <a:endParaRPr lang="en-CA" dirty="0"/>
          </a:p>
        </p:txBody>
      </p:sp>
      <p:sp>
        <p:nvSpPr>
          <p:cNvPr id="6" name="Slide Number Placeholder 5"/>
          <p:cNvSpPr>
            <a:spLocks noGrp="1"/>
          </p:cNvSpPr>
          <p:nvPr>
            <p:ph type="sldNum" sz="quarter" idx="12"/>
          </p:nvPr>
        </p:nvSpPr>
        <p:spPr>
          <a:xfrm>
            <a:off x="10970008" y="6049645"/>
            <a:ext cx="753625" cy="487680"/>
          </a:xfrm>
        </p:spPr>
        <p:txBody>
          <a:bodyPr/>
          <a:lstStyle>
            <a:lvl1pPr>
              <a:defRPr sz="2000"/>
            </a:lvl1pPr>
          </a:lstStyle>
          <a:p>
            <a:fld id="{7B2023C8-B124-43A9-8F92-0EEF5BAA9995}" type="slidenum">
              <a:rPr lang="en-CA" smtClean="0"/>
              <a:pPr/>
              <a:t>‹#›</a:t>
            </a:fld>
            <a:endParaRPr lang="en-CA" dirty="0"/>
          </a:p>
        </p:txBody>
      </p:sp>
    </p:spTree>
    <p:extLst>
      <p:ext uri="{BB962C8B-B14F-4D97-AF65-F5344CB8AC3E}">
        <p14:creationId xmlns:p14="http://schemas.microsoft.com/office/powerpoint/2010/main" val="26828991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accent1">
            <a:lumMod val="90000"/>
            <a:lumOff val="1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84211" y="2006600"/>
            <a:ext cx="8534401" cy="2281600"/>
          </a:xfrm>
        </p:spPr>
        <p:txBody>
          <a:bodyPr anchor="b">
            <a:normAutofit/>
          </a:bodyPr>
          <a:lstStyle>
            <a:lvl1pPr algn="l">
              <a:defRPr sz="5400" b="0" cap="none" baseline="0">
                <a:solidFill>
                  <a:schemeClr val="tx1"/>
                </a:solidFill>
              </a:defRPr>
            </a:lvl1pPr>
          </a:lstStyle>
          <a:p>
            <a:r>
              <a:rPr lang="en-US" dirty="0" smtClean="0"/>
              <a:t>Click to edit Master title style</a:t>
            </a:r>
            <a:endParaRPr lang="en-US" dirty="0"/>
          </a:p>
        </p:txBody>
      </p:sp>
      <p:sp>
        <p:nvSpPr>
          <p:cNvPr id="3" name="Text Placeholder 2"/>
          <p:cNvSpPr>
            <a:spLocks noGrp="1"/>
          </p:cNvSpPr>
          <p:nvPr>
            <p:ph type="body" idx="1"/>
          </p:nvPr>
        </p:nvSpPr>
        <p:spPr>
          <a:xfrm>
            <a:off x="684213" y="4495800"/>
            <a:ext cx="8534400" cy="1498600"/>
          </a:xfrm>
        </p:spPr>
        <p:txBody>
          <a:bodyPr anchor="t">
            <a:normAutofit/>
          </a:bodyPr>
          <a:lstStyle>
            <a:lvl1pPr marL="0" indent="0" algn="l">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smtClean="0"/>
              <a:t>Click to edit Master text styles</a:t>
            </a:r>
          </a:p>
        </p:txBody>
      </p:sp>
      <p:sp>
        <p:nvSpPr>
          <p:cNvPr id="4" name="Date Placeholder 3"/>
          <p:cNvSpPr>
            <a:spLocks noGrp="1"/>
          </p:cNvSpPr>
          <p:nvPr>
            <p:ph type="dt" sz="half" idx="10"/>
          </p:nvPr>
        </p:nvSpPr>
        <p:spPr/>
        <p:txBody>
          <a:bodyPr/>
          <a:lstStyle>
            <a:lvl1pPr>
              <a:defRPr>
                <a:solidFill>
                  <a:schemeClr val="tx1"/>
                </a:solidFill>
              </a:defRPr>
            </a:lvl1pPr>
          </a:lstStyle>
          <a:p>
            <a:fld id="{7D257ED4-7149-4100-B966-397E56D6DA55}" type="datetime1">
              <a:rPr lang="en-CA" smtClean="0"/>
              <a:pPr/>
              <a:t>2018-02-12</a:t>
            </a:fld>
            <a:endParaRPr lang="en-CA"/>
          </a:p>
        </p:txBody>
      </p:sp>
      <p:sp>
        <p:nvSpPr>
          <p:cNvPr id="5" name="Footer Placeholder 4"/>
          <p:cNvSpPr>
            <a:spLocks noGrp="1"/>
          </p:cNvSpPr>
          <p:nvPr>
            <p:ph type="ftr" sz="quarter" idx="11"/>
          </p:nvPr>
        </p:nvSpPr>
        <p:spPr/>
        <p:txBody>
          <a:bodyPr/>
          <a:lstStyle>
            <a:lvl1pPr>
              <a:defRPr>
                <a:solidFill>
                  <a:schemeClr val="tx1"/>
                </a:solidFill>
              </a:defRPr>
            </a:lvl1pPr>
          </a:lstStyle>
          <a:p>
            <a:endParaRPr lang="en-CA"/>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7B2023C8-B124-43A9-8F92-0EEF5BAA9995}" type="slidenum">
              <a:rPr lang="en-CA" smtClean="0"/>
              <a:pPr/>
              <a:t>‹#›</a:t>
            </a:fld>
            <a:endParaRPr lang="en-CA"/>
          </a:p>
        </p:txBody>
      </p:sp>
      <p:grpSp>
        <p:nvGrpSpPr>
          <p:cNvPr id="7" name="Group 6"/>
          <p:cNvGrpSpPr/>
          <p:nvPr userDrawn="1"/>
        </p:nvGrpSpPr>
        <p:grpSpPr>
          <a:xfrm rot="16200000">
            <a:off x="9093845" y="-109806"/>
            <a:ext cx="2981858" cy="3208867"/>
            <a:chOff x="9206969" y="2963333"/>
            <a:chExt cx="2981858" cy="3208867"/>
          </a:xfrm>
        </p:grpSpPr>
        <p:cxnSp>
          <p:nvCxnSpPr>
            <p:cNvPr id="8" name="Straight Connector 7"/>
            <p:cNvCxnSpPr/>
            <p:nvPr/>
          </p:nvCxnSpPr>
          <p:spPr>
            <a:xfrm flipH="1">
              <a:off x="11276012" y="2963333"/>
              <a:ext cx="912814" cy="912812"/>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9206969" y="3190344"/>
              <a:ext cx="2981857" cy="2981856"/>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292292" y="3285067"/>
              <a:ext cx="1896534" cy="189653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443103" y="3131080"/>
              <a:ext cx="1745722" cy="174572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918826" y="3683001"/>
              <a:ext cx="1270001" cy="1269999"/>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3380944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684211" y="1515361"/>
            <a:ext cx="5123089" cy="4656839"/>
          </a:xfrm>
        </p:spPr>
        <p:txBody>
          <a:bodyPr>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Content Placeholder 3"/>
          <p:cNvSpPr>
            <a:spLocks noGrp="1"/>
          </p:cNvSpPr>
          <p:nvPr>
            <p:ph sz="half" idx="2"/>
          </p:nvPr>
        </p:nvSpPr>
        <p:spPr>
          <a:xfrm>
            <a:off x="5808133" y="1515362"/>
            <a:ext cx="4934479" cy="4656838"/>
          </a:xfrm>
        </p:spPr>
        <p:txBody>
          <a:bodyPr>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5" name="Date Placeholder 4"/>
          <p:cNvSpPr>
            <a:spLocks noGrp="1"/>
          </p:cNvSpPr>
          <p:nvPr>
            <p:ph type="dt" sz="half" idx="10"/>
          </p:nvPr>
        </p:nvSpPr>
        <p:spPr/>
        <p:txBody>
          <a:bodyPr/>
          <a:lstStyle/>
          <a:p>
            <a:fld id="{9ACE3152-893D-476F-92C8-DC87664CFA37}" type="datetime1">
              <a:rPr lang="en-CA" smtClean="0"/>
              <a:t>2018-02-12</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5416670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smtClean="0"/>
              <a:t>Click to edit Master title style</a:t>
            </a:r>
            <a:endParaRPr lang="en-US" dirty="0"/>
          </a:p>
        </p:txBody>
      </p:sp>
      <p:sp>
        <p:nvSpPr>
          <p:cNvPr id="3" name="Text Placeholder 2"/>
          <p:cNvSpPr>
            <a:spLocks noGrp="1"/>
          </p:cNvSpPr>
          <p:nvPr>
            <p:ph type="body" idx="1"/>
          </p:nvPr>
        </p:nvSpPr>
        <p:spPr>
          <a:xfrm>
            <a:off x="972080" y="1515357"/>
            <a:ext cx="4649787" cy="576262"/>
          </a:xfrm>
        </p:spPr>
        <p:txBody>
          <a:bodyPr anchor="b">
            <a:noAutofit/>
          </a:bodyPr>
          <a:lstStyle>
            <a:lvl1pPr marL="0" indent="0">
              <a:buNone/>
              <a:defRPr sz="24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smtClean="0"/>
              <a:t>Click to edit Master text styles</a:t>
            </a:r>
          </a:p>
        </p:txBody>
      </p:sp>
      <p:sp>
        <p:nvSpPr>
          <p:cNvPr id="4" name="Content Placeholder 3"/>
          <p:cNvSpPr>
            <a:spLocks noGrp="1"/>
          </p:cNvSpPr>
          <p:nvPr>
            <p:ph sz="half" idx="2"/>
          </p:nvPr>
        </p:nvSpPr>
        <p:spPr>
          <a:xfrm>
            <a:off x="684211" y="2100086"/>
            <a:ext cx="4937655" cy="4072114"/>
          </a:xfrm>
        </p:spPr>
        <p:txBody>
          <a:bodyPr anchor="t">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5" name="Text Placeholder 4"/>
          <p:cNvSpPr>
            <a:spLocks noGrp="1"/>
          </p:cNvSpPr>
          <p:nvPr>
            <p:ph type="body" sz="quarter" idx="3"/>
          </p:nvPr>
        </p:nvSpPr>
        <p:spPr>
          <a:xfrm>
            <a:off x="6035939" y="1523824"/>
            <a:ext cx="4665134" cy="576262"/>
          </a:xfrm>
        </p:spPr>
        <p:txBody>
          <a:bodyPr anchor="b">
            <a:noAutofit/>
          </a:bodyPr>
          <a:lstStyle>
            <a:lvl1pPr marL="0" indent="0">
              <a:buNone/>
              <a:defRPr sz="24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smtClean="0"/>
              <a:t>Click to edit Master text styles</a:t>
            </a:r>
          </a:p>
        </p:txBody>
      </p:sp>
      <p:sp>
        <p:nvSpPr>
          <p:cNvPr id="6" name="Content Placeholder 5"/>
          <p:cNvSpPr>
            <a:spLocks noGrp="1"/>
          </p:cNvSpPr>
          <p:nvPr>
            <p:ph sz="quarter" idx="4"/>
          </p:nvPr>
        </p:nvSpPr>
        <p:spPr>
          <a:xfrm>
            <a:off x="5763418" y="2100086"/>
            <a:ext cx="4929188" cy="4072114"/>
          </a:xfrm>
        </p:spPr>
        <p:txBody>
          <a:bodyPr anchor="t">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7" name="Date Placeholder 6"/>
          <p:cNvSpPr>
            <a:spLocks noGrp="1"/>
          </p:cNvSpPr>
          <p:nvPr>
            <p:ph type="dt" sz="half" idx="10"/>
          </p:nvPr>
        </p:nvSpPr>
        <p:spPr/>
        <p:txBody>
          <a:bodyPr/>
          <a:lstStyle/>
          <a:p>
            <a:fld id="{CB2930E9-C17A-4D90-BAE8-42423BBE919E}" type="datetime1">
              <a:rPr lang="en-CA" smtClean="0"/>
              <a:t>2018-02-12</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3696048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32659AD7-8F94-4BFD-9315-264212F1BDBC}" type="datetime1">
              <a:rPr lang="en-CA" smtClean="0"/>
              <a:t>2018-02-12</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4092938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A852F67-5290-4349-8ADA-9B77C8B30CA1}" type="datetime1">
              <a:rPr lang="en-CA" smtClean="0"/>
              <a:t>2018-02-12</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33575096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012" y="685800"/>
            <a:ext cx="3657600" cy="1371600"/>
          </a:xfrm>
        </p:spPr>
        <p:txBody>
          <a:bodyPr anchor="b">
            <a:normAutofit/>
          </a:bodyPr>
          <a:lstStyle>
            <a:lvl1pPr algn="l">
              <a:defRPr sz="2400" b="0"/>
            </a:lvl1pPr>
          </a:lstStyle>
          <a:p>
            <a:r>
              <a:rPr lang="en-US" smtClean="0"/>
              <a:t>Click to edit Master title style</a:t>
            </a:r>
            <a:endParaRPr lang="en-US" dirty="0"/>
          </a:p>
        </p:txBody>
      </p:sp>
      <p:sp>
        <p:nvSpPr>
          <p:cNvPr id="3" name="Content Placeholder 2"/>
          <p:cNvSpPr>
            <a:spLocks noGrp="1"/>
          </p:cNvSpPr>
          <p:nvPr>
            <p:ph idx="1"/>
          </p:nvPr>
        </p:nvSpPr>
        <p:spPr>
          <a:xfrm>
            <a:off x="684212" y="685800"/>
            <a:ext cx="5943601" cy="5308600"/>
          </a:xfrm>
        </p:spPr>
        <p:txBody>
          <a:bodyPr anchor="ct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7085012" y="2209799"/>
            <a:ext cx="3657600" cy="2091267"/>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AA9F9A6-54E7-4285-928E-6A5CE63E658D}" type="datetime1">
              <a:rPr lang="en-CA" smtClean="0"/>
              <a:t>2018-02-12</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40604949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2812" y="1447800"/>
            <a:ext cx="6019800" cy="1143000"/>
          </a:xfrm>
        </p:spPr>
        <p:txBody>
          <a:bodyPr anchor="b">
            <a:normAutofit/>
          </a:bodyPr>
          <a:lstStyle>
            <a:lvl1pPr algn="l">
              <a:defRPr sz="2800" b="0"/>
            </a:lvl1pPr>
          </a:lstStyle>
          <a:p>
            <a:r>
              <a:rPr lang="en-US" smtClean="0"/>
              <a:t>Click to edit Master title style</a:t>
            </a:r>
            <a:endParaRPr lang="en-US" dirty="0"/>
          </a:p>
        </p:txBody>
      </p:sp>
      <p:sp>
        <p:nvSpPr>
          <p:cNvPr id="14" name="Picture Placeholder 2"/>
          <p:cNvSpPr>
            <a:spLocks noGrp="1" noChangeAspect="1"/>
          </p:cNvSpPr>
          <p:nvPr>
            <p:ph type="pic" idx="1"/>
          </p:nvPr>
        </p:nvSpPr>
        <p:spPr>
          <a:xfrm>
            <a:off x="989012" y="914400"/>
            <a:ext cx="3280974" cy="45720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4722812" y="2777066"/>
            <a:ext cx="6021388" cy="2048933"/>
          </a:xfrm>
        </p:spPr>
        <p:txBody>
          <a:bodyPr anchor="t">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6A9DADFC-E42D-4E18-8E7A-1F87E4DC64CF}" type="datetime1">
              <a:rPr lang="en-CA" smtClean="0"/>
              <a:t>2018-02-12</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3551032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17" name="Picture Placeholder 2"/>
          <p:cNvSpPr>
            <a:spLocks noGrp="1" noChangeAspect="1"/>
          </p:cNvSpPr>
          <p:nvPr>
            <p:ph type="pic" idx="13"/>
          </p:nvPr>
        </p:nvSpPr>
        <p:spPr>
          <a:xfrm>
            <a:off x="685800" y="533400"/>
            <a:ext cx="10818812" cy="31242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16" name="Text Placeholder 9"/>
          <p:cNvSpPr>
            <a:spLocks noGrp="1"/>
          </p:cNvSpPr>
          <p:nvPr>
            <p:ph type="body" sz="quarter" idx="14"/>
          </p:nvPr>
        </p:nvSpPr>
        <p:spPr>
          <a:xfrm>
            <a:off x="914402" y="3843867"/>
            <a:ext cx="8304210" cy="457200"/>
          </a:xfrm>
        </p:spPr>
        <p:txBody>
          <a:bodyPr anchor="t">
            <a:norm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Date Placeholder 2"/>
          <p:cNvSpPr>
            <a:spLocks noGrp="1"/>
          </p:cNvSpPr>
          <p:nvPr>
            <p:ph type="dt" sz="half" idx="10"/>
          </p:nvPr>
        </p:nvSpPr>
        <p:spPr/>
        <p:txBody>
          <a:bodyPr/>
          <a:lstStyle/>
          <a:p>
            <a:fld id="{C89DCB4F-0D89-4D46-BA02-4EEC06F0D222}" type="datetime1">
              <a:rPr lang="en-CA" smtClean="0"/>
              <a:t>2018-02-12</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8032953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anchor="ctr">
            <a:normAutofit/>
          </a:bodyPr>
          <a:lstStyle>
            <a:lvl1pPr algn="l">
              <a:defRPr sz="3200" b="0" cap="all"/>
            </a:lvl1pPr>
          </a:lstStyle>
          <a:p>
            <a:r>
              <a:rPr lang="en-US" smtClean="0"/>
              <a:t>Click to edit Master title style</a:t>
            </a:r>
            <a:endParaRPr lang="en-US" dirty="0"/>
          </a:p>
        </p:txBody>
      </p:sp>
      <p:sp>
        <p:nvSpPr>
          <p:cNvPr id="3" name="Text Placeholder 2"/>
          <p:cNvSpPr>
            <a:spLocks noGrp="1"/>
          </p:cNvSpPr>
          <p:nvPr>
            <p:ph type="body" idx="1"/>
          </p:nvPr>
        </p:nvSpPr>
        <p:spPr>
          <a:xfrm>
            <a:off x="684212" y="4114800"/>
            <a:ext cx="8535988" cy="1879600"/>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FC2696F7-A71E-484D-AC3A-CE094204994B}" type="datetime1">
              <a:rPr lang="en-CA" smtClean="0"/>
              <a:t>2018-02-12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4989586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85800"/>
            <a:ext cx="9144001" cy="2743200"/>
          </a:xfrm>
        </p:spPr>
        <p:txBody>
          <a:bodyPr anchor="ctr">
            <a:normAutofit/>
          </a:bodyPr>
          <a:lstStyle>
            <a:lvl1pPr algn="l">
              <a:defRPr sz="3200" b="0" cap="all">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1446212" y="3429000"/>
            <a:ext cx="8534400"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Text Placeholder 2"/>
          <p:cNvSpPr>
            <a:spLocks noGrp="1"/>
          </p:cNvSpPr>
          <p:nvPr>
            <p:ph type="body" idx="1"/>
          </p:nvPr>
        </p:nvSpPr>
        <p:spPr>
          <a:xfrm>
            <a:off x="684213" y="4301067"/>
            <a:ext cx="8534400" cy="1684865"/>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FF2026A3-D9E4-42EE-8898-5602D67646A6}" type="datetime1">
              <a:rPr lang="en-CA" smtClean="0"/>
              <a:t>2018-02-12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
        <p:nvSpPr>
          <p:cNvPr id="14" name="TextBox 13"/>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37867062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84212" y="3429000"/>
            <a:ext cx="8534400" cy="1697400"/>
          </a:xfrm>
        </p:spPr>
        <p:txBody>
          <a:bodyPr anchor="b">
            <a:normAutofit/>
          </a:bodyPr>
          <a:lstStyle>
            <a:lvl1pPr algn="l">
              <a:defRPr sz="3200" b="0" cap="all"/>
            </a:lvl1pPr>
          </a:lstStyle>
          <a:p>
            <a:r>
              <a:rPr lang="en-US" smtClean="0"/>
              <a:t>Click to edit Master title style</a:t>
            </a:r>
            <a:endParaRPr lang="en-US" dirty="0"/>
          </a:p>
        </p:txBody>
      </p:sp>
      <p:sp>
        <p:nvSpPr>
          <p:cNvPr id="3" name="Text Placeholder 2"/>
          <p:cNvSpPr>
            <a:spLocks noGrp="1"/>
          </p:cNvSpPr>
          <p:nvPr>
            <p:ph type="body" idx="1"/>
          </p:nvPr>
        </p:nvSpPr>
        <p:spPr>
          <a:xfrm>
            <a:off x="684211" y="5132981"/>
            <a:ext cx="8535990" cy="860400"/>
          </a:xfrm>
        </p:spPr>
        <p:txBody>
          <a:bodyPr anchor="t">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382851CE-B33E-4D8E-B913-47C489FB1326}" type="datetime1">
              <a:rPr lang="en-CA" smtClean="0"/>
              <a:t>2018-02-12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386857988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3" y="685800"/>
            <a:ext cx="9144000" cy="2743200"/>
          </a:xfrm>
        </p:spPr>
        <p:txBody>
          <a:bodyPr anchor="ctr">
            <a:normAutofit/>
          </a:bodyPr>
          <a:lstStyle>
            <a:lvl1pPr algn="l">
              <a:defRPr sz="3200" b="0" cap="all">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684212" y="3928534"/>
            <a:ext cx="8534401" cy="1049866"/>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684211" y="4978400"/>
            <a:ext cx="8534401" cy="10160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D0249205-445A-4022-8550-E0423D1698F6}" type="datetime1">
              <a:rPr lang="en-CA" smtClean="0"/>
              <a:t>2018-02-12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
        <p:nvSpPr>
          <p:cNvPr id="11" name="TextBox 10"/>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2" name="TextBox 11"/>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325301549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vert="horz" lIns="91440" tIns="45720" rIns="91440" bIns="45720" rtlCol="0" anchor="ctr">
            <a:normAutofit/>
          </a:bodyPr>
          <a:lstStyle>
            <a:lvl1pPr>
              <a:defRPr lang="en-US" b="0" dirty="0"/>
            </a:lvl1pPr>
          </a:lstStyle>
          <a:p>
            <a:pPr marL="0" lvl="0"/>
            <a:r>
              <a:rPr lang="en-US" smtClean="0"/>
              <a:t>Click to edit Master title style</a:t>
            </a:r>
            <a:endParaRPr lang="en-US" dirty="0"/>
          </a:p>
        </p:txBody>
      </p:sp>
      <p:sp>
        <p:nvSpPr>
          <p:cNvPr id="10" name="Text Placeholder 9"/>
          <p:cNvSpPr>
            <a:spLocks noGrp="1"/>
          </p:cNvSpPr>
          <p:nvPr>
            <p:ph type="body" sz="quarter" idx="13"/>
          </p:nvPr>
        </p:nvSpPr>
        <p:spPr>
          <a:xfrm>
            <a:off x="684212" y="3928534"/>
            <a:ext cx="8534400" cy="838200"/>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684211" y="4766732"/>
            <a:ext cx="8534401" cy="1227667"/>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4928CFC7-231B-411E-A147-D21C0786264A}" type="datetime1">
              <a:rPr lang="en-CA" smtClean="0"/>
              <a:t>2018-02-12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9026641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EE4A103E-C7C6-4893-8576-55DC8ED846C7}" type="datetime1">
              <a:rPr lang="en-CA" smtClean="0"/>
              <a:t>2018-02-12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44703613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85212" y="685800"/>
            <a:ext cx="2057400" cy="4572000"/>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685800" y="685800"/>
            <a:ext cx="7823200" cy="5308600"/>
          </a:xfrm>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E79FAEEE-621B-4F9D-B0C9-9282EED4D31D}" type="datetime1">
              <a:rPr lang="en-CA" smtClean="0"/>
              <a:t>2018-02-12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89914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7" name="Group 6"/>
          <p:cNvGrpSpPr/>
          <p:nvPr/>
        </p:nvGrpSpPr>
        <p:grpSpPr>
          <a:xfrm rot="16200000">
            <a:off x="9093845" y="-109806"/>
            <a:ext cx="2981858" cy="3208867"/>
            <a:chOff x="9206969" y="2963333"/>
            <a:chExt cx="2981858" cy="3208867"/>
          </a:xfrm>
        </p:grpSpPr>
        <p:cxnSp>
          <p:nvCxnSpPr>
            <p:cNvPr id="8" name="Straight Connector 7"/>
            <p:cNvCxnSpPr/>
            <p:nvPr/>
          </p:nvCxnSpPr>
          <p:spPr>
            <a:xfrm flipH="1">
              <a:off x="11276012" y="2963333"/>
              <a:ext cx="912814" cy="912812"/>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9206969" y="3190344"/>
              <a:ext cx="2981857" cy="2981856"/>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292292" y="3285067"/>
              <a:ext cx="1896534" cy="1896533"/>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443103" y="3131080"/>
              <a:ext cx="1745722" cy="1745720"/>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918826" y="3683001"/>
              <a:ext cx="1270001" cy="1269999"/>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2" name="Title Placeholder 1"/>
          <p:cNvSpPr>
            <a:spLocks noGrp="1"/>
          </p:cNvSpPr>
          <p:nvPr>
            <p:ph type="title"/>
          </p:nvPr>
        </p:nvSpPr>
        <p:spPr>
          <a:xfrm>
            <a:off x="684212" y="170"/>
            <a:ext cx="8534400" cy="1507067"/>
          </a:xfrm>
          <a:prstGeom prst="rect">
            <a:avLst/>
          </a:prstGeom>
          <a:effectLst/>
        </p:spPr>
        <p:txBody>
          <a:bodyPr vert="horz" lIns="91440" tIns="45720" rIns="91440" bIns="45720" rtlCol="0" anchor="ctr">
            <a:normAutofit/>
          </a:bodyPr>
          <a:lstStyle/>
          <a:p>
            <a:r>
              <a:rPr lang="en-US" dirty="0" smtClean="0"/>
              <a:t>Click to edit Master title style</a:t>
            </a:r>
            <a:endParaRPr lang="en-US" dirty="0"/>
          </a:p>
        </p:txBody>
      </p:sp>
      <p:sp>
        <p:nvSpPr>
          <p:cNvPr id="3" name="Text Placeholder 2"/>
          <p:cNvSpPr>
            <a:spLocks noGrp="1"/>
          </p:cNvSpPr>
          <p:nvPr>
            <p:ph type="body" idx="1"/>
          </p:nvPr>
        </p:nvSpPr>
        <p:spPr>
          <a:xfrm>
            <a:off x="684211" y="1515358"/>
            <a:ext cx="10285797" cy="4656841"/>
          </a:xfrm>
          <a:prstGeom prst="rect">
            <a:avLst/>
          </a:prstGeom>
        </p:spPr>
        <p:txBody>
          <a:bodyPr vert="horz" lIns="91440" tIns="45720" rIns="91440" bIns="45720" rtlCol="0" anchor="t">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Date Placeholder 3"/>
          <p:cNvSpPr>
            <a:spLocks noGrp="1"/>
          </p:cNvSpPr>
          <p:nvPr>
            <p:ph type="dt" sz="half" idx="2"/>
          </p:nvPr>
        </p:nvSpPr>
        <p:spPr>
          <a:xfrm>
            <a:off x="9904412" y="6172200"/>
            <a:ext cx="1600200" cy="365125"/>
          </a:xfrm>
          <a:prstGeom prst="rect">
            <a:avLst/>
          </a:prstGeom>
        </p:spPr>
        <p:txBody>
          <a:bodyPr vert="horz" lIns="91440" tIns="45720" rIns="91440" bIns="45720" rtlCol="0" anchor="t"/>
          <a:lstStyle>
            <a:lvl1pPr algn="r">
              <a:defRPr sz="1000" b="0" i="0">
                <a:solidFill>
                  <a:schemeClr val="bg1"/>
                </a:solidFill>
                <a:effectLst/>
                <a:latin typeface="+mn-lt"/>
              </a:defRPr>
            </a:lvl1pPr>
          </a:lstStyle>
          <a:p>
            <a:fld id="{1046A6BF-9417-477F-B83E-822B9F56EF48}" type="datetime1">
              <a:rPr lang="en-CA" smtClean="0"/>
              <a:t>2018-02-12</a:t>
            </a:fld>
            <a:endParaRPr lang="en-CA" dirty="0"/>
          </a:p>
        </p:txBody>
      </p:sp>
      <p:sp>
        <p:nvSpPr>
          <p:cNvPr id="5" name="Footer Placeholder 4"/>
          <p:cNvSpPr>
            <a:spLocks noGrp="1"/>
          </p:cNvSpPr>
          <p:nvPr>
            <p:ph type="ftr" sz="quarter" idx="3"/>
          </p:nvPr>
        </p:nvSpPr>
        <p:spPr>
          <a:xfrm>
            <a:off x="684212" y="6172200"/>
            <a:ext cx="7543800" cy="365125"/>
          </a:xfrm>
          <a:prstGeom prst="rect">
            <a:avLst/>
          </a:prstGeom>
        </p:spPr>
        <p:txBody>
          <a:bodyPr vert="horz" lIns="91440" tIns="45720" rIns="91440" bIns="45720" rtlCol="0" anchor="t"/>
          <a:lstStyle>
            <a:lvl1pPr algn="l">
              <a:defRPr sz="1000" b="0" i="0">
                <a:solidFill>
                  <a:schemeClr val="bg1"/>
                </a:solidFill>
                <a:effectLst/>
                <a:latin typeface="+mn-lt"/>
              </a:defRPr>
            </a:lvl1pPr>
          </a:lstStyle>
          <a:p>
            <a:endParaRPr lang="en-CA" dirty="0"/>
          </a:p>
        </p:txBody>
      </p:sp>
      <p:sp>
        <p:nvSpPr>
          <p:cNvPr id="6" name="Slide Number Placeholder 5"/>
          <p:cNvSpPr>
            <a:spLocks noGrp="1"/>
          </p:cNvSpPr>
          <p:nvPr>
            <p:ph type="sldNum" sz="quarter" idx="4"/>
          </p:nvPr>
        </p:nvSpPr>
        <p:spPr>
          <a:xfrm>
            <a:off x="10363200" y="5578475"/>
            <a:ext cx="1142245" cy="669925"/>
          </a:xfrm>
          <a:prstGeom prst="rect">
            <a:avLst/>
          </a:prstGeom>
        </p:spPr>
        <p:txBody>
          <a:bodyPr vert="horz" lIns="91440" tIns="45720" rIns="91440" bIns="45720" rtlCol="0" anchor="b"/>
          <a:lstStyle>
            <a:lvl1pPr algn="r">
              <a:defRPr sz="2000" b="0" i="0">
                <a:solidFill>
                  <a:schemeClr val="bg1"/>
                </a:solidFill>
                <a:effectLst/>
                <a:latin typeface="+mn-lt"/>
              </a:defRPr>
            </a:lvl1pPr>
          </a:lstStyle>
          <a:p>
            <a:fld id="{7B2023C8-B124-43A9-8F92-0EEF5BAA9995}" type="slidenum">
              <a:rPr lang="en-CA" smtClean="0"/>
              <a:pPr/>
              <a:t>‹#›</a:t>
            </a:fld>
            <a:endParaRPr lang="en-CA" dirty="0"/>
          </a:p>
        </p:txBody>
      </p:sp>
    </p:spTree>
    <p:extLst>
      <p:ext uri="{BB962C8B-B14F-4D97-AF65-F5344CB8AC3E}">
        <p14:creationId xmlns:p14="http://schemas.microsoft.com/office/powerpoint/2010/main" val="220538113"/>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hf hdr="0" ftr="0" dt="0"/>
  <p:txStyles>
    <p:titleStyle>
      <a:lvl1pPr algn="l" defTabSz="457200" rtl="0" eaLnBrk="1" latinLnBrk="0" hangingPunct="1">
        <a:spcBef>
          <a:spcPct val="0"/>
        </a:spcBef>
        <a:buNone/>
        <a:defRPr lang="en-US" sz="4000" b="1" kern="1200" cap="none" baseline="0" dirty="0" smtClean="0">
          <a:ln w="3175" cmpd="sng">
            <a:noFill/>
          </a:ln>
          <a:solidFill>
            <a:schemeClr val="bg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4211" y="707066"/>
            <a:ext cx="9129091" cy="2167468"/>
          </a:xfrm>
        </p:spPr>
        <p:txBody>
          <a:bodyPr>
            <a:normAutofit fontScale="90000"/>
          </a:bodyPr>
          <a:lstStyle/>
          <a:p>
            <a:r>
              <a:rPr lang="en-CA" dirty="0" smtClean="0"/>
              <a:t>Spiffy: Enabling File-System Aware Storage Applications</a:t>
            </a:r>
            <a:br>
              <a:rPr lang="en-CA" dirty="0" smtClean="0"/>
            </a:br>
            <a:endParaRPr lang="en-CA" dirty="0"/>
          </a:p>
        </p:txBody>
      </p:sp>
      <p:sp>
        <p:nvSpPr>
          <p:cNvPr id="3" name="Subtitle 2"/>
          <p:cNvSpPr>
            <a:spLocks noGrp="1"/>
          </p:cNvSpPr>
          <p:nvPr>
            <p:ph type="subTitle" idx="1"/>
          </p:nvPr>
        </p:nvSpPr>
        <p:spPr>
          <a:xfrm>
            <a:off x="684211" y="3037337"/>
            <a:ext cx="8863825" cy="2753864"/>
          </a:xfrm>
        </p:spPr>
        <p:txBody>
          <a:bodyPr/>
          <a:lstStyle/>
          <a:p>
            <a:r>
              <a:rPr lang="en-CA" dirty="0" err="1" smtClean="0"/>
              <a:t>Kuei</a:t>
            </a:r>
            <a:r>
              <a:rPr lang="en-CA" dirty="0" smtClean="0"/>
              <a:t> (Jack) Sun, Daniel Fryer, Joseph Chu, Matthew </a:t>
            </a:r>
            <a:r>
              <a:rPr lang="en-CA" dirty="0" err="1" smtClean="0"/>
              <a:t>Lakier</a:t>
            </a:r>
            <a:r>
              <a:rPr lang="en-CA" dirty="0" smtClean="0"/>
              <a:t>, </a:t>
            </a:r>
          </a:p>
          <a:p>
            <a:r>
              <a:rPr lang="en-CA" dirty="0" smtClean="0"/>
              <a:t>Angela </a:t>
            </a:r>
            <a:r>
              <a:rPr lang="en-CA" dirty="0" err="1" smtClean="0"/>
              <a:t>Demke</a:t>
            </a:r>
            <a:r>
              <a:rPr lang="en-CA" dirty="0" smtClean="0"/>
              <a:t> Brown, and </a:t>
            </a:r>
            <a:r>
              <a:rPr lang="en-CA" dirty="0" err="1" smtClean="0"/>
              <a:t>Ashvin</a:t>
            </a:r>
            <a:r>
              <a:rPr lang="en-CA" dirty="0" smtClean="0"/>
              <a:t> </a:t>
            </a:r>
            <a:r>
              <a:rPr lang="en-CA" dirty="0" err="1" smtClean="0"/>
              <a:t>Goel</a:t>
            </a:r>
            <a:endParaRPr lang="en-CA" dirty="0" smtClean="0"/>
          </a:p>
          <a:p>
            <a:endParaRPr lang="en-CA" dirty="0" smtClean="0"/>
          </a:p>
          <a:p>
            <a:r>
              <a:rPr lang="en-CA" i="1" dirty="0" smtClean="0"/>
              <a:t>University of Toronto</a:t>
            </a:r>
            <a:endParaRPr lang="en-CA" i="1" dirty="0"/>
          </a:p>
        </p:txBody>
      </p:sp>
    </p:spTree>
    <p:extLst>
      <p:ext uri="{BB962C8B-B14F-4D97-AF65-F5344CB8AC3E}">
        <p14:creationId xmlns:p14="http://schemas.microsoft.com/office/powerpoint/2010/main" val="298973681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Introduction</a:t>
            </a:r>
            <a:endParaRPr lang="en-CA" dirty="0"/>
          </a:p>
        </p:txBody>
      </p:sp>
      <p:sp>
        <p:nvSpPr>
          <p:cNvPr id="3" name="Content Placeholder 2"/>
          <p:cNvSpPr>
            <a:spLocks noGrp="1"/>
          </p:cNvSpPr>
          <p:nvPr>
            <p:ph idx="1"/>
          </p:nvPr>
        </p:nvSpPr>
        <p:spPr/>
        <p:txBody>
          <a:bodyPr/>
          <a:lstStyle/>
          <a:p>
            <a:r>
              <a:rPr lang="en-CA" smtClean="0"/>
              <a:t>File-system aware applications</a:t>
            </a:r>
          </a:p>
          <a:p>
            <a:pPr lvl="1"/>
            <a:r>
              <a:rPr lang="en-CA" smtClean="0"/>
              <a:t>E.g. partition editor, file system checker, defragmentation tool</a:t>
            </a:r>
          </a:p>
          <a:p>
            <a:pPr lvl="1"/>
            <a:r>
              <a:rPr lang="en-CA" smtClean="0"/>
              <a:t>Operate directly on file system metadata structures</a:t>
            </a:r>
          </a:p>
          <a:p>
            <a:pPr lvl="2"/>
            <a:r>
              <a:rPr lang="en-CA" smtClean="0"/>
              <a:t>Require detailed knowledge of file system format on disk</a:t>
            </a:r>
          </a:p>
          <a:p>
            <a:pPr lvl="2"/>
            <a:r>
              <a:rPr lang="en-CA" smtClean="0"/>
              <a:t>Bypass VFS layer</a:t>
            </a:r>
          </a:p>
          <a:p>
            <a:pPr lvl="1"/>
            <a:r>
              <a:rPr lang="en-CA" smtClean="0"/>
              <a:t>Essential for successful deployment of file system</a:t>
            </a:r>
            <a:endParaRPr lang="en-CA" dirty="0" smtClean="0"/>
          </a:p>
        </p:txBody>
      </p:sp>
      <p:sp>
        <p:nvSpPr>
          <p:cNvPr id="4" name="Slide Number Placeholder 3"/>
          <p:cNvSpPr>
            <a:spLocks noGrp="1"/>
          </p:cNvSpPr>
          <p:nvPr>
            <p:ph type="sldNum" sz="quarter" idx="12"/>
          </p:nvPr>
        </p:nvSpPr>
        <p:spPr/>
        <p:txBody>
          <a:bodyPr/>
          <a:lstStyle/>
          <a:p>
            <a:fld id="{7B2023C8-B124-43A9-8F92-0EEF5BAA9995}" type="slidenum">
              <a:rPr lang="en-CA" smtClean="0"/>
              <a:pPr/>
              <a:t>2</a:t>
            </a:fld>
            <a:endParaRPr lang="en-CA" dirty="0"/>
          </a:p>
        </p:txBody>
      </p:sp>
    </p:spTree>
    <p:extLst>
      <p:ext uri="{BB962C8B-B14F-4D97-AF65-F5344CB8AC3E}">
        <p14:creationId xmlns:p14="http://schemas.microsoft.com/office/powerpoint/2010/main" val="178890286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Problem</a:t>
            </a:r>
            <a:endParaRPr lang="en-CA" dirty="0"/>
          </a:p>
        </p:txBody>
      </p:sp>
      <p:sp>
        <p:nvSpPr>
          <p:cNvPr id="3" name="Content Placeholder 2"/>
          <p:cNvSpPr>
            <a:spLocks noGrp="1"/>
          </p:cNvSpPr>
          <p:nvPr>
            <p:ph idx="1"/>
          </p:nvPr>
        </p:nvSpPr>
        <p:spPr/>
        <p:txBody>
          <a:bodyPr/>
          <a:lstStyle/>
          <a:p>
            <a:r>
              <a:rPr lang="en-CA" dirty="0" smtClean="0"/>
              <a:t>Tools have to be developed from scratch for each file system</a:t>
            </a:r>
          </a:p>
          <a:p>
            <a:r>
              <a:rPr lang="en-CA" dirty="0" smtClean="0"/>
              <a:t>Tools developed only by experts</a:t>
            </a:r>
          </a:p>
          <a:p>
            <a:r>
              <a:rPr lang="en-CA" dirty="0" smtClean="0"/>
              <a:t>Bugs lead to system crash, data corruption, security vulnerability</a:t>
            </a:r>
          </a:p>
          <a:p>
            <a:endParaRPr lang="en-CA" dirty="0" smtClean="0"/>
          </a:p>
          <a:p>
            <a:r>
              <a:rPr lang="en-CA" dirty="0" smtClean="0"/>
              <a:t>Example: bug 723343 in </a:t>
            </a:r>
            <a:r>
              <a:rPr lang="en-CA" dirty="0" err="1" smtClean="0"/>
              <a:t>ntfsprogs</a:t>
            </a:r>
            <a:endParaRPr lang="en-CA" dirty="0" smtClean="0"/>
          </a:p>
          <a:p>
            <a:pPr lvl="1"/>
            <a:r>
              <a:rPr lang="en-CA" dirty="0" smtClean="0"/>
              <a:t>NTFS stores the size of MFT record as either:</a:t>
            </a:r>
          </a:p>
          <a:p>
            <a:pPr lvl="2"/>
            <a:r>
              <a:rPr lang="en-CA" dirty="0" smtClean="0"/>
              <a:t># of clusters </a:t>
            </a:r>
            <a:r>
              <a:rPr lang="en-CA" dirty="0"/>
              <a:t>per record, if value &gt; </a:t>
            </a:r>
            <a:r>
              <a:rPr lang="en-CA" dirty="0" smtClean="0"/>
              <a:t>0</a:t>
            </a:r>
          </a:p>
          <a:p>
            <a:pPr lvl="2"/>
            <a:r>
              <a:rPr lang="en-CA" dirty="0" smtClean="0"/>
              <a:t>2</a:t>
            </a:r>
            <a:r>
              <a:rPr lang="en-CA" baseline="30000" dirty="0" smtClean="0"/>
              <a:t>|value</a:t>
            </a:r>
            <a:r>
              <a:rPr lang="en-CA" baseline="30000" dirty="0"/>
              <a:t>|</a:t>
            </a:r>
            <a:r>
              <a:rPr lang="en-CA" dirty="0"/>
              <a:t>, if value &lt; </a:t>
            </a:r>
            <a:r>
              <a:rPr lang="en-CA" dirty="0" smtClean="0"/>
              <a:t>0</a:t>
            </a:r>
          </a:p>
          <a:p>
            <a:pPr lvl="1"/>
            <a:r>
              <a:rPr lang="en-CA" dirty="0" err="1" smtClean="0"/>
              <a:t>ntfsprogs</a:t>
            </a:r>
            <a:r>
              <a:rPr lang="en-CA" dirty="0" smtClean="0"/>
              <a:t> misinterprets this field, corrupting NTFS when resizing partitions</a:t>
            </a:r>
          </a:p>
          <a:p>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3</a:t>
            </a:fld>
            <a:endParaRPr lang="en-CA" dirty="0"/>
          </a:p>
        </p:txBody>
      </p:sp>
    </p:spTree>
    <p:extLst>
      <p:ext uri="{BB962C8B-B14F-4D97-AF65-F5344CB8AC3E}">
        <p14:creationId xmlns:p14="http://schemas.microsoft.com/office/powerpoint/2010/main" val="368325232"/>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Root Cause</a:t>
            </a:r>
            <a:endParaRPr lang="en-CA" dirty="0"/>
          </a:p>
        </p:txBody>
      </p:sp>
      <p:sp>
        <p:nvSpPr>
          <p:cNvPr id="3" name="Content Placeholder 2"/>
          <p:cNvSpPr>
            <a:spLocks noGrp="1"/>
          </p:cNvSpPr>
          <p:nvPr>
            <p:ph idx="1"/>
          </p:nvPr>
        </p:nvSpPr>
        <p:spPr/>
        <p:txBody>
          <a:bodyPr/>
          <a:lstStyle/>
          <a:p>
            <a:r>
              <a:rPr lang="en-CA" smtClean="0"/>
              <a:t>File-system applications are difficult to write</a:t>
            </a:r>
          </a:p>
          <a:p>
            <a:pPr lvl="1"/>
            <a:r>
              <a:rPr lang="en-CA" smtClean="0"/>
              <a:t>File system format complex and often poorly documented</a:t>
            </a:r>
          </a:p>
          <a:p>
            <a:pPr lvl="1"/>
            <a:r>
              <a:rPr lang="en-CA" smtClean="0"/>
              <a:t>Require detailed knowledge of format</a:t>
            </a:r>
          </a:p>
          <a:p>
            <a:pPr lvl="1"/>
            <a:r>
              <a:rPr lang="en-CA" smtClean="0"/>
              <a:t>Cannot be reused across file systems</a:t>
            </a:r>
          </a:p>
          <a:p>
            <a:pPr lvl="1"/>
            <a:r>
              <a:rPr lang="en-CA" smtClean="0"/>
              <a:t>Need to handle file system corruption</a:t>
            </a:r>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4</a:t>
            </a:fld>
            <a:endParaRPr lang="en-CA" dirty="0"/>
          </a:p>
        </p:txBody>
      </p:sp>
    </p:spTree>
    <p:extLst>
      <p:ext uri="{BB962C8B-B14F-4D97-AF65-F5344CB8AC3E}">
        <p14:creationId xmlns:p14="http://schemas.microsoft.com/office/powerpoint/2010/main" val="90541028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Goals</a:t>
            </a:r>
            <a:endParaRPr lang="en-CA" dirty="0"/>
          </a:p>
        </p:txBody>
      </p:sp>
      <p:sp>
        <p:nvSpPr>
          <p:cNvPr id="3" name="Content Placeholder 2"/>
          <p:cNvSpPr>
            <a:spLocks noGrp="1"/>
          </p:cNvSpPr>
          <p:nvPr>
            <p:ph idx="1"/>
          </p:nvPr>
        </p:nvSpPr>
        <p:spPr/>
        <p:txBody>
          <a:bodyPr/>
          <a:lstStyle/>
          <a:p>
            <a:r>
              <a:rPr lang="en-CA" smtClean="0"/>
              <a:t>Simplify development of file-system aware applications</a:t>
            </a:r>
          </a:p>
          <a:p>
            <a:pPr lvl="1"/>
            <a:r>
              <a:rPr lang="en-CA" smtClean="0"/>
              <a:t>Reduce file-system specific code</a:t>
            </a:r>
          </a:p>
          <a:p>
            <a:pPr lvl="1"/>
            <a:r>
              <a:rPr lang="en-CA" smtClean="0"/>
              <a:t>Enable code reuse across file systems</a:t>
            </a:r>
          </a:p>
          <a:p>
            <a:endParaRPr lang="en-CA" smtClean="0"/>
          </a:p>
          <a:p>
            <a:r>
              <a:rPr lang="en-CA" smtClean="0"/>
              <a:t>Improve robustness of these applications</a:t>
            </a:r>
          </a:p>
          <a:p>
            <a:pPr lvl="1"/>
            <a:r>
              <a:rPr lang="en-CA" smtClean="0"/>
              <a:t>Enable correct traversal of file system metadata</a:t>
            </a:r>
          </a:p>
          <a:p>
            <a:pPr lvl="1"/>
            <a:r>
              <a:rPr lang="en-CA" smtClean="0"/>
              <a:t>Ensure type safe access to file system structures</a:t>
            </a:r>
          </a:p>
          <a:p>
            <a:pPr lvl="2"/>
            <a:r>
              <a:rPr lang="en-CA" smtClean="0"/>
              <a:t>Helps detect corruption for both read and write</a:t>
            </a:r>
          </a:p>
          <a:p>
            <a:pPr lvl="2"/>
            <a:r>
              <a:rPr lang="en-CA" smtClean="0"/>
              <a:t>Helps reduce error propagation, and further corruption</a:t>
            </a:r>
          </a:p>
          <a:p>
            <a:pPr lvl="2"/>
            <a:endParaRPr lang="en-CA" smtClean="0"/>
          </a:p>
          <a:p>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5</a:t>
            </a:fld>
            <a:endParaRPr lang="en-CA" dirty="0"/>
          </a:p>
        </p:txBody>
      </p:sp>
    </p:spTree>
    <p:extLst>
      <p:ext uri="{BB962C8B-B14F-4D97-AF65-F5344CB8AC3E}">
        <p14:creationId xmlns:p14="http://schemas.microsoft.com/office/powerpoint/2010/main" val="47699369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Approach: Spiffy Framework</a:t>
            </a:r>
            <a:endParaRPr lang="en-CA" dirty="0"/>
          </a:p>
        </p:txBody>
      </p:sp>
      <p:sp>
        <p:nvSpPr>
          <p:cNvPr id="3" name="Content Placeholder 2"/>
          <p:cNvSpPr>
            <a:spLocks noGrp="1"/>
          </p:cNvSpPr>
          <p:nvPr>
            <p:ph idx="1"/>
          </p:nvPr>
        </p:nvSpPr>
        <p:spPr/>
        <p:txBody>
          <a:bodyPr/>
          <a:lstStyle/>
          <a:p>
            <a:r>
              <a:rPr lang="en-CA" smtClean="0"/>
              <a:t>File system developers specify the format of their file system</a:t>
            </a:r>
          </a:p>
          <a:p>
            <a:r>
              <a:rPr lang="en-CA" smtClean="0"/>
              <a:t>Spiffy uses specification to generate parsing and serialization library </a:t>
            </a:r>
          </a:p>
          <a:p>
            <a:r>
              <a:rPr lang="en-CA" smtClean="0"/>
              <a:t>Developers use library to build robust file-system aware applications</a:t>
            </a:r>
          </a:p>
          <a:p>
            <a:endParaRPr lang="en-CA" smtClean="0"/>
          </a:p>
          <a:p>
            <a:endParaRPr lang="en-CA" smtClean="0"/>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6</a:t>
            </a:fld>
            <a:endParaRPr lang="en-CA" dirty="0"/>
          </a:p>
        </p:txBody>
      </p:sp>
    </p:spTree>
    <p:extLst>
      <p:ext uri="{BB962C8B-B14F-4D97-AF65-F5344CB8AC3E}">
        <p14:creationId xmlns:p14="http://schemas.microsoft.com/office/powerpoint/2010/main" val="1853963608"/>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Specifying Format</a:t>
            </a:r>
            <a:endParaRPr lang="en-CA" dirty="0"/>
          </a:p>
        </p:txBody>
      </p:sp>
      <p:sp>
        <p:nvSpPr>
          <p:cNvPr id="3" name="Content Placeholder 2"/>
          <p:cNvSpPr>
            <a:spLocks noGrp="1"/>
          </p:cNvSpPr>
          <p:nvPr>
            <p:ph idx="1"/>
          </p:nvPr>
        </p:nvSpPr>
        <p:spPr>
          <a:xfrm>
            <a:off x="684212" y="1516762"/>
            <a:ext cx="10285797" cy="4656842"/>
          </a:xfrm>
        </p:spPr>
        <p:txBody>
          <a:bodyPr/>
          <a:lstStyle/>
          <a:p>
            <a:r>
              <a:rPr lang="en-CA" dirty="0" smtClean="0"/>
              <a:t>File system developers annotate metadata structures in </a:t>
            </a:r>
            <a:br>
              <a:rPr lang="en-CA" dirty="0" smtClean="0"/>
            </a:br>
            <a:r>
              <a:rPr lang="en-CA" dirty="0" smtClean="0"/>
              <a:t>header files of existing source code</a:t>
            </a:r>
          </a:p>
        </p:txBody>
      </p:sp>
      <p:sp>
        <p:nvSpPr>
          <p:cNvPr id="35" name="Slide Number Placeholder 34"/>
          <p:cNvSpPr>
            <a:spLocks noGrp="1"/>
          </p:cNvSpPr>
          <p:nvPr>
            <p:ph type="sldNum" sz="quarter" idx="12"/>
          </p:nvPr>
        </p:nvSpPr>
        <p:spPr/>
        <p:txBody>
          <a:bodyPr/>
          <a:lstStyle/>
          <a:p>
            <a:fld id="{7B2023C8-B124-43A9-8F92-0EEF5BAA9995}" type="slidenum">
              <a:rPr lang="en-CA" smtClean="0"/>
              <a:pPr/>
              <a:t>7</a:t>
            </a:fld>
            <a:endParaRPr lang="en-CA" dirty="0"/>
          </a:p>
        </p:txBody>
      </p:sp>
      <p:sp>
        <p:nvSpPr>
          <p:cNvPr id="61" name="Rectangle 60"/>
          <p:cNvSpPr/>
          <p:nvPr/>
        </p:nvSpPr>
        <p:spPr>
          <a:xfrm>
            <a:off x="1349297" y="4791414"/>
            <a:ext cx="1411173" cy="472257"/>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System Developer</a:t>
            </a:r>
            <a:endParaRPr lang="en-CA" dirty="0">
              <a:solidFill>
                <a:schemeClr val="bg1"/>
              </a:solidFill>
            </a:endParaRPr>
          </a:p>
        </p:txBody>
      </p:sp>
      <p:sp>
        <p:nvSpPr>
          <p:cNvPr id="90" name="Rectangle 89"/>
          <p:cNvSpPr/>
          <p:nvPr/>
        </p:nvSpPr>
        <p:spPr>
          <a:xfrm>
            <a:off x="1320470" y="3184147"/>
            <a:ext cx="1440000" cy="944513"/>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a:t>
            </a:r>
            <a:r>
              <a:rPr lang="en-CA" dirty="0">
                <a:solidFill>
                  <a:schemeClr val="bg1"/>
                </a:solidFill>
              </a:rPr>
              <a:t>System </a:t>
            </a:r>
            <a:r>
              <a:rPr lang="en-CA" dirty="0" smtClean="0">
                <a:solidFill>
                  <a:schemeClr val="bg1"/>
                </a:solidFill>
              </a:rPr>
              <a:t>Metadata Structures</a:t>
            </a:r>
            <a:endParaRPr lang="en-CA" dirty="0">
              <a:solidFill>
                <a:schemeClr val="bg1"/>
              </a:solidFill>
            </a:endParaRPr>
          </a:p>
        </p:txBody>
      </p:sp>
      <p:sp>
        <p:nvSpPr>
          <p:cNvPr id="91" name="Rectangle 90"/>
          <p:cNvSpPr/>
          <p:nvPr/>
        </p:nvSpPr>
        <p:spPr>
          <a:xfrm>
            <a:off x="1320470" y="4131121"/>
            <a:ext cx="1440000" cy="472257"/>
          </a:xfrm>
          <a:prstGeom prst="rect">
            <a:avLst/>
          </a:prstGeom>
          <a:solidFill>
            <a:schemeClr val="accent5">
              <a:lumMod val="40000"/>
              <a:lumOff val="60000"/>
            </a:schemeClr>
          </a:solid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effectLst/>
              </a:rPr>
              <a:t>Annotations</a:t>
            </a:r>
            <a:endParaRPr lang="en-CA" b="1" dirty="0">
              <a:solidFill>
                <a:schemeClr val="bg1"/>
              </a:solidFill>
              <a:effectLst/>
            </a:endParaRPr>
          </a:p>
        </p:txBody>
      </p:sp>
      <p:grpSp>
        <p:nvGrpSpPr>
          <p:cNvPr id="103" name="Group 102"/>
          <p:cNvGrpSpPr/>
          <p:nvPr/>
        </p:nvGrpSpPr>
        <p:grpSpPr>
          <a:xfrm>
            <a:off x="2799312" y="4644061"/>
            <a:ext cx="598488" cy="1292225"/>
            <a:chOff x="4859338" y="3776663"/>
            <a:chExt cx="598488" cy="1292225"/>
          </a:xfrm>
        </p:grpSpPr>
        <p:sp>
          <p:nvSpPr>
            <p:cNvPr id="18" name="Freeform 5"/>
            <p:cNvSpPr>
              <a:spLocks/>
            </p:cNvSpPr>
            <p:nvPr/>
          </p:nvSpPr>
          <p:spPr bwMode="auto">
            <a:xfrm>
              <a:off x="4868863" y="3917950"/>
              <a:ext cx="581025" cy="113982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26" name="Freeform 6"/>
            <p:cNvSpPr>
              <a:spLocks/>
            </p:cNvSpPr>
            <p:nvPr/>
          </p:nvSpPr>
          <p:spPr bwMode="auto">
            <a:xfrm>
              <a:off x="4872038" y="4038600"/>
              <a:ext cx="533400" cy="652463"/>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4763" cap="flat">
              <a:solidFill>
                <a:srgbClr val="962A22"/>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27" name="Freeform 7"/>
            <p:cNvSpPr>
              <a:spLocks/>
            </p:cNvSpPr>
            <p:nvPr/>
          </p:nvSpPr>
          <p:spPr bwMode="auto">
            <a:xfrm>
              <a:off x="5043488" y="4551363"/>
              <a:ext cx="298450" cy="1270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28" name="Freeform 8"/>
            <p:cNvSpPr>
              <a:spLocks/>
            </p:cNvSpPr>
            <p:nvPr/>
          </p:nvSpPr>
          <p:spPr bwMode="auto">
            <a:xfrm>
              <a:off x="5153025" y="4325938"/>
              <a:ext cx="25400" cy="117475"/>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29" name="Freeform 9"/>
            <p:cNvSpPr>
              <a:spLocks noEditPoints="1"/>
            </p:cNvSpPr>
            <p:nvPr/>
          </p:nvSpPr>
          <p:spPr bwMode="auto">
            <a:xfrm>
              <a:off x="5151438" y="4319588"/>
              <a:ext cx="31750" cy="1285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0" name="Freeform 10"/>
            <p:cNvSpPr>
              <a:spLocks/>
            </p:cNvSpPr>
            <p:nvPr/>
          </p:nvSpPr>
          <p:spPr bwMode="auto">
            <a:xfrm>
              <a:off x="5192713" y="4319588"/>
              <a:ext cx="25400" cy="1285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4763" cap="flat">
              <a:solidFill>
                <a:srgbClr val="D0D08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31" name="Freeform 11"/>
            <p:cNvSpPr>
              <a:spLocks/>
            </p:cNvSpPr>
            <p:nvPr/>
          </p:nvSpPr>
          <p:spPr bwMode="auto">
            <a:xfrm>
              <a:off x="4935538" y="3967163"/>
              <a:ext cx="314325" cy="298450"/>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2" name="Freeform 12"/>
            <p:cNvSpPr>
              <a:spLocks/>
            </p:cNvSpPr>
            <p:nvPr/>
          </p:nvSpPr>
          <p:spPr bwMode="auto">
            <a:xfrm>
              <a:off x="4859338" y="3914775"/>
              <a:ext cx="598488" cy="1154113"/>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3" name="Freeform 13"/>
            <p:cNvSpPr>
              <a:spLocks/>
            </p:cNvSpPr>
            <p:nvPr/>
          </p:nvSpPr>
          <p:spPr bwMode="auto">
            <a:xfrm>
              <a:off x="4902200" y="4216400"/>
              <a:ext cx="282575" cy="10636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4" name="Freeform 14"/>
            <p:cNvSpPr>
              <a:spLocks noEditPoints="1"/>
            </p:cNvSpPr>
            <p:nvPr/>
          </p:nvSpPr>
          <p:spPr bwMode="auto">
            <a:xfrm>
              <a:off x="4908550" y="4233863"/>
              <a:ext cx="100013" cy="84138"/>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36" name="Freeform 15"/>
            <p:cNvSpPr>
              <a:spLocks/>
            </p:cNvSpPr>
            <p:nvPr/>
          </p:nvSpPr>
          <p:spPr bwMode="auto">
            <a:xfrm>
              <a:off x="5192713" y="4157663"/>
              <a:ext cx="57150" cy="14922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7" name="Freeform 16"/>
            <p:cNvSpPr>
              <a:spLocks/>
            </p:cNvSpPr>
            <p:nvPr/>
          </p:nvSpPr>
          <p:spPr bwMode="auto">
            <a:xfrm>
              <a:off x="4908550" y="4219575"/>
              <a:ext cx="280988" cy="111125"/>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38" name="Freeform 17"/>
            <p:cNvSpPr>
              <a:spLocks/>
            </p:cNvSpPr>
            <p:nvPr/>
          </p:nvSpPr>
          <p:spPr bwMode="auto">
            <a:xfrm>
              <a:off x="4859338" y="4230688"/>
              <a:ext cx="334963" cy="93663"/>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40" name="Freeform 18"/>
            <p:cNvSpPr>
              <a:spLocks/>
            </p:cNvSpPr>
            <p:nvPr/>
          </p:nvSpPr>
          <p:spPr bwMode="auto">
            <a:xfrm>
              <a:off x="5102225" y="4124325"/>
              <a:ext cx="98425" cy="117475"/>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93" name="Freeform 23"/>
            <p:cNvSpPr>
              <a:spLocks/>
            </p:cNvSpPr>
            <p:nvPr/>
          </p:nvSpPr>
          <p:spPr bwMode="auto">
            <a:xfrm>
              <a:off x="4903788" y="4159250"/>
              <a:ext cx="349250" cy="1635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94" name="Freeform 24"/>
            <p:cNvSpPr>
              <a:spLocks noEditPoints="1"/>
            </p:cNvSpPr>
            <p:nvPr/>
          </p:nvSpPr>
          <p:spPr bwMode="auto">
            <a:xfrm>
              <a:off x="4892675" y="4146550"/>
              <a:ext cx="363538" cy="18732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95" name="Freeform 25"/>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6" name="Freeform 26"/>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7" name="Freeform 27"/>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8" name="Freeform 28"/>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9" name="Freeform 29"/>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00" name="Freeform 30"/>
            <p:cNvSpPr>
              <a:spLocks noEditPoints="1"/>
            </p:cNvSpPr>
            <p:nvPr/>
          </p:nvSpPr>
          <p:spPr bwMode="auto">
            <a:xfrm>
              <a:off x="4862513" y="3951288"/>
              <a:ext cx="515938" cy="815975"/>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01" name="Freeform 31"/>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02" name="Freeform 32"/>
            <p:cNvSpPr>
              <a:spLocks/>
            </p:cNvSpPr>
            <p:nvPr/>
          </p:nvSpPr>
          <p:spPr bwMode="auto">
            <a:xfrm>
              <a:off x="5294313" y="3776663"/>
              <a:ext cx="123825" cy="2095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4288" cap="flat">
              <a:solidFill>
                <a:srgbClr val="44575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grpSp>
    </p:spTree>
    <p:extLst>
      <p:ext uri="{BB962C8B-B14F-4D97-AF65-F5344CB8AC3E}">
        <p14:creationId xmlns:p14="http://schemas.microsoft.com/office/powerpoint/2010/main" val="387439465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Generating Library</a:t>
            </a:r>
            <a:endParaRPr lang="en-CA" dirty="0"/>
          </a:p>
        </p:txBody>
      </p:sp>
      <p:sp>
        <p:nvSpPr>
          <p:cNvPr id="3" name="Content Placeholder 2"/>
          <p:cNvSpPr>
            <a:spLocks noGrp="1"/>
          </p:cNvSpPr>
          <p:nvPr>
            <p:ph idx="1"/>
          </p:nvPr>
        </p:nvSpPr>
        <p:spPr>
          <a:xfrm>
            <a:off x="684212" y="1507237"/>
            <a:ext cx="10285797" cy="4656842"/>
          </a:xfrm>
        </p:spPr>
        <p:txBody>
          <a:bodyPr/>
          <a:lstStyle/>
          <a:p>
            <a:r>
              <a:rPr lang="en-CA" dirty="0" smtClean="0"/>
              <a:t>Spiffy compiler processes annotated metadata structures</a:t>
            </a:r>
            <a:br>
              <a:rPr lang="en-CA" dirty="0" smtClean="0"/>
            </a:br>
            <a:r>
              <a:rPr lang="en-CA" dirty="0" smtClean="0"/>
              <a:t>to generate library that provides a generic API for type-safe parsing, traversal and serialization of file system structures</a:t>
            </a:r>
          </a:p>
        </p:txBody>
      </p:sp>
      <p:sp>
        <p:nvSpPr>
          <p:cNvPr id="4" name="Slide Number Placeholder 3"/>
          <p:cNvSpPr>
            <a:spLocks noGrp="1"/>
          </p:cNvSpPr>
          <p:nvPr>
            <p:ph type="sldNum" sz="quarter" idx="12"/>
          </p:nvPr>
        </p:nvSpPr>
        <p:spPr/>
        <p:txBody>
          <a:bodyPr/>
          <a:lstStyle/>
          <a:p>
            <a:fld id="{7B2023C8-B124-43A9-8F92-0EEF5BAA9995}" type="slidenum">
              <a:rPr lang="en-CA" smtClean="0"/>
              <a:pPr/>
              <a:t>8</a:t>
            </a:fld>
            <a:endParaRPr lang="en-CA" dirty="0"/>
          </a:p>
        </p:txBody>
      </p:sp>
      <p:sp>
        <p:nvSpPr>
          <p:cNvPr id="92" name="Right Arrow 91"/>
          <p:cNvSpPr/>
          <p:nvPr/>
        </p:nvSpPr>
        <p:spPr>
          <a:xfrm>
            <a:off x="2974282" y="3778312"/>
            <a:ext cx="316999" cy="23090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sp>
        <p:nvSpPr>
          <p:cNvPr id="94" name="Rounded Rectangle 93"/>
          <p:cNvSpPr/>
          <p:nvPr/>
        </p:nvSpPr>
        <p:spPr>
          <a:xfrm>
            <a:off x="3505093" y="3421506"/>
            <a:ext cx="1440000" cy="944513"/>
          </a:xfrm>
          <a:prstGeom prst="roundRect">
            <a:avLst/>
          </a:prstGeom>
          <a:solidFill>
            <a:schemeClr val="accent5">
              <a:lumMod val="75000"/>
            </a:schemeClr>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tx1"/>
                </a:solidFill>
              </a:rPr>
              <a:t>Spiffy Compiler</a:t>
            </a:r>
            <a:endParaRPr lang="en-CA" b="1" dirty="0">
              <a:solidFill>
                <a:schemeClr val="tx1"/>
              </a:solidFill>
            </a:endParaRPr>
          </a:p>
        </p:txBody>
      </p:sp>
      <p:grpSp>
        <p:nvGrpSpPr>
          <p:cNvPr id="95" name="Group 94"/>
          <p:cNvGrpSpPr/>
          <p:nvPr/>
        </p:nvGrpSpPr>
        <p:grpSpPr>
          <a:xfrm>
            <a:off x="5689716" y="3421506"/>
            <a:ext cx="1761066" cy="944513"/>
            <a:chOff x="6493933" y="3749526"/>
            <a:chExt cx="1761066" cy="944513"/>
          </a:xfrm>
          <a:solidFill>
            <a:schemeClr val="accent5">
              <a:lumMod val="40000"/>
              <a:lumOff val="60000"/>
            </a:schemeClr>
          </a:solidFill>
          <a:effectLst/>
        </p:grpSpPr>
        <p:sp>
          <p:nvSpPr>
            <p:cNvPr id="101" name="Rectangle 100"/>
            <p:cNvSpPr/>
            <p:nvPr/>
          </p:nvSpPr>
          <p:spPr>
            <a:xfrm>
              <a:off x="6493933" y="3749526"/>
              <a:ext cx="1004159" cy="944513"/>
            </a:xfrm>
            <a:prstGeom prst="rect">
              <a:avLst/>
            </a:prstGeom>
            <a:grp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effectLst/>
                </a:rPr>
                <a:t>Spiffy Library</a:t>
              </a:r>
              <a:endParaRPr lang="en-CA" b="1" dirty="0">
                <a:solidFill>
                  <a:schemeClr val="bg1"/>
                </a:solidFill>
                <a:effectLst/>
              </a:endParaRPr>
            </a:p>
          </p:txBody>
        </p:sp>
        <p:sp>
          <p:nvSpPr>
            <p:cNvPr id="118" name="Rectangle 117"/>
            <p:cNvSpPr/>
            <p:nvPr/>
          </p:nvSpPr>
          <p:spPr>
            <a:xfrm>
              <a:off x="7498092" y="3749526"/>
              <a:ext cx="756907" cy="944513"/>
            </a:xfrm>
            <a:prstGeom prst="rect">
              <a:avLst/>
            </a:prstGeom>
            <a:grp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rPr>
                <a:t>Spiffy API</a:t>
              </a:r>
              <a:endParaRPr lang="en-CA" b="1" dirty="0">
                <a:solidFill>
                  <a:schemeClr val="bg1"/>
                </a:solidFill>
              </a:endParaRPr>
            </a:p>
          </p:txBody>
        </p:sp>
      </p:grpSp>
      <p:sp>
        <p:nvSpPr>
          <p:cNvPr id="97" name="Right Arrow 96"/>
          <p:cNvSpPr/>
          <p:nvPr/>
        </p:nvSpPr>
        <p:spPr>
          <a:xfrm>
            <a:off x="5158905" y="3778312"/>
            <a:ext cx="316999" cy="23090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sp>
        <p:nvSpPr>
          <p:cNvPr id="39" name="Rectangle 38"/>
          <p:cNvSpPr/>
          <p:nvPr/>
        </p:nvSpPr>
        <p:spPr>
          <a:xfrm>
            <a:off x="1349297" y="4791414"/>
            <a:ext cx="1411173" cy="472257"/>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System Developer</a:t>
            </a:r>
            <a:endParaRPr lang="en-CA" dirty="0">
              <a:solidFill>
                <a:schemeClr val="bg1"/>
              </a:solidFill>
            </a:endParaRPr>
          </a:p>
        </p:txBody>
      </p:sp>
      <p:sp>
        <p:nvSpPr>
          <p:cNvPr id="40" name="Rectangle 39"/>
          <p:cNvSpPr/>
          <p:nvPr/>
        </p:nvSpPr>
        <p:spPr>
          <a:xfrm>
            <a:off x="1320470" y="3184147"/>
            <a:ext cx="1440000" cy="944513"/>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a:t>
            </a:r>
            <a:r>
              <a:rPr lang="en-CA" dirty="0">
                <a:solidFill>
                  <a:schemeClr val="bg1"/>
                </a:solidFill>
              </a:rPr>
              <a:t>System </a:t>
            </a:r>
            <a:r>
              <a:rPr lang="en-CA" dirty="0" smtClean="0">
                <a:solidFill>
                  <a:schemeClr val="bg1"/>
                </a:solidFill>
              </a:rPr>
              <a:t>Metadata Structures</a:t>
            </a:r>
            <a:endParaRPr lang="en-CA" dirty="0">
              <a:solidFill>
                <a:schemeClr val="bg1"/>
              </a:solidFill>
            </a:endParaRPr>
          </a:p>
        </p:txBody>
      </p:sp>
      <p:sp>
        <p:nvSpPr>
          <p:cNvPr id="41" name="Rectangle 40"/>
          <p:cNvSpPr/>
          <p:nvPr/>
        </p:nvSpPr>
        <p:spPr>
          <a:xfrm>
            <a:off x="1320470" y="4131121"/>
            <a:ext cx="1440000" cy="472257"/>
          </a:xfrm>
          <a:prstGeom prst="rect">
            <a:avLst/>
          </a:prstGeom>
          <a:no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effectLst/>
              </a:rPr>
              <a:t>Annotations</a:t>
            </a:r>
            <a:endParaRPr lang="en-CA" b="1" dirty="0">
              <a:solidFill>
                <a:schemeClr val="bg1"/>
              </a:solidFill>
              <a:effectLst/>
            </a:endParaRPr>
          </a:p>
        </p:txBody>
      </p:sp>
      <p:grpSp>
        <p:nvGrpSpPr>
          <p:cNvPr id="42" name="Group 41"/>
          <p:cNvGrpSpPr/>
          <p:nvPr/>
        </p:nvGrpSpPr>
        <p:grpSpPr>
          <a:xfrm>
            <a:off x="2799312" y="4644061"/>
            <a:ext cx="598488" cy="1292225"/>
            <a:chOff x="4859338" y="3776663"/>
            <a:chExt cx="598488" cy="1292225"/>
          </a:xfrm>
        </p:grpSpPr>
        <p:sp>
          <p:nvSpPr>
            <p:cNvPr id="43" name="Freeform 5"/>
            <p:cNvSpPr>
              <a:spLocks/>
            </p:cNvSpPr>
            <p:nvPr/>
          </p:nvSpPr>
          <p:spPr bwMode="auto">
            <a:xfrm>
              <a:off x="4868863" y="3917950"/>
              <a:ext cx="581025" cy="113982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44" name="Freeform 6"/>
            <p:cNvSpPr>
              <a:spLocks/>
            </p:cNvSpPr>
            <p:nvPr/>
          </p:nvSpPr>
          <p:spPr bwMode="auto">
            <a:xfrm>
              <a:off x="4872038" y="4038600"/>
              <a:ext cx="533400" cy="652463"/>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4763" cap="flat">
              <a:solidFill>
                <a:srgbClr val="962A22"/>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45" name="Freeform 7"/>
            <p:cNvSpPr>
              <a:spLocks/>
            </p:cNvSpPr>
            <p:nvPr/>
          </p:nvSpPr>
          <p:spPr bwMode="auto">
            <a:xfrm>
              <a:off x="5043488" y="4551363"/>
              <a:ext cx="298450" cy="1270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46" name="Freeform 8"/>
            <p:cNvSpPr>
              <a:spLocks/>
            </p:cNvSpPr>
            <p:nvPr/>
          </p:nvSpPr>
          <p:spPr bwMode="auto">
            <a:xfrm>
              <a:off x="5153025" y="4325938"/>
              <a:ext cx="25400" cy="117475"/>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47" name="Freeform 9"/>
            <p:cNvSpPr>
              <a:spLocks noEditPoints="1"/>
            </p:cNvSpPr>
            <p:nvPr/>
          </p:nvSpPr>
          <p:spPr bwMode="auto">
            <a:xfrm>
              <a:off x="5151438" y="4319588"/>
              <a:ext cx="31750" cy="1285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48" name="Freeform 10"/>
            <p:cNvSpPr>
              <a:spLocks/>
            </p:cNvSpPr>
            <p:nvPr/>
          </p:nvSpPr>
          <p:spPr bwMode="auto">
            <a:xfrm>
              <a:off x="5192713" y="4319588"/>
              <a:ext cx="25400" cy="1285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4763" cap="flat">
              <a:solidFill>
                <a:srgbClr val="D0D08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49" name="Freeform 11"/>
            <p:cNvSpPr>
              <a:spLocks/>
            </p:cNvSpPr>
            <p:nvPr/>
          </p:nvSpPr>
          <p:spPr bwMode="auto">
            <a:xfrm>
              <a:off x="4935538" y="3967163"/>
              <a:ext cx="314325" cy="298450"/>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50" name="Freeform 12"/>
            <p:cNvSpPr>
              <a:spLocks/>
            </p:cNvSpPr>
            <p:nvPr/>
          </p:nvSpPr>
          <p:spPr bwMode="auto">
            <a:xfrm>
              <a:off x="4859338" y="3914775"/>
              <a:ext cx="598488" cy="1154113"/>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51" name="Freeform 13"/>
            <p:cNvSpPr>
              <a:spLocks/>
            </p:cNvSpPr>
            <p:nvPr/>
          </p:nvSpPr>
          <p:spPr bwMode="auto">
            <a:xfrm>
              <a:off x="4902200" y="4216400"/>
              <a:ext cx="282575" cy="10636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52" name="Freeform 14"/>
            <p:cNvSpPr>
              <a:spLocks noEditPoints="1"/>
            </p:cNvSpPr>
            <p:nvPr/>
          </p:nvSpPr>
          <p:spPr bwMode="auto">
            <a:xfrm>
              <a:off x="4908550" y="4233863"/>
              <a:ext cx="100013" cy="84138"/>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53" name="Freeform 15"/>
            <p:cNvSpPr>
              <a:spLocks/>
            </p:cNvSpPr>
            <p:nvPr/>
          </p:nvSpPr>
          <p:spPr bwMode="auto">
            <a:xfrm>
              <a:off x="5192713" y="4157663"/>
              <a:ext cx="57150" cy="14922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54" name="Freeform 16"/>
            <p:cNvSpPr>
              <a:spLocks/>
            </p:cNvSpPr>
            <p:nvPr/>
          </p:nvSpPr>
          <p:spPr bwMode="auto">
            <a:xfrm>
              <a:off x="4908550" y="4219575"/>
              <a:ext cx="280988" cy="111125"/>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55" name="Freeform 17"/>
            <p:cNvSpPr>
              <a:spLocks/>
            </p:cNvSpPr>
            <p:nvPr/>
          </p:nvSpPr>
          <p:spPr bwMode="auto">
            <a:xfrm>
              <a:off x="4859338" y="4230688"/>
              <a:ext cx="334963" cy="93663"/>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56" name="Freeform 18"/>
            <p:cNvSpPr>
              <a:spLocks/>
            </p:cNvSpPr>
            <p:nvPr/>
          </p:nvSpPr>
          <p:spPr bwMode="auto">
            <a:xfrm>
              <a:off x="5102225" y="4124325"/>
              <a:ext cx="98425" cy="117475"/>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57" name="Freeform 23"/>
            <p:cNvSpPr>
              <a:spLocks/>
            </p:cNvSpPr>
            <p:nvPr/>
          </p:nvSpPr>
          <p:spPr bwMode="auto">
            <a:xfrm>
              <a:off x="4903788" y="4159250"/>
              <a:ext cx="349250" cy="1635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58" name="Freeform 24"/>
            <p:cNvSpPr>
              <a:spLocks noEditPoints="1"/>
            </p:cNvSpPr>
            <p:nvPr/>
          </p:nvSpPr>
          <p:spPr bwMode="auto">
            <a:xfrm>
              <a:off x="4892675" y="4146550"/>
              <a:ext cx="363538" cy="18732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59" name="Freeform 25"/>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0" name="Freeform 26"/>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1" name="Freeform 27"/>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2" name="Freeform 28"/>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3" name="Freeform 29"/>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4" name="Freeform 30"/>
            <p:cNvSpPr>
              <a:spLocks noEditPoints="1"/>
            </p:cNvSpPr>
            <p:nvPr/>
          </p:nvSpPr>
          <p:spPr bwMode="auto">
            <a:xfrm>
              <a:off x="4862513" y="3951288"/>
              <a:ext cx="515938" cy="815975"/>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5" name="Freeform 31"/>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6" name="Freeform 32"/>
            <p:cNvSpPr>
              <a:spLocks/>
            </p:cNvSpPr>
            <p:nvPr/>
          </p:nvSpPr>
          <p:spPr bwMode="auto">
            <a:xfrm>
              <a:off x="5294313" y="3776663"/>
              <a:ext cx="123825" cy="2095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4288" cap="flat">
              <a:solidFill>
                <a:srgbClr val="44575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grpSp>
    </p:spTree>
    <p:extLst>
      <p:ext uri="{BB962C8B-B14F-4D97-AF65-F5344CB8AC3E}">
        <p14:creationId xmlns:p14="http://schemas.microsoft.com/office/powerpoint/2010/main" val="3161264054"/>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 Building Applications</a:t>
            </a:r>
            <a:endParaRPr lang="en-CA" dirty="0"/>
          </a:p>
        </p:txBody>
      </p:sp>
      <p:sp>
        <p:nvSpPr>
          <p:cNvPr id="3" name="Content Placeholder 2"/>
          <p:cNvSpPr>
            <a:spLocks noGrp="1"/>
          </p:cNvSpPr>
          <p:nvPr>
            <p:ph idx="1"/>
          </p:nvPr>
        </p:nvSpPr>
        <p:spPr/>
        <p:txBody>
          <a:bodyPr/>
          <a:lstStyle/>
          <a:p>
            <a:r>
              <a:rPr lang="en-CA" dirty="0" smtClean="0"/>
              <a:t>Application developers use Spiffy library to build robust tools</a:t>
            </a:r>
            <a:br>
              <a:rPr lang="en-CA" dirty="0" smtClean="0"/>
            </a:br>
            <a:r>
              <a:rPr lang="en-CA" dirty="0" smtClean="0"/>
              <a:t>that work across file systems</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9</a:t>
            </a:fld>
            <a:endParaRPr lang="en-CA" dirty="0"/>
          </a:p>
        </p:txBody>
      </p:sp>
      <p:grpSp>
        <p:nvGrpSpPr>
          <p:cNvPr id="91" name="Group 90"/>
          <p:cNvGrpSpPr/>
          <p:nvPr/>
        </p:nvGrpSpPr>
        <p:grpSpPr>
          <a:xfrm>
            <a:off x="8195402" y="3009900"/>
            <a:ext cx="1882875" cy="1978991"/>
            <a:chOff x="8681092" y="3099999"/>
            <a:chExt cx="1411173" cy="1715949"/>
          </a:xfrm>
          <a:solidFill>
            <a:srgbClr val="FFFF00"/>
          </a:solidFill>
          <a:effectLst/>
        </p:grpSpPr>
        <p:sp>
          <p:nvSpPr>
            <p:cNvPr id="94" name="Rectangle 93"/>
            <p:cNvSpPr/>
            <p:nvPr/>
          </p:nvSpPr>
          <p:spPr>
            <a:xfrm>
              <a:off x="8681092" y="3099999"/>
              <a:ext cx="1411173" cy="1075731"/>
            </a:xfrm>
            <a:prstGeom prst="rect">
              <a:avLst/>
            </a:prstGeom>
            <a:solidFill>
              <a:schemeClr val="accent5">
                <a:lumMod val="40000"/>
                <a:lumOff val="60000"/>
              </a:schemeClr>
            </a:solid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rPr>
                <a:t>Generic Application</a:t>
              </a:r>
              <a:endParaRPr lang="en-CA" b="1" dirty="0">
                <a:solidFill>
                  <a:schemeClr val="bg1"/>
                </a:solidFill>
              </a:endParaRPr>
            </a:p>
          </p:txBody>
        </p:sp>
        <p:sp>
          <p:nvSpPr>
            <p:cNvPr id="95" name="Rectangle 94"/>
            <p:cNvSpPr/>
            <p:nvPr/>
          </p:nvSpPr>
          <p:spPr>
            <a:xfrm>
              <a:off x="8681092" y="4175730"/>
              <a:ext cx="1411173" cy="640218"/>
            </a:xfrm>
            <a:prstGeom prst="rect">
              <a:avLst/>
            </a:prstGeom>
            <a:solidFill>
              <a:schemeClr val="accent5">
                <a:lumMod val="40000"/>
                <a:lumOff val="60000"/>
              </a:schemeClr>
            </a:solid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rPr>
                <a:t>File-System Specific Logic</a:t>
              </a:r>
              <a:endParaRPr lang="en-CA" b="1" dirty="0">
                <a:solidFill>
                  <a:schemeClr val="bg1"/>
                </a:solidFill>
              </a:endParaRPr>
            </a:p>
          </p:txBody>
        </p:sp>
      </p:grpSp>
      <p:sp>
        <p:nvSpPr>
          <p:cNvPr id="93" name="Right Arrow 92"/>
          <p:cNvSpPr/>
          <p:nvPr/>
        </p:nvSpPr>
        <p:spPr>
          <a:xfrm>
            <a:off x="7664594" y="3795046"/>
            <a:ext cx="316999" cy="23090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sp>
        <p:nvSpPr>
          <p:cNvPr id="86" name="Rectangle 85"/>
          <p:cNvSpPr/>
          <p:nvPr/>
        </p:nvSpPr>
        <p:spPr>
          <a:xfrm>
            <a:off x="8428474" y="5141490"/>
            <a:ext cx="1411173" cy="472257"/>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err="1" smtClean="0">
                <a:solidFill>
                  <a:schemeClr val="bg1"/>
                </a:solidFill>
              </a:rPr>
              <a:t>ApplicationDeveloper</a:t>
            </a:r>
            <a:endParaRPr lang="en-CA" dirty="0">
              <a:solidFill>
                <a:schemeClr val="bg1"/>
              </a:solidFill>
            </a:endParaRPr>
          </a:p>
        </p:txBody>
      </p:sp>
      <p:pic>
        <p:nvPicPr>
          <p:cNvPr id="9" name="Picture 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761790" y="4891608"/>
            <a:ext cx="1219803" cy="1219846"/>
          </a:xfrm>
          <a:prstGeom prst="rect">
            <a:avLst/>
          </a:prstGeom>
        </p:spPr>
      </p:pic>
      <p:sp>
        <p:nvSpPr>
          <p:cNvPr id="46" name="Right Arrow 45"/>
          <p:cNvSpPr/>
          <p:nvPr/>
        </p:nvSpPr>
        <p:spPr>
          <a:xfrm>
            <a:off x="2974282" y="3778312"/>
            <a:ext cx="316999" cy="23090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sp>
        <p:nvSpPr>
          <p:cNvPr id="47" name="Rounded Rectangle 46"/>
          <p:cNvSpPr/>
          <p:nvPr/>
        </p:nvSpPr>
        <p:spPr>
          <a:xfrm>
            <a:off x="3571768" y="3421506"/>
            <a:ext cx="1440000" cy="944513"/>
          </a:xfrm>
          <a:prstGeom prst="round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rPr>
              <a:t>Spiffy Compiler</a:t>
            </a:r>
            <a:endParaRPr lang="en-CA" b="1" dirty="0">
              <a:solidFill>
                <a:schemeClr val="bg1"/>
              </a:solidFill>
            </a:endParaRPr>
          </a:p>
        </p:txBody>
      </p:sp>
      <p:grpSp>
        <p:nvGrpSpPr>
          <p:cNvPr id="48" name="Group 47"/>
          <p:cNvGrpSpPr/>
          <p:nvPr/>
        </p:nvGrpSpPr>
        <p:grpSpPr>
          <a:xfrm>
            <a:off x="5689716" y="3421506"/>
            <a:ext cx="1761066" cy="944513"/>
            <a:chOff x="6493933" y="3749526"/>
            <a:chExt cx="1761066" cy="944513"/>
          </a:xfrm>
          <a:noFill/>
          <a:effectLst/>
        </p:grpSpPr>
        <p:sp>
          <p:nvSpPr>
            <p:cNvPr id="49" name="Rectangle 48"/>
            <p:cNvSpPr/>
            <p:nvPr/>
          </p:nvSpPr>
          <p:spPr>
            <a:xfrm>
              <a:off x="6493933" y="3749526"/>
              <a:ext cx="1004159" cy="944513"/>
            </a:xfrm>
            <a:prstGeom prst="rect">
              <a:avLst/>
            </a:prstGeom>
            <a:grp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effectLst/>
                </a:rPr>
                <a:t>Spiffy Library</a:t>
              </a:r>
              <a:endParaRPr lang="en-CA" b="1" dirty="0">
                <a:solidFill>
                  <a:schemeClr val="bg1"/>
                </a:solidFill>
                <a:effectLst/>
              </a:endParaRPr>
            </a:p>
          </p:txBody>
        </p:sp>
        <p:sp>
          <p:nvSpPr>
            <p:cNvPr id="50" name="Rectangle 49"/>
            <p:cNvSpPr/>
            <p:nvPr/>
          </p:nvSpPr>
          <p:spPr>
            <a:xfrm>
              <a:off x="7498092" y="3749526"/>
              <a:ext cx="756907" cy="944513"/>
            </a:xfrm>
            <a:prstGeom prst="rect">
              <a:avLst/>
            </a:prstGeom>
            <a:grp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rPr>
                <a:t>Spiffy API</a:t>
              </a:r>
              <a:endParaRPr lang="en-CA" b="1" dirty="0">
                <a:solidFill>
                  <a:schemeClr val="bg1"/>
                </a:solidFill>
              </a:endParaRPr>
            </a:p>
          </p:txBody>
        </p:sp>
      </p:grpSp>
      <p:sp>
        <p:nvSpPr>
          <p:cNvPr id="51" name="Right Arrow 50"/>
          <p:cNvSpPr/>
          <p:nvPr/>
        </p:nvSpPr>
        <p:spPr>
          <a:xfrm>
            <a:off x="5158905" y="3778312"/>
            <a:ext cx="316999" cy="23090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sp>
        <p:nvSpPr>
          <p:cNvPr id="52" name="Rectangle 51"/>
          <p:cNvSpPr/>
          <p:nvPr/>
        </p:nvSpPr>
        <p:spPr>
          <a:xfrm>
            <a:off x="1349297" y="4791414"/>
            <a:ext cx="1411173" cy="472257"/>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System Developer</a:t>
            </a:r>
            <a:endParaRPr lang="en-CA" dirty="0">
              <a:solidFill>
                <a:schemeClr val="bg1"/>
              </a:solidFill>
            </a:endParaRPr>
          </a:p>
        </p:txBody>
      </p:sp>
      <p:sp>
        <p:nvSpPr>
          <p:cNvPr id="53" name="Rectangle 52"/>
          <p:cNvSpPr/>
          <p:nvPr/>
        </p:nvSpPr>
        <p:spPr>
          <a:xfrm>
            <a:off x="1320470" y="3184147"/>
            <a:ext cx="1440000" cy="944513"/>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a:t>
            </a:r>
            <a:r>
              <a:rPr lang="en-CA" dirty="0">
                <a:solidFill>
                  <a:schemeClr val="bg1"/>
                </a:solidFill>
              </a:rPr>
              <a:t>System </a:t>
            </a:r>
            <a:r>
              <a:rPr lang="en-CA" dirty="0" smtClean="0">
                <a:solidFill>
                  <a:schemeClr val="bg1"/>
                </a:solidFill>
              </a:rPr>
              <a:t>Metadata Structures</a:t>
            </a:r>
            <a:endParaRPr lang="en-CA" dirty="0">
              <a:solidFill>
                <a:schemeClr val="bg1"/>
              </a:solidFill>
            </a:endParaRPr>
          </a:p>
        </p:txBody>
      </p:sp>
      <p:sp>
        <p:nvSpPr>
          <p:cNvPr id="54" name="Rectangle 53"/>
          <p:cNvSpPr/>
          <p:nvPr/>
        </p:nvSpPr>
        <p:spPr>
          <a:xfrm>
            <a:off x="1320470" y="4131121"/>
            <a:ext cx="1440000" cy="472257"/>
          </a:xfrm>
          <a:prstGeom prst="rect">
            <a:avLst/>
          </a:prstGeom>
          <a:no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effectLst/>
              </a:rPr>
              <a:t>Annotations</a:t>
            </a:r>
            <a:endParaRPr lang="en-CA" b="1" dirty="0">
              <a:solidFill>
                <a:schemeClr val="bg1"/>
              </a:solidFill>
              <a:effectLst/>
            </a:endParaRPr>
          </a:p>
        </p:txBody>
      </p:sp>
      <p:grpSp>
        <p:nvGrpSpPr>
          <p:cNvPr id="55" name="Group 54"/>
          <p:cNvGrpSpPr/>
          <p:nvPr/>
        </p:nvGrpSpPr>
        <p:grpSpPr>
          <a:xfrm>
            <a:off x="2799312" y="4644061"/>
            <a:ext cx="598488" cy="1292225"/>
            <a:chOff x="4859338" y="3776663"/>
            <a:chExt cx="598488" cy="1292225"/>
          </a:xfrm>
        </p:grpSpPr>
        <p:sp>
          <p:nvSpPr>
            <p:cNvPr id="56" name="Freeform 5"/>
            <p:cNvSpPr>
              <a:spLocks/>
            </p:cNvSpPr>
            <p:nvPr/>
          </p:nvSpPr>
          <p:spPr bwMode="auto">
            <a:xfrm>
              <a:off x="4868863" y="3917950"/>
              <a:ext cx="581025" cy="113982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57" name="Freeform 6"/>
            <p:cNvSpPr>
              <a:spLocks/>
            </p:cNvSpPr>
            <p:nvPr/>
          </p:nvSpPr>
          <p:spPr bwMode="auto">
            <a:xfrm>
              <a:off x="4872038" y="4038600"/>
              <a:ext cx="533400" cy="652463"/>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4763" cap="flat">
              <a:solidFill>
                <a:srgbClr val="962A22"/>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58" name="Freeform 7"/>
            <p:cNvSpPr>
              <a:spLocks/>
            </p:cNvSpPr>
            <p:nvPr/>
          </p:nvSpPr>
          <p:spPr bwMode="auto">
            <a:xfrm>
              <a:off x="5043488" y="4551363"/>
              <a:ext cx="298450" cy="1270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59" name="Freeform 8"/>
            <p:cNvSpPr>
              <a:spLocks/>
            </p:cNvSpPr>
            <p:nvPr/>
          </p:nvSpPr>
          <p:spPr bwMode="auto">
            <a:xfrm>
              <a:off x="5153025" y="4325938"/>
              <a:ext cx="25400" cy="117475"/>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0" name="Freeform 9"/>
            <p:cNvSpPr>
              <a:spLocks noEditPoints="1"/>
            </p:cNvSpPr>
            <p:nvPr/>
          </p:nvSpPr>
          <p:spPr bwMode="auto">
            <a:xfrm>
              <a:off x="5151438" y="4319588"/>
              <a:ext cx="31750" cy="1285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1" name="Freeform 10"/>
            <p:cNvSpPr>
              <a:spLocks/>
            </p:cNvSpPr>
            <p:nvPr/>
          </p:nvSpPr>
          <p:spPr bwMode="auto">
            <a:xfrm>
              <a:off x="5192713" y="4319588"/>
              <a:ext cx="25400" cy="1285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4763" cap="flat">
              <a:solidFill>
                <a:srgbClr val="D0D08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2" name="Freeform 11"/>
            <p:cNvSpPr>
              <a:spLocks/>
            </p:cNvSpPr>
            <p:nvPr/>
          </p:nvSpPr>
          <p:spPr bwMode="auto">
            <a:xfrm>
              <a:off x="4935538" y="3967163"/>
              <a:ext cx="314325" cy="298450"/>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3" name="Freeform 12"/>
            <p:cNvSpPr>
              <a:spLocks/>
            </p:cNvSpPr>
            <p:nvPr/>
          </p:nvSpPr>
          <p:spPr bwMode="auto">
            <a:xfrm>
              <a:off x="4859338" y="3914775"/>
              <a:ext cx="598488" cy="1154113"/>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4" name="Freeform 13"/>
            <p:cNvSpPr>
              <a:spLocks/>
            </p:cNvSpPr>
            <p:nvPr/>
          </p:nvSpPr>
          <p:spPr bwMode="auto">
            <a:xfrm>
              <a:off x="4902200" y="4216400"/>
              <a:ext cx="282575" cy="10636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5" name="Freeform 14"/>
            <p:cNvSpPr>
              <a:spLocks noEditPoints="1"/>
            </p:cNvSpPr>
            <p:nvPr/>
          </p:nvSpPr>
          <p:spPr bwMode="auto">
            <a:xfrm>
              <a:off x="4908550" y="4233863"/>
              <a:ext cx="100013" cy="84138"/>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6" name="Freeform 15"/>
            <p:cNvSpPr>
              <a:spLocks/>
            </p:cNvSpPr>
            <p:nvPr/>
          </p:nvSpPr>
          <p:spPr bwMode="auto">
            <a:xfrm>
              <a:off x="5192713" y="4157663"/>
              <a:ext cx="57150" cy="14922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7" name="Freeform 16"/>
            <p:cNvSpPr>
              <a:spLocks/>
            </p:cNvSpPr>
            <p:nvPr/>
          </p:nvSpPr>
          <p:spPr bwMode="auto">
            <a:xfrm>
              <a:off x="4908550" y="4219575"/>
              <a:ext cx="280988" cy="111125"/>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68" name="Freeform 17"/>
            <p:cNvSpPr>
              <a:spLocks/>
            </p:cNvSpPr>
            <p:nvPr/>
          </p:nvSpPr>
          <p:spPr bwMode="auto">
            <a:xfrm>
              <a:off x="4859338" y="4230688"/>
              <a:ext cx="334963" cy="93663"/>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69" name="Freeform 18"/>
            <p:cNvSpPr>
              <a:spLocks/>
            </p:cNvSpPr>
            <p:nvPr/>
          </p:nvSpPr>
          <p:spPr bwMode="auto">
            <a:xfrm>
              <a:off x="5102225" y="4124325"/>
              <a:ext cx="98425" cy="117475"/>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70" name="Freeform 23"/>
            <p:cNvSpPr>
              <a:spLocks/>
            </p:cNvSpPr>
            <p:nvPr/>
          </p:nvSpPr>
          <p:spPr bwMode="auto">
            <a:xfrm>
              <a:off x="4903788" y="4159250"/>
              <a:ext cx="349250" cy="1635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71" name="Freeform 24"/>
            <p:cNvSpPr>
              <a:spLocks noEditPoints="1"/>
            </p:cNvSpPr>
            <p:nvPr/>
          </p:nvSpPr>
          <p:spPr bwMode="auto">
            <a:xfrm>
              <a:off x="4892675" y="4146550"/>
              <a:ext cx="363538" cy="18732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72" name="Freeform 25"/>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3" name="Freeform 26"/>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4" name="Freeform 27"/>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5" name="Freeform 28"/>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6" name="Freeform 29"/>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7" name="Freeform 30"/>
            <p:cNvSpPr>
              <a:spLocks noEditPoints="1"/>
            </p:cNvSpPr>
            <p:nvPr/>
          </p:nvSpPr>
          <p:spPr bwMode="auto">
            <a:xfrm>
              <a:off x="4862513" y="3951288"/>
              <a:ext cx="515938" cy="815975"/>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8" name="Freeform 31"/>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9" name="Freeform 32"/>
            <p:cNvSpPr>
              <a:spLocks/>
            </p:cNvSpPr>
            <p:nvPr/>
          </p:nvSpPr>
          <p:spPr bwMode="auto">
            <a:xfrm>
              <a:off x="5294313" y="3776663"/>
              <a:ext cx="123825" cy="2095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4288" cap="flat">
              <a:solidFill>
                <a:srgbClr val="44575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grpSp>
    </p:spTree>
    <p:extLst>
      <p:ext uri="{BB962C8B-B14F-4D97-AF65-F5344CB8AC3E}">
        <p14:creationId xmlns:p14="http://schemas.microsoft.com/office/powerpoint/2010/main" val="3866178816"/>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Talk Outline</a:t>
            </a:r>
            <a:endParaRPr lang="en-CA" dirty="0"/>
          </a:p>
        </p:txBody>
      </p:sp>
      <p:sp>
        <p:nvSpPr>
          <p:cNvPr id="3" name="Content Placeholder 2"/>
          <p:cNvSpPr>
            <a:spLocks noGrp="1"/>
          </p:cNvSpPr>
          <p:nvPr>
            <p:ph idx="1"/>
          </p:nvPr>
        </p:nvSpPr>
        <p:spPr/>
        <p:txBody>
          <a:bodyPr/>
          <a:lstStyle/>
          <a:p>
            <a:r>
              <a:rPr lang="en-US" smtClean="0"/>
              <a:t>Problem</a:t>
            </a:r>
          </a:p>
          <a:p>
            <a:pPr lvl="1"/>
            <a:r>
              <a:rPr lang="en-US" smtClean="0"/>
              <a:t>Hard to write robust file system applications</a:t>
            </a:r>
          </a:p>
          <a:p>
            <a:r>
              <a:rPr lang="en-US" smtClean="0"/>
              <a:t>Approach</a:t>
            </a:r>
          </a:p>
          <a:p>
            <a:r>
              <a:rPr lang="en-US" smtClean="0"/>
              <a:t>Spiffy Annotations</a:t>
            </a:r>
          </a:p>
          <a:p>
            <a:r>
              <a:rPr lang="en-US" smtClean="0"/>
              <a:t>Spiffy Library</a:t>
            </a:r>
          </a:p>
          <a:p>
            <a:r>
              <a:rPr lang="en-US" smtClean="0"/>
              <a:t>Spiffy Applications</a:t>
            </a:r>
          </a:p>
          <a:p>
            <a:r>
              <a:rPr lang="en-US" smtClean="0"/>
              <a:t>Evaluation</a:t>
            </a:r>
          </a:p>
          <a:p>
            <a:r>
              <a:rPr lang="en-US" smtClean="0"/>
              <a:t>Conclusion</a:t>
            </a:r>
            <a:endParaRPr lang="en-US"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10</a:t>
            </a:fld>
            <a:endParaRPr lang="en-CA" dirty="0"/>
          </a:p>
        </p:txBody>
      </p:sp>
    </p:spTree>
    <p:extLst>
      <p:ext uri="{BB962C8B-B14F-4D97-AF65-F5344CB8AC3E}">
        <p14:creationId xmlns:p14="http://schemas.microsoft.com/office/powerpoint/2010/main" val="1412301376"/>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Need for Annotations</a:t>
            </a:r>
            <a:endParaRPr lang="en-CA" dirty="0"/>
          </a:p>
        </p:txBody>
      </p:sp>
      <p:sp>
        <p:nvSpPr>
          <p:cNvPr id="3" name="Content Placeholder 2"/>
          <p:cNvSpPr>
            <a:spLocks noGrp="1"/>
          </p:cNvSpPr>
          <p:nvPr>
            <p:ph idx="1"/>
          </p:nvPr>
        </p:nvSpPr>
        <p:spPr/>
        <p:txBody>
          <a:bodyPr/>
          <a:lstStyle/>
          <a:p>
            <a:r>
              <a:rPr lang="en-CA" dirty="0" smtClean="0"/>
              <a:t>Need complete specification of the file system format</a:t>
            </a:r>
          </a:p>
          <a:p>
            <a:pPr lvl="1"/>
            <a:r>
              <a:rPr lang="en-CA" dirty="0" smtClean="0"/>
              <a:t>Allows type-safe parsing and updates of file system structures</a:t>
            </a:r>
          </a:p>
          <a:p>
            <a:r>
              <a:rPr lang="en-CA" dirty="0" smtClean="0"/>
              <a:t>Challenge</a:t>
            </a:r>
          </a:p>
          <a:p>
            <a:pPr lvl="1"/>
            <a:r>
              <a:rPr lang="en-CA" dirty="0" smtClean="0"/>
              <a:t>Data structure definitions in source files are incomplete</a:t>
            </a:r>
          </a:p>
          <a:p>
            <a:pPr lvl="1"/>
            <a:endParaRPr lang="en-CA" dirty="0" smtClean="0"/>
          </a:p>
          <a:p>
            <a:pPr lvl="1"/>
            <a:endParaRPr lang="en-CA" dirty="0" smtClean="0"/>
          </a:p>
          <a:p>
            <a:pPr lvl="1"/>
            <a:endParaRPr lang="en-CA" dirty="0" smtClean="0"/>
          </a:p>
          <a:p>
            <a:pPr lvl="1"/>
            <a:endParaRPr lang="en-CA" dirty="0" smtClean="0"/>
          </a:p>
          <a:p>
            <a:pPr lvl="1"/>
            <a:r>
              <a:rPr lang="en-CA" dirty="0" err="1" smtClean="0"/>
              <a:t>bar_block_ptr</a:t>
            </a:r>
            <a:r>
              <a:rPr lang="en-CA" dirty="0" smtClean="0"/>
              <a:t> is “probably” a 32-bit little endian pointer to type “</a:t>
            </a:r>
            <a:r>
              <a:rPr lang="en-CA" dirty="0" err="1" smtClean="0"/>
              <a:t>bar_block</a:t>
            </a:r>
            <a:r>
              <a:rPr lang="en-CA" dirty="0" smtClean="0"/>
              <a:t>”</a:t>
            </a:r>
          </a:p>
          <a:p>
            <a:pPr lvl="1"/>
            <a:r>
              <a:rPr lang="en-CA" dirty="0" smtClean="0"/>
              <a:t>However, its hard to deduce this type information</a:t>
            </a:r>
          </a:p>
          <a:p>
            <a:endParaRPr lang="en-CA" dirty="0"/>
          </a:p>
        </p:txBody>
      </p:sp>
      <p:sp>
        <p:nvSpPr>
          <p:cNvPr id="5" name="Slide Number Placeholder 4"/>
          <p:cNvSpPr>
            <a:spLocks noGrp="1"/>
          </p:cNvSpPr>
          <p:nvPr>
            <p:ph type="sldNum" sz="quarter" idx="12"/>
          </p:nvPr>
        </p:nvSpPr>
        <p:spPr/>
        <p:txBody>
          <a:bodyPr/>
          <a:lstStyle/>
          <a:p>
            <a:fld id="{7B2023C8-B124-43A9-8F92-0EEF5BAA9995}" type="slidenum">
              <a:rPr lang="en-CA" smtClean="0"/>
              <a:pPr/>
              <a:t>11</a:t>
            </a:fld>
            <a:endParaRPr lang="en-CA" dirty="0"/>
          </a:p>
        </p:txBody>
      </p:sp>
      <p:sp>
        <p:nvSpPr>
          <p:cNvPr id="10" name="Rectangle 9"/>
          <p:cNvSpPr/>
          <p:nvPr/>
        </p:nvSpPr>
        <p:spPr>
          <a:xfrm>
            <a:off x="897466" y="3535274"/>
            <a:ext cx="7860453" cy="1446550"/>
          </a:xfrm>
          <a:prstGeom prst="rect">
            <a:avLst/>
          </a:prstGeom>
        </p:spPr>
        <p:txBody>
          <a:bodyPr wrap="square">
            <a:spAutoFit/>
          </a:bodyPr>
          <a:lstStyle/>
          <a:p>
            <a:pPr lvl="1"/>
            <a:r>
              <a:rPr lang="en-CA" sz="2200" dirty="0" err="1">
                <a:solidFill>
                  <a:schemeClr val="bg1"/>
                </a:solidFill>
                <a:latin typeface="Courier New" panose="02070309020205020404" pitchFamily="49" charset="0"/>
                <a:cs typeface="Courier New" panose="02070309020205020404" pitchFamily="49" charset="0"/>
              </a:rPr>
              <a:t>struct</a:t>
            </a:r>
            <a:r>
              <a:rPr lang="en-CA" sz="2200" dirty="0">
                <a:solidFill>
                  <a:schemeClr val="bg1"/>
                </a:solidFill>
                <a:latin typeface="Courier New" panose="02070309020205020404" pitchFamily="49" charset="0"/>
                <a:cs typeface="Courier New" panose="02070309020205020404" pitchFamily="49" charset="0"/>
              </a:rPr>
              <a:t> foo {</a:t>
            </a: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__</a:t>
            </a:r>
            <a:r>
              <a:rPr lang="en-CA" sz="2200" dirty="0">
                <a:solidFill>
                  <a:schemeClr val="bg1"/>
                </a:solidFill>
                <a:latin typeface="Courier New" panose="02070309020205020404" pitchFamily="49" charset="0"/>
                <a:cs typeface="Courier New" panose="02070309020205020404" pitchFamily="49" charset="0"/>
              </a:rPr>
              <a:t>le32 </a:t>
            </a:r>
            <a:r>
              <a:rPr lang="en-CA" sz="2200" dirty="0" smtClean="0">
                <a:solidFill>
                  <a:schemeClr val="bg1"/>
                </a:solidFill>
                <a:latin typeface="Courier New" panose="02070309020205020404" pitchFamily="49" charset="0"/>
                <a:cs typeface="Courier New" panose="02070309020205020404" pitchFamily="49" charset="0"/>
              </a:rPr>
              <a:t>size;</a:t>
            </a: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   __</a:t>
            </a:r>
            <a:r>
              <a:rPr lang="en-CA" sz="2200" dirty="0">
                <a:solidFill>
                  <a:schemeClr val="bg1"/>
                </a:solidFill>
                <a:latin typeface="Courier New" panose="02070309020205020404" pitchFamily="49" charset="0"/>
                <a:cs typeface="Courier New" panose="02070309020205020404" pitchFamily="49" charset="0"/>
              </a:rPr>
              <a:t>le32 </a:t>
            </a:r>
            <a:r>
              <a:rPr lang="en-CA" sz="2200" dirty="0" err="1">
                <a:solidFill>
                  <a:schemeClr val="bg1"/>
                </a:solidFill>
                <a:latin typeface="Courier New" panose="02070309020205020404" pitchFamily="49" charset="0"/>
                <a:cs typeface="Courier New" panose="02070309020205020404" pitchFamily="49" charset="0"/>
              </a:rPr>
              <a:t>bar_block_ptr</a:t>
            </a:r>
            <a:r>
              <a:rPr lang="en-CA" sz="2200" dirty="0" smtClean="0">
                <a:solidFill>
                  <a:schemeClr val="bg1"/>
                </a:solidFill>
                <a:latin typeface="Courier New" panose="02070309020205020404" pitchFamily="49" charset="0"/>
                <a:cs typeface="Courier New" panose="02070309020205020404" pitchFamily="49" charset="0"/>
              </a:rPr>
              <a:t>;</a:t>
            </a:r>
          </a:p>
          <a:p>
            <a:pPr lvl="1"/>
            <a:r>
              <a:rPr lang="en-CA" sz="2200" dirty="0" smtClean="0">
                <a:solidFill>
                  <a:schemeClr val="bg1"/>
                </a:solidFill>
                <a:latin typeface="Courier New" panose="02070309020205020404" pitchFamily="49" charset="0"/>
                <a:cs typeface="Courier New" panose="02070309020205020404" pitchFamily="49" charset="0"/>
              </a:rPr>
              <a:t>};</a:t>
            </a:r>
            <a:endParaRPr lang="en-CA" sz="2200"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215605509"/>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Need for Annotations</a:t>
            </a:r>
            <a:endParaRPr lang="en-CA" dirty="0"/>
          </a:p>
        </p:txBody>
      </p:sp>
      <p:sp>
        <p:nvSpPr>
          <p:cNvPr id="3" name="Content Placeholder 2"/>
          <p:cNvSpPr>
            <a:spLocks noGrp="1"/>
          </p:cNvSpPr>
          <p:nvPr>
            <p:ph idx="1"/>
          </p:nvPr>
        </p:nvSpPr>
        <p:spPr/>
        <p:txBody>
          <a:bodyPr/>
          <a:lstStyle/>
          <a:p>
            <a:r>
              <a:rPr lang="en-CA" dirty="0" smtClean="0"/>
              <a:t>Solution</a:t>
            </a:r>
          </a:p>
          <a:p>
            <a:pPr lvl="1"/>
            <a:r>
              <a:rPr lang="en-CA" dirty="0" smtClean="0"/>
              <a:t>Annotate structures to supply missing information</a:t>
            </a:r>
          </a:p>
          <a:p>
            <a:pPr lvl="1"/>
            <a:endParaRPr lang="en-CA" dirty="0" smtClean="0"/>
          </a:p>
          <a:p>
            <a:pPr lvl="1"/>
            <a:endParaRPr lang="en-CA" dirty="0" smtClean="0"/>
          </a:p>
          <a:p>
            <a:pPr lvl="1"/>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12</a:t>
            </a:fld>
            <a:endParaRPr lang="en-CA" dirty="0"/>
          </a:p>
        </p:txBody>
      </p:sp>
      <p:sp>
        <p:nvSpPr>
          <p:cNvPr id="8" name="Rectangle 7"/>
          <p:cNvSpPr/>
          <p:nvPr/>
        </p:nvSpPr>
        <p:spPr>
          <a:xfrm>
            <a:off x="971550" y="3024813"/>
            <a:ext cx="8865738" cy="2123658"/>
          </a:xfrm>
          <a:prstGeom prst="rect">
            <a:avLst/>
          </a:prstGeom>
        </p:spPr>
        <p:txBody>
          <a:bodyPr wrap="square">
            <a:spAutoFit/>
          </a:bodyPr>
          <a:lstStyle/>
          <a:p>
            <a:pPr lvl="1"/>
            <a:r>
              <a:rPr lang="en-CA" sz="2200" b="1" dirty="0" smtClean="0">
                <a:solidFill>
                  <a:schemeClr val="bg1"/>
                </a:solidFill>
                <a:latin typeface="Courier New" panose="02070309020205020404" pitchFamily="49" charset="0"/>
                <a:cs typeface="Courier New" panose="02070309020205020404" pitchFamily="49" charset="0"/>
              </a:rPr>
              <a:t>FSSTRUCT() </a:t>
            </a:r>
            <a:r>
              <a:rPr lang="en-CA" sz="2200" dirty="0" smtClean="0">
                <a:solidFill>
                  <a:schemeClr val="bg1"/>
                </a:solidFill>
                <a:latin typeface="Courier New" panose="02070309020205020404" pitchFamily="49" charset="0"/>
                <a:cs typeface="Courier New" panose="02070309020205020404" pitchFamily="49" charset="0"/>
              </a:rPr>
              <a:t>foo </a:t>
            </a:r>
            <a:r>
              <a:rPr lang="en-CA" sz="2200" dirty="0">
                <a:solidFill>
                  <a:schemeClr val="bg1"/>
                </a:solidFill>
                <a:latin typeface="Courier New" panose="02070309020205020404" pitchFamily="49" charset="0"/>
                <a:cs typeface="Courier New" panose="02070309020205020404" pitchFamily="49" charset="0"/>
              </a:rPr>
              <a:t>{</a:t>
            </a: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__</a:t>
            </a:r>
            <a:r>
              <a:rPr lang="en-CA" sz="2200" dirty="0">
                <a:solidFill>
                  <a:schemeClr val="bg1"/>
                </a:solidFill>
                <a:latin typeface="Courier New" panose="02070309020205020404" pitchFamily="49" charset="0"/>
                <a:cs typeface="Courier New" panose="02070309020205020404" pitchFamily="49" charset="0"/>
              </a:rPr>
              <a:t>le32 </a:t>
            </a:r>
            <a:r>
              <a:rPr lang="en-CA" sz="2200" dirty="0" smtClean="0">
                <a:solidFill>
                  <a:schemeClr val="bg1"/>
                </a:solidFill>
                <a:latin typeface="Courier New" panose="02070309020205020404" pitchFamily="49" charset="0"/>
                <a:cs typeface="Courier New" panose="02070309020205020404" pitchFamily="49" charset="0"/>
              </a:rPr>
              <a:t>size;</a:t>
            </a:r>
          </a:p>
          <a:p>
            <a:pPr lvl="1"/>
            <a:endParaRPr lang="en-CA" sz="2200" dirty="0" smtClean="0">
              <a:solidFill>
                <a:schemeClr val="bg1"/>
              </a:solidFill>
              <a:latin typeface="Courier New" panose="02070309020205020404" pitchFamily="49" charset="0"/>
              <a:cs typeface="Courier New" panose="02070309020205020404" pitchFamily="49" charset="0"/>
            </a:endParaRP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   </a:t>
            </a:r>
            <a:r>
              <a:rPr lang="en-CA" sz="2200" b="1" dirty="0" smtClean="0">
                <a:solidFill>
                  <a:schemeClr val="bg1"/>
                </a:solidFill>
                <a:latin typeface="Courier New" panose="02070309020205020404" pitchFamily="49" charset="0"/>
                <a:cs typeface="Courier New" panose="02070309020205020404" pitchFamily="49" charset="0"/>
              </a:rPr>
              <a:t>POINTER</a:t>
            </a:r>
            <a:r>
              <a:rPr lang="en-CA" sz="2200" dirty="0" smtClean="0">
                <a:solidFill>
                  <a:schemeClr val="bg1"/>
                </a:solidFill>
                <a:latin typeface="Courier New" panose="02070309020205020404" pitchFamily="49" charset="0"/>
                <a:cs typeface="Courier New" panose="02070309020205020404" pitchFamily="49" charset="0"/>
              </a:rPr>
              <a:t>(..., type=</a:t>
            </a:r>
            <a:r>
              <a:rPr lang="en-CA" sz="2200" dirty="0" err="1" smtClean="0">
                <a:solidFill>
                  <a:schemeClr val="bg1"/>
                </a:solidFill>
                <a:latin typeface="Courier New" panose="02070309020205020404" pitchFamily="49" charset="0"/>
                <a:cs typeface="Courier New" panose="02070309020205020404" pitchFamily="49" charset="0"/>
              </a:rPr>
              <a:t>bar_block</a:t>
            </a:r>
            <a:r>
              <a:rPr lang="en-CA" sz="2200" dirty="0" smtClean="0">
                <a:solidFill>
                  <a:schemeClr val="bg1"/>
                </a:solidFill>
                <a:latin typeface="Courier New" panose="02070309020205020404" pitchFamily="49" charset="0"/>
                <a:cs typeface="Courier New" panose="02070309020205020404" pitchFamily="49" charset="0"/>
              </a:rPr>
              <a:t>)</a:t>
            </a: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   __</a:t>
            </a:r>
            <a:r>
              <a:rPr lang="en-CA" sz="2200" dirty="0">
                <a:solidFill>
                  <a:schemeClr val="bg1"/>
                </a:solidFill>
                <a:latin typeface="Courier New" panose="02070309020205020404" pitchFamily="49" charset="0"/>
                <a:cs typeface="Courier New" panose="02070309020205020404" pitchFamily="49" charset="0"/>
              </a:rPr>
              <a:t>le32 </a:t>
            </a:r>
            <a:r>
              <a:rPr lang="en-CA" sz="2200" dirty="0" err="1">
                <a:solidFill>
                  <a:schemeClr val="bg1"/>
                </a:solidFill>
                <a:latin typeface="Courier New" panose="02070309020205020404" pitchFamily="49" charset="0"/>
                <a:cs typeface="Courier New" panose="02070309020205020404" pitchFamily="49" charset="0"/>
              </a:rPr>
              <a:t>bar_block_ptr</a:t>
            </a:r>
            <a:r>
              <a:rPr lang="en-CA" sz="2200" dirty="0" smtClean="0">
                <a:solidFill>
                  <a:schemeClr val="bg1"/>
                </a:solidFill>
                <a:latin typeface="Courier New" panose="02070309020205020404" pitchFamily="49" charset="0"/>
                <a:cs typeface="Courier New" panose="02070309020205020404" pitchFamily="49" charset="0"/>
              </a:rPr>
              <a:t>;</a:t>
            </a:r>
          </a:p>
          <a:p>
            <a:pPr lvl="1"/>
            <a:r>
              <a:rPr lang="en-CA" sz="2200" dirty="0" smtClean="0">
                <a:solidFill>
                  <a:schemeClr val="bg1"/>
                </a:solidFill>
                <a:latin typeface="Courier New" panose="02070309020205020404" pitchFamily="49" charset="0"/>
                <a:cs typeface="Courier New" panose="02070309020205020404" pitchFamily="49" charset="0"/>
              </a:rPr>
              <a:t>};</a:t>
            </a:r>
            <a:endParaRPr lang="en-CA" sz="2200"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321883387"/>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Pointer Annotations</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13</a:t>
            </a:fld>
            <a:endParaRPr lang="en-CA" dirty="0"/>
          </a:p>
        </p:txBody>
      </p:sp>
      <p:sp>
        <p:nvSpPr>
          <p:cNvPr id="180" name="TextBox 179"/>
          <p:cNvSpPr txBox="1"/>
          <p:nvPr/>
        </p:nvSpPr>
        <p:spPr>
          <a:xfrm>
            <a:off x="8020913" y="1856754"/>
            <a:ext cx="2529860" cy="830997"/>
          </a:xfrm>
          <a:prstGeom prst="rect">
            <a:avLst/>
          </a:prstGeom>
          <a:noFill/>
        </p:spPr>
        <p:txBody>
          <a:bodyPr wrap="none" rtlCol="0">
            <a:spAutoFit/>
          </a:bodyPr>
          <a:lstStyle/>
          <a:p>
            <a:r>
              <a:rPr lang="en-CA" sz="2400" dirty="0" smtClean="0">
                <a:solidFill>
                  <a:schemeClr val="bg1"/>
                </a:solidFill>
              </a:rPr>
              <a:t>Ext4 File System </a:t>
            </a:r>
            <a:br>
              <a:rPr lang="en-CA" sz="2400" dirty="0" smtClean="0">
                <a:solidFill>
                  <a:schemeClr val="bg1"/>
                </a:solidFill>
              </a:rPr>
            </a:br>
            <a:r>
              <a:rPr lang="en-CA" sz="2400" dirty="0" smtClean="0">
                <a:solidFill>
                  <a:schemeClr val="bg1"/>
                </a:solidFill>
              </a:rPr>
              <a:t>Metadata Tree</a:t>
            </a:r>
            <a:endParaRPr lang="en-CA" sz="2400" dirty="0">
              <a:solidFill>
                <a:schemeClr val="bg1"/>
              </a:solidFill>
            </a:endParaRPr>
          </a:p>
        </p:txBody>
      </p:sp>
      <p:grpSp>
        <p:nvGrpSpPr>
          <p:cNvPr id="147" name="Group 146"/>
          <p:cNvGrpSpPr/>
          <p:nvPr/>
        </p:nvGrpSpPr>
        <p:grpSpPr>
          <a:xfrm rot="5400000">
            <a:off x="8864131" y="5207740"/>
            <a:ext cx="676223" cy="584384"/>
            <a:chOff x="27236633" y="9932056"/>
            <a:chExt cx="578250" cy="990600"/>
          </a:xfrm>
        </p:grpSpPr>
        <p:cxnSp>
          <p:nvCxnSpPr>
            <p:cNvPr id="148" name="Straight Arrow Connector 147"/>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Straight Arrow Connector 148"/>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Straight Arrow Connector 149"/>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102" name="Rectangle 101"/>
          <p:cNvSpPr/>
          <p:nvPr/>
        </p:nvSpPr>
        <p:spPr>
          <a:xfrm>
            <a:off x="763449" y="4220986"/>
            <a:ext cx="1179762" cy="940832"/>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block</a:t>
            </a:r>
          </a:p>
          <a:p>
            <a:pPr algn="ctr"/>
            <a:r>
              <a:rPr lang="en-CA" altLang="zh-TW" dirty="0" smtClean="0">
                <a:solidFill>
                  <a:schemeClr val="bg1"/>
                </a:solidFill>
              </a:rPr>
              <a:t>bitmap</a:t>
            </a:r>
            <a:endParaRPr lang="zh-TW" altLang="en-US" dirty="0">
              <a:solidFill>
                <a:schemeClr val="bg1"/>
              </a:solidFill>
            </a:endParaRPr>
          </a:p>
        </p:txBody>
      </p:sp>
      <p:cxnSp>
        <p:nvCxnSpPr>
          <p:cNvPr id="98" name="Straight Arrow Connector 97"/>
          <p:cNvCxnSpPr/>
          <p:nvPr/>
        </p:nvCxnSpPr>
        <p:spPr>
          <a:xfrm>
            <a:off x="1342857" y="1880888"/>
            <a:ext cx="0" cy="458985"/>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0" name="Rectangle 99"/>
          <p:cNvSpPr/>
          <p:nvPr/>
        </p:nvSpPr>
        <p:spPr>
          <a:xfrm>
            <a:off x="763446" y="1207568"/>
            <a:ext cx="1103217" cy="672168"/>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super</a:t>
            </a:r>
          </a:p>
          <a:p>
            <a:pPr algn="ctr"/>
            <a:r>
              <a:rPr lang="en-CA" altLang="zh-TW" dirty="0" smtClean="0">
                <a:solidFill>
                  <a:schemeClr val="bg1"/>
                </a:solidFill>
              </a:rPr>
              <a:t>block</a:t>
            </a:r>
            <a:endParaRPr lang="zh-TW" altLang="en-US" dirty="0">
              <a:solidFill>
                <a:schemeClr val="bg1"/>
              </a:solidFill>
            </a:endParaRPr>
          </a:p>
        </p:txBody>
      </p:sp>
      <p:sp>
        <p:nvSpPr>
          <p:cNvPr id="109" name="Rectangle 108"/>
          <p:cNvSpPr/>
          <p:nvPr/>
        </p:nvSpPr>
        <p:spPr>
          <a:xfrm>
            <a:off x="3430981" y="1207568"/>
            <a:ext cx="3187275" cy="672168"/>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ext4 journal</a:t>
            </a:r>
            <a:endParaRPr lang="zh-TW" altLang="en-US" dirty="0">
              <a:solidFill>
                <a:schemeClr val="bg1"/>
              </a:solidFill>
            </a:endParaRPr>
          </a:p>
        </p:txBody>
      </p:sp>
      <p:cxnSp>
        <p:nvCxnSpPr>
          <p:cNvPr id="112" name="Straight Arrow Connector 111"/>
          <p:cNvCxnSpPr>
            <a:stCxn id="100" idx="3"/>
            <a:endCxn id="109" idx="1"/>
          </p:cNvCxnSpPr>
          <p:nvPr/>
        </p:nvCxnSpPr>
        <p:spPr>
          <a:xfrm>
            <a:off x="1866663" y="1543652"/>
            <a:ext cx="1564318"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16" name="Rectangle 115"/>
          <p:cNvSpPr/>
          <p:nvPr/>
        </p:nvSpPr>
        <p:spPr>
          <a:xfrm>
            <a:off x="763445" y="2339873"/>
            <a:ext cx="5854811" cy="105981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17" name="Rectangle 116"/>
          <p:cNvSpPr/>
          <p:nvPr/>
        </p:nvSpPr>
        <p:spPr>
          <a:xfrm>
            <a:off x="847161" y="2427340"/>
            <a:ext cx="2002008" cy="631849"/>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block group descriptor table</a:t>
            </a:r>
            <a:endParaRPr lang="en-US" dirty="0">
              <a:solidFill>
                <a:schemeClr val="bg1"/>
              </a:solidFill>
            </a:endParaRPr>
          </a:p>
        </p:txBody>
      </p:sp>
      <p:cxnSp>
        <p:nvCxnSpPr>
          <p:cNvPr id="97" name="Straight Arrow Connector 96"/>
          <p:cNvCxnSpPr>
            <a:stCxn id="21" idx="2"/>
            <a:endCxn id="102" idx="0"/>
          </p:cNvCxnSpPr>
          <p:nvPr/>
        </p:nvCxnSpPr>
        <p:spPr>
          <a:xfrm rot="5400000">
            <a:off x="1884057" y="2787380"/>
            <a:ext cx="902880" cy="1964333"/>
          </a:xfrm>
          <a:prstGeom prst="bentConnector3">
            <a:avLst>
              <a:gd name="adj1" fmla="val 27846"/>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23" name="Rectangle 122"/>
          <p:cNvSpPr/>
          <p:nvPr/>
        </p:nvSpPr>
        <p:spPr>
          <a:xfrm>
            <a:off x="3430981" y="4220986"/>
            <a:ext cx="4848275" cy="940832"/>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24" name="Rectangle 123"/>
          <p:cNvSpPr/>
          <p:nvPr/>
        </p:nvSpPr>
        <p:spPr>
          <a:xfrm>
            <a:off x="3515340" y="4394402"/>
            <a:ext cx="843171" cy="5940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smtClean="0">
                <a:solidFill>
                  <a:schemeClr val="bg1"/>
                </a:solidFill>
              </a:rPr>
              <a:t>inode</a:t>
            </a:r>
            <a:r>
              <a:rPr lang="en-US" dirty="0" smtClean="0">
                <a:solidFill>
                  <a:schemeClr val="bg1"/>
                </a:solidFill>
              </a:rPr>
              <a:t> table</a:t>
            </a:r>
            <a:endParaRPr lang="en-US" dirty="0">
              <a:solidFill>
                <a:schemeClr val="bg1"/>
              </a:solidFill>
            </a:endParaRPr>
          </a:p>
        </p:txBody>
      </p:sp>
      <p:cxnSp>
        <p:nvCxnSpPr>
          <p:cNvPr id="130" name="Straight Arrow Connector 96"/>
          <p:cNvCxnSpPr>
            <a:stCxn id="94" idx="2"/>
            <a:endCxn id="71" idx="0"/>
          </p:cNvCxnSpPr>
          <p:nvPr/>
        </p:nvCxnSpPr>
        <p:spPr>
          <a:xfrm rot="5400000">
            <a:off x="2721207" y="3283390"/>
            <a:ext cx="921780" cy="953413"/>
          </a:xfrm>
          <a:prstGeom prst="bentConnector3">
            <a:avLst>
              <a:gd name="adj1" fmla="val 50000"/>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33" name="Rounded Rectangle 132"/>
          <p:cNvSpPr/>
          <p:nvPr/>
        </p:nvSpPr>
        <p:spPr>
          <a:xfrm>
            <a:off x="4514782" y="2427340"/>
            <a:ext cx="1380879" cy="86171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solidFill>
                  <a:schemeClr val="tx1"/>
                </a:solidFill>
              </a:rPr>
              <a:t>block group descriptor</a:t>
            </a:r>
            <a:endParaRPr lang="zh-TW" altLang="en-US" dirty="0">
              <a:solidFill>
                <a:schemeClr val="tx1"/>
              </a:solidFill>
            </a:endParaRPr>
          </a:p>
        </p:txBody>
      </p:sp>
      <p:cxnSp>
        <p:nvCxnSpPr>
          <p:cNvPr id="134" name="Straight Arrow Connector 96"/>
          <p:cNvCxnSpPr/>
          <p:nvPr/>
        </p:nvCxnSpPr>
        <p:spPr>
          <a:xfrm>
            <a:off x="3958346" y="3289053"/>
            <a:ext cx="0" cy="929962"/>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95" name="Rounded Rectangle 94"/>
          <p:cNvSpPr/>
          <p:nvPr/>
        </p:nvSpPr>
        <p:spPr>
          <a:xfrm>
            <a:off x="4443717" y="4293627"/>
            <a:ext cx="965390"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dirty="0" err="1" smtClean="0">
                <a:solidFill>
                  <a:schemeClr val="tx1"/>
                </a:solidFill>
              </a:rPr>
              <a:t>inode</a:t>
            </a:r>
            <a:endParaRPr lang="en-US" altLang="zh-TW" dirty="0" smtClean="0">
              <a:solidFill>
                <a:schemeClr val="tx1"/>
              </a:solidFill>
            </a:endParaRPr>
          </a:p>
          <a:p>
            <a:pPr algn="ctr"/>
            <a:r>
              <a:rPr lang="en-US" altLang="zh-TW" dirty="0" smtClean="0">
                <a:solidFill>
                  <a:schemeClr val="tx1"/>
                </a:solidFill>
              </a:rPr>
              <a:t>(</a:t>
            </a:r>
            <a:r>
              <a:rPr lang="en-US" altLang="zh-TW" dirty="0" err="1" smtClean="0">
                <a:solidFill>
                  <a:schemeClr val="tx1"/>
                </a:solidFill>
              </a:rPr>
              <a:t>reg</a:t>
            </a:r>
            <a:r>
              <a:rPr lang="en-US" altLang="zh-TW" dirty="0" smtClean="0">
                <a:solidFill>
                  <a:schemeClr val="tx1"/>
                </a:solidFill>
              </a:rPr>
              <a:t> file)</a:t>
            </a:r>
            <a:endParaRPr lang="zh-TW" altLang="en-US" dirty="0">
              <a:solidFill>
                <a:schemeClr val="tx1"/>
              </a:solidFill>
            </a:endParaRPr>
          </a:p>
        </p:txBody>
      </p:sp>
      <p:sp>
        <p:nvSpPr>
          <p:cNvPr id="138" name="Rounded Rectangle 137"/>
          <p:cNvSpPr/>
          <p:nvPr/>
        </p:nvSpPr>
        <p:spPr>
          <a:xfrm>
            <a:off x="6861617" y="4293627"/>
            <a:ext cx="1215376"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dirty="0" err="1" smtClean="0">
                <a:solidFill>
                  <a:schemeClr val="tx1"/>
                </a:solidFill>
              </a:rPr>
              <a:t>inode</a:t>
            </a:r>
            <a:endParaRPr lang="en-US" altLang="zh-TW" dirty="0" smtClean="0">
              <a:solidFill>
                <a:schemeClr val="tx1"/>
              </a:solidFill>
            </a:endParaRPr>
          </a:p>
          <a:p>
            <a:pPr algn="ctr"/>
            <a:r>
              <a:rPr lang="en-US" altLang="zh-TW" dirty="0" smtClean="0">
                <a:solidFill>
                  <a:schemeClr val="tx1"/>
                </a:solidFill>
              </a:rPr>
              <a:t>(directory)</a:t>
            </a:r>
            <a:endParaRPr lang="zh-TW" altLang="en-US" dirty="0">
              <a:solidFill>
                <a:schemeClr val="tx1"/>
              </a:solidFill>
            </a:endParaRPr>
          </a:p>
        </p:txBody>
      </p:sp>
      <p:sp>
        <p:nvSpPr>
          <p:cNvPr id="139" name="TextBox 138"/>
          <p:cNvSpPr txBox="1"/>
          <p:nvPr/>
        </p:nvSpPr>
        <p:spPr>
          <a:xfrm>
            <a:off x="5998269" y="2579740"/>
            <a:ext cx="415498" cy="369332"/>
          </a:xfrm>
          <a:prstGeom prst="rect">
            <a:avLst/>
          </a:prstGeom>
          <a:noFill/>
        </p:spPr>
        <p:txBody>
          <a:bodyPr wrap="none" rtlCol="0">
            <a:spAutoFit/>
          </a:bodyPr>
          <a:lstStyle/>
          <a:p>
            <a:r>
              <a:rPr lang="en-CA" dirty="0" smtClean="0">
                <a:solidFill>
                  <a:schemeClr val="bg1"/>
                </a:solidFill>
              </a:rPr>
              <a:t>…</a:t>
            </a:r>
            <a:endParaRPr lang="en-CA" dirty="0">
              <a:solidFill>
                <a:schemeClr val="bg1"/>
              </a:solidFill>
            </a:endParaRPr>
          </a:p>
        </p:txBody>
      </p:sp>
      <p:sp>
        <p:nvSpPr>
          <p:cNvPr id="140" name="TextBox 139"/>
          <p:cNvSpPr txBox="1"/>
          <p:nvPr/>
        </p:nvSpPr>
        <p:spPr>
          <a:xfrm>
            <a:off x="5869543" y="4421011"/>
            <a:ext cx="415498" cy="369332"/>
          </a:xfrm>
          <a:prstGeom prst="rect">
            <a:avLst/>
          </a:prstGeom>
          <a:noFill/>
        </p:spPr>
        <p:txBody>
          <a:bodyPr wrap="none" rtlCol="0">
            <a:spAutoFit/>
          </a:bodyPr>
          <a:lstStyle/>
          <a:p>
            <a:r>
              <a:rPr lang="en-CA" dirty="0" smtClean="0">
                <a:solidFill>
                  <a:schemeClr val="bg1"/>
                </a:solidFill>
              </a:rPr>
              <a:t>…</a:t>
            </a:r>
            <a:endParaRPr lang="en-CA" dirty="0">
              <a:solidFill>
                <a:schemeClr val="bg1"/>
              </a:solidFill>
            </a:endParaRPr>
          </a:p>
        </p:txBody>
      </p:sp>
      <p:sp>
        <p:nvSpPr>
          <p:cNvPr id="142" name="Rectangle 141"/>
          <p:cNvSpPr/>
          <p:nvPr/>
        </p:nvSpPr>
        <p:spPr>
          <a:xfrm>
            <a:off x="6917696" y="5815595"/>
            <a:ext cx="1103217" cy="728080"/>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err="1" smtClean="0">
                <a:solidFill>
                  <a:schemeClr val="bg1"/>
                </a:solidFill>
              </a:rPr>
              <a:t>dir</a:t>
            </a:r>
            <a:endParaRPr lang="en-CA" altLang="zh-TW" dirty="0" smtClean="0">
              <a:solidFill>
                <a:schemeClr val="bg1"/>
              </a:solidFill>
            </a:endParaRPr>
          </a:p>
          <a:p>
            <a:pPr algn="ctr"/>
            <a:r>
              <a:rPr lang="en-CA" altLang="zh-TW" dirty="0" smtClean="0">
                <a:solidFill>
                  <a:schemeClr val="bg1"/>
                </a:solidFill>
              </a:rPr>
              <a:t>block</a:t>
            </a:r>
            <a:endParaRPr lang="zh-TW" altLang="en-US" dirty="0">
              <a:solidFill>
                <a:schemeClr val="bg1"/>
              </a:solidFill>
            </a:endParaRPr>
          </a:p>
        </p:txBody>
      </p:sp>
      <p:sp>
        <p:nvSpPr>
          <p:cNvPr id="145" name="Rectangle 144"/>
          <p:cNvSpPr/>
          <p:nvPr/>
        </p:nvSpPr>
        <p:spPr>
          <a:xfrm>
            <a:off x="8596461" y="4219015"/>
            <a:ext cx="1211564" cy="944774"/>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err="1" smtClean="0">
                <a:solidFill>
                  <a:schemeClr val="bg1"/>
                </a:solidFill>
              </a:rPr>
              <a:t>dir</a:t>
            </a:r>
            <a:endParaRPr lang="en-CA" altLang="zh-TW" dirty="0" smtClean="0">
              <a:solidFill>
                <a:schemeClr val="bg1"/>
              </a:solidFill>
            </a:endParaRPr>
          </a:p>
          <a:p>
            <a:pPr algn="ctr"/>
            <a:r>
              <a:rPr lang="en-CA" altLang="zh-TW" dirty="0" smtClean="0">
                <a:solidFill>
                  <a:schemeClr val="bg1"/>
                </a:solidFill>
              </a:rPr>
              <a:t>indirect</a:t>
            </a:r>
          </a:p>
          <a:p>
            <a:pPr algn="ctr"/>
            <a:r>
              <a:rPr lang="en-CA" altLang="zh-TW" dirty="0" smtClean="0">
                <a:solidFill>
                  <a:schemeClr val="bg1"/>
                </a:solidFill>
              </a:rPr>
              <a:t>block</a:t>
            </a:r>
            <a:endParaRPr lang="zh-TW" altLang="en-US" dirty="0">
              <a:solidFill>
                <a:schemeClr val="bg1"/>
              </a:solidFill>
            </a:endParaRPr>
          </a:p>
        </p:txBody>
      </p:sp>
      <p:grpSp>
        <p:nvGrpSpPr>
          <p:cNvPr id="151" name="Group 150"/>
          <p:cNvGrpSpPr/>
          <p:nvPr/>
        </p:nvGrpSpPr>
        <p:grpSpPr>
          <a:xfrm>
            <a:off x="8588936" y="5771801"/>
            <a:ext cx="1211380" cy="761972"/>
            <a:chOff x="20309820" y="9557482"/>
            <a:chExt cx="2053432" cy="1739168"/>
          </a:xfrm>
          <a:solidFill>
            <a:schemeClr val="accent5">
              <a:lumMod val="40000"/>
              <a:lumOff val="60000"/>
            </a:schemeClr>
          </a:solidFill>
        </p:grpSpPr>
        <p:sp>
          <p:nvSpPr>
            <p:cNvPr id="152" name="Rectangle 151"/>
            <p:cNvSpPr/>
            <p:nvPr/>
          </p:nvSpPr>
          <p:spPr>
            <a:xfrm>
              <a:off x="20498872" y="9557482"/>
              <a:ext cx="1864380" cy="1534578"/>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53" name="Rectangle 152"/>
            <p:cNvSpPr/>
            <p:nvPr/>
          </p:nvSpPr>
          <p:spPr>
            <a:xfrm>
              <a:off x="20403622" y="9652732"/>
              <a:ext cx="1864380" cy="1534578"/>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55" name="Rectangle 154"/>
            <p:cNvSpPr/>
            <p:nvPr/>
          </p:nvSpPr>
          <p:spPr>
            <a:xfrm>
              <a:off x="20309820" y="9762072"/>
              <a:ext cx="1864381" cy="1534578"/>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err="1" smtClean="0">
                  <a:solidFill>
                    <a:schemeClr val="bg1"/>
                  </a:solidFill>
                </a:rPr>
                <a:t>dir</a:t>
              </a:r>
              <a:endParaRPr lang="en-CA" altLang="zh-TW" dirty="0" smtClean="0">
                <a:solidFill>
                  <a:schemeClr val="bg1"/>
                </a:solidFill>
              </a:endParaRPr>
            </a:p>
            <a:p>
              <a:pPr algn="ctr"/>
              <a:r>
                <a:rPr lang="en-CA" altLang="zh-TW" dirty="0" smtClean="0">
                  <a:solidFill>
                    <a:schemeClr val="bg1"/>
                  </a:solidFill>
                </a:rPr>
                <a:t>blocks</a:t>
              </a:r>
              <a:endParaRPr lang="zh-TW" altLang="en-US" dirty="0">
                <a:solidFill>
                  <a:schemeClr val="bg1"/>
                </a:solidFill>
              </a:endParaRPr>
            </a:p>
          </p:txBody>
        </p:sp>
      </p:grpSp>
      <p:cxnSp>
        <p:nvCxnSpPr>
          <p:cNvPr id="168" name="Straight Arrow Connector 96"/>
          <p:cNvCxnSpPr>
            <a:stCxn id="138" idx="2"/>
            <a:endCxn id="142" idx="0"/>
          </p:cNvCxnSpPr>
          <p:nvPr/>
        </p:nvCxnSpPr>
        <p:spPr>
          <a:xfrm>
            <a:off x="7469305" y="5089178"/>
            <a:ext cx="0" cy="726417"/>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71" name="Straight Arrow Connector 96"/>
          <p:cNvCxnSpPr/>
          <p:nvPr/>
        </p:nvCxnSpPr>
        <p:spPr>
          <a:xfrm flipV="1">
            <a:off x="8076993" y="4691402"/>
            <a:ext cx="519468" cy="1"/>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rot="5400000">
            <a:off x="5043353" y="3194064"/>
            <a:ext cx="327375" cy="584384"/>
            <a:chOff x="27236633" y="9932056"/>
            <a:chExt cx="578250" cy="990600"/>
          </a:xfrm>
        </p:grpSpPr>
        <p:cxnSp>
          <p:nvCxnSpPr>
            <p:cNvPr id="175" name="Straight Arrow Connector 174"/>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6" name="Straight Arrow Connector 175"/>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Straight Arrow Connector 176"/>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73" name="Rectangle 72"/>
          <p:cNvSpPr/>
          <p:nvPr/>
        </p:nvSpPr>
        <p:spPr>
          <a:xfrm>
            <a:off x="4374804" y="5825726"/>
            <a:ext cx="1103217" cy="728080"/>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data</a:t>
            </a:r>
          </a:p>
          <a:p>
            <a:pPr algn="ctr"/>
            <a:r>
              <a:rPr lang="en-CA" altLang="zh-TW" dirty="0" smtClean="0">
                <a:solidFill>
                  <a:schemeClr val="bg1"/>
                </a:solidFill>
              </a:rPr>
              <a:t>block</a:t>
            </a:r>
            <a:endParaRPr lang="zh-TW" altLang="en-US" dirty="0">
              <a:solidFill>
                <a:schemeClr val="bg1"/>
              </a:solidFill>
            </a:endParaRPr>
          </a:p>
        </p:txBody>
      </p:sp>
      <p:cxnSp>
        <p:nvCxnSpPr>
          <p:cNvPr id="75" name="Straight Arrow Connector 96"/>
          <p:cNvCxnSpPr>
            <a:stCxn id="95" idx="2"/>
            <a:endCxn id="73" idx="0"/>
          </p:cNvCxnSpPr>
          <p:nvPr/>
        </p:nvCxnSpPr>
        <p:spPr>
          <a:xfrm>
            <a:off x="4926412" y="5089178"/>
            <a:ext cx="1" cy="736548"/>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71" name="Rectangle 70"/>
          <p:cNvSpPr/>
          <p:nvPr/>
        </p:nvSpPr>
        <p:spPr>
          <a:xfrm>
            <a:off x="2115509" y="4220986"/>
            <a:ext cx="1179762" cy="940832"/>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err="1" smtClean="0">
                <a:solidFill>
                  <a:schemeClr val="bg1"/>
                </a:solidFill>
              </a:rPr>
              <a:t>inode</a:t>
            </a:r>
            <a:endParaRPr lang="en-CA" altLang="zh-TW" dirty="0" smtClean="0">
              <a:solidFill>
                <a:schemeClr val="bg1"/>
              </a:solidFill>
            </a:endParaRPr>
          </a:p>
          <a:p>
            <a:pPr algn="ctr"/>
            <a:r>
              <a:rPr lang="en-CA" altLang="zh-TW" dirty="0" smtClean="0">
                <a:solidFill>
                  <a:schemeClr val="bg1"/>
                </a:solidFill>
              </a:rPr>
              <a:t>bitmap</a:t>
            </a:r>
            <a:endParaRPr lang="zh-TW" altLang="en-US" dirty="0">
              <a:solidFill>
                <a:schemeClr val="bg1"/>
              </a:solidFill>
            </a:endParaRPr>
          </a:p>
        </p:txBody>
      </p:sp>
      <p:grpSp>
        <p:nvGrpSpPr>
          <p:cNvPr id="32" name="Group 31"/>
          <p:cNvGrpSpPr/>
          <p:nvPr/>
        </p:nvGrpSpPr>
        <p:grpSpPr>
          <a:xfrm>
            <a:off x="2948918" y="2415923"/>
            <a:ext cx="1419770" cy="902183"/>
            <a:chOff x="2529818" y="2415923"/>
            <a:chExt cx="1419770" cy="902183"/>
          </a:xfrm>
        </p:grpSpPr>
        <p:sp>
          <p:nvSpPr>
            <p:cNvPr id="94" name="Rounded Rectangle 93"/>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solidFill>
                    <a:schemeClr val="tx1"/>
                  </a:solidFill>
                </a:rPr>
                <a:t>block group descriptor</a:t>
              </a:r>
              <a:endParaRPr lang="zh-TW" altLang="en-US" dirty="0">
                <a:solidFill>
                  <a:schemeClr val="tx1"/>
                </a:solidFill>
              </a:endParaRPr>
            </a:p>
          </p:txBody>
        </p:sp>
        <p:sp>
          <p:nvSpPr>
            <p:cNvPr id="21" name="Rectangle 20"/>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Tree>
    <p:extLst>
      <p:ext uri="{BB962C8B-B14F-4D97-AF65-F5344CB8AC3E}">
        <p14:creationId xmlns:p14="http://schemas.microsoft.com/office/powerpoint/2010/main" val="24021129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Pointer Address Space</a:t>
            </a:r>
            <a:endParaRPr lang="en-CA" dirty="0"/>
          </a:p>
        </p:txBody>
      </p:sp>
      <p:sp>
        <p:nvSpPr>
          <p:cNvPr id="3" name="Content Placeholder 2"/>
          <p:cNvSpPr>
            <a:spLocks noGrp="1"/>
          </p:cNvSpPr>
          <p:nvPr>
            <p:ph idx="1"/>
          </p:nvPr>
        </p:nvSpPr>
        <p:spPr/>
        <p:txBody>
          <a:bodyPr/>
          <a:lstStyle/>
          <a:p>
            <a:r>
              <a:rPr lang="en-US" dirty="0" smtClean="0"/>
              <a:t>Challenge: </a:t>
            </a:r>
            <a:r>
              <a:rPr lang="en-CA" dirty="0"/>
              <a:t>File system pointer can store different types of </a:t>
            </a:r>
            <a:r>
              <a:rPr lang="en-CA" dirty="0" smtClean="0"/>
              <a:t/>
            </a:r>
            <a:br>
              <a:rPr lang="en-CA" dirty="0" smtClean="0"/>
            </a:br>
            <a:r>
              <a:rPr lang="en-CA" dirty="0" smtClean="0"/>
              <a:t>logical addresses</a:t>
            </a:r>
          </a:p>
          <a:p>
            <a:pPr lvl="1"/>
            <a:r>
              <a:rPr lang="en-CA" dirty="0" smtClean="0"/>
              <a:t>Need different mappings to obtain physical address</a:t>
            </a:r>
          </a:p>
          <a:p>
            <a:r>
              <a:rPr lang="en-CA" dirty="0" smtClean="0"/>
              <a:t>Solution: Pointer annotations specify an </a:t>
            </a:r>
            <a:r>
              <a:rPr lang="en-CA" i="1" dirty="0"/>
              <a:t>address space</a:t>
            </a:r>
            <a:r>
              <a:rPr lang="en-CA" b="1" dirty="0"/>
              <a:t> </a:t>
            </a:r>
            <a:r>
              <a:rPr lang="en-CA" dirty="0"/>
              <a:t>that indicates how the address should be </a:t>
            </a:r>
            <a:r>
              <a:rPr lang="en-CA" dirty="0" smtClean="0"/>
              <a:t>mapped to </a:t>
            </a:r>
            <a:r>
              <a:rPr lang="en-CA" dirty="0"/>
              <a:t>physical location</a:t>
            </a:r>
          </a:p>
          <a:p>
            <a:endParaRPr lang="en-CA" dirty="0" smtClean="0"/>
          </a:p>
          <a:p>
            <a:endParaRPr lang="en-CA" dirty="0" smtClean="0"/>
          </a:p>
          <a:p>
            <a:r>
              <a:rPr lang="en-CA" dirty="0" smtClean="0"/>
              <a:t>Examples: Block, File, F2FS NID address spaces</a:t>
            </a:r>
          </a:p>
        </p:txBody>
      </p:sp>
      <p:sp>
        <p:nvSpPr>
          <p:cNvPr id="5" name="Slide Number Placeholder 4"/>
          <p:cNvSpPr>
            <a:spLocks noGrp="1"/>
          </p:cNvSpPr>
          <p:nvPr>
            <p:ph type="sldNum" sz="quarter" idx="12"/>
          </p:nvPr>
        </p:nvSpPr>
        <p:spPr/>
        <p:txBody>
          <a:bodyPr/>
          <a:lstStyle/>
          <a:p>
            <a:fld id="{7B2023C8-B124-43A9-8F92-0EEF5BAA9995}" type="slidenum">
              <a:rPr lang="en-CA" smtClean="0"/>
              <a:pPr/>
              <a:t>14</a:t>
            </a:fld>
            <a:endParaRPr lang="en-CA" dirty="0"/>
          </a:p>
        </p:txBody>
      </p:sp>
      <p:sp>
        <p:nvSpPr>
          <p:cNvPr id="8" name="Rectangle 7"/>
          <p:cNvSpPr/>
          <p:nvPr/>
        </p:nvSpPr>
        <p:spPr>
          <a:xfrm>
            <a:off x="1506062" y="3986019"/>
            <a:ext cx="7443063" cy="430887"/>
          </a:xfrm>
          <a:prstGeom prst="rect">
            <a:avLst/>
          </a:prstGeom>
        </p:spPr>
        <p:txBody>
          <a:bodyPr wrap="none">
            <a:spAutoFit/>
          </a:bodyPr>
          <a:lstStyle/>
          <a:p>
            <a:pPr lvl="1"/>
            <a:r>
              <a:rPr lang="en-CA" sz="2200" b="1" dirty="0" smtClean="0">
                <a:solidFill>
                  <a:schemeClr val="bg1"/>
                </a:solidFill>
                <a:latin typeface="Courier New" panose="02070309020205020404" pitchFamily="49" charset="0"/>
                <a:cs typeface="Courier New" panose="02070309020205020404" pitchFamily="49" charset="0"/>
              </a:rPr>
              <a:t>POINTER</a:t>
            </a:r>
            <a:r>
              <a:rPr lang="en-CA" sz="2200" dirty="0" smtClean="0">
                <a:solidFill>
                  <a:schemeClr val="bg1"/>
                </a:solidFill>
                <a:latin typeface="Courier New" panose="02070309020205020404" pitchFamily="49" charset="0"/>
                <a:cs typeface="Courier New" panose="02070309020205020404" pitchFamily="49" charset="0"/>
              </a:rPr>
              <a:t>(</a:t>
            </a:r>
            <a:r>
              <a:rPr lang="en-CA" sz="2200" dirty="0" err="1" smtClean="0">
                <a:solidFill>
                  <a:schemeClr val="bg1"/>
                </a:solidFill>
                <a:latin typeface="Courier New" panose="02070309020205020404" pitchFamily="49" charset="0"/>
                <a:cs typeface="Courier New" panose="02070309020205020404" pitchFamily="49" charset="0"/>
              </a:rPr>
              <a:t>addrspace</a:t>
            </a:r>
            <a:r>
              <a:rPr lang="en-CA" sz="2200" dirty="0" smtClean="0">
                <a:solidFill>
                  <a:schemeClr val="bg1"/>
                </a:solidFill>
                <a:latin typeface="Courier New" panose="02070309020205020404" pitchFamily="49" charset="0"/>
                <a:cs typeface="Courier New" panose="02070309020205020404" pitchFamily="49" charset="0"/>
              </a:rPr>
              <a:t>=block, type=</a:t>
            </a:r>
            <a:r>
              <a:rPr lang="en-CA" sz="2200" dirty="0" err="1" smtClean="0">
                <a:solidFill>
                  <a:schemeClr val="bg1"/>
                </a:solidFill>
                <a:latin typeface="Courier New" panose="02070309020205020404" pitchFamily="49" charset="0"/>
                <a:cs typeface="Courier New" panose="02070309020205020404" pitchFamily="49" charset="0"/>
              </a:rPr>
              <a:t>bar_block</a:t>
            </a:r>
            <a:r>
              <a:rPr lang="en-CA" sz="2200" dirty="0" smtClean="0">
                <a:solidFill>
                  <a:schemeClr val="bg1"/>
                </a:solidFill>
                <a:latin typeface="Courier New" panose="02070309020205020404" pitchFamily="49" charset="0"/>
                <a:cs typeface="Courier New" panose="02070309020205020404" pitchFamily="49" charset="0"/>
              </a:rPr>
              <a:t>)</a:t>
            </a:r>
            <a:endParaRPr lang="en-CA" sz="2200"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955000870"/>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7" name="Group 76"/>
          <p:cNvGrpSpPr/>
          <p:nvPr/>
        </p:nvGrpSpPr>
        <p:grpSpPr>
          <a:xfrm rot="5400000">
            <a:off x="9532776" y="6007510"/>
            <a:ext cx="424783" cy="584384"/>
            <a:chOff x="27236633" y="9932056"/>
            <a:chExt cx="578250" cy="990600"/>
          </a:xfrm>
        </p:grpSpPr>
        <p:cxnSp>
          <p:nvCxnSpPr>
            <p:cNvPr id="113" name="Straight Arrow Connector 112"/>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4" name="Straight Arrow Connector 113"/>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Straight Arrow Connector 114"/>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2" name="Title 1"/>
          <p:cNvSpPr>
            <a:spLocks noGrp="1"/>
          </p:cNvSpPr>
          <p:nvPr>
            <p:ph type="title"/>
          </p:nvPr>
        </p:nvSpPr>
        <p:spPr/>
        <p:txBody>
          <a:bodyPr/>
          <a:lstStyle/>
          <a:p>
            <a:r>
              <a:rPr lang="en-CA" dirty="0" smtClean="0"/>
              <a:t>Block Address Space</a:t>
            </a:r>
            <a:endParaRPr lang="en-CA" dirty="0"/>
          </a:p>
        </p:txBody>
      </p:sp>
      <p:sp>
        <p:nvSpPr>
          <p:cNvPr id="3" name="Content Placeholder 2"/>
          <p:cNvSpPr>
            <a:spLocks noGrp="1"/>
          </p:cNvSpPr>
          <p:nvPr>
            <p:ph idx="1"/>
          </p:nvPr>
        </p:nvSpPr>
        <p:spPr/>
        <p:txBody>
          <a:bodyPr/>
          <a:lstStyle/>
          <a:p>
            <a:r>
              <a:rPr lang="en-CA" dirty="0"/>
              <a:t>Block address is the block number in the file system</a:t>
            </a:r>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15</a:t>
            </a:fld>
            <a:endParaRPr lang="en-CA" dirty="0"/>
          </a:p>
        </p:txBody>
      </p:sp>
      <p:sp>
        <p:nvSpPr>
          <p:cNvPr id="78" name="Rectangle 77"/>
          <p:cNvSpPr/>
          <p:nvPr/>
        </p:nvSpPr>
        <p:spPr>
          <a:xfrm>
            <a:off x="1306374" y="5173486"/>
            <a:ext cx="1179762" cy="940832"/>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block</a:t>
            </a:r>
          </a:p>
          <a:p>
            <a:pPr algn="ctr"/>
            <a:r>
              <a:rPr lang="en-CA" altLang="zh-TW" dirty="0" smtClean="0">
                <a:solidFill>
                  <a:schemeClr val="bg1"/>
                </a:solidFill>
              </a:rPr>
              <a:t>bitmap</a:t>
            </a:r>
            <a:endParaRPr lang="zh-TW" altLang="en-US" dirty="0">
              <a:solidFill>
                <a:schemeClr val="bg1"/>
              </a:solidFill>
            </a:endParaRPr>
          </a:p>
        </p:txBody>
      </p:sp>
      <p:cxnSp>
        <p:nvCxnSpPr>
          <p:cNvPr id="79" name="Straight Arrow Connector 78"/>
          <p:cNvCxnSpPr/>
          <p:nvPr/>
        </p:nvCxnSpPr>
        <p:spPr>
          <a:xfrm>
            <a:off x="1885782" y="2833388"/>
            <a:ext cx="0" cy="458985"/>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0" name="Rectangle 79"/>
          <p:cNvSpPr/>
          <p:nvPr/>
        </p:nvSpPr>
        <p:spPr>
          <a:xfrm>
            <a:off x="1306371" y="2160068"/>
            <a:ext cx="1103217" cy="672168"/>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super</a:t>
            </a:r>
          </a:p>
          <a:p>
            <a:pPr algn="ctr"/>
            <a:r>
              <a:rPr lang="en-CA" altLang="zh-TW" dirty="0" smtClean="0">
                <a:solidFill>
                  <a:schemeClr val="bg1"/>
                </a:solidFill>
              </a:rPr>
              <a:t>block</a:t>
            </a:r>
            <a:endParaRPr lang="zh-TW" altLang="en-US" dirty="0">
              <a:solidFill>
                <a:schemeClr val="bg1"/>
              </a:solidFill>
            </a:endParaRPr>
          </a:p>
        </p:txBody>
      </p:sp>
      <p:sp>
        <p:nvSpPr>
          <p:cNvPr id="81" name="Rectangle 80"/>
          <p:cNvSpPr/>
          <p:nvPr/>
        </p:nvSpPr>
        <p:spPr>
          <a:xfrm>
            <a:off x="3875699" y="2160068"/>
            <a:ext cx="3187275" cy="672168"/>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ext4 journal</a:t>
            </a:r>
            <a:endParaRPr lang="zh-TW" altLang="en-US" dirty="0">
              <a:solidFill>
                <a:schemeClr val="bg1"/>
              </a:solidFill>
            </a:endParaRPr>
          </a:p>
        </p:txBody>
      </p:sp>
      <p:cxnSp>
        <p:nvCxnSpPr>
          <p:cNvPr id="82" name="Straight Arrow Connector 81"/>
          <p:cNvCxnSpPr>
            <a:stCxn id="80" idx="3"/>
            <a:endCxn id="81" idx="1"/>
          </p:cNvCxnSpPr>
          <p:nvPr/>
        </p:nvCxnSpPr>
        <p:spPr>
          <a:xfrm>
            <a:off x="2409588" y="2496152"/>
            <a:ext cx="1466111"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3" name="Rectangle 82"/>
          <p:cNvSpPr/>
          <p:nvPr/>
        </p:nvSpPr>
        <p:spPr>
          <a:xfrm>
            <a:off x="1306370" y="3292373"/>
            <a:ext cx="5854811" cy="105981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84" name="Rectangle 83"/>
          <p:cNvSpPr/>
          <p:nvPr/>
        </p:nvSpPr>
        <p:spPr>
          <a:xfrm>
            <a:off x="1390086" y="3379840"/>
            <a:ext cx="2002008" cy="631849"/>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block group descriptor table</a:t>
            </a:r>
            <a:endParaRPr lang="en-US" dirty="0">
              <a:solidFill>
                <a:schemeClr val="bg1"/>
              </a:solidFill>
            </a:endParaRPr>
          </a:p>
        </p:txBody>
      </p:sp>
      <p:cxnSp>
        <p:nvCxnSpPr>
          <p:cNvPr id="85" name="Straight Arrow Connector 96"/>
          <p:cNvCxnSpPr>
            <a:stCxn id="106" idx="2"/>
            <a:endCxn id="78" idx="0"/>
          </p:cNvCxnSpPr>
          <p:nvPr/>
        </p:nvCxnSpPr>
        <p:spPr>
          <a:xfrm rot="5400000">
            <a:off x="2426982" y="3739880"/>
            <a:ext cx="902880" cy="1964333"/>
          </a:xfrm>
          <a:prstGeom prst="bentConnector3">
            <a:avLst>
              <a:gd name="adj1" fmla="val 27846"/>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6" name="Rectangle 85"/>
          <p:cNvSpPr/>
          <p:nvPr/>
        </p:nvSpPr>
        <p:spPr>
          <a:xfrm>
            <a:off x="3973906" y="5173486"/>
            <a:ext cx="4848275" cy="940832"/>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87" name="Rectangle 86"/>
          <p:cNvSpPr/>
          <p:nvPr/>
        </p:nvSpPr>
        <p:spPr>
          <a:xfrm>
            <a:off x="4058265" y="5346902"/>
            <a:ext cx="843171" cy="5940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smtClean="0">
                <a:solidFill>
                  <a:schemeClr val="bg1"/>
                </a:solidFill>
              </a:rPr>
              <a:t>inode</a:t>
            </a:r>
            <a:r>
              <a:rPr lang="en-US" dirty="0" smtClean="0">
                <a:solidFill>
                  <a:schemeClr val="bg1"/>
                </a:solidFill>
              </a:rPr>
              <a:t> table</a:t>
            </a:r>
            <a:endParaRPr lang="en-US" dirty="0">
              <a:solidFill>
                <a:schemeClr val="bg1"/>
              </a:solidFill>
            </a:endParaRPr>
          </a:p>
        </p:txBody>
      </p:sp>
      <p:cxnSp>
        <p:nvCxnSpPr>
          <p:cNvPr id="88" name="Straight Arrow Connector 96"/>
          <p:cNvCxnSpPr>
            <a:stCxn id="105" idx="2"/>
            <a:endCxn id="103" idx="0"/>
          </p:cNvCxnSpPr>
          <p:nvPr/>
        </p:nvCxnSpPr>
        <p:spPr>
          <a:xfrm rot="5400000">
            <a:off x="3264132" y="4235890"/>
            <a:ext cx="921780" cy="953413"/>
          </a:xfrm>
          <a:prstGeom prst="bentConnector3">
            <a:avLst>
              <a:gd name="adj1" fmla="val 50000"/>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9" name="Rounded Rectangle 88"/>
          <p:cNvSpPr/>
          <p:nvPr/>
        </p:nvSpPr>
        <p:spPr>
          <a:xfrm>
            <a:off x="5057707" y="3379840"/>
            <a:ext cx="1380879" cy="86171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solidFill>
                  <a:schemeClr val="tx1"/>
                </a:solidFill>
              </a:rPr>
              <a:t>block group descriptor</a:t>
            </a:r>
            <a:endParaRPr lang="zh-TW" altLang="en-US" dirty="0">
              <a:solidFill>
                <a:schemeClr val="tx1"/>
              </a:solidFill>
            </a:endParaRPr>
          </a:p>
        </p:txBody>
      </p:sp>
      <p:cxnSp>
        <p:nvCxnSpPr>
          <p:cNvPr id="90" name="Straight Arrow Connector 96"/>
          <p:cNvCxnSpPr/>
          <p:nvPr/>
        </p:nvCxnSpPr>
        <p:spPr>
          <a:xfrm>
            <a:off x="4501271" y="4241553"/>
            <a:ext cx="0" cy="929962"/>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91" name="Rounded Rectangle 90"/>
          <p:cNvSpPr/>
          <p:nvPr/>
        </p:nvSpPr>
        <p:spPr>
          <a:xfrm>
            <a:off x="4986642" y="5246127"/>
            <a:ext cx="965390"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dirty="0" err="1" smtClean="0">
                <a:solidFill>
                  <a:schemeClr val="tx1"/>
                </a:solidFill>
              </a:rPr>
              <a:t>inode</a:t>
            </a:r>
            <a:endParaRPr lang="en-US" altLang="zh-TW" dirty="0" smtClean="0">
              <a:solidFill>
                <a:schemeClr val="tx1"/>
              </a:solidFill>
            </a:endParaRPr>
          </a:p>
          <a:p>
            <a:pPr algn="ctr"/>
            <a:r>
              <a:rPr lang="en-US" altLang="zh-TW" dirty="0" smtClean="0">
                <a:solidFill>
                  <a:schemeClr val="tx1"/>
                </a:solidFill>
              </a:rPr>
              <a:t>(</a:t>
            </a:r>
            <a:r>
              <a:rPr lang="en-US" altLang="zh-TW" dirty="0" err="1" smtClean="0">
                <a:solidFill>
                  <a:schemeClr val="tx1"/>
                </a:solidFill>
              </a:rPr>
              <a:t>reg</a:t>
            </a:r>
            <a:r>
              <a:rPr lang="en-US" altLang="zh-TW" dirty="0" smtClean="0">
                <a:solidFill>
                  <a:schemeClr val="tx1"/>
                </a:solidFill>
              </a:rPr>
              <a:t> file)</a:t>
            </a:r>
            <a:endParaRPr lang="zh-TW" altLang="en-US" dirty="0">
              <a:solidFill>
                <a:schemeClr val="tx1"/>
              </a:solidFill>
            </a:endParaRPr>
          </a:p>
        </p:txBody>
      </p:sp>
      <p:sp>
        <p:nvSpPr>
          <p:cNvPr id="92" name="Rounded Rectangle 91"/>
          <p:cNvSpPr/>
          <p:nvPr/>
        </p:nvSpPr>
        <p:spPr>
          <a:xfrm>
            <a:off x="7404542" y="5246127"/>
            <a:ext cx="1215376"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dirty="0" err="1" smtClean="0">
                <a:solidFill>
                  <a:schemeClr val="tx1"/>
                </a:solidFill>
              </a:rPr>
              <a:t>inode</a:t>
            </a:r>
            <a:endParaRPr lang="en-US" altLang="zh-TW" dirty="0" smtClean="0">
              <a:solidFill>
                <a:schemeClr val="tx1"/>
              </a:solidFill>
            </a:endParaRPr>
          </a:p>
          <a:p>
            <a:pPr algn="ctr"/>
            <a:r>
              <a:rPr lang="en-US" altLang="zh-TW" dirty="0" smtClean="0">
                <a:solidFill>
                  <a:schemeClr val="tx1"/>
                </a:solidFill>
              </a:rPr>
              <a:t>(directory)</a:t>
            </a:r>
            <a:endParaRPr lang="zh-TW" altLang="en-US" dirty="0">
              <a:solidFill>
                <a:schemeClr val="tx1"/>
              </a:solidFill>
            </a:endParaRPr>
          </a:p>
        </p:txBody>
      </p:sp>
      <p:sp>
        <p:nvSpPr>
          <p:cNvPr id="93" name="TextBox 92"/>
          <p:cNvSpPr txBox="1"/>
          <p:nvPr/>
        </p:nvSpPr>
        <p:spPr>
          <a:xfrm>
            <a:off x="6541194" y="3532240"/>
            <a:ext cx="415498" cy="369332"/>
          </a:xfrm>
          <a:prstGeom prst="rect">
            <a:avLst/>
          </a:prstGeom>
          <a:noFill/>
        </p:spPr>
        <p:txBody>
          <a:bodyPr wrap="none" rtlCol="0">
            <a:spAutoFit/>
          </a:bodyPr>
          <a:lstStyle/>
          <a:p>
            <a:r>
              <a:rPr lang="en-CA" dirty="0" smtClean="0">
                <a:solidFill>
                  <a:schemeClr val="bg1"/>
                </a:solidFill>
              </a:rPr>
              <a:t>…</a:t>
            </a:r>
            <a:endParaRPr lang="en-CA" dirty="0">
              <a:solidFill>
                <a:schemeClr val="bg1"/>
              </a:solidFill>
            </a:endParaRPr>
          </a:p>
        </p:txBody>
      </p:sp>
      <p:sp>
        <p:nvSpPr>
          <p:cNvPr id="94" name="TextBox 93"/>
          <p:cNvSpPr txBox="1"/>
          <p:nvPr/>
        </p:nvSpPr>
        <p:spPr>
          <a:xfrm>
            <a:off x="6412468" y="5373511"/>
            <a:ext cx="415498" cy="369332"/>
          </a:xfrm>
          <a:prstGeom prst="rect">
            <a:avLst/>
          </a:prstGeom>
          <a:noFill/>
        </p:spPr>
        <p:txBody>
          <a:bodyPr wrap="none" rtlCol="0">
            <a:spAutoFit/>
          </a:bodyPr>
          <a:lstStyle/>
          <a:p>
            <a:r>
              <a:rPr lang="en-CA" dirty="0" smtClean="0">
                <a:solidFill>
                  <a:schemeClr val="bg1"/>
                </a:solidFill>
              </a:rPr>
              <a:t>…</a:t>
            </a:r>
            <a:endParaRPr lang="en-CA" dirty="0">
              <a:solidFill>
                <a:schemeClr val="bg1"/>
              </a:solidFill>
            </a:endParaRPr>
          </a:p>
        </p:txBody>
      </p:sp>
      <p:sp>
        <p:nvSpPr>
          <p:cNvPr id="96" name="Rectangle 95"/>
          <p:cNvSpPr/>
          <p:nvPr/>
        </p:nvSpPr>
        <p:spPr>
          <a:xfrm>
            <a:off x="9139386" y="5171515"/>
            <a:ext cx="1211564" cy="944774"/>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err="1" smtClean="0">
                <a:solidFill>
                  <a:schemeClr val="bg1"/>
                </a:solidFill>
              </a:rPr>
              <a:t>dir</a:t>
            </a:r>
            <a:endParaRPr lang="en-CA" altLang="zh-TW" dirty="0" smtClean="0">
              <a:solidFill>
                <a:schemeClr val="bg1"/>
              </a:solidFill>
            </a:endParaRPr>
          </a:p>
          <a:p>
            <a:pPr algn="ctr"/>
            <a:r>
              <a:rPr lang="en-CA" altLang="zh-TW" dirty="0" smtClean="0">
                <a:solidFill>
                  <a:schemeClr val="bg1"/>
                </a:solidFill>
              </a:rPr>
              <a:t>indirect</a:t>
            </a:r>
          </a:p>
          <a:p>
            <a:pPr algn="ctr"/>
            <a:r>
              <a:rPr lang="en-CA" altLang="zh-TW" dirty="0" smtClean="0">
                <a:solidFill>
                  <a:schemeClr val="bg1"/>
                </a:solidFill>
              </a:rPr>
              <a:t>block</a:t>
            </a:r>
            <a:endParaRPr lang="zh-TW" altLang="en-US" dirty="0">
              <a:solidFill>
                <a:schemeClr val="bg1"/>
              </a:solidFill>
            </a:endParaRPr>
          </a:p>
        </p:txBody>
      </p:sp>
      <p:cxnSp>
        <p:nvCxnSpPr>
          <p:cNvPr id="99" name="Straight Arrow Connector 96"/>
          <p:cNvCxnSpPr/>
          <p:nvPr/>
        </p:nvCxnSpPr>
        <p:spPr>
          <a:xfrm flipV="1">
            <a:off x="8619918" y="5643902"/>
            <a:ext cx="519468" cy="1"/>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00" name="Group 99"/>
          <p:cNvGrpSpPr/>
          <p:nvPr/>
        </p:nvGrpSpPr>
        <p:grpSpPr>
          <a:xfrm rot="5400000">
            <a:off x="5586278" y="4146564"/>
            <a:ext cx="327375" cy="584384"/>
            <a:chOff x="27236633" y="9932056"/>
            <a:chExt cx="578250" cy="990600"/>
          </a:xfrm>
        </p:grpSpPr>
        <p:cxnSp>
          <p:nvCxnSpPr>
            <p:cNvPr id="107" name="Straight Arrow Connector 106"/>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8" name="Straight Arrow Connector 107"/>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Straight Arrow Connector 108"/>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cxnSp>
        <p:nvCxnSpPr>
          <p:cNvPr id="98" name="Straight Arrow Connector 96"/>
          <p:cNvCxnSpPr>
            <a:stCxn id="92" idx="2"/>
          </p:cNvCxnSpPr>
          <p:nvPr/>
        </p:nvCxnSpPr>
        <p:spPr>
          <a:xfrm>
            <a:off x="8012230" y="6041678"/>
            <a:ext cx="0" cy="456314"/>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2" name="Straight Arrow Connector 96"/>
          <p:cNvCxnSpPr>
            <a:stCxn id="91" idx="2"/>
          </p:cNvCxnSpPr>
          <p:nvPr/>
        </p:nvCxnSpPr>
        <p:spPr>
          <a:xfrm>
            <a:off x="5469337" y="6041678"/>
            <a:ext cx="1" cy="462678"/>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3" name="Rectangle 102"/>
          <p:cNvSpPr/>
          <p:nvPr/>
        </p:nvSpPr>
        <p:spPr>
          <a:xfrm>
            <a:off x="2658434" y="5173486"/>
            <a:ext cx="1179762" cy="940832"/>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err="1" smtClean="0">
                <a:solidFill>
                  <a:schemeClr val="bg1"/>
                </a:solidFill>
              </a:rPr>
              <a:t>inode</a:t>
            </a:r>
            <a:endParaRPr lang="en-CA" altLang="zh-TW" dirty="0" smtClean="0">
              <a:solidFill>
                <a:schemeClr val="bg1"/>
              </a:solidFill>
            </a:endParaRPr>
          </a:p>
          <a:p>
            <a:pPr algn="ctr"/>
            <a:r>
              <a:rPr lang="en-CA" altLang="zh-TW" dirty="0" smtClean="0">
                <a:solidFill>
                  <a:schemeClr val="bg1"/>
                </a:solidFill>
              </a:rPr>
              <a:t>bitmap</a:t>
            </a:r>
            <a:endParaRPr lang="zh-TW" altLang="en-US" dirty="0">
              <a:solidFill>
                <a:schemeClr val="bg1"/>
              </a:solidFill>
            </a:endParaRPr>
          </a:p>
        </p:txBody>
      </p:sp>
      <p:grpSp>
        <p:nvGrpSpPr>
          <p:cNvPr id="104" name="Group 103"/>
          <p:cNvGrpSpPr/>
          <p:nvPr/>
        </p:nvGrpSpPr>
        <p:grpSpPr>
          <a:xfrm>
            <a:off x="3491843" y="3368423"/>
            <a:ext cx="1419770" cy="902183"/>
            <a:chOff x="2529818" y="2415923"/>
            <a:chExt cx="1419770" cy="902183"/>
          </a:xfrm>
        </p:grpSpPr>
        <p:sp>
          <p:nvSpPr>
            <p:cNvPr id="105" name="Rounded Rectangle 104"/>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solidFill>
                    <a:schemeClr val="tx1"/>
                  </a:solidFill>
                </a:rPr>
                <a:t>block group descriptor</a:t>
              </a:r>
              <a:endParaRPr lang="zh-TW" altLang="en-US" dirty="0">
                <a:solidFill>
                  <a:schemeClr val="tx1"/>
                </a:solidFill>
              </a:endParaRPr>
            </a:p>
          </p:txBody>
        </p:sp>
        <p:sp>
          <p:nvSpPr>
            <p:cNvPr id="106" name="Rectangle 105"/>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56" name="Rectangle 155"/>
          <p:cNvSpPr/>
          <p:nvPr/>
        </p:nvSpPr>
        <p:spPr>
          <a:xfrm>
            <a:off x="353577" y="2840357"/>
            <a:ext cx="1397435" cy="38904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i="1" dirty="0" smtClean="0">
                <a:solidFill>
                  <a:schemeClr val="bg1"/>
                </a:solidFill>
              </a:rPr>
              <a:t>block </a:t>
            </a:r>
            <a:r>
              <a:rPr lang="en-US" i="1" dirty="0" err="1" smtClean="0">
                <a:solidFill>
                  <a:schemeClr val="bg1"/>
                </a:solidFill>
              </a:rPr>
              <a:t>addr</a:t>
            </a:r>
            <a:endParaRPr lang="en-US" i="1" dirty="0">
              <a:solidFill>
                <a:schemeClr val="bg1"/>
              </a:solidFill>
            </a:endParaRPr>
          </a:p>
        </p:txBody>
      </p:sp>
      <p:sp>
        <p:nvSpPr>
          <p:cNvPr id="157" name="Rectangle 156"/>
          <p:cNvSpPr/>
          <p:nvPr/>
        </p:nvSpPr>
        <p:spPr>
          <a:xfrm>
            <a:off x="443927" y="4633482"/>
            <a:ext cx="1397435" cy="38904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i="1" dirty="0" smtClean="0">
                <a:solidFill>
                  <a:schemeClr val="bg1"/>
                </a:solidFill>
              </a:rPr>
              <a:t>block </a:t>
            </a:r>
            <a:r>
              <a:rPr lang="en-US" i="1" dirty="0" err="1" smtClean="0">
                <a:solidFill>
                  <a:schemeClr val="bg1"/>
                </a:solidFill>
              </a:rPr>
              <a:t>addr</a:t>
            </a:r>
            <a:endParaRPr lang="en-US" i="1" dirty="0">
              <a:solidFill>
                <a:schemeClr val="bg1"/>
              </a:solidFill>
            </a:endParaRPr>
          </a:p>
        </p:txBody>
      </p:sp>
      <p:sp>
        <p:nvSpPr>
          <p:cNvPr id="159" name="Rectangle 158"/>
          <p:cNvSpPr/>
          <p:nvPr/>
        </p:nvSpPr>
        <p:spPr>
          <a:xfrm>
            <a:off x="5057707" y="4633482"/>
            <a:ext cx="1397435" cy="38904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i="1" dirty="0" smtClean="0">
                <a:solidFill>
                  <a:schemeClr val="bg1"/>
                </a:solidFill>
              </a:rPr>
              <a:t>block </a:t>
            </a:r>
            <a:r>
              <a:rPr lang="en-US" i="1" dirty="0" err="1" smtClean="0">
                <a:solidFill>
                  <a:schemeClr val="bg1"/>
                </a:solidFill>
              </a:rPr>
              <a:t>addr</a:t>
            </a:r>
            <a:endParaRPr lang="en-US" i="1" dirty="0">
              <a:solidFill>
                <a:schemeClr val="bg1"/>
              </a:solidFill>
            </a:endParaRPr>
          </a:p>
        </p:txBody>
      </p:sp>
      <p:sp>
        <p:nvSpPr>
          <p:cNvPr id="160" name="Rectangle 159"/>
          <p:cNvSpPr/>
          <p:nvPr/>
        </p:nvSpPr>
        <p:spPr>
          <a:xfrm>
            <a:off x="4833432" y="6442789"/>
            <a:ext cx="1397435" cy="38904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i="1" dirty="0" smtClean="0">
                <a:solidFill>
                  <a:schemeClr val="bg1"/>
                </a:solidFill>
              </a:rPr>
              <a:t>block </a:t>
            </a:r>
            <a:r>
              <a:rPr lang="en-US" i="1" dirty="0" err="1" smtClean="0">
                <a:solidFill>
                  <a:schemeClr val="bg1"/>
                </a:solidFill>
              </a:rPr>
              <a:t>addr</a:t>
            </a:r>
            <a:endParaRPr lang="en-US" i="1" dirty="0">
              <a:solidFill>
                <a:schemeClr val="bg1"/>
              </a:solidFill>
            </a:endParaRPr>
          </a:p>
        </p:txBody>
      </p:sp>
      <p:sp>
        <p:nvSpPr>
          <p:cNvPr id="161" name="Rectangle 160"/>
          <p:cNvSpPr/>
          <p:nvPr/>
        </p:nvSpPr>
        <p:spPr>
          <a:xfrm>
            <a:off x="9218612" y="6442789"/>
            <a:ext cx="1397435" cy="38904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i="1" dirty="0" smtClean="0">
                <a:solidFill>
                  <a:schemeClr val="bg1"/>
                </a:solidFill>
              </a:rPr>
              <a:t>block </a:t>
            </a:r>
            <a:r>
              <a:rPr lang="en-US" i="1" dirty="0" err="1" smtClean="0">
                <a:solidFill>
                  <a:schemeClr val="bg1"/>
                </a:solidFill>
              </a:rPr>
              <a:t>addr</a:t>
            </a:r>
            <a:endParaRPr lang="en-US" i="1" dirty="0">
              <a:solidFill>
                <a:schemeClr val="bg1"/>
              </a:solidFill>
            </a:endParaRPr>
          </a:p>
        </p:txBody>
      </p:sp>
      <p:sp>
        <p:nvSpPr>
          <p:cNvPr id="162" name="Rectangle 161"/>
          <p:cNvSpPr/>
          <p:nvPr/>
        </p:nvSpPr>
        <p:spPr>
          <a:xfrm>
            <a:off x="7522606" y="6442789"/>
            <a:ext cx="1397435" cy="38904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i="1" dirty="0" smtClean="0">
                <a:solidFill>
                  <a:schemeClr val="bg1"/>
                </a:solidFill>
              </a:rPr>
              <a:t>block </a:t>
            </a:r>
            <a:r>
              <a:rPr lang="en-US" i="1" dirty="0" err="1" smtClean="0">
                <a:solidFill>
                  <a:schemeClr val="bg1"/>
                </a:solidFill>
              </a:rPr>
              <a:t>addr</a:t>
            </a:r>
            <a:endParaRPr lang="en-US" i="1" dirty="0">
              <a:solidFill>
                <a:schemeClr val="bg1"/>
              </a:solidFill>
            </a:endParaRPr>
          </a:p>
        </p:txBody>
      </p:sp>
      <p:sp>
        <p:nvSpPr>
          <p:cNvPr id="163" name="Rectangle 162"/>
          <p:cNvSpPr/>
          <p:nvPr/>
        </p:nvSpPr>
        <p:spPr>
          <a:xfrm>
            <a:off x="2415911" y="2106494"/>
            <a:ext cx="5163845" cy="932851"/>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13769258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Rectangle 35"/>
          <p:cNvSpPr/>
          <p:nvPr/>
        </p:nvSpPr>
        <p:spPr>
          <a:xfrm>
            <a:off x="6038754" y="3588818"/>
            <a:ext cx="3187275" cy="672168"/>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ext4 journal</a:t>
            </a:r>
            <a:endParaRPr lang="zh-TW" altLang="en-US" dirty="0">
              <a:solidFill>
                <a:schemeClr val="bg1"/>
              </a:solidFill>
            </a:endParaRPr>
          </a:p>
        </p:txBody>
      </p:sp>
      <p:sp>
        <p:nvSpPr>
          <p:cNvPr id="2" name="Title 1"/>
          <p:cNvSpPr>
            <a:spLocks noGrp="1"/>
          </p:cNvSpPr>
          <p:nvPr>
            <p:ph type="title"/>
          </p:nvPr>
        </p:nvSpPr>
        <p:spPr/>
        <p:txBody>
          <a:bodyPr/>
          <a:lstStyle/>
          <a:p>
            <a:r>
              <a:rPr lang="en-CA" dirty="0" smtClean="0"/>
              <a:t>File Address Space</a:t>
            </a:r>
            <a:endParaRPr lang="en-CA" dirty="0"/>
          </a:p>
        </p:txBody>
      </p:sp>
      <p:sp>
        <p:nvSpPr>
          <p:cNvPr id="3" name="Content Placeholder 2"/>
          <p:cNvSpPr>
            <a:spLocks noGrp="1"/>
          </p:cNvSpPr>
          <p:nvPr>
            <p:ph idx="1"/>
          </p:nvPr>
        </p:nvSpPr>
        <p:spPr>
          <a:xfrm>
            <a:off x="684211" y="1450020"/>
            <a:ext cx="10285797" cy="4656842"/>
          </a:xfrm>
        </p:spPr>
        <p:txBody>
          <a:bodyPr/>
          <a:lstStyle/>
          <a:p>
            <a:r>
              <a:rPr lang="en-CA" dirty="0"/>
              <a:t>File address is an index into the </a:t>
            </a:r>
            <a:r>
              <a:rPr lang="en-CA" dirty="0" err="1"/>
              <a:t>inode</a:t>
            </a:r>
            <a:r>
              <a:rPr lang="en-CA" dirty="0"/>
              <a:t> </a:t>
            </a:r>
            <a:r>
              <a:rPr lang="en-CA" dirty="0" smtClean="0"/>
              <a:t>table for a file</a:t>
            </a:r>
          </a:p>
          <a:p>
            <a:pPr lvl="1"/>
            <a:r>
              <a:rPr lang="en-CA" dirty="0" smtClean="0"/>
              <a:t>E.g. Ext4 journal is stored as a regular file  </a:t>
            </a:r>
          </a:p>
          <a:p>
            <a:pPr lvl="1"/>
            <a:r>
              <a:rPr lang="en-CA" dirty="0" smtClean="0"/>
              <a:t>Regular file may be physically discontiguous</a:t>
            </a:r>
          </a:p>
          <a:p>
            <a:pPr lvl="1"/>
            <a:r>
              <a:rPr lang="en-CA" dirty="0" smtClean="0"/>
              <a:t>Requires </a:t>
            </a:r>
            <a:r>
              <a:rPr lang="en-CA" dirty="0"/>
              <a:t>mapping </a:t>
            </a:r>
            <a:r>
              <a:rPr lang="en-CA" dirty="0" smtClean="0"/>
              <a:t>logical </a:t>
            </a:r>
            <a:r>
              <a:rPr lang="en-CA" dirty="0"/>
              <a:t>blocks of the </a:t>
            </a:r>
            <a:r>
              <a:rPr lang="en-CA" dirty="0" smtClean="0"/>
              <a:t>file to </a:t>
            </a:r>
            <a:r>
              <a:rPr lang="en-CA" dirty="0"/>
              <a:t>their physical </a:t>
            </a:r>
            <a:r>
              <a:rPr lang="en-CA" dirty="0" smtClean="0"/>
              <a:t>locations</a:t>
            </a:r>
            <a:endParaRPr lang="en-CA" dirty="0"/>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16</a:t>
            </a:fld>
            <a:endParaRPr lang="en-CA" dirty="0"/>
          </a:p>
        </p:txBody>
      </p:sp>
      <p:sp>
        <p:nvSpPr>
          <p:cNvPr id="61" name="Rectangle 60"/>
          <p:cNvSpPr/>
          <p:nvPr/>
        </p:nvSpPr>
        <p:spPr>
          <a:xfrm>
            <a:off x="6438235" y="5793262"/>
            <a:ext cx="3743989" cy="445613"/>
          </a:xfrm>
          <a:prstGeom prst="rect">
            <a:avLst/>
          </a:prstGeom>
          <a:solidFill>
            <a:schemeClr val="tx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ext4 journal on physical disk</a:t>
            </a:r>
            <a:endParaRPr lang="en-US" dirty="0">
              <a:solidFill>
                <a:schemeClr val="bg1"/>
              </a:solidFill>
            </a:endParaRPr>
          </a:p>
        </p:txBody>
      </p:sp>
      <p:cxnSp>
        <p:nvCxnSpPr>
          <p:cNvPr id="70" name="Straight Connector 69"/>
          <p:cNvCxnSpPr/>
          <p:nvPr/>
        </p:nvCxnSpPr>
        <p:spPr>
          <a:xfrm>
            <a:off x="7264634" y="4280417"/>
            <a:ext cx="764079" cy="764065"/>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78" name="Rectangle 77"/>
          <p:cNvSpPr/>
          <p:nvPr/>
        </p:nvSpPr>
        <p:spPr>
          <a:xfrm>
            <a:off x="6038754" y="4989148"/>
            <a:ext cx="1193124" cy="680289"/>
          </a:xfrm>
          <a:prstGeom prst="rect">
            <a:avLst/>
          </a:prstGeom>
          <a:solidFill>
            <a:schemeClr val="accent5">
              <a:lumMod val="40000"/>
              <a:lumOff val="6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90" name="Straight Connector 89"/>
          <p:cNvCxnSpPr/>
          <p:nvPr/>
        </p:nvCxnSpPr>
        <p:spPr>
          <a:xfrm>
            <a:off x="7846774" y="4270294"/>
            <a:ext cx="1373629" cy="727160"/>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4" name="Straight Arrow Connector 33"/>
          <p:cNvCxnSpPr/>
          <p:nvPr/>
        </p:nvCxnSpPr>
        <p:spPr>
          <a:xfrm>
            <a:off x="1885782" y="4262138"/>
            <a:ext cx="0" cy="458985"/>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1306371" y="3588818"/>
            <a:ext cx="1103217" cy="672168"/>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super</a:t>
            </a:r>
          </a:p>
          <a:p>
            <a:pPr algn="ctr"/>
            <a:r>
              <a:rPr lang="en-CA" altLang="zh-TW" dirty="0" smtClean="0">
                <a:solidFill>
                  <a:schemeClr val="bg1"/>
                </a:solidFill>
              </a:rPr>
              <a:t>block</a:t>
            </a:r>
            <a:endParaRPr lang="zh-TW" altLang="en-US" dirty="0">
              <a:solidFill>
                <a:schemeClr val="bg1"/>
              </a:solidFill>
            </a:endParaRPr>
          </a:p>
        </p:txBody>
      </p:sp>
      <p:cxnSp>
        <p:nvCxnSpPr>
          <p:cNvPr id="37" name="Straight Arrow Connector 36"/>
          <p:cNvCxnSpPr>
            <a:stCxn id="35" idx="3"/>
            <a:endCxn id="36" idx="1"/>
          </p:cNvCxnSpPr>
          <p:nvPr/>
        </p:nvCxnSpPr>
        <p:spPr>
          <a:xfrm>
            <a:off x="2409588" y="3924902"/>
            <a:ext cx="3629166"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8" name="Rectangle 37"/>
          <p:cNvSpPr/>
          <p:nvPr/>
        </p:nvSpPr>
        <p:spPr>
          <a:xfrm>
            <a:off x="1306370" y="4721123"/>
            <a:ext cx="4342405" cy="105981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39" name="Rectangle 38"/>
          <p:cNvSpPr/>
          <p:nvPr/>
        </p:nvSpPr>
        <p:spPr>
          <a:xfrm>
            <a:off x="1390086" y="4808590"/>
            <a:ext cx="2002008" cy="631849"/>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block group descriptor table</a:t>
            </a:r>
            <a:endParaRPr lang="en-US" dirty="0">
              <a:solidFill>
                <a:schemeClr val="bg1"/>
              </a:solidFill>
            </a:endParaRPr>
          </a:p>
        </p:txBody>
      </p:sp>
      <p:cxnSp>
        <p:nvCxnSpPr>
          <p:cNvPr id="40" name="Straight Arrow Connector 96"/>
          <p:cNvCxnSpPr>
            <a:stCxn id="51" idx="2"/>
          </p:cNvCxnSpPr>
          <p:nvPr/>
        </p:nvCxnSpPr>
        <p:spPr>
          <a:xfrm rot="5400000">
            <a:off x="2426982" y="5168630"/>
            <a:ext cx="902880" cy="1964333"/>
          </a:xfrm>
          <a:prstGeom prst="bentConnector3">
            <a:avLst>
              <a:gd name="adj1" fmla="val 27846"/>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96"/>
          <p:cNvCxnSpPr>
            <a:stCxn id="50" idx="2"/>
          </p:cNvCxnSpPr>
          <p:nvPr/>
        </p:nvCxnSpPr>
        <p:spPr>
          <a:xfrm rot="5400000">
            <a:off x="3264132" y="5664640"/>
            <a:ext cx="921780" cy="953413"/>
          </a:xfrm>
          <a:prstGeom prst="bentConnector3">
            <a:avLst>
              <a:gd name="adj1" fmla="val 50000"/>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96"/>
          <p:cNvCxnSpPr/>
          <p:nvPr/>
        </p:nvCxnSpPr>
        <p:spPr>
          <a:xfrm>
            <a:off x="4501271" y="5670303"/>
            <a:ext cx="0" cy="929962"/>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5069987" y="4979869"/>
            <a:ext cx="415498" cy="369332"/>
          </a:xfrm>
          <a:prstGeom prst="rect">
            <a:avLst/>
          </a:prstGeom>
          <a:noFill/>
        </p:spPr>
        <p:txBody>
          <a:bodyPr wrap="none" rtlCol="0">
            <a:spAutoFit/>
          </a:bodyPr>
          <a:lstStyle/>
          <a:p>
            <a:r>
              <a:rPr lang="en-CA" dirty="0" smtClean="0">
                <a:solidFill>
                  <a:schemeClr val="bg1"/>
                </a:solidFill>
              </a:rPr>
              <a:t>…</a:t>
            </a:r>
            <a:endParaRPr lang="en-CA" dirty="0">
              <a:solidFill>
                <a:schemeClr val="bg1"/>
              </a:solidFill>
            </a:endParaRPr>
          </a:p>
        </p:txBody>
      </p:sp>
      <p:grpSp>
        <p:nvGrpSpPr>
          <p:cNvPr id="49" name="Group 48"/>
          <p:cNvGrpSpPr/>
          <p:nvPr/>
        </p:nvGrpSpPr>
        <p:grpSpPr>
          <a:xfrm>
            <a:off x="3491843" y="4797173"/>
            <a:ext cx="1419770" cy="902183"/>
            <a:chOff x="2529818" y="2415923"/>
            <a:chExt cx="1419770" cy="902183"/>
          </a:xfrm>
        </p:grpSpPr>
        <p:sp>
          <p:nvSpPr>
            <p:cNvPr id="50" name="Rounded Rectangle 49"/>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solidFill>
                    <a:schemeClr val="tx1"/>
                  </a:solidFill>
                </a:rPr>
                <a:t>block group descriptor</a:t>
              </a:r>
              <a:endParaRPr lang="zh-TW" altLang="en-US" dirty="0">
                <a:solidFill>
                  <a:schemeClr val="tx1"/>
                </a:solidFill>
              </a:endParaRPr>
            </a:p>
          </p:txBody>
        </p:sp>
        <p:sp>
          <p:nvSpPr>
            <p:cNvPr id="51" name="Rectangle 50"/>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54" name="Rectangle 53"/>
          <p:cNvSpPr/>
          <p:nvPr/>
        </p:nvSpPr>
        <p:spPr>
          <a:xfrm>
            <a:off x="353577" y="4269107"/>
            <a:ext cx="1397435" cy="38904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i="1" dirty="0" smtClean="0">
                <a:solidFill>
                  <a:schemeClr val="bg1"/>
                </a:solidFill>
              </a:rPr>
              <a:t>block </a:t>
            </a:r>
            <a:r>
              <a:rPr lang="en-US" i="1" dirty="0" err="1" smtClean="0">
                <a:solidFill>
                  <a:schemeClr val="bg1"/>
                </a:solidFill>
              </a:rPr>
              <a:t>addr</a:t>
            </a:r>
            <a:endParaRPr lang="en-US" i="1" dirty="0">
              <a:solidFill>
                <a:schemeClr val="bg1"/>
              </a:solidFill>
            </a:endParaRPr>
          </a:p>
        </p:txBody>
      </p:sp>
      <p:sp>
        <p:nvSpPr>
          <p:cNvPr id="55" name="Rectangle 54"/>
          <p:cNvSpPr/>
          <p:nvPr/>
        </p:nvSpPr>
        <p:spPr>
          <a:xfrm>
            <a:off x="443927" y="6062232"/>
            <a:ext cx="1397435" cy="38904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i="1" dirty="0" smtClean="0">
                <a:solidFill>
                  <a:schemeClr val="bg1"/>
                </a:solidFill>
              </a:rPr>
              <a:t>block </a:t>
            </a:r>
            <a:r>
              <a:rPr lang="en-US" i="1" dirty="0" err="1" smtClean="0">
                <a:solidFill>
                  <a:schemeClr val="bg1"/>
                </a:solidFill>
              </a:rPr>
              <a:t>addr</a:t>
            </a:r>
            <a:endParaRPr lang="en-US" i="1" dirty="0">
              <a:solidFill>
                <a:schemeClr val="bg1"/>
              </a:solidFill>
            </a:endParaRPr>
          </a:p>
        </p:txBody>
      </p:sp>
      <p:sp>
        <p:nvSpPr>
          <p:cNvPr id="5" name="Rectangle 4"/>
          <p:cNvSpPr/>
          <p:nvPr/>
        </p:nvSpPr>
        <p:spPr>
          <a:xfrm>
            <a:off x="353577" y="4260986"/>
            <a:ext cx="5494773" cy="2444614"/>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1" name="Rectangle 70"/>
          <p:cNvSpPr/>
          <p:nvPr/>
        </p:nvSpPr>
        <p:spPr>
          <a:xfrm>
            <a:off x="9226029" y="4989148"/>
            <a:ext cx="1442717" cy="680289"/>
          </a:xfrm>
          <a:prstGeom prst="rect">
            <a:avLst/>
          </a:prstGeom>
          <a:solidFill>
            <a:schemeClr val="accent5">
              <a:lumMod val="40000"/>
              <a:lumOff val="6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2" name="Rectangle 71"/>
          <p:cNvSpPr/>
          <p:nvPr/>
        </p:nvSpPr>
        <p:spPr>
          <a:xfrm>
            <a:off x="8018085" y="4989148"/>
            <a:ext cx="521848" cy="680289"/>
          </a:xfrm>
          <a:prstGeom prst="rect">
            <a:avLst/>
          </a:prstGeom>
          <a:solidFill>
            <a:schemeClr val="accent5">
              <a:lumMod val="40000"/>
              <a:lumOff val="6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75" name="Straight Connector 74"/>
          <p:cNvCxnSpPr/>
          <p:nvPr/>
        </p:nvCxnSpPr>
        <p:spPr>
          <a:xfrm>
            <a:off x="7788509" y="4251842"/>
            <a:ext cx="764079" cy="764065"/>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77" name="Straight Connector 76"/>
          <p:cNvCxnSpPr/>
          <p:nvPr/>
        </p:nvCxnSpPr>
        <p:spPr>
          <a:xfrm>
            <a:off x="9257760" y="4270294"/>
            <a:ext cx="1373629" cy="727160"/>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83" name="Straight Connector 82"/>
          <p:cNvCxnSpPr/>
          <p:nvPr/>
        </p:nvCxnSpPr>
        <p:spPr>
          <a:xfrm flipH="1">
            <a:off x="6035005" y="4243035"/>
            <a:ext cx="3706" cy="801447"/>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86" name="Straight Connector 85"/>
          <p:cNvCxnSpPr/>
          <p:nvPr/>
        </p:nvCxnSpPr>
        <p:spPr>
          <a:xfrm flipH="1">
            <a:off x="7225591" y="4259166"/>
            <a:ext cx="3706" cy="801447"/>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88" name="Rectangle 87"/>
          <p:cNvSpPr/>
          <p:nvPr/>
        </p:nvSpPr>
        <p:spPr>
          <a:xfrm>
            <a:off x="6061703" y="4987386"/>
            <a:ext cx="4607043" cy="672168"/>
          </a:xfrm>
          <a:prstGeom prst="rect">
            <a:avLst/>
          </a:prstGeom>
          <a:noFill/>
          <a:ln w="1905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bg1"/>
              </a:solidFill>
            </a:endParaRPr>
          </a:p>
        </p:txBody>
      </p:sp>
      <p:cxnSp>
        <p:nvCxnSpPr>
          <p:cNvPr id="91" name="Straight Connector 90"/>
          <p:cNvCxnSpPr/>
          <p:nvPr/>
        </p:nvCxnSpPr>
        <p:spPr>
          <a:xfrm>
            <a:off x="7248084" y="3588818"/>
            <a:ext cx="0" cy="691599"/>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92" name="Straight Connector 91"/>
          <p:cNvCxnSpPr/>
          <p:nvPr/>
        </p:nvCxnSpPr>
        <p:spPr>
          <a:xfrm>
            <a:off x="7807118" y="3588818"/>
            <a:ext cx="0" cy="663742"/>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394444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Missing Pointer</a:t>
            </a:r>
            <a:endParaRPr lang="en-CA" dirty="0"/>
          </a:p>
        </p:txBody>
      </p:sp>
      <p:sp>
        <p:nvSpPr>
          <p:cNvPr id="3" name="Content Placeholder 2"/>
          <p:cNvSpPr>
            <a:spLocks noGrp="1"/>
          </p:cNvSpPr>
          <p:nvPr>
            <p:ph idx="1"/>
          </p:nvPr>
        </p:nvSpPr>
        <p:spPr>
          <a:xfrm>
            <a:off x="617537" y="1770259"/>
            <a:ext cx="9949352" cy="4279386"/>
          </a:xfrm>
        </p:spPr>
        <p:txBody>
          <a:bodyPr/>
          <a:lstStyle/>
          <a:p>
            <a:r>
              <a:rPr lang="en-CA" dirty="0" smtClean="0"/>
              <a:t>Locations of some structures are implicit in the code</a:t>
            </a:r>
          </a:p>
          <a:p>
            <a:r>
              <a:rPr lang="en-CA" dirty="0" smtClean="0"/>
              <a:t>E.g. Ext4 block group descriptor table is the next block following the super block</a:t>
            </a:r>
          </a:p>
          <a:p>
            <a:pPr lvl="1"/>
            <a:r>
              <a:rPr lang="en-CA" dirty="0" smtClean="0"/>
              <a:t>Ext4 super block does not have a </a:t>
            </a:r>
            <a:br>
              <a:rPr lang="en-CA" dirty="0" smtClean="0"/>
            </a:br>
            <a:r>
              <a:rPr lang="en-CA" dirty="0" smtClean="0"/>
              <a:t>field that points to descriptor table</a:t>
            </a:r>
          </a:p>
          <a:p>
            <a:pPr lvl="1"/>
            <a:r>
              <a:rPr lang="en-CA" dirty="0" smtClean="0"/>
              <a:t>Pointer required for file system </a:t>
            </a:r>
            <a:br>
              <a:rPr lang="en-CA" dirty="0" smtClean="0"/>
            </a:br>
            <a:r>
              <a:rPr lang="en-CA" dirty="0" smtClean="0"/>
              <a:t>traversal</a:t>
            </a:r>
          </a:p>
        </p:txBody>
      </p:sp>
      <p:sp>
        <p:nvSpPr>
          <p:cNvPr id="4" name="Slide Number Placeholder 3"/>
          <p:cNvSpPr>
            <a:spLocks noGrp="1"/>
          </p:cNvSpPr>
          <p:nvPr>
            <p:ph type="sldNum" sz="quarter" idx="12"/>
          </p:nvPr>
        </p:nvSpPr>
        <p:spPr/>
        <p:txBody>
          <a:bodyPr/>
          <a:lstStyle/>
          <a:p>
            <a:fld id="{7B2023C8-B124-43A9-8F92-0EEF5BAA9995}" type="slidenum">
              <a:rPr lang="en-CA" smtClean="0"/>
              <a:pPr/>
              <a:t>17</a:t>
            </a:fld>
            <a:endParaRPr lang="en-CA" dirty="0"/>
          </a:p>
        </p:txBody>
      </p:sp>
      <p:cxnSp>
        <p:nvCxnSpPr>
          <p:cNvPr id="76" name="Straight Arrow Connector 75"/>
          <p:cNvCxnSpPr/>
          <p:nvPr/>
        </p:nvCxnSpPr>
        <p:spPr>
          <a:xfrm>
            <a:off x="7915107" y="4032386"/>
            <a:ext cx="0" cy="593487"/>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77" name="Rectangle 76"/>
          <p:cNvSpPr/>
          <p:nvPr/>
        </p:nvSpPr>
        <p:spPr>
          <a:xfrm>
            <a:off x="7335696" y="3360218"/>
            <a:ext cx="1103217" cy="672168"/>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super</a:t>
            </a:r>
          </a:p>
          <a:p>
            <a:pPr algn="ctr"/>
            <a:r>
              <a:rPr lang="en-CA" altLang="zh-TW" dirty="0" smtClean="0">
                <a:solidFill>
                  <a:schemeClr val="bg1"/>
                </a:solidFill>
              </a:rPr>
              <a:t>block</a:t>
            </a:r>
            <a:endParaRPr lang="zh-TW" altLang="en-US" dirty="0">
              <a:solidFill>
                <a:schemeClr val="bg1"/>
              </a:solidFill>
            </a:endParaRPr>
          </a:p>
        </p:txBody>
      </p:sp>
      <p:sp>
        <p:nvSpPr>
          <p:cNvPr id="78" name="Rectangle 77"/>
          <p:cNvSpPr/>
          <p:nvPr/>
        </p:nvSpPr>
        <p:spPr>
          <a:xfrm>
            <a:off x="9905025" y="3360218"/>
            <a:ext cx="1972651" cy="672168"/>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ext4 journal</a:t>
            </a:r>
            <a:endParaRPr lang="zh-TW" altLang="en-US" dirty="0">
              <a:solidFill>
                <a:schemeClr val="bg1"/>
              </a:solidFill>
            </a:endParaRPr>
          </a:p>
        </p:txBody>
      </p:sp>
      <p:cxnSp>
        <p:nvCxnSpPr>
          <p:cNvPr id="79" name="Straight Arrow Connector 78"/>
          <p:cNvCxnSpPr>
            <a:stCxn id="77" idx="3"/>
            <a:endCxn id="78" idx="1"/>
          </p:cNvCxnSpPr>
          <p:nvPr/>
        </p:nvCxnSpPr>
        <p:spPr>
          <a:xfrm>
            <a:off x="8438913" y="3696302"/>
            <a:ext cx="1466112"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0" name="Rectangle 79"/>
          <p:cNvSpPr/>
          <p:nvPr/>
        </p:nvSpPr>
        <p:spPr>
          <a:xfrm>
            <a:off x="7335695" y="4625873"/>
            <a:ext cx="4541981" cy="105981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81" name="Rectangle 80"/>
          <p:cNvSpPr/>
          <p:nvPr/>
        </p:nvSpPr>
        <p:spPr>
          <a:xfrm>
            <a:off x="7419411" y="4713340"/>
            <a:ext cx="2002008" cy="631849"/>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block group descriptor table</a:t>
            </a:r>
            <a:endParaRPr lang="en-US" dirty="0">
              <a:solidFill>
                <a:schemeClr val="bg1"/>
              </a:solidFill>
            </a:endParaRPr>
          </a:p>
        </p:txBody>
      </p:sp>
      <p:cxnSp>
        <p:nvCxnSpPr>
          <p:cNvPr id="82" name="Straight Arrow Connector 96"/>
          <p:cNvCxnSpPr>
            <a:stCxn id="90" idx="2"/>
          </p:cNvCxnSpPr>
          <p:nvPr/>
        </p:nvCxnSpPr>
        <p:spPr>
          <a:xfrm rot="5400000">
            <a:off x="8456307" y="5073380"/>
            <a:ext cx="902880" cy="1964333"/>
          </a:xfrm>
          <a:prstGeom prst="bentConnector3">
            <a:avLst>
              <a:gd name="adj1" fmla="val 27846"/>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Straight Arrow Connector 96"/>
          <p:cNvCxnSpPr>
            <a:stCxn id="89" idx="2"/>
          </p:cNvCxnSpPr>
          <p:nvPr/>
        </p:nvCxnSpPr>
        <p:spPr>
          <a:xfrm rot="5400000">
            <a:off x="9293457" y="5569390"/>
            <a:ext cx="921780" cy="953413"/>
          </a:xfrm>
          <a:prstGeom prst="bentConnector3">
            <a:avLst>
              <a:gd name="adj1" fmla="val 50000"/>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96"/>
          <p:cNvCxnSpPr/>
          <p:nvPr/>
        </p:nvCxnSpPr>
        <p:spPr>
          <a:xfrm>
            <a:off x="10530596" y="5575053"/>
            <a:ext cx="0" cy="929962"/>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5" name="TextBox 84"/>
          <p:cNvSpPr txBox="1"/>
          <p:nvPr/>
        </p:nvSpPr>
        <p:spPr>
          <a:xfrm>
            <a:off x="11275119" y="4865740"/>
            <a:ext cx="415498" cy="369332"/>
          </a:xfrm>
          <a:prstGeom prst="rect">
            <a:avLst/>
          </a:prstGeom>
          <a:noFill/>
        </p:spPr>
        <p:txBody>
          <a:bodyPr wrap="none" rtlCol="0">
            <a:spAutoFit/>
          </a:bodyPr>
          <a:lstStyle/>
          <a:p>
            <a:r>
              <a:rPr lang="en-CA" dirty="0" smtClean="0">
                <a:solidFill>
                  <a:schemeClr val="bg1"/>
                </a:solidFill>
              </a:rPr>
              <a:t>…</a:t>
            </a:r>
            <a:endParaRPr lang="en-CA" dirty="0">
              <a:solidFill>
                <a:schemeClr val="bg1"/>
              </a:solidFill>
            </a:endParaRPr>
          </a:p>
        </p:txBody>
      </p:sp>
      <p:grpSp>
        <p:nvGrpSpPr>
          <p:cNvPr id="86" name="Group 85"/>
          <p:cNvGrpSpPr/>
          <p:nvPr/>
        </p:nvGrpSpPr>
        <p:grpSpPr>
          <a:xfrm>
            <a:off x="9521168" y="4701923"/>
            <a:ext cx="1419770" cy="902183"/>
            <a:chOff x="2529818" y="2415923"/>
            <a:chExt cx="1419770" cy="902183"/>
          </a:xfrm>
        </p:grpSpPr>
        <p:sp>
          <p:nvSpPr>
            <p:cNvPr id="89" name="Rounded Rectangle 88"/>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solidFill>
                    <a:schemeClr val="tx1"/>
                  </a:solidFill>
                </a:rPr>
                <a:t>block group descriptor</a:t>
              </a:r>
              <a:endParaRPr lang="zh-TW" altLang="en-US" dirty="0">
                <a:solidFill>
                  <a:schemeClr val="tx1"/>
                </a:solidFill>
              </a:endParaRPr>
            </a:p>
          </p:txBody>
        </p:sp>
        <p:sp>
          <p:nvSpPr>
            <p:cNvPr id="90" name="Rectangle 89"/>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87" name="Rectangle 86"/>
          <p:cNvSpPr/>
          <p:nvPr/>
        </p:nvSpPr>
        <p:spPr>
          <a:xfrm>
            <a:off x="5915025" y="4032386"/>
            <a:ext cx="1865313" cy="5934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1" dirty="0" smtClean="0">
                <a:solidFill>
                  <a:schemeClr val="bg1"/>
                </a:solidFill>
              </a:rPr>
              <a:t>missing pointer</a:t>
            </a:r>
          </a:p>
        </p:txBody>
      </p:sp>
      <p:sp>
        <p:nvSpPr>
          <p:cNvPr id="88" name="Rectangle 87"/>
          <p:cNvSpPr/>
          <p:nvPr/>
        </p:nvSpPr>
        <p:spPr>
          <a:xfrm>
            <a:off x="8454683" y="3235838"/>
            <a:ext cx="3532877" cy="932851"/>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3254910696"/>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Implicit Pointer</a:t>
            </a:r>
            <a:endParaRPr lang="en-CA" dirty="0"/>
          </a:p>
        </p:txBody>
      </p:sp>
      <p:sp>
        <p:nvSpPr>
          <p:cNvPr id="3" name="Content Placeholder 2"/>
          <p:cNvSpPr>
            <a:spLocks noGrp="1"/>
          </p:cNvSpPr>
          <p:nvPr>
            <p:ph idx="1"/>
          </p:nvPr>
        </p:nvSpPr>
        <p:spPr>
          <a:xfrm>
            <a:off x="684211" y="1515358"/>
            <a:ext cx="10285797" cy="2205149"/>
          </a:xfrm>
        </p:spPr>
        <p:txBody>
          <a:bodyPr/>
          <a:lstStyle/>
          <a:p>
            <a:r>
              <a:rPr lang="en-CA" dirty="0" smtClean="0"/>
              <a:t>Solution: Implicit pointer annotation</a:t>
            </a:r>
          </a:p>
          <a:p>
            <a:pPr lvl="1"/>
            <a:r>
              <a:rPr lang="en-CA" i="1" dirty="0" smtClean="0"/>
              <a:t>name</a:t>
            </a:r>
            <a:r>
              <a:rPr lang="en-CA" dirty="0" smtClean="0"/>
              <a:t> creates a logical pointer field that can be dereferenced</a:t>
            </a:r>
          </a:p>
          <a:p>
            <a:pPr lvl="1"/>
            <a:r>
              <a:rPr lang="en-CA" i="1" dirty="0"/>
              <a:t>expr </a:t>
            </a:r>
            <a:r>
              <a:rPr lang="en-CA" dirty="0" smtClean="0"/>
              <a:t>is a C expression that specifies </a:t>
            </a:r>
            <a:r>
              <a:rPr lang="en-CA" dirty="0"/>
              <a:t>how to </a:t>
            </a:r>
            <a:r>
              <a:rPr lang="en-CA" dirty="0" smtClean="0"/>
              <a:t>calculate the field value</a:t>
            </a:r>
            <a:endParaRPr lang="en-CA" dirty="0"/>
          </a:p>
          <a:p>
            <a:pPr lvl="2"/>
            <a:r>
              <a:rPr lang="en-CA" dirty="0"/>
              <a:t>Expression can reference other fields in the structure</a:t>
            </a:r>
          </a:p>
          <a:p>
            <a:pPr lvl="1"/>
            <a:endParaRPr lang="en-CA" i="1" dirty="0" smtClean="0"/>
          </a:p>
        </p:txBody>
      </p:sp>
      <p:sp>
        <p:nvSpPr>
          <p:cNvPr id="4" name="Slide Number Placeholder 3"/>
          <p:cNvSpPr>
            <a:spLocks noGrp="1"/>
          </p:cNvSpPr>
          <p:nvPr>
            <p:ph type="sldNum" sz="quarter" idx="12"/>
          </p:nvPr>
        </p:nvSpPr>
        <p:spPr/>
        <p:txBody>
          <a:bodyPr/>
          <a:lstStyle/>
          <a:p>
            <a:fld id="{7B2023C8-B124-43A9-8F92-0EEF5BAA9995}" type="slidenum">
              <a:rPr lang="en-CA" smtClean="0"/>
              <a:pPr/>
              <a:t>18</a:t>
            </a:fld>
            <a:endParaRPr lang="en-CA" dirty="0"/>
          </a:p>
        </p:txBody>
      </p:sp>
      <p:sp>
        <p:nvSpPr>
          <p:cNvPr id="5" name="Rectangle 4"/>
          <p:cNvSpPr/>
          <p:nvPr/>
        </p:nvSpPr>
        <p:spPr>
          <a:xfrm>
            <a:off x="87545" y="3729990"/>
            <a:ext cx="7253468" cy="2246769"/>
          </a:xfrm>
          <a:prstGeom prst="rect">
            <a:avLst/>
          </a:prstGeom>
        </p:spPr>
        <p:txBody>
          <a:bodyPr wrap="square">
            <a:spAutoFit/>
          </a:bodyPr>
          <a:lstStyle/>
          <a:p>
            <a:r>
              <a:rPr lang="en-CA" sz="2000" b="1" dirty="0" smtClean="0">
                <a:solidFill>
                  <a:schemeClr val="bg1"/>
                </a:solidFill>
                <a:latin typeface="Courier New" panose="02070309020205020404" pitchFamily="49" charset="0"/>
                <a:cs typeface="Courier New" panose="02070309020205020404" pitchFamily="49" charset="0"/>
              </a:rPr>
              <a:t>FSSUPER</a:t>
            </a:r>
            <a:r>
              <a:rPr lang="en-CA" sz="2000" dirty="0" smtClean="0">
                <a:solidFill>
                  <a:schemeClr val="bg1"/>
                </a:solidFill>
                <a:latin typeface="Courier New" panose="02070309020205020404" pitchFamily="49" charset="0"/>
                <a:cs typeface="Courier New" panose="02070309020205020404" pitchFamily="49" charset="0"/>
              </a:rPr>
              <a:t>(...) </a:t>
            </a:r>
            <a:r>
              <a:rPr lang="en-CA" sz="2000" dirty="0">
                <a:solidFill>
                  <a:schemeClr val="bg1"/>
                </a:solidFill>
                <a:latin typeface="Courier New" panose="02070309020205020404" pitchFamily="49" charset="0"/>
                <a:cs typeface="Courier New" panose="02070309020205020404" pitchFamily="49" charset="0"/>
              </a:rPr>
              <a:t>ext4_super_block {</a:t>
            </a:r>
          </a:p>
          <a:p>
            <a:r>
              <a:rPr lang="en-CA" sz="2000" dirty="0">
                <a:solidFill>
                  <a:schemeClr val="bg1"/>
                </a:solidFill>
                <a:latin typeface="Courier New" panose="02070309020205020404" pitchFamily="49" charset="0"/>
                <a:cs typeface="Courier New" panose="02070309020205020404" pitchFamily="49" charset="0"/>
              </a:rPr>
              <a:t>  __le32 </a:t>
            </a:r>
            <a:r>
              <a:rPr lang="en-CA" sz="2000" dirty="0" err="1">
                <a:solidFill>
                  <a:schemeClr val="bg1"/>
                </a:solidFill>
                <a:latin typeface="Courier New" panose="02070309020205020404" pitchFamily="49" charset="0"/>
                <a:cs typeface="Courier New" panose="02070309020205020404" pitchFamily="49" charset="0"/>
              </a:rPr>
              <a:t>s_log_block_size</a:t>
            </a:r>
            <a:r>
              <a:rPr lang="en-CA" sz="2000" dirty="0">
                <a:solidFill>
                  <a:schemeClr val="bg1"/>
                </a:solidFill>
                <a:latin typeface="Courier New" panose="02070309020205020404" pitchFamily="49" charset="0"/>
                <a:cs typeface="Courier New" panose="02070309020205020404" pitchFamily="49" charset="0"/>
              </a:rPr>
              <a:t>;</a:t>
            </a:r>
          </a:p>
          <a:p>
            <a:r>
              <a:rPr lang="en-CA" sz="2000" dirty="0" smtClean="0">
                <a:solidFill>
                  <a:schemeClr val="bg1"/>
                </a:solidFill>
                <a:latin typeface="Courier New" panose="02070309020205020404" pitchFamily="49" charset="0"/>
                <a:cs typeface="Courier New" panose="02070309020205020404" pitchFamily="49" charset="0"/>
              </a:rPr>
              <a:t>  ...</a:t>
            </a:r>
          </a:p>
          <a:p>
            <a:r>
              <a:rPr lang="en-CA" sz="2000" dirty="0" smtClean="0">
                <a:solidFill>
                  <a:schemeClr val="bg1"/>
                </a:solidFill>
                <a:latin typeface="Courier New" panose="02070309020205020404" pitchFamily="49" charset="0"/>
                <a:cs typeface="Courier New" panose="02070309020205020404" pitchFamily="49" charset="0"/>
              </a:rPr>
              <a:t>  </a:t>
            </a:r>
            <a:r>
              <a:rPr lang="en-CA" sz="2000" b="1" dirty="0" smtClean="0">
                <a:solidFill>
                  <a:schemeClr val="bg1"/>
                </a:solidFill>
                <a:latin typeface="Courier New" panose="02070309020205020404" pitchFamily="49" charset="0"/>
                <a:cs typeface="Courier New" panose="02070309020205020404" pitchFamily="49" charset="0"/>
              </a:rPr>
              <a:t>POINTER</a:t>
            </a:r>
            <a:r>
              <a:rPr lang="en-CA" sz="2000" dirty="0" smtClean="0">
                <a:solidFill>
                  <a:schemeClr val="bg1"/>
                </a:solidFill>
                <a:latin typeface="Courier New" panose="02070309020205020404" pitchFamily="49" charset="0"/>
                <a:cs typeface="Courier New" panose="02070309020205020404" pitchFamily="49" charset="0"/>
              </a:rPr>
              <a:t>(</a:t>
            </a:r>
            <a:r>
              <a:rPr lang="en-CA" sz="2000" dirty="0" smtClean="0">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name=</a:t>
            </a:r>
            <a:r>
              <a:rPr lang="en-CA" sz="2000" dirty="0" err="1" smtClean="0">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s_block_group_desc</a:t>
            </a:r>
            <a:r>
              <a:rPr lang="en-CA" sz="2000" dirty="0">
                <a:solidFill>
                  <a:schemeClr val="bg1"/>
                </a:solidFill>
                <a:latin typeface="Courier New" panose="02070309020205020404" pitchFamily="49" charset="0"/>
                <a:cs typeface="Courier New" panose="02070309020205020404" pitchFamily="49" charset="0"/>
              </a:rPr>
              <a:t>,</a:t>
            </a:r>
          </a:p>
          <a:p>
            <a:r>
              <a:rPr lang="en-CA" sz="2000" dirty="0">
                <a:solidFill>
                  <a:schemeClr val="bg1"/>
                </a:solidFill>
                <a:latin typeface="Courier New" panose="02070309020205020404" pitchFamily="49" charset="0"/>
                <a:cs typeface="Courier New" panose="02070309020205020404" pitchFamily="49" charset="0"/>
              </a:rPr>
              <a:t>  type=ext4_group_desc_table, </a:t>
            </a:r>
            <a:r>
              <a:rPr lang="en-CA" sz="2000" dirty="0" err="1" smtClean="0">
                <a:solidFill>
                  <a:schemeClr val="bg1"/>
                </a:solidFill>
                <a:latin typeface="Courier New" panose="02070309020205020404" pitchFamily="49" charset="0"/>
                <a:cs typeface="Courier New" panose="02070309020205020404" pitchFamily="49" charset="0"/>
              </a:rPr>
              <a:t>addrspace</a:t>
            </a:r>
            <a:r>
              <a:rPr lang="en-CA" sz="2000" dirty="0" smtClean="0">
                <a:solidFill>
                  <a:schemeClr val="bg1"/>
                </a:solidFill>
                <a:latin typeface="Courier New" panose="02070309020205020404" pitchFamily="49" charset="0"/>
                <a:cs typeface="Courier New" panose="02070309020205020404" pitchFamily="49" charset="0"/>
              </a:rPr>
              <a:t>=block</a:t>
            </a:r>
            <a:r>
              <a:rPr lang="en-CA" sz="2000" dirty="0">
                <a:solidFill>
                  <a:schemeClr val="bg1"/>
                </a:solidFill>
                <a:latin typeface="Courier New" panose="02070309020205020404" pitchFamily="49" charset="0"/>
                <a:cs typeface="Courier New" panose="02070309020205020404" pitchFamily="49" charset="0"/>
              </a:rPr>
              <a:t>, </a:t>
            </a:r>
          </a:p>
          <a:p>
            <a:r>
              <a:rPr lang="en-CA" sz="2000" dirty="0">
                <a:solidFill>
                  <a:schemeClr val="bg1"/>
                </a:solidFill>
                <a:latin typeface="Courier New" panose="02070309020205020404" pitchFamily="49" charset="0"/>
                <a:cs typeface="Courier New" panose="02070309020205020404" pitchFamily="49" charset="0"/>
              </a:rPr>
              <a:t>  </a:t>
            </a:r>
            <a:r>
              <a:rPr lang="en-CA" sz="2000" dirty="0">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expr=(</a:t>
            </a:r>
            <a:r>
              <a:rPr lang="en-CA" sz="2000" dirty="0" err="1">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self.s_log_block_size</a:t>
            </a:r>
            <a:r>
              <a:rPr lang="en-CA" sz="2000" dirty="0">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 0) ? 2 : 1</a:t>
            </a:r>
            <a:r>
              <a:rPr lang="en-CA" sz="2000" dirty="0">
                <a:solidFill>
                  <a:schemeClr val="bg1"/>
                </a:solidFill>
                <a:latin typeface="Courier New" panose="02070309020205020404" pitchFamily="49" charset="0"/>
                <a:cs typeface="Courier New" panose="02070309020205020404" pitchFamily="49" charset="0"/>
              </a:rPr>
              <a:t>);</a:t>
            </a:r>
          </a:p>
          <a:p>
            <a:r>
              <a:rPr lang="en-CA" sz="2000" dirty="0" smtClean="0">
                <a:solidFill>
                  <a:schemeClr val="bg1"/>
                </a:solidFill>
                <a:latin typeface="Courier New" panose="02070309020205020404" pitchFamily="49" charset="0"/>
                <a:cs typeface="Courier New" panose="02070309020205020404" pitchFamily="49" charset="0"/>
              </a:rPr>
              <a:t>};</a:t>
            </a:r>
            <a:endParaRPr lang="en-CA" sz="2000" dirty="0">
              <a:solidFill>
                <a:schemeClr val="bg1"/>
              </a:solidFill>
              <a:latin typeface="Courier New" panose="02070309020205020404" pitchFamily="49" charset="0"/>
              <a:cs typeface="Courier New" panose="02070309020205020404" pitchFamily="49" charset="0"/>
            </a:endParaRPr>
          </a:p>
        </p:txBody>
      </p:sp>
      <p:grpSp>
        <p:nvGrpSpPr>
          <p:cNvPr id="39" name="Group 38"/>
          <p:cNvGrpSpPr/>
          <p:nvPr/>
        </p:nvGrpSpPr>
        <p:grpSpPr>
          <a:xfrm>
            <a:off x="5915025" y="3306644"/>
            <a:ext cx="6158200" cy="3200343"/>
            <a:chOff x="5753100" y="3306644"/>
            <a:chExt cx="6158200" cy="3200343"/>
          </a:xfrm>
        </p:grpSpPr>
        <p:cxnSp>
          <p:nvCxnSpPr>
            <p:cNvPr id="40" name="Straight Arrow Connector 39"/>
            <p:cNvCxnSpPr/>
            <p:nvPr/>
          </p:nvCxnSpPr>
          <p:spPr>
            <a:xfrm>
              <a:off x="7753182" y="4032386"/>
              <a:ext cx="0" cy="593487"/>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1" name="Rectangle 40"/>
            <p:cNvSpPr/>
            <p:nvPr/>
          </p:nvSpPr>
          <p:spPr>
            <a:xfrm>
              <a:off x="7173771" y="3360218"/>
              <a:ext cx="1103217" cy="672168"/>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super</a:t>
              </a:r>
            </a:p>
            <a:p>
              <a:pPr algn="ctr"/>
              <a:r>
                <a:rPr lang="en-CA" altLang="zh-TW" dirty="0" smtClean="0">
                  <a:solidFill>
                    <a:schemeClr val="bg1"/>
                  </a:solidFill>
                </a:rPr>
                <a:t>block</a:t>
              </a:r>
              <a:endParaRPr lang="zh-TW" altLang="en-US" dirty="0">
                <a:solidFill>
                  <a:schemeClr val="bg1"/>
                </a:solidFill>
              </a:endParaRPr>
            </a:p>
          </p:txBody>
        </p:sp>
        <p:sp>
          <p:nvSpPr>
            <p:cNvPr id="42" name="Rectangle 41"/>
            <p:cNvSpPr/>
            <p:nvPr/>
          </p:nvSpPr>
          <p:spPr>
            <a:xfrm>
              <a:off x="9743100" y="3360218"/>
              <a:ext cx="1972651" cy="672168"/>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ext4 journal</a:t>
              </a:r>
              <a:endParaRPr lang="zh-TW" altLang="en-US" dirty="0">
                <a:solidFill>
                  <a:schemeClr val="bg1"/>
                </a:solidFill>
              </a:endParaRPr>
            </a:p>
          </p:txBody>
        </p:sp>
        <p:cxnSp>
          <p:nvCxnSpPr>
            <p:cNvPr id="43" name="Straight Arrow Connector 42"/>
            <p:cNvCxnSpPr>
              <a:stCxn id="41" idx="3"/>
              <a:endCxn id="42" idx="1"/>
            </p:cNvCxnSpPr>
            <p:nvPr/>
          </p:nvCxnSpPr>
          <p:spPr>
            <a:xfrm>
              <a:off x="8276988" y="3696302"/>
              <a:ext cx="1466112"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4" name="Rectangle 43"/>
            <p:cNvSpPr/>
            <p:nvPr/>
          </p:nvSpPr>
          <p:spPr>
            <a:xfrm>
              <a:off x="7173770" y="4625873"/>
              <a:ext cx="4541981" cy="105981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45" name="Rectangle 44"/>
            <p:cNvSpPr/>
            <p:nvPr/>
          </p:nvSpPr>
          <p:spPr>
            <a:xfrm>
              <a:off x="7257486" y="4713340"/>
              <a:ext cx="2002008" cy="631849"/>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block group descriptor table</a:t>
              </a:r>
              <a:endParaRPr lang="en-US" dirty="0">
                <a:solidFill>
                  <a:schemeClr val="bg1"/>
                </a:solidFill>
              </a:endParaRPr>
            </a:p>
          </p:txBody>
        </p:sp>
        <p:cxnSp>
          <p:nvCxnSpPr>
            <p:cNvPr id="46" name="Straight Arrow Connector 96"/>
            <p:cNvCxnSpPr>
              <a:stCxn id="54" idx="2"/>
            </p:cNvCxnSpPr>
            <p:nvPr/>
          </p:nvCxnSpPr>
          <p:spPr>
            <a:xfrm rot="5400000">
              <a:off x="8294382" y="5073380"/>
              <a:ext cx="902880" cy="1964333"/>
            </a:xfrm>
            <a:prstGeom prst="bentConnector3">
              <a:avLst>
                <a:gd name="adj1" fmla="val 27846"/>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96"/>
            <p:cNvCxnSpPr>
              <a:stCxn id="53" idx="2"/>
            </p:cNvCxnSpPr>
            <p:nvPr/>
          </p:nvCxnSpPr>
          <p:spPr>
            <a:xfrm rot="5400000">
              <a:off x="9131532" y="5569390"/>
              <a:ext cx="921780" cy="953413"/>
            </a:xfrm>
            <a:prstGeom prst="bentConnector3">
              <a:avLst>
                <a:gd name="adj1" fmla="val 50000"/>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96"/>
            <p:cNvCxnSpPr/>
            <p:nvPr/>
          </p:nvCxnSpPr>
          <p:spPr>
            <a:xfrm>
              <a:off x="10368671" y="5575053"/>
              <a:ext cx="0" cy="929962"/>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9" name="TextBox 48"/>
            <p:cNvSpPr txBox="1"/>
            <p:nvPr/>
          </p:nvSpPr>
          <p:spPr>
            <a:xfrm>
              <a:off x="11113194" y="4865740"/>
              <a:ext cx="415498" cy="369332"/>
            </a:xfrm>
            <a:prstGeom prst="rect">
              <a:avLst/>
            </a:prstGeom>
            <a:noFill/>
          </p:spPr>
          <p:txBody>
            <a:bodyPr wrap="none" rtlCol="0">
              <a:spAutoFit/>
            </a:bodyPr>
            <a:lstStyle/>
            <a:p>
              <a:r>
                <a:rPr lang="en-CA" dirty="0" smtClean="0">
                  <a:solidFill>
                    <a:schemeClr val="bg1"/>
                  </a:solidFill>
                </a:rPr>
                <a:t>…</a:t>
              </a:r>
              <a:endParaRPr lang="en-CA" dirty="0">
                <a:solidFill>
                  <a:schemeClr val="bg1"/>
                </a:solidFill>
              </a:endParaRPr>
            </a:p>
          </p:txBody>
        </p:sp>
        <p:grpSp>
          <p:nvGrpSpPr>
            <p:cNvPr id="50" name="Group 49"/>
            <p:cNvGrpSpPr/>
            <p:nvPr/>
          </p:nvGrpSpPr>
          <p:grpSpPr>
            <a:xfrm>
              <a:off x="9359243" y="4701923"/>
              <a:ext cx="1419770" cy="902183"/>
              <a:chOff x="2529818" y="2415923"/>
              <a:chExt cx="1419770" cy="902183"/>
            </a:xfrm>
          </p:grpSpPr>
          <p:sp>
            <p:nvSpPr>
              <p:cNvPr id="53" name="Rounded Rectangle 52"/>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solidFill>
                      <a:schemeClr val="tx1"/>
                    </a:solidFill>
                  </a:rPr>
                  <a:t>block group descriptor</a:t>
                </a:r>
                <a:endParaRPr lang="zh-TW" altLang="en-US" dirty="0">
                  <a:solidFill>
                    <a:schemeClr val="tx1"/>
                  </a:solidFill>
                </a:endParaRPr>
              </a:p>
            </p:txBody>
          </p:sp>
          <p:sp>
            <p:nvSpPr>
              <p:cNvPr id="54" name="Rectangle 53"/>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51" name="Rectangle 50"/>
            <p:cNvSpPr/>
            <p:nvPr/>
          </p:nvSpPr>
          <p:spPr>
            <a:xfrm>
              <a:off x="5753100" y="4032386"/>
              <a:ext cx="1865313" cy="5934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1" dirty="0" smtClean="0">
                  <a:solidFill>
                    <a:schemeClr val="bg1"/>
                  </a:solidFill>
                </a:rPr>
                <a:t>implicit pointer</a:t>
              </a:r>
            </a:p>
            <a:p>
              <a:pPr algn="ctr"/>
              <a:r>
                <a:rPr lang="en-US" b="1" i="1" dirty="0" smtClean="0">
                  <a:solidFill>
                    <a:schemeClr val="bg1"/>
                  </a:solidFill>
                </a:rPr>
                <a:t>annotation</a:t>
              </a:r>
            </a:p>
          </p:txBody>
        </p:sp>
        <p:sp>
          <p:nvSpPr>
            <p:cNvPr id="52" name="Rectangle 51"/>
            <p:cNvSpPr/>
            <p:nvPr/>
          </p:nvSpPr>
          <p:spPr>
            <a:xfrm>
              <a:off x="8283312" y="3306644"/>
              <a:ext cx="3627988" cy="932851"/>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55" name="Rectangle 54"/>
          <p:cNvSpPr/>
          <p:nvPr/>
        </p:nvSpPr>
        <p:spPr>
          <a:xfrm>
            <a:off x="7982683" y="4097561"/>
            <a:ext cx="2666114" cy="369332"/>
          </a:xfrm>
          <a:prstGeom prst="rect">
            <a:avLst/>
          </a:prstGeom>
          <a:noFill/>
          <a:ln>
            <a:noFill/>
          </a:ln>
        </p:spPr>
        <p:txBody>
          <a:bodyPr wrap="none">
            <a:spAutoFit/>
          </a:bodyPr>
          <a:lstStyle/>
          <a:p>
            <a:r>
              <a:rPr lang="en-CA" dirty="0" err="1">
                <a:solidFill>
                  <a:schemeClr val="bg1"/>
                </a:solidFill>
                <a:effectLst/>
                <a:latin typeface="Courier New" panose="02070309020205020404" pitchFamily="49" charset="0"/>
                <a:cs typeface="Courier New" panose="02070309020205020404" pitchFamily="49" charset="0"/>
              </a:rPr>
              <a:t>s_block_group_desc</a:t>
            </a:r>
            <a:endParaRPr lang="en-CA" dirty="0">
              <a:effectLst/>
            </a:endParaRPr>
          </a:p>
        </p:txBody>
      </p:sp>
    </p:spTree>
    <p:extLst>
      <p:ext uri="{BB962C8B-B14F-4D97-AF65-F5344CB8AC3E}">
        <p14:creationId xmlns:p14="http://schemas.microsoft.com/office/powerpoint/2010/main" val="2474399900"/>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Context-Sensitive </a:t>
            </a:r>
            <a:r>
              <a:rPr lang="en-CA" dirty="0" smtClean="0"/>
              <a:t>Types</a:t>
            </a:r>
            <a:endParaRPr lang="en-CA" dirty="0"/>
          </a:p>
        </p:txBody>
      </p:sp>
      <p:sp>
        <p:nvSpPr>
          <p:cNvPr id="3" name="Content Placeholder 2"/>
          <p:cNvSpPr>
            <a:spLocks noGrp="1"/>
          </p:cNvSpPr>
          <p:nvPr>
            <p:ph idx="1"/>
          </p:nvPr>
        </p:nvSpPr>
        <p:spPr/>
        <p:txBody>
          <a:bodyPr/>
          <a:lstStyle/>
          <a:p>
            <a:r>
              <a:rPr lang="en-CA" dirty="0" smtClean="0"/>
              <a:t>A pointer may point to different types of metadata</a:t>
            </a:r>
          </a:p>
          <a:p>
            <a:pPr lvl="1"/>
            <a:r>
              <a:rPr lang="en-CA" dirty="0" smtClean="0"/>
              <a:t>Pointers in </a:t>
            </a:r>
            <a:r>
              <a:rPr lang="en-CA" dirty="0" err="1" smtClean="0"/>
              <a:t>inode</a:t>
            </a:r>
            <a:r>
              <a:rPr lang="en-CA" dirty="0" smtClean="0"/>
              <a:t> structure can point to directory or data blocks</a:t>
            </a:r>
          </a:p>
          <a:p>
            <a:r>
              <a:rPr lang="en-CA" dirty="0" smtClean="0"/>
              <a:t>Supported by specifying WHEN</a:t>
            </a:r>
            <a:r>
              <a:rPr lang="en-CA" i="1" dirty="0" smtClean="0"/>
              <a:t> </a:t>
            </a:r>
            <a:r>
              <a:rPr lang="en-CA" dirty="0" smtClean="0"/>
              <a:t>condition in pointer annotation</a:t>
            </a:r>
          </a:p>
        </p:txBody>
      </p:sp>
      <p:sp>
        <p:nvSpPr>
          <p:cNvPr id="4" name="Slide Number Placeholder 3"/>
          <p:cNvSpPr>
            <a:spLocks noGrp="1"/>
          </p:cNvSpPr>
          <p:nvPr>
            <p:ph type="sldNum" sz="quarter" idx="12"/>
          </p:nvPr>
        </p:nvSpPr>
        <p:spPr/>
        <p:txBody>
          <a:bodyPr/>
          <a:lstStyle/>
          <a:p>
            <a:fld id="{7B2023C8-B124-43A9-8F92-0EEF5BAA9995}" type="slidenum">
              <a:rPr lang="en-CA" smtClean="0"/>
              <a:pPr/>
              <a:t>19</a:t>
            </a:fld>
            <a:endParaRPr lang="en-CA" dirty="0"/>
          </a:p>
        </p:txBody>
      </p:sp>
      <p:sp>
        <p:nvSpPr>
          <p:cNvPr id="46" name="Rectangle 45"/>
          <p:cNvSpPr/>
          <p:nvPr/>
        </p:nvSpPr>
        <p:spPr>
          <a:xfrm>
            <a:off x="592958" y="3182398"/>
            <a:ext cx="7499177" cy="3170099"/>
          </a:xfrm>
          <a:prstGeom prst="rect">
            <a:avLst/>
          </a:prstGeom>
        </p:spPr>
        <p:txBody>
          <a:bodyPr wrap="square">
            <a:spAutoFit/>
          </a:bodyPr>
          <a:lstStyle/>
          <a:p>
            <a:r>
              <a:rPr lang="en-CA" sz="2000" b="1" dirty="0">
                <a:solidFill>
                  <a:schemeClr val="bg1"/>
                </a:solidFill>
                <a:latin typeface="Courier New" panose="02070309020205020404" pitchFamily="49" charset="0"/>
                <a:cs typeface="Courier New" panose="02070309020205020404" pitchFamily="49" charset="0"/>
              </a:rPr>
              <a:t>FSSTRUCT</a:t>
            </a:r>
            <a:r>
              <a:rPr lang="en-CA" sz="2000" dirty="0" smtClean="0">
                <a:solidFill>
                  <a:schemeClr val="bg1"/>
                </a:solidFill>
                <a:latin typeface="Courier New" panose="02070309020205020404" pitchFamily="49" charset="0"/>
                <a:cs typeface="Courier New" panose="02070309020205020404" pitchFamily="49" charset="0"/>
              </a:rPr>
              <a:t>(...) ext4_inode {</a:t>
            </a:r>
            <a:endParaRPr lang="en-CA" sz="2000" dirty="0">
              <a:solidFill>
                <a:schemeClr val="bg1"/>
              </a:solidFill>
              <a:latin typeface="Courier New" panose="02070309020205020404" pitchFamily="49" charset="0"/>
              <a:cs typeface="Courier New" panose="02070309020205020404" pitchFamily="49" charset="0"/>
            </a:endParaRPr>
          </a:p>
          <a:p>
            <a:r>
              <a:rPr lang="en-CA" sz="2000" dirty="0">
                <a:solidFill>
                  <a:schemeClr val="bg1"/>
                </a:solidFill>
                <a:latin typeface="Courier New" panose="02070309020205020404" pitchFamily="49" charset="0"/>
                <a:cs typeface="Courier New" panose="02070309020205020404" pitchFamily="49" charset="0"/>
              </a:rPr>
              <a:t>  __le16 </a:t>
            </a:r>
            <a:r>
              <a:rPr lang="en-CA" sz="2000" dirty="0" err="1">
                <a:solidFill>
                  <a:schemeClr val="bg1"/>
                </a:solidFill>
                <a:latin typeface="Courier New" panose="02070309020205020404" pitchFamily="49" charset="0"/>
                <a:cs typeface="Courier New" panose="02070309020205020404" pitchFamily="49" charset="0"/>
              </a:rPr>
              <a:t>i_mode</a:t>
            </a:r>
            <a:r>
              <a:rPr lang="en-CA" sz="2000" dirty="0">
                <a:solidFill>
                  <a:schemeClr val="bg1"/>
                </a:solidFill>
                <a:latin typeface="Courier New" panose="02070309020205020404" pitchFamily="49" charset="0"/>
                <a:cs typeface="Courier New" panose="02070309020205020404" pitchFamily="49" charset="0"/>
              </a:rPr>
              <a:t>;</a:t>
            </a:r>
          </a:p>
          <a:p>
            <a:r>
              <a:rPr lang="en-CA" sz="2000" dirty="0">
                <a:solidFill>
                  <a:schemeClr val="bg1"/>
                </a:solidFill>
                <a:latin typeface="Courier New" panose="02070309020205020404" pitchFamily="49" charset="0"/>
                <a:cs typeface="Courier New" panose="02070309020205020404" pitchFamily="49" charset="0"/>
              </a:rPr>
              <a:t>   …</a:t>
            </a:r>
          </a:p>
          <a:p>
            <a:r>
              <a:rPr lang="en-CA" sz="2000" dirty="0">
                <a:solidFill>
                  <a:schemeClr val="bg1"/>
                </a:solidFill>
                <a:latin typeface="Courier New" panose="02070309020205020404" pitchFamily="49" charset="0"/>
                <a:cs typeface="Courier New" panose="02070309020205020404" pitchFamily="49" charset="0"/>
              </a:rPr>
              <a:t>  </a:t>
            </a:r>
            <a:r>
              <a:rPr lang="en-CA" sz="2000" b="1" dirty="0" smtClean="0">
                <a:solidFill>
                  <a:schemeClr val="bg1"/>
                </a:solidFill>
                <a:latin typeface="Courier New" panose="02070309020205020404" pitchFamily="49" charset="0"/>
                <a:cs typeface="Courier New" panose="02070309020205020404" pitchFamily="49" charset="0"/>
              </a:rPr>
              <a:t>POINTER</a:t>
            </a:r>
            <a:r>
              <a:rPr lang="en-CA" sz="2000" dirty="0" smtClean="0">
                <a:solidFill>
                  <a:schemeClr val="bg1"/>
                </a:solidFill>
                <a:latin typeface="Courier New" panose="02070309020205020404" pitchFamily="49" charset="0"/>
                <a:cs typeface="Courier New" panose="02070309020205020404" pitchFamily="49" charset="0"/>
              </a:rPr>
              <a:t>(</a:t>
            </a:r>
            <a:r>
              <a:rPr lang="en-CA" sz="2000" dirty="0" err="1" smtClean="0">
                <a:solidFill>
                  <a:schemeClr val="bg1"/>
                </a:solidFill>
                <a:latin typeface="Courier New" panose="02070309020205020404" pitchFamily="49" charset="0"/>
                <a:cs typeface="Courier New" panose="02070309020205020404" pitchFamily="49" charset="0"/>
              </a:rPr>
              <a:t>addrspace</a:t>
            </a:r>
            <a:r>
              <a:rPr lang="en-CA" sz="2000" dirty="0" smtClean="0">
                <a:solidFill>
                  <a:schemeClr val="bg1"/>
                </a:solidFill>
                <a:latin typeface="Courier New" panose="02070309020205020404" pitchFamily="49" charset="0"/>
                <a:cs typeface="Courier New" panose="02070309020205020404" pitchFamily="49" charset="0"/>
              </a:rPr>
              <a:t>=block</a:t>
            </a:r>
            <a:r>
              <a:rPr lang="en-CA" sz="2000" dirty="0">
                <a:solidFill>
                  <a:schemeClr val="bg1"/>
                </a:solidFill>
                <a:latin typeface="Courier New" panose="02070309020205020404" pitchFamily="49" charset="0"/>
                <a:cs typeface="Courier New" panose="02070309020205020404" pitchFamily="49" charset="0"/>
              </a:rPr>
              <a:t>, type=</a:t>
            </a:r>
            <a:r>
              <a:rPr lang="en-CA" sz="2000" dirty="0" err="1">
                <a:solidFill>
                  <a:schemeClr val="bg1"/>
                </a:solidFill>
                <a:latin typeface="Courier New" panose="02070309020205020404" pitchFamily="49" charset="0"/>
                <a:cs typeface="Courier New" panose="02070309020205020404" pitchFamily="49" charset="0"/>
              </a:rPr>
              <a:t>dir_block</a:t>
            </a:r>
            <a:r>
              <a:rPr lang="en-CA" sz="2000" dirty="0">
                <a:solidFill>
                  <a:schemeClr val="bg1"/>
                </a:solidFill>
                <a:latin typeface="Courier New" panose="02070309020205020404" pitchFamily="49" charset="0"/>
                <a:cs typeface="Courier New" panose="02070309020205020404" pitchFamily="49" charset="0"/>
              </a:rPr>
              <a:t>,</a:t>
            </a:r>
          </a:p>
          <a:p>
            <a:r>
              <a:rPr lang="en-CA" sz="2000" dirty="0">
                <a:solidFill>
                  <a:schemeClr val="bg1"/>
                </a:solidFill>
                <a:latin typeface="Courier New" panose="02070309020205020404" pitchFamily="49" charset="0"/>
                <a:cs typeface="Courier New" panose="02070309020205020404" pitchFamily="49" charset="0"/>
              </a:rPr>
              <a:t>          </a:t>
            </a:r>
            <a:r>
              <a:rPr lang="en-CA" sz="2000" dirty="0">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when=</a:t>
            </a:r>
            <a:r>
              <a:rPr lang="en-CA" sz="2000" dirty="0" err="1">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self.i_mode</a:t>
            </a:r>
            <a:r>
              <a:rPr lang="en-CA" sz="2000" dirty="0">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&amp; </a:t>
            </a:r>
            <a:r>
              <a:rPr lang="en-CA" sz="2000" dirty="0" smtClean="0">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S_IFDIR</a:t>
            </a:r>
            <a:r>
              <a:rPr lang="en-CA" sz="2000" dirty="0" smtClean="0">
                <a:solidFill>
                  <a:schemeClr val="bg1"/>
                </a:solidFill>
                <a:latin typeface="Courier New" panose="02070309020205020404" pitchFamily="49" charset="0"/>
                <a:cs typeface="Courier New" panose="02070309020205020404" pitchFamily="49" charset="0"/>
              </a:rPr>
              <a:t>)</a:t>
            </a:r>
            <a:endParaRPr lang="en-CA" sz="2000" dirty="0">
              <a:solidFill>
                <a:schemeClr val="bg1"/>
              </a:solidFill>
              <a:latin typeface="Courier New" panose="02070309020205020404" pitchFamily="49" charset="0"/>
              <a:cs typeface="Courier New" panose="02070309020205020404" pitchFamily="49" charset="0"/>
            </a:endParaRPr>
          </a:p>
          <a:p>
            <a:r>
              <a:rPr lang="en-CA" sz="2000" dirty="0">
                <a:solidFill>
                  <a:schemeClr val="bg1"/>
                </a:solidFill>
                <a:latin typeface="Courier New" panose="02070309020205020404" pitchFamily="49" charset="0"/>
                <a:cs typeface="Courier New" panose="02070309020205020404" pitchFamily="49" charset="0"/>
              </a:rPr>
              <a:t>  </a:t>
            </a:r>
            <a:r>
              <a:rPr lang="en-CA" sz="2000" b="1" dirty="0" smtClean="0">
                <a:solidFill>
                  <a:schemeClr val="bg1"/>
                </a:solidFill>
                <a:latin typeface="Courier New" panose="02070309020205020404" pitchFamily="49" charset="0"/>
                <a:cs typeface="Courier New" panose="02070309020205020404" pitchFamily="49" charset="0"/>
              </a:rPr>
              <a:t>POINTER</a:t>
            </a:r>
            <a:r>
              <a:rPr lang="en-CA" sz="2000" dirty="0" smtClean="0">
                <a:solidFill>
                  <a:schemeClr val="bg1"/>
                </a:solidFill>
                <a:latin typeface="Courier New" panose="02070309020205020404" pitchFamily="49" charset="0"/>
                <a:cs typeface="Courier New" panose="02070309020205020404" pitchFamily="49" charset="0"/>
              </a:rPr>
              <a:t>(</a:t>
            </a:r>
            <a:r>
              <a:rPr lang="en-CA" sz="2000" dirty="0" err="1" smtClean="0">
                <a:solidFill>
                  <a:schemeClr val="bg1"/>
                </a:solidFill>
                <a:latin typeface="Courier New" panose="02070309020205020404" pitchFamily="49" charset="0"/>
                <a:cs typeface="Courier New" panose="02070309020205020404" pitchFamily="49" charset="0"/>
              </a:rPr>
              <a:t>addrspace</a:t>
            </a:r>
            <a:r>
              <a:rPr lang="en-CA" sz="2000" dirty="0" smtClean="0">
                <a:solidFill>
                  <a:schemeClr val="bg1"/>
                </a:solidFill>
                <a:latin typeface="Courier New" panose="02070309020205020404" pitchFamily="49" charset="0"/>
                <a:cs typeface="Courier New" panose="02070309020205020404" pitchFamily="49" charset="0"/>
              </a:rPr>
              <a:t>=block</a:t>
            </a:r>
            <a:r>
              <a:rPr lang="en-CA" sz="2000" dirty="0">
                <a:solidFill>
                  <a:schemeClr val="bg1"/>
                </a:solidFill>
                <a:latin typeface="Courier New" panose="02070309020205020404" pitchFamily="49" charset="0"/>
                <a:cs typeface="Courier New" panose="02070309020205020404" pitchFamily="49" charset="0"/>
              </a:rPr>
              <a:t>, </a:t>
            </a:r>
            <a:r>
              <a:rPr lang="en-CA" sz="2000" dirty="0" smtClean="0">
                <a:solidFill>
                  <a:schemeClr val="bg1"/>
                </a:solidFill>
                <a:latin typeface="Courier New" panose="02070309020205020404" pitchFamily="49" charset="0"/>
                <a:cs typeface="Courier New" panose="02070309020205020404" pitchFamily="49" charset="0"/>
              </a:rPr>
              <a:t>type=</a:t>
            </a:r>
            <a:r>
              <a:rPr lang="en-CA" sz="2000" dirty="0" err="1" smtClean="0">
                <a:solidFill>
                  <a:schemeClr val="bg1"/>
                </a:solidFill>
                <a:latin typeface="Courier New" panose="02070309020205020404" pitchFamily="49" charset="0"/>
                <a:cs typeface="Courier New" panose="02070309020205020404" pitchFamily="49" charset="0"/>
              </a:rPr>
              <a:t>data_block</a:t>
            </a:r>
            <a:r>
              <a:rPr lang="en-CA" sz="2000" dirty="0" smtClean="0">
                <a:solidFill>
                  <a:schemeClr val="bg1"/>
                </a:solidFill>
                <a:latin typeface="Courier New" panose="02070309020205020404" pitchFamily="49" charset="0"/>
                <a:cs typeface="Courier New" panose="02070309020205020404" pitchFamily="49" charset="0"/>
              </a:rPr>
              <a:t>,</a:t>
            </a:r>
          </a:p>
          <a:p>
            <a:r>
              <a:rPr lang="en-CA" sz="2000" dirty="0" smtClean="0">
                <a:solidFill>
                  <a:schemeClr val="bg1"/>
                </a:solidFill>
                <a:latin typeface="Courier New" panose="02070309020205020404" pitchFamily="49" charset="0"/>
                <a:cs typeface="Courier New" panose="02070309020205020404" pitchFamily="49" charset="0"/>
              </a:rPr>
              <a:t>          </a:t>
            </a:r>
            <a:r>
              <a:rPr lang="en-CA" sz="2000" dirty="0">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when=</a:t>
            </a:r>
            <a:r>
              <a:rPr lang="en-CA" sz="2000" dirty="0" err="1">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self.i_mode</a:t>
            </a:r>
            <a:r>
              <a:rPr lang="en-CA" sz="2000" dirty="0">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&amp; S_IFREG</a:t>
            </a:r>
            <a:r>
              <a:rPr lang="en-CA" sz="2000" dirty="0">
                <a:solidFill>
                  <a:schemeClr val="bg1"/>
                </a:solidFill>
                <a:latin typeface="Courier New" panose="02070309020205020404" pitchFamily="49" charset="0"/>
                <a:cs typeface="Courier New" panose="02070309020205020404" pitchFamily="49" charset="0"/>
              </a:rPr>
              <a:t>)                 </a:t>
            </a:r>
          </a:p>
          <a:p>
            <a:r>
              <a:rPr lang="en-CA" sz="2000" dirty="0">
                <a:solidFill>
                  <a:schemeClr val="bg1"/>
                </a:solidFill>
                <a:latin typeface="Courier New" panose="02070309020205020404" pitchFamily="49" charset="0"/>
                <a:cs typeface="Courier New" panose="02070309020205020404" pitchFamily="49" charset="0"/>
              </a:rPr>
              <a:t>  __</a:t>
            </a:r>
            <a:r>
              <a:rPr lang="en-CA" sz="2000" dirty="0" smtClean="0">
                <a:solidFill>
                  <a:schemeClr val="bg1"/>
                </a:solidFill>
                <a:latin typeface="Courier New" panose="02070309020205020404" pitchFamily="49" charset="0"/>
                <a:cs typeface="Courier New" panose="02070309020205020404" pitchFamily="49" charset="0"/>
              </a:rPr>
              <a:t>le32 </a:t>
            </a:r>
            <a:r>
              <a:rPr lang="en-CA" sz="2000" dirty="0" err="1" smtClean="0">
                <a:solidFill>
                  <a:schemeClr val="bg1"/>
                </a:solidFill>
                <a:latin typeface="Courier New" panose="02070309020205020404" pitchFamily="49" charset="0"/>
                <a:cs typeface="Courier New" panose="02070309020205020404" pitchFamily="49" charset="0"/>
              </a:rPr>
              <a:t>i_block</a:t>
            </a:r>
            <a:r>
              <a:rPr lang="en-CA" sz="2000" dirty="0" smtClean="0">
                <a:solidFill>
                  <a:schemeClr val="bg1"/>
                </a:solidFill>
                <a:latin typeface="Courier New" panose="02070309020205020404" pitchFamily="49" charset="0"/>
                <a:cs typeface="Courier New" panose="02070309020205020404" pitchFamily="49" charset="0"/>
              </a:rPr>
              <a:t>[EXT3_NDIR_BLOCKS</a:t>
            </a:r>
            <a:r>
              <a:rPr lang="en-CA" sz="2000" dirty="0">
                <a:solidFill>
                  <a:schemeClr val="bg1"/>
                </a:solidFill>
                <a:latin typeface="Courier New" panose="02070309020205020404" pitchFamily="49" charset="0"/>
                <a:cs typeface="Courier New" panose="02070309020205020404" pitchFamily="49" charset="0"/>
              </a:rPr>
              <a:t>];</a:t>
            </a:r>
          </a:p>
          <a:p>
            <a:r>
              <a:rPr lang="en-CA" sz="2000" dirty="0">
                <a:solidFill>
                  <a:schemeClr val="bg1"/>
                </a:solidFill>
                <a:latin typeface="Courier New" panose="02070309020205020404" pitchFamily="49" charset="0"/>
                <a:cs typeface="Courier New" panose="02070309020205020404" pitchFamily="49" charset="0"/>
              </a:rPr>
              <a:t>   …</a:t>
            </a:r>
          </a:p>
          <a:p>
            <a:r>
              <a:rPr lang="en-CA" sz="2000" dirty="0" smtClean="0">
                <a:solidFill>
                  <a:schemeClr val="bg1"/>
                </a:solidFill>
                <a:latin typeface="Courier New" panose="02070309020205020404" pitchFamily="49" charset="0"/>
                <a:cs typeface="Courier New" panose="02070309020205020404" pitchFamily="49" charset="0"/>
              </a:rPr>
              <a:t>};</a:t>
            </a:r>
            <a:endParaRPr lang="en-CA" sz="2000" dirty="0">
              <a:solidFill>
                <a:schemeClr val="bg1"/>
              </a:solidFill>
              <a:latin typeface="Courier New" panose="02070309020205020404" pitchFamily="49" charset="0"/>
              <a:cs typeface="Courier New" panose="02070309020205020404" pitchFamily="49" charset="0"/>
            </a:endParaRPr>
          </a:p>
        </p:txBody>
      </p:sp>
      <p:grpSp>
        <p:nvGrpSpPr>
          <p:cNvPr id="5" name="Group 4"/>
          <p:cNvGrpSpPr/>
          <p:nvPr/>
        </p:nvGrpSpPr>
        <p:grpSpPr>
          <a:xfrm>
            <a:off x="7326706" y="3183802"/>
            <a:ext cx="4360469" cy="2332820"/>
            <a:chOff x="3430981" y="4220986"/>
            <a:chExt cx="4360469" cy="2332820"/>
          </a:xfrm>
        </p:grpSpPr>
        <p:sp>
          <p:nvSpPr>
            <p:cNvPr id="20" name="Rectangle 19"/>
            <p:cNvSpPr/>
            <p:nvPr/>
          </p:nvSpPr>
          <p:spPr>
            <a:xfrm>
              <a:off x="3430981" y="4220986"/>
              <a:ext cx="4360469" cy="940832"/>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21" name="Rectangle 20"/>
            <p:cNvSpPr/>
            <p:nvPr/>
          </p:nvSpPr>
          <p:spPr>
            <a:xfrm>
              <a:off x="3515340" y="4394402"/>
              <a:ext cx="843171" cy="5940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smtClean="0">
                  <a:solidFill>
                    <a:schemeClr val="bg1"/>
                  </a:solidFill>
                </a:rPr>
                <a:t>inode</a:t>
              </a:r>
              <a:r>
                <a:rPr lang="en-US" dirty="0" smtClean="0">
                  <a:solidFill>
                    <a:schemeClr val="bg1"/>
                  </a:solidFill>
                </a:rPr>
                <a:t> table</a:t>
              </a:r>
              <a:endParaRPr lang="en-US" dirty="0">
                <a:solidFill>
                  <a:schemeClr val="bg1"/>
                </a:solidFill>
              </a:endParaRPr>
            </a:p>
          </p:txBody>
        </p:sp>
        <p:sp>
          <p:nvSpPr>
            <p:cNvPr id="22" name="Rounded Rectangle 21"/>
            <p:cNvSpPr/>
            <p:nvPr/>
          </p:nvSpPr>
          <p:spPr>
            <a:xfrm>
              <a:off x="4443717" y="4293627"/>
              <a:ext cx="965390"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dirty="0" err="1" smtClean="0">
                  <a:solidFill>
                    <a:schemeClr val="tx1"/>
                  </a:solidFill>
                </a:rPr>
                <a:t>inode</a:t>
              </a:r>
              <a:endParaRPr lang="en-US" altLang="zh-TW" dirty="0" smtClean="0">
                <a:solidFill>
                  <a:schemeClr val="tx1"/>
                </a:solidFill>
              </a:endParaRPr>
            </a:p>
            <a:p>
              <a:pPr algn="ctr"/>
              <a:r>
                <a:rPr lang="en-US" altLang="zh-TW" dirty="0" smtClean="0">
                  <a:solidFill>
                    <a:schemeClr val="tx1"/>
                  </a:solidFill>
                </a:rPr>
                <a:t>(</a:t>
              </a:r>
              <a:r>
                <a:rPr lang="en-US" altLang="zh-TW" dirty="0" err="1" smtClean="0">
                  <a:solidFill>
                    <a:schemeClr val="tx1"/>
                  </a:solidFill>
                </a:rPr>
                <a:t>reg</a:t>
              </a:r>
              <a:r>
                <a:rPr lang="en-US" altLang="zh-TW" dirty="0" smtClean="0">
                  <a:solidFill>
                    <a:schemeClr val="tx1"/>
                  </a:solidFill>
                </a:rPr>
                <a:t> file)</a:t>
              </a:r>
              <a:endParaRPr lang="zh-TW" altLang="en-US" dirty="0">
                <a:solidFill>
                  <a:schemeClr val="tx1"/>
                </a:solidFill>
              </a:endParaRPr>
            </a:p>
          </p:txBody>
        </p:sp>
        <p:sp>
          <p:nvSpPr>
            <p:cNvPr id="23" name="Rounded Rectangle 22"/>
            <p:cNvSpPr/>
            <p:nvPr/>
          </p:nvSpPr>
          <p:spPr>
            <a:xfrm>
              <a:off x="6413942" y="4293627"/>
              <a:ext cx="1215376"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dirty="0" err="1" smtClean="0">
                  <a:solidFill>
                    <a:schemeClr val="tx1"/>
                  </a:solidFill>
                </a:rPr>
                <a:t>inode</a:t>
              </a:r>
              <a:endParaRPr lang="en-US" altLang="zh-TW" dirty="0" smtClean="0">
                <a:solidFill>
                  <a:schemeClr val="tx1"/>
                </a:solidFill>
              </a:endParaRPr>
            </a:p>
            <a:p>
              <a:pPr algn="ctr"/>
              <a:r>
                <a:rPr lang="en-US" altLang="zh-TW" dirty="0" smtClean="0">
                  <a:solidFill>
                    <a:schemeClr val="tx1"/>
                  </a:solidFill>
                </a:rPr>
                <a:t>(directory)</a:t>
              </a:r>
              <a:endParaRPr lang="zh-TW" altLang="en-US" dirty="0">
                <a:solidFill>
                  <a:schemeClr val="tx1"/>
                </a:solidFill>
              </a:endParaRPr>
            </a:p>
          </p:txBody>
        </p:sp>
        <p:sp>
          <p:nvSpPr>
            <p:cNvPr id="24" name="TextBox 23"/>
            <p:cNvSpPr txBox="1"/>
            <p:nvPr/>
          </p:nvSpPr>
          <p:spPr>
            <a:xfrm>
              <a:off x="5869543" y="4421011"/>
              <a:ext cx="415498" cy="369332"/>
            </a:xfrm>
            <a:prstGeom prst="rect">
              <a:avLst/>
            </a:prstGeom>
            <a:noFill/>
          </p:spPr>
          <p:txBody>
            <a:bodyPr wrap="none" rtlCol="0">
              <a:spAutoFit/>
            </a:bodyPr>
            <a:lstStyle/>
            <a:p>
              <a:r>
                <a:rPr lang="en-CA" dirty="0" smtClean="0">
                  <a:solidFill>
                    <a:schemeClr val="bg1"/>
                  </a:solidFill>
                </a:rPr>
                <a:t>…</a:t>
              </a:r>
              <a:endParaRPr lang="en-CA" dirty="0">
                <a:solidFill>
                  <a:schemeClr val="bg1"/>
                </a:solidFill>
              </a:endParaRPr>
            </a:p>
          </p:txBody>
        </p:sp>
        <p:sp>
          <p:nvSpPr>
            <p:cNvPr id="25" name="Rectangle 24"/>
            <p:cNvSpPr/>
            <p:nvPr/>
          </p:nvSpPr>
          <p:spPr>
            <a:xfrm>
              <a:off x="6470021" y="5815595"/>
              <a:ext cx="1103217" cy="728080"/>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err="1" smtClean="0">
                  <a:solidFill>
                    <a:schemeClr val="bg1"/>
                  </a:solidFill>
                </a:rPr>
                <a:t>dir</a:t>
              </a:r>
              <a:endParaRPr lang="en-CA" altLang="zh-TW" dirty="0" smtClean="0">
                <a:solidFill>
                  <a:schemeClr val="bg1"/>
                </a:solidFill>
              </a:endParaRPr>
            </a:p>
            <a:p>
              <a:pPr algn="ctr"/>
              <a:r>
                <a:rPr lang="en-CA" altLang="zh-TW" dirty="0" smtClean="0">
                  <a:solidFill>
                    <a:schemeClr val="bg1"/>
                  </a:solidFill>
                </a:rPr>
                <a:t>block</a:t>
              </a:r>
              <a:endParaRPr lang="zh-TW" altLang="en-US" dirty="0">
                <a:solidFill>
                  <a:schemeClr val="bg1"/>
                </a:solidFill>
              </a:endParaRPr>
            </a:p>
          </p:txBody>
        </p:sp>
        <p:cxnSp>
          <p:nvCxnSpPr>
            <p:cNvPr id="26" name="Straight Arrow Connector 96"/>
            <p:cNvCxnSpPr>
              <a:stCxn id="23" idx="2"/>
              <a:endCxn id="25" idx="0"/>
            </p:cNvCxnSpPr>
            <p:nvPr/>
          </p:nvCxnSpPr>
          <p:spPr>
            <a:xfrm>
              <a:off x="7021630" y="5089178"/>
              <a:ext cx="0" cy="726417"/>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4374804" y="5825726"/>
              <a:ext cx="1103217" cy="728080"/>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data</a:t>
              </a:r>
            </a:p>
            <a:p>
              <a:pPr algn="ctr"/>
              <a:r>
                <a:rPr lang="en-CA" altLang="zh-TW" dirty="0" smtClean="0">
                  <a:solidFill>
                    <a:schemeClr val="bg1"/>
                  </a:solidFill>
                </a:rPr>
                <a:t>block</a:t>
              </a:r>
              <a:endParaRPr lang="zh-TW" altLang="en-US" dirty="0">
                <a:solidFill>
                  <a:schemeClr val="bg1"/>
                </a:solidFill>
              </a:endParaRPr>
            </a:p>
          </p:txBody>
        </p:sp>
        <p:cxnSp>
          <p:nvCxnSpPr>
            <p:cNvPr id="29" name="Straight Arrow Connector 96"/>
            <p:cNvCxnSpPr>
              <a:stCxn id="22" idx="2"/>
              <a:endCxn id="28" idx="0"/>
            </p:cNvCxnSpPr>
            <p:nvPr/>
          </p:nvCxnSpPr>
          <p:spPr>
            <a:xfrm>
              <a:off x="4926412" y="5089178"/>
              <a:ext cx="1" cy="736548"/>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43275667"/>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795335" y="1233666"/>
            <a:ext cx="6586539" cy="2246769"/>
          </a:xfrm>
          <a:prstGeom prst="rect">
            <a:avLst/>
          </a:prstGeom>
        </p:spPr>
        <p:txBody>
          <a:bodyPr wrap="square">
            <a:spAutoFit/>
          </a:bodyPr>
          <a:lstStyle/>
          <a:p>
            <a:r>
              <a:rPr lang="en-CA" sz="2000" b="1" dirty="0" smtClean="0">
                <a:solidFill>
                  <a:schemeClr val="bg1"/>
                </a:solidFill>
                <a:latin typeface="Courier New" panose="02070309020205020404" pitchFamily="49" charset="0"/>
                <a:cs typeface="Courier New" panose="02070309020205020404" pitchFamily="49" charset="0"/>
              </a:rPr>
              <a:t>FSSUPER</a:t>
            </a:r>
            <a:r>
              <a:rPr lang="en-CA" sz="2000" dirty="0">
                <a:solidFill>
                  <a:schemeClr val="bg1"/>
                </a:solidFill>
                <a:latin typeface="Courier New" panose="02070309020205020404" pitchFamily="49" charset="0"/>
                <a:cs typeface="Courier New" panose="02070309020205020404" pitchFamily="49" charset="0"/>
              </a:rPr>
              <a:t>(…) ext4_super_block {</a:t>
            </a:r>
          </a:p>
          <a:p>
            <a:r>
              <a:rPr lang="en-CA" sz="2000" dirty="0">
                <a:solidFill>
                  <a:schemeClr val="bg1"/>
                </a:solidFill>
                <a:latin typeface="Courier New" panose="02070309020205020404" pitchFamily="49" charset="0"/>
                <a:cs typeface="Courier New" panose="02070309020205020404" pitchFamily="49" charset="0"/>
              </a:rPr>
              <a:t>  __le32 </a:t>
            </a:r>
            <a:r>
              <a:rPr lang="en-CA" sz="2000" dirty="0" err="1">
                <a:solidFill>
                  <a:schemeClr val="bg1"/>
                </a:solidFill>
                <a:latin typeface="Courier New" panose="02070309020205020404" pitchFamily="49" charset="0"/>
                <a:cs typeface="Courier New" panose="02070309020205020404" pitchFamily="49" charset="0"/>
              </a:rPr>
              <a:t>s_log_block_size</a:t>
            </a:r>
            <a:r>
              <a:rPr lang="en-CA" sz="2000" dirty="0" smtClean="0">
                <a:solidFill>
                  <a:schemeClr val="bg1"/>
                </a:solidFill>
                <a:latin typeface="Courier New" panose="02070309020205020404" pitchFamily="49" charset="0"/>
                <a:cs typeface="Courier New" panose="02070309020205020404" pitchFamily="49" charset="0"/>
              </a:rPr>
              <a:t>;</a:t>
            </a:r>
          </a:p>
          <a:p>
            <a:r>
              <a:rPr lang="en-CA" sz="2000" dirty="0" smtClean="0">
                <a:solidFill>
                  <a:schemeClr val="bg1"/>
                </a:solidFill>
                <a:latin typeface="Courier New" panose="02070309020205020404" pitchFamily="49" charset="0"/>
                <a:cs typeface="Courier New" panose="02070309020205020404" pitchFamily="49" charset="0"/>
              </a:rPr>
              <a:t>  __le16 </a:t>
            </a:r>
            <a:r>
              <a:rPr lang="en-CA" sz="2000" dirty="0" err="1" smtClean="0">
                <a:solidFill>
                  <a:schemeClr val="bg1"/>
                </a:solidFill>
                <a:latin typeface="Courier New" panose="02070309020205020404" pitchFamily="49" charset="0"/>
                <a:cs typeface="Courier New" panose="02070309020205020404" pitchFamily="49" charset="0"/>
              </a:rPr>
              <a:t>s_magic</a:t>
            </a:r>
            <a:r>
              <a:rPr lang="en-CA" sz="2000" dirty="0" smtClean="0">
                <a:solidFill>
                  <a:schemeClr val="bg1"/>
                </a:solidFill>
                <a:latin typeface="Courier New" panose="02070309020205020404" pitchFamily="49" charset="0"/>
                <a:cs typeface="Courier New" panose="02070309020205020404" pitchFamily="49" charset="0"/>
              </a:rPr>
              <a:t>;</a:t>
            </a:r>
          </a:p>
          <a:p>
            <a:r>
              <a:rPr lang="en-CA" sz="2000" dirty="0" smtClean="0">
                <a:solidFill>
                  <a:schemeClr val="bg1"/>
                </a:solidFill>
                <a:latin typeface="Courier New" panose="02070309020205020404" pitchFamily="49" charset="0"/>
                <a:cs typeface="Courier New" panose="02070309020205020404" pitchFamily="49" charset="0"/>
              </a:rPr>
              <a:t>  </a:t>
            </a:r>
            <a:r>
              <a:rPr lang="en-CA" sz="2000" dirty="0">
                <a:solidFill>
                  <a:schemeClr val="bg1"/>
                </a:solidFill>
                <a:latin typeface="Courier New" panose="02070309020205020404" pitchFamily="49" charset="0"/>
                <a:cs typeface="Courier New" panose="02070309020205020404" pitchFamily="49" charset="0"/>
              </a:rPr>
              <a:t>…</a:t>
            </a:r>
          </a:p>
          <a:p>
            <a:r>
              <a:rPr lang="en-CA" sz="2000" dirty="0">
                <a:solidFill>
                  <a:schemeClr val="bg1"/>
                </a:solidFill>
                <a:latin typeface="Courier New" panose="02070309020205020404" pitchFamily="49" charset="0"/>
                <a:cs typeface="Courier New" panose="02070309020205020404" pitchFamily="49" charset="0"/>
              </a:rPr>
              <a:t>  </a:t>
            </a:r>
            <a:r>
              <a:rPr lang="en-CA" sz="2000" b="1" dirty="0">
                <a:solidFill>
                  <a:schemeClr val="bg1"/>
                </a:solidFill>
                <a:latin typeface="Courier New" panose="02070309020205020404" pitchFamily="49" charset="0"/>
                <a:cs typeface="Courier New" panose="02070309020205020404" pitchFamily="49" charset="0"/>
              </a:rPr>
              <a:t>CHECK</a:t>
            </a:r>
            <a:r>
              <a:rPr lang="en-CA" sz="2000" dirty="0">
                <a:solidFill>
                  <a:schemeClr val="bg1"/>
                </a:solidFill>
                <a:latin typeface="Courier New" panose="02070309020205020404" pitchFamily="49" charset="0"/>
                <a:cs typeface="Courier New" panose="02070309020205020404" pitchFamily="49" charset="0"/>
              </a:rPr>
              <a:t>(expr=</a:t>
            </a:r>
            <a:r>
              <a:rPr lang="en-CA" sz="2000" dirty="0" err="1">
                <a:solidFill>
                  <a:schemeClr val="bg1"/>
                </a:solidFill>
                <a:latin typeface="Courier New" panose="02070309020205020404" pitchFamily="49" charset="0"/>
                <a:cs typeface="Courier New" panose="02070309020205020404" pitchFamily="49" charset="0"/>
              </a:rPr>
              <a:t>self.s_log_block_size</a:t>
            </a:r>
            <a:r>
              <a:rPr lang="en-CA" sz="2000" dirty="0">
                <a:solidFill>
                  <a:schemeClr val="bg1"/>
                </a:solidFill>
                <a:latin typeface="Courier New" panose="02070309020205020404" pitchFamily="49" charset="0"/>
                <a:cs typeface="Courier New" panose="02070309020205020404" pitchFamily="49" charset="0"/>
              </a:rPr>
              <a:t> </a:t>
            </a:r>
            <a:r>
              <a:rPr lang="en-CA" sz="2000" dirty="0" smtClean="0">
                <a:solidFill>
                  <a:schemeClr val="bg1"/>
                </a:solidFill>
                <a:latin typeface="Courier New" panose="02070309020205020404" pitchFamily="49" charset="0"/>
                <a:cs typeface="Courier New" panose="02070309020205020404" pitchFamily="49" charset="0"/>
              </a:rPr>
              <a:t>&lt;= 6</a:t>
            </a:r>
            <a:r>
              <a:rPr lang="en-CA" sz="2000" dirty="0">
                <a:solidFill>
                  <a:schemeClr val="bg1"/>
                </a:solidFill>
                <a:latin typeface="Courier New" panose="02070309020205020404" pitchFamily="49" charset="0"/>
                <a:cs typeface="Courier New" panose="02070309020205020404" pitchFamily="49" charset="0"/>
              </a:rPr>
              <a:t>);</a:t>
            </a:r>
          </a:p>
          <a:p>
            <a:r>
              <a:rPr lang="en-CA" sz="2000" dirty="0">
                <a:solidFill>
                  <a:schemeClr val="bg1"/>
                </a:solidFill>
                <a:latin typeface="Courier New" panose="02070309020205020404" pitchFamily="49" charset="0"/>
                <a:cs typeface="Courier New" panose="02070309020205020404" pitchFamily="49" charset="0"/>
              </a:rPr>
              <a:t>  </a:t>
            </a:r>
            <a:r>
              <a:rPr lang="en-CA" sz="2000" b="1" dirty="0">
                <a:solidFill>
                  <a:schemeClr val="bg1"/>
                </a:solidFill>
                <a:latin typeface="Courier New" panose="02070309020205020404" pitchFamily="49" charset="0"/>
                <a:cs typeface="Courier New" panose="02070309020205020404" pitchFamily="49" charset="0"/>
              </a:rPr>
              <a:t>CHECK</a:t>
            </a:r>
            <a:r>
              <a:rPr lang="en-CA" sz="2000" dirty="0">
                <a:solidFill>
                  <a:schemeClr val="bg1"/>
                </a:solidFill>
                <a:latin typeface="Courier New" panose="02070309020205020404" pitchFamily="49" charset="0"/>
                <a:cs typeface="Courier New" panose="02070309020205020404" pitchFamily="49" charset="0"/>
              </a:rPr>
              <a:t>(expr=</a:t>
            </a:r>
            <a:r>
              <a:rPr lang="en-CA" sz="2000" dirty="0" err="1">
                <a:solidFill>
                  <a:schemeClr val="bg1"/>
                </a:solidFill>
                <a:latin typeface="Courier New" panose="02070309020205020404" pitchFamily="49" charset="0"/>
                <a:cs typeface="Courier New" panose="02070309020205020404" pitchFamily="49" charset="0"/>
              </a:rPr>
              <a:t>self.s_magic</a:t>
            </a:r>
            <a:r>
              <a:rPr lang="en-CA" sz="2000" dirty="0">
                <a:solidFill>
                  <a:schemeClr val="bg1"/>
                </a:solidFill>
                <a:latin typeface="Courier New" panose="02070309020205020404" pitchFamily="49" charset="0"/>
                <a:cs typeface="Courier New" panose="02070309020205020404" pitchFamily="49" charset="0"/>
              </a:rPr>
              <a:t> == 0xef53);</a:t>
            </a:r>
          </a:p>
          <a:p>
            <a:r>
              <a:rPr lang="en-CA" sz="2000" dirty="0">
                <a:solidFill>
                  <a:schemeClr val="bg1"/>
                </a:solidFill>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US" smtClean="0"/>
              <a:t>Check Annotations</a:t>
            </a:r>
            <a:endParaRPr lang="en-CA" dirty="0"/>
          </a:p>
        </p:txBody>
      </p:sp>
      <p:sp>
        <p:nvSpPr>
          <p:cNvPr id="2" name="Slide Number Placeholder 1"/>
          <p:cNvSpPr>
            <a:spLocks noGrp="1"/>
          </p:cNvSpPr>
          <p:nvPr>
            <p:ph type="sldNum" sz="quarter" idx="12"/>
          </p:nvPr>
        </p:nvSpPr>
        <p:spPr/>
        <p:txBody>
          <a:bodyPr/>
          <a:lstStyle/>
          <a:p>
            <a:fld id="{7B2023C8-B124-43A9-8F92-0EEF5BAA9995}" type="slidenum">
              <a:rPr lang="en-CA" smtClean="0"/>
              <a:pPr/>
              <a:t>20</a:t>
            </a:fld>
            <a:endParaRPr lang="en-CA"/>
          </a:p>
        </p:txBody>
      </p:sp>
      <p:sp>
        <p:nvSpPr>
          <p:cNvPr id="8" name="Content Placeholder 8"/>
          <p:cNvSpPr txBox="1">
            <a:spLocks/>
          </p:cNvSpPr>
          <p:nvPr/>
        </p:nvSpPr>
        <p:spPr>
          <a:xfrm>
            <a:off x="684211" y="4174943"/>
            <a:ext cx="10604500" cy="2534467"/>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Font typeface="Wingdings 3" panose="05040102010807070707" pitchFamily="18" charset="2"/>
              <a:buNone/>
            </a:pPr>
            <a:r>
              <a:rPr lang="en-CA" sz="2000" dirty="0" err="1" smtClean="0">
                <a:latin typeface="Courier New" panose="02070309020205020404" pitchFamily="49" charset="0"/>
                <a:cs typeface="Courier New" panose="02070309020205020404" pitchFamily="49" charset="0"/>
              </a:rPr>
              <a:t>int</a:t>
            </a:r>
            <a:r>
              <a:rPr lang="en-CA" sz="2000" dirty="0" smtClean="0">
                <a:latin typeface="Courier New" panose="02070309020205020404" pitchFamily="49" charset="0"/>
                <a:cs typeface="Courier New" panose="02070309020205020404" pitchFamily="49" charset="0"/>
              </a:rPr>
              <a:t> Ext4SuperBlock::parse(</a:t>
            </a:r>
            <a:r>
              <a:rPr lang="en-CA" sz="2000" dirty="0" err="1" smtClean="0">
                <a:latin typeface="Courier New" panose="02070309020205020404" pitchFamily="49" charset="0"/>
                <a:cs typeface="Courier New" panose="02070309020205020404" pitchFamily="49" charset="0"/>
              </a:rPr>
              <a:t>const</a:t>
            </a:r>
            <a:r>
              <a:rPr lang="en-CA" sz="2000" dirty="0" smtClean="0">
                <a:latin typeface="Courier New" panose="02070309020205020404" pitchFamily="49" charset="0"/>
                <a:cs typeface="Courier New" panose="02070309020205020404" pitchFamily="49" charset="0"/>
              </a:rPr>
              <a:t> char * &amp; </a:t>
            </a:r>
            <a:r>
              <a:rPr lang="en-CA" sz="2000" dirty="0" err="1" smtClean="0">
                <a:latin typeface="Courier New" panose="02070309020205020404" pitchFamily="49" charset="0"/>
                <a:cs typeface="Courier New" panose="02070309020205020404" pitchFamily="49" charset="0"/>
              </a:rPr>
              <a:t>buf</a:t>
            </a:r>
            <a:r>
              <a:rPr lang="en-CA" sz="2000" dirty="0" smtClean="0">
                <a:latin typeface="Courier New" panose="02070309020205020404" pitchFamily="49" charset="0"/>
                <a:cs typeface="Courier New" panose="02070309020205020404" pitchFamily="49" charset="0"/>
              </a:rPr>
              <a:t>, unsigned &amp; </a:t>
            </a:r>
            <a:r>
              <a:rPr lang="en-CA" sz="2000" dirty="0" err="1" smtClean="0">
                <a:latin typeface="Courier New" panose="02070309020205020404" pitchFamily="49" charset="0"/>
                <a:cs typeface="Courier New" panose="02070309020205020404" pitchFamily="49" charset="0"/>
              </a:rPr>
              <a:t>len</a:t>
            </a:r>
            <a:r>
              <a:rPr lang="en-CA" sz="200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3" panose="05040102010807070707" pitchFamily="18" charset="2"/>
              <a:buNone/>
            </a:pPr>
            <a:r>
              <a:rPr lang="en-CA" sz="2000" dirty="0" smtClean="0">
                <a:latin typeface="Courier New" panose="02070309020205020404" pitchFamily="49" charset="0"/>
                <a:cs typeface="Courier New" panose="02070309020205020404" pitchFamily="49" charset="0"/>
              </a:rPr>
              <a:t>  </a:t>
            </a:r>
            <a:r>
              <a:rPr lang="en-CA" sz="2000" dirty="0" err="1" smtClean="0">
                <a:latin typeface="Courier New" panose="02070309020205020404" pitchFamily="49" charset="0"/>
                <a:cs typeface="Courier New" panose="02070309020205020404" pitchFamily="49" charset="0"/>
              </a:rPr>
              <a:t>int</a:t>
            </a:r>
            <a:r>
              <a:rPr lang="en-CA" sz="2000" dirty="0" smtClean="0">
                <a:latin typeface="Courier New" panose="02070309020205020404" pitchFamily="49" charset="0"/>
                <a:cs typeface="Courier New" panose="02070309020205020404" pitchFamily="49" charset="0"/>
              </a:rPr>
              <a:t> ret; </a:t>
            </a:r>
          </a:p>
          <a:p>
            <a:pPr marL="0" indent="0">
              <a:spcBef>
                <a:spcPts val="0"/>
              </a:spcBef>
              <a:spcAft>
                <a:spcPts val="0"/>
              </a:spcAft>
              <a:buFont typeface="Wingdings 3" panose="05040102010807070707" pitchFamily="18" charset="2"/>
              <a:buNone/>
            </a:pPr>
            <a:r>
              <a:rPr lang="en-CA" sz="2000" dirty="0" smtClean="0">
                <a:latin typeface="Courier New" panose="02070309020205020404" pitchFamily="49" charset="0"/>
                <a:cs typeface="Courier New" panose="02070309020205020404" pitchFamily="49" charset="0"/>
              </a:rPr>
              <a:t>  if ((ret = </a:t>
            </a:r>
            <a:r>
              <a:rPr lang="en-CA" sz="2000" dirty="0" err="1" smtClean="0">
                <a:latin typeface="Courier New" panose="02070309020205020404" pitchFamily="49" charset="0"/>
                <a:cs typeface="Courier New" panose="02070309020205020404" pitchFamily="49" charset="0"/>
              </a:rPr>
              <a:t>s_log_block_size.parse</a:t>
            </a:r>
            <a:r>
              <a:rPr lang="en-CA" sz="2000" dirty="0" smtClean="0">
                <a:latin typeface="Courier New" panose="02070309020205020404" pitchFamily="49" charset="0"/>
                <a:cs typeface="Courier New" panose="02070309020205020404" pitchFamily="49" charset="0"/>
              </a:rPr>
              <a:t>(</a:t>
            </a:r>
            <a:r>
              <a:rPr lang="en-CA" sz="2000" dirty="0" err="1" smtClean="0">
                <a:latin typeface="Courier New" panose="02070309020205020404" pitchFamily="49" charset="0"/>
                <a:cs typeface="Courier New" panose="02070309020205020404" pitchFamily="49" charset="0"/>
              </a:rPr>
              <a:t>buf</a:t>
            </a:r>
            <a:r>
              <a:rPr lang="en-CA" sz="2000" dirty="0" smtClean="0">
                <a:latin typeface="Courier New" panose="02070309020205020404" pitchFamily="49" charset="0"/>
                <a:cs typeface="Courier New" panose="02070309020205020404" pitchFamily="49" charset="0"/>
              </a:rPr>
              <a:t>, </a:t>
            </a:r>
            <a:r>
              <a:rPr lang="en-CA" sz="2000" dirty="0" err="1" smtClean="0">
                <a:latin typeface="Courier New" panose="02070309020205020404" pitchFamily="49" charset="0"/>
                <a:cs typeface="Courier New" panose="02070309020205020404" pitchFamily="49" charset="0"/>
              </a:rPr>
              <a:t>len</a:t>
            </a:r>
            <a:r>
              <a:rPr lang="en-CA" sz="2000" dirty="0" smtClean="0">
                <a:latin typeface="Courier New" panose="02070309020205020404" pitchFamily="49" charset="0"/>
                <a:cs typeface="Courier New" panose="02070309020205020404" pitchFamily="49" charset="0"/>
              </a:rPr>
              <a:t>)) &lt; 0) return ret;</a:t>
            </a:r>
          </a:p>
          <a:p>
            <a:pPr marL="0" indent="0">
              <a:spcBef>
                <a:spcPts val="0"/>
              </a:spcBef>
              <a:spcAft>
                <a:spcPts val="0"/>
              </a:spcAft>
              <a:buFont typeface="Wingdings 3" panose="05040102010807070707" pitchFamily="18" charset="2"/>
              <a:buNone/>
            </a:pPr>
            <a:r>
              <a:rPr lang="en-CA" sz="200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3" panose="05040102010807070707" pitchFamily="18" charset="2"/>
              <a:buNone/>
            </a:pPr>
            <a:r>
              <a:rPr lang="en-CA" sz="2000" dirty="0" smtClean="0">
                <a:effectLst/>
                <a:latin typeface="Courier New" panose="02070309020205020404" pitchFamily="49" charset="0"/>
                <a:cs typeface="Courier New" panose="02070309020205020404" pitchFamily="49" charset="0"/>
              </a:rPr>
              <a:t>  if (!(</a:t>
            </a:r>
            <a:r>
              <a:rPr lang="en-CA" sz="2000" dirty="0" err="1" smtClean="0">
                <a:effectLst/>
                <a:latin typeface="Courier New" panose="02070309020205020404" pitchFamily="49" charset="0"/>
                <a:cs typeface="Courier New" panose="02070309020205020404" pitchFamily="49" charset="0"/>
              </a:rPr>
              <a:t>s_log_block_size</a:t>
            </a:r>
            <a:r>
              <a:rPr lang="en-CA" sz="2000" dirty="0" smtClean="0">
                <a:effectLst/>
                <a:latin typeface="Courier New" panose="02070309020205020404" pitchFamily="49" charset="0"/>
                <a:cs typeface="Courier New" panose="02070309020205020404" pitchFamily="49" charset="0"/>
              </a:rPr>
              <a:t> &lt;= 6)) return ERR_CORRUPT;</a:t>
            </a:r>
          </a:p>
          <a:p>
            <a:pPr marL="0" indent="0">
              <a:spcBef>
                <a:spcPts val="0"/>
              </a:spcBef>
              <a:spcAft>
                <a:spcPts val="0"/>
              </a:spcAft>
              <a:buFont typeface="Wingdings 3" panose="05040102010807070707" pitchFamily="18" charset="2"/>
              <a:buNone/>
            </a:pPr>
            <a:r>
              <a:rPr lang="en-CA" sz="2000" dirty="0" smtClean="0">
                <a:effectLst/>
                <a:latin typeface="Courier New" panose="02070309020205020404" pitchFamily="49" charset="0"/>
                <a:cs typeface="Courier New" panose="02070309020205020404" pitchFamily="49" charset="0"/>
              </a:rPr>
              <a:t>  if (!(</a:t>
            </a:r>
            <a:r>
              <a:rPr lang="en-CA" sz="2000" dirty="0" err="1" smtClean="0">
                <a:effectLst/>
                <a:latin typeface="Courier New" panose="02070309020205020404" pitchFamily="49" charset="0"/>
                <a:cs typeface="Courier New" panose="02070309020205020404" pitchFamily="49" charset="0"/>
              </a:rPr>
              <a:t>s_magic</a:t>
            </a:r>
            <a:r>
              <a:rPr lang="en-CA" sz="2000" dirty="0" smtClean="0">
                <a:effectLst/>
                <a:latin typeface="Courier New" panose="02070309020205020404" pitchFamily="49" charset="0"/>
                <a:cs typeface="Courier New" panose="02070309020205020404" pitchFamily="49" charset="0"/>
              </a:rPr>
              <a:t> == 0xef53)) return ERR_CORRUPT;</a:t>
            </a:r>
          </a:p>
          <a:p>
            <a:pPr marL="0" indent="0">
              <a:spcBef>
                <a:spcPts val="0"/>
              </a:spcBef>
              <a:spcAft>
                <a:spcPts val="0"/>
              </a:spcAft>
              <a:buFont typeface="Wingdings 3" panose="05040102010807070707" pitchFamily="18" charset="2"/>
              <a:buNone/>
            </a:pPr>
            <a:r>
              <a:rPr lang="en-CA" sz="2000" dirty="0" smtClean="0">
                <a:latin typeface="Courier New" panose="02070309020205020404" pitchFamily="49" charset="0"/>
                <a:cs typeface="Courier New" panose="02070309020205020404" pitchFamily="49" charset="0"/>
              </a:rPr>
              <a:t>  return 0;</a:t>
            </a:r>
          </a:p>
          <a:p>
            <a:pPr marL="0" indent="0">
              <a:spcBef>
                <a:spcPts val="0"/>
              </a:spcBef>
              <a:spcAft>
                <a:spcPts val="0"/>
              </a:spcAft>
              <a:buFont typeface="Wingdings 3" panose="05040102010807070707" pitchFamily="18" charset="2"/>
              <a:buNone/>
            </a:pPr>
            <a:r>
              <a:rPr lang="en-CA" sz="2000" dirty="0" smtClean="0">
                <a:latin typeface="Courier New" panose="02070309020205020404" pitchFamily="49" charset="0"/>
                <a:cs typeface="Courier New" panose="02070309020205020404" pitchFamily="49" charset="0"/>
              </a:rPr>
              <a:t>}</a:t>
            </a:r>
          </a:p>
        </p:txBody>
      </p:sp>
      <p:sp>
        <p:nvSpPr>
          <p:cNvPr id="10" name="Content Placeholder 6"/>
          <p:cNvSpPr txBox="1">
            <a:spLocks/>
          </p:cNvSpPr>
          <p:nvPr/>
        </p:nvSpPr>
        <p:spPr>
          <a:xfrm>
            <a:off x="684211" y="3603625"/>
            <a:ext cx="10285413" cy="517525"/>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r>
              <a:rPr lang="en-CA" dirty="0" smtClean="0"/>
              <a:t>Generated Code for ext4_super_block</a:t>
            </a:r>
          </a:p>
          <a:p>
            <a:pPr marL="0" indent="0">
              <a:buFont typeface="Wingdings 3" panose="05040102010807070707" pitchFamily="18" charset="2"/>
              <a:buNone/>
            </a:pPr>
            <a:endParaRPr lang="en-CA" sz="1800" dirty="0" smtClean="0"/>
          </a:p>
          <a:p>
            <a:endParaRPr lang="en-CA" dirty="0" smtClean="0"/>
          </a:p>
        </p:txBody>
      </p:sp>
    </p:spTree>
    <p:extLst>
      <p:ext uri="{BB962C8B-B14F-4D97-AF65-F5344CB8AC3E}">
        <p14:creationId xmlns:p14="http://schemas.microsoft.com/office/powerpoint/2010/main" val="643249131"/>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smtClean="0"/>
              <a:t>Generating Spiffy Library</a:t>
            </a:r>
            <a:endParaRPr lang="en-CA" dirty="0"/>
          </a:p>
        </p:txBody>
      </p:sp>
      <p:sp>
        <p:nvSpPr>
          <p:cNvPr id="10" name="Content Placeholder 6"/>
          <p:cNvSpPr txBox="1">
            <a:spLocks noGrp="1"/>
          </p:cNvSpPr>
          <p:nvPr>
            <p:ph idx="1"/>
          </p:nvPr>
        </p:nvSpPr>
        <p:spPr>
          <a:xfrm>
            <a:off x="684211" y="1515358"/>
            <a:ext cx="10285797" cy="1546819"/>
          </a:xfrm>
        </p:spPr>
        <p:txBody>
          <a:bodyPr>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r>
              <a:rPr lang="en-CA" dirty="0" smtClean="0"/>
              <a:t>C</a:t>
            </a:r>
            <a:r>
              <a:rPr lang="en-CA" dirty="0"/>
              <a:t>++ classes </a:t>
            </a:r>
            <a:r>
              <a:rPr lang="en-CA" dirty="0" smtClean="0"/>
              <a:t>are generated </a:t>
            </a:r>
            <a:r>
              <a:rPr lang="en-CA" dirty="0"/>
              <a:t>for all annotated structures </a:t>
            </a:r>
            <a:r>
              <a:rPr lang="en-CA" dirty="0" smtClean="0"/>
              <a:t/>
            </a:r>
            <a:br>
              <a:rPr lang="en-CA" dirty="0" smtClean="0"/>
            </a:br>
            <a:r>
              <a:rPr lang="en-CA" dirty="0" smtClean="0"/>
              <a:t>and </a:t>
            </a:r>
            <a:r>
              <a:rPr lang="en-CA" dirty="0"/>
              <a:t>their fields</a:t>
            </a:r>
          </a:p>
          <a:p>
            <a:pPr lvl="1"/>
            <a:r>
              <a:rPr lang="en-CA" dirty="0"/>
              <a:t>Enables type-safe parsing and serialization</a:t>
            </a:r>
          </a:p>
          <a:p>
            <a:pPr lvl="1"/>
            <a:r>
              <a:rPr lang="en-CA" dirty="0"/>
              <a:t>Allows introspection of type, size, name, and </a:t>
            </a:r>
            <a:r>
              <a:rPr lang="en-CA" dirty="0" smtClean="0"/>
              <a:t>parent</a:t>
            </a:r>
          </a:p>
          <a:p>
            <a:endParaRPr lang="en-CA" dirty="0" smtClean="0"/>
          </a:p>
          <a:p>
            <a:endParaRPr lang="en-CA" dirty="0" smtClean="0"/>
          </a:p>
          <a:p>
            <a:endParaRPr lang="en-CA" dirty="0"/>
          </a:p>
          <a:p>
            <a:endParaRPr lang="en-CA" dirty="0" smtClean="0"/>
          </a:p>
          <a:p>
            <a:endParaRPr lang="en-CA" dirty="0" smtClean="0"/>
          </a:p>
        </p:txBody>
      </p:sp>
      <p:sp>
        <p:nvSpPr>
          <p:cNvPr id="2" name="Slide Number Placeholder 1"/>
          <p:cNvSpPr>
            <a:spLocks noGrp="1"/>
          </p:cNvSpPr>
          <p:nvPr>
            <p:ph type="sldNum" sz="quarter" idx="12"/>
          </p:nvPr>
        </p:nvSpPr>
        <p:spPr/>
        <p:txBody>
          <a:bodyPr/>
          <a:lstStyle/>
          <a:p>
            <a:fld id="{7B2023C8-B124-43A9-8F92-0EEF5BAA9995}" type="slidenum">
              <a:rPr lang="en-CA" smtClean="0"/>
              <a:pPr/>
              <a:t>21</a:t>
            </a:fld>
            <a:endParaRPr lang="en-CA"/>
          </a:p>
        </p:txBody>
      </p:sp>
      <p:sp>
        <p:nvSpPr>
          <p:cNvPr id="11" name="Content Placeholder 8"/>
          <p:cNvSpPr txBox="1">
            <a:spLocks/>
          </p:cNvSpPr>
          <p:nvPr/>
        </p:nvSpPr>
        <p:spPr>
          <a:xfrm>
            <a:off x="684211" y="4174943"/>
            <a:ext cx="10604500" cy="2534467"/>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Font typeface="Wingdings 3" panose="05040102010807070707" pitchFamily="18" charset="2"/>
              <a:buNone/>
            </a:pPr>
            <a:r>
              <a:rPr lang="en-CA" sz="2000" dirty="0" err="1" smtClean="0">
                <a:latin typeface="Courier New" panose="02070309020205020404" pitchFamily="49" charset="0"/>
                <a:cs typeface="Courier New" panose="02070309020205020404" pitchFamily="49" charset="0"/>
              </a:rPr>
              <a:t>int</a:t>
            </a:r>
            <a:r>
              <a:rPr lang="en-CA" sz="2000" dirty="0" smtClean="0">
                <a:latin typeface="Courier New" panose="02070309020205020404" pitchFamily="49" charset="0"/>
                <a:cs typeface="Courier New" panose="02070309020205020404" pitchFamily="49" charset="0"/>
              </a:rPr>
              <a:t> Ext4SuperBlock::parse(</a:t>
            </a:r>
            <a:r>
              <a:rPr lang="en-CA" sz="2000" dirty="0" err="1" smtClean="0">
                <a:latin typeface="Courier New" panose="02070309020205020404" pitchFamily="49" charset="0"/>
                <a:cs typeface="Courier New" panose="02070309020205020404" pitchFamily="49" charset="0"/>
              </a:rPr>
              <a:t>const</a:t>
            </a:r>
            <a:r>
              <a:rPr lang="en-CA" sz="2000" dirty="0" smtClean="0">
                <a:latin typeface="Courier New" panose="02070309020205020404" pitchFamily="49" charset="0"/>
                <a:cs typeface="Courier New" panose="02070309020205020404" pitchFamily="49" charset="0"/>
              </a:rPr>
              <a:t> char * &amp; </a:t>
            </a:r>
            <a:r>
              <a:rPr lang="en-CA" sz="2000" dirty="0" err="1" smtClean="0">
                <a:latin typeface="Courier New" panose="02070309020205020404" pitchFamily="49" charset="0"/>
                <a:cs typeface="Courier New" panose="02070309020205020404" pitchFamily="49" charset="0"/>
              </a:rPr>
              <a:t>buf</a:t>
            </a:r>
            <a:r>
              <a:rPr lang="en-CA" sz="2000" dirty="0" smtClean="0">
                <a:latin typeface="Courier New" panose="02070309020205020404" pitchFamily="49" charset="0"/>
                <a:cs typeface="Courier New" panose="02070309020205020404" pitchFamily="49" charset="0"/>
              </a:rPr>
              <a:t>, unsigned &amp; </a:t>
            </a:r>
            <a:r>
              <a:rPr lang="en-CA" sz="2000" dirty="0" err="1" smtClean="0">
                <a:latin typeface="Courier New" panose="02070309020205020404" pitchFamily="49" charset="0"/>
                <a:cs typeface="Courier New" panose="02070309020205020404" pitchFamily="49" charset="0"/>
              </a:rPr>
              <a:t>len</a:t>
            </a:r>
            <a:r>
              <a:rPr lang="en-CA" sz="200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3" panose="05040102010807070707" pitchFamily="18" charset="2"/>
              <a:buNone/>
            </a:pPr>
            <a:r>
              <a:rPr lang="en-CA" sz="2000" dirty="0" smtClean="0">
                <a:latin typeface="Courier New" panose="02070309020205020404" pitchFamily="49" charset="0"/>
                <a:cs typeface="Courier New" panose="02070309020205020404" pitchFamily="49" charset="0"/>
              </a:rPr>
              <a:t>  </a:t>
            </a:r>
            <a:r>
              <a:rPr lang="en-CA" sz="2000" dirty="0" err="1" smtClean="0">
                <a:latin typeface="Courier New" panose="02070309020205020404" pitchFamily="49" charset="0"/>
                <a:cs typeface="Courier New" panose="02070309020205020404" pitchFamily="49" charset="0"/>
              </a:rPr>
              <a:t>int</a:t>
            </a:r>
            <a:r>
              <a:rPr lang="en-CA" sz="2000" dirty="0" smtClean="0">
                <a:latin typeface="Courier New" panose="02070309020205020404" pitchFamily="49" charset="0"/>
                <a:cs typeface="Courier New" panose="02070309020205020404" pitchFamily="49" charset="0"/>
              </a:rPr>
              <a:t> ret; </a:t>
            </a:r>
          </a:p>
          <a:p>
            <a:pPr marL="0" indent="0">
              <a:spcBef>
                <a:spcPts val="0"/>
              </a:spcBef>
              <a:spcAft>
                <a:spcPts val="0"/>
              </a:spcAft>
              <a:buFont typeface="Wingdings 3" panose="05040102010807070707" pitchFamily="18" charset="2"/>
              <a:buNone/>
            </a:pPr>
            <a:r>
              <a:rPr lang="en-CA" sz="2000" dirty="0" smtClean="0">
                <a:latin typeface="Courier New" panose="02070309020205020404" pitchFamily="49" charset="0"/>
                <a:cs typeface="Courier New" panose="02070309020205020404" pitchFamily="49" charset="0"/>
              </a:rPr>
              <a:t>  if ((ret = </a:t>
            </a:r>
            <a:r>
              <a:rPr lang="en-CA" sz="2000" dirty="0" err="1" smtClean="0">
                <a:latin typeface="Courier New" panose="02070309020205020404" pitchFamily="49" charset="0"/>
                <a:cs typeface="Courier New" panose="02070309020205020404" pitchFamily="49" charset="0"/>
              </a:rPr>
              <a:t>s_log_block_size.parse</a:t>
            </a:r>
            <a:r>
              <a:rPr lang="en-CA" sz="2000" dirty="0" smtClean="0">
                <a:latin typeface="Courier New" panose="02070309020205020404" pitchFamily="49" charset="0"/>
                <a:cs typeface="Courier New" panose="02070309020205020404" pitchFamily="49" charset="0"/>
              </a:rPr>
              <a:t>(</a:t>
            </a:r>
            <a:r>
              <a:rPr lang="en-CA" sz="2000" dirty="0" err="1" smtClean="0">
                <a:latin typeface="Courier New" panose="02070309020205020404" pitchFamily="49" charset="0"/>
                <a:cs typeface="Courier New" panose="02070309020205020404" pitchFamily="49" charset="0"/>
              </a:rPr>
              <a:t>buf</a:t>
            </a:r>
            <a:r>
              <a:rPr lang="en-CA" sz="2000" dirty="0" smtClean="0">
                <a:latin typeface="Courier New" panose="02070309020205020404" pitchFamily="49" charset="0"/>
                <a:cs typeface="Courier New" panose="02070309020205020404" pitchFamily="49" charset="0"/>
              </a:rPr>
              <a:t>, </a:t>
            </a:r>
            <a:r>
              <a:rPr lang="en-CA" sz="2000" dirty="0" err="1" smtClean="0">
                <a:latin typeface="Courier New" panose="02070309020205020404" pitchFamily="49" charset="0"/>
                <a:cs typeface="Courier New" panose="02070309020205020404" pitchFamily="49" charset="0"/>
              </a:rPr>
              <a:t>len</a:t>
            </a:r>
            <a:r>
              <a:rPr lang="en-CA" sz="2000" dirty="0" smtClean="0">
                <a:latin typeface="Courier New" panose="02070309020205020404" pitchFamily="49" charset="0"/>
                <a:cs typeface="Courier New" panose="02070309020205020404" pitchFamily="49" charset="0"/>
              </a:rPr>
              <a:t>)) &lt; 0) return ret;</a:t>
            </a:r>
          </a:p>
          <a:p>
            <a:pPr marL="0" indent="0">
              <a:spcBef>
                <a:spcPts val="0"/>
              </a:spcBef>
              <a:spcAft>
                <a:spcPts val="0"/>
              </a:spcAft>
              <a:buFont typeface="Wingdings 3" panose="05040102010807070707" pitchFamily="18" charset="2"/>
              <a:buNone/>
            </a:pPr>
            <a:r>
              <a:rPr lang="en-CA" sz="200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3" panose="05040102010807070707" pitchFamily="18" charset="2"/>
              <a:buNone/>
            </a:pPr>
            <a:r>
              <a:rPr lang="en-CA" sz="2000" dirty="0" smtClean="0">
                <a:effectLst/>
                <a:latin typeface="Courier New" panose="02070309020205020404" pitchFamily="49" charset="0"/>
                <a:cs typeface="Courier New" panose="02070309020205020404" pitchFamily="49" charset="0"/>
              </a:rPr>
              <a:t>  if (!(</a:t>
            </a:r>
            <a:r>
              <a:rPr lang="en-CA" sz="2000" dirty="0" err="1" smtClean="0">
                <a:effectLst/>
                <a:latin typeface="Courier New" panose="02070309020205020404" pitchFamily="49" charset="0"/>
                <a:cs typeface="Courier New" panose="02070309020205020404" pitchFamily="49" charset="0"/>
              </a:rPr>
              <a:t>s_log_block_size</a:t>
            </a:r>
            <a:r>
              <a:rPr lang="en-CA" sz="2000" dirty="0" smtClean="0">
                <a:effectLst/>
                <a:latin typeface="Courier New" panose="02070309020205020404" pitchFamily="49" charset="0"/>
                <a:cs typeface="Courier New" panose="02070309020205020404" pitchFamily="49" charset="0"/>
              </a:rPr>
              <a:t> &lt;= 6)) return ERR_CORRUPT;</a:t>
            </a:r>
          </a:p>
          <a:p>
            <a:pPr marL="0" indent="0">
              <a:spcBef>
                <a:spcPts val="0"/>
              </a:spcBef>
              <a:spcAft>
                <a:spcPts val="0"/>
              </a:spcAft>
              <a:buFont typeface="Wingdings 3" panose="05040102010807070707" pitchFamily="18" charset="2"/>
              <a:buNone/>
            </a:pPr>
            <a:r>
              <a:rPr lang="en-CA" sz="2000" dirty="0" smtClean="0">
                <a:effectLst/>
                <a:latin typeface="Courier New" panose="02070309020205020404" pitchFamily="49" charset="0"/>
                <a:cs typeface="Courier New" panose="02070309020205020404" pitchFamily="49" charset="0"/>
              </a:rPr>
              <a:t>  if (!(</a:t>
            </a:r>
            <a:r>
              <a:rPr lang="en-CA" sz="2000" dirty="0" err="1" smtClean="0">
                <a:effectLst/>
                <a:latin typeface="Courier New" panose="02070309020205020404" pitchFamily="49" charset="0"/>
                <a:cs typeface="Courier New" panose="02070309020205020404" pitchFamily="49" charset="0"/>
              </a:rPr>
              <a:t>s_magic</a:t>
            </a:r>
            <a:r>
              <a:rPr lang="en-CA" sz="2000" dirty="0" smtClean="0">
                <a:effectLst/>
                <a:latin typeface="Courier New" panose="02070309020205020404" pitchFamily="49" charset="0"/>
                <a:cs typeface="Courier New" panose="02070309020205020404" pitchFamily="49" charset="0"/>
              </a:rPr>
              <a:t> == 0xef53)) return ERR_CORRUPT;</a:t>
            </a:r>
          </a:p>
          <a:p>
            <a:pPr marL="0" indent="0">
              <a:spcBef>
                <a:spcPts val="0"/>
              </a:spcBef>
              <a:spcAft>
                <a:spcPts val="0"/>
              </a:spcAft>
              <a:buFont typeface="Wingdings 3" panose="05040102010807070707" pitchFamily="18" charset="2"/>
              <a:buNone/>
            </a:pPr>
            <a:r>
              <a:rPr lang="en-CA" sz="2000" dirty="0" smtClean="0">
                <a:latin typeface="Courier New" panose="02070309020205020404" pitchFamily="49" charset="0"/>
                <a:cs typeface="Courier New" panose="02070309020205020404" pitchFamily="49" charset="0"/>
              </a:rPr>
              <a:t>  return 0;</a:t>
            </a:r>
          </a:p>
          <a:p>
            <a:pPr marL="0" indent="0">
              <a:spcBef>
                <a:spcPts val="0"/>
              </a:spcBef>
              <a:spcAft>
                <a:spcPts val="0"/>
              </a:spcAft>
              <a:buFont typeface="Wingdings 3" panose="05040102010807070707" pitchFamily="18" charset="2"/>
              <a:buNone/>
            </a:pPr>
            <a:r>
              <a:rPr lang="en-CA" sz="2000" dirty="0" smtClean="0">
                <a:latin typeface="Courier New" panose="02070309020205020404" pitchFamily="49" charset="0"/>
                <a:cs typeface="Courier New" panose="02070309020205020404" pitchFamily="49" charset="0"/>
              </a:rPr>
              <a:t>}</a:t>
            </a:r>
          </a:p>
        </p:txBody>
      </p:sp>
      <p:sp>
        <p:nvSpPr>
          <p:cNvPr id="12" name="Content Placeholder 6"/>
          <p:cNvSpPr txBox="1">
            <a:spLocks/>
          </p:cNvSpPr>
          <p:nvPr/>
        </p:nvSpPr>
        <p:spPr>
          <a:xfrm>
            <a:off x="684211" y="3603625"/>
            <a:ext cx="10285413" cy="517525"/>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r>
              <a:rPr lang="en-CA" dirty="0" smtClean="0"/>
              <a:t>Generated Code for ext4_super_block</a:t>
            </a:r>
          </a:p>
          <a:p>
            <a:pPr marL="0" indent="0">
              <a:buFont typeface="Wingdings 3" panose="05040102010807070707" pitchFamily="18" charset="2"/>
              <a:buNone/>
            </a:pPr>
            <a:endParaRPr lang="en-CA" sz="1800" dirty="0" smtClean="0"/>
          </a:p>
          <a:p>
            <a:endParaRPr lang="en-CA" dirty="0" smtClean="0"/>
          </a:p>
        </p:txBody>
      </p:sp>
    </p:spTree>
    <p:extLst>
      <p:ext uri="{BB962C8B-B14F-4D97-AF65-F5344CB8AC3E}">
        <p14:creationId xmlns:p14="http://schemas.microsoft.com/office/powerpoint/2010/main" val="2450566777"/>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Annotation Effort</a:t>
            </a:r>
            <a:endParaRPr lang="en-CA" dirty="0"/>
          </a:p>
        </p:txBody>
      </p:sp>
      <p:sp>
        <p:nvSpPr>
          <p:cNvPr id="3" name="Content Placeholder 2"/>
          <p:cNvSpPr>
            <a:spLocks noGrp="1"/>
          </p:cNvSpPr>
          <p:nvPr>
            <p:ph idx="1"/>
          </p:nvPr>
        </p:nvSpPr>
        <p:spPr/>
        <p:txBody>
          <a:bodyPr/>
          <a:lstStyle/>
          <a:p>
            <a:endParaRPr lang="en-CA" dirty="0" smtClean="0"/>
          </a:p>
          <a:p>
            <a:endParaRPr lang="en-CA" dirty="0"/>
          </a:p>
          <a:p>
            <a:endParaRPr lang="en-CA" dirty="0" smtClean="0"/>
          </a:p>
          <a:p>
            <a:endParaRPr lang="en-CA" dirty="0"/>
          </a:p>
          <a:p>
            <a:r>
              <a:rPr lang="en-CA" dirty="0" smtClean="0"/>
              <a:t>Lines of code required to correctly annotate modern file systems</a:t>
            </a:r>
          </a:p>
          <a:p>
            <a:pPr lvl="1"/>
            <a:r>
              <a:rPr lang="en-CA" dirty="0" smtClean="0"/>
              <a:t>Need to declare some structures</a:t>
            </a:r>
          </a:p>
          <a:p>
            <a:pPr lvl="2"/>
            <a:r>
              <a:rPr lang="en-CA" dirty="0" smtClean="0"/>
              <a:t>E.g. Ext4 indirect block is assumed to be an array of 4-byte pointers</a:t>
            </a:r>
          </a:p>
          <a:p>
            <a:pPr lvl="1"/>
            <a:r>
              <a:rPr lang="en-CA" dirty="0" smtClean="0"/>
              <a:t>Changed some structures for clarity</a:t>
            </a:r>
          </a:p>
          <a:p>
            <a:pPr lvl="2"/>
            <a:r>
              <a:rPr lang="en-CA" dirty="0" smtClean="0"/>
              <a:t>E.g. block pointers in Ext4 </a:t>
            </a:r>
            <a:r>
              <a:rPr lang="en-CA" dirty="0" err="1" smtClean="0"/>
              <a:t>inode</a:t>
            </a:r>
            <a:r>
              <a:rPr lang="en-CA" dirty="0" smtClean="0"/>
              <a:t> is an array of 15 pointers, the first 12 are direct block pointers, while the last 3 are indirect pointers of different types</a:t>
            </a:r>
          </a:p>
          <a:p>
            <a:pPr lvl="2"/>
            <a:endParaRPr lang="en-CA" dirty="0" smtClean="0"/>
          </a:p>
        </p:txBody>
      </p:sp>
      <p:sp>
        <p:nvSpPr>
          <p:cNvPr id="6" name="Slide Number Placeholder 5"/>
          <p:cNvSpPr>
            <a:spLocks noGrp="1"/>
          </p:cNvSpPr>
          <p:nvPr>
            <p:ph type="sldNum" sz="quarter" idx="12"/>
          </p:nvPr>
        </p:nvSpPr>
        <p:spPr/>
        <p:txBody>
          <a:bodyPr/>
          <a:lstStyle/>
          <a:p>
            <a:fld id="{7B2023C8-B124-43A9-8F92-0EEF5BAA9995}" type="slidenum">
              <a:rPr lang="en-CA" smtClean="0"/>
              <a:pPr/>
              <a:t>22</a:t>
            </a:fld>
            <a:endParaRPr lang="en-CA" dirty="0"/>
          </a:p>
        </p:txBody>
      </p:sp>
      <p:graphicFrame>
        <p:nvGraphicFramePr>
          <p:cNvPr id="5" name="Table 4"/>
          <p:cNvGraphicFramePr>
            <a:graphicFrameLocks noGrp="1"/>
          </p:cNvGraphicFramePr>
          <p:nvPr>
            <p:extLst>
              <p:ext uri="{D42A27DB-BD31-4B8C-83A1-F6EECF244321}">
                <p14:modId xmlns:p14="http://schemas.microsoft.com/office/powerpoint/2010/main" val="4041947549"/>
              </p:ext>
            </p:extLst>
          </p:nvPr>
        </p:nvGraphicFramePr>
        <p:xfrm>
          <a:off x="2024016" y="1507237"/>
          <a:ext cx="6359598" cy="1706880"/>
        </p:xfrm>
        <a:graphic>
          <a:graphicData uri="http://schemas.openxmlformats.org/drawingml/2006/table">
            <a:tbl>
              <a:tblPr firstRow="1" bandRow="1">
                <a:tableStyleId>{69012ECD-51FC-41F1-AA8D-1B2483CD663E}</a:tableStyleId>
              </a:tblPr>
              <a:tblGrid>
                <a:gridCol w="2119866">
                  <a:extLst>
                    <a:ext uri="{9D8B030D-6E8A-4147-A177-3AD203B41FA5}">
                      <a16:colId xmlns:a16="http://schemas.microsoft.com/office/drawing/2014/main" xmlns="" val="20000"/>
                    </a:ext>
                  </a:extLst>
                </a:gridCol>
                <a:gridCol w="2119866">
                  <a:extLst>
                    <a:ext uri="{9D8B030D-6E8A-4147-A177-3AD203B41FA5}">
                      <a16:colId xmlns:a16="http://schemas.microsoft.com/office/drawing/2014/main" xmlns="" val="20001"/>
                    </a:ext>
                  </a:extLst>
                </a:gridCol>
                <a:gridCol w="2119866">
                  <a:extLst>
                    <a:ext uri="{9D8B030D-6E8A-4147-A177-3AD203B41FA5}">
                      <a16:colId xmlns:a16="http://schemas.microsoft.com/office/drawing/2014/main" xmlns="" val="20002"/>
                    </a:ext>
                  </a:extLst>
                </a:gridCol>
              </a:tblGrid>
              <a:tr h="370840">
                <a:tc>
                  <a:txBody>
                    <a:bodyPr/>
                    <a:lstStyle/>
                    <a:p>
                      <a:r>
                        <a:rPr lang="en-CA" sz="2200" dirty="0" smtClean="0">
                          <a:solidFill>
                            <a:schemeClr val="tx1"/>
                          </a:solidFill>
                        </a:rPr>
                        <a:t>File System</a:t>
                      </a:r>
                      <a:endParaRPr lang="en-CA" sz="2200" dirty="0">
                        <a:solidFill>
                          <a:schemeClr val="tx1"/>
                        </a:solidFill>
                      </a:endParaRPr>
                    </a:p>
                  </a:txBody>
                  <a:tcPr/>
                </a:tc>
                <a:tc>
                  <a:txBody>
                    <a:bodyPr/>
                    <a:lstStyle/>
                    <a:p>
                      <a:r>
                        <a:rPr lang="en-CA" sz="2200" dirty="0" smtClean="0">
                          <a:solidFill>
                            <a:schemeClr val="tx1"/>
                          </a:solidFill>
                        </a:rPr>
                        <a:t>Line Count</a:t>
                      </a:r>
                      <a:endParaRPr lang="en-CA" sz="2200" dirty="0">
                        <a:solidFill>
                          <a:schemeClr val="tx1"/>
                        </a:solidFill>
                      </a:endParaRPr>
                    </a:p>
                  </a:txBody>
                  <a:tcPr/>
                </a:tc>
                <a:tc>
                  <a:txBody>
                    <a:bodyPr/>
                    <a:lstStyle/>
                    <a:p>
                      <a:r>
                        <a:rPr lang="en-CA" sz="2200" dirty="0" smtClean="0">
                          <a:solidFill>
                            <a:schemeClr val="tx1"/>
                          </a:solidFill>
                        </a:rPr>
                        <a:t>Annotated</a:t>
                      </a:r>
                      <a:endParaRPr lang="en-CA" sz="2200" dirty="0">
                        <a:solidFill>
                          <a:schemeClr val="tx1"/>
                        </a:solidFill>
                      </a:endParaRPr>
                    </a:p>
                  </a:txBody>
                  <a:tcPr/>
                </a:tc>
                <a:extLst>
                  <a:ext uri="{0D108BD9-81ED-4DB2-BD59-A6C34878D82A}">
                    <a16:rowId xmlns:a16="http://schemas.microsoft.com/office/drawing/2014/main" xmlns="" val="10000"/>
                  </a:ext>
                </a:extLst>
              </a:tr>
              <a:tr h="370840">
                <a:tc>
                  <a:txBody>
                    <a:bodyPr/>
                    <a:lstStyle/>
                    <a:p>
                      <a:r>
                        <a:rPr lang="en-CA" sz="2200" dirty="0" smtClean="0">
                          <a:solidFill>
                            <a:schemeClr val="bg1"/>
                          </a:solidFill>
                        </a:rPr>
                        <a:t>Ext4</a:t>
                      </a:r>
                      <a:endParaRPr lang="en-CA" sz="2200" dirty="0">
                        <a:solidFill>
                          <a:schemeClr val="bg1"/>
                        </a:solidFill>
                      </a:endParaRPr>
                    </a:p>
                  </a:txBody>
                  <a:tcPr/>
                </a:tc>
                <a:tc>
                  <a:txBody>
                    <a:bodyPr/>
                    <a:lstStyle/>
                    <a:p>
                      <a:r>
                        <a:rPr lang="en-CA" sz="2200" dirty="0" smtClean="0">
                          <a:solidFill>
                            <a:schemeClr val="bg1"/>
                          </a:solidFill>
                        </a:rPr>
                        <a:t>491</a:t>
                      </a:r>
                      <a:endParaRPr lang="en-CA" sz="2200" dirty="0">
                        <a:solidFill>
                          <a:schemeClr val="bg1"/>
                        </a:solidFill>
                      </a:endParaRPr>
                    </a:p>
                  </a:txBody>
                  <a:tcPr/>
                </a:tc>
                <a:tc>
                  <a:txBody>
                    <a:bodyPr/>
                    <a:lstStyle/>
                    <a:p>
                      <a:r>
                        <a:rPr lang="en-CA" sz="2200" dirty="0" smtClean="0">
                          <a:solidFill>
                            <a:schemeClr val="bg1"/>
                          </a:solidFill>
                        </a:rPr>
                        <a:t>113</a:t>
                      </a:r>
                      <a:endParaRPr lang="en-CA" sz="2200" dirty="0">
                        <a:solidFill>
                          <a:schemeClr val="bg1"/>
                        </a:solidFill>
                      </a:endParaRPr>
                    </a:p>
                  </a:txBody>
                  <a:tcPr/>
                </a:tc>
                <a:extLst>
                  <a:ext uri="{0D108BD9-81ED-4DB2-BD59-A6C34878D82A}">
                    <a16:rowId xmlns:a16="http://schemas.microsoft.com/office/drawing/2014/main" xmlns="" val="10001"/>
                  </a:ext>
                </a:extLst>
              </a:tr>
              <a:tr h="370840">
                <a:tc>
                  <a:txBody>
                    <a:bodyPr/>
                    <a:lstStyle/>
                    <a:p>
                      <a:r>
                        <a:rPr lang="en-CA" sz="2200" dirty="0" err="1" smtClean="0">
                          <a:solidFill>
                            <a:schemeClr val="bg1"/>
                          </a:solidFill>
                        </a:rPr>
                        <a:t>Btrfs</a:t>
                      </a:r>
                      <a:endParaRPr lang="en-CA" sz="2200" dirty="0">
                        <a:solidFill>
                          <a:schemeClr val="bg1"/>
                        </a:solidFill>
                      </a:endParaRPr>
                    </a:p>
                  </a:txBody>
                  <a:tcPr/>
                </a:tc>
                <a:tc>
                  <a:txBody>
                    <a:bodyPr/>
                    <a:lstStyle/>
                    <a:p>
                      <a:r>
                        <a:rPr lang="en-CA" sz="2200" dirty="0" smtClean="0">
                          <a:solidFill>
                            <a:schemeClr val="bg1"/>
                          </a:solidFill>
                        </a:rPr>
                        <a:t>556</a:t>
                      </a:r>
                      <a:endParaRPr lang="en-CA" sz="2200" dirty="0">
                        <a:solidFill>
                          <a:schemeClr val="bg1"/>
                        </a:solidFill>
                      </a:endParaRPr>
                    </a:p>
                  </a:txBody>
                  <a:tcPr/>
                </a:tc>
                <a:tc>
                  <a:txBody>
                    <a:bodyPr/>
                    <a:lstStyle/>
                    <a:p>
                      <a:r>
                        <a:rPr lang="en-CA" sz="2200" dirty="0" smtClean="0">
                          <a:solidFill>
                            <a:schemeClr val="bg1"/>
                          </a:solidFill>
                        </a:rPr>
                        <a:t>151</a:t>
                      </a:r>
                      <a:endParaRPr lang="en-CA" sz="2200" dirty="0">
                        <a:solidFill>
                          <a:schemeClr val="bg1"/>
                        </a:solidFill>
                      </a:endParaRPr>
                    </a:p>
                  </a:txBody>
                  <a:tcPr/>
                </a:tc>
                <a:extLst>
                  <a:ext uri="{0D108BD9-81ED-4DB2-BD59-A6C34878D82A}">
                    <a16:rowId xmlns:a16="http://schemas.microsoft.com/office/drawing/2014/main" xmlns="" val="10002"/>
                  </a:ext>
                </a:extLst>
              </a:tr>
              <a:tr h="370840">
                <a:tc>
                  <a:txBody>
                    <a:bodyPr/>
                    <a:lstStyle/>
                    <a:p>
                      <a:r>
                        <a:rPr lang="en-CA" sz="2200" dirty="0" smtClean="0">
                          <a:solidFill>
                            <a:schemeClr val="bg1"/>
                          </a:solidFill>
                        </a:rPr>
                        <a:t>F2FS</a:t>
                      </a:r>
                      <a:endParaRPr lang="en-CA" sz="2200" dirty="0">
                        <a:solidFill>
                          <a:schemeClr val="bg1"/>
                        </a:solidFill>
                      </a:endParaRPr>
                    </a:p>
                  </a:txBody>
                  <a:tcPr/>
                </a:tc>
                <a:tc>
                  <a:txBody>
                    <a:bodyPr/>
                    <a:lstStyle/>
                    <a:p>
                      <a:r>
                        <a:rPr lang="en-CA" sz="2200" dirty="0" smtClean="0">
                          <a:solidFill>
                            <a:schemeClr val="bg1"/>
                          </a:solidFill>
                        </a:rPr>
                        <a:t>462</a:t>
                      </a:r>
                      <a:endParaRPr lang="en-CA" sz="2200" dirty="0">
                        <a:solidFill>
                          <a:schemeClr val="bg1"/>
                        </a:solidFill>
                      </a:endParaRPr>
                    </a:p>
                  </a:txBody>
                  <a:tcPr/>
                </a:tc>
                <a:tc>
                  <a:txBody>
                    <a:bodyPr/>
                    <a:lstStyle/>
                    <a:p>
                      <a:r>
                        <a:rPr lang="en-CA" sz="2200" dirty="0" smtClean="0">
                          <a:solidFill>
                            <a:schemeClr val="bg1"/>
                          </a:solidFill>
                        </a:rPr>
                        <a:t>127</a:t>
                      </a:r>
                      <a:endParaRPr lang="en-CA" sz="2200" dirty="0">
                        <a:solidFill>
                          <a:schemeClr val="bg1"/>
                        </a:solidFill>
                      </a:endParaRPr>
                    </a:p>
                  </a:txBody>
                  <a:tcPr/>
                </a:tc>
                <a:extLst>
                  <a:ext uri="{0D108BD9-81ED-4DB2-BD59-A6C34878D82A}">
                    <a16:rowId xmlns:a16="http://schemas.microsoft.com/office/drawing/2014/main" xmlns="" val="10003"/>
                  </a:ext>
                </a:extLst>
              </a:tr>
            </a:tbl>
          </a:graphicData>
        </a:graphic>
      </p:graphicFrame>
    </p:spTree>
    <p:extLst>
      <p:ext uri="{BB962C8B-B14F-4D97-AF65-F5344CB8AC3E}">
        <p14:creationId xmlns:p14="http://schemas.microsoft.com/office/powerpoint/2010/main" val="3499493329"/>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Building Applications</a:t>
            </a:r>
            <a:endParaRPr lang="en-CA" dirty="0"/>
          </a:p>
        </p:txBody>
      </p:sp>
      <p:sp>
        <p:nvSpPr>
          <p:cNvPr id="3" name="Content Placeholder 2"/>
          <p:cNvSpPr>
            <a:spLocks noGrp="1"/>
          </p:cNvSpPr>
          <p:nvPr>
            <p:ph idx="1"/>
          </p:nvPr>
        </p:nvSpPr>
        <p:spPr/>
        <p:txBody>
          <a:bodyPr/>
          <a:lstStyle/>
          <a:p>
            <a:r>
              <a:rPr lang="en-CA" smtClean="0"/>
              <a:t>Example: File System Free Space Tool</a:t>
            </a:r>
          </a:p>
          <a:p>
            <a:pPr lvl="1"/>
            <a:r>
              <a:rPr lang="en-CA" smtClean="0"/>
              <a:t>Plots histogram of size of free extents</a:t>
            </a:r>
          </a:p>
          <a:p>
            <a:pPr lvl="1"/>
            <a:r>
              <a:rPr lang="en-CA" smtClean="0"/>
              <a:t>Application requires knowledge of how file system tracks block allocation</a:t>
            </a:r>
          </a:p>
          <a:p>
            <a:r>
              <a:rPr lang="en-CA" smtClean="0"/>
              <a:t>Manually</a:t>
            </a:r>
          </a:p>
          <a:p>
            <a:pPr lvl="1"/>
            <a:r>
              <a:rPr lang="en-CA" smtClean="0"/>
              <a:t>Write code to traverse file system and access relevant metadata</a:t>
            </a:r>
          </a:p>
          <a:p>
            <a:pPr lvl="2"/>
            <a:r>
              <a:rPr lang="en-CA" smtClean="0"/>
              <a:t>Often through trial-and-error</a:t>
            </a:r>
          </a:p>
          <a:p>
            <a:pPr lvl="1"/>
            <a:r>
              <a:rPr lang="en-CA" smtClean="0"/>
              <a:t>Write code to process relevant metadata</a:t>
            </a:r>
          </a:p>
          <a:p>
            <a:r>
              <a:rPr lang="en-CA" smtClean="0"/>
              <a:t>Spiffy framework</a:t>
            </a:r>
          </a:p>
          <a:p>
            <a:pPr lvl="1"/>
            <a:r>
              <a:rPr lang="en-CA" smtClean="0"/>
              <a:t>Simplifies the traversal and helps make it more robust</a:t>
            </a:r>
          </a:p>
          <a:p>
            <a:pPr lvl="1"/>
            <a:r>
              <a:rPr lang="en-CA" smtClean="0"/>
              <a:t>Application program focuses on processing relevant metadata</a:t>
            </a:r>
          </a:p>
          <a:p>
            <a:pPr lvl="1"/>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23</a:t>
            </a:fld>
            <a:endParaRPr lang="en-CA" dirty="0"/>
          </a:p>
        </p:txBody>
      </p:sp>
    </p:spTree>
    <p:extLst>
      <p:ext uri="{BB962C8B-B14F-4D97-AF65-F5344CB8AC3E}">
        <p14:creationId xmlns:p14="http://schemas.microsoft.com/office/powerpoint/2010/main" val="3324490692"/>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Content Placeholder 6"/>
          <p:cNvSpPr txBox="1">
            <a:spLocks/>
          </p:cNvSpPr>
          <p:nvPr/>
        </p:nvSpPr>
        <p:spPr>
          <a:xfrm>
            <a:off x="684212" y="1507237"/>
            <a:ext cx="10285797" cy="4784102"/>
          </a:xfrm>
          <a:prstGeom prst="rect">
            <a:avLst/>
          </a:prstGeom>
          <a:noFill/>
          <a:ln>
            <a:noFill/>
          </a:ln>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8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800" dirty="0" smtClean="0">
                <a:latin typeface="Courier New" panose="02070309020205020404" pitchFamily="49" charset="0"/>
                <a:cs typeface="Courier New" panose="02070309020205020404" pitchFamily="49" charset="0"/>
              </a:rPr>
              <a:t> </a:t>
            </a:r>
            <a:r>
              <a:rPr lang="en-CA" sz="1800" b="1" dirty="0" smtClean="0">
                <a:latin typeface="Courier New" panose="02070309020205020404" pitchFamily="49" charset="0"/>
                <a:cs typeface="Courier New" panose="02070309020205020404" pitchFamily="49" charset="0"/>
              </a:rPr>
              <a:t>process_ext4</a:t>
            </a:r>
            <a:r>
              <a:rPr lang="en-CA" sz="1800" dirty="0" smtClean="0">
                <a:latin typeface="Courier New" panose="02070309020205020404" pitchFamily="49" charset="0"/>
                <a:cs typeface="Courier New" panose="02070309020205020404" pitchFamily="49" charset="0"/>
              </a:rPr>
              <a:t>(vector&lt;Extent&gt; &amp; </a:t>
            </a:r>
            <a:r>
              <a:rPr lang="en-CA" sz="1800" dirty="0" err="1" smtClean="0">
                <a:latin typeface="Courier New" panose="02070309020205020404" pitchFamily="49" charset="0"/>
                <a:cs typeface="Courier New" panose="02070309020205020404" pitchFamily="49" charset="0"/>
              </a:rPr>
              <a:t>vec</a:t>
            </a:r>
            <a:r>
              <a:rPr lang="en-CA" sz="18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struct</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ext4_super_block *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dev.read</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(1024, SB_SIZE);</a:t>
            </a:r>
          </a:p>
          <a:p>
            <a:pPr marL="0" indent="0">
              <a:lnSpc>
                <a:spcPts val="2000"/>
              </a:lnSpc>
              <a:spcBef>
                <a:spcPts val="0"/>
              </a:spcBef>
              <a:spcAft>
                <a:spcPts val="0"/>
              </a:spcAft>
              <a:buNone/>
            </a:pPr>
            <a:r>
              <a:rPr lang="en-CA" sz="1800" dirty="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blk_size</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800" dirty="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1024 &lt;&lt; </a:t>
            </a:r>
            <a:r>
              <a:rPr lang="en-CA" sz="1800" dirty="0" err="1">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800" dirty="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s_log_block_size</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dev.set_block_size</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blk_size</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block group descriptors start at block 2 or 1 */</a:t>
            </a:r>
          </a:p>
          <a:p>
            <a:pPr marL="0" indent="0">
              <a:lnSpc>
                <a:spcPts val="2000"/>
              </a:lnSpc>
              <a:spcBef>
                <a:spcPts val="0"/>
              </a:spcBef>
              <a:spcAft>
                <a:spcPts val="0"/>
              </a:spcAft>
              <a:buFont typeface="Wingdings 3" panose="05040102010807070707" pitchFamily="18" charset="2"/>
              <a:buNone/>
            </a:pP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bg_blknr</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s_log_block_size</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0) 2 : 1;</a:t>
            </a:r>
          </a:p>
          <a:p>
            <a:pPr marL="0" indent="0">
              <a:lnSpc>
                <a:spcPts val="2000"/>
              </a:lnSpc>
              <a:spcBef>
                <a:spcPts val="0"/>
              </a:spcBef>
              <a:spcAft>
                <a:spcPts val="0"/>
              </a:spcAft>
              <a:buFont typeface="Wingdings 3" panose="05040102010807070707" pitchFamily="18" charset="2"/>
              <a:buNone/>
            </a:pP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bg_ngrps</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ceil(</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s_blocks_count</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s_blocks_per_group</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bg_nblks</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ceil(</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bg_ngrps</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sizeof</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struct</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ext4_group_desc), </a:t>
            </a:r>
            <a:r>
              <a:rPr lang="en-CA" sz="1800" dirty="0" err="1">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blk_size</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struct</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ext4_group_desc *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gd</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dev.read_block</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bg_blknr</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bg_nblks</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for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0;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&lt; </a:t>
            </a:r>
            <a:r>
              <a:rPr lang="en-CA" sz="1800" dirty="0" err="1">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bg_ngrps</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char *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buf</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dev.read_block</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gd</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bg_block_bitmap</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r>
              <a:rPr lang="en-CA" sz="1800" b="1"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800" b="1" dirty="0" smtClean="0">
                <a:latin typeface="Courier New" panose="02070309020205020404" pitchFamily="49" charset="0"/>
                <a:cs typeface="Courier New" panose="02070309020205020404" pitchFamily="49" charset="0"/>
              </a:rPr>
              <a:t> ret = </a:t>
            </a:r>
            <a:r>
              <a:rPr lang="en-CA" sz="1800" b="1" dirty="0" err="1" smtClean="0">
                <a:latin typeface="Courier New" panose="02070309020205020404" pitchFamily="49" charset="0"/>
                <a:cs typeface="Courier New" panose="02070309020205020404" pitchFamily="49" charset="0"/>
              </a:rPr>
              <a:t>process_block_bitmap</a:t>
            </a:r>
            <a:r>
              <a:rPr lang="en-CA" sz="1800" b="1" dirty="0" smtClean="0">
                <a:latin typeface="Courier New" panose="02070309020205020404" pitchFamily="49" charset="0"/>
                <a:cs typeface="Courier New" panose="02070309020205020404" pitchFamily="49" charset="0"/>
              </a:rPr>
              <a:t>(</a:t>
            </a:r>
            <a:r>
              <a:rPr lang="en-CA" sz="1800" b="1" dirty="0" err="1" smtClean="0">
                <a:latin typeface="Courier New" panose="02070309020205020404" pitchFamily="49" charset="0"/>
                <a:cs typeface="Courier New" panose="02070309020205020404" pitchFamily="49" charset="0"/>
              </a:rPr>
              <a:t>buf</a:t>
            </a:r>
            <a:r>
              <a:rPr lang="en-CA" sz="1800" b="1" dirty="0" smtClean="0">
                <a:latin typeface="Courier New" panose="02070309020205020404" pitchFamily="49" charset="0"/>
                <a:cs typeface="Courier New" panose="02070309020205020404" pitchFamily="49" charset="0"/>
              </a:rPr>
              <a:t>, </a:t>
            </a:r>
            <a:r>
              <a:rPr lang="en-CA" sz="1800" b="1" dirty="0" err="1" smtClean="0">
                <a:latin typeface="Courier New" panose="02070309020205020404" pitchFamily="49" charset="0"/>
                <a:cs typeface="Courier New" panose="02070309020205020404" pitchFamily="49" charset="0"/>
              </a:rPr>
              <a:t>vec</a:t>
            </a:r>
            <a:r>
              <a:rPr lang="en-CA" sz="1800" b="1"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24</a:t>
            </a:fld>
            <a:endParaRPr lang="en-CA" dirty="0"/>
          </a:p>
        </p:txBody>
      </p:sp>
      <p:sp>
        <p:nvSpPr>
          <p:cNvPr id="7" name="TextBox 6"/>
          <p:cNvSpPr txBox="1"/>
          <p:nvPr/>
        </p:nvSpPr>
        <p:spPr>
          <a:xfrm>
            <a:off x="1941949" y="5405604"/>
            <a:ext cx="7885815" cy="576096"/>
          </a:xfrm>
          <a:prstGeom prst="rect">
            <a:avLst/>
          </a:prstGeom>
          <a:solidFill>
            <a:schemeClr val="accent5">
              <a:lumMod val="20000"/>
              <a:lumOff val="80000"/>
            </a:schemeClr>
          </a:solidFill>
          <a:ln w="12700">
            <a:solidFill>
              <a:schemeClr val="bg1"/>
            </a:solidFill>
            <a:prstDash val="solid"/>
          </a:ln>
        </p:spPr>
        <p:txBody>
          <a:bodyPr wrap="square" rtlCol="0" anchor="ctr" anchorCtr="0">
            <a:noAutofit/>
          </a:bodyPr>
          <a:lstStyle/>
          <a:p>
            <a:pPr algn="ctr">
              <a:lnSpc>
                <a:spcPts val="2400"/>
              </a:lnSpc>
              <a:spcBef>
                <a:spcPts val="600"/>
              </a:spcBef>
            </a:pPr>
            <a:r>
              <a:rPr lang="en-CA" dirty="0" smtClean="0">
                <a:solidFill>
                  <a:schemeClr val="bg1"/>
                </a:solidFill>
              </a:rPr>
              <a:t>LOTS of boilerplate code to walk through the intermediate structures</a:t>
            </a:r>
            <a:endParaRPr lang="en-CA" dirty="0">
              <a:solidFill>
                <a:schemeClr val="bg1"/>
              </a:solidFill>
            </a:endParaRPr>
          </a:p>
        </p:txBody>
      </p:sp>
    </p:spTree>
    <p:extLst>
      <p:ext uri="{BB962C8B-B14F-4D97-AF65-F5344CB8AC3E}">
        <p14:creationId xmlns:p14="http://schemas.microsoft.com/office/powerpoint/2010/main" val="3038896263"/>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ontent Placeholder 6"/>
          <p:cNvSpPr txBox="1">
            <a:spLocks/>
          </p:cNvSpPr>
          <p:nvPr/>
        </p:nvSpPr>
        <p:spPr>
          <a:xfrm>
            <a:off x="684212" y="1507237"/>
            <a:ext cx="10285797" cy="4784102"/>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8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800" dirty="0" smtClean="0">
                <a:latin typeface="Courier New" panose="02070309020205020404" pitchFamily="49" charset="0"/>
                <a:cs typeface="Courier New" panose="02070309020205020404" pitchFamily="49" charset="0"/>
              </a:rPr>
              <a:t> </a:t>
            </a:r>
            <a:r>
              <a:rPr lang="en-CA" sz="1800" b="1" dirty="0" smtClean="0">
                <a:latin typeface="Courier New" panose="02070309020205020404" pitchFamily="49" charset="0"/>
                <a:cs typeface="Courier New" panose="02070309020205020404" pitchFamily="49" charset="0"/>
              </a:rPr>
              <a:t>process_ext4</a:t>
            </a:r>
            <a:r>
              <a:rPr lang="en-CA" sz="1800" dirty="0" smtClean="0">
                <a:latin typeface="Courier New" panose="02070309020205020404" pitchFamily="49" charset="0"/>
                <a:cs typeface="Courier New" panose="02070309020205020404" pitchFamily="49" charset="0"/>
              </a:rPr>
              <a:t>(vector&lt;Extent&gt; &amp; </a:t>
            </a:r>
            <a:r>
              <a:rPr lang="en-CA" sz="1800" dirty="0" err="1" smtClean="0">
                <a:latin typeface="Courier New" panose="02070309020205020404" pitchFamily="49" charset="0"/>
                <a:cs typeface="Courier New" panose="02070309020205020404" pitchFamily="49" charset="0"/>
              </a:rPr>
              <a:t>vec</a:t>
            </a:r>
            <a:r>
              <a:rPr lang="en-CA" sz="18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smtClean="0">
                <a:solidFill>
                  <a:schemeClr val="accent4">
                    <a:lumMod val="75000"/>
                  </a:schemeClr>
                </a:solidFill>
                <a:effectLst/>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struct</a:t>
            </a:r>
            <a:r>
              <a:rPr lang="en-CA" sz="1800" dirty="0" smtClean="0">
                <a:effectLst/>
                <a:latin typeface="Courier New" panose="02070309020205020404" pitchFamily="49" charset="0"/>
                <a:cs typeface="Courier New" panose="02070309020205020404" pitchFamily="49" charset="0"/>
              </a:rPr>
              <a:t> ext4_super_block * </a:t>
            </a:r>
            <a:r>
              <a:rPr lang="en-CA" sz="1800" dirty="0" err="1" smtClean="0">
                <a:effectLst/>
                <a:latin typeface="Courier New" panose="02070309020205020404" pitchFamily="49" charset="0"/>
                <a:cs typeface="Courier New" panose="02070309020205020404" pitchFamily="49" charset="0"/>
              </a:rPr>
              <a:t>sb</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dev.read</a:t>
            </a:r>
            <a:r>
              <a:rPr lang="en-CA" sz="1800" dirty="0" smtClean="0">
                <a:effectLst/>
                <a:latin typeface="Courier New" panose="02070309020205020404" pitchFamily="49" charset="0"/>
                <a:cs typeface="Courier New" panose="02070309020205020404" pitchFamily="49" charset="0"/>
              </a:rPr>
              <a:t>(</a:t>
            </a:r>
            <a:r>
              <a:rPr lang="en-CA" sz="1800" dirty="0" smtClean="0">
                <a:solidFill>
                  <a:srgbClr val="0070C0"/>
                </a:solidFill>
                <a:effectLst/>
                <a:latin typeface="Courier New" panose="02070309020205020404" pitchFamily="49" charset="0"/>
                <a:cs typeface="Courier New" panose="02070309020205020404" pitchFamily="49" charset="0"/>
              </a:rPr>
              <a:t>1024</a:t>
            </a:r>
            <a:r>
              <a:rPr lang="en-CA" sz="1800" dirty="0" smtClean="0">
                <a:effectLst/>
                <a:latin typeface="Courier New" panose="02070309020205020404" pitchFamily="49" charset="0"/>
                <a:cs typeface="Courier New" panose="02070309020205020404" pitchFamily="49" charset="0"/>
              </a:rPr>
              <a:t>, SB_SIZE);</a:t>
            </a:r>
          </a:p>
          <a:p>
            <a:pPr marL="0" indent="0">
              <a:lnSpc>
                <a:spcPts val="2000"/>
              </a:lnSpc>
              <a:spcBef>
                <a:spcPts val="0"/>
              </a:spcBef>
              <a:spcAft>
                <a:spcPts val="0"/>
              </a:spcAft>
              <a:buNone/>
            </a:pP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blk_size</a:t>
            </a:r>
            <a:r>
              <a:rPr lang="en-CA" sz="1800" dirty="0" smtClean="0">
                <a:effectLst/>
                <a:latin typeface="Courier New" panose="02070309020205020404" pitchFamily="49" charset="0"/>
                <a:cs typeface="Courier New" panose="02070309020205020404" pitchFamily="49" charset="0"/>
              </a:rPr>
              <a:t> = </a:t>
            </a:r>
            <a:r>
              <a:rPr lang="en-CA" sz="1800" dirty="0" smtClean="0">
                <a:solidFill>
                  <a:srgbClr val="0070C0"/>
                </a:solidFill>
                <a:effectLst/>
                <a:latin typeface="Courier New" panose="02070309020205020404" pitchFamily="49" charset="0"/>
                <a:cs typeface="Courier New" panose="02070309020205020404" pitchFamily="49" charset="0"/>
              </a:rPr>
              <a:t>1024</a:t>
            </a:r>
            <a:r>
              <a:rPr lang="en-CA" sz="1800" dirty="0" smtClean="0">
                <a:effectLst/>
                <a:latin typeface="Courier New" panose="02070309020205020404" pitchFamily="49" charset="0"/>
                <a:cs typeface="Courier New" panose="02070309020205020404" pitchFamily="49" charset="0"/>
              </a:rPr>
              <a:t> &lt;&lt; </a:t>
            </a:r>
            <a:r>
              <a:rPr lang="en-CA" sz="1800" dirty="0" err="1" smtClean="0">
                <a:effectLst/>
                <a:latin typeface="Courier New" panose="02070309020205020404" pitchFamily="49" charset="0"/>
                <a:cs typeface="Courier New" panose="02070309020205020404" pitchFamily="49" charset="0"/>
              </a:rPr>
              <a:t>sb</a:t>
            </a:r>
            <a:r>
              <a:rPr lang="en-CA" sz="1800" dirty="0" smtClean="0">
                <a:effectLst/>
                <a:latin typeface="Courier New" panose="02070309020205020404" pitchFamily="49" charset="0"/>
                <a:cs typeface="Courier New" panose="02070309020205020404" pitchFamily="49" charset="0"/>
              </a:rPr>
              <a:t>-&gt;</a:t>
            </a:r>
            <a:r>
              <a:rPr lang="en-CA" sz="1800" dirty="0" err="1" smtClean="0">
                <a:effectLst/>
                <a:latin typeface="Courier New" panose="02070309020205020404" pitchFamily="49" charset="0"/>
                <a:cs typeface="Courier New" panose="02070309020205020404" pitchFamily="49" charset="0"/>
              </a:rPr>
              <a:t>s_log_block_size</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dev.set_block_size</a:t>
            </a:r>
            <a:r>
              <a:rPr lang="en-CA" sz="1800" dirty="0" smtClean="0">
                <a:effectLst/>
                <a:latin typeface="Courier New" panose="02070309020205020404" pitchFamily="49" charset="0"/>
                <a:cs typeface="Courier New" panose="02070309020205020404" pitchFamily="49" charset="0"/>
              </a:rPr>
              <a:t>(</a:t>
            </a:r>
            <a:r>
              <a:rPr lang="en-CA" sz="1800" dirty="0" err="1" smtClean="0">
                <a:effectLst/>
                <a:latin typeface="Courier New" panose="02070309020205020404" pitchFamily="49" charset="0"/>
                <a:cs typeface="Courier New" panose="02070309020205020404" pitchFamily="49" charset="0"/>
              </a:rPr>
              <a:t>blk_size</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solidFill>
                  <a:srgbClr val="00B050"/>
                </a:solidFill>
                <a:effectLst/>
                <a:latin typeface="Courier New" panose="02070309020205020404" pitchFamily="49" charset="0"/>
                <a:cs typeface="Courier New" panose="02070309020205020404" pitchFamily="49" charset="0"/>
              </a:rPr>
              <a:t>  </a:t>
            </a:r>
            <a:r>
              <a:rPr lang="en-CA" sz="1800" dirty="0">
                <a:solidFill>
                  <a:schemeClr val="accent4">
                    <a:lumMod val="75000"/>
                  </a:schemeClr>
                </a:solidFill>
                <a:effectLst/>
                <a:latin typeface="Courier New" panose="02070309020205020404" pitchFamily="49" charset="0"/>
                <a:cs typeface="Courier New" panose="02070309020205020404" pitchFamily="49" charset="0"/>
              </a:rPr>
              <a:t>/* block group descriptors start at block 2 or 1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bg_blknr</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sb</a:t>
            </a:r>
            <a:r>
              <a:rPr lang="en-CA" sz="1800" dirty="0" smtClean="0">
                <a:effectLst/>
                <a:latin typeface="Courier New" panose="02070309020205020404" pitchFamily="49" charset="0"/>
                <a:cs typeface="Courier New" panose="02070309020205020404" pitchFamily="49" charset="0"/>
              </a:rPr>
              <a:t>-&gt;</a:t>
            </a:r>
            <a:r>
              <a:rPr lang="en-CA" sz="1800" dirty="0" err="1" smtClean="0">
                <a:effectLst/>
                <a:latin typeface="Courier New" panose="02070309020205020404" pitchFamily="49" charset="0"/>
                <a:cs typeface="Courier New" panose="02070309020205020404" pitchFamily="49" charset="0"/>
              </a:rPr>
              <a:t>s_log_block_size</a:t>
            </a:r>
            <a:r>
              <a:rPr lang="en-CA" sz="1800" dirty="0" smtClean="0">
                <a:effectLst/>
                <a:latin typeface="Courier New" panose="02070309020205020404" pitchFamily="49" charset="0"/>
                <a:cs typeface="Courier New" panose="02070309020205020404" pitchFamily="49" charset="0"/>
              </a:rPr>
              <a:t> == </a:t>
            </a:r>
            <a:r>
              <a:rPr lang="en-CA" sz="1800" dirty="0" smtClean="0">
                <a:solidFill>
                  <a:srgbClr val="0070C0"/>
                </a:solidFill>
                <a:effectLst/>
                <a:latin typeface="Courier New" panose="02070309020205020404" pitchFamily="49" charset="0"/>
                <a:cs typeface="Courier New" panose="02070309020205020404" pitchFamily="49" charset="0"/>
              </a:rPr>
              <a:t>0</a:t>
            </a:r>
            <a:r>
              <a:rPr lang="en-CA" sz="1800" dirty="0" smtClean="0">
                <a:effectLst/>
                <a:latin typeface="Courier New" panose="02070309020205020404" pitchFamily="49" charset="0"/>
                <a:cs typeface="Courier New" panose="02070309020205020404" pitchFamily="49" charset="0"/>
              </a:rPr>
              <a:t>) </a:t>
            </a:r>
            <a:r>
              <a:rPr lang="en-CA" sz="1800" dirty="0" smtClean="0">
                <a:solidFill>
                  <a:srgbClr val="0070C0"/>
                </a:solidFill>
                <a:effectLst/>
                <a:latin typeface="Courier New" panose="02070309020205020404" pitchFamily="49" charset="0"/>
                <a:cs typeface="Courier New" panose="02070309020205020404" pitchFamily="49" charset="0"/>
              </a:rPr>
              <a:t>2</a:t>
            </a:r>
            <a:r>
              <a:rPr lang="en-CA" sz="1800" dirty="0" smtClean="0">
                <a:effectLst/>
                <a:latin typeface="Courier New" panose="02070309020205020404" pitchFamily="49" charset="0"/>
                <a:cs typeface="Courier New" panose="02070309020205020404" pitchFamily="49" charset="0"/>
              </a:rPr>
              <a:t> : </a:t>
            </a:r>
            <a:r>
              <a:rPr lang="en-CA" sz="1800" dirty="0" smtClean="0">
                <a:solidFill>
                  <a:srgbClr val="0070C0"/>
                </a:solidFill>
                <a:effectLst/>
                <a:latin typeface="Courier New" panose="02070309020205020404" pitchFamily="49" charset="0"/>
                <a:cs typeface="Courier New" panose="02070309020205020404" pitchFamily="49" charset="0"/>
              </a:rPr>
              <a:t>1</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bg_ngrps</a:t>
            </a:r>
            <a:r>
              <a:rPr lang="en-CA" sz="1800" dirty="0" smtClean="0">
                <a:effectLst/>
                <a:latin typeface="Courier New" panose="02070309020205020404" pitchFamily="49" charset="0"/>
                <a:cs typeface="Courier New" panose="02070309020205020404" pitchFamily="49" charset="0"/>
              </a:rPr>
              <a:t> = ceil(</a:t>
            </a:r>
            <a:r>
              <a:rPr lang="en-CA" sz="1800" dirty="0" err="1" smtClean="0">
                <a:effectLst/>
                <a:latin typeface="Courier New" panose="02070309020205020404" pitchFamily="49" charset="0"/>
                <a:cs typeface="Courier New" panose="02070309020205020404" pitchFamily="49" charset="0"/>
              </a:rPr>
              <a:t>sb</a:t>
            </a:r>
            <a:r>
              <a:rPr lang="en-CA" sz="1800" dirty="0" smtClean="0">
                <a:effectLst/>
                <a:latin typeface="Courier New" panose="02070309020205020404" pitchFamily="49" charset="0"/>
                <a:cs typeface="Courier New" panose="02070309020205020404" pitchFamily="49" charset="0"/>
              </a:rPr>
              <a:t>-&gt;</a:t>
            </a:r>
            <a:r>
              <a:rPr lang="en-CA" sz="1800" dirty="0" err="1" smtClean="0">
                <a:effectLst/>
                <a:latin typeface="Courier New" panose="02070309020205020404" pitchFamily="49" charset="0"/>
                <a:cs typeface="Courier New" panose="02070309020205020404" pitchFamily="49" charset="0"/>
              </a:rPr>
              <a:t>s_blocks_count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sb</a:t>
            </a:r>
            <a:r>
              <a:rPr lang="en-CA" sz="1800" dirty="0" smtClean="0">
                <a:effectLst/>
                <a:latin typeface="Courier New" panose="02070309020205020404" pitchFamily="49" charset="0"/>
                <a:cs typeface="Courier New" panose="02070309020205020404" pitchFamily="49" charset="0"/>
              </a:rPr>
              <a:t>-&gt;</a:t>
            </a:r>
            <a:r>
              <a:rPr lang="en-CA" sz="1800" dirty="0" err="1" smtClean="0">
                <a:effectLst/>
                <a:latin typeface="Courier New" panose="02070309020205020404" pitchFamily="49" charset="0"/>
                <a:cs typeface="Courier New" panose="02070309020205020404" pitchFamily="49" charset="0"/>
              </a:rPr>
              <a:t>s_blocks_per_group</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a:effectLst/>
                <a:latin typeface="Courier New" panose="02070309020205020404" pitchFamily="49" charset="0"/>
                <a:cs typeface="Courier New" panose="02070309020205020404" pitchFamily="49" charset="0"/>
              </a:rPr>
              <a:t> </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bg_nblks</a:t>
            </a:r>
            <a:r>
              <a:rPr lang="en-CA" sz="1800" dirty="0" smtClean="0">
                <a:effectLst/>
                <a:latin typeface="Courier New" panose="02070309020205020404" pitchFamily="49" charset="0"/>
                <a:cs typeface="Courier New" panose="02070309020205020404" pitchFamily="49" charset="0"/>
              </a:rPr>
              <a:t> </a:t>
            </a:r>
            <a:r>
              <a:rPr lang="en-CA" sz="1800" dirty="0">
                <a:effectLst/>
                <a:latin typeface="Courier New" panose="02070309020205020404" pitchFamily="49" charset="0"/>
                <a:cs typeface="Courier New" panose="02070309020205020404" pitchFamily="49" charset="0"/>
              </a:rPr>
              <a:t>= </a:t>
            </a:r>
            <a:r>
              <a:rPr lang="en-CA" sz="1800" dirty="0" smtClean="0">
                <a:effectLst/>
                <a:latin typeface="Courier New" panose="02070309020205020404" pitchFamily="49" charset="0"/>
                <a:cs typeface="Courier New" panose="02070309020205020404" pitchFamily="49" charset="0"/>
              </a:rPr>
              <a:t>ceil(</a:t>
            </a:r>
            <a:r>
              <a:rPr lang="en-CA" sz="1800" dirty="0" err="1" smtClean="0">
                <a:effectLst/>
                <a:latin typeface="Courier New" panose="02070309020205020404" pitchFamily="49" charset="0"/>
                <a:cs typeface="Courier New" panose="02070309020205020404" pitchFamily="49" charset="0"/>
              </a:rPr>
              <a:t>bg_ngrps</a:t>
            </a:r>
            <a:r>
              <a:rPr lang="en-CA" sz="1800" dirty="0" smtClean="0">
                <a:effectLst/>
                <a:latin typeface="Courier New" panose="02070309020205020404" pitchFamily="49" charset="0"/>
                <a:cs typeface="Courier New" panose="02070309020205020404" pitchFamily="49" charset="0"/>
              </a:rPr>
              <a:t>*</a:t>
            </a:r>
            <a:r>
              <a:rPr lang="en-CA" sz="1800" dirty="0" err="1" smtClean="0">
                <a:effectLst/>
                <a:latin typeface="Courier New" panose="02070309020205020404" pitchFamily="49" charset="0"/>
                <a:cs typeface="Courier New" panose="02070309020205020404" pitchFamily="49" charset="0"/>
              </a:rPr>
              <a:t>sizeof</a:t>
            </a:r>
            <a:r>
              <a:rPr lang="en-CA" sz="1800" dirty="0" smtClean="0">
                <a:effectLst/>
                <a:latin typeface="Courier New" panose="02070309020205020404" pitchFamily="49" charset="0"/>
                <a:cs typeface="Courier New" panose="02070309020205020404" pitchFamily="49" charset="0"/>
              </a:rPr>
              <a:t>(</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struct</a:t>
            </a:r>
            <a:r>
              <a:rPr lang="en-CA" sz="1800" dirty="0" smtClean="0">
                <a:effectLst/>
                <a:latin typeface="Courier New" panose="02070309020205020404" pitchFamily="49" charset="0"/>
                <a:cs typeface="Courier New" panose="02070309020205020404" pitchFamily="49" charset="0"/>
              </a:rPr>
              <a:t> ext4_group_desc), </a:t>
            </a:r>
            <a:r>
              <a:rPr lang="en-CA" sz="1800" dirty="0" err="1">
                <a:effectLst/>
                <a:latin typeface="Courier New" panose="02070309020205020404" pitchFamily="49" charset="0"/>
                <a:cs typeface="Courier New" panose="02070309020205020404" pitchFamily="49" charset="0"/>
              </a:rPr>
              <a:t>blk_size</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solidFill>
                  <a:srgbClr val="00B050"/>
                </a:solidFill>
                <a:effectLst/>
                <a:latin typeface="Courier New" panose="02070309020205020404" pitchFamily="49" charset="0"/>
                <a:cs typeface="Courier New" panose="02070309020205020404" pitchFamily="49" charset="0"/>
              </a:rPr>
              <a:t>  </a:t>
            </a:r>
            <a:r>
              <a:rPr lang="en-CA" sz="1800" dirty="0">
                <a:solidFill>
                  <a:schemeClr val="accent4">
                    <a:lumMod val="75000"/>
                  </a:schemeClr>
                </a:solidFill>
                <a:effectLst/>
                <a:latin typeface="Courier New" panose="02070309020205020404" pitchFamily="49" charset="0"/>
                <a:cs typeface="Courier New" panose="02070309020205020404" pitchFamily="49" charset="0"/>
              </a:rPr>
              <a:t>/* 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struct</a:t>
            </a:r>
            <a:r>
              <a:rPr lang="en-CA" sz="1800" dirty="0" smtClean="0">
                <a:effectLst/>
                <a:latin typeface="Courier New" panose="02070309020205020404" pitchFamily="49" charset="0"/>
                <a:cs typeface="Courier New" panose="02070309020205020404" pitchFamily="49" charset="0"/>
              </a:rPr>
              <a:t> ext4_group_desc * </a:t>
            </a:r>
            <a:r>
              <a:rPr lang="en-CA" sz="1800" dirty="0" err="1" smtClean="0">
                <a:effectLst/>
                <a:latin typeface="Courier New" panose="02070309020205020404" pitchFamily="49" charset="0"/>
                <a:cs typeface="Courier New" panose="02070309020205020404" pitchFamily="49" charset="0"/>
              </a:rPr>
              <a:t>gd</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dev.read_block</a:t>
            </a:r>
            <a:r>
              <a:rPr lang="en-CA" sz="1800" dirty="0" smtClean="0">
                <a:effectLst/>
                <a:latin typeface="Courier New" panose="02070309020205020404" pitchFamily="49" charset="0"/>
                <a:cs typeface="Courier New" panose="02070309020205020404" pitchFamily="49" charset="0"/>
              </a:rPr>
              <a:t>(</a:t>
            </a:r>
            <a:r>
              <a:rPr lang="en-CA" sz="1800" dirty="0" err="1" smtClean="0">
                <a:effectLst/>
                <a:latin typeface="Courier New" panose="02070309020205020404" pitchFamily="49" charset="0"/>
                <a:cs typeface="Courier New" panose="02070309020205020404" pitchFamily="49" charset="0"/>
              </a:rPr>
              <a:t>bg_blknr</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bg_nblks</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effectLst/>
                <a:latin typeface="Courier New" panose="02070309020205020404" pitchFamily="49" charset="0"/>
                <a:cs typeface="Courier New" panose="02070309020205020404" pitchFamily="49" charset="0"/>
              </a:rPr>
              <a:t>  for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a:t>
            </a:r>
            <a:r>
              <a:rPr lang="en-CA" sz="1800" dirty="0" smtClean="0">
                <a:effectLst/>
                <a:latin typeface="Courier New" panose="02070309020205020404" pitchFamily="49" charset="0"/>
                <a:cs typeface="Courier New" panose="02070309020205020404" pitchFamily="49" charset="0"/>
              </a:rPr>
              <a:t> = </a:t>
            </a:r>
            <a:r>
              <a:rPr lang="en-CA" sz="1800" dirty="0" smtClean="0">
                <a:solidFill>
                  <a:srgbClr val="0070C0"/>
                </a:solidFill>
                <a:effectLst/>
                <a:latin typeface="Courier New" panose="02070309020205020404" pitchFamily="49" charset="0"/>
                <a:cs typeface="Courier New" panose="02070309020205020404" pitchFamily="49" charset="0"/>
              </a:rPr>
              <a:t>0</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a:t>
            </a:r>
            <a:r>
              <a:rPr lang="en-CA" sz="1800" dirty="0" smtClean="0">
                <a:effectLst/>
                <a:latin typeface="Courier New" panose="02070309020205020404" pitchFamily="49" charset="0"/>
                <a:cs typeface="Courier New" panose="02070309020205020404" pitchFamily="49" charset="0"/>
              </a:rPr>
              <a:t> &lt; </a:t>
            </a:r>
            <a:r>
              <a:rPr lang="en-CA" sz="1800" dirty="0" err="1">
                <a:effectLst/>
                <a:latin typeface="Courier New" panose="02070309020205020404" pitchFamily="49" charset="0"/>
                <a:cs typeface="Courier New" panose="02070309020205020404" pitchFamily="49" charset="0"/>
              </a:rPr>
              <a:t>bg_ngrps</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a:t>
            </a:r>
            <a:r>
              <a:rPr lang="en-CA" sz="1800" dirty="0" smtClean="0">
                <a:effectLst/>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smtClean="0">
                <a:solidFill>
                  <a:schemeClr val="accent6">
                    <a:lumMod val="75000"/>
                  </a:schemeClr>
                </a:solidFill>
                <a:effectLst/>
                <a:latin typeface="Courier New" panose="02070309020205020404" pitchFamily="49" charset="0"/>
                <a:cs typeface="Courier New" panose="02070309020205020404" pitchFamily="49" charset="0"/>
              </a:rPr>
              <a:t>char</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buf</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dev.read_block</a:t>
            </a:r>
            <a:r>
              <a:rPr lang="en-CA" sz="1800" dirty="0" smtClean="0">
                <a:effectLst/>
                <a:latin typeface="Courier New" panose="02070309020205020404" pitchFamily="49" charset="0"/>
                <a:cs typeface="Courier New" panose="02070309020205020404" pitchFamily="49" charset="0"/>
              </a:rPr>
              <a:t>(</a:t>
            </a:r>
            <a:r>
              <a:rPr lang="en-CA" sz="1800" dirty="0" err="1" smtClean="0">
                <a:effectLst/>
                <a:latin typeface="Courier New" panose="02070309020205020404" pitchFamily="49" charset="0"/>
                <a:cs typeface="Courier New" panose="02070309020205020404" pitchFamily="49" charset="0"/>
              </a:rPr>
              <a:t>gd</a:t>
            </a:r>
            <a:r>
              <a:rPr lang="en-CA" sz="1800" dirty="0" smtClean="0">
                <a:effectLst/>
                <a:latin typeface="Courier New" panose="02070309020205020404" pitchFamily="49" charset="0"/>
                <a:cs typeface="Courier New" panose="02070309020205020404" pitchFamily="49" charset="0"/>
              </a:rPr>
              <a:t>[</a:t>
            </a:r>
            <a:r>
              <a:rPr lang="en-CA" sz="1800" dirty="0" err="1" smtClean="0">
                <a:effectLst/>
                <a:latin typeface="Courier New" panose="02070309020205020404" pitchFamily="49" charset="0"/>
                <a:cs typeface="Courier New" panose="02070309020205020404" pitchFamily="49" charset="0"/>
              </a:rPr>
              <a:t>i</a:t>
            </a:r>
            <a:r>
              <a:rPr lang="en-CA" sz="1800" dirty="0" smtClean="0">
                <a:effectLst/>
                <a:latin typeface="Courier New" panose="02070309020205020404" pitchFamily="49" charset="0"/>
                <a:cs typeface="Courier New" panose="02070309020205020404" pitchFamily="49" charset="0"/>
              </a:rPr>
              <a:t>]-&gt;</a:t>
            </a:r>
            <a:r>
              <a:rPr lang="en-CA" sz="1800" dirty="0" err="1" smtClean="0">
                <a:effectLst/>
                <a:latin typeface="Courier New" panose="02070309020205020404" pitchFamily="49" charset="0"/>
                <a:cs typeface="Courier New" panose="02070309020205020404" pitchFamily="49" charset="0"/>
              </a:rPr>
              <a:t>bg_block_bitmap</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b="1" dirty="0" err="1" smtClean="0">
                <a:solidFill>
                  <a:schemeClr val="accent6">
                    <a:lumMod val="75000"/>
                  </a:schemeClr>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800" b="1"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ret = </a:t>
            </a:r>
            <a:r>
              <a:rPr lang="en-CA" sz="1800" b="1"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process_block_bitmap</a:t>
            </a:r>
            <a:r>
              <a:rPr lang="en-CA" sz="1800" b="1"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800" b="1"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buf</a:t>
            </a:r>
            <a:r>
              <a:rPr lang="en-CA" sz="1800" b="1"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b="1"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vec</a:t>
            </a:r>
            <a:r>
              <a:rPr lang="en-CA" sz="1800" b="1"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25</a:t>
            </a:fld>
            <a:endParaRPr lang="en-CA" dirty="0"/>
          </a:p>
        </p:txBody>
      </p:sp>
      <p:sp>
        <p:nvSpPr>
          <p:cNvPr id="11" name="TextBox 10"/>
          <p:cNvSpPr txBox="1"/>
          <p:nvPr/>
        </p:nvSpPr>
        <p:spPr>
          <a:xfrm>
            <a:off x="3015675" y="5405604"/>
            <a:ext cx="5805051" cy="576096"/>
          </a:xfrm>
          <a:prstGeom prst="rect">
            <a:avLst/>
          </a:prstGeom>
          <a:solidFill>
            <a:schemeClr val="accent5">
              <a:lumMod val="20000"/>
              <a:lumOff val="80000"/>
            </a:schemeClr>
          </a:solidFill>
          <a:ln w="12700">
            <a:solidFill>
              <a:schemeClr val="bg1"/>
            </a:solidFill>
            <a:prstDash val="solid"/>
          </a:ln>
        </p:spPr>
        <p:txBody>
          <a:bodyPr wrap="square" rtlCol="0" anchor="ctr" anchorCtr="0">
            <a:noAutofit/>
          </a:bodyPr>
          <a:lstStyle/>
          <a:p>
            <a:pPr algn="ctr">
              <a:lnSpc>
                <a:spcPts val="2400"/>
              </a:lnSpc>
              <a:spcBef>
                <a:spcPts val="600"/>
              </a:spcBef>
            </a:pPr>
            <a:r>
              <a:rPr lang="en-CA" dirty="0">
                <a:solidFill>
                  <a:schemeClr val="bg1"/>
                </a:solidFill>
              </a:rPr>
              <a:t>Ideally, we would only have to write this </a:t>
            </a:r>
            <a:r>
              <a:rPr lang="en-CA" dirty="0" smtClean="0">
                <a:solidFill>
                  <a:schemeClr val="bg1"/>
                </a:solidFill>
              </a:rPr>
              <a:t>function</a:t>
            </a:r>
            <a:endParaRPr lang="en-CA" dirty="0">
              <a:solidFill>
                <a:schemeClr val="bg1"/>
              </a:solidFill>
            </a:endParaRPr>
          </a:p>
        </p:txBody>
      </p:sp>
      <p:cxnSp>
        <p:nvCxnSpPr>
          <p:cNvPr id="8" name="Straight Arrow Connector 7"/>
          <p:cNvCxnSpPr/>
          <p:nvPr/>
        </p:nvCxnSpPr>
        <p:spPr>
          <a:xfrm rot="10800000">
            <a:off x="6870700" y="4965701"/>
            <a:ext cx="1117600" cy="612775"/>
          </a:xfrm>
          <a:prstGeom prst="bentConnector3">
            <a:avLst>
              <a:gd name="adj1" fmla="val 0"/>
            </a:avLst>
          </a:prstGeom>
          <a:ln w="38100">
            <a:solidFill>
              <a:schemeClr val="bg1">
                <a:alpha val="7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63951438"/>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ontent Placeholder 6"/>
          <p:cNvSpPr txBox="1">
            <a:spLocks/>
          </p:cNvSpPr>
          <p:nvPr/>
        </p:nvSpPr>
        <p:spPr>
          <a:xfrm>
            <a:off x="684212" y="1507237"/>
            <a:ext cx="10285797" cy="4784102"/>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8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800" dirty="0" smtClean="0">
                <a:latin typeface="Courier New" panose="02070309020205020404" pitchFamily="49" charset="0"/>
                <a:cs typeface="Courier New" panose="02070309020205020404" pitchFamily="49" charset="0"/>
              </a:rPr>
              <a:t> </a:t>
            </a:r>
            <a:r>
              <a:rPr lang="en-CA" sz="1800" b="1" dirty="0" smtClean="0">
                <a:latin typeface="Courier New" panose="02070309020205020404" pitchFamily="49" charset="0"/>
                <a:cs typeface="Courier New" panose="02070309020205020404" pitchFamily="49" charset="0"/>
              </a:rPr>
              <a:t>process_ext4</a:t>
            </a:r>
            <a:r>
              <a:rPr lang="en-CA" sz="1800" dirty="0" smtClean="0">
                <a:latin typeface="Courier New" panose="02070309020205020404" pitchFamily="49" charset="0"/>
                <a:cs typeface="Courier New" panose="02070309020205020404" pitchFamily="49" charset="0"/>
              </a:rPr>
              <a:t>(vector&lt;Extent&gt; &amp; </a:t>
            </a:r>
            <a:r>
              <a:rPr lang="en-CA" sz="1800" dirty="0" err="1" smtClean="0">
                <a:latin typeface="Courier New" panose="02070309020205020404" pitchFamily="49" charset="0"/>
                <a:cs typeface="Courier New" panose="02070309020205020404" pitchFamily="49" charset="0"/>
              </a:rPr>
              <a:t>vec</a:t>
            </a:r>
            <a:r>
              <a:rPr lang="en-CA" sz="18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smtClean="0">
                <a:solidFill>
                  <a:schemeClr val="accent4">
                    <a:lumMod val="75000"/>
                  </a:schemeClr>
                </a:solidFill>
                <a:effectLst/>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struct</a:t>
            </a:r>
            <a:r>
              <a:rPr lang="en-CA" sz="1800" dirty="0" smtClean="0">
                <a:effectLst/>
                <a:latin typeface="Courier New" panose="02070309020205020404" pitchFamily="49" charset="0"/>
                <a:cs typeface="Courier New" panose="02070309020205020404" pitchFamily="49" charset="0"/>
              </a:rPr>
              <a:t> ext4_super_block * </a:t>
            </a:r>
            <a:r>
              <a:rPr lang="en-CA" sz="1800" dirty="0" err="1" smtClean="0">
                <a:effectLst/>
                <a:latin typeface="Courier New" panose="02070309020205020404" pitchFamily="49" charset="0"/>
                <a:cs typeface="Courier New" panose="02070309020205020404" pitchFamily="49" charset="0"/>
              </a:rPr>
              <a:t>sb</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dev.read</a:t>
            </a:r>
            <a:r>
              <a:rPr lang="en-CA" sz="1800" dirty="0" smtClean="0">
                <a:effectLst/>
                <a:latin typeface="Courier New" panose="02070309020205020404" pitchFamily="49" charset="0"/>
                <a:cs typeface="Courier New" panose="02070309020205020404" pitchFamily="49" charset="0"/>
              </a:rPr>
              <a:t>(</a:t>
            </a:r>
            <a:r>
              <a:rPr lang="en-CA" sz="1800" dirty="0" smtClean="0">
                <a:solidFill>
                  <a:srgbClr val="0070C0"/>
                </a:solidFill>
                <a:effectLst/>
                <a:latin typeface="Courier New" panose="02070309020205020404" pitchFamily="49" charset="0"/>
                <a:cs typeface="Courier New" panose="02070309020205020404" pitchFamily="49" charset="0"/>
              </a:rPr>
              <a:t>1024</a:t>
            </a:r>
            <a:r>
              <a:rPr lang="en-CA" sz="1800" dirty="0" smtClean="0">
                <a:effectLst/>
                <a:latin typeface="Courier New" panose="02070309020205020404" pitchFamily="49" charset="0"/>
                <a:cs typeface="Courier New" panose="02070309020205020404" pitchFamily="49" charset="0"/>
              </a:rPr>
              <a:t>, SB_SIZE);</a:t>
            </a:r>
          </a:p>
          <a:p>
            <a:pPr marL="0" indent="0">
              <a:lnSpc>
                <a:spcPts val="2000"/>
              </a:lnSpc>
              <a:spcBef>
                <a:spcPts val="0"/>
              </a:spcBef>
              <a:spcAft>
                <a:spcPts val="0"/>
              </a:spcAft>
              <a:buNone/>
            </a:pPr>
            <a:r>
              <a:rPr lang="en-CA" sz="1800" dirty="0">
                <a:effectLst/>
                <a:latin typeface="Courier New" panose="02070309020205020404" pitchFamily="49" charset="0"/>
                <a:cs typeface="Courier New" panose="02070309020205020404" pitchFamily="49" charset="0"/>
              </a:rPr>
              <a:t> </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blk_size</a:t>
            </a:r>
            <a:r>
              <a:rPr lang="en-CA" sz="1800" dirty="0" smtClean="0">
                <a:effectLst/>
                <a:latin typeface="Courier New" panose="02070309020205020404" pitchFamily="49" charset="0"/>
                <a:cs typeface="Courier New" panose="02070309020205020404" pitchFamily="49" charset="0"/>
              </a:rPr>
              <a:t> = </a:t>
            </a:r>
            <a:r>
              <a:rPr lang="en-CA" sz="1800" dirty="0">
                <a:solidFill>
                  <a:srgbClr val="0070C0"/>
                </a:solidFill>
                <a:effectLst/>
                <a:latin typeface="Courier New" panose="02070309020205020404" pitchFamily="49" charset="0"/>
                <a:cs typeface="Courier New" panose="02070309020205020404" pitchFamily="49" charset="0"/>
              </a:rPr>
              <a:t>1024</a:t>
            </a:r>
            <a:r>
              <a:rPr lang="en-CA" sz="1800" dirty="0">
                <a:effectLst/>
                <a:latin typeface="Courier New" panose="02070309020205020404" pitchFamily="49" charset="0"/>
                <a:cs typeface="Courier New" panose="02070309020205020404" pitchFamily="49" charset="0"/>
              </a:rPr>
              <a:t> &lt;&lt; </a:t>
            </a:r>
            <a:r>
              <a:rPr lang="en-CA" sz="1800" b="1" dirty="0" err="1">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800" b="1" dirty="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800" b="1" dirty="0" err="1"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s_log_block_size</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dev.set_block_size</a:t>
            </a:r>
            <a:r>
              <a:rPr lang="en-CA" sz="1800" dirty="0" smtClean="0">
                <a:effectLst/>
                <a:latin typeface="Courier New" panose="02070309020205020404" pitchFamily="49" charset="0"/>
                <a:cs typeface="Courier New" panose="02070309020205020404" pitchFamily="49" charset="0"/>
              </a:rPr>
              <a:t>(</a:t>
            </a:r>
            <a:r>
              <a:rPr lang="en-CA" sz="1800" dirty="0" err="1" smtClean="0">
                <a:effectLst/>
                <a:latin typeface="Courier New" panose="02070309020205020404" pitchFamily="49" charset="0"/>
                <a:cs typeface="Courier New" panose="02070309020205020404" pitchFamily="49" charset="0"/>
              </a:rPr>
              <a:t>blk_size</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solidFill>
                  <a:srgbClr val="00B050"/>
                </a:solidFill>
                <a:effectLst/>
                <a:latin typeface="Courier New" panose="02070309020205020404" pitchFamily="49" charset="0"/>
                <a:cs typeface="Courier New" panose="02070309020205020404" pitchFamily="49" charset="0"/>
              </a:rPr>
              <a:t>  </a:t>
            </a:r>
            <a:r>
              <a:rPr lang="en-CA" sz="1800" dirty="0">
                <a:solidFill>
                  <a:schemeClr val="accent4">
                    <a:lumMod val="75000"/>
                  </a:schemeClr>
                </a:solidFill>
                <a:effectLst/>
                <a:latin typeface="Courier New" panose="02070309020205020404" pitchFamily="49" charset="0"/>
                <a:cs typeface="Courier New" panose="02070309020205020404" pitchFamily="49" charset="0"/>
              </a:rPr>
              <a:t>/* block group descriptors start at block 2 or 1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bg_blknr</a:t>
            </a:r>
            <a:r>
              <a:rPr lang="en-CA" sz="1800" dirty="0" smtClean="0">
                <a:effectLst/>
                <a:latin typeface="Courier New" panose="02070309020205020404" pitchFamily="49" charset="0"/>
                <a:cs typeface="Courier New" panose="02070309020205020404" pitchFamily="49" charset="0"/>
              </a:rPr>
              <a:t> = (</a:t>
            </a:r>
            <a:r>
              <a:rPr lang="en-CA" sz="1800" b="1" dirty="0" err="1"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800" b="1" dirty="0"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800" b="1" dirty="0" err="1"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s_log_block_size</a:t>
            </a:r>
            <a:r>
              <a:rPr lang="en-CA" sz="1800" b="1"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800" dirty="0" smtClean="0">
                <a:effectLst/>
                <a:latin typeface="Courier New" panose="02070309020205020404" pitchFamily="49" charset="0"/>
                <a:cs typeface="Courier New" panose="02070309020205020404" pitchFamily="49" charset="0"/>
              </a:rPr>
              <a:t>== </a:t>
            </a:r>
            <a:r>
              <a:rPr lang="en-CA" sz="1800" dirty="0" smtClean="0">
                <a:solidFill>
                  <a:srgbClr val="0070C0"/>
                </a:solidFill>
                <a:effectLst/>
                <a:latin typeface="Courier New" panose="02070309020205020404" pitchFamily="49" charset="0"/>
                <a:cs typeface="Courier New" panose="02070309020205020404" pitchFamily="49" charset="0"/>
              </a:rPr>
              <a:t>0</a:t>
            </a:r>
            <a:r>
              <a:rPr lang="en-CA" sz="1800" dirty="0" smtClean="0">
                <a:effectLst/>
                <a:latin typeface="Courier New" panose="02070309020205020404" pitchFamily="49" charset="0"/>
                <a:cs typeface="Courier New" panose="02070309020205020404" pitchFamily="49" charset="0"/>
              </a:rPr>
              <a:t>) </a:t>
            </a:r>
            <a:r>
              <a:rPr lang="en-CA" sz="1800" dirty="0" smtClean="0">
                <a:solidFill>
                  <a:srgbClr val="0070C0"/>
                </a:solidFill>
                <a:effectLst/>
                <a:latin typeface="Courier New" panose="02070309020205020404" pitchFamily="49" charset="0"/>
                <a:cs typeface="Courier New" panose="02070309020205020404" pitchFamily="49" charset="0"/>
              </a:rPr>
              <a:t>2</a:t>
            </a:r>
            <a:r>
              <a:rPr lang="en-CA" sz="1800" dirty="0" smtClean="0">
                <a:effectLst/>
                <a:latin typeface="Courier New" panose="02070309020205020404" pitchFamily="49" charset="0"/>
                <a:cs typeface="Courier New" panose="02070309020205020404" pitchFamily="49" charset="0"/>
              </a:rPr>
              <a:t> : </a:t>
            </a:r>
            <a:r>
              <a:rPr lang="en-CA" sz="1800" dirty="0" smtClean="0">
                <a:solidFill>
                  <a:srgbClr val="0070C0"/>
                </a:solidFill>
                <a:effectLst/>
                <a:latin typeface="Courier New" panose="02070309020205020404" pitchFamily="49" charset="0"/>
                <a:cs typeface="Courier New" panose="02070309020205020404" pitchFamily="49" charset="0"/>
              </a:rPr>
              <a:t>1</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bg_ngrps</a:t>
            </a:r>
            <a:r>
              <a:rPr lang="en-CA" sz="1800" dirty="0" smtClean="0">
                <a:effectLst/>
                <a:latin typeface="Courier New" panose="02070309020205020404" pitchFamily="49" charset="0"/>
                <a:cs typeface="Courier New" panose="02070309020205020404" pitchFamily="49" charset="0"/>
              </a:rPr>
              <a:t> = ceil(</a:t>
            </a:r>
            <a:r>
              <a:rPr lang="en-CA" sz="1800" b="1" dirty="0" err="1"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800" b="1" dirty="0"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800" b="1" dirty="0" err="1"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s_blocks_count</a:t>
            </a:r>
            <a:r>
              <a:rPr lang="en-CA" sz="1800" dirty="0" smtClean="0">
                <a:effectLst/>
                <a:latin typeface="Courier New" panose="02070309020205020404" pitchFamily="49" charset="0"/>
                <a:cs typeface="Courier New" panose="02070309020205020404" pitchFamily="49" charset="0"/>
              </a:rPr>
              <a:t>, </a:t>
            </a:r>
            <a:r>
              <a:rPr lang="en-CA" sz="1800" b="1" dirty="0" err="1"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800" b="1" dirty="0"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800" b="1" dirty="0" err="1"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s_blocks_per_group</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a:effectLst/>
                <a:latin typeface="Courier New" panose="02070309020205020404" pitchFamily="49" charset="0"/>
                <a:cs typeface="Courier New" panose="02070309020205020404" pitchFamily="49" charset="0"/>
              </a:rPr>
              <a:t> </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bg_nblks</a:t>
            </a:r>
            <a:r>
              <a:rPr lang="en-CA" sz="1800" dirty="0" smtClean="0">
                <a:effectLst/>
                <a:latin typeface="Courier New" panose="02070309020205020404" pitchFamily="49" charset="0"/>
                <a:cs typeface="Courier New" panose="02070309020205020404" pitchFamily="49" charset="0"/>
              </a:rPr>
              <a:t> </a:t>
            </a:r>
            <a:r>
              <a:rPr lang="en-CA" sz="1800" dirty="0">
                <a:effectLst/>
                <a:latin typeface="Courier New" panose="02070309020205020404" pitchFamily="49" charset="0"/>
                <a:cs typeface="Courier New" panose="02070309020205020404" pitchFamily="49" charset="0"/>
              </a:rPr>
              <a:t>= </a:t>
            </a:r>
            <a:r>
              <a:rPr lang="en-CA" sz="1800" dirty="0" smtClean="0">
                <a:effectLst/>
                <a:latin typeface="Courier New" panose="02070309020205020404" pitchFamily="49" charset="0"/>
                <a:cs typeface="Courier New" panose="02070309020205020404" pitchFamily="49" charset="0"/>
              </a:rPr>
              <a:t>ceil(</a:t>
            </a:r>
            <a:r>
              <a:rPr lang="en-CA" sz="1800" dirty="0" err="1" smtClean="0">
                <a:effectLst/>
                <a:latin typeface="Courier New" panose="02070309020205020404" pitchFamily="49" charset="0"/>
                <a:cs typeface="Courier New" panose="02070309020205020404" pitchFamily="49" charset="0"/>
              </a:rPr>
              <a:t>bg_ngrps</a:t>
            </a:r>
            <a:r>
              <a:rPr lang="en-CA" sz="1800" dirty="0" smtClean="0">
                <a:effectLst/>
                <a:latin typeface="Courier New" panose="02070309020205020404" pitchFamily="49" charset="0"/>
                <a:cs typeface="Courier New" panose="02070309020205020404" pitchFamily="49" charset="0"/>
              </a:rPr>
              <a:t>*</a:t>
            </a:r>
            <a:r>
              <a:rPr lang="en-CA" sz="1800" dirty="0" err="1" smtClean="0">
                <a:effectLst/>
                <a:latin typeface="Courier New" panose="02070309020205020404" pitchFamily="49" charset="0"/>
                <a:cs typeface="Courier New" panose="02070309020205020404" pitchFamily="49" charset="0"/>
              </a:rPr>
              <a:t>sizeof</a:t>
            </a:r>
            <a:r>
              <a:rPr lang="en-CA" sz="1800" dirty="0" smtClean="0">
                <a:effectLst/>
                <a:latin typeface="Courier New" panose="02070309020205020404" pitchFamily="49" charset="0"/>
                <a:cs typeface="Courier New" panose="02070309020205020404" pitchFamily="49" charset="0"/>
              </a:rPr>
              <a:t>(</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struct</a:t>
            </a:r>
            <a:r>
              <a:rPr lang="en-CA" sz="1800" dirty="0" smtClean="0">
                <a:effectLst/>
                <a:latin typeface="Courier New" panose="02070309020205020404" pitchFamily="49" charset="0"/>
                <a:cs typeface="Courier New" panose="02070309020205020404" pitchFamily="49" charset="0"/>
              </a:rPr>
              <a:t> ext4_group_desc), </a:t>
            </a:r>
            <a:r>
              <a:rPr lang="en-CA" sz="1800" dirty="0" err="1">
                <a:effectLst/>
                <a:latin typeface="Courier New" panose="02070309020205020404" pitchFamily="49" charset="0"/>
                <a:cs typeface="Courier New" panose="02070309020205020404" pitchFamily="49" charset="0"/>
              </a:rPr>
              <a:t>blk_size</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solidFill>
                  <a:srgbClr val="00B050"/>
                </a:solidFill>
                <a:effectLst/>
                <a:latin typeface="Courier New" panose="02070309020205020404" pitchFamily="49" charset="0"/>
                <a:cs typeface="Courier New" panose="02070309020205020404" pitchFamily="49" charset="0"/>
              </a:rPr>
              <a:t>  </a:t>
            </a:r>
            <a:r>
              <a:rPr lang="en-CA" sz="1800" dirty="0">
                <a:solidFill>
                  <a:schemeClr val="accent4">
                    <a:lumMod val="75000"/>
                  </a:schemeClr>
                </a:solidFill>
                <a:effectLst/>
                <a:latin typeface="Courier New" panose="02070309020205020404" pitchFamily="49" charset="0"/>
                <a:cs typeface="Courier New" panose="02070309020205020404" pitchFamily="49" charset="0"/>
              </a:rPr>
              <a:t>/* 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struct</a:t>
            </a:r>
            <a:r>
              <a:rPr lang="en-CA" sz="1800" dirty="0" smtClean="0">
                <a:effectLst/>
                <a:latin typeface="Courier New" panose="02070309020205020404" pitchFamily="49" charset="0"/>
                <a:cs typeface="Courier New" panose="02070309020205020404" pitchFamily="49" charset="0"/>
              </a:rPr>
              <a:t> ext4_group_desc * </a:t>
            </a:r>
            <a:r>
              <a:rPr lang="en-CA" sz="1800" dirty="0" err="1" smtClean="0">
                <a:effectLst/>
                <a:latin typeface="Courier New" panose="02070309020205020404" pitchFamily="49" charset="0"/>
                <a:cs typeface="Courier New" panose="02070309020205020404" pitchFamily="49" charset="0"/>
              </a:rPr>
              <a:t>gd</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dev.read_block</a:t>
            </a:r>
            <a:r>
              <a:rPr lang="en-CA" sz="1800" dirty="0" smtClean="0">
                <a:effectLst/>
                <a:latin typeface="Courier New" panose="02070309020205020404" pitchFamily="49" charset="0"/>
                <a:cs typeface="Courier New" panose="02070309020205020404" pitchFamily="49" charset="0"/>
              </a:rPr>
              <a:t>(</a:t>
            </a:r>
            <a:r>
              <a:rPr lang="en-CA" sz="1800" dirty="0" err="1" smtClean="0">
                <a:effectLst/>
                <a:latin typeface="Courier New" panose="02070309020205020404" pitchFamily="49" charset="0"/>
                <a:cs typeface="Courier New" panose="02070309020205020404" pitchFamily="49" charset="0"/>
              </a:rPr>
              <a:t>bg_blknr</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bg_nblks</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effectLst/>
                <a:latin typeface="Courier New" panose="02070309020205020404" pitchFamily="49" charset="0"/>
                <a:cs typeface="Courier New" panose="02070309020205020404" pitchFamily="49" charset="0"/>
              </a:rPr>
              <a:t>  for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a:t>
            </a:r>
            <a:r>
              <a:rPr lang="en-CA" sz="1800" dirty="0" smtClean="0">
                <a:effectLst/>
                <a:latin typeface="Courier New" panose="02070309020205020404" pitchFamily="49" charset="0"/>
                <a:cs typeface="Courier New" panose="02070309020205020404" pitchFamily="49" charset="0"/>
              </a:rPr>
              <a:t> = </a:t>
            </a:r>
            <a:r>
              <a:rPr lang="en-CA" sz="1800" dirty="0" smtClean="0">
                <a:solidFill>
                  <a:srgbClr val="0070C0"/>
                </a:solidFill>
                <a:effectLst/>
                <a:latin typeface="Courier New" panose="02070309020205020404" pitchFamily="49" charset="0"/>
                <a:cs typeface="Courier New" panose="02070309020205020404" pitchFamily="49" charset="0"/>
              </a:rPr>
              <a:t>0</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a:t>
            </a:r>
            <a:r>
              <a:rPr lang="en-CA" sz="1800" dirty="0" smtClean="0">
                <a:effectLst/>
                <a:latin typeface="Courier New" panose="02070309020205020404" pitchFamily="49" charset="0"/>
                <a:cs typeface="Courier New" panose="02070309020205020404" pitchFamily="49" charset="0"/>
              </a:rPr>
              <a:t> &lt; </a:t>
            </a:r>
            <a:r>
              <a:rPr lang="en-CA" sz="1800" dirty="0" err="1">
                <a:effectLst/>
                <a:latin typeface="Courier New" panose="02070309020205020404" pitchFamily="49" charset="0"/>
                <a:cs typeface="Courier New" panose="02070309020205020404" pitchFamily="49" charset="0"/>
              </a:rPr>
              <a:t>bg_ngrps</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a:t>
            </a:r>
            <a:r>
              <a:rPr lang="en-CA" sz="1800" dirty="0" smtClean="0">
                <a:effectLst/>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smtClean="0">
                <a:solidFill>
                  <a:schemeClr val="accent6">
                    <a:lumMod val="75000"/>
                  </a:schemeClr>
                </a:solidFill>
                <a:effectLst/>
                <a:latin typeface="Courier New" panose="02070309020205020404" pitchFamily="49" charset="0"/>
                <a:cs typeface="Courier New" panose="02070309020205020404" pitchFamily="49" charset="0"/>
              </a:rPr>
              <a:t>char</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buf</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dev.read_block</a:t>
            </a:r>
            <a:r>
              <a:rPr lang="en-CA" sz="1800" dirty="0" smtClean="0">
                <a:effectLst/>
                <a:latin typeface="Courier New" panose="02070309020205020404" pitchFamily="49" charset="0"/>
                <a:cs typeface="Courier New" panose="02070309020205020404" pitchFamily="49" charset="0"/>
              </a:rPr>
              <a:t>(</a:t>
            </a:r>
            <a:r>
              <a:rPr lang="en-CA" sz="1800" b="1" dirty="0" err="1"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gd</a:t>
            </a:r>
            <a:r>
              <a:rPr lang="en-CA" sz="1800" b="1" dirty="0"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800" b="1" dirty="0" err="1"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800" b="1" dirty="0"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800" b="1" dirty="0" err="1"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bg_block_bitmap</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800" dirty="0" smtClean="0">
                <a:latin typeface="Courier New" panose="02070309020205020404" pitchFamily="49" charset="0"/>
                <a:cs typeface="Courier New" panose="02070309020205020404" pitchFamily="49" charset="0"/>
              </a:rPr>
              <a:t> ret = </a:t>
            </a:r>
            <a:r>
              <a:rPr lang="en-CA" sz="1800" dirty="0" err="1" smtClean="0">
                <a:latin typeface="Courier New" panose="02070309020205020404" pitchFamily="49" charset="0"/>
                <a:cs typeface="Courier New" panose="02070309020205020404" pitchFamily="49" charset="0"/>
              </a:rPr>
              <a:t>process_block_bitmap</a:t>
            </a:r>
            <a:r>
              <a:rPr lang="en-CA" sz="1800" dirty="0" smtClean="0">
                <a:latin typeface="Courier New" panose="02070309020205020404" pitchFamily="49" charset="0"/>
                <a:cs typeface="Courier New" panose="02070309020205020404" pitchFamily="49" charset="0"/>
              </a:rPr>
              <a:t>(</a:t>
            </a:r>
            <a:r>
              <a:rPr lang="en-CA" sz="1800" dirty="0" err="1" smtClean="0">
                <a:latin typeface="Courier New" panose="02070309020205020404" pitchFamily="49" charset="0"/>
                <a:cs typeface="Courier New" panose="02070309020205020404" pitchFamily="49" charset="0"/>
              </a:rPr>
              <a:t>buf</a:t>
            </a: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vec</a:t>
            </a:r>
            <a:r>
              <a:rPr lang="en-CA" sz="18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8" name="Slide Number Placeholder 7"/>
          <p:cNvSpPr>
            <a:spLocks noGrp="1"/>
          </p:cNvSpPr>
          <p:nvPr>
            <p:ph type="sldNum" sz="quarter" idx="12"/>
          </p:nvPr>
        </p:nvSpPr>
        <p:spPr/>
        <p:txBody>
          <a:bodyPr/>
          <a:lstStyle/>
          <a:p>
            <a:fld id="{7B2023C8-B124-43A9-8F92-0EEF5BAA9995}" type="slidenum">
              <a:rPr lang="en-CA" smtClean="0"/>
              <a:pPr/>
              <a:t>26</a:t>
            </a:fld>
            <a:endParaRPr lang="en-CA" dirty="0"/>
          </a:p>
        </p:txBody>
      </p:sp>
      <p:sp>
        <p:nvSpPr>
          <p:cNvPr id="13" name="TextBox 12"/>
          <p:cNvSpPr txBox="1"/>
          <p:nvPr/>
        </p:nvSpPr>
        <p:spPr>
          <a:xfrm>
            <a:off x="3238500" y="5405604"/>
            <a:ext cx="6589264" cy="842796"/>
          </a:xfrm>
          <a:prstGeom prst="rect">
            <a:avLst/>
          </a:prstGeom>
          <a:solidFill>
            <a:schemeClr val="accent5">
              <a:lumMod val="20000"/>
              <a:lumOff val="80000"/>
            </a:schemeClr>
          </a:solidFill>
          <a:ln w="12700">
            <a:solidFill>
              <a:schemeClr val="bg1"/>
            </a:solidFill>
            <a:prstDash val="solid"/>
          </a:ln>
        </p:spPr>
        <p:txBody>
          <a:bodyPr wrap="square" rtlCol="0" anchor="ctr" anchorCtr="0">
            <a:noAutofit/>
          </a:bodyPr>
          <a:lstStyle/>
          <a:p>
            <a:pPr algn="ctr">
              <a:lnSpc>
                <a:spcPts val="2400"/>
              </a:lnSpc>
              <a:spcBef>
                <a:spcPts val="600"/>
              </a:spcBef>
            </a:pPr>
            <a:r>
              <a:rPr lang="en-CA" b="1" dirty="0">
                <a:solidFill>
                  <a:schemeClr val="bg1"/>
                </a:solidFill>
              </a:rPr>
              <a:t>No sanity </a:t>
            </a:r>
            <a:r>
              <a:rPr lang="en-CA" b="1" dirty="0" smtClean="0">
                <a:solidFill>
                  <a:schemeClr val="bg1"/>
                </a:solidFill>
              </a:rPr>
              <a:t>checks! </a:t>
            </a:r>
            <a:r>
              <a:rPr lang="en-CA" dirty="0" smtClean="0">
                <a:solidFill>
                  <a:schemeClr val="bg1"/>
                </a:solidFill>
              </a:rPr>
              <a:t>Value </a:t>
            </a:r>
            <a:r>
              <a:rPr lang="en-CA" dirty="0">
                <a:solidFill>
                  <a:schemeClr val="bg1"/>
                </a:solidFill>
              </a:rPr>
              <a:t>may be </a:t>
            </a:r>
            <a:r>
              <a:rPr lang="en-CA" dirty="0" smtClean="0">
                <a:solidFill>
                  <a:schemeClr val="bg1"/>
                </a:solidFill>
              </a:rPr>
              <a:t>out-of-bound or invalid, which can </a:t>
            </a:r>
            <a:r>
              <a:rPr lang="en-CA" dirty="0">
                <a:solidFill>
                  <a:schemeClr val="bg1"/>
                </a:solidFill>
              </a:rPr>
              <a:t>cause </a:t>
            </a:r>
            <a:r>
              <a:rPr lang="en-CA" dirty="0" smtClean="0">
                <a:solidFill>
                  <a:schemeClr val="bg1"/>
                </a:solidFill>
              </a:rPr>
              <a:t>crashes or </a:t>
            </a:r>
            <a:r>
              <a:rPr lang="en-CA" dirty="0">
                <a:solidFill>
                  <a:schemeClr val="bg1"/>
                </a:solidFill>
              </a:rPr>
              <a:t>garbage output</a:t>
            </a:r>
          </a:p>
        </p:txBody>
      </p:sp>
    </p:spTree>
    <p:extLst>
      <p:ext uri="{BB962C8B-B14F-4D97-AF65-F5344CB8AC3E}">
        <p14:creationId xmlns:p14="http://schemas.microsoft.com/office/powerpoint/2010/main" val="1351305738"/>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smtClean="0"/>
              <a:t>Application Using Spiffy Library</a:t>
            </a:r>
            <a:endParaRPr lang="en-CA" dirty="0"/>
          </a:p>
        </p:txBody>
      </p:sp>
      <p:sp>
        <p:nvSpPr>
          <p:cNvPr id="15" name="Slide Number Placeholder 14"/>
          <p:cNvSpPr>
            <a:spLocks noGrp="1"/>
          </p:cNvSpPr>
          <p:nvPr>
            <p:ph type="sldNum" sz="quarter" idx="12"/>
          </p:nvPr>
        </p:nvSpPr>
        <p:spPr/>
        <p:txBody>
          <a:bodyPr/>
          <a:lstStyle/>
          <a:p>
            <a:fld id="{7B2023C8-B124-43A9-8F92-0EEF5BAA9995}" type="slidenum">
              <a:rPr lang="en-CA" smtClean="0"/>
              <a:pPr/>
              <a:t>27</a:t>
            </a:fld>
            <a:endParaRPr lang="en-CA" dirty="0"/>
          </a:p>
        </p:txBody>
      </p:sp>
      <p:sp>
        <p:nvSpPr>
          <p:cNvPr id="11" name="Content Placeholder 6"/>
          <p:cNvSpPr txBox="1">
            <a:spLocks/>
          </p:cNvSpPr>
          <p:nvPr/>
        </p:nvSpPr>
        <p:spPr>
          <a:xfrm>
            <a:off x="684212" y="1507237"/>
            <a:ext cx="10285797" cy="4278718"/>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Font typeface="Wingdings 3" panose="05040102010807070707" pitchFamily="18" charset="2"/>
              <a:buNone/>
            </a:pPr>
            <a:r>
              <a:rPr lang="en-CA" sz="2000" dirty="0">
                <a:solidFill>
                  <a:schemeClr val="accent6">
                    <a:lumMod val="75000"/>
                  </a:schemeClr>
                </a:solidFill>
                <a:latin typeface="Courier New" panose="02070309020205020404" pitchFamily="49" charset="0"/>
                <a:cs typeface="Courier New" panose="02070309020205020404" pitchFamily="49" charset="0"/>
              </a:rPr>
              <a:t> </a:t>
            </a:r>
            <a:r>
              <a:rPr lang="en-CA" sz="2000" dirty="0" smtClean="0">
                <a:solidFill>
                  <a:schemeClr val="accent6">
                    <a:lumMod val="75000"/>
                  </a:schemeClr>
                </a:solidFill>
                <a:latin typeface="Courier New" panose="02070309020205020404" pitchFamily="49" charset="0"/>
                <a:cs typeface="Courier New" panose="02070309020205020404" pitchFamily="49" charset="0"/>
              </a:rPr>
              <a:t> </a:t>
            </a:r>
            <a:r>
              <a:rPr lang="en-CA" sz="20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2000" dirty="0" smtClean="0">
                <a:latin typeface="Courier New" panose="02070309020205020404" pitchFamily="49" charset="0"/>
                <a:cs typeface="Courier New" panose="02070309020205020404" pitchFamily="49" charset="0"/>
              </a:rPr>
              <a:t> </a:t>
            </a:r>
            <a:r>
              <a:rPr lang="en-CA" sz="2000" b="1" dirty="0" smtClean="0">
                <a:latin typeface="Courier New" panose="02070309020205020404" pitchFamily="49" charset="0"/>
                <a:cs typeface="Courier New" panose="02070309020205020404" pitchFamily="49" charset="0"/>
              </a:rPr>
              <a:t>process_ext4</a:t>
            </a:r>
            <a:r>
              <a:rPr lang="en-CA" sz="2000" dirty="0" smtClean="0">
                <a:latin typeface="Courier New" panose="02070309020205020404" pitchFamily="49" charset="0"/>
                <a:cs typeface="Courier New" panose="02070309020205020404" pitchFamily="49" charset="0"/>
              </a:rPr>
              <a:t>(vector&lt;Extent&gt; &amp; </a:t>
            </a:r>
            <a:r>
              <a:rPr lang="en-CA" sz="2000" dirty="0" err="1" smtClean="0">
                <a:latin typeface="Courier New" panose="02070309020205020404" pitchFamily="49" charset="0"/>
                <a:cs typeface="Courier New" panose="02070309020205020404" pitchFamily="49" charset="0"/>
              </a:rPr>
              <a:t>vec</a:t>
            </a:r>
            <a:r>
              <a:rPr lang="en-CA" sz="2000" dirty="0" smtClean="0">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1</a:t>
            </a:r>
            <a:r>
              <a:rPr lang="en-CA" sz="2000" dirty="0" smtClean="0">
                <a:latin typeface="Courier New" panose="02070309020205020404" pitchFamily="49" charset="0"/>
                <a:cs typeface="Courier New" panose="02070309020205020404" pitchFamily="49" charset="0"/>
              </a:rPr>
              <a:t>:  Ext4 </a:t>
            </a:r>
            <a:r>
              <a:rPr lang="en-CA" sz="2000" dirty="0">
                <a:latin typeface="Courier New" panose="02070309020205020404" pitchFamily="49" charset="0"/>
                <a:cs typeface="Courier New" panose="02070309020205020404" pitchFamily="49" charset="0"/>
              </a:rPr>
              <a:t>ext4(dev</a:t>
            </a:r>
            <a:r>
              <a:rPr lang="en-CA" sz="20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2</a:t>
            </a:r>
            <a:r>
              <a:rPr lang="en-CA" sz="2000" dirty="0" smtClean="0">
                <a:latin typeface="Courier New" panose="02070309020205020404" pitchFamily="49" charset="0"/>
                <a:cs typeface="Courier New" panose="02070309020205020404" pitchFamily="49" charset="0"/>
              </a:rPr>
              <a:t>:  </a:t>
            </a:r>
            <a:r>
              <a:rPr lang="en-CA" sz="2000" dirty="0">
                <a:solidFill>
                  <a:schemeClr val="accent4">
                    <a:lumMod val="75000"/>
                  </a:schemeClr>
                </a:solidFill>
                <a:latin typeface="Courier New" panose="02070309020205020404" pitchFamily="49" charset="0"/>
                <a:cs typeface="Courier New" panose="02070309020205020404" pitchFamily="49" charset="0"/>
              </a:rPr>
              <a:t>/* read super block into memory */</a:t>
            </a:r>
          </a:p>
          <a:p>
            <a:pPr marL="0" indent="0">
              <a:spcBef>
                <a:spcPts val="0"/>
              </a:spcBef>
              <a:spcAft>
                <a:spcPts val="0"/>
              </a:spcAft>
              <a:buNone/>
            </a:pPr>
            <a:r>
              <a:rPr lang="en-CA" sz="2000" b="1" dirty="0">
                <a:latin typeface="Courier New" panose="02070309020205020404" pitchFamily="49" charset="0"/>
                <a:cs typeface="Courier New" panose="02070309020205020404" pitchFamily="49" charset="0"/>
              </a:rPr>
              <a:t>3</a:t>
            </a:r>
            <a:r>
              <a:rPr lang="en-CA" sz="2000" b="1" dirty="0" smtClean="0">
                <a:latin typeface="Courier New" panose="02070309020205020404" pitchFamily="49" charset="0"/>
                <a:cs typeface="Courier New" panose="02070309020205020404" pitchFamily="49" charset="0"/>
              </a:rPr>
              <a:t>:  Ext4</a:t>
            </a:r>
            <a:r>
              <a:rPr lang="en-CA" sz="2000" b="1" dirty="0">
                <a:latin typeface="Courier New" panose="02070309020205020404" pitchFamily="49" charset="0"/>
                <a:cs typeface="Courier New" panose="02070309020205020404" pitchFamily="49" charset="0"/>
              </a:rPr>
              <a:t>::</a:t>
            </a:r>
            <a:r>
              <a:rPr lang="en-CA" sz="2000" b="1" dirty="0" err="1">
                <a:latin typeface="Courier New" panose="02070309020205020404" pitchFamily="49" charset="0"/>
                <a:cs typeface="Courier New" panose="02070309020205020404" pitchFamily="49" charset="0"/>
              </a:rPr>
              <a:t>SuperBlock</a:t>
            </a:r>
            <a:r>
              <a:rPr lang="en-CA" sz="2000" b="1" dirty="0">
                <a:latin typeface="Courier New" panose="02070309020205020404" pitchFamily="49" charset="0"/>
                <a:cs typeface="Courier New" panose="02070309020205020404" pitchFamily="49" charset="0"/>
              </a:rPr>
              <a:t> * </a:t>
            </a:r>
            <a:r>
              <a:rPr lang="en-CA" sz="2000" b="1" dirty="0" err="1">
                <a:latin typeface="Courier New" panose="02070309020205020404" pitchFamily="49" charset="0"/>
                <a:cs typeface="Courier New" panose="02070309020205020404" pitchFamily="49" charset="0"/>
              </a:rPr>
              <a:t>sb</a:t>
            </a:r>
            <a:r>
              <a:rPr lang="en-CA" sz="2000" b="1" dirty="0">
                <a:latin typeface="Courier New" panose="02070309020205020404" pitchFamily="49" charset="0"/>
                <a:cs typeface="Courier New" panose="02070309020205020404" pitchFamily="49" charset="0"/>
              </a:rPr>
              <a:t> = ext4.fetch_super();</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4</a:t>
            </a:r>
            <a:r>
              <a:rPr lang="en-CA" sz="2000" dirty="0" smtClean="0">
                <a:latin typeface="Courier New" panose="02070309020205020404" pitchFamily="49" charset="0"/>
                <a:cs typeface="Courier New" panose="02070309020205020404" pitchFamily="49" charset="0"/>
              </a:rPr>
              <a:t>:  if </a:t>
            </a:r>
            <a:r>
              <a:rPr lang="en-CA" sz="2000" dirty="0">
                <a:latin typeface="Courier New" panose="02070309020205020404" pitchFamily="49" charset="0"/>
                <a:cs typeface="Courier New" panose="02070309020205020404" pitchFamily="49" charset="0"/>
              </a:rPr>
              <a:t>(</a:t>
            </a:r>
            <a:r>
              <a:rPr lang="en-CA" sz="2000" dirty="0" err="1">
                <a:latin typeface="Courier New" panose="02070309020205020404" pitchFamily="49" charset="0"/>
                <a:cs typeface="Courier New" panose="02070309020205020404" pitchFamily="49" charset="0"/>
              </a:rPr>
              <a:t>sb</a:t>
            </a:r>
            <a:r>
              <a:rPr lang="en-CA" sz="2000" dirty="0">
                <a:latin typeface="Courier New" panose="02070309020205020404" pitchFamily="49" charset="0"/>
                <a:cs typeface="Courier New" panose="02070309020205020404" pitchFamily="49" charset="0"/>
              </a:rPr>
              <a:t> == </a:t>
            </a:r>
            <a:r>
              <a:rPr lang="en-CA" sz="2000" dirty="0" err="1">
                <a:latin typeface="Courier New" panose="02070309020205020404" pitchFamily="49" charset="0"/>
                <a:cs typeface="Courier New" panose="02070309020205020404" pitchFamily="49" charset="0"/>
              </a:rPr>
              <a:t>nullptr</a:t>
            </a:r>
            <a:r>
              <a:rPr lang="en-CA" sz="2000" dirty="0">
                <a:latin typeface="Courier New" panose="02070309020205020404" pitchFamily="49" charset="0"/>
                <a:cs typeface="Courier New" panose="02070309020205020404" pitchFamily="49" charset="0"/>
              </a:rPr>
              <a:t>) </a:t>
            </a:r>
            <a:r>
              <a:rPr lang="en-CA" sz="2000" dirty="0" smtClean="0">
                <a:latin typeface="Courier New" panose="02070309020205020404" pitchFamily="49" charset="0"/>
                <a:cs typeface="Courier New" panose="02070309020205020404" pitchFamily="49" charset="0"/>
              </a:rPr>
              <a:t>return </a:t>
            </a:r>
            <a:r>
              <a:rPr lang="en-CA" sz="2000" dirty="0" smtClean="0">
                <a:solidFill>
                  <a:srgbClr val="0070C0"/>
                </a:solidFill>
                <a:latin typeface="Courier New" panose="02070309020205020404" pitchFamily="49" charset="0"/>
                <a:cs typeface="Courier New" panose="02070309020205020404" pitchFamily="49" charset="0"/>
              </a:rPr>
              <a:t>-1</a:t>
            </a:r>
            <a:r>
              <a:rPr lang="en-CA" sz="2000" dirty="0" smtClean="0">
                <a:latin typeface="Courier New" panose="02070309020205020404" pitchFamily="49" charset="0"/>
                <a:cs typeface="Courier New" panose="02070309020205020404" pitchFamily="49" charset="0"/>
              </a:rPr>
              <a:t>;</a:t>
            </a:r>
            <a:endParaRPr lang="en-CA" sz="20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5:  </a:t>
            </a:r>
            <a:r>
              <a:rPr lang="en-CA" sz="2000" dirty="0" err="1" smtClean="0">
                <a:latin typeface="Courier New" panose="02070309020205020404" pitchFamily="49" charset="0"/>
                <a:cs typeface="Courier New" panose="02070309020205020404" pitchFamily="49" charset="0"/>
              </a:rPr>
              <a:t>dev.set_block_size</a:t>
            </a:r>
            <a:r>
              <a:rPr lang="en-CA" sz="2000" dirty="0" smtClean="0">
                <a:latin typeface="Courier New" panose="02070309020205020404" pitchFamily="49" charset="0"/>
                <a:cs typeface="Courier New" panose="02070309020205020404" pitchFamily="49" charset="0"/>
              </a:rPr>
              <a:t>(</a:t>
            </a:r>
            <a:r>
              <a:rPr lang="en-CA" sz="2000" dirty="0" smtClean="0">
                <a:solidFill>
                  <a:srgbClr val="0070C0"/>
                </a:solidFill>
                <a:latin typeface="Courier New" panose="02070309020205020404" pitchFamily="49" charset="0"/>
                <a:cs typeface="Courier New" panose="02070309020205020404" pitchFamily="49" charset="0"/>
              </a:rPr>
              <a:t>1024</a:t>
            </a:r>
            <a:r>
              <a:rPr lang="en-CA" sz="2000" dirty="0" smtClean="0">
                <a:latin typeface="Courier New" panose="02070309020205020404" pitchFamily="49" charset="0"/>
                <a:cs typeface="Courier New" panose="02070309020205020404" pitchFamily="49" charset="0"/>
              </a:rPr>
              <a:t> &lt;&lt; </a:t>
            </a:r>
            <a:r>
              <a:rPr lang="en-CA" sz="2000" dirty="0" err="1" smtClean="0">
                <a:latin typeface="Courier New" panose="02070309020205020404" pitchFamily="49" charset="0"/>
                <a:cs typeface="Courier New" panose="02070309020205020404" pitchFamily="49" charset="0"/>
              </a:rPr>
              <a:t>sb</a:t>
            </a:r>
            <a:r>
              <a:rPr lang="en-CA" sz="2000" dirty="0" smtClean="0">
                <a:latin typeface="Courier New" panose="02070309020205020404" pitchFamily="49" charset="0"/>
                <a:cs typeface="Courier New" panose="02070309020205020404" pitchFamily="49" charset="0"/>
              </a:rPr>
              <a:t>-&gt;</a:t>
            </a:r>
            <a:r>
              <a:rPr lang="en-CA" sz="2000" dirty="0" err="1" smtClean="0">
                <a:latin typeface="Courier New" panose="02070309020205020404" pitchFamily="49" charset="0"/>
                <a:cs typeface="Courier New" panose="02070309020205020404" pitchFamily="49" charset="0"/>
              </a:rPr>
              <a:t>s_log_block_size</a:t>
            </a:r>
            <a:r>
              <a:rPr lang="en-CA" sz="20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6:  </a:t>
            </a:r>
            <a:r>
              <a:rPr lang="en-CA" sz="2000" dirty="0">
                <a:solidFill>
                  <a:schemeClr val="accent4">
                    <a:lumMod val="75000"/>
                  </a:schemeClr>
                </a:solidFill>
                <a:latin typeface="Courier New" panose="02070309020205020404" pitchFamily="49" charset="0"/>
                <a:cs typeface="Courier New" panose="02070309020205020404" pitchFamily="49" charset="0"/>
              </a:rPr>
              <a:t>/* traverse file system and find/process all block bitmaps */</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7:  return </a:t>
            </a:r>
            <a:r>
              <a:rPr lang="en-CA" sz="2000" dirty="0" err="1">
                <a:latin typeface="Courier New" panose="02070309020205020404" pitchFamily="49" charset="0"/>
                <a:cs typeface="Courier New" panose="02070309020205020404" pitchFamily="49" charset="0"/>
              </a:rPr>
              <a:t>sb</a:t>
            </a:r>
            <a:r>
              <a:rPr lang="en-CA" sz="2000" dirty="0">
                <a:latin typeface="Courier New" panose="02070309020205020404" pitchFamily="49" charset="0"/>
                <a:cs typeface="Courier New" panose="02070309020205020404" pitchFamily="49" charset="0"/>
              </a:rPr>
              <a:t>-&gt;</a:t>
            </a:r>
            <a:r>
              <a:rPr lang="en-CA" sz="2000" dirty="0" err="1" smtClean="0">
                <a:latin typeface="Courier New" panose="02070309020205020404" pitchFamily="49" charset="0"/>
                <a:cs typeface="Courier New" panose="02070309020205020404" pitchFamily="49" charset="0"/>
              </a:rPr>
              <a:t>process_by_type</a:t>
            </a:r>
            <a:r>
              <a:rPr lang="en-CA" sz="2000" dirty="0" smtClean="0">
                <a:latin typeface="Courier New" panose="02070309020205020404" pitchFamily="49" charset="0"/>
                <a:cs typeface="Courier New" panose="02070309020205020404" pitchFamily="49" charset="0"/>
              </a:rPr>
              <a:t>(BLOCK_BITMAP, </a:t>
            </a:r>
            <a:br>
              <a:rPr lang="en-CA" sz="2000" dirty="0" smtClean="0">
                <a:latin typeface="Courier New" panose="02070309020205020404" pitchFamily="49" charset="0"/>
                <a:cs typeface="Courier New" panose="02070309020205020404" pitchFamily="49" charset="0"/>
              </a:rPr>
            </a:br>
            <a:r>
              <a:rPr lang="en-CA" sz="2000" dirty="0" smtClean="0">
                <a:latin typeface="Courier New" panose="02070309020205020404" pitchFamily="49" charset="0"/>
                <a:cs typeface="Courier New" panose="02070309020205020404" pitchFamily="49" charset="0"/>
              </a:rPr>
              <a:t>                               </a:t>
            </a:r>
            <a:r>
              <a:rPr lang="en-CA" sz="2000" dirty="0" err="1" smtClean="0">
                <a:latin typeface="Courier New" panose="02070309020205020404" pitchFamily="49" charset="0"/>
                <a:cs typeface="Courier New" panose="02070309020205020404" pitchFamily="49" charset="0"/>
              </a:rPr>
              <a:t>process_block_bitmap</a:t>
            </a:r>
            <a:r>
              <a:rPr lang="en-CA" sz="2000" dirty="0" smtClean="0">
                <a:latin typeface="Courier New" panose="02070309020205020404" pitchFamily="49" charset="0"/>
                <a:cs typeface="Courier New" panose="02070309020205020404" pitchFamily="49" charset="0"/>
              </a:rPr>
              <a:t>, &amp;</a:t>
            </a:r>
            <a:r>
              <a:rPr lang="en-CA" sz="2000" dirty="0" err="1" smtClean="0">
                <a:latin typeface="Courier New" panose="02070309020205020404" pitchFamily="49" charset="0"/>
                <a:cs typeface="Courier New" panose="02070309020205020404" pitchFamily="49" charset="0"/>
              </a:rPr>
              <a:t>vec</a:t>
            </a:r>
            <a:r>
              <a:rPr lang="en-CA" sz="20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  }</a:t>
            </a:r>
          </a:p>
        </p:txBody>
      </p:sp>
      <p:sp>
        <p:nvSpPr>
          <p:cNvPr id="7" name="TextBox 6"/>
          <p:cNvSpPr txBox="1"/>
          <p:nvPr/>
        </p:nvSpPr>
        <p:spPr>
          <a:xfrm>
            <a:off x="8661814" y="2062569"/>
            <a:ext cx="1856961" cy="1015663"/>
          </a:xfrm>
          <a:prstGeom prst="rect">
            <a:avLst/>
          </a:prstGeom>
          <a:solidFill>
            <a:schemeClr val="accent5">
              <a:lumMod val="20000"/>
              <a:lumOff val="80000"/>
            </a:schemeClr>
          </a:solidFill>
          <a:ln w="12700">
            <a:solidFill>
              <a:schemeClr val="bg1"/>
            </a:solidFill>
            <a:prstDash val="solid"/>
          </a:ln>
        </p:spPr>
        <p:txBody>
          <a:bodyPr wrap="square" rtlCol="0">
            <a:spAutoFit/>
          </a:bodyPr>
          <a:lstStyle/>
          <a:p>
            <a:pPr algn="ctr">
              <a:lnSpc>
                <a:spcPts val="2400"/>
              </a:lnSpc>
              <a:spcBef>
                <a:spcPts val="600"/>
              </a:spcBef>
            </a:pPr>
            <a:r>
              <a:rPr lang="en-CA" dirty="0" smtClean="0">
                <a:solidFill>
                  <a:schemeClr val="bg1"/>
                </a:solidFill>
              </a:rPr>
              <a:t>Returns </a:t>
            </a:r>
            <a:r>
              <a:rPr lang="en-CA" i="1" dirty="0" err="1" smtClean="0">
                <a:solidFill>
                  <a:schemeClr val="bg1"/>
                </a:solidFill>
              </a:rPr>
              <a:t>nullptr</a:t>
            </a:r>
            <a:r>
              <a:rPr lang="en-CA" i="1" dirty="0" smtClean="0">
                <a:solidFill>
                  <a:schemeClr val="bg1"/>
                </a:solidFill>
              </a:rPr>
              <a:t/>
            </a:r>
            <a:br>
              <a:rPr lang="en-CA" i="1" dirty="0" smtClean="0">
                <a:solidFill>
                  <a:schemeClr val="bg1"/>
                </a:solidFill>
              </a:rPr>
            </a:br>
            <a:r>
              <a:rPr lang="en-CA" dirty="0" smtClean="0">
                <a:solidFill>
                  <a:schemeClr val="bg1"/>
                </a:solidFill>
              </a:rPr>
              <a:t>if super block</a:t>
            </a:r>
            <a:br>
              <a:rPr lang="en-CA" dirty="0" smtClean="0">
                <a:solidFill>
                  <a:schemeClr val="bg1"/>
                </a:solidFill>
              </a:rPr>
            </a:br>
            <a:r>
              <a:rPr lang="en-CA" dirty="0" smtClean="0">
                <a:solidFill>
                  <a:schemeClr val="bg1"/>
                </a:solidFill>
              </a:rPr>
              <a:t> is corrupted</a:t>
            </a:r>
            <a:endParaRPr lang="en-CA" dirty="0">
              <a:solidFill>
                <a:schemeClr val="bg1"/>
              </a:solidFill>
            </a:endParaRPr>
          </a:p>
        </p:txBody>
      </p:sp>
      <p:cxnSp>
        <p:nvCxnSpPr>
          <p:cNvPr id="8" name="Straight Arrow Connector 7"/>
          <p:cNvCxnSpPr>
            <a:stCxn id="7" idx="1"/>
          </p:cNvCxnSpPr>
          <p:nvPr/>
        </p:nvCxnSpPr>
        <p:spPr>
          <a:xfrm flipH="1">
            <a:off x="8004176" y="2570401"/>
            <a:ext cx="657638" cy="125174"/>
          </a:xfrm>
          <a:prstGeom prst="straightConnector1">
            <a:avLst/>
          </a:prstGeom>
          <a:ln w="38100">
            <a:solidFill>
              <a:schemeClr val="bg1">
                <a:alpha val="7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50288714"/>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6"/>
          <p:cNvSpPr txBox="1">
            <a:spLocks/>
          </p:cNvSpPr>
          <p:nvPr/>
        </p:nvSpPr>
        <p:spPr>
          <a:xfrm>
            <a:off x="684212" y="1507237"/>
            <a:ext cx="10285797" cy="4278718"/>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Font typeface="Wingdings 3" panose="05040102010807070707" pitchFamily="18" charset="2"/>
              <a:buNone/>
            </a:pPr>
            <a:r>
              <a:rPr lang="en-CA" sz="2000" dirty="0">
                <a:solidFill>
                  <a:schemeClr val="accent6">
                    <a:lumMod val="75000"/>
                  </a:schemeClr>
                </a:solidFill>
                <a:latin typeface="Courier New" panose="02070309020205020404" pitchFamily="49" charset="0"/>
                <a:cs typeface="Courier New" panose="02070309020205020404" pitchFamily="49" charset="0"/>
              </a:rPr>
              <a:t> </a:t>
            </a:r>
            <a:r>
              <a:rPr lang="en-CA" sz="2000" dirty="0" smtClean="0">
                <a:solidFill>
                  <a:schemeClr val="accent6">
                    <a:lumMod val="75000"/>
                  </a:schemeClr>
                </a:solidFill>
                <a:latin typeface="Courier New" panose="02070309020205020404" pitchFamily="49" charset="0"/>
                <a:cs typeface="Courier New" panose="02070309020205020404" pitchFamily="49" charset="0"/>
              </a:rPr>
              <a:t> </a:t>
            </a:r>
            <a:r>
              <a:rPr lang="en-CA" sz="20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2000" dirty="0" smtClean="0">
                <a:latin typeface="Courier New" panose="02070309020205020404" pitchFamily="49" charset="0"/>
                <a:cs typeface="Courier New" panose="02070309020205020404" pitchFamily="49" charset="0"/>
              </a:rPr>
              <a:t> </a:t>
            </a:r>
            <a:r>
              <a:rPr lang="en-CA" sz="2000" b="1" dirty="0" smtClean="0">
                <a:latin typeface="Courier New" panose="02070309020205020404" pitchFamily="49" charset="0"/>
                <a:cs typeface="Courier New" panose="02070309020205020404" pitchFamily="49" charset="0"/>
              </a:rPr>
              <a:t>process_ext4</a:t>
            </a:r>
            <a:r>
              <a:rPr lang="en-CA" sz="2000" dirty="0" smtClean="0">
                <a:latin typeface="Courier New" panose="02070309020205020404" pitchFamily="49" charset="0"/>
                <a:cs typeface="Courier New" panose="02070309020205020404" pitchFamily="49" charset="0"/>
              </a:rPr>
              <a:t>(vector&lt;Extent&gt; &amp; </a:t>
            </a:r>
            <a:r>
              <a:rPr lang="en-CA" sz="2000" dirty="0" err="1" smtClean="0">
                <a:latin typeface="Courier New" panose="02070309020205020404" pitchFamily="49" charset="0"/>
                <a:cs typeface="Courier New" panose="02070309020205020404" pitchFamily="49" charset="0"/>
              </a:rPr>
              <a:t>vec</a:t>
            </a:r>
            <a:r>
              <a:rPr lang="en-CA" sz="2000" dirty="0" smtClean="0">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1</a:t>
            </a:r>
            <a:r>
              <a:rPr lang="en-CA" sz="2000" dirty="0" smtClean="0">
                <a:latin typeface="Courier New" panose="02070309020205020404" pitchFamily="49" charset="0"/>
                <a:cs typeface="Courier New" panose="02070309020205020404" pitchFamily="49" charset="0"/>
              </a:rPr>
              <a:t>:  Ext4 </a:t>
            </a:r>
            <a:r>
              <a:rPr lang="en-CA" sz="2000" dirty="0">
                <a:latin typeface="Courier New" panose="02070309020205020404" pitchFamily="49" charset="0"/>
                <a:cs typeface="Courier New" panose="02070309020205020404" pitchFamily="49" charset="0"/>
              </a:rPr>
              <a:t>ext4(dev</a:t>
            </a:r>
            <a:r>
              <a:rPr lang="en-CA" sz="20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2</a:t>
            </a:r>
            <a:r>
              <a:rPr lang="en-CA" sz="2000" dirty="0" smtClean="0">
                <a:latin typeface="Courier New" panose="02070309020205020404" pitchFamily="49" charset="0"/>
                <a:cs typeface="Courier New" panose="02070309020205020404" pitchFamily="49" charset="0"/>
              </a:rPr>
              <a:t>:  </a:t>
            </a:r>
            <a:r>
              <a:rPr lang="en-CA" sz="2000" dirty="0">
                <a:solidFill>
                  <a:schemeClr val="accent4">
                    <a:lumMod val="75000"/>
                  </a:schemeClr>
                </a:solidFill>
                <a:latin typeface="Courier New" panose="02070309020205020404" pitchFamily="49" charset="0"/>
                <a:cs typeface="Courier New" panose="02070309020205020404" pitchFamily="49" charset="0"/>
              </a:rPr>
              <a:t>/* read super block into memory */</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3</a:t>
            </a:r>
            <a:r>
              <a:rPr lang="en-CA" sz="2000" dirty="0" smtClean="0">
                <a:latin typeface="Courier New" panose="02070309020205020404" pitchFamily="49" charset="0"/>
                <a:cs typeface="Courier New" panose="02070309020205020404" pitchFamily="49" charset="0"/>
              </a:rPr>
              <a:t>:  Ext4</a:t>
            </a:r>
            <a:r>
              <a:rPr lang="en-CA" sz="2000" dirty="0">
                <a:latin typeface="Courier New" panose="02070309020205020404" pitchFamily="49" charset="0"/>
                <a:cs typeface="Courier New" panose="02070309020205020404" pitchFamily="49" charset="0"/>
              </a:rPr>
              <a:t>::</a:t>
            </a:r>
            <a:r>
              <a:rPr lang="en-CA" sz="2000" dirty="0" err="1">
                <a:latin typeface="Courier New" panose="02070309020205020404" pitchFamily="49" charset="0"/>
                <a:cs typeface="Courier New" panose="02070309020205020404" pitchFamily="49" charset="0"/>
              </a:rPr>
              <a:t>SuperBlock</a:t>
            </a:r>
            <a:r>
              <a:rPr lang="en-CA" sz="2000" dirty="0">
                <a:latin typeface="Courier New" panose="02070309020205020404" pitchFamily="49" charset="0"/>
                <a:cs typeface="Courier New" panose="02070309020205020404" pitchFamily="49" charset="0"/>
              </a:rPr>
              <a:t> * </a:t>
            </a:r>
            <a:r>
              <a:rPr lang="en-CA" sz="2000" dirty="0" err="1">
                <a:latin typeface="Courier New" panose="02070309020205020404" pitchFamily="49" charset="0"/>
                <a:cs typeface="Courier New" panose="02070309020205020404" pitchFamily="49" charset="0"/>
              </a:rPr>
              <a:t>sb</a:t>
            </a:r>
            <a:r>
              <a:rPr lang="en-CA" sz="2000" dirty="0">
                <a:latin typeface="Courier New" panose="02070309020205020404" pitchFamily="49" charset="0"/>
                <a:cs typeface="Courier New" panose="02070309020205020404" pitchFamily="49" charset="0"/>
              </a:rPr>
              <a:t> = ext4.fetch_super();</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4</a:t>
            </a:r>
            <a:r>
              <a:rPr lang="en-CA" sz="2000" dirty="0" smtClean="0">
                <a:latin typeface="Courier New" panose="02070309020205020404" pitchFamily="49" charset="0"/>
                <a:cs typeface="Courier New" panose="02070309020205020404" pitchFamily="49" charset="0"/>
              </a:rPr>
              <a:t>:  if </a:t>
            </a:r>
            <a:r>
              <a:rPr lang="en-CA" sz="2000" dirty="0">
                <a:latin typeface="Courier New" panose="02070309020205020404" pitchFamily="49" charset="0"/>
                <a:cs typeface="Courier New" panose="02070309020205020404" pitchFamily="49" charset="0"/>
              </a:rPr>
              <a:t>(</a:t>
            </a:r>
            <a:r>
              <a:rPr lang="en-CA" sz="2000" dirty="0" err="1">
                <a:latin typeface="Courier New" panose="02070309020205020404" pitchFamily="49" charset="0"/>
                <a:cs typeface="Courier New" panose="02070309020205020404" pitchFamily="49" charset="0"/>
              </a:rPr>
              <a:t>sb</a:t>
            </a:r>
            <a:r>
              <a:rPr lang="en-CA" sz="2000" dirty="0">
                <a:latin typeface="Courier New" panose="02070309020205020404" pitchFamily="49" charset="0"/>
                <a:cs typeface="Courier New" panose="02070309020205020404" pitchFamily="49" charset="0"/>
              </a:rPr>
              <a:t> == </a:t>
            </a:r>
            <a:r>
              <a:rPr lang="en-CA" sz="2000" dirty="0" err="1">
                <a:latin typeface="Courier New" panose="02070309020205020404" pitchFamily="49" charset="0"/>
                <a:cs typeface="Courier New" panose="02070309020205020404" pitchFamily="49" charset="0"/>
              </a:rPr>
              <a:t>nullptr</a:t>
            </a:r>
            <a:r>
              <a:rPr lang="en-CA" sz="2000" dirty="0">
                <a:latin typeface="Courier New" panose="02070309020205020404" pitchFamily="49" charset="0"/>
                <a:cs typeface="Courier New" panose="02070309020205020404" pitchFamily="49" charset="0"/>
              </a:rPr>
              <a:t>) </a:t>
            </a:r>
            <a:r>
              <a:rPr lang="en-CA" sz="2000" dirty="0" smtClean="0">
                <a:latin typeface="Courier New" panose="02070309020205020404" pitchFamily="49" charset="0"/>
                <a:cs typeface="Courier New" panose="02070309020205020404" pitchFamily="49" charset="0"/>
              </a:rPr>
              <a:t>return </a:t>
            </a:r>
            <a:r>
              <a:rPr lang="en-CA" sz="2000" dirty="0" smtClean="0">
                <a:solidFill>
                  <a:srgbClr val="0070C0"/>
                </a:solidFill>
                <a:latin typeface="Courier New" panose="02070309020205020404" pitchFamily="49" charset="0"/>
                <a:cs typeface="Courier New" panose="02070309020205020404" pitchFamily="49" charset="0"/>
              </a:rPr>
              <a:t>-1</a:t>
            </a:r>
            <a:r>
              <a:rPr lang="en-CA" sz="2000" dirty="0" smtClean="0">
                <a:latin typeface="Courier New" panose="02070309020205020404" pitchFamily="49" charset="0"/>
                <a:cs typeface="Courier New" panose="02070309020205020404" pitchFamily="49" charset="0"/>
              </a:rPr>
              <a:t>;</a:t>
            </a:r>
            <a:endParaRPr lang="en-CA" sz="20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5:  </a:t>
            </a:r>
            <a:r>
              <a:rPr lang="en-CA" sz="2000" dirty="0" err="1" smtClean="0">
                <a:latin typeface="Courier New" panose="02070309020205020404" pitchFamily="49" charset="0"/>
                <a:cs typeface="Courier New" panose="02070309020205020404" pitchFamily="49" charset="0"/>
              </a:rPr>
              <a:t>dev.set_block_size</a:t>
            </a:r>
            <a:r>
              <a:rPr lang="en-CA" sz="2000" dirty="0" smtClean="0">
                <a:latin typeface="Courier New" panose="02070309020205020404" pitchFamily="49" charset="0"/>
                <a:cs typeface="Courier New" panose="02070309020205020404" pitchFamily="49" charset="0"/>
              </a:rPr>
              <a:t>(</a:t>
            </a:r>
            <a:r>
              <a:rPr lang="en-CA" sz="2000" dirty="0" smtClean="0">
                <a:solidFill>
                  <a:srgbClr val="0070C0"/>
                </a:solidFill>
                <a:latin typeface="Courier New" panose="02070309020205020404" pitchFamily="49" charset="0"/>
                <a:cs typeface="Courier New" panose="02070309020205020404" pitchFamily="49" charset="0"/>
              </a:rPr>
              <a:t>1024</a:t>
            </a:r>
            <a:r>
              <a:rPr lang="en-CA" sz="2000" dirty="0" smtClean="0">
                <a:latin typeface="Courier New" panose="02070309020205020404" pitchFamily="49" charset="0"/>
                <a:cs typeface="Courier New" panose="02070309020205020404" pitchFamily="49" charset="0"/>
              </a:rPr>
              <a:t> &lt;&lt; </a:t>
            </a:r>
            <a:r>
              <a:rPr lang="en-CA" sz="2000" dirty="0" err="1" smtClean="0">
                <a:latin typeface="Courier New" panose="02070309020205020404" pitchFamily="49" charset="0"/>
                <a:cs typeface="Courier New" panose="02070309020205020404" pitchFamily="49" charset="0"/>
              </a:rPr>
              <a:t>sb</a:t>
            </a:r>
            <a:r>
              <a:rPr lang="en-CA" sz="2000" dirty="0" smtClean="0">
                <a:latin typeface="Courier New" panose="02070309020205020404" pitchFamily="49" charset="0"/>
                <a:cs typeface="Courier New" panose="02070309020205020404" pitchFamily="49" charset="0"/>
              </a:rPr>
              <a:t>-&gt;</a:t>
            </a:r>
            <a:r>
              <a:rPr lang="en-CA" sz="2000" dirty="0" err="1" smtClean="0">
                <a:latin typeface="Courier New" panose="02070309020205020404" pitchFamily="49" charset="0"/>
                <a:cs typeface="Courier New" panose="02070309020205020404" pitchFamily="49" charset="0"/>
              </a:rPr>
              <a:t>s_log_block_size</a:t>
            </a:r>
            <a:r>
              <a:rPr lang="en-CA" sz="20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6:  </a:t>
            </a:r>
            <a:r>
              <a:rPr lang="en-CA" sz="2000" dirty="0">
                <a:solidFill>
                  <a:schemeClr val="accent4">
                    <a:lumMod val="75000"/>
                  </a:schemeClr>
                </a:solidFill>
                <a:latin typeface="Courier New" panose="02070309020205020404" pitchFamily="49" charset="0"/>
                <a:cs typeface="Courier New" panose="02070309020205020404" pitchFamily="49" charset="0"/>
              </a:rPr>
              <a:t>/* traverse file system and find/process all block bitmaps */</a:t>
            </a:r>
          </a:p>
          <a:p>
            <a:pPr marL="0" indent="0">
              <a:spcBef>
                <a:spcPts val="0"/>
              </a:spcBef>
              <a:spcAft>
                <a:spcPts val="0"/>
              </a:spcAft>
              <a:buNone/>
            </a:pPr>
            <a:r>
              <a:rPr lang="en-CA" sz="2000" b="1" dirty="0" smtClean="0">
                <a:latin typeface="Courier New" panose="02070309020205020404" pitchFamily="49" charset="0"/>
                <a:cs typeface="Courier New" panose="02070309020205020404" pitchFamily="49" charset="0"/>
              </a:rPr>
              <a:t>7:  return </a:t>
            </a:r>
            <a:r>
              <a:rPr lang="en-CA" sz="2000" b="1" dirty="0" err="1">
                <a:latin typeface="Courier New" panose="02070309020205020404" pitchFamily="49" charset="0"/>
                <a:cs typeface="Courier New" panose="02070309020205020404" pitchFamily="49" charset="0"/>
              </a:rPr>
              <a:t>sb</a:t>
            </a:r>
            <a:r>
              <a:rPr lang="en-CA" sz="2000" b="1" dirty="0">
                <a:latin typeface="Courier New" panose="02070309020205020404" pitchFamily="49" charset="0"/>
                <a:cs typeface="Courier New" panose="02070309020205020404" pitchFamily="49" charset="0"/>
              </a:rPr>
              <a:t>-&gt;</a:t>
            </a:r>
            <a:r>
              <a:rPr lang="en-CA" sz="2000" b="1" dirty="0" err="1" smtClean="0">
                <a:latin typeface="Courier New" panose="02070309020205020404" pitchFamily="49" charset="0"/>
                <a:cs typeface="Courier New" panose="02070309020205020404" pitchFamily="49" charset="0"/>
              </a:rPr>
              <a:t>process_by_type</a:t>
            </a:r>
            <a:r>
              <a:rPr lang="en-CA" sz="2000" b="1" dirty="0" smtClean="0">
                <a:latin typeface="Courier New" panose="02070309020205020404" pitchFamily="49" charset="0"/>
                <a:cs typeface="Courier New" panose="02070309020205020404" pitchFamily="49" charset="0"/>
              </a:rPr>
              <a:t>(BLOCK_BITMAP, </a:t>
            </a:r>
            <a:br>
              <a:rPr lang="en-CA" sz="2000" b="1" dirty="0" smtClean="0">
                <a:latin typeface="Courier New" panose="02070309020205020404" pitchFamily="49" charset="0"/>
                <a:cs typeface="Courier New" panose="02070309020205020404" pitchFamily="49" charset="0"/>
              </a:rPr>
            </a:br>
            <a:r>
              <a:rPr lang="en-CA" sz="2000" b="1" dirty="0" smtClean="0">
                <a:latin typeface="Courier New" panose="02070309020205020404" pitchFamily="49" charset="0"/>
                <a:cs typeface="Courier New" panose="02070309020205020404" pitchFamily="49" charset="0"/>
              </a:rPr>
              <a:t>                               </a:t>
            </a:r>
            <a:r>
              <a:rPr lang="en-CA" sz="2000" b="1" dirty="0" err="1" smtClean="0">
                <a:latin typeface="Courier New" panose="02070309020205020404" pitchFamily="49" charset="0"/>
                <a:cs typeface="Courier New" panose="02070309020205020404" pitchFamily="49" charset="0"/>
              </a:rPr>
              <a:t>process_block_bitmap</a:t>
            </a:r>
            <a:r>
              <a:rPr lang="en-CA" sz="2000" b="1" dirty="0" smtClean="0">
                <a:latin typeface="Courier New" panose="02070309020205020404" pitchFamily="49" charset="0"/>
                <a:cs typeface="Courier New" panose="02070309020205020404" pitchFamily="49" charset="0"/>
              </a:rPr>
              <a:t>, &amp;</a:t>
            </a:r>
            <a:r>
              <a:rPr lang="en-CA" sz="2000" b="1" dirty="0" err="1" smtClean="0">
                <a:latin typeface="Courier New" panose="02070309020205020404" pitchFamily="49" charset="0"/>
                <a:cs typeface="Courier New" panose="02070309020205020404" pitchFamily="49" charset="0"/>
              </a:rPr>
              <a:t>vec</a:t>
            </a:r>
            <a:r>
              <a:rPr lang="en-CA" sz="2000" b="1"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  }</a:t>
            </a:r>
          </a:p>
        </p:txBody>
      </p:sp>
      <p:sp>
        <p:nvSpPr>
          <p:cNvPr id="5" name="Title 4"/>
          <p:cNvSpPr>
            <a:spLocks noGrp="1"/>
          </p:cNvSpPr>
          <p:nvPr>
            <p:ph type="title"/>
          </p:nvPr>
        </p:nvSpPr>
        <p:spPr/>
        <p:txBody>
          <a:bodyPr/>
          <a:lstStyle/>
          <a:p>
            <a:r>
              <a:rPr lang="en-CA" smtClean="0"/>
              <a:t>Application Using Spiffy Library</a:t>
            </a:r>
            <a:endParaRPr lang="en-CA" dirty="0"/>
          </a:p>
        </p:txBody>
      </p:sp>
      <p:sp>
        <p:nvSpPr>
          <p:cNvPr id="15" name="Slide Number Placeholder 14"/>
          <p:cNvSpPr>
            <a:spLocks noGrp="1"/>
          </p:cNvSpPr>
          <p:nvPr>
            <p:ph type="sldNum" sz="quarter" idx="12"/>
          </p:nvPr>
        </p:nvSpPr>
        <p:spPr/>
        <p:txBody>
          <a:bodyPr/>
          <a:lstStyle/>
          <a:p>
            <a:fld id="{7B2023C8-B124-43A9-8F92-0EEF5BAA9995}" type="slidenum">
              <a:rPr lang="en-CA" smtClean="0"/>
              <a:pPr/>
              <a:t>28</a:t>
            </a:fld>
            <a:endParaRPr lang="en-CA" dirty="0"/>
          </a:p>
        </p:txBody>
      </p:sp>
      <p:cxnSp>
        <p:nvCxnSpPr>
          <p:cNvPr id="14" name="Straight Arrow Connector 13"/>
          <p:cNvCxnSpPr/>
          <p:nvPr/>
        </p:nvCxnSpPr>
        <p:spPr>
          <a:xfrm flipV="1">
            <a:off x="6096000" y="4394201"/>
            <a:ext cx="0" cy="457199"/>
          </a:xfrm>
          <a:prstGeom prst="straightConnector1">
            <a:avLst/>
          </a:prstGeom>
          <a:ln w="63500">
            <a:solidFill>
              <a:schemeClr val="bg1">
                <a:alpha val="7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5054600" y="4995059"/>
            <a:ext cx="2082800" cy="400110"/>
          </a:xfrm>
          <a:prstGeom prst="rect">
            <a:avLst/>
          </a:prstGeom>
          <a:noFill/>
        </p:spPr>
        <p:txBody>
          <a:bodyPr wrap="square" rtlCol="0">
            <a:spAutoFit/>
          </a:bodyPr>
          <a:lstStyle/>
          <a:p>
            <a:pPr algn="ctr">
              <a:lnSpc>
                <a:spcPts val="2400"/>
              </a:lnSpc>
              <a:spcBef>
                <a:spcPts val="600"/>
              </a:spcBef>
            </a:pPr>
            <a:r>
              <a:rPr lang="en-CA" sz="2800" b="1" dirty="0" smtClean="0">
                <a:solidFill>
                  <a:schemeClr val="bg1"/>
                </a:solidFill>
              </a:rPr>
              <a:t>THAT’S IT</a:t>
            </a:r>
            <a:endParaRPr lang="en-CA" sz="2800" b="1" dirty="0">
              <a:solidFill>
                <a:schemeClr val="bg1"/>
              </a:solidFill>
            </a:endParaRPr>
          </a:p>
        </p:txBody>
      </p:sp>
    </p:spTree>
    <p:extLst>
      <p:ext uri="{BB962C8B-B14F-4D97-AF65-F5344CB8AC3E}">
        <p14:creationId xmlns:p14="http://schemas.microsoft.com/office/powerpoint/2010/main" val="3182145446"/>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Content Placeholder 6"/>
          <p:cNvSpPr txBox="1">
            <a:spLocks/>
          </p:cNvSpPr>
          <p:nvPr/>
        </p:nvSpPr>
        <p:spPr>
          <a:xfrm>
            <a:off x="684212" y="1507237"/>
            <a:ext cx="10285797" cy="3000968"/>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Font typeface="Wingdings 3" panose="05040102010807070707" pitchFamily="18" charset="2"/>
              <a:buNone/>
            </a:pPr>
            <a:r>
              <a:rPr lang="en-CA" sz="2000" dirty="0">
                <a:solidFill>
                  <a:schemeClr val="accent6">
                    <a:lumMod val="75000"/>
                  </a:schemeClr>
                </a:solidFill>
                <a:latin typeface="Courier New" panose="02070309020205020404" pitchFamily="49" charset="0"/>
                <a:cs typeface="Courier New" panose="02070309020205020404" pitchFamily="49" charset="0"/>
              </a:rPr>
              <a:t> </a:t>
            </a:r>
            <a:r>
              <a:rPr lang="en-CA" sz="2000" dirty="0" smtClean="0">
                <a:solidFill>
                  <a:schemeClr val="accent6">
                    <a:lumMod val="75000"/>
                  </a:schemeClr>
                </a:solidFill>
                <a:latin typeface="Courier New" panose="02070309020205020404" pitchFamily="49" charset="0"/>
                <a:cs typeface="Courier New" panose="02070309020205020404" pitchFamily="49" charset="0"/>
              </a:rPr>
              <a:t> </a:t>
            </a:r>
            <a:r>
              <a:rPr lang="en-CA" sz="20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2000" dirty="0" smtClean="0">
                <a:latin typeface="Courier New" panose="02070309020205020404" pitchFamily="49" charset="0"/>
                <a:cs typeface="Courier New" panose="02070309020205020404" pitchFamily="49" charset="0"/>
              </a:rPr>
              <a:t> </a:t>
            </a:r>
            <a:r>
              <a:rPr lang="en-CA" sz="2000" b="1" dirty="0" smtClean="0">
                <a:latin typeface="Courier New" panose="02070309020205020404" pitchFamily="49" charset="0"/>
                <a:cs typeface="Courier New" panose="02070309020205020404" pitchFamily="49" charset="0"/>
              </a:rPr>
              <a:t>process_ext4</a:t>
            </a:r>
            <a:r>
              <a:rPr lang="en-CA" sz="2000" dirty="0" smtClean="0">
                <a:latin typeface="Courier New" panose="02070309020205020404" pitchFamily="49" charset="0"/>
                <a:cs typeface="Courier New" panose="02070309020205020404" pitchFamily="49" charset="0"/>
              </a:rPr>
              <a:t>(vector&lt;Extent&gt; &amp; </a:t>
            </a:r>
            <a:r>
              <a:rPr lang="en-CA" sz="2000" dirty="0" err="1" smtClean="0">
                <a:latin typeface="Courier New" panose="02070309020205020404" pitchFamily="49" charset="0"/>
                <a:cs typeface="Courier New" panose="02070309020205020404" pitchFamily="49" charset="0"/>
              </a:rPr>
              <a:t>vec</a:t>
            </a:r>
            <a:r>
              <a:rPr lang="en-CA" sz="2000" dirty="0" smtClean="0">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1</a:t>
            </a:r>
            <a:r>
              <a:rPr lang="en-CA" sz="2000" dirty="0" smtClean="0">
                <a:latin typeface="Courier New" panose="02070309020205020404" pitchFamily="49" charset="0"/>
                <a:cs typeface="Courier New" panose="02070309020205020404" pitchFamily="49" charset="0"/>
              </a:rPr>
              <a:t>:  Ext4 </a:t>
            </a:r>
            <a:r>
              <a:rPr lang="en-CA" sz="2000" dirty="0">
                <a:latin typeface="Courier New" panose="02070309020205020404" pitchFamily="49" charset="0"/>
                <a:cs typeface="Courier New" panose="02070309020205020404" pitchFamily="49" charset="0"/>
              </a:rPr>
              <a:t>ext4(dev</a:t>
            </a:r>
            <a:r>
              <a:rPr lang="en-CA" sz="20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2</a:t>
            </a:r>
            <a:r>
              <a:rPr lang="en-CA" sz="2000" dirty="0" smtClean="0">
                <a:latin typeface="Courier New" panose="02070309020205020404" pitchFamily="49" charset="0"/>
                <a:cs typeface="Courier New" panose="02070309020205020404" pitchFamily="49" charset="0"/>
              </a:rPr>
              <a:t>:  </a:t>
            </a:r>
            <a:r>
              <a:rPr lang="en-CA" sz="2000" dirty="0">
                <a:solidFill>
                  <a:schemeClr val="accent4">
                    <a:lumMod val="75000"/>
                  </a:schemeClr>
                </a:solidFill>
                <a:latin typeface="Courier New" panose="02070309020205020404" pitchFamily="49" charset="0"/>
                <a:cs typeface="Courier New" panose="02070309020205020404" pitchFamily="49" charset="0"/>
              </a:rPr>
              <a:t>/* read super block into memory */</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3</a:t>
            </a:r>
            <a:r>
              <a:rPr lang="en-CA" sz="2000" dirty="0" smtClean="0">
                <a:latin typeface="Courier New" panose="02070309020205020404" pitchFamily="49" charset="0"/>
                <a:cs typeface="Courier New" panose="02070309020205020404" pitchFamily="49" charset="0"/>
              </a:rPr>
              <a:t>:  Ext4</a:t>
            </a:r>
            <a:r>
              <a:rPr lang="en-CA" sz="2000" dirty="0">
                <a:latin typeface="Courier New" panose="02070309020205020404" pitchFamily="49" charset="0"/>
                <a:cs typeface="Courier New" panose="02070309020205020404" pitchFamily="49" charset="0"/>
              </a:rPr>
              <a:t>::</a:t>
            </a:r>
            <a:r>
              <a:rPr lang="en-CA" sz="2000" dirty="0" err="1">
                <a:latin typeface="Courier New" panose="02070309020205020404" pitchFamily="49" charset="0"/>
                <a:cs typeface="Courier New" panose="02070309020205020404" pitchFamily="49" charset="0"/>
              </a:rPr>
              <a:t>SuperBlock</a:t>
            </a:r>
            <a:r>
              <a:rPr lang="en-CA" sz="2000" dirty="0">
                <a:latin typeface="Courier New" panose="02070309020205020404" pitchFamily="49" charset="0"/>
                <a:cs typeface="Courier New" panose="02070309020205020404" pitchFamily="49" charset="0"/>
              </a:rPr>
              <a:t> * </a:t>
            </a:r>
            <a:r>
              <a:rPr lang="en-CA" sz="2000" dirty="0" err="1">
                <a:latin typeface="Courier New" panose="02070309020205020404" pitchFamily="49" charset="0"/>
                <a:cs typeface="Courier New" panose="02070309020205020404" pitchFamily="49" charset="0"/>
              </a:rPr>
              <a:t>sb</a:t>
            </a:r>
            <a:r>
              <a:rPr lang="en-CA" sz="2000" dirty="0">
                <a:latin typeface="Courier New" panose="02070309020205020404" pitchFamily="49" charset="0"/>
                <a:cs typeface="Courier New" panose="02070309020205020404" pitchFamily="49" charset="0"/>
              </a:rPr>
              <a:t> = ext4.fetch_super();</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4</a:t>
            </a:r>
            <a:r>
              <a:rPr lang="en-CA" sz="2000" dirty="0" smtClean="0">
                <a:latin typeface="Courier New" panose="02070309020205020404" pitchFamily="49" charset="0"/>
                <a:cs typeface="Courier New" panose="02070309020205020404" pitchFamily="49" charset="0"/>
              </a:rPr>
              <a:t>:  if </a:t>
            </a:r>
            <a:r>
              <a:rPr lang="en-CA" sz="2000" dirty="0">
                <a:latin typeface="Courier New" panose="02070309020205020404" pitchFamily="49" charset="0"/>
                <a:cs typeface="Courier New" panose="02070309020205020404" pitchFamily="49" charset="0"/>
              </a:rPr>
              <a:t>(</a:t>
            </a:r>
            <a:r>
              <a:rPr lang="en-CA" sz="2000" dirty="0" err="1">
                <a:latin typeface="Courier New" panose="02070309020205020404" pitchFamily="49" charset="0"/>
                <a:cs typeface="Courier New" panose="02070309020205020404" pitchFamily="49" charset="0"/>
              </a:rPr>
              <a:t>sb</a:t>
            </a:r>
            <a:r>
              <a:rPr lang="en-CA" sz="2000" dirty="0">
                <a:latin typeface="Courier New" panose="02070309020205020404" pitchFamily="49" charset="0"/>
                <a:cs typeface="Courier New" panose="02070309020205020404" pitchFamily="49" charset="0"/>
              </a:rPr>
              <a:t> == </a:t>
            </a:r>
            <a:r>
              <a:rPr lang="en-CA" sz="2000" dirty="0" err="1">
                <a:latin typeface="Courier New" panose="02070309020205020404" pitchFamily="49" charset="0"/>
                <a:cs typeface="Courier New" panose="02070309020205020404" pitchFamily="49" charset="0"/>
              </a:rPr>
              <a:t>nullptr</a:t>
            </a:r>
            <a:r>
              <a:rPr lang="en-CA" sz="2000" dirty="0">
                <a:latin typeface="Courier New" panose="02070309020205020404" pitchFamily="49" charset="0"/>
                <a:cs typeface="Courier New" panose="02070309020205020404" pitchFamily="49" charset="0"/>
              </a:rPr>
              <a:t>) </a:t>
            </a:r>
            <a:r>
              <a:rPr lang="en-CA" sz="2000" dirty="0" smtClean="0">
                <a:latin typeface="Courier New" panose="02070309020205020404" pitchFamily="49" charset="0"/>
                <a:cs typeface="Courier New" panose="02070309020205020404" pitchFamily="49" charset="0"/>
              </a:rPr>
              <a:t>return </a:t>
            </a:r>
            <a:r>
              <a:rPr lang="en-CA" sz="2000" dirty="0" smtClean="0">
                <a:solidFill>
                  <a:srgbClr val="0070C0"/>
                </a:solidFill>
                <a:latin typeface="Courier New" panose="02070309020205020404" pitchFamily="49" charset="0"/>
                <a:cs typeface="Courier New" panose="02070309020205020404" pitchFamily="49" charset="0"/>
              </a:rPr>
              <a:t>-1</a:t>
            </a:r>
            <a:r>
              <a:rPr lang="en-CA" sz="2000" dirty="0" smtClean="0">
                <a:latin typeface="Courier New" panose="02070309020205020404" pitchFamily="49" charset="0"/>
                <a:cs typeface="Courier New" panose="02070309020205020404" pitchFamily="49" charset="0"/>
              </a:rPr>
              <a:t>;</a:t>
            </a:r>
            <a:endParaRPr lang="en-CA" sz="20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5:  </a:t>
            </a:r>
            <a:r>
              <a:rPr lang="en-CA" sz="2000" dirty="0" err="1" smtClean="0">
                <a:latin typeface="Courier New" panose="02070309020205020404" pitchFamily="49" charset="0"/>
                <a:cs typeface="Courier New" panose="02070309020205020404" pitchFamily="49" charset="0"/>
              </a:rPr>
              <a:t>dev.set_block_size</a:t>
            </a:r>
            <a:r>
              <a:rPr lang="en-CA" sz="2000" dirty="0" smtClean="0">
                <a:latin typeface="Courier New" panose="02070309020205020404" pitchFamily="49" charset="0"/>
                <a:cs typeface="Courier New" panose="02070309020205020404" pitchFamily="49" charset="0"/>
              </a:rPr>
              <a:t>(</a:t>
            </a:r>
            <a:r>
              <a:rPr lang="en-CA" sz="2000" dirty="0" smtClean="0">
                <a:solidFill>
                  <a:srgbClr val="0070C0"/>
                </a:solidFill>
                <a:latin typeface="Courier New" panose="02070309020205020404" pitchFamily="49" charset="0"/>
                <a:cs typeface="Courier New" panose="02070309020205020404" pitchFamily="49" charset="0"/>
              </a:rPr>
              <a:t>1024</a:t>
            </a:r>
            <a:r>
              <a:rPr lang="en-CA" sz="2000" dirty="0" smtClean="0">
                <a:latin typeface="Courier New" panose="02070309020205020404" pitchFamily="49" charset="0"/>
                <a:cs typeface="Courier New" panose="02070309020205020404" pitchFamily="49" charset="0"/>
              </a:rPr>
              <a:t> &lt;&lt; </a:t>
            </a:r>
            <a:r>
              <a:rPr lang="en-CA" sz="2000" dirty="0" err="1" smtClean="0">
                <a:latin typeface="Courier New" panose="02070309020205020404" pitchFamily="49" charset="0"/>
                <a:cs typeface="Courier New" panose="02070309020205020404" pitchFamily="49" charset="0"/>
              </a:rPr>
              <a:t>sb</a:t>
            </a:r>
            <a:r>
              <a:rPr lang="en-CA" sz="2000" dirty="0" smtClean="0">
                <a:latin typeface="Courier New" panose="02070309020205020404" pitchFamily="49" charset="0"/>
                <a:cs typeface="Courier New" panose="02070309020205020404" pitchFamily="49" charset="0"/>
              </a:rPr>
              <a:t>-&gt;</a:t>
            </a:r>
            <a:r>
              <a:rPr lang="en-CA" sz="2000" dirty="0" err="1" smtClean="0">
                <a:latin typeface="Courier New" panose="02070309020205020404" pitchFamily="49" charset="0"/>
                <a:cs typeface="Courier New" panose="02070309020205020404" pitchFamily="49" charset="0"/>
              </a:rPr>
              <a:t>s_log_block_size</a:t>
            </a:r>
            <a:r>
              <a:rPr lang="en-CA" sz="20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6:  </a:t>
            </a:r>
            <a:r>
              <a:rPr lang="en-CA" sz="2000" dirty="0">
                <a:solidFill>
                  <a:schemeClr val="accent4">
                    <a:lumMod val="75000"/>
                  </a:schemeClr>
                </a:solidFill>
                <a:latin typeface="Courier New" panose="02070309020205020404" pitchFamily="49" charset="0"/>
                <a:cs typeface="Courier New" panose="02070309020205020404" pitchFamily="49" charset="0"/>
              </a:rPr>
              <a:t>/* traverse file system and find/process all block bitmaps */</a:t>
            </a:r>
          </a:p>
          <a:p>
            <a:pPr marL="0" indent="0">
              <a:spcBef>
                <a:spcPts val="0"/>
              </a:spcBef>
              <a:spcAft>
                <a:spcPts val="0"/>
              </a:spcAft>
              <a:buNone/>
            </a:pPr>
            <a:r>
              <a:rPr lang="en-CA" sz="2000" b="1" dirty="0" smtClean="0">
                <a:latin typeface="Courier New" panose="02070309020205020404" pitchFamily="49" charset="0"/>
                <a:cs typeface="Courier New" panose="02070309020205020404" pitchFamily="49" charset="0"/>
              </a:rPr>
              <a:t>7:  return </a:t>
            </a:r>
            <a:r>
              <a:rPr lang="en-CA" sz="2000" b="1" dirty="0" err="1">
                <a:latin typeface="Courier New" panose="02070309020205020404" pitchFamily="49" charset="0"/>
                <a:cs typeface="Courier New" panose="02070309020205020404" pitchFamily="49" charset="0"/>
              </a:rPr>
              <a:t>sb</a:t>
            </a:r>
            <a:r>
              <a:rPr lang="en-CA" sz="2000" b="1" dirty="0">
                <a:latin typeface="Courier New" panose="02070309020205020404" pitchFamily="49" charset="0"/>
                <a:cs typeface="Courier New" panose="02070309020205020404" pitchFamily="49" charset="0"/>
              </a:rPr>
              <a:t>-&gt;</a:t>
            </a:r>
            <a:r>
              <a:rPr lang="en-CA" sz="2000" b="1" dirty="0" err="1" smtClean="0">
                <a:latin typeface="Courier New" panose="02070309020205020404" pitchFamily="49" charset="0"/>
                <a:cs typeface="Courier New" panose="02070309020205020404" pitchFamily="49" charset="0"/>
              </a:rPr>
              <a:t>process_by_type</a:t>
            </a:r>
            <a:r>
              <a:rPr lang="en-CA" sz="2000" b="1" dirty="0" smtClean="0">
                <a:latin typeface="Courier New" panose="02070309020205020404" pitchFamily="49" charset="0"/>
                <a:cs typeface="Courier New" panose="02070309020205020404" pitchFamily="49" charset="0"/>
              </a:rPr>
              <a:t>(BLOCK_BITMAP, </a:t>
            </a:r>
            <a:br>
              <a:rPr lang="en-CA" sz="2000" b="1" dirty="0" smtClean="0">
                <a:latin typeface="Courier New" panose="02070309020205020404" pitchFamily="49" charset="0"/>
                <a:cs typeface="Courier New" panose="02070309020205020404" pitchFamily="49" charset="0"/>
              </a:rPr>
            </a:br>
            <a:r>
              <a:rPr lang="en-CA" sz="2000" b="1" dirty="0" smtClean="0">
                <a:latin typeface="Courier New" panose="02070309020205020404" pitchFamily="49" charset="0"/>
                <a:cs typeface="Courier New" panose="02070309020205020404" pitchFamily="49" charset="0"/>
              </a:rPr>
              <a:t>                               </a:t>
            </a:r>
            <a:r>
              <a:rPr lang="en-CA" sz="2000" b="1" dirty="0" err="1" smtClean="0">
                <a:latin typeface="Courier New" panose="02070309020205020404" pitchFamily="49" charset="0"/>
                <a:cs typeface="Courier New" panose="02070309020205020404" pitchFamily="49" charset="0"/>
              </a:rPr>
              <a:t>process_block_bitmap</a:t>
            </a:r>
            <a:r>
              <a:rPr lang="en-CA" sz="2000" b="1" dirty="0" smtClean="0">
                <a:latin typeface="Courier New" panose="02070309020205020404" pitchFamily="49" charset="0"/>
                <a:cs typeface="Courier New" panose="02070309020205020404" pitchFamily="49" charset="0"/>
              </a:rPr>
              <a:t>, &amp;</a:t>
            </a:r>
            <a:r>
              <a:rPr lang="en-CA" sz="2000" b="1" dirty="0" err="1" smtClean="0">
                <a:latin typeface="Courier New" panose="02070309020205020404" pitchFamily="49" charset="0"/>
                <a:cs typeface="Courier New" panose="02070309020205020404" pitchFamily="49" charset="0"/>
              </a:rPr>
              <a:t>vec</a:t>
            </a:r>
            <a:r>
              <a:rPr lang="en-CA" sz="2000" b="1"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  }</a:t>
            </a:r>
          </a:p>
        </p:txBody>
      </p:sp>
      <p:sp>
        <p:nvSpPr>
          <p:cNvPr id="5" name="Title 4"/>
          <p:cNvSpPr>
            <a:spLocks noGrp="1"/>
          </p:cNvSpPr>
          <p:nvPr>
            <p:ph type="title"/>
          </p:nvPr>
        </p:nvSpPr>
        <p:spPr/>
        <p:txBody>
          <a:bodyPr/>
          <a:lstStyle/>
          <a:p>
            <a:r>
              <a:rPr lang="en-CA" smtClean="0"/>
              <a:t>Application Using Spiffy Library</a:t>
            </a:r>
            <a:endParaRPr lang="en-CA" dirty="0"/>
          </a:p>
        </p:txBody>
      </p:sp>
      <p:sp>
        <p:nvSpPr>
          <p:cNvPr id="10" name="Content Placeholder 9"/>
          <p:cNvSpPr>
            <a:spLocks noGrp="1"/>
          </p:cNvSpPr>
          <p:nvPr>
            <p:ph idx="1"/>
          </p:nvPr>
        </p:nvSpPr>
        <p:spPr/>
        <p:txBody>
          <a:bodyPr/>
          <a:lstStyle/>
          <a:p>
            <a:endParaRPr lang="en-CA" dirty="0" smtClean="0"/>
          </a:p>
          <a:p>
            <a:endParaRPr lang="en-CA" dirty="0" smtClean="0"/>
          </a:p>
          <a:p>
            <a:endParaRPr lang="en-CA" dirty="0" smtClean="0"/>
          </a:p>
          <a:p>
            <a:endParaRPr lang="en-CA" dirty="0" smtClean="0"/>
          </a:p>
          <a:p>
            <a:endParaRPr lang="en-CA" dirty="0" smtClean="0"/>
          </a:p>
          <a:p>
            <a:endParaRPr lang="en-CA" dirty="0" smtClean="0"/>
          </a:p>
          <a:p>
            <a:pPr lvl="3"/>
            <a:endParaRPr lang="en-CA" dirty="0" smtClean="0"/>
          </a:p>
          <a:p>
            <a:r>
              <a:rPr lang="en-CA" dirty="0" smtClean="0"/>
              <a:t>Advantages</a:t>
            </a:r>
          </a:p>
          <a:p>
            <a:pPr lvl="1"/>
            <a:r>
              <a:rPr lang="en-CA" dirty="0" smtClean="0"/>
              <a:t>simplifies file system traversal, reduces need to know format details</a:t>
            </a:r>
          </a:p>
          <a:p>
            <a:pPr lvl="1"/>
            <a:r>
              <a:rPr lang="en-CA" dirty="0" smtClean="0"/>
              <a:t>library parsing routines have automatically generated sanity checks</a:t>
            </a:r>
          </a:p>
          <a:p>
            <a:endParaRPr lang="en-CA" dirty="0" smtClean="0"/>
          </a:p>
        </p:txBody>
      </p:sp>
      <p:sp>
        <p:nvSpPr>
          <p:cNvPr id="15" name="Slide Number Placeholder 14"/>
          <p:cNvSpPr>
            <a:spLocks noGrp="1"/>
          </p:cNvSpPr>
          <p:nvPr>
            <p:ph type="sldNum" sz="quarter" idx="12"/>
          </p:nvPr>
        </p:nvSpPr>
        <p:spPr/>
        <p:txBody>
          <a:bodyPr/>
          <a:lstStyle/>
          <a:p>
            <a:fld id="{7B2023C8-B124-43A9-8F92-0EEF5BAA9995}" type="slidenum">
              <a:rPr lang="en-CA" smtClean="0"/>
              <a:pPr/>
              <a:t>29</a:t>
            </a:fld>
            <a:endParaRPr lang="en-CA" dirty="0"/>
          </a:p>
        </p:txBody>
      </p:sp>
    </p:spTree>
    <p:extLst>
      <p:ext uri="{BB962C8B-B14F-4D97-AF65-F5344CB8AC3E}">
        <p14:creationId xmlns:p14="http://schemas.microsoft.com/office/powerpoint/2010/main" val="673879942"/>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smtClean="0"/>
              <a:t>Spiffy Application for Btrfs</a:t>
            </a:r>
            <a:endParaRPr lang="en-CA" dirty="0"/>
          </a:p>
        </p:txBody>
      </p:sp>
      <p:sp>
        <p:nvSpPr>
          <p:cNvPr id="10" name="Content Placeholder 9"/>
          <p:cNvSpPr>
            <a:spLocks noGrp="1"/>
          </p:cNvSpPr>
          <p:nvPr>
            <p:ph idx="1"/>
          </p:nvPr>
        </p:nvSpPr>
        <p:spPr/>
        <p:txBody>
          <a:bodyPr/>
          <a:lstStyle/>
          <a:p>
            <a:endParaRPr lang="en-CA" smtClean="0"/>
          </a:p>
          <a:p>
            <a:endParaRPr lang="en-CA" smtClean="0"/>
          </a:p>
          <a:p>
            <a:endParaRPr lang="en-CA" smtClean="0"/>
          </a:p>
          <a:p>
            <a:endParaRPr lang="en-CA" smtClean="0"/>
          </a:p>
          <a:p>
            <a:endParaRPr lang="en-CA" dirty="0"/>
          </a:p>
        </p:txBody>
      </p:sp>
      <p:sp>
        <p:nvSpPr>
          <p:cNvPr id="15" name="Slide Number Placeholder 14"/>
          <p:cNvSpPr>
            <a:spLocks noGrp="1"/>
          </p:cNvSpPr>
          <p:nvPr>
            <p:ph type="sldNum" sz="quarter" idx="12"/>
          </p:nvPr>
        </p:nvSpPr>
        <p:spPr/>
        <p:txBody>
          <a:bodyPr/>
          <a:lstStyle/>
          <a:p>
            <a:fld id="{7B2023C8-B124-43A9-8F92-0EEF5BAA9995}" type="slidenum">
              <a:rPr lang="en-CA" smtClean="0"/>
              <a:pPr/>
              <a:t>30</a:t>
            </a:fld>
            <a:endParaRPr lang="en-CA" dirty="0"/>
          </a:p>
        </p:txBody>
      </p:sp>
      <p:sp>
        <p:nvSpPr>
          <p:cNvPr id="6" name="Content Placeholder 6"/>
          <p:cNvSpPr txBox="1">
            <a:spLocks/>
          </p:cNvSpPr>
          <p:nvPr/>
        </p:nvSpPr>
        <p:spPr>
          <a:xfrm>
            <a:off x="684212" y="1507237"/>
            <a:ext cx="10285797" cy="4278718"/>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Font typeface="Wingdings 3" panose="05040102010807070707" pitchFamily="18" charset="2"/>
              <a:buNone/>
            </a:pPr>
            <a:r>
              <a:rPr lang="en-CA" sz="2000" dirty="0">
                <a:solidFill>
                  <a:schemeClr val="accent6">
                    <a:lumMod val="75000"/>
                  </a:schemeClr>
                </a:solidFill>
                <a:latin typeface="Courier New" panose="02070309020205020404" pitchFamily="49" charset="0"/>
                <a:cs typeface="Courier New" panose="02070309020205020404" pitchFamily="49" charset="0"/>
              </a:rPr>
              <a:t> </a:t>
            </a:r>
            <a:r>
              <a:rPr lang="en-CA" sz="2000" dirty="0" smtClean="0">
                <a:solidFill>
                  <a:schemeClr val="accent6">
                    <a:lumMod val="75000"/>
                  </a:schemeClr>
                </a:solidFill>
                <a:latin typeface="Courier New" panose="02070309020205020404" pitchFamily="49" charset="0"/>
                <a:cs typeface="Courier New" panose="02070309020205020404" pitchFamily="49" charset="0"/>
              </a:rPr>
              <a:t> </a:t>
            </a:r>
            <a:r>
              <a:rPr lang="en-CA" sz="20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2000" dirty="0" smtClean="0">
                <a:latin typeface="Courier New" panose="02070309020205020404" pitchFamily="49" charset="0"/>
                <a:cs typeface="Courier New" panose="02070309020205020404" pitchFamily="49" charset="0"/>
              </a:rPr>
              <a:t> </a:t>
            </a:r>
            <a:r>
              <a:rPr lang="en-CA" sz="2000" b="1" dirty="0" err="1" smtClean="0">
                <a:latin typeface="Courier New" panose="02070309020205020404" pitchFamily="49" charset="0"/>
                <a:cs typeface="Courier New" panose="02070309020205020404" pitchFamily="49" charset="0"/>
              </a:rPr>
              <a:t>process_btrfs</a:t>
            </a:r>
            <a:r>
              <a:rPr lang="en-CA" sz="2000" dirty="0" smtClean="0">
                <a:latin typeface="Courier New" panose="02070309020205020404" pitchFamily="49" charset="0"/>
                <a:cs typeface="Courier New" panose="02070309020205020404" pitchFamily="49" charset="0"/>
              </a:rPr>
              <a:t>(vector&lt;Extent&gt; &amp; </a:t>
            </a:r>
            <a:r>
              <a:rPr lang="en-CA" sz="2000" dirty="0" err="1" smtClean="0">
                <a:latin typeface="Courier New" panose="02070309020205020404" pitchFamily="49" charset="0"/>
                <a:cs typeface="Courier New" panose="02070309020205020404" pitchFamily="49" charset="0"/>
              </a:rPr>
              <a:t>vec</a:t>
            </a:r>
            <a:r>
              <a:rPr lang="en-CA" sz="2000" dirty="0" smtClean="0">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1</a:t>
            </a:r>
            <a:r>
              <a:rPr lang="en-CA" sz="2000" dirty="0" smtClean="0">
                <a:latin typeface="Courier New" panose="02070309020205020404" pitchFamily="49" charset="0"/>
                <a:cs typeface="Courier New" panose="02070309020205020404" pitchFamily="49" charset="0"/>
              </a:rPr>
              <a:t>:  </a:t>
            </a:r>
            <a:r>
              <a:rPr lang="en-CA" sz="2000" dirty="0" err="1" smtClean="0">
                <a:latin typeface="Courier New" panose="02070309020205020404" pitchFamily="49" charset="0"/>
                <a:cs typeface="Courier New" panose="02070309020205020404" pitchFamily="49" charset="0"/>
              </a:rPr>
              <a:t>Btrfs</a:t>
            </a:r>
            <a:r>
              <a:rPr lang="en-CA" sz="2000" dirty="0" smtClean="0">
                <a:latin typeface="Courier New" panose="02070309020205020404" pitchFamily="49" charset="0"/>
                <a:cs typeface="Courier New" panose="02070309020205020404" pitchFamily="49" charset="0"/>
              </a:rPr>
              <a:t> </a:t>
            </a:r>
            <a:r>
              <a:rPr lang="en-CA" sz="2000" dirty="0" err="1" smtClean="0">
                <a:latin typeface="Courier New" panose="02070309020205020404" pitchFamily="49" charset="0"/>
                <a:cs typeface="Courier New" panose="02070309020205020404" pitchFamily="49" charset="0"/>
              </a:rPr>
              <a:t>btrfs</a:t>
            </a:r>
            <a:r>
              <a:rPr lang="en-CA" sz="2000" dirty="0" smtClean="0">
                <a:latin typeface="Courier New" panose="02070309020205020404" pitchFamily="49" charset="0"/>
                <a:cs typeface="Courier New" panose="02070309020205020404" pitchFamily="49" charset="0"/>
              </a:rPr>
              <a:t>(dev);</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2</a:t>
            </a:r>
            <a:r>
              <a:rPr lang="en-CA" sz="2000" dirty="0" smtClean="0">
                <a:latin typeface="Courier New" panose="02070309020205020404" pitchFamily="49" charset="0"/>
                <a:cs typeface="Courier New" panose="02070309020205020404" pitchFamily="49" charset="0"/>
              </a:rPr>
              <a:t>:  </a:t>
            </a:r>
            <a:r>
              <a:rPr lang="en-CA" sz="2000" dirty="0">
                <a:solidFill>
                  <a:schemeClr val="accent4">
                    <a:lumMod val="75000"/>
                  </a:schemeClr>
                </a:solidFill>
                <a:latin typeface="Courier New" panose="02070309020205020404" pitchFamily="49" charset="0"/>
                <a:cs typeface="Courier New" panose="02070309020205020404" pitchFamily="49" charset="0"/>
              </a:rPr>
              <a:t>/* read super block into memory */</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3</a:t>
            </a:r>
            <a:r>
              <a:rPr lang="en-CA" sz="2000" dirty="0" smtClean="0">
                <a:latin typeface="Courier New" panose="02070309020205020404" pitchFamily="49" charset="0"/>
                <a:cs typeface="Courier New" panose="02070309020205020404" pitchFamily="49" charset="0"/>
              </a:rPr>
              <a:t>:  </a:t>
            </a:r>
            <a:r>
              <a:rPr lang="en-CA" sz="2000" dirty="0" err="1" smtClean="0">
                <a:latin typeface="Courier New" panose="02070309020205020404" pitchFamily="49" charset="0"/>
                <a:cs typeface="Courier New" panose="02070309020205020404" pitchFamily="49" charset="0"/>
              </a:rPr>
              <a:t>Btrfs</a:t>
            </a:r>
            <a:r>
              <a:rPr lang="en-CA" sz="2000" dirty="0" smtClean="0">
                <a:latin typeface="Courier New" panose="02070309020205020404" pitchFamily="49" charset="0"/>
                <a:cs typeface="Courier New" panose="02070309020205020404" pitchFamily="49" charset="0"/>
              </a:rPr>
              <a:t>::</a:t>
            </a:r>
            <a:r>
              <a:rPr lang="en-CA" sz="2000" dirty="0" err="1">
                <a:latin typeface="Courier New" panose="02070309020205020404" pitchFamily="49" charset="0"/>
                <a:cs typeface="Courier New" panose="02070309020205020404" pitchFamily="49" charset="0"/>
              </a:rPr>
              <a:t>SuperBlock</a:t>
            </a:r>
            <a:r>
              <a:rPr lang="en-CA" sz="2000" dirty="0">
                <a:latin typeface="Courier New" panose="02070309020205020404" pitchFamily="49" charset="0"/>
                <a:cs typeface="Courier New" panose="02070309020205020404" pitchFamily="49" charset="0"/>
              </a:rPr>
              <a:t> * </a:t>
            </a:r>
            <a:r>
              <a:rPr lang="en-CA" sz="2000" dirty="0" err="1">
                <a:latin typeface="Courier New" panose="02070309020205020404" pitchFamily="49" charset="0"/>
                <a:cs typeface="Courier New" panose="02070309020205020404" pitchFamily="49" charset="0"/>
              </a:rPr>
              <a:t>sb</a:t>
            </a:r>
            <a:r>
              <a:rPr lang="en-CA" sz="2000" dirty="0">
                <a:latin typeface="Courier New" panose="02070309020205020404" pitchFamily="49" charset="0"/>
                <a:cs typeface="Courier New" panose="02070309020205020404" pitchFamily="49" charset="0"/>
              </a:rPr>
              <a:t> = </a:t>
            </a:r>
            <a:r>
              <a:rPr lang="en-CA" sz="2000" dirty="0" err="1" smtClean="0">
                <a:latin typeface="Courier New" panose="02070309020205020404" pitchFamily="49" charset="0"/>
                <a:cs typeface="Courier New" panose="02070309020205020404" pitchFamily="49" charset="0"/>
              </a:rPr>
              <a:t>btrfs.fetch_super</a:t>
            </a:r>
            <a:r>
              <a:rPr lang="en-CA" sz="20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4</a:t>
            </a:r>
            <a:r>
              <a:rPr lang="en-CA" sz="2000" dirty="0" smtClean="0">
                <a:latin typeface="Courier New" panose="02070309020205020404" pitchFamily="49" charset="0"/>
                <a:cs typeface="Courier New" panose="02070309020205020404" pitchFamily="49" charset="0"/>
              </a:rPr>
              <a:t>:  if </a:t>
            </a:r>
            <a:r>
              <a:rPr lang="en-CA" sz="2000" dirty="0">
                <a:latin typeface="Courier New" panose="02070309020205020404" pitchFamily="49" charset="0"/>
                <a:cs typeface="Courier New" panose="02070309020205020404" pitchFamily="49" charset="0"/>
              </a:rPr>
              <a:t>(</a:t>
            </a:r>
            <a:r>
              <a:rPr lang="en-CA" sz="2000" dirty="0" err="1">
                <a:latin typeface="Courier New" panose="02070309020205020404" pitchFamily="49" charset="0"/>
                <a:cs typeface="Courier New" panose="02070309020205020404" pitchFamily="49" charset="0"/>
              </a:rPr>
              <a:t>sb</a:t>
            </a:r>
            <a:r>
              <a:rPr lang="en-CA" sz="2000" dirty="0">
                <a:latin typeface="Courier New" panose="02070309020205020404" pitchFamily="49" charset="0"/>
                <a:cs typeface="Courier New" panose="02070309020205020404" pitchFamily="49" charset="0"/>
              </a:rPr>
              <a:t> == </a:t>
            </a:r>
            <a:r>
              <a:rPr lang="en-CA" sz="2000" dirty="0" err="1">
                <a:latin typeface="Courier New" panose="02070309020205020404" pitchFamily="49" charset="0"/>
                <a:cs typeface="Courier New" panose="02070309020205020404" pitchFamily="49" charset="0"/>
              </a:rPr>
              <a:t>nullptr</a:t>
            </a:r>
            <a:r>
              <a:rPr lang="en-CA" sz="2000" dirty="0">
                <a:latin typeface="Courier New" panose="02070309020205020404" pitchFamily="49" charset="0"/>
                <a:cs typeface="Courier New" panose="02070309020205020404" pitchFamily="49" charset="0"/>
              </a:rPr>
              <a:t>) </a:t>
            </a:r>
            <a:r>
              <a:rPr lang="en-CA" sz="2000" dirty="0" smtClean="0">
                <a:latin typeface="Courier New" panose="02070309020205020404" pitchFamily="49" charset="0"/>
                <a:cs typeface="Courier New" panose="02070309020205020404" pitchFamily="49" charset="0"/>
              </a:rPr>
              <a:t>return </a:t>
            </a:r>
            <a:r>
              <a:rPr lang="en-CA" sz="2000" dirty="0" smtClean="0">
                <a:solidFill>
                  <a:srgbClr val="0070C0"/>
                </a:solidFill>
                <a:latin typeface="Courier New" panose="02070309020205020404" pitchFamily="49" charset="0"/>
                <a:cs typeface="Courier New" panose="02070309020205020404" pitchFamily="49" charset="0"/>
              </a:rPr>
              <a:t>-1</a:t>
            </a:r>
            <a:r>
              <a:rPr lang="en-CA" sz="2000" dirty="0" smtClean="0">
                <a:latin typeface="Courier New" panose="02070309020205020404" pitchFamily="49" charset="0"/>
                <a:cs typeface="Courier New" panose="02070309020205020404" pitchFamily="49" charset="0"/>
              </a:rPr>
              <a:t>;</a:t>
            </a:r>
            <a:endParaRPr lang="en-CA" sz="20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5:  </a:t>
            </a:r>
            <a:r>
              <a:rPr lang="en-CA" sz="2000" dirty="0" err="1" smtClean="0">
                <a:latin typeface="Courier New" panose="02070309020205020404" pitchFamily="49" charset="0"/>
                <a:cs typeface="Courier New" panose="02070309020205020404" pitchFamily="49" charset="0"/>
              </a:rPr>
              <a:t>dev.set_block_size</a:t>
            </a:r>
            <a:r>
              <a:rPr lang="en-CA" sz="2000" dirty="0" smtClean="0">
                <a:latin typeface="Courier New" panose="02070309020205020404" pitchFamily="49" charset="0"/>
                <a:cs typeface="Courier New" panose="02070309020205020404" pitchFamily="49" charset="0"/>
              </a:rPr>
              <a:t>(</a:t>
            </a:r>
            <a:r>
              <a:rPr lang="en-CA" sz="2000" dirty="0" err="1" smtClean="0">
                <a:latin typeface="Courier New" panose="02070309020205020404" pitchFamily="49" charset="0"/>
                <a:cs typeface="Courier New" panose="02070309020205020404" pitchFamily="49" charset="0"/>
              </a:rPr>
              <a:t>sb</a:t>
            </a:r>
            <a:r>
              <a:rPr lang="en-CA" sz="2000" dirty="0" smtClean="0">
                <a:latin typeface="Courier New" panose="02070309020205020404" pitchFamily="49" charset="0"/>
                <a:cs typeface="Courier New" panose="02070309020205020404" pitchFamily="49" charset="0"/>
              </a:rPr>
              <a:t>-&gt;</a:t>
            </a:r>
            <a:r>
              <a:rPr lang="en-CA" sz="2000" dirty="0" err="1" smtClean="0">
                <a:latin typeface="Courier New" panose="02070309020205020404" pitchFamily="49" charset="0"/>
                <a:cs typeface="Courier New" panose="02070309020205020404" pitchFamily="49" charset="0"/>
              </a:rPr>
              <a:t>sectorsize</a:t>
            </a:r>
            <a:r>
              <a:rPr lang="en-CA" sz="20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6:  </a:t>
            </a:r>
            <a:r>
              <a:rPr lang="en-CA" sz="2000" dirty="0">
                <a:solidFill>
                  <a:schemeClr val="accent4">
                    <a:lumMod val="75000"/>
                  </a:schemeClr>
                </a:solidFill>
                <a:latin typeface="Courier New" panose="02070309020205020404" pitchFamily="49" charset="0"/>
                <a:cs typeface="Courier New" panose="02070309020205020404" pitchFamily="49" charset="0"/>
              </a:rPr>
              <a:t>/* traverse file system and find/process all </a:t>
            </a:r>
            <a:r>
              <a:rPr lang="en-CA" sz="2000" dirty="0" smtClean="0">
                <a:solidFill>
                  <a:schemeClr val="accent4">
                    <a:lumMod val="75000"/>
                  </a:schemeClr>
                </a:solidFill>
                <a:latin typeface="Courier New" panose="02070309020205020404" pitchFamily="49" charset="0"/>
                <a:cs typeface="Courier New" panose="02070309020205020404" pitchFamily="49" charset="0"/>
              </a:rPr>
              <a:t>extent items */</a:t>
            </a:r>
            <a:endParaRPr lang="en-CA" sz="2000" dirty="0">
              <a:solidFill>
                <a:schemeClr val="accent4">
                  <a:lumMod val="75000"/>
                </a:schemeClr>
              </a:solidFill>
              <a:latin typeface="Courier New" panose="02070309020205020404" pitchFamily="49" charset="0"/>
              <a:cs typeface="Courier New" panose="02070309020205020404" pitchFamily="49" charset="0"/>
            </a:endParaRPr>
          </a:p>
          <a:p>
            <a:pPr marL="0" indent="0">
              <a:spcBef>
                <a:spcPts val="0"/>
              </a:spcBef>
              <a:spcAft>
                <a:spcPts val="0"/>
              </a:spcAft>
              <a:buNone/>
            </a:pPr>
            <a:r>
              <a:rPr lang="en-CA" sz="2000" b="1" dirty="0" smtClean="0">
                <a:latin typeface="Courier New" panose="02070309020205020404" pitchFamily="49" charset="0"/>
                <a:cs typeface="Courier New" panose="02070309020205020404" pitchFamily="49" charset="0"/>
              </a:rPr>
              <a:t>7:  return </a:t>
            </a:r>
            <a:r>
              <a:rPr lang="en-CA" sz="2000" b="1" dirty="0" err="1">
                <a:latin typeface="Courier New" panose="02070309020205020404" pitchFamily="49" charset="0"/>
                <a:cs typeface="Courier New" panose="02070309020205020404" pitchFamily="49" charset="0"/>
              </a:rPr>
              <a:t>sb</a:t>
            </a:r>
            <a:r>
              <a:rPr lang="en-CA" sz="2000" b="1" dirty="0">
                <a:latin typeface="Courier New" panose="02070309020205020404" pitchFamily="49" charset="0"/>
                <a:cs typeface="Courier New" panose="02070309020205020404" pitchFamily="49" charset="0"/>
              </a:rPr>
              <a:t>-&gt;</a:t>
            </a:r>
            <a:r>
              <a:rPr lang="en-CA" sz="2000" b="1" dirty="0" err="1" smtClean="0">
                <a:latin typeface="Courier New" panose="02070309020205020404" pitchFamily="49" charset="0"/>
                <a:cs typeface="Courier New" panose="02070309020205020404" pitchFamily="49" charset="0"/>
              </a:rPr>
              <a:t>process_by_type</a:t>
            </a:r>
            <a:r>
              <a:rPr lang="en-CA" sz="2000" b="1" dirty="0" smtClean="0">
                <a:latin typeface="Courier New" panose="02070309020205020404" pitchFamily="49" charset="0"/>
                <a:cs typeface="Courier New" panose="02070309020205020404" pitchFamily="49" charset="0"/>
              </a:rPr>
              <a:t>(EXTENT_ITEM, </a:t>
            </a:r>
            <a:br>
              <a:rPr lang="en-CA" sz="2000" b="1" dirty="0" smtClean="0">
                <a:latin typeface="Courier New" panose="02070309020205020404" pitchFamily="49" charset="0"/>
                <a:cs typeface="Courier New" panose="02070309020205020404" pitchFamily="49" charset="0"/>
              </a:rPr>
            </a:br>
            <a:r>
              <a:rPr lang="en-CA" sz="2000" b="1" dirty="0" smtClean="0">
                <a:latin typeface="Courier New" panose="02070309020205020404" pitchFamily="49" charset="0"/>
                <a:cs typeface="Courier New" panose="02070309020205020404" pitchFamily="49" charset="0"/>
              </a:rPr>
              <a:t>                               </a:t>
            </a:r>
            <a:r>
              <a:rPr lang="en-CA" sz="2000" b="1" dirty="0" err="1" smtClean="0">
                <a:latin typeface="Courier New" panose="02070309020205020404" pitchFamily="49" charset="0"/>
                <a:cs typeface="Courier New" panose="02070309020205020404" pitchFamily="49" charset="0"/>
              </a:rPr>
              <a:t>process_extent_item</a:t>
            </a:r>
            <a:r>
              <a:rPr lang="en-CA" sz="2000" b="1" dirty="0" smtClean="0">
                <a:latin typeface="Courier New" panose="02070309020205020404" pitchFamily="49" charset="0"/>
                <a:cs typeface="Courier New" panose="02070309020205020404" pitchFamily="49" charset="0"/>
              </a:rPr>
              <a:t>, &amp;</a:t>
            </a:r>
            <a:r>
              <a:rPr lang="en-CA" sz="2000" b="1" dirty="0" err="1" smtClean="0">
                <a:latin typeface="Courier New" panose="02070309020205020404" pitchFamily="49" charset="0"/>
                <a:cs typeface="Courier New" panose="02070309020205020404" pitchFamily="49" charset="0"/>
              </a:rPr>
              <a:t>vec</a:t>
            </a:r>
            <a:r>
              <a:rPr lang="en-CA" sz="2000" b="1"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  }</a:t>
            </a:r>
          </a:p>
        </p:txBody>
      </p:sp>
    </p:spTree>
    <p:extLst>
      <p:ext uri="{BB962C8B-B14F-4D97-AF65-F5344CB8AC3E}">
        <p14:creationId xmlns:p14="http://schemas.microsoft.com/office/powerpoint/2010/main" val="2275067380"/>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Spiffy Applications</a:t>
            </a:r>
            <a:endParaRPr lang="en-CA" dirty="0"/>
          </a:p>
        </p:txBody>
      </p:sp>
      <p:sp>
        <p:nvSpPr>
          <p:cNvPr id="3" name="Content Placeholder 2"/>
          <p:cNvSpPr>
            <a:spLocks noGrp="1"/>
          </p:cNvSpPr>
          <p:nvPr>
            <p:ph idx="1"/>
          </p:nvPr>
        </p:nvSpPr>
        <p:spPr/>
        <p:txBody>
          <a:bodyPr/>
          <a:lstStyle/>
          <a:p>
            <a:r>
              <a:rPr lang="en-CA" dirty="0" smtClean="0"/>
              <a:t>File System Free Space Tool</a:t>
            </a:r>
          </a:p>
          <a:p>
            <a:r>
              <a:rPr lang="en-CA" dirty="0" smtClean="0"/>
              <a:t>Type-Specific File System Corruptor</a:t>
            </a:r>
          </a:p>
          <a:p>
            <a:r>
              <a:rPr lang="en-CA" dirty="0" smtClean="0"/>
              <a:t>File System Conversion Tool</a:t>
            </a:r>
          </a:p>
          <a:p>
            <a:r>
              <a:rPr lang="en-CA" dirty="0" smtClean="0"/>
              <a:t>File-system aware block layer cache</a:t>
            </a:r>
            <a:endParaRPr lang="en-CA" dirty="0"/>
          </a:p>
          <a:p>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31</a:t>
            </a:fld>
            <a:endParaRPr lang="en-CA" dirty="0"/>
          </a:p>
        </p:txBody>
      </p:sp>
    </p:spTree>
    <p:extLst>
      <p:ext uri="{BB962C8B-B14F-4D97-AF65-F5344CB8AC3E}">
        <p14:creationId xmlns:p14="http://schemas.microsoft.com/office/powerpoint/2010/main" val="1395185443"/>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8882743" y="0"/>
            <a:ext cx="3309257" cy="32063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8" name="Group 7"/>
          <p:cNvGrpSpPr>
            <a:grpSpLocks noChangeAspect="1"/>
          </p:cNvGrpSpPr>
          <p:nvPr/>
        </p:nvGrpSpPr>
        <p:grpSpPr>
          <a:xfrm rot="16200000">
            <a:off x="9777384" y="-105877"/>
            <a:ext cx="2317014" cy="2512219"/>
            <a:chOff x="9206969" y="2963333"/>
            <a:chExt cx="2981858" cy="3208867"/>
          </a:xfrm>
        </p:grpSpPr>
        <p:cxnSp>
          <p:nvCxnSpPr>
            <p:cNvPr id="9" name="Straight Connector 8"/>
            <p:cNvCxnSpPr/>
            <p:nvPr/>
          </p:nvCxnSpPr>
          <p:spPr>
            <a:xfrm flipH="1">
              <a:off x="11276012" y="2963333"/>
              <a:ext cx="912814" cy="912812"/>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9206969" y="3190344"/>
              <a:ext cx="2981857" cy="2981856"/>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292292" y="3285067"/>
              <a:ext cx="1896534" cy="1896533"/>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443103" y="3131080"/>
              <a:ext cx="1745722" cy="1745720"/>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3" name="Straight Connector 12"/>
            <p:cNvCxnSpPr/>
            <p:nvPr/>
          </p:nvCxnSpPr>
          <p:spPr>
            <a:xfrm flipH="1">
              <a:off x="10918826" y="3683001"/>
              <a:ext cx="1270001" cy="1269999"/>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2" name="Title 1"/>
          <p:cNvSpPr>
            <a:spLocks noGrp="1"/>
          </p:cNvSpPr>
          <p:nvPr>
            <p:ph type="title"/>
          </p:nvPr>
        </p:nvSpPr>
        <p:spPr/>
        <p:txBody>
          <a:bodyPr/>
          <a:lstStyle/>
          <a:p>
            <a:r>
              <a:rPr lang="en-CA" smtClean="0"/>
              <a:t>Type-Specific File System Corruptor</a:t>
            </a:r>
            <a:endParaRPr lang="en-CA" dirty="0"/>
          </a:p>
        </p:txBody>
      </p:sp>
      <p:sp>
        <p:nvSpPr>
          <p:cNvPr id="3" name="Content Placeholder 2"/>
          <p:cNvSpPr>
            <a:spLocks noGrp="1"/>
          </p:cNvSpPr>
          <p:nvPr>
            <p:ph idx="1"/>
          </p:nvPr>
        </p:nvSpPr>
        <p:spPr/>
        <p:txBody>
          <a:bodyPr/>
          <a:lstStyle/>
          <a:p>
            <a:r>
              <a:rPr lang="en-CA" smtClean="0"/>
              <a:t>Finds and corrupts a field in a specified structure</a:t>
            </a:r>
          </a:p>
          <a:p>
            <a:r>
              <a:rPr lang="en-CA" smtClean="0"/>
              <a:t>Works for all annotated file systems</a:t>
            </a:r>
          </a:p>
          <a:p>
            <a:pPr lvl="1"/>
            <a:r>
              <a:rPr lang="en-CA" smtClean="0"/>
              <a:t>Generic Application Code: 455 LOC</a:t>
            </a:r>
          </a:p>
          <a:p>
            <a:pPr lvl="1"/>
            <a:r>
              <a:rPr lang="en-CA" smtClean="0"/>
              <a:t>File-System Specific Code: &lt; 30 LOC each</a:t>
            </a:r>
          </a:p>
          <a:p>
            <a:r>
              <a:rPr lang="en-CA" smtClean="0"/>
              <a:t>Corruption Experiment</a:t>
            </a:r>
          </a:p>
          <a:p>
            <a:pPr lvl="1"/>
            <a:r>
              <a:rPr lang="en-CA" smtClean="0"/>
              <a:t>Ran existing tools on corrupt file system image</a:t>
            </a:r>
          </a:p>
          <a:p>
            <a:pPr lvl="1"/>
            <a:r>
              <a:rPr lang="en-CA" smtClean="0"/>
              <a:t>Discovered 1 crash bug in dumpe2fs (Ext4)</a:t>
            </a:r>
          </a:p>
          <a:p>
            <a:pPr lvl="1"/>
            <a:r>
              <a:rPr lang="en-CA" smtClean="0"/>
              <a:t>Discovered 5 crash bugs in dump.f2fs (F2FS)</a:t>
            </a:r>
          </a:p>
          <a:p>
            <a:pPr lvl="1"/>
            <a:r>
              <a:rPr lang="en-CA" smtClean="0"/>
              <a:t>None in our Spiffy dump tool on Ext4, Btrfs and F2FS</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32</a:t>
            </a:fld>
            <a:endParaRPr lang="en-CA" dirty="0"/>
          </a:p>
        </p:txBody>
      </p:sp>
    </p:spTree>
    <p:extLst>
      <p:ext uri="{BB962C8B-B14F-4D97-AF65-F5344CB8AC3E}">
        <p14:creationId xmlns:p14="http://schemas.microsoft.com/office/powerpoint/2010/main" val="1921927365"/>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File System Conversion Tool</a:t>
            </a:r>
            <a:endParaRPr lang="en-CA" dirty="0"/>
          </a:p>
        </p:txBody>
      </p:sp>
      <p:sp>
        <p:nvSpPr>
          <p:cNvPr id="3" name="Content Placeholder 2"/>
          <p:cNvSpPr>
            <a:spLocks noGrp="1"/>
          </p:cNvSpPr>
          <p:nvPr>
            <p:ph idx="1"/>
          </p:nvPr>
        </p:nvSpPr>
        <p:spPr/>
        <p:txBody>
          <a:bodyPr/>
          <a:lstStyle/>
          <a:p>
            <a:r>
              <a:rPr lang="en-CA" smtClean="0"/>
              <a:t>Converts one file system to another while minimizing copying</a:t>
            </a:r>
            <a:br>
              <a:rPr lang="en-CA" smtClean="0"/>
            </a:br>
            <a:r>
              <a:rPr lang="en-CA" smtClean="0"/>
              <a:t>data blocks</a:t>
            </a:r>
          </a:p>
          <a:p>
            <a:pPr lvl="1"/>
            <a:endParaRPr lang="en-CA" smtClean="0"/>
          </a:p>
          <a:p>
            <a:r>
              <a:rPr lang="en-CA" smtClean="0"/>
              <a:t>Currently, converts from Ext4 to F2FS</a:t>
            </a:r>
          </a:p>
          <a:p>
            <a:pPr lvl="1"/>
            <a:r>
              <a:rPr lang="en-CA" smtClean="0"/>
              <a:t>Generic application code: 504 LOC</a:t>
            </a:r>
          </a:p>
          <a:p>
            <a:pPr lvl="1"/>
            <a:r>
              <a:rPr lang="en-CA" smtClean="0"/>
              <a:t>Ext4 specific code (source file system): 218 LOC</a:t>
            </a:r>
          </a:p>
          <a:p>
            <a:pPr lvl="1"/>
            <a:r>
              <a:rPr lang="en-CA" smtClean="0"/>
              <a:t>F2FS specific code (destination file system): 1760 LOC</a:t>
            </a:r>
          </a:p>
          <a:p>
            <a:pPr lvl="1"/>
            <a:endParaRPr lang="en-CA" smtClean="0"/>
          </a:p>
          <a:p>
            <a:endParaRPr lang="en-CA" dirty="0" smtClean="0"/>
          </a:p>
        </p:txBody>
      </p:sp>
      <p:sp>
        <p:nvSpPr>
          <p:cNvPr id="4" name="Slide Number Placeholder 3"/>
          <p:cNvSpPr>
            <a:spLocks noGrp="1"/>
          </p:cNvSpPr>
          <p:nvPr>
            <p:ph type="sldNum" sz="quarter" idx="12"/>
          </p:nvPr>
        </p:nvSpPr>
        <p:spPr/>
        <p:txBody>
          <a:bodyPr/>
          <a:lstStyle/>
          <a:p>
            <a:fld id="{7B2023C8-B124-43A9-8F92-0EEF5BAA9995}" type="slidenum">
              <a:rPr lang="en-CA" smtClean="0"/>
              <a:pPr/>
              <a:t>33</a:t>
            </a:fld>
            <a:endParaRPr lang="en-CA" dirty="0"/>
          </a:p>
        </p:txBody>
      </p:sp>
    </p:spTree>
    <p:extLst>
      <p:ext uri="{BB962C8B-B14F-4D97-AF65-F5344CB8AC3E}">
        <p14:creationId xmlns:p14="http://schemas.microsoft.com/office/powerpoint/2010/main" val="1177832070"/>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Ext4 to F2FS Converter</a:t>
            </a:r>
            <a:endParaRPr lang="en-CA" dirty="0"/>
          </a:p>
        </p:txBody>
      </p:sp>
      <p:sp>
        <p:nvSpPr>
          <p:cNvPr id="3" name="Content Placeholder 2"/>
          <p:cNvSpPr>
            <a:spLocks noGrp="1"/>
          </p:cNvSpPr>
          <p:nvPr>
            <p:ph idx="1"/>
          </p:nvPr>
        </p:nvSpPr>
        <p:spPr/>
        <p:txBody>
          <a:bodyPr/>
          <a:lstStyle/>
          <a:p>
            <a:r>
              <a:rPr lang="en-CA" dirty="0" smtClean="0"/>
              <a:t>Compare copy-based converter vs. Spiffy converter</a:t>
            </a:r>
          </a:p>
          <a:p>
            <a:pPr lvl="1"/>
            <a:r>
              <a:rPr lang="en-CA" dirty="0" smtClean="0"/>
              <a:t>Copy converter copies data to local disk, reformat, then copies back</a:t>
            </a:r>
          </a:p>
          <a:p>
            <a:r>
              <a:rPr lang="en-CA" dirty="0" smtClean="0"/>
              <a:t>Converts 64GB file system with 16GB of data on SSD</a:t>
            </a:r>
          </a:p>
          <a:p>
            <a:endParaRPr lang="en-CA" dirty="0" smtClean="0"/>
          </a:p>
          <a:p>
            <a:endParaRPr lang="en-CA" dirty="0" smtClean="0"/>
          </a:p>
          <a:p>
            <a:endParaRPr lang="en-CA" dirty="0" smtClean="0"/>
          </a:p>
          <a:p>
            <a:endParaRPr lang="en-CA" dirty="0" smtClean="0"/>
          </a:p>
          <a:p>
            <a:endParaRPr lang="en-CA" dirty="0" smtClean="0"/>
          </a:p>
          <a:p>
            <a:endParaRPr lang="en-CA" dirty="0" smtClean="0"/>
          </a:p>
          <a:p>
            <a:r>
              <a:rPr lang="en-CA" dirty="0" smtClean="0"/>
              <a:t>Copy converter 30~50 times slower</a:t>
            </a:r>
          </a:p>
        </p:txBody>
      </p:sp>
      <p:sp>
        <p:nvSpPr>
          <p:cNvPr id="6" name="Slide Number Placeholder 5"/>
          <p:cNvSpPr>
            <a:spLocks noGrp="1"/>
          </p:cNvSpPr>
          <p:nvPr>
            <p:ph type="sldNum" sz="quarter" idx="12"/>
          </p:nvPr>
        </p:nvSpPr>
        <p:spPr/>
        <p:txBody>
          <a:bodyPr/>
          <a:lstStyle/>
          <a:p>
            <a:fld id="{7B2023C8-B124-43A9-8F92-0EEF5BAA9995}" type="slidenum">
              <a:rPr lang="en-CA" smtClean="0"/>
              <a:pPr/>
              <a:t>34</a:t>
            </a:fld>
            <a:endParaRPr lang="en-CA" dirty="0"/>
          </a:p>
        </p:txBody>
      </p:sp>
      <p:graphicFrame>
        <p:nvGraphicFramePr>
          <p:cNvPr id="7" name="Chart 6"/>
          <p:cNvGraphicFramePr>
            <a:graphicFrameLocks/>
          </p:cNvGraphicFramePr>
          <p:nvPr>
            <p:extLst>
              <p:ext uri="{D42A27DB-BD31-4B8C-83A1-F6EECF244321}">
                <p14:modId xmlns:p14="http://schemas.microsoft.com/office/powerpoint/2010/main" val="2879694734"/>
              </p:ext>
            </p:extLst>
          </p:nvPr>
        </p:nvGraphicFramePr>
        <p:xfrm>
          <a:off x="1676516" y="3019426"/>
          <a:ext cx="7634725" cy="2492374"/>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496817654"/>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8882743" y="0"/>
            <a:ext cx="3309257" cy="32063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itle 1"/>
          <p:cNvSpPr>
            <a:spLocks noGrp="1"/>
          </p:cNvSpPr>
          <p:nvPr>
            <p:ph type="title"/>
          </p:nvPr>
        </p:nvSpPr>
        <p:spPr/>
        <p:txBody>
          <a:bodyPr/>
          <a:lstStyle/>
          <a:p>
            <a:r>
              <a:rPr lang="en-CA" smtClean="0"/>
              <a:t>File-system Aware Block Layer Cache</a:t>
            </a:r>
            <a:endParaRPr lang="en-CA" dirty="0"/>
          </a:p>
        </p:txBody>
      </p:sp>
      <p:sp>
        <p:nvSpPr>
          <p:cNvPr id="3" name="Content Placeholder 2"/>
          <p:cNvSpPr>
            <a:spLocks noGrp="1"/>
          </p:cNvSpPr>
          <p:nvPr>
            <p:ph idx="1"/>
          </p:nvPr>
        </p:nvSpPr>
        <p:spPr/>
        <p:txBody>
          <a:bodyPr/>
          <a:lstStyle/>
          <a:p>
            <a:r>
              <a:rPr lang="en-CA" dirty="0" smtClean="0"/>
              <a:t>Supports a rich set of caching policies that require file-system specific information at the block layer</a:t>
            </a:r>
          </a:p>
          <a:p>
            <a:pPr lvl="1"/>
            <a:r>
              <a:rPr lang="en-CA" dirty="0" smtClean="0"/>
              <a:t>Cache file system metadata</a:t>
            </a:r>
          </a:p>
          <a:p>
            <a:pPr lvl="2"/>
            <a:r>
              <a:rPr lang="en-CA" dirty="0" smtClean="0"/>
              <a:t>Requires knowing whether a block is data or metadata</a:t>
            </a:r>
          </a:p>
          <a:p>
            <a:pPr lvl="1"/>
            <a:r>
              <a:rPr lang="en-CA" dirty="0" smtClean="0"/>
              <a:t>Cache small files, cache a specific user’s files</a:t>
            </a:r>
          </a:p>
          <a:p>
            <a:pPr lvl="2"/>
            <a:r>
              <a:rPr lang="en-CA" dirty="0" smtClean="0"/>
              <a:t>Requires knowing the file to which a block belongs, and the file’s size or owner</a:t>
            </a:r>
          </a:p>
          <a:p>
            <a:r>
              <a:rPr lang="en-CA" dirty="0" smtClean="0"/>
              <a:t>Requires no changes to the file system!</a:t>
            </a:r>
          </a:p>
          <a:p>
            <a:r>
              <a:rPr lang="en-CA" dirty="0" smtClean="0"/>
              <a:t>Identifies and interprets blocks as they are read or written</a:t>
            </a:r>
          </a:p>
          <a:p>
            <a:pPr lvl="1"/>
            <a:r>
              <a:rPr lang="en-CA" dirty="0" smtClean="0"/>
              <a:t>Identifies the types of blocks</a:t>
            </a:r>
          </a:p>
          <a:p>
            <a:pPr lvl="1"/>
            <a:r>
              <a:rPr lang="en-CA" dirty="0" smtClean="0"/>
              <a:t>Interprets their contents to extract file-system specific information</a:t>
            </a:r>
          </a:p>
          <a:p>
            <a:pPr lvl="1"/>
            <a:r>
              <a:rPr lang="en-CA" dirty="0" smtClean="0"/>
              <a:t>Requires little file-system specific code</a:t>
            </a:r>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35</a:t>
            </a:fld>
            <a:endParaRPr lang="en-CA" dirty="0"/>
          </a:p>
        </p:txBody>
      </p:sp>
      <p:grpSp>
        <p:nvGrpSpPr>
          <p:cNvPr id="6" name="Group 5"/>
          <p:cNvGrpSpPr>
            <a:grpSpLocks noChangeAspect="1"/>
          </p:cNvGrpSpPr>
          <p:nvPr/>
        </p:nvGrpSpPr>
        <p:grpSpPr>
          <a:xfrm rot="16200000">
            <a:off x="10260307" y="-78082"/>
            <a:ext cx="1853611" cy="2009775"/>
            <a:chOff x="9206969" y="2963333"/>
            <a:chExt cx="2981858" cy="3208867"/>
          </a:xfrm>
        </p:grpSpPr>
        <p:cxnSp>
          <p:nvCxnSpPr>
            <p:cNvPr id="7" name="Straight Connector 6"/>
            <p:cNvCxnSpPr/>
            <p:nvPr/>
          </p:nvCxnSpPr>
          <p:spPr>
            <a:xfrm flipH="1">
              <a:off x="11276012" y="2963333"/>
              <a:ext cx="912814" cy="912812"/>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8" name="Straight Connector 7"/>
            <p:cNvCxnSpPr/>
            <p:nvPr/>
          </p:nvCxnSpPr>
          <p:spPr>
            <a:xfrm flipH="1">
              <a:off x="9206969" y="3190344"/>
              <a:ext cx="2981857" cy="2981856"/>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10292292" y="3285067"/>
              <a:ext cx="1896534" cy="1896533"/>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443103" y="3131080"/>
              <a:ext cx="1745722" cy="1745720"/>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918826" y="3683001"/>
              <a:ext cx="1270001" cy="1269999"/>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540520279"/>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Conclusion</a:t>
            </a:r>
            <a:endParaRPr lang="en-CA" dirty="0"/>
          </a:p>
        </p:txBody>
      </p:sp>
      <p:sp>
        <p:nvSpPr>
          <p:cNvPr id="3" name="Content Placeholder 2"/>
          <p:cNvSpPr>
            <a:spLocks noGrp="1"/>
          </p:cNvSpPr>
          <p:nvPr>
            <p:ph idx="1"/>
          </p:nvPr>
        </p:nvSpPr>
        <p:spPr/>
        <p:txBody>
          <a:bodyPr/>
          <a:lstStyle/>
          <a:p>
            <a:r>
              <a:rPr lang="en-CA" smtClean="0"/>
              <a:t>Spiffy framework</a:t>
            </a:r>
          </a:p>
          <a:p>
            <a:pPr lvl="1"/>
            <a:r>
              <a:rPr lang="en-CA" smtClean="0"/>
              <a:t>Annotation language for specifying file system format</a:t>
            </a:r>
          </a:p>
          <a:p>
            <a:pPr lvl="1"/>
            <a:r>
              <a:rPr lang="en-CA" smtClean="0"/>
              <a:t>Enables generating a library for traversing file system metadata</a:t>
            </a:r>
          </a:p>
          <a:p>
            <a:r>
              <a:rPr lang="en-CA" smtClean="0"/>
              <a:t>Simplifies development of file-system aware applications</a:t>
            </a:r>
          </a:p>
          <a:p>
            <a:pPr lvl="1"/>
            <a:r>
              <a:rPr lang="en-CA" smtClean="0"/>
              <a:t>Reduces file-system specific code</a:t>
            </a:r>
          </a:p>
          <a:p>
            <a:pPr lvl="1"/>
            <a:r>
              <a:rPr lang="en-CA" smtClean="0"/>
              <a:t>Enables code reuse across file systems</a:t>
            </a:r>
          </a:p>
          <a:p>
            <a:r>
              <a:rPr lang="en-CA" smtClean="0"/>
              <a:t>Enables writing robust applications</a:t>
            </a:r>
          </a:p>
          <a:p>
            <a:pPr lvl="1"/>
            <a:r>
              <a:rPr lang="en-CA" smtClean="0"/>
              <a:t>Provides type-safe parsing and serialization of metadata</a:t>
            </a:r>
          </a:p>
          <a:p>
            <a:pPr lvl="1"/>
            <a:r>
              <a:rPr lang="en-CA" smtClean="0"/>
              <a:t>Helps detect file system corruption</a:t>
            </a:r>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36</a:t>
            </a:fld>
            <a:endParaRPr lang="en-CA" dirty="0"/>
          </a:p>
        </p:txBody>
      </p:sp>
    </p:spTree>
    <p:extLst>
      <p:ext uri="{BB962C8B-B14F-4D97-AF65-F5344CB8AC3E}">
        <p14:creationId xmlns:p14="http://schemas.microsoft.com/office/powerpoint/2010/main" val="169057136"/>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684211" y="1488556"/>
            <a:ext cx="9225333" cy="2470034"/>
          </a:xfrm>
        </p:spPr>
        <p:txBody>
          <a:bodyPr>
            <a:normAutofit fontScale="90000"/>
          </a:bodyPr>
          <a:lstStyle/>
          <a:p>
            <a:r>
              <a:rPr lang="en-CA" smtClean="0"/>
              <a:t>Spiffy: Enabling File-System Aware Storage Applications</a:t>
            </a:r>
            <a:br>
              <a:rPr lang="en-CA" smtClean="0"/>
            </a:br>
            <a:endParaRPr lang="en-CA" dirty="0"/>
          </a:p>
        </p:txBody>
      </p:sp>
      <p:sp>
        <p:nvSpPr>
          <p:cNvPr id="6" name="Text Placeholder 5"/>
          <p:cNvSpPr>
            <a:spLocks noGrp="1"/>
          </p:cNvSpPr>
          <p:nvPr>
            <p:ph type="body" idx="1"/>
          </p:nvPr>
        </p:nvSpPr>
        <p:spPr>
          <a:xfrm>
            <a:off x="684213" y="3912781"/>
            <a:ext cx="8534400" cy="2081619"/>
          </a:xfrm>
        </p:spPr>
        <p:txBody>
          <a:bodyPr/>
          <a:lstStyle/>
          <a:p>
            <a:endParaRPr lang="en-CA" smtClean="0"/>
          </a:p>
          <a:p>
            <a:endParaRPr lang="en-CA" smtClean="0"/>
          </a:p>
          <a:p>
            <a:r>
              <a:rPr lang="en-CA" smtClean="0"/>
              <a:t>Presented by Kuei (Jack) Sun</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37</a:t>
            </a:fld>
            <a:endParaRPr lang="en-CA" dirty="0"/>
          </a:p>
        </p:txBody>
      </p:sp>
    </p:spTree>
    <p:extLst>
      <p:ext uri="{BB962C8B-B14F-4D97-AF65-F5344CB8AC3E}">
        <p14:creationId xmlns:p14="http://schemas.microsoft.com/office/powerpoint/2010/main" val="360951287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Spiffy API (C++)</a:t>
            </a:r>
            <a:endParaRPr lang="en-CA" dirty="0"/>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17643834"/>
              </p:ext>
            </p:extLst>
          </p:nvPr>
        </p:nvGraphicFramePr>
        <p:xfrm>
          <a:off x="684213" y="1317626"/>
          <a:ext cx="10285413" cy="5149214"/>
        </p:xfrm>
        <a:graphic>
          <a:graphicData uri="http://schemas.openxmlformats.org/drawingml/2006/table">
            <a:tbl>
              <a:tblPr firstRow="1" bandRow="1">
                <a:tableStyleId>{5C22544A-7EE6-4342-B048-85BDC9FD1C3A}</a:tableStyleId>
              </a:tblPr>
              <a:tblGrid>
                <a:gridCol w="1589087"/>
                <a:gridCol w="4597400"/>
                <a:gridCol w="4098926"/>
              </a:tblGrid>
              <a:tr h="370840">
                <a:tc>
                  <a:txBody>
                    <a:bodyPr/>
                    <a:lstStyle/>
                    <a:p>
                      <a:r>
                        <a:rPr lang="en-CA" dirty="0" smtClean="0"/>
                        <a:t>Base Class</a:t>
                      </a:r>
                      <a:endParaRPr lang="en-CA"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r>
                        <a:rPr lang="en-CA" dirty="0" smtClean="0"/>
                        <a:t>Member Functions</a:t>
                      </a:r>
                      <a:endParaRPr lang="en-CA"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r>
                        <a:rPr lang="en-CA" dirty="0" smtClean="0"/>
                        <a:t>Description</a:t>
                      </a:r>
                      <a:endParaRPr lang="en-CA"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r>
              <a:tr h="370840">
                <a:tc gridSpan="3">
                  <a:txBody>
                    <a:bodyPr/>
                    <a:lstStyle/>
                    <a:p>
                      <a:r>
                        <a:rPr lang="en-CA" sz="1800" dirty="0" smtClean="0">
                          <a:latin typeface="+mn-lt"/>
                          <a:cs typeface="Courier New" panose="02070309020205020404" pitchFamily="49" charset="0"/>
                        </a:rPr>
                        <a:t>Spiffy File System Library</a:t>
                      </a:r>
                      <a:endParaRPr lang="en-CA" sz="1800" dirty="0">
                        <a:latin typeface="+mn-lt"/>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hMerge="1">
                  <a:txBody>
                    <a:bodyPr/>
                    <a:lstStyle/>
                    <a:p>
                      <a:endParaRPr lang="en-CA" sz="1600" dirty="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hMerge="1">
                  <a:txBody>
                    <a:bodyPr/>
                    <a:lstStyle/>
                    <a:p>
                      <a:endParaRPr lang="en-CA" sz="1600"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r>
              <a:tr h="302894">
                <a:tc rowSpan="4">
                  <a:txBody>
                    <a:bodyPr/>
                    <a:lstStyle/>
                    <a:p>
                      <a:r>
                        <a:rPr lang="en-CA" sz="1600" dirty="0" smtClean="0">
                          <a:latin typeface="Courier New" panose="02070309020205020404" pitchFamily="49" charset="0"/>
                          <a:cs typeface="Courier New" panose="02070309020205020404" pitchFamily="49" charset="0"/>
                        </a:rPr>
                        <a:t>Entity</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process_fields</a:t>
                      </a:r>
                      <a:r>
                        <a:rPr lang="en-CA" sz="1600" dirty="0" smtClean="0">
                          <a:latin typeface="Courier New" panose="02070309020205020404" pitchFamily="49" charset="0"/>
                          <a:cs typeface="Courier New" panose="02070309020205020404" pitchFamily="49" charset="0"/>
                        </a:rPr>
                        <a:t>(Visitor</a:t>
                      </a:r>
                      <a:r>
                        <a:rPr lang="en-CA" sz="1600" baseline="0" dirty="0" smtClean="0">
                          <a:latin typeface="Courier New" panose="02070309020205020404" pitchFamily="49" charset="0"/>
                          <a:cs typeface="Courier New" panose="02070309020205020404" pitchFamily="49" charset="0"/>
                        </a:rPr>
                        <a:t> &amp; v)</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CA" sz="1600" b="0" i="0" u="none" strike="noStrike" kern="1200" baseline="0" dirty="0" smtClean="0">
                          <a:solidFill>
                            <a:schemeClr val="dk1"/>
                          </a:solidFill>
                          <a:latin typeface="+mn-lt"/>
                          <a:ea typeface="+mn-ea"/>
                          <a:cs typeface="+mn-cs"/>
                        </a:rPr>
                        <a:t>allows </a:t>
                      </a:r>
                      <a:r>
                        <a:rPr lang="en-CA" sz="1600" b="0" i="1" u="none" strike="noStrike" kern="1200" baseline="0" dirty="0" smtClean="0">
                          <a:solidFill>
                            <a:schemeClr val="dk1"/>
                          </a:solidFill>
                          <a:latin typeface="+mn-lt"/>
                          <a:ea typeface="+mn-ea"/>
                          <a:cs typeface="+mn-cs"/>
                        </a:rPr>
                        <a:t>v</a:t>
                      </a:r>
                      <a:r>
                        <a:rPr lang="en-CA" sz="1600" b="0" i="0" u="none" strike="noStrike" kern="1200" baseline="0" dirty="0" smtClean="0">
                          <a:solidFill>
                            <a:schemeClr val="dk1"/>
                          </a:solidFill>
                          <a:latin typeface="+mn-lt"/>
                          <a:ea typeface="+mn-ea"/>
                          <a:cs typeface="+mn-cs"/>
                        </a:rPr>
                        <a:t> to visit all fields of this object</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r>
              <a:tr h="239394">
                <a:tc vMerge="1">
                  <a:txBody>
                    <a:bodyPr/>
                    <a:lstStyle/>
                    <a:p>
                      <a:endParaRPr lang="en-CA"/>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process_pointer</a:t>
                      </a:r>
                      <a:r>
                        <a:rPr lang="en-CA" sz="1600" dirty="0" smtClean="0">
                          <a:latin typeface="Courier New" panose="02070309020205020404" pitchFamily="49" charset="0"/>
                          <a:cs typeface="Courier New" panose="02070309020205020404" pitchFamily="49" charset="0"/>
                        </a:rPr>
                        <a:t>(Visitor</a:t>
                      </a:r>
                      <a:r>
                        <a:rPr lang="en-CA" sz="1600" baseline="0" dirty="0" smtClean="0">
                          <a:latin typeface="Courier New" panose="02070309020205020404" pitchFamily="49" charset="0"/>
                          <a:cs typeface="Courier New" panose="02070309020205020404" pitchFamily="49" charset="0"/>
                        </a:rPr>
                        <a:t> &amp; v)</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smtClean="0">
                          <a:solidFill>
                            <a:schemeClr val="dk1"/>
                          </a:solidFill>
                          <a:latin typeface="+mn-lt"/>
                          <a:ea typeface="+mn-ea"/>
                          <a:cs typeface="+mn-cs"/>
                        </a:rPr>
                        <a:t>allows </a:t>
                      </a:r>
                      <a:r>
                        <a:rPr lang="en-CA" sz="1600" b="0" i="1" u="none" strike="noStrike" kern="1200" baseline="0" dirty="0" smtClean="0">
                          <a:solidFill>
                            <a:schemeClr val="dk1"/>
                          </a:solidFill>
                          <a:latin typeface="+mn-lt"/>
                          <a:ea typeface="+mn-ea"/>
                          <a:cs typeface="+mn-cs"/>
                        </a:rPr>
                        <a:t>v</a:t>
                      </a:r>
                      <a:r>
                        <a:rPr lang="en-CA" sz="1600" b="0" i="0" u="none" strike="noStrike" kern="1200" baseline="0" dirty="0" smtClean="0">
                          <a:solidFill>
                            <a:schemeClr val="dk1"/>
                          </a:solidFill>
                          <a:latin typeface="+mn-lt"/>
                          <a:ea typeface="+mn-ea"/>
                          <a:cs typeface="+mn-cs"/>
                        </a:rPr>
                        <a:t> to visit all pointers of this object</a:t>
                      </a:r>
                      <a:endParaRPr lang="en-CA" sz="1600" dirty="0" smtClean="0">
                        <a:latin typeface="+mn-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r>
              <a:tr h="262256">
                <a:tc vMerge="1">
                  <a:txBody>
                    <a:bodyPr/>
                    <a:lstStyle/>
                    <a:p>
                      <a:endParaRPr lang="en-CA"/>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process_by_type</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t, </a:t>
                      </a:r>
                    </a:p>
                    <a:p>
                      <a:pPr marL="0" marR="0" lvl="0" indent="0" algn="l" defTabSz="457200" rtl="0" eaLnBrk="1" fontAlgn="auto" latinLnBrk="0" hangingPunct="1">
                        <a:lnSpc>
                          <a:spcPct val="100000"/>
                        </a:lnSpc>
                        <a:spcBef>
                          <a:spcPts val="0"/>
                        </a:spcBef>
                        <a:spcAft>
                          <a:spcPts val="0"/>
                        </a:spcAft>
                        <a:buClrTx/>
                        <a:buSzTx/>
                        <a:buFontTx/>
                        <a:buNone/>
                        <a:tabLst/>
                        <a:defRPr/>
                      </a:pPr>
                      <a:r>
                        <a:rPr lang="en-CA" sz="1600" dirty="0" smtClean="0">
                          <a:latin typeface="Courier New" panose="02070309020205020404" pitchFamily="49" charset="0"/>
                          <a:cs typeface="Courier New" panose="02070309020205020404" pitchFamily="49" charset="0"/>
                        </a:rPr>
                        <a:t>                    Visitor</a:t>
                      </a:r>
                      <a:r>
                        <a:rPr lang="en-CA" sz="1600" baseline="0" dirty="0" smtClean="0">
                          <a:latin typeface="Courier New" panose="02070309020205020404" pitchFamily="49" charset="0"/>
                          <a:cs typeface="Courier New" panose="02070309020205020404" pitchFamily="49" charset="0"/>
                        </a:rPr>
                        <a:t> &amp; v)</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CA" sz="1600" b="0" i="0" u="none" strike="noStrike" kern="1200" baseline="0" dirty="0" smtClean="0">
                          <a:solidFill>
                            <a:schemeClr val="dk1"/>
                          </a:solidFill>
                          <a:latin typeface="+mn-lt"/>
                          <a:ea typeface="+mn-ea"/>
                          <a:cs typeface="+mn-cs"/>
                        </a:rPr>
                        <a:t>allows </a:t>
                      </a:r>
                      <a:r>
                        <a:rPr lang="en-CA" sz="1600" b="0" i="1" u="none" strike="noStrike" kern="1200" baseline="0" dirty="0" smtClean="0">
                          <a:solidFill>
                            <a:schemeClr val="dk1"/>
                          </a:solidFill>
                          <a:latin typeface="+mn-lt"/>
                          <a:ea typeface="+mn-ea"/>
                          <a:cs typeface="+mn-cs"/>
                        </a:rPr>
                        <a:t>v</a:t>
                      </a:r>
                      <a:r>
                        <a:rPr lang="en-CA" sz="1600" b="0" i="0" u="none" strike="noStrike" kern="1200" baseline="0" dirty="0" smtClean="0">
                          <a:solidFill>
                            <a:schemeClr val="dk1"/>
                          </a:solidFill>
                          <a:latin typeface="+mn-lt"/>
                          <a:ea typeface="+mn-ea"/>
                          <a:cs typeface="+mn-cs"/>
                        </a:rPr>
                        <a:t> to visit all structures of type </a:t>
                      </a:r>
                      <a:r>
                        <a:rPr lang="en-CA" sz="1600" b="0" i="1" u="none" strike="noStrike" kern="1200" baseline="0" dirty="0" smtClean="0">
                          <a:solidFill>
                            <a:schemeClr val="dk1"/>
                          </a:solidFill>
                          <a:latin typeface="+mn-lt"/>
                          <a:ea typeface="+mn-ea"/>
                          <a:cs typeface="+mn-cs"/>
                        </a:rPr>
                        <a:t>t </a:t>
                      </a:r>
                      <a:r>
                        <a:rPr lang="en-CA" sz="1600" b="0" i="0" u="none" strike="noStrike" kern="1200" baseline="0" dirty="0" smtClean="0">
                          <a:solidFill>
                            <a:schemeClr val="dk1"/>
                          </a:solidFill>
                          <a:latin typeface="+mn-lt"/>
                          <a:ea typeface="+mn-ea"/>
                          <a:cs typeface="+mn-cs"/>
                        </a:rPr>
                        <a:t>that is reachable from this object</a:t>
                      </a:r>
                      <a:endParaRPr lang="en-CA" sz="1600" i="1" dirty="0">
                        <a:latin typeface="+mn-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r>
              <a:tr h="262256">
                <a:tc vMerge="1">
                  <a:txBody>
                    <a:bodyPr/>
                    <a:lstStyle/>
                    <a:p>
                      <a:endParaRPr lang="en-CA"/>
                    </a:p>
                  </a:txBody>
                  <a:tcPr/>
                </a:tc>
                <a:tc>
                  <a:txBody>
                    <a:bodyPr/>
                    <a:lstStyle/>
                    <a:p>
                      <a:r>
                        <a:rPr lang="en-CA" sz="1600" dirty="0" err="1" smtClean="0">
                          <a:latin typeface="Courier New" panose="02070309020205020404" pitchFamily="49" charset="0"/>
                          <a:cs typeface="Courier New" panose="02070309020205020404" pitchFamily="49" charset="0"/>
                        </a:rPr>
                        <a:t>get_name</a:t>
                      </a:r>
                      <a:r>
                        <a:rPr lang="en-CA" sz="1600" dirty="0" smtClean="0">
                          <a:latin typeface="Courier New" panose="02070309020205020404" pitchFamily="49" charset="0"/>
                          <a:cs typeface="Courier New" panose="02070309020205020404" pitchFamily="49" charset="0"/>
                        </a:rPr>
                        <a:t>(),</a:t>
                      </a:r>
                      <a:r>
                        <a:rPr lang="en-CA" sz="1600" baseline="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get_size</a:t>
                      </a:r>
                      <a:r>
                        <a:rPr lang="en-CA" sz="1600" dirty="0" smtClean="0">
                          <a:latin typeface="Courier New" panose="02070309020205020404" pitchFamily="49" charset="0"/>
                          <a:cs typeface="Courier New" panose="02070309020205020404" pitchFamily="49" charset="0"/>
                        </a:rPr>
                        <a:t>(), etc.</a:t>
                      </a:r>
                      <a:endParaRPr lang="en-CA" sz="1600" dirty="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CA" sz="1600" dirty="0" smtClean="0"/>
                        <a:t>allows for type introspection </a:t>
                      </a:r>
                      <a:endParaRPr lang="en-CA" sz="1600"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r>
              <a:tr h="370840">
                <a:tc>
                  <a:txBody>
                    <a:bodyPr/>
                    <a:lstStyle/>
                    <a:p>
                      <a:r>
                        <a:rPr lang="en-CA" sz="1600" dirty="0" smtClean="0">
                          <a:latin typeface="Courier New" panose="02070309020205020404" pitchFamily="49" charset="0"/>
                          <a:cs typeface="Courier New" panose="02070309020205020404" pitchFamily="49" charset="0"/>
                        </a:rPr>
                        <a:t>Container</a:t>
                      </a:r>
                      <a:endParaRPr lang="en-CA" sz="1600" dirty="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save(bool </a:t>
                      </a:r>
                      <a:r>
                        <a:rPr lang="en-CA" sz="1600" dirty="0" err="1" smtClean="0">
                          <a:latin typeface="Courier New" panose="02070309020205020404" pitchFamily="49" charset="0"/>
                          <a:cs typeface="Courier New" panose="02070309020205020404" pitchFamily="49" charset="0"/>
                        </a:rPr>
                        <a:t>alloc</a:t>
                      </a:r>
                      <a:r>
                        <a:rPr lang="en-CA" sz="1600" dirty="0" smtClean="0">
                          <a:latin typeface="Courier New" panose="02070309020205020404" pitchFamily="49" charset="0"/>
                          <a:cs typeface="Courier New" panose="02070309020205020404" pitchFamily="49" charset="0"/>
                        </a:rPr>
                        <a:t>=true)</a:t>
                      </a:r>
                      <a:endParaRPr lang="en-CA" sz="1600" dirty="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CA" sz="1600" b="0" i="0" u="none" strike="noStrike" kern="1200" baseline="0" dirty="0" smtClean="0">
                          <a:solidFill>
                            <a:schemeClr val="dk1"/>
                          </a:solidFill>
                          <a:latin typeface="+mn-lt"/>
                          <a:ea typeface="+mn-ea"/>
                          <a:cs typeface="+mn-cs"/>
                        </a:rPr>
                        <a:t>serializes and persists the container</a:t>
                      </a:r>
                      <a:endParaRPr lang="en-CA" sz="1600"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r>
              <a:tr h="370840">
                <a:tc>
                  <a:txBody>
                    <a:bodyPr/>
                    <a:lstStyle/>
                    <a:p>
                      <a:r>
                        <a:rPr lang="en-CA" sz="1600" dirty="0" smtClean="0">
                          <a:latin typeface="Courier New" panose="02070309020205020404" pitchFamily="49" charset="0"/>
                          <a:cs typeface="Courier New" panose="02070309020205020404" pitchFamily="49" charset="0"/>
                        </a:rPr>
                        <a:t>Pointer</a:t>
                      </a:r>
                      <a:endParaRPr lang="en-CA" sz="1600" dirty="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CA" sz="1600" dirty="0" smtClean="0">
                          <a:latin typeface="Courier New" panose="02070309020205020404" pitchFamily="49" charset="0"/>
                          <a:cs typeface="Courier New" panose="02070309020205020404" pitchFamily="49" charset="0"/>
                        </a:rPr>
                        <a:t>Container</a:t>
                      </a:r>
                      <a:r>
                        <a:rPr lang="en-CA" sz="1600" baseline="0" dirty="0" smtClean="0">
                          <a:latin typeface="Courier New" panose="02070309020205020404" pitchFamily="49" charset="0"/>
                          <a:cs typeface="Courier New" panose="02070309020205020404" pitchFamily="49" charset="0"/>
                        </a:rPr>
                        <a:t> * fetch()</a:t>
                      </a:r>
                      <a:endParaRPr lang="en-CA" sz="1600" dirty="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CA" sz="1600" b="0" i="0" u="none" strike="noStrike" kern="1200" baseline="0" dirty="0" smtClean="0">
                          <a:solidFill>
                            <a:schemeClr val="dk1"/>
                          </a:solidFill>
                          <a:latin typeface="+mn-lt"/>
                          <a:ea typeface="+mn-ea"/>
                          <a:cs typeface="+mn-cs"/>
                        </a:rPr>
                        <a:t>retrieves pointed-to container from disk</a:t>
                      </a:r>
                      <a:endParaRPr lang="en-CA" sz="1600"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r>
              <a:tr h="292417">
                <a:tc rowSpan="3">
                  <a:txBody>
                    <a:bodyPr/>
                    <a:lstStyle/>
                    <a:p>
                      <a:r>
                        <a:rPr lang="en-CA" sz="1600" dirty="0" err="1" smtClean="0">
                          <a:latin typeface="Courier New" panose="02070309020205020404" pitchFamily="49" charset="0"/>
                          <a:cs typeface="Courier New" panose="02070309020205020404" pitchFamily="49" charset="0"/>
                        </a:rPr>
                        <a:t>FileSystem</a:t>
                      </a:r>
                      <a:endParaRPr lang="en-CA" sz="1600" dirty="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CA" sz="16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FileSystem</a:t>
                      </a:r>
                      <a:r>
                        <a:rPr lang="en-CA" sz="16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(IO &amp; </a:t>
                      </a:r>
                      <a:r>
                        <a:rPr lang="en-CA" sz="16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io</a:t>
                      </a:r>
                      <a:r>
                        <a:rPr lang="en-CA" sz="1600" b="0" i="0" u="none" strike="noStrike" kern="1200" baseline="0" smtClean="0">
                          <a:solidFill>
                            <a:schemeClr val="dk1"/>
                          </a:solidFill>
                          <a:latin typeface="Courier New" panose="02070309020205020404" pitchFamily="49" charset="0"/>
                          <a:ea typeface="+mn-ea"/>
                          <a:cs typeface="Courier New" panose="02070309020205020404" pitchFamily="49" charset="0"/>
                        </a:rPr>
                        <a:t>) </a:t>
                      </a:r>
                      <a:endParaRPr lang="en-CA" sz="1600" b="0" i="0" u="none" strike="noStrike" kern="1200" baseline="0" dirty="0" smtClean="0">
                        <a:solidFill>
                          <a:schemeClr val="dk1"/>
                        </a:solidFill>
                        <a:latin typeface="Courier New" panose="02070309020205020404" pitchFamily="49" charset="0"/>
                        <a:ea typeface="+mn-ea"/>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smtClean="0">
                          <a:solidFill>
                            <a:schemeClr val="dk1"/>
                          </a:solidFill>
                          <a:latin typeface="+mn-lt"/>
                          <a:ea typeface="+mn-ea"/>
                          <a:cs typeface="+mn-cs"/>
                        </a:rPr>
                        <a:t>instantiates a new file </a:t>
                      </a:r>
                      <a:r>
                        <a:rPr lang="en-CA" sz="1600" b="0" i="0" u="none" strike="noStrike" kern="1200" baseline="0" smtClean="0">
                          <a:solidFill>
                            <a:schemeClr val="dk1"/>
                          </a:solidFill>
                          <a:latin typeface="+mn-lt"/>
                          <a:ea typeface="+mn-ea"/>
                          <a:cs typeface="+mn-cs"/>
                        </a:rPr>
                        <a:t>system object</a:t>
                      </a:r>
                      <a:endParaRPr lang="en-CA" sz="1600" b="0" i="0" u="none" strike="noStrike" kern="1200" baseline="0" dirty="0" smtClean="0">
                        <a:solidFill>
                          <a:schemeClr val="dk1"/>
                        </a:solidFill>
                        <a:latin typeface="+mn-lt"/>
                        <a:ea typeface="+mn-ea"/>
                        <a:cs typeface="+mn-cs"/>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r>
              <a:tr h="373697">
                <a:tc vMerge="1">
                  <a:txBody>
                    <a:bodyPr/>
                    <a:lstStyle/>
                    <a:p>
                      <a:endParaRPr lang="en-CA"/>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dirty="0" smtClean="0">
                          <a:latin typeface="Courier New" panose="02070309020205020404" pitchFamily="49" charset="0"/>
                          <a:cs typeface="Courier New" panose="02070309020205020404" pitchFamily="49" charset="0"/>
                        </a:rPr>
                        <a:t>Container</a:t>
                      </a:r>
                      <a:r>
                        <a:rPr lang="en-CA" sz="16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 * </a:t>
                      </a:r>
                      <a:r>
                        <a:rPr lang="en-CA" sz="16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fetch_super</a:t>
                      </a:r>
                      <a:r>
                        <a:rPr lang="en-CA" sz="16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smtClean="0">
                          <a:solidFill>
                            <a:schemeClr val="dk1"/>
                          </a:solidFill>
                          <a:latin typeface="+mn-lt"/>
                          <a:ea typeface="+mn-ea"/>
                          <a:cs typeface="+mn-cs"/>
                        </a:rPr>
                        <a:t>retrieves the super block from disk</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r>
              <a:tr h="670877">
                <a:tc vMerge="1">
                  <a:txBody>
                    <a:bodyPr/>
                    <a:lstStyle/>
                    <a:p>
                      <a:endParaRPr lang="en-CA"/>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dirty="0" smtClean="0">
                          <a:latin typeface="Courier New" panose="02070309020205020404" pitchFamily="49" charset="0"/>
                          <a:cs typeface="Courier New" panose="02070309020205020404" pitchFamily="49" charset="0"/>
                        </a:rPr>
                        <a:t>Container</a:t>
                      </a:r>
                      <a:r>
                        <a:rPr lang="en-CA" sz="16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 * </a:t>
                      </a:r>
                      <a:r>
                        <a:rPr lang="en-CA" sz="16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parse_by_type</a:t>
                      </a:r>
                      <a:r>
                        <a:rPr lang="en-CA" sz="16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a:t>
                      </a:r>
                      <a:r>
                        <a:rPr lang="en-CA" sz="16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int</a:t>
                      </a:r>
                      <a:r>
                        <a:rPr lang="en-CA" sz="16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 type, </a:t>
                      </a:r>
                    </a:p>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 </a:t>
                      </a:r>
                      <a:r>
                        <a:rPr lang="en-CA" sz="16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const</a:t>
                      </a:r>
                      <a:r>
                        <a:rPr lang="en-CA" sz="16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 char * </a:t>
                      </a:r>
                      <a:r>
                        <a:rPr lang="en-CA" sz="16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buf</a:t>
                      </a:r>
                      <a:r>
                        <a:rPr lang="en-CA" sz="16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 </a:t>
                      </a:r>
                      <a:r>
                        <a:rPr lang="en-CA" sz="16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size_t</a:t>
                      </a:r>
                      <a:r>
                        <a:rPr lang="en-CA" sz="16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 </a:t>
                      </a:r>
                      <a:r>
                        <a:rPr lang="en-CA" sz="16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len</a:t>
                      </a:r>
                      <a:r>
                        <a:rPr lang="en-CA" sz="16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a:t>
                      </a:r>
                      <a:endParaRPr lang="en-CA" sz="1600" dirty="0" smtClean="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CA" sz="1600" b="0" i="0" u="none" strike="noStrike" kern="1200" baseline="0" dirty="0" smtClean="0">
                          <a:solidFill>
                            <a:schemeClr val="dk1"/>
                          </a:solidFill>
                          <a:latin typeface="+mn-lt"/>
                          <a:ea typeface="+mn-ea"/>
                          <a:cs typeface="+mn-cs"/>
                        </a:rPr>
                        <a:t>parses the buffer </a:t>
                      </a:r>
                      <a:r>
                        <a:rPr lang="en-CA" sz="1600" b="0" i="1" u="none" strike="noStrike" kern="1200" baseline="0" dirty="0" err="1" smtClean="0">
                          <a:solidFill>
                            <a:schemeClr val="dk1"/>
                          </a:solidFill>
                          <a:latin typeface="+mn-lt"/>
                          <a:ea typeface="+mn-ea"/>
                          <a:cs typeface="+mn-cs"/>
                        </a:rPr>
                        <a:t>buf</a:t>
                      </a:r>
                      <a:r>
                        <a:rPr lang="en-CA" sz="1600" b="0" i="0" u="none" strike="noStrike" kern="1200" baseline="0" dirty="0" smtClean="0">
                          <a:solidFill>
                            <a:schemeClr val="dk1"/>
                          </a:solidFill>
                          <a:latin typeface="+mn-lt"/>
                          <a:ea typeface="+mn-ea"/>
                          <a:cs typeface="+mn-cs"/>
                        </a:rPr>
                        <a:t> as metadata container </a:t>
                      </a:r>
                      <a:r>
                        <a:rPr lang="en-CA" sz="1600" b="0" i="1" u="none" strike="noStrike" kern="1200" baseline="0" dirty="0" smtClean="0">
                          <a:solidFill>
                            <a:schemeClr val="dk1"/>
                          </a:solidFill>
                          <a:latin typeface="+mn-lt"/>
                          <a:ea typeface="+mn-ea"/>
                          <a:cs typeface="+mn-cs"/>
                        </a:rPr>
                        <a:t>type</a:t>
                      </a:r>
                      <a:endParaRPr lang="en-CA" sz="1600" dirty="0" smtClean="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r>
              <a:tr h="307023">
                <a:tc gridSpan="3">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800" dirty="0" smtClean="0">
                          <a:latin typeface="+mn-lt"/>
                          <a:cs typeface="Courier New" panose="02070309020205020404" pitchFamily="49" charset="0"/>
                        </a:rPr>
                        <a:t>Application Developer</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hMerge="1">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CA" sz="1600" dirty="0" smtClean="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hMerge="1">
                  <a:txBody>
                    <a:bodyPr/>
                    <a:lstStyle/>
                    <a:p>
                      <a:endParaRPr lang="en-CA" sz="1600" dirty="0" smtClean="0">
                        <a:latin typeface="+mn-lt"/>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r>
              <a:tr h="136843">
                <a:tc>
                  <a:txBody>
                    <a:bodyPr/>
                    <a:lstStyle/>
                    <a:p>
                      <a:r>
                        <a:rPr lang="en-CA" sz="1600" dirty="0" smtClean="0">
                          <a:latin typeface="Courier New" panose="02070309020205020404" pitchFamily="49" charset="0"/>
                          <a:cs typeface="Courier New" panose="02070309020205020404" pitchFamily="49" charset="0"/>
                        </a:rPr>
                        <a:t>Visitor</a:t>
                      </a:r>
                      <a:endParaRPr lang="en-CA" sz="1600" dirty="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dirty="0" smtClean="0">
                          <a:latin typeface="Courier New" panose="02070309020205020404" pitchFamily="49" charset="0"/>
                          <a:cs typeface="Courier New" panose="02070309020205020404" pitchFamily="49" charset="0"/>
                        </a:rPr>
                        <a:t>virtual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visit(Entity</a:t>
                      </a:r>
                      <a:r>
                        <a:rPr lang="en-CA" sz="1600" baseline="0" dirty="0" smtClean="0">
                          <a:latin typeface="Courier New" panose="02070309020205020404" pitchFamily="49" charset="0"/>
                          <a:cs typeface="Courier New" panose="02070309020205020404" pitchFamily="49" charset="0"/>
                        </a:rPr>
                        <a:t> &amp; e)=0;</a:t>
                      </a:r>
                      <a:endParaRPr lang="en-CA" sz="1600" dirty="0" smtClean="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CA" sz="1600" b="0" i="0" u="none" strike="noStrike" kern="1200" baseline="0" dirty="0" smtClean="0">
                          <a:solidFill>
                            <a:schemeClr val="dk1"/>
                          </a:solidFill>
                          <a:latin typeface="+mn-lt"/>
                          <a:ea typeface="+mn-ea"/>
                          <a:cs typeface="+mn-cs"/>
                        </a:rPr>
                        <a:t>visits an entity and possibly processes it</a:t>
                      </a:r>
                      <a:endParaRPr lang="en-CA" sz="1600" dirty="0" smtClean="0">
                        <a:latin typeface="+mn-lt"/>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r>
            </a:tbl>
          </a:graphicData>
        </a:graphic>
      </p:graphicFrame>
      <p:sp>
        <p:nvSpPr>
          <p:cNvPr id="4" name="Slide Number Placeholder 3"/>
          <p:cNvSpPr>
            <a:spLocks noGrp="1"/>
          </p:cNvSpPr>
          <p:nvPr>
            <p:ph type="sldNum" sz="quarter" idx="12"/>
          </p:nvPr>
        </p:nvSpPr>
        <p:spPr/>
        <p:txBody>
          <a:bodyPr/>
          <a:lstStyle/>
          <a:p>
            <a:fld id="{7B2023C8-B124-43A9-8F92-0EEF5BAA9995}" type="slidenum">
              <a:rPr lang="en-CA" smtClean="0"/>
              <a:pPr/>
              <a:t>38</a:t>
            </a:fld>
            <a:endParaRPr lang="en-CA" dirty="0"/>
          </a:p>
        </p:txBody>
      </p:sp>
    </p:spTree>
    <p:extLst>
      <p:ext uri="{BB962C8B-B14F-4D97-AF65-F5344CB8AC3E}">
        <p14:creationId xmlns:p14="http://schemas.microsoft.com/office/powerpoint/2010/main" val="3724897478"/>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File-System Agnostic Traversal</a:t>
            </a:r>
            <a:endParaRPr lang="en-CA" dirty="0"/>
          </a:p>
        </p:txBody>
      </p:sp>
      <p:sp>
        <p:nvSpPr>
          <p:cNvPr id="3" name="Content Placeholder 2"/>
          <p:cNvSpPr>
            <a:spLocks noGrp="1"/>
          </p:cNvSpPr>
          <p:nvPr>
            <p:ph sz="half" idx="1"/>
          </p:nvPr>
        </p:nvSpPr>
        <p:spPr>
          <a:xfrm>
            <a:off x="684211" y="1515361"/>
            <a:ext cx="5145089" cy="4656839"/>
          </a:xfrm>
        </p:spPr>
        <p:txBody>
          <a:bodyPr>
            <a:noAutofit/>
          </a:bodyPr>
          <a:lstStyle/>
          <a:p>
            <a:pPr marL="0" indent="0">
              <a:spcBef>
                <a:spcPts val="0"/>
              </a:spcBef>
              <a:spcAft>
                <a:spcPts val="0"/>
              </a:spcAft>
              <a:buNone/>
            </a:pPr>
            <a:r>
              <a:rPr lang="en-CA" sz="1800" dirty="0" err="1">
                <a:latin typeface="Courier New" panose="02070309020205020404" pitchFamily="49" charset="0"/>
                <a:cs typeface="Courier New" panose="02070309020205020404" pitchFamily="49" charset="0"/>
              </a:rPr>
              <a:t>EntVisitor</a:t>
            </a:r>
            <a:r>
              <a:rPr lang="en-CA" sz="1800" dirty="0">
                <a:latin typeface="Courier New" panose="02070309020205020404" pitchFamily="49" charset="0"/>
                <a:cs typeface="Courier New" panose="02070309020205020404" pitchFamily="49" charset="0"/>
              </a:rPr>
              <a:t> </a:t>
            </a:r>
            <a:r>
              <a:rPr lang="en-CA" sz="1800" dirty="0" err="1">
                <a:latin typeface="Courier New" panose="02070309020205020404" pitchFamily="49" charset="0"/>
                <a:cs typeface="Courier New" panose="02070309020205020404" pitchFamily="49" charset="0"/>
              </a:rPr>
              <a:t>ev</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err="1">
                <a:latin typeface="Courier New" panose="02070309020205020404" pitchFamily="49" charset="0"/>
                <a:cs typeface="Courier New" panose="02070309020205020404" pitchFamily="49" charset="0"/>
              </a:rPr>
              <a:t>PtrVisitor</a:t>
            </a:r>
            <a:r>
              <a:rPr lang="en-CA" sz="1800" dirty="0">
                <a:latin typeface="Courier New" panose="02070309020205020404" pitchFamily="49" charset="0"/>
                <a:cs typeface="Courier New" panose="02070309020205020404" pitchFamily="49" charset="0"/>
              </a:rPr>
              <a:t> </a:t>
            </a:r>
            <a:r>
              <a:rPr lang="en-CA" sz="1800" dirty="0" err="1">
                <a:latin typeface="Courier New" panose="02070309020205020404" pitchFamily="49" charset="0"/>
                <a:cs typeface="Courier New" panose="02070309020205020404" pitchFamily="49" charset="0"/>
              </a:rPr>
              <a:t>pv</a:t>
            </a: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err="1">
                <a:latin typeface="Courier New" panose="02070309020205020404" pitchFamily="49" charset="0"/>
                <a:cs typeface="Courier New" panose="02070309020205020404" pitchFamily="49" charset="0"/>
              </a:rPr>
              <a:t>int</a:t>
            </a:r>
            <a:r>
              <a:rPr lang="en-CA" sz="1800" dirty="0">
                <a:latin typeface="Courier New" panose="02070309020205020404" pitchFamily="49" charset="0"/>
                <a:cs typeface="Courier New" panose="02070309020205020404" pitchFamily="49" charset="0"/>
              </a:rPr>
              <a:t> </a:t>
            </a:r>
            <a:r>
              <a:rPr lang="en-CA" sz="1800" dirty="0" err="1">
                <a:latin typeface="Courier New" panose="02070309020205020404" pitchFamily="49" charset="0"/>
                <a:cs typeface="Courier New" panose="02070309020205020404" pitchFamily="49" charset="0"/>
              </a:rPr>
              <a:t>PtrVisitor</a:t>
            </a:r>
            <a:r>
              <a:rPr lang="en-CA" sz="1800" dirty="0">
                <a:latin typeface="Courier New" panose="02070309020205020404" pitchFamily="49" charset="0"/>
                <a:cs typeface="Courier New" panose="02070309020205020404" pitchFamily="49" charset="0"/>
              </a:rPr>
              <a:t>::visit(Entity &amp; e) </a:t>
            </a: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Container </a:t>
            </a:r>
            <a:r>
              <a:rPr lang="en-CA" sz="1800" dirty="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tmp</a:t>
            </a: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tmp</a:t>
            </a:r>
            <a:r>
              <a:rPr lang="en-CA" sz="1800" dirty="0" smtClean="0">
                <a:latin typeface="Courier New" panose="02070309020205020404" pitchFamily="49" charset="0"/>
                <a:cs typeface="Courier New" panose="02070309020205020404" pitchFamily="49" charset="0"/>
              </a:rPr>
              <a:t> </a:t>
            </a:r>
            <a:r>
              <a:rPr lang="en-CA" sz="1800" dirty="0">
                <a:latin typeface="Courier New" panose="02070309020205020404" pitchFamily="49" charset="0"/>
                <a:cs typeface="Courier New" panose="02070309020205020404" pitchFamily="49" charset="0"/>
              </a:rPr>
              <a:t>= ((Pointer &amp;)e).fetch();</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if </a:t>
            </a:r>
            <a:r>
              <a:rPr lang="en-CA" sz="1800" dirty="0">
                <a:latin typeface="Courier New" panose="02070309020205020404" pitchFamily="49" charset="0"/>
                <a:cs typeface="Courier New" panose="02070309020205020404" pitchFamily="49" charset="0"/>
              </a:rPr>
              <a:t>(</a:t>
            </a:r>
            <a:r>
              <a:rPr lang="en-CA" sz="1800" dirty="0" err="1">
                <a:latin typeface="Courier New" panose="02070309020205020404" pitchFamily="49" charset="0"/>
                <a:cs typeface="Courier New" panose="02070309020205020404" pitchFamily="49" charset="0"/>
              </a:rPr>
              <a:t>tmp</a:t>
            </a:r>
            <a:r>
              <a:rPr lang="en-CA" sz="1800" dirty="0">
                <a:latin typeface="Courier New" panose="02070309020205020404" pitchFamily="49" charset="0"/>
                <a:cs typeface="Courier New" panose="02070309020205020404" pitchFamily="49" charset="0"/>
              </a:rPr>
              <a:t> != </a:t>
            </a:r>
            <a:r>
              <a:rPr lang="en-CA" sz="1800" dirty="0" err="1">
                <a:latin typeface="Courier New" panose="02070309020205020404" pitchFamily="49" charset="0"/>
                <a:cs typeface="Courier New" panose="02070309020205020404" pitchFamily="49" charset="0"/>
              </a:rPr>
              <a:t>nullptr</a:t>
            </a:r>
            <a:r>
              <a:rPr lang="en-CA" sz="180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ev.visit</a:t>
            </a:r>
            <a:r>
              <a:rPr lang="en-CA" sz="1800" dirty="0">
                <a:latin typeface="Courier New" panose="02070309020205020404" pitchFamily="49" charset="0"/>
                <a:cs typeface="Courier New" panose="02070309020205020404" pitchFamily="49" charset="0"/>
              </a:rPr>
              <a:t>(*</a:t>
            </a:r>
            <a:r>
              <a:rPr lang="en-CA" sz="1800" dirty="0" err="1">
                <a:latin typeface="Courier New" panose="02070309020205020404" pitchFamily="49" charset="0"/>
                <a:cs typeface="Courier New" panose="02070309020205020404" pitchFamily="49" charset="0"/>
              </a:rPr>
              <a:t>tmp</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tmp</a:t>
            </a:r>
            <a:r>
              <a:rPr lang="en-CA" sz="1800" dirty="0" smtClean="0">
                <a:latin typeface="Courier New" panose="02070309020205020404" pitchFamily="49" charset="0"/>
                <a:cs typeface="Courier New" panose="02070309020205020404" pitchFamily="49" charset="0"/>
              </a:rPr>
              <a:t>-</a:t>
            </a:r>
            <a:r>
              <a:rPr lang="en-CA" sz="1800" dirty="0">
                <a:latin typeface="Courier New" panose="02070309020205020404" pitchFamily="49" charset="0"/>
                <a:cs typeface="Courier New" panose="02070309020205020404" pitchFamily="49" charset="0"/>
              </a:rPr>
              <a:t>&gt;destroy();</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return </a:t>
            </a:r>
            <a:r>
              <a:rPr lang="en-CA" sz="1800" dirty="0">
                <a:latin typeface="Courier New" panose="02070309020205020404" pitchFamily="49" charset="0"/>
                <a:cs typeface="Courier New" panose="02070309020205020404" pitchFamily="49" charset="0"/>
              </a:rPr>
              <a:t>0;</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err="1">
                <a:latin typeface="Courier New" panose="02070309020205020404" pitchFamily="49" charset="0"/>
                <a:cs typeface="Courier New" panose="02070309020205020404" pitchFamily="49" charset="0"/>
              </a:rPr>
              <a:t>int</a:t>
            </a:r>
            <a:r>
              <a:rPr lang="en-CA" sz="1800" dirty="0">
                <a:latin typeface="Courier New" panose="02070309020205020404" pitchFamily="49" charset="0"/>
                <a:cs typeface="Courier New" panose="02070309020205020404" pitchFamily="49" charset="0"/>
              </a:rPr>
              <a:t> </a:t>
            </a:r>
            <a:r>
              <a:rPr lang="en-CA" sz="1800" dirty="0" err="1">
                <a:latin typeface="Courier New" panose="02070309020205020404" pitchFamily="49" charset="0"/>
                <a:cs typeface="Courier New" panose="02070309020205020404" pitchFamily="49" charset="0"/>
              </a:rPr>
              <a:t>EntVisitor</a:t>
            </a:r>
            <a:r>
              <a:rPr lang="en-CA" sz="1800" dirty="0">
                <a:latin typeface="Courier New" panose="02070309020205020404" pitchFamily="49" charset="0"/>
                <a:cs typeface="Courier New" panose="02070309020205020404" pitchFamily="49" charset="0"/>
              </a:rPr>
              <a:t>::visit(Entity &amp; e)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cout</a:t>
            </a:r>
            <a:r>
              <a:rPr lang="en-CA" sz="1800" dirty="0" smtClean="0">
                <a:latin typeface="Courier New" panose="02070309020205020404" pitchFamily="49" charset="0"/>
                <a:cs typeface="Courier New" panose="02070309020205020404" pitchFamily="49" charset="0"/>
              </a:rPr>
              <a:t> </a:t>
            </a:r>
            <a:r>
              <a:rPr lang="en-CA" sz="1800" dirty="0">
                <a:latin typeface="Courier New" panose="02070309020205020404" pitchFamily="49" charset="0"/>
                <a:cs typeface="Courier New" panose="02070309020205020404" pitchFamily="49" charset="0"/>
              </a:rPr>
              <a:t>&lt;&lt; </a:t>
            </a:r>
            <a:r>
              <a:rPr lang="en-CA" sz="1800" dirty="0" err="1">
                <a:latin typeface="Courier New" panose="02070309020205020404" pitchFamily="49" charset="0"/>
                <a:cs typeface="Courier New" panose="02070309020205020404" pitchFamily="49" charset="0"/>
              </a:rPr>
              <a:t>e.get_name</a:t>
            </a:r>
            <a:r>
              <a:rPr lang="en-CA" sz="1800" dirty="0">
                <a:latin typeface="Courier New" panose="02070309020205020404" pitchFamily="49" charset="0"/>
                <a:cs typeface="Courier New" panose="02070309020205020404" pitchFamily="49" charset="0"/>
              </a:rPr>
              <a:t>() &lt;&lt; </a:t>
            </a:r>
            <a:r>
              <a:rPr lang="en-CA" sz="1800" dirty="0" err="1">
                <a:latin typeface="Courier New" panose="02070309020205020404" pitchFamily="49" charset="0"/>
                <a:cs typeface="Courier New" panose="02070309020205020404" pitchFamily="49" charset="0"/>
              </a:rPr>
              <a:t>endl</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return </a:t>
            </a:r>
            <a:r>
              <a:rPr lang="en-CA" sz="1800" dirty="0" err="1">
                <a:latin typeface="Courier New" panose="02070309020205020404" pitchFamily="49" charset="0"/>
                <a:cs typeface="Courier New" panose="02070309020205020404" pitchFamily="49" charset="0"/>
              </a:rPr>
              <a:t>e.process_pointers</a:t>
            </a:r>
            <a:r>
              <a:rPr lang="en-CA" sz="1800" dirty="0">
                <a:latin typeface="Courier New" panose="02070309020205020404" pitchFamily="49" charset="0"/>
                <a:cs typeface="Courier New" panose="02070309020205020404" pitchFamily="49" charset="0"/>
              </a:rPr>
              <a:t>(</a:t>
            </a:r>
            <a:r>
              <a:rPr lang="en-CA" sz="1800" dirty="0" err="1">
                <a:latin typeface="Courier New" panose="02070309020205020404" pitchFamily="49" charset="0"/>
                <a:cs typeface="Courier New" panose="02070309020205020404" pitchFamily="49" charset="0"/>
              </a:rPr>
              <a:t>pv</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a:t>
            </a:r>
            <a:endParaRPr lang="en-CA" sz="1800" dirty="0">
              <a:latin typeface="Courier New" panose="02070309020205020404" pitchFamily="49" charset="0"/>
              <a:cs typeface="Courier New" panose="02070309020205020404" pitchFamily="49" charset="0"/>
            </a:endParaRPr>
          </a:p>
        </p:txBody>
      </p:sp>
      <p:sp>
        <p:nvSpPr>
          <p:cNvPr id="5" name="Content Placeholder 4"/>
          <p:cNvSpPr>
            <a:spLocks noGrp="1"/>
          </p:cNvSpPr>
          <p:nvPr>
            <p:ph sz="half" idx="2"/>
          </p:nvPr>
        </p:nvSpPr>
        <p:spPr>
          <a:xfrm>
            <a:off x="5829300" y="1515362"/>
            <a:ext cx="5384800" cy="2624838"/>
          </a:xfrm>
        </p:spPr>
        <p:txBody>
          <a:bodyPr>
            <a:noAutofit/>
          </a:bodyPr>
          <a:lstStyle/>
          <a:p>
            <a:pPr marL="0" indent="0">
              <a:spcBef>
                <a:spcPts val="0"/>
              </a:spcBef>
              <a:spcAft>
                <a:spcPts val="0"/>
              </a:spcAft>
              <a:buNone/>
            </a:pPr>
            <a:r>
              <a:rPr lang="en-CA" sz="1800" dirty="0">
                <a:latin typeface="Courier New" panose="02070309020205020404" pitchFamily="49" charset="0"/>
                <a:cs typeface="Courier New" panose="02070309020205020404" pitchFamily="49" charset="0"/>
              </a:rPr>
              <a:t>void main(void)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Ext4IO </a:t>
            </a:r>
            <a:r>
              <a:rPr lang="en-CA" sz="1800" dirty="0" err="1">
                <a:latin typeface="Courier New" panose="02070309020205020404" pitchFamily="49" charset="0"/>
                <a:cs typeface="Courier New" panose="02070309020205020404" pitchFamily="49" charset="0"/>
              </a:rPr>
              <a:t>io</a:t>
            </a:r>
            <a:r>
              <a:rPr lang="en-CA" sz="1800" dirty="0">
                <a:latin typeface="Courier New" panose="02070309020205020404" pitchFamily="49" charset="0"/>
                <a:cs typeface="Courier New" panose="02070309020205020404" pitchFamily="49" charset="0"/>
              </a:rPr>
              <a:t>("/dev/sdb1");</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Ext4 </a:t>
            </a:r>
            <a:r>
              <a:rPr lang="en-CA" sz="1800" dirty="0">
                <a:latin typeface="Courier New" panose="02070309020205020404" pitchFamily="49" charset="0"/>
                <a:cs typeface="Courier New" panose="02070309020205020404" pitchFamily="49" charset="0"/>
              </a:rPr>
              <a:t>fs(</a:t>
            </a:r>
            <a:r>
              <a:rPr lang="en-CA" sz="1800" dirty="0" err="1">
                <a:latin typeface="Courier New" panose="02070309020205020404" pitchFamily="49" charset="0"/>
                <a:cs typeface="Courier New" panose="02070309020205020404" pitchFamily="49" charset="0"/>
              </a:rPr>
              <a:t>io</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Container </a:t>
            </a:r>
            <a:r>
              <a:rPr lang="en-CA" sz="1800" dirty="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sup = </a:t>
            </a:r>
            <a:r>
              <a:rPr lang="en-CA" sz="1800" dirty="0" err="1" smtClean="0">
                <a:latin typeface="Courier New" panose="02070309020205020404" pitchFamily="49" charset="0"/>
                <a:cs typeface="Courier New" panose="02070309020205020404" pitchFamily="49" charset="0"/>
              </a:rPr>
              <a:t>fs.fetch_super</a:t>
            </a:r>
            <a:r>
              <a:rPr lang="en-CA" sz="1800" dirty="0" smtClean="0">
                <a:latin typeface="Courier New" panose="02070309020205020404" pitchFamily="49" charset="0"/>
                <a:cs typeface="Courier New" panose="02070309020205020404" pitchFamily="49" charset="0"/>
              </a:rPr>
              <a:t>();</a:t>
            </a: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if (sup != </a:t>
            </a:r>
            <a:r>
              <a:rPr lang="en-CA" sz="1800" dirty="0" err="1">
                <a:latin typeface="Courier New" panose="02070309020205020404" pitchFamily="49" charset="0"/>
                <a:cs typeface="Courier New" panose="02070309020205020404" pitchFamily="49" charset="0"/>
              </a:rPr>
              <a:t>nullptr</a:t>
            </a:r>
            <a:r>
              <a:rPr lang="en-CA" sz="180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ev.visit</a:t>
            </a:r>
            <a:r>
              <a:rPr lang="en-CA" sz="1800" dirty="0">
                <a:latin typeface="Courier New" panose="02070309020205020404" pitchFamily="49" charset="0"/>
                <a:cs typeface="Courier New" panose="02070309020205020404" pitchFamily="49" charset="0"/>
              </a:rPr>
              <a:t>(*sup);</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sup-</a:t>
            </a:r>
            <a:r>
              <a:rPr lang="en-CA" sz="1800" dirty="0">
                <a:latin typeface="Courier New" panose="02070309020205020404" pitchFamily="49" charset="0"/>
                <a:cs typeface="Courier New" panose="02070309020205020404" pitchFamily="49" charset="0"/>
              </a:rPr>
              <a:t>&gt;destroy();</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a:latin typeface="Courier New" panose="02070309020205020404" pitchFamily="49" charset="0"/>
                <a:cs typeface="Courier New" panose="02070309020205020404" pitchFamily="49" charset="0"/>
              </a:rPr>
              <a:t>}</a:t>
            </a:r>
          </a:p>
          <a:p>
            <a:pPr>
              <a:spcBef>
                <a:spcPts val="0"/>
              </a:spcBef>
              <a:spcAft>
                <a:spcPts val="0"/>
              </a:spcAft>
            </a:pPr>
            <a:endParaRPr lang="en-CA" sz="1800"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39</a:t>
            </a:fld>
            <a:endParaRPr lang="en-CA" dirty="0"/>
          </a:p>
        </p:txBody>
      </p:sp>
      <p:sp>
        <p:nvSpPr>
          <p:cNvPr id="6" name="Content Placeholder 4"/>
          <p:cNvSpPr txBox="1">
            <a:spLocks/>
          </p:cNvSpPr>
          <p:nvPr/>
        </p:nvSpPr>
        <p:spPr>
          <a:xfrm>
            <a:off x="5829300" y="4140200"/>
            <a:ext cx="5384800" cy="2624838"/>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a:spcBef>
                <a:spcPts val="0"/>
              </a:spcBef>
              <a:spcAft>
                <a:spcPts val="0"/>
              </a:spcAft>
            </a:pPr>
            <a:r>
              <a:rPr lang="en-CA" dirty="0" smtClean="0"/>
              <a:t>Simple example to traverse the entire file system</a:t>
            </a:r>
          </a:p>
          <a:p>
            <a:pPr>
              <a:spcBef>
                <a:spcPts val="0"/>
              </a:spcBef>
              <a:spcAft>
                <a:spcPts val="0"/>
              </a:spcAft>
            </a:pPr>
            <a:r>
              <a:rPr lang="en-CA" dirty="0" smtClean="0"/>
              <a:t>No file-system specific code required (except for bootstrap)</a:t>
            </a:r>
            <a:endParaRPr lang="en-CA" dirty="0"/>
          </a:p>
        </p:txBody>
      </p:sp>
    </p:spTree>
    <p:extLst>
      <p:ext uri="{BB962C8B-B14F-4D97-AF65-F5344CB8AC3E}">
        <p14:creationId xmlns:p14="http://schemas.microsoft.com/office/powerpoint/2010/main" val="3870164178"/>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File-System Agnostic Traversal</a:t>
            </a:r>
            <a:endParaRPr lang="en-CA" dirty="0"/>
          </a:p>
        </p:txBody>
      </p:sp>
      <p:sp>
        <p:nvSpPr>
          <p:cNvPr id="3" name="Content Placeholder 2"/>
          <p:cNvSpPr>
            <a:spLocks noGrp="1"/>
          </p:cNvSpPr>
          <p:nvPr>
            <p:ph sz="half" idx="1"/>
          </p:nvPr>
        </p:nvSpPr>
        <p:spPr>
          <a:xfrm>
            <a:off x="684211" y="1515361"/>
            <a:ext cx="5145089" cy="4656839"/>
          </a:xfrm>
        </p:spPr>
        <p:txBody>
          <a:bodyPr>
            <a:noAutofit/>
          </a:bodyPr>
          <a:lstStyle/>
          <a:p>
            <a:pPr marL="0" indent="0">
              <a:spcBef>
                <a:spcPts val="0"/>
              </a:spcBef>
              <a:spcAft>
                <a:spcPts val="0"/>
              </a:spcAft>
              <a:buNone/>
            </a:pPr>
            <a:r>
              <a:rPr lang="en-CA" sz="1800" b="1" dirty="0" err="1">
                <a:latin typeface="Courier New" panose="02070309020205020404" pitchFamily="49" charset="0"/>
                <a:cs typeface="Courier New" panose="02070309020205020404" pitchFamily="49" charset="0"/>
              </a:rPr>
              <a:t>EntVisitor</a:t>
            </a:r>
            <a:r>
              <a:rPr lang="en-CA" sz="1800" b="1" dirty="0">
                <a:latin typeface="Courier New" panose="02070309020205020404" pitchFamily="49" charset="0"/>
                <a:cs typeface="Courier New" panose="02070309020205020404" pitchFamily="49" charset="0"/>
              </a:rPr>
              <a:t> </a:t>
            </a:r>
            <a:r>
              <a:rPr lang="en-CA" sz="1800" b="1" dirty="0" err="1">
                <a:latin typeface="Courier New" panose="02070309020205020404" pitchFamily="49" charset="0"/>
                <a:cs typeface="Courier New" panose="02070309020205020404" pitchFamily="49" charset="0"/>
              </a:rPr>
              <a:t>ev</a:t>
            </a:r>
            <a:r>
              <a:rPr lang="en-CA" sz="1800" b="1"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b="1" dirty="0" err="1">
                <a:latin typeface="Courier New" panose="02070309020205020404" pitchFamily="49" charset="0"/>
                <a:cs typeface="Courier New" panose="02070309020205020404" pitchFamily="49" charset="0"/>
              </a:rPr>
              <a:t>PtrVisitor</a:t>
            </a:r>
            <a:r>
              <a:rPr lang="en-CA" sz="1800" b="1" dirty="0">
                <a:latin typeface="Courier New" panose="02070309020205020404" pitchFamily="49" charset="0"/>
                <a:cs typeface="Courier New" panose="02070309020205020404" pitchFamily="49" charset="0"/>
              </a:rPr>
              <a:t> </a:t>
            </a:r>
            <a:r>
              <a:rPr lang="en-CA" sz="1800" b="1" dirty="0" err="1">
                <a:latin typeface="Courier New" panose="02070309020205020404" pitchFamily="49" charset="0"/>
                <a:cs typeface="Courier New" panose="02070309020205020404" pitchFamily="49" charset="0"/>
              </a:rPr>
              <a:t>pv</a:t>
            </a:r>
            <a:r>
              <a:rPr lang="en-CA" sz="1800" b="1" dirty="0" smtClean="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err="1">
                <a:latin typeface="Courier New" panose="02070309020205020404" pitchFamily="49" charset="0"/>
                <a:cs typeface="Courier New" panose="02070309020205020404" pitchFamily="49" charset="0"/>
              </a:rPr>
              <a:t>int</a:t>
            </a:r>
            <a:r>
              <a:rPr lang="en-CA" sz="1800" dirty="0">
                <a:latin typeface="Courier New" panose="02070309020205020404" pitchFamily="49" charset="0"/>
                <a:cs typeface="Courier New" panose="02070309020205020404" pitchFamily="49" charset="0"/>
              </a:rPr>
              <a:t> </a:t>
            </a:r>
            <a:r>
              <a:rPr lang="en-CA" sz="1800" dirty="0" err="1">
                <a:latin typeface="Courier New" panose="02070309020205020404" pitchFamily="49" charset="0"/>
                <a:cs typeface="Courier New" panose="02070309020205020404" pitchFamily="49" charset="0"/>
              </a:rPr>
              <a:t>PtrVisitor</a:t>
            </a:r>
            <a:r>
              <a:rPr lang="en-CA" sz="1800" dirty="0">
                <a:latin typeface="Courier New" panose="02070309020205020404" pitchFamily="49" charset="0"/>
                <a:cs typeface="Courier New" panose="02070309020205020404" pitchFamily="49" charset="0"/>
              </a:rPr>
              <a:t>::visit(Entity &amp; e) </a:t>
            </a: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Container </a:t>
            </a:r>
            <a:r>
              <a:rPr lang="en-CA" sz="1800" dirty="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tmp</a:t>
            </a: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tmp</a:t>
            </a:r>
            <a:r>
              <a:rPr lang="en-CA" sz="1800" dirty="0" smtClean="0">
                <a:latin typeface="Courier New" panose="02070309020205020404" pitchFamily="49" charset="0"/>
                <a:cs typeface="Courier New" panose="02070309020205020404" pitchFamily="49" charset="0"/>
              </a:rPr>
              <a:t> </a:t>
            </a:r>
            <a:r>
              <a:rPr lang="en-CA" sz="1800" dirty="0">
                <a:latin typeface="Courier New" panose="02070309020205020404" pitchFamily="49" charset="0"/>
                <a:cs typeface="Courier New" panose="02070309020205020404" pitchFamily="49" charset="0"/>
              </a:rPr>
              <a:t>= ((Pointer &amp;)e).fetch();</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if </a:t>
            </a:r>
            <a:r>
              <a:rPr lang="en-CA" sz="1800" dirty="0">
                <a:latin typeface="Courier New" panose="02070309020205020404" pitchFamily="49" charset="0"/>
                <a:cs typeface="Courier New" panose="02070309020205020404" pitchFamily="49" charset="0"/>
              </a:rPr>
              <a:t>(</a:t>
            </a:r>
            <a:r>
              <a:rPr lang="en-CA" sz="1800" dirty="0" err="1">
                <a:latin typeface="Courier New" panose="02070309020205020404" pitchFamily="49" charset="0"/>
                <a:cs typeface="Courier New" panose="02070309020205020404" pitchFamily="49" charset="0"/>
              </a:rPr>
              <a:t>tmp</a:t>
            </a:r>
            <a:r>
              <a:rPr lang="en-CA" sz="1800" dirty="0">
                <a:latin typeface="Courier New" panose="02070309020205020404" pitchFamily="49" charset="0"/>
                <a:cs typeface="Courier New" panose="02070309020205020404" pitchFamily="49" charset="0"/>
              </a:rPr>
              <a:t> != </a:t>
            </a:r>
            <a:r>
              <a:rPr lang="en-CA" sz="1800" dirty="0" err="1">
                <a:latin typeface="Courier New" panose="02070309020205020404" pitchFamily="49" charset="0"/>
                <a:cs typeface="Courier New" panose="02070309020205020404" pitchFamily="49" charset="0"/>
              </a:rPr>
              <a:t>nullptr</a:t>
            </a:r>
            <a:r>
              <a:rPr lang="en-CA" sz="180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ev.visit</a:t>
            </a:r>
            <a:r>
              <a:rPr lang="en-CA" sz="1800" dirty="0">
                <a:latin typeface="Courier New" panose="02070309020205020404" pitchFamily="49" charset="0"/>
                <a:cs typeface="Courier New" panose="02070309020205020404" pitchFamily="49" charset="0"/>
              </a:rPr>
              <a:t>(*</a:t>
            </a:r>
            <a:r>
              <a:rPr lang="en-CA" sz="1800" dirty="0" err="1">
                <a:latin typeface="Courier New" panose="02070309020205020404" pitchFamily="49" charset="0"/>
                <a:cs typeface="Courier New" panose="02070309020205020404" pitchFamily="49" charset="0"/>
              </a:rPr>
              <a:t>tmp</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tmp</a:t>
            </a:r>
            <a:r>
              <a:rPr lang="en-CA" sz="1800" dirty="0" smtClean="0">
                <a:latin typeface="Courier New" panose="02070309020205020404" pitchFamily="49" charset="0"/>
                <a:cs typeface="Courier New" panose="02070309020205020404" pitchFamily="49" charset="0"/>
              </a:rPr>
              <a:t>-</a:t>
            </a:r>
            <a:r>
              <a:rPr lang="en-CA" sz="1800" dirty="0">
                <a:latin typeface="Courier New" panose="02070309020205020404" pitchFamily="49" charset="0"/>
                <a:cs typeface="Courier New" panose="02070309020205020404" pitchFamily="49" charset="0"/>
              </a:rPr>
              <a:t>&gt;destroy();</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return </a:t>
            </a:r>
            <a:r>
              <a:rPr lang="en-CA" sz="1800" dirty="0">
                <a:latin typeface="Courier New" panose="02070309020205020404" pitchFamily="49" charset="0"/>
                <a:cs typeface="Courier New" panose="02070309020205020404" pitchFamily="49" charset="0"/>
              </a:rPr>
              <a:t>0;</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err="1">
                <a:latin typeface="Courier New" panose="02070309020205020404" pitchFamily="49" charset="0"/>
                <a:cs typeface="Courier New" panose="02070309020205020404" pitchFamily="49" charset="0"/>
              </a:rPr>
              <a:t>int</a:t>
            </a:r>
            <a:r>
              <a:rPr lang="en-CA" sz="1800" dirty="0">
                <a:latin typeface="Courier New" panose="02070309020205020404" pitchFamily="49" charset="0"/>
                <a:cs typeface="Courier New" panose="02070309020205020404" pitchFamily="49" charset="0"/>
              </a:rPr>
              <a:t> </a:t>
            </a:r>
            <a:r>
              <a:rPr lang="en-CA" sz="1800" dirty="0" err="1">
                <a:latin typeface="Courier New" panose="02070309020205020404" pitchFamily="49" charset="0"/>
                <a:cs typeface="Courier New" panose="02070309020205020404" pitchFamily="49" charset="0"/>
              </a:rPr>
              <a:t>EntVisitor</a:t>
            </a:r>
            <a:r>
              <a:rPr lang="en-CA" sz="1800" dirty="0">
                <a:latin typeface="Courier New" panose="02070309020205020404" pitchFamily="49" charset="0"/>
                <a:cs typeface="Courier New" panose="02070309020205020404" pitchFamily="49" charset="0"/>
              </a:rPr>
              <a:t>::visit(Entity &amp; e)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cout</a:t>
            </a:r>
            <a:r>
              <a:rPr lang="en-CA" sz="1800" dirty="0" smtClean="0">
                <a:latin typeface="Courier New" panose="02070309020205020404" pitchFamily="49" charset="0"/>
                <a:cs typeface="Courier New" panose="02070309020205020404" pitchFamily="49" charset="0"/>
              </a:rPr>
              <a:t> </a:t>
            </a:r>
            <a:r>
              <a:rPr lang="en-CA" sz="1800" dirty="0">
                <a:latin typeface="Courier New" panose="02070309020205020404" pitchFamily="49" charset="0"/>
                <a:cs typeface="Courier New" panose="02070309020205020404" pitchFamily="49" charset="0"/>
              </a:rPr>
              <a:t>&lt;&lt; </a:t>
            </a:r>
            <a:r>
              <a:rPr lang="en-CA" sz="1800" dirty="0" err="1">
                <a:latin typeface="Courier New" panose="02070309020205020404" pitchFamily="49" charset="0"/>
                <a:cs typeface="Courier New" panose="02070309020205020404" pitchFamily="49" charset="0"/>
              </a:rPr>
              <a:t>e.get_name</a:t>
            </a:r>
            <a:r>
              <a:rPr lang="en-CA" sz="1800" dirty="0">
                <a:latin typeface="Courier New" panose="02070309020205020404" pitchFamily="49" charset="0"/>
                <a:cs typeface="Courier New" panose="02070309020205020404" pitchFamily="49" charset="0"/>
              </a:rPr>
              <a:t>() &lt;&lt; </a:t>
            </a:r>
            <a:r>
              <a:rPr lang="en-CA" sz="1800" dirty="0" err="1">
                <a:latin typeface="Courier New" panose="02070309020205020404" pitchFamily="49" charset="0"/>
                <a:cs typeface="Courier New" panose="02070309020205020404" pitchFamily="49" charset="0"/>
              </a:rPr>
              <a:t>endl</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return </a:t>
            </a:r>
            <a:r>
              <a:rPr lang="en-CA" sz="1800" dirty="0" err="1">
                <a:latin typeface="Courier New" panose="02070309020205020404" pitchFamily="49" charset="0"/>
                <a:cs typeface="Courier New" panose="02070309020205020404" pitchFamily="49" charset="0"/>
              </a:rPr>
              <a:t>e.process_pointers</a:t>
            </a:r>
            <a:r>
              <a:rPr lang="en-CA" sz="1800" dirty="0">
                <a:latin typeface="Courier New" panose="02070309020205020404" pitchFamily="49" charset="0"/>
                <a:cs typeface="Courier New" panose="02070309020205020404" pitchFamily="49" charset="0"/>
              </a:rPr>
              <a:t>(</a:t>
            </a:r>
            <a:r>
              <a:rPr lang="en-CA" sz="1800" dirty="0" err="1">
                <a:latin typeface="Courier New" panose="02070309020205020404" pitchFamily="49" charset="0"/>
                <a:cs typeface="Courier New" panose="02070309020205020404" pitchFamily="49" charset="0"/>
              </a:rPr>
              <a:t>pv</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a:t>
            </a:r>
            <a:endParaRPr lang="en-CA" sz="1800" dirty="0">
              <a:latin typeface="Courier New" panose="02070309020205020404" pitchFamily="49" charset="0"/>
              <a:cs typeface="Courier New" panose="02070309020205020404" pitchFamily="49" charset="0"/>
            </a:endParaRPr>
          </a:p>
        </p:txBody>
      </p:sp>
      <p:sp>
        <p:nvSpPr>
          <p:cNvPr id="5" name="Content Placeholder 4"/>
          <p:cNvSpPr>
            <a:spLocks noGrp="1"/>
          </p:cNvSpPr>
          <p:nvPr>
            <p:ph sz="half" idx="2"/>
          </p:nvPr>
        </p:nvSpPr>
        <p:spPr>
          <a:xfrm>
            <a:off x="5829300" y="1515362"/>
            <a:ext cx="5384800" cy="2624838"/>
          </a:xfrm>
        </p:spPr>
        <p:txBody>
          <a:bodyPr>
            <a:noAutofit/>
          </a:bodyPr>
          <a:lstStyle/>
          <a:p>
            <a:pPr marL="0" indent="0">
              <a:spcBef>
                <a:spcPts val="0"/>
              </a:spcBef>
              <a:spcAft>
                <a:spcPts val="0"/>
              </a:spcAft>
              <a:buNone/>
            </a:pPr>
            <a:r>
              <a:rPr lang="en-CA" sz="1800" dirty="0">
                <a:latin typeface="Courier New" panose="02070309020205020404" pitchFamily="49" charset="0"/>
                <a:cs typeface="Courier New" panose="02070309020205020404" pitchFamily="49" charset="0"/>
              </a:rPr>
              <a:t>void main(void)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Ext4IO </a:t>
            </a:r>
            <a:r>
              <a:rPr lang="en-CA" sz="1800" dirty="0" err="1">
                <a:latin typeface="Courier New" panose="02070309020205020404" pitchFamily="49" charset="0"/>
                <a:cs typeface="Courier New" panose="02070309020205020404" pitchFamily="49" charset="0"/>
              </a:rPr>
              <a:t>io</a:t>
            </a:r>
            <a:r>
              <a:rPr lang="en-CA" sz="1800" dirty="0">
                <a:latin typeface="Courier New" panose="02070309020205020404" pitchFamily="49" charset="0"/>
                <a:cs typeface="Courier New" panose="02070309020205020404" pitchFamily="49" charset="0"/>
              </a:rPr>
              <a:t>("/dev/sdb1");</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Ext4 </a:t>
            </a:r>
            <a:r>
              <a:rPr lang="en-CA" sz="1800" dirty="0">
                <a:latin typeface="Courier New" panose="02070309020205020404" pitchFamily="49" charset="0"/>
                <a:cs typeface="Courier New" panose="02070309020205020404" pitchFamily="49" charset="0"/>
              </a:rPr>
              <a:t>fs(</a:t>
            </a:r>
            <a:r>
              <a:rPr lang="en-CA" sz="1800" dirty="0" err="1">
                <a:latin typeface="Courier New" panose="02070309020205020404" pitchFamily="49" charset="0"/>
                <a:cs typeface="Courier New" panose="02070309020205020404" pitchFamily="49" charset="0"/>
              </a:rPr>
              <a:t>io</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b="1" dirty="0" smtClean="0">
                <a:latin typeface="Courier New" panose="02070309020205020404" pitchFamily="49" charset="0"/>
                <a:cs typeface="Courier New" panose="02070309020205020404" pitchFamily="49" charset="0"/>
              </a:rPr>
              <a:t>Container </a:t>
            </a:r>
            <a:r>
              <a:rPr lang="en-CA" sz="1800" b="1" dirty="0">
                <a:latin typeface="Courier New" panose="02070309020205020404" pitchFamily="49" charset="0"/>
                <a:cs typeface="Courier New" panose="02070309020205020404" pitchFamily="49" charset="0"/>
              </a:rPr>
              <a:t>* </a:t>
            </a:r>
            <a:r>
              <a:rPr lang="en-CA" sz="1800" b="1" dirty="0" smtClean="0">
                <a:latin typeface="Courier New" panose="02070309020205020404" pitchFamily="49" charset="0"/>
                <a:cs typeface="Courier New" panose="02070309020205020404" pitchFamily="49" charset="0"/>
              </a:rPr>
              <a:t>sup = </a:t>
            </a:r>
            <a:r>
              <a:rPr lang="en-CA" sz="1800" b="1" dirty="0" err="1" smtClean="0">
                <a:latin typeface="Courier New" panose="02070309020205020404" pitchFamily="49" charset="0"/>
                <a:cs typeface="Courier New" panose="02070309020205020404" pitchFamily="49" charset="0"/>
              </a:rPr>
              <a:t>fs.fetch_super</a:t>
            </a:r>
            <a:r>
              <a:rPr lang="en-CA" sz="1800" b="1" dirty="0" smtClean="0">
                <a:latin typeface="Courier New" panose="02070309020205020404" pitchFamily="49" charset="0"/>
                <a:cs typeface="Courier New" panose="02070309020205020404" pitchFamily="49" charset="0"/>
              </a:rPr>
              <a:t>();</a:t>
            </a:r>
            <a:endParaRPr lang="en-CA" sz="1800" b="1"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if (sup != </a:t>
            </a:r>
            <a:r>
              <a:rPr lang="en-CA" sz="1800" dirty="0" err="1">
                <a:latin typeface="Courier New" panose="02070309020205020404" pitchFamily="49" charset="0"/>
                <a:cs typeface="Courier New" panose="02070309020205020404" pitchFamily="49" charset="0"/>
              </a:rPr>
              <a:t>nullptr</a:t>
            </a:r>
            <a:r>
              <a:rPr lang="en-CA" sz="180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b="1" dirty="0" err="1" smtClean="0">
                <a:latin typeface="Courier New" panose="02070309020205020404" pitchFamily="49" charset="0"/>
                <a:cs typeface="Courier New" panose="02070309020205020404" pitchFamily="49" charset="0"/>
              </a:rPr>
              <a:t>ev.visit</a:t>
            </a:r>
            <a:r>
              <a:rPr lang="en-CA" sz="1800" b="1" dirty="0">
                <a:latin typeface="Courier New" panose="02070309020205020404" pitchFamily="49" charset="0"/>
                <a:cs typeface="Courier New" panose="02070309020205020404" pitchFamily="49" charset="0"/>
              </a:rPr>
              <a:t>(*sup);</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sup-</a:t>
            </a:r>
            <a:r>
              <a:rPr lang="en-CA" sz="1800" dirty="0">
                <a:latin typeface="Courier New" panose="02070309020205020404" pitchFamily="49" charset="0"/>
                <a:cs typeface="Courier New" panose="02070309020205020404" pitchFamily="49" charset="0"/>
              </a:rPr>
              <a:t>&gt;destroy();</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a:latin typeface="Courier New" panose="02070309020205020404" pitchFamily="49" charset="0"/>
                <a:cs typeface="Courier New" panose="02070309020205020404" pitchFamily="49" charset="0"/>
              </a:rPr>
              <a:t>}</a:t>
            </a:r>
          </a:p>
          <a:p>
            <a:pPr>
              <a:spcBef>
                <a:spcPts val="0"/>
              </a:spcBef>
              <a:spcAft>
                <a:spcPts val="0"/>
              </a:spcAft>
            </a:pPr>
            <a:endParaRPr lang="en-CA" sz="1800"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40</a:t>
            </a:fld>
            <a:endParaRPr lang="en-CA" dirty="0"/>
          </a:p>
        </p:txBody>
      </p:sp>
      <p:sp>
        <p:nvSpPr>
          <p:cNvPr id="6" name="Content Placeholder 4"/>
          <p:cNvSpPr txBox="1">
            <a:spLocks/>
          </p:cNvSpPr>
          <p:nvPr/>
        </p:nvSpPr>
        <p:spPr>
          <a:xfrm>
            <a:off x="5829300" y="4140200"/>
            <a:ext cx="5384800" cy="1803400"/>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a:spcBef>
                <a:spcPts val="0"/>
              </a:spcBef>
              <a:spcAft>
                <a:spcPts val="0"/>
              </a:spcAft>
            </a:pPr>
            <a:r>
              <a:rPr lang="en-CA" dirty="0" smtClean="0"/>
              <a:t>Traversal begins from super block</a:t>
            </a:r>
          </a:p>
          <a:p>
            <a:pPr>
              <a:spcBef>
                <a:spcPts val="0"/>
              </a:spcBef>
              <a:spcAft>
                <a:spcPts val="0"/>
              </a:spcAft>
            </a:pPr>
            <a:r>
              <a:rPr lang="en-CA" dirty="0" smtClean="0"/>
              <a:t>Uses two mutually recursive visitors to traverse the whole file system</a:t>
            </a:r>
          </a:p>
        </p:txBody>
      </p:sp>
    </p:spTree>
    <p:extLst>
      <p:ext uri="{BB962C8B-B14F-4D97-AF65-F5344CB8AC3E}">
        <p14:creationId xmlns:p14="http://schemas.microsoft.com/office/powerpoint/2010/main" val="882570614"/>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File-System Agnostic Traversal</a:t>
            </a:r>
            <a:endParaRPr lang="en-CA" dirty="0"/>
          </a:p>
        </p:txBody>
      </p:sp>
      <p:sp>
        <p:nvSpPr>
          <p:cNvPr id="3" name="Content Placeholder 2"/>
          <p:cNvSpPr>
            <a:spLocks noGrp="1"/>
          </p:cNvSpPr>
          <p:nvPr>
            <p:ph sz="half" idx="1"/>
          </p:nvPr>
        </p:nvSpPr>
        <p:spPr>
          <a:xfrm>
            <a:off x="684211" y="1515361"/>
            <a:ext cx="5145089" cy="4656839"/>
          </a:xfrm>
        </p:spPr>
        <p:txBody>
          <a:bodyPr>
            <a:noAutofit/>
          </a:bodyPr>
          <a:lstStyle/>
          <a:p>
            <a:pPr marL="0" indent="0">
              <a:spcBef>
                <a:spcPts val="0"/>
              </a:spcBef>
              <a:spcAft>
                <a:spcPts val="0"/>
              </a:spcAft>
              <a:buNone/>
            </a:pPr>
            <a:r>
              <a:rPr lang="en-CA" sz="1800" dirty="0" err="1">
                <a:latin typeface="Courier New" panose="02070309020205020404" pitchFamily="49" charset="0"/>
                <a:cs typeface="Courier New" panose="02070309020205020404" pitchFamily="49" charset="0"/>
              </a:rPr>
              <a:t>EntVisitor</a:t>
            </a:r>
            <a:r>
              <a:rPr lang="en-CA" sz="1800" dirty="0">
                <a:latin typeface="Courier New" panose="02070309020205020404" pitchFamily="49" charset="0"/>
                <a:cs typeface="Courier New" panose="02070309020205020404" pitchFamily="49" charset="0"/>
              </a:rPr>
              <a:t> </a:t>
            </a:r>
            <a:r>
              <a:rPr lang="en-CA" sz="1800" dirty="0" err="1">
                <a:latin typeface="Courier New" panose="02070309020205020404" pitchFamily="49" charset="0"/>
                <a:cs typeface="Courier New" panose="02070309020205020404" pitchFamily="49" charset="0"/>
              </a:rPr>
              <a:t>ev</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err="1">
                <a:latin typeface="Courier New" panose="02070309020205020404" pitchFamily="49" charset="0"/>
                <a:cs typeface="Courier New" panose="02070309020205020404" pitchFamily="49" charset="0"/>
              </a:rPr>
              <a:t>PtrVisitor</a:t>
            </a:r>
            <a:r>
              <a:rPr lang="en-CA" sz="1800" dirty="0">
                <a:latin typeface="Courier New" panose="02070309020205020404" pitchFamily="49" charset="0"/>
                <a:cs typeface="Courier New" panose="02070309020205020404" pitchFamily="49" charset="0"/>
              </a:rPr>
              <a:t> </a:t>
            </a:r>
            <a:r>
              <a:rPr lang="en-CA" sz="1800" dirty="0" err="1">
                <a:latin typeface="Courier New" panose="02070309020205020404" pitchFamily="49" charset="0"/>
                <a:cs typeface="Courier New" panose="02070309020205020404" pitchFamily="49" charset="0"/>
              </a:rPr>
              <a:t>pv</a:t>
            </a: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err="1">
                <a:latin typeface="Courier New" panose="02070309020205020404" pitchFamily="49" charset="0"/>
                <a:cs typeface="Courier New" panose="02070309020205020404" pitchFamily="49" charset="0"/>
              </a:rPr>
              <a:t>int</a:t>
            </a:r>
            <a:r>
              <a:rPr lang="en-CA" sz="1800" dirty="0">
                <a:latin typeface="Courier New" panose="02070309020205020404" pitchFamily="49" charset="0"/>
                <a:cs typeface="Courier New" panose="02070309020205020404" pitchFamily="49" charset="0"/>
              </a:rPr>
              <a:t> </a:t>
            </a:r>
            <a:r>
              <a:rPr lang="en-CA" sz="1800" dirty="0" err="1">
                <a:latin typeface="Courier New" panose="02070309020205020404" pitchFamily="49" charset="0"/>
                <a:cs typeface="Courier New" panose="02070309020205020404" pitchFamily="49" charset="0"/>
              </a:rPr>
              <a:t>PtrVisitor</a:t>
            </a:r>
            <a:r>
              <a:rPr lang="en-CA" sz="1800" dirty="0">
                <a:latin typeface="Courier New" panose="02070309020205020404" pitchFamily="49" charset="0"/>
                <a:cs typeface="Courier New" panose="02070309020205020404" pitchFamily="49" charset="0"/>
              </a:rPr>
              <a:t>::visit(Entity &amp; e) </a:t>
            </a: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Container </a:t>
            </a:r>
            <a:r>
              <a:rPr lang="en-CA" sz="1800" dirty="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tmp</a:t>
            </a: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tmp</a:t>
            </a:r>
            <a:r>
              <a:rPr lang="en-CA" sz="1800" dirty="0" smtClean="0">
                <a:latin typeface="Courier New" panose="02070309020205020404" pitchFamily="49" charset="0"/>
                <a:cs typeface="Courier New" panose="02070309020205020404" pitchFamily="49" charset="0"/>
              </a:rPr>
              <a:t> </a:t>
            </a:r>
            <a:r>
              <a:rPr lang="en-CA" sz="1800" dirty="0">
                <a:latin typeface="Courier New" panose="02070309020205020404" pitchFamily="49" charset="0"/>
                <a:cs typeface="Courier New" panose="02070309020205020404" pitchFamily="49" charset="0"/>
              </a:rPr>
              <a:t>= ((Pointer &amp;)e).fetch();</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if </a:t>
            </a:r>
            <a:r>
              <a:rPr lang="en-CA" sz="1800" dirty="0">
                <a:latin typeface="Courier New" panose="02070309020205020404" pitchFamily="49" charset="0"/>
                <a:cs typeface="Courier New" panose="02070309020205020404" pitchFamily="49" charset="0"/>
              </a:rPr>
              <a:t>(</a:t>
            </a:r>
            <a:r>
              <a:rPr lang="en-CA" sz="1800" dirty="0" err="1">
                <a:latin typeface="Courier New" panose="02070309020205020404" pitchFamily="49" charset="0"/>
                <a:cs typeface="Courier New" panose="02070309020205020404" pitchFamily="49" charset="0"/>
              </a:rPr>
              <a:t>tmp</a:t>
            </a:r>
            <a:r>
              <a:rPr lang="en-CA" sz="1800" dirty="0">
                <a:latin typeface="Courier New" panose="02070309020205020404" pitchFamily="49" charset="0"/>
                <a:cs typeface="Courier New" panose="02070309020205020404" pitchFamily="49" charset="0"/>
              </a:rPr>
              <a:t> != </a:t>
            </a:r>
            <a:r>
              <a:rPr lang="en-CA" sz="1800" dirty="0" err="1">
                <a:latin typeface="Courier New" panose="02070309020205020404" pitchFamily="49" charset="0"/>
                <a:cs typeface="Courier New" panose="02070309020205020404" pitchFamily="49" charset="0"/>
              </a:rPr>
              <a:t>nullptr</a:t>
            </a:r>
            <a:r>
              <a:rPr lang="en-CA" sz="180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ev.visit</a:t>
            </a:r>
            <a:r>
              <a:rPr lang="en-CA" sz="1800" dirty="0">
                <a:latin typeface="Courier New" panose="02070309020205020404" pitchFamily="49" charset="0"/>
                <a:cs typeface="Courier New" panose="02070309020205020404" pitchFamily="49" charset="0"/>
              </a:rPr>
              <a:t>(*</a:t>
            </a:r>
            <a:r>
              <a:rPr lang="en-CA" sz="1800" dirty="0" err="1">
                <a:latin typeface="Courier New" panose="02070309020205020404" pitchFamily="49" charset="0"/>
                <a:cs typeface="Courier New" panose="02070309020205020404" pitchFamily="49" charset="0"/>
              </a:rPr>
              <a:t>tmp</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tmp</a:t>
            </a:r>
            <a:r>
              <a:rPr lang="en-CA" sz="1800" dirty="0" smtClean="0">
                <a:latin typeface="Courier New" panose="02070309020205020404" pitchFamily="49" charset="0"/>
                <a:cs typeface="Courier New" panose="02070309020205020404" pitchFamily="49" charset="0"/>
              </a:rPr>
              <a:t>-</a:t>
            </a:r>
            <a:r>
              <a:rPr lang="en-CA" sz="1800" dirty="0">
                <a:latin typeface="Courier New" panose="02070309020205020404" pitchFamily="49" charset="0"/>
                <a:cs typeface="Courier New" panose="02070309020205020404" pitchFamily="49" charset="0"/>
              </a:rPr>
              <a:t>&gt;destroy();</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return </a:t>
            </a:r>
            <a:r>
              <a:rPr lang="en-CA" sz="1800" dirty="0">
                <a:latin typeface="Courier New" panose="02070309020205020404" pitchFamily="49" charset="0"/>
                <a:cs typeface="Courier New" panose="02070309020205020404" pitchFamily="49" charset="0"/>
              </a:rPr>
              <a:t>0;</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b="1" dirty="0" err="1">
                <a:latin typeface="Courier New" panose="02070309020205020404" pitchFamily="49" charset="0"/>
                <a:cs typeface="Courier New" panose="02070309020205020404" pitchFamily="49" charset="0"/>
              </a:rPr>
              <a:t>int</a:t>
            </a:r>
            <a:r>
              <a:rPr lang="en-CA" sz="1800" b="1" dirty="0">
                <a:latin typeface="Courier New" panose="02070309020205020404" pitchFamily="49" charset="0"/>
                <a:cs typeface="Courier New" panose="02070309020205020404" pitchFamily="49" charset="0"/>
              </a:rPr>
              <a:t> </a:t>
            </a:r>
            <a:r>
              <a:rPr lang="en-CA" sz="1800" b="1" dirty="0" err="1">
                <a:latin typeface="Courier New" panose="02070309020205020404" pitchFamily="49" charset="0"/>
                <a:cs typeface="Courier New" panose="02070309020205020404" pitchFamily="49" charset="0"/>
              </a:rPr>
              <a:t>EntVisitor</a:t>
            </a:r>
            <a:r>
              <a:rPr lang="en-CA" sz="1800" b="1" dirty="0">
                <a:latin typeface="Courier New" panose="02070309020205020404" pitchFamily="49" charset="0"/>
                <a:cs typeface="Courier New" panose="02070309020205020404" pitchFamily="49" charset="0"/>
              </a:rPr>
              <a:t>::visit(Entity &amp; e) {</a:t>
            </a:r>
          </a:p>
          <a:p>
            <a:pPr marL="0" indent="0">
              <a:spcBef>
                <a:spcPts val="0"/>
              </a:spcBef>
              <a:spcAft>
                <a:spcPts val="0"/>
              </a:spcAft>
              <a:buNone/>
            </a:pPr>
            <a:r>
              <a:rPr lang="en-CA" sz="1800" b="1" dirty="0" smtClean="0">
                <a:latin typeface="Courier New" panose="02070309020205020404" pitchFamily="49" charset="0"/>
                <a:cs typeface="Courier New" panose="02070309020205020404" pitchFamily="49" charset="0"/>
              </a:rPr>
              <a:t>  </a:t>
            </a:r>
            <a:r>
              <a:rPr lang="en-CA" sz="1800" b="1" dirty="0" err="1" smtClean="0">
                <a:latin typeface="Courier New" panose="02070309020205020404" pitchFamily="49" charset="0"/>
                <a:cs typeface="Courier New" panose="02070309020205020404" pitchFamily="49" charset="0"/>
              </a:rPr>
              <a:t>cout</a:t>
            </a:r>
            <a:r>
              <a:rPr lang="en-CA" sz="1800" b="1" dirty="0" smtClean="0">
                <a:latin typeface="Courier New" panose="02070309020205020404" pitchFamily="49" charset="0"/>
                <a:cs typeface="Courier New" panose="02070309020205020404" pitchFamily="49" charset="0"/>
              </a:rPr>
              <a:t> </a:t>
            </a:r>
            <a:r>
              <a:rPr lang="en-CA" sz="1800" b="1" dirty="0">
                <a:latin typeface="Courier New" panose="02070309020205020404" pitchFamily="49" charset="0"/>
                <a:cs typeface="Courier New" panose="02070309020205020404" pitchFamily="49" charset="0"/>
              </a:rPr>
              <a:t>&lt;&lt; </a:t>
            </a:r>
            <a:r>
              <a:rPr lang="en-CA" sz="1800" b="1" dirty="0" err="1">
                <a:latin typeface="Courier New" panose="02070309020205020404" pitchFamily="49" charset="0"/>
                <a:cs typeface="Courier New" panose="02070309020205020404" pitchFamily="49" charset="0"/>
              </a:rPr>
              <a:t>e.get_name</a:t>
            </a:r>
            <a:r>
              <a:rPr lang="en-CA" sz="1800" b="1" dirty="0">
                <a:latin typeface="Courier New" panose="02070309020205020404" pitchFamily="49" charset="0"/>
                <a:cs typeface="Courier New" panose="02070309020205020404" pitchFamily="49" charset="0"/>
              </a:rPr>
              <a:t>() &lt;&lt; </a:t>
            </a:r>
            <a:r>
              <a:rPr lang="en-CA" sz="1800" b="1" dirty="0" err="1">
                <a:latin typeface="Courier New" panose="02070309020205020404" pitchFamily="49" charset="0"/>
                <a:cs typeface="Courier New" panose="02070309020205020404" pitchFamily="49" charset="0"/>
              </a:rPr>
              <a:t>endl</a:t>
            </a:r>
            <a:r>
              <a:rPr lang="en-CA" sz="1800" b="1"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b="1" dirty="0" smtClean="0">
                <a:latin typeface="Courier New" panose="02070309020205020404" pitchFamily="49" charset="0"/>
                <a:cs typeface="Courier New" panose="02070309020205020404" pitchFamily="49" charset="0"/>
              </a:rPr>
              <a:t>  return </a:t>
            </a:r>
            <a:r>
              <a:rPr lang="en-CA" sz="1800" b="1" dirty="0" err="1">
                <a:latin typeface="Courier New" panose="02070309020205020404" pitchFamily="49" charset="0"/>
                <a:cs typeface="Courier New" panose="02070309020205020404" pitchFamily="49" charset="0"/>
              </a:rPr>
              <a:t>e.process_pointers</a:t>
            </a:r>
            <a:r>
              <a:rPr lang="en-CA" sz="1800" b="1" dirty="0">
                <a:latin typeface="Courier New" panose="02070309020205020404" pitchFamily="49" charset="0"/>
                <a:cs typeface="Courier New" panose="02070309020205020404" pitchFamily="49" charset="0"/>
              </a:rPr>
              <a:t>(</a:t>
            </a:r>
            <a:r>
              <a:rPr lang="en-CA" sz="1800" b="1" dirty="0" err="1">
                <a:latin typeface="Courier New" panose="02070309020205020404" pitchFamily="49" charset="0"/>
                <a:cs typeface="Courier New" panose="02070309020205020404" pitchFamily="49" charset="0"/>
              </a:rPr>
              <a:t>pv</a:t>
            </a:r>
            <a:r>
              <a:rPr lang="en-CA" sz="1800" b="1"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b="1" dirty="0" smtClean="0">
                <a:latin typeface="Courier New" panose="02070309020205020404" pitchFamily="49" charset="0"/>
                <a:cs typeface="Courier New" panose="02070309020205020404" pitchFamily="49" charset="0"/>
              </a:rPr>
              <a:t>}</a:t>
            </a:r>
            <a:endParaRPr lang="en-CA" sz="1800" b="1" dirty="0">
              <a:latin typeface="Courier New" panose="02070309020205020404" pitchFamily="49" charset="0"/>
              <a:cs typeface="Courier New" panose="02070309020205020404" pitchFamily="49" charset="0"/>
            </a:endParaRPr>
          </a:p>
        </p:txBody>
      </p:sp>
      <p:sp>
        <p:nvSpPr>
          <p:cNvPr id="5" name="Content Placeholder 4"/>
          <p:cNvSpPr>
            <a:spLocks noGrp="1"/>
          </p:cNvSpPr>
          <p:nvPr>
            <p:ph sz="half" idx="2"/>
          </p:nvPr>
        </p:nvSpPr>
        <p:spPr>
          <a:xfrm>
            <a:off x="5829300" y="1515362"/>
            <a:ext cx="5384800" cy="2624838"/>
          </a:xfrm>
        </p:spPr>
        <p:txBody>
          <a:bodyPr>
            <a:noAutofit/>
          </a:bodyPr>
          <a:lstStyle/>
          <a:p>
            <a:pPr marL="0" indent="0">
              <a:spcBef>
                <a:spcPts val="0"/>
              </a:spcBef>
              <a:spcAft>
                <a:spcPts val="0"/>
              </a:spcAft>
              <a:buNone/>
            </a:pPr>
            <a:r>
              <a:rPr lang="en-CA" sz="1800" dirty="0">
                <a:latin typeface="Courier New" panose="02070309020205020404" pitchFamily="49" charset="0"/>
                <a:cs typeface="Courier New" panose="02070309020205020404" pitchFamily="49" charset="0"/>
              </a:rPr>
              <a:t>void main(void)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Ext4IO </a:t>
            </a:r>
            <a:r>
              <a:rPr lang="en-CA" sz="1800" dirty="0" err="1">
                <a:latin typeface="Courier New" panose="02070309020205020404" pitchFamily="49" charset="0"/>
                <a:cs typeface="Courier New" panose="02070309020205020404" pitchFamily="49" charset="0"/>
              </a:rPr>
              <a:t>io</a:t>
            </a:r>
            <a:r>
              <a:rPr lang="en-CA" sz="1800" dirty="0">
                <a:latin typeface="Courier New" panose="02070309020205020404" pitchFamily="49" charset="0"/>
                <a:cs typeface="Courier New" panose="02070309020205020404" pitchFamily="49" charset="0"/>
              </a:rPr>
              <a:t>("/dev/sdb1");</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Ext4 </a:t>
            </a:r>
            <a:r>
              <a:rPr lang="en-CA" sz="1800" dirty="0">
                <a:latin typeface="Courier New" panose="02070309020205020404" pitchFamily="49" charset="0"/>
                <a:cs typeface="Courier New" panose="02070309020205020404" pitchFamily="49" charset="0"/>
              </a:rPr>
              <a:t>fs(</a:t>
            </a:r>
            <a:r>
              <a:rPr lang="en-CA" sz="1800" dirty="0" err="1">
                <a:latin typeface="Courier New" panose="02070309020205020404" pitchFamily="49" charset="0"/>
                <a:cs typeface="Courier New" panose="02070309020205020404" pitchFamily="49" charset="0"/>
              </a:rPr>
              <a:t>io</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Container </a:t>
            </a:r>
            <a:r>
              <a:rPr lang="en-CA" sz="1800" dirty="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sup = </a:t>
            </a:r>
            <a:r>
              <a:rPr lang="en-CA" sz="1800" dirty="0" err="1" smtClean="0">
                <a:latin typeface="Courier New" panose="02070309020205020404" pitchFamily="49" charset="0"/>
                <a:cs typeface="Courier New" panose="02070309020205020404" pitchFamily="49" charset="0"/>
              </a:rPr>
              <a:t>fs.fetch_super</a:t>
            </a:r>
            <a:r>
              <a:rPr lang="en-CA" sz="1800" dirty="0" smtClean="0">
                <a:latin typeface="Courier New" panose="02070309020205020404" pitchFamily="49" charset="0"/>
                <a:cs typeface="Courier New" panose="02070309020205020404" pitchFamily="49" charset="0"/>
              </a:rPr>
              <a:t>();</a:t>
            </a: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if (sup != </a:t>
            </a:r>
            <a:r>
              <a:rPr lang="en-CA" sz="1800" dirty="0" err="1">
                <a:latin typeface="Courier New" panose="02070309020205020404" pitchFamily="49" charset="0"/>
                <a:cs typeface="Courier New" panose="02070309020205020404" pitchFamily="49" charset="0"/>
              </a:rPr>
              <a:t>nullptr</a:t>
            </a:r>
            <a:r>
              <a:rPr lang="en-CA" sz="180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ev.visit</a:t>
            </a:r>
            <a:r>
              <a:rPr lang="en-CA" sz="1800" dirty="0">
                <a:latin typeface="Courier New" panose="02070309020205020404" pitchFamily="49" charset="0"/>
                <a:cs typeface="Courier New" panose="02070309020205020404" pitchFamily="49" charset="0"/>
              </a:rPr>
              <a:t>(*sup);</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sup-</a:t>
            </a:r>
            <a:r>
              <a:rPr lang="en-CA" sz="1800" dirty="0">
                <a:latin typeface="Courier New" panose="02070309020205020404" pitchFamily="49" charset="0"/>
                <a:cs typeface="Courier New" panose="02070309020205020404" pitchFamily="49" charset="0"/>
              </a:rPr>
              <a:t>&gt;destroy();</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a:latin typeface="Courier New" panose="02070309020205020404" pitchFamily="49" charset="0"/>
                <a:cs typeface="Courier New" panose="02070309020205020404" pitchFamily="49" charset="0"/>
              </a:rPr>
              <a:t>}</a:t>
            </a:r>
          </a:p>
          <a:p>
            <a:pPr>
              <a:spcBef>
                <a:spcPts val="0"/>
              </a:spcBef>
              <a:spcAft>
                <a:spcPts val="0"/>
              </a:spcAft>
            </a:pPr>
            <a:endParaRPr lang="en-CA" sz="1800"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41</a:t>
            </a:fld>
            <a:endParaRPr lang="en-CA" dirty="0"/>
          </a:p>
        </p:txBody>
      </p:sp>
      <p:sp>
        <p:nvSpPr>
          <p:cNvPr id="6" name="Content Placeholder 4"/>
          <p:cNvSpPr txBox="1">
            <a:spLocks/>
          </p:cNvSpPr>
          <p:nvPr/>
        </p:nvSpPr>
        <p:spPr>
          <a:xfrm>
            <a:off x="5829300" y="4140200"/>
            <a:ext cx="5384800" cy="1803400"/>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a:spcBef>
                <a:spcPts val="0"/>
              </a:spcBef>
              <a:spcAft>
                <a:spcPts val="0"/>
              </a:spcAft>
            </a:pPr>
            <a:r>
              <a:rPr lang="en-CA" dirty="0" err="1" smtClean="0"/>
              <a:t>EntVisitor</a:t>
            </a:r>
            <a:r>
              <a:rPr lang="en-CA" dirty="0" smtClean="0"/>
              <a:t> prints name of entity </a:t>
            </a:r>
            <a:r>
              <a:rPr lang="en-CA" i="1" dirty="0" smtClean="0"/>
              <a:t>e</a:t>
            </a:r>
            <a:r>
              <a:rPr lang="en-CA" dirty="0" smtClean="0"/>
              <a:t>, then calls </a:t>
            </a:r>
            <a:r>
              <a:rPr lang="en-CA" dirty="0" err="1">
                <a:latin typeface="Courier New" panose="02070309020205020404" pitchFamily="49" charset="0"/>
                <a:cs typeface="Courier New" panose="02070309020205020404" pitchFamily="49" charset="0"/>
              </a:rPr>
              <a:t>PtrVisitor</a:t>
            </a:r>
            <a:r>
              <a:rPr lang="en-CA" dirty="0">
                <a:latin typeface="Courier New" panose="02070309020205020404" pitchFamily="49" charset="0"/>
                <a:cs typeface="Courier New" panose="02070309020205020404" pitchFamily="49" charset="0"/>
              </a:rPr>
              <a:t>::</a:t>
            </a:r>
            <a:r>
              <a:rPr lang="en-CA" dirty="0" smtClean="0">
                <a:latin typeface="Courier New" panose="02070309020205020404" pitchFamily="49" charset="0"/>
                <a:cs typeface="Courier New" panose="02070309020205020404" pitchFamily="49" charset="0"/>
              </a:rPr>
              <a:t>visit </a:t>
            </a:r>
            <a:r>
              <a:rPr lang="en-CA" dirty="0" smtClean="0">
                <a:cs typeface="Courier New" panose="02070309020205020404" pitchFamily="49" charset="0"/>
              </a:rPr>
              <a:t>on all pointer fields within entity </a:t>
            </a:r>
            <a:r>
              <a:rPr lang="en-CA" i="1" dirty="0" smtClean="0">
                <a:cs typeface="Courier New" panose="02070309020205020404" pitchFamily="49" charset="0"/>
              </a:rPr>
              <a:t>e</a:t>
            </a:r>
            <a:endParaRPr lang="en-CA" dirty="0" smtClean="0"/>
          </a:p>
        </p:txBody>
      </p:sp>
    </p:spTree>
    <p:extLst>
      <p:ext uri="{BB962C8B-B14F-4D97-AF65-F5344CB8AC3E}">
        <p14:creationId xmlns:p14="http://schemas.microsoft.com/office/powerpoint/2010/main" val="1169653415"/>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File-System Agnostic Traversal</a:t>
            </a:r>
            <a:endParaRPr lang="en-CA" dirty="0"/>
          </a:p>
        </p:txBody>
      </p:sp>
      <p:sp>
        <p:nvSpPr>
          <p:cNvPr id="3" name="Content Placeholder 2"/>
          <p:cNvSpPr>
            <a:spLocks noGrp="1"/>
          </p:cNvSpPr>
          <p:nvPr>
            <p:ph sz="half" idx="1"/>
          </p:nvPr>
        </p:nvSpPr>
        <p:spPr>
          <a:xfrm>
            <a:off x="684211" y="1515361"/>
            <a:ext cx="5145089" cy="4656839"/>
          </a:xfrm>
        </p:spPr>
        <p:txBody>
          <a:bodyPr>
            <a:noAutofit/>
          </a:bodyPr>
          <a:lstStyle/>
          <a:p>
            <a:pPr marL="0" indent="0">
              <a:spcBef>
                <a:spcPts val="0"/>
              </a:spcBef>
              <a:spcAft>
                <a:spcPts val="0"/>
              </a:spcAft>
              <a:buNone/>
            </a:pPr>
            <a:r>
              <a:rPr lang="en-CA" sz="1800" dirty="0" err="1">
                <a:latin typeface="Courier New" panose="02070309020205020404" pitchFamily="49" charset="0"/>
                <a:cs typeface="Courier New" panose="02070309020205020404" pitchFamily="49" charset="0"/>
              </a:rPr>
              <a:t>EntVisitor</a:t>
            </a:r>
            <a:r>
              <a:rPr lang="en-CA" sz="1800" dirty="0">
                <a:latin typeface="Courier New" panose="02070309020205020404" pitchFamily="49" charset="0"/>
                <a:cs typeface="Courier New" panose="02070309020205020404" pitchFamily="49" charset="0"/>
              </a:rPr>
              <a:t> </a:t>
            </a:r>
            <a:r>
              <a:rPr lang="en-CA" sz="1800" dirty="0" err="1">
                <a:latin typeface="Courier New" panose="02070309020205020404" pitchFamily="49" charset="0"/>
                <a:cs typeface="Courier New" panose="02070309020205020404" pitchFamily="49" charset="0"/>
              </a:rPr>
              <a:t>ev</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err="1">
                <a:latin typeface="Courier New" panose="02070309020205020404" pitchFamily="49" charset="0"/>
                <a:cs typeface="Courier New" panose="02070309020205020404" pitchFamily="49" charset="0"/>
              </a:rPr>
              <a:t>PtrVisitor</a:t>
            </a:r>
            <a:r>
              <a:rPr lang="en-CA" sz="1800" dirty="0">
                <a:latin typeface="Courier New" panose="02070309020205020404" pitchFamily="49" charset="0"/>
                <a:cs typeface="Courier New" panose="02070309020205020404" pitchFamily="49" charset="0"/>
              </a:rPr>
              <a:t> </a:t>
            </a:r>
            <a:r>
              <a:rPr lang="en-CA" sz="1800" dirty="0" err="1">
                <a:latin typeface="Courier New" panose="02070309020205020404" pitchFamily="49" charset="0"/>
                <a:cs typeface="Courier New" panose="02070309020205020404" pitchFamily="49" charset="0"/>
              </a:rPr>
              <a:t>pv</a:t>
            </a: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b="1" dirty="0" err="1" smtClean="0">
                <a:latin typeface="Courier New" panose="02070309020205020404" pitchFamily="49" charset="0"/>
                <a:cs typeface="Courier New" panose="02070309020205020404" pitchFamily="49" charset="0"/>
              </a:rPr>
              <a:t>int</a:t>
            </a:r>
            <a:r>
              <a:rPr lang="en-CA" sz="1800" b="1" dirty="0" smtClean="0">
                <a:latin typeface="Courier New" panose="02070309020205020404" pitchFamily="49" charset="0"/>
                <a:cs typeface="Courier New" panose="02070309020205020404" pitchFamily="49" charset="0"/>
              </a:rPr>
              <a:t> </a:t>
            </a:r>
            <a:r>
              <a:rPr lang="en-CA" sz="1800" b="1" dirty="0" err="1" smtClean="0">
                <a:latin typeface="Courier New" panose="02070309020205020404" pitchFamily="49" charset="0"/>
                <a:cs typeface="Courier New" panose="02070309020205020404" pitchFamily="49" charset="0"/>
              </a:rPr>
              <a:t>PtrVisitor</a:t>
            </a:r>
            <a:r>
              <a:rPr lang="en-CA" sz="1800" b="1" dirty="0" smtClean="0">
                <a:latin typeface="Courier New" panose="02070309020205020404" pitchFamily="49" charset="0"/>
                <a:cs typeface="Courier New" panose="02070309020205020404" pitchFamily="49" charset="0"/>
              </a:rPr>
              <a:t>::visit(Entity &amp; e) </a:t>
            </a: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Container </a:t>
            </a:r>
            <a:r>
              <a:rPr lang="en-CA" sz="1800" dirty="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tmp</a:t>
            </a: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 </a:t>
            </a:r>
            <a:r>
              <a:rPr lang="en-CA" sz="1800" b="1" dirty="0" err="1" smtClean="0">
                <a:latin typeface="Courier New" panose="02070309020205020404" pitchFamily="49" charset="0"/>
                <a:cs typeface="Courier New" panose="02070309020205020404" pitchFamily="49" charset="0"/>
              </a:rPr>
              <a:t>tmp</a:t>
            </a:r>
            <a:r>
              <a:rPr lang="en-CA" sz="1800" b="1" dirty="0" smtClean="0">
                <a:latin typeface="Courier New" panose="02070309020205020404" pitchFamily="49" charset="0"/>
                <a:cs typeface="Courier New" panose="02070309020205020404" pitchFamily="49" charset="0"/>
              </a:rPr>
              <a:t> </a:t>
            </a:r>
            <a:r>
              <a:rPr lang="en-CA" sz="1800" b="1" dirty="0">
                <a:latin typeface="Courier New" panose="02070309020205020404" pitchFamily="49" charset="0"/>
                <a:cs typeface="Courier New" panose="02070309020205020404" pitchFamily="49" charset="0"/>
              </a:rPr>
              <a:t>= ((Pointer &amp;)e).fetch();</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if </a:t>
            </a:r>
            <a:r>
              <a:rPr lang="en-CA" sz="1800" dirty="0">
                <a:latin typeface="Courier New" panose="02070309020205020404" pitchFamily="49" charset="0"/>
                <a:cs typeface="Courier New" panose="02070309020205020404" pitchFamily="49" charset="0"/>
              </a:rPr>
              <a:t>(</a:t>
            </a:r>
            <a:r>
              <a:rPr lang="en-CA" sz="1800" dirty="0" err="1">
                <a:latin typeface="Courier New" panose="02070309020205020404" pitchFamily="49" charset="0"/>
                <a:cs typeface="Courier New" panose="02070309020205020404" pitchFamily="49" charset="0"/>
              </a:rPr>
              <a:t>tmp</a:t>
            </a:r>
            <a:r>
              <a:rPr lang="en-CA" sz="1800" dirty="0">
                <a:latin typeface="Courier New" panose="02070309020205020404" pitchFamily="49" charset="0"/>
                <a:cs typeface="Courier New" panose="02070309020205020404" pitchFamily="49" charset="0"/>
              </a:rPr>
              <a:t> != </a:t>
            </a:r>
            <a:r>
              <a:rPr lang="en-CA" sz="1800" dirty="0" err="1">
                <a:latin typeface="Courier New" panose="02070309020205020404" pitchFamily="49" charset="0"/>
                <a:cs typeface="Courier New" panose="02070309020205020404" pitchFamily="49" charset="0"/>
              </a:rPr>
              <a:t>nullptr</a:t>
            </a:r>
            <a:r>
              <a:rPr lang="en-CA" sz="180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b="1" dirty="0" err="1" smtClean="0">
                <a:latin typeface="Courier New" panose="02070309020205020404" pitchFamily="49" charset="0"/>
                <a:cs typeface="Courier New" panose="02070309020205020404" pitchFamily="49" charset="0"/>
              </a:rPr>
              <a:t>ev.visit</a:t>
            </a:r>
            <a:r>
              <a:rPr lang="en-CA" sz="1800" b="1" dirty="0">
                <a:latin typeface="Courier New" panose="02070309020205020404" pitchFamily="49" charset="0"/>
                <a:cs typeface="Courier New" panose="02070309020205020404" pitchFamily="49" charset="0"/>
              </a:rPr>
              <a:t>(*</a:t>
            </a:r>
            <a:r>
              <a:rPr lang="en-CA" sz="1800" b="1" dirty="0" err="1">
                <a:latin typeface="Courier New" panose="02070309020205020404" pitchFamily="49" charset="0"/>
                <a:cs typeface="Courier New" panose="02070309020205020404" pitchFamily="49" charset="0"/>
              </a:rPr>
              <a:t>tmp</a:t>
            </a:r>
            <a:r>
              <a:rPr lang="en-CA" sz="1800" b="1"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tmp</a:t>
            </a:r>
            <a:r>
              <a:rPr lang="en-CA" sz="1800" dirty="0" smtClean="0">
                <a:latin typeface="Courier New" panose="02070309020205020404" pitchFamily="49" charset="0"/>
                <a:cs typeface="Courier New" panose="02070309020205020404" pitchFamily="49" charset="0"/>
              </a:rPr>
              <a:t>-</a:t>
            </a:r>
            <a:r>
              <a:rPr lang="en-CA" sz="1800" dirty="0">
                <a:latin typeface="Courier New" panose="02070309020205020404" pitchFamily="49" charset="0"/>
                <a:cs typeface="Courier New" panose="02070309020205020404" pitchFamily="49" charset="0"/>
              </a:rPr>
              <a:t>&gt;destroy();</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return </a:t>
            </a:r>
            <a:r>
              <a:rPr lang="en-CA" sz="1800" dirty="0">
                <a:latin typeface="Courier New" panose="02070309020205020404" pitchFamily="49" charset="0"/>
                <a:cs typeface="Courier New" panose="02070309020205020404" pitchFamily="49" charset="0"/>
              </a:rPr>
              <a:t>0;</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err="1">
                <a:latin typeface="Courier New" panose="02070309020205020404" pitchFamily="49" charset="0"/>
                <a:cs typeface="Courier New" panose="02070309020205020404" pitchFamily="49" charset="0"/>
              </a:rPr>
              <a:t>int</a:t>
            </a:r>
            <a:r>
              <a:rPr lang="en-CA" sz="1800" dirty="0">
                <a:latin typeface="Courier New" panose="02070309020205020404" pitchFamily="49" charset="0"/>
                <a:cs typeface="Courier New" panose="02070309020205020404" pitchFamily="49" charset="0"/>
              </a:rPr>
              <a:t> </a:t>
            </a:r>
            <a:r>
              <a:rPr lang="en-CA" sz="1800" dirty="0" err="1">
                <a:latin typeface="Courier New" panose="02070309020205020404" pitchFamily="49" charset="0"/>
                <a:cs typeface="Courier New" panose="02070309020205020404" pitchFamily="49" charset="0"/>
              </a:rPr>
              <a:t>EntVisitor</a:t>
            </a:r>
            <a:r>
              <a:rPr lang="en-CA" sz="1800" dirty="0">
                <a:latin typeface="Courier New" panose="02070309020205020404" pitchFamily="49" charset="0"/>
                <a:cs typeface="Courier New" panose="02070309020205020404" pitchFamily="49" charset="0"/>
              </a:rPr>
              <a:t>::visit(Entity &amp; e)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cout</a:t>
            </a:r>
            <a:r>
              <a:rPr lang="en-CA" sz="1800" dirty="0" smtClean="0">
                <a:latin typeface="Courier New" panose="02070309020205020404" pitchFamily="49" charset="0"/>
                <a:cs typeface="Courier New" panose="02070309020205020404" pitchFamily="49" charset="0"/>
              </a:rPr>
              <a:t> </a:t>
            </a:r>
            <a:r>
              <a:rPr lang="en-CA" sz="1800" dirty="0">
                <a:latin typeface="Courier New" panose="02070309020205020404" pitchFamily="49" charset="0"/>
                <a:cs typeface="Courier New" panose="02070309020205020404" pitchFamily="49" charset="0"/>
              </a:rPr>
              <a:t>&lt;&lt; </a:t>
            </a:r>
            <a:r>
              <a:rPr lang="en-CA" sz="1800" dirty="0" err="1">
                <a:latin typeface="Courier New" panose="02070309020205020404" pitchFamily="49" charset="0"/>
                <a:cs typeface="Courier New" panose="02070309020205020404" pitchFamily="49" charset="0"/>
              </a:rPr>
              <a:t>e.get_name</a:t>
            </a:r>
            <a:r>
              <a:rPr lang="en-CA" sz="1800" dirty="0">
                <a:latin typeface="Courier New" panose="02070309020205020404" pitchFamily="49" charset="0"/>
                <a:cs typeface="Courier New" panose="02070309020205020404" pitchFamily="49" charset="0"/>
              </a:rPr>
              <a:t>() &lt;&lt; </a:t>
            </a:r>
            <a:r>
              <a:rPr lang="en-CA" sz="1800" dirty="0" err="1">
                <a:latin typeface="Courier New" panose="02070309020205020404" pitchFamily="49" charset="0"/>
                <a:cs typeface="Courier New" panose="02070309020205020404" pitchFamily="49" charset="0"/>
              </a:rPr>
              <a:t>endl</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return </a:t>
            </a:r>
            <a:r>
              <a:rPr lang="en-CA" sz="1800" dirty="0" err="1">
                <a:latin typeface="Courier New" panose="02070309020205020404" pitchFamily="49" charset="0"/>
                <a:cs typeface="Courier New" panose="02070309020205020404" pitchFamily="49" charset="0"/>
              </a:rPr>
              <a:t>e.process_pointers</a:t>
            </a:r>
            <a:r>
              <a:rPr lang="en-CA" sz="1800" dirty="0">
                <a:latin typeface="Courier New" panose="02070309020205020404" pitchFamily="49" charset="0"/>
                <a:cs typeface="Courier New" panose="02070309020205020404" pitchFamily="49" charset="0"/>
              </a:rPr>
              <a:t>(</a:t>
            </a:r>
            <a:r>
              <a:rPr lang="en-CA" sz="1800" dirty="0" err="1">
                <a:latin typeface="Courier New" panose="02070309020205020404" pitchFamily="49" charset="0"/>
                <a:cs typeface="Courier New" panose="02070309020205020404" pitchFamily="49" charset="0"/>
              </a:rPr>
              <a:t>pv</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a:t>
            </a:r>
            <a:endParaRPr lang="en-CA" sz="1800" dirty="0">
              <a:latin typeface="Courier New" panose="02070309020205020404" pitchFamily="49" charset="0"/>
              <a:cs typeface="Courier New" panose="02070309020205020404" pitchFamily="49" charset="0"/>
            </a:endParaRPr>
          </a:p>
        </p:txBody>
      </p:sp>
      <p:sp>
        <p:nvSpPr>
          <p:cNvPr id="5" name="Content Placeholder 4"/>
          <p:cNvSpPr>
            <a:spLocks noGrp="1"/>
          </p:cNvSpPr>
          <p:nvPr>
            <p:ph sz="half" idx="2"/>
          </p:nvPr>
        </p:nvSpPr>
        <p:spPr>
          <a:xfrm>
            <a:off x="5829300" y="1515362"/>
            <a:ext cx="5384800" cy="2624838"/>
          </a:xfrm>
        </p:spPr>
        <p:txBody>
          <a:bodyPr>
            <a:noAutofit/>
          </a:bodyPr>
          <a:lstStyle/>
          <a:p>
            <a:pPr marL="0" indent="0">
              <a:spcBef>
                <a:spcPts val="0"/>
              </a:spcBef>
              <a:spcAft>
                <a:spcPts val="0"/>
              </a:spcAft>
              <a:buNone/>
            </a:pPr>
            <a:r>
              <a:rPr lang="en-CA" sz="1800" dirty="0">
                <a:latin typeface="Courier New" panose="02070309020205020404" pitchFamily="49" charset="0"/>
                <a:cs typeface="Courier New" panose="02070309020205020404" pitchFamily="49" charset="0"/>
              </a:rPr>
              <a:t>void main(void)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Ext4IO </a:t>
            </a:r>
            <a:r>
              <a:rPr lang="en-CA" sz="1800" dirty="0" err="1">
                <a:latin typeface="Courier New" panose="02070309020205020404" pitchFamily="49" charset="0"/>
                <a:cs typeface="Courier New" panose="02070309020205020404" pitchFamily="49" charset="0"/>
              </a:rPr>
              <a:t>io</a:t>
            </a:r>
            <a:r>
              <a:rPr lang="en-CA" sz="1800" dirty="0">
                <a:latin typeface="Courier New" panose="02070309020205020404" pitchFamily="49" charset="0"/>
                <a:cs typeface="Courier New" panose="02070309020205020404" pitchFamily="49" charset="0"/>
              </a:rPr>
              <a:t>("/dev/sdb1");</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Ext4 </a:t>
            </a:r>
            <a:r>
              <a:rPr lang="en-CA" sz="1800" dirty="0">
                <a:latin typeface="Courier New" panose="02070309020205020404" pitchFamily="49" charset="0"/>
                <a:cs typeface="Courier New" panose="02070309020205020404" pitchFamily="49" charset="0"/>
              </a:rPr>
              <a:t>fs(</a:t>
            </a:r>
            <a:r>
              <a:rPr lang="en-CA" sz="1800" dirty="0" err="1">
                <a:latin typeface="Courier New" panose="02070309020205020404" pitchFamily="49" charset="0"/>
                <a:cs typeface="Courier New" panose="02070309020205020404" pitchFamily="49" charset="0"/>
              </a:rPr>
              <a:t>io</a:t>
            </a:r>
            <a:r>
              <a:rPr lang="en-CA" sz="18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Container </a:t>
            </a:r>
            <a:r>
              <a:rPr lang="en-CA" sz="1800" dirty="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sup = </a:t>
            </a:r>
            <a:r>
              <a:rPr lang="en-CA" sz="1800" dirty="0" err="1" smtClean="0">
                <a:latin typeface="Courier New" panose="02070309020205020404" pitchFamily="49" charset="0"/>
                <a:cs typeface="Courier New" panose="02070309020205020404" pitchFamily="49" charset="0"/>
              </a:rPr>
              <a:t>fs.fetch_super</a:t>
            </a:r>
            <a:r>
              <a:rPr lang="en-CA" sz="1800" dirty="0" smtClean="0">
                <a:latin typeface="Courier New" panose="02070309020205020404" pitchFamily="49" charset="0"/>
                <a:cs typeface="Courier New" panose="02070309020205020404" pitchFamily="49" charset="0"/>
              </a:rPr>
              <a:t>();</a:t>
            </a: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if (sup != </a:t>
            </a:r>
            <a:r>
              <a:rPr lang="en-CA" sz="1800" dirty="0" err="1">
                <a:latin typeface="Courier New" panose="02070309020205020404" pitchFamily="49" charset="0"/>
                <a:cs typeface="Courier New" panose="02070309020205020404" pitchFamily="49" charset="0"/>
              </a:rPr>
              <a:t>nullptr</a:t>
            </a:r>
            <a:r>
              <a:rPr lang="en-CA" sz="180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ev.visit</a:t>
            </a:r>
            <a:r>
              <a:rPr lang="en-CA" sz="1800" dirty="0">
                <a:latin typeface="Courier New" panose="02070309020205020404" pitchFamily="49" charset="0"/>
                <a:cs typeface="Courier New" panose="02070309020205020404" pitchFamily="49" charset="0"/>
              </a:rPr>
              <a:t>(*sup);</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sup-</a:t>
            </a:r>
            <a:r>
              <a:rPr lang="en-CA" sz="1800" dirty="0">
                <a:latin typeface="Courier New" panose="02070309020205020404" pitchFamily="49" charset="0"/>
                <a:cs typeface="Courier New" panose="02070309020205020404" pitchFamily="49" charset="0"/>
              </a:rPr>
              <a:t>&gt;destroy();</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endParaRPr lang="en-CA" sz="18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a:latin typeface="Courier New" panose="02070309020205020404" pitchFamily="49" charset="0"/>
                <a:cs typeface="Courier New" panose="02070309020205020404" pitchFamily="49" charset="0"/>
              </a:rPr>
              <a:t>}</a:t>
            </a:r>
          </a:p>
          <a:p>
            <a:pPr>
              <a:spcBef>
                <a:spcPts val="0"/>
              </a:spcBef>
              <a:spcAft>
                <a:spcPts val="0"/>
              </a:spcAft>
            </a:pPr>
            <a:endParaRPr lang="en-CA" sz="1800"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42</a:t>
            </a:fld>
            <a:endParaRPr lang="en-CA" dirty="0"/>
          </a:p>
        </p:txBody>
      </p:sp>
      <p:sp>
        <p:nvSpPr>
          <p:cNvPr id="6" name="Content Placeholder 4"/>
          <p:cNvSpPr txBox="1">
            <a:spLocks/>
          </p:cNvSpPr>
          <p:nvPr/>
        </p:nvSpPr>
        <p:spPr>
          <a:xfrm>
            <a:off x="5829300" y="4140200"/>
            <a:ext cx="5384800" cy="1803400"/>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a:spcBef>
                <a:spcPts val="0"/>
              </a:spcBef>
              <a:spcAft>
                <a:spcPts val="0"/>
              </a:spcAft>
            </a:pPr>
            <a:r>
              <a:rPr lang="en-CA" dirty="0" err="1" smtClean="0"/>
              <a:t>PtrVisitor</a:t>
            </a:r>
            <a:r>
              <a:rPr lang="en-CA" dirty="0" smtClean="0"/>
              <a:t> fetches the pointed-to Container from disk, then calls </a:t>
            </a:r>
            <a:r>
              <a:rPr lang="en-CA" dirty="0" err="1">
                <a:latin typeface="Courier New" panose="02070309020205020404" pitchFamily="49" charset="0"/>
                <a:cs typeface="Courier New" panose="02070309020205020404" pitchFamily="49" charset="0"/>
              </a:rPr>
              <a:t>EntVisitor</a:t>
            </a:r>
            <a:r>
              <a:rPr lang="en-CA" dirty="0">
                <a:latin typeface="Courier New" panose="02070309020205020404" pitchFamily="49" charset="0"/>
                <a:cs typeface="Courier New" panose="02070309020205020404" pitchFamily="49" charset="0"/>
              </a:rPr>
              <a:t>::</a:t>
            </a:r>
            <a:r>
              <a:rPr lang="en-CA" dirty="0" smtClean="0">
                <a:latin typeface="Courier New" panose="02070309020205020404" pitchFamily="49" charset="0"/>
                <a:cs typeface="Courier New" panose="02070309020205020404" pitchFamily="49" charset="0"/>
              </a:rPr>
              <a:t>visit </a:t>
            </a:r>
            <a:r>
              <a:rPr lang="en-CA" dirty="0" smtClean="0"/>
              <a:t>on the pointed-to Container</a:t>
            </a:r>
          </a:p>
        </p:txBody>
      </p:sp>
    </p:spTree>
    <p:extLst>
      <p:ext uri="{BB962C8B-B14F-4D97-AF65-F5344CB8AC3E}">
        <p14:creationId xmlns:p14="http://schemas.microsoft.com/office/powerpoint/2010/main" val="3121052456"/>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Programming Effort</a:t>
            </a:r>
            <a:endParaRPr lang="en-CA" dirty="0"/>
          </a:p>
        </p:txBody>
      </p:sp>
      <p:sp>
        <p:nvSpPr>
          <p:cNvPr id="3" name="Content Placeholder 2"/>
          <p:cNvSpPr>
            <a:spLocks noGrp="1"/>
          </p:cNvSpPr>
          <p:nvPr>
            <p:ph idx="1"/>
          </p:nvPr>
        </p:nvSpPr>
        <p:spPr/>
        <p:txBody>
          <a:bodyPr/>
          <a:lstStyle/>
          <a:p>
            <a:endParaRPr lang="en-CA" smtClean="0"/>
          </a:p>
          <a:p>
            <a:endParaRPr lang="en-CA" smtClean="0"/>
          </a:p>
          <a:p>
            <a:endParaRPr lang="en-CA" smtClean="0"/>
          </a:p>
          <a:p>
            <a:endParaRPr lang="en-CA" smtClean="0"/>
          </a:p>
          <a:p>
            <a:endParaRPr lang="en-CA" smtClean="0"/>
          </a:p>
          <a:p>
            <a:endParaRPr lang="en-CA" smtClean="0"/>
          </a:p>
          <a:p>
            <a:endParaRPr lang="en-CA" smtClean="0"/>
          </a:p>
          <a:p>
            <a:r>
              <a:rPr lang="en-CA" smtClean="0"/>
              <a:t>Programming effort reduced for read-only file system applications</a:t>
            </a:r>
          </a:p>
          <a:p>
            <a:pPr lvl="1"/>
            <a:r>
              <a:rPr lang="en-CA" smtClean="0"/>
              <a:t>Both online and offline</a:t>
            </a:r>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43</a:t>
            </a:fld>
            <a:endParaRPr lang="en-CA" dirty="0"/>
          </a:p>
        </p:txBody>
      </p:sp>
      <p:graphicFrame>
        <p:nvGraphicFramePr>
          <p:cNvPr id="5" name="Table 4"/>
          <p:cNvGraphicFramePr>
            <a:graphicFrameLocks noGrp="1"/>
          </p:cNvGraphicFramePr>
          <p:nvPr>
            <p:extLst>
              <p:ext uri="{D42A27DB-BD31-4B8C-83A1-F6EECF244321}">
                <p14:modId xmlns:p14="http://schemas.microsoft.com/office/powerpoint/2010/main" val="3410067637"/>
              </p:ext>
            </p:extLst>
          </p:nvPr>
        </p:nvGraphicFramePr>
        <p:xfrm>
          <a:off x="806374" y="1543050"/>
          <a:ext cx="8901277" cy="3337560"/>
        </p:xfrm>
        <a:graphic>
          <a:graphicData uri="http://schemas.openxmlformats.org/drawingml/2006/table">
            <a:tbl>
              <a:tblPr firstRow="1" bandRow="1">
                <a:tableStyleId>{69012ECD-51FC-41F1-AA8D-1B2483CD663E}</a:tableStyleId>
              </a:tblPr>
              <a:tblGrid>
                <a:gridCol w="3593986">
                  <a:extLst>
                    <a:ext uri="{9D8B030D-6E8A-4147-A177-3AD203B41FA5}">
                      <a16:colId xmlns:a16="http://schemas.microsoft.com/office/drawing/2014/main" xmlns="" val="20000"/>
                    </a:ext>
                  </a:extLst>
                </a:gridCol>
                <a:gridCol w="2017336">
                  <a:extLst>
                    <a:ext uri="{9D8B030D-6E8A-4147-A177-3AD203B41FA5}">
                      <a16:colId xmlns:a16="http://schemas.microsoft.com/office/drawing/2014/main" xmlns="" val="20001"/>
                    </a:ext>
                  </a:extLst>
                </a:gridCol>
                <a:gridCol w="3289955">
                  <a:extLst>
                    <a:ext uri="{9D8B030D-6E8A-4147-A177-3AD203B41FA5}">
                      <a16:colId xmlns:a16="http://schemas.microsoft.com/office/drawing/2014/main" xmlns="" val="20002"/>
                    </a:ext>
                  </a:extLst>
                </a:gridCol>
              </a:tblGrid>
              <a:tr h="370840">
                <a:tc>
                  <a:txBody>
                    <a:bodyPr/>
                    <a:lstStyle/>
                    <a:p>
                      <a:r>
                        <a:rPr lang="en-CA" dirty="0" smtClean="0">
                          <a:solidFill>
                            <a:schemeClr val="tx1"/>
                          </a:solidFill>
                        </a:rPr>
                        <a:t>Applications</a:t>
                      </a:r>
                      <a:endParaRPr lang="en-CA" dirty="0">
                        <a:solidFill>
                          <a:schemeClr val="tx1"/>
                        </a:solidFill>
                      </a:endParaRPr>
                    </a:p>
                  </a:txBody>
                  <a:tcPr/>
                </a:tc>
                <a:tc>
                  <a:txBody>
                    <a:bodyPr/>
                    <a:lstStyle/>
                    <a:p>
                      <a:r>
                        <a:rPr lang="en-CA" dirty="0" smtClean="0">
                          <a:solidFill>
                            <a:schemeClr val="tx1"/>
                          </a:solidFill>
                        </a:rPr>
                        <a:t>Generic (LOC)</a:t>
                      </a:r>
                      <a:endParaRPr lang="en-CA" dirty="0">
                        <a:solidFill>
                          <a:schemeClr val="tx1"/>
                        </a:solidFill>
                      </a:endParaRPr>
                    </a:p>
                  </a:txBody>
                  <a:tcPr/>
                </a:tc>
                <a:tc>
                  <a:txBody>
                    <a:bodyPr/>
                    <a:lstStyle/>
                    <a:p>
                      <a:r>
                        <a:rPr lang="en-CA" dirty="0" smtClean="0">
                          <a:solidFill>
                            <a:schemeClr val="tx1"/>
                          </a:solidFill>
                        </a:rPr>
                        <a:t>File-System</a:t>
                      </a:r>
                      <a:r>
                        <a:rPr lang="en-CA" baseline="0" dirty="0" smtClean="0">
                          <a:solidFill>
                            <a:schemeClr val="tx1"/>
                          </a:solidFill>
                        </a:rPr>
                        <a:t> </a:t>
                      </a:r>
                      <a:r>
                        <a:rPr lang="en-CA" dirty="0" smtClean="0">
                          <a:solidFill>
                            <a:schemeClr val="tx1"/>
                          </a:solidFill>
                        </a:rPr>
                        <a:t>Specific (LOC)</a:t>
                      </a:r>
                      <a:endParaRPr lang="en-CA" dirty="0">
                        <a:solidFill>
                          <a:schemeClr val="tx1"/>
                        </a:solidFill>
                      </a:endParaRPr>
                    </a:p>
                  </a:txBody>
                  <a:tcPr/>
                </a:tc>
                <a:extLst>
                  <a:ext uri="{0D108BD9-81ED-4DB2-BD59-A6C34878D82A}">
                    <a16:rowId xmlns:a16="http://schemas.microsoft.com/office/drawing/2014/main" xmlns="" val="10000"/>
                  </a:ext>
                </a:extLst>
              </a:tr>
              <a:tr h="370840">
                <a:tc>
                  <a:txBody>
                    <a:bodyPr/>
                    <a:lstStyle/>
                    <a:p>
                      <a:r>
                        <a:rPr lang="en-CA" dirty="0" smtClean="0">
                          <a:solidFill>
                            <a:schemeClr val="bg1"/>
                          </a:solidFill>
                        </a:rPr>
                        <a:t>XML Dump Tool</a:t>
                      </a:r>
                      <a:endParaRPr lang="en-CA" dirty="0">
                        <a:solidFill>
                          <a:schemeClr val="bg1"/>
                        </a:solidFill>
                      </a:endParaRPr>
                    </a:p>
                  </a:txBody>
                  <a:tcPr/>
                </a:tc>
                <a:tc>
                  <a:txBody>
                    <a:bodyPr/>
                    <a:lstStyle/>
                    <a:p>
                      <a:r>
                        <a:rPr lang="en-CA" dirty="0" smtClean="0">
                          <a:solidFill>
                            <a:schemeClr val="bg1"/>
                          </a:solidFill>
                        </a:rPr>
                        <a:t>565</a:t>
                      </a:r>
                      <a:endParaRPr lang="en-CA" dirty="0">
                        <a:solidFill>
                          <a:schemeClr val="bg1"/>
                        </a:solidFill>
                      </a:endParaRPr>
                    </a:p>
                  </a:txBody>
                  <a:tcPr/>
                </a:tc>
                <a:tc>
                  <a:txBody>
                    <a:bodyPr/>
                    <a:lstStyle/>
                    <a:p>
                      <a:r>
                        <a:rPr lang="en-CA" dirty="0" smtClean="0">
                          <a:solidFill>
                            <a:schemeClr val="bg1"/>
                          </a:solidFill>
                        </a:rPr>
                        <a:t>40~50</a:t>
                      </a:r>
                      <a:endParaRPr lang="en-CA" dirty="0">
                        <a:solidFill>
                          <a:schemeClr val="bg1"/>
                        </a:solidFill>
                      </a:endParaRPr>
                    </a:p>
                  </a:txBody>
                  <a:tcPr/>
                </a:tc>
                <a:extLst>
                  <a:ext uri="{0D108BD9-81ED-4DB2-BD59-A6C34878D82A}">
                    <a16:rowId xmlns:a16="http://schemas.microsoft.com/office/drawing/2014/main" xmlns="" val="10001"/>
                  </a:ext>
                </a:extLst>
              </a:tr>
              <a:tr h="370840">
                <a:tc>
                  <a:txBody>
                    <a:bodyPr/>
                    <a:lstStyle/>
                    <a:p>
                      <a:r>
                        <a:rPr lang="en-CA" dirty="0" smtClean="0">
                          <a:solidFill>
                            <a:schemeClr val="bg1"/>
                          </a:solidFill>
                        </a:rPr>
                        <a:t>Free Space</a:t>
                      </a:r>
                      <a:r>
                        <a:rPr lang="en-CA" baseline="0" dirty="0" smtClean="0">
                          <a:solidFill>
                            <a:schemeClr val="bg1"/>
                          </a:solidFill>
                        </a:rPr>
                        <a:t> Display Tool</a:t>
                      </a:r>
                      <a:endParaRPr lang="en-CA" dirty="0">
                        <a:solidFill>
                          <a:schemeClr val="bg1"/>
                        </a:solidFill>
                      </a:endParaRPr>
                    </a:p>
                  </a:txBody>
                  <a:tcPr/>
                </a:tc>
                <a:tc>
                  <a:txBody>
                    <a:bodyPr/>
                    <a:lstStyle/>
                    <a:p>
                      <a:r>
                        <a:rPr lang="en-CA" dirty="0" smtClean="0">
                          <a:solidFill>
                            <a:schemeClr val="bg1"/>
                          </a:solidFill>
                        </a:rPr>
                        <a:t>271</a:t>
                      </a:r>
                      <a:endParaRPr lang="en-CA" dirty="0">
                        <a:solidFill>
                          <a:schemeClr val="bg1"/>
                        </a:solidFill>
                      </a:endParaRPr>
                    </a:p>
                  </a:txBody>
                  <a:tcPr/>
                </a:tc>
                <a:tc>
                  <a:txBody>
                    <a:bodyPr/>
                    <a:lstStyle/>
                    <a:p>
                      <a:r>
                        <a:rPr lang="en-CA" dirty="0" smtClean="0">
                          <a:solidFill>
                            <a:schemeClr val="bg1"/>
                          </a:solidFill>
                        </a:rPr>
                        <a:t>76~194 (F2FS)</a:t>
                      </a:r>
                      <a:endParaRPr lang="en-CA" dirty="0">
                        <a:solidFill>
                          <a:schemeClr val="bg1"/>
                        </a:solidFill>
                      </a:endParaRPr>
                    </a:p>
                  </a:txBody>
                  <a:tcPr/>
                </a:tc>
                <a:extLst>
                  <a:ext uri="{0D108BD9-81ED-4DB2-BD59-A6C34878D82A}">
                    <a16:rowId xmlns:a16="http://schemas.microsoft.com/office/drawing/2014/main" xmlns="" val="10002"/>
                  </a:ext>
                </a:extLst>
              </a:tr>
              <a:tr h="370840">
                <a:tc>
                  <a:txBody>
                    <a:bodyPr/>
                    <a:lstStyle/>
                    <a:p>
                      <a:r>
                        <a:rPr lang="en-CA" dirty="0" smtClean="0">
                          <a:solidFill>
                            <a:schemeClr val="bg1"/>
                          </a:solidFill>
                        </a:rPr>
                        <a:t>Type-Specific</a:t>
                      </a:r>
                      <a:r>
                        <a:rPr lang="en-CA" baseline="0" dirty="0" smtClean="0">
                          <a:solidFill>
                            <a:schemeClr val="bg1"/>
                          </a:solidFill>
                        </a:rPr>
                        <a:t> Corruptor</a:t>
                      </a:r>
                      <a:endParaRPr lang="en-CA" dirty="0">
                        <a:solidFill>
                          <a:schemeClr val="bg1"/>
                        </a:solidFill>
                      </a:endParaRPr>
                    </a:p>
                  </a:txBody>
                  <a:tcPr/>
                </a:tc>
                <a:tc>
                  <a:txBody>
                    <a:bodyPr/>
                    <a:lstStyle/>
                    <a:p>
                      <a:r>
                        <a:rPr lang="en-CA" dirty="0" smtClean="0">
                          <a:solidFill>
                            <a:schemeClr val="bg1"/>
                          </a:solidFill>
                        </a:rPr>
                        <a:t>455</a:t>
                      </a:r>
                      <a:endParaRPr lang="en-CA" dirty="0">
                        <a:solidFill>
                          <a:schemeClr val="bg1"/>
                        </a:solidFill>
                      </a:endParaRPr>
                    </a:p>
                  </a:txBody>
                  <a:tcPr/>
                </a:tc>
                <a:tc>
                  <a:txBody>
                    <a:bodyPr/>
                    <a:lstStyle/>
                    <a:p>
                      <a:r>
                        <a:rPr lang="en-CA" dirty="0" smtClean="0">
                          <a:solidFill>
                            <a:schemeClr val="bg1"/>
                          </a:solidFill>
                        </a:rPr>
                        <a:t>&lt; 30</a:t>
                      </a:r>
                      <a:endParaRPr lang="en-CA" dirty="0">
                        <a:solidFill>
                          <a:schemeClr val="bg1"/>
                        </a:solidFill>
                      </a:endParaRPr>
                    </a:p>
                  </a:txBody>
                  <a:tcPr/>
                </a:tc>
                <a:extLst>
                  <a:ext uri="{0D108BD9-81ED-4DB2-BD59-A6C34878D82A}">
                    <a16:rowId xmlns:a16="http://schemas.microsoft.com/office/drawing/2014/main" xmlns="" val="10003"/>
                  </a:ext>
                </a:extLst>
              </a:tr>
              <a:tr h="370840">
                <a:tc>
                  <a:txBody>
                    <a:bodyPr/>
                    <a:lstStyle/>
                    <a:p>
                      <a:r>
                        <a:rPr lang="en-CA" dirty="0" smtClean="0">
                          <a:solidFill>
                            <a:schemeClr val="bg1"/>
                          </a:solidFill>
                        </a:rPr>
                        <a:t>Ext4 to F2FS</a:t>
                      </a:r>
                      <a:r>
                        <a:rPr lang="en-CA" baseline="0" dirty="0" smtClean="0">
                          <a:solidFill>
                            <a:schemeClr val="bg1"/>
                          </a:solidFill>
                        </a:rPr>
                        <a:t> </a:t>
                      </a:r>
                      <a:r>
                        <a:rPr lang="en-CA" dirty="0" smtClean="0">
                          <a:solidFill>
                            <a:schemeClr val="bg1"/>
                          </a:solidFill>
                        </a:rPr>
                        <a:t>Converter</a:t>
                      </a:r>
                      <a:endParaRPr lang="en-CA" dirty="0">
                        <a:solidFill>
                          <a:schemeClr val="bg1"/>
                        </a:solidFill>
                      </a:endParaRPr>
                    </a:p>
                  </a:txBody>
                  <a:tcPr/>
                </a:tc>
                <a:tc>
                  <a:txBody>
                    <a:bodyPr/>
                    <a:lstStyle/>
                    <a:p>
                      <a:r>
                        <a:rPr lang="en-CA" dirty="0" smtClean="0">
                          <a:solidFill>
                            <a:schemeClr val="bg1"/>
                          </a:solidFill>
                        </a:rPr>
                        <a:t>504</a:t>
                      </a:r>
                      <a:endParaRPr lang="en-CA" dirty="0">
                        <a:solidFill>
                          <a:schemeClr val="bg1"/>
                        </a:solidFill>
                      </a:endParaRPr>
                    </a:p>
                  </a:txBody>
                  <a:tcPr/>
                </a:tc>
                <a:tc>
                  <a:txBody>
                    <a:bodyPr/>
                    <a:lstStyle/>
                    <a:p>
                      <a:r>
                        <a:rPr lang="en-CA" dirty="0" smtClean="0">
                          <a:solidFill>
                            <a:schemeClr val="bg1"/>
                          </a:solidFill>
                        </a:rPr>
                        <a:t>218 (Ext4)</a:t>
                      </a:r>
                      <a:r>
                        <a:rPr lang="en-CA" baseline="0" dirty="0" smtClean="0">
                          <a:solidFill>
                            <a:schemeClr val="bg1"/>
                          </a:solidFill>
                        </a:rPr>
                        <a:t>, 1760 (F2FS)</a:t>
                      </a:r>
                      <a:endParaRPr lang="en-CA" dirty="0">
                        <a:solidFill>
                          <a:schemeClr val="bg1"/>
                        </a:solidFill>
                      </a:endParaRPr>
                    </a:p>
                  </a:txBody>
                  <a:tcPr/>
                </a:tc>
                <a:extLst>
                  <a:ext uri="{0D108BD9-81ED-4DB2-BD59-A6C34878D82A}">
                    <a16:rowId xmlns:a16="http://schemas.microsoft.com/office/drawing/2014/main" xmlns="" val="10004"/>
                  </a:ext>
                </a:extLst>
              </a:tr>
              <a:tr h="370840">
                <a:tc>
                  <a:txBody>
                    <a:bodyPr/>
                    <a:lstStyle/>
                    <a:p>
                      <a:r>
                        <a:rPr lang="en-CA" dirty="0" smtClean="0">
                          <a:solidFill>
                            <a:schemeClr val="bg1"/>
                          </a:solidFill>
                        </a:rPr>
                        <a:t>Runtime</a:t>
                      </a:r>
                      <a:r>
                        <a:rPr lang="en-CA" baseline="0" dirty="0" smtClean="0">
                          <a:solidFill>
                            <a:schemeClr val="bg1"/>
                          </a:solidFill>
                        </a:rPr>
                        <a:t> Interpretation</a:t>
                      </a:r>
                      <a:endParaRPr lang="en-CA" dirty="0">
                        <a:solidFill>
                          <a:schemeClr val="bg1"/>
                        </a:solidFill>
                      </a:endParaRPr>
                    </a:p>
                  </a:txBody>
                  <a:tcPr/>
                </a:tc>
                <a:tc>
                  <a:txBody>
                    <a:bodyPr/>
                    <a:lstStyle/>
                    <a:p>
                      <a:r>
                        <a:rPr lang="en-CA" dirty="0" smtClean="0">
                          <a:solidFill>
                            <a:schemeClr val="bg1"/>
                          </a:solidFill>
                        </a:rPr>
                        <a:t>2158</a:t>
                      </a:r>
                      <a:endParaRPr lang="en-CA" dirty="0">
                        <a:solidFill>
                          <a:schemeClr val="bg1"/>
                        </a:solidFill>
                      </a:endParaRPr>
                    </a:p>
                  </a:txBody>
                  <a:tcPr/>
                </a:tc>
                <a:tc>
                  <a:txBody>
                    <a:bodyPr/>
                    <a:lstStyle/>
                    <a:p>
                      <a:r>
                        <a:rPr lang="en-CA" dirty="0" smtClean="0">
                          <a:solidFill>
                            <a:schemeClr val="bg1"/>
                          </a:solidFill>
                        </a:rPr>
                        <a:t>111 (Ext4),</a:t>
                      </a:r>
                      <a:r>
                        <a:rPr lang="en-CA" baseline="0" dirty="0" smtClean="0">
                          <a:solidFill>
                            <a:schemeClr val="bg1"/>
                          </a:solidFill>
                        </a:rPr>
                        <a:t> 134 (</a:t>
                      </a:r>
                      <a:r>
                        <a:rPr lang="en-CA" baseline="0" dirty="0" err="1" smtClean="0">
                          <a:solidFill>
                            <a:schemeClr val="bg1"/>
                          </a:solidFill>
                        </a:rPr>
                        <a:t>Btrfs</a:t>
                      </a:r>
                      <a:r>
                        <a:rPr lang="en-CA" baseline="0" dirty="0" smtClean="0">
                          <a:solidFill>
                            <a:schemeClr val="bg1"/>
                          </a:solidFill>
                        </a:rPr>
                        <a:t>)</a:t>
                      </a:r>
                      <a:endParaRPr lang="en-CA" dirty="0">
                        <a:solidFill>
                          <a:schemeClr val="bg1"/>
                        </a:solidFill>
                      </a:endParaRPr>
                    </a:p>
                  </a:txBody>
                  <a:tcPr/>
                </a:tc>
                <a:extLst>
                  <a:ext uri="{0D108BD9-81ED-4DB2-BD59-A6C34878D82A}">
                    <a16:rowId xmlns:a16="http://schemas.microsoft.com/office/drawing/2014/main" xmlns="" val="10005"/>
                  </a:ext>
                </a:extLst>
              </a:tr>
              <a:tr h="370840">
                <a:tc>
                  <a:txBody>
                    <a:bodyPr/>
                    <a:lstStyle/>
                    <a:p>
                      <a:r>
                        <a:rPr lang="en-CA" dirty="0" smtClean="0">
                          <a:solidFill>
                            <a:schemeClr val="bg1"/>
                          </a:solidFill>
                        </a:rPr>
                        <a:t>Differentiated</a:t>
                      </a:r>
                      <a:r>
                        <a:rPr lang="en-CA" baseline="0" dirty="0" smtClean="0">
                          <a:solidFill>
                            <a:schemeClr val="bg1"/>
                          </a:solidFill>
                        </a:rPr>
                        <a:t> Storage</a:t>
                      </a:r>
                      <a:endParaRPr lang="en-CA" dirty="0">
                        <a:solidFill>
                          <a:schemeClr val="bg1"/>
                        </a:solidFill>
                      </a:endParaRPr>
                    </a:p>
                  </a:txBody>
                  <a:tcPr/>
                </a:tc>
                <a:tc>
                  <a:txBody>
                    <a:bodyPr/>
                    <a:lstStyle/>
                    <a:p>
                      <a:endParaRPr lang="en-CA" dirty="0">
                        <a:solidFill>
                          <a:schemeClr val="bg1"/>
                        </a:solidFill>
                      </a:endParaRPr>
                    </a:p>
                  </a:txBody>
                  <a:tcPr/>
                </a:tc>
                <a:tc>
                  <a:txBody>
                    <a:bodyPr/>
                    <a:lstStyle/>
                    <a:p>
                      <a:endParaRPr lang="en-CA" dirty="0">
                        <a:solidFill>
                          <a:schemeClr val="bg1"/>
                        </a:solidFill>
                      </a:endParaRPr>
                    </a:p>
                  </a:txBody>
                  <a:tcPr/>
                </a:tc>
                <a:extLst>
                  <a:ext uri="{0D108BD9-81ED-4DB2-BD59-A6C34878D82A}">
                    <a16:rowId xmlns:a16="http://schemas.microsoft.com/office/drawing/2014/main" xmlns="" val="10006"/>
                  </a:ext>
                </a:extLst>
              </a:tr>
              <a:tr h="370840">
                <a:tc>
                  <a:txBody>
                    <a:bodyPr/>
                    <a:lstStyle/>
                    <a:p>
                      <a:pPr marL="179388" marR="0" lvl="0" indent="0" algn="l" defTabSz="457200" rtl="0" eaLnBrk="1" fontAlgn="auto" latinLnBrk="0" hangingPunct="1">
                        <a:lnSpc>
                          <a:spcPct val="100000"/>
                        </a:lnSpc>
                        <a:spcBef>
                          <a:spcPts val="0"/>
                        </a:spcBef>
                        <a:spcAft>
                          <a:spcPts val="0"/>
                        </a:spcAft>
                        <a:buClrTx/>
                        <a:buSzTx/>
                        <a:buFontTx/>
                        <a:buNone/>
                        <a:tabLst/>
                        <a:defRPr/>
                      </a:pPr>
                      <a:r>
                        <a:rPr lang="en-CA" dirty="0" smtClean="0">
                          <a:solidFill>
                            <a:schemeClr val="bg1"/>
                          </a:solidFill>
                        </a:rPr>
                        <a:t>- Block Layer Cache</a:t>
                      </a:r>
                    </a:p>
                  </a:txBody>
                  <a:tcPr/>
                </a:tc>
                <a:tc>
                  <a:txBody>
                    <a:bodyPr/>
                    <a:lstStyle/>
                    <a:p>
                      <a:r>
                        <a:rPr lang="en-CA" dirty="0" smtClean="0">
                          <a:solidFill>
                            <a:schemeClr val="bg1"/>
                          </a:solidFill>
                        </a:rPr>
                        <a:t>10518</a:t>
                      </a:r>
                      <a:endParaRPr lang="en-CA" dirty="0">
                        <a:solidFill>
                          <a:schemeClr val="bg1"/>
                        </a:solidFill>
                      </a:endParaRPr>
                    </a:p>
                  </a:txBody>
                  <a:tcPr/>
                </a:tc>
                <a:tc>
                  <a:txBody>
                    <a:bodyPr/>
                    <a:lstStyle/>
                    <a:p>
                      <a:r>
                        <a:rPr lang="en-CA" dirty="0" smtClean="0">
                          <a:solidFill>
                            <a:schemeClr val="bg1"/>
                          </a:solidFill>
                        </a:rPr>
                        <a:t>N/A</a:t>
                      </a:r>
                      <a:endParaRPr lang="en-CA" dirty="0">
                        <a:solidFill>
                          <a:schemeClr val="bg1"/>
                        </a:solidFill>
                      </a:endParaRPr>
                    </a:p>
                  </a:txBody>
                  <a:tcPr/>
                </a:tc>
                <a:extLst>
                  <a:ext uri="{0D108BD9-81ED-4DB2-BD59-A6C34878D82A}">
                    <a16:rowId xmlns:a16="http://schemas.microsoft.com/office/drawing/2014/main" xmlns="" val="10007"/>
                  </a:ext>
                </a:extLst>
              </a:tr>
              <a:tr h="370840">
                <a:tc>
                  <a:txBody>
                    <a:bodyPr/>
                    <a:lstStyle/>
                    <a:p>
                      <a:pPr marL="179388" marR="0" lvl="0" indent="0" algn="l" defTabSz="457200" rtl="0" eaLnBrk="1" fontAlgn="auto" latinLnBrk="0" hangingPunct="1">
                        <a:lnSpc>
                          <a:spcPct val="100000"/>
                        </a:lnSpc>
                        <a:spcBef>
                          <a:spcPts val="0"/>
                        </a:spcBef>
                        <a:spcAft>
                          <a:spcPts val="0"/>
                        </a:spcAft>
                        <a:buClrTx/>
                        <a:buSzTx/>
                        <a:buFontTx/>
                        <a:buNone/>
                        <a:tabLst/>
                        <a:defRPr/>
                      </a:pPr>
                      <a:r>
                        <a:rPr lang="en-CA" dirty="0" smtClean="0">
                          <a:solidFill>
                            <a:schemeClr val="bg1"/>
                          </a:solidFill>
                        </a:rPr>
                        <a:t>- Preferential</a:t>
                      </a:r>
                      <a:r>
                        <a:rPr lang="en-CA" baseline="0" dirty="0" smtClean="0">
                          <a:solidFill>
                            <a:schemeClr val="bg1"/>
                          </a:solidFill>
                        </a:rPr>
                        <a:t> Caching</a:t>
                      </a:r>
                      <a:endParaRPr lang="en-CA" dirty="0" smtClean="0">
                        <a:solidFill>
                          <a:schemeClr val="bg1"/>
                        </a:solidFill>
                      </a:endParaRPr>
                    </a:p>
                  </a:txBody>
                  <a:tcPr/>
                </a:tc>
                <a:tc>
                  <a:txBody>
                    <a:bodyPr/>
                    <a:lstStyle/>
                    <a:p>
                      <a:r>
                        <a:rPr lang="en-CA" dirty="0" smtClean="0">
                          <a:solidFill>
                            <a:schemeClr val="bg1"/>
                          </a:solidFill>
                        </a:rPr>
                        <a:t>289</a:t>
                      </a:r>
                      <a:endParaRPr lang="en-CA" dirty="0">
                        <a:solidFill>
                          <a:schemeClr val="bg1"/>
                        </a:solidFill>
                      </a:endParaRPr>
                    </a:p>
                  </a:txBody>
                  <a:tcPr/>
                </a:tc>
                <a:tc>
                  <a:txBody>
                    <a:bodyPr/>
                    <a:lstStyle/>
                    <a:p>
                      <a:r>
                        <a:rPr lang="en-CA" dirty="0" smtClean="0">
                          <a:solidFill>
                            <a:schemeClr val="bg1"/>
                          </a:solidFill>
                        </a:rPr>
                        <a:t>N/A</a:t>
                      </a:r>
                      <a:endParaRPr lang="en-CA" dirty="0">
                        <a:solidFill>
                          <a:schemeClr val="bg1"/>
                        </a:solidFill>
                      </a:endParaRPr>
                    </a:p>
                  </a:txBody>
                  <a:tcPr/>
                </a:tc>
                <a:extLst>
                  <a:ext uri="{0D108BD9-81ED-4DB2-BD59-A6C34878D82A}">
                    <a16:rowId xmlns:a16="http://schemas.microsoft.com/office/drawing/2014/main" xmlns="" val="10008"/>
                  </a:ext>
                </a:extLst>
              </a:tr>
            </a:tbl>
          </a:graphicData>
        </a:graphic>
      </p:graphicFrame>
    </p:spTree>
    <p:extLst>
      <p:ext uri="{BB962C8B-B14F-4D97-AF65-F5344CB8AC3E}">
        <p14:creationId xmlns:p14="http://schemas.microsoft.com/office/powerpoint/2010/main" val="919253903"/>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Corruption Experiment</a:t>
            </a:r>
            <a:endParaRPr lang="en-CA" dirty="0"/>
          </a:p>
        </p:txBody>
      </p:sp>
      <p:sp>
        <p:nvSpPr>
          <p:cNvPr id="3" name="Content Placeholder 2"/>
          <p:cNvSpPr>
            <a:spLocks noGrp="1"/>
          </p:cNvSpPr>
          <p:nvPr>
            <p:ph idx="1"/>
          </p:nvPr>
        </p:nvSpPr>
        <p:spPr/>
        <p:txBody>
          <a:bodyPr/>
          <a:lstStyle/>
          <a:p>
            <a:r>
              <a:rPr lang="en-CA" dirty="0" smtClean="0"/>
              <a:t>Run Spiffy dump tool and existing dump tools on corrupt images</a:t>
            </a:r>
          </a:p>
          <a:p>
            <a:pPr lvl="1"/>
            <a:r>
              <a:rPr lang="en-CA" dirty="0" smtClean="0"/>
              <a:t>Corrupt images generated by type-specific corruptor</a:t>
            </a:r>
          </a:p>
          <a:p>
            <a:r>
              <a:rPr lang="en-CA" dirty="0" smtClean="0"/>
              <a:t>Spiffy is robust against corruption, </a:t>
            </a:r>
            <a:r>
              <a:rPr lang="en-CA" dirty="0" smtClean="0"/>
              <a:t>found crashes on existing tools</a:t>
            </a:r>
            <a:endParaRPr lang="en-CA" dirty="0" smtClean="0"/>
          </a:p>
          <a:p>
            <a:endParaRPr lang="en-CA" dirty="0" smtClean="0"/>
          </a:p>
          <a:p>
            <a:endParaRPr lang="en-CA" dirty="0" smtClean="0"/>
          </a:p>
          <a:p>
            <a:endParaRPr lang="en-CA" dirty="0" smtClean="0"/>
          </a:p>
          <a:p>
            <a:endParaRPr lang="en-CA" dirty="0" smtClean="0"/>
          </a:p>
          <a:p>
            <a:endParaRPr lang="en-CA" dirty="0" smtClean="0"/>
          </a:p>
        </p:txBody>
      </p:sp>
      <p:sp>
        <p:nvSpPr>
          <p:cNvPr id="6" name="Slide Number Placeholder 5"/>
          <p:cNvSpPr>
            <a:spLocks noGrp="1"/>
          </p:cNvSpPr>
          <p:nvPr>
            <p:ph type="sldNum" sz="quarter" idx="12"/>
          </p:nvPr>
        </p:nvSpPr>
        <p:spPr/>
        <p:txBody>
          <a:bodyPr/>
          <a:lstStyle/>
          <a:p>
            <a:fld id="{7B2023C8-B124-43A9-8F92-0EEF5BAA9995}" type="slidenum">
              <a:rPr lang="en-CA" smtClean="0"/>
              <a:pPr/>
              <a:t>44</a:t>
            </a:fld>
            <a:endParaRPr lang="en-CA" dirty="0"/>
          </a:p>
        </p:txBody>
      </p:sp>
      <p:graphicFrame>
        <p:nvGraphicFramePr>
          <p:cNvPr id="5" name="Table 4"/>
          <p:cNvGraphicFramePr>
            <a:graphicFrameLocks noGrp="1"/>
          </p:cNvGraphicFramePr>
          <p:nvPr>
            <p:extLst>
              <p:ext uri="{D42A27DB-BD31-4B8C-83A1-F6EECF244321}">
                <p14:modId xmlns:p14="http://schemas.microsoft.com/office/powerpoint/2010/main" val="1346553440"/>
              </p:ext>
            </p:extLst>
          </p:nvPr>
        </p:nvGraphicFramePr>
        <p:xfrm>
          <a:off x="684212" y="3103984"/>
          <a:ext cx="10072159" cy="3012440"/>
        </p:xfrm>
        <a:graphic>
          <a:graphicData uri="http://schemas.openxmlformats.org/drawingml/2006/table">
            <a:tbl>
              <a:tblPr firstRow="1" bandRow="1">
                <a:tableStyleId>{69012ECD-51FC-41F1-AA8D-1B2483CD663E}</a:tableStyleId>
              </a:tblPr>
              <a:tblGrid>
                <a:gridCol w="1173256">
                  <a:extLst>
                    <a:ext uri="{9D8B030D-6E8A-4147-A177-3AD203B41FA5}">
                      <a16:colId xmlns:a16="http://schemas.microsoft.com/office/drawing/2014/main" xmlns="" val="20000"/>
                    </a:ext>
                  </a:extLst>
                </a:gridCol>
                <a:gridCol w="1357460">
                  <a:extLst>
                    <a:ext uri="{9D8B030D-6E8A-4147-A177-3AD203B41FA5}">
                      <a16:colId xmlns:a16="http://schemas.microsoft.com/office/drawing/2014/main" xmlns="" val="20001"/>
                    </a:ext>
                  </a:extLst>
                </a:gridCol>
                <a:gridCol w="2375554">
                  <a:extLst>
                    <a:ext uri="{9D8B030D-6E8A-4147-A177-3AD203B41FA5}">
                      <a16:colId xmlns:a16="http://schemas.microsoft.com/office/drawing/2014/main" xmlns="" val="20002"/>
                    </a:ext>
                  </a:extLst>
                </a:gridCol>
                <a:gridCol w="5165889">
                  <a:extLst>
                    <a:ext uri="{9D8B030D-6E8A-4147-A177-3AD203B41FA5}">
                      <a16:colId xmlns:a16="http://schemas.microsoft.com/office/drawing/2014/main" xmlns="" val="20003"/>
                    </a:ext>
                  </a:extLst>
                </a:gridCol>
              </a:tblGrid>
              <a:tr h="370840">
                <a:tc>
                  <a:txBody>
                    <a:bodyPr/>
                    <a:lstStyle/>
                    <a:p>
                      <a:r>
                        <a:rPr lang="en-CA" dirty="0" smtClean="0">
                          <a:solidFill>
                            <a:schemeClr val="tx1"/>
                          </a:solidFill>
                        </a:rPr>
                        <a:t>Tool</a:t>
                      </a:r>
                      <a:endParaRPr lang="en-CA" dirty="0">
                        <a:solidFill>
                          <a:schemeClr val="tx1"/>
                        </a:solidFill>
                      </a:endParaRPr>
                    </a:p>
                  </a:txBody>
                  <a:tcPr/>
                </a:tc>
                <a:tc>
                  <a:txBody>
                    <a:bodyPr/>
                    <a:lstStyle/>
                    <a:p>
                      <a:r>
                        <a:rPr lang="en-CA" dirty="0" smtClean="0">
                          <a:solidFill>
                            <a:schemeClr val="tx1"/>
                          </a:solidFill>
                        </a:rPr>
                        <a:t>Structure</a:t>
                      </a:r>
                      <a:endParaRPr lang="en-CA" dirty="0">
                        <a:solidFill>
                          <a:schemeClr val="tx1"/>
                        </a:solidFill>
                      </a:endParaRPr>
                    </a:p>
                  </a:txBody>
                  <a:tcPr/>
                </a:tc>
                <a:tc>
                  <a:txBody>
                    <a:bodyPr/>
                    <a:lstStyle/>
                    <a:p>
                      <a:r>
                        <a:rPr lang="en-CA" dirty="0" smtClean="0">
                          <a:solidFill>
                            <a:schemeClr val="tx1"/>
                          </a:solidFill>
                        </a:rPr>
                        <a:t>Field</a:t>
                      </a:r>
                      <a:endParaRPr lang="en-CA" dirty="0">
                        <a:solidFill>
                          <a:schemeClr val="tx1"/>
                        </a:solidFill>
                      </a:endParaRPr>
                    </a:p>
                  </a:txBody>
                  <a:tcPr/>
                </a:tc>
                <a:tc>
                  <a:txBody>
                    <a:bodyPr/>
                    <a:lstStyle/>
                    <a:p>
                      <a:r>
                        <a:rPr lang="en-CA" dirty="0" smtClean="0">
                          <a:solidFill>
                            <a:schemeClr val="tx1"/>
                          </a:solidFill>
                        </a:rPr>
                        <a:t>Description</a:t>
                      </a:r>
                      <a:endParaRPr lang="en-CA" dirty="0">
                        <a:solidFill>
                          <a:schemeClr val="tx1"/>
                        </a:solidFill>
                      </a:endParaRPr>
                    </a:p>
                  </a:txBody>
                  <a:tcPr/>
                </a:tc>
                <a:extLst>
                  <a:ext uri="{0D108BD9-81ED-4DB2-BD59-A6C34878D82A}">
                    <a16:rowId xmlns:a16="http://schemas.microsoft.com/office/drawing/2014/main" xmlns="" val="10000"/>
                  </a:ext>
                </a:extLst>
              </a:tr>
              <a:tr h="370840">
                <a:tc>
                  <a:txBody>
                    <a:bodyPr/>
                    <a:lstStyle/>
                    <a:p>
                      <a:r>
                        <a:rPr lang="en-CA" sz="1600" dirty="0" smtClean="0">
                          <a:solidFill>
                            <a:schemeClr val="bg1"/>
                          </a:solidFill>
                        </a:rPr>
                        <a:t>dumpe2fs</a:t>
                      </a:r>
                      <a:endParaRPr lang="en-CA" sz="1600" dirty="0">
                        <a:solidFill>
                          <a:schemeClr val="bg1"/>
                        </a:solidFill>
                      </a:endParaRPr>
                    </a:p>
                  </a:txBody>
                  <a:tcPr/>
                </a:tc>
                <a:tc>
                  <a:txBody>
                    <a:bodyPr/>
                    <a:lstStyle/>
                    <a:p>
                      <a:r>
                        <a:rPr lang="en-CA" sz="1600" b="0" i="0" u="none" strike="noStrike" kern="1200" baseline="0" dirty="0" smtClean="0">
                          <a:solidFill>
                            <a:schemeClr val="bg1"/>
                          </a:solidFill>
                          <a:latin typeface="+mn-lt"/>
                          <a:ea typeface="+mn-ea"/>
                          <a:cs typeface="+mn-cs"/>
                        </a:rPr>
                        <a:t>super block </a:t>
                      </a:r>
                      <a:endParaRPr lang="en-CA" sz="1600" dirty="0">
                        <a:solidFill>
                          <a:schemeClr val="bg1"/>
                        </a:solidFill>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s_creator_os</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index out of bound error during OS name lookup</a:t>
                      </a:r>
                    </a:p>
                  </a:txBody>
                  <a:tcPr/>
                </a:tc>
                <a:extLst>
                  <a:ext uri="{0D108BD9-81ED-4DB2-BD59-A6C34878D82A}">
                    <a16:rowId xmlns:a16="http://schemas.microsoft.com/office/drawing/2014/main" xmlns="" val="10001"/>
                  </a:ext>
                </a:extLst>
              </a:tr>
              <a:tr h="370840">
                <a:tc>
                  <a:txBody>
                    <a:bodyPr/>
                    <a:lstStyle/>
                    <a:p>
                      <a:r>
                        <a:rPr lang="en-CA" sz="1600" dirty="0" smtClean="0">
                          <a:solidFill>
                            <a:schemeClr val="bg1"/>
                          </a:solidFill>
                        </a:rPr>
                        <a:t>dump.f2fs</a:t>
                      </a:r>
                      <a:endParaRPr lang="en-CA" sz="1600" dirty="0">
                        <a:solidFill>
                          <a:schemeClr val="bg1"/>
                        </a:solidFill>
                      </a:endParaRPr>
                    </a:p>
                  </a:txBody>
                  <a:tcPr/>
                </a:tc>
                <a:tc>
                  <a:txBody>
                    <a:bodyPr/>
                    <a:lstStyle/>
                    <a:p>
                      <a:r>
                        <a:rPr lang="en-CA" sz="1600" b="0" i="0" u="none" strike="noStrike" kern="1200" baseline="0" dirty="0" smtClean="0">
                          <a:solidFill>
                            <a:schemeClr val="bg1"/>
                          </a:solidFill>
                          <a:latin typeface="+mn-lt"/>
                          <a:ea typeface="+mn-ea"/>
                          <a:cs typeface="+mn-cs"/>
                        </a:rPr>
                        <a:t>super block </a:t>
                      </a:r>
                      <a:endParaRPr lang="en-CA" sz="1600" dirty="0">
                        <a:solidFill>
                          <a:schemeClr val="bg1"/>
                        </a:solidFill>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log_blocks_per_seg</a:t>
                      </a:r>
                      <a:r>
                        <a:rPr lang="en-CA" sz="1500" b="0" i="0" u="none" strike="noStrike" kern="1200" baseline="0" dirty="0" smtClean="0">
                          <a:solidFill>
                            <a:schemeClr val="bg1"/>
                          </a:solidFill>
                          <a:latin typeface="Courier New" panose="02070309020205020404" pitchFamily="49" charset="0"/>
                          <a:ea typeface="+mn-ea"/>
                          <a:cs typeface="Courier New" panose="02070309020205020404" pitchFamily="49" charset="0"/>
                        </a:rPr>
                        <a:t> </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index out of bound error while building </a:t>
                      </a:r>
                      <a:r>
                        <a:rPr lang="en-CA" sz="1600" b="0" i="0" u="none" strike="noStrike" kern="1200" baseline="0" dirty="0" err="1" smtClean="0">
                          <a:solidFill>
                            <a:schemeClr val="bg1"/>
                          </a:solidFill>
                          <a:latin typeface="+mn-lt"/>
                          <a:ea typeface="+mn-ea"/>
                          <a:cs typeface="+mn-cs"/>
                        </a:rPr>
                        <a:t>nat</a:t>
                      </a:r>
                      <a:r>
                        <a:rPr lang="en-CA" sz="1600" b="0" i="0" u="none" strike="noStrike" kern="1200" baseline="0" dirty="0" smtClean="0">
                          <a:solidFill>
                            <a:schemeClr val="bg1"/>
                          </a:solidFill>
                          <a:latin typeface="+mn-lt"/>
                          <a:ea typeface="+mn-ea"/>
                          <a:cs typeface="+mn-cs"/>
                        </a:rPr>
                        <a:t> bitmap</a:t>
                      </a:r>
                    </a:p>
                  </a:txBody>
                  <a:tcPr/>
                </a:tc>
                <a:extLst>
                  <a:ext uri="{0D108BD9-81ED-4DB2-BD59-A6C34878D82A}">
                    <a16:rowId xmlns:a16="http://schemas.microsoft.com/office/drawing/2014/main" xmlns="" val="10002"/>
                  </a:ext>
                </a:extLst>
              </a:tr>
              <a:tr h="370840">
                <a:tc>
                  <a:txBody>
                    <a:bodyPr/>
                    <a:lstStyle/>
                    <a:p>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smtClean="0">
                          <a:solidFill>
                            <a:schemeClr val="bg1"/>
                          </a:solidFill>
                          <a:latin typeface="+mn-lt"/>
                          <a:ea typeface="+mn-ea"/>
                          <a:cs typeface="+mn-cs"/>
                        </a:rPr>
                        <a:t>super block </a:t>
                      </a:r>
                      <a:endParaRPr lang="en-CA" sz="1600" dirty="0" smtClean="0">
                        <a:solidFill>
                          <a:schemeClr val="bg1"/>
                        </a:solidFill>
                      </a:endParaRPr>
                    </a:p>
                    <a:p>
                      <a:endParaRPr lang="en-CA" sz="1600" b="0" i="0" u="none" strike="noStrike" kern="1200" baseline="0" dirty="0" smtClean="0">
                        <a:solidFill>
                          <a:schemeClr val="bg1"/>
                        </a:solidFill>
                        <a:latin typeface="+mn-lt"/>
                        <a:ea typeface="+mn-ea"/>
                        <a:cs typeface="+mn-cs"/>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segment_count_main</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null pointer dereference after </a:t>
                      </a:r>
                      <a:r>
                        <a:rPr lang="en-CA" sz="1600" b="0" i="0" u="none" strike="noStrike" kern="1200" baseline="0" dirty="0" err="1" smtClean="0">
                          <a:solidFill>
                            <a:schemeClr val="bg1"/>
                          </a:solidFill>
                          <a:latin typeface="+mn-lt"/>
                          <a:ea typeface="+mn-ea"/>
                          <a:cs typeface="+mn-cs"/>
                        </a:rPr>
                        <a:t>calloc</a:t>
                      </a:r>
                      <a:r>
                        <a:rPr lang="en-CA" sz="1600" b="0" i="0" u="none" strike="noStrike" kern="1200" baseline="0" dirty="0" smtClean="0">
                          <a:solidFill>
                            <a:schemeClr val="bg1"/>
                          </a:solidFill>
                          <a:latin typeface="+mn-lt"/>
                          <a:ea typeface="+mn-ea"/>
                          <a:cs typeface="+mn-cs"/>
                        </a:rPr>
                        <a:t> fails</a:t>
                      </a:r>
                    </a:p>
                  </a:txBody>
                  <a:tcPr/>
                </a:tc>
                <a:extLst>
                  <a:ext uri="{0D108BD9-81ED-4DB2-BD59-A6C34878D82A}">
                    <a16:rowId xmlns:a16="http://schemas.microsoft.com/office/drawing/2014/main" xmlns="" val="10003"/>
                  </a:ext>
                </a:extLst>
              </a:tr>
              <a:tr h="370840">
                <a:tc>
                  <a:txBody>
                    <a:bodyPr/>
                    <a:lstStyle/>
                    <a:p>
                      <a:endParaRPr lang="en-CA" sz="1600" dirty="0">
                        <a:solidFill>
                          <a:schemeClr val="bg1"/>
                        </a:solidFill>
                      </a:endParaRPr>
                    </a:p>
                  </a:txBody>
                  <a:tcPr/>
                </a:tc>
                <a:tc>
                  <a:txBody>
                    <a:bodyPr/>
                    <a:lstStyle/>
                    <a:p>
                      <a:r>
                        <a:rPr lang="en-CA" sz="1600" dirty="0" smtClean="0">
                          <a:solidFill>
                            <a:schemeClr val="bg1"/>
                          </a:solidFill>
                        </a:rPr>
                        <a:t>checkpoint</a:t>
                      </a:r>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cp_blkaddr</a:t>
                      </a:r>
                      <a:endParaRPr lang="en-CA" sz="1500" b="0" i="0" u="none" strike="noStrike" kern="1200" baseline="0" dirty="0" smtClean="0">
                        <a:solidFill>
                          <a:schemeClr val="bg1"/>
                        </a:solidFill>
                        <a:latin typeface="Courier New" panose="02070309020205020404" pitchFamily="49" charset="0"/>
                        <a:ea typeface="+mn-ea"/>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double free error during error handling</a:t>
                      </a:r>
                      <a:endParaRPr lang="en-CA" sz="1600" dirty="0">
                        <a:solidFill>
                          <a:schemeClr val="bg1"/>
                        </a:solidFill>
                      </a:endParaRPr>
                    </a:p>
                  </a:txBody>
                  <a:tcPr/>
                </a:tc>
                <a:extLst>
                  <a:ext uri="{0D108BD9-81ED-4DB2-BD59-A6C34878D82A}">
                    <a16:rowId xmlns:a16="http://schemas.microsoft.com/office/drawing/2014/main" xmlns="" val="10004"/>
                  </a:ext>
                </a:extLst>
              </a:tr>
              <a:tr h="370840">
                <a:tc>
                  <a:txBody>
                    <a:bodyPr/>
                    <a:lstStyle/>
                    <a:p>
                      <a:endParaRPr lang="en-CA" sz="1600" dirty="0">
                        <a:solidFill>
                          <a:schemeClr val="bg1"/>
                        </a:solidFill>
                      </a:endParaRPr>
                    </a:p>
                  </a:txBody>
                  <a:tcPr/>
                </a:tc>
                <a:tc>
                  <a:txBody>
                    <a:bodyPr/>
                    <a:lstStyle/>
                    <a:p>
                      <a:r>
                        <a:rPr lang="en-CA" sz="1600" b="0" i="0" u="none" strike="noStrike" kern="1200" baseline="0" dirty="0" smtClean="0">
                          <a:solidFill>
                            <a:schemeClr val="bg1"/>
                          </a:solidFill>
                          <a:latin typeface="+mn-lt"/>
                          <a:ea typeface="+mn-ea"/>
                          <a:cs typeface="+mn-cs"/>
                        </a:rPr>
                        <a:t>summary</a:t>
                      </a:r>
                      <a:endParaRPr lang="en-CA" sz="1600" dirty="0">
                        <a:solidFill>
                          <a:schemeClr val="bg1"/>
                        </a:solidFill>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n_nats</a:t>
                      </a:r>
                      <a:r>
                        <a:rPr lang="en-CA" sz="1500" b="0" i="0" u="none" strike="noStrike" kern="1200" baseline="0" dirty="0" smtClean="0">
                          <a:solidFill>
                            <a:schemeClr val="bg1"/>
                          </a:solidFill>
                          <a:latin typeface="Courier New" panose="02070309020205020404" pitchFamily="49" charset="0"/>
                          <a:ea typeface="+mn-ea"/>
                          <a:cs typeface="Courier New" panose="02070309020205020404" pitchFamily="49" charset="0"/>
                        </a:rPr>
                        <a:t> </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index out of bound error during </a:t>
                      </a:r>
                      <a:r>
                        <a:rPr lang="en-CA" sz="1600" b="0" i="0" u="none" strike="noStrike" kern="1200" baseline="0" dirty="0" err="1" smtClean="0">
                          <a:solidFill>
                            <a:schemeClr val="bg1"/>
                          </a:solidFill>
                          <a:latin typeface="+mn-lt"/>
                          <a:ea typeface="+mn-ea"/>
                          <a:cs typeface="+mn-cs"/>
                        </a:rPr>
                        <a:t>nid</a:t>
                      </a:r>
                      <a:r>
                        <a:rPr lang="en-CA" sz="1600" b="0" i="0" u="none" strike="noStrike" kern="1200" baseline="0" dirty="0" smtClean="0">
                          <a:solidFill>
                            <a:schemeClr val="bg1"/>
                          </a:solidFill>
                          <a:latin typeface="+mn-lt"/>
                          <a:ea typeface="+mn-ea"/>
                          <a:cs typeface="+mn-cs"/>
                        </a:rPr>
                        <a:t> lookup</a:t>
                      </a:r>
                    </a:p>
                  </a:txBody>
                  <a:tcPr/>
                </a:tc>
                <a:extLst>
                  <a:ext uri="{0D108BD9-81ED-4DB2-BD59-A6C34878D82A}">
                    <a16:rowId xmlns:a16="http://schemas.microsoft.com/office/drawing/2014/main" xmlns="" val="10005"/>
                  </a:ext>
                </a:extLst>
              </a:tr>
              <a:tr h="370840">
                <a:tc>
                  <a:txBody>
                    <a:bodyPr/>
                    <a:lstStyle/>
                    <a:p>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err="1" smtClean="0">
                          <a:solidFill>
                            <a:schemeClr val="bg1"/>
                          </a:solidFill>
                          <a:latin typeface="+mn-lt"/>
                          <a:ea typeface="+mn-ea"/>
                          <a:cs typeface="+mn-cs"/>
                        </a:rPr>
                        <a:t>inode</a:t>
                      </a:r>
                      <a:endParaRPr lang="en-CA" sz="1600" dirty="0" smtClean="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i_namelen</a:t>
                      </a:r>
                      <a:endParaRPr lang="en-CA" sz="1500" dirty="0" smtClean="0">
                        <a:solidFill>
                          <a:schemeClr val="bg1"/>
                        </a:solidFill>
                        <a:latin typeface="Courier New" panose="02070309020205020404" pitchFamily="49" charset="0"/>
                        <a:cs typeface="Courier New" panose="02070309020205020404" pitchFamily="49" charset="0"/>
                      </a:endParaRPr>
                    </a:p>
                    <a:p>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smtClean="0">
                          <a:solidFill>
                            <a:schemeClr val="bg1"/>
                          </a:solidFill>
                          <a:latin typeface="+mn-lt"/>
                          <a:ea typeface="+mn-ea"/>
                          <a:cs typeface="+mn-cs"/>
                        </a:rPr>
                        <a:t>index out of bound error when adding null character to end of name</a:t>
                      </a:r>
                      <a:endParaRPr lang="en-CA" sz="1600" dirty="0" smtClean="0">
                        <a:solidFill>
                          <a:schemeClr val="bg1"/>
                        </a:solidFill>
                      </a:endParaRPr>
                    </a:p>
                  </a:txBody>
                  <a:tcPr/>
                </a:tc>
                <a:extLst>
                  <a:ext uri="{0D108BD9-81ED-4DB2-BD59-A6C34878D82A}">
                    <a16:rowId xmlns:a16="http://schemas.microsoft.com/office/drawing/2014/main" xmlns="" val="10006"/>
                  </a:ext>
                </a:extLst>
              </a:tr>
            </a:tbl>
          </a:graphicData>
        </a:graphic>
      </p:graphicFrame>
    </p:spTree>
    <p:extLst>
      <p:ext uri="{BB962C8B-B14F-4D97-AF65-F5344CB8AC3E}">
        <p14:creationId xmlns:p14="http://schemas.microsoft.com/office/powerpoint/2010/main" val="57525318"/>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Preferential Caching</a:t>
            </a:r>
            <a:endParaRPr lang="en-CA" dirty="0"/>
          </a:p>
        </p:txBody>
      </p:sp>
      <p:sp>
        <p:nvSpPr>
          <p:cNvPr id="3" name="Content Placeholder 2"/>
          <p:cNvSpPr>
            <a:spLocks noGrp="1"/>
          </p:cNvSpPr>
          <p:nvPr>
            <p:ph idx="1"/>
          </p:nvPr>
        </p:nvSpPr>
        <p:spPr/>
        <p:txBody>
          <a:bodyPr/>
          <a:lstStyle/>
          <a:p>
            <a:r>
              <a:rPr lang="en-CA" smtClean="0"/>
              <a:t>2 identical fileservers running on block layer cache</a:t>
            </a:r>
          </a:p>
          <a:p>
            <a:endParaRPr lang="en-CA" smtClean="0"/>
          </a:p>
          <a:p>
            <a:endParaRPr lang="en-CA" smtClean="0"/>
          </a:p>
          <a:p>
            <a:endParaRPr lang="en-CA" smtClean="0"/>
          </a:p>
          <a:p>
            <a:endParaRPr lang="en-CA" smtClean="0"/>
          </a:p>
          <a:p>
            <a:endParaRPr lang="en-CA" smtClean="0"/>
          </a:p>
          <a:p>
            <a:endParaRPr lang="en-CA" smtClean="0"/>
          </a:p>
          <a:p>
            <a:endParaRPr lang="en-CA" smtClean="0"/>
          </a:p>
          <a:p>
            <a:r>
              <a:rPr lang="en-CA" smtClean="0"/>
              <a:t>Overall performance improves with preferential caching</a:t>
            </a:r>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45</a:t>
            </a:fld>
            <a:endParaRPr lang="en-CA" dirty="0"/>
          </a:p>
        </p:txBody>
      </p:sp>
      <p:grpSp>
        <p:nvGrpSpPr>
          <p:cNvPr id="9" name="Group 8"/>
          <p:cNvGrpSpPr/>
          <p:nvPr/>
        </p:nvGrpSpPr>
        <p:grpSpPr>
          <a:xfrm>
            <a:off x="1741437" y="2197876"/>
            <a:ext cx="7477175" cy="3007076"/>
            <a:chOff x="1741437" y="3261749"/>
            <a:chExt cx="7477175" cy="3007076"/>
          </a:xfrm>
        </p:grpSpPr>
        <p:graphicFrame>
          <p:nvGraphicFramePr>
            <p:cNvPr id="6" name="Chart 5"/>
            <p:cNvGraphicFramePr>
              <a:graphicFrameLocks/>
            </p:cNvGraphicFramePr>
            <p:nvPr>
              <p:extLst>
                <p:ext uri="{D42A27DB-BD31-4B8C-83A1-F6EECF244321}">
                  <p14:modId xmlns:p14="http://schemas.microsoft.com/office/powerpoint/2010/main" val="228972012"/>
                </p:ext>
              </p:extLst>
            </p:nvPr>
          </p:nvGraphicFramePr>
          <p:xfrm>
            <a:off x="1741437" y="3271174"/>
            <a:ext cx="7477175" cy="2997651"/>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2"/>
            <p:cNvSpPr txBox="1"/>
            <p:nvPr/>
          </p:nvSpPr>
          <p:spPr>
            <a:xfrm>
              <a:off x="2613536" y="4366649"/>
              <a:ext cx="577402" cy="338554"/>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sp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lang="en-CA" sz="1600" b="1" u="sng">
                  <a:solidFill>
                    <a:schemeClr val="bg1"/>
                  </a:solidFill>
                </a:rPr>
                <a:t>Btrfs</a:t>
              </a:r>
            </a:p>
          </p:txBody>
        </p:sp>
        <p:sp>
          <p:nvSpPr>
            <p:cNvPr id="8" name="TextBox 4"/>
            <p:cNvSpPr txBox="1"/>
            <p:nvPr/>
          </p:nvSpPr>
          <p:spPr>
            <a:xfrm>
              <a:off x="2613536" y="3261749"/>
              <a:ext cx="583814" cy="338554"/>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sp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lang="en-CA" sz="1600" b="1" u="sng" dirty="0">
                  <a:solidFill>
                    <a:schemeClr val="bg1"/>
                  </a:solidFill>
                </a:rPr>
                <a:t>Ext4</a:t>
              </a:r>
            </a:p>
          </p:txBody>
        </p:sp>
      </p:grpSp>
    </p:spTree>
    <p:extLst>
      <p:ext uri="{BB962C8B-B14F-4D97-AF65-F5344CB8AC3E}">
        <p14:creationId xmlns:p14="http://schemas.microsoft.com/office/powerpoint/2010/main" val="3197873276"/>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FSSUPER Annotation</a:t>
            </a:r>
            <a:endParaRPr lang="en-CA" dirty="0"/>
          </a:p>
        </p:txBody>
      </p:sp>
      <p:sp>
        <p:nvSpPr>
          <p:cNvPr id="3" name="Content Placeholder 2"/>
          <p:cNvSpPr>
            <a:spLocks noGrp="1"/>
          </p:cNvSpPr>
          <p:nvPr>
            <p:ph idx="1"/>
          </p:nvPr>
        </p:nvSpPr>
        <p:spPr>
          <a:xfrm>
            <a:off x="684211" y="1515358"/>
            <a:ext cx="10285797" cy="1589349"/>
          </a:xfrm>
        </p:spPr>
        <p:txBody>
          <a:bodyPr/>
          <a:lstStyle/>
          <a:p>
            <a:r>
              <a:rPr lang="en-CA" dirty="0" smtClean="0"/>
              <a:t>Super block is the root of every file system tree</a:t>
            </a:r>
          </a:p>
          <a:p>
            <a:pPr lvl="1"/>
            <a:r>
              <a:rPr lang="en-CA" dirty="0" smtClean="0"/>
              <a:t>Specified using FSSUPER annotation</a:t>
            </a:r>
          </a:p>
          <a:p>
            <a:pPr lvl="1"/>
            <a:r>
              <a:rPr lang="en-CA" i="1" dirty="0" smtClean="0"/>
              <a:t>location </a:t>
            </a:r>
            <a:r>
              <a:rPr lang="en-CA" dirty="0" smtClean="0"/>
              <a:t>argument specifies </a:t>
            </a:r>
            <a:r>
              <a:rPr lang="en-CA" dirty="0"/>
              <a:t>address in byte offset</a:t>
            </a:r>
          </a:p>
        </p:txBody>
      </p:sp>
      <p:sp>
        <p:nvSpPr>
          <p:cNvPr id="4" name="Slide Number Placeholder 3"/>
          <p:cNvSpPr>
            <a:spLocks noGrp="1"/>
          </p:cNvSpPr>
          <p:nvPr>
            <p:ph type="sldNum" sz="quarter" idx="12"/>
          </p:nvPr>
        </p:nvSpPr>
        <p:spPr/>
        <p:txBody>
          <a:bodyPr/>
          <a:lstStyle/>
          <a:p>
            <a:fld id="{7B2023C8-B124-43A9-8F92-0EEF5BAA9995}" type="slidenum">
              <a:rPr lang="en-CA" smtClean="0"/>
              <a:pPr/>
              <a:t>46</a:t>
            </a:fld>
            <a:endParaRPr lang="en-CA" dirty="0"/>
          </a:p>
        </p:txBody>
      </p:sp>
      <p:sp>
        <p:nvSpPr>
          <p:cNvPr id="6" name="Rectangle 5"/>
          <p:cNvSpPr/>
          <p:nvPr/>
        </p:nvSpPr>
        <p:spPr>
          <a:xfrm>
            <a:off x="950024" y="3027765"/>
            <a:ext cx="6641621" cy="1754326"/>
          </a:xfrm>
          <a:prstGeom prst="rect">
            <a:avLst/>
          </a:prstGeom>
        </p:spPr>
        <p:txBody>
          <a:bodyPr wrap="square">
            <a:spAutoFit/>
          </a:bodyPr>
          <a:lstStyle/>
          <a:p>
            <a:r>
              <a:rPr lang="en-CA" b="1" dirty="0">
                <a:solidFill>
                  <a:schemeClr val="bg1"/>
                </a:solidFill>
                <a:latin typeface="Courier New" panose="02070309020205020404" pitchFamily="49" charset="0"/>
                <a:cs typeface="Courier New" panose="02070309020205020404" pitchFamily="49" charset="0"/>
              </a:rPr>
              <a:t>FSSUPER</a:t>
            </a:r>
            <a:r>
              <a:rPr lang="en-CA" dirty="0">
                <a:solidFill>
                  <a:schemeClr val="bg1"/>
                </a:solidFill>
                <a:latin typeface="Courier New" panose="02070309020205020404" pitchFamily="49" charset="0"/>
                <a:cs typeface="Courier New" panose="02070309020205020404" pitchFamily="49" charset="0"/>
              </a:rPr>
              <a:t>(location=1024) ext4_super_block {</a:t>
            </a:r>
          </a:p>
          <a:p>
            <a:r>
              <a:rPr lang="en-CA" dirty="0">
                <a:solidFill>
                  <a:schemeClr val="bg1"/>
                </a:solidFill>
                <a:latin typeface="Courier New" panose="02070309020205020404" pitchFamily="49" charset="0"/>
                <a:cs typeface="Courier New" panose="02070309020205020404" pitchFamily="49" charset="0"/>
              </a:rPr>
              <a:t>  __le32 </a:t>
            </a:r>
            <a:r>
              <a:rPr lang="en-CA" dirty="0" err="1">
                <a:solidFill>
                  <a:schemeClr val="bg1"/>
                </a:solidFill>
                <a:latin typeface="Courier New" panose="02070309020205020404" pitchFamily="49" charset="0"/>
                <a:cs typeface="Courier New" panose="02070309020205020404" pitchFamily="49" charset="0"/>
              </a:rPr>
              <a:t>s_log_block_size</a:t>
            </a:r>
            <a:r>
              <a:rPr lang="en-CA" dirty="0">
                <a:solidFill>
                  <a:schemeClr val="bg1"/>
                </a:solidFill>
                <a:latin typeface="Courier New" panose="02070309020205020404" pitchFamily="49" charset="0"/>
                <a:cs typeface="Courier New" panose="02070309020205020404" pitchFamily="49" charset="0"/>
              </a:rPr>
              <a:t>;</a:t>
            </a:r>
          </a:p>
          <a:p>
            <a:r>
              <a:rPr lang="en-CA" dirty="0" smtClean="0">
                <a:solidFill>
                  <a:schemeClr val="bg1"/>
                </a:solidFill>
                <a:latin typeface="Courier New" panose="02070309020205020404" pitchFamily="49" charset="0"/>
                <a:cs typeface="Courier New" panose="02070309020205020404" pitchFamily="49" charset="0"/>
              </a:rPr>
              <a:t>  ...</a:t>
            </a:r>
          </a:p>
          <a:p>
            <a:r>
              <a:rPr lang="fr-FR" dirty="0" smtClean="0">
                <a:solidFill>
                  <a:schemeClr val="bg1"/>
                </a:solidFill>
                <a:latin typeface="Courier New" panose="02070309020205020404" pitchFamily="49" charset="0"/>
                <a:cs typeface="Courier New" panose="02070309020205020404" pitchFamily="49" charset="0"/>
              </a:rPr>
              <a:t>  </a:t>
            </a:r>
            <a:r>
              <a:rPr lang="fr-FR" b="1" dirty="0" smtClean="0">
                <a:solidFill>
                  <a:schemeClr val="bg1"/>
                </a:solidFill>
                <a:latin typeface="Courier New" panose="02070309020205020404" pitchFamily="49" charset="0"/>
                <a:cs typeface="Courier New" panose="02070309020205020404" pitchFamily="49" charset="0"/>
              </a:rPr>
              <a:t>POINTER</a:t>
            </a:r>
            <a:r>
              <a:rPr lang="fr-FR" dirty="0" smtClean="0">
                <a:solidFill>
                  <a:schemeClr val="bg1"/>
                </a:solidFill>
                <a:latin typeface="Courier New" panose="02070309020205020404" pitchFamily="49" charset="0"/>
                <a:cs typeface="Courier New" panose="02070309020205020404" pitchFamily="49" charset="0"/>
              </a:rPr>
              <a:t>(</a:t>
            </a:r>
            <a:r>
              <a:rPr lang="fr-FR" dirty="0" err="1" smtClean="0">
                <a:solidFill>
                  <a:schemeClr val="bg1"/>
                </a:solidFill>
                <a:latin typeface="Courier New" panose="02070309020205020404" pitchFamily="49" charset="0"/>
                <a:cs typeface="Courier New" panose="02070309020205020404" pitchFamily="49" charset="0"/>
              </a:rPr>
              <a:t>addrspace</a:t>
            </a:r>
            <a:r>
              <a:rPr lang="fr-FR" dirty="0" smtClean="0">
                <a:solidFill>
                  <a:schemeClr val="bg1"/>
                </a:solidFill>
                <a:latin typeface="Courier New" panose="02070309020205020404" pitchFamily="49" charset="0"/>
                <a:cs typeface="Courier New" panose="02070309020205020404" pitchFamily="49" charset="0"/>
              </a:rPr>
              <a:t>=file</a:t>
            </a:r>
            <a:r>
              <a:rPr lang="fr-FR" dirty="0">
                <a:solidFill>
                  <a:schemeClr val="bg1"/>
                </a:solidFill>
                <a:latin typeface="Courier New" panose="02070309020205020404" pitchFamily="49" charset="0"/>
                <a:cs typeface="Courier New" panose="02070309020205020404" pitchFamily="49" charset="0"/>
              </a:rPr>
              <a:t>, type=ext4_journal)</a:t>
            </a:r>
          </a:p>
          <a:p>
            <a:r>
              <a:rPr lang="fr-FR" dirty="0" smtClean="0">
                <a:solidFill>
                  <a:schemeClr val="bg1"/>
                </a:solidFill>
                <a:latin typeface="Courier New" panose="02070309020205020404" pitchFamily="49" charset="0"/>
                <a:cs typeface="Courier New" panose="02070309020205020404" pitchFamily="49" charset="0"/>
              </a:rPr>
              <a:t>  __</a:t>
            </a:r>
            <a:r>
              <a:rPr lang="fr-FR" dirty="0">
                <a:solidFill>
                  <a:schemeClr val="bg1"/>
                </a:solidFill>
                <a:latin typeface="Courier New" panose="02070309020205020404" pitchFamily="49" charset="0"/>
                <a:cs typeface="Courier New" panose="02070309020205020404" pitchFamily="49" charset="0"/>
              </a:rPr>
              <a:t>le32 </a:t>
            </a:r>
            <a:r>
              <a:rPr lang="fr-FR" dirty="0" err="1">
                <a:solidFill>
                  <a:schemeClr val="bg1"/>
                </a:solidFill>
                <a:latin typeface="Courier New" panose="02070309020205020404" pitchFamily="49" charset="0"/>
                <a:cs typeface="Courier New" panose="02070309020205020404" pitchFamily="49" charset="0"/>
              </a:rPr>
              <a:t>s_journal_inum</a:t>
            </a:r>
            <a:r>
              <a:rPr lang="fr-FR" dirty="0">
                <a:solidFill>
                  <a:schemeClr val="bg1"/>
                </a:solidFill>
                <a:latin typeface="Courier New" panose="02070309020205020404" pitchFamily="49" charset="0"/>
                <a:cs typeface="Courier New" panose="02070309020205020404" pitchFamily="49" charset="0"/>
              </a:rPr>
              <a:t>;</a:t>
            </a:r>
            <a:endParaRPr lang="en-CA" dirty="0" smtClean="0">
              <a:solidFill>
                <a:schemeClr val="bg1"/>
              </a:solidFill>
              <a:latin typeface="Courier New" panose="02070309020205020404" pitchFamily="49" charset="0"/>
              <a:cs typeface="Courier New" panose="02070309020205020404" pitchFamily="49" charset="0"/>
            </a:endParaRPr>
          </a:p>
          <a:p>
            <a:r>
              <a:rPr lang="en-CA" dirty="0" smtClean="0">
                <a:solidFill>
                  <a:schemeClr val="bg1"/>
                </a:solidFill>
                <a:latin typeface="Courier New" panose="02070309020205020404" pitchFamily="49" charset="0"/>
                <a:cs typeface="Courier New" panose="02070309020205020404" pitchFamily="49" charset="0"/>
              </a:rPr>
              <a:t>};</a:t>
            </a:r>
            <a:endParaRPr lang="en-CA" dirty="0">
              <a:solidFill>
                <a:schemeClr val="bg1"/>
              </a:solidFill>
              <a:latin typeface="Courier New" panose="02070309020205020404" pitchFamily="49" charset="0"/>
              <a:cs typeface="Courier New" panose="02070309020205020404" pitchFamily="49" charset="0"/>
            </a:endParaRPr>
          </a:p>
        </p:txBody>
      </p:sp>
      <p:sp>
        <p:nvSpPr>
          <p:cNvPr id="13" name="Rectangle 12"/>
          <p:cNvSpPr/>
          <p:nvPr/>
        </p:nvSpPr>
        <p:spPr>
          <a:xfrm>
            <a:off x="5188490" y="4640965"/>
            <a:ext cx="1006403" cy="84728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14" name="Rectangle 13"/>
          <p:cNvSpPr/>
          <p:nvPr/>
        </p:nvSpPr>
        <p:spPr>
          <a:xfrm>
            <a:off x="5269568" y="4706134"/>
            <a:ext cx="844247" cy="53352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smtClean="0">
                <a:solidFill>
                  <a:schemeClr val="bg1"/>
                </a:solidFill>
              </a:rPr>
              <a:t>supzer</a:t>
            </a:r>
            <a:r>
              <a:rPr lang="en-US" sz="1600" dirty="0" smtClean="0">
                <a:solidFill>
                  <a:schemeClr val="bg1"/>
                </a:solidFill>
              </a:rPr>
              <a:t> block</a:t>
            </a:r>
            <a:endParaRPr lang="en-US" sz="1600" dirty="0">
              <a:solidFill>
                <a:schemeClr val="bg1"/>
              </a:solidFill>
            </a:endParaRPr>
          </a:p>
        </p:txBody>
      </p:sp>
      <p:sp>
        <p:nvSpPr>
          <p:cNvPr id="16" name="Rectangle 15"/>
          <p:cNvSpPr/>
          <p:nvPr/>
        </p:nvSpPr>
        <p:spPr>
          <a:xfrm>
            <a:off x="7315660" y="4640965"/>
            <a:ext cx="2604519" cy="84728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solidFill>
                <a:schemeClr val="bg1"/>
              </a:solidFill>
            </a:endParaRPr>
          </a:p>
        </p:txBody>
      </p:sp>
      <p:sp>
        <p:nvSpPr>
          <p:cNvPr id="17" name="Rectangle 16"/>
          <p:cNvSpPr/>
          <p:nvPr/>
        </p:nvSpPr>
        <p:spPr>
          <a:xfrm>
            <a:off x="7387065" y="4706134"/>
            <a:ext cx="1386836" cy="329131"/>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ext4 journal</a:t>
            </a:r>
            <a:endParaRPr lang="en-US" sz="1600" dirty="0">
              <a:solidFill>
                <a:schemeClr val="bg1"/>
              </a:solidFill>
            </a:endParaRPr>
          </a:p>
        </p:txBody>
      </p:sp>
      <p:cxnSp>
        <p:nvCxnSpPr>
          <p:cNvPr id="18" name="Straight Arrow Connector 17"/>
          <p:cNvCxnSpPr>
            <a:stCxn id="13" idx="3"/>
            <a:endCxn id="16" idx="1"/>
          </p:cNvCxnSpPr>
          <p:nvPr/>
        </p:nvCxnSpPr>
        <p:spPr>
          <a:xfrm>
            <a:off x="6194893" y="5064606"/>
            <a:ext cx="1120765"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6219436" y="4640965"/>
            <a:ext cx="1061509" cy="338554"/>
          </a:xfrm>
          <a:prstGeom prst="rect">
            <a:avLst/>
          </a:prstGeom>
          <a:noFill/>
        </p:spPr>
        <p:txBody>
          <a:bodyPr wrap="none" rtlCol="0">
            <a:spAutoFit/>
          </a:bodyPr>
          <a:lstStyle/>
          <a:p>
            <a:r>
              <a:rPr lang="en-CA" sz="1600" i="1" dirty="0">
                <a:solidFill>
                  <a:schemeClr val="bg1"/>
                </a:solidFill>
              </a:rPr>
              <a:t>file </a:t>
            </a:r>
            <a:r>
              <a:rPr lang="en-CA" sz="1600" i="1" dirty="0" err="1">
                <a:solidFill>
                  <a:schemeClr val="bg1"/>
                </a:solidFill>
              </a:rPr>
              <a:t>addr</a:t>
            </a:r>
            <a:r>
              <a:rPr lang="en-CA" sz="1600" i="1" dirty="0">
                <a:solidFill>
                  <a:schemeClr val="bg1"/>
                </a:solidFill>
              </a:rPr>
              <a:t>.</a:t>
            </a:r>
          </a:p>
        </p:txBody>
      </p:sp>
    </p:spTree>
    <p:extLst>
      <p:ext uri="{BB962C8B-B14F-4D97-AF65-F5344CB8AC3E}">
        <p14:creationId xmlns:p14="http://schemas.microsoft.com/office/powerpoint/2010/main" val="6600694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F2FS NID Address Space</a:t>
            </a:r>
            <a:endParaRPr lang="en-CA" dirty="0"/>
          </a:p>
        </p:txBody>
      </p:sp>
      <p:sp>
        <p:nvSpPr>
          <p:cNvPr id="3" name="Content Placeholder 2"/>
          <p:cNvSpPr>
            <a:spLocks noGrp="1"/>
          </p:cNvSpPr>
          <p:nvPr>
            <p:ph idx="1"/>
          </p:nvPr>
        </p:nvSpPr>
        <p:spPr/>
        <p:txBody>
          <a:bodyPr/>
          <a:lstStyle/>
          <a:p>
            <a:r>
              <a:rPr lang="en-CA" dirty="0"/>
              <a:t>NID address is an index </a:t>
            </a:r>
            <a:r>
              <a:rPr lang="en-CA" dirty="0" smtClean="0"/>
              <a:t>into the </a:t>
            </a:r>
            <a:r>
              <a:rPr lang="en-CA" dirty="0"/>
              <a:t>node address table for an </a:t>
            </a:r>
            <a:r>
              <a:rPr lang="en-CA" dirty="0" smtClean="0"/>
              <a:t/>
            </a:r>
            <a:br>
              <a:rPr lang="en-CA" dirty="0" smtClean="0"/>
            </a:br>
            <a:r>
              <a:rPr lang="en-CA" dirty="0" smtClean="0"/>
              <a:t>F2FS </a:t>
            </a:r>
            <a:r>
              <a:rPr lang="en-CA" dirty="0"/>
              <a:t>metadata </a:t>
            </a:r>
            <a:r>
              <a:rPr lang="en-CA" dirty="0" smtClean="0"/>
              <a:t>block</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47</a:t>
            </a:fld>
            <a:endParaRPr lang="en-CA" dirty="0"/>
          </a:p>
        </p:txBody>
      </p:sp>
    </p:spTree>
    <p:extLst>
      <p:ext uri="{BB962C8B-B14F-4D97-AF65-F5344CB8AC3E}">
        <p14:creationId xmlns:p14="http://schemas.microsoft.com/office/powerpoint/2010/main" val="228428297"/>
      </p:ext>
    </p:extLst>
  </p:cSld>
  <p:clrMapOvr>
    <a:masterClrMapping/>
  </p:clrMapOvr>
</p:sld>
</file>

<file path=ppt/theme/theme1.xml><?xml version="1.0" encoding="utf-8"?>
<a:theme xmlns:a="http://schemas.openxmlformats.org/drawingml/2006/main" name="Slice">
  <a:themeElements>
    <a:clrScheme name="University of Toronto">
      <a:dk1>
        <a:srgbClr val="000000"/>
      </a:dk1>
      <a:lt1>
        <a:srgbClr val="FFFFFF"/>
      </a:lt1>
      <a:dk2>
        <a:srgbClr val="ACE9F8"/>
      </a:dk2>
      <a:lt2>
        <a:srgbClr val="0F486F"/>
      </a:lt2>
      <a:accent1>
        <a:srgbClr val="062958"/>
      </a:accent1>
      <a:accent2>
        <a:srgbClr val="A50E82"/>
      </a:accent2>
      <a:accent3>
        <a:srgbClr val="14967C"/>
      </a:accent3>
      <a:accent4>
        <a:srgbClr val="6A9E1F"/>
      </a:accent4>
      <a:accent5>
        <a:srgbClr val="E87D37"/>
      </a:accent5>
      <a:accent6>
        <a:srgbClr val="C62324"/>
      </a:accent6>
      <a:hlink>
        <a:srgbClr val="0D2E46"/>
      </a:hlink>
      <a:folHlink>
        <a:srgbClr val="356A95"/>
      </a:folHlink>
    </a:clrScheme>
    <a:fontScheme name="Slice">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Slice">
      <a:fillStyleLst>
        <a:solidFill>
          <a:schemeClr val="phClr"/>
        </a:solidFill>
        <a:gradFill rotWithShape="1">
          <a:gsLst>
            <a:gs pos="0">
              <a:schemeClr val="phClr">
                <a:tint val="62000"/>
                <a:hueMod val="94000"/>
                <a:satMod val="140000"/>
                <a:lumMod val="110000"/>
              </a:schemeClr>
            </a:gs>
            <a:gs pos="100000">
              <a:schemeClr val="phClr">
                <a:tint val="84000"/>
                <a:satMod val="160000"/>
              </a:schemeClr>
            </a:gs>
          </a:gsLst>
          <a:lin ang="5400000" scaled="0"/>
        </a:gradFill>
        <a:gradFill rotWithShape="1">
          <a:gsLst>
            <a:gs pos="0">
              <a:schemeClr val="phClr">
                <a:tint val="98000"/>
                <a:hueMod val="94000"/>
                <a:satMod val="130000"/>
                <a:lumMod val="128000"/>
              </a:schemeClr>
            </a:gs>
            <a:gs pos="100000">
              <a:schemeClr val="phClr">
                <a:shade val="94000"/>
                <a:lumMod val="88000"/>
              </a:schemeClr>
            </a:gs>
          </a:gsLst>
          <a:lin ang="5400000" scaled="0"/>
        </a:gradFill>
      </a:fillStyleLst>
      <a:lnStyleLst>
        <a:ln w="9525" cap="rnd" cmpd="sng" algn="ctr">
          <a:solidFill>
            <a:schemeClr val="phClr">
              <a:tint val="76000"/>
              <a:alpha val="60000"/>
              <a:hueMod val="94000"/>
            </a:schemeClr>
          </a:solidFill>
          <a:prstDash val="solid"/>
        </a:ln>
        <a:ln w="15875" cap="rnd" cmpd="sng" algn="ctr">
          <a:solidFill>
            <a:schemeClr val="phClr">
              <a:hueMod val="94000"/>
            </a:schemeClr>
          </a:solidFill>
          <a:prstDash val="solid"/>
        </a:ln>
        <a:ln w="28575" cap="rnd"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50800" dist="38100" dir="5400000" rotWithShape="0">
              <a:srgbClr val="000000">
                <a:alpha val="46000"/>
              </a:srgbClr>
            </a:outerShdw>
          </a:effectLst>
          <a:scene3d>
            <a:camera prst="orthographicFront">
              <a:rot lat="0" lon="0" rev="0"/>
            </a:camera>
            <a:lightRig rig="threePt" dir="t"/>
          </a:scene3d>
          <a:sp3d prstMaterial="plastic">
            <a:bevelT w="25400" h="25400"/>
          </a:sp3d>
        </a:effectStyle>
      </a:effectStyleLst>
      <a:bgFillStyleLst>
        <a:solidFill>
          <a:schemeClr val="phClr"/>
        </a:solidFill>
        <a:gradFill rotWithShape="1">
          <a:gsLst>
            <a:gs pos="10000">
              <a:schemeClr val="phClr">
                <a:tint val="97000"/>
                <a:hueMod val="92000"/>
                <a:satMod val="169000"/>
                <a:lumMod val="164000"/>
              </a:schemeClr>
            </a:gs>
            <a:gs pos="100000">
              <a:schemeClr val="phClr">
                <a:shade val="96000"/>
                <a:satMod val="120000"/>
                <a:lumMod val="90000"/>
              </a:schemeClr>
            </a:gs>
          </a:gsLst>
          <a:lin ang="6120000" scaled="1"/>
        </a:gradFill>
        <a:gradFill rotWithShape="1">
          <a:gsLst>
            <a:gs pos="0">
              <a:schemeClr val="phClr">
                <a:tint val="97000"/>
                <a:hueMod val="92000"/>
                <a:satMod val="169000"/>
                <a:lumMod val="164000"/>
              </a:schemeClr>
            </a:gs>
            <a:gs pos="100000">
              <a:schemeClr val="phClr">
                <a:shade val="96000"/>
                <a:satMod val="120000"/>
                <a:lumMod val="90000"/>
              </a:schemeClr>
            </a:gs>
          </a:gsLst>
          <a:path path="circle">
            <a:fillToRect b="100000"/>
          </a:path>
        </a:gradFill>
      </a:bgFillStyleLst>
    </a:fmtScheme>
  </a:themeElements>
  <a:objectDefaults/>
  <a:extraClrSchemeLst/>
  <a:extLst>
    <a:ext uri="{05A4C25C-085E-4340-85A3-A5531E510DB2}">
      <thm15:themeFamily xmlns:thm15="http://schemas.microsoft.com/office/thememl/2012/main" name="Slice" id="{0507925B-6AC9-4358-8E18-C330545D08F8}" vid="{13FEC7C6-62A9-40C4-99D2-581AACACAA2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Slice</Template>
  <TotalTime>4276</TotalTime>
  <Words>6398</Words>
  <Application>Microsoft Office PowerPoint</Application>
  <PresentationFormat>Widescreen</PresentationFormat>
  <Paragraphs>852</Paragraphs>
  <Slides>47</Slides>
  <Notes>40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47</vt:i4>
      </vt:variant>
    </vt:vector>
  </HeadingPairs>
  <TitlesOfParts>
    <vt:vector size="53" baseType="lpstr">
      <vt:lpstr>微軟正黑體</vt:lpstr>
      <vt:lpstr>Calibri</vt:lpstr>
      <vt:lpstr>Century Gothic</vt:lpstr>
      <vt:lpstr>Courier New</vt:lpstr>
      <vt:lpstr>Wingdings 3</vt:lpstr>
      <vt:lpstr>Slice</vt:lpstr>
      <vt:lpstr>Spiffy: Enabling File-System Aware Storage Applications </vt:lpstr>
      <vt:lpstr>Introduction</vt:lpstr>
      <vt:lpstr>Problem</vt:lpstr>
      <vt:lpstr>Root Cause</vt:lpstr>
      <vt:lpstr>Goals</vt:lpstr>
      <vt:lpstr>Approach: Spiffy Framework</vt:lpstr>
      <vt:lpstr>Specifying Format</vt:lpstr>
      <vt:lpstr>Generating Library</vt:lpstr>
      <vt:lpstr> Building Applications</vt:lpstr>
      <vt:lpstr>Talk Outline</vt:lpstr>
      <vt:lpstr>Need for Annotations</vt:lpstr>
      <vt:lpstr>Need for Annotations</vt:lpstr>
      <vt:lpstr>Pointer Annotations</vt:lpstr>
      <vt:lpstr>Pointer Address Space</vt:lpstr>
      <vt:lpstr>Block Address Space</vt:lpstr>
      <vt:lpstr>File Address Space</vt:lpstr>
      <vt:lpstr>Missing Pointer</vt:lpstr>
      <vt:lpstr>Implicit Pointer</vt:lpstr>
      <vt:lpstr>Context-Sensitive Types</vt:lpstr>
      <vt:lpstr>Check Annotations</vt:lpstr>
      <vt:lpstr>Generating Spiffy Library</vt:lpstr>
      <vt:lpstr>Evaluation: Annotation Effort</vt:lpstr>
      <vt:lpstr>Building Applications</vt:lpstr>
      <vt:lpstr>Manually-Written Application</vt:lpstr>
      <vt:lpstr>Manually-Written Application</vt:lpstr>
      <vt:lpstr>Manually-Written Application</vt:lpstr>
      <vt:lpstr>Application Using Spiffy Library</vt:lpstr>
      <vt:lpstr>Application Using Spiffy Library</vt:lpstr>
      <vt:lpstr>Application Using Spiffy Library</vt:lpstr>
      <vt:lpstr>Spiffy Application for Btrfs</vt:lpstr>
      <vt:lpstr>Spiffy Applications</vt:lpstr>
      <vt:lpstr>Type-Specific File System Corruptor</vt:lpstr>
      <vt:lpstr>File System Conversion Tool</vt:lpstr>
      <vt:lpstr>Evaluation: Ext4 to F2FS Converter</vt:lpstr>
      <vt:lpstr>File-system Aware Block Layer Cache</vt:lpstr>
      <vt:lpstr>Conclusion</vt:lpstr>
      <vt:lpstr>Spiffy: Enabling File-System Aware Storage Applications </vt:lpstr>
      <vt:lpstr>Spiffy API (C++)</vt:lpstr>
      <vt:lpstr>File-System Agnostic Traversal</vt:lpstr>
      <vt:lpstr>File-System Agnostic Traversal</vt:lpstr>
      <vt:lpstr>File-System Agnostic Traversal</vt:lpstr>
      <vt:lpstr>File-System Agnostic Traversal</vt:lpstr>
      <vt:lpstr>Evaluation: Programming Effort</vt:lpstr>
      <vt:lpstr>Evaluation: Corruption Experiment</vt:lpstr>
      <vt:lpstr>Evaluation: Preferential Caching</vt:lpstr>
      <vt:lpstr>FSSUPER Annotation</vt:lpstr>
      <vt:lpstr>F2FS NID Address Space</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Jack Sun</dc:creator>
  <cp:lastModifiedBy>Jack Sun</cp:lastModifiedBy>
  <cp:revision>418</cp:revision>
  <dcterms:created xsi:type="dcterms:W3CDTF">2018-01-30T09:02:25Z</dcterms:created>
  <dcterms:modified xsi:type="dcterms:W3CDTF">2018-02-13T18:14:03Z</dcterms:modified>
</cp:coreProperties>
</file>