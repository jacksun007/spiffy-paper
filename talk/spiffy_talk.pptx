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5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301" r:id="rId11"/>
    <p:sldId id="298" r:id="rId12"/>
    <p:sldId id="299" r:id="rId13"/>
    <p:sldId id="300" r:id="rId14"/>
    <p:sldId id="283" r:id="rId15"/>
    <p:sldId id="302" r:id="rId16"/>
    <p:sldId id="303" r:id="rId17"/>
    <p:sldId id="304" r:id="rId18"/>
    <p:sldId id="305" r:id="rId19"/>
    <p:sldId id="306" r:id="rId20"/>
    <p:sldId id="266" r:id="rId21"/>
    <p:sldId id="269" r:id="rId22"/>
    <p:sldId id="270" r:id="rId23"/>
    <p:sldId id="271" r:id="rId24"/>
    <p:sldId id="268" r:id="rId25"/>
    <p:sldId id="267" r:id="rId26"/>
    <p:sldId id="279" r:id="rId27"/>
    <p:sldId id="280" r:id="rId28"/>
    <p:sldId id="259" r:id="rId29"/>
    <p:sldId id="281" r:id="rId30"/>
    <p:sldId id="261" r:id="rId31"/>
    <p:sldId id="258" r:id="rId32"/>
    <p:sldId id="260" r:id="rId33"/>
    <p:sldId id="29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1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home\fishy\Documents\Research\fast-2018\caching-result-stack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1083692839279813"/>
          <c:y val="5.1192544430694563E-2"/>
          <c:w val="0.33184206060008237"/>
          <c:h val="0.7217668720109435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Fileserver A</c:v>
                </c:pt>
              </c:strCache>
            </c:strRef>
          </c:tx>
          <c:spPr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Sheet1!$H$2:$H$8</c:f>
                <c:numCache>
                  <c:formatCode>General</c:formatCode>
                  <c:ptCount val="7"/>
                  <c:pt idx="0">
                    <c:v>86.899646070000003</c:v>
                  </c:pt>
                  <c:pt idx="1">
                    <c:v>47.026277149999999</c:v>
                  </c:pt>
                  <c:pt idx="2">
                    <c:v>98.939352290000002</c:v>
                  </c:pt>
                  <c:pt idx="4">
                    <c:v>74.579070639999998</c:v>
                  </c:pt>
                  <c:pt idx="5">
                    <c:v>56.259226890000001</c:v>
                  </c:pt>
                  <c:pt idx="6">
                    <c:v>108.2791673</c:v>
                  </c:pt>
                </c:numCache>
              </c:numRef>
            </c:plus>
            <c:minus>
              <c:numRef>
                <c:f>Sheet1!$H$2:$H$8</c:f>
                <c:numCache>
                  <c:formatCode>General</c:formatCode>
                  <c:ptCount val="7"/>
                  <c:pt idx="0">
                    <c:v>86.899646070000003</c:v>
                  </c:pt>
                  <c:pt idx="1">
                    <c:v>47.026277149999999</c:v>
                  </c:pt>
                  <c:pt idx="2">
                    <c:v>98.939352290000002</c:v>
                  </c:pt>
                  <c:pt idx="4">
                    <c:v>74.579070639999998</c:v>
                  </c:pt>
                  <c:pt idx="5">
                    <c:v>56.259226890000001</c:v>
                  </c:pt>
                  <c:pt idx="6">
                    <c:v>108.2791673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bg1"/>
                </a:solidFill>
                <a:round/>
              </a:ln>
              <a:effectLst/>
            </c:spPr>
          </c:errBars>
          <c:cat>
            <c:strRef>
              <c:f>Sheet1!$B$2:$B$8</c:f>
              <c:strCache>
                <c:ptCount val="7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  <c:pt idx="4">
                  <c:v>Fileserver A + Fileserver B, A is preferred</c:v>
                </c:pt>
                <c:pt idx="5">
                  <c:v>Fileserver A + Fileserver B, no preference</c:v>
                </c:pt>
                <c:pt idx="6">
                  <c:v>Fileserver A, alone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1904.855278</c:v>
                </c:pt>
                <c:pt idx="1">
                  <c:v>1227.2180559999999</c:v>
                </c:pt>
                <c:pt idx="2">
                  <c:v>2831.1577779999998</c:v>
                </c:pt>
                <c:pt idx="4">
                  <c:v>1472.7113890000001</c:v>
                </c:pt>
                <c:pt idx="5">
                  <c:v>941.54666669999995</c:v>
                </c:pt>
                <c:pt idx="6">
                  <c:v>2555.018333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D3-4E46-9757-6E0B39AF495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Fileserver B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Sheet1!$I$2:$I$8</c:f>
                <c:numCache>
                  <c:formatCode>General</c:formatCode>
                  <c:ptCount val="7"/>
                  <c:pt idx="0">
                    <c:v>46.519010110000004</c:v>
                  </c:pt>
                  <c:pt idx="1">
                    <c:v>46.575578360000002</c:v>
                  </c:pt>
                  <c:pt idx="2">
                    <c:v>0</c:v>
                  </c:pt>
                  <c:pt idx="4">
                    <c:v>25.918389650000002</c:v>
                  </c:pt>
                  <c:pt idx="5">
                    <c:v>56.659710339999997</c:v>
                  </c:pt>
                  <c:pt idx="6">
                    <c:v>0</c:v>
                  </c:pt>
                </c:numCache>
              </c:numRef>
            </c:plus>
            <c:minus>
              <c:numRef>
                <c:f>Sheet1!$I$2:$I$8</c:f>
                <c:numCache>
                  <c:formatCode>General</c:formatCode>
                  <c:ptCount val="7"/>
                  <c:pt idx="0">
                    <c:v>46.519010110000004</c:v>
                  </c:pt>
                  <c:pt idx="1">
                    <c:v>46.575578360000002</c:v>
                  </c:pt>
                  <c:pt idx="2">
                    <c:v>0</c:v>
                  </c:pt>
                  <c:pt idx="4">
                    <c:v>25.918389650000002</c:v>
                  </c:pt>
                  <c:pt idx="5">
                    <c:v>56.659710339999997</c:v>
                  </c:pt>
                  <c:pt idx="6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bg1"/>
                </a:solidFill>
                <a:round/>
              </a:ln>
              <a:effectLst/>
            </c:spPr>
          </c:errBars>
          <c:cat>
            <c:strRef>
              <c:f>Sheet1!$B$2:$B$8</c:f>
              <c:strCache>
                <c:ptCount val="7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  <c:pt idx="4">
                  <c:v>Fileserver A + Fileserver B, A is preferred</c:v>
                </c:pt>
                <c:pt idx="5">
                  <c:v>Fileserver A + Fileserver B, no preference</c:v>
                </c:pt>
                <c:pt idx="6">
                  <c:v>Fileserver A, alone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893.80499999999995</c:v>
                </c:pt>
                <c:pt idx="1">
                  <c:v>1227.6741669999999</c:v>
                </c:pt>
                <c:pt idx="2">
                  <c:v>0</c:v>
                </c:pt>
                <c:pt idx="4">
                  <c:v>807.45833330000005</c:v>
                </c:pt>
                <c:pt idx="5">
                  <c:v>930.94916669999998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D3-4E46-9757-6E0B39AF4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-348046976"/>
        <c:axId val="-348043168"/>
      </c:barChart>
      <c:catAx>
        <c:axId val="-348046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48043168"/>
        <c:crosses val="autoZero"/>
        <c:auto val="1"/>
        <c:lblAlgn val="ctr"/>
        <c:lblOffset val="100"/>
        <c:noMultiLvlLbl val="1"/>
      </c:catAx>
      <c:valAx>
        <c:axId val="-348043168"/>
        <c:scaling>
          <c:orientation val="minMax"/>
          <c:max val="3000"/>
        </c:scaling>
        <c:delete val="0"/>
        <c:axPos val="b"/>
        <c:majorGridlines>
          <c:spPr>
            <a:ln w="9525" cap="flat" cmpd="sng" algn="ctr">
              <a:solidFill>
                <a:schemeClr val="bg1"/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ops/s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out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48046976"/>
        <c:crosses val="autoZero"/>
        <c:crossBetween val="between"/>
        <c:majorUnit val="1000"/>
        <c:minorUnit val="500"/>
      </c:valAx>
      <c:spPr>
        <a:noFill/>
        <a:ln>
          <a:solidFill>
            <a:schemeClr val="bg1"/>
          </a:solidFill>
        </a:ln>
        <a:effectLst/>
      </c:spPr>
    </c:plotArea>
    <c:legend>
      <c:legendPos val="b"/>
      <c:layout>
        <c:manualLayout>
          <c:xMode val="edge"/>
          <c:yMode val="edge"/>
          <c:x val="0.14225519748408696"/>
          <c:y val="0.85034517406747667"/>
          <c:w val="0.39392809687657754"/>
          <c:h val="8.91545461507933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8C5AD-71DD-4EC0-A413-C51DC95DD2ED}" type="datetimeFigureOut">
              <a:rPr lang="en-CA" smtClean="0"/>
              <a:t>2018-02-05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B5BF96-4013-477F-9949-176AD53AFF6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5221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16424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Class of applications that work with file system metadata</a:t>
            </a:r>
          </a:p>
          <a:p>
            <a:r>
              <a:rPr lang="en-CA" dirty="0" smtClean="0"/>
              <a:t>Offline</a:t>
            </a:r>
          </a:p>
          <a:p>
            <a:r>
              <a:rPr lang="en-CA" dirty="0" smtClean="0"/>
              <a:t>Online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 smtClean="0"/>
              <a:t>Operate directly on file system metadata structures on</a:t>
            </a:r>
            <a:r>
              <a:rPr lang="en-CA" baseline="0" dirty="0" smtClean="0"/>
              <a:t> disk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aseline="0" dirty="0" smtClean="0"/>
              <a:t>Must bypass VFS layer, which abstracts away file system implementation</a:t>
            </a:r>
          </a:p>
          <a:p>
            <a:r>
              <a:rPr lang="en-CA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Require a detailed understanding of the format of a file system</a:t>
            </a:r>
            <a:r>
              <a:rPr lang="en-CA" sz="1200" b="0" i="0" u="none" strike="noStrike" kern="12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including the </a:t>
            </a:r>
            <a:r>
              <a:rPr lang="en-CA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ability to identify and interpret file </a:t>
            </a:r>
            <a:r>
              <a:rPr lang="en-CA" sz="1200" b="0" i="0" u="none" strike="noStrike" kern="12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 structures</a:t>
            </a:r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7627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6651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3666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0796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9095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6635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59219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4839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570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437695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Give</a:t>
            </a:r>
            <a:r>
              <a:rPr lang="en-CA" baseline="0" dirty="0" smtClean="0"/>
              <a:t> a sense why online application is hard to do. Describe why classifying IO in a file system generic way is non-trivial.</a:t>
            </a:r>
          </a:p>
          <a:p>
            <a:r>
              <a:rPr lang="en-CA" baseline="0" dirty="0" smtClean="0"/>
              <a:t>At runtime, as blocks are accessed, we can differentiate metadata from data, without making any changes to FS.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1517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49918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297257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5210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rotWithShape="1">
          <a:gsLst>
            <a:gs pos="10000">
              <a:schemeClr val="tx2">
                <a:lumMod val="90000"/>
              </a:schemeClr>
            </a:gs>
            <a:gs pos="100000">
              <a:schemeClr val="bg2"/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1" y="685800"/>
            <a:ext cx="9129091" cy="2167468"/>
          </a:xfrm>
        </p:spPr>
        <p:txBody>
          <a:bodyPr anchor="b">
            <a:normAutofit/>
          </a:bodyPr>
          <a:lstStyle>
            <a:lvl1pPr algn="l">
              <a:defRPr sz="5400" cap="none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037337"/>
            <a:ext cx="7694630" cy="2753864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74113-9B8D-4412-821C-EE7B9A6369D4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6108170" y="545795"/>
            <a:ext cx="6080672" cy="6323990"/>
            <a:chOff x="6108170" y="-151790"/>
            <a:chExt cx="6080672" cy="6323990"/>
          </a:xfrm>
        </p:grpSpPr>
        <p:cxnSp>
          <p:nvCxnSpPr>
            <p:cNvPr id="16" name="Straight Connector 15"/>
            <p:cNvCxnSpPr/>
            <p:nvPr/>
          </p:nvCxnSpPr>
          <p:spPr>
            <a:xfrm flipH="1">
              <a:off x="8378842" y="-151790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271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 b="1" cap="none" baseline="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4656842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7C67A-9A5B-45A5-A680-4CE68A8D4EF6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10285796" cy="365125"/>
          </a:xfrm>
        </p:spPr>
        <p:txBody>
          <a:bodyPr/>
          <a:lstStyle>
            <a:lvl1pPr>
              <a:defRPr sz="1200"/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7B2023C8-B124-43A9-8F92-0EEF5BAA9995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82899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CEB77-D1B0-459C-8CA8-7F7BE3CBC39A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8094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9A27E0-8C9F-47C1-B70A-3E9B87E96460}" type="datetime1">
              <a:rPr lang="en-CA" smtClean="0"/>
              <a:t>2018-02-05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166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1515357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2100086"/>
            <a:ext cx="4937655" cy="4072114"/>
          </a:xfrm>
        </p:spPr>
        <p:txBody>
          <a:bodyPr anchor="t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35939" y="1523824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63418" y="2100086"/>
            <a:ext cx="4929188" cy="4072114"/>
          </a:xfrm>
        </p:spPr>
        <p:txBody>
          <a:bodyPr anchor="t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D6E53A-E478-4F35-AED4-1D7F5ECD829A}" type="datetime1">
              <a:rPr lang="en-CA" smtClean="0"/>
              <a:t>2018-02-05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04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A5D7D-3E05-4FBF-B9EC-466A5A99F5ED}" type="datetime1">
              <a:rPr lang="en-CA" smtClean="0"/>
              <a:t>2018-02-05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29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D9723-8EA9-48CE-BDFA-80E7F5D24513}" type="datetime1">
              <a:rPr lang="en-CA" smtClean="0"/>
              <a:t>2018-02-05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5750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BFDB9-6B22-460A-9F91-89A8CDA99E1B}" type="datetime1">
              <a:rPr lang="en-CA" smtClean="0"/>
              <a:t>2018-02-05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60494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CF4D3-EEFA-47A1-A83B-E2031F272A76}" type="datetime1">
              <a:rPr lang="en-CA" smtClean="0"/>
              <a:t>2018-02-05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5103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28B85-C2A9-44CD-924F-590404974166}" type="datetime1">
              <a:rPr lang="en-CA" smtClean="0"/>
              <a:t>2018-02-05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03295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BC4AC-5249-4C37-8D96-8B3CD0BE607D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89586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D95CF-D926-4D4B-B1C6-454ED184DFAD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67062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12F8-1D13-4E5F-B301-5F92DC90ED10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685798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6CA10-113D-415C-8773-0CD5C453BA59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53015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749C-3455-4E87-A6A7-6C82A7850792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26641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BFD80-A00F-473C-865B-791FE13FF039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70361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68A0F-1DF6-4E28-80D9-0EB4C82700C7}" type="datetime1">
              <a:rPr lang="en-CA" smtClean="0"/>
              <a:t>2018-02-05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914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tx1"/>
            </a:gs>
            <a:gs pos="100000">
              <a:schemeClr val="bg2">
                <a:lumMod val="75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 rot="16200000">
            <a:off x="9093845" y="-109806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170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1515358"/>
            <a:ext cx="10285797" cy="46568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5CA83D5C-C5BB-42ED-9F5A-1A7FC42B5BF8}" type="datetime1">
              <a:rPr lang="en-CA" smtClean="0"/>
              <a:t>2018-02-05</a:t>
            </a:fld>
            <a:endParaRPr lang="en-CA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7B2023C8-B124-43A9-8F92-0EEF5BAA9995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05381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lang="en-US" sz="4000" b="1" kern="1200" cap="none" baseline="0" dirty="0" smtClean="0">
          <a:ln w="3175" cmpd="sng"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24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1" y="6791"/>
            <a:ext cx="8849087" cy="2971801"/>
          </a:xfrm>
        </p:spPr>
        <p:txBody>
          <a:bodyPr>
            <a:normAutofit fontScale="90000"/>
          </a:bodyPr>
          <a:lstStyle/>
          <a:p>
            <a:r>
              <a:rPr lang="en-CA" b="1" cap="none" dirty="0" smtClean="0"/>
              <a:t>Spiffy</a:t>
            </a:r>
            <a:r>
              <a:rPr lang="en-CA" cap="none" dirty="0" smtClean="0"/>
              <a:t>:</a:t>
            </a:r>
            <a:r>
              <a:rPr lang="en-CA" b="1" cap="none" dirty="0" smtClean="0"/>
              <a:t> </a:t>
            </a:r>
            <a:r>
              <a:rPr lang="en-CA" cap="none" dirty="0"/>
              <a:t>Enabling File-System Aware </a:t>
            </a:r>
            <a:r>
              <a:rPr lang="en-CA" sz="5400" cap="none" dirty="0"/>
              <a:t>Storage</a:t>
            </a:r>
            <a:r>
              <a:rPr lang="en-CA" cap="none" dirty="0"/>
              <a:t> </a:t>
            </a:r>
            <a:r>
              <a:rPr lang="en-CA" cap="none" dirty="0" smtClean="0"/>
              <a:t>Applications</a:t>
            </a:r>
            <a:br>
              <a:rPr lang="en-CA" cap="none" dirty="0" smtClean="0"/>
            </a:br>
            <a:endParaRPr lang="en-CA" b="1" cap="non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421931"/>
            <a:ext cx="10967598" cy="2548380"/>
          </a:xfrm>
        </p:spPr>
        <p:txBody>
          <a:bodyPr>
            <a:normAutofit/>
          </a:bodyPr>
          <a:lstStyle/>
          <a:p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Kuei</a:t>
            </a:r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 Sun, Daniel Fryer, Joseph Chu</a:t>
            </a:r>
            <a:r>
              <a:rPr lang="en-CA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, Matthew </a:t>
            </a:r>
            <a:r>
              <a:rPr lang="en-CA" sz="2400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Lakier</a:t>
            </a:r>
            <a:r>
              <a:rPr lang="en-CA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, </a:t>
            </a:r>
            <a:endParaRPr lang="en-CA" sz="2400" dirty="0" smtClean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Angela </a:t>
            </a:r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Demke</a:t>
            </a:r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 Brown, and </a:t>
            </a:r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Ashvin</a:t>
            </a:r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 </a:t>
            </a:r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Goel</a:t>
            </a:r>
            <a:endParaRPr lang="en-CA" sz="2400" dirty="0" smtClean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CA" sz="2400" dirty="0"/>
          </a:p>
          <a:p>
            <a:r>
              <a:rPr lang="en-CA" sz="2400" i="1" dirty="0" smtClean="0">
                <a:solidFill>
                  <a:schemeClr val="bg1">
                    <a:lumMod val="85000"/>
                    <a:lumOff val="15000"/>
                  </a:schemeClr>
                </a:solidFill>
              </a:rPr>
              <a:t>University of Toronto</a:t>
            </a:r>
            <a:endParaRPr lang="en-CA" sz="2400" i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73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Introduction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3" y="1625600"/>
            <a:ext cx="9403743" cy="4622802"/>
          </a:xfrm>
        </p:spPr>
        <p:txBody>
          <a:bodyPr>
            <a:normAutofit/>
          </a:bodyPr>
          <a:lstStyle/>
          <a:p>
            <a:r>
              <a:rPr lang="en-CA" dirty="0" smtClean="0"/>
              <a:t>File-system-aware applications</a:t>
            </a:r>
          </a:p>
          <a:p>
            <a:pPr lvl="1"/>
            <a:r>
              <a:rPr lang="en-CA" dirty="0" smtClean="0"/>
              <a:t>Examples: XXX, defragmentation tool, garbage collector, …</a:t>
            </a:r>
          </a:p>
          <a:p>
            <a:pPr lvl="1"/>
            <a:r>
              <a:rPr lang="en-CA" dirty="0"/>
              <a:t>Operate directly on file system metadata structures</a:t>
            </a:r>
          </a:p>
          <a:p>
            <a:pPr lvl="2"/>
            <a:r>
              <a:rPr lang="en-CA" dirty="0"/>
              <a:t>Require detailed knowledge of file system format on disk</a:t>
            </a:r>
            <a:endParaRPr lang="en-CA" dirty="0" smtClean="0"/>
          </a:p>
          <a:p>
            <a:pPr lvl="2"/>
            <a:r>
              <a:rPr lang="en-CA" dirty="0" smtClean="0"/>
              <a:t>Bypass </a:t>
            </a:r>
            <a:r>
              <a:rPr lang="en-CA" dirty="0"/>
              <a:t>VFS </a:t>
            </a:r>
            <a:r>
              <a:rPr lang="en-CA" dirty="0" smtClean="0"/>
              <a:t>layer</a:t>
            </a:r>
          </a:p>
          <a:p>
            <a:r>
              <a:rPr lang="en-CA" dirty="0" smtClean="0"/>
              <a:t>Two types</a:t>
            </a:r>
          </a:p>
          <a:p>
            <a:pPr lvl="1"/>
            <a:r>
              <a:rPr lang="en-CA" dirty="0" smtClean="0"/>
              <a:t>Offline, have exclusive access to file system image</a:t>
            </a:r>
          </a:p>
          <a:p>
            <a:pPr lvl="2"/>
            <a:r>
              <a:rPr lang="en-CA" dirty="0" smtClean="0"/>
              <a:t>Partition Editor</a:t>
            </a:r>
          </a:p>
          <a:p>
            <a:pPr lvl="2"/>
            <a:r>
              <a:rPr lang="en-CA" dirty="0" smtClean="0"/>
              <a:t>File System Checker</a:t>
            </a:r>
          </a:p>
          <a:p>
            <a:pPr lvl="1"/>
            <a:r>
              <a:rPr lang="en-CA" dirty="0" smtClean="0"/>
              <a:t>Online, operate while file system is in use</a:t>
            </a:r>
          </a:p>
          <a:p>
            <a:pPr lvl="2"/>
            <a:r>
              <a:rPr lang="en-CA" dirty="0" smtClean="0"/>
              <a:t>Metadata-Aware Block Layer Cache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8902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Problem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File-system applications are difficult to write</a:t>
            </a:r>
          </a:p>
          <a:p>
            <a:pPr lvl="1"/>
            <a:r>
              <a:rPr lang="en-CA" dirty="0" smtClean="0"/>
              <a:t>Requires detailed knowledge of the file system format</a:t>
            </a:r>
          </a:p>
          <a:p>
            <a:pPr lvl="1"/>
            <a:r>
              <a:rPr lang="en-CA" dirty="0" smtClean="0"/>
              <a:t>File system format is complex and poorly documented</a:t>
            </a:r>
          </a:p>
          <a:p>
            <a:pPr lvl="1"/>
            <a:r>
              <a:rPr lang="en-CA" dirty="0" smtClean="0"/>
              <a:t>Easy to make mistakes while processing file system metadata</a:t>
            </a:r>
          </a:p>
          <a:p>
            <a:pPr lvl="1"/>
            <a:r>
              <a:rPr lang="en-CA" dirty="0" smtClean="0"/>
              <a:t>Need to handle file system corruption</a:t>
            </a:r>
          </a:p>
          <a:p>
            <a:r>
              <a:rPr lang="en-CA" dirty="0" smtClean="0"/>
              <a:t>Implications</a:t>
            </a:r>
          </a:p>
          <a:p>
            <a:pPr lvl="1"/>
            <a:r>
              <a:rPr lang="en-CA" dirty="0" smtClean="0"/>
              <a:t>Each </a:t>
            </a:r>
            <a:r>
              <a:rPr lang="en-CA" dirty="0"/>
              <a:t>file system has to develop its own set of tools from </a:t>
            </a:r>
            <a:r>
              <a:rPr lang="en-CA" dirty="0" smtClean="0"/>
              <a:t>scratch</a:t>
            </a:r>
          </a:p>
          <a:p>
            <a:pPr lvl="1"/>
            <a:r>
              <a:rPr lang="en-CA" dirty="0" smtClean="0"/>
              <a:t>Only </a:t>
            </a:r>
            <a:r>
              <a:rPr lang="en-CA" dirty="0"/>
              <a:t>file-system experts develop such </a:t>
            </a:r>
            <a:r>
              <a:rPr lang="en-CA" dirty="0" smtClean="0"/>
              <a:t>tools</a:t>
            </a:r>
          </a:p>
          <a:p>
            <a:pPr lvl="1"/>
            <a:r>
              <a:rPr lang="en-CA" dirty="0"/>
              <a:t>Many of these tools are </a:t>
            </a:r>
            <a:r>
              <a:rPr lang="en-CA" dirty="0" smtClean="0"/>
              <a:t>buggy</a:t>
            </a:r>
          </a:p>
          <a:p>
            <a:pPr lvl="1"/>
            <a:r>
              <a:rPr lang="en-CA" dirty="0"/>
              <a:t>Bugs can lead to further corruption of file </a:t>
            </a:r>
            <a:r>
              <a:rPr lang="en-CA" dirty="0" smtClean="0"/>
              <a:t>systems</a:t>
            </a:r>
          </a:p>
          <a:p>
            <a:pPr lvl="1"/>
            <a:r>
              <a:rPr lang="en-CA" dirty="0" smtClean="0"/>
              <a:t>Makes it hard to deploy new file systems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3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05410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Problem: </a:t>
            </a:r>
            <a:r>
              <a:rPr lang="en-CA" dirty="0"/>
              <a:t>Ad-hoc P</a:t>
            </a:r>
            <a:r>
              <a:rPr lang="en-CA" dirty="0" smtClean="0"/>
              <a:t>rocessing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4866587"/>
          </a:xfrm>
        </p:spPr>
        <p:txBody>
          <a:bodyPr>
            <a:normAutofit lnSpcReduction="10000"/>
          </a:bodyPr>
          <a:lstStyle/>
          <a:p>
            <a:r>
              <a:rPr lang="en-CA" dirty="0" smtClean="0"/>
              <a:t>File system applications operate on a complex format</a:t>
            </a:r>
          </a:p>
          <a:p>
            <a:r>
              <a:rPr lang="en-CA" dirty="0" smtClean="0"/>
              <a:t>Often accessed using unsafe </a:t>
            </a:r>
            <a:r>
              <a:rPr lang="en-CA" dirty="0"/>
              <a:t>programming languages (e.g., C)</a:t>
            </a:r>
          </a:p>
          <a:p>
            <a:r>
              <a:rPr lang="en-CA" dirty="0" smtClean="0"/>
              <a:t>Bugs lead to system </a:t>
            </a:r>
            <a:r>
              <a:rPr lang="en-CA" dirty="0"/>
              <a:t>crash, data corruption, security vulnerability</a:t>
            </a:r>
          </a:p>
          <a:p>
            <a:endParaRPr lang="en-CA" dirty="0" smtClean="0"/>
          </a:p>
          <a:p>
            <a:r>
              <a:rPr lang="en-CA" dirty="0" smtClean="0"/>
              <a:t>Example</a:t>
            </a:r>
            <a:r>
              <a:rPr lang="en-CA" dirty="0"/>
              <a:t>: bug 723343 in </a:t>
            </a:r>
            <a:r>
              <a:rPr lang="en-CA" dirty="0" err="1"/>
              <a:t>ntfsprogs</a:t>
            </a:r>
            <a:endParaRPr lang="en-CA" dirty="0"/>
          </a:p>
          <a:p>
            <a:pPr lvl="1"/>
            <a:r>
              <a:rPr lang="en-CA" dirty="0"/>
              <a:t>NTFS stores the size of MFT record as either:</a:t>
            </a:r>
          </a:p>
          <a:p>
            <a:pPr lvl="2"/>
            <a:r>
              <a:rPr lang="en-CA" dirty="0"/>
              <a:t>Number of clusters per record, if </a:t>
            </a:r>
            <a:r>
              <a:rPr lang="en-CA" i="1" dirty="0"/>
              <a:t>value</a:t>
            </a:r>
            <a:r>
              <a:rPr lang="en-CA" dirty="0"/>
              <a:t> &gt; 0</a:t>
            </a:r>
          </a:p>
          <a:p>
            <a:pPr lvl="2"/>
            <a:r>
              <a:rPr lang="en-CA" dirty="0"/>
              <a:t>2</a:t>
            </a:r>
            <a:r>
              <a:rPr lang="en-CA" baseline="30000" dirty="0"/>
              <a:t>|</a:t>
            </a:r>
            <a:r>
              <a:rPr lang="en-CA" i="1" baseline="30000" dirty="0"/>
              <a:t>value</a:t>
            </a:r>
            <a:r>
              <a:rPr lang="en-CA" baseline="30000" dirty="0"/>
              <a:t>|</a:t>
            </a:r>
            <a:r>
              <a:rPr lang="en-CA" dirty="0"/>
              <a:t>, if </a:t>
            </a:r>
            <a:r>
              <a:rPr lang="en-CA" i="1" dirty="0"/>
              <a:t>value</a:t>
            </a:r>
            <a:r>
              <a:rPr lang="en-CA" dirty="0"/>
              <a:t> &lt; 0</a:t>
            </a:r>
            <a:endParaRPr lang="en-CA" baseline="30000" dirty="0"/>
          </a:p>
          <a:p>
            <a:pPr lvl="1"/>
            <a:r>
              <a:rPr lang="en-CA" dirty="0" err="1" smtClean="0"/>
              <a:t>ntfsprogs</a:t>
            </a:r>
            <a:r>
              <a:rPr lang="en-CA" dirty="0" smtClean="0"/>
              <a:t> misinterprets this size field, corrupting </a:t>
            </a:r>
            <a:r>
              <a:rPr lang="en-CA" dirty="0"/>
              <a:t>NTFS during partition resizing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4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8325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Goals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Improve </a:t>
            </a:r>
            <a:r>
              <a:rPr lang="en-CA" dirty="0"/>
              <a:t>robustness of </a:t>
            </a:r>
            <a:r>
              <a:rPr lang="en-CA" dirty="0" smtClean="0"/>
              <a:t>these applications</a:t>
            </a:r>
          </a:p>
          <a:p>
            <a:pPr lvl="1"/>
            <a:r>
              <a:rPr lang="en-CA" dirty="0" smtClean="0"/>
              <a:t>Traverse and update file system structures correctly</a:t>
            </a:r>
          </a:p>
          <a:p>
            <a:pPr lvl="1"/>
            <a:r>
              <a:rPr lang="en-CA" dirty="0" smtClean="0"/>
              <a:t>Ensure type safe access and updates of file system structures</a:t>
            </a:r>
          </a:p>
          <a:p>
            <a:pPr lvl="2"/>
            <a:r>
              <a:rPr lang="en-CA" dirty="0" smtClean="0"/>
              <a:t>Helps detect corruption in file system structures</a:t>
            </a:r>
          </a:p>
          <a:p>
            <a:pPr lvl="2"/>
            <a:r>
              <a:rPr lang="en-CA" dirty="0"/>
              <a:t>Helps reduce error propagation, and further </a:t>
            </a:r>
            <a:r>
              <a:rPr lang="en-CA" dirty="0" smtClean="0"/>
              <a:t>corruption</a:t>
            </a:r>
          </a:p>
          <a:p>
            <a:pPr lvl="2"/>
            <a:endParaRPr lang="en-CA" dirty="0" smtClean="0"/>
          </a:p>
          <a:p>
            <a:r>
              <a:rPr lang="en-CA" dirty="0" smtClean="0"/>
              <a:t>Simplify </a:t>
            </a:r>
            <a:r>
              <a:rPr lang="en-CA" dirty="0"/>
              <a:t>development of file-system aware applications</a:t>
            </a:r>
          </a:p>
          <a:p>
            <a:pPr lvl="1"/>
            <a:r>
              <a:rPr lang="en-CA" dirty="0"/>
              <a:t>Reduce file-system specific code</a:t>
            </a:r>
          </a:p>
          <a:p>
            <a:pPr lvl="1"/>
            <a:r>
              <a:rPr lang="en-CA" dirty="0"/>
              <a:t>Enable code reuse across file systems</a:t>
            </a:r>
          </a:p>
          <a:p>
            <a:endParaRPr lang="en-CA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5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76993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Approach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Enable complete specification of the file system format</a:t>
            </a:r>
          </a:p>
          <a:p>
            <a:pPr lvl="1"/>
            <a:r>
              <a:rPr lang="en-CA" dirty="0" smtClean="0"/>
              <a:t>Allows type-safe parsing and updates of file system structures</a:t>
            </a:r>
          </a:p>
          <a:p>
            <a:r>
              <a:rPr lang="en-CA" dirty="0" smtClean="0"/>
              <a:t>Challenge</a:t>
            </a:r>
          </a:p>
          <a:p>
            <a:pPr lvl="1"/>
            <a:r>
              <a:rPr lang="en-CA" dirty="0" smtClean="0"/>
              <a:t>Data </a:t>
            </a:r>
            <a:r>
              <a:rPr lang="en-CA" dirty="0"/>
              <a:t>structure definitions in </a:t>
            </a:r>
            <a:r>
              <a:rPr lang="en-CA" dirty="0" smtClean="0"/>
              <a:t>source files are </a:t>
            </a:r>
            <a:r>
              <a:rPr lang="en-CA" i="1" dirty="0"/>
              <a:t>incomplete</a:t>
            </a:r>
          </a:p>
          <a:p>
            <a:pPr lvl="1"/>
            <a:r>
              <a:rPr lang="en-CA" dirty="0"/>
              <a:t>E.g., </a:t>
            </a:r>
            <a:r>
              <a:rPr lang="en-CA" sz="18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foo {</a:t>
            </a:r>
            <a:b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     __le32 </a:t>
            </a:r>
            <a:r>
              <a:rPr lang="en-CA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bar_block_ptr</a:t>
            </a: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};</a:t>
            </a:r>
          </a:p>
          <a:p>
            <a:pPr lvl="2"/>
            <a:r>
              <a:rPr lang="en-CA" dirty="0" err="1" smtClean="0">
                <a:cs typeface="Courier New" panose="02070309020205020404" pitchFamily="49" charset="0"/>
              </a:rPr>
              <a:t>bar_block_ptr</a:t>
            </a:r>
            <a:r>
              <a:rPr lang="en-CA" dirty="0" smtClean="0">
                <a:cs typeface="Courier New" panose="02070309020205020404" pitchFamily="49" charset="0"/>
              </a:rPr>
              <a:t> is </a:t>
            </a:r>
            <a:r>
              <a:rPr lang="en-CA" dirty="0">
                <a:cs typeface="Courier New" panose="02070309020205020404" pitchFamily="49" charset="0"/>
              </a:rPr>
              <a:t>“probably” a 32-bit pointer to type “</a:t>
            </a:r>
            <a:r>
              <a:rPr lang="en-CA" dirty="0" err="1">
                <a:cs typeface="Courier New" panose="02070309020205020404" pitchFamily="49" charset="0"/>
              </a:rPr>
              <a:t>bar_block</a:t>
            </a:r>
            <a:r>
              <a:rPr lang="en-CA" dirty="0">
                <a:cs typeface="Courier New" panose="02070309020205020404" pitchFamily="49" charset="0"/>
              </a:rPr>
              <a:t>”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However, </a:t>
            </a:r>
            <a:r>
              <a:rPr lang="en-CA" dirty="0" smtClean="0">
                <a:cs typeface="Courier New" panose="02070309020205020404" pitchFamily="49" charset="0"/>
              </a:rPr>
              <a:t>parser cannot </a:t>
            </a:r>
            <a:r>
              <a:rPr lang="en-CA" dirty="0">
                <a:cs typeface="Courier New" panose="02070309020205020404" pitchFamily="49" charset="0"/>
              </a:rPr>
              <a:t>deduce this from structure </a:t>
            </a:r>
            <a:r>
              <a:rPr lang="en-CA" dirty="0" smtClean="0">
                <a:cs typeface="Courier New" panose="02070309020205020404" pitchFamily="49" charset="0"/>
              </a:rPr>
              <a:t>definition</a:t>
            </a:r>
            <a:endParaRPr lang="en-CA" dirty="0">
              <a:cs typeface="Courier New" panose="02070309020205020404" pitchFamily="49" charset="0"/>
            </a:endParaRPr>
          </a:p>
          <a:p>
            <a:r>
              <a:rPr lang="en-CA" dirty="0" smtClean="0"/>
              <a:t>Solution</a:t>
            </a:r>
            <a:endParaRPr lang="en-CA" dirty="0"/>
          </a:p>
          <a:p>
            <a:pPr lvl="1"/>
            <a:r>
              <a:rPr lang="en-CA" dirty="0"/>
              <a:t>Annotate existing </a:t>
            </a:r>
            <a:r>
              <a:rPr lang="en-CA" dirty="0" smtClean="0"/>
              <a:t>sources </a:t>
            </a:r>
            <a:r>
              <a:rPr lang="en-CA" dirty="0"/>
              <a:t>to specify missing information</a:t>
            </a:r>
          </a:p>
          <a:p>
            <a:endParaRPr lang="en-CA" dirty="0">
              <a:cs typeface="Courier New" panose="02070309020205020404" pitchFamily="49" charset="0"/>
            </a:endParaRP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7937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Spiffy Annotations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CA" dirty="0" smtClean="0"/>
              <a:t>File system developers specify the format of their file system</a:t>
            </a:r>
          </a:p>
          <a:p>
            <a:pPr marL="914400" lvl="1" indent="-514350"/>
            <a:r>
              <a:rPr lang="en-CA" dirty="0" smtClean="0"/>
              <a:t>Annotate metadata structures in header files of existing source code</a:t>
            </a:r>
            <a:endParaRPr lang="en-CA" dirty="0"/>
          </a:p>
          <a:p>
            <a:pPr marL="914400" lvl="1" indent="-514350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7</a:t>
            </a:fld>
            <a:endParaRPr lang="en-CA"/>
          </a:p>
        </p:txBody>
      </p:sp>
      <p:grpSp>
        <p:nvGrpSpPr>
          <p:cNvPr id="38" name="Group 37"/>
          <p:cNvGrpSpPr/>
          <p:nvPr/>
        </p:nvGrpSpPr>
        <p:grpSpPr>
          <a:xfrm>
            <a:off x="844305" y="2832811"/>
            <a:ext cx="9767357" cy="3222517"/>
            <a:chOff x="844305" y="2832811"/>
            <a:chExt cx="9767357" cy="3222517"/>
          </a:xfrm>
          <a:noFill/>
        </p:grpSpPr>
        <p:sp>
          <p:nvSpPr>
            <p:cNvPr id="5" name="Snip Single Corner Rectangle 4"/>
            <p:cNvSpPr/>
            <p:nvPr/>
          </p:nvSpPr>
          <p:spPr>
            <a:xfrm>
              <a:off x="2114410" y="4047345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  <a:effectLst>
              <a:glow rad="1270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2600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Annotated File System Structures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39816" y="3252232"/>
              <a:ext cx="1329210" cy="584775"/>
            </a:xfrm>
            <a:prstGeom prst="rect">
              <a:avLst/>
            </a:prstGeom>
            <a:grpFill/>
            <a:ln w="2540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File System </a:t>
              </a:r>
            </a:p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Developer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1649607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9" name="Right Arrow 8"/>
            <p:cNvSpPr/>
            <p:nvPr/>
          </p:nvSpPr>
          <p:spPr>
            <a:xfrm>
              <a:off x="3594214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059017" y="4047345"/>
              <a:ext cx="1080000" cy="774000"/>
            </a:xfrm>
            <a:prstGeom prst="roundRect">
              <a:avLst/>
            </a:prstGeom>
            <a:grpFill/>
            <a:ln w="25400" cmpd="dbl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Spiffy Compiler</a:t>
              </a:r>
            </a:p>
          </p:txBody>
        </p:sp>
        <p:sp>
          <p:nvSpPr>
            <p:cNvPr id="11" name="Snip Single Corner Rectangle 10"/>
            <p:cNvSpPr/>
            <p:nvPr/>
          </p:nvSpPr>
          <p:spPr>
            <a:xfrm>
              <a:off x="7432632" y="5281328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0" rIns="0" bIns="144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Generic </a:t>
              </a:r>
              <a:r>
                <a:rPr lang="en-CA" sz="1600" dirty="0" smtClean="0">
                  <a:solidFill>
                    <a:schemeClr val="bg1"/>
                  </a:solidFill>
                </a:rPr>
                <a:t>Application</a:t>
              </a:r>
              <a:endParaRPr lang="en-CA" sz="1600" dirty="0">
                <a:solidFill>
                  <a:schemeClr val="bg1"/>
                </a:solidFill>
              </a:endParaRPr>
            </a:p>
          </p:txBody>
        </p:sp>
        <p:sp>
          <p:nvSpPr>
            <p:cNvPr id="13" name="Snip Single Corner Rectangle 12"/>
            <p:cNvSpPr/>
            <p:nvPr/>
          </p:nvSpPr>
          <p:spPr>
            <a:xfrm>
              <a:off x="7432632" y="2832811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</a:t>
              </a:r>
              <a:r>
                <a:rPr lang="en-CA" sz="1600" dirty="0" smtClean="0">
                  <a:solidFill>
                    <a:schemeClr val="bg1"/>
                  </a:solidFill>
                </a:rPr>
                <a:t>System </a:t>
              </a:r>
              <a:r>
                <a:rPr lang="en-CA" sz="1600" dirty="0">
                  <a:solidFill>
                    <a:schemeClr val="bg1"/>
                  </a:solidFill>
                </a:rPr>
                <a:t>Specific Policies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 rot="5400000">
              <a:off x="7946907" y="4911095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751627" y="4047345"/>
              <a:ext cx="1224000" cy="774000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dirty="0" smtClean="0">
                  <a:solidFill>
                    <a:schemeClr val="bg1"/>
                  </a:solidFill>
                </a:rPr>
                <a:t>File </a:t>
              </a:r>
              <a:r>
                <a:rPr lang="en-CA" sz="1600" dirty="0">
                  <a:solidFill>
                    <a:schemeClr val="bg1"/>
                  </a:solidFill>
                </a:rPr>
                <a:t>System Library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286822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292902" y="4099894"/>
              <a:ext cx="1318760" cy="636797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System Application</a:t>
              </a:r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44305" y="3544620"/>
              <a:ext cx="657498" cy="1188370"/>
              <a:chOff x="1323407" y="3472195"/>
              <a:chExt cx="657498" cy="1188370"/>
            </a:xfrm>
            <a:grpFill/>
          </p:grpSpPr>
          <p:sp>
            <p:nvSpPr>
              <p:cNvPr id="6" name="Smiley Face 5"/>
              <p:cNvSpPr/>
              <p:nvPr/>
            </p:nvSpPr>
            <p:spPr>
              <a:xfrm>
                <a:off x="1323407" y="4031169"/>
                <a:ext cx="657498" cy="629396"/>
              </a:xfrm>
              <a:prstGeom prst="smileyFace">
                <a:avLst/>
              </a:prstGeom>
              <a:grpFill/>
              <a:ln w="25400">
                <a:solidFill>
                  <a:schemeClr val="bg1"/>
                </a:solidFill>
              </a:ln>
              <a:effectLst>
                <a:glow rad="127000">
                  <a:srgbClr val="FFFF00">
                    <a:alpha val="4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18" name="Isosceles Triangle 17"/>
              <p:cNvSpPr/>
              <p:nvPr/>
            </p:nvSpPr>
            <p:spPr>
              <a:xfrm>
                <a:off x="1439539" y="3472195"/>
                <a:ext cx="415041" cy="640458"/>
              </a:xfrm>
              <a:prstGeom prst="triangle">
                <a:avLst/>
              </a:prstGeom>
              <a:solidFill>
                <a:schemeClr val="accent6"/>
              </a:solidFill>
              <a:ln w="25400">
                <a:solidFill>
                  <a:schemeClr val="accent6"/>
                </a:solidFill>
              </a:ln>
              <a:effectLst>
                <a:glow rad="127000">
                  <a:srgbClr val="FFFF00">
                    <a:alpha val="4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9" name="Right Arrow 18"/>
            <p:cNvSpPr/>
            <p:nvPr/>
          </p:nvSpPr>
          <p:spPr>
            <a:xfrm rot="18900000">
              <a:off x="7054852" y="3727351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0" name="Right Arrow 19"/>
            <p:cNvSpPr/>
            <p:nvPr/>
          </p:nvSpPr>
          <p:spPr>
            <a:xfrm rot="16200000">
              <a:off x="7946907" y="3721899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1" name="Right Arrow 20"/>
            <p:cNvSpPr/>
            <p:nvPr/>
          </p:nvSpPr>
          <p:spPr>
            <a:xfrm rot="18900000">
              <a:off x="8859377" y="4916548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2" name="Right Arrow 21"/>
            <p:cNvSpPr/>
            <p:nvPr/>
          </p:nvSpPr>
          <p:spPr>
            <a:xfrm rot="2700000">
              <a:off x="8866151" y="3721898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09658" y="5281328"/>
              <a:ext cx="1260000" cy="774000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Spiffy API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7054852" y="5473906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5" name="Right Arrow 24"/>
            <p:cNvSpPr/>
            <p:nvPr/>
          </p:nvSpPr>
          <p:spPr>
            <a:xfrm rot="16200000">
              <a:off x="6187933" y="4911096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7769883" y="4070268"/>
              <a:ext cx="657498" cy="662722"/>
              <a:chOff x="5537128" y="1815138"/>
              <a:chExt cx="540000" cy="568593"/>
            </a:xfrm>
            <a:grpFill/>
          </p:grpSpPr>
          <p:sp>
            <p:nvSpPr>
              <p:cNvPr id="27" name="Smiley Face 26"/>
              <p:cNvSpPr/>
              <p:nvPr/>
            </p:nvSpPr>
            <p:spPr>
              <a:xfrm>
                <a:off x="5537128" y="1843731"/>
                <a:ext cx="540000" cy="540000"/>
              </a:xfrm>
              <a:prstGeom prst="smileyFace">
                <a:avLst/>
              </a:prstGeom>
              <a:grpFill/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Cloud 27"/>
              <p:cNvSpPr/>
              <p:nvPr/>
            </p:nvSpPr>
            <p:spPr>
              <a:xfrm>
                <a:off x="5936362" y="1815138"/>
                <a:ext cx="82690" cy="183523"/>
              </a:xfrm>
              <a:prstGeom prst="cloud">
                <a:avLst/>
              </a:prstGeom>
              <a:solidFill>
                <a:schemeClr val="accent5"/>
              </a:solidFill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Cloud 28"/>
              <p:cNvSpPr/>
              <p:nvPr/>
            </p:nvSpPr>
            <p:spPr>
              <a:xfrm>
                <a:off x="5597328" y="1815138"/>
                <a:ext cx="82690" cy="183523"/>
              </a:xfrm>
              <a:prstGeom prst="cloud">
                <a:avLst/>
              </a:prstGeom>
              <a:solidFill>
                <a:schemeClr val="accent5"/>
              </a:solidFill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37" name="Group 36"/>
            <p:cNvGrpSpPr/>
            <p:nvPr/>
          </p:nvGrpSpPr>
          <p:grpSpPr>
            <a:xfrm>
              <a:off x="2580393" y="5322308"/>
              <a:ext cx="2021395" cy="707886"/>
              <a:chOff x="2381222" y="5249882"/>
              <a:chExt cx="2021395" cy="707886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951578" y="5371950"/>
                <a:ext cx="1451039" cy="584775"/>
              </a:xfrm>
              <a:prstGeom prst="rect">
                <a:avLst/>
              </a:prstGeom>
              <a:grpFill/>
              <a:ln w="254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1600" dirty="0">
                    <a:solidFill>
                      <a:schemeClr val="bg1"/>
                    </a:solidFill>
                  </a:rPr>
                  <a:t> Application</a:t>
                </a:r>
              </a:p>
              <a:p>
                <a:pPr algn="ctr"/>
                <a:r>
                  <a:rPr lang="en-CA" sz="1600" dirty="0">
                    <a:solidFill>
                      <a:schemeClr val="bg1"/>
                    </a:solidFill>
                  </a:rPr>
                  <a:t>Programmer</a:t>
                </a:r>
              </a:p>
            </p:txBody>
          </p:sp>
          <p:grpSp>
            <p:nvGrpSpPr>
              <p:cNvPr id="30" name="Group 29"/>
              <p:cNvGrpSpPr>
                <a:grpSpLocks noChangeAspect="1"/>
              </p:cNvGrpSpPr>
              <p:nvPr/>
            </p:nvGrpSpPr>
            <p:grpSpPr>
              <a:xfrm>
                <a:off x="2381222" y="5449703"/>
                <a:ext cx="416936" cy="420246"/>
                <a:chOff x="5537128" y="1815138"/>
                <a:chExt cx="540000" cy="568593"/>
              </a:xfrm>
              <a:grpFill/>
            </p:grpSpPr>
            <p:sp>
              <p:nvSpPr>
                <p:cNvPr id="31" name="Smiley Face 30"/>
                <p:cNvSpPr/>
                <p:nvPr/>
              </p:nvSpPr>
              <p:spPr>
                <a:xfrm>
                  <a:off x="5537128" y="1843731"/>
                  <a:ext cx="540000" cy="540000"/>
                </a:xfrm>
                <a:prstGeom prst="smileyFace">
                  <a:avLst/>
                </a:prstGeom>
                <a:grpFill/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2" name="Cloud 31"/>
                <p:cNvSpPr/>
                <p:nvPr/>
              </p:nvSpPr>
              <p:spPr>
                <a:xfrm>
                  <a:off x="5936362" y="1815138"/>
                  <a:ext cx="82690" cy="183523"/>
                </a:xfrm>
                <a:prstGeom prst="cloud">
                  <a:avLst/>
                </a:prstGeom>
                <a:solidFill>
                  <a:schemeClr val="accent5"/>
                </a:solidFill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3" name="Cloud 32"/>
                <p:cNvSpPr/>
                <p:nvPr/>
              </p:nvSpPr>
              <p:spPr>
                <a:xfrm>
                  <a:off x="5597328" y="1815138"/>
                  <a:ext cx="82690" cy="183523"/>
                </a:xfrm>
                <a:prstGeom prst="cloud">
                  <a:avLst/>
                </a:prstGeom>
                <a:solidFill>
                  <a:schemeClr val="accent5"/>
                </a:solidFill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34" name="TextBox 33"/>
              <p:cNvSpPr txBox="1"/>
              <p:nvPr/>
            </p:nvSpPr>
            <p:spPr>
              <a:xfrm>
                <a:off x="2759312" y="5249882"/>
                <a:ext cx="327334" cy="707886"/>
              </a:xfrm>
              <a:prstGeom prst="rect">
                <a:avLst/>
              </a:prstGeom>
              <a:grpFill/>
              <a:ln w="254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7439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Spiffy Library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en-CA" dirty="0" smtClean="0"/>
              <a:t>Spiffy compiler processes annotated metadata structures</a:t>
            </a:r>
          </a:p>
          <a:p>
            <a:pPr marL="914400" lvl="1" indent="-514350"/>
            <a:r>
              <a:rPr lang="en-CA" dirty="0" smtClean="0"/>
              <a:t>Generates Spiffy library for type-safe parsing</a:t>
            </a:r>
            <a:r>
              <a:rPr lang="en-CA" dirty="0"/>
              <a:t>, traversal and </a:t>
            </a:r>
            <a:r>
              <a:rPr lang="en-CA" dirty="0" smtClean="0"/>
              <a:t>serialization of file system structures</a:t>
            </a:r>
          </a:p>
        </p:txBody>
      </p:sp>
      <p:grpSp>
        <p:nvGrpSpPr>
          <p:cNvPr id="69" name="Group 68"/>
          <p:cNvGrpSpPr/>
          <p:nvPr/>
        </p:nvGrpSpPr>
        <p:grpSpPr>
          <a:xfrm>
            <a:off x="844305" y="2832811"/>
            <a:ext cx="9767357" cy="3222517"/>
            <a:chOff x="844305" y="2832811"/>
            <a:chExt cx="9767357" cy="3222517"/>
          </a:xfrm>
          <a:noFill/>
        </p:grpSpPr>
        <p:sp>
          <p:nvSpPr>
            <p:cNvPr id="70" name="Snip Single Corner Rectangle 69"/>
            <p:cNvSpPr/>
            <p:nvPr/>
          </p:nvSpPr>
          <p:spPr>
            <a:xfrm>
              <a:off x="2114410" y="4047345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2600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Annotated File System Structures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239816" y="3252232"/>
              <a:ext cx="1329210" cy="584775"/>
            </a:xfrm>
            <a:prstGeom prst="rect">
              <a:avLst/>
            </a:prstGeom>
            <a:grpFill/>
            <a:ln w="2540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System </a:t>
              </a:r>
            </a:p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Developer</a:t>
              </a:r>
            </a:p>
          </p:txBody>
        </p:sp>
        <p:sp>
          <p:nvSpPr>
            <p:cNvPr id="72" name="Right Arrow 71"/>
            <p:cNvSpPr/>
            <p:nvPr/>
          </p:nvSpPr>
          <p:spPr>
            <a:xfrm>
              <a:off x="1649607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3594214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4059017" y="4047345"/>
              <a:ext cx="1080000" cy="774000"/>
            </a:xfrm>
            <a:prstGeom prst="roundRect">
              <a:avLst/>
            </a:prstGeom>
            <a:grpFill/>
            <a:ln w="25400" cmpd="dbl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Spiffy Compiler</a:t>
              </a:r>
            </a:p>
          </p:txBody>
        </p:sp>
        <p:sp>
          <p:nvSpPr>
            <p:cNvPr id="75" name="Snip Single Corner Rectangle 74"/>
            <p:cNvSpPr/>
            <p:nvPr/>
          </p:nvSpPr>
          <p:spPr>
            <a:xfrm>
              <a:off x="7432632" y="5281328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0" rIns="0" bIns="144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Generic </a:t>
              </a:r>
              <a:r>
                <a:rPr lang="en-CA" sz="1600" dirty="0" smtClean="0">
                  <a:solidFill>
                    <a:schemeClr val="bg1"/>
                  </a:solidFill>
                </a:rPr>
                <a:t>Application</a:t>
              </a:r>
              <a:endParaRPr lang="en-CA" sz="1600" dirty="0">
                <a:solidFill>
                  <a:schemeClr val="bg1"/>
                </a:solidFill>
              </a:endParaRPr>
            </a:p>
          </p:txBody>
        </p:sp>
        <p:sp>
          <p:nvSpPr>
            <p:cNvPr id="76" name="Snip Single Corner Rectangle 75"/>
            <p:cNvSpPr/>
            <p:nvPr/>
          </p:nvSpPr>
          <p:spPr>
            <a:xfrm>
              <a:off x="7432632" y="2832811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</a:t>
              </a:r>
              <a:r>
                <a:rPr lang="en-CA" sz="1600" dirty="0" smtClean="0">
                  <a:solidFill>
                    <a:schemeClr val="bg1"/>
                  </a:solidFill>
                </a:rPr>
                <a:t>System </a:t>
              </a:r>
              <a:r>
                <a:rPr lang="en-CA" sz="1600" dirty="0">
                  <a:solidFill>
                    <a:schemeClr val="bg1"/>
                  </a:solidFill>
                </a:rPr>
                <a:t>Specific Policies</a:t>
              </a:r>
            </a:p>
          </p:txBody>
        </p:sp>
        <p:sp>
          <p:nvSpPr>
            <p:cNvPr id="77" name="Right Arrow 76"/>
            <p:cNvSpPr/>
            <p:nvPr/>
          </p:nvSpPr>
          <p:spPr>
            <a:xfrm rot="5400000">
              <a:off x="7946907" y="4911095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751627" y="4047345"/>
              <a:ext cx="1224000" cy="774000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b="1" dirty="0" smtClean="0">
                  <a:solidFill>
                    <a:schemeClr val="bg1"/>
                  </a:solidFill>
                </a:rPr>
                <a:t>File </a:t>
              </a:r>
              <a:r>
                <a:rPr lang="en-CA" sz="1600" b="1" dirty="0">
                  <a:solidFill>
                    <a:schemeClr val="bg1"/>
                  </a:solidFill>
                </a:rPr>
                <a:t>System Library</a:t>
              </a:r>
            </a:p>
          </p:txBody>
        </p:sp>
        <p:sp>
          <p:nvSpPr>
            <p:cNvPr id="79" name="Right Arrow 78"/>
            <p:cNvSpPr/>
            <p:nvPr/>
          </p:nvSpPr>
          <p:spPr>
            <a:xfrm>
              <a:off x="5286822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9292902" y="4099894"/>
              <a:ext cx="1318760" cy="636797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System Application</a:t>
              </a:r>
            </a:p>
          </p:txBody>
        </p:sp>
        <p:grpSp>
          <p:nvGrpSpPr>
            <p:cNvPr id="81" name="Group 80"/>
            <p:cNvGrpSpPr/>
            <p:nvPr/>
          </p:nvGrpSpPr>
          <p:grpSpPr>
            <a:xfrm>
              <a:off x="844305" y="3544620"/>
              <a:ext cx="657498" cy="1188370"/>
              <a:chOff x="1323407" y="3472195"/>
              <a:chExt cx="657498" cy="1188370"/>
            </a:xfrm>
            <a:grpFill/>
          </p:grpSpPr>
          <p:sp>
            <p:nvSpPr>
              <p:cNvPr id="100" name="Smiley Face 99"/>
              <p:cNvSpPr/>
              <p:nvPr/>
            </p:nvSpPr>
            <p:spPr>
              <a:xfrm>
                <a:off x="1323407" y="4031169"/>
                <a:ext cx="657498" cy="629396"/>
              </a:xfrm>
              <a:prstGeom prst="smileyFace">
                <a:avLst/>
              </a:prstGeom>
              <a:grpFill/>
              <a:ln w="25400">
                <a:solidFill>
                  <a:schemeClr val="bg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101" name="Isosceles Triangle 100"/>
              <p:cNvSpPr/>
              <p:nvPr/>
            </p:nvSpPr>
            <p:spPr>
              <a:xfrm>
                <a:off x="1439539" y="3472195"/>
                <a:ext cx="415041" cy="640458"/>
              </a:xfrm>
              <a:prstGeom prst="triangle">
                <a:avLst/>
              </a:prstGeom>
              <a:solidFill>
                <a:schemeClr val="accent6"/>
              </a:solidFill>
              <a:ln w="25400">
                <a:solidFill>
                  <a:schemeClr val="accent6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82" name="Right Arrow 81"/>
            <p:cNvSpPr/>
            <p:nvPr/>
          </p:nvSpPr>
          <p:spPr>
            <a:xfrm rot="18900000">
              <a:off x="7054852" y="3727351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3" name="Right Arrow 82"/>
            <p:cNvSpPr/>
            <p:nvPr/>
          </p:nvSpPr>
          <p:spPr>
            <a:xfrm rot="16200000">
              <a:off x="7946907" y="3721899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4" name="Right Arrow 83"/>
            <p:cNvSpPr/>
            <p:nvPr/>
          </p:nvSpPr>
          <p:spPr>
            <a:xfrm rot="18900000">
              <a:off x="8859377" y="4916548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5" name="Right Arrow 84"/>
            <p:cNvSpPr/>
            <p:nvPr/>
          </p:nvSpPr>
          <p:spPr>
            <a:xfrm rot="2700000">
              <a:off x="8866151" y="3721898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5709658" y="5281328"/>
              <a:ext cx="1260000" cy="774000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Spiffy API</a:t>
              </a:r>
            </a:p>
          </p:txBody>
        </p:sp>
        <p:sp>
          <p:nvSpPr>
            <p:cNvPr id="87" name="Right Arrow 86"/>
            <p:cNvSpPr/>
            <p:nvPr/>
          </p:nvSpPr>
          <p:spPr>
            <a:xfrm>
              <a:off x="7054852" y="5473906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8" name="Right Arrow 87"/>
            <p:cNvSpPr/>
            <p:nvPr/>
          </p:nvSpPr>
          <p:spPr>
            <a:xfrm rot="16200000">
              <a:off x="6187933" y="4911096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grpSp>
          <p:nvGrpSpPr>
            <p:cNvPr id="89" name="Group 88"/>
            <p:cNvGrpSpPr/>
            <p:nvPr/>
          </p:nvGrpSpPr>
          <p:grpSpPr>
            <a:xfrm>
              <a:off x="7769883" y="4070268"/>
              <a:ext cx="657498" cy="662722"/>
              <a:chOff x="5537128" y="1815138"/>
              <a:chExt cx="540000" cy="568593"/>
            </a:xfrm>
            <a:grpFill/>
          </p:grpSpPr>
          <p:sp>
            <p:nvSpPr>
              <p:cNvPr id="97" name="Smiley Face 96"/>
              <p:cNvSpPr/>
              <p:nvPr/>
            </p:nvSpPr>
            <p:spPr>
              <a:xfrm>
                <a:off x="5537128" y="1843731"/>
                <a:ext cx="540000" cy="540000"/>
              </a:xfrm>
              <a:prstGeom prst="smileyFace">
                <a:avLst/>
              </a:prstGeom>
              <a:grpFill/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98" name="Cloud 97"/>
              <p:cNvSpPr/>
              <p:nvPr/>
            </p:nvSpPr>
            <p:spPr>
              <a:xfrm>
                <a:off x="5936362" y="1815138"/>
                <a:ext cx="82690" cy="183523"/>
              </a:xfrm>
              <a:prstGeom prst="cloud">
                <a:avLst/>
              </a:prstGeom>
              <a:solidFill>
                <a:schemeClr val="accent5"/>
              </a:solidFill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99" name="Cloud 98"/>
              <p:cNvSpPr/>
              <p:nvPr/>
            </p:nvSpPr>
            <p:spPr>
              <a:xfrm>
                <a:off x="5597328" y="1815138"/>
                <a:ext cx="82690" cy="183523"/>
              </a:xfrm>
              <a:prstGeom prst="cloud">
                <a:avLst/>
              </a:prstGeom>
              <a:solidFill>
                <a:schemeClr val="accent5"/>
              </a:solidFill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90" name="Group 89"/>
            <p:cNvGrpSpPr/>
            <p:nvPr/>
          </p:nvGrpSpPr>
          <p:grpSpPr>
            <a:xfrm>
              <a:off x="2580393" y="5322308"/>
              <a:ext cx="2021395" cy="707886"/>
              <a:chOff x="2381222" y="5249882"/>
              <a:chExt cx="2021395" cy="707886"/>
            </a:xfrm>
            <a:grpFill/>
          </p:grpSpPr>
          <p:sp>
            <p:nvSpPr>
              <p:cNvPr id="91" name="TextBox 90"/>
              <p:cNvSpPr txBox="1"/>
              <p:nvPr/>
            </p:nvSpPr>
            <p:spPr>
              <a:xfrm>
                <a:off x="2951578" y="5371950"/>
                <a:ext cx="1451039" cy="584775"/>
              </a:xfrm>
              <a:prstGeom prst="rect">
                <a:avLst/>
              </a:prstGeom>
              <a:grpFill/>
              <a:ln w="254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1600" dirty="0">
                    <a:solidFill>
                      <a:schemeClr val="bg1"/>
                    </a:solidFill>
                  </a:rPr>
                  <a:t> Application</a:t>
                </a:r>
              </a:p>
              <a:p>
                <a:pPr algn="ctr"/>
                <a:r>
                  <a:rPr lang="en-CA" sz="1600" dirty="0">
                    <a:solidFill>
                      <a:schemeClr val="bg1"/>
                    </a:solidFill>
                  </a:rPr>
                  <a:t>Programmer</a:t>
                </a:r>
              </a:p>
            </p:txBody>
          </p:sp>
          <p:grpSp>
            <p:nvGrpSpPr>
              <p:cNvPr id="92" name="Group 91"/>
              <p:cNvGrpSpPr>
                <a:grpSpLocks noChangeAspect="1"/>
              </p:cNvGrpSpPr>
              <p:nvPr/>
            </p:nvGrpSpPr>
            <p:grpSpPr>
              <a:xfrm>
                <a:off x="2381222" y="5449703"/>
                <a:ext cx="416936" cy="420246"/>
                <a:chOff x="5537128" y="1815138"/>
                <a:chExt cx="540000" cy="568593"/>
              </a:xfrm>
              <a:grpFill/>
            </p:grpSpPr>
            <p:sp>
              <p:nvSpPr>
                <p:cNvPr id="94" name="Smiley Face 93"/>
                <p:cNvSpPr/>
                <p:nvPr/>
              </p:nvSpPr>
              <p:spPr>
                <a:xfrm>
                  <a:off x="5537128" y="1843731"/>
                  <a:ext cx="540000" cy="540000"/>
                </a:xfrm>
                <a:prstGeom prst="smileyFace">
                  <a:avLst/>
                </a:prstGeom>
                <a:grpFill/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95" name="Cloud 94"/>
                <p:cNvSpPr/>
                <p:nvPr/>
              </p:nvSpPr>
              <p:spPr>
                <a:xfrm>
                  <a:off x="5936362" y="1815138"/>
                  <a:ext cx="82690" cy="183523"/>
                </a:xfrm>
                <a:prstGeom prst="cloud">
                  <a:avLst/>
                </a:prstGeom>
                <a:solidFill>
                  <a:schemeClr val="accent5"/>
                </a:solidFill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96" name="Cloud 95"/>
                <p:cNvSpPr/>
                <p:nvPr/>
              </p:nvSpPr>
              <p:spPr>
                <a:xfrm>
                  <a:off x="5597328" y="1815138"/>
                  <a:ext cx="82690" cy="183523"/>
                </a:xfrm>
                <a:prstGeom prst="cloud">
                  <a:avLst/>
                </a:prstGeom>
                <a:solidFill>
                  <a:schemeClr val="accent5"/>
                </a:solidFill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93" name="TextBox 92"/>
              <p:cNvSpPr txBox="1"/>
              <p:nvPr/>
            </p:nvSpPr>
            <p:spPr>
              <a:xfrm>
                <a:off x="2759312" y="5249882"/>
                <a:ext cx="327334" cy="707886"/>
              </a:xfrm>
              <a:prstGeom prst="rect">
                <a:avLst/>
              </a:prstGeom>
              <a:grpFill/>
              <a:ln w="254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1264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en-CA" dirty="0" smtClean="0"/>
              <a:t>Application programmer </a:t>
            </a:r>
            <a:r>
              <a:rPr lang="en-CA" dirty="0"/>
              <a:t>builds </a:t>
            </a:r>
            <a:r>
              <a:rPr lang="en-CA" dirty="0" smtClean="0"/>
              <a:t>file-system applications</a:t>
            </a:r>
          </a:p>
          <a:p>
            <a:pPr marL="914400" lvl="1" indent="-514350"/>
            <a:r>
              <a:rPr lang="en-CA" dirty="0" smtClean="0"/>
              <a:t>Uses Spiffy library to simplify the development of robust applications that work across file systems</a:t>
            </a:r>
            <a:endParaRPr lang="en-CA" dirty="0"/>
          </a:p>
        </p:txBody>
      </p:sp>
      <p:grpSp>
        <p:nvGrpSpPr>
          <p:cNvPr id="69" name="Group 68"/>
          <p:cNvGrpSpPr/>
          <p:nvPr/>
        </p:nvGrpSpPr>
        <p:grpSpPr>
          <a:xfrm>
            <a:off x="844305" y="2832811"/>
            <a:ext cx="9767357" cy="3222517"/>
            <a:chOff x="844305" y="2832811"/>
            <a:chExt cx="9767357" cy="3222517"/>
          </a:xfrm>
          <a:noFill/>
        </p:grpSpPr>
        <p:sp>
          <p:nvSpPr>
            <p:cNvPr id="70" name="Snip Single Corner Rectangle 69"/>
            <p:cNvSpPr/>
            <p:nvPr/>
          </p:nvSpPr>
          <p:spPr>
            <a:xfrm>
              <a:off x="2114410" y="4047345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26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Annotated File System Structures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239816" y="3252232"/>
              <a:ext cx="1329210" cy="584775"/>
            </a:xfrm>
            <a:prstGeom prst="rect">
              <a:avLst/>
            </a:prstGeom>
            <a:grpFill/>
            <a:ln w="2540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System </a:t>
              </a:r>
            </a:p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Developer</a:t>
              </a:r>
            </a:p>
          </p:txBody>
        </p:sp>
        <p:sp>
          <p:nvSpPr>
            <p:cNvPr id="72" name="Right Arrow 71"/>
            <p:cNvSpPr/>
            <p:nvPr/>
          </p:nvSpPr>
          <p:spPr>
            <a:xfrm>
              <a:off x="1649607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3" name="Right Arrow 72"/>
            <p:cNvSpPr/>
            <p:nvPr/>
          </p:nvSpPr>
          <p:spPr>
            <a:xfrm>
              <a:off x="3594214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4059017" y="4047345"/>
              <a:ext cx="1080000" cy="774000"/>
            </a:xfrm>
            <a:prstGeom prst="roundRect">
              <a:avLst/>
            </a:prstGeom>
            <a:grpFill/>
            <a:ln w="25400" cmpd="dbl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Spiffy Compiler</a:t>
              </a:r>
            </a:p>
          </p:txBody>
        </p:sp>
        <p:sp>
          <p:nvSpPr>
            <p:cNvPr id="75" name="Snip Single Corner Rectangle 74"/>
            <p:cNvSpPr/>
            <p:nvPr/>
          </p:nvSpPr>
          <p:spPr>
            <a:xfrm>
              <a:off x="7432632" y="5281328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0" rIns="0" bIns="14400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Generic </a:t>
              </a:r>
              <a:r>
                <a:rPr lang="en-CA" sz="1600" b="1" dirty="0" smtClean="0">
                  <a:solidFill>
                    <a:schemeClr val="bg1"/>
                  </a:solidFill>
                </a:rPr>
                <a:t>Application</a:t>
              </a:r>
              <a:endParaRPr lang="en-CA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76" name="Snip Single Corner Rectangle 75"/>
            <p:cNvSpPr/>
            <p:nvPr/>
          </p:nvSpPr>
          <p:spPr>
            <a:xfrm>
              <a:off x="7432632" y="2832811"/>
              <a:ext cx="1332000" cy="774000"/>
            </a:xfrm>
            <a:prstGeom prst="snip1Rect">
              <a:avLst>
                <a:gd name="adj" fmla="val 30778"/>
              </a:avLst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File </a:t>
              </a:r>
              <a:r>
                <a:rPr lang="en-CA" sz="1600" b="1" dirty="0" smtClean="0">
                  <a:solidFill>
                    <a:schemeClr val="bg1"/>
                  </a:solidFill>
                </a:rPr>
                <a:t>System </a:t>
              </a:r>
              <a:r>
                <a:rPr lang="en-CA" sz="1600" b="1" dirty="0">
                  <a:solidFill>
                    <a:schemeClr val="bg1"/>
                  </a:solidFill>
                </a:rPr>
                <a:t>Specific Policies</a:t>
              </a:r>
            </a:p>
          </p:txBody>
        </p:sp>
        <p:sp>
          <p:nvSpPr>
            <p:cNvPr id="77" name="Right Arrow 76"/>
            <p:cNvSpPr/>
            <p:nvPr/>
          </p:nvSpPr>
          <p:spPr>
            <a:xfrm rot="5400000">
              <a:off x="7946907" y="4911095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751627" y="4047345"/>
              <a:ext cx="1224000" cy="774000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b="1" dirty="0" smtClean="0">
                  <a:solidFill>
                    <a:schemeClr val="bg1"/>
                  </a:solidFill>
                </a:rPr>
                <a:t>File </a:t>
              </a:r>
              <a:r>
                <a:rPr lang="en-CA" sz="1600" b="1" dirty="0">
                  <a:solidFill>
                    <a:schemeClr val="bg1"/>
                  </a:solidFill>
                </a:rPr>
                <a:t>System Library</a:t>
              </a:r>
            </a:p>
          </p:txBody>
        </p:sp>
        <p:sp>
          <p:nvSpPr>
            <p:cNvPr id="79" name="Right Arrow 78"/>
            <p:cNvSpPr/>
            <p:nvPr/>
          </p:nvSpPr>
          <p:spPr>
            <a:xfrm>
              <a:off x="5286822" y="4296172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9292902" y="4099894"/>
              <a:ext cx="1318760" cy="636797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File System Application</a:t>
              </a:r>
            </a:p>
          </p:txBody>
        </p:sp>
        <p:grpSp>
          <p:nvGrpSpPr>
            <p:cNvPr id="81" name="Group 80"/>
            <p:cNvGrpSpPr/>
            <p:nvPr/>
          </p:nvGrpSpPr>
          <p:grpSpPr>
            <a:xfrm>
              <a:off x="844305" y="3544620"/>
              <a:ext cx="657498" cy="1188370"/>
              <a:chOff x="1323407" y="3472195"/>
              <a:chExt cx="657498" cy="1188370"/>
            </a:xfrm>
            <a:grpFill/>
          </p:grpSpPr>
          <p:sp>
            <p:nvSpPr>
              <p:cNvPr id="100" name="Smiley Face 99"/>
              <p:cNvSpPr/>
              <p:nvPr/>
            </p:nvSpPr>
            <p:spPr>
              <a:xfrm>
                <a:off x="1323407" y="4031169"/>
                <a:ext cx="657498" cy="629396"/>
              </a:xfrm>
              <a:prstGeom prst="smileyFace">
                <a:avLst/>
              </a:prstGeom>
              <a:grpFill/>
              <a:ln w="25400">
                <a:solidFill>
                  <a:schemeClr val="bg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101" name="Isosceles Triangle 100"/>
              <p:cNvSpPr/>
              <p:nvPr/>
            </p:nvSpPr>
            <p:spPr>
              <a:xfrm>
                <a:off x="1439539" y="3472195"/>
                <a:ext cx="415041" cy="640458"/>
              </a:xfrm>
              <a:prstGeom prst="triangle">
                <a:avLst/>
              </a:prstGeom>
              <a:solidFill>
                <a:schemeClr val="accent6"/>
              </a:solidFill>
              <a:ln w="25400">
                <a:solidFill>
                  <a:schemeClr val="accent6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82" name="Right Arrow 81"/>
            <p:cNvSpPr/>
            <p:nvPr/>
          </p:nvSpPr>
          <p:spPr>
            <a:xfrm rot="18900000">
              <a:off x="7054852" y="3727351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3" name="Right Arrow 82"/>
            <p:cNvSpPr/>
            <p:nvPr/>
          </p:nvSpPr>
          <p:spPr>
            <a:xfrm rot="16200000">
              <a:off x="7946907" y="3721899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4" name="Right Arrow 83"/>
            <p:cNvSpPr/>
            <p:nvPr/>
          </p:nvSpPr>
          <p:spPr>
            <a:xfrm rot="18900000">
              <a:off x="8859377" y="4916548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5" name="Right Arrow 84"/>
            <p:cNvSpPr/>
            <p:nvPr/>
          </p:nvSpPr>
          <p:spPr>
            <a:xfrm rot="2700000">
              <a:off x="8866151" y="3721898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5709658" y="5281328"/>
              <a:ext cx="1260000" cy="774000"/>
            </a:xfrm>
            <a:prstGeom prst="rect">
              <a:avLst/>
            </a:prstGeom>
            <a:grpFill/>
            <a:ln w="25400">
              <a:solidFill>
                <a:schemeClr val="bg1"/>
              </a:solidFill>
            </a:ln>
            <a:effectLst>
              <a:glow rad="1397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b="1" dirty="0">
                  <a:solidFill>
                    <a:schemeClr val="bg1"/>
                  </a:solidFill>
                </a:rPr>
                <a:t>Spiffy API</a:t>
              </a:r>
            </a:p>
          </p:txBody>
        </p:sp>
        <p:sp>
          <p:nvSpPr>
            <p:cNvPr id="87" name="Right Arrow 86"/>
            <p:cNvSpPr/>
            <p:nvPr/>
          </p:nvSpPr>
          <p:spPr>
            <a:xfrm>
              <a:off x="7054852" y="5473906"/>
              <a:ext cx="316999" cy="244240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88" name="Right Arrow 87"/>
            <p:cNvSpPr/>
            <p:nvPr/>
          </p:nvSpPr>
          <p:spPr>
            <a:xfrm rot="16200000">
              <a:off x="6187933" y="4911096"/>
              <a:ext cx="303450" cy="255146"/>
            </a:xfrm>
            <a:prstGeom prst="rightArrow">
              <a:avLst/>
            </a:prstGeom>
            <a:grp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grpSp>
          <p:nvGrpSpPr>
            <p:cNvPr id="89" name="Group 88"/>
            <p:cNvGrpSpPr/>
            <p:nvPr/>
          </p:nvGrpSpPr>
          <p:grpSpPr>
            <a:xfrm>
              <a:off x="7769883" y="4070268"/>
              <a:ext cx="657498" cy="662722"/>
              <a:chOff x="5537128" y="1815138"/>
              <a:chExt cx="540000" cy="568593"/>
            </a:xfrm>
            <a:grpFill/>
          </p:grpSpPr>
          <p:sp>
            <p:nvSpPr>
              <p:cNvPr id="97" name="Smiley Face 96"/>
              <p:cNvSpPr/>
              <p:nvPr/>
            </p:nvSpPr>
            <p:spPr>
              <a:xfrm>
                <a:off x="5537128" y="1843731"/>
                <a:ext cx="540000" cy="540000"/>
              </a:xfrm>
              <a:prstGeom prst="smileyFace">
                <a:avLst/>
              </a:prstGeom>
              <a:grpFill/>
              <a:ln w="25400">
                <a:solidFill>
                  <a:schemeClr val="bg1"/>
                </a:solidFill>
              </a:ln>
              <a:effectLst>
                <a:glow rad="139700">
                  <a:srgbClr val="FFFF00">
                    <a:alpha val="4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98" name="Cloud 97"/>
              <p:cNvSpPr/>
              <p:nvPr/>
            </p:nvSpPr>
            <p:spPr>
              <a:xfrm>
                <a:off x="5936362" y="1815138"/>
                <a:ext cx="82690" cy="183523"/>
              </a:xfrm>
              <a:prstGeom prst="cloud">
                <a:avLst/>
              </a:prstGeom>
              <a:solidFill>
                <a:schemeClr val="accent5"/>
              </a:solidFill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  <p:sp>
            <p:nvSpPr>
              <p:cNvPr id="99" name="Cloud 98"/>
              <p:cNvSpPr/>
              <p:nvPr/>
            </p:nvSpPr>
            <p:spPr>
              <a:xfrm>
                <a:off x="5597328" y="1815138"/>
                <a:ext cx="82690" cy="183523"/>
              </a:xfrm>
              <a:prstGeom prst="cloud">
                <a:avLst/>
              </a:prstGeom>
              <a:solidFill>
                <a:schemeClr val="accent5"/>
              </a:solidFill>
              <a:ln w="254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360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90" name="Group 89"/>
            <p:cNvGrpSpPr/>
            <p:nvPr/>
          </p:nvGrpSpPr>
          <p:grpSpPr>
            <a:xfrm>
              <a:off x="2580393" y="5322308"/>
              <a:ext cx="2021395" cy="707886"/>
              <a:chOff x="2381222" y="5249882"/>
              <a:chExt cx="2021395" cy="707886"/>
            </a:xfrm>
            <a:grpFill/>
          </p:grpSpPr>
          <p:sp>
            <p:nvSpPr>
              <p:cNvPr id="91" name="TextBox 90"/>
              <p:cNvSpPr txBox="1"/>
              <p:nvPr/>
            </p:nvSpPr>
            <p:spPr>
              <a:xfrm>
                <a:off x="2951578" y="5371950"/>
                <a:ext cx="1451039" cy="584775"/>
              </a:xfrm>
              <a:prstGeom prst="rect">
                <a:avLst/>
              </a:prstGeom>
              <a:grpFill/>
              <a:ln w="254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1600" dirty="0">
                    <a:solidFill>
                      <a:schemeClr val="bg1"/>
                    </a:solidFill>
                  </a:rPr>
                  <a:t> Application</a:t>
                </a:r>
              </a:p>
              <a:p>
                <a:pPr algn="ctr"/>
                <a:r>
                  <a:rPr lang="en-CA" sz="1600" dirty="0">
                    <a:solidFill>
                      <a:schemeClr val="bg1"/>
                    </a:solidFill>
                  </a:rPr>
                  <a:t>Programmer</a:t>
                </a:r>
              </a:p>
            </p:txBody>
          </p:sp>
          <p:grpSp>
            <p:nvGrpSpPr>
              <p:cNvPr id="92" name="Group 91"/>
              <p:cNvGrpSpPr>
                <a:grpSpLocks noChangeAspect="1"/>
              </p:cNvGrpSpPr>
              <p:nvPr/>
            </p:nvGrpSpPr>
            <p:grpSpPr>
              <a:xfrm>
                <a:off x="2381222" y="5449703"/>
                <a:ext cx="416936" cy="420246"/>
                <a:chOff x="5537128" y="1815138"/>
                <a:chExt cx="540000" cy="568593"/>
              </a:xfrm>
              <a:grpFill/>
            </p:grpSpPr>
            <p:sp>
              <p:nvSpPr>
                <p:cNvPr id="94" name="Smiley Face 93"/>
                <p:cNvSpPr/>
                <p:nvPr/>
              </p:nvSpPr>
              <p:spPr>
                <a:xfrm>
                  <a:off x="5537128" y="1843731"/>
                  <a:ext cx="540000" cy="540000"/>
                </a:xfrm>
                <a:prstGeom prst="smileyFace">
                  <a:avLst/>
                </a:prstGeom>
                <a:grpFill/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95" name="Cloud 94"/>
                <p:cNvSpPr/>
                <p:nvPr/>
              </p:nvSpPr>
              <p:spPr>
                <a:xfrm>
                  <a:off x="5936362" y="1815138"/>
                  <a:ext cx="82690" cy="183523"/>
                </a:xfrm>
                <a:prstGeom prst="cloud">
                  <a:avLst/>
                </a:prstGeom>
                <a:solidFill>
                  <a:schemeClr val="accent5"/>
                </a:solidFill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96" name="Cloud 95"/>
                <p:cNvSpPr/>
                <p:nvPr/>
              </p:nvSpPr>
              <p:spPr>
                <a:xfrm>
                  <a:off x="5597328" y="1815138"/>
                  <a:ext cx="82690" cy="183523"/>
                </a:xfrm>
                <a:prstGeom prst="cloud">
                  <a:avLst/>
                </a:prstGeom>
                <a:solidFill>
                  <a:schemeClr val="accent5"/>
                </a:solidFill>
                <a:ln w="254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360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93" name="TextBox 92"/>
              <p:cNvSpPr txBox="1"/>
              <p:nvPr/>
            </p:nvSpPr>
            <p:spPr>
              <a:xfrm>
                <a:off x="2759312" y="5249882"/>
                <a:ext cx="327334" cy="707886"/>
              </a:xfrm>
              <a:prstGeom prst="rect">
                <a:avLst/>
              </a:prstGeom>
              <a:grpFill/>
              <a:ln w="254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6178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Talk Outline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Problem</a:t>
            </a:r>
          </a:p>
          <a:p>
            <a:pPr lvl="1"/>
            <a:r>
              <a:rPr lang="en-US" dirty="0" smtClean="0"/>
              <a:t>Hard to write robust file system applications</a:t>
            </a:r>
          </a:p>
          <a:p>
            <a:r>
              <a:rPr lang="en-US" dirty="0" smtClean="0"/>
              <a:t>Approach</a:t>
            </a:r>
          </a:p>
          <a:p>
            <a:pPr lvl="1"/>
            <a:r>
              <a:rPr lang="en-US" dirty="0" smtClean="0"/>
              <a:t>Specify file system format, generate parsing and serialization library</a:t>
            </a:r>
          </a:p>
          <a:p>
            <a:r>
              <a:rPr lang="en-US" dirty="0" smtClean="0"/>
              <a:t>Spiffy annotations</a:t>
            </a:r>
          </a:p>
          <a:p>
            <a:r>
              <a:rPr lang="en-US" dirty="0" smtClean="0"/>
              <a:t>Spiffy library</a:t>
            </a:r>
          </a:p>
          <a:p>
            <a:r>
              <a:rPr lang="en-US" dirty="0" err="1" smtClean="0"/>
              <a:t>Spiify</a:t>
            </a:r>
            <a:r>
              <a:rPr lang="en-US" dirty="0" smtClean="0"/>
              <a:t> applications</a:t>
            </a:r>
          </a:p>
          <a:p>
            <a:r>
              <a:rPr lang="en-US" dirty="0" smtClean="0"/>
              <a:t>Evaluation</a:t>
            </a:r>
          </a:p>
          <a:p>
            <a:r>
              <a:rPr lang="en-US" dirty="0" smtClean="0"/>
              <a:t>Conclusions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10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1230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Annotation Requirements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File System Pointers</a:t>
            </a:r>
          </a:p>
          <a:p>
            <a:pPr lvl="1"/>
            <a:r>
              <a:rPr lang="en-US" dirty="0" smtClean="0"/>
              <a:t>Need to specify relationships between file system structures</a:t>
            </a:r>
          </a:p>
          <a:p>
            <a:pPr lvl="1"/>
            <a:r>
              <a:rPr lang="en-US" dirty="0" smtClean="0"/>
              <a:t>Use </a:t>
            </a:r>
            <a:r>
              <a:rPr lang="en-US" i="1" dirty="0"/>
              <a:t>P</a:t>
            </a:r>
            <a:r>
              <a:rPr lang="en-US" i="1" dirty="0" smtClean="0"/>
              <a:t>ointer</a:t>
            </a:r>
            <a:r>
              <a:rPr lang="en-US" dirty="0" smtClean="0"/>
              <a:t> annotation to specify this relationship</a:t>
            </a:r>
          </a:p>
          <a:p>
            <a:pPr lvl="1"/>
            <a:r>
              <a:rPr lang="en-US" dirty="0" smtClean="0"/>
              <a:t>Specifies that a data structure field holds an address to a location on physical 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5000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Address Space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</a:t>
            </a:r>
            <a:endParaRPr lang="en-CA" dirty="0"/>
          </a:p>
          <a:p>
            <a:r>
              <a:rPr lang="en-CA" dirty="0"/>
              <a:t>Interpreting the address may involve multiple layers of translation</a:t>
            </a:r>
          </a:p>
          <a:p>
            <a:pPr lvl="1"/>
            <a:r>
              <a:rPr lang="en-CA" dirty="0"/>
              <a:t>File system structures may be laid out </a:t>
            </a:r>
            <a:r>
              <a:rPr lang="en-CA" dirty="0" err="1"/>
              <a:t>discontiguously</a:t>
            </a:r>
            <a:endParaRPr lang="en-CA" dirty="0"/>
          </a:p>
          <a:p>
            <a:pPr lvl="2"/>
            <a:r>
              <a:rPr lang="en-CA" dirty="0"/>
              <a:t>E.g., Ext4 journal is stored on disk as a regular file</a:t>
            </a:r>
          </a:p>
          <a:p>
            <a:pPr lvl="2"/>
            <a:r>
              <a:rPr lang="en-CA" dirty="0"/>
              <a:t>Regular files can be physically </a:t>
            </a:r>
            <a:r>
              <a:rPr lang="en-CA" dirty="0" err="1"/>
              <a:t>discontiguous</a:t>
            </a:r>
            <a:r>
              <a:rPr lang="en-CA" dirty="0"/>
              <a:t> on </a:t>
            </a:r>
            <a:r>
              <a:rPr lang="en-CA" dirty="0" smtClean="0"/>
              <a:t>disk</a:t>
            </a:r>
          </a:p>
          <a:p>
            <a:pPr lvl="1"/>
            <a:endParaRPr lang="en-CA" dirty="0"/>
          </a:p>
          <a:p>
            <a:r>
              <a:rPr lang="en-CA" dirty="0"/>
              <a:t>Pointers have an </a:t>
            </a:r>
            <a:r>
              <a:rPr lang="en-CA" i="1" dirty="0"/>
              <a:t>address space </a:t>
            </a:r>
            <a:r>
              <a:rPr lang="en-CA" dirty="0"/>
              <a:t>that indicates how the address should be mapped to the physical location</a:t>
            </a:r>
          </a:p>
          <a:p>
            <a:r>
              <a:rPr lang="en-CA" dirty="0" smtClean="0"/>
              <a:t>Motivation</a:t>
            </a:r>
            <a:endParaRPr lang="en-CA" dirty="0" smtClean="0"/>
          </a:p>
          <a:p>
            <a:pPr lvl="1"/>
            <a:endParaRPr lang="en-CA" dirty="0" smtClean="0"/>
          </a:p>
          <a:p>
            <a:pPr lvl="1"/>
            <a:r>
              <a:rPr lang="en-CA" dirty="0"/>
              <a:t>W</a:t>
            </a:r>
            <a:r>
              <a:rPr lang="en-CA" dirty="0" smtClean="0"/>
              <a:t>ant to access structures in logically contiguous manner</a:t>
            </a:r>
          </a:p>
          <a:p>
            <a:r>
              <a:rPr lang="en-CA" dirty="0" smtClean="0"/>
              <a:t>Solution</a:t>
            </a:r>
          </a:p>
          <a:p>
            <a:pPr lvl="1"/>
            <a:r>
              <a:rPr lang="en-CA" dirty="0" smtClean="0"/>
              <a:t>Each address space specifies a mapping of its address to physical locations</a:t>
            </a:r>
          </a:p>
          <a:p>
            <a:pPr lvl="2"/>
            <a:r>
              <a:rPr lang="en-CA" dirty="0" smtClean="0"/>
              <a:t>E.g., for Ext4 journal, we use the </a:t>
            </a:r>
            <a:r>
              <a:rPr lang="en-CA" i="1" dirty="0" smtClean="0"/>
              <a:t>file</a:t>
            </a:r>
            <a:r>
              <a:rPr lang="en-CA" dirty="0" smtClean="0"/>
              <a:t> address space</a:t>
            </a:r>
          </a:p>
          <a:p>
            <a:pPr lvl="3"/>
            <a:r>
              <a:rPr lang="en-CA" dirty="0" smtClean="0"/>
              <a:t>i.e., interpret the pointer value as an </a:t>
            </a:r>
            <a:r>
              <a:rPr lang="en-CA" dirty="0" err="1" smtClean="0"/>
              <a:t>inode</a:t>
            </a:r>
            <a:r>
              <a:rPr lang="en-CA" dirty="0" smtClean="0"/>
              <a:t> number</a:t>
            </a:r>
          </a:p>
          <a:p>
            <a:pPr lvl="1"/>
            <a:r>
              <a:rPr lang="en-CA" dirty="0"/>
              <a:t>Mapping </a:t>
            </a:r>
            <a:r>
              <a:rPr lang="en-CA" dirty="0" smtClean="0"/>
              <a:t>function may need </a:t>
            </a:r>
            <a:r>
              <a:rPr lang="en-CA" dirty="0"/>
              <a:t>to reassemble </a:t>
            </a:r>
            <a:r>
              <a:rPr lang="en-CA" dirty="0" smtClean="0"/>
              <a:t>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9562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Annotation Requirements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Cross-Structure Dependencies</a:t>
            </a:r>
          </a:p>
          <a:p>
            <a:pPr lvl="1"/>
            <a:r>
              <a:rPr lang="en-CA" dirty="0"/>
              <a:t>Allows the annotation of structures to reference fields of other structures</a:t>
            </a:r>
          </a:p>
          <a:p>
            <a:pPr lvl="2"/>
            <a:r>
              <a:rPr lang="en-CA" dirty="0"/>
              <a:t>E.g., size of an Ext4 </a:t>
            </a:r>
            <a:r>
              <a:rPr lang="en-CA" dirty="0" err="1"/>
              <a:t>inode</a:t>
            </a:r>
            <a:r>
              <a:rPr lang="en-CA" dirty="0"/>
              <a:t> is saved in Ext4 super block</a:t>
            </a:r>
          </a:p>
          <a:p>
            <a:r>
              <a:rPr lang="en-CA" dirty="0" smtClean="0"/>
              <a:t>Context-Sensitive </a:t>
            </a:r>
            <a:r>
              <a:rPr lang="en-CA" dirty="0" smtClean="0"/>
              <a:t>Types</a:t>
            </a:r>
          </a:p>
          <a:p>
            <a:pPr lvl="1"/>
            <a:r>
              <a:rPr lang="en-CA" dirty="0" smtClean="0"/>
              <a:t>E.g., pointers may point to different types of metadata</a:t>
            </a:r>
          </a:p>
          <a:p>
            <a:pPr lvl="2"/>
            <a:r>
              <a:rPr lang="en-CA" dirty="0"/>
              <a:t>P</a:t>
            </a:r>
            <a:r>
              <a:rPr lang="en-CA" dirty="0" smtClean="0"/>
              <a:t>ointers in </a:t>
            </a:r>
            <a:r>
              <a:rPr lang="en-CA" dirty="0" err="1" smtClean="0"/>
              <a:t>inode</a:t>
            </a:r>
            <a:r>
              <a:rPr lang="en-CA" dirty="0" smtClean="0"/>
              <a:t> point to directory entries if </a:t>
            </a:r>
            <a:r>
              <a:rPr lang="en-CA" dirty="0" err="1" smtClean="0"/>
              <a:t>inode</a:t>
            </a:r>
            <a:r>
              <a:rPr lang="en-CA" dirty="0" smtClean="0"/>
              <a:t> is directory</a:t>
            </a:r>
          </a:p>
          <a:p>
            <a:pPr lvl="1"/>
            <a:r>
              <a:rPr lang="en-CA" dirty="0" smtClean="0"/>
              <a:t>E.g., structures may have optional fields</a:t>
            </a:r>
          </a:p>
          <a:p>
            <a:pPr lvl="2"/>
            <a:r>
              <a:rPr lang="en-CA" dirty="0" smtClean="0"/>
              <a:t>Ext4 </a:t>
            </a:r>
            <a:r>
              <a:rPr lang="en-CA" dirty="0" err="1" smtClean="0"/>
              <a:t>inode</a:t>
            </a:r>
            <a:r>
              <a:rPr lang="en-CA" dirty="0" smtClean="0"/>
              <a:t> can store extended attributes if size &gt; </a:t>
            </a:r>
            <a:r>
              <a:rPr lang="en-CA" dirty="0" smtClean="0"/>
              <a:t>128</a:t>
            </a:r>
          </a:p>
          <a:p>
            <a:r>
              <a:rPr lang="en-CA" dirty="0"/>
              <a:t>Constraint Checking</a:t>
            </a:r>
          </a:p>
          <a:p>
            <a:pPr lvl="1"/>
            <a:r>
              <a:rPr lang="en-CA" dirty="0"/>
              <a:t>Helps detect corrupted metadata </a:t>
            </a:r>
            <a:r>
              <a:rPr lang="en-CA" dirty="0" smtClean="0"/>
              <a:t>structures</a:t>
            </a:r>
          </a:p>
          <a:p>
            <a:pPr lvl="1"/>
            <a:r>
              <a:rPr lang="en-US" dirty="0" smtClean="0"/>
              <a:t>(Say we will provide example)</a:t>
            </a:r>
            <a:endParaRPr lang="en-CA" dirty="0"/>
          </a:p>
          <a:p>
            <a:endParaRPr lang="en-CA" dirty="0" smtClean="0"/>
          </a:p>
          <a:p>
            <a:pPr lvl="1"/>
            <a:endParaRPr lang="en-CA" dirty="0" smtClean="0"/>
          </a:p>
          <a:p>
            <a:pPr lvl="1"/>
            <a:endParaRPr lang="en-CA" dirty="0"/>
          </a:p>
          <a:p>
            <a:pPr lvl="2"/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825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Evaluation: Annotation </a:t>
            </a:r>
            <a:r>
              <a:rPr lang="en-CA" dirty="0" smtClean="0"/>
              <a:t>Effort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2990597"/>
            <a:ext cx="9403743" cy="3257801"/>
          </a:xfrm>
        </p:spPr>
        <p:txBody>
          <a:bodyPr>
            <a:normAutofit/>
          </a:bodyPr>
          <a:lstStyle/>
          <a:p>
            <a:r>
              <a:rPr lang="en-CA" dirty="0" smtClean="0"/>
              <a:t>LOC required for </a:t>
            </a:r>
            <a:r>
              <a:rPr lang="en-CA" i="1" dirty="0" smtClean="0"/>
              <a:t>file system developers</a:t>
            </a:r>
            <a:r>
              <a:rPr lang="en-CA" dirty="0" smtClean="0"/>
              <a:t> to correctly annotate their file systems</a:t>
            </a:r>
          </a:p>
          <a:p>
            <a:pPr lvl="1"/>
            <a:r>
              <a:rPr lang="en-CA" dirty="0" smtClean="0"/>
              <a:t>Some structures not originally declared</a:t>
            </a:r>
          </a:p>
          <a:p>
            <a:pPr lvl="2"/>
            <a:r>
              <a:rPr lang="en-CA" dirty="0" smtClean="0"/>
              <a:t>E.g. Ext4 indirect block is just an array of 4-byte pointers</a:t>
            </a:r>
          </a:p>
          <a:p>
            <a:pPr lvl="1"/>
            <a:r>
              <a:rPr lang="en-CA" dirty="0" smtClean="0"/>
              <a:t>Some structures need to be revised</a:t>
            </a:r>
          </a:p>
          <a:p>
            <a:pPr lvl="2"/>
            <a:r>
              <a:rPr lang="en-CA" dirty="0" smtClean="0"/>
              <a:t>E.g., Ext4 </a:t>
            </a:r>
            <a:r>
              <a:rPr lang="en-CA" dirty="0" err="1" smtClean="0"/>
              <a:t>inode</a:t>
            </a:r>
            <a:r>
              <a:rPr lang="en-CA" dirty="0" smtClean="0"/>
              <a:t> contains an array of block pointers, but the last 3 are indirect pointers of different levels</a:t>
            </a:r>
          </a:p>
          <a:p>
            <a:pPr lvl="3"/>
            <a:r>
              <a:rPr lang="en-CA" dirty="0" err="1" smtClean="0"/>
              <a:t>Inode</a:t>
            </a:r>
            <a:r>
              <a:rPr lang="en-CA" dirty="0" smtClean="0"/>
              <a:t> structure definition changed to properly annotate the indirect pointers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14</a:t>
            </a:fld>
            <a:endParaRPr lang="en-CA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476845"/>
              </p:ext>
            </p:extLst>
          </p:nvPr>
        </p:nvGraphicFramePr>
        <p:xfrm>
          <a:off x="2024016" y="1507237"/>
          <a:ext cx="6359598" cy="14833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119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9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98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File System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Line Count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Annotated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Ext4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491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113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err="1" smtClean="0">
                          <a:solidFill>
                            <a:schemeClr val="bg1"/>
                          </a:solidFill>
                        </a:rPr>
                        <a:t>Btrfs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556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151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F2FS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462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127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9493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Generating Spiffy Library</a:t>
            </a:r>
            <a:endParaRPr lang="en-CA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Annotation</a:t>
            </a:r>
            <a:endParaRPr lang="en-CA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 smtClean="0"/>
              <a:t>Generated Code</a:t>
            </a:r>
            <a:endParaRPr lang="en-CA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>
          <a:xfrm>
            <a:off x="5763418" y="2100086"/>
            <a:ext cx="5182222" cy="4072114"/>
          </a:xfrm>
        </p:spPr>
        <p:txBody>
          <a:bodyPr>
            <a:noAutofit/>
          </a:bodyPr>
          <a:lstStyle/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s_blocks_count.parse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15</a:t>
            </a:fld>
            <a:endParaRPr lang="en-CA" dirty="0"/>
          </a:p>
        </p:txBody>
      </p:sp>
      <p:sp>
        <p:nvSpPr>
          <p:cNvPr id="10" name="Content Placeholder 6"/>
          <p:cNvSpPr txBox="1">
            <a:spLocks noGrp="1"/>
          </p:cNvSpPr>
          <p:nvPr>
            <p:ph sz="half" idx="2"/>
          </p:nvPr>
        </p:nvSpPr>
        <p:spPr>
          <a:xfrm>
            <a:off x="684211" y="2100086"/>
            <a:ext cx="5070740" cy="40721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ext4_super_block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le16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ext4_os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=ext4_group_desc_table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?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maximum supported block size is 64KB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928" y="2398267"/>
            <a:ext cx="2864793" cy="825699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/>
          <p:cNvSpPr/>
          <p:nvPr/>
        </p:nvSpPr>
        <p:spPr>
          <a:xfrm>
            <a:off x="5976670" y="2398268"/>
            <a:ext cx="4553070" cy="1061369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Straight Arrow Connector 15"/>
          <p:cNvCxnSpPr/>
          <p:nvPr/>
        </p:nvCxnSpPr>
        <p:spPr>
          <a:xfrm rot="10800000">
            <a:off x="8187067" y="3442047"/>
            <a:ext cx="0" cy="285413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5"/>
          <p:cNvCxnSpPr/>
          <p:nvPr/>
        </p:nvCxnSpPr>
        <p:spPr>
          <a:xfrm flipV="1">
            <a:off x="3091992" y="3223967"/>
            <a:ext cx="6172" cy="490945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24880" y="3714912"/>
            <a:ext cx="7630584" cy="902932"/>
          </a:xfrm>
          <a:prstGeom prst="snip1Rect">
            <a:avLst/>
          </a:prstGeom>
          <a:solidFill>
            <a:schemeClr val="tx1"/>
          </a:solidFill>
          <a:ln w="25400">
            <a:solidFill>
              <a:schemeClr val="tx2"/>
            </a:solidFill>
          </a:ln>
        </p:spPr>
        <p:txBody>
          <a:bodyPr wrap="square" lIns="90000" tIns="46800" rIns="90000" bIns="90000" rtlCol="0">
            <a:spAutoFit/>
          </a:bodyPr>
          <a:lstStyle/>
          <a:p>
            <a:pPr marL="285750" indent="-201613">
              <a:lnSpc>
                <a:spcPts val="24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CA" dirty="0" smtClean="0">
                <a:solidFill>
                  <a:schemeClr val="bg1"/>
                </a:solidFill>
              </a:rPr>
              <a:t>C++ class generated for each annotated structure and its fields</a:t>
            </a:r>
          </a:p>
          <a:p>
            <a:pPr marL="285750" indent="-201613">
              <a:lnSpc>
                <a:spcPts val="24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CA" dirty="0" smtClean="0">
                <a:solidFill>
                  <a:schemeClr val="bg1"/>
                </a:solidFill>
              </a:rPr>
              <a:t>Each class enables parsing, type-safety checks, and traversals</a:t>
            </a:r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8544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Generating </a:t>
            </a:r>
            <a:r>
              <a:rPr lang="en-US" dirty="0"/>
              <a:t>Spiffy Library</a:t>
            </a:r>
            <a:endParaRPr lang="en-CA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Annotation</a:t>
            </a:r>
            <a:endParaRPr lang="en-CA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 smtClean="0"/>
              <a:t>Generated Code </a:t>
            </a:r>
            <a:endParaRPr lang="en-CA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>
          <a:xfrm>
            <a:off x="5763418" y="2100086"/>
            <a:ext cx="5182222" cy="4072114"/>
          </a:xfrm>
        </p:spPr>
        <p:txBody>
          <a:bodyPr>
            <a:noAutofit/>
          </a:bodyPr>
          <a:lstStyle/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s_blocks_count.parse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 (!(this-&gt;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16</a:t>
            </a:fld>
            <a:endParaRPr lang="en-CA" dirty="0"/>
          </a:p>
        </p:txBody>
      </p:sp>
      <p:sp>
        <p:nvSpPr>
          <p:cNvPr id="10" name="Content Placeholder 6"/>
          <p:cNvSpPr txBox="1">
            <a:spLocks noGrp="1"/>
          </p:cNvSpPr>
          <p:nvPr>
            <p:ph sz="half" idx="2"/>
          </p:nvPr>
        </p:nvSpPr>
        <p:spPr>
          <a:xfrm>
            <a:off x="684211" y="2100086"/>
            <a:ext cx="5070740" cy="40721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ext4_super_block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le16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ext4_os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=ext4_group_desc_table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?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maximum supported block size is 64KB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356" y="3669663"/>
            <a:ext cx="2638550" cy="572400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/>
          <p:cNvSpPr/>
          <p:nvPr/>
        </p:nvSpPr>
        <p:spPr>
          <a:xfrm>
            <a:off x="5986097" y="3669663"/>
            <a:ext cx="3864914" cy="533625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Straight Arrow Connector 12"/>
          <p:cNvCxnSpPr>
            <a:stCxn id="14" idx="1"/>
          </p:cNvCxnSpPr>
          <p:nvPr/>
        </p:nvCxnSpPr>
        <p:spPr>
          <a:xfrm rot="5400000">
            <a:off x="3718529" y="3230289"/>
            <a:ext cx="542097" cy="871342"/>
          </a:xfrm>
          <a:prstGeom prst="bentConnector2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endCxn id="12" idx="1"/>
          </p:cNvCxnSpPr>
          <p:nvPr/>
        </p:nvCxnSpPr>
        <p:spPr>
          <a:xfrm>
            <a:off x="4798243" y="3394912"/>
            <a:ext cx="1187854" cy="541564"/>
          </a:xfrm>
          <a:prstGeom prst="bentConnector3">
            <a:avLst>
              <a:gd name="adj1" fmla="val 3"/>
            </a:avLst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5"/>
          <p:cNvCxnSpPr>
            <a:stCxn id="18" idx="1"/>
          </p:cNvCxnSpPr>
          <p:nvPr/>
        </p:nvCxnSpPr>
        <p:spPr>
          <a:xfrm>
            <a:off x="8187067" y="3394912"/>
            <a:ext cx="0" cy="285413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62460" y="2317379"/>
            <a:ext cx="2925575" cy="1077533"/>
          </a:xfrm>
          <a:prstGeom prst="snip1Rect">
            <a:avLst/>
          </a:prstGeom>
          <a:solidFill>
            <a:schemeClr val="tx1"/>
          </a:solidFill>
          <a:ln w="25400">
            <a:solidFill>
              <a:schemeClr val="tx2"/>
            </a:solidFill>
          </a:ln>
        </p:spPr>
        <p:txBody>
          <a:bodyPr wrap="square" lIns="90000" tIns="0" rIns="0" bIns="46800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Specifying </a:t>
            </a:r>
            <a:r>
              <a:rPr lang="en-CA" dirty="0" err="1" smtClean="0">
                <a:solidFill>
                  <a:schemeClr val="bg1"/>
                </a:solidFill>
              </a:rPr>
              <a:t>enum</a:t>
            </a:r>
            <a:r>
              <a:rPr lang="en-CA" dirty="0" smtClean="0">
                <a:solidFill>
                  <a:schemeClr val="bg1"/>
                </a:solidFill>
              </a:rPr>
              <a:t> type allows </a:t>
            </a:r>
            <a:r>
              <a:rPr lang="en-CA" dirty="0" err="1" smtClean="0">
                <a:solidFill>
                  <a:schemeClr val="bg1"/>
                </a:solidFill>
              </a:rPr>
              <a:t>enum</a:t>
            </a:r>
            <a:r>
              <a:rPr lang="en-CA" dirty="0" smtClean="0">
                <a:solidFill>
                  <a:schemeClr val="bg1"/>
                </a:solidFill>
              </a:rPr>
              <a:t> field to be checked for correctness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69023" y="834299"/>
            <a:ext cx="4036088" cy="2560613"/>
          </a:xfrm>
          <a:prstGeom prst="snip1Rect">
            <a:avLst/>
          </a:prstGeom>
          <a:solidFill>
            <a:schemeClr val="tx1"/>
          </a:solidFill>
          <a:ln w="25400">
            <a:solidFill>
              <a:schemeClr val="tx2"/>
            </a:solidFill>
          </a:ln>
        </p:spPr>
        <p:txBody>
          <a:bodyPr wrap="none" lIns="90000" tIns="0" rIns="0" bIns="46800" rtlCol="0">
            <a:spAutoFit/>
          </a:bodyPr>
          <a:lstStyle/>
          <a:p>
            <a:pPr>
              <a:lnSpc>
                <a:spcPts val="2000"/>
              </a:lnSpc>
            </a:pP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b="1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SCreatorOs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(…) {</a:t>
            </a:r>
          </a:p>
          <a:p>
            <a:pPr>
              <a:lnSpc>
                <a:spcPts val="2000"/>
              </a:lnSpc>
            </a:pP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</a:t>
            </a:r>
            <a:r>
              <a:rPr lang="en-CA" sz="1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4) return ERR_BUF2SM;</a:t>
            </a:r>
          </a:p>
          <a:p>
            <a:pPr>
              <a:lnSpc>
                <a:spcPts val="2000"/>
              </a:lnSpc>
            </a:pP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value = *(__le32 *)</a:t>
            </a:r>
            <a:r>
              <a:rPr lang="en-CA" sz="1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lnSpc>
                <a:spcPts val="2000"/>
              </a:lnSpc>
            </a:pP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if (!(value </a:t>
            </a: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EXT4_OS_LINUX &amp;&amp; </a:t>
            </a:r>
          </a:p>
          <a:p>
            <a:pPr>
              <a:lnSpc>
                <a:spcPts val="2000"/>
              </a:lnSpc>
            </a:pP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value </a:t>
            </a: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EXT3_OS_LITES))</a:t>
            </a:r>
          </a:p>
          <a:p>
            <a:pPr>
              <a:lnSpc>
                <a:spcPts val="2000"/>
              </a:lnSpc>
            </a:pP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return ERR_CORRUPT;</a:t>
            </a:r>
          </a:p>
          <a:p>
            <a:pPr>
              <a:lnSpc>
                <a:spcPts val="2000"/>
              </a:lnSpc>
            </a:pP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+= 4; </a:t>
            </a:r>
            <a:r>
              <a:rPr lang="en-CA" sz="1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-= 4;</a:t>
            </a:r>
          </a:p>
          <a:p>
            <a:pPr>
              <a:lnSpc>
                <a:spcPts val="2000"/>
              </a:lnSpc>
            </a:pP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return 0;</a:t>
            </a:r>
          </a:p>
          <a:p>
            <a:pPr>
              <a:lnSpc>
                <a:spcPts val="2000"/>
              </a:lnSpc>
            </a:pPr>
            <a:r>
              <a:rPr lang="en-CA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67740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Generating </a:t>
            </a:r>
            <a:r>
              <a:rPr lang="en-US" dirty="0"/>
              <a:t>Spiffy Library</a:t>
            </a:r>
            <a:endParaRPr lang="en-CA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Annotation</a:t>
            </a:r>
            <a:endParaRPr lang="en-CA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 smtClean="0"/>
              <a:t>Generated Code </a:t>
            </a:r>
            <a:endParaRPr lang="en-CA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>
          <a:xfrm>
            <a:off x="5763418" y="2100086"/>
            <a:ext cx="5182222" cy="4072114"/>
          </a:xfrm>
        </p:spPr>
        <p:txBody>
          <a:bodyPr>
            <a:noAutofit/>
          </a:bodyPr>
          <a:lstStyle/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s_blocks_count.parse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17</a:t>
            </a:fld>
            <a:endParaRPr lang="en-CA" dirty="0"/>
          </a:p>
        </p:txBody>
      </p:sp>
      <p:sp>
        <p:nvSpPr>
          <p:cNvPr id="10" name="Content Placeholder 6"/>
          <p:cNvSpPr txBox="1">
            <a:spLocks noGrp="1"/>
          </p:cNvSpPr>
          <p:nvPr>
            <p:ph sz="half" idx="2"/>
          </p:nvPr>
        </p:nvSpPr>
        <p:spPr>
          <a:xfrm>
            <a:off x="684211" y="2100086"/>
            <a:ext cx="5070740" cy="40721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ext4_super_block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le16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ext4_os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=ext4_group_desc_table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?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maximum supported block size is 64KB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789" y="4398919"/>
            <a:ext cx="4713651" cy="850993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/>
          <p:cNvSpPr/>
          <p:nvPr/>
        </p:nvSpPr>
        <p:spPr>
          <a:xfrm>
            <a:off x="5978054" y="4170349"/>
            <a:ext cx="4476271" cy="533625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5184742" y="3800290"/>
            <a:ext cx="932" cy="627446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955991" y="2398336"/>
            <a:ext cx="3029270" cy="1389633"/>
          </a:xfrm>
          <a:prstGeom prst="snip1Rect">
            <a:avLst/>
          </a:prstGeom>
          <a:solidFill>
            <a:schemeClr val="tx1"/>
          </a:solidFill>
          <a:ln w="25400">
            <a:solidFill>
              <a:schemeClr val="tx2"/>
            </a:solidFill>
          </a:ln>
        </p:spPr>
        <p:txBody>
          <a:bodyPr wrap="square" lIns="90000" tIns="0" rIns="0" bIns="46800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Spiffy supports implicit pointer field, calculated at runtime, allows it to be used like a normal field.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/>
          <p:cNvCxnSpPr>
            <a:endCxn id="12" idx="1"/>
          </p:cNvCxnSpPr>
          <p:nvPr/>
        </p:nvCxnSpPr>
        <p:spPr>
          <a:xfrm rot="16200000" flipH="1">
            <a:off x="5529733" y="3988841"/>
            <a:ext cx="628404" cy="268238"/>
          </a:xfrm>
          <a:prstGeom prst="bentConnector2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6554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Generating </a:t>
            </a:r>
            <a:r>
              <a:rPr lang="en-US" dirty="0"/>
              <a:t>Spiffy Library</a:t>
            </a:r>
            <a:endParaRPr lang="en-CA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Annotation</a:t>
            </a:r>
            <a:endParaRPr lang="en-CA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 smtClean="0"/>
              <a:t>Generated Code </a:t>
            </a:r>
            <a:endParaRPr lang="en-CA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>
          <a:xfrm>
            <a:off x="5763418" y="2100086"/>
            <a:ext cx="5182222" cy="4072114"/>
          </a:xfrm>
        </p:spPr>
        <p:txBody>
          <a:bodyPr>
            <a:noAutofit/>
          </a:bodyPr>
          <a:lstStyle/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s_blocks_count.parse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 =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s_block_group_desc.parse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(ret &lt;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18</a:t>
            </a:fld>
            <a:endParaRPr lang="en-CA" dirty="0"/>
          </a:p>
        </p:txBody>
      </p:sp>
      <p:sp>
        <p:nvSpPr>
          <p:cNvPr id="10" name="Content Placeholder 6"/>
          <p:cNvSpPr txBox="1">
            <a:spLocks noGrp="1"/>
          </p:cNvSpPr>
          <p:nvPr>
            <p:ph sz="half" idx="2"/>
          </p:nvPr>
        </p:nvSpPr>
        <p:spPr>
          <a:xfrm>
            <a:off x="684211" y="2100086"/>
            <a:ext cx="5070740" cy="40721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ext4_super_block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le16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ext4_os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s_creator_os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s_block_group_desc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=ext4_group_desc_table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?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maximum supported block size is 64KB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7313" y="5151455"/>
            <a:ext cx="4615301" cy="850993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/>
          <p:cNvSpPr/>
          <p:nvPr/>
        </p:nvSpPr>
        <p:spPr>
          <a:xfrm>
            <a:off x="5978054" y="4651282"/>
            <a:ext cx="3890224" cy="1079562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185674" y="3800290"/>
            <a:ext cx="0" cy="1351165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965418" y="2701822"/>
            <a:ext cx="2605064" cy="1098468"/>
          </a:xfrm>
          <a:prstGeom prst="snip1Rect">
            <a:avLst/>
          </a:prstGeom>
          <a:solidFill>
            <a:schemeClr val="tx1"/>
          </a:solidFill>
          <a:ln w="25400">
            <a:solidFill>
              <a:schemeClr val="tx2"/>
            </a:solidFill>
          </a:ln>
        </p:spPr>
        <p:txBody>
          <a:bodyPr wrap="square" lIns="90000" tIns="0" rIns="0" bIns="46800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b="1" dirty="0" smtClean="0">
                <a:solidFill>
                  <a:schemeClr val="bg1"/>
                </a:solidFill>
              </a:rPr>
              <a:t>CHECK </a:t>
            </a:r>
            <a:r>
              <a:rPr lang="en-CA" dirty="0" smtClean="0">
                <a:solidFill>
                  <a:schemeClr val="bg1"/>
                </a:solidFill>
              </a:rPr>
              <a:t>annotations help verify constraints during parsing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/>
          <p:cNvCxnSpPr>
            <a:endCxn id="12" idx="1"/>
          </p:cNvCxnSpPr>
          <p:nvPr/>
        </p:nvCxnSpPr>
        <p:spPr>
          <a:xfrm rot="16200000" flipH="1">
            <a:off x="5156435" y="4369443"/>
            <a:ext cx="1374997" cy="268241"/>
          </a:xfrm>
          <a:prstGeom prst="bentConnector2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8838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Building </a:t>
            </a:r>
            <a:r>
              <a:rPr lang="en-CA" dirty="0" smtClean="0"/>
              <a:t>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9"/>
            <a:ext cx="10285797" cy="4593210"/>
          </a:xfrm>
        </p:spPr>
        <p:txBody>
          <a:bodyPr>
            <a:normAutofit/>
          </a:bodyPr>
          <a:lstStyle/>
          <a:p>
            <a:r>
              <a:rPr lang="en-CA" dirty="0" smtClean="0"/>
              <a:t>Example: File System Free Space Tool</a:t>
            </a:r>
          </a:p>
          <a:p>
            <a:pPr lvl="1"/>
            <a:r>
              <a:rPr lang="en-CA" dirty="0" smtClean="0"/>
              <a:t>plot </a:t>
            </a:r>
            <a:r>
              <a:rPr lang="en-CA" dirty="0"/>
              <a:t>histogram of </a:t>
            </a:r>
            <a:r>
              <a:rPr lang="en-CA" dirty="0" smtClean="0"/>
              <a:t>size </a:t>
            </a:r>
            <a:r>
              <a:rPr lang="en-CA" dirty="0"/>
              <a:t>of free extents</a:t>
            </a:r>
            <a:endParaRPr lang="en-CA" dirty="0" smtClean="0"/>
          </a:p>
          <a:p>
            <a:r>
              <a:rPr lang="en-CA" dirty="0" smtClean="0"/>
              <a:t>Goals for application</a:t>
            </a:r>
          </a:p>
          <a:p>
            <a:pPr lvl="1"/>
            <a:r>
              <a:rPr lang="en-CA" dirty="0" smtClean="0"/>
              <a:t>Support multiple file systems</a:t>
            </a:r>
          </a:p>
          <a:p>
            <a:pPr lvl="1"/>
            <a:r>
              <a:rPr lang="en-CA" dirty="0" smtClean="0"/>
              <a:t>Robust against file system corruption</a:t>
            </a:r>
          </a:p>
          <a:p>
            <a:r>
              <a:rPr lang="en-CA" dirty="0" smtClean="0"/>
              <a:t>Developer action items:</a:t>
            </a:r>
          </a:p>
          <a:p>
            <a:pPr lvl="1"/>
            <a:r>
              <a:rPr lang="en-CA" dirty="0" smtClean="0"/>
              <a:t>Find documentation on format of each file system</a:t>
            </a:r>
          </a:p>
          <a:p>
            <a:pPr lvl="2"/>
            <a:r>
              <a:rPr lang="en-CA" dirty="0" smtClean="0"/>
              <a:t>Learn how each file system keeps track of block allocation information</a:t>
            </a:r>
          </a:p>
          <a:p>
            <a:pPr lvl="1"/>
            <a:r>
              <a:rPr lang="en-CA" dirty="0" smtClean="0"/>
              <a:t>Write code to find and process relevant metadata</a:t>
            </a:r>
          </a:p>
          <a:p>
            <a:pPr lvl="2"/>
            <a:r>
              <a:rPr lang="en-CA" dirty="0" smtClean="0"/>
              <a:t>E.g., block bitmap for Ext4, extent items for </a:t>
            </a:r>
            <a:r>
              <a:rPr lang="en-CA" dirty="0" err="1" smtClean="0"/>
              <a:t>Btrfs</a:t>
            </a:r>
            <a:r>
              <a:rPr lang="en-CA" dirty="0" smtClean="0"/>
              <a:t>, SIT</a:t>
            </a:r>
            <a:r>
              <a:rPr lang="en-CA" baseline="30000" dirty="0" smtClean="0"/>
              <a:t>1</a:t>
            </a:r>
            <a:r>
              <a:rPr lang="en-CA" dirty="0" smtClean="0"/>
              <a:t> entries for F2FS</a:t>
            </a:r>
          </a:p>
          <a:p>
            <a:pPr lvl="1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19</a:t>
            </a:fld>
            <a:endParaRPr lang="en-CA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 baseline="30000" dirty="0" smtClean="0"/>
              <a:t>1</a:t>
            </a:r>
            <a:r>
              <a:rPr lang="en-CA" dirty="0" smtClean="0"/>
              <a:t>Segment Information Table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33244906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20</a:t>
            </a:fld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124147"/>
          </a:xfrm>
        </p:spPr>
        <p:txBody>
          <a:bodyPr/>
          <a:lstStyle/>
          <a:p>
            <a:r>
              <a:rPr lang="en-CA" dirty="0" smtClean="0"/>
              <a:t>Manual, Ad-hoc processing (No error handling!)</a:t>
            </a:r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NUM_GROUP_DESC(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...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</p:txBody>
      </p:sp>
    </p:spTree>
    <p:extLst>
      <p:ext uri="{BB962C8B-B14F-4D97-AF65-F5344CB8AC3E}">
        <p14:creationId xmlns:p14="http://schemas.microsoft.com/office/powerpoint/2010/main" val="36810602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21</a:t>
            </a:fld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124147"/>
          </a:xfrm>
        </p:spPr>
        <p:txBody>
          <a:bodyPr/>
          <a:lstStyle/>
          <a:p>
            <a:r>
              <a:rPr lang="en-CA" dirty="0" smtClean="0"/>
              <a:t>Manual, Ad-hoc processing (No error handling!)</a:t>
            </a:r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NUM_GROUP_DESC(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...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</p:txBody>
      </p:sp>
      <p:sp>
        <p:nvSpPr>
          <p:cNvPr id="2" name="Rectangle 1"/>
          <p:cNvSpPr/>
          <p:nvPr/>
        </p:nvSpPr>
        <p:spPr>
          <a:xfrm>
            <a:off x="1168924" y="2328421"/>
            <a:ext cx="6956981" cy="869624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104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22</a:t>
            </a:fld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124147"/>
          </a:xfrm>
        </p:spPr>
        <p:txBody>
          <a:bodyPr/>
          <a:lstStyle/>
          <a:p>
            <a:r>
              <a:rPr lang="en-CA" dirty="0" smtClean="0"/>
              <a:t>Manual, Ad-hoc processing (No error handling!)</a:t>
            </a:r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NUM_GROUP_DESC(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...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</p:txBody>
      </p:sp>
      <p:sp>
        <p:nvSpPr>
          <p:cNvPr id="2" name="Rectangle 1"/>
          <p:cNvSpPr/>
          <p:nvPr/>
        </p:nvSpPr>
        <p:spPr>
          <a:xfrm>
            <a:off x="1178351" y="3091991"/>
            <a:ext cx="8040261" cy="1112363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/>
          <p:cNvSpPr txBox="1"/>
          <p:nvPr/>
        </p:nvSpPr>
        <p:spPr>
          <a:xfrm>
            <a:off x="8486596" y="1897590"/>
            <a:ext cx="31743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Rounds up number of blocks used by block group descriptors 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7665761" y="2092841"/>
            <a:ext cx="849118" cy="1592467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2731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23</a:t>
            </a:fld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124147"/>
          </a:xfrm>
        </p:spPr>
        <p:txBody>
          <a:bodyPr/>
          <a:lstStyle/>
          <a:p>
            <a:r>
              <a:rPr lang="en-CA" dirty="0" smtClean="0"/>
              <a:t>Manual, Ad-hoc processing (No error handling!)</a:t>
            </a:r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NUM_GROUP_DESC(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...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</p:txBody>
      </p:sp>
      <p:sp>
        <p:nvSpPr>
          <p:cNvPr id="2" name="Rectangle 1"/>
          <p:cNvSpPr/>
          <p:nvPr/>
        </p:nvSpPr>
        <p:spPr>
          <a:xfrm>
            <a:off x="1216058" y="4128414"/>
            <a:ext cx="8088198" cy="1376840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/>
          <p:cNvSpPr txBox="1"/>
          <p:nvPr/>
        </p:nvSpPr>
        <p:spPr>
          <a:xfrm>
            <a:off x="8844815" y="2490101"/>
            <a:ext cx="3174359" cy="989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Extract free extents from block bitmaps and store into </a:t>
            </a:r>
            <a:r>
              <a:rPr lang="en-CA" i="1" dirty="0" err="1" smtClean="0">
                <a:solidFill>
                  <a:schemeClr val="bg1"/>
                </a:solidFill>
              </a:rPr>
              <a:t>vec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rot="10800000" flipV="1">
            <a:off x="6532775" y="3281052"/>
            <a:ext cx="4147794" cy="2016810"/>
          </a:xfrm>
          <a:prstGeom prst="bentConnector3">
            <a:avLst>
              <a:gd name="adj1" fmla="val 0"/>
            </a:avLst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88962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24</a:t>
            </a:fld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124147"/>
          </a:xfrm>
        </p:spPr>
        <p:txBody>
          <a:bodyPr/>
          <a:lstStyle/>
          <a:p>
            <a:r>
              <a:rPr lang="en-CA" dirty="0" smtClean="0"/>
              <a:t>Manual, Ad-hoc processing (No error handling!)</a:t>
            </a:r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NUM_GROUP_DESC(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...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734308" y="2073898"/>
            <a:ext cx="268155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b="1" dirty="0" smtClean="0">
                <a:solidFill>
                  <a:schemeClr val="bg1"/>
                </a:solidFill>
              </a:rPr>
              <a:t>No sanity checks!</a:t>
            </a:r>
          </a:p>
          <a:p>
            <a:pPr marL="263525" indent="-179388">
              <a:buFont typeface="Arial" panose="020B0604020202020204" pitchFamily="34" charset="0"/>
              <a:buChar char="•"/>
            </a:pPr>
            <a:r>
              <a:rPr lang="en-CA" dirty="0" smtClean="0">
                <a:solidFill>
                  <a:schemeClr val="bg1"/>
                </a:solidFill>
              </a:rPr>
              <a:t>Value may be out- of-bound, incorrect</a:t>
            </a:r>
          </a:p>
          <a:p>
            <a:pPr marL="263525" indent="-179388">
              <a:buFont typeface="Arial" panose="020B0604020202020204" pitchFamily="34" charset="0"/>
              <a:buChar char="•"/>
            </a:pPr>
            <a:r>
              <a:rPr lang="en-CA" dirty="0" smtClean="0">
                <a:solidFill>
                  <a:schemeClr val="bg1"/>
                </a:solidFill>
              </a:rPr>
              <a:t>Can cause crashes</a:t>
            </a:r>
            <a:br>
              <a:rPr lang="en-CA" dirty="0" smtClean="0">
                <a:solidFill>
                  <a:schemeClr val="bg1"/>
                </a:solidFill>
              </a:rPr>
            </a:br>
            <a:r>
              <a:rPr lang="en-CA" dirty="0" smtClean="0">
                <a:solidFill>
                  <a:schemeClr val="bg1"/>
                </a:solidFill>
              </a:rPr>
              <a:t>or garbage output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H="1">
            <a:off x="6730738" y="2281287"/>
            <a:ext cx="2003570" cy="716437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7324632" y="2281287"/>
            <a:ext cx="1409676" cy="1241085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5400000">
            <a:off x="6945387" y="3263844"/>
            <a:ext cx="2771478" cy="806364"/>
          </a:xfrm>
          <a:prstGeom prst="bentConnector3">
            <a:avLst>
              <a:gd name="adj1" fmla="val 100000"/>
            </a:avLst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1305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25</a:t>
            </a:fld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576634"/>
          </a:xfrm>
        </p:spPr>
        <p:txBody>
          <a:bodyPr>
            <a:normAutofit/>
          </a:bodyPr>
          <a:lstStyle/>
          <a:p>
            <a:r>
              <a:rPr lang="en-CA" dirty="0" smtClean="0"/>
              <a:t>Using Spiffy Library</a:t>
            </a:r>
          </a:p>
          <a:p>
            <a:pPr lvl="1"/>
            <a:endParaRPr lang="en-CA" dirty="0" smtClean="0"/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functor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that does same thing as </a:t>
            </a:r>
            <a:r>
              <a:rPr lang="en-CA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*/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BitmapProcessor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processor(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ext4(dev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super block into memory */</a:t>
            </a:r>
            <a:endParaRPr lang="en-CA" sz="16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Ext4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SuperBlock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ext4.fetch_super();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if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nullptr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traverses file system and finds/processes all block bitmap */</a:t>
            </a:r>
            <a:endParaRPr lang="en-CA" sz="16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return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process_by_type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(BLOCK_BITMAP_TYPE_ID, processor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Content Placeholder 9"/>
          <p:cNvSpPr txBox="1">
            <a:spLocks/>
          </p:cNvSpPr>
          <p:nvPr/>
        </p:nvSpPr>
        <p:spPr>
          <a:xfrm>
            <a:off x="684210" y="4789302"/>
            <a:ext cx="8954839" cy="17673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CA" dirty="0" smtClean="0"/>
              <a:t>Advantages</a:t>
            </a:r>
          </a:p>
          <a:p>
            <a:pPr lvl="2"/>
            <a:r>
              <a:rPr lang="en-CA" dirty="0" smtClean="0"/>
              <a:t>simplifies file system traversal,</a:t>
            </a:r>
            <a:r>
              <a:rPr lang="en-CA" dirty="0"/>
              <a:t> </a:t>
            </a:r>
            <a:r>
              <a:rPr lang="en-CA" dirty="0" smtClean="0"/>
              <a:t>reduces need to know format details</a:t>
            </a:r>
          </a:p>
          <a:p>
            <a:pPr lvl="2"/>
            <a:r>
              <a:rPr lang="en-CA" dirty="0" smtClean="0"/>
              <a:t>library parsing routines have automatically generated sanity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8386" y="2605137"/>
            <a:ext cx="31743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Returns </a:t>
            </a:r>
            <a:r>
              <a:rPr lang="en-CA" i="1" dirty="0" err="1" smtClean="0">
                <a:solidFill>
                  <a:schemeClr val="bg1"/>
                </a:solidFill>
              </a:rPr>
              <a:t>nullptr</a:t>
            </a:r>
            <a:r>
              <a:rPr lang="en-CA" dirty="0" smtClean="0">
                <a:solidFill>
                  <a:schemeClr val="bg1"/>
                </a:solidFill>
              </a:rPr>
              <a:t> if super block is corrupted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rot="10800000" flipV="1">
            <a:off x="4939650" y="2809188"/>
            <a:ext cx="3688737" cy="963500"/>
          </a:xfrm>
          <a:prstGeom prst="bentConnector3">
            <a:avLst>
              <a:gd name="adj1" fmla="val 9111"/>
            </a:avLst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2887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Offline 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CA" dirty="0" smtClean="0"/>
              <a:t>Offline applications</a:t>
            </a:r>
          </a:p>
          <a:p>
            <a:pPr lvl="1"/>
            <a:r>
              <a:rPr lang="en-CA" dirty="0" smtClean="0"/>
              <a:t>Full traversal, customizable, filter-based policies</a:t>
            </a:r>
          </a:p>
          <a:p>
            <a:pPr lvl="1"/>
            <a:r>
              <a:rPr lang="en-CA" dirty="0" smtClean="0"/>
              <a:t>File System Dump Tool</a:t>
            </a:r>
          </a:p>
          <a:p>
            <a:pPr lvl="2"/>
            <a:r>
              <a:rPr lang="en-CA" dirty="0" smtClean="0"/>
              <a:t>Prints out all metadata in a file system</a:t>
            </a:r>
          </a:p>
          <a:p>
            <a:pPr lvl="1"/>
            <a:r>
              <a:rPr lang="en-CA" dirty="0" smtClean="0"/>
              <a:t>Type-Specific File System Corruptor</a:t>
            </a:r>
          </a:p>
          <a:p>
            <a:pPr lvl="2"/>
            <a:r>
              <a:rPr lang="en-CA" dirty="0" smtClean="0"/>
              <a:t>Finds and corrupts a field in a specified structure</a:t>
            </a:r>
          </a:p>
          <a:p>
            <a:pPr lvl="1"/>
            <a:r>
              <a:rPr lang="en-CA" dirty="0" smtClean="0"/>
              <a:t>Free Space Reporting Tool</a:t>
            </a:r>
          </a:p>
          <a:p>
            <a:pPr lvl="1"/>
            <a:r>
              <a:rPr lang="en-CA" dirty="0" smtClean="0"/>
              <a:t>File System Conversion Tool</a:t>
            </a:r>
          </a:p>
          <a:p>
            <a:pPr lvl="2"/>
            <a:r>
              <a:rPr lang="en-CA" dirty="0" smtClean="0"/>
              <a:t>Converts from one file system to another while minimizes moving of data blocks</a:t>
            </a:r>
          </a:p>
          <a:p>
            <a:pPr lvl="2"/>
            <a:r>
              <a:rPr lang="en-CA" dirty="0" smtClean="0"/>
              <a:t>Faster than copying to a difference device, reformat, and copy back</a:t>
            </a:r>
            <a:br>
              <a:rPr lang="en-CA" dirty="0" smtClean="0"/>
            </a:br>
            <a:r>
              <a:rPr lang="en-CA" dirty="0" smtClean="0"/>
              <a:t>	</a:t>
            </a:r>
          </a:p>
          <a:p>
            <a:pPr marL="914400" lvl="2" indent="0">
              <a:buNone/>
            </a:pPr>
            <a:r>
              <a:rPr lang="en-CA" dirty="0"/>
              <a:t>	</a:t>
            </a:r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4355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smtClean="0"/>
              <a:t>Online 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CA" dirty="0" smtClean="0"/>
              <a:t>Online applications</a:t>
            </a:r>
          </a:p>
          <a:p>
            <a:pPr lvl="1"/>
            <a:r>
              <a:rPr lang="en-CA" dirty="0" smtClean="0"/>
              <a:t>Pointer-based, partial traversal</a:t>
            </a:r>
          </a:p>
          <a:p>
            <a:pPr lvl="1"/>
            <a:r>
              <a:rPr lang="en-CA" dirty="0" smtClean="0"/>
              <a:t>Differentiated Block Layer Cache</a:t>
            </a:r>
          </a:p>
          <a:p>
            <a:pPr lvl="2"/>
            <a:r>
              <a:rPr lang="en-CA" dirty="0"/>
              <a:t>Typically difficult to </a:t>
            </a:r>
            <a:r>
              <a:rPr lang="en-CA" dirty="0" smtClean="0"/>
              <a:t>implement</a:t>
            </a:r>
          </a:p>
          <a:p>
            <a:pPr lvl="2"/>
            <a:r>
              <a:rPr lang="en-CA" dirty="0" smtClean="0"/>
              <a:t> requires file system to provide hints to block layer</a:t>
            </a:r>
          </a:p>
          <a:p>
            <a:pPr lvl="1"/>
            <a:r>
              <a:rPr lang="en-CA" dirty="0"/>
              <a:t>Runtime Interpretation</a:t>
            </a:r>
          </a:p>
          <a:p>
            <a:pPr lvl="2"/>
            <a:r>
              <a:rPr lang="en-CA" dirty="0"/>
              <a:t>Classifies file system IO at the block layer</a:t>
            </a:r>
          </a:p>
          <a:p>
            <a:pPr lvl="2"/>
            <a:r>
              <a:rPr lang="en-CA"/>
              <a:t>Requires </a:t>
            </a:r>
            <a:r>
              <a:rPr lang="en-CA" i="1"/>
              <a:t>no</a:t>
            </a:r>
            <a:r>
              <a:rPr lang="en-CA"/>
              <a:t> modification to file </a:t>
            </a:r>
            <a:r>
              <a:rPr lang="en-CA" smtClean="0"/>
              <a:t>system</a:t>
            </a:r>
            <a:endParaRPr lang="en-CA" dirty="0"/>
          </a:p>
          <a:p>
            <a:pPr lvl="1"/>
            <a:r>
              <a:rPr lang="en-CA" dirty="0" smtClean="0"/>
              <a:t>Spiffy Block Layer Cache</a:t>
            </a:r>
          </a:p>
          <a:p>
            <a:pPr lvl="2"/>
            <a:r>
              <a:rPr lang="en-CA" dirty="0" smtClean="0"/>
              <a:t>Utilizes runtime interpretation module</a:t>
            </a:r>
          </a:p>
          <a:p>
            <a:pPr lvl="2"/>
            <a:r>
              <a:rPr lang="en-CA" dirty="0" smtClean="0"/>
              <a:t>Preferentially caches files belonging to specified user(s)</a:t>
            </a:r>
          </a:p>
          <a:p>
            <a:pPr marL="914400" lvl="2" indent="0">
              <a:buNone/>
            </a:pPr>
            <a:r>
              <a:rPr lang="en-CA" dirty="0"/>
              <a:t>	</a:t>
            </a:r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5511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Programming </a:t>
            </a:r>
            <a:r>
              <a:rPr lang="en-CA" dirty="0"/>
              <a:t>Effort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1543050"/>
            <a:ext cx="10600065" cy="4914311"/>
          </a:xfrm>
        </p:spPr>
        <p:txBody>
          <a:bodyPr>
            <a:normAutofit/>
          </a:bodyPr>
          <a:lstStyle/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r>
              <a:rPr lang="en-CA" dirty="0" smtClean="0"/>
              <a:t>Programming effort reduced for read-only file system applications</a:t>
            </a:r>
          </a:p>
          <a:p>
            <a:pPr lvl="1"/>
            <a:r>
              <a:rPr lang="en-CA" dirty="0" smtClean="0"/>
              <a:t>Both online and offline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28</a:t>
            </a:fld>
            <a:endParaRPr lang="en-CA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067637"/>
              </p:ext>
            </p:extLst>
          </p:nvPr>
        </p:nvGraphicFramePr>
        <p:xfrm>
          <a:off x="806374" y="1543050"/>
          <a:ext cx="8901277" cy="33375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593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7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9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Applications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Generic (LOC)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File-System</a:t>
                      </a:r>
                      <a:r>
                        <a:rPr lang="en-CA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Specific (LOC)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XML Dump Tool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565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40~50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Free Space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Display Tool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271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76~194 (F2FS)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Type-Specific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Corruptor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455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&lt; 30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Ext4 to F2FS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Converter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504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218 (Ext4)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, 1760 (F2FS)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Runtime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Interpretation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2158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111 (Ext4),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134 (</a:t>
                      </a:r>
                      <a:r>
                        <a:rPr lang="en-CA" baseline="0" dirty="0" err="1" smtClean="0">
                          <a:solidFill>
                            <a:schemeClr val="bg1"/>
                          </a:solidFill>
                        </a:rPr>
                        <a:t>Btrfs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Differentiated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Storage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79388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- Block Layer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10518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N/A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79388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- Preferential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Caching</a:t>
                      </a:r>
                      <a:endParaRPr lang="en-CA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289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N/A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253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Ext4 to F2FS Converter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1543050"/>
            <a:ext cx="10600065" cy="4914311"/>
          </a:xfrm>
        </p:spPr>
        <p:txBody>
          <a:bodyPr>
            <a:normAutofit/>
          </a:bodyPr>
          <a:lstStyle/>
          <a:p>
            <a:r>
              <a:rPr lang="en-CA" dirty="0" smtClean="0"/>
              <a:t>Compares manually written vs. Spiffy-assisted application</a:t>
            </a:r>
          </a:p>
          <a:p>
            <a:r>
              <a:rPr lang="en-CA" dirty="0" smtClean="0"/>
              <a:t>Converts 64GB file system with 16GB file set on SSD</a:t>
            </a:r>
          </a:p>
          <a:p>
            <a:pPr lvl="1"/>
            <a:r>
              <a:rPr lang="en-CA" dirty="0" smtClean="0"/>
              <a:t>Copy converter copies data to local disk, reformat, then copies back</a:t>
            </a:r>
          </a:p>
          <a:p>
            <a:endParaRPr lang="en-CA" dirty="0"/>
          </a:p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r>
              <a:rPr lang="en-CA" dirty="0" smtClean="0"/>
              <a:t>Copy converter 30~50 times slower</a:t>
            </a:r>
          </a:p>
          <a:p>
            <a:r>
              <a:rPr lang="en-CA" dirty="0" smtClean="0"/>
              <a:t>Overhead of using Spiffy at most 16.7%</a:t>
            </a:r>
          </a:p>
          <a:p>
            <a:endParaRPr lang="en-CA" dirty="0" smtClean="0"/>
          </a:p>
          <a:p>
            <a:endParaRPr lang="en-CA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29</a:t>
            </a:fld>
            <a:endParaRPr lang="en-CA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918572"/>
              </p:ext>
            </p:extLst>
          </p:nvPr>
        </p:nvGraphicFramePr>
        <p:xfrm>
          <a:off x="1645746" y="3073105"/>
          <a:ext cx="7799909" cy="18542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1257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4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4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# of files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Copy Converter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Manual</a:t>
                      </a:r>
                      <a:r>
                        <a:rPr lang="en-CA" baseline="0" dirty="0" smtClean="0">
                          <a:solidFill>
                            <a:schemeClr val="tx1"/>
                          </a:solidFill>
                        </a:rPr>
                        <a:t> Converter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Spiffy Converter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20000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188.17 ± 3.65s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6.55 ± 0.53s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7:03 ± 0:2s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5000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190.28 ± 2.15s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3.46 ± 0.17s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4:01 ± 0:09s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1000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192.74 ± 2.28s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3.29 ± 0.11s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3:84 ± 0:03s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100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195.11 ± 0.18s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3.25 ± 0.11s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3:71 ± 0:13s</a:t>
                      </a:r>
                      <a:endParaRPr lang="en-CA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817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Corruption Experiment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1543050"/>
            <a:ext cx="10600065" cy="4914311"/>
          </a:xfrm>
        </p:spPr>
        <p:txBody>
          <a:bodyPr>
            <a:normAutofit/>
          </a:bodyPr>
          <a:lstStyle/>
          <a:p>
            <a:r>
              <a:rPr lang="en-CA" dirty="0" smtClean="0"/>
              <a:t>Run Spiffy dump tool and existing dump tools on corrupt images</a:t>
            </a:r>
          </a:p>
          <a:p>
            <a:pPr lvl="1"/>
            <a:r>
              <a:rPr lang="en-CA" dirty="0" smtClean="0"/>
              <a:t>Corrupt images generated by type-specific corruptor</a:t>
            </a:r>
          </a:p>
          <a:p>
            <a:r>
              <a:rPr lang="en-CA" dirty="0" smtClean="0"/>
              <a:t>Spiffy is robust against corruption, 2 out of 3 existing tools crash:</a:t>
            </a:r>
            <a:endParaRPr lang="en-CA" dirty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7C907-95B3-4E25-BFD7-8F33D94E7D2D}" type="slidenum">
              <a:rPr lang="en-CA" smtClean="0"/>
              <a:t>30</a:t>
            </a:fld>
            <a:endParaRPr lang="en-CA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553440"/>
              </p:ext>
            </p:extLst>
          </p:nvPr>
        </p:nvGraphicFramePr>
        <p:xfrm>
          <a:off x="684212" y="3103984"/>
          <a:ext cx="10072159" cy="3012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173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7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55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58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Tool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Structure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Field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dumpe2fs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super block 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s_creator_os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during OS name lookup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dump.f2fs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super block 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log_blocks_per_seg</a:t>
                      </a:r>
                      <a:r>
                        <a:rPr lang="en-CA" sz="1500" b="0" i="0" u="none" strike="noStrike" kern="1200" baseline="0" dirty="0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while building </a:t>
                      </a: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nat</a:t>
                      </a: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bitmap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super block </a:t>
                      </a:r>
                      <a:endParaRPr lang="en-CA" sz="1600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en-CA" sz="1600" b="0" i="0" u="none" strike="noStrike" kern="1200" baseline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segment_count_main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null pointer dereference after </a:t>
                      </a: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calloc</a:t>
                      </a: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fails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checkpoint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cp_blkaddr</a:t>
                      </a:r>
                      <a:endParaRPr lang="en-CA" sz="1500" b="0" i="0" u="none" strike="noStrike" kern="1200" baseline="0" dirty="0" smtClean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double free error during error handling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summary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n_nats</a:t>
                      </a:r>
                      <a:r>
                        <a:rPr lang="en-CA" sz="1500" b="0" i="0" u="none" strike="noStrike" kern="1200" baseline="0" dirty="0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during </a:t>
                      </a: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nid</a:t>
                      </a: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lookup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inode</a:t>
                      </a:r>
                      <a:endParaRPr lang="en-CA" sz="16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i_namelen</a:t>
                      </a:r>
                      <a:endParaRPr lang="en-CA" sz="1500" dirty="0" smtClean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when adding null character to end of name</a:t>
                      </a:r>
                      <a:endParaRPr lang="en-CA" sz="16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525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Conclusion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Spiffy framework</a:t>
            </a:r>
          </a:p>
          <a:p>
            <a:pPr lvl="1"/>
            <a:r>
              <a:rPr lang="en-CA" dirty="0" smtClean="0"/>
              <a:t>Annotation language for specifying file system format</a:t>
            </a:r>
          </a:p>
          <a:p>
            <a:pPr lvl="1"/>
            <a:r>
              <a:rPr lang="en-CA" dirty="0" smtClean="0"/>
              <a:t>API for interpreting, parsing, and traversing file system metadata</a:t>
            </a:r>
          </a:p>
          <a:p>
            <a:pPr lvl="2"/>
            <a:r>
              <a:rPr lang="en-CA" dirty="0" smtClean="0"/>
              <a:t>Simplifies development of storage applications</a:t>
            </a:r>
          </a:p>
          <a:p>
            <a:pPr lvl="2"/>
            <a:r>
              <a:rPr lang="en-CA" dirty="0" smtClean="0"/>
              <a:t>Reduces file-system specific code</a:t>
            </a:r>
          </a:p>
          <a:p>
            <a:pPr lvl="1"/>
            <a:r>
              <a:rPr lang="en-CA" dirty="0" smtClean="0"/>
              <a:t>Compiler-generated library from annotated data structures</a:t>
            </a:r>
          </a:p>
          <a:p>
            <a:pPr lvl="2"/>
            <a:r>
              <a:rPr lang="en-CA" dirty="0"/>
              <a:t>Robust against file system </a:t>
            </a:r>
            <a:r>
              <a:rPr lang="en-CA" dirty="0" smtClean="0"/>
              <a:t>corruption</a:t>
            </a:r>
          </a:p>
          <a:p>
            <a:pPr lvl="2"/>
            <a:r>
              <a:rPr lang="en-CA" dirty="0" smtClean="0"/>
              <a:t>Achieves good performance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31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9057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Preferential Caching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4583783"/>
          </a:xfrm>
        </p:spPr>
        <p:txBody>
          <a:bodyPr>
            <a:normAutofit lnSpcReduction="10000"/>
          </a:bodyPr>
          <a:lstStyle/>
          <a:p>
            <a:r>
              <a:rPr lang="en-CA" dirty="0" smtClean="0"/>
              <a:t>2 identical fileservers running on block layer cache</a:t>
            </a:r>
          </a:p>
          <a:p>
            <a:endParaRPr lang="en-CA" dirty="0"/>
          </a:p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endParaRPr lang="en-CA" dirty="0" smtClean="0"/>
          </a:p>
          <a:p>
            <a:r>
              <a:rPr lang="en-CA" dirty="0" smtClean="0"/>
              <a:t>Overall </a:t>
            </a:r>
            <a:r>
              <a:rPr lang="en-CA" dirty="0"/>
              <a:t>p</a:t>
            </a:r>
            <a:r>
              <a:rPr lang="en-CA" dirty="0" smtClean="0"/>
              <a:t>erformance improves with preferential caching</a:t>
            </a:r>
          </a:p>
          <a:p>
            <a:endParaRPr lang="en-CA" dirty="0"/>
          </a:p>
        </p:txBody>
      </p:sp>
      <p:grpSp>
        <p:nvGrpSpPr>
          <p:cNvPr id="9" name="Group 8"/>
          <p:cNvGrpSpPr/>
          <p:nvPr/>
        </p:nvGrpSpPr>
        <p:grpSpPr>
          <a:xfrm>
            <a:off x="1741437" y="2147076"/>
            <a:ext cx="7477175" cy="3007076"/>
            <a:chOff x="1741437" y="3261749"/>
            <a:chExt cx="7477175" cy="3007076"/>
          </a:xfrm>
        </p:grpSpPr>
        <p:graphicFrame>
          <p:nvGraphicFramePr>
            <p:cNvPr id="6" name="Chart 5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8972012"/>
                </p:ext>
              </p:extLst>
            </p:nvPr>
          </p:nvGraphicFramePr>
          <p:xfrm>
            <a:off x="1741437" y="3271174"/>
            <a:ext cx="7477175" cy="299765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2"/>
            <p:cNvSpPr txBox="1"/>
            <p:nvPr/>
          </p:nvSpPr>
          <p:spPr>
            <a:xfrm>
              <a:off x="2613536" y="4366649"/>
              <a:ext cx="577402" cy="338554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none" rtlCol="0" anchor="t">
              <a:sp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CA" sz="1600" b="1" u="sng">
                  <a:solidFill>
                    <a:schemeClr val="bg1"/>
                  </a:solidFill>
                </a:rPr>
                <a:t>Btrfs</a:t>
              </a:r>
            </a:p>
          </p:txBody>
        </p:sp>
        <p:sp>
          <p:nvSpPr>
            <p:cNvPr id="8" name="TextBox 4"/>
            <p:cNvSpPr txBox="1"/>
            <p:nvPr/>
          </p:nvSpPr>
          <p:spPr>
            <a:xfrm>
              <a:off x="2613536" y="3261749"/>
              <a:ext cx="583814" cy="338554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none" rtlCol="0" anchor="t">
              <a:sp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CA" sz="1600" b="1" u="sng" dirty="0">
                  <a:solidFill>
                    <a:schemeClr val="bg1"/>
                  </a:solidFill>
                </a:rPr>
                <a:t>Ext4</a:t>
              </a:r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32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978732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Solution: Spiffy</a:t>
            </a:r>
            <a:r>
              <a:rPr lang="en-CA" dirty="0"/>
              <a:t> </a:t>
            </a:r>
            <a:r>
              <a:rPr lang="en-CA" dirty="0" smtClean="0"/>
              <a:t>File System Library 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Generated from annotated file system header files</a:t>
            </a:r>
          </a:p>
          <a:p>
            <a:r>
              <a:rPr lang="en-CA" dirty="0" smtClean="0"/>
              <a:t>Standard API for finding and traversing file systems structures</a:t>
            </a:r>
          </a:p>
          <a:p>
            <a:pPr lvl="1"/>
            <a:r>
              <a:rPr lang="en-CA" dirty="0" smtClean="0"/>
              <a:t>Provides robust parsing and serialization routines</a:t>
            </a:r>
          </a:p>
          <a:p>
            <a:r>
              <a:rPr lang="en-CA" dirty="0" smtClean="0"/>
              <a:t>Enables building generic application framework</a:t>
            </a:r>
          </a:p>
          <a:p>
            <a:pPr lvl="1"/>
            <a:r>
              <a:rPr lang="en-CA" dirty="0" smtClean="0"/>
              <a:t>Facilitates support for multiple file systems</a:t>
            </a:r>
          </a:p>
          <a:p>
            <a:pPr lvl="1"/>
            <a:r>
              <a:rPr lang="en-CA" dirty="0" smtClean="0"/>
              <a:t>Reduces dependence on file-system specific code </a:t>
            </a:r>
          </a:p>
          <a:p>
            <a:r>
              <a:rPr lang="en-CA" dirty="0" smtClean="0"/>
              <a:t>Example: </a:t>
            </a:r>
            <a:r>
              <a:rPr lang="en-CA" dirty="0"/>
              <a:t>File System Free Space </a:t>
            </a:r>
            <a:r>
              <a:rPr lang="en-CA" dirty="0" smtClean="0"/>
              <a:t>Tool</a:t>
            </a:r>
          </a:p>
          <a:p>
            <a:pPr lvl="1"/>
            <a:r>
              <a:rPr lang="en-CA" dirty="0" smtClean="0"/>
              <a:t>Use Spiffy to locate metadata that stores block allocation information</a:t>
            </a:r>
          </a:p>
          <a:p>
            <a:pPr lvl="1"/>
            <a:r>
              <a:rPr lang="en-CA" dirty="0" smtClean="0"/>
              <a:t>Write file-system specific code to process metadata structures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33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45412089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University of Toronto">
      <a:dk1>
        <a:srgbClr val="000000"/>
      </a:dk1>
      <a:lt1>
        <a:srgbClr val="FFFFFF"/>
      </a:lt1>
      <a:dk2>
        <a:srgbClr val="ACE9F8"/>
      </a:dk2>
      <a:lt2>
        <a:srgbClr val="0F486F"/>
      </a:lt2>
      <a:accent1>
        <a:srgbClr val="062958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487</TotalTime>
  <Words>3058</Words>
  <Application>Microsoft Office PowerPoint</Application>
  <PresentationFormat>Widescreen</PresentationFormat>
  <Paragraphs>661</Paragraphs>
  <Slides>33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Century Gothic</vt:lpstr>
      <vt:lpstr>Courier New</vt:lpstr>
      <vt:lpstr>Wingdings 3</vt:lpstr>
      <vt:lpstr>Slice</vt:lpstr>
      <vt:lpstr>Spiffy: Enabling File-System Aware Storage Applications </vt:lpstr>
      <vt:lpstr>Introduction</vt:lpstr>
      <vt:lpstr>Problem</vt:lpstr>
      <vt:lpstr>Problem: Ad-hoc Processing</vt:lpstr>
      <vt:lpstr>Goals</vt:lpstr>
      <vt:lpstr>Approach</vt:lpstr>
      <vt:lpstr>Spiffy Annotations</vt:lpstr>
      <vt:lpstr>Spiffy Library</vt:lpstr>
      <vt:lpstr>Spiffy Applications</vt:lpstr>
      <vt:lpstr>Talk Outline</vt:lpstr>
      <vt:lpstr>Annotation Requirements</vt:lpstr>
      <vt:lpstr>Address Space</vt:lpstr>
      <vt:lpstr>Annotation Requirements</vt:lpstr>
      <vt:lpstr>Evaluation: Annotation Effort</vt:lpstr>
      <vt:lpstr>Generating Spiffy Library</vt:lpstr>
      <vt:lpstr>Generating Spiffy Library</vt:lpstr>
      <vt:lpstr>Generating Spiffy Library</vt:lpstr>
      <vt:lpstr>Generating Spiffy Library</vt:lpstr>
      <vt:lpstr>Building Spiffy Applications</vt:lpstr>
      <vt:lpstr>Coding Style Comparison</vt:lpstr>
      <vt:lpstr>Coding Style Comparison</vt:lpstr>
      <vt:lpstr>Coding Style Comparison</vt:lpstr>
      <vt:lpstr>Coding Style Comparison</vt:lpstr>
      <vt:lpstr>Coding Style Comparison</vt:lpstr>
      <vt:lpstr>Coding Style Comparison</vt:lpstr>
      <vt:lpstr>Offline Spiffy Applications</vt:lpstr>
      <vt:lpstr>Online Spiffy Applications</vt:lpstr>
      <vt:lpstr>Evaluation: Programming Effort</vt:lpstr>
      <vt:lpstr>Evaluation: Ext4 to F2FS Converter</vt:lpstr>
      <vt:lpstr>Evaluation: Corruption Experiment</vt:lpstr>
      <vt:lpstr>Conclusion</vt:lpstr>
      <vt:lpstr>Evaluation: Preferential Caching</vt:lpstr>
      <vt:lpstr>Solution: Spiffy File System Library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Sun</dc:creator>
  <cp:lastModifiedBy>Ashvin Goel</cp:lastModifiedBy>
  <cp:revision>68</cp:revision>
  <dcterms:created xsi:type="dcterms:W3CDTF">2018-01-30T09:02:25Z</dcterms:created>
  <dcterms:modified xsi:type="dcterms:W3CDTF">2018-02-05T21:33:15Z</dcterms:modified>
</cp:coreProperties>
</file>