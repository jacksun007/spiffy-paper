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5"/>
  </p:notesMasterIdLst>
  <p:sldIdLst>
    <p:sldId id="256" r:id="rId2"/>
    <p:sldId id="288" r:id="rId3"/>
    <p:sldId id="289" r:id="rId4"/>
    <p:sldId id="290" r:id="rId5"/>
    <p:sldId id="291" r:id="rId6"/>
    <p:sldId id="292" r:id="rId7"/>
    <p:sldId id="293" r:id="rId8"/>
    <p:sldId id="294" r:id="rId9"/>
    <p:sldId id="295" r:id="rId10"/>
    <p:sldId id="301" r:id="rId11"/>
    <p:sldId id="298" r:id="rId12"/>
    <p:sldId id="300" r:id="rId13"/>
    <p:sldId id="283" r:id="rId14"/>
    <p:sldId id="302" r:id="rId15"/>
    <p:sldId id="307" r:id="rId16"/>
    <p:sldId id="303" r:id="rId17"/>
    <p:sldId id="304" r:id="rId18"/>
    <p:sldId id="305" r:id="rId19"/>
    <p:sldId id="306" r:id="rId20"/>
    <p:sldId id="266" r:id="rId21"/>
    <p:sldId id="269" r:id="rId22"/>
    <p:sldId id="270" r:id="rId23"/>
    <p:sldId id="271" r:id="rId24"/>
    <p:sldId id="268" r:id="rId25"/>
    <p:sldId id="267" r:id="rId26"/>
    <p:sldId id="279" r:id="rId27"/>
    <p:sldId id="280" r:id="rId28"/>
    <p:sldId id="259" r:id="rId29"/>
    <p:sldId id="281" r:id="rId30"/>
    <p:sldId id="261" r:id="rId31"/>
    <p:sldId id="258" r:id="rId32"/>
    <p:sldId id="260" r:id="rId33"/>
    <p:sldId id="297"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076" autoAdjust="0"/>
  </p:normalViewPr>
  <p:slideViewPr>
    <p:cSldViewPr snapToGrid="0">
      <p:cViewPr varScale="1">
        <p:scale>
          <a:sx n="96" d="100"/>
          <a:sy n="96" d="100"/>
        </p:scale>
        <p:origin x="10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1540799408"/>
        <c:axId val="1540799952"/>
      </c:barChart>
      <c:catAx>
        <c:axId val="1540799408"/>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540799952"/>
        <c:crosses val="autoZero"/>
        <c:auto val="1"/>
        <c:lblAlgn val="ctr"/>
        <c:lblOffset val="100"/>
        <c:noMultiLvlLbl val="1"/>
      </c:catAx>
      <c:valAx>
        <c:axId val="1540799952"/>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540799408"/>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CA" dirty="0" smtClean="0"/>
              <a:t>Class of applications that work with file system metadata</a:t>
            </a:r>
          </a:p>
          <a:p>
            <a:r>
              <a:rPr lang="en-CA" dirty="0" smtClean="0"/>
              <a:t>Offline</a:t>
            </a:r>
          </a:p>
          <a:p>
            <a:r>
              <a:rPr lang="en-CA" dirty="0" smtClean="0"/>
              <a:t>Online</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Operate directly on file system metadata structures on</a:t>
            </a:r>
            <a:r>
              <a:rPr lang="en-CA" baseline="0" dirty="0" smtClean="0"/>
              <a:t> disk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Must bypass VFS layer, which abstracts away file system implementation</a:t>
            </a:r>
          </a:p>
          <a:p>
            <a:r>
              <a:rPr lang="en-CA" sz="1200" b="0" i="0" u="none" strike="noStrike" kern="1200" baseline="0" dirty="0" smtClean="0">
                <a:solidFill>
                  <a:schemeClr val="tx1"/>
                </a:solidFill>
                <a:latin typeface="+mn-lt"/>
                <a:ea typeface="+mn-ea"/>
                <a:cs typeface="+mn-cs"/>
              </a:rPr>
              <a:t>Require a detailed understanding of the format of a file system</a:t>
            </a:r>
            <a:r>
              <a:rPr lang="en-CA" sz="1200" b="0" i="0" u="none" strike="noStrike" kern="1200" baseline="0" smtClean="0">
                <a:solidFill>
                  <a:schemeClr val="tx1"/>
                </a:solidFill>
                <a:latin typeface="+mn-lt"/>
                <a:ea typeface="+mn-ea"/>
                <a:cs typeface="+mn-cs"/>
              </a:rPr>
              <a:t>, including the </a:t>
            </a:r>
            <a:r>
              <a:rPr lang="en-CA" sz="1200" b="0" i="0" u="none" strike="noStrike" kern="1200" baseline="0" dirty="0" smtClean="0">
                <a:solidFill>
                  <a:schemeClr val="tx1"/>
                </a:solidFill>
                <a:latin typeface="+mn-lt"/>
                <a:ea typeface="+mn-ea"/>
                <a:cs typeface="+mn-cs"/>
              </a:rPr>
              <a:t>ability to identify and interpret file </a:t>
            </a:r>
            <a:r>
              <a:rPr lang="en-CA" sz="1200" b="0" i="0" u="none" strike="noStrike" kern="1200" baseline="0" smtClean="0">
                <a:solidFill>
                  <a:schemeClr val="tx1"/>
                </a:solidFill>
                <a:latin typeface="+mn-lt"/>
                <a:ea typeface="+mn-ea"/>
                <a:cs typeface="+mn-cs"/>
              </a:rPr>
              <a:t>system structures</a:t>
            </a:r>
            <a:endParaRPr lang="en-CA" dirty="0" smtClean="0"/>
          </a:p>
          <a:p>
            <a:endParaRPr lang="en-CA" dirty="0" smtClean="0"/>
          </a:p>
          <a:p>
            <a:endParaRPr lang="en-CA" dirty="0" smtClean="0"/>
          </a:p>
          <a:p>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bug 723343 closed in </a:t>
            </a:r>
            <a:r>
              <a:rPr lang="en-CA" dirty="0" err="1" smtClean="0"/>
              <a:t>feb</a:t>
            </a:r>
            <a:r>
              <a:rPr lang="en-CA" baseline="0" dirty="0" smtClean="0"/>
              <a:t> 2014.</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Intuition:</a:t>
            </a:r>
            <a:r>
              <a:rPr lang="en-CA" baseline="0" dirty="0" smtClean="0"/>
              <a:t> extract specification from data structure definition in existing source code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11585208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Specify file</a:t>
            </a:r>
            <a:r>
              <a:rPr lang="en-CA" baseline="0" dirty="0" smtClean="0"/>
              <a:t> system format so that we can generate a parsing and serialization library that simplifies development of applications that work across file systems.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Mapping function may need to reassemble blocks</a:t>
            </a:r>
          </a:p>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11</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An</a:t>
            </a:r>
            <a:r>
              <a:rPr lang="en-CA" baseline="0" dirty="0" smtClean="0"/>
              <a:t> example will be shown in the upcoming slide for constraint checking</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12</a:t>
            </a:fld>
            <a:endParaRPr lang="en-CA"/>
          </a:p>
        </p:txBody>
      </p:sp>
    </p:spTree>
    <p:extLst>
      <p:ext uri="{BB962C8B-B14F-4D97-AF65-F5344CB8AC3E}">
        <p14:creationId xmlns:p14="http://schemas.microsoft.com/office/powerpoint/2010/main" val="2259219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13</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On the left side, we shown the annotated</a:t>
            </a:r>
            <a:r>
              <a:rPr lang="en-CA" baseline="0" dirty="0" smtClean="0"/>
              <a:t> Ext4 super block structure. </a:t>
            </a:r>
            <a:r>
              <a:rPr lang="en-CA" dirty="0" smtClean="0"/>
              <a:t>Annotations are in BOLD font,</a:t>
            </a:r>
            <a:r>
              <a:rPr lang="en-CA" baseline="0" dirty="0" smtClean="0"/>
              <a:t> written in keyword argument style.  On the right side is the corresponding parsing code that is generated for Ext4 super block, which is currently written in C++.  The first annotation, FSSUPER, designates this structure to be the super block of the Ext4 file system. The location argument specifies the byte offset for finding the super block.</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14</a:t>
            </a:fld>
            <a:endParaRPr lang="en-CA"/>
          </a:p>
        </p:txBody>
      </p:sp>
    </p:spTree>
    <p:extLst>
      <p:ext uri="{BB962C8B-B14F-4D97-AF65-F5344CB8AC3E}">
        <p14:creationId xmlns:p14="http://schemas.microsoft.com/office/powerpoint/2010/main" val="32926037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our current implementation, we generate a C++ class for every annotated metadata</a:t>
            </a:r>
            <a:r>
              <a:rPr lang="en-CA" baseline="0" dirty="0" smtClean="0"/>
              <a:t> structures and all of its field. Each of these classes enables </a:t>
            </a:r>
            <a:r>
              <a:rPr lang="en-CA" baseline="0" dirty="0" smtClean="0"/>
              <a:t>type-safe </a:t>
            </a:r>
            <a:r>
              <a:rPr lang="en-CA" baseline="0" dirty="0" smtClean="0"/>
              <a:t>parsing and serialization. In the paper, we go into more detail on other features such as type introspection and generic traversal.</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25067957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the parsing code that is generated for</a:t>
            </a:r>
            <a:r>
              <a:rPr lang="en-CA" baseline="0" dirty="0" smtClean="0"/>
              <a:t> an annotated </a:t>
            </a:r>
            <a:r>
              <a:rPr lang="en-CA" baseline="0" dirty="0" err="1" smtClean="0"/>
              <a:t>enum</a:t>
            </a:r>
            <a:r>
              <a:rPr lang="en-CA" baseline="0" dirty="0" smtClean="0"/>
              <a:t> field. First, we verify that the length of the buffer is valid before reading in the value from the buffer. Next, we check that the value is within the range of the </a:t>
            </a:r>
            <a:r>
              <a:rPr lang="en-CA" baseline="0" dirty="0" err="1" smtClean="0"/>
              <a:t>enum</a:t>
            </a:r>
            <a:r>
              <a:rPr lang="en-CA" baseline="0" dirty="0" smtClean="0"/>
              <a:t> and return an error if the value is out-of-bound.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832777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have a function that is supposed to fill the input vector with all of the free extent</a:t>
            </a:r>
            <a:r>
              <a:rPr lang="en-CA" baseline="0" dirty="0" smtClean="0"/>
              <a:t>s in an Ext4 file system image. The block device that contains the file system is opened and we have to manually parse and traverse the file system in order to reach the block bitmaps that contain block allocation information.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15901136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26</a:t>
            </a:fld>
            <a:endParaRPr lang="en-CA"/>
          </a:p>
        </p:txBody>
      </p:sp>
    </p:spTree>
    <p:extLst>
      <p:ext uri="{BB962C8B-B14F-4D97-AF65-F5344CB8AC3E}">
        <p14:creationId xmlns:p14="http://schemas.microsoft.com/office/powerpoint/2010/main" val="34437695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Give</a:t>
            </a:r>
            <a:r>
              <a:rPr lang="en-CA" baseline="0" dirty="0" smtClean="0"/>
              <a:t> a sense why online application is hard to do. Describe why classifying IO in a file system generic way is non-trivial.</a:t>
            </a:r>
          </a:p>
          <a:p>
            <a:r>
              <a:rPr lang="en-CA" baseline="0" dirty="0" smtClean="0"/>
              <a:t>At runtime, as blocks are accessed, we can differentiate metadata from data, without making any changes to FS.</a:t>
            </a:r>
          </a:p>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27</a:t>
            </a:fld>
            <a:endParaRPr lang="en-CA"/>
          </a:p>
        </p:txBody>
      </p:sp>
    </p:spTree>
    <p:extLst>
      <p:ext uri="{BB962C8B-B14F-4D97-AF65-F5344CB8AC3E}">
        <p14:creationId xmlns:p14="http://schemas.microsoft.com/office/powerpoint/2010/main" val="4901517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28</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29</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30</a:t>
            </a:fld>
            <a:endParaRPr lang="en-CA"/>
          </a:p>
        </p:txBody>
      </p:sp>
    </p:spTree>
    <p:extLst>
      <p:ext uri="{BB962C8B-B14F-4D97-AF65-F5344CB8AC3E}">
        <p14:creationId xmlns:p14="http://schemas.microsoft.com/office/powerpoint/2010/main" val="4225210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gradFill rotWithShape="1">
          <a:gsLst>
            <a:gs pos="10000">
              <a:schemeClr val="tx2">
                <a:lumMod val="90000"/>
              </a:schemeClr>
            </a:gs>
            <a:gs pos="100000">
              <a:schemeClr val="bg2"/>
            </a:gs>
          </a:gsLst>
          <a:lin ang="612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100">
                <a:solidFill>
                  <a:schemeClr val="bg1">
                    <a:lumMod val="95000"/>
                    <a:lumOff val="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a:off x="6108170" y="545795"/>
            <a:ext cx="6080672" cy="6323990"/>
            <a:chOff x="6108170" y="-151790"/>
            <a:chExt cx="6080672" cy="6323990"/>
          </a:xfrm>
        </p:grpSpPr>
        <p:cxnSp>
          <p:nvCxnSpPr>
            <p:cNvPr id="16" name="Straight Connector 15"/>
            <p:cNvCxnSpPr/>
            <p:nvPr/>
          </p:nvCxnSpPr>
          <p:spPr>
            <a:xfrm flipH="1">
              <a:off x="8378842" y="-151790"/>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rm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2018-02-06</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1">
          <a:gsLst>
            <a:gs pos="10000">
              <a:schemeClr val="tx1"/>
            </a:gs>
            <a:gs pos="100000">
              <a:schemeClr val="bg2">
                <a:lumMod val="75000"/>
              </a:schemeClr>
            </a:gs>
          </a:gsLst>
          <a:lin ang="6120000" scaled="1"/>
        </a:gra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2018-02-06</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791"/>
            <a:ext cx="8849087" cy="2971801"/>
          </a:xfrm>
        </p:spPr>
        <p:txBody>
          <a:bodyPr>
            <a:normAutofit fontScale="90000"/>
          </a:bodyPr>
          <a:lstStyle/>
          <a:p>
            <a:r>
              <a:rPr lang="en-CA" b="1" cap="none" dirty="0" smtClean="0"/>
              <a:t>Spiffy</a:t>
            </a:r>
            <a:r>
              <a:rPr lang="en-CA" cap="none" dirty="0" smtClean="0"/>
              <a:t>:</a:t>
            </a:r>
            <a:r>
              <a:rPr lang="en-CA" b="1" cap="none" dirty="0" smtClean="0"/>
              <a:t> </a:t>
            </a:r>
            <a:r>
              <a:rPr lang="en-CA" cap="none" dirty="0"/>
              <a:t>Enabling File-System Aware </a:t>
            </a:r>
            <a:r>
              <a:rPr lang="en-CA" sz="5400" cap="none" dirty="0"/>
              <a:t>Storage</a:t>
            </a:r>
            <a:r>
              <a:rPr lang="en-CA" cap="none" dirty="0"/>
              <a:t> </a:t>
            </a:r>
            <a:r>
              <a:rPr lang="en-CA" cap="none" dirty="0" smtClean="0"/>
              <a:t>Applications</a:t>
            </a:r>
            <a:br>
              <a:rPr lang="en-CA" cap="none" dirty="0" smtClean="0"/>
            </a:br>
            <a:endParaRPr lang="en-CA" b="1" cap="none" dirty="0"/>
          </a:p>
        </p:txBody>
      </p:sp>
      <p:sp>
        <p:nvSpPr>
          <p:cNvPr id="3" name="Subtitle 2"/>
          <p:cNvSpPr>
            <a:spLocks noGrp="1"/>
          </p:cNvSpPr>
          <p:nvPr>
            <p:ph type="subTitle" idx="1"/>
          </p:nvPr>
        </p:nvSpPr>
        <p:spPr>
          <a:xfrm>
            <a:off x="684212" y="3421931"/>
            <a:ext cx="10967598" cy="2548380"/>
          </a:xfrm>
        </p:spPr>
        <p:txBody>
          <a:bodyPr>
            <a:normAutofit/>
          </a:bodyPr>
          <a:lstStyle/>
          <a:p>
            <a:r>
              <a:rPr lang="en-CA" sz="2400" dirty="0" err="1" smtClean="0">
                <a:solidFill>
                  <a:schemeClr val="bg1">
                    <a:lumMod val="75000"/>
                    <a:lumOff val="25000"/>
                  </a:schemeClr>
                </a:solidFill>
              </a:rPr>
              <a:t>Kuei</a:t>
            </a:r>
            <a:r>
              <a:rPr lang="en-CA" sz="2400" dirty="0" smtClean="0">
                <a:solidFill>
                  <a:schemeClr val="bg1">
                    <a:lumMod val="75000"/>
                    <a:lumOff val="25000"/>
                  </a:schemeClr>
                </a:solidFill>
              </a:rPr>
              <a:t> Sun, Daniel Fryer, Joseph Chu</a:t>
            </a:r>
            <a:r>
              <a:rPr lang="en-CA" sz="2400" dirty="0">
                <a:solidFill>
                  <a:schemeClr val="bg1">
                    <a:lumMod val="75000"/>
                    <a:lumOff val="25000"/>
                  </a:schemeClr>
                </a:solidFill>
              </a:rPr>
              <a:t>, Matthew </a:t>
            </a:r>
            <a:r>
              <a:rPr lang="en-CA" sz="2400" dirty="0" err="1">
                <a:solidFill>
                  <a:schemeClr val="bg1">
                    <a:lumMod val="75000"/>
                    <a:lumOff val="25000"/>
                  </a:schemeClr>
                </a:solidFill>
              </a:rPr>
              <a:t>Lakier</a:t>
            </a:r>
            <a:r>
              <a:rPr lang="en-CA" sz="2400" dirty="0">
                <a:solidFill>
                  <a:schemeClr val="bg1">
                    <a:lumMod val="75000"/>
                    <a:lumOff val="25000"/>
                  </a:schemeClr>
                </a:solidFill>
              </a:rPr>
              <a:t>, </a:t>
            </a:r>
            <a:endParaRPr lang="en-CA" sz="2400" dirty="0" smtClean="0">
              <a:solidFill>
                <a:schemeClr val="bg1">
                  <a:lumMod val="75000"/>
                  <a:lumOff val="25000"/>
                </a:schemeClr>
              </a:solidFill>
            </a:endParaRPr>
          </a:p>
          <a:p>
            <a:r>
              <a:rPr lang="en-CA" sz="2400" dirty="0" smtClean="0">
                <a:solidFill>
                  <a:schemeClr val="bg1">
                    <a:lumMod val="75000"/>
                    <a:lumOff val="25000"/>
                  </a:schemeClr>
                </a:solidFill>
              </a:rPr>
              <a:t>Angela </a:t>
            </a:r>
            <a:r>
              <a:rPr lang="en-CA" sz="2400" dirty="0" err="1" smtClean="0">
                <a:solidFill>
                  <a:schemeClr val="bg1">
                    <a:lumMod val="75000"/>
                    <a:lumOff val="25000"/>
                  </a:schemeClr>
                </a:solidFill>
              </a:rPr>
              <a:t>Demke</a:t>
            </a:r>
            <a:r>
              <a:rPr lang="en-CA" sz="2400" dirty="0" smtClean="0">
                <a:solidFill>
                  <a:schemeClr val="bg1">
                    <a:lumMod val="75000"/>
                    <a:lumOff val="25000"/>
                  </a:schemeClr>
                </a:solidFill>
              </a:rPr>
              <a:t> Brown, and </a:t>
            </a:r>
            <a:r>
              <a:rPr lang="en-CA" sz="2400" dirty="0" err="1" smtClean="0">
                <a:solidFill>
                  <a:schemeClr val="bg1">
                    <a:lumMod val="75000"/>
                    <a:lumOff val="25000"/>
                  </a:schemeClr>
                </a:solidFill>
              </a:rPr>
              <a:t>Ashvin</a:t>
            </a:r>
            <a:r>
              <a:rPr lang="en-CA" sz="2400" dirty="0" smtClean="0">
                <a:solidFill>
                  <a:schemeClr val="bg1">
                    <a:lumMod val="75000"/>
                    <a:lumOff val="25000"/>
                  </a:schemeClr>
                </a:solidFill>
              </a:rPr>
              <a:t> </a:t>
            </a:r>
            <a:r>
              <a:rPr lang="en-CA" sz="2400" dirty="0" err="1" smtClean="0">
                <a:solidFill>
                  <a:schemeClr val="bg1">
                    <a:lumMod val="75000"/>
                    <a:lumOff val="25000"/>
                  </a:schemeClr>
                </a:solidFill>
              </a:rPr>
              <a:t>Goel</a:t>
            </a:r>
            <a:endParaRPr lang="en-CA" sz="2400" dirty="0" smtClean="0">
              <a:solidFill>
                <a:schemeClr val="bg1">
                  <a:lumMod val="75000"/>
                  <a:lumOff val="25000"/>
                </a:schemeClr>
              </a:solidFill>
            </a:endParaRPr>
          </a:p>
          <a:p>
            <a:endParaRPr lang="en-CA" sz="2400" dirty="0"/>
          </a:p>
          <a:p>
            <a:r>
              <a:rPr lang="en-CA" sz="2400" i="1" dirty="0" smtClean="0">
                <a:solidFill>
                  <a:schemeClr val="bg1">
                    <a:lumMod val="85000"/>
                    <a:lumOff val="15000"/>
                  </a:schemeClr>
                </a:solidFill>
              </a:rPr>
              <a:t>University of Toronto</a:t>
            </a:r>
            <a:endParaRPr lang="en-CA" sz="2400" i="1" dirty="0">
              <a:solidFill>
                <a:schemeClr val="bg1">
                  <a:lumMod val="85000"/>
                  <a:lumOff val="15000"/>
                </a:schemeClr>
              </a:solidFill>
            </a:endParaRPr>
          </a:p>
        </p:txBody>
      </p:sp>
    </p:spTree>
    <p:extLst>
      <p:ext uri="{BB962C8B-B14F-4D97-AF65-F5344CB8AC3E}">
        <p14:creationId xmlns:p14="http://schemas.microsoft.com/office/powerpoint/2010/main" val="2989736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Introduction</a:t>
            </a:r>
            <a:endParaRPr lang="en-CA" dirty="0"/>
          </a:p>
        </p:txBody>
      </p:sp>
      <p:sp>
        <p:nvSpPr>
          <p:cNvPr id="3" name="Content Placeholder 2"/>
          <p:cNvSpPr>
            <a:spLocks noGrp="1"/>
          </p:cNvSpPr>
          <p:nvPr>
            <p:ph idx="1"/>
          </p:nvPr>
        </p:nvSpPr>
        <p:spPr>
          <a:xfrm>
            <a:off x="646113" y="1625600"/>
            <a:ext cx="9403743" cy="4622802"/>
          </a:xfrm>
        </p:spPr>
        <p:txBody>
          <a:bodyPr>
            <a:normAutofit lnSpcReduction="10000"/>
          </a:bodyPr>
          <a:lstStyle/>
          <a:p>
            <a:r>
              <a:rPr lang="en-CA" dirty="0" smtClean="0"/>
              <a:t>File-system aware </a:t>
            </a:r>
            <a:r>
              <a:rPr lang="en-CA" dirty="0" smtClean="0"/>
              <a:t>applications</a:t>
            </a:r>
          </a:p>
          <a:p>
            <a:pPr lvl="1"/>
            <a:r>
              <a:rPr lang="en-CA" dirty="0" smtClean="0"/>
              <a:t>E.g. defragmentation </a:t>
            </a:r>
            <a:r>
              <a:rPr lang="en-CA" dirty="0" smtClean="0"/>
              <a:t>tool, garbage </a:t>
            </a:r>
            <a:r>
              <a:rPr lang="en-CA" dirty="0" smtClean="0"/>
              <a:t>collector, etc.</a:t>
            </a:r>
            <a:endParaRPr lang="en-CA" dirty="0" smtClean="0"/>
          </a:p>
          <a:p>
            <a:pPr lvl="1"/>
            <a:r>
              <a:rPr lang="en-CA" dirty="0"/>
              <a:t>Operate directly on file system metadata structures</a:t>
            </a:r>
          </a:p>
          <a:p>
            <a:pPr lvl="2"/>
            <a:r>
              <a:rPr lang="en-CA" dirty="0"/>
              <a:t>Require detailed knowledge of file system format on disk</a:t>
            </a:r>
            <a:endParaRPr lang="en-CA" dirty="0" smtClean="0"/>
          </a:p>
          <a:p>
            <a:pPr lvl="2"/>
            <a:r>
              <a:rPr lang="en-CA" dirty="0" smtClean="0"/>
              <a:t>Bypass </a:t>
            </a:r>
            <a:r>
              <a:rPr lang="en-CA" dirty="0"/>
              <a:t>VFS </a:t>
            </a:r>
            <a:r>
              <a:rPr lang="en-CA" dirty="0" smtClean="0"/>
              <a:t>layer</a:t>
            </a:r>
          </a:p>
          <a:p>
            <a:r>
              <a:rPr lang="en-CA" dirty="0" smtClean="0"/>
              <a:t>Two classes</a:t>
            </a:r>
          </a:p>
          <a:p>
            <a:pPr lvl="1"/>
            <a:r>
              <a:rPr lang="en-CA" dirty="0" smtClean="0"/>
              <a:t>Offline</a:t>
            </a:r>
            <a:r>
              <a:rPr lang="en-CA" dirty="0" smtClean="0"/>
              <a:t>, have exclusive access to file system image</a:t>
            </a:r>
          </a:p>
          <a:p>
            <a:pPr lvl="2"/>
            <a:r>
              <a:rPr lang="en-CA" dirty="0" smtClean="0"/>
              <a:t>Partition Editor</a:t>
            </a:r>
          </a:p>
          <a:p>
            <a:pPr lvl="2"/>
            <a:r>
              <a:rPr lang="en-CA" dirty="0" smtClean="0"/>
              <a:t>File System Checker</a:t>
            </a:r>
          </a:p>
          <a:p>
            <a:pPr lvl="1"/>
            <a:r>
              <a:rPr lang="en-CA" dirty="0" smtClean="0"/>
              <a:t>Online, operate while file system is in use</a:t>
            </a:r>
          </a:p>
          <a:p>
            <a:pPr lvl="2"/>
            <a:r>
              <a:rPr lang="en-CA" dirty="0" smtClean="0"/>
              <a:t>Metadata-Aware Block Layer Cache</a:t>
            </a:r>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Problem</a:t>
            </a:r>
            <a:endParaRPr lang="en-CA" dirty="0"/>
          </a:p>
        </p:txBody>
      </p:sp>
      <p:sp>
        <p:nvSpPr>
          <p:cNvPr id="3" name="Content Placeholder 2"/>
          <p:cNvSpPr>
            <a:spLocks noGrp="1"/>
          </p:cNvSpPr>
          <p:nvPr>
            <p:ph idx="1"/>
          </p:nvPr>
        </p:nvSpPr>
        <p:spPr/>
        <p:txBody>
          <a:bodyPr>
            <a:normAutofit lnSpcReduction="10000"/>
          </a:bodyPr>
          <a:lstStyle/>
          <a:p>
            <a:r>
              <a:rPr lang="en-CA" dirty="0" smtClean="0"/>
              <a:t>File-system applications are difficult to write</a:t>
            </a:r>
          </a:p>
          <a:p>
            <a:pPr lvl="1"/>
            <a:r>
              <a:rPr lang="en-CA" dirty="0" smtClean="0"/>
              <a:t>Requires detailed knowledge of the file system format</a:t>
            </a:r>
          </a:p>
          <a:p>
            <a:pPr lvl="1"/>
            <a:r>
              <a:rPr lang="en-CA" dirty="0" smtClean="0"/>
              <a:t>File system format is complex and poorly documented</a:t>
            </a:r>
          </a:p>
          <a:p>
            <a:pPr lvl="1"/>
            <a:r>
              <a:rPr lang="en-CA" dirty="0" smtClean="0"/>
              <a:t>Easy to make mistakes while processing file system metadata</a:t>
            </a:r>
          </a:p>
          <a:p>
            <a:pPr lvl="1"/>
            <a:r>
              <a:rPr lang="en-CA" dirty="0" smtClean="0"/>
              <a:t>Need to handle file system corruption</a:t>
            </a:r>
          </a:p>
          <a:p>
            <a:r>
              <a:rPr lang="en-CA" dirty="0" smtClean="0"/>
              <a:t>Implications</a:t>
            </a:r>
          </a:p>
          <a:p>
            <a:pPr lvl="1"/>
            <a:r>
              <a:rPr lang="en-CA" dirty="0" smtClean="0"/>
              <a:t>Each </a:t>
            </a:r>
            <a:r>
              <a:rPr lang="en-CA" dirty="0"/>
              <a:t>file system has to develop its own set of tools from </a:t>
            </a:r>
            <a:r>
              <a:rPr lang="en-CA" dirty="0" smtClean="0"/>
              <a:t>scratch</a:t>
            </a:r>
          </a:p>
          <a:p>
            <a:pPr lvl="1"/>
            <a:r>
              <a:rPr lang="en-CA" dirty="0" smtClean="0"/>
              <a:t>Only </a:t>
            </a:r>
            <a:r>
              <a:rPr lang="en-CA" dirty="0"/>
              <a:t>file-system experts develop such </a:t>
            </a:r>
            <a:r>
              <a:rPr lang="en-CA" dirty="0" smtClean="0"/>
              <a:t>tools</a:t>
            </a:r>
          </a:p>
          <a:p>
            <a:pPr lvl="1"/>
            <a:r>
              <a:rPr lang="en-CA" dirty="0"/>
              <a:t>Many of these tools are </a:t>
            </a:r>
            <a:r>
              <a:rPr lang="en-CA" dirty="0" smtClean="0"/>
              <a:t>buggy</a:t>
            </a:r>
          </a:p>
          <a:p>
            <a:pPr lvl="1"/>
            <a:r>
              <a:rPr lang="en-CA" dirty="0"/>
              <a:t>Bugs can lead to further corruption of file </a:t>
            </a:r>
            <a:r>
              <a:rPr lang="en-CA" dirty="0" smtClean="0"/>
              <a:t>systems</a:t>
            </a:r>
          </a:p>
          <a:p>
            <a:pPr lvl="1"/>
            <a:r>
              <a:rPr lang="en-CA" dirty="0" smtClean="0"/>
              <a:t>Makes it hard to deploy new file systems</a:t>
            </a:r>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9054102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Problem: </a:t>
            </a:r>
            <a:r>
              <a:rPr lang="en-CA" dirty="0"/>
              <a:t>Ad-hoc P</a:t>
            </a:r>
            <a:r>
              <a:rPr lang="en-CA" dirty="0" smtClean="0"/>
              <a:t>rocessing</a:t>
            </a:r>
            <a:endParaRPr lang="en-CA" dirty="0"/>
          </a:p>
        </p:txBody>
      </p:sp>
      <p:sp>
        <p:nvSpPr>
          <p:cNvPr id="3" name="Content Placeholder 2"/>
          <p:cNvSpPr>
            <a:spLocks noGrp="1"/>
          </p:cNvSpPr>
          <p:nvPr>
            <p:ph idx="1"/>
          </p:nvPr>
        </p:nvSpPr>
        <p:spPr>
          <a:xfrm>
            <a:off x="684211" y="1515358"/>
            <a:ext cx="10285797" cy="4866587"/>
          </a:xfrm>
        </p:spPr>
        <p:txBody>
          <a:bodyPr>
            <a:normAutofit/>
          </a:bodyPr>
          <a:lstStyle/>
          <a:p>
            <a:r>
              <a:rPr lang="en-CA" dirty="0" smtClean="0"/>
              <a:t>File system applications operate on a complex format</a:t>
            </a:r>
          </a:p>
          <a:p>
            <a:r>
              <a:rPr lang="en-CA" dirty="0" smtClean="0"/>
              <a:t>Often accessed using unsafe </a:t>
            </a:r>
            <a:r>
              <a:rPr lang="en-CA" dirty="0"/>
              <a:t>programming languages (e.g., C)</a:t>
            </a:r>
          </a:p>
          <a:p>
            <a:r>
              <a:rPr lang="en-CA" dirty="0" smtClean="0"/>
              <a:t>Bugs lead to system </a:t>
            </a:r>
            <a:r>
              <a:rPr lang="en-CA" dirty="0"/>
              <a:t>crash, data corruption, security vulnerability</a:t>
            </a:r>
          </a:p>
          <a:p>
            <a:endParaRPr lang="en-CA" dirty="0" smtClean="0"/>
          </a:p>
          <a:p>
            <a:r>
              <a:rPr lang="en-CA" dirty="0" smtClean="0"/>
              <a:t>Example</a:t>
            </a:r>
            <a:r>
              <a:rPr lang="en-CA" dirty="0"/>
              <a:t>: bug 723343 in </a:t>
            </a:r>
            <a:r>
              <a:rPr lang="en-CA" dirty="0" err="1"/>
              <a:t>ntfsprogs</a:t>
            </a:r>
            <a:endParaRPr lang="en-CA" dirty="0"/>
          </a:p>
          <a:p>
            <a:pPr lvl="1"/>
            <a:r>
              <a:rPr lang="en-CA" dirty="0"/>
              <a:t>NTFS stores the size of </a:t>
            </a:r>
            <a:r>
              <a:rPr lang="en-CA" dirty="0" smtClean="0"/>
              <a:t>MFT </a:t>
            </a:r>
            <a:r>
              <a:rPr lang="en-CA" dirty="0"/>
              <a:t>record as either:</a:t>
            </a:r>
          </a:p>
          <a:p>
            <a:pPr lvl="2"/>
            <a:r>
              <a:rPr lang="en-CA" dirty="0"/>
              <a:t>Number of clusters per record, if </a:t>
            </a:r>
            <a:r>
              <a:rPr lang="en-CA" i="1" dirty="0"/>
              <a:t>value</a:t>
            </a:r>
            <a:r>
              <a:rPr lang="en-CA" dirty="0"/>
              <a:t> &gt; 0</a:t>
            </a:r>
          </a:p>
          <a:p>
            <a:pPr lvl="2"/>
            <a:r>
              <a:rPr lang="en-CA" dirty="0"/>
              <a:t>2</a:t>
            </a:r>
            <a:r>
              <a:rPr lang="en-CA" baseline="30000" dirty="0"/>
              <a:t>|</a:t>
            </a:r>
            <a:r>
              <a:rPr lang="en-CA" i="1" baseline="30000" dirty="0"/>
              <a:t>value</a:t>
            </a:r>
            <a:r>
              <a:rPr lang="en-CA" baseline="30000" dirty="0"/>
              <a:t>|</a:t>
            </a:r>
            <a:r>
              <a:rPr lang="en-CA" dirty="0"/>
              <a:t>, if </a:t>
            </a:r>
            <a:r>
              <a:rPr lang="en-CA" i="1" dirty="0"/>
              <a:t>value</a:t>
            </a:r>
            <a:r>
              <a:rPr lang="en-CA" dirty="0"/>
              <a:t> &lt; 0</a:t>
            </a:r>
            <a:endParaRPr lang="en-CA" baseline="30000" dirty="0"/>
          </a:p>
          <a:p>
            <a:pPr lvl="1"/>
            <a:r>
              <a:rPr lang="en-CA" dirty="0" err="1" smtClean="0"/>
              <a:t>ntfsprogs</a:t>
            </a:r>
            <a:r>
              <a:rPr lang="en-CA" dirty="0" smtClean="0"/>
              <a:t> misinterprets this size field, corrupting </a:t>
            </a:r>
            <a:r>
              <a:rPr lang="en-CA" dirty="0"/>
              <a:t>NTFS during partition resizing</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3683252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Goals</a:t>
            </a:r>
            <a:endParaRPr lang="en-CA" dirty="0"/>
          </a:p>
        </p:txBody>
      </p:sp>
      <p:sp>
        <p:nvSpPr>
          <p:cNvPr id="3" name="Content Placeholder 2"/>
          <p:cNvSpPr>
            <a:spLocks noGrp="1"/>
          </p:cNvSpPr>
          <p:nvPr>
            <p:ph idx="1"/>
          </p:nvPr>
        </p:nvSpPr>
        <p:spPr/>
        <p:txBody>
          <a:bodyPr/>
          <a:lstStyle/>
          <a:p>
            <a:r>
              <a:rPr lang="en-CA" dirty="0" smtClean="0"/>
              <a:t>Improve </a:t>
            </a:r>
            <a:r>
              <a:rPr lang="en-CA" dirty="0"/>
              <a:t>robustness of </a:t>
            </a:r>
            <a:r>
              <a:rPr lang="en-CA" dirty="0" smtClean="0"/>
              <a:t>these applications</a:t>
            </a:r>
          </a:p>
          <a:p>
            <a:pPr lvl="1"/>
            <a:r>
              <a:rPr lang="en-CA" dirty="0" smtClean="0"/>
              <a:t>Traverse and update file system structures correctly</a:t>
            </a:r>
          </a:p>
          <a:p>
            <a:pPr lvl="1"/>
            <a:r>
              <a:rPr lang="en-CA" dirty="0" smtClean="0"/>
              <a:t>Ensure type safe access and updates of file system structures</a:t>
            </a:r>
          </a:p>
          <a:p>
            <a:pPr lvl="2"/>
            <a:r>
              <a:rPr lang="en-CA" dirty="0" smtClean="0"/>
              <a:t>Helps detect corruption in file system structures</a:t>
            </a:r>
          </a:p>
          <a:p>
            <a:pPr lvl="2"/>
            <a:r>
              <a:rPr lang="en-CA" dirty="0"/>
              <a:t>Helps reduce error propagation, and further </a:t>
            </a:r>
            <a:r>
              <a:rPr lang="en-CA" dirty="0" smtClean="0"/>
              <a:t>corruption</a:t>
            </a:r>
          </a:p>
          <a:p>
            <a:pPr lvl="2"/>
            <a:endParaRPr lang="en-CA" dirty="0" smtClean="0"/>
          </a:p>
          <a:p>
            <a:r>
              <a:rPr lang="en-CA" dirty="0" smtClean="0"/>
              <a:t>Simplify </a:t>
            </a:r>
            <a:r>
              <a:rPr lang="en-CA" dirty="0"/>
              <a:t>development of file-system aware applications</a:t>
            </a:r>
          </a:p>
          <a:p>
            <a:pPr lvl="1"/>
            <a:r>
              <a:rPr lang="en-CA" dirty="0"/>
              <a:t>Reduce file-system specific code</a:t>
            </a:r>
          </a:p>
          <a:p>
            <a:pPr lvl="1"/>
            <a:r>
              <a:rPr lang="en-CA" dirty="0"/>
              <a:t>Enable code reuse across file systems</a:t>
            </a:r>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Approach</a:t>
            </a:r>
            <a:endParaRPr lang="en-CA" dirty="0"/>
          </a:p>
        </p:txBody>
      </p:sp>
      <p:sp>
        <p:nvSpPr>
          <p:cNvPr id="3" name="Content Placeholder 2"/>
          <p:cNvSpPr>
            <a:spLocks noGrp="1"/>
          </p:cNvSpPr>
          <p:nvPr>
            <p:ph idx="1"/>
          </p:nvPr>
        </p:nvSpPr>
        <p:spPr/>
        <p:txBody>
          <a:bodyPr>
            <a:normAutofit lnSpcReduction="10000"/>
          </a:bodyPr>
          <a:lstStyle/>
          <a:p>
            <a:r>
              <a:rPr lang="en-CA" dirty="0" smtClean="0"/>
              <a:t>Enable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a:t>
            </a:r>
            <a:r>
              <a:rPr lang="en-CA" dirty="0"/>
              <a:t>structure definitions in </a:t>
            </a:r>
            <a:r>
              <a:rPr lang="en-CA" dirty="0" smtClean="0"/>
              <a:t>source files are </a:t>
            </a:r>
            <a:r>
              <a:rPr lang="en-CA" i="1" dirty="0"/>
              <a:t>incomplete</a:t>
            </a:r>
          </a:p>
          <a:p>
            <a:pPr lvl="1"/>
            <a:r>
              <a:rPr lang="en-CA" dirty="0"/>
              <a:t>E.g., </a:t>
            </a:r>
            <a:r>
              <a:rPr lang="en-CA" sz="1800" dirty="0" err="1">
                <a:solidFill>
                  <a:srgbClr val="002060"/>
                </a:solidFill>
                <a:latin typeface="Courier New" panose="02070309020205020404" pitchFamily="49" charset="0"/>
                <a:cs typeface="Courier New" panose="02070309020205020404" pitchFamily="49" charset="0"/>
              </a:rPr>
              <a:t>struct</a:t>
            </a:r>
            <a:r>
              <a:rPr lang="en-CA" sz="1800" dirty="0">
                <a:latin typeface="Courier New" panose="02070309020205020404" pitchFamily="49" charset="0"/>
                <a:cs typeface="Courier New" panose="02070309020205020404" pitchFamily="49" charset="0"/>
              </a:rPr>
              <a:t> foo {</a:t>
            </a:r>
            <a:br>
              <a:rPr lang="en-CA" sz="1800" dirty="0">
                <a:latin typeface="Courier New" panose="02070309020205020404" pitchFamily="49" charset="0"/>
                <a:cs typeface="Courier New" panose="02070309020205020404" pitchFamily="49" charset="0"/>
              </a:rPr>
            </a:br>
            <a:r>
              <a:rPr lang="en-CA" sz="1800" dirty="0">
                <a:latin typeface="Courier New" panose="02070309020205020404" pitchFamily="49" charset="0"/>
                <a:cs typeface="Courier New" panose="02070309020205020404" pitchFamily="49" charset="0"/>
              </a:rPr>
              <a:t>		     __le32 </a:t>
            </a:r>
            <a:r>
              <a:rPr lang="en-CA" sz="1800" dirty="0" err="1">
                <a:latin typeface="Courier New" panose="02070309020205020404" pitchFamily="49" charset="0"/>
                <a:cs typeface="Courier New" panose="02070309020205020404" pitchFamily="49" charset="0"/>
              </a:rPr>
              <a:t>bar_block_ptr</a:t>
            </a:r>
            <a:r>
              <a:rPr lang="en-CA" sz="1800" dirty="0">
                <a:latin typeface="Courier New" panose="02070309020205020404" pitchFamily="49" charset="0"/>
                <a:cs typeface="Courier New" panose="02070309020205020404" pitchFamily="49" charset="0"/>
              </a:rPr>
              <a:t>;</a:t>
            </a:r>
            <a:br>
              <a:rPr lang="en-CA" sz="1800" dirty="0">
                <a:latin typeface="Courier New" panose="02070309020205020404" pitchFamily="49" charset="0"/>
                <a:cs typeface="Courier New" panose="02070309020205020404" pitchFamily="49" charset="0"/>
              </a:rPr>
            </a:br>
            <a:r>
              <a:rPr lang="en-CA" sz="1800" dirty="0">
                <a:latin typeface="Courier New" panose="02070309020205020404" pitchFamily="49" charset="0"/>
                <a:cs typeface="Courier New" panose="02070309020205020404" pitchFamily="49" charset="0"/>
              </a:rPr>
              <a:t>    };</a:t>
            </a:r>
          </a:p>
          <a:p>
            <a:pPr lvl="2"/>
            <a:r>
              <a:rPr lang="en-CA" dirty="0" err="1" smtClean="0">
                <a:cs typeface="Courier New" panose="02070309020205020404" pitchFamily="49" charset="0"/>
              </a:rPr>
              <a:t>bar_block_ptr</a:t>
            </a:r>
            <a:r>
              <a:rPr lang="en-CA" dirty="0" smtClean="0">
                <a:cs typeface="Courier New" panose="02070309020205020404" pitchFamily="49" charset="0"/>
              </a:rPr>
              <a:t> is </a:t>
            </a:r>
            <a:r>
              <a:rPr lang="en-CA" dirty="0">
                <a:cs typeface="Courier New" panose="02070309020205020404" pitchFamily="49" charset="0"/>
              </a:rPr>
              <a:t>“probably” a 32-bit pointer to type “</a:t>
            </a:r>
            <a:r>
              <a:rPr lang="en-CA" dirty="0" err="1">
                <a:cs typeface="Courier New" panose="02070309020205020404" pitchFamily="49" charset="0"/>
              </a:rPr>
              <a:t>bar_block</a:t>
            </a:r>
            <a:r>
              <a:rPr lang="en-CA" dirty="0">
                <a:cs typeface="Courier New" panose="02070309020205020404" pitchFamily="49" charset="0"/>
              </a:rPr>
              <a:t>”</a:t>
            </a:r>
          </a:p>
          <a:p>
            <a:pPr lvl="2"/>
            <a:r>
              <a:rPr lang="en-CA" dirty="0">
                <a:cs typeface="Courier New" panose="02070309020205020404" pitchFamily="49" charset="0"/>
              </a:rPr>
              <a:t>However, </a:t>
            </a:r>
            <a:r>
              <a:rPr lang="en-CA" dirty="0" smtClean="0">
                <a:cs typeface="Courier New" panose="02070309020205020404" pitchFamily="49" charset="0"/>
              </a:rPr>
              <a:t>parser cannot </a:t>
            </a:r>
            <a:r>
              <a:rPr lang="en-CA" dirty="0">
                <a:cs typeface="Courier New" panose="02070309020205020404" pitchFamily="49" charset="0"/>
              </a:rPr>
              <a:t>deduce this from structure </a:t>
            </a:r>
            <a:r>
              <a:rPr lang="en-CA" dirty="0" smtClean="0">
                <a:cs typeface="Courier New" panose="02070309020205020404" pitchFamily="49" charset="0"/>
              </a:rPr>
              <a:t>definition</a:t>
            </a:r>
            <a:endParaRPr lang="en-CA" dirty="0">
              <a:cs typeface="Courier New" panose="02070309020205020404" pitchFamily="49" charset="0"/>
            </a:endParaRPr>
          </a:p>
          <a:p>
            <a:r>
              <a:rPr lang="en-CA" dirty="0" smtClean="0"/>
              <a:t>Solution</a:t>
            </a:r>
            <a:endParaRPr lang="en-CA" dirty="0"/>
          </a:p>
          <a:p>
            <a:pPr lvl="1"/>
            <a:r>
              <a:rPr lang="en-CA" dirty="0"/>
              <a:t>Annotate existing </a:t>
            </a:r>
            <a:r>
              <a:rPr lang="en-CA" dirty="0" smtClean="0"/>
              <a:t>sources </a:t>
            </a:r>
            <a:r>
              <a:rPr lang="en-CA" dirty="0"/>
              <a:t>to specify missing information</a:t>
            </a:r>
          </a:p>
          <a:p>
            <a:endParaRPr lang="en-CA" dirty="0">
              <a:cs typeface="Courier New" panose="02070309020205020404" pitchFamily="49" charset="0"/>
            </a:endParaRP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679370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Annotations</a:t>
            </a:r>
            <a:endParaRPr lang="en-CA" dirty="0"/>
          </a:p>
        </p:txBody>
      </p:sp>
      <p:sp>
        <p:nvSpPr>
          <p:cNvPr id="3" name="Content Placeholder 2"/>
          <p:cNvSpPr>
            <a:spLocks noGrp="1"/>
          </p:cNvSpPr>
          <p:nvPr>
            <p:ph idx="1"/>
          </p:nvPr>
        </p:nvSpPr>
        <p:spPr/>
        <p:txBody>
          <a:bodyPr/>
          <a:lstStyle/>
          <a:p>
            <a:pPr marL="514350" indent="-514350">
              <a:buFont typeface="+mj-lt"/>
              <a:buAutoNum type="arabicPeriod"/>
            </a:pPr>
            <a:r>
              <a:rPr lang="en-CA" dirty="0" smtClean="0"/>
              <a:t>File system developers specify the format of their file system</a:t>
            </a:r>
          </a:p>
          <a:p>
            <a:pPr marL="914400" lvl="1" indent="-514350"/>
            <a:r>
              <a:rPr lang="en-CA" dirty="0" smtClean="0"/>
              <a:t>Annotate metadata structures in header files of existing source code</a:t>
            </a:r>
            <a:endParaRPr lang="en-CA" dirty="0"/>
          </a:p>
          <a:p>
            <a:pPr marL="914400" lvl="1" indent="-514350"/>
            <a:endParaRPr lang="en-CA" dirty="0"/>
          </a:p>
        </p:txBody>
      </p:sp>
      <p:grpSp>
        <p:nvGrpSpPr>
          <p:cNvPr id="38" name="Group 37"/>
          <p:cNvGrpSpPr/>
          <p:nvPr/>
        </p:nvGrpSpPr>
        <p:grpSpPr>
          <a:xfrm>
            <a:off x="844305" y="2832811"/>
            <a:ext cx="9767357" cy="3222517"/>
            <a:chOff x="844305" y="2832811"/>
            <a:chExt cx="9767357" cy="3222517"/>
          </a:xfrm>
          <a:noFill/>
        </p:grpSpPr>
        <p:sp>
          <p:nvSpPr>
            <p:cNvPr id="5" name="Snip Single Corner Rectangle 4"/>
            <p:cNvSpPr/>
            <p:nvPr/>
          </p:nvSpPr>
          <p:spPr>
            <a:xfrm>
              <a:off x="2114410" y="4047345"/>
              <a:ext cx="1332000" cy="774000"/>
            </a:xfrm>
            <a:prstGeom prst="snip1Rect">
              <a:avLst>
                <a:gd name="adj" fmla="val 30778"/>
              </a:avLst>
            </a:prstGeom>
            <a:grpFill/>
            <a:ln w="25400">
              <a:solidFill>
                <a:schemeClr val="bg1"/>
              </a:solidFill>
            </a:ln>
            <a:effectLst>
              <a:glow rad="1270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126000" rtlCol="0" anchor="ctr"/>
            <a:lstStyle/>
            <a:p>
              <a:pPr algn="ctr"/>
              <a:r>
                <a:rPr lang="en-CA" sz="1600" b="1" dirty="0">
                  <a:solidFill>
                    <a:schemeClr val="bg1"/>
                  </a:solidFill>
                </a:rPr>
                <a:t>Annotated File System Structures</a:t>
              </a:r>
            </a:p>
          </p:txBody>
        </p:sp>
        <p:sp>
          <p:nvSpPr>
            <p:cNvPr id="7" name="TextBox 6"/>
            <p:cNvSpPr txBox="1"/>
            <p:nvPr/>
          </p:nvSpPr>
          <p:spPr>
            <a:xfrm>
              <a:off x="1239816" y="3252232"/>
              <a:ext cx="1329210" cy="584775"/>
            </a:xfrm>
            <a:prstGeom prst="rect">
              <a:avLst/>
            </a:prstGeom>
            <a:grpFill/>
            <a:ln w="25400">
              <a:noFill/>
            </a:ln>
          </p:spPr>
          <p:txBody>
            <a:bodyPr wrap="none" rtlCol="0">
              <a:spAutoFit/>
            </a:bodyPr>
            <a:lstStyle/>
            <a:p>
              <a:pPr algn="ctr"/>
              <a:r>
                <a:rPr lang="en-CA" sz="1600" b="1" dirty="0">
                  <a:solidFill>
                    <a:schemeClr val="bg1"/>
                  </a:solidFill>
                </a:rPr>
                <a:t>File System </a:t>
              </a:r>
            </a:p>
            <a:p>
              <a:pPr algn="ctr"/>
              <a:r>
                <a:rPr lang="en-CA" sz="1600" b="1" dirty="0">
                  <a:solidFill>
                    <a:schemeClr val="bg1"/>
                  </a:solidFill>
                </a:rPr>
                <a:t>Developer</a:t>
              </a:r>
            </a:p>
          </p:txBody>
        </p:sp>
        <p:sp>
          <p:nvSpPr>
            <p:cNvPr id="8" name="Right Arrow 7"/>
            <p:cNvSpPr/>
            <p:nvPr/>
          </p:nvSpPr>
          <p:spPr>
            <a:xfrm>
              <a:off x="1649607"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 name="Right Arrow 8"/>
            <p:cNvSpPr/>
            <p:nvPr/>
          </p:nvSpPr>
          <p:spPr>
            <a:xfrm>
              <a:off x="3594214"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 name="Rounded Rectangle 9"/>
            <p:cNvSpPr/>
            <p:nvPr/>
          </p:nvSpPr>
          <p:spPr>
            <a:xfrm>
              <a:off x="4059017" y="4047345"/>
              <a:ext cx="1080000" cy="774000"/>
            </a:xfrm>
            <a:prstGeom prst="roundRect">
              <a:avLst/>
            </a:prstGeom>
            <a:grpFill/>
            <a:ln w="254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11" name="Snip Single Corner Rectangle 10"/>
            <p:cNvSpPr/>
            <p:nvPr/>
          </p:nvSpPr>
          <p:spPr>
            <a:xfrm>
              <a:off x="7432632" y="5281328"/>
              <a:ext cx="1332000" cy="774000"/>
            </a:xfrm>
            <a:prstGeom prst="snip1Rect">
              <a:avLst>
                <a:gd name="adj" fmla="val 30778"/>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4000" tIns="0" rIns="0" bIns="144000" rtlCol="0" anchor="ctr"/>
            <a:lstStyle/>
            <a:p>
              <a:pPr algn="ctr"/>
              <a:r>
                <a:rPr lang="en-CA" sz="1600" dirty="0">
                  <a:solidFill>
                    <a:schemeClr val="bg1"/>
                  </a:solidFill>
                </a:rPr>
                <a:t>Generic </a:t>
              </a:r>
              <a:r>
                <a:rPr lang="en-CA" sz="1600" dirty="0" smtClean="0">
                  <a:solidFill>
                    <a:schemeClr val="bg1"/>
                  </a:solidFill>
                </a:rPr>
                <a:t>Application</a:t>
              </a:r>
              <a:endParaRPr lang="en-CA" sz="1600" dirty="0">
                <a:solidFill>
                  <a:schemeClr val="bg1"/>
                </a:solidFill>
              </a:endParaRPr>
            </a:p>
          </p:txBody>
        </p:sp>
        <p:sp>
          <p:nvSpPr>
            <p:cNvPr id="13" name="Snip Single Corner Rectangle 12"/>
            <p:cNvSpPr/>
            <p:nvPr/>
          </p:nvSpPr>
          <p:spPr>
            <a:xfrm>
              <a:off x="7432632" y="2832811"/>
              <a:ext cx="1332000" cy="774000"/>
            </a:xfrm>
            <a:prstGeom prst="snip1Rect">
              <a:avLst>
                <a:gd name="adj" fmla="val 30778"/>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144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14" name="Right Arrow 13"/>
            <p:cNvSpPr/>
            <p:nvPr/>
          </p:nvSpPr>
          <p:spPr>
            <a:xfrm rot="5400000">
              <a:off x="7946907" y="4911095"/>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5" name="Rectangle 14"/>
            <p:cNvSpPr/>
            <p:nvPr/>
          </p:nvSpPr>
          <p:spPr>
            <a:xfrm>
              <a:off x="5751627" y="4047345"/>
              <a:ext cx="1224000" cy="774000"/>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16" name="Right Arrow 15"/>
            <p:cNvSpPr/>
            <p:nvPr/>
          </p:nvSpPr>
          <p:spPr>
            <a:xfrm>
              <a:off x="5286822"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7" name="Rectangle 16"/>
            <p:cNvSpPr/>
            <p:nvPr/>
          </p:nvSpPr>
          <p:spPr>
            <a:xfrm>
              <a:off x="9292902" y="4099894"/>
              <a:ext cx="1318760" cy="636797"/>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grpSp>
          <p:nvGrpSpPr>
            <p:cNvPr id="36" name="Group 35"/>
            <p:cNvGrpSpPr/>
            <p:nvPr/>
          </p:nvGrpSpPr>
          <p:grpSpPr>
            <a:xfrm>
              <a:off x="844305" y="3544620"/>
              <a:ext cx="657498" cy="1188370"/>
              <a:chOff x="1323407" y="3472195"/>
              <a:chExt cx="657498" cy="1188370"/>
            </a:xfrm>
            <a:grpFill/>
          </p:grpSpPr>
          <p:sp>
            <p:nvSpPr>
              <p:cNvPr id="6" name="Smiley Face 5"/>
              <p:cNvSpPr/>
              <p:nvPr/>
            </p:nvSpPr>
            <p:spPr>
              <a:xfrm>
                <a:off x="1323407" y="4031169"/>
                <a:ext cx="657498" cy="629396"/>
              </a:xfrm>
              <a:prstGeom prst="smileyFace">
                <a:avLst/>
              </a:prstGeom>
              <a:grpFill/>
              <a:ln w="25400">
                <a:solidFill>
                  <a:schemeClr val="bg1"/>
                </a:solidFill>
              </a:ln>
              <a:effectLst>
                <a:glow rad="1270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8" name="Isosceles Triangle 17"/>
              <p:cNvSpPr/>
              <p:nvPr/>
            </p:nvSpPr>
            <p:spPr>
              <a:xfrm>
                <a:off x="1439539" y="3472195"/>
                <a:ext cx="415041" cy="640458"/>
              </a:xfrm>
              <a:prstGeom prst="triangle">
                <a:avLst/>
              </a:prstGeom>
              <a:solidFill>
                <a:schemeClr val="accent6"/>
              </a:solidFill>
              <a:ln w="25400">
                <a:solidFill>
                  <a:schemeClr val="accent6"/>
                </a:solidFill>
              </a:ln>
              <a:effectLst>
                <a:glow rad="1270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19" name="Right Arrow 18"/>
            <p:cNvSpPr/>
            <p:nvPr/>
          </p:nvSpPr>
          <p:spPr>
            <a:xfrm rot="18900000">
              <a:off x="7054852" y="3727351"/>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0" name="Right Arrow 19"/>
            <p:cNvSpPr/>
            <p:nvPr/>
          </p:nvSpPr>
          <p:spPr>
            <a:xfrm rot="16200000">
              <a:off x="7946907" y="3721899"/>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1" name="Right Arrow 20"/>
            <p:cNvSpPr/>
            <p:nvPr/>
          </p:nvSpPr>
          <p:spPr>
            <a:xfrm rot="18900000">
              <a:off x="8859377" y="4916548"/>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2" name="Right Arrow 21"/>
            <p:cNvSpPr/>
            <p:nvPr/>
          </p:nvSpPr>
          <p:spPr>
            <a:xfrm rot="2700000">
              <a:off x="8866151" y="3721898"/>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3" name="Rectangle 22"/>
            <p:cNvSpPr/>
            <p:nvPr/>
          </p:nvSpPr>
          <p:spPr>
            <a:xfrm>
              <a:off x="5709658" y="5281328"/>
              <a:ext cx="1260000" cy="774000"/>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24" name="Right Arrow 23"/>
            <p:cNvSpPr/>
            <p:nvPr/>
          </p:nvSpPr>
          <p:spPr>
            <a:xfrm>
              <a:off x="7054852" y="5473906"/>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5" name="Right Arrow 24"/>
            <p:cNvSpPr/>
            <p:nvPr/>
          </p:nvSpPr>
          <p:spPr>
            <a:xfrm rot="16200000">
              <a:off x="6187933" y="4911096"/>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nvGrpSpPr>
            <p:cNvPr id="26" name="Group 25"/>
            <p:cNvGrpSpPr/>
            <p:nvPr/>
          </p:nvGrpSpPr>
          <p:grpSpPr>
            <a:xfrm>
              <a:off x="7769883" y="4070268"/>
              <a:ext cx="657498" cy="662722"/>
              <a:chOff x="5537128" y="1815138"/>
              <a:chExt cx="540000" cy="568593"/>
            </a:xfrm>
            <a:grpFill/>
          </p:grpSpPr>
          <p:sp>
            <p:nvSpPr>
              <p:cNvPr id="27" name="Smiley Face 26"/>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8" name="Cloud 27"/>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9" name="Cloud 28"/>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grpSp>
          <p:nvGrpSpPr>
            <p:cNvPr id="37" name="Group 36"/>
            <p:cNvGrpSpPr/>
            <p:nvPr/>
          </p:nvGrpSpPr>
          <p:grpSpPr>
            <a:xfrm>
              <a:off x="2580393" y="5322308"/>
              <a:ext cx="2021395" cy="707886"/>
              <a:chOff x="2381222" y="5249882"/>
              <a:chExt cx="2021395" cy="707886"/>
            </a:xfrm>
            <a:grpFill/>
          </p:grpSpPr>
          <p:sp>
            <p:nvSpPr>
              <p:cNvPr id="12" name="TextBox 11"/>
              <p:cNvSpPr txBox="1"/>
              <p:nvPr/>
            </p:nvSpPr>
            <p:spPr>
              <a:xfrm>
                <a:off x="2951578" y="5371950"/>
                <a:ext cx="1451039" cy="584775"/>
              </a:xfrm>
              <a:prstGeom prst="rect">
                <a:avLst/>
              </a:prstGeom>
              <a:grpFill/>
              <a:ln w="25400">
                <a:noFill/>
              </a:ln>
            </p:spPr>
            <p:txBody>
              <a:bodyPr wrap="none" rtlCol="0">
                <a:spAutoFit/>
              </a:bodyPr>
              <a:lstStyle/>
              <a:p>
                <a:r>
                  <a:rPr lang="en-CA" sz="1600" dirty="0">
                    <a:solidFill>
                      <a:schemeClr val="bg1"/>
                    </a:solidFill>
                  </a:rPr>
                  <a:t> Application</a:t>
                </a:r>
              </a:p>
              <a:p>
                <a:pPr algn="ctr"/>
                <a:r>
                  <a:rPr lang="en-CA" sz="1600" dirty="0">
                    <a:solidFill>
                      <a:schemeClr val="bg1"/>
                    </a:solidFill>
                  </a:rPr>
                  <a:t>Programmer</a:t>
                </a:r>
              </a:p>
            </p:txBody>
          </p:sp>
          <p:grpSp>
            <p:nvGrpSpPr>
              <p:cNvPr id="30" name="Group 29"/>
              <p:cNvGrpSpPr>
                <a:grpSpLocks noChangeAspect="1"/>
              </p:cNvGrpSpPr>
              <p:nvPr/>
            </p:nvGrpSpPr>
            <p:grpSpPr>
              <a:xfrm>
                <a:off x="2381222" y="5449703"/>
                <a:ext cx="416936" cy="420246"/>
                <a:chOff x="5537128" y="1815138"/>
                <a:chExt cx="540000" cy="568593"/>
              </a:xfrm>
              <a:grpFill/>
            </p:grpSpPr>
            <p:sp>
              <p:nvSpPr>
                <p:cNvPr id="31" name="Smiley Face 30"/>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32" name="Cloud 31"/>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33" name="Cloud 32"/>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34" name="TextBox 33"/>
              <p:cNvSpPr txBox="1"/>
              <p:nvPr/>
            </p:nvSpPr>
            <p:spPr>
              <a:xfrm>
                <a:off x="2759312" y="5249882"/>
                <a:ext cx="327334" cy="707886"/>
              </a:xfrm>
              <a:prstGeom prst="rect">
                <a:avLst/>
              </a:prstGeom>
              <a:grpFill/>
              <a:ln w="25400">
                <a:noFill/>
              </a:ln>
            </p:spPr>
            <p:txBody>
              <a:bodyPr wrap="none" rtlCol="0">
                <a:spAutoFit/>
              </a:bodyPr>
              <a:lstStyle/>
              <a:p>
                <a:r>
                  <a:rPr lang="en-CA" sz="4000" dirty="0">
                    <a:solidFill>
                      <a:schemeClr val="bg1"/>
                    </a:solidFill>
                  </a:rPr>
                  <a:t>:</a:t>
                </a:r>
              </a:p>
            </p:txBody>
          </p:sp>
        </p:grpSp>
      </p:gr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Library</a:t>
            </a:r>
            <a:endParaRPr lang="en-CA" dirty="0"/>
          </a:p>
        </p:txBody>
      </p:sp>
      <p:sp>
        <p:nvSpPr>
          <p:cNvPr id="3" name="Content Placeholder 2"/>
          <p:cNvSpPr>
            <a:spLocks noGrp="1"/>
          </p:cNvSpPr>
          <p:nvPr>
            <p:ph idx="1"/>
          </p:nvPr>
        </p:nvSpPr>
        <p:spPr/>
        <p:txBody>
          <a:bodyPr/>
          <a:lstStyle/>
          <a:p>
            <a:pPr marL="514350" indent="-514350">
              <a:buFont typeface="+mj-lt"/>
              <a:buAutoNum type="arabicPeriod" startAt="2"/>
            </a:pPr>
            <a:r>
              <a:rPr lang="en-CA" dirty="0" smtClean="0"/>
              <a:t>Spiffy compiler processes annotated metadata structures</a:t>
            </a:r>
          </a:p>
          <a:p>
            <a:pPr marL="914400" lvl="1" indent="-514350"/>
            <a:r>
              <a:rPr lang="en-CA" dirty="0" smtClean="0"/>
              <a:t>Generates Spiffy library for type-safe parsing</a:t>
            </a:r>
            <a:r>
              <a:rPr lang="en-CA" dirty="0"/>
              <a:t>, traversal and </a:t>
            </a:r>
            <a:r>
              <a:rPr lang="en-CA" dirty="0" smtClean="0"/>
              <a:t>serialization of file system structures</a:t>
            </a:r>
          </a:p>
        </p:txBody>
      </p:sp>
      <p:grpSp>
        <p:nvGrpSpPr>
          <p:cNvPr id="69" name="Group 68"/>
          <p:cNvGrpSpPr/>
          <p:nvPr/>
        </p:nvGrpSpPr>
        <p:grpSpPr>
          <a:xfrm>
            <a:off x="844305" y="2832811"/>
            <a:ext cx="9767357" cy="3222517"/>
            <a:chOff x="844305" y="2832811"/>
            <a:chExt cx="9767357" cy="3222517"/>
          </a:xfrm>
          <a:noFill/>
        </p:grpSpPr>
        <p:sp>
          <p:nvSpPr>
            <p:cNvPr id="70" name="Snip Single Corner Rectangle 69"/>
            <p:cNvSpPr/>
            <p:nvPr/>
          </p:nvSpPr>
          <p:spPr>
            <a:xfrm>
              <a:off x="2114410" y="4047345"/>
              <a:ext cx="1332000" cy="774000"/>
            </a:xfrm>
            <a:prstGeom prst="snip1Rect">
              <a:avLst>
                <a:gd name="adj" fmla="val 30778"/>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126000" rtlCol="0" anchor="ctr"/>
            <a:lstStyle/>
            <a:p>
              <a:pPr algn="ctr"/>
              <a:r>
                <a:rPr lang="en-CA" sz="1600" b="1" dirty="0">
                  <a:solidFill>
                    <a:schemeClr val="bg1"/>
                  </a:solidFill>
                </a:rPr>
                <a:t>Annotated File System Structures</a:t>
              </a:r>
            </a:p>
          </p:txBody>
        </p:sp>
        <p:sp>
          <p:nvSpPr>
            <p:cNvPr id="71" name="TextBox 70"/>
            <p:cNvSpPr txBox="1"/>
            <p:nvPr/>
          </p:nvSpPr>
          <p:spPr>
            <a:xfrm>
              <a:off x="1239816" y="3252232"/>
              <a:ext cx="1329210" cy="584775"/>
            </a:xfrm>
            <a:prstGeom prst="rect">
              <a:avLst/>
            </a:prstGeom>
            <a:grpFill/>
            <a:ln w="25400">
              <a:noFill/>
            </a:ln>
          </p:spPr>
          <p:txBody>
            <a:bodyPr wrap="none" rtlCol="0">
              <a:spAutoFit/>
            </a:bodyPr>
            <a:lstStyle/>
            <a:p>
              <a:pPr algn="ctr"/>
              <a:r>
                <a:rPr lang="en-CA" sz="1600" dirty="0">
                  <a:solidFill>
                    <a:schemeClr val="bg1"/>
                  </a:solidFill>
                </a:rPr>
                <a:t>File System </a:t>
              </a:r>
            </a:p>
            <a:p>
              <a:pPr algn="ctr"/>
              <a:r>
                <a:rPr lang="en-CA" sz="1600" dirty="0">
                  <a:solidFill>
                    <a:schemeClr val="bg1"/>
                  </a:solidFill>
                </a:rPr>
                <a:t>Developer</a:t>
              </a:r>
            </a:p>
          </p:txBody>
        </p:sp>
        <p:sp>
          <p:nvSpPr>
            <p:cNvPr id="72" name="Right Arrow 71"/>
            <p:cNvSpPr/>
            <p:nvPr/>
          </p:nvSpPr>
          <p:spPr>
            <a:xfrm>
              <a:off x="1649607"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3" name="Right Arrow 72"/>
            <p:cNvSpPr/>
            <p:nvPr/>
          </p:nvSpPr>
          <p:spPr>
            <a:xfrm>
              <a:off x="3594214"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4" name="Rounded Rectangle 73"/>
            <p:cNvSpPr/>
            <p:nvPr/>
          </p:nvSpPr>
          <p:spPr>
            <a:xfrm>
              <a:off x="4059017" y="4047345"/>
              <a:ext cx="1080000" cy="774000"/>
            </a:xfrm>
            <a:prstGeom prst="roundRect">
              <a:avLst/>
            </a:prstGeom>
            <a:grpFill/>
            <a:ln w="25400" cmpd="dbl">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b="1" dirty="0">
                  <a:solidFill>
                    <a:schemeClr val="bg1"/>
                  </a:solidFill>
                </a:rPr>
                <a:t>Spiffy Compiler</a:t>
              </a:r>
            </a:p>
          </p:txBody>
        </p:sp>
        <p:sp>
          <p:nvSpPr>
            <p:cNvPr id="75" name="Snip Single Corner Rectangle 74"/>
            <p:cNvSpPr/>
            <p:nvPr/>
          </p:nvSpPr>
          <p:spPr>
            <a:xfrm>
              <a:off x="7432632" y="5281328"/>
              <a:ext cx="1332000" cy="774000"/>
            </a:xfrm>
            <a:prstGeom prst="snip1Rect">
              <a:avLst>
                <a:gd name="adj" fmla="val 30778"/>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4000" tIns="0" rIns="0" bIns="144000" rtlCol="0" anchor="ctr"/>
            <a:lstStyle/>
            <a:p>
              <a:pPr algn="ctr"/>
              <a:r>
                <a:rPr lang="en-CA" sz="1600" dirty="0">
                  <a:solidFill>
                    <a:schemeClr val="bg1"/>
                  </a:solidFill>
                </a:rPr>
                <a:t>Generic </a:t>
              </a:r>
              <a:r>
                <a:rPr lang="en-CA" sz="1600" dirty="0" smtClean="0">
                  <a:solidFill>
                    <a:schemeClr val="bg1"/>
                  </a:solidFill>
                </a:rPr>
                <a:t>Application</a:t>
              </a:r>
              <a:endParaRPr lang="en-CA" sz="1600" dirty="0">
                <a:solidFill>
                  <a:schemeClr val="bg1"/>
                </a:solidFill>
              </a:endParaRPr>
            </a:p>
          </p:txBody>
        </p:sp>
        <p:sp>
          <p:nvSpPr>
            <p:cNvPr id="76" name="Snip Single Corner Rectangle 75"/>
            <p:cNvSpPr/>
            <p:nvPr/>
          </p:nvSpPr>
          <p:spPr>
            <a:xfrm>
              <a:off x="7432632" y="2832811"/>
              <a:ext cx="1332000" cy="774000"/>
            </a:xfrm>
            <a:prstGeom prst="snip1Rect">
              <a:avLst>
                <a:gd name="adj" fmla="val 30778"/>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144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77" name="Right Arrow 76"/>
            <p:cNvSpPr/>
            <p:nvPr/>
          </p:nvSpPr>
          <p:spPr>
            <a:xfrm rot="5400000">
              <a:off x="7946907" y="4911095"/>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8" name="Rectangle 77"/>
            <p:cNvSpPr/>
            <p:nvPr/>
          </p:nvSpPr>
          <p:spPr>
            <a:xfrm>
              <a:off x="5751627" y="4047345"/>
              <a:ext cx="1224000" cy="774000"/>
            </a:xfrm>
            <a:prstGeom prst="rect">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b="1" dirty="0" smtClean="0">
                  <a:solidFill>
                    <a:schemeClr val="bg1"/>
                  </a:solidFill>
                </a:rPr>
                <a:t>File </a:t>
              </a:r>
              <a:r>
                <a:rPr lang="en-CA" sz="1600" b="1" dirty="0">
                  <a:solidFill>
                    <a:schemeClr val="bg1"/>
                  </a:solidFill>
                </a:rPr>
                <a:t>System Library</a:t>
              </a:r>
            </a:p>
          </p:txBody>
        </p:sp>
        <p:sp>
          <p:nvSpPr>
            <p:cNvPr id="79" name="Right Arrow 78"/>
            <p:cNvSpPr/>
            <p:nvPr/>
          </p:nvSpPr>
          <p:spPr>
            <a:xfrm>
              <a:off x="5286822"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0" name="Rectangle 79"/>
            <p:cNvSpPr/>
            <p:nvPr/>
          </p:nvSpPr>
          <p:spPr>
            <a:xfrm>
              <a:off x="9292902" y="4099894"/>
              <a:ext cx="1318760" cy="636797"/>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grpSp>
          <p:nvGrpSpPr>
            <p:cNvPr id="81" name="Group 80"/>
            <p:cNvGrpSpPr/>
            <p:nvPr/>
          </p:nvGrpSpPr>
          <p:grpSpPr>
            <a:xfrm>
              <a:off x="844305" y="3544620"/>
              <a:ext cx="657498" cy="1188370"/>
              <a:chOff x="1323407" y="3472195"/>
              <a:chExt cx="657498" cy="1188370"/>
            </a:xfrm>
            <a:grpFill/>
          </p:grpSpPr>
          <p:sp>
            <p:nvSpPr>
              <p:cNvPr id="100" name="Smiley Face 99"/>
              <p:cNvSpPr/>
              <p:nvPr/>
            </p:nvSpPr>
            <p:spPr>
              <a:xfrm>
                <a:off x="1323407" y="4031169"/>
                <a:ext cx="657498" cy="629396"/>
              </a:xfrm>
              <a:prstGeom prst="smileyFace">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1" name="Isosceles Triangle 100"/>
              <p:cNvSpPr/>
              <p:nvPr/>
            </p:nvSpPr>
            <p:spPr>
              <a:xfrm>
                <a:off x="1439539" y="3472195"/>
                <a:ext cx="415041" cy="640458"/>
              </a:xfrm>
              <a:prstGeom prst="triangle">
                <a:avLst/>
              </a:prstGeom>
              <a:solidFill>
                <a:schemeClr val="accent6"/>
              </a:solidFill>
              <a:ln w="25400">
                <a:solidFill>
                  <a:schemeClr val="accent6"/>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82" name="Right Arrow 81"/>
            <p:cNvSpPr/>
            <p:nvPr/>
          </p:nvSpPr>
          <p:spPr>
            <a:xfrm rot="18900000">
              <a:off x="7054852" y="3727351"/>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3" name="Right Arrow 82"/>
            <p:cNvSpPr/>
            <p:nvPr/>
          </p:nvSpPr>
          <p:spPr>
            <a:xfrm rot="16200000">
              <a:off x="7946907" y="3721899"/>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4" name="Right Arrow 83"/>
            <p:cNvSpPr/>
            <p:nvPr/>
          </p:nvSpPr>
          <p:spPr>
            <a:xfrm rot="18900000">
              <a:off x="8859377" y="4916548"/>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5" name="Right Arrow 84"/>
            <p:cNvSpPr/>
            <p:nvPr/>
          </p:nvSpPr>
          <p:spPr>
            <a:xfrm rot="2700000">
              <a:off x="8866151" y="3721898"/>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6" name="Rectangle 85"/>
            <p:cNvSpPr/>
            <p:nvPr/>
          </p:nvSpPr>
          <p:spPr>
            <a:xfrm>
              <a:off x="5709658" y="5281328"/>
              <a:ext cx="1260000" cy="774000"/>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87" name="Right Arrow 86"/>
            <p:cNvSpPr/>
            <p:nvPr/>
          </p:nvSpPr>
          <p:spPr>
            <a:xfrm>
              <a:off x="7054852" y="5473906"/>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8" name="Right Arrow 87"/>
            <p:cNvSpPr/>
            <p:nvPr/>
          </p:nvSpPr>
          <p:spPr>
            <a:xfrm rot="16200000">
              <a:off x="6187933" y="4911096"/>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nvGrpSpPr>
            <p:cNvPr id="89" name="Group 88"/>
            <p:cNvGrpSpPr/>
            <p:nvPr/>
          </p:nvGrpSpPr>
          <p:grpSpPr>
            <a:xfrm>
              <a:off x="7769883" y="4070268"/>
              <a:ext cx="657498" cy="662722"/>
              <a:chOff x="5537128" y="1815138"/>
              <a:chExt cx="540000" cy="568593"/>
            </a:xfrm>
            <a:grpFill/>
          </p:grpSpPr>
          <p:sp>
            <p:nvSpPr>
              <p:cNvPr id="97" name="Smiley Face 96"/>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8" name="Cloud 97"/>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9" name="Cloud 98"/>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grpSp>
          <p:nvGrpSpPr>
            <p:cNvPr id="90" name="Group 89"/>
            <p:cNvGrpSpPr/>
            <p:nvPr/>
          </p:nvGrpSpPr>
          <p:grpSpPr>
            <a:xfrm>
              <a:off x="2580393" y="5322308"/>
              <a:ext cx="2021395" cy="707886"/>
              <a:chOff x="2381222" y="5249882"/>
              <a:chExt cx="2021395" cy="707886"/>
            </a:xfrm>
            <a:grpFill/>
          </p:grpSpPr>
          <p:sp>
            <p:nvSpPr>
              <p:cNvPr id="91" name="TextBox 90"/>
              <p:cNvSpPr txBox="1"/>
              <p:nvPr/>
            </p:nvSpPr>
            <p:spPr>
              <a:xfrm>
                <a:off x="2951578" y="5371950"/>
                <a:ext cx="1451039" cy="584775"/>
              </a:xfrm>
              <a:prstGeom prst="rect">
                <a:avLst/>
              </a:prstGeom>
              <a:grpFill/>
              <a:ln w="25400">
                <a:noFill/>
              </a:ln>
            </p:spPr>
            <p:txBody>
              <a:bodyPr wrap="none" rtlCol="0">
                <a:spAutoFit/>
              </a:bodyPr>
              <a:lstStyle/>
              <a:p>
                <a:r>
                  <a:rPr lang="en-CA" sz="1600" dirty="0">
                    <a:solidFill>
                      <a:schemeClr val="bg1"/>
                    </a:solidFill>
                  </a:rPr>
                  <a:t> Application</a:t>
                </a:r>
              </a:p>
              <a:p>
                <a:pPr algn="ctr"/>
                <a:r>
                  <a:rPr lang="en-CA" sz="1600" dirty="0">
                    <a:solidFill>
                      <a:schemeClr val="bg1"/>
                    </a:solidFill>
                  </a:rPr>
                  <a:t>Programmer</a:t>
                </a:r>
              </a:p>
            </p:txBody>
          </p:sp>
          <p:grpSp>
            <p:nvGrpSpPr>
              <p:cNvPr id="92" name="Group 91"/>
              <p:cNvGrpSpPr>
                <a:grpSpLocks noChangeAspect="1"/>
              </p:cNvGrpSpPr>
              <p:nvPr/>
            </p:nvGrpSpPr>
            <p:grpSpPr>
              <a:xfrm>
                <a:off x="2381222" y="5449703"/>
                <a:ext cx="416936" cy="420246"/>
                <a:chOff x="5537128" y="1815138"/>
                <a:chExt cx="540000" cy="568593"/>
              </a:xfrm>
              <a:grpFill/>
            </p:grpSpPr>
            <p:sp>
              <p:nvSpPr>
                <p:cNvPr id="94" name="Smiley Face 93"/>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5" name="Cloud 94"/>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6" name="Cloud 95"/>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93" name="TextBox 92"/>
              <p:cNvSpPr txBox="1"/>
              <p:nvPr/>
            </p:nvSpPr>
            <p:spPr>
              <a:xfrm>
                <a:off x="2759312" y="5249882"/>
                <a:ext cx="327334" cy="707886"/>
              </a:xfrm>
              <a:prstGeom prst="rect">
                <a:avLst/>
              </a:prstGeom>
              <a:grpFill/>
              <a:ln w="25400">
                <a:noFill/>
              </a:ln>
            </p:spPr>
            <p:txBody>
              <a:bodyPr wrap="none" rtlCol="0">
                <a:spAutoFit/>
              </a:bodyPr>
              <a:lstStyle/>
              <a:p>
                <a:r>
                  <a:rPr lang="en-CA" sz="4000" dirty="0">
                    <a:solidFill>
                      <a:schemeClr val="bg1"/>
                    </a:solidFill>
                  </a:rPr>
                  <a:t>:</a:t>
                </a:r>
              </a:p>
            </p:txBody>
          </p:sp>
        </p:grpSp>
      </p:gr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pPr marL="514350" indent="-514350">
              <a:buFont typeface="+mj-lt"/>
              <a:buAutoNum type="arabicPeriod" startAt="3"/>
            </a:pPr>
            <a:r>
              <a:rPr lang="en-CA" dirty="0" smtClean="0"/>
              <a:t>Application programmer </a:t>
            </a:r>
            <a:r>
              <a:rPr lang="en-CA" dirty="0"/>
              <a:t>builds </a:t>
            </a:r>
            <a:r>
              <a:rPr lang="en-CA" dirty="0" smtClean="0"/>
              <a:t>file-system applications</a:t>
            </a:r>
          </a:p>
          <a:p>
            <a:pPr marL="914400" lvl="1" indent="-514350"/>
            <a:r>
              <a:rPr lang="en-CA" dirty="0" smtClean="0"/>
              <a:t>Uses Spiffy library to simplify the development of robust applications that work across file systems</a:t>
            </a:r>
            <a:endParaRPr lang="en-CA" dirty="0"/>
          </a:p>
        </p:txBody>
      </p:sp>
      <p:grpSp>
        <p:nvGrpSpPr>
          <p:cNvPr id="69" name="Group 68"/>
          <p:cNvGrpSpPr/>
          <p:nvPr/>
        </p:nvGrpSpPr>
        <p:grpSpPr>
          <a:xfrm>
            <a:off x="844305" y="2832811"/>
            <a:ext cx="9767357" cy="3222517"/>
            <a:chOff x="844305" y="2832811"/>
            <a:chExt cx="9767357" cy="3222517"/>
          </a:xfrm>
          <a:noFill/>
        </p:grpSpPr>
        <p:sp>
          <p:nvSpPr>
            <p:cNvPr id="70" name="Snip Single Corner Rectangle 69"/>
            <p:cNvSpPr/>
            <p:nvPr/>
          </p:nvSpPr>
          <p:spPr>
            <a:xfrm>
              <a:off x="2114410" y="4047345"/>
              <a:ext cx="1332000" cy="774000"/>
            </a:xfrm>
            <a:prstGeom prst="snip1Rect">
              <a:avLst>
                <a:gd name="adj" fmla="val 30778"/>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126000" rtlCol="0" anchor="ctr"/>
            <a:lstStyle/>
            <a:p>
              <a:pPr algn="ctr"/>
              <a:r>
                <a:rPr lang="en-CA" sz="1600" dirty="0">
                  <a:solidFill>
                    <a:schemeClr val="bg1"/>
                  </a:solidFill>
                </a:rPr>
                <a:t>Annotated File System Structures</a:t>
              </a:r>
            </a:p>
          </p:txBody>
        </p:sp>
        <p:sp>
          <p:nvSpPr>
            <p:cNvPr id="71" name="TextBox 70"/>
            <p:cNvSpPr txBox="1"/>
            <p:nvPr/>
          </p:nvSpPr>
          <p:spPr>
            <a:xfrm>
              <a:off x="1239816" y="3252232"/>
              <a:ext cx="1329210" cy="584775"/>
            </a:xfrm>
            <a:prstGeom prst="rect">
              <a:avLst/>
            </a:prstGeom>
            <a:grpFill/>
            <a:ln w="25400">
              <a:noFill/>
            </a:ln>
          </p:spPr>
          <p:txBody>
            <a:bodyPr wrap="none" rtlCol="0">
              <a:spAutoFit/>
            </a:bodyPr>
            <a:lstStyle/>
            <a:p>
              <a:pPr algn="ctr"/>
              <a:r>
                <a:rPr lang="en-CA" sz="1600" dirty="0">
                  <a:solidFill>
                    <a:schemeClr val="bg1"/>
                  </a:solidFill>
                </a:rPr>
                <a:t>File System </a:t>
              </a:r>
            </a:p>
            <a:p>
              <a:pPr algn="ctr"/>
              <a:r>
                <a:rPr lang="en-CA" sz="1600" dirty="0">
                  <a:solidFill>
                    <a:schemeClr val="bg1"/>
                  </a:solidFill>
                </a:rPr>
                <a:t>Developer</a:t>
              </a:r>
            </a:p>
          </p:txBody>
        </p:sp>
        <p:sp>
          <p:nvSpPr>
            <p:cNvPr id="72" name="Right Arrow 71"/>
            <p:cNvSpPr/>
            <p:nvPr/>
          </p:nvSpPr>
          <p:spPr>
            <a:xfrm>
              <a:off x="1649607"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3" name="Right Arrow 72"/>
            <p:cNvSpPr/>
            <p:nvPr/>
          </p:nvSpPr>
          <p:spPr>
            <a:xfrm>
              <a:off x="3594214"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4" name="Rounded Rectangle 73"/>
            <p:cNvSpPr/>
            <p:nvPr/>
          </p:nvSpPr>
          <p:spPr>
            <a:xfrm>
              <a:off x="4059017" y="4047345"/>
              <a:ext cx="1080000" cy="774000"/>
            </a:xfrm>
            <a:prstGeom prst="roundRect">
              <a:avLst/>
            </a:prstGeom>
            <a:grpFill/>
            <a:ln w="25400" cmpd="dbl">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75" name="Snip Single Corner Rectangle 74"/>
            <p:cNvSpPr/>
            <p:nvPr/>
          </p:nvSpPr>
          <p:spPr>
            <a:xfrm>
              <a:off x="7432632" y="5281328"/>
              <a:ext cx="1332000" cy="774000"/>
            </a:xfrm>
            <a:prstGeom prst="snip1Rect">
              <a:avLst>
                <a:gd name="adj" fmla="val 30778"/>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54000" tIns="0" rIns="0" bIns="144000" rtlCol="0" anchor="ctr"/>
            <a:lstStyle/>
            <a:p>
              <a:pPr algn="ctr"/>
              <a:r>
                <a:rPr lang="en-CA" sz="1600" b="1" dirty="0">
                  <a:solidFill>
                    <a:schemeClr val="bg1"/>
                  </a:solidFill>
                </a:rPr>
                <a:t>Generic </a:t>
              </a:r>
              <a:r>
                <a:rPr lang="en-CA" sz="1600" b="1" dirty="0" smtClean="0">
                  <a:solidFill>
                    <a:schemeClr val="bg1"/>
                  </a:solidFill>
                </a:rPr>
                <a:t>Application</a:t>
              </a:r>
              <a:endParaRPr lang="en-CA" sz="1600" b="1" dirty="0">
                <a:solidFill>
                  <a:schemeClr val="bg1"/>
                </a:solidFill>
              </a:endParaRPr>
            </a:p>
          </p:txBody>
        </p:sp>
        <p:sp>
          <p:nvSpPr>
            <p:cNvPr id="76" name="Snip Single Corner Rectangle 75"/>
            <p:cNvSpPr/>
            <p:nvPr/>
          </p:nvSpPr>
          <p:spPr>
            <a:xfrm>
              <a:off x="7432632" y="2832811"/>
              <a:ext cx="1332000" cy="774000"/>
            </a:xfrm>
            <a:prstGeom prst="snip1Rect">
              <a:avLst>
                <a:gd name="adj" fmla="val 30778"/>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144000" rtlCol="0" anchor="ctr"/>
            <a:lstStyle/>
            <a:p>
              <a:pPr algn="ctr"/>
              <a:r>
                <a:rPr lang="en-CA" sz="1600" b="1" dirty="0">
                  <a:solidFill>
                    <a:schemeClr val="bg1"/>
                  </a:solidFill>
                </a:rPr>
                <a:t>File </a:t>
              </a:r>
              <a:r>
                <a:rPr lang="en-CA" sz="1600" b="1" dirty="0" smtClean="0">
                  <a:solidFill>
                    <a:schemeClr val="bg1"/>
                  </a:solidFill>
                </a:rPr>
                <a:t>System </a:t>
              </a:r>
              <a:r>
                <a:rPr lang="en-CA" sz="1600" b="1" dirty="0">
                  <a:solidFill>
                    <a:schemeClr val="bg1"/>
                  </a:solidFill>
                </a:rPr>
                <a:t>Specific Policies</a:t>
              </a:r>
            </a:p>
          </p:txBody>
        </p:sp>
        <p:sp>
          <p:nvSpPr>
            <p:cNvPr id="77" name="Right Arrow 76"/>
            <p:cNvSpPr/>
            <p:nvPr/>
          </p:nvSpPr>
          <p:spPr>
            <a:xfrm rot="5400000">
              <a:off x="7946907" y="4911095"/>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8" name="Rectangle 77"/>
            <p:cNvSpPr/>
            <p:nvPr/>
          </p:nvSpPr>
          <p:spPr>
            <a:xfrm>
              <a:off x="5751627" y="4047345"/>
              <a:ext cx="1224000" cy="774000"/>
            </a:xfrm>
            <a:prstGeom prst="rect">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b="1" dirty="0" smtClean="0">
                  <a:solidFill>
                    <a:schemeClr val="bg1"/>
                  </a:solidFill>
                </a:rPr>
                <a:t>File </a:t>
              </a:r>
              <a:r>
                <a:rPr lang="en-CA" sz="1600" b="1" dirty="0">
                  <a:solidFill>
                    <a:schemeClr val="bg1"/>
                  </a:solidFill>
                </a:rPr>
                <a:t>System Library</a:t>
              </a:r>
            </a:p>
          </p:txBody>
        </p:sp>
        <p:sp>
          <p:nvSpPr>
            <p:cNvPr id="79" name="Right Arrow 78"/>
            <p:cNvSpPr/>
            <p:nvPr/>
          </p:nvSpPr>
          <p:spPr>
            <a:xfrm>
              <a:off x="5286822"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0" name="Rectangle 79"/>
            <p:cNvSpPr/>
            <p:nvPr/>
          </p:nvSpPr>
          <p:spPr>
            <a:xfrm>
              <a:off x="9292902" y="4099894"/>
              <a:ext cx="1318760" cy="636797"/>
            </a:xfrm>
            <a:prstGeom prst="rect">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b="1" dirty="0">
                  <a:solidFill>
                    <a:schemeClr val="bg1"/>
                  </a:solidFill>
                </a:rPr>
                <a:t>File System Application</a:t>
              </a:r>
            </a:p>
          </p:txBody>
        </p:sp>
        <p:grpSp>
          <p:nvGrpSpPr>
            <p:cNvPr id="81" name="Group 80"/>
            <p:cNvGrpSpPr/>
            <p:nvPr/>
          </p:nvGrpSpPr>
          <p:grpSpPr>
            <a:xfrm>
              <a:off x="844305" y="3544620"/>
              <a:ext cx="657498" cy="1188370"/>
              <a:chOff x="1323407" y="3472195"/>
              <a:chExt cx="657498" cy="1188370"/>
            </a:xfrm>
            <a:grpFill/>
          </p:grpSpPr>
          <p:sp>
            <p:nvSpPr>
              <p:cNvPr id="100" name="Smiley Face 99"/>
              <p:cNvSpPr/>
              <p:nvPr/>
            </p:nvSpPr>
            <p:spPr>
              <a:xfrm>
                <a:off x="1323407" y="4031169"/>
                <a:ext cx="657498" cy="629396"/>
              </a:xfrm>
              <a:prstGeom prst="smileyFace">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1" name="Isosceles Triangle 100"/>
              <p:cNvSpPr/>
              <p:nvPr/>
            </p:nvSpPr>
            <p:spPr>
              <a:xfrm>
                <a:off x="1439539" y="3472195"/>
                <a:ext cx="415041" cy="640458"/>
              </a:xfrm>
              <a:prstGeom prst="triangle">
                <a:avLst/>
              </a:prstGeom>
              <a:solidFill>
                <a:schemeClr val="accent6"/>
              </a:solidFill>
              <a:ln w="25400">
                <a:solidFill>
                  <a:schemeClr val="accent6"/>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82" name="Right Arrow 81"/>
            <p:cNvSpPr/>
            <p:nvPr/>
          </p:nvSpPr>
          <p:spPr>
            <a:xfrm rot="18900000">
              <a:off x="7054852" y="3727351"/>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3" name="Right Arrow 82"/>
            <p:cNvSpPr/>
            <p:nvPr/>
          </p:nvSpPr>
          <p:spPr>
            <a:xfrm rot="16200000">
              <a:off x="7946907" y="3721899"/>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4" name="Right Arrow 83"/>
            <p:cNvSpPr/>
            <p:nvPr/>
          </p:nvSpPr>
          <p:spPr>
            <a:xfrm rot="18900000">
              <a:off x="8859377" y="4916548"/>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5" name="Right Arrow 84"/>
            <p:cNvSpPr/>
            <p:nvPr/>
          </p:nvSpPr>
          <p:spPr>
            <a:xfrm rot="2700000">
              <a:off x="8866151" y="3721898"/>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6" name="Rectangle 85"/>
            <p:cNvSpPr/>
            <p:nvPr/>
          </p:nvSpPr>
          <p:spPr>
            <a:xfrm>
              <a:off x="5709658" y="5281328"/>
              <a:ext cx="1260000" cy="774000"/>
            </a:xfrm>
            <a:prstGeom prst="rect">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b="1" dirty="0">
                  <a:solidFill>
                    <a:schemeClr val="bg1"/>
                  </a:solidFill>
                </a:rPr>
                <a:t>Spiffy API</a:t>
              </a:r>
            </a:p>
          </p:txBody>
        </p:sp>
        <p:sp>
          <p:nvSpPr>
            <p:cNvPr id="87" name="Right Arrow 86"/>
            <p:cNvSpPr/>
            <p:nvPr/>
          </p:nvSpPr>
          <p:spPr>
            <a:xfrm>
              <a:off x="7054852" y="5473906"/>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8" name="Right Arrow 87"/>
            <p:cNvSpPr/>
            <p:nvPr/>
          </p:nvSpPr>
          <p:spPr>
            <a:xfrm rot="16200000">
              <a:off x="6187933" y="4911096"/>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nvGrpSpPr>
            <p:cNvPr id="89" name="Group 88"/>
            <p:cNvGrpSpPr/>
            <p:nvPr/>
          </p:nvGrpSpPr>
          <p:grpSpPr>
            <a:xfrm>
              <a:off x="7769883" y="4070268"/>
              <a:ext cx="657498" cy="662722"/>
              <a:chOff x="5537128" y="1815138"/>
              <a:chExt cx="540000" cy="568593"/>
            </a:xfrm>
            <a:grpFill/>
          </p:grpSpPr>
          <p:sp>
            <p:nvSpPr>
              <p:cNvPr id="97" name="Smiley Face 96"/>
              <p:cNvSpPr/>
              <p:nvPr/>
            </p:nvSpPr>
            <p:spPr>
              <a:xfrm>
                <a:off x="5537128" y="1843731"/>
                <a:ext cx="540000" cy="540000"/>
              </a:xfrm>
              <a:prstGeom prst="smileyFace">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8" name="Cloud 97"/>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9" name="Cloud 98"/>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grpSp>
          <p:nvGrpSpPr>
            <p:cNvPr id="90" name="Group 89"/>
            <p:cNvGrpSpPr/>
            <p:nvPr/>
          </p:nvGrpSpPr>
          <p:grpSpPr>
            <a:xfrm>
              <a:off x="2580393" y="5322308"/>
              <a:ext cx="2021395" cy="707886"/>
              <a:chOff x="2381222" y="5249882"/>
              <a:chExt cx="2021395" cy="707886"/>
            </a:xfrm>
            <a:grpFill/>
          </p:grpSpPr>
          <p:sp>
            <p:nvSpPr>
              <p:cNvPr id="91" name="TextBox 90"/>
              <p:cNvSpPr txBox="1"/>
              <p:nvPr/>
            </p:nvSpPr>
            <p:spPr>
              <a:xfrm>
                <a:off x="2951578" y="5371950"/>
                <a:ext cx="1451039" cy="584775"/>
              </a:xfrm>
              <a:prstGeom prst="rect">
                <a:avLst/>
              </a:prstGeom>
              <a:grpFill/>
              <a:ln w="25400">
                <a:noFill/>
              </a:ln>
            </p:spPr>
            <p:txBody>
              <a:bodyPr wrap="none" rtlCol="0">
                <a:spAutoFit/>
              </a:bodyPr>
              <a:lstStyle/>
              <a:p>
                <a:r>
                  <a:rPr lang="en-CA" sz="1600" dirty="0">
                    <a:solidFill>
                      <a:schemeClr val="bg1"/>
                    </a:solidFill>
                  </a:rPr>
                  <a:t> Application</a:t>
                </a:r>
              </a:p>
              <a:p>
                <a:pPr algn="ctr"/>
                <a:r>
                  <a:rPr lang="en-CA" sz="1600" dirty="0">
                    <a:solidFill>
                      <a:schemeClr val="bg1"/>
                    </a:solidFill>
                  </a:rPr>
                  <a:t>Programmer</a:t>
                </a:r>
              </a:p>
            </p:txBody>
          </p:sp>
          <p:grpSp>
            <p:nvGrpSpPr>
              <p:cNvPr id="92" name="Group 91"/>
              <p:cNvGrpSpPr>
                <a:grpSpLocks noChangeAspect="1"/>
              </p:cNvGrpSpPr>
              <p:nvPr/>
            </p:nvGrpSpPr>
            <p:grpSpPr>
              <a:xfrm>
                <a:off x="2381222" y="5449703"/>
                <a:ext cx="416936" cy="420246"/>
                <a:chOff x="5537128" y="1815138"/>
                <a:chExt cx="540000" cy="568593"/>
              </a:xfrm>
              <a:grpFill/>
            </p:grpSpPr>
            <p:sp>
              <p:nvSpPr>
                <p:cNvPr id="94" name="Smiley Face 93"/>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5" name="Cloud 94"/>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6" name="Cloud 95"/>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93" name="TextBox 92"/>
              <p:cNvSpPr txBox="1"/>
              <p:nvPr/>
            </p:nvSpPr>
            <p:spPr>
              <a:xfrm>
                <a:off x="2759312" y="5249882"/>
                <a:ext cx="327334" cy="707886"/>
              </a:xfrm>
              <a:prstGeom prst="rect">
                <a:avLst/>
              </a:prstGeom>
              <a:grpFill/>
              <a:ln w="25400">
                <a:noFill/>
              </a:ln>
            </p:spPr>
            <p:txBody>
              <a:bodyPr wrap="none" rtlCol="0">
                <a:spAutoFit/>
              </a:bodyPr>
              <a:lstStyle/>
              <a:p>
                <a:r>
                  <a:rPr lang="en-CA" sz="4000" dirty="0">
                    <a:solidFill>
                      <a:schemeClr val="bg1"/>
                    </a:solidFill>
                  </a:rPr>
                  <a:t>:</a:t>
                </a:r>
              </a:p>
            </p:txBody>
          </p:sp>
        </p:grpSp>
      </p:gr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Talk Outline</a:t>
            </a:r>
            <a:endParaRPr lang="en-CA" dirty="0"/>
          </a:p>
        </p:txBody>
      </p:sp>
      <p:sp>
        <p:nvSpPr>
          <p:cNvPr id="3" name="Content Placeholder 2"/>
          <p:cNvSpPr>
            <a:spLocks noGrp="1"/>
          </p:cNvSpPr>
          <p:nvPr>
            <p:ph idx="1"/>
          </p:nvPr>
        </p:nvSpPr>
        <p:spPr/>
        <p:txBody>
          <a:bodyPr/>
          <a:lstStyle/>
          <a:p>
            <a:r>
              <a:rPr lang="en-US" dirty="0" smtClean="0">
                <a:solidFill>
                  <a:schemeClr val="bg1">
                    <a:lumMod val="50000"/>
                    <a:lumOff val="50000"/>
                  </a:schemeClr>
                </a:solidFill>
              </a:rPr>
              <a:t>Problem</a:t>
            </a:r>
          </a:p>
          <a:p>
            <a:pPr lvl="1"/>
            <a:r>
              <a:rPr lang="en-US" dirty="0" smtClean="0">
                <a:solidFill>
                  <a:schemeClr val="bg1">
                    <a:lumMod val="50000"/>
                    <a:lumOff val="50000"/>
                  </a:schemeClr>
                </a:solidFill>
              </a:rPr>
              <a:t>Hard to write robust file system applications</a:t>
            </a:r>
          </a:p>
          <a:p>
            <a:r>
              <a:rPr lang="en-US" dirty="0" smtClean="0">
                <a:solidFill>
                  <a:schemeClr val="bg1">
                    <a:lumMod val="50000"/>
                    <a:lumOff val="50000"/>
                  </a:schemeClr>
                </a:solidFill>
              </a:rPr>
              <a:t>Approach</a:t>
            </a:r>
          </a:p>
          <a:p>
            <a:pPr lvl="1"/>
            <a:r>
              <a:rPr lang="en-US" dirty="0" smtClean="0">
                <a:solidFill>
                  <a:schemeClr val="bg1">
                    <a:lumMod val="50000"/>
                    <a:lumOff val="50000"/>
                  </a:schemeClr>
                </a:solidFill>
              </a:rPr>
              <a:t>Specify file system format, generate parsing and serialization library</a:t>
            </a:r>
          </a:p>
          <a:p>
            <a:r>
              <a:rPr lang="en-US" dirty="0" smtClean="0"/>
              <a:t>Spiffy </a:t>
            </a:r>
            <a:r>
              <a:rPr lang="en-US" dirty="0" smtClean="0"/>
              <a:t>Annotations</a:t>
            </a:r>
            <a:endParaRPr lang="en-US" dirty="0" smtClean="0"/>
          </a:p>
          <a:p>
            <a:r>
              <a:rPr lang="en-US" dirty="0" smtClean="0"/>
              <a:t>Spiffy </a:t>
            </a:r>
            <a:r>
              <a:rPr lang="en-US" dirty="0" smtClean="0"/>
              <a:t>Library</a:t>
            </a:r>
            <a:endParaRPr lang="en-US" dirty="0" smtClean="0"/>
          </a:p>
          <a:p>
            <a:r>
              <a:rPr lang="en-US" dirty="0" smtClean="0"/>
              <a:t>Spiffy </a:t>
            </a:r>
            <a:r>
              <a:rPr lang="en-US" dirty="0"/>
              <a:t>A</a:t>
            </a:r>
            <a:r>
              <a:rPr lang="en-US" dirty="0" smtClean="0"/>
              <a:t>pplications</a:t>
            </a:r>
            <a:endParaRPr lang="en-US" dirty="0" smtClean="0"/>
          </a:p>
          <a:p>
            <a:r>
              <a:rPr lang="en-US" dirty="0" smtClean="0"/>
              <a:t>Evaluation</a:t>
            </a:r>
          </a:p>
          <a:p>
            <a:r>
              <a:rPr lang="en-US" dirty="0" smtClean="0"/>
              <a:t>Conclusion</a:t>
            </a:r>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Annotation Requirements</a:t>
            </a:r>
            <a:endParaRPr lang="en-CA" dirty="0"/>
          </a:p>
        </p:txBody>
      </p:sp>
      <p:sp>
        <p:nvSpPr>
          <p:cNvPr id="3" name="Content Placeholder 2"/>
          <p:cNvSpPr>
            <a:spLocks noGrp="1"/>
          </p:cNvSpPr>
          <p:nvPr>
            <p:ph idx="1"/>
          </p:nvPr>
        </p:nvSpPr>
        <p:spPr/>
        <p:txBody>
          <a:bodyPr>
            <a:normAutofit/>
          </a:bodyPr>
          <a:lstStyle/>
          <a:p>
            <a:r>
              <a:rPr lang="en-US" dirty="0" smtClean="0"/>
              <a:t>File System Pointers</a:t>
            </a:r>
          </a:p>
          <a:p>
            <a:pPr lvl="1"/>
            <a:r>
              <a:rPr lang="en-US" dirty="0" smtClean="0"/>
              <a:t>Need to specify relationships between file system structures</a:t>
            </a:r>
          </a:p>
          <a:p>
            <a:pPr lvl="1"/>
            <a:r>
              <a:rPr lang="en-US" dirty="0" smtClean="0"/>
              <a:t>Use </a:t>
            </a:r>
            <a:r>
              <a:rPr lang="en-US" i="1" dirty="0"/>
              <a:t>P</a:t>
            </a:r>
            <a:r>
              <a:rPr lang="en-US" i="1" dirty="0" smtClean="0"/>
              <a:t>ointer</a:t>
            </a:r>
            <a:r>
              <a:rPr lang="en-US" dirty="0" smtClean="0"/>
              <a:t> annotation to specify this relationship</a:t>
            </a:r>
          </a:p>
          <a:p>
            <a:pPr lvl="1"/>
            <a:r>
              <a:rPr lang="en-US" dirty="0" smtClean="0"/>
              <a:t>Specifies that a data structure field holds an address to a location on physical </a:t>
            </a:r>
            <a:r>
              <a:rPr lang="en-US" dirty="0" smtClean="0"/>
              <a:t>storage</a:t>
            </a:r>
          </a:p>
          <a:p>
            <a:pPr lvl="1"/>
            <a:r>
              <a:rPr lang="en-US" b="1" dirty="0" smtClean="0"/>
              <a:t>Challenge:</a:t>
            </a:r>
            <a:r>
              <a:rPr lang="en-CA" b="1" dirty="0" smtClean="0"/>
              <a:t> </a:t>
            </a:r>
            <a:r>
              <a:rPr lang="en-CA" dirty="0" smtClean="0"/>
              <a:t>Interpreting address </a:t>
            </a:r>
            <a:r>
              <a:rPr lang="en-CA" dirty="0"/>
              <a:t>may involve multiple layers of translation</a:t>
            </a:r>
          </a:p>
          <a:p>
            <a:pPr lvl="1"/>
            <a:r>
              <a:rPr lang="en-CA" dirty="0"/>
              <a:t>File system structures may be laid out discontiguously</a:t>
            </a:r>
          </a:p>
          <a:p>
            <a:pPr lvl="2"/>
            <a:r>
              <a:rPr lang="en-CA" dirty="0"/>
              <a:t>E.g., Ext4 journal is stored on disk as a regular file</a:t>
            </a:r>
          </a:p>
          <a:p>
            <a:pPr lvl="2"/>
            <a:r>
              <a:rPr lang="en-CA" dirty="0"/>
              <a:t>Regular files can be physically discontiguous on </a:t>
            </a:r>
            <a:r>
              <a:rPr lang="en-CA" dirty="0" smtClean="0"/>
              <a:t>disk</a:t>
            </a:r>
            <a:endParaRPr lang="en-CA" dirty="0"/>
          </a:p>
          <a:p>
            <a:pPr lvl="1"/>
            <a:r>
              <a:rPr lang="en-CA" dirty="0"/>
              <a:t>Pointers have an </a:t>
            </a:r>
            <a:r>
              <a:rPr lang="en-CA" i="1" dirty="0"/>
              <a:t>address space </a:t>
            </a:r>
            <a:r>
              <a:rPr lang="en-CA" dirty="0"/>
              <a:t>that indicates how the address should be mapped to the physical location</a:t>
            </a:r>
          </a:p>
          <a:p>
            <a:pPr lvl="1"/>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Tree>
    <p:extLst>
      <p:ext uri="{BB962C8B-B14F-4D97-AF65-F5344CB8AC3E}">
        <p14:creationId xmlns:p14="http://schemas.microsoft.com/office/powerpoint/2010/main" val="3955000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Annotation Requirements</a:t>
            </a:r>
            <a:endParaRPr lang="en-CA" dirty="0"/>
          </a:p>
        </p:txBody>
      </p:sp>
      <p:sp>
        <p:nvSpPr>
          <p:cNvPr id="3" name="Content Placeholder 2"/>
          <p:cNvSpPr>
            <a:spLocks noGrp="1"/>
          </p:cNvSpPr>
          <p:nvPr>
            <p:ph idx="1"/>
          </p:nvPr>
        </p:nvSpPr>
        <p:spPr/>
        <p:txBody>
          <a:bodyPr>
            <a:normAutofit/>
          </a:bodyPr>
          <a:lstStyle/>
          <a:p>
            <a:r>
              <a:rPr lang="en-CA" dirty="0"/>
              <a:t>Cross-Structure Dependencies</a:t>
            </a:r>
          </a:p>
          <a:p>
            <a:pPr lvl="1"/>
            <a:r>
              <a:rPr lang="en-CA" dirty="0"/>
              <a:t>Allows the annotation of structures to reference fields of other structures</a:t>
            </a:r>
          </a:p>
          <a:p>
            <a:pPr lvl="2"/>
            <a:r>
              <a:rPr lang="en-CA" dirty="0"/>
              <a:t>E.g., size of an Ext4 </a:t>
            </a:r>
            <a:r>
              <a:rPr lang="en-CA" dirty="0" err="1"/>
              <a:t>inode</a:t>
            </a:r>
            <a:r>
              <a:rPr lang="en-CA" dirty="0"/>
              <a:t> is </a:t>
            </a:r>
            <a:r>
              <a:rPr lang="en-CA" dirty="0" smtClean="0"/>
              <a:t>stored </a:t>
            </a:r>
            <a:r>
              <a:rPr lang="en-CA" dirty="0"/>
              <a:t>in Ext4 super block</a:t>
            </a:r>
          </a:p>
          <a:p>
            <a:r>
              <a:rPr lang="en-CA" dirty="0" smtClean="0"/>
              <a:t>Context-Sensitive Types</a:t>
            </a:r>
          </a:p>
          <a:p>
            <a:pPr lvl="1"/>
            <a:r>
              <a:rPr lang="en-CA" dirty="0" smtClean="0"/>
              <a:t>E.g., pointers may point to different types of metadata</a:t>
            </a:r>
          </a:p>
          <a:p>
            <a:pPr lvl="2"/>
            <a:r>
              <a:rPr lang="en-CA" dirty="0"/>
              <a:t>P</a:t>
            </a:r>
            <a:r>
              <a:rPr lang="en-CA" dirty="0" smtClean="0"/>
              <a:t>ointers in </a:t>
            </a:r>
            <a:r>
              <a:rPr lang="en-CA" dirty="0" err="1" smtClean="0"/>
              <a:t>inode</a:t>
            </a:r>
            <a:r>
              <a:rPr lang="en-CA" dirty="0" smtClean="0"/>
              <a:t> point to directory entries if </a:t>
            </a:r>
            <a:r>
              <a:rPr lang="en-CA" dirty="0" err="1" smtClean="0"/>
              <a:t>inode</a:t>
            </a:r>
            <a:r>
              <a:rPr lang="en-CA" dirty="0" smtClean="0"/>
              <a:t> is directory</a:t>
            </a:r>
          </a:p>
          <a:p>
            <a:pPr lvl="1"/>
            <a:r>
              <a:rPr lang="en-CA" dirty="0" smtClean="0"/>
              <a:t>E.g., structures may have optional fields</a:t>
            </a:r>
          </a:p>
          <a:p>
            <a:pPr lvl="2"/>
            <a:r>
              <a:rPr lang="en-CA" dirty="0" smtClean="0"/>
              <a:t>Ext4 </a:t>
            </a:r>
            <a:r>
              <a:rPr lang="en-CA" dirty="0" err="1" smtClean="0"/>
              <a:t>inode</a:t>
            </a:r>
            <a:r>
              <a:rPr lang="en-CA" dirty="0" smtClean="0"/>
              <a:t> can store extended attributes if size &gt; 128</a:t>
            </a:r>
          </a:p>
          <a:p>
            <a:r>
              <a:rPr lang="en-CA" dirty="0"/>
              <a:t>Constraint Checking</a:t>
            </a:r>
          </a:p>
          <a:p>
            <a:pPr lvl="1"/>
            <a:r>
              <a:rPr lang="en-CA" dirty="0"/>
              <a:t>Helps detect corrupted metadata </a:t>
            </a:r>
            <a:r>
              <a:rPr lang="en-CA" dirty="0" smtClean="0"/>
              <a:t>structures</a:t>
            </a:r>
            <a:endParaRPr lang="en-CA" dirty="0" smtClean="0"/>
          </a:p>
          <a:p>
            <a:pPr lvl="1"/>
            <a:endParaRPr lang="en-CA" dirty="0" smtClean="0"/>
          </a:p>
          <a:p>
            <a:pPr lvl="1"/>
            <a:endParaRPr lang="en-CA" dirty="0"/>
          </a:p>
          <a:p>
            <a:pPr lvl="2"/>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Tree>
    <p:extLst>
      <p:ext uri="{BB962C8B-B14F-4D97-AF65-F5344CB8AC3E}">
        <p14:creationId xmlns:p14="http://schemas.microsoft.com/office/powerpoint/2010/main" val="659825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Evaluation: Annotation </a:t>
            </a:r>
            <a:r>
              <a:rPr lang="en-CA" dirty="0" smtClean="0"/>
              <a:t>Effort</a:t>
            </a:r>
            <a:endParaRPr lang="en-CA" dirty="0"/>
          </a:p>
        </p:txBody>
      </p:sp>
      <p:sp>
        <p:nvSpPr>
          <p:cNvPr id="3" name="Content Placeholder 2"/>
          <p:cNvSpPr>
            <a:spLocks noGrp="1"/>
          </p:cNvSpPr>
          <p:nvPr>
            <p:ph idx="1"/>
          </p:nvPr>
        </p:nvSpPr>
        <p:spPr>
          <a:xfrm>
            <a:off x="646112" y="2990597"/>
            <a:ext cx="9403743" cy="3257801"/>
          </a:xfrm>
        </p:spPr>
        <p:txBody>
          <a:bodyPr>
            <a:normAutofit/>
          </a:bodyPr>
          <a:lstStyle/>
          <a:p>
            <a:r>
              <a:rPr lang="en-CA" dirty="0" smtClean="0"/>
              <a:t>LOC required for </a:t>
            </a:r>
            <a:r>
              <a:rPr lang="en-CA" i="1" dirty="0" smtClean="0"/>
              <a:t>file system developers</a:t>
            </a:r>
            <a:r>
              <a:rPr lang="en-CA" dirty="0" smtClean="0"/>
              <a:t> to correctly annotate their file systems</a:t>
            </a:r>
          </a:p>
          <a:p>
            <a:pPr lvl="1"/>
            <a:r>
              <a:rPr lang="en-CA" dirty="0" smtClean="0"/>
              <a:t>Some structures not originally declared</a:t>
            </a:r>
          </a:p>
          <a:p>
            <a:pPr lvl="2"/>
            <a:r>
              <a:rPr lang="en-CA" dirty="0" smtClean="0"/>
              <a:t>E.g. Ext4 indirect block is just an array of 4-byte pointers</a:t>
            </a:r>
          </a:p>
          <a:p>
            <a:pPr lvl="1"/>
            <a:r>
              <a:rPr lang="en-CA" dirty="0" smtClean="0"/>
              <a:t>Some structures need to be revised</a:t>
            </a:r>
          </a:p>
          <a:p>
            <a:pPr lvl="2"/>
            <a:r>
              <a:rPr lang="en-CA" dirty="0" smtClean="0"/>
              <a:t>E.g., Ext4 </a:t>
            </a:r>
            <a:r>
              <a:rPr lang="en-CA" dirty="0" err="1" smtClean="0"/>
              <a:t>inode</a:t>
            </a:r>
            <a:r>
              <a:rPr lang="en-CA" dirty="0" smtClean="0"/>
              <a:t> contains an array of block pointers, but the last 3 are indirect pointers of different levels</a:t>
            </a:r>
          </a:p>
          <a:p>
            <a:pPr lvl="3"/>
            <a:r>
              <a:rPr lang="en-CA" dirty="0" err="1" smtClean="0"/>
              <a:t>Inode</a:t>
            </a:r>
            <a:r>
              <a:rPr lang="en-CA" dirty="0" smtClean="0"/>
              <a:t> structure definition changed to properly annotate the indirect pointers</a:t>
            </a:r>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xmlns="" val="20000"/>
                    </a:ext>
                  </a:extLst>
                </a:gridCol>
                <a:gridCol w="2119866">
                  <a:extLst>
                    <a:ext uri="{9D8B030D-6E8A-4147-A177-3AD203B41FA5}">
                      <a16:colId xmlns:a16="http://schemas.microsoft.com/office/drawing/2014/main" xmlns="" val="20001"/>
                    </a:ext>
                  </a:extLst>
                </a:gridCol>
                <a:gridCol w="2119866">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a16="http://schemas.microsoft.com/office/drawing/2014/main" xmlns="" val="10003"/>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13</a:t>
            </a:fld>
            <a:endParaRPr lang="en-CA" dirty="0"/>
          </a:p>
        </p:txBody>
      </p:sp>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3"/>
                </a:solidFill>
                <a:latin typeface="Courier New" panose="02070309020205020404" pitchFamily="49" charset="0"/>
                <a:cs typeface="Courier New" panose="02070309020205020404" pitchFamily="49" charset="0"/>
              </a:rPr>
              <a:t>const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ext4_super_block </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s_blocks_per_group</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2" name="Slide Number Placeholder 1"/>
          <p:cNvSpPr>
            <a:spLocks noGrp="1"/>
          </p:cNvSpPr>
          <p:nvPr>
            <p:ph type="sldNum" sz="quarter" idx="12"/>
          </p:nvPr>
        </p:nvSpPr>
        <p:spPr/>
        <p:txBody>
          <a:bodyPr/>
          <a:lstStyle/>
          <a:p>
            <a:fld id="{7B2023C8-B124-43A9-8F92-0EEF5BAA9995}" type="slidenum">
              <a:rPr lang="en-CA" smtClean="0"/>
              <a:t>14</a:t>
            </a:fld>
            <a:endParaRPr lang="en-CA"/>
          </a:p>
        </p:txBody>
      </p:sp>
    </p:spTree>
    <p:extLst>
      <p:ext uri="{BB962C8B-B14F-4D97-AF65-F5344CB8AC3E}">
        <p14:creationId xmlns:p14="http://schemas.microsoft.com/office/powerpoint/2010/main" val="688544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3"/>
                </a:solidFill>
                <a:latin typeface="Courier New" panose="02070309020205020404" pitchFamily="49" charset="0"/>
                <a:cs typeface="Courier New" panose="02070309020205020404" pitchFamily="49" charset="0"/>
              </a:rPr>
              <a:t>const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ext4_super_block </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s_blocks_per_group</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1" name="Rectangle 10"/>
          <p:cNvSpPr/>
          <p:nvPr/>
        </p:nvSpPr>
        <p:spPr>
          <a:xfrm>
            <a:off x="684211" y="2099739"/>
            <a:ext cx="4519402" cy="1123295"/>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p:cNvSpPr/>
          <p:nvPr/>
        </p:nvSpPr>
        <p:spPr>
          <a:xfrm>
            <a:off x="5763418" y="2160556"/>
            <a:ext cx="5182222" cy="1299081"/>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4" name="Straight Arrow Connector 15"/>
          <p:cNvCxnSpPr/>
          <p:nvPr/>
        </p:nvCxnSpPr>
        <p:spPr>
          <a:xfrm rot="10800000">
            <a:off x="8187067" y="3442047"/>
            <a:ext cx="0" cy="28541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5"/>
          <p:cNvCxnSpPr/>
          <p:nvPr/>
        </p:nvCxnSpPr>
        <p:spPr>
          <a:xfrm flipV="1">
            <a:off x="3091992" y="3231501"/>
            <a:ext cx="4293" cy="483414"/>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1324880" y="3714912"/>
            <a:ext cx="7630584" cy="902932"/>
          </a:xfrm>
          <a:prstGeom prst="snip1Rect">
            <a:avLst/>
          </a:prstGeom>
          <a:solidFill>
            <a:schemeClr val="tx1"/>
          </a:solidFill>
          <a:ln w="25400">
            <a:solidFill>
              <a:schemeClr val="tx2"/>
            </a:solidFill>
          </a:ln>
        </p:spPr>
        <p:txBody>
          <a:bodyPr wrap="square" lIns="90000" tIns="46800" rIns="90000" bIns="90000" rtlCol="0">
            <a:spAutoFit/>
          </a:bodyPr>
          <a:lstStyle/>
          <a:p>
            <a:pPr marL="285750" indent="-201613">
              <a:lnSpc>
                <a:spcPts val="2400"/>
              </a:lnSpc>
              <a:spcBef>
                <a:spcPts val="600"/>
              </a:spcBef>
              <a:buFont typeface="Arial" panose="020B0604020202020204" pitchFamily="34" charset="0"/>
              <a:buChar char="•"/>
            </a:pPr>
            <a:r>
              <a:rPr lang="en-CA" dirty="0" smtClean="0">
                <a:solidFill>
                  <a:schemeClr val="bg1"/>
                </a:solidFill>
              </a:rPr>
              <a:t>C++ class generated for each annotated structure and its fields</a:t>
            </a:r>
          </a:p>
          <a:p>
            <a:pPr marL="285750" indent="-201613">
              <a:lnSpc>
                <a:spcPts val="2400"/>
              </a:lnSpc>
              <a:spcBef>
                <a:spcPts val="600"/>
              </a:spcBef>
              <a:buFont typeface="Arial" panose="020B0604020202020204" pitchFamily="34" charset="0"/>
              <a:buChar char="•"/>
            </a:pPr>
            <a:r>
              <a:rPr lang="en-CA" dirty="0" smtClean="0">
                <a:solidFill>
                  <a:schemeClr val="bg1"/>
                </a:solidFill>
              </a:rPr>
              <a:t>Each class enables </a:t>
            </a:r>
            <a:r>
              <a:rPr lang="en-CA" dirty="0">
                <a:solidFill>
                  <a:schemeClr val="bg1"/>
                </a:solidFill>
              </a:rPr>
              <a:t>type-safe </a:t>
            </a:r>
            <a:r>
              <a:rPr lang="en-CA" dirty="0" smtClean="0">
                <a:solidFill>
                  <a:schemeClr val="bg1"/>
                </a:solidFill>
              </a:rPr>
              <a:t>parsing and serialization</a:t>
            </a:r>
            <a:endParaRPr lang="en-CA" dirty="0">
              <a:solidFill>
                <a:schemeClr val="bg1"/>
              </a:solidFill>
            </a:endParaRPr>
          </a:p>
        </p:txBody>
      </p:sp>
      <p:sp>
        <p:nvSpPr>
          <p:cNvPr id="16" name="Slide Number Placeholder 15"/>
          <p:cNvSpPr>
            <a:spLocks noGrp="1"/>
          </p:cNvSpPr>
          <p:nvPr>
            <p:ph type="sldNum" sz="quarter" idx="12"/>
          </p:nvPr>
        </p:nvSpPr>
        <p:spPr/>
        <p:txBody>
          <a:bodyPr/>
          <a:lstStyle/>
          <a:p>
            <a:fld id="{7B2023C8-B124-43A9-8F92-0EEF5BAA9995}" type="slidenum">
              <a:rPr lang="en-CA" smtClean="0"/>
              <a:t>15</a:t>
            </a:fld>
            <a:endParaRPr lang="en-CA"/>
          </a:p>
        </p:txBody>
      </p:sp>
    </p:spTree>
    <p:extLst>
      <p:ext uri="{BB962C8B-B14F-4D97-AF65-F5344CB8AC3E}">
        <p14:creationId xmlns:p14="http://schemas.microsoft.com/office/powerpoint/2010/main" val="35026270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a:t>
            </a:r>
            <a:r>
              <a:rPr lang="en-US" dirty="0"/>
              <a:t>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 </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parse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const</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latin typeface="Courier New" panose="02070309020205020404" pitchFamily="49" charset="0"/>
                <a:cs typeface="Courier New" panose="02070309020205020404" pitchFamily="49" charset="0"/>
              </a:rPr>
              <a:t>s_blocks_count.parse</a:t>
            </a:r>
            <a:r>
              <a:rPr lang="en-CA" sz="1400" dirty="0">
                <a:latin typeface="Courier New" panose="02070309020205020404" pitchFamily="49" charset="0"/>
                <a:cs typeface="Courier New" panose="02070309020205020404" pitchFamily="49" charset="0"/>
              </a:rPr>
              <a:t>(</a:t>
            </a:r>
            <a:r>
              <a:rPr lang="en-CA" sz="1400" dirty="0" err="1">
                <a:latin typeface="Courier New" panose="02070309020205020404" pitchFamily="49" charset="0"/>
                <a:cs typeface="Courier New" panose="02070309020205020404" pitchFamily="49" charset="0"/>
              </a:rPr>
              <a:t>buf</a:t>
            </a:r>
            <a:r>
              <a:rPr lang="en-CA" sz="1400" dirty="0">
                <a:latin typeface="Courier New" panose="02070309020205020404" pitchFamily="49" charset="0"/>
                <a:cs typeface="Courier New" panose="02070309020205020404" pitchFamily="49" charset="0"/>
              </a:rPr>
              <a:t>, </a:t>
            </a:r>
            <a:r>
              <a:rPr lang="en-CA" sz="1400" dirty="0" err="1">
                <a:latin typeface="Courier New" panose="02070309020205020404" pitchFamily="49" charset="0"/>
                <a:cs typeface="Courier New" panose="02070309020205020404" pitchFamily="49" charset="0"/>
              </a:rPr>
              <a:t>len</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smtClean="0">
                <a:solidFill>
                  <a:schemeClr val="accent6">
                    <a:lumMod val="75000"/>
                  </a:schemeClr>
                </a:solidFill>
                <a:latin typeface="Courier New" panose="02070309020205020404" pitchFamily="49" charset="0"/>
                <a:cs typeface="Courier New" panose="02070309020205020404" pitchFamily="49" charset="0"/>
              </a:rPr>
              <a:t>ret;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if (!(this-&gt;</a:t>
            </a:r>
            <a:r>
              <a:rPr lang="en-CA" sz="1400" dirty="0" err="1" smtClean="0">
                <a:latin typeface="Courier New" panose="02070309020205020404" pitchFamily="49" charset="0"/>
                <a:cs typeface="Courier New" panose="02070309020205020404" pitchFamily="49" charset="0"/>
              </a:rPr>
              <a:t>s_log_block_size</a:t>
            </a:r>
            <a:r>
              <a:rPr lang="en-CA" sz="1400" dirty="0" smtClean="0">
                <a:latin typeface="Courier New" panose="02070309020205020404" pitchFamily="49" charset="0"/>
                <a:cs typeface="Courier New" panose="02070309020205020404" pitchFamily="49" charset="0"/>
              </a:rPr>
              <a:t> &lt;= </a:t>
            </a:r>
            <a:r>
              <a:rPr lang="en-CA" sz="1400" dirty="0" smtClean="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ext4_super_block </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latin typeface="Courier New" panose="02070309020205020404" pitchFamily="49" charset="0"/>
                <a:cs typeface="Courier New" panose="02070309020205020404" pitchFamily="49" charset="0"/>
              </a:rPr>
              <a:t>s_blocks_count</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latin typeface="Courier New" panose="02070309020205020404" pitchFamily="49" charset="0"/>
                <a:cs typeface="Courier New" panose="02070309020205020404" pitchFamily="49" charset="0"/>
              </a:rPr>
              <a:t>s_log_block_size</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latin typeface="Courier New" panose="02070309020205020404" pitchFamily="49" charset="0"/>
                <a:cs typeface="Courier New" panose="02070309020205020404" pitchFamily="49" charset="0"/>
              </a:rPr>
              <a:t>s_blocks_per_group</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1" name="Rectangle 10"/>
          <p:cNvSpPr/>
          <p:nvPr/>
        </p:nvSpPr>
        <p:spPr>
          <a:xfrm>
            <a:off x="915356" y="3669663"/>
            <a:ext cx="2638550" cy="572400"/>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p:cNvSpPr/>
          <p:nvPr/>
        </p:nvSpPr>
        <p:spPr>
          <a:xfrm>
            <a:off x="5986097" y="3669663"/>
            <a:ext cx="3864914" cy="533625"/>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p:cNvCxnSpPr>
            <a:stCxn id="14" idx="1"/>
          </p:cNvCxnSpPr>
          <p:nvPr/>
        </p:nvCxnSpPr>
        <p:spPr>
          <a:xfrm rot="5400000">
            <a:off x="3718529" y="3230289"/>
            <a:ext cx="542097" cy="871342"/>
          </a:xfrm>
          <a:prstGeom prst="bentConnector2">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12" idx="1"/>
          </p:cNvCxnSpPr>
          <p:nvPr/>
        </p:nvCxnSpPr>
        <p:spPr>
          <a:xfrm>
            <a:off x="4798243" y="3394912"/>
            <a:ext cx="1187854" cy="541564"/>
          </a:xfrm>
          <a:prstGeom prst="bentConnector3">
            <a:avLst>
              <a:gd name="adj1" fmla="val 3"/>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15"/>
          <p:cNvCxnSpPr>
            <a:stCxn id="18" idx="1"/>
          </p:cNvCxnSpPr>
          <p:nvPr/>
        </p:nvCxnSpPr>
        <p:spPr>
          <a:xfrm>
            <a:off x="8187067" y="3394912"/>
            <a:ext cx="0" cy="28541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962460" y="2317379"/>
            <a:ext cx="2925575" cy="1077533"/>
          </a:xfrm>
          <a:prstGeom prst="snip1Rect">
            <a:avLst/>
          </a:prstGeom>
          <a:solidFill>
            <a:schemeClr val="tx1"/>
          </a:solidFill>
          <a:ln w="25400">
            <a:solidFill>
              <a:schemeClr val="tx2"/>
            </a:solidFill>
          </a:ln>
        </p:spPr>
        <p:txBody>
          <a:bodyPr wrap="square" lIns="90000" tIns="0" rIns="0" bIns="46800" rtlCol="0">
            <a:spAutoFit/>
          </a:bodyPr>
          <a:lstStyle/>
          <a:p>
            <a:pPr>
              <a:lnSpc>
                <a:spcPts val="2400"/>
              </a:lnSpc>
              <a:spcBef>
                <a:spcPts val="600"/>
              </a:spcBef>
            </a:pPr>
            <a:r>
              <a:rPr lang="en-CA" dirty="0" smtClean="0">
                <a:solidFill>
                  <a:schemeClr val="bg1"/>
                </a:solidFill>
              </a:rPr>
              <a:t>Specifying </a:t>
            </a:r>
            <a:r>
              <a:rPr lang="en-CA" dirty="0" err="1" smtClean="0">
                <a:solidFill>
                  <a:schemeClr val="bg1"/>
                </a:solidFill>
              </a:rPr>
              <a:t>enum</a:t>
            </a:r>
            <a:r>
              <a:rPr lang="en-CA" dirty="0" smtClean="0">
                <a:solidFill>
                  <a:schemeClr val="bg1"/>
                </a:solidFill>
              </a:rPr>
              <a:t> type allows </a:t>
            </a:r>
            <a:r>
              <a:rPr lang="en-CA" dirty="0" err="1" smtClean="0">
                <a:solidFill>
                  <a:schemeClr val="bg1"/>
                </a:solidFill>
              </a:rPr>
              <a:t>enum</a:t>
            </a:r>
            <a:r>
              <a:rPr lang="en-CA" dirty="0" smtClean="0">
                <a:solidFill>
                  <a:schemeClr val="bg1"/>
                </a:solidFill>
              </a:rPr>
              <a:t> field to be checked for correctness</a:t>
            </a:r>
            <a:endParaRPr lang="en-CA" dirty="0">
              <a:solidFill>
                <a:schemeClr val="bg1"/>
              </a:solidFill>
            </a:endParaRPr>
          </a:p>
        </p:txBody>
      </p:sp>
      <p:sp>
        <p:nvSpPr>
          <p:cNvPr id="18" name="TextBox 17"/>
          <p:cNvSpPr txBox="1"/>
          <p:nvPr/>
        </p:nvSpPr>
        <p:spPr>
          <a:xfrm>
            <a:off x="6169023" y="834299"/>
            <a:ext cx="4036088" cy="2560613"/>
          </a:xfrm>
          <a:prstGeom prst="snip1Rect">
            <a:avLst/>
          </a:prstGeom>
          <a:solidFill>
            <a:schemeClr val="tx1"/>
          </a:solidFill>
          <a:ln w="25400">
            <a:solidFill>
              <a:schemeClr val="tx2"/>
            </a:solidFill>
          </a:ln>
        </p:spPr>
        <p:txBody>
          <a:bodyPr wrap="none" lIns="90000" tIns="0" rIns="0" bIns="46800" rtlCol="0">
            <a:spAutoFit/>
          </a:bodyPr>
          <a:lstStyle/>
          <a:p>
            <a:pPr>
              <a:lnSpc>
                <a:spcPts val="2000"/>
              </a:lnSpc>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err="1" smtClean="0">
                <a:solidFill>
                  <a:schemeClr val="bg1"/>
                </a:solidFill>
                <a:latin typeface="Courier New" panose="02070309020205020404" pitchFamily="49" charset="0"/>
                <a:cs typeface="Courier New" panose="02070309020205020404" pitchFamily="49" charset="0"/>
              </a:rPr>
              <a:t>SCreatorOs</a:t>
            </a:r>
            <a:r>
              <a:rPr lang="en-CA" sz="1400" dirty="0" smtClean="0">
                <a:solidFill>
                  <a:schemeClr val="bg1"/>
                </a:solidFill>
                <a:latin typeface="Courier New" panose="02070309020205020404" pitchFamily="49" charset="0"/>
                <a:cs typeface="Courier New" panose="02070309020205020404" pitchFamily="49" charset="0"/>
              </a:rPr>
              <a:t>::</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parse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a:lnSpc>
                <a:spcPts val="2000"/>
              </a:lnSpc>
            </a:pPr>
            <a:r>
              <a:rPr lang="en-CA" sz="1400" dirty="0" smtClean="0">
                <a:solidFill>
                  <a:schemeClr val="bg1"/>
                </a:solidFill>
                <a:latin typeface="Courier New" panose="02070309020205020404" pitchFamily="49" charset="0"/>
                <a:cs typeface="Courier New" panose="02070309020205020404" pitchFamily="49" charset="0"/>
              </a:rPr>
              <a:t>  if (</a:t>
            </a:r>
            <a:r>
              <a:rPr lang="en-CA" sz="1400" dirty="0" err="1" smtClean="0">
                <a:solidFill>
                  <a:schemeClr val="bg1"/>
                </a:solidFill>
                <a:latin typeface="Courier New" panose="02070309020205020404" pitchFamily="49" charset="0"/>
                <a:cs typeface="Courier New" panose="02070309020205020404" pitchFamily="49" charset="0"/>
              </a:rPr>
              <a:t>len</a:t>
            </a:r>
            <a:r>
              <a:rPr lang="en-CA" sz="1400" dirty="0" smtClean="0">
                <a:solidFill>
                  <a:schemeClr val="bg1"/>
                </a:solidFill>
                <a:latin typeface="Courier New" panose="02070309020205020404" pitchFamily="49" charset="0"/>
                <a:cs typeface="Courier New" panose="02070309020205020404" pitchFamily="49" charset="0"/>
              </a:rPr>
              <a:t> &lt; </a:t>
            </a:r>
            <a:r>
              <a:rPr lang="en-CA" sz="1400" dirty="0" smtClean="0">
                <a:solidFill>
                  <a:srgbClr val="00B0F0"/>
                </a:solidFill>
                <a:latin typeface="Courier New" panose="02070309020205020404" pitchFamily="49" charset="0"/>
                <a:cs typeface="Courier New" panose="02070309020205020404" pitchFamily="49" charset="0"/>
              </a:rPr>
              <a:t>4</a:t>
            </a:r>
            <a:r>
              <a:rPr lang="en-CA" sz="1400" dirty="0" smtClean="0">
                <a:solidFill>
                  <a:schemeClr val="bg1"/>
                </a:solidFill>
                <a:latin typeface="Courier New" panose="02070309020205020404" pitchFamily="49" charset="0"/>
                <a:cs typeface="Courier New" panose="02070309020205020404" pitchFamily="49" charset="0"/>
              </a:rPr>
              <a:t>) return ERR_BUF2SM;</a:t>
            </a:r>
          </a:p>
          <a:p>
            <a:pPr>
              <a:lnSpc>
                <a:spcPts val="2000"/>
              </a:lnSpc>
            </a:pPr>
            <a:r>
              <a:rPr lang="en-CA" sz="1400" dirty="0" smtClean="0">
                <a:solidFill>
                  <a:schemeClr val="bg1"/>
                </a:solidFill>
                <a:latin typeface="Courier New" panose="02070309020205020404" pitchFamily="49" charset="0"/>
                <a:cs typeface="Courier New" panose="02070309020205020404" pitchFamily="49" charset="0"/>
              </a:rPr>
              <a:t>  value = *(__le32 *)</a:t>
            </a:r>
            <a:r>
              <a:rPr lang="en-CA" sz="1400" dirty="0" err="1" smtClean="0">
                <a:solidFill>
                  <a:schemeClr val="bg1"/>
                </a:solidFill>
                <a:latin typeface="Courier New" panose="02070309020205020404" pitchFamily="49" charset="0"/>
                <a:cs typeface="Courier New" panose="02070309020205020404" pitchFamily="49" charset="0"/>
              </a:rPr>
              <a:t>buf</a:t>
            </a:r>
            <a:r>
              <a:rPr lang="en-CA" sz="1400" dirty="0" smtClean="0">
                <a:solidFill>
                  <a:schemeClr val="bg1"/>
                </a:solidFill>
                <a:latin typeface="Courier New" panose="02070309020205020404" pitchFamily="49" charset="0"/>
                <a:cs typeface="Courier New" panose="02070309020205020404" pitchFamily="49" charset="0"/>
              </a:rPr>
              <a:t>;</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if (!(value </a:t>
            </a:r>
            <a:r>
              <a:rPr lang="en-CA" sz="1400" dirty="0">
                <a:solidFill>
                  <a:schemeClr val="bg1"/>
                </a:solidFill>
                <a:latin typeface="Courier New" panose="02070309020205020404" pitchFamily="49" charset="0"/>
                <a:cs typeface="Courier New" panose="02070309020205020404" pitchFamily="49" charset="0"/>
              </a:rPr>
              <a:t>&gt;= </a:t>
            </a:r>
            <a:r>
              <a:rPr lang="en-CA" sz="1400" dirty="0" smtClean="0">
                <a:solidFill>
                  <a:schemeClr val="bg1"/>
                </a:solidFill>
                <a:latin typeface="Courier New" panose="02070309020205020404" pitchFamily="49" charset="0"/>
                <a:cs typeface="Courier New" panose="02070309020205020404" pitchFamily="49" charset="0"/>
              </a:rPr>
              <a:t>EXT4_OS_LINUX &amp;&amp; </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value </a:t>
            </a:r>
            <a:r>
              <a:rPr lang="en-CA" sz="1400" dirty="0">
                <a:solidFill>
                  <a:schemeClr val="bg1"/>
                </a:solidFill>
                <a:latin typeface="Courier New" panose="02070309020205020404" pitchFamily="49" charset="0"/>
                <a:cs typeface="Courier New" panose="02070309020205020404" pitchFamily="49" charset="0"/>
              </a:rPr>
              <a:t>&lt;= </a:t>
            </a:r>
            <a:r>
              <a:rPr lang="en-CA" sz="1400" dirty="0" smtClean="0">
                <a:solidFill>
                  <a:schemeClr val="bg1"/>
                </a:solidFill>
                <a:latin typeface="Courier New" panose="02070309020205020404" pitchFamily="49" charset="0"/>
                <a:cs typeface="Courier New" panose="02070309020205020404" pitchFamily="49" charset="0"/>
              </a:rPr>
              <a:t>EXT3_OS_LITES))</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return ERR_CORRUPT;</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a:t>
            </a:r>
            <a:r>
              <a:rPr lang="en-CA" sz="1400" dirty="0" err="1" smtClean="0">
                <a:solidFill>
                  <a:schemeClr val="bg1"/>
                </a:solidFill>
                <a:latin typeface="Courier New" panose="02070309020205020404" pitchFamily="49" charset="0"/>
                <a:cs typeface="Courier New" panose="02070309020205020404" pitchFamily="49" charset="0"/>
              </a:rPr>
              <a:t>buf</a:t>
            </a:r>
            <a:r>
              <a:rPr lang="en-CA" sz="1400" dirty="0" smtClean="0">
                <a:solidFill>
                  <a:schemeClr val="bg1"/>
                </a:solidFill>
                <a:latin typeface="Courier New" panose="02070309020205020404" pitchFamily="49" charset="0"/>
                <a:cs typeface="Courier New" panose="02070309020205020404" pitchFamily="49" charset="0"/>
              </a:rPr>
              <a:t> += </a:t>
            </a:r>
            <a:r>
              <a:rPr lang="en-CA" sz="1400" dirty="0" smtClean="0">
                <a:solidFill>
                  <a:srgbClr val="00B0F0"/>
                </a:solidFill>
                <a:latin typeface="Courier New" panose="02070309020205020404" pitchFamily="49" charset="0"/>
                <a:cs typeface="Courier New" panose="02070309020205020404" pitchFamily="49" charset="0"/>
              </a:rPr>
              <a:t>4</a:t>
            </a:r>
            <a:r>
              <a:rPr lang="en-CA" sz="1400" dirty="0" smtClean="0">
                <a:solidFill>
                  <a:schemeClr val="bg1"/>
                </a:solidFill>
                <a:latin typeface="Courier New" panose="02070309020205020404" pitchFamily="49" charset="0"/>
                <a:cs typeface="Courier New" panose="02070309020205020404" pitchFamily="49" charset="0"/>
              </a:rPr>
              <a:t>; </a:t>
            </a:r>
            <a:r>
              <a:rPr lang="en-CA" sz="1400" dirty="0" err="1" smtClean="0">
                <a:solidFill>
                  <a:schemeClr val="bg1"/>
                </a:solidFill>
                <a:latin typeface="Courier New" panose="02070309020205020404" pitchFamily="49" charset="0"/>
                <a:cs typeface="Courier New" panose="02070309020205020404" pitchFamily="49" charset="0"/>
              </a:rPr>
              <a:t>len</a:t>
            </a:r>
            <a:r>
              <a:rPr lang="en-CA" sz="1400" dirty="0" smtClean="0">
                <a:solidFill>
                  <a:schemeClr val="bg1"/>
                </a:solidFill>
                <a:latin typeface="Courier New" panose="02070309020205020404" pitchFamily="49" charset="0"/>
                <a:cs typeface="Courier New" panose="02070309020205020404" pitchFamily="49" charset="0"/>
              </a:rPr>
              <a:t> -= </a:t>
            </a:r>
            <a:r>
              <a:rPr lang="en-CA" sz="1400" dirty="0" smtClean="0">
                <a:solidFill>
                  <a:srgbClr val="00B0F0"/>
                </a:solidFill>
                <a:latin typeface="Courier New" panose="02070309020205020404" pitchFamily="49" charset="0"/>
                <a:cs typeface="Courier New" panose="02070309020205020404" pitchFamily="49" charset="0"/>
              </a:rPr>
              <a:t>4</a:t>
            </a:r>
            <a:r>
              <a:rPr lang="en-CA" sz="1400" dirty="0" smtClean="0">
                <a:solidFill>
                  <a:schemeClr val="bg1"/>
                </a:solidFill>
                <a:latin typeface="Courier New" panose="02070309020205020404" pitchFamily="49" charset="0"/>
                <a:cs typeface="Courier New" panose="02070309020205020404" pitchFamily="49" charset="0"/>
              </a:rPr>
              <a:t>;</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return </a:t>
            </a:r>
            <a:r>
              <a:rPr lang="en-CA" sz="1400" dirty="0" smtClean="0">
                <a:solidFill>
                  <a:srgbClr val="00B0F0"/>
                </a:solidFill>
                <a:latin typeface="Courier New" panose="02070309020205020404" pitchFamily="49" charset="0"/>
                <a:cs typeface="Courier New" panose="02070309020205020404" pitchFamily="49" charset="0"/>
              </a:rPr>
              <a:t>0</a:t>
            </a:r>
            <a:r>
              <a:rPr lang="en-CA" sz="1400" dirty="0" smtClean="0">
                <a:solidFill>
                  <a:schemeClr val="bg1"/>
                </a:solidFill>
                <a:latin typeface="Courier New" panose="02070309020205020404" pitchFamily="49" charset="0"/>
                <a:cs typeface="Courier New" panose="02070309020205020404" pitchFamily="49" charset="0"/>
              </a:rPr>
              <a:t>;</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a:t>
            </a:r>
          </a:p>
        </p:txBody>
      </p:sp>
      <p:sp>
        <p:nvSpPr>
          <p:cNvPr id="2" name="Slide Number Placeholder 1"/>
          <p:cNvSpPr>
            <a:spLocks noGrp="1"/>
          </p:cNvSpPr>
          <p:nvPr>
            <p:ph type="sldNum" sz="quarter" idx="12"/>
          </p:nvPr>
        </p:nvSpPr>
        <p:spPr/>
        <p:txBody>
          <a:bodyPr/>
          <a:lstStyle/>
          <a:p>
            <a:fld id="{7B2023C8-B124-43A9-8F92-0EEF5BAA9995}" type="slidenum">
              <a:rPr lang="en-CA" smtClean="0"/>
              <a:t>16</a:t>
            </a:fld>
            <a:endParaRPr lang="en-CA"/>
          </a:p>
        </p:txBody>
      </p:sp>
    </p:spTree>
    <p:extLst>
      <p:ext uri="{BB962C8B-B14F-4D97-AF65-F5344CB8AC3E}">
        <p14:creationId xmlns:p14="http://schemas.microsoft.com/office/powerpoint/2010/main" val="15677402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a:t>
            </a:r>
            <a:r>
              <a:rPr lang="en-US" dirty="0"/>
              <a:t>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 </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parse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const</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ext4_super_block </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s_blocks_per_group</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1" name="Rectangle 10"/>
          <p:cNvSpPr/>
          <p:nvPr/>
        </p:nvSpPr>
        <p:spPr>
          <a:xfrm>
            <a:off x="898789" y="4398919"/>
            <a:ext cx="4713651" cy="85099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p:cNvSpPr/>
          <p:nvPr/>
        </p:nvSpPr>
        <p:spPr>
          <a:xfrm>
            <a:off x="5978054" y="4170349"/>
            <a:ext cx="4476271" cy="533625"/>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p:cNvCxnSpPr/>
          <p:nvPr/>
        </p:nvCxnSpPr>
        <p:spPr>
          <a:xfrm flipH="1">
            <a:off x="5184742" y="3800290"/>
            <a:ext cx="932" cy="627446"/>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3955991" y="2398336"/>
            <a:ext cx="3029270" cy="1389633"/>
          </a:xfrm>
          <a:prstGeom prst="snip1Rect">
            <a:avLst/>
          </a:prstGeom>
          <a:solidFill>
            <a:schemeClr val="tx1"/>
          </a:solidFill>
          <a:ln w="25400">
            <a:solidFill>
              <a:schemeClr val="tx2"/>
            </a:solidFill>
          </a:ln>
        </p:spPr>
        <p:txBody>
          <a:bodyPr wrap="square" lIns="90000" tIns="0" rIns="0" bIns="46800" rtlCol="0">
            <a:spAutoFit/>
          </a:bodyPr>
          <a:lstStyle/>
          <a:p>
            <a:pPr>
              <a:lnSpc>
                <a:spcPts val="2400"/>
              </a:lnSpc>
              <a:spcBef>
                <a:spcPts val="600"/>
              </a:spcBef>
            </a:pPr>
            <a:r>
              <a:rPr lang="en-CA" dirty="0" smtClean="0">
                <a:solidFill>
                  <a:schemeClr val="bg1"/>
                </a:solidFill>
              </a:rPr>
              <a:t>Spiffy supports implicit pointer field, calculated at runtime, allows it to be used like a normal field.</a:t>
            </a:r>
            <a:endParaRPr lang="en-CA" dirty="0">
              <a:solidFill>
                <a:schemeClr val="bg1"/>
              </a:solidFill>
            </a:endParaRPr>
          </a:p>
        </p:txBody>
      </p:sp>
      <p:cxnSp>
        <p:nvCxnSpPr>
          <p:cNvPr id="16" name="Straight Arrow Connector 15"/>
          <p:cNvCxnSpPr>
            <a:endCxn id="12" idx="1"/>
          </p:cNvCxnSpPr>
          <p:nvPr/>
        </p:nvCxnSpPr>
        <p:spPr>
          <a:xfrm rot="16200000" flipH="1">
            <a:off x="5529733" y="3988841"/>
            <a:ext cx="628404" cy="268238"/>
          </a:xfrm>
          <a:prstGeom prst="bentConnector2">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2" name="Slide Number Placeholder 1"/>
          <p:cNvSpPr>
            <a:spLocks noGrp="1"/>
          </p:cNvSpPr>
          <p:nvPr>
            <p:ph type="sldNum" sz="quarter" idx="12"/>
          </p:nvPr>
        </p:nvSpPr>
        <p:spPr/>
        <p:txBody>
          <a:bodyPr/>
          <a:lstStyle/>
          <a:p>
            <a:fld id="{7B2023C8-B124-43A9-8F92-0EEF5BAA9995}" type="slidenum">
              <a:rPr lang="en-CA" smtClean="0"/>
              <a:t>17</a:t>
            </a:fld>
            <a:endParaRPr lang="en-CA"/>
          </a:p>
        </p:txBody>
      </p:sp>
    </p:spTree>
    <p:extLst>
      <p:ext uri="{BB962C8B-B14F-4D97-AF65-F5344CB8AC3E}">
        <p14:creationId xmlns:p14="http://schemas.microsoft.com/office/powerpoint/2010/main" val="38996554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a:t>
            </a:r>
            <a:r>
              <a:rPr lang="en-US" dirty="0"/>
              <a:t>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 </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parse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const</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ext4_super_block </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s_blocks_per_group</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1" name="Rectangle 10"/>
          <p:cNvSpPr/>
          <p:nvPr/>
        </p:nvSpPr>
        <p:spPr>
          <a:xfrm>
            <a:off x="907313" y="5151455"/>
            <a:ext cx="4615301" cy="85099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p:cNvSpPr/>
          <p:nvPr/>
        </p:nvSpPr>
        <p:spPr>
          <a:xfrm>
            <a:off x="5978054" y="4651282"/>
            <a:ext cx="3890224" cy="1079562"/>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p:cNvCxnSpPr/>
          <p:nvPr/>
        </p:nvCxnSpPr>
        <p:spPr>
          <a:xfrm>
            <a:off x="5185674" y="3800290"/>
            <a:ext cx="0" cy="1351165"/>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3965418" y="2701822"/>
            <a:ext cx="2605064" cy="1098468"/>
          </a:xfrm>
          <a:prstGeom prst="snip1Rect">
            <a:avLst/>
          </a:prstGeom>
          <a:solidFill>
            <a:schemeClr val="tx1"/>
          </a:solidFill>
          <a:ln w="25400">
            <a:solidFill>
              <a:schemeClr val="tx2"/>
            </a:solidFill>
          </a:ln>
        </p:spPr>
        <p:txBody>
          <a:bodyPr wrap="square" lIns="90000" tIns="0" rIns="0" bIns="46800" rtlCol="0">
            <a:spAutoFit/>
          </a:bodyPr>
          <a:lstStyle/>
          <a:p>
            <a:pPr>
              <a:lnSpc>
                <a:spcPts val="2400"/>
              </a:lnSpc>
              <a:spcBef>
                <a:spcPts val="600"/>
              </a:spcBef>
            </a:pPr>
            <a:r>
              <a:rPr lang="en-CA" b="1" dirty="0" smtClean="0">
                <a:solidFill>
                  <a:schemeClr val="bg1"/>
                </a:solidFill>
              </a:rPr>
              <a:t>CHECK </a:t>
            </a:r>
            <a:r>
              <a:rPr lang="en-CA" dirty="0" smtClean="0">
                <a:solidFill>
                  <a:schemeClr val="bg1"/>
                </a:solidFill>
              </a:rPr>
              <a:t>annotations help verify constraints during parsing</a:t>
            </a:r>
            <a:endParaRPr lang="en-CA" dirty="0">
              <a:solidFill>
                <a:schemeClr val="bg1"/>
              </a:solidFill>
            </a:endParaRPr>
          </a:p>
        </p:txBody>
      </p:sp>
      <p:cxnSp>
        <p:nvCxnSpPr>
          <p:cNvPr id="16" name="Straight Arrow Connector 15"/>
          <p:cNvCxnSpPr>
            <a:endCxn id="12" idx="1"/>
          </p:cNvCxnSpPr>
          <p:nvPr/>
        </p:nvCxnSpPr>
        <p:spPr>
          <a:xfrm rot="16200000" flipH="1">
            <a:off x="5156435" y="4369443"/>
            <a:ext cx="1374997" cy="268241"/>
          </a:xfrm>
          <a:prstGeom prst="bentConnector2">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2" name="Slide Number Placeholder 1"/>
          <p:cNvSpPr>
            <a:spLocks noGrp="1"/>
          </p:cNvSpPr>
          <p:nvPr>
            <p:ph type="sldNum" sz="quarter" idx="12"/>
          </p:nvPr>
        </p:nvSpPr>
        <p:spPr/>
        <p:txBody>
          <a:bodyPr/>
          <a:lstStyle/>
          <a:p>
            <a:fld id="{7B2023C8-B124-43A9-8F92-0EEF5BAA9995}" type="slidenum">
              <a:rPr lang="en-CA" smtClean="0"/>
              <a:t>18</a:t>
            </a:fld>
            <a:endParaRPr lang="en-CA"/>
          </a:p>
        </p:txBody>
      </p:sp>
    </p:spTree>
    <p:extLst>
      <p:ext uri="{BB962C8B-B14F-4D97-AF65-F5344CB8AC3E}">
        <p14:creationId xmlns:p14="http://schemas.microsoft.com/office/powerpoint/2010/main" val="15098838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Building Spiffy Applications</a:t>
            </a:r>
            <a:endParaRPr lang="en-CA" dirty="0"/>
          </a:p>
        </p:txBody>
      </p:sp>
      <p:sp>
        <p:nvSpPr>
          <p:cNvPr id="3" name="Content Placeholder 2"/>
          <p:cNvSpPr>
            <a:spLocks noGrp="1"/>
          </p:cNvSpPr>
          <p:nvPr>
            <p:ph idx="1"/>
          </p:nvPr>
        </p:nvSpPr>
        <p:spPr>
          <a:xfrm>
            <a:off x="684211" y="1515359"/>
            <a:ext cx="10285797" cy="4593210"/>
          </a:xfrm>
        </p:spPr>
        <p:txBody>
          <a:bodyPr>
            <a:normAutofit/>
          </a:bodyPr>
          <a:lstStyle/>
          <a:p>
            <a:r>
              <a:rPr lang="en-CA" dirty="0" smtClean="0"/>
              <a:t>Example: File System Free Space Tool</a:t>
            </a:r>
          </a:p>
          <a:p>
            <a:pPr lvl="1"/>
            <a:r>
              <a:rPr lang="en-CA" dirty="0" smtClean="0"/>
              <a:t>plot </a:t>
            </a:r>
            <a:r>
              <a:rPr lang="en-CA" dirty="0"/>
              <a:t>histogram of </a:t>
            </a:r>
            <a:r>
              <a:rPr lang="en-CA" dirty="0" smtClean="0"/>
              <a:t>size </a:t>
            </a:r>
            <a:r>
              <a:rPr lang="en-CA" dirty="0"/>
              <a:t>of free extents</a:t>
            </a:r>
            <a:endParaRPr lang="en-CA" dirty="0" smtClean="0"/>
          </a:p>
          <a:p>
            <a:r>
              <a:rPr lang="en-CA" dirty="0" smtClean="0"/>
              <a:t>Manually (ad-hoc processing)</a:t>
            </a:r>
            <a:endParaRPr lang="en-CA" dirty="0" smtClean="0"/>
          </a:p>
          <a:p>
            <a:pPr lvl="1"/>
            <a:r>
              <a:rPr lang="en-CA" dirty="0" smtClean="0"/>
              <a:t>Find documentation on format of each file system</a:t>
            </a:r>
          </a:p>
          <a:p>
            <a:pPr lvl="2"/>
            <a:r>
              <a:rPr lang="en-CA" dirty="0" smtClean="0"/>
              <a:t>Learn how each file system keeps track of block allocation information</a:t>
            </a:r>
          </a:p>
          <a:p>
            <a:pPr lvl="1"/>
            <a:r>
              <a:rPr lang="en-CA" dirty="0" smtClean="0"/>
              <a:t>Write code to find and process relevant metadata</a:t>
            </a:r>
          </a:p>
          <a:p>
            <a:pPr lvl="2"/>
            <a:r>
              <a:rPr lang="en-CA" dirty="0" smtClean="0"/>
              <a:t>E.g., block bitmap for Ext4, extent items for </a:t>
            </a:r>
            <a:r>
              <a:rPr lang="en-CA" dirty="0" err="1" smtClean="0"/>
              <a:t>Btrfs</a:t>
            </a:r>
            <a:r>
              <a:rPr lang="en-CA" dirty="0" smtClean="0"/>
              <a:t>, </a:t>
            </a:r>
            <a:r>
              <a:rPr lang="en-CA" dirty="0" smtClean="0"/>
              <a:t>SIT </a:t>
            </a:r>
            <a:r>
              <a:rPr lang="en-CA" dirty="0" smtClean="0"/>
              <a:t>entries for </a:t>
            </a:r>
            <a:r>
              <a:rPr lang="en-CA" dirty="0" smtClean="0"/>
              <a:t>F2FS</a:t>
            </a:r>
          </a:p>
          <a:p>
            <a:r>
              <a:rPr lang="en-CA" dirty="0" smtClean="0"/>
              <a:t>Using Spiffy framework</a:t>
            </a:r>
          </a:p>
          <a:p>
            <a:pPr lvl="1"/>
            <a:r>
              <a:rPr lang="en-CA" dirty="0"/>
              <a:t>Use Spiffy to locate metadata that stores block allocation information</a:t>
            </a:r>
          </a:p>
          <a:p>
            <a:pPr lvl="1"/>
            <a:r>
              <a:rPr lang="en-CA" dirty="0"/>
              <a:t>Write file-system specific code to process metadata structures</a:t>
            </a:r>
          </a:p>
          <a:p>
            <a:endParaRPr lang="en-CA" dirty="0"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19</a:t>
            </a:fld>
            <a:endParaRPr lang="en-CA" dirty="0"/>
          </a:p>
        </p:txBody>
      </p:sp>
    </p:spTree>
    <p:extLst>
      <p:ext uri="{BB962C8B-B14F-4D97-AF65-F5344CB8AC3E}">
        <p14:creationId xmlns:p14="http://schemas.microsoft.com/office/powerpoint/2010/main" val="33244906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Coding Style Comparison</a:t>
            </a:r>
            <a:endParaRPr lang="en-CA" dirty="0"/>
          </a:p>
        </p:txBody>
      </p:sp>
      <p:sp>
        <p:nvSpPr>
          <p:cNvPr id="10" name="Content Placeholder 9"/>
          <p:cNvSpPr>
            <a:spLocks noGrp="1"/>
          </p:cNvSpPr>
          <p:nvPr>
            <p:ph idx="1"/>
          </p:nvPr>
        </p:nvSpPr>
        <p:spPr>
          <a:xfrm>
            <a:off x="684211" y="1515358"/>
            <a:ext cx="10285797" cy="1124147"/>
          </a:xfrm>
        </p:spPr>
        <p:txBody>
          <a:bodyPr/>
          <a:lstStyle/>
          <a:p>
            <a:r>
              <a:rPr lang="en-CA" dirty="0" smtClean="0"/>
              <a:t>Manual, Ad-hoc </a:t>
            </a:r>
            <a:r>
              <a:rPr lang="en-CA" dirty="0" smtClean="0"/>
              <a:t>processing  (written in C++)</a:t>
            </a:r>
            <a:endParaRPr lang="en-CA" dirty="0"/>
          </a:p>
        </p:txBody>
      </p: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smtClean="0">
                <a:solidFill>
                  <a:srgbClr val="00B050"/>
                </a:solidFill>
                <a:latin typeface="Courier New" panose="02070309020205020404" pitchFamily="49" charset="0"/>
                <a:cs typeface="Courier New" panose="02070309020205020404" pitchFamily="49" charset="0"/>
              </a:rPr>
              <a:t>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pPr/>
              <a:t>20</a:t>
            </a:fld>
            <a:endParaRPr lang="en-CA" dirty="0"/>
          </a:p>
        </p:txBody>
      </p:sp>
    </p:spTree>
    <p:extLst>
      <p:ext uri="{BB962C8B-B14F-4D97-AF65-F5344CB8AC3E}">
        <p14:creationId xmlns:p14="http://schemas.microsoft.com/office/powerpoint/2010/main" val="36810602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smtClean="0">
                <a:solidFill>
                  <a:srgbClr val="00B050"/>
                </a:solidFill>
                <a:latin typeface="Courier New" panose="02070309020205020404" pitchFamily="49" charset="0"/>
                <a:cs typeface="Courier New" panose="02070309020205020404" pitchFamily="49" charset="0"/>
              </a:rPr>
              <a:t>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p:txBody>
      </p:sp>
      <p:sp>
        <p:nvSpPr>
          <p:cNvPr id="5" name="Title 4"/>
          <p:cNvSpPr>
            <a:spLocks noGrp="1"/>
          </p:cNvSpPr>
          <p:nvPr>
            <p:ph type="title"/>
          </p:nvPr>
        </p:nvSpPr>
        <p:spPr/>
        <p:txBody>
          <a:bodyPr/>
          <a:lstStyle/>
          <a:p>
            <a:r>
              <a:rPr lang="en-CA" dirty="0" smtClean="0"/>
              <a:t>Coding Style Comparison</a:t>
            </a:r>
            <a:endParaRPr lang="en-CA" dirty="0"/>
          </a:p>
        </p:txBody>
      </p:sp>
      <p:sp>
        <p:nvSpPr>
          <p:cNvPr id="2" name="Rectangle 1"/>
          <p:cNvSpPr/>
          <p:nvPr/>
        </p:nvSpPr>
        <p:spPr>
          <a:xfrm>
            <a:off x="1159871" y="2319368"/>
            <a:ext cx="6956981" cy="1159328"/>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p:cNvSpPr txBox="1"/>
          <p:nvPr/>
        </p:nvSpPr>
        <p:spPr>
          <a:xfrm>
            <a:off x="8467095" y="2288300"/>
            <a:ext cx="2895003"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Calculate block size</a:t>
            </a:r>
            <a:br>
              <a:rPr lang="en-CA" dirty="0" smtClean="0">
                <a:solidFill>
                  <a:schemeClr val="bg1"/>
                </a:solidFill>
              </a:rPr>
            </a:br>
            <a:r>
              <a:rPr lang="en-CA" dirty="0" smtClean="0">
                <a:solidFill>
                  <a:schemeClr val="bg1"/>
                </a:solidFill>
              </a:rPr>
              <a:t>from field in super block</a:t>
            </a:r>
            <a:endParaRPr lang="en-CA" dirty="0">
              <a:solidFill>
                <a:schemeClr val="bg1"/>
              </a:solidFill>
            </a:endParaRPr>
          </a:p>
        </p:txBody>
      </p:sp>
      <p:cxnSp>
        <p:nvCxnSpPr>
          <p:cNvPr id="12" name="Straight Arrow Connector 11"/>
          <p:cNvCxnSpPr/>
          <p:nvPr/>
        </p:nvCxnSpPr>
        <p:spPr>
          <a:xfrm rot="10800000" flipV="1">
            <a:off x="6808305" y="2481494"/>
            <a:ext cx="1668973" cy="540000"/>
          </a:xfrm>
          <a:prstGeom prst="bentConnector3">
            <a:avLst>
              <a:gd name="adj1" fmla="val 14269"/>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Manual, Ad-hoc processing</a:t>
            </a:r>
            <a:endParaRPr lang="en-CA" dirty="0"/>
          </a:p>
        </p:txBody>
      </p:sp>
      <p:sp>
        <p:nvSpPr>
          <p:cNvPr id="20" name="Slide Number Placeholder 19"/>
          <p:cNvSpPr>
            <a:spLocks noGrp="1"/>
          </p:cNvSpPr>
          <p:nvPr>
            <p:ph type="sldNum" sz="quarter" idx="12"/>
          </p:nvPr>
        </p:nvSpPr>
        <p:spPr/>
        <p:txBody>
          <a:bodyPr/>
          <a:lstStyle/>
          <a:p>
            <a:fld id="{7B2023C8-B124-43A9-8F92-0EEF5BAA9995}" type="slidenum">
              <a:rPr lang="en-CA" smtClean="0"/>
              <a:pPr/>
              <a:t>21</a:t>
            </a:fld>
            <a:endParaRPr lang="en-CA" dirty="0"/>
          </a:p>
        </p:txBody>
      </p:sp>
    </p:spTree>
    <p:extLst>
      <p:ext uri="{BB962C8B-B14F-4D97-AF65-F5344CB8AC3E}">
        <p14:creationId xmlns:p14="http://schemas.microsoft.com/office/powerpoint/2010/main" val="181048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smtClean="0">
                <a:solidFill>
                  <a:srgbClr val="00B050"/>
                </a:solidFill>
                <a:latin typeface="Courier New" panose="02070309020205020404" pitchFamily="49" charset="0"/>
                <a:cs typeface="Courier New" panose="02070309020205020404" pitchFamily="49" charset="0"/>
              </a:rPr>
              <a:t>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p:txBody>
      </p:sp>
      <p:sp>
        <p:nvSpPr>
          <p:cNvPr id="5" name="Title 4"/>
          <p:cNvSpPr>
            <a:spLocks noGrp="1"/>
          </p:cNvSpPr>
          <p:nvPr>
            <p:ph type="title"/>
          </p:nvPr>
        </p:nvSpPr>
        <p:spPr/>
        <p:txBody>
          <a:bodyPr/>
          <a:lstStyle/>
          <a:p>
            <a:r>
              <a:rPr lang="en-CA" dirty="0" smtClean="0"/>
              <a:t>Coding Style Comparison</a:t>
            </a:r>
            <a:endParaRPr lang="en-CA" dirty="0"/>
          </a:p>
        </p:txBody>
      </p:sp>
      <p:sp>
        <p:nvSpPr>
          <p:cNvPr id="2" name="Rectangle 1"/>
          <p:cNvSpPr/>
          <p:nvPr/>
        </p:nvSpPr>
        <p:spPr>
          <a:xfrm>
            <a:off x="1178351" y="3350407"/>
            <a:ext cx="8860171" cy="1132141"/>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486596" y="1897590"/>
            <a:ext cx="3174359"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Rounds up number of blocks used by block group descriptors </a:t>
            </a:r>
            <a:endParaRPr lang="en-CA" dirty="0">
              <a:solidFill>
                <a:schemeClr val="bg1"/>
              </a:solidFill>
            </a:endParaRPr>
          </a:p>
        </p:txBody>
      </p:sp>
      <p:cxnSp>
        <p:nvCxnSpPr>
          <p:cNvPr id="8" name="Straight Arrow Connector 7"/>
          <p:cNvCxnSpPr/>
          <p:nvPr/>
        </p:nvCxnSpPr>
        <p:spPr>
          <a:xfrm flipH="1">
            <a:off x="7673009" y="2092841"/>
            <a:ext cx="841870" cy="179335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Manual, Ad-hoc processing</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22</a:t>
            </a:fld>
            <a:endParaRPr lang="en-CA" dirty="0"/>
          </a:p>
        </p:txBody>
      </p:sp>
    </p:spTree>
    <p:extLst>
      <p:ext uri="{BB962C8B-B14F-4D97-AF65-F5344CB8AC3E}">
        <p14:creationId xmlns:p14="http://schemas.microsoft.com/office/powerpoint/2010/main" val="39622731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smtClean="0">
                <a:solidFill>
                  <a:srgbClr val="00B050"/>
                </a:solidFill>
                <a:latin typeface="Courier New" panose="02070309020205020404" pitchFamily="49" charset="0"/>
                <a:cs typeface="Courier New" panose="02070309020205020404" pitchFamily="49" charset="0"/>
              </a:rPr>
              <a:t>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p:txBody>
      </p:sp>
      <p:sp>
        <p:nvSpPr>
          <p:cNvPr id="5" name="Title 4"/>
          <p:cNvSpPr>
            <a:spLocks noGrp="1"/>
          </p:cNvSpPr>
          <p:nvPr>
            <p:ph type="title"/>
          </p:nvPr>
        </p:nvSpPr>
        <p:spPr/>
        <p:txBody>
          <a:bodyPr/>
          <a:lstStyle/>
          <a:p>
            <a:r>
              <a:rPr lang="en-CA" dirty="0" smtClean="0"/>
              <a:t>Coding Style Comparison</a:t>
            </a:r>
            <a:endParaRPr lang="en-CA" dirty="0"/>
          </a:p>
        </p:txBody>
      </p:sp>
      <p:sp>
        <p:nvSpPr>
          <p:cNvPr id="2" name="Rectangle 1"/>
          <p:cNvSpPr/>
          <p:nvPr/>
        </p:nvSpPr>
        <p:spPr>
          <a:xfrm>
            <a:off x="1216058" y="4366951"/>
            <a:ext cx="8088198" cy="1376840"/>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844815" y="2490101"/>
            <a:ext cx="3174359" cy="989951"/>
          </a:xfrm>
          <a:prstGeom prst="rect">
            <a:avLst/>
          </a:prstGeom>
          <a:noFill/>
        </p:spPr>
        <p:txBody>
          <a:bodyPr wrap="square" rtlCol="0">
            <a:spAutoFit/>
          </a:bodyPr>
          <a:lstStyle/>
          <a:p>
            <a:pPr>
              <a:lnSpc>
                <a:spcPts val="2400"/>
              </a:lnSpc>
              <a:spcBef>
                <a:spcPts val="600"/>
              </a:spcBef>
            </a:pPr>
            <a:r>
              <a:rPr lang="en-CA" dirty="0" smtClean="0">
                <a:solidFill>
                  <a:schemeClr val="bg1"/>
                </a:solidFill>
              </a:rPr>
              <a:t>Extract free extents from block bitmaps and store into </a:t>
            </a:r>
            <a:r>
              <a:rPr lang="en-CA" i="1" dirty="0" err="1" smtClean="0">
                <a:solidFill>
                  <a:schemeClr val="bg1"/>
                </a:solidFill>
              </a:rPr>
              <a:t>vec</a:t>
            </a:r>
            <a:endParaRPr lang="en-CA" dirty="0">
              <a:solidFill>
                <a:schemeClr val="bg1"/>
              </a:solidFill>
            </a:endParaRPr>
          </a:p>
        </p:txBody>
      </p:sp>
      <p:cxnSp>
        <p:nvCxnSpPr>
          <p:cNvPr id="8" name="Straight Arrow Connector 7"/>
          <p:cNvCxnSpPr/>
          <p:nvPr/>
        </p:nvCxnSpPr>
        <p:spPr>
          <a:xfrm rot="10800000" flipV="1">
            <a:off x="6532775" y="3281052"/>
            <a:ext cx="4147794" cy="2016810"/>
          </a:xfrm>
          <a:prstGeom prst="bentConnector3">
            <a:avLst>
              <a:gd name="adj1" fmla="val 0"/>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Manual, Ad-hoc processing</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30388962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smtClean="0">
                <a:solidFill>
                  <a:srgbClr val="00B050"/>
                </a:solidFill>
                <a:latin typeface="Courier New" panose="02070309020205020404" pitchFamily="49" charset="0"/>
                <a:cs typeface="Courier New" panose="02070309020205020404" pitchFamily="49" charset="0"/>
              </a:rPr>
              <a:t>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p:txBody>
      </p:sp>
      <p:sp>
        <p:nvSpPr>
          <p:cNvPr id="5" name="Title 4"/>
          <p:cNvSpPr>
            <a:spLocks noGrp="1"/>
          </p:cNvSpPr>
          <p:nvPr>
            <p:ph type="title"/>
          </p:nvPr>
        </p:nvSpPr>
        <p:spPr/>
        <p:txBody>
          <a:bodyPr/>
          <a:lstStyle/>
          <a:p>
            <a:r>
              <a:rPr lang="en-CA" dirty="0" smtClean="0"/>
              <a:t>Coding Style Comparison</a:t>
            </a:r>
            <a:endParaRPr lang="en-CA" dirty="0"/>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Manual, Ad-hoc processing</a:t>
            </a:r>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24</a:t>
            </a:fld>
            <a:endParaRPr lang="en-CA" dirty="0"/>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Coding Style Comparison</a:t>
            </a:r>
            <a:endParaRPr lang="en-CA" dirty="0"/>
          </a:p>
        </p:txBody>
      </p:sp>
      <p:sp>
        <p:nvSpPr>
          <p:cNvPr id="10" name="Content Placeholder 9"/>
          <p:cNvSpPr>
            <a:spLocks noGrp="1"/>
          </p:cNvSpPr>
          <p:nvPr>
            <p:ph idx="1"/>
          </p:nvPr>
        </p:nvSpPr>
        <p:spPr>
          <a:xfrm>
            <a:off x="684211" y="1515358"/>
            <a:ext cx="10285797" cy="1576634"/>
          </a:xfrm>
        </p:spPr>
        <p:txBody>
          <a:bodyPr>
            <a:normAutofit/>
          </a:bodyPr>
          <a:lstStyle/>
          <a:p>
            <a:r>
              <a:rPr lang="en-CA" dirty="0" smtClean="0"/>
              <a:t>Using Spiffy Library</a:t>
            </a:r>
          </a:p>
          <a:p>
            <a:pPr lvl="1"/>
            <a:endParaRPr lang="en-CA" dirty="0" smtClean="0"/>
          </a:p>
          <a:p>
            <a:pPr marL="0" indent="0">
              <a:buNone/>
            </a:pPr>
            <a:r>
              <a:rPr lang="en-CA" dirty="0" smtClean="0"/>
              <a:t>  </a:t>
            </a:r>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err="1">
                <a:solidFill>
                  <a:srgbClr val="00B050"/>
                </a:solidFill>
                <a:latin typeface="Courier New" panose="02070309020205020404" pitchFamily="49" charset="0"/>
                <a:cs typeface="Courier New" panose="02070309020205020404" pitchFamily="49" charset="0"/>
              </a:rPr>
              <a:t>functor</a:t>
            </a:r>
            <a:r>
              <a:rPr lang="en-CA" sz="1600" dirty="0">
                <a:solidFill>
                  <a:srgbClr val="00B050"/>
                </a:solidFill>
                <a:latin typeface="Courier New" panose="02070309020205020404" pitchFamily="49" charset="0"/>
                <a:cs typeface="Courier New" panose="02070309020205020404" pitchFamily="49" charset="0"/>
              </a:rPr>
              <a:t> that does same thing as </a:t>
            </a:r>
            <a:r>
              <a:rPr lang="en-CA" sz="1600" dirty="0" err="1">
                <a:solidFill>
                  <a:srgbClr val="00B050"/>
                </a:solidFill>
                <a:latin typeface="Courier New" panose="02070309020205020404" pitchFamily="49" charset="0"/>
                <a:cs typeface="Courier New" panose="02070309020205020404" pitchFamily="49" charset="0"/>
              </a:rPr>
              <a:t>process_block_bitmap</a:t>
            </a:r>
            <a:r>
              <a:rPr lang="en-CA" sz="1600" dirty="0">
                <a:solidFill>
                  <a:srgbClr val="00B050"/>
                </a:solidFill>
                <a:latin typeface="Courier New" panose="02070309020205020404" pitchFamily="49" charset="0"/>
                <a:cs typeface="Courier New" panose="02070309020205020404" pitchFamily="49" charset="0"/>
              </a:rPr>
              <a:t> */</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err="1">
                <a:latin typeface="Courier New" panose="02070309020205020404" pitchFamily="49" charset="0"/>
                <a:cs typeface="Courier New" panose="02070309020205020404" pitchFamily="49" charset="0"/>
              </a:rPr>
              <a:t>BitmapProcessor</a:t>
            </a:r>
            <a:r>
              <a:rPr lang="en-CA" sz="1600" dirty="0">
                <a:latin typeface="Courier New" panose="02070309020205020404" pitchFamily="49" charset="0"/>
                <a:cs typeface="Courier New" panose="02070309020205020404" pitchFamily="49" charset="0"/>
              </a:rPr>
              <a:t> processor(</a:t>
            </a:r>
            <a:r>
              <a:rPr lang="en-CA" sz="1600" dirty="0" err="1">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read super block into memory */</a:t>
            </a:r>
            <a:endParaRPr lang="en-CA" sz="1600" dirty="0">
              <a:solidFill>
                <a:srgbClr val="00B050"/>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5</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6</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8</a:t>
            </a: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traverses file system and finds/processes all block bitmap */</a:t>
            </a:r>
            <a:endParaRPr lang="en-CA" sz="1600" dirty="0">
              <a:solidFill>
                <a:srgbClr val="00B050"/>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9:  </a:t>
            </a:r>
            <a:r>
              <a:rPr lang="en-CA" sz="1600" dirty="0" smtClean="0">
                <a:latin typeface="Courier New" panose="02070309020205020404" pitchFamily="49" charset="0"/>
                <a:cs typeface="Courier New" panose="02070309020205020404" pitchFamily="49" charset="0"/>
              </a:rPr>
              <a:t>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a:latin typeface="Courier New" panose="02070309020205020404" pitchFamily="49" charset="0"/>
                <a:cs typeface="Courier New" panose="02070309020205020404" pitchFamily="49" charset="0"/>
              </a:rPr>
              <a:t>process_by_type</a:t>
            </a:r>
            <a:r>
              <a:rPr lang="en-CA" sz="1600" dirty="0">
                <a:latin typeface="Courier New" panose="02070309020205020404" pitchFamily="49" charset="0"/>
                <a:cs typeface="Courier New" panose="02070309020205020404" pitchFamily="49" charset="0"/>
              </a:rPr>
              <a:t>(BLOCK_BITMAP_TYPE_ID, processor</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p:txBody>
      </p:sp>
      <p:sp>
        <p:nvSpPr>
          <p:cNvPr id="6" name="Content Placeholder 9"/>
          <p:cNvSpPr txBox="1">
            <a:spLocks/>
          </p:cNvSpPr>
          <p:nvPr/>
        </p:nvSpPr>
        <p:spPr>
          <a:xfrm>
            <a:off x="684210" y="4789302"/>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r>
              <a:rPr lang="en-CA" dirty="0" smtClean="0"/>
              <a:t>Advantages</a:t>
            </a:r>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sp>
        <p:nvSpPr>
          <p:cNvPr id="7" name="TextBox 6"/>
          <p:cNvSpPr txBox="1"/>
          <p:nvPr/>
        </p:nvSpPr>
        <p:spPr>
          <a:xfrm>
            <a:off x="8628386" y="2605137"/>
            <a:ext cx="3174359"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rot="10800000" flipV="1">
            <a:off x="5223850" y="2809187"/>
            <a:ext cx="3404538" cy="975161"/>
          </a:xfrm>
          <a:prstGeom prst="bentConnector3">
            <a:avLst>
              <a:gd name="adj1" fmla="val 43884"/>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628386" y="3470537"/>
            <a:ext cx="2895003"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Calculate block size</a:t>
            </a:r>
            <a:br>
              <a:rPr lang="en-CA" dirty="0" smtClean="0">
                <a:solidFill>
                  <a:schemeClr val="bg1"/>
                </a:solidFill>
              </a:rPr>
            </a:br>
            <a:r>
              <a:rPr lang="en-CA" dirty="0" smtClean="0">
                <a:solidFill>
                  <a:schemeClr val="bg1"/>
                </a:solidFill>
              </a:rPr>
              <a:t>from field in super block</a:t>
            </a:r>
            <a:endParaRPr lang="en-CA" dirty="0">
              <a:solidFill>
                <a:schemeClr val="bg1"/>
              </a:solidFill>
            </a:endParaRPr>
          </a:p>
        </p:txBody>
      </p:sp>
      <p:cxnSp>
        <p:nvCxnSpPr>
          <p:cNvPr id="13" name="Straight Arrow Connector 11"/>
          <p:cNvCxnSpPr/>
          <p:nvPr/>
        </p:nvCxnSpPr>
        <p:spPr>
          <a:xfrm rot="10800000" flipV="1">
            <a:off x="7550590" y="3650531"/>
            <a:ext cx="1077796" cy="397779"/>
          </a:xfrm>
          <a:prstGeom prst="bentConnector3">
            <a:avLst>
              <a:gd name="adj1" fmla="val 50000"/>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5" name="Slide Number Placeholder 14"/>
          <p:cNvSpPr>
            <a:spLocks noGrp="1"/>
          </p:cNvSpPr>
          <p:nvPr>
            <p:ph type="sldNum" sz="quarter" idx="12"/>
          </p:nvPr>
        </p:nvSpPr>
        <p:spPr/>
        <p:txBody>
          <a:bodyPr/>
          <a:lstStyle/>
          <a:p>
            <a:fld id="{7B2023C8-B124-43A9-8F92-0EEF5BAA9995}" type="slidenum">
              <a:rPr lang="en-CA" smtClean="0"/>
              <a:pPr/>
              <a:t>25</a:t>
            </a:fld>
            <a:endParaRPr lang="en-CA" dirty="0"/>
          </a:p>
        </p:txBody>
      </p:sp>
    </p:spTree>
    <p:extLst>
      <p:ext uri="{BB962C8B-B14F-4D97-AF65-F5344CB8AC3E}">
        <p14:creationId xmlns:p14="http://schemas.microsoft.com/office/powerpoint/2010/main" val="7502887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Offline Spiffy Applications</a:t>
            </a:r>
            <a:endParaRPr lang="en-CA" dirty="0"/>
          </a:p>
        </p:txBody>
      </p:sp>
      <p:sp>
        <p:nvSpPr>
          <p:cNvPr id="3" name="Content Placeholder 2"/>
          <p:cNvSpPr>
            <a:spLocks noGrp="1"/>
          </p:cNvSpPr>
          <p:nvPr>
            <p:ph idx="1"/>
          </p:nvPr>
        </p:nvSpPr>
        <p:spPr/>
        <p:txBody>
          <a:bodyPr>
            <a:noAutofit/>
          </a:bodyPr>
          <a:lstStyle/>
          <a:p>
            <a:r>
              <a:rPr lang="en-CA" dirty="0" smtClean="0"/>
              <a:t>Offline applications</a:t>
            </a:r>
          </a:p>
          <a:p>
            <a:pPr lvl="1"/>
            <a:r>
              <a:rPr lang="en-CA" dirty="0" smtClean="0"/>
              <a:t>Full traversal, customizable, filter-based policies</a:t>
            </a:r>
          </a:p>
          <a:p>
            <a:pPr lvl="1"/>
            <a:r>
              <a:rPr lang="en-CA" dirty="0" smtClean="0"/>
              <a:t>File System Dump Tool</a:t>
            </a:r>
          </a:p>
          <a:p>
            <a:pPr lvl="2"/>
            <a:r>
              <a:rPr lang="en-CA" dirty="0" smtClean="0"/>
              <a:t>Prints out all metadata in a file system</a:t>
            </a:r>
          </a:p>
          <a:p>
            <a:pPr lvl="1"/>
            <a:r>
              <a:rPr lang="en-CA" dirty="0" smtClean="0"/>
              <a:t>Type-Specific File System Corruptor</a:t>
            </a:r>
          </a:p>
          <a:p>
            <a:pPr lvl="2"/>
            <a:r>
              <a:rPr lang="en-CA" dirty="0" smtClean="0"/>
              <a:t>Finds and corrupts a field in a specified structure</a:t>
            </a:r>
          </a:p>
          <a:p>
            <a:pPr lvl="1"/>
            <a:r>
              <a:rPr lang="en-CA" dirty="0" smtClean="0"/>
              <a:t>Free Space </a:t>
            </a:r>
            <a:r>
              <a:rPr lang="en-CA" dirty="0" smtClean="0"/>
              <a:t>Display </a:t>
            </a:r>
            <a:r>
              <a:rPr lang="en-CA" dirty="0" smtClean="0"/>
              <a:t>Tool</a:t>
            </a:r>
          </a:p>
          <a:p>
            <a:pPr lvl="1"/>
            <a:r>
              <a:rPr lang="en-CA" dirty="0" smtClean="0"/>
              <a:t>File System Conversion Tool</a:t>
            </a:r>
          </a:p>
          <a:p>
            <a:pPr lvl="2"/>
            <a:r>
              <a:rPr lang="en-CA" dirty="0" smtClean="0"/>
              <a:t>Converts from one file system to another while minimizes moving of data blocks</a:t>
            </a:r>
          </a:p>
          <a:p>
            <a:pPr lvl="2"/>
            <a:r>
              <a:rPr lang="en-CA" dirty="0" smtClean="0"/>
              <a:t>Faster than copying to a difference device, reformat, and copy back</a:t>
            </a:r>
            <a:br>
              <a:rPr lang="en-CA" dirty="0" smtClean="0"/>
            </a:br>
            <a:r>
              <a:rPr lang="en-CA" dirty="0" smtClean="0"/>
              <a:t>	</a:t>
            </a:r>
          </a:p>
          <a:p>
            <a:pPr marL="914400" lvl="2" indent="0">
              <a:buNone/>
            </a:pPr>
            <a:r>
              <a:rPr lang="en-CA" dirty="0"/>
              <a:t>	</a:t>
            </a:r>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26</a:t>
            </a:fld>
            <a:endParaRPr lang="en-CA" dirty="0"/>
          </a:p>
        </p:txBody>
      </p:sp>
    </p:spTree>
    <p:extLst>
      <p:ext uri="{BB962C8B-B14F-4D97-AF65-F5344CB8AC3E}">
        <p14:creationId xmlns:p14="http://schemas.microsoft.com/office/powerpoint/2010/main" val="13643550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Online Spiffy Applications</a:t>
            </a:r>
            <a:endParaRPr lang="en-CA" dirty="0"/>
          </a:p>
        </p:txBody>
      </p:sp>
      <p:sp>
        <p:nvSpPr>
          <p:cNvPr id="3" name="Content Placeholder 2"/>
          <p:cNvSpPr>
            <a:spLocks noGrp="1"/>
          </p:cNvSpPr>
          <p:nvPr>
            <p:ph idx="1"/>
          </p:nvPr>
        </p:nvSpPr>
        <p:spPr/>
        <p:txBody>
          <a:bodyPr>
            <a:noAutofit/>
          </a:bodyPr>
          <a:lstStyle/>
          <a:p>
            <a:r>
              <a:rPr lang="en-CA" dirty="0" smtClean="0"/>
              <a:t>Online applications</a:t>
            </a:r>
          </a:p>
          <a:p>
            <a:pPr lvl="1"/>
            <a:r>
              <a:rPr lang="en-CA" dirty="0" smtClean="0"/>
              <a:t>Pointer-based, partial traversal</a:t>
            </a:r>
          </a:p>
          <a:p>
            <a:pPr lvl="1"/>
            <a:r>
              <a:rPr lang="en-CA" dirty="0" smtClean="0"/>
              <a:t>Differentiated Block Layer Cache</a:t>
            </a:r>
          </a:p>
          <a:p>
            <a:pPr lvl="2"/>
            <a:r>
              <a:rPr lang="en-CA" dirty="0"/>
              <a:t>Typically difficult to </a:t>
            </a:r>
            <a:r>
              <a:rPr lang="en-CA" dirty="0" smtClean="0"/>
              <a:t>implement</a:t>
            </a:r>
          </a:p>
          <a:p>
            <a:pPr lvl="2"/>
            <a:r>
              <a:rPr lang="en-CA" dirty="0" smtClean="0"/>
              <a:t> requires file system to provide hints to block layer</a:t>
            </a:r>
          </a:p>
          <a:p>
            <a:pPr lvl="1"/>
            <a:r>
              <a:rPr lang="en-CA" dirty="0"/>
              <a:t>Runtime Interpretation</a:t>
            </a:r>
          </a:p>
          <a:p>
            <a:pPr lvl="2"/>
            <a:r>
              <a:rPr lang="en-CA" dirty="0"/>
              <a:t>Classifies file system IO at the block layer</a:t>
            </a:r>
          </a:p>
          <a:p>
            <a:pPr lvl="2"/>
            <a:r>
              <a:rPr lang="en-CA"/>
              <a:t>Requires </a:t>
            </a:r>
            <a:r>
              <a:rPr lang="en-CA" i="1"/>
              <a:t>no</a:t>
            </a:r>
            <a:r>
              <a:rPr lang="en-CA"/>
              <a:t> modification to file </a:t>
            </a:r>
            <a:r>
              <a:rPr lang="en-CA" smtClean="0"/>
              <a:t>system</a:t>
            </a:r>
            <a:endParaRPr lang="en-CA" dirty="0"/>
          </a:p>
          <a:p>
            <a:pPr lvl="1"/>
            <a:r>
              <a:rPr lang="en-CA" dirty="0" smtClean="0"/>
              <a:t>Spiffy Block Layer Cache</a:t>
            </a:r>
          </a:p>
          <a:p>
            <a:pPr lvl="2"/>
            <a:r>
              <a:rPr lang="en-CA" dirty="0" smtClean="0"/>
              <a:t>Utilizes runtime interpretation module</a:t>
            </a:r>
          </a:p>
          <a:p>
            <a:pPr lvl="2"/>
            <a:r>
              <a:rPr lang="en-CA" dirty="0" smtClean="0"/>
              <a:t>Preferentially caches files belonging to specified user(s)</a:t>
            </a:r>
          </a:p>
          <a:p>
            <a:pPr marL="914400" lvl="2" indent="0">
              <a:buNone/>
            </a:pPr>
            <a:r>
              <a:rPr lang="en-CA" dirty="0"/>
              <a:t>	</a:t>
            </a:r>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27</a:t>
            </a:fld>
            <a:endParaRPr lang="en-CA" dirty="0"/>
          </a:p>
        </p:txBody>
      </p:sp>
    </p:spTree>
    <p:extLst>
      <p:ext uri="{BB962C8B-B14F-4D97-AF65-F5344CB8AC3E}">
        <p14:creationId xmlns:p14="http://schemas.microsoft.com/office/powerpoint/2010/main" val="28155113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Programming </a:t>
            </a:r>
            <a:r>
              <a:rPr lang="en-CA" dirty="0"/>
              <a:t>Effort</a:t>
            </a:r>
          </a:p>
        </p:txBody>
      </p:sp>
      <p:sp>
        <p:nvSpPr>
          <p:cNvPr id="3" name="Content Placeholder 2"/>
          <p:cNvSpPr>
            <a:spLocks noGrp="1"/>
          </p:cNvSpPr>
          <p:nvPr>
            <p:ph idx="1"/>
          </p:nvPr>
        </p:nvSpPr>
        <p:spPr>
          <a:xfrm>
            <a:off x="646112" y="1543050"/>
            <a:ext cx="10600065" cy="4914311"/>
          </a:xfrm>
        </p:spPr>
        <p:txBody>
          <a:bodyPr>
            <a:normAutofit/>
          </a:bodyPr>
          <a:lstStyle/>
          <a:p>
            <a:endParaRPr lang="en-CA" dirty="0" smtClean="0"/>
          </a:p>
          <a:p>
            <a:endParaRPr lang="en-CA" dirty="0"/>
          </a:p>
          <a:p>
            <a:endParaRPr lang="en-CA" dirty="0" smtClean="0"/>
          </a:p>
          <a:p>
            <a:endParaRPr lang="en-CA" dirty="0" smtClean="0"/>
          </a:p>
          <a:p>
            <a:endParaRPr lang="en-CA" dirty="0" smtClean="0"/>
          </a:p>
          <a:p>
            <a:endParaRPr lang="en-CA" dirty="0" smtClean="0"/>
          </a:p>
          <a:p>
            <a:endParaRPr lang="en-CA" dirty="0" smtClean="0"/>
          </a:p>
          <a:p>
            <a:r>
              <a:rPr lang="en-CA" dirty="0" smtClean="0"/>
              <a:t>Programming effort reduced for read-only file system applications</a:t>
            </a:r>
          </a:p>
          <a:p>
            <a:pPr lvl="1"/>
            <a:r>
              <a:rPr lang="en-CA" dirty="0" smtClean="0"/>
              <a:t>Both online and offline</a:t>
            </a:r>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xmlns="" val="20000"/>
                    </a:ext>
                  </a:extLst>
                </a:gridCol>
                <a:gridCol w="2017336">
                  <a:extLst>
                    <a:ext uri="{9D8B030D-6E8A-4147-A177-3AD203B41FA5}">
                      <a16:colId xmlns:a16="http://schemas.microsoft.com/office/drawing/2014/main" xmlns="" val="20001"/>
                    </a:ext>
                  </a:extLst>
                </a:gridCol>
                <a:gridCol w="3289955">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xmlns=""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xmlns=""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xmlns=""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xmlns=""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8"/>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28</a:t>
            </a:fld>
            <a:endParaRPr lang="en-CA" dirty="0"/>
          </a:p>
        </p:txBody>
      </p:sp>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Ext4 to F2FS Converter</a:t>
            </a:r>
            <a:endParaRPr lang="en-CA" dirty="0"/>
          </a:p>
        </p:txBody>
      </p:sp>
      <p:sp>
        <p:nvSpPr>
          <p:cNvPr id="3" name="Content Placeholder 2"/>
          <p:cNvSpPr>
            <a:spLocks noGrp="1"/>
          </p:cNvSpPr>
          <p:nvPr>
            <p:ph idx="1"/>
          </p:nvPr>
        </p:nvSpPr>
        <p:spPr>
          <a:xfrm>
            <a:off x="646112" y="1543050"/>
            <a:ext cx="10600065" cy="4914311"/>
          </a:xfrm>
        </p:spPr>
        <p:txBody>
          <a:bodyPr>
            <a:normAutofit/>
          </a:bodyPr>
          <a:lstStyle/>
          <a:p>
            <a:r>
              <a:rPr lang="en-CA" dirty="0" smtClean="0"/>
              <a:t>Compares manually written vs. Spiffy-assisted application</a:t>
            </a:r>
          </a:p>
          <a:p>
            <a:r>
              <a:rPr lang="en-CA" dirty="0" smtClean="0"/>
              <a:t>Converts 64GB file system with 16GB file set on SSD</a:t>
            </a:r>
          </a:p>
          <a:p>
            <a:pPr lvl="1"/>
            <a:r>
              <a:rPr lang="en-CA" dirty="0" smtClean="0"/>
              <a:t>Copy converter copies data to local disk, reformat, then copies back</a:t>
            </a:r>
          </a:p>
          <a:p>
            <a:endParaRPr lang="en-CA" dirty="0"/>
          </a:p>
          <a:p>
            <a:endParaRPr lang="en-CA" dirty="0" smtClean="0"/>
          </a:p>
          <a:p>
            <a:endParaRPr lang="en-CA" dirty="0"/>
          </a:p>
          <a:p>
            <a:endParaRPr lang="en-CA" dirty="0" smtClean="0"/>
          </a:p>
          <a:p>
            <a:r>
              <a:rPr lang="en-CA" dirty="0" smtClean="0"/>
              <a:t>Copy converter 30~50 times slower</a:t>
            </a:r>
          </a:p>
          <a:p>
            <a:r>
              <a:rPr lang="en-CA" dirty="0" smtClean="0"/>
              <a:t>Overhead of using Spiffy at most 16.7%</a:t>
            </a:r>
          </a:p>
          <a:p>
            <a:endParaRPr lang="en-CA" dirty="0" smtClean="0"/>
          </a:p>
          <a:p>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2098918572"/>
              </p:ext>
            </p:extLst>
          </p:nvPr>
        </p:nvGraphicFramePr>
        <p:xfrm>
          <a:off x="1645746" y="3073105"/>
          <a:ext cx="7799909" cy="1854200"/>
        </p:xfrm>
        <a:graphic>
          <a:graphicData uri="http://schemas.openxmlformats.org/drawingml/2006/table">
            <a:tbl>
              <a:tblPr firstRow="1" bandRow="1">
                <a:tableStyleId>{69012ECD-51FC-41F1-AA8D-1B2483CD663E}</a:tableStyleId>
              </a:tblPr>
              <a:tblGrid>
                <a:gridCol w="1125734">
                  <a:extLst>
                    <a:ext uri="{9D8B030D-6E8A-4147-A177-3AD203B41FA5}">
                      <a16:colId xmlns:a16="http://schemas.microsoft.com/office/drawing/2014/main" xmlns="" val="20000"/>
                    </a:ext>
                  </a:extLst>
                </a:gridCol>
                <a:gridCol w="2224725">
                  <a:extLst>
                    <a:ext uri="{9D8B030D-6E8A-4147-A177-3AD203B41FA5}">
                      <a16:colId xmlns:a16="http://schemas.microsoft.com/office/drawing/2014/main" xmlns="" val="20001"/>
                    </a:ext>
                  </a:extLst>
                </a:gridCol>
                <a:gridCol w="2224725">
                  <a:extLst>
                    <a:ext uri="{9D8B030D-6E8A-4147-A177-3AD203B41FA5}">
                      <a16:colId xmlns:a16="http://schemas.microsoft.com/office/drawing/2014/main" xmlns="" val="20002"/>
                    </a:ext>
                  </a:extLst>
                </a:gridCol>
                <a:gridCol w="2224725">
                  <a:extLst>
                    <a:ext uri="{9D8B030D-6E8A-4147-A177-3AD203B41FA5}">
                      <a16:colId xmlns:a16="http://schemas.microsoft.com/office/drawing/2014/main" xmlns="" val="20003"/>
                    </a:ext>
                  </a:extLst>
                </a:gridCol>
              </a:tblGrid>
              <a:tr h="370840">
                <a:tc>
                  <a:txBody>
                    <a:bodyPr/>
                    <a:lstStyle/>
                    <a:p>
                      <a:r>
                        <a:rPr lang="en-CA" dirty="0" smtClean="0">
                          <a:solidFill>
                            <a:schemeClr val="tx1"/>
                          </a:solidFill>
                        </a:rPr>
                        <a:t># of files</a:t>
                      </a:r>
                      <a:endParaRPr lang="en-CA" dirty="0">
                        <a:solidFill>
                          <a:schemeClr val="tx1"/>
                        </a:solidFill>
                      </a:endParaRPr>
                    </a:p>
                  </a:txBody>
                  <a:tcPr/>
                </a:tc>
                <a:tc>
                  <a:txBody>
                    <a:bodyPr/>
                    <a:lstStyle/>
                    <a:p>
                      <a:r>
                        <a:rPr lang="en-CA" dirty="0" smtClean="0">
                          <a:solidFill>
                            <a:schemeClr val="tx1"/>
                          </a:solidFill>
                        </a:rPr>
                        <a:t>Copy Converter</a:t>
                      </a:r>
                      <a:endParaRPr lang="en-CA" dirty="0">
                        <a:solidFill>
                          <a:schemeClr val="tx1"/>
                        </a:solidFill>
                      </a:endParaRPr>
                    </a:p>
                  </a:txBody>
                  <a:tcPr/>
                </a:tc>
                <a:tc>
                  <a:txBody>
                    <a:bodyPr/>
                    <a:lstStyle/>
                    <a:p>
                      <a:r>
                        <a:rPr lang="en-CA" dirty="0" smtClean="0">
                          <a:solidFill>
                            <a:schemeClr val="tx1"/>
                          </a:solidFill>
                        </a:rPr>
                        <a:t>Manual</a:t>
                      </a:r>
                      <a:r>
                        <a:rPr lang="en-CA" baseline="0" dirty="0" smtClean="0">
                          <a:solidFill>
                            <a:schemeClr val="tx1"/>
                          </a:solidFill>
                        </a:rPr>
                        <a:t> Converter</a:t>
                      </a:r>
                      <a:endParaRPr lang="en-CA" dirty="0">
                        <a:solidFill>
                          <a:schemeClr val="tx1"/>
                        </a:solidFill>
                      </a:endParaRPr>
                    </a:p>
                  </a:txBody>
                  <a:tcPr/>
                </a:tc>
                <a:tc>
                  <a:txBody>
                    <a:bodyPr/>
                    <a:lstStyle/>
                    <a:p>
                      <a:r>
                        <a:rPr lang="en-CA" dirty="0" smtClean="0">
                          <a:solidFill>
                            <a:schemeClr val="tx1"/>
                          </a:solidFill>
                        </a:rPr>
                        <a:t>Spiffy Converter</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1600" dirty="0" smtClean="0">
                          <a:solidFill>
                            <a:schemeClr val="bg1"/>
                          </a:solidFill>
                        </a:rPr>
                        <a:t>20000</a:t>
                      </a:r>
                      <a:endParaRPr lang="en-CA" sz="1600"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188.17 ± 3.65s</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6.55 ± 0.53s</a:t>
                      </a:r>
                      <a:endParaRPr lang="en-CA"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b="0" i="0" u="none" strike="noStrike" kern="1200" baseline="0" dirty="0" smtClean="0">
                          <a:solidFill>
                            <a:schemeClr val="bg1"/>
                          </a:solidFill>
                          <a:latin typeface="+mn-lt"/>
                          <a:ea typeface="+mn-ea"/>
                          <a:cs typeface="+mn-cs"/>
                        </a:rPr>
                        <a:t>7:03 ± 0:2s</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sz="1600" dirty="0" smtClean="0">
                          <a:solidFill>
                            <a:schemeClr val="bg1"/>
                          </a:solidFill>
                        </a:rPr>
                        <a:t>5000</a:t>
                      </a:r>
                      <a:endParaRPr lang="en-CA" sz="1600"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190.28 ± 2.15s </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3.46 ± 0.17s</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4:01 ± 0:09s </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sz="1600" dirty="0" smtClean="0">
                          <a:solidFill>
                            <a:schemeClr val="bg1"/>
                          </a:solidFill>
                        </a:rPr>
                        <a:t>1000</a:t>
                      </a:r>
                      <a:endParaRPr lang="en-CA" sz="1600"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192.74 ± 2.28s </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3.29 ± 0.11s</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3:84 ± 0:03s </a:t>
                      </a:r>
                      <a:endParaRPr lang="en-CA" dirty="0">
                        <a:solidFill>
                          <a:schemeClr val="bg1"/>
                        </a:solidFill>
                      </a:endParaRPr>
                    </a:p>
                  </a:txBody>
                  <a:tcPr/>
                </a:tc>
                <a:extLst>
                  <a:ext uri="{0D108BD9-81ED-4DB2-BD59-A6C34878D82A}">
                    <a16:rowId xmlns:a16="http://schemas.microsoft.com/office/drawing/2014/main" xmlns="" val="10003"/>
                  </a:ext>
                </a:extLst>
              </a:tr>
              <a:tr h="370840">
                <a:tc>
                  <a:txBody>
                    <a:bodyPr/>
                    <a:lstStyle/>
                    <a:p>
                      <a:r>
                        <a:rPr lang="en-CA" sz="1600" dirty="0" smtClean="0">
                          <a:solidFill>
                            <a:schemeClr val="bg1"/>
                          </a:solidFill>
                        </a:rPr>
                        <a:t>100</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b="0" i="0" u="none" strike="noStrike" kern="1200" baseline="0" dirty="0" smtClean="0">
                          <a:solidFill>
                            <a:schemeClr val="bg1"/>
                          </a:solidFill>
                          <a:latin typeface="+mn-lt"/>
                          <a:ea typeface="+mn-ea"/>
                          <a:cs typeface="+mn-cs"/>
                        </a:rPr>
                        <a:t>195.11 ± 0.18s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b="0" i="0" u="none" strike="noStrike" kern="1200" baseline="0" dirty="0" smtClean="0">
                          <a:solidFill>
                            <a:schemeClr val="bg1"/>
                          </a:solidFill>
                          <a:latin typeface="+mn-lt"/>
                          <a:ea typeface="+mn-ea"/>
                          <a:cs typeface="+mn-cs"/>
                        </a:rPr>
                        <a:t>3.25 ± 0.11s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b="0" i="0" u="none" strike="noStrike" kern="1200" baseline="0" dirty="0" smtClean="0">
                          <a:solidFill>
                            <a:schemeClr val="bg1"/>
                          </a:solidFill>
                          <a:latin typeface="+mn-lt"/>
                          <a:ea typeface="+mn-ea"/>
                          <a:cs typeface="+mn-cs"/>
                        </a:rPr>
                        <a:t>3:71 ± 0:13s</a:t>
                      </a:r>
                      <a:endParaRPr lang="en-CA" dirty="0" smtClean="0">
                        <a:solidFill>
                          <a:schemeClr val="bg1"/>
                        </a:solidFill>
                      </a:endParaRPr>
                    </a:p>
                  </a:txBody>
                  <a:tcPr/>
                </a:tc>
                <a:extLst>
                  <a:ext uri="{0D108BD9-81ED-4DB2-BD59-A6C34878D82A}">
                    <a16:rowId xmlns:a16="http://schemas.microsoft.com/office/drawing/2014/main" xmlns="" val="10004"/>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Corruption Experiment</a:t>
            </a:r>
            <a:endParaRPr lang="en-CA" dirty="0"/>
          </a:p>
        </p:txBody>
      </p:sp>
      <p:sp>
        <p:nvSpPr>
          <p:cNvPr id="3" name="Content Placeholder 2"/>
          <p:cNvSpPr>
            <a:spLocks noGrp="1"/>
          </p:cNvSpPr>
          <p:nvPr>
            <p:ph idx="1"/>
          </p:nvPr>
        </p:nvSpPr>
        <p:spPr>
          <a:xfrm>
            <a:off x="646112" y="1543050"/>
            <a:ext cx="10600065" cy="4914311"/>
          </a:xfrm>
        </p:spPr>
        <p:txBody>
          <a:bodyPr>
            <a:normAutofit/>
          </a:bodyPr>
          <a:lstStyle/>
          <a:p>
            <a:r>
              <a:rPr lang="en-CA" dirty="0" smtClean="0"/>
              <a:t>Run Spiffy dump tool and existing dump tools on corrupt images</a:t>
            </a:r>
          </a:p>
          <a:p>
            <a:pPr lvl="1"/>
            <a:r>
              <a:rPr lang="en-CA" dirty="0" smtClean="0"/>
              <a:t>Corrupt images generated by type-specific corruptor</a:t>
            </a:r>
          </a:p>
          <a:p>
            <a:r>
              <a:rPr lang="en-CA" dirty="0" smtClean="0"/>
              <a:t>Spiffy is robust against corruption, 2 out of 3 existing tools crash:</a:t>
            </a:r>
            <a:endParaRPr lang="en-CA" dirty="0"/>
          </a:p>
          <a:p>
            <a:endParaRPr lang="en-CA" dirty="0" smtClean="0"/>
          </a:p>
          <a:p>
            <a:endParaRPr lang="en-CA" dirty="0" smtClean="0"/>
          </a:p>
          <a:p>
            <a:endParaRPr lang="en-CA" dirty="0" smtClean="0"/>
          </a:p>
          <a:p>
            <a:endParaRPr lang="en-CA" dirty="0" smtClean="0"/>
          </a:p>
          <a:p>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xmlns="" val="20000"/>
                    </a:ext>
                  </a:extLst>
                </a:gridCol>
                <a:gridCol w="1357460">
                  <a:extLst>
                    <a:ext uri="{9D8B030D-6E8A-4147-A177-3AD203B41FA5}">
                      <a16:colId xmlns:a16="http://schemas.microsoft.com/office/drawing/2014/main" xmlns="" val="20001"/>
                    </a:ext>
                  </a:extLst>
                </a:gridCol>
                <a:gridCol w="2375554">
                  <a:extLst>
                    <a:ext uri="{9D8B030D-6E8A-4147-A177-3AD203B41FA5}">
                      <a16:colId xmlns:a16="http://schemas.microsoft.com/office/drawing/2014/main" xmlns="" val="20002"/>
                    </a:ext>
                  </a:extLst>
                </a:gridCol>
                <a:gridCol w="5165889">
                  <a:extLst>
                    <a:ext uri="{9D8B030D-6E8A-4147-A177-3AD203B41FA5}">
                      <a16:colId xmlns:a16="http://schemas.microsoft.com/office/drawing/2014/main" xmlns=""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xmlns=""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xmlns=""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xmlns=""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xmlns=""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xmlns=""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xmlns="" val="10006"/>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30</a:t>
            </a:fld>
            <a:endParaRPr lang="en-CA" dirty="0"/>
          </a:p>
        </p:txBody>
      </p:sp>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dirty="0" smtClean="0"/>
              <a:t>Annotation language for specifying file system format</a:t>
            </a:r>
          </a:p>
          <a:p>
            <a:pPr lvl="1"/>
            <a:r>
              <a:rPr lang="en-CA" dirty="0" smtClean="0"/>
              <a:t>API for interpreting, parsing, and traversing file system metadata</a:t>
            </a:r>
          </a:p>
          <a:p>
            <a:pPr lvl="2"/>
            <a:r>
              <a:rPr lang="en-CA" dirty="0" smtClean="0"/>
              <a:t>Simplifies development of storage applications</a:t>
            </a:r>
          </a:p>
          <a:p>
            <a:pPr lvl="2"/>
            <a:r>
              <a:rPr lang="en-CA" dirty="0" smtClean="0"/>
              <a:t>Reduces file-system specific code</a:t>
            </a:r>
          </a:p>
          <a:p>
            <a:pPr lvl="1"/>
            <a:r>
              <a:rPr lang="en-CA" dirty="0" smtClean="0"/>
              <a:t>Compiler-generated library from annotated data structures</a:t>
            </a:r>
          </a:p>
          <a:p>
            <a:pPr lvl="2"/>
            <a:r>
              <a:rPr lang="en-CA" dirty="0"/>
              <a:t>Robust against file system </a:t>
            </a:r>
            <a:r>
              <a:rPr lang="en-CA" dirty="0" smtClean="0"/>
              <a:t>corruption</a:t>
            </a:r>
          </a:p>
          <a:p>
            <a:pPr lvl="2"/>
            <a:r>
              <a:rPr lang="en-CA" dirty="0" smtClean="0"/>
              <a:t>Achieves good performance</a:t>
            </a:r>
          </a:p>
          <a:p>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Preferential Caching</a:t>
            </a:r>
            <a:endParaRPr lang="en-CA" dirty="0"/>
          </a:p>
        </p:txBody>
      </p:sp>
      <p:sp>
        <p:nvSpPr>
          <p:cNvPr id="3" name="Content Placeholder 2"/>
          <p:cNvSpPr>
            <a:spLocks noGrp="1"/>
          </p:cNvSpPr>
          <p:nvPr>
            <p:ph idx="1"/>
          </p:nvPr>
        </p:nvSpPr>
        <p:spPr>
          <a:xfrm>
            <a:off x="684211" y="1515358"/>
            <a:ext cx="10285797" cy="4583783"/>
          </a:xfrm>
        </p:spPr>
        <p:txBody>
          <a:bodyPr>
            <a:normAutofit lnSpcReduction="10000"/>
          </a:bodyPr>
          <a:lstStyle/>
          <a:p>
            <a:r>
              <a:rPr lang="en-CA" dirty="0" smtClean="0"/>
              <a:t>2 identical fileservers running on block layer cache</a:t>
            </a:r>
          </a:p>
          <a:p>
            <a:endParaRPr lang="en-CA" dirty="0"/>
          </a:p>
          <a:p>
            <a:endParaRPr lang="en-CA" dirty="0" smtClean="0"/>
          </a:p>
          <a:p>
            <a:endParaRPr lang="en-CA" dirty="0"/>
          </a:p>
          <a:p>
            <a:endParaRPr lang="en-CA" dirty="0" smtClean="0"/>
          </a:p>
          <a:p>
            <a:endParaRPr lang="en-CA" dirty="0"/>
          </a:p>
          <a:p>
            <a:endParaRPr lang="en-CA" dirty="0" smtClean="0"/>
          </a:p>
          <a:p>
            <a:endParaRPr lang="en-CA" dirty="0" smtClean="0"/>
          </a:p>
          <a:p>
            <a:r>
              <a:rPr lang="en-CA" dirty="0" smtClean="0"/>
              <a:t>Overall </a:t>
            </a:r>
            <a:r>
              <a:rPr lang="en-CA" dirty="0"/>
              <a:t>p</a:t>
            </a:r>
            <a:r>
              <a:rPr lang="en-CA" dirty="0" smtClean="0"/>
              <a:t>erformance improves with preferential caching</a:t>
            </a:r>
          </a:p>
          <a:p>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31978732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Solution: Spiffy</a:t>
            </a:r>
            <a:r>
              <a:rPr lang="en-CA" dirty="0"/>
              <a:t> </a:t>
            </a:r>
            <a:r>
              <a:rPr lang="en-CA" dirty="0" smtClean="0"/>
              <a:t>File System Library </a:t>
            </a:r>
            <a:endParaRPr lang="en-CA" dirty="0"/>
          </a:p>
        </p:txBody>
      </p:sp>
      <p:sp>
        <p:nvSpPr>
          <p:cNvPr id="3" name="Content Placeholder 2"/>
          <p:cNvSpPr>
            <a:spLocks noGrp="1"/>
          </p:cNvSpPr>
          <p:nvPr>
            <p:ph idx="1"/>
          </p:nvPr>
        </p:nvSpPr>
        <p:spPr/>
        <p:txBody>
          <a:bodyPr/>
          <a:lstStyle/>
          <a:p>
            <a:r>
              <a:rPr lang="en-CA" dirty="0" smtClean="0"/>
              <a:t>Generated from annotated file system header files</a:t>
            </a:r>
          </a:p>
          <a:p>
            <a:r>
              <a:rPr lang="en-CA" dirty="0" smtClean="0"/>
              <a:t>Standard API for finding and traversing file systems structures</a:t>
            </a:r>
          </a:p>
          <a:p>
            <a:pPr lvl="1"/>
            <a:r>
              <a:rPr lang="en-CA" dirty="0" smtClean="0"/>
              <a:t>Provides robust parsing and serialization routines</a:t>
            </a:r>
          </a:p>
          <a:p>
            <a:r>
              <a:rPr lang="en-CA" dirty="0" smtClean="0"/>
              <a:t>Enables building generic application framework</a:t>
            </a:r>
          </a:p>
          <a:p>
            <a:pPr lvl="1"/>
            <a:r>
              <a:rPr lang="en-CA" dirty="0" smtClean="0"/>
              <a:t>Facilitates support for multiple file systems</a:t>
            </a:r>
          </a:p>
          <a:p>
            <a:pPr lvl="1"/>
            <a:r>
              <a:rPr lang="en-CA" dirty="0" smtClean="0"/>
              <a:t>Reduces dependence on file-system specific code </a:t>
            </a:r>
          </a:p>
          <a:p>
            <a:r>
              <a:rPr lang="en-CA" dirty="0" smtClean="0"/>
              <a:t>Example: </a:t>
            </a:r>
            <a:r>
              <a:rPr lang="en-CA" dirty="0"/>
              <a:t>File System Free Space </a:t>
            </a:r>
            <a:r>
              <a:rPr lang="en-CA" dirty="0" smtClean="0"/>
              <a:t>Tool</a:t>
            </a:r>
          </a:p>
          <a:p>
            <a:pPr lvl="1"/>
            <a:r>
              <a:rPr lang="en-CA" dirty="0" smtClean="0"/>
              <a:t>Use Spiffy to locate metadata that stores block allocation information</a:t>
            </a:r>
          </a:p>
          <a:p>
            <a:pPr lvl="1"/>
            <a:r>
              <a:rPr lang="en-CA" dirty="0" smtClean="0"/>
              <a:t>Write file-system specific code to process metadata structures</a:t>
            </a:r>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3245412089"/>
      </p:ext>
    </p:extLst>
  </p:cSld>
  <p:clrMapOvr>
    <a:masterClrMapping/>
  </p:clrMapOvr>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1248</TotalTime>
  <Words>3482</Words>
  <Application>Microsoft Office PowerPoint</Application>
  <PresentationFormat>Widescreen</PresentationFormat>
  <Paragraphs>706</Paragraphs>
  <Slides>33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Calibri</vt:lpstr>
      <vt:lpstr>Century Gothic</vt:lpstr>
      <vt:lpstr>Courier New</vt:lpstr>
      <vt:lpstr>Wingdings 3</vt:lpstr>
      <vt:lpstr>Slice</vt:lpstr>
      <vt:lpstr>Spiffy: Enabling File-System Aware Storage Applications </vt:lpstr>
      <vt:lpstr>Introduction</vt:lpstr>
      <vt:lpstr>Problem</vt:lpstr>
      <vt:lpstr>Problem: Ad-hoc Processing</vt:lpstr>
      <vt:lpstr>Goals</vt:lpstr>
      <vt:lpstr>Approach</vt:lpstr>
      <vt:lpstr>Spiffy Annotations</vt:lpstr>
      <vt:lpstr>Spiffy Library</vt:lpstr>
      <vt:lpstr>Spiffy Applications</vt:lpstr>
      <vt:lpstr>Talk Outline</vt:lpstr>
      <vt:lpstr>Annotation Requirements</vt:lpstr>
      <vt:lpstr>Annotation Requirements</vt:lpstr>
      <vt:lpstr>Evaluation: Annotation Effort</vt:lpstr>
      <vt:lpstr>Generating Spiffy Library</vt:lpstr>
      <vt:lpstr>Generating Spiffy Library</vt:lpstr>
      <vt:lpstr>Generating Spiffy Library</vt:lpstr>
      <vt:lpstr>Generating Spiffy Library</vt:lpstr>
      <vt:lpstr>Generating Spiffy Library</vt:lpstr>
      <vt:lpstr>Building Spiffy Applications</vt:lpstr>
      <vt:lpstr>Coding Style Comparison</vt:lpstr>
      <vt:lpstr>Coding Style Comparison</vt:lpstr>
      <vt:lpstr>Coding Style Comparison</vt:lpstr>
      <vt:lpstr>Coding Style Comparison</vt:lpstr>
      <vt:lpstr>Coding Style Comparison</vt:lpstr>
      <vt:lpstr>Coding Style Comparison</vt:lpstr>
      <vt:lpstr>Offline Spiffy Applications</vt:lpstr>
      <vt:lpstr>Online Spiffy Applications</vt:lpstr>
      <vt:lpstr>Evaluation: Programming Effort</vt:lpstr>
      <vt:lpstr>Evaluation: Ext4 to F2FS Converter</vt:lpstr>
      <vt:lpstr>Evaluation: Corruption Experiment</vt:lpstr>
      <vt:lpstr>Conclusion</vt:lpstr>
      <vt:lpstr>Evaluation: Preferential Caching</vt:lpstr>
      <vt:lpstr>Solution: Spiffy File System Library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90</cp:revision>
  <dcterms:created xsi:type="dcterms:W3CDTF">2018-01-30T09:02:25Z</dcterms:created>
  <dcterms:modified xsi:type="dcterms:W3CDTF">2018-02-06T18:12:49Z</dcterms:modified>
</cp:coreProperties>
</file>