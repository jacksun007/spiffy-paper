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2"/>
  </p:notesMasterIdLst>
  <p:sldIdLst>
    <p:sldId id="256" r:id="rId2"/>
    <p:sldId id="288" r:id="rId3"/>
    <p:sldId id="290" r:id="rId4"/>
    <p:sldId id="289" r:id="rId5"/>
    <p:sldId id="291" r:id="rId6"/>
    <p:sldId id="309" r:id="rId7"/>
    <p:sldId id="293" r:id="rId8"/>
    <p:sldId id="294" r:id="rId9"/>
    <p:sldId id="295" r:id="rId10"/>
    <p:sldId id="301" r:id="rId11"/>
    <p:sldId id="308" r:id="rId12"/>
    <p:sldId id="298" r:id="rId13"/>
    <p:sldId id="310" r:id="rId14"/>
    <p:sldId id="300" r:id="rId15"/>
    <p:sldId id="302" r:id="rId16"/>
    <p:sldId id="311" r:id="rId17"/>
    <p:sldId id="283" r:id="rId18"/>
    <p:sldId id="306" r:id="rId19"/>
    <p:sldId id="271" r:id="rId20"/>
    <p:sldId id="268" r:id="rId21"/>
    <p:sldId id="312" r:id="rId22"/>
    <p:sldId id="267" r:id="rId23"/>
    <p:sldId id="279" r:id="rId24"/>
    <p:sldId id="280" r:id="rId25"/>
    <p:sldId id="259" r:id="rId26"/>
    <p:sldId id="281" r:id="rId27"/>
    <p:sldId id="258" r:id="rId28"/>
    <p:sldId id="261" r:id="rId29"/>
    <p:sldId id="260" r:id="rId30"/>
    <p:sldId id="29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076" autoAdjust="0"/>
  </p:normalViewPr>
  <p:slideViewPr>
    <p:cSldViewPr snapToGrid="0">
      <p:cViewPr varScale="1">
        <p:scale>
          <a:sx n="96" d="100"/>
          <a:sy n="96" d="100"/>
        </p:scale>
        <p:origin x="31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ser>
        <c:dLbls>
          <c:showLegendKey val="0"/>
          <c:showVal val="0"/>
          <c:showCatName val="0"/>
          <c:showSerName val="0"/>
          <c:showPercent val="0"/>
          <c:showBubbleSize val="0"/>
        </c:dLbls>
        <c:marker val="1"/>
        <c:smooth val="0"/>
        <c:axId val="146567760"/>
        <c:axId val="146572112"/>
      </c:lineChart>
      <c:catAx>
        <c:axId val="146567760"/>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46572112"/>
        <c:crosses val="autoZero"/>
        <c:auto val="0"/>
        <c:lblAlgn val="ctr"/>
        <c:lblOffset val="100"/>
        <c:noMultiLvlLbl val="0"/>
      </c:catAx>
      <c:valAx>
        <c:axId val="146572112"/>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146567760"/>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2102861184"/>
        <c:axId val="2102866080"/>
      </c:barChart>
      <c:catAx>
        <c:axId val="2102861184"/>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102866080"/>
        <c:crosses val="autoZero"/>
        <c:auto val="1"/>
        <c:lblAlgn val="ctr"/>
        <c:lblOffset val="100"/>
        <c:noMultiLvlLbl val="1"/>
      </c:catAx>
      <c:valAx>
        <c:axId val="2102866080"/>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2102861184"/>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our work at the University of Toronto, titled Spiffy, enabling file system aware storage applications.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a:t>
            </a:r>
            <a:r>
              <a:rPr lang="en-CA" dirty="0" smtClean="0"/>
              <a:t>of applications that work with file system </a:t>
            </a:r>
            <a:r>
              <a:rPr lang="en-CA" dirty="0" smtClean="0"/>
              <a:t>metadata, such as partition editor, file system</a:t>
            </a:r>
            <a:r>
              <a:rPr lang="en-CA" baseline="0" dirty="0" smtClean="0"/>
              <a:t> checker, and defragmentation tools. These applications, which we call file-system aware applications, o</a:t>
            </a:r>
            <a:r>
              <a:rPr lang="en-CA" dirty="0" smtClean="0"/>
              <a:t>perate </a:t>
            </a:r>
            <a:r>
              <a:rPr lang="en-CA" dirty="0" smtClean="0"/>
              <a:t>directly on file system metadata structures on</a:t>
            </a:r>
            <a:r>
              <a:rPr lang="en-CA" baseline="0" dirty="0" smtClean="0"/>
              <a:t> </a:t>
            </a:r>
            <a:r>
              <a:rPr lang="en-CA" baseline="0" dirty="0" smtClean="0"/>
              <a:t>disk and completely bypass the VFS layer. Therefore, writing file-system aware applications </a:t>
            </a:r>
            <a:r>
              <a:rPr lang="en-CA" sz="1200" b="0" i="0" u="none" strike="noStrike" kern="1200" baseline="0" dirty="0" smtClean="0">
                <a:solidFill>
                  <a:schemeClr val="tx1"/>
                </a:solidFill>
                <a:latin typeface="+mn-lt"/>
                <a:ea typeface="+mn-ea"/>
                <a:cs typeface="+mn-cs"/>
              </a:rPr>
              <a:t>requires a detailed understanding of the file system format, including the ability to identify and interpret file system structures. Since not many people would want to use a file system that does not come with a file system checker, for example, having a comprehensive set of file-system aware applications is essential for a file system become successfully deployed.</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Currently, only file system</a:t>
            </a:r>
            <a:r>
              <a:rPr lang="en-CA" baseline="0" dirty="0" smtClean="0"/>
              <a:t> </a:t>
            </a:r>
            <a:r>
              <a:rPr lang="en-CA" dirty="0" smtClean="0"/>
              <a:t>experts </a:t>
            </a:r>
            <a:r>
              <a:rPr lang="en-CA" dirty="0" smtClean="0"/>
              <a:t>develop these</a:t>
            </a:r>
            <a:r>
              <a:rPr lang="en-CA" baseline="0" dirty="0" smtClean="0"/>
              <a:t> </a:t>
            </a:r>
            <a:r>
              <a:rPr lang="en-CA" baseline="0" dirty="0" smtClean="0"/>
              <a:t>tools, but even </a:t>
            </a:r>
            <a:r>
              <a:rPr lang="en-CA" baseline="0" dirty="0" smtClean="0"/>
              <a:t>then, bugs still </a:t>
            </a:r>
            <a:r>
              <a:rPr lang="en-CA" baseline="0" dirty="0" smtClean="0"/>
              <a:t>occur, and these bugs can lead to system crashes, data corruption, and security vulnerability. For example, there is a bug in </a:t>
            </a:r>
            <a:r>
              <a:rPr lang="en-CA" baseline="0" dirty="0" err="1" smtClean="0"/>
              <a:t>ntfsprogs</a:t>
            </a:r>
            <a:r>
              <a:rPr lang="en-CA" baseline="0" dirty="0" smtClean="0"/>
              <a:t> that was caused by misinterpreting the NTFS metadata. The size of an MFT record can be interpreted in two ways: if the value is positive, then the size is the number of clusters per record, otherwise it is two to the absolute value of the field. Not knowing this, </a:t>
            </a:r>
            <a:r>
              <a:rPr lang="en-CA" baseline="0" dirty="0" err="1" smtClean="0"/>
              <a:t>ntfsprogs</a:t>
            </a:r>
            <a:r>
              <a:rPr lang="en-CA" baseline="0" dirty="0" smtClean="0"/>
              <a:t> used to corrupt the file system when it performs partition resizing.</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a:t>
            </a:r>
            <a:r>
              <a:rPr lang="en-CA" baseline="0" dirty="0" smtClean="0"/>
              <a:t>inherently hard </a:t>
            </a:r>
            <a:r>
              <a:rPr lang="en-CA" baseline="0" dirty="0" smtClean="0"/>
              <a:t>to </a:t>
            </a:r>
            <a:r>
              <a:rPr lang="en-CA" baseline="0" dirty="0" smtClean="0"/>
              <a:t>write. File system format is complex. Therefore, a</a:t>
            </a:r>
            <a:r>
              <a:rPr lang="en-CA" dirty="0" smtClean="0"/>
              <a:t>pplications </a:t>
            </a:r>
            <a:r>
              <a:rPr lang="en-CA" dirty="0" smtClean="0"/>
              <a:t>require detailed knowledge </a:t>
            </a:r>
            <a:r>
              <a:rPr lang="en-CA" baseline="0" dirty="0" smtClean="0"/>
              <a:t>for </a:t>
            </a:r>
            <a:r>
              <a:rPr lang="en-CA" baseline="0" dirty="0" smtClean="0"/>
              <a:t>processing file system metadata. In addition, they need to handle file system corruption in a robust manner.</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so that application developers can write fewer lines of file-system specific code, as well as having an easier time building applications that support multiple file systems. We also want to improve the robustness of these applications. This is done by enabling correct traversal of file system metadata, and ensuring type-safe access to file system metadata structures. Type-safe access helps with detecting corruption when reading metadata from disk, and also before writing metadata out to disk. This in turn helps reduce error propagation and further corruption from occurring.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introduce our</a:t>
            </a:r>
            <a:r>
              <a:rPr lang="en-CA" baseline="0" dirty="0" smtClean="0"/>
              <a:t> approach, the Spiffy framework, which aims to help developers with building file-system aware applications. The main idea is to have file system developers specify the format of their file system so that we can use it to generate a parsing and serialization library. Application developers can then use the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type-safe parsing and serialization, as well as the facility to traverse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Spiffy API is standardized for all annotated file systems, developers will have an easier time building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file-system applications. Now we will talk about each of the component in the Spiffy framework in more detail, followed by evaluation for each of the component.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smtClean="0"/>
          </a:p>
          <a:p>
            <a:r>
              <a:rPr lang="en-CA" dirty="0" smtClean="0"/>
              <a:t>In order</a:t>
            </a:r>
            <a:r>
              <a:rPr lang="en-CA" baseline="0" dirty="0" smtClean="0"/>
              <a:t> to generate the Spiffy library, we need a complete specification of the file system format. </a:t>
            </a:r>
            <a:r>
              <a:rPr lang="en-CA" dirty="0" smtClean="0"/>
              <a:t>Intuitively,</a:t>
            </a:r>
            <a:r>
              <a:rPr lang="en-CA" baseline="0" dirty="0" smtClean="0"/>
              <a:t> we want to </a:t>
            </a:r>
            <a:r>
              <a:rPr lang="en-CA" baseline="0" dirty="0" smtClean="0"/>
              <a:t>extract </a:t>
            </a:r>
            <a:r>
              <a:rPr lang="en-CA" baseline="0" dirty="0" smtClean="0"/>
              <a:t>the specification </a:t>
            </a:r>
            <a:r>
              <a:rPr lang="en-CA" baseline="0" dirty="0" smtClean="0"/>
              <a:t>from </a:t>
            </a:r>
            <a:r>
              <a:rPr lang="en-CA" baseline="0" dirty="0" smtClean="0"/>
              <a:t>the structure </a:t>
            </a:r>
            <a:r>
              <a:rPr lang="en-CA" baseline="0" dirty="0" smtClean="0"/>
              <a:t>definition in existing source </a:t>
            </a:r>
            <a:r>
              <a:rPr lang="en-CA" baseline="0" dirty="0" smtClean="0"/>
              <a:t>code. However, structure definitions for file system metadata does *not* completely describe their actual format on disk. For example, This is what you would typically see in the header file of a file system’s source code. </a:t>
            </a:r>
            <a:r>
              <a:rPr lang="en-CA" baseline="0" dirty="0" err="1" smtClean="0"/>
              <a:t>struct</a:t>
            </a:r>
            <a:r>
              <a:rPr lang="en-CA" baseline="0" dirty="0" smtClean="0"/>
              <a:t> foo has a block pointer that points to </a:t>
            </a:r>
            <a:r>
              <a:rPr lang="en-CA" baseline="0" dirty="0" err="1" smtClean="0"/>
              <a:t>struct</a:t>
            </a:r>
            <a:r>
              <a:rPr lang="en-CA" baseline="0" dirty="0" smtClean="0"/>
              <a:t> bar. However, we kind of deduced this information from the name of the field, and this is not good enough. Therefore, our solution is to annotate structure definitions for file system metadata so that we can unambiguously specify all of the missing information.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most important information that</a:t>
            </a:r>
            <a:r>
              <a:rPr lang="en-CA" baseline="0" dirty="0" smtClean="0"/>
              <a:t> we need to specify file system format is the ability to specify relationships between file system structures, and this is done through the POINTER annotation. POINTER annotation specifies that a field in a metadata structure holds an address to a location on disk. However, unlike an in-memory pointer which always refers to an in-memory address, interpreting an address for a file system may involve multiple layers of translation. For example, the Ext4 journal is stored on disk as a regular file. Therefore, finding the Ext4 journal involves reading its </a:t>
            </a:r>
            <a:r>
              <a:rPr lang="en-CA" baseline="0" dirty="0" err="1" smtClean="0"/>
              <a:t>inode</a:t>
            </a:r>
            <a:r>
              <a:rPr lang="en-CA" baseline="0" dirty="0" smtClean="0"/>
              <a:t> structure. To solve this problem, each pointer also has an associated address space to indicate how its address should be mapped to physical location.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12</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The structure as annotated with FSSUPER to denote that it’s the super block for Ext4. Inside the annotation is a list of keyword arguments. The location argument specifies that the Ext4 super block is located a thousand and 24 bytes away from the start of the partition. In the first pointer annotation, we see that the address for ext4 journal in the file address space.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41037089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Sometimes, however,</a:t>
            </a:r>
            <a:r>
              <a:rPr lang="en-CA" baseline="0" dirty="0" smtClean="0"/>
              <a:t> an expression in the annotation may require references to fields in a different structure. We call this cross-structure dependencies. For example, the size of an ext4 </a:t>
            </a:r>
            <a:r>
              <a:rPr lang="en-CA" baseline="0" dirty="0" err="1" smtClean="0"/>
              <a:t>inode</a:t>
            </a:r>
            <a:r>
              <a:rPr lang="en-CA" baseline="0" dirty="0" smtClean="0"/>
              <a:t> is stored in a field in the super block. Next, many file system metadata are context-sensitive. For example, pointers may point to different types of metadata. In the case of an </a:t>
            </a:r>
            <a:r>
              <a:rPr lang="en-CA" baseline="0" dirty="0" err="1" smtClean="0"/>
              <a:t>inode</a:t>
            </a:r>
            <a:r>
              <a:rPr lang="en-CA" baseline="0" dirty="0" smtClean="0"/>
              <a:t>, its pointers may point to directory blocks or data blocks. Similarly, some structures may have optional fields, such as an ext4 </a:t>
            </a:r>
            <a:r>
              <a:rPr lang="en-CA" baseline="0" dirty="0" err="1" smtClean="0"/>
              <a:t>inode</a:t>
            </a:r>
            <a:r>
              <a:rPr lang="en-CA" baseline="0" dirty="0" smtClean="0"/>
              <a:t>, which can store extended attributes if its size is greater than 128. Lastly, constraint checking is important to help with detecting corrupt metadata structures.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2259219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32926037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a:t>
            </a:r>
            <a:r>
              <a:rPr lang="en-CA" baseline="0" dirty="0" smtClean="0"/>
              <a:t> we show an example of the code that the Spiffy compiler generates from the annotations. On the right side, we have a fragment of the generated parsing code for the Ext4 super block. We currently generate a C++ class for every annotated class and its fields. This allows us to implement type-safe parsing and serialization, as shown in the example. The CHECK annotation, which supports constraints checking, contains expressions which is verified at runtime to ensure that the metadata is type-safe.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In all cases, the annotation added to file system metadata definitions is approximately one forth of the total line count. We also needed to handle some special situations while annotating the file system. For example, some metadata structures are not explicitly declared, as is the case for Ext4 indirect blocks, which is just an array of pointers so the Ext4 developers decides to omit their definition. We sometimes also needed make some minor change the structure definition so that our annotation language can correctly annotate it. This does not affect the correctness of the specification or the format of the file system, but we do count the changes as part of the annotation effort.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17</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you an example of building a file-system</a:t>
            </a:r>
            <a:r>
              <a:rPr lang="en-CA" baseline="0" dirty="0" smtClean="0"/>
              <a:t> aware application: a free space display tool which plots a histogram of the sizes of free extents available in a file system. First, we show how an application developer would go about building the tool manually, then we show how using Spiffy reduces programming effort. To manually build a free space tool, a developer must first study available documentation on the format of a file system to learn about its block allocation scheme. Then the developer would have to go through trial-and-error to write code that will locate the relevant metadata so that he or she can process them.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needs to traverse through the Ext4 file system to find the bitmaps that contain block allocation information. As you can see, there is a lot of boilerplate code that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is worse is that this function is already overwhelming</a:t>
            </a:r>
            <a:r>
              <a:rPr lang="en-CA" baseline="0" dirty="0" smtClean="0"/>
              <a:t> without any error checking code. Any error during the traversal or corruption in the file system would cause unexpected behavior in the program.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we want</a:t>
            </a:r>
            <a:r>
              <a:rPr lang="en-CA" baseline="0" dirty="0" smtClean="0"/>
              <a:t> is an easier way to find and process all of the block bitmaps in Ext4, without needing to write all of the code to traverse the file system.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all of the block bitmaps reachable from the super block to be processed by the callback function, </a:t>
            </a:r>
            <a:r>
              <a:rPr lang="en-CA" baseline="0" dirty="0" err="1" smtClean="0"/>
              <a:t>process_block_bitmap</a:t>
            </a:r>
            <a:r>
              <a:rPr lang="en-CA" baseline="0" dirty="0" smtClean="0"/>
              <a:t>. As you can see, there are two main advantages to using a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let’s talk about the applications</a:t>
            </a:r>
            <a:r>
              <a:rPr lang="en-CA" baseline="0" dirty="0" smtClean="0"/>
              <a:t> we have built using Spiffy, starting with the offline applications, which have exclusive access to a file system image. Our first application is the file system dump tool, which simply prints out all of the metadata in XML format. This tool is helpful for debugging, and we also use it to verify the correctness of our annotations. Next, the type-specific corruptor allows us to specify a field in a metadata structure and corrupt it on disk. This tool enables us to test the robustness of other tools. We ran a series of corruption experiments and discovered crash bugs in existing tools such as dumpe2fs and dump.f2fs, which you can read about in the paper. Next we built a file system conversion tool which allows converting from one file system to another without moving any data blocks unless necessary.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23</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discuss the online applications, which</a:t>
            </a:r>
            <a:r>
              <a:rPr lang="en-CA" baseline="0" dirty="0" smtClean="0"/>
              <a:t> operate while the file system is in-use. An example of such an application is the differentiated storage service, which prioritizes caching of metadata an small files. This application was difficult to implement because it requires modification of the file system to provide hints to the block layer. It also requires a lot of file-system specific code to identify the size of the file, for example. However, with Spiffy, we have built a runtime interpretation framework that can identify and interpret metadata at the block layer without modifying the file system. More surprisingly is that most of the framework is generic, and little file-system specific code required to support a rich set of caching policies. Using the framework, we built a block layer cache that preferentially caches files belonging to priority users.</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24</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metadata structures need to be initialized, there is very little saving.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25</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a:t>
            </a:r>
            <a:r>
              <a:rPr lang="en-CA" baseline="0" dirty="0" smtClean="0"/>
              <a:t> we present our evaluation for the file system conversion tool. Here, we show 3 types of converters: the copy converter copies data to local disk, reformat, then copy back. We also wrote the conversion tool twice, once manually and another time using Spiffy. From the graph, we can see that the copy converter takes up to 50 times slower than the other two because it has to copy 16GB of data twice. We compare the performance between manual vs. Spiffy converter, and found a modest 16.7% overhead, which shows that using the Spiffy library can still achieve good performance, while improving the robustness of the application.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26</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and an standardized API for interpreting and traversing file system metadata. This API simplifies development of file-system aware applications by reducing the need to write file-system specific code and it enables code reuse across file systems. Lastly, from the annotated metadata definitions, we generate type-safe parsing and serialization library that is robust against file system corruption and achieves good performance.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28</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rotWithShape="1">
          <a:gsLst>
            <a:gs pos="10000">
              <a:schemeClr val="tx2">
                <a:lumMod val="90000"/>
              </a:schemeClr>
            </a:gs>
            <a:gs pos="100000">
              <a:schemeClr val="bg2"/>
            </a:gs>
          </a:gsLst>
          <a:lin ang="612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100">
                <a:solidFill>
                  <a:schemeClr val="bg1">
                    <a:lumMod val="95000"/>
                    <a:lumOff val="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a:off x="6108170" y="545795"/>
            <a:ext cx="6080672" cy="6323990"/>
            <a:chOff x="6108170" y="-151790"/>
            <a:chExt cx="6080672" cy="6323990"/>
          </a:xfrm>
        </p:grpSpPr>
        <p:cxnSp>
          <p:nvCxnSpPr>
            <p:cNvPr id="16" name="Straight Connector 15"/>
            <p:cNvCxnSpPr/>
            <p:nvPr/>
          </p:nvCxnSpPr>
          <p:spPr>
            <a:xfrm flipH="1">
              <a:off x="8378842" y="-151790"/>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rm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2018-02-07</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2018-02-07</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2018-02-07</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2018-02-07</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791"/>
            <a:ext cx="8849087" cy="2971801"/>
          </a:xfrm>
        </p:spPr>
        <p:txBody>
          <a:bodyPr>
            <a:normAutofit fontScale="90000"/>
          </a:bodyPr>
          <a:lstStyle/>
          <a:p>
            <a:r>
              <a:rPr lang="en-CA" b="1" cap="none" dirty="0" smtClean="0"/>
              <a:t>Spiffy</a:t>
            </a:r>
            <a:r>
              <a:rPr lang="en-CA" cap="none" dirty="0" smtClean="0"/>
              <a:t>:</a:t>
            </a:r>
            <a:r>
              <a:rPr lang="en-CA" b="1" cap="none" dirty="0" smtClean="0"/>
              <a:t> </a:t>
            </a:r>
            <a:r>
              <a:rPr lang="en-CA" cap="none" dirty="0"/>
              <a:t>Enabling File-System Aware </a:t>
            </a:r>
            <a:r>
              <a:rPr lang="en-CA" sz="5400" cap="none" dirty="0"/>
              <a:t>Storage</a:t>
            </a:r>
            <a:r>
              <a:rPr lang="en-CA" cap="none" dirty="0"/>
              <a:t> </a:t>
            </a:r>
            <a:r>
              <a:rPr lang="en-CA" cap="none" dirty="0" smtClean="0"/>
              <a:t>Applications</a:t>
            </a:r>
            <a:br>
              <a:rPr lang="en-CA" cap="none" dirty="0" smtClean="0"/>
            </a:br>
            <a:endParaRPr lang="en-CA" b="1" cap="none" dirty="0"/>
          </a:p>
        </p:txBody>
      </p:sp>
      <p:sp>
        <p:nvSpPr>
          <p:cNvPr id="3" name="Subtitle 2"/>
          <p:cNvSpPr>
            <a:spLocks noGrp="1"/>
          </p:cNvSpPr>
          <p:nvPr>
            <p:ph type="subTitle" idx="1"/>
          </p:nvPr>
        </p:nvSpPr>
        <p:spPr>
          <a:xfrm>
            <a:off x="684212" y="3421931"/>
            <a:ext cx="10967598" cy="2548380"/>
          </a:xfrm>
        </p:spPr>
        <p:txBody>
          <a:bodyPr>
            <a:normAutofit/>
          </a:bodyPr>
          <a:lstStyle/>
          <a:p>
            <a:r>
              <a:rPr lang="en-CA" sz="2400" dirty="0" err="1" smtClean="0">
                <a:solidFill>
                  <a:schemeClr val="bg1">
                    <a:lumMod val="75000"/>
                    <a:lumOff val="25000"/>
                  </a:schemeClr>
                </a:solidFill>
              </a:rPr>
              <a:t>Kuei</a:t>
            </a:r>
            <a:r>
              <a:rPr lang="en-CA" sz="2400" dirty="0" smtClean="0">
                <a:solidFill>
                  <a:schemeClr val="bg1">
                    <a:lumMod val="75000"/>
                    <a:lumOff val="25000"/>
                  </a:schemeClr>
                </a:solidFill>
              </a:rPr>
              <a:t> Sun, Daniel Fryer, Joseph Chu</a:t>
            </a:r>
            <a:r>
              <a:rPr lang="en-CA" sz="2400" dirty="0">
                <a:solidFill>
                  <a:schemeClr val="bg1">
                    <a:lumMod val="75000"/>
                    <a:lumOff val="25000"/>
                  </a:schemeClr>
                </a:solidFill>
              </a:rPr>
              <a:t>, Matthew </a:t>
            </a:r>
            <a:r>
              <a:rPr lang="en-CA" sz="2400" dirty="0" err="1">
                <a:solidFill>
                  <a:schemeClr val="bg1">
                    <a:lumMod val="75000"/>
                    <a:lumOff val="25000"/>
                  </a:schemeClr>
                </a:solidFill>
              </a:rPr>
              <a:t>Lakier</a:t>
            </a:r>
            <a:r>
              <a:rPr lang="en-CA" sz="2400" dirty="0">
                <a:solidFill>
                  <a:schemeClr val="bg1">
                    <a:lumMod val="75000"/>
                    <a:lumOff val="25000"/>
                  </a:schemeClr>
                </a:solidFill>
              </a:rPr>
              <a:t>, </a:t>
            </a:r>
            <a:endParaRPr lang="en-CA" sz="2400" dirty="0" smtClean="0">
              <a:solidFill>
                <a:schemeClr val="bg1">
                  <a:lumMod val="75000"/>
                  <a:lumOff val="25000"/>
                </a:schemeClr>
              </a:solidFill>
            </a:endParaRPr>
          </a:p>
          <a:p>
            <a:r>
              <a:rPr lang="en-CA" sz="2400" dirty="0" smtClean="0">
                <a:solidFill>
                  <a:schemeClr val="bg1">
                    <a:lumMod val="75000"/>
                    <a:lumOff val="25000"/>
                  </a:schemeClr>
                </a:solidFill>
              </a:rPr>
              <a:t>Angela </a:t>
            </a:r>
            <a:r>
              <a:rPr lang="en-CA" sz="2400" dirty="0" err="1" smtClean="0">
                <a:solidFill>
                  <a:schemeClr val="bg1">
                    <a:lumMod val="75000"/>
                    <a:lumOff val="25000"/>
                  </a:schemeClr>
                </a:solidFill>
              </a:rPr>
              <a:t>Demke</a:t>
            </a:r>
            <a:r>
              <a:rPr lang="en-CA" sz="2400" dirty="0" smtClean="0">
                <a:solidFill>
                  <a:schemeClr val="bg1">
                    <a:lumMod val="75000"/>
                    <a:lumOff val="25000"/>
                  </a:schemeClr>
                </a:solidFill>
              </a:rPr>
              <a:t> Brown, and </a:t>
            </a:r>
            <a:r>
              <a:rPr lang="en-CA" sz="2400" dirty="0" err="1" smtClean="0">
                <a:solidFill>
                  <a:schemeClr val="bg1">
                    <a:lumMod val="75000"/>
                    <a:lumOff val="25000"/>
                  </a:schemeClr>
                </a:solidFill>
              </a:rPr>
              <a:t>Ashvin</a:t>
            </a:r>
            <a:r>
              <a:rPr lang="en-CA" sz="2400" dirty="0" smtClean="0">
                <a:solidFill>
                  <a:schemeClr val="bg1">
                    <a:lumMod val="75000"/>
                    <a:lumOff val="25000"/>
                  </a:schemeClr>
                </a:solidFill>
              </a:rPr>
              <a:t> </a:t>
            </a:r>
            <a:r>
              <a:rPr lang="en-CA" sz="2400" dirty="0" err="1" smtClean="0">
                <a:solidFill>
                  <a:schemeClr val="bg1">
                    <a:lumMod val="75000"/>
                    <a:lumOff val="25000"/>
                  </a:schemeClr>
                </a:solidFill>
              </a:rPr>
              <a:t>Goel</a:t>
            </a:r>
            <a:endParaRPr lang="en-CA" sz="2400" dirty="0" smtClean="0">
              <a:solidFill>
                <a:schemeClr val="bg1">
                  <a:lumMod val="75000"/>
                  <a:lumOff val="25000"/>
                </a:schemeClr>
              </a:solidFill>
            </a:endParaRPr>
          </a:p>
          <a:p>
            <a:endParaRPr lang="en-CA" sz="2400" dirty="0"/>
          </a:p>
          <a:p>
            <a:r>
              <a:rPr lang="en-CA" sz="2400" i="1" dirty="0" smtClean="0">
                <a:solidFill>
                  <a:schemeClr val="bg1">
                    <a:lumMod val="85000"/>
                    <a:lumOff val="15000"/>
                  </a:schemeClr>
                </a:solidFill>
              </a:rPr>
              <a:t>University of Toronto</a:t>
            </a:r>
            <a:endParaRPr lang="en-CA" sz="2400" i="1" dirty="0">
              <a:solidFill>
                <a:schemeClr val="bg1">
                  <a:lumMod val="85000"/>
                  <a:lumOff val="15000"/>
                </a:schemeClr>
              </a:solidFill>
            </a:endParaRPr>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Introduction</a:t>
            </a:r>
            <a:endParaRPr lang="en-CA" dirty="0"/>
          </a:p>
        </p:txBody>
      </p:sp>
      <p:sp>
        <p:nvSpPr>
          <p:cNvPr id="3" name="Content Placeholder 2"/>
          <p:cNvSpPr>
            <a:spLocks noGrp="1"/>
          </p:cNvSpPr>
          <p:nvPr>
            <p:ph idx="1"/>
          </p:nvPr>
        </p:nvSpPr>
        <p:spPr>
          <a:xfrm>
            <a:off x="646113" y="1625600"/>
            <a:ext cx="9403743" cy="4622802"/>
          </a:xfrm>
        </p:spPr>
        <p:txBody>
          <a:bodyPr>
            <a:normAutofit/>
          </a:bodyPr>
          <a:lstStyle/>
          <a:p>
            <a:r>
              <a:rPr lang="en-CA" dirty="0" smtClean="0"/>
              <a:t>File-system aware applications</a:t>
            </a:r>
          </a:p>
          <a:p>
            <a:pPr lvl="1"/>
            <a:r>
              <a:rPr lang="en-CA" dirty="0" smtClean="0"/>
              <a:t>E.g. </a:t>
            </a:r>
            <a:r>
              <a:rPr lang="en-CA" dirty="0"/>
              <a:t>partition editor, file system checker, defragmentation </a:t>
            </a:r>
            <a:r>
              <a:rPr lang="en-CA" dirty="0" smtClean="0"/>
              <a:t>tool</a:t>
            </a:r>
          </a:p>
          <a:p>
            <a:pPr lvl="1"/>
            <a:r>
              <a:rPr lang="en-CA" dirty="0" smtClean="0"/>
              <a:t>Operate </a:t>
            </a:r>
            <a:r>
              <a:rPr lang="en-CA" dirty="0"/>
              <a:t>directly on file system metadata structures</a:t>
            </a:r>
          </a:p>
          <a:p>
            <a:pPr lvl="2"/>
            <a:r>
              <a:rPr lang="en-CA" dirty="0"/>
              <a:t>Require detailed knowledge of file system format on disk</a:t>
            </a:r>
            <a:endParaRPr lang="en-CA" dirty="0" smtClean="0"/>
          </a:p>
          <a:p>
            <a:pPr lvl="2"/>
            <a:r>
              <a:rPr lang="en-CA" dirty="0" smtClean="0"/>
              <a:t>Bypass </a:t>
            </a:r>
            <a:r>
              <a:rPr lang="en-CA" dirty="0"/>
              <a:t>VFS </a:t>
            </a:r>
            <a:r>
              <a:rPr lang="en-CA" dirty="0" smtClean="0"/>
              <a:t>layer</a:t>
            </a:r>
          </a:p>
          <a:p>
            <a:pPr lvl="1"/>
            <a:r>
              <a:rPr lang="en-CA" dirty="0" smtClean="0"/>
              <a:t>Essential for successful deployment of file system</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Problem</a:t>
            </a:r>
            <a:endParaRPr lang="en-CA" dirty="0"/>
          </a:p>
        </p:txBody>
      </p:sp>
      <p:sp>
        <p:nvSpPr>
          <p:cNvPr id="3" name="Content Placeholder 2"/>
          <p:cNvSpPr>
            <a:spLocks noGrp="1"/>
          </p:cNvSpPr>
          <p:nvPr>
            <p:ph idx="1"/>
          </p:nvPr>
        </p:nvSpPr>
        <p:spPr>
          <a:xfrm>
            <a:off x="684211" y="1515358"/>
            <a:ext cx="10285797" cy="4866587"/>
          </a:xfrm>
        </p:spPr>
        <p:txBody>
          <a:bodyPr>
            <a:normAutofit/>
          </a:bodyPr>
          <a:lstStyle/>
          <a:p>
            <a:r>
              <a:rPr lang="en-CA" dirty="0" smtClean="0"/>
              <a:t>Each </a:t>
            </a:r>
            <a:r>
              <a:rPr lang="en-CA" dirty="0"/>
              <a:t>file system has to develop its own set of tools from scratch</a:t>
            </a:r>
          </a:p>
          <a:p>
            <a:r>
              <a:rPr lang="en-CA" dirty="0"/>
              <a:t>Only file-system experts develop such </a:t>
            </a:r>
            <a:r>
              <a:rPr lang="en-CA" dirty="0" smtClean="0"/>
              <a:t>tools</a:t>
            </a:r>
          </a:p>
          <a:p>
            <a:r>
              <a:rPr lang="en-CA" dirty="0"/>
              <a:t>Bugs lead to system crash, data corruption, security vulnerability</a:t>
            </a:r>
          </a:p>
          <a:p>
            <a:endParaRPr lang="en-CA" dirty="0" smtClean="0"/>
          </a:p>
          <a:p>
            <a:r>
              <a:rPr lang="en-CA" dirty="0" smtClean="0"/>
              <a:t>Example</a:t>
            </a:r>
            <a:r>
              <a:rPr lang="en-CA" dirty="0"/>
              <a:t>: bug 723343 in </a:t>
            </a:r>
            <a:r>
              <a:rPr lang="en-CA" dirty="0" err="1"/>
              <a:t>ntfsprogs</a:t>
            </a:r>
            <a:endParaRPr lang="en-CA" dirty="0"/>
          </a:p>
          <a:p>
            <a:pPr lvl="1"/>
            <a:r>
              <a:rPr lang="en-CA" dirty="0"/>
              <a:t>NTFS stores the size of </a:t>
            </a:r>
            <a:r>
              <a:rPr lang="en-CA" dirty="0" smtClean="0"/>
              <a:t>MFT </a:t>
            </a:r>
            <a:r>
              <a:rPr lang="en-CA" dirty="0"/>
              <a:t>record as either</a:t>
            </a:r>
            <a:r>
              <a:rPr lang="en-CA" dirty="0" smtClean="0"/>
              <a:t>:</a:t>
            </a:r>
          </a:p>
          <a:p>
            <a:pPr lvl="2"/>
            <a:r>
              <a:rPr lang="en-CA" dirty="0"/>
              <a:t>if </a:t>
            </a:r>
            <a:r>
              <a:rPr lang="en-CA" i="1" dirty="0"/>
              <a:t>value</a:t>
            </a:r>
            <a:r>
              <a:rPr lang="en-CA" dirty="0"/>
              <a:t> &gt; </a:t>
            </a:r>
            <a:r>
              <a:rPr lang="en-CA" dirty="0" smtClean="0"/>
              <a:t>0, size = # </a:t>
            </a:r>
            <a:r>
              <a:rPr lang="en-CA" dirty="0"/>
              <a:t>of clusters per </a:t>
            </a:r>
            <a:r>
              <a:rPr lang="en-CA" dirty="0" smtClean="0"/>
              <a:t>record</a:t>
            </a:r>
          </a:p>
          <a:p>
            <a:pPr lvl="2"/>
            <a:r>
              <a:rPr lang="en-CA" dirty="0"/>
              <a:t>if </a:t>
            </a:r>
            <a:r>
              <a:rPr lang="en-CA" i="1" dirty="0"/>
              <a:t>value</a:t>
            </a:r>
            <a:r>
              <a:rPr lang="en-CA" dirty="0"/>
              <a:t> &lt; </a:t>
            </a:r>
            <a:r>
              <a:rPr lang="en-CA" dirty="0" smtClean="0"/>
              <a:t>0, size =  2</a:t>
            </a:r>
            <a:r>
              <a:rPr lang="en-CA" baseline="30000" dirty="0" smtClean="0"/>
              <a:t>|</a:t>
            </a:r>
            <a:r>
              <a:rPr lang="en-CA" i="1" baseline="30000" dirty="0" smtClean="0"/>
              <a:t>value</a:t>
            </a:r>
            <a:r>
              <a:rPr lang="en-CA" baseline="30000" dirty="0" smtClean="0"/>
              <a:t>|</a:t>
            </a:r>
            <a:endParaRPr lang="en-CA" dirty="0"/>
          </a:p>
          <a:p>
            <a:pPr lvl="1"/>
            <a:r>
              <a:rPr lang="en-CA" dirty="0" err="1" smtClean="0"/>
              <a:t>ntfsprogs</a:t>
            </a:r>
            <a:r>
              <a:rPr lang="en-CA" dirty="0" smtClean="0"/>
              <a:t> misinterprets this field, corrupting </a:t>
            </a:r>
            <a:r>
              <a:rPr lang="en-CA" dirty="0"/>
              <a:t>NTFS during partition resizing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Root Cause</a:t>
            </a:r>
            <a:endParaRPr lang="en-CA" dirty="0"/>
          </a:p>
        </p:txBody>
      </p:sp>
      <p:sp>
        <p:nvSpPr>
          <p:cNvPr id="3" name="Content Placeholder 2"/>
          <p:cNvSpPr>
            <a:spLocks noGrp="1"/>
          </p:cNvSpPr>
          <p:nvPr>
            <p:ph idx="1"/>
          </p:nvPr>
        </p:nvSpPr>
        <p:spPr/>
        <p:txBody>
          <a:bodyPr>
            <a:normAutofit/>
          </a:bodyPr>
          <a:lstStyle/>
          <a:p>
            <a:r>
              <a:rPr lang="en-CA" dirty="0" smtClean="0"/>
              <a:t>File-system applications are difficult to write</a:t>
            </a:r>
          </a:p>
          <a:p>
            <a:pPr lvl="1"/>
            <a:r>
              <a:rPr lang="en-CA" dirty="0" smtClean="0"/>
              <a:t>File system format complex and often poorly documented</a:t>
            </a:r>
          </a:p>
          <a:p>
            <a:pPr lvl="1"/>
            <a:r>
              <a:rPr lang="en-CA" dirty="0" smtClean="0"/>
              <a:t>Applications require detailed knowledge of format</a:t>
            </a:r>
          </a:p>
          <a:p>
            <a:pPr lvl="1"/>
            <a:r>
              <a:rPr lang="en-CA" dirty="0" smtClean="0"/>
              <a:t>Need to handle file system corruption</a:t>
            </a:r>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Goals</a:t>
            </a:r>
            <a:endParaRPr lang="en-CA" dirty="0"/>
          </a:p>
        </p:txBody>
      </p:sp>
      <p:sp>
        <p:nvSpPr>
          <p:cNvPr id="3" name="Content Placeholder 2"/>
          <p:cNvSpPr>
            <a:spLocks noGrp="1"/>
          </p:cNvSpPr>
          <p:nvPr>
            <p:ph idx="1"/>
          </p:nvPr>
        </p:nvSpPr>
        <p:spPr/>
        <p:txBody>
          <a:bodyPr>
            <a:normAutofit/>
          </a:bodyPr>
          <a:lstStyle/>
          <a:p>
            <a:r>
              <a:rPr lang="en-CA" dirty="0"/>
              <a:t>Simplify development of file-system aware applications</a:t>
            </a:r>
          </a:p>
          <a:p>
            <a:pPr lvl="1"/>
            <a:r>
              <a:rPr lang="en-CA" dirty="0"/>
              <a:t>Reduce file-system specific code</a:t>
            </a:r>
          </a:p>
          <a:p>
            <a:pPr lvl="1"/>
            <a:r>
              <a:rPr lang="en-CA" dirty="0"/>
              <a:t>Enable code reuse across file systems</a:t>
            </a:r>
          </a:p>
          <a:p>
            <a:endParaRPr lang="en-CA" dirty="0" smtClean="0"/>
          </a:p>
          <a:p>
            <a:r>
              <a:rPr lang="en-CA" dirty="0" smtClean="0"/>
              <a:t>Improve </a:t>
            </a:r>
            <a:r>
              <a:rPr lang="en-CA" dirty="0"/>
              <a:t>robustness of </a:t>
            </a:r>
            <a:r>
              <a:rPr lang="en-CA" dirty="0" smtClean="0"/>
              <a:t>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a:t>
            </a:r>
            <a:r>
              <a:rPr lang="en-CA" dirty="0"/>
              <a:t>reduce error propagation, and further </a:t>
            </a:r>
            <a:r>
              <a:rPr lang="en-CA" dirty="0" smtClean="0"/>
              <a:t>corruption</a:t>
            </a:r>
          </a:p>
          <a:p>
            <a:pPr lvl="2"/>
            <a:endParaRPr lang="en-CA" dirty="0"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Approach: </a:t>
            </a:r>
            <a:r>
              <a:rPr lang="en-CA" dirty="0"/>
              <a:t>Spiffy </a:t>
            </a:r>
            <a:r>
              <a:rPr lang="en-CA" dirty="0" smtClean="0"/>
              <a:t>Framework</a:t>
            </a:r>
            <a:endParaRPr lang="en-CA" dirty="0"/>
          </a:p>
        </p:txBody>
      </p:sp>
      <p:sp>
        <p:nvSpPr>
          <p:cNvPr id="3" name="Content Placeholder 2"/>
          <p:cNvSpPr>
            <a:spLocks noGrp="1"/>
          </p:cNvSpPr>
          <p:nvPr>
            <p:ph idx="1"/>
          </p:nvPr>
        </p:nvSpPr>
        <p:spPr/>
        <p:txBody>
          <a:bodyPr/>
          <a:lstStyle/>
          <a:p>
            <a:pPr marL="457200" indent="-457200">
              <a:buFont typeface="+mj-lt"/>
              <a:buAutoNum type="arabicPeriod"/>
            </a:pPr>
            <a:r>
              <a:rPr lang="en-CA" dirty="0" smtClean="0"/>
              <a:t>File </a:t>
            </a:r>
            <a:r>
              <a:rPr lang="en-CA" dirty="0"/>
              <a:t>system developers specify the format of their file </a:t>
            </a:r>
            <a:r>
              <a:rPr lang="en-CA" dirty="0" smtClean="0"/>
              <a:t>system</a:t>
            </a:r>
          </a:p>
          <a:p>
            <a:pPr marL="457200" indent="-457200">
              <a:buFont typeface="+mj-lt"/>
              <a:buAutoNum type="arabicPeriod"/>
            </a:pPr>
            <a:r>
              <a:rPr lang="en-CA" dirty="0" smtClean="0"/>
              <a:t>Spiffy uses specification to generate parsing and serialization library </a:t>
            </a:r>
          </a:p>
          <a:p>
            <a:pPr marL="457200" indent="-457200">
              <a:buFont typeface="+mj-lt"/>
              <a:buAutoNum type="arabicPeriod"/>
            </a:pPr>
            <a:r>
              <a:rPr lang="en-CA" dirty="0" smtClean="0"/>
              <a:t>Developers use library to build robust file-system aware applications</a:t>
            </a:r>
            <a:endParaRPr lang="en-CA" dirty="0"/>
          </a:p>
          <a:p>
            <a:pPr marL="457200" indent="-457200">
              <a:buFont typeface="+mj-lt"/>
              <a:buAutoNum type="arabicPeriod"/>
            </a:pPr>
            <a:endParaRPr lang="en-CA" dirty="0"/>
          </a:p>
          <a:p>
            <a:pPr marL="457200" indent="-457200">
              <a:buFont typeface="+mj-lt"/>
              <a:buAutoNum type="arabicPeriod"/>
            </a:pP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1" y="1515358"/>
            <a:ext cx="10285797" cy="1172568"/>
          </a:xfrm>
        </p:spPr>
        <p:txBody>
          <a:bodyPr/>
          <a:lstStyle/>
          <a:p>
            <a:pPr marL="514350" indent="-514350">
              <a:buFont typeface="+mj-lt"/>
              <a:buAutoNum type="arabicPeriod"/>
            </a:pPr>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grpSp>
        <p:nvGrpSpPr>
          <p:cNvPr id="82" name="Group 81"/>
          <p:cNvGrpSpPr/>
          <p:nvPr/>
        </p:nvGrpSpPr>
        <p:grpSpPr>
          <a:xfrm>
            <a:off x="824305" y="2832811"/>
            <a:ext cx="9787357" cy="3222517"/>
            <a:chOff x="824305" y="2832811"/>
            <a:chExt cx="9787357" cy="3222517"/>
          </a:xfrm>
        </p:grpSpPr>
        <p:sp>
          <p:nvSpPr>
            <p:cNvPr id="5" name="Snip Single Corner Rectangle 4"/>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7" name="TextBox 6"/>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b="1" dirty="0">
                  <a:solidFill>
                    <a:schemeClr val="bg1"/>
                  </a:solidFill>
                </a:rPr>
                <a:t>File System </a:t>
              </a:r>
            </a:p>
            <a:p>
              <a:pPr algn="ctr"/>
              <a:r>
                <a:rPr lang="en-CA" sz="1400" b="1" dirty="0">
                  <a:solidFill>
                    <a:schemeClr val="bg1"/>
                  </a:solidFill>
                </a:rPr>
                <a:t>Developer</a:t>
              </a:r>
            </a:p>
          </p:txBody>
        </p:sp>
        <p:sp>
          <p:nvSpPr>
            <p:cNvPr id="8" name="Right Arrow 7"/>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 name="Rounded Rectangle 9"/>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11" name="Snip Single Corner Rectangle 10"/>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13" name="Snip Single Corner Rectangle 12"/>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14" name="Right Arrow 13"/>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5" name="Rectangle 14"/>
            <p:cNvSpPr/>
            <p:nvPr/>
          </p:nvSpPr>
          <p:spPr>
            <a:xfrm>
              <a:off x="5751627" y="4065180"/>
              <a:ext cx="1224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16" name="Right Arrow 15"/>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7" name="Rectangle 16"/>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19" name="Right Arrow 1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0" name="Right Arrow 1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1" name="Right Arrow 2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2" name="Right Arrow 2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3" name="Rectangle 2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24" name="Right Arrow 2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5" name="Right Arrow 2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39" name="Picture 3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72" name="Group 71"/>
            <p:cNvGrpSpPr/>
            <p:nvPr/>
          </p:nvGrpSpPr>
          <p:grpSpPr>
            <a:xfrm>
              <a:off x="824305" y="3607630"/>
              <a:ext cx="782638" cy="1689100"/>
              <a:chOff x="1494268" y="4778493"/>
              <a:chExt cx="782638" cy="1689100"/>
            </a:xfrm>
            <a:effectLst>
              <a:glow rad="101600">
                <a:srgbClr val="FFFF00">
                  <a:alpha val="40000"/>
                </a:srgbClr>
              </a:glow>
            </a:effectLst>
          </p:grpSpPr>
          <p:sp>
            <p:nvSpPr>
              <p:cNvPr id="44"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5"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6"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9"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0"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2"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3"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8"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9"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0"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73" name="Right Arrow 72"/>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TextBox 73"/>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76" name="Straight Arrow Connector 75"/>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Generating Library</a:t>
            </a:r>
            <a:endParaRPr lang="en-CA" dirty="0"/>
          </a:p>
        </p:txBody>
      </p:sp>
      <p:sp>
        <p:nvSpPr>
          <p:cNvPr id="3" name="Content Placeholder 2"/>
          <p:cNvSpPr>
            <a:spLocks noGrp="1"/>
          </p:cNvSpPr>
          <p:nvPr>
            <p:ph idx="1"/>
          </p:nvPr>
        </p:nvSpPr>
        <p:spPr>
          <a:xfrm>
            <a:off x="684211" y="1515358"/>
            <a:ext cx="10285797" cy="1282801"/>
          </a:xfrm>
        </p:spPr>
        <p:txBody>
          <a:bodyPr/>
          <a:lstStyle/>
          <a:p>
            <a:pPr marL="514350" indent="-514350">
              <a:buFont typeface="+mj-lt"/>
              <a:buAutoNum type="arabicPeriod" startAt="2"/>
            </a:pPr>
            <a:r>
              <a:rPr lang="en-CA" dirty="0" smtClean="0"/>
              <a:t>Spiffy compiler processes annotated metadata structures</a:t>
            </a:r>
            <a:br>
              <a:rPr lang="en-CA" dirty="0" smtClean="0"/>
            </a:br>
            <a:r>
              <a:rPr lang="en-CA" dirty="0" smtClean="0"/>
              <a:t>to generate library for type-safe parsing</a:t>
            </a:r>
            <a:r>
              <a:rPr lang="en-CA" dirty="0"/>
              <a:t>, traversal and </a:t>
            </a:r>
            <a:r>
              <a:rPr lang="en-CA" dirty="0" smtClean="0"/>
              <a:t>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b="1"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 </a:t>
            </a:r>
            <a:r>
              <a:rPr lang="en-CA" dirty="0" smtClean="0"/>
              <a:t>Building Applications</a:t>
            </a:r>
            <a:endParaRPr lang="en-CA" dirty="0"/>
          </a:p>
        </p:txBody>
      </p:sp>
      <p:sp>
        <p:nvSpPr>
          <p:cNvPr id="3" name="Content Placeholder 2"/>
          <p:cNvSpPr>
            <a:spLocks noGrp="1"/>
          </p:cNvSpPr>
          <p:nvPr>
            <p:ph idx="1"/>
          </p:nvPr>
        </p:nvSpPr>
        <p:spPr>
          <a:xfrm>
            <a:off x="684211" y="1515358"/>
            <a:ext cx="10285797" cy="1238067"/>
          </a:xfrm>
        </p:spPr>
        <p:txBody>
          <a:bodyPr/>
          <a:lstStyle/>
          <a:p>
            <a:pPr marL="514350" indent="-514350">
              <a:buFont typeface="+mj-lt"/>
              <a:buAutoNum type="arabicPeriod" startAt="3"/>
            </a:pPr>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a:effectLst>
            <a:glow rad="101600">
              <a:srgbClr val="FFFF00">
                <a:alpha val="40000"/>
              </a:srgbClr>
            </a:glow>
          </a:effectLst>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b="1" dirty="0" smtClean="0">
                <a:solidFill>
                  <a:schemeClr val="bg1"/>
                </a:solidFill>
              </a:rPr>
              <a:t>Application</a:t>
            </a:r>
            <a:endParaRPr lang="en-CA" sz="1200" b="1" dirty="0">
              <a:solidFill>
                <a:schemeClr val="bg1"/>
              </a:solidFill>
            </a:endParaRPr>
          </a:p>
          <a:p>
            <a:pPr algn="ctr"/>
            <a:r>
              <a:rPr lang="en-CA" sz="1200" b="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Talk Outline</a:t>
            </a:r>
            <a:endParaRPr lang="en-CA" dirty="0"/>
          </a:p>
        </p:txBody>
      </p:sp>
      <p:sp>
        <p:nvSpPr>
          <p:cNvPr id="3" name="Content Placeholder 2"/>
          <p:cNvSpPr>
            <a:spLocks noGrp="1"/>
          </p:cNvSpPr>
          <p:nvPr>
            <p:ph idx="1"/>
          </p:nvPr>
        </p:nvSpPr>
        <p:spPr/>
        <p:txBody>
          <a:bodyPr/>
          <a:lstStyle/>
          <a:p>
            <a:r>
              <a:rPr lang="en-US" dirty="0" smtClean="0">
                <a:solidFill>
                  <a:schemeClr val="bg1">
                    <a:lumMod val="50000"/>
                    <a:lumOff val="50000"/>
                  </a:schemeClr>
                </a:solidFill>
              </a:rPr>
              <a:t>Problem</a:t>
            </a:r>
          </a:p>
          <a:p>
            <a:pPr lvl="1"/>
            <a:r>
              <a:rPr lang="en-US" dirty="0" smtClean="0">
                <a:solidFill>
                  <a:schemeClr val="bg1">
                    <a:lumMod val="50000"/>
                    <a:lumOff val="50000"/>
                  </a:schemeClr>
                </a:solidFill>
              </a:rPr>
              <a:t>Hard to write robust file system applications</a:t>
            </a:r>
          </a:p>
          <a:p>
            <a:r>
              <a:rPr lang="en-US" dirty="0" smtClean="0">
                <a:solidFill>
                  <a:schemeClr val="bg1">
                    <a:lumMod val="50000"/>
                    <a:lumOff val="50000"/>
                  </a:schemeClr>
                </a:solidFill>
              </a:rPr>
              <a:t>Approach</a:t>
            </a:r>
          </a:p>
          <a:p>
            <a:r>
              <a:rPr lang="en-US" dirty="0" smtClean="0"/>
              <a:t>Spiffy Annotations</a:t>
            </a:r>
          </a:p>
          <a:p>
            <a:r>
              <a:rPr lang="en-US" dirty="0" smtClean="0"/>
              <a:t>Spiffy Library</a:t>
            </a:r>
          </a:p>
          <a:p>
            <a:r>
              <a:rPr lang="en-US" dirty="0" smtClean="0"/>
              <a:t>Spiffy </a:t>
            </a:r>
            <a:r>
              <a:rPr lang="en-US" dirty="0"/>
              <a:t>A</a:t>
            </a:r>
            <a:r>
              <a:rPr lang="en-US" dirty="0" smtClean="0"/>
              <a:t>pplications</a:t>
            </a:r>
          </a:p>
          <a:p>
            <a:r>
              <a:rPr lang="en-US" dirty="0" smtClean="0"/>
              <a:t>Evaluation</a:t>
            </a:r>
          </a:p>
          <a:p>
            <a:r>
              <a:rPr lang="en-US" dirty="0"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Need for Annotation</a:t>
            </a:r>
            <a:endParaRPr lang="en-CA" dirty="0"/>
          </a:p>
        </p:txBody>
      </p:sp>
      <p:sp>
        <p:nvSpPr>
          <p:cNvPr id="3" name="Content Placeholder 2"/>
          <p:cNvSpPr>
            <a:spLocks noGrp="1"/>
          </p:cNvSpPr>
          <p:nvPr>
            <p:ph idx="1"/>
          </p:nvPr>
        </p:nvSpPr>
        <p:spPr/>
        <p:txBody>
          <a:bodyPr>
            <a:normAutofit lnSpcReduction="10000"/>
          </a:bodyPr>
          <a:lstStyle/>
          <a:p>
            <a:r>
              <a:rPr lang="en-CA" dirty="0" smtClean="0"/>
              <a:t>Enable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a:t>
            </a:r>
            <a:r>
              <a:rPr lang="en-CA" dirty="0"/>
              <a:t>structure definitions in </a:t>
            </a:r>
            <a:r>
              <a:rPr lang="en-CA" dirty="0" smtClean="0"/>
              <a:t>source files are </a:t>
            </a:r>
            <a:r>
              <a:rPr lang="en-CA" i="1" dirty="0"/>
              <a:t>incomplete</a:t>
            </a:r>
          </a:p>
          <a:p>
            <a:pPr lvl="1"/>
            <a:r>
              <a:rPr lang="en-CA" dirty="0"/>
              <a:t>E.g., </a:t>
            </a:r>
            <a:r>
              <a:rPr lang="en-CA" sz="1800" dirty="0" err="1">
                <a:solidFill>
                  <a:srgbClr val="002060"/>
                </a:solidFill>
                <a:latin typeface="Courier New" panose="02070309020205020404" pitchFamily="49" charset="0"/>
                <a:cs typeface="Courier New" panose="02070309020205020404" pitchFamily="49" charset="0"/>
              </a:rPr>
              <a:t>struct</a:t>
            </a:r>
            <a:r>
              <a:rPr lang="en-CA" sz="1800" dirty="0">
                <a:latin typeface="Courier New" panose="02070309020205020404" pitchFamily="49" charset="0"/>
                <a:cs typeface="Courier New" panose="02070309020205020404" pitchFamily="49" charset="0"/>
              </a:rPr>
              <a:t> foo {</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__le32 </a:t>
            </a:r>
            <a:r>
              <a:rPr lang="en-CA" sz="1800" dirty="0" err="1">
                <a:latin typeface="Courier New" panose="02070309020205020404" pitchFamily="49" charset="0"/>
                <a:cs typeface="Courier New" panose="02070309020205020404" pitchFamily="49" charset="0"/>
              </a:rPr>
              <a:t>bar_block_ptr</a:t>
            </a:r>
            <a:r>
              <a:rPr lang="en-CA" sz="1800" dirty="0">
                <a:latin typeface="Courier New" panose="02070309020205020404" pitchFamily="49" charset="0"/>
                <a:cs typeface="Courier New" panose="02070309020205020404" pitchFamily="49" charset="0"/>
              </a:rPr>
              <a:t>;</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a:t>
            </a:r>
          </a:p>
          <a:p>
            <a:pPr lvl="2"/>
            <a:r>
              <a:rPr lang="en-CA" dirty="0" err="1" smtClean="0">
                <a:cs typeface="Courier New" panose="02070309020205020404" pitchFamily="49" charset="0"/>
              </a:rPr>
              <a:t>bar_block_ptr</a:t>
            </a:r>
            <a:r>
              <a:rPr lang="en-CA" dirty="0" smtClean="0">
                <a:cs typeface="Courier New" panose="02070309020205020404" pitchFamily="49" charset="0"/>
              </a:rPr>
              <a:t> is </a:t>
            </a:r>
            <a:r>
              <a:rPr lang="en-CA" dirty="0">
                <a:cs typeface="Courier New" panose="02070309020205020404" pitchFamily="49" charset="0"/>
              </a:rPr>
              <a:t>“probably” a 32-bit pointer to type “</a:t>
            </a:r>
            <a:r>
              <a:rPr lang="en-CA" dirty="0" err="1">
                <a:cs typeface="Courier New" panose="02070309020205020404" pitchFamily="49" charset="0"/>
              </a:rPr>
              <a:t>bar_block</a:t>
            </a:r>
            <a:r>
              <a:rPr lang="en-CA" dirty="0">
                <a:cs typeface="Courier New" panose="02070309020205020404" pitchFamily="49" charset="0"/>
              </a:rPr>
              <a:t>”</a:t>
            </a:r>
          </a:p>
          <a:p>
            <a:pPr lvl="2"/>
            <a:r>
              <a:rPr lang="en-CA" dirty="0">
                <a:cs typeface="Courier New" panose="02070309020205020404" pitchFamily="49" charset="0"/>
              </a:rPr>
              <a:t>However, </a:t>
            </a:r>
            <a:r>
              <a:rPr lang="en-CA" dirty="0" smtClean="0">
                <a:cs typeface="Courier New" panose="02070309020205020404" pitchFamily="49" charset="0"/>
              </a:rPr>
              <a:t>code parser cannot </a:t>
            </a:r>
            <a:r>
              <a:rPr lang="en-CA" dirty="0">
                <a:cs typeface="Courier New" panose="02070309020205020404" pitchFamily="49" charset="0"/>
              </a:rPr>
              <a:t>deduce this from structure </a:t>
            </a:r>
            <a:r>
              <a:rPr lang="en-CA" dirty="0" smtClean="0">
                <a:cs typeface="Courier New" panose="02070309020205020404" pitchFamily="49" charset="0"/>
              </a:rPr>
              <a:t>definition</a:t>
            </a:r>
            <a:endParaRPr lang="en-CA" dirty="0">
              <a:cs typeface="Courier New" panose="02070309020205020404" pitchFamily="49" charset="0"/>
            </a:endParaRPr>
          </a:p>
          <a:p>
            <a:r>
              <a:rPr lang="en-CA" dirty="0" smtClean="0"/>
              <a:t>Solution</a:t>
            </a:r>
            <a:endParaRPr lang="en-CA" dirty="0"/>
          </a:p>
          <a:p>
            <a:pPr lvl="1"/>
            <a:r>
              <a:rPr lang="en-CA" dirty="0"/>
              <a:t>Annotate existing </a:t>
            </a:r>
            <a:r>
              <a:rPr lang="en-CA" dirty="0" smtClean="0"/>
              <a:t>sources </a:t>
            </a:r>
            <a:r>
              <a:rPr lang="en-CA" dirty="0"/>
              <a:t>to specify missing information</a:t>
            </a:r>
          </a:p>
          <a:p>
            <a:endParaRPr lang="en-CA" dirty="0">
              <a:cs typeface="Courier New" panose="02070309020205020404" pitchFamily="49" charset="0"/>
            </a:endParaRP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US" dirty="0" smtClean="0"/>
              <a:t>File System Pointers</a:t>
            </a:r>
          </a:p>
          <a:p>
            <a:pPr lvl="1"/>
            <a:r>
              <a:rPr lang="en-US" dirty="0" smtClean="0"/>
              <a:t>Need to specify relationships between file system structures</a:t>
            </a:r>
          </a:p>
          <a:p>
            <a:pPr lvl="1"/>
            <a:r>
              <a:rPr lang="en-US" dirty="0" smtClean="0"/>
              <a:t>Use </a:t>
            </a:r>
            <a:r>
              <a:rPr lang="en-US" i="1" dirty="0"/>
              <a:t>P</a:t>
            </a:r>
            <a:r>
              <a:rPr lang="en-US" i="1" dirty="0" smtClean="0"/>
              <a:t>ointer</a:t>
            </a:r>
            <a:r>
              <a:rPr lang="en-US" dirty="0" smtClean="0"/>
              <a:t> annotation to specify this relationship</a:t>
            </a:r>
          </a:p>
          <a:p>
            <a:pPr lvl="1"/>
            <a:r>
              <a:rPr lang="en-US" dirty="0" smtClean="0"/>
              <a:t>Specifies that a data structure field holds an address to a location on physical storage</a:t>
            </a:r>
          </a:p>
          <a:p>
            <a:pPr lvl="1"/>
            <a:r>
              <a:rPr lang="en-US" b="1" dirty="0" smtClean="0"/>
              <a:t>Challenge:</a:t>
            </a:r>
            <a:r>
              <a:rPr lang="en-CA" b="1" dirty="0" smtClean="0"/>
              <a:t> </a:t>
            </a:r>
            <a:r>
              <a:rPr lang="en-CA" dirty="0" smtClean="0"/>
              <a:t>Interpreting address </a:t>
            </a:r>
            <a:r>
              <a:rPr lang="en-CA" dirty="0"/>
              <a:t>may involve multiple layers of translation</a:t>
            </a:r>
          </a:p>
          <a:p>
            <a:pPr lvl="2"/>
            <a:r>
              <a:rPr lang="en-CA" dirty="0" smtClean="0"/>
              <a:t>E.g</a:t>
            </a:r>
            <a:r>
              <a:rPr lang="en-CA" dirty="0"/>
              <a:t>., Ext4 journal is stored on disk as a regular file</a:t>
            </a:r>
          </a:p>
          <a:p>
            <a:pPr lvl="2"/>
            <a:r>
              <a:rPr lang="en-CA" dirty="0" smtClean="0"/>
              <a:t>Physical address of regular file stored in </a:t>
            </a:r>
            <a:r>
              <a:rPr lang="en-CA" dirty="0" err="1" smtClean="0"/>
              <a:t>inode</a:t>
            </a:r>
            <a:r>
              <a:rPr lang="en-CA" dirty="0" smtClean="0"/>
              <a:t> structure</a:t>
            </a:r>
          </a:p>
          <a:p>
            <a:pPr lvl="2"/>
            <a:r>
              <a:rPr lang="en-CA" dirty="0" smtClean="0"/>
              <a:t>Must read associated </a:t>
            </a:r>
            <a:r>
              <a:rPr lang="en-CA" dirty="0" err="1" smtClean="0"/>
              <a:t>inode</a:t>
            </a:r>
            <a:r>
              <a:rPr lang="en-CA" dirty="0" smtClean="0"/>
              <a:t> to physically locate Ext4 journal</a:t>
            </a:r>
            <a:endParaRPr lang="en-CA" dirty="0"/>
          </a:p>
          <a:p>
            <a:pPr lvl="1"/>
            <a:r>
              <a:rPr lang="en-CA" dirty="0"/>
              <a:t>Pointers have an </a:t>
            </a:r>
            <a:r>
              <a:rPr lang="en-CA" i="1" dirty="0"/>
              <a:t>address space </a:t>
            </a:r>
            <a:r>
              <a:rPr lang="en-CA" dirty="0"/>
              <a:t>that indicates how the address should be mapped to the physical location</a:t>
            </a:r>
          </a:p>
          <a:p>
            <a:pPr lvl="1"/>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FSSUPER and POINTER annotation</a:t>
            </a:r>
            <a:endParaRPr lang="en-CA" dirty="0"/>
          </a:p>
        </p:txBody>
      </p:sp>
      <p:sp>
        <p:nvSpPr>
          <p:cNvPr id="9" name="Content Placeholder 8"/>
          <p:cNvSpPr>
            <a:spLocks noGrp="1"/>
          </p:cNvSpPr>
          <p:nvPr>
            <p:ph sz="half" idx="1"/>
          </p:nvPr>
        </p:nvSpPr>
        <p:spPr/>
        <p:txBody>
          <a:bodyPr>
            <a:noAutofit/>
          </a:body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2060"/>
                </a:solidFill>
                <a:latin typeface="Courier New" panose="02070309020205020404" pitchFamily="49" charset="0"/>
                <a:cs typeface="Courier New" panose="02070309020205020404" pitchFamily="49" charset="0"/>
              </a:rPr>
              <a:t>1024</a:t>
            </a:r>
            <a:r>
              <a:rPr lang="en-CA" sz="1400" dirty="0">
                <a:latin typeface="Courier New" panose="02070309020205020404" pitchFamily="49" charset="0"/>
                <a:cs typeface="Courier New" panose="02070309020205020404" pitchFamily="49" charset="0"/>
              </a:rPr>
              <a:t>) ext4_super_block </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__le32 </a:t>
            </a:r>
            <a:r>
              <a:rPr lang="en-CA" sz="1400" dirty="0" err="1" smtClean="0">
                <a:latin typeface="Courier New" panose="02070309020205020404" pitchFamily="49" charset="0"/>
                <a:cs typeface="Courier New" panose="02070309020205020404" pitchFamily="49" charset="0"/>
              </a:rPr>
              <a:t>s_log_block_size</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fr-FR" sz="1400" dirty="0" smtClean="0">
                <a:solidFill>
                  <a:schemeClr val="accent6">
                    <a:lumMod val="75000"/>
                  </a:schemeClr>
                </a:solidFill>
                <a:latin typeface="Courier New" panose="02070309020205020404" pitchFamily="49" charset="0"/>
                <a:cs typeface="Courier New" panose="02070309020205020404" pitchFamily="49" charset="0"/>
              </a:rPr>
              <a:t>  </a:t>
            </a:r>
            <a:r>
              <a:rPr lang="fr-FR"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fr-FR" sz="1400" dirty="0" smtClean="0">
                <a:solidFill>
                  <a:schemeClr val="accent6">
                    <a:lumMod val="75000"/>
                  </a:schemeClr>
                </a:solidFill>
                <a:latin typeface="Courier New" panose="02070309020205020404" pitchFamily="49" charset="0"/>
                <a:cs typeface="Courier New" panose="02070309020205020404" pitchFamily="49" charset="0"/>
              </a:rPr>
              <a:t>(</a:t>
            </a:r>
            <a:r>
              <a:rPr lang="fr-FR" sz="1400" dirty="0" err="1">
                <a:solidFill>
                  <a:schemeClr val="accent3"/>
                </a:solidFill>
                <a:latin typeface="Courier New" panose="02070309020205020404" pitchFamily="49" charset="0"/>
                <a:cs typeface="Courier New" panose="02070309020205020404" pitchFamily="49" charset="0"/>
              </a:rPr>
              <a:t>aspc</a:t>
            </a:r>
            <a:r>
              <a:rPr lang="fr-FR" sz="1400" dirty="0" smtClean="0">
                <a:latin typeface="Courier New" panose="02070309020205020404" pitchFamily="49" charset="0"/>
                <a:cs typeface="Courier New" panose="02070309020205020404" pitchFamily="49" charset="0"/>
              </a:rPr>
              <a:t>=file</a:t>
            </a:r>
            <a:r>
              <a:rPr lang="fr-FR" sz="1400" dirty="0">
                <a:latin typeface="Courier New" panose="02070309020205020404" pitchFamily="49" charset="0"/>
                <a:cs typeface="Courier New" panose="02070309020205020404" pitchFamily="49" charset="0"/>
              </a:rPr>
              <a:t>, </a:t>
            </a:r>
            <a:r>
              <a:rPr lang="fr-FR" sz="1400" dirty="0">
                <a:solidFill>
                  <a:schemeClr val="accent3"/>
                </a:solidFill>
                <a:latin typeface="Courier New" panose="02070309020205020404" pitchFamily="49" charset="0"/>
                <a:cs typeface="Courier New" panose="02070309020205020404" pitchFamily="49" charset="0"/>
              </a:rPr>
              <a:t>type</a:t>
            </a:r>
            <a:r>
              <a:rPr lang="fr-FR" sz="1400" dirty="0" smtClean="0">
                <a:latin typeface="Courier New" panose="02070309020205020404" pitchFamily="49" charset="0"/>
                <a:cs typeface="Courier New" panose="02070309020205020404" pitchFamily="49" charset="0"/>
              </a:rPr>
              <a:t>=ext4_journal)</a:t>
            </a:r>
          </a:p>
          <a:p>
            <a:pPr marL="0" indent="0">
              <a:lnSpc>
                <a:spcPts val="2000"/>
              </a:lnSpc>
              <a:spcBef>
                <a:spcPts val="0"/>
              </a:spcBef>
              <a:spcAft>
                <a:spcPts val="0"/>
              </a:spcAft>
              <a:buNone/>
            </a:pPr>
            <a:r>
              <a:rPr lang="fr-FR" sz="1400" dirty="0" smtClean="0">
                <a:latin typeface="Courier New" panose="02070309020205020404" pitchFamily="49" charset="0"/>
                <a:cs typeface="Courier New" panose="02070309020205020404" pitchFamily="49" charset="0"/>
              </a:rPr>
              <a:t>  __le32 </a:t>
            </a:r>
            <a:r>
              <a:rPr lang="fr-FR" sz="1400" dirty="0" err="1" smtClean="0">
                <a:latin typeface="Courier New" panose="02070309020205020404" pitchFamily="49" charset="0"/>
                <a:cs typeface="Courier New" panose="02070309020205020404" pitchFamily="49" charset="0"/>
              </a:rPr>
              <a:t>s_journal_inum</a:t>
            </a:r>
            <a:r>
              <a:rPr lang="fr-FR" sz="1400" dirty="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POINTER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name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s_block_group_desc</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latin typeface="Courier New" panose="02070309020205020404" pitchFamily="49" charset="0"/>
                <a:cs typeface="Courier New" panose="02070309020205020404" pitchFamily="49" charset="0"/>
              </a:rPr>
              <a:t>=ex</a:t>
            </a:r>
            <a:r>
              <a:rPr lang="en-CA" sz="1400" dirty="0">
                <a:solidFill>
                  <a:schemeClr val="accent6">
                    <a:lumMod val="75000"/>
                  </a:schemeClr>
                </a:solidFill>
                <a:latin typeface="Courier New" panose="02070309020205020404" pitchFamily="49" charset="0"/>
                <a:cs typeface="Courier New" panose="02070309020205020404" pitchFamily="49" charset="0"/>
              </a:rPr>
              <a:t>t4_group_desc_table,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latin typeface="Courier New" panose="02070309020205020404" pitchFamily="49" charset="0"/>
                <a:cs typeface="Courier New" panose="02070309020205020404" pitchFamily="49" charset="0"/>
              </a:rPr>
              <a:t>=(</a:t>
            </a:r>
            <a:r>
              <a:rPr lang="en-CA" sz="1400" dirty="0" err="1" smtClean="0">
                <a:latin typeface="Courier New" panose="02070309020205020404" pitchFamily="49" charset="0"/>
                <a:cs typeface="Courier New" panose="02070309020205020404" pitchFamily="49" charset="0"/>
              </a:rPr>
              <a:t>self.s_log_block_size</a:t>
            </a:r>
            <a:r>
              <a:rPr lang="en-CA" sz="1400" dirty="0" smtClean="0">
                <a:latin typeface="Courier New" panose="02070309020205020404" pitchFamily="49" charset="0"/>
                <a:cs typeface="Courier New" panose="02070309020205020404" pitchFamily="49" charset="0"/>
              </a:rPr>
              <a:t> == 0</a:t>
            </a:r>
            <a:r>
              <a:rPr lang="en-CA" sz="1400" dirty="0">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2</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1</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400" dirty="0" smtClean="0">
              <a:solidFill>
                <a:schemeClr val="accent6">
                  <a:lumMod val="75000"/>
                </a:schemeClr>
              </a:solidFill>
              <a:latin typeface="Courier New" panose="02070309020205020404" pitchFamily="49" charset="0"/>
              <a:cs typeface="Courier New" panose="02070309020205020404" pitchFamily="49" charset="0"/>
            </a:endParaRPr>
          </a:p>
          <a:p>
            <a:r>
              <a:rPr lang="en-CA" dirty="0"/>
              <a:t>FSSUPER specifies </a:t>
            </a:r>
            <a:r>
              <a:rPr lang="en-CA" dirty="0" smtClean="0"/>
              <a:t>the structure</a:t>
            </a:r>
            <a:r>
              <a:rPr lang="en-CA" dirty="0"/>
              <a:t/>
            </a:r>
            <a:br>
              <a:rPr lang="en-CA" dirty="0"/>
            </a:br>
            <a:r>
              <a:rPr lang="en-CA" dirty="0"/>
              <a:t>as super block</a:t>
            </a:r>
          </a:p>
          <a:p>
            <a:pPr lvl="1"/>
            <a:r>
              <a:rPr lang="en-CA" i="1" dirty="0"/>
              <a:t>location</a:t>
            </a:r>
            <a:r>
              <a:rPr lang="en-CA" dirty="0"/>
              <a:t> argument specifies address in byte offset</a:t>
            </a: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13</a:t>
            </a:fld>
            <a:endParaRPr lang="en-CA"/>
          </a:p>
        </p:txBody>
      </p:sp>
      <p:sp>
        <p:nvSpPr>
          <p:cNvPr id="3" name="Content Placeholder 2"/>
          <p:cNvSpPr>
            <a:spLocks noGrp="1"/>
          </p:cNvSpPr>
          <p:nvPr>
            <p:ph sz="half" idx="2"/>
          </p:nvPr>
        </p:nvSpPr>
        <p:spPr/>
        <p:txBody>
          <a:bodyPr/>
          <a:lstStyle/>
          <a:p>
            <a:r>
              <a:rPr lang="en-CA" dirty="0" smtClean="0"/>
              <a:t>POINTER annotation</a:t>
            </a:r>
          </a:p>
          <a:p>
            <a:pPr lvl="1"/>
            <a:r>
              <a:rPr lang="en-CA" i="1" dirty="0" err="1" smtClean="0"/>
              <a:t>aspc</a:t>
            </a:r>
            <a:r>
              <a:rPr lang="en-CA" dirty="0" smtClean="0"/>
              <a:t> specifies the address space for mapping the address to physical location</a:t>
            </a:r>
          </a:p>
          <a:p>
            <a:pPr lvl="1"/>
            <a:r>
              <a:rPr lang="en-CA" i="1" dirty="0" smtClean="0"/>
              <a:t>type</a:t>
            </a:r>
            <a:r>
              <a:rPr lang="en-CA" dirty="0" smtClean="0"/>
              <a:t> is the type of the pointed-to structure</a:t>
            </a:r>
          </a:p>
          <a:p>
            <a:r>
              <a:rPr lang="en-CA" dirty="0" smtClean="0"/>
              <a:t>Implicit Pointer</a:t>
            </a:r>
          </a:p>
          <a:p>
            <a:pPr lvl="1"/>
            <a:r>
              <a:rPr lang="en-CA" dirty="0" smtClean="0"/>
              <a:t>Field computed at runtime</a:t>
            </a:r>
          </a:p>
          <a:p>
            <a:pPr lvl="1"/>
            <a:r>
              <a:rPr lang="en-CA" i="1" dirty="0" smtClean="0"/>
              <a:t>expr</a:t>
            </a:r>
            <a:r>
              <a:rPr lang="en-CA" dirty="0" smtClean="0"/>
              <a:t> specifies the computation</a:t>
            </a:r>
          </a:p>
          <a:p>
            <a:pPr lvl="1"/>
            <a:r>
              <a:rPr lang="en-CA" dirty="0" smtClean="0"/>
              <a:t>accessible via </a:t>
            </a:r>
            <a:r>
              <a:rPr lang="en-CA" i="1" dirty="0" smtClean="0"/>
              <a:t>name</a:t>
            </a:r>
            <a:r>
              <a:rPr lang="en-CA" dirty="0" smtClean="0"/>
              <a:t> argument</a:t>
            </a:r>
          </a:p>
          <a:p>
            <a:pPr lvl="2"/>
            <a:endParaRPr lang="en-CA" dirty="0"/>
          </a:p>
        </p:txBody>
      </p:sp>
    </p:spTree>
    <p:extLst>
      <p:ext uri="{BB962C8B-B14F-4D97-AF65-F5344CB8AC3E}">
        <p14:creationId xmlns:p14="http://schemas.microsoft.com/office/powerpoint/2010/main" val="16931400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CA" dirty="0"/>
              <a:t>Cross-Structure Dependencies</a:t>
            </a:r>
          </a:p>
          <a:p>
            <a:pPr lvl="1"/>
            <a:r>
              <a:rPr lang="en-CA" dirty="0"/>
              <a:t>Allows the annotation of structures to reference fields of other structures</a:t>
            </a:r>
          </a:p>
          <a:p>
            <a:pPr lvl="2"/>
            <a:r>
              <a:rPr lang="en-CA" dirty="0"/>
              <a:t>E.g., size of an Ext4 </a:t>
            </a:r>
            <a:r>
              <a:rPr lang="en-CA" dirty="0" err="1"/>
              <a:t>inode</a:t>
            </a:r>
            <a:r>
              <a:rPr lang="en-CA" dirty="0"/>
              <a:t> is </a:t>
            </a:r>
            <a:r>
              <a:rPr lang="en-CA" dirty="0" smtClean="0"/>
              <a:t>stored </a:t>
            </a:r>
            <a:r>
              <a:rPr lang="en-CA" dirty="0"/>
              <a:t>in Ext4 super block</a:t>
            </a:r>
          </a:p>
          <a:p>
            <a:r>
              <a:rPr lang="en-CA" dirty="0" smtClean="0"/>
              <a:t>Context-Sensitive Types</a:t>
            </a:r>
          </a:p>
          <a:p>
            <a:pPr lvl="1"/>
            <a:r>
              <a:rPr lang="en-CA" dirty="0" smtClean="0"/>
              <a:t>E.g., pointers may point to different types of metadata</a:t>
            </a:r>
          </a:p>
          <a:p>
            <a:pPr lvl="2"/>
            <a:r>
              <a:rPr lang="en-CA" dirty="0"/>
              <a:t>P</a:t>
            </a:r>
            <a:r>
              <a:rPr lang="en-CA" dirty="0" smtClean="0"/>
              <a:t>ointers in </a:t>
            </a:r>
            <a:r>
              <a:rPr lang="en-CA" dirty="0" err="1" smtClean="0"/>
              <a:t>inode</a:t>
            </a:r>
            <a:r>
              <a:rPr lang="en-CA" dirty="0" smtClean="0"/>
              <a:t> point to directory blocks if </a:t>
            </a:r>
            <a:r>
              <a:rPr lang="en-CA" dirty="0" err="1" smtClean="0"/>
              <a:t>inode</a:t>
            </a:r>
            <a:r>
              <a:rPr lang="en-CA" dirty="0" smtClean="0"/>
              <a:t> is directory</a:t>
            </a:r>
          </a:p>
          <a:p>
            <a:pPr lvl="1"/>
            <a:r>
              <a:rPr lang="en-CA" dirty="0" smtClean="0"/>
              <a:t>E.g., structures may have optional fields</a:t>
            </a:r>
          </a:p>
          <a:p>
            <a:pPr lvl="2"/>
            <a:r>
              <a:rPr lang="en-CA" dirty="0" smtClean="0"/>
              <a:t>Ext4 </a:t>
            </a:r>
            <a:r>
              <a:rPr lang="en-CA" dirty="0" err="1" smtClean="0"/>
              <a:t>inode</a:t>
            </a:r>
            <a:r>
              <a:rPr lang="en-CA" dirty="0" smtClean="0"/>
              <a:t> can store extended attributes if size &gt; 128</a:t>
            </a:r>
          </a:p>
          <a:p>
            <a:r>
              <a:rPr lang="en-CA" dirty="0"/>
              <a:t>Constraint Checking</a:t>
            </a:r>
          </a:p>
          <a:p>
            <a:pPr lvl="1"/>
            <a:r>
              <a:rPr lang="en-CA" dirty="0"/>
              <a:t>Helps detect corrupted metadata </a:t>
            </a:r>
            <a:r>
              <a:rPr lang="en-CA" dirty="0" smtClean="0"/>
              <a:t>structures</a:t>
            </a:r>
          </a:p>
          <a:p>
            <a:pPr lvl="1"/>
            <a:endParaRPr lang="en-CA" dirty="0" smtClean="0"/>
          </a:p>
          <a:p>
            <a:pPr lvl="1"/>
            <a:endParaRPr lang="en-CA" dirty="0"/>
          </a:p>
          <a:p>
            <a:pPr lvl="2"/>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Tree>
    <p:extLst>
      <p:ext uri="{BB962C8B-B14F-4D97-AF65-F5344CB8AC3E}">
        <p14:creationId xmlns:p14="http://schemas.microsoft.com/office/powerpoint/2010/main" val="6598258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err="1" smtClean="0"/>
              <a:t>Exmple</a:t>
            </a:r>
            <a:r>
              <a:rPr lang="en-US" dirty="0" smtClean="0"/>
              <a:t> Annotations</a:t>
            </a:r>
            <a:endParaRPr lang="en-CA" dirty="0"/>
          </a:p>
        </p:txBody>
      </p:sp>
      <p:sp>
        <p:nvSpPr>
          <p:cNvPr id="10" name="Content Placeholder 6"/>
          <p:cNvSpPr txBox="1">
            <a:spLocks noGrp="1"/>
          </p:cNvSpPr>
          <p:nvPr>
            <p:ph sz="half" idx="1"/>
          </p:nvPr>
        </p:nvSpPr>
        <p:spPr>
          <a:xfrm>
            <a:off x="684211" y="1515361"/>
            <a:ext cx="4782311" cy="4656839"/>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FSSUPER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sb</a:t>
            </a:r>
            <a:r>
              <a:rPr lang="en-CA" sz="1400" dirty="0" smtClean="0">
                <a:solidFill>
                  <a:schemeClr val="accent6">
                    <a:lumMod val="75000"/>
                  </a:schemeClr>
                </a:solidFill>
                <a:latin typeface="Courier New" panose="02070309020205020404" pitchFamily="49" charset="0"/>
                <a:cs typeface="Courier New" panose="02070309020205020404" pitchFamily="49" charset="0"/>
              </a:rPr>
              <a:t>, …) ext4_super_block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__</a:t>
            </a:r>
            <a:r>
              <a:rPr lang="en-CA" sz="1400" dirty="0" smtClean="0">
                <a:solidFill>
                  <a:schemeClr val="accent6">
                    <a:lumMod val="75000"/>
                  </a:schemeClr>
                </a:solidFill>
                <a:latin typeface="Courier New" panose="02070309020205020404" pitchFamily="49" charset="0"/>
                <a:cs typeface="Courier New" panose="02070309020205020404" pitchFamily="49" charset="0"/>
              </a:rPr>
              <a:t>le16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a:t>
            </a:r>
            <a:r>
              <a:rPr lang="en-CA" sz="1400" dirty="0" smtClean="0">
                <a:solidFill>
                  <a:schemeClr val="accent6">
                    <a:lumMod val="75000"/>
                  </a:schemeClr>
                </a:solidFill>
                <a:latin typeface="Courier New" panose="02070309020205020404" pitchFamily="49" charset="0"/>
                <a:cs typeface="Courier New" panose="02070309020205020404" pitchFamily="49" charset="0"/>
              </a:rPr>
              <a:t>le32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s_inode_size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  CHECK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&lt;= </a:t>
            </a:r>
            <a:r>
              <a:rPr lang="en-CA" sz="1400" dirty="0">
                <a:solidFill>
                  <a:srgbClr val="00206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0xef53</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400" b="1"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FSSTRUCT</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sb.s_inode_size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ext4_inode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__le16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i_mode</a:t>
            </a:r>
            <a:r>
              <a:rPr lang="en-CA" sz="1400" dirty="0">
                <a:solidFill>
                  <a:schemeClr val="accent6">
                    <a:lumMod val="75000"/>
                  </a:schemeClr>
                </a:solidFill>
                <a:latin typeface="Courier New" panose="02070309020205020404" pitchFamily="49" charset="0"/>
                <a:cs typeface="Courier New" panose="02070309020205020404" pitchFamily="49" charset="0"/>
              </a:rPr>
              <a:t>;</a:t>
            </a: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dir_block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when</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self.i_mode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&amp; </a:t>
            </a:r>
            <a:r>
              <a:rPr lang="en-CA" sz="1400" dirty="0" smtClean="0">
                <a:solidFill>
                  <a:schemeClr val="accent6">
                    <a:lumMod val="75000"/>
                  </a:schemeClr>
                </a:solidFill>
                <a:latin typeface="Courier New" panose="02070309020205020404" pitchFamily="49" charset="0"/>
                <a:cs typeface="Courier New" panose="02070309020205020404" pitchFamily="49" charset="0"/>
              </a:rPr>
              <a:t>S_IFDIR</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data_block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when</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self.i_mode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&amp; </a:t>
            </a:r>
            <a:r>
              <a:rPr lang="en-CA" sz="1400" dirty="0" smtClean="0">
                <a:solidFill>
                  <a:schemeClr val="accent6">
                    <a:lumMod val="75000"/>
                  </a:schemeClr>
                </a:solidFill>
                <a:latin typeface="Courier New" panose="02070309020205020404" pitchFamily="49" charset="0"/>
                <a:cs typeface="Courier New" panose="02070309020205020404" pitchFamily="49" charset="0"/>
              </a:rPr>
              <a:t>S_IFREG</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le32	</a:t>
            </a:r>
            <a:r>
              <a:rPr lang="en-CA" sz="1400" dirty="0" err="1">
                <a:solidFill>
                  <a:schemeClr val="accent6">
                    <a:lumMod val="75000"/>
                  </a:schemeClr>
                </a:solidFill>
                <a:latin typeface="Courier New" panose="02070309020205020404" pitchFamily="49" charset="0"/>
                <a:cs typeface="Courier New" panose="02070309020205020404" pitchFamily="49" charset="0"/>
              </a:rPr>
              <a:t>i_block</a:t>
            </a:r>
            <a:r>
              <a:rPr lang="en-CA" sz="1400" dirty="0">
                <a:solidFill>
                  <a:schemeClr val="accent6">
                    <a:lumMod val="75000"/>
                  </a:schemeClr>
                </a:solidFill>
                <a:latin typeface="Courier New" panose="02070309020205020404" pitchFamily="49" charset="0"/>
                <a:cs typeface="Courier New" panose="02070309020205020404" pitchFamily="49" charset="0"/>
              </a:rPr>
              <a:t>[EXT3_NDIR_BLOCKS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15</a:t>
            </a:fld>
            <a:endParaRPr lang="en-CA"/>
          </a:p>
        </p:txBody>
      </p:sp>
      <p:sp>
        <p:nvSpPr>
          <p:cNvPr id="7" name="Content Placeholder 6"/>
          <p:cNvSpPr>
            <a:spLocks noGrp="1"/>
          </p:cNvSpPr>
          <p:nvPr>
            <p:ph sz="half" idx="2"/>
          </p:nvPr>
        </p:nvSpPr>
        <p:spPr/>
        <p:txBody>
          <a:bodyPr/>
          <a:lstStyle/>
          <a:p>
            <a:r>
              <a:rPr lang="en-CA" dirty="0" smtClean="0"/>
              <a:t>CHECK annotation</a:t>
            </a:r>
          </a:p>
          <a:p>
            <a:pPr lvl="1"/>
            <a:r>
              <a:rPr lang="en-CA" dirty="0" smtClean="0"/>
              <a:t>Enables constraint checking</a:t>
            </a:r>
          </a:p>
          <a:p>
            <a:r>
              <a:rPr lang="en-CA" dirty="0" smtClean="0"/>
              <a:t>FSSUPER/FSSTRUCT</a:t>
            </a:r>
          </a:p>
          <a:p>
            <a:pPr lvl="1"/>
            <a:r>
              <a:rPr lang="en-CA" i="1" dirty="0" smtClean="0"/>
              <a:t>name </a:t>
            </a:r>
            <a:r>
              <a:rPr lang="en-CA" dirty="0" smtClean="0"/>
              <a:t>argument allows structure to be referenced by others</a:t>
            </a:r>
          </a:p>
          <a:p>
            <a:pPr lvl="1"/>
            <a:r>
              <a:rPr lang="en-CA" dirty="0" smtClean="0"/>
              <a:t>e.g., </a:t>
            </a:r>
            <a:r>
              <a:rPr lang="en-CA" i="1" dirty="0" smtClean="0"/>
              <a:t>size</a:t>
            </a:r>
            <a:r>
              <a:rPr lang="en-CA" dirty="0" smtClean="0"/>
              <a:t> argument for ext4_inode references field in super block </a:t>
            </a:r>
            <a:endParaRPr lang="en-CA" i="1" dirty="0" smtClean="0"/>
          </a:p>
          <a:p>
            <a:r>
              <a:rPr lang="en-CA" i="1" dirty="0" smtClean="0"/>
              <a:t>when</a:t>
            </a:r>
            <a:r>
              <a:rPr lang="en-CA" dirty="0" smtClean="0"/>
              <a:t> argument</a:t>
            </a:r>
          </a:p>
          <a:p>
            <a:pPr lvl="1"/>
            <a:r>
              <a:rPr lang="en-CA" dirty="0" smtClean="0"/>
              <a:t>Supports context-sensitive types</a:t>
            </a:r>
          </a:p>
          <a:p>
            <a:pPr lvl="1"/>
            <a:r>
              <a:rPr lang="en-CA" dirty="0" smtClean="0"/>
              <a:t>Evaluated at runtime </a:t>
            </a:r>
            <a:endParaRPr lang="en-CA" dirty="0"/>
          </a:p>
        </p:txBody>
      </p:sp>
    </p:spTree>
    <p:extLst>
      <p:ext uri="{BB962C8B-B14F-4D97-AF65-F5344CB8AC3E}">
        <p14:creationId xmlns:p14="http://schemas.microsoft.com/office/powerpoint/2010/main" val="68854496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678989"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206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ext4_super_block {</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__le32 </a:t>
            </a:r>
            <a:r>
              <a:rPr lang="en-CA" sz="1400" dirty="0" err="1" smtClean="0">
                <a:latin typeface="Courier New" panose="02070309020205020404" pitchFamily="49" charset="0"/>
                <a:cs typeface="Courier New" panose="02070309020205020404" pitchFamily="49" charset="0"/>
              </a:rPr>
              <a:t>s_log_block_size</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__</a:t>
            </a:r>
            <a:r>
              <a:rPr lang="en-CA" sz="1400" dirty="0" smtClean="0">
                <a:latin typeface="Courier New" panose="02070309020205020404" pitchFamily="49" charset="0"/>
                <a:cs typeface="Courier New" panose="02070309020205020404" pitchFamily="49" charset="0"/>
              </a:rPr>
              <a:t>le16 </a:t>
            </a:r>
            <a:r>
              <a:rPr lang="en-CA" sz="1400" dirty="0" err="1" smtClean="0">
                <a:latin typeface="Courier New" panose="02070309020205020404" pitchFamily="49" charset="0"/>
                <a:cs typeface="Courier New" panose="02070309020205020404" pitchFamily="49" charset="0"/>
              </a:rPr>
              <a:t>s_magic</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__</a:t>
            </a:r>
            <a:r>
              <a:rPr lang="en-CA" sz="1400" dirty="0" smtClean="0">
                <a:latin typeface="Courier New" panose="02070309020205020404" pitchFamily="49" charset="0"/>
                <a:cs typeface="Courier New" panose="02070309020205020404" pitchFamily="49" charset="0"/>
              </a:rPr>
              <a:t>le32 </a:t>
            </a:r>
            <a:r>
              <a:rPr lang="en-CA" sz="1400" dirty="0" err="1" smtClean="0">
                <a:latin typeface="Courier New" panose="02070309020205020404" pitchFamily="49" charset="0"/>
                <a:cs typeface="Courier New" panose="02070309020205020404" pitchFamily="49" charset="0"/>
              </a:rPr>
              <a:t>s_inode_size</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  CHECK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latin typeface="Courier New" panose="02070309020205020404" pitchFamily="49" charset="0"/>
                <a:cs typeface="Courier New" panose="02070309020205020404" pitchFamily="49" charset="0"/>
              </a:rPr>
              <a:t>=</a:t>
            </a:r>
            <a:r>
              <a:rPr lang="en-CA" sz="1400" dirty="0" err="1" smtClean="0">
                <a:latin typeface="Courier New" panose="02070309020205020404" pitchFamily="49" charset="0"/>
                <a:cs typeface="Courier New" panose="02070309020205020404" pitchFamily="49" charset="0"/>
              </a:rPr>
              <a:t>self.s_log_block_size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&lt;= </a:t>
            </a:r>
            <a:r>
              <a:rPr lang="en-CA" sz="1400" dirty="0">
                <a:solidFill>
                  <a:srgbClr val="002060"/>
                </a:solidFill>
                <a:latin typeface="Courier New" panose="02070309020205020404" pitchFamily="49" charset="0"/>
                <a:cs typeface="Courier New" panose="02070309020205020404" pitchFamily="49" charset="0"/>
              </a:rPr>
              <a:t>6</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self.s_magic</a:t>
            </a:r>
            <a:r>
              <a:rPr lang="en-CA" sz="1400" dirty="0">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0xef53</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a:p>
            <a:r>
              <a:rPr lang="en-CA" dirty="0"/>
              <a:t>C++ class generated for every annotated class and its fields</a:t>
            </a:r>
          </a:p>
          <a:p>
            <a:pPr lvl="1"/>
            <a:r>
              <a:rPr lang="en-CA" dirty="0"/>
              <a:t>Enables type-safe parsing and serialization</a:t>
            </a:r>
          </a:p>
          <a:p>
            <a:pPr marL="0" indent="0">
              <a:lnSpc>
                <a:spcPts val="2000"/>
              </a:lnSpc>
              <a:spcBef>
                <a:spcPts val="0"/>
              </a:spcBef>
              <a:spcAft>
                <a:spcPts val="0"/>
              </a:spcAft>
              <a:buNone/>
            </a:pP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p:txBody>
      </p:sp>
      <p:sp>
        <p:nvSpPr>
          <p:cNvPr id="4" name="Text Placeholder 3"/>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621866" y="2100086"/>
            <a:ext cx="5191908" cy="2601123"/>
          </a:xfrm>
        </p:spPr>
        <p:txBody>
          <a:bodyPr>
            <a:noAutofit/>
          </a:bodyPr>
          <a:lstStyle/>
          <a:p>
            <a:pPr marL="0" indent="0">
              <a:lnSpc>
                <a:spcPts val="2000"/>
              </a:lnSpc>
              <a:spcBef>
                <a:spcPts val="0"/>
              </a:spcBef>
              <a:spcAft>
                <a:spcPts val="0"/>
              </a:spcAft>
              <a:buNone/>
            </a:pPr>
            <a:r>
              <a:rPr lang="en-CA" sz="1400" dirty="0" err="1">
                <a:latin typeface="Courier New" panose="02070309020205020404" pitchFamily="49" charset="0"/>
                <a:cs typeface="Courier New" panose="02070309020205020404" pitchFamily="49" charset="0"/>
              </a:rPr>
              <a:t>int</a:t>
            </a: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parse(</a:t>
            </a:r>
            <a:r>
              <a:rPr lang="en-CA" sz="1400" dirty="0" err="1" smtClean="0">
                <a:latin typeface="Courier New" panose="02070309020205020404" pitchFamily="49" charset="0"/>
                <a:cs typeface="Courier New" panose="02070309020205020404" pitchFamily="49" charset="0"/>
              </a:rPr>
              <a:t>const</a:t>
            </a:r>
            <a:r>
              <a:rPr lang="en-CA" sz="1400" dirty="0" smtClean="0">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char * &amp; </a:t>
            </a:r>
            <a:r>
              <a:rPr lang="en-CA" sz="1400" dirty="0" err="1" smtClean="0">
                <a:latin typeface="Courier New" panose="02070309020205020404" pitchFamily="49" charset="0"/>
                <a:cs typeface="Courier New" panose="02070309020205020404" pitchFamily="49" charset="0"/>
              </a:rPr>
              <a:t>buf</a:t>
            </a:r>
            <a:r>
              <a:rPr lang="en-CA" sz="1400" dirty="0" smtClean="0">
                <a:latin typeface="Courier New" panose="02070309020205020404" pitchFamily="49" charset="0"/>
                <a:cs typeface="Courier New" panose="02070309020205020404" pitchFamily="49" charset="0"/>
              </a:rPr>
              <a:t>, unsigned </a:t>
            </a:r>
            <a:r>
              <a:rPr lang="en-CA" sz="1400" dirty="0">
                <a:latin typeface="Courier New" panose="02070309020205020404" pitchFamily="49" charset="0"/>
                <a:cs typeface="Courier New" panose="02070309020205020404" pitchFamily="49" charset="0"/>
              </a:rPr>
              <a:t>&amp;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err="1" smtClean="0">
                <a:latin typeface="Courier New" panose="02070309020205020404" pitchFamily="49" charset="0"/>
                <a:cs typeface="Courier New" panose="02070309020205020404" pitchFamily="49" charset="0"/>
              </a:rPr>
              <a:t>int</a:t>
            </a:r>
            <a:r>
              <a:rPr lang="en-CA" sz="1400" dirty="0" smtClean="0">
                <a:latin typeface="Courier New" panose="02070309020205020404" pitchFamily="49" charset="0"/>
                <a:cs typeface="Courier New" panose="02070309020205020404" pitchFamily="49" charset="0"/>
              </a:rPr>
              <a:t> ret </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s_log_block_size.parse</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buf</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if (ret &lt; 0) return ret;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smtClean="0">
                <a:effectLst>
                  <a:glow rad="101600">
                    <a:srgbClr val="FFFF00">
                      <a:alpha val="40000"/>
                    </a:srgbClr>
                  </a:glow>
                </a:effectLst>
                <a:latin typeface="Courier New" panose="02070309020205020404" pitchFamily="49" charset="0"/>
                <a:cs typeface="Courier New" panose="02070309020205020404" pitchFamily="49" charset="0"/>
              </a:rPr>
              <a:t>if </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(!(this-&gt;</a:t>
            </a:r>
            <a:r>
              <a:rPr lang="en-CA" sz="1400" dirty="0" err="1">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&lt;= 6))</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if (!(this-&gt;</a:t>
            </a:r>
            <a:r>
              <a:rPr lang="en-CA" sz="1400" dirty="0" err="1">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 0xef53))</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return 0;</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16</a:t>
            </a:fld>
            <a:endParaRPr lang="en-CA"/>
          </a:p>
        </p:txBody>
      </p:sp>
      <p:sp>
        <p:nvSpPr>
          <p:cNvPr id="6" name="Right Arrow 5"/>
          <p:cNvSpPr/>
          <p:nvPr/>
        </p:nvSpPr>
        <p:spPr>
          <a:xfrm>
            <a:off x="5345150" y="3588027"/>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Evaluation: Annotation </a:t>
            </a:r>
            <a:r>
              <a:rPr lang="en-CA" dirty="0" smtClean="0"/>
              <a:t>Effort</a:t>
            </a:r>
            <a:endParaRPr lang="en-CA" dirty="0"/>
          </a:p>
        </p:txBody>
      </p:sp>
      <p:sp>
        <p:nvSpPr>
          <p:cNvPr id="3" name="Content Placeholder 2"/>
          <p:cNvSpPr>
            <a:spLocks noGrp="1"/>
          </p:cNvSpPr>
          <p:nvPr>
            <p:ph idx="1"/>
          </p:nvPr>
        </p:nvSpPr>
        <p:spPr>
          <a:xfrm>
            <a:off x="646112" y="2990597"/>
            <a:ext cx="9403743" cy="3257801"/>
          </a:xfrm>
        </p:spPr>
        <p:txBody>
          <a:bodyPr>
            <a:normAutofit/>
          </a:bodyPr>
          <a:lstStyle/>
          <a:p>
            <a:r>
              <a:rPr lang="en-CA" dirty="0" smtClean="0"/>
              <a:t>LOC required for </a:t>
            </a:r>
            <a:r>
              <a:rPr lang="en-CA" i="1" dirty="0" smtClean="0"/>
              <a:t>file system developers</a:t>
            </a:r>
            <a:r>
              <a:rPr lang="en-CA" dirty="0" smtClean="0"/>
              <a:t> to correctly annotate their 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revised</a:t>
            </a:r>
          </a:p>
          <a:p>
            <a:pPr lvl="2"/>
            <a:r>
              <a:rPr lang="en-CA" dirty="0" smtClean="0"/>
              <a:t>Due to limitation of the annotation language</a:t>
            </a:r>
          </a:p>
          <a:p>
            <a:pPr lvl="2"/>
            <a:r>
              <a:rPr lang="en-CA" dirty="0" smtClean="0"/>
              <a:t>Does not affect correctness</a:t>
            </a:r>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xmlns="" val="10003"/>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17</a:t>
            </a:fld>
            <a:endParaRPr lang="en-CA" dirty="0"/>
          </a:p>
        </p:txBody>
      </p:sp>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a:t>
            </a:r>
            <a:r>
              <a:rPr lang="en-CA" dirty="0" smtClean="0"/>
              <a:t>Application</a:t>
            </a:r>
            <a:endParaRPr lang="en-CA" dirty="0"/>
          </a:p>
        </p:txBody>
      </p:sp>
      <p:sp>
        <p:nvSpPr>
          <p:cNvPr id="3" name="Content Placeholder 2"/>
          <p:cNvSpPr>
            <a:spLocks noGrp="1"/>
          </p:cNvSpPr>
          <p:nvPr>
            <p:ph idx="1"/>
          </p:nvPr>
        </p:nvSpPr>
        <p:spPr>
          <a:xfrm>
            <a:off x="684211" y="1515359"/>
            <a:ext cx="10285797" cy="4593210"/>
          </a:xfrm>
        </p:spPr>
        <p:txBody>
          <a:bodyPr>
            <a:normAutofit/>
          </a:bodyPr>
          <a:lstStyle/>
          <a:p>
            <a:r>
              <a:rPr lang="en-CA" dirty="0" smtClean="0"/>
              <a:t>Example: File System Free Space Tool</a:t>
            </a:r>
          </a:p>
          <a:p>
            <a:pPr lvl="1"/>
            <a:r>
              <a:rPr lang="en-CA" dirty="0" smtClean="0"/>
              <a:t>plots </a:t>
            </a:r>
            <a:r>
              <a:rPr lang="en-CA" dirty="0"/>
              <a:t>histogram of </a:t>
            </a:r>
            <a:r>
              <a:rPr lang="en-CA" dirty="0" smtClean="0"/>
              <a:t>size </a:t>
            </a:r>
            <a:r>
              <a:rPr lang="en-CA" dirty="0"/>
              <a:t>of free extents</a:t>
            </a:r>
            <a:endParaRPr lang="en-CA" dirty="0" smtClean="0"/>
          </a:p>
          <a:p>
            <a:r>
              <a:rPr lang="en-CA" dirty="0" smtClean="0"/>
              <a:t>Manually (ad-hoc processing)</a:t>
            </a:r>
          </a:p>
          <a:p>
            <a:pPr lvl="1"/>
            <a:r>
              <a:rPr lang="en-CA" dirty="0" smtClean="0"/>
              <a:t>Find documentation on format of each file system</a:t>
            </a:r>
          </a:p>
          <a:p>
            <a:pPr lvl="2"/>
            <a:r>
              <a:rPr lang="en-CA" dirty="0" smtClean="0"/>
              <a:t>Learn how each file system keeps track of block allocation information</a:t>
            </a:r>
          </a:p>
          <a:p>
            <a:pPr lvl="1"/>
            <a:r>
              <a:rPr lang="en-CA" dirty="0" smtClean="0"/>
              <a:t>Write code to find and process relevant metadata</a:t>
            </a:r>
          </a:p>
          <a:p>
            <a:pPr lvl="2"/>
            <a:r>
              <a:rPr lang="en-CA" dirty="0" smtClean="0"/>
              <a:t>Often through trial-and-error</a:t>
            </a:r>
            <a:endParaRPr lang="en-CA" dirty="0" smtClean="0"/>
          </a:p>
          <a:p>
            <a:r>
              <a:rPr lang="en-CA" dirty="0" smtClean="0"/>
              <a:t>Using Spiffy framework</a:t>
            </a:r>
          </a:p>
          <a:p>
            <a:pPr lvl="1"/>
            <a:r>
              <a:rPr lang="en-CA" dirty="0"/>
              <a:t>Use Spiffy to locate metadata that stores block allocation information</a:t>
            </a:r>
          </a:p>
          <a:p>
            <a:pPr lvl="1"/>
            <a:r>
              <a:rPr lang="en-CA" dirty="0"/>
              <a:t>Write file-system specific code to process metadata structures</a:t>
            </a:r>
          </a:p>
          <a:p>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18</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Manually-Written Application</a:t>
            </a:r>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Ad-hoc processing, No error-checking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19</a:t>
            </a:fld>
            <a:endParaRPr lang="en-CA" dirty="0"/>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Manually-Written Application</a:t>
            </a:r>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20</a:t>
            </a:fld>
            <a:endParaRPr lang="en-CA" dirty="0"/>
          </a:p>
        </p:txBody>
      </p: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a:t>Manually-Written Application</a:t>
            </a:r>
            <a:endParaRPr lang="en-CA" dirty="0"/>
          </a:p>
        </p:txBody>
      </p:sp>
      <p:sp>
        <p:nvSpPr>
          <p:cNvPr id="2" name="Rectangle 1"/>
          <p:cNvSpPr/>
          <p:nvPr/>
        </p:nvSpPr>
        <p:spPr>
          <a:xfrm>
            <a:off x="1381538" y="5396947"/>
            <a:ext cx="5237923" cy="34684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04493" y="2131673"/>
            <a:ext cx="2790802"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We want an </a:t>
            </a:r>
            <a:r>
              <a:rPr lang="en-CA" dirty="0" smtClean="0">
                <a:solidFill>
                  <a:schemeClr val="bg1"/>
                </a:solidFill>
              </a:rPr>
              <a:t>easier way </a:t>
            </a:r>
            <a:r>
              <a:rPr lang="en-CA" dirty="0" smtClean="0">
                <a:solidFill>
                  <a:schemeClr val="bg1"/>
                </a:solidFill>
              </a:rPr>
              <a:t>to find and process all of the block bitmaps</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21</a:t>
            </a:fld>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Spiffy Application</a:t>
            </a:r>
            <a:endParaRPr lang="en-CA" dirty="0"/>
          </a:p>
        </p:txBody>
      </p:sp>
      <p:sp>
        <p:nvSpPr>
          <p:cNvPr id="10" name="Content Placeholder 9"/>
          <p:cNvSpPr>
            <a:spLocks noGrp="1"/>
          </p:cNvSpPr>
          <p:nvPr>
            <p:ph idx="1"/>
          </p:nvPr>
        </p:nvSpPr>
        <p:spPr>
          <a:xfrm>
            <a:off x="684211" y="1515358"/>
            <a:ext cx="10285797" cy="1576634"/>
          </a:xfrm>
        </p:spPr>
        <p:txBody>
          <a:bodyPr>
            <a:normAutofit/>
          </a:bodyPr>
          <a:lstStyle/>
          <a:p>
            <a:r>
              <a:rPr lang="en-CA" dirty="0" smtClean="0"/>
              <a:t>Using Spiffy Library</a:t>
            </a:r>
          </a:p>
          <a:p>
            <a:pPr lvl="1"/>
            <a:endParaRPr lang="en-CA" dirty="0" smtClean="0"/>
          </a:p>
          <a:p>
            <a:pPr marL="0" indent="0">
              <a:buNone/>
            </a:pPr>
            <a:r>
              <a:rPr lang="en-CA" dirty="0" smtClean="0"/>
              <a:t>  </a:t>
            </a:r>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Slide Number Placeholder 14"/>
          <p:cNvSpPr>
            <a:spLocks noGrp="1"/>
          </p:cNvSpPr>
          <p:nvPr>
            <p:ph type="sldNum" sz="quarter" idx="12"/>
          </p:nvPr>
        </p:nvSpPr>
        <p:spPr/>
        <p:txBody>
          <a:bodyPr/>
          <a:lstStyle/>
          <a:p>
            <a:fld id="{7B2023C8-B124-43A9-8F92-0EEF5BAA9995}" type="slidenum">
              <a:rPr lang="en-CA" smtClean="0"/>
              <a:pPr/>
              <a:t>22</a:t>
            </a:fld>
            <a:endParaRPr lang="en-CA" dirty="0"/>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Offline Spiffy Applications</a:t>
            </a:r>
            <a:endParaRPr lang="en-CA" dirty="0"/>
          </a:p>
        </p:txBody>
      </p:sp>
      <p:sp>
        <p:nvSpPr>
          <p:cNvPr id="3" name="Content Placeholder 2"/>
          <p:cNvSpPr>
            <a:spLocks noGrp="1"/>
          </p:cNvSpPr>
          <p:nvPr>
            <p:ph idx="1"/>
          </p:nvPr>
        </p:nvSpPr>
        <p:spPr/>
        <p:txBody>
          <a:bodyPr>
            <a:normAutofit/>
          </a:bodyPr>
          <a:lstStyle/>
          <a:p>
            <a:r>
              <a:rPr lang="en-CA" dirty="0" smtClean="0"/>
              <a:t>Have exclusive access to file system image</a:t>
            </a:r>
            <a:endParaRPr lang="en-CA" dirty="0" smtClean="0"/>
          </a:p>
          <a:p>
            <a:r>
              <a:rPr lang="en-CA" dirty="0" smtClean="0"/>
              <a:t>File System Dump Tool</a:t>
            </a:r>
          </a:p>
          <a:p>
            <a:pPr lvl="1"/>
            <a:r>
              <a:rPr lang="en-CA" dirty="0" smtClean="0"/>
              <a:t>Prints out all metadata in a file system</a:t>
            </a:r>
          </a:p>
          <a:p>
            <a:r>
              <a:rPr lang="en-CA" dirty="0" smtClean="0"/>
              <a:t>Type-Specific File System Corruptor</a:t>
            </a:r>
          </a:p>
          <a:p>
            <a:pPr lvl="1"/>
            <a:r>
              <a:rPr lang="en-CA" dirty="0" smtClean="0"/>
              <a:t>Finds and corrupts a field in a specified structure</a:t>
            </a:r>
          </a:p>
          <a:p>
            <a:r>
              <a:rPr lang="en-CA" dirty="0" smtClean="0"/>
              <a:t>File </a:t>
            </a:r>
            <a:r>
              <a:rPr lang="en-CA" dirty="0" smtClean="0"/>
              <a:t>System Conversion Tool</a:t>
            </a:r>
          </a:p>
          <a:p>
            <a:pPr lvl="1"/>
            <a:r>
              <a:rPr lang="en-CA" dirty="0" smtClean="0"/>
              <a:t>Converts from one file system to </a:t>
            </a:r>
            <a:r>
              <a:rPr lang="en-CA" dirty="0" smtClean="0"/>
              <a:t>another</a:t>
            </a:r>
          </a:p>
          <a:p>
            <a:pPr lvl="1"/>
            <a:r>
              <a:rPr lang="en-CA" dirty="0" smtClean="0"/>
              <a:t>minimizes </a:t>
            </a:r>
            <a:r>
              <a:rPr lang="en-CA" dirty="0" smtClean="0"/>
              <a:t>moving of data blocks</a:t>
            </a:r>
          </a:p>
          <a:p>
            <a:pPr lvl="1"/>
            <a:r>
              <a:rPr lang="en-CA" dirty="0" smtClean="0"/>
              <a:t>Faster than copying to a difference device, reformat, and copy </a:t>
            </a:r>
            <a:r>
              <a:rPr lang="en-CA" dirty="0" smtClean="0"/>
              <a:t>back</a:t>
            </a: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Online </a:t>
            </a:r>
            <a:r>
              <a:rPr lang="en-CA" dirty="0" smtClean="0"/>
              <a:t>Applications</a:t>
            </a:r>
            <a:endParaRPr lang="en-CA" dirty="0"/>
          </a:p>
        </p:txBody>
      </p:sp>
      <p:sp>
        <p:nvSpPr>
          <p:cNvPr id="3" name="Content Placeholder 2"/>
          <p:cNvSpPr>
            <a:spLocks noGrp="1"/>
          </p:cNvSpPr>
          <p:nvPr>
            <p:ph idx="1"/>
          </p:nvPr>
        </p:nvSpPr>
        <p:spPr/>
        <p:txBody>
          <a:bodyPr>
            <a:normAutofit fontScale="92500" lnSpcReduction="10000"/>
          </a:bodyPr>
          <a:lstStyle/>
          <a:p>
            <a:r>
              <a:rPr lang="en-CA" dirty="0" smtClean="0"/>
              <a:t>Operates while file system is in-use</a:t>
            </a:r>
          </a:p>
          <a:p>
            <a:r>
              <a:rPr lang="en-CA" dirty="0" smtClean="0"/>
              <a:t>Differentiated Storage Service</a:t>
            </a:r>
            <a:endParaRPr lang="en-CA" dirty="0" smtClean="0"/>
          </a:p>
          <a:p>
            <a:pPr lvl="1"/>
            <a:r>
              <a:rPr lang="en-CA" dirty="0" smtClean="0"/>
              <a:t>Prioritize metadata </a:t>
            </a:r>
            <a:r>
              <a:rPr lang="en-CA" dirty="0" smtClean="0"/>
              <a:t>and small files</a:t>
            </a:r>
          </a:p>
          <a:p>
            <a:pPr lvl="1"/>
            <a:r>
              <a:rPr lang="en-CA" dirty="0" smtClean="0"/>
              <a:t>Difficult to </a:t>
            </a:r>
            <a:r>
              <a:rPr lang="en-CA" dirty="0" smtClean="0"/>
              <a:t>implement</a:t>
            </a:r>
          </a:p>
          <a:p>
            <a:pPr lvl="1"/>
            <a:r>
              <a:rPr lang="en-CA" dirty="0" smtClean="0"/>
              <a:t>Requires </a:t>
            </a:r>
            <a:r>
              <a:rPr lang="en-CA" dirty="0" smtClean="0"/>
              <a:t>file system to provide hints to block layer</a:t>
            </a:r>
          </a:p>
          <a:p>
            <a:r>
              <a:rPr lang="en-CA" dirty="0"/>
              <a:t>Runtime Interpretation</a:t>
            </a:r>
          </a:p>
          <a:p>
            <a:pPr lvl="1"/>
            <a:r>
              <a:rPr lang="en-CA" dirty="0"/>
              <a:t>Classifies file system IO at the block layer</a:t>
            </a:r>
          </a:p>
          <a:p>
            <a:pPr lvl="1"/>
            <a:r>
              <a:rPr lang="en-CA" dirty="0"/>
              <a:t>Requires </a:t>
            </a:r>
            <a:r>
              <a:rPr lang="en-CA" i="1" dirty="0"/>
              <a:t>no</a:t>
            </a:r>
            <a:r>
              <a:rPr lang="en-CA" dirty="0"/>
              <a:t> modification to file </a:t>
            </a:r>
            <a:r>
              <a:rPr lang="en-CA" dirty="0" smtClean="0"/>
              <a:t>system</a:t>
            </a:r>
          </a:p>
          <a:p>
            <a:pPr lvl="1"/>
            <a:r>
              <a:rPr lang="en-CA" dirty="0" smtClean="0"/>
              <a:t>Requires little file-system specific code</a:t>
            </a:r>
            <a:endParaRPr lang="en-CA" dirty="0"/>
          </a:p>
          <a:p>
            <a:r>
              <a:rPr lang="en-CA" dirty="0" smtClean="0"/>
              <a:t>Spiffy Block Layer Cache</a:t>
            </a:r>
          </a:p>
          <a:p>
            <a:pPr lvl="1"/>
            <a:r>
              <a:rPr lang="en-CA" dirty="0"/>
              <a:t>P</a:t>
            </a:r>
            <a:r>
              <a:rPr lang="en-CA" dirty="0" smtClean="0"/>
              <a:t>referentially </a:t>
            </a:r>
            <a:r>
              <a:rPr lang="en-CA" dirty="0" smtClean="0"/>
              <a:t>caches files belonging to </a:t>
            </a:r>
            <a:r>
              <a:rPr lang="en-CA" dirty="0" smtClean="0"/>
              <a:t>priority users</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Programming </a:t>
            </a:r>
            <a:r>
              <a:rPr lang="en-CA" dirty="0"/>
              <a:t>Effort</a:t>
            </a:r>
          </a:p>
        </p:txBody>
      </p:sp>
      <p:sp>
        <p:nvSpPr>
          <p:cNvPr id="3" name="Content Placeholder 2"/>
          <p:cNvSpPr>
            <a:spLocks noGrp="1"/>
          </p:cNvSpPr>
          <p:nvPr>
            <p:ph idx="1"/>
          </p:nvPr>
        </p:nvSpPr>
        <p:spPr>
          <a:xfrm>
            <a:off x="646112" y="1543050"/>
            <a:ext cx="10600065" cy="4914311"/>
          </a:xfrm>
        </p:spPr>
        <p:txBody>
          <a:bodyPr>
            <a:normAutofit/>
          </a:bodyPr>
          <a:lstStyle/>
          <a:p>
            <a:endParaRPr lang="en-CA" dirty="0" smtClean="0"/>
          </a:p>
          <a:p>
            <a:endParaRPr lang="en-CA" dirty="0"/>
          </a:p>
          <a:p>
            <a:endParaRPr lang="en-CA" dirty="0" smtClean="0"/>
          </a:p>
          <a:p>
            <a:endParaRPr lang="en-CA" dirty="0" smtClean="0"/>
          </a:p>
          <a:p>
            <a:endParaRPr lang="en-CA" dirty="0" smtClean="0"/>
          </a:p>
          <a:p>
            <a:endParaRPr lang="en-CA" dirty="0" smtClean="0"/>
          </a:p>
          <a:p>
            <a:endParaRPr lang="en-CA" dirty="0" smtClean="0"/>
          </a:p>
          <a:p>
            <a:r>
              <a:rPr lang="en-CA" dirty="0" smtClean="0"/>
              <a:t>Programming effort reduced for read-only file system applications</a:t>
            </a:r>
          </a:p>
          <a:p>
            <a:pPr lvl="1"/>
            <a:r>
              <a:rPr lang="en-CA" dirty="0" smtClean="0"/>
              <a:t>Both online and offline</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7501"/>
            <a:ext cx="8534400" cy="1507067"/>
          </a:xfrm>
        </p:spPr>
        <p:txBody>
          <a:bodyPr/>
          <a:lstStyle/>
          <a:p>
            <a:r>
              <a:rPr lang="en-CA" dirty="0" smtClean="0"/>
              <a:t>Evaluation: Ext4 to F2FS Converter</a:t>
            </a:r>
            <a:endParaRPr lang="en-CA" dirty="0"/>
          </a:p>
        </p:txBody>
      </p:sp>
      <p:sp>
        <p:nvSpPr>
          <p:cNvPr id="3" name="Content Placeholder 2"/>
          <p:cNvSpPr>
            <a:spLocks noGrp="1"/>
          </p:cNvSpPr>
          <p:nvPr>
            <p:ph idx="1"/>
          </p:nvPr>
        </p:nvSpPr>
        <p:spPr>
          <a:xfrm>
            <a:off x="646113" y="1543050"/>
            <a:ext cx="9717088" cy="4914311"/>
          </a:xfrm>
        </p:spPr>
        <p:txBody>
          <a:bodyPr>
            <a:normAutofit lnSpcReduction="10000"/>
          </a:bodyPr>
          <a:lstStyle/>
          <a:p>
            <a:r>
              <a:rPr lang="en-CA" dirty="0"/>
              <a:t>Converts 64GB file system with 16GB file set on SSD</a:t>
            </a:r>
          </a:p>
          <a:p>
            <a:pPr lvl="1"/>
            <a:r>
              <a:rPr lang="en-CA" dirty="0"/>
              <a:t>Copy converter copies data to local disk, reformat, then copies back</a:t>
            </a:r>
          </a:p>
          <a:p>
            <a:pPr lvl="1"/>
            <a:r>
              <a:rPr lang="en-CA" dirty="0"/>
              <a:t>Spiffy converter and Manual converter minimizes moving data blocks</a:t>
            </a:r>
          </a:p>
          <a:p>
            <a:endParaRPr lang="en-CA" dirty="0"/>
          </a:p>
          <a:p>
            <a:endParaRPr lang="en-CA" dirty="0"/>
          </a:p>
          <a:p>
            <a:endParaRPr lang="en-CA" dirty="0"/>
          </a:p>
          <a:p>
            <a:endParaRPr lang="en-CA" dirty="0"/>
          </a:p>
          <a:p>
            <a:endParaRPr lang="en-CA" dirty="0"/>
          </a:p>
          <a:p>
            <a:r>
              <a:rPr lang="en-CA" dirty="0"/>
              <a:t>Copy converter 30~50 times slower</a:t>
            </a:r>
          </a:p>
          <a:p>
            <a:r>
              <a:rPr lang="en-CA" dirty="0"/>
              <a:t>Overhead of using Spiffy at most 16.7</a:t>
            </a:r>
            <a:r>
              <a:rPr lang="en-CA" dirty="0" smtClean="0"/>
              <a:t>%</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26</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28874709"/>
              </p:ext>
            </p:extLst>
          </p:nvPr>
        </p:nvGraphicFramePr>
        <p:xfrm>
          <a:off x="1420739" y="1630018"/>
          <a:ext cx="8167835" cy="42834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dirty="0" smtClean="0"/>
              <a:t>Annotation language for specifying file system format</a:t>
            </a:r>
          </a:p>
          <a:p>
            <a:pPr lvl="1"/>
            <a:r>
              <a:rPr lang="en-CA" dirty="0" smtClean="0"/>
              <a:t>API for interpreting, </a:t>
            </a:r>
            <a:r>
              <a:rPr lang="en-CA" dirty="0" smtClean="0"/>
              <a:t>and </a:t>
            </a:r>
            <a:r>
              <a:rPr lang="en-CA" dirty="0" smtClean="0"/>
              <a:t>traversing file system metadata</a:t>
            </a:r>
          </a:p>
          <a:p>
            <a:pPr lvl="2"/>
            <a:r>
              <a:rPr lang="en-CA" dirty="0" smtClean="0"/>
              <a:t>Simplifies development of </a:t>
            </a:r>
            <a:r>
              <a:rPr lang="en-CA" dirty="0" smtClean="0"/>
              <a:t>file-system aware </a:t>
            </a:r>
            <a:r>
              <a:rPr lang="en-CA" dirty="0" smtClean="0"/>
              <a:t>applications</a:t>
            </a:r>
          </a:p>
          <a:p>
            <a:pPr lvl="2"/>
            <a:r>
              <a:rPr lang="en-CA" dirty="0" smtClean="0"/>
              <a:t>Reduces file-system specific </a:t>
            </a:r>
            <a:r>
              <a:rPr lang="en-CA" dirty="0" smtClean="0"/>
              <a:t>code</a:t>
            </a:r>
          </a:p>
          <a:p>
            <a:pPr lvl="2"/>
            <a:r>
              <a:rPr lang="en-CA" dirty="0" smtClean="0"/>
              <a:t>Enables code reuse across file systems</a:t>
            </a:r>
            <a:endParaRPr lang="en-CA" dirty="0" smtClean="0"/>
          </a:p>
          <a:p>
            <a:pPr lvl="1"/>
            <a:r>
              <a:rPr lang="en-CA" dirty="0" smtClean="0"/>
              <a:t>Generated </a:t>
            </a:r>
            <a:r>
              <a:rPr lang="en-CA" dirty="0" smtClean="0"/>
              <a:t>library from annotated data structures</a:t>
            </a:r>
          </a:p>
          <a:p>
            <a:pPr lvl="2"/>
            <a:r>
              <a:rPr lang="en-CA" dirty="0"/>
              <a:t>Robust against file system </a:t>
            </a:r>
            <a:r>
              <a:rPr lang="en-CA" dirty="0" smtClean="0"/>
              <a:t>corruption</a:t>
            </a:r>
          </a:p>
          <a:p>
            <a:pPr lvl="2"/>
            <a:r>
              <a:rPr lang="en-CA" dirty="0" smtClean="0"/>
              <a:t>Achieves good performance</a:t>
            </a:r>
          </a:p>
          <a:p>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27</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Corruption Experiment</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2 out of 3 existing tools crash:</a:t>
            </a:r>
            <a:endParaRPr lang="en-CA" dirty="0"/>
          </a:p>
          <a:p>
            <a:endParaRPr lang="en-CA" dirty="0" smtClean="0"/>
          </a:p>
          <a:p>
            <a:endParaRPr lang="en-CA" dirty="0" smtClean="0"/>
          </a:p>
          <a:p>
            <a:endParaRPr lang="en-CA" dirty="0" smtClean="0"/>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28</a:t>
            </a:fld>
            <a:endParaRPr lang="en-CA" dirty="0"/>
          </a:p>
        </p:txBody>
      </p:sp>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Preferential Caching</a:t>
            </a:r>
            <a:endParaRPr lang="en-CA" dirty="0"/>
          </a:p>
        </p:txBody>
      </p:sp>
      <p:sp>
        <p:nvSpPr>
          <p:cNvPr id="3" name="Content Placeholder 2"/>
          <p:cNvSpPr>
            <a:spLocks noGrp="1"/>
          </p:cNvSpPr>
          <p:nvPr>
            <p:ph idx="1"/>
          </p:nvPr>
        </p:nvSpPr>
        <p:spPr>
          <a:xfrm>
            <a:off x="684211" y="1515358"/>
            <a:ext cx="10285797" cy="4583783"/>
          </a:xfrm>
        </p:spPr>
        <p:txBody>
          <a:bodyPr>
            <a:normAutofit lnSpcReduction="10000"/>
          </a:bodyPr>
          <a:lstStyle/>
          <a:p>
            <a:r>
              <a:rPr lang="en-CA" dirty="0" smtClean="0"/>
              <a:t>2 identical fileservers running on block layer cache</a:t>
            </a:r>
          </a:p>
          <a:p>
            <a:endParaRPr lang="en-CA" dirty="0"/>
          </a:p>
          <a:p>
            <a:endParaRPr lang="en-CA" dirty="0" smtClean="0"/>
          </a:p>
          <a:p>
            <a:endParaRPr lang="en-CA" dirty="0"/>
          </a:p>
          <a:p>
            <a:endParaRPr lang="en-CA" dirty="0" smtClean="0"/>
          </a:p>
          <a:p>
            <a:endParaRPr lang="en-CA" dirty="0"/>
          </a:p>
          <a:p>
            <a:endParaRPr lang="en-CA" dirty="0" smtClean="0"/>
          </a:p>
          <a:p>
            <a:endParaRPr lang="en-CA" dirty="0" smtClean="0"/>
          </a:p>
          <a:p>
            <a:r>
              <a:rPr lang="en-CA" dirty="0" smtClean="0"/>
              <a:t>Overall </a:t>
            </a:r>
            <a:r>
              <a:rPr lang="en-CA" dirty="0"/>
              <a:t>p</a:t>
            </a:r>
            <a:r>
              <a:rPr lang="en-CA" dirty="0" smtClean="0"/>
              <a:t>erformance improves with preferential caching</a:t>
            </a:r>
          </a:p>
          <a:p>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
        <p:nvSpPr>
          <p:cNvPr id="4" name="Slide Number Placeholder 3"/>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Solution: Spiffy</a:t>
            </a:r>
            <a:r>
              <a:rPr lang="en-CA" dirty="0"/>
              <a:t> </a:t>
            </a:r>
            <a:r>
              <a:rPr lang="en-CA" dirty="0" smtClean="0"/>
              <a:t>File System Library </a:t>
            </a:r>
            <a:endParaRPr lang="en-CA" dirty="0"/>
          </a:p>
        </p:txBody>
      </p:sp>
      <p:sp>
        <p:nvSpPr>
          <p:cNvPr id="3" name="Content Placeholder 2"/>
          <p:cNvSpPr>
            <a:spLocks noGrp="1"/>
          </p:cNvSpPr>
          <p:nvPr>
            <p:ph idx="1"/>
          </p:nvPr>
        </p:nvSpPr>
        <p:spPr/>
        <p:txBody>
          <a:bodyPr/>
          <a:lstStyle/>
          <a:p>
            <a:r>
              <a:rPr lang="en-CA" dirty="0" smtClean="0"/>
              <a:t>Generated from annotated file system header files</a:t>
            </a:r>
          </a:p>
          <a:p>
            <a:r>
              <a:rPr lang="en-CA" dirty="0" smtClean="0"/>
              <a:t>Standard API for finding and traversing file systems structures</a:t>
            </a:r>
          </a:p>
          <a:p>
            <a:pPr lvl="1"/>
            <a:r>
              <a:rPr lang="en-CA" dirty="0" smtClean="0"/>
              <a:t>Provides robust parsing and serialization routines</a:t>
            </a:r>
          </a:p>
          <a:p>
            <a:r>
              <a:rPr lang="en-CA" dirty="0" smtClean="0"/>
              <a:t>Enables building generic application framework</a:t>
            </a:r>
          </a:p>
          <a:p>
            <a:pPr lvl="1"/>
            <a:r>
              <a:rPr lang="en-CA" dirty="0" smtClean="0"/>
              <a:t>Facilitates support for multiple file systems</a:t>
            </a:r>
          </a:p>
          <a:p>
            <a:pPr lvl="1"/>
            <a:r>
              <a:rPr lang="en-CA" dirty="0" smtClean="0"/>
              <a:t>Reduces dependence on file-system specific code </a:t>
            </a:r>
          </a:p>
          <a:p>
            <a:r>
              <a:rPr lang="en-CA" dirty="0" smtClean="0"/>
              <a:t>Example: </a:t>
            </a:r>
            <a:r>
              <a:rPr lang="en-CA" dirty="0"/>
              <a:t>File System Free Space </a:t>
            </a:r>
            <a:r>
              <a:rPr lang="en-CA" dirty="0" smtClean="0"/>
              <a:t>Tool</a:t>
            </a:r>
          </a:p>
          <a:p>
            <a:pPr lvl="1"/>
            <a:r>
              <a:rPr lang="en-CA" dirty="0" smtClean="0"/>
              <a:t>Use Spiffy to locate metadata that stores block allocation information</a:t>
            </a:r>
          </a:p>
          <a:p>
            <a:pPr lvl="1"/>
            <a:r>
              <a:rPr lang="en-CA" dirty="0" smtClean="0"/>
              <a:t>Write file-system specific code to process metadata structures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3245412089"/>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1947</TotalTime>
  <Words>4593</Words>
  <Application>Microsoft Office PowerPoint</Application>
  <PresentationFormat>Widescreen</PresentationFormat>
  <Paragraphs>529</Paragraphs>
  <Slides>30</Slides>
  <Notes>28</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vt:lpstr>
      <vt:lpstr>Annotation Requirements</vt:lpstr>
      <vt:lpstr>FSSUPER and POINTER annotation</vt:lpstr>
      <vt:lpstr>Annotation Requirements</vt:lpstr>
      <vt:lpstr>Exmple Annotations</vt:lpstr>
      <vt:lpstr>Generating Spiffy Library</vt:lpstr>
      <vt:lpstr>Evaluation: Annotation Effort</vt:lpstr>
      <vt:lpstr>Building Application</vt:lpstr>
      <vt:lpstr>Manually-Written Application</vt:lpstr>
      <vt:lpstr>Manually-Written Application</vt:lpstr>
      <vt:lpstr>Manually-Written Application</vt:lpstr>
      <vt:lpstr>Spiffy Application</vt:lpstr>
      <vt:lpstr>Offline Spiffy Applications</vt:lpstr>
      <vt:lpstr>Online Applications</vt:lpstr>
      <vt:lpstr>Evaluation: Programming Effort</vt:lpstr>
      <vt:lpstr>Evaluation: Ext4 to F2FS Converter</vt:lpstr>
      <vt:lpstr>Conclusion</vt:lpstr>
      <vt:lpstr>Evaluation: Corruption Experiment</vt:lpstr>
      <vt:lpstr>Evaluation: Preferential Caching</vt:lpstr>
      <vt:lpstr>Solution: Spiffy File System Library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154</cp:revision>
  <dcterms:created xsi:type="dcterms:W3CDTF">2018-01-30T09:02:25Z</dcterms:created>
  <dcterms:modified xsi:type="dcterms:W3CDTF">2018-02-08T07:33:58Z</dcterms:modified>
</cp:coreProperties>
</file>