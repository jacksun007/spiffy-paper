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2"/>
  </p:notesMasterIdLst>
  <p:sldIdLst>
    <p:sldId id="256" r:id="rId2"/>
    <p:sldId id="288" r:id="rId3"/>
    <p:sldId id="290" r:id="rId4"/>
    <p:sldId id="289" r:id="rId5"/>
    <p:sldId id="291" r:id="rId6"/>
    <p:sldId id="309" r:id="rId7"/>
    <p:sldId id="293" r:id="rId8"/>
    <p:sldId id="294" r:id="rId9"/>
    <p:sldId id="295" r:id="rId10"/>
    <p:sldId id="301" r:id="rId11"/>
    <p:sldId id="308" r:id="rId12"/>
    <p:sldId id="298" r:id="rId13"/>
    <p:sldId id="310" r:id="rId14"/>
    <p:sldId id="300" r:id="rId15"/>
    <p:sldId id="302" r:id="rId16"/>
    <p:sldId id="311" r:id="rId17"/>
    <p:sldId id="283" r:id="rId18"/>
    <p:sldId id="306" r:id="rId19"/>
    <p:sldId id="271" r:id="rId20"/>
    <p:sldId id="268" r:id="rId21"/>
    <p:sldId id="312" r:id="rId22"/>
    <p:sldId id="267" r:id="rId23"/>
    <p:sldId id="279" r:id="rId24"/>
    <p:sldId id="280" r:id="rId25"/>
    <p:sldId id="259" r:id="rId26"/>
    <p:sldId id="281" r:id="rId27"/>
    <p:sldId id="258" r:id="rId28"/>
    <p:sldId id="261" r:id="rId29"/>
    <p:sldId id="260" r:id="rId30"/>
    <p:sldId id="29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076" autoAdjust="0"/>
  </p:normalViewPr>
  <p:slideViewPr>
    <p:cSldViewPr snapToGrid="0">
      <p:cViewPr varScale="1">
        <p:scale>
          <a:sx n="96" d="100"/>
          <a:sy n="96" d="100"/>
        </p:scale>
        <p:origin x="3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home\fishy\Documents\Research\fast-2018\caching-result-stack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1083692839279813"/>
          <c:y val="5.1192544430694563E-2"/>
          <c:w val="0.33184206060008237"/>
          <c:h val="0.7217668720109435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Fileserver A</c:v>
                </c:pt>
              </c:strCache>
            </c:strRef>
          </c:tx>
          <c:spPr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Sheet1!$H$2:$H$8</c:f>
                <c:numCache>
                  <c:formatCode>General</c:formatCode>
                  <c:ptCount val="7"/>
                  <c:pt idx="0">
                    <c:v>86.899646070000003</c:v>
                  </c:pt>
                  <c:pt idx="1">
                    <c:v>47.026277149999999</c:v>
                  </c:pt>
                  <c:pt idx="2">
                    <c:v>98.939352290000002</c:v>
                  </c:pt>
                  <c:pt idx="4">
                    <c:v>74.579070639999998</c:v>
                  </c:pt>
                  <c:pt idx="5">
                    <c:v>56.259226890000001</c:v>
                  </c:pt>
                  <c:pt idx="6">
                    <c:v>108.2791673</c:v>
                  </c:pt>
                </c:numCache>
              </c:numRef>
            </c:plus>
            <c:minus>
              <c:numRef>
                <c:f>Sheet1!$H$2:$H$8</c:f>
                <c:numCache>
                  <c:formatCode>General</c:formatCode>
                  <c:ptCount val="7"/>
                  <c:pt idx="0">
                    <c:v>86.899646070000003</c:v>
                  </c:pt>
                  <c:pt idx="1">
                    <c:v>47.026277149999999</c:v>
                  </c:pt>
                  <c:pt idx="2">
                    <c:v>98.939352290000002</c:v>
                  </c:pt>
                  <c:pt idx="4">
                    <c:v>74.579070639999998</c:v>
                  </c:pt>
                  <c:pt idx="5">
                    <c:v>56.259226890000001</c:v>
                  </c:pt>
                  <c:pt idx="6">
                    <c:v>108.2791673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bg1"/>
                </a:solidFill>
                <a:round/>
              </a:ln>
              <a:effectLst/>
            </c:spPr>
          </c:errBars>
          <c:cat>
            <c:strRef>
              <c:f>Sheet1!$B$2:$B$8</c:f>
              <c:strCache>
                <c:ptCount val="7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  <c:pt idx="4">
                  <c:v>Fileserver A + Fileserver B, A is preferred</c:v>
                </c:pt>
                <c:pt idx="5">
                  <c:v>Fileserver A + Fileserver B, no preference</c:v>
                </c:pt>
                <c:pt idx="6">
                  <c:v>Fileserver A, alone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1904.855278</c:v>
                </c:pt>
                <c:pt idx="1">
                  <c:v>1227.2180559999999</c:v>
                </c:pt>
                <c:pt idx="2">
                  <c:v>2831.1577779999998</c:v>
                </c:pt>
                <c:pt idx="4">
                  <c:v>1472.7113890000001</c:v>
                </c:pt>
                <c:pt idx="5">
                  <c:v>941.54666669999995</c:v>
                </c:pt>
                <c:pt idx="6">
                  <c:v>2555.018333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23D3-4E46-9757-6E0B39AF495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Fileserver B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Sheet1!$I$2:$I$8</c:f>
                <c:numCache>
                  <c:formatCode>General</c:formatCode>
                  <c:ptCount val="7"/>
                  <c:pt idx="0">
                    <c:v>46.519010110000004</c:v>
                  </c:pt>
                  <c:pt idx="1">
                    <c:v>46.575578360000002</c:v>
                  </c:pt>
                  <c:pt idx="2">
                    <c:v>0</c:v>
                  </c:pt>
                  <c:pt idx="4">
                    <c:v>25.918389650000002</c:v>
                  </c:pt>
                  <c:pt idx="5">
                    <c:v>56.659710339999997</c:v>
                  </c:pt>
                  <c:pt idx="6">
                    <c:v>0</c:v>
                  </c:pt>
                </c:numCache>
              </c:numRef>
            </c:plus>
            <c:minus>
              <c:numRef>
                <c:f>Sheet1!$I$2:$I$8</c:f>
                <c:numCache>
                  <c:formatCode>General</c:formatCode>
                  <c:ptCount val="7"/>
                  <c:pt idx="0">
                    <c:v>46.519010110000004</c:v>
                  </c:pt>
                  <c:pt idx="1">
                    <c:v>46.575578360000002</c:v>
                  </c:pt>
                  <c:pt idx="2">
                    <c:v>0</c:v>
                  </c:pt>
                  <c:pt idx="4">
                    <c:v>25.918389650000002</c:v>
                  </c:pt>
                  <c:pt idx="5">
                    <c:v>56.659710339999997</c:v>
                  </c:pt>
                  <c:pt idx="6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bg1"/>
                </a:solidFill>
                <a:round/>
              </a:ln>
              <a:effectLst/>
            </c:spPr>
          </c:errBars>
          <c:cat>
            <c:strRef>
              <c:f>Sheet1!$B$2:$B$8</c:f>
              <c:strCache>
                <c:ptCount val="7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  <c:pt idx="4">
                  <c:v>Fileserver A + Fileserver B, A is preferred</c:v>
                </c:pt>
                <c:pt idx="5">
                  <c:v>Fileserver A + Fileserver B, no preference</c:v>
                </c:pt>
                <c:pt idx="6">
                  <c:v>Fileserver A, alone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893.80499999999995</c:v>
                </c:pt>
                <c:pt idx="1">
                  <c:v>1227.6741669999999</c:v>
                </c:pt>
                <c:pt idx="2">
                  <c:v>0</c:v>
                </c:pt>
                <c:pt idx="4">
                  <c:v>807.45833330000005</c:v>
                </c:pt>
                <c:pt idx="5">
                  <c:v>930.94916669999998</c:v>
                </c:pt>
                <c:pt idx="6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23D3-4E46-9757-6E0B39AF4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474304896"/>
        <c:axId val="1474302720"/>
      </c:barChart>
      <c:catAx>
        <c:axId val="14743048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302720"/>
        <c:crosses val="autoZero"/>
        <c:auto val="1"/>
        <c:lblAlgn val="ctr"/>
        <c:lblOffset val="100"/>
        <c:noMultiLvlLbl val="1"/>
      </c:catAx>
      <c:valAx>
        <c:axId val="1474302720"/>
        <c:scaling>
          <c:orientation val="minMax"/>
          <c:max val="3000"/>
        </c:scaling>
        <c:delete val="0"/>
        <c:axPos val="b"/>
        <c:majorGridlines>
          <c:spPr>
            <a:ln w="9525" cap="flat" cmpd="sng" algn="ctr">
              <a:solidFill>
                <a:schemeClr val="bg1"/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ops/s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out"/>
        <c:tickLblPos val="nextTo"/>
        <c:spPr>
          <a:noFill/>
          <a:ln>
            <a:solidFill>
              <a:schemeClr val="accent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304896"/>
        <c:crosses val="autoZero"/>
        <c:crossBetween val="between"/>
        <c:majorUnit val="1000"/>
        <c:minorUnit val="500"/>
      </c:valAx>
      <c:spPr>
        <a:noFill/>
        <a:ln>
          <a:solidFill>
            <a:schemeClr val="bg1"/>
          </a:solidFill>
        </a:ln>
        <a:effectLst/>
      </c:spPr>
    </c:plotArea>
    <c:legend>
      <c:legendPos val="b"/>
      <c:layout>
        <c:manualLayout>
          <c:xMode val="edge"/>
          <c:yMode val="edge"/>
          <c:x val="0.14225519748408696"/>
          <c:y val="0.85034517406747667"/>
          <c:w val="0.39392809687657754"/>
          <c:h val="8.915454615079337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4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8C5AD-71DD-4EC0-A413-C51DC95DD2ED}" type="datetimeFigureOut">
              <a:rPr lang="en-CA" smtClean="0"/>
              <a:t>2018-02-07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B5BF96-4013-477F-9949-176AD53AFF6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5221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16424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Class of applications that work with file system metadata</a:t>
            </a:r>
          </a:p>
          <a:p>
            <a:r>
              <a:rPr lang="en-CA" dirty="0" smtClean="0"/>
              <a:t>Offline</a:t>
            </a:r>
          </a:p>
          <a:p>
            <a:r>
              <a:rPr lang="en-CA" dirty="0" smtClean="0"/>
              <a:t>Online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 smtClean="0"/>
              <a:t>Operate directly on file system metadata structures on</a:t>
            </a:r>
            <a:r>
              <a:rPr lang="en-CA" baseline="0" dirty="0" smtClean="0"/>
              <a:t> disk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baseline="0" dirty="0" smtClean="0"/>
              <a:t>Must bypass VFS layer, which abstracts away file system implementation</a:t>
            </a:r>
          </a:p>
          <a:p>
            <a:r>
              <a:rPr lang="en-CA" sz="1200" b="0" i="0" u="none" strike="noStrike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Require a detailed understanding of the format of a file system, including the ability to identify and interpret file system structures</a:t>
            </a:r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7627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Only experts develop these</a:t>
            </a:r>
            <a:r>
              <a:rPr lang="en-CA" baseline="0" dirty="0" smtClean="0"/>
              <a:t> tools and even then, bugs still occur with grave consequences such as ….</a:t>
            </a:r>
            <a:endParaRPr lang="en-CA" dirty="0" smtClean="0"/>
          </a:p>
          <a:p>
            <a:r>
              <a:rPr lang="en-CA" dirty="0" smtClean="0"/>
              <a:t>bug 723343 closed in </a:t>
            </a:r>
            <a:r>
              <a:rPr lang="en-CA" dirty="0" err="1" smtClean="0"/>
              <a:t>feb</a:t>
            </a:r>
            <a:r>
              <a:rPr lang="en-CA" baseline="0" dirty="0" smtClean="0"/>
              <a:t> 2014.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840179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 smtClean="0"/>
              <a:t>The root cause of all these problems is that these</a:t>
            </a:r>
            <a:r>
              <a:rPr lang="en-CA" baseline="0" dirty="0" smtClean="0"/>
              <a:t> tools are hard </a:t>
            </a:r>
            <a:r>
              <a:rPr lang="en-CA" baseline="0" smtClean="0"/>
              <a:t>to write</a:t>
            </a:r>
            <a:endParaRPr lang="en-CA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 smtClean="0"/>
              <a:t>Applications require detailed knowledge of format</a:t>
            </a:r>
            <a:r>
              <a:rPr lang="en-CA" baseline="0" dirty="0" smtClean="0"/>
              <a:t> for processing file system metadata. In addition, they need to handle file system corruption in a robust manner.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8326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 smtClean="0"/>
              <a:t>Ensure type safe access to file system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7026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66510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36663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07965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8 MINUTE</a:t>
            </a:r>
            <a:r>
              <a:rPr lang="en-CA" baseline="0" dirty="0" smtClean="0"/>
              <a:t>S MAX to get here.</a:t>
            </a:r>
          </a:p>
          <a:p>
            <a:r>
              <a:rPr lang="en-CA" baseline="0" dirty="0" smtClean="0"/>
              <a:t>Now you know the problem, now I talk about the each piece of the solution (reword)</a:t>
            </a:r>
          </a:p>
          <a:p>
            <a:endParaRPr lang="en-CA" dirty="0" smtClean="0"/>
          </a:p>
          <a:p>
            <a:r>
              <a:rPr lang="en-CA" dirty="0" smtClean="0"/>
              <a:t>Specify file</a:t>
            </a:r>
            <a:r>
              <a:rPr lang="en-CA" baseline="0" dirty="0" smtClean="0"/>
              <a:t> system format so that we can generate a parsing and serialization library that simplifies development of applications that work across file systems.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0244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 smtClean="0"/>
          </a:p>
          <a:p>
            <a:r>
              <a:rPr lang="en-CA" dirty="0" smtClean="0"/>
              <a:t>Intuition:</a:t>
            </a:r>
            <a:r>
              <a:rPr lang="en-CA" baseline="0" dirty="0" smtClean="0"/>
              <a:t> extract specification from data structure definition in existing source code 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88690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 smtClean="0"/>
              <a:t>Mapping function may need to reassemble blocks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9095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On the left side, we shown the annotated</a:t>
            </a:r>
            <a:r>
              <a:rPr lang="en-CA" baseline="0" dirty="0" smtClean="0"/>
              <a:t> Ext4 super block structure. </a:t>
            </a:r>
            <a:r>
              <a:rPr lang="en-CA" dirty="0" smtClean="0"/>
              <a:t>Annotations are in BOLD font,</a:t>
            </a:r>
            <a:r>
              <a:rPr lang="en-CA" baseline="0" dirty="0" smtClean="0"/>
              <a:t> written in keyword argument style. </a:t>
            </a:r>
            <a:r>
              <a:rPr lang="en-CA" baseline="0" dirty="0" smtClean="0"/>
              <a:t>On the very top, we see FSSUPER, which </a:t>
            </a:r>
            <a:r>
              <a:rPr lang="en-CA" baseline="0" dirty="0" smtClean="0"/>
              <a:t>designates this structure to be the super block of the Ext4 file system. The location argument specifies the byte offset for finding the super block.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037089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An</a:t>
            </a:r>
            <a:r>
              <a:rPr lang="en-CA" baseline="0" dirty="0" smtClean="0"/>
              <a:t> example will be shown in the upcoming slide for constraint checking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592191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On the left side, we shown the annotated</a:t>
            </a:r>
            <a:r>
              <a:rPr lang="en-CA" baseline="0" dirty="0" smtClean="0"/>
              <a:t> Ext4 super block structure. </a:t>
            </a:r>
            <a:r>
              <a:rPr lang="en-CA" dirty="0" smtClean="0"/>
              <a:t>Annotations are in BOLD font,</a:t>
            </a:r>
            <a:r>
              <a:rPr lang="en-CA" baseline="0" dirty="0" smtClean="0"/>
              <a:t> written in keyword argument style.  On the right side is the corresponding parsing code that is generated for Ext4 super block, which is currently written in C++.  The first annotation, FSSUPER, designates this structure to be the super block of the Ext4 file system. The location argument specifies the byte offset for finding the super block.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26037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On the left side, we shown the annotated</a:t>
            </a:r>
            <a:r>
              <a:rPr lang="en-CA" baseline="0" dirty="0" smtClean="0"/>
              <a:t> Ext4 super block structure. </a:t>
            </a:r>
            <a:r>
              <a:rPr lang="en-CA" dirty="0" smtClean="0"/>
              <a:t>Annotations are in BOLD font,</a:t>
            </a:r>
            <a:r>
              <a:rPr lang="en-CA" baseline="0" dirty="0" smtClean="0"/>
              <a:t> written in keyword argument style.  On the right side is the corresponding parsing code that is generated for Ext4 super block, which is currently written in C++.  The first annotation, FSSUPER, designates this structure to be the super block of the Ext4 file system. The location argument specifies the byte offset for finding the super block.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9635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48394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57015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437695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Give</a:t>
            </a:r>
            <a:r>
              <a:rPr lang="en-CA" baseline="0" dirty="0" smtClean="0"/>
              <a:t> a sense why online application is hard to do. Describe why classifying IO in a file system generic way is non-trivial.</a:t>
            </a:r>
          </a:p>
          <a:p>
            <a:r>
              <a:rPr lang="en-CA" baseline="0" dirty="0" smtClean="0"/>
              <a:t>At runtime, as blocks are accessed, we can differentiate metadata from data, without making any changes to FS.</a:t>
            </a:r>
          </a:p>
          <a:p>
            <a:r>
              <a:rPr lang="en-CA" dirty="0" smtClean="0"/>
              <a:t>Which user a</a:t>
            </a:r>
            <a:r>
              <a:rPr lang="en-CA" baseline="0" dirty="0" smtClean="0"/>
              <a:t> block belongs to, without FS modification.</a:t>
            </a:r>
          </a:p>
          <a:p>
            <a:r>
              <a:rPr lang="en-CA" baseline="0" dirty="0" smtClean="0"/>
              <a:t>Lots of FS specific code – able to identify </a:t>
            </a:r>
            <a:r>
              <a:rPr lang="en-CA" baseline="0" dirty="0" err="1" smtClean="0"/>
              <a:t>inode</a:t>
            </a:r>
            <a:r>
              <a:rPr lang="en-CA" baseline="0" dirty="0" smtClean="0"/>
              <a:t>/indirect blocks at the block layer.</a:t>
            </a:r>
          </a:p>
          <a:p>
            <a:r>
              <a:rPr lang="en-CA" baseline="0" dirty="0" smtClean="0"/>
              <a:t>With Spiffy – most of the code is generic – little fs specific code required</a:t>
            </a:r>
          </a:p>
          <a:p>
            <a:r>
              <a:rPr lang="en-CA" baseline="0" dirty="0" smtClean="0"/>
              <a:t>Able to support rich set of policies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1517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49918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297257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Provides</a:t>
            </a:r>
            <a:r>
              <a:rPr lang="en-CA" baseline="0" dirty="0" smtClean="0"/>
              <a:t> annotation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B5BF96-4013-477F-9949-176AD53AFF60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78973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Comparison of output or result needs</a:t>
            </a:r>
            <a:r>
              <a:rPr lang="en-CA" baseline="0" dirty="0" smtClean="0"/>
              <a:t> to </a:t>
            </a:r>
            <a:r>
              <a:rPr lang="en-CA" baseline="0" smtClean="0"/>
              <a:t>be emphasize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9A0A36-F84D-437B-B821-CB3EBADC1433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5210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gradFill rotWithShape="1">
          <a:gsLst>
            <a:gs pos="10000">
              <a:schemeClr val="tx2">
                <a:lumMod val="90000"/>
              </a:schemeClr>
            </a:gs>
            <a:gs pos="100000">
              <a:schemeClr val="bg2"/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1" y="685800"/>
            <a:ext cx="9129091" cy="2167468"/>
          </a:xfrm>
        </p:spPr>
        <p:txBody>
          <a:bodyPr anchor="b">
            <a:normAutofit/>
          </a:bodyPr>
          <a:lstStyle>
            <a:lvl1pPr algn="l">
              <a:defRPr sz="5400" cap="none" baseline="0"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037337"/>
            <a:ext cx="7694630" cy="2753864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5D206-3748-4927-8C33-DF34FC1F64AB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6108170" y="545795"/>
            <a:ext cx="6080672" cy="6323990"/>
            <a:chOff x="6108170" y="-151790"/>
            <a:chExt cx="6080672" cy="6323990"/>
          </a:xfrm>
        </p:grpSpPr>
        <p:cxnSp>
          <p:nvCxnSpPr>
            <p:cNvPr id="16" name="Straight Connector 15"/>
            <p:cNvCxnSpPr/>
            <p:nvPr/>
          </p:nvCxnSpPr>
          <p:spPr>
            <a:xfrm flipH="1">
              <a:off x="8378842" y="-151790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2271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 b="1" cap="none" baseline="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4656842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D7D9F-39FD-4B95-A4F0-514D658B152C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4212" y="6172200"/>
            <a:ext cx="10285796" cy="365125"/>
          </a:xfrm>
        </p:spPr>
        <p:txBody>
          <a:bodyPr/>
          <a:lstStyle>
            <a:lvl1pPr>
              <a:defRPr sz="1200"/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7B2023C8-B124-43A9-8F92-0EEF5BAA9995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682899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57ED4-7149-4100-B966-397E56D6DA55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8094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1515361"/>
            <a:ext cx="5123089" cy="4656839"/>
          </a:xfrm>
        </p:spPr>
        <p:txBody>
          <a:bodyPr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1515362"/>
            <a:ext cx="4934479" cy="4656838"/>
          </a:xfrm>
        </p:spPr>
        <p:txBody>
          <a:bodyPr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E3152-893D-476F-92C8-DC87664CFA37}" type="datetime1">
              <a:rPr lang="en-CA" smtClean="0"/>
              <a:t>2018-02-07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166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1515357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2100086"/>
            <a:ext cx="4937655" cy="4072114"/>
          </a:xfrm>
        </p:spPr>
        <p:txBody>
          <a:bodyPr anchor="t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35939" y="1523824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63418" y="2100086"/>
            <a:ext cx="4929188" cy="4072114"/>
          </a:xfrm>
        </p:spPr>
        <p:txBody>
          <a:bodyPr anchor="t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2930E9-C17A-4D90-BAE8-42423BBE919E}" type="datetime1">
              <a:rPr lang="en-CA" smtClean="0"/>
              <a:t>2018-02-07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604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59AD7-8F94-4BFD-9315-264212F1BDBC}" type="datetime1">
              <a:rPr lang="en-CA" smtClean="0"/>
              <a:t>2018-02-07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29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52F67-5290-4349-8ADA-9B77C8B30CA1}" type="datetime1">
              <a:rPr lang="en-CA" smtClean="0"/>
              <a:t>2018-02-07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5750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9F9A6-54E7-4285-928E-6A5CE63E658D}" type="datetime1">
              <a:rPr lang="en-CA" smtClean="0"/>
              <a:t>2018-02-07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60494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DADFC-E42D-4E18-8E7A-1F87E4DC64CF}" type="datetime1">
              <a:rPr lang="en-CA" smtClean="0"/>
              <a:t>2018-02-07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5103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DCB4F-0D89-4D46-BA02-4EEC06F0D222}" type="datetime1">
              <a:rPr lang="en-CA" smtClean="0"/>
              <a:t>2018-02-07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03295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696F7-A71E-484D-AC3A-CE094204994B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89586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026A3-D9E4-42EE-8898-5602D67646A6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67062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851CE-B33E-4D8E-B913-47C489FB1326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685798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49205-445A-4022-8550-E0423D1698F6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530154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8CFC7-231B-411E-A147-D21C0786264A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26641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A103E-C7C6-4893-8576-55DC8ED846C7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70361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AEEE-621B-4F9D-B0C9-9282EED4D31D}" type="datetime1">
              <a:rPr lang="en-CA" smtClean="0"/>
              <a:t>2018-02-07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914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 rot="16200000">
            <a:off x="9093845" y="-109806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170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1515358"/>
            <a:ext cx="10285797" cy="46568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fld id="{1046A6BF-9417-477F-B83E-822B9F56EF48}" type="datetime1">
              <a:rPr lang="en-CA" smtClean="0"/>
              <a:t>2018-02-07</a:t>
            </a:fld>
            <a:endParaRPr lang="en-CA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000" b="0" i="0">
                <a:solidFill>
                  <a:schemeClr val="bg1"/>
                </a:solidFill>
                <a:effectLst/>
                <a:latin typeface="+mn-lt"/>
              </a:defRPr>
            </a:lvl1pPr>
          </a:lstStyle>
          <a:p>
            <a:fld id="{7B2023C8-B124-43A9-8F92-0EEF5BAA9995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05381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lang="en-US" sz="4000" b="1" kern="1200" cap="none" baseline="0" dirty="0" smtClean="0">
          <a:ln w="3175" cmpd="sng"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24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1" y="6791"/>
            <a:ext cx="8849087" cy="2971801"/>
          </a:xfrm>
        </p:spPr>
        <p:txBody>
          <a:bodyPr>
            <a:normAutofit fontScale="90000"/>
          </a:bodyPr>
          <a:lstStyle/>
          <a:p>
            <a:r>
              <a:rPr lang="en-CA" b="1" cap="none" dirty="0" smtClean="0"/>
              <a:t>Spiffy</a:t>
            </a:r>
            <a:r>
              <a:rPr lang="en-CA" cap="none" dirty="0" smtClean="0"/>
              <a:t>:</a:t>
            </a:r>
            <a:r>
              <a:rPr lang="en-CA" b="1" cap="none" dirty="0" smtClean="0"/>
              <a:t> </a:t>
            </a:r>
            <a:r>
              <a:rPr lang="en-CA" cap="none" dirty="0"/>
              <a:t>Enabling File-System Aware </a:t>
            </a:r>
            <a:r>
              <a:rPr lang="en-CA" sz="5400" cap="none" dirty="0"/>
              <a:t>Storage</a:t>
            </a:r>
            <a:r>
              <a:rPr lang="en-CA" cap="none" dirty="0"/>
              <a:t> </a:t>
            </a:r>
            <a:r>
              <a:rPr lang="en-CA" cap="none" dirty="0" smtClean="0"/>
              <a:t>Applications</a:t>
            </a:r>
            <a:br>
              <a:rPr lang="en-CA" cap="none" dirty="0" smtClean="0"/>
            </a:br>
            <a:endParaRPr lang="en-CA" b="1" cap="non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421931"/>
            <a:ext cx="10967598" cy="2548380"/>
          </a:xfrm>
        </p:spPr>
        <p:txBody>
          <a:bodyPr>
            <a:normAutofit/>
          </a:bodyPr>
          <a:lstStyle/>
          <a:p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Kuei</a:t>
            </a:r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 Sun, Daniel Fryer, Joseph Chu</a:t>
            </a:r>
            <a:r>
              <a:rPr lang="en-CA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, Matthew </a:t>
            </a:r>
            <a:r>
              <a:rPr lang="en-CA" sz="2400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Lakier</a:t>
            </a:r>
            <a:r>
              <a:rPr lang="en-CA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, </a:t>
            </a:r>
            <a:endParaRPr lang="en-CA" sz="2400" dirty="0" smtClean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Angela </a:t>
            </a:r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Demke</a:t>
            </a:r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 Brown, and </a:t>
            </a:r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Ashvin</a:t>
            </a:r>
            <a:r>
              <a:rPr lang="en-CA" sz="2400" dirty="0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 </a:t>
            </a:r>
            <a:r>
              <a:rPr lang="en-CA" sz="2400" dirty="0" err="1" smtClean="0">
                <a:solidFill>
                  <a:schemeClr val="bg1">
                    <a:lumMod val="75000"/>
                    <a:lumOff val="25000"/>
                  </a:schemeClr>
                </a:solidFill>
              </a:rPr>
              <a:t>Goel</a:t>
            </a:r>
            <a:endParaRPr lang="en-CA" sz="2400" dirty="0" smtClean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CA" sz="2400" dirty="0"/>
          </a:p>
          <a:p>
            <a:r>
              <a:rPr lang="en-CA" sz="2400" i="1" dirty="0" smtClean="0">
                <a:solidFill>
                  <a:schemeClr val="bg1">
                    <a:lumMod val="85000"/>
                    <a:lumOff val="15000"/>
                  </a:schemeClr>
                </a:solidFill>
              </a:rPr>
              <a:t>University of Toronto</a:t>
            </a:r>
            <a:endParaRPr lang="en-CA" sz="2400" i="1" dirty="0">
              <a:solidFill>
                <a:schemeClr val="bg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736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Introduction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3" y="1625600"/>
            <a:ext cx="9403743" cy="4622802"/>
          </a:xfrm>
        </p:spPr>
        <p:txBody>
          <a:bodyPr>
            <a:normAutofit/>
          </a:bodyPr>
          <a:lstStyle/>
          <a:p>
            <a:r>
              <a:rPr lang="en-CA" dirty="0" smtClean="0"/>
              <a:t>File-system aware applications</a:t>
            </a:r>
          </a:p>
          <a:p>
            <a:pPr lvl="1"/>
            <a:r>
              <a:rPr lang="en-CA" dirty="0" smtClean="0"/>
              <a:t>E.g. </a:t>
            </a:r>
            <a:r>
              <a:rPr lang="en-CA" dirty="0"/>
              <a:t>partition editor, file system checker, defragmentation </a:t>
            </a:r>
            <a:r>
              <a:rPr lang="en-CA" dirty="0" smtClean="0"/>
              <a:t>tool</a:t>
            </a:r>
          </a:p>
          <a:p>
            <a:pPr lvl="1"/>
            <a:r>
              <a:rPr lang="en-CA" dirty="0" smtClean="0"/>
              <a:t>Operate </a:t>
            </a:r>
            <a:r>
              <a:rPr lang="en-CA" dirty="0"/>
              <a:t>directly on file system metadata structures</a:t>
            </a:r>
          </a:p>
          <a:p>
            <a:pPr lvl="2"/>
            <a:r>
              <a:rPr lang="en-CA" dirty="0"/>
              <a:t>Require detailed knowledge of file system format on disk</a:t>
            </a:r>
            <a:endParaRPr lang="en-CA" dirty="0" smtClean="0"/>
          </a:p>
          <a:p>
            <a:pPr lvl="2"/>
            <a:r>
              <a:rPr lang="en-CA" dirty="0" smtClean="0"/>
              <a:t>Bypass </a:t>
            </a:r>
            <a:r>
              <a:rPr lang="en-CA" dirty="0"/>
              <a:t>VFS </a:t>
            </a:r>
            <a:r>
              <a:rPr lang="en-CA" dirty="0" smtClean="0"/>
              <a:t>layer</a:t>
            </a:r>
          </a:p>
          <a:p>
            <a:pPr lvl="1"/>
            <a:r>
              <a:rPr lang="en-CA" dirty="0" smtClean="0"/>
              <a:t>Essential for successful deployment of file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88902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Problem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4866587"/>
          </a:xfrm>
        </p:spPr>
        <p:txBody>
          <a:bodyPr>
            <a:normAutofit/>
          </a:bodyPr>
          <a:lstStyle/>
          <a:p>
            <a:r>
              <a:rPr lang="en-CA" dirty="0" smtClean="0"/>
              <a:t>Each </a:t>
            </a:r>
            <a:r>
              <a:rPr lang="en-CA" dirty="0"/>
              <a:t>file system has to develop its own set of tools from scratch</a:t>
            </a:r>
          </a:p>
          <a:p>
            <a:r>
              <a:rPr lang="en-CA" dirty="0"/>
              <a:t>Only file-system experts develop such </a:t>
            </a:r>
            <a:r>
              <a:rPr lang="en-CA" dirty="0" smtClean="0"/>
              <a:t>tools</a:t>
            </a:r>
          </a:p>
          <a:p>
            <a:r>
              <a:rPr lang="en-CA" dirty="0"/>
              <a:t>Bugs lead to system crash, data corruption, security vulnerability</a:t>
            </a:r>
          </a:p>
          <a:p>
            <a:endParaRPr lang="en-CA" dirty="0" smtClean="0"/>
          </a:p>
          <a:p>
            <a:r>
              <a:rPr lang="en-CA" dirty="0" smtClean="0"/>
              <a:t>Example</a:t>
            </a:r>
            <a:r>
              <a:rPr lang="en-CA" dirty="0"/>
              <a:t>: bug 723343 in </a:t>
            </a:r>
            <a:r>
              <a:rPr lang="en-CA" dirty="0" err="1"/>
              <a:t>ntfsprogs</a:t>
            </a:r>
            <a:endParaRPr lang="en-CA" dirty="0"/>
          </a:p>
          <a:p>
            <a:pPr lvl="1"/>
            <a:r>
              <a:rPr lang="en-CA" dirty="0"/>
              <a:t>NTFS stores the size of </a:t>
            </a:r>
            <a:r>
              <a:rPr lang="en-CA" dirty="0" smtClean="0"/>
              <a:t>MFT </a:t>
            </a:r>
            <a:r>
              <a:rPr lang="en-CA" dirty="0"/>
              <a:t>record as either</a:t>
            </a:r>
            <a:r>
              <a:rPr lang="en-CA" dirty="0" smtClean="0"/>
              <a:t>:</a:t>
            </a:r>
          </a:p>
          <a:p>
            <a:pPr lvl="2"/>
            <a:r>
              <a:rPr lang="en-CA" dirty="0"/>
              <a:t>if </a:t>
            </a:r>
            <a:r>
              <a:rPr lang="en-CA" i="1" dirty="0"/>
              <a:t>value</a:t>
            </a:r>
            <a:r>
              <a:rPr lang="en-CA" dirty="0"/>
              <a:t> &gt; </a:t>
            </a:r>
            <a:r>
              <a:rPr lang="en-CA" dirty="0" smtClean="0"/>
              <a:t>0, size = # </a:t>
            </a:r>
            <a:r>
              <a:rPr lang="en-CA" dirty="0"/>
              <a:t>of clusters per </a:t>
            </a:r>
            <a:r>
              <a:rPr lang="en-CA" dirty="0" smtClean="0"/>
              <a:t>record</a:t>
            </a:r>
          </a:p>
          <a:p>
            <a:pPr lvl="2"/>
            <a:r>
              <a:rPr lang="en-CA" dirty="0"/>
              <a:t>if </a:t>
            </a:r>
            <a:r>
              <a:rPr lang="en-CA" i="1" dirty="0"/>
              <a:t>value</a:t>
            </a:r>
            <a:r>
              <a:rPr lang="en-CA" dirty="0"/>
              <a:t> &lt; </a:t>
            </a:r>
            <a:r>
              <a:rPr lang="en-CA" dirty="0" smtClean="0"/>
              <a:t>0, size =  2</a:t>
            </a:r>
            <a:r>
              <a:rPr lang="en-CA" baseline="30000" dirty="0" smtClean="0"/>
              <a:t>|</a:t>
            </a:r>
            <a:r>
              <a:rPr lang="en-CA" i="1" baseline="30000" dirty="0" smtClean="0"/>
              <a:t>value</a:t>
            </a:r>
            <a:r>
              <a:rPr lang="en-CA" baseline="30000" dirty="0" smtClean="0"/>
              <a:t>|</a:t>
            </a:r>
            <a:endParaRPr lang="en-CA" dirty="0"/>
          </a:p>
          <a:p>
            <a:pPr lvl="1"/>
            <a:r>
              <a:rPr lang="en-CA" dirty="0" err="1" smtClean="0"/>
              <a:t>ntfsprogs</a:t>
            </a:r>
            <a:r>
              <a:rPr lang="en-CA" dirty="0" smtClean="0"/>
              <a:t> misinterprets this field, corrupting </a:t>
            </a:r>
            <a:r>
              <a:rPr lang="en-CA" dirty="0"/>
              <a:t>NTFS during partition resizing</a:t>
            </a:r>
          </a:p>
          <a:p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3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8325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Root Cause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 smtClean="0"/>
              <a:t>File-system applications are difficult to write</a:t>
            </a:r>
          </a:p>
          <a:p>
            <a:pPr lvl="1"/>
            <a:r>
              <a:rPr lang="en-CA" dirty="0" smtClean="0"/>
              <a:t>File system format complex and often poorly documented</a:t>
            </a:r>
          </a:p>
          <a:p>
            <a:pPr lvl="1"/>
            <a:r>
              <a:rPr lang="en-CA" dirty="0" smtClean="0"/>
              <a:t>Applications require detailed knowledge of format</a:t>
            </a:r>
          </a:p>
          <a:p>
            <a:pPr lvl="1"/>
            <a:r>
              <a:rPr lang="en-CA" dirty="0" smtClean="0"/>
              <a:t>Need to handle file system corruption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4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05410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Goals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Simplify development of file-system aware applications</a:t>
            </a:r>
          </a:p>
          <a:p>
            <a:pPr lvl="1"/>
            <a:r>
              <a:rPr lang="en-CA" dirty="0"/>
              <a:t>Reduce file-system specific code</a:t>
            </a:r>
          </a:p>
          <a:p>
            <a:pPr lvl="1"/>
            <a:r>
              <a:rPr lang="en-CA" dirty="0"/>
              <a:t>Enable code reuse across file systems</a:t>
            </a:r>
          </a:p>
          <a:p>
            <a:endParaRPr lang="en-CA" dirty="0" smtClean="0"/>
          </a:p>
          <a:p>
            <a:r>
              <a:rPr lang="en-CA" dirty="0" smtClean="0"/>
              <a:t>Improve </a:t>
            </a:r>
            <a:r>
              <a:rPr lang="en-CA" dirty="0"/>
              <a:t>robustness of </a:t>
            </a:r>
            <a:r>
              <a:rPr lang="en-CA" dirty="0" smtClean="0"/>
              <a:t>these applications</a:t>
            </a:r>
          </a:p>
          <a:p>
            <a:pPr lvl="1"/>
            <a:r>
              <a:rPr lang="en-CA" dirty="0" smtClean="0"/>
              <a:t>Enable correct traversal of file system metadata</a:t>
            </a:r>
          </a:p>
          <a:p>
            <a:pPr lvl="1"/>
            <a:r>
              <a:rPr lang="en-CA" dirty="0" smtClean="0"/>
              <a:t>Ensure type safe access to file system structures</a:t>
            </a:r>
          </a:p>
          <a:p>
            <a:pPr lvl="2"/>
            <a:r>
              <a:rPr lang="en-CA" dirty="0" smtClean="0"/>
              <a:t>Helps detect corruption for both read and write</a:t>
            </a:r>
          </a:p>
          <a:p>
            <a:pPr lvl="2"/>
            <a:r>
              <a:rPr lang="en-CA" dirty="0" smtClean="0"/>
              <a:t>Helps </a:t>
            </a:r>
            <a:r>
              <a:rPr lang="en-CA" dirty="0"/>
              <a:t>reduce error propagation, and further </a:t>
            </a:r>
            <a:r>
              <a:rPr lang="en-CA" dirty="0" smtClean="0"/>
              <a:t>corruption</a:t>
            </a:r>
          </a:p>
          <a:p>
            <a:pPr lvl="2"/>
            <a:endParaRPr lang="en-CA" dirty="0" smtClean="0"/>
          </a:p>
          <a:p>
            <a:endParaRPr lang="en-CA" dirty="0" smtClean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5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76993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Approach: </a:t>
            </a:r>
            <a:r>
              <a:rPr lang="en-CA" dirty="0"/>
              <a:t>Spiffy </a:t>
            </a:r>
            <a:r>
              <a:rPr lang="en-CA" dirty="0" smtClean="0"/>
              <a:t>Framework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CA" dirty="0" smtClean="0"/>
              <a:t>File </a:t>
            </a:r>
            <a:r>
              <a:rPr lang="en-CA" dirty="0"/>
              <a:t>system developers specify the format of their file </a:t>
            </a:r>
            <a:r>
              <a:rPr lang="en-CA" dirty="0" smtClean="0"/>
              <a:t>system</a:t>
            </a:r>
          </a:p>
          <a:p>
            <a:pPr marL="457200" indent="-457200">
              <a:buFont typeface="+mj-lt"/>
              <a:buAutoNum type="arabicPeriod"/>
            </a:pPr>
            <a:r>
              <a:rPr lang="en-CA" dirty="0" smtClean="0"/>
              <a:t>Spiffy uses specification to generate parsing and serialization library </a:t>
            </a:r>
          </a:p>
          <a:p>
            <a:pPr marL="457200" indent="-457200">
              <a:buFont typeface="+mj-lt"/>
              <a:buAutoNum type="arabicPeriod"/>
            </a:pPr>
            <a:r>
              <a:rPr lang="en-CA" dirty="0" smtClean="0"/>
              <a:t>Developers use library to build robust file-system aware applications</a:t>
            </a:r>
            <a:endParaRPr lang="en-CA" dirty="0"/>
          </a:p>
          <a:p>
            <a:pPr marL="457200" indent="-457200">
              <a:buFont typeface="+mj-lt"/>
              <a:buAutoNum type="arabicPeriod"/>
            </a:pPr>
            <a:endParaRPr lang="en-CA" dirty="0"/>
          </a:p>
          <a:p>
            <a:pPr marL="457200" indent="-457200">
              <a:buFont typeface="+mj-lt"/>
              <a:buAutoNum type="arabicPeriod"/>
            </a:pP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53963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Specifying Format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17256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CA" dirty="0" smtClean="0"/>
              <a:t>File system developers annotate metadata structures in </a:t>
            </a:r>
            <a:br>
              <a:rPr lang="en-CA" dirty="0" smtClean="0"/>
            </a:br>
            <a:r>
              <a:rPr lang="en-CA" dirty="0" smtClean="0"/>
              <a:t>header files of existing source </a:t>
            </a:r>
            <a:r>
              <a:rPr lang="en-CA" dirty="0" smtClean="0"/>
              <a:t>code</a:t>
            </a:r>
            <a:endParaRPr lang="en-CA" dirty="0" smtClean="0"/>
          </a:p>
        </p:txBody>
      </p:sp>
      <p:sp>
        <p:nvSpPr>
          <p:cNvPr id="35" name="Slide Number Placeholder 3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7</a:t>
            </a:fld>
            <a:endParaRPr lang="en-CA" dirty="0"/>
          </a:p>
        </p:txBody>
      </p:sp>
      <p:grpSp>
        <p:nvGrpSpPr>
          <p:cNvPr id="82" name="Group 81"/>
          <p:cNvGrpSpPr/>
          <p:nvPr/>
        </p:nvGrpSpPr>
        <p:grpSpPr>
          <a:xfrm>
            <a:off x="824305" y="2832811"/>
            <a:ext cx="9787357" cy="3222517"/>
            <a:chOff x="824305" y="2832811"/>
            <a:chExt cx="9787357" cy="3222517"/>
          </a:xfrm>
        </p:grpSpPr>
        <p:sp>
          <p:nvSpPr>
            <p:cNvPr id="5" name="Snip Single Corner Rectangle 4"/>
            <p:cNvSpPr/>
            <p:nvPr/>
          </p:nvSpPr>
          <p:spPr>
            <a:xfrm>
              <a:off x="2184504" y="4065180"/>
              <a:ext cx="1332000" cy="774000"/>
            </a:xfrm>
            <a:prstGeom prst="snip1Rect">
              <a:avLst>
                <a:gd name="adj" fmla="val 16653"/>
              </a:avLst>
            </a:prstGeom>
            <a:noFill/>
            <a:ln w="25400">
              <a:solidFill>
                <a:schemeClr val="bg1"/>
              </a:solidFill>
            </a:ln>
            <a:effectLst>
              <a:glow rad="1016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72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Annotated File System Structures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487383" y="3112971"/>
              <a:ext cx="1186542" cy="523220"/>
            </a:xfrm>
            <a:prstGeom prst="rect">
              <a:avLst/>
            </a:prstGeom>
            <a:noFill/>
            <a:ln w="25400">
              <a:noFill/>
            </a:ln>
            <a:effectLst>
              <a:glow rad="101600">
                <a:srgbClr val="FFFF00">
                  <a:alpha val="40000"/>
                </a:srgbClr>
              </a:glow>
            </a:effectLst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400" b="1" dirty="0">
                  <a:solidFill>
                    <a:schemeClr val="bg1"/>
                  </a:solidFill>
                </a:rPr>
                <a:t>File System </a:t>
              </a:r>
            </a:p>
            <a:p>
              <a:pPr algn="ctr"/>
              <a:r>
                <a:rPr lang="en-CA" sz="1400" b="1" dirty="0">
                  <a:solidFill>
                    <a:schemeClr val="bg1"/>
                  </a:solidFill>
                </a:rPr>
                <a:t>Developer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1737224" y="4330060"/>
              <a:ext cx="316999" cy="244240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094065" y="4065180"/>
              <a:ext cx="1080000" cy="774000"/>
            </a:xfrm>
            <a:prstGeom prst="roundRect">
              <a:avLst/>
            </a:prstGeom>
            <a:noFill/>
            <a:ln w="25400" cmpd="dbl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Spiffy Compiler</a:t>
              </a:r>
            </a:p>
          </p:txBody>
        </p:sp>
        <p:sp>
          <p:nvSpPr>
            <p:cNvPr id="11" name="Snip Single Corner Rectangle 10"/>
            <p:cNvSpPr/>
            <p:nvPr/>
          </p:nvSpPr>
          <p:spPr>
            <a:xfrm>
              <a:off x="7432632" y="5281328"/>
              <a:ext cx="1332000" cy="774000"/>
            </a:xfrm>
            <a:prstGeom prst="snip1Rect">
              <a:avLst>
                <a:gd name="adj" fmla="val 17937"/>
              </a:avLst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0" rIns="0" bIns="144000" rtlCol="0" anchor="ctr"/>
            <a:lstStyle/>
            <a:p>
              <a:pPr algn="ctr"/>
              <a:r>
                <a:rPr lang="en-CA" sz="1600" dirty="0" smtClean="0">
                  <a:solidFill>
                    <a:schemeClr val="bg1"/>
                  </a:solidFill>
                </a:rPr>
                <a:t>Generic  </a:t>
              </a:r>
              <a:br>
                <a:rPr lang="en-CA" sz="1600" dirty="0" smtClean="0">
                  <a:solidFill>
                    <a:schemeClr val="bg1"/>
                  </a:solidFill>
                </a:rPr>
              </a:br>
              <a:r>
                <a:rPr lang="en-CA" sz="1600" dirty="0" smtClean="0">
                  <a:solidFill>
                    <a:schemeClr val="bg1"/>
                  </a:solidFill>
                </a:rPr>
                <a:t>Application</a:t>
              </a:r>
              <a:endParaRPr lang="en-CA" sz="1600" dirty="0">
                <a:solidFill>
                  <a:schemeClr val="bg1"/>
                </a:solidFill>
              </a:endParaRPr>
            </a:p>
          </p:txBody>
        </p:sp>
        <p:sp>
          <p:nvSpPr>
            <p:cNvPr id="13" name="Snip Single Corner Rectangle 12"/>
            <p:cNvSpPr/>
            <p:nvPr/>
          </p:nvSpPr>
          <p:spPr>
            <a:xfrm>
              <a:off x="7432632" y="2832811"/>
              <a:ext cx="1332000" cy="774000"/>
            </a:xfrm>
            <a:prstGeom prst="snip1Rect">
              <a:avLst>
                <a:gd name="adj" fmla="val 17937"/>
              </a:avLst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72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</a:t>
              </a:r>
              <a:r>
                <a:rPr lang="en-CA" sz="1600" dirty="0" smtClean="0">
                  <a:solidFill>
                    <a:schemeClr val="bg1"/>
                  </a:solidFill>
                </a:rPr>
                <a:t>System </a:t>
              </a:r>
              <a:r>
                <a:rPr lang="en-CA" sz="1600" dirty="0">
                  <a:solidFill>
                    <a:schemeClr val="bg1"/>
                  </a:solidFill>
                </a:rPr>
                <a:t>Specific Policies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 rot="5400000">
              <a:off x="7946907" y="4930973"/>
              <a:ext cx="303450" cy="255146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751627" y="4065180"/>
              <a:ext cx="1224000" cy="774000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dirty="0" smtClean="0">
                  <a:solidFill>
                    <a:schemeClr val="bg1"/>
                  </a:solidFill>
                </a:rPr>
                <a:t>File </a:t>
              </a:r>
              <a:r>
                <a:rPr lang="en-CA" sz="1600" dirty="0">
                  <a:solidFill>
                    <a:schemeClr val="bg1"/>
                  </a:solidFill>
                </a:rPr>
                <a:t>System Library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304346" y="4330060"/>
              <a:ext cx="316999" cy="244240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292902" y="4065180"/>
              <a:ext cx="1318760" cy="774000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File System Application</a:t>
              </a:r>
            </a:p>
          </p:txBody>
        </p:sp>
        <p:sp>
          <p:nvSpPr>
            <p:cNvPr id="19" name="Right Arrow 18"/>
            <p:cNvSpPr/>
            <p:nvPr/>
          </p:nvSpPr>
          <p:spPr>
            <a:xfrm rot="18900000">
              <a:off x="7054852" y="3727351"/>
              <a:ext cx="316999" cy="244240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0" name="Right Arrow 19"/>
            <p:cNvSpPr/>
            <p:nvPr/>
          </p:nvSpPr>
          <p:spPr>
            <a:xfrm rot="16200000">
              <a:off x="7946907" y="3721899"/>
              <a:ext cx="303450" cy="255146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1" name="Right Arrow 20"/>
            <p:cNvSpPr/>
            <p:nvPr/>
          </p:nvSpPr>
          <p:spPr>
            <a:xfrm rot="18900000">
              <a:off x="8859377" y="4936426"/>
              <a:ext cx="316999" cy="244240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2" name="Right Arrow 21"/>
            <p:cNvSpPr/>
            <p:nvPr/>
          </p:nvSpPr>
          <p:spPr>
            <a:xfrm rot="2700000">
              <a:off x="8866151" y="3721898"/>
              <a:ext cx="303450" cy="255146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09658" y="5281328"/>
              <a:ext cx="1260000" cy="774000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6800" rIns="0" bIns="46800" rtlCol="0" anchor="ctr"/>
            <a:lstStyle/>
            <a:p>
              <a:pPr algn="ctr"/>
              <a:r>
                <a:rPr lang="en-CA" sz="1600" dirty="0">
                  <a:solidFill>
                    <a:schemeClr val="bg1"/>
                  </a:solidFill>
                </a:rPr>
                <a:t>Spiffy API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7054852" y="5473906"/>
              <a:ext cx="316999" cy="244240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25" name="Right Arrow 24"/>
            <p:cNvSpPr/>
            <p:nvPr/>
          </p:nvSpPr>
          <p:spPr>
            <a:xfrm rot="16200000">
              <a:off x="6187933" y="4930974"/>
              <a:ext cx="303450" cy="255146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78658" y="4032191"/>
              <a:ext cx="839949" cy="839978"/>
            </a:xfrm>
            <a:prstGeom prst="rect">
              <a:avLst/>
            </a:prstGeom>
          </p:spPr>
        </p:pic>
        <p:grpSp>
          <p:nvGrpSpPr>
            <p:cNvPr id="72" name="Group 71"/>
            <p:cNvGrpSpPr/>
            <p:nvPr/>
          </p:nvGrpSpPr>
          <p:grpSpPr>
            <a:xfrm>
              <a:off x="824305" y="3607630"/>
              <a:ext cx="782638" cy="1689100"/>
              <a:chOff x="1494268" y="4778493"/>
              <a:chExt cx="782638" cy="1689100"/>
            </a:xfrm>
            <a:effectLst>
              <a:glow rad="101600">
                <a:srgbClr val="FFFF00">
                  <a:alpha val="40000"/>
                </a:srgbClr>
              </a:glow>
            </a:effectLst>
          </p:grpSpPr>
          <p:sp>
            <p:nvSpPr>
              <p:cNvPr id="44" name="Freeform 5"/>
              <p:cNvSpPr>
                <a:spLocks/>
              </p:cNvSpPr>
              <p:nvPr/>
            </p:nvSpPr>
            <p:spPr bwMode="auto">
              <a:xfrm>
                <a:off x="1508556" y="4964230"/>
                <a:ext cx="758825" cy="1489075"/>
              </a:xfrm>
              <a:custGeom>
                <a:avLst/>
                <a:gdLst>
                  <a:gd name="T0" fmla="*/ 250 w 1553"/>
                  <a:gd name="T1" fmla="*/ 791 h 3047"/>
                  <a:gd name="T2" fmla="*/ 194 w 1553"/>
                  <a:gd name="T3" fmla="*/ 572 h 3047"/>
                  <a:gd name="T4" fmla="*/ 262 w 1553"/>
                  <a:gd name="T5" fmla="*/ 325 h 3047"/>
                  <a:gd name="T6" fmla="*/ 447 w 1553"/>
                  <a:gd name="T7" fmla="*/ 175 h 3047"/>
                  <a:gd name="T8" fmla="*/ 678 w 1553"/>
                  <a:gd name="T9" fmla="*/ 141 h 3047"/>
                  <a:gd name="T10" fmla="*/ 837 w 1553"/>
                  <a:gd name="T11" fmla="*/ 216 h 3047"/>
                  <a:gd name="T12" fmla="*/ 950 w 1553"/>
                  <a:gd name="T13" fmla="*/ 378 h 3047"/>
                  <a:gd name="T14" fmla="*/ 959 w 1553"/>
                  <a:gd name="T15" fmla="*/ 585 h 3047"/>
                  <a:gd name="T16" fmla="*/ 884 w 1553"/>
                  <a:gd name="T17" fmla="*/ 816 h 3047"/>
                  <a:gd name="T18" fmla="*/ 950 w 1553"/>
                  <a:gd name="T19" fmla="*/ 797 h 3047"/>
                  <a:gd name="T20" fmla="*/ 1344 w 1553"/>
                  <a:gd name="T21" fmla="*/ 85 h 3047"/>
                  <a:gd name="T22" fmla="*/ 1516 w 1553"/>
                  <a:gd name="T23" fmla="*/ 0 h 3047"/>
                  <a:gd name="T24" fmla="*/ 1553 w 1553"/>
                  <a:gd name="T25" fmla="*/ 175 h 3047"/>
                  <a:gd name="T26" fmla="*/ 1312 w 1553"/>
                  <a:gd name="T27" fmla="*/ 807 h 3047"/>
                  <a:gd name="T28" fmla="*/ 1253 w 1553"/>
                  <a:gd name="T29" fmla="*/ 925 h 3047"/>
                  <a:gd name="T30" fmla="*/ 1209 w 1553"/>
                  <a:gd name="T31" fmla="*/ 1241 h 3047"/>
                  <a:gd name="T32" fmla="*/ 1237 w 1553"/>
                  <a:gd name="T33" fmla="*/ 1753 h 3047"/>
                  <a:gd name="T34" fmla="*/ 1300 w 1553"/>
                  <a:gd name="T35" fmla="*/ 2266 h 3047"/>
                  <a:gd name="T36" fmla="*/ 1303 w 1553"/>
                  <a:gd name="T37" fmla="*/ 2460 h 3047"/>
                  <a:gd name="T38" fmla="*/ 1272 w 1553"/>
                  <a:gd name="T39" fmla="*/ 2791 h 3047"/>
                  <a:gd name="T40" fmla="*/ 1209 w 1553"/>
                  <a:gd name="T41" fmla="*/ 2978 h 3047"/>
                  <a:gd name="T42" fmla="*/ 1128 w 1553"/>
                  <a:gd name="T43" fmla="*/ 3047 h 3047"/>
                  <a:gd name="T44" fmla="*/ 1028 w 1553"/>
                  <a:gd name="T45" fmla="*/ 2957 h 3047"/>
                  <a:gd name="T46" fmla="*/ 981 w 1553"/>
                  <a:gd name="T47" fmla="*/ 2769 h 3047"/>
                  <a:gd name="T48" fmla="*/ 978 w 1553"/>
                  <a:gd name="T49" fmla="*/ 2491 h 3047"/>
                  <a:gd name="T50" fmla="*/ 956 w 1553"/>
                  <a:gd name="T51" fmla="*/ 2272 h 3047"/>
                  <a:gd name="T52" fmla="*/ 884 w 1553"/>
                  <a:gd name="T53" fmla="*/ 2166 h 3047"/>
                  <a:gd name="T54" fmla="*/ 847 w 1553"/>
                  <a:gd name="T55" fmla="*/ 2135 h 3047"/>
                  <a:gd name="T56" fmla="*/ 803 w 1553"/>
                  <a:gd name="T57" fmla="*/ 2313 h 3047"/>
                  <a:gd name="T58" fmla="*/ 750 w 1553"/>
                  <a:gd name="T59" fmla="*/ 2635 h 3047"/>
                  <a:gd name="T60" fmla="*/ 716 w 1553"/>
                  <a:gd name="T61" fmla="*/ 2778 h 3047"/>
                  <a:gd name="T62" fmla="*/ 681 w 1553"/>
                  <a:gd name="T63" fmla="*/ 2919 h 3047"/>
                  <a:gd name="T64" fmla="*/ 634 w 1553"/>
                  <a:gd name="T65" fmla="*/ 3025 h 3047"/>
                  <a:gd name="T66" fmla="*/ 559 w 1553"/>
                  <a:gd name="T67" fmla="*/ 3044 h 3047"/>
                  <a:gd name="T68" fmla="*/ 484 w 1553"/>
                  <a:gd name="T69" fmla="*/ 2985 h 3047"/>
                  <a:gd name="T70" fmla="*/ 437 w 1553"/>
                  <a:gd name="T71" fmla="*/ 2744 h 3047"/>
                  <a:gd name="T72" fmla="*/ 425 w 1553"/>
                  <a:gd name="T73" fmla="*/ 2382 h 3047"/>
                  <a:gd name="T74" fmla="*/ 422 w 1553"/>
                  <a:gd name="T75" fmla="*/ 2047 h 3047"/>
                  <a:gd name="T76" fmla="*/ 419 w 1553"/>
                  <a:gd name="T77" fmla="*/ 1722 h 3047"/>
                  <a:gd name="T78" fmla="*/ 375 w 1553"/>
                  <a:gd name="T79" fmla="*/ 1572 h 3047"/>
                  <a:gd name="T80" fmla="*/ 316 w 1553"/>
                  <a:gd name="T81" fmla="*/ 1538 h 3047"/>
                  <a:gd name="T82" fmla="*/ 259 w 1553"/>
                  <a:gd name="T83" fmla="*/ 1710 h 3047"/>
                  <a:gd name="T84" fmla="*/ 212 w 1553"/>
                  <a:gd name="T85" fmla="*/ 1985 h 3047"/>
                  <a:gd name="T86" fmla="*/ 169 w 1553"/>
                  <a:gd name="T87" fmla="*/ 2150 h 3047"/>
                  <a:gd name="T88" fmla="*/ 106 w 1553"/>
                  <a:gd name="T89" fmla="*/ 2188 h 3047"/>
                  <a:gd name="T90" fmla="*/ 41 w 1553"/>
                  <a:gd name="T91" fmla="*/ 2085 h 3047"/>
                  <a:gd name="T92" fmla="*/ 0 w 1553"/>
                  <a:gd name="T93" fmla="*/ 1810 h 3047"/>
                  <a:gd name="T94" fmla="*/ 37 w 1553"/>
                  <a:gd name="T95" fmla="*/ 1428 h 3047"/>
                  <a:gd name="T96" fmla="*/ 137 w 1553"/>
                  <a:gd name="T97" fmla="*/ 1116 h 3047"/>
                  <a:gd name="T98" fmla="*/ 306 w 1553"/>
                  <a:gd name="T99" fmla="*/ 922 h 3047"/>
                  <a:gd name="T100" fmla="*/ 250 w 1553"/>
                  <a:gd name="T101" fmla="*/ 791 h 30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1553" h="3047">
                    <a:moveTo>
                      <a:pt x="250" y="791"/>
                    </a:moveTo>
                    <a:lnTo>
                      <a:pt x="194" y="572"/>
                    </a:lnTo>
                    <a:lnTo>
                      <a:pt x="262" y="325"/>
                    </a:lnTo>
                    <a:lnTo>
                      <a:pt x="447" y="175"/>
                    </a:lnTo>
                    <a:lnTo>
                      <a:pt x="678" y="141"/>
                    </a:lnTo>
                    <a:lnTo>
                      <a:pt x="837" y="216"/>
                    </a:lnTo>
                    <a:lnTo>
                      <a:pt x="950" y="378"/>
                    </a:lnTo>
                    <a:lnTo>
                      <a:pt x="959" y="585"/>
                    </a:lnTo>
                    <a:lnTo>
                      <a:pt x="884" y="816"/>
                    </a:lnTo>
                    <a:lnTo>
                      <a:pt x="950" y="797"/>
                    </a:lnTo>
                    <a:lnTo>
                      <a:pt x="1344" y="85"/>
                    </a:lnTo>
                    <a:lnTo>
                      <a:pt x="1516" y="0"/>
                    </a:lnTo>
                    <a:lnTo>
                      <a:pt x="1553" y="175"/>
                    </a:lnTo>
                    <a:lnTo>
                      <a:pt x="1312" y="807"/>
                    </a:lnTo>
                    <a:cubicBezTo>
                      <a:pt x="1312" y="807"/>
                      <a:pt x="1253" y="913"/>
                      <a:pt x="1253" y="925"/>
                    </a:cubicBezTo>
                    <a:cubicBezTo>
                      <a:pt x="1253" y="938"/>
                      <a:pt x="1209" y="1241"/>
                      <a:pt x="1209" y="1241"/>
                    </a:cubicBezTo>
                    <a:lnTo>
                      <a:pt x="1237" y="1753"/>
                    </a:lnTo>
                    <a:lnTo>
                      <a:pt x="1300" y="2266"/>
                    </a:lnTo>
                    <a:cubicBezTo>
                      <a:pt x="1300" y="2266"/>
                      <a:pt x="1316" y="2428"/>
                      <a:pt x="1303" y="2460"/>
                    </a:cubicBezTo>
                    <a:cubicBezTo>
                      <a:pt x="1291" y="2491"/>
                      <a:pt x="1272" y="2791"/>
                      <a:pt x="1272" y="2791"/>
                    </a:cubicBezTo>
                    <a:lnTo>
                      <a:pt x="1209" y="2978"/>
                    </a:lnTo>
                    <a:lnTo>
                      <a:pt x="1128" y="3047"/>
                    </a:lnTo>
                    <a:lnTo>
                      <a:pt x="1028" y="2957"/>
                    </a:lnTo>
                    <a:lnTo>
                      <a:pt x="981" y="2769"/>
                    </a:lnTo>
                    <a:lnTo>
                      <a:pt x="978" y="2491"/>
                    </a:lnTo>
                    <a:lnTo>
                      <a:pt x="956" y="2272"/>
                    </a:lnTo>
                    <a:lnTo>
                      <a:pt x="884" y="2166"/>
                    </a:lnTo>
                    <a:lnTo>
                      <a:pt x="847" y="2135"/>
                    </a:lnTo>
                    <a:lnTo>
                      <a:pt x="803" y="2313"/>
                    </a:lnTo>
                    <a:lnTo>
                      <a:pt x="750" y="2635"/>
                    </a:lnTo>
                    <a:lnTo>
                      <a:pt x="716" y="2778"/>
                    </a:lnTo>
                    <a:lnTo>
                      <a:pt x="681" y="2919"/>
                    </a:lnTo>
                    <a:lnTo>
                      <a:pt x="634" y="3025"/>
                    </a:lnTo>
                    <a:lnTo>
                      <a:pt x="559" y="3044"/>
                    </a:lnTo>
                    <a:lnTo>
                      <a:pt x="484" y="2985"/>
                    </a:lnTo>
                    <a:lnTo>
                      <a:pt x="437" y="2744"/>
                    </a:lnTo>
                    <a:lnTo>
                      <a:pt x="425" y="2382"/>
                    </a:lnTo>
                    <a:lnTo>
                      <a:pt x="422" y="2047"/>
                    </a:lnTo>
                    <a:lnTo>
                      <a:pt x="419" y="1722"/>
                    </a:lnTo>
                    <a:lnTo>
                      <a:pt x="375" y="1572"/>
                    </a:lnTo>
                    <a:lnTo>
                      <a:pt x="316" y="1538"/>
                    </a:lnTo>
                    <a:lnTo>
                      <a:pt x="259" y="1710"/>
                    </a:lnTo>
                    <a:lnTo>
                      <a:pt x="212" y="1985"/>
                    </a:lnTo>
                    <a:lnTo>
                      <a:pt x="169" y="2150"/>
                    </a:lnTo>
                    <a:lnTo>
                      <a:pt x="106" y="2188"/>
                    </a:lnTo>
                    <a:lnTo>
                      <a:pt x="41" y="2085"/>
                    </a:lnTo>
                    <a:lnTo>
                      <a:pt x="0" y="1810"/>
                    </a:lnTo>
                    <a:lnTo>
                      <a:pt x="37" y="1428"/>
                    </a:lnTo>
                    <a:lnTo>
                      <a:pt x="137" y="1116"/>
                    </a:lnTo>
                    <a:lnTo>
                      <a:pt x="306" y="922"/>
                    </a:lnTo>
                    <a:lnTo>
                      <a:pt x="250" y="791"/>
                    </a:lnTo>
                    <a:close/>
                  </a:path>
                </a:pathLst>
              </a:custGeom>
              <a:solidFill>
                <a:srgbClr val="53535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45" name="Freeform 6"/>
              <p:cNvSpPr>
                <a:spLocks/>
              </p:cNvSpPr>
              <p:nvPr/>
            </p:nvSpPr>
            <p:spPr bwMode="auto">
              <a:xfrm>
                <a:off x="1511731" y="5119805"/>
                <a:ext cx="696913" cy="854075"/>
              </a:xfrm>
              <a:custGeom>
                <a:avLst/>
                <a:gdLst>
                  <a:gd name="T0" fmla="*/ 163 w 1427"/>
                  <a:gd name="T1" fmla="*/ 769 h 1747"/>
                  <a:gd name="T2" fmla="*/ 93 w 1427"/>
                  <a:gd name="T3" fmla="*/ 901 h 1747"/>
                  <a:gd name="T4" fmla="*/ 35 w 1427"/>
                  <a:gd name="T5" fmla="*/ 1087 h 1747"/>
                  <a:gd name="T6" fmla="*/ 0 w 1427"/>
                  <a:gd name="T7" fmla="*/ 1286 h 1747"/>
                  <a:gd name="T8" fmla="*/ 0 w 1427"/>
                  <a:gd name="T9" fmla="*/ 1586 h 1747"/>
                  <a:gd name="T10" fmla="*/ 212 w 1427"/>
                  <a:gd name="T11" fmla="*/ 1662 h 1747"/>
                  <a:gd name="T12" fmla="*/ 247 w 1427"/>
                  <a:gd name="T13" fmla="*/ 1379 h 1747"/>
                  <a:gd name="T14" fmla="*/ 287 w 1427"/>
                  <a:gd name="T15" fmla="*/ 1273 h 1747"/>
                  <a:gd name="T16" fmla="*/ 336 w 1427"/>
                  <a:gd name="T17" fmla="*/ 1220 h 1747"/>
                  <a:gd name="T18" fmla="*/ 389 w 1427"/>
                  <a:gd name="T19" fmla="*/ 1277 h 1747"/>
                  <a:gd name="T20" fmla="*/ 429 w 1427"/>
                  <a:gd name="T21" fmla="*/ 1432 h 1747"/>
                  <a:gd name="T22" fmla="*/ 420 w 1427"/>
                  <a:gd name="T23" fmla="*/ 1684 h 1747"/>
                  <a:gd name="T24" fmla="*/ 420 w 1427"/>
                  <a:gd name="T25" fmla="*/ 1723 h 1747"/>
                  <a:gd name="T26" fmla="*/ 579 w 1427"/>
                  <a:gd name="T27" fmla="*/ 1723 h 1747"/>
                  <a:gd name="T28" fmla="*/ 1096 w 1427"/>
                  <a:gd name="T29" fmla="*/ 1547 h 1747"/>
                  <a:gd name="T30" fmla="*/ 1255 w 1427"/>
                  <a:gd name="T31" fmla="*/ 1520 h 1747"/>
                  <a:gd name="T32" fmla="*/ 1206 w 1427"/>
                  <a:gd name="T33" fmla="*/ 1193 h 1747"/>
                  <a:gd name="T34" fmla="*/ 1206 w 1427"/>
                  <a:gd name="T35" fmla="*/ 879 h 1747"/>
                  <a:gd name="T36" fmla="*/ 1233 w 1427"/>
                  <a:gd name="T37" fmla="*/ 632 h 1747"/>
                  <a:gd name="T38" fmla="*/ 1357 w 1427"/>
                  <a:gd name="T39" fmla="*/ 376 h 1747"/>
                  <a:gd name="T40" fmla="*/ 1427 w 1427"/>
                  <a:gd name="T41" fmla="*/ 194 h 1747"/>
                  <a:gd name="T42" fmla="*/ 1206 w 1427"/>
                  <a:gd name="T43" fmla="*/ 0 h 1747"/>
                  <a:gd name="T44" fmla="*/ 1096 w 1427"/>
                  <a:gd name="T45" fmla="*/ 208 h 1747"/>
                  <a:gd name="T46" fmla="*/ 1021 w 1427"/>
                  <a:gd name="T47" fmla="*/ 305 h 1747"/>
                  <a:gd name="T48" fmla="*/ 981 w 1427"/>
                  <a:gd name="T49" fmla="*/ 437 h 1747"/>
                  <a:gd name="T50" fmla="*/ 862 w 1427"/>
                  <a:gd name="T51" fmla="*/ 729 h 1747"/>
                  <a:gd name="T52" fmla="*/ 451 w 1427"/>
                  <a:gd name="T53" fmla="*/ 654 h 1747"/>
                  <a:gd name="T54" fmla="*/ 163 w 1427"/>
                  <a:gd name="T55" fmla="*/ 769 h 17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1427" h="1747">
                    <a:moveTo>
                      <a:pt x="163" y="769"/>
                    </a:moveTo>
                    <a:lnTo>
                      <a:pt x="93" y="901"/>
                    </a:lnTo>
                    <a:lnTo>
                      <a:pt x="35" y="1087"/>
                    </a:lnTo>
                    <a:lnTo>
                      <a:pt x="0" y="1286"/>
                    </a:lnTo>
                    <a:lnTo>
                      <a:pt x="0" y="1586"/>
                    </a:lnTo>
                    <a:cubicBezTo>
                      <a:pt x="96" y="1655"/>
                      <a:pt x="147" y="1646"/>
                      <a:pt x="212" y="1662"/>
                    </a:cubicBezTo>
                    <a:lnTo>
                      <a:pt x="247" y="1379"/>
                    </a:lnTo>
                    <a:lnTo>
                      <a:pt x="287" y="1273"/>
                    </a:lnTo>
                    <a:lnTo>
                      <a:pt x="336" y="1220"/>
                    </a:lnTo>
                    <a:lnTo>
                      <a:pt x="389" y="1277"/>
                    </a:lnTo>
                    <a:lnTo>
                      <a:pt x="429" y="1432"/>
                    </a:lnTo>
                    <a:lnTo>
                      <a:pt x="420" y="1684"/>
                    </a:lnTo>
                    <a:lnTo>
                      <a:pt x="420" y="1723"/>
                    </a:lnTo>
                    <a:cubicBezTo>
                      <a:pt x="492" y="1747"/>
                      <a:pt x="532" y="1737"/>
                      <a:pt x="579" y="1723"/>
                    </a:cubicBezTo>
                    <a:cubicBezTo>
                      <a:pt x="756" y="1649"/>
                      <a:pt x="936" y="1579"/>
                      <a:pt x="1096" y="1547"/>
                    </a:cubicBezTo>
                    <a:cubicBezTo>
                      <a:pt x="1145" y="1538"/>
                      <a:pt x="1113" y="1536"/>
                      <a:pt x="1255" y="1520"/>
                    </a:cubicBezTo>
                    <a:lnTo>
                      <a:pt x="1206" y="1193"/>
                    </a:lnTo>
                    <a:lnTo>
                      <a:pt x="1206" y="879"/>
                    </a:lnTo>
                    <a:lnTo>
                      <a:pt x="1233" y="632"/>
                    </a:lnTo>
                    <a:lnTo>
                      <a:pt x="1357" y="376"/>
                    </a:lnTo>
                    <a:lnTo>
                      <a:pt x="1427" y="194"/>
                    </a:lnTo>
                    <a:cubicBezTo>
                      <a:pt x="1360" y="125"/>
                      <a:pt x="1305" y="49"/>
                      <a:pt x="1206" y="0"/>
                    </a:cubicBezTo>
                    <a:lnTo>
                      <a:pt x="1096" y="208"/>
                    </a:lnTo>
                    <a:lnTo>
                      <a:pt x="1021" y="305"/>
                    </a:lnTo>
                    <a:lnTo>
                      <a:pt x="981" y="437"/>
                    </a:lnTo>
                    <a:lnTo>
                      <a:pt x="862" y="729"/>
                    </a:lnTo>
                    <a:lnTo>
                      <a:pt x="451" y="654"/>
                    </a:lnTo>
                    <a:lnTo>
                      <a:pt x="163" y="769"/>
                    </a:lnTo>
                    <a:close/>
                  </a:path>
                </a:pathLst>
              </a:custGeom>
              <a:solidFill>
                <a:srgbClr val="962A22"/>
              </a:solidFill>
              <a:ln w="6350" cap="flat">
                <a:solidFill>
                  <a:srgbClr val="962A22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46" name="Freeform 7"/>
              <p:cNvSpPr>
                <a:spLocks/>
              </p:cNvSpPr>
              <p:nvPr/>
            </p:nvSpPr>
            <p:spPr bwMode="auto">
              <a:xfrm>
                <a:off x="1737156" y="5792905"/>
                <a:ext cx="387350" cy="165100"/>
              </a:xfrm>
              <a:custGeom>
                <a:avLst/>
                <a:gdLst>
                  <a:gd name="T0" fmla="*/ 0 w 795"/>
                  <a:gd name="T1" fmla="*/ 330 h 339"/>
                  <a:gd name="T2" fmla="*/ 223 w 795"/>
                  <a:gd name="T3" fmla="*/ 275 h 339"/>
                  <a:gd name="T4" fmla="*/ 765 w 795"/>
                  <a:gd name="T5" fmla="*/ 97 h 339"/>
                  <a:gd name="T6" fmla="*/ 795 w 795"/>
                  <a:gd name="T7" fmla="*/ 0 h 339"/>
                  <a:gd name="T8" fmla="*/ 204 w 795"/>
                  <a:gd name="T9" fmla="*/ 240 h 339"/>
                  <a:gd name="T10" fmla="*/ 0 w 795"/>
                  <a:gd name="T11" fmla="*/ 330 h 3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95" h="339">
                    <a:moveTo>
                      <a:pt x="0" y="330"/>
                    </a:moveTo>
                    <a:cubicBezTo>
                      <a:pt x="35" y="339"/>
                      <a:pt x="134" y="317"/>
                      <a:pt x="223" y="275"/>
                    </a:cubicBezTo>
                    <a:cubicBezTo>
                      <a:pt x="441" y="170"/>
                      <a:pt x="708" y="60"/>
                      <a:pt x="765" y="97"/>
                    </a:cubicBezTo>
                    <a:lnTo>
                      <a:pt x="795" y="0"/>
                    </a:lnTo>
                    <a:cubicBezTo>
                      <a:pt x="662" y="11"/>
                      <a:pt x="469" y="85"/>
                      <a:pt x="204" y="240"/>
                    </a:cubicBezTo>
                    <a:cubicBezTo>
                      <a:pt x="175" y="257"/>
                      <a:pt x="120" y="295"/>
                      <a:pt x="0" y="330"/>
                    </a:cubicBezTo>
                    <a:close/>
                  </a:path>
                </a:pathLst>
              </a:custGeom>
              <a:solidFill>
                <a:srgbClr val="FFFFC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47" name="Freeform 8"/>
              <p:cNvSpPr>
                <a:spLocks/>
              </p:cNvSpPr>
              <p:nvPr/>
            </p:nvSpPr>
            <p:spPr bwMode="auto">
              <a:xfrm>
                <a:off x="1880031" y="5496043"/>
                <a:ext cx="33338" cy="153988"/>
              </a:xfrm>
              <a:custGeom>
                <a:avLst/>
                <a:gdLst>
                  <a:gd name="T0" fmla="*/ 39 w 69"/>
                  <a:gd name="T1" fmla="*/ 0 h 316"/>
                  <a:gd name="T2" fmla="*/ 10 w 69"/>
                  <a:gd name="T3" fmla="*/ 75 h 316"/>
                  <a:gd name="T4" fmla="*/ 4 w 69"/>
                  <a:gd name="T5" fmla="*/ 133 h 316"/>
                  <a:gd name="T6" fmla="*/ 9 w 69"/>
                  <a:gd name="T7" fmla="*/ 258 h 316"/>
                  <a:gd name="T8" fmla="*/ 18 w 69"/>
                  <a:gd name="T9" fmla="*/ 310 h 316"/>
                  <a:gd name="T10" fmla="*/ 31 w 69"/>
                  <a:gd name="T11" fmla="*/ 316 h 316"/>
                  <a:gd name="T12" fmla="*/ 45 w 69"/>
                  <a:gd name="T13" fmla="*/ 316 h 316"/>
                  <a:gd name="T14" fmla="*/ 53 w 69"/>
                  <a:gd name="T15" fmla="*/ 286 h 316"/>
                  <a:gd name="T16" fmla="*/ 40 w 69"/>
                  <a:gd name="T17" fmla="*/ 163 h 316"/>
                  <a:gd name="T18" fmla="*/ 36 w 69"/>
                  <a:gd name="T19" fmla="*/ 98 h 316"/>
                  <a:gd name="T20" fmla="*/ 47 w 69"/>
                  <a:gd name="T21" fmla="*/ 56 h 316"/>
                  <a:gd name="T22" fmla="*/ 69 w 69"/>
                  <a:gd name="T23" fmla="*/ 14 h 316"/>
                  <a:gd name="T24" fmla="*/ 39 w 69"/>
                  <a:gd name="T25" fmla="*/ 0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316">
                    <a:moveTo>
                      <a:pt x="39" y="0"/>
                    </a:moveTo>
                    <a:lnTo>
                      <a:pt x="10" y="75"/>
                    </a:lnTo>
                    <a:cubicBezTo>
                      <a:pt x="10" y="75"/>
                      <a:pt x="0" y="132"/>
                      <a:pt x="4" y="133"/>
                    </a:cubicBezTo>
                    <a:cubicBezTo>
                      <a:pt x="7" y="133"/>
                      <a:pt x="9" y="258"/>
                      <a:pt x="9" y="258"/>
                    </a:cubicBezTo>
                    <a:lnTo>
                      <a:pt x="18" y="310"/>
                    </a:lnTo>
                    <a:lnTo>
                      <a:pt x="31" y="316"/>
                    </a:lnTo>
                    <a:lnTo>
                      <a:pt x="45" y="316"/>
                    </a:lnTo>
                    <a:lnTo>
                      <a:pt x="53" y="286"/>
                    </a:lnTo>
                    <a:lnTo>
                      <a:pt x="40" y="163"/>
                    </a:lnTo>
                    <a:lnTo>
                      <a:pt x="36" y="98"/>
                    </a:lnTo>
                    <a:lnTo>
                      <a:pt x="47" y="56"/>
                    </a:lnTo>
                    <a:lnTo>
                      <a:pt x="69" y="1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C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48" name="Freeform 9"/>
              <p:cNvSpPr>
                <a:spLocks noEditPoints="1"/>
              </p:cNvSpPr>
              <p:nvPr/>
            </p:nvSpPr>
            <p:spPr bwMode="auto">
              <a:xfrm>
                <a:off x="1876856" y="5489693"/>
                <a:ext cx="41275" cy="166688"/>
              </a:xfrm>
              <a:custGeom>
                <a:avLst/>
                <a:gdLst>
                  <a:gd name="T0" fmla="*/ 45 w 85"/>
                  <a:gd name="T1" fmla="*/ 0 h 342"/>
                  <a:gd name="T2" fmla="*/ 42 w 85"/>
                  <a:gd name="T3" fmla="*/ 6 h 342"/>
                  <a:gd name="T4" fmla="*/ 5 w 85"/>
                  <a:gd name="T5" fmla="*/ 114 h 342"/>
                  <a:gd name="T6" fmla="*/ 13 w 85"/>
                  <a:gd name="T7" fmla="*/ 318 h 342"/>
                  <a:gd name="T8" fmla="*/ 14 w 85"/>
                  <a:gd name="T9" fmla="*/ 318 h 342"/>
                  <a:gd name="T10" fmla="*/ 14 w 85"/>
                  <a:gd name="T11" fmla="*/ 318 h 342"/>
                  <a:gd name="T12" fmla="*/ 26 w 85"/>
                  <a:gd name="T13" fmla="*/ 338 h 342"/>
                  <a:gd name="T14" fmla="*/ 49 w 85"/>
                  <a:gd name="T15" fmla="*/ 339 h 342"/>
                  <a:gd name="T16" fmla="*/ 63 w 85"/>
                  <a:gd name="T17" fmla="*/ 317 h 342"/>
                  <a:gd name="T18" fmla="*/ 49 w 85"/>
                  <a:gd name="T19" fmla="*/ 174 h 342"/>
                  <a:gd name="T20" fmla="*/ 48 w 85"/>
                  <a:gd name="T21" fmla="*/ 117 h 342"/>
                  <a:gd name="T22" fmla="*/ 81 w 85"/>
                  <a:gd name="T23" fmla="*/ 28 h 342"/>
                  <a:gd name="T24" fmla="*/ 85 w 85"/>
                  <a:gd name="T25" fmla="*/ 22 h 342"/>
                  <a:gd name="T26" fmla="*/ 79 w 85"/>
                  <a:gd name="T27" fmla="*/ 19 h 342"/>
                  <a:gd name="T28" fmla="*/ 50 w 85"/>
                  <a:gd name="T29" fmla="*/ 3 h 342"/>
                  <a:gd name="T30" fmla="*/ 45 w 85"/>
                  <a:gd name="T31" fmla="*/ 0 h 342"/>
                  <a:gd name="T32" fmla="*/ 50 w 85"/>
                  <a:gd name="T33" fmla="*/ 17 h 342"/>
                  <a:gd name="T34" fmla="*/ 67 w 85"/>
                  <a:gd name="T35" fmla="*/ 27 h 342"/>
                  <a:gd name="T36" fmla="*/ 35 w 85"/>
                  <a:gd name="T37" fmla="*/ 115 h 342"/>
                  <a:gd name="T38" fmla="*/ 50 w 85"/>
                  <a:gd name="T39" fmla="*/ 318 h 342"/>
                  <a:gd name="T40" fmla="*/ 41 w 85"/>
                  <a:gd name="T41" fmla="*/ 327 h 342"/>
                  <a:gd name="T42" fmla="*/ 26 w 85"/>
                  <a:gd name="T43" fmla="*/ 316 h 342"/>
                  <a:gd name="T44" fmla="*/ 17 w 85"/>
                  <a:gd name="T45" fmla="*/ 118 h 342"/>
                  <a:gd name="T46" fmla="*/ 50 w 85"/>
                  <a:gd name="T47" fmla="*/ 17 h 3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85" h="342">
                    <a:moveTo>
                      <a:pt x="45" y="0"/>
                    </a:moveTo>
                    <a:lnTo>
                      <a:pt x="42" y="6"/>
                    </a:lnTo>
                    <a:cubicBezTo>
                      <a:pt x="20" y="50"/>
                      <a:pt x="7" y="101"/>
                      <a:pt x="5" y="114"/>
                    </a:cubicBezTo>
                    <a:cubicBezTo>
                      <a:pt x="0" y="154"/>
                      <a:pt x="5" y="266"/>
                      <a:pt x="13" y="318"/>
                    </a:cubicBezTo>
                    <a:lnTo>
                      <a:pt x="14" y="318"/>
                    </a:lnTo>
                    <a:lnTo>
                      <a:pt x="14" y="318"/>
                    </a:lnTo>
                    <a:cubicBezTo>
                      <a:pt x="16" y="328"/>
                      <a:pt x="21" y="334"/>
                      <a:pt x="26" y="338"/>
                    </a:cubicBezTo>
                    <a:cubicBezTo>
                      <a:pt x="31" y="342"/>
                      <a:pt x="43" y="342"/>
                      <a:pt x="49" y="339"/>
                    </a:cubicBezTo>
                    <a:cubicBezTo>
                      <a:pt x="60" y="332"/>
                      <a:pt x="61" y="328"/>
                      <a:pt x="63" y="317"/>
                    </a:cubicBezTo>
                    <a:cubicBezTo>
                      <a:pt x="63" y="311"/>
                      <a:pt x="54" y="228"/>
                      <a:pt x="49" y="174"/>
                    </a:cubicBezTo>
                    <a:cubicBezTo>
                      <a:pt x="46" y="139"/>
                      <a:pt x="47" y="128"/>
                      <a:pt x="48" y="117"/>
                    </a:cubicBezTo>
                    <a:cubicBezTo>
                      <a:pt x="50" y="94"/>
                      <a:pt x="61" y="58"/>
                      <a:pt x="81" y="28"/>
                    </a:cubicBezTo>
                    <a:lnTo>
                      <a:pt x="85" y="22"/>
                    </a:lnTo>
                    <a:lnTo>
                      <a:pt x="79" y="19"/>
                    </a:lnTo>
                    <a:lnTo>
                      <a:pt x="50" y="3"/>
                    </a:lnTo>
                    <a:lnTo>
                      <a:pt x="45" y="0"/>
                    </a:lnTo>
                    <a:close/>
                    <a:moveTo>
                      <a:pt x="50" y="17"/>
                    </a:moveTo>
                    <a:lnTo>
                      <a:pt x="67" y="27"/>
                    </a:lnTo>
                    <a:cubicBezTo>
                      <a:pt x="45" y="59"/>
                      <a:pt x="41" y="78"/>
                      <a:pt x="35" y="115"/>
                    </a:cubicBezTo>
                    <a:cubicBezTo>
                      <a:pt x="30" y="136"/>
                      <a:pt x="49" y="269"/>
                      <a:pt x="50" y="318"/>
                    </a:cubicBezTo>
                    <a:cubicBezTo>
                      <a:pt x="50" y="323"/>
                      <a:pt x="46" y="326"/>
                      <a:pt x="41" y="327"/>
                    </a:cubicBezTo>
                    <a:cubicBezTo>
                      <a:pt x="32" y="327"/>
                      <a:pt x="27" y="321"/>
                      <a:pt x="26" y="316"/>
                    </a:cubicBezTo>
                    <a:cubicBezTo>
                      <a:pt x="15" y="240"/>
                      <a:pt x="16" y="124"/>
                      <a:pt x="17" y="118"/>
                    </a:cubicBezTo>
                    <a:cubicBezTo>
                      <a:pt x="19" y="98"/>
                      <a:pt x="33" y="47"/>
                      <a:pt x="50" y="17"/>
                    </a:cubicBezTo>
                    <a:close/>
                  </a:path>
                </a:pathLst>
              </a:custGeom>
              <a:solidFill>
                <a:srgbClr val="D0D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49" name="Freeform 10"/>
              <p:cNvSpPr>
                <a:spLocks/>
              </p:cNvSpPr>
              <p:nvPr/>
            </p:nvSpPr>
            <p:spPr bwMode="auto">
              <a:xfrm>
                <a:off x="1930831" y="5489693"/>
                <a:ext cx="34925" cy="166688"/>
              </a:xfrm>
              <a:custGeom>
                <a:avLst/>
                <a:gdLst>
                  <a:gd name="T0" fmla="*/ 0 w 71"/>
                  <a:gd name="T1" fmla="*/ 16 h 341"/>
                  <a:gd name="T2" fmla="*/ 41 w 71"/>
                  <a:gd name="T3" fmla="*/ 117 h 341"/>
                  <a:gd name="T4" fmla="*/ 20 w 71"/>
                  <a:gd name="T5" fmla="*/ 309 h 341"/>
                  <a:gd name="T6" fmla="*/ 56 w 71"/>
                  <a:gd name="T7" fmla="*/ 308 h 341"/>
                  <a:gd name="T8" fmla="*/ 71 w 71"/>
                  <a:gd name="T9" fmla="*/ 110 h 341"/>
                  <a:gd name="T10" fmla="*/ 29 w 71"/>
                  <a:gd name="T11" fmla="*/ 0 h 341"/>
                  <a:gd name="T12" fmla="*/ 0 w 71"/>
                  <a:gd name="T13" fmla="*/ 16 h 3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1" h="341">
                    <a:moveTo>
                      <a:pt x="0" y="16"/>
                    </a:moveTo>
                    <a:cubicBezTo>
                      <a:pt x="20" y="46"/>
                      <a:pt x="41" y="91"/>
                      <a:pt x="41" y="117"/>
                    </a:cubicBezTo>
                    <a:cubicBezTo>
                      <a:pt x="39" y="248"/>
                      <a:pt x="28" y="246"/>
                      <a:pt x="20" y="309"/>
                    </a:cubicBezTo>
                    <a:cubicBezTo>
                      <a:pt x="19" y="326"/>
                      <a:pt x="48" y="341"/>
                      <a:pt x="56" y="308"/>
                    </a:cubicBezTo>
                    <a:cubicBezTo>
                      <a:pt x="70" y="225"/>
                      <a:pt x="71" y="157"/>
                      <a:pt x="71" y="110"/>
                    </a:cubicBezTo>
                    <a:cubicBezTo>
                      <a:pt x="64" y="67"/>
                      <a:pt x="45" y="34"/>
                      <a:pt x="29" y="0"/>
                    </a:cubicBezTo>
                    <a:lnTo>
                      <a:pt x="0" y="16"/>
                    </a:lnTo>
                    <a:close/>
                  </a:path>
                </a:pathLst>
              </a:custGeom>
              <a:solidFill>
                <a:srgbClr val="FFFFCB"/>
              </a:solidFill>
              <a:ln w="6350" cap="flat">
                <a:solidFill>
                  <a:srgbClr val="D0D08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0" name="Freeform 11"/>
              <p:cNvSpPr>
                <a:spLocks/>
              </p:cNvSpPr>
              <p:nvPr/>
            </p:nvSpPr>
            <p:spPr bwMode="auto">
              <a:xfrm>
                <a:off x="1594281" y="5027730"/>
                <a:ext cx="412750" cy="390525"/>
              </a:xfrm>
              <a:custGeom>
                <a:avLst/>
                <a:gdLst>
                  <a:gd name="T0" fmla="*/ 437 w 842"/>
                  <a:gd name="T1" fmla="*/ 1 h 801"/>
                  <a:gd name="T2" fmla="*/ 317 w 842"/>
                  <a:gd name="T3" fmla="*/ 20 h 801"/>
                  <a:gd name="T4" fmla="*/ 3 w 842"/>
                  <a:gd name="T5" fmla="*/ 429 h 801"/>
                  <a:gd name="T6" fmla="*/ 86 w 842"/>
                  <a:gd name="T7" fmla="*/ 702 h 801"/>
                  <a:gd name="T8" fmla="*/ 225 w 842"/>
                  <a:gd name="T9" fmla="*/ 792 h 801"/>
                  <a:gd name="T10" fmla="*/ 277 w 842"/>
                  <a:gd name="T11" fmla="*/ 789 h 801"/>
                  <a:gd name="T12" fmla="*/ 148 w 842"/>
                  <a:gd name="T13" fmla="*/ 700 h 801"/>
                  <a:gd name="T14" fmla="*/ 55 w 842"/>
                  <a:gd name="T15" fmla="*/ 439 h 801"/>
                  <a:gd name="T16" fmla="*/ 127 w 842"/>
                  <a:gd name="T17" fmla="*/ 215 h 801"/>
                  <a:gd name="T18" fmla="*/ 328 w 842"/>
                  <a:gd name="T19" fmla="*/ 65 h 801"/>
                  <a:gd name="T20" fmla="*/ 706 w 842"/>
                  <a:gd name="T21" fmla="*/ 176 h 801"/>
                  <a:gd name="T22" fmla="*/ 750 w 842"/>
                  <a:gd name="T23" fmla="*/ 558 h 801"/>
                  <a:gd name="T24" fmla="*/ 605 w 842"/>
                  <a:gd name="T25" fmla="*/ 801 h 801"/>
                  <a:gd name="T26" fmla="*/ 658 w 842"/>
                  <a:gd name="T27" fmla="*/ 751 h 801"/>
                  <a:gd name="T28" fmla="*/ 790 w 842"/>
                  <a:gd name="T29" fmla="*/ 538 h 801"/>
                  <a:gd name="T30" fmla="*/ 738 w 842"/>
                  <a:gd name="T31" fmla="*/ 157 h 801"/>
                  <a:gd name="T32" fmla="*/ 437 w 842"/>
                  <a:gd name="T33" fmla="*/ 1 h 8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42" h="801">
                    <a:moveTo>
                      <a:pt x="437" y="1"/>
                    </a:moveTo>
                    <a:cubicBezTo>
                      <a:pt x="397" y="2"/>
                      <a:pt x="357" y="8"/>
                      <a:pt x="317" y="20"/>
                    </a:cubicBezTo>
                    <a:cubicBezTo>
                      <a:pt x="160" y="69"/>
                      <a:pt x="7" y="207"/>
                      <a:pt x="3" y="429"/>
                    </a:cubicBezTo>
                    <a:cubicBezTo>
                      <a:pt x="1" y="536"/>
                      <a:pt x="0" y="587"/>
                      <a:pt x="86" y="702"/>
                    </a:cubicBezTo>
                    <a:cubicBezTo>
                      <a:pt x="116" y="742"/>
                      <a:pt x="159" y="777"/>
                      <a:pt x="225" y="792"/>
                    </a:cubicBezTo>
                    <a:lnTo>
                      <a:pt x="277" y="789"/>
                    </a:lnTo>
                    <a:cubicBezTo>
                      <a:pt x="219" y="753"/>
                      <a:pt x="172" y="728"/>
                      <a:pt x="148" y="700"/>
                    </a:cubicBezTo>
                    <a:cubicBezTo>
                      <a:pt x="59" y="596"/>
                      <a:pt x="53" y="543"/>
                      <a:pt x="55" y="439"/>
                    </a:cubicBezTo>
                    <a:cubicBezTo>
                      <a:pt x="57" y="348"/>
                      <a:pt x="88" y="272"/>
                      <a:pt x="127" y="215"/>
                    </a:cubicBezTo>
                    <a:cubicBezTo>
                      <a:pt x="178" y="138"/>
                      <a:pt x="246" y="90"/>
                      <a:pt x="328" y="65"/>
                    </a:cubicBezTo>
                    <a:cubicBezTo>
                      <a:pt x="472" y="21"/>
                      <a:pt x="631" y="52"/>
                      <a:pt x="706" y="176"/>
                    </a:cubicBezTo>
                    <a:cubicBezTo>
                      <a:pt x="756" y="260"/>
                      <a:pt x="802" y="395"/>
                      <a:pt x="750" y="558"/>
                    </a:cubicBezTo>
                    <a:cubicBezTo>
                      <a:pt x="728" y="623"/>
                      <a:pt x="660" y="715"/>
                      <a:pt x="605" y="801"/>
                    </a:cubicBezTo>
                    <a:lnTo>
                      <a:pt x="658" y="751"/>
                    </a:lnTo>
                    <a:cubicBezTo>
                      <a:pt x="715" y="680"/>
                      <a:pt x="765" y="620"/>
                      <a:pt x="790" y="538"/>
                    </a:cubicBezTo>
                    <a:cubicBezTo>
                      <a:pt x="842" y="362"/>
                      <a:pt x="792" y="248"/>
                      <a:pt x="738" y="157"/>
                    </a:cubicBezTo>
                    <a:cubicBezTo>
                      <a:pt x="674" y="51"/>
                      <a:pt x="558" y="0"/>
                      <a:pt x="43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1" name="Freeform 12"/>
              <p:cNvSpPr>
                <a:spLocks/>
              </p:cNvSpPr>
              <p:nvPr/>
            </p:nvSpPr>
            <p:spPr bwMode="auto">
              <a:xfrm>
                <a:off x="1495856" y="4959468"/>
                <a:ext cx="781050" cy="1508125"/>
              </a:xfrm>
              <a:custGeom>
                <a:avLst/>
                <a:gdLst>
                  <a:gd name="T0" fmla="*/ 1337 w 1596"/>
                  <a:gd name="T1" fmla="*/ 119 h 3084"/>
                  <a:gd name="T2" fmla="*/ 843 w 1596"/>
                  <a:gd name="T3" fmla="*/ 884 h 3084"/>
                  <a:gd name="T4" fmla="*/ 1074 w 1596"/>
                  <a:gd name="T5" fmla="*/ 659 h 3084"/>
                  <a:gd name="T6" fmla="*/ 1443 w 1596"/>
                  <a:gd name="T7" fmla="*/ 62 h 3084"/>
                  <a:gd name="T8" fmla="*/ 1534 w 1596"/>
                  <a:gd name="T9" fmla="*/ 60 h 3084"/>
                  <a:gd name="T10" fmla="*/ 1432 w 1596"/>
                  <a:gd name="T11" fmla="*/ 563 h 3084"/>
                  <a:gd name="T12" fmla="*/ 1223 w 1596"/>
                  <a:gd name="T13" fmla="*/ 1138 h 3084"/>
                  <a:gd name="T14" fmla="*/ 1212 w 1596"/>
                  <a:gd name="T15" fmla="*/ 1557 h 3084"/>
                  <a:gd name="T16" fmla="*/ 1300 w 1596"/>
                  <a:gd name="T17" fmla="*/ 2502 h 3084"/>
                  <a:gd name="T18" fmla="*/ 1164 w 1596"/>
                  <a:gd name="T19" fmla="*/ 3023 h 3084"/>
                  <a:gd name="T20" fmla="*/ 1025 w 1596"/>
                  <a:gd name="T21" fmla="*/ 2455 h 3084"/>
                  <a:gd name="T22" fmla="*/ 905 w 1596"/>
                  <a:gd name="T23" fmla="*/ 2136 h 3084"/>
                  <a:gd name="T24" fmla="*/ 851 w 1596"/>
                  <a:gd name="T25" fmla="*/ 2167 h 3084"/>
                  <a:gd name="T26" fmla="*/ 618 w 1596"/>
                  <a:gd name="T27" fmla="*/ 3020 h 3084"/>
                  <a:gd name="T28" fmla="*/ 567 w 1596"/>
                  <a:gd name="T29" fmla="*/ 3030 h 3084"/>
                  <a:gd name="T30" fmla="*/ 489 w 1596"/>
                  <a:gd name="T31" fmla="*/ 2842 h 3084"/>
                  <a:gd name="T32" fmla="*/ 437 w 1596"/>
                  <a:gd name="T33" fmla="*/ 1615 h 3084"/>
                  <a:gd name="T34" fmla="*/ 363 w 1596"/>
                  <a:gd name="T35" fmla="*/ 1555 h 3084"/>
                  <a:gd name="T36" fmla="*/ 360 w 1596"/>
                  <a:gd name="T37" fmla="*/ 1557 h 3084"/>
                  <a:gd name="T38" fmla="*/ 246 w 1596"/>
                  <a:gd name="T39" fmla="*/ 1791 h 3084"/>
                  <a:gd name="T40" fmla="*/ 163 w 1596"/>
                  <a:gd name="T41" fmla="*/ 2157 h 3084"/>
                  <a:gd name="T42" fmla="*/ 121 w 1596"/>
                  <a:gd name="T43" fmla="*/ 2156 h 3084"/>
                  <a:gd name="T44" fmla="*/ 82 w 1596"/>
                  <a:gd name="T45" fmla="*/ 2081 h 3084"/>
                  <a:gd name="T46" fmla="*/ 305 w 1596"/>
                  <a:gd name="T47" fmla="*/ 1017 h 3084"/>
                  <a:gd name="T48" fmla="*/ 278 w 1596"/>
                  <a:gd name="T49" fmla="*/ 997 h 3084"/>
                  <a:gd name="T50" fmla="*/ 40 w 1596"/>
                  <a:gd name="T51" fmla="*/ 2105 h 3084"/>
                  <a:gd name="T52" fmla="*/ 132 w 1596"/>
                  <a:gd name="T53" fmla="*/ 2209 h 3084"/>
                  <a:gd name="T54" fmla="*/ 261 w 1596"/>
                  <a:gd name="T55" fmla="*/ 1984 h 3084"/>
                  <a:gd name="T56" fmla="*/ 334 w 1596"/>
                  <a:gd name="T57" fmla="*/ 1623 h 3084"/>
                  <a:gd name="T58" fmla="*/ 373 w 1596"/>
                  <a:gd name="T59" fmla="*/ 1589 h 3084"/>
                  <a:gd name="T60" fmla="*/ 426 w 1596"/>
                  <a:gd name="T61" fmla="*/ 1788 h 3084"/>
                  <a:gd name="T62" fmla="*/ 488 w 1596"/>
                  <a:gd name="T63" fmla="*/ 3017 h 3084"/>
                  <a:gd name="T64" fmla="*/ 638 w 1596"/>
                  <a:gd name="T65" fmla="*/ 3065 h 3084"/>
                  <a:gd name="T66" fmla="*/ 891 w 1596"/>
                  <a:gd name="T67" fmla="*/ 2186 h 3084"/>
                  <a:gd name="T68" fmla="*/ 987 w 1596"/>
                  <a:gd name="T69" fmla="*/ 2456 h 3084"/>
                  <a:gd name="T70" fmla="*/ 1115 w 1596"/>
                  <a:gd name="T71" fmla="*/ 3065 h 3084"/>
                  <a:gd name="T72" fmla="*/ 1176 w 1596"/>
                  <a:gd name="T73" fmla="*/ 3071 h 3084"/>
                  <a:gd name="T74" fmla="*/ 1337 w 1596"/>
                  <a:gd name="T75" fmla="*/ 2504 h 3084"/>
                  <a:gd name="T76" fmla="*/ 1260 w 1596"/>
                  <a:gd name="T77" fmla="*/ 1564 h 3084"/>
                  <a:gd name="T78" fmla="*/ 1282 w 1596"/>
                  <a:gd name="T79" fmla="*/ 994 h 3084"/>
                  <a:gd name="T80" fmla="*/ 1319 w 1596"/>
                  <a:gd name="T81" fmla="*/ 893 h 3084"/>
                  <a:gd name="T82" fmla="*/ 1591 w 1596"/>
                  <a:gd name="T83" fmla="*/ 79 h 3084"/>
                  <a:gd name="T84" fmla="*/ 1532 w 1596"/>
                  <a:gd name="T85" fmla="*/ 1 h 30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1596" h="3084">
                    <a:moveTo>
                      <a:pt x="1524" y="0"/>
                    </a:moveTo>
                    <a:cubicBezTo>
                      <a:pt x="1483" y="1"/>
                      <a:pt x="1451" y="14"/>
                      <a:pt x="1419" y="33"/>
                    </a:cubicBezTo>
                    <a:cubicBezTo>
                      <a:pt x="1388" y="53"/>
                      <a:pt x="1361" y="83"/>
                      <a:pt x="1337" y="119"/>
                    </a:cubicBezTo>
                    <a:cubicBezTo>
                      <a:pt x="1288" y="190"/>
                      <a:pt x="1248" y="287"/>
                      <a:pt x="1196" y="390"/>
                    </a:cubicBezTo>
                    <a:cubicBezTo>
                      <a:pt x="1131" y="516"/>
                      <a:pt x="1060" y="620"/>
                      <a:pt x="982" y="720"/>
                    </a:cubicBezTo>
                    <a:cubicBezTo>
                      <a:pt x="938" y="777"/>
                      <a:pt x="897" y="845"/>
                      <a:pt x="843" y="884"/>
                    </a:cubicBezTo>
                    <a:lnTo>
                      <a:pt x="809" y="936"/>
                    </a:lnTo>
                    <a:cubicBezTo>
                      <a:pt x="846" y="909"/>
                      <a:pt x="899" y="857"/>
                      <a:pt x="935" y="822"/>
                    </a:cubicBezTo>
                    <a:cubicBezTo>
                      <a:pt x="989" y="768"/>
                      <a:pt x="1025" y="726"/>
                      <a:pt x="1074" y="659"/>
                    </a:cubicBezTo>
                    <a:cubicBezTo>
                      <a:pt x="1133" y="578"/>
                      <a:pt x="1186" y="491"/>
                      <a:pt x="1229" y="407"/>
                    </a:cubicBezTo>
                    <a:cubicBezTo>
                      <a:pt x="1282" y="303"/>
                      <a:pt x="1323" y="206"/>
                      <a:pt x="1368" y="140"/>
                    </a:cubicBezTo>
                    <a:cubicBezTo>
                      <a:pt x="1390" y="107"/>
                      <a:pt x="1418" y="78"/>
                      <a:pt x="1443" y="62"/>
                    </a:cubicBezTo>
                    <a:cubicBezTo>
                      <a:pt x="1464" y="50"/>
                      <a:pt x="1473" y="46"/>
                      <a:pt x="1501" y="45"/>
                    </a:cubicBezTo>
                    <a:cubicBezTo>
                      <a:pt x="1506" y="45"/>
                      <a:pt x="1514" y="47"/>
                      <a:pt x="1519" y="49"/>
                    </a:cubicBezTo>
                    <a:cubicBezTo>
                      <a:pt x="1524" y="52"/>
                      <a:pt x="1529" y="54"/>
                      <a:pt x="1534" y="60"/>
                    </a:cubicBezTo>
                    <a:cubicBezTo>
                      <a:pt x="1540" y="66"/>
                      <a:pt x="1548" y="76"/>
                      <a:pt x="1550" y="92"/>
                    </a:cubicBezTo>
                    <a:cubicBezTo>
                      <a:pt x="1554" y="122"/>
                      <a:pt x="1551" y="167"/>
                      <a:pt x="1542" y="218"/>
                    </a:cubicBezTo>
                    <a:cubicBezTo>
                      <a:pt x="1524" y="320"/>
                      <a:pt x="1482" y="450"/>
                      <a:pt x="1432" y="563"/>
                    </a:cubicBezTo>
                    <a:cubicBezTo>
                      <a:pt x="1376" y="687"/>
                      <a:pt x="1318" y="775"/>
                      <a:pt x="1287" y="884"/>
                    </a:cubicBezTo>
                    <a:cubicBezTo>
                      <a:pt x="1286" y="885"/>
                      <a:pt x="1284" y="888"/>
                      <a:pt x="1284" y="889"/>
                    </a:cubicBezTo>
                    <a:cubicBezTo>
                      <a:pt x="1264" y="918"/>
                      <a:pt x="1231" y="1028"/>
                      <a:pt x="1223" y="1138"/>
                    </a:cubicBezTo>
                    <a:cubicBezTo>
                      <a:pt x="1214" y="1251"/>
                      <a:pt x="1201" y="1379"/>
                      <a:pt x="1210" y="1532"/>
                    </a:cubicBezTo>
                    <a:lnTo>
                      <a:pt x="1211" y="1548"/>
                    </a:lnTo>
                    <a:lnTo>
                      <a:pt x="1212" y="1557"/>
                    </a:lnTo>
                    <a:cubicBezTo>
                      <a:pt x="1237" y="1751"/>
                      <a:pt x="1259" y="1880"/>
                      <a:pt x="1281" y="2054"/>
                    </a:cubicBezTo>
                    <a:cubicBezTo>
                      <a:pt x="1299" y="2191"/>
                      <a:pt x="1300" y="2324"/>
                      <a:pt x="1302" y="2445"/>
                    </a:cubicBezTo>
                    <a:cubicBezTo>
                      <a:pt x="1302" y="2446"/>
                      <a:pt x="1300" y="2501"/>
                      <a:pt x="1300" y="2502"/>
                    </a:cubicBezTo>
                    <a:cubicBezTo>
                      <a:pt x="1291" y="2632"/>
                      <a:pt x="1286" y="2740"/>
                      <a:pt x="1261" y="2843"/>
                    </a:cubicBezTo>
                    <a:cubicBezTo>
                      <a:pt x="1249" y="2895"/>
                      <a:pt x="1241" y="2940"/>
                      <a:pt x="1224" y="2973"/>
                    </a:cubicBezTo>
                    <a:cubicBezTo>
                      <a:pt x="1208" y="3004"/>
                      <a:pt x="1186" y="3017"/>
                      <a:pt x="1164" y="3023"/>
                    </a:cubicBezTo>
                    <a:cubicBezTo>
                      <a:pt x="1127" y="3021"/>
                      <a:pt x="1098" y="2992"/>
                      <a:pt x="1076" y="2952"/>
                    </a:cubicBezTo>
                    <a:cubicBezTo>
                      <a:pt x="1054" y="2910"/>
                      <a:pt x="1040" y="2856"/>
                      <a:pt x="1033" y="2797"/>
                    </a:cubicBezTo>
                    <a:cubicBezTo>
                      <a:pt x="1018" y="2679"/>
                      <a:pt x="1028" y="2545"/>
                      <a:pt x="1025" y="2455"/>
                    </a:cubicBezTo>
                    <a:cubicBezTo>
                      <a:pt x="1023" y="2392"/>
                      <a:pt x="1001" y="2290"/>
                      <a:pt x="972" y="2232"/>
                    </a:cubicBezTo>
                    <a:cubicBezTo>
                      <a:pt x="958" y="2203"/>
                      <a:pt x="942" y="2178"/>
                      <a:pt x="927" y="2159"/>
                    </a:cubicBezTo>
                    <a:cubicBezTo>
                      <a:pt x="920" y="2150"/>
                      <a:pt x="913" y="2142"/>
                      <a:pt x="905" y="2136"/>
                    </a:cubicBezTo>
                    <a:cubicBezTo>
                      <a:pt x="897" y="2130"/>
                      <a:pt x="873" y="2128"/>
                      <a:pt x="861" y="2128"/>
                    </a:cubicBezTo>
                    <a:lnTo>
                      <a:pt x="855" y="2153"/>
                    </a:lnTo>
                    <a:lnTo>
                      <a:pt x="851" y="2167"/>
                    </a:lnTo>
                    <a:cubicBezTo>
                      <a:pt x="816" y="2323"/>
                      <a:pt x="770" y="2596"/>
                      <a:pt x="733" y="2745"/>
                    </a:cubicBezTo>
                    <a:cubicBezTo>
                      <a:pt x="711" y="2836"/>
                      <a:pt x="686" y="2925"/>
                      <a:pt x="659" y="2980"/>
                    </a:cubicBezTo>
                    <a:cubicBezTo>
                      <a:pt x="646" y="3007"/>
                      <a:pt x="622" y="3017"/>
                      <a:pt x="618" y="3020"/>
                    </a:cubicBezTo>
                    <a:cubicBezTo>
                      <a:pt x="610" y="3024"/>
                      <a:pt x="612" y="3023"/>
                      <a:pt x="593" y="3028"/>
                    </a:cubicBezTo>
                    <a:lnTo>
                      <a:pt x="578" y="3030"/>
                    </a:lnTo>
                    <a:lnTo>
                      <a:pt x="567" y="3030"/>
                    </a:lnTo>
                    <a:cubicBezTo>
                      <a:pt x="561" y="3029"/>
                      <a:pt x="558" y="3029"/>
                      <a:pt x="550" y="3025"/>
                    </a:cubicBezTo>
                    <a:cubicBezTo>
                      <a:pt x="543" y="3021"/>
                      <a:pt x="537" y="3014"/>
                      <a:pt x="528" y="2998"/>
                    </a:cubicBezTo>
                    <a:cubicBezTo>
                      <a:pt x="511" y="2969"/>
                      <a:pt x="496" y="2912"/>
                      <a:pt x="489" y="2842"/>
                    </a:cubicBezTo>
                    <a:cubicBezTo>
                      <a:pt x="474" y="2703"/>
                      <a:pt x="473" y="2509"/>
                      <a:pt x="473" y="2316"/>
                    </a:cubicBezTo>
                    <a:cubicBezTo>
                      <a:pt x="472" y="2122"/>
                      <a:pt x="474" y="1928"/>
                      <a:pt x="463" y="1785"/>
                    </a:cubicBezTo>
                    <a:cubicBezTo>
                      <a:pt x="458" y="1714"/>
                      <a:pt x="450" y="1656"/>
                      <a:pt x="437" y="1615"/>
                    </a:cubicBezTo>
                    <a:cubicBezTo>
                      <a:pt x="430" y="1595"/>
                      <a:pt x="422" y="1579"/>
                      <a:pt x="409" y="1567"/>
                    </a:cubicBezTo>
                    <a:cubicBezTo>
                      <a:pt x="397" y="1556"/>
                      <a:pt x="379" y="1552"/>
                      <a:pt x="363" y="1556"/>
                    </a:cubicBezTo>
                    <a:lnTo>
                      <a:pt x="363" y="1555"/>
                    </a:lnTo>
                    <a:cubicBezTo>
                      <a:pt x="362" y="1555"/>
                      <a:pt x="362" y="1556"/>
                      <a:pt x="361" y="1556"/>
                    </a:cubicBezTo>
                    <a:cubicBezTo>
                      <a:pt x="361" y="1556"/>
                      <a:pt x="360" y="1556"/>
                      <a:pt x="360" y="1556"/>
                    </a:cubicBezTo>
                    <a:lnTo>
                      <a:pt x="360" y="1557"/>
                    </a:lnTo>
                    <a:cubicBezTo>
                      <a:pt x="334" y="1562"/>
                      <a:pt x="314" y="1577"/>
                      <a:pt x="301" y="1594"/>
                    </a:cubicBezTo>
                    <a:cubicBezTo>
                      <a:pt x="288" y="1612"/>
                      <a:pt x="282" y="1631"/>
                      <a:pt x="276" y="1644"/>
                    </a:cubicBezTo>
                    <a:cubicBezTo>
                      <a:pt x="261" y="1679"/>
                      <a:pt x="253" y="1731"/>
                      <a:pt x="246" y="1791"/>
                    </a:cubicBezTo>
                    <a:cubicBezTo>
                      <a:pt x="239" y="1851"/>
                      <a:pt x="233" y="1918"/>
                      <a:pt x="224" y="1979"/>
                    </a:cubicBezTo>
                    <a:cubicBezTo>
                      <a:pt x="215" y="2039"/>
                      <a:pt x="203" y="2094"/>
                      <a:pt x="187" y="2126"/>
                    </a:cubicBezTo>
                    <a:cubicBezTo>
                      <a:pt x="179" y="2143"/>
                      <a:pt x="170" y="2153"/>
                      <a:pt x="163" y="2157"/>
                    </a:cubicBezTo>
                    <a:cubicBezTo>
                      <a:pt x="155" y="2161"/>
                      <a:pt x="150" y="2166"/>
                      <a:pt x="136" y="2163"/>
                    </a:cubicBezTo>
                    <a:lnTo>
                      <a:pt x="128" y="2160"/>
                    </a:lnTo>
                    <a:lnTo>
                      <a:pt x="121" y="2156"/>
                    </a:lnTo>
                    <a:cubicBezTo>
                      <a:pt x="121" y="2156"/>
                      <a:pt x="119" y="2155"/>
                      <a:pt x="117" y="2154"/>
                    </a:cubicBezTo>
                    <a:cubicBezTo>
                      <a:pt x="115" y="2152"/>
                      <a:pt x="114" y="2149"/>
                      <a:pt x="110" y="2143"/>
                    </a:cubicBezTo>
                    <a:cubicBezTo>
                      <a:pt x="101" y="2131"/>
                      <a:pt x="91" y="2110"/>
                      <a:pt x="82" y="2081"/>
                    </a:cubicBezTo>
                    <a:cubicBezTo>
                      <a:pt x="65" y="2024"/>
                      <a:pt x="51" y="1939"/>
                      <a:pt x="46" y="1839"/>
                    </a:cubicBezTo>
                    <a:cubicBezTo>
                      <a:pt x="38" y="1638"/>
                      <a:pt x="68" y="1375"/>
                      <a:pt x="181" y="1144"/>
                    </a:cubicBezTo>
                    <a:cubicBezTo>
                      <a:pt x="207" y="1089"/>
                      <a:pt x="254" y="1045"/>
                      <a:pt x="305" y="1017"/>
                    </a:cubicBezTo>
                    <a:cubicBezTo>
                      <a:pt x="355" y="990"/>
                      <a:pt x="457" y="942"/>
                      <a:pt x="520" y="915"/>
                    </a:cubicBezTo>
                    <a:lnTo>
                      <a:pt x="445" y="920"/>
                    </a:lnTo>
                    <a:cubicBezTo>
                      <a:pt x="377" y="950"/>
                      <a:pt x="332" y="967"/>
                      <a:pt x="278" y="997"/>
                    </a:cubicBezTo>
                    <a:cubicBezTo>
                      <a:pt x="224" y="1026"/>
                      <a:pt x="178" y="1065"/>
                      <a:pt x="147" y="1128"/>
                    </a:cubicBezTo>
                    <a:cubicBezTo>
                      <a:pt x="31" y="1366"/>
                      <a:pt x="0" y="1634"/>
                      <a:pt x="9" y="1840"/>
                    </a:cubicBezTo>
                    <a:cubicBezTo>
                      <a:pt x="13" y="1943"/>
                      <a:pt x="21" y="2043"/>
                      <a:pt x="40" y="2105"/>
                    </a:cubicBezTo>
                    <a:cubicBezTo>
                      <a:pt x="50" y="2136"/>
                      <a:pt x="60" y="2162"/>
                      <a:pt x="73" y="2179"/>
                    </a:cubicBezTo>
                    <a:cubicBezTo>
                      <a:pt x="79" y="2188"/>
                      <a:pt x="92" y="2197"/>
                      <a:pt x="101" y="2203"/>
                    </a:cubicBezTo>
                    <a:cubicBezTo>
                      <a:pt x="108" y="2206"/>
                      <a:pt x="123" y="2210"/>
                      <a:pt x="132" y="2209"/>
                    </a:cubicBezTo>
                    <a:cubicBezTo>
                      <a:pt x="150" y="2209"/>
                      <a:pt x="161" y="2206"/>
                      <a:pt x="178" y="2198"/>
                    </a:cubicBezTo>
                    <a:cubicBezTo>
                      <a:pt x="195" y="2188"/>
                      <a:pt x="211" y="2163"/>
                      <a:pt x="221" y="2143"/>
                    </a:cubicBezTo>
                    <a:cubicBezTo>
                      <a:pt x="241" y="2103"/>
                      <a:pt x="252" y="2046"/>
                      <a:pt x="261" y="1984"/>
                    </a:cubicBezTo>
                    <a:cubicBezTo>
                      <a:pt x="270" y="1922"/>
                      <a:pt x="280" y="1861"/>
                      <a:pt x="287" y="1802"/>
                    </a:cubicBezTo>
                    <a:cubicBezTo>
                      <a:pt x="294" y="1743"/>
                      <a:pt x="303" y="1692"/>
                      <a:pt x="315" y="1665"/>
                    </a:cubicBezTo>
                    <a:cubicBezTo>
                      <a:pt x="321" y="1651"/>
                      <a:pt x="325" y="1636"/>
                      <a:pt x="334" y="1623"/>
                    </a:cubicBezTo>
                    <a:cubicBezTo>
                      <a:pt x="343" y="1611"/>
                      <a:pt x="354" y="1591"/>
                      <a:pt x="372" y="1588"/>
                    </a:cubicBezTo>
                    <a:lnTo>
                      <a:pt x="371" y="1589"/>
                    </a:lnTo>
                    <a:lnTo>
                      <a:pt x="373" y="1589"/>
                    </a:lnTo>
                    <a:cubicBezTo>
                      <a:pt x="379" y="1586"/>
                      <a:pt x="379" y="1589"/>
                      <a:pt x="383" y="1594"/>
                    </a:cubicBezTo>
                    <a:cubicBezTo>
                      <a:pt x="388" y="1598"/>
                      <a:pt x="395" y="1610"/>
                      <a:pt x="401" y="1627"/>
                    </a:cubicBezTo>
                    <a:cubicBezTo>
                      <a:pt x="413" y="1662"/>
                      <a:pt x="421" y="1718"/>
                      <a:pt x="426" y="1788"/>
                    </a:cubicBezTo>
                    <a:cubicBezTo>
                      <a:pt x="436" y="1928"/>
                      <a:pt x="435" y="2122"/>
                      <a:pt x="435" y="2315"/>
                    </a:cubicBezTo>
                    <a:cubicBezTo>
                      <a:pt x="435" y="2509"/>
                      <a:pt x="436" y="2703"/>
                      <a:pt x="451" y="2846"/>
                    </a:cubicBezTo>
                    <a:cubicBezTo>
                      <a:pt x="459" y="2917"/>
                      <a:pt x="470" y="2976"/>
                      <a:pt x="488" y="3017"/>
                    </a:cubicBezTo>
                    <a:cubicBezTo>
                      <a:pt x="497" y="3038"/>
                      <a:pt x="507" y="3054"/>
                      <a:pt x="522" y="3065"/>
                    </a:cubicBezTo>
                    <a:cubicBezTo>
                      <a:pt x="535" y="3076"/>
                      <a:pt x="551" y="3082"/>
                      <a:pt x="568" y="3082"/>
                    </a:cubicBezTo>
                    <a:cubicBezTo>
                      <a:pt x="593" y="3084"/>
                      <a:pt x="618" y="3079"/>
                      <a:pt x="638" y="3065"/>
                    </a:cubicBezTo>
                    <a:cubicBezTo>
                      <a:pt x="660" y="3050"/>
                      <a:pt x="677" y="3027"/>
                      <a:pt x="692" y="2998"/>
                    </a:cubicBezTo>
                    <a:cubicBezTo>
                      <a:pt x="723" y="2939"/>
                      <a:pt x="746" y="2855"/>
                      <a:pt x="768" y="2760"/>
                    </a:cubicBezTo>
                    <a:cubicBezTo>
                      <a:pt x="809" y="2578"/>
                      <a:pt x="871" y="2339"/>
                      <a:pt x="891" y="2186"/>
                    </a:cubicBezTo>
                    <a:cubicBezTo>
                      <a:pt x="894" y="2189"/>
                      <a:pt x="905" y="2201"/>
                      <a:pt x="909" y="2205"/>
                    </a:cubicBezTo>
                    <a:cubicBezTo>
                      <a:pt x="921" y="2221"/>
                      <a:pt x="931" y="2243"/>
                      <a:pt x="944" y="2270"/>
                    </a:cubicBezTo>
                    <a:cubicBezTo>
                      <a:pt x="971" y="2325"/>
                      <a:pt x="986" y="2402"/>
                      <a:pt x="987" y="2456"/>
                    </a:cubicBezTo>
                    <a:cubicBezTo>
                      <a:pt x="990" y="2542"/>
                      <a:pt x="981" y="2679"/>
                      <a:pt x="996" y="2802"/>
                    </a:cubicBezTo>
                    <a:cubicBezTo>
                      <a:pt x="1004" y="2863"/>
                      <a:pt x="1021" y="2940"/>
                      <a:pt x="1047" y="2988"/>
                    </a:cubicBezTo>
                    <a:cubicBezTo>
                      <a:pt x="1065" y="3021"/>
                      <a:pt x="1085" y="3051"/>
                      <a:pt x="1115" y="3065"/>
                    </a:cubicBezTo>
                    <a:cubicBezTo>
                      <a:pt x="1129" y="3071"/>
                      <a:pt x="1129" y="3070"/>
                      <a:pt x="1146" y="3075"/>
                    </a:cubicBezTo>
                    <a:lnTo>
                      <a:pt x="1164" y="3074"/>
                    </a:lnTo>
                    <a:lnTo>
                      <a:pt x="1176" y="3071"/>
                    </a:lnTo>
                    <a:cubicBezTo>
                      <a:pt x="1211" y="3058"/>
                      <a:pt x="1237" y="3029"/>
                      <a:pt x="1257" y="2990"/>
                    </a:cubicBezTo>
                    <a:cubicBezTo>
                      <a:pt x="1276" y="2952"/>
                      <a:pt x="1290" y="2904"/>
                      <a:pt x="1300" y="2849"/>
                    </a:cubicBezTo>
                    <a:cubicBezTo>
                      <a:pt x="1321" y="2741"/>
                      <a:pt x="1328" y="2635"/>
                      <a:pt x="1337" y="2504"/>
                    </a:cubicBezTo>
                    <a:lnTo>
                      <a:pt x="1338" y="2476"/>
                    </a:lnTo>
                    <a:lnTo>
                      <a:pt x="1338" y="2475"/>
                    </a:lnTo>
                    <a:cubicBezTo>
                      <a:pt x="1356" y="2123"/>
                      <a:pt x="1301" y="1901"/>
                      <a:pt x="1260" y="1564"/>
                    </a:cubicBezTo>
                    <a:cubicBezTo>
                      <a:pt x="1258" y="1556"/>
                      <a:pt x="1258" y="1537"/>
                      <a:pt x="1258" y="1537"/>
                    </a:cubicBezTo>
                    <a:cubicBezTo>
                      <a:pt x="1249" y="1386"/>
                      <a:pt x="1251" y="1247"/>
                      <a:pt x="1259" y="1137"/>
                    </a:cubicBezTo>
                    <a:cubicBezTo>
                      <a:pt x="1263" y="1083"/>
                      <a:pt x="1273" y="1033"/>
                      <a:pt x="1282" y="994"/>
                    </a:cubicBezTo>
                    <a:cubicBezTo>
                      <a:pt x="1292" y="954"/>
                      <a:pt x="1298" y="934"/>
                      <a:pt x="1315" y="905"/>
                    </a:cubicBezTo>
                    <a:lnTo>
                      <a:pt x="1317" y="899"/>
                    </a:lnTo>
                    <a:lnTo>
                      <a:pt x="1319" y="893"/>
                    </a:lnTo>
                    <a:cubicBezTo>
                      <a:pt x="1349" y="790"/>
                      <a:pt x="1414" y="710"/>
                      <a:pt x="1471" y="582"/>
                    </a:cubicBezTo>
                    <a:cubicBezTo>
                      <a:pt x="1523" y="466"/>
                      <a:pt x="1565" y="329"/>
                      <a:pt x="1583" y="222"/>
                    </a:cubicBezTo>
                    <a:cubicBezTo>
                      <a:pt x="1593" y="169"/>
                      <a:pt x="1596" y="116"/>
                      <a:pt x="1591" y="79"/>
                    </a:cubicBezTo>
                    <a:cubicBezTo>
                      <a:pt x="1588" y="60"/>
                      <a:pt x="1579" y="42"/>
                      <a:pt x="1570" y="28"/>
                    </a:cubicBezTo>
                    <a:cubicBezTo>
                      <a:pt x="1562" y="15"/>
                      <a:pt x="1546" y="5"/>
                      <a:pt x="1536" y="2"/>
                    </a:cubicBezTo>
                    <a:lnTo>
                      <a:pt x="1532" y="1"/>
                    </a:lnTo>
                    <a:lnTo>
                      <a:pt x="1529" y="0"/>
                    </a:lnTo>
                    <a:lnTo>
                      <a:pt x="15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2" name="Freeform 13"/>
              <p:cNvSpPr>
                <a:spLocks/>
              </p:cNvSpPr>
              <p:nvPr/>
            </p:nvSpPr>
            <p:spPr bwMode="auto">
              <a:xfrm>
                <a:off x="1551418" y="5354755"/>
                <a:ext cx="369888" cy="138113"/>
              </a:xfrm>
              <a:custGeom>
                <a:avLst/>
                <a:gdLst>
                  <a:gd name="T0" fmla="*/ 758 w 758"/>
                  <a:gd name="T1" fmla="*/ 265 h 282"/>
                  <a:gd name="T2" fmla="*/ 659 w 758"/>
                  <a:gd name="T3" fmla="*/ 173 h 282"/>
                  <a:gd name="T4" fmla="*/ 489 w 758"/>
                  <a:gd name="T5" fmla="*/ 89 h 282"/>
                  <a:gd name="T6" fmla="*/ 241 w 758"/>
                  <a:gd name="T7" fmla="*/ 13 h 282"/>
                  <a:gd name="T8" fmla="*/ 164 w 758"/>
                  <a:gd name="T9" fmla="*/ 0 h 282"/>
                  <a:gd name="T10" fmla="*/ 73 w 758"/>
                  <a:gd name="T11" fmla="*/ 55 h 282"/>
                  <a:gd name="T12" fmla="*/ 0 w 758"/>
                  <a:gd name="T13" fmla="*/ 164 h 282"/>
                  <a:gd name="T14" fmla="*/ 5 w 758"/>
                  <a:gd name="T15" fmla="*/ 279 h 282"/>
                  <a:gd name="T16" fmla="*/ 285 w 758"/>
                  <a:gd name="T17" fmla="*/ 230 h 282"/>
                  <a:gd name="T18" fmla="*/ 473 w 758"/>
                  <a:gd name="T19" fmla="*/ 226 h 282"/>
                  <a:gd name="T20" fmla="*/ 754 w 758"/>
                  <a:gd name="T21" fmla="*/ 282 h 282"/>
                  <a:gd name="T22" fmla="*/ 758 w 758"/>
                  <a:gd name="T23" fmla="*/ 265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58" h="282">
                    <a:moveTo>
                      <a:pt x="758" y="265"/>
                    </a:moveTo>
                    <a:lnTo>
                      <a:pt x="659" y="173"/>
                    </a:lnTo>
                    <a:lnTo>
                      <a:pt x="489" y="89"/>
                    </a:lnTo>
                    <a:lnTo>
                      <a:pt x="241" y="13"/>
                    </a:lnTo>
                    <a:lnTo>
                      <a:pt x="164" y="0"/>
                    </a:lnTo>
                    <a:lnTo>
                      <a:pt x="73" y="55"/>
                    </a:lnTo>
                    <a:lnTo>
                      <a:pt x="0" y="164"/>
                    </a:lnTo>
                    <a:lnTo>
                      <a:pt x="5" y="279"/>
                    </a:lnTo>
                    <a:lnTo>
                      <a:pt x="285" y="230"/>
                    </a:lnTo>
                    <a:lnTo>
                      <a:pt x="473" y="226"/>
                    </a:lnTo>
                    <a:lnTo>
                      <a:pt x="754" y="282"/>
                    </a:lnTo>
                    <a:lnTo>
                      <a:pt x="758" y="265"/>
                    </a:lnTo>
                    <a:close/>
                  </a:path>
                </a:pathLst>
              </a:custGeom>
              <a:solidFill>
                <a:srgbClr val="A1BD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3" name="Freeform 14"/>
              <p:cNvSpPr>
                <a:spLocks noEditPoints="1"/>
              </p:cNvSpPr>
              <p:nvPr/>
            </p:nvSpPr>
            <p:spPr bwMode="auto">
              <a:xfrm>
                <a:off x="1560943" y="5375393"/>
                <a:ext cx="130175" cy="111125"/>
              </a:xfrm>
              <a:custGeom>
                <a:avLst/>
                <a:gdLst>
                  <a:gd name="T0" fmla="*/ 10 w 266"/>
                  <a:gd name="T1" fmla="*/ 227 h 229"/>
                  <a:gd name="T2" fmla="*/ 3 w 266"/>
                  <a:gd name="T3" fmla="*/ 217 h 229"/>
                  <a:gd name="T4" fmla="*/ 5 w 266"/>
                  <a:gd name="T5" fmla="*/ 155 h 229"/>
                  <a:gd name="T6" fmla="*/ 56 w 266"/>
                  <a:gd name="T7" fmla="*/ 64 h 229"/>
                  <a:gd name="T8" fmla="*/ 143 w 266"/>
                  <a:gd name="T9" fmla="*/ 1 h 229"/>
                  <a:gd name="T10" fmla="*/ 152 w 266"/>
                  <a:gd name="T11" fmla="*/ 6 h 229"/>
                  <a:gd name="T12" fmla="*/ 158 w 266"/>
                  <a:gd name="T13" fmla="*/ 13 h 229"/>
                  <a:gd name="T14" fmla="*/ 165 w 266"/>
                  <a:gd name="T15" fmla="*/ 20 h 229"/>
                  <a:gd name="T16" fmla="*/ 172 w 266"/>
                  <a:gd name="T17" fmla="*/ 27 h 229"/>
                  <a:gd name="T18" fmla="*/ 178 w 266"/>
                  <a:gd name="T19" fmla="*/ 32 h 229"/>
                  <a:gd name="T20" fmla="*/ 190 w 266"/>
                  <a:gd name="T21" fmla="*/ 38 h 229"/>
                  <a:gd name="T22" fmla="*/ 203 w 266"/>
                  <a:gd name="T23" fmla="*/ 44 h 229"/>
                  <a:gd name="T24" fmla="*/ 209 w 266"/>
                  <a:gd name="T25" fmla="*/ 51 h 229"/>
                  <a:gd name="T26" fmla="*/ 216 w 266"/>
                  <a:gd name="T27" fmla="*/ 58 h 229"/>
                  <a:gd name="T28" fmla="*/ 221 w 266"/>
                  <a:gd name="T29" fmla="*/ 64 h 229"/>
                  <a:gd name="T30" fmla="*/ 227 w 266"/>
                  <a:gd name="T31" fmla="*/ 70 h 229"/>
                  <a:gd name="T32" fmla="*/ 240 w 266"/>
                  <a:gd name="T33" fmla="*/ 75 h 229"/>
                  <a:gd name="T34" fmla="*/ 253 w 266"/>
                  <a:gd name="T35" fmla="*/ 82 h 229"/>
                  <a:gd name="T36" fmla="*/ 261 w 266"/>
                  <a:gd name="T37" fmla="*/ 89 h 229"/>
                  <a:gd name="T38" fmla="*/ 245 w 266"/>
                  <a:gd name="T39" fmla="*/ 99 h 229"/>
                  <a:gd name="T40" fmla="*/ 117 w 266"/>
                  <a:gd name="T41" fmla="*/ 163 h 229"/>
                  <a:gd name="T42" fmla="*/ 77 w 266"/>
                  <a:gd name="T43" fmla="*/ 194 h 229"/>
                  <a:gd name="T44" fmla="*/ 55 w 266"/>
                  <a:gd name="T45" fmla="*/ 212 h 229"/>
                  <a:gd name="T46" fmla="*/ 52 w 266"/>
                  <a:gd name="T47" fmla="*/ 214 h 229"/>
                  <a:gd name="T48" fmla="*/ 33 w 266"/>
                  <a:gd name="T49" fmla="*/ 223 h 229"/>
                  <a:gd name="T50" fmla="*/ 10 w 266"/>
                  <a:gd name="T51" fmla="*/ 227 h 229"/>
                  <a:gd name="T52" fmla="*/ 28 w 266"/>
                  <a:gd name="T53" fmla="*/ 193 h 229"/>
                  <a:gd name="T54" fmla="*/ 22 w 266"/>
                  <a:gd name="T55" fmla="*/ 188 h 229"/>
                  <a:gd name="T56" fmla="*/ 17 w 266"/>
                  <a:gd name="T57" fmla="*/ 193 h 229"/>
                  <a:gd name="T58" fmla="*/ 22 w 266"/>
                  <a:gd name="T59" fmla="*/ 199 h 229"/>
                  <a:gd name="T60" fmla="*/ 28 w 266"/>
                  <a:gd name="T61" fmla="*/ 193 h 229"/>
                  <a:gd name="T62" fmla="*/ 141 w 266"/>
                  <a:gd name="T63" fmla="*/ 94 h 229"/>
                  <a:gd name="T64" fmla="*/ 134 w 266"/>
                  <a:gd name="T65" fmla="*/ 88 h 229"/>
                  <a:gd name="T66" fmla="*/ 127 w 266"/>
                  <a:gd name="T67" fmla="*/ 94 h 229"/>
                  <a:gd name="T68" fmla="*/ 134 w 266"/>
                  <a:gd name="T69" fmla="*/ 100 h 229"/>
                  <a:gd name="T70" fmla="*/ 141 w 266"/>
                  <a:gd name="T71" fmla="*/ 94 h 2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266" h="229">
                    <a:moveTo>
                      <a:pt x="10" y="227"/>
                    </a:moveTo>
                    <a:cubicBezTo>
                      <a:pt x="6" y="226"/>
                      <a:pt x="4" y="223"/>
                      <a:pt x="3" y="217"/>
                    </a:cubicBezTo>
                    <a:cubicBezTo>
                      <a:pt x="0" y="202"/>
                      <a:pt x="1" y="169"/>
                      <a:pt x="5" y="155"/>
                    </a:cubicBezTo>
                    <a:cubicBezTo>
                      <a:pt x="11" y="128"/>
                      <a:pt x="33" y="89"/>
                      <a:pt x="56" y="64"/>
                    </a:cubicBezTo>
                    <a:cubicBezTo>
                      <a:pt x="77" y="41"/>
                      <a:pt x="129" y="2"/>
                      <a:pt x="143" y="1"/>
                    </a:cubicBezTo>
                    <a:cubicBezTo>
                      <a:pt x="151" y="0"/>
                      <a:pt x="152" y="0"/>
                      <a:pt x="152" y="6"/>
                    </a:cubicBezTo>
                    <a:cubicBezTo>
                      <a:pt x="152" y="13"/>
                      <a:pt x="152" y="13"/>
                      <a:pt x="158" y="13"/>
                    </a:cubicBezTo>
                    <a:cubicBezTo>
                      <a:pt x="164" y="13"/>
                      <a:pt x="165" y="14"/>
                      <a:pt x="165" y="20"/>
                    </a:cubicBezTo>
                    <a:cubicBezTo>
                      <a:pt x="165" y="26"/>
                      <a:pt x="166" y="27"/>
                      <a:pt x="172" y="27"/>
                    </a:cubicBezTo>
                    <a:cubicBezTo>
                      <a:pt x="177" y="27"/>
                      <a:pt x="178" y="27"/>
                      <a:pt x="178" y="32"/>
                    </a:cubicBezTo>
                    <a:cubicBezTo>
                      <a:pt x="178" y="37"/>
                      <a:pt x="179" y="38"/>
                      <a:pt x="190" y="38"/>
                    </a:cubicBezTo>
                    <a:cubicBezTo>
                      <a:pt x="202" y="38"/>
                      <a:pt x="203" y="38"/>
                      <a:pt x="203" y="44"/>
                    </a:cubicBezTo>
                    <a:cubicBezTo>
                      <a:pt x="203" y="50"/>
                      <a:pt x="203" y="51"/>
                      <a:pt x="209" y="51"/>
                    </a:cubicBezTo>
                    <a:cubicBezTo>
                      <a:pt x="215" y="51"/>
                      <a:pt x="216" y="52"/>
                      <a:pt x="216" y="58"/>
                    </a:cubicBezTo>
                    <a:cubicBezTo>
                      <a:pt x="216" y="63"/>
                      <a:pt x="217" y="64"/>
                      <a:pt x="221" y="64"/>
                    </a:cubicBezTo>
                    <a:cubicBezTo>
                      <a:pt x="226" y="64"/>
                      <a:pt x="227" y="65"/>
                      <a:pt x="227" y="70"/>
                    </a:cubicBezTo>
                    <a:cubicBezTo>
                      <a:pt x="227" y="75"/>
                      <a:pt x="227" y="75"/>
                      <a:pt x="240" y="75"/>
                    </a:cubicBezTo>
                    <a:cubicBezTo>
                      <a:pt x="253" y="75"/>
                      <a:pt x="253" y="75"/>
                      <a:pt x="253" y="82"/>
                    </a:cubicBezTo>
                    <a:cubicBezTo>
                      <a:pt x="253" y="88"/>
                      <a:pt x="254" y="88"/>
                      <a:pt x="261" y="89"/>
                    </a:cubicBezTo>
                    <a:cubicBezTo>
                      <a:pt x="266" y="89"/>
                      <a:pt x="263" y="91"/>
                      <a:pt x="245" y="99"/>
                    </a:cubicBezTo>
                    <a:cubicBezTo>
                      <a:pt x="204" y="116"/>
                      <a:pt x="138" y="149"/>
                      <a:pt x="117" y="163"/>
                    </a:cubicBezTo>
                    <a:cubicBezTo>
                      <a:pt x="106" y="171"/>
                      <a:pt x="88" y="185"/>
                      <a:pt x="77" y="194"/>
                    </a:cubicBezTo>
                    <a:cubicBezTo>
                      <a:pt x="66" y="204"/>
                      <a:pt x="56" y="212"/>
                      <a:pt x="55" y="212"/>
                    </a:cubicBezTo>
                    <a:cubicBezTo>
                      <a:pt x="54" y="212"/>
                      <a:pt x="52" y="213"/>
                      <a:pt x="52" y="214"/>
                    </a:cubicBezTo>
                    <a:cubicBezTo>
                      <a:pt x="51" y="215"/>
                      <a:pt x="43" y="219"/>
                      <a:pt x="33" y="223"/>
                    </a:cubicBezTo>
                    <a:cubicBezTo>
                      <a:pt x="20" y="228"/>
                      <a:pt x="14" y="229"/>
                      <a:pt x="10" y="227"/>
                    </a:cubicBezTo>
                    <a:close/>
                    <a:moveTo>
                      <a:pt x="28" y="193"/>
                    </a:moveTo>
                    <a:cubicBezTo>
                      <a:pt x="28" y="189"/>
                      <a:pt x="27" y="188"/>
                      <a:pt x="22" y="188"/>
                    </a:cubicBezTo>
                    <a:cubicBezTo>
                      <a:pt x="18" y="188"/>
                      <a:pt x="17" y="189"/>
                      <a:pt x="17" y="193"/>
                    </a:cubicBezTo>
                    <a:cubicBezTo>
                      <a:pt x="17" y="198"/>
                      <a:pt x="18" y="199"/>
                      <a:pt x="22" y="199"/>
                    </a:cubicBezTo>
                    <a:cubicBezTo>
                      <a:pt x="27" y="199"/>
                      <a:pt x="28" y="198"/>
                      <a:pt x="28" y="193"/>
                    </a:cubicBezTo>
                    <a:close/>
                    <a:moveTo>
                      <a:pt x="141" y="94"/>
                    </a:moveTo>
                    <a:cubicBezTo>
                      <a:pt x="141" y="89"/>
                      <a:pt x="140" y="88"/>
                      <a:pt x="134" y="88"/>
                    </a:cubicBezTo>
                    <a:cubicBezTo>
                      <a:pt x="128" y="88"/>
                      <a:pt x="127" y="89"/>
                      <a:pt x="127" y="94"/>
                    </a:cubicBezTo>
                    <a:cubicBezTo>
                      <a:pt x="127" y="99"/>
                      <a:pt x="128" y="100"/>
                      <a:pt x="134" y="100"/>
                    </a:cubicBezTo>
                    <a:cubicBezTo>
                      <a:pt x="140" y="100"/>
                      <a:pt x="141" y="99"/>
                      <a:pt x="141" y="94"/>
                    </a:cubicBezTo>
                    <a:close/>
                  </a:path>
                </a:pathLst>
              </a:custGeom>
              <a:solidFill>
                <a:srgbClr val="A1BDA8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4" name="Freeform 15"/>
              <p:cNvSpPr>
                <a:spLocks/>
              </p:cNvSpPr>
              <p:nvPr/>
            </p:nvSpPr>
            <p:spPr bwMode="auto">
              <a:xfrm>
                <a:off x="1930831" y="5276968"/>
                <a:ext cx="74613" cy="193675"/>
              </a:xfrm>
              <a:custGeom>
                <a:avLst/>
                <a:gdLst>
                  <a:gd name="T0" fmla="*/ 0 w 154"/>
                  <a:gd name="T1" fmla="*/ 398 h 398"/>
                  <a:gd name="T2" fmla="*/ 1 w 154"/>
                  <a:gd name="T3" fmla="*/ 333 h 398"/>
                  <a:gd name="T4" fmla="*/ 46 w 154"/>
                  <a:gd name="T5" fmla="*/ 203 h 398"/>
                  <a:gd name="T6" fmla="*/ 73 w 154"/>
                  <a:gd name="T7" fmla="*/ 102 h 398"/>
                  <a:gd name="T8" fmla="*/ 108 w 154"/>
                  <a:gd name="T9" fmla="*/ 16 h 398"/>
                  <a:gd name="T10" fmla="*/ 137 w 154"/>
                  <a:gd name="T11" fmla="*/ 0 h 398"/>
                  <a:gd name="T12" fmla="*/ 154 w 154"/>
                  <a:gd name="T13" fmla="*/ 95 h 398"/>
                  <a:gd name="T14" fmla="*/ 82 w 154"/>
                  <a:gd name="T15" fmla="*/ 276 h 398"/>
                  <a:gd name="T16" fmla="*/ 38 w 154"/>
                  <a:gd name="T17" fmla="*/ 350 h 398"/>
                  <a:gd name="T18" fmla="*/ 0 w 154"/>
                  <a:gd name="T19" fmla="*/ 398 h 3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54" h="398">
                    <a:moveTo>
                      <a:pt x="0" y="398"/>
                    </a:moveTo>
                    <a:lnTo>
                      <a:pt x="1" y="333"/>
                    </a:lnTo>
                    <a:lnTo>
                      <a:pt x="46" y="203"/>
                    </a:lnTo>
                    <a:lnTo>
                      <a:pt x="73" y="102"/>
                    </a:lnTo>
                    <a:lnTo>
                      <a:pt x="108" y="16"/>
                    </a:lnTo>
                    <a:lnTo>
                      <a:pt x="137" y="0"/>
                    </a:lnTo>
                    <a:lnTo>
                      <a:pt x="154" y="95"/>
                    </a:lnTo>
                    <a:lnTo>
                      <a:pt x="82" y="276"/>
                    </a:lnTo>
                    <a:lnTo>
                      <a:pt x="38" y="350"/>
                    </a:lnTo>
                    <a:lnTo>
                      <a:pt x="0" y="398"/>
                    </a:lnTo>
                    <a:close/>
                  </a:path>
                </a:pathLst>
              </a:custGeom>
              <a:solidFill>
                <a:srgbClr val="A1BDA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5" name="Freeform 16"/>
              <p:cNvSpPr>
                <a:spLocks/>
              </p:cNvSpPr>
              <p:nvPr/>
            </p:nvSpPr>
            <p:spPr bwMode="auto">
              <a:xfrm>
                <a:off x="1559356" y="5359518"/>
                <a:ext cx="368300" cy="144463"/>
              </a:xfrm>
              <a:custGeom>
                <a:avLst/>
                <a:gdLst>
                  <a:gd name="T0" fmla="*/ 751 w 751"/>
                  <a:gd name="T1" fmla="*/ 278 h 296"/>
                  <a:gd name="T2" fmla="*/ 137 w 751"/>
                  <a:gd name="T3" fmla="*/ 0 h 296"/>
                  <a:gd name="T4" fmla="*/ 0 w 751"/>
                  <a:gd name="T5" fmla="*/ 296 h 296"/>
                  <a:gd name="T6" fmla="*/ 751 w 751"/>
                  <a:gd name="T7" fmla="*/ 278 h 2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1" h="296">
                    <a:moveTo>
                      <a:pt x="751" y="278"/>
                    </a:moveTo>
                    <a:lnTo>
                      <a:pt x="137" y="0"/>
                    </a:lnTo>
                    <a:lnTo>
                      <a:pt x="0" y="296"/>
                    </a:lnTo>
                    <a:lnTo>
                      <a:pt x="751" y="278"/>
                    </a:lnTo>
                    <a:close/>
                  </a:path>
                </a:pathLst>
              </a:custGeom>
              <a:noFill/>
              <a:ln w="6350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6" name="Freeform 17"/>
              <p:cNvSpPr>
                <a:spLocks/>
              </p:cNvSpPr>
              <p:nvPr/>
            </p:nvSpPr>
            <p:spPr bwMode="auto">
              <a:xfrm>
                <a:off x="1494268" y="5372218"/>
                <a:ext cx="439738" cy="122238"/>
              </a:xfrm>
              <a:custGeom>
                <a:avLst/>
                <a:gdLst>
                  <a:gd name="T0" fmla="*/ 894 w 898"/>
                  <a:gd name="T1" fmla="*/ 221 h 251"/>
                  <a:gd name="T2" fmla="*/ 266 w 898"/>
                  <a:gd name="T3" fmla="*/ 0 h 251"/>
                  <a:gd name="T4" fmla="*/ 134 w 898"/>
                  <a:gd name="T5" fmla="*/ 247 h 251"/>
                  <a:gd name="T6" fmla="*/ 894 w 898"/>
                  <a:gd name="T7" fmla="*/ 221 h 2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98" h="251">
                    <a:moveTo>
                      <a:pt x="894" y="221"/>
                    </a:moveTo>
                    <a:cubicBezTo>
                      <a:pt x="898" y="251"/>
                      <a:pt x="266" y="0"/>
                      <a:pt x="266" y="0"/>
                    </a:cubicBezTo>
                    <a:cubicBezTo>
                      <a:pt x="0" y="41"/>
                      <a:pt x="97" y="150"/>
                      <a:pt x="134" y="247"/>
                    </a:cubicBezTo>
                    <a:lnTo>
                      <a:pt x="894" y="221"/>
                    </a:lnTo>
                    <a:close/>
                  </a:path>
                </a:pathLst>
              </a:custGeom>
              <a:noFill/>
              <a:ln w="6350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57" name="Freeform 18"/>
              <p:cNvSpPr>
                <a:spLocks/>
              </p:cNvSpPr>
              <p:nvPr/>
            </p:nvSpPr>
            <p:spPr bwMode="auto">
              <a:xfrm>
                <a:off x="1813356" y="5234105"/>
                <a:ext cx="128588" cy="152400"/>
              </a:xfrm>
              <a:custGeom>
                <a:avLst/>
                <a:gdLst>
                  <a:gd name="T0" fmla="*/ 9 w 265"/>
                  <a:gd name="T1" fmla="*/ 0 h 314"/>
                  <a:gd name="T2" fmla="*/ 265 w 265"/>
                  <a:gd name="T3" fmla="*/ 163 h 314"/>
                  <a:gd name="T4" fmla="*/ 0 w 265"/>
                  <a:gd name="T5" fmla="*/ 314 h 3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65" h="314">
                    <a:moveTo>
                      <a:pt x="9" y="0"/>
                    </a:moveTo>
                    <a:cubicBezTo>
                      <a:pt x="40" y="305"/>
                      <a:pt x="265" y="163"/>
                      <a:pt x="265" y="163"/>
                    </a:cubicBezTo>
                    <a:lnTo>
                      <a:pt x="0" y="314"/>
                    </a:lnTo>
                  </a:path>
                </a:pathLst>
              </a:custGeom>
              <a:noFill/>
              <a:ln w="6350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2" name="Freeform 23"/>
              <p:cNvSpPr>
                <a:spLocks/>
              </p:cNvSpPr>
              <p:nvPr/>
            </p:nvSpPr>
            <p:spPr bwMode="auto">
              <a:xfrm>
                <a:off x="1553006" y="5278555"/>
                <a:ext cx="455613" cy="214313"/>
              </a:xfrm>
              <a:custGeom>
                <a:avLst/>
                <a:gdLst>
                  <a:gd name="T0" fmla="*/ 746 w 932"/>
                  <a:gd name="T1" fmla="*/ 384 h 437"/>
                  <a:gd name="T2" fmla="*/ 145 w 932"/>
                  <a:gd name="T3" fmla="*/ 150 h 437"/>
                  <a:gd name="T4" fmla="*/ 0 w 932"/>
                  <a:gd name="T5" fmla="*/ 437 h 437"/>
                  <a:gd name="T6" fmla="*/ 742 w 932"/>
                  <a:gd name="T7" fmla="*/ 433 h 437"/>
                  <a:gd name="T8" fmla="*/ 932 w 932"/>
                  <a:gd name="T9" fmla="*/ 0 h 437"/>
                  <a:gd name="T10" fmla="*/ 875 w 932"/>
                  <a:gd name="T11" fmla="*/ 0 h 437"/>
                  <a:gd name="T12" fmla="*/ 746 w 932"/>
                  <a:gd name="T13" fmla="*/ 384 h 4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2" h="437">
                    <a:moveTo>
                      <a:pt x="746" y="384"/>
                    </a:moveTo>
                    <a:lnTo>
                      <a:pt x="145" y="150"/>
                    </a:lnTo>
                    <a:lnTo>
                      <a:pt x="0" y="437"/>
                    </a:lnTo>
                    <a:lnTo>
                      <a:pt x="742" y="433"/>
                    </a:lnTo>
                    <a:lnTo>
                      <a:pt x="932" y="0"/>
                    </a:lnTo>
                    <a:lnTo>
                      <a:pt x="875" y="0"/>
                    </a:lnTo>
                    <a:lnTo>
                      <a:pt x="746" y="384"/>
                    </a:lnTo>
                    <a:close/>
                  </a:path>
                </a:pathLst>
              </a:custGeom>
              <a:noFill/>
              <a:ln w="6350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3" name="Freeform 24"/>
              <p:cNvSpPr>
                <a:spLocks noEditPoints="1"/>
              </p:cNvSpPr>
              <p:nvPr/>
            </p:nvSpPr>
            <p:spPr bwMode="auto">
              <a:xfrm>
                <a:off x="1538718" y="5262680"/>
                <a:ext cx="474663" cy="244475"/>
              </a:xfrm>
              <a:custGeom>
                <a:avLst/>
                <a:gdLst>
                  <a:gd name="T0" fmla="*/ 929 w 973"/>
                  <a:gd name="T1" fmla="*/ 14 h 501"/>
                  <a:gd name="T2" fmla="*/ 916 w 973"/>
                  <a:gd name="T3" fmla="*/ 14 h 501"/>
                  <a:gd name="T4" fmla="*/ 897 w 973"/>
                  <a:gd name="T5" fmla="*/ 76 h 501"/>
                  <a:gd name="T6" fmla="*/ 871 w 973"/>
                  <a:gd name="T7" fmla="*/ 134 h 501"/>
                  <a:gd name="T8" fmla="*/ 860 w 973"/>
                  <a:gd name="T9" fmla="*/ 165 h 501"/>
                  <a:gd name="T10" fmla="*/ 845 w 973"/>
                  <a:gd name="T11" fmla="*/ 200 h 501"/>
                  <a:gd name="T12" fmla="*/ 839 w 973"/>
                  <a:gd name="T13" fmla="*/ 214 h 501"/>
                  <a:gd name="T14" fmla="*/ 772 w 973"/>
                  <a:gd name="T15" fmla="*/ 417 h 501"/>
                  <a:gd name="T16" fmla="*/ 190 w 973"/>
                  <a:gd name="T17" fmla="*/ 188 h 501"/>
                  <a:gd name="T18" fmla="*/ 173 w 973"/>
                  <a:gd name="T19" fmla="*/ 190 h 501"/>
                  <a:gd name="T20" fmla="*/ 162 w 973"/>
                  <a:gd name="T21" fmla="*/ 195 h 501"/>
                  <a:gd name="T22" fmla="*/ 43 w 973"/>
                  <a:gd name="T23" fmla="*/ 302 h 501"/>
                  <a:gd name="T24" fmla="*/ 9 w 973"/>
                  <a:gd name="T25" fmla="*/ 471 h 501"/>
                  <a:gd name="T26" fmla="*/ 21 w 973"/>
                  <a:gd name="T27" fmla="*/ 490 h 501"/>
                  <a:gd name="T28" fmla="*/ 38 w 973"/>
                  <a:gd name="T29" fmla="*/ 497 h 501"/>
                  <a:gd name="T30" fmla="*/ 72 w 973"/>
                  <a:gd name="T31" fmla="*/ 497 h 501"/>
                  <a:gd name="T32" fmla="*/ 769 w 973"/>
                  <a:gd name="T33" fmla="*/ 496 h 501"/>
                  <a:gd name="T34" fmla="*/ 776 w 973"/>
                  <a:gd name="T35" fmla="*/ 500 h 501"/>
                  <a:gd name="T36" fmla="*/ 784 w 973"/>
                  <a:gd name="T37" fmla="*/ 498 h 501"/>
                  <a:gd name="T38" fmla="*/ 819 w 973"/>
                  <a:gd name="T39" fmla="*/ 484 h 501"/>
                  <a:gd name="T40" fmla="*/ 826 w 973"/>
                  <a:gd name="T41" fmla="*/ 482 h 501"/>
                  <a:gd name="T42" fmla="*/ 830 w 973"/>
                  <a:gd name="T43" fmla="*/ 475 h 501"/>
                  <a:gd name="T44" fmla="*/ 929 w 973"/>
                  <a:gd name="T45" fmla="*/ 232 h 501"/>
                  <a:gd name="T46" fmla="*/ 973 w 973"/>
                  <a:gd name="T47" fmla="*/ 56 h 501"/>
                  <a:gd name="T48" fmla="*/ 973 w 973"/>
                  <a:gd name="T49" fmla="*/ 50 h 501"/>
                  <a:gd name="T50" fmla="*/ 969 w 973"/>
                  <a:gd name="T51" fmla="*/ 45 h 501"/>
                  <a:gd name="T52" fmla="*/ 944 w 973"/>
                  <a:gd name="T53" fmla="*/ 19 h 501"/>
                  <a:gd name="T54" fmla="*/ 929 w 973"/>
                  <a:gd name="T55" fmla="*/ 14 h 501"/>
                  <a:gd name="T56" fmla="*/ 925 w 973"/>
                  <a:gd name="T57" fmla="*/ 52 h 501"/>
                  <a:gd name="T58" fmla="*/ 934 w 973"/>
                  <a:gd name="T59" fmla="*/ 62 h 501"/>
                  <a:gd name="T60" fmla="*/ 894 w 973"/>
                  <a:gd name="T61" fmla="*/ 219 h 501"/>
                  <a:gd name="T62" fmla="*/ 808 w 973"/>
                  <a:gd name="T63" fmla="*/ 404 h 501"/>
                  <a:gd name="T64" fmla="*/ 914 w 973"/>
                  <a:gd name="T65" fmla="*/ 64 h 501"/>
                  <a:gd name="T66" fmla="*/ 925 w 973"/>
                  <a:gd name="T67" fmla="*/ 52 h 501"/>
                  <a:gd name="T68" fmla="*/ 195 w 973"/>
                  <a:gd name="T69" fmla="*/ 229 h 501"/>
                  <a:gd name="T70" fmla="*/ 781 w 973"/>
                  <a:gd name="T71" fmla="*/ 460 h 501"/>
                  <a:gd name="T72" fmla="*/ 62 w 973"/>
                  <a:gd name="T73" fmla="*/ 461 h 501"/>
                  <a:gd name="T74" fmla="*/ 48 w 973"/>
                  <a:gd name="T75" fmla="*/ 457 h 501"/>
                  <a:gd name="T76" fmla="*/ 46 w 973"/>
                  <a:gd name="T77" fmla="*/ 443 h 501"/>
                  <a:gd name="T78" fmla="*/ 76 w 973"/>
                  <a:gd name="T79" fmla="*/ 325 h 501"/>
                  <a:gd name="T80" fmla="*/ 180 w 973"/>
                  <a:gd name="T81" fmla="*/ 232 h 501"/>
                  <a:gd name="T82" fmla="*/ 195 w 973"/>
                  <a:gd name="T83" fmla="*/ 229 h 5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</a:cxnLst>
                <a:rect l="0" t="0" r="r" b="b"/>
                <a:pathLst>
                  <a:path w="973" h="501">
                    <a:moveTo>
                      <a:pt x="929" y="14"/>
                    </a:moveTo>
                    <a:cubicBezTo>
                      <a:pt x="923" y="13"/>
                      <a:pt x="921" y="13"/>
                      <a:pt x="916" y="14"/>
                    </a:cubicBezTo>
                    <a:cubicBezTo>
                      <a:pt x="919" y="0"/>
                      <a:pt x="909" y="36"/>
                      <a:pt x="897" y="76"/>
                    </a:cubicBezTo>
                    <a:cubicBezTo>
                      <a:pt x="890" y="92"/>
                      <a:pt x="888" y="94"/>
                      <a:pt x="871" y="134"/>
                    </a:cubicBezTo>
                    <a:cubicBezTo>
                      <a:pt x="871" y="136"/>
                      <a:pt x="868" y="147"/>
                      <a:pt x="860" y="165"/>
                    </a:cubicBezTo>
                    <a:cubicBezTo>
                      <a:pt x="853" y="182"/>
                      <a:pt x="853" y="182"/>
                      <a:pt x="845" y="200"/>
                    </a:cubicBezTo>
                    <a:cubicBezTo>
                      <a:pt x="843" y="206"/>
                      <a:pt x="841" y="208"/>
                      <a:pt x="839" y="214"/>
                    </a:cubicBezTo>
                    <a:cubicBezTo>
                      <a:pt x="815" y="271"/>
                      <a:pt x="799" y="355"/>
                      <a:pt x="772" y="417"/>
                    </a:cubicBezTo>
                    <a:cubicBezTo>
                      <a:pt x="550" y="244"/>
                      <a:pt x="299" y="174"/>
                      <a:pt x="190" y="188"/>
                    </a:cubicBezTo>
                    <a:lnTo>
                      <a:pt x="173" y="190"/>
                    </a:lnTo>
                    <a:lnTo>
                      <a:pt x="162" y="195"/>
                    </a:lnTo>
                    <a:cubicBezTo>
                      <a:pt x="98" y="236"/>
                      <a:pt x="72" y="257"/>
                      <a:pt x="43" y="302"/>
                    </a:cubicBezTo>
                    <a:cubicBezTo>
                      <a:pt x="13" y="347"/>
                      <a:pt x="0" y="415"/>
                      <a:pt x="9" y="471"/>
                    </a:cubicBezTo>
                    <a:cubicBezTo>
                      <a:pt x="10" y="480"/>
                      <a:pt x="16" y="486"/>
                      <a:pt x="21" y="490"/>
                    </a:cubicBezTo>
                    <a:cubicBezTo>
                      <a:pt x="27" y="494"/>
                      <a:pt x="32" y="496"/>
                      <a:pt x="38" y="497"/>
                    </a:cubicBezTo>
                    <a:cubicBezTo>
                      <a:pt x="49" y="500"/>
                      <a:pt x="60" y="501"/>
                      <a:pt x="72" y="497"/>
                    </a:cubicBezTo>
                    <a:cubicBezTo>
                      <a:pt x="451" y="389"/>
                      <a:pt x="636" y="424"/>
                      <a:pt x="769" y="496"/>
                    </a:cubicBezTo>
                    <a:lnTo>
                      <a:pt x="776" y="500"/>
                    </a:lnTo>
                    <a:lnTo>
                      <a:pt x="784" y="498"/>
                    </a:lnTo>
                    <a:lnTo>
                      <a:pt x="819" y="484"/>
                    </a:lnTo>
                    <a:lnTo>
                      <a:pt x="826" y="482"/>
                    </a:lnTo>
                    <a:lnTo>
                      <a:pt x="830" y="475"/>
                    </a:lnTo>
                    <a:cubicBezTo>
                      <a:pt x="844" y="404"/>
                      <a:pt x="903" y="304"/>
                      <a:pt x="929" y="232"/>
                    </a:cubicBezTo>
                    <a:cubicBezTo>
                      <a:pt x="955" y="160"/>
                      <a:pt x="971" y="101"/>
                      <a:pt x="973" y="56"/>
                    </a:cubicBezTo>
                    <a:lnTo>
                      <a:pt x="973" y="50"/>
                    </a:lnTo>
                    <a:lnTo>
                      <a:pt x="969" y="45"/>
                    </a:lnTo>
                    <a:cubicBezTo>
                      <a:pt x="961" y="33"/>
                      <a:pt x="953" y="25"/>
                      <a:pt x="944" y="19"/>
                    </a:cubicBezTo>
                    <a:cubicBezTo>
                      <a:pt x="939" y="16"/>
                      <a:pt x="934" y="15"/>
                      <a:pt x="929" y="14"/>
                    </a:cubicBezTo>
                    <a:close/>
                    <a:moveTo>
                      <a:pt x="925" y="52"/>
                    </a:moveTo>
                    <a:cubicBezTo>
                      <a:pt x="926" y="52"/>
                      <a:pt x="930" y="58"/>
                      <a:pt x="934" y="62"/>
                    </a:cubicBezTo>
                    <a:cubicBezTo>
                      <a:pt x="932" y="98"/>
                      <a:pt x="918" y="152"/>
                      <a:pt x="894" y="219"/>
                    </a:cubicBezTo>
                    <a:cubicBezTo>
                      <a:pt x="875" y="271"/>
                      <a:pt x="835" y="342"/>
                      <a:pt x="808" y="404"/>
                    </a:cubicBezTo>
                    <a:cubicBezTo>
                      <a:pt x="884" y="192"/>
                      <a:pt x="903" y="119"/>
                      <a:pt x="914" y="64"/>
                    </a:cubicBezTo>
                    <a:cubicBezTo>
                      <a:pt x="920" y="58"/>
                      <a:pt x="925" y="52"/>
                      <a:pt x="925" y="52"/>
                    </a:cubicBezTo>
                    <a:close/>
                    <a:moveTo>
                      <a:pt x="195" y="229"/>
                    </a:moveTo>
                    <a:cubicBezTo>
                      <a:pt x="449" y="256"/>
                      <a:pt x="675" y="359"/>
                      <a:pt x="781" y="460"/>
                    </a:cubicBezTo>
                    <a:cubicBezTo>
                      <a:pt x="641" y="391"/>
                      <a:pt x="287" y="369"/>
                      <a:pt x="62" y="461"/>
                    </a:cubicBezTo>
                    <a:cubicBezTo>
                      <a:pt x="59" y="462"/>
                      <a:pt x="53" y="458"/>
                      <a:pt x="48" y="457"/>
                    </a:cubicBezTo>
                    <a:cubicBezTo>
                      <a:pt x="47" y="452"/>
                      <a:pt x="46" y="443"/>
                      <a:pt x="46" y="443"/>
                    </a:cubicBezTo>
                    <a:cubicBezTo>
                      <a:pt x="40" y="397"/>
                      <a:pt x="52" y="362"/>
                      <a:pt x="76" y="325"/>
                    </a:cubicBezTo>
                    <a:cubicBezTo>
                      <a:pt x="100" y="288"/>
                      <a:pt x="122" y="269"/>
                      <a:pt x="180" y="232"/>
                    </a:cubicBezTo>
                    <a:lnTo>
                      <a:pt x="195" y="229"/>
                    </a:lnTo>
                    <a:close/>
                  </a:path>
                </a:pathLst>
              </a:custGeom>
              <a:solidFill>
                <a:srgbClr val="6A8C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4" name="Freeform 25"/>
              <p:cNvSpPr>
                <a:spLocks noEditPoints="1"/>
              </p:cNvSpPr>
              <p:nvPr/>
            </p:nvSpPr>
            <p:spPr bwMode="auto">
              <a:xfrm>
                <a:off x="1559356" y="5372218"/>
                <a:ext cx="131763" cy="114300"/>
              </a:xfrm>
              <a:custGeom>
                <a:avLst/>
                <a:gdLst>
                  <a:gd name="T0" fmla="*/ 12 w 268"/>
                  <a:gd name="T1" fmla="*/ 232 h 234"/>
                  <a:gd name="T2" fmla="*/ 4 w 268"/>
                  <a:gd name="T3" fmla="*/ 220 h 234"/>
                  <a:gd name="T4" fmla="*/ 23 w 268"/>
                  <a:gd name="T5" fmla="*/ 120 h 234"/>
                  <a:gd name="T6" fmla="*/ 118 w 268"/>
                  <a:gd name="T7" fmla="*/ 20 h 234"/>
                  <a:gd name="T8" fmla="*/ 153 w 268"/>
                  <a:gd name="T9" fmla="*/ 12 h 234"/>
                  <a:gd name="T10" fmla="*/ 160 w 268"/>
                  <a:gd name="T11" fmla="*/ 18 h 234"/>
                  <a:gd name="T12" fmla="*/ 167 w 268"/>
                  <a:gd name="T13" fmla="*/ 25 h 234"/>
                  <a:gd name="T14" fmla="*/ 173 w 268"/>
                  <a:gd name="T15" fmla="*/ 32 h 234"/>
                  <a:gd name="T16" fmla="*/ 180 w 268"/>
                  <a:gd name="T17" fmla="*/ 37 h 234"/>
                  <a:gd name="T18" fmla="*/ 192 w 268"/>
                  <a:gd name="T19" fmla="*/ 43 h 234"/>
                  <a:gd name="T20" fmla="*/ 204 w 268"/>
                  <a:gd name="T21" fmla="*/ 49 h 234"/>
                  <a:gd name="T22" fmla="*/ 211 w 268"/>
                  <a:gd name="T23" fmla="*/ 56 h 234"/>
                  <a:gd name="T24" fmla="*/ 217 w 268"/>
                  <a:gd name="T25" fmla="*/ 63 h 234"/>
                  <a:gd name="T26" fmla="*/ 223 w 268"/>
                  <a:gd name="T27" fmla="*/ 69 h 234"/>
                  <a:gd name="T28" fmla="*/ 228 w 268"/>
                  <a:gd name="T29" fmla="*/ 75 h 234"/>
                  <a:gd name="T30" fmla="*/ 242 w 268"/>
                  <a:gd name="T31" fmla="*/ 80 h 234"/>
                  <a:gd name="T32" fmla="*/ 255 w 268"/>
                  <a:gd name="T33" fmla="*/ 87 h 234"/>
                  <a:gd name="T34" fmla="*/ 262 w 268"/>
                  <a:gd name="T35" fmla="*/ 94 h 234"/>
                  <a:gd name="T36" fmla="*/ 244 w 268"/>
                  <a:gd name="T37" fmla="*/ 105 h 234"/>
                  <a:gd name="T38" fmla="*/ 68 w 268"/>
                  <a:gd name="T39" fmla="*/ 211 h 234"/>
                  <a:gd name="T40" fmla="*/ 58 w 268"/>
                  <a:gd name="T41" fmla="*/ 217 h 234"/>
                  <a:gd name="T42" fmla="*/ 53 w 268"/>
                  <a:gd name="T43" fmla="*/ 219 h 234"/>
                  <a:gd name="T44" fmla="*/ 35 w 268"/>
                  <a:gd name="T45" fmla="*/ 228 h 234"/>
                  <a:gd name="T46" fmla="*/ 12 w 268"/>
                  <a:gd name="T47" fmla="*/ 232 h 234"/>
                  <a:gd name="T48" fmla="*/ 30 w 268"/>
                  <a:gd name="T49" fmla="*/ 198 h 234"/>
                  <a:gd name="T50" fmla="*/ 24 w 268"/>
                  <a:gd name="T51" fmla="*/ 193 h 234"/>
                  <a:gd name="T52" fmla="*/ 19 w 268"/>
                  <a:gd name="T53" fmla="*/ 198 h 234"/>
                  <a:gd name="T54" fmla="*/ 24 w 268"/>
                  <a:gd name="T55" fmla="*/ 204 h 234"/>
                  <a:gd name="T56" fmla="*/ 30 w 268"/>
                  <a:gd name="T57" fmla="*/ 198 h 234"/>
                  <a:gd name="T58" fmla="*/ 142 w 268"/>
                  <a:gd name="T59" fmla="*/ 99 h 234"/>
                  <a:gd name="T60" fmla="*/ 137 w 268"/>
                  <a:gd name="T61" fmla="*/ 93 h 234"/>
                  <a:gd name="T62" fmla="*/ 131 w 268"/>
                  <a:gd name="T63" fmla="*/ 99 h 234"/>
                  <a:gd name="T64" fmla="*/ 137 w 268"/>
                  <a:gd name="T65" fmla="*/ 105 h 234"/>
                  <a:gd name="T66" fmla="*/ 142 w 268"/>
                  <a:gd name="T67" fmla="*/ 99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268" h="234">
                    <a:moveTo>
                      <a:pt x="12" y="232"/>
                    </a:moveTo>
                    <a:cubicBezTo>
                      <a:pt x="7" y="231"/>
                      <a:pt x="6" y="229"/>
                      <a:pt x="4" y="220"/>
                    </a:cubicBezTo>
                    <a:cubicBezTo>
                      <a:pt x="0" y="185"/>
                      <a:pt x="6" y="153"/>
                      <a:pt x="23" y="120"/>
                    </a:cubicBezTo>
                    <a:cubicBezTo>
                      <a:pt x="45" y="79"/>
                      <a:pt x="70" y="53"/>
                      <a:pt x="118" y="20"/>
                    </a:cubicBezTo>
                    <a:cubicBezTo>
                      <a:pt x="144" y="3"/>
                      <a:pt x="153" y="0"/>
                      <a:pt x="153" y="12"/>
                    </a:cubicBezTo>
                    <a:cubicBezTo>
                      <a:pt x="153" y="18"/>
                      <a:pt x="154" y="18"/>
                      <a:pt x="160" y="18"/>
                    </a:cubicBezTo>
                    <a:cubicBezTo>
                      <a:pt x="166" y="18"/>
                      <a:pt x="167" y="19"/>
                      <a:pt x="167" y="25"/>
                    </a:cubicBezTo>
                    <a:cubicBezTo>
                      <a:pt x="167" y="31"/>
                      <a:pt x="167" y="32"/>
                      <a:pt x="173" y="32"/>
                    </a:cubicBezTo>
                    <a:cubicBezTo>
                      <a:pt x="179" y="32"/>
                      <a:pt x="180" y="32"/>
                      <a:pt x="180" y="37"/>
                    </a:cubicBezTo>
                    <a:cubicBezTo>
                      <a:pt x="180" y="42"/>
                      <a:pt x="180" y="43"/>
                      <a:pt x="192" y="43"/>
                    </a:cubicBezTo>
                    <a:cubicBezTo>
                      <a:pt x="204" y="43"/>
                      <a:pt x="204" y="43"/>
                      <a:pt x="204" y="49"/>
                    </a:cubicBezTo>
                    <a:cubicBezTo>
                      <a:pt x="204" y="55"/>
                      <a:pt x="205" y="56"/>
                      <a:pt x="211" y="56"/>
                    </a:cubicBezTo>
                    <a:cubicBezTo>
                      <a:pt x="217" y="56"/>
                      <a:pt x="217" y="57"/>
                      <a:pt x="217" y="63"/>
                    </a:cubicBezTo>
                    <a:cubicBezTo>
                      <a:pt x="217" y="68"/>
                      <a:pt x="218" y="69"/>
                      <a:pt x="223" y="69"/>
                    </a:cubicBezTo>
                    <a:cubicBezTo>
                      <a:pt x="227" y="69"/>
                      <a:pt x="228" y="70"/>
                      <a:pt x="228" y="75"/>
                    </a:cubicBezTo>
                    <a:cubicBezTo>
                      <a:pt x="228" y="80"/>
                      <a:pt x="229" y="80"/>
                      <a:pt x="242" y="80"/>
                    </a:cubicBezTo>
                    <a:cubicBezTo>
                      <a:pt x="255" y="80"/>
                      <a:pt x="255" y="80"/>
                      <a:pt x="255" y="87"/>
                    </a:cubicBezTo>
                    <a:cubicBezTo>
                      <a:pt x="255" y="93"/>
                      <a:pt x="256" y="93"/>
                      <a:pt x="262" y="94"/>
                    </a:cubicBezTo>
                    <a:cubicBezTo>
                      <a:pt x="268" y="94"/>
                      <a:pt x="264" y="96"/>
                      <a:pt x="244" y="105"/>
                    </a:cubicBezTo>
                    <a:cubicBezTo>
                      <a:pt x="154" y="144"/>
                      <a:pt x="94" y="180"/>
                      <a:pt x="68" y="211"/>
                    </a:cubicBezTo>
                    <a:cubicBezTo>
                      <a:pt x="65" y="214"/>
                      <a:pt x="60" y="217"/>
                      <a:pt x="58" y="217"/>
                    </a:cubicBezTo>
                    <a:cubicBezTo>
                      <a:pt x="56" y="217"/>
                      <a:pt x="54" y="218"/>
                      <a:pt x="53" y="219"/>
                    </a:cubicBezTo>
                    <a:cubicBezTo>
                      <a:pt x="53" y="220"/>
                      <a:pt x="45" y="224"/>
                      <a:pt x="35" y="228"/>
                    </a:cubicBezTo>
                    <a:cubicBezTo>
                      <a:pt x="22" y="233"/>
                      <a:pt x="16" y="234"/>
                      <a:pt x="12" y="232"/>
                    </a:cubicBezTo>
                    <a:close/>
                    <a:moveTo>
                      <a:pt x="30" y="198"/>
                    </a:moveTo>
                    <a:cubicBezTo>
                      <a:pt x="30" y="194"/>
                      <a:pt x="28" y="193"/>
                      <a:pt x="24" y="193"/>
                    </a:cubicBezTo>
                    <a:cubicBezTo>
                      <a:pt x="20" y="193"/>
                      <a:pt x="19" y="194"/>
                      <a:pt x="19" y="198"/>
                    </a:cubicBezTo>
                    <a:cubicBezTo>
                      <a:pt x="19" y="203"/>
                      <a:pt x="20" y="204"/>
                      <a:pt x="24" y="204"/>
                    </a:cubicBezTo>
                    <a:cubicBezTo>
                      <a:pt x="28" y="204"/>
                      <a:pt x="30" y="203"/>
                      <a:pt x="30" y="198"/>
                    </a:cubicBezTo>
                    <a:close/>
                    <a:moveTo>
                      <a:pt x="142" y="99"/>
                    </a:moveTo>
                    <a:cubicBezTo>
                      <a:pt x="142" y="95"/>
                      <a:pt x="141" y="93"/>
                      <a:pt x="137" y="93"/>
                    </a:cubicBezTo>
                    <a:cubicBezTo>
                      <a:pt x="132" y="93"/>
                      <a:pt x="131" y="95"/>
                      <a:pt x="131" y="99"/>
                    </a:cubicBezTo>
                    <a:cubicBezTo>
                      <a:pt x="131" y="103"/>
                      <a:pt x="132" y="105"/>
                      <a:pt x="137" y="105"/>
                    </a:cubicBezTo>
                    <a:cubicBezTo>
                      <a:pt x="141" y="105"/>
                      <a:pt x="142" y="103"/>
                      <a:pt x="142" y="99"/>
                    </a:cubicBezTo>
                    <a:close/>
                  </a:path>
                </a:pathLst>
              </a:custGeom>
              <a:solidFill>
                <a:srgbClr val="A00000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5" name="Freeform 26"/>
              <p:cNvSpPr>
                <a:spLocks noEditPoints="1"/>
              </p:cNvSpPr>
              <p:nvPr/>
            </p:nvSpPr>
            <p:spPr bwMode="auto">
              <a:xfrm>
                <a:off x="1559356" y="5372218"/>
                <a:ext cx="131763" cy="114300"/>
              </a:xfrm>
              <a:custGeom>
                <a:avLst/>
                <a:gdLst>
                  <a:gd name="T0" fmla="*/ 12 w 268"/>
                  <a:gd name="T1" fmla="*/ 232 h 234"/>
                  <a:gd name="T2" fmla="*/ 4 w 268"/>
                  <a:gd name="T3" fmla="*/ 220 h 234"/>
                  <a:gd name="T4" fmla="*/ 23 w 268"/>
                  <a:gd name="T5" fmla="*/ 120 h 234"/>
                  <a:gd name="T6" fmla="*/ 118 w 268"/>
                  <a:gd name="T7" fmla="*/ 20 h 234"/>
                  <a:gd name="T8" fmla="*/ 153 w 268"/>
                  <a:gd name="T9" fmla="*/ 12 h 234"/>
                  <a:gd name="T10" fmla="*/ 160 w 268"/>
                  <a:gd name="T11" fmla="*/ 18 h 234"/>
                  <a:gd name="T12" fmla="*/ 167 w 268"/>
                  <a:gd name="T13" fmla="*/ 25 h 234"/>
                  <a:gd name="T14" fmla="*/ 173 w 268"/>
                  <a:gd name="T15" fmla="*/ 32 h 234"/>
                  <a:gd name="T16" fmla="*/ 180 w 268"/>
                  <a:gd name="T17" fmla="*/ 37 h 234"/>
                  <a:gd name="T18" fmla="*/ 192 w 268"/>
                  <a:gd name="T19" fmla="*/ 43 h 234"/>
                  <a:gd name="T20" fmla="*/ 204 w 268"/>
                  <a:gd name="T21" fmla="*/ 49 h 234"/>
                  <a:gd name="T22" fmla="*/ 211 w 268"/>
                  <a:gd name="T23" fmla="*/ 56 h 234"/>
                  <a:gd name="T24" fmla="*/ 217 w 268"/>
                  <a:gd name="T25" fmla="*/ 63 h 234"/>
                  <a:gd name="T26" fmla="*/ 223 w 268"/>
                  <a:gd name="T27" fmla="*/ 69 h 234"/>
                  <a:gd name="T28" fmla="*/ 228 w 268"/>
                  <a:gd name="T29" fmla="*/ 75 h 234"/>
                  <a:gd name="T30" fmla="*/ 242 w 268"/>
                  <a:gd name="T31" fmla="*/ 80 h 234"/>
                  <a:gd name="T32" fmla="*/ 255 w 268"/>
                  <a:gd name="T33" fmla="*/ 87 h 234"/>
                  <a:gd name="T34" fmla="*/ 262 w 268"/>
                  <a:gd name="T35" fmla="*/ 94 h 234"/>
                  <a:gd name="T36" fmla="*/ 244 w 268"/>
                  <a:gd name="T37" fmla="*/ 105 h 234"/>
                  <a:gd name="T38" fmla="*/ 68 w 268"/>
                  <a:gd name="T39" fmla="*/ 211 h 234"/>
                  <a:gd name="T40" fmla="*/ 58 w 268"/>
                  <a:gd name="T41" fmla="*/ 217 h 234"/>
                  <a:gd name="T42" fmla="*/ 53 w 268"/>
                  <a:gd name="T43" fmla="*/ 219 h 234"/>
                  <a:gd name="T44" fmla="*/ 35 w 268"/>
                  <a:gd name="T45" fmla="*/ 228 h 234"/>
                  <a:gd name="T46" fmla="*/ 12 w 268"/>
                  <a:gd name="T47" fmla="*/ 232 h 234"/>
                  <a:gd name="T48" fmla="*/ 30 w 268"/>
                  <a:gd name="T49" fmla="*/ 198 h 234"/>
                  <a:gd name="T50" fmla="*/ 24 w 268"/>
                  <a:gd name="T51" fmla="*/ 193 h 234"/>
                  <a:gd name="T52" fmla="*/ 19 w 268"/>
                  <a:gd name="T53" fmla="*/ 198 h 234"/>
                  <a:gd name="T54" fmla="*/ 24 w 268"/>
                  <a:gd name="T55" fmla="*/ 204 h 234"/>
                  <a:gd name="T56" fmla="*/ 30 w 268"/>
                  <a:gd name="T57" fmla="*/ 198 h 234"/>
                  <a:gd name="T58" fmla="*/ 142 w 268"/>
                  <a:gd name="T59" fmla="*/ 99 h 234"/>
                  <a:gd name="T60" fmla="*/ 137 w 268"/>
                  <a:gd name="T61" fmla="*/ 93 h 234"/>
                  <a:gd name="T62" fmla="*/ 131 w 268"/>
                  <a:gd name="T63" fmla="*/ 99 h 234"/>
                  <a:gd name="T64" fmla="*/ 137 w 268"/>
                  <a:gd name="T65" fmla="*/ 105 h 234"/>
                  <a:gd name="T66" fmla="*/ 142 w 268"/>
                  <a:gd name="T67" fmla="*/ 99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268" h="234">
                    <a:moveTo>
                      <a:pt x="12" y="232"/>
                    </a:moveTo>
                    <a:cubicBezTo>
                      <a:pt x="7" y="231"/>
                      <a:pt x="6" y="229"/>
                      <a:pt x="4" y="220"/>
                    </a:cubicBezTo>
                    <a:cubicBezTo>
                      <a:pt x="0" y="185"/>
                      <a:pt x="6" y="153"/>
                      <a:pt x="23" y="120"/>
                    </a:cubicBezTo>
                    <a:cubicBezTo>
                      <a:pt x="45" y="79"/>
                      <a:pt x="70" y="53"/>
                      <a:pt x="118" y="20"/>
                    </a:cubicBezTo>
                    <a:cubicBezTo>
                      <a:pt x="144" y="3"/>
                      <a:pt x="153" y="0"/>
                      <a:pt x="153" y="12"/>
                    </a:cubicBezTo>
                    <a:cubicBezTo>
                      <a:pt x="153" y="18"/>
                      <a:pt x="154" y="18"/>
                      <a:pt x="160" y="18"/>
                    </a:cubicBezTo>
                    <a:cubicBezTo>
                      <a:pt x="166" y="18"/>
                      <a:pt x="167" y="19"/>
                      <a:pt x="167" y="25"/>
                    </a:cubicBezTo>
                    <a:cubicBezTo>
                      <a:pt x="167" y="31"/>
                      <a:pt x="167" y="32"/>
                      <a:pt x="173" y="32"/>
                    </a:cubicBezTo>
                    <a:cubicBezTo>
                      <a:pt x="179" y="32"/>
                      <a:pt x="180" y="32"/>
                      <a:pt x="180" y="37"/>
                    </a:cubicBezTo>
                    <a:cubicBezTo>
                      <a:pt x="180" y="42"/>
                      <a:pt x="180" y="43"/>
                      <a:pt x="192" y="43"/>
                    </a:cubicBezTo>
                    <a:cubicBezTo>
                      <a:pt x="204" y="43"/>
                      <a:pt x="204" y="43"/>
                      <a:pt x="204" y="49"/>
                    </a:cubicBezTo>
                    <a:cubicBezTo>
                      <a:pt x="204" y="55"/>
                      <a:pt x="205" y="56"/>
                      <a:pt x="211" y="56"/>
                    </a:cubicBezTo>
                    <a:cubicBezTo>
                      <a:pt x="217" y="56"/>
                      <a:pt x="217" y="57"/>
                      <a:pt x="217" y="63"/>
                    </a:cubicBezTo>
                    <a:cubicBezTo>
                      <a:pt x="217" y="68"/>
                      <a:pt x="218" y="69"/>
                      <a:pt x="223" y="69"/>
                    </a:cubicBezTo>
                    <a:cubicBezTo>
                      <a:pt x="227" y="69"/>
                      <a:pt x="228" y="70"/>
                      <a:pt x="228" y="75"/>
                    </a:cubicBezTo>
                    <a:cubicBezTo>
                      <a:pt x="228" y="80"/>
                      <a:pt x="229" y="80"/>
                      <a:pt x="242" y="80"/>
                    </a:cubicBezTo>
                    <a:cubicBezTo>
                      <a:pt x="255" y="80"/>
                      <a:pt x="255" y="80"/>
                      <a:pt x="255" y="87"/>
                    </a:cubicBezTo>
                    <a:cubicBezTo>
                      <a:pt x="255" y="93"/>
                      <a:pt x="256" y="93"/>
                      <a:pt x="262" y="94"/>
                    </a:cubicBezTo>
                    <a:cubicBezTo>
                      <a:pt x="268" y="94"/>
                      <a:pt x="264" y="96"/>
                      <a:pt x="244" y="105"/>
                    </a:cubicBezTo>
                    <a:cubicBezTo>
                      <a:pt x="154" y="144"/>
                      <a:pt x="94" y="180"/>
                      <a:pt x="68" y="211"/>
                    </a:cubicBezTo>
                    <a:cubicBezTo>
                      <a:pt x="65" y="214"/>
                      <a:pt x="60" y="217"/>
                      <a:pt x="58" y="217"/>
                    </a:cubicBezTo>
                    <a:cubicBezTo>
                      <a:pt x="56" y="217"/>
                      <a:pt x="54" y="218"/>
                      <a:pt x="53" y="219"/>
                    </a:cubicBezTo>
                    <a:cubicBezTo>
                      <a:pt x="53" y="220"/>
                      <a:pt x="45" y="224"/>
                      <a:pt x="35" y="228"/>
                    </a:cubicBezTo>
                    <a:cubicBezTo>
                      <a:pt x="22" y="233"/>
                      <a:pt x="16" y="234"/>
                      <a:pt x="12" y="232"/>
                    </a:cubicBezTo>
                    <a:close/>
                    <a:moveTo>
                      <a:pt x="30" y="198"/>
                    </a:moveTo>
                    <a:cubicBezTo>
                      <a:pt x="30" y="194"/>
                      <a:pt x="28" y="193"/>
                      <a:pt x="24" y="193"/>
                    </a:cubicBezTo>
                    <a:cubicBezTo>
                      <a:pt x="20" y="193"/>
                      <a:pt x="19" y="194"/>
                      <a:pt x="19" y="198"/>
                    </a:cubicBezTo>
                    <a:cubicBezTo>
                      <a:pt x="19" y="203"/>
                      <a:pt x="20" y="204"/>
                      <a:pt x="24" y="204"/>
                    </a:cubicBezTo>
                    <a:cubicBezTo>
                      <a:pt x="28" y="204"/>
                      <a:pt x="30" y="203"/>
                      <a:pt x="30" y="198"/>
                    </a:cubicBezTo>
                    <a:close/>
                    <a:moveTo>
                      <a:pt x="142" y="99"/>
                    </a:moveTo>
                    <a:cubicBezTo>
                      <a:pt x="142" y="95"/>
                      <a:pt x="141" y="93"/>
                      <a:pt x="137" y="93"/>
                    </a:cubicBezTo>
                    <a:cubicBezTo>
                      <a:pt x="132" y="93"/>
                      <a:pt x="131" y="95"/>
                      <a:pt x="131" y="99"/>
                    </a:cubicBezTo>
                    <a:cubicBezTo>
                      <a:pt x="131" y="103"/>
                      <a:pt x="132" y="105"/>
                      <a:pt x="137" y="105"/>
                    </a:cubicBezTo>
                    <a:cubicBezTo>
                      <a:pt x="141" y="105"/>
                      <a:pt x="142" y="103"/>
                      <a:pt x="142" y="99"/>
                    </a:cubicBezTo>
                    <a:close/>
                  </a:path>
                </a:pathLst>
              </a:custGeom>
              <a:solidFill>
                <a:srgbClr val="A00000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6" name="Freeform 27"/>
              <p:cNvSpPr>
                <a:spLocks noEditPoints="1"/>
              </p:cNvSpPr>
              <p:nvPr/>
            </p:nvSpPr>
            <p:spPr bwMode="auto">
              <a:xfrm>
                <a:off x="1678418" y="5400793"/>
                <a:ext cx="231775" cy="80963"/>
              </a:xfrm>
              <a:custGeom>
                <a:avLst/>
                <a:gdLst>
                  <a:gd name="T0" fmla="*/ 445 w 472"/>
                  <a:gd name="T1" fmla="*/ 156 h 166"/>
                  <a:gd name="T2" fmla="*/ 274 w 472"/>
                  <a:gd name="T3" fmla="*/ 120 h 166"/>
                  <a:gd name="T4" fmla="*/ 28 w 472"/>
                  <a:gd name="T5" fmla="*/ 120 h 166"/>
                  <a:gd name="T6" fmla="*/ 0 w 472"/>
                  <a:gd name="T7" fmla="*/ 123 h 166"/>
                  <a:gd name="T8" fmla="*/ 0 w 472"/>
                  <a:gd name="T9" fmla="*/ 118 h 166"/>
                  <a:gd name="T10" fmla="*/ 0 w 472"/>
                  <a:gd name="T11" fmla="*/ 113 h 166"/>
                  <a:gd name="T12" fmla="*/ 37 w 472"/>
                  <a:gd name="T13" fmla="*/ 113 h 166"/>
                  <a:gd name="T14" fmla="*/ 75 w 472"/>
                  <a:gd name="T15" fmla="*/ 113 h 166"/>
                  <a:gd name="T16" fmla="*/ 75 w 472"/>
                  <a:gd name="T17" fmla="*/ 106 h 166"/>
                  <a:gd name="T18" fmla="*/ 87 w 472"/>
                  <a:gd name="T19" fmla="*/ 99 h 166"/>
                  <a:gd name="T20" fmla="*/ 99 w 472"/>
                  <a:gd name="T21" fmla="*/ 94 h 166"/>
                  <a:gd name="T22" fmla="*/ 105 w 472"/>
                  <a:gd name="T23" fmla="*/ 88 h 166"/>
                  <a:gd name="T24" fmla="*/ 110 w 472"/>
                  <a:gd name="T25" fmla="*/ 82 h 166"/>
                  <a:gd name="T26" fmla="*/ 117 w 472"/>
                  <a:gd name="T27" fmla="*/ 75 h 166"/>
                  <a:gd name="T28" fmla="*/ 124 w 472"/>
                  <a:gd name="T29" fmla="*/ 68 h 166"/>
                  <a:gd name="T30" fmla="*/ 136 w 472"/>
                  <a:gd name="T31" fmla="*/ 62 h 166"/>
                  <a:gd name="T32" fmla="*/ 148 w 472"/>
                  <a:gd name="T33" fmla="*/ 62 h 166"/>
                  <a:gd name="T34" fmla="*/ 148 w 472"/>
                  <a:gd name="T35" fmla="*/ 31 h 166"/>
                  <a:gd name="T36" fmla="*/ 148 w 472"/>
                  <a:gd name="T37" fmla="*/ 0 h 166"/>
                  <a:gd name="T38" fmla="*/ 155 w 472"/>
                  <a:gd name="T39" fmla="*/ 0 h 166"/>
                  <a:gd name="T40" fmla="*/ 161 w 472"/>
                  <a:gd name="T41" fmla="*/ 5 h 166"/>
                  <a:gd name="T42" fmla="*/ 169 w 472"/>
                  <a:gd name="T43" fmla="*/ 12 h 166"/>
                  <a:gd name="T44" fmla="*/ 188 w 472"/>
                  <a:gd name="T45" fmla="*/ 13 h 166"/>
                  <a:gd name="T46" fmla="*/ 199 w 472"/>
                  <a:gd name="T47" fmla="*/ 19 h 166"/>
                  <a:gd name="T48" fmla="*/ 213 w 472"/>
                  <a:gd name="T49" fmla="*/ 24 h 166"/>
                  <a:gd name="T50" fmla="*/ 247 w 472"/>
                  <a:gd name="T51" fmla="*/ 35 h 166"/>
                  <a:gd name="T52" fmla="*/ 254 w 472"/>
                  <a:gd name="T53" fmla="*/ 37 h 166"/>
                  <a:gd name="T54" fmla="*/ 274 w 472"/>
                  <a:gd name="T55" fmla="*/ 46 h 166"/>
                  <a:gd name="T56" fmla="*/ 278 w 472"/>
                  <a:gd name="T57" fmla="*/ 49 h 166"/>
                  <a:gd name="T58" fmla="*/ 298 w 472"/>
                  <a:gd name="T59" fmla="*/ 58 h 166"/>
                  <a:gd name="T60" fmla="*/ 307 w 472"/>
                  <a:gd name="T61" fmla="*/ 62 h 166"/>
                  <a:gd name="T62" fmla="*/ 325 w 472"/>
                  <a:gd name="T63" fmla="*/ 72 h 166"/>
                  <a:gd name="T64" fmla="*/ 332 w 472"/>
                  <a:gd name="T65" fmla="*/ 75 h 166"/>
                  <a:gd name="T66" fmla="*/ 450 w 472"/>
                  <a:gd name="T67" fmla="*/ 148 h 166"/>
                  <a:gd name="T68" fmla="*/ 445 w 472"/>
                  <a:gd name="T69" fmla="*/ 156 h 166"/>
                  <a:gd name="T70" fmla="*/ 347 w 472"/>
                  <a:gd name="T71" fmla="*/ 106 h 166"/>
                  <a:gd name="T72" fmla="*/ 336 w 472"/>
                  <a:gd name="T73" fmla="*/ 99 h 166"/>
                  <a:gd name="T74" fmla="*/ 325 w 472"/>
                  <a:gd name="T75" fmla="*/ 106 h 166"/>
                  <a:gd name="T76" fmla="*/ 336 w 472"/>
                  <a:gd name="T77" fmla="*/ 113 h 166"/>
                  <a:gd name="T78" fmla="*/ 347 w 472"/>
                  <a:gd name="T79" fmla="*/ 106 h 166"/>
                  <a:gd name="T80" fmla="*/ 360 w 472"/>
                  <a:gd name="T81" fmla="*/ 106 h 166"/>
                  <a:gd name="T82" fmla="*/ 355 w 472"/>
                  <a:gd name="T83" fmla="*/ 99 h 166"/>
                  <a:gd name="T84" fmla="*/ 349 w 472"/>
                  <a:gd name="T85" fmla="*/ 106 h 166"/>
                  <a:gd name="T86" fmla="*/ 355 w 472"/>
                  <a:gd name="T87" fmla="*/ 113 h 166"/>
                  <a:gd name="T88" fmla="*/ 360 w 472"/>
                  <a:gd name="T89" fmla="*/ 106 h 166"/>
                  <a:gd name="T90" fmla="*/ 174 w 472"/>
                  <a:gd name="T91" fmla="*/ 94 h 166"/>
                  <a:gd name="T92" fmla="*/ 168 w 472"/>
                  <a:gd name="T93" fmla="*/ 88 h 166"/>
                  <a:gd name="T94" fmla="*/ 161 w 472"/>
                  <a:gd name="T95" fmla="*/ 94 h 166"/>
                  <a:gd name="T96" fmla="*/ 168 w 472"/>
                  <a:gd name="T97" fmla="*/ 99 h 166"/>
                  <a:gd name="T98" fmla="*/ 174 w 472"/>
                  <a:gd name="T99" fmla="*/ 94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472" h="166">
                    <a:moveTo>
                      <a:pt x="445" y="156"/>
                    </a:moveTo>
                    <a:cubicBezTo>
                      <a:pt x="402" y="140"/>
                      <a:pt x="349" y="129"/>
                      <a:pt x="274" y="120"/>
                    </a:cubicBezTo>
                    <a:cubicBezTo>
                      <a:pt x="232" y="115"/>
                      <a:pt x="72" y="115"/>
                      <a:pt x="28" y="120"/>
                    </a:cubicBezTo>
                    <a:lnTo>
                      <a:pt x="0" y="123"/>
                    </a:lnTo>
                    <a:lnTo>
                      <a:pt x="0" y="118"/>
                    </a:lnTo>
                    <a:lnTo>
                      <a:pt x="0" y="113"/>
                    </a:lnTo>
                    <a:lnTo>
                      <a:pt x="37" y="113"/>
                    </a:lnTo>
                    <a:lnTo>
                      <a:pt x="75" y="113"/>
                    </a:lnTo>
                    <a:lnTo>
                      <a:pt x="75" y="106"/>
                    </a:lnTo>
                    <a:cubicBezTo>
                      <a:pt x="75" y="99"/>
                      <a:pt x="75" y="99"/>
                      <a:pt x="87" y="99"/>
                    </a:cubicBezTo>
                    <a:cubicBezTo>
                      <a:pt x="99" y="99"/>
                      <a:pt x="99" y="99"/>
                      <a:pt x="99" y="94"/>
                    </a:cubicBezTo>
                    <a:cubicBezTo>
                      <a:pt x="99" y="89"/>
                      <a:pt x="100" y="88"/>
                      <a:pt x="105" y="88"/>
                    </a:cubicBezTo>
                    <a:cubicBezTo>
                      <a:pt x="110" y="88"/>
                      <a:pt x="110" y="87"/>
                      <a:pt x="110" y="82"/>
                    </a:cubicBezTo>
                    <a:cubicBezTo>
                      <a:pt x="110" y="76"/>
                      <a:pt x="111" y="75"/>
                      <a:pt x="117" y="75"/>
                    </a:cubicBezTo>
                    <a:cubicBezTo>
                      <a:pt x="123" y="75"/>
                      <a:pt x="124" y="74"/>
                      <a:pt x="124" y="68"/>
                    </a:cubicBezTo>
                    <a:cubicBezTo>
                      <a:pt x="124" y="62"/>
                      <a:pt x="124" y="62"/>
                      <a:pt x="136" y="62"/>
                    </a:cubicBezTo>
                    <a:lnTo>
                      <a:pt x="148" y="62"/>
                    </a:lnTo>
                    <a:lnTo>
                      <a:pt x="148" y="31"/>
                    </a:lnTo>
                    <a:lnTo>
                      <a:pt x="148" y="0"/>
                    </a:lnTo>
                    <a:lnTo>
                      <a:pt x="155" y="0"/>
                    </a:lnTo>
                    <a:cubicBezTo>
                      <a:pt x="160" y="0"/>
                      <a:pt x="161" y="1"/>
                      <a:pt x="161" y="5"/>
                    </a:cubicBezTo>
                    <a:cubicBezTo>
                      <a:pt x="161" y="9"/>
                      <a:pt x="163" y="11"/>
                      <a:pt x="169" y="12"/>
                    </a:cubicBezTo>
                    <a:cubicBezTo>
                      <a:pt x="174" y="13"/>
                      <a:pt x="183" y="13"/>
                      <a:pt x="188" y="13"/>
                    </a:cubicBezTo>
                    <a:cubicBezTo>
                      <a:pt x="198" y="13"/>
                      <a:pt x="199" y="14"/>
                      <a:pt x="199" y="19"/>
                    </a:cubicBezTo>
                    <a:cubicBezTo>
                      <a:pt x="199" y="24"/>
                      <a:pt x="199" y="24"/>
                      <a:pt x="213" y="24"/>
                    </a:cubicBezTo>
                    <a:cubicBezTo>
                      <a:pt x="228" y="24"/>
                      <a:pt x="247" y="30"/>
                      <a:pt x="247" y="35"/>
                    </a:cubicBezTo>
                    <a:cubicBezTo>
                      <a:pt x="247" y="36"/>
                      <a:pt x="250" y="37"/>
                      <a:pt x="254" y="37"/>
                    </a:cubicBezTo>
                    <a:cubicBezTo>
                      <a:pt x="262" y="37"/>
                      <a:pt x="274" y="43"/>
                      <a:pt x="274" y="46"/>
                    </a:cubicBezTo>
                    <a:cubicBezTo>
                      <a:pt x="274" y="48"/>
                      <a:pt x="276" y="49"/>
                      <a:pt x="278" y="49"/>
                    </a:cubicBezTo>
                    <a:cubicBezTo>
                      <a:pt x="286" y="49"/>
                      <a:pt x="298" y="55"/>
                      <a:pt x="298" y="58"/>
                    </a:cubicBezTo>
                    <a:cubicBezTo>
                      <a:pt x="298" y="61"/>
                      <a:pt x="300" y="62"/>
                      <a:pt x="307" y="62"/>
                    </a:cubicBezTo>
                    <a:cubicBezTo>
                      <a:pt x="316" y="62"/>
                      <a:pt x="325" y="67"/>
                      <a:pt x="325" y="72"/>
                    </a:cubicBezTo>
                    <a:cubicBezTo>
                      <a:pt x="325" y="74"/>
                      <a:pt x="327" y="75"/>
                      <a:pt x="332" y="75"/>
                    </a:cubicBezTo>
                    <a:cubicBezTo>
                      <a:pt x="344" y="75"/>
                      <a:pt x="411" y="117"/>
                      <a:pt x="450" y="148"/>
                    </a:cubicBezTo>
                    <a:cubicBezTo>
                      <a:pt x="472" y="166"/>
                      <a:pt x="472" y="166"/>
                      <a:pt x="445" y="156"/>
                    </a:cubicBezTo>
                    <a:close/>
                    <a:moveTo>
                      <a:pt x="347" y="106"/>
                    </a:moveTo>
                    <a:cubicBezTo>
                      <a:pt x="347" y="100"/>
                      <a:pt x="347" y="99"/>
                      <a:pt x="336" y="99"/>
                    </a:cubicBezTo>
                    <a:cubicBezTo>
                      <a:pt x="325" y="99"/>
                      <a:pt x="325" y="100"/>
                      <a:pt x="325" y="106"/>
                    </a:cubicBezTo>
                    <a:cubicBezTo>
                      <a:pt x="325" y="112"/>
                      <a:pt x="325" y="113"/>
                      <a:pt x="336" y="113"/>
                    </a:cubicBezTo>
                    <a:cubicBezTo>
                      <a:pt x="347" y="113"/>
                      <a:pt x="347" y="112"/>
                      <a:pt x="347" y="106"/>
                    </a:cubicBezTo>
                    <a:close/>
                    <a:moveTo>
                      <a:pt x="360" y="106"/>
                    </a:moveTo>
                    <a:cubicBezTo>
                      <a:pt x="360" y="100"/>
                      <a:pt x="359" y="99"/>
                      <a:pt x="355" y="99"/>
                    </a:cubicBezTo>
                    <a:cubicBezTo>
                      <a:pt x="350" y="99"/>
                      <a:pt x="349" y="100"/>
                      <a:pt x="349" y="106"/>
                    </a:cubicBezTo>
                    <a:cubicBezTo>
                      <a:pt x="349" y="112"/>
                      <a:pt x="350" y="113"/>
                      <a:pt x="355" y="113"/>
                    </a:cubicBezTo>
                    <a:cubicBezTo>
                      <a:pt x="359" y="113"/>
                      <a:pt x="360" y="112"/>
                      <a:pt x="360" y="106"/>
                    </a:cubicBezTo>
                    <a:close/>
                    <a:moveTo>
                      <a:pt x="174" y="94"/>
                    </a:moveTo>
                    <a:cubicBezTo>
                      <a:pt x="174" y="89"/>
                      <a:pt x="173" y="88"/>
                      <a:pt x="168" y="88"/>
                    </a:cubicBezTo>
                    <a:cubicBezTo>
                      <a:pt x="162" y="88"/>
                      <a:pt x="161" y="89"/>
                      <a:pt x="161" y="94"/>
                    </a:cubicBezTo>
                    <a:cubicBezTo>
                      <a:pt x="161" y="98"/>
                      <a:pt x="162" y="99"/>
                      <a:pt x="168" y="99"/>
                    </a:cubicBezTo>
                    <a:cubicBezTo>
                      <a:pt x="173" y="99"/>
                      <a:pt x="174" y="98"/>
                      <a:pt x="174" y="94"/>
                    </a:cubicBezTo>
                    <a:close/>
                  </a:path>
                </a:pathLst>
              </a:custGeom>
              <a:solidFill>
                <a:srgbClr val="A1BDA8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7" name="Freeform 28"/>
              <p:cNvSpPr>
                <a:spLocks noEditPoints="1"/>
              </p:cNvSpPr>
              <p:nvPr/>
            </p:nvSpPr>
            <p:spPr bwMode="auto">
              <a:xfrm>
                <a:off x="1678418" y="5400793"/>
                <a:ext cx="231775" cy="80963"/>
              </a:xfrm>
              <a:custGeom>
                <a:avLst/>
                <a:gdLst>
                  <a:gd name="T0" fmla="*/ 445 w 472"/>
                  <a:gd name="T1" fmla="*/ 156 h 166"/>
                  <a:gd name="T2" fmla="*/ 274 w 472"/>
                  <a:gd name="T3" fmla="*/ 120 h 166"/>
                  <a:gd name="T4" fmla="*/ 28 w 472"/>
                  <a:gd name="T5" fmla="*/ 120 h 166"/>
                  <a:gd name="T6" fmla="*/ 0 w 472"/>
                  <a:gd name="T7" fmla="*/ 123 h 166"/>
                  <a:gd name="T8" fmla="*/ 0 w 472"/>
                  <a:gd name="T9" fmla="*/ 118 h 166"/>
                  <a:gd name="T10" fmla="*/ 0 w 472"/>
                  <a:gd name="T11" fmla="*/ 113 h 166"/>
                  <a:gd name="T12" fmla="*/ 37 w 472"/>
                  <a:gd name="T13" fmla="*/ 113 h 166"/>
                  <a:gd name="T14" fmla="*/ 75 w 472"/>
                  <a:gd name="T15" fmla="*/ 113 h 166"/>
                  <a:gd name="T16" fmla="*/ 75 w 472"/>
                  <a:gd name="T17" fmla="*/ 106 h 166"/>
                  <a:gd name="T18" fmla="*/ 87 w 472"/>
                  <a:gd name="T19" fmla="*/ 99 h 166"/>
                  <a:gd name="T20" fmla="*/ 99 w 472"/>
                  <a:gd name="T21" fmla="*/ 94 h 166"/>
                  <a:gd name="T22" fmla="*/ 105 w 472"/>
                  <a:gd name="T23" fmla="*/ 88 h 166"/>
                  <a:gd name="T24" fmla="*/ 110 w 472"/>
                  <a:gd name="T25" fmla="*/ 82 h 166"/>
                  <a:gd name="T26" fmla="*/ 117 w 472"/>
                  <a:gd name="T27" fmla="*/ 75 h 166"/>
                  <a:gd name="T28" fmla="*/ 124 w 472"/>
                  <a:gd name="T29" fmla="*/ 68 h 166"/>
                  <a:gd name="T30" fmla="*/ 136 w 472"/>
                  <a:gd name="T31" fmla="*/ 62 h 166"/>
                  <a:gd name="T32" fmla="*/ 148 w 472"/>
                  <a:gd name="T33" fmla="*/ 62 h 166"/>
                  <a:gd name="T34" fmla="*/ 148 w 472"/>
                  <a:gd name="T35" fmla="*/ 31 h 166"/>
                  <a:gd name="T36" fmla="*/ 148 w 472"/>
                  <a:gd name="T37" fmla="*/ 0 h 166"/>
                  <a:gd name="T38" fmla="*/ 155 w 472"/>
                  <a:gd name="T39" fmla="*/ 0 h 166"/>
                  <a:gd name="T40" fmla="*/ 161 w 472"/>
                  <a:gd name="T41" fmla="*/ 5 h 166"/>
                  <a:gd name="T42" fmla="*/ 169 w 472"/>
                  <a:gd name="T43" fmla="*/ 12 h 166"/>
                  <a:gd name="T44" fmla="*/ 188 w 472"/>
                  <a:gd name="T45" fmla="*/ 13 h 166"/>
                  <a:gd name="T46" fmla="*/ 199 w 472"/>
                  <a:gd name="T47" fmla="*/ 19 h 166"/>
                  <a:gd name="T48" fmla="*/ 213 w 472"/>
                  <a:gd name="T49" fmla="*/ 24 h 166"/>
                  <a:gd name="T50" fmla="*/ 247 w 472"/>
                  <a:gd name="T51" fmla="*/ 35 h 166"/>
                  <a:gd name="T52" fmla="*/ 254 w 472"/>
                  <a:gd name="T53" fmla="*/ 37 h 166"/>
                  <a:gd name="T54" fmla="*/ 274 w 472"/>
                  <a:gd name="T55" fmla="*/ 46 h 166"/>
                  <a:gd name="T56" fmla="*/ 278 w 472"/>
                  <a:gd name="T57" fmla="*/ 49 h 166"/>
                  <a:gd name="T58" fmla="*/ 298 w 472"/>
                  <a:gd name="T59" fmla="*/ 58 h 166"/>
                  <a:gd name="T60" fmla="*/ 307 w 472"/>
                  <a:gd name="T61" fmla="*/ 62 h 166"/>
                  <a:gd name="T62" fmla="*/ 325 w 472"/>
                  <a:gd name="T63" fmla="*/ 72 h 166"/>
                  <a:gd name="T64" fmla="*/ 332 w 472"/>
                  <a:gd name="T65" fmla="*/ 75 h 166"/>
                  <a:gd name="T66" fmla="*/ 450 w 472"/>
                  <a:gd name="T67" fmla="*/ 148 h 166"/>
                  <a:gd name="T68" fmla="*/ 445 w 472"/>
                  <a:gd name="T69" fmla="*/ 156 h 166"/>
                  <a:gd name="T70" fmla="*/ 347 w 472"/>
                  <a:gd name="T71" fmla="*/ 106 h 166"/>
                  <a:gd name="T72" fmla="*/ 336 w 472"/>
                  <a:gd name="T73" fmla="*/ 99 h 166"/>
                  <a:gd name="T74" fmla="*/ 325 w 472"/>
                  <a:gd name="T75" fmla="*/ 106 h 166"/>
                  <a:gd name="T76" fmla="*/ 336 w 472"/>
                  <a:gd name="T77" fmla="*/ 113 h 166"/>
                  <a:gd name="T78" fmla="*/ 347 w 472"/>
                  <a:gd name="T79" fmla="*/ 106 h 166"/>
                  <a:gd name="T80" fmla="*/ 360 w 472"/>
                  <a:gd name="T81" fmla="*/ 106 h 166"/>
                  <a:gd name="T82" fmla="*/ 355 w 472"/>
                  <a:gd name="T83" fmla="*/ 99 h 166"/>
                  <a:gd name="T84" fmla="*/ 349 w 472"/>
                  <a:gd name="T85" fmla="*/ 106 h 166"/>
                  <a:gd name="T86" fmla="*/ 355 w 472"/>
                  <a:gd name="T87" fmla="*/ 113 h 166"/>
                  <a:gd name="T88" fmla="*/ 360 w 472"/>
                  <a:gd name="T89" fmla="*/ 106 h 166"/>
                  <a:gd name="T90" fmla="*/ 174 w 472"/>
                  <a:gd name="T91" fmla="*/ 94 h 166"/>
                  <a:gd name="T92" fmla="*/ 168 w 472"/>
                  <a:gd name="T93" fmla="*/ 88 h 166"/>
                  <a:gd name="T94" fmla="*/ 161 w 472"/>
                  <a:gd name="T95" fmla="*/ 94 h 166"/>
                  <a:gd name="T96" fmla="*/ 168 w 472"/>
                  <a:gd name="T97" fmla="*/ 99 h 166"/>
                  <a:gd name="T98" fmla="*/ 174 w 472"/>
                  <a:gd name="T99" fmla="*/ 94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472" h="166">
                    <a:moveTo>
                      <a:pt x="445" y="156"/>
                    </a:moveTo>
                    <a:cubicBezTo>
                      <a:pt x="402" y="140"/>
                      <a:pt x="349" y="129"/>
                      <a:pt x="274" y="120"/>
                    </a:cubicBezTo>
                    <a:cubicBezTo>
                      <a:pt x="232" y="115"/>
                      <a:pt x="72" y="115"/>
                      <a:pt x="28" y="120"/>
                    </a:cubicBezTo>
                    <a:lnTo>
                      <a:pt x="0" y="123"/>
                    </a:lnTo>
                    <a:lnTo>
                      <a:pt x="0" y="118"/>
                    </a:lnTo>
                    <a:lnTo>
                      <a:pt x="0" y="113"/>
                    </a:lnTo>
                    <a:lnTo>
                      <a:pt x="37" y="113"/>
                    </a:lnTo>
                    <a:lnTo>
                      <a:pt x="75" y="113"/>
                    </a:lnTo>
                    <a:lnTo>
                      <a:pt x="75" y="106"/>
                    </a:lnTo>
                    <a:cubicBezTo>
                      <a:pt x="75" y="99"/>
                      <a:pt x="75" y="99"/>
                      <a:pt x="87" y="99"/>
                    </a:cubicBezTo>
                    <a:cubicBezTo>
                      <a:pt x="99" y="99"/>
                      <a:pt x="99" y="99"/>
                      <a:pt x="99" y="94"/>
                    </a:cubicBezTo>
                    <a:cubicBezTo>
                      <a:pt x="99" y="89"/>
                      <a:pt x="100" y="88"/>
                      <a:pt x="105" y="88"/>
                    </a:cubicBezTo>
                    <a:cubicBezTo>
                      <a:pt x="110" y="88"/>
                      <a:pt x="110" y="87"/>
                      <a:pt x="110" y="82"/>
                    </a:cubicBezTo>
                    <a:cubicBezTo>
                      <a:pt x="110" y="76"/>
                      <a:pt x="111" y="75"/>
                      <a:pt x="117" y="75"/>
                    </a:cubicBezTo>
                    <a:cubicBezTo>
                      <a:pt x="123" y="75"/>
                      <a:pt x="124" y="74"/>
                      <a:pt x="124" y="68"/>
                    </a:cubicBezTo>
                    <a:cubicBezTo>
                      <a:pt x="124" y="62"/>
                      <a:pt x="124" y="62"/>
                      <a:pt x="136" y="62"/>
                    </a:cubicBezTo>
                    <a:lnTo>
                      <a:pt x="148" y="62"/>
                    </a:lnTo>
                    <a:lnTo>
                      <a:pt x="148" y="31"/>
                    </a:lnTo>
                    <a:lnTo>
                      <a:pt x="148" y="0"/>
                    </a:lnTo>
                    <a:lnTo>
                      <a:pt x="155" y="0"/>
                    </a:lnTo>
                    <a:cubicBezTo>
                      <a:pt x="160" y="0"/>
                      <a:pt x="161" y="1"/>
                      <a:pt x="161" y="5"/>
                    </a:cubicBezTo>
                    <a:cubicBezTo>
                      <a:pt x="161" y="9"/>
                      <a:pt x="163" y="11"/>
                      <a:pt x="169" y="12"/>
                    </a:cubicBezTo>
                    <a:cubicBezTo>
                      <a:pt x="174" y="13"/>
                      <a:pt x="183" y="13"/>
                      <a:pt x="188" y="13"/>
                    </a:cubicBezTo>
                    <a:cubicBezTo>
                      <a:pt x="198" y="13"/>
                      <a:pt x="199" y="14"/>
                      <a:pt x="199" y="19"/>
                    </a:cubicBezTo>
                    <a:cubicBezTo>
                      <a:pt x="199" y="24"/>
                      <a:pt x="199" y="24"/>
                      <a:pt x="213" y="24"/>
                    </a:cubicBezTo>
                    <a:cubicBezTo>
                      <a:pt x="228" y="24"/>
                      <a:pt x="247" y="30"/>
                      <a:pt x="247" y="35"/>
                    </a:cubicBezTo>
                    <a:cubicBezTo>
                      <a:pt x="247" y="36"/>
                      <a:pt x="250" y="37"/>
                      <a:pt x="254" y="37"/>
                    </a:cubicBezTo>
                    <a:cubicBezTo>
                      <a:pt x="262" y="37"/>
                      <a:pt x="274" y="43"/>
                      <a:pt x="274" y="46"/>
                    </a:cubicBezTo>
                    <a:cubicBezTo>
                      <a:pt x="274" y="48"/>
                      <a:pt x="276" y="49"/>
                      <a:pt x="278" y="49"/>
                    </a:cubicBezTo>
                    <a:cubicBezTo>
                      <a:pt x="286" y="49"/>
                      <a:pt x="298" y="55"/>
                      <a:pt x="298" y="58"/>
                    </a:cubicBezTo>
                    <a:cubicBezTo>
                      <a:pt x="298" y="61"/>
                      <a:pt x="300" y="62"/>
                      <a:pt x="307" y="62"/>
                    </a:cubicBezTo>
                    <a:cubicBezTo>
                      <a:pt x="316" y="62"/>
                      <a:pt x="325" y="67"/>
                      <a:pt x="325" y="72"/>
                    </a:cubicBezTo>
                    <a:cubicBezTo>
                      <a:pt x="325" y="74"/>
                      <a:pt x="327" y="75"/>
                      <a:pt x="332" y="75"/>
                    </a:cubicBezTo>
                    <a:cubicBezTo>
                      <a:pt x="344" y="75"/>
                      <a:pt x="411" y="117"/>
                      <a:pt x="450" y="148"/>
                    </a:cubicBezTo>
                    <a:cubicBezTo>
                      <a:pt x="472" y="166"/>
                      <a:pt x="472" y="166"/>
                      <a:pt x="445" y="156"/>
                    </a:cubicBezTo>
                    <a:close/>
                    <a:moveTo>
                      <a:pt x="347" y="106"/>
                    </a:moveTo>
                    <a:cubicBezTo>
                      <a:pt x="347" y="100"/>
                      <a:pt x="347" y="99"/>
                      <a:pt x="336" y="99"/>
                    </a:cubicBezTo>
                    <a:cubicBezTo>
                      <a:pt x="325" y="99"/>
                      <a:pt x="325" y="100"/>
                      <a:pt x="325" y="106"/>
                    </a:cubicBezTo>
                    <a:cubicBezTo>
                      <a:pt x="325" y="112"/>
                      <a:pt x="325" y="113"/>
                      <a:pt x="336" y="113"/>
                    </a:cubicBezTo>
                    <a:cubicBezTo>
                      <a:pt x="347" y="113"/>
                      <a:pt x="347" y="112"/>
                      <a:pt x="347" y="106"/>
                    </a:cubicBezTo>
                    <a:close/>
                    <a:moveTo>
                      <a:pt x="360" y="106"/>
                    </a:moveTo>
                    <a:cubicBezTo>
                      <a:pt x="360" y="100"/>
                      <a:pt x="359" y="99"/>
                      <a:pt x="355" y="99"/>
                    </a:cubicBezTo>
                    <a:cubicBezTo>
                      <a:pt x="350" y="99"/>
                      <a:pt x="349" y="100"/>
                      <a:pt x="349" y="106"/>
                    </a:cubicBezTo>
                    <a:cubicBezTo>
                      <a:pt x="349" y="112"/>
                      <a:pt x="350" y="113"/>
                      <a:pt x="355" y="113"/>
                    </a:cubicBezTo>
                    <a:cubicBezTo>
                      <a:pt x="359" y="113"/>
                      <a:pt x="360" y="112"/>
                      <a:pt x="360" y="106"/>
                    </a:cubicBezTo>
                    <a:close/>
                    <a:moveTo>
                      <a:pt x="174" y="94"/>
                    </a:moveTo>
                    <a:cubicBezTo>
                      <a:pt x="174" y="89"/>
                      <a:pt x="173" y="88"/>
                      <a:pt x="168" y="88"/>
                    </a:cubicBezTo>
                    <a:cubicBezTo>
                      <a:pt x="162" y="88"/>
                      <a:pt x="161" y="89"/>
                      <a:pt x="161" y="94"/>
                    </a:cubicBezTo>
                    <a:cubicBezTo>
                      <a:pt x="161" y="98"/>
                      <a:pt x="162" y="99"/>
                      <a:pt x="168" y="99"/>
                    </a:cubicBezTo>
                    <a:cubicBezTo>
                      <a:pt x="173" y="99"/>
                      <a:pt x="174" y="98"/>
                      <a:pt x="174" y="94"/>
                    </a:cubicBezTo>
                    <a:close/>
                  </a:path>
                </a:pathLst>
              </a:custGeom>
              <a:solidFill>
                <a:srgbClr val="A1BDA8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8" name="Freeform 29"/>
              <p:cNvSpPr>
                <a:spLocks noEditPoints="1"/>
              </p:cNvSpPr>
              <p:nvPr/>
            </p:nvSpPr>
            <p:spPr bwMode="auto">
              <a:xfrm>
                <a:off x="1559356" y="5372218"/>
                <a:ext cx="131763" cy="114300"/>
              </a:xfrm>
              <a:custGeom>
                <a:avLst/>
                <a:gdLst>
                  <a:gd name="T0" fmla="*/ 12 w 268"/>
                  <a:gd name="T1" fmla="*/ 232 h 234"/>
                  <a:gd name="T2" fmla="*/ 4 w 268"/>
                  <a:gd name="T3" fmla="*/ 220 h 234"/>
                  <a:gd name="T4" fmla="*/ 23 w 268"/>
                  <a:gd name="T5" fmla="*/ 120 h 234"/>
                  <a:gd name="T6" fmla="*/ 118 w 268"/>
                  <a:gd name="T7" fmla="*/ 20 h 234"/>
                  <a:gd name="T8" fmla="*/ 153 w 268"/>
                  <a:gd name="T9" fmla="*/ 12 h 234"/>
                  <a:gd name="T10" fmla="*/ 160 w 268"/>
                  <a:gd name="T11" fmla="*/ 18 h 234"/>
                  <a:gd name="T12" fmla="*/ 167 w 268"/>
                  <a:gd name="T13" fmla="*/ 25 h 234"/>
                  <a:gd name="T14" fmla="*/ 173 w 268"/>
                  <a:gd name="T15" fmla="*/ 32 h 234"/>
                  <a:gd name="T16" fmla="*/ 180 w 268"/>
                  <a:gd name="T17" fmla="*/ 37 h 234"/>
                  <a:gd name="T18" fmla="*/ 192 w 268"/>
                  <a:gd name="T19" fmla="*/ 43 h 234"/>
                  <a:gd name="T20" fmla="*/ 204 w 268"/>
                  <a:gd name="T21" fmla="*/ 49 h 234"/>
                  <a:gd name="T22" fmla="*/ 211 w 268"/>
                  <a:gd name="T23" fmla="*/ 56 h 234"/>
                  <a:gd name="T24" fmla="*/ 217 w 268"/>
                  <a:gd name="T25" fmla="*/ 63 h 234"/>
                  <a:gd name="T26" fmla="*/ 223 w 268"/>
                  <a:gd name="T27" fmla="*/ 69 h 234"/>
                  <a:gd name="T28" fmla="*/ 228 w 268"/>
                  <a:gd name="T29" fmla="*/ 75 h 234"/>
                  <a:gd name="T30" fmla="*/ 242 w 268"/>
                  <a:gd name="T31" fmla="*/ 80 h 234"/>
                  <a:gd name="T32" fmla="*/ 255 w 268"/>
                  <a:gd name="T33" fmla="*/ 87 h 234"/>
                  <a:gd name="T34" fmla="*/ 262 w 268"/>
                  <a:gd name="T35" fmla="*/ 94 h 234"/>
                  <a:gd name="T36" fmla="*/ 244 w 268"/>
                  <a:gd name="T37" fmla="*/ 105 h 234"/>
                  <a:gd name="T38" fmla="*/ 68 w 268"/>
                  <a:gd name="T39" fmla="*/ 211 h 234"/>
                  <a:gd name="T40" fmla="*/ 58 w 268"/>
                  <a:gd name="T41" fmla="*/ 217 h 234"/>
                  <a:gd name="T42" fmla="*/ 53 w 268"/>
                  <a:gd name="T43" fmla="*/ 219 h 234"/>
                  <a:gd name="T44" fmla="*/ 35 w 268"/>
                  <a:gd name="T45" fmla="*/ 228 h 234"/>
                  <a:gd name="T46" fmla="*/ 12 w 268"/>
                  <a:gd name="T47" fmla="*/ 232 h 234"/>
                  <a:gd name="T48" fmla="*/ 30 w 268"/>
                  <a:gd name="T49" fmla="*/ 198 h 234"/>
                  <a:gd name="T50" fmla="*/ 24 w 268"/>
                  <a:gd name="T51" fmla="*/ 193 h 234"/>
                  <a:gd name="T52" fmla="*/ 19 w 268"/>
                  <a:gd name="T53" fmla="*/ 198 h 234"/>
                  <a:gd name="T54" fmla="*/ 24 w 268"/>
                  <a:gd name="T55" fmla="*/ 204 h 234"/>
                  <a:gd name="T56" fmla="*/ 30 w 268"/>
                  <a:gd name="T57" fmla="*/ 198 h 234"/>
                  <a:gd name="T58" fmla="*/ 142 w 268"/>
                  <a:gd name="T59" fmla="*/ 99 h 234"/>
                  <a:gd name="T60" fmla="*/ 137 w 268"/>
                  <a:gd name="T61" fmla="*/ 93 h 234"/>
                  <a:gd name="T62" fmla="*/ 131 w 268"/>
                  <a:gd name="T63" fmla="*/ 99 h 234"/>
                  <a:gd name="T64" fmla="*/ 137 w 268"/>
                  <a:gd name="T65" fmla="*/ 105 h 234"/>
                  <a:gd name="T66" fmla="*/ 142 w 268"/>
                  <a:gd name="T67" fmla="*/ 99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268" h="234">
                    <a:moveTo>
                      <a:pt x="12" y="232"/>
                    </a:moveTo>
                    <a:cubicBezTo>
                      <a:pt x="7" y="231"/>
                      <a:pt x="6" y="229"/>
                      <a:pt x="4" y="220"/>
                    </a:cubicBezTo>
                    <a:cubicBezTo>
                      <a:pt x="0" y="185"/>
                      <a:pt x="6" y="153"/>
                      <a:pt x="23" y="120"/>
                    </a:cubicBezTo>
                    <a:cubicBezTo>
                      <a:pt x="45" y="79"/>
                      <a:pt x="70" y="53"/>
                      <a:pt x="118" y="20"/>
                    </a:cubicBezTo>
                    <a:cubicBezTo>
                      <a:pt x="144" y="3"/>
                      <a:pt x="153" y="0"/>
                      <a:pt x="153" y="12"/>
                    </a:cubicBezTo>
                    <a:cubicBezTo>
                      <a:pt x="153" y="18"/>
                      <a:pt x="154" y="18"/>
                      <a:pt x="160" y="18"/>
                    </a:cubicBezTo>
                    <a:cubicBezTo>
                      <a:pt x="166" y="18"/>
                      <a:pt x="167" y="19"/>
                      <a:pt x="167" y="25"/>
                    </a:cubicBezTo>
                    <a:cubicBezTo>
                      <a:pt x="167" y="31"/>
                      <a:pt x="167" y="32"/>
                      <a:pt x="173" y="32"/>
                    </a:cubicBezTo>
                    <a:cubicBezTo>
                      <a:pt x="179" y="32"/>
                      <a:pt x="180" y="32"/>
                      <a:pt x="180" y="37"/>
                    </a:cubicBezTo>
                    <a:cubicBezTo>
                      <a:pt x="180" y="42"/>
                      <a:pt x="180" y="43"/>
                      <a:pt x="192" y="43"/>
                    </a:cubicBezTo>
                    <a:cubicBezTo>
                      <a:pt x="204" y="43"/>
                      <a:pt x="204" y="43"/>
                      <a:pt x="204" y="49"/>
                    </a:cubicBezTo>
                    <a:cubicBezTo>
                      <a:pt x="204" y="55"/>
                      <a:pt x="205" y="56"/>
                      <a:pt x="211" y="56"/>
                    </a:cubicBezTo>
                    <a:cubicBezTo>
                      <a:pt x="217" y="56"/>
                      <a:pt x="217" y="57"/>
                      <a:pt x="217" y="63"/>
                    </a:cubicBezTo>
                    <a:cubicBezTo>
                      <a:pt x="217" y="68"/>
                      <a:pt x="218" y="69"/>
                      <a:pt x="223" y="69"/>
                    </a:cubicBezTo>
                    <a:cubicBezTo>
                      <a:pt x="227" y="69"/>
                      <a:pt x="228" y="70"/>
                      <a:pt x="228" y="75"/>
                    </a:cubicBezTo>
                    <a:cubicBezTo>
                      <a:pt x="228" y="80"/>
                      <a:pt x="229" y="80"/>
                      <a:pt x="242" y="80"/>
                    </a:cubicBezTo>
                    <a:cubicBezTo>
                      <a:pt x="255" y="80"/>
                      <a:pt x="255" y="80"/>
                      <a:pt x="255" y="87"/>
                    </a:cubicBezTo>
                    <a:cubicBezTo>
                      <a:pt x="255" y="93"/>
                      <a:pt x="256" y="93"/>
                      <a:pt x="262" y="94"/>
                    </a:cubicBezTo>
                    <a:cubicBezTo>
                      <a:pt x="268" y="94"/>
                      <a:pt x="264" y="96"/>
                      <a:pt x="244" y="105"/>
                    </a:cubicBezTo>
                    <a:cubicBezTo>
                      <a:pt x="154" y="144"/>
                      <a:pt x="94" y="180"/>
                      <a:pt x="68" y="211"/>
                    </a:cubicBezTo>
                    <a:cubicBezTo>
                      <a:pt x="65" y="214"/>
                      <a:pt x="60" y="217"/>
                      <a:pt x="58" y="217"/>
                    </a:cubicBezTo>
                    <a:cubicBezTo>
                      <a:pt x="56" y="217"/>
                      <a:pt x="54" y="218"/>
                      <a:pt x="53" y="219"/>
                    </a:cubicBezTo>
                    <a:cubicBezTo>
                      <a:pt x="53" y="220"/>
                      <a:pt x="45" y="224"/>
                      <a:pt x="35" y="228"/>
                    </a:cubicBezTo>
                    <a:cubicBezTo>
                      <a:pt x="22" y="233"/>
                      <a:pt x="16" y="234"/>
                      <a:pt x="12" y="232"/>
                    </a:cubicBezTo>
                    <a:close/>
                    <a:moveTo>
                      <a:pt x="30" y="198"/>
                    </a:moveTo>
                    <a:cubicBezTo>
                      <a:pt x="30" y="194"/>
                      <a:pt x="28" y="193"/>
                      <a:pt x="24" y="193"/>
                    </a:cubicBezTo>
                    <a:cubicBezTo>
                      <a:pt x="20" y="193"/>
                      <a:pt x="19" y="194"/>
                      <a:pt x="19" y="198"/>
                    </a:cubicBezTo>
                    <a:cubicBezTo>
                      <a:pt x="19" y="203"/>
                      <a:pt x="20" y="204"/>
                      <a:pt x="24" y="204"/>
                    </a:cubicBezTo>
                    <a:cubicBezTo>
                      <a:pt x="28" y="204"/>
                      <a:pt x="30" y="203"/>
                      <a:pt x="30" y="198"/>
                    </a:cubicBezTo>
                    <a:close/>
                    <a:moveTo>
                      <a:pt x="142" y="99"/>
                    </a:moveTo>
                    <a:cubicBezTo>
                      <a:pt x="142" y="95"/>
                      <a:pt x="141" y="93"/>
                      <a:pt x="137" y="93"/>
                    </a:cubicBezTo>
                    <a:cubicBezTo>
                      <a:pt x="132" y="93"/>
                      <a:pt x="131" y="95"/>
                      <a:pt x="131" y="99"/>
                    </a:cubicBezTo>
                    <a:cubicBezTo>
                      <a:pt x="131" y="103"/>
                      <a:pt x="132" y="105"/>
                      <a:pt x="137" y="105"/>
                    </a:cubicBezTo>
                    <a:cubicBezTo>
                      <a:pt x="141" y="105"/>
                      <a:pt x="142" y="103"/>
                      <a:pt x="142" y="99"/>
                    </a:cubicBezTo>
                    <a:close/>
                  </a:path>
                </a:pathLst>
              </a:custGeom>
              <a:solidFill>
                <a:srgbClr val="A1BDA8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9" name="Freeform 30"/>
              <p:cNvSpPr>
                <a:spLocks noEditPoints="1"/>
              </p:cNvSpPr>
              <p:nvPr/>
            </p:nvSpPr>
            <p:spPr bwMode="auto">
              <a:xfrm>
                <a:off x="1500618" y="5007093"/>
                <a:ext cx="673100" cy="1066800"/>
              </a:xfrm>
              <a:custGeom>
                <a:avLst/>
                <a:gdLst>
                  <a:gd name="T0" fmla="*/ 376 w 1378"/>
                  <a:gd name="T1" fmla="*/ 1494 h 2181"/>
                  <a:gd name="T2" fmla="*/ 280 w 1378"/>
                  <a:gd name="T3" fmla="*/ 1703 h 2181"/>
                  <a:gd name="T4" fmla="*/ 53 w 1378"/>
                  <a:gd name="T5" fmla="*/ 2056 h 2181"/>
                  <a:gd name="T6" fmla="*/ 133 w 1378"/>
                  <a:gd name="T7" fmla="*/ 1049 h 2181"/>
                  <a:gd name="T8" fmla="*/ 100 w 1378"/>
                  <a:gd name="T9" fmla="*/ 1009 h 2181"/>
                  <a:gd name="T10" fmla="*/ 184 w 1378"/>
                  <a:gd name="T11" fmla="*/ 759 h 2181"/>
                  <a:gd name="T12" fmla="*/ 246 w 1378"/>
                  <a:gd name="T13" fmla="*/ 691 h 2181"/>
                  <a:gd name="T14" fmla="*/ 444 w 1378"/>
                  <a:gd name="T15" fmla="*/ 90 h 2181"/>
                  <a:gd name="T16" fmla="*/ 992 w 1378"/>
                  <a:gd name="T17" fmla="*/ 337 h 2181"/>
                  <a:gd name="T18" fmla="*/ 1004 w 1378"/>
                  <a:gd name="T19" fmla="*/ 538 h 2181"/>
                  <a:gd name="T20" fmla="*/ 1059 w 1378"/>
                  <a:gd name="T21" fmla="*/ 509 h 2181"/>
                  <a:gd name="T22" fmla="*/ 1347 w 1378"/>
                  <a:gd name="T23" fmla="*/ 0 h 2181"/>
                  <a:gd name="T24" fmla="*/ 1378 w 1378"/>
                  <a:gd name="T25" fmla="*/ 9 h 2181"/>
                  <a:gd name="T26" fmla="*/ 1202 w 1378"/>
                  <a:gd name="T27" fmla="*/ 344 h 2181"/>
                  <a:gd name="T28" fmla="*/ 1022 w 1378"/>
                  <a:gd name="T29" fmla="*/ 709 h 2181"/>
                  <a:gd name="T30" fmla="*/ 881 w 1378"/>
                  <a:gd name="T31" fmla="*/ 1011 h 2181"/>
                  <a:gd name="T32" fmla="*/ 581 w 1378"/>
                  <a:gd name="T33" fmla="*/ 950 h 2181"/>
                  <a:gd name="T34" fmla="*/ 143 w 1378"/>
                  <a:gd name="T35" fmla="*/ 1112 h 2181"/>
                  <a:gd name="T36" fmla="*/ 136 w 1378"/>
                  <a:gd name="T37" fmla="*/ 2068 h 2181"/>
                  <a:gd name="T38" fmla="*/ 281 w 1378"/>
                  <a:gd name="T39" fmla="*/ 1522 h 2181"/>
                  <a:gd name="T40" fmla="*/ 464 w 1378"/>
                  <a:gd name="T41" fmla="*/ 2034 h 2181"/>
                  <a:gd name="T42" fmla="*/ 431 w 1378"/>
                  <a:gd name="T43" fmla="*/ 2181 h 2181"/>
                  <a:gd name="T44" fmla="*/ 192 w 1378"/>
                  <a:gd name="T45" fmla="*/ 959 h 2181"/>
                  <a:gd name="T46" fmla="*/ 416 w 1378"/>
                  <a:gd name="T47" fmla="*/ 830 h 2181"/>
                  <a:gd name="T48" fmla="*/ 275 w 1378"/>
                  <a:gd name="T49" fmla="*/ 751 h 2181"/>
                  <a:gd name="T50" fmla="*/ 124 w 1378"/>
                  <a:gd name="T51" fmla="*/ 969 h 2181"/>
                  <a:gd name="T52" fmla="*/ 160 w 1378"/>
                  <a:gd name="T53" fmla="*/ 977 h 2181"/>
                  <a:gd name="T54" fmla="*/ 390 w 1378"/>
                  <a:gd name="T55" fmla="*/ 768 h 2181"/>
                  <a:gd name="T56" fmla="*/ 455 w 1378"/>
                  <a:gd name="T57" fmla="*/ 822 h 2181"/>
                  <a:gd name="T58" fmla="*/ 255 w 1378"/>
                  <a:gd name="T59" fmla="*/ 947 h 2181"/>
                  <a:gd name="T60" fmla="*/ 692 w 1378"/>
                  <a:gd name="T61" fmla="*/ 933 h 2181"/>
                  <a:gd name="T62" fmla="*/ 834 w 1378"/>
                  <a:gd name="T63" fmla="*/ 965 h 2181"/>
                  <a:gd name="T64" fmla="*/ 922 w 1378"/>
                  <a:gd name="T65" fmla="*/ 740 h 2181"/>
                  <a:gd name="T66" fmla="*/ 848 w 1378"/>
                  <a:gd name="T67" fmla="*/ 769 h 2181"/>
                  <a:gd name="T68" fmla="*/ 891 w 1378"/>
                  <a:gd name="T69" fmla="*/ 202 h 2181"/>
                  <a:gd name="T70" fmla="*/ 249 w 1378"/>
                  <a:gd name="T71" fmla="*/ 540 h 2181"/>
                  <a:gd name="T72" fmla="*/ 349 w 1378"/>
                  <a:gd name="T73" fmla="*/ 713 h 2181"/>
                  <a:gd name="T74" fmla="*/ 864 w 1378"/>
                  <a:gd name="T75" fmla="*/ 911 h 2181"/>
                  <a:gd name="T76" fmla="*/ 1003 w 1378"/>
                  <a:gd name="T77" fmla="*/ 643 h 2181"/>
                  <a:gd name="T78" fmla="*/ 963 w 1378"/>
                  <a:gd name="T79" fmla="*/ 712 h 2181"/>
                  <a:gd name="T80" fmla="*/ 929 w 1378"/>
                  <a:gd name="T81" fmla="*/ 847 h 2181"/>
                  <a:gd name="T82" fmla="*/ 997 w 1378"/>
                  <a:gd name="T83" fmla="*/ 579 h 2181"/>
                  <a:gd name="T84" fmla="*/ 993 w 1378"/>
                  <a:gd name="T85" fmla="*/ 601 h 21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1378" h="2181">
                    <a:moveTo>
                      <a:pt x="429" y="2044"/>
                    </a:moveTo>
                    <a:cubicBezTo>
                      <a:pt x="428" y="1893"/>
                      <a:pt x="424" y="1765"/>
                      <a:pt x="421" y="1714"/>
                    </a:cubicBezTo>
                    <a:cubicBezTo>
                      <a:pt x="413" y="1590"/>
                      <a:pt x="398" y="1516"/>
                      <a:pt x="376" y="1494"/>
                    </a:cubicBezTo>
                    <a:cubicBezTo>
                      <a:pt x="368" y="1486"/>
                      <a:pt x="357" y="1490"/>
                      <a:pt x="341" y="1506"/>
                    </a:cubicBezTo>
                    <a:cubicBezTo>
                      <a:pt x="327" y="1522"/>
                      <a:pt x="316" y="1542"/>
                      <a:pt x="306" y="1572"/>
                    </a:cubicBezTo>
                    <a:cubicBezTo>
                      <a:pt x="295" y="1602"/>
                      <a:pt x="290" y="1627"/>
                      <a:pt x="280" y="1703"/>
                    </a:cubicBezTo>
                    <a:cubicBezTo>
                      <a:pt x="245" y="1953"/>
                      <a:pt x="237" y="1993"/>
                      <a:pt x="215" y="2041"/>
                    </a:cubicBezTo>
                    <a:cubicBezTo>
                      <a:pt x="193" y="2087"/>
                      <a:pt x="172" y="2106"/>
                      <a:pt x="136" y="2110"/>
                    </a:cubicBezTo>
                    <a:cubicBezTo>
                      <a:pt x="99" y="2115"/>
                      <a:pt x="73" y="2097"/>
                      <a:pt x="53" y="2056"/>
                    </a:cubicBezTo>
                    <a:cubicBezTo>
                      <a:pt x="36" y="2020"/>
                      <a:pt x="27" y="1987"/>
                      <a:pt x="19" y="1936"/>
                    </a:cubicBezTo>
                    <a:cubicBezTo>
                      <a:pt x="8" y="1865"/>
                      <a:pt x="0" y="1711"/>
                      <a:pt x="2" y="1633"/>
                    </a:cubicBezTo>
                    <a:cubicBezTo>
                      <a:pt x="9" y="1417"/>
                      <a:pt x="55" y="1214"/>
                      <a:pt x="133" y="1049"/>
                    </a:cubicBezTo>
                    <a:cubicBezTo>
                      <a:pt x="141" y="1033"/>
                      <a:pt x="147" y="1020"/>
                      <a:pt x="147" y="1019"/>
                    </a:cubicBezTo>
                    <a:cubicBezTo>
                      <a:pt x="147" y="1019"/>
                      <a:pt x="144" y="1020"/>
                      <a:pt x="140" y="1020"/>
                    </a:cubicBezTo>
                    <a:cubicBezTo>
                      <a:pt x="127" y="1022"/>
                      <a:pt x="108" y="1016"/>
                      <a:pt x="100" y="1009"/>
                    </a:cubicBezTo>
                    <a:cubicBezTo>
                      <a:pt x="89" y="999"/>
                      <a:pt x="87" y="990"/>
                      <a:pt x="88" y="949"/>
                    </a:cubicBezTo>
                    <a:cubicBezTo>
                      <a:pt x="89" y="920"/>
                      <a:pt x="90" y="909"/>
                      <a:pt x="95" y="892"/>
                    </a:cubicBezTo>
                    <a:cubicBezTo>
                      <a:pt x="109" y="837"/>
                      <a:pt x="138" y="794"/>
                      <a:pt x="184" y="759"/>
                    </a:cubicBezTo>
                    <a:cubicBezTo>
                      <a:pt x="209" y="739"/>
                      <a:pt x="248" y="713"/>
                      <a:pt x="253" y="713"/>
                    </a:cubicBezTo>
                    <a:cubicBezTo>
                      <a:pt x="256" y="713"/>
                      <a:pt x="258" y="712"/>
                      <a:pt x="258" y="711"/>
                    </a:cubicBezTo>
                    <a:cubicBezTo>
                      <a:pt x="258" y="710"/>
                      <a:pt x="252" y="701"/>
                      <a:pt x="246" y="691"/>
                    </a:cubicBezTo>
                    <a:cubicBezTo>
                      <a:pt x="225" y="656"/>
                      <a:pt x="210" y="621"/>
                      <a:pt x="203" y="585"/>
                    </a:cubicBezTo>
                    <a:cubicBezTo>
                      <a:pt x="197" y="558"/>
                      <a:pt x="198" y="447"/>
                      <a:pt x="203" y="412"/>
                    </a:cubicBezTo>
                    <a:cubicBezTo>
                      <a:pt x="226" y="268"/>
                      <a:pt x="311" y="155"/>
                      <a:pt x="444" y="90"/>
                    </a:cubicBezTo>
                    <a:cubicBezTo>
                      <a:pt x="480" y="73"/>
                      <a:pt x="498" y="66"/>
                      <a:pt x="533" y="57"/>
                    </a:cubicBezTo>
                    <a:cubicBezTo>
                      <a:pt x="685" y="18"/>
                      <a:pt x="843" y="69"/>
                      <a:pt x="920" y="182"/>
                    </a:cubicBezTo>
                    <a:cubicBezTo>
                      <a:pt x="951" y="229"/>
                      <a:pt x="980" y="289"/>
                      <a:pt x="992" y="337"/>
                    </a:cubicBezTo>
                    <a:cubicBezTo>
                      <a:pt x="1002" y="376"/>
                      <a:pt x="1003" y="389"/>
                      <a:pt x="1003" y="438"/>
                    </a:cubicBezTo>
                    <a:cubicBezTo>
                      <a:pt x="1003" y="481"/>
                      <a:pt x="1001" y="499"/>
                      <a:pt x="994" y="532"/>
                    </a:cubicBezTo>
                    <a:cubicBezTo>
                      <a:pt x="993" y="537"/>
                      <a:pt x="994" y="538"/>
                      <a:pt x="1004" y="538"/>
                    </a:cubicBezTo>
                    <a:cubicBezTo>
                      <a:pt x="1012" y="538"/>
                      <a:pt x="1018" y="540"/>
                      <a:pt x="1022" y="543"/>
                    </a:cubicBezTo>
                    <a:cubicBezTo>
                      <a:pt x="1026" y="545"/>
                      <a:pt x="1030" y="548"/>
                      <a:pt x="1031" y="548"/>
                    </a:cubicBezTo>
                    <a:cubicBezTo>
                      <a:pt x="1032" y="548"/>
                      <a:pt x="1045" y="530"/>
                      <a:pt x="1059" y="509"/>
                    </a:cubicBezTo>
                    <a:cubicBezTo>
                      <a:pt x="1127" y="411"/>
                      <a:pt x="1152" y="367"/>
                      <a:pt x="1234" y="203"/>
                    </a:cubicBezTo>
                    <a:cubicBezTo>
                      <a:pt x="1295" y="80"/>
                      <a:pt x="1309" y="55"/>
                      <a:pt x="1333" y="20"/>
                    </a:cubicBezTo>
                    <a:lnTo>
                      <a:pt x="1347" y="0"/>
                    </a:lnTo>
                    <a:lnTo>
                      <a:pt x="1363" y="0"/>
                    </a:lnTo>
                    <a:lnTo>
                      <a:pt x="1378" y="0"/>
                    </a:lnTo>
                    <a:lnTo>
                      <a:pt x="1378" y="9"/>
                    </a:lnTo>
                    <a:cubicBezTo>
                      <a:pt x="1378" y="16"/>
                      <a:pt x="1376" y="21"/>
                      <a:pt x="1364" y="38"/>
                    </a:cubicBezTo>
                    <a:cubicBezTo>
                      <a:pt x="1342" y="68"/>
                      <a:pt x="1320" y="107"/>
                      <a:pt x="1270" y="209"/>
                    </a:cubicBezTo>
                    <a:cubicBezTo>
                      <a:pt x="1245" y="260"/>
                      <a:pt x="1214" y="321"/>
                      <a:pt x="1202" y="344"/>
                    </a:cubicBezTo>
                    <a:cubicBezTo>
                      <a:pt x="1164" y="415"/>
                      <a:pt x="1111" y="499"/>
                      <a:pt x="1068" y="556"/>
                    </a:cubicBezTo>
                    <a:cubicBezTo>
                      <a:pt x="1052" y="579"/>
                      <a:pt x="1051" y="580"/>
                      <a:pt x="1049" y="598"/>
                    </a:cubicBezTo>
                    <a:cubicBezTo>
                      <a:pt x="1045" y="628"/>
                      <a:pt x="1036" y="666"/>
                      <a:pt x="1022" y="709"/>
                    </a:cubicBezTo>
                    <a:cubicBezTo>
                      <a:pt x="1005" y="761"/>
                      <a:pt x="997" y="780"/>
                      <a:pt x="966" y="848"/>
                    </a:cubicBezTo>
                    <a:cubicBezTo>
                      <a:pt x="935" y="916"/>
                      <a:pt x="923" y="944"/>
                      <a:pt x="915" y="971"/>
                    </a:cubicBezTo>
                    <a:cubicBezTo>
                      <a:pt x="905" y="1004"/>
                      <a:pt x="907" y="1001"/>
                      <a:pt x="881" y="1011"/>
                    </a:cubicBezTo>
                    <a:cubicBezTo>
                      <a:pt x="869" y="1016"/>
                      <a:pt x="857" y="1020"/>
                      <a:pt x="856" y="1020"/>
                    </a:cubicBezTo>
                    <a:cubicBezTo>
                      <a:pt x="855" y="1020"/>
                      <a:pt x="845" y="1016"/>
                      <a:pt x="835" y="1011"/>
                    </a:cubicBezTo>
                    <a:cubicBezTo>
                      <a:pt x="755" y="971"/>
                      <a:pt x="681" y="953"/>
                      <a:pt x="581" y="950"/>
                    </a:cubicBezTo>
                    <a:cubicBezTo>
                      <a:pt x="475" y="947"/>
                      <a:pt x="352" y="965"/>
                      <a:pt x="206" y="1003"/>
                    </a:cubicBezTo>
                    <a:cubicBezTo>
                      <a:pt x="199" y="1005"/>
                      <a:pt x="196" y="1008"/>
                      <a:pt x="188" y="1021"/>
                    </a:cubicBezTo>
                    <a:cubicBezTo>
                      <a:pt x="177" y="1038"/>
                      <a:pt x="159" y="1074"/>
                      <a:pt x="143" y="1112"/>
                    </a:cubicBezTo>
                    <a:cubicBezTo>
                      <a:pt x="61" y="1312"/>
                      <a:pt x="25" y="1549"/>
                      <a:pt x="41" y="1783"/>
                    </a:cubicBezTo>
                    <a:cubicBezTo>
                      <a:pt x="49" y="1900"/>
                      <a:pt x="73" y="2004"/>
                      <a:pt x="101" y="2046"/>
                    </a:cubicBezTo>
                    <a:cubicBezTo>
                      <a:pt x="109" y="2058"/>
                      <a:pt x="125" y="2068"/>
                      <a:pt x="136" y="2068"/>
                    </a:cubicBezTo>
                    <a:cubicBezTo>
                      <a:pt x="155" y="2068"/>
                      <a:pt x="174" y="2049"/>
                      <a:pt x="187" y="2016"/>
                    </a:cubicBezTo>
                    <a:cubicBezTo>
                      <a:pt x="207" y="1965"/>
                      <a:pt x="215" y="1916"/>
                      <a:pt x="236" y="1734"/>
                    </a:cubicBezTo>
                    <a:cubicBezTo>
                      <a:pt x="250" y="1610"/>
                      <a:pt x="258" y="1570"/>
                      <a:pt x="281" y="1522"/>
                    </a:cubicBezTo>
                    <a:cubicBezTo>
                      <a:pt x="298" y="1487"/>
                      <a:pt x="324" y="1467"/>
                      <a:pt x="357" y="1460"/>
                    </a:cubicBezTo>
                    <a:cubicBezTo>
                      <a:pt x="393" y="1453"/>
                      <a:pt x="416" y="1475"/>
                      <a:pt x="432" y="1531"/>
                    </a:cubicBezTo>
                    <a:cubicBezTo>
                      <a:pt x="454" y="1611"/>
                      <a:pt x="461" y="1719"/>
                      <a:pt x="464" y="2034"/>
                    </a:cubicBezTo>
                    <a:lnTo>
                      <a:pt x="466" y="2181"/>
                    </a:lnTo>
                    <a:lnTo>
                      <a:pt x="448" y="2181"/>
                    </a:lnTo>
                    <a:lnTo>
                      <a:pt x="431" y="2181"/>
                    </a:lnTo>
                    <a:lnTo>
                      <a:pt x="429" y="2044"/>
                    </a:lnTo>
                    <a:close/>
                    <a:moveTo>
                      <a:pt x="160" y="977"/>
                    </a:moveTo>
                    <a:cubicBezTo>
                      <a:pt x="177" y="971"/>
                      <a:pt x="184" y="967"/>
                      <a:pt x="192" y="959"/>
                    </a:cubicBezTo>
                    <a:cubicBezTo>
                      <a:pt x="210" y="942"/>
                      <a:pt x="226" y="929"/>
                      <a:pt x="245" y="917"/>
                    </a:cubicBezTo>
                    <a:cubicBezTo>
                      <a:pt x="267" y="903"/>
                      <a:pt x="333" y="870"/>
                      <a:pt x="380" y="849"/>
                    </a:cubicBezTo>
                    <a:cubicBezTo>
                      <a:pt x="416" y="834"/>
                      <a:pt x="423" y="830"/>
                      <a:pt x="416" y="830"/>
                    </a:cubicBezTo>
                    <a:cubicBezTo>
                      <a:pt x="409" y="830"/>
                      <a:pt x="374" y="817"/>
                      <a:pt x="358" y="809"/>
                    </a:cubicBezTo>
                    <a:cubicBezTo>
                      <a:pt x="337" y="797"/>
                      <a:pt x="320" y="784"/>
                      <a:pt x="302" y="766"/>
                    </a:cubicBezTo>
                    <a:cubicBezTo>
                      <a:pt x="288" y="751"/>
                      <a:pt x="288" y="751"/>
                      <a:pt x="275" y="751"/>
                    </a:cubicBezTo>
                    <a:cubicBezTo>
                      <a:pt x="269" y="751"/>
                      <a:pt x="261" y="752"/>
                      <a:pt x="257" y="754"/>
                    </a:cubicBezTo>
                    <a:cubicBezTo>
                      <a:pt x="242" y="761"/>
                      <a:pt x="208" y="787"/>
                      <a:pt x="188" y="807"/>
                    </a:cubicBezTo>
                    <a:cubicBezTo>
                      <a:pt x="137" y="857"/>
                      <a:pt x="117" y="909"/>
                      <a:pt x="124" y="969"/>
                    </a:cubicBezTo>
                    <a:cubicBezTo>
                      <a:pt x="125" y="979"/>
                      <a:pt x="126" y="980"/>
                      <a:pt x="133" y="982"/>
                    </a:cubicBezTo>
                    <a:cubicBezTo>
                      <a:pt x="136" y="984"/>
                      <a:pt x="139" y="985"/>
                      <a:pt x="139" y="985"/>
                    </a:cubicBezTo>
                    <a:cubicBezTo>
                      <a:pt x="139" y="985"/>
                      <a:pt x="149" y="982"/>
                      <a:pt x="160" y="977"/>
                    </a:cubicBezTo>
                    <a:close/>
                    <a:moveTo>
                      <a:pt x="834" y="965"/>
                    </a:moveTo>
                    <a:cubicBezTo>
                      <a:pt x="828" y="958"/>
                      <a:pt x="811" y="945"/>
                      <a:pt x="798" y="935"/>
                    </a:cubicBezTo>
                    <a:cubicBezTo>
                      <a:pt x="694" y="859"/>
                      <a:pt x="546" y="798"/>
                      <a:pt x="390" y="768"/>
                    </a:cubicBezTo>
                    <a:cubicBezTo>
                      <a:pt x="375" y="765"/>
                      <a:pt x="364" y="763"/>
                      <a:pt x="365" y="764"/>
                    </a:cubicBezTo>
                    <a:cubicBezTo>
                      <a:pt x="371" y="769"/>
                      <a:pt x="400" y="788"/>
                      <a:pt x="426" y="804"/>
                    </a:cubicBezTo>
                    <a:lnTo>
                      <a:pt x="455" y="822"/>
                    </a:lnTo>
                    <a:lnTo>
                      <a:pt x="480" y="821"/>
                    </a:lnTo>
                    <a:cubicBezTo>
                      <a:pt x="509" y="819"/>
                      <a:pt x="512" y="817"/>
                      <a:pt x="441" y="849"/>
                    </a:cubicBezTo>
                    <a:cubicBezTo>
                      <a:pt x="347" y="892"/>
                      <a:pt x="261" y="937"/>
                      <a:pt x="255" y="947"/>
                    </a:cubicBezTo>
                    <a:cubicBezTo>
                      <a:pt x="254" y="948"/>
                      <a:pt x="269" y="946"/>
                      <a:pt x="289" y="942"/>
                    </a:cubicBezTo>
                    <a:cubicBezTo>
                      <a:pt x="368" y="926"/>
                      <a:pt x="442" y="920"/>
                      <a:pt x="541" y="922"/>
                    </a:cubicBezTo>
                    <a:cubicBezTo>
                      <a:pt x="610" y="923"/>
                      <a:pt x="638" y="925"/>
                      <a:pt x="692" y="933"/>
                    </a:cubicBezTo>
                    <a:cubicBezTo>
                      <a:pt x="740" y="941"/>
                      <a:pt x="800" y="957"/>
                      <a:pt x="830" y="971"/>
                    </a:cubicBezTo>
                    <a:cubicBezTo>
                      <a:pt x="837" y="974"/>
                      <a:pt x="843" y="976"/>
                      <a:pt x="844" y="976"/>
                    </a:cubicBezTo>
                    <a:cubicBezTo>
                      <a:pt x="846" y="976"/>
                      <a:pt x="841" y="971"/>
                      <a:pt x="834" y="965"/>
                    </a:cubicBezTo>
                    <a:lnTo>
                      <a:pt x="834" y="965"/>
                    </a:lnTo>
                    <a:close/>
                    <a:moveTo>
                      <a:pt x="864" y="911"/>
                    </a:moveTo>
                    <a:cubicBezTo>
                      <a:pt x="875" y="884"/>
                      <a:pt x="919" y="754"/>
                      <a:pt x="922" y="740"/>
                    </a:cubicBezTo>
                    <a:cubicBezTo>
                      <a:pt x="923" y="732"/>
                      <a:pt x="923" y="733"/>
                      <a:pt x="902" y="752"/>
                    </a:cubicBezTo>
                    <a:cubicBezTo>
                      <a:pt x="865" y="788"/>
                      <a:pt x="811" y="834"/>
                      <a:pt x="808" y="832"/>
                    </a:cubicBezTo>
                    <a:cubicBezTo>
                      <a:pt x="808" y="831"/>
                      <a:pt x="826" y="803"/>
                      <a:pt x="848" y="769"/>
                    </a:cubicBezTo>
                    <a:cubicBezTo>
                      <a:pt x="923" y="657"/>
                      <a:pt x="939" y="625"/>
                      <a:pt x="953" y="568"/>
                    </a:cubicBezTo>
                    <a:cubicBezTo>
                      <a:pt x="971" y="497"/>
                      <a:pt x="972" y="414"/>
                      <a:pt x="955" y="347"/>
                    </a:cubicBezTo>
                    <a:cubicBezTo>
                      <a:pt x="942" y="298"/>
                      <a:pt x="915" y="236"/>
                      <a:pt x="891" y="202"/>
                    </a:cubicBezTo>
                    <a:cubicBezTo>
                      <a:pt x="832" y="120"/>
                      <a:pt x="730" y="78"/>
                      <a:pt x="615" y="88"/>
                    </a:cubicBezTo>
                    <a:cubicBezTo>
                      <a:pt x="459" y="101"/>
                      <a:pt x="342" y="185"/>
                      <a:pt x="281" y="327"/>
                    </a:cubicBezTo>
                    <a:cubicBezTo>
                      <a:pt x="254" y="391"/>
                      <a:pt x="243" y="462"/>
                      <a:pt x="249" y="540"/>
                    </a:cubicBezTo>
                    <a:cubicBezTo>
                      <a:pt x="253" y="602"/>
                      <a:pt x="265" y="636"/>
                      <a:pt x="299" y="687"/>
                    </a:cubicBezTo>
                    <a:cubicBezTo>
                      <a:pt x="311" y="706"/>
                      <a:pt x="315" y="709"/>
                      <a:pt x="320" y="710"/>
                    </a:cubicBezTo>
                    <a:cubicBezTo>
                      <a:pt x="324" y="710"/>
                      <a:pt x="337" y="712"/>
                      <a:pt x="349" y="713"/>
                    </a:cubicBezTo>
                    <a:cubicBezTo>
                      <a:pt x="488" y="729"/>
                      <a:pt x="679" y="813"/>
                      <a:pt x="824" y="921"/>
                    </a:cubicBezTo>
                    <a:cubicBezTo>
                      <a:pt x="838" y="931"/>
                      <a:pt x="850" y="938"/>
                      <a:pt x="851" y="938"/>
                    </a:cubicBezTo>
                    <a:cubicBezTo>
                      <a:pt x="852" y="938"/>
                      <a:pt x="858" y="925"/>
                      <a:pt x="864" y="911"/>
                    </a:cubicBezTo>
                    <a:close/>
                    <a:moveTo>
                      <a:pt x="929" y="847"/>
                    </a:moveTo>
                    <a:cubicBezTo>
                      <a:pt x="959" y="781"/>
                      <a:pt x="979" y="728"/>
                      <a:pt x="990" y="693"/>
                    </a:cubicBezTo>
                    <a:cubicBezTo>
                      <a:pt x="998" y="665"/>
                      <a:pt x="1004" y="643"/>
                      <a:pt x="1003" y="643"/>
                    </a:cubicBezTo>
                    <a:cubicBezTo>
                      <a:pt x="1003" y="643"/>
                      <a:pt x="996" y="651"/>
                      <a:pt x="987" y="661"/>
                    </a:cubicBezTo>
                    <a:lnTo>
                      <a:pt x="972" y="679"/>
                    </a:lnTo>
                    <a:lnTo>
                      <a:pt x="963" y="712"/>
                    </a:lnTo>
                    <a:cubicBezTo>
                      <a:pt x="955" y="738"/>
                      <a:pt x="907" y="887"/>
                      <a:pt x="897" y="913"/>
                    </a:cubicBezTo>
                    <a:cubicBezTo>
                      <a:pt x="896" y="916"/>
                      <a:pt x="896" y="917"/>
                      <a:pt x="898" y="916"/>
                    </a:cubicBezTo>
                    <a:cubicBezTo>
                      <a:pt x="899" y="914"/>
                      <a:pt x="913" y="884"/>
                      <a:pt x="929" y="847"/>
                    </a:cubicBezTo>
                    <a:close/>
                    <a:moveTo>
                      <a:pt x="1004" y="587"/>
                    </a:moveTo>
                    <a:cubicBezTo>
                      <a:pt x="1009" y="579"/>
                      <a:pt x="1009" y="578"/>
                      <a:pt x="1006" y="575"/>
                    </a:cubicBezTo>
                    <a:cubicBezTo>
                      <a:pt x="1004" y="572"/>
                      <a:pt x="1003" y="573"/>
                      <a:pt x="997" y="579"/>
                    </a:cubicBezTo>
                    <a:cubicBezTo>
                      <a:pt x="994" y="584"/>
                      <a:pt x="991" y="591"/>
                      <a:pt x="990" y="597"/>
                    </a:cubicBezTo>
                    <a:lnTo>
                      <a:pt x="989" y="606"/>
                    </a:lnTo>
                    <a:lnTo>
                      <a:pt x="993" y="601"/>
                    </a:lnTo>
                    <a:cubicBezTo>
                      <a:pt x="996" y="598"/>
                      <a:pt x="1000" y="591"/>
                      <a:pt x="1004" y="587"/>
                    </a:cubicBezTo>
                    <a:close/>
                  </a:path>
                </a:pathLst>
              </a:custGeom>
              <a:solidFill>
                <a:srgbClr val="A1BDA8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70" name="Freeform 31"/>
              <p:cNvSpPr>
                <a:spLocks noEditPoints="1"/>
              </p:cNvSpPr>
              <p:nvPr/>
            </p:nvSpPr>
            <p:spPr bwMode="auto">
              <a:xfrm>
                <a:off x="1559356" y="5372218"/>
                <a:ext cx="131763" cy="114300"/>
              </a:xfrm>
              <a:custGeom>
                <a:avLst/>
                <a:gdLst>
                  <a:gd name="T0" fmla="*/ 12 w 268"/>
                  <a:gd name="T1" fmla="*/ 232 h 234"/>
                  <a:gd name="T2" fmla="*/ 4 w 268"/>
                  <a:gd name="T3" fmla="*/ 220 h 234"/>
                  <a:gd name="T4" fmla="*/ 23 w 268"/>
                  <a:gd name="T5" fmla="*/ 120 h 234"/>
                  <a:gd name="T6" fmla="*/ 118 w 268"/>
                  <a:gd name="T7" fmla="*/ 20 h 234"/>
                  <a:gd name="T8" fmla="*/ 153 w 268"/>
                  <a:gd name="T9" fmla="*/ 12 h 234"/>
                  <a:gd name="T10" fmla="*/ 160 w 268"/>
                  <a:gd name="T11" fmla="*/ 18 h 234"/>
                  <a:gd name="T12" fmla="*/ 167 w 268"/>
                  <a:gd name="T13" fmla="*/ 25 h 234"/>
                  <a:gd name="T14" fmla="*/ 173 w 268"/>
                  <a:gd name="T15" fmla="*/ 32 h 234"/>
                  <a:gd name="T16" fmla="*/ 180 w 268"/>
                  <a:gd name="T17" fmla="*/ 37 h 234"/>
                  <a:gd name="T18" fmla="*/ 192 w 268"/>
                  <a:gd name="T19" fmla="*/ 43 h 234"/>
                  <a:gd name="T20" fmla="*/ 204 w 268"/>
                  <a:gd name="T21" fmla="*/ 49 h 234"/>
                  <a:gd name="T22" fmla="*/ 211 w 268"/>
                  <a:gd name="T23" fmla="*/ 56 h 234"/>
                  <a:gd name="T24" fmla="*/ 217 w 268"/>
                  <a:gd name="T25" fmla="*/ 63 h 234"/>
                  <a:gd name="T26" fmla="*/ 223 w 268"/>
                  <a:gd name="T27" fmla="*/ 69 h 234"/>
                  <a:gd name="T28" fmla="*/ 228 w 268"/>
                  <a:gd name="T29" fmla="*/ 75 h 234"/>
                  <a:gd name="T30" fmla="*/ 242 w 268"/>
                  <a:gd name="T31" fmla="*/ 80 h 234"/>
                  <a:gd name="T32" fmla="*/ 255 w 268"/>
                  <a:gd name="T33" fmla="*/ 87 h 234"/>
                  <a:gd name="T34" fmla="*/ 262 w 268"/>
                  <a:gd name="T35" fmla="*/ 94 h 234"/>
                  <a:gd name="T36" fmla="*/ 244 w 268"/>
                  <a:gd name="T37" fmla="*/ 105 h 234"/>
                  <a:gd name="T38" fmla="*/ 68 w 268"/>
                  <a:gd name="T39" fmla="*/ 211 h 234"/>
                  <a:gd name="T40" fmla="*/ 58 w 268"/>
                  <a:gd name="T41" fmla="*/ 217 h 234"/>
                  <a:gd name="T42" fmla="*/ 53 w 268"/>
                  <a:gd name="T43" fmla="*/ 219 h 234"/>
                  <a:gd name="T44" fmla="*/ 35 w 268"/>
                  <a:gd name="T45" fmla="*/ 228 h 234"/>
                  <a:gd name="T46" fmla="*/ 12 w 268"/>
                  <a:gd name="T47" fmla="*/ 232 h 234"/>
                  <a:gd name="T48" fmla="*/ 30 w 268"/>
                  <a:gd name="T49" fmla="*/ 198 h 234"/>
                  <a:gd name="T50" fmla="*/ 24 w 268"/>
                  <a:gd name="T51" fmla="*/ 193 h 234"/>
                  <a:gd name="T52" fmla="*/ 19 w 268"/>
                  <a:gd name="T53" fmla="*/ 198 h 234"/>
                  <a:gd name="T54" fmla="*/ 24 w 268"/>
                  <a:gd name="T55" fmla="*/ 204 h 234"/>
                  <a:gd name="T56" fmla="*/ 30 w 268"/>
                  <a:gd name="T57" fmla="*/ 198 h 234"/>
                  <a:gd name="T58" fmla="*/ 142 w 268"/>
                  <a:gd name="T59" fmla="*/ 99 h 234"/>
                  <a:gd name="T60" fmla="*/ 137 w 268"/>
                  <a:gd name="T61" fmla="*/ 93 h 234"/>
                  <a:gd name="T62" fmla="*/ 131 w 268"/>
                  <a:gd name="T63" fmla="*/ 99 h 234"/>
                  <a:gd name="T64" fmla="*/ 137 w 268"/>
                  <a:gd name="T65" fmla="*/ 105 h 234"/>
                  <a:gd name="T66" fmla="*/ 142 w 268"/>
                  <a:gd name="T67" fmla="*/ 99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268" h="234">
                    <a:moveTo>
                      <a:pt x="12" y="232"/>
                    </a:moveTo>
                    <a:cubicBezTo>
                      <a:pt x="7" y="231"/>
                      <a:pt x="6" y="229"/>
                      <a:pt x="4" y="220"/>
                    </a:cubicBezTo>
                    <a:cubicBezTo>
                      <a:pt x="0" y="185"/>
                      <a:pt x="6" y="153"/>
                      <a:pt x="23" y="120"/>
                    </a:cubicBezTo>
                    <a:cubicBezTo>
                      <a:pt x="45" y="79"/>
                      <a:pt x="70" y="53"/>
                      <a:pt x="118" y="20"/>
                    </a:cubicBezTo>
                    <a:cubicBezTo>
                      <a:pt x="144" y="3"/>
                      <a:pt x="153" y="0"/>
                      <a:pt x="153" y="12"/>
                    </a:cubicBezTo>
                    <a:cubicBezTo>
                      <a:pt x="153" y="18"/>
                      <a:pt x="154" y="18"/>
                      <a:pt x="160" y="18"/>
                    </a:cubicBezTo>
                    <a:cubicBezTo>
                      <a:pt x="166" y="18"/>
                      <a:pt x="167" y="19"/>
                      <a:pt x="167" y="25"/>
                    </a:cubicBezTo>
                    <a:cubicBezTo>
                      <a:pt x="167" y="31"/>
                      <a:pt x="167" y="32"/>
                      <a:pt x="173" y="32"/>
                    </a:cubicBezTo>
                    <a:cubicBezTo>
                      <a:pt x="179" y="32"/>
                      <a:pt x="180" y="32"/>
                      <a:pt x="180" y="37"/>
                    </a:cubicBezTo>
                    <a:cubicBezTo>
                      <a:pt x="180" y="42"/>
                      <a:pt x="180" y="43"/>
                      <a:pt x="192" y="43"/>
                    </a:cubicBezTo>
                    <a:cubicBezTo>
                      <a:pt x="204" y="43"/>
                      <a:pt x="204" y="43"/>
                      <a:pt x="204" y="49"/>
                    </a:cubicBezTo>
                    <a:cubicBezTo>
                      <a:pt x="204" y="55"/>
                      <a:pt x="205" y="56"/>
                      <a:pt x="211" y="56"/>
                    </a:cubicBezTo>
                    <a:cubicBezTo>
                      <a:pt x="217" y="56"/>
                      <a:pt x="217" y="57"/>
                      <a:pt x="217" y="63"/>
                    </a:cubicBezTo>
                    <a:cubicBezTo>
                      <a:pt x="217" y="68"/>
                      <a:pt x="218" y="69"/>
                      <a:pt x="223" y="69"/>
                    </a:cubicBezTo>
                    <a:cubicBezTo>
                      <a:pt x="227" y="69"/>
                      <a:pt x="228" y="70"/>
                      <a:pt x="228" y="75"/>
                    </a:cubicBezTo>
                    <a:cubicBezTo>
                      <a:pt x="228" y="80"/>
                      <a:pt x="229" y="80"/>
                      <a:pt x="242" y="80"/>
                    </a:cubicBezTo>
                    <a:cubicBezTo>
                      <a:pt x="255" y="80"/>
                      <a:pt x="255" y="80"/>
                      <a:pt x="255" y="87"/>
                    </a:cubicBezTo>
                    <a:cubicBezTo>
                      <a:pt x="255" y="93"/>
                      <a:pt x="256" y="93"/>
                      <a:pt x="262" y="94"/>
                    </a:cubicBezTo>
                    <a:cubicBezTo>
                      <a:pt x="268" y="94"/>
                      <a:pt x="264" y="96"/>
                      <a:pt x="244" y="105"/>
                    </a:cubicBezTo>
                    <a:cubicBezTo>
                      <a:pt x="154" y="144"/>
                      <a:pt x="94" y="180"/>
                      <a:pt x="68" y="211"/>
                    </a:cubicBezTo>
                    <a:cubicBezTo>
                      <a:pt x="65" y="214"/>
                      <a:pt x="60" y="217"/>
                      <a:pt x="58" y="217"/>
                    </a:cubicBezTo>
                    <a:cubicBezTo>
                      <a:pt x="56" y="217"/>
                      <a:pt x="54" y="218"/>
                      <a:pt x="53" y="219"/>
                    </a:cubicBezTo>
                    <a:cubicBezTo>
                      <a:pt x="53" y="220"/>
                      <a:pt x="45" y="224"/>
                      <a:pt x="35" y="228"/>
                    </a:cubicBezTo>
                    <a:cubicBezTo>
                      <a:pt x="22" y="233"/>
                      <a:pt x="16" y="234"/>
                      <a:pt x="12" y="232"/>
                    </a:cubicBezTo>
                    <a:close/>
                    <a:moveTo>
                      <a:pt x="30" y="198"/>
                    </a:moveTo>
                    <a:cubicBezTo>
                      <a:pt x="30" y="194"/>
                      <a:pt x="28" y="193"/>
                      <a:pt x="24" y="193"/>
                    </a:cubicBezTo>
                    <a:cubicBezTo>
                      <a:pt x="20" y="193"/>
                      <a:pt x="19" y="194"/>
                      <a:pt x="19" y="198"/>
                    </a:cubicBezTo>
                    <a:cubicBezTo>
                      <a:pt x="19" y="203"/>
                      <a:pt x="20" y="204"/>
                      <a:pt x="24" y="204"/>
                    </a:cubicBezTo>
                    <a:cubicBezTo>
                      <a:pt x="28" y="204"/>
                      <a:pt x="30" y="203"/>
                      <a:pt x="30" y="198"/>
                    </a:cubicBezTo>
                    <a:close/>
                    <a:moveTo>
                      <a:pt x="142" y="99"/>
                    </a:moveTo>
                    <a:cubicBezTo>
                      <a:pt x="142" y="95"/>
                      <a:pt x="141" y="93"/>
                      <a:pt x="137" y="93"/>
                    </a:cubicBezTo>
                    <a:cubicBezTo>
                      <a:pt x="132" y="93"/>
                      <a:pt x="131" y="95"/>
                      <a:pt x="131" y="99"/>
                    </a:cubicBezTo>
                    <a:cubicBezTo>
                      <a:pt x="131" y="103"/>
                      <a:pt x="132" y="105"/>
                      <a:pt x="137" y="105"/>
                    </a:cubicBezTo>
                    <a:cubicBezTo>
                      <a:pt x="141" y="105"/>
                      <a:pt x="142" y="103"/>
                      <a:pt x="142" y="99"/>
                    </a:cubicBezTo>
                    <a:close/>
                  </a:path>
                </a:pathLst>
              </a:custGeom>
              <a:solidFill>
                <a:srgbClr val="A1BDA8"/>
              </a:solidFill>
              <a:ln w="3175" cap="flat">
                <a:solidFill>
                  <a:srgbClr val="A1BDA8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71" name="Freeform 32"/>
              <p:cNvSpPr>
                <a:spLocks/>
              </p:cNvSpPr>
              <p:nvPr/>
            </p:nvSpPr>
            <p:spPr bwMode="auto">
              <a:xfrm>
                <a:off x="2064181" y="4778493"/>
                <a:ext cx="161925" cy="273050"/>
              </a:xfrm>
              <a:custGeom>
                <a:avLst/>
                <a:gdLst>
                  <a:gd name="T0" fmla="*/ 228 w 331"/>
                  <a:gd name="T1" fmla="*/ 533 h 559"/>
                  <a:gd name="T2" fmla="*/ 330 w 331"/>
                  <a:gd name="T3" fmla="*/ 471 h 559"/>
                  <a:gd name="T4" fmla="*/ 275 w 331"/>
                  <a:gd name="T5" fmla="*/ 230 h 559"/>
                  <a:gd name="T6" fmla="*/ 267 w 331"/>
                  <a:gd name="T7" fmla="*/ 30 h 559"/>
                  <a:gd name="T8" fmla="*/ 159 w 331"/>
                  <a:gd name="T9" fmla="*/ 37 h 559"/>
                  <a:gd name="T10" fmla="*/ 210 w 331"/>
                  <a:gd name="T11" fmla="*/ 116 h 559"/>
                  <a:gd name="T12" fmla="*/ 136 w 331"/>
                  <a:gd name="T13" fmla="*/ 165 h 559"/>
                  <a:gd name="T14" fmla="*/ 81 w 331"/>
                  <a:gd name="T15" fmla="*/ 91 h 559"/>
                  <a:gd name="T16" fmla="*/ 180 w 331"/>
                  <a:gd name="T17" fmla="*/ 294 h 559"/>
                  <a:gd name="T18" fmla="*/ 228 w 331"/>
                  <a:gd name="T19" fmla="*/ 533 h 5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31" h="559">
                    <a:moveTo>
                      <a:pt x="228" y="533"/>
                    </a:moveTo>
                    <a:cubicBezTo>
                      <a:pt x="228" y="533"/>
                      <a:pt x="315" y="559"/>
                      <a:pt x="330" y="471"/>
                    </a:cubicBezTo>
                    <a:cubicBezTo>
                      <a:pt x="331" y="463"/>
                      <a:pt x="275" y="230"/>
                      <a:pt x="275" y="230"/>
                    </a:cubicBezTo>
                    <a:cubicBezTo>
                      <a:pt x="327" y="137"/>
                      <a:pt x="304" y="55"/>
                      <a:pt x="267" y="30"/>
                    </a:cubicBezTo>
                    <a:cubicBezTo>
                      <a:pt x="223" y="0"/>
                      <a:pt x="159" y="37"/>
                      <a:pt x="159" y="37"/>
                    </a:cubicBezTo>
                    <a:lnTo>
                      <a:pt x="210" y="116"/>
                    </a:lnTo>
                    <a:lnTo>
                      <a:pt x="136" y="165"/>
                    </a:lnTo>
                    <a:lnTo>
                      <a:pt x="81" y="91"/>
                    </a:lnTo>
                    <a:cubicBezTo>
                      <a:pt x="37" y="144"/>
                      <a:pt x="0" y="301"/>
                      <a:pt x="180" y="294"/>
                    </a:cubicBezTo>
                    <a:lnTo>
                      <a:pt x="228" y="533"/>
                    </a:lnTo>
                    <a:close/>
                  </a:path>
                </a:pathLst>
              </a:custGeom>
              <a:solidFill>
                <a:srgbClr val="A9B6AC"/>
              </a:solidFill>
              <a:ln w="19050" cap="flat">
                <a:solidFill>
                  <a:srgbClr val="445750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73" name="Right Arrow 72"/>
            <p:cNvSpPr/>
            <p:nvPr/>
          </p:nvSpPr>
          <p:spPr>
            <a:xfrm>
              <a:off x="3646785" y="4330060"/>
              <a:ext cx="316999" cy="244240"/>
            </a:xfrm>
            <a:prstGeom prst="rightArrow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3600">
                <a:solidFill>
                  <a:schemeClr val="bg1"/>
                </a:solidFill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9235248" y="3178470"/>
              <a:ext cx="1051891" cy="461665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200" i="1" dirty="0" smtClean="0">
                  <a:solidFill>
                    <a:schemeClr val="bg1"/>
                  </a:solidFill>
                </a:rPr>
                <a:t>Application</a:t>
              </a:r>
              <a:endParaRPr lang="en-CA" sz="1200" i="1" dirty="0">
                <a:solidFill>
                  <a:schemeClr val="bg1"/>
                </a:solidFill>
              </a:endParaRPr>
            </a:p>
            <a:p>
              <a:pPr algn="ctr"/>
              <a:r>
                <a:rPr lang="en-CA" sz="1200" i="1" dirty="0">
                  <a:solidFill>
                    <a:schemeClr val="bg1"/>
                  </a:solidFill>
                </a:rPr>
                <a:t>Developer</a:t>
              </a:r>
            </a:p>
          </p:txBody>
        </p:sp>
        <p:cxnSp>
          <p:nvCxnSpPr>
            <p:cNvPr id="76" name="Straight Arrow Connector 75"/>
            <p:cNvCxnSpPr/>
            <p:nvPr/>
          </p:nvCxnSpPr>
          <p:spPr>
            <a:xfrm flipH="1">
              <a:off x="8577545" y="3464992"/>
              <a:ext cx="712276" cy="732542"/>
            </a:xfrm>
            <a:prstGeom prst="straightConnector1">
              <a:avLst/>
            </a:prstGeom>
            <a:ln w="12700">
              <a:solidFill>
                <a:schemeClr val="bg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7439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Generating Library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282801"/>
          </a:xfrm>
        </p:spPr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en-CA" dirty="0" smtClean="0"/>
              <a:t>Spiffy compiler processes annotated metadata structures</a:t>
            </a:r>
            <a:br>
              <a:rPr lang="en-CA" dirty="0" smtClean="0"/>
            </a:br>
            <a:r>
              <a:rPr lang="en-CA" dirty="0" smtClean="0"/>
              <a:t>to generate library for type-safe parsing</a:t>
            </a:r>
            <a:r>
              <a:rPr lang="en-CA" dirty="0"/>
              <a:t>, traversal and </a:t>
            </a:r>
            <a:r>
              <a:rPr lang="en-CA" dirty="0" smtClean="0"/>
              <a:t>serialization of file system structures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8</a:t>
            </a:fld>
            <a:endParaRPr lang="en-CA" dirty="0"/>
          </a:p>
        </p:txBody>
      </p:sp>
      <p:sp>
        <p:nvSpPr>
          <p:cNvPr id="39" name="Snip Single Corner Rectangle 38"/>
          <p:cNvSpPr/>
          <p:nvPr/>
        </p:nvSpPr>
        <p:spPr>
          <a:xfrm>
            <a:off x="2184504" y="4065180"/>
            <a:ext cx="1332000" cy="774000"/>
          </a:xfrm>
          <a:prstGeom prst="snip1Rect">
            <a:avLst>
              <a:gd name="adj" fmla="val 16653"/>
            </a:avLst>
          </a:prstGeom>
          <a:noFill/>
          <a:ln w="25400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Annotated File System Structures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87383" y="3112971"/>
            <a:ext cx="1186542" cy="523220"/>
          </a:xfrm>
          <a:prstGeom prst="rect">
            <a:avLst/>
          </a:prstGeom>
          <a:noFill/>
          <a:ln w="25400">
            <a:noFill/>
          </a:ln>
          <a:effectLst>
            <a:glow rad="101600">
              <a:srgbClr val="FFFF00">
                <a:alpha val="40000"/>
              </a:srgbClr>
            </a:glow>
          </a:effectLst>
        </p:spPr>
        <p:txBody>
          <a:bodyPr wrap="none" rtlCol="0">
            <a:spAutoFit/>
          </a:bodyPr>
          <a:lstStyle/>
          <a:p>
            <a:pPr algn="ctr"/>
            <a:r>
              <a:rPr lang="en-CA" sz="1400" i="1" dirty="0">
                <a:solidFill>
                  <a:schemeClr val="bg1"/>
                </a:solidFill>
              </a:rPr>
              <a:t>File System </a:t>
            </a:r>
          </a:p>
          <a:p>
            <a:pPr algn="ctr"/>
            <a:r>
              <a:rPr lang="en-CA" sz="1400" i="1" dirty="0">
                <a:solidFill>
                  <a:schemeClr val="bg1"/>
                </a:solidFill>
              </a:rPr>
              <a:t>Developer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737224" y="4330060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094065" y="4065180"/>
            <a:ext cx="1080000" cy="774000"/>
          </a:xfrm>
          <a:prstGeom prst="roundRect">
            <a:avLst/>
          </a:prstGeom>
          <a:noFill/>
          <a:ln w="25400" cmpd="dbl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</a:rPr>
              <a:t>Spiffy Compiler</a:t>
            </a:r>
          </a:p>
        </p:txBody>
      </p:sp>
      <p:sp>
        <p:nvSpPr>
          <p:cNvPr id="43" name="Snip Single Corner Rectangle 42"/>
          <p:cNvSpPr/>
          <p:nvPr/>
        </p:nvSpPr>
        <p:spPr>
          <a:xfrm>
            <a:off x="7432632" y="5281328"/>
            <a:ext cx="1332000" cy="774000"/>
          </a:xfrm>
          <a:prstGeom prst="snip1Rect">
            <a:avLst>
              <a:gd name="adj" fmla="val 17937"/>
            </a:avLst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0" bIns="144000" rtlCol="0" anchor="ctr"/>
          <a:lstStyle/>
          <a:p>
            <a:pPr algn="ctr"/>
            <a:r>
              <a:rPr lang="en-CA" sz="1600" dirty="0" smtClean="0">
                <a:solidFill>
                  <a:schemeClr val="bg1"/>
                </a:solidFill>
              </a:rPr>
              <a:t>Generic  </a:t>
            </a:r>
            <a:br>
              <a:rPr lang="en-CA" sz="1600" dirty="0" smtClean="0">
                <a:solidFill>
                  <a:schemeClr val="bg1"/>
                </a:solidFill>
              </a:rPr>
            </a:br>
            <a:r>
              <a:rPr lang="en-CA" sz="1600" dirty="0" smtClean="0">
                <a:solidFill>
                  <a:schemeClr val="bg1"/>
                </a:solidFill>
              </a:rPr>
              <a:t>Application</a:t>
            </a:r>
            <a:endParaRPr lang="en-CA" sz="1600" dirty="0">
              <a:solidFill>
                <a:schemeClr val="bg1"/>
              </a:solidFill>
            </a:endParaRPr>
          </a:p>
        </p:txBody>
      </p:sp>
      <p:sp>
        <p:nvSpPr>
          <p:cNvPr id="44" name="Snip Single Corner Rectangle 43"/>
          <p:cNvSpPr/>
          <p:nvPr/>
        </p:nvSpPr>
        <p:spPr>
          <a:xfrm>
            <a:off x="7432632" y="2832811"/>
            <a:ext cx="1332000" cy="774000"/>
          </a:xfrm>
          <a:prstGeom prst="snip1Rect">
            <a:avLst>
              <a:gd name="adj" fmla="val 17937"/>
            </a:avLst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File </a:t>
            </a:r>
            <a:r>
              <a:rPr lang="en-CA" sz="1600" dirty="0" smtClean="0">
                <a:solidFill>
                  <a:schemeClr val="bg1"/>
                </a:solidFill>
              </a:rPr>
              <a:t>System </a:t>
            </a:r>
            <a:r>
              <a:rPr lang="en-CA" sz="1600" dirty="0">
                <a:solidFill>
                  <a:schemeClr val="bg1"/>
                </a:solidFill>
              </a:rPr>
              <a:t>Specific Policies</a:t>
            </a:r>
          </a:p>
        </p:txBody>
      </p:sp>
      <p:sp>
        <p:nvSpPr>
          <p:cNvPr id="45" name="Right Arrow 44"/>
          <p:cNvSpPr/>
          <p:nvPr/>
        </p:nvSpPr>
        <p:spPr>
          <a:xfrm rot="5400000">
            <a:off x="7946907" y="4930973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751627" y="4065180"/>
            <a:ext cx="1224000" cy="774000"/>
          </a:xfrm>
          <a:prstGeom prst="rect">
            <a:avLst/>
          </a:prstGeom>
          <a:noFill/>
          <a:ln w="25400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6800" rIns="0" bIns="46800" rtlCol="0" anchor="ctr"/>
          <a:lstStyle/>
          <a:p>
            <a:pPr algn="ctr"/>
            <a:r>
              <a:rPr lang="en-CA" sz="1600" dirty="0" smtClean="0">
                <a:solidFill>
                  <a:schemeClr val="bg1"/>
                </a:solidFill>
              </a:rPr>
              <a:t>File </a:t>
            </a:r>
            <a:r>
              <a:rPr lang="en-CA" sz="1600" dirty="0">
                <a:solidFill>
                  <a:schemeClr val="bg1"/>
                </a:solidFill>
              </a:rPr>
              <a:t>System Library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5304346" y="4330060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9292902" y="4065180"/>
            <a:ext cx="1318760" cy="774000"/>
          </a:xfrm>
          <a:prstGeom prst="rect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360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File System Application</a:t>
            </a:r>
          </a:p>
        </p:txBody>
      </p:sp>
      <p:sp>
        <p:nvSpPr>
          <p:cNvPr id="49" name="Right Arrow 48"/>
          <p:cNvSpPr/>
          <p:nvPr/>
        </p:nvSpPr>
        <p:spPr>
          <a:xfrm rot="18900000">
            <a:off x="7054852" y="3727351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0" name="Right Arrow 49"/>
          <p:cNvSpPr/>
          <p:nvPr/>
        </p:nvSpPr>
        <p:spPr>
          <a:xfrm rot="16200000">
            <a:off x="7946907" y="3721899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1" name="Right Arrow 50"/>
          <p:cNvSpPr/>
          <p:nvPr/>
        </p:nvSpPr>
        <p:spPr>
          <a:xfrm rot="18900000">
            <a:off x="8859377" y="4936426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2" name="Right Arrow 51"/>
          <p:cNvSpPr/>
          <p:nvPr/>
        </p:nvSpPr>
        <p:spPr>
          <a:xfrm rot="2700000">
            <a:off x="8866151" y="3721898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709658" y="5281328"/>
            <a:ext cx="1260000" cy="774000"/>
          </a:xfrm>
          <a:prstGeom prst="rect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6800" rIns="0" bIns="468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Spiffy API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7054852" y="5473906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5" name="Right Arrow 54"/>
          <p:cNvSpPr/>
          <p:nvPr/>
        </p:nvSpPr>
        <p:spPr>
          <a:xfrm rot="16200000">
            <a:off x="6187933" y="4930974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pic>
        <p:nvPicPr>
          <p:cNvPr id="56" name="Picture 5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658" y="4032191"/>
            <a:ext cx="839949" cy="839978"/>
          </a:xfrm>
          <a:prstGeom prst="rect">
            <a:avLst/>
          </a:prstGeom>
        </p:spPr>
      </p:pic>
      <p:grpSp>
        <p:nvGrpSpPr>
          <p:cNvPr id="57" name="Group 56"/>
          <p:cNvGrpSpPr/>
          <p:nvPr/>
        </p:nvGrpSpPr>
        <p:grpSpPr>
          <a:xfrm>
            <a:off x="824305" y="3607630"/>
            <a:ext cx="782638" cy="1689100"/>
            <a:chOff x="1494268" y="4778493"/>
            <a:chExt cx="782638" cy="1689100"/>
          </a:xfrm>
          <a:effectLst/>
        </p:grpSpPr>
        <p:sp>
          <p:nvSpPr>
            <p:cNvPr id="61" name="Freeform 5"/>
            <p:cNvSpPr>
              <a:spLocks/>
            </p:cNvSpPr>
            <p:nvPr/>
          </p:nvSpPr>
          <p:spPr bwMode="auto">
            <a:xfrm>
              <a:off x="1508556" y="4964230"/>
              <a:ext cx="758825" cy="1489075"/>
            </a:xfrm>
            <a:custGeom>
              <a:avLst/>
              <a:gdLst>
                <a:gd name="T0" fmla="*/ 250 w 1553"/>
                <a:gd name="T1" fmla="*/ 791 h 3047"/>
                <a:gd name="T2" fmla="*/ 194 w 1553"/>
                <a:gd name="T3" fmla="*/ 572 h 3047"/>
                <a:gd name="T4" fmla="*/ 262 w 1553"/>
                <a:gd name="T5" fmla="*/ 325 h 3047"/>
                <a:gd name="T6" fmla="*/ 447 w 1553"/>
                <a:gd name="T7" fmla="*/ 175 h 3047"/>
                <a:gd name="T8" fmla="*/ 678 w 1553"/>
                <a:gd name="T9" fmla="*/ 141 h 3047"/>
                <a:gd name="T10" fmla="*/ 837 w 1553"/>
                <a:gd name="T11" fmla="*/ 216 h 3047"/>
                <a:gd name="T12" fmla="*/ 950 w 1553"/>
                <a:gd name="T13" fmla="*/ 378 h 3047"/>
                <a:gd name="T14" fmla="*/ 959 w 1553"/>
                <a:gd name="T15" fmla="*/ 585 h 3047"/>
                <a:gd name="T16" fmla="*/ 884 w 1553"/>
                <a:gd name="T17" fmla="*/ 816 h 3047"/>
                <a:gd name="T18" fmla="*/ 950 w 1553"/>
                <a:gd name="T19" fmla="*/ 797 h 3047"/>
                <a:gd name="T20" fmla="*/ 1344 w 1553"/>
                <a:gd name="T21" fmla="*/ 85 h 3047"/>
                <a:gd name="T22" fmla="*/ 1516 w 1553"/>
                <a:gd name="T23" fmla="*/ 0 h 3047"/>
                <a:gd name="T24" fmla="*/ 1553 w 1553"/>
                <a:gd name="T25" fmla="*/ 175 h 3047"/>
                <a:gd name="T26" fmla="*/ 1312 w 1553"/>
                <a:gd name="T27" fmla="*/ 807 h 3047"/>
                <a:gd name="T28" fmla="*/ 1253 w 1553"/>
                <a:gd name="T29" fmla="*/ 925 h 3047"/>
                <a:gd name="T30" fmla="*/ 1209 w 1553"/>
                <a:gd name="T31" fmla="*/ 1241 h 3047"/>
                <a:gd name="T32" fmla="*/ 1237 w 1553"/>
                <a:gd name="T33" fmla="*/ 1753 h 3047"/>
                <a:gd name="T34" fmla="*/ 1300 w 1553"/>
                <a:gd name="T35" fmla="*/ 2266 h 3047"/>
                <a:gd name="T36" fmla="*/ 1303 w 1553"/>
                <a:gd name="T37" fmla="*/ 2460 h 3047"/>
                <a:gd name="T38" fmla="*/ 1272 w 1553"/>
                <a:gd name="T39" fmla="*/ 2791 h 3047"/>
                <a:gd name="T40" fmla="*/ 1209 w 1553"/>
                <a:gd name="T41" fmla="*/ 2978 h 3047"/>
                <a:gd name="T42" fmla="*/ 1128 w 1553"/>
                <a:gd name="T43" fmla="*/ 3047 h 3047"/>
                <a:gd name="T44" fmla="*/ 1028 w 1553"/>
                <a:gd name="T45" fmla="*/ 2957 h 3047"/>
                <a:gd name="T46" fmla="*/ 981 w 1553"/>
                <a:gd name="T47" fmla="*/ 2769 h 3047"/>
                <a:gd name="T48" fmla="*/ 978 w 1553"/>
                <a:gd name="T49" fmla="*/ 2491 h 3047"/>
                <a:gd name="T50" fmla="*/ 956 w 1553"/>
                <a:gd name="T51" fmla="*/ 2272 h 3047"/>
                <a:gd name="T52" fmla="*/ 884 w 1553"/>
                <a:gd name="T53" fmla="*/ 2166 h 3047"/>
                <a:gd name="T54" fmla="*/ 847 w 1553"/>
                <a:gd name="T55" fmla="*/ 2135 h 3047"/>
                <a:gd name="T56" fmla="*/ 803 w 1553"/>
                <a:gd name="T57" fmla="*/ 2313 h 3047"/>
                <a:gd name="T58" fmla="*/ 750 w 1553"/>
                <a:gd name="T59" fmla="*/ 2635 h 3047"/>
                <a:gd name="T60" fmla="*/ 716 w 1553"/>
                <a:gd name="T61" fmla="*/ 2778 h 3047"/>
                <a:gd name="T62" fmla="*/ 681 w 1553"/>
                <a:gd name="T63" fmla="*/ 2919 h 3047"/>
                <a:gd name="T64" fmla="*/ 634 w 1553"/>
                <a:gd name="T65" fmla="*/ 3025 h 3047"/>
                <a:gd name="T66" fmla="*/ 559 w 1553"/>
                <a:gd name="T67" fmla="*/ 3044 h 3047"/>
                <a:gd name="T68" fmla="*/ 484 w 1553"/>
                <a:gd name="T69" fmla="*/ 2985 h 3047"/>
                <a:gd name="T70" fmla="*/ 437 w 1553"/>
                <a:gd name="T71" fmla="*/ 2744 h 3047"/>
                <a:gd name="T72" fmla="*/ 425 w 1553"/>
                <a:gd name="T73" fmla="*/ 2382 h 3047"/>
                <a:gd name="T74" fmla="*/ 422 w 1553"/>
                <a:gd name="T75" fmla="*/ 2047 h 3047"/>
                <a:gd name="T76" fmla="*/ 419 w 1553"/>
                <a:gd name="T77" fmla="*/ 1722 h 3047"/>
                <a:gd name="T78" fmla="*/ 375 w 1553"/>
                <a:gd name="T79" fmla="*/ 1572 h 3047"/>
                <a:gd name="T80" fmla="*/ 316 w 1553"/>
                <a:gd name="T81" fmla="*/ 1538 h 3047"/>
                <a:gd name="T82" fmla="*/ 259 w 1553"/>
                <a:gd name="T83" fmla="*/ 1710 h 3047"/>
                <a:gd name="T84" fmla="*/ 212 w 1553"/>
                <a:gd name="T85" fmla="*/ 1985 h 3047"/>
                <a:gd name="T86" fmla="*/ 169 w 1553"/>
                <a:gd name="T87" fmla="*/ 2150 h 3047"/>
                <a:gd name="T88" fmla="*/ 106 w 1553"/>
                <a:gd name="T89" fmla="*/ 2188 h 3047"/>
                <a:gd name="T90" fmla="*/ 41 w 1553"/>
                <a:gd name="T91" fmla="*/ 2085 h 3047"/>
                <a:gd name="T92" fmla="*/ 0 w 1553"/>
                <a:gd name="T93" fmla="*/ 1810 h 3047"/>
                <a:gd name="T94" fmla="*/ 37 w 1553"/>
                <a:gd name="T95" fmla="*/ 1428 h 3047"/>
                <a:gd name="T96" fmla="*/ 137 w 1553"/>
                <a:gd name="T97" fmla="*/ 1116 h 3047"/>
                <a:gd name="T98" fmla="*/ 306 w 1553"/>
                <a:gd name="T99" fmla="*/ 922 h 3047"/>
                <a:gd name="T100" fmla="*/ 250 w 1553"/>
                <a:gd name="T101" fmla="*/ 791 h 30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53" h="3047">
                  <a:moveTo>
                    <a:pt x="250" y="791"/>
                  </a:moveTo>
                  <a:lnTo>
                    <a:pt x="194" y="572"/>
                  </a:lnTo>
                  <a:lnTo>
                    <a:pt x="262" y="325"/>
                  </a:lnTo>
                  <a:lnTo>
                    <a:pt x="447" y="175"/>
                  </a:lnTo>
                  <a:lnTo>
                    <a:pt x="678" y="141"/>
                  </a:lnTo>
                  <a:lnTo>
                    <a:pt x="837" y="216"/>
                  </a:lnTo>
                  <a:lnTo>
                    <a:pt x="950" y="378"/>
                  </a:lnTo>
                  <a:lnTo>
                    <a:pt x="959" y="585"/>
                  </a:lnTo>
                  <a:lnTo>
                    <a:pt x="884" y="816"/>
                  </a:lnTo>
                  <a:lnTo>
                    <a:pt x="950" y="797"/>
                  </a:lnTo>
                  <a:lnTo>
                    <a:pt x="1344" y="85"/>
                  </a:lnTo>
                  <a:lnTo>
                    <a:pt x="1516" y="0"/>
                  </a:lnTo>
                  <a:lnTo>
                    <a:pt x="1553" y="175"/>
                  </a:lnTo>
                  <a:lnTo>
                    <a:pt x="1312" y="807"/>
                  </a:lnTo>
                  <a:cubicBezTo>
                    <a:pt x="1312" y="807"/>
                    <a:pt x="1253" y="913"/>
                    <a:pt x="1253" y="925"/>
                  </a:cubicBezTo>
                  <a:cubicBezTo>
                    <a:pt x="1253" y="938"/>
                    <a:pt x="1209" y="1241"/>
                    <a:pt x="1209" y="1241"/>
                  </a:cubicBezTo>
                  <a:lnTo>
                    <a:pt x="1237" y="1753"/>
                  </a:lnTo>
                  <a:lnTo>
                    <a:pt x="1300" y="2266"/>
                  </a:lnTo>
                  <a:cubicBezTo>
                    <a:pt x="1300" y="2266"/>
                    <a:pt x="1316" y="2428"/>
                    <a:pt x="1303" y="2460"/>
                  </a:cubicBezTo>
                  <a:cubicBezTo>
                    <a:pt x="1291" y="2491"/>
                    <a:pt x="1272" y="2791"/>
                    <a:pt x="1272" y="2791"/>
                  </a:cubicBezTo>
                  <a:lnTo>
                    <a:pt x="1209" y="2978"/>
                  </a:lnTo>
                  <a:lnTo>
                    <a:pt x="1128" y="3047"/>
                  </a:lnTo>
                  <a:lnTo>
                    <a:pt x="1028" y="2957"/>
                  </a:lnTo>
                  <a:lnTo>
                    <a:pt x="981" y="2769"/>
                  </a:lnTo>
                  <a:lnTo>
                    <a:pt x="978" y="2491"/>
                  </a:lnTo>
                  <a:lnTo>
                    <a:pt x="956" y="2272"/>
                  </a:lnTo>
                  <a:lnTo>
                    <a:pt x="884" y="2166"/>
                  </a:lnTo>
                  <a:lnTo>
                    <a:pt x="847" y="2135"/>
                  </a:lnTo>
                  <a:lnTo>
                    <a:pt x="803" y="2313"/>
                  </a:lnTo>
                  <a:lnTo>
                    <a:pt x="750" y="2635"/>
                  </a:lnTo>
                  <a:lnTo>
                    <a:pt x="716" y="2778"/>
                  </a:lnTo>
                  <a:lnTo>
                    <a:pt x="681" y="2919"/>
                  </a:lnTo>
                  <a:lnTo>
                    <a:pt x="634" y="3025"/>
                  </a:lnTo>
                  <a:lnTo>
                    <a:pt x="559" y="3044"/>
                  </a:lnTo>
                  <a:lnTo>
                    <a:pt x="484" y="2985"/>
                  </a:lnTo>
                  <a:lnTo>
                    <a:pt x="437" y="2744"/>
                  </a:lnTo>
                  <a:lnTo>
                    <a:pt x="425" y="2382"/>
                  </a:lnTo>
                  <a:lnTo>
                    <a:pt x="422" y="2047"/>
                  </a:lnTo>
                  <a:lnTo>
                    <a:pt x="419" y="1722"/>
                  </a:lnTo>
                  <a:lnTo>
                    <a:pt x="375" y="1572"/>
                  </a:lnTo>
                  <a:lnTo>
                    <a:pt x="316" y="1538"/>
                  </a:lnTo>
                  <a:lnTo>
                    <a:pt x="259" y="1710"/>
                  </a:lnTo>
                  <a:lnTo>
                    <a:pt x="212" y="1985"/>
                  </a:lnTo>
                  <a:lnTo>
                    <a:pt x="169" y="2150"/>
                  </a:lnTo>
                  <a:lnTo>
                    <a:pt x="106" y="2188"/>
                  </a:lnTo>
                  <a:lnTo>
                    <a:pt x="41" y="2085"/>
                  </a:lnTo>
                  <a:lnTo>
                    <a:pt x="0" y="1810"/>
                  </a:lnTo>
                  <a:lnTo>
                    <a:pt x="37" y="1428"/>
                  </a:lnTo>
                  <a:lnTo>
                    <a:pt x="137" y="1116"/>
                  </a:lnTo>
                  <a:lnTo>
                    <a:pt x="306" y="922"/>
                  </a:lnTo>
                  <a:lnTo>
                    <a:pt x="250" y="791"/>
                  </a:lnTo>
                  <a:close/>
                </a:path>
              </a:pathLst>
            </a:custGeom>
            <a:solidFill>
              <a:srgbClr val="53535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2" name="Freeform 6"/>
            <p:cNvSpPr>
              <a:spLocks/>
            </p:cNvSpPr>
            <p:nvPr/>
          </p:nvSpPr>
          <p:spPr bwMode="auto">
            <a:xfrm>
              <a:off x="1511731" y="5119805"/>
              <a:ext cx="696913" cy="854075"/>
            </a:xfrm>
            <a:custGeom>
              <a:avLst/>
              <a:gdLst>
                <a:gd name="T0" fmla="*/ 163 w 1427"/>
                <a:gd name="T1" fmla="*/ 769 h 1747"/>
                <a:gd name="T2" fmla="*/ 93 w 1427"/>
                <a:gd name="T3" fmla="*/ 901 h 1747"/>
                <a:gd name="T4" fmla="*/ 35 w 1427"/>
                <a:gd name="T5" fmla="*/ 1087 h 1747"/>
                <a:gd name="T6" fmla="*/ 0 w 1427"/>
                <a:gd name="T7" fmla="*/ 1286 h 1747"/>
                <a:gd name="T8" fmla="*/ 0 w 1427"/>
                <a:gd name="T9" fmla="*/ 1586 h 1747"/>
                <a:gd name="T10" fmla="*/ 212 w 1427"/>
                <a:gd name="T11" fmla="*/ 1662 h 1747"/>
                <a:gd name="T12" fmla="*/ 247 w 1427"/>
                <a:gd name="T13" fmla="*/ 1379 h 1747"/>
                <a:gd name="T14" fmla="*/ 287 w 1427"/>
                <a:gd name="T15" fmla="*/ 1273 h 1747"/>
                <a:gd name="T16" fmla="*/ 336 w 1427"/>
                <a:gd name="T17" fmla="*/ 1220 h 1747"/>
                <a:gd name="T18" fmla="*/ 389 w 1427"/>
                <a:gd name="T19" fmla="*/ 1277 h 1747"/>
                <a:gd name="T20" fmla="*/ 429 w 1427"/>
                <a:gd name="T21" fmla="*/ 1432 h 1747"/>
                <a:gd name="T22" fmla="*/ 420 w 1427"/>
                <a:gd name="T23" fmla="*/ 1684 h 1747"/>
                <a:gd name="T24" fmla="*/ 420 w 1427"/>
                <a:gd name="T25" fmla="*/ 1723 h 1747"/>
                <a:gd name="T26" fmla="*/ 579 w 1427"/>
                <a:gd name="T27" fmla="*/ 1723 h 1747"/>
                <a:gd name="T28" fmla="*/ 1096 w 1427"/>
                <a:gd name="T29" fmla="*/ 1547 h 1747"/>
                <a:gd name="T30" fmla="*/ 1255 w 1427"/>
                <a:gd name="T31" fmla="*/ 1520 h 1747"/>
                <a:gd name="T32" fmla="*/ 1206 w 1427"/>
                <a:gd name="T33" fmla="*/ 1193 h 1747"/>
                <a:gd name="T34" fmla="*/ 1206 w 1427"/>
                <a:gd name="T35" fmla="*/ 879 h 1747"/>
                <a:gd name="T36" fmla="*/ 1233 w 1427"/>
                <a:gd name="T37" fmla="*/ 632 h 1747"/>
                <a:gd name="T38" fmla="*/ 1357 w 1427"/>
                <a:gd name="T39" fmla="*/ 376 h 1747"/>
                <a:gd name="T40" fmla="*/ 1427 w 1427"/>
                <a:gd name="T41" fmla="*/ 194 h 1747"/>
                <a:gd name="T42" fmla="*/ 1206 w 1427"/>
                <a:gd name="T43" fmla="*/ 0 h 1747"/>
                <a:gd name="T44" fmla="*/ 1096 w 1427"/>
                <a:gd name="T45" fmla="*/ 208 h 1747"/>
                <a:gd name="T46" fmla="*/ 1021 w 1427"/>
                <a:gd name="T47" fmla="*/ 305 h 1747"/>
                <a:gd name="T48" fmla="*/ 981 w 1427"/>
                <a:gd name="T49" fmla="*/ 437 h 1747"/>
                <a:gd name="T50" fmla="*/ 862 w 1427"/>
                <a:gd name="T51" fmla="*/ 729 h 1747"/>
                <a:gd name="T52" fmla="*/ 451 w 1427"/>
                <a:gd name="T53" fmla="*/ 654 h 1747"/>
                <a:gd name="T54" fmla="*/ 163 w 1427"/>
                <a:gd name="T55" fmla="*/ 769 h 17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427" h="1747">
                  <a:moveTo>
                    <a:pt x="163" y="769"/>
                  </a:moveTo>
                  <a:lnTo>
                    <a:pt x="93" y="901"/>
                  </a:lnTo>
                  <a:lnTo>
                    <a:pt x="35" y="1087"/>
                  </a:lnTo>
                  <a:lnTo>
                    <a:pt x="0" y="1286"/>
                  </a:lnTo>
                  <a:lnTo>
                    <a:pt x="0" y="1586"/>
                  </a:lnTo>
                  <a:cubicBezTo>
                    <a:pt x="96" y="1655"/>
                    <a:pt x="147" y="1646"/>
                    <a:pt x="212" y="1662"/>
                  </a:cubicBezTo>
                  <a:lnTo>
                    <a:pt x="247" y="1379"/>
                  </a:lnTo>
                  <a:lnTo>
                    <a:pt x="287" y="1273"/>
                  </a:lnTo>
                  <a:lnTo>
                    <a:pt x="336" y="1220"/>
                  </a:lnTo>
                  <a:lnTo>
                    <a:pt x="389" y="1277"/>
                  </a:lnTo>
                  <a:lnTo>
                    <a:pt x="429" y="1432"/>
                  </a:lnTo>
                  <a:lnTo>
                    <a:pt x="420" y="1684"/>
                  </a:lnTo>
                  <a:lnTo>
                    <a:pt x="420" y="1723"/>
                  </a:lnTo>
                  <a:cubicBezTo>
                    <a:pt x="492" y="1747"/>
                    <a:pt x="532" y="1737"/>
                    <a:pt x="579" y="1723"/>
                  </a:cubicBezTo>
                  <a:cubicBezTo>
                    <a:pt x="756" y="1649"/>
                    <a:pt x="936" y="1579"/>
                    <a:pt x="1096" y="1547"/>
                  </a:cubicBezTo>
                  <a:cubicBezTo>
                    <a:pt x="1145" y="1538"/>
                    <a:pt x="1113" y="1536"/>
                    <a:pt x="1255" y="1520"/>
                  </a:cubicBezTo>
                  <a:lnTo>
                    <a:pt x="1206" y="1193"/>
                  </a:lnTo>
                  <a:lnTo>
                    <a:pt x="1206" y="879"/>
                  </a:lnTo>
                  <a:lnTo>
                    <a:pt x="1233" y="632"/>
                  </a:lnTo>
                  <a:lnTo>
                    <a:pt x="1357" y="376"/>
                  </a:lnTo>
                  <a:lnTo>
                    <a:pt x="1427" y="194"/>
                  </a:lnTo>
                  <a:cubicBezTo>
                    <a:pt x="1360" y="125"/>
                    <a:pt x="1305" y="49"/>
                    <a:pt x="1206" y="0"/>
                  </a:cubicBezTo>
                  <a:lnTo>
                    <a:pt x="1096" y="208"/>
                  </a:lnTo>
                  <a:lnTo>
                    <a:pt x="1021" y="305"/>
                  </a:lnTo>
                  <a:lnTo>
                    <a:pt x="981" y="437"/>
                  </a:lnTo>
                  <a:lnTo>
                    <a:pt x="862" y="729"/>
                  </a:lnTo>
                  <a:lnTo>
                    <a:pt x="451" y="654"/>
                  </a:lnTo>
                  <a:lnTo>
                    <a:pt x="163" y="769"/>
                  </a:lnTo>
                  <a:close/>
                </a:path>
              </a:pathLst>
            </a:custGeom>
            <a:solidFill>
              <a:srgbClr val="962A22"/>
            </a:solidFill>
            <a:ln w="6350" cap="flat">
              <a:solidFill>
                <a:srgbClr val="962A22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3" name="Freeform 7"/>
            <p:cNvSpPr>
              <a:spLocks/>
            </p:cNvSpPr>
            <p:nvPr/>
          </p:nvSpPr>
          <p:spPr bwMode="auto">
            <a:xfrm>
              <a:off x="1737156" y="5792905"/>
              <a:ext cx="387350" cy="165100"/>
            </a:xfrm>
            <a:custGeom>
              <a:avLst/>
              <a:gdLst>
                <a:gd name="T0" fmla="*/ 0 w 795"/>
                <a:gd name="T1" fmla="*/ 330 h 339"/>
                <a:gd name="T2" fmla="*/ 223 w 795"/>
                <a:gd name="T3" fmla="*/ 275 h 339"/>
                <a:gd name="T4" fmla="*/ 765 w 795"/>
                <a:gd name="T5" fmla="*/ 97 h 339"/>
                <a:gd name="T6" fmla="*/ 795 w 795"/>
                <a:gd name="T7" fmla="*/ 0 h 339"/>
                <a:gd name="T8" fmla="*/ 204 w 795"/>
                <a:gd name="T9" fmla="*/ 240 h 339"/>
                <a:gd name="T10" fmla="*/ 0 w 795"/>
                <a:gd name="T11" fmla="*/ 330 h 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95" h="339">
                  <a:moveTo>
                    <a:pt x="0" y="330"/>
                  </a:moveTo>
                  <a:cubicBezTo>
                    <a:pt x="35" y="339"/>
                    <a:pt x="134" y="317"/>
                    <a:pt x="223" y="275"/>
                  </a:cubicBezTo>
                  <a:cubicBezTo>
                    <a:pt x="441" y="170"/>
                    <a:pt x="708" y="60"/>
                    <a:pt x="765" y="97"/>
                  </a:cubicBezTo>
                  <a:lnTo>
                    <a:pt x="795" y="0"/>
                  </a:lnTo>
                  <a:cubicBezTo>
                    <a:pt x="662" y="11"/>
                    <a:pt x="469" y="85"/>
                    <a:pt x="204" y="240"/>
                  </a:cubicBezTo>
                  <a:cubicBezTo>
                    <a:pt x="175" y="257"/>
                    <a:pt x="120" y="295"/>
                    <a:pt x="0" y="330"/>
                  </a:cubicBezTo>
                  <a:close/>
                </a:path>
              </a:pathLst>
            </a:custGeom>
            <a:solidFill>
              <a:srgbClr val="FFFFC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4" name="Freeform 8"/>
            <p:cNvSpPr>
              <a:spLocks/>
            </p:cNvSpPr>
            <p:nvPr/>
          </p:nvSpPr>
          <p:spPr bwMode="auto">
            <a:xfrm>
              <a:off x="1880031" y="5496043"/>
              <a:ext cx="33338" cy="153988"/>
            </a:xfrm>
            <a:custGeom>
              <a:avLst/>
              <a:gdLst>
                <a:gd name="T0" fmla="*/ 39 w 69"/>
                <a:gd name="T1" fmla="*/ 0 h 316"/>
                <a:gd name="T2" fmla="*/ 10 w 69"/>
                <a:gd name="T3" fmla="*/ 75 h 316"/>
                <a:gd name="T4" fmla="*/ 4 w 69"/>
                <a:gd name="T5" fmla="*/ 133 h 316"/>
                <a:gd name="T6" fmla="*/ 9 w 69"/>
                <a:gd name="T7" fmla="*/ 258 h 316"/>
                <a:gd name="T8" fmla="*/ 18 w 69"/>
                <a:gd name="T9" fmla="*/ 310 h 316"/>
                <a:gd name="T10" fmla="*/ 31 w 69"/>
                <a:gd name="T11" fmla="*/ 316 h 316"/>
                <a:gd name="T12" fmla="*/ 45 w 69"/>
                <a:gd name="T13" fmla="*/ 316 h 316"/>
                <a:gd name="T14" fmla="*/ 53 w 69"/>
                <a:gd name="T15" fmla="*/ 286 h 316"/>
                <a:gd name="T16" fmla="*/ 40 w 69"/>
                <a:gd name="T17" fmla="*/ 163 h 316"/>
                <a:gd name="T18" fmla="*/ 36 w 69"/>
                <a:gd name="T19" fmla="*/ 98 h 316"/>
                <a:gd name="T20" fmla="*/ 47 w 69"/>
                <a:gd name="T21" fmla="*/ 56 h 316"/>
                <a:gd name="T22" fmla="*/ 69 w 69"/>
                <a:gd name="T23" fmla="*/ 14 h 316"/>
                <a:gd name="T24" fmla="*/ 39 w 69"/>
                <a:gd name="T25" fmla="*/ 0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9" h="316">
                  <a:moveTo>
                    <a:pt x="39" y="0"/>
                  </a:moveTo>
                  <a:lnTo>
                    <a:pt x="10" y="75"/>
                  </a:lnTo>
                  <a:cubicBezTo>
                    <a:pt x="10" y="75"/>
                    <a:pt x="0" y="132"/>
                    <a:pt x="4" y="133"/>
                  </a:cubicBezTo>
                  <a:cubicBezTo>
                    <a:pt x="7" y="133"/>
                    <a:pt x="9" y="258"/>
                    <a:pt x="9" y="258"/>
                  </a:cubicBezTo>
                  <a:lnTo>
                    <a:pt x="18" y="310"/>
                  </a:lnTo>
                  <a:lnTo>
                    <a:pt x="31" y="316"/>
                  </a:lnTo>
                  <a:lnTo>
                    <a:pt x="45" y="316"/>
                  </a:lnTo>
                  <a:lnTo>
                    <a:pt x="53" y="286"/>
                  </a:lnTo>
                  <a:lnTo>
                    <a:pt x="40" y="163"/>
                  </a:lnTo>
                  <a:lnTo>
                    <a:pt x="36" y="98"/>
                  </a:lnTo>
                  <a:lnTo>
                    <a:pt x="47" y="56"/>
                  </a:lnTo>
                  <a:lnTo>
                    <a:pt x="69" y="1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C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5" name="Freeform 9"/>
            <p:cNvSpPr>
              <a:spLocks noEditPoints="1"/>
            </p:cNvSpPr>
            <p:nvPr/>
          </p:nvSpPr>
          <p:spPr bwMode="auto">
            <a:xfrm>
              <a:off x="1876856" y="5489693"/>
              <a:ext cx="41275" cy="166688"/>
            </a:xfrm>
            <a:custGeom>
              <a:avLst/>
              <a:gdLst>
                <a:gd name="T0" fmla="*/ 45 w 85"/>
                <a:gd name="T1" fmla="*/ 0 h 342"/>
                <a:gd name="T2" fmla="*/ 42 w 85"/>
                <a:gd name="T3" fmla="*/ 6 h 342"/>
                <a:gd name="T4" fmla="*/ 5 w 85"/>
                <a:gd name="T5" fmla="*/ 114 h 342"/>
                <a:gd name="T6" fmla="*/ 13 w 85"/>
                <a:gd name="T7" fmla="*/ 318 h 342"/>
                <a:gd name="T8" fmla="*/ 14 w 85"/>
                <a:gd name="T9" fmla="*/ 318 h 342"/>
                <a:gd name="T10" fmla="*/ 14 w 85"/>
                <a:gd name="T11" fmla="*/ 318 h 342"/>
                <a:gd name="T12" fmla="*/ 26 w 85"/>
                <a:gd name="T13" fmla="*/ 338 h 342"/>
                <a:gd name="T14" fmla="*/ 49 w 85"/>
                <a:gd name="T15" fmla="*/ 339 h 342"/>
                <a:gd name="T16" fmla="*/ 63 w 85"/>
                <a:gd name="T17" fmla="*/ 317 h 342"/>
                <a:gd name="T18" fmla="*/ 49 w 85"/>
                <a:gd name="T19" fmla="*/ 174 h 342"/>
                <a:gd name="T20" fmla="*/ 48 w 85"/>
                <a:gd name="T21" fmla="*/ 117 h 342"/>
                <a:gd name="T22" fmla="*/ 81 w 85"/>
                <a:gd name="T23" fmla="*/ 28 h 342"/>
                <a:gd name="T24" fmla="*/ 85 w 85"/>
                <a:gd name="T25" fmla="*/ 22 h 342"/>
                <a:gd name="T26" fmla="*/ 79 w 85"/>
                <a:gd name="T27" fmla="*/ 19 h 342"/>
                <a:gd name="T28" fmla="*/ 50 w 85"/>
                <a:gd name="T29" fmla="*/ 3 h 342"/>
                <a:gd name="T30" fmla="*/ 45 w 85"/>
                <a:gd name="T31" fmla="*/ 0 h 342"/>
                <a:gd name="T32" fmla="*/ 50 w 85"/>
                <a:gd name="T33" fmla="*/ 17 h 342"/>
                <a:gd name="T34" fmla="*/ 67 w 85"/>
                <a:gd name="T35" fmla="*/ 27 h 342"/>
                <a:gd name="T36" fmla="*/ 35 w 85"/>
                <a:gd name="T37" fmla="*/ 115 h 342"/>
                <a:gd name="T38" fmla="*/ 50 w 85"/>
                <a:gd name="T39" fmla="*/ 318 h 342"/>
                <a:gd name="T40" fmla="*/ 41 w 85"/>
                <a:gd name="T41" fmla="*/ 327 h 342"/>
                <a:gd name="T42" fmla="*/ 26 w 85"/>
                <a:gd name="T43" fmla="*/ 316 h 342"/>
                <a:gd name="T44" fmla="*/ 17 w 85"/>
                <a:gd name="T45" fmla="*/ 118 h 342"/>
                <a:gd name="T46" fmla="*/ 50 w 85"/>
                <a:gd name="T47" fmla="*/ 17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5" h="342">
                  <a:moveTo>
                    <a:pt x="45" y="0"/>
                  </a:moveTo>
                  <a:lnTo>
                    <a:pt x="42" y="6"/>
                  </a:lnTo>
                  <a:cubicBezTo>
                    <a:pt x="20" y="50"/>
                    <a:pt x="7" y="101"/>
                    <a:pt x="5" y="114"/>
                  </a:cubicBezTo>
                  <a:cubicBezTo>
                    <a:pt x="0" y="154"/>
                    <a:pt x="5" y="266"/>
                    <a:pt x="13" y="318"/>
                  </a:cubicBezTo>
                  <a:lnTo>
                    <a:pt x="14" y="318"/>
                  </a:lnTo>
                  <a:lnTo>
                    <a:pt x="14" y="318"/>
                  </a:lnTo>
                  <a:cubicBezTo>
                    <a:pt x="16" y="328"/>
                    <a:pt x="21" y="334"/>
                    <a:pt x="26" y="338"/>
                  </a:cubicBezTo>
                  <a:cubicBezTo>
                    <a:pt x="31" y="342"/>
                    <a:pt x="43" y="342"/>
                    <a:pt x="49" y="339"/>
                  </a:cubicBezTo>
                  <a:cubicBezTo>
                    <a:pt x="60" y="332"/>
                    <a:pt x="61" y="328"/>
                    <a:pt x="63" y="317"/>
                  </a:cubicBezTo>
                  <a:cubicBezTo>
                    <a:pt x="63" y="311"/>
                    <a:pt x="54" y="228"/>
                    <a:pt x="49" y="174"/>
                  </a:cubicBezTo>
                  <a:cubicBezTo>
                    <a:pt x="46" y="139"/>
                    <a:pt x="47" y="128"/>
                    <a:pt x="48" y="117"/>
                  </a:cubicBezTo>
                  <a:cubicBezTo>
                    <a:pt x="50" y="94"/>
                    <a:pt x="61" y="58"/>
                    <a:pt x="81" y="28"/>
                  </a:cubicBezTo>
                  <a:lnTo>
                    <a:pt x="85" y="22"/>
                  </a:lnTo>
                  <a:lnTo>
                    <a:pt x="79" y="19"/>
                  </a:lnTo>
                  <a:lnTo>
                    <a:pt x="50" y="3"/>
                  </a:lnTo>
                  <a:lnTo>
                    <a:pt x="45" y="0"/>
                  </a:lnTo>
                  <a:close/>
                  <a:moveTo>
                    <a:pt x="50" y="17"/>
                  </a:moveTo>
                  <a:lnTo>
                    <a:pt x="67" y="27"/>
                  </a:lnTo>
                  <a:cubicBezTo>
                    <a:pt x="45" y="59"/>
                    <a:pt x="41" y="78"/>
                    <a:pt x="35" y="115"/>
                  </a:cubicBezTo>
                  <a:cubicBezTo>
                    <a:pt x="30" y="136"/>
                    <a:pt x="49" y="269"/>
                    <a:pt x="50" y="318"/>
                  </a:cubicBezTo>
                  <a:cubicBezTo>
                    <a:pt x="50" y="323"/>
                    <a:pt x="46" y="326"/>
                    <a:pt x="41" y="327"/>
                  </a:cubicBezTo>
                  <a:cubicBezTo>
                    <a:pt x="32" y="327"/>
                    <a:pt x="27" y="321"/>
                    <a:pt x="26" y="316"/>
                  </a:cubicBezTo>
                  <a:cubicBezTo>
                    <a:pt x="15" y="240"/>
                    <a:pt x="16" y="124"/>
                    <a:pt x="17" y="118"/>
                  </a:cubicBezTo>
                  <a:cubicBezTo>
                    <a:pt x="19" y="98"/>
                    <a:pt x="33" y="47"/>
                    <a:pt x="50" y="17"/>
                  </a:cubicBezTo>
                  <a:close/>
                </a:path>
              </a:pathLst>
            </a:custGeom>
            <a:solidFill>
              <a:srgbClr val="D0D0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6" name="Freeform 10"/>
            <p:cNvSpPr>
              <a:spLocks/>
            </p:cNvSpPr>
            <p:nvPr/>
          </p:nvSpPr>
          <p:spPr bwMode="auto">
            <a:xfrm>
              <a:off x="1930831" y="5489693"/>
              <a:ext cx="34925" cy="166688"/>
            </a:xfrm>
            <a:custGeom>
              <a:avLst/>
              <a:gdLst>
                <a:gd name="T0" fmla="*/ 0 w 71"/>
                <a:gd name="T1" fmla="*/ 16 h 341"/>
                <a:gd name="T2" fmla="*/ 41 w 71"/>
                <a:gd name="T3" fmla="*/ 117 h 341"/>
                <a:gd name="T4" fmla="*/ 20 w 71"/>
                <a:gd name="T5" fmla="*/ 309 h 341"/>
                <a:gd name="T6" fmla="*/ 56 w 71"/>
                <a:gd name="T7" fmla="*/ 308 h 341"/>
                <a:gd name="T8" fmla="*/ 71 w 71"/>
                <a:gd name="T9" fmla="*/ 110 h 341"/>
                <a:gd name="T10" fmla="*/ 29 w 71"/>
                <a:gd name="T11" fmla="*/ 0 h 341"/>
                <a:gd name="T12" fmla="*/ 0 w 71"/>
                <a:gd name="T13" fmla="*/ 16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341">
                  <a:moveTo>
                    <a:pt x="0" y="16"/>
                  </a:moveTo>
                  <a:cubicBezTo>
                    <a:pt x="20" y="46"/>
                    <a:pt x="41" y="91"/>
                    <a:pt x="41" y="117"/>
                  </a:cubicBezTo>
                  <a:cubicBezTo>
                    <a:pt x="39" y="248"/>
                    <a:pt x="28" y="246"/>
                    <a:pt x="20" y="309"/>
                  </a:cubicBezTo>
                  <a:cubicBezTo>
                    <a:pt x="19" y="326"/>
                    <a:pt x="48" y="341"/>
                    <a:pt x="56" y="308"/>
                  </a:cubicBezTo>
                  <a:cubicBezTo>
                    <a:pt x="70" y="225"/>
                    <a:pt x="71" y="157"/>
                    <a:pt x="71" y="110"/>
                  </a:cubicBezTo>
                  <a:cubicBezTo>
                    <a:pt x="64" y="67"/>
                    <a:pt x="45" y="34"/>
                    <a:pt x="29" y="0"/>
                  </a:cubicBezTo>
                  <a:lnTo>
                    <a:pt x="0" y="16"/>
                  </a:lnTo>
                  <a:close/>
                </a:path>
              </a:pathLst>
            </a:custGeom>
            <a:solidFill>
              <a:srgbClr val="FFFFCB"/>
            </a:solidFill>
            <a:ln w="6350" cap="flat">
              <a:solidFill>
                <a:srgbClr val="D0D08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7" name="Freeform 11"/>
            <p:cNvSpPr>
              <a:spLocks/>
            </p:cNvSpPr>
            <p:nvPr/>
          </p:nvSpPr>
          <p:spPr bwMode="auto">
            <a:xfrm>
              <a:off x="1594281" y="5027730"/>
              <a:ext cx="412750" cy="390525"/>
            </a:xfrm>
            <a:custGeom>
              <a:avLst/>
              <a:gdLst>
                <a:gd name="T0" fmla="*/ 437 w 842"/>
                <a:gd name="T1" fmla="*/ 1 h 801"/>
                <a:gd name="T2" fmla="*/ 317 w 842"/>
                <a:gd name="T3" fmla="*/ 20 h 801"/>
                <a:gd name="T4" fmla="*/ 3 w 842"/>
                <a:gd name="T5" fmla="*/ 429 h 801"/>
                <a:gd name="T6" fmla="*/ 86 w 842"/>
                <a:gd name="T7" fmla="*/ 702 h 801"/>
                <a:gd name="T8" fmla="*/ 225 w 842"/>
                <a:gd name="T9" fmla="*/ 792 h 801"/>
                <a:gd name="T10" fmla="*/ 277 w 842"/>
                <a:gd name="T11" fmla="*/ 789 h 801"/>
                <a:gd name="T12" fmla="*/ 148 w 842"/>
                <a:gd name="T13" fmla="*/ 700 h 801"/>
                <a:gd name="T14" fmla="*/ 55 w 842"/>
                <a:gd name="T15" fmla="*/ 439 h 801"/>
                <a:gd name="T16" fmla="*/ 127 w 842"/>
                <a:gd name="T17" fmla="*/ 215 h 801"/>
                <a:gd name="T18" fmla="*/ 328 w 842"/>
                <a:gd name="T19" fmla="*/ 65 h 801"/>
                <a:gd name="T20" fmla="*/ 706 w 842"/>
                <a:gd name="T21" fmla="*/ 176 h 801"/>
                <a:gd name="T22" fmla="*/ 750 w 842"/>
                <a:gd name="T23" fmla="*/ 558 h 801"/>
                <a:gd name="T24" fmla="*/ 605 w 842"/>
                <a:gd name="T25" fmla="*/ 801 h 801"/>
                <a:gd name="T26" fmla="*/ 658 w 842"/>
                <a:gd name="T27" fmla="*/ 751 h 801"/>
                <a:gd name="T28" fmla="*/ 790 w 842"/>
                <a:gd name="T29" fmla="*/ 538 h 801"/>
                <a:gd name="T30" fmla="*/ 738 w 842"/>
                <a:gd name="T31" fmla="*/ 157 h 801"/>
                <a:gd name="T32" fmla="*/ 437 w 842"/>
                <a:gd name="T33" fmla="*/ 1 h 8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42" h="801">
                  <a:moveTo>
                    <a:pt x="437" y="1"/>
                  </a:moveTo>
                  <a:cubicBezTo>
                    <a:pt x="397" y="2"/>
                    <a:pt x="357" y="8"/>
                    <a:pt x="317" y="20"/>
                  </a:cubicBezTo>
                  <a:cubicBezTo>
                    <a:pt x="160" y="69"/>
                    <a:pt x="7" y="207"/>
                    <a:pt x="3" y="429"/>
                  </a:cubicBezTo>
                  <a:cubicBezTo>
                    <a:pt x="1" y="536"/>
                    <a:pt x="0" y="587"/>
                    <a:pt x="86" y="702"/>
                  </a:cubicBezTo>
                  <a:cubicBezTo>
                    <a:pt x="116" y="742"/>
                    <a:pt x="159" y="777"/>
                    <a:pt x="225" y="792"/>
                  </a:cubicBezTo>
                  <a:lnTo>
                    <a:pt x="277" y="789"/>
                  </a:lnTo>
                  <a:cubicBezTo>
                    <a:pt x="219" y="753"/>
                    <a:pt x="172" y="728"/>
                    <a:pt x="148" y="700"/>
                  </a:cubicBezTo>
                  <a:cubicBezTo>
                    <a:pt x="59" y="596"/>
                    <a:pt x="53" y="543"/>
                    <a:pt x="55" y="439"/>
                  </a:cubicBezTo>
                  <a:cubicBezTo>
                    <a:pt x="57" y="348"/>
                    <a:pt x="88" y="272"/>
                    <a:pt x="127" y="215"/>
                  </a:cubicBezTo>
                  <a:cubicBezTo>
                    <a:pt x="178" y="138"/>
                    <a:pt x="246" y="90"/>
                    <a:pt x="328" y="65"/>
                  </a:cubicBezTo>
                  <a:cubicBezTo>
                    <a:pt x="472" y="21"/>
                    <a:pt x="631" y="52"/>
                    <a:pt x="706" y="176"/>
                  </a:cubicBezTo>
                  <a:cubicBezTo>
                    <a:pt x="756" y="260"/>
                    <a:pt x="802" y="395"/>
                    <a:pt x="750" y="558"/>
                  </a:cubicBezTo>
                  <a:cubicBezTo>
                    <a:pt x="728" y="623"/>
                    <a:pt x="660" y="715"/>
                    <a:pt x="605" y="801"/>
                  </a:cubicBezTo>
                  <a:lnTo>
                    <a:pt x="658" y="751"/>
                  </a:lnTo>
                  <a:cubicBezTo>
                    <a:pt x="715" y="680"/>
                    <a:pt x="765" y="620"/>
                    <a:pt x="790" y="538"/>
                  </a:cubicBezTo>
                  <a:cubicBezTo>
                    <a:pt x="842" y="362"/>
                    <a:pt x="792" y="248"/>
                    <a:pt x="738" y="157"/>
                  </a:cubicBezTo>
                  <a:cubicBezTo>
                    <a:pt x="674" y="51"/>
                    <a:pt x="558" y="0"/>
                    <a:pt x="43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8" name="Freeform 12"/>
            <p:cNvSpPr>
              <a:spLocks/>
            </p:cNvSpPr>
            <p:nvPr/>
          </p:nvSpPr>
          <p:spPr bwMode="auto">
            <a:xfrm>
              <a:off x="1495856" y="4959468"/>
              <a:ext cx="781050" cy="1508125"/>
            </a:xfrm>
            <a:custGeom>
              <a:avLst/>
              <a:gdLst>
                <a:gd name="T0" fmla="*/ 1337 w 1596"/>
                <a:gd name="T1" fmla="*/ 119 h 3084"/>
                <a:gd name="T2" fmla="*/ 843 w 1596"/>
                <a:gd name="T3" fmla="*/ 884 h 3084"/>
                <a:gd name="T4" fmla="*/ 1074 w 1596"/>
                <a:gd name="T5" fmla="*/ 659 h 3084"/>
                <a:gd name="T6" fmla="*/ 1443 w 1596"/>
                <a:gd name="T7" fmla="*/ 62 h 3084"/>
                <a:gd name="T8" fmla="*/ 1534 w 1596"/>
                <a:gd name="T9" fmla="*/ 60 h 3084"/>
                <a:gd name="T10" fmla="*/ 1432 w 1596"/>
                <a:gd name="T11" fmla="*/ 563 h 3084"/>
                <a:gd name="T12" fmla="*/ 1223 w 1596"/>
                <a:gd name="T13" fmla="*/ 1138 h 3084"/>
                <a:gd name="T14" fmla="*/ 1212 w 1596"/>
                <a:gd name="T15" fmla="*/ 1557 h 3084"/>
                <a:gd name="T16" fmla="*/ 1300 w 1596"/>
                <a:gd name="T17" fmla="*/ 2502 h 3084"/>
                <a:gd name="T18" fmla="*/ 1164 w 1596"/>
                <a:gd name="T19" fmla="*/ 3023 h 3084"/>
                <a:gd name="T20" fmla="*/ 1025 w 1596"/>
                <a:gd name="T21" fmla="*/ 2455 h 3084"/>
                <a:gd name="T22" fmla="*/ 905 w 1596"/>
                <a:gd name="T23" fmla="*/ 2136 h 3084"/>
                <a:gd name="T24" fmla="*/ 851 w 1596"/>
                <a:gd name="T25" fmla="*/ 2167 h 3084"/>
                <a:gd name="T26" fmla="*/ 618 w 1596"/>
                <a:gd name="T27" fmla="*/ 3020 h 3084"/>
                <a:gd name="T28" fmla="*/ 567 w 1596"/>
                <a:gd name="T29" fmla="*/ 3030 h 3084"/>
                <a:gd name="T30" fmla="*/ 489 w 1596"/>
                <a:gd name="T31" fmla="*/ 2842 h 3084"/>
                <a:gd name="T32" fmla="*/ 437 w 1596"/>
                <a:gd name="T33" fmla="*/ 1615 h 3084"/>
                <a:gd name="T34" fmla="*/ 363 w 1596"/>
                <a:gd name="T35" fmla="*/ 1555 h 3084"/>
                <a:gd name="T36" fmla="*/ 360 w 1596"/>
                <a:gd name="T37" fmla="*/ 1557 h 3084"/>
                <a:gd name="T38" fmla="*/ 246 w 1596"/>
                <a:gd name="T39" fmla="*/ 1791 h 3084"/>
                <a:gd name="T40" fmla="*/ 163 w 1596"/>
                <a:gd name="T41" fmla="*/ 2157 h 3084"/>
                <a:gd name="T42" fmla="*/ 121 w 1596"/>
                <a:gd name="T43" fmla="*/ 2156 h 3084"/>
                <a:gd name="T44" fmla="*/ 82 w 1596"/>
                <a:gd name="T45" fmla="*/ 2081 h 3084"/>
                <a:gd name="T46" fmla="*/ 305 w 1596"/>
                <a:gd name="T47" fmla="*/ 1017 h 3084"/>
                <a:gd name="T48" fmla="*/ 278 w 1596"/>
                <a:gd name="T49" fmla="*/ 997 h 3084"/>
                <a:gd name="T50" fmla="*/ 40 w 1596"/>
                <a:gd name="T51" fmla="*/ 2105 h 3084"/>
                <a:gd name="T52" fmla="*/ 132 w 1596"/>
                <a:gd name="T53" fmla="*/ 2209 h 3084"/>
                <a:gd name="T54" fmla="*/ 261 w 1596"/>
                <a:gd name="T55" fmla="*/ 1984 h 3084"/>
                <a:gd name="T56" fmla="*/ 334 w 1596"/>
                <a:gd name="T57" fmla="*/ 1623 h 3084"/>
                <a:gd name="T58" fmla="*/ 373 w 1596"/>
                <a:gd name="T59" fmla="*/ 1589 h 3084"/>
                <a:gd name="T60" fmla="*/ 426 w 1596"/>
                <a:gd name="T61" fmla="*/ 1788 h 3084"/>
                <a:gd name="T62" fmla="*/ 488 w 1596"/>
                <a:gd name="T63" fmla="*/ 3017 h 3084"/>
                <a:gd name="T64" fmla="*/ 638 w 1596"/>
                <a:gd name="T65" fmla="*/ 3065 h 3084"/>
                <a:gd name="T66" fmla="*/ 891 w 1596"/>
                <a:gd name="T67" fmla="*/ 2186 h 3084"/>
                <a:gd name="T68" fmla="*/ 987 w 1596"/>
                <a:gd name="T69" fmla="*/ 2456 h 3084"/>
                <a:gd name="T70" fmla="*/ 1115 w 1596"/>
                <a:gd name="T71" fmla="*/ 3065 h 3084"/>
                <a:gd name="T72" fmla="*/ 1176 w 1596"/>
                <a:gd name="T73" fmla="*/ 3071 h 3084"/>
                <a:gd name="T74" fmla="*/ 1337 w 1596"/>
                <a:gd name="T75" fmla="*/ 2504 h 3084"/>
                <a:gd name="T76" fmla="*/ 1260 w 1596"/>
                <a:gd name="T77" fmla="*/ 1564 h 3084"/>
                <a:gd name="T78" fmla="*/ 1282 w 1596"/>
                <a:gd name="T79" fmla="*/ 994 h 3084"/>
                <a:gd name="T80" fmla="*/ 1319 w 1596"/>
                <a:gd name="T81" fmla="*/ 893 h 3084"/>
                <a:gd name="T82" fmla="*/ 1591 w 1596"/>
                <a:gd name="T83" fmla="*/ 79 h 3084"/>
                <a:gd name="T84" fmla="*/ 1532 w 1596"/>
                <a:gd name="T85" fmla="*/ 1 h 30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596" h="3084">
                  <a:moveTo>
                    <a:pt x="1524" y="0"/>
                  </a:moveTo>
                  <a:cubicBezTo>
                    <a:pt x="1483" y="1"/>
                    <a:pt x="1451" y="14"/>
                    <a:pt x="1419" y="33"/>
                  </a:cubicBezTo>
                  <a:cubicBezTo>
                    <a:pt x="1388" y="53"/>
                    <a:pt x="1361" y="83"/>
                    <a:pt x="1337" y="119"/>
                  </a:cubicBezTo>
                  <a:cubicBezTo>
                    <a:pt x="1288" y="190"/>
                    <a:pt x="1248" y="287"/>
                    <a:pt x="1196" y="390"/>
                  </a:cubicBezTo>
                  <a:cubicBezTo>
                    <a:pt x="1131" y="516"/>
                    <a:pt x="1060" y="620"/>
                    <a:pt x="982" y="720"/>
                  </a:cubicBezTo>
                  <a:cubicBezTo>
                    <a:pt x="938" y="777"/>
                    <a:pt x="897" y="845"/>
                    <a:pt x="843" y="884"/>
                  </a:cubicBezTo>
                  <a:lnTo>
                    <a:pt x="809" y="936"/>
                  </a:lnTo>
                  <a:cubicBezTo>
                    <a:pt x="846" y="909"/>
                    <a:pt x="899" y="857"/>
                    <a:pt x="935" y="822"/>
                  </a:cubicBezTo>
                  <a:cubicBezTo>
                    <a:pt x="989" y="768"/>
                    <a:pt x="1025" y="726"/>
                    <a:pt x="1074" y="659"/>
                  </a:cubicBezTo>
                  <a:cubicBezTo>
                    <a:pt x="1133" y="578"/>
                    <a:pt x="1186" y="491"/>
                    <a:pt x="1229" y="407"/>
                  </a:cubicBezTo>
                  <a:cubicBezTo>
                    <a:pt x="1282" y="303"/>
                    <a:pt x="1323" y="206"/>
                    <a:pt x="1368" y="140"/>
                  </a:cubicBezTo>
                  <a:cubicBezTo>
                    <a:pt x="1390" y="107"/>
                    <a:pt x="1418" y="78"/>
                    <a:pt x="1443" y="62"/>
                  </a:cubicBezTo>
                  <a:cubicBezTo>
                    <a:pt x="1464" y="50"/>
                    <a:pt x="1473" y="46"/>
                    <a:pt x="1501" y="45"/>
                  </a:cubicBezTo>
                  <a:cubicBezTo>
                    <a:pt x="1506" y="45"/>
                    <a:pt x="1514" y="47"/>
                    <a:pt x="1519" y="49"/>
                  </a:cubicBezTo>
                  <a:cubicBezTo>
                    <a:pt x="1524" y="52"/>
                    <a:pt x="1529" y="54"/>
                    <a:pt x="1534" y="60"/>
                  </a:cubicBezTo>
                  <a:cubicBezTo>
                    <a:pt x="1540" y="66"/>
                    <a:pt x="1548" y="76"/>
                    <a:pt x="1550" y="92"/>
                  </a:cubicBezTo>
                  <a:cubicBezTo>
                    <a:pt x="1554" y="122"/>
                    <a:pt x="1551" y="167"/>
                    <a:pt x="1542" y="218"/>
                  </a:cubicBezTo>
                  <a:cubicBezTo>
                    <a:pt x="1524" y="320"/>
                    <a:pt x="1482" y="450"/>
                    <a:pt x="1432" y="563"/>
                  </a:cubicBezTo>
                  <a:cubicBezTo>
                    <a:pt x="1376" y="687"/>
                    <a:pt x="1318" y="775"/>
                    <a:pt x="1287" y="884"/>
                  </a:cubicBezTo>
                  <a:cubicBezTo>
                    <a:pt x="1286" y="885"/>
                    <a:pt x="1284" y="888"/>
                    <a:pt x="1284" y="889"/>
                  </a:cubicBezTo>
                  <a:cubicBezTo>
                    <a:pt x="1264" y="918"/>
                    <a:pt x="1231" y="1028"/>
                    <a:pt x="1223" y="1138"/>
                  </a:cubicBezTo>
                  <a:cubicBezTo>
                    <a:pt x="1214" y="1251"/>
                    <a:pt x="1201" y="1379"/>
                    <a:pt x="1210" y="1532"/>
                  </a:cubicBezTo>
                  <a:lnTo>
                    <a:pt x="1211" y="1548"/>
                  </a:lnTo>
                  <a:lnTo>
                    <a:pt x="1212" y="1557"/>
                  </a:lnTo>
                  <a:cubicBezTo>
                    <a:pt x="1237" y="1751"/>
                    <a:pt x="1259" y="1880"/>
                    <a:pt x="1281" y="2054"/>
                  </a:cubicBezTo>
                  <a:cubicBezTo>
                    <a:pt x="1299" y="2191"/>
                    <a:pt x="1300" y="2324"/>
                    <a:pt x="1302" y="2445"/>
                  </a:cubicBezTo>
                  <a:cubicBezTo>
                    <a:pt x="1302" y="2446"/>
                    <a:pt x="1300" y="2501"/>
                    <a:pt x="1300" y="2502"/>
                  </a:cubicBezTo>
                  <a:cubicBezTo>
                    <a:pt x="1291" y="2632"/>
                    <a:pt x="1286" y="2740"/>
                    <a:pt x="1261" y="2843"/>
                  </a:cubicBezTo>
                  <a:cubicBezTo>
                    <a:pt x="1249" y="2895"/>
                    <a:pt x="1241" y="2940"/>
                    <a:pt x="1224" y="2973"/>
                  </a:cubicBezTo>
                  <a:cubicBezTo>
                    <a:pt x="1208" y="3004"/>
                    <a:pt x="1186" y="3017"/>
                    <a:pt x="1164" y="3023"/>
                  </a:cubicBezTo>
                  <a:cubicBezTo>
                    <a:pt x="1127" y="3021"/>
                    <a:pt x="1098" y="2992"/>
                    <a:pt x="1076" y="2952"/>
                  </a:cubicBezTo>
                  <a:cubicBezTo>
                    <a:pt x="1054" y="2910"/>
                    <a:pt x="1040" y="2856"/>
                    <a:pt x="1033" y="2797"/>
                  </a:cubicBezTo>
                  <a:cubicBezTo>
                    <a:pt x="1018" y="2679"/>
                    <a:pt x="1028" y="2545"/>
                    <a:pt x="1025" y="2455"/>
                  </a:cubicBezTo>
                  <a:cubicBezTo>
                    <a:pt x="1023" y="2392"/>
                    <a:pt x="1001" y="2290"/>
                    <a:pt x="972" y="2232"/>
                  </a:cubicBezTo>
                  <a:cubicBezTo>
                    <a:pt x="958" y="2203"/>
                    <a:pt x="942" y="2178"/>
                    <a:pt x="927" y="2159"/>
                  </a:cubicBezTo>
                  <a:cubicBezTo>
                    <a:pt x="920" y="2150"/>
                    <a:pt x="913" y="2142"/>
                    <a:pt x="905" y="2136"/>
                  </a:cubicBezTo>
                  <a:cubicBezTo>
                    <a:pt x="897" y="2130"/>
                    <a:pt x="873" y="2128"/>
                    <a:pt x="861" y="2128"/>
                  </a:cubicBezTo>
                  <a:lnTo>
                    <a:pt x="855" y="2153"/>
                  </a:lnTo>
                  <a:lnTo>
                    <a:pt x="851" y="2167"/>
                  </a:lnTo>
                  <a:cubicBezTo>
                    <a:pt x="816" y="2323"/>
                    <a:pt x="770" y="2596"/>
                    <a:pt x="733" y="2745"/>
                  </a:cubicBezTo>
                  <a:cubicBezTo>
                    <a:pt x="711" y="2836"/>
                    <a:pt x="686" y="2925"/>
                    <a:pt x="659" y="2980"/>
                  </a:cubicBezTo>
                  <a:cubicBezTo>
                    <a:pt x="646" y="3007"/>
                    <a:pt x="622" y="3017"/>
                    <a:pt x="618" y="3020"/>
                  </a:cubicBezTo>
                  <a:cubicBezTo>
                    <a:pt x="610" y="3024"/>
                    <a:pt x="612" y="3023"/>
                    <a:pt x="593" y="3028"/>
                  </a:cubicBezTo>
                  <a:lnTo>
                    <a:pt x="578" y="3030"/>
                  </a:lnTo>
                  <a:lnTo>
                    <a:pt x="567" y="3030"/>
                  </a:lnTo>
                  <a:cubicBezTo>
                    <a:pt x="561" y="3029"/>
                    <a:pt x="558" y="3029"/>
                    <a:pt x="550" y="3025"/>
                  </a:cubicBezTo>
                  <a:cubicBezTo>
                    <a:pt x="543" y="3021"/>
                    <a:pt x="537" y="3014"/>
                    <a:pt x="528" y="2998"/>
                  </a:cubicBezTo>
                  <a:cubicBezTo>
                    <a:pt x="511" y="2969"/>
                    <a:pt x="496" y="2912"/>
                    <a:pt x="489" y="2842"/>
                  </a:cubicBezTo>
                  <a:cubicBezTo>
                    <a:pt x="474" y="2703"/>
                    <a:pt x="473" y="2509"/>
                    <a:pt x="473" y="2316"/>
                  </a:cubicBezTo>
                  <a:cubicBezTo>
                    <a:pt x="472" y="2122"/>
                    <a:pt x="474" y="1928"/>
                    <a:pt x="463" y="1785"/>
                  </a:cubicBezTo>
                  <a:cubicBezTo>
                    <a:pt x="458" y="1714"/>
                    <a:pt x="450" y="1656"/>
                    <a:pt x="437" y="1615"/>
                  </a:cubicBezTo>
                  <a:cubicBezTo>
                    <a:pt x="430" y="1595"/>
                    <a:pt x="422" y="1579"/>
                    <a:pt x="409" y="1567"/>
                  </a:cubicBezTo>
                  <a:cubicBezTo>
                    <a:pt x="397" y="1556"/>
                    <a:pt x="379" y="1552"/>
                    <a:pt x="363" y="1556"/>
                  </a:cubicBezTo>
                  <a:lnTo>
                    <a:pt x="363" y="1555"/>
                  </a:lnTo>
                  <a:cubicBezTo>
                    <a:pt x="362" y="1555"/>
                    <a:pt x="362" y="1556"/>
                    <a:pt x="361" y="1556"/>
                  </a:cubicBezTo>
                  <a:cubicBezTo>
                    <a:pt x="361" y="1556"/>
                    <a:pt x="360" y="1556"/>
                    <a:pt x="360" y="1556"/>
                  </a:cubicBezTo>
                  <a:lnTo>
                    <a:pt x="360" y="1557"/>
                  </a:lnTo>
                  <a:cubicBezTo>
                    <a:pt x="334" y="1562"/>
                    <a:pt x="314" y="1577"/>
                    <a:pt x="301" y="1594"/>
                  </a:cubicBezTo>
                  <a:cubicBezTo>
                    <a:pt x="288" y="1612"/>
                    <a:pt x="282" y="1631"/>
                    <a:pt x="276" y="1644"/>
                  </a:cubicBezTo>
                  <a:cubicBezTo>
                    <a:pt x="261" y="1679"/>
                    <a:pt x="253" y="1731"/>
                    <a:pt x="246" y="1791"/>
                  </a:cubicBezTo>
                  <a:cubicBezTo>
                    <a:pt x="239" y="1851"/>
                    <a:pt x="233" y="1918"/>
                    <a:pt x="224" y="1979"/>
                  </a:cubicBezTo>
                  <a:cubicBezTo>
                    <a:pt x="215" y="2039"/>
                    <a:pt x="203" y="2094"/>
                    <a:pt x="187" y="2126"/>
                  </a:cubicBezTo>
                  <a:cubicBezTo>
                    <a:pt x="179" y="2143"/>
                    <a:pt x="170" y="2153"/>
                    <a:pt x="163" y="2157"/>
                  </a:cubicBezTo>
                  <a:cubicBezTo>
                    <a:pt x="155" y="2161"/>
                    <a:pt x="150" y="2166"/>
                    <a:pt x="136" y="2163"/>
                  </a:cubicBezTo>
                  <a:lnTo>
                    <a:pt x="128" y="2160"/>
                  </a:lnTo>
                  <a:lnTo>
                    <a:pt x="121" y="2156"/>
                  </a:lnTo>
                  <a:cubicBezTo>
                    <a:pt x="121" y="2156"/>
                    <a:pt x="119" y="2155"/>
                    <a:pt x="117" y="2154"/>
                  </a:cubicBezTo>
                  <a:cubicBezTo>
                    <a:pt x="115" y="2152"/>
                    <a:pt x="114" y="2149"/>
                    <a:pt x="110" y="2143"/>
                  </a:cubicBezTo>
                  <a:cubicBezTo>
                    <a:pt x="101" y="2131"/>
                    <a:pt x="91" y="2110"/>
                    <a:pt x="82" y="2081"/>
                  </a:cubicBezTo>
                  <a:cubicBezTo>
                    <a:pt x="65" y="2024"/>
                    <a:pt x="51" y="1939"/>
                    <a:pt x="46" y="1839"/>
                  </a:cubicBezTo>
                  <a:cubicBezTo>
                    <a:pt x="38" y="1638"/>
                    <a:pt x="68" y="1375"/>
                    <a:pt x="181" y="1144"/>
                  </a:cubicBezTo>
                  <a:cubicBezTo>
                    <a:pt x="207" y="1089"/>
                    <a:pt x="254" y="1045"/>
                    <a:pt x="305" y="1017"/>
                  </a:cubicBezTo>
                  <a:cubicBezTo>
                    <a:pt x="355" y="990"/>
                    <a:pt x="457" y="942"/>
                    <a:pt x="520" y="915"/>
                  </a:cubicBezTo>
                  <a:lnTo>
                    <a:pt x="445" y="920"/>
                  </a:lnTo>
                  <a:cubicBezTo>
                    <a:pt x="377" y="950"/>
                    <a:pt x="332" y="967"/>
                    <a:pt x="278" y="997"/>
                  </a:cubicBezTo>
                  <a:cubicBezTo>
                    <a:pt x="224" y="1026"/>
                    <a:pt x="178" y="1065"/>
                    <a:pt x="147" y="1128"/>
                  </a:cubicBezTo>
                  <a:cubicBezTo>
                    <a:pt x="31" y="1366"/>
                    <a:pt x="0" y="1634"/>
                    <a:pt x="9" y="1840"/>
                  </a:cubicBezTo>
                  <a:cubicBezTo>
                    <a:pt x="13" y="1943"/>
                    <a:pt x="21" y="2043"/>
                    <a:pt x="40" y="2105"/>
                  </a:cubicBezTo>
                  <a:cubicBezTo>
                    <a:pt x="50" y="2136"/>
                    <a:pt x="60" y="2162"/>
                    <a:pt x="73" y="2179"/>
                  </a:cubicBezTo>
                  <a:cubicBezTo>
                    <a:pt x="79" y="2188"/>
                    <a:pt x="92" y="2197"/>
                    <a:pt x="101" y="2203"/>
                  </a:cubicBezTo>
                  <a:cubicBezTo>
                    <a:pt x="108" y="2206"/>
                    <a:pt x="123" y="2210"/>
                    <a:pt x="132" y="2209"/>
                  </a:cubicBezTo>
                  <a:cubicBezTo>
                    <a:pt x="150" y="2209"/>
                    <a:pt x="161" y="2206"/>
                    <a:pt x="178" y="2198"/>
                  </a:cubicBezTo>
                  <a:cubicBezTo>
                    <a:pt x="195" y="2188"/>
                    <a:pt x="211" y="2163"/>
                    <a:pt x="221" y="2143"/>
                  </a:cubicBezTo>
                  <a:cubicBezTo>
                    <a:pt x="241" y="2103"/>
                    <a:pt x="252" y="2046"/>
                    <a:pt x="261" y="1984"/>
                  </a:cubicBezTo>
                  <a:cubicBezTo>
                    <a:pt x="270" y="1922"/>
                    <a:pt x="280" y="1861"/>
                    <a:pt x="287" y="1802"/>
                  </a:cubicBezTo>
                  <a:cubicBezTo>
                    <a:pt x="294" y="1743"/>
                    <a:pt x="303" y="1692"/>
                    <a:pt x="315" y="1665"/>
                  </a:cubicBezTo>
                  <a:cubicBezTo>
                    <a:pt x="321" y="1651"/>
                    <a:pt x="325" y="1636"/>
                    <a:pt x="334" y="1623"/>
                  </a:cubicBezTo>
                  <a:cubicBezTo>
                    <a:pt x="343" y="1611"/>
                    <a:pt x="354" y="1591"/>
                    <a:pt x="372" y="1588"/>
                  </a:cubicBezTo>
                  <a:lnTo>
                    <a:pt x="371" y="1589"/>
                  </a:lnTo>
                  <a:lnTo>
                    <a:pt x="373" y="1589"/>
                  </a:lnTo>
                  <a:cubicBezTo>
                    <a:pt x="379" y="1586"/>
                    <a:pt x="379" y="1589"/>
                    <a:pt x="383" y="1594"/>
                  </a:cubicBezTo>
                  <a:cubicBezTo>
                    <a:pt x="388" y="1598"/>
                    <a:pt x="395" y="1610"/>
                    <a:pt x="401" y="1627"/>
                  </a:cubicBezTo>
                  <a:cubicBezTo>
                    <a:pt x="413" y="1662"/>
                    <a:pt x="421" y="1718"/>
                    <a:pt x="426" y="1788"/>
                  </a:cubicBezTo>
                  <a:cubicBezTo>
                    <a:pt x="436" y="1928"/>
                    <a:pt x="435" y="2122"/>
                    <a:pt x="435" y="2315"/>
                  </a:cubicBezTo>
                  <a:cubicBezTo>
                    <a:pt x="435" y="2509"/>
                    <a:pt x="436" y="2703"/>
                    <a:pt x="451" y="2846"/>
                  </a:cubicBezTo>
                  <a:cubicBezTo>
                    <a:pt x="459" y="2917"/>
                    <a:pt x="470" y="2976"/>
                    <a:pt x="488" y="3017"/>
                  </a:cubicBezTo>
                  <a:cubicBezTo>
                    <a:pt x="497" y="3038"/>
                    <a:pt x="507" y="3054"/>
                    <a:pt x="522" y="3065"/>
                  </a:cubicBezTo>
                  <a:cubicBezTo>
                    <a:pt x="535" y="3076"/>
                    <a:pt x="551" y="3082"/>
                    <a:pt x="568" y="3082"/>
                  </a:cubicBezTo>
                  <a:cubicBezTo>
                    <a:pt x="593" y="3084"/>
                    <a:pt x="618" y="3079"/>
                    <a:pt x="638" y="3065"/>
                  </a:cubicBezTo>
                  <a:cubicBezTo>
                    <a:pt x="660" y="3050"/>
                    <a:pt x="677" y="3027"/>
                    <a:pt x="692" y="2998"/>
                  </a:cubicBezTo>
                  <a:cubicBezTo>
                    <a:pt x="723" y="2939"/>
                    <a:pt x="746" y="2855"/>
                    <a:pt x="768" y="2760"/>
                  </a:cubicBezTo>
                  <a:cubicBezTo>
                    <a:pt x="809" y="2578"/>
                    <a:pt x="871" y="2339"/>
                    <a:pt x="891" y="2186"/>
                  </a:cubicBezTo>
                  <a:cubicBezTo>
                    <a:pt x="894" y="2189"/>
                    <a:pt x="905" y="2201"/>
                    <a:pt x="909" y="2205"/>
                  </a:cubicBezTo>
                  <a:cubicBezTo>
                    <a:pt x="921" y="2221"/>
                    <a:pt x="931" y="2243"/>
                    <a:pt x="944" y="2270"/>
                  </a:cubicBezTo>
                  <a:cubicBezTo>
                    <a:pt x="971" y="2325"/>
                    <a:pt x="986" y="2402"/>
                    <a:pt x="987" y="2456"/>
                  </a:cubicBezTo>
                  <a:cubicBezTo>
                    <a:pt x="990" y="2542"/>
                    <a:pt x="981" y="2679"/>
                    <a:pt x="996" y="2802"/>
                  </a:cubicBezTo>
                  <a:cubicBezTo>
                    <a:pt x="1004" y="2863"/>
                    <a:pt x="1021" y="2940"/>
                    <a:pt x="1047" y="2988"/>
                  </a:cubicBezTo>
                  <a:cubicBezTo>
                    <a:pt x="1065" y="3021"/>
                    <a:pt x="1085" y="3051"/>
                    <a:pt x="1115" y="3065"/>
                  </a:cubicBezTo>
                  <a:cubicBezTo>
                    <a:pt x="1129" y="3071"/>
                    <a:pt x="1129" y="3070"/>
                    <a:pt x="1146" y="3075"/>
                  </a:cubicBezTo>
                  <a:lnTo>
                    <a:pt x="1164" y="3074"/>
                  </a:lnTo>
                  <a:lnTo>
                    <a:pt x="1176" y="3071"/>
                  </a:lnTo>
                  <a:cubicBezTo>
                    <a:pt x="1211" y="3058"/>
                    <a:pt x="1237" y="3029"/>
                    <a:pt x="1257" y="2990"/>
                  </a:cubicBezTo>
                  <a:cubicBezTo>
                    <a:pt x="1276" y="2952"/>
                    <a:pt x="1290" y="2904"/>
                    <a:pt x="1300" y="2849"/>
                  </a:cubicBezTo>
                  <a:cubicBezTo>
                    <a:pt x="1321" y="2741"/>
                    <a:pt x="1328" y="2635"/>
                    <a:pt x="1337" y="2504"/>
                  </a:cubicBezTo>
                  <a:lnTo>
                    <a:pt x="1338" y="2476"/>
                  </a:lnTo>
                  <a:lnTo>
                    <a:pt x="1338" y="2475"/>
                  </a:lnTo>
                  <a:cubicBezTo>
                    <a:pt x="1356" y="2123"/>
                    <a:pt x="1301" y="1901"/>
                    <a:pt x="1260" y="1564"/>
                  </a:cubicBezTo>
                  <a:cubicBezTo>
                    <a:pt x="1258" y="1556"/>
                    <a:pt x="1258" y="1537"/>
                    <a:pt x="1258" y="1537"/>
                  </a:cubicBezTo>
                  <a:cubicBezTo>
                    <a:pt x="1249" y="1386"/>
                    <a:pt x="1251" y="1247"/>
                    <a:pt x="1259" y="1137"/>
                  </a:cubicBezTo>
                  <a:cubicBezTo>
                    <a:pt x="1263" y="1083"/>
                    <a:pt x="1273" y="1033"/>
                    <a:pt x="1282" y="994"/>
                  </a:cubicBezTo>
                  <a:cubicBezTo>
                    <a:pt x="1292" y="954"/>
                    <a:pt x="1298" y="934"/>
                    <a:pt x="1315" y="905"/>
                  </a:cubicBezTo>
                  <a:lnTo>
                    <a:pt x="1317" y="899"/>
                  </a:lnTo>
                  <a:lnTo>
                    <a:pt x="1319" y="893"/>
                  </a:lnTo>
                  <a:cubicBezTo>
                    <a:pt x="1349" y="790"/>
                    <a:pt x="1414" y="710"/>
                    <a:pt x="1471" y="582"/>
                  </a:cubicBezTo>
                  <a:cubicBezTo>
                    <a:pt x="1523" y="466"/>
                    <a:pt x="1565" y="329"/>
                    <a:pt x="1583" y="222"/>
                  </a:cubicBezTo>
                  <a:cubicBezTo>
                    <a:pt x="1593" y="169"/>
                    <a:pt x="1596" y="116"/>
                    <a:pt x="1591" y="79"/>
                  </a:cubicBezTo>
                  <a:cubicBezTo>
                    <a:pt x="1588" y="60"/>
                    <a:pt x="1579" y="42"/>
                    <a:pt x="1570" y="28"/>
                  </a:cubicBezTo>
                  <a:cubicBezTo>
                    <a:pt x="1562" y="15"/>
                    <a:pt x="1546" y="5"/>
                    <a:pt x="1536" y="2"/>
                  </a:cubicBezTo>
                  <a:lnTo>
                    <a:pt x="1532" y="1"/>
                  </a:lnTo>
                  <a:lnTo>
                    <a:pt x="1529" y="0"/>
                  </a:lnTo>
                  <a:lnTo>
                    <a:pt x="15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2" name="Freeform 13"/>
            <p:cNvSpPr>
              <a:spLocks/>
            </p:cNvSpPr>
            <p:nvPr/>
          </p:nvSpPr>
          <p:spPr bwMode="auto">
            <a:xfrm>
              <a:off x="1551418" y="5354755"/>
              <a:ext cx="369888" cy="138113"/>
            </a:xfrm>
            <a:custGeom>
              <a:avLst/>
              <a:gdLst>
                <a:gd name="T0" fmla="*/ 758 w 758"/>
                <a:gd name="T1" fmla="*/ 265 h 282"/>
                <a:gd name="T2" fmla="*/ 659 w 758"/>
                <a:gd name="T3" fmla="*/ 173 h 282"/>
                <a:gd name="T4" fmla="*/ 489 w 758"/>
                <a:gd name="T5" fmla="*/ 89 h 282"/>
                <a:gd name="T6" fmla="*/ 241 w 758"/>
                <a:gd name="T7" fmla="*/ 13 h 282"/>
                <a:gd name="T8" fmla="*/ 164 w 758"/>
                <a:gd name="T9" fmla="*/ 0 h 282"/>
                <a:gd name="T10" fmla="*/ 73 w 758"/>
                <a:gd name="T11" fmla="*/ 55 h 282"/>
                <a:gd name="T12" fmla="*/ 0 w 758"/>
                <a:gd name="T13" fmla="*/ 164 h 282"/>
                <a:gd name="T14" fmla="*/ 5 w 758"/>
                <a:gd name="T15" fmla="*/ 279 h 282"/>
                <a:gd name="T16" fmla="*/ 285 w 758"/>
                <a:gd name="T17" fmla="*/ 230 h 282"/>
                <a:gd name="T18" fmla="*/ 473 w 758"/>
                <a:gd name="T19" fmla="*/ 226 h 282"/>
                <a:gd name="T20" fmla="*/ 754 w 758"/>
                <a:gd name="T21" fmla="*/ 282 h 282"/>
                <a:gd name="T22" fmla="*/ 758 w 758"/>
                <a:gd name="T23" fmla="*/ 265 h 2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58" h="282">
                  <a:moveTo>
                    <a:pt x="758" y="265"/>
                  </a:moveTo>
                  <a:lnTo>
                    <a:pt x="659" y="173"/>
                  </a:lnTo>
                  <a:lnTo>
                    <a:pt x="489" y="89"/>
                  </a:lnTo>
                  <a:lnTo>
                    <a:pt x="241" y="13"/>
                  </a:lnTo>
                  <a:lnTo>
                    <a:pt x="164" y="0"/>
                  </a:lnTo>
                  <a:lnTo>
                    <a:pt x="73" y="55"/>
                  </a:lnTo>
                  <a:lnTo>
                    <a:pt x="0" y="164"/>
                  </a:lnTo>
                  <a:lnTo>
                    <a:pt x="5" y="279"/>
                  </a:lnTo>
                  <a:lnTo>
                    <a:pt x="285" y="230"/>
                  </a:lnTo>
                  <a:lnTo>
                    <a:pt x="473" y="226"/>
                  </a:lnTo>
                  <a:lnTo>
                    <a:pt x="754" y="282"/>
                  </a:lnTo>
                  <a:lnTo>
                    <a:pt x="758" y="265"/>
                  </a:lnTo>
                  <a:close/>
                </a:path>
              </a:pathLst>
            </a:custGeom>
            <a:solidFill>
              <a:srgbClr val="A1BD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3" name="Freeform 14"/>
            <p:cNvSpPr>
              <a:spLocks noEditPoints="1"/>
            </p:cNvSpPr>
            <p:nvPr/>
          </p:nvSpPr>
          <p:spPr bwMode="auto">
            <a:xfrm>
              <a:off x="1560943" y="5375393"/>
              <a:ext cx="130175" cy="111125"/>
            </a:xfrm>
            <a:custGeom>
              <a:avLst/>
              <a:gdLst>
                <a:gd name="T0" fmla="*/ 10 w 266"/>
                <a:gd name="T1" fmla="*/ 227 h 229"/>
                <a:gd name="T2" fmla="*/ 3 w 266"/>
                <a:gd name="T3" fmla="*/ 217 h 229"/>
                <a:gd name="T4" fmla="*/ 5 w 266"/>
                <a:gd name="T5" fmla="*/ 155 h 229"/>
                <a:gd name="T6" fmla="*/ 56 w 266"/>
                <a:gd name="T7" fmla="*/ 64 h 229"/>
                <a:gd name="T8" fmla="*/ 143 w 266"/>
                <a:gd name="T9" fmla="*/ 1 h 229"/>
                <a:gd name="T10" fmla="*/ 152 w 266"/>
                <a:gd name="T11" fmla="*/ 6 h 229"/>
                <a:gd name="T12" fmla="*/ 158 w 266"/>
                <a:gd name="T13" fmla="*/ 13 h 229"/>
                <a:gd name="T14" fmla="*/ 165 w 266"/>
                <a:gd name="T15" fmla="*/ 20 h 229"/>
                <a:gd name="T16" fmla="*/ 172 w 266"/>
                <a:gd name="T17" fmla="*/ 27 h 229"/>
                <a:gd name="T18" fmla="*/ 178 w 266"/>
                <a:gd name="T19" fmla="*/ 32 h 229"/>
                <a:gd name="T20" fmla="*/ 190 w 266"/>
                <a:gd name="T21" fmla="*/ 38 h 229"/>
                <a:gd name="T22" fmla="*/ 203 w 266"/>
                <a:gd name="T23" fmla="*/ 44 h 229"/>
                <a:gd name="T24" fmla="*/ 209 w 266"/>
                <a:gd name="T25" fmla="*/ 51 h 229"/>
                <a:gd name="T26" fmla="*/ 216 w 266"/>
                <a:gd name="T27" fmla="*/ 58 h 229"/>
                <a:gd name="T28" fmla="*/ 221 w 266"/>
                <a:gd name="T29" fmla="*/ 64 h 229"/>
                <a:gd name="T30" fmla="*/ 227 w 266"/>
                <a:gd name="T31" fmla="*/ 70 h 229"/>
                <a:gd name="T32" fmla="*/ 240 w 266"/>
                <a:gd name="T33" fmla="*/ 75 h 229"/>
                <a:gd name="T34" fmla="*/ 253 w 266"/>
                <a:gd name="T35" fmla="*/ 82 h 229"/>
                <a:gd name="T36" fmla="*/ 261 w 266"/>
                <a:gd name="T37" fmla="*/ 89 h 229"/>
                <a:gd name="T38" fmla="*/ 245 w 266"/>
                <a:gd name="T39" fmla="*/ 99 h 229"/>
                <a:gd name="T40" fmla="*/ 117 w 266"/>
                <a:gd name="T41" fmla="*/ 163 h 229"/>
                <a:gd name="T42" fmla="*/ 77 w 266"/>
                <a:gd name="T43" fmla="*/ 194 h 229"/>
                <a:gd name="T44" fmla="*/ 55 w 266"/>
                <a:gd name="T45" fmla="*/ 212 h 229"/>
                <a:gd name="T46" fmla="*/ 52 w 266"/>
                <a:gd name="T47" fmla="*/ 214 h 229"/>
                <a:gd name="T48" fmla="*/ 33 w 266"/>
                <a:gd name="T49" fmla="*/ 223 h 229"/>
                <a:gd name="T50" fmla="*/ 10 w 266"/>
                <a:gd name="T51" fmla="*/ 227 h 229"/>
                <a:gd name="T52" fmla="*/ 28 w 266"/>
                <a:gd name="T53" fmla="*/ 193 h 229"/>
                <a:gd name="T54" fmla="*/ 22 w 266"/>
                <a:gd name="T55" fmla="*/ 188 h 229"/>
                <a:gd name="T56" fmla="*/ 17 w 266"/>
                <a:gd name="T57" fmla="*/ 193 h 229"/>
                <a:gd name="T58" fmla="*/ 22 w 266"/>
                <a:gd name="T59" fmla="*/ 199 h 229"/>
                <a:gd name="T60" fmla="*/ 28 w 266"/>
                <a:gd name="T61" fmla="*/ 193 h 229"/>
                <a:gd name="T62" fmla="*/ 141 w 266"/>
                <a:gd name="T63" fmla="*/ 94 h 229"/>
                <a:gd name="T64" fmla="*/ 134 w 266"/>
                <a:gd name="T65" fmla="*/ 88 h 229"/>
                <a:gd name="T66" fmla="*/ 127 w 266"/>
                <a:gd name="T67" fmla="*/ 94 h 229"/>
                <a:gd name="T68" fmla="*/ 134 w 266"/>
                <a:gd name="T69" fmla="*/ 100 h 229"/>
                <a:gd name="T70" fmla="*/ 141 w 266"/>
                <a:gd name="T71" fmla="*/ 9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66" h="229">
                  <a:moveTo>
                    <a:pt x="10" y="227"/>
                  </a:moveTo>
                  <a:cubicBezTo>
                    <a:pt x="6" y="226"/>
                    <a:pt x="4" y="223"/>
                    <a:pt x="3" y="217"/>
                  </a:cubicBezTo>
                  <a:cubicBezTo>
                    <a:pt x="0" y="202"/>
                    <a:pt x="1" y="169"/>
                    <a:pt x="5" y="155"/>
                  </a:cubicBezTo>
                  <a:cubicBezTo>
                    <a:pt x="11" y="128"/>
                    <a:pt x="33" y="89"/>
                    <a:pt x="56" y="64"/>
                  </a:cubicBezTo>
                  <a:cubicBezTo>
                    <a:pt x="77" y="41"/>
                    <a:pt x="129" y="2"/>
                    <a:pt x="143" y="1"/>
                  </a:cubicBezTo>
                  <a:cubicBezTo>
                    <a:pt x="151" y="0"/>
                    <a:pt x="152" y="0"/>
                    <a:pt x="152" y="6"/>
                  </a:cubicBezTo>
                  <a:cubicBezTo>
                    <a:pt x="152" y="13"/>
                    <a:pt x="152" y="13"/>
                    <a:pt x="158" y="13"/>
                  </a:cubicBezTo>
                  <a:cubicBezTo>
                    <a:pt x="164" y="13"/>
                    <a:pt x="165" y="14"/>
                    <a:pt x="165" y="20"/>
                  </a:cubicBezTo>
                  <a:cubicBezTo>
                    <a:pt x="165" y="26"/>
                    <a:pt x="166" y="27"/>
                    <a:pt x="172" y="27"/>
                  </a:cubicBezTo>
                  <a:cubicBezTo>
                    <a:pt x="177" y="27"/>
                    <a:pt x="178" y="27"/>
                    <a:pt x="178" y="32"/>
                  </a:cubicBezTo>
                  <a:cubicBezTo>
                    <a:pt x="178" y="37"/>
                    <a:pt x="179" y="38"/>
                    <a:pt x="190" y="38"/>
                  </a:cubicBezTo>
                  <a:cubicBezTo>
                    <a:pt x="202" y="38"/>
                    <a:pt x="203" y="38"/>
                    <a:pt x="203" y="44"/>
                  </a:cubicBezTo>
                  <a:cubicBezTo>
                    <a:pt x="203" y="50"/>
                    <a:pt x="203" y="51"/>
                    <a:pt x="209" y="51"/>
                  </a:cubicBezTo>
                  <a:cubicBezTo>
                    <a:pt x="215" y="51"/>
                    <a:pt x="216" y="52"/>
                    <a:pt x="216" y="58"/>
                  </a:cubicBezTo>
                  <a:cubicBezTo>
                    <a:pt x="216" y="63"/>
                    <a:pt x="217" y="64"/>
                    <a:pt x="221" y="64"/>
                  </a:cubicBezTo>
                  <a:cubicBezTo>
                    <a:pt x="226" y="64"/>
                    <a:pt x="227" y="65"/>
                    <a:pt x="227" y="70"/>
                  </a:cubicBezTo>
                  <a:cubicBezTo>
                    <a:pt x="227" y="75"/>
                    <a:pt x="227" y="75"/>
                    <a:pt x="240" y="75"/>
                  </a:cubicBezTo>
                  <a:cubicBezTo>
                    <a:pt x="253" y="75"/>
                    <a:pt x="253" y="75"/>
                    <a:pt x="253" y="82"/>
                  </a:cubicBezTo>
                  <a:cubicBezTo>
                    <a:pt x="253" y="88"/>
                    <a:pt x="254" y="88"/>
                    <a:pt x="261" y="89"/>
                  </a:cubicBezTo>
                  <a:cubicBezTo>
                    <a:pt x="266" y="89"/>
                    <a:pt x="263" y="91"/>
                    <a:pt x="245" y="99"/>
                  </a:cubicBezTo>
                  <a:cubicBezTo>
                    <a:pt x="204" y="116"/>
                    <a:pt x="138" y="149"/>
                    <a:pt x="117" y="163"/>
                  </a:cubicBezTo>
                  <a:cubicBezTo>
                    <a:pt x="106" y="171"/>
                    <a:pt x="88" y="185"/>
                    <a:pt x="77" y="194"/>
                  </a:cubicBezTo>
                  <a:cubicBezTo>
                    <a:pt x="66" y="204"/>
                    <a:pt x="56" y="212"/>
                    <a:pt x="55" y="212"/>
                  </a:cubicBezTo>
                  <a:cubicBezTo>
                    <a:pt x="54" y="212"/>
                    <a:pt x="52" y="213"/>
                    <a:pt x="52" y="214"/>
                  </a:cubicBezTo>
                  <a:cubicBezTo>
                    <a:pt x="51" y="215"/>
                    <a:pt x="43" y="219"/>
                    <a:pt x="33" y="223"/>
                  </a:cubicBezTo>
                  <a:cubicBezTo>
                    <a:pt x="20" y="228"/>
                    <a:pt x="14" y="229"/>
                    <a:pt x="10" y="227"/>
                  </a:cubicBezTo>
                  <a:close/>
                  <a:moveTo>
                    <a:pt x="28" y="193"/>
                  </a:moveTo>
                  <a:cubicBezTo>
                    <a:pt x="28" y="189"/>
                    <a:pt x="27" y="188"/>
                    <a:pt x="22" y="188"/>
                  </a:cubicBezTo>
                  <a:cubicBezTo>
                    <a:pt x="18" y="188"/>
                    <a:pt x="17" y="189"/>
                    <a:pt x="17" y="193"/>
                  </a:cubicBezTo>
                  <a:cubicBezTo>
                    <a:pt x="17" y="198"/>
                    <a:pt x="18" y="199"/>
                    <a:pt x="22" y="199"/>
                  </a:cubicBezTo>
                  <a:cubicBezTo>
                    <a:pt x="27" y="199"/>
                    <a:pt x="28" y="198"/>
                    <a:pt x="28" y="193"/>
                  </a:cubicBezTo>
                  <a:close/>
                  <a:moveTo>
                    <a:pt x="141" y="94"/>
                  </a:moveTo>
                  <a:cubicBezTo>
                    <a:pt x="141" y="89"/>
                    <a:pt x="140" y="88"/>
                    <a:pt x="134" y="88"/>
                  </a:cubicBezTo>
                  <a:cubicBezTo>
                    <a:pt x="128" y="88"/>
                    <a:pt x="127" y="89"/>
                    <a:pt x="127" y="94"/>
                  </a:cubicBezTo>
                  <a:cubicBezTo>
                    <a:pt x="127" y="99"/>
                    <a:pt x="128" y="100"/>
                    <a:pt x="134" y="100"/>
                  </a:cubicBezTo>
                  <a:cubicBezTo>
                    <a:pt x="140" y="100"/>
                    <a:pt x="141" y="99"/>
                    <a:pt x="141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4" name="Freeform 15"/>
            <p:cNvSpPr>
              <a:spLocks/>
            </p:cNvSpPr>
            <p:nvPr/>
          </p:nvSpPr>
          <p:spPr bwMode="auto">
            <a:xfrm>
              <a:off x="1930831" y="5276968"/>
              <a:ext cx="74613" cy="193675"/>
            </a:xfrm>
            <a:custGeom>
              <a:avLst/>
              <a:gdLst>
                <a:gd name="T0" fmla="*/ 0 w 154"/>
                <a:gd name="T1" fmla="*/ 398 h 398"/>
                <a:gd name="T2" fmla="*/ 1 w 154"/>
                <a:gd name="T3" fmla="*/ 333 h 398"/>
                <a:gd name="T4" fmla="*/ 46 w 154"/>
                <a:gd name="T5" fmla="*/ 203 h 398"/>
                <a:gd name="T6" fmla="*/ 73 w 154"/>
                <a:gd name="T7" fmla="*/ 102 h 398"/>
                <a:gd name="T8" fmla="*/ 108 w 154"/>
                <a:gd name="T9" fmla="*/ 16 h 398"/>
                <a:gd name="T10" fmla="*/ 137 w 154"/>
                <a:gd name="T11" fmla="*/ 0 h 398"/>
                <a:gd name="T12" fmla="*/ 154 w 154"/>
                <a:gd name="T13" fmla="*/ 95 h 398"/>
                <a:gd name="T14" fmla="*/ 82 w 154"/>
                <a:gd name="T15" fmla="*/ 276 h 398"/>
                <a:gd name="T16" fmla="*/ 38 w 154"/>
                <a:gd name="T17" fmla="*/ 350 h 398"/>
                <a:gd name="T18" fmla="*/ 0 w 154"/>
                <a:gd name="T19" fmla="*/ 398 h 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4" h="398">
                  <a:moveTo>
                    <a:pt x="0" y="398"/>
                  </a:moveTo>
                  <a:lnTo>
                    <a:pt x="1" y="333"/>
                  </a:lnTo>
                  <a:lnTo>
                    <a:pt x="46" y="203"/>
                  </a:lnTo>
                  <a:lnTo>
                    <a:pt x="73" y="102"/>
                  </a:lnTo>
                  <a:lnTo>
                    <a:pt x="108" y="16"/>
                  </a:lnTo>
                  <a:lnTo>
                    <a:pt x="137" y="0"/>
                  </a:lnTo>
                  <a:lnTo>
                    <a:pt x="154" y="95"/>
                  </a:lnTo>
                  <a:lnTo>
                    <a:pt x="82" y="276"/>
                  </a:lnTo>
                  <a:lnTo>
                    <a:pt x="38" y="350"/>
                  </a:lnTo>
                  <a:lnTo>
                    <a:pt x="0" y="398"/>
                  </a:lnTo>
                  <a:close/>
                </a:path>
              </a:pathLst>
            </a:custGeom>
            <a:solidFill>
              <a:srgbClr val="A1BD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5" name="Freeform 16"/>
            <p:cNvSpPr>
              <a:spLocks/>
            </p:cNvSpPr>
            <p:nvPr/>
          </p:nvSpPr>
          <p:spPr bwMode="auto">
            <a:xfrm>
              <a:off x="1559356" y="5359518"/>
              <a:ext cx="368300" cy="144463"/>
            </a:xfrm>
            <a:custGeom>
              <a:avLst/>
              <a:gdLst>
                <a:gd name="T0" fmla="*/ 751 w 751"/>
                <a:gd name="T1" fmla="*/ 278 h 296"/>
                <a:gd name="T2" fmla="*/ 137 w 751"/>
                <a:gd name="T3" fmla="*/ 0 h 296"/>
                <a:gd name="T4" fmla="*/ 0 w 751"/>
                <a:gd name="T5" fmla="*/ 296 h 296"/>
                <a:gd name="T6" fmla="*/ 751 w 751"/>
                <a:gd name="T7" fmla="*/ 278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1" h="296">
                  <a:moveTo>
                    <a:pt x="751" y="278"/>
                  </a:moveTo>
                  <a:lnTo>
                    <a:pt x="137" y="0"/>
                  </a:lnTo>
                  <a:lnTo>
                    <a:pt x="0" y="296"/>
                  </a:lnTo>
                  <a:lnTo>
                    <a:pt x="751" y="278"/>
                  </a:lnTo>
                  <a:close/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6" name="Freeform 17"/>
            <p:cNvSpPr>
              <a:spLocks/>
            </p:cNvSpPr>
            <p:nvPr/>
          </p:nvSpPr>
          <p:spPr bwMode="auto">
            <a:xfrm>
              <a:off x="1494268" y="5372218"/>
              <a:ext cx="439738" cy="122238"/>
            </a:xfrm>
            <a:custGeom>
              <a:avLst/>
              <a:gdLst>
                <a:gd name="T0" fmla="*/ 894 w 898"/>
                <a:gd name="T1" fmla="*/ 221 h 251"/>
                <a:gd name="T2" fmla="*/ 266 w 898"/>
                <a:gd name="T3" fmla="*/ 0 h 251"/>
                <a:gd name="T4" fmla="*/ 134 w 898"/>
                <a:gd name="T5" fmla="*/ 247 h 251"/>
                <a:gd name="T6" fmla="*/ 894 w 898"/>
                <a:gd name="T7" fmla="*/ 221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98" h="251">
                  <a:moveTo>
                    <a:pt x="894" y="221"/>
                  </a:moveTo>
                  <a:cubicBezTo>
                    <a:pt x="898" y="251"/>
                    <a:pt x="266" y="0"/>
                    <a:pt x="266" y="0"/>
                  </a:cubicBezTo>
                  <a:cubicBezTo>
                    <a:pt x="0" y="41"/>
                    <a:pt x="97" y="150"/>
                    <a:pt x="134" y="247"/>
                  </a:cubicBezTo>
                  <a:lnTo>
                    <a:pt x="894" y="221"/>
                  </a:lnTo>
                  <a:close/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7" name="Freeform 18"/>
            <p:cNvSpPr>
              <a:spLocks/>
            </p:cNvSpPr>
            <p:nvPr/>
          </p:nvSpPr>
          <p:spPr bwMode="auto">
            <a:xfrm>
              <a:off x="1813356" y="5234105"/>
              <a:ext cx="128588" cy="152400"/>
            </a:xfrm>
            <a:custGeom>
              <a:avLst/>
              <a:gdLst>
                <a:gd name="T0" fmla="*/ 9 w 265"/>
                <a:gd name="T1" fmla="*/ 0 h 314"/>
                <a:gd name="T2" fmla="*/ 265 w 265"/>
                <a:gd name="T3" fmla="*/ 163 h 314"/>
                <a:gd name="T4" fmla="*/ 0 w 265"/>
                <a:gd name="T5" fmla="*/ 314 h 3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65" h="314">
                  <a:moveTo>
                    <a:pt x="9" y="0"/>
                  </a:moveTo>
                  <a:cubicBezTo>
                    <a:pt x="40" y="305"/>
                    <a:pt x="265" y="163"/>
                    <a:pt x="265" y="163"/>
                  </a:cubicBezTo>
                  <a:lnTo>
                    <a:pt x="0" y="314"/>
                  </a:lnTo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8" name="Freeform 23"/>
            <p:cNvSpPr>
              <a:spLocks/>
            </p:cNvSpPr>
            <p:nvPr/>
          </p:nvSpPr>
          <p:spPr bwMode="auto">
            <a:xfrm>
              <a:off x="1553006" y="5278555"/>
              <a:ext cx="455613" cy="214313"/>
            </a:xfrm>
            <a:custGeom>
              <a:avLst/>
              <a:gdLst>
                <a:gd name="T0" fmla="*/ 746 w 932"/>
                <a:gd name="T1" fmla="*/ 384 h 437"/>
                <a:gd name="T2" fmla="*/ 145 w 932"/>
                <a:gd name="T3" fmla="*/ 150 h 437"/>
                <a:gd name="T4" fmla="*/ 0 w 932"/>
                <a:gd name="T5" fmla="*/ 437 h 437"/>
                <a:gd name="T6" fmla="*/ 742 w 932"/>
                <a:gd name="T7" fmla="*/ 433 h 437"/>
                <a:gd name="T8" fmla="*/ 932 w 932"/>
                <a:gd name="T9" fmla="*/ 0 h 437"/>
                <a:gd name="T10" fmla="*/ 875 w 932"/>
                <a:gd name="T11" fmla="*/ 0 h 437"/>
                <a:gd name="T12" fmla="*/ 746 w 932"/>
                <a:gd name="T13" fmla="*/ 384 h 4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32" h="437">
                  <a:moveTo>
                    <a:pt x="746" y="384"/>
                  </a:moveTo>
                  <a:lnTo>
                    <a:pt x="145" y="150"/>
                  </a:lnTo>
                  <a:lnTo>
                    <a:pt x="0" y="437"/>
                  </a:lnTo>
                  <a:lnTo>
                    <a:pt x="742" y="433"/>
                  </a:lnTo>
                  <a:lnTo>
                    <a:pt x="932" y="0"/>
                  </a:lnTo>
                  <a:lnTo>
                    <a:pt x="875" y="0"/>
                  </a:lnTo>
                  <a:lnTo>
                    <a:pt x="746" y="384"/>
                  </a:lnTo>
                  <a:close/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9" name="Freeform 24"/>
            <p:cNvSpPr>
              <a:spLocks noEditPoints="1"/>
            </p:cNvSpPr>
            <p:nvPr/>
          </p:nvSpPr>
          <p:spPr bwMode="auto">
            <a:xfrm>
              <a:off x="1538718" y="5262680"/>
              <a:ext cx="474663" cy="244475"/>
            </a:xfrm>
            <a:custGeom>
              <a:avLst/>
              <a:gdLst>
                <a:gd name="T0" fmla="*/ 929 w 973"/>
                <a:gd name="T1" fmla="*/ 14 h 501"/>
                <a:gd name="T2" fmla="*/ 916 w 973"/>
                <a:gd name="T3" fmla="*/ 14 h 501"/>
                <a:gd name="T4" fmla="*/ 897 w 973"/>
                <a:gd name="T5" fmla="*/ 76 h 501"/>
                <a:gd name="T6" fmla="*/ 871 w 973"/>
                <a:gd name="T7" fmla="*/ 134 h 501"/>
                <a:gd name="T8" fmla="*/ 860 w 973"/>
                <a:gd name="T9" fmla="*/ 165 h 501"/>
                <a:gd name="T10" fmla="*/ 845 w 973"/>
                <a:gd name="T11" fmla="*/ 200 h 501"/>
                <a:gd name="T12" fmla="*/ 839 w 973"/>
                <a:gd name="T13" fmla="*/ 214 h 501"/>
                <a:gd name="T14" fmla="*/ 772 w 973"/>
                <a:gd name="T15" fmla="*/ 417 h 501"/>
                <a:gd name="T16" fmla="*/ 190 w 973"/>
                <a:gd name="T17" fmla="*/ 188 h 501"/>
                <a:gd name="T18" fmla="*/ 173 w 973"/>
                <a:gd name="T19" fmla="*/ 190 h 501"/>
                <a:gd name="T20" fmla="*/ 162 w 973"/>
                <a:gd name="T21" fmla="*/ 195 h 501"/>
                <a:gd name="T22" fmla="*/ 43 w 973"/>
                <a:gd name="T23" fmla="*/ 302 h 501"/>
                <a:gd name="T24" fmla="*/ 9 w 973"/>
                <a:gd name="T25" fmla="*/ 471 h 501"/>
                <a:gd name="T26" fmla="*/ 21 w 973"/>
                <a:gd name="T27" fmla="*/ 490 h 501"/>
                <a:gd name="T28" fmla="*/ 38 w 973"/>
                <a:gd name="T29" fmla="*/ 497 h 501"/>
                <a:gd name="T30" fmla="*/ 72 w 973"/>
                <a:gd name="T31" fmla="*/ 497 h 501"/>
                <a:gd name="T32" fmla="*/ 769 w 973"/>
                <a:gd name="T33" fmla="*/ 496 h 501"/>
                <a:gd name="T34" fmla="*/ 776 w 973"/>
                <a:gd name="T35" fmla="*/ 500 h 501"/>
                <a:gd name="T36" fmla="*/ 784 w 973"/>
                <a:gd name="T37" fmla="*/ 498 h 501"/>
                <a:gd name="T38" fmla="*/ 819 w 973"/>
                <a:gd name="T39" fmla="*/ 484 h 501"/>
                <a:gd name="T40" fmla="*/ 826 w 973"/>
                <a:gd name="T41" fmla="*/ 482 h 501"/>
                <a:gd name="T42" fmla="*/ 830 w 973"/>
                <a:gd name="T43" fmla="*/ 475 h 501"/>
                <a:gd name="T44" fmla="*/ 929 w 973"/>
                <a:gd name="T45" fmla="*/ 232 h 501"/>
                <a:gd name="T46" fmla="*/ 973 w 973"/>
                <a:gd name="T47" fmla="*/ 56 h 501"/>
                <a:gd name="T48" fmla="*/ 973 w 973"/>
                <a:gd name="T49" fmla="*/ 50 h 501"/>
                <a:gd name="T50" fmla="*/ 969 w 973"/>
                <a:gd name="T51" fmla="*/ 45 h 501"/>
                <a:gd name="T52" fmla="*/ 944 w 973"/>
                <a:gd name="T53" fmla="*/ 19 h 501"/>
                <a:gd name="T54" fmla="*/ 929 w 973"/>
                <a:gd name="T55" fmla="*/ 14 h 501"/>
                <a:gd name="T56" fmla="*/ 925 w 973"/>
                <a:gd name="T57" fmla="*/ 52 h 501"/>
                <a:gd name="T58" fmla="*/ 934 w 973"/>
                <a:gd name="T59" fmla="*/ 62 h 501"/>
                <a:gd name="T60" fmla="*/ 894 w 973"/>
                <a:gd name="T61" fmla="*/ 219 h 501"/>
                <a:gd name="T62" fmla="*/ 808 w 973"/>
                <a:gd name="T63" fmla="*/ 404 h 501"/>
                <a:gd name="T64" fmla="*/ 914 w 973"/>
                <a:gd name="T65" fmla="*/ 64 h 501"/>
                <a:gd name="T66" fmla="*/ 925 w 973"/>
                <a:gd name="T67" fmla="*/ 52 h 501"/>
                <a:gd name="T68" fmla="*/ 195 w 973"/>
                <a:gd name="T69" fmla="*/ 229 h 501"/>
                <a:gd name="T70" fmla="*/ 781 w 973"/>
                <a:gd name="T71" fmla="*/ 460 h 501"/>
                <a:gd name="T72" fmla="*/ 62 w 973"/>
                <a:gd name="T73" fmla="*/ 461 h 501"/>
                <a:gd name="T74" fmla="*/ 48 w 973"/>
                <a:gd name="T75" fmla="*/ 457 h 501"/>
                <a:gd name="T76" fmla="*/ 46 w 973"/>
                <a:gd name="T77" fmla="*/ 443 h 501"/>
                <a:gd name="T78" fmla="*/ 76 w 973"/>
                <a:gd name="T79" fmla="*/ 325 h 501"/>
                <a:gd name="T80" fmla="*/ 180 w 973"/>
                <a:gd name="T81" fmla="*/ 232 h 501"/>
                <a:gd name="T82" fmla="*/ 195 w 973"/>
                <a:gd name="T83" fmla="*/ 229 h 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973" h="501">
                  <a:moveTo>
                    <a:pt x="929" y="14"/>
                  </a:moveTo>
                  <a:cubicBezTo>
                    <a:pt x="923" y="13"/>
                    <a:pt x="921" y="13"/>
                    <a:pt x="916" y="14"/>
                  </a:cubicBezTo>
                  <a:cubicBezTo>
                    <a:pt x="919" y="0"/>
                    <a:pt x="909" y="36"/>
                    <a:pt x="897" y="76"/>
                  </a:cubicBezTo>
                  <a:cubicBezTo>
                    <a:pt x="890" y="92"/>
                    <a:pt x="888" y="94"/>
                    <a:pt x="871" y="134"/>
                  </a:cubicBezTo>
                  <a:cubicBezTo>
                    <a:pt x="871" y="136"/>
                    <a:pt x="868" y="147"/>
                    <a:pt x="860" y="165"/>
                  </a:cubicBezTo>
                  <a:cubicBezTo>
                    <a:pt x="853" y="182"/>
                    <a:pt x="853" y="182"/>
                    <a:pt x="845" y="200"/>
                  </a:cubicBezTo>
                  <a:cubicBezTo>
                    <a:pt x="843" y="206"/>
                    <a:pt x="841" y="208"/>
                    <a:pt x="839" y="214"/>
                  </a:cubicBezTo>
                  <a:cubicBezTo>
                    <a:pt x="815" y="271"/>
                    <a:pt x="799" y="355"/>
                    <a:pt x="772" y="417"/>
                  </a:cubicBezTo>
                  <a:cubicBezTo>
                    <a:pt x="550" y="244"/>
                    <a:pt x="299" y="174"/>
                    <a:pt x="190" y="188"/>
                  </a:cubicBezTo>
                  <a:lnTo>
                    <a:pt x="173" y="190"/>
                  </a:lnTo>
                  <a:lnTo>
                    <a:pt x="162" y="195"/>
                  </a:lnTo>
                  <a:cubicBezTo>
                    <a:pt x="98" y="236"/>
                    <a:pt x="72" y="257"/>
                    <a:pt x="43" y="302"/>
                  </a:cubicBezTo>
                  <a:cubicBezTo>
                    <a:pt x="13" y="347"/>
                    <a:pt x="0" y="415"/>
                    <a:pt x="9" y="471"/>
                  </a:cubicBezTo>
                  <a:cubicBezTo>
                    <a:pt x="10" y="480"/>
                    <a:pt x="16" y="486"/>
                    <a:pt x="21" y="490"/>
                  </a:cubicBezTo>
                  <a:cubicBezTo>
                    <a:pt x="27" y="494"/>
                    <a:pt x="32" y="496"/>
                    <a:pt x="38" y="497"/>
                  </a:cubicBezTo>
                  <a:cubicBezTo>
                    <a:pt x="49" y="500"/>
                    <a:pt x="60" y="501"/>
                    <a:pt x="72" y="497"/>
                  </a:cubicBezTo>
                  <a:cubicBezTo>
                    <a:pt x="451" y="389"/>
                    <a:pt x="636" y="424"/>
                    <a:pt x="769" y="496"/>
                  </a:cubicBezTo>
                  <a:lnTo>
                    <a:pt x="776" y="500"/>
                  </a:lnTo>
                  <a:lnTo>
                    <a:pt x="784" y="498"/>
                  </a:lnTo>
                  <a:lnTo>
                    <a:pt x="819" y="484"/>
                  </a:lnTo>
                  <a:lnTo>
                    <a:pt x="826" y="482"/>
                  </a:lnTo>
                  <a:lnTo>
                    <a:pt x="830" y="475"/>
                  </a:lnTo>
                  <a:cubicBezTo>
                    <a:pt x="844" y="404"/>
                    <a:pt x="903" y="304"/>
                    <a:pt x="929" y="232"/>
                  </a:cubicBezTo>
                  <a:cubicBezTo>
                    <a:pt x="955" y="160"/>
                    <a:pt x="971" y="101"/>
                    <a:pt x="973" y="56"/>
                  </a:cubicBezTo>
                  <a:lnTo>
                    <a:pt x="973" y="50"/>
                  </a:lnTo>
                  <a:lnTo>
                    <a:pt x="969" y="45"/>
                  </a:lnTo>
                  <a:cubicBezTo>
                    <a:pt x="961" y="33"/>
                    <a:pt x="953" y="25"/>
                    <a:pt x="944" y="19"/>
                  </a:cubicBezTo>
                  <a:cubicBezTo>
                    <a:pt x="939" y="16"/>
                    <a:pt x="934" y="15"/>
                    <a:pt x="929" y="14"/>
                  </a:cubicBezTo>
                  <a:close/>
                  <a:moveTo>
                    <a:pt x="925" y="52"/>
                  </a:moveTo>
                  <a:cubicBezTo>
                    <a:pt x="926" y="52"/>
                    <a:pt x="930" y="58"/>
                    <a:pt x="934" y="62"/>
                  </a:cubicBezTo>
                  <a:cubicBezTo>
                    <a:pt x="932" y="98"/>
                    <a:pt x="918" y="152"/>
                    <a:pt x="894" y="219"/>
                  </a:cubicBezTo>
                  <a:cubicBezTo>
                    <a:pt x="875" y="271"/>
                    <a:pt x="835" y="342"/>
                    <a:pt x="808" y="404"/>
                  </a:cubicBezTo>
                  <a:cubicBezTo>
                    <a:pt x="884" y="192"/>
                    <a:pt x="903" y="119"/>
                    <a:pt x="914" y="64"/>
                  </a:cubicBezTo>
                  <a:cubicBezTo>
                    <a:pt x="920" y="58"/>
                    <a:pt x="925" y="52"/>
                    <a:pt x="925" y="52"/>
                  </a:cubicBezTo>
                  <a:close/>
                  <a:moveTo>
                    <a:pt x="195" y="229"/>
                  </a:moveTo>
                  <a:cubicBezTo>
                    <a:pt x="449" y="256"/>
                    <a:pt x="675" y="359"/>
                    <a:pt x="781" y="460"/>
                  </a:cubicBezTo>
                  <a:cubicBezTo>
                    <a:pt x="641" y="391"/>
                    <a:pt x="287" y="369"/>
                    <a:pt x="62" y="461"/>
                  </a:cubicBezTo>
                  <a:cubicBezTo>
                    <a:pt x="59" y="462"/>
                    <a:pt x="53" y="458"/>
                    <a:pt x="48" y="457"/>
                  </a:cubicBezTo>
                  <a:cubicBezTo>
                    <a:pt x="47" y="452"/>
                    <a:pt x="46" y="443"/>
                    <a:pt x="46" y="443"/>
                  </a:cubicBezTo>
                  <a:cubicBezTo>
                    <a:pt x="40" y="397"/>
                    <a:pt x="52" y="362"/>
                    <a:pt x="76" y="325"/>
                  </a:cubicBezTo>
                  <a:cubicBezTo>
                    <a:pt x="100" y="288"/>
                    <a:pt x="122" y="269"/>
                    <a:pt x="180" y="232"/>
                  </a:cubicBezTo>
                  <a:lnTo>
                    <a:pt x="195" y="229"/>
                  </a:lnTo>
                  <a:close/>
                </a:path>
              </a:pathLst>
            </a:custGeom>
            <a:solidFill>
              <a:srgbClr val="6A8C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0" name="Freeform 25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00000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1" name="Freeform 26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00000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2" name="Freeform 27"/>
            <p:cNvSpPr>
              <a:spLocks noEditPoints="1"/>
            </p:cNvSpPr>
            <p:nvPr/>
          </p:nvSpPr>
          <p:spPr bwMode="auto">
            <a:xfrm>
              <a:off x="1678418" y="5400793"/>
              <a:ext cx="231775" cy="80963"/>
            </a:xfrm>
            <a:custGeom>
              <a:avLst/>
              <a:gdLst>
                <a:gd name="T0" fmla="*/ 445 w 472"/>
                <a:gd name="T1" fmla="*/ 156 h 166"/>
                <a:gd name="T2" fmla="*/ 274 w 472"/>
                <a:gd name="T3" fmla="*/ 120 h 166"/>
                <a:gd name="T4" fmla="*/ 28 w 472"/>
                <a:gd name="T5" fmla="*/ 120 h 166"/>
                <a:gd name="T6" fmla="*/ 0 w 472"/>
                <a:gd name="T7" fmla="*/ 123 h 166"/>
                <a:gd name="T8" fmla="*/ 0 w 472"/>
                <a:gd name="T9" fmla="*/ 118 h 166"/>
                <a:gd name="T10" fmla="*/ 0 w 472"/>
                <a:gd name="T11" fmla="*/ 113 h 166"/>
                <a:gd name="T12" fmla="*/ 37 w 472"/>
                <a:gd name="T13" fmla="*/ 113 h 166"/>
                <a:gd name="T14" fmla="*/ 75 w 472"/>
                <a:gd name="T15" fmla="*/ 113 h 166"/>
                <a:gd name="T16" fmla="*/ 75 w 472"/>
                <a:gd name="T17" fmla="*/ 106 h 166"/>
                <a:gd name="T18" fmla="*/ 87 w 472"/>
                <a:gd name="T19" fmla="*/ 99 h 166"/>
                <a:gd name="T20" fmla="*/ 99 w 472"/>
                <a:gd name="T21" fmla="*/ 94 h 166"/>
                <a:gd name="T22" fmla="*/ 105 w 472"/>
                <a:gd name="T23" fmla="*/ 88 h 166"/>
                <a:gd name="T24" fmla="*/ 110 w 472"/>
                <a:gd name="T25" fmla="*/ 82 h 166"/>
                <a:gd name="T26" fmla="*/ 117 w 472"/>
                <a:gd name="T27" fmla="*/ 75 h 166"/>
                <a:gd name="T28" fmla="*/ 124 w 472"/>
                <a:gd name="T29" fmla="*/ 68 h 166"/>
                <a:gd name="T30" fmla="*/ 136 w 472"/>
                <a:gd name="T31" fmla="*/ 62 h 166"/>
                <a:gd name="T32" fmla="*/ 148 w 472"/>
                <a:gd name="T33" fmla="*/ 62 h 166"/>
                <a:gd name="T34" fmla="*/ 148 w 472"/>
                <a:gd name="T35" fmla="*/ 31 h 166"/>
                <a:gd name="T36" fmla="*/ 148 w 472"/>
                <a:gd name="T37" fmla="*/ 0 h 166"/>
                <a:gd name="T38" fmla="*/ 155 w 472"/>
                <a:gd name="T39" fmla="*/ 0 h 166"/>
                <a:gd name="T40" fmla="*/ 161 w 472"/>
                <a:gd name="T41" fmla="*/ 5 h 166"/>
                <a:gd name="T42" fmla="*/ 169 w 472"/>
                <a:gd name="T43" fmla="*/ 12 h 166"/>
                <a:gd name="T44" fmla="*/ 188 w 472"/>
                <a:gd name="T45" fmla="*/ 13 h 166"/>
                <a:gd name="T46" fmla="*/ 199 w 472"/>
                <a:gd name="T47" fmla="*/ 19 h 166"/>
                <a:gd name="T48" fmla="*/ 213 w 472"/>
                <a:gd name="T49" fmla="*/ 24 h 166"/>
                <a:gd name="T50" fmla="*/ 247 w 472"/>
                <a:gd name="T51" fmla="*/ 35 h 166"/>
                <a:gd name="T52" fmla="*/ 254 w 472"/>
                <a:gd name="T53" fmla="*/ 37 h 166"/>
                <a:gd name="T54" fmla="*/ 274 w 472"/>
                <a:gd name="T55" fmla="*/ 46 h 166"/>
                <a:gd name="T56" fmla="*/ 278 w 472"/>
                <a:gd name="T57" fmla="*/ 49 h 166"/>
                <a:gd name="T58" fmla="*/ 298 w 472"/>
                <a:gd name="T59" fmla="*/ 58 h 166"/>
                <a:gd name="T60" fmla="*/ 307 w 472"/>
                <a:gd name="T61" fmla="*/ 62 h 166"/>
                <a:gd name="T62" fmla="*/ 325 w 472"/>
                <a:gd name="T63" fmla="*/ 72 h 166"/>
                <a:gd name="T64" fmla="*/ 332 w 472"/>
                <a:gd name="T65" fmla="*/ 75 h 166"/>
                <a:gd name="T66" fmla="*/ 450 w 472"/>
                <a:gd name="T67" fmla="*/ 148 h 166"/>
                <a:gd name="T68" fmla="*/ 445 w 472"/>
                <a:gd name="T69" fmla="*/ 156 h 166"/>
                <a:gd name="T70" fmla="*/ 347 w 472"/>
                <a:gd name="T71" fmla="*/ 106 h 166"/>
                <a:gd name="T72" fmla="*/ 336 w 472"/>
                <a:gd name="T73" fmla="*/ 99 h 166"/>
                <a:gd name="T74" fmla="*/ 325 w 472"/>
                <a:gd name="T75" fmla="*/ 106 h 166"/>
                <a:gd name="T76" fmla="*/ 336 w 472"/>
                <a:gd name="T77" fmla="*/ 113 h 166"/>
                <a:gd name="T78" fmla="*/ 347 w 472"/>
                <a:gd name="T79" fmla="*/ 106 h 166"/>
                <a:gd name="T80" fmla="*/ 360 w 472"/>
                <a:gd name="T81" fmla="*/ 106 h 166"/>
                <a:gd name="T82" fmla="*/ 355 w 472"/>
                <a:gd name="T83" fmla="*/ 99 h 166"/>
                <a:gd name="T84" fmla="*/ 349 w 472"/>
                <a:gd name="T85" fmla="*/ 106 h 166"/>
                <a:gd name="T86" fmla="*/ 355 w 472"/>
                <a:gd name="T87" fmla="*/ 113 h 166"/>
                <a:gd name="T88" fmla="*/ 360 w 472"/>
                <a:gd name="T89" fmla="*/ 106 h 166"/>
                <a:gd name="T90" fmla="*/ 174 w 472"/>
                <a:gd name="T91" fmla="*/ 94 h 166"/>
                <a:gd name="T92" fmla="*/ 168 w 472"/>
                <a:gd name="T93" fmla="*/ 88 h 166"/>
                <a:gd name="T94" fmla="*/ 161 w 472"/>
                <a:gd name="T95" fmla="*/ 94 h 166"/>
                <a:gd name="T96" fmla="*/ 168 w 472"/>
                <a:gd name="T97" fmla="*/ 99 h 166"/>
                <a:gd name="T98" fmla="*/ 174 w 472"/>
                <a:gd name="T99" fmla="*/ 94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72" h="166">
                  <a:moveTo>
                    <a:pt x="445" y="156"/>
                  </a:moveTo>
                  <a:cubicBezTo>
                    <a:pt x="402" y="140"/>
                    <a:pt x="349" y="129"/>
                    <a:pt x="274" y="120"/>
                  </a:cubicBezTo>
                  <a:cubicBezTo>
                    <a:pt x="232" y="115"/>
                    <a:pt x="72" y="115"/>
                    <a:pt x="28" y="120"/>
                  </a:cubicBezTo>
                  <a:lnTo>
                    <a:pt x="0" y="123"/>
                  </a:lnTo>
                  <a:lnTo>
                    <a:pt x="0" y="118"/>
                  </a:lnTo>
                  <a:lnTo>
                    <a:pt x="0" y="113"/>
                  </a:lnTo>
                  <a:lnTo>
                    <a:pt x="37" y="113"/>
                  </a:lnTo>
                  <a:lnTo>
                    <a:pt x="75" y="113"/>
                  </a:lnTo>
                  <a:lnTo>
                    <a:pt x="75" y="106"/>
                  </a:lnTo>
                  <a:cubicBezTo>
                    <a:pt x="75" y="99"/>
                    <a:pt x="75" y="99"/>
                    <a:pt x="87" y="99"/>
                  </a:cubicBezTo>
                  <a:cubicBezTo>
                    <a:pt x="99" y="99"/>
                    <a:pt x="99" y="99"/>
                    <a:pt x="99" y="94"/>
                  </a:cubicBezTo>
                  <a:cubicBezTo>
                    <a:pt x="99" y="89"/>
                    <a:pt x="100" y="88"/>
                    <a:pt x="105" y="88"/>
                  </a:cubicBezTo>
                  <a:cubicBezTo>
                    <a:pt x="110" y="88"/>
                    <a:pt x="110" y="87"/>
                    <a:pt x="110" y="82"/>
                  </a:cubicBezTo>
                  <a:cubicBezTo>
                    <a:pt x="110" y="76"/>
                    <a:pt x="111" y="75"/>
                    <a:pt x="117" y="75"/>
                  </a:cubicBezTo>
                  <a:cubicBezTo>
                    <a:pt x="123" y="75"/>
                    <a:pt x="124" y="74"/>
                    <a:pt x="124" y="68"/>
                  </a:cubicBezTo>
                  <a:cubicBezTo>
                    <a:pt x="124" y="62"/>
                    <a:pt x="124" y="62"/>
                    <a:pt x="136" y="62"/>
                  </a:cubicBezTo>
                  <a:lnTo>
                    <a:pt x="148" y="62"/>
                  </a:lnTo>
                  <a:lnTo>
                    <a:pt x="148" y="31"/>
                  </a:lnTo>
                  <a:lnTo>
                    <a:pt x="148" y="0"/>
                  </a:lnTo>
                  <a:lnTo>
                    <a:pt x="155" y="0"/>
                  </a:lnTo>
                  <a:cubicBezTo>
                    <a:pt x="160" y="0"/>
                    <a:pt x="161" y="1"/>
                    <a:pt x="161" y="5"/>
                  </a:cubicBezTo>
                  <a:cubicBezTo>
                    <a:pt x="161" y="9"/>
                    <a:pt x="163" y="11"/>
                    <a:pt x="169" y="12"/>
                  </a:cubicBezTo>
                  <a:cubicBezTo>
                    <a:pt x="174" y="13"/>
                    <a:pt x="183" y="13"/>
                    <a:pt x="188" y="13"/>
                  </a:cubicBezTo>
                  <a:cubicBezTo>
                    <a:pt x="198" y="13"/>
                    <a:pt x="199" y="14"/>
                    <a:pt x="199" y="19"/>
                  </a:cubicBezTo>
                  <a:cubicBezTo>
                    <a:pt x="199" y="24"/>
                    <a:pt x="199" y="24"/>
                    <a:pt x="213" y="24"/>
                  </a:cubicBezTo>
                  <a:cubicBezTo>
                    <a:pt x="228" y="24"/>
                    <a:pt x="247" y="30"/>
                    <a:pt x="247" y="35"/>
                  </a:cubicBezTo>
                  <a:cubicBezTo>
                    <a:pt x="247" y="36"/>
                    <a:pt x="250" y="37"/>
                    <a:pt x="254" y="37"/>
                  </a:cubicBezTo>
                  <a:cubicBezTo>
                    <a:pt x="262" y="37"/>
                    <a:pt x="274" y="43"/>
                    <a:pt x="274" y="46"/>
                  </a:cubicBezTo>
                  <a:cubicBezTo>
                    <a:pt x="274" y="48"/>
                    <a:pt x="276" y="49"/>
                    <a:pt x="278" y="49"/>
                  </a:cubicBezTo>
                  <a:cubicBezTo>
                    <a:pt x="286" y="49"/>
                    <a:pt x="298" y="55"/>
                    <a:pt x="298" y="58"/>
                  </a:cubicBezTo>
                  <a:cubicBezTo>
                    <a:pt x="298" y="61"/>
                    <a:pt x="300" y="62"/>
                    <a:pt x="307" y="62"/>
                  </a:cubicBezTo>
                  <a:cubicBezTo>
                    <a:pt x="316" y="62"/>
                    <a:pt x="325" y="67"/>
                    <a:pt x="325" y="72"/>
                  </a:cubicBezTo>
                  <a:cubicBezTo>
                    <a:pt x="325" y="74"/>
                    <a:pt x="327" y="75"/>
                    <a:pt x="332" y="75"/>
                  </a:cubicBezTo>
                  <a:cubicBezTo>
                    <a:pt x="344" y="75"/>
                    <a:pt x="411" y="117"/>
                    <a:pt x="450" y="148"/>
                  </a:cubicBezTo>
                  <a:cubicBezTo>
                    <a:pt x="472" y="166"/>
                    <a:pt x="472" y="166"/>
                    <a:pt x="445" y="156"/>
                  </a:cubicBezTo>
                  <a:close/>
                  <a:moveTo>
                    <a:pt x="347" y="106"/>
                  </a:moveTo>
                  <a:cubicBezTo>
                    <a:pt x="347" y="100"/>
                    <a:pt x="347" y="99"/>
                    <a:pt x="336" y="99"/>
                  </a:cubicBezTo>
                  <a:cubicBezTo>
                    <a:pt x="325" y="99"/>
                    <a:pt x="325" y="100"/>
                    <a:pt x="325" y="106"/>
                  </a:cubicBezTo>
                  <a:cubicBezTo>
                    <a:pt x="325" y="112"/>
                    <a:pt x="325" y="113"/>
                    <a:pt x="336" y="113"/>
                  </a:cubicBezTo>
                  <a:cubicBezTo>
                    <a:pt x="347" y="113"/>
                    <a:pt x="347" y="112"/>
                    <a:pt x="347" y="106"/>
                  </a:cubicBezTo>
                  <a:close/>
                  <a:moveTo>
                    <a:pt x="360" y="106"/>
                  </a:moveTo>
                  <a:cubicBezTo>
                    <a:pt x="360" y="100"/>
                    <a:pt x="359" y="99"/>
                    <a:pt x="355" y="99"/>
                  </a:cubicBezTo>
                  <a:cubicBezTo>
                    <a:pt x="350" y="99"/>
                    <a:pt x="349" y="100"/>
                    <a:pt x="349" y="106"/>
                  </a:cubicBezTo>
                  <a:cubicBezTo>
                    <a:pt x="349" y="112"/>
                    <a:pt x="350" y="113"/>
                    <a:pt x="355" y="113"/>
                  </a:cubicBezTo>
                  <a:cubicBezTo>
                    <a:pt x="359" y="113"/>
                    <a:pt x="360" y="112"/>
                    <a:pt x="360" y="106"/>
                  </a:cubicBezTo>
                  <a:close/>
                  <a:moveTo>
                    <a:pt x="174" y="94"/>
                  </a:moveTo>
                  <a:cubicBezTo>
                    <a:pt x="174" y="89"/>
                    <a:pt x="173" y="88"/>
                    <a:pt x="168" y="88"/>
                  </a:cubicBezTo>
                  <a:cubicBezTo>
                    <a:pt x="162" y="88"/>
                    <a:pt x="161" y="89"/>
                    <a:pt x="161" y="94"/>
                  </a:cubicBezTo>
                  <a:cubicBezTo>
                    <a:pt x="161" y="98"/>
                    <a:pt x="162" y="99"/>
                    <a:pt x="168" y="99"/>
                  </a:cubicBezTo>
                  <a:cubicBezTo>
                    <a:pt x="173" y="99"/>
                    <a:pt x="174" y="98"/>
                    <a:pt x="174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3" name="Freeform 28"/>
            <p:cNvSpPr>
              <a:spLocks noEditPoints="1"/>
            </p:cNvSpPr>
            <p:nvPr/>
          </p:nvSpPr>
          <p:spPr bwMode="auto">
            <a:xfrm>
              <a:off x="1678418" y="5400793"/>
              <a:ext cx="231775" cy="80963"/>
            </a:xfrm>
            <a:custGeom>
              <a:avLst/>
              <a:gdLst>
                <a:gd name="T0" fmla="*/ 445 w 472"/>
                <a:gd name="T1" fmla="*/ 156 h 166"/>
                <a:gd name="T2" fmla="*/ 274 w 472"/>
                <a:gd name="T3" fmla="*/ 120 h 166"/>
                <a:gd name="T4" fmla="*/ 28 w 472"/>
                <a:gd name="T5" fmla="*/ 120 h 166"/>
                <a:gd name="T6" fmla="*/ 0 w 472"/>
                <a:gd name="T7" fmla="*/ 123 h 166"/>
                <a:gd name="T8" fmla="*/ 0 w 472"/>
                <a:gd name="T9" fmla="*/ 118 h 166"/>
                <a:gd name="T10" fmla="*/ 0 w 472"/>
                <a:gd name="T11" fmla="*/ 113 h 166"/>
                <a:gd name="T12" fmla="*/ 37 w 472"/>
                <a:gd name="T13" fmla="*/ 113 h 166"/>
                <a:gd name="T14" fmla="*/ 75 w 472"/>
                <a:gd name="T15" fmla="*/ 113 h 166"/>
                <a:gd name="T16" fmla="*/ 75 w 472"/>
                <a:gd name="T17" fmla="*/ 106 h 166"/>
                <a:gd name="T18" fmla="*/ 87 w 472"/>
                <a:gd name="T19" fmla="*/ 99 h 166"/>
                <a:gd name="T20" fmla="*/ 99 w 472"/>
                <a:gd name="T21" fmla="*/ 94 h 166"/>
                <a:gd name="T22" fmla="*/ 105 w 472"/>
                <a:gd name="T23" fmla="*/ 88 h 166"/>
                <a:gd name="T24" fmla="*/ 110 w 472"/>
                <a:gd name="T25" fmla="*/ 82 h 166"/>
                <a:gd name="T26" fmla="*/ 117 w 472"/>
                <a:gd name="T27" fmla="*/ 75 h 166"/>
                <a:gd name="T28" fmla="*/ 124 w 472"/>
                <a:gd name="T29" fmla="*/ 68 h 166"/>
                <a:gd name="T30" fmla="*/ 136 w 472"/>
                <a:gd name="T31" fmla="*/ 62 h 166"/>
                <a:gd name="T32" fmla="*/ 148 w 472"/>
                <a:gd name="T33" fmla="*/ 62 h 166"/>
                <a:gd name="T34" fmla="*/ 148 w 472"/>
                <a:gd name="T35" fmla="*/ 31 h 166"/>
                <a:gd name="T36" fmla="*/ 148 w 472"/>
                <a:gd name="T37" fmla="*/ 0 h 166"/>
                <a:gd name="T38" fmla="*/ 155 w 472"/>
                <a:gd name="T39" fmla="*/ 0 h 166"/>
                <a:gd name="T40" fmla="*/ 161 w 472"/>
                <a:gd name="T41" fmla="*/ 5 h 166"/>
                <a:gd name="T42" fmla="*/ 169 w 472"/>
                <a:gd name="T43" fmla="*/ 12 h 166"/>
                <a:gd name="T44" fmla="*/ 188 w 472"/>
                <a:gd name="T45" fmla="*/ 13 h 166"/>
                <a:gd name="T46" fmla="*/ 199 w 472"/>
                <a:gd name="T47" fmla="*/ 19 h 166"/>
                <a:gd name="T48" fmla="*/ 213 w 472"/>
                <a:gd name="T49" fmla="*/ 24 h 166"/>
                <a:gd name="T50" fmla="*/ 247 w 472"/>
                <a:gd name="T51" fmla="*/ 35 h 166"/>
                <a:gd name="T52" fmla="*/ 254 w 472"/>
                <a:gd name="T53" fmla="*/ 37 h 166"/>
                <a:gd name="T54" fmla="*/ 274 w 472"/>
                <a:gd name="T55" fmla="*/ 46 h 166"/>
                <a:gd name="T56" fmla="*/ 278 w 472"/>
                <a:gd name="T57" fmla="*/ 49 h 166"/>
                <a:gd name="T58" fmla="*/ 298 w 472"/>
                <a:gd name="T59" fmla="*/ 58 h 166"/>
                <a:gd name="T60" fmla="*/ 307 w 472"/>
                <a:gd name="T61" fmla="*/ 62 h 166"/>
                <a:gd name="T62" fmla="*/ 325 w 472"/>
                <a:gd name="T63" fmla="*/ 72 h 166"/>
                <a:gd name="T64" fmla="*/ 332 w 472"/>
                <a:gd name="T65" fmla="*/ 75 h 166"/>
                <a:gd name="T66" fmla="*/ 450 w 472"/>
                <a:gd name="T67" fmla="*/ 148 h 166"/>
                <a:gd name="T68" fmla="*/ 445 w 472"/>
                <a:gd name="T69" fmla="*/ 156 h 166"/>
                <a:gd name="T70" fmla="*/ 347 w 472"/>
                <a:gd name="T71" fmla="*/ 106 h 166"/>
                <a:gd name="T72" fmla="*/ 336 w 472"/>
                <a:gd name="T73" fmla="*/ 99 h 166"/>
                <a:gd name="T74" fmla="*/ 325 w 472"/>
                <a:gd name="T75" fmla="*/ 106 h 166"/>
                <a:gd name="T76" fmla="*/ 336 w 472"/>
                <a:gd name="T77" fmla="*/ 113 h 166"/>
                <a:gd name="T78" fmla="*/ 347 w 472"/>
                <a:gd name="T79" fmla="*/ 106 h 166"/>
                <a:gd name="T80" fmla="*/ 360 w 472"/>
                <a:gd name="T81" fmla="*/ 106 h 166"/>
                <a:gd name="T82" fmla="*/ 355 w 472"/>
                <a:gd name="T83" fmla="*/ 99 h 166"/>
                <a:gd name="T84" fmla="*/ 349 w 472"/>
                <a:gd name="T85" fmla="*/ 106 h 166"/>
                <a:gd name="T86" fmla="*/ 355 w 472"/>
                <a:gd name="T87" fmla="*/ 113 h 166"/>
                <a:gd name="T88" fmla="*/ 360 w 472"/>
                <a:gd name="T89" fmla="*/ 106 h 166"/>
                <a:gd name="T90" fmla="*/ 174 w 472"/>
                <a:gd name="T91" fmla="*/ 94 h 166"/>
                <a:gd name="T92" fmla="*/ 168 w 472"/>
                <a:gd name="T93" fmla="*/ 88 h 166"/>
                <a:gd name="T94" fmla="*/ 161 w 472"/>
                <a:gd name="T95" fmla="*/ 94 h 166"/>
                <a:gd name="T96" fmla="*/ 168 w 472"/>
                <a:gd name="T97" fmla="*/ 99 h 166"/>
                <a:gd name="T98" fmla="*/ 174 w 472"/>
                <a:gd name="T99" fmla="*/ 94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72" h="166">
                  <a:moveTo>
                    <a:pt x="445" y="156"/>
                  </a:moveTo>
                  <a:cubicBezTo>
                    <a:pt x="402" y="140"/>
                    <a:pt x="349" y="129"/>
                    <a:pt x="274" y="120"/>
                  </a:cubicBezTo>
                  <a:cubicBezTo>
                    <a:pt x="232" y="115"/>
                    <a:pt x="72" y="115"/>
                    <a:pt x="28" y="120"/>
                  </a:cubicBezTo>
                  <a:lnTo>
                    <a:pt x="0" y="123"/>
                  </a:lnTo>
                  <a:lnTo>
                    <a:pt x="0" y="118"/>
                  </a:lnTo>
                  <a:lnTo>
                    <a:pt x="0" y="113"/>
                  </a:lnTo>
                  <a:lnTo>
                    <a:pt x="37" y="113"/>
                  </a:lnTo>
                  <a:lnTo>
                    <a:pt x="75" y="113"/>
                  </a:lnTo>
                  <a:lnTo>
                    <a:pt x="75" y="106"/>
                  </a:lnTo>
                  <a:cubicBezTo>
                    <a:pt x="75" y="99"/>
                    <a:pt x="75" y="99"/>
                    <a:pt x="87" y="99"/>
                  </a:cubicBezTo>
                  <a:cubicBezTo>
                    <a:pt x="99" y="99"/>
                    <a:pt x="99" y="99"/>
                    <a:pt x="99" y="94"/>
                  </a:cubicBezTo>
                  <a:cubicBezTo>
                    <a:pt x="99" y="89"/>
                    <a:pt x="100" y="88"/>
                    <a:pt x="105" y="88"/>
                  </a:cubicBezTo>
                  <a:cubicBezTo>
                    <a:pt x="110" y="88"/>
                    <a:pt x="110" y="87"/>
                    <a:pt x="110" y="82"/>
                  </a:cubicBezTo>
                  <a:cubicBezTo>
                    <a:pt x="110" y="76"/>
                    <a:pt x="111" y="75"/>
                    <a:pt x="117" y="75"/>
                  </a:cubicBezTo>
                  <a:cubicBezTo>
                    <a:pt x="123" y="75"/>
                    <a:pt x="124" y="74"/>
                    <a:pt x="124" y="68"/>
                  </a:cubicBezTo>
                  <a:cubicBezTo>
                    <a:pt x="124" y="62"/>
                    <a:pt x="124" y="62"/>
                    <a:pt x="136" y="62"/>
                  </a:cubicBezTo>
                  <a:lnTo>
                    <a:pt x="148" y="62"/>
                  </a:lnTo>
                  <a:lnTo>
                    <a:pt x="148" y="31"/>
                  </a:lnTo>
                  <a:lnTo>
                    <a:pt x="148" y="0"/>
                  </a:lnTo>
                  <a:lnTo>
                    <a:pt x="155" y="0"/>
                  </a:lnTo>
                  <a:cubicBezTo>
                    <a:pt x="160" y="0"/>
                    <a:pt x="161" y="1"/>
                    <a:pt x="161" y="5"/>
                  </a:cubicBezTo>
                  <a:cubicBezTo>
                    <a:pt x="161" y="9"/>
                    <a:pt x="163" y="11"/>
                    <a:pt x="169" y="12"/>
                  </a:cubicBezTo>
                  <a:cubicBezTo>
                    <a:pt x="174" y="13"/>
                    <a:pt x="183" y="13"/>
                    <a:pt x="188" y="13"/>
                  </a:cubicBezTo>
                  <a:cubicBezTo>
                    <a:pt x="198" y="13"/>
                    <a:pt x="199" y="14"/>
                    <a:pt x="199" y="19"/>
                  </a:cubicBezTo>
                  <a:cubicBezTo>
                    <a:pt x="199" y="24"/>
                    <a:pt x="199" y="24"/>
                    <a:pt x="213" y="24"/>
                  </a:cubicBezTo>
                  <a:cubicBezTo>
                    <a:pt x="228" y="24"/>
                    <a:pt x="247" y="30"/>
                    <a:pt x="247" y="35"/>
                  </a:cubicBezTo>
                  <a:cubicBezTo>
                    <a:pt x="247" y="36"/>
                    <a:pt x="250" y="37"/>
                    <a:pt x="254" y="37"/>
                  </a:cubicBezTo>
                  <a:cubicBezTo>
                    <a:pt x="262" y="37"/>
                    <a:pt x="274" y="43"/>
                    <a:pt x="274" y="46"/>
                  </a:cubicBezTo>
                  <a:cubicBezTo>
                    <a:pt x="274" y="48"/>
                    <a:pt x="276" y="49"/>
                    <a:pt x="278" y="49"/>
                  </a:cubicBezTo>
                  <a:cubicBezTo>
                    <a:pt x="286" y="49"/>
                    <a:pt x="298" y="55"/>
                    <a:pt x="298" y="58"/>
                  </a:cubicBezTo>
                  <a:cubicBezTo>
                    <a:pt x="298" y="61"/>
                    <a:pt x="300" y="62"/>
                    <a:pt x="307" y="62"/>
                  </a:cubicBezTo>
                  <a:cubicBezTo>
                    <a:pt x="316" y="62"/>
                    <a:pt x="325" y="67"/>
                    <a:pt x="325" y="72"/>
                  </a:cubicBezTo>
                  <a:cubicBezTo>
                    <a:pt x="325" y="74"/>
                    <a:pt x="327" y="75"/>
                    <a:pt x="332" y="75"/>
                  </a:cubicBezTo>
                  <a:cubicBezTo>
                    <a:pt x="344" y="75"/>
                    <a:pt x="411" y="117"/>
                    <a:pt x="450" y="148"/>
                  </a:cubicBezTo>
                  <a:cubicBezTo>
                    <a:pt x="472" y="166"/>
                    <a:pt x="472" y="166"/>
                    <a:pt x="445" y="156"/>
                  </a:cubicBezTo>
                  <a:close/>
                  <a:moveTo>
                    <a:pt x="347" y="106"/>
                  </a:moveTo>
                  <a:cubicBezTo>
                    <a:pt x="347" y="100"/>
                    <a:pt x="347" y="99"/>
                    <a:pt x="336" y="99"/>
                  </a:cubicBezTo>
                  <a:cubicBezTo>
                    <a:pt x="325" y="99"/>
                    <a:pt x="325" y="100"/>
                    <a:pt x="325" y="106"/>
                  </a:cubicBezTo>
                  <a:cubicBezTo>
                    <a:pt x="325" y="112"/>
                    <a:pt x="325" y="113"/>
                    <a:pt x="336" y="113"/>
                  </a:cubicBezTo>
                  <a:cubicBezTo>
                    <a:pt x="347" y="113"/>
                    <a:pt x="347" y="112"/>
                    <a:pt x="347" y="106"/>
                  </a:cubicBezTo>
                  <a:close/>
                  <a:moveTo>
                    <a:pt x="360" y="106"/>
                  </a:moveTo>
                  <a:cubicBezTo>
                    <a:pt x="360" y="100"/>
                    <a:pt x="359" y="99"/>
                    <a:pt x="355" y="99"/>
                  </a:cubicBezTo>
                  <a:cubicBezTo>
                    <a:pt x="350" y="99"/>
                    <a:pt x="349" y="100"/>
                    <a:pt x="349" y="106"/>
                  </a:cubicBezTo>
                  <a:cubicBezTo>
                    <a:pt x="349" y="112"/>
                    <a:pt x="350" y="113"/>
                    <a:pt x="355" y="113"/>
                  </a:cubicBezTo>
                  <a:cubicBezTo>
                    <a:pt x="359" y="113"/>
                    <a:pt x="360" y="112"/>
                    <a:pt x="360" y="106"/>
                  </a:cubicBezTo>
                  <a:close/>
                  <a:moveTo>
                    <a:pt x="174" y="94"/>
                  </a:moveTo>
                  <a:cubicBezTo>
                    <a:pt x="174" y="89"/>
                    <a:pt x="173" y="88"/>
                    <a:pt x="168" y="88"/>
                  </a:cubicBezTo>
                  <a:cubicBezTo>
                    <a:pt x="162" y="88"/>
                    <a:pt x="161" y="89"/>
                    <a:pt x="161" y="94"/>
                  </a:cubicBezTo>
                  <a:cubicBezTo>
                    <a:pt x="161" y="98"/>
                    <a:pt x="162" y="99"/>
                    <a:pt x="168" y="99"/>
                  </a:cubicBezTo>
                  <a:cubicBezTo>
                    <a:pt x="173" y="99"/>
                    <a:pt x="174" y="98"/>
                    <a:pt x="174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4" name="Freeform 29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5" name="Freeform 30"/>
            <p:cNvSpPr>
              <a:spLocks noEditPoints="1"/>
            </p:cNvSpPr>
            <p:nvPr/>
          </p:nvSpPr>
          <p:spPr bwMode="auto">
            <a:xfrm>
              <a:off x="1500618" y="5007093"/>
              <a:ext cx="673100" cy="1066800"/>
            </a:xfrm>
            <a:custGeom>
              <a:avLst/>
              <a:gdLst>
                <a:gd name="T0" fmla="*/ 376 w 1378"/>
                <a:gd name="T1" fmla="*/ 1494 h 2181"/>
                <a:gd name="T2" fmla="*/ 280 w 1378"/>
                <a:gd name="T3" fmla="*/ 1703 h 2181"/>
                <a:gd name="T4" fmla="*/ 53 w 1378"/>
                <a:gd name="T5" fmla="*/ 2056 h 2181"/>
                <a:gd name="T6" fmla="*/ 133 w 1378"/>
                <a:gd name="T7" fmla="*/ 1049 h 2181"/>
                <a:gd name="T8" fmla="*/ 100 w 1378"/>
                <a:gd name="T9" fmla="*/ 1009 h 2181"/>
                <a:gd name="T10" fmla="*/ 184 w 1378"/>
                <a:gd name="T11" fmla="*/ 759 h 2181"/>
                <a:gd name="T12" fmla="*/ 246 w 1378"/>
                <a:gd name="T13" fmla="*/ 691 h 2181"/>
                <a:gd name="T14" fmla="*/ 444 w 1378"/>
                <a:gd name="T15" fmla="*/ 90 h 2181"/>
                <a:gd name="T16" fmla="*/ 992 w 1378"/>
                <a:gd name="T17" fmla="*/ 337 h 2181"/>
                <a:gd name="T18" fmla="*/ 1004 w 1378"/>
                <a:gd name="T19" fmla="*/ 538 h 2181"/>
                <a:gd name="T20" fmla="*/ 1059 w 1378"/>
                <a:gd name="T21" fmla="*/ 509 h 2181"/>
                <a:gd name="T22" fmla="*/ 1347 w 1378"/>
                <a:gd name="T23" fmla="*/ 0 h 2181"/>
                <a:gd name="T24" fmla="*/ 1378 w 1378"/>
                <a:gd name="T25" fmla="*/ 9 h 2181"/>
                <a:gd name="T26" fmla="*/ 1202 w 1378"/>
                <a:gd name="T27" fmla="*/ 344 h 2181"/>
                <a:gd name="T28" fmla="*/ 1022 w 1378"/>
                <a:gd name="T29" fmla="*/ 709 h 2181"/>
                <a:gd name="T30" fmla="*/ 881 w 1378"/>
                <a:gd name="T31" fmla="*/ 1011 h 2181"/>
                <a:gd name="T32" fmla="*/ 581 w 1378"/>
                <a:gd name="T33" fmla="*/ 950 h 2181"/>
                <a:gd name="T34" fmla="*/ 143 w 1378"/>
                <a:gd name="T35" fmla="*/ 1112 h 2181"/>
                <a:gd name="T36" fmla="*/ 136 w 1378"/>
                <a:gd name="T37" fmla="*/ 2068 h 2181"/>
                <a:gd name="T38" fmla="*/ 281 w 1378"/>
                <a:gd name="T39" fmla="*/ 1522 h 2181"/>
                <a:gd name="T40" fmla="*/ 464 w 1378"/>
                <a:gd name="T41" fmla="*/ 2034 h 2181"/>
                <a:gd name="T42" fmla="*/ 431 w 1378"/>
                <a:gd name="T43" fmla="*/ 2181 h 2181"/>
                <a:gd name="T44" fmla="*/ 192 w 1378"/>
                <a:gd name="T45" fmla="*/ 959 h 2181"/>
                <a:gd name="T46" fmla="*/ 416 w 1378"/>
                <a:gd name="T47" fmla="*/ 830 h 2181"/>
                <a:gd name="T48" fmla="*/ 275 w 1378"/>
                <a:gd name="T49" fmla="*/ 751 h 2181"/>
                <a:gd name="T50" fmla="*/ 124 w 1378"/>
                <a:gd name="T51" fmla="*/ 969 h 2181"/>
                <a:gd name="T52" fmla="*/ 160 w 1378"/>
                <a:gd name="T53" fmla="*/ 977 h 2181"/>
                <a:gd name="T54" fmla="*/ 390 w 1378"/>
                <a:gd name="T55" fmla="*/ 768 h 2181"/>
                <a:gd name="T56" fmla="*/ 455 w 1378"/>
                <a:gd name="T57" fmla="*/ 822 h 2181"/>
                <a:gd name="T58" fmla="*/ 255 w 1378"/>
                <a:gd name="T59" fmla="*/ 947 h 2181"/>
                <a:gd name="T60" fmla="*/ 692 w 1378"/>
                <a:gd name="T61" fmla="*/ 933 h 2181"/>
                <a:gd name="T62" fmla="*/ 834 w 1378"/>
                <a:gd name="T63" fmla="*/ 965 h 2181"/>
                <a:gd name="T64" fmla="*/ 922 w 1378"/>
                <a:gd name="T65" fmla="*/ 740 h 2181"/>
                <a:gd name="T66" fmla="*/ 848 w 1378"/>
                <a:gd name="T67" fmla="*/ 769 h 2181"/>
                <a:gd name="T68" fmla="*/ 891 w 1378"/>
                <a:gd name="T69" fmla="*/ 202 h 2181"/>
                <a:gd name="T70" fmla="*/ 249 w 1378"/>
                <a:gd name="T71" fmla="*/ 540 h 2181"/>
                <a:gd name="T72" fmla="*/ 349 w 1378"/>
                <a:gd name="T73" fmla="*/ 713 h 2181"/>
                <a:gd name="T74" fmla="*/ 864 w 1378"/>
                <a:gd name="T75" fmla="*/ 911 h 2181"/>
                <a:gd name="T76" fmla="*/ 1003 w 1378"/>
                <a:gd name="T77" fmla="*/ 643 h 2181"/>
                <a:gd name="T78" fmla="*/ 963 w 1378"/>
                <a:gd name="T79" fmla="*/ 712 h 2181"/>
                <a:gd name="T80" fmla="*/ 929 w 1378"/>
                <a:gd name="T81" fmla="*/ 847 h 2181"/>
                <a:gd name="T82" fmla="*/ 997 w 1378"/>
                <a:gd name="T83" fmla="*/ 579 h 2181"/>
                <a:gd name="T84" fmla="*/ 993 w 1378"/>
                <a:gd name="T85" fmla="*/ 601 h 2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378" h="2181">
                  <a:moveTo>
                    <a:pt x="429" y="2044"/>
                  </a:moveTo>
                  <a:cubicBezTo>
                    <a:pt x="428" y="1893"/>
                    <a:pt x="424" y="1765"/>
                    <a:pt x="421" y="1714"/>
                  </a:cubicBezTo>
                  <a:cubicBezTo>
                    <a:pt x="413" y="1590"/>
                    <a:pt x="398" y="1516"/>
                    <a:pt x="376" y="1494"/>
                  </a:cubicBezTo>
                  <a:cubicBezTo>
                    <a:pt x="368" y="1486"/>
                    <a:pt x="357" y="1490"/>
                    <a:pt x="341" y="1506"/>
                  </a:cubicBezTo>
                  <a:cubicBezTo>
                    <a:pt x="327" y="1522"/>
                    <a:pt x="316" y="1542"/>
                    <a:pt x="306" y="1572"/>
                  </a:cubicBezTo>
                  <a:cubicBezTo>
                    <a:pt x="295" y="1602"/>
                    <a:pt x="290" y="1627"/>
                    <a:pt x="280" y="1703"/>
                  </a:cubicBezTo>
                  <a:cubicBezTo>
                    <a:pt x="245" y="1953"/>
                    <a:pt x="237" y="1993"/>
                    <a:pt x="215" y="2041"/>
                  </a:cubicBezTo>
                  <a:cubicBezTo>
                    <a:pt x="193" y="2087"/>
                    <a:pt x="172" y="2106"/>
                    <a:pt x="136" y="2110"/>
                  </a:cubicBezTo>
                  <a:cubicBezTo>
                    <a:pt x="99" y="2115"/>
                    <a:pt x="73" y="2097"/>
                    <a:pt x="53" y="2056"/>
                  </a:cubicBezTo>
                  <a:cubicBezTo>
                    <a:pt x="36" y="2020"/>
                    <a:pt x="27" y="1987"/>
                    <a:pt x="19" y="1936"/>
                  </a:cubicBezTo>
                  <a:cubicBezTo>
                    <a:pt x="8" y="1865"/>
                    <a:pt x="0" y="1711"/>
                    <a:pt x="2" y="1633"/>
                  </a:cubicBezTo>
                  <a:cubicBezTo>
                    <a:pt x="9" y="1417"/>
                    <a:pt x="55" y="1214"/>
                    <a:pt x="133" y="1049"/>
                  </a:cubicBezTo>
                  <a:cubicBezTo>
                    <a:pt x="141" y="1033"/>
                    <a:pt x="147" y="1020"/>
                    <a:pt x="147" y="1019"/>
                  </a:cubicBezTo>
                  <a:cubicBezTo>
                    <a:pt x="147" y="1019"/>
                    <a:pt x="144" y="1020"/>
                    <a:pt x="140" y="1020"/>
                  </a:cubicBezTo>
                  <a:cubicBezTo>
                    <a:pt x="127" y="1022"/>
                    <a:pt x="108" y="1016"/>
                    <a:pt x="100" y="1009"/>
                  </a:cubicBezTo>
                  <a:cubicBezTo>
                    <a:pt x="89" y="999"/>
                    <a:pt x="87" y="990"/>
                    <a:pt x="88" y="949"/>
                  </a:cubicBezTo>
                  <a:cubicBezTo>
                    <a:pt x="89" y="920"/>
                    <a:pt x="90" y="909"/>
                    <a:pt x="95" y="892"/>
                  </a:cubicBezTo>
                  <a:cubicBezTo>
                    <a:pt x="109" y="837"/>
                    <a:pt x="138" y="794"/>
                    <a:pt x="184" y="759"/>
                  </a:cubicBezTo>
                  <a:cubicBezTo>
                    <a:pt x="209" y="739"/>
                    <a:pt x="248" y="713"/>
                    <a:pt x="253" y="713"/>
                  </a:cubicBezTo>
                  <a:cubicBezTo>
                    <a:pt x="256" y="713"/>
                    <a:pt x="258" y="712"/>
                    <a:pt x="258" y="711"/>
                  </a:cubicBezTo>
                  <a:cubicBezTo>
                    <a:pt x="258" y="710"/>
                    <a:pt x="252" y="701"/>
                    <a:pt x="246" y="691"/>
                  </a:cubicBezTo>
                  <a:cubicBezTo>
                    <a:pt x="225" y="656"/>
                    <a:pt x="210" y="621"/>
                    <a:pt x="203" y="585"/>
                  </a:cubicBezTo>
                  <a:cubicBezTo>
                    <a:pt x="197" y="558"/>
                    <a:pt x="198" y="447"/>
                    <a:pt x="203" y="412"/>
                  </a:cubicBezTo>
                  <a:cubicBezTo>
                    <a:pt x="226" y="268"/>
                    <a:pt x="311" y="155"/>
                    <a:pt x="444" y="90"/>
                  </a:cubicBezTo>
                  <a:cubicBezTo>
                    <a:pt x="480" y="73"/>
                    <a:pt x="498" y="66"/>
                    <a:pt x="533" y="57"/>
                  </a:cubicBezTo>
                  <a:cubicBezTo>
                    <a:pt x="685" y="18"/>
                    <a:pt x="843" y="69"/>
                    <a:pt x="920" y="182"/>
                  </a:cubicBezTo>
                  <a:cubicBezTo>
                    <a:pt x="951" y="229"/>
                    <a:pt x="980" y="289"/>
                    <a:pt x="992" y="337"/>
                  </a:cubicBezTo>
                  <a:cubicBezTo>
                    <a:pt x="1002" y="376"/>
                    <a:pt x="1003" y="389"/>
                    <a:pt x="1003" y="438"/>
                  </a:cubicBezTo>
                  <a:cubicBezTo>
                    <a:pt x="1003" y="481"/>
                    <a:pt x="1001" y="499"/>
                    <a:pt x="994" y="532"/>
                  </a:cubicBezTo>
                  <a:cubicBezTo>
                    <a:pt x="993" y="537"/>
                    <a:pt x="994" y="538"/>
                    <a:pt x="1004" y="538"/>
                  </a:cubicBezTo>
                  <a:cubicBezTo>
                    <a:pt x="1012" y="538"/>
                    <a:pt x="1018" y="540"/>
                    <a:pt x="1022" y="543"/>
                  </a:cubicBezTo>
                  <a:cubicBezTo>
                    <a:pt x="1026" y="545"/>
                    <a:pt x="1030" y="548"/>
                    <a:pt x="1031" y="548"/>
                  </a:cubicBezTo>
                  <a:cubicBezTo>
                    <a:pt x="1032" y="548"/>
                    <a:pt x="1045" y="530"/>
                    <a:pt x="1059" y="509"/>
                  </a:cubicBezTo>
                  <a:cubicBezTo>
                    <a:pt x="1127" y="411"/>
                    <a:pt x="1152" y="367"/>
                    <a:pt x="1234" y="203"/>
                  </a:cubicBezTo>
                  <a:cubicBezTo>
                    <a:pt x="1295" y="80"/>
                    <a:pt x="1309" y="55"/>
                    <a:pt x="1333" y="20"/>
                  </a:cubicBezTo>
                  <a:lnTo>
                    <a:pt x="1347" y="0"/>
                  </a:lnTo>
                  <a:lnTo>
                    <a:pt x="1363" y="0"/>
                  </a:lnTo>
                  <a:lnTo>
                    <a:pt x="1378" y="0"/>
                  </a:lnTo>
                  <a:lnTo>
                    <a:pt x="1378" y="9"/>
                  </a:lnTo>
                  <a:cubicBezTo>
                    <a:pt x="1378" y="16"/>
                    <a:pt x="1376" y="21"/>
                    <a:pt x="1364" y="38"/>
                  </a:cubicBezTo>
                  <a:cubicBezTo>
                    <a:pt x="1342" y="68"/>
                    <a:pt x="1320" y="107"/>
                    <a:pt x="1270" y="209"/>
                  </a:cubicBezTo>
                  <a:cubicBezTo>
                    <a:pt x="1245" y="260"/>
                    <a:pt x="1214" y="321"/>
                    <a:pt x="1202" y="344"/>
                  </a:cubicBezTo>
                  <a:cubicBezTo>
                    <a:pt x="1164" y="415"/>
                    <a:pt x="1111" y="499"/>
                    <a:pt x="1068" y="556"/>
                  </a:cubicBezTo>
                  <a:cubicBezTo>
                    <a:pt x="1052" y="579"/>
                    <a:pt x="1051" y="580"/>
                    <a:pt x="1049" y="598"/>
                  </a:cubicBezTo>
                  <a:cubicBezTo>
                    <a:pt x="1045" y="628"/>
                    <a:pt x="1036" y="666"/>
                    <a:pt x="1022" y="709"/>
                  </a:cubicBezTo>
                  <a:cubicBezTo>
                    <a:pt x="1005" y="761"/>
                    <a:pt x="997" y="780"/>
                    <a:pt x="966" y="848"/>
                  </a:cubicBezTo>
                  <a:cubicBezTo>
                    <a:pt x="935" y="916"/>
                    <a:pt x="923" y="944"/>
                    <a:pt x="915" y="971"/>
                  </a:cubicBezTo>
                  <a:cubicBezTo>
                    <a:pt x="905" y="1004"/>
                    <a:pt x="907" y="1001"/>
                    <a:pt x="881" y="1011"/>
                  </a:cubicBezTo>
                  <a:cubicBezTo>
                    <a:pt x="869" y="1016"/>
                    <a:pt x="857" y="1020"/>
                    <a:pt x="856" y="1020"/>
                  </a:cubicBezTo>
                  <a:cubicBezTo>
                    <a:pt x="855" y="1020"/>
                    <a:pt x="845" y="1016"/>
                    <a:pt x="835" y="1011"/>
                  </a:cubicBezTo>
                  <a:cubicBezTo>
                    <a:pt x="755" y="971"/>
                    <a:pt x="681" y="953"/>
                    <a:pt x="581" y="950"/>
                  </a:cubicBezTo>
                  <a:cubicBezTo>
                    <a:pt x="475" y="947"/>
                    <a:pt x="352" y="965"/>
                    <a:pt x="206" y="1003"/>
                  </a:cubicBezTo>
                  <a:cubicBezTo>
                    <a:pt x="199" y="1005"/>
                    <a:pt x="196" y="1008"/>
                    <a:pt x="188" y="1021"/>
                  </a:cubicBezTo>
                  <a:cubicBezTo>
                    <a:pt x="177" y="1038"/>
                    <a:pt x="159" y="1074"/>
                    <a:pt x="143" y="1112"/>
                  </a:cubicBezTo>
                  <a:cubicBezTo>
                    <a:pt x="61" y="1312"/>
                    <a:pt x="25" y="1549"/>
                    <a:pt x="41" y="1783"/>
                  </a:cubicBezTo>
                  <a:cubicBezTo>
                    <a:pt x="49" y="1900"/>
                    <a:pt x="73" y="2004"/>
                    <a:pt x="101" y="2046"/>
                  </a:cubicBezTo>
                  <a:cubicBezTo>
                    <a:pt x="109" y="2058"/>
                    <a:pt x="125" y="2068"/>
                    <a:pt x="136" y="2068"/>
                  </a:cubicBezTo>
                  <a:cubicBezTo>
                    <a:pt x="155" y="2068"/>
                    <a:pt x="174" y="2049"/>
                    <a:pt x="187" y="2016"/>
                  </a:cubicBezTo>
                  <a:cubicBezTo>
                    <a:pt x="207" y="1965"/>
                    <a:pt x="215" y="1916"/>
                    <a:pt x="236" y="1734"/>
                  </a:cubicBezTo>
                  <a:cubicBezTo>
                    <a:pt x="250" y="1610"/>
                    <a:pt x="258" y="1570"/>
                    <a:pt x="281" y="1522"/>
                  </a:cubicBezTo>
                  <a:cubicBezTo>
                    <a:pt x="298" y="1487"/>
                    <a:pt x="324" y="1467"/>
                    <a:pt x="357" y="1460"/>
                  </a:cubicBezTo>
                  <a:cubicBezTo>
                    <a:pt x="393" y="1453"/>
                    <a:pt x="416" y="1475"/>
                    <a:pt x="432" y="1531"/>
                  </a:cubicBezTo>
                  <a:cubicBezTo>
                    <a:pt x="454" y="1611"/>
                    <a:pt x="461" y="1719"/>
                    <a:pt x="464" y="2034"/>
                  </a:cubicBezTo>
                  <a:lnTo>
                    <a:pt x="466" y="2181"/>
                  </a:lnTo>
                  <a:lnTo>
                    <a:pt x="448" y="2181"/>
                  </a:lnTo>
                  <a:lnTo>
                    <a:pt x="431" y="2181"/>
                  </a:lnTo>
                  <a:lnTo>
                    <a:pt x="429" y="2044"/>
                  </a:lnTo>
                  <a:close/>
                  <a:moveTo>
                    <a:pt x="160" y="977"/>
                  </a:moveTo>
                  <a:cubicBezTo>
                    <a:pt x="177" y="971"/>
                    <a:pt x="184" y="967"/>
                    <a:pt x="192" y="959"/>
                  </a:cubicBezTo>
                  <a:cubicBezTo>
                    <a:pt x="210" y="942"/>
                    <a:pt x="226" y="929"/>
                    <a:pt x="245" y="917"/>
                  </a:cubicBezTo>
                  <a:cubicBezTo>
                    <a:pt x="267" y="903"/>
                    <a:pt x="333" y="870"/>
                    <a:pt x="380" y="849"/>
                  </a:cubicBezTo>
                  <a:cubicBezTo>
                    <a:pt x="416" y="834"/>
                    <a:pt x="423" y="830"/>
                    <a:pt x="416" y="830"/>
                  </a:cubicBezTo>
                  <a:cubicBezTo>
                    <a:pt x="409" y="830"/>
                    <a:pt x="374" y="817"/>
                    <a:pt x="358" y="809"/>
                  </a:cubicBezTo>
                  <a:cubicBezTo>
                    <a:pt x="337" y="797"/>
                    <a:pt x="320" y="784"/>
                    <a:pt x="302" y="766"/>
                  </a:cubicBezTo>
                  <a:cubicBezTo>
                    <a:pt x="288" y="751"/>
                    <a:pt x="288" y="751"/>
                    <a:pt x="275" y="751"/>
                  </a:cubicBezTo>
                  <a:cubicBezTo>
                    <a:pt x="269" y="751"/>
                    <a:pt x="261" y="752"/>
                    <a:pt x="257" y="754"/>
                  </a:cubicBezTo>
                  <a:cubicBezTo>
                    <a:pt x="242" y="761"/>
                    <a:pt x="208" y="787"/>
                    <a:pt x="188" y="807"/>
                  </a:cubicBezTo>
                  <a:cubicBezTo>
                    <a:pt x="137" y="857"/>
                    <a:pt x="117" y="909"/>
                    <a:pt x="124" y="969"/>
                  </a:cubicBezTo>
                  <a:cubicBezTo>
                    <a:pt x="125" y="979"/>
                    <a:pt x="126" y="980"/>
                    <a:pt x="133" y="982"/>
                  </a:cubicBezTo>
                  <a:cubicBezTo>
                    <a:pt x="136" y="984"/>
                    <a:pt x="139" y="985"/>
                    <a:pt x="139" y="985"/>
                  </a:cubicBezTo>
                  <a:cubicBezTo>
                    <a:pt x="139" y="985"/>
                    <a:pt x="149" y="982"/>
                    <a:pt x="160" y="977"/>
                  </a:cubicBezTo>
                  <a:close/>
                  <a:moveTo>
                    <a:pt x="834" y="965"/>
                  </a:moveTo>
                  <a:cubicBezTo>
                    <a:pt x="828" y="958"/>
                    <a:pt x="811" y="945"/>
                    <a:pt x="798" y="935"/>
                  </a:cubicBezTo>
                  <a:cubicBezTo>
                    <a:pt x="694" y="859"/>
                    <a:pt x="546" y="798"/>
                    <a:pt x="390" y="768"/>
                  </a:cubicBezTo>
                  <a:cubicBezTo>
                    <a:pt x="375" y="765"/>
                    <a:pt x="364" y="763"/>
                    <a:pt x="365" y="764"/>
                  </a:cubicBezTo>
                  <a:cubicBezTo>
                    <a:pt x="371" y="769"/>
                    <a:pt x="400" y="788"/>
                    <a:pt x="426" y="804"/>
                  </a:cubicBezTo>
                  <a:lnTo>
                    <a:pt x="455" y="822"/>
                  </a:lnTo>
                  <a:lnTo>
                    <a:pt x="480" y="821"/>
                  </a:lnTo>
                  <a:cubicBezTo>
                    <a:pt x="509" y="819"/>
                    <a:pt x="512" y="817"/>
                    <a:pt x="441" y="849"/>
                  </a:cubicBezTo>
                  <a:cubicBezTo>
                    <a:pt x="347" y="892"/>
                    <a:pt x="261" y="937"/>
                    <a:pt x="255" y="947"/>
                  </a:cubicBezTo>
                  <a:cubicBezTo>
                    <a:pt x="254" y="948"/>
                    <a:pt x="269" y="946"/>
                    <a:pt x="289" y="942"/>
                  </a:cubicBezTo>
                  <a:cubicBezTo>
                    <a:pt x="368" y="926"/>
                    <a:pt x="442" y="920"/>
                    <a:pt x="541" y="922"/>
                  </a:cubicBezTo>
                  <a:cubicBezTo>
                    <a:pt x="610" y="923"/>
                    <a:pt x="638" y="925"/>
                    <a:pt x="692" y="933"/>
                  </a:cubicBezTo>
                  <a:cubicBezTo>
                    <a:pt x="740" y="941"/>
                    <a:pt x="800" y="957"/>
                    <a:pt x="830" y="971"/>
                  </a:cubicBezTo>
                  <a:cubicBezTo>
                    <a:pt x="837" y="974"/>
                    <a:pt x="843" y="976"/>
                    <a:pt x="844" y="976"/>
                  </a:cubicBezTo>
                  <a:cubicBezTo>
                    <a:pt x="846" y="976"/>
                    <a:pt x="841" y="971"/>
                    <a:pt x="834" y="965"/>
                  </a:cubicBezTo>
                  <a:lnTo>
                    <a:pt x="834" y="965"/>
                  </a:lnTo>
                  <a:close/>
                  <a:moveTo>
                    <a:pt x="864" y="911"/>
                  </a:moveTo>
                  <a:cubicBezTo>
                    <a:pt x="875" y="884"/>
                    <a:pt x="919" y="754"/>
                    <a:pt x="922" y="740"/>
                  </a:cubicBezTo>
                  <a:cubicBezTo>
                    <a:pt x="923" y="732"/>
                    <a:pt x="923" y="733"/>
                    <a:pt x="902" y="752"/>
                  </a:cubicBezTo>
                  <a:cubicBezTo>
                    <a:pt x="865" y="788"/>
                    <a:pt x="811" y="834"/>
                    <a:pt x="808" y="832"/>
                  </a:cubicBezTo>
                  <a:cubicBezTo>
                    <a:pt x="808" y="831"/>
                    <a:pt x="826" y="803"/>
                    <a:pt x="848" y="769"/>
                  </a:cubicBezTo>
                  <a:cubicBezTo>
                    <a:pt x="923" y="657"/>
                    <a:pt x="939" y="625"/>
                    <a:pt x="953" y="568"/>
                  </a:cubicBezTo>
                  <a:cubicBezTo>
                    <a:pt x="971" y="497"/>
                    <a:pt x="972" y="414"/>
                    <a:pt x="955" y="347"/>
                  </a:cubicBezTo>
                  <a:cubicBezTo>
                    <a:pt x="942" y="298"/>
                    <a:pt x="915" y="236"/>
                    <a:pt x="891" y="202"/>
                  </a:cubicBezTo>
                  <a:cubicBezTo>
                    <a:pt x="832" y="120"/>
                    <a:pt x="730" y="78"/>
                    <a:pt x="615" y="88"/>
                  </a:cubicBezTo>
                  <a:cubicBezTo>
                    <a:pt x="459" y="101"/>
                    <a:pt x="342" y="185"/>
                    <a:pt x="281" y="327"/>
                  </a:cubicBezTo>
                  <a:cubicBezTo>
                    <a:pt x="254" y="391"/>
                    <a:pt x="243" y="462"/>
                    <a:pt x="249" y="540"/>
                  </a:cubicBezTo>
                  <a:cubicBezTo>
                    <a:pt x="253" y="602"/>
                    <a:pt x="265" y="636"/>
                    <a:pt x="299" y="687"/>
                  </a:cubicBezTo>
                  <a:cubicBezTo>
                    <a:pt x="311" y="706"/>
                    <a:pt x="315" y="709"/>
                    <a:pt x="320" y="710"/>
                  </a:cubicBezTo>
                  <a:cubicBezTo>
                    <a:pt x="324" y="710"/>
                    <a:pt x="337" y="712"/>
                    <a:pt x="349" y="713"/>
                  </a:cubicBezTo>
                  <a:cubicBezTo>
                    <a:pt x="488" y="729"/>
                    <a:pt x="679" y="813"/>
                    <a:pt x="824" y="921"/>
                  </a:cubicBezTo>
                  <a:cubicBezTo>
                    <a:pt x="838" y="931"/>
                    <a:pt x="850" y="938"/>
                    <a:pt x="851" y="938"/>
                  </a:cubicBezTo>
                  <a:cubicBezTo>
                    <a:pt x="852" y="938"/>
                    <a:pt x="858" y="925"/>
                    <a:pt x="864" y="911"/>
                  </a:cubicBezTo>
                  <a:close/>
                  <a:moveTo>
                    <a:pt x="929" y="847"/>
                  </a:moveTo>
                  <a:cubicBezTo>
                    <a:pt x="959" y="781"/>
                    <a:pt x="979" y="728"/>
                    <a:pt x="990" y="693"/>
                  </a:cubicBezTo>
                  <a:cubicBezTo>
                    <a:pt x="998" y="665"/>
                    <a:pt x="1004" y="643"/>
                    <a:pt x="1003" y="643"/>
                  </a:cubicBezTo>
                  <a:cubicBezTo>
                    <a:pt x="1003" y="643"/>
                    <a:pt x="996" y="651"/>
                    <a:pt x="987" y="661"/>
                  </a:cubicBezTo>
                  <a:lnTo>
                    <a:pt x="972" y="679"/>
                  </a:lnTo>
                  <a:lnTo>
                    <a:pt x="963" y="712"/>
                  </a:lnTo>
                  <a:cubicBezTo>
                    <a:pt x="955" y="738"/>
                    <a:pt x="907" y="887"/>
                    <a:pt x="897" y="913"/>
                  </a:cubicBezTo>
                  <a:cubicBezTo>
                    <a:pt x="896" y="916"/>
                    <a:pt x="896" y="917"/>
                    <a:pt x="898" y="916"/>
                  </a:cubicBezTo>
                  <a:cubicBezTo>
                    <a:pt x="899" y="914"/>
                    <a:pt x="913" y="884"/>
                    <a:pt x="929" y="847"/>
                  </a:cubicBezTo>
                  <a:close/>
                  <a:moveTo>
                    <a:pt x="1004" y="587"/>
                  </a:moveTo>
                  <a:cubicBezTo>
                    <a:pt x="1009" y="579"/>
                    <a:pt x="1009" y="578"/>
                    <a:pt x="1006" y="575"/>
                  </a:cubicBezTo>
                  <a:cubicBezTo>
                    <a:pt x="1004" y="572"/>
                    <a:pt x="1003" y="573"/>
                    <a:pt x="997" y="579"/>
                  </a:cubicBezTo>
                  <a:cubicBezTo>
                    <a:pt x="994" y="584"/>
                    <a:pt x="991" y="591"/>
                    <a:pt x="990" y="597"/>
                  </a:cubicBezTo>
                  <a:lnTo>
                    <a:pt x="989" y="606"/>
                  </a:lnTo>
                  <a:lnTo>
                    <a:pt x="993" y="601"/>
                  </a:lnTo>
                  <a:cubicBezTo>
                    <a:pt x="996" y="598"/>
                    <a:pt x="1000" y="591"/>
                    <a:pt x="1004" y="587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6" name="Freeform 31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7" name="Freeform 32"/>
            <p:cNvSpPr>
              <a:spLocks/>
            </p:cNvSpPr>
            <p:nvPr/>
          </p:nvSpPr>
          <p:spPr bwMode="auto">
            <a:xfrm>
              <a:off x="2064181" y="4778493"/>
              <a:ext cx="161925" cy="273050"/>
            </a:xfrm>
            <a:custGeom>
              <a:avLst/>
              <a:gdLst>
                <a:gd name="T0" fmla="*/ 228 w 331"/>
                <a:gd name="T1" fmla="*/ 533 h 559"/>
                <a:gd name="T2" fmla="*/ 330 w 331"/>
                <a:gd name="T3" fmla="*/ 471 h 559"/>
                <a:gd name="T4" fmla="*/ 275 w 331"/>
                <a:gd name="T5" fmla="*/ 230 h 559"/>
                <a:gd name="T6" fmla="*/ 267 w 331"/>
                <a:gd name="T7" fmla="*/ 30 h 559"/>
                <a:gd name="T8" fmla="*/ 159 w 331"/>
                <a:gd name="T9" fmla="*/ 37 h 559"/>
                <a:gd name="T10" fmla="*/ 210 w 331"/>
                <a:gd name="T11" fmla="*/ 116 h 559"/>
                <a:gd name="T12" fmla="*/ 136 w 331"/>
                <a:gd name="T13" fmla="*/ 165 h 559"/>
                <a:gd name="T14" fmla="*/ 81 w 331"/>
                <a:gd name="T15" fmla="*/ 91 h 559"/>
                <a:gd name="T16" fmla="*/ 180 w 331"/>
                <a:gd name="T17" fmla="*/ 294 h 559"/>
                <a:gd name="T18" fmla="*/ 228 w 331"/>
                <a:gd name="T19" fmla="*/ 533 h 5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31" h="559">
                  <a:moveTo>
                    <a:pt x="228" y="533"/>
                  </a:moveTo>
                  <a:cubicBezTo>
                    <a:pt x="228" y="533"/>
                    <a:pt x="315" y="559"/>
                    <a:pt x="330" y="471"/>
                  </a:cubicBezTo>
                  <a:cubicBezTo>
                    <a:pt x="331" y="463"/>
                    <a:pt x="275" y="230"/>
                    <a:pt x="275" y="230"/>
                  </a:cubicBezTo>
                  <a:cubicBezTo>
                    <a:pt x="327" y="137"/>
                    <a:pt x="304" y="55"/>
                    <a:pt x="267" y="30"/>
                  </a:cubicBezTo>
                  <a:cubicBezTo>
                    <a:pt x="223" y="0"/>
                    <a:pt x="159" y="37"/>
                    <a:pt x="159" y="37"/>
                  </a:cubicBezTo>
                  <a:lnTo>
                    <a:pt x="210" y="116"/>
                  </a:lnTo>
                  <a:lnTo>
                    <a:pt x="136" y="165"/>
                  </a:lnTo>
                  <a:lnTo>
                    <a:pt x="81" y="91"/>
                  </a:lnTo>
                  <a:cubicBezTo>
                    <a:pt x="37" y="144"/>
                    <a:pt x="0" y="301"/>
                    <a:pt x="180" y="294"/>
                  </a:cubicBezTo>
                  <a:lnTo>
                    <a:pt x="228" y="533"/>
                  </a:lnTo>
                  <a:close/>
                </a:path>
              </a:pathLst>
            </a:custGeom>
            <a:solidFill>
              <a:srgbClr val="A9B6AC"/>
            </a:solidFill>
            <a:ln w="19050" cap="flat">
              <a:solidFill>
                <a:srgbClr val="44575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58" name="Right Arrow 57"/>
          <p:cNvSpPr/>
          <p:nvPr/>
        </p:nvSpPr>
        <p:spPr>
          <a:xfrm>
            <a:off x="3646785" y="4330060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235248" y="3178470"/>
            <a:ext cx="1051891" cy="461665"/>
          </a:xfrm>
          <a:prstGeom prst="rect">
            <a:avLst/>
          </a:prstGeom>
          <a:noFill/>
          <a:ln w="254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CA" sz="1200" i="1" dirty="0" smtClean="0">
                <a:solidFill>
                  <a:schemeClr val="bg1"/>
                </a:solidFill>
              </a:rPr>
              <a:t>Application</a:t>
            </a:r>
            <a:endParaRPr lang="en-CA" sz="1200" i="1" dirty="0">
              <a:solidFill>
                <a:schemeClr val="bg1"/>
              </a:solidFill>
            </a:endParaRPr>
          </a:p>
          <a:p>
            <a:pPr algn="ctr"/>
            <a:r>
              <a:rPr lang="en-CA" sz="1200" i="1" dirty="0">
                <a:solidFill>
                  <a:schemeClr val="bg1"/>
                </a:solidFill>
              </a:rPr>
              <a:t>Developer</a:t>
            </a:r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8577545" y="3464992"/>
            <a:ext cx="712276" cy="732542"/>
          </a:xfrm>
          <a:prstGeom prst="straightConnector1">
            <a:avLst/>
          </a:prstGeom>
          <a:ln w="12700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264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 </a:t>
            </a:r>
            <a:r>
              <a:rPr lang="en-CA" dirty="0" smtClean="0"/>
              <a:t>Building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238067"/>
          </a:xfrm>
        </p:spPr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en-CA" dirty="0" smtClean="0"/>
              <a:t>Application developers </a:t>
            </a:r>
            <a:r>
              <a:rPr lang="en-CA" dirty="0" smtClean="0"/>
              <a:t>use Spiffy library to build robust </a:t>
            </a:r>
            <a:r>
              <a:rPr lang="en-CA" dirty="0" smtClean="0"/>
              <a:t>tools</a:t>
            </a:r>
            <a:br>
              <a:rPr lang="en-CA" dirty="0" smtClean="0"/>
            </a:br>
            <a:r>
              <a:rPr lang="en-CA" dirty="0" smtClean="0"/>
              <a:t>that </a:t>
            </a:r>
            <a:r>
              <a:rPr lang="en-CA" dirty="0" smtClean="0"/>
              <a:t>work across file systems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9</a:t>
            </a:fld>
            <a:endParaRPr lang="en-CA" dirty="0"/>
          </a:p>
        </p:txBody>
      </p:sp>
      <p:sp>
        <p:nvSpPr>
          <p:cNvPr id="39" name="Snip Single Corner Rectangle 38"/>
          <p:cNvSpPr/>
          <p:nvPr/>
        </p:nvSpPr>
        <p:spPr>
          <a:xfrm>
            <a:off x="2184504" y="4065180"/>
            <a:ext cx="1332000" cy="774000"/>
          </a:xfrm>
          <a:prstGeom prst="snip1Rect">
            <a:avLst>
              <a:gd name="adj" fmla="val 16653"/>
            </a:avLst>
          </a:prstGeom>
          <a:noFill/>
          <a:ln w="25400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Annotated File System Structures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87383" y="3112971"/>
            <a:ext cx="1186542" cy="523220"/>
          </a:xfrm>
          <a:prstGeom prst="rect">
            <a:avLst/>
          </a:prstGeom>
          <a:noFill/>
          <a:ln w="25400">
            <a:noFill/>
          </a:ln>
          <a:effectLst>
            <a:glow rad="101600">
              <a:srgbClr val="FFFF00">
                <a:alpha val="40000"/>
              </a:srgbClr>
            </a:glow>
          </a:effectLst>
        </p:spPr>
        <p:txBody>
          <a:bodyPr wrap="none" rtlCol="0">
            <a:spAutoFit/>
          </a:bodyPr>
          <a:lstStyle/>
          <a:p>
            <a:pPr algn="ctr"/>
            <a:r>
              <a:rPr lang="en-CA" sz="1400" i="1" dirty="0">
                <a:solidFill>
                  <a:schemeClr val="bg1"/>
                </a:solidFill>
              </a:rPr>
              <a:t>File System </a:t>
            </a:r>
          </a:p>
          <a:p>
            <a:pPr algn="ctr"/>
            <a:r>
              <a:rPr lang="en-CA" sz="1400" i="1" dirty="0">
                <a:solidFill>
                  <a:schemeClr val="bg1"/>
                </a:solidFill>
              </a:rPr>
              <a:t>Developer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737224" y="4330060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094065" y="4065180"/>
            <a:ext cx="1080000" cy="774000"/>
          </a:xfrm>
          <a:prstGeom prst="roundRect">
            <a:avLst/>
          </a:prstGeom>
          <a:noFill/>
          <a:ln w="25400" cmpd="dbl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Spiffy Compiler</a:t>
            </a:r>
          </a:p>
        </p:txBody>
      </p:sp>
      <p:sp>
        <p:nvSpPr>
          <p:cNvPr id="43" name="Snip Single Corner Rectangle 42"/>
          <p:cNvSpPr/>
          <p:nvPr/>
        </p:nvSpPr>
        <p:spPr>
          <a:xfrm>
            <a:off x="7432632" y="5281328"/>
            <a:ext cx="1332000" cy="774000"/>
          </a:xfrm>
          <a:prstGeom prst="snip1Rect">
            <a:avLst>
              <a:gd name="adj" fmla="val 17937"/>
            </a:avLst>
          </a:prstGeom>
          <a:noFill/>
          <a:ln w="25400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0" bIns="144000" rtlCol="0" anchor="ctr"/>
          <a:lstStyle/>
          <a:p>
            <a:pPr algn="ctr"/>
            <a:r>
              <a:rPr lang="en-CA" sz="1600" dirty="0" smtClean="0">
                <a:solidFill>
                  <a:schemeClr val="bg1"/>
                </a:solidFill>
              </a:rPr>
              <a:t>Generic  </a:t>
            </a:r>
            <a:br>
              <a:rPr lang="en-CA" sz="1600" dirty="0" smtClean="0">
                <a:solidFill>
                  <a:schemeClr val="bg1"/>
                </a:solidFill>
              </a:rPr>
            </a:br>
            <a:r>
              <a:rPr lang="en-CA" sz="1600" dirty="0" smtClean="0">
                <a:solidFill>
                  <a:schemeClr val="bg1"/>
                </a:solidFill>
              </a:rPr>
              <a:t>Application</a:t>
            </a:r>
            <a:endParaRPr lang="en-CA" sz="1600" dirty="0">
              <a:solidFill>
                <a:schemeClr val="bg1"/>
              </a:solidFill>
            </a:endParaRPr>
          </a:p>
        </p:txBody>
      </p:sp>
      <p:sp>
        <p:nvSpPr>
          <p:cNvPr id="44" name="Snip Single Corner Rectangle 43"/>
          <p:cNvSpPr/>
          <p:nvPr/>
        </p:nvSpPr>
        <p:spPr>
          <a:xfrm>
            <a:off x="7432632" y="2832811"/>
            <a:ext cx="1332000" cy="774000"/>
          </a:xfrm>
          <a:prstGeom prst="snip1Rect">
            <a:avLst>
              <a:gd name="adj" fmla="val 17937"/>
            </a:avLst>
          </a:prstGeom>
          <a:noFill/>
          <a:ln w="25400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File </a:t>
            </a:r>
            <a:r>
              <a:rPr lang="en-CA" sz="1600" dirty="0" smtClean="0">
                <a:solidFill>
                  <a:schemeClr val="bg1"/>
                </a:solidFill>
              </a:rPr>
              <a:t>System </a:t>
            </a:r>
            <a:r>
              <a:rPr lang="en-CA" sz="1600" dirty="0">
                <a:solidFill>
                  <a:schemeClr val="bg1"/>
                </a:solidFill>
              </a:rPr>
              <a:t>Specific Policies</a:t>
            </a:r>
          </a:p>
        </p:txBody>
      </p:sp>
      <p:sp>
        <p:nvSpPr>
          <p:cNvPr id="45" name="Right Arrow 44"/>
          <p:cNvSpPr/>
          <p:nvPr/>
        </p:nvSpPr>
        <p:spPr>
          <a:xfrm rot="5400000">
            <a:off x="7946907" y="4930973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751627" y="4065180"/>
            <a:ext cx="1224000" cy="774000"/>
          </a:xfrm>
          <a:prstGeom prst="rect">
            <a:avLst/>
          </a:prstGeom>
          <a:noFill/>
          <a:ln w="25400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6800" rIns="0" bIns="46800" rtlCol="0" anchor="ctr"/>
          <a:lstStyle/>
          <a:p>
            <a:pPr algn="ctr"/>
            <a:r>
              <a:rPr lang="en-CA" sz="1600" dirty="0" smtClean="0">
                <a:solidFill>
                  <a:schemeClr val="bg1"/>
                </a:solidFill>
              </a:rPr>
              <a:t>File </a:t>
            </a:r>
            <a:r>
              <a:rPr lang="en-CA" sz="1600" dirty="0">
                <a:solidFill>
                  <a:schemeClr val="bg1"/>
                </a:solidFill>
              </a:rPr>
              <a:t>System Library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5304346" y="4330060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9292902" y="4065180"/>
            <a:ext cx="1318760" cy="774000"/>
          </a:xfrm>
          <a:prstGeom prst="rect">
            <a:avLst/>
          </a:prstGeom>
          <a:noFill/>
          <a:ln w="25400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360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File System Application</a:t>
            </a:r>
          </a:p>
        </p:txBody>
      </p:sp>
      <p:sp>
        <p:nvSpPr>
          <p:cNvPr id="49" name="Right Arrow 48"/>
          <p:cNvSpPr/>
          <p:nvPr/>
        </p:nvSpPr>
        <p:spPr>
          <a:xfrm rot="18900000">
            <a:off x="7054852" y="3727351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0" name="Right Arrow 49"/>
          <p:cNvSpPr/>
          <p:nvPr/>
        </p:nvSpPr>
        <p:spPr>
          <a:xfrm rot="16200000">
            <a:off x="7946907" y="3721899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1" name="Right Arrow 50"/>
          <p:cNvSpPr/>
          <p:nvPr/>
        </p:nvSpPr>
        <p:spPr>
          <a:xfrm rot="18900000">
            <a:off x="8859377" y="4936426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2" name="Right Arrow 51"/>
          <p:cNvSpPr/>
          <p:nvPr/>
        </p:nvSpPr>
        <p:spPr>
          <a:xfrm rot="2700000">
            <a:off x="8866151" y="3721898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709658" y="5281328"/>
            <a:ext cx="1260000" cy="774000"/>
          </a:xfrm>
          <a:prstGeom prst="rect">
            <a:avLst/>
          </a:prstGeom>
          <a:noFill/>
          <a:ln w="25400">
            <a:solidFill>
              <a:schemeClr val="bg1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6800" rIns="0" bIns="46800" rtlCol="0" anchor="ctr"/>
          <a:lstStyle/>
          <a:p>
            <a:pPr algn="ctr"/>
            <a:r>
              <a:rPr lang="en-CA" sz="1600" dirty="0">
                <a:solidFill>
                  <a:schemeClr val="bg1"/>
                </a:solidFill>
              </a:rPr>
              <a:t>Spiffy API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7054852" y="5473906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5" name="Right Arrow 54"/>
          <p:cNvSpPr/>
          <p:nvPr/>
        </p:nvSpPr>
        <p:spPr>
          <a:xfrm rot="16200000">
            <a:off x="6187933" y="4930974"/>
            <a:ext cx="303450" cy="255146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pic>
        <p:nvPicPr>
          <p:cNvPr id="56" name="Picture 5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658" y="4032191"/>
            <a:ext cx="839949" cy="839978"/>
          </a:xfrm>
          <a:prstGeom prst="rect">
            <a:avLst/>
          </a:prstGeom>
          <a:effectLst>
            <a:glow rad="101600">
              <a:srgbClr val="FFFF00">
                <a:alpha val="40000"/>
              </a:srgbClr>
            </a:glow>
          </a:effectLst>
        </p:spPr>
      </p:pic>
      <p:grpSp>
        <p:nvGrpSpPr>
          <p:cNvPr id="57" name="Group 56"/>
          <p:cNvGrpSpPr/>
          <p:nvPr/>
        </p:nvGrpSpPr>
        <p:grpSpPr>
          <a:xfrm>
            <a:off x="824305" y="3607630"/>
            <a:ext cx="782638" cy="1689100"/>
            <a:chOff x="1494268" y="4778493"/>
            <a:chExt cx="782638" cy="1689100"/>
          </a:xfrm>
          <a:effectLst/>
        </p:grpSpPr>
        <p:sp>
          <p:nvSpPr>
            <p:cNvPr id="61" name="Freeform 5"/>
            <p:cNvSpPr>
              <a:spLocks/>
            </p:cNvSpPr>
            <p:nvPr/>
          </p:nvSpPr>
          <p:spPr bwMode="auto">
            <a:xfrm>
              <a:off x="1508556" y="4964230"/>
              <a:ext cx="758825" cy="1489075"/>
            </a:xfrm>
            <a:custGeom>
              <a:avLst/>
              <a:gdLst>
                <a:gd name="T0" fmla="*/ 250 w 1553"/>
                <a:gd name="T1" fmla="*/ 791 h 3047"/>
                <a:gd name="T2" fmla="*/ 194 w 1553"/>
                <a:gd name="T3" fmla="*/ 572 h 3047"/>
                <a:gd name="T4" fmla="*/ 262 w 1553"/>
                <a:gd name="T5" fmla="*/ 325 h 3047"/>
                <a:gd name="T6" fmla="*/ 447 w 1553"/>
                <a:gd name="T7" fmla="*/ 175 h 3047"/>
                <a:gd name="T8" fmla="*/ 678 w 1553"/>
                <a:gd name="T9" fmla="*/ 141 h 3047"/>
                <a:gd name="T10" fmla="*/ 837 w 1553"/>
                <a:gd name="T11" fmla="*/ 216 h 3047"/>
                <a:gd name="T12" fmla="*/ 950 w 1553"/>
                <a:gd name="T13" fmla="*/ 378 h 3047"/>
                <a:gd name="T14" fmla="*/ 959 w 1553"/>
                <a:gd name="T15" fmla="*/ 585 h 3047"/>
                <a:gd name="T16" fmla="*/ 884 w 1553"/>
                <a:gd name="T17" fmla="*/ 816 h 3047"/>
                <a:gd name="T18" fmla="*/ 950 w 1553"/>
                <a:gd name="T19" fmla="*/ 797 h 3047"/>
                <a:gd name="T20" fmla="*/ 1344 w 1553"/>
                <a:gd name="T21" fmla="*/ 85 h 3047"/>
                <a:gd name="T22" fmla="*/ 1516 w 1553"/>
                <a:gd name="T23" fmla="*/ 0 h 3047"/>
                <a:gd name="T24" fmla="*/ 1553 w 1553"/>
                <a:gd name="T25" fmla="*/ 175 h 3047"/>
                <a:gd name="T26" fmla="*/ 1312 w 1553"/>
                <a:gd name="T27" fmla="*/ 807 h 3047"/>
                <a:gd name="T28" fmla="*/ 1253 w 1553"/>
                <a:gd name="T29" fmla="*/ 925 h 3047"/>
                <a:gd name="T30" fmla="*/ 1209 w 1553"/>
                <a:gd name="T31" fmla="*/ 1241 h 3047"/>
                <a:gd name="T32" fmla="*/ 1237 w 1553"/>
                <a:gd name="T33" fmla="*/ 1753 h 3047"/>
                <a:gd name="T34" fmla="*/ 1300 w 1553"/>
                <a:gd name="T35" fmla="*/ 2266 h 3047"/>
                <a:gd name="T36" fmla="*/ 1303 w 1553"/>
                <a:gd name="T37" fmla="*/ 2460 h 3047"/>
                <a:gd name="T38" fmla="*/ 1272 w 1553"/>
                <a:gd name="T39" fmla="*/ 2791 h 3047"/>
                <a:gd name="T40" fmla="*/ 1209 w 1553"/>
                <a:gd name="T41" fmla="*/ 2978 h 3047"/>
                <a:gd name="T42" fmla="*/ 1128 w 1553"/>
                <a:gd name="T43" fmla="*/ 3047 h 3047"/>
                <a:gd name="T44" fmla="*/ 1028 w 1553"/>
                <a:gd name="T45" fmla="*/ 2957 h 3047"/>
                <a:gd name="T46" fmla="*/ 981 w 1553"/>
                <a:gd name="T47" fmla="*/ 2769 h 3047"/>
                <a:gd name="T48" fmla="*/ 978 w 1553"/>
                <a:gd name="T49" fmla="*/ 2491 h 3047"/>
                <a:gd name="T50" fmla="*/ 956 w 1553"/>
                <a:gd name="T51" fmla="*/ 2272 h 3047"/>
                <a:gd name="T52" fmla="*/ 884 w 1553"/>
                <a:gd name="T53" fmla="*/ 2166 h 3047"/>
                <a:gd name="T54" fmla="*/ 847 w 1553"/>
                <a:gd name="T55" fmla="*/ 2135 h 3047"/>
                <a:gd name="T56" fmla="*/ 803 w 1553"/>
                <a:gd name="T57" fmla="*/ 2313 h 3047"/>
                <a:gd name="T58" fmla="*/ 750 w 1553"/>
                <a:gd name="T59" fmla="*/ 2635 h 3047"/>
                <a:gd name="T60" fmla="*/ 716 w 1553"/>
                <a:gd name="T61" fmla="*/ 2778 h 3047"/>
                <a:gd name="T62" fmla="*/ 681 w 1553"/>
                <a:gd name="T63" fmla="*/ 2919 h 3047"/>
                <a:gd name="T64" fmla="*/ 634 w 1553"/>
                <a:gd name="T65" fmla="*/ 3025 h 3047"/>
                <a:gd name="T66" fmla="*/ 559 w 1553"/>
                <a:gd name="T67" fmla="*/ 3044 h 3047"/>
                <a:gd name="T68" fmla="*/ 484 w 1553"/>
                <a:gd name="T69" fmla="*/ 2985 h 3047"/>
                <a:gd name="T70" fmla="*/ 437 w 1553"/>
                <a:gd name="T71" fmla="*/ 2744 h 3047"/>
                <a:gd name="T72" fmla="*/ 425 w 1553"/>
                <a:gd name="T73" fmla="*/ 2382 h 3047"/>
                <a:gd name="T74" fmla="*/ 422 w 1553"/>
                <a:gd name="T75" fmla="*/ 2047 h 3047"/>
                <a:gd name="T76" fmla="*/ 419 w 1553"/>
                <a:gd name="T77" fmla="*/ 1722 h 3047"/>
                <a:gd name="T78" fmla="*/ 375 w 1553"/>
                <a:gd name="T79" fmla="*/ 1572 h 3047"/>
                <a:gd name="T80" fmla="*/ 316 w 1553"/>
                <a:gd name="T81" fmla="*/ 1538 h 3047"/>
                <a:gd name="T82" fmla="*/ 259 w 1553"/>
                <a:gd name="T83" fmla="*/ 1710 h 3047"/>
                <a:gd name="T84" fmla="*/ 212 w 1553"/>
                <a:gd name="T85" fmla="*/ 1985 h 3047"/>
                <a:gd name="T86" fmla="*/ 169 w 1553"/>
                <a:gd name="T87" fmla="*/ 2150 h 3047"/>
                <a:gd name="T88" fmla="*/ 106 w 1553"/>
                <a:gd name="T89" fmla="*/ 2188 h 3047"/>
                <a:gd name="T90" fmla="*/ 41 w 1553"/>
                <a:gd name="T91" fmla="*/ 2085 h 3047"/>
                <a:gd name="T92" fmla="*/ 0 w 1553"/>
                <a:gd name="T93" fmla="*/ 1810 h 3047"/>
                <a:gd name="T94" fmla="*/ 37 w 1553"/>
                <a:gd name="T95" fmla="*/ 1428 h 3047"/>
                <a:gd name="T96" fmla="*/ 137 w 1553"/>
                <a:gd name="T97" fmla="*/ 1116 h 3047"/>
                <a:gd name="T98" fmla="*/ 306 w 1553"/>
                <a:gd name="T99" fmla="*/ 922 h 3047"/>
                <a:gd name="T100" fmla="*/ 250 w 1553"/>
                <a:gd name="T101" fmla="*/ 791 h 30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53" h="3047">
                  <a:moveTo>
                    <a:pt x="250" y="791"/>
                  </a:moveTo>
                  <a:lnTo>
                    <a:pt x="194" y="572"/>
                  </a:lnTo>
                  <a:lnTo>
                    <a:pt x="262" y="325"/>
                  </a:lnTo>
                  <a:lnTo>
                    <a:pt x="447" y="175"/>
                  </a:lnTo>
                  <a:lnTo>
                    <a:pt x="678" y="141"/>
                  </a:lnTo>
                  <a:lnTo>
                    <a:pt x="837" y="216"/>
                  </a:lnTo>
                  <a:lnTo>
                    <a:pt x="950" y="378"/>
                  </a:lnTo>
                  <a:lnTo>
                    <a:pt x="959" y="585"/>
                  </a:lnTo>
                  <a:lnTo>
                    <a:pt x="884" y="816"/>
                  </a:lnTo>
                  <a:lnTo>
                    <a:pt x="950" y="797"/>
                  </a:lnTo>
                  <a:lnTo>
                    <a:pt x="1344" y="85"/>
                  </a:lnTo>
                  <a:lnTo>
                    <a:pt x="1516" y="0"/>
                  </a:lnTo>
                  <a:lnTo>
                    <a:pt x="1553" y="175"/>
                  </a:lnTo>
                  <a:lnTo>
                    <a:pt x="1312" y="807"/>
                  </a:lnTo>
                  <a:cubicBezTo>
                    <a:pt x="1312" y="807"/>
                    <a:pt x="1253" y="913"/>
                    <a:pt x="1253" y="925"/>
                  </a:cubicBezTo>
                  <a:cubicBezTo>
                    <a:pt x="1253" y="938"/>
                    <a:pt x="1209" y="1241"/>
                    <a:pt x="1209" y="1241"/>
                  </a:cubicBezTo>
                  <a:lnTo>
                    <a:pt x="1237" y="1753"/>
                  </a:lnTo>
                  <a:lnTo>
                    <a:pt x="1300" y="2266"/>
                  </a:lnTo>
                  <a:cubicBezTo>
                    <a:pt x="1300" y="2266"/>
                    <a:pt x="1316" y="2428"/>
                    <a:pt x="1303" y="2460"/>
                  </a:cubicBezTo>
                  <a:cubicBezTo>
                    <a:pt x="1291" y="2491"/>
                    <a:pt x="1272" y="2791"/>
                    <a:pt x="1272" y="2791"/>
                  </a:cubicBezTo>
                  <a:lnTo>
                    <a:pt x="1209" y="2978"/>
                  </a:lnTo>
                  <a:lnTo>
                    <a:pt x="1128" y="3047"/>
                  </a:lnTo>
                  <a:lnTo>
                    <a:pt x="1028" y="2957"/>
                  </a:lnTo>
                  <a:lnTo>
                    <a:pt x="981" y="2769"/>
                  </a:lnTo>
                  <a:lnTo>
                    <a:pt x="978" y="2491"/>
                  </a:lnTo>
                  <a:lnTo>
                    <a:pt x="956" y="2272"/>
                  </a:lnTo>
                  <a:lnTo>
                    <a:pt x="884" y="2166"/>
                  </a:lnTo>
                  <a:lnTo>
                    <a:pt x="847" y="2135"/>
                  </a:lnTo>
                  <a:lnTo>
                    <a:pt x="803" y="2313"/>
                  </a:lnTo>
                  <a:lnTo>
                    <a:pt x="750" y="2635"/>
                  </a:lnTo>
                  <a:lnTo>
                    <a:pt x="716" y="2778"/>
                  </a:lnTo>
                  <a:lnTo>
                    <a:pt x="681" y="2919"/>
                  </a:lnTo>
                  <a:lnTo>
                    <a:pt x="634" y="3025"/>
                  </a:lnTo>
                  <a:lnTo>
                    <a:pt x="559" y="3044"/>
                  </a:lnTo>
                  <a:lnTo>
                    <a:pt x="484" y="2985"/>
                  </a:lnTo>
                  <a:lnTo>
                    <a:pt x="437" y="2744"/>
                  </a:lnTo>
                  <a:lnTo>
                    <a:pt x="425" y="2382"/>
                  </a:lnTo>
                  <a:lnTo>
                    <a:pt x="422" y="2047"/>
                  </a:lnTo>
                  <a:lnTo>
                    <a:pt x="419" y="1722"/>
                  </a:lnTo>
                  <a:lnTo>
                    <a:pt x="375" y="1572"/>
                  </a:lnTo>
                  <a:lnTo>
                    <a:pt x="316" y="1538"/>
                  </a:lnTo>
                  <a:lnTo>
                    <a:pt x="259" y="1710"/>
                  </a:lnTo>
                  <a:lnTo>
                    <a:pt x="212" y="1985"/>
                  </a:lnTo>
                  <a:lnTo>
                    <a:pt x="169" y="2150"/>
                  </a:lnTo>
                  <a:lnTo>
                    <a:pt x="106" y="2188"/>
                  </a:lnTo>
                  <a:lnTo>
                    <a:pt x="41" y="2085"/>
                  </a:lnTo>
                  <a:lnTo>
                    <a:pt x="0" y="1810"/>
                  </a:lnTo>
                  <a:lnTo>
                    <a:pt x="37" y="1428"/>
                  </a:lnTo>
                  <a:lnTo>
                    <a:pt x="137" y="1116"/>
                  </a:lnTo>
                  <a:lnTo>
                    <a:pt x="306" y="922"/>
                  </a:lnTo>
                  <a:lnTo>
                    <a:pt x="250" y="791"/>
                  </a:lnTo>
                  <a:close/>
                </a:path>
              </a:pathLst>
            </a:custGeom>
            <a:solidFill>
              <a:srgbClr val="5353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2" name="Freeform 6"/>
            <p:cNvSpPr>
              <a:spLocks/>
            </p:cNvSpPr>
            <p:nvPr/>
          </p:nvSpPr>
          <p:spPr bwMode="auto">
            <a:xfrm>
              <a:off x="1511731" y="5119805"/>
              <a:ext cx="696913" cy="854075"/>
            </a:xfrm>
            <a:custGeom>
              <a:avLst/>
              <a:gdLst>
                <a:gd name="T0" fmla="*/ 163 w 1427"/>
                <a:gd name="T1" fmla="*/ 769 h 1747"/>
                <a:gd name="T2" fmla="*/ 93 w 1427"/>
                <a:gd name="T3" fmla="*/ 901 h 1747"/>
                <a:gd name="T4" fmla="*/ 35 w 1427"/>
                <a:gd name="T5" fmla="*/ 1087 h 1747"/>
                <a:gd name="T6" fmla="*/ 0 w 1427"/>
                <a:gd name="T7" fmla="*/ 1286 h 1747"/>
                <a:gd name="T8" fmla="*/ 0 w 1427"/>
                <a:gd name="T9" fmla="*/ 1586 h 1747"/>
                <a:gd name="T10" fmla="*/ 212 w 1427"/>
                <a:gd name="T11" fmla="*/ 1662 h 1747"/>
                <a:gd name="T12" fmla="*/ 247 w 1427"/>
                <a:gd name="T13" fmla="*/ 1379 h 1747"/>
                <a:gd name="T14" fmla="*/ 287 w 1427"/>
                <a:gd name="T15" fmla="*/ 1273 h 1747"/>
                <a:gd name="T16" fmla="*/ 336 w 1427"/>
                <a:gd name="T17" fmla="*/ 1220 h 1747"/>
                <a:gd name="T18" fmla="*/ 389 w 1427"/>
                <a:gd name="T19" fmla="*/ 1277 h 1747"/>
                <a:gd name="T20" fmla="*/ 429 w 1427"/>
                <a:gd name="T21" fmla="*/ 1432 h 1747"/>
                <a:gd name="T22" fmla="*/ 420 w 1427"/>
                <a:gd name="T23" fmla="*/ 1684 h 1747"/>
                <a:gd name="T24" fmla="*/ 420 w 1427"/>
                <a:gd name="T25" fmla="*/ 1723 h 1747"/>
                <a:gd name="T26" fmla="*/ 579 w 1427"/>
                <a:gd name="T27" fmla="*/ 1723 h 1747"/>
                <a:gd name="T28" fmla="*/ 1096 w 1427"/>
                <a:gd name="T29" fmla="*/ 1547 h 1747"/>
                <a:gd name="T30" fmla="*/ 1255 w 1427"/>
                <a:gd name="T31" fmla="*/ 1520 h 1747"/>
                <a:gd name="T32" fmla="*/ 1206 w 1427"/>
                <a:gd name="T33" fmla="*/ 1193 h 1747"/>
                <a:gd name="T34" fmla="*/ 1206 w 1427"/>
                <a:gd name="T35" fmla="*/ 879 h 1747"/>
                <a:gd name="T36" fmla="*/ 1233 w 1427"/>
                <a:gd name="T37" fmla="*/ 632 h 1747"/>
                <a:gd name="T38" fmla="*/ 1357 w 1427"/>
                <a:gd name="T39" fmla="*/ 376 h 1747"/>
                <a:gd name="T40" fmla="*/ 1427 w 1427"/>
                <a:gd name="T41" fmla="*/ 194 h 1747"/>
                <a:gd name="T42" fmla="*/ 1206 w 1427"/>
                <a:gd name="T43" fmla="*/ 0 h 1747"/>
                <a:gd name="T44" fmla="*/ 1096 w 1427"/>
                <a:gd name="T45" fmla="*/ 208 h 1747"/>
                <a:gd name="T46" fmla="*/ 1021 w 1427"/>
                <a:gd name="T47" fmla="*/ 305 h 1747"/>
                <a:gd name="T48" fmla="*/ 981 w 1427"/>
                <a:gd name="T49" fmla="*/ 437 h 1747"/>
                <a:gd name="T50" fmla="*/ 862 w 1427"/>
                <a:gd name="T51" fmla="*/ 729 h 1747"/>
                <a:gd name="T52" fmla="*/ 451 w 1427"/>
                <a:gd name="T53" fmla="*/ 654 h 1747"/>
                <a:gd name="T54" fmla="*/ 163 w 1427"/>
                <a:gd name="T55" fmla="*/ 769 h 17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427" h="1747">
                  <a:moveTo>
                    <a:pt x="163" y="769"/>
                  </a:moveTo>
                  <a:lnTo>
                    <a:pt x="93" y="901"/>
                  </a:lnTo>
                  <a:lnTo>
                    <a:pt x="35" y="1087"/>
                  </a:lnTo>
                  <a:lnTo>
                    <a:pt x="0" y="1286"/>
                  </a:lnTo>
                  <a:lnTo>
                    <a:pt x="0" y="1586"/>
                  </a:lnTo>
                  <a:cubicBezTo>
                    <a:pt x="96" y="1655"/>
                    <a:pt x="147" y="1646"/>
                    <a:pt x="212" y="1662"/>
                  </a:cubicBezTo>
                  <a:lnTo>
                    <a:pt x="247" y="1379"/>
                  </a:lnTo>
                  <a:lnTo>
                    <a:pt x="287" y="1273"/>
                  </a:lnTo>
                  <a:lnTo>
                    <a:pt x="336" y="1220"/>
                  </a:lnTo>
                  <a:lnTo>
                    <a:pt x="389" y="1277"/>
                  </a:lnTo>
                  <a:lnTo>
                    <a:pt x="429" y="1432"/>
                  </a:lnTo>
                  <a:lnTo>
                    <a:pt x="420" y="1684"/>
                  </a:lnTo>
                  <a:lnTo>
                    <a:pt x="420" y="1723"/>
                  </a:lnTo>
                  <a:cubicBezTo>
                    <a:pt x="492" y="1747"/>
                    <a:pt x="532" y="1737"/>
                    <a:pt x="579" y="1723"/>
                  </a:cubicBezTo>
                  <a:cubicBezTo>
                    <a:pt x="756" y="1649"/>
                    <a:pt x="936" y="1579"/>
                    <a:pt x="1096" y="1547"/>
                  </a:cubicBezTo>
                  <a:cubicBezTo>
                    <a:pt x="1145" y="1538"/>
                    <a:pt x="1113" y="1536"/>
                    <a:pt x="1255" y="1520"/>
                  </a:cubicBezTo>
                  <a:lnTo>
                    <a:pt x="1206" y="1193"/>
                  </a:lnTo>
                  <a:lnTo>
                    <a:pt x="1206" y="879"/>
                  </a:lnTo>
                  <a:lnTo>
                    <a:pt x="1233" y="632"/>
                  </a:lnTo>
                  <a:lnTo>
                    <a:pt x="1357" y="376"/>
                  </a:lnTo>
                  <a:lnTo>
                    <a:pt x="1427" y="194"/>
                  </a:lnTo>
                  <a:cubicBezTo>
                    <a:pt x="1360" y="125"/>
                    <a:pt x="1305" y="49"/>
                    <a:pt x="1206" y="0"/>
                  </a:cubicBezTo>
                  <a:lnTo>
                    <a:pt x="1096" y="208"/>
                  </a:lnTo>
                  <a:lnTo>
                    <a:pt x="1021" y="305"/>
                  </a:lnTo>
                  <a:lnTo>
                    <a:pt x="981" y="437"/>
                  </a:lnTo>
                  <a:lnTo>
                    <a:pt x="862" y="729"/>
                  </a:lnTo>
                  <a:lnTo>
                    <a:pt x="451" y="654"/>
                  </a:lnTo>
                  <a:lnTo>
                    <a:pt x="163" y="769"/>
                  </a:lnTo>
                  <a:close/>
                </a:path>
              </a:pathLst>
            </a:custGeom>
            <a:solidFill>
              <a:srgbClr val="962A22"/>
            </a:solidFill>
            <a:ln w="6350" cap="flat">
              <a:solidFill>
                <a:srgbClr val="962A22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3" name="Freeform 7"/>
            <p:cNvSpPr>
              <a:spLocks/>
            </p:cNvSpPr>
            <p:nvPr/>
          </p:nvSpPr>
          <p:spPr bwMode="auto">
            <a:xfrm>
              <a:off x="1737156" y="5792905"/>
              <a:ext cx="387350" cy="165100"/>
            </a:xfrm>
            <a:custGeom>
              <a:avLst/>
              <a:gdLst>
                <a:gd name="T0" fmla="*/ 0 w 795"/>
                <a:gd name="T1" fmla="*/ 330 h 339"/>
                <a:gd name="T2" fmla="*/ 223 w 795"/>
                <a:gd name="T3" fmla="*/ 275 h 339"/>
                <a:gd name="T4" fmla="*/ 765 w 795"/>
                <a:gd name="T5" fmla="*/ 97 h 339"/>
                <a:gd name="T6" fmla="*/ 795 w 795"/>
                <a:gd name="T7" fmla="*/ 0 h 339"/>
                <a:gd name="T8" fmla="*/ 204 w 795"/>
                <a:gd name="T9" fmla="*/ 240 h 339"/>
                <a:gd name="T10" fmla="*/ 0 w 795"/>
                <a:gd name="T11" fmla="*/ 330 h 3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95" h="339">
                  <a:moveTo>
                    <a:pt x="0" y="330"/>
                  </a:moveTo>
                  <a:cubicBezTo>
                    <a:pt x="35" y="339"/>
                    <a:pt x="134" y="317"/>
                    <a:pt x="223" y="275"/>
                  </a:cubicBezTo>
                  <a:cubicBezTo>
                    <a:pt x="441" y="170"/>
                    <a:pt x="708" y="60"/>
                    <a:pt x="765" y="97"/>
                  </a:cubicBezTo>
                  <a:lnTo>
                    <a:pt x="795" y="0"/>
                  </a:lnTo>
                  <a:cubicBezTo>
                    <a:pt x="662" y="11"/>
                    <a:pt x="469" y="85"/>
                    <a:pt x="204" y="240"/>
                  </a:cubicBezTo>
                  <a:cubicBezTo>
                    <a:pt x="175" y="257"/>
                    <a:pt x="120" y="295"/>
                    <a:pt x="0" y="330"/>
                  </a:cubicBezTo>
                  <a:close/>
                </a:path>
              </a:pathLst>
            </a:custGeom>
            <a:solidFill>
              <a:srgbClr val="FFFFC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4" name="Freeform 8"/>
            <p:cNvSpPr>
              <a:spLocks/>
            </p:cNvSpPr>
            <p:nvPr/>
          </p:nvSpPr>
          <p:spPr bwMode="auto">
            <a:xfrm>
              <a:off x="1880031" y="5496043"/>
              <a:ext cx="33338" cy="153988"/>
            </a:xfrm>
            <a:custGeom>
              <a:avLst/>
              <a:gdLst>
                <a:gd name="T0" fmla="*/ 39 w 69"/>
                <a:gd name="T1" fmla="*/ 0 h 316"/>
                <a:gd name="T2" fmla="*/ 10 w 69"/>
                <a:gd name="T3" fmla="*/ 75 h 316"/>
                <a:gd name="T4" fmla="*/ 4 w 69"/>
                <a:gd name="T5" fmla="*/ 133 h 316"/>
                <a:gd name="T6" fmla="*/ 9 w 69"/>
                <a:gd name="T7" fmla="*/ 258 h 316"/>
                <a:gd name="T8" fmla="*/ 18 w 69"/>
                <a:gd name="T9" fmla="*/ 310 h 316"/>
                <a:gd name="T10" fmla="*/ 31 w 69"/>
                <a:gd name="T11" fmla="*/ 316 h 316"/>
                <a:gd name="T12" fmla="*/ 45 w 69"/>
                <a:gd name="T13" fmla="*/ 316 h 316"/>
                <a:gd name="T14" fmla="*/ 53 w 69"/>
                <a:gd name="T15" fmla="*/ 286 h 316"/>
                <a:gd name="T16" fmla="*/ 40 w 69"/>
                <a:gd name="T17" fmla="*/ 163 h 316"/>
                <a:gd name="T18" fmla="*/ 36 w 69"/>
                <a:gd name="T19" fmla="*/ 98 h 316"/>
                <a:gd name="T20" fmla="*/ 47 w 69"/>
                <a:gd name="T21" fmla="*/ 56 h 316"/>
                <a:gd name="T22" fmla="*/ 69 w 69"/>
                <a:gd name="T23" fmla="*/ 14 h 316"/>
                <a:gd name="T24" fmla="*/ 39 w 69"/>
                <a:gd name="T25" fmla="*/ 0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9" h="316">
                  <a:moveTo>
                    <a:pt x="39" y="0"/>
                  </a:moveTo>
                  <a:lnTo>
                    <a:pt x="10" y="75"/>
                  </a:lnTo>
                  <a:cubicBezTo>
                    <a:pt x="10" y="75"/>
                    <a:pt x="0" y="132"/>
                    <a:pt x="4" y="133"/>
                  </a:cubicBezTo>
                  <a:cubicBezTo>
                    <a:pt x="7" y="133"/>
                    <a:pt x="9" y="258"/>
                    <a:pt x="9" y="258"/>
                  </a:cubicBezTo>
                  <a:lnTo>
                    <a:pt x="18" y="310"/>
                  </a:lnTo>
                  <a:lnTo>
                    <a:pt x="31" y="316"/>
                  </a:lnTo>
                  <a:lnTo>
                    <a:pt x="45" y="316"/>
                  </a:lnTo>
                  <a:lnTo>
                    <a:pt x="53" y="286"/>
                  </a:lnTo>
                  <a:lnTo>
                    <a:pt x="40" y="163"/>
                  </a:lnTo>
                  <a:lnTo>
                    <a:pt x="36" y="98"/>
                  </a:lnTo>
                  <a:lnTo>
                    <a:pt x="47" y="56"/>
                  </a:lnTo>
                  <a:lnTo>
                    <a:pt x="69" y="1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C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5" name="Freeform 9"/>
            <p:cNvSpPr>
              <a:spLocks noEditPoints="1"/>
            </p:cNvSpPr>
            <p:nvPr/>
          </p:nvSpPr>
          <p:spPr bwMode="auto">
            <a:xfrm>
              <a:off x="1876856" y="5489693"/>
              <a:ext cx="41275" cy="166688"/>
            </a:xfrm>
            <a:custGeom>
              <a:avLst/>
              <a:gdLst>
                <a:gd name="T0" fmla="*/ 45 w 85"/>
                <a:gd name="T1" fmla="*/ 0 h 342"/>
                <a:gd name="T2" fmla="*/ 42 w 85"/>
                <a:gd name="T3" fmla="*/ 6 h 342"/>
                <a:gd name="T4" fmla="*/ 5 w 85"/>
                <a:gd name="T5" fmla="*/ 114 h 342"/>
                <a:gd name="T6" fmla="*/ 13 w 85"/>
                <a:gd name="T7" fmla="*/ 318 h 342"/>
                <a:gd name="T8" fmla="*/ 14 w 85"/>
                <a:gd name="T9" fmla="*/ 318 h 342"/>
                <a:gd name="T10" fmla="*/ 14 w 85"/>
                <a:gd name="T11" fmla="*/ 318 h 342"/>
                <a:gd name="T12" fmla="*/ 26 w 85"/>
                <a:gd name="T13" fmla="*/ 338 h 342"/>
                <a:gd name="T14" fmla="*/ 49 w 85"/>
                <a:gd name="T15" fmla="*/ 339 h 342"/>
                <a:gd name="T16" fmla="*/ 63 w 85"/>
                <a:gd name="T17" fmla="*/ 317 h 342"/>
                <a:gd name="T18" fmla="*/ 49 w 85"/>
                <a:gd name="T19" fmla="*/ 174 h 342"/>
                <a:gd name="T20" fmla="*/ 48 w 85"/>
                <a:gd name="T21" fmla="*/ 117 h 342"/>
                <a:gd name="T22" fmla="*/ 81 w 85"/>
                <a:gd name="T23" fmla="*/ 28 h 342"/>
                <a:gd name="T24" fmla="*/ 85 w 85"/>
                <a:gd name="T25" fmla="*/ 22 h 342"/>
                <a:gd name="T26" fmla="*/ 79 w 85"/>
                <a:gd name="T27" fmla="*/ 19 h 342"/>
                <a:gd name="T28" fmla="*/ 50 w 85"/>
                <a:gd name="T29" fmla="*/ 3 h 342"/>
                <a:gd name="T30" fmla="*/ 45 w 85"/>
                <a:gd name="T31" fmla="*/ 0 h 342"/>
                <a:gd name="T32" fmla="*/ 50 w 85"/>
                <a:gd name="T33" fmla="*/ 17 h 342"/>
                <a:gd name="T34" fmla="*/ 67 w 85"/>
                <a:gd name="T35" fmla="*/ 27 h 342"/>
                <a:gd name="T36" fmla="*/ 35 w 85"/>
                <a:gd name="T37" fmla="*/ 115 h 342"/>
                <a:gd name="T38" fmla="*/ 50 w 85"/>
                <a:gd name="T39" fmla="*/ 318 h 342"/>
                <a:gd name="T40" fmla="*/ 41 w 85"/>
                <a:gd name="T41" fmla="*/ 327 h 342"/>
                <a:gd name="T42" fmla="*/ 26 w 85"/>
                <a:gd name="T43" fmla="*/ 316 h 342"/>
                <a:gd name="T44" fmla="*/ 17 w 85"/>
                <a:gd name="T45" fmla="*/ 118 h 342"/>
                <a:gd name="T46" fmla="*/ 50 w 85"/>
                <a:gd name="T47" fmla="*/ 17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85" h="342">
                  <a:moveTo>
                    <a:pt x="45" y="0"/>
                  </a:moveTo>
                  <a:lnTo>
                    <a:pt x="42" y="6"/>
                  </a:lnTo>
                  <a:cubicBezTo>
                    <a:pt x="20" y="50"/>
                    <a:pt x="7" y="101"/>
                    <a:pt x="5" y="114"/>
                  </a:cubicBezTo>
                  <a:cubicBezTo>
                    <a:pt x="0" y="154"/>
                    <a:pt x="5" y="266"/>
                    <a:pt x="13" y="318"/>
                  </a:cubicBezTo>
                  <a:lnTo>
                    <a:pt x="14" y="318"/>
                  </a:lnTo>
                  <a:lnTo>
                    <a:pt x="14" y="318"/>
                  </a:lnTo>
                  <a:cubicBezTo>
                    <a:pt x="16" y="328"/>
                    <a:pt x="21" y="334"/>
                    <a:pt x="26" y="338"/>
                  </a:cubicBezTo>
                  <a:cubicBezTo>
                    <a:pt x="31" y="342"/>
                    <a:pt x="43" y="342"/>
                    <a:pt x="49" y="339"/>
                  </a:cubicBezTo>
                  <a:cubicBezTo>
                    <a:pt x="60" y="332"/>
                    <a:pt x="61" y="328"/>
                    <a:pt x="63" y="317"/>
                  </a:cubicBezTo>
                  <a:cubicBezTo>
                    <a:pt x="63" y="311"/>
                    <a:pt x="54" y="228"/>
                    <a:pt x="49" y="174"/>
                  </a:cubicBezTo>
                  <a:cubicBezTo>
                    <a:pt x="46" y="139"/>
                    <a:pt x="47" y="128"/>
                    <a:pt x="48" y="117"/>
                  </a:cubicBezTo>
                  <a:cubicBezTo>
                    <a:pt x="50" y="94"/>
                    <a:pt x="61" y="58"/>
                    <a:pt x="81" y="28"/>
                  </a:cubicBezTo>
                  <a:lnTo>
                    <a:pt x="85" y="22"/>
                  </a:lnTo>
                  <a:lnTo>
                    <a:pt x="79" y="19"/>
                  </a:lnTo>
                  <a:lnTo>
                    <a:pt x="50" y="3"/>
                  </a:lnTo>
                  <a:lnTo>
                    <a:pt x="45" y="0"/>
                  </a:lnTo>
                  <a:close/>
                  <a:moveTo>
                    <a:pt x="50" y="17"/>
                  </a:moveTo>
                  <a:lnTo>
                    <a:pt x="67" y="27"/>
                  </a:lnTo>
                  <a:cubicBezTo>
                    <a:pt x="45" y="59"/>
                    <a:pt x="41" y="78"/>
                    <a:pt x="35" y="115"/>
                  </a:cubicBezTo>
                  <a:cubicBezTo>
                    <a:pt x="30" y="136"/>
                    <a:pt x="49" y="269"/>
                    <a:pt x="50" y="318"/>
                  </a:cubicBezTo>
                  <a:cubicBezTo>
                    <a:pt x="50" y="323"/>
                    <a:pt x="46" y="326"/>
                    <a:pt x="41" y="327"/>
                  </a:cubicBezTo>
                  <a:cubicBezTo>
                    <a:pt x="32" y="327"/>
                    <a:pt x="27" y="321"/>
                    <a:pt x="26" y="316"/>
                  </a:cubicBezTo>
                  <a:cubicBezTo>
                    <a:pt x="15" y="240"/>
                    <a:pt x="16" y="124"/>
                    <a:pt x="17" y="118"/>
                  </a:cubicBezTo>
                  <a:cubicBezTo>
                    <a:pt x="19" y="98"/>
                    <a:pt x="33" y="47"/>
                    <a:pt x="50" y="17"/>
                  </a:cubicBezTo>
                  <a:close/>
                </a:path>
              </a:pathLst>
            </a:custGeom>
            <a:solidFill>
              <a:srgbClr val="D0D0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6" name="Freeform 10"/>
            <p:cNvSpPr>
              <a:spLocks/>
            </p:cNvSpPr>
            <p:nvPr/>
          </p:nvSpPr>
          <p:spPr bwMode="auto">
            <a:xfrm>
              <a:off x="1930831" y="5489693"/>
              <a:ext cx="34925" cy="166688"/>
            </a:xfrm>
            <a:custGeom>
              <a:avLst/>
              <a:gdLst>
                <a:gd name="T0" fmla="*/ 0 w 71"/>
                <a:gd name="T1" fmla="*/ 16 h 341"/>
                <a:gd name="T2" fmla="*/ 41 w 71"/>
                <a:gd name="T3" fmla="*/ 117 h 341"/>
                <a:gd name="T4" fmla="*/ 20 w 71"/>
                <a:gd name="T5" fmla="*/ 309 h 341"/>
                <a:gd name="T6" fmla="*/ 56 w 71"/>
                <a:gd name="T7" fmla="*/ 308 h 341"/>
                <a:gd name="T8" fmla="*/ 71 w 71"/>
                <a:gd name="T9" fmla="*/ 110 h 341"/>
                <a:gd name="T10" fmla="*/ 29 w 71"/>
                <a:gd name="T11" fmla="*/ 0 h 341"/>
                <a:gd name="T12" fmla="*/ 0 w 71"/>
                <a:gd name="T13" fmla="*/ 16 h 3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341">
                  <a:moveTo>
                    <a:pt x="0" y="16"/>
                  </a:moveTo>
                  <a:cubicBezTo>
                    <a:pt x="20" y="46"/>
                    <a:pt x="41" y="91"/>
                    <a:pt x="41" y="117"/>
                  </a:cubicBezTo>
                  <a:cubicBezTo>
                    <a:pt x="39" y="248"/>
                    <a:pt x="28" y="246"/>
                    <a:pt x="20" y="309"/>
                  </a:cubicBezTo>
                  <a:cubicBezTo>
                    <a:pt x="19" y="326"/>
                    <a:pt x="48" y="341"/>
                    <a:pt x="56" y="308"/>
                  </a:cubicBezTo>
                  <a:cubicBezTo>
                    <a:pt x="70" y="225"/>
                    <a:pt x="71" y="157"/>
                    <a:pt x="71" y="110"/>
                  </a:cubicBezTo>
                  <a:cubicBezTo>
                    <a:pt x="64" y="67"/>
                    <a:pt x="45" y="34"/>
                    <a:pt x="29" y="0"/>
                  </a:cubicBezTo>
                  <a:lnTo>
                    <a:pt x="0" y="16"/>
                  </a:lnTo>
                  <a:close/>
                </a:path>
              </a:pathLst>
            </a:custGeom>
            <a:solidFill>
              <a:srgbClr val="FFFFCB"/>
            </a:solidFill>
            <a:ln w="6350" cap="flat">
              <a:solidFill>
                <a:srgbClr val="D0D08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7" name="Freeform 11"/>
            <p:cNvSpPr>
              <a:spLocks/>
            </p:cNvSpPr>
            <p:nvPr/>
          </p:nvSpPr>
          <p:spPr bwMode="auto">
            <a:xfrm>
              <a:off x="1594281" y="5027730"/>
              <a:ext cx="412750" cy="390525"/>
            </a:xfrm>
            <a:custGeom>
              <a:avLst/>
              <a:gdLst>
                <a:gd name="T0" fmla="*/ 437 w 842"/>
                <a:gd name="T1" fmla="*/ 1 h 801"/>
                <a:gd name="T2" fmla="*/ 317 w 842"/>
                <a:gd name="T3" fmla="*/ 20 h 801"/>
                <a:gd name="T4" fmla="*/ 3 w 842"/>
                <a:gd name="T5" fmla="*/ 429 h 801"/>
                <a:gd name="T6" fmla="*/ 86 w 842"/>
                <a:gd name="T7" fmla="*/ 702 h 801"/>
                <a:gd name="T8" fmla="*/ 225 w 842"/>
                <a:gd name="T9" fmla="*/ 792 h 801"/>
                <a:gd name="T10" fmla="*/ 277 w 842"/>
                <a:gd name="T11" fmla="*/ 789 h 801"/>
                <a:gd name="T12" fmla="*/ 148 w 842"/>
                <a:gd name="T13" fmla="*/ 700 h 801"/>
                <a:gd name="T14" fmla="*/ 55 w 842"/>
                <a:gd name="T15" fmla="*/ 439 h 801"/>
                <a:gd name="T16" fmla="*/ 127 w 842"/>
                <a:gd name="T17" fmla="*/ 215 h 801"/>
                <a:gd name="T18" fmla="*/ 328 w 842"/>
                <a:gd name="T19" fmla="*/ 65 h 801"/>
                <a:gd name="T20" fmla="*/ 706 w 842"/>
                <a:gd name="T21" fmla="*/ 176 h 801"/>
                <a:gd name="T22" fmla="*/ 750 w 842"/>
                <a:gd name="T23" fmla="*/ 558 h 801"/>
                <a:gd name="T24" fmla="*/ 605 w 842"/>
                <a:gd name="T25" fmla="*/ 801 h 801"/>
                <a:gd name="T26" fmla="*/ 658 w 842"/>
                <a:gd name="T27" fmla="*/ 751 h 801"/>
                <a:gd name="T28" fmla="*/ 790 w 842"/>
                <a:gd name="T29" fmla="*/ 538 h 801"/>
                <a:gd name="T30" fmla="*/ 738 w 842"/>
                <a:gd name="T31" fmla="*/ 157 h 801"/>
                <a:gd name="T32" fmla="*/ 437 w 842"/>
                <a:gd name="T33" fmla="*/ 1 h 8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42" h="801">
                  <a:moveTo>
                    <a:pt x="437" y="1"/>
                  </a:moveTo>
                  <a:cubicBezTo>
                    <a:pt x="397" y="2"/>
                    <a:pt x="357" y="8"/>
                    <a:pt x="317" y="20"/>
                  </a:cubicBezTo>
                  <a:cubicBezTo>
                    <a:pt x="160" y="69"/>
                    <a:pt x="7" y="207"/>
                    <a:pt x="3" y="429"/>
                  </a:cubicBezTo>
                  <a:cubicBezTo>
                    <a:pt x="1" y="536"/>
                    <a:pt x="0" y="587"/>
                    <a:pt x="86" y="702"/>
                  </a:cubicBezTo>
                  <a:cubicBezTo>
                    <a:pt x="116" y="742"/>
                    <a:pt x="159" y="777"/>
                    <a:pt x="225" y="792"/>
                  </a:cubicBezTo>
                  <a:lnTo>
                    <a:pt x="277" y="789"/>
                  </a:lnTo>
                  <a:cubicBezTo>
                    <a:pt x="219" y="753"/>
                    <a:pt x="172" y="728"/>
                    <a:pt x="148" y="700"/>
                  </a:cubicBezTo>
                  <a:cubicBezTo>
                    <a:pt x="59" y="596"/>
                    <a:pt x="53" y="543"/>
                    <a:pt x="55" y="439"/>
                  </a:cubicBezTo>
                  <a:cubicBezTo>
                    <a:pt x="57" y="348"/>
                    <a:pt x="88" y="272"/>
                    <a:pt x="127" y="215"/>
                  </a:cubicBezTo>
                  <a:cubicBezTo>
                    <a:pt x="178" y="138"/>
                    <a:pt x="246" y="90"/>
                    <a:pt x="328" y="65"/>
                  </a:cubicBezTo>
                  <a:cubicBezTo>
                    <a:pt x="472" y="21"/>
                    <a:pt x="631" y="52"/>
                    <a:pt x="706" y="176"/>
                  </a:cubicBezTo>
                  <a:cubicBezTo>
                    <a:pt x="756" y="260"/>
                    <a:pt x="802" y="395"/>
                    <a:pt x="750" y="558"/>
                  </a:cubicBezTo>
                  <a:cubicBezTo>
                    <a:pt x="728" y="623"/>
                    <a:pt x="660" y="715"/>
                    <a:pt x="605" y="801"/>
                  </a:cubicBezTo>
                  <a:lnTo>
                    <a:pt x="658" y="751"/>
                  </a:lnTo>
                  <a:cubicBezTo>
                    <a:pt x="715" y="680"/>
                    <a:pt x="765" y="620"/>
                    <a:pt x="790" y="538"/>
                  </a:cubicBezTo>
                  <a:cubicBezTo>
                    <a:pt x="842" y="362"/>
                    <a:pt x="792" y="248"/>
                    <a:pt x="738" y="157"/>
                  </a:cubicBezTo>
                  <a:cubicBezTo>
                    <a:pt x="674" y="51"/>
                    <a:pt x="558" y="0"/>
                    <a:pt x="43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8" name="Freeform 12"/>
            <p:cNvSpPr>
              <a:spLocks/>
            </p:cNvSpPr>
            <p:nvPr/>
          </p:nvSpPr>
          <p:spPr bwMode="auto">
            <a:xfrm>
              <a:off x="1495856" y="4959468"/>
              <a:ext cx="781050" cy="1508125"/>
            </a:xfrm>
            <a:custGeom>
              <a:avLst/>
              <a:gdLst>
                <a:gd name="T0" fmla="*/ 1337 w 1596"/>
                <a:gd name="T1" fmla="*/ 119 h 3084"/>
                <a:gd name="T2" fmla="*/ 843 w 1596"/>
                <a:gd name="T3" fmla="*/ 884 h 3084"/>
                <a:gd name="T4" fmla="*/ 1074 w 1596"/>
                <a:gd name="T5" fmla="*/ 659 h 3084"/>
                <a:gd name="T6" fmla="*/ 1443 w 1596"/>
                <a:gd name="T7" fmla="*/ 62 h 3084"/>
                <a:gd name="T8" fmla="*/ 1534 w 1596"/>
                <a:gd name="T9" fmla="*/ 60 h 3084"/>
                <a:gd name="T10" fmla="*/ 1432 w 1596"/>
                <a:gd name="T11" fmla="*/ 563 h 3084"/>
                <a:gd name="T12" fmla="*/ 1223 w 1596"/>
                <a:gd name="T13" fmla="*/ 1138 h 3084"/>
                <a:gd name="T14" fmla="*/ 1212 w 1596"/>
                <a:gd name="T15" fmla="*/ 1557 h 3084"/>
                <a:gd name="T16" fmla="*/ 1300 w 1596"/>
                <a:gd name="T17" fmla="*/ 2502 h 3084"/>
                <a:gd name="T18" fmla="*/ 1164 w 1596"/>
                <a:gd name="T19" fmla="*/ 3023 h 3084"/>
                <a:gd name="T20" fmla="*/ 1025 w 1596"/>
                <a:gd name="T21" fmla="*/ 2455 h 3084"/>
                <a:gd name="T22" fmla="*/ 905 w 1596"/>
                <a:gd name="T23" fmla="*/ 2136 h 3084"/>
                <a:gd name="T24" fmla="*/ 851 w 1596"/>
                <a:gd name="T25" fmla="*/ 2167 h 3084"/>
                <a:gd name="T26" fmla="*/ 618 w 1596"/>
                <a:gd name="T27" fmla="*/ 3020 h 3084"/>
                <a:gd name="T28" fmla="*/ 567 w 1596"/>
                <a:gd name="T29" fmla="*/ 3030 h 3084"/>
                <a:gd name="T30" fmla="*/ 489 w 1596"/>
                <a:gd name="T31" fmla="*/ 2842 h 3084"/>
                <a:gd name="T32" fmla="*/ 437 w 1596"/>
                <a:gd name="T33" fmla="*/ 1615 h 3084"/>
                <a:gd name="T34" fmla="*/ 363 w 1596"/>
                <a:gd name="T35" fmla="*/ 1555 h 3084"/>
                <a:gd name="T36" fmla="*/ 360 w 1596"/>
                <a:gd name="T37" fmla="*/ 1557 h 3084"/>
                <a:gd name="T38" fmla="*/ 246 w 1596"/>
                <a:gd name="T39" fmla="*/ 1791 h 3084"/>
                <a:gd name="T40" fmla="*/ 163 w 1596"/>
                <a:gd name="T41" fmla="*/ 2157 h 3084"/>
                <a:gd name="T42" fmla="*/ 121 w 1596"/>
                <a:gd name="T43" fmla="*/ 2156 h 3084"/>
                <a:gd name="T44" fmla="*/ 82 w 1596"/>
                <a:gd name="T45" fmla="*/ 2081 h 3084"/>
                <a:gd name="T46" fmla="*/ 305 w 1596"/>
                <a:gd name="T47" fmla="*/ 1017 h 3084"/>
                <a:gd name="T48" fmla="*/ 278 w 1596"/>
                <a:gd name="T49" fmla="*/ 997 h 3084"/>
                <a:gd name="T50" fmla="*/ 40 w 1596"/>
                <a:gd name="T51" fmla="*/ 2105 h 3084"/>
                <a:gd name="T52" fmla="*/ 132 w 1596"/>
                <a:gd name="T53" fmla="*/ 2209 h 3084"/>
                <a:gd name="T54" fmla="*/ 261 w 1596"/>
                <a:gd name="T55" fmla="*/ 1984 h 3084"/>
                <a:gd name="T56" fmla="*/ 334 w 1596"/>
                <a:gd name="T57" fmla="*/ 1623 h 3084"/>
                <a:gd name="T58" fmla="*/ 373 w 1596"/>
                <a:gd name="T59" fmla="*/ 1589 h 3084"/>
                <a:gd name="T60" fmla="*/ 426 w 1596"/>
                <a:gd name="T61" fmla="*/ 1788 h 3084"/>
                <a:gd name="T62" fmla="*/ 488 w 1596"/>
                <a:gd name="T63" fmla="*/ 3017 h 3084"/>
                <a:gd name="T64" fmla="*/ 638 w 1596"/>
                <a:gd name="T65" fmla="*/ 3065 h 3084"/>
                <a:gd name="T66" fmla="*/ 891 w 1596"/>
                <a:gd name="T67" fmla="*/ 2186 h 3084"/>
                <a:gd name="T68" fmla="*/ 987 w 1596"/>
                <a:gd name="T69" fmla="*/ 2456 h 3084"/>
                <a:gd name="T70" fmla="*/ 1115 w 1596"/>
                <a:gd name="T71" fmla="*/ 3065 h 3084"/>
                <a:gd name="T72" fmla="*/ 1176 w 1596"/>
                <a:gd name="T73" fmla="*/ 3071 h 3084"/>
                <a:gd name="T74" fmla="*/ 1337 w 1596"/>
                <a:gd name="T75" fmla="*/ 2504 h 3084"/>
                <a:gd name="T76" fmla="*/ 1260 w 1596"/>
                <a:gd name="T77" fmla="*/ 1564 h 3084"/>
                <a:gd name="T78" fmla="*/ 1282 w 1596"/>
                <a:gd name="T79" fmla="*/ 994 h 3084"/>
                <a:gd name="T80" fmla="*/ 1319 w 1596"/>
                <a:gd name="T81" fmla="*/ 893 h 3084"/>
                <a:gd name="T82" fmla="*/ 1591 w 1596"/>
                <a:gd name="T83" fmla="*/ 79 h 3084"/>
                <a:gd name="T84" fmla="*/ 1532 w 1596"/>
                <a:gd name="T85" fmla="*/ 1 h 30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596" h="3084">
                  <a:moveTo>
                    <a:pt x="1524" y="0"/>
                  </a:moveTo>
                  <a:cubicBezTo>
                    <a:pt x="1483" y="1"/>
                    <a:pt x="1451" y="14"/>
                    <a:pt x="1419" y="33"/>
                  </a:cubicBezTo>
                  <a:cubicBezTo>
                    <a:pt x="1388" y="53"/>
                    <a:pt x="1361" y="83"/>
                    <a:pt x="1337" y="119"/>
                  </a:cubicBezTo>
                  <a:cubicBezTo>
                    <a:pt x="1288" y="190"/>
                    <a:pt x="1248" y="287"/>
                    <a:pt x="1196" y="390"/>
                  </a:cubicBezTo>
                  <a:cubicBezTo>
                    <a:pt x="1131" y="516"/>
                    <a:pt x="1060" y="620"/>
                    <a:pt x="982" y="720"/>
                  </a:cubicBezTo>
                  <a:cubicBezTo>
                    <a:pt x="938" y="777"/>
                    <a:pt x="897" y="845"/>
                    <a:pt x="843" y="884"/>
                  </a:cubicBezTo>
                  <a:lnTo>
                    <a:pt x="809" y="936"/>
                  </a:lnTo>
                  <a:cubicBezTo>
                    <a:pt x="846" y="909"/>
                    <a:pt x="899" y="857"/>
                    <a:pt x="935" y="822"/>
                  </a:cubicBezTo>
                  <a:cubicBezTo>
                    <a:pt x="989" y="768"/>
                    <a:pt x="1025" y="726"/>
                    <a:pt x="1074" y="659"/>
                  </a:cubicBezTo>
                  <a:cubicBezTo>
                    <a:pt x="1133" y="578"/>
                    <a:pt x="1186" y="491"/>
                    <a:pt x="1229" y="407"/>
                  </a:cubicBezTo>
                  <a:cubicBezTo>
                    <a:pt x="1282" y="303"/>
                    <a:pt x="1323" y="206"/>
                    <a:pt x="1368" y="140"/>
                  </a:cubicBezTo>
                  <a:cubicBezTo>
                    <a:pt x="1390" y="107"/>
                    <a:pt x="1418" y="78"/>
                    <a:pt x="1443" y="62"/>
                  </a:cubicBezTo>
                  <a:cubicBezTo>
                    <a:pt x="1464" y="50"/>
                    <a:pt x="1473" y="46"/>
                    <a:pt x="1501" y="45"/>
                  </a:cubicBezTo>
                  <a:cubicBezTo>
                    <a:pt x="1506" y="45"/>
                    <a:pt x="1514" y="47"/>
                    <a:pt x="1519" y="49"/>
                  </a:cubicBezTo>
                  <a:cubicBezTo>
                    <a:pt x="1524" y="52"/>
                    <a:pt x="1529" y="54"/>
                    <a:pt x="1534" y="60"/>
                  </a:cubicBezTo>
                  <a:cubicBezTo>
                    <a:pt x="1540" y="66"/>
                    <a:pt x="1548" y="76"/>
                    <a:pt x="1550" y="92"/>
                  </a:cubicBezTo>
                  <a:cubicBezTo>
                    <a:pt x="1554" y="122"/>
                    <a:pt x="1551" y="167"/>
                    <a:pt x="1542" y="218"/>
                  </a:cubicBezTo>
                  <a:cubicBezTo>
                    <a:pt x="1524" y="320"/>
                    <a:pt x="1482" y="450"/>
                    <a:pt x="1432" y="563"/>
                  </a:cubicBezTo>
                  <a:cubicBezTo>
                    <a:pt x="1376" y="687"/>
                    <a:pt x="1318" y="775"/>
                    <a:pt x="1287" y="884"/>
                  </a:cubicBezTo>
                  <a:cubicBezTo>
                    <a:pt x="1286" y="885"/>
                    <a:pt x="1284" y="888"/>
                    <a:pt x="1284" y="889"/>
                  </a:cubicBezTo>
                  <a:cubicBezTo>
                    <a:pt x="1264" y="918"/>
                    <a:pt x="1231" y="1028"/>
                    <a:pt x="1223" y="1138"/>
                  </a:cubicBezTo>
                  <a:cubicBezTo>
                    <a:pt x="1214" y="1251"/>
                    <a:pt x="1201" y="1379"/>
                    <a:pt x="1210" y="1532"/>
                  </a:cubicBezTo>
                  <a:lnTo>
                    <a:pt x="1211" y="1548"/>
                  </a:lnTo>
                  <a:lnTo>
                    <a:pt x="1212" y="1557"/>
                  </a:lnTo>
                  <a:cubicBezTo>
                    <a:pt x="1237" y="1751"/>
                    <a:pt x="1259" y="1880"/>
                    <a:pt x="1281" y="2054"/>
                  </a:cubicBezTo>
                  <a:cubicBezTo>
                    <a:pt x="1299" y="2191"/>
                    <a:pt x="1300" y="2324"/>
                    <a:pt x="1302" y="2445"/>
                  </a:cubicBezTo>
                  <a:cubicBezTo>
                    <a:pt x="1302" y="2446"/>
                    <a:pt x="1300" y="2501"/>
                    <a:pt x="1300" y="2502"/>
                  </a:cubicBezTo>
                  <a:cubicBezTo>
                    <a:pt x="1291" y="2632"/>
                    <a:pt x="1286" y="2740"/>
                    <a:pt x="1261" y="2843"/>
                  </a:cubicBezTo>
                  <a:cubicBezTo>
                    <a:pt x="1249" y="2895"/>
                    <a:pt x="1241" y="2940"/>
                    <a:pt x="1224" y="2973"/>
                  </a:cubicBezTo>
                  <a:cubicBezTo>
                    <a:pt x="1208" y="3004"/>
                    <a:pt x="1186" y="3017"/>
                    <a:pt x="1164" y="3023"/>
                  </a:cubicBezTo>
                  <a:cubicBezTo>
                    <a:pt x="1127" y="3021"/>
                    <a:pt x="1098" y="2992"/>
                    <a:pt x="1076" y="2952"/>
                  </a:cubicBezTo>
                  <a:cubicBezTo>
                    <a:pt x="1054" y="2910"/>
                    <a:pt x="1040" y="2856"/>
                    <a:pt x="1033" y="2797"/>
                  </a:cubicBezTo>
                  <a:cubicBezTo>
                    <a:pt x="1018" y="2679"/>
                    <a:pt x="1028" y="2545"/>
                    <a:pt x="1025" y="2455"/>
                  </a:cubicBezTo>
                  <a:cubicBezTo>
                    <a:pt x="1023" y="2392"/>
                    <a:pt x="1001" y="2290"/>
                    <a:pt x="972" y="2232"/>
                  </a:cubicBezTo>
                  <a:cubicBezTo>
                    <a:pt x="958" y="2203"/>
                    <a:pt x="942" y="2178"/>
                    <a:pt x="927" y="2159"/>
                  </a:cubicBezTo>
                  <a:cubicBezTo>
                    <a:pt x="920" y="2150"/>
                    <a:pt x="913" y="2142"/>
                    <a:pt x="905" y="2136"/>
                  </a:cubicBezTo>
                  <a:cubicBezTo>
                    <a:pt x="897" y="2130"/>
                    <a:pt x="873" y="2128"/>
                    <a:pt x="861" y="2128"/>
                  </a:cubicBezTo>
                  <a:lnTo>
                    <a:pt x="855" y="2153"/>
                  </a:lnTo>
                  <a:lnTo>
                    <a:pt x="851" y="2167"/>
                  </a:lnTo>
                  <a:cubicBezTo>
                    <a:pt x="816" y="2323"/>
                    <a:pt x="770" y="2596"/>
                    <a:pt x="733" y="2745"/>
                  </a:cubicBezTo>
                  <a:cubicBezTo>
                    <a:pt x="711" y="2836"/>
                    <a:pt x="686" y="2925"/>
                    <a:pt x="659" y="2980"/>
                  </a:cubicBezTo>
                  <a:cubicBezTo>
                    <a:pt x="646" y="3007"/>
                    <a:pt x="622" y="3017"/>
                    <a:pt x="618" y="3020"/>
                  </a:cubicBezTo>
                  <a:cubicBezTo>
                    <a:pt x="610" y="3024"/>
                    <a:pt x="612" y="3023"/>
                    <a:pt x="593" y="3028"/>
                  </a:cubicBezTo>
                  <a:lnTo>
                    <a:pt x="578" y="3030"/>
                  </a:lnTo>
                  <a:lnTo>
                    <a:pt x="567" y="3030"/>
                  </a:lnTo>
                  <a:cubicBezTo>
                    <a:pt x="561" y="3029"/>
                    <a:pt x="558" y="3029"/>
                    <a:pt x="550" y="3025"/>
                  </a:cubicBezTo>
                  <a:cubicBezTo>
                    <a:pt x="543" y="3021"/>
                    <a:pt x="537" y="3014"/>
                    <a:pt x="528" y="2998"/>
                  </a:cubicBezTo>
                  <a:cubicBezTo>
                    <a:pt x="511" y="2969"/>
                    <a:pt x="496" y="2912"/>
                    <a:pt x="489" y="2842"/>
                  </a:cubicBezTo>
                  <a:cubicBezTo>
                    <a:pt x="474" y="2703"/>
                    <a:pt x="473" y="2509"/>
                    <a:pt x="473" y="2316"/>
                  </a:cubicBezTo>
                  <a:cubicBezTo>
                    <a:pt x="472" y="2122"/>
                    <a:pt x="474" y="1928"/>
                    <a:pt x="463" y="1785"/>
                  </a:cubicBezTo>
                  <a:cubicBezTo>
                    <a:pt x="458" y="1714"/>
                    <a:pt x="450" y="1656"/>
                    <a:pt x="437" y="1615"/>
                  </a:cubicBezTo>
                  <a:cubicBezTo>
                    <a:pt x="430" y="1595"/>
                    <a:pt x="422" y="1579"/>
                    <a:pt x="409" y="1567"/>
                  </a:cubicBezTo>
                  <a:cubicBezTo>
                    <a:pt x="397" y="1556"/>
                    <a:pt x="379" y="1552"/>
                    <a:pt x="363" y="1556"/>
                  </a:cubicBezTo>
                  <a:lnTo>
                    <a:pt x="363" y="1555"/>
                  </a:lnTo>
                  <a:cubicBezTo>
                    <a:pt x="362" y="1555"/>
                    <a:pt x="362" y="1556"/>
                    <a:pt x="361" y="1556"/>
                  </a:cubicBezTo>
                  <a:cubicBezTo>
                    <a:pt x="361" y="1556"/>
                    <a:pt x="360" y="1556"/>
                    <a:pt x="360" y="1556"/>
                  </a:cubicBezTo>
                  <a:lnTo>
                    <a:pt x="360" y="1557"/>
                  </a:lnTo>
                  <a:cubicBezTo>
                    <a:pt x="334" y="1562"/>
                    <a:pt x="314" y="1577"/>
                    <a:pt x="301" y="1594"/>
                  </a:cubicBezTo>
                  <a:cubicBezTo>
                    <a:pt x="288" y="1612"/>
                    <a:pt x="282" y="1631"/>
                    <a:pt x="276" y="1644"/>
                  </a:cubicBezTo>
                  <a:cubicBezTo>
                    <a:pt x="261" y="1679"/>
                    <a:pt x="253" y="1731"/>
                    <a:pt x="246" y="1791"/>
                  </a:cubicBezTo>
                  <a:cubicBezTo>
                    <a:pt x="239" y="1851"/>
                    <a:pt x="233" y="1918"/>
                    <a:pt x="224" y="1979"/>
                  </a:cubicBezTo>
                  <a:cubicBezTo>
                    <a:pt x="215" y="2039"/>
                    <a:pt x="203" y="2094"/>
                    <a:pt x="187" y="2126"/>
                  </a:cubicBezTo>
                  <a:cubicBezTo>
                    <a:pt x="179" y="2143"/>
                    <a:pt x="170" y="2153"/>
                    <a:pt x="163" y="2157"/>
                  </a:cubicBezTo>
                  <a:cubicBezTo>
                    <a:pt x="155" y="2161"/>
                    <a:pt x="150" y="2166"/>
                    <a:pt x="136" y="2163"/>
                  </a:cubicBezTo>
                  <a:lnTo>
                    <a:pt x="128" y="2160"/>
                  </a:lnTo>
                  <a:lnTo>
                    <a:pt x="121" y="2156"/>
                  </a:lnTo>
                  <a:cubicBezTo>
                    <a:pt x="121" y="2156"/>
                    <a:pt x="119" y="2155"/>
                    <a:pt x="117" y="2154"/>
                  </a:cubicBezTo>
                  <a:cubicBezTo>
                    <a:pt x="115" y="2152"/>
                    <a:pt x="114" y="2149"/>
                    <a:pt x="110" y="2143"/>
                  </a:cubicBezTo>
                  <a:cubicBezTo>
                    <a:pt x="101" y="2131"/>
                    <a:pt x="91" y="2110"/>
                    <a:pt x="82" y="2081"/>
                  </a:cubicBezTo>
                  <a:cubicBezTo>
                    <a:pt x="65" y="2024"/>
                    <a:pt x="51" y="1939"/>
                    <a:pt x="46" y="1839"/>
                  </a:cubicBezTo>
                  <a:cubicBezTo>
                    <a:pt x="38" y="1638"/>
                    <a:pt x="68" y="1375"/>
                    <a:pt x="181" y="1144"/>
                  </a:cubicBezTo>
                  <a:cubicBezTo>
                    <a:pt x="207" y="1089"/>
                    <a:pt x="254" y="1045"/>
                    <a:pt x="305" y="1017"/>
                  </a:cubicBezTo>
                  <a:cubicBezTo>
                    <a:pt x="355" y="990"/>
                    <a:pt x="457" y="942"/>
                    <a:pt x="520" y="915"/>
                  </a:cubicBezTo>
                  <a:lnTo>
                    <a:pt x="445" y="920"/>
                  </a:lnTo>
                  <a:cubicBezTo>
                    <a:pt x="377" y="950"/>
                    <a:pt x="332" y="967"/>
                    <a:pt x="278" y="997"/>
                  </a:cubicBezTo>
                  <a:cubicBezTo>
                    <a:pt x="224" y="1026"/>
                    <a:pt x="178" y="1065"/>
                    <a:pt x="147" y="1128"/>
                  </a:cubicBezTo>
                  <a:cubicBezTo>
                    <a:pt x="31" y="1366"/>
                    <a:pt x="0" y="1634"/>
                    <a:pt x="9" y="1840"/>
                  </a:cubicBezTo>
                  <a:cubicBezTo>
                    <a:pt x="13" y="1943"/>
                    <a:pt x="21" y="2043"/>
                    <a:pt x="40" y="2105"/>
                  </a:cubicBezTo>
                  <a:cubicBezTo>
                    <a:pt x="50" y="2136"/>
                    <a:pt x="60" y="2162"/>
                    <a:pt x="73" y="2179"/>
                  </a:cubicBezTo>
                  <a:cubicBezTo>
                    <a:pt x="79" y="2188"/>
                    <a:pt x="92" y="2197"/>
                    <a:pt x="101" y="2203"/>
                  </a:cubicBezTo>
                  <a:cubicBezTo>
                    <a:pt x="108" y="2206"/>
                    <a:pt x="123" y="2210"/>
                    <a:pt x="132" y="2209"/>
                  </a:cubicBezTo>
                  <a:cubicBezTo>
                    <a:pt x="150" y="2209"/>
                    <a:pt x="161" y="2206"/>
                    <a:pt x="178" y="2198"/>
                  </a:cubicBezTo>
                  <a:cubicBezTo>
                    <a:pt x="195" y="2188"/>
                    <a:pt x="211" y="2163"/>
                    <a:pt x="221" y="2143"/>
                  </a:cubicBezTo>
                  <a:cubicBezTo>
                    <a:pt x="241" y="2103"/>
                    <a:pt x="252" y="2046"/>
                    <a:pt x="261" y="1984"/>
                  </a:cubicBezTo>
                  <a:cubicBezTo>
                    <a:pt x="270" y="1922"/>
                    <a:pt x="280" y="1861"/>
                    <a:pt x="287" y="1802"/>
                  </a:cubicBezTo>
                  <a:cubicBezTo>
                    <a:pt x="294" y="1743"/>
                    <a:pt x="303" y="1692"/>
                    <a:pt x="315" y="1665"/>
                  </a:cubicBezTo>
                  <a:cubicBezTo>
                    <a:pt x="321" y="1651"/>
                    <a:pt x="325" y="1636"/>
                    <a:pt x="334" y="1623"/>
                  </a:cubicBezTo>
                  <a:cubicBezTo>
                    <a:pt x="343" y="1611"/>
                    <a:pt x="354" y="1591"/>
                    <a:pt x="372" y="1588"/>
                  </a:cubicBezTo>
                  <a:lnTo>
                    <a:pt x="371" y="1589"/>
                  </a:lnTo>
                  <a:lnTo>
                    <a:pt x="373" y="1589"/>
                  </a:lnTo>
                  <a:cubicBezTo>
                    <a:pt x="379" y="1586"/>
                    <a:pt x="379" y="1589"/>
                    <a:pt x="383" y="1594"/>
                  </a:cubicBezTo>
                  <a:cubicBezTo>
                    <a:pt x="388" y="1598"/>
                    <a:pt x="395" y="1610"/>
                    <a:pt x="401" y="1627"/>
                  </a:cubicBezTo>
                  <a:cubicBezTo>
                    <a:pt x="413" y="1662"/>
                    <a:pt x="421" y="1718"/>
                    <a:pt x="426" y="1788"/>
                  </a:cubicBezTo>
                  <a:cubicBezTo>
                    <a:pt x="436" y="1928"/>
                    <a:pt x="435" y="2122"/>
                    <a:pt x="435" y="2315"/>
                  </a:cubicBezTo>
                  <a:cubicBezTo>
                    <a:pt x="435" y="2509"/>
                    <a:pt x="436" y="2703"/>
                    <a:pt x="451" y="2846"/>
                  </a:cubicBezTo>
                  <a:cubicBezTo>
                    <a:pt x="459" y="2917"/>
                    <a:pt x="470" y="2976"/>
                    <a:pt x="488" y="3017"/>
                  </a:cubicBezTo>
                  <a:cubicBezTo>
                    <a:pt x="497" y="3038"/>
                    <a:pt x="507" y="3054"/>
                    <a:pt x="522" y="3065"/>
                  </a:cubicBezTo>
                  <a:cubicBezTo>
                    <a:pt x="535" y="3076"/>
                    <a:pt x="551" y="3082"/>
                    <a:pt x="568" y="3082"/>
                  </a:cubicBezTo>
                  <a:cubicBezTo>
                    <a:pt x="593" y="3084"/>
                    <a:pt x="618" y="3079"/>
                    <a:pt x="638" y="3065"/>
                  </a:cubicBezTo>
                  <a:cubicBezTo>
                    <a:pt x="660" y="3050"/>
                    <a:pt x="677" y="3027"/>
                    <a:pt x="692" y="2998"/>
                  </a:cubicBezTo>
                  <a:cubicBezTo>
                    <a:pt x="723" y="2939"/>
                    <a:pt x="746" y="2855"/>
                    <a:pt x="768" y="2760"/>
                  </a:cubicBezTo>
                  <a:cubicBezTo>
                    <a:pt x="809" y="2578"/>
                    <a:pt x="871" y="2339"/>
                    <a:pt x="891" y="2186"/>
                  </a:cubicBezTo>
                  <a:cubicBezTo>
                    <a:pt x="894" y="2189"/>
                    <a:pt x="905" y="2201"/>
                    <a:pt x="909" y="2205"/>
                  </a:cubicBezTo>
                  <a:cubicBezTo>
                    <a:pt x="921" y="2221"/>
                    <a:pt x="931" y="2243"/>
                    <a:pt x="944" y="2270"/>
                  </a:cubicBezTo>
                  <a:cubicBezTo>
                    <a:pt x="971" y="2325"/>
                    <a:pt x="986" y="2402"/>
                    <a:pt x="987" y="2456"/>
                  </a:cubicBezTo>
                  <a:cubicBezTo>
                    <a:pt x="990" y="2542"/>
                    <a:pt x="981" y="2679"/>
                    <a:pt x="996" y="2802"/>
                  </a:cubicBezTo>
                  <a:cubicBezTo>
                    <a:pt x="1004" y="2863"/>
                    <a:pt x="1021" y="2940"/>
                    <a:pt x="1047" y="2988"/>
                  </a:cubicBezTo>
                  <a:cubicBezTo>
                    <a:pt x="1065" y="3021"/>
                    <a:pt x="1085" y="3051"/>
                    <a:pt x="1115" y="3065"/>
                  </a:cubicBezTo>
                  <a:cubicBezTo>
                    <a:pt x="1129" y="3071"/>
                    <a:pt x="1129" y="3070"/>
                    <a:pt x="1146" y="3075"/>
                  </a:cubicBezTo>
                  <a:lnTo>
                    <a:pt x="1164" y="3074"/>
                  </a:lnTo>
                  <a:lnTo>
                    <a:pt x="1176" y="3071"/>
                  </a:lnTo>
                  <a:cubicBezTo>
                    <a:pt x="1211" y="3058"/>
                    <a:pt x="1237" y="3029"/>
                    <a:pt x="1257" y="2990"/>
                  </a:cubicBezTo>
                  <a:cubicBezTo>
                    <a:pt x="1276" y="2952"/>
                    <a:pt x="1290" y="2904"/>
                    <a:pt x="1300" y="2849"/>
                  </a:cubicBezTo>
                  <a:cubicBezTo>
                    <a:pt x="1321" y="2741"/>
                    <a:pt x="1328" y="2635"/>
                    <a:pt x="1337" y="2504"/>
                  </a:cubicBezTo>
                  <a:lnTo>
                    <a:pt x="1338" y="2476"/>
                  </a:lnTo>
                  <a:lnTo>
                    <a:pt x="1338" y="2475"/>
                  </a:lnTo>
                  <a:cubicBezTo>
                    <a:pt x="1356" y="2123"/>
                    <a:pt x="1301" y="1901"/>
                    <a:pt x="1260" y="1564"/>
                  </a:cubicBezTo>
                  <a:cubicBezTo>
                    <a:pt x="1258" y="1556"/>
                    <a:pt x="1258" y="1537"/>
                    <a:pt x="1258" y="1537"/>
                  </a:cubicBezTo>
                  <a:cubicBezTo>
                    <a:pt x="1249" y="1386"/>
                    <a:pt x="1251" y="1247"/>
                    <a:pt x="1259" y="1137"/>
                  </a:cubicBezTo>
                  <a:cubicBezTo>
                    <a:pt x="1263" y="1083"/>
                    <a:pt x="1273" y="1033"/>
                    <a:pt x="1282" y="994"/>
                  </a:cubicBezTo>
                  <a:cubicBezTo>
                    <a:pt x="1292" y="954"/>
                    <a:pt x="1298" y="934"/>
                    <a:pt x="1315" y="905"/>
                  </a:cubicBezTo>
                  <a:lnTo>
                    <a:pt x="1317" y="899"/>
                  </a:lnTo>
                  <a:lnTo>
                    <a:pt x="1319" y="893"/>
                  </a:lnTo>
                  <a:cubicBezTo>
                    <a:pt x="1349" y="790"/>
                    <a:pt x="1414" y="710"/>
                    <a:pt x="1471" y="582"/>
                  </a:cubicBezTo>
                  <a:cubicBezTo>
                    <a:pt x="1523" y="466"/>
                    <a:pt x="1565" y="329"/>
                    <a:pt x="1583" y="222"/>
                  </a:cubicBezTo>
                  <a:cubicBezTo>
                    <a:pt x="1593" y="169"/>
                    <a:pt x="1596" y="116"/>
                    <a:pt x="1591" y="79"/>
                  </a:cubicBezTo>
                  <a:cubicBezTo>
                    <a:pt x="1588" y="60"/>
                    <a:pt x="1579" y="42"/>
                    <a:pt x="1570" y="28"/>
                  </a:cubicBezTo>
                  <a:cubicBezTo>
                    <a:pt x="1562" y="15"/>
                    <a:pt x="1546" y="5"/>
                    <a:pt x="1536" y="2"/>
                  </a:cubicBezTo>
                  <a:lnTo>
                    <a:pt x="1532" y="1"/>
                  </a:lnTo>
                  <a:lnTo>
                    <a:pt x="1529" y="0"/>
                  </a:lnTo>
                  <a:lnTo>
                    <a:pt x="15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2" name="Freeform 13"/>
            <p:cNvSpPr>
              <a:spLocks/>
            </p:cNvSpPr>
            <p:nvPr/>
          </p:nvSpPr>
          <p:spPr bwMode="auto">
            <a:xfrm>
              <a:off x="1551418" y="5354755"/>
              <a:ext cx="369888" cy="138113"/>
            </a:xfrm>
            <a:custGeom>
              <a:avLst/>
              <a:gdLst>
                <a:gd name="T0" fmla="*/ 758 w 758"/>
                <a:gd name="T1" fmla="*/ 265 h 282"/>
                <a:gd name="T2" fmla="*/ 659 w 758"/>
                <a:gd name="T3" fmla="*/ 173 h 282"/>
                <a:gd name="T4" fmla="*/ 489 w 758"/>
                <a:gd name="T5" fmla="*/ 89 h 282"/>
                <a:gd name="T6" fmla="*/ 241 w 758"/>
                <a:gd name="T7" fmla="*/ 13 h 282"/>
                <a:gd name="T8" fmla="*/ 164 w 758"/>
                <a:gd name="T9" fmla="*/ 0 h 282"/>
                <a:gd name="T10" fmla="*/ 73 w 758"/>
                <a:gd name="T11" fmla="*/ 55 h 282"/>
                <a:gd name="T12" fmla="*/ 0 w 758"/>
                <a:gd name="T13" fmla="*/ 164 h 282"/>
                <a:gd name="T14" fmla="*/ 5 w 758"/>
                <a:gd name="T15" fmla="*/ 279 h 282"/>
                <a:gd name="T16" fmla="*/ 285 w 758"/>
                <a:gd name="T17" fmla="*/ 230 h 282"/>
                <a:gd name="T18" fmla="*/ 473 w 758"/>
                <a:gd name="T19" fmla="*/ 226 h 282"/>
                <a:gd name="T20" fmla="*/ 754 w 758"/>
                <a:gd name="T21" fmla="*/ 282 h 282"/>
                <a:gd name="T22" fmla="*/ 758 w 758"/>
                <a:gd name="T23" fmla="*/ 265 h 2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58" h="282">
                  <a:moveTo>
                    <a:pt x="758" y="265"/>
                  </a:moveTo>
                  <a:lnTo>
                    <a:pt x="659" y="173"/>
                  </a:lnTo>
                  <a:lnTo>
                    <a:pt x="489" y="89"/>
                  </a:lnTo>
                  <a:lnTo>
                    <a:pt x="241" y="13"/>
                  </a:lnTo>
                  <a:lnTo>
                    <a:pt x="164" y="0"/>
                  </a:lnTo>
                  <a:lnTo>
                    <a:pt x="73" y="55"/>
                  </a:lnTo>
                  <a:lnTo>
                    <a:pt x="0" y="164"/>
                  </a:lnTo>
                  <a:lnTo>
                    <a:pt x="5" y="279"/>
                  </a:lnTo>
                  <a:lnTo>
                    <a:pt x="285" y="230"/>
                  </a:lnTo>
                  <a:lnTo>
                    <a:pt x="473" y="226"/>
                  </a:lnTo>
                  <a:lnTo>
                    <a:pt x="754" y="282"/>
                  </a:lnTo>
                  <a:lnTo>
                    <a:pt x="758" y="265"/>
                  </a:lnTo>
                  <a:close/>
                </a:path>
              </a:pathLst>
            </a:custGeom>
            <a:solidFill>
              <a:srgbClr val="A1BD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3" name="Freeform 14"/>
            <p:cNvSpPr>
              <a:spLocks noEditPoints="1"/>
            </p:cNvSpPr>
            <p:nvPr/>
          </p:nvSpPr>
          <p:spPr bwMode="auto">
            <a:xfrm>
              <a:off x="1560943" y="5375393"/>
              <a:ext cx="130175" cy="111125"/>
            </a:xfrm>
            <a:custGeom>
              <a:avLst/>
              <a:gdLst>
                <a:gd name="T0" fmla="*/ 10 w 266"/>
                <a:gd name="T1" fmla="*/ 227 h 229"/>
                <a:gd name="T2" fmla="*/ 3 w 266"/>
                <a:gd name="T3" fmla="*/ 217 h 229"/>
                <a:gd name="T4" fmla="*/ 5 w 266"/>
                <a:gd name="T5" fmla="*/ 155 h 229"/>
                <a:gd name="T6" fmla="*/ 56 w 266"/>
                <a:gd name="T7" fmla="*/ 64 h 229"/>
                <a:gd name="T8" fmla="*/ 143 w 266"/>
                <a:gd name="T9" fmla="*/ 1 h 229"/>
                <a:gd name="T10" fmla="*/ 152 w 266"/>
                <a:gd name="T11" fmla="*/ 6 h 229"/>
                <a:gd name="T12" fmla="*/ 158 w 266"/>
                <a:gd name="T13" fmla="*/ 13 h 229"/>
                <a:gd name="T14" fmla="*/ 165 w 266"/>
                <a:gd name="T15" fmla="*/ 20 h 229"/>
                <a:gd name="T16" fmla="*/ 172 w 266"/>
                <a:gd name="T17" fmla="*/ 27 h 229"/>
                <a:gd name="T18" fmla="*/ 178 w 266"/>
                <a:gd name="T19" fmla="*/ 32 h 229"/>
                <a:gd name="T20" fmla="*/ 190 w 266"/>
                <a:gd name="T21" fmla="*/ 38 h 229"/>
                <a:gd name="T22" fmla="*/ 203 w 266"/>
                <a:gd name="T23" fmla="*/ 44 h 229"/>
                <a:gd name="T24" fmla="*/ 209 w 266"/>
                <a:gd name="T25" fmla="*/ 51 h 229"/>
                <a:gd name="T26" fmla="*/ 216 w 266"/>
                <a:gd name="T27" fmla="*/ 58 h 229"/>
                <a:gd name="T28" fmla="*/ 221 w 266"/>
                <a:gd name="T29" fmla="*/ 64 h 229"/>
                <a:gd name="T30" fmla="*/ 227 w 266"/>
                <a:gd name="T31" fmla="*/ 70 h 229"/>
                <a:gd name="T32" fmla="*/ 240 w 266"/>
                <a:gd name="T33" fmla="*/ 75 h 229"/>
                <a:gd name="T34" fmla="*/ 253 w 266"/>
                <a:gd name="T35" fmla="*/ 82 h 229"/>
                <a:gd name="T36" fmla="*/ 261 w 266"/>
                <a:gd name="T37" fmla="*/ 89 h 229"/>
                <a:gd name="T38" fmla="*/ 245 w 266"/>
                <a:gd name="T39" fmla="*/ 99 h 229"/>
                <a:gd name="T40" fmla="*/ 117 w 266"/>
                <a:gd name="T41" fmla="*/ 163 h 229"/>
                <a:gd name="T42" fmla="*/ 77 w 266"/>
                <a:gd name="T43" fmla="*/ 194 h 229"/>
                <a:gd name="T44" fmla="*/ 55 w 266"/>
                <a:gd name="T45" fmla="*/ 212 h 229"/>
                <a:gd name="T46" fmla="*/ 52 w 266"/>
                <a:gd name="T47" fmla="*/ 214 h 229"/>
                <a:gd name="T48" fmla="*/ 33 w 266"/>
                <a:gd name="T49" fmla="*/ 223 h 229"/>
                <a:gd name="T50" fmla="*/ 10 w 266"/>
                <a:gd name="T51" fmla="*/ 227 h 229"/>
                <a:gd name="T52" fmla="*/ 28 w 266"/>
                <a:gd name="T53" fmla="*/ 193 h 229"/>
                <a:gd name="T54" fmla="*/ 22 w 266"/>
                <a:gd name="T55" fmla="*/ 188 h 229"/>
                <a:gd name="T56" fmla="*/ 17 w 266"/>
                <a:gd name="T57" fmla="*/ 193 h 229"/>
                <a:gd name="T58" fmla="*/ 22 w 266"/>
                <a:gd name="T59" fmla="*/ 199 h 229"/>
                <a:gd name="T60" fmla="*/ 28 w 266"/>
                <a:gd name="T61" fmla="*/ 193 h 229"/>
                <a:gd name="T62" fmla="*/ 141 w 266"/>
                <a:gd name="T63" fmla="*/ 94 h 229"/>
                <a:gd name="T64" fmla="*/ 134 w 266"/>
                <a:gd name="T65" fmla="*/ 88 h 229"/>
                <a:gd name="T66" fmla="*/ 127 w 266"/>
                <a:gd name="T67" fmla="*/ 94 h 229"/>
                <a:gd name="T68" fmla="*/ 134 w 266"/>
                <a:gd name="T69" fmla="*/ 100 h 229"/>
                <a:gd name="T70" fmla="*/ 141 w 266"/>
                <a:gd name="T71" fmla="*/ 94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66" h="229">
                  <a:moveTo>
                    <a:pt x="10" y="227"/>
                  </a:moveTo>
                  <a:cubicBezTo>
                    <a:pt x="6" y="226"/>
                    <a:pt x="4" y="223"/>
                    <a:pt x="3" y="217"/>
                  </a:cubicBezTo>
                  <a:cubicBezTo>
                    <a:pt x="0" y="202"/>
                    <a:pt x="1" y="169"/>
                    <a:pt x="5" y="155"/>
                  </a:cubicBezTo>
                  <a:cubicBezTo>
                    <a:pt x="11" y="128"/>
                    <a:pt x="33" y="89"/>
                    <a:pt x="56" y="64"/>
                  </a:cubicBezTo>
                  <a:cubicBezTo>
                    <a:pt x="77" y="41"/>
                    <a:pt x="129" y="2"/>
                    <a:pt x="143" y="1"/>
                  </a:cubicBezTo>
                  <a:cubicBezTo>
                    <a:pt x="151" y="0"/>
                    <a:pt x="152" y="0"/>
                    <a:pt x="152" y="6"/>
                  </a:cubicBezTo>
                  <a:cubicBezTo>
                    <a:pt x="152" y="13"/>
                    <a:pt x="152" y="13"/>
                    <a:pt x="158" y="13"/>
                  </a:cubicBezTo>
                  <a:cubicBezTo>
                    <a:pt x="164" y="13"/>
                    <a:pt x="165" y="14"/>
                    <a:pt x="165" y="20"/>
                  </a:cubicBezTo>
                  <a:cubicBezTo>
                    <a:pt x="165" y="26"/>
                    <a:pt x="166" y="27"/>
                    <a:pt x="172" y="27"/>
                  </a:cubicBezTo>
                  <a:cubicBezTo>
                    <a:pt x="177" y="27"/>
                    <a:pt x="178" y="27"/>
                    <a:pt x="178" y="32"/>
                  </a:cubicBezTo>
                  <a:cubicBezTo>
                    <a:pt x="178" y="37"/>
                    <a:pt x="179" y="38"/>
                    <a:pt x="190" y="38"/>
                  </a:cubicBezTo>
                  <a:cubicBezTo>
                    <a:pt x="202" y="38"/>
                    <a:pt x="203" y="38"/>
                    <a:pt x="203" y="44"/>
                  </a:cubicBezTo>
                  <a:cubicBezTo>
                    <a:pt x="203" y="50"/>
                    <a:pt x="203" y="51"/>
                    <a:pt x="209" y="51"/>
                  </a:cubicBezTo>
                  <a:cubicBezTo>
                    <a:pt x="215" y="51"/>
                    <a:pt x="216" y="52"/>
                    <a:pt x="216" y="58"/>
                  </a:cubicBezTo>
                  <a:cubicBezTo>
                    <a:pt x="216" y="63"/>
                    <a:pt x="217" y="64"/>
                    <a:pt x="221" y="64"/>
                  </a:cubicBezTo>
                  <a:cubicBezTo>
                    <a:pt x="226" y="64"/>
                    <a:pt x="227" y="65"/>
                    <a:pt x="227" y="70"/>
                  </a:cubicBezTo>
                  <a:cubicBezTo>
                    <a:pt x="227" y="75"/>
                    <a:pt x="227" y="75"/>
                    <a:pt x="240" y="75"/>
                  </a:cubicBezTo>
                  <a:cubicBezTo>
                    <a:pt x="253" y="75"/>
                    <a:pt x="253" y="75"/>
                    <a:pt x="253" y="82"/>
                  </a:cubicBezTo>
                  <a:cubicBezTo>
                    <a:pt x="253" y="88"/>
                    <a:pt x="254" y="88"/>
                    <a:pt x="261" y="89"/>
                  </a:cubicBezTo>
                  <a:cubicBezTo>
                    <a:pt x="266" y="89"/>
                    <a:pt x="263" y="91"/>
                    <a:pt x="245" y="99"/>
                  </a:cubicBezTo>
                  <a:cubicBezTo>
                    <a:pt x="204" y="116"/>
                    <a:pt x="138" y="149"/>
                    <a:pt x="117" y="163"/>
                  </a:cubicBezTo>
                  <a:cubicBezTo>
                    <a:pt x="106" y="171"/>
                    <a:pt x="88" y="185"/>
                    <a:pt x="77" y="194"/>
                  </a:cubicBezTo>
                  <a:cubicBezTo>
                    <a:pt x="66" y="204"/>
                    <a:pt x="56" y="212"/>
                    <a:pt x="55" y="212"/>
                  </a:cubicBezTo>
                  <a:cubicBezTo>
                    <a:pt x="54" y="212"/>
                    <a:pt x="52" y="213"/>
                    <a:pt x="52" y="214"/>
                  </a:cubicBezTo>
                  <a:cubicBezTo>
                    <a:pt x="51" y="215"/>
                    <a:pt x="43" y="219"/>
                    <a:pt x="33" y="223"/>
                  </a:cubicBezTo>
                  <a:cubicBezTo>
                    <a:pt x="20" y="228"/>
                    <a:pt x="14" y="229"/>
                    <a:pt x="10" y="227"/>
                  </a:cubicBezTo>
                  <a:close/>
                  <a:moveTo>
                    <a:pt x="28" y="193"/>
                  </a:moveTo>
                  <a:cubicBezTo>
                    <a:pt x="28" y="189"/>
                    <a:pt x="27" y="188"/>
                    <a:pt x="22" y="188"/>
                  </a:cubicBezTo>
                  <a:cubicBezTo>
                    <a:pt x="18" y="188"/>
                    <a:pt x="17" y="189"/>
                    <a:pt x="17" y="193"/>
                  </a:cubicBezTo>
                  <a:cubicBezTo>
                    <a:pt x="17" y="198"/>
                    <a:pt x="18" y="199"/>
                    <a:pt x="22" y="199"/>
                  </a:cubicBezTo>
                  <a:cubicBezTo>
                    <a:pt x="27" y="199"/>
                    <a:pt x="28" y="198"/>
                    <a:pt x="28" y="193"/>
                  </a:cubicBezTo>
                  <a:close/>
                  <a:moveTo>
                    <a:pt x="141" y="94"/>
                  </a:moveTo>
                  <a:cubicBezTo>
                    <a:pt x="141" y="89"/>
                    <a:pt x="140" y="88"/>
                    <a:pt x="134" y="88"/>
                  </a:cubicBezTo>
                  <a:cubicBezTo>
                    <a:pt x="128" y="88"/>
                    <a:pt x="127" y="89"/>
                    <a:pt x="127" y="94"/>
                  </a:cubicBezTo>
                  <a:cubicBezTo>
                    <a:pt x="127" y="99"/>
                    <a:pt x="128" y="100"/>
                    <a:pt x="134" y="100"/>
                  </a:cubicBezTo>
                  <a:cubicBezTo>
                    <a:pt x="140" y="100"/>
                    <a:pt x="141" y="99"/>
                    <a:pt x="141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4" name="Freeform 15"/>
            <p:cNvSpPr>
              <a:spLocks/>
            </p:cNvSpPr>
            <p:nvPr/>
          </p:nvSpPr>
          <p:spPr bwMode="auto">
            <a:xfrm>
              <a:off x="1930831" y="5276968"/>
              <a:ext cx="74613" cy="193675"/>
            </a:xfrm>
            <a:custGeom>
              <a:avLst/>
              <a:gdLst>
                <a:gd name="T0" fmla="*/ 0 w 154"/>
                <a:gd name="T1" fmla="*/ 398 h 398"/>
                <a:gd name="T2" fmla="*/ 1 w 154"/>
                <a:gd name="T3" fmla="*/ 333 h 398"/>
                <a:gd name="T4" fmla="*/ 46 w 154"/>
                <a:gd name="T5" fmla="*/ 203 h 398"/>
                <a:gd name="T6" fmla="*/ 73 w 154"/>
                <a:gd name="T7" fmla="*/ 102 h 398"/>
                <a:gd name="T8" fmla="*/ 108 w 154"/>
                <a:gd name="T9" fmla="*/ 16 h 398"/>
                <a:gd name="T10" fmla="*/ 137 w 154"/>
                <a:gd name="T11" fmla="*/ 0 h 398"/>
                <a:gd name="T12" fmla="*/ 154 w 154"/>
                <a:gd name="T13" fmla="*/ 95 h 398"/>
                <a:gd name="T14" fmla="*/ 82 w 154"/>
                <a:gd name="T15" fmla="*/ 276 h 398"/>
                <a:gd name="T16" fmla="*/ 38 w 154"/>
                <a:gd name="T17" fmla="*/ 350 h 398"/>
                <a:gd name="T18" fmla="*/ 0 w 154"/>
                <a:gd name="T19" fmla="*/ 398 h 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4" h="398">
                  <a:moveTo>
                    <a:pt x="0" y="398"/>
                  </a:moveTo>
                  <a:lnTo>
                    <a:pt x="1" y="333"/>
                  </a:lnTo>
                  <a:lnTo>
                    <a:pt x="46" y="203"/>
                  </a:lnTo>
                  <a:lnTo>
                    <a:pt x="73" y="102"/>
                  </a:lnTo>
                  <a:lnTo>
                    <a:pt x="108" y="16"/>
                  </a:lnTo>
                  <a:lnTo>
                    <a:pt x="137" y="0"/>
                  </a:lnTo>
                  <a:lnTo>
                    <a:pt x="154" y="95"/>
                  </a:lnTo>
                  <a:lnTo>
                    <a:pt x="82" y="276"/>
                  </a:lnTo>
                  <a:lnTo>
                    <a:pt x="38" y="350"/>
                  </a:lnTo>
                  <a:lnTo>
                    <a:pt x="0" y="398"/>
                  </a:lnTo>
                  <a:close/>
                </a:path>
              </a:pathLst>
            </a:custGeom>
            <a:solidFill>
              <a:srgbClr val="A1BD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5" name="Freeform 16"/>
            <p:cNvSpPr>
              <a:spLocks/>
            </p:cNvSpPr>
            <p:nvPr/>
          </p:nvSpPr>
          <p:spPr bwMode="auto">
            <a:xfrm>
              <a:off x="1559356" y="5359518"/>
              <a:ext cx="368300" cy="144463"/>
            </a:xfrm>
            <a:custGeom>
              <a:avLst/>
              <a:gdLst>
                <a:gd name="T0" fmla="*/ 751 w 751"/>
                <a:gd name="T1" fmla="*/ 278 h 296"/>
                <a:gd name="T2" fmla="*/ 137 w 751"/>
                <a:gd name="T3" fmla="*/ 0 h 296"/>
                <a:gd name="T4" fmla="*/ 0 w 751"/>
                <a:gd name="T5" fmla="*/ 296 h 296"/>
                <a:gd name="T6" fmla="*/ 751 w 751"/>
                <a:gd name="T7" fmla="*/ 278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1" h="296">
                  <a:moveTo>
                    <a:pt x="751" y="278"/>
                  </a:moveTo>
                  <a:lnTo>
                    <a:pt x="137" y="0"/>
                  </a:lnTo>
                  <a:lnTo>
                    <a:pt x="0" y="296"/>
                  </a:lnTo>
                  <a:lnTo>
                    <a:pt x="751" y="278"/>
                  </a:lnTo>
                  <a:close/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6" name="Freeform 17"/>
            <p:cNvSpPr>
              <a:spLocks/>
            </p:cNvSpPr>
            <p:nvPr/>
          </p:nvSpPr>
          <p:spPr bwMode="auto">
            <a:xfrm>
              <a:off x="1494268" y="5372218"/>
              <a:ext cx="439738" cy="122238"/>
            </a:xfrm>
            <a:custGeom>
              <a:avLst/>
              <a:gdLst>
                <a:gd name="T0" fmla="*/ 894 w 898"/>
                <a:gd name="T1" fmla="*/ 221 h 251"/>
                <a:gd name="T2" fmla="*/ 266 w 898"/>
                <a:gd name="T3" fmla="*/ 0 h 251"/>
                <a:gd name="T4" fmla="*/ 134 w 898"/>
                <a:gd name="T5" fmla="*/ 247 h 251"/>
                <a:gd name="T6" fmla="*/ 894 w 898"/>
                <a:gd name="T7" fmla="*/ 221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98" h="251">
                  <a:moveTo>
                    <a:pt x="894" y="221"/>
                  </a:moveTo>
                  <a:cubicBezTo>
                    <a:pt x="898" y="251"/>
                    <a:pt x="266" y="0"/>
                    <a:pt x="266" y="0"/>
                  </a:cubicBezTo>
                  <a:cubicBezTo>
                    <a:pt x="0" y="41"/>
                    <a:pt x="97" y="150"/>
                    <a:pt x="134" y="247"/>
                  </a:cubicBezTo>
                  <a:lnTo>
                    <a:pt x="894" y="221"/>
                  </a:lnTo>
                  <a:close/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7" name="Freeform 18"/>
            <p:cNvSpPr>
              <a:spLocks/>
            </p:cNvSpPr>
            <p:nvPr/>
          </p:nvSpPr>
          <p:spPr bwMode="auto">
            <a:xfrm>
              <a:off x="1813356" y="5234105"/>
              <a:ext cx="128588" cy="152400"/>
            </a:xfrm>
            <a:custGeom>
              <a:avLst/>
              <a:gdLst>
                <a:gd name="T0" fmla="*/ 9 w 265"/>
                <a:gd name="T1" fmla="*/ 0 h 314"/>
                <a:gd name="T2" fmla="*/ 265 w 265"/>
                <a:gd name="T3" fmla="*/ 163 h 314"/>
                <a:gd name="T4" fmla="*/ 0 w 265"/>
                <a:gd name="T5" fmla="*/ 314 h 3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65" h="314">
                  <a:moveTo>
                    <a:pt x="9" y="0"/>
                  </a:moveTo>
                  <a:cubicBezTo>
                    <a:pt x="40" y="305"/>
                    <a:pt x="265" y="163"/>
                    <a:pt x="265" y="163"/>
                  </a:cubicBezTo>
                  <a:lnTo>
                    <a:pt x="0" y="314"/>
                  </a:lnTo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8" name="Freeform 23"/>
            <p:cNvSpPr>
              <a:spLocks/>
            </p:cNvSpPr>
            <p:nvPr/>
          </p:nvSpPr>
          <p:spPr bwMode="auto">
            <a:xfrm>
              <a:off x="1553006" y="5278555"/>
              <a:ext cx="455613" cy="214313"/>
            </a:xfrm>
            <a:custGeom>
              <a:avLst/>
              <a:gdLst>
                <a:gd name="T0" fmla="*/ 746 w 932"/>
                <a:gd name="T1" fmla="*/ 384 h 437"/>
                <a:gd name="T2" fmla="*/ 145 w 932"/>
                <a:gd name="T3" fmla="*/ 150 h 437"/>
                <a:gd name="T4" fmla="*/ 0 w 932"/>
                <a:gd name="T5" fmla="*/ 437 h 437"/>
                <a:gd name="T6" fmla="*/ 742 w 932"/>
                <a:gd name="T7" fmla="*/ 433 h 437"/>
                <a:gd name="T8" fmla="*/ 932 w 932"/>
                <a:gd name="T9" fmla="*/ 0 h 437"/>
                <a:gd name="T10" fmla="*/ 875 w 932"/>
                <a:gd name="T11" fmla="*/ 0 h 437"/>
                <a:gd name="T12" fmla="*/ 746 w 932"/>
                <a:gd name="T13" fmla="*/ 384 h 4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32" h="437">
                  <a:moveTo>
                    <a:pt x="746" y="384"/>
                  </a:moveTo>
                  <a:lnTo>
                    <a:pt x="145" y="150"/>
                  </a:lnTo>
                  <a:lnTo>
                    <a:pt x="0" y="437"/>
                  </a:lnTo>
                  <a:lnTo>
                    <a:pt x="742" y="433"/>
                  </a:lnTo>
                  <a:lnTo>
                    <a:pt x="932" y="0"/>
                  </a:lnTo>
                  <a:lnTo>
                    <a:pt x="875" y="0"/>
                  </a:lnTo>
                  <a:lnTo>
                    <a:pt x="746" y="384"/>
                  </a:lnTo>
                  <a:close/>
                </a:path>
              </a:pathLst>
            </a:custGeom>
            <a:noFill/>
            <a:ln w="6350" cap="flat">
              <a:solidFill>
                <a:srgbClr val="A1BDA8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9" name="Freeform 24"/>
            <p:cNvSpPr>
              <a:spLocks noEditPoints="1"/>
            </p:cNvSpPr>
            <p:nvPr/>
          </p:nvSpPr>
          <p:spPr bwMode="auto">
            <a:xfrm>
              <a:off x="1538718" y="5262680"/>
              <a:ext cx="474663" cy="244475"/>
            </a:xfrm>
            <a:custGeom>
              <a:avLst/>
              <a:gdLst>
                <a:gd name="T0" fmla="*/ 929 w 973"/>
                <a:gd name="T1" fmla="*/ 14 h 501"/>
                <a:gd name="T2" fmla="*/ 916 w 973"/>
                <a:gd name="T3" fmla="*/ 14 h 501"/>
                <a:gd name="T4" fmla="*/ 897 w 973"/>
                <a:gd name="T5" fmla="*/ 76 h 501"/>
                <a:gd name="T6" fmla="*/ 871 w 973"/>
                <a:gd name="T7" fmla="*/ 134 h 501"/>
                <a:gd name="T8" fmla="*/ 860 w 973"/>
                <a:gd name="T9" fmla="*/ 165 h 501"/>
                <a:gd name="T10" fmla="*/ 845 w 973"/>
                <a:gd name="T11" fmla="*/ 200 h 501"/>
                <a:gd name="T12" fmla="*/ 839 w 973"/>
                <a:gd name="T13" fmla="*/ 214 h 501"/>
                <a:gd name="T14" fmla="*/ 772 w 973"/>
                <a:gd name="T15" fmla="*/ 417 h 501"/>
                <a:gd name="T16" fmla="*/ 190 w 973"/>
                <a:gd name="T17" fmla="*/ 188 h 501"/>
                <a:gd name="T18" fmla="*/ 173 w 973"/>
                <a:gd name="T19" fmla="*/ 190 h 501"/>
                <a:gd name="T20" fmla="*/ 162 w 973"/>
                <a:gd name="T21" fmla="*/ 195 h 501"/>
                <a:gd name="T22" fmla="*/ 43 w 973"/>
                <a:gd name="T23" fmla="*/ 302 h 501"/>
                <a:gd name="T24" fmla="*/ 9 w 973"/>
                <a:gd name="T25" fmla="*/ 471 h 501"/>
                <a:gd name="T26" fmla="*/ 21 w 973"/>
                <a:gd name="T27" fmla="*/ 490 h 501"/>
                <a:gd name="T28" fmla="*/ 38 w 973"/>
                <a:gd name="T29" fmla="*/ 497 h 501"/>
                <a:gd name="T30" fmla="*/ 72 w 973"/>
                <a:gd name="T31" fmla="*/ 497 h 501"/>
                <a:gd name="T32" fmla="*/ 769 w 973"/>
                <a:gd name="T33" fmla="*/ 496 h 501"/>
                <a:gd name="T34" fmla="*/ 776 w 973"/>
                <a:gd name="T35" fmla="*/ 500 h 501"/>
                <a:gd name="T36" fmla="*/ 784 w 973"/>
                <a:gd name="T37" fmla="*/ 498 h 501"/>
                <a:gd name="T38" fmla="*/ 819 w 973"/>
                <a:gd name="T39" fmla="*/ 484 h 501"/>
                <a:gd name="T40" fmla="*/ 826 w 973"/>
                <a:gd name="T41" fmla="*/ 482 h 501"/>
                <a:gd name="T42" fmla="*/ 830 w 973"/>
                <a:gd name="T43" fmla="*/ 475 h 501"/>
                <a:gd name="T44" fmla="*/ 929 w 973"/>
                <a:gd name="T45" fmla="*/ 232 h 501"/>
                <a:gd name="T46" fmla="*/ 973 w 973"/>
                <a:gd name="T47" fmla="*/ 56 h 501"/>
                <a:gd name="T48" fmla="*/ 973 w 973"/>
                <a:gd name="T49" fmla="*/ 50 h 501"/>
                <a:gd name="T50" fmla="*/ 969 w 973"/>
                <a:gd name="T51" fmla="*/ 45 h 501"/>
                <a:gd name="T52" fmla="*/ 944 w 973"/>
                <a:gd name="T53" fmla="*/ 19 h 501"/>
                <a:gd name="T54" fmla="*/ 929 w 973"/>
                <a:gd name="T55" fmla="*/ 14 h 501"/>
                <a:gd name="T56" fmla="*/ 925 w 973"/>
                <a:gd name="T57" fmla="*/ 52 h 501"/>
                <a:gd name="T58" fmla="*/ 934 w 973"/>
                <a:gd name="T59" fmla="*/ 62 h 501"/>
                <a:gd name="T60" fmla="*/ 894 w 973"/>
                <a:gd name="T61" fmla="*/ 219 h 501"/>
                <a:gd name="T62" fmla="*/ 808 w 973"/>
                <a:gd name="T63" fmla="*/ 404 h 501"/>
                <a:gd name="T64" fmla="*/ 914 w 973"/>
                <a:gd name="T65" fmla="*/ 64 h 501"/>
                <a:gd name="T66" fmla="*/ 925 w 973"/>
                <a:gd name="T67" fmla="*/ 52 h 501"/>
                <a:gd name="T68" fmla="*/ 195 w 973"/>
                <a:gd name="T69" fmla="*/ 229 h 501"/>
                <a:gd name="T70" fmla="*/ 781 w 973"/>
                <a:gd name="T71" fmla="*/ 460 h 501"/>
                <a:gd name="T72" fmla="*/ 62 w 973"/>
                <a:gd name="T73" fmla="*/ 461 h 501"/>
                <a:gd name="T74" fmla="*/ 48 w 973"/>
                <a:gd name="T75" fmla="*/ 457 h 501"/>
                <a:gd name="T76" fmla="*/ 46 w 973"/>
                <a:gd name="T77" fmla="*/ 443 h 501"/>
                <a:gd name="T78" fmla="*/ 76 w 973"/>
                <a:gd name="T79" fmla="*/ 325 h 501"/>
                <a:gd name="T80" fmla="*/ 180 w 973"/>
                <a:gd name="T81" fmla="*/ 232 h 501"/>
                <a:gd name="T82" fmla="*/ 195 w 973"/>
                <a:gd name="T83" fmla="*/ 229 h 5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973" h="501">
                  <a:moveTo>
                    <a:pt x="929" y="14"/>
                  </a:moveTo>
                  <a:cubicBezTo>
                    <a:pt x="923" y="13"/>
                    <a:pt x="921" y="13"/>
                    <a:pt x="916" y="14"/>
                  </a:cubicBezTo>
                  <a:cubicBezTo>
                    <a:pt x="919" y="0"/>
                    <a:pt x="909" y="36"/>
                    <a:pt x="897" y="76"/>
                  </a:cubicBezTo>
                  <a:cubicBezTo>
                    <a:pt x="890" y="92"/>
                    <a:pt x="888" y="94"/>
                    <a:pt x="871" y="134"/>
                  </a:cubicBezTo>
                  <a:cubicBezTo>
                    <a:pt x="871" y="136"/>
                    <a:pt x="868" y="147"/>
                    <a:pt x="860" y="165"/>
                  </a:cubicBezTo>
                  <a:cubicBezTo>
                    <a:pt x="853" y="182"/>
                    <a:pt x="853" y="182"/>
                    <a:pt x="845" y="200"/>
                  </a:cubicBezTo>
                  <a:cubicBezTo>
                    <a:pt x="843" y="206"/>
                    <a:pt x="841" y="208"/>
                    <a:pt x="839" y="214"/>
                  </a:cubicBezTo>
                  <a:cubicBezTo>
                    <a:pt x="815" y="271"/>
                    <a:pt x="799" y="355"/>
                    <a:pt x="772" y="417"/>
                  </a:cubicBezTo>
                  <a:cubicBezTo>
                    <a:pt x="550" y="244"/>
                    <a:pt x="299" y="174"/>
                    <a:pt x="190" y="188"/>
                  </a:cubicBezTo>
                  <a:lnTo>
                    <a:pt x="173" y="190"/>
                  </a:lnTo>
                  <a:lnTo>
                    <a:pt x="162" y="195"/>
                  </a:lnTo>
                  <a:cubicBezTo>
                    <a:pt x="98" y="236"/>
                    <a:pt x="72" y="257"/>
                    <a:pt x="43" y="302"/>
                  </a:cubicBezTo>
                  <a:cubicBezTo>
                    <a:pt x="13" y="347"/>
                    <a:pt x="0" y="415"/>
                    <a:pt x="9" y="471"/>
                  </a:cubicBezTo>
                  <a:cubicBezTo>
                    <a:pt x="10" y="480"/>
                    <a:pt x="16" y="486"/>
                    <a:pt x="21" y="490"/>
                  </a:cubicBezTo>
                  <a:cubicBezTo>
                    <a:pt x="27" y="494"/>
                    <a:pt x="32" y="496"/>
                    <a:pt x="38" y="497"/>
                  </a:cubicBezTo>
                  <a:cubicBezTo>
                    <a:pt x="49" y="500"/>
                    <a:pt x="60" y="501"/>
                    <a:pt x="72" y="497"/>
                  </a:cubicBezTo>
                  <a:cubicBezTo>
                    <a:pt x="451" y="389"/>
                    <a:pt x="636" y="424"/>
                    <a:pt x="769" y="496"/>
                  </a:cubicBezTo>
                  <a:lnTo>
                    <a:pt x="776" y="500"/>
                  </a:lnTo>
                  <a:lnTo>
                    <a:pt x="784" y="498"/>
                  </a:lnTo>
                  <a:lnTo>
                    <a:pt x="819" y="484"/>
                  </a:lnTo>
                  <a:lnTo>
                    <a:pt x="826" y="482"/>
                  </a:lnTo>
                  <a:lnTo>
                    <a:pt x="830" y="475"/>
                  </a:lnTo>
                  <a:cubicBezTo>
                    <a:pt x="844" y="404"/>
                    <a:pt x="903" y="304"/>
                    <a:pt x="929" y="232"/>
                  </a:cubicBezTo>
                  <a:cubicBezTo>
                    <a:pt x="955" y="160"/>
                    <a:pt x="971" y="101"/>
                    <a:pt x="973" y="56"/>
                  </a:cubicBezTo>
                  <a:lnTo>
                    <a:pt x="973" y="50"/>
                  </a:lnTo>
                  <a:lnTo>
                    <a:pt x="969" y="45"/>
                  </a:lnTo>
                  <a:cubicBezTo>
                    <a:pt x="961" y="33"/>
                    <a:pt x="953" y="25"/>
                    <a:pt x="944" y="19"/>
                  </a:cubicBezTo>
                  <a:cubicBezTo>
                    <a:pt x="939" y="16"/>
                    <a:pt x="934" y="15"/>
                    <a:pt x="929" y="14"/>
                  </a:cubicBezTo>
                  <a:close/>
                  <a:moveTo>
                    <a:pt x="925" y="52"/>
                  </a:moveTo>
                  <a:cubicBezTo>
                    <a:pt x="926" y="52"/>
                    <a:pt x="930" y="58"/>
                    <a:pt x="934" y="62"/>
                  </a:cubicBezTo>
                  <a:cubicBezTo>
                    <a:pt x="932" y="98"/>
                    <a:pt x="918" y="152"/>
                    <a:pt x="894" y="219"/>
                  </a:cubicBezTo>
                  <a:cubicBezTo>
                    <a:pt x="875" y="271"/>
                    <a:pt x="835" y="342"/>
                    <a:pt x="808" y="404"/>
                  </a:cubicBezTo>
                  <a:cubicBezTo>
                    <a:pt x="884" y="192"/>
                    <a:pt x="903" y="119"/>
                    <a:pt x="914" y="64"/>
                  </a:cubicBezTo>
                  <a:cubicBezTo>
                    <a:pt x="920" y="58"/>
                    <a:pt x="925" y="52"/>
                    <a:pt x="925" y="52"/>
                  </a:cubicBezTo>
                  <a:close/>
                  <a:moveTo>
                    <a:pt x="195" y="229"/>
                  </a:moveTo>
                  <a:cubicBezTo>
                    <a:pt x="449" y="256"/>
                    <a:pt x="675" y="359"/>
                    <a:pt x="781" y="460"/>
                  </a:cubicBezTo>
                  <a:cubicBezTo>
                    <a:pt x="641" y="391"/>
                    <a:pt x="287" y="369"/>
                    <a:pt x="62" y="461"/>
                  </a:cubicBezTo>
                  <a:cubicBezTo>
                    <a:pt x="59" y="462"/>
                    <a:pt x="53" y="458"/>
                    <a:pt x="48" y="457"/>
                  </a:cubicBezTo>
                  <a:cubicBezTo>
                    <a:pt x="47" y="452"/>
                    <a:pt x="46" y="443"/>
                    <a:pt x="46" y="443"/>
                  </a:cubicBezTo>
                  <a:cubicBezTo>
                    <a:pt x="40" y="397"/>
                    <a:pt x="52" y="362"/>
                    <a:pt x="76" y="325"/>
                  </a:cubicBezTo>
                  <a:cubicBezTo>
                    <a:pt x="100" y="288"/>
                    <a:pt x="122" y="269"/>
                    <a:pt x="180" y="232"/>
                  </a:cubicBezTo>
                  <a:lnTo>
                    <a:pt x="195" y="229"/>
                  </a:lnTo>
                  <a:close/>
                </a:path>
              </a:pathLst>
            </a:custGeom>
            <a:solidFill>
              <a:srgbClr val="6A8C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0" name="Freeform 25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00000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1" name="Freeform 26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00000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2" name="Freeform 27"/>
            <p:cNvSpPr>
              <a:spLocks noEditPoints="1"/>
            </p:cNvSpPr>
            <p:nvPr/>
          </p:nvSpPr>
          <p:spPr bwMode="auto">
            <a:xfrm>
              <a:off x="1678418" y="5400793"/>
              <a:ext cx="231775" cy="80963"/>
            </a:xfrm>
            <a:custGeom>
              <a:avLst/>
              <a:gdLst>
                <a:gd name="T0" fmla="*/ 445 w 472"/>
                <a:gd name="T1" fmla="*/ 156 h 166"/>
                <a:gd name="T2" fmla="*/ 274 w 472"/>
                <a:gd name="T3" fmla="*/ 120 h 166"/>
                <a:gd name="T4" fmla="*/ 28 w 472"/>
                <a:gd name="T5" fmla="*/ 120 h 166"/>
                <a:gd name="T6" fmla="*/ 0 w 472"/>
                <a:gd name="T7" fmla="*/ 123 h 166"/>
                <a:gd name="T8" fmla="*/ 0 w 472"/>
                <a:gd name="T9" fmla="*/ 118 h 166"/>
                <a:gd name="T10" fmla="*/ 0 w 472"/>
                <a:gd name="T11" fmla="*/ 113 h 166"/>
                <a:gd name="T12" fmla="*/ 37 w 472"/>
                <a:gd name="T13" fmla="*/ 113 h 166"/>
                <a:gd name="T14" fmla="*/ 75 w 472"/>
                <a:gd name="T15" fmla="*/ 113 h 166"/>
                <a:gd name="T16" fmla="*/ 75 w 472"/>
                <a:gd name="T17" fmla="*/ 106 h 166"/>
                <a:gd name="T18" fmla="*/ 87 w 472"/>
                <a:gd name="T19" fmla="*/ 99 h 166"/>
                <a:gd name="T20" fmla="*/ 99 w 472"/>
                <a:gd name="T21" fmla="*/ 94 h 166"/>
                <a:gd name="T22" fmla="*/ 105 w 472"/>
                <a:gd name="T23" fmla="*/ 88 h 166"/>
                <a:gd name="T24" fmla="*/ 110 w 472"/>
                <a:gd name="T25" fmla="*/ 82 h 166"/>
                <a:gd name="T26" fmla="*/ 117 w 472"/>
                <a:gd name="T27" fmla="*/ 75 h 166"/>
                <a:gd name="T28" fmla="*/ 124 w 472"/>
                <a:gd name="T29" fmla="*/ 68 h 166"/>
                <a:gd name="T30" fmla="*/ 136 w 472"/>
                <a:gd name="T31" fmla="*/ 62 h 166"/>
                <a:gd name="T32" fmla="*/ 148 w 472"/>
                <a:gd name="T33" fmla="*/ 62 h 166"/>
                <a:gd name="T34" fmla="*/ 148 w 472"/>
                <a:gd name="T35" fmla="*/ 31 h 166"/>
                <a:gd name="T36" fmla="*/ 148 w 472"/>
                <a:gd name="T37" fmla="*/ 0 h 166"/>
                <a:gd name="T38" fmla="*/ 155 w 472"/>
                <a:gd name="T39" fmla="*/ 0 h 166"/>
                <a:gd name="T40" fmla="*/ 161 w 472"/>
                <a:gd name="T41" fmla="*/ 5 h 166"/>
                <a:gd name="T42" fmla="*/ 169 w 472"/>
                <a:gd name="T43" fmla="*/ 12 h 166"/>
                <a:gd name="T44" fmla="*/ 188 w 472"/>
                <a:gd name="T45" fmla="*/ 13 h 166"/>
                <a:gd name="T46" fmla="*/ 199 w 472"/>
                <a:gd name="T47" fmla="*/ 19 h 166"/>
                <a:gd name="T48" fmla="*/ 213 w 472"/>
                <a:gd name="T49" fmla="*/ 24 h 166"/>
                <a:gd name="T50" fmla="*/ 247 w 472"/>
                <a:gd name="T51" fmla="*/ 35 h 166"/>
                <a:gd name="T52" fmla="*/ 254 w 472"/>
                <a:gd name="T53" fmla="*/ 37 h 166"/>
                <a:gd name="T54" fmla="*/ 274 w 472"/>
                <a:gd name="T55" fmla="*/ 46 h 166"/>
                <a:gd name="T56" fmla="*/ 278 w 472"/>
                <a:gd name="T57" fmla="*/ 49 h 166"/>
                <a:gd name="T58" fmla="*/ 298 w 472"/>
                <a:gd name="T59" fmla="*/ 58 h 166"/>
                <a:gd name="T60" fmla="*/ 307 w 472"/>
                <a:gd name="T61" fmla="*/ 62 h 166"/>
                <a:gd name="T62" fmla="*/ 325 w 472"/>
                <a:gd name="T63" fmla="*/ 72 h 166"/>
                <a:gd name="T64" fmla="*/ 332 w 472"/>
                <a:gd name="T65" fmla="*/ 75 h 166"/>
                <a:gd name="T66" fmla="*/ 450 w 472"/>
                <a:gd name="T67" fmla="*/ 148 h 166"/>
                <a:gd name="T68" fmla="*/ 445 w 472"/>
                <a:gd name="T69" fmla="*/ 156 h 166"/>
                <a:gd name="T70" fmla="*/ 347 w 472"/>
                <a:gd name="T71" fmla="*/ 106 h 166"/>
                <a:gd name="T72" fmla="*/ 336 w 472"/>
                <a:gd name="T73" fmla="*/ 99 h 166"/>
                <a:gd name="T74" fmla="*/ 325 w 472"/>
                <a:gd name="T75" fmla="*/ 106 h 166"/>
                <a:gd name="T76" fmla="*/ 336 w 472"/>
                <a:gd name="T77" fmla="*/ 113 h 166"/>
                <a:gd name="T78" fmla="*/ 347 w 472"/>
                <a:gd name="T79" fmla="*/ 106 h 166"/>
                <a:gd name="T80" fmla="*/ 360 w 472"/>
                <a:gd name="T81" fmla="*/ 106 h 166"/>
                <a:gd name="T82" fmla="*/ 355 w 472"/>
                <a:gd name="T83" fmla="*/ 99 h 166"/>
                <a:gd name="T84" fmla="*/ 349 w 472"/>
                <a:gd name="T85" fmla="*/ 106 h 166"/>
                <a:gd name="T86" fmla="*/ 355 w 472"/>
                <a:gd name="T87" fmla="*/ 113 h 166"/>
                <a:gd name="T88" fmla="*/ 360 w 472"/>
                <a:gd name="T89" fmla="*/ 106 h 166"/>
                <a:gd name="T90" fmla="*/ 174 w 472"/>
                <a:gd name="T91" fmla="*/ 94 h 166"/>
                <a:gd name="T92" fmla="*/ 168 w 472"/>
                <a:gd name="T93" fmla="*/ 88 h 166"/>
                <a:gd name="T94" fmla="*/ 161 w 472"/>
                <a:gd name="T95" fmla="*/ 94 h 166"/>
                <a:gd name="T96" fmla="*/ 168 w 472"/>
                <a:gd name="T97" fmla="*/ 99 h 166"/>
                <a:gd name="T98" fmla="*/ 174 w 472"/>
                <a:gd name="T99" fmla="*/ 94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72" h="166">
                  <a:moveTo>
                    <a:pt x="445" y="156"/>
                  </a:moveTo>
                  <a:cubicBezTo>
                    <a:pt x="402" y="140"/>
                    <a:pt x="349" y="129"/>
                    <a:pt x="274" y="120"/>
                  </a:cubicBezTo>
                  <a:cubicBezTo>
                    <a:pt x="232" y="115"/>
                    <a:pt x="72" y="115"/>
                    <a:pt x="28" y="120"/>
                  </a:cubicBezTo>
                  <a:lnTo>
                    <a:pt x="0" y="123"/>
                  </a:lnTo>
                  <a:lnTo>
                    <a:pt x="0" y="118"/>
                  </a:lnTo>
                  <a:lnTo>
                    <a:pt x="0" y="113"/>
                  </a:lnTo>
                  <a:lnTo>
                    <a:pt x="37" y="113"/>
                  </a:lnTo>
                  <a:lnTo>
                    <a:pt x="75" y="113"/>
                  </a:lnTo>
                  <a:lnTo>
                    <a:pt x="75" y="106"/>
                  </a:lnTo>
                  <a:cubicBezTo>
                    <a:pt x="75" y="99"/>
                    <a:pt x="75" y="99"/>
                    <a:pt x="87" y="99"/>
                  </a:cubicBezTo>
                  <a:cubicBezTo>
                    <a:pt x="99" y="99"/>
                    <a:pt x="99" y="99"/>
                    <a:pt x="99" y="94"/>
                  </a:cubicBezTo>
                  <a:cubicBezTo>
                    <a:pt x="99" y="89"/>
                    <a:pt x="100" y="88"/>
                    <a:pt x="105" y="88"/>
                  </a:cubicBezTo>
                  <a:cubicBezTo>
                    <a:pt x="110" y="88"/>
                    <a:pt x="110" y="87"/>
                    <a:pt x="110" y="82"/>
                  </a:cubicBezTo>
                  <a:cubicBezTo>
                    <a:pt x="110" y="76"/>
                    <a:pt x="111" y="75"/>
                    <a:pt x="117" y="75"/>
                  </a:cubicBezTo>
                  <a:cubicBezTo>
                    <a:pt x="123" y="75"/>
                    <a:pt x="124" y="74"/>
                    <a:pt x="124" y="68"/>
                  </a:cubicBezTo>
                  <a:cubicBezTo>
                    <a:pt x="124" y="62"/>
                    <a:pt x="124" y="62"/>
                    <a:pt x="136" y="62"/>
                  </a:cubicBezTo>
                  <a:lnTo>
                    <a:pt x="148" y="62"/>
                  </a:lnTo>
                  <a:lnTo>
                    <a:pt x="148" y="31"/>
                  </a:lnTo>
                  <a:lnTo>
                    <a:pt x="148" y="0"/>
                  </a:lnTo>
                  <a:lnTo>
                    <a:pt x="155" y="0"/>
                  </a:lnTo>
                  <a:cubicBezTo>
                    <a:pt x="160" y="0"/>
                    <a:pt x="161" y="1"/>
                    <a:pt x="161" y="5"/>
                  </a:cubicBezTo>
                  <a:cubicBezTo>
                    <a:pt x="161" y="9"/>
                    <a:pt x="163" y="11"/>
                    <a:pt x="169" y="12"/>
                  </a:cubicBezTo>
                  <a:cubicBezTo>
                    <a:pt x="174" y="13"/>
                    <a:pt x="183" y="13"/>
                    <a:pt x="188" y="13"/>
                  </a:cubicBezTo>
                  <a:cubicBezTo>
                    <a:pt x="198" y="13"/>
                    <a:pt x="199" y="14"/>
                    <a:pt x="199" y="19"/>
                  </a:cubicBezTo>
                  <a:cubicBezTo>
                    <a:pt x="199" y="24"/>
                    <a:pt x="199" y="24"/>
                    <a:pt x="213" y="24"/>
                  </a:cubicBezTo>
                  <a:cubicBezTo>
                    <a:pt x="228" y="24"/>
                    <a:pt x="247" y="30"/>
                    <a:pt x="247" y="35"/>
                  </a:cubicBezTo>
                  <a:cubicBezTo>
                    <a:pt x="247" y="36"/>
                    <a:pt x="250" y="37"/>
                    <a:pt x="254" y="37"/>
                  </a:cubicBezTo>
                  <a:cubicBezTo>
                    <a:pt x="262" y="37"/>
                    <a:pt x="274" y="43"/>
                    <a:pt x="274" y="46"/>
                  </a:cubicBezTo>
                  <a:cubicBezTo>
                    <a:pt x="274" y="48"/>
                    <a:pt x="276" y="49"/>
                    <a:pt x="278" y="49"/>
                  </a:cubicBezTo>
                  <a:cubicBezTo>
                    <a:pt x="286" y="49"/>
                    <a:pt x="298" y="55"/>
                    <a:pt x="298" y="58"/>
                  </a:cubicBezTo>
                  <a:cubicBezTo>
                    <a:pt x="298" y="61"/>
                    <a:pt x="300" y="62"/>
                    <a:pt x="307" y="62"/>
                  </a:cubicBezTo>
                  <a:cubicBezTo>
                    <a:pt x="316" y="62"/>
                    <a:pt x="325" y="67"/>
                    <a:pt x="325" y="72"/>
                  </a:cubicBezTo>
                  <a:cubicBezTo>
                    <a:pt x="325" y="74"/>
                    <a:pt x="327" y="75"/>
                    <a:pt x="332" y="75"/>
                  </a:cubicBezTo>
                  <a:cubicBezTo>
                    <a:pt x="344" y="75"/>
                    <a:pt x="411" y="117"/>
                    <a:pt x="450" y="148"/>
                  </a:cubicBezTo>
                  <a:cubicBezTo>
                    <a:pt x="472" y="166"/>
                    <a:pt x="472" y="166"/>
                    <a:pt x="445" y="156"/>
                  </a:cubicBezTo>
                  <a:close/>
                  <a:moveTo>
                    <a:pt x="347" y="106"/>
                  </a:moveTo>
                  <a:cubicBezTo>
                    <a:pt x="347" y="100"/>
                    <a:pt x="347" y="99"/>
                    <a:pt x="336" y="99"/>
                  </a:cubicBezTo>
                  <a:cubicBezTo>
                    <a:pt x="325" y="99"/>
                    <a:pt x="325" y="100"/>
                    <a:pt x="325" y="106"/>
                  </a:cubicBezTo>
                  <a:cubicBezTo>
                    <a:pt x="325" y="112"/>
                    <a:pt x="325" y="113"/>
                    <a:pt x="336" y="113"/>
                  </a:cubicBezTo>
                  <a:cubicBezTo>
                    <a:pt x="347" y="113"/>
                    <a:pt x="347" y="112"/>
                    <a:pt x="347" y="106"/>
                  </a:cubicBezTo>
                  <a:close/>
                  <a:moveTo>
                    <a:pt x="360" y="106"/>
                  </a:moveTo>
                  <a:cubicBezTo>
                    <a:pt x="360" y="100"/>
                    <a:pt x="359" y="99"/>
                    <a:pt x="355" y="99"/>
                  </a:cubicBezTo>
                  <a:cubicBezTo>
                    <a:pt x="350" y="99"/>
                    <a:pt x="349" y="100"/>
                    <a:pt x="349" y="106"/>
                  </a:cubicBezTo>
                  <a:cubicBezTo>
                    <a:pt x="349" y="112"/>
                    <a:pt x="350" y="113"/>
                    <a:pt x="355" y="113"/>
                  </a:cubicBezTo>
                  <a:cubicBezTo>
                    <a:pt x="359" y="113"/>
                    <a:pt x="360" y="112"/>
                    <a:pt x="360" y="106"/>
                  </a:cubicBezTo>
                  <a:close/>
                  <a:moveTo>
                    <a:pt x="174" y="94"/>
                  </a:moveTo>
                  <a:cubicBezTo>
                    <a:pt x="174" y="89"/>
                    <a:pt x="173" y="88"/>
                    <a:pt x="168" y="88"/>
                  </a:cubicBezTo>
                  <a:cubicBezTo>
                    <a:pt x="162" y="88"/>
                    <a:pt x="161" y="89"/>
                    <a:pt x="161" y="94"/>
                  </a:cubicBezTo>
                  <a:cubicBezTo>
                    <a:pt x="161" y="98"/>
                    <a:pt x="162" y="99"/>
                    <a:pt x="168" y="99"/>
                  </a:cubicBezTo>
                  <a:cubicBezTo>
                    <a:pt x="173" y="99"/>
                    <a:pt x="174" y="98"/>
                    <a:pt x="174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3" name="Freeform 28"/>
            <p:cNvSpPr>
              <a:spLocks noEditPoints="1"/>
            </p:cNvSpPr>
            <p:nvPr/>
          </p:nvSpPr>
          <p:spPr bwMode="auto">
            <a:xfrm>
              <a:off x="1678418" y="5400793"/>
              <a:ext cx="231775" cy="80963"/>
            </a:xfrm>
            <a:custGeom>
              <a:avLst/>
              <a:gdLst>
                <a:gd name="T0" fmla="*/ 445 w 472"/>
                <a:gd name="T1" fmla="*/ 156 h 166"/>
                <a:gd name="T2" fmla="*/ 274 w 472"/>
                <a:gd name="T3" fmla="*/ 120 h 166"/>
                <a:gd name="T4" fmla="*/ 28 w 472"/>
                <a:gd name="T5" fmla="*/ 120 h 166"/>
                <a:gd name="T6" fmla="*/ 0 w 472"/>
                <a:gd name="T7" fmla="*/ 123 h 166"/>
                <a:gd name="T8" fmla="*/ 0 w 472"/>
                <a:gd name="T9" fmla="*/ 118 h 166"/>
                <a:gd name="T10" fmla="*/ 0 w 472"/>
                <a:gd name="T11" fmla="*/ 113 h 166"/>
                <a:gd name="T12" fmla="*/ 37 w 472"/>
                <a:gd name="T13" fmla="*/ 113 h 166"/>
                <a:gd name="T14" fmla="*/ 75 w 472"/>
                <a:gd name="T15" fmla="*/ 113 h 166"/>
                <a:gd name="T16" fmla="*/ 75 w 472"/>
                <a:gd name="T17" fmla="*/ 106 h 166"/>
                <a:gd name="T18" fmla="*/ 87 w 472"/>
                <a:gd name="T19" fmla="*/ 99 h 166"/>
                <a:gd name="T20" fmla="*/ 99 w 472"/>
                <a:gd name="T21" fmla="*/ 94 h 166"/>
                <a:gd name="T22" fmla="*/ 105 w 472"/>
                <a:gd name="T23" fmla="*/ 88 h 166"/>
                <a:gd name="T24" fmla="*/ 110 w 472"/>
                <a:gd name="T25" fmla="*/ 82 h 166"/>
                <a:gd name="T26" fmla="*/ 117 w 472"/>
                <a:gd name="T27" fmla="*/ 75 h 166"/>
                <a:gd name="T28" fmla="*/ 124 w 472"/>
                <a:gd name="T29" fmla="*/ 68 h 166"/>
                <a:gd name="T30" fmla="*/ 136 w 472"/>
                <a:gd name="T31" fmla="*/ 62 h 166"/>
                <a:gd name="T32" fmla="*/ 148 w 472"/>
                <a:gd name="T33" fmla="*/ 62 h 166"/>
                <a:gd name="T34" fmla="*/ 148 w 472"/>
                <a:gd name="T35" fmla="*/ 31 h 166"/>
                <a:gd name="T36" fmla="*/ 148 w 472"/>
                <a:gd name="T37" fmla="*/ 0 h 166"/>
                <a:gd name="T38" fmla="*/ 155 w 472"/>
                <a:gd name="T39" fmla="*/ 0 h 166"/>
                <a:gd name="T40" fmla="*/ 161 w 472"/>
                <a:gd name="T41" fmla="*/ 5 h 166"/>
                <a:gd name="T42" fmla="*/ 169 w 472"/>
                <a:gd name="T43" fmla="*/ 12 h 166"/>
                <a:gd name="T44" fmla="*/ 188 w 472"/>
                <a:gd name="T45" fmla="*/ 13 h 166"/>
                <a:gd name="T46" fmla="*/ 199 w 472"/>
                <a:gd name="T47" fmla="*/ 19 h 166"/>
                <a:gd name="T48" fmla="*/ 213 w 472"/>
                <a:gd name="T49" fmla="*/ 24 h 166"/>
                <a:gd name="T50" fmla="*/ 247 w 472"/>
                <a:gd name="T51" fmla="*/ 35 h 166"/>
                <a:gd name="T52" fmla="*/ 254 w 472"/>
                <a:gd name="T53" fmla="*/ 37 h 166"/>
                <a:gd name="T54" fmla="*/ 274 w 472"/>
                <a:gd name="T55" fmla="*/ 46 h 166"/>
                <a:gd name="T56" fmla="*/ 278 w 472"/>
                <a:gd name="T57" fmla="*/ 49 h 166"/>
                <a:gd name="T58" fmla="*/ 298 w 472"/>
                <a:gd name="T59" fmla="*/ 58 h 166"/>
                <a:gd name="T60" fmla="*/ 307 w 472"/>
                <a:gd name="T61" fmla="*/ 62 h 166"/>
                <a:gd name="T62" fmla="*/ 325 w 472"/>
                <a:gd name="T63" fmla="*/ 72 h 166"/>
                <a:gd name="T64" fmla="*/ 332 w 472"/>
                <a:gd name="T65" fmla="*/ 75 h 166"/>
                <a:gd name="T66" fmla="*/ 450 w 472"/>
                <a:gd name="T67" fmla="*/ 148 h 166"/>
                <a:gd name="T68" fmla="*/ 445 w 472"/>
                <a:gd name="T69" fmla="*/ 156 h 166"/>
                <a:gd name="T70" fmla="*/ 347 w 472"/>
                <a:gd name="T71" fmla="*/ 106 h 166"/>
                <a:gd name="T72" fmla="*/ 336 w 472"/>
                <a:gd name="T73" fmla="*/ 99 h 166"/>
                <a:gd name="T74" fmla="*/ 325 w 472"/>
                <a:gd name="T75" fmla="*/ 106 h 166"/>
                <a:gd name="T76" fmla="*/ 336 w 472"/>
                <a:gd name="T77" fmla="*/ 113 h 166"/>
                <a:gd name="T78" fmla="*/ 347 w 472"/>
                <a:gd name="T79" fmla="*/ 106 h 166"/>
                <a:gd name="T80" fmla="*/ 360 w 472"/>
                <a:gd name="T81" fmla="*/ 106 h 166"/>
                <a:gd name="T82" fmla="*/ 355 w 472"/>
                <a:gd name="T83" fmla="*/ 99 h 166"/>
                <a:gd name="T84" fmla="*/ 349 w 472"/>
                <a:gd name="T85" fmla="*/ 106 h 166"/>
                <a:gd name="T86" fmla="*/ 355 w 472"/>
                <a:gd name="T87" fmla="*/ 113 h 166"/>
                <a:gd name="T88" fmla="*/ 360 w 472"/>
                <a:gd name="T89" fmla="*/ 106 h 166"/>
                <a:gd name="T90" fmla="*/ 174 w 472"/>
                <a:gd name="T91" fmla="*/ 94 h 166"/>
                <a:gd name="T92" fmla="*/ 168 w 472"/>
                <a:gd name="T93" fmla="*/ 88 h 166"/>
                <a:gd name="T94" fmla="*/ 161 w 472"/>
                <a:gd name="T95" fmla="*/ 94 h 166"/>
                <a:gd name="T96" fmla="*/ 168 w 472"/>
                <a:gd name="T97" fmla="*/ 99 h 166"/>
                <a:gd name="T98" fmla="*/ 174 w 472"/>
                <a:gd name="T99" fmla="*/ 94 h 1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72" h="166">
                  <a:moveTo>
                    <a:pt x="445" y="156"/>
                  </a:moveTo>
                  <a:cubicBezTo>
                    <a:pt x="402" y="140"/>
                    <a:pt x="349" y="129"/>
                    <a:pt x="274" y="120"/>
                  </a:cubicBezTo>
                  <a:cubicBezTo>
                    <a:pt x="232" y="115"/>
                    <a:pt x="72" y="115"/>
                    <a:pt x="28" y="120"/>
                  </a:cubicBezTo>
                  <a:lnTo>
                    <a:pt x="0" y="123"/>
                  </a:lnTo>
                  <a:lnTo>
                    <a:pt x="0" y="118"/>
                  </a:lnTo>
                  <a:lnTo>
                    <a:pt x="0" y="113"/>
                  </a:lnTo>
                  <a:lnTo>
                    <a:pt x="37" y="113"/>
                  </a:lnTo>
                  <a:lnTo>
                    <a:pt x="75" y="113"/>
                  </a:lnTo>
                  <a:lnTo>
                    <a:pt x="75" y="106"/>
                  </a:lnTo>
                  <a:cubicBezTo>
                    <a:pt x="75" y="99"/>
                    <a:pt x="75" y="99"/>
                    <a:pt x="87" y="99"/>
                  </a:cubicBezTo>
                  <a:cubicBezTo>
                    <a:pt x="99" y="99"/>
                    <a:pt x="99" y="99"/>
                    <a:pt x="99" y="94"/>
                  </a:cubicBezTo>
                  <a:cubicBezTo>
                    <a:pt x="99" y="89"/>
                    <a:pt x="100" y="88"/>
                    <a:pt x="105" y="88"/>
                  </a:cubicBezTo>
                  <a:cubicBezTo>
                    <a:pt x="110" y="88"/>
                    <a:pt x="110" y="87"/>
                    <a:pt x="110" y="82"/>
                  </a:cubicBezTo>
                  <a:cubicBezTo>
                    <a:pt x="110" y="76"/>
                    <a:pt x="111" y="75"/>
                    <a:pt x="117" y="75"/>
                  </a:cubicBezTo>
                  <a:cubicBezTo>
                    <a:pt x="123" y="75"/>
                    <a:pt x="124" y="74"/>
                    <a:pt x="124" y="68"/>
                  </a:cubicBezTo>
                  <a:cubicBezTo>
                    <a:pt x="124" y="62"/>
                    <a:pt x="124" y="62"/>
                    <a:pt x="136" y="62"/>
                  </a:cubicBezTo>
                  <a:lnTo>
                    <a:pt x="148" y="62"/>
                  </a:lnTo>
                  <a:lnTo>
                    <a:pt x="148" y="31"/>
                  </a:lnTo>
                  <a:lnTo>
                    <a:pt x="148" y="0"/>
                  </a:lnTo>
                  <a:lnTo>
                    <a:pt x="155" y="0"/>
                  </a:lnTo>
                  <a:cubicBezTo>
                    <a:pt x="160" y="0"/>
                    <a:pt x="161" y="1"/>
                    <a:pt x="161" y="5"/>
                  </a:cubicBezTo>
                  <a:cubicBezTo>
                    <a:pt x="161" y="9"/>
                    <a:pt x="163" y="11"/>
                    <a:pt x="169" y="12"/>
                  </a:cubicBezTo>
                  <a:cubicBezTo>
                    <a:pt x="174" y="13"/>
                    <a:pt x="183" y="13"/>
                    <a:pt x="188" y="13"/>
                  </a:cubicBezTo>
                  <a:cubicBezTo>
                    <a:pt x="198" y="13"/>
                    <a:pt x="199" y="14"/>
                    <a:pt x="199" y="19"/>
                  </a:cubicBezTo>
                  <a:cubicBezTo>
                    <a:pt x="199" y="24"/>
                    <a:pt x="199" y="24"/>
                    <a:pt x="213" y="24"/>
                  </a:cubicBezTo>
                  <a:cubicBezTo>
                    <a:pt x="228" y="24"/>
                    <a:pt x="247" y="30"/>
                    <a:pt x="247" y="35"/>
                  </a:cubicBezTo>
                  <a:cubicBezTo>
                    <a:pt x="247" y="36"/>
                    <a:pt x="250" y="37"/>
                    <a:pt x="254" y="37"/>
                  </a:cubicBezTo>
                  <a:cubicBezTo>
                    <a:pt x="262" y="37"/>
                    <a:pt x="274" y="43"/>
                    <a:pt x="274" y="46"/>
                  </a:cubicBezTo>
                  <a:cubicBezTo>
                    <a:pt x="274" y="48"/>
                    <a:pt x="276" y="49"/>
                    <a:pt x="278" y="49"/>
                  </a:cubicBezTo>
                  <a:cubicBezTo>
                    <a:pt x="286" y="49"/>
                    <a:pt x="298" y="55"/>
                    <a:pt x="298" y="58"/>
                  </a:cubicBezTo>
                  <a:cubicBezTo>
                    <a:pt x="298" y="61"/>
                    <a:pt x="300" y="62"/>
                    <a:pt x="307" y="62"/>
                  </a:cubicBezTo>
                  <a:cubicBezTo>
                    <a:pt x="316" y="62"/>
                    <a:pt x="325" y="67"/>
                    <a:pt x="325" y="72"/>
                  </a:cubicBezTo>
                  <a:cubicBezTo>
                    <a:pt x="325" y="74"/>
                    <a:pt x="327" y="75"/>
                    <a:pt x="332" y="75"/>
                  </a:cubicBezTo>
                  <a:cubicBezTo>
                    <a:pt x="344" y="75"/>
                    <a:pt x="411" y="117"/>
                    <a:pt x="450" y="148"/>
                  </a:cubicBezTo>
                  <a:cubicBezTo>
                    <a:pt x="472" y="166"/>
                    <a:pt x="472" y="166"/>
                    <a:pt x="445" y="156"/>
                  </a:cubicBezTo>
                  <a:close/>
                  <a:moveTo>
                    <a:pt x="347" y="106"/>
                  </a:moveTo>
                  <a:cubicBezTo>
                    <a:pt x="347" y="100"/>
                    <a:pt x="347" y="99"/>
                    <a:pt x="336" y="99"/>
                  </a:cubicBezTo>
                  <a:cubicBezTo>
                    <a:pt x="325" y="99"/>
                    <a:pt x="325" y="100"/>
                    <a:pt x="325" y="106"/>
                  </a:cubicBezTo>
                  <a:cubicBezTo>
                    <a:pt x="325" y="112"/>
                    <a:pt x="325" y="113"/>
                    <a:pt x="336" y="113"/>
                  </a:cubicBezTo>
                  <a:cubicBezTo>
                    <a:pt x="347" y="113"/>
                    <a:pt x="347" y="112"/>
                    <a:pt x="347" y="106"/>
                  </a:cubicBezTo>
                  <a:close/>
                  <a:moveTo>
                    <a:pt x="360" y="106"/>
                  </a:moveTo>
                  <a:cubicBezTo>
                    <a:pt x="360" y="100"/>
                    <a:pt x="359" y="99"/>
                    <a:pt x="355" y="99"/>
                  </a:cubicBezTo>
                  <a:cubicBezTo>
                    <a:pt x="350" y="99"/>
                    <a:pt x="349" y="100"/>
                    <a:pt x="349" y="106"/>
                  </a:cubicBezTo>
                  <a:cubicBezTo>
                    <a:pt x="349" y="112"/>
                    <a:pt x="350" y="113"/>
                    <a:pt x="355" y="113"/>
                  </a:cubicBezTo>
                  <a:cubicBezTo>
                    <a:pt x="359" y="113"/>
                    <a:pt x="360" y="112"/>
                    <a:pt x="360" y="106"/>
                  </a:cubicBezTo>
                  <a:close/>
                  <a:moveTo>
                    <a:pt x="174" y="94"/>
                  </a:moveTo>
                  <a:cubicBezTo>
                    <a:pt x="174" y="89"/>
                    <a:pt x="173" y="88"/>
                    <a:pt x="168" y="88"/>
                  </a:cubicBezTo>
                  <a:cubicBezTo>
                    <a:pt x="162" y="88"/>
                    <a:pt x="161" y="89"/>
                    <a:pt x="161" y="94"/>
                  </a:cubicBezTo>
                  <a:cubicBezTo>
                    <a:pt x="161" y="98"/>
                    <a:pt x="162" y="99"/>
                    <a:pt x="168" y="99"/>
                  </a:cubicBezTo>
                  <a:cubicBezTo>
                    <a:pt x="173" y="99"/>
                    <a:pt x="174" y="98"/>
                    <a:pt x="174" y="94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4" name="Freeform 29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5" name="Freeform 30"/>
            <p:cNvSpPr>
              <a:spLocks noEditPoints="1"/>
            </p:cNvSpPr>
            <p:nvPr/>
          </p:nvSpPr>
          <p:spPr bwMode="auto">
            <a:xfrm>
              <a:off x="1500618" y="5007093"/>
              <a:ext cx="673100" cy="1066800"/>
            </a:xfrm>
            <a:custGeom>
              <a:avLst/>
              <a:gdLst>
                <a:gd name="T0" fmla="*/ 376 w 1378"/>
                <a:gd name="T1" fmla="*/ 1494 h 2181"/>
                <a:gd name="T2" fmla="*/ 280 w 1378"/>
                <a:gd name="T3" fmla="*/ 1703 h 2181"/>
                <a:gd name="T4" fmla="*/ 53 w 1378"/>
                <a:gd name="T5" fmla="*/ 2056 h 2181"/>
                <a:gd name="T6" fmla="*/ 133 w 1378"/>
                <a:gd name="T7" fmla="*/ 1049 h 2181"/>
                <a:gd name="T8" fmla="*/ 100 w 1378"/>
                <a:gd name="T9" fmla="*/ 1009 h 2181"/>
                <a:gd name="T10" fmla="*/ 184 w 1378"/>
                <a:gd name="T11" fmla="*/ 759 h 2181"/>
                <a:gd name="T12" fmla="*/ 246 w 1378"/>
                <a:gd name="T13" fmla="*/ 691 h 2181"/>
                <a:gd name="T14" fmla="*/ 444 w 1378"/>
                <a:gd name="T15" fmla="*/ 90 h 2181"/>
                <a:gd name="T16" fmla="*/ 992 w 1378"/>
                <a:gd name="T17" fmla="*/ 337 h 2181"/>
                <a:gd name="T18" fmla="*/ 1004 w 1378"/>
                <a:gd name="T19" fmla="*/ 538 h 2181"/>
                <a:gd name="T20" fmla="*/ 1059 w 1378"/>
                <a:gd name="T21" fmla="*/ 509 h 2181"/>
                <a:gd name="T22" fmla="*/ 1347 w 1378"/>
                <a:gd name="T23" fmla="*/ 0 h 2181"/>
                <a:gd name="T24" fmla="*/ 1378 w 1378"/>
                <a:gd name="T25" fmla="*/ 9 h 2181"/>
                <a:gd name="T26" fmla="*/ 1202 w 1378"/>
                <a:gd name="T27" fmla="*/ 344 h 2181"/>
                <a:gd name="T28" fmla="*/ 1022 w 1378"/>
                <a:gd name="T29" fmla="*/ 709 h 2181"/>
                <a:gd name="T30" fmla="*/ 881 w 1378"/>
                <a:gd name="T31" fmla="*/ 1011 h 2181"/>
                <a:gd name="T32" fmla="*/ 581 w 1378"/>
                <a:gd name="T33" fmla="*/ 950 h 2181"/>
                <a:gd name="T34" fmla="*/ 143 w 1378"/>
                <a:gd name="T35" fmla="*/ 1112 h 2181"/>
                <a:gd name="T36" fmla="*/ 136 w 1378"/>
                <a:gd name="T37" fmla="*/ 2068 h 2181"/>
                <a:gd name="T38" fmla="*/ 281 w 1378"/>
                <a:gd name="T39" fmla="*/ 1522 h 2181"/>
                <a:gd name="T40" fmla="*/ 464 w 1378"/>
                <a:gd name="T41" fmla="*/ 2034 h 2181"/>
                <a:gd name="T42" fmla="*/ 431 w 1378"/>
                <a:gd name="T43" fmla="*/ 2181 h 2181"/>
                <a:gd name="T44" fmla="*/ 192 w 1378"/>
                <a:gd name="T45" fmla="*/ 959 h 2181"/>
                <a:gd name="T46" fmla="*/ 416 w 1378"/>
                <a:gd name="T47" fmla="*/ 830 h 2181"/>
                <a:gd name="T48" fmla="*/ 275 w 1378"/>
                <a:gd name="T49" fmla="*/ 751 h 2181"/>
                <a:gd name="T50" fmla="*/ 124 w 1378"/>
                <a:gd name="T51" fmla="*/ 969 h 2181"/>
                <a:gd name="T52" fmla="*/ 160 w 1378"/>
                <a:gd name="T53" fmla="*/ 977 h 2181"/>
                <a:gd name="T54" fmla="*/ 390 w 1378"/>
                <a:gd name="T55" fmla="*/ 768 h 2181"/>
                <a:gd name="T56" fmla="*/ 455 w 1378"/>
                <a:gd name="T57" fmla="*/ 822 h 2181"/>
                <a:gd name="T58" fmla="*/ 255 w 1378"/>
                <a:gd name="T59" fmla="*/ 947 h 2181"/>
                <a:gd name="T60" fmla="*/ 692 w 1378"/>
                <a:gd name="T61" fmla="*/ 933 h 2181"/>
                <a:gd name="T62" fmla="*/ 834 w 1378"/>
                <a:gd name="T63" fmla="*/ 965 h 2181"/>
                <a:gd name="T64" fmla="*/ 922 w 1378"/>
                <a:gd name="T65" fmla="*/ 740 h 2181"/>
                <a:gd name="T66" fmla="*/ 848 w 1378"/>
                <a:gd name="T67" fmla="*/ 769 h 2181"/>
                <a:gd name="T68" fmla="*/ 891 w 1378"/>
                <a:gd name="T69" fmla="*/ 202 h 2181"/>
                <a:gd name="T70" fmla="*/ 249 w 1378"/>
                <a:gd name="T71" fmla="*/ 540 h 2181"/>
                <a:gd name="T72" fmla="*/ 349 w 1378"/>
                <a:gd name="T73" fmla="*/ 713 h 2181"/>
                <a:gd name="T74" fmla="*/ 864 w 1378"/>
                <a:gd name="T75" fmla="*/ 911 h 2181"/>
                <a:gd name="T76" fmla="*/ 1003 w 1378"/>
                <a:gd name="T77" fmla="*/ 643 h 2181"/>
                <a:gd name="T78" fmla="*/ 963 w 1378"/>
                <a:gd name="T79" fmla="*/ 712 h 2181"/>
                <a:gd name="T80" fmla="*/ 929 w 1378"/>
                <a:gd name="T81" fmla="*/ 847 h 2181"/>
                <a:gd name="T82" fmla="*/ 997 w 1378"/>
                <a:gd name="T83" fmla="*/ 579 h 2181"/>
                <a:gd name="T84" fmla="*/ 993 w 1378"/>
                <a:gd name="T85" fmla="*/ 601 h 2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378" h="2181">
                  <a:moveTo>
                    <a:pt x="429" y="2044"/>
                  </a:moveTo>
                  <a:cubicBezTo>
                    <a:pt x="428" y="1893"/>
                    <a:pt x="424" y="1765"/>
                    <a:pt x="421" y="1714"/>
                  </a:cubicBezTo>
                  <a:cubicBezTo>
                    <a:pt x="413" y="1590"/>
                    <a:pt x="398" y="1516"/>
                    <a:pt x="376" y="1494"/>
                  </a:cubicBezTo>
                  <a:cubicBezTo>
                    <a:pt x="368" y="1486"/>
                    <a:pt x="357" y="1490"/>
                    <a:pt x="341" y="1506"/>
                  </a:cubicBezTo>
                  <a:cubicBezTo>
                    <a:pt x="327" y="1522"/>
                    <a:pt x="316" y="1542"/>
                    <a:pt x="306" y="1572"/>
                  </a:cubicBezTo>
                  <a:cubicBezTo>
                    <a:pt x="295" y="1602"/>
                    <a:pt x="290" y="1627"/>
                    <a:pt x="280" y="1703"/>
                  </a:cubicBezTo>
                  <a:cubicBezTo>
                    <a:pt x="245" y="1953"/>
                    <a:pt x="237" y="1993"/>
                    <a:pt x="215" y="2041"/>
                  </a:cubicBezTo>
                  <a:cubicBezTo>
                    <a:pt x="193" y="2087"/>
                    <a:pt x="172" y="2106"/>
                    <a:pt x="136" y="2110"/>
                  </a:cubicBezTo>
                  <a:cubicBezTo>
                    <a:pt x="99" y="2115"/>
                    <a:pt x="73" y="2097"/>
                    <a:pt x="53" y="2056"/>
                  </a:cubicBezTo>
                  <a:cubicBezTo>
                    <a:pt x="36" y="2020"/>
                    <a:pt x="27" y="1987"/>
                    <a:pt x="19" y="1936"/>
                  </a:cubicBezTo>
                  <a:cubicBezTo>
                    <a:pt x="8" y="1865"/>
                    <a:pt x="0" y="1711"/>
                    <a:pt x="2" y="1633"/>
                  </a:cubicBezTo>
                  <a:cubicBezTo>
                    <a:pt x="9" y="1417"/>
                    <a:pt x="55" y="1214"/>
                    <a:pt x="133" y="1049"/>
                  </a:cubicBezTo>
                  <a:cubicBezTo>
                    <a:pt x="141" y="1033"/>
                    <a:pt x="147" y="1020"/>
                    <a:pt x="147" y="1019"/>
                  </a:cubicBezTo>
                  <a:cubicBezTo>
                    <a:pt x="147" y="1019"/>
                    <a:pt x="144" y="1020"/>
                    <a:pt x="140" y="1020"/>
                  </a:cubicBezTo>
                  <a:cubicBezTo>
                    <a:pt x="127" y="1022"/>
                    <a:pt x="108" y="1016"/>
                    <a:pt x="100" y="1009"/>
                  </a:cubicBezTo>
                  <a:cubicBezTo>
                    <a:pt x="89" y="999"/>
                    <a:pt x="87" y="990"/>
                    <a:pt x="88" y="949"/>
                  </a:cubicBezTo>
                  <a:cubicBezTo>
                    <a:pt x="89" y="920"/>
                    <a:pt x="90" y="909"/>
                    <a:pt x="95" y="892"/>
                  </a:cubicBezTo>
                  <a:cubicBezTo>
                    <a:pt x="109" y="837"/>
                    <a:pt x="138" y="794"/>
                    <a:pt x="184" y="759"/>
                  </a:cubicBezTo>
                  <a:cubicBezTo>
                    <a:pt x="209" y="739"/>
                    <a:pt x="248" y="713"/>
                    <a:pt x="253" y="713"/>
                  </a:cubicBezTo>
                  <a:cubicBezTo>
                    <a:pt x="256" y="713"/>
                    <a:pt x="258" y="712"/>
                    <a:pt x="258" y="711"/>
                  </a:cubicBezTo>
                  <a:cubicBezTo>
                    <a:pt x="258" y="710"/>
                    <a:pt x="252" y="701"/>
                    <a:pt x="246" y="691"/>
                  </a:cubicBezTo>
                  <a:cubicBezTo>
                    <a:pt x="225" y="656"/>
                    <a:pt x="210" y="621"/>
                    <a:pt x="203" y="585"/>
                  </a:cubicBezTo>
                  <a:cubicBezTo>
                    <a:pt x="197" y="558"/>
                    <a:pt x="198" y="447"/>
                    <a:pt x="203" y="412"/>
                  </a:cubicBezTo>
                  <a:cubicBezTo>
                    <a:pt x="226" y="268"/>
                    <a:pt x="311" y="155"/>
                    <a:pt x="444" y="90"/>
                  </a:cubicBezTo>
                  <a:cubicBezTo>
                    <a:pt x="480" y="73"/>
                    <a:pt x="498" y="66"/>
                    <a:pt x="533" y="57"/>
                  </a:cubicBezTo>
                  <a:cubicBezTo>
                    <a:pt x="685" y="18"/>
                    <a:pt x="843" y="69"/>
                    <a:pt x="920" y="182"/>
                  </a:cubicBezTo>
                  <a:cubicBezTo>
                    <a:pt x="951" y="229"/>
                    <a:pt x="980" y="289"/>
                    <a:pt x="992" y="337"/>
                  </a:cubicBezTo>
                  <a:cubicBezTo>
                    <a:pt x="1002" y="376"/>
                    <a:pt x="1003" y="389"/>
                    <a:pt x="1003" y="438"/>
                  </a:cubicBezTo>
                  <a:cubicBezTo>
                    <a:pt x="1003" y="481"/>
                    <a:pt x="1001" y="499"/>
                    <a:pt x="994" y="532"/>
                  </a:cubicBezTo>
                  <a:cubicBezTo>
                    <a:pt x="993" y="537"/>
                    <a:pt x="994" y="538"/>
                    <a:pt x="1004" y="538"/>
                  </a:cubicBezTo>
                  <a:cubicBezTo>
                    <a:pt x="1012" y="538"/>
                    <a:pt x="1018" y="540"/>
                    <a:pt x="1022" y="543"/>
                  </a:cubicBezTo>
                  <a:cubicBezTo>
                    <a:pt x="1026" y="545"/>
                    <a:pt x="1030" y="548"/>
                    <a:pt x="1031" y="548"/>
                  </a:cubicBezTo>
                  <a:cubicBezTo>
                    <a:pt x="1032" y="548"/>
                    <a:pt x="1045" y="530"/>
                    <a:pt x="1059" y="509"/>
                  </a:cubicBezTo>
                  <a:cubicBezTo>
                    <a:pt x="1127" y="411"/>
                    <a:pt x="1152" y="367"/>
                    <a:pt x="1234" y="203"/>
                  </a:cubicBezTo>
                  <a:cubicBezTo>
                    <a:pt x="1295" y="80"/>
                    <a:pt x="1309" y="55"/>
                    <a:pt x="1333" y="20"/>
                  </a:cubicBezTo>
                  <a:lnTo>
                    <a:pt x="1347" y="0"/>
                  </a:lnTo>
                  <a:lnTo>
                    <a:pt x="1363" y="0"/>
                  </a:lnTo>
                  <a:lnTo>
                    <a:pt x="1378" y="0"/>
                  </a:lnTo>
                  <a:lnTo>
                    <a:pt x="1378" y="9"/>
                  </a:lnTo>
                  <a:cubicBezTo>
                    <a:pt x="1378" y="16"/>
                    <a:pt x="1376" y="21"/>
                    <a:pt x="1364" y="38"/>
                  </a:cubicBezTo>
                  <a:cubicBezTo>
                    <a:pt x="1342" y="68"/>
                    <a:pt x="1320" y="107"/>
                    <a:pt x="1270" y="209"/>
                  </a:cubicBezTo>
                  <a:cubicBezTo>
                    <a:pt x="1245" y="260"/>
                    <a:pt x="1214" y="321"/>
                    <a:pt x="1202" y="344"/>
                  </a:cubicBezTo>
                  <a:cubicBezTo>
                    <a:pt x="1164" y="415"/>
                    <a:pt x="1111" y="499"/>
                    <a:pt x="1068" y="556"/>
                  </a:cubicBezTo>
                  <a:cubicBezTo>
                    <a:pt x="1052" y="579"/>
                    <a:pt x="1051" y="580"/>
                    <a:pt x="1049" y="598"/>
                  </a:cubicBezTo>
                  <a:cubicBezTo>
                    <a:pt x="1045" y="628"/>
                    <a:pt x="1036" y="666"/>
                    <a:pt x="1022" y="709"/>
                  </a:cubicBezTo>
                  <a:cubicBezTo>
                    <a:pt x="1005" y="761"/>
                    <a:pt x="997" y="780"/>
                    <a:pt x="966" y="848"/>
                  </a:cubicBezTo>
                  <a:cubicBezTo>
                    <a:pt x="935" y="916"/>
                    <a:pt x="923" y="944"/>
                    <a:pt x="915" y="971"/>
                  </a:cubicBezTo>
                  <a:cubicBezTo>
                    <a:pt x="905" y="1004"/>
                    <a:pt x="907" y="1001"/>
                    <a:pt x="881" y="1011"/>
                  </a:cubicBezTo>
                  <a:cubicBezTo>
                    <a:pt x="869" y="1016"/>
                    <a:pt x="857" y="1020"/>
                    <a:pt x="856" y="1020"/>
                  </a:cubicBezTo>
                  <a:cubicBezTo>
                    <a:pt x="855" y="1020"/>
                    <a:pt x="845" y="1016"/>
                    <a:pt x="835" y="1011"/>
                  </a:cubicBezTo>
                  <a:cubicBezTo>
                    <a:pt x="755" y="971"/>
                    <a:pt x="681" y="953"/>
                    <a:pt x="581" y="950"/>
                  </a:cubicBezTo>
                  <a:cubicBezTo>
                    <a:pt x="475" y="947"/>
                    <a:pt x="352" y="965"/>
                    <a:pt x="206" y="1003"/>
                  </a:cubicBezTo>
                  <a:cubicBezTo>
                    <a:pt x="199" y="1005"/>
                    <a:pt x="196" y="1008"/>
                    <a:pt x="188" y="1021"/>
                  </a:cubicBezTo>
                  <a:cubicBezTo>
                    <a:pt x="177" y="1038"/>
                    <a:pt x="159" y="1074"/>
                    <a:pt x="143" y="1112"/>
                  </a:cubicBezTo>
                  <a:cubicBezTo>
                    <a:pt x="61" y="1312"/>
                    <a:pt x="25" y="1549"/>
                    <a:pt x="41" y="1783"/>
                  </a:cubicBezTo>
                  <a:cubicBezTo>
                    <a:pt x="49" y="1900"/>
                    <a:pt x="73" y="2004"/>
                    <a:pt x="101" y="2046"/>
                  </a:cubicBezTo>
                  <a:cubicBezTo>
                    <a:pt x="109" y="2058"/>
                    <a:pt x="125" y="2068"/>
                    <a:pt x="136" y="2068"/>
                  </a:cubicBezTo>
                  <a:cubicBezTo>
                    <a:pt x="155" y="2068"/>
                    <a:pt x="174" y="2049"/>
                    <a:pt x="187" y="2016"/>
                  </a:cubicBezTo>
                  <a:cubicBezTo>
                    <a:pt x="207" y="1965"/>
                    <a:pt x="215" y="1916"/>
                    <a:pt x="236" y="1734"/>
                  </a:cubicBezTo>
                  <a:cubicBezTo>
                    <a:pt x="250" y="1610"/>
                    <a:pt x="258" y="1570"/>
                    <a:pt x="281" y="1522"/>
                  </a:cubicBezTo>
                  <a:cubicBezTo>
                    <a:pt x="298" y="1487"/>
                    <a:pt x="324" y="1467"/>
                    <a:pt x="357" y="1460"/>
                  </a:cubicBezTo>
                  <a:cubicBezTo>
                    <a:pt x="393" y="1453"/>
                    <a:pt x="416" y="1475"/>
                    <a:pt x="432" y="1531"/>
                  </a:cubicBezTo>
                  <a:cubicBezTo>
                    <a:pt x="454" y="1611"/>
                    <a:pt x="461" y="1719"/>
                    <a:pt x="464" y="2034"/>
                  </a:cubicBezTo>
                  <a:lnTo>
                    <a:pt x="466" y="2181"/>
                  </a:lnTo>
                  <a:lnTo>
                    <a:pt x="448" y="2181"/>
                  </a:lnTo>
                  <a:lnTo>
                    <a:pt x="431" y="2181"/>
                  </a:lnTo>
                  <a:lnTo>
                    <a:pt x="429" y="2044"/>
                  </a:lnTo>
                  <a:close/>
                  <a:moveTo>
                    <a:pt x="160" y="977"/>
                  </a:moveTo>
                  <a:cubicBezTo>
                    <a:pt x="177" y="971"/>
                    <a:pt x="184" y="967"/>
                    <a:pt x="192" y="959"/>
                  </a:cubicBezTo>
                  <a:cubicBezTo>
                    <a:pt x="210" y="942"/>
                    <a:pt x="226" y="929"/>
                    <a:pt x="245" y="917"/>
                  </a:cubicBezTo>
                  <a:cubicBezTo>
                    <a:pt x="267" y="903"/>
                    <a:pt x="333" y="870"/>
                    <a:pt x="380" y="849"/>
                  </a:cubicBezTo>
                  <a:cubicBezTo>
                    <a:pt x="416" y="834"/>
                    <a:pt x="423" y="830"/>
                    <a:pt x="416" y="830"/>
                  </a:cubicBezTo>
                  <a:cubicBezTo>
                    <a:pt x="409" y="830"/>
                    <a:pt x="374" y="817"/>
                    <a:pt x="358" y="809"/>
                  </a:cubicBezTo>
                  <a:cubicBezTo>
                    <a:pt x="337" y="797"/>
                    <a:pt x="320" y="784"/>
                    <a:pt x="302" y="766"/>
                  </a:cubicBezTo>
                  <a:cubicBezTo>
                    <a:pt x="288" y="751"/>
                    <a:pt x="288" y="751"/>
                    <a:pt x="275" y="751"/>
                  </a:cubicBezTo>
                  <a:cubicBezTo>
                    <a:pt x="269" y="751"/>
                    <a:pt x="261" y="752"/>
                    <a:pt x="257" y="754"/>
                  </a:cubicBezTo>
                  <a:cubicBezTo>
                    <a:pt x="242" y="761"/>
                    <a:pt x="208" y="787"/>
                    <a:pt x="188" y="807"/>
                  </a:cubicBezTo>
                  <a:cubicBezTo>
                    <a:pt x="137" y="857"/>
                    <a:pt x="117" y="909"/>
                    <a:pt x="124" y="969"/>
                  </a:cubicBezTo>
                  <a:cubicBezTo>
                    <a:pt x="125" y="979"/>
                    <a:pt x="126" y="980"/>
                    <a:pt x="133" y="982"/>
                  </a:cubicBezTo>
                  <a:cubicBezTo>
                    <a:pt x="136" y="984"/>
                    <a:pt x="139" y="985"/>
                    <a:pt x="139" y="985"/>
                  </a:cubicBezTo>
                  <a:cubicBezTo>
                    <a:pt x="139" y="985"/>
                    <a:pt x="149" y="982"/>
                    <a:pt x="160" y="977"/>
                  </a:cubicBezTo>
                  <a:close/>
                  <a:moveTo>
                    <a:pt x="834" y="965"/>
                  </a:moveTo>
                  <a:cubicBezTo>
                    <a:pt x="828" y="958"/>
                    <a:pt x="811" y="945"/>
                    <a:pt x="798" y="935"/>
                  </a:cubicBezTo>
                  <a:cubicBezTo>
                    <a:pt x="694" y="859"/>
                    <a:pt x="546" y="798"/>
                    <a:pt x="390" y="768"/>
                  </a:cubicBezTo>
                  <a:cubicBezTo>
                    <a:pt x="375" y="765"/>
                    <a:pt x="364" y="763"/>
                    <a:pt x="365" y="764"/>
                  </a:cubicBezTo>
                  <a:cubicBezTo>
                    <a:pt x="371" y="769"/>
                    <a:pt x="400" y="788"/>
                    <a:pt x="426" y="804"/>
                  </a:cubicBezTo>
                  <a:lnTo>
                    <a:pt x="455" y="822"/>
                  </a:lnTo>
                  <a:lnTo>
                    <a:pt x="480" y="821"/>
                  </a:lnTo>
                  <a:cubicBezTo>
                    <a:pt x="509" y="819"/>
                    <a:pt x="512" y="817"/>
                    <a:pt x="441" y="849"/>
                  </a:cubicBezTo>
                  <a:cubicBezTo>
                    <a:pt x="347" y="892"/>
                    <a:pt x="261" y="937"/>
                    <a:pt x="255" y="947"/>
                  </a:cubicBezTo>
                  <a:cubicBezTo>
                    <a:pt x="254" y="948"/>
                    <a:pt x="269" y="946"/>
                    <a:pt x="289" y="942"/>
                  </a:cubicBezTo>
                  <a:cubicBezTo>
                    <a:pt x="368" y="926"/>
                    <a:pt x="442" y="920"/>
                    <a:pt x="541" y="922"/>
                  </a:cubicBezTo>
                  <a:cubicBezTo>
                    <a:pt x="610" y="923"/>
                    <a:pt x="638" y="925"/>
                    <a:pt x="692" y="933"/>
                  </a:cubicBezTo>
                  <a:cubicBezTo>
                    <a:pt x="740" y="941"/>
                    <a:pt x="800" y="957"/>
                    <a:pt x="830" y="971"/>
                  </a:cubicBezTo>
                  <a:cubicBezTo>
                    <a:pt x="837" y="974"/>
                    <a:pt x="843" y="976"/>
                    <a:pt x="844" y="976"/>
                  </a:cubicBezTo>
                  <a:cubicBezTo>
                    <a:pt x="846" y="976"/>
                    <a:pt x="841" y="971"/>
                    <a:pt x="834" y="965"/>
                  </a:cubicBezTo>
                  <a:lnTo>
                    <a:pt x="834" y="965"/>
                  </a:lnTo>
                  <a:close/>
                  <a:moveTo>
                    <a:pt x="864" y="911"/>
                  </a:moveTo>
                  <a:cubicBezTo>
                    <a:pt x="875" y="884"/>
                    <a:pt x="919" y="754"/>
                    <a:pt x="922" y="740"/>
                  </a:cubicBezTo>
                  <a:cubicBezTo>
                    <a:pt x="923" y="732"/>
                    <a:pt x="923" y="733"/>
                    <a:pt x="902" y="752"/>
                  </a:cubicBezTo>
                  <a:cubicBezTo>
                    <a:pt x="865" y="788"/>
                    <a:pt x="811" y="834"/>
                    <a:pt x="808" y="832"/>
                  </a:cubicBezTo>
                  <a:cubicBezTo>
                    <a:pt x="808" y="831"/>
                    <a:pt x="826" y="803"/>
                    <a:pt x="848" y="769"/>
                  </a:cubicBezTo>
                  <a:cubicBezTo>
                    <a:pt x="923" y="657"/>
                    <a:pt x="939" y="625"/>
                    <a:pt x="953" y="568"/>
                  </a:cubicBezTo>
                  <a:cubicBezTo>
                    <a:pt x="971" y="497"/>
                    <a:pt x="972" y="414"/>
                    <a:pt x="955" y="347"/>
                  </a:cubicBezTo>
                  <a:cubicBezTo>
                    <a:pt x="942" y="298"/>
                    <a:pt x="915" y="236"/>
                    <a:pt x="891" y="202"/>
                  </a:cubicBezTo>
                  <a:cubicBezTo>
                    <a:pt x="832" y="120"/>
                    <a:pt x="730" y="78"/>
                    <a:pt x="615" y="88"/>
                  </a:cubicBezTo>
                  <a:cubicBezTo>
                    <a:pt x="459" y="101"/>
                    <a:pt x="342" y="185"/>
                    <a:pt x="281" y="327"/>
                  </a:cubicBezTo>
                  <a:cubicBezTo>
                    <a:pt x="254" y="391"/>
                    <a:pt x="243" y="462"/>
                    <a:pt x="249" y="540"/>
                  </a:cubicBezTo>
                  <a:cubicBezTo>
                    <a:pt x="253" y="602"/>
                    <a:pt x="265" y="636"/>
                    <a:pt x="299" y="687"/>
                  </a:cubicBezTo>
                  <a:cubicBezTo>
                    <a:pt x="311" y="706"/>
                    <a:pt x="315" y="709"/>
                    <a:pt x="320" y="710"/>
                  </a:cubicBezTo>
                  <a:cubicBezTo>
                    <a:pt x="324" y="710"/>
                    <a:pt x="337" y="712"/>
                    <a:pt x="349" y="713"/>
                  </a:cubicBezTo>
                  <a:cubicBezTo>
                    <a:pt x="488" y="729"/>
                    <a:pt x="679" y="813"/>
                    <a:pt x="824" y="921"/>
                  </a:cubicBezTo>
                  <a:cubicBezTo>
                    <a:pt x="838" y="931"/>
                    <a:pt x="850" y="938"/>
                    <a:pt x="851" y="938"/>
                  </a:cubicBezTo>
                  <a:cubicBezTo>
                    <a:pt x="852" y="938"/>
                    <a:pt x="858" y="925"/>
                    <a:pt x="864" y="911"/>
                  </a:cubicBezTo>
                  <a:close/>
                  <a:moveTo>
                    <a:pt x="929" y="847"/>
                  </a:moveTo>
                  <a:cubicBezTo>
                    <a:pt x="959" y="781"/>
                    <a:pt x="979" y="728"/>
                    <a:pt x="990" y="693"/>
                  </a:cubicBezTo>
                  <a:cubicBezTo>
                    <a:pt x="998" y="665"/>
                    <a:pt x="1004" y="643"/>
                    <a:pt x="1003" y="643"/>
                  </a:cubicBezTo>
                  <a:cubicBezTo>
                    <a:pt x="1003" y="643"/>
                    <a:pt x="996" y="651"/>
                    <a:pt x="987" y="661"/>
                  </a:cubicBezTo>
                  <a:lnTo>
                    <a:pt x="972" y="679"/>
                  </a:lnTo>
                  <a:lnTo>
                    <a:pt x="963" y="712"/>
                  </a:lnTo>
                  <a:cubicBezTo>
                    <a:pt x="955" y="738"/>
                    <a:pt x="907" y="887"/>
                    <a:pt x="897" y="913"/>
                  </a:cubicBezTo>
                  <a:cubicBezTo>
                    <a:pt x="896" y="916"/>
                    <a:pt x="896" y="917"/>
                    <a:pt x="898" y="916"/>
                  </a:cubicBezTo>
                  <a:cubicBezTo>
                    <a:pt x="899" y="914"/>
                    <a:pt x="913" y="884"/>
                    <a:pt x="929" y="847"/>
                  </a:cubicBezTo>
                  <a:close/>
                  <a:moveTo>
                    <a:pt x="1004" y="587"/>
                  </a:moveTo>
                  <a:cubicBezTo>
                    <a:pt x="1009" y="579"/>
                    <a:pt x="1009" y="578"/>
                    <a:pt x="1006" y="575"/>
                  </a:cubicBezTo>
                  <a:cubicBezTo>
                    <a:pt x="1004" y="572"/>
                    <a:pt x="1003" y="573"/>
                    <a:pt x="997" y="579"/>
                  </a:cubicBezTo>
                  <a:cubicBezTo>
                    <a:pt x="994" y="584"/>
                    <a:pt x="991" y="591"/>
                    <a:pt x="990" y="597"/>
                  </a:cubicBezTo>
                  <a:lnTo>
                    <a:pt x="989" y="606"/>
                  </a:lnTo>
                  <a:lnTo>
                    <a:pt x="993" y="601"/>
                  </a:lnTo>
                  <a:cubicBezTo>
                    <a:pt x="996" y="598"/>
                    <a:pt x="1000" y="591"/>
                    <a:pt x="1004" y="587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6" name="Freeform 31"/>
            <p:cNvSpPr>
              <a:spLocks noEditPoints="1"/>
            </p:cNvSpPr>
            <p:nvPr/>
          </p:nvSpPr>
          <p:spPr bwMode="auto">
            <a:xfrm>
              <a:off x="1559356" y="5372218"/>
              <a:ext cx="131763" cy="114300"/>
            </a:xfrm>
            <a:custGeom>
              <a:avLst/>
              <a:gdLst>
                <a:gd name="T0" fmla="*/ 12 w 268"/>
                <a:gd name="T1" fmla="*/ 232 h 234"/>
                <a:gd name="T2" fmla="*/ 4 w 268"/>
                <a:gd name="T3" fmla="*/ 220 h 234"/>
                <a:gd name="T4" fmla="*/ 23 w 268"/>
                <a:gd name="T5" fmla="*/ 120 h 234"/>
                <a:gd name="T6" fmla="*/ 118 w 268"/>
                <a:gd name="T7" fmla="*/ 20 h 234"/>
                <a:gd name="T8" fmla="*/ 153 w 268"/>
                <a:gd name="T9" fmla="*/ 12 h 234"/>
                <a:gd name="T10" fmla="*/ 160 w 268"/>
                <a:gd name="T11" fmla="*/ 18 h 234"/>
                <a:gd name="T12" fmla="*/ 167 w 268"/>
                <a:gd name="T13" fmla="*/ 25 h 234"/>
                <a:gd name="T14" fmla="*/ 173 w 268"/>
                <a:gd name="T15" fmla="*/ 32 h 234"/>
                <a:gd name="T16" fmla="*/ 180 w 268"/>
                <a:gd name="T17" fmla="*/ 37 h 234"/>
                <a:gd name="T18" fmla="*/ 192 w 268"/>
                <a:gd name="T19" fmla="*/ 43 h 234"/>
                <a:gd name="T20" fmla="*/ 204 w 268"/>
                <a:gd name="T21" fmla="*/ 49 h 234"/>
                <a:gd name="T22" fmla="*/ 211 w 268"/>
                <a:gd name="T23" fmla="*/ 56 h 234"/>
                <a:gd name="T24" fmla="*/ 217 w 268"/>
                <a:gd name="T25" fmla="*/ 63 h 234"/>
                <a:gd name="T26" fmla="*/ 223 w 268"/>
                <a:gd name="T27" fmla="*/ 69 h 234"/>
                <a:gd name="T28" fmla="*/ 228 w 268"/>
                <a:gd name="T29" fmla="*/ 75 h 234"/>
                <a:gd name="T30" fmla="*/ 242 w 268"/>
                <a:gd name="T31" fmla="*/ 80 h 234"/>
                <a:gd name="T32" fmla="*/ 255 w 268"/>
                <a:gd name="T33" fmla="*/ 87 h 234"/>
                <a:gd name="T34" fmla="*/ 262 w 268"/>
                <a:gd name="T35" fmla="*/ 94 h 234"/>
                <a:gd name="T36" fmla="*/ 244 w 268"/>
                <a:gd name="T37" fmla="*/ 105 h 234"/>
                <a:gd name="T38" fmla="*/ 68 w 268"/>
                <a:gd name="T39" fmla="*/ 211 h 234"/>
                <a:gd name="T40" fmla="*/ 58 w 268"/>
                <a:gd name="T41" fmla="*/ 217 h 234"/>
                <a:gd name="T42" fmla="*/ 53 w 268"/>
                <a:gd name="T43" fmla="*/ 219 h 234"/>
                <a:gd name="T44" fmla="*/ 35 w 268"/>
                <a:gd name="T45" fmla="*/ 228 h 234"/>
                <a:gd name="T46" fmla="*/ 12 w 268"/>
                <a:gd name="T47" fmla="*/ 232 h 234"/>
                <a:gd name="T48" fmla="*/ 30 w 268"/>
                <a:gd name="T49" fmla="*/ 198 h 234"/>
                <a:gd name="T50" fmla="*/ 24 w 268"/>
                <a:gd name="T51" fmla="*/ 193 h 234"/>
                <a:gd name="T52" fmla="*/ 19 w 268"/>
                <a:gd name="T53" fmla="*/ 198 h 234"/>
                <a:gd name="T54" fmla="*/ 24 w 268"/>
                <a:gd name="T55" fmla="*/ 204 h 234"/>
                <a:gd name="T56" fmla="*/ 30 w 268"/>
                <a:gd name="T57" fmla="*/ 198 h 234"/>
                <a:gd name="T58" fmla="*/ 142 w 268"/>
                <a:gd name="T59" fmla="*/ 99 h 234"/>
                <a:gd name="T60" fmla="*/ 137 w 268"/>
                <a:gd name="T61" fmla="*/ 93 h 234"/>
                <a:gd name="T62" fmla="*/ 131 w 268"/>
                <a:gd name="T63" fmla="*/ 99 h 234"/>
                <a:gd name="T64" fmla="*/ 137 w 268"/>
                <a:gd name="T65" fmla="*/ 105 h 234"/>
                <a:gd name="T66" fmla="*/ 142 w 268"/>
                <a:gd name="T67" fmla="*/ 99 h 2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68" h="234">
                  <a:moveTo>
                    <a:pt x="12" y="232"/>
                  </a:moveTo>
                  <a:cubicBezTo>
                    <a:pt x="7" y="231"/>
                    <a:pt x="6" y="229"/>
                    <a:pt x="4" y="220"/>
                  </a:cubicBezTo>
                  <a:cubicBezTo>
                    <a:pt x="0" y="185"/>
                    <a:pt x="6" y="153"/>
                    <a:pt x="23" y="120"/>
                  </a:cubicBezTo>
                  <a:cubicBezTo>
                    <a:pt x="45" y="79"/>
                    <a:pt x="70" y="53"/>
                    <a:pt x="118" y="20"/>
                  </a:cubicBezTo>
                  <a:cubicBezTo>
                    <a:pt x="144" y="3"/>
                    <a:pt x="153" y="0"/>
                    <a:pt x="153" y="12"/>
                  </a:cubicBezTo>
                  <a:cubicBezTo>
                    <a:pt x="153" y="18"/>
                    <a:pt x="154" y="18"/>
                    <a:pt x="160" y="18"/>
                  </a:cubicBezTo>
                  <a:cubicBezTo>
                    <a:pt x="166" y="18"/>
                    <a:pt x="167" y="19"/>
                    <a:pt x="167" y="25"/>
                  </a:cubicBezTo>
                  <a:cubicBezTo>
                    <a:pt x="167" y="31"/>
                    <a:pt x="167" y="32"/>
                    <a:pt x="173" y="32"/>
                  </a:cubicBezTo>
                  <a:cubicBezTo>
                    <a:pt x="179" y="32"/>
                    <a:pt x="180" y="32"/>
                    <a:pt x="180" y="37"/>
                  </a:cubicBezTo>
                  <a:cubicBezTo>
                    <a:pt x="180" y="42"/>
                    <a:pt x="180" y="43"/>
                    <a:pt x="192" y="43"/>
                  </a:cubicBezTo>
                  <a:cubicBezTo>
                    <a:pt x="204" y="43"/>
                    <a:pt x="204" y="43"/>
                    <a:pt x="204" y="49"/>
                  </a:cubicBezTo>
                  <a:cubicBezTo>
                    <a:pt x="204" y="55"/>
                    <a:pt x="205" y="56"/>
                    <a:pt x="211" y="56"/>
                  </a:cubicBezTo>
                  <a:cubicBezTo>
                    <a:pt x="217" y="56"/>
                    <a:pt x="217" y="57"/>
                    <a:pt x="217" y="63"/>
                  </a:cubicBezTo>
                  <a:cubicBezTo>
                    <a:pt x="217" y="68"/>
                    <a:pt x="218" y="69"/>
                    <a:pt x="223" y="69"/>
                  </a:cubicBezTo>
                  <a:cubicBezTo>
                    <a:pt x="227" y="69"/>
                    <a:pt x="228" y="70"/>
                    <a:pt x="228" y="75"/>
                  </a:cubicBezTo>
                  <a:cubicBezTo>
                    <a:pt x="228" y="80"/>
                    <a:pt x="229" y="80"/>
                    <a:pt x="242" y="80"/>
                  </a:cubicBezTo>
                  <a:cubicBezTo>
                    <a:pt x="255" y="80"/>
                    <a:pt x="255" y="80"/>
                    <a:pt x="255" y="87"/>
                  </a:cubicBezTo>
                  <a:cubicBezTo>
                    <a:pt x="255" y="93"/>
                    <a:pt x="256" y="93"/>
                    <a:pt x="262" y="94"/>
                  </a:cubicBezTo>
                  <a:cubicBezTo>
                    <a:pt x="268" y="94"/>
                    <a:pt x="264" y="96"/>
                    <a:pt x="244" y="105"/>
                  </a:cubicBezTo>
                  <a:cubicBezTo>
                    <a:pt x="154" y="144"/>
                    <a:pt x="94" y="180"/>
                    <a:pt x="68" y="211"/>
                  </a:cubicBezTo>
                  <a:cubicBezTo>
                    <a:pt x="65" y="214"/>
                    <a:pt x="60" y="217"/>
                    <a:pt x="58" y="217"/>
                  </a:cubicBezTo>
                  <a:cubicBezTo>
                    <a:pt x="56" y="217"/>
                    <a:pt x="54" y="218"/>
                    <a:pt x="53" y="219"/>
                  </a:cubicBezTo>
                  <a:cubicBezTo>
                    <a:pt x="53" y="220"/>
                    <a:pt x="45" y="224"/>
                    <a:pt x="35" y="228"/>
                  </a:cubicBezTo>
                  <a:cubicBezTo>
                    <a:pt x="22" y="233"/>
                    <a:pt x="16" y="234"/>
                    <a:pt x="12" y="232"/>
                  </a:cubicBezTo>
                  <a:close/>
                  <a:moveTo>
                    <a:pt x="30" y="198"/>
                  </a:moveTo>
                  <a:cubicBezTo>
                    <a:pt x="30" y="194"/>
                    <a:pt x="28" y="193"/>
                    <a:pt x="24" y="193"/>
                  </a:cubicBezTo>
                  <a:cubicBezTo>
                    <a:pt x="20" y="193"/>
                    <a:pt x="19" y="194"/>
                    <a:pt x="19" y="198"/>
                  </a:cubicBezTo>
                  <a:cubicBezTo>
                    <a:pt x="19" y="203"/>
                    <a:pt x="20" y="204"/>
                    <a:pt x="24" y="204"/>
                  </a:cubicBezTo>
                  <a:cubicBezTo>
                    <a:pt x="28" y="204"/>
                    <a:pt x="30" y="203"/>
                    <a:pt x="30" y="198"/>
                  </a:cubicBezTo>
                  <a:close/>
                  <a:moveTo>
                    <a:pt x="142" y="99"/>
                  </a:moveTo>
                  <a:cubicBezTo>
                    <a:pt x="142" y="95"/>
                    <a:pt x="141" y="93"/>
                    <a:pt x="137" y="93"/>
                  </a:cubicBezTo>
                  <a:cubicBezTo>
                    <a:pt x="132" y="93"/>
                    <a:pt x="131" y="95"/>
                    <a:pt x="131" y="99"/>
                  </a:cubicBezTo>
                  <a:cubicBezTo>
                    <a:pt x="131" y="103"/>
                    <a:pt x="132" y="105"/>
                    <a:pt x="137" y="105"/>
                  </a:cubicBezTo>
                  <a:cubicBezTo>
                    <a:pt x="141" y="105"/>
                    <a:pt x="142" y="103"/>
                    <a:pt x="142" y="99"/>
                  </a:cubicBezTo>
                  <a:close/>
                </a:path>
              </a:pathLst>
            </a:custGeom>
            <a:solidFill>
              <a:srgbClr val="A1BDA8"/>
            </a:solidFill>
            <a:ln w="3175" cap="flat">
              <a:solidFill>
                <a:srgbClr val="A1BDA8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7" name="Freeform 32"/>
            <p:cNvSpPr>
              <a:spLocks/>
            </p:cNvSpPr>
            <p:nvPr/>
          </p:nvSpPr>
          <p:spPr bwMode="auto">
            <a:xfrm>
              <a:off x="2064181" y="4778493"/>
              <a:ext cx="161925" cy="273050"/>
            </a:xfrm>
            <a:custGeom>
              <a:avLst/>
              <a:gdLst>
                <a:gd name="T0" fmla="*/ 228 w 331"/>
                <a:gd name="T1" fmla="*/ 533 h 559"/>
                <a:gd name="T2" fmla="*/ 330 w 331"/>
                <a:gd name="T3" fmla="*/ 471 h 559"/>
                <a:gd name="T4" fmla="*/ 275 w 331"/>
                <a:gd name="T5" fmla="*/ 230 h 559"/>
                <a:gd name="T6" fmla="*/ 267 w 331"/>
                <a:gd name="T7" fmla="*/ 30 h 559"/>
                <a:gd name="T8" fmla="*/ 159 w 331"/>
                <a:gd name="T9" fmla="*/ 37 h 559"/>
                <a:gd name="T10" fmla="*/ 210 w 331"/>
                <a:gd name="T11" fmla="*/ 116 h 559"/>
                <a:gd name="T12" fmla="*/ 136 w 331"/>
                <a:gd name="T13" fmla="*/ 165 h 559"/>
                <a:gd name="T14" fmla="*/ 81 w 331"/>
                <a:gd name="T15" fmla="*/ 91 h 559"/>
                <a:gd name="T16" fmla="*/ 180 w 331"/>
                <a:gd name="T17" fmla="*/ 294 h 559"/>
                <a:gd name="T18" fmla="*/ 228 w 331"/>
                <a:gd name="T19" fmla="*/ 533 h 5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31" h="559">
                  <a:moveTo>
                    <a:pt x="228" y="533"/>
                  </a:moveTo>
                  <a:cubicBezTo>
                    <a:pt x="228" y="533"/>
                    <a:pt x="315" y="559"/>
                    <a:pt x="330" y="471"/>
                  </a:cubicBezTo>
                  <a:cubicBezTo>
                    <a:pt x="331" y="463"/>
                    <a:pt x="275" y="230"/>
                    <a:pt x="275" y="230"/>
                  </a:cubicBezTo>
                  <a:cubicBezTo>
                    <a:pt x="327" y="137"/>
                    <a:pt x="304" y="55"/>
                    <a:pt x="267" y="30"/>
                  </a:cubicBezTo>
                  <a:cubicBezTo>
                    <a:pt x="223" y="0"/>
                    <a:pt x="159" y="37"/>
                    <a:pt x="159" y="37"/>
                  </a:cubicBezTo>
                  <a:lnTo>
                    <a:pt x="210" y="116"/>
                  </a:lnTo>
                  <a:lnTo>
                    <a:pt x="136" y="165"/>
                  </a:lnTo>
                  <a:lnTo>
                    <a:pt x="81" y="91"/>
                  </a:lnTo>
                  <a:cubicBezTo>
                    <a:pt x="37" y="144"/>
                    <a:pt x="0" y="301"/>
                    <a:pt x="180" y="294"/>
                  </a:cubicBezTo>
                  <a:lnTo>
                    <a:pt x="228" y="533"/>
                  </a:lnTo>
                  <a:close/>
                </a:path>
              </a:pathLst>
            </a:custGeom>
            <a:solidFill>
              <a:srgbClr val="A9B6AC"/>
            </a:solidFill>
            <a:ln w="19050" cap="flat">
              <a:solidFill>
                <a:srgbClr val="445750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58" name="Right Arrow 57"/>
          <p:cNvSpPr/>
          <p:nvPr/>
        </p:nvSpPr>
        <p:spPr>
          <a:xfrm>
            <a:off x="3646785" y="4330060"/>
            <a:ext cx="316999" cy="244240"/>
          </a:xfrm>
          <a:prstGeom prst="right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360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235248" y="3178470"/>
            <a:ext cx="1051891" cy="461665"/>
          </a:xfrm>
          <a:prstGeom prst="rect">
            <a:avLst/>
          </a:prstGeom>
          <a:noFill/>
          <a:ln w="2540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CA" sz="1200" b="1" dirty="0" smtClean="0">
                <a:solidFill>
                  <a:schemeClr val="bg1"/>
                </a:solidFill>
              </a:rPr>
              <a:t>Application</a:t>
            </a:r>
            <a:endParaRPr lang="en-CA" sz="1200" b="1" dirty="0">
              <a:solidFill>
                <a:schemeClr val="bg1"/>
              </a:solidFill>
            </a:endParaRPr>
          </a:p>
          <a:p>
            <a:pPr algn="ctr"/>
            <a:r>
              <a:rPr lang="en-CA" sz="1200" b="1" dirty="0">
                <a:solidFill>
                  <a:schemeClr val="bg1"/>
                </a:solidFill>
              </a:rPr>
              <a:t>Developer</a:t>
            </a:r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8577545" y="3464992"/>
            <a:ext cx="712276" cy="732542"/>
          </a:xfrm>
          <a:prstGeom prst="straightConnector1">
            <a:avLst/>
          </a:prstGeom>
          <a:ln w="12700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178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Talk Outline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>
                    <a:lumMod val="50000"/>
                    <a:lumOff val="50000"/>
                  </a:schemeClr>
                </a:solidFill>
              </a:rPr>
              <a:t>Problem</a:t>
            </a:r>
          </a:p>
          <a:p>
            <a:pPr lvl="1"/>
            <a:r>
              <a:rPr lang="en-US" dirty="0" smtClean="0">
                <a:solidFill>
                  <a:schemeClr val="bg1">
                    <a:lumMod val="50000"/>
                    <a:lumOff val="50000"/>
                  </a:schemeClr>
                </a:solidFill>
              </a:rPr>
              <a:t>Hard to write robust file system applications</a:t>
            </a:r>
          </a:p>
          <a:p>
            <a:r>
              <a:rPr lang="en-US" dirty="0" smtClean="0">
                <a:solidFill>
                  <a:schemeClr val="bg1">
                    <a:lumMod val="50000"/>
                    <a:lumOff val="50000"/>
                  </a:schemeClr>
                </a:solidFill>
              </a:rPr>
              <a:t>Approach</a:t>
            </a:r>
          </a:p>
          <a:p>
            <a:r>
              <a:rPr lang="en-US" dirty="0" smtClean="0"/>
              <a:t>Spiffy Annotations</a:t>
            </a:r>
          </a:p>
          <a:p>
            <a:r>
              <a:rPr lang="en-US" dirty="0" smtClean="0"/>
              <a:t>Spiffy Library</a:t>
            </a:r>
          </a:p>
          <a:p>
            <a:r>
              <a:rPr lang="en-US" dirty="0" smtClean="0"/>
              <a:t>Spiffy </a:t>
            </a:r>
            <a:r>
              <a:rPr lang="en-US" dirty="0"/>
              <a:t>A</a:t>
            </a:r>
            <a:r>
              <a:rPr lang="en-US" dirty="0" smtClean="0"/>
              <a:t>pplications</a:t>
            </a:r>
          </a:p>
          <a:p>
            <a:r>
              <a:rPr lang="en-US" dirty="0" smtClean="0"/>
              <a:t>Evaluation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10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12301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Need for Annotation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 smtClean="0"/>
              <a:t>Enable complete specification of the file system format</a:t>
            </a:r>
          </a:p>
          <a:p>
            <a:pPr lvl="1"/>
            <a:r>
              <a:rPr lang="en-CA" dirty="0" smtClean="0"/>
              <a:t>Allows type-safe parsing and updates of file system structures</a:t>
            </a:r>
          </a:p>
          <a:p>
            <a:r>
              <a:rPr lang="en-CA" dirty="0" smtClean="0"/>
              <a:t>Challenge</a:t>
            </a:r>
          </a:p>
          <a:p>
            <a:pPr lvl="1"/>
            <a:r>
              <a:rPr lang="en-CA" dirty="0" smtClean="0"/>
              <a:t>Data </a:t>
            </a:r>
            <a:r>
              <a:rPr lang="en-CA" dirty="0"/>
              <a:t>structure definitions in </a:t>
            </a:r>
            <a:r>
              <a:rPr lang="en-CA" dirty="0" smtClean="0"/>
              <a:t>source files are </a:t>
            </a:r>
            <a:r>
              <a:rPr lang="en-CA" i="1" dirty="0"/>
              <a:t>incomplete</a:t>
            </a:r>
          </a:p>
          <a:p>
            <a:pPr lvl="1"/>
            <a:r>
              <a:rPr lang="en-CA" dirty="0"/>
              <a:t>E.g., </a:t>
            </a:r>
            <a:r>
              <a:rPr lang="en-CA" sz="18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foo {</a:t>
            </a:r>
            <a:b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	     __le32 </a:t>
            </a:r>
            <a:r>
              <a:rPr lang="en-CA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bar_block_ptr</a:t>
            </a: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};</a:t>
            </a:r>
          </a:p>
          <a:p>
            <a:pPr lvl="2"/>
            <a:r>
              <a:rPr lang="en-CA" dirty="0" err="1" smtClean="0">
                <a:cs typeface="Courier New" panose="02070309020205020404" pitchFamily="49" charset="0"/>
              </a:rPr>
              <a:t>bar_block_ptr</a:t>
            </a:r>
            <a:r>
              <a:rPr lang="en-CA" dirty="0" smtClean="0">
                <a:cs typeface="Courier New" panose="02070309020205020404" pitchFamily="49" charset="0"/>
              </a:rPr>
              <a:t> is </a:t>
            </a:r>
            <a:r>
              <a:rPr lang="en-CA" dirty="0">
                <a:cs typeface="Courier New" panose="02070309020205020404" pitchFamily="49" charset="0"/>
              </a:rPr>
              <a:t>“probably” a 32-bit pointer to type “</a:t>
            </a:r>
            <a:r>
              <a:rPr lang="en-CA" dirty="0" err="1">
                <a:cs typeface="Courier New" panose="02070309020205020404" pitchFamily="49" charset="0"/>
              </a:rPr>
              <a:t>bar_block</a:t>
            </a:r>
            <a:r>
              <a:rPr lang="en-CA" dirty="0">
                <a:cs typeface="Courier New" panose="02070309020205020404" pitchFamily="49" charset="0"/>
              </a:rPr>
              <a:t>”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However, </a:t>
            </a:r>
            <a:r>
              <a:rPr lang="en-CA" dirty="0" smtClean="0">
                <a:cs typeface="Courier New" panose="02070309020205020404" pitchFamily="49" charset="0"/>
              </a:rPr>
              <a:t>code parser </a:t>
            </a:r>
            <a:r>
              <a:rPr lang="en-CA" dirty="0" smtClean="0">
                <a:cs typeface="Courier New" panose="02070309020205020404" pitchFamily="49" charset="0"/>
              </a:rPr>
              <a:t>cannot </a:t>
            </a:r>
            <a:r>
              <a:rPr lang="en-CA" dirty="0">
                <a:cs typeface="Courier New" panose="02070309020205020404" pitchFamily="49" charset="0"/>
              </a:rPr>
              <a:t>deduce this from structure </a:t>
            </a:r>
            <a:r>
              <a:rPr lang="en-CA" dirty="0" smtClean="0">
                <a:cs typeface="Courier New" panose="02070309020205020404" pitchFamily="49" charset="0"/>
              </a:rPr>
              <a:t>definition</a:t>
            </a:r>
            <a:endParaRPr lang="en-CA" dirty="0">
              <a:cs typeface="Courier New" panose="02070309020205020404" pitchFamily="49" charset="0"/>
            </a:endParaRPr>
          </a:p>
          <a:p>
            <a:r>
              <a:rPr lang="en-CA" dirty="0" smtClean="0"/>
              <a:t>Solution</a:t>
            </a:r>
            <a:endParaRPr lang="en-CA" dirty="0"/>
          </a:p>
          <a:p>
            <a:pPr lvl="1"/>
            <a:r>
              <a:rPr lang="en-CA" dirty="0"/>
              <a:t>Annotate existing </a:t>
            </a:r>
            <a:r>
              <a:rPr lang="en-CA" dirty="0" smtClean="0"/>
              <a:t>sources </a:t>
            </a:r>
            <a:r>
              <a:rPr lang="en-CA" dirty="0"/>
              <a:t>to specify missing information</a:t>
            </a:r>
          </a:p>
          <a:p>
            <a:endParaRPr lang="en-CA" dirty="0">
              <a:cs typeface="Courier New" panose="02070309020205020404" pitchFamily="49" charset="0"/>
            </a:endParaRPr>
          </a:p>
          <a:p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11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15605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Annotation Requirements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File System Pointers</a:t>
            </a:r>
          </a:p>
          <a:p>
            <a:pPr lvl="1"/>
            <a:r>
              <a:rPr lang="en-US" dirty="0" smtClean="0"/>
              <a:t>Need to specify relationships between file system structures</a:t>
            </a:r>
          </a:p>
          <a:p>
            <a:pPr lvl="1"/>
            <a:r>
              <a:rPr lang="en-US" dirty="0" smtClean="0"/>
              <a:t>Use </a:t>
            </a:r>
            <a:r>
              <a:rPr lang="en-US" i="1" dirty="0"/>
              <a:t>P</a:t>
            </a:r>
            <a:r>
              <a:rPr lang="en-US" i="1" dirty="0" smtClean="0"/>
              <a:t>ointer</a:t>
            </a:r>
            <a:r>
              <a:rPr lang="en-US" dirty="0" smtClean="0"/>
              <a:t> annotation to specify this relationship</a:t>
            </a:r>
          </a:p>
          <a:p>
            <a:pPr lvl="1"/>
            <a:r>
              <a:rPr lang="en-US" dirty="0" smtClean="0"/>
              <a:t>Specifies that a data structure field holds an address to a location on physical storage</a:t>
            </a:r>
          </a:p>
          <a:p>
            <a:pPr lvl="1"/>
            <a:r>
              <a:rPr lang="en-US" b="1" dirty="0" smtClean="0"/>
              <a:t>Challenge:</a:t>
            </a:r>
            <a:r>
              <a:rPr lang="en-CA" b="1" dirty="0" smtClean="0"/>
              <a:t> </a:t>
            </a:r>
            <a:r>
              <a:rPr lang="en-CA" dirty="0" smtClean="0"/>
              <a:t>Interpreting address </a:t>
            </a:r>
            <a:r>
              <a:rPr lang="en-CA" dirty="0"/>
              <a:t>may involve multiple layers of translation</a:t>
            </a:r>
          </a:p>
          <a:p>
            <a:pPr lvl="1"/>
            <a:r>
              <a:rPr lang="en-CA" dirty="0"/>
              <a:t>File system structures may be laid out discontiguously</a:t>
            </a:r>
          </a:p>
          <a:p>
            <a:pPr lvl="2"/>
            <a:r>
              <a:rPr lang="en-CA" dirty="0"/>
              <a:t>E.g., Ext4 journal is stored on disk as a regular file</a:t>
            </a:r>
          </a:p>
          <a:p>
            <a:pPr lvl="2"/>
            <a:r>
              <a:rPr lang="en-CA" dirty="0"/>
              <a:t>Regular files can be physically discontiguous on </a:t>
            </a:r>
            <a:r>
              <a:rPr lang="en-CA" dirty="0" smtClean="0"/>
              <a:t>disk</a:t>
            </a:r>
            <a:endParaRPr lang="en-CA" dirty="0"/>
          </a:p>
          <a:p>
            <a:pPr lvl="1"/>
            <a:r>
              <a:rPr lang="en-CA" dirty="0"/>
              <a:t>Pointers have an </a:t>
            </a:r>
            <a:r>
              <a:rPr lang="en-CA" i="1" dirty="0"/>
              <a:t>address space </a:t>
            </a:r>
            <a:r>
              <a:rPr lang="en-CA" dirty="0"/>
              <a:t>that indicates how the address should be mapped to the physical location</a:t>
            </a:r>
          </a:p>
          <a:p>
            <a:pPr lvl="1"/>
            <a:endParaRPr lang="en-US" dirty="0" smtClean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12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55000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FSSUPER and POINTER annotation</a:t>
            </a:r>
            <a:endParaRPr lang="en-CA" dirty="0"/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FSSUPER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ext4_super_block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__le32 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fr-FR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fr-FR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fr-FR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=file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fr-FR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=ext4_journal)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__le32 </a:t>
            </a:r>
            <a:r>
              <a:rPr lang="fr-FR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s_journal_inum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s_block_group_desc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=ex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t4_group_desc_table, </a:t>
            </a:r>
            <a:r>
              <a:rPr lang="en-CA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=block,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0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? 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en-CA" sz="400" dirty="0" smtClean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dirty="0"/>
              <a:t>FSSUPER specifies </a:t>
            </a:r>
            <a:r>
              <a:rPr lang="en-CA" dirty="0" smtClean="0"/>
              <a:t>the structure</a:t>
            </a:r>
            <a:r>
              <a:rPr lang="en-CA" dirty="0"/>
              <a:t/>
            </a:r>
            <a:br>
              <a:rPr lang="en-CA" dirty="0"/>
            </a:br>
            <a:r>
              <a:rPr lang="en-CA" dirty="0"/>
              <a:t>as super block</a:t>
            </a:r>
          </a:p>
          <a:p>
            <a:pPr lvl="1"/>
            <a:r>
              <a:rPr lang="en-CA" i="1" dirty="0"/>
              <a:t>location</a:t>
            </a:r>
            <a:r>
              <a:rPr lang="en-CA" dirty="0"/>
              <a:t> argument specifies address in byte offset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13</a:t>
            </a:fld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dirty="0" smtClean="0"/>
              <a:t>POINTER annotation</a:t>
            </a:r>
          </a:p>
          <a:p>
            <a:pPr lvl="1"/>
            <a:r>
              <a:rPr lang="en-CA" i="1" dirty="0" err="1" smtClean="0"/>
              <a:t>aspc</a:t>
            </a:r>
            <a:r>
              <a:rPr lang="en-CA" dirty="0" smtClean="0"/>
              <a:t> specifies the address space for mapping the address to physical location</a:t>
            </a:r>
          </a:p>
          <a:p>
            <a:pPr lvl="1"/>
            <a:r>
              <a:rPr lang="en-CA" i="1" dirty="0" smtClean="0"/>
              <a:t>type</a:t>
            </a:r>
            <a:r>
              <a:rPr lang="en-CA" dirty="0" smtClean="0"/>
              <a:t> is the type of the pointed-to structure</a:t>
            </a:r>
          </a:p>
          <a:p>
            <a:r>
              <a:rPr lang="en-CA" dirty="0" smtClean="0"/>
              <a:t>Implicit Pointer</a:t>
            </a:r>
          </a:p>
          <a:p>
            <a:pPr lvl="1"/>
            <a:r>
              <a:rPr lang="en-CA" dirty="0" smtClean="0"/>
              <a:t>Field computed at runtime</a:t>
            </a:r>
          </a:p>
          <a:p>
            <a:pPr lvl="1"/>
            <a:r>
              <a:rPr lang="en-CA" i="1" dirty="0" smtClean="0"/>
              <a:t>expr</a:t>
            </a:r>
            <a:r>
              <a:rPr lang="en-CA" dirty="0" smtClean="0"/>
              <a:t> specifies the computation</a:t>
            </a:r>
          </a:p>
          <a:p>
            <a:pPr lvl="1"/>
            <a:r>
              <a:rPr lang="en-CA" dirty="0" smtClean="0"/>
              <a:t>accessible via </a:t>
            </a:r>
            <a:r>
              <a:rPr lang="en-CA" i="1" dirty="0" smtClean="0"/>
              <a:t>name</a:t>
            </a:r>
            <a:r>
              <a:rPr lang="en-CA" dirty="0" smtClean="0"/>
              <a:t> argument</a:t>
            </a:r>
          </a:p>
          <a:p>
            <a:pPr lvl="2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93140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Annotation Requirements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Cross-Structure Dependencies</a:t>
            </a:r>
          </a:p>
          <a:p>
            <a:pPr lvl="1"/>
            <a:r>
              <a:rPr lang="en-CA" dirty="0"/>
              <a:t>Allows the annotation of structures to reference fields of other structures</a:t>
            </a:r>
          </a:p>
          <a:p>
            <a:pPr lvl="2"/>
            <a:r>
              <a:rPr lang="en-CA" dirty="0"/>
              <a:t>E.g., size of an Ext4 </a:t>
            </a:r>
            <a:r>
              <a:rPr lang="en-CA" dirty="0" err="1"/>
              <a:t>inode</a:t>
            </a:r>
            <a:r>
              <a:rPr lang="en-CA" dirty="0"/>
              <a:t> is </a:t>
            </a:r>
            <a:r>
              <a:rPr lang="en-CA" dirty="0" smtClean="0"/>
              <a:t>stored </a:t>
            </a:r>
            <a:r>
              <a:rPr lang="en-CA" dirty="0"/>
              <a:t>in Ext4 super block</a:t>
            </a:r>
          </a:p>
          <a:p>
            <a:r>
              <a:rPr lang="en-CA" dirty="0" smtClean="0"/>
              <a:t>Context-Sensitive Types</a:t>
            </a:r>
          </a:p>
          <a:p>
            <a:pPr lvl="1"/>
            <a:r>
              <a:rPr lang="en-CA" dirty="0" smtClean="0"/>
              <a:t>E.g., pointers may point to different types of metadata</a:t>
            </a:r>
          </a:p>
          <a:p>
            <a:pPr lvl="2"/>
            <a:r>
              <a:rPr lang="en-CA" dirty="0"/>
              <a:t>P</a:t>
            </a:r>
            <a:r>
              <a:rPr lang="en-CA" dirty="0" smtClean="0"/>
              <a:t>ointers in </a:t>
            </a:r>
            <a:r>
              <a:rPr lang="en-CA" dirty="0" err="1" smtClean="0"/>
              <a:t>inode</a:t>
            </a:r>
            <a:r>
              <a:rPr lang="en-CA" dirty="0" smtClean="0"/>
              <a:t> point to directory </a:t>
            </a:r>
            <a:r>
              <a:rPr lang="en-CA" dirty="0" smtClean="0"/>
              <a:t>blocks </a:t>
            </a:r>
            <a:r>
              <a:rPr lang="en-CA" dirty="0" smtClean="0"/>
              <a:t>if </a:t>
            </a:r>
            <a:r>
              <a:rPr lang="en-CA" dirty="0" err="1" smtClean="0"/>
              <a:t>inode</a:t>
            </a:r>
            <a:r>
              <a:rPr lang="en-CA" dirty="0" smtClean="0"/>
              <a:t> is directory</a:t>
            </a:r>
          </a:p>
          <a:p>
            <a:pPr lvl="1"/>
            <a:r>
              <a:rPr lang="en-CA" dirty="0" smtClean="0"/>
              <a:t>E.g., structures may have optional fields</a:t>
            </a:r>
          </a:p>
          <a:p>
            <a:pPr lvl="2"/>
            <a:r>
              <a:rPr lang="en-CA" dirty="0" smtClean="0"/>
              <a:t>Ext4 </a:t>
            </a:r>
            <a:r>
              <a:rPr lang="en-CA" dirty="0" err="1" smtClean="0"/>
              <a:t>inode</a:t>
            </a:r>
            <a:r>
              <a:rPr lang="en-CA" dirty="0" smtClean="0"/>
              <a:t> can store extended attributes if size &gt; 128</a:t>
            </a:r>
          </a:p>
          <a:p>
            <a:r>
              <a:rPr lang="en-CA" dirty="0"/>
              <a:t>Constraint Checking</a:t>
            </a:r>
          </a:p>
          <a:p>
            <a:pPr lvl="1"/>
            <a:r>
              <a:rPr lang="en-CA" dirty="0"/>
              <a:t>Helps detect corrupted metadata </a:t>
            </a:r>
            <a:r>
              <a:rPr lang="en-CA" dirty="0" smtClean="0"/>
              <a:t>structures</a:t>
            </a:r>
          </a:p>
          <a:p>
            <a:pPr lvl="1"/>
            <a:endParaRPr lang="en-CA" dirty="0" smtClean="0"/>
          </a:p>
          <a:p>
            <a:pPr lvl="1"/>
            <a:endParaRPr lang="en-CA" dirty="0"/>
          </a:p>
          <a:p>
            <a:pPr lvl="2"/>
            <a:endParaRPr lang="en-CA" dirty="0" smtClean="0"/>
          </a:p>
          <a:p>
            <a:pPr lvl="1"/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14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59825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Exmple</a:t>
            </a:r>
            <a:r>
              <a:rPr lang="en-US" dirty="0" smtClean="0"/>
              <a:t> Annotations</a:t>
            </a:r>
            <a:endParaRPr lang="en-CA" dirty="0"/>
          </a:p>
        </p:txBody>
      </p:sp>
      <p:sp>
        <p:nvSpPr>
          <p:cNvPr id="10" name="Content Placeholder 6"/>
          <p:cNvSpPr txBox="1">
            <a:spLocks noGrp="1"/>
          </p:cNvSpPr>
          <p:nvPr>
            <p:ph sz="half" idx="1"/>
          </p:nvPr>
        </p:nvSpPr>
        <p:spPr>
          <a:xfrm>
            <a:off x="684211" y="1515361"/>
            <a:ext cx="4782311" cy="465683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FSSUPER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…) ext4_super_block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__le32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le16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le32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s_inode_size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CHECK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 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self.s_magic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en-CA" sz="400" b="1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FSSTRUCT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sb.s_inode_size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ext4_inode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__le16 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i_mode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CA" sz="1400" dirty="0" smtClean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…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dir_block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self.i_mode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S_IFDIR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     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aspc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                </a:t>
            </a:r>
            <a:endParaRPr lang="en-CA" sz="1400" dirty="0" smtClean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self.i_mode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S_IFREG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             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le32	</a:t>
            </a:r>
            <a:r>
              <a:rPr lang="en-CA" sz="140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i_block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[EXT3_NDIR_BLOCKS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15</a:t>
            </a:fld>
            <a:endParaRPr lang="en-CA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dirty="0" smtClean="0"/>
              <a:t>CHECK annotation</a:t>
            </a:r>
          </a:p>
          <a:p>
            <a:pPr lvl="1"/>
            <a:r>
              <a:rPr lang="en-CA" dirty="0" smtClean="0"/>
              <a:t>Enables constraint checking</a:t>
            </a:r>
          </a:p>
          <a:p>
            <a:r>
              <a:rPr lang="en-CA" dirty="0" smtClean="0"/>
              <a:t>FSSUPER/FSSTRUCT</a:t>
            </a:r>
          </a:p>
          <a:p>
            <a:pPr lvl="1"/>
            <a:r>
              <a:rPr lang="en-CA" i="1" dirty="0" smtClean="0"/>
              <a:t>name </a:t>
            </a:r>
            <a:r>
              <a:rPr lang="en-CA" dirty="0" smtClean="0"/>
              <a:t>argument allows structure to be referenced by others</a:t>
            </a:r>
          </a:p>
          <a:p>
            <a:pPr lvl="1"/>
            <a:r>
              <a:rPr lang="en-CA" dirty="0" smtClean="0"/>
              <a:t>e.g., </a:t>
            </a:r>
            <a:r>
              <a:rPr lang="en-CA" i="1" dirty="0" smtClean="0"/>
              <a:t>size</a:t>
            </a:r>
            <a:r>
              <a:rPr lang="en-CA" dirty="0" smtClean="0"/>
              <a:t> argument for ext4_inode references field in super block </a:t>
            </a:r>
            <a:endParaRPr lang="en-CA" i="1" dirty="0" smtClean="0"/>
          </a:p>
          <a:p>
            <a:r>
              <a:rPr lang="en-CA" i="1" dirty="0" smtClean="0"/>
              <a:t>when</a:t>
            </a:r>
            <a:r>
              <a:rPr lang="en-CA" dirty="0" smtClean="0"/>
              <a:t> argument</a:t>
            </a:r>
          </a:p>
          <a:p>
            <a:pPr lvl="1"/>
            <a:r>
              <a:rPr lang="en-CA" dirty="0" smtClean="0"/>
              <a:t>Supports context-sensitive types</a:t>
            </a:r>
          </a:p>
          <a:p>
            <a:pPr lvl="1"/>
            <a:r>
              <a:rPr lang="en-CA" dirty="0" smtClean="0"/>
              <a:t>Evaluated at runtime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88544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Generating Spiffy Library</a:t>
            </a:r>
            <a:endParaRPr lang="en-CA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smtClean="0"/>
              <a:t>Annotation</a:t>
            </a:r>
            <a:endParaRPr lang="en-CA" dirty="0"/>
          </a:p>
        </p:txBody>
      </p:sp>
      <p:sp>
        <p:nvSpPr>
          <p:cNvPr id="10" name="Content Placeholder 6"/>
          <p:cNvSpPr txBox="1">
            <a:spLocks noGrp="1"/>
          </p:cNvSpPr>
          <p:nvPr>
            <p:ph sz="half" idx="2"/>
          </p:nvPr>
        </p:nvSpPr>
        <p:spPr>
          <a:xfrm>
            <a:off x="684211" y="2100086"/>
            <a:ext cx="9678989" cy="40721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FSSUPER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ext4_super_block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__le32 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le16 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__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le32 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s_inode_size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b="1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CHECK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smtClean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self.s_log_block_size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&lt;= 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en-CA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self.s_magic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0xef53</a:t>
            </a: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CA" sz="1400" dirty="0" smtClean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dirty="0"/>
              <a:t>C++ class generated for every annotated class and its fields</a:t>
            </a:r>
          </a:p>
          <a:p>
            <a:pPr lvl="1"/>
            <a:r>
              <a:rPr lang="en-CA" dirty="0"/>
              <a:t>Enables type-safe parsing and serialization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CA" sz="1400" dirty="0" smtClean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 smtClean="0"/>
              <a:t>Generated Code</a:t>
            </a:r>
            <a:endParaRPr lang="en-CA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>
          <a:xfrm>
            <a:off x="5621866" y="2100086"/>
            <a:ext cx="5191908" cy="2601123"/>
          </a:xfrm>
        </p:spPr>
        <p:txBody>
          <a:bodyPr>
            <a:noAutofit/>
          </a:bodyPr>
          <a:lstStyle/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parse(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char * &amp; 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unsigned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&amp;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s_log_block_size.parse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if (ret &lt; 0) return ret;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smtClean="0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CA" sz="1400" dirty="0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(!(this-&gt;</a:t>
            </a:r>
            <a:r>
              <a:rPr lang="en-CA" sz="1400" dirty="0" err="1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400" dirty="0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 &lt;= 6))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  if (!(this-&gt;</a:t>
            </a:r>
            <a:r>
              <a:rPr lang="en-CA" sz="1400" dirty="0" err="1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s_magic</a:t>
            </a:r>
            <a:r>
              <a:rPr lang="en-CA" sz="1400" dirty="0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 == 0xef53))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effectLst>
                  <a:glow rad="101600">
                    <a:srgbClr val="FFFF00">
                      <a:alpha val="40000"/>
                    </a:srgbClr>
                  </a:glo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    return ERR_CORRUPT;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CA" sz="1400" dirty="0">
              <a:solidFill>
                <a:schemeClr val="accent6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t>16</a:t>
            </a:fld>
            <a:endParaRPr lang="en-CA"/>
          </a:p>
        </p:txBody>
      </p:sp>
      <p:sp>
        <p:nvSpPr>
          <p:cNvPr id="6" name="Right Arrow 5"/>
          <p:cNvSpPr/>
          <p:nvPr/>
        </p:nvSpPr>
        <p:spPr>
          <a:xfrm>
            <a:off x="5345150" y="3588027"/>
            <a:ext cx="277598" cy="168965"/>
          </a:xfrm>
          <a:prstGeom prst="rightArrow">
            <a:avLst/>
          </a:prstGeom>
          <a:noFill/>
          <a:ln w="25400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0566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Evaluation: Annotation </a:t>
            </a:r>
            <a:r>
              <a:rPr lang="en-CA" dirty="0" smtClean="0"/>
              <a:t>Effort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2990597"/>
            <a:ext cx="9403743" cy="3257801"/>
          </a:xfrm>
        </p:spPr>
        <p:txBody>
          <a:bodyPr>
            <a:normAutofit/>
          </a:bodyPr>
          <a:lstStyle/>
          <a:p>
            <a:r>
              <a:rPr lang="en-CA" dirty="0" smtClean="0"/>
              <a:t>LOC required for </a:t>
            </a:r>
            <a:r>
              <a:rPr lang="en-CA" i="1" dirty="0" smtClean="0"/>
              <a:t>file system developers</a:t>
            </a:r>
            <a:r>
              <a:rPr lang="en-CA" dirty="0" smtClean="0"/>
              <a:t> to correctly annotate their file systems</a:t>
            </a:r>
          </a:p>
          <a:p>
            <a:pPr lvl="1"/>
            <a:r>
              <a:rPr lang="en-CA" dirty="0" smtClean="0"/>
              <a:t>Some structures not originally declared</a:t>
            </a:r>
          </a:p>
          <a:p>
            <a:pPr lvl="2"/>
            <a:r>
              <a:rPr lang="en-CA" dirty="0" smtClean="0"/>
              <a:t>E.g. Ext4 indirect block is just an array of 4-byte pointers</a:t>
            </a:r>
          </a:p>
          <a:p>
            <a:pPr lvl="1"/>
            <a:r>
              <a:rPr lang="en-CA" dirty="0" smtClean="0"/>
              <a:t>Some structures need to be revised</a:t>
            </a:r>
          </a:p>
          <a:p>
            <a:pPr lvl="2"/>
            <a:r>
              <a:rPr lang="en-CA" dirty="0" smtClean="0"/>
              <a:t>E.g., Ext4 </a:t>
            </a:r>
            <a:r>
              <a:rPr lang="en-CA" dirty="0" err="1" smtClean="0"/>
              <a:t>inode</a:t>
            </a:r>
            <a:r>
              <a:rPr lang="en-CA" dirty="0" smtClean="0"/>
              <a:t> contains an array of block pointers, but the last 3 are indirect pointers of different levels</a:t>
            </a:r>
          </a:p>
          <a:p>
            <a:pPr lvl="3"/>
            <a:r>
              <a:rPr lang="en-CA" dirty="0" err="1" smtClean="0"/>
              <a:t>Inode</a:t>
            </a:r>
            <a:r>
              <a:rPr lang="en-CA" dirty="0" smtClean="0"/>
              <a:t> structure definition changed to properly annotate the indirect pointers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476845"/>
              </p:ext>
            </p:extLst>
          </p:nvPr>
        </p:nvGraphicFramePr>
        <p:xfrm>
          <a:off x="2024016" y="1507237"/>
          <a:ext cx="6359598" cy="14833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11986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11986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11986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File System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Line Count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Annotated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Ext4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491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113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err="1" smtClean="0">
                          <a:solidFill>
                            <a:schemeClr val="bg1"/>
                          </a:solidFill>
                        </a:rPr>
                        <a:t>Btrfs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556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151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F2FS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462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127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17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99493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Building Spiffy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9"/>
            <a:ext cx="10285797" cy="4593210"/>
          </a:xfrm>
        </p:spPr>
        <p:txBody>
          <a:bodyPr>
            <a:normAutofit/>
          </a:bodyPr>
          <a:lstStyle/>
          <a:p>
            <a:r>
              <a:rPr lang="en-CA" dirty="0" smtClean="0"/>
              <a:t>Example: File System Free Space Tool</a:t>
            </a:r>
          </a:p>
          <a:p>
            <a:pPr lvl="1"/>
            <a:r>
              <a:rPr lang="en-CA" dirty="0" smtClean="0"/>
              <a:t>plot </a:t>
            </a:r>
            <a:r>
              <a:rPr lang="en-CA" dirty="0"/>
              <a:t>histogram of </a:t>
            </a:r>
            <a:r>
              <a:rPr lang="en-CA" dirty="0" smtClean="0"/>
              <a:t>size </a:t>
            </a:r>
            <a:r>
              <a:rPr lang="en-CA" dirty="0"/>
              <a:t>of free extents</a:t>
            </a:r>
            <a:endParaRPr lang="en-CA" dirty="0" smtClean="0"/>
          </a:p>
          <a:p>
            <a:r>
              <a:rPr lang="en-CA" dirty="0" smtClean="0"/>
              <a:t>Manually (ad-hoc processing)</a:t>
            </a:r>
          </a:p>
          <a:p>
            <a:pPr lvl="1"/>
            <a:r>
              <a:rPr lang="en-CA" dirty="0" smtClean="0"/>
              <a:t>Find documentation on format of each file system</a:t>
            </a:r>
          </a:p>
          <a:p>
            <a:pPr lvl="2"/>
            <a:r>
              <a:rPr lang="en-CA" dirty="0" smtClean="0"/>
              <a:t>Learn how each file system keeps track of block allocation information</a:t>
            </a:r>
          </a:p>
          <a:p>
            <a:pPr lvl="1"/>
            <a:r>
              <a:rPr lang="en-CA" dirty="0" smtClean="0"/>
              <a:t>Write code to find and process relevant metadata</a:t>
            </a:r>
          </a:p>
          <a:p>
            <a:pPr lvl="2"/>
            <a:r>
              <a:rPr lang="en-CA" dirty="0" smtClean="0"/>
              <a:t>E.g., block bitmap for Ext4, extent items for </a:t>
            </a:r>
            <a:r>
              <a:rPr lang="en-CA" dirty="0" err="1" smtClean="0"/>
              <a:t>Btrfs</a:t>
            </a:r>
            <a:r>
              <a:rPr lang="en-CA" dirty="0" smtClean="0"/>
              <a:t>, SIT entries for F2FS</a:t>
            </a:r>
          </a:p>
          <a:p>
            <a:r>
              <a:rPr lang="en-CA" dirty="0" smtClean="0"/>
              <a:t>Using Spiffy framework</a:t>
            </a:r>
          </a:p>
          <a:p>
            <a:pPr lvl="1"/>
            <a:r>
              <a:rPr lang="en-CA" dirty="0"/>
              <a:t>Use Spiffy to locate metadata that stores block allocation information</a:t>
            </a:r>
          </a:p>
          <a:p>
            <a:pPr lvl="1"/>
            <a:r>
              <a:rPr lang="en-CA" dirty="0"/>
              <a:t>Write file-system specific code to process metadata structures</a:t>
            </a:r>
          </a:p>
          <a:p>
            <a:endParaRPr lang="en-CA" dirty="0" smtClean="0"/>
          </a:p>
          <a:p>
            <a:pPr lvl="1"/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18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24490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6"/>
          <p:cNvSpPr txBox="1">
            <a:spLocks/>
          </p:cNvSpPr>
          <p:nvPr/>
        </p:nvSpPr>
        <p:spPr>
          <a:xfrm>
            <a:off x="951929" y="2073898"/>
            <a:ext cx="10285797" cy="47841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ext4_group_desc),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7" name="TextBox 6"/>
          <p:cNvSpPr txBox="1"/>
          <p:nvPr/>
        </p:nvSpPr>
        <p:spPr>
          <a:xfrm>
            <a:off x="8362122" y="2468890"/>
            <a:ext cx="30094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LOTS of boilerplate code </a:t>
            </a:r>
            <a:r>
              <a:rPr lang="en-CA" dirty="0" smtClean="0">
                <a:solidFill>
                  <a:schemeClr val="bg1"/>
                </a:solidFill>
              </a:rPr>
              <a:t>to walk through the intermediate structures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13" name="Content Placeholder 9"/>
          <p:cNvSpPr txBox="1">
            <a:spLocks/>
          </p:cNvSpPr>
          <p:nvPr/>
        </p:nvSpPr>
        <p:spPr>
          <a:xfrm>
            <a:off x="684211" y="1515358"/>
            <a:ext cx="10285797" cy="112414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 smtClean="0"/>
              <a:t>Manual, Ad-hoc processing</a:t>
            </a:r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19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38896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2" name="TextBox 1"/>
          <p:cNvSpPr txBox="1"/>
          <p:nvPr/>
        </p:nvSpPr>
        <p:spPr>
          <a:xfrm>
            <a:off x="8734308" y="2073898"/>
            <a:ext cx="268155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b="1" dirty="0" smtClean="0">
                <a:solidFill>
                  <a:schemeClr val="bg1"/>
                </a:solidFill>
              </a:rPr>
              <a:t>No sanity checks!</a:t>
            </a:r>
          </a:p>
          <a:p>
            <a:pPr marL="263525" indent="-179388">
              <a:buFont typeface="Arial" panose="020B0604020202020204" pitchFamily="34" charset="0"/>
              <a:buChar char="•"/>
            </a:pPr>
            <a:r>
              <a:rPr lang="en-CA" dirty="0" smtClean="0">
                <a:solidFill>
                  <a:schemeClr val="bg1"/>
                </a:solidFill>
              </a:rPr>
              <a:t>Value may be out- of-bound, incorrect</a:t>
            </a:r>
          </a:p>
          <a:p>
            <a:pPr marL="263525" indent="-179388">
              <a:buFont typeface="Arial" panose="020B0604020202020204" pitchFamily="34" charset="0"/>
              <a:buChar char="•"/>
            </a:pPr>
            <a:r>
              <a:rPr lang="en-CA" dirty="0" smtClean="0">
                <a:solidFill>
                  <a:schemeClr val="bg1"/>
                </a:solidFill>
              </a:rPr>
              <a:t>Can cause crashes</a:t>
            </a:r>
            <a:br>
              <a:rPr lang="en-CA" dirty="0" smtClean="0">
                <a:solidFill>
                  <a:schemeClr val="bg1"/>
                </a:solidFill>
              </a:rPr>
            </a:br>
            <a:r>
              <a:rPr lang="en-CA" dirty="0" smtClean="0">
                <a:solidFill>
                  <a:schemeClr val="bg1"/>
                </a:solidFill>
              </a:rPr>
              <a:t>or garbage output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 flipH="1">
            <a:off x="6778487" y="2281287"/>
            <a:ext cx="1955821" cy="740209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7374835" y="2281287"/>
            <a:ext cx="1359473" cy="1495583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rot="5400000">
            <a:off x="6780007" y="3402890"/>
            <a:ext cx="3075904" cy="832699"/>
          </a:xfrm>
          <a:prstGeom prst="bentConnector3">
            <a:avLst>
              <a:gd name="adj1" fmla="val 100085"/>
            </a:avLst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9"/>
          <p:cNvSpPr txBox="1">
            <a:spLocks/>
          </p:cNvSpPr>
          <p:nvPr/>
        </p:nvSpPr>
        <p:spPr>
          <a:xfrm>
            <a:off x="684211" y="1515358"/>
            <a:ext cx="10285797" cy="112414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 smtClean="0"/>
              <a:t>Manual, Ad-hoc processing</a:t>
            </a:r>
            <a:endParaRPr lang="en-CA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20</a:t>
            </a:fld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7841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ext4_group_desc),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1305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6"/>
          <p:cNvSpPr txBox="1">
            <a:spLocks/>
          </p:cNvSpPr>
          <p:nvPr/>
        </p:nvSpPr>
        <p:spPr>
          <a:xfrm>
            <a:off x="951929" y="2073898"/>
            <a:ext cx="10285797" cy="47841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ext4 super block is 1024 bytes away from start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ext4_super_block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SB_SIZE);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block group descriptors start at block 2 or 1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s_blocks_count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s_blocks_per_group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ceil(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ext4_group_desc),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all of the block group descriptors into memory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ext4_group_desc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bg_blknr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bg_nblks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for (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bg_ngrps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++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dev.read_block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gd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bg_block_bitmap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ret =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buf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2" name="Rectangle 1"/>
          <p:cNvSpPr/>
          <p:nvPr/>
        </p:nvSpPr>
        <p:spPr>
          <a:xfrm>
            <a:off x="1381538" y="5396947"/>
            <a:ext cx="5237923" cy="346843"/>
          </a:xfrm>
          <a:prstGeom prst="rect">
            <a:avLst/>
          </a:prstGeom>
          <a:solidFill>
            <a:schemeClr val="tx1">
              <a:alpha val="0"/>
            </a:schemeClr>
          </a:solidFill>
          <a:ln w="38100">
            <a:solidFill>
              <a:srgbClr val="FFFF00"/>
            </a:solidFill>
          </a:ln>
          <a:effectLst>
            <a:glow rad="1016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/>
          <p:cNvSpPr txBox="1"/>
          <p:nvPr/>
        </p:nvSpPr>
        <p:spPr>
          <a:xfrm>
            <a:off x="8404493" y="2131673"/>
            <a:ext cx="27908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We want an easier way to find and process all of the block bitmaps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rot="10800000" flipV="1">
            <a:off x="6619463" y="3220281"/>
            <a:ext cx="3476019" cy="2358192"/>
          </a:xfrm>
          <a:prstGeom prst="bentConnector3">
            <a:avLst>
              <a:gd name="adj1" fmla="val -38"/>
            </a:avLst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9"/>
          <p:cNvSpPr txBox="1">
            <a:spLocks/>
          </p:cNvSpPr>
          <p:nvPr/>
        </p:nvSpPr>
        <p:spPr>
          <a:xfrm>
            <a:off x="684211" y="1515358"/>
            <a:ext cx="10285797" cy="112414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 smtClean="0"/>
              <a:t>Manual, Ad-hoc processing</a:t>
            </a:r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21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763951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Coding Style Comparison</a:t>
            </a:r>
            <a:endParaRPr lang="en-CA" dirty="0"/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1576634"/>
          </a:xfrm>
        </p:spPr>
        <p:txBody>
          <a:bodyPr>
            <a:normAutofit/>
          </a:bodyPr>
          <a:lstStyle/>
          <a:p>
            <a:r>
              <a:rPr lang="en-CA" dirty="0" smtClean="0"/>
              <a:t>Using Spiffy Library</a:t>
            </a:r>
          </a:p>
          <a:p>
            <a:pPr lvl="1"/>
            <a:endParaRPr lang="en-CA" dirty="0" smtClean="0"/>
          </a:p>
          <a:p>
            <a:pPr marL="0" indent="0">
              <a:buNone/>
            </a:pPr>
            <a:r>
              <a:rPr lang="en-CA" dirty="0" smtClean="0"/>
              <a:t>  </a:t>
            </a:r>
            <a:endParaRPr lang="en-CA" dirty="0"/>
          </a:p>
        </p:txBody>
      </p:sp>
      <p:sp>
        <p:nvSpPr>
          <p:cNvPr id="11" name="Content Placeholder 6"/>
          <p:cNvSpPr txBox="1">
            <a:spLocks/>
          </p:cNvSpPr>
          <p:nvPr/>
        </p:nvSpPr>
        <p:spPr>
          <a:xfrm>
            <a:off x="951929" y="2073898"/>
            <a:ext cx="10285797" cy="42787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Font typeface="Wingdings 3" panose="05040102010807070707" pitchFamily="18" charset="2"/>
              <a:buNone/>
            </a:pPr>
            <a:r>
              <a:rPr lang="en-CA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 smtClean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process_ext4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(vector&lt;Extent&gt; &amp;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Device &amp; dev) {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:  Ext4 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ext4(dev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: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read super block into memory */</a:t>
            </a:r>
            <a:endParaRPr lang="en-CA" sz="1600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Ext4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SuperBlock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ext4.fetch_super();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:  if 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nullptr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5: 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dev.set_block_size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1024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s_log_block_size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6:  </a:t>
            </a:r>
            <a:r>
              <a:rPr lang="en-CA" sz="1600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traverse file system and find/process all block bitmaps */</a:t>
            </a: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CA" sz="16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process_by_type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(BLOCK_BITMAP,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process_block_bitmap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CA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  <a:endParaRPr lang="en-CA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Content Placeholder 9"/>
          <p:cNvSpPr txBox="1">
            <a:spLocks/>
          </p:cNvSpPr>
          <p:nvPr/>
        </p:nvSpPr>
        <p:spPr>
          <a:xfrm>
            <a:off x="684210" y="4411614"/>
            <a:ext cx="8954839" cy="17673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4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20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8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80000"/>
              <a:buFont typeface="Wingdings 3" panose="05040102010807070707" pitchFamily="18" charset="2"/>
              <a:buChar char=""/>
              <a:defRPr sz="1600" kern="1200" cap="none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Char char=""/>
              <a:defRPr sz="14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CA" dirty="0" smtClean="0"/>
              <a:t>Advantages</a:t>
            </a:r>
          </a:p>
          <a:p>
            <a:pPr lvl="2"/>
            <a:r>
              <a:rPr lang="en-CA" dirty="0" smtClean="0"/>
              <a:t>simplifies file system traversal,</a:t>
            </a:r>
            <a:r>
              <a:rPr lang="en-CA" dirty="0"/>
              <a:t> </a:t>
            </a:r>
            <a:r>
              <a:rPr lang="en-CA" dirty="0" smtClean="0"/>
              <a:t>reduces need to know format details</a:t>
            </a:r>
          </a:p>
          <a:p>
            <a:pPr lvl="2"/>
            <a:r>
              <a:rPr lang="en-CA" dirty="0" smtClean="0"/>
              <a:t>library parsing routines have automatically generated sanity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09726" y="1743298"/>
            <a:ext cx="26425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dirty="0" smtClean="0">
                <a:solidFill>
                  <a:schemeClr val="bg1"/>
                </a:solidFill>
              </a:rPr>
              <a:t>Returns </a:t>
            </a:r>
            <a:r>
              <a:rPr lang="en-CA" i="1" dirty="0" err="1" smtClean="0">
                <a:solidFill>
                  <a:schemeClr val="bg1"/>
                </a:solidFill>
              </a:rPr>
              <a:t>nullptr</a:t>
            </a:r>
            <a:r>
              <a:rPr lang="en-CA" dirty="0" smtClean="0">
                <a:solidFill>
                  <a:schemeClr val="bg1"/>
                </a:solidFill>
              </a:rPr>
              <a:t> if super block is corrupted</a:t>
            </a:r>
            <a:endParaRPr lang="en-CA" dirty="0">
              <a:solidFill>
                <a:schemeClr val="bg1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6808304" y="1997765"/>
            <a:ext cx="1601422" cy="1013792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22</a:t>
            </a:fld>
            <a:endParaRPr lang="en-CA" dirty="0"/>
          </a:p>
        </p:txBody>
      </p:sp>
      <p:cxnSp>
        <p:nvCxnSpPr>
          <p:cNvPr id="14" name="Straight Arrow Connector 13"/>
          <p:cNvCxnSpPr/>
          <p:nvPr/>
        </p:nvCxnSpPr>
        <p:spPr>
          <a:xfrm flipH="1">
            <a:off x="9044609" y="3507933"/>
            <a:ext cx="594441" cy="437902"/>
          </a:xfrm>
          <a:prstGeom prst="straightConnector1">
            <a:avLst/>
          </a:prstGeom>
          <a:ln w="38100">
            <a:solidFill>
              <a:srgbClr val="FF0000">
                <a:alpha val="7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2135" y="3128159"/>
            <a:ext cx="11777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400"/>
              </a:lnSpc>
              <a:spcBef>
                <a:spcPts val="600"/>
              </a:spcBef>
            </a:pPr>
            <a:r>
              <a:rPr lang="en-CA" b="1" dirty="0" smtClean="0">
                <a:solidFill>
                  <a:schemeClr val="bg1"/>
                </a:solidFill>
              </a:rPr>
              <a:t>THAT’S IT</a:t>
            </a:r>
            <a:endParaRPr lang="en-CA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0288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Offline Spiffy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CA" dirty="0" smtClean="0"/>
              <a:t>Offline applications</a:t>
            </a:r>
          </a:p>
          <a:p>
            <a:pPr lvl="1"/>
            <a:r>
              <a:rPr lang="en-CA" dirty="0" smtClean="0"/>
              <a:t>File </a:t>
            </a:r>
            <a:r>
              <a:rPr lang="en-CA" dirty="0" smtClean="0"/>
              <a:t>System Dump Tool</a:t>
            </a:r>
          </a:p>
          <a:p>
            <a:pPr lvl="2"/>
            <a:r>
              <a:rPr lang="en-CA" dirty="0" smtClean="0"/>
              <a:t>Prints out all metadata in a file system</a:t>
            </a:r>
          </a:p>
          <a:p>
            <a:pPr lvl="1"/>
            <a:r>
              <a:rPr lang="en-CA" dirty="0" smtClean="0"/>
              <a:t>Type-Specific File System Corruptor</a:t>
            </a:r>
          </a:p>
          <a:p>
            <a:pPr lvl="2"/>
            <a:r>
              <a:rPr lang="en-CA" dirty="0" smtClean="0"/>
              <a:t>Finds and corrupts a field in a specified structure</a:t>
            </a:r>
          </a:p>
          <a:p>
            <a:pPr lvl="1"/>
            <a:r>
              <a:rPr lang="en-CA" dirty="0" smtClean="0"/>
              <a:t>Free Space Display </a:t>
            </a:r>
            <a:r>
              <a:rPr lang="en-CA" dirty="0" smtClean="0"/>
              <a:t>Tool</a:t>
            </a:r>
          </a:p>
          <a:p>
            <a:pPr lvl="2"/>
            <a:r>
              <a:rPr lang="en-CA" dirty="0"/>
              <a:t>plot histogram of size of free </a:t>
            </a:r>
            <a:r>
              <a:rPr lang="en-CA" dirty="0" smtClean="0"/>
              <a:t>extents</a:t>
            </a:r>
            <a:endParaRPr lang="en-CA" dirty="0" smtClean="0"/>
          </a:p>
          <a:p>
            <a:pPr lvl="1"/>
            <a:r>
              <a:rPr lang="en-CA" dirty="0" smtClean="0"/>
              <a:t>File System Conversion Tool</a:t>
            </a:r>
          </a:p>
          <a:p>
            <a:pPr lvl="2"/>
            <a:r>
              <a:rPr lang="en-CA" dirty="0" smtClean="0"/>
              <a:t>Converts from one file system to another while minimizes moving of data blocks</a:t>
            </a:r>
          </a:p>
          <a:p>
            <a:pPr lvl="2"/>
            <a:r>
              <a:rPr lang="en-CA" dirty="0" smtClean="0"/>
              <a:t>Faster than copying to a difference device, reformat, and copy back</a:t>
            </a:r>
            <a:br>
              <a:rPr lang="en-CA" dirty="0" smtClean="0"/>
            </a:br>
            <a:r>
              <a:rPr lang="en-CA" dirty="0" smtClean="0"/>
              <a:t>	</a:t>
            </a:r>
          </a:p>
          <a:p>
            <a:pPr marL="914400" lvl="2" indent="0">
              <a:buNone/>
            </a:pPr>
            <a:r>
              <a:rPr lang="en-CA" dirty="0"/>
              <a:t>	</a:t>
            </a:r>
            <a:endParaRPr lang="en-CA" dirty="0" smtClean="0"/>
          </a:p>
          <a:p>
            <a:pPr lvl="1"/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23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64355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smtClean="0"/>
              <a:t>Online Spiffy Applications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CA" dirty="0" smtClean="0"/>
              <a:t>Online applications</a:t>
            </a:r>
          </a:p>
          <a:p>
            <a:pPr lvl="1"/>
            <a:r>
              <a:rPr lang="en-CA" dirty="0" smtClean="0"/>
              <a:t>Differentiated Block Layer </a:t>
            </a:r>
            <a:r>
              <a:rPr lang="en-CA" dirty="0" smtClean="0"/>
              <a:t>Cache</a:t>
            </a:r>
          </a:p>
          <a:p>
            <a:pPr lvl="2"/>
            <a:r>
              <a:rPr lang="en-CA" dirty="0" smtClean="0"/>
              <a:t>Preferentially caches metadata and small files</a:t>
            </a:r>
            <a:endParaRPr lang="en-CA" dirty="0" smtClean="0"/>
          </a:p>
          <a:p>
            <a:pPr lvl="2"/>
            <a:r>
              <a:rPr lang="en-CA" dirty="0"/>
              <a:t>Typically difficult to </a:t>
            </a:r>
            <a:r>
              <a:rPr lang="en-CA" dirty="0" smtClean="0"/>
              <a:t>implement</a:t>
            </a:r>
          </a:p>
          <a:p>
            <a:pPr lvl="2"/>
            <a:r>
              <a:rPr lang="en-CA" dirty="0" smtClean="0"/>
              <a:t> </a:t>
            </a:r>
            <a:r>
              <a:rPr lang="en-CA" dirty="0" smtClean="0"/>
              <a:t>Requires </a:t>
            </a:r>
            <a:r>
              <a:rPr lang="en-CA" dirty="0" smtClean="0"/>
              <a:t>file </a:t>
            </a:r>
            <a:r>
              <a:rPr lang="en-CA" dirty="0" smtClean="0"/>
              <a:t>system to </a:t>
            </a:r>
            <a:r>
              <a:rPr lang="en-CA" dirty="0" smtClean="0"/>
              <a:t>provide hints to block layer</a:t>
            </a:r>
          </a:p>
          <a:p>
            <a:pPr lvl="1"/>
            <a:r>
              <a:rPr lang="en-CA" dirty="0"/>
              <a:t>Runtime Interpretation</a:t>
            </a:r>
          </a:p>
          <a:p>
            <a:pPr lvl="2"/>
            <a:r>
              <a:rPr lang="en-CA" dirty="0"/>
              <a:t>Classifies file system IO at the block layer</a:t>
            </a:r>
          </a:p>
          <a:p>
            <a:pPr lvl="2"/>
            <a:r>
              <a:rPr lang="en-CA" dirty="0"/>
              <a:t>Requires </a:t>
            </a:r>
            <a:r>
              <a:rPr lang="en-CA" i="1" dirty="0"/>
              <a:t>no</a:t>
            </a:r>
            <a:r>
              <a:rPr lang="en-CA" dirty="0"/>
              <a:t> modification to file </a:t>
            </a:r>
            <a:r>
              <a:rPr lang="en-CA" dirty="0" smtClean="0"/>
              <a:t>system</a:t>
            </a:r>
            <a:endParaRPr lang="en-CA" dirty="0"/>
          </a:p>
          <a:p>
            <a:pPr lvl="1"/>
            <a:r>
              <a:rPr lang="en-CA" dirty="0" smtClean="0"/>
              <a:t>Spiffy Block Layer Cache</a:t>
            </a:r>
          </a:p>
          <a:p>
            <a:pPr lvl="2"/>
            <a:r>
              <a:rPr lang="en-CA" dirty="0" smtClean="0"/>
              <a:t>Preferentially </a:t>
            </a:r>
            <a:r>
              <a:rPr lang="en-CA" dirty="0" smtClean="0"/>
              <a:t>caches files belonging to specified user(s)</a:t>
            </a:r>
          </a:p>
          <a:p>
            <a:pPr marL="914400" lvl="2" indent="0">
              <a:buNone/>
            </a:pPr>
            <a:r>
              <a:rPr lang="en-CA" dirty="0"/>
              <a:t>	</a:t>
            </a:r>
            <a:endParaRPr lang="en-CA" dirty="0" smtClean="0"/>
          </a:p>
          <a:p>
            <a:pPr lvl="1"/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24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8155113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Programming </a:t>
            </a:r>
            <a:r>
              <a:rPr lang="en-CA" dirty="0"/>
              <a:t>Effort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1543050"/>
            <a:ext cx="10600065" cy="4914311"/>
          </a:xfrm>
        </p:spPr>
        <p:txBody>
          <a:bodyPr>
            <a:normAutofit/>
          </a:bodyPr>
          <a:lstStyle/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r>
              <a:rPr lang="en-CA" dirty="0" smtClean="0"/>
              <a:t>Programming effort reduced for read-only file system applications</a:t>
            </a:r>
          </a:p>
          <a:p>
            <a:pPr lvl="1"/>
            <a:r>
              <a:rPr lang="en-CA" dirty="0" smtClean="0"/>
              <a:t>Both online and offline</a:t>
            </a:r>
            <a:endParaRPr lang="en-CA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067637"/>
              </p:ext>
            </p:extLst>
          </p:nvPr>
        </p:nvGraphicFramePr>
        <p:xfrm>
          <a:off x="806374" y="1543050"/>
          <a:ext cx="8901277" cy="33375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59398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01733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89955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Applications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Generic (LOC)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File-System</a:t>
                      </a:r>
                      <a:r>
                        <a:rPr lang="en-CA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Specific (LOC)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XML Dump Tool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565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40~50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Free Space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Display Tool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271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76~194 (F2FS)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Type-Specific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Corruptor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455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&lt; 30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Ext4 to F2FS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Converter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504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218 (Ext4)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, 1760 (F2FS)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Runtime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Interpretation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2158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111 (Ext4),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134 (</a:t>
                      </a:r>
                      <a:r>
                        <a:rPr lang="en-CA" baseline="0" dirty="0" err="1" smtClean="0">
                          <a:solidFill>
                            <a:schemeClr val="bg1"/>
                          </a:solidFill>
                        </a:rPr>
                        <a:t>Btrfs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Differentiated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Storage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79388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- Block Layer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10518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N/A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79388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- Preferential</a:t>
                      </a:r>
                      <a:r>
                        <a:rPr lang="en-CA" baseline="0" dirty="0" smtClean="0">
                          <a:solidFill>
                            <a:schemeClr val="bg1"/>
                          </a:solidFill>
                        </a:rPr>
                        <a:t> Caching</a:t>
                      </a:r>
                      <a:endParaRPr lang="en-CA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289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bg1"/>
                          </a:solidFill>
                        </a:rPr>
                        <a:t>N/A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25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19253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Ext4 to F2FS Converter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1543050"/>
            <a:ext cx="10600065" cy="4914311"/>
          </a:xfrm>
        </p:spPr>
        <p:txBody>
          <a:bodyPr>
            <a:normAutofit/>
          </a:bodyPr>
          <a:lstStyle/>
          <a:p>
            <a:r>
              <a:rPr lang="en-CA" dirty="0" smtClean="0"/>
              <a:t>Compares manually written vs. Spiffy-assisted application</a:t>
            </a:r>
          </a:p>
          <a:p>
            <a:r>
              <a:rPr lang="en-CA" dirty="0" smtClean="0"/>
              <a:t>Converts 64GB file system with 16GB file set on SSD</a:t>
            </a:r>
          </a:p>
          <a:p>
            <a:pPr lvl="1"/>
            <a:r>
              <a:rPr lang="en-CA" dirty="0" smtClean="0"/>
              <a:t>Copy converter copies data to local disk, reformat, then copies back</a:t>
            </a:r>
          </a:p>
          <a:p>
            <a:endParaRPr lang="en-CA" dirty="0"/>
          </a:p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r>
              <a:rPr lang="en-CA" dirty="0" smtClean="0"/>
              <a:t>Copy converter 30~50 times slower</a:t>
            </a:r>
          </a:p>
          <a:p>
            <a:r>
              <a:rPr lang="en-CA" dirty="0" smtClean="0"/>
              <a:t>Overhead of using Spiffy at most 16.7%</a:t>
            </a:r>
          </a:p>
          <a:p>
            <a:endParaRPr lang="en-CA" dirty="0" smtClean="0"/>
          </a:p>
          <a:p>
            <a:endParaRPr lang="en-CA" dirty="0" smtClean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918572"/>
              </p:ext>
            </p:extLst>
          </p:nvPr>
        </p:nvGraphicFramePr>
        <p:xfrm>
          <a:off x="1645746" y="3073105"/>
          <a:ext cx="7799909" cy="18542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125734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22472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224725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224725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# of files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Copy Converter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Manual</a:t>
                      </a:r>
                      <a:r>
                        <a:rPr lang="en-CA" baseline="0" dirty="0" smtClean="0">
                          <a:solidFill>
                            <a:schemeClr val="tx1"/>
                          </a:solidFill>
                        </a:rPr>
                        <a:t> Converter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Spiffy Converter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20000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188.17 ± 3.65s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6.55 ± 0.53s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7:03 ± 0:2s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5000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190.28 ± 2.15s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3.46 ± 0.17s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4:01 ± 0:09s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1000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192.74 ± 2.28s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3.29 ± 0.11s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3:84 ± 0:03s </a:t>
                      </a:r>
                      <a:endParaRPr lang="en-CA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100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195.11 ± 0.18s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3.25 ± 0.11s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3:71 ± 0:13s</a:t>
                      </a:r>
                      <a:endParaRPr lang="en-CA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26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96817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Conclusion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Spiffy framework</a:t>
            </a:r>
          </a:p>
          <a:p>
            <a:pPr lvl="1"/>
            <a:r>
              <a:rPr lang="en-CA" dirty="0" smtClean="0"/>
              <a:t>Annotation language for specifying file system format</a:t>
            </a:r>
          </a:p>
          <a:p>
            <a:pPr lvl="1"/>
            <a:r>
              <a:rPr lang="en-CA" dirty="0" smtClean="0"/>
              <a:t>API for interpreting, parsing, and traversing file system metadata</a:t>
            </a:r>
          </a:p>
          <a:p>
            <a:pPr lvl="2"/>
            <a:r>
              <a:rPr lang="en-CA" dirty="0" smtClean="0"/>
              <a:t>Simplifies development of storage applications</a:t>
            </a:r>
          </a:p>
          <a:p>
            <a:pPr lvl="2"/>
            <a:r>
              <a:rPr lang="en-CA" dirty="0" smtClean="0"/>
              <a:t>Reduces file-system specific code</a:t>
            </a:r>
          </a:p>
          <a:p>
            <a:pPr lvl="1"/>
            <a:r>
              <a:rPr lang="en-CA" dirty="0" smtClean="0"/>
              <a:t>Compiler-generated library from annotated data structures</a:t>
            </a:r>
          </a:p>
          <a:p>
            <a:pPr lvl="2"/>
            <a:r>
              <a:rPr lang="en-CA" dirty="0"/>
              <a:t>Robust against file system </a:t>
            </a:r>
            <a:r>
              <a:rPr lang="en-CA" dirty="0" smtClean="0"/>
              <a:t>corruption</a:t>
            </a:r>
          </a:p>
          <a:p>
            <a:pPr lvl="2"/>
            <a:r>
              <a:rPr lang="en-CA" dirty="0" smtClean="0"/>
              <a:t>Achieves good performance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27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9057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Corruption Experiment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112" y="1543050"/>
            <a:ext cx="10600065" cy="4914311"/>
          </a:xfrm>
        </p:spPr>
        <p:txBody>
          <a:bodyPr>
            <a:normAutofit/>
          </a:bodyPr>
          <a:lstStyle/>
          <a:p>
            <a:r>
              <a:rPr lang="en-CA" dirty="0" smtClean="0"/>
              <a:t>Run Spiffy dump tool and existing dump tools on corrupt images</a:t>
            </a:r>
          </a:p>
          <a:p>
            <a:pPr lvl="1"/>
            <a:r>
              <a:rPr lang="en-CA" dirty="0" smtClean="0"/>
              <a:t>Corrupt images generated by type-specific corruptor</a:t>
            </a:r>
          </a:p>
          <a:p>
            <a:r>
              <a:rPr lang="en-CA" dirty="0" smtClean="0"/>
              <a:t>Spiffy is robust against corruption, 2 out of 3 existing tools crash:</a:t>
            </a:r>
            <a:endParaRPr lang="en-CA" dirty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  <a:p>
            <a:endParaRPr lang="en-CA" dirty="0" smtClean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553440"/>
              </p:ext>
            </p:extLst>
          </p:nvPr>
        </p:nvGraphicFramePr>
        <p:xfrm>
          <a:off x="684212" y="3103984"/>
          <a:ext cx="10072159" cy="3012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17325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35746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37555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5165889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Tool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Structure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Field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smtClean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dumpe2fs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super block 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s_creator_os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during OS name lookup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dump.f2fs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super block 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log_blocks_per_seg</a:t>
                      </a:r>
                      <a:r>
                        <a:rPr lang="en-CA" sz="1500" b="0" i="0" u="none" strike="noStrike" kern="1200" baseline="0" dirty="0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while building </a:t>
                      </a: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nat</a:t>
                      </a: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bitmap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super block </a:t>
                      </a:r>
                      <a:endParaRPr lang="en-CA" sz="1600" dirty="0" smtClean="0">
                        <a:solidFill>
                          <a:schemeClr val="bg1"/>
                        </a:solidFill>
                      </a:endParaRPr>
                    </a:p>
                    <a:p>
                      <a:endParaRPr lang="en-CA" sz="1600" b="0" i="0" u="none" strike="noStrike" kern="1200" baseline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segment_count_main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null pointer dereference after </a:t>
                      </a: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calloc</a:t>
                      </a: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fails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smtClean="0">
                          <a:solidFill>
                            <a:schemeClr val="bg1"/>
                          </a:solidFill>
                        </a:rPr>
                        <a:t>checkpoint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cp_blkaddr</a:t>
                      </a:r>
                      <a:endParaRPr lang="en-CA" sz="1500" b="0" i="0" u="none" strike="noStrike" kern="1200" baseline="0" dirty="0" smtClean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double free error during error handling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summary</a:t>
                      </a:r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n_nats</a:t>
                      </a:r>
                      <a:r>
                        <a:rPr lang="en-CA" sz="1500" b="0" i="0" u="none" strike="noStrike" kern="1200" baseline="0" dirty="0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</a:t>
                      </a:r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during </a:t>
                      </a: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nid</a:t>
                      </a: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lookup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A" sz="1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600" b="0" i="0" u="none" strike="noStrike" kern="1200" baseline="0" dirty="0" err="1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inode</a:t>
                      </a:r>
                      <a:endParaRPr lang="en-CA" sz="16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500" b="0" i="0" u="none" strike="noStrike" kern="1200" baseline="0" dirty="0" err="1" smtClean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i_namelen</a:t>
                      </a:r>
                      <a:endParaRPr lang="en-CA" sz="1500" dirty="0" smtClean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CA" sz="15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600" b="0" i="0" u="none" strike="noStrike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index out of bound error when adding null character to end of name</a:t>
                      </a:r>
                      <a:endParaRPr lang="en-CA" sz="16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28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7525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Evaluation: Preferential Caching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1" y="1515358"/>
            <a:ext cx="10285797" cy="4583783"/>
          </a:xfrm>
        </p:spPr>
        <p:txBody>
          <a:bodyPr>
            <a:normAutofit lnSpcReduction="10000"/>
          </a:bodyPr>
          <a:lstStyle/>
          <a:p>
            <a:r>
              <a:rPr lang="en-CA" dirty="0" smtClean="0"/>
              <a:t>2 identical fileservers running on block layer cache</a:t>
            </a:r>
          </a:p>
          <a:p>
            <a:endParaRPr lang="en-CA" dirty="0"/>
          </a:p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endParaRPr lang="en-CA" dirty="0"/>
          </a:p>
          <a:p>
            <a:endParaRPr lang="en-CA" dirty="0" smtClean="0"/>
          </a:p>
          <a:p>
            <a:endParaRPr lang="en-CA" dirty="0" smtClean="0"/>
          </a:p>
          <a:p>
            <a:r>
              <a:rPr lang="en-CA" dirty="0" smtClean="0"/>
              <a:t>Overall </a:t>
            </a:r>
            <a:r>
              <a:rPr lang="en-CA" dirty="0"/>
              <a:t>p</a:t>
            </a:r>
            <a:r>
              <a:rPr lang="en-CA" dirty="0" smtClean="0"/>
              <a:t>erformance improves with preferential caching</a:t>
            </a:r>
          </a:p>
          <a:p>
            <a:endParaRPr lang="en-CA" dirty="0"/>
          </a:p>
        </p:txBody>
      </p:sp>
      <p:grpSp>
        <p:nvGrpSpPr>
          <p:cNvPr id="9" name="Group 8"/>
          <p:cNvGrpSpPr/>
          <p:nvPr/>
        </p:nvGrpSpPr>
        <p:grpSpPr>
          <a:xfrm>
            <a:off x="1741437" y="2147076"/>
            <a:ext cx="7477175" cy="3007076"/>
            <a:chOff x="1741437" y="3261749"/>
            <a:chExt cx="7477175" cy="3007076"/>
          </a:xfrm>
        </p:grpSpPr>
        <p:graphicFrame>
          <p:nvGraphicFramePr>
            <p:cNvPr id="6" name="Chart 5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28972012"/>
                </p:ext>
              </p:extLst>
            </p:nvPr>
          </p:nvGraphicFramePr>
          <p:xfrm>
            <a:off x="1741437" y="3271174"/>
            <a:ext cx="7477175" cy="2997651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2"/>
            <p:cNvSpPr txBox="1"/>
            <p:nvPr/>
          </p:nvSpPr>
          <p:spPr>
            <a:xfrm>
              <a:off x="2613536" y="4366649"/>
              <a:ext cx="577402" cy="338554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none" rtlCol="0" anchor="t">
              <a:sp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CA" sz="1600" b="1" u="sng">
                  <a:solidFill>
                    <a:schemeClr val="bg1"/>
                  </a:solidFill>
                </a:rPr>
                <a:t>Btrfs</a:t>
              </a:r>
            </a:p>
          </p:txBody>
        </p:sp>
        <p:sp>
          <p:nvSpPr>
            <p:cNvPr id="8" name="TextBox 4"/>
            <p:cNvSpPr txBox="1"/>
            <p:nvPr/>
          </p:nvSpPr>
          <p:spPr>
            <a:xfrm>
              <a:off x="2613536" y="3261749"/>
              <a:ext cx="583814" cy="338554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none" rtlCol="0" anchor="t">
              <a:sp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CA" sz="1600" b="1" u="sng" dirty="0">
                  <a:solidFill>
                    <a:schemeClr val="bg1"/>
                  </a:solidFill>
                </a:rPr>
                <a:t>Ext4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29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97873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Solution: Spiffy</a:t>
            </a:r>
            <a:r>
              <a:rPr lang="en-CA" dirty="0"/>
              <a:t> </a:t>
            </a:r>
            <a:r>
              <a:rPr lang="en-CA" dirty="0" smtClean="0"/>
              <a:t>File System Library 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Generated from annotated file system header files</a:t>
            </a:r>
          </a:p>
          <a:p>
            <a:r>
              <a:rPr lang="en-CA" dirty="0" smtClean="0"/>
              <a:t>Standard API for finding and traversing file systems structures</a:t>
            </a:r>
          </a:p>
          <a:p>
            <a:pPr lvl="1"/>
            <a:r>
              <a:rPr lang="en-CA" dirty="0" smtClean="0"/>
              <a:t>Provides robust parsing and serialization routines</a:t>
            </a:r>
          </a:p>
          <a:p>
            <a:r>
              <a:rPr lang="en-CA" dirty="0" smtClean="0"/>
              <a:t>Enables building generic application framework</a:t>
            </a:r>
          </a:p>
          <a:p>
            <a:pPr lvl="1"/>
            <a:r>
              <a:rPr lang="en-CA" dirty="0" smtClean="0"/>
              <a:t>Facilitates support for multiple file systems</a:t>
            </a:r>
          </a:p>
          <a:p>
            <a:pPr lvl="1"/>
            <a:r>
              <a:rPr lang="en-CA" dirty="0" smtClean="0"/>
              <a:t>Reduces dependence on file-system specific code </a:t>
            </a:r>
          </a:p>
          <a:p>
            <a:r>
              <a:rPr lang="en-CA" dirty="0" smtClean="0"/>
              <a:t>Example: </a:t>
            </a:r>
            <a:r>
              <a:rPr lang="en-CA" dirty="0"/>
              <a:t>File System Free Space </a:t>
            </a:r>
            <a:r>
              <a:rPr lang="en-CA" dirty="0" smtClean="0"/>
              <a:t>Tool</a:t>
            </a:r>
          </a:p>
          <a:p>
            <a:pPr lvl="1"/>
            <a:r>
              <a:rPr lang="en-CA" dirty="0" smtClean="0"/>
              <a:t>Use Spiffy to locate metadata that stores block allocation information</a:t>
            </a:r>
          </a:p>
          <a:p>
            <a:pPr lvl="1"/>
            <a:r>
              <a:rPr lang="en-CA" dirty="0" smtClean="0"/>
              <a:t>Write file-system specific code to process metadata structures</a:t>
            </a:r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023C8-B124-43A9-8F92-0EEF5BAA9995}" type="slidenum">
              <a:rPr lang="en-CA" smtClean="0"/>
              <a:pPr/>
              <a:t>30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454120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lice">
  <a:themeElements>
    <a:clrScheme name="University of Toronto">
      <a:dk1>
        <a:srgbClr val="000000"/>
      </a:dk1>
      <a:lt1>
        <a:srgbClr val="FFFFFF"/>
      </a:lt1>
      <a:dk2>
        <a:srgbClr val="ACE9F8"/>
      </a:dk2>
      <a:lt2>
        <a:srgbClr val="0F486F"/>
      </a:lt2>
      <a:accent1>
        <a:srgbClr val="062958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1535</TotalTime>
  <Words>2777</Words>
  <Application>Microsoft Office PowerPoint</Application>
  <PresentationFormat>Widescreen</PresentationFormat>
  <Paragraphs>544</Paragraphs>
  <Slides>30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Century Gothic</vt:lpstr>
      <vt:lpstr>Courier New</vt:lpstr>
      <vt:lpstr>Wingdings 3</vt:lpstr>
      <vt:lpstr>Slice</vt:lpstr>
      <vt:lpstr>Spiffy: Enabling File-System Aware Storage Applications </vt:lpstr>
      <vt:lpstr>Introduction</vt:lpstr>
      <vt:lpstr>Problem</vt:lpstr>
      <vt:lpstr>Root Cause</vt:lpstr>
      <vt:lpstr>Goals</vt:lpstr>
      <vt:lpstr>Approach: Spiffy Framework</vt:lpstr>
      <vt:lpstr>Specifying Format</vt:lpstr>
      <vt:lpstr>Generating Library</vt:lpstr>
      <vt:lpstr> Building Applications</vt:lpstr>
      <vt:lpstr>Talk Outline</vt:lpstr>
      <vt:lpstr>Need for Annotation</vt:lpstr>
      <vt:lpstr>Annotation Requirements</vt:lpstr>
      <vt:lpstr>FSSUPER and POINTER annotation</vt:lpstr>
      <vt:lpstr>Annotation Requirements</vt:lpstr>
      <vt:lpstr>Exmple Annotations</vt:lpstr>
      <vt:lpstr>Generating Spiffy Library</vt:lpstr>
      <vt:lpstr>Evaluation: Annotation Effort</vt:lpstr>
      <vt:lpstr>Building Spiffy Applications</vt:lpstr>
      <vt:lpstr>Coding Style Comparison</vt:lpstr>
      <vt:lpstr>Coding Style Comparison</vt:lpstr>
      <vt:lpstr>Coding Style Comparison</vt:lpstr>
      <vt:lpstr>Coding Style Comparison</vt:lpstr>
      <vt:lpstr>Offline Spiffy Applications</vt:lpstr>
      <vt:lpstr>Online Spiffy Applications</vt:lpstr>
      <vt:lpstr>Evaluation: Programming Effort</vt:lpstr>
      <vt:lpstr>Evaluation: Ext4 to F2FS Converter</vt:lpstr>
      <vt:lpstr>Conclusion</vt:lpstr>
      <vt:lpstr>Evaluation: Corruption Experiment</vt:lpstr>
      <vt:lpstr>Evaluation: Preferential Caching</vt:lpstr>
      <vt:lpstr>Solution: Spiffy File System Library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Sun</dc:creator>
  <cp:lastModifiedBy>Jack Sun</cp:lastModifiedBy>
  <cp:revision>123</cp:revision>
  <dcterms:created xsi:type="dcterms:W3CDTF">2018-01-30T09:02:25Z</dcterms:created>
  <dcterms:modified xsi:type="dcterms:W3CDTF">2018-02-07T09:23:54Z</dcterms:modified>
</cp:coreProperties>
</file>