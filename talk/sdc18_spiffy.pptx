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58"/>
  </p:notesMasterIdLst>
  <p:handoutMasterIdLst>
    <p:handoutMasterId r:id="rId59"/>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314" r:id="rId14"/>
    <p:sldId id="315" r:id="rId15"/>
    <p:sldId id="268" r:id="rId16"/>
    <p:sldId id="269" r:id="rId17"/>
    <p:sldId id="270" r:id="rId18"/>
    <p:sldId id="271" r:id="rId19"/>
    <p:sldId id="311" r:id="rId20"/>
    <p:sldId id="316" r:id="rId21"/>
    <p:sldId id="317" r:id="rId22"/>
    <p:sldId id="318" r:id="rId23"/>
    <p:sldId id="274" r:id="rId24"/>
    <p:sldId id="319" r:id="rId25"/>
    <p:sldId id="320" r:id="rId26"/>
    <p:sldId id="272" r:id="rId27"/>
    <p:sldId id="273" r:id="rId28"/>
    <p:sldId id="321" r:id="rId29"/>
    <p:sldId id="304" r:id="rId30"/>
    <p:sldId id="275" r:id="rId31"/>
    <p:sldId id="276" r:id="rId32"/>
    <p:sldId id="277" r:id="rId33"/>
    <p:sldId id="278" r:id="rId34"/>
    <p:sldId id="279" r:id="rId35"/>
    <p:sldId id="280" r:id="rId36"/>
    <p:sldId id="281" r:id="rId37"/>
    <p:sldId id="282" r:id="rId38"/>
    <p:sldId id="283" r:id="rId39"/>
    <p:sldId id="284" r:id="rId40"/>
    <p:sldId id="285" r:id="rId41"/>
    <p:sldId id="306" r:id="rId42"/>
    <p:sldId id="307" r:id="rId43"/>
    <p:sldId id="308" r:id="rId44"/>
    <p:sldId id="309" r:id="rId45"/>
    <p:sldId id="310" r:id="rId46"/>
    <p:sldId id="286" r:id="rId47"/>
    <p:sldId id="287" r:id="rId48"/>
    <p:sldId id="322" r:id="rId49"/>
    <p:sldId id="288" r:id="rId50"/>
    <p:sldId id="289" r:id="rId51"/>
    <p:sldId id="290" r:id="rId52"/>
    <p:sldId id="312" r:id="rId53"/>
    <p:sldId id="303" r:id="rId54"/>
    <p:sldId id="291" r:id="rId55"/>
    <p:sldId id="313" r:id="rId56"/>
    <p:sldId id="305" r:id="rId57"/>
  </p:sldIdLst>
  <p:sldSz cx="9144000" cy="5143500" type="screen16x9"/>
  <p:notesSz cx="7077075" cy="9383713"/>
  <p:defaultTextStyle>
    <a:defPPr>
      <a:defRPr lang="en-US"/>
    </a:defPPr>
    <a:lvl1pPr algn="l" rtl="0" fontAlgn="base">
      <a:spcBef>
        <a:spcPct val="0"/>
      </a:spcBef>
      <a:spcAft>
        <a:spcPct val="0"/>
      </a:spcAft>
      <a:defRPr sz="1600" kern="1200">
        <a:solidFill>
          <a:schemeClr val="tx1"/>
        </a:solidFill>
        <a:latin typeface="Arial" charset="0"/>
        <a:ea typeface="+mn-ea"/>
        <a:cs typeface="+mn-cs"/>
      </a:defRPr>
    </a:lvl1pPr>
    <a:lvl2pPr marL="457200" algn="l" rtl="0" fontAlgn="base">
      <a:spcBef>
        <a:spcPct val="0"/>
      </a:spcBef>
      <a:spcAft>
        <a:spcPct val="0"/>
      </a:spcAft>
      <a:defRPr sz="1600" kern="1200">
        <a:solidFill>
          <a:schemeClr val="tx1"/>
        </a:solidFill>
        <a:latin typeface="Arial" charset="0"/>
        <a:ea typeface="+mn-ea"/>
        <a:cs typeface="+mn-cs"/>
      </a:defRPr>
    </a:lvl2pPr>
    <a:lvl3pPr marL="914400" algn="l" rtl="0" fontAlgn="base">
      <a:spcBef>
        <a:spcPct val="0"/>
      </a:spcBef>
      <a:spcAft>
        <a:spcPct val="0"/>
      </a:spcAft>
      <a:defRPr sz="1600" kern="1200">
        <a:solidFill>
          <a:schemeClr val="tx1"/>
        </a:solidFill>
        <a:latin typeface="Arial" charset="0"/>
        <a:ea typeface="+mn-ea"/>
        <a:cs typeface="+mn-cs"/>
      </a:defRPr>
    </a:lvl3pPr>
    <a:lvl4pPr marL="1371600" algn="l" rtl="0" fontAlgn="base">
      <a:spcBef>
        <a:spcPct val="0"/>
      </a:spcBef>
      <a:spcAft>
        <a:spcPct val="0"/>
      </a:spcAft>
      <a:defRPr sz="1600" kern="1200">
        <a:solidFill>
          <a:schemeClr val="tx1"/>
        </a:solidFill>
        <a:latin typeface="Arial" charset="0"/>
        <a:ea typeface="+mn-ea"/>
        <a:cs typeface="+mn-cs"/>
      </a:defRPr>
    </a:lvl4pPr>
    <a:lvl5pPr marL="1828800" algn="l" rtl="0" fontAlgn="base">
      <a:spcBef>
        <a:spcPct val="0"/>
      </a:spcBef>
      <a:spcAft>
        <a:spcPct val="0"/>
      </a:spcAft>
      <a:defRPr sz="1600" kern="1200">
        <a:solidFill>
          <a:schemeClr val="tx1"/>
        </a:solidFill>
        <a:latin typeface="Arial" charset="0"/>
        <a:ea typeface="+mn-ea"/>
        <a:cs typeface="+mn-cs"/>
      </a:defRPr>
    </a:lvl5pPr>
    <a:lvl6pPr marL="2286000" algn="l" defTabSz="914400" rtl="0" eaLnBrk="1" latinLnBrk="0" hangingPunct="1">
      <a:defRPr sz="1600" kern="1200">
        <a:solidFill>
          <a:schemeClr val="tx1"/>
        </a:solidFill>
        <a:latin typeface="Arial" charset="0"/>
        <a:ea typeface="+mn-ea"/>
        <a:cs typeface="+mn-cs"/>
      </a:defRPr>
    </a:lvl6pPr>
    <a:lvl7pPr marL="2743200" algn="l" defTabSz="914400" rtl="0" eaLnBrk="1" latinLnBrk="0" hangingPunct="1">
      <a:defRPr sz="1600" kern="1200">
        <a:solidFill>
          <a:schemeClr val="tx1"/>
        </a:solidFill>
        <a:latin typeface="Arial" charset="0"/>
        <a:ea typeface="+mn-ea"/>
        <a:cs typeface="+mn-cs"/>
      </a:defRPr>
    </a:lvl7pPr>
    <a:lvl8pPr marL="3200400" algn="l" defTabSz="914400" rtl="0" eaLnBrk="1" latinLnBrk="0" hangingPunct="1">
      <a:defRPr sz="1600" kern="1200">
        <a:solidFill>
          <a:schemeClr val="tx1"/>
        </a:solidFill>
        <a:latin typeface="Arial" charset="0"/>
        <a:ea typeface="+mn-ea"/>
        <a:cs typeface="+mn-cs"/>
      </a:defRPr>
    </a:lvl8pPr>
    <a:lvl9pPr marL="3657600" algn="l" defTabSz="914400" rtl="0" eaLnBrk="1" latinLnBrk="0" hangingPunct="1">
      <a:defRPr sz="16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955">
          <p15:clr>
            <a:srgbClr val="A4A3A4"/>
          </p15:clr>
        </p15:guide>
        <p15:guide id="2" pos="2229">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FFFF"/>
    <a:srgbClr val="B7B7FF"/>
    <a:srgbClr val="007089"/>
    <a:srgbClr val="7D7DFF"/>
    <a:srgbClr val="5D5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6180" autoAdjust="0"/>
  </p:normalViewPr>
  <p:slideViewPr>
    <p:cSldViewPr>
      <p:cViewPr varScale="1">
        <p:scale>
          <a:sx n="112" d="100"/>
          <a:sy n="112" d="100"/>
        </p:scale>
        <p:origin x="1506" y="90"/>
      </p:cViewPr>
      <p:guideLst>
        <p:guide orient="horz" pos="1620"/>
        <p:guide pos="2880"/>
      </p:guideLst>
    </p:cSldViewPr>
  </p:slideViewPr>
  <p:notesTextViewPr>
    <p:cViewPr>
      <p:scale>
        <a:sx n="100" d="100"/>
        <a:sy n="100" d="100"/>
      </p:scale>
      <p:origin x="0" y="0"/>
    </p:cViewPr>
  </p:notesTextViewPr>
  <p:sorterViewPr>
    <p:cViewPr>
      <p:scale>
        <a:sx n="100" d="100"/>
        <a:sy n="100" d="100"/>
      </p:scale>
      <p:origin x="0" y="0"/>
    </p:cViewPr>
  </p:sorterViewPr>
  <p:notesViewPr>
    <p:cSldViewPr>
      <p:cViewPr>
        <p:scale>
          <a:sx n="70" d="100"/>
          <a:sy n="70" d="100"/>
        </p:scale>
        <p:origin x="-3198" y="-66"/>
      </p:cViewPr>
      <p:guideLst>
        <p:guide orient="horz" pos="2955"/>
        <p:guide pos="2229"/>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656062388753131"/>
          <c:y val="5.9911271909187234E-2"/>
          <c:w val="0.53026608742872661"/>
          <c:h val="0.71485881469934165"/>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extLst xmlns:c16r2="http://schemas.microsoft.com/office/drawing/2015/06/chart">
            <c:ext xmlns:c16="http://schemas.microsoft.com/office/drawing/2014/chart" uri="{C3380CC4-5D6E-409C-BE32-E72D297353CC}">
              <c16:uniqueId val="{00000000-9CC1-4262-BF0E-2ECA5CEA12BB}"/>
            </c:ext>
          </c:extLst>
        </c:ser>
        <c:ser>
          <c:idx val="2"/>
          <c:order val="1"/>
          <c:tx>
            <c:strRef>
              <c:f>Sheet1!$C$1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0.00</c:formatCode>
                <c:ptCount val="4"/>
                <c:pt idx="0">
                  <c:v>7.03</c:v>
                </c:pt>
                <c:pt idx="1">
                  <c:v>4.01</c:v>
                </c:pt>
                <c:pt idx="2">
                  <c:v>3.84</c:v>
                </c:pt>
                <c:pt idx="3">
                  <c:v>3.71</c:v>
                </c:pt>
              </c:numCache>
            </c:numRef>
          </c:val>
          <c:smooth val="0"/>
          <c:extLst xmlns:c16r2="http://schemas.microsoft.com/office/drawing/2015/06/chart">
            <c:ext xmlns:c16="http://schemas.microsoft.com/office/drawing/2014/chart" uri="{C3380CC4-5D6E-409C-BE32-E72D297353CC}">
              <c16:uniqueId val="{00000002-9CC1-4262-BF0E-2ECA5CEA12BB}"/>
            </c:ext>
          </c:extLst>
        </c:ser>
        <c:dLbls>
          <c:showLegendKey val="0"/>
          <c:showVal val="0"/>
          <c:showCatName val="0"/>
          <c:showSerName val="0"/>
          <c:showPercent val="0"/>
          <c:showBubbleSize val="0"/>
        </c:dLbls>
        <c:marker val="1"/>
        <c:smooth val="0"/>
        <c:axId val="979050336"/>
        <c:axId val="979040544"/>
      </c:lineChart>
      <c:catAx>
        <c:axId val="979050336"/>
        <c:scaling>
          <c:orientation val="minMax"/>
        </c:scaling>
        <c:delete val="0"/>
        <c:axPos val="b"/>
        <c:title>
          <c:tx>
            <c:rich>
              <a:bodyPr rot="0" spcFirstLastPara="1" vertOverflow="ellipsis" vert="horz" wrap="square" anchor="ctr" anchorCtr="1"/>
              <a:lstStyle/>
              <a:p>
                <a:pPr>
                  <a:defRPr sz="1600" b="0" i="0" u="none" strike="noStrike" kern="1200" baseline="0">
                    <a:solidFill>
                      <a:srgbClr val="000000"/>
                    </a:solidFill>
                    <a:latin typeface="+mn-lt"/>
                    <a:ea typeface="+mn-ea"/>
                    <a:cs typeface="+mn-cs"/>
                  </a:defRPr>
                </a:pPr>
                <a:r>
                  <a:rPr lang="en-US" sz="1600" dirty="0">
                    <a:solidFill>
                      <a:srgbClr val="000000"/>
                    </a:solidFill>
                  </a:rPr>
                  <a:t># of </a:t>
                </a:r>
                <a:r>
                  <a:rPr lang="en-US" sz="1600" dirty="0" smtClean="0">
                    <a:solidFill>
                      <a:srgbClr val="000000"/>
                    </a:solidFill>
                  </a:rPr>
                  <a:t>files</a:t>
                </a:r>
                <a:endParaRPr lang="en-US" sz="1600" dirty="0">
                  <a:solidFill>
                    <a:srgbClr val="000000"/>
                  </a:solidFill>
                </a:endParaRPr>
              </a:p>
            </c:rich>
          </c:tx>
          <c:layout>
            <c:manualLayout>
              <c:xMode val="edge"/>
              <c:yMode val="edge"/>
              <c:x val="0.64516245814100825"/>
              <c:y val="0.81318646046260579"/>
            </c:manualLayout>
          </c:layout>
          <c:overlay val="0"/>
          <c:spPr>
            <a:noFill/>
            <a:ln>
              <a:noFill/>
            </a:ln>
            <a:effectLst/>
          </c:spPr>
          <c:txPr>
            <a:bodyPr rot="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crossAx val="979040544"/>
        <c:crosses val="autoZero"/>
        <c:auto val="0"/>
        <c:lblAlgn val="ctr"/>
        <c:lblOffset val="100"/>
        <c:noMultiLvlLbl val="0"/>
      </c:catAx>
      <c:valAx>
        <c:axId val="979040544"/>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rgbClr val="000000"/>
                    </a:solidFill>
                    <a:latin typeface="+mn-lt"/>
                    <a:ea typeface="+mn-ea"/>
                    <a:cs typeface="+mn-cs"/>
                  </a:defRPr>
                </a:pPr>
                <a:r>
                  <a:rPr lang="en-CA" sz="1600">
                    <a:solidFill>
                      <a:srgbClr val="000000"/>
                    </a:solidFill>
                  </a:rPr>
                  <a:t>seconds</a:t>
                </a:r>
              </a:p>
            </c:rich>
          </c:tx>
          <c:layout/>
          <c:overlay val="0"/>
          <c:spPr>
            <a:noFill/>
            <a:ln>
              <a:noFill/>
            </a:ln>
            <a:effectLst/>
          </c:spPr>
          <c:txPr>
            <a:bodyPr rot="-54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rgbClr val="000000"/>
                </a:solidFill>
                <a:latin typeface="+mn-lt"/>
                <a:ea typeface="+mn-ea"/>
                <a:cs typeface="+mn-cs"/>
              </a:defRPr>
            </a:pPr>
            <a:endParaRPr lang="en-US"/>
          </a:p>
        </c:txPr>
        <c:crossAx val="979050336"/>
        <c:crosses val="autoZero"/>
        <c:crossBetween val="between"/>
      </c:valAx>
      <c:spPr>
        <a:noFill/>
        <a:ln>
          <a:solidFill>
            <a:schemeClr val="tx1">
              <a:lumMod val="50000"/>
            </a:schemeClr>
          </a:solidFill>
        </a:ln>
        <a:effectLst/>
      </c:spPr>
    </c:plotArea>
    <c:legend>
      <c:legendPos val="r"/>
      <c:layout>
        <c:manualLayout>
          <c:xMode val="edge"/>
          <c:yMode val="edge"/>
          <c:x val="0.70445091342517252"/>
          <c:y val="6.265615508636839E-2"/>
          <c:w val="0.26533503171365047"/>
          <c:h val="0.64145139331892442"/>
        </c:manualLayout>
      </c:layout>
      <c:overlay val="0"/>
      <c:spPr>
        <a:noFill/>
        <a:ln>
          <a:noFill/>
        </a:ln>
        <a:effectLst/>
      </c:spPr>
      <c:txPr>
        <a:bodyPr rot="0" spcFirstLastPara="1" vertOverflow="ellipsis" vert="horz" wrap="square" anchor="ctr" anchorCtr="1"/>
        <a:lstStyle/>
        <a:p>
          <a:pPr>
            <a:defRPr sz="1800" b="0" i="0" u="none" strike="noStrike" kern="1200" baseline="0">
              <a:solidFill>
                <a:srgbClr val="000000"/>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67050" cy="469900"/>
          </a:xfrm>
          <a:prstGeom prst="rect">
            <a:avLst/>
          </a:prstGeom>
        </p:spPr>
        <p:txBody>
          <a:bodyPr vert="horz" lIns="91440" tIns="45720" rIns="91440" bIns="45720" rtlCol="0"/>
          <a:lstStyle>
            <a:lvl1pPr algn="l">
              <a:defRPr sz="1200">
                <a:latin typeface="Arial" charset="0"/>
              </a:defRPr>
            </a:lvl1pPr>
          </a:lstStyle>
          <a:p>
            <a:pPr>
              <a:defRPr/>
            </a:pPr>
            <a:endParaRPr lang="en-US"/>
          </a:p>
        </p:txBody>
      </p:sp>
      <p:sp>
        <p:nvSpPr>
          <p:cNvPr id="3" name="Date Placeholder 2"/>
          <p:cNvSpPr>
            <a:spLocks noGrp="1"/>
          </p:cNvSpPr>
          <p:nvPr>
            <p:ph type="dt" sz="quarter" idx="1"/>
          </p:nvPr>
        </p:nvSpPr>
        <p:spPr>
          <a:xfrm>
            <a:off x="4008438" y="0"/>
            <a:ext cx="3067050" cy="469900"/>
          </a:xfrm>
          <a:prstGeom prst="rect">
            <a:avLst/>
          </a:prstGeom>
        </p:spPr>
        <p:txBody>
          <a:bodyPr vert="horz" lIns="91440" tIns="45720" rIns="91440" bIns="45720" rtlCol="0"/>
          <a:lstStyle>
            <a:lvl1pPr algn="r">
              <a:defRPr sz="1200">
                <a:latin typeface="Arial" charset="0"/>
              </a:defRPr>
            </a:lvl1pPr>
          </a:lstStyle>
          <a:p>
            <a:pPr>
              <a:defRPr/>
            </a:pPr>
            <a:fld id="{0C5C15DB-11A6-4112-B189-B4B63969769D}" type="datetimeFigureOut">
              <a:rPr lang="en-US"/>
              <a:pPr>
                <a:defRPr/>
              </a:pPr>
              <a:t>9/25/2018</a:t>
            </a:fld>
            <a:endParaRPr lang="en-US"/>
          </a:p>
        </p:txBody>
      </p:sp>
      <p:sp>
        <p:nvSpPr>
          <p:cNvPr id="4" name="Footer Placeholder 3"/>
          <p:cNvSpPr>
            <a:spLocks noGrp="1"/>
          </p:cNvSpPr>
          <p:nvPr>
            <p:ph type="ftr" sz="quarter" idx="2"/>
          </p:nvPr>
        </p:nvSpPr>
        <p:spPr>
          <a:xfrm>
            <a:off x="0" y="8912225"/>
            <a:ext cx="3067050" cy="469900"/>
          </a:xfrm>
          <a:prstGeom prst="rect">
            <a:avLst/>
          </a:prstGeom>
        </p:spPr>
        <p:txBody>
          <a:bodyPr vert="horz" lIns="91440" tIns="45720" rIns="91440" bIns="45720" rtlCol="0" anchor="b"/>
          <a:lstStyle>
            <a:lvl1pPr algn="l">
              <a:defRPr sz="1200">
                <a:latin typeface="Arial" charset="0"/>
              </a:defRPr>
            </a:lvl1pPr>
          </a:lstStyle>
          <a:p>
            <a:pPr>
              <a:defRPr/>
            </a:pPr>
            <a:endParaRPr lang="en-US"/>
          </a:p>
        </p:txBody>
      </p:sp>
      <p:sp>
        <p:nvSpPr>
          <p:cNvPr id="6" name="Slide Number Placeholder 5"/>
          <p:cNvSpPr>
            <a:spLocks noGrp="1"/>
          </p:cNvSpPr>
          <p:nvPr>
            <p:ph type="sldNum" sz="quarter" idx="3"/>
          </p:nvPr>
        </p:nvSpPr>
        <p:spPr>
          <a:xfrm>
            <a:off x="4008438" y="8912225"/>
            <a:ext cx="3067050" cy="469900"/>
          </a:xfrm>
          <a:prstGeom prst="rect">
            <a:avLst/>
          </a:prstGeom>
        </p:spPr>
        <p:txBody>
          <a:bodyPr vert="horz" lIns="91440" tIns="45720" rIns="91440" bIns="45720" rtlCol="0" anchor="b"/>
          <a:lstStyle>
            <a:lvl1pPr algn="r">
              <a:defRPr sz="1200">
                <a:latin typeface="Arial" charset="0"/>
              </a:defRPr>
            </a:lvl1pPr>
          </a:lstStyle>
          <a:p>
            <a:pPr>
              <a:defRPr/>
            </a:pPr>
            <a:fld id="{F4429B67-5F41-4671-BF3C-3A74F4BD2A15}" type="slidenum">
              <a:rPr lang="en-US"/>
              <a:pPr>
                <a:defRPr/>
              </a:pPr>
              <a:t>‹#›</a:t>
            </a:fld>
            <a:endParaRPr lang="en-US"/>
          </a:p>
        </p:txBody>
      </p:sp>
    </p:spTree>
    <p:extLst>
      <p:ext uri="{BB962C8B-B14F-4D97-AF65-F5344CB8AC3E}">
        <p14:creationId xmlns:p14="http://schemas.microsoft.com/office/powerpoint/2010/main" val="21075270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67050" cy="469900"/>
          </a:xfrm>
          <a:prstGeom prst="rect">
            <a:avLst/>
          </a:prstGeom>
        </p:spPr>
        <p:txBody>
          <a:bodyPr vert="horz" lIns="91440" tIns="45720" rIns="91440" bIns="45720" rtlCol="0"/>
          <a:lstStyle>
            <a:lvl1pPr algn="l">
              <a:defRPr sz="1200">
                <a:latin typeface="Arial" charset="0"/>
              </a:defRPr>
            </a:lvl1pPr>
          </a:lstStyle>
          <a:p>
            <a:pPr>
              <a:defRPr/>
            </a:pPr>
            <a:endParaRPr lang="en-US"/>
          </a:p>
        </p:txBody>
      </p:sp>
      <p:sp>
        <p:nvSpPr>
          <p:cNvPr id="3" name="Date Placeholder 2"/>
          <p:cNvSpPr>
            <a:spLocks noGrp="1"/>
          </p:cNvSpPr>
          <p:nvPr>
            <p:ph type="dt" idx="1"/>
          </p:nvPr>
        </p:nvSpPr>
        <p:spPr>
          <a:xfrm>
            <a:off x="4008438" y="0"/>
            <a:ext cx="3067050" cy="469900"/>
          </a:xfrm>
          <a:prstGeom prst="rect">
            <a:avLst/>
          </a:prstGeom>
        </p:spPr>
        <p:txBody>
          <a:bodyPr vert="horz" lIns="91440" tIns="45720" rIns="91440" bIns="45720" rtlCol="0"/>
          <a:lstStyle>
            <a:lvl1pPr algn="r">
              <a:defRPr sz="1200">
                <a:latin typeface="Arial" charset="0"/>
              </a:defRPr>
            </a:lvl1pPr>
          </a:lstStyle>
          <a:p>
            <a:pPr>
              <a:defRPr/>
            </a:pPr>
            <a:fld id="{E70C0810-4D61-476D-85B9-67DD24F29068}" type="datetimeFigureOut">
              <a:rPr lang="en-US"/>
              <a:pPr>
                <a:defRPr/>
              </a:pPr>
              <a:t>9/25/2018</a:t>
            </a:fld>
            <a:endParaRPr lang="en-US"/>
          </a:p>
        </p:txBody>
      </p:sp>
      <p:sp>
        <p:nvSpPr>
          <p:cNvPr id="4" name="Slide Image Placeholder 3"/>
          <p:cNvSpPr>
            <a:spLocks noGrp="1" noRot="1" noChangeAspect="1"/>
          </p:cNvSpPr>
          <p:nvPr>
            <p:ph type="sldImg" idx="2"/>
          </p:nvPr>
        </p:nvSpPr>
        <p:spPr>
          <a:xfrm>
            <a:off x="411163" y="703263"/>
            <a:ext cx="6254750" cy="3519487"/>
          </a:xfrm>
          <a:prstGeom prst="rect">
            <a:avLst/>
          </a:prstGeom>
          <a:noFill/>
          <a:ln w="12700">
            <a:solidFill>
              <a:prstClr val="black"/>
            </a:solidFill>
          </a:ln>
        </p:spPr>
        <p:txBody>
          <a:bodyPr vert="horz" lIns="91440" tIns="45720" rIns="91440" bIns="45720" rtlCol="0" anchor="ctr"/>
          <a:lstStyle/>
          <a:p>
            <a:pPr lvl="0"/>
            <a:endParaRPr lang="en-US" noProof="0" smtClean="0"/>
          </a:p>
        </p:txBody>
      </p:sp>
      <p:sp>
        <p:nvSpPr>
          <p:cNvPr id="5" name="Notes Placeholder 4"/>
          <p:cNvSpPr>
            <a:spLocks noGrp="1"/>
          </p:cNvSpPr>
          <p:nvPr>
            <p:ph type="body" sz="quarter" idx="3"/>
          </p:nvPr>
        </p:nvSpPr>
        <p:spPr>
          <a:xfrm>
            <a:off x="708025" y="4457700"/>
            <a:ext cx="5661025" cy="4222750"/>
          </a:xfrm>
          <a:prstGeom prst="rect">
            <a:avLst/>
          </a:prstGeom>
        </p:spPr>
        <p:txBody>
          <a:bodyPr vert="horz" lIns="91440" tIns="45720" rIns="91440" bIns="45720" rtlCol="0">
            <a:normAutofit/>
          </a:bodyPr>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8912225"/>
            <a:ext cx="3067050" cy="469900"/>
          </a:xfrm>
          <a:prstGeom prst="rect">
            <a:avLst/>
          </a:prstGeom>
        </p:spPr>
        <p:txBody>
          <a:bodyPr vert="horz" lIns="91440" tIns="45720" rIns="91440" bIns="45720" rtlCol="0" anchor="b"/>
          <a:lstStyle>
            <a:lvl1pPr algn="l">
              <a:defRPr sz="1200">
                <a:latin typeface="Arial" charset="0"/>
              </a:defRPr>
            </a:lvl1pPr>
          </a:lstStyle>
          <a:p>
            <a:pPr>
              <a:defRPr/>
            </a:pPr>
            <a:endParaRPr lang="en-US"/>
          </a:p>
        </p:txBody>
      </p:sp>
      <p:sp>
        <p:nvSpPr>
          <p:cNvPr id="7" name="Slide Number Placeholder 6"/>
          <p:cNvSpPr>
            <a:spLocks noGrp="1"/>
          </p:cNvSpPr>
          <p:nvPr>
            <p:ph type="sldNum" sz="quarter" idx="5"/>
          </p:nvPr>
        </p:nvSpPr>
        <p:spPr>
          <a:xfrm>
            <a:off x="4008438" y="8912225"/>
            <a:ext cx="3067050" cy="469900"/>
          </a:xfrm>
          <a:prstGeom prst="rect">
            <a:avLst/>
          </a:prstGeom>
        </p:spPr>
        <p:txBody>
          <a:bodyPr vert="horz" lIns="91440" tIns="45720" rIns="91440" bIns="45720" rtlCol="0" anchor="b"/>
          <a:lstStyle>
            <a:lvl1pPr algn="r">
              <a:defRPr sz="1200">
                <a:latin typeface="Arial" charset="0"/>
              </a:defRPr>
            </a:lvl1pPr>
          </a:lstStyle>
          <a:p>
            <a:pPr>
              <a:defRPr/>
            </a:pPr>
            <a:fld id="{CFF1A404-780B-445D-9205-D143319E6490}" type="slidenum">
              <a:rPr lang="en-US"/>
              <a:pPr>
                <a:defRPr/>
              </a:pPr>
              <a:t>‹#›</a:t>
            </a:fld>
            <a:endParaRPr lang="en-US"/>
          </a:p>
        </p:txBody>
      </p:sp>
    </p:spTree>
    <p:extLst>
      <p:ext uri="{BB962C8B-B14F-4D97-AF65-F5344CB8AC3E}">
        <p14:creationId xmlns:p14="http://schemas.microsoft.com/office/powerpoint/2010/main" val="816717577"/>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p:cNvSpPr>
            <a:spLocks noGrp="1" noRot="1" noChangeAspect="1" noTextEdit="1"/>
          </p:cNvSpPr>
          <p:nvPr>
            <p:ph type="sldImg"/>
          </p:nvPr>
        </p:nvSpPr>
        <p:spPr bwMode="auto">
          <a:xfrm>
            <a:off x="411163" y="703263"/>
            <a:ext cx="6254750" cy="351948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smtClean="0"/>
          </a:p>
        </p:txBody>
      </p:sp>
      <p:sp>
        <p:nvSpPr>
          <p:cNvPr id="92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93FDF3EA-9C45-4FB6-8360-B20F215DDAF9}" type="slidenum">
              <a:rPr lang="en-US" altLang="en-US" smtClean="0">
                <a:latin typeface="Arial" charset="0"/>
              </a:rPr>
              <a:pPr eaLnBrk="1" hangingPunct="1">
                <a:spcBef>
                  <a:spcPct val="0"/>
                </a:spcBef>
              </a:pPr>
              <a:t>1</a:t>
            </a:fld>
            <a:endParaRPr lang="en-US" altLang="en-US" smtClean="0">
              <a:latin typeface="Arial" charset="0"/>
            </a:endParaRPr>
          </a:p>
        </p:txBody>
      </p:sp>
    </p:spTree>
    <p:extLst>
      <p:ext uri="{BB962C8B-B14F-4D97-AF65-F5344CB8AC3E}">
        <p14:creationId xmlns:p14="http://schemas.microsoft.com/office/powerpoint/2010/main" val="12832619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o</a:t>
            </a:r>
            <a:r>
              <a:rPr lang="en-CA" dirty="0" smtClean="0"/>
              <a:t>perate directly on file system metadata structures on</a:t>
            </a:r>
            <a:r>
              <a:rPr lang="en-CA" baseline="0" dirty="0" smtClean="0"/>
              <a:t> disk while bypassing the VFS layer.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391851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misinterpreted this field, and corrupted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3393997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 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13442513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r>
              <a:rPr lang="en-CA" baseline="0" dirty="0" smtClean="0"/>
              <a:t>.</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2321132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34671520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3659962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916272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19457255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15730406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 </a:t>
            </a:r>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42287739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a:t>
            </a:r>
            <a:r>
              <a:rPr lang="en-CA" baseline="0" dirty="0" smtClean="0"/>
              <a:t>information.</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1058972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Here </a:t>
            </a:r>
            <a:r>
              <a:rPr lang="en-CA" baseline="0" dirty="0" smtClean="0"/>
              <a:t>we add an FSSTRUCT annotation to </a:t>
            </a:r>
            <a:r>
              <a:rPr lang="en-CA" baseline="0" dirty="0" err="1" smtClean="0"/>
              <a:t>struct</a:t>
            </a:r>
            <a:r>
              <a:rPr lang="en-CA" baseline="0" dirty="0" smtClean="0"/>
              <a:t> foo to indicate that it is an on-disk metadata structure. </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39236447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Then</a:t>
            </a:r>
            <a:r>
              <a:rPr lang="en-CA" baseline="0" dirty="0" smtClean="0"/>
              <a:t>,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14</a:t>
            </a:fld>
            <a:endParaRPr lang="en-CA"/>
          </a:p>
        </p:txBody>
      </p:sp>
    </p:spTree>
    <p:extLst>
      <p:ext uri="{BB962C8B-B14F-4D97-AF65-F5344CB8AC3E}">
        <p14:creationId xmlns:p14="http://schemas.microsoft.com/office/powerpoint/2010/main" val="39501074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the file system. For </a:t>
            </a:r>
            <a:r>
              <a:rPr lang="en-CA" baseline="0" dirty="0" smtClean="0"/>
              <a:t>example, in Ext4, from the super block, we can reach the ext4 journal and the block group descriptor table. In the descriptor table, each block group descriptor holds pointers to their block bitmap, </a:t>
            </a:r>
            <a:r>
              <a:rPr lang="en-CA" baseline="0" dirty="0" err="1" smtClean="0"/>
              <a:t>inode</a:t>
            </a:r>
            <a:r>
              <a:rPr lang="en-CA" baseline="0" dirty="0" smtClean="0"/>
              <a:t> bitmap, and </a:t>
            </a:r>
            <a:r>
              <a:rPr lang="en-CA" baseline="0" dirty="0" err="1" smtClean="0"/>
              <a:t>inode</a:t>
            </a:r>
            <a:r>
              <a:rPr lang="en-CA" baseline="0" dirty="0" smtClean="0"/>
              <a:t> table. Each </a:t>
            </a:r>
            <a:r>
              <a:rPr lang="en-CA" baseline="0" dirty="0" err="1" smtClean="0"/>
              <a:t>inode</a:t>
            </a:r>
            <a:r>
              <a:rPr lang="en-CA" baseline="0" dirty="0" smtClean="0"/>
              <a:t> structure in the </a:t>
            </a:r>
            <a:r>
              <a:rPr lang="en-CA" baseline="0" dirty="0" err="1" smtClean="0"/>
              <a:t>inode</a:t>
            </a:r>
            <a:r>
              <a:rPr lang="en-CA" baseline="0" dirty="0" smtClean="0"/>
              <a:t> table also points to data blocks or directory blocks, depending on whether it is a regular file or a directory. </a:t>
            </a:r>
            <a:r>
              <a:rPr lang="en-CA" baseline="0" dirty="0" err="1" smtClean="0"/>
              <a:t>Inode</a:t>
            </a:r>
            <a:r>
              <a:rPr lang="en-CA" baseline="0" dirty="0" smtClean="0"/>
              <a:t> structures can also hold pointers to indirect blocks to support large files and directories.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8671169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Examples of such address spaces include the </a:t>
            </a:r>
            <a:r>
              <a:rPr lang="en-CA" baseline="0" dirty="0" smtClean="0"/>
              <a:t>block and </a:t>
            </a:r>
            <a:r>
              <a:rPr lang="en-CA" baseline="0" dirty="0" smtClean="0"/>
              <a:t>file </a:t>
            </a:r>
            <a:r>
              <a:rPr lang="en-CA" baseline="0" dirty="0" smtClean="0"/>
              <a:t>address </a:t>
            </a:r>
            <a:r>
              <a:rPr lang="en-CA" baseline="0" dirty="0" smtClean="0"/>
              <a:t>spaces that I will describe next.</a:t>
            </a:r>
          </a:p>
        </p:txBody>
      </p:sp>
      <p:sp>
        <p:nvSpPr>
          <p:cNvPr id="4" name="Slide Number Placeholder 3"/>
          <p:cNvSpPr>
            <a:spLocks noGrp="1"/>
          </p:cNvSpPr>
          <p:nvPr>
            <p:ph type="sldNum" sz="quarter" idx="10"/>
          </p:nvPr>
        </p:nvSpPr>
        <p:spPr/>
        <p:txBody>
          <a:bodyPr/>
          <a:lstStyle/>
          <a:p>
            <a:fld id="{849A0A36-F84D-437B-B821-CB3EBADC1433}" type="slidenum">
              <a:rPr lang="en-CA" smtClean="0"/>
              <a:t>16</a:t>
            </a:fld>
            <a:endParaRPr lang="en-CA"/>
          </a:p>
        </p:txBody>
      </p:sp>
    </p:spTree>
    <p:extLst>
      <p:ext uri="{BB962C8B-B14F-4D97-AF65-F5344CB8AC3E}">
        <p14:creationId xmlns:p14="http://schemas.microsoft.com/office/powerpoint/2010/main" val="39886306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block address space, an address is simply the block number in the file system. This is the most common address space.</a:t>
            </a:r>
          </a:p>
        </p:txBody>
      </p:sp>
      <p:sp>
        <p:nvSpPr>
          <p:cNvPr id="4" name="Slide Number Placeholder 3"/>
          <p:cNvSpPr>
            <a:spLocks noGrp="1"/>
          </p:cNvSpPr>
          <p:nvPr>
            <p:ph type="sldNum" sz="quarter" idx="10"/>
          </p:nvPr>
        </p:nvSpPr>
        <p:spPr/>
        <p:txBody>
          <a:bodyPr/>
          <a:lstStyle/>
          <a:p>
            <a:fld id="{B5B5BF96-4013-477F-9949-176AD53AFF60}" type="slidenum">
              <a:rPr lang="en-CA" smtClean="0"/>
              <a:t>17</a:t>
            </a:fld>
            <a:endParaRPr lang="en-CA"/>
          </a:p>
        </p:txBody>
      </p:sp>
    </p:spTree>
    <p:extLst>
      <p:ext uri="{BB962C8B-B14F-4D97-AF65-F5344CB8AC3E}">
        <p14:creationId xmlns:p14="http://schemas.microsoft.com/office/powerpoint/2010/main" val="41174776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 This address space requires mapping the logical blocks of the journal file to their physical locations.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20915811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CA" dirty="0" smtClean="0"/>
              <a:t>Traversal</a:t>
            </a:r>
            <a:r>
              <a:rPr lang="en-CA" baseline="0" dirty="0" smtClean="0"/>
              <a:t> of every file system begins with the super block. </a:t>
            </a:r>
            <a:r>
              <a:rPr lang="en-CA" baseline="0" dirty="0" smtClean="0"/>
              <a:t>Therefore, a special annotation named FSSUPER is used to distinguish the super block from other file system metadata. File system super blocks are always located in fixed known byte offset on disk. Therefore, we specify this information using the location argument.</a:t>
            </a:r>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3093543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dirty="0" smtClean="0"/>
              <a:t>,</a:t>
            </a:r>
            <a:r>
              <a:rPr lang="en-CA" baseline="0" dirty="0" smtClean="0"/>
              <a:t> we show an example of the ext4 super block, which is annotated with FSSUPER. The location argument specifies that the super block is one kilobyte away from the beginning of the partition. We also show that </a:t>
            </a:r>
            <a:r>
              <a:rPr lang="en-CA" baseline="0" dirty="0" err="1" smtClean="0"/>
              <a:t>s_journal_inum</a:t>
            </a:r>
            <a:r>
              <a:rPr lang="en-CA" baseline="0" dirty="0" smtClean="0"/>
              <a:t> is a file pointer of type ext4_journal.</a:t>
            </a:r>
          </a:p>
          <a:p>
            <a:endParaRPr lang="en-CA" baseline="0" dirty="0" smtClean="0"/>
          </a:p>
          <a:p>
            <a:r>
              <a:rPr lang="en-CA" baseline="0" dirty="0" smtClean="0"/>
              <a:t>HIGHLIGHT each field as they are talked about.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34199212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We </a:t>
            </a:r>
            <a:r>
              <a:rPr lang="en-CA" baseline="0" dirty="0" smtClean="0"/>
              <a:t>also show </a:t>
            </a:r>
            <a:r>
              <a:rPr lang="en-CA" baseline="0" dirty="0" smtClean="0"/>
              <a:t>here that </a:t>
            </a:r>
            <a:r>
              <a:rPr lang="en-CA" baseline="0" dirty="0" err="1" smtClean="0"/>
              <a:t>s_journal_inum</a:t>
            </a:r>
            <a:r>
              <a:rPr lang="en-CA" baseline="0" dirty="0" smtClean="0"/>
              <a:t> is a file pointer of type </a:t>
            </a:r>
            <a:r>
              <a:rPr lang="en-CA" baseline="0" dirty="0" smtClean="0"/>
              <a:t>ext4_journal, as was explained in the previous slide.</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38342695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One</a:t>
            </a:r>
            <a:r>
              <a:rPr lang="en-CA" baseline="0" dirty="0" smtClean="0"/>
              <a:t> of the challenges we addressed is that </a:t>
            </a:r>
            <a:r>
              <a:rPr lang="en-CA" dirty="0" smtClean="0"/>
              <a:t>a pointer may point to different types of metadata</a:t>
            </a:r>
            <a:r>
              <a:rPr lang="en-CA" baseline="0" dirty="0" smtClean="0"/>
              <a:t> in different contexts. For example, p</a:t>
            </a:r>
            <a:r>
              <a:rPr lang="en-CA" dirty="0" smtClean="0"/>
              <a:t>ointers in an </a:t>
            </a:r>
            <a:r>
              <a:rPr lang="en-CA" dirty="0" err="1" smtClean="0"/>
              <a:t>inode</a:t>
            </a:r>
            <a:r>
              <a:rPr lang="en-CA" dirty="0" smtClean="0"/>
              <a:t> structure can point to directory or data blocks, depending</a:t>
            </a:r>
            <a:r>
              <a:rPr lang="en-CA" baseline="0" dirty="0" smtClean="0"/>
              <a:t> on the type of the </a:t>
            </a:r>
            <a:r>
              <a:rPr lang="en-CA" baseline="0" dirty="0" err="1" smtClean="0"/>
              <a:t>inode</a:t>
            </a:r>
            <a:r>
              <a:rPr lang="en-CA" baseline="0" dirty="0" smtClean="0"/>
              <a:t>. We support such context-sensitive types by </a:t>
            </a:r>
            <a:r>
              <a:rPr lang="en-CA" dirty="0" smtClean="0"/>
              <a:t>specifying a </a:t>
            </a:r>
            <a:r>
              <a:rPr lang="en-CA" i="1" dirty="0" smtClean="0"/>
              <a:t>WHEN condition</a:t>
            </a:r>
            <a:r>
              <a:rPr lang="en-CA" i="1" baseline="0" dirty="0" smtClean="0"/>
              <a:t> </a:t>
            </a:r>
            <a:r>
              <a:rPr lang="en-CA" dirty="0" smtClean="0"/>
              <a:t>in pointer annotations. The field is a valid pointer of</a:t>
            </a:r>
            <a:r>
              <a:rPr lang="en-CA" baseline="0" dirty="0" smtClean="0"/>
              <a:t> the specified type </a:t>
            </a:r>
            <a:r>
              <a:rPr lang="en-CA" dirty="0" smtClean="0"/>
              <a:t>only if </a:t>
            </a:r>
            <a:r>
              <a:rPr lang="en-CA" baseline="0" dirty="0" smtClean="0"/>
              <a:t>the</a:t>
            </a:r>
            <a:r>
              <a:rPr lang="en-CA" dirty="0" smtClean="0"/>
              <a:t> expression in a when condition evaluates to true. </a:t>
            </a:r>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851117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a:t>
            </a:r>
            <a:r>
              <a:rPr lang="en-CA" baseline="0" dirty="0" smtClean="0"/>
              <a:t> </a:t>
            </a:r>
            <a:r>
              <a:rPr lang="en-CA" baseline="0" dirty="0" smtClean="0"/>
              <a:t>this example, there are two pointer annotation to the same </a:t>
            </a:r>
            <a:r>
              <a:rPr lang="en-CA" baseline="0" dirty="0" err="1" smtClean="0"/>
              <a:t>i_block</a:t>
            </a:r>
            <a:r>
              <a:rPr lang="en-CA" baseline="0" dirty="0" smtClean="0"/>
              <a:t> array. </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23</a:t>
            </a:fld>
            <a:endParaRPr lang="en-CA"/>
          </a:p>
        </p:txBody>
      </p:sp>
    </p:spTree>
    <p:extLst>
      <p:ext uri="{BB962C8B-B14F-4D97-AF65-F5344CB8AC3E}">
        <p14:creationId xmlns:p14="http://schemas.microsoft.com/office/powerpoint/2010/main" val="29350111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a:t>
            </a:r>
            <a:r>
              <a:rPr lang="en-CA" baseline="0" dirty="0" smtClean="0"/>
              <a:t>first annotation specifies that </a:t>
            </a:r>
            <a:r>
              <a:rPr lang="en-CA" baseline="0" dirty="0" err="1" smtClean="0"/>
              <a:t>i_block</a:t>
            </a:r>
            <a:r>
              <a:rPr lang="en-CA" baseline="0" dirty="0" smtClean="0"/>
              <a:t> is an array of pointers to </a:t>
            </a:r>
            <a:r>
              <a:rPr lang="en-CA" baseline="0" dirty="0" err="1" smtClean="0"/>
              <a:t>dir_blocks</a:t>
            </a:r>
            <a:r>
              <a:rPr lang="en-CA" baseline="0" dirty="0" smtClean="0"/>
              <a:t> only when the </a:t>
            </a:r>
            <a:r>
              <a:rPr lang="en-CA" baseline="0" dirty="0" err="1" smtClean="0"/>
              <a:t>inode’s</a:t>
            </a:r>
            <a:r>
              <a:rPr lang="en-CA" baseline="0" dirty="0" smtClean="0"/>
              <a:t> mode field indicates a directory. </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25180068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second annotation specifies that this same </a:t>
            </a:r>
            <a:r>
              <a:rPr lang="en-CA" baseline="0" dirty="0" err="1" smtClean="0"/>
              <a:t>i_block</a:t>
            </a:r>
            <a:r>
              <a:rPr lang="en-CA" baseline="0" dirty="0" smtClean="0"/>
              <a:t> is an array of pointers to data blocks when the </a:t>
            </a:r>
            <a:r>
              <a:rPr lang="en-CA" baseline="0" dirty="0" err="1" smtClean="0"/>
              <a:t>inode’s</a:t>
            </a:r>
            <a:r>
              <a:rPr lang="en-CA" baseline="0" dirty="0" smtClean="0"/>
              <a:t> mode field indicates a regular file.</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42499918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The l</a:t>
            </a:r>
            <a:r>
              <a:rPr lang="en-CA" dirty="0" smtClean="0"/>
              <a:t>ocations of some structures are implicit in the code, and not</a:t>
            </a:r>
            <a:r>
              <a:rPr lang="en-CA" baseline="0" dirty="0" smtClean="0"/>
              <a:t> part of the structure definition in header files. For example,</a:t>
            </a:r>
            <a:r>
              <a:rPr lang="en-CA" dirty="0" smtClean="0"/>
              <a:t> the Ext4 block group descriptor table is the next block following the super block, but the</a:t>
            </a:r>
            <a:r>
              <a:rPr lang="en-CA" baseline="0" dirty="0" smtClean="0"/>
              <a:t> </a:t>
            </a:r>
            <a:r>
              <a:rPr lang="en-CA" dirty="0" smtClean="0"/>
              <a:t>Ext4 super block does not have a field that points to this descriptor table. However, we</a:t>
            </a:r>
            <a:r>
              <a:rPr lang="en-CA" baseline="0" dirty="0" smtClean="0"/>
              <a:t> need such a p</a:t>
            </a:r>
            <a:r>
              <a:rPr lang="en-CA" dirty="0" smtClean="0"/>
              <a:t>ointer to traverse the file system.</a:t>
            </a:r>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8979059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Our s</a:t>
            </a:r>
            <a:r>
              <a:rPr lang="en-CA" dirty="0" smtClean="0"/>
              <a:t>olution</a:t>
            </a:r>
            <a:r>
              <a:rPr lang="en-CA" baseline="0" dirty="0" smtClean="0"/>
              <a:t> is to provide an i</a:t>
            </a:r>
            <a:r>
              <a:rPr lang="en-CA" dirty="0" smtClean="0"/>
              <a:t>mplicit pointer annotation that take two</a:t>
            </a:r>
            <a:r>
              <a:rPr lang="en-CA" baseline="0" dirty="0" smtClean="0"/>
              <a:t> additional arguments, a name, and an expression. The </a:t>
            </a:r>
            <a:r>
              <a:rPr lang="en-CA" i="1" dirty="0" smtClean="0"/>
              <a:t>name</a:t>
            </a:r>
            <a:r>
              <a:rPr lang="en-CA" dirty="0" smtClean="0"/>
              <a:t> argument</a:t>
            </a:r>
            <a:r>
              <a:rPr lang="en-CA" baseline="0" dirty="0" smtClean="0"/>
              <a:t> </a:t>
            </a:r>
            <a:r>
              <a:rPr lang="en-CA" dirty="0" smtClean="0"/>
              <a:t>creates a logical pointer field that can be accessed</a:t>
            </a:r>
            <a:r>
              <a:rPr lang="en-CA" baseline="0" dirty="0" smtClean="0"/>
              <a:t> and </a:t>
            </a:r>
            <a:r>
              <a:rPr lang="en-CA" dirty="0" smtClean="0"/>
              <a:t>dereferenced.</a:t>
            </a:r>
            <a:r>
              <a:rPr lang="en-CA" baseline="0" dirty="0" smtClean="0"/>
              <a:t> The </a:t>
            </a:r>
            <a:r>
              <a:rPr lang="en-CA" i="1" dirty="0" smtClean="0"/>
              <a:t>expr argument </a:t>
            </a:r>
            <a:r>
              <a:rPr lang="en-CA" dirty="0" smtClean="0"/>
              <a:t>is a C expression that specifies how to calculate the field value, which is the pointer address</a:t>
            </a:r>
            <a:r>
              <a:rPr lang="en-CA" dirty="0" smtClean="0"/>
              <a:t>.</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14230372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a:t>
            </a:r>
            <a:r>
              <a:rPr lang="en-CA" baseline="0" dirty="0" smtClean="0"/>
              <a:t> </a:t>
            </a:r>
            <a:r>
              <a:rPr lang="en-CA" baseline="0" dirty="0" smtClean="0"/>
              <a:t>this example, the pointer annotation creates a logical field called </a:t>
            </a:r>
            <a:r>
              <a:rPr lang="en-CA" baseline="0" dirty="0" err="1" smtClean="0"/>
              <a:t>s_block_group_descriptor</a:t>
            </a:r>
            <a:r>
              <a:rPr lang="en-CA" baseline="0" dirty="0" smtClean="0"/>
              <a:t>, and evaluates the expression at runtime that assigns the field a value of 2 or 1 depending the block size of the file system. Now, this field name can be used to traverse the file system from the super block to the block group descriptor </a:t>
            </a:r>
            <a:r>
              <a:rPr lang="en-CA" baseline="0" dirty="0" err="1" smtClean="0"/>
              <a:t>table.s</a:t>
            </a:r>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12985385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Similar to implicit pointers,</a:t>
            </a:r>
            <a:r>
              <a:rPr lang="en-CA" baseline="0" dirty="0" smtClean="0"/>
              <a:t> vector types are typically also implicit within the file system code. For example, Ext4 does not explicit define directory block as an array of directory entries, or indirect block as an array of indirect pointers. However, this type information is required by the pointer annotations, otherwise it becomes ambiguous whether a pointer points to one structure or an array of structures. Therefore, we must declare all vector types explicitly. A secondary issue is that C vector types, which can be declared through </a:t>
            </a:r>
            <a:r>
              <a:rPr lang="en-CA" baseline="0" dirty="0" err="1" smtClean="0"/>
              <a:t>typedef</a:t>
            </a:r>
            <a:r>
              <a:rPr lang="en-CA" baseline="0" dirty="0" smtClean="0"/>
              <a:t>, does not support variable-length element such as a directory entry structure. Therefore, Spiffy provides support for all vector types through the VECTOR annotation. </a:t>
            </a:r>
          </a:p>
          <a:p>
            <a:r>
              <a:rPr lang="en-CA" baseline="0" dirty="0" smtClean="0"/>
              <a:t>As shown in the example, the name argument specifies a new vector type. The type argument in the vector annotation specifies the type of its elements, and the size argument specifies the size of the entire vector, in bytes, which is usually the size of a block as specified by the file system.</a:t>
            </a:r>
          </a:p>
          <a:p>
            <a:r>
              <a:rPr lang="en-CA" baseline="0" dirty="0" smtClean="0"/>
              <a:t>ENTRIES ARE ASSUMED TO BE VARIABLE LENGTH AND PARSED AS SUCH.</a:t>
            </a:r>
          </a:p>
          <a:p>
            <a:r>
              <a:rPr lang="en-CA" baseline="0" dirty="0" smtClean="0"/>
              <a:t> As you can now see in the next structure definition for directory indirect pointers, the indirect block number field can now reference a directory block. </a:t>
            </a:r>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29</a:t>
            </a:fld>
            <a:endParaRPr lang="en-US"/>
          </a:p>
        </p:txBody>
      </p:sp>
    </p:spTree>
    <p:extLst>
      <p:ext uri="{BB962C8B-B14F-4D97-AF65-F5344CB8AC3E}">
        <p14:creationId xmlns:p14="http://schemas.microsoft.com/office/powerpoint/2010/main" val="34532804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Spiffy provides a CHECK annotation that helps to check metadata structure constraints at runtime. In the top example, we specify that the block size must be at most 64KB, and the magic field of the super block must be the Ext4 magic number.</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bottom example shows a fragment of the generated parsing code for the Ext4 super block. This example shows how check annotations are implemented. These checks help detect metadata corruptions.</a:t>
            </a:r>
          </a:p>
        </p:txBody>
      </p:sp>
      <p:sp>
        <p:nvSpPr>
          <p:cNvPr id="4" name="Slide Number Placeholder 3"/>
          <p:cNvSpPr>
            <a:spLocks noGrp="1"/>
          </p:cNvSpPr>
          <p:nvPr>
            <p:ph type="sldNum" sz="quarter" idx="10"/>
          </p:nvPr>
        </p:nvSpPr>
        <p:spPr/>
        <p:txBody>
          <a:bodyPr/>
          <a:lstStyle/>
          <a:p>
            <a:fld id="{B5B5BF96-4013-477F-9949-176AD53AFF60}" type="slidenum">
              <a:rPr lang="en-CA" smtClean="0"/>
              <a:t>30</a:t>
            </a:fld>
            <a:endParaRPr lang="en-CA"/>
          </a:p>
        </p:txBody>
      </p:sp>
    </p:spTree>
    <p:extLst>
      <p:ext uri="{BB962C8B-B14F-4D97-AF65-F5344CB8AC3E}">
        <p14:creationId xmlns:p14="http://schemas.microsoft.com/office/powerpoint/2010/main" val="6365132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generated Spiffy library contains a C++ class for every annotated structure and its fields. This allows us to implement type-safe parsing and serialization. It also allows us to introspect each structure and its fields to get their types, sizes, names and parents.</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31</a:t>
            </a:fld>
            <a:endParaRPr lang="en-CA"/>
          </a:p>
        </p:txBody>
      </p:sp>
    </p:spTree>
    <p:extLst>
      <p:ext uri="{BB962C8B-B14F-4D97-AF65-F5344CB8AC3E}">
        <p14:creationId xmlns:p14="http://schemas.microsoft.com/office/powerpoint/2010/main" val="13117003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The line count column shows the number of lines of code that define the on-disk data structures in each file system. The annotated column shows the annotations we have added to the original structure definitions. In all cases, the annotations are approximately one forth of the total line count. These numbers include the types of annotations that we have shown earlier, as well as two special cases. We needed to declare some metadata structures that were not declared at all, such as an Ext4 indirect block, which the code assumes is array of pointers. We also made minor changes to some structure definitions for clarity, in particular when a single type definition is used to access multiple different types. For example,</a:t>
            </a:r>
            <a:r>
              <a:rPr lang="en-CA" dirty="0" smtClean="0"/>
              <a:t> block pointers in Ext4 </a:t>
            </a:r>
            <a:r>
              <a:rPr lang="en-CA" dirty="0" err="1" smtClean="0"/>
              <a:t>inode</a:t>
            </a:r>
            <a:r>
              <a:rPr lang="en-CA" dirty="0" smtClean="0"/>
              <a:t> is an array of 15 pointers, the first 12 are direct block pointers, while the last 3 are indirect pointers of different types.</a:t>
            </a:r>
          </a:p>
        </p:txBody>
      </p:sp>
      <p:sp>
        <p:nvSpPr>
          <p:cNvPr id="4" name="Slide Number Placeholder 3"/>
          <p:cNvSpPr>
            <a:spLocks noGrp="1"/>
          </p:cNvSpPr>
          <p:nvPr>
            <p:ph type="sldNum" sz="quarter" idx="10"/>
          </p:nvPr>
        </p:nvSpPr>
        <p:spPr/>
        <p:txBody>
          <a:bodyPr/>
          <a:lstStyle/>
          <a:p>
            <a:fld id="{849A0A36-F84D-437B-B821-CB3EBADC1433}" type="slidenum">
              <a:rPr lang="en-CA" smtClean="0"/>
              <a:t>32</a:t>
            </a:fld>
            <a:endParaRPr lang="en-CA"/>
          </a:p>
        </p:txBody>
      </p:sp>
    </p:spTree>
    <p:extLst>
      <p:ext uri="{BB962C8B-B14F-4D97-AF65-F5344CB8AC3E}">
        <p14:creationId xmlns:p14="http://schemas.microsoft.com/office/powerpoint/2010/main" val="372706163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an example of building a file-system</a:t>
            </a:r>
            <a:r>
              <a:rPr lang="en-CA" baseline="0" dirty="0" smtClean="0"/>
              <a:t> aware application: a free space display tool that plots a histogram of the sizes of free extents available in a file system image. For this application, we require knowledge of how file system keeps </a:t>
            </a:r>
            <a:r>
              <a:rPr lang="en-CA" dirty="0" smtClean="0"/>
              <a:t>track of block allocation information. The</a:t>
            </a:r>
            <a:r>
              <a:rPr lang="en-CA" baseline="0" dirty="0" smtClean="0"/>
              <a:t> manual approach requires first</a:t>
            </a:r>
            <a:r>
              <a:rPr lang="en-CA" dirty="0" smtClean="0"/>
              <a:t> traversing</a:t>
            </a:r>
            <a:r>
              <a:rPr lang="en-CA" baseline="0" dirty="0" smtClean="0"/>
              <a:t> the file system to access the block allocation information, and then processing this information to obtain the free space extents. In contrast, the Spiffy library provides the necessary traversal code so that the developer only needs to focus on writing code that processes the block allocation metadata.</a:t>
            </a:r>
          </a:p>
        </p:txBody>
      </p:sp>
      <p:sp>
        <p:nvSpPr>
          <p:cNvPr id="4" name="Slide Number Placeholder 3"/>
          <p:cNvSpPr>
            <a:spLocks noGrp="1"/>
          </p:cNvSpPr>
          <p:nvPr>
            <p:ph type="sldNum" sz="quarter" idx="10"/>
          </p:nvPr>
        </p:nvSpPr>
        <p:spPr/>
        <p:txBody>
          <a:bodyPr/>
          <a:lstStyle/>
          <a:p>
            <a:fld id="{B5B5BF96-4013-477F-9949-176AD53AFF60}" type="slidenum">
              <a:rPr lang="en-CA" smtClean="0"/>
              <a:t>33</a:t>
            </a:fld>
            <a:endParaRPr lang="en-CA"/>
          </a:p>
        </p:txBody>
      </p:sp>
    </p:spTree>
    <p:extLst>
      <p:ext uri="{BB962C8B-B14F-4D97-AF65-F5344CB8AC3E}">
        <p14:creationId xmlns:p14="http://schemas.microsoft.com/office/powerpoint/2010/main" val="417939915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traverses the Ext4 file system to find the bitmaps that contain block allocation information. As you can see, a lot of boilerplate code is needed to walk through the intermediate metadata structures.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34</a:t>
            </a:fld>
            <a:endParaRPr lang="en-CA"/>
          </a:p>
        </p:txBody>
      </p:sp>
    </p:spTree>
    <p:extLst>
      <p:ext uri="{BB962C8B-B14F-4D97-AF65-F5344CB8AC3E}">
        <p14:creationId xmlns:p14="http://schemas.microsoft.com/office/powerpoint/2010/main" val="39697451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dirty="0" smtClean="0"/>
              <a:t>What we want</a:t>
            </a:r>
            <a:r>
              <a:rPr lang="en-CA" baseline="0" dirty="0" smtClean="0"/>
              <a:t> is an easier way to get to the function that processes the block bitmaps, without needing to write all of the code to traverse the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35</a:t>
            </a:fld>
            <a:endParaRPr lang="en-CA"/>
          </a:p>
        </p:txBody>
      </p:sp>
    </p:spTree>
    <p:extLst>
      <p:ext uri="{BB962C8B-B14F-4D97-AF65-F5344CB8AC3E}">
        <p14:creationId xmlns:p14="http://schemas.microsoft.com/office/powerpoint/2010/main" val="41935649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to fit this function on the slide, we have shown it without any error checks. In practice, these checks are easy to accidentally omit. In that case, any error during traversal, or corruption in the file system, could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36</a:t>
            </a:fld>
            <a:endParaRPr lang="en-CA"/>
          </a:p>
        </p:txBody>
      </p:sp>
    </p:spTree>
    <p:extLst>
      <p:ext uri="{BB962C8B-B14F-4D97-AF65-F5344CB8AC3E}">
        <p14:creationId xmlns:p14="http://schemas.microsoft.com/office/powerpoint/2010/main" val="310077055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the Spiffy library. </a:t>
            </a:r>
          </a:p>
          <a:p>
            <a:r>
              <a:rPr lang="en-CA" baseline="0" dirty="0" smtClean="0"/>
              <a:t>On line 3, we retrieve the super block through the </a:t>
            </a:r>
            <a:r>
              <a:rPr lang="en-CA" baseline="0" dirty="0" err="1" smtClean="0"/>
              <a:t>fetch_super</a:t>
            </a:r>
            <a:r>
              <a:rPr lang="en-CA" baseline="0" dirty="0" smtClean="0"/>
              <a:t> function. If the super block is corrupted, the function will return null.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37</a:t>
            </a:fld>
            <a:endParaRPr lang="en-CA"/>
          </a:p>
        </p:txBody>
      </p:sp>
    </p:spTree>
    <p:extLst>
      <p:ext uri="{BB962C8B-B14F-4D97-AF65-F5344CB8AC3E}">
        <p14:creationId xmlns:p14="http://schemas.microsoft.com/office/powerpoint/2010/main" val="11824292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Next, on line 7, invoking the </a:t>
            </a:r>
            <a:r>
              <a:rPr lang="en-CA" baseline="0" dirty="0" err="1" smtClean="0"/>
              <a:t>process_by_type</a:t>
            </a:r>
            <a:r>
              <a:rPr lang="en-CA" baseline="0" dirty="0" smtClean="0"/>
              <a:t> function allows processing all of the block bitmaps reachable from the super block, through its annotated pointers. This avoids the need to write any traversal code manually, so the developer can focus on just the code that processes the block bitmaps.</a:t>
            </a:r>
          </a:p>
        </p:txBody>
      </p:sp>
      <p:sp>
        <p:nvSpPr>
          <p:cNvPr id="4" name="Slide Number Placeholder 3"/>
          <p:cNvSpPr>
            <a:spLocks noGrp="1"/>
          </p:cNvSpPr>
          <p:nvPr>
            <p:ph type="sldNum" sz="quarter" idx="10"/>
          </p:nvPr>
        </p:nvSpPr>
        <p:spPr/>
        <p:txBody>
          <a:bodyPr/>
          <a:lstStyle/>
          <a:p>
            <a:fld id="{B5B5BF96-4013-477F-9949-176AD53AFF60}" type="slidenum">
              <a:rPr lang="en-CA" smtClean="0"/>
              <a:t>38</a:t>
            </a:fld>
            <a:endParaRPr lang="en-CA"/>
          </a:p>
        </p:txBody>
      </p:sp>
    </p:spTree>
    <p:extLst>
      <p:ext uri="{BB962C8B-B14F-4D97-AF65-F5344CB8AC3E}">
        <p14:creationId xmlns:p14="http://schemas.microsoft.com/office/powerpoint/2010/main" val="14705235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you can see, there are two advantages to using the Spiffy library. First, it simplifies file system traversal by reducing the need to know the format details. Second, the library parsing routines include automatically generated sanity checks to help detect corruption. </a:t>
            </a:r>
          </a:p>
        </p:txBody>
      </p:sp>
      <p:sp>
        <p:nvSpPr>
          <p:cNvPr id="4" name="Slide Number Placeholder 3"/>
          <p:cNvSpPr>
            <a:spLocks noGrp="1"/>
          </p:cNvSpPr>
          <p:nvPr>
            <p:ph type="sldNum" sz="quarter" idx="10"/>
          </p:nvPr>
        </p:nvSpPr>
        <p:spPr/>
        <p:txBody>
          <a:bodyPr/>
          <a:lstStyle/>
          <a:p>
            <a:fld id="{B5B5BF96-4013-477F-9949-176AD53AFF60}" type="slidenum">
              <a:rPr lang="en-CA" smtClean="0"/>
              <a:t>39</a:t>
            </a:fld>
            <a:endParaRPr lang="en-CA"/>
          </a:p>
        </p:txBody>
      </p:sp>
    </p:spTree>
    <p:extLst>
      <p:ext uri="{BB962C8B-B14F-4D97-AF65-F5344CB8AC3E}">
        <p14:creationId xmlns:p14="http://schemas.microsoft.com/office/powerpoint/2010/main" val="21958348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Spiffy application for </a:t>
            </a:r>
            <a:r>
              <a:rPr lang="en-CA" baseline="0" dirty="0" err="1" smtClean="0"/>
              <a:t>btrfs</a:t>
            </a:r>
            <a:r>
              <a:rPr lang="en-CA" baseline="0" dirty="0" smtClean="0"/>
              <a:t>. The main change is that the </a:t>
            </a:r>
            <a:r>
              <a:rPr lang="en-CA" baseline="0" dirty="0" err="1" smtClean="0"/>
              <a:t>process_by_type</a:t>
            </a:r>
            <a:r>
              <a:rPr lang="en-CA" baseline="0" dirty="0" smtClean="0"/>
              <a:t> function takes a different structure type argument, an extent item, and a processing function for an extent item. The programmer can thus focus on just processing the </a:t>
            </a:r>
            <a:r>
              <a:rPr lang="en-CA" baseline="0" dirty="0" err="1" smtClean="0"/>
              <a:t>btrfs</a:t>
            </a:r>
            <a:r>
              <a:rPr lang="en-CA" baseline="0" dirty="0" smtClean="0"/>
              <a:t> block allocation information.</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40</a:t>
            </a:fld>
            <a:endParaRPr lang="en-CA"/>
          </a:p>
        </p:txBody>
      </p:sp>
    </p:spTree>
    <p:extLst>
      <p:ext uri="{BB962C8B-B14F-4D97-AF65-F5344CB8AC3E}">
        <p14:creationId xmlns:p14="http://schemas.microsoft.com/office/powerpoint/2010/main" val="39768934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This</a:t>
            </a:r>
            <a:r>
              <a:rPr lang="en-CA" baseline="0" dirty="0" smtClean="0"/>
              <a:t> table summarizes the major APIs offered by Spiffy, which provides type-safe traversal and manipulation of the file system and its metadata. At the top, we have the Entity class, which provides a common interface for all file system metadata structures. The </a:t>
            </a:r>
            <a:r>
              <a:rPr lang="en-CA" baseline="0" dirty="0" err="1" smtClean="0"/>
              <a:t>process_fields</a:t>
            </a:r>
            <a:r>
              <a:rPr lang="en-CA" baseline="0" dirty="0" smtClean="0"/>
              <a:t> function allows iterating through all fields of this object. </a:t>
            </a:r>
            <a:r>
              <a:rPr lang="en-CA" baseline="0" dirty="0" err="1" smtClean="0"/>
              <a:t>process_pointer</a:t>
            </a:r>
            <a:r>
              <a:rPr lang="en-CA" baseline="0" dirty="0" smtClean="0"/>
              <a:t>, on the other hand, only iterates through the pointers within this object. </a:t>
            </a:r>
            <a:endParaRPr lang="en-CA" baseline="0" dirty="0" smtClean="0"/>
          </a:p>
          <a:p>
            <a:r>
              <a:rPr lang="en-US" altLang="zh-TW" baseline="0" dirty="0" smtClean="0"/>
              <a:t>I</a:t>
            </a:r>
            <a:r>
              <a:rPr lang="zh-TW" altLang="en-US" baseline="0" dirty="0" smtClean="0"/>
              <a:t> </a:t>
            </a:r>
            <a:r>
              <a:rPr lang="en-CA" altLang="zh-TW" baseline="0" dirty="0" smtClean="0"/>
              <a:t>have previously described the next two set of member functions, so I will skip forward.</a:t>
            </a:r>
            <a:endParaRPr lang="en-CA" baseline="0" dirty="0" smtClean="0"/>
          </a:p>
          <a:p>
            <a:r>
              <a:rPr lang="en-CA" baseline="0" dirty="0" smtClean="0"/>
              <a:t>The container </a:t>
            </a:r>
            <a:r>
              <a:rPr lang="en-CA" baseline="0" dirty="0" smtClean="0"/>
              <a:t>class represents the unit of disk access. for example, </a:t>
            </a:r>
            <a:r>
              <a:rPr lang="en-CA" baseline="0" dirty="0" err="1" smtClean="0"/>
              <a:t>inode</a:t>
            </a:r>
            <a:r>
              <a:rPr lang="en-CA" baseline="0" dirty="0" smtClean="0"/>
              <a:t> structures are never read or written individually, but in units of an </a:t>
            </a:r>
            <a:r>
              <a:rPr lang="en-CA" baseline="0" dirty="0" err="1" smtClean="0"/>
              <a:t>inode</a:t>
            </a:r>
            <a:r>
              <a:rPr lang="en-CA" baseline="0" dirty="0" smtClean="0"/>
              <a:t> block. The container class is a subclass of Entity, which has the save function that allows it to be serialized to disk. Pointer class is also a subclass of Entity, which has the fetch function for retrieving the pointed-to container from disk. The File System class is required for bootstrapping the file system, and the IO class implements reading and writing from the address spaces used by the file system. Lastly, the </a:t>
            </a:r>
            <a:r>
              <a:rPr lang="en-CA" baseline="0" dirty="0" err="1" smtClean="0"/>
              <a:t>fetch_super</a:t>
            </a:r>
            <a:r>
              <a:rPr lang="en-CA" baseline="0" dirty="0" smtClean="0"/>
              <a:t> function retrieves the super block from a known location.</a:t>
            </a:r>
          </a:p>
          <a:p>
            <a:r>
              <a:rPr lang="en-CA" baseline="0" dirty="0" smtClean="0"/>
              <a:t>The application developer would mainly be writing custom visit functions for traversing and processing file system metadata, as we will show next how it can be done generically. </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41</a:t>
            </a:fld>
            <a:endParaRPr lang="en-US"/>
          </a:p>
        </p:txBody>
      </p:sp>
    </p:spTree>
    <p:extLst>
      <p:ext uri="{BB962C8B-B14F-4D97-AF65-F5344CB8AC3E}">
        <p14:creationId xmlns:p14="http://schemas.microsoft.com/office/powerpoint/2010/main" val="45117574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a:t>
            </a:r>
            <a:r>
              <a:rPr lang="en-CA" baseline="0" dirty="0" smtClean="0"/>
              <a:t> show what the application developer needs to do to implement generic traversal of the file system, which is used by some of the applications that we will demonstrate later. For all file systems, a small amount of file system specific code is required for bootstrapping. However, the rest of the code is completely generic. </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42</a:t>
            </a:fld>
            <a:endParaRPr lang="en-US"/>
          </a:p>
        </p:txBody>
      </p:sp>
    </p:spTree>
    <p:extLst>
      <p:ext uri="{BB962C8B-B14F-4D97-AF65-F5344CB8AC3E}">
        <p14:creationId xmlns:p14="http://schemas.microsoft.com/office/powerpoint/2010/main" val="178138875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First, we instantiate</a:t>
            </a:r>
            <a:r>
              <a:rPr lang="en-CA" baseline="0" dirty="0" smtClean="0"/>
              <a:t> an IO object which implements the block and file address space, and an instance of the Ext4 file system class. Next, the generic part of the application begins with fetching the super block. Then it uses two mutually recursive visitors to traverse the whole file system, beginning with the super block.</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43</a:t>
            </a:fld>
            <a:endParaRPr lang="en-US"/>
          </a:p>
        </p:txBody>
      </p:sp>
    </p:spTree>
    <p:extLst>
      <p:ext uri="{BB962C8B-B14F-4D97-AF65-F5344CB8AC3E}">
        <p14:creationId xmlns:p14="http://schemas.microsoft.com/office/powerpoint/2010/main" val="14243175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The entity visitor prints the name of the entity e, and then calls the process</a:t>
            </a:r>
            <a:r>
              <a:rPr lang="en-CA" baseline="0" dirty="0" smtClean="0"/>
              <a:t> pointer function using the pointer visitor, which calls its visit function on all of the pointer fields in the entity e. </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44</a:t>
            </a:fld>
            <a:endParaRPr lang="en-US"/>
          </a:p>
        </p:txBody>
      </p:sp>
    </p:spTree>
    <p:extLst>
      <p:ext uri="{BB962C8B-B14F-4D97-AF65-F5344CB8AC3E}">
        <p14:creationId xmlns:p14="http://schemas.microsoft.com/office/powerpoint/2010/main" val="34999528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The pointer visit</a:t>
            </a:r>
            <a:r>
              <a:rPr lang="en-CA" baseline="0" dirty="0" smtClean="0"/>
              <a:t> function would fetch the pointed-to container from disk, then calls the entity visitor’s visit function, which allows full traversal of all file system containers in depth-first order.</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45</a:t>
            </a:fld>
            <a:endParaRPr lang="en-US"/>
          </a:p>
        </p:txBody>
      </p:sp>
    </p:spTree>
    <p:extLst>
      <p:ext uri="{BB962C8B-B14F-4D97-AF65-F5344CB8AC3E}">
        <p14:creationId xmlns:p14="http://schemas.microsoft.com/office/powerpoint/2010/main" val="25034312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have talked about the free space</a:t>
            </a:r>
            <a:r>
              <a:rPr lang="en-CA" baseline="0" dirty="0" smtClean="0"/>
              <a:t> tool. Now, I am going to describe some other tools that we have developed using Spiffy.</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46</a:t>
            </a:fld>
            <a:endParaRPr lang="en-CA"/>
          </a:p>
        </p:txBody>
      </p:sp>
    </p:spTree>
    <p:extLst>
      <p:ext uri="{BB962C8B-B14F-4D97-AF65-F5344CB8AC3E}">
        <p14:creationId xmlns:p14="http://schemas.microsoft.com/office/powerpoint/2010/main" val="134172946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u="none" strike="noStrike" kern="1200" baseline="0" dirty="0" smtClean="0">
                <a:solidFill>
                  <a:schemeClr val="tx1"/>
                </a:solidFill>
                <a:latin typeface="+mn-lt"/>
                <a:ea typeface="+mn-ea"/>
                <a:cs typeface="+mn-cs"/>
              </a:rPr>
              <a:t>The file system dump tool parses all the metadata in a file system image and exports the result in an XML format, using file system agnostic traversal code similar to the previous example.</a:t>
            </a:r>
          </a:p>
          <a:p>
            <a:r>
              <a:rPr lang="en-CA" sz="1200" b="0" i="0" u="none" strike="noStrike" kern="1200" baseline="0" dirty="0" smtClean="0">
                <a:solidFill>
                  <a:schemeClr val="tx1"/>
                </a:solidFill>
                <a:latin typeface="+mn-lt"/>
                <a:ea typeface="+mn-ea"/>
                <a:cs typeface="+mn-cs"/>
              </a:rPr>
              <a:t>Since some file system metadata may not be of interest, the dump tool provides APIs to help filter out irrelevant or unimportant fields or structures. For example, the Ext4 dump tool currently does not export unallocated </a:t>
            </a:r>
            <a:r>
              <a:rPr lang="en-CA" sz="1200" b="0" i="0" u="none" strike="noStrike" kern="1200" baseline="0" dirty="0" err="1" smtClean="0">
                <a:solidFill>
                  <a:schemeClr val="tx1"/>
                </a:solidFill>
                <a:latin typeface="+mn-lt"/>
                <a:ea typeface="+mn-ea"/>
                <a:cs typeface="+mn-cs"/>
              </a:rPr>
              <a:t>inode</a:t>
            </a:r>
            <a:r>
              <a:rPr lang="en-CA" sz="1200" b="0" i="0" u="none" strike="noStrike" kern="1200" baseline="0" dirty="0" smtClean="0">
                <a:solidFill>
                  <a:schemeClr val="tx1"/>
                </a:solidFill>
                <a:latin typeface="+mn-lt"/>
                <a:ea typeface="+mn-ea"/>
                <a:cs typeface="+mn-cs"/>
              </a:rPr>
              <a:t> structures to XML.</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CA" baseline="0" dirty="0" smtClean="0"/>
              <a:t>This tool has 482 lines of generic code, </a:t>
            </a:r>
            <a:r>
              <a:rPr lang="en-CA" baseline="0" smtClean="0"/>
              <a:t>and about 30 to 60 lines </a:t>
            </a:r>
            <a:r>
              <a:rPr lang="en-CA" baseline="0" dirty="0" smtClean="0"/>
              <a:t>of file-system specific bootstrap code for each file system.</a:t>
            </a:r>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47</a:t>
            </a:fld>
            <a:endParaRPr lang="en-CA"/>
          </a:p>
        </p:txBody>
      </p:sp>
    </p:spTree>
    <p:extLst>
      <p:ext uri="{BB962C8B-B14F-4D97-AF65-F5344CB8AC3E}">
        <p14:creationId xmlns:p14="http://schemas.microsoft.com/office/powerpoint/2010/main" val="356384904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type-specific corruptor allows us to specify a field in a metadata structure and corrupt it on disk. This tool works on all our annotated file systems. It enables us to test the robustness of other tools to check that they are able to correctly handle file system corruption. This tool has 455 lines of generic code, and less than 30 lines of file-system specific bootstrap code for each file system</a:t>
            </a:r>
            <a:r>
              <a:rPr lang="en-CA" baseline="0" dirty="0" smtClean="0"/>
              <a:t>.</a:t>
            </a:r>
            <a:endParaRPr lang="en-CA" baseline="0"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ran a series of corruption experiments using this type-specific corruptor tool and discovered crash bugs in existing tools such as dumpe2fs for Ext4 and </a:t>
            </a:r>
            <a:r>
              <a:rPr lang="en-CA" baseline="0" dirty="0" smtClean="0"/>
              <a:t>dump.f2fs, whereas no bugs were found in our Spiffy dump tool for all the </a:t>
            </a:r>
            <a:r>
              <a:rPr lang="en-CA" baseline="0" dirty="0" err="1" smtClean="0"/>
              <a:t>the</a:t>
            </a:r>
            <a:r>
              <a:rPr lang="en-CA" baseline="0" dirty="0" smtClean="0"/>
              <a:t> three file systems we tested.</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Incidentally</a:t>
            </a:r>
            <a:r>
              <a:rPr lang="en-CA" baseline="0" dirty="0" smtClean="0"/>
              <a:t>, none of these </a:t>
            </a:r>
            <a:r>
              <a:rPr lang="en-CA" baseline="0" dirty="0" smtClean="0"/>
              <a:t>bugs that we found </a:t>
            </a:r>
            <a:r>
              <a:rPr lang="en-CA" baseline="0" dirty="0" smtClean="0"/>
              <a:t>were triggered in 5000 random corruption experiments, showing the usefulness of the type-specific corruptor.</a:t>
            </a:r>
          </a:p>
        </p:txBody>
      </p:sp>
      <p:sp>
        <p:nvSpPr>
          <p:cNvPr id="4" name="Slide Number Placeholder 3"/>
          <p:cNvSpPr>
            <a:spLocks noGrp="1"/>
          </p:cNvSpPr>
          <p:nvPr>
            <p:ph type="sldNum" sz="quarter" idx="10"/>
          </p:nvPr>
        </p:nvSpPr>
        <p:spPr/>
        <p:txBody>
          <a:bodyPr/>
          <a:lstStyle/>
          <a:p>
            <a:fld id="{B5B5BF96-4013-477F-9949-176AD53AFF60}" type="slidenum">
              <a:rPr lang="en-CA" smtClean="0"/>
              <a:t>48</a:t>
            </a:fld>
            <a:endParaRPr lang="en-CA"/>
          </a:p>
        </p:txBody>
      </p:sp>
    </p:spTree>
    <p:extLst>
      <p:ext uri="{BB962C8B-B14F-4D97-AF65-F5344CB8AC3E}">
        <p14:creationId xmlns:p14="http://schemas.microsoft.com/office/powerpoint/2010/main" val="59409645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we have also built a file system conversion tool that allows converting from one file system to another without moving any data blocks unless they would be overwritten by metadata that must be placed in a fixed location in the destination file system.</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Currently, the tools converts from Ext4 file systems to F2FS file systems. The generic code in this application has 504 lines. We read the Ext4 metadata into memory with 218 lines of code, and then generate corresponding F2Fs metadata with 1760 lines of code. Most of these lines are needed to initialize F2FS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49</a:t>
            </a:fld>
            <a:endParaRPr lang="en-CA"/>
          </a:p>
        </p:txBody>
      </p:sp>
    </p:spTree>
    <p:extLst>
      <p:ext uri="{BB962C8B-B14F-4D97-AF65-F5344CB8AC3E}">
        <p14:creationId xmlns:p14="http://schemas.microsoft.com/office/powerpoint/2010/main" val="15890901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a:t>
            </a:r>
            <a:r>
              <a:rPr lang="en-CA" dirty="0" smtClean="0"/>
              <a:t>evaluate</a:t>
            </a:r>
            <a:r>
              <a:rPr lang="en-CA" baseline="0" dirty="0" smtClean="0"/>
              <a:t> our conversion tool against a copy-based convertor. The copy converter copies file system contents to another local disk, reformats the source disk, and then copies everything back. This graph shows the time to convert a file system with 16GB of data, while varying the number of files in the file system. With fewer files in the file system, less metadata needs to be converted, which reduces the conversion time for our tool. The copy convertor performance is dominated by the size of the file system data, and doesn’t vary much for different numbers of files. In this log graph, we can see that the copy converter is 30-50 times slower than the Spiffy converter.</a:t>
            </a:r>
          </a:p>
        </p:txBody>
      </p:sp>
      <p:sp>
        <p:nvSpPr>
          <p:cNvPr id="4" name="Slide Number Placeholder 3"/>
          <p:cNvSpPr>
            <a:spLocks noGrp="1"/>
          </p:cNvSpPr>
          <p:nvPr>
            <p:ph type="sldNum" sz="quarter" idx="10"/>
          </p:nvPr>
        </p:nvSpPr>
        <p:spPr/>
        <p:txBody>
          <a:bodyPr/>
          <a:lstStyle/>
          <a:p>
            <a:fld id="{849A0A36-F84D-437B-B821-CB3EBADC1433}" type="slidenum">
              <a:rPr lang="en-CA" smtClean="0"/>
              <a:t>50</a:t>
            </a:fld>
            <a:endParaRPr lang="en-CA"/>
          </a:p>
        </p:txBody>
      </p:sp>
    </p:spTree>
    <p:extLst>
      <p:ext uri="{BB962C8B-B14F-4D97-AF65-F5344CB8AC3E}">
        <p14:creationId xmlns:p14="http://schemas.microsoft.com/office/powerpoint/2010/main" val="328195660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The</a:t>
            </a:r>
            <a:r>
              <a:rPr lang="en-CA" baseline="0" dirty="0" smtClean="0"/>
              <a:t> next two applications we will present are implemented inside the </a:t>
            </a:r>
            <a:r>
              <a:rPr lang="en-CA" dirty="0" smtClean="0"/>
              <a:t>kernel,</a:t>
            </a:r>
            <a:r>
              <a:rPr lang="en-CA" baseline="0" dirty="0" smtClean="0"/>
              <a:t> while the target file system is running. </a:t>
            </a:r>
            <a:r>
              <a:rPr lang="en-CA" dirty="0" smtClean="0"/>
              <a:t>Our file-system </a:t>
            </a:r>
            <a:r>
              <a:rPr lang="en-CA" dirty="0" smtClean="0"/>
              <a:t>aware</a:t>
            </a:r>
            <a:r>
              <a:rPr lang="en-CA" baseline="0" dirty="0" smtClean="0"/>
              <a:t> block layer caching </a:t>
            </a:r>
            <a:r>
              <a:rPr lang="en-CA" baseline="0" dirty="0" smtClean="0"/>
              <a:t>framework s</a:t>
            </a:r>
            <a:r>
              <a:rPr lang="en-CA" dirty="0" smtClean="0"/>
              <a:t>upports </a:t>
            </a:r>
            <a:r>
              <a:rPr lang="en-CA" dirty="0" smtClean="0"/>
              <a:t>a rich set of caching policies.</a:t>
            </a:r>
            <a:r>
              <a:rPr lang="en-CA" baseline="0" dirty="0" smtClean="0"/>
              <a:t> These policy </a:t>
            </a:r>
            <a:r>
              <a:rPr lang="en-CA" dirty="0" smtClean="0"/>
              <a:t>require file-system specific information.</a:t>
            </a:r>
            <a:r>
              <a:rPr lang="en-CA" baseline="0" dirty="0" smtClean="0"/>
              <a:t> For example, to c</a:t>
            </a:r>
            <a:r>
              <a:rPr lang="en-CA" dirty="0" smtClean="0"/>
              <a:t>ache file system metadata,</a:t>
            </a:r>
            <a:r>
              <a:rPr lang="en-CA" baseline="0" dirty="0" smtClean="0"/>
              <a:t> we need to </a:t>
            </a:r>
            <a:r>
              <a:rPr lang="en-CA" dirty="0" smtClean="0"/>
              <a:t>know</a:t>
            </a:r>
            <a:r>
              <a:rPr lang="en-CA" baseline="0" dirty="0" smtClean="0"/>
              <a:t> </a:t>
            </a:r>
            <a:r>
              <a:rPr lang="en-CA" dirty="0" smtClean="0"/>
              <a:t>whether a block is data or metadata. Similarly, to cache small files, or to cache a specific user’s files,</a:t>
            </a:r>
            <a:r>
              <a:rPr lang="en-CA" baseline="0" dirty="0" smtClean="0"/>
              <a:t> we need to </a:t>
            </a:r>
            <a:r>
              <a:rPr lang="en-CA" dirty="0" smtClean="0"/>
              <a:t>know</a:t>
            </a:r>
            <a:r>
              <a:rPr lang="en-CA" baseline="0" dirty="0" smtClean="0"/>
              <a:t> </a:t>
            </a:r>
            <a:r>
              <a:rPr lang="en-CA" dirty="0" smtClean="0"/>
              <a:t>the file to which a block belongs, and the corresponding</a:t>
            </a:r>
            <a:r>
              <a:rPr lang="en-CA" baseline="0" dirty="0" smtClean="0"/>
              <a:t> </a:t>
            </a:r>
            <a:r>
              <a:rPr lang="en-CA" dirty="0" smtClean="0"/>
              <a:t>file’s size or owner.</a:t>
            </a:r>
            <a:r>
              <a:rPr lang="en-CA" baseline="0" dirty="0" smtClean="0"/>
              <a:t> Our framework re</a:t>
            </a:r>
            <a:r>
              <a:rPr lang="en-CA" dirty="0" smtClean="0"/>
              <a:t>quires no changes to the file system, and works for multiple file systems!</a:t>
            </a:r>
            <a:r>
              <a:rPr lang="en-CA" baseline="0" dirty="0" smtClean="0"/>
              <a:t> </a:t>
            </a:r>
            <a:r>
              <a:rPr lang="en-CA" dirty="0" smtClean="0"/>
              <a:t>It identifies and interprets blocks as</a:t>
            </a:r>
            <a:r>
              <a:rPr lang="en-CA" baseline="0" dirty="0" smtClean="0"/>
              <a:t> they </a:t>
            </a:r>
            <a:r>
              <a:rPr lang="en-CA" dirty="0" smtClean="0"/>
              <a:t>are read or written at the block layer. It uses the Spiffy library to identify the types of blocks, and for interpreting their contents to extract file-system specific information. Our</a:t>
            </a:r>
            <a:r>
              <a:rPr lang="en-CA" baseline="0" dirty="0" smtClean="0"/>
              <a:t> use of Spiffy allows us to implement our file-system aware cache with </a:t>
            </a:r>
            <a:r>
              <a:rPr lang="en-CA" dirty="0" smtClean="0"/>
              <a:t>little file-system specific code.</a:t>
            </a:r>
          </a:p>
        </p:txBody>
      </p:sp>
      <p:sp>
        <p:nvSpPr>
          <p:cNvPr id="4" name="Slide Number Placeholder 3"/>
          <p:cNvSpPr>
            <a:spLocks noGrp="1"/>
          </p:cNvSpPr>
          <p:nvPr>
            <p:ph type="sldNum" sz="quarter" idx="10"/>
          </p:nvPr>
        </p:nvSpPr>
        <p:spPr/>
        <p:txBody>
          <a:bodyPr/>
          <a:lstStyle/>
          <a:p>
            <a:fld id="{B5B5BF96-4013-477F-9949-176AD53AFF60}" type="slidenum">
              <a:rPr lang="en-CA" smtClean="0"/>
              <a:t>51</a:t>
            </a:fld>
            <a:endParaRPr lang="en-CA"/>
          </a:p>
        </p:txBody>
      </p:sp>
    </p:spTree>
    <p:extLst>
      <p:ext uri="{BB962C8B-B14F-4D97-AF65-F5344CB8AC3E}">
        <p14:creationId xmlns:p14="http://schemas.microsoft.com/office/powerpoint/2010/main" val="30839875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also </a:t>
            </a:r>
            <a:r>
              <a:rPr lang="en-CA" dirty="0" smtClean="0"/>
              <a:t>implemented </a:t>
            </a:r>
            <a:r>
              <a:rPr lang="en-CA" dirty="0" smtClean="0"/>
              <a:t>a</a:t>
            </a:r>
            <a:r>
              <a:rPr lang="en-CA" baseline="0" dirty="0" smtClean="0"/>
              <a:t> </a:t>
            </a:r>
            <a:r>
              <a:rPr lang="en-CA" baseline="0" dirty="0" smtClean="0"/>
              <a:t>framework for performing</a:t>
            </a:r>
            <a:r>
              <a:rPr lang="en-CA" dirty="0" smtClean="0"/>
              <a:t> runtime</a:t>
            </a:r>
            <a:r>
              <a:rPr lang="en-CA" baseline="0" dirty="0" smtClean="0"/>
              <a:t> verification of file systems, which verifies correctness of changes made to a mounted file system and stops corruption caused by memory error or buggy code when consistency violation is detected. The framework works by generating a list of logical changes to a file system at the block layer. Then, these changes are checked against file-system specific consistency rules to verify that the file system will remain consistent after the update. This is done, similar to the block layer cache, by identifying and interpreting blocks as they are read or written. In addition, when the file system is about to commit its changes atomically, through transactional mechanisms such as journaling or copy-on-write, the framework would compare old and new versions of a block to generate logical changes for all file system metadata in the block. For example, to create a new file in Ext4, a new </a:t>
            </a:r>
            <a:r>
              <a:rPr lang="en-CA" baseline="0" dirty="0" err="1" smtClean="0"/>
              <a:t>inode</a:t>
            </a:r>
            <a:r>
              <a:rPr lang="en-CA" baseline="0" dirty="0" smtClean="0"/>
              <a:t> would be </a:t>
            </a:r>
            <a:r>
              <a:rPr lang="en-CA" baseline="0" dirty="0" smtClean="0"/>
              <a:t>allocated in an </a:t>
            </a:r>
            <a:r>
              <a:rPr lang="en-CA" baseline="0" dirty="0" err="1" smtClean="0"/>
              <a:t>inode</a:t>
            </a:r>
            <a:r>
              <a:rPr lang="en-CA" baseline="0" dirty="0" smtClean="0"/>
              <a:t> block, </a:t>
            </a:r>
            <a:r>
              <a:rPr lang="en-CA" baseline="0" dirty="0" smtClean="0"/>
              <a:t>a bit in the </a:t>
            </a:r>
            <a:r>
              <a:rPr lang="en-CA" baseline="0" dirty="0" err="1" smtClean="0"/>
              <a:t>inode</a:t>
            </a:r>
            <a:r>
              <a:rPr lang="en-CA" baseline="0" dirty="0" smtClean="0"/>
              <a:t> bitmap </a:t>
            </a:r>
            <a:r>
              <a:rPr lang="en-CA" baseline="0" dirty="0" smtClean="0"/>
              <a:t>block would </a:t>
            </a:r>
            <a:r>
              <a:rPr lang="en-CA" baseline="0" dirty="0" smtClean="0"/>
              <a:t>be set, and a new directory entry would be added to </a:t>
            </a:r>
            <a:r>
              <a:rPr lang="en-CA" baseline="0" dirty="0" smtClean="0"/>
              <a:t>one of the parent directory’s directory entry blocks. </a:t>
            </a:r>
            <a:r>
              <a:rPr lang="en-CA" baseline="0" dirty="0" smtClean="0"/>
              <a:t>With support from Spiffy, generating logical changes requires significantly less file-system specific code. We wrote two versions of runtime verification framework for Ext4. Our manually written version requires 2099 lines of code, whereas with Spiffy, the lines of code is reduced by half to 1059. We are exploring further improvement to Spiffy so that even fewer lines of file-system specific code is required.</a:t>
            </a:r>
            <a:endParaRPr lang="en-CA" dirty="0"/>
          </a:p>
        </p:txBody>
      </p:sp>
      <p:sp>
        <p:nvSpPr>
          <p:cNvPr id="4" name="Slide Number Placeholder 3"/>
          <p:cNvSpPr>
            <a:spLocks noGrp="1"/>
          </p:cNvSpPr>
          <p:nvPr>
            <p:ph type="sldNum" sz="quarter" idx="10"/>
          </p:nvPr>
        </p:nvSpPr>
        <p:spPr/>
        <p:txBody>
          <a:bodyPr/>
          <a:lstStyle/>
          <a:p>
            <a:pPr>
              <a:defRPr/>
            </a:pPr>
            <a:fld id="{CFF1A404-780B-445D-9205-D143319E6490}" type="slidenum">
              <a:rPr lang="en-US" smtClean="0"/>
              <a:pPr>
                <a:defRPr/>
              </a:pPr>
              <a:t>52</a:t>
            </a:fld>
            <a:endParaRPr lang="en-US"/>
          </a:p>
        </p:txBody>
      </p:sp>
    </p:spTree>
    <p:extLst>
      <p:ext uri="{BB962C8B-B14F-4D97-AF65-F5344CB8AC3E}">
        <p14:creationId xmlns:p14="http://schemas.microsoft.com/office/powerpoint/2010/main" val="97183726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which enables generating a library for traversing file system metadata. </a:t>
            </a:r>
          </a:p>
          <a:p>
            <a:r>
              <a:rPr lang="en-CA" baseline="0" dirty="0" smtClean="0"/>
              <a:t>The Spiffy library simplifies development of file-system aware applications by reducing the need to write file-system specific code and it enables code reuse across file systems.</a:t>
            </a:r>
          </a:p>
          <a:p>
            <a:pPr marL="0" marR="0" indent="0" algn="l" defTabSz="914400" rtl="0" eaLnBrk="1" fontAlgn="auto" latinLnBrk="0" hangingPunct="1">
              <a:lnSpc>
                <a:spcPct val="100000"/>
              </a:lnSpc>
              <a:spcBef>
                <a:spcPts val="0"/>
              </a:spcBef>
              <a:spcAft>
                <a:spcPts val="0"/>
              </a:spcAft>
              <a:buClrTx/>
              <a:buSzTx/>
              <a:buFontTx/>
              <a:buNone/>
              <a:tabLst/>
              <a:defRPr/>
            </a:pPr>
            <a:r>
              <a:rPr lang="en-CA" baseline="0" dirty="0" smtClean="0"/>
              <a:t>It also helps developers write robust applications by providing type-safe parsing and serialization of metadata, and helping to detect file system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54</a:t>
            </a:fld>
            <a:endParaRPr lang="en-CA"/>
          </a:p>
        </p:txBody>
      </p:sp>
    </p:spTree>
    <p:extLst>
      <p:ext uri="{BB962C8B-B14F-4D97-AF65-F5344CB8AC3E}">
        <p14:creationId xmlns:p14="http://schemas.microsoft.com/office/powerpoint/2010/main" val="181099183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p:cNvSpPr>
            <a:spLocks noGrp="1" noRot="1" noChangeAspect="1" noTextEdit="1"/>
          </p:cNvSpPr>
          <p:nvPr>
            <p:ph type="sldImg"/>
          </p:nvPr>
        </p:nvSpPr>
        <p:spPr bwMode="auto">
          <a:xfrm>
            <a:off x="411163" y="703263"/>
            <a:ext cx="6254750" cy="3519487"/>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2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smtClean="0"/>
          </a:p>
        </p:txBody>
      </p:sp>
      <p:sp>
        <p:nvSpPr>
          <p:cNvPr id="92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93FDF3EA-9C45-4FB6-8360-B20F215DDAF9}" type="slidenum">
              <a:rPr lang="en-US" altLang="en-US" smtClean="0">
                <a:latin typeface="Arial" charset="0"/>
              </a:rPr>
              <a:pPr eaLnBrk="1" hangingPunct="1">
                <a:spcBef>
                  <a:spcPct val="0"/>
                </a:spcBef>
              </a:pPr>
              <a:t>56</a:t>
            </a:fld>
            <a:endParaRPr lang="en-US" altLang="en-US" smtClean="0">
              <a:latin typeface="Arial" charset="0"/>
            </a:endParaRPr>
          </a:p>
        </p:txBody>
      </p:sp>
    </p:spTree>
    <p:extLst>
      <p:ext uri="{BB962C8B-B14F-4D97-AF65-F5344CB8AC3E}">
        <p14:creationId xmlns:p14="http://schemas.microsoft.com/office/powerpoint/2010/main" val="40263681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962150"/>
            <a:ext cx="9144000" cy="1752600"/>
          </a:xfrm>
        </p:spPr>
        <p:txBody>
          <a:bodyPr/>
          <a:lstStyle>
            <a:lvl1pPr algn="ctr">
              <a:defRPr>
                <a:latin typeface="Arial" pitchFamily="34" charset="0"/>
                <a:cs typeface="Arial" pitchFamily="34" charset="0"/>
              </a:defRPr>
            </a:lvl1pPr>
          </a:lstStyle>
          <a:p>
            <a:r>
              <a:rPr lang="en-US" dirty="0" smtClean="0"/>
              <a:t>Click to edit Master title style</a:t>
            </a:r>
            <a:endParaRPr lang="en-US" dirty="0"/>
          </a:p>
        </p:txBody>
      </p:sp>
      <p:sp>
        <p:nvSpPr>
          <p:cNvPr id="13" name="Rectangle 12"/>
          <p:cNvSpPr/>
          <p:nvPr userDrawn="1"/>
        </p:nvSpPr>
        <p:spPr>
          <a:xfrm>
            <a:off x="-15240" y="4114800"/>
            <a:ext cx="9159240" cy="11239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240" y="-3175"/>
            <a:ext cx="9159240" cy="1908175"/>
          </a:xfrm>
          <a:prstGeom prst="rect">
            <a:avLst/>
          </a:prstGeom>
        </p:spPr>
      </p:pic>
    </p:spTree>
    <p:extLst>
      <p:ext uri="{BB962C8B-B14F-4D97-AF65-F5344CB8AC3E}">
        <p14:creationId xmlns:p14="http://schemas.microsoft.com/office/powerpoint/2010/main" val="285338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7030A0"/>
                </a:solidFill>
                <a:latin typeface="Arial" pitchFamily="34" charset="0"/>
                <a:cs typeface="Arial" pitchFamily="34" charset="0"/>
              </a:defRPr>
            </a:lvl1pPr>
          </a:lstStyle>
          <a:p>
            <a:r>
              <a:rPr lang="en-US" smtClean="0"/>
              <a:t>Click to edit Master title style</a:t>
            </a:r>
            <a:endParaRPr lang="en-US" dirty="0"/>
          </a:p>
        </p:txBody>
      </p:sp>
      <p:sp>
        <p:nvSpPr>
          <p:cNvPr id="3" name="Content Placeholder 2"/>
          <p:cNvSpPr>
            <a:spLocks noGrp="1"/>
          </p:cNvSpPr>
          <p:nvPr>
            <p:ph idx="1"/>
          </p:nvPr>
        </p:nvSpPr>
        <p:spPr>
          <a:xfrm>
            <a:off x="152400" y="857250"/>
            <a:ext cx="8839200" cy="3695700"/>
          </a:xfrm>
        </p:spPr>
        <p:txBody>
          <a:bodyPr/>
          <a:lstStyle>
            <a:lvl1pPr>
              <a:defRPr>
                <a:latin typeface="Arial" pitchFamily="34" charset="0"/>
                <a:cs typeface="Arial" pitchFamily="34" charset="0"/>
              </a:defRPr>
            </a:lvl1pPr>
            <a:lvl2pPr>
              <a:defRPr sz="2200">
                <a:latin typeface="Arial" pitchFamily="34" charset="0"/>
                <a:cs typeface="Arial" pitchFamily="34" charset="0"/>
              </a:defRPr>
            </a:lvl2pPr>
            <a:lvl3pPr>
              <a:defRPr>
                <a:latin typeface="Arial" pitchFamily="34" charset="0"/>
                <a:cs typeface="Arial" pitchFamily="34" charset="0"/>
              </a:defRPr>
            </a:lvl3pPr>
            <a:lvl4pPr>
              <a:defRPr>
                <a:latin typeface="Arial" pitchFamily="34" charset="0"/>
                <a:cs typeface="Arial" pitchFamily="34" charset="0"/>
              </a:defRPr>
            </a:lvl4pPr>
            <a:lvl5pPr>
              <a:defRPr>
                <a:latin typeface="Arial" pitchFamily="34" charset="0"/>
                <a:cs typeface="Arial" pitchFamily="34" charset="0"/>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Tree>
    <p:extLst>
      <p:ext uri="{BB962C8B-B14F-4D97-AF65-F5344CB8AC3E}">
        <p14:creationId xmlns:p14="http://schemas.microsoft.com/office/powerpoint/2010/main" val="251820011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513159" y="1136521"/>
            <a:ext cx="3842317" cy="349262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4356100" y="1136521"/>
            <a:ext cx="3700859" cy="349262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a:xfrm>
            <a:off x="7428309" y="4629150"/>
            <a:ext cx="1200150" cy="273844"/>
          </a:xfrm>
          <a:prstGeom prst="rect">
            <a:avLst/>
          </a:prstGeom>
        </p:spPr>
        <p:txBody>
          <a:bodyPr/>
          <a:lstStyle/>
          <a:p>
            <a:fld id="{9ACE3152-893D-476F-92C8-DC87664CFA37}" type="datetime1">
              <a:rPr lang="en-CA" smtClean="0"/>
              <a:t>2018-09-25</a:t>
            </a:fld>
            <a:endParaRPr lang="en-CA"/>
          </a:p>
        </p:txBody>
      </p:sp>
      <p:sp>
        <p:nvSpPr>
          <p:cNvPr id="6" name="Footer Placeholder 5"/>
          <p:cNvSpPr>
            <a:spLocks noGrp="1"/>
          </p:cNvSpPr>
          <p:nvPr>
            <p:ph type="ftr" sz="quarter" idx="11"/>
          </p:nvPr>
        </p:nvSpPr>
        <p:spPr>
          <a:xfrm>
            <a:off x="513159" y="4629150"/>
            <a:ext cx="5657850" cy="273844"/>
          </a:xfrm>
          <a:prstGeom prst="rect">
            <a:avLst/>
          </a:prstGeom>
        </p:spPr>
        <p:txBody>
          <a:bodyPr/>
          <a:lstStyle/>
          <a:p>
            <a:endParaRPr lang="en-CA"/>
          </a:p>
        </p:txBody>
      </p:sp>
      <p:sp>
        <p:nvSpPr>
          <p:cNvPr id="7" name="Slide Number Placeholder 6"/>
          <p:cNvSpPr>
            <a:spLocks noGrp="1"/>
          </p:cNvSpPr>
          <p:nvPr>
            <p:ph type="sldNum" sz="quarter" idx="12"/>
          </p:nvPr>
        </p:nvSpPr>
        <p:spPr>
          <a:xfrm>
            <a:off x="7772400" y="4183857"/>
            <a:ext cx="856684" cy="502444"/>
          </a:xfrm>
          <a:prstGeom prst="rect">
            <a:avLst/>
          </a:prstGeom>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75725025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jp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4568428"/>
            <a:ext cx="9144000" cy="609600"/>
          </a:xfrm>
          <a:prstGeom prst="rect">
            <a:avLst/>
          </a:prstGeom>
        </p:spPr>
      </p:pic>
      <p:sp>
        <p:nvSpPr>
          <p:cNvPr id="1027" name="Rectangle 33"/>
          <p:cNvSpPr>
            <a:spLocks noGrp="1" noChangeArrowheads="1"/>
          </p:cNvSpPr>
          <p:nvPr>
            <p:ph type="title"/>
          </p:nvPr>
        </p:nvSpPr>
        <p:spPr bwMode="auto">
          <a:xfrm>
            <a:off x="152400" y="0"/>
            <a:ext cx="88392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smtClean="0"/>
              <a:t>Click to edit Master title style</a:t>
            </a:r>
          </a:p>
        </p:txBody>
      </p:sp>
      <p:sp>
        <p:nvSpPr>
          <p:cNvPr id="1028" name="Rectangle 34"/>
          <p:cNvSpPr>
            <a:spLocks noGrp="1" noChangeArrowheads="1"/>
          </p:cNvSpPr>
          <p:nvPr>
            <p:ph type="body" idx="1"/>
          </p:nvPr>
        </p:nvSpPr>
        <p:spPr bwMode="auto">
          <a:xfrm>
            <a:off x="152400" y="857250"/>
            <a:ext cx="8839200" cy="3200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smtClean="0"/>
              <a:t>Click to edit Master text styles</a:t>
            </a:r>
          </a:p>
          <a:p>
            <a:pPr lvl="1"/>
            <a:r>
              <a:rPr lang="en-US" altLang="en-US" dirty="0" smtClean="0"/>
              <a:t>Second level</a:t>
            </a:r>
          </a:p>
          <a:p>
            <a:pPr lvl="2"/>
            <a:r>
              <a:rPr lang="en-US" altLang="en-US" dirty="0" smtClean="0"/>
              <a:t>Third level</a:t>
            </a:r>
          </a:p>
          <a:p>
            <a:pPr lvl="3"/>
            <a:r>
              <a:rPr lang="en-US" altLang="en-US" dirty="0" smtClean="0"/>
              <a:t>Fourth level</a:t>
            </a:r>
          </a:p>
          <a:p>
            <a:pPr lvl="4"/>
            <a:r>
              <a:rPr lang="en-US" altLang="en-US" dirty="0" smtClean="0"/>
              <a:t>Fifth level</a:t>
            </a:r>
          </a:p>
        </p:txBody>
      </p:sp>
      <p:sp>
        <p:nvSpPr>
          <p:cNvPr id="10" name="Footer Placeholder 7"/>
          <p:cNvSpPr txBox="1">
            <a:spLocks/>
          </p:cNvSpPr>
          <p:nvPr/>
        </p:nvSpPr>
        <p:spPr>
          <a:xfrm>
            <a:off x="1066800" y="4736306"/>
            <a:ext cx="6629400" cy="273844"/>
          </a:xfrm>
          <a:prstGeom prst="rect">
            <a:avLst/>
          </a:prstGeom>
        </p:spPr>
        <p:txBody>
          <a:bodyPr anchor="ctr"/>
          <a:lstStyle>
            <a:lvl1pPr algn="ctr">
              <a:defRPr sz="1000">
                <a:solidFill>
                  <a:schemeClr val="tx1">
                    <a:tint val="75000"/>
                  </a:schemeClr>
                </a:solidFill>
                <a:latin typeface="+mn-lt"/>
              </a:defRPr>
            </a:lvl1pPr>
          </a:lstStyle>
          <a:p>
            <a:pPr>
              <a:defRPr/>
            </a:pPr>
            <a:r>
              <a:rPr lang="en-US" dirty="0" smtClean="0">
                <a:solidFill>
                  <a:schemeClr val="tx1"/>
                </a:solidFill>
                <a:latin typeface="Arial" pitchFamily="34" charset="0"/>
                <a:cs typeface="Arial" pitchFamily="34" charset="0"/>
              </a:rPr>
              <a:t>2018 Storage  Developer Conference. © University of Toronto.  All Rights Reserved.</a:t>
            </a:r>
          </a:p>
          <a:p>
            <a:pPr>
              <a:defRPr/>
            </a:pPr>
            <a:endParaRPr lang="en-US" dirty="0" smtClean="0"/>
          </a:p>
        </p:txBody>
      </p:sp>
      <p:sp>
        <p:nvSpPr>
          <p:cNvPr id="11" name="TextBox 10"/>
          <p:cNvSpPr txBox="1"/>
          <p:nvPr userDrawn="1"/>
        </p:nvSpPr>
        <p:spPr>
          <a:xfrm>
            <a:off x="8610600" y="4705350"/>
            <a:ext cx="533400" cy="246221"/>
          </a:xfrm>
          <a:prstGeom prst="rect">
            <a:avLst/>
          </a:prstGeom>
          <a:noFill/>
        </p:spPr>
        <p:txBody>
          <a:bodyPr wrap="square" rtlCol="0">
            <a:spAutoFit/>
          </a:bodyPr>
          <a:lstStyle/>
          <a:p>
            <a:fld id="{31142115-651B-437E-86C6-1355E6532246}" type="slidenum">
              <a:rPr lang="en-US" sz="1000" smtClean="0">
                <a:solidFill>
                  <a:schemeClr val="bg1"/>
                </a:solidFill>
              </a:rPr>
              <a:t>‹#›</a:t>
            </a:fld>
            <a:endParaRPr lang="en-US" sz="1000" dirty="0">
              <a:solidFill>
                <a:schemeClr val="bg1"/>
              </a:solidFill>
            </a:endParaRPr>
          </a:p>
        </p:txBody>
      </p:sp>
    </p:spTree>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Lst>
  <p:timing>
    <p:tnLst>
      <p:par>
        <p:cTn id="1" dur="indefinite" restart="never" nodeType="tmRoot"/>
      </p:par>
    </p:tnLst>
  </p:timing>
  <p:hf hdr="0" ftr="0" dt="0"/>
  <p:txStyles>
    <p:titleStyle>
      <a:lvl1pPr algn="l" rtl="0" eaLnBrk="1" fontAlgn="base" hangingPunct="1">
        <a:spcBef>
          <a:spcPct val="0"/>
        </a:spcBef>
        <a:spcAft>
          <a:spcPct val="0"/>
        </a:spcAft>
        <a:defRPr sz="3200" b="1">
          <a:solidFill>
            <a:srgbClr val="522380"/>
          </a:solidFill>
          <a:latin typeface="Arial" pitchFamily="34" charset="0"/>
          <a:ea typeface="+mj-ea"/>
          <a:cs typeface="Arial" pitchFamily="34" charset="0"/>
        </a:defRPr>
      </a:lvl1pPr>
      <a:lvl2pPr algn="l" rtl="0" eaLnBrk="1" fontAlgn="base" hangingPunct="1">
        <a:spcBef>
          <a:spcPct val="0"/>
        </a:spcBef>
        <a:spcAft>
          <a:spcPct val="0"/>
        </a:spcAft>
        <a:defRPr sz="3200" b="1">
          <a:solidFill>
            <a:srgbClr val="522380"/>
          </a:solidFill>
          <a:latin typeface="Arial" charset="0"/>
          <a:cs typeface="Arial" charset="0"/>
        </a:defRPr>
      </a:lvl2pPr>
      <a:lvl3pPr algn="l" rtl="0" eaLnBrk="1" fontAlgn="base" hangingPunct="1">
        <a:spcBef>
          <a:spcPct val="0"/>
        </a:spcBef>
        <a:spcAft>
          <a:spcPct val="0"/>
        </a:spcAft>
        <a:defRPr sz="3200" b="1">
          <a:solidFill>
            <a:srgbClr val="522380"/>
          </a:solidFill>
          <a:latin typeface="Arial" charset="0"/>
          <a:cs typeface="Arial" charset="0"/>
        </a:defRPr>
      </a:lvl3pPr>
      <a:lvl4pPr algn="l" rtl="0" eaLnBrk="1" fontAlgn="base" hangingPunct="1">
        <a:spcBef>
          <a:spcPct val="0"/>
        </a:spcBef>
        <a:spcAft>
          <a:spcPct val="0"/>
        </a:spcAft>
        <a:defRPr sz="3200" b="1">
          <a:solidFill>
            <a:srgbClr val="522380"/>
          </a:solidFill>
          <a:latin typeface="Arial" charset="0"/>
          <a:cs typeface="Arial" charset="0"/>
        </a:defRPr>
      </a:lvl4pPr>
      <a:lvl5pPr algn="l" rtl="0" eaLnBrk="1" fontAlgn="base" hangingPunct="1">
        <a:spcBef>
          <a:spcPct val="0"/>
        </a:spcBef>
        <a:spcAft>
          <a:spcPct val="0"/>
        </a:spcAft>
        <a:defRPr sz="3200" b="1">
          <a:solidFill>
            <a:srgbClr val="522380"/>
          </a:solidFill>
          <a:latin typeface="Arial" charset="0"/>
          <a:cs typeface="Arial" charset="0"/>
        </a:defRPr>
      </a:lvl5pPr>
      <a:lvl6pPr marL="457200" algn="l" rtl="0" eaLnBrk="1" fontAlgn="base" hangingPunct="1">
        <a:spcBef>
          <a:spcPct val="0"/>
        </a:spcBef>
        <a:spcAft>
          <a:spcPct val="0"/>
        </a:spcAft>
        <a:defRPr sz="3200" b="1">
          <a:solidFill>
            <a:srgbClr val="522380"/>
          </a:solidFill>
          <a:latin typeface="Gill Sans MT" pitchFamily="34" charset="0"/>
        </a:defRPr>
      </a:lvl6pPr>
      <a:lvl7pPr marL="914400" algn="l" rtl="0" eaLnBrk="1" fontAlgn="base" hangingPunct="1">
        <a:spcBef>
          <a:spcPct val="0"/>
        </a:spcBef>
        <a:spcAft>
          <a:spcPct val="0"/>
        </a:spcAft>
        <a:defRPr sz="3200" b="1">
          <a:solidFill>
            <a:srgbClr val="522380"/>
          </a:solidFill>
          <a:latin typeface="Gill Sans MT" pitchFamily="34" charset="0"/>
        </a:defRPr>
      </a:lvl7pPr>
      <a:lvl8pPr marL="1371600" algn="l" rtl="0" eaLnBrk="1" fontAlgn="base" hangingPunct="1">
        <a:spcBef>
          <a:spcPct val="0"/>
        </a:spcBef>
        <a:spcAft>
          <a:spcPct val="0"/>
        </a:spcAft>
        <a:defRPr sz="3200" b="1">
          <a:solidFill>
            <a:srgbClr val="522380"/>
          </a:solidFill>
          <a:latin typeface="Gill Sans MT" pitchFamily="34" charset="0"/>
        </a:defRPr>
      </a:lvl8pPr>
      <a:lvl9pPr marL="1828800" algn="l" rtl="0" eaLnBrk="1" fontAlgn="base" hangingPunct="1">
        <a:spcBef>
          <a:spcPct val="0"/>
        </a:spcBef>
        <a:spcAft>
          <a:spcPct val="0"/>
        </a:spcAft>
        <a:defRPr sz="3200" b="1">
          <a:solidFill>
            <a:srgbClr val="522380"/>
          </a:solidFill>
          <a:latin typeface="Gill Sans MT" pitchFamily="34" charset="0"/>
        </a:defRPr>
      </a:lvl9pPr>
    </p:titleStyle>
    <p:bodyStyle>
      <a:lvl1pPr marL="342900" indent="-342900" algn="l" rtl="0" eaLnBrk="1" fontAlgn="base" hangingPunct="1">
        <a:spcBef>
          <a:spcPct val="20000"/>
        </a:spcBef>
        <a:spcAft>
          <a:spcPct val="0"/>
        </a:spcAft>
        <a:buClr>
          <a:srgbClr val="52237F"/>
        </a:buClr>
        <a:buSzPct val="75000"/>
        <a:buFont typeface="Wingdings" pitchFamily="2" charset="2"/>
        <a:buChar char="r"/>
        <a:defRPr sz="2400">
          <a:solidFill>
            <a:schemeClr val="tx1"/>
          </a:solidFill>
          <a:latin typeface="Arial" pitchFamily="34" charset="0"/>
          <a:ea typeface="+mn-ea"/>
          <a:cs typeface="Arial" pitchFamily="34" charset="0"/>
        </a:defRPr>
      </a:lvl1pPr>
      <a:lvl2pPr marL="742950" indent="-285750" algn="l" rtl="0" eaLnBrk="1" fontAlgn="base" hangingPunct="1">
        <a:spcBef>
          <a:spcPct val="20000"/>
        </a:spcBef>
        <a:spcAft>
          <a:spcPct val="0"/>
        </a:spcAft>
        <a:buClr>
          <a:srgbClr val="D7E159"/>
        </a:buClr>
        <a:buSzPct val="75000"/>
        <a:buFont typeface="Wingdings" pitchFamily="2" charset="2"/>
        <a:buChar char="r"/>
        <a:defRPr sz="2400">
          <a:solidFill>
            <a:schemeClr val="tx1"/>
          </a:solidFill>
          <a:latin typeface="Arial" pitchFamily="34" charset="0"/>
          <a:cs typeface="Arial" pitchFamily="34" charset="0"/>
        </a:defRPr>
      </a:lvl2pPr>
      <a:lvl3pPr marL="1143000" indent="-228600" algn="l" rtl="0" eaLnBrk="1" fontAlgn="base" hangingPunct="1">
        <a:spcBef>
          <a:spcPct val="20000"/>
        </a:spcBef>
        <a:spcAft>
          <a:spcPct val="0"/>
        </a:spcAft>
        <a:buClr>
          <a:schemeClr val="bg2"/>
        </a:buClr>
        <a:buSzPct val="75000"/>
        <a:buFont typeface="Wingdings" pitchFamily="2" charset="2"/>
        <a:buChar char="r"/>
        <a:defRPr sz="2000">
          <a:solidFill>
            <a:schemeClr val="tx1"/>
          </a:solidFill>
          <a:latin typeface="Arial" pitchFamily="34" charset="0"/>
          <a:cs typeface="Arial" pitchFamily="34" charset="0"/>
        </a:defRPr>
      </a:lvl3pPr>
      <a:lvl4pPr marL="1600200" indent="-228600" algn="l" rtl="0" eaLnBrk="1" fontAlgn="base" hangingPunct="1">
        <a:spcBef>
          <a:spcPct val="20000"/>
        </a:spcBef>
        <a:spcAft>
          <a:spcPct val="0"/>
        </a:spcAft>
        <a:buClr>
          <a:srgbClr val="C2BE52"/>
        </a:buClr>
        <a:buSzPct val="75000"/>
        <a:buFont typeface="Wingdings" pitchFamily="2" charset="2"/>
        <a:buChar char="r"/>
        <a:defRPr sz="1800">
          <a:solidFill>
            <a:schemeClr val="tx1"/>
          </a:solidFill>
          <a:latin typeface="Arial" pitchFamily="34" charset="0"/>
          <a:cs typeface="Arial" pitchFamily="34" charset="0"/>
        </a:defRPr>
      </a:lvl4pPr>
      <a:lvl5pPr marL="2057400" indent="-228600" algn="l" rtl="0" eaLnBrk="1" fontAlgn="base" hangingPunct="1">
        <a:spcBef>
          <a:spcPct val="20000"/>
        </a:spcBef>
        <a:spcAft>
          <a:spcPct val="0"/>
        </a:spcAft>
        <a:buClr>
          <a:srgbClr val="52237F"/>
        </a:buClr>
        <a:buSzPct val="75000"/>
        <a:buFont typeface="Wingdings" pitchFamily="2" charset="2"/>
        <a:buChar char="r"/>
        <a:defRPr sz="1800">
          <a:solidFill>
            <a:schemeClr val="tx1"/>
          </a:solidFill>
          <a:latin typeface="Arial" pitchFamily="34" charset="0"/>
          <a:cs typeface="Arial" pitchFamily="34" charset="0"/>
        </a:defRPr>
      </a:lvl5pPr>
      <a:lvl6pPr marL="25146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6pPr>
      <a:lvl7pPr marL="29718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7pPr>
      <a:lvl8pPr marL="34290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8pPr>
      <a:lvl9pPr marL="3886200" indent="-228600" algn="l" rtl="0" eaLnBrk="1" fontAlgn="base" hangingPunct="1">
        <a:spcBef>
          <a:spcPct val="20000"/>
        </a:spcBef>
        <a:spcAft>
          <a:spcPct val="0"/>
        </a:spcAft>
        <a:buClr>
          <a:srgbClr val="52237F"/>
        </a:buClr>
        <a:buSzPct val="75000"/>
        <a:buFont typeface="Wingdings" pitchFamily="2" charset="2"/>
        <a:buChar char="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github.com/jacksun007/spiffy" TargetMode="External"/><Relationship Id="rId2" Type="http://schemas.openxmlformats.org/officeDocument/2006/relationships/hyperlink" Target="https://www.usenix.org/system/files/conference/fast18/fast18-sun.pdf" TargetMode="Externa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ctrTitle"/>
          </p:nvPr>
        </p:nvSpPr>
        <p:spPr>
          <a:xfrm>
            <a:off x="0" y="1809750"/>
            <a:ext cx="9144000" cy="1752600"/>
          </a:xfrm>
        </p:spPr>
        <p:txBody>
          <a:bodyPr/>
          <a:lstStyle/>
          <a:p>
            <a:r>
              <a:rPr lang="en-CA" dirty="0"/>
              <a:t>Spiffy: Enabling File-System Aware Storage </a:t>
            </a:r>
            <a:r>
              <a:rPr lang="en-CA" dirty="0" smtClean="0"/>
              <a:t>Applications</a:t>
            </a:r>
            <a:endParaRPr lang="en-US" altLang="en-US" dirty="0" smtClean="0">
              <a:latin typeface="Arial" charset="0"/>
              <a:cs typeface="Arial" charset="0"/>
            </a:endParaRPr>
          </a:p>
        </p:txBody>
      </p:sp>
      <p:sp>
        <p:nvSpPr>
          <p:cNvPr id="4099" name="Subtitle 2"/>
          <p:cNvSpPr>
            <a:spLocks noGrp="1"/>
          </p:cNvSpPr>
          <p:nvPr>
            <p:ph type="subTitle" idx="4294967295"/>
          </p:nvPr>
        </p:nvSpPr>
        <p:spPr>
          <a:xfrm>
            <a:off x="0" y="3505200"/>
            <a:ext cx="9144000" cy="1428750"/>
          </a:xfrm>
        </p:spPr>
        <p:txBody>
          <a:bodyPr/>
          <a:lstStyle/>
          <a:p>
            <a:pPr marL="0" indent="0" algn="ctr">
              <a:buNone/>
            </a:pPr>
            <a:r>
              <a:rPr lang="en-US" altLang="en-US" b="1" dirty="0" err="1" smtClean="0">
                <a:solidFill>
                  <a:srgbClr val="52237F"/>
                </a:solidFill>
                <a:latin typeface="Arial" charset="0"/>
                <a:cs typeface="Arial" charset="0"/>
              </a:rPr>
              <a:t>Kuei</a:t>
            </a:r>
            <a:r>
              <a:rPr lang="en-US" altLang="en-US" b="1" dirty="0" smtClean="0">
                <a:solidFill>
                  <a:srgbClr val="52237F"/>
                </a:solidFill>
                <a:latin typeface="Arial" charset="0"/>
                <a:cs typeface="Arial" charset="0"/>
              </a:rPr>
              <a:t> (Jack) Sun</a:t>
            </a:r>
            <a:r>
              <a:rPr lang="en-US" altLang="en-US" dirty="0" smtClean="0">
                <a:latin typeface="Arial" charset="0"/>
                <a:cs typeface="Arial" charset="0"/>
              </a:rPr>
              <a:t/>
            </a:r>
            <a:br>
              <a:rPr lang="en-US" altLang="en-US" dirty="0" smtClean="0">
                <a:latin typeface="Arial" charset="0"/>
                <a:cs typeface="Arial" charset="0"/>
              </a:rPr>
            </a:br>
            <a:r>
              <a:rPr lang="en-US" altLang="en-US" b="1" dirty="0" smtClean="0">
                <a:solidFill>
                  <a:srgbClr val="52237F"/>
                </a:solidFill>
                <a:latin typeface="Arial" charset="0"/>
                <a:cs typeface="Arial" charset="0"/>
              </a:rPr>
              <a:t>University of Toronto</a:t>
            </a:r>
          </a:p>
          <a:p>
            <a:endParaRPr lang="en-US" altLang="en-US" dirty="0" smtClean="0">
              <a:latin typeface="Arial" charset="0"/>
              <a:cs typeface="Arial"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dirty="0" smtClean="0"/>
              <a:t>File-system aware applications</a:t>
            </a:r>
          </a:p>
          <a:p>
            <a:pPr lvl="1"/>
            <a:r>
              <a:rPr lang="en-CA" dirty="0" smtClean="0"/>
              <a:t>E.g. partition editor, file system checker, defragmentation tool</a:t>
            </a:r>
          </a:p>
          <a:p>
            <a:pPr lvl="1"/>
            <a:r>
              <a:rPr lang="en-CA" dirty="0" smtClean="0"/>
              <a:t>Operate directly on file system metadata structures</a:t>
            </a:r>
          </a:p>
          <a:p>
            <a:pPr lvl="2"/>
            <a:r>
              <a:rPr lang="en-CA" dirty="0" smtClean="0"/>
              <a:t>Require detailed knowledge of file system format on disk</a:t>
            </a:r>
          </a:p>
          <a:p>
            <a:pPr lvl="2"/>
            <a:r>
              <a:rPr lang="en-CA" dirty="0" smtClean="0"/>
              <a:t>Bypass VFS layer</a:t>
            </a:r>
          </a:p>
          <a:p>
            <a:pPr lvl="1"/>
            <a:r>
              <a:rPr lang="en-CA" dirty="0" smtClean="0"/>
              <a:t>Essential for successful deployment of file system</a:t>
            </a:r>
          </a:p>
        </p:txBody>
      </p:sp>
    </p:spTree>
    <p:extLst>
      <p:ext uri="{BB962C8B-B14F-4D97-AF65-F5344CB8AC3E}">
        <p14:creationId xmlns:p14="http://schemas.microsoft.com/office/powerpoint/2010/main" val="71676673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a:xfrm>
            <a:off x="152399" y="857250"/>
            <a:ext cx="8763001" cy="3200400"/>
          </a:xfrm>
        </p:spPr>
        <p:txBody>
          <a:bodyPr/>
          <a:lstStyle/>
          <a:p>
            <a:r>
              <a:rPr lang="en-CA" dirty="0" smtClean="0"/>
              <a:t>Tools have to be developed from scratch for each file system</a:t>
            </a:r>
          </a:p>
          <a:p>
            <a:r>
              <a:rPr lang="en-CA" dirty="0" smtClean="0"/>
              <a:t>Tools developed only by experts</a:t>
            </a:r>
          </a:p>
          <a:p>
            <a:r>
              <a:rPr lang="en-CA" dirty="0" smtClean="0"/>
              <a:t>Bugs lead to crash, corruption, security vulnerability</a:t>
            </a:r>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per record, if value &gt; 0</a:t>
            </a:r>
          </a:p>
          <a:p>
            <a:pPr lvl="2"/>
            <a:r>
              <a:rPr lang="en-CA" dirty="0" smtClean="0"/>
              <a:t>2</a:t>
            </a:r>
            <a:r>
              <a:rPr lang="en-CA" baseline="30000" dirty="0" smtClean="0"/>
              <a:t>|value|</a:t>
            </a:r>
            <a:r>
              <a:rPr lang="en-CA" dirty="0" smtClean="0"/>
              <a:t>, if value &lt; 0</a:t>
            </a:r>
          </a:p>
          <a:p>
            <a:pPr lvl="1"/>
            <a:r>
              <a:rPr lang="en-CA" dirty="0" err="1" smtClean="0"/>
              <a:t>ntfsprogs</a:t>
            </a:r>
            <a:r>
              <a:rPr lang="en-CA" dirty="0" smtClean="0"/>
              <a:t> misinterprets this field, corrupting NTFS when resizing partitions</a:t>
            </a:r>
          </a:p>
          <a:p>
            <a:endParaRPr lang="en-CA" dirty="0"/>
          </a:p>
        </p:txBody>
      </p:sp>
    </p:spTree>
    <p:extLst>
      <p:ext uri="{BB962C8B-B14F-4D97-AF65-F5344CB8AC3E}">
        <p14:creationId xmlns:p14="http://schemas.microsoft.com/office/powerpoint/2010/main" val="326879293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Tree>
    <p:extLst>
      <p:ext uri="{BB962C8B-B14F-4D97-AF65-F5344CB8AC3E}">
        <p14:creationId xmlns:p14="http://schemas.microsoft.com/office/powerpoint/2010/main" val="51738504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dirty="0" smtClean="0"/>
              <a:t>Simplify development of file-system aware applications</a:t>
            </a:r>
          </a:p>
          <a:p>
            <a:pPr lvl="1"/>
            <a:r>
              <a:rPr lang="en-CA" dirty="0" smtClean="0"/>
              <a:t>Reduce file-system specific code</a:t>
            </a:r>
          </a:p>
          <a:p>
            <a:pPr lvl="1"/>
            <a:r>
              <a:rPr lang="en-CA" dirty="0" smtClean="0"/>
              <a:t>Enable code reuse across file systems</a:t>
            </a:r>
          </a:p>
          <a:p>
            <a:r>
              <a:rPr lang="en-CA" dirty="0" smtClean="0"/>
              <a:t>Improve robustness of these applications</a:t>
            </a:r>
          </a:p>
          <a:p>
            <a:pPr lvl="1"/>
            <a:r>
              <a:rPr lang="en-CA" dirty="0" smtClean="0"/>
              <a:t>Enable correct traversal of file system metadata</a:t>
            </a:r>
          </a:p>
          <a:p>
            <a:pPr lvl="1"/>
            <a:r>
              <a:rPr lang="en-CA" dirty="0" smtClean="0"/>
              <a:t>Ensure type safe access to file system structures</a:t>
            </a:r>
          </a:p>
          <a:p>
            <a:pPr lvl="2"/>
            <a:r>
              <a:rPr lang="en-CA" dirty="0" smtClean="0"/>
              <a:t>Helps detect corruption for both read and write</a:t>
            </a:r>
          </a:p>
          <a:p>
            <a:pPr lvl="2"/>
            <a:r>
              <a:rPr lang="en-CA" dirty="0" smtClean="0"/>
              <a:t>Helps reduce error propagation, and further corruption</a:t>
            </a:r>
          </a:p>
          <a:p>
            <a:pPr lvl="2"/>
            <a:endParaRPr lang="en-CA" dirty="0" smtClean="0"/>
          </a:p>
          <a:p>
            <a:endParaRPr lang="en-CA" dirty="0" smtClean="0"/>
          </a:p>
        </p:txBody>
      </p:sp>
    </p:spTree>
    <p:extLst>
      <p:ext uri="{BB962C8B-B14F-4D97-AF65-F5344CB8AC3E}">
        <p14:creationId xmlns:p14="http://schemas.microsoft.com/office/powerpoint/2010/main" val="104328535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Tree>
    <p:extLst>
      <p:ext uri="{BB962C8B-B14F-4D97-AF65-F5344CB8AC3E}">
        <p14:creationId xmlns:p14="http://schemas.microsoft.com/office/powerpoint/2010/main" val="8830607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Specifying Format</a:t>
            </a:r>
            <a:endParaRPr lang="en-CA" dirty="0"/>
          </a:p>
        </p:txBody>
      </p:sp>
      <p:sp>
        <p:nvSpPr>
          <p:cNvPr id="3" name="Content Placeholder 2"/>
          <p:cNvSpPr>
            <a:spLocks noGrp="1"/>
          </p:cNvSpPr>
          <p:nvPr>
            <p:ph idx="1"/>
          </p:nvPr>
        </p:nvSpPr>
        <p:spPr/>
        <p:txBody>
          <a:bodyPr/>
          <a:lstStyle/>
          <a:p>
            <a:r>
              <a:rPr lang="en-CA" smtClean="0"/>
              <a:t>File system developers annotate metadata structures in header files of existing source code</a:t>
            </a:r>
            <a:endParaRPr lang="en-CA" dirty="0" smtClean="0"/>
          </a:p>
        </p:txBody>
      </p:sp>
      <p:sp>
        <p:nvSpPr>
          <p:cNvPr id="69" name="Rectangle 68"/>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70" name="Rectangle 69"/>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71" name="Rectangle 70"/>
          <p:cNvSpPr/>
          <p:nvPr/>
        </p:nvSpPr>
        <p:spPr>
          <a:xfrm>
            <a:off x="990353" y="2977180"/>
            <a:ext cx="1080000" cy="354193"/>
          </a:xfrm>
          <a:prstGeom prst="rect">
            <a:avLst/>
          </a:prstGeom>
          <a:solidFill>
            <a:srgbClr val="B7B7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72" name="Group 71"/>
          <p:cNvGrpSpPr/>
          <p:nvPr/>
        </p:nvGrpSpPr>
        <p:grpSpPr>
          <a:xfrm>
            <a:off x="2099484" y="3361885"/>
            <a:ext cx="448866" cy="969169"/>
            <a:chOff x="4859338" y="3776663"/>
            <a:chExt cx="598488" cy="1292225"/>
          </a:xfrm>
        </p:grpSpPr>
        <p:sp>
          <p:nvSpPr>
            <p:cNvPr id="73"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4"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5"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6"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7"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8"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9"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0"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1"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2"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3"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4"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5"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6"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7"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8"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9"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2"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4"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5"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6"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7"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8"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09"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274443632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92" name="Right Arrow 91"/>
          <p:cNvSpPr/>
          <p:nvPr/>
        </p:nvSpPr>
        <p:spPr>
          <a:xfrm>
            <a:off x="2230712"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94" name="Rounded Rectangle 93"/>
          <p:cNvSpPr/>
          <p:nvPr/>
        </p:nvSpPr>
        <p:spPr>
          <a:xfrm>
            <a:off x="2628820" y="2419350"/>
            <a:ext cx="1080000" cy="708385"/>
          </a:xfrm>
          <a:prstGeom prst="roundRect">
            <a:avLst/>
          </a:prstGeom>
          <a:solidFill>
            <a:srgbClr val="007089"/>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bg1"/>
                </a:solidFill>
              </a:rPr>
              <a:t>Spiffy Compiler</a:t>
            </a:r>
          </a:p>
        </p:txBody>
      </p:sp>
      <p:grpSp>
        <p:nvGrpSpPr>
          <p:cNvPr id="95" name="Group 94"/>
          <p:cNvGrpSpPr/>
          <p:nvPr/>
        </p:nvGrpSpPr>
        <p:grpSpPr>
          <a:xfrm>
            <a:off x="4267287" y="2419350"/>
            <a:ext cx="1320800" cy="708385"/>
            <a:chOff x="6493933" y="3749526"/>
            <a:chExt cx="1761066" cy="944513"/>
          </a:xfrm>
          <a:solidFill>
            <a:srgbClr val="B7B7FF"/>
          </a:solidFill>
          <a:effectLst/>
        </p:grpSpPr>
        <p:sp>
          <p:nvSpPr>
            <p:cNvPr id="101" name="Rectangle 100"/>
            <p:cNvSpPr/>
            <p:nvPr/>
          </p:nvSpPr>
          <p:spPr>
            <a:xfrm>
              <a:off x="6493933" y="3749526"/>
              <a:ext cx="1004159"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Library</a:t>
              </a:r>
            </a:p>
          </p:txBody>
        </p:sp>
        <p:sp>
          <p:nvSpPr>
            <p:cNvPr id="118" name="Rectangle 117"/>
            <p:cNvSpPr/>
            <p:nvPr/>
          </p:nvSpPr>
          <p:spPr>
            <a:xfrm>
              <a:off x="7498092" y="3749526"/>
              <a:ext cx="756907"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API</a:t>
              </a:r>
            </a:p>
          </p:txBody>
        </p:sp>
      </p:grpSp>
      <p:sp>
        <p:nvSpPr>
          <p:cNvPr id="97" name="Right Arrow 96"/>
          <p:cNvSpPr/>
          <p:nvPr/>
        </p:nvSpPr>
        <p:spPr>
          <a:xfrm>
            <a:off x="3869179"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67" name="Rectangle 66"/>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68" name="Rectangle 67"/>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69" name="Rectangle 68"/>
          <p:cNvSpPr/>
          <p:nvPr/>
        </p:nvSpPr>
        <p:spPr>
          <a:xfrm>
            <a:off x="990353" y="2977180"/>
            <a:ext cx="1080000" cy="354193"/>
          </a:xfrm>
          <a:prstGeom prst="rect">
            <a:avLst/>
          </a:prstGeom>
          <a:solidFill>
            <a:srgbClr val="FFFF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70" name="Group 69"/>
          <p:cNvGrpSpPr/>
          <p:nvPr/>
        </p:nvGrpSpPr>
        <p:grpSpPr>
          <a:xfrm>
            <a:off x="2099484" y="3361885"/>
            <a:ext cx="448866" cy="969169"/>
            <a:chOff x="4859338" y="3776663"/>
            <a:chExt cx="598488" cy="1292225"/>
          </a:xfrm>
        </p:grpSpPr>
        <p:sp>
          <p:nvSpPr>
            <p:cNvPr id="71"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2"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3"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4"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5"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6"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77"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8"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79"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0"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1"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2"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3"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4"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5"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86"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87"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8"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89"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0"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1"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3"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6"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98"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126313069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grpSp>
        <p:nvGrpSpPr>
          <p:cNvPr id="91" name="Group 90"/>
          <p:cNvGrpSpPr/>
          <p:nvPr/>
        </p:nvGrpSpPr>
        <p:grpSpPr>
          <a:xfrm>
            <a:off x="6146552" y="2114550"/>
            <a:ext cx="1412156" cy="1484243"/>
            <a:chOff x="8681092" y="3099999"/>
            <a:chExt cx="1411173" cy="1715949"/>
          </a:xfrm>
          <a:solidFill>
            <a:srgbClr val="B7B7FF"/>
          </a:solidFill>
          <a:effectLst/>
        </p:grpSpPr>
        <p:sp>
          <p:nvSpPr>
            <p:cNvPr id="94" name="Rectangle 93"/>
            <p:cNvSpPr/>
            <p:nvPr/>
          </p:nvSpPr>
          <p:spPr>
            <a:xfrm>
              <a:off x="8681092" y="3099999"/>
              <a:ext cx="1411173" cy="1075731"/>
            </a:xfrm>
            <a:prstGeom prst="rect">
              <a:avLst/>
            </a:prstGeom>
            <a:grp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Generic Application</a:t>
              </a:r>
            </a:p>
          </p:txBody>
        </p:sp>
        <p:sp>
          <p:nvSpPr>
            <p:cNvPr id="95" name="Rectangle 94"/>
            <p:cNvSpPr/>
            <p:nvPr/>
          </p:nvSpPr>
          <p:spPr>
            <a:xfrm>
              <a:off x="8681092" y="4175730"/>
              <a:ext cx="1411173" cy="640218"/>
            </a:xfrm>
            <a:prstGeom prst="rect">
              <a:avLst/>
            </a:prstGeom>
            <a:grp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File-System Specific Logic</a:t>
              </a:r>
            </a:p>
          </p:txBody>
        </p:sp>
      </p:grpSp>
      <p:sp>
        <p:nvSpPr>
          <p:cNvPr id="93" name="Right Arrow 92"/>
          <p:cNvSpPr/>
          <p:nvPr/>
        </p:nvSpPr>
        <p:spPr>
          <a:xfrm>
            <a:off x="5748446" y="2703409"/>
            <a:ext cx="237749" cy="173175"/>
          </a:xfrm>
          <a:prstGeom prst="rightArrow">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tx1"/>
              </a:solidFill>
            </a:endParaRPr>
          </a:p>
        </p:txBody>
      </p:sp>
      <p:sp>
        <p:nvSpPr>
          <p:cNvPr id="86" name="Rectangle 85"/>
          <p:cNvSpPr/>
          <p:nvPr/>
        </p:nvSpPr>
        <p:spPr>
          <a:xfrm>
            <a:off x="6321356" y="3713242"/>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smtClean="0">
                <a:solidFill>
                  <a:schemeClr val="tx1"/>
                </a:solidFill>
              </a:rPr>
              <a:t>Application Developer</a:t>
            </a:r>
            <a:endParaRPr lang="en-CA" sz="1200" dirty="0">
              <a:solidFill>
                <a:schemeClr val="tx1"/>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1343" y="3668706"/>
            <a:ext cx="914852" cy="914885"/>
          </a:xfrm>
          <a:prstGeom prst="rect">
            <a:avLst/>
          </a:prstGeom>
        </p:spPr>
      </p:pic>
      <p:sp>
        <p:nvSpPr>
          <p:cNvPr id="118" name="Right Arrow 117"/>
          <p:cNvSpPr/>
          <p:nvPr/>
        </p:nvSpPr>
        <p:spPr>
          <a:xfrm>
            <a:off x="2230712"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119" name="Rounded Rectangle 118"/>
          <p:cNvSpPr/>
          <p:nvPr/>
        </p:nvSpPr>
        <p:spPr>
          <a:xfrm>
            <a:off x="2628820" y="2419350"/>
            <a:ext cx="1080000" cy="708385"/>
          </a:xfrm>
          <a:prstGeom prst="roundRect">
            <a:avLst/>
          </a:prstGeom>
          <a:solidFill>
            <a:srgbClr val="FFFFFF"/>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Compiler</a:t>
            </a:r>
          </a:p>
        </p:txBody>
      </p:sp>
      <p:grpSp>
        <p:nvGrpSpPr>
          <p:cNvPr id="120" name="Group 119"/>
          <p:cNvGrpSpPr/>
          <p:nvPr/>
        </p:nvGrpSpPr>
        <p:grpSpPr>
          <a:xfrm>
            <a:off x="4267287" y="2419350"/>
            <a:ext cx="1320800" cy="708385"/>
            <a:chOff x="6493933" y="3749526"/>
            <a:chExt cx="1761066" cy="944513"/>
          </a:xfrm>
          <a:solidFill>
            <a:srgbClr val="FFFFFF"/>
          </a:solidFill>
          <a:effectLst/>
        </p:grpSpPr>
        <p:sp>
          <p:nvSpPr>
            <p:cNvPr id="121" name="Rectangle 120"/>
            <p:cNvSpPr/>
            <p:nvPr/>
          </p:nvSpPr>
          <p:spPr>
            <a:xfrm>
              <a:off x="6493933" y="3749526"/>
              <a:ext cx="1004159"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Library</a:t>
              </a:r>
            </a:p>
          </p:txBody>
        </p:sp>
        <p:sp>
          <p:nvSpPr>
            <p:cNvPr id="122" name="Rectangle 121"/>
            <p:cNvSpPr/>
            <p:nvPr/>
          </p:nvSpPr>
          <p:spPr>
            <a:xfrm>
              <a:off x="7498092" y="3749526"/>
              <a:ext cx="756907" cy="944513"/>
            </a:xfrm>
            <a:prstGeom prst="rect">
              <a:avLst/>
            </a:prstGeom>
            <a:grpFill/>
            <a:ln w="254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rgbClr val="000000"/>
                  </a:solidFill>
                </a:rPr>
                <a:t>Spiffy API</a:t>
              </a:r>
            </a:p>
          </p:txBody>
        </p:sp>
      </p:grpSp>
      <p:sp>
        <p:nvSpPr>
          <p:cNvPr id="123" name="Right Arrow 122"/>
          <p:cNvSpPr/>
          <p:nvPr/>
        </p:nvSpPr>
        <p:spPr>
          <a:xfrm>
            <a:off x="3869179" y="2686954"/>
            <a:ext cx="237749" cy="173175"/>
          </a:xfrm>
          <a:prstGeom prs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chemeClr val="bg1"/>
              </a:solidFill>
            </a:endParaRPr>
          </a:p>
        </p:txBody>
      </p:sp>
      <p:sp>
        <p:nvSpPr>
          <p:cNvPr id="124" name="Rectangle 123"/>
          <p:cNvSpPr/>
          <p:nvPr/>
        </p:nvSpPr>
        <p:spPr>
          <a:xfrm>
            <a:off x="1011973" y="3472400"/>
            <a:ext cx="1058380" cy="354193"/>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Developer</a:t>
            </a:r>
          </a:p>
        </p:txBody>
      </p:sp>
      <p:sp>
        <p:nvSpPr>
          <p:cNvPr id="125" name="Rectangle 124"/>
          <p:cNvSpPr/>
          <p:nvPr/>
        </p:nvSpPr>
        <p:spPr>
          <a:xfrm>
            <a:off x="990353" y="2266950"/>
            <a:ext cx="1080000" cy="708385"/>
          </a:xfrm>
          <a:prstGeom prst="rect">
            <a:avLst/>
          </a:prstGeom>
          <a:noFill/>
          <a:ln w="2540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dirty="0">
                <a:solidFill>
                  <a:schemeClr val="tx1"/>
                </a:solidFill>
              </a:rPr>
              <a:t>File System Metadata Structures</a:t>
            </a:r>
          </a:p>
        </p:txBody>
      </p:sp>
      <p:sp>
        <p:nvSpPr>
          <p:cNvPr id="126" name="Rectangle 125"/>
          <p:cNvSpPr/>
          <p:nvPr/>
        </p:nvSpPr>
        <p:spPr>
          <a:xfrm>
            <a:off x="990353" y="2977180"/>
            <a:ext cx="1080000" cy="354193"/>
          </a:xfrm>
          <a:prstGeom prst="rect">
            <a:avLst/>
          </a:prstGeom>
          <a:solidFill>
            <a:srgbClr val="FFFFFF"/>
          </a:solidFill>
          <a:ln w="25400">
            <a:solidFill>
              <a:srgbClr val="000000"/>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35100" rIns="0" bIns="35100" rtlCol="0" anchor="ctr"/>
          <a:lstStyle/>
          <a:p>
            <a:pPr algn="ctr"/>
            <a:r>
              <a:rPr lang="en-CA" sz="1200" b="1" dirty="0">
                <a:solidFill>
                  <a:schemeClr val="tx1"/>
                </a:solidFill>
              </a:rPr>
              <a:t>Annotations</a:t>
            </a:r>
          </a:p>
        </p:txBody>
      </p:sp>
      <p:grpSp>
        <p:nvGrpSpPr>
          <p:cNvPr id="127" name="Group 126"/>
          <p:cNvGrpSpPr/>
          <p:nvPr/>
        </p:nvGrpSpPr>
        <p:grpSpPr>
          <a:xfrm>
            <a:off x="2099484" y="3361885"/>
            <a:ext cx="448866" cy="969169"/>
            <a:chOff x="4859338" y="3776663"/>
            <a:chExt cx="598488" cy="1292225"/>
          </a:xfrm>
        </p:grpSpPr>
        <p:sp>
          <p:nvSpPr>
            <p:cNvPr id="12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29"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0"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1"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2"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3"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4"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5"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6"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7"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38"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39"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0"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1"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2"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CA" sz="1200"/>
            </a:p>
          </p:txBody>
        </p:sp>
        <p:sp>
          <p:nvSpPr>
            <p:cNvPr id="143"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CA" sz="1200"/>
            </a:p>
          </p:txBody>
        </p:sp>
        <p:sp>
          <p:nvSpPr>
            <p:cNvPr id="144"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5"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6"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7"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8"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49"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50"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sp>
          <p:nvSpPr>
            <p:cNvPr id="151"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68580" tIns="34290" rIns="68580" bIns="34290" numCol="1" anchor="t" anchorCtr="0" compatLnSpc="1">
              <a:prstTxWarp prst="textNoShape">
                <a:avLst/>
              </a:prstTxWarp>
            </a:bodyPr>
            <a:lstStyle/>
            <a:p>
              <a:endParaRPr lang="en-CA" sz="1200"/>
            </a:p>
          </p:txBody>
        </p:sp>
      </p:grpSp>
    </p:spTree>
    <p:extLst>
      <p:ext uri="{BB962C8B-B14F-4D97-AF65-F5344CB8AC3E}">
        <p14:creationId xmlns:p14="http://schemas.microsoft.com/office/powerpoint/2010/main" val="353157382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dirty="0" smtClean="0"/>
              <a:t>Problem</a:t>
            </a:r>
          </a:p>
          <a:p>
            <a:pPr lvl="1"/>
            <a:r>
              <a:rPr lang="en-US" dirty="0" smtClean="0"/>
              <a:t>Hard to write robust file system applications</a:t>
            </a:r>
          </a:p>
          <a:p>
            <a:r>
              <a:rPr lang="en-US" dirty="0" smtClean="0"/>
              <a:t>Approach</a:t>
            </a:r>
          </a:p>
          <a:p>
            <a:r>
              <a:rPr lang="en-US" dirty="0" smtClean="0"/>
              <a:t>Spiffy Annotations</a:t>
            </a:r>
          </a:p>
          <a:p>
            <a:r>
              <a:rPr lang="en-US" dirty="0" smtClean="0"/>
              <a:t>Spiffy Library</a:t>
            </a:r>
          </a:p>
          <a:p>
            <a:r>
              <a:rPr lang="en-US" dirty="0" smtClean="0"/>
              <a:t>Spiffy Applications</a:t>
            </a:r>
          </a:p>
          <a:p>
            <a:r>
              <a:rPr lang="en-US" dirty="0" smtClean="0"/>
              <a:t>Evaluation</a:t>
            </a:r>
          </a:p>
          <a:p>
            <a:r>
              <a:rPr lang="en-US" dirty="0" smtClean="0"/>
              <a:t>Conclusion</a:t>
            </a:r>
          </a:p>
        </p:txBody>
      </p:sp>
    </p:spTree>
    <p:extLst>
      <p:ext uri="{BB962C8B-B14F-4D97-AF65-F5344CB8AC3E}">
        <p14:creationId xmlns:p14="http://schemas.microsoft.com/office/powerpoint/2010/main" val="2093139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Need complete specification of the file system format</a:t>
            </a:r>
          </a:p>
          <a:p>
            <a:pPr lvl="1"/>
            <a:r>
              <a:rPr lang="en-CA" sz="2000" dirty="0" smtClean="0"/>
              <a:t>Allows type-safe parsing and updates of file system structures</a:t>
            </a:r>
          </a:p>
          <a:p>
            <a:r>
              <a:rPr lang="en-CA" dirty="0" smtClean="0"/>
              <a:t>Challenge</a:t>
            </a:r>
          </a:p>
          <a:p>
            <a:pPr lvl="1"/>
            <a:r>
              <a:rPr lang="en-CA" sz="2000" dirty="0" smtClean="0"/>
              <a:t>Data structure definitions in source files are incomplete</a:t>
            </a:r>
          </a:p>
          <a:p>
            <a:endParaRPr lang="en-CA" sz="1800" dirty="0" smtClean="0"/>
          </a:p>
          <a:p>
            <a:pPr marL="57150" indent="0">
              <a:buNone/>
            </a:pPr>
            <a:endParaRPr lang="en-CA" sz="1800" dirty="0" smtClean="0"/>
          </a:p>
          <a:p>
            <a:pPr marL="57150" indent="0">
              <a:buNone/>
            </a:pPr>
            <a:endParaRPr lang="en-CA" sz="1800" dirty="0" smtClean="0"/>
          </a:p>
          <a:p>
            <a:pPr lvl="1"/>
            <a:r>
              <a:rPr lang="en-CA" sz="2000" dirty="0" err="1" smtClean="0"/>
              <a:t>bar_block_ptr</a:t>
            </a:r>
            <a:r>
              <a:rPr lang="en-CA" sz="2000" dirty="0" smtClean="0"/>
              <a:t> is “probably” a 32-bit little endian pointer to type “</a:t>
            </a:r>
            <a:r>
              <a:rPr lang="en-CA" sz="2000" dirty="0" err="1" smtClean="0"/>
              <a:t>bar_block</a:t>
            </a:r>
            <a:r>
              <a:rPr lang="en-CA" sz="2000" dirty="0" smtClean="0"/>
              <a:t>”</a:t>
            </a:r>
          </a:p>
          <a:p>
            <a:pPr lvl="1"/>
            <a:r>
              <a:rPr lang="en-CA" sz="2000" dirty="0" smtClean="0"/>
              <a:t>However, its hard to deduce this type information</a:t>
            </a:r>
          </a:p>
          <a:p>
            <a:endParaRPr lang="en-CA" dirty="0"/>
          </a:p>
        </p:txBody>
      </p:sp>
      <p:sp>
        <p:nvSpPr>
          <p:cNvPr id="10" name="Rectangle 9"/>
          <p:cNvSpPr/>
          <p:nvPr/>
        </p:nvSpPr>
        <p:spPr>
          <a:xfrm>
            <a:off x="1066800" y="2454354"/>
            <a:ext cx="3914140" cy="1107996"/>
          </a:xfrm>
          <a:prstGeom prst="rect">
            <a:avLst/>
          </a:prstGeom>
        </p:spPr>
        <p:txBody>
          <a:bodyPr wrap="square">
            <a:spAutoFit/>
          </a:bodyPr>
          <a:lstStyle/>
          <a:p>
            <a:pPr lvl="1"/>
            <a:r>
              <a:rPr lang="en-CA" dirty="0" err="1">
                <a:solidFill>
                  <a:srgbClr val="000000"/>
                </a:solidFill>
                <a:latin typeface="Courier New" panose="02070309020205020404" pitchFamily="49" charset="0"/>
                <a:cs typeface="Courier New" panose="02070309020205020404" pitchFamily="49" charset="0"/>
              </a:rPr>
              <a:t>struct</a:t>
            </a:r>
            <a:r>
              <a:rPr lang="en-CA" dirty="0">
                <a:solidFill>
                  <a:srgbClr val="000000"/>
                </a:solidFill>
                <a:latin typeface="Courier New" panose="02070309020205020404" pitchFamily="49" charset="0"/>
                <a:cs typeface="Courier New" panose="02070309020205020404" pitchFamily="49" charset="0"/>
              </a:rPr>
              <a:t> foo {</a:t>
            </a:r>
          </a:p>
          <a:p>
            <a:pPr lvl="1"/>
            <a:r>
              <a:rPr lang="en-CA" dirty="0">
                <a:solidFill>
                  <a:srgbClr val="000000"/>
                </a:solidFill>
                <a:latin typeface="Courier New" panose="02070309020205020404" pitchFamily="49" charset="0"/>
                <a:cs typeface="Courier New" panose="02070309020205020404" pitchFamily="49" charset="0"/>
              </a:rPr>
              <a:t>    __le32 size;</a:t>
            </a:r>
          </a:p>
          <a:p>
            <a:pPr lvl="1"/>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bar_block_ptr</a:t>
            </a:r>
            <a:r>
              <a:rPr lang="en-CA" dirty="0">
                <a:solidFill>
                  <a:srgbClr val="000000"/>
                </a:solidFill>
                <a:latin typeface="Courier New" panose="02070309020205020404" pitchFamily="49" charset="0"/>
                <a:cs typeface="Courier New" panose="02070309020205020404" pitchFamily="49" charset="0"/>
              </a:rPr>
              <a:t>;</a:t>
            </a:r>
          </a:p>
          <a:p>
            <a:pPr lvl="1"/>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9430893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8" name="Rectangle 7"/>
          <p:cNvSpPr/>
          <p:nvPr/>
        </p:nvSpPr>
        <p:spPr>
          <a:xfrm>
            <a:off x="728662" y="2114550"/>
            <a:ext cx="6649304" cy="1615827"/>
          </a:xfrm>
          <a:prstGeom prst="rect">
            <a:avLst/>
          </a:prstGeom>
        </p:spPr>
        <p:txBody>
          <a:bodyPr wrap="square">
            <a:spAutoFit/>
          </a:bodyPr>
          <a:lstStyle/>
          <a:p>
            <a:pPr lvl="1"/>
            <a:r>
              <a:rPr lang="en-CA" sz="1650" b="1" dirty="0">
                <a:solidFill>
                  <a:srgbClr val="000000"/>
                </a:solidFill>
                <a:latin typeface="Courier New" panose="02070309020205020404" pitchFamily="49" charset="0"/>
                <a:cs typeface="Courier New" panose="02070309020205020404" pitchFamily="49" charset="0"/>
              </a:rPr>
              <a:t>FSSTRUCT() </a:t>
            </a:r>
            <a:r>
              <a:rPr lang="en-CA" sz="1650" dirty="0">
                <a:solidFill>
                  <a:srgbClr val="000000"/>
                </a:solidFill>
                <a:latin typeface="Courier New" panose="02070309020205020404" pitchFamily="49" charset="0"/>
                <a:cs typeface="Courier New" panose="02070309020205020404" pitchFamily="49" charset="0"/>
              </a:rPr>
              <a:t>foo {</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latin typeface="Courier New" panose="02070309020205020404" pitchFamily="49" charset="0"/>
                <a:cs typeface="Courier New" panose="02070309020205020404" pitchFamily="49" charset="0"/>
              </a:rPr>
              <a:t>POINTER</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a:t>
            </a:r>
            <a:r>
              <a:rPr lang="en-CA" sz="1650" dirty="0" err="1">
                <a:solidFill>
                  <a:srgbClr val="000000"/>
                </a:solidFill>
                <a:latin typeface="Courier New" panose="02070309020205020404" pitchFamily="49" charset="0"/>
                <a:cs typeface="Courier New" panose="02070309020205020404" pitchFamily="49" charset="0"/>
              </a:rPr>
              <a:t>bar_block_ptr</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0464903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8" name="Rectangle 7"/>
          <p:cNvSpPr/>
          <p:nvPr/>
        </p:nvSpPr>
        <p:spPr>
          <a:xfrm>
            <a:off x="728662" y="2114550"/>
            <a:ext cx="6649304" cy="1615827"/>
          </a:xfrm>
          <a:prstGeom prst="rect">
            <a:avLst/>
          </a:prstGeom>
        </p:spPr>
        <p:txBody>
          <a:bodyPr wrap="square">
            <a:spAutoFit/>
          </a:bodyPr>
          <a:lstStyle/>
          <a:p>
            <a:pPr lvl="1"/>
            <a:r>
              <a:rPr lang="en-CA" sz="165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FSSTRUCT() </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foo </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latin typeface="Courier New" panose="02070309020205020404" pitchFamily="49" charset="0"/>
                <a:cs typeface="Courier New" panose="02070309020205020404" pitchFamily="49" charset="0"/>
              </a:rPr>
              <a:t>POINTER</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a:solidFill>
                  <a:srgbClr val="000000"/>
                </a:solidFill>
                <a:latin typeface="Courier New" panose="02070309020205020404" pitchFamily="49" charset="0"/>
                <a:cs typeface="Courier New" panose="02070309020205020404" pitchFamily="49" charset="0"/>
              </a:rPr>
              <a:t>    __le32 </a:t>
            </a:r>
            <a:r>
              <a:rPr lang="en-CA" sz="1650" dirty="0" err="1">
                <a:solidFill>
                  <a:srgbClr val="000000"/>
                </a:solidFill>
                <a:latin typeface="Courier New" panose="02070309020205020404" pitchFamily="49" charset="0"/>
                <a:cs typeface="Courier New" panose="02070309020205020404" pitchFamily="49" charset="0"/>
              </a:rPr>
              <a:t>bar_block_ptr</a:t>
            </a:r>
            <a:r>
              <a:rPr lang="en-CA" sz="1650" dirty="0">
                <a:solidFill>
                  <a:srgbClr val="000000"/>
                </a:solidFill>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2999901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Rectangle 4"/>
          <p:cNvSpPr/>
          <p:nvPr/>
        </p:nvSpPr>
        <p:spPr>
          <a:xfrm>
            <a:off x="728662" y="2114550"/>
            <a:ext cx="6649304" cy="1615827"/>
          </a:xfrm>
          <a:prstGeom prst="rect">
            <a:avLst/>
          </a:prstGeom>
        </p:spPr>
        <p:txBody>
          <a:bodyPr wrap="square">
            <a:spAutoFit/>
          </a:bodyPr>
          <a:lstStyle/>
          <a:p>
            <a:pPr lvl="1"/>
            <a:r>
              <a:rPr lang="en-CA" sz="1650" b="1" dirty="0">
                <a:solidFill>
                  <a:srgbClr val="000000"/>
                </a:solidFill>
                <a:latin typeface="Courier New" panose="02070309020205020404" pitchFamily="49" charset="0"/>
                <a:cs typeface="Courier New" panose="02070309020205020404" pitchFamily="49" charset="0"/>
              </a:rPr>
              <a:t>FSSTRUCT() </a:t>
            </a:r>
            <a:r>
              <a:rPr lang="en-CA" sz="1650" dirty="0">
                <a:solidFill>
                  <a:srgbClr val="000000"/>
                </a:solidFill>
                <a:latin typeface="Courier New" panose="02070309020205020404" pitchFamily="49" charset="0"/>
                <a:cs typeface="Courier New" panose="02070309020205020404" pitchFamily="49" charset="0"/>
              </a:rPr>
              <a:t>foo {</a:t>
            </a:r>
          </a:p>
          <a:p>
            <a:pPr lvl="1"/>
            <a:r>
              <a:rPr lang="en-CA" sz="1650" dirty="0">
                <a:solidFill>
                  <a:srgbClr val="000000"/>
                </a:solidFill>
                <a:latin typeface="Courier New" panose="02070309020205020404" pitchFamily="49" charset="0"/>
                <a:cs typeface="Courier New" panose="02070309020205020404" pitchFamily="49" charset="0"/>
              </a:rPr>
              <a:t>    __le32 size;</a:t>
            </a:r>
          </a:p>
          <a:p>
            <a:pPr lvl="1"/>
            <a:endParaRPr lang="en-CA" sz="1650" dirty="0">
              <a:solidFill>
                <a:srgbClr val="000000"/>
              </a:solidFill>
              <a:latin typeface="Courier New" panose="02070309020205020404" pitchFamily="49" charset="0"/>
              <a:cs typeface="Courier New" panose="02070309020205020404" pitchFamily="49" charset="0"/>
            </a:endParaRPr>
          </a:p>
          <a:p>
            <a:pPr lvl="1"/>
            <a:r>
              <a:rPr lang="en-CA" sz="1650" dirty="0">
                <a:solidFill>
                  <a:srgbClr val="000000"/>
                </a:solidFill>
                <a:latin typeface="Courier New" panose="02070309020205020404" pitchFamily="49" charset="0"/>
                <a:cs typeface="Courier New" panose="02070309020205020404" pitchFamily="49" charset="0"/>
              </a:rPr>
              <a:t>    </a:t>
            </a:r>
            <a:r>
              <a:rPr lang="en-CA" sz="165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sz="165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bar_block</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pPr lvl="1"/>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__le32 </a:t>
            </a:r>
            <a:r>
              <a:rPr lang="en-CA" sz="165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bar_block_ptr</a:t>
            </a:r>
            <a:r>
              <a:rPr lang="en-CA" sz="165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pPr lvl="1"/>
            <a:r>
              <a:rPr lang="en-CA" sz="1650" dirty="0" smtClean="0">
                <a:solidFill>
                  <a:srgbClr val="000000"/>
                </a:solidFill>
                <a:latin typeface="Courier New" panose="02070309020205020404" pitchFamily="49" charset="0"/>
                <a:cs typeface="Courier New" panose="02070309020205020404" pitchFamily="49" charset="0"/>
              </a:rPr>
              <a:t>};</a:t>
            </a:r>
            <a:endParaRPr lang="en-CA" sz="1650" dirty="0">
              <a:solidFill>
                <a:srgbClr val="000000"/>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76275360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Pointer Annotations</a:t>
            </a:r>
            <a:endParaRPr lang="en-CA" dirty="0"/>
          </a:p>
        </p:txBody>
      </p:sp>
      <p:sp>
        <p:nvSpPr>
          <p:cNvPr id="180" name="TextBox 179"/>
          <p:cNvSpPr txBox="1"/>
          <p:nvPr/>
        </p:nvSpPr>
        <p:spPr>
          <a:xfrm>
            <a:off x="6015685" y="1392566"/>
            <a:ext cx="1980029" cy="646331"/>
          </a:xfrm>
          <a:prstGeom prst="rect">
            <a:avLst/>
          </a:prstGeom>
          <a:noFill/>
        </p:spPr>
        <p:txBody>
          <a:bodyPr wrap="none" rtlCol="0">
            <a:spAutoFit/>
          </a:bodyPr>
          <a:lstStyle/>
          <a:p>
            <a:r>
              <a:rPr lang="en-CA" sz="1800" dirty="0">
                <a:solidFill>
                  <a:srgbClr val="000000"/>
                </a:solidFill>
              </a:rPr>
              <a:t>Ext4 File System </a:t>
            </a:r>
            <a:br>
              <a:rPr lang="en-CA" sz="1800" dirty="0">
                <a:solidFill>
                  <a:srgbClr val="000000"/>
                </a:solidFill>
              </a:rPr>
            </a:br>
            <a:r>
              <a:rPr lang="en-CA" sz="1800" dirty="0">
                <a:solidFill>
                  <a:srgbClr val="000000"/>
                </a:solidFill>
              </a:rPr>
              <a:t>Metadata Tree</a:t>
            </a:r>
          </a:p>
        </p:txBody>
      </p:sp>
      <p:sp>
        <p:nvSpPr>
          <p:cNvPr id="102" name="Rectangle 101"/>
          <p:cNvSpPr/>
          <p:nvPr/>
        </p:nvSpPr>
        <p:spPr>
          <a:xfrm>
            <a:off x="572587" y="29542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block</a:t>
            </a:r>
          </a:p>
          <a:p>
            <a:pPr algn="ctr"/>
            <a:r>
              <a:rPr lang="en-CA" altLang="zh-TW" sz="1200" dirty="0">
                <a:solidFill>
                  <a:srgbClr val="000000"/>
                </a:solidFill>
              </a:rPr>
              <a:t>bitmap</a:t>
            </a:r>
            <a:endParaRPr lang="zh-TW" altLang="en-US" sz="1200" dirty="0">
              <a:solidFill>
                <a:srgbClr val="000000"/>
              </a:solidFill>
            </a:endParaRPr>
          </a:p>
        </p:txBody>
      </p:sp>
      <p:cxnSp>
        <p:nvCxnSpPr>
          <p:cNvPr id="98" name="Straight Arrow Connector 97"/>
          <p:cNvCxnSpPr/>
          <p:nvPr/>
        </p:nvCxnSpPr>
        <p:spPr>
          <a:xfrm>
            <a:off x="1007143" y="1410666"/>
            <a:ext cx="0" cy="34423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572585" y="905676"/>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109" name="Rectangle 108"/>
          <p:cNvSpPr/>
          <p:nvPr/>
        </p:nvSpPr>
        <p:spPr>
          <a:xfrm>
            <a:off x="2573236" y="905676"/>
            <a:ext cx="2390456"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cxnSp>
        <p:nvCxnSpPr>
          <p:cNvPr id="112" name="Straight Arrow Connector 111"/>
          <p:cNvCxnSpPr>
            <a:stCxn id="100" idx="3"/>
            <a:endCxn id="109" idx="1"/>
          </p:cNvCxnSpPr>
          <p:nvPr/>
        </p:nvCxnSpPr>
        <p:spPr>
          <a:xfrm>
            <a:off x="1399997" y="1157739"/>
            <a:ext cx="1173239"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572584" y="1754905"/>
            <a:ext cx="4391108"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17" name="Rectangle 116"/>
          <p:cNvSpPr/>
          <p:nvPr/>
        </p:nvSpPr>
        <p:spPr>
          <a:xfrm>
            <a:off x="635371" y="1820505"/>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97" name="Straight Arrow Connector 96"/>
          <p:cNvCxnSpPr>
            <a:stCxn id="21" idx="2"/>
            <a:endCxn id="102" idx="0"/>
          </p:cNvCxnSpPr>
          <p:nvPr/>
        </p:nvCxnSpPr>
        <p:spPr>
          <a:xfrm rot="5400000">
            <a:off x="1518799" y="1984780"/>
            <a:ext cx="465649" cy="1473249"/>
          </a:xfrm>
          <a:prstGeom prst="bentConnector3">
            <a:avLst>
              <a:gd name="adj1" fmla="val 27958"/>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3" name="Rectangle 122"/>
          <p:cNvSpPr/>
          <p:nvPr/>
        </p:nvSpPr>
        <p:spPr>
          <a:xfrm>
            <a:off x="2573236" y="2954229"/>
            <a:ext cx="3636206"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24" name="Rectangle 123"/>
          <p:cNvSpPr/>
          <p:nvPr/>
        </p:nvSpPr>
        <p:spPr>
          <a:xfrm>
            <a:off x="2628021" y="3086021"/>
            <a:ext cx="632378" cy="4455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a:t>
            </a:r>
            <a:r>
              <a:rPr lang="en-US" sz="1200" dirty="0" smtClean="0">
                <a:solidFill>
                  <a:srgbClr val="000000"/>
                </a:solidFill>
              </a:rPr>
              <a:t>table</a:t>
            </a:r>
            <a:endParaRPr lang="en-US" sz="1200" dirty="0">
              <a:solidFill>
                <a:srgbClr val="000000"/>
              </a:solidFill>
            </a:endParaRPr>
          </a:p>
        </p:txBody>
      </p:sp>
      <p:cxnSp>
        <p:nvCxnSpPr>
          <p:cNvPr id="130" name="Straight Arrow Connector 96"/>
          <p:cNvCxnSpPr>
            <a:stCxn id="94" idx="2"/>
            <a:endCxn id="71" idx="0"/>
          </p:cNvCxnSpPr>
          <p:nvPr/>
        </p:nvCxnSpPr>
        <p:spPr>
          <a:xfrm rot="5400000">
            <a:off x="2146661" y="2356788"/>
            <a:ext cx="479824" cy="715059"/>
          </a:xfrm>
          <a:prstGeom prst="bentConnector3">
            <a:avLst>
              <a:gd name="adj1" fmla="val 59723"/>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96"/>
          <p:cNvCxnSpPr/>
          <p:nvPr/>
        </p:nvCxnSpPr>
        <p:spPr>
          <a:xfrm>
            <a:off x="2968760" y="2466790"/>
            <a:ext cx="3040" cy="48596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3332788" y="3008710"/>
            <a:ext cx="724043"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138" name="Rounded Rectangle 137"/>
          <p:cNvSpPr/>
          <p:nvPr/>
        </p:nvSpPr>
        <p:spPr>
          <a:xfrm>
            <a:off x="5146213" y="3008710"/>
            <a:ext cx="911532"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139" name="TextBox 138"/>
          <p:cNvSpPr txBox="1"/>
          <p:nvPr/>
        </p:nvSpPr>
        <p:spPr>
          <a:xfrm>
            <a:off x="4419600" y="1819930"/>
            <a:ext cx="543739" cy="523220"/>
          </a:xfrm>
          <a:prstGeom prst="rect">
            <a:avLst/>
          </a:prstGeom>
          <a:noFill/>
        </p:spPr>
        <p:txBody>
          <a:bodyPr wrap="none" rtlCol="0">
            <a:spAutoFit/>
          </a:bodyPr>
          <a:lstStyle/>
          <a:p>
            <a:r>
              <a:rPr lang="en-CA" sz="2800" dirty="0">
                <a:solidFill>
                  <a:srgbClr val="000000"/>
                </a:solidFill>
              </a:rPr>
              <a:t>…</a:t>
            </a:r>
          </a:p>
        </p:txBody>
      </p:sp>
      <p:sp>
        <p:nvSpPr>
          <p:cNvPr id="140" name="TextBox 139"/>
          <p:cNvSpPr txBox="1"/>
          <p:nvPr/>
        </p:nvSpPr>
        <p:spPr>
          <a:xfrm>
            <a:off x="4343400" y="2952750"/>
            <a:ext cx="543739" cy="523220"/>
          </a:xfrm>
          <a:prstGeom prst="rect">
            <a:avLst/>
          </a:prstGeom>
          <a:noFill/>
          <a:ln>
            <a:noFill/>
          </a:ln>
        </p:spPr>
        <p:txBody>
          <a:bodyPr wrap="none" rtlCol="0">
            <a:spAutoFit/>
          </a:bodyPr>
          <a:lstStyle/>
          <a:p>
            <a:r>
              <a:rPr lang="en-CA" sz="2800" dirty="0">
                <a:solidFill>
                  <a:srgbClr val="000000"/>
                </a:solidFill>
              </a:rPr>
              <a:t>…</a:t>
            </a:r>
          </a:p>
        </p:txBody>
      </p:sp>
      <p:sp>
        <p:nvSpPr>
          <p:cNvPr id="142" name="Rectangle 141"/>
          <p:cNvSpPr/>
          <p:nvPr/>
        </p:nvSpPr>
        <p:spPr>
          <a:xfrm>
            <a:off x="5188272" y="3923091"/>
            <a:ext cx="827413" cy="54606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sp>
        <p:nvSpPr>
          <p:cNvPr id="145" name="Rectangle 144"/>
          <p:cNvSpPr/>
          <p:nvPr/>
        </p:nvSpPr>
        <p:spPr>
          <a:xfrm>
            <a:off x="6447346" y="2952750"/>
            <a:ext cx="908673" cy="70858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indirect</a:t>
            </a:r>
          </a:p>
          <a:p>
            <a:pPr algn="ctr"/>
            <a:r>
              <a:rPr lang="en-CA" altLang="zh-TW" sz="1200" dirty="0">
                <a:solidFill>
                  <a:srgbClr val="000000"/>
                </a:solidFill>
              </a:rPr>
              <a:t>block</a:t>
            </a:r>
            <a:endParaRPr lang="zh-TW" altLang="en-US" sz="1200" dirty="0">
              <a:solidFill>
                <a:srgbClr val="000000"/>
              </a:solidFill>
            </a:endParaRPr>
          </a:p>
        </p:txBody>
      </p:sp>
      <p:grpSp>
        <p:nvGrpSpPr>
          <p:cNvPr id="151" name="Group 150"/>
          <p:cNvGrpSpPr/>
          <p:nvPr/>
        </p:nvGrpSpPr>
        <p:grpSpPr>
          <a:xfrm>
            <a:off x="6441702" y="3890246"/>
            <a:ext cx="908535" cy="571479"/>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53" name="Rectangle 152"/>
            <p:cNvSpPr/>
            <p:nvPr/>
          </p:nvSpPr>
          <p:spPr>
            <a:xfrm>
              <a:off x="20403622" y="9652732"/>
              <a:ext cx="1864380"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155" name="Rectangle 154"/>
            <p:cNvSpPr/>
            <p:nvPr/>
          </p:nvSpPr>
          <p:spPr>
            <a:xfrm>
              <a:off x="20309820" y="9762072"/>
              <a:ext cx="1864381" cy="1534578"/>
            </a:xfrm>
            <a:prstGeom prst="rect">
              <a:avLst/>
            </a:prstGeom>
            <a:grp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blocks</a:t>
              </a:r>
              <a:endParaRPr lang="zh-TW" altLang="en-US" sz="1200" dirty="0">
                <a:solidFill>
                  <a:srgbClr val="000000"/>
                </a:solidFill>
              </a:endParaRPr>
            </a:p>
          </p:txBody>
        </p:sp>
      </p:grpSp>
      <p:cxnSp>
        <p:nvCxnSpPr>
          <p:cNvPr id="168" name="Straight Arrow Connector 96"/>
          <p:cNvCxnSpPr>
            <a:stCxn id="138" idx="2"/>
            <a:endCxn id="142" idx="0"/>
          </p:cNvCxnSpPr>
          <p:nvPr/>
        </p:nvCxnSpPr>
        <p:spPr>
          <a:xfrm>
            <a:off x="5601979" y="3605373"/>
            <a:ext cx="0" cy="31771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p:nvPr/>
        </p:nvCxnSpPr>
        <p:spPr>
          <a:xfrm flipV="1">
            <a:off x="6057745" y="3307041"/>
            <a:ext cx="389601" cy="1"/>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3714781" y="2390709"/>
            <a:ext cx="380999" cy="438288"/>
            <a:chOff x="27236633" y="9932056"/>
            <a:chExt cx="578250" cy="990600"/>
          </a:xfrm>
        </p:grpSpPr>
        <p:cxnSp>
          <p:nvCxnSpPr>
            <p:cNvPr id="175" name="Straight Arrow Connector 174"/>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3" name="Rectangle 72"/>
          <p:cNvSpPr/>
          <p:nvPr/>
        </p:nvSpPr>
        <p:spPr>
          <a:xfrm>
            <a:off x="3281103" y="3930690"/>
            <a:ext cx="827413" cy="54606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75" name="Straight Arrow Connector 96"/>
          <p:cNvCxnSpPr>
            <a:stCxn id="95" idx="2"/>
            <a:endCxn id="73" idx="0"/>
          </p:cNvCxnSpPr>
          <p:nvPr/>
        </p:nvCxnSpPr>
        <p:spPr>
          <a:xfrm>
            <a:off x="3694810" y="3605373"/>
            <a:ext cx="0" cy="3253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1" name="Rectangle 70"/>
          <p:cNvSpPr/>
          <p:nvPr/>
        </p:nvSpPr>
        <p:spPr>
          <a:xfrm>
            <a:off x="1586632" y="29542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inode</a:t>
            </a:r>
            <a:endParaRPr lang="en-CA" altLang="zh-TW" sz="1200" dirty="0">
              <a:solidFill>
                <a:srgbClr val="000000"/>
              </a:solidFill>
            </a:endParaRPr>
          </a:p>
          <a:p>
            <a:pPr algn="ctr"/>
            <a:r>
              <a:rPr lang="en-CA" altLang="zh-TW" sz="1200" dirty="0">
                <a:solidFill>
                  <a:srgbClr val="000000"/>
                </a:solidFill>
              </a:rPr>
              <a:t>bitmap</a:t>
            </a:r>
            <a:endParaRPr lang="zh-TW" altLang="en-US" sz="1200" dirty="0">
              <a:solidFill>
                <a:srgbClr val="000000"/>
              </a:solidFill>
            </a:endParaRPr>
          </a:p>
        </p:txBody>
      </p:sp>
      <p:grpSp>
        <p:nvGrpSpPr>
          <p:cNvPr id="32" name="Group 31"/>
          <p:cNvGrpSpPr/>
          <p:nvPr/>
        </p:nvGrpSpPr>
        <p:grpSpPr>
          <a:xfrm>
            <a:off x="2211688" y="1811943"/>
            <a:ext cx="1064828" cy="676637"/>
            <a:chOff x="2529818" y="2415923"/>
            <a:chExt cx="1419770" cy="902183"/>
          </a:xfrm>
        </p:grpSpPr>
        <p:sp>
          <p:nvSpPr>
            <p:cNvPr id="94" name="Rounded Rectangle 93"/>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21" name="Rectangle 2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133" name="Rounded Rectangle 132"/>
          <p:cNvSpPr/>
          <p:nvPr/>
        </p:nvSpPr>
        <p:spPr>
          <a:xfrm>
            <a:off x="3386087" y="1820505"/>
            <a:ext cx="1035659" cy="64628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grpSp>
        <p:nvGrpSpPr>
          <p:cNvPr id="147" name="Group 146"/>
          <p:cNvGrpSpPr/>
          <p:nvPr/>
        </p:nvGrpSpPr>
        <p:grpSpPr>
          <a:xfrm rot="5400000">
            <a:off x="6770837" y="3571558"/>
            <a:ext cx="261692" cy="438288"/>
            <a:chOff x="27236633" y="9932056"/>
            <a:chExt cx="578250" cy="990600"/>
          </a:xfrm>
        </p:grpSpPr>
        <p:cxnSp>
          <p:nvCxnSpPr>
            <p:cNvPr id="148" name="Straight Arrow Connector 147"/>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137823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
            </a:r>
            <a:br>
              <a:rPr lang="en-CA" dirty="0" smtClean="0"/>
            </a:br>
            <a:r>
              <a:rPr lang="en-CA" dirty="0" smtClean="0"/>
              <a:t>logical 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pPr marL="0" indent="0">
              <a:buNone/>
            </a:pPr>
            <a:endParaRPr lang="en-CA" dirty="0" smtClean="0"/>
          </a:p>
          <a:p>
            <a:r>
              <a:rPr lang="en-CA" dirty="0" smtClean="0"/>
              <a:t>Examples: </a:t>
            </a:r>
            <a:r>
              <a:rPr lang="en-CA" dirty="0" smtClean="0"/>
              <a:t>Block</a:t>
            </a:r>
            <a:r>
              <a:rPr lang="en-CA" dirty="0"/>
              <a:t> </a:t>
            </a:r>
            <a:r>
              <a:rPr lang="en-CA" dirty="0" smtClean="0"/>
              <a:t>and</a:t>
            </a:r>
            <a:r>
              <a:rPr lang="en-CA" dirty="0" smtClean="0"/>
              <a:t> File address </a:t>
            </a:r>
            <a:r>
              <a:rPr lang="en-CA" dirty="0" smtClean="0"/>
              <a:t>spaces</a:t>
            </a:r>
          </a:p>
        </p:txBody>
      </p:sp>
      <p:sp>
        <p:nvSpPr>
          <p:cNvPr id="8" name="Rectangle 7"/>
          <p:cNvSpPr/>
          <p:nvPr/>
        </p:nvSpPr>
        <p:spPr>
          <a:xfrm>
            <a:off x="1828800" y="3139901"/>
            <a:ext cx="4711867" cy="346249"/>
          </a:xfrm>
          <a:prstGeom prst="rect">
            <a:avLst/>
          </a:prstGeom>
          <a:solidFill>
            <a:srgbClr val="FFFF00">
              <a:alpha val="20000"/>
            </a:srgbClr>
          </a:solidFill>
        </p:spPr>
        <p:txBody>
          <a:bodyPr wrap="none">
            <a:spAutoFit/>
          </a:bodyPr>
          <a:lstStyle/>
          <a:p>
            <a:pPr marL="93663" lvl="1"/>
            <a:r>
              <a:rPr lang="en-CA" sz="1650" b="1" dirty="0" smtClean="0">
                <a:solidFill>
                  <a:srgbClr val="000000"/>
                </a:solidFill>
                <a:latin typeface="Courier New" panose="02070309020205020404" pitchFamily="49" charset="0"/>
                <a:cs typeface="Courier New" panose="02070309020205020404" pitchFamily="49" charset="0"/>
              </a:rPr>
              <a:t>POINTER</a:t>
            </a:r>
            <a:r>
              <a:rPr lang="en-CA" sz="1650" dirty="0" smtClean="0">
                <a:solidFill>
                  <a:srgbClr val="000000"/>
                </a:solidFill>
                <a:latin typeface="Courier New" panose="02070309020205020404" pitchFamily="49" charset="0"/>
                <a:cs typeface="Courier New" panose="02070309020205020404" pitchFamily="49" charset="0"/>
              </a:rPr>
              <a:t>(</a:t>
            </a:r>
            <a:r>
              <a:rPr lang="en-CA" sz="1650" dirty="0" err="1" smtClean="0">
                <a:solidFill>
                  <a:srgbClr val="000000"/>
                </a:solidFill>
                <a:latin typeface="Courier New" panose="02070309020205020404" pitchFamily="49" charset="0"/>
                <a:cs typeface="Courier New" panose="02070309020205020404" pitchFamily="49" charset="0"/>
              </a:rPr>
              <a:t>aspc</a:t>
            </a:r>
            <a:r>
              <a:rPr lang="en-CA" sz="1650" dirty="0" smtClean="0">
                <a:solidFill>
                  <a:srgbClr val="000000"/>
                </a:solidFill>
                <a:latin typeface="Courier New" panose="02070309020205020404" pitchFamily="49" charset="0"/>
                <a:cs typeface="Courier New" panose="02070309020205020404" pitchFamily="49" charset="0"/>
              </a:rPr>
              <a:t>=block</a:t>
            </a:r>
            <a:r>
              <a:rPr lang="en-CA" sz="1650" dirty="0">
                <a:solidFill>
                  <a:srgbClr val="000000"/>
                </a:solidFill>
                <a:latin typeface="Courier New" panose="02070309020205020404" pitchFamily="49" charset="0"/>
                <a:cs typeface="Courier New" panose="02070309020205020404" pitchFamily="49" charset="0"/>
              </a:rPr>
              <a:t>, type=</a:t>
            </a:r>
            <a:r>
              <a:rPr lang="en-CA" sz="1650" dirty="0" err="1">
                <a:solidFill>
                  <a:srgbClr val="000000"/>
                </a:solidFill>
                <a:latin typeface="Courier New" panose="02070309020205020404" pitchFamily="49" charset="0"/>
                <a:cs typeface="Courier New" panose="02070309020205020404" pitchFamily="49" charset="0"/>
              </a:rPr>
              <a:t>bar_block</a:t>
            </a:r>
            <a:r>
              <a:rPr lang="en-CA" sz="1650"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07182137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Block Address Space</a:t>
            </a:r>
            <a:endParaRPr lang="en-CA" dirty="0"/>
          </a:p>
        </p:txBody>
      </p:sp>
      <p:sp>
        <p:nvSpPr>
          <p:cNvPr id="3" name="Content Placeholder 2"/>
          <p:cNvSpPr>
            <a:spLocks noGrp="1"/>
          </p:cNvSpPr>
          <p:nvPr>
            <p:ph idx="1"/>
          </p:nvPr>
        </p:nvSpPr>
        <p:spPr/>
        <p:txBody>
          <a:bodyPr/>
          <a:lstStyle/>
          <a:p>
            <a:r>
              <a:rPr lang="en-CA" smtClean="0"/>
              <a:t>Block address is the block number in the file system</a:t>
            </a:r>
          </a:p>
          <a:p>
            <a:endParaRPr lang="en-CA" dirty="0"/>
          </a:p>
        </p:txBody>
      </p:sp>
      <p:grpSp>
        <p:nvGrpSpPr>
          <p:cNvPr id="10" name="Group 9"/>
          <p:cNvGrpSpPr/>
          <p:nvPr/>
        </p:nvGrpSpPr>
        <p:grpSpPr>
          <a:xfrm>
            <a:off x="357100" y="1352550"/>
            <a:ext cx="7475814" cy="3241033"/>
            <a:chOff x="357100" y="1387095"/>
            <a:chExt cx="7475814" cy="3241033"/>
          </a:xfrm>
        </p:grpSpPr>
        <p:grpSp>
          <p:nvGrpSpPr>
            <p:cNvPr id="77" name="Group 76"/>
            <p:cNvGrpSpPr/>
            <p:nvPr/>
          </p:nvGrpSpPr>
          <p:grpSpPr>
            <a:xfrm rot="5400000">
              <a:off x="7149583" y="4039067"/>
              <a:ext cx="318587" cy="438288"/>
              <a:chOff x="27236633" y="9932056"/>
              <a:chExt cx="578250" cy="990600"/>
            </a:xfrm>
          </p:grpSpPr>
          <p:cxnSp>
            <p:nvCxnSpPr>
              <p:cNvPr id="113" name="Straight Arrow Connector 112"/>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114"/>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8" name="Rectangle 77"/>
            <p:cNvSpPr/>
            <p:nvPr/>
          </p:nvSpPr>
          <p:spPr>
            <a:xfrm>
              <a:off x="979780" y="34114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block</a:t>
              </a:r>
            </a:p>
            <a:p>
              <a:pPr algn="ctr"/>
              <a:r>
                <a:rPr lang="en-CA" altLang="zh-TW" sz="1200" dirty="0">
                  <a:solidFill>
                    <a:srgbClr val="000000"/>
                  </a:solidFill>
                </a:rPr>
                <a:t>bitmap</a:t>
              </a:r>
              <a:endParaRPr lang="zh-TW" altLang="en-US" sz="1200" dirty="0">
                <a:solidFill>
                  <a:srgbClr val="000000"/>
                </a:solidFill>
              </a:endParaRPr>
            </a:p>
          </p:txBody>
        </p:sp>
        <p:cxnSp>
          <p:nvCxnSpPr>
            <p:cNvPr id="79" name="Straight Arrow Connector 78"/>
            <p:cNvCxnSpPr/>
            <p:nvPr/>
          </p:nvCxnSpPr>
          <p:spPr>
            <a:xfrm>
              <a:off x="1414337" y="1922711"/>
              <a:ext cx="0" cy="34423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0" name="Rectangle 79"/>
            <p:cNvSpPr/>
            <p:nvPr/>
          </p:nvSpPr>
          <p:spPr>
            <a:xfrm>
              <a:off x="979779" y="1428750"/>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81" name="Rectangle 80"/>
            <p:cNvSpPr/>
            <p:nvPr/>
          </p:nvSpPr>
          <p:spPr>
            <a:xfrm>
              <a:off x="2906775" y="1428750"/>
              <a:ext cx="2390456"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cxnSp>
          <p:nvCxnSpPr>
            <p:cNvPr id="82" name="Straight Arrow Connector 81"/>
            <p:cNvCxnSpPr>
              <a:stCxn id="80" idx="3"/>
              <a:endCxn id="81" idx="1"/>
            </p:cNvCxnSpPr>
            <p:nvPr/>
          </p:nvCxnSpPr>
          <p:spPr>
            <a:xfrm>
              <a:off x="1807192" y="1680813"/>
              <a:ext cx="1099583"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6" name="Rectangle 85"/>
            <p:cNvSpPr/>
            <p:nvPr/>
          </p:nvSpPr>
          <p:spPr>
            <a:xfrm>
              <a:off x="2980430" y="3411429"/>
              <a:ext cx="3636206"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87" name="Rectangle 86"/>
            <p:cNvSpPr/>
            <p:nvPr/>
          </p:nvSpPr>
          <p:spPr>
            <a:xfrm>
              <a:off x="3043699" y="3552977"/>
              <a:ext cx="632378" cy="4455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91" name="Rounded Rectangle 90"/>
            <p:cNvSpPr/>
            <p:nvPr/>
          </p:nvSpPr>
          <p:spPr>
            <a:xfrm>
              <a:off x="3739981" y="3477396"/>
              <a:ext cx="724043"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chemeClr val="tx1"/>
                  </a:solidFill>
                </a:rPr>
                <a:t>inode</a:t>
              </a:r>
              <a:endParaRPr lang="en-US" altLang="zh-TW" sz="1200" dirty="0">
                <a:solidFill>
                  <a:schemeClr val="tx1"/>
                </a:solidFill>
              </a:endParaRPr>
            </a:p>
            <a:p>
              <a:pPr algn="ctr"/>
              <a:r>
                <a:rPr lang="en-US" altLang="zh-TW" sz="1200" dirty="0">
                  <a:solidFill>
                    <a:schemeClr val="tx1"/>
                  </a:solidFill>
                </a:rPr>
                <a:t>(</a:t>
              </a:r>
              <a:r>
                <a:rPr lang="en-US" altLang="zh-TW" sz="1200" dirty="0" err="1">
                  <a:solidFill>
                    <a:schemeClr val="tx1"/>
                  </a:solidFill>
                </a:rPr>
                <a:t>reg</a:t>
              </a:r>
              <a:r>
                <a:rPr lang="en-US" altLang="zh-TW" sz="1200" dirty="0">
                  <a:solidFill>
                    <a:schemeClr val="tx1"/>
                  </a:solidFill>
                </a:rPr>
                <a:t> file)</a:t>
              </a:r>
              <a:endParaRPr lang="zh-TW" altLang="en-US" sz="1200" dirty="0">
                <a:solidFill>
                  <a:schemeClr val="tx1"/>
                </a:solidFill>
              </a:endParaRPr>
            </a:p>
          </p:txBody>
        </p:sp>
        <p:sp>
          <p:nvSpPr>
            <p:cNvPr id="92" name="Rounded Rectangle 91"/>
            <p:cNvSpPr/>
            <p:nvPr/>
          </p:nvSpPr>
          <p:spPr>
            <a:xfrm>
              <a:off x="5553407" y="3477396"/>
              <a:ext cx="911532" cy="59666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chemeClr val="tx1"/>
                  </a:solidFill>
                </a:rPr>
                <a:t>inode</a:t>
              </a:r>
              <a:endParaRPr lang="en-US" altLang="zh-TW" sz="1200" dirty="0">
                <a:solidFill>
                  <a:schemeClr val="tx1"/>
                </a:solidFill>
              </a:endParaRPr>
            </a:p>
            <a:p>
              <a:pPr algn="ctr"/>
              <a:r>
                <a:rPr lang="en-US" altLang="zh-TW" sz="1200" dirty="0">
                  <a:solidFill>
                    <a:schemeClr val="tx1"/>
                  </a:solidFill>
                </a:rPr>
                <a:t>(directory)</a:t>
              </a:r>
              <a:endParaRPr lang="zh-TW" altLang="en-US" sz="1200" dirty="0">
                <a:solidFill>
                  <a:schemeClr val="tx1"/>
                </a:solidFill>
              </a:endParaRPr>
            </a:p>
          </p:txBody>
        </p:sp>
        <p:sp>
          <p:nvSpPr>
            <p:cNvPr id="94" name="TextBox 93"/>
            <p:cNvSpPr txBox="1"/>
            <p:nvPr/>
          </p:nvSpPr>
          <p:spPr>
            <a:xfrm>
              <a:off x="4750877" y="3355556"/>
              <a:ext cx="595035" cy="584775"/>
            </a:xfrm>
            <a:prstGeom prst="rect">
              <a:avLst/>
            </a:prstGeom>
            <a:noFill/>
          </p:spPr>
          <p:txBody>
            <a:bodyPr wrap="none" rtlCol="0">
              <a:spAutoFit/>
            </a:bodyPr>
            <a:lstStyle/>
            <a:p>
              <a:r>
                <a:rPr lang="en-CA" sz="3200" dirty="0">
                  <a:solidFill>
                    <a:srgbClr val="000000"/>
                  </a:solidFill>
                </a:rPr>
                <a:t>…</a:t>
              </a:r>
            </a:p>
          </p:txBody>
        </p:sp>
        <p:sp>
          <p:nvSpPr>
            <p:cNvPr id="96" name="Rectangle 95"/>
            <p:cNvSpPr/>
            <p:nvPr/>
          </p:nvSpPr>
          <p:spPr>
            <a:xfrm>
              <a:off x="6854540" y="3409950"/>
              <a:ext cx="908673" cy="70858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indirect</a:t>
              </a:r>
            </a:p>
            <a:p>
              <a:pPr algn="ctr"/>
              <a:r>
                <a:rPr lang="en-CA" altLang="zh-TW" sz="1200" dirty="0">
                  <a:solidFill>
                    <a:srgbClr val="000000"/>
                  </a:solidFill>
                </a:rPr>
                <a:t>block</a:t>
              </a:r>
              <a:endParaRPr lang="zh-TW" altLang="en-US" sz="1200" dirty="0">
                <a:solidFill>
                  <a:srgbClr val="000000"/>
                </a:solidFill>
              </a:endParaRPr>
            </a:p>
          </p:txBody>
        </p:sp>
        <p:cxnSp>
          <p:nvCxnSpPr>
            <p:cNvPr id="99" name="Straight Arrow Connector 96"/>
            <p:cNvCxnSpPr/>
            <p:nvPr/>
          </p:nvCxnSpPr>
          <p:spPr>
            <a:xfrm flipV="1">
              <a:off x="6464939" y="3781887"/>
              <a:ext cx="389601" cy="1"/>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6"/>
            <p:cNvCxnSpPr>
              <a:stCxn id="92" idx="2"/>
            </p:cNvCxnSpPr>
            <p:nvPr/>
          </p:nvCxnSpPr>
          <p:spPr>
            <a:xfrm>
              <a:off x="6009173" y="4074058"/>
              <a:ext cx="0" cy="342236"/>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96"/>
            <p:cNvCxnSpPr>
              <a:stCxn id="91" idx="2"/>
            </p:cNvCxnSpPr>
            <p:nvPr/>
          </p:nvCxnSpPr>
          <p:spPr>
            <a:xfrm>
              <a:off x="4102003" y="4074058"/>
              <a:ext cx="1" cy="347009"/>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3" name="Rectangle 102"/>
            <p:cNvSpPr/>
            <p:nvPr/>
          </p:nvSpPr>
          <p:spPr>
            <a:xfrm>
              <a:off x="1993825" y="3411429"/>
              <a:ext cx="884822" cy="705624"/>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inode</a:t>
              </a:r>
              <a:endParaRPr lang="en-CA" altLang="zh-TW" sz="1200" dirty="0">
                <a:solidFill>
                  <a:srgbClr val="000000"/>
                </a:solidFill>
              </a:endParaRPr>
            </a:p>
            <a:p>
              <a:pPr algn="ctr"/>
              <a:r>
                <a:rPr lang="en-CA" altLang="zh-TW" sz="1200" dirty="0">
                  <a:solidFill>
                    <a:srgbClr val="000000"/>
                  </a:solidFill>
                </a:rPr>
                <a:t>bitmap</a:t>
              </a:r>
              <a:endParaRPr lang="zh-TW" altLang="en-US" sz="1200" dirty="0">
                <a:solidFill>
                  <a:srgbClr val="000000"/>
                </a:solidFill>
              </a:endParaRPr>
            </a:p>
          </p:txBody>
        </p:sp>
        <p:sp>
          <p:nvSpPr>
            <p:cNvPr id="83" name="Rectangle 82"/>
            <p:cNvSpPr/>
            <p:nvPr/>
          </p:nvSpPr>
          <p:spPr>
            <a:xfrm>
              <a:off x="979778" y="2266950"/>
              <a:ext cx="4391108"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84" name="Rectangle 83"/>
            <p:cNvSpPr/>
            <p:nvPr/>
          </p:nvSpPr>
          <p:spPr>
            <a:xfrm>
              <a:off x="1042565" y="2332550"/>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sp>
          <p:nvSpPr>
            <p:cNvPr id="156" name="Rectangle 155"/>
            <p:cNvSpPr/>
            <p:nvPr/>
          </p:nvSpPr>
          <p:spPr>
            <a:xfrm>
              <a:off x="357164" y="192941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57" name="Rectangle 156"/>
            <p:cNvSpPr/>
            <p:nvPr/>
          </p:nvSpPr>
          <p:spPr>
            <a:xfrm>
              <a:off x="357100" y="3093082"/>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59" name="Rectangle 158"/>
            <p:cNvSpPr/>
            <p:nvPr/>
          </p:nvSpPr>
          <p:spPr>
            <a:xfrm>
              <a:off x="3804783" y="3142618"/>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0" name="Rectangle 159"/>
            <p:cNvSpPr/>
            <p:nvPr/>
          </p:nvSpPr>
          <p:spPr>
            <a:xfrm>
              <a:off x="3577946" y="433634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1" name="Rectangle 160"/>
            <p:cNvSpPr/>
            <p:nvPr/>
          </p:nvSpPr>
          <p:spPr>
            <a:xfrm>
              <a:off x="6784838" y="4336344"/>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2" name="Rectangle 161"/>
            <p:cNvSpPr/>
            <p:nvPr/>
          </p:nvSpPr>
          <p:spPr>
            <a:xfrm>
              <a:off x="5491181" y="4327133"/>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163" name="Rectangle 162"/>
            <p:cNvSpPr/>
            <p:nvPr/>
          </p:nvSpPr>
          <p:spPr>
            <a:xfrm>
              <a:off x="1816289" y="1387095"/>
              <a:ext cx="3872884" cy="699638"/>
            </a:xfrm>
            <a:prstGeom prst="rect">
              <a:avLst/>
            </a:prstGeom>
            <a:solidFill>
              <a:srgbClr val="FFFF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cxnSp>
          <p:nvCxnSpPr>
            <p:cNvPr id="85" name="Straight Arrow Connector 96"/>
            <p:cNvCxnSpPr>
              <a:stCxn id="106" idx="2"/>
              <a:endCxn id="78" idx="0"/>
            </p:cNvCxnSpPr>
            <p:nvPr/>
          </p:nvCxnSpPr>
          <p:spPr>
            <a:xfrm rot="5400000">
              <a:off x="1953414" y="2469402"/>
              <a:ext cx="410804" cy="1473250"/>
            </a:xfrm>
            <a:prstGeom prst="bentConnector3">
              <a:avLst>
                <a:gd name="adj1" fmla="val 2501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96"/>
            <p:cNvCxnSpPr/>
            <p:nvPr/>
          </p:nvCxnSpPr>
          <p:spPr>
            <a:xfrm>
              <a:off x="3375953" y="2876550"/>
              <a:ext cx="0" cy="54000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96"/>
            <p:cNvCxnSpPr>
              <a:stCxn id="105" idx="2"/>
              <a:endCxn id="103" idx="0"/>
            </p:cNvCxnSpPr>
            <p:nvPr/>
          </p:nvCxnSpPr>
          <p:spPr>
            <a:xfrm rot="5400000">
              <a:off x="2581277" y="2841409"/>
              <a:ext cx="424979" cy="715060"/>
            </a:xfrm>
            <a:prstGeom prst="bentConnector3">
              <a:avLst>
                <a:gd name="adj1" fmla="val 47805"/>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04" name="Group 103"/>
            <p:cNvGrpSpPr/>
            <p:nvPr/>
          </p:nvGrpSpPr>
          <p:grpSpPr>
            <a:xfrm>
              <a:off x="2618882" y="2323988"/>
              <a:ext cx="1064828" cy="676637"/>
              <a:chOff x="2529818" y="2415923"/>
              <a:chExt cx="1419770" cy="902183"/>
            </a:xfrm>
          </p:grpSpPr>
          <p:sp>
            <p:nvSpPr>
              <p:cNvPr id="106" name="Rectangle 10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sp>
            <p:nvSpPr>
              <p:cNvPr id="105" name="Rounded Rectangle 104"/>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chemeClr val="tx1"/>
                    </a:solidFill>
                  </a:rPr>
                  <a:t>block group descriptor</a:t>
                </a:r>
                <a:endParaRPr lang="zh-TW" altLang="en-US" sz="1200" dirty="0">
                  <a:solidFill>
                    <a:schemeClr val="tx1"/>
                  </a:solidFill>
                </a:endParaRPr>
              </a:p>
            </p:txBody>
          </p:sp>
        </p:grpSp>
        <p:grpSp>
          <p:nvGrpSpPr>
            <p:cNvPr id="100" name="Group 99"/>
            <p:cNvGrpSpPr/>
            <p:nvPr/>
          </p:nvGrpSpPr>
          <p:grpSpPr>
            <a:xfrm rot="5400000">
              <a:off x="4205289" y="2856387"/>
              <a:ext cx="211644" cy="438288"/>
              <a:chOff x="27236633" y="9932056"/>
              <a:chExt cx="578250" cy="990600"/>
            </a:xfrm>
          </p:grpSpPr>
          <p:cxnSp>
            <p:nvCxnSpPr>
              <p:cNvPr id="107" name="Straight Arrow Connector 106"/>
              <p:cNvCxnSpPr/>
              <p:nvPr/>
            </p:nvCxnSpPr>
            <p:spPr>
              <a:xfrm>
                <a:off x="27236633" y="104273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p:nvPr/>
            </p:nvCxnSpPr>
            <p:spPr>
              <a:xfrm>
                <a:off x="27236633" y="109226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p:cNvCxnSpPr/>
              <p:nvPr/>
            </p:nvCxnSpPr>
            <p:spPr>
              <a:xfrm>
                <a:off x="27236633" y="9932056"/>
                <a:ext cx="578250" cy="0"/>
              </a:xfrm>
              <a:prstGeom prst="straightConnector1">
                <a:avLst/>
              </a:prstGeom>
              <a:ln w="508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89" name="Rounded Rectangle 88"/>
            <p:cNvSpPr/>
            <p:nvPr/>
          </p:nvSpPr>
          <p:spPr>
            <a:xfrm>
              <a:off x="3793281" y="2332550"/>
              <a:ext cx="1035659" cy="646285"/>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chemeClr val="tx1"/>
                  </a:solidFill>
                </a:rPr>
                <a:t>block group descriptor</a:t>
              </a:r>
              <a:endParaRPr lang="zh-TW" altLang="en-US" sz="1200" dirty="0">
                <a:solidFill>
                  <a:schemeClr val="tx1"/>
                </a:solidFill>
              </a:endParaRPr>
            </a:p>
          </p:txBody>
        </p:sp>
        <p:sp>
          <p:nvSpPr>
            <p:cNvPr id="93" name="TextBox 92"/>
            <p:cNvSpPr txBox="1"/>
            <p:nvPr/>
          </p:nvSpPr>
          <p:spPr>
            <a:xfrm>
              <a:off x="4813256" y="2266583"/>
              <a:ext cx="595035" cy="584775"/>
            </a:xfrm>
            <a:prstGeom prst="rect">
              <a:avLst/>
            </a:prstGeom>
            <a:noFill/>
          </p:spPr>
          <p:txBody>
            <a:bodyPr wrap="none" rtlCol="0">
              <a:spAutoFit/>
            </a:bodyPr>
            <a:lstStyle/>
            <a:p>
              <a:r>
                <a:rPr lang="en-CA" sz="3200" dirty="0">
                  <a:solidFill>
                    <a:srgbClr val="000000"/>
                  </a:solidFill>
                </a:rPr>
                <a:t>…</a:t>
              </a:r>
            </a:p>
          </p:txBody>
        </p:sp>
      </p:grpSp>
    </p:spTree>
    <p:extLst>
      <p:ext uri="{BB962C8B-B14F-4D97-AF65-F5344CB8AC3E}">
        <p14:creationId xmlns:p14="http://schemas.microsoft.com/office/powerpoint/2010/main" val="80397798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p:cNvSpPr/>
          <p:nvPr/>
        </p:nvSpPr>
        <p:spPr>
          <a:xfrm>
            <a:off x="4529066" y="2495551"/>
            <a:ext cx="2390456" cy="504126"/>
          </a:xfrm>
          <a:prstGeom prst="rect">
            <a:avLst/>
          </a:prstGeom>
          <a:solidFill>
            <a:srgbClr val="B7B7FF"/>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ext4 journal</a:t>
            </a:r>
            <a:endParaRPr lang="zh-TW" altLang="en-US" sz="1200" dirty="0">
              <a:solidFill>
                <a:srgbClr val="000000"/>
              </a:solidFill>
            </a:endParaRPr>
          </a:p>
        </p:txBody>
      </p:sp>
      <p:sp>
        <p:nvSpPr>
          <p:cNvPr id="2" name="Title 1"/>
          <p:cNvSpPr>
            <a:spLocks noGrp="1"/>
          </p:cNvSpPr>
          <p:nvPr>
            <p:ph type="title"/>
          </p:nvPr>
        </p:nvSpPr>
        <p:spPr/>
        <p:txBody>
          <a:bodyPr/>
          <a:lstStyle/>
          <a:p>
            <a:r>
              <a:rPr lang="en-CA" smtClean="0"/>
              <a:t>File Address Space</a:t>
            </a:r>
            <a:endParaRPr lang="en-CA" dirty="0"/>
          </a:p>
        </p:txBody>
      </p:sp>
      <p:sp>
        <p:nvSpPr>
          <p:cNvPr id="3" name="Content Placeholder 2"/>
          <p:cNvSpPr>
            <a:spLocks noGrp="1"/>
          </p:cNvSpPr>
          <p:nvPr>
            <p:ph idx="1"/>
          </p:nvPr>
        </p:nvSpPr>
        <p:spPr>
          <a:xfrm>
            <a:off x="152400" y="857250"/>
            <a:ext cx="8839200" cy="1603692"/>
          </a:xfrm>
        </p:spPr>
        <p:txBody>
          <a:bodyPr/>
          <a:lstStyle/>
          <a:p>
            <a:r>
              <a:rPr lang="en-CA" dirty="0" smtClean="0"/>
              <a:t>File address is an index into the </a:t>
            </a:r>
            <a:r>
              <a:rPr lang="en-CA" dirty="0" err="1" smtClean="0"/>
              <a:t>inode</a:t>
            </a:r>
            <a:r>
              <a:rPr lang="en-CA" dirty="0" smtClean="0"/>
              <a:t> table for a file</a:t>
            </a:r>
          </a:p>
          <a:p>
            <a:pPr lvl="1"/>
            <a:r>
              <a:rPr lang="en-CA" sz="2000" dirty="0" smtClean="0"/>
              <a:t>E.g. Ext4 journal is stored as a regular file  </a:t>
            </a:r>
          </a:p>
          <a:p>
            <a:pPr lvl="1"/>
            <a:r>
              <a:rPr lang="en-CA" sz="2000" dirty="0" smtClean="0"/>
              <a:t>Regular file may be physically discontiguous</a:t>
            </a:r>
          </a:p>
          <a:p>
            <a:pPr lvl="1"/>
            <a:r>
              <a:rPr lang="en-CA" sz="2000" dirty="0" smtClean="0"/>
              <a:t>Requires mapping logical blocks of the file to their physical locations</a:t>
            </a:r>
          </a:p>
          <a:p>
            <a:endParaRPr lang="en-CA" dirty="0"/>
          </a:p>
        </p:txBody>
      </p:sp>
      <p:sp>
        <p:nvSpPr>
          <p:cNvPr id="61" name="Rectangle 60"/>
          <p:cNvSpPr/>
          <p:nvPr/>
        </p:nvSpPr>
        <p:spPr>
          <a:xfrm>
            <a:off x="4828677" y="4148884"/>
            <a:ext cx="2807992" cy="33421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 on physical disk</a:t>
            </a:r>
          </a:p>
        </p:txBody>
      </p:sp>
      <p:cxnSp>
        <p:nvCxnSpPr>
          <p:cNvPr id="70" name="Straight Connector 69"/>
          <p:cNvCxnSpPr/>
          <p:nvPr/>
        </p:nvCxnSpPr>
        <p:spPr>
          <a:xfrm>
            <a:off x="5448476" y="3014250"/>
            <a:ext cx="573059" cy="57304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78" name="Rectangle 77"/>
          <p:cNvSpPr/>
          <p:nvPr/>
        </p:nvSpPr>
        <p:spPr>
          <a:xfrm>
            <a:off x="4529066" y="3545798"/>
            <a:ext cx="894843"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cxnSp>
        <p:nvCxnSpPr>
          <p:cNvPr id="90" name="Straight Connector 89"/>
          <p:cNvCxnSpPr/>
          <p:nvPr/>
        </p:nvCxnSpPr>
        <p:spPr>
          <a:xfrm>
            <a:off x="5885081" y="3006658"/>
            <a:ext cx="1030222" cy="545370"/>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a:off x="1414337" y="2952750"/>
            <a:ext cx="0" cy="324000"/>
          </a:xfrm>
          <a:prstGeom prst="straightConnector1">
            <a:avLst/>
          </a:prstGeom>
          <a:ln w="508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979779" y="2495551"/>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cxnSp>
        <p:nvCxnSpPr>
          <p:cNvPr id="37" name="Straight Arrow Connector 36"/>
          <p:cNvCxnSpPr>
            <a:stCxn id="35" idx="3"/>
            <a:endCxn id="36" idx="1"/>
          </p:cNvCxnSpPr>
          <p:nvPr/>
        </p:nvCxnSpPr>
        <p:spPr>
          <a:xfrm>
            <a:off x="1807191" y="2747614"/>
            <a:ext cx="2721875" cy="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979778" y="3287152"/>
            <a:ext cx="3256804"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9" name="Rectangle 38"/>
          <p:cNvSpPr/>
          <p:nvPr/>
        </p:nvSpPr>
        <p:spPr>
          <a:xfrm>
            <a:off x="1042565" y="3410380"/>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40" name="Straight Arrow Connector 96"/>
          <p:cNvCxnSpPr/>
          <p:nvPr/>
        </p:nvCxnSpPr>
        <p:spPr>
          <a:xfrm rot="5400000">
            <a:off x="1924817" y="3506125"/>
            <a:ext cx="46800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96"/>
          <p:cNvCxnSpPr/>
          <p:nvPr/>
        </p:nvCxnSpPr>
        <p:spPr>
          <a:xfrm rot="5400000">
            <a:off x="2559766" y="3885220"/>
            <a:ext cx="468000"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96"/>
          <p:cNvCxnSpPr/>
          <p:nvPr/>
        </p:nvCxnSpPr>
        <p:spPr>
          <a:xfrm>
            <a:off x="3375953" y="4008750"/>
            <a:ext cx="0" cy="468000"/>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634404" y="3257550"/>
            <a:ext cx="595035" cy="584775"/>
          </a:xfrm>
          <a:prstGeom prst="rect">
            <a:avLst/>
          </a:prstGeom>
          <a:noFill/>
        </p:spPr>
        <p:txBody>
          <a:bodyPr wrap="none" rtlCol="0">
            <a:spAutoFit/>
          </a:bodyPr>
          <a:lstStyle/>
          <a:p>
            <a:r>
              <a:rPr lang="en-CA" sz="3200" dirty="0">
                <a:solidFill>
                  <a:srgbClr val="000000"/>
                </a:solidFill>
              </a:rPr>
              <a:t>…</a:t>
            </a:r>
          </a:p>
        </p:txBody>
      </p:sp>
      <p:grpSp>
        <p:nvGrpSpPr>
          <p:cNvPr id="49" name="Group 48"/>
          <p:cNvGrpSpPr/>
          <p:nvPr/>
        </p:nvGrpSpPr>
        <p:grpSpPr>
          <a:xfrm>
            <a:off x="2618882" y="3344189"/>
            <a:ext cx="1064828" cy="676637"/>
            <a:chOff x="2529818" y="2415923"/>
            <a:chExt cx="1419770" cy="902183"/>
          </a:xfrm>
        </p:grpSpPr>
        <p:sp>
          <p:nvSpPr>
            <p:cNvPr id="50" name="Rounded Rectangle 49"/>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1" name="Rectangle 50"/>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4" name="Rectangle 53"/>
          <p:cNvSpPr/>
          <p:nvPr/>
        </p:nvSpPr>
        <p:spPr>
          <a:xfrm>
            <a:off x="339849" y="2968858"/>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alpha val="30000"/>
                  </a:srgbClr>
                </a:solidFill>
              </a:rPr>
              <a:t>block </a:t>
            </a:r>
            <a:r>
              <a:rPr lang="en-US" sz="1200" i="1" dirty="0" err="1">
                <a:solidFill>
                  <a:srgbClr val="000000">
                    <a:alpha val="30000"/>
                  </a:srgbClr>
                </a:solidFill>
              </a:rPr>
              <a:t>addr</a:t>
            </a:r>
            <a:endParaRPr lang="en-US" sz="1200" i="1" dirty="0">
              <a:solidFill>
                <a:srgbClr val="000000">
                  <a:alpha val="30000"/>
                </a:srgbClr>
              </a:solidFill>
            </a:endParaRPr>
          </a:p>
        </p:txBody>
      </p:sp>
      <p:sp>
        <p:nvSpPr>
          <p:cNvPr id="55" name="Rectangle 54"/>
          <p:cNvSpPr/>
          <p:nvPr/>
        </p:nvSpPr>
        <p:spPr>
          <a:xfrm>
            <a:off x="345409" y="4184966"/>
            <a:ext cx="1048076" cy="29178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i="1" dirty="0">
                <a:solidFill>
                  <a:srgbClr val="000000"/>
                </a:solidFill>
              </a:rPr>
              <a:t>block </a:t>
            </a:r>
            <a:r>
              <a:rPr lang="en-US" sz="1200" i="1" dirty="0" err="1">
                <a:solidFill>
                  <a:srgbClr val="000000"/>
                </a:solidFill>
              </a:rPr>
              <a:t>addr</a:t>
            </a:r>
            <a:endParaRPr lang="en-US" sz="1200" i="1" dirty="0">
              <a:solidFill>
                <a:srgbClr val="000000"/>
              </a:solidFill>
            </a:endParaRPr>
          </a:p>
        </p:txBody>
      </p:sp>
      <p:sp>
        <p:nvSpPr>
          <p:cNvPr id="5" name="Rectangle 4"/>
          <p:cNvSpPr/>
          <p:nvPr/>
        </p:nvSpPr>
        <p:spPr>
          <a:xfrm>
            <a:off x="457199" y="3286349"/>
            <a:ext cx="3851329" cy="1190402"/>
          </a:xfrm>
          <a:prstGeom prst="rect">
            <a:avLst/>
          </a:prstGeom>
          <a:solidFill>
            <a:srgbClr val="FFFF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p>
        </p:txBody>
      </p:sp>
      <p:sp>
        <p:nvSpPr>
          <p:cNvPr id="71" name="Rectangle 70"/>
          <p:cNvSpPr/>
          <p:nvPr/>
        </p:nvSpPr>
        <p:spPr>
          <a:xfrm>
            <a:off x="6919522" y="3545798"/>
            <a:ext cx="1082038"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sp>
        <p:nvSpPr>
          <p:cNvPr id="72" name="Rectangle 71"/>
          <p:cNvSpPr/>
          <p:nvPr/>
        </p:nvSpPr>
        <p:spPr>
          <a:xfrm>
            <a:off x="6013564" y="3545798"/>
            <a:ext cx="391386" cy="510217"/>
          </a:xfrm>
          <a:prstGeom prst="rect">
            <a:avLst/>
          </a:prstGeom>
          <a:solidFill>
            <a:srgbClr val="B7B7FF"/>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cxnSp>
        <p:nvCxnSpPr>
          <p:cNvPr id="75" name="Straight Connector 74"/>
          <p:cNvCxnSpPr/>
          <p:nvPr/>
        </p:nvCxnSpPr>
        <p:spPr>
          <a:xfrm>
            <a:off x="5841382" y="2992819"/>
            <a:ext cx="573059" cy="57304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6943320" y="3006658"/>
            <a:ext cx="1030222" cy="545370"/>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flipH="1">
            <a:off x="4526254" y="2986214"/>
            <a:ext cx="2780" cy="601085"/>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flipH="1">
            <a:off x="5419193" y="2998312"/>
            <a:ext cx="2780" cy="601085"/>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88" name="Rectangle 87"/>
          <p:cNvSpPr/>
          <p:nvPr/>
        </p:nvSpPr>
        <p:spPr>
          <a:xfrm>
            <a:off x="4546278" y="3544477"/>
            <a:ext cx="3455282" cy="504126"/>
          </a:xfrm>
          <a:prstGeom prst="rect">
            <a:avLst/>
          </a:prstGeom>
          <a:noFill/>
          <a:ln w="1905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cxnSp>
        <p:nvCxnSpPr>
          <p:cNvPr id="91" name="Straight Connector 90"/>
          <p:cNvCxnSpPr/>
          <p:nvPr/>
        </p:nvCxnSpPr>
        <p:spPr>
          <a:xfrm>
            <a:off x="5436063" y="2495551"/>
            <a:ext cx="0" cy="518699"/>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5855339" y="2495550"/>
            <a:ext cx="0" cy="497807"/>
          </a:xfrm>
          <a:prstGeom prst="line">
            <a:avLst/>
          </a:prstGeom>
          <a:ln w="15875">
            <a:solidFill>
              <a:srgbClr val="000000"/>
            </a:solidFill>
            <a:prstDash val="sysDash"/>
          </a:ln>
        </p:spPr>
        <p:style>
          <a:lnRef idx="1">
            <a:schemeClr val="accent1"/>
          </a:lnRef>
          <a:fillRef idx="0">
            <a:schemeClr val="accent1"/>
          </a:fillRef>
          <a:effectRef idx="0">
            <a:schemeClr val="accent1"/>
          </a:effectRef>
          <a:fontRef idx="minor">
            <a:schemeClr val="tx1"/>
          </a:fontRef>
        </p:style>
      </p:cxnSp>
      <p:sp>
        <p:nvSpPr>
          <p:cNvPr id="42" name="TextBox 41"/>
          <p:cNvSpPr txBox="1"/>
          <p:nvPr/>
        </p:nvSpPr>
        <p:spPr>
          <a:xfrm>
            <a:off x="2782938" y="2470541"/>
            <a:ext cx="729687" cy="276999"/>
          </a:xfrm>
          <a:prstGeom prst="rect">
            <a:avLst/>
          </a:prstGeom>
          <a:noFill/>
        </p:spPr>
        <p:txBody>
          <a:bodyPr wrap="none" rtlCol="0">
            <a:spAutoFit/>
          </a:bodyPr>
          <a:lstStyle/>
          <a:p>
            <a:r>
              <a:rPr lang="en-CA" sz="1200" i="1" dirty="0">
                <a:solidFill>
                  <a:srgbClr val="000000"/>
                </a:solidFill>
              </a:rPr>
              <a:t>file </a:t>
            </a:r>
            <a:r>
              <a:rPr lang="en-CA" sz="1200" i="1" dirty="0" err="1" smtClean="0">
                <a:solidFill>
                  <a:srgbClr val="000000"/>
                </a:solidFill>
              </a:rPr>
              <a:t>addr</a:t>
            </a:r>
            <a:endParaRPr lang="en-CA" sz="1200" i="1" dirty="0">
              <a:solidFill>
                <a:srgbClr val="000000"/>
              </a:solidFill>
            </a:endParaRPr>
          </a:p>
        </p:txBody>
      </p:sp>
    </p:spTree>
    <p:extLst>
      <p:ext uri="{BB962C8B-B14F-4D97-AF65-F5344CB8AC3E}">
        <p14:creationId xmlns:p14="http://schemas.microsoft.com/office/powerpoint/2010/main" val="220317574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sp>
        <p:nvSpPr>
          <p:cNvPr id="6" name="Rectangle 5"/>
          <p:cNvSpPr/>
          <p:nvPr/>
        </p:nvSpPr>
        <p:spPr>
          <a:xfrm>
            <a:off x="712518" y="2270824"/>
            <a:ext cx="4981216" cy="2062103"/>
          </a:xfrm>
          <a:prstGeom prst="rect">
            <a:avLst/>
          </a:prstGeom>
        </p:spPr>
        <p:txBody>
          <a:bodyPr wrap="square">
            <a:spAutoFit/>
          </a:bodyPr>
          <a:lstStyle/>
          <a:p>
            <a:r>
              <a:rPr lang="en-CA" b="1" dirty="0">
                <a:solidFill>
                  <a:srgbClr val="000000"/>
                </a:solidFill>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(location=1024) ext4_super_block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latin typeface="Courier New" panose="02070309020205020404" pitchFamily="49" charset="0"/>
                <a:cs typeface="Courier New" panose="02070309020205020404" pitchFamily="49" charset="0"/>
              </a:rPr>
              <a:t>POINTER</a:t>
            </a:r>
            <a:r>
              <a:rPr lang="fr-FR" dirty="0" smtClean="0">
                <a:solidFill>
                  <a:srgbClr val="000000"/>
                </a:solidFill>
                <a:latin typeface="Courier New" panose="02070309020205020404" pitchFamily="49" charset="0"/>
                <a:cs typeface="Courier New" panose="02070309020205020404" pitchFamily="49" charset="0"/>
              </a:rPr>
              <a:t>(</a:t>
            </a:r>
            <a:r>
              <a:rPr lang="fr-FR" dirty="0" err="1" smtClean="0">
                <a:solidFill>
                  <a:srgbClr val="000000"/>
                </a:solidFill>
                <a:latin typeface="Courier New" panose="02070309020205020404" pitchFamily="49" charset="0"/>
                <a:cs typeface="Courier New" panose="02070309020205020404" pitchFamily="49" charset="0"/>
              </a:rPr>
              <a:t>aspc</a:t>
            </a:r>
            <a:r>
              <a:rPr lang="fr-FR" dirty="0" smtClean="0">
                <a:solidFill>
                  <a:srgbClr val="000000"/>
                </a:solidFill>
                <a:latin typeface="Courier New" panose="02070309020205020404" pitchFamily="49" charset="0"/>
                <a:cs typeface="Courier New" panose="02070309020205020404" pitchFamily="49" charset="0"/>
              </a:rPr>
              <a:t>=file</a:t>
            </a:r>
            <a:r>
              <a:rPr lang="fr-FR" dirty="0">
                <a:solidFill>
                  <a:srgbClr val="000000"/>
                </a:solidFill>
                <a:latin typeface="Courier New" panose="02070309020205020404" pitchFamily="49" charset="0"/>
                <a:cs typeface="Courier New" panose="02070309020205020404" pitchFamily="49" charset="0"/>
              </a:rPr>
              <a:t>, </a:t>
            </a:r>
            <a:r>
              <a:rPr lang="fr-FR" dirty="0" smtClean="0">
                <a:solidFill>
                  <a:srgbClr val="000000"/>
                </a:solidFill>
                <a:latin typeface="Courier New" panose="02070309020205020404" pitchFamily="49" charset="0"/>
                <a:cs typeface="Courier New" panose="02070309020205020404" pitchFamily="49" charset="0"/>
              </a:rPr>
              <a:t/>
            </a:r>
            <a:br>
              <a:rPr lang="fr-FR" dirty="0" smtClean="0">
                <a:solidFill>
                  <a:srgbClr val="000000"/>
                </a:solidFill>
                <a:latin typeface="Courier New" panose="02070309020205020404" pitchFamily="49" charset="0"/>
                <a:cs typeface="Courier New" panose="02070309020205020404" pitchFamily="49" charset="0"/>
              </a:rPr>
            </a:br>
            <a:r>
              <a:rPr lang="fr-FR" dirty="0" smtClean="0">
                <a:solidFill>
                  <a:srgbClr val="000000"/>
                </a:solidFill>
                <a:latin typeface="Courier New" panose="02070309020205020404" pitchFamily="49" charset="0"/>
                <a:cs typeface="Courier New" panose="02070309020205020404" pitchFamily="49" charset="0"/>
              </a:rPr>
              <a:t>          type=ext4_journal</a:t>
            </a:r>
            <a:r>
              <a:rPr lang="fr-FR" dirty="0">
                <a:solidFill>
                  <a:srgbClr val="000000"/>
                </a:solidFill>
                <a:latin typeface="Courier New" panose="02070309020205020404" pitchFamily="49" charset="0"/>
                <a:cs typeface="Courier New" panose="02070309020205020404" pitchFamily="49" charset="0"/>
              </a:rPr>
              <a:t>)</a:t>
            </a:r>
          </a:p>
          <a:p>
            <a:r>
              <a:rPr lang="fr-FR" dirty="0">
                <a:solidFill>
                  <a:srgbClr val="000000"/>
                </a:solidFill>
                <a:latin typeface="Courier New" panose="02070309020205020404" pitchFamily="49" charset="0"/>
                <a:cs typeface="Courier New" panose="02070309020205020404" pitchFamily="49" charset="0"/>
              </a:rPr>
              <a:t>  __le32 </a:t>
            </a:r>
            <a:r>
              <a:rPr lang="fr-FR" dirty="0" err="1">
                <a:solidFill>
                  <a:srgbClr val="000000"/>
                </a:solidFill>
                <a:latin typeface="Courier New" panose="02070309020205020404" pitchFamily="49" charset="0"/>
                <a:cs typeface="Courier New" panose="02070309020205020404" pitchFamily="49" charset="0"/>
              </a:rPr>
              <a:t>s_journal_inum</a:t>
            </a:r>
            <a:r>
              <a:rPr lang="fr-FR" dirty="0">
                <a:solidFill>
                  <a:srgbClr val="000000"/>
                </a:solidFill>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Tree>
    <p:extLst>
      <p:ext uri="{BB962C8B-B14F-4D97-AF65-F5344CB8AC3E}">
        <p14:creationId xmlns:p14="http://schemas.microsoft.com/office/powerpoint/2010/main" val="282891914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sp>
        <p:nvSpPr>
          <p:cNvPr id="6" name="Rectangle 5"/>
          <p:cNvSpPr/>
          <p:nvPr/>
        </p:nvSpPr>
        <p:spPr>
          <a:xfrm>
            <a:off x="712518" y="2270824"/>
            <a:ext cx="4981216" cy="2062103"/>
          </a:xfrm>
          <a:prstGeom prst="rect">
            <a:avLst/>
          </a:prstGeom>
          <a:effectLst>
            <a:glow rad="228600">
              <a:schemeClr val="accent2">
                <a:satMod val="175000"/>
                <a:alpha val="40000"/>
              </a:schemeClr>
            </a:glow>
          </a:effectLst>
        </p:spPr>
        <p:txBody>
          <a:bodyPr wrap="square">
            <a:spAutoFit/>
          </a:bodyPr>
          <a:lstStyle/>
          <a:p>
            <a:r>
              <a:rPr lang="en-CA"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location=1024</a:t>
            </a:r>
            <a:r>
              <a:rPr lang="en-CA" dirty="0">
                <a:solidFill>
                  <a:srgbClr val="000000"/>
                </a:solidFill>
                <a:latin typeface="Courier New" panose="02070309020205020404" pitchFamily="49" charset="0"/>
                <a:cs typeface="Courier New" panose="02070309020205020404" pitchFamily="49" charset="0"/>
              </a:rPr>
              <a:t>) </a:t>
            </a:r>
            <a:r>
              <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ext4_super_block</a:t>
            </a:r>
            <a:r>
              <a:rPr lang="en-CA" dirty="0">
                <a:solidFill>
                  <a:srgbClr val="000000"/>
                </a:solidFill>
                <a:latin typeface="Courier New" panose="02070309020205020404" pitchFamily="49" charset="0"/>
                <a:cs typeface="Courier New" panose="02070309020205020404" pitchFamily="49" charset="0"/>
              </a:rPr>
              <a:t>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latin typeface="Courier New" panose="02070309020205020404" pitchFamily="49" charset="0"/>
                <a:cs typeface="Courier New" panose="02070309020205020404" pitchFamily="49" charset="0"/>
              </a:rPr>
              <a:t>POINTER</a:t>
            </a:r>
            <a:r>
              <a:rPr lang="fr-FR" dirty="0" smtClean="0">
                <a:solidFill>
                  <a:srgbClr val="000000"/>
                </a:solidFill>
                <a:latin typeface="Courier New" panose="02070309020205020404" pitchFamily="49" charset="0"/>
                <a:cs typeface="Courier New" panose="02070309020205020404" pitchFamily="49" charset="0"/>
              </a:rPr>
              <a:t>(</a:t>
            </a:r>
            <a:r>
              <a:rPr lang="fr-FR" dirty="0" err="1" smtClean="0">
                <a:solidFill>
                  <a:srgbClr val="000000"/>
                </a:solidFill>
                <a:latin typeface="Courier New" panose="02070309020205020404" pitchFamily="49" charset="0"/>
                <a:cs typeface="Courier New" panose="02070309020205020404" pitchFamily="49" charset="0"/>
              </a:rPr>
              <a:t>aspc</a:t>
            </a:r>
            <a:r>
              <a:rPr lang="fr-FR" dirty="0" smtClean="0">
                <a:solidFill>
                  <a:srgbClr val="000000"/>
                </a:solidFill>
                <a:latin typeface="Courier New" panose="02070309020205020404" pitchFamily="49" charset="0"/>
                <a:cs typeface="Courier New" panose="02070309020205020404" pitchFamily="49" charset="0"/>
              </a:rPr>
              <a:t>=file</a:t>
            </a:r>
            <a:r>
              <a:rPr lang="fr-FR" dirty="0">
                <a:solidFill>
                  <a:srgbClr val="000000"/>
                </a:solidFill>
                <a:latin typeface="Courier New" panose="02070309020205020404" pitchFamily="49" charset="0"/>
                <a:cs typeface="Courier New" panose="02070309020205020404" pitchFamily="49" charset="0"/>
              </a:rPr>
              <a:t>, </a:t>
            </a:r>
            <a:r>
              <a:rPr lang="fr-FR" dirty="0" smtClean="0">
                <a:solidFill>
                  <a:srgbClr val="000000"/>
                </a:solidFill>
                <a:latin typeface="Courier New" panose="02070309020205020404" pitchFamily="49" charset="0"/>
                <a:cs typeface="Courier New" panose="02070309020205020404" pitchFamily="49" charset="0"/>
              </a:rPr>
              <a:t/>
            </a:r>
            <a:br>
              <a:rPr lang="fr-FR" dirty="0" smtClean="0">
                <a:solidFill>
                  <a:srgbClr val="000000"/>
                </a:solidFill>
                <a:latin typeface="Courier New" panose="02070309020205020404" pitchFamily="49" charset="0"/>
                <a:cs typeface="Courier New" panose="02070309020205020404" pitchFamily="49" charset="0"/>
              </a:rPr>
            </a:br>
            <a:r>
              <a:rPr lang="fr-FR" dirty="0" smtClean="0">
                <a:solidFill>
                  <a:srgbClr val="000000"/>
                </a:solidFill>
                <a:latin typeface="Courier New" panose="02070309020205020404" pitchFamily="49" charset="0"/>
                <a:cs typeface="Courier New" panose="02070309020205020404" pitchFamily="49" charset="0"/>
              </a:rPr>
              <a:t>          type=ext4_journal</a:t>
            </a:r>
            <a:r>
              <a:rPr lang="fr-FR" dirty="0">
                <a:solidFill>
                  <a:srgbClr val="000000"/>
                </a:solidFill>
                <a:latin typeface="Courier New" panose="02070309020205020404" pitchFamily="49" charset="0"/>
                <a:cs typeface="Courier New" panose="02070309020205020404" pitchFamily="49" charset="0"/>
              </a:rPr>
              <a:t>)</a:t>
            </a:r>
          </a:p>
          <a:p>
            <a:r>
              <a:rPr lang="fr-FR" dirty="0">
                <a:solidFill>
                  <a:srgbClr val="000000"/>
                </a:solidFill>
                <a:latin typeface="Courier New" panose="02070309020205020404" pitchFamily="49" charset="0"/>
                <a:cs typeface="Courier New" panose="02070309020205020404" pitchFamily="49" charset="0"/>
              </a:rPr>
              <a:t>  __le32 </a:t>
            </a:r>
            <a:r>
              <a:rPr lang="fr-FR" dirty="0" err="1">
                <a:solidFill>
                  <a:srgbClr val="000000"/>
                </a:solidFill>
                <a:latin typeface="Courier New" panose="02070309020205020404" pitchFamily="49" charset="0"/>
                <a:cs typeface="Courier New" panose="02070309020205020404" pitchFamily="49" charset="0"/>
              </a:rPr>
              <a:t>s_journal_inum</a:t>
            </a:r>
            <a:r>
              <a:rPr lang="fr-FR" dirty="0">
                <a:solidFill>
                  <a:srgbClr val="000000"/>
                </a:solidFill>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Tree>
    <p:extLst>
      <p:ext uri="{BB962C8B-B14F-4D97-AF65-F5344CB8AC3E}">
        <p14:creationId xmlns:p14="http://schemas.microsoft.com/office/powerpoint/2010/main" val="241245704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Super Block</a:t>
            </a:r>
            <a:endParaRPr lang="en-CA" dirty="0"/>
          </a:p>
        </p:txBody>
      </p:sp>
      <p:sp>
        <p:nvSpPr>
          <p:cNvPr id="3" name="Content Placeholder 2"/>
          <p:cNvSpPr>
            <a:spLocks noGrp="1"/>
          </p:cNvSpPr>
          <p:nvPr>
            <p:ph idx="1"/>
          </p:nvPr>
        </p:nvSpPr>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a:t>
            </a:r>
            <a:r>
              <a:rPr lang="en-CA" dirty="0" smtClean="0"/>
              <a:t> specifies address of super block in byte offset</a:t>
            </a:r>
            <a:endParaRPr lang="en-CA" dirty="0"/>
          </a:p>
        </p:txBody>
      </p:sp>
      <p:grpSp>
        <p:nvGrpSpPr>
          <p:cNvPr id="8" name="Group 7"/>
          <p:cNvGrpSpPr/>
          <p:nvPr/>
        </p:nvGrpSpPr>
        <p:grpSpPr>
          <a:xfrm>
            <a:off x="4800600" y="2984144"/>
            <a:ext cx="3548767" cy="635461"/>
            <a:chOff x="3891368" y="3480724"/>
            <a:chExt cx="3548767" cy="635461"/>
          </a:xfrm>
        </p:grpSpPr>
        <p:sp>
          <p:nvSpPr>
            <p:cNvPr id="13" name="Rectangle 12"/>
            <p:cNvSpPr/>
            <p:nvPr/>
          </p:nvSpPr>
          <p:spPr>
            <a:xfrm>
              <a:off x="3891368" y="3480724"/>
              <a:ext cx="754802"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p>
          </p:txBody>
        </p:sp>
        <p:sp>
          <p:nvSpPr>
            <p:cNvPr id="14" name="Rectangle 13"/>
            <p:cNvSpPr/>
            <p:nvPr/>
          </p:nvSpPr>
          <p:spPr>
            <a:xfrm>
              <a:off x="3952177" y="3529601"/>
              <a:ext cx="633185" cy="40014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rgbClr val="000000"/>
                  </a:solidFill>
                </a:rPr>
                <a:t>super </a:t>
              </a:r>
              <a:r>
                <a:rPr lang="en-US" sz="1200" dirty="0">
                  <a:solidFill>
                    <a:srgbClr val="000000"/>
                  </a:solidFill>
                </a:rPr>
                <a:t>block</a:t>
              </a:r>
            </a:p>
          </p:txBody>
        </p:sp>
        <p:sp>
          <p:nvSpPr>
            <p:cNvPr id="16" name="Rectangle 15"/>
            <p:cNvSpPr/>
            <p:nvPr/>
          </p:nvSpPr>
          <p:spPr>
            <a:xfrm>
              <a:off x="5486746" y="3480724"/>
              <a:ext cx="1953389" cy="635461"/>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chemeClr val="bg1"/>
                </a:solidFill>
              </a:endParaRPr>
            </a:p>
          </p:txBody>
        </p:sp>
        <p:sp>
          <p:nvSpPr>
            <p:cNvPr id="17" name="Rectangle 16"/>
            <p:cNvSpPr/>
            <p:nvPr/>
          </p:nvSpPr>
          <p:spPr>
            <a:xfrm>
              <a:off x="5540299" y="3529601"/>
              <a:ext cx="1040127" cy="2468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ext4 journal</a:t>
              </a:r>
            </a:p>
          </p:txBody>
        </p:sp>
        <p:cxnSp>
          <p:nvCxnSpPr>
            <p:cNvPr id="18" name="Straight Arrow Connector 17"/>
            <p:cNvCxnSpPr>
              <a:stCxn id="13" idx="3"/>
              <a:endCxn id="16" idx="1"/>
            </p:cNvCxnSpPr>
            <p:nvPr/>
          </p:nvCxnSpPr>
          <p:spPr>
            <a:xfrm>
              <a:off x="4646170" y="3798455"/>
              <a:ext cx="840574"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4664577" y="3480724"/>
              <a:ext cx="767261" cy="276999"/>
            </a:xfrm>
            <a:prstGeom prst="rect">
              <a:avLst/>
            </a:prstGeom>
            <a:noFill/>
          </p:spPr>
          <p:txBody>
            <a:bodyPr wrap="none" rtlCol="0">
              <a:spAutoFit/>
            </a:bodyPr>
            <a:lstStyle/>
            <a:p>
              <a:r>
                <a:rPr lang="en-CA" sz="1200" i="1" dirty="0">
                  <a:solidFill>
                    <a:srgbClr val="000000"/>
                  </a:solidFill>
                </a:rPr>
                <a:t>file </a:t>
              </a:r>
              <a:r>
                <a:rPr lang="en-CA" sz="1200" i="1" dirty="0" err="1">
                  <a:solidFill>
                    <a:srgbClr val="000000"/>
                  </a:solidFill>
                </a:rPr>
                <a:t>addr</a:t>
              </a:r>
              <a:r>
                <a:rPr lang="en-CA" sz="1200" i="1" dirty="0">
                  <a:solidFill>
                    <a:srgbClr val="000000"/>
                  </a:solidFill>
                </a:rPr>
                <a:t>.</a:t>
              </a:r>
            </a:p>
          </p:txBody>
        </p:sp>
      </p:grpSp>
      <p:sp>
        <p:nvSpPr>
          <p:cNvPr id="12" name="Rectangle 11"/>
          <p:cNvSpPr/>
          <p:nvPr/>
        </p:nvSpPr>
        <p:spPr>
          <a:xfrm>
            <a:off x="712518" y="2270824"/>
            <a:ext cx="4981216" cy="2062103"/>
          </a:xfrm>
          <a:prstGeom prst="rect">
            <a:avLst/>
          </a:prstGeom>
        </p:spPr>
        <p:txBody>
          <a:bodyPr wrap="square">
            <a:spAutoFit/>
          </a:bodyPr>
          <a:lstStyle/>
          <a:p>
            <a:r>
              <a:rPr lang="en-CA" b="1" dirty="0">
                <a:solidFill>
                  <a:srgbClr val="000000"/>
                </a:solidFill>
                <a:latin typeface="Courier New" panose="02070309020205020404" pitchFamily="49" charset="0"/>
                <a:cs typeface="Courier New" panose="02070309020205020404" pitchFamily="49" charset="0"/>
              </a:rPr>
              <a:t>FSSUPER</a:t>
            </a:r>
            <a:r>
              <a:rPr lang="en-CA" dirty="0">
                <a:solidFill>
                  <a:srgbClr val="000000"/>
                </a:solidFill>
                <a:latin typeface="Courier New" panose="02070309020205020404" pitchFamily="49" charset="0"/>
                <a:cs typeface="Courier New" panose="02070309020205020404" pitchFamily="49" charset="0"/>
              </a:rPr>
              <a:t>(location=1024) ext4_super_block {</a:t>
            </a:r>
          </a:p>
          <a:p>
            <a:r>
              <a:rPr lang="en-CA" dirty="0">
                <a:solidFill>
                  <a:srgbClr val="000000"/>
                </a:solidFill>
                <a:latin typeface="Courier New" panose="02070309020205020404" pitchFamily="49" charset="0"/>
                <a:cs typeface="Courier New" panose="02070309020205020404" pitchFamily="49" charset="0"/>
              </a:rPr>
              <a:t>  __le32 </a:t>
            </a:r>
            <a:r>
              <a:rPr lang="en-CA" dirty="0" err="1">
                <a:solidFill>
                  <a:srgbClr val="000000"/>
                </a:solidFill>
                <a:latin typeface="Courier New" panose="02070309020205020404" pitchFamily="49" charset="0"/>
                <a:cs typeface="Courier New" panose="02070309020205020404" pitchFamily="49" charset="0"/>
              </a:rPr>
              <a:t>s_log_block_size</a:t>
            </a:r>
            <a:r>
              <a:rPr lang="en-CA" dirty="0">
                <a:solidFill>
                  <a:srgbClr val="000000"/>
                </a:solidFill>
                <a:latin typeface="Courier New" panose="02070309020205020404" pitchFamily="49" charset="0"/>
                <a:cs typeface="Courier New" panose="02070309020205020404" pitchFamily="49" charset="0"/>
              </a:rPr>
              <a:t>;</a:t>
            </a:r>
          </a:p>
          <a:p>
            <a:r>
              <a:rPr lang="en-CA" dirty="0">
                <a:solidFill>
                  <a:srgbClr val="000000"/>
                </a:solidFill>
                <a:latin typeface="Courier New" panose="02070309020205020404" pitchFamily="49" charset="0"/>
                <a:cs typeface="Courier New" panose="02070309020205020404" pitchFamily="49" charset="0"/>
              </a:rPr>
              <a:t>  ...</a:t>
            </a:r>
          </a:p>
          <a:p>
            <a:r>
              <a:rPr lang="fr-FR" dirty="0">
                <a:solidFill>
                  <a:srgbClr val="000000"/>
                </a:solidFill>
                <a:latin typeface="Courier New" panose="02070309020205020404" pitchFamily="49" charset="0"/>
                <a:cs typeface="Courier New" panose="02070309020205020404" pitchFamily="49" charset="0"/>
              </a:rPr>
              <a:t>  </a:t>
            </a:r>
            <a:r>
              <a:rPr lang="fr-FR" b="1"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r>
              <a:rPr lang="fr-FR"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=file</a:t>
            </a:r>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r>
            <a:b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br>
            <a:r>
              <a:rPr lang="fr-FR"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type=ext4_journal</a:t>
            </a:r>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__le32 </a:t>
            </a:r>
            <a:r>
              <a:rPr lang="fr-FR"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s_journal_inum</a:t>
            </a:r>
            <a:r>
              <a:rPr lang="fr-FR"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endParaRPr lang="en-CA"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endParaRPr>
          </a:p>
          <a:p>
            <a:r>
              <a:rPr lang="en-CA" dirty="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4322914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smtClean="0"/>
              <a:t>A pointer may point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4145408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smtClean="0"/>
              <a:t>A pointer may point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__le32 </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i_block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747973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smtClean="0"/>
              <a:t>A pointer may point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r>
              <a:rPr lang="en-CA" sz="1500"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dir_block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when=</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&amp; S_IFDIR)</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data_block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5071751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Context-Sensitive Types</a:t>
            </a:r>
            <a:endParaRPr lang="en-CA" dirty="0"/>
          </a:p>
        </p:txBody>
      </p:sp>
      <p:sp>
        <p:nvSpPr>
          <p:cNvPr id="3" name="Content Placeholder 2"/>
          <p:cNvSpPr>
            <a:spLocks noGrp="1"/>
          </p:cNvSpPr>
          <p:nvPr>
            <p:ph idx="1"/>
          </p:nvPr>
        </p:nvSpPr>
        <p:spPr/>
        <p:txBody>
          <a:bodyPr/>
          <a:lstStyle/>
          <a:p>
            <a:r>
              <a:rPr lang="en-CA" dirty="0" smtClean="0"/>
              <a:t>A pointer may point to different types of metadata</a:t>
            </a:r>
          </a:p>
          <a:p>
            <a:pPr lvl="1"/>
            <a:r>
              <a:rPr lang="en-CA" dirty="0" smtClean="0"/>
              <a:t>Pointers in </a:t>
            </a:r>
            <a:r>
              <a:rPr lang="en-CA" dirty="0" err="1" smtClean="0"/>
              <a:t>inode</a:t>
            </a:r>
            <a:r>
              <a:rPr lang="en-CA" dirty="0" smtClean="0"/>
              <a:t> structure can point to directory or data blocks</a:t>
            </a:r>
          </a:p>
          <a:p>
            <a:r>
              <a:rPr lang="en-CA" dirty="0" smtClean="0"/>
              <a:t>Supported by specifying </a:t>
            </a:r>
            <a:r>
              <a:rPr lang="en-CA" i="1" dirty="0" smtClean="0"/>
              <a:t>when</a:t>
            </a:r>
            <a:r>
              <a:rPr lang="en-CA" dirty="0" smtClean="0"/>
              <a:t> condition in pointer annotation</a:t>
            </a:r>
          </a:p>
        </p:txBody>
      </p:sp>
      <p:sp>
        <p:nvSpPr>
          <p:cNvPr id="46" name="Rectangle 45"/>
          <p:cNvSpPr/>
          <p:nvPr/>
        </p:nvSpPr>
        <p:spPr>
          <a:xfrm>
            <a:off x="444719" y="2190750"/>
            <a:ext cx="4723703" cy="2400657"/>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FSSTRUCT</a:t>
            </a:r>
            <a:r>
              <a:rPr lang="en-CA" sz="1500" dirty="0">
                <a:solidFill>
                  <a:srgbClr val="000000"/>
                </a:solidFill>
                <a:latin typeface="Courier New" panose="02070309020205020404" pitchFamily="49" charset="0"/>
                <a:cs typeface="Courier New" panose="02070309020205020404" pitchFamily="49" charset="0"/>
              </a:rPr>
              <a:t>(...) ext4_inode {</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i_mode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latin typeface="Courier New" panose="02070309020205020404" pitchFamily="49" charset="0"/>
                <a:cs typeface="Courier New" panose="02070309020205020404" pitchFamily="49" charset="0"/>
              </a:rPr>
              <a:t>POINTER</a:t>
            </a:r>
            <a:r>
              <a:rPr lang="en-CA" sz="1500" dirty="0" smtClean="0">
                <a:solidFill>
                  <a:srgbClr val="000000"/>
                </a:solidFill>
                <a:latin typeface="Courier New" panose="02070309020205020404" pitchFamily="49" charset="0"/>
                <a:cs typeface="Courier New" panose="02070309020205020404" pitchFamily="49" charset="0"/>
              </a:rPr>
              <a:t>(</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type=</a:t>
            </a:r>
            <a:r>
              <a:rPr lang="en-CA" sz="1500" dirty="0" err="1">
                <a:solidFill>
                  <a:srgbClr val="000000"/>
                </a:solidFill>
                <a:latin typeface="Courier New" panose="02070309020205020404" pitchFamily="49" charset="0"/>
                <a:cs typeface="Courier New" panose="02070309020205020404" pitchFamily="49" charset="0"/>
              </a:rPr>
              <a:t>dir_block</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when=</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&amp; S_IFDIR</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r>
              <a:rPr lang="en-CA" sz="1500"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data_block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when=</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self.i_mode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&amp; S_IFREG)</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i_block</a:t>
            </a:r>
            <a:r>
              <a:rPr lang="en-CA" sz="1500" dirty="0">
                <a:solidFill>
                  <a:srgbClr val="000000"/>
                </a:solidFill>
                <a:latin typeface="Courier New" panose="02070309020205020404" pitchFamily="49" charset="0"/>
                <a:cs typeface="Courier New" panose="02070309020205020404" pitchFamily="49" charset="0"/>
              </a:rPr>
              <a:t>[EXT3_NDIR_BLOCKS];</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a:t>
            </a:r>
          </a:p>
        </p:txBody>
      </p:sp>
      <p:grpSp>
        <p:nvGrpSpPr>
          <p:cNvPr id="5" name="Group 4"/>
          <p:cNvGrpSpPr/>
          <p:nvPr/>
        </p:nvGrpSpPr>
        <p:grpSpPr>
          <a:xfrm>
            <a:off x="5495030" y="2190750"/>
            <a:ext cx="3270352" cy="1771392"/>
            <a:chOff x="3430981" y="4191950"/>
            <a:chExt cx="4360469" cy="2361856"/>
          </a:xfrm>
        </p:grpSpPr>
        <p:sp>
          <p:nvSpPr>
            <p:cNvPr id="20" name="Rectangle 19"/>
            <p:cNvSpPr/>
            <p:nvPr/>
          </p:nvSpPr>
          <p:spPr>
            <a:xfrm>
              <a:off x="3430981" y="4220986"/>
              <a:ext cx="4360469" cy="940832"/>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21" name="Rectangle 20"/>
            <p:cNvSpPr/>
            <p:nvPr/>
          </p:nvSpPr>
          <p:spPr>
            <a:xfrm>
              <a:off x="3515340" y="4394402"/>
              <a:ext cx="843171" cy="59400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err="1">
                  <a:solidFill>
                    <a:srgbClr val="000000"/>
                  </a:solidFill>
                </a:rPr>
                <a:t>inode</a:t>
              </a:r>
              <a:r>
                <a:rPr lang="en-US" sz="1200" dirty="0">
                  <a:solidFill>
                    <a:srgbClr val="000000"/>
                  </a:solidFill>
                </a:rPr>
                <a:t> table</a:t>
              </a:r>
            </a:p>
          </p:txBody>
        </p:sp>
        <p:sp>
          <p:nvSpPr>
            <p:cNvPr id="22" name="Rounded Rectangle 21"/>
            <p:cNvSpPr/>
            <p:nvPr/>
          </p:nvSpPr>
          <p:spPr>
            <a:xfrm>
              <a:off x="4443717" y="4293627"/>
              <a:ext cx="965390"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a:t>
              </a:r>
              <a:r>
                <a:rPr lang="en-US" altLang="zh-TW" sz="1200" dirty="0" err="1">
                  <a:solidFill>
                    <a:srgbClr val="000000"/>
                  </a:solidFill>
                </a:rPr>
                <a:t>reg</a:t>
              </a:r>
              <a:r>
                <a:rPr lang="en-US" altLang="zh-TW" sz="1200" dirty="0">
                  <a:solidFill>
                    <a:srgbClr val="000000"/>
                  </a:solidFill>
                </a:rPr>
                <a:t> file)</a:t>
              </a:r>
              <a:endParaRPr lang="zh-TW" altLang="en-US" sz="1200" dirty="0">
                <a:solidFill>
                  <a:srgbClr val="000000"/>
                </a:solidFill>
              </a:endParaRPr>
            </a:p>
          </p:txBody>
        </p:sp>
        <p:sp>
          <p:nvSpPr>
            <p:cNvPr id="23" name="Rounded Rectangle 22"/>
            <p:cNvSpPr/>
            <p:nvPr/>
          </p:nvSpPr>
          <p:spPr>
            <a:xfrm>
              <a:off x="6413942" y="4293627"/>
              <a:ext cx="1215376" cy="795551"/>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200" dirty="0" err="1">
                  <a:solidFill>
                    <a:srgbClr val="000000"/>
                  </a:solidFill>
                </a:rPr>
                <a:t>inode</a:t>
              </a:r>
              <a:endParaRPr lang="en-US" altLang="zh-TW" sz="1200" dirty="0">
                <a:solidFill>
                  <a:srgbClr val="000000"/>
                </a:solidFill>
              </a:endParaRPr>
            </a:p>
            <a:p>
              <a:pPr algn="ctr"/>
              <a:r>
                <a:rPr lang="en-US" altLang="zh-TW" sz="1200" dirty="0">
                  <a:solidFill>
                    <a:srgbClr val="000000"/>
                  </a:solidFill>
                </a:rPr>
                <a:t>(directory)</a:t>
              </a:r>
              <a:endParaRPr lang="zh-TW" altLang="en-US" sz="1200" dirty="0">
                <a:solidFill>
                  <a:srgbClr val="000000"/>
                </a:solidFill>
              </a:endParaRPr>
            </a:p>
          </p:txBody>
        </p:sp>
        <p:sp>
          <p:nvSpPr>
            <p:cNvPr id="24" name="TextBox 23"/>
            <p:cNvSpPr txBox="1"/>
            <p:nvPr/>
          </p:nvSpPr>
          <p:spPr>
            <a:xfrm>
              <a:off x="5597240" y="4191950"/>
              <a:ext cx="793380" cy="779700"/>
            </a:xfrm>
            <a:prstGeom prst="rect">
              <a:avLst/>
            </a:prstGeom>
            <a:noFill/>
          </p:spPr>
          <p:txBody>
            <a:bodyPr wrap="none" rtlCol="0">
              <a:spAutoFit/>
            </a:bodyPr>
            <a:lstStyle/>
            <a:p>
              <a:r>
                <a:rPr lang="en-CA" sz="3200" dirty="0">
                  <a:solidFill>
                    <a:srgbClr val="000000"/>
                  </a:solidFill>
                </a:rPr>
                <a:t>…</a:t>
              </a:r>
            </a:p>
          </p:txBody>
        </p:sp>
        <p:sp>
          <p:nvSpPr>
            <p:cNvPr id="25" name="Rectangle 24"/>
            <p:cNvSpPr/>
            <p:nvPr/>
          </p:nvSpPr>
          <p:spPr>
            <a:xfrm>
              <a:off x="6470021" y="5815595"/>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err="1">
                  <a:solidFill>
                    <a:srgbClr val="000000"/>
                  </a:solidFill>
                </a:rPr>
                <a:t>dir</a:t>
              </a:r>
              <a:endParaRPr lang="en-CA" altLang="zh-TW" sz="1200" dirty="0">
                <a:solidFill>
                  <a:srgbClr val="000000"/>
                </a:solidFill>
              </a:endParaRPr>
            </a:p>
            <a:p>
              <a:pPr algn="ctr"/>
              <a:r>
                <a:rPr lang="en-CA" altLang="zh-TW" sz="1200" dirty="0">
                  <a:solidFill>
                    <a:srgbClr val="000000"/>
                  </a:solidFill>
                </a:rPr>
                <a:t>block</a:t>
              </a:r>
              <a:endParaRPr lang="zh-TW" altLang="en-US" sz="1200" dirty="0">
                <a:solidFill>
                  <a:srgbClr val="000000"/>
                </a:solidFill>
              </a:endParaRPr>
            </a:p>
          </p:txBody>
        </p:sp>
        <p:cxnSp>
          <p:nvCxnSpPr>
            <p:cNvPr id="26" name="Straight Arrow Connector 96"/>
            <p:cNvCxnSpPr>
              <a:stCxn id="23" idx="2"/>
              <a:endCxn id="25" idx="0"/>
            </p:cNvCxnSpPr>
            <p:nvPr/>
          </p:nvCxnSpPr>
          <p:spPr>
            <a:xfrm>
              <a:off x="7021630" y="5089178"/>
              <a:ext cx="0" cy="726417"/>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4374804" y="5825726"/>
              <a:ext cx="1103217" cy="728080"/>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data</a:t>
              </a:r>
            </a:p>
            <a:p>
              <a:pPr algn="ctr"/>
              <a:r>
                <a:rPr lang="en-CA" altLang="zh-TW" sz="1200" dirty="0">
                  <a:solidFill>
                    <a:srgbClr val="000000"/>
                  </a:solidFill>
                </a:rPr>
                <a:t>block</a:t>
              </a:r>
              <a:endParaRPr lang="zh-TW" altLang="en-US" sz="1200" dirty="0">
                <a:solidFill>
                  <a:srgbClr val="000000"/>
                </a:solidFill>
              </a:endParaRPr>
            </a:p>
          </p:txBody>
        </p:sp>
        <p:cxnSp>
          <p:nvCxnSpPr>
            <p:cNvPr id="29" name="Straight Arrow Connector 96"/>
            <p:cNvCxnSpPr>
              <a:stCxn id="22" idx="2"/>
              <a:endCxn id="28" idx="0"/>
            </p:cNvCxnSpPr>
            <p:nvPr/>
          </p:nvCxnSpPr>
          <p:spPr>
            <a:xfrm>
              <a:off x="4926412" y="5089178"/>
              <a:ext cx="1" cy="736548"/>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1771861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Missing Pointer</a:t>
            </a:r>
            <a:endParaRPr lang="en-CA" dirty="0"/>
          </a:p>
        </p:txBody>
      </p:sp>
      <p:sp>
        <p:nvSpPr>
          <p:cNvPr id="3" name="Content Placeholder 2"/>
          <p:cNvSpPr>
            <a:spLocks noGrp="1"/>
          </p:cNvSpPr>
          <p:nvPr>
            <p:ph idx="1"/>
          </p:nvPr>
        </p:nvSpPr>
        <p:spPr/>
        <p:txBody>
          <a:bodyPr/>
          <a:lstStyle/>
          <a:p>
            <a:r>
              <a:rPr lang="en-CA" dirty="0" smtClean="0"/>
              <a:t>Locations of some structures are implicit in the code</a:t>
            </a:r>
          </a:p>
          <a:p>
            <a:r>
              <a:rPr lang="en-CA" dirty="0" smtClean="0"/>
              <a:t>E.g. Ext4 block group descriptor table is 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87" name="Rectangle 86"/>
          <p:cNvSpPr/>
          <p:nvPr/>
        </p:nvSpPr>
        <p:spPr>
          <a:xfrm>
            <a:off x="4436269" y="3024290"/>
            <a:ext cx="1398985" cy="445115"/>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i="1" dirty="0">
                <a:solidFill>
                  <a:schemeClr val="bg1"/>
                </a:solidFill>
              </a:rPr>
              <a:t>missing pointer</a:t>
            </a:r>
          </a:p>
        </p:txBody>
      </p:sp>
      <p:cxnSp>
        <p:nvCxnSpPr>
          <p:cNvPr id="26" name="Straight Arrow Connector 25"/>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28" name="Rectangle 27"/>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29" name="Straight Arrow Connector 28"/>
          <p:cNvCxnSpPr>
            <a:stCxn id="27" idx="3"/>
            <a:endCxn id="28"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0" name="Rectangle 29"/>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1" name="Rectangle 30"/>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2" name="Straight Arrow Connector 96"/>
          <p:cNvCxnSpPr>
            <a:stCxn id="38"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96"/>
          <p:cNvCxnSpPr>
            <a:stCxn id="37"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6" name="Group 35"/>
          <p:cNvGrpSpPr/>
          <p:nvPr/>
        </p:nvGrpSpPr>
        <p:grpSpPr>
          <a:xfrm>
            <a:off x="7140876" y="3137914"/>
            <a:ext cx="1064828" cy="676637"/>
            <a:chOff x="2529818" y="2415923"/>
            <a:chExt cx="1419770" cy="902183"/>
          </a:xfrm>
        </p:grpSpPr>
        <p:sp>
          <p:nvSpPr>
            <p:cNvPr id="37" name="Rounded Rectangle 36"/>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38" name="Rectangle 37"/>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41" name="Rectangle 40"/>
          <p:cNvSpPr/>
          <p:nvPr/>
        </p:nvSpPr>
        <p:spPr>
          <a:xfrm>
            <a:off x="6006063" y="2692773"/>
            <a:ext cx="1539204" cy="276999"/>
          </a:xfrm>
          <a:prstGeom prst="rect">
            <a:avLst/>
          </a:prstGeom>
          <a:noFill/>
          <a:ln>
            <a:noFill/>
          </a:ln>
        </p:spPr>
        <p:txBody>
          <a:bodyPr wrap="none">
            <a:spAutoFit/>
          </a:bodyPr>
          <a:lstStyle/>
          <a:p>
            <a:r>
              <a:rPr lang="en-CA" sz="1200" i="1" dirty="0" smtClean="0">
                <a:solidFill>
                  <a:srgbClr val="000000"/>
                </a:solidFill>
                <a:latin typeface="+mn-lt"/>
                <a:cs typeface="Courier New" panose="02070309020205020404" pitchFamily="49" charset="0"/>
              </a:rPr>
              <a:t>missing pointer field</a:t>
            </a:r>
            <a:endParaRPr lang="en-CA" sz="1200" i="1" dirty="0">
              <a:solidFill>
                <a:srgbClr val="000000"/>
              </a:solidFill>
              <a:latin typeface="+mn-lt"/>
            </a:endParaRPr>
          </a:p>
        </p:txBody>
      </p:sp>
    </p:spTree>
    <p:extLst>
      <p:ext uri="{BB962C8B-B14F-4D97-AF65-F5344CB8AC3E}">
        <p14:creationId xmlns:p14="http://schemas.microsoft.com/office/powerpoint/2010/main" val="360531865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Implicit Pointer</a:t>
            </a:r>
            <a:endParaRPr lang="en-CA" dirty="0"/>
          </a:p>
        </p:txBody>
      </p:sp>
      <p:sp>
        <p:nvSpPr>
          <p:cNvPr id="3" name="Content Placeholder 2"/>
          <p:cNvSpPr>
            <a:spLocks noGrp="1"/>
          </p:cNvSpPr>
          <p:nvPr>
            <p:ph idx="1"/>
          </p:nvPr>
        </p:nvSpPr>
        <p:spPr/>
        <p:txBody>
          <a:bodyPr/>
          <a:lstStyle/>
          <a:p>
            <a:r>
              <a:rPr lang="en-CA" dirty="0" smtClean="0"/>
              <a:t>Solution: Implicit pointer annotation</a:t>
            </a:r>
          </a:p>
          <a:p>
            <a:pPr lvl="1"/>
            <a:r>
              <a:rPr lang="en-CA" sz="2000" i="1" dirty="0" smtClean="0"/>
              <a:t>name</a:t>
            </a:r>
            <a:r>
              <a:rPr lang="en-CA" sz="2000" dirty="0" smtClean="0"/>
              <a:t> creates a logical pointer field that can be dereferenced</a:t>
            </a:r>
          </a:p>
          <a:p>
            <a:pPr lvl="1"/>
            <a:r>
              <a:rPr lang="en-CA" sz="2000" i="1" dirty="0" smtClean="0"/>
              <a:t>expr</a:t>
            </a:r>
            <a:r>
              <a:rPr lang="en-CA" sz="2000" dirty="0" smtClean="0"/>
              <a:t> is a C expression that specifies how to calculate the field value</a:t>
            </a:r>
          </a:p>
          <a:p>
            <a:pPr lvl="2"/>
            <a:r>
              <a:rPr lang="en-CA" sz="1800" dirty="0" smtClean="0"/>
              <a:t>Expression can reference other fields</a:t>
            </a:r>
            <a:br>
              <a:rPr lang="en-CA" sz="1800" dirty="0" smtClean="0"/>
            </a:br>
            <a:r>
              <a:rPr lang="en-CA" sz="1800" dirty="0" smtClean="0"/>
              <a:t>in the structure</a:t>
            </a:r>
          </a:p>
          <a:p>
            <a:pPr lvl="1"/>
            <a:endParaRPr lang="en-CA" dirty="0" smtClean="0"/>
          </a:p>
        </p:txBody>
      </p:sp>
      <p:sp>
        <p:nvSpPr>
          <p:cNvPr id="5" name="Rectangle 4"/>
          <p:cNvSpPr/>
          <p:nvPr/>
        </p:nvSpPr>
        <p:spPr>
          <a:xfrm>
            <a:off x="65659" y="2690158"/>
            <a:ext cx="5440101"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POINTER</a:t>
            </a:r>
            <a:r>
              <a:rPr lang="en-CA" sz="1500" dirty="0">
                <a:solidFill>
                  <a:srgbClr val="000000"/>
                </a:solidFill>
                <a:latin typeface="Courier New" panose="02070309020205020404" pitchFamily="49" charset="0"/>
                <a:cs typeface="Courier New" panose="02070309020205020404" pitchFamily="49" charset="0"/>
              </a:rPr>
              <a:t>(</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name=</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s_block_group_desc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type=ext4_group_desc_table, </a:t>
            </a:r>
            <a:r>
              <a:rPr lang="en-CA" sz="1500" dirty="0" err="1" smtClean="0">
                <a:solidFill>
                  <a:srgbClr val="000000"/>
                </a:solidFill>
                <a:latin typeface="Courier New" panose="02070309020205020404" pitchFamily="49" charset="0"/>
                <a:cs typeface="Courier New" panose="02070309020205020404" pitchFamily="49" charset="0"/>
              </a:rPr>
              <a:t>aspc</a:t>
            </a:r>
            <a:r>
              <a:rPr lang="en-CA" sz="1500" dirty="0" smtClean="0">
                <a:solidFill>
                  <a:srgbClr val="000000"/>
                </a:solidFill>
                <a:latin typeface="Courier New" panose="02070309020205020404" pitchFamily="49" charset="0"/>
                <a:cs typeface="Courier New" panose="02070309020205020404" pitchFamily="49" charset="0"/>
              </a:rPr>
              <a:t>=block</a:t>
            </a:r>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expr=(</a:t>
            </a:r>
            <a:r>
              <a:rPr lang="en-CA" sz="1500"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 == 0) ? 2 : 1</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a:t>
            </a:r>
          </a:p>
        </p:txBody>
      </p:sp>
      <p:cxnSp>
        <p:nvCxnSpPr>
          <p:cNvPr id="27" name="Straight Arrow Connector 26"/>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31" name="Rectangle 30"/>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2" name="Rectangle 31"/>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3" name="Straight Arrow Connector 96"/>
          <p:cNvCxnSpPr>
            <a:stCxn id="56"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a:stCxn id="38"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7" name="Group 36"/>
          <p:cNvGrpSpPr/>
          <p:nvPr/>
        </p:nvGrpSpPr>
        <p:grpSpPr>
          <a:xfrm>
            <a:off x="7140876" y="3137914"/>
            <a:ext cx="1064828" cy="676637"/>
            <a:chOff x="2529818" y="2415923"/>
            <a:chExt cx="1419770" cy="902183"/>
          </a:xfrm>
        </p:grpSpPr>
        <p:sp>
          <p:nvSpPr>
            <p:cNvPr id="38" name="Rounded Rectangle 37"/>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6" name="Rectangle 5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8" name="Rectangle 57"/>
          <p:cNvSpPr/>
          <p:nvPr/>
        </p:nvSpPr>
        <p:spPr>
          <a:xfrm>
            <a:off x="6006063" y="2692773"/>
            <a:ext cx="1858201" cy="276999"/>
          </a:xfrm>
          <a:prstGeom prst="rect">
            <a:avLst/>
          </a:prstGeom>
          <a:noFill/>
          <a:ln>
            <a:noFill/>
          </a:ln>
        </p:spPr>
        <p:txBody>
          <a:bodyPr wrap="none">
            <a:spAutoFit/>
          </a:bodyPr>
          <a:lstStyle/>
          <a:p>
            <a:r>
              <a:rPr lang="en-CA" sz="1200" dirty="0" err="1">
                <a:solidFill>
                  <a:srgbClr val="000000"/>
                </a:solidFill>
                <a:latin typeface="Courier New" panose="02070309020205020404" pitchFamily="49" charset="0"/>
                <a:cs typeface="Courier New" panose="02070309020205020404" pitchFamily="49" charset="0"/>
              </a:rPr>
              <a:t>s_block_group_desc</a:t>
            </a:r>
            <a:endParaRPr lang="en-CA" sz="1200" dirty="0">
              <a:solidFill>
                <a:srgbClr val="000000"/>
              </a:solidFill>
            </a:endParaRPr>
          </a:p>
        </p:txBody>
      </p:sp>
      <p:sp>
        <p:nvSpPr>
          <p:cNvPr id="59" name="Rectangle 58"/>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60" name="Straight Arrow Connector 59"/>
          <p:cNvCxnSpPr>
            <a:endCxn id="59"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82308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Implicit Pointer</a:t>
            </a:r>
            <a:endParaRPr lang="en-CA" dirty="0"/>
          </a:p>
        </p:txBody>
      </p:sp>
      <p:sp>
        <p:nvSpPr>
          <p:cNvPr id="3" name="Content Placeholder 2"/>
          <p:cNvSpPr>
            <a:spLocks noGrp="1"/>
          </p:cNvSpPr>
          <p:nvPr>
            <p:ph idx="1"/>
          </p:nvPr>
        </p:nvSpPr>
        <p:spPr/>
        <p:txBody>
          <a:bodyPr/>
          <a:lstStyle/>
          <a:p>
            <a:r>
              <a:rPr lang="en-CA" dirty="0" smtClean="0"/>
              <a:t>Solution: Implicit pointer annotation</a:t>
            </a:r>
          </a:p>
          <a:p>
            <a:pPr lvl="1"/>
            <a:r>
              <a:rPr lang="en-CA" sz="2000" i="1" dirty="0" smtClean="0"/>
              <a:t>name</a:t>
            </a:r>
            <a:r>
              <a:rPr lang="en-CA" sz="2000" dirty="0" smtClean="0"/>
              <a:t> creates a logical pointer field that can be dereferenced</a:t>
            </a:r>
          </a:p>
          <a:p>
            <a:pPr lvl="1"/>
            <a:r>
              <a:rPr lang="en-CA" sz="2000" i="1" dirty="0" smtClean="0"/>
              <a:t>expr</a:t>
            </a:r>
            <a:r>
              <a:rPr lang="en-CA" sz="2000" dirty="0" smtClean="0"/>
              <a:t> is a C expression that specifies how to calculate the field value</a:t>
            </a:r>
          </a:p>
          <a:p>
            <a:pPr lvl="2"/>
            <a:r>
              <a:rPr lang="en-CA" sz="1800" dirty="0" smtClean="0"/>
              <a:t>Expression can reference other fields</a:t>
            </a:r>
            <a:br>
              <a:rPr lang="en-CA" sz="1800" dirty="0" smtClean="0"/>
            </a:br>
            <a:r>
              <a:rPr lang="en-CA" sz="1800" dirty="0" smtClean="0"/>
              <a:t>in the structure</a:t>
            </a:r>
          </a:p>
          <a:p>
            <a:pPr lvl="1"/>
            <a:endParaRPr lang="en-CA" dirty="0" smtClean="0"/>
          </a:p>
        </p:txBody>
      </p:sp>
      <p:sp>
        <p:nvSpPr>
          <p:cNvPr id="5" name="Rectangle 4"/>
          <p:cNvSpPr/>
          <p:nvPr/>
        </p:nvSpPr>
        <p:spPr>
          <a:xfrm>
            <a:off x="65659" y="2690158"/>
            <a:ext cx="5440101"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POINTER</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(name=</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s_block_group_desc</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type=ext4_group_desc_table, </a:t>
            </a:r>
            <a:r>
              <a:rPr lang="en-CA" sz="1500" dirty="0" err="1"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aspc</a:t>
            </a:r>
            <a:r>
              <a:rPr lang="en-CA" sz="1500" dirty="0" smtClean="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=block</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a:t>
            </a:r>
          </a:p>
          <a:p>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expr=(</a:t>
            </a:r>
            <a:r>
              <a:rPr lang="en-CA" sz="1500" dirty="0" err="1">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self.s_log_block_size</a:t>
            </a:r>
            <a:r>
              <a:rPr lang="en-CA" sz="1500" dirty="0">
                <a:solidFill>
                  <a:srgbClr val="000000"/>
                </a:solidFill>
                <a:effectLst>
                  <a:glow rad="101600">
                    <a:srgbClr val="FFFF00">
                      <a:alpha val="60000"/>
                    </a:srgbClr>
                  </a:glow>
                </a:effectLst>
                <a:latin typeface="Courier New" panose="02070309020205020404" pitchFamily="49" charset="0"/>
                <a:cs typeface="Courier New" panose="02070309020205020404" pitchFamily="49" charset="0"/>
              </a:rPr>
              <a:t> == 0) ? 2 : 1);</a:t>
            </a:r>
          </a:p>
          <a:p>
            <a:r>
              <a:rPr lang="en-CA" sz="1500" dirty="0">
                <a:solidFill>
                  <a:srgbClr val="000000"/>
                </a:solidFill>
                <a:latin typeface="Courier New" panose="02070309020205020404" pitchFamily="49" charset="0"/>
                <a:cs typeface="Courier New" panose="02070309020205020404" pitchFamily="49" charset="0"/>
              </a:rPr>
              <a:t>};</a:t>
            </a:r>
          </a:p>
        </p:txBody>
      </p:sp>
      <p:cxnSp>
        <p:nvCxnSpPr>
          <p:cNvPr id="27" name="Straight Arrow Connector 26"/>
          <p:cNvCxnSpPr/>
          <p:nvPr/>
        </p:nvCxnSpPr>
        <p:spPr>
          <a:xfrm>
            <a:off x="5936330" y="2635761"/>
            <a:ext cx="0" cy="445115"/>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501772" y="2131635"/>
            <a:ext cx="827413" cy="504126"/>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solidFill>
              </a:rPr>
              <a:t>super</a:t>
            </a:r>
          </a:p>
          <a:p>
            <a:pPr algn="ctr"/>
            <a:r>
              <a:rPr lang="en-CA" altLang="zh-TW" sz="1200" dirty="0">
                <a:solidFill>
                  <a:srgbClr val="000000"/>
                </a:solidFill>
              </a:rPr>
              <a:t>block</a:t>
            </a:r>
            <a:endParaRPr lang="zh-TW" altLang="en-US" sz="1200" dirty="0">
              <a:solidFill>
                <a:srgbClr val="000000"/>
              </a:solidFill>
            </a:endParaRPr>
          </a:p>
        </p:txBody>
      </p:sp>
      <p:sp>
        <p:nvSpPr>
          <p:cNvPr id="31" name="Rectangle 30"/>
          <p:cNvSpPr/>
          <p:nvPr/>
        </p:nvSpPr>
        <p:spPr>
          <a:xfrm>
            <a:off x="5501772" y="3080876"/>
            <a:ext cx="3406486" cy="794858"/>
          </a:xfrm>
          <a:prstGeom prst="rect">
            <a:avLst/>
          </a:prstGeom>
          <a:solidFill>
            <a:schemeClr val="accent5">
              <a:lumMod val="40000"/>
              <a:lumOff val="60000"/>
            </a:schemeClr>
          </a:solidFill>
          <a:ln w="12700">
            <a:solidFill>
              <a:srgbClr val="0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200" dirty="0">
              <a:solidFill>
                <a:srgbClr val="000000"/>
              </a:solidFill>
            </a:endParaRPr>
          </a:p>
        </p:txBody>
      </p:sp>
      <p:sp>
        <p:nvSpPr>
          <p:cNvPr id="32" name="Rectangle 31"/>
          <p:cNvSpPr/>
          <p:nvPr/>
        </p:nvSpPr>
        <p:spPr>
          <a:xfrm>
            <a:off x="5564558" y="3146476"/>
            <a:ext cx="1501506" cy="473887"/>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rPr>
              <a:t>block group descriptor table</a:t>
            </a:r>
          </a:p>
        </p:txBody>
      </p:sp>
      <p:cxnSp>
        <p:nvCxnSpPr>
          <p:cNvPr id="33" name="Straight Arrow Connector 96"/>
          <p:cNvCxnSpPr>
            <a:stCxn id="56" idx="2"/>
          </p:cNvCxnSpPr>
          <p:nvPr/>
        </p:nvCxnSpPr>
        <p:spPr>
          <a:xfrm rot="5400000">
            <a:off x="6342230" y="3416506"/>
            <a:ext cx="677160" cy="1473250"/>
          </a:xfrm>
          <a:prstGeom prst="bentConnector3">
            <a:avLst>
              <a:gd name="adj1" fmla="val 27846"/>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96"/>
          <p:cNvCxnSpPr>
            <a:stCxn id="38" idx="2"/>
          </p:cNvCxnSpPr>
          <p:nvPr/>
        </p:nvCxnSpPr>
        <p:spPr>
          <a:xfrm rot="5400000">
            <a:off x="6970093" y="3788514"/>
            <a:ext cx="691335" cy="715060"/>
          </a:xfrm>
          <a:prstGeom prst="bentConnector3">
            <a:avLst>
              <a:gd name="adj1" fmla="val 50000"/>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96"/>
          <p:cNvCxnSpPr/>
          <p:nvPr/>
        </p:nvCxnSpPr>
        <p:spPr>
          <a:xfrm>
            <a:off x="7897947" y="3792761"/>
            <a:ext cx="0" cy="697472"/>
          </a:xfrm>
          <a:prstGeom prst="straightConnector1">
            <a:avLst/>
          </a:prstGeom>
          <a:ln w="508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8297924" y="3078944"/>
            <a:ext cx="595035" cy="584775"/>
          </a:xfrm>
          <a:prstGeom prst="rect">
            <a:avLst/>
          </a:prstGeom>
          <a:noFill/>
        </p:spPr>
        <p:txBody>
          <a:bodyPr wrap="none" rtlCol="0">
            <a:spAutoFit/>
          </a:bodyPr>
          <a:lstStyle/>
          <a:p>
            <a:r>
              <a:rPr lang="en-CA" sz="3200" dirty="0">
                <a:solidFill>
                  <a:srgbClr val="000000"/>
                </a:solidFill>
              </a:rPr>
              <a:t>…</a:t>
            </a:r>
          </a:p>
        </p:txBody>
      </p:sp>
      <p:grpSp>
        <p:nvGrpSpPr>
          <p:cNvPr id="37" name="Group 36"/>
          <p:cNvGrpSpPr/>
          <p:nvPr/>
        </p:nvGrpSpPr>
        <p:grpSpPr>
          <a:xfrm>
            <a:off x="7140876" y="3137914"/>
            <a:ext cx="1064828" cy="676637"/>
            <a:chOff x="2529818" y="2415923"/>
            <a:chExt cx="1419770" cy="902183"/>
          </a:xfrm>
        </p:grpSpPr>
        <p:sp>
          <p:nvSpPr>
            <p:cNvPr id="38" name="Rounded Rectangle 37"/>
            <p:cNvSpPr/>
            <p:nvPr/>
          </p:nvSpPr>
          <p:spPr>
            <a:xfrm>
              <a:off x="2529818" y="2415923"/>
              <a:ext cx="1419770" cy="883283"/>
            </a:xfrm>
            <a:prstGeom prst="roundRect">
              <a:avLst/>
            </a:prstGeom>
            <a:solidFill>
              <a:schemeClr val="accent5">
                <a:lumMod val="75000"/>
              </a:schemeClr>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200" dirty="0">
                  <a:solidFill>
                    <a:srgbClr val="000000"/>
                  </a:solidFill>
                </a:rPr>
                <a:t>block group descriptor</a:t>
              </a:r>
              <a:endParaRPr lang="zh-TW" altLang="en-US" sz="1200" dirty="0">
                <a:solidFill>
                  <a:srgbClr val="000000"/>
                </a:solidFill>
              </a:endParaRPr>
            </a:p>
          </p:txBody>
        </p:sp>
        <p:sp>
          <p:nvSpPr>
            <p:cNvPr id="56" name="Rectangle 55"/>
            <p:cNvSpPr/>
            <p:nvPr/>
          </p:nvSpPr>
          <p:spPr>
            <a:xfrm flipH="1">
              <a:off x="2748559" y="3080714"/>
              <a:ext cx="300009" cy="2373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1200">
                <a:solidFill>
                  <a:srgbClr val="000000"/>
                </a:solidFill>
              </a:endParaRPr>
            </a:p>
          </p:txBody>
        </p:sp>
      </p:grpSp>
      <p:sp>
        <p:nvSpPr>
          <p:cNvPr id="58" name="Rectangle 57"/>
          <p:cNvSpPr/>
          <p:nvPr/>
        </p:nvSpPr>
        <p:spPr>
          <a:xfrm>
            <a:off x="6006063" y="2692773"/>
            <a:ext cx="1858201" cy="276999"/>
          </a:xfrm>
          <a:prstGeom prst="rect">
            <a:avLst/>
          </a:prstGeom>
          <a:noFill/>
          <a:ln>
            <a:noFill/>
          </a:ln>
        </p:spPr>
        <p:txBody>
          <a:bodyPr wrap="none">
            <a:spAutoFit/>
          </a:bodyPr>
          <a:lstStyle/>
          <a:p>
            <a:r>
              <a:rPr lang="en-CA" sz="1200" dirty="0" err="1">
                <a:solidFill>
                  <a:srgbClr val="000000"/>
                </a:solidFill>
                <a:latin typeface="Courier New" panose="02070309020205020404" pitchFamily="49" charset="0"/>
                <a:cs typeface="Courier New" panose="02070309020205020404" pitchFamily="49" charset="0"/>
              </a:rPr>
              <a:t>s_block_group_desc</a:t>
            </a:r>
            <a:endParaRPr lang="en-CA" sz="1200" dirty="0">
              <a:solidFill>
                <a:srgbClr val="000000"/>
              </a:solidFill>
            </a:endParaRPr>
          </a:p>
        </p:txBody>
      </p:sp>
      <p:sp>
        <p:nvSpPr>
          <p:cNvPr id="59" name="Rectangle 58"/>
          <p:cNvSpPr/>
          <p:nvPr/>
        </p:nvSpPr>
        <p:spPr>
          <a:xfrm>
            <a:off x="7428769" y="2131635"/>
            <a:ext cx="1479488" cy="504126"/>
          </a:xfrm>
          <a:prstGeom prst="rect">
            <a:avLst/>
          </a:prstGeom>
          <a:solidFill>
            <a:schemeClr val="accent5">
              <a:lumMod val="40000"/>
              <a:lumOff val="60000"/>
              <a:alpha val="30000"/>
            </a:schemeClr>
          </a:solidFill>
          <a:ln w="12700">
            <a:solidFill>
              <a:srgbClr val="000000">
                <a:alpha val="30000"/>
              </a:srgb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CA" altLang="zh-TW" sz="1200" dirty="0">
                <a:solidFill>
                  <a:srgbClr val="000000">
                    <a:alpha val="30000"/>
                  </a:srgbClr>
                </a:solidFill>
              </a:rPr>
              <a:t>ext4 journal</a:t>
            </a:r>
            <a:endParaRPr lang="zh-TW" altLang="en-US" sz="1200" dirty="0">
              <a:solidFill>
                <a:srgbClr val="000000">
                  <a:alpha val="30000"/>
                </a:srgbClr>
              </a:solidFill>
            </a:endParaRPr>
          </a:p>
        </p:txBody>
      </p:sp>
      <p:cxnSp>
        <p:nvCxnSpPr>
          <p:cNvPr id="60" name="Straight Arrow Connector 59"/>
          <p:cNvCxnSpPr>
            <a:endCxn id="59" idx="1"/>
          </p:cNvCxnSpPr>
          <p:nvPr/>
        </p:nvCxnSpPr>
        <p:spPr>
          <a:xfrm>
            <a:off x="6329185" y="2383698"/>
            <a:ext cx="1099584" cy="0"/>
          </a:xfrm>
          <a:prstGeom prst="straightConnector1">
            <a:avLst/>
          </a:prstGeom>
          <a:ln w="63500">
            <a:solidFill>
              <a:schemeClr val="accent6">
                <a:alpha val="3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475465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Vector Types</a:t>
            </a:r>
            <a:endParaRPr lang="en-CA" dirty="0"/>
          </a:p>
        </p:txBody>
      </p:sp>
      <p:sp>
        <p:nvSpPr>
          <p:cNvPr id="3" name="Content Placeholder 2"/>
          <p:cNvSpPr>
            <a:spLocks noGrp="1"/>
          </p:cNvSpPr>
          <p:nvPr>
            <p:ph idx="1"/>
          </p:nvPr>
        </p:nvSpPr>
        <p:spPr>
          <a:xfrm>
            <a:off x="152400" y="857250"/>
            <a:ext cx="8839200" cy="2448461"/>
          </a:xfrm>
        </p:spPr>
        <p:txBody>
          <a:bodyPr/>
          <a:lstStyle/>
          <a:p>
            <a:r>
              <a:rPr lang="en-CA" dirty="0" smtClean="0"/>
              <a:t>Vector types are typically implicit in the code</a:t>
            </a:r>
          </a:p>
          <a:p>
            <a:pPr lvl="1"/>
            <a:r>
              <a:rPr lang="en-CA" sz="2000" dirty="0" smtClean="0"/>
              <a:t>E.g. Ext4 directory blocks, indirect blocks, etc.</a:t>
            </a:r>
          </a:p>
          <a:p>
            <a:r>
              <a:rPr lang="en-CA" dirty="0" smtClean="0"/>
              <a:t>Pointers annotation must specify exact type that it points to</a:t>
            </a:r>
          </a:p>
          <a:p>
            <a:pPr lvl="1"/>
            <a:r>
              <a:rPr lang="en-CA" sz="2000" dirty="0" smtClean="0"/>
              <a:t>All vector types must be explicitly declared</a:t>
            </a:r>
          </a:p>
          <a:p>
            <a:r>
              <a:rPr lang="en-CA" dirty="0"/>
              <a:t>Vector types in C does not support variable-length </a:t>
            </a:r>
            <a:r>
              <a:rPr lang="en-CA" dirty="0" smtClean="0"/>
              <a:t>elements</a:t>
            </a:r>
            <a:endParaRPr lang="en-CA" dirty="0"/>
          </a:p>
          <a:p>
            <a:pPr lvl="1"/>
            <a:r>
              <a:rPr lang="en-CA" dirty="0"/>
              <a:t>E.g. directory entry structures</a:t>
            </a:r>
          </a:p>
          <a:p>
            <a:pPr lvl="1"/>
            <a:endParaRPr lang="en-CA" sz="2000" dirty="0" smtClean="0"/>
          </a:p>
          <a:p>
            <a:pPr lvl="1"/>
            <a:endParaRPr lang="en-CA" dirty="0"/>
          </a:p>
        </p:txBody>
      </p:sp>
      <p:sp>
        <p:nvSpPr>
          <p:cNvPr id="6" name="Rectangle 5"/>
          <p:cNvSpPr/>
          <p:nvPr/>
        </p:nvSpPr>
        <p:spPr>
          <a:xfrm>
            <a:off x="123825" y="3305711"/>
            <a:ext cx="8672887" cy="1323439"/>
          </a:xfrm>
          <a:prstGeom prst="rect">
            <a:avLst/>
          </a:prstGeom>
          <a:solidFill>
            <a:srgbClr val="FFFFFF">
              <a:alpha val="20000"/>
            </a:srgbClr>
          </a:solidFill>
        </p:spPr>
        <p:txBody>
          <a:bodyPr wrap="none">
            <a:spAutoFit/>
          </a:bodyPr>
          <a:lstStyle/>
          <a:p>
            <a:pPr marL="93663" lvl="1"/>
            <a:r>
              <a:rPr lang="en-CA" b="1" dirty="0" smtClean="0">
                <a:solidFill>
                  <a:srgbClr val="000000"/>
                </a:solidFill>
                <a:latin typeface="Courier New" panose="02070309020205020404" pitchFamily="49" charset="0"/>
                <a:cs typeface="Courier New" panose="02070309020205020404" pitchFamily="49" charset="0"/>
              </a:rPr>
              <a:t>VECTOR</a:t>
            </a:r>
            <a:r>
              <a:rPr lang="en-CA" dirty="0" smtClean="0">
                <a:solidFill>
                  <a:srgbClr val="000000"/>
                </a:solidFill>
                <a:latin typeface="Courier New" panose="02070309020205020404" pitchFamily="49" charset="0"/>
                <a:cs typeface="Courier New" panose="02070309020205020404" pitchFamily="49" charset="0"/>
              </a:rPr>
              <a:t>(name=</a:t>
            </a:r>
            <a:r>
              <a:rPr lang="en-CA" dirty="0" err="1" smtClean="0">
                <a:solidFill>
                  <a:srgbClr val="000000"/>
                </a:solidFill>
                <a:latin typeface="Courier New" panose="02070309020205020404" pitchFamily="49" charset="0"/>
                <a:cs typeface="Courier New" panose="02070309020205020404" pitchFamily="49" charset="0"/>
              </a:rPr>
              <a:t>dir_block</a:t>
            </a:r>
            <a:r>
              <a:rPr lang="en-CA" dirty="0" smtClean="0">
                <a:solidFill>
                  <a:srgbClr val="000000"/>
                </a:solidFill>
                <a:latin typeface="Courier New" panose="02070309020205020404" pitchFamily="49" charset="0"/>
                <a:cs typeface="Courier New" panose="02070309020205020404" pitchFamily="49" charset="0"/>
              </a:rPr>
              <a:t>, type=</a:t>
            </a:r>
            <a:r>
              <a:rPr lang="en-CA" dirty="0" err="1" smtClean="0">
                <a:solidFill>
                  <a:srgbClr val="000000"/>
                </a:solidFill>
                <a:latin typeface="Courier New" panose="02070309020205020404" pitchFamily="49" charset="0"/>
                <a:cs typeface="Courier New" panose="02070309020205020404" pitchFamily="49" charset="0"/>
              </a:rPr>
              <a:t>struct</a:t>
            </a:r>
            <a:r>
              <a:rPr lang="en-CA" dirty="0" smtClean="0">
                <a:solidFill>
                  <a:srgbClr val="000000"/>
                </a:solidFill>
                <a:latin typeface="Courier New" panose="02070309020205020404" pitchFamily="49" charset="0"/>
                <a:cs typeface="Courier New" panose="02070309020205020404" pitchFamily="49" charset="0"/>
              </a:rPr>
              <a:t> ext4_dir_entry, size=BLOCK_SIZE);</a:t>
            </a:r>
            <a:endParaRPr lang="en-CA" sz="800" b="1" dirty="0" smtClean="0">
              <a:solidFill>
                <a:srgbClr val="000000"/>
              </a:solidFill>
              <a:latin typeface="Courier New" panose="02070309020205020404" pitchFamily="49" charset="0"/>
              <a:cs typeface="Courier New" panose="02070309020205020404" pitchFamily="49" charset="0"/>
            </a:endParaRPr>
          </a:p>
          <a:p>
            <a:pPr marL="93663" lvl="1"/>
            <a:r>
              <a:rPr lang="en-CA" b="1" dirty="0" smtClean="0">
                <a:solidFill>
                  <a:srgbClr val="000000"/>
                </a:solidFill>
                <a:latin typeface="Courier New" panose="02070309020205020404" pitchFamily="49" charset="0"/>
                <a:cs typeface="Courier New" panose="02070309020205020404" pitchFamily="49" charset="0"/>
              </a:rPr>
              <a:t>FSSTRUCT</a:t>
            </a:r>
            <a:r>
              <a:rPr lang="en-CA" dirty="0" smtClean="0">
                <a:solidFill>
                  <a:srgbClr val="000000"/>
                </a:solidFill>
                <a:latin typeface="Courier New" panose="02070309020205020404" pitchFamily="49" charset="0"/>
                <a:cs typeface="Courier New" panose="02070309020205020404" pitchFamily="49" charset="0"/>
              </a:rPr>
              <a:t>() </a:t>
            </a:r>
            <a:r>
              <a:rPr lang="en-CA" dirty="0" err="1" smtClean="0">
                <a:solidFill>
                  <a:srgbClr val="000000"/>
                </a:solidFill>
                <a:latin typeface="Courier New" panose="02070309020205020404" pitchFamily="49" charset="0"/>
                <a:cs typeface="Courier New" panose="02070309020205020404" pitchFamily="49" charset="0"/>
              </a:rPr>
              <a:t>dir_ind_ptr</a:t>
            </a:r>
            <a:r>
              <a:rPr lang="en-CA" dirty="0" smtClean="0">
                <a:solidFill>
                  <a:srgbClr val="000000"/>
                </a:solidFill>
                <a:latin typeface="Courier New" panose="02070309020205020404" pitchFamily="49" charset="0"/>
                <a:cs typeface="Courier New" panose="02070309020205020404" pitchFamily="49" charset="0"/>
              </a:rPr>
              <a:t> {</a:t>
            </a:r>
          </a:p>
          <a:p>
            <a:r>
              <a:rPr lang="en-CA" dirty="0">
                <a:solidFill>
                  <a:srgbClr val="000000"/>
                </a:solidFill>
                <a:latin typeface="Courier New" panose="02070309020205020404" pitchFamily="49" charset="0"/>
                <a:cs typeface="Courier New" panose="02070309020205020404" pitchFamily="49" charset="0"/>
              </a:rPr>
              <a:t> </a:t>
            </a:r>
            <a:r>
              <a:rPr lang="en-CA" dirty="0" smtClean="0">
                <a:solidFill>
                  <a:srgbClr val="000000"/>
                </a:solidFill>
                <a:latin typeface="Courier New" panose="02070309020205020404" pitchFamily="49" charset="0"/>
                <a:cs typeface="Courier New" panose="02070309020205020404" pitchFamily="49" charset="0"/>
              </a:rPr>
              <a:t>   </a:t>
            </a:r>
            <a:r>
              <a:rPr lang="en-CA" b="1" dirty="0" smtClean="0">
                <a:latin typeface="Courier New" panose="02070309020205020404" pitchFamily="49" charset="0"/>
                <a:cs typeface="Courier New" panose="02070309020205020404" pitchFamily="49" charset="0"/>
              </a:rPr>
              <a:t>POINTER</a:t>
            </a:r>
            <a:r>
              <a:rPr lang="en-CA" dirty="0" smtClean="0">
                <a:latin typeface="Courier New" panose="02070309020205020404" pitchFamily="49" charset="0"/>
                <a:cs typeface="Courier New" panose="02070309020205020404" pitchFamily="49" charset="0"/>
              </a:rPr>
              <a:t>(</a:t>
            </a:r>
            <a:r>
              <a:rPr lang="en-CA" dirty="0" err="1" smtClean="0">
                <a:latin typeface="Courier New" panose="02070309020205020404" pitchFamily="49" charset="0"/>
                <a:cs typeface="Courier New" panose="02070309020205020404" pitchFamily="49" charset="0"/>
              </a:rPr>
              <a:t>aspc</a:t>
            </a:r>
            <a:r>
              <a:rPr lang="en-CA" dirty="0" smtClean="0">
                <a:latin typeface="Courier New" panose="02070309020205020404" pitchFamily="49" charset="0"/>
                <a:cs typeface="Courier New" panose="02070309020205020404" pitchFamily="49" charset="0"/>
              </a:rPr>
              <a:t>=block, type=</a:t>
            </a:r>
            <a:r>
              <a:rPr lang="en-CA" dirty="0" err="1" smtClean="0">
                <a:latin typeface="Courier New" panose="02070309020205020404" pitchFamily="49" charset="0"/>
                <a:cs typeface="Courier New" panose="02070309020205020404" pitchFamily="49" charset="0"/>
              </a:rPr>
              <a:t>dir_block</a:t>
            </a:r>
            <a:r>
              <a:rPr lang="en-CA" dirty="0" smtClean="0">
                <a:latin typeface="Courier New" panose="02070309020205020404" pitchFamily="49" charset="0"/>
                <a:cs typeface="Courier New" panose="02070309020205020404" pitchFamily="49" charset="0"/>
              </a:rPr>
              <a:t>)</a:t>
            </a:r>
            <a:endParaRPr lang="en-CA" dirty="0">
              <a:latin typeface="Courier New" panose="02070309020205020404" pitchFamily="49" charset="0"/>
              <a:cs typeface="Courier New" panose="02070309020205020404" pitchFamily="49" charset="0"/>
            </a:endParaRPr>
          </a:p>
          <a:p>
            <a:r>
              <a:rPr lang="en-CA" dirty="0" smtClean="0">
                <a:latin typeface="Courier New" panose="02070309020205020404" pitchFamily="49" charset="0"/>
                <a:cs typeface="Courier New" panose="02070309020205020404" pitchFamily="49" charset="0"/>
              </a:rPr>
              <a:t>    __</a:t>
            </a:r>
            <a:r>
              <a:rPr lang="en-CA" dirty="0">
                <a:latin typeface="Courier New" panose="02070309020205020404" pitchFamily="49" charset="0"/>
                <a:cs typeface="Courier New" panose="02070309020205020404" pitchFamily="49" charset="0"/>
              </a:rPr>
              <a:t>le32 </a:t>
            </a:r>
            <a:r>
              <a:rPr lang="en-CA" dirty="0" err="1" smtClean="0">
                <a:latin typeface="Courier New" panose="02070309020205020404" pitchFamily="49" charset="0"/>
                <a:cs typeface="Courier New" panose="02070309020205020404" pitchFamily="49" charset="0"/>
              </a:rPr>
              <a:t>ind_block_nr</a:t>
            </a:r>
            <a:r>
              <a:rPr lang="en-CA" dirty="0" smtClean="0">
                <a:latin typeface="Courier New" panose="02070309020205020404" pitchFamily="49" charset="0"/>
                <a:cs typeface="Courier New" panose="02070309020205020404" pitchFamily="49" charset="0"/>
              </a:rPr>
              <a:t>;</a:t>
            </a:r>
            <a:endParaRPr lang="en-CA" dirty="0">
              <a:solidFill>
                <a:srgbClr val="000000"/>
              </a:solidFill>
              <a:latin typeface="Courier New" panose="02070309020205020404" pitchFamily="49" charset="0"/>
              <a:cs typeface="Courier New" panose="02070309020205020404" pitchFamily="49" charset="0"/>
            </a:endParaRPr>
          </a:p>
          <a:p>
            <a:pPr marL="93663" lvl="1"/>
            <a:r>
              <a:rPr lang="en-CA" dirty="0" smtClean="0">
                <a:solidFill>
                  <a:srgbClr val="000000"/>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345448673"/>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6225" y="659859"/>
            <a:ext cx="4939904" cy="1708160"/>
          </a:xfrm>
          <a:prstGeom prst="rect">
            <a:avLst/>
          </a:prstGeom>
        </p:spPr>
        <p:txBody>
          <a:bodyPr wrap="square">
            <a:spAutoFit/>
          </a:bodyPr>
          <a:lstStyle/>
          <a:p>
            <a:r>
              <a:rPr lang="en-CA" sz="1500" b="1" dirty="0">
                <a:solidFill>
                  <a:srgbClr val="000000"/>
                </a:solidFill>
                <a:latin typeface="Courier New" panose="02070309020205020404" pitchFamily="49" charset="0"/>
                <a:cs typeface="Courier New" panose="02070309020205020404" pitchFamily="49" charset="0"/>
              </a:rPr>
              <a:t>FSSUPER</a:t>
            </a:r>
            <a:r>
              <a:rPr lang="en-CA" sz="1500" dirty="0">
                <a:solidFill>
                  <a:srgbClr val="000000"/>
                </a:solidFill>
                <a:latin typeface="Courier New" panose="02070309020205020404" pitchFamily="49" charset="0"/>
                <a:cs typeface="Courier New" panose="02070309020205020404" pitchFamily="49" charset="0"/>
              </a:rPr>
              <a:t>(…) ext4_super_block {</a:t>
            </a:r>
          </a:p>
          <a:p>
            <a:r>
              <a:rPr lang="en-CA" sz="1500" dirty="0">
                <a:solidFill>
                  <a:srgbClr val="000000"/>
                </a:solidFill>
                <a:latin typeface="Courier New" panose="02070309020205020404" pitchFamily="49" charset="0"/>
                <a:cs typeface="Courier New" panose="02070309020205020404" pitchFamily="49" charset="0"/>
              </a:rPr>
              <a:t>  __le32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__le16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a:t>
            </a:r>
          </a:p>
          <a:p>
            <a:r>
              <a:rPr lang="en-CA" sz="1500" dirty="0">
                <a:solidFill>
                  <a:srgbClr val="000000"/>
                </a:solidFill>
                <a:latin typeface="Courier New" panose="02070309020205020404" pitchFamily="49" charset="0"/>
                <a:cs typeface="Courier New" panose="02070309020205020404" pitchFamily="49" charset="0"/>
              </a:rPr>
              <a:t>  …</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self.s_log_block_size</a:t>
            </a:r>
            <a:r>
              <a:rPr lang="en-CA" sz="1500" dirty="0">
                <a:solidFill>
                  <a:srgbClr val="000000"/>
                </a:solidFill>
                <a:latin typeface="Courier New" panose="02070309020205020404" pitchFamily="49" charset="0"/>
                <a:cs typeface="Courier New" panose="02070309020205020404" pitchFamily="49" charset="0"/>
              </a:rPr>
              <a:t> &lt;= 6);</a:t>
            </a:r>
          </a:p>
          <a:p>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CHECK</a:t>
            </a:r>
            <a:r>
              <a:rPr lang="en-CA" sz="1500" dirty="0">
                <a:solidFill>
                  <a:srgbClr val="000000"/>
                </a:solidFill>
                <a:latin typeface="Courier New" panose="02070309020205020404" pitchFamily="49" charset="0"/>
                <a:cs typeface="Courier New" panose="02070309020205020404" pitchFamily="49" charset="0"/>
              </a:rPr>
              <a:t>(expr=</a:t>
            </a:r>
            <a:r>
              <a:rPr lang="en-CA" sz="1500" dirty="0" err="1">
                <a:solidFill>
                  <a:srgbClr val="000000"/>
                </a:solidFill>
                <a:latin typeface="Courier New" panose="02070309020205020404" pitchFamily="49" charset="0"/>
                <a:cs typeface="Courier New" panose="02070309020205020404" pitchFamily="49" charset="0"/>
              </a:rPr>
              <a:t>self.s_magic</a:t>
            </a:r>
            <a:r>
              <a:rPr lang="en-CA" sz="1500" dirty="0">
                <a:solidFill>
                  <a:srgbClr val="000000"/>
                </a:solidFill>
                <a:latin typeface="Courier New" panose="02070309020205020404" pitchFamily="49" charset="0"/>
                <a:cs typeface="Courier New" panose="02070309020205020404" pitchFamily="49" charset="0"/>
              </a:rPr>
              <a:t> == 0xef53);</a:t>
            </a:r>
          </a:p>
          <a:p>
            <a:r>
              <a:rPr lang="en-CA" sz="150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US" smtClean="0"/>
              <a:t>Check Annotations</a:t>
            </a:r>
            <a:endParaRPr lang="en-CA" dirty="0"/>
          </a:p>
        </p:txBody>
      </p:sp>
      <p:sp>
        <p:nvSpPr>
          <p:cNvPr id="8"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0"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86011462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smtClean="0"/>
              <a:t>Generating Spiffy Library</a:t>
            </a:r>
            <a:endParaRPr lang="en-CA" dirty="0"/>
          </a:p>
        </p:txBody>
      </p:sp>
      <p:sp>
        <p:nvSpPr>
          <p:cNvPr id="9" name="Content Placeholder 8"/>
          <p:cNvSpPr>
            <a:spLocks noGrp="1"/>
          </p:cNvSpPr>
          <p:nvPr>
            <p:ph idx="1"/>
          </p:nvPr>
        </p:nvSpPr>
        <p:spPr>
          <a:xfrm>
            <a:off x="152400" y="857250"/>
            <a:ext cx="8839200" cy="1714500"/>
          </a:xfrm>
        </p:spPr>
        <p:txBody>
          <a:bodyPr/>
          <a:lstStyle/>
          <a:p>
            <a:r>
              <a:rPr lang="en-CA" dirty="0"/>
              <a:t>C++ classes are generated for all annotated structures </a:t>
            </a:r>
            <a:br>
              <a:rPr lang="en-CA" dirty="0"/>
            </a:br>
            <a:r>
              <a:rPr lang="en-CA" dirty="0"/>
              <a:t>and their fields</a:t>
            </a:r>
          </a:p>
          <a:p>
            <a:pPr lvl="1"/>
            <a:r>
              <a:rPr lang="en-CA" sz="2000" dirty="0"/>
              <a:t>Enables type-safe parsing and serialization</a:t>
            </a:r>
          </a:p>
          <a:p>
            <a:pPr lvl="1"/>
            <a:r>
              <a:rPr lang="en-CA" sz="2000" dirty="0"/>
              <a:t>Allows introspection of type, size, name, and </a:t>
            </a:r>
            <a:r>
              <a:rPr lang="en-CA" sz="2000" dirty="0" smtClean="0"/>
              <a:t>parents</a:t>
            </a:r>
            <a:endParaRPr lang="en-CA" sz="2000" dirty="0"/>
          </a:p>
        </p:txBody>
      </p:sp>
      <p:sp>
        <p:nvSpPr>
          <p:cNvPr id="12" name="Content Placeholder 6"/>
          <p:cNvSpPr txBox="1">
            <a:spLocks/>
          </p:cNvSpPr>
          <p:nvPr/>
        </p:nvSpPr>
        <p:spPr>
          <a:xfrm>
            <a:off x="513159" y="2702719"/>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endParaRPr lang="en-CA" sz="1350" dirty="0">
              <a:solidFill>
                <a:srgbClr val="000000"/>
              </a:solidFill>
            </a:endParaRPr>
          </a:p>
          <a:p>
            <a:endParaRPr lang="en-CA" sz="1800" dirty="0"/>
          </a:p>
        </p:txBody>
      </p:sp>
      <p:sp>
        <p:nvSpPr>
          <p:cNvPr id="13" name="Content Placeholder 8"/>
          <p:cNvSpPr txBox="1">
            <a:spLocks/>
          </p:cNvSpPr>
          <p:nvPr/>
        </p:nvSpPr>
        <p:spPr>
          <a:xfrm>
            <a:off x="276225" y="2796508"/>
            <a:ext cx="7953375" cy="19008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Ext4SuperBlock::parse(</a:t>
            </a:r>
            <a:r>
              <a:rPr lang="en-CA" sz="1500" dirty="0" err="1">
                <a:solidFill>
                  <a:srgbClr val="000000"/>
                </a:solidFill>
                <a:latin typeface="Courier New" panose="02070309020205020404" pitchFamily="49" charset="0"/>
                <a:cs typeface="Courier New" panose="02070309020205020404" pitchFamily="49" charset="0"/>
              </a:rPr>
              <a:t>const</a:t>
            </a:r>
            <a:r>
              <a:rPr lang="en-CA" sz="1500" dirty="0">
                <a:solidFill>
                  <a:srgbClr val="000000"/>
                </a:solidFill>
                <a:latin typeface="Courier New" panose="02070309020205020404" pitchFamily="49" charset="0"/>
                <a:cs typeface="Courier New" panose="02070309020205020404" pitchFamily="49" charset="0"/>
              </a:rPr>
              <a:t> char * &amp; </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unsigned &amp;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ret;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((ret = </a:t>
            </a:r>
            <a:r>
              <a:rPr lang="en-CA" sz="1500" dirty="0" err="1">
                <a:solidFill>
                  <a:srgbClr val="000000"/>
                </a:solidFill>
                <a:latin typeface="Courier New" panose="02070309020205020404" pitchFamily="49" charset="0"/>
                <a:cs typeface="Courier New" panose="02070309020205020404" pitchFamily="49" charset="0"/>
              </a:rPr>
              <a:t>s_log_block_size.parse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buf</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len</a:t>
            </a:r>
            <a:r>
              <a:rPr lang="en-CA" sz="1500" dirty="0">
                <a:solidFill>
                  <a:srgbClr val="000000"/>
                </a:solidFill>
                <a:latin typeface="Courier New" panose="02070309020205020404" pitchFamily="49" charset="0"/>
                <a:cs typeface="Courier New" panose="02070309020205020404" pitchFamily="49" charset="0"/>
              </a:rPr>
              <a:t>)) &lt; 0) return ret;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 &lt;= 6))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if (!(</a:t>
            </a:r>
            <a:r>
              <a:rPr lang="en-CA" sz="1500" dirty="0" err="1">
                <a:solidFill>
                  <a:srgbClr val="000000"/>
                </a:solidFill>
                <a:latin typeface="Courier New" panose="02070309020205020404" pitchFamily="49" charset="0"/>
                <a:cs typeface="Courier New" panose="02070309020205020404" pitchFamily="49" charset="0"/>
              </a:rPr>
              <a:t>s_magic</a:t>
            </a:r>
            <a:r>
              <a:rPr lang="en-CA" sz="1500" dirty="0">
                <a:solidFill>
                  <a:srgbClr val="000000"/>
                </a:solidFill>
                <a:latin typeface="Courier New" panose="02070309020205020404" pitchFamily="49" charset="0"/>
                <a:cs typeface="Courier New" panose="02070309020205020404" pitchFamily="49" charset="0"/>
              </a:rPr>
              <a:t> == 0xef53)) return ERR_CORRUPT;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a:t>
            </a:r>
          </a:p>
        </p:txBody>
      </p:sp>
      <p:sp>
        <p:nvSpPr>
          <p:cNvPr id="14" name="Content Placeholder 6"/>
          <p:cNvSpPr txBox="1">
            <a:spLocks/>
          </p:cNvSpPr>
          <p:nvPr/>
        </p:nvSpPr>
        <p:spPr>
          <a:xfrm>
            <a:off x="276225" y="2388192"/>
            <a:ext cx="7714060" cy="388144"/>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buNone/>
            </a:pPr>
            <a:r>
              <a:rPr lang="en-CA" sz="1800" dirty="0">
                <a:solidFill>
                  <a:srgbClr val="000000"/>
                </a:solidFill>
              </a:rPr>
              <a:t>Generated Code for ext4_super_block</a:t>
            </a:r>
          </a:p>
          <a:p>
            <a:pPr marL="0" indent="0">
              <a:buNone/>
            </a:pPr>
            <a:endParaRPr lang="en-CA" sz="1350" dirty="0">
              <a:solidFill>
                <a:srgbClr val="000000"/>
              </a:solidFill>
            </a:endParaRPr>
          </a:p>
          <a:p>
            <a:endParaRPr lang="en-CA" sz="1800" dirty="0">
              <a:solidFill>
                <a:srgbClr val="000000"/>
              </a:solidFill>
            </a:endParaRPr>
          </a:p>
        </p:txBody>
      </p:sp>
    </p:spTree>
    <p:extLst>
      <p:ext uri="{BB962C8B-B14F-4D97-AF65-F5344CB8AC3E}">
        <p14:creationId xmlns:p14="http://schemas.microsoft.com/office/powerpoint/2010/main" val="1147744131"/>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pPr marL="0" indent="0">
              <a:buNone/>
            </a:pPr>
            <a:endParaRPr lang="en-CA" dirty="0" smtClean="0"/>
          </a:p>
          <a:p>
            <a:pPr marL="0" indent="0">
              <a:buNone/>
            </a:pPr>
            <a:endParaRPr lang="en-CA" dirty="0"/>
          </a:p>
          <a:p>
            <a:pPr marL="0" indent="0">
              <a:buNone/>
            </a:pPr>
            <a:endParaRPr lang="en-CA" dirty="0" smtClean="0"/>
          </a:p>
          <a:p>
            <a:r>
              <a:rPr lang="en-CA" dirty="0" smtClean="0"/>
              <a:t>Lines of code required to correctly annotate file systems</a:t>
            </a:r>
          </a:p>
          <a:p>
            <a:pPr lvl="1"/>
            <a:r>
              <a:rPr lang="en-CA" dirty="0" smtClean="0"/>
              <a:t>Need to declare some structures</a:t>
            </a:r>
          </a:p>
          <a:p>
            <a:pPr lvl="2"/>
            <a:r>
              <a:rPr lang="en-CA" dirty="0" smtClean="0"/>
              <a:t>E.g. Ext4 indirect block assumed to be an array of 4-byte pointers</a:t>
            </a:r>
          </a:p>
          <a:p>
            <a:pPr lvl="1"/>
            <a:r>
              <a:rPr lang="en-CA" dirty="0" smtClean="0"/>
              <a:t>Changed some structures for clarity</a:t>
            </a:r>
          </a:p>
          <a:p>
            <a:pPr lvl="2"/>
            <a:r>
              <a:rPr lang="en-CA" dirty="0" smtClean="0"/>
              <a:t>E.g. block pointers in Ext4 </a:t>
            </a:r>
            <a:r>
              <a:rPr lang="en-CA" dirty="0" err="1" smtClean="0"/>
              <a:t>inode</a:t>
            </a:r>
            <a:r>
              <a:rPr lang="en-CA" dirty="0" smtClean="0"/>
              <a:t> is an array of 15 pointers: first 12 are direct pointers, last 3 are indirect pointers of different types</a:t>
            </a:r>
          </a:p>
          <a:p>
            <a:pPr lvl="2"/>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2752715296"/>
              </p:ext>
            </p:extLst>
          </p:nvPr>
        </p:nvGraphicFramePr>
        <p:xfrm>
          <a:off x="2012100" y="803910"/>
          <a:ext cx="4769700" cy="1310640"/>
        </p:xfrm>
        <a:graphic>
          <a:graphicData uri="http://schemas.openxmlformats.org/drawingml/2006/table">
            <a:tbl>
              <a:tblPr firstRow="1" bandRow="1">
                <a:tableStyleId>{69012ECD-51FC-41F1-AA8D-1B2483CD663E}</a:tableStyleId>
              </a:tblPr>
              <a:tblGrid>
                <a:gridCol w="1589900">
                  <a:extLst>
                    <a:ext uri="{9D8B030D-6E8A-4147-A177-3AD203B41FA5}">
                      <a16:colId xmlns:a16="http://schemas.microsoft.com/office/drawing/2014/main" xmlns="" val="20000"/>
                    </a:ext>
                  </a:extLst>
                </a:gridCol>
                <a:gridCol w="1589900">
                  <a:extLst>
                    <a:ext uri="{9D8B030D-6E8A-4147-A177-3AD203B41FA5}">
                      <a16:colId xmlns:a16="http://schemas.microsoft.com/office/drawing/2014/main" xmlns="" val="20001"/>
                    </a:ext>
                  </a:extLst>
                </a:gridCol>
                <a:gridCol w="1589900">
                  <a:extLst>
                    <a:ext uri="{9D8B030D-6E8A-4147-A177-3AD203B41FA5}">
                      <a16:colId xmlns:a16="http://schemas.microsoft.com/office/drawing/2014/main" xmlns="" val="20002"/>
                    </a:ext>
                  </a:extLst>
                </a:gridCol>
              </a:tblGrid>
              <a:tr h="320040">
                <a:tc>
                  <a:txBody>
                    <a:bodyPr/>
                    <a:lstStyle/>
                    <a:p>
                      <a:r>
                        <a:rPr lang="en-CA" sz="1700" dirty="0" smtClean="0">
                          <a:solidFill>
                            <a:schemeClr val="tx1"/>
                          </a:solidFill>
                        </a:rPr>
                        <a:t>File System</a:t>
                      </a:r>
                      <a:endParaRPr lang="en-CA" sz="1700" dirty="0">
                        <a:solidFill>
                          <a:schemeClr val="tx1"/>
                        </a:solidFill>
                      </a:endParaRPr>
                    </a:p>
                  </a:txBody>
                  <a:tcPr marL="68580" marR="68580" marT="34290" marB="34290"/>
                </a:tc>
                <a:tc>
                  <a:txBody>
                    <a:bodyPr/>
                    <a:lstStyle/>
                    <a:p>
                      <a:r>
                        <a:rPr lang="en-CA" sz="1700" dirty="0" smtClean="0">
                          <a:solidFill>
                            <a:schemeClr val="tx1"/>
                          </a:solidFill>
                        </a:rPr>
                        <a:t>Line Count</a:t>
                      </a:r>
                      <a:endParaRPr lang="en-CA" sz="1700" dirty="0">
                        <a:solidFill>
                          <a:schemeClr val="tx1"/>
                        </a:solidFill>
                      </a:endParaRPr>
                    </a:p>
                  </a:txBody>
                  <a:tcPr marL="68580" marR="68580" marT="34290" marB="34290"/>
                </a:tc>
                <a:tc>
                  <a:txBody>
                    <a:bodyPr/>
                    <a:lstStyle/>
                    <a:p>
                      <a:r>
                        <a:rPr lang="en-CA" sz="1700" dirty="0" smtClean="0">
                          <a:solidFill>
                            <a:schemeClr val="tx1"/>
                          </a:solidFill>
                        </a:rPr>
                        <a:t>Annotated</a:t>
                      </a:r>
                      <a:endParaRPr lang="en-CA" sz="1700" dirty="0">
                        <a:solidFill>
                          <a:schemeClr val="tx1"/>
                        </a:solidFill>
                      </a:endParaRPr>
                    </a:p>
                  </a:txBody>
                  <a:tcPr marL="68580" marR="68580" marT="34290" marB="34290"/>
                </a:tc>
                <a:extLst>
                  <a:ext uri="{0D108BD9-81ED-4DB2-BD59-A6C34878D82A}">
                    <a16:rowId xmlns:a16="http://schemas.microsoft.com/office/drawing/2014/main" xmlns="" val="10000"/>
                  </a:ext>
                </a:extLst>
              </a:tr>
              <a:tr h="320040">
                <a:tc>
                  <a:txBody>
                    <a:bodyPr/>
                    <a:lstStyle/>
                    <a:p>
                      <a:r>
                        <a:rPr lang="en-CA" sz="1700" dirty="0" smtClean="0">
                          <a:solidFill>
                            <a:srgbClr val="000000"/>
                          </a:solidFill>
                        </a:rPr>
                        <a:t>Ext4</a:t>
                      </a:r>
                      <a:endParaRPr lang="en-CA" sz="1700" dirty="0">
                        <a:solidFill>
                          <a:srgbClr val="000000"/>
                        </a:solidFill>
                      </a:endParaRPr>
                    </a:p>
                  </a:txBody>
                  <a:tcPr marL="68580" marR="68580" marT="34290" marB="34290"/>
                </a:tc>
                <a:tc>
                  <a:txBody>
                    <a:bodyPr/>
                    <a:lstStyle/>
                    <a:p>
                      <a:r>
                        <a:rPr lang="en-CA" sz="1700" dirty="0" smtClean="0">
                          <a:solidFill>
                            <a:srgbClr val="000000"/>
                          </a:solidFill>
                        </a:rPr>
                        <a:t>491</a:t>
                      </a:r>
                      <a:endParaRPr lang="en-CA" sz="1700" dirty="0">
                        <a:solidFill>
                          <a:srgbClr val="000000"/>
                        </a:solidFill>
                      </a:endParaRPr>
                    </a:p>
                  </a:txBody>
                  <a:tcPr marL="68580" marR="68580" marT="34290" marB="34290"/>
                </a:tc>
                <a:tc>
                  <a:txBody>
                    <a:bodyPr/>
                    <a:lstStyle/>
                    <a:p>
                      <a:r>
                        <a:rPr lang="en-CA" sz="1700" dirty="0" smtClean="0">
                          <a:solidFill>
                            <a:srgbClr val="000000"/>
                          </a:solidFill>
                        </a:rPr>
                        <a:t>113</a:t>
                      </a:r>
                      <a:endParaRPr lang="en-CA" sz="1700" dirty="0">
                        <a:solidFill>
                          <a:srgbClr val="000000"/>
                        </a:solidFill>
                      </a:endParaRPr>
                    </a:p>
                  </a:txBody>
                  <a:tcPr marL="68580" marR="68580" marT="34290" marB="34290"/>
                </a:tc>
                <a:extLst>
                  <a:ext uri="{0D108BD9-81ED-4DB2-BD59-A6C34878D82A}">
                    <a16:rowId xmlns:a16="http://schemas.microsoft.com/office/drawing/2014/main" xmlns="" val="10001"/>
                  </a:ext>
                </a:extLst>
              </a:tr>
              <a:tr h="320040">
                <a:tc>
                  <a:txBody>
                    <a:bodyPr/>
                    <a:lstStyle/>
                    <a:p>
                      <a:r>
                        <a:rPr lang="en-CA" sz="1700" dirty="0" err="1" smtClean="0">
                          <a:solidFill>
                            <a:srgbClr val="000000"/>
                          </a:solidFill>
                        </a:rPr>
                        <a:t>Btrfs</a:t>
                      </a:r>
                      <a:endParaRPr lang="en-CA" sz="1700" dirty="0">
                        <a:solidFill>
                          <a:srgbClr val="000000"/>
                        </a:solidFill>
                      </a:endParaRPr>
                    </a:p>
                  </a:txBody>
                  <a:tcPr marL="68580" marR="68580" marT="34290" marB="34290"/>
                </a:tc>
                <a:tc>
                  <a:txBody>
                    <a:bodyPr/>
                    <a:lstStyle/>
                    <a:p>
                      <a:r>
                        <a:rPr lang="en-CA" sz="1700" dirty="0" smtClean="0">
                          <a:solidFill>
                            <a:srgbClr val="000000"/>
                          </a:solidFill>
                        </a:rPr>
                        <a:t>556</a:t>
                      </a:r>
                      <a:endParaRPr lang="en-CA" sz="1700" dirty="0">
                        <a:solidFill>
                          <a:srgbClr val="000000"/>
                        </a:solidFill>
                      </a:endParaRPr>
                    </a:p>
                  </a:txBody>
                  <a:tcPr marL="68580" marR="68580" marT="34290" marB="34290"/>
                </a:tc>
                <a:tc>
                  <a:txBody>
                    <a:bodyPr/>
                    <a:lstStyle/>
                    <a:p>
                      <a:r>
                        <a:rPr lang="en-CA" sz="1700" dirty="0" smtClean="0">
                          <a:solidFill>
                            <a:srgbClr val="000000"/>
                          </a:solidFill>
                        </a:rPr>
                        <a:t>151</a:t>
                      </a:r>
                      <a:endParaRPr lang="en-CA" sz="1700" dirty="0">
                        <a:solidFill>
                          <a:srgbClr val="000000"/>
                        </a:solidFill>
                      </a:endParaRPr>
                    </a:p>
                  </a:txBody>
                  <a:tcPr marL="68580" marR="68580" marT="34290" marB="34290"/>
                </a:tc>
                <a:extLst>
                  <a:ext uri="{0D108BD9-81ED-4DB2-BD59-A6C34878D82A}">
                    <a16:rowId xmlns:a16="http://schemas.microsoft.com/office/drawing/2014/main" xmlns="" val="10002"/>
                  </a:ext>
                </a:extLst>
              </a:tr>
              <a:tr h="320040">
                <a:tc>
                  <a:txBody>
                    <a:bodyPr/>
                    <a:lstStyle/>
                    <a:p>
                      <a:r>
                        <a:rPr lang="en-CA" sz="1700" dirty="0" smtClean="0">
                          <a:solidFill>
                            <a:srgbClr val="000000"/>
                          </a:solidFill>
                        </a:rPr>
                        <a:t>F2FS</a:t>
                      </a:r>
                      <a:endParaRPr lang="en-CA" sz="1700" dirty="0">
                        <a:solidFill>
                          <a:srgbClr val="000000"/>
                        </a:solidFill>
                      </a:endParaRPr>
                    </a:p>
                  </a:txBody>
                  <a:tcPr marL="68580" marR="68580" marT="34290" marB="34290"/>
                </a:tc>
                <a:tc>
                  <a:txBody>
                    <a:bodyPr/>
                    <a:lstStyle/>
                    <a:p>
                      <a:r>
                        <a:rPr lang="en-CA" sz="1700" dirty="0" smtClean="0">
                          <a:solidFill>
                            <a:srgbClr val="000000"/>
                          </a:solidFill>
                        </a:rPr>
                        <a:t>462</a:t>
                      </a:r>
                      <a:endParaRPr lang="en-CA" sz="1700" dirty="0">
                        <a:solidFill>
                          <a:srgbClr val="000000"/>
                        </a:solidFill>
                      </a:endParaRPr>
                    </a:p>
                  </a:txBody>
                  <a:tcPr marL="68580" marR="68580" marT="34290" marB="34290"/>
                </a:tc>
                <a:tc>
                  <a:txBody>
                    <a:bodyPr/>
                    <a:lstStyle/>
                    <a:p>
                      <a:r>
                        <a:rPr lang="en-CA" sz="1700" dirty="0" smtClean="0">
                          <a:solidFill>
                            <a:srgbClr val="000000"/>
                          </a:solidFill>
                        </a:rPr>
                        <a:t>127</a:t>
                      </a:r>
                      <a:endParaRPr lang="en-CA" sz="1700" dirty="0">
                        <a:solidFill>
                          <a:srgbClr val="000000"/>
                        </a:solidFill>
                      </a:endParaRPr>
                    </a:p>
                  </a:txBody>
                  <a:tcPr marL="68580" marR="68580" marT="34290" marB="34290"/>
                </a:tc>
                <a:extLst>
                  <a:ext uri="{0D108BD9-81ED-4DB2-BD59-A6C34878D82A}">
                    <a16:rowId xmlns:a16="http://schemas.microsoft.com/office/drawing/2014/main" xmlns="" val="10003"/>
                  </a:ext>
                </a:extLst>
              </a:tr>
            </a:tbl>
          </a:graphicData>
        </a:graphic>
      </p:graphicFrame>
    </p:spTree>
    <p:extLst>
      <p:ext uri="{BB962C8B-B14F-4D97-AF65-F5344CB8AC3E}">
        <p14:creationId xmlns:p14="http://schemas.microsoft.com/office/powerpoint/2010/main" val="1140062571"/>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Applications</a:t>
            </a:r>
            <a:endParaRPr lang="en-CA" dirty="0"/>
          </a:p>
        </p:txBody>
      </p:sp>
      <p:sp>
        <p:nvSpPr>
          <p:cNvPr id="3" name="Content Placeholder 2"/>
          <p:cNvSpPr>
            <a:spLocks noGrp="1"/>
          </p:cNvSpPr>
          <p:nvPr>
            <p:ph idx="1"/>
          </p:nvPr>
        </p:nvSpPr>
        <p:spPr/>
        <p:txBody>
          <a:bodyPr/>
          <a:lstStyle/>
          <a:p>
            <a:r>
              <a:rPr lang="en-CA" sz="2000" dirty="0" smtClean="0"/>
              <a:t>Example: File System Free Space Tool</a:t>
            </a:r>
          </a:p>
          <a:p>
            <a:pPr lvl="1"/>
            <a:r>
              <a:rPr lang="en-CA" sz="1800" dirty="0" smtClean="0"/>
              <a:t>Plots histogram of size of free extents</a:t>
            </a:r>
          </a:p>
          <a:p>
            <a:pPr lvl="1"/>
            <a:r>
              <a:rPr lang="en-CA" sz="1800" dirty="0" smtClean="0"/>
              <a:t>Application requires knowledge of how file system tracks block allocation</a:t>
            </a:r>
          </a:p>
          <a:p>
            <a:r>
              <a:rPr lang="en-CA" sz="2000" dirty="0" smtClean="0"/>
              <a:t>Manually</a:t>
            </a:r>
          </a:p>
          <a:p>
            <a:pPr lvl="1"/>
            <a:r>
              <a:rPr lang="en-CA" sz="1800" dirty="0" smtClean="0"/>
              <a:t>Write code to traverse file system and access relevant metadata</a:t>
            </a:r>
          </a:p>
          <a:p>
            <a:pPr lvl="2"/>
            <a:r>
              <a:rPr lang="en-CA" sz="1800" dirty="0" smtClean="0"/>
              <a:t>Often through trial-and-error</a:t>
            </a:r>
          </a:p>
          <a:p>
            <a:pPr lvl="1"/>
            <a:r>
              <a:rPr lang="en-CA" sz="1800" dirty="0" smtClean="0"/>
              <a:t>Write code to process relevant metadata</a:t>
            </a:r>
          </a:p>
          <a:p>
            <a:r>
              <a:rPr lang="en-CA" sz="2000" dirty="0" smtClean="0"/>
              <a:t>Spiffy framework</a:t>
            </a:r>
          </a:p>
          <a:p>
            <a:pPr lvl="1"/>
            <a:r>
              <a:rPr lang="en-CA" sz="1800" dirty="0" smtClean="0"/>
              <a:t>Simplifies the traversal and helps make it more robust</a:t>
            </a:r>
          </a:p>
          <a:p>
            <a:pPr lvl="1"/>
            <a:r>
              <a:rPr lang="en-CA" sz="1800" dirty="0" smtClean="0"/>
              <a:t>Application program focuses on processing relevant metadata</a:t>
            </a:r>
          </a:p>
        </p:txBody>
      </p:sp>
    </p:spTree>
    <p:extLst>
      <p:ext uri="{BB962C8B-B14F-4D97-AF65-F5344CB8AC3E}">
        <p14:creationId xmlns:p14="http://schemas.microsoft.com/office/powerpoint/2010/main" val="1981929721"/>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513159" y="819150"/>
            <a:ext cx="7714348" cy="3588077"/>
          </a:xfrm>
          <a:prstGeom prst="rect">
            <a:avLst/>
          </a:prstGeom>
          <a:noFill/>
          <a:ln>
            <a:noFill/>
          </a:ln>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 super block is 1024 bytes away from start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ext4_super_block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1024 &lt;&lt;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dev.set_block_size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2 : 1;</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ceil(</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sizeof</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blk_size</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struct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ext4_group_desc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bg_blknr</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bg_nblks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for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0;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&lt;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bg_ngrps</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char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 </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dev.read_block</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latin typeface="Courier New" panose="02070309020205020404" pitchFamily="49" charset="0"/>
                <a:cs typeface="Courier New" panose="02070309020205020404" pitchFamily="49" charset="0"/>
              </a:rPr>
              <a:t>int</a:t>
            </a:r>
            <a:r>
              <a:rPr lang="en-CA" sz="1350" b="1" dirty="0">
                <a:solidFill>
                  <a:srgbClr val="000000"/>
                </a:solidFill>
                <a:latin typeface="Courier New" panose="02070309020205020404" pitchFamily="49" charset="0"/>
                <a:cs typeface="Courier New" panose="02070309020205020404" pitchFamily="49" charset="0"/>
              </a:rPr>
              <a:t> ret = </a:t>
            </a:r>
            <a:r>
              <a:rPr lang="en-CA" sz="1350" b="1" dirty="0" err="1">
                <a:solidFill>
                  <a:srgbClr val="000000"/>
                </a:solidFill>
                <a:latin typeface="Courier New" panose="02070309020205020404" pitchFamily="49" charset="0"/>
                <a:cs typeface="Courier New" panose="02070309020205020404" pitchFamily="49" charset="0"/>
              </a:rPr>
              <a:t>process_block_bitmap</a:t>
            </a:r>
            <a:r>
              <a:rPr lang="en-CA" sz="1350" b="1" dirty="0">
                <a:solidFill>
                  <a:srgbClr val="000000"/>
                </a:solidFill>
                <a:latin typeface="Courier New" panose="02070309020205020404" pitchFamily="49" charset="0"/>
                <a:cs typeface="Courier New" panose="02070309020205020404" pitchFamily="49" charset="0"/>
              </a:rPr>
              <a:t>(</a:t>
            </a:r>
            <a:r>
              <a:rPr lang="en-CA" sz="1350" b="1" dirty="0" err="1">
                <a:solidFill>
                  <a:srgbClr val="000000"/>
                </a:solidFill>
                <a:latin typeface="Courier New" panose="02070309020205020404" pitchFamily="49" charset="0"/>
                <a:cs typeface="Courier New" panose="02070309020205020404" pitchFamily="49" charset="0"/>
              </a:rPr>
              <a:t>buf</a:t>
            </a:r>
            <a:r>
              <a:rPr lang="en-CA" sz="1350" b="1"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latin typeface="Courier New" panose="02070309020205020404" pitchFamily="49" charset="0"/>
                <a:cs typeface="Courier New" panose="02070309020205020404" pitchFamily="49" charset="0"/>
              </a:rPr>
              <a:t>vec</a:t>
            </a:r>
            <a:r>
              <a:rPr lang="en-CA" sz="1350" b="1"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7" name="TextBox 6"/>
          <p:cNvSpPr txBox="1"/>
          <p:nvPr/>
        </p:nvSpPr>
        <p:spPr>
          <a:xfrm>
            <a:off x="1456462" y="3742925"/>
            <a:ext cx="5914361" cy="432072"/>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sz="1200" dirty="0">
                <a:solidFill>
                  <a:srgbClr val="000000"/>
                </a:solidFill>
              </a:rPr>
              <a:t>LOTS of boilerplate code to walk through the intermediate structures</a:t>
            </a:r>
          </a:p>
        </p:txBody>
      </p:sp>
    </p:spTree>
    <p:extLst>
      <p:ext uri="{BB962C8B-B14F-4D97-AF65-F5344CB8AC3E}">
        <p14:creationId xmlns:p14="http://schemas.microsoft.com/office/powerpoint/2010/main" val="4228108000"/>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513159" y="819150"/>
            <a:ext cx="7714348" cy="3588077"/>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ext4 super block is 1024 bytes away from start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ext4_super_block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a:t>
            </a:r>
            <a:r>
              <a:rPr lang="en-CA" sz="1350" dirty="0">
                <a:solidFill>
                  <a:srgbClr val="000000"/>
                </a:solidFill>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 = 1024 &lt;&lt;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dev.set_block_size</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 == 0) 2 : 1;</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s_blocks_count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s_blocks_per_group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sizeof</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 </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for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 0;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&lt;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char * </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]-&gt;</a:t>
            </a:r>
            <a:r>
              <a:rPr lang="en-CA" sz="1350" dirty="0" err="1">
                <a:solidFill>
                  <a:srgbClr val="000000"/>
                </a:solidFill>
                <a:latin typeface="Courier New" panose="02070309020205020404" pitchFamily="49" charset="0"/>
                <a:cs typeface="Courier New" panose="02070309020205020404" pitchFamily="49" charset="0"/>
              </a:rPr>
              <a:t>bg_block_bitmap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int</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ret =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process_block_bitmap</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buf</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 </a:t>
            </a:r>
            <a:r>
              <a:rPr lang="en-CA" sz="1350" b="1" dirty="0" err="1">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vec</a:t>
            </a:r>
            <a:r>
              <a:rPr lang="en-CA" sz="1350" b="1" dirty="0">
                <a:solidFill>
                  <a:srgbClr val="000000"/>
                </a:solidFill>
                <a:effectLst>
                  <a:glow rad="139700">
                    <a:schemeClr val="accent5">
                      <a:lumMod val="60000"/>
                      <a:lumOff val="40000"/>
                      <a:alpha val="40000"/>
                    </a:schemeClr>
                  </a:glow>
                </a:effectLst>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11" name="TextBox 10"/>
          <p:cNvSpPr txBox="1"/>
          <p:nvPr/>
        </p:nvSpPr>
        <p:spPr>
          <a:xfrm>
            <a:off x="2261757" y="3742925"/>
            <a:ext cx="4353788" cy="432072"/>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sz="1200" dirty="0">
                <a:solidFill>
                  <a:srgbClr val="000000"/>
                </a:solidFill>
              </a:rPr>
              <a:t>Ideally, we would only have to write this function</a:t>
            </a:r>
          </a:p>
        </p:txBody>
      </p:sp>
      <p:cxnSp>
        <p:nvCxnSpPr>
          <p:cNvPr id="8" name="Straight Arrow Connector 7"/>
          <p:cNvCxnSpPr/>
          <p:nvPr/>
        </p:nvCxnSpPr>
        <p:spPr>
          <a:xfrm flipH="1" flipV="1">
            <a:off x="5347855" y="3430800"/>
            <a:ext cx="900545" cy="549011"/>
          </a:xfrm>
          <a:prstGeom prst="bentConnector3">
            <a:avLst>
              <a:gd name="adj1" fmla="val -25385"/>
            </a:avLst>
          </a:prstGeom>
          <a:ln w="38100">
            <a:solidFill>
              <a:schemeClr val="tx1">
                <a:alpha val="7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08184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6"/>
          <p:cNvSpPr txBox="1">
            <a:spLocks/>
          </p:cNvSpPr>
          <p:nvPr/>
        </p:nvSpPr>
        <p:spPr>
          <a:xfrm>
            <a:off x="513159" y="819150"/>
            <a:ext cx="7714348" cy="3588077"/>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1500"/>
              </a:lnSpc>
              <a:spcBef>
                <a:spcPts val="0"/>
              </a:spcBef>
              <a:spcAft>
                <a:spcPts val="0"/>
              </a:spcAft>
              <a:buNone/>
            </a:pP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b="1" dirty="0">
                <a:solidFill>
                  <a:srgbClr val="000000"/>
                </a:solidFill>
                <a:latin typeface="Courier New" panose="02070309020205020404" pitchFamily="49" charset="0"/>
                <a:cs typeface="Courier New" panose="02070309020205020404" pitchFamily="49" charset="0"/>
              </a:rPr>
              <a:t>process_ext4</a:t>
            </a:r>
            <a:r>
              <a:rPr lang="en-CA" sz="1350" dirty="0">
                <a:solidFill>
                  <a:srgbClr val="000000"/>
                </a:solidFill>
                <a:latin typeface="Courier New" panose="02070309020205020404" pitchFamily="49" charset="0"/>
                <a:cs typeface="Courier New" panose="02070309020205020404" pitchFamily="49" charset="0"/>
              </a:rPr>
              <a:t>(vector&lt;Extent&gt; &amp;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 Device &amp; dev)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ext4 super block is 1024 bytes away from start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ext4_super_block * </a:t>
            </a:r>
            <a:r>
              <a:rPr lang="en-CA" sz="1350" dirty="0" err="1">
                <a:solidFill>
                  <a:srgbClr val="000000"/>
                </a:solidFill>
                <a:latin typeface="Courier New" panose="02070309020205020404" pitchFamily="49" charset="0"/>
                <a:cs typeface="Courier New" panose="02070309020205020404" pitchFamily="49" charset="0"/>
              </a:rPr>
              <a:t>sb</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a:t>
            </a:r>
            <a:r>
              <a:rPr lang="en-CA" sz="1350" dirty="0">
                <a:solidFill>
                  <a:srgbClr val="000000"/>
                </a:solidFill>
                <a:latin typeface="Courier New" panose="02070309020205020404" pitchFamily="49" charset="0"/>
                <a:cs typeface="Courier New" panose="02070309020205020404" pitchFamily="49" charset="0"/>
              </a:rPr>
              <a:t>(1024, SB_SIZE);</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 = 1024 &lt;&lt;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dev.set_block_size</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block group descriptors start at block 2 or 1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s_log_block_size</a:t>
            </a:r>
            <a:r>
              <a:rPr lang="en-CA" sz="1350" b="1" dirty="0">
                <a:solidFill>
                  <a:srgbClr val="000000"/>
                </a:solidFill>
                <a:effectLst>
                  <a:glow rad="101600">
                    <a:srgbClr val="FFFF00">
                      <a:alpha val="40000"/>
                    </a:srgbClr>
                  </a:glow>
                </a:effectLst>
                <a:latin typeface="Courier New" panose="02070309020205020404" pitchFamily="49" charset="0"/>
                <a:cs typeface="Courier New" panose="02070309020205020404" pitchFamily="49" charset="0"/>
              </a:rPr>
              <a:t> </a:t>
            </a:r>
            <a:r>
              <a:rPr lang="en-CA" sz="1350" dirty="0">
                <a:solidFill>
                  <a:srgbClr val="000000"/>
                </a:solidFill>
                <a:latin typeface="Courier New" panose="02070309020205020404" pitchFamily="49" charset="0"/>
                <a:cs typeface="Courier New" panose="02070309020205020404" pitchFamily="49" charset="0"/>
              </a:rPr>
              <a:t>== 0) 2 : 1;</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 ceil(</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s_blocks_count</a:t>
            </a:r>
            <a:r>
              <a:rPr lang="en-CA" sz="1350" dirty="0">
                <a:solidFill>
                  <a:srgbClr val="000000"/>
                </a:solidFill>
                <a:latin typeface="Courier New" panose="02070309020205020404" pitchFamily="49" charset="0"/>
                <a:cs typeface="Courier New" panose="02070309020205020404" pitchFamily="49" charset="0"/>
              </a:rPr>
              <a:t>, </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sb</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s_blocks_per_group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 = ceil(</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sizeof</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a:t>
            </a:r>
            <a:r>
              <a:rPr lang="en-CA" sz="1350" dirty="0" err="1">
                <a:solidFill>
                  <a:srgbClr val="000000"/>
                </a:solidFill>
                <a:latin typeface="Courier New" panose="02070309020205020404" pitchFamily="49" charset="0"/>
                <a:cs typeface="Courier New" panose="02070309020205020404" pitchFamily="49" charset="0"/>
              </a:rPr>
              <a:t>blk_size</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 read all of the block group descriptors into memory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struct</a:t>
            </a:r>
            <a:r>
              <a:rPr lang="en-CA" sz="1350" dirty="0">
                <a:solidFill>
                  <a:srgbClr val="000000"/>
                </a:solidFill>
                <a:latin typeface="Courier New" panose="02070309020205020404" pitchFamily="49" charset="0"/>
                <a:cs typeface="Courier New" panose="02070309020205020404" pitchFamily="49" charset="0"/>
              </a:rPr>
              <a:t> ext4_group_desc * </a:t>
            </a:r>
            <a:r>
              <a:rPr lang="en-CA" sz="1350" dirty="0" err="1">
                <a:solidFill>
                  <a:srgbClr val="000000"/>
                </a:solidFill>
                <a:latin typeface="Courier New" panose="02070309020205020404" pitchFamily="49" charset="0"/>
                <a:cs typeface="Courier New" panose="02070309020205020404" pitchFamily="49" charset="0"/>
              </a:rPr>
              <a:t>gd</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bg_blknr</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bg_nblks</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for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 0;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&lt; </a:t>
            </a:r>
            <a:r>
              <a:rPr lang="en-CA" sz="1350" dirty="0" err="1">
                <a:solidFill>
                  <a:srgbClr val="000000"/>
                </a:solidFill>
                <a:latin typeface="Courier New" panose="02070309020205020404" pitchFamily="49" charset="0"/>
                <a:cs typeface="Courier New" panose="02070309020205020404" pitchFamily="49" charset="0"/>
              </a:rPr>
              <a:t>bg_ngrps</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a:t>
            </a: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char * </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 </a:t>
            </a:r>
            <a:r>
              <a:rPr lang="en-CA" sz="1350" dirty="0" err="1">
                <a:solidFill>
                  <a:srgbClr val="000000"/>
                </a:solidFill>
                <a:latin typeface="Courier New" panose="02070309020205020404" pitchFamily="49" charset="0"/>
                <a:cs typeface="Courier New" panose="02070309020205020404" pitchFamily="49" charset="0"/>
              </a:rPr>
              <a:t>dev.read_block</a:t>
            </a:r>
            <a:r>
              <a:rPr lang="en-CA" sz="1350" dirty="0">
                <a:solidFill>
                  <a:srgbClr val="000000"/>
                </a:solidFill>
                <a:latin typeface="Courier New" panose="02070309020205020404" pitchFamily="49" charset="0"/>
                <a:cs typeface="Courier New" panose="02070309020205020404" pitchFamily="49" charset="0"/>
              </a:rPr>
              <a: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gd</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i</a:t>
            </a:r>
            <a:r>
              <a:rPr lang="en-CA" sz="1350" b="1" dirty="0">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]-&gt;</a:t>
            </a:r>
            <a:r>
              <a:rPr lang="en-CA" sz="1350" b="1" dirty="0" err="1">
                <a:solidFill>
                  <a:srgbClr val="000000"/>
                </a:solidFill>
                <a:effectLst>
                  <a:glow rad="101600">
                    <a:schemeClr val="accent5">
                      <a:lumMod val="60000"/>
                      <a:lumOff val="40000"/>
                      <a:alpha val="40000"/>
                    </a:schemeClr>
                  </a:glow>
                </a:effectLst>
                <a:latin typeface="Courier New" panose="02070309020205020404" pitchFamily="49" charset="0"/>
                <a:cs typeface="Courier New" panose="02070309020205020404" pitchFamily="49" charset="0"/>
              </a:rPr>
              <a:t>bg_block_bitmap</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int</a:t>
            </a:r>
            <a:r>
              <a:rPr lang="en-CA" sz="1350" dirty="0">
                <a:solidFill>
                  <a:srgbClr val="000000"/>
                </a:solidFill>
                <a:latin typeface="Courier New" panose="02070309020205020404" pitchFamily="49" charset="0"/>
                <a:cs typeface="Courier New" panose="02070309020205020404" pitchFamily="49" charset="0"/>
              </a:rPr>
              <a:t> ret = </a:t>
            </a:r>
            <a:r>
              <a:rPr lang="en-CA" sz="1350" dirty="0" err="1">
                <a:solidFill>
                  <a:srgbClr val="000000"/>
                </a:solidFill>
                <a:latin typeface="Courier New" panose="02070309020205020404" pitchFamily="49" charset="0"/>
                <a:cs typeface="Courier New" panose="02070309020205020404" pitchFamily="49" charset="0"/>
              </a:rPr>
              <a:t>process_block_bitmap</a:t>
            </a:r>
            <a:r>
              <a:rPr lang="en-CA" sz="1350" dirty="0">
                <a:solidFill>
                  <a:srgbClr val="000000"/>
                </a:solidFill>
                <a:latin typeface="Courier New" panose="02070309020205020404" pitchFamily="49" charset="0"/>
                <a:cs typeface="Courier New" panose="02070309020205020404" pitchFamily="49" charset="0"/>
              </a:rPr>
              <a:t>(</a:t>
            </a:r>
            <a:r>
              <a:rPr lang="en-CA" sz="1350" dirty="0" err="1">
                <a:solidFill>
                  <a:srgbClr val="000000"/>
                </a:solidFill>
                <a:latin typeface="Courier New" panose="02070309020205020404" pitchFamily="49" charset="0"/>
                <a:cs typeface="Courier New" panose="02070309020205020404" pitchFamily="49" charset="0"/>
              </a:rPr>
              <a:t>buf</a:t>
            </a:r>
            <a:r>
              <a:rPr lang="en-CA" sz="1350" dirty="0">
                <a:solidFill>
                  <a:srgbClr val="000000"/>
                </a:solidFill>
                <a:latin typeface="Courier New" panose="02070309020205020404" pitchFamily="49" charset="0"/>
                <a:cs typeface="Courier New" panose="02070309020205020404" pitchFamily="49" charset="0"/>
              </a:rPr>
              <a:t>, </a:t>
            </a:r>
            <a:r>
              <a:rPr lang="en-CA" sz="1350" dirty="0" err="1">
                <a:solidFill>
                  <a:srgbClr val="000000"/>
                </a:solidFill>
                <a:latin typeface="Courier New" panose="02070309020205020404" pitchFamily="49" charset="0"/>
                <a:cs typeface="Courier New" panose="02070309020205020404" pitchFamily="49" charset="0"/>
              </a:rPr>
              <a:t>vec</a:t>
            </a:r>
            <a:r>
              <a:rPr lang="en-CA" sz="1350" dirty="0">
                <a:solidFill>
                  <a:srgbClr val="000000"/>
                </a:solidFill>
                <a:latin typeface="Courier New" panose="02070309020205020404" pitchFamily="49" charset="0"/>
                <a:cs typeface="Courier New" panose="02070309020205020404" pitchFamily="49" charset="0"/>
              </a:rPr>
              <a:t>);</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  …</a:t>
            </a:r>
          </a:p>
          <a:p>
            <a:pPr marL="0" indent="0">
              <a:lnSpc>
                <a:spcPts val="1500"/>
              </a:lnSpc>
              <a:spcBef>
                <a:spcPts val="0"/>
              </a:spcBef>
              <a:spcAft>
                <a:spcPts val="0"/>
              </a:spcAft>
              <a:buNone/>
            </a:pPr>
            <a:r>
              <a:rPr lang="en-CA" sz="1350" dirty="0">
                <a:solidFill>
                  <a:srgbClr val="000000"/>
                </a:solidFill>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13" name="TextBox 12"/>
          <p:cNvSpPr txBox="1"/>
          <p:nvPr/>
        </p:nvSpPr>
        <p:spPr>
          <a:xfrm>
            <a:off x="2428875" y="3742925"/>
            <a:ext cx="4941948" cy="632097"/>
          </a:xfrm>
          <a:prstGeom prst="rect">
            <a:avLst/>
          </a:prstGeom>
          <a:solidFill>
            <a:srgbClr val="FFFF00"/>
          </a:solidFill>
          <a:ln w="12700">
            <a:solidFill>
              <a:schemeClr val="bg1"/>
            </a:solidFill>
            <a:prstDash val="solid"/>
          </a:ln>
        </p:spPr>
        <p:txBody>
          <a:bodyPr wrap="square" rtlCol="0" anchor="ctr" anchorCtr="0">
            <a:noAutofit/>
          </a:bodyPr>
          <a:lstStyle/>
          <a:p>
            <a:pPr algn="ctr">
              <a:lnSpc>
                <a:spcPts val="1800"/>
              </a:lnSpc>
              <a:spcBef>
                <a:spcPts val="450"/>
              </a:spcBef>
            </a:pPr>
            <a:r>
              <a:rPr lang="en-CA" sz="1200" b="1" dirty="0">
                <a:solidFill>
                  <a:srgbClr val="000000"/>
                </a:solidFill>
              </a:rPr>
              <a:t>No sanity checks! </a:t>
            </a:r>
            <a:r>
              <a:rPr lang="en-CA" sz="1200" dirty="0">
                <a:solidFill>
                  <a:srgbClr val="000000"/>
                </a:solidFill>
              </a:rPr>
              <a:t>Value may be out-of-bound or invalid, which can cause crashes or garbage output</a:t>
            </a:r>
          </a:p>
        </p:txBody>
      </p:sp>
    </p:spTree>
    <p:extLst>
      <p:ext uri="{BB962C8B-B14F-4D97-AF65-F5344CB8AC3E}">
        <p14:creationId xmlns:p14="http://schemas.microsoft.com/office/powerpoint/2010/main" val="408784542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Application Using Spiffy Library</a:t>
            </a:r>
            <a:endParaRPr lang="en-CA" dirty="0"/>
          </a:p>
        </p:txBody>
      </p:sp>
      <p:sp>
        <p:nvSpPr>
          <p:cNvPr id="11" name="Content Placeholder 6"/>
          <p:cNvSpPr txBox="1">
            <a:spLocks/>
          </p:cNvSpPr>
          <p:nvPr/>
        </p:nvSpPr>
        <p:spPr>
          <a:xfrm>
            <a:off x="513159" y="895350"/>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3:  Ext4::</a:t>
            </a:r>
            <a:r>
              <a:rPr lang="en-CA" sz="1500" b="1" dirty="0" err="1">
                <a:solidFill>
                  <a:srgbClr val="000000"/>
                </a:solidFill>
                <a:latin typeface="Courier New" panose="02070309020205020404" pitchFamily="49" charset="0"/>
                <a:cs typeface="Courier New" panose="02070309020205020404" pitchFamily="49" charset="0"/>
              </a:rPr>
              <a:t>SuperBlock</a:t>
            </a:r>
            <a:r>
              <a:rPr lang="en-CA" sz="1500" b="1" dirty="0">
                <a:solidFill>
                  <a:srgbClr val="000000"/>
                </a:solidFill>
                <a:latin typeface="Courier New" panose="02070309020205020404" pitchFamily="49" charset="0"/>
                <a:cs typeface="Courier New" panose="02070309020205020404" pitchFamily="49" charset="0"/>
              </a:rPr>
              <a:t> *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7:  return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process_by_type</a:t>
            </a:r>
            <a:r>
              <a:rPr lang="en-CA" sz="1500" dirty="0">
                <a:solidFill>
                  <a:srgbClr val="000000"/>
                </a:solidFill>
                <a:latin typeface="Courier New" panose="02070309020205020404" pitchFamily="49" charset="0"/>
                <a:cs typeface="Courier New" panose="02070309020205020404" pitchFamily="49" charset="0"/>
              </a:rPr>
              <a:t>(BLOCK_BITMAP, </a:t>
            </a:r>
            <a:br>
              <a:rPr lang="en-CA" sz="1500" dirty="0">
                <a:solidFill>
                  <a:srgbClr val="000000"/>
                </a:solidFill>
                <a:latin typeface="Courier New" panose="02070309020205020404" pitchFamily="49" charset="0"/>
                <a:cs typeface="Courier New" panose="02070309020205020404" pitchFamily="49" charset="0"/>
              </a:rPr>
            </a:b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process_block_bitmap</a:t>
            </a:r>
            <a:r>
              <a:rPr lang="en-CA" sz="1500" dirty="0">
                <a:solidFill>
                  <a:srgbClr val="000000"/>
                </a:solidFill>
                <a:latin typeface="Courier New" panose="02070309020205020404" pitchFamily="49" charset="0"/>
                <a:cs typeface="Courier New" panose="02070309020205020404" pitchFamily="49" charset="0"/>
              </a:rPr>
              <a:t>, </a:t>
            </a:r>
            <a:r>
              <a:rPr lang="en-CA" sz="1500" dirty="0" smtClean="0">
                <a:solidFill>
                  <a:srgbClr val="000000"/>
                </a:solidFill>
                <a:latin typeface="Courier New" panose="02070309020205020404" pitchFamily="49" charset="0"/>
                <a:cs typeface="Courier New" panose="02070309020205020404" pitchFamily="49" charset="0"/>
              </a:rPr>
              <a:t>&amp;</a:t>
            </a:r>
            <a:r>
              <a:rPr lang="en-CA" sz="1500" dirty="0" err="1" smtClean="0">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7" name="TextBox 6"/>
          <p:cNvSpPr txBox="1"/>
          <p:nvPr/>
        </p:nvSpPr>
        <p:spPr>
          <a:xfrm>
            <a:off x="6496361" y="1311849"/>
            <a:ext cx="1392721" cy="784830"/>
          </a:xfrm>
          <a:prstGeom prst="rect">
            <a:avLst/>
          </a:prstGeom>
          <a:solidFill>
            <a:srgbClr val="FFFF00"/>
          </a:solidFill>
          <a:ln w="12700">
            <a:solidFill>
              <a:schemeClr val="bg1"/>
            </a:solidFill>
            <a:prstDash val="solid"/>
          </a:ln>
        </p:spPr>
        <p:txBody>
          <a:bodyPr wrap="square" rtlCol="0">
            <a:spAutoFit/>
          </a:bodyPr>
          <a:lstStyle/>
          <a:p>
            <a:pPr algn="ctr">
              <a:lnSpc>
                <a:spcPts val="1800"/>
              </a:lnSpc>
              <a:spcBef>
                <a:spcPts val="450"/>
              </a:spcBef>
            </a:pPr>
            <a:r>
              <a:rPr lang="en-CA" sz="1200" dirty="0" smtClean="0">
                <a:solidFill>
                  <a:srgbClr val="000000"/>
                </a:solidFill>
              </a:rPr>
              <a:t>Returns </a:t>
            </a:r>
            <a:r>
              <a:rPr lang="en-CA" sz="1200" i="1" dirty="0" err="1">
                <a:solidFill>
                  <a:srgbClr val="000000"/>
                </a:solidFill>
              </a:rPr>
              <a:t>nullptr</a:t>
            </a:r>
            <a:r>
              <a:rPr lang="en-CA" sz="1200" i="1" dirty="0">
                <a:solidFill>
                  <a:srgbClr val="000000"/>
                </a:solidFill>
              </a:rPr>
              <a:t/>
            </a:r>
            <a:br>
              <a:rPr lang="en-CA" sz="1200" i="1" dirty="0">
                <a:solidFill>
                  <a:srgbClr val="000000"/>
                </a:solidFill>
              </a:rPr>
            </a:br>
            <a:r>
              <a:rPr lang="en-CA" sz="1200" dirty="0">
                <a:solidFill>
                  <a:srgbClr val="000000"/>
                </a:solidFill>
              </a:rPr>
              <a:t>if super block</a:t>
            </a:r>
            <a:br>
              <a:rPr lang="en-CA" sz="1200" dirty="0">
                <a:solidFill>
                  <a:srgbClr val="000000"/>
                </a:solidFill>
              </a:rPr>
            </a:br>
            <a:r>
              <a:rPr lang="en-CA" sz="1200" dirty="0">
                <a:solidFill>
                  <a:srgbClr val="000000"/>
                </a:solidFill>
              </a:rPr>
              <a:t> is corrupted</a:t>
            </a:r>
          </a:p>
        </p:txBody>
      </p:sp>
      <p:cxnSp>
        <p:nvCxnSpPr>
          <p:cNvPr id="8" name="Straight Arrow Connector 7"/>
          <p:cNvCxnSpPr>
            <a:stCxn id="7" idx="1"/>
          </p:cNvCxnSpPr>
          <p:nvPr/>
        </p:nvCxnSpPr>
        <p:spPr>
          <a:xfrm flipH="1">
            <a:off x="6019800" y="1704264"/>
            <a:ext cx="476561" cy="22808"/>
          </a:xfrm>
          <a:prstGeom prst="straightConnector1">
            <a:avLst/>
          </a:prstGeom>
          <a:ln w="38100">
            <a:solidFill>
              <a:srgbClr val="000000">
                <a:alpha val="70000"/>
              </a:srgb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3069675"/>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6"/>
          <p:cNvSpPr txBox="1">
            <a:spLocks/>
          </p:cNvSpPr>
          <p:nvPr/>
        </p:nvSpPr>
        <p:spPr>
          <a:xfrm>
            <a:off x="513159" y="895350"/>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Ext4::</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(BLOCK_BITMAP,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process_block_bitmap</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cxnSp>
        <p:nvCxnSpPr>
          <p:cNvPr id="14" name="Straight Arrow Connector 13"/>
          <p:cNvCxnSpPr/>
          <p:nvPr/>
        </p:nvCxnSpPr>
        <p:spPr>
          <a:xfrm flipV="1">
            <a:off x="4572000" y="3060573"/>
            <a:ext cx="0" cy="342899"/>
          </a:xfrm>
          <a:prstGeom prst="straightConnector1">
            <a:avLst/>
          </a:prstGeom>
          <a:ln w="63500">
            <a:solidFill>
              <a:schemeClr val="bg1">
                <a:alpha val="7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3790950" y="3511217"/>
            <a:ext cx="1562100" cy="326756"/>
          </a:xfrm>
          <a:prstGeom prst="rect">
            <a:avLst/>
          </a:prstGeom>
          <a:noFill/>
        </p:spPr>
        <p:txBody>
          <a:bodyPr wrap="square" rtlCol="0">
            <a:spAutoFit/>
          </a:bodyPr>
          <a:lstStyle/>
          <a:p>
            <a:pPr algn="ctr">
              <a:lnSpc>
                <a:spcPts val="1800"/>
              </a:lnSpc>
              <a:spcBef>
                <a:spcPts val="450"/>
              </a:spcBef>
            </a:pPr>
            <a:r>
              <a:rPr lang="en-CA" sz="2100" b="1" dirty="0">
                <a:solidFill>
                  <a:srgbClr val="000000"/>
                </a:solidFill>
              </a:rPr>
              <a:t>THAT’S IT</a:t>
            </a:r>
          </a:p>
        </p:txBody>
      </p:sp>
    </p:spTree>
    <p:extLst>
      <p:ext uri="{BB962C8B-B14F-4D97-AF65-F5344CB8AC3E}">
        <p14:creationId xmlns:p14="http://schemas.microsoft.com/office/powerpoint/2010/main" val="241550057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ontent Placeholder 6"/>
          <p:cNvSpPr txBox="1">
            <a:spLocks/>
          </p:cNvSpPr>
          <p:nvPr/>
        </p:nvSpPr>
        <p:spPr>
          <a:xfrm>
            <a:off x="513159" y="895350"/>
            <a:ext cx="7714348" cy="236220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a:solidFill>
                  <a:srgbClr val="000000"/>
                </a:solidFill>
                <a:latin typeface="Courier New" panose="02070309020205020404" pitchFamily="49" charset="0"/>
                <a:cs typeface="Courier New" panose="02070309020205020404" pitchFamily="49" charset="0"/>
              </a:rPr>
              <a:t>process_ext4</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Ext4 ext4(dev);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Ext4::</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ext4.fetch_super();</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(1024 &lt;&lt;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s_log_block_size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block bitmaps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(BLOCK_BITMAP,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process_block_bitmap</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
        <p:nvSpPr>
          <p:cNvPr id="5" name="Title 4"/>
          <p:cNvSpPr>
            <a:spLocks noGrp="1"/>
          </p:cNvSpPr>
          <p:nvPr>
            <p:ph type="title"/>
          </p:nvPr>
        </p:nvSpPr>
        <p:spPr/>
        <p:txBody>
          <a:bodyPr/>
          <a:lstStyle/>
          <a:p>
            <a:r>
              <a:rPr lang="en-CA" smtClean="0"/>
              <a:t>Application Using Spiffy Library</a:t>
            </a:r>
            <a:endParaRPr lang="en-CA" dirty="0"/>
          </a:p>
        </p:txBody>
      </p:sp>
      <p:sp>
        <p:nvSpPr>
          <p:cNvPr id="10" name="Content Placeholder 9"/>
          <p:cNvSpPr>
            <a:spLocks noGrp="1"/>
          </p:cNvSpPr>
          <p:nvPr>
            <p:ph idx="1"/>
          </p:nvPr>
        </p:nvSpPr>
        <p:spPr>
          <a:xfrm>
            <a:off x="152400" y="2876550"/>
            <a:ext cx="8839200" cy="1600200"/>
          </a:xfrm>
        </p:spPr>
        <p:txBody>
          <a:bodyPr/>
          <a:lstStyle/>
          <a:p>
            <a:pPr marL="1371600" lvl="3" indent="0">
              <a:buNone/>
            </a:pPr>
            <a:endParaRPr lang="en-CA" dirty="0" smtClean="0"/>
          </a:p>
          <a:p>
            <a:r>
              <a:rPr lang="en-CA" dirty="0" smtClean="0"/>
              <a:t>Advantages</a:t>
            </a:r>
          </a:p>
          <a:p>
            <a:pPr lvl="1"/>
            <a:r>
              <a:rPr lang="en-CA" sz="2000" dirty="0" smtClean="0"/>
              <a:t>simplifies file system traversal, reduces need to know format details</a:t>
            </a:r>
          </a:p>
          <a:p>
            <a:pPr lvl="1"/>
            <a:r>
              <a:rPr lang="en-CA" sz="2000" dirty="0" smtClean="0"/>
              <a:t>library parsing routines have automatically generated sanity checks</a:t>
            </a:r>
          </a:p>
          <a:p>
            <a:endParaRPr lang="en-CA" dirty="0" smtClean="0"/>
          </a:p>
        </p:txBody>
      </p:sp>
    </p:spTree>
    <p:extLst>
      <p:ext uri="{BB962C8B-B14F-4D97-AF65-F5344CB8AC3E}">
        <p14:creationId xmlns:p14="http://schemas.microsoft.com/office/powerpoint/2010/main" val="2522394424"/>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 for Btrfs</a:t>
            </a:r>
            <a:endParaRPr lang="en-CA" dirty="0"/>
          </a:p>
        </p:txBody>
      </p:sp>
      <p:sp>
        <p:nvSpPr>
          <p:cNvPr id="10" name="Content Placeholder 9"/>
          <p:cNvSpPr>
            <a:spLocks noGrp="1"/>
          </p:cNvSpPr>
          <p:nvPr>
            <p:ph idx="1"/>
          </p:nvPr>
        </p:nvSpPr>
        <p:spPr/>
        <p:txBody>
          <a:bodyPr/>
          <a:lstStyle/>
          <a:p>
            <a:endParaRPr lang="en-CA" dirty="0" smtClean="0"/>
          </a:p>
          <a:p>
            <a:endParaRPr lang="en-CA" dirty="0" smtClean="0"/>
          </a:p>
          <a:p>
            <a:endParaRPr lang="en-CA" dirty="0" smtClean="0"/>
          </a:p>
          <a:p>
            <a:endParaRPr lang="en-CA" dirty="0" smtClean="0"/>
          </a:p>
          <a:p>
            <a:endParaRPr lang="en-CA" dirty="0"/>
          </a:p>
        </p:txBody>
      </p:sp>
      <p:sp>
        <p:nvSpPr>
          <p:cNvPr id="6" name="Content Placeholder 6"/>
          <p:cNvSpPr txBox="1">
            <a:spLocks/>
          </p:cNvSpPr>
          <p:nvPr/>
        </p:nvSpPr>
        <p:spPr>
          <a:xfrm>
            <a:off x="513159" y="1130428"/>
            <a:ext cx="7714348" cy="3209039"/>
          </a:xfrm>
          <a:prstGeom prst="rect">
            <a:avLst/>
          </a:prstGeom>
        </p:spPr>
        <p:txBody>
          <a:bodyPr vert="horz" lIns="68580" tIns="34290" rIns="68580" bIns="3429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int</a:t>
            </a:r>
            <a:r>
              <a:rPr lang="en-CA" sz="1500"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process_btrfs</a:t>
            </a:r>
            <a:r>
              <a:rPr lang="en-CA" sz="1500" dirty="0">
                <a:solidFill>
                  <a:srgbClr val="000000"/>
                </a:solidFill>
                <a:latin typeface="Courier New" panose="02070309020205020404" pitchFamily="49" charset="0"/>
                <a:cs typeface="Courier New" panose="02070309020205020404" pitchFamily="49" charset="0"/>
              </a:rPr>
              <a:t>(vector&lt;Extent&gt; &amp; </a:t>
            </a:r>
            <a:r>
              <a:rPr lang="en-CA" sz="1500" dirty="0" err="1">
                <a:solidFill>
                  <a:srgbClr val="000000"/>
                </a:solidFill>
                <a:latin typeface="Courier New" panose="02070309020205020404" pitchFamily="49" charset="0"/>
                <a:cs typeface="Courier New" panose="02070309020205020404" pitchFamily="49" charset="0"/>
              </a:rPr>
              <a:t>vec</a:t>
            </a:r>
            <a:r>
              <a:rPr lang="en-CA" sz="1500" dirty="0">
                <a:solidFill>
                  <a:srgbClr val="000000"/>
                </a:solidFill>
                <a:latin typeface="Courier New" panose="02070309020205020404" pitchFamily="49" charset="0"/>
                <a:cs typeface="Courier New" panose="02070309020205020404" pitchFamily="49" charset="0"/>
              </a:rPr>
              <a:t>, Device &amp; dev)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1: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(dev);</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2:  /* read super block into memory */</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3:  </a:t>
            </a:r>
            <a:r>
              <a:rPr lang="en-CA" sz="1500" dirty="0" err="1">
                <a:solidFill>
                  <a:srgbClr val="000000"/>
                </a:solidFill>
                <a:latin typeface="Courier New" panose="02070309020205020404" pitchFamily="49" charset="0"/>
                <a:cs typeface="Courier New" panose="02070309020205020404" pitchFamily="49" charset="0"/>
              </a:rPr>
              <a:t>Btrfs</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SuperBlock</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btrfs.fetch_super</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4:  if (</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 == </a:t>
            </a:r>
            <a:r>
              <a:rPr lang="en-CA" sz="1500" dirty="0" err="1">
                <a:solidFill>
                  <a:srgbClr val="000000"/>
                </a:solidFill>
                <a:latin typeface="Courier New" panose="02070309020205020404" pitchFamily="49" charset="0"/>
                <a:cs typeface="Courier New" panose="02070309020205020404" pitchFamily="49" charset="0"/>
              </a:rPr>
              <a:t>nullptr</a:t>
            </a:r>
            <a:r>
              <a:rPr lang="en-CA" sz="1500" dirty="0">
                <a:solidFill>
                  <a:srgbClr val="000000"/>
                </a:solidFill>
                <a:latin typeface="Courier New" panose="02070309020205020404" pitchFamily="49" charset="0"/>
                <a:cs typeface="Courier New" panose="02070309020205020404" pitchFamily="49" charset="0"/>
              </a:rPr>
              <a:t>) return -1;</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5:  </a:t>
            </a:r>
            <a:r>
              <a:rPr lang="en-CA" sz="1500" dirty="0" err="1">
                <a:solidFill>
                  <a:srgbClr val="000000"/>
                </a:solidFill>
                <a:latin typeface="Courier New" panose="02070309020205020404" pitchFamily="49" charset="0"/>
                <a:cs typeface="Courier New" panose="02070309020205020404" pitchFamily="49" charset="0"/>
              </a:rPr>
              <a:t>dev.set_block_size</a:t>
            </a:r>
            <a:r>
              <a:rPr lang="en-CA" sz="1500" dirty="0">
                <a:solidFill>
                  <a:srgbClr val="000000"/>
                </a:solidFill>
                <a:latin typeface="Courier New" panose="02070309020205020404" pitchFamily="49" charset="0"/>
                <a:cs typeface="Courier New" panose="02070309020205020404" pitchFamily="49" charset="0"/>
              </a:rPr>
              <a:t>(</a:t>
            </a:r>
            <a:r>
              <a:rPr lang="en-CA" sz="1500" dirty="0" err="1">
                <a:solidFill>
                  <a:srgbClr val="000000"/>
                </a:solidFill>
                <a:latin typeface="Courier New" panose="02070309020205020404" pitchFamily="49" charset="0"/>
                <a:cs typeface="Courier New" panose="02070309020205020404" pitchFamily="49" charset="0"/>
              </a:rPr>
              <a:t>sb</a:t>
            </a:r>
            <a:r>
              <a:rPr lang="en-CA" sz="1500" dirty="0">
                <a:solidFill>
                  <a:srgbClr val="000000"/>
                </a:solidFill>
                <a:latin typeface="Courier New" panose="02070309020205020404" pitchFamily="49" charset="0"/>
                <a:cs typeface="Courier New" panose="02070309020205020404" pitchFamily="49" charset="0"/>
              </a:rPr>
              <a:t>-&gt;</a:t>
            </a:r>
            <a:r>
              <a:rPr lang="en-CA" sz="1500" dirty="0" err="1">
                <a:solidFill>
                  <a:srgbClr val="000000"/>
                </a:solidFill>
                <a:latin typeface="Courier New" panose="02070309020205020404" pitchFamily="49" charset="0"/>
                <a:cs typeface="Courier New" panose="02070309020205020404" pitchFamily="49" charset="0"/>
              </a:rPr>
              <a:t>sectorsize</a:t>
            </a:r>
            <a:r>
              <a:rPr lang="en-CA" sz="1500"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6:  /* traverse file system and find/process all extent items */</a:t>
            </a:r>
          </a:p>
          <a:p>
            <a:pPr marL="0" indent="0">
              <a:spcBef>
                <a:spcPts val="0"/>
              </a:spcBef>
              <a:spcAft>
                <a:spcPts val="0"/>
              </a:spcAft>
              <a:buNone/>
            </a:pPr>
            <a:r>
              <a:rPr lang="en-CA" sz="1500" b="1" dirty="0">
                <a:solidFill>
                  <a:srgbClr val="000000"/>
                </a:solidFill>
                <a:latin typeface="Courier New" panose="02070309020205020404" pitchFamily="49" charset="0"/>
                <a:cs typeface="Courier New" panose="02070309020205020404" pitchFamily="49" charset="0"/>
              </a:rPr>
              <a:t>7:  return </a:t>
            </a:r>
            <a:r>
              <a:rPr lang="en-CA" sz="1500" b="1" dirty="0" err="1">
                <a:solidFill>
                  <a:srgbClr val="000000"/>
                </a:solidFill>
                <a:latin typeface="Courier New" panose="02070309020205020404" pitchFamily="49" charset="0"/>
                <a:cs typeface="Courier New" panose="02070309020205020404" pitchFamily="49" charset="0"/>
              </a:rPr>
              <a:t>sb</a:t>
            </a:r>
            <a:r>
              <a:rPr lang="en-CA" sz="1500" b="1" dirty="0">
                <a:solidFill>
                  <a:srgbClr val="000000"/>
                </a:solidFill>
                <a:latin typeface="Courier New" panose="02070309020205020404" pitchFamily="49" charset="0"/>
                <a:cs typeface="Courier New" panose="02070309020205020404" pitchFamily="49" charset="0"/>
              </a:rPr>
              <a:t>-&gt;</a:t>
            </a:r>
            <a:r>
              <a:rPr lang="en-CA" sz="1500" b="1" dirty="0" err="1">
                <a:solidFill>
                  <a:srgbClr val="000000"/>
                </a:solidFill>
                <a:latin typeface="Courier New" panose="02070309020205020404" pitchFamily="49" charset="0"/>
                <a:cs typeface="Courier New" panose="02070309020205020404" pitchFamily="49" charset="0"/>
              </a:rPr>
              <a:t>process_by_type</a:t>
            </a:r>
            <a:r>
              <a:rPr lang="en-CA" sz="1500" b="1" dirty="0">
                <a:solidFill>
                  <a:srgbClr val="000000"/>
                </a:solidFill>
                <a:latin typeface="Courier New" panose="02070309020205020404" pitchFamily="49" charset="0"/>
                <a:cs typeface="Courier New" panose="02070309020205020404" pitchFamily="49" charset="0"/>
              </a:rPr>
              <a:t>(EXTENT_ITEM, </a:t>
            </a:r>
            <a:br>
              <a:rPr lang="en-CA" sz="1500" b="1" dirty="0">
                <a:solidFill>
                  <a:srgbClr val="000000"/>
                </a:solidFill>
                <a:latin typeface="Courier New" panose="02070309020205020404" pitchFamily="49" charset="0"/>
                <a:cs typeface="Courier New" panose="02070309020205020404" pitchFamily="49" charset="0"/>
              </a:rPr>
            </a:br>
            <a:r>
              <a:rPr lang="en-CA" sz="1500" b="1" dirty="0">
                <a:solidFill>
                  <a:srgbClr val="000000"/>
                </a:solidFill>
                <a:latin typeface="Courier New" panose="02070309020205020404" pitchFamily="49" charset="0"/>
                <a:cs typeface="Courier New" panose="02070309020205020404" pitchFamily="49" charset="0"/>
              </a:rPr>
              <a:t>                               </a:t>
            </a:r>
            <a:r>
              <a:rPr lang="en-CA" sz="1500" b="1" dirty="0" err="1">
                <a:solidFill>
                  <a:srgbClr val="000000"/>
                </a:solidFill>
                <a:latin typeface="Courier New" panose="02070309020205020404" pitchFamily="49" charset="0"/>
                <a:cs typeface="Courier New" panose="02070309020205020404" pitchFamily="49" charset="0"/>
              </a:rPr>
              <a:t>process_extent_item</a:t>
            </a:r>
            <a:r>
              <a:rPr lang="en-CA" sz="1500" b="1" dirty="0">
                <a:solidFill>
                  <a:srgbClr val="000000"/>
                </a:solidFill>
                <a:latin typeface="Courier New" panose="02070309020205020404" pitchFamily="49" charset="0"/>
                <a:cs typeface="Courier New" panose="02070309020205020404" pitchFamily="49" charset="0"/>
              </a:rPr>
              <a:t>, &amp;</a:t>
            </a:r>
            <a:r>
              <a:rPr lang="en-CA" sz="1500" b="1" dirty="0" err="1">
                <a:solidFill>
                  <a:srgbClr val="000000"/>
                </a:solidFill>
                <a:latin typeface="Courier New" panose="02070309020205020404" pitchFamily="49" charset="0"/>
                <a:cs typeface="Courier New" panose="02070309020205020404" pitchFamily="49" charset="0"/>
              </a:rPr>
              <a:t>vec</a:t>
            </a:r>
            <a:r>
              <a:rPr lang="en-CA" sz="1500" b="1" dirty="0">
                <a:solidFill>
                  <a:srgbClr val="000000"/>
                </a:solidFill>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a:solidFill>
                  <a:srgbClr val="000000"/>
                </a:solidFill>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164877162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API (C++)</a:t>
            </a:r>
            <a:endParaRPr lang="en-CA" dirty="0"/>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4266265495"/>
              </p:ext>
            </p:extLst>
          </p:nvPr>
        </p:nvGraphicFramePr>
        <p:xfrm>
          <a:off x="152400" y="880110"/>
          <a:ext cx="8839201" cy="3291840"/>
        </p:xfrm>
        <a:graphic>
          <a:graphicData uri="http://schemas.openxmlformats.org/drawingml/2006/table">
            <a:tbl>
              <a:tblPr firstRow="1" bandRow="1">
                <a:tableStyleId>{5C22544A-7EE6-4342-B048-85BDC9FD1C3A}</a:tableStyleId>
              </a:tblPr>
              <a:tblGrid>
                <a:gridCol w="1365648"/>
                <a:gridCol w="3950968"/>
                <a:gridCol w="3522585"/>
              </a:tblGrid>
              <a:tr h="265220">
                <a:tc>
                  <a:txBody>
                    <a:bodyPr/>
                    <a:lstStyle/>
                    <a:p>
                      <a:r>
                        <a:rPr lang="en-CA" sz="1400" dirty="0" smtClean="0"/>
                        <a:t>Base Class</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r>
                        <a:rPr lang="en-CA" sz="1400" dirty="0" smtClean="0"/>
                        <a:t>Member Functions</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r>
                        <a:rPr lang="en-CA" sz="1400" dirty="0" smtClean="0"/>
                        <a:t>Description</a:t>
                      </a:r>
                      <a:endParaRPr lang="en-CA" sz="14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r>
              <a:tr h="265220">
                <a:tc gridSpan="3">
                  <a:txBody>
                    <a:bodyPr/>
                    <a:lstStyle/>
                    <a:p>
                      <a:r>
                        <a:rPr lang="en-CA" sz="1400" dirty="0" smtClean="0">
                          <a:latin typeface="+mn-lt"/>
                          <a:cs typeface="Courier New" panose="02070309020205020404" pitchFamily="49" charset="0"/>
                        </a:rPr>
                        <a:t>Spiffy File System Library</a:t>
                      </a:r>
                      <a:endParaRPr lang="en-CA" sz="1400" dirty="0">
                        <a:latin typeface="+mn-lt"/>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en-CA" sz="1600" dirty="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36547">
                <a:tc rowSpan="4">
                  <a:txBody>
                    <a:bodyPr/>
                    <a:lstStyle/>
                    <a:p>
                      <a:r>
                        <a:rPr lang="en-CA" sz="1200" dirty="0" smtClean="0">
                          <a:latin typeface="Courier New" panose="02070309020205020404" pitchFamily="49" charset="0"/>
                          <a:cs typeface="Courier New" panose="02070309020205020404" pitchFamily="49" charset="0"/>
                        </a:rPr>
                        <a:t>Entity</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process_fields</a:t>
                      </a:r>
                      <a:r>
                        <a:rPr lang="en-CA" sz="1200" dirty="0" smtClean="0">
                          <a:latin typeface="Courier New" panose="02070309020205020404" pitchFamily="49" charset="0"/>
                          <a:cs typeface="Courier New" panose="02070309020205020404" pitchFamily="49" charset="0"/>
                        </a:rPr>
                        <a:t>(Visitor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fields of this object</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process_pointer</a:t>
                      </a:r>
                      <a:r>
                        <a:rPr lang="en-CA" sz="1200" dirty="0" smtClean="0">
                          <a:latin typeface="Courier New" panose="02070309020205020404" pitchFamily="49" charset="0"/>
                          <a:cs typeface="Courier New" panose="02070309020205020404" pitchFamily="49" charset="0"/>
                        </a:rPr>
                        <a:t>(Visitor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pointers of this object</a:t>
                      </a:r>
                      <a:endParaRPr lang="en-CA" sz="1200" dirty="0" smtClean="0">
                        <a:latin typeface="+mn-lt"/>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408582">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process_by_type</a:t>
                      </a:r>
                      <a:r>
                        <a:rPr lang="en-CA" sz="1200" dirty="0" smtClean="0">
                          <a:latin typeface="Courier New" panose="02070309020205020404" pitchFamily="49" charset="0"/>
                          <a:cs typeface="Courier New" panose="02070309020205020404" pitchFamily="49" charset="0"/>
                        </a:rPr>
                        <a:t>(</a:t>
                      </a: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t, </a:t>
                      </a:r>
                    </a:p>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                    Visitor</a:t>
                      </a:r>
                      <a:r>
                        <a:rPr lang="en-CA" sz="1200" baseline="0" dirty="0" smtClean="0">
                          <a:latin typeface="Courier New" panose="02070309020205020404" pitchFamily="49" charset="0"/>
                          <a:cs typeface="Courier New" panose="02070309020205020404" pitchFamily="49" charset="0"/>
                        </a:rPr>
                        <a:t> &amp; v)</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allows </a:t>
                      </a:r>
                      <a:r>
                        <a:rPr lang="en-CA" sz="1200" b="0" i="1" u="none" strike="noStrike" kern="1200" baseline="0" dirty="0" smtClean="0">
                          <a:solidFill>
                            <a:schemeClr val="dk1"/>
                          </a:solidFill>
                          <a:latin typeface="+mn-lt"/>
                          <a:ea typeface="+mn-ea"/>
                          <a:cs typeface="+mn-cs"/>
                        </a:rPr>
                        <a:t>v</a:t>
                      </a:r>
                      <a:r>
                        <a:rPr lang="en-CA" sz="1200" b="0" i="0" u="none" strike="noStrike" kern="1200" baseline="0" dirty="0" smtClean="0">
                          <a:solidFill>
                            <a:schemeClr val="dk1"/>
                          </a:solidFill>
                          <a:latin typeface="+mn-lt"/>
                          <a:ea typeface="+mn-ea"/>
                          <a:cs typeface="+mn-cs"/>
                        </a:rPr>
                        <a:t> to visit all structures of type </a:t>
                      </a:r>
                      <a:r>
                        <a:rPr lang="en-CA" sz="1200" b="0" i="1" u="none" strike="noStrike" kern="1200" baseline="0" dirty="0" smtClean="0">
                          <a:solidFill>
                            <a:schemeClr val="dk1"/>
                          </a:solidFill>
                          <a:latin typeface="+mn-lt"/>
                          <a:ea typeface="+mn-ea"/>
                          <a:cs typeface="+mn-cs"/>
                        </a:rPr>
                        <a:t>t </a:t>
                      </a:r>
                      <a:r>
                        <a:rPr lang="en-CA" sz="1200" b="0" i="0" u="none" strike="noStrike" kern="1200" baseline="0" dirty="0" smtClean="0">
                          <a:solidFill>
                            <a:schemeClr val="dk1"/>
                          </a:solidFill>
                          <a:latin typeface="+mn-lt"/>
                          <a:ea typeface="+mn-ea"/>
                          <a:cs typeface="+mn-cs"/>
                        </a:rPr>
                        <a:t>that is reachable from this object</a:t>
                      </a:r>
                      <a:endParaRPr lang="en-CA" sz="1200" i="1" dirty="0">
                        <a:latin typeface="+mn-lt"/>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vMerge="1">
                  <a:txBody>
                    <a:bodyPr/>
                    <a:lstStyle/>
                    <a:p>
                      <a:endParaRPr lang="en-CA"/>
                    </a:p>
                  </a:txBody>
                  <a:tcPr/>
                </a:tc>
                <a:tc>
                  <a:txBody>
                    <a:bodyPr/>
                    <a:lstStyle/>
                    <a:p>
                      <a:r>
                        <a:rPr lang="en-CA" sz="1200" dirty="0" err="1" smtClean="0">
                          <a:latin typeface="Courier New" panose="02070309020205020404" pitchFamily="49" charset="0"/>
                          <a:cs typeface="Courier New" panose="02070309020205020404" pitchFamily="49" charset="0"/>
                        </a:rPr>
                        <a:t>get_name</a:t>
                      </a:r>
                      <a:r>
                        <a:rPr lang="en-CA" sz="1200" dirty="0" smtClean="0">
                          <a:latin typeface="Courier New" panose="02070309020205020404" pitchFamily="49" charset="0"/>
                          <a:cs typeface="Courier New" panose="02070309020205020404" pitchFamily="49" charset="0"/>
                        </a:rPr>
                        <a:t>(),</a:t>
                      </a:r>
                      <a:r>
                        <a:rPr lang="en-CA" sz="1200" baseline="0" dirty="0" smtClean="0">
                          <a:latin typeface="Courier New" panose="02070309020205020404" pitchFamily="49" charset="0"/>
                          <a:cs typeface="Courier New" panose="02070309020205020404" pitchFamily="49" charset="0"/>
                        </a:rPr>
                        <a:t> </a:t>
                      </a:r>
                      <a:r>
                        <a:rPr lang="en-CA" sz="1200" dirty="0" err="1" smtClean="0">
                          <a:latin typeface="Courier New" panose="02070309020205020404" pitchFamily="49" charset="0"/>
                          <a:cs typeface="Courier New" panose="02070309020205020404" pitchFamily="49" charset="0"/>
                        </a:rPr>
                        <a:t>get_size</a:t>
                      </a:r>
                      <a:r>
                        <a:rPr lang="en-CA" sz="1200" dirty="0" smtClean="0">
                          <a:latin typeface="Courier New" panose="02070309020205020404" pitchFamily="49" charset="0"/>
                          <a:cs typeface="Courier New" panose="02070309020205020404" pitchFamily="49" charset="0"/>
                        </a:rPr>
                        <a:t>(), etc.</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smtClean="0"/>
                        <a:t>allows for type introspection </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a:txBody>
                    <a:bodyPr/>
                    <a:lstStyle/>
                    <a:p>
                      <a:r>
                        <a:rPr lang="en-CA" sz="1200" dirty="0" smtClean="0">
                          <a:latin typeface="Courier New" panose="02070309020205020404" pitchFamily="49" charset="0"/>
                          <a:cs typeface="Courier New" panose="02070309020205020404" pitchFamily="49" charset="0"/>
                        </a:rPr>
                        <a:t>Container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save()</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serializes and persists the container</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a:txBody>
                    <a:bodyPr/>
                    <a:lstStyle/>
                    <a:p>
                      <a:r>
                        <a:rPr lang="en-CA" sz="1200" dirty="0" smtClean="0">
                          <a:latin typeface="Courier New" panose="02070309020205020404" pitchFamily="49" charset="0"/>
                          <a:cs typeface="Courier New" panose="02070309020205020404" pitchFamily="49" charset="0"/>
                        </a:rPr>
                        <a:t>Pointer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dirty="0" smtClean="0">
                          <a:latin typeface="Courier New" panose="02070309020205020404" pitchFamily="49" charset="0"/>
                          <a:cs typeface="Courier New" panose="02070309020205020404" pitchFamily="49" charset="0"/>
                        </a:rPr>
                        <a:t>Container</a:t>
                      </a:r>
                      <a:r>
                        <a:rPr lang="en-CA" sz="1200" baseline="0" dirty="0" smtClean="0">
                          <a:latin typeface="Courier New" panose="02070309020205020404" pitchFamily="49" charset="0"/>
                          <a:cs typeface="Courier New" panose="02070309020205020404" pitchFamily="49" charset="0"/>
                        </a:rPr>
                        <a:t> * fetch()</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retrieves pointed-to container from disk</a:t>
                      </a:r>
                      <a:endParaRPr lang="en-CA" sz="1200" dirty="0"/>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rowSpan="2">
                  <a:txBody>
                    <a:bodyPr/>
                    <a:lstStyle/>
                    <a:p>
                      <a:r>
                        <a:rPr lang="en-CA" sz="1200" dirty="0" err="1" smtClean="0">
                          <a:latin typeface="Courier New" panose="02070309020205020404" pitchFamily="49" charset="0"/>
                          <a:cs typeface="Courier New" panose="02070309020205020404" pitchFamily="49" charset="0"/>
                        </a:rPr>
                        <a:t>FileSystem</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FileSystem</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(IO &amp; </a:t>
                      </a:r>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io</a:t>
                      </a:r>
                      <a:r>
                        <a:rPr lang="en-CA" sz="1200" b="0" i="0" u="none" strike="noStrike" kern="1200" baseline="0" smtClean="0">
                          <a:solidFill>
                            <a:schemeClr val="dk1"/>
                          </a:solidFill>
                          <a:latin typeface="Courier New" panose="02070309020205020404" pitchFamily="49" charset="0"/>
                          <a:ea typeface="+mn-ea"/>
                          <a:cs typeface="Courier New" panose="02070309020205020404" pitchFamily="49" charset="0"/>
                        </a:rPr>
                        <a:t>) </a:t>
                      </a:r>
                      <a:endPar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instantiates a new file system object</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36547">
                <a:tc vMerge="1">
                  <a:txBody>
                    <a:bodyPr/>
                    <a:lstStyle/>
                    <a:p>
                      <a:endParaRPr lang="en-CA"/>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Container</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 </a:t>
                      </a:r>
                      <a:r>
                        <a:rPr lang="en-CA" sz="1200" b="0" i="0" u="none" strike="noStrike" kern="1200" baseline="0" dirty="0" err="1" smtClean="0">
                          <a:solidFill>
                            <a:schemeClr val="dk1"/>
                          </a:solidFill>
                          <a:latin typeface="Courier New" panose="02070309020205020404" pitchFamily="49" charset="0"/>
                          <a:ea typeface="+mn-ea"/>
                          <a:cs typeface="Courier New" panose="02070309020205020404" pitchFamily="49" charset="0"/>
                        </a:rPr>
                        <a:t>fetch_super</a:t>
                      </a:r>
                      <a:r>
                        <a:rPr lang="en-CA" sz="1200" b="0" i="0" u="none" strike="noStrike" kern="1200" baseline="0" dirty="0" smtClean="0">
                          <a:solidFill>
                            <a:schemeClr val="dk1"/>
                          </a:solidFill>
                          <a:latin typeface="Courier New" panose="02070309020205020404" pitchFamily="49" charset="0"/>
                          <a:ea typeface="+mn-ea"/>
                          <a:cs typeface="Courier New" panose="02070309020205020404" pitchFamily="49" charset="0"/>
                        </a:rPr>
                        <a:t>() </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b="0" i="0" u="none" strike="noStrike" kern="1200" baseline="0" dirty="0" smtClean="0">
                          <a:solidFill>
                            <a:schemeClr val="dk1"/>
                          </a:solidFill>
                          <a:latin typeface="+mn-lt"/>
                          <a:ea typeface="+mn-ea"/>
                          <a:cs typeface="+mn-cs"/>
                        </a:rPr>
                        <a:t>retrieves the super block from disk</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r h="265220">
                <a:tc gridSpan="3">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400" dirty="0" smtClean="0">
                          <a:latin typeface="+mn-lt"/>
                          <a:cs typeface="Courier New" panose="02070309020205020404" pitchFamily="49" charset="0"/>
                        </a:rPr>
                        <a:t>Application Developer</a:t>
                      </a: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CA" sz="1600" dirty="0" smtClean="0">
                        <a:latin typeface="Courier New" panose="02070309020205020404" pitchFamily="49" charset="0"/>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hMerge="1">
                  <a:txBody>
                    <a:bodyPr/>
                    <a:lstStyle/>
                    <a:p>
                      <a:endParaRPr lang="en-CA" sz="1600" dirty="0" smtClean="0">
                        <a:latin typeface="+mn-lt"/>
                        <a:cs typeface="Courier New" panose="02070309020205020404" pitchFamily="49"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r>
              <a:tr h="236547">
                <a:tc>
                  <a:txBody>
                    <a:bodyPr/>
                    <a:lstStyle/>
                    <a:p>
                      <a:r>
                        <a:rPr lang="en-CA" sz="1200" dirty="0" smtClean="0">
                          <a:latin typeface="Courier New" panose="02070309020205020404" pitchFamily="49" charset="0"/>
                          <a:cs typeface="Courier New" panose="02070309020205020404" pitchFamily="49" charset="0"/>
                        </a:rPr>
                        <a:t>Visitor</a:t>
                      </a:r>
                      <a:endParaRPr lang="en-CA" sz="1200" dirty="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200" dirty="0" smtClean="0">
                          <a:latin typeface="Courier New" panose="02070309020205020404" pitchFamily="49" charset="0"/>
                          <a:cs typeface="Courier New" panose="02070309020205020404" pitchFamily="49" charset="0"/>
                        </a:rPr>
                        <a:t>virtual </a:t>
                      </a:r>
                      <a:r>
                        <a:rPr lang="en-CA" sz="1200" dirty="0" err="1" smtClean="0">
                          <a:latin typeface="Courier New" panose="02070309020205020404" pitchFamily="49" charset="0"/>
                          <a:cs typeface="Courier New" panose="02070309020205020404" pitchFamily="49" charset="0"/>
                        </a:rPr>
                        <a:t>int</a:t>
                      </a:r>
                      <a:r>
                        <a:rPr lang="en-CA" sz="1200" dirty="0" smtClean="0">
                          <a:latin typeface="Courier New" panose="02070309020205020404" pitchFamily="49" charset="0"/>
                          <a:cs typeface="Courier New" panose="02070309020205020404" pitchFamily="49" charset="0"/>
                        </a:rPr>
                        <a:t> visit(Entity</a:t>
                      </a:r>
                      <a:r>
                        <a:rPr lang="en-CA" sz="1200" baseline="0" dirty="0" smtClean="0">
                          <a:latin typeface="Courier New" panose="02070309020205020404" pitchFamily="49" charset="0"/>
                          <a:cs typeface="Courier New" panose="02070309020205020404" pitchFamily="49" charset="0"/>
                        </a:rPr>
                        <a:t> &amp; e)=0;</a:t>
                      </a:r>
                      <a:endParaRPr lang="en-CA" sz="1200" dirty="0" smtClean="0">
                        <a:latin typeface="Courier New" panose="02070309020205020404" pitchFamily="49" charset="0"/>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CA" sz="1200" b="0" i="0" u="none" strike="noStrike" kern="1200" baseline="0" dirty="0" smtClean="0">
                          <a:solidFill>
                            <a:schemeClr val="dk1"/>
                          </a:solidFill>
                          <a:latin typeface="+mn-lt"/>
                          <a:ea typeface="+mn-ea"/>
                          <a:cs typeface="+mn-cs"/>
                        </a:rPr>
                        <a:t>visits an entity and possibly processes it</a:t>
                      </a:r>
                      <a:endParaRPr lang="en-CA" sz="1200" dirty="0" smtClean="0">
                        <a:latin typeface="+mn-lt"/>
                        <a:cs typeface="Courier New" panose="02070309020205020404" pitchFamily="49" charset="0"/>
                      </a:endParaRPr>
                    </a:p>
                  </a:txBody>
                  <a:tcPr marL="68580" marR="68580" marT="34290" marB="3429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248326728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513159" y="971550"/>
            <a:ext cx="3858817" cy="3492629"/>
          </a:xfrm>
        </p:spPr>
        <p:txBody>
          <a:bodyPr>
            <a:noAutofit/>
          </a:bodyPr>
          <a:lstStyle/>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::visit(Entity &amp; </a:t>
            </a:r>
            <a:r>
              <a:rPr lang="en-CA" sz="1350" dirty="0" smtClean="0">
                <a:latin typeface="Courier New" panose="02070309020205020404" pitchFamily="49" charset="0"/>
                <a:cs typeface="Courier New" panose="02070309020205020404" pitchFamily="49" charset="0"/>
              </a:rPr>
              <a:t>p) </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smtClean="0">
                <a:latin typeface="Courier New" panose="02070309020205020404" pitchFamily="49" charset="0"/>
                <a:cs typeface="Courier New" panose="02070309020205020404" pitchFamily="49" charset="0"/>
              </a:rPr>
              <a:t>p.to_pointer</a:t>
            </a:r>
            <a:r>
              <a:rPr lang="en-CA" sz="1350" dirty="0" smtClean="0">
                <a:latin typeface="Courier New" panose="02070309020205020404" pitchFamily="49" charset="0"/>
                <a:cs typeface="Courier New" panose="02070309020205020404" pitchFamily="49" charset="0"/>
              </a:rPr>
              <a:t>()-&gt;fetch</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cout</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e.get_name</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endl</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a:t>
            </a:r>
            <a:r>
              <a:rPr lang="en-CA" sz="1350" dirty="0" err="1">
                <a:latin typeface="Courier New" panose="02070309020205020404" pitchFamily="49" charset="0"/>
                <a:cs typeface="Courier New" panose="02070309020205020404" pitchFamily="49" charset="0"/>
              </a:rPr>
              <a:t>e.process_pointers</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p:txBody>
      </p:sp>
      <p:sp>
        <p:nvSpPr>
          <p:cNvPr id="5" name="Content Placeholder 4"/>
          <p:cNvSpPr>
            <a:spLocks noGrp="1"/>
          </p:cNvSpPr>
          <p:nvPr>
            <p:ph sz="half" idx="2"/>
          </p:nvPr>
        </p:nvSpPr>
        <p:spPr>
          <a:xfrm>
            <a:off x="4371975" y="971550"/>
            <a:ext cx="4038600" cy="1968629"/>
          </a:xfrm>
        </p:spPr>
        <p:txBody>
          <a:bodyPr>
            <a:noAutofit/>
          </a:bodyPr>
          <a:lstStyle/>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Ext4IO </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 fs(</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sup = </a:t>
            </a:r>
            <a:r>
              <a:rPr lang="en-CA" sz="1350" dirty="0" err="1">
                <a:latin typeface="Courier New" panose="02070309020205020404" pitchFamily="49" charset="0"/>
                <a:cs typeface="Courier New" panose="02070309020205020404" pitchFamily="49" charset="0"/>
              </a:rPr>
              <a:t>fs.fetch_super</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(sup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sup-&gt;destroy();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a:spcBef>
                <a:spcPts val="0"/>
              </a:spcBef>
              <a:spcAft>
                <a:spcPts val="0"/>
              </a:spcAft>
            </a:pPr>
            <a:endParaRPr lang="en-CA" sz="1350" dirty="0"/>
          </a:p>
        </p:txBody>
      </p:sp>
      <p:sp>
        <p:nvSpPr>
          <p:cNvPr id="6" name="Content Placeholder 4"/>
          <p:cNvSpPr txBox="1">
            <a:spLocks/>
          </p:cNvSpPr>
          <p:nvPr/>
        </p:nvSpPr>
        <p:spPr>
          <a:xfrm>
            <a:off x="4371975" y="3105150"/>
            <a:ext cx="4038600" cy="1968629"/>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buClr>
                <a:srgbClr val="007089"/>
              </a:buClr>
            </a:pPr>
            <a:r>
              <a:rPr lang="en-CA" sz="1800" dirty="0">
                <a:solidFill>
                  <a:srgbClr val="000000"/>
                </a:solidFill>
              </a:rPr>
              <a:t>Simple example to traverse the entire file system</a:t>
            </a:r>
          </a:p>
          <a:p>
            <a:pPr>
              <a:spcBef>
                <a:spcPts val="0"/>
              </a:spcBef>
              <a:spcAft>
                <a:spcPts val="0"/>
              </a:spcAft>
              <a:buClr>
                <a:srgbClr val="007089"/>
              </a:buClr>
            </a:pPr>
            <a:r>
              <a:rPr lang="en-CA" sz="1800" dirty="0" smtClean="0">
                <a:solidFill>
                  <a:srgbClr val="000000"/>
                </a:solidFill>
              </a:rPr>
              <a:t>Little </a:t>
            </a:r>
            <a:r>
              <a:rPr lang="en-CA" sz="1800" dirty="0">
                <a:solidFill>
                  <a:srgbClr val="000000"/>
                </a:solidFill>
              </a:rPr>
              <a:t>file-system specific code required </a:t>
            </a:r>
            <a:r>
              <a:rPr lang="en-CA" sz="1800" dirty="0" smtClean="0">
                <a:solidFill>
                  <a:srgbClr val="000000"/>
                </a:solidFill>
              </a:rPr>
              <a:t>(for bootstrapping)</a:t>
            </a:r>
            <a:endParaRPr lang="en-CA" sz="1800" dirty="0">
              <a:solidFill>
                <a:srgbClr val="000000"/>
              </a:solidFill>
            </a:endParaRPr>
          </a:p>
        </p:txBody>
      </p:sp>
    </p:spTree>
    <p:extLst>
      <p:ext uri="{BB962C8B-B14F-4D97-AF65-F5344CB8AC3E}">
        <p14:creationId xmlns:p14="http://schemas.microsoft.com/office/powerpoint/2010/main" val="4018558244"/>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513159" y="971550"/>
            <a:ext cx="3858817" cy="3492629"/>
          </a:xfrm>
        </p:spPr>
        <p:txBody>
          <a:bodyPr>
            <a:noAutofit/>
          </a:bodyPr>
          <a:lstStyle/>
          <a:p>
            <a:pPr marL="0" indent="0">
              <a:spcBef>
                <a:spcPts val="0"/>
              </a:spcBef>
              <a:spcAft>
                <a:spcPts val="0"/>
              </a:spcAft>
              <a:buNone/>
            </a:pPr>
            <a:r>
              <a:rPr lang="en-CA" sz="1350" b="1" dirty="0" err="1">
                <a:latin typeface="Courier New" panose="02070309020205020404" pitchFamily="49" charset="0"/>
                <a:cs typeface="Courier New" panose="02070309020205020404" pitchFamily="49" charset="0"/>
              </a:rPr>
              <a:t>EntVisitor</a:t>
            </a: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ev</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b="1" dirty="0" err="1">
                <a:latin typeface="Courier New" panose="02070309020205020404" pitchFamily="49" charset="0"/>
                <a:cs typeface="Courier New" panose="02070309020205020404" pitchFamily="49" charset="0"/>
              </a:rPr>
              <a:t>PtrVisitor</a:t>
            </a: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pv</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::visit(Entity &amp; </a:t>
            </a:r>
            <a:r>
              <a:rPr lang="en-CA" sz="1350" dirty="0" smtClean="0">
                <a:latin typeface="Courier New" panose="02070309020205020404" pitchFamily="49" charset="0"/>
                <a:cs typeface="Courier New" panose="02070309020205020404" pitchFamily="49" charset="0"/>
              </a:rPr>
              <a:t>p) </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smtClean="0">
                <a:latin typeface="Courier New" panose="02070309020205020404" pitchFamily="49" charset="0"/>
                <a:cs typeface="Courier New" panose="02070309020205020404" pitchFamily="49" charset="0"/>
              </a:rPr>
              <a:t>p.to_pointer</a:t>
            </a:r>
            <a:r>
              <a:rPr lang="en-CA" sz="1350" dirty="0" smtClean="0">
                <a:latin typeface="Courier New" panose="02070309020205020404" pitchFamily="49" charset="0"/>
                <a:cs typeface="Courier New" panose="02070309020205020404" pitchFamily="49" charset="0"/>
              </a:rPr>
              <a:t>()-&gt;fetch</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cout</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e.get_name</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endl</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a:t>
            </a:r>
            <a:r>
              <a:rPr lang="en-CA" sz="1350" dirty="0" err="1">
                <a:latin typeface="Courier New" panose="02070309020205020404" pitchFamily="49" charset="0"/>
                <a:cs typeface="Courier New" panose="02070309020205020404" pitchFamily="49" charset="0"/>
              </a:rPr>
              <a:t>e.process_pointers</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p:txBody>
      </p:sp>
      <p:sp>
        <p:nvSpPr>
          <p:cNvPr id="5" name="Content Placeholder 4"/>
          <p:cNvSpPr>
            <a:spLocks noGrp="1"/>
          </p:cNvSpPr>
          <p:nvPr>
            <p:ph sz="half" idx="2"/>
          </p:nvPr>
        </p:nvSpPr>
        <p:spPr>
          <a:xfrm>
            <a:off x="4371975" y="971550"/>
            <a:ext cx="4038600" cy="1968629"/>
          </a:xfrm>
        </p:spPr>
        <p:txBody>
          <a:bodyPr>
            <a:noAutofit/>
          </a:bodyPr>
          <a:lstStyle/>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Ext4IO </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 fs(</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b="1" dirty="0">
                <a:latin typeface="Courier New" panose="02070309020205020404" pitchFamily="49" charset="0"/>
                <a:cs typeface="Courier New" panose="02070309020205020404" pitchFamily="49" charset="0"/>
              </a:rPr>
              <a:t>Container * sup = </a:t>
            </a:r>
            <a:r>
              <a:rPr lang="en-CA" sz="1350" b="1" dirty="0" err="1">
                <a:latin typeface="Courier New" panose="02070309020205020404" pitchFamily="49" charset="0"/>
                <a:cs typeface="Courier New" panose="02070309020205020404" pitchFamily="49" charset="0"/>
              </a:rPr>
              <a:t>fs.fetch_super</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(sup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ev.visit</a:t>
            </a:r>
            <a:r>
              <a:rPr lang="en-CA" sz="1350" b="1"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sup-&gt;destroy();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a:spcBef>
                <a:spcPts val="0"/>
              </a:spcBef>
              <a:spcAft>
                <a:spcPts val="0"/>
              </a:spcAft>
            </a:pPr>
            <a:endParaRPr lang="en-CA" sz="1350" dirty="0"/>
          </a:p>
        </p:txBody>
      </p:sp>
      <p:sp>
        <p:nvSpPr>
          <p:cNvPr id="6" name="Content Placeholder 4"/>
          <p:cNvSpPr txBox="1">
            <a:spLocks/>
          </p:cNvSpPr>
          <p:nvPr/>
        </p:nvSpPr>
        <p:spPr>
          <a:xfrm>
            <a:off x="4371975" y="3105150"/>
            <a:ext cx="4038600" cy="13525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buClr>
                <a:srgbClr val="007089"/>
              </a:buClr>
            </a:pPr>
            <a:r>
              <a:rPr lang="en-CA" sz="1800" dirty="0">
                <a:solidFill>
                  <a:srgbClr val="000000"/>
                </a:solidFill>
              </a:rPr>
              <a:t>Traversal begins from super block</a:t>
            </a:r>
          </a:p>
          <a:p>
            <a:pPr>
              <a:spcBef>
                <a:spcPts val="0"/>
              </a:spcBef>
              <a:spcAft>
                <a:spcPts val="0"/>
              </a:spcAft>
              <a:buClr>
                <a:srgbClr val="007089"/>
              </a:buClr>
            </a:pPr>
            <a:r>
              <a:rPr lang="en-CA" sz="1800" dirty="0">
                <a:solidFill>
                  <a:srgbClr val="000000"/>
                </a:solidFill>
              </a:rPr>
              <a:t>Uses two mutually recursive visitors to traverse the whole file system</a:t>
            </a:r>
          </a:p>
        </p:txBody>
      </p:sp>
    </p:spTree>
    <p:extLst>
      <p:ext uri="{BB962C8B-B14F-4D97-AF65-F5344CB8AC3E}">
        <p14:creationId xmlns:p14="http://schemas.microsoft.com/office/powerpoint/2010/main" val="157958862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513159" y="971550"/>
            <a:ext cx="3858817" cy="3492629"/>
          </a:xfrm>
        </p:spPr>
        <p:txBody>
          <a:bodyPr>
            <a:noAutofit/>
          </a:bodyPr>
          <a:lstStyle/>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::visit(Entity &amp; </a:t>
            </a:r>
            <a:r>
              <a:rPr lang="en-CA" sz="1350" dirty="0" smtClean="0">
                <a:latin typeface="Courier New" panose="02070309020205020404" pitchFamily="49" charset="0"/>
                <a:cs typeface="Courier New" panose="02070309020205020404" pitchFamily="49" charset="0"/>
              </a:rPr>
              <a:t>p) </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smtClean="0">
                <a:latin typeface="Courier New" panose="02070309020205020404" pitchFamily="49" charset="0"/>
                <a:cs typeface="Courier New" panose="02070309020205020404" pitchFamily="49" charset="0"/>
              </a:rPr>
              <a:t>p.to_pointer</a:t>
            </a:r>
            <a:r>
              <a:rPr lang="en-CA" sz="1350" dirty="0" smtClean="0">
                <a:latin typeface="Courier New" panose="02070309020205020404" pitchFamily="49" charset="0"/>
                <a:cs typeface="Courier New" panose="02070309020205020404" pitchFamily="49" charset="0"/>
              </a:rPr>
              <a:t>()-&gt;fetch</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b="1" dirty="0" err="1">
                <a:latin typeface="Courier New" panose="02070309020205020404" pitchFamily="49" charset="0"/>
                <a:cs typeface="Courier New" panose="02070309020205020404" pitchFamily="49" charset="0"/>
              </a:rPr>
              <a:t>int</a:t>
            </a: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EntVisitor</a:t>
            </a:r>
            <a:r>
              <a:rPr lang="en-CA" sz="1350" b="1"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cout</a:t>
            </a:r>
            <a:r>
              <a:rPr lang="en-CA" sz="1350" b="1" dirty="0">
                <a:latin typeface="Courier New" panose="02070309020205020404" pitchFamily="49" charset="0"/>
                <a:cs typeface="Courier New" panose="02070309020205020404" pitchFamily="49" charset="0"/>
              </a:rPr>
              <a:t> &lt;&lt; </a:t>
            </a:r>
            <a:r>
              <a:rPr lang="en-CA" sz="1350" b="1" dirty="0" err="1">
                <a:latin typeface="Courier New" panose="02070309020205020404" pitchFamily="49" charset="0"/>
                <a:cs typeface="Courier New" panose="02070309020205020404" pitchFamily="49" charset="0"/>
              </a:rPr>
              <a:t>e.get_name</a:t>
            </a:r>
            <a:r>
              <a:rPr lang="en-CA" sz="1350" b="1" dirty="0">
                <a:latin typeface="Courier New" panose="02070309020205020404" pitchFamily="49" charset="0"/>
                <a:cs typeface="Courier New" panose="02070309020205020404" pitchFamily="49" charset="0"/>
              </a:rPr>
              <a:t>() &lt;&lt; </a:t>
            </a:r>
            <a:r>
              <a:rPr lang="en-CA" sz="1350" b="1" dirty="0" err="1">
                <a:latin typeface="Courier New" panose="02070309020205020404" pitchFamily="49" charset="0"/>
                <a:cs typeface="Courier New" panose="02070309020205020404" pitchFamily="49" charset="0"/>
              </a:rPr>
              <a:t>endl</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b="1" dirty="0">
                <a:latin typeface="Courier New" panose="02070309020205020404" pitchFamily="49" charset="0"/>
                <a:cs typeface="Courier New" panose="02070309020205020404" pitchFamily="49" charset="0"/>
              </a:rPr>
              <a:t>  return </a:t>
            </a:r>
            <a:r>
              <a:rPr lang="en-CA" sz="1350" b="1" dirty="0" err="1">
                <a:latin typeface="Courier New" panose="02070309020205020404" pitchFamily="49" charset="0"/>
                <a:cs typeface="Courier New" panose="02070309020205020404" pitchFamily="49" charset="0"/>
              </a:rPr>
              <a:t>e.process_pointers</a:t>
            </a:r>
            <a:r>
              <a:rPr lang="en-CA" sz="1350" b="1" dirty="0">
                <a:latin typeface="Courier New" panose="02070309020205020404" pitchFamily="49" charset="0"/>
                <a:cs typeface="Courier New" panose="02070309020205020404" pitchFamily="49" charset="0"/>
              </a:rPr>
              <a:t>(</a:t>
            </a:r>
            <a:r>
              <a:rPr lang="en-CA" sz="1350" b="1" dirty="0" err="1">
                <a:latin typeface="Courier New" panose="02070309020205020404" pitchFamily="49" charset="0"/>
                <a:cs typeface="Courier New" panose="02070309020205020404" pitchFamily="49" charset="0"/>
              </a:rPr>
              <a:t>pv</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b="1" dirty="0">
                <a:latin typeface="Courier New" panose="02070309020205020404" pitchFamily="49" charset="0"/>
                <a:cs typeface="Courier New" panose="02070309020205020404" pitchFamily="49" charset="0"/>
              </a:rPr>
              <a:t>}</a:t>
            </a:r>
          </a:p>
        </p:txBody>
      </p:sp>
      <p:sp>
        <p:nvSpPr>
          <p:cNvPr id="5" name="Content Placeholder 4"/>
          <p:cNvSpPr>
            <a:spLocks noGrp="1"/>
          </p:cNvSpPr>
          <p:nvPr>
            <p:ph sz="half" idx="2"/>
          </p:nvPr>
        </p:nvSpPr>
        <p:spPr>
          <a:xfrm>
            <a:off x="4371975" y="971550"/>
            <a:ext cx="4038600" cy="1968629"/>
          </a:xfrm>
        </p:spPr>
        <p:txBody>
          <a:bodyPr>
            <a:noAutofit/>
          </a:bodyPr>
          <a:lstStyle/>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Ext4IO </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 fs(</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sup = </a:t>
            </a:r>
            <a:r>
              <a:rPr lang="en-CA" sz="1350" dirty="0" err="1">
                <a:latin typeface="Courier New" panose="02070309020205020404" pitchFamily="49" charset="0"/>
                <a:cs typeface="Courier New" panose="02070309020205020404" pitchFamily="49" charset="0"/>
              </a:rPr>
              <a:t>fs.fetch_super</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(sup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sup-&gt;destroy();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a:spcBef>
                <a:spcPts val="0"/>
              </a:spcBef>
              <a:spcAft>
                <a:spcPts val="0"/>
              </a:spcAft>
            </a:pPr>
            <a:endParaRPr lang="en-CA" sz="1350" dirty="0"/>
          </a:p>
        </p:txBody>
      </p:sp>
      <p:sp>
        <p:nvSpPr>
          <p:cNvPr id="6" name="Content Placeholder 4"/>
          <p:cNvSpPr txBox="1">
            <a:spLocks/>
          </p:cNvSpPr>
          <p:nvPr/>
        </p:nvSpPr>
        <p:spPr>
          <a:xfrm>
            <a:off x="4371975" y="3105150"/>
            <a:ext cx="4038600" cy="13525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buClr>
                <a:srgbClr val="007089"/>
              </a:buClr>
            </a:pPr>
            <a:r>
              <a:rPr lang="en-CA" sz="1800" dirty="0" err="1">
                <a:solidFill>
                  <a:srgbClr val="000000"/>
                </a:solidFill>
              </a:rPr>
              <a:t>EntVisitor</a:t>
            </a:r>
            <a:r>
              <a:rPr lang="en-CA" sz="1800" dirty="0">
                <a:solidFill>
                  <a:srgbClr val="000000"/>
                </a:solidFill>
              </a:rPr>
              <a:t> prints name of entity </a:t>
            </a:r>
            <a:r>
              <a:rPr lang="en-CA" sz="1800" i="1" dirty="0">
                <a:solidFill>
                  <a:srgbClr val="000000"/>
                </a:solidFill>
              </a:rPr>
              <a:t>e</a:t>
            </a:r>
            <a:r>
              <a:rPr lang="en-CA" sz="1800" dirty="0">
                <a:solidFill>
                  <a:srgbClr val="000000"/>
                </a:solidFill>
              </a:rPr>
              <a:t>, then calls </a:t>
            </a:r>
            <a:r>
              <a:rPr lang="en-CA" sz="1800" dirty="0" err="1">
                <a:solidFill>
                  <a:srgbClr val="000000"/>
                </a:solidFill>
                <a:latin typeface="Courier New" panose="02070309020205020404" pitchFamily="49" charset="0"/>
                <a:cs typeface="Courier New" panose="02070309020205020404" pitchFamily="49" charset="0"/>
              </a:rPr>
              <a:t>PtrVisitor</a:t>
            </a:r>
            <a:r>
              <a:rPr lang="en-CA" sz="1800" dirty="0">
                <a:solidFill>
                  <a:srgbClr val="000000"/>
                </a:solidFill>
                <a:latin typeface="Courier New" panose="02070309020205020404" pitchFamily="49" charset="0"/>
                <a:cs typeface="Courier New" panose="02070309020205020404" pitchFamily="49" charset="0"/>
              </a:rPr>
              <a:t>::visit </a:t>
            </a:r>
            <a:r>
              <a:rPr lang="en-CA" sz="1800" dirty="0">
                <a:solidFill>
                  <a:srgbClr val="000000"/>
                </a:solidFill>
                <a:cs typeface="Courier New" panose="02070309020205020404" pitchFamily="49" charset="0"/>
              </a:rPr>
              <a:t>on all pointer fields </a:t>
            </a:r>
            <a:r>
              <a:rPr lang="en-CA" sz="1800" dirty="0" smtClean="0">
                <a:solidFill>
                  <a:srgbClr val="000000"/>
                </a:solidFill>
                <a:cs typeface="Courier New" panose="02070309020205020404" pitchFamily="49" charset="0"/>
              </a:rPr>
              <a:t>in </a:t>
            </a:r>
            <a:r>
              <a:rPr lang="en-CA" sz="1800" dirty="0">
                <a:solidFill>
                  <a:srgbClr val="000000"/>
                </a:solidFill>
                <a:cs typeface="Courier New" panose="02070309020205020404" pitchFamily="49" charset="0"/>
              </a:rPr>
              <a:t>entity </a:t>
            </a:r>
            <a:r>
              <a:rPr lang="en-CA" sz="1800" i="1" dirty="0">
                <a:solidFill>
                  <a:srgbClr val="000000"/>
                </a:solidFill>
                <a:cs typeface="Courier New" panose="02070309020205020404" pitchFamily="49" charset="0"/>
              </a:rPr>
              <a:t>e</a:t>
            </a:r>
            <a:endParaRPr lang="en-CA" sz="1800" dirty="0">
              <a:solidFill>
                <a:srgbClr val="000000"/>
              </a:solidFill>
            </a:endParaRPr>
          </a:p>
        </p:txBody>
      </p:sp>
    </p:spTree>
    <p:extLst>
      <p:ext uri="{BB962C8B-B14F-4D97-AF65-F5344CB8AC3E}">
        <p14:creationId xmlns:p14="http://schemas.microsoft.com/office/powerpoint/2010/main" val="2885354507"/>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File-System Agnostic Traversal</a:t>
            </a:r>
            <a:endParaRPr lang="en-CA" dirty="0"/>
          </a:p>
        </p:txBody>
      </p:sp>
      <p:sp>
        <p:nvSpPr>
          <p:cNvPr id="3" name="Content Placeholder 2"/>
          <p:cNvSpPr>
            <a:spLocks noGrp="1"/>
          </p:cNvSpPr>
          <p:nvPr>
            <p:ph sz="half" idx="1"/>
          </p:nvPr>
        </p:nvSpPr>
        <p:spPr>
          <a:xfrm>
            <a:off x="513159" y="971550"/>
            <a:ext cx="3858817" cy="3492629"/>
          </a:xfrm>
        </p:spPr>
        <p:txBody>
          <a:bodyPr>
            <a:noAutofit/>
          </a:bodyPr>
          <a:lstStyle/>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PtrVisitor</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b="1" dirty="0" err="1">
                <a:latin typeface="Courier New" panose="02070309020205020404" pitchFamily="49" charset="0"/>
                <a:cs typeface="Courier New" panose="02070309020205020404" pitchFamily="49" charset="0"/>
              </a:rPr>
              <a:t>int</a:t>
            </a:r>
            <a:r>
              <a:rPr lang="en-CA" sz="1350" b="1"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PtrVisitor</a:t>
            </a:r>
            <a:r>
              <a:rPr lang="en-CA" sz="1350" b="1" dirty="0">
                <a:latin typeface="Courier New" panose="02070309020205020404" pitchFamily="49" charset="0"/>
                <a:cs typeface="Courier New" panose="02070309020205020404" pitchFamily="49" charset="0"/>
              </a:rPr>
              <a:t>::visit(Entity &amp; </a:t>
            </a:r>
            <a:r>
              <a:rPr lang="en-CA" sz="1350" b="1" dirty="0" smtClean="0">
                <a:latin typeface="Courier New" panose="02070309020205020404" pitchFamily="49" charset="0"/>
                <a:cs typeface="Courier New" panose="02070309020205020404" pitchFamily="49" charset="0"/>
              </a:rPr>
              <a:t>p) </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tmp</a:t>
            </a:r>
            <a:r>
              <a:rPr lang="en-CA" sz="1350" b="1" dirty="0">
                <a:latin typeface="Courier New" panose="02070309020205020404" pitchFamily="49" charset="0"/>
                <a:cs typeface="Courier New" panose="02070309020205020404" pitchFamily="49" charset="0"/>
              </a:rPr>
              <a:t> = </a:t>
            </a:r>
            <a:r>
              <a:rPr lang="en-CA" sz="1350" b="1" dirty="0" err="1" smtClean="0">
                <a:latin typeface="Courier New" panose="02070309020205020404" pitchFamily="49" charset="0"/>
                <a:cs typeface="Courier New" panose="02070309020205020404" pitchFamily="49" charset="0"/>
              </a:rPr>
              <a:t>p.to_pointer</a:t>
            </a:r>
            <a:r>
              <a:rPr lang="en-CA" sz="1350" b="1" dirty="0" smtClean="0">
                <a:latin typeface="Courier New" panose="02070309020205020404" pitchFamily="49" charset="0"/>
                <a:cs typeface="Courier New" panose="02070309020205020404" pitchFamily="49" charset="0"/>
              </a:rPr>
              <a:t>()-&gt;fetch</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b="1" dirty="0" err="1">
                <a:latin typeface="Courier New" panose="02070309020205020404" pitchFamily="49" charset="0"/>
                <a:cs typeface="Courier New" panose="02070309020205020404" pitchFamily="49" charset="0"/>
              </a:rPr>
              <a:t>ev.visit</a:t>
            </a:r>
            <a:r>
              <a:rPr lang="en-CA" sz="1350" b="1" dirty="0">
                <a:latin typeface="Courier New" panose="02070309020205020404" pitchFamily="49" charset="0"/>
                <a:cs typeface="Courier New" panose="02070309020205020404" pitchFamily="49" charset="0"/>
              </a:rPr>
              <a:t>(*</a:t>
            </a:r>
            <a:r>
              <a:rPr lang="en-CA" sz="1350" b="1" dirty="0" err="1">
                <a:latin typeface="Courier New" panose="02070309020205020404" pitchFamily="49" charset="0"/>
                <a:cs typeface="Courier New" panose="02070309020205020404" pitchFamily="49" charset="0"/>
              </a:rPr>
              <a:t>tmp</a:t>
            </a:r>
            <a:r>
              <a:rPr lang="en-CA" sz="1350" b="1"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tmp</a:t>
            </a:r>
            <a:r>
              <a:rPr lang="en-CA" sz="1350" dirty="0">
                <a:latin typeface="Courier New" panose="02070309020205020404" pitchFamily="49" charset="0"/>
                <a:cs typeface="Courier New" panose="02070309020205020404" pitchFamily="49" charset="0"/>
              </a:rPr>
              <a:t>-&gt;destroy();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350" dirty="0">
              <a:latin typeface="Courier New" panose="02070309020205020404" pitchFamily="49" charset="0"/>
              <a:cs typeface="Courier New" panose="02070309020205020404" pitchFamily="49" charset="0"/>
            </a:endParaRPr>
          </a:p>
          <a:p>
            <a:pPr marL="0" indent="0">
              <a:spcBef>
                <a:spcPts val="0"/>
              </a:spcBef>
              <a:spcAft>
                <a:spcPts val="0"/>
              </a:spcAft>
              <a:buNone/>
            </a:pPr>
            <a:r>
              <a:rPr lang="en-CA" sz="1350" dirty="0" err="1">
                <a:latin typeface="Courier New" panose="02070309020205020404" pitchFamily="49" charset="0"/>
                <a:cs typeface="Courier New" panose="02070309020205020404" pitchFamily="49" charset="0"/>
              </a:rPr>
              <a:t>int</a:t>
            </a: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EntVisitor</a:t>
            </a:r>
            <a:r>
              <a:rPr lang="en-CA" sz="1350" dirty="0">
                <a:latin typeface="Courier New" panose="02070309020205020404" pitchFamily="49" charset="0"/>
                <a:cs typeface="Courier New" panose="02070309020205020404" pitchFamily="49" charset="0"/>
              </a:rPr>
              <a:t>::visit(Entity &amp; e)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cout</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e.get_name</a:t>
            </a:r>
            <a:r>
              <a:rPr lang="en-CA" sz="1350" dirty="0">
                <a:latin typeface="Courier New" panose="02070309020205020404" pitchFamily="49" charset="0"/>
                <a:cs typeface="Courier New" panose="02070309020205020404" pitchFamily="49" charset="0"/>
              </a:rPr>
              <a:t>() &lt;&lt; </a:t>
            </a:r>
            <a:r>
              <a:rPr lang="en-CA" sz="1350" dirty="0" err="1">
                <a:latin typeface="Courier New" panose="02070309020205020404" pitchFamily="49" charset="0"/>
                <a:cs typeface="Courier New" panose="02070309020205020404" pitchFamily="49" charset="0"/>
              </a:rPr>
              <a:t>endl</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return </a:t>
            </a:r>
            <a:r>
              <a:rPr lang="en-CA" sz="1350" dirty="0" err="1">
                <a:latin typeface="Courier New" panose="02070309020205020404" pitchFamily="49" charset="0"/>
                <a:cs typeface="Courier New" panose="02070309020205020404" pitchFamily="49" charset="0"/>
              </a:rPr>
              <a:t>e.process_pointers</a:t>
            </a:r>
            <a:r>
              <a:rPr lang="en-CA" sz="1350" dirty="0">
                <a:latin typeface="Courier New" panose="02070309020205020404" pitchFamily="49" charset="0"/>
                <a:cs typeface="Courier New" panose="02070309020205020404" pitchFamily="49" charset="0"/>
              </a:rPr>
              <a:t>(</a:t>
            </a:r>
            <a:r>
              <a:rPr lang="en-CA" sz="1350" dirty="0" err="1">
                <a:latin typeface="Courier New" panose="02070309020205020404" pitchFamily="49" charset="0"/>
                <a:cs typeface="Courier New" panose="02070309020205020404" pitchFamily="49" charset="0"/>
              </a:rPr>
              <a:t>pv</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p:txBody>
      </p:sp>
      <p:sp>
        <p:nvSpPr>
          <p:cNvPr id="5" name="Content Placeholder 4"/>
          <p:cNvSpPr>
            <a:spLocks noGrp="1"/>
          </p:cNvSpPr>
          <p:nvPr>
            <p:ph sz="half" idx="2"/>
          </p:nvPr>
        </p:nvSpPr>
        <p:spPr>
          <a:xfrm>
            <a:off x="4371975" y="971550"/>
            <a:ext cx="4038600" cy="1968629"/>
          </a:xfrm>
        </p:spPr>
        <p:txBody>
          <a:bodyPr>
            <a:noAutofit/>
          </a:bodyPr>
          <a:lstStyle/>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void main(void)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Ext4IO </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("/dev/sdb1");</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Ext4 fs(</a:t>
            </a:r>
            <a:r>
              <a:rPr lang="en-CA" sz="1350" dirty="0" err="1">
                <a:latin typeface="Courier New" panose="02070309020205020404" pitchFamily="49" charset="0"/>
                <a:cs typeface="Courier New" panose="02070309020205020404" pitchFamily="49" charset="0"/>
              </a:rPr>
              <a:t>io</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Container * sup = </a:t>
            </a:r>
            <a:r>
              <a:rPr lang="en-CA" sz="1350" dirty="0" err="1">
                <a:latin typeface="Courier New" panose="02070309020205020404" pitchFamily="49" charset="0"/>
                <a:cs typeface="Courier New" panose="02070309020205020404" pitchFamily="49" charset="0"/>
              </a:rPr>
              <a:t>fs.fetch_super</a:t>
            </a:r>
            <a:r>
              <a:rPr lang="en-CA" sz="1350" dirty="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if (sup != </a:t>
            </a:r>
            <a:r>
              <a:rPr lang="en-CA" sz="1350" dirty="0" err="1">
                <a:latin typeface="Courier New" panose="02070309020205020404" pitchFamily="49" charset="0"/>
                <a:cs typeface="Courier New" panose="02070309020205020404" pitchFamily="49" charset="0"/>
              </a:rPr>
              <a:t>nullptr</a:t>
            </a: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r>
              <a:rPr lang="en-CA" sz="1350" dirty="0" err="1">
                <a:latin typeface="Courier New" panose="02070309020205020404" pitchFamily="49" charset="0"/>
                <a:cs typeface="Courier New" panose="02070309020205020404" pitchFamily="49" charset="0"/>
              </a:rPr>
              <a:t>ev.visit</a:t>
            </a:r>
            <a:r>
              <a:rPr lang="en-CA" sz="1350" dirty="0">
                <a:latin typeface="Courier New" panose="02070309020205020404" pitchFamily="49" charset="0"/>
                <a:cs typeface="Courier New" panose="02070309020205020404" pitchFamily="49" charset="0"/>
              </a:rPr>
              <a:t>(*sup);</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sup-&gt;destroy();</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350" dirty="0">
                <a:latin typeface="Courier New" panose="02070309020205020404" pitchFamily="49" charset="0"/>
                <a:cs typeface="Courier New" panose="02070309020205020404" pitchFamily="49" charset="0"/>
              </a:rPr>
              <a:t>}</a:t>
            </a:r>
          </a:p>
          <a:p>
            <a:pPr>
              <a:spcBef>
                <a:spcPts val="0"/>
              </a:spcBef>
              <a:spcAft>
                <a:spcPts val="0"/>
              </a:spcAft>
            </a:pPr>
            <a:endParaRPr lang="en-CA" sz="1350" dirty="0"/>
          </a:p>
        </p:txBody>
      </p:sp>
      <p:sp>
        <p:nvSpPr>
          <p:cNvPr id="6" name="Content Placeholder 4"/>
          <p:cNvSpPr txBox="1">
            <a:spLocks/>
          </p:cNvSpPr>
          <p:nvPr/>
        </p:nvSpPr>
        <p:spPr>
          <a:xfrm>
            <a:off x="4371975" y="3105150"/>
            <a:ext cx="4038600" cy="1352550"/>
          </a:xfrm>
          <a:prstGeom prst="rect">
            <a:avLst/>
          </a:prstGeom>
        </p:spPr>
        <p:txBody>
          <a:bodyPr vert="horz" lIns="68580" tIns="34290" rIns="68580" bIns="3429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a:spcBef>
                <a:spcPts val="0"/>
              </a:spcBef>
              <a:spcAft>
                <a:spcPts val="0"/>
              </a:spcAft>
              <a:buClr>
                <a:srgbClr val="007089"/>
              </a:buClr>
            </a:pPr>
            <a:r>
              <a:rPr lang="en-CA" sz="1800" dirty="0" err="1">
                <a:solidFill>
                  <a:srgbClr val="000000"/>
                </a:solidFill>
              </a:rPr>
              <a:t>PtrVisitor</a:t>
            </a:r>
            <a:r>
              <a:rPr lang="en-CA" sz="1800" dirty="0">
                <a:solidFill>
                  <a:srgbClr val="000000"/>
                </a:solidFill>
              </a:rPr>
              <a:t> fetches the pointed-to Container from disk, then calls </a:t>
            </a:r>
            <a:r>
              <a:rPr lang="en-CA" sz="1800" dirty="0" err="1">
                <a:solidFill>
                  <a:srgbClr val="000000"/>
                </a:solidFill>
                <a:latin typeface="Courier New" panose="02070309020205020404" pitchFamily="49" charset="0"/>
                <a:cs typeface="Courier New" panose="02070309020205020404" pitchFamily="49" charset="0"/>
              </a:rPr>
              <a:t>EntVisitor</a:t>
            </a:r>
            <a:r>
              <a:rPr lang="en-CA" sz="1800" dirty="0">
                <a:solidFill>
                  <a:srgbClr val="000000"/>
                </a:solidFill>
                <a:latin typeface="Courier New" panose="02070309020205020404" pitchFamily="49" charset="0"/>
                <a:cs typeface="Courier New" panose="02070309020205020404" pitchFamily="49" charset="0"/>
              </a:rPr>
              <a:t>::visit </a:t>
            </a:r>
            <a:r>
              <a:rPr lang="en-CA" sz="1800" dirty="0">
                <a:solidFill>
                  <a:srgbClr val="000000"/>
                </a:solidFill>
              </a:rPr>
              <a:t>on the pointed-to Container</a:t>
            </a:r>
          </a:p>
        </p:txBody>
      </p:sp>
    </p:spTree>
    <p:extLst>
      <p:ext uri="{BB962C8B-B14F-4D97-AF65-F5344CB8AC3E}">
        <p14:creationId xmlns:p14="http://schemas.microsoft.com/office/powerpoint/2010/main" val="3966068578"/>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Spiffy Applications</a:t>
            </a:r>
            <a:endParaRPr lang="en-CA" dirty="0"/>
          </a:p>
        </p:txBody>
      </p:sp>
      <p:sp>
        <p:nvSpPr>
          <p:cNvPr id="3" name="Content Placeholder 2"/>
          <p:cNvSpPr>
            <a:spLocks noGrp="1"/>
          </p:cNvSpPr>
          <p:nvPr>
            <p:ph idx="1"/>
          </p:nvPr>
        </p:nvSpPr>
        <p:spPr/>
        <p:txBody>
          <a:bodyPr/>
          <a:lstStyle/>
          <a:p>
            <a:r>
              <a:rPr lang="en-CA" dirty="0" smtClean="0">
                <a:solidFill>
                  <a:schemeClr val="tx1">
                    <a:alpha val="30000"/>
                  </a:schemeClr>
                </a:solidFill>
              </a:rPr>
              <a:t>File System Free Space Tool</a:t>
            </a:r>
          </a:p>
          <a:p>
            <a:r>
              <a:rPr lang="en-CA" dirty="0" smtClean="0"/>
              <a:t>File System Dump Tool</a:t>
            </a:r>
          </a:p>
          <a:p>
            <a:r>
              <a:rPr lang="en-CA" dirty="0" smtClean="0"/>
              <a:t>Type-Specific File System Corruptor</a:t>
            </a:r>
          </a:p>
          <a:p>
            <a:r>
              <a:rPr lang="en-CA" dirty="0" smtClean="0"/>
              <a:t>File System Conversion Tool</a:t>
            </a:r>
          </a:p>
          <a:p>
            <a:r>
              <a:rPr lang="en-CA" dirty="0" smtClean="0"/>
              <a:t>File-System Aware Block Layer Cache</a:t>
            </a:r>
          </a:p>
          <a:p>
            <a:r>
              <a:rPr lang="en-CA" dirty="0" smtClean="0"/>
              <a:t>Runtime Verification for File Systems</a:t>
            </a:r>
            <a:endParaRPr lang="en-CA" dirty="0"/>
          </a:p>
          <a:p>
            <a:endParaRPr lang="en-CA" dirty="0" smtClean="0"/>
          </a:p>
        </p:txBody>
      </p:sp>
    </p:spTree>
    <p:extLst>
      <p:ext uri="{BB962C8B-B14F-4D97-AF65-F5344CB8AC3E}">
        <p14:creationId xmlns:p14="http://schemas.microsoft.com/office/powerpoint/2010/main" val="2787239058"/>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Dump Tool</a:t>
            </a:r>
            <a:endParaRPr lang="en-CA" dirty="0"/>
          </a:p>
        </p:txBody>
      </p:sp>
      <p:sp>
        <p:nvSpPr>
          <p:cNvPr id="3" name="Content Placeholder 2"/>
          <p:cNvSpPr>
            <a:spLocks noGrp="1"/>
          </p:cNvSpPr>
          <p:nvPr>
            <p:ph idx="1"/>
          </p:nvPr>
        </p:nvSpPr>
        <p:spPr/>
        <p:txBody>
          <a:bodyPr/>
          <a:lstStyle/>
          <a:p>
            <a:r>
              <a:rPr lang="en-CA" dirty="0" smtClean="0"/>
              <a:t>Parses all metadata and exports them in XML format</a:t>
            </a:r>
          </a:p>
          <a:p>
            <a:pPr lvl="1"/>
            <a:r>
              <a:rPr lang="en-CA" dirty="0" smtClean="0"/>
              <a:t>Code similar to the file-system agnostic traversal example</a:t>
            </a:r>
          </a:p>
          <a:p>
            <a:r>
              <a:rPr lang="en-CA" dirty="0" smtClean="0"/>
              <a:t>Provides API to filter out fields and structures</a:t>
            </a:r>
          </a:p>
          <a:p>
            <a:pPr lvl="1"/>
            <a:r>
              <a:rPr lang="en-CA" dirty="0" smtClean="0"/>
              <a:t>Helps reduce and declutter the output</a:t>
            </a:r>
          </a:p>
          <a:p>
            <a:pPr lvl="1"/>
            <a:r>
              <a:rPr lang="en-CA" dirty="0" smtClean="0"/>
              <a:t>E.g. Ext4 dump tool does not export unallocated </a:t>
            </a:r>
            <a:r>
              <a:rPr lang="en-CA" dirty="0" err="1" smtClean="0"/>
              <a:t>inode</a:t>
            </a:r>
            <a:endParaRPr lang="en-CA" dirty="0" smtClean="0"/>
          </a:p>
          <a:p>
            <a:r>
              <a:rPr lang="en-CA" dirty="0"/>
              <a:t>Works for all annotated file systems</a:t>
            </a:r>
          </a:p>
          <a:p>
            <a:pPr lvl="1"/>
            <a:r>
              <a:rPr lang="en-CA" sz="2000" dirty="0"/>
              <a:t>Generic Application Code: </a:t>
            </a:r>
            <a:r>
              <a:rPr lang="en-CA" sz="2000" dirty="0" smtClean="0"/>
              <a:t>482 </a:t>
            </a:r>
            <a:r>
              <a:rPr lang="en-CA" sz="2000" dirty="0"/>
              <a:t>LOC</a:t>
            </a:r>
          </a:p>
          <a:p>
            <a:pPr lvl="1"/>
            <a:r>
              <a:rPr lang="en-CA" sz="2000" dirty="0"/>
              <a:t>File-System Specific Code: </a:t>
            </a:r>
            <a:r>
              <a:rPr lang="en-CA" sz="2000" dirty="0" smtClean="0"/>
              <a:t>30 to 60 </a:t>
            </a:r>
            <a:r>
              <a:rPr lang="en-CA" sz="2000" dirty="0"/>
              <a:t>LOC </a:t>
            </a:r>
            <a:r>
              <a:rPr lang="en-CA" sz="2000" dirty="0" smtClean="0"/>
              <a:t>each</a:t>
            </a:r>
            <a:endParaRPr lang="en-CA" sz="2000" dirty="0"/>
          </a:p>
        </p:txBody>
      </p:sp>
    </p:spTree>
    <p:extLst>
      <p:ext uri="{BB962C8B-B14F-4D97-AF65-F5344CB8AC3E}">
        <p14:creationId xmlns:p14="http://schemas.microsoft.com/office/powerpoint/2010/main" val="78481965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Type-Specific File System Corruptor</a:t>
            </a:r>
            <a:endParaRPr lang="en-CA" dirty="0"/>
          </a:p>
        </p:txBody>
      </p:sp>
      <p:sp>
        <p:nvSpPr>
          <p:cNvPr id="3" name="Content Placeholder 2"/>
          <p:cNvSpPr>
            <a:spLocks noGrp="1"/>
          </p:cNvSpPr>
          <p:nvPr>
            <p:ph idx="1"/>
          </p:nvPr>
        </p:nvSpPr>
        <p:spPr/>
        <p:txBody>
          <a:bodyPr/>
          <a:lstStyle/>
          <a:p>
            <a:r>
              <a:rPr lang="en-CA" dirty="0" smtClean="0"/>
              <a:t>Finds and corrupts a field in a specified structure</a:t>
            </a:r>
          </a:p>
          <a:p>
            <a:r>
              <a:rPr lang="en-CA" dirty="0" smtClean="0"/>
              <a:t>Works for all annotated file systems</a:t>
            </a:r>
          </a:p>
          <a:p>
            <a:pPr lvl="1"/>
            <a:r>
              <a:rPr lang="en-CA" sz="2000" dirty="0" smtClean="0"/>
              <a:t>Generic Application Code: 455 LOC</a:t>
            </a:r>
          </a:p>
          <a:p>
            <a:pPr lvl="1"/>
            <a:r>
              <a:rPr lang="en-CA" sz="2000" dirty="0" smtClean="0"/>
              <a:t>File-System Specific Code: &lt; 30 LOC each</a:t>
            </a:r>
          </a:p>
          <a:p>
            <a:r>
              <a:rPr lang="en-CA" dirty="0" smtClean="0"/>
              <a:t>Corruption Experiment</a:t>
            </a:r>
          </a:p>
          <a:p>
            <a:pPr lvl="1"/>
            <a:r>
              <a:rPr lang="en-CA" sz="2000" dirty="0" smtClean="0"/>
              <a:t>Ran existing tools on corrupt file system image</a:t>
            </a:r>
          </a:p>
          <a:p>
            <a:pPr lvl="1"/>
            <a:r>
              <a:rPr lang="en-CA" sz="2000" dirty="0" smtClean="0"/>
              <a:t>Discovered 1 crash bug in dumpe2fs (Ext4)</a:t>
            </a:r>
          </a:p>
          <a:p>
            <a:pPr lvl="1"/>
            <a:r>
              <a:rPr lang="en-CA" sz="2000" dirty="0" smtClean="0"/>
              <a:t>Discovered 5 crash bugs in dump.f2fs (F2FS)</a:t>
            </a:r>
          </a:p>
          <a:p>
            <a:pPr lvl="1"/>
            <a:r>
              <a:rPr lang="en-CA" sz="2000" dirty="0" smtClean="0"/>
              <a:t>None in our Spiffy dump tool on Ext4, </a:t>
            </a:r>
            <a:r>
              <a:rPr lang="en-CA" sz="2000" dirty="0" err="1" smtClean="0"/>
              <a:t>Btrfs</a:t>
            </a:r>
            <a:r>
              <a:rPr lang="en-CA" sz="2000" dirty="0" smtClean="0"/>
              <a:t> and F2FS</a:t>
            </a:r>
            <a:endParaRPr lang="en-CA" sz="2000" dirty="0"/>
          </a:p>
        </p:txBody>
      </p:sp>
    </p:spTree>
    <p:extLst>
      <p:ext uri="{BB962C8B-B14F-4D97-AF65-F5344CB8AC3E}">
        <p14:creationId xmlns:p14="http://schemas.microsoft.com/office/powerpoint/2010/main" val="2226504925"/>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 System Conversion Tool</a:t>
            </a:r>
            <a:endParaRPr lang="en-CA" dirty="0"/>
          </a:p>
        </p:txBody>
      </p:sp>
      <p:sp>
        <p:nvSpPr>
          <p:cNvPr id="3" name="Content Placeholder 2"/>
          <p:cNvSpPr>
            <a:spLocks noGrp="1"/>
          </p:cNvSpPr>
          <p:nvPr>
            <p:ph idx="1"/>
          </p:nvPr>
        </p:nvSpPr>
        <p:spPr/>
        <p:txBody>
          <a:bodyPr/>
          <a:lstStyle/>
          <a:p>
            <a:r>
              <a:rPr lang="en-CA" dirty="0" smtClean="0"/>
              <a:t>Converts one file system to another while minimizing copying</a:t>
            </a:r>
            <a:br>
              <a:rPr lang="en-CA" dirty="0" smtClean="0"/>
            </a:br>
            <a:r>
              <a:rPr lang="en-CA" dirty="0" smtClean="0"/>
              <a:t>data blocks</a:t>
            </a:r>
          </a:p>
          <a:p>
            <a:pPr lvl="1"/>
            <a:endParaRPr lang="en-CA" dirty="0" smtClean="0"/>
          </a:p>
          <a:p>
            <a:r>
              <a:rPr lang="en-CA" dirty="0" smtClean="0"/>
              <a:t>Currently, converts from Ext4 to F2FS</a:t>
            </a:r>
          </a:p>
          <a:p>
            <a:pPr lvl="1"/>
            <a:r>
              <a:rPr lang="en-CA" dirty="0" smtClean="0"/>
              <a:t>Generic application code: 504 LOC</a:t>
            </a:r>
          </a:p>
          <a:p>
            <a:pPr lvl="1"/>
            <a:r>
              <a:rPr lang="en-CA" dirty="0" smtClean="0"/>
              <a:t>Ext4 specific code (source file system): 218 LOC</a:t>
            </a:r>
          </a:p>
          <a:p>
            <a:pPr lvl="1"/>
            <a:r>
              <a:rPr lang="en-CA" dirty="0" smtClean="0"/>
              <a:t>F2FS specific code (destination file system): 1760 LOC</a:t>
            </a:r>
          </a:p>
          <a:p>
            <a:pPr lvl="1"/>
            <a:endParaRPr lang="en-CA" dirty="0" smtClean="0"/>
          </a:p>
          <a:p>
            <a:endParaRPr lang="en-CA" dirty="0" smtClean="0"/>
          </a:p>
        </p:txBody>
      </p:sp>
    </p:spTree>
    <p:extLst>
      <p:ext uri="{BB962C8B-B14F-4D97-AF65-F5344CB8AC3E}">
        <p14:creationId xmlns:p14="http://schemas.microsoft.com/office/powerpoint/2010/main" val="3154621409"/>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dirty="0" smtClean="0"/>
              <a:t>Compare copy-based converter vs. Spiffy converter</a:t>
            </a:r>
          </a:p>
          <a:p>
            <a:pPr lvl="1"/>
            <a:r>
              <a:rPr lang="en-CA" sz="2000" dirty="0" smtClean="0"/>
              <a:t>Copy converter copies data to local disk, reformat, then copies back</a:t>
            </a:r>
          </a:p>
          <a:p>
            <a:r>
              <a:rPr lang="en-CA" dirty="0" smtClean="0"/>
              <a:t>Converts 64GB file system with 16GB of data on SSD</a:t>
            </a:r>
          </a:p>
          <a:p>
            <a:endParaRPr lang="en-CA" dirty="0" smtClean="0"/>
          </a:p>
          <a:p>
            <a:endParaRPr lang="en-CA" dirty="0" smtClean="0"/>
          </a:p>
          <a:p>
            <a:endParaRPr lang="en-CA" dirty="0" smtClean="0"/>
          </a:p>
          <a:p>
            <a:pPr marL="0" indent="0">
              <a:buNone/>
            </a:pPr>
            <a:endParaRPr lang="en-CA" dirty="0" smtClean="0"/>
          </a:p>
          <a:p>
            <a:r>
              <a:rPr lang="en-CA" dirty="0" smtClean="0"/>
              <a:t>Copy converter 30~50 times slower</a:t>
            </a:r>
          </a:p>
        </p:txBody>
      </p:sp>
      <p:graphicFrame>
        <p:nvGraphicFramePr>
          <p:cNvPr id="7" name="Chart 6"/>
          <p:cNvGraphicFramePr>
            <a:graphicFrameLocks/>
          </p:cNvGraphicFramePr>
          <p:nvPr>
            <p:extLst>
              <p:ext uri="{D42A27DB-BD31-4B8C-83A1-F6EECF244321}">
                <p14:modId xmlns:p14="http://schemas.microsoft.com/office/powerpoint/2010/main" val="4066293275"/>
              </p:ext>
            </p:extLst>
          </p:nvPr>
        </p:nvGraphicFramePr>
        <p:xfrm>
          <a:off x="990600" y="2114550"/>
          <a:ext cx="6629400" cy="186928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3690802"/>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File-system Aware Block Layer Cache</a:t>
            </a:r>
            <a:endParaRPr lang="en-CA" dirty="0"/>
          </a:p>
        </p:txBody>
      </p:sp>
      <p:sp>
        <p:nvSpPr>
          <p:cNvPr id="3" name="Content Placeholder 2"/>
          <p:cNvSpPr>
            <a:spLocks noGrp="1"/>
          </p:cNvSpPr>
          <p:nvPr>
            <p:ph idx="1"/>
          </p:nvPr>
        </p:nvSpPr>
        <p:spPr/>
        <p:txBody>
          <a:bodyPr/>
          <a:lstStyle/>
          <a:p>
            <a:r>
              <a:rPr lang="en-CA" sz="1800" dirty="0" smtClean="0"/>
              <a:t>Supports a rich set of caching policies that require file-system specific information at the block layer</a:t>
            </a:r>
          </a:p>
          <a:p>
            <a:pPr lvl="1"/>
            <a:r>
              <a:rPr lang="en-CA" sz="1800" dirty="0" smtClean="0"/>
              <a:t>Cache file system metadata</a:t>
            </a:r>
          </a:p>
          <a:p>
            <a:pPr lvl="2"/>
            <a:r>
              <a:rPr lang="en-CA" sz="1600" dirty="0" smtClean="0"/>
              <a:t>Requires knowing whether a block is data or metadata</a:t>
            </a:r>
          </a:p>
          <a:p>
            <a:pPr lvl="1"/>
            <a:r>
              <a:rPr lang="en-CA" sz="1800" dirty="0" smtClean="0"/>
              <a:t>Cache small files, cache a specific user’s files</a:t>
            </a:r>
          </a:p>
          <a:p>
            <a:pPr lvl="2"/>
            <a:r>
              <a:rPr lang="en-CA" sz="1600" dirty="0" smtClean="0"/>
              <a:t>Requires knowing the file to which a block belongs, and the file’s size or owner</a:t>
            </a:r>
          </a:p>
          <a:p>
            <a:r>
              <a:rPr lang="en-CA" sz="1800" dirty="0" smtClean="0"/>
              <a:t>Requires no changes to the file system!</a:t>
            </a:r>
          </a:p>
          <a:p>
            <a:r>
              <a:rPr lang="en-CA" sz="1800" dirty="0" smtClean="0"/>
              <a:t>Identifies and interprets blocks as they are read or written</a:t>
            </a:r>
          </a:p>
          <a:p>
            <a:pPr lvl="1"/>
            <a:r>
              <a:rPr lang="en-CA" sz="1800" dirty="0" smtClean="0"/>
              <a:t>Identifies the types of blocks</a:t>
            </a:r>
          </a:p>
          <a:p>
            <a:pPr lvl="1"/>
            <a:r>
              <a:rPr lang="en-CA" sz="1800" dirty="0" smtClean="0"/>
              <a:t>Interprets their contents to extract file-system specific information</a:t>
            </a:r>
          </a:p>
          <a:p>
            <a:pPr lvl="1"/>
            <a:r>
              <a:rPr lang="en-CA" sz="1800" dirty="0" smtClean="0"/>
              <a:t>Requires little file-system specific code</a:t>
            </a:r>
          </a:p>
          <a:p>
            <a:endParaRPr lang="en-CA" sz="1800" dirty="0"/>
          </a:p>
        </p:txBody>
      </p:sp>
    </p:spTree>
    <p:extLst>
      <p:ext uri="{BB962C8B-B14F-4D97-AF65-F5344CB8AC3E}">
        <p14:creationId xmlns:p14="http://schemas.microsoft.com/office/powerpoint/2010/main" val="4288545290"/>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Runtime Verification for File Systems</a:t>
            </a:r>
            <a:endParaRPr lang="en-CA" dirty="0"/>
          </a:p>
        </p:txBody>
      </p:sp>
      <p:sp>
        <p:nvSpPr>
          <p:cNvPr id="3" name="Content Placeholder 2"/>
          <p:cNvSpPr>
            <a:spLocks noGrp="1"/>
          </p:cNvSpPr>
          <p:nvPr>
            <p:ph idx="1"/>
          </p:nvPr>
        </p:nvSpPr>
        <p:spPr/>
        <p:txBody>
          <a:bodyPr/>
          <a:lstStyle/>
          <a:p>
            <a:r>
              <a:rPr lang="en-CA" dirty="0" smtClean="0"/>
              <a:t>Verifies correctness of changes made to mounted file system</a:t>
            </a:r>
          </a:p>
          <a:p>
            <a:pPr lvl="1"/>
            <a:r>
              <a:rPr lang="en-CA" sz="2000" dirty="0" smtClean="0"/>
              <a:t>Stops corruption when consistency violation is detected</a:t>
            </a:r>
          </a:p>
          <a:p>
            <a:r>
              <a:rPr lang="en-CA" dirty="0" smtClean="0"/>
              <a:t>Implementation</a:t>
            </a:r>
          </a:p>
          <a:p>
            <a:pPr lvl="1"/>
            <a:r>
              <a:rPr lang="en-CA" sz="2000" dirty="0" smtClean="0"/>
              <a:t>Generates </a:t>
            </a:r>
            <a:r>
              <a:rPr lang="en-CA" sz="2000" dirty="0"/>
              <a:t>logical changes to a file system at block </a:t>
            </a:r>
            <a:r>
              <a:rPr lang="en-CA" sz="2000" dirty="0" smtClean="0"/>
              <a:t>layer</a:t>
            </a:r>
          </a:p>
          <a:p>
            <a:pPr lvl="1"/>
            <a:r>
              <a:rPr lang="en-CA" sz="2000" dirty="0"/>
              <a:t>Check changes against file-system specific consistency </a:t>
            </a:r>
            <a:r>
              <a:rPr lang="en-CA" sz="2000" dirty="0" smtClean="0"/>
              <a:t>rules</a:t>
            </a:r>
            <a:endParaRPr lang="en-CA" sz="2000" dirty="0"/>
          </a:p>
          <a:p>
            <a:pPr lvl="1"/>
            <a:r>
              <a:rPr lang="en-CA" sz="2000" dirty="0" smtClean="0"/>
              <a:t>Identifies and interprets blocks as they are read or written</a:t>
            </a:r>
          </a:p>
          <a:p>
            <a:pPr lvl="1"/>
            <a:r>
              <a:rPr lang="en-CA" sz="2000" dirty="0" smtClean="0"/>
              <a:t>At commit time, compare old and new versions of a block</a:t>
            </a:r>
          </a:p>
          <a:p>
            <a:pPr lvl="1"/>
            <a:r>
              <a:rPr lang="en-CA" sz="2000" dirty="0" smtClean="0"/>
              <a:t>Ext4 manual differencing: 2099 lines of code</a:t>
            </a:r>
          </a:p>
          <a:p>
            <a:pPr lvl="1"/>
            <a:r>
              <a:rPr lang="en-CA" sz="2000" dirty="0" smtClean="0"/>
              <a:t>Ext4 Spiffy differencing: 1059 lines of code</a:t>
            </a:r>
          </a:p>
          <a:p>
            <a:pPr lvl="2"/>
            <a:endParaRPr lang="en-CA" dirty="0"/>
          </a:p>
          <a:p>
            <a:endParaRPr lang="en-CA" dirty="0" smtClean="0"/>
          </a:p>
          <a:p>
            <a:endParaRPr lang="en-CA" dirty="0" smtClean="0"/>
          </a:p>
          <a:p>
            <a:endParaRPr lang="en-CA" dirty="0" smtClean="0"/>
          </a:p>
          <a:p>
            <a:endParaRPr lang="en-CA" dirty="0"/>
          </a:p>
        </p:txBody>
      </p:sp>
    </p:spTree>
    <p:extLst>
      <p:ext uri="{BB962C8B-B14F-4D97-AF65-F5344CB8AC3E}">
        <p14:creationId xmlns:p14="http://schemas.microsoft.com/office/powerpoint/2010/main" val="3617745342"/>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Demo of Spiffy Applications</a:t>
            </a:r>
            <a:endParaRPr lang="en-CA" dirty="0"/>
          </a:p>
        </p:txBody>
      </p:sp>
      <p:sp>
        <p:nvSpPr>
          <p:cNvPr id="3" name="Content Placeholder 2"/>
          <p:cNvSpPr>
            <a:spLocks noGrp="1"/>
          </p:cNvSpPr>
          <p:nvPr>
            <p:ph idx="1"/>
          </p:nvPr>
        </p:nvSpPr>
        <p:spPr/>
        <p:txBody>
          <a:bodyPr/>
          <a:lstStyle/>
          <a:p>
            <a:r>
              <a:rPr lang="en-CA" dirty="0"/>
              <a:t>Type-Specific File System Corruptor</a:t>
            </a:r>
          </a:p>
          <a:p>
            <a:r>
              <a:rPr lang="en-CA" dirty="0" smtClean="0"/>
              <a:t>File System Dump Tool</a:t>
            </a:r>
          </a:p>
          <a:p>
            <a:r>
              <a:rPr lang="en-CA" dirty="0"/>
              <a:t>Runtime Verification for File Systems</a:t>
            </a:r>
          </a:p>
          <a:p>
            <a:endParaRPr lang="en-CA" dirty="0"/>
          </a:p>
        </p:txBody>
      </p:sp>
    </p:spTree>
    <p:extLst>
      <p:ext uri="{BB962C8B-B14F-4D97-AF65-F5344CB8AC3E}">
        <p14:creationId xmlns:p14="http://schemas.microsoft.com/office/powerpoint/2010/main" val="3013020355"/>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dirty="0" smtClean="0"/>
              <a:t>Spiffy framework</a:t>
            </a:r>
          </a:p>
          <a:p>
            <a:pPr lvl="1"/>
            <a:r>
              <a:rPr lang="en-CA" sz="2000" dirty="0" smtClean="0"/>
              <a:t>Annotation language for specifying file system format</a:t>
            </a:r>
          </a:p>
          <a:p>
            <a:pPr lvl="1"/>
            <a:r>
              <a:rPr lang="en-CA" sz="2000" dirty="0" smtClean="0"/>
              <a:t>Enables generating a library for traversing file system metadata</a:t>
            </a:r>
          </a:p>
          <a:p>
            <a:r>
              <a:rPr lang="en-CA" dirty="0" smtClean="0"/>
              <a:t>Simplifies development of file-system aware applications</a:t>
            </a:r>
          </a:p>
          <a:p>
            <a:pPr lvl="1"/>
            <a:r>
              <a:rPr lang="en-CA" sz="2000" dirty="0" smtClean="0"/>
              <a:t>Reduces file-system specific code</a:t>
            </a:r>
          </a:p>
          <a:p>
            <a:pPr lvl="1"/>
            <a:r>
              <a:rPr lang="en-CA" sz="2000" dirty="0" smtClean="0"/>
              <a:t>Enables code reuse across file systems</a:t>
            </a:r>
          </a:p>
          <a:p>
            <a:r>
              <a:rPr lang="en-CA" dirty="0" smtClean="0"/>
              <a:t>Enables writing robust applications</a:t>
            </a:r>
          </a:p>
          <a:p>
            <a:pPr lvl="1"/>
            <a:r>
              <a:rPr lang="en-CA" sz="2000" dirty="0" smtClean="0"/>
              <a:t>Provides type-safe parsing and serialization of metadata</a:t>
            </a:r>
          </a:p>
          <a:p>
            <a:pPr lvl="1"/>
            <a:r>
              <a:rPr lang="en-CA" sz="2000" dirty="0" smtClean="0"/>
              <a:t>Helps detect file system corruption</a:t>
            </a:r>
          </a:p>
          <a:p>
            <a:endParaRPr lang="en-CA" dirty="0"/>
          </a:p>
        </p:txBody>
      </p:sp>
    </p:spTree>
    <p:extLst>
      <p:ext uri="{BB962C8B-B14F-4D97-AF65-F5344CB8AC3E}">
        <p14:creationId xmlns:p14="http://schemas.microsoft.com/office/powerpoint/2010/main" val="2030752951"/>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Find Out More</a:t>
            </a:r>
            <a:endParaRPr lang="en-CA" dirty="0"/>
          </a:p>
        </p:txBody>
      </p:sp>
      <p:sp>
        <p:nvSpPr>
          <p:cNvPr id="3" name="Content Placeholder 2"/>
          <p:cNvSpPr>
            <a:spLocks noGrp="1"/>
          </p:cNvSpPr>
          <p:nvPr>
            <p:ph idx="1"/>
          </p:nvPr>
        </p:nvSpPr>
        <p:spPr/>
        <p:txBody>
          <a:bodyPr/>
          <a:lstStyle/>
          <a:p>
            <a:r>
              <a:rPr lang="en-CA" dirty="0" smtClean="0"/>
              <a:t>FAST 2018 Paper</a:t>
            </a:r>
          </a:p>
          <a:p>
            <a:pPr lvl="1"/>
            <a:r>
              <a:rPr lang="en-CA" sz="2000" dirty="0">
                <a:hlinkClick r:id="rId2"/>
              </a:rPr>
              <a:t>https://</a:t>
            </a:r>
            <a:r>
              <a:rPr lang="en-CA" sz="2000" dirty="0" smtClean="0">
                <a:hlinkClick r:id="rId2"/>
              </a:rPr>
              <a:t>www.usenix.org/system/files/conference/fast18/fast18-sun.pdf</a:t>
            </a:r>
            <a:endParaRPr lang="en-CA" dirty="0" smtClean="0"/>
          </a:p>
          <a:p>
            <a:r>
              <a:rPr lang="en-CA" dirty="0" smtClean="0"/>
              <a:t>GitHub repository</a:t>
            </a:r>
          </a:p>
          <a:p>
            <a:pPr lvl="1"/>
            <a:r>
              <a:rPr lang="en-CA" sz="2000" dirty="0">
                <a:hlinkClick r:id="rId3"/>
              </a:rPr>
              <a:t>https://</a:t>
            </a:r>
            <a:r>
              <a:rPr lang="en-CA" sz="2000" dirty="0" smtClean="0">
                <a:hlinkClick r:id="rId3"/>
              </a:rPr>
              <a:t>github.com/jacksun007/spiffy</a:t>
            </a:r>
            <a:endParaRPr lang="en-CA" sz="2000" dirty="0" smtClean="0"/>
          </a:p>
          <a:p>
            <a:pPr lvl="1"/>
            <a:endParaRPr lang="en-CA" dirty="0" smtClean="0"/>
          </a:p>
          <a:p>
            <a:pPr lvl="1"/>
            <a:endParaRPr lang="en-CA" dirty="0"/>
          </a:p>
        </p:txBody>
      </p:sp>
    </p:spTree>
    <p:extLst>
      <p:ext uri="{BB962C8B-B14F-4D97-AF65-F5344CB8AC3E}">
        <p14:creationId xmlns:p14="http://schemas.microsoft.com/office/powerpoint/2010/main" val="18821605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ctrTitle"/>
          </p:nvPr>
        </p:nvSpPr>
        <p:spPr>
          <a:xfrm>
            <a:off x="0" y="1809750"/>
            <a:ext cx="9144000" cy="1752600"/>
          </a:xfrm>
        </p:spPr>
        <p:txBody>
          <a:bodyPr/>
          <a:lstStyle/>
          <a:p>
            <a:r>
              <a:rPr lang="en-CA" dirty="0"/>
              <a:t>Spiffy: Enabling File-System Aware Storage </a:t>
            </a:r>
            <a:r>
              <a:rPr lang="en-CA" dirty="0" smtClean="0"/>
              <a:t>Applications</a:t>
            </a:r>
            <a:endParaRPr lang="en-US" altLang="en-US" dirty="0" smtClean="0">
              <a:latin typeface="Arial" charset="0"/>
              <a:cs typeface="Arial" charset="0"/>
            </a:endParaRPr>
          </a:p>
        </p:txBody>
      </p:sp>
      <p:sp>
        <p:nvSpPr>
          <p:cNvPr id="4099" name="Subtitle 2"/>
          <p:cNvSpPr>
            <a:spLocks noGrp="1"/>
          </p:cNvSpPr>
          <p:nvPr>
            <p:ph type="subTitle" idx="4294967295"/>
          </p:nvPr>
        </p:nvSpPr>
        <p:spPr>
          <a:xfrm>
            <a:off x="0" y="3505200"/>
            <a:ext cx="9144000" cy="1428750"/>
          </a:xfrm>
        </p:spPr>
        <p:txBody>
          <a:bodyPr/>
          <a:lstStyle/>
          <a:p>
            <a:pPr marL="0" indent="0" algn="ctr">
              <a:buNone/>
            </a:pPr>
            <a:r>
              <a:rPr lang="en-US" altLang="en-US" b="1" dirty="0" err="1" smtClean="0">
                <a:solidFill>
                  <a:srgbClr val="52237F"/>
                </a:solidFill>
                <a:latin typeface="Arial" charset="0"/>
                <a:cs typeface="Arial" charset="0"/>
              </a:rPr>
              <a:t>Kuei</a:t>
            </a:r>
            <a:r>
              <a:rPr lang="en-US" altLang="en-US" b="1" dirty="0" smtClean="0">
                <a:solidFill>
                  <a:srgbClr val="52237F"/>
                </a:solidFill>
                <a:latin typeface="Arial" charset="0"/>
                <a:cs typeface="Arial" charset="0"/>
              </a:rPr>
              <a:t> </a:t>
            </a:r>
            <a:r>
              <a:rPr lang="en-US" altLang="en-US" b="1" dirty="0" smtClean="0">
                <a:solidFill>
                  <a:srgbClr val="52237F"/>
                </a:solidFill>
                <a:latin typeface="Arial" charset="0"/>
                <a:cs typeface="Arial" charset="0"/>
              </a:rPr>
              <a:t>(Jack) Sun</a:t>
            </a:r>
            <a:r>
              <a:rPr lang="en-US" altLang="en-US" dirty="0" smtClean="0">
                <a:latin typeface="Arial" charset="0"/>
                <a:cs typeface="Arial" charset="0"/>
              </a:rPr>
              <a:t/>
            </a:r>
            <a:br>
              <a:rPr lang="en-US" altLang="en-US" dirty="0" smtClean="0">
                <a:latin typeface="Arial" charset="0"/>
                <a:cs typeface="Arial" charset="0"/>
              </a:rPr>
            </a:br>
            <a:r>
              <a:rPr lang="en-US" altLang="en-US" b="1" dirty="0" smtClean="0">
                <a:solidFill>
                  <a:srgbClr val="52237F"/>
                </a:solidFill>
                <a:latin typeface="Arial" charset="0"/>
                <a:cs typeface="Arial" charset="0"/>
              </a:rPr>
              <a:t>University of Toronto</a:t>
            </a:r>
          </a:p>
          <a:p>
            <a:endParaRPr lang="en-US" altLang="en-US" dirty="0" smtClean="0">
              <a:latin typeface="Arial" charset="0"/>
              <a:cs typeface="Arial" charset="0"/>
            </a:endParaRPr>
          </a:p>
        </p:txBody>
      </p:sp>
    </p:spTree>
    <p:extLst>
      <p:ext uri="{BB962C8B-B14F-4D97-AF65-F5344CB8AC3E}">
        <p14:creationId xmlns:p14="http://schemas.microsoft.com/office/powerpoint/2010/main" val="131640782"/>
      </p:ext>
    </p:extLst>
  </p:cSld>
  <p:clrMapOvr>
    <a:masterClrMapping/>
  </p:clrMapOvr>
  <p:timing>
    <p:tnLst>
      <p:par>
        <p:cTn id="1" dur="indefinite" restart="never" nodeType="tmRoot"/>
      </p:par>
    </p:tnLst>
  </p:timing>
</p:sld>
</file>

<file path=ppt/theme/theme1.xml><?xml version="1.0" encoding="utf-8"?>
<a:theme xmlns:a="http://schemas.openxmlformats.org/drawingml/2006/main" name="SDC2015_ppt_template">
  <a:themeElements>
    <a:clrScheme name="SDC_Slides_08_Template_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SDC_Slides_08_Template_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DC_Slides_08_Template_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DC_Slides_08_Template_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DC_Slides_08_Template_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DC_Slides_08_Template_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DC_Slides_08_Template_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DC_Slides_08_Template_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DC_Slides_08_Template_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DC_Slides_08_Template_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DC_Slides_08_Template_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DC_Slides_08_Template_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DC_Slides_08_Template_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SDC2015_ppt_template</Template>
  <TotalTime>13441</TotalTime>
  <Words>7883</Words>
  <Application>Microsoft Office PowerPoint</Application>
  <PresentationFormat>On-screen Show (16:9)</PresentationFormat>
  <Paragraphs>918</Paragraphs>
  <Slides>56</Slides>
  <Notes>54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56</vt:i4>
      </vt:variant>
    </vt:vector>
  </HeadingPairs>
  <TitlesOfParts>
    <vt:vector size="65" baseType="lpstr">
      <vt:lpstr>Gill Sans MT</vt:lpstr>
      <vt:lpstr>微軟正黑體</vt:lpstr>
      <vt:lpstr>新細明體</vt:lpstr>
      <vt:lpstr>Arial</vt:lpstr>
      <vt:lpstr>Calibri</vt:lpstr>
      <vt:lpstr>Courier New</vt:lpstr>
      <vt:lpstr>Wingdings</vt:lpstr>
      <vt:lpstr>Wingdings 3</vt:lpstr>
      <vt:lpstr>SDC2015_ppt_template</vt:lpstr>
      <vt:lpstr>Spiffy: Enabling File-System Aware Storage Applications</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Need for Annotations</vt:lpstr>
      <vt:lpstr>Need for Annotations</vt:lpstr>
      <vt:lpstr>Pointer Annotations</vt:lpstr>
      <vt:lpstr>Pointer Address Space</vt:lpstr>
      <vt:lpstr>Block Address Space</vt:lpstr>
      <vt:lpstr>File Address Space</vt:lpstr>
      <vt:lpstr>Super Block</vt:lpstr>
      <vt:lpstr>Super Block</vt:lpstr>
      <vt:lpstr>Super Block</vt:lpstr>
      <vt:lpstr>Context-Sensitive Types</vt:lpstr>
      <vt:lpstr>Context-Sensitive Types</vt:lpstr>
      <vt:lpstr>Context-Sensitive Types</vt:lpstr>
      <vt:lpstr>Context-Sensitive Types</vt:lpstr>
      <vt:lpstr>Missing Pointer</vt:lpstr>
      <vt:lpstr>Implicit Pointer</vt:lpstr>
      <vt:lpstr>Implicit Pointer</vt:lpstr>
      <vt:lpstr>Vector Types</vt:lpstr>
      <vt:lpstr>Check Annotations</vt:lpstr>
      <vt:lpstr>Generating Spiffy Library</vt:lpstr>
      <vt:lpstr>Evaluation: Annotation Effort</vt:lpstr>
      <vt:lpstr>Building Applications</vt:lpstr>
      <vt:lpstr>Manually-Written Application</vt:lpstr>
      <vt:lpstr>Manually-Written Application</vt:lpstr>
      <vt:lpstr>Manually-Written Application</vt:lpstr>
      <vt:lpstr>Application Using Spiffy Library</vt:lpstr>
      <vt:lpstr>Application Using Spiffy Library</vt:lpstr>
      <vt:lpstr>Application Using Spiffy Library</vt:lpstr>
      <vt:lpstr>Spiffy Application for Btrfs</vt:lpstr>
      <vt:lpstr>Spiffy API (C++)</vt:lpstr>
      <vt:lpstr>File-System Agnostic Traversal</vt:lpstr>
      <vt:lpstr>File-System Agnostic Traversal</vt:lpstr>
      <vt:lpstr>File-System Agnostic Traversal</vt:lpstr>
      <vt:lpstr>File-System Agnostic Traversal</vt:lpstr>
      <vt:lpstr>Spiffy Applications</vt:lpstr>
      <vt:lpstr>File System Dump Tool</vt:lpstr>
      <vt:lpstr>Type-Specific File System Corruptor</vt:lpstr>
      <vt:lpstr>File System Conversion Tool</vt:lpstr>
      <vt:lpstr>Evaluation: Ext4 to F2FS Converter</vt:lpstr>
      <vt:lpstr>File-system Aware Block Layer Cache</vt:lpstr>
      <vt:lpstr>Runtime Verification for File Systems</vt:lpstr>
      <vt:lpstr>Demo of Spiffy Applications</vt:lpstr>
      <vt:lpstr>Conclusion</vt:lpstr>
      <vt:lpstr>Find Out More</vt:lpstr>
      <vt:lpstr>Spiffy: Enabling File-System Aware Storage Applications</vt:lpstr>
    </vt:vector>
  </TitlesOfParts>
  <Company>Microsoft</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Presentation</dc:title>
  <dc:creator>khauser</dc:creator>
  <cp:lastModifiedBy>Jack Sun</cp:lastModifiedBy>
  <cp:revision>86</cp:revision>
  <dcterms:created xsi:type="dcterms:W3CDTF">2016-06-02T15:35:50Z</dcterms:created>
  <dcterms:modified xsi:type="dcterms:W3CDTF">2018-09-25T08:40:21Z</dcterms:modified>
</cp:coreProperties>
</file>