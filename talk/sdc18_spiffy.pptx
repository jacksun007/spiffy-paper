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8"/>
  </p:notesMasterIdLst>
  <p:handoutMasterIdLst>
    <p:handoutMasterId r:id="rId49"/>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311" r:id="rId18"/>
    <p:sldId id="272" r:id="rId19"/>
    <p:sldId id="273" r:id="rId20"/>
    <p:sldId id="274" r:id="rId21"/>
    <p:sldId id="304" r:id="rId22"/>
    <p:sldId id="275" r:id="rId23"/>
    <p:sldId id="276" r:id="rId24"/>
    <p:sldId id="277" r:id="rId25"/>
    <p:sldId id="278" r:id="rId26"/>
    <p:sldId id="279" r:id="rId27"/>
    <p:sldId id="280" r:id="rId28"/>
    <p:sldId id="281" r:id="rId29"/>
    <p:sldId id="282" r:id="rId30"/>
    <p:sldId id="283" r:id="rId31"/>
    <p:sldId id="284" r:id="rId32"/>
    <p:sldId id="285" r:id="rId33"/>
    <p:sldId id="306" r:id="rId34"/>
    <p:sldId id="307" r:id="rId35"/>
    <p:sldId id="308" r:id="rId36"/>
    <p:sldId id="309" r:id="rId37"/>
    <p:sldId id="310" r:id="rId38"/>
    <p:sldId id="286" r:id="rId39"/>
    <p:sldId id="287" r:id="rId40"/>
    <p:sldId id="288" r:id="rId41"/>
    <p:sldId id="289" r:id="rId42"/>
    <p:sldId id="290" r:id="rId43"/>
    <p:sldId id="312" r:id="rId44"/>
    <p:sldId id="303" r:id="rId45"/>
    <p:sldId id="291" r:id="rId46"/>
    <p:sldId id="305" r:id="rId47"/>
  </p:sldIdLst>
  <p:sldSz cx="9144000" cy="5143500" type="screen16x9"/>
  <p:notesSz cx="7077075" cy="9383713"/>
  <p:defaultTextStyle>
    <a:defPPr>
      <a:defRPr lang="en-US"/>
    </a:defPPr>
    <a:lvl1pPr algn="l" rtl="0" fontAlgn="base">
      <a:spcBef>
        <a:spcPct val="0"/>
      </a:spcBef>
      <a:spcAft>
        <a:spcPct val="0"/>
      </a:spcAft>
      <a:defRPr sz="1600" kern="1200">
        <a:solidFill>
          <a:schemeClr val="tx1"/>
        </a:solidFill>
        <a:latin typeface="Arial" charset="0"/>
        <a:ea typeface="+mn-ea"/>
        <a:cs typeface="+mn-cs"/>
      </a:defRPr>
    </a:lvl1pPr>
    <a:lvl2pPr marL="457200" algn="l" rtl="0" fontAlgn="base">
      <a:spcBef>
        <a:spcPct val="0"/>
      </a:spcBef>
      <a:spcAft>
        <a:spcPct val="0"/>
      </a:spcAft>
      <a:defRPr sz="1600" kern="1200">
        <a:solidFill>
          <a:schemeClr val="tx1"/>
        </a:solidFill>
        <a:latin typeface="Arial" charset="0"/>
        <a:ea typeface="+mn-ea"/>
        <a:cs typeface="+mn-cs"/>
      </a:defRPr>
    </a:lvl2pPr>
    <a:lvl3pPr marL="914400" algn="l" rtl="0" fontAlgn="base">
      <a:spcBef>
        <a:spcPct val="0"/>
      </a:spcBef>
      <a:spcAft>
        <a:spcPct val="0"/>
      </a:spcAft>
      <a:defRPr sz="1600" kern="1200">
        <a:solidFill>
          <a:schemeClr val="tx1"/>
        </a:solidFill>
        <a:latin typeface="Arial" charset="0"/>
        <a:ea typeface="+mn-ea"/>
        <a:cs typeface="+mn-cs"/>
      </a:defRPr>
    </a:lvl3pPr>
    <a:lvl4pPr marL="1371600" algn="l" rtl="0" fontAlgn="base">
      <a:spcBef>
        <a:spcPct val="0"/>
      </a:spcBef>
      <a:spcAft>
        <a:spcPct val="0"/>
      </a:spcAft>
      <a:defRPr sz="1600" kern="1200">
        <a:solidFill>
          <a:schemeClr val="tx1"/>
        </a:solidFill>
        <a:latin typeface="Arial" charset="0"/>
        <a:ea typeface="+mn-ea"/>
        <a:cs typeface="+mn-cs"/>
      </a:defRPr>
    </a:lvl4pPr>
    <a:lvl5pPr marL="1828800" algn="l" rtl="0" fontAlgn="base">
      <a:spcBef>
        <a:spcPct val="0"/>
      </a:spcBef>
      <a:spcAft>
        <a:spcPct val="0"/>
      </a:spcAft>
      <a:defRPr sz="1600" kern="1200">
        <a:solidFill>
          <a:schemeClr val="tx1"/>
        </a:solidFill>
        <a:latin typeface="Arial" charset="0"/>
        <a:ea typeface="+mn-ea"/>
        <a:cs typeface="+mn-cs"/>
      </a:defRPr>
    </a:lvl5pPr>
    <a:lvl6pPr marL="2286000" algn="l" defTabSz="914400" rtl="0" eaLnBrk="1" latinLnBrk="0" hangingPunct="1">
      <a:defRPr sz="1600" kern="1200">
        <a:solidFill>
          <a:schemeClr val="tx1"/>
        </a:solidFill>
        <a:latin typeface="Arial" charset="0"/>
        <a:ea typeface="+mn-ea"/>
        <a:cs typeface="+mn-cs"/>
      </a:defRPr>
    </a:lvl6pPr>
    <a:lvl7pPr marL="2743200" algn="l" defTabSz="914400" rtl="0" eaLnBrk="1" latinLnBrk="0" hangingPunct="1">
      <a:defRPr sz="1600" kern="1200">
        <a:solidFill>
          <a:schemeClr val="tx1"/>
        </a:solidFill>
        <a:latin typeface="Arial" charset="0"/>
        <a:ea typeface="+mn-ea"/>
        <a:cs typeface="+mn-cs"/>
      </a:defRPr>
    </a:lvl7pPr>
    <a:lvl8pPr marL="3200400" algn="l" defTabSz="914400" rtl="0" eaLnBrk="1" latinLnBrk="0" hangingPunct="1">
      <a:defRPr sz="1600" kern="1200">
        <a:solidFill>
          <a:schemeClr val="tx1"/>
        </a:solidFill>
        <a:latin typeface="Arial" charset="0"/>
        <a:ea typeface="+mn-ea"/>
        <a:cs typeface="+mn-cs"/>
      </a:defRPr>
    </a:lvl8pPr>
    <a:lvl9pPr marL="3657600" algn="l" defTabSz="914400" rtl="0" eaLnBrk="1" latinLnBrk="0" hangingPunct="1">
      <a:defRPr sz="16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955">
          <p15:clr>
            <a:srgbClr val="A4A3A4"/>
          </p15:clr>
        </p15:guide>
        <p15:guide id="2" pos="2229">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FFFF"/>
    <a:srgbClr val="B7B7FF"/>
    <a:srgbClr val="007089"/>
    <a:srgbClr val="7D7DFF"/>
    <a:srgbClr val="5D5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180" autoAdjust="0"/>
  </p:normalViewPr>
  <p:slideViewPr>
    <p:cSldViewPr>
      <p:cViewPr varScale="1">
        <p:scale>
          <a:sx n="112" d="100"/>
          <a:sy n="112" d="100"/>
        </p:scale>
        <p:origin x="1506" y="90"/>
      </p:cViewPr>
      <p:guideLst>
        <p:guide orient="horz" pos="1620"/>
        <p:guide pos="2880"/>
      </p:guideLst>
    </p:cSldViewPr>
  </p:slideViewPr>
  <p:notesTextViewPr>
    <p:cViewPr>
      <p:scale>
        <a:sx n="100" d="100"/>
        <a:sy n="100" d="100"/>
      </p:scale>
      <p:origin x="0" y="0"/>
    </p:cViewPr>
  </p:notesTextViewPr>
  <p:sorterViewPr>
    <p:cViewPr>
      <p:scale>
        <a:sx n="100" d="100"/>
        <a:sy n="100" d="100"/>
      </p:scale>
      <p:origin x="0" y="0"/>
    </p:cViewPr>
  </p:sorterViewPr>
  <p:notesViewPr>
    <p:cSldViewPr>
      <p:cViewPr>
        <p:scale>
          <a:sx n="70" d="100"/>
          <a:sy n="70" d="100"/>
        </p:scale>
        <p:origin x="-3198" y="-66"/>
      </p:cViewPr>
      <p:guideLst>
        <p:guide orient="horz" pos="2955"/>
        <p:guide pos="2229"/>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656062388753131"/>
          <c:y val="5.9911271909187234E-2"/>
          <c:w val="0.53026608742872661"/>
          <c:h val="0.71485881469934165"/>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1027823984"/>
        <c:axId val="-1027822352"/>
      </c:lineChart>
      <c:catAx>
        <c:axId val="-1027823984"/>
        <c:scaling>
          <c:orientation val="minMax"/>
        </c:scaling>
        <c:delete val="0"/>
        <c:axPos val="b"/>
        <c:title>
          <c:tx>
            <c:rich>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US" sz="1600" dirty="0">
                    <a:solidFill>
                      <a:srgbClr val="000000"/>
                    </a:solidFill>
                  </a:rPr>
                  <a:t># of </a:t>
                </a:r>
                <a:r>
                  <a:rPr lang="en-US" sz="1600" dirty="0" smtClean="0">
                    <a:solidFill>
                      <a:srgbClr val="000000"/>
                    </a:solidFill>
                  </a:rPr>
                  <a:t>files</a:t>
                </a:r>
                <a:endParaRPr lang="en-US" sz="1600" dirty="0">
                  <a:solidFill>
                    <a:srgbClr val="000000"/>
                  </a:solidFill>
                </a:endParaRPr>
              </a:p>
            </c:rich>
          </c:tx>
          <c:layout>
            <c:manualLayout>
              <c:xMode val="edge"/>
              <c:yMode val="edge"/>
              <c:x val="0.64516245814100825"/>
              <c:y val="0.81318646046260579"/>
            </c:manualLayout>
          </c:layout>
          <c:overlay val="0"/>
          <c:spPr>
            <a:noFill/>
            <a:ln>
              <a:noFill/>
            </a:ln>
            <a:effectLst/>
          </c:spPr>
          <c:txPr>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1027822352"/>
        <c:crosses val="autoZero"/>
        <c:auto val="0"/>
        <c:lblAlgn val="ctr"/>
        <c:lblOffset val="100"/>
        <c:noMultiLvlLbl val="0"/>
      </c:catAx>
      <c:valAx>
        <c:axId val="-1027822352"/>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CA" sz="1600">
                    <a:solidFill>
                      <a:srgbClr val="000000"/>
                    </a:solidFill>
                  </a:rPr>
                  <a:t>seconds</a:t>
                </a:r>
              </a:p>
            </c:rich>
          </c:tx>
          <c:overlay val="0"/>
          <c:spPr>
            <a:noFill/>
            <a:ln>
              <a:noFill/>
            </a:ln>
            <a:effectLst/>
          </c:spPr>
          <c:txPr>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1027823984"/>
        <c:crosses val="autoZero"/>
        <c:crossBetween val="between"/>
      </c:valAx>
      <c:spPr>
        <a:no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rgbClr val="000000"/>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sz="quarter"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0C5C15DB-11A6-4112-B189-B4B63969769D}" type="datetimeFigureOut">
              <a:rPr lang="en-US"/>
              <a:pPr>
                <a:defRPr/>
              </a:pPr>
              <a:t>9/21/2018</a:t>
            </a:fld>
            <a:endParaRPr lang="en-US"/>
          </a:p>
        </p:txBody>
      </p:sp>
      <p:sp>
        <p:nvSpPr>
          <p:cNvPr id="4" name="Footer Placeholder 3"/>
          <p:cNvSpPr>
            <a:spLocks noGrp="1"/>
          </p:cNvSpPr>
          <p:nvPr>
            <p:ph type="ftr" sz="quarter" idx="2"/>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6" name="Slide Number Placeholder 5"/>
          <p:cNvSpPr>
            <a:spLocks noGrp="1"/>
          </p:cNvSpPr>
          <p:nvPr>
            <p:ph type="sldNum" sz="quarter" idx="3"/>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F4429B67-5F41-4671-BF3C-3A74F4BD2A15}" type="slidenum">
              <a:rPr lang="en-US"/>
              <a:pPr>
                <a:defRPr/>
              </a:pPr>
              <a:t>‹#›</a:t>
            </a:fld>
            <a:endParaRPr lang="en-US"/>
          </a:p>
        </p:txBody>
      </p:sp>
    </p:spTree>
    <p:extLst>
      <p:ext uri="{BB962C8B-B14F-4D97-AF65-F5344CB8AC3E}">
        <p14:creationId xmlns:p14="http://schemas.microsoft.com/office/powerpoint/2010/main" val="21075270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E70C0810-4D61-476D-85B9-67DD24F29068}" type="datetimeFigureOut">
              <a:rPr lang="en-US"/>
              <a:pPr>
                <a:defRPr/>
              </a:pPr>
              <a:t>9/21/2018</a:t>
            </a:fld>
            <a:endParaRPr lang="en-US"/>
          </a:p>
        </p:txBody>
      </p:sp>
      <p:sp>
        <p:nvSpPr>
          <p:cNvPr id="4" name="Slide Image Placeholder 3"/>
          <p:cNvSpPr>
            <a:spLocks noGrp="1" noRot="1" noChangeAspect="1"/>
          </p:cNvSpPr>
          <p:nvPr>
            <p:ph type="sldImg" idx="2"/>
          </p:nvPr>
        </p:nvSpPr>
        <p:spPr>
          <a:xfrm>
            <a:off x="411163" y="703263"/>
            <a:ext cx="6254750" cy="3519487"/>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Notes Placeholder 4"/>
          <p:cNvSpPr>
            <a:spLocks noGrp="1"/>
          </p:cNvSpPr>
          <p:nvPr>
            <p:ph type="body" sz="quarter" idx="3"/>
          </p:nvPr>
        </p:nvSpPr>
        <p:spPr>
          <a:xfrm>
            <a:off x="708025" y="4457700"/>
            <a:ext cx="5661025" cy="4222750"/>
          </a:xfrm>
          <a:prstGeom prst="rect">
            <a:avLst/>
          </a:prstGeom>
        </p:spPr>
        <p:txBody>
          <a:bodyPr vert="horz" lIns="91440" tIns="45720" rIns="91440" bIns="45720" rtlCol="0">
            <a:normAutofit/>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7" name="Slide Number Placeholder 6"/>
          <p:cNvSpPr>
            <a:spLocks noGrp="1"/>
          </p:cNvSpPr>
          <p:nvPr>
            <p:ph type="sldNum" sz="quarter" idx="5"/>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CFF1A404-780B-445D-9205-D143319E6490}" type="slidenum">
              <a:rPr lang="en-US"/>
              <a:pPr>
                <a:defRPr/>
              </a:pPr>
              <a:t>‹#›</a:t>
            </a:fld>
            <a:endParaRPr lang="en-US"/>
          </a:p>
        </p:txBody>
      </p:sp>
    </p:spTree>
    <p:extLst>
      <p:ext uri="{BB962C8B-B14F-4D97-AF65-F5344CB8AC3E}">
        <p14:creationId xmlns:p14="http://schemas.microsoft.com/office/powerpoint/2010/main" val="81671757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1</a:t>
            </a:fld>
            <a:endParaRPr lang="en-US" altLang="en-US" smtClean="0">
              <a:latin typeface="Arial" charset="0"/>
            </a:endParaRPr>
          </a:p>
        </p:txBody>
      </p:sp>
    </p:spTree>
    <p:extLst>
      <p:ext uri="{BB962C8B-B14F-4D97-AF65-F5344CB8AC3E}">
        <p14:creationId xmlns:p14="http://schemas.microsoft.com/office/powerpoint/2010/main" val="1283261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39185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misinterpreted this field, and corrupted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3393997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 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13442513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232113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34671520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365996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91627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19457255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15730406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 </a:t>
            </a:r>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42287739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1058972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the file system.</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8671169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file and NID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39886306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41174776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20915811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Traversal</a:t>
            </a:r>
            <a:r>
              <a:rPr lang="en-CA" baseline="0" dirty="0" smtClean="0"/>
              <a:t> of every file system begins with the super block. Therefore, a special annotation named FSSUPER is used to distinguish the super block from other file system metadata. File system super blocks are always located in fixed known byte offset on disk. Therefore, we specify this information using the location argument.</a:t>
            </a:r>
          </a:p>
          <a:p>
            <a:r>
              <a:rPr lang="en-CA" dirty="0" smtClean="0"/>
              <a:t>Here,</a:t>
            </a:r>
            <a:r>
              <a:rPr lang="en-CA" baseline="0" dirty="0" smtClean="0"/>
              <a:t> we show an example of the ext4 super block, which is annotated with FSSUPER. The location argument specifies that the super block is one kilobyte away from the beginning of the partition. We also show here the pointer annotation for the journal.</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0935437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For example,</a:t>
            </a:r>
            <a:r>
              <a:rPr lang="en-CA" dirty="0" smtClean="0"/>
              <a:t> 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8979059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an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p>
          <a:p>
            <a:r>
              <a:rPr lang="en-CA" dirty="0" smtClean="0"/>
              <a:t>In</a:t>
            </a:r>
            <a:r>
              <a:rPr lang="en-CA" baseline="0" dirty="0" smtClean="0"/>
              <a:t> this example, the pointer annotation creates a logical field called </a:t>
            </a:r>
            <a:r>
              <a:rPr lang="en-CA" baseline="0" dirty="0" err="1" smtClean="0"/>
              <a:t>s_block_group_descriptor</a:t>
            </a:r>
            <a:r>
              <a:rPr lang="en-CA" baseline="0" dirty="0" smtClean="0"/>
              <a:t>, and evaluates the expression at runtime that assigns the field a value of 2 or 1 depending the block size of the file system. Now, this field name can be used to traverse the file system from the super block to the block group descriptor table.</a:t>
            </a:r>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14230372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 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In</a:t>
            </a:r>
            <a:r>
              <a:rPr lang="en-CA" baseline="0" dirty="0" smtClean="0"/>
              <a:t> this example, there are two pointer annotation to the same </a:t>
            </a:r>
            <a:r>
              <a:rPr lang="en-CA" baseline="0" dirty="0" err="1" smtClean="0"/>
              <a:t>i_block</a:t>
            </a:r>
            <a:r>
              <a:rPr lang="en-CA" baseline="0" dirty="0" smtClean="0"/>
              <a:t> array. The first annotation specifies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The second annotation specifies that this same </a:t>
            </a:r>
            <a:r>
              <a:rPr lang="en-CA" baseline="0" dirty="0" err="1" smtClean="0"/>
              <a:t>i_block</a:t>
            </a:r>
            <a:r>
              <a:rPr lang="en-CA" baseline="0" dirty="0" smtClean="0"/>
              <a:t> is an array of pointers to data blocks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29350111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Similar to implicit pointers,</a:t>
            </a:r>
            <a:r>
              <a:rPr lang="en-CA" baseline="0" dirty="0" smtClean="0"/>
              <a:t> vector types are typically also implicit within the file system code. For example, Ext4 does not explicit define directory block as an array of directory entries, or indirect block as an array of indirect pointers. However, this type information is required by the pointer annotations, otherwise it becomes ambiguous whether a pointer points to one structure or an array of structures. Therefore, we </a:t>
            </a:r>
            <a:r>
              <a:rPr lang="en-CA" baseline="0" dirty="0" smtClean="0"/>
              <a:t>must declare </a:t>
            </a:r>
            <a:r>
              <a:rPr lang="en-CA" baseline="0" dirty="0" smtClean="0"/>
              <a:t>all vector </a:t>
            </a:r>
            <a:r>
              <a:rPr lang="en-CA" baseline="0" dirty="0" smtClean="0"/>
              <a:t>types explicitly. A secondary issue is that C vector types, which can be declared through </a:t>
            </a:r>
            <a:r>
              <a:rPr lang="en-CA" baseline="0" dirty="0" err="1" smtClean="0"/>
              <a:t>typedef</a:t>
            </a:r>
            <a:r>
              <a:rPr lang="en-CA" baseline="0" dirty="0" smtClean="0"/>
              <a:t>, does not support variable-length element such as a directory entry structure. Therefore, Spiffy provides support for all vector types through the VECTOR annotation. </a:t>
            </a:r>
            <a:endParaRPr lang="en-CA" baseline="0" dirty="0" smtClean="0"/>
          </a:p>
          <a:p>
            <a:r>
              <a:rPr lang="en-CA" baseline="0" dirty="0" smtClean="0"/>
              <a:t>As shown in the example</a:t>
            </a:r>
            <a:r>
              <a:rPr lang="en-CA" baseline="0" smtClean="0"/>
              <a:t>, the </a:t>
            </a:r>
            <a:r>
              <a:rPr lang="en-CA" baseline="0" dirty="0" smtClean="0"/>
              <a:t>name argument specifies a new vector type. The type argument in the vector annotation specifies the type of its elements, and the size argument specifies the size of the entire vector, in bytes, which is usually the size of a block as specified by the file system. As you can now see in the next structure definition for directory indirect pointers, the indirect block number field can now reference </a:t>
            </a:r>
            <a:r>
              <a:rPr lang="en-CA" baseline="0" dirty="0" smtClean="0"/>
              <a:t>a </a:t>
            </a:r>
            <a:r>
              <a:rPr lang="en-CA" baseline="0" dirty="0" smtClean="0"/>
              <a:t>directory block. </a:t>
            </a:r>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21</a:t>
            </a:fld>
            <a:endParaRPr lang="en-US"/>
          </a:p>
        </p:txBody>
      </p:sp>
    </p:spTree>
    <p:extLst>
      <p:ext uri="{BB962C8B-B14F-4D97-AF65-F5344CB8AC3E}">
        <p14:creationId xmlns:p14="http://schemas.microsoft.com/office/powerpoint/2010/main" val="34532804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top example, we specify that the block size must be at most 64KB, and the magic field of the super block must be the Ext4 magic number.</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bottom example shows a fragment of the generated parsing code for the Ext4 super block. This example shows how check annotations are implemented. These checks help detect metadata corruptions.</a:t>
            </a:r>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6365132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13117003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For example,</a:t>
            </a:r>
            <a:r>
              <a:rPr lang="en-CA" dirty="0" smtClean="0"/>
              <a:t>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24</a:t>
            </a:fld>
            <a:endParaRPr lang="en-CA"/>
          </a:p>
        </p:txBody>
      </p:sp>
    </p:spTree>
    <p:extLst>
      <p:ext uri="{BB962C8B-B14F-4D97-AF65-F5344CB8AC3E}">
        <p14:creationId xmlns:p14="http://schemas.microsoft.com/office/powerpoint/2010/main" val="3727061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contrast,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41793991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code is needed to walk through the intermediate metadata structures.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39697451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41935649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31007705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the Spiffy library. </a:t>
            </a:r>
          </a:p>
          <a:p>
            <a:r>
              <a:rPr lang="en-CA" baseline="0" dirty="0" smtClean="0"/>
              <a:t>On 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11824292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30</a:t>
            </a:fld>
            <a:endParaRPr lang="en-CA"/>
          </a:p>
        </p:txBody>
      </p:sp>
    </p:spTree>
    <p:extLst>
      <p:ext uri="{BB962C8B-B14F-4D97-AF65-F5344CB8AC3E}">
        <p14:creationId xmlns:p14="http://schemas.microsoft.com/office/powerpoint/2010/main" val="14705235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31</a:t>
            </a:fld>
            <a:endParaRPr lang="en-CA"/>
          </a:p>
        </p:txBody>
      </p:sp>
    </p:spTree>
    <p:extLst>
      <p:ext uri="{BB962C8B-B14F-4D97-AF65-F5344CB8AC3E}">
        <p14:creationId xmlns:p14="http://schemas.microsoft.com/office/powerpoint/2010/main" val="21958348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the </a:t>
            </a:r>
            <a:r>
              <a:rPr lang="en-CA" baseline="0" dirty="0" err="1" smtClean="0"/>
              <a:t>process_by_type</a:t>
            </a:r>
            <a:r>
              <a:rPr lang="en-CA" baseline="0" dirty="0" smtClean="0"/>
              <a:t> function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39768934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This</a:t>
            </a:r>
            <a:r>
              <a:rPr lang="en-CA" baseline="0" dirty="0" smtClean="0"/>
              <a:t> table summarizes the major APIs offered by Spiffy, which provides type-safe traversal and manipulation of the file system and its metadata. At the top, we have the Entity class, which provides a common interface for all file system metadata structures. The </a:t>
            </a:r>
            <a:r>
              <a:rPr lang="en-CA" baseline="0" dirty="0" err="1" smtClean="0"/>
              <a:t>process_fields</a:t>
            </a:r>
            <a:r>
              <a:rPr lang="en-CA" baseline="0" dirty="0" smtClean="0"/>
              <a:t> function allows iterating through all fields of this object. </a:t>
            </a:r>
            <a:r>
              <a:rPr lang="en-CA" baseline="0" dirty="0" err="1" smtClean="0"/>
              <a:t>process_pointer</a:t>
            </a:r>
            <a:r>
              <a:rPr lang="en-CA" baseline="0" dirty="0" smtClean="0"/>
              <a:t>, on the other hand, only iterates through the pointers within this object. Next, the container class represents the unit of disk access. for example, </a:t>
            </a:r>
            <a:r>
              <a:rPr lang="en-CA" baseline="0" dirty="0" err="1" smtClean="0"/>
              <a:t>inode</a:t>
            </a:r>
            <a:r>
              <a:rPr lang="en-CA" baseline="0" dirty="0" smtClean="0"/>
              <a:t> structures are never read or written individually, but in units of an </a:t>
            </a:r>
            <a:r>
              <a:rPr lang="en-CA" baseline="0" dirty="0" err="1" smtClean="0"/>
              <a:t>inode</a:t>
            </a:r>
            <a:r>
              <a:rPr lang="en-CA" baseline="0" dirty="0" smtClean="0"/>
              <a:t> block. The container class is a subclass of Entity, which has the save function that allows it to be serialized to disk. Pointer class is also a subclass of Entity, which has the fetch function for retrieving the pointed-to container from disk. The File System class is required for bootstrapping the file system, and the IO class implements reading and writing from the address spaces used by the file system. Lastly, the </a:t>
            </a:r>
            <a:r>
              <a:rPr lang="en-CA" baseline="0" dirty="0" err="1" smtClean="0"/>
              <a:t>fetch_super</a:t>
            </a:r>
            <a:r>
              <a:rPr lang="en-CA" baseline="0" dirty="0" smtClean="0"/>
              <a:t> function retrieves the super block from a known location.</a:t>
            </a:r>
          </a:p>
          <a:p>
            <a:r>
              <a:rPr lang="en-CA" baseline="0" dirty="0" smtClean="0"/>
              <a:t>The application developer would mainly be writing custom visit functions for traversing and processing file system metadata, as we will show next how it can be done generically.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33</a:t>
            </a:fld>
            <a:endParaRPr lang="en-US"/>
          </a:p>
        </p:txBody>
      </p:sp>
    </p:spTree>
    <p:extLst>
      <p:ext uri="{BB962C8B-B14F-4D97-AF65-F5344CB8AC3E}">
        <p14:creationId xmlns:p14="http://schemas.microsoft.com/office/powerpoint/2010/main" val="45117574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a:t>
            </a:r>
            <a:r>
              <a:rPr lang="en-CA" baseline="0" dirty="0" smtClean="0"/>
              <a:t> show what the application developer needs to do to implement generic traversal of the file system, which is used by some of the applications that we will demonstrate later. For all file systems, a small amount of file system specific code is required for bootstrapping. However, the rest of the code is completely generic.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34</a:t>
            </a:fld>
            <a:endParaRPr lang="en-US"/>
          </a:p>
        </p:txBody>
      </p:sp>
    </p:spTree>
    <p:extLst>
      <p:ext uri="{BB962C8B-B14F-4D97-AF65-F5344CB8AC3E}">
        <p14:creationId xmlns:p14="http://schemas.microsoft.com/office/powerpoint/2010/main" val="17813887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First, we instantiate</a:t>
            </a:r>
            <a:r>
              <a:rPr lang="en-CA" baseline="0" dirty="0" smtClean="0"/>
              <a:t> an IO object which implements the block and file address space, and an instance of the Ext4 file system class. Next, the generic part of the application begins with fetching the super block. Then it uses two mutually recursive visitors to traverse the whole file system, beginning with the super block.</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35</a:t>
            </a:fld>
            <a:endParaRPr lang="en-US"/>
          </a:p>
        </p:txBody>
      </p:sp>
    </p:spTree>
    <p:extLst>
      <p:ext uri="{BB962C8B-B14F-4D97-AF65-F5344CB8AC3E}">
        <p14:creationId xmlns:p14="http://schemas.microsoft.com/office/powerpoint/2010/main" val="1424317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The entity visitor prints the name of the entity e, and then calls the process</a:t>
            </a:r>
            <a:r>
              <a:rPr lang="en-CA" baseline="0" dirty="0" smtClean="0"/>
              <a:t> pointer function using the pointer visitor, which calls its visit function on all of the pointer fields in the entity e.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36</a:t>
            </a:fld>
            <a:endParaRPr lang="en-US"/>
          </a:p>
        </p:txBody>
      </p:sp>
    </p:spTree>
    <p:extLst>
      <p:ext uri="{BB962C8B-B14F-4D97-AF65-F5344CB8AC3E}">
        <p14:creationId xmlns:p14="http://schemas.microsoft.com/office/powerpoint/2010/main" val="349995281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The pointer visit</a:t>
            </a:r>
            <a:r>
              <a:rPr lang="en-CA" baseline="0" dirty="0" smtClean="0"/>
              <a:t> function would fetch the pointed-to container from disk, then calls the entity visitor’s visit function, which allows full traversal of all file system containers in depth-first order.</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37</a:t>
            </a:fld>
            <a:endParaRPr lang="en-US"/>
          </a:p>
        </p:txBody>
      </p:sp>
    </p:spTree>
    <p:extLst>
      <p:ext uri="{BB962C8B-B14F-4D97-AF65-F5344CB8AC3E}">
        <p14:creationId xmlns:p14="http://schemas.microsoft.com/office/powerpoint/2010/main" val="250343120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38</a:t>
            </a:fld>
            <a:endParaRPr lang="en-CA"/>
          </a:p>
        </p:txBody>
      </p:sp>
    </p:spTree>
    <p:extLst>
      <p:ext uri="{BB962C8B-B14F-4D97-AF65-F5344CB8AC3E}">
        <p14:creationId xmlns:p14="http://schemas.microsoft.com/office/powerpoint/2010/main" val="13417294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Incidentally, none of these bugs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39</a:t>
            </a:fld>
            <a:endParaRPr lang="en-CA"/>
          </a:p>
        </p:txBody>
      </p:sp>
    </p:spTree>
    <p:extLst>
      <p:ext uri="{BB962C8B-B14F-4D97-AF65-F5344CB8AC3E}">
        <p14:creationId xmlns:p14="http://schemas.microsoft.com/office/powerpoint/2010/main" val="35638490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40</a:t>
            </a:fld>
            <a:endParaRPr lang="en-CA"/>
          </a:p>
        </p:txBody>
      </p:sp>
    </p:spTree>
    <p:extLst>
      <p:ext uri="{BB962C8B-B14F-4D97-AF65-F5344CB8AC3E}">
        <p14:creationId xmlns:p14="http://schemas.microsoft.com/office/powerpoint/2010/main" val="15890901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41</a:t>
            </a:fld>
            <a:endParaRPr lang="en-CA"/>
          </a:p>
        </p:txBody>
      </p:sp>
    </p:spTree>
    <p:extLst>
      <p:ext uri="{BB962C8B-B14F-4D97-AF65-F5344CB8AC3E}">
        <p14:creationId xmlns:p14="http://schemas.microsoft.com/office/powerpoint/2010/main" val="3281956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also implemented a file-system aware</a:t>
            </a:r>
            <a:r>
              <a:rPr lang="en-CA" baseline="0" dirty="0" smtClean="0"/>
              <a:t> block layer caching framework that s</a:t>
            </a:r>
            <a:r>
              <a:rPr lang="en-CA" dirty="0" smtClean="0"/>
              <a:t>upports a rich set of caching policies.</a:t>
            </a:r>
            <a:r>
              <a:rPr lang="en-CA" baseline="0" dirty="0" smtClean="0"/>
              <a:t> These policy </a:t>
            </a:r>
            <a:r>
              <a:rPr lang="en-CA" dirty="0" smtClean="0"/>
              <a:t>require file-system specific information.</a:t>
            </a:r>
            <a:r>
              <a:rPr lang="en-CA" baseline="0" dirty="0" smtClean="0"/>
              <a:t> For example, 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metadata. 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Spiffy 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p>
        </p:txBody>
      </p:sp>
      <p:sp>
        <p:nvSpPr>
          <p:cNvPr id="4" name="Slide Number Placeholder 3"/>
          <p:cNvSpPr>
            <a:spLocks noGrp="1"/>
          </p:cNvSpPr>
          <p:nvPr>
            <p:ph type="sldNum" sz="quarter" idx="10"/>
          </p:nvPr>
        </p:nvSpPr>
        <p:spPr/>
        <p:txBody>
          <a:bodyPr/>
          <a:lstStyle/>
          <a:p>
            <a:fld id="{B5B5BF96-4013-477F-9949-176AD53AFF60}" type="slidenum">
              <a:rPr lang="en-CA" smtClean="0"/>
              <a:t>42</a:t>
            </a:fld>
            <a:endParaRPr lang="en-CA"/>
          </a:p>
        </p:txBody>
      </p:sp>
    </p:spTree>
    <p:extLst>
      <p:ext uri="{BB962C8B-B14F-4D97-AF65-F5344CB8AC3E}">
        <p14:creationId xmlns:p14="http://schemas.microsoft.com/office/powerpoint/2010/main" val="30839875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implemented the</a:t>
            </a:r>
            <a:r>
              <a:rPr lang="en-CA" baseline="0" dirty="0" smtClean="0"/>
              <a:t> framework for performing</a:t>
            </a:r>
            <a:r>
              <a:rPr lang="en-CA" dirty="0" smtClean="0"/>
              <a:t> runtime</a:t>
            </a:r>
            <a:r>
              <a:rPr lang="en-CA" baseline="0" dirty="0" smtClean="0"/>
              <a:t> verification of file systems, which verifies correctness of changes made to a mounted file system and stops corruption caused by memory error or buggy code when consistency violation is detected. The framework works by generating a list of logical changes to a file system at the block layer. Then, these changes are checked against file-system specific consistency rules to verify that the file system will remain consistent after the update. This is done, similar to the block layer cache, by identifying and interpreting blocks as they are read or written. In addition, when the file system is about to commit its changes atomically, through transactional mechanisms such as journaling or copy-on-write, the framework would compare old and new versions of a block to generate logical changes for all file system metadata in the block. For example, to create a new file in Ext4, a new </a:t>
            </a:r>
            <a:r>
              <a:rPr lang="en-CA" baseline="0" dirty="0" err="1" smtClean="0"/>
              <a:t>inode</a:t>
            </a:r>
            <a:r>
              <a:rPr lang="en-CA" baseline="0" dirty="0" smtClean="0"/>
              <a:t> would be allocated, a bit in the </a:t>
            </a:r>
            <a:r>
              <a:rPr lang="en-CA" baseline="0" dirty="0" err="1" smtClean="0"/>
              <a:t>inode</a:t>
            </a:r>
            <a:r>
              <a:rPr lang="en-CA" baseline="0" dirty="0" smtClean="0"/>
              <a:t> bitmap would be set, and a new directory entry would be added to the parent directory. With support from Spiffy, generating logical changes requires significantly less file-system specific code. We wrote two versions of runtime verification framework for Ext4. Our manually written version requires 2099 lines of code, whereas with Spiffy, the lines of code is reduced by half to 1059. We are exploring further improvement to Spiffy so that even fewer lines of file-system specific code is required.</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43</a:t>
            </a:fld>
            <a:endParaRPr lang="en-US"/>
          </a:p>
        </p:txBody>
      </p:sp>
    </p:spTree>
    <p:extLst>
      <p:ext uri="{BB962C8B-B14F-4D97-AF65-F5344CB8AC3E}">
        <p14:creationId xmlns:p14="http://schemas.microsoft.com/office/powerpoint/2010/main" val="97183726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45</a:t>
            </a:fld>
            <a:endParaRPr lang="en-CA"/>
          </a:p>
        </p:txBody>
      </p:sp>
    </p:spTree>
    <p:extLst>
      <p:ext uri="{BB962C8B-B14F-4D97-AF65-F5344CB8AC3E}">
        <p14:creationId xmlns:p14="http://schemas.microsoft.com/office/powerpoint/2010/main" val="181099183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46</a:t>
            </a:fld>
            <a:endParaRPr lang="en-US" altLang="en-US" smtClean="0">
              <a:latin typeface="Arial" charset="0"/>
            </a:endParaRPr>
          </a:p>
        </p:txBody>
      </p:sp>
    </p:spTree>
    <p:extLst>
      <p:ext uri="{BB962C8B-B14F-4D97-AF65-F5344CB8AC3E}">
        <p14:creationId xmlns:p14="http://schemas.microsoft.com/office/powerpoint/2010/main" val="40263681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962150"/>
            <a:ext cx="9144000" cy="1752600"/>
          </a:xfrm>
        </p:spPr>
        <p:txBody>
          <a:bodyPr/>
          <a:lstStyle>
            <a:lvl1pPr algn="ctr">
              <a:defRPr>
                <a:latin typeface="Arial" pitchFamily="34" charset="0"/>
                <a:cs typeface="Arial" pitchFamily="34" charset="0"/>
              </a:defRPr>
            </a:lvl1pPr>
          </a:lstStyle>
          <a:p>
            <a:r>
              <a:rPr lang="en-US" dirty="0" smtClean="0"/>
              <a:t>Click to edit Master title style</a:t>
            </a:r>
            <a:endParaRPr lang="en-US" dirty="0"/>
          </a:p>
        </p:txBody>
      </p:sp>
      <p:sp>
        <p:nvSpPr>
          <p:cNvPr id="13" name="Rectangle 12"/>
          <p:cNvSpPr/>
          <p:nvPr userDrawn="1"/>
        </p:nvSpPr>
        <p:spPr>
          <a:xfrm>
            <a:off x="-15240" y="4114800"/>
            <a:ext cx="9159240" cy="1123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240" y="-3175"/>
            <a:ext cx="9159240" cy="1908175"/>
          </a:xfrm>
          <a:prstGeom prst="rect">
            <a:avLst/>
          </a:prstGeom>
        </p:spPr>
      </p:pic>
    </p:spTree>
    <p:extLst>
      <p:ext uri="{BB962C8B-B14F-4D97-AF65-F5344CB8AC3E}">
        <p14:creationId xmlns:p14="http://schemas.microsoft.com/office/powerpoint/2010/main" val="285338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7030A0"/>
                </a:solidFill>
                <a:latin typeface="Arial" pitchFamily="34" charset="0"/>
                <a:cs typeface="Arial" pitchFamily="34" charset="0"/>
              </a:defRPr>
            </a:lvl1pPr>
          </a:lstStyle>
          <a:p>
            <a:r>
              <a:rPr lang="en-US" smtClean="0"/>
              <a:t>Click to edit Master title style</a:t>
            </a:r>
            <a:endParaRPr lang="en-US" dirty="0"/>
          </a:p>
        </p:txBody>
      </p:sp>
      <p:sp>
        <p:nvSpPr>
          <p:cNvPr id="3" name="Content Placeholder 2"/>
          <p:cNvSpPr>
            <a:spLocks noGrp="1"/>
          </p:cNvSpPr>
          <p:nvPr>
            <p:ph idx="1"/>
          </p:nvPr>
        </p:nvSpPr>
        <p:spPr>
          <a:xfrm>
            <a:off x="152400" y="857250"/>
            <a:ext cx="8839200" cy="3695700"/>
          </a:xfrm>
        </p:spPr>
        <p:txBody>
          <a:bodyPr/>
          <a:lstStyle>
            <a:lvl1pPr>
              <a:defRPr>
                <a:latin typeface="Arial" pitchFamily="34" charset="0"/>
                <a:cs typeface="Arial" pitchFamily="34" charset="0"/>
              </a:defRPr>
            </a:lvl1pPr>
            <a:lvl2pPr>
              <a:defRPr sz="2200">
                <a:latin typeface="Arial" pitchFamily="34" charset="0"/>
                <a:cs typeface="Arial" pitchFamily="34" charset="0"/>
              </a:defRPr>
            </a:lvl2pPr>
            <a:lvl3pPr>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251820011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513159" y="1136521"/>
            <a:ext cx="3842317" cy="349262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4356100" y="1136521"/>
            <a:ext cx="3700859" cy="349262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a:xfrm>
            <a:off x="7428309" y="4629150"/>
            <a:ext cx="1200150" cy="273844"/>
          </a:xfrm>
          <a:prstGeom prst="rect">
            <a:avLst/>
          </a:prstGeom>
        </p:spPr>
        <p:txBody>
          <a:bodyPr/>
          <a:lstStyle/>
          <a:p>
            <a:fld id="{9ACE3152-893D-476F-92C8-DC87664CFA37}" type="datetime1">
              <a:rPr lang="en-CA" smtClean="0"/>
              <a:t>2018-09-21</a:t>
            </a:fld>
            <a:endParaRPr lang="en-CA"/>
          </a:p>
        </p:txBody>
      </p:sp>
      <p:sp>
        <p:nvSpPr>
          <p:cNvPr id="6" name="Footer Placeholder 5"/>
          <p:cNvSpPr>
            <a:spLocks noGrp="1"/>
          </p:cNvSpPr>
          <p:nvPr>
            <p:ph type="ftr" sz="quarter" idx="11"/>
          </p:nvPr>
        </p:nvSpPr>
        <p:spPr>
          <a:xfrm>
            <a:off x="513159" y="4629150"/>
            <a:ext cx="5657850" cy="273844"/>
          </a:xfrm>
          <a:prstGeom prst="rect">
            <a:avLst/>
          </a:prstGeom>
        </p:spPr>
        <p:txBody>
          <a:bodyPr/>
          <a:lstStyle/>
          <a:p>
            <a:endParaRPr lang="en-CA"/>
          </a:p>
        </p:txBody>
      </p:sp>
      <p:sp>
        <p:nvSpPr>
          <p:cNvPr id="7" name="Slide Number Placeholder 6"/>
          <p:cNvSpPr>
            <a:spLocks noGrp="1"/>
          </p:cNvSpPr>
          <p:nvPr>
            <p:ph type="sldNum" sz="quarter" idx="12"/>
          </p:nvPr>
        </p:nvSpPr>
        <p:spPr>
          <a:xfrm>
            <a:off x="7772400" y="4183857"/>
            <a:ext cx="856684" cy="502444"/>
          </a:xfrm>
          <a:prstGeom prst="rect">
            <a:avLst/>
          </a:prstGeom>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7572502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4568428"/>
            <a:ext cx="9144000" cy="609600"/>
          </a:xfrm>
          <a:prstGeom prst="rect">
            <a:avLst/>
          </a:prstGeom>
        </p:spPr>
      </p:pic>
      <p:sp>
        <p:nvSpPr>
          <p:cNvPr id="1027" name="Rectangle 33"/>
          <p:cNvSpPr>
            <a:spLocks noGrp="1" noChangeArrowheads="1"/>
          </p:cNvSpPr>
          <p:nvPr>
            <p:ph type="title"/>
          </p:nvPr>
        </p:nvSpPr>
        <p:spPr bwMode="auto">
          <a:xfrm>
            <a:off x="152400" y="0"/>
            <a:ext cx="88392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smtClean="0"/>
              <a:t>Click to edit Master title style</a:t>
            </a:r>
          </a:p>
        </p:txBody>
      </p:sp>
      <p:sp>
        <p:nvSpPr>
          <p:cNvPr id="1028" name="Rectangle 34"/>
          <p:cNvSpPr>
            <a:spLocks noGrp="1" noChangeArrowheads="1"/>
          </p:cNvSpPr>
          <p:nvPr>
            <p:ph type="body" idx="1"/>
          </p:nvPr>
        </p:nvSpPr>
        <p:spPr bwMode="auto">
          <a:xfrm>
            <a:off x="152400" y="857250"/>
            <a:ext cx="8839200" cy="32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smtClean="0"/>
              <a:t>Click to edit Master text styles</a:t>
            </a:r>
          </a:p>
          <a:p>
            <a:pPr lvl="1"/>
            <a:r>
              <a:rPr lang="en-US" altLang="en-US" dirty="0" smtClean="0"/>
              <a:t>Second level</a:t>
            </a:r>
          </a:p>
          <a:p>
            <a:pPr lvl="2"/>
            <a:r>
              <a:rPr lang="en-US" altLang="en-US" dirty="0" smtClean="0"/>
              <a:t>Third level</a:t>
            </a:r>
          </a:p>
          <a:p>
            <a:pPr lvl="3"/>
            <a:r>
              <a:rPr lang="en-US" altLang="en-US" dirty="0" smtClean="0"/>
              <a:t>Fourth level</a:t>
            </a:r>
          </a:p>
          <a:p>
            <a:pPr lvl="4"/>
            <a:r>
              <a:rPr lang="en-US" altLang="en-US" dirty="0" smtClean="0"/>
              <a:t>Fifth level</a:t>
            </a:r>
          </a:p>
        </p:txBody>
      </p:sp>
      <p:sp>
        <p:nvSpPr>
          <p:cNvPr id="10" name="Footer Placeholder 7"/>
          <p:cNvSpPr txBox="1">
            <a:spLocks/>
          </p:cNvSpPr>
          <p:nvPr/>
        </p:nvSpPr>
        <p:spPr>
          <a:xfrm>
            <a:off x="1066800" y="4736306"/>
            <a:ext cx="6629400" cy="273844"/>
          </a:xfrm>
          <a:prstGeom prst="rect">
            <a:avLst/>
          </a:prstGeom>
        </p:spPr>
        <p:txBody>
          <a:bodyPr anchor="ctr"/>
          <a:lstStyle>
            <a:lvl1pPr algn="ctr">
              <a:defRPr sz="1000">
                <a:solidFill>
                  <a:schemeClr val="tx1">
                    <a:tint val="75000"/>
                  </a:schemeClr>
                </a:solidFill>
                <a:latin typeface="+mn-lt"/>
              </a:defRPr>
            </a:lvl1pPr>
          </a:lstStyle>
          <a:p>
            <a:pPr>
              <a:defRPr/>
            </a:pPr>
            <a:r>
              <a:rPr lang="en-US" dirty="0" smtClean="0">
                <a:solidFill>
                  <a:schemeClr val="tx1"/>
                </a:solidFill>
                <a:latin typeface="Arial" pitchFamily="34" charset="0"/>
                <a:cs typeface="Arial" pitchFamily="34" charset="0"/>
              </a:rPr>
              <a:t>2018 Storage  Developer Conference. © University of Toronto.  All Rights Reserved.</a:t>
            </a:r>
          </a:p>
          <a:p>
            <a:pPr>
              <a:defRPr/>
            </a:pPr>
            <a:endParaRPr lang="en-US" dirty="0" smtClean="0"/>
          </a:p>
        </p:txBody>
      </p:sp>
      <p:sp>
        <p:nvSpPr>
          <p:cNvPr id="11" name="TextBox 10"/>
          <p:cNvSpPr txBox="1"/>
          <p:nvPr userDrawn="1"/>
        </p:nvSpPr>
        <p:spPr>
          <a:xfrm>
            <a:off x="8610600" y="4705350"/>
            <a:ext cx="533400" cy="246221"/>
          </a:xfrm>
          <a:prstGeom prst="rect">
            <a:avLst/>
          </a:prstGeom>
          <a:noFill/>
        </p:spPr>
        <p:txBody>
          <a:bodyPr wrap="square" rtlCol="0">
            <a:spAutoFit/>
          </a:bodyPr>
          <a:lstStyle/>
          <a:p>
            <a:fld id="{31142115-651B-437E-86C6-1355E6532246}" type="slidenum">
              <a:rPr lang="en-US" sz="1000" smtClean="0">
                <a:solidFill>
                  <a:schemeClr val="bg1"/>
                </a:solidFill>
              </a:rPr>
              <a:t>‹#›</a:t>
            </a:fld>
            <a:endParaRPr lang="en-US" sz="1000" dirty="0">
              <a:solidFill>
                <a:schemeClr val="bg1"/>
              </a:solidFill>
            </a:endParaRPr>
          </a:p>
        </p:txBody>
      </p:sp>
    </p:spTree>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Lst>
  <p:timing>
    <p:tnLst>
      <p:par>
        <p:cTn id="1" dur="indefinite" restart="never" nodeType="tmRoot"/>
      </p:par>
    </p:tnLst>
  </p:timing>
  <p:hf hdr="0" ftr="0" dt="0"/>
  <p:txStyles>
    <p:titleStyle>
      <a:lvl1pPr algn="l" rtl="0" eaLnBrk="1" fontAlgn="base" hangingPunct="1">
        <a:spcBef>
          <a:spcPct val="0"/>
        </a:spcBef>
        <a:spcAft>
          <a:spcPct val="0"/>
        </a:spcAft>
        <a:defRPr sz="3200" b="1">
          <a:solidFill>
            <a:srgbClr val="522380"/>
          </a:solidFill>
          <a:latin typeface="Arial" pitchFamily="34" charset="0"/>
          <a:ea typeface="+mj-ea"/>
          <a:cs typeface="Arial" pitchFamily="34" charset="0"/>
        </a:defRPr>
      </a:lvl1pPr>
      <a:lvl2pPr algn="l" rtl="0" eaLnBrk="1" fontAlgn="base" hangingPunct="1">
        <a:spcBef>
          <a:spcPct val="0"/>
        </a:spcBef>
        <a:spcAft>
          <a:spcPct val="0"/>
        </a:spcAft>
        <a:defRPr sz="3200" b="1">
          <a:solidFill>
            <a:srgbClr val="522380"/>
          </a:solidFill>
          <a:latin typeface="Arial" charset="0"/>
          <a:cs typeface="Arial" charset="0"/>
        </a:defRPr>
      </a:lvl2pPr>
      <a:lvl3pPr algn="l" rtl="0" eaLnBrk="1" fontAlgn="base" hangingPunct="1">
        <a:spcBef>
          <a:spcPct val="0"/>
        </a:spcBef>
        <a:spcAft>
          <a:spcPct val="0"/>
        </a:spcAft>
        <a:defRPr sz="3200" b="1">
          <a:solidFill>
            <a:srgbClr val="522380"/>
          </a:solidFill>
          <a:latin typeface="Arial" charset="0"/>
          <a:cs typeface="Arial" charset="0"/>
        </a:defRPr>
      </a:lvl3pPr>
      <a:lvl4pPr algn="l" rtl="0" eaLnBrk="1" fontAlgn="base" hangingPunct="1">
        <a:spcBef>
          <a:spcPct val="0"/>
        </a:spcBef>
        <a:spcAft>
          <a:spcPct val="0"/>
        </a:spcAft>
        <a:defRPr sz="3200" b="1">
          <a:solidFill>
            <a:srgbClr val="522380"/>
          </a:solidFill>
          <a:latin typeface="Arial" charset="0"/>
          <a:cs typeface="Arial" charset="0"/>
        </a:defRPr>
      </a:lvl4pPr>
      <a:lvl5pPr algn="l" rtl="0" eaLnBrk="1" fontAlgn="base" hangingPunct="1">
        <a:spcBef>
          <a:spcPct val="0"/>
        </a:spcBef>
        <a:spcAft>
          <a:spcPct val="0"/>
        </a:spcAft>
        <a:defRPr sz="3200" b="1">
          <a:solidFill>
            <a:srgbClr val="522380"/>
          </a:solidFill>
          <a:latin typeface="Arial" charset="0"/>
          <a:cs typeface="Arial" charset="0"/>
        </a:defRPr>
      </a:lvl5pPr>
      <a:lvl6pPr marL="457200" algn="l" rtl="0" eaLnBrk="1" fontAlgn="base" hangingPunct="1">
        <a:spcBef>
          <a:spcPct val="0"/>
        </a:spcBef>
        <a:spcAft>
          <a:spcPct val="0"/>
        </a:spcAft>
        <a:defRPr sz="3200" b="1">
          <a:solidFill>
            <a:srgbClr val="522380"/>
          </a:solidFill>
          <a:latin typeface="Gill Sans MT" pitchFamily="34" charset="0"/>
        </a:defRPr>
      </a:lvl6pPr>
      <a:lvl7pPr marL="914400" algn="l" rtl="0" eaLnBrk="1" fontAlgn="base" hangingPunct="1">
        <a:spcBef>
          <a:spcPct val="0"/>
        </a:spcBef>
        <a:spcAft>
          <a:spcPct val="0"/>
        </a:spcAft>
        <a:defRPr sz="3200" b="1">
          <a:solidFill>
            <a:srgbClr val="522380"/>
          </a:solidFill>
          <a:latin typeface="Gill Sans MT" pitchFamily="34" charset="0"/>
        </a:defRPr>
      </a:lvl7pPr>
      <a:lvl8pPr marL="1371600" algn="l" rtl="0" eaLnBrk="1" fontAlgn="base" hangingPunct="1">
        <a:spcBef>
          <a:spcPct val="0"/>
        </a:spcBef>
        <a:spcAft>
          <a:spcPct val="0"/>
        </a:spcAft>
        <a:defRPr sz="3200" b="1">
          <a:solidFill>
            <a:srgbClr val="522380"/>
          </a:solidFill>
          <a:latin typeface="Gill Sans MT" pitchFamily="34" charset="0"/>
        </a:defRPr>
      </a:lvl8pPr>
      <a:lvl9pPr marL="1828800" algn="l" rtl="0" eaLnBrk="1" fontAlgn="base" hangingPunct="1">
        <a:spcBef>
          <a:spcPct val="0"/>
        </a:spcBef>
        <a:spcAft>
          <a:spcPct val="0"/>
        </a:spcAft>
        <a:defRPr sz="3200" b="1">
          <a:solidFill>
            <a:srgbClr val="522380"/>
          </a:solidFill>
          <a:latin typeface="Gill Sans MT" pitchFamily="34" charset="0"/>
        </a:defRPr>
      </a:lvl9pPr>
    </p:titleStyle>
    <p:body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dirty="0" smtClean="0"/>
              <a:t>File-system aware applications</a:t>
            </a:r>
          </a:p>
          <a:p>
            <a:pPr lvl="1"/>
            <a:r>
              <a:rPr lang="en-CA" dirty="0" smtClean="0"/>
              <a:t>E.g. partition editor, file system checker, defragmentation tool</a:t>
            </a:r>
          </a:p>
          <a:p>
            <a:pPr lvl="1"/>
            <a:r>
              <a:rPr lang="en-CA" dirty="0" smtClean="0"/>
              <a:t>Operate directly on file system metadata structures</a:t>
            </a:r>
          </a:p>
          <a:p>
            <a:pPr lvl="2"/>
            <a:r>
              <a:rPr lang="en-CA" dirty="0" smtClean="0"/>
              <a:t>Require detailed knowledge of file system format on disk</a:t>
            </a:r>
          </a:p>
          <a:p>
            <a:pPr lvl="2"/>
            <a:r>
              <a:rPr lang="en-CA" dirty="0" smtClean="0"/>
              <a:t>Bypass VFS layer</a:t>
            </a:r>
          </a:p>
          <a:p>
            <a:pPr lvl="1"/>
            <a:r>
              <a:rPr lang="en-CA" dirty="0" smtClean="0"/>
              <a:t>Essential for successful deployment of file system</a:t>
            </a:r>
          </a:p>
        </p:txBody>
      </p:sp>
    </p:spTree>
    <p:extLst>
      <p:ext uri="{BB962C8B-B14F-4D97-AF65-F5344CB8AC3E}">
        <p14:creationId xmlns:p14="http://schemas.microsoft.com/office/powerpoint/2010/main" val="71676673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a:xfrm>
            <a:off x="152399" y="857250"/>
            <a:ext cx="8763001" cy="3200400"/>
          </a:xfrm>
        </p:spPr>
        <p:txBody>
          <a:bodyPr/>
          <a:lstStyle/>
          <a:p>
            <a:r>
              <a:rPr lang="en-CA" dirty="0" smtClean="0"/>
              <a:t>Tools have to be developed from scratch for each file system</a:t>
            </a:r>
          </a:p>
          <a:p>
            <a:r>
              <a:rPr lang="en-CA" dirty="0" smtClean="0"/>
              <a:t>Tools developed only by experts</a:t>
            </a:r>
          </a:p>
          <a:p>
            <a:r>
              <a:rPr lang="en-CA" dirty="0" smtClean="0"/>
              <a:t>Bugs lead to crash, corruption, security vulnerability</a:t>
            </a:r>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per record, if value &gt; 0</a:t>
            </a:r>
          </a:p>
          <a:p>
            <a:pPr lvl="2"/>
            <a:r>
              <a:rPr lang="en-CA" dirty="0" smtClean="0"/>
              <a:t>2</a:t>
            </a:r>
            <a:r>
              <a:rPr lang="en-CA" baseline="30000" dirty="0" smtClean="0"/>
              <a:t>|value|</a:t>
            </a:r>
            <a:r>
              <a:rPr lang="en-CA" dirty="0" smtClean="0"/>
              <a:t>, if value &lt; 0</a:t>
            </a:r>
          </a:p>
          <a:p>
            <a:pPr lvl="1"/>
            <a:r>
              <a:rPr lang="en-CA" dirty="0" err="1" smtClean="0"/>
              <a:t>ntfsprogs</a:t>
            </a:r>
            <a:r>
              <a:rPr lang="en-CA" dirty="0" smtClean="0"/>
              <a:t> misinterprets this field, corrupting NTFS when resizing partitions</a:t>
            </a:r>
          </a:p>
          <a:p>
            <a:endParaRPr lang="en-CA" dirty="0"/>
          </a:p>
        </p:txBody>
      </p:sp>
    </p:spTree>
    <p:extLst>
      <p:ext uri="{BB962C8B-B14F-4D97-AF65-F5344CB8AC3E}">
        <p14:creationId xmlns:p14="http://schemas.microsoft.com/office/powerpoint/2010/main" val="326879293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Tree>
    <p:extLst>
      <p:ext uri="{BB962C8B-B14F-4D97-AF65-F5344CB8AC3E}">
        <p14:creationId xmlns:p14="http://schemas.microsoft.com/office/powerpoint/2010/main" val="51738504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Tree>
    <p:extLst>
      <p:ext uri="{BB962C8B-B14F-4D97-AF65-F5344CB8AC3E}">
        <p14:creationId xmlns:p14="http://schemas.microsoft.com/office/powerpoint/2010/main" val="104328535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Tree>
    <p:extLst>
      <p:ext uri="{BB962C8B-B14F-4D97-AF65-F5344CB8AC3E}">
        <p14:creationId xmlns:p14="http://schemas.microsoft.com/office/powerpoint/2010/main" val="8830607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smtClean="0"/>
              <a:t>File system developers annotate metadata structures in header files of existing source code</a:t>
            </a:r>
            <a:endParaRPr lang="en-CA" dirty="0" smtClean="0"/>
          </a:p>
        </p:txBody>
      </p:sp>
      <p:sp>
        <p:nvSpPr>
          <p:cNvPr id="69" name="Rectangle 68"/>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70" name="Rectangle 69"/>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71" name="Rectangle 70"/>
          <p:cNvSpPr/>
          <p:nvPr/>
        </p:nvSpPr>
        <p:spPr>
          <a:xfrm>
            <a:off x="990353" y="2977180"/>
            <a:ext cx="1080000" cy="354193"/>
          </a:xfrm>
          <a:prstGeom prst="rect">
            <a:avLst/>
          </a:prstGeom>
          <a:solidFill>
            <a:srgbClr val="B7B7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2" name="Group 71"/>
          <p:cNvGrpSpPr/>
          <p:nvPr/>
        </p:nvGrpSpPr>
        <p:grpSpPr>
          <a:xfrm>
            <a:off x="2099484" y="3361885"/>
            <a:ext cx="448866" cy="969169"/>
            <a:chOff x="4859338" y="3776663"/>
            <a:chExt cx="598488" cy="1292225"/>
          </a:xfrm>
        </p:grpSpPr>
        <p:sp>
          <p:nvSpPr>
            <p:cNvPr id="7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2"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274443632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92" name="Right Arrow 91"/>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94" name="Rounded Rectangle 93"/>
          <p:cNvSpPr/>
          <p:nvPr/>
        </p:nvSpPr>
        <p:spPr>
          <a:xfrm>
            <a:off x="2628820" y="2419350"/>
            <a:ext cx="1080000" cy="708385"/>
          </a:xfrm>
          <a:prstGeom prst="roundRect">
            <a:avLst/>
          </a:prstGeom>
          <a:solidFill>
            <a:srgbClr val="007089"/>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bg1"/>
                </a:solidFill>
              </a:rPr>
              <a:t>Spiffy Compiler</a:t>
            </a:r>
          </a:p>
        </p:txBody>
      </p:sp>
      <p:grpSp>
        <p:nvGrpSpPr>
          <p:cNvPr id="95" name="Group 94"/>
          <p:cNvGrpSpPr/>
          <p:nvPr/>
        </p:nvGrpSpPr>
        <p:grpSpPr>
          <a:xfrm>
            <a:off x="4267287" y="2419350"/>
            <a:ext cx="1320800" cy="708385"/>
            <a:chOff x="6493933" y="3749526"/>
            <a:chExt cx="1761066" cy="944513"/>
          </a:xfrm>
          <a:solidFill>
            <a:srgbClr val="B7B7FF"/>
          </a:solidFill>
          <a:effectLst/>
        </p:grpSpPr>
        <p:sp>
          <p:nvSpPr>
            <p:cNvPr id="101" name="Rectangle 10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18" name="Rectangle 117"/>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97" name="Right Arrow 96"/>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67" name="Rectangle 66"/>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68" name="Rectangle 67"/>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69" name="Rectangle 68"/>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0" name="Group 69"/>
          <p:cNvGrpSpPr/>
          <p:nvPr/>
        </p:nvGrpSpPr>
        <p:grpSpPr>
          <a:xfrm>
            <a:off x="2099484" y="3361885"/>
            <a:ext cx="448866" cy="969169"/>
            <a:chOff x="4859338" y="3776663"/>
            <a:chExt cx="598488" cy="1292225"/>
          </a:xfrm>
        </p:grpSpPr>
        <p:sp>
          <p:nvSpPr>
            <p:cNvPr id="71"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2"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3"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5"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7"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9"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1"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3"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8"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9"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0"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1"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3"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6"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8"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126313069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grpSp>
        <p:nvGrpSpPr>
          <p:cNvPr id="91" name="Group 90"/>
          <p:cNvGrpSpPr/>
          <p:nvPr/>
        </p:nvGrpSpPr>
        <p:grpSpPr>
          <a:xfrm>
            <a:off x="6146552" y="2114550"/>
            <a:ext cx="1412156" cy="1484243"/>
            <a:chOff x="8681092" y="3099999"/>
            <a:chExt cx="1411173" cy="1715949"/>
          </a:xfrm>
          <a:solidFill>
            <a:srgbClr val="B7B7FF"/>
          </a:solidFill>
          <a:effectLst/>
        </p:grpSpPr>
        <p:sp>
          <p:nvSpPr>
            <p:cNvPr id="94" name="Rectangle 93"/>
            <p:cNvSpPr/>
            <p:nvPr/>
          </p:nvSpPr>
          <p:spPr>
            <a:xfrm>
              <a:off x="8681092" y="3099999"/>
              <a:ext cx="1411173" cy="1075731"/>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Generic Application</a:t>
              </a:r>
            </a:p>
          </p:txBody>
        </p:sp>
        <p:sp>
          <p:nvSpPr>
            <p:cNvPr id="95" name="Rectangle 94"/>
            <p:cNvSpPr/>
            <p:nvPr/>
          </p:nvSpPr>
          <p:spPr>
            <a:xfrm>
              <a:off x="8681092" y="4175730"/>
              <a:ext cx="1411173" cy="640218"/>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File-System Specific Logic</a:t>
              </a:r>
            </a:p>
          </p:txBody>
        </p:sp>
      </p:grpSp>
      <p:sp>
        <p:nvSpPr>
          <p:cNvPr id="93" name="Right Arrow 92"/>
          <p:cNvSpPr/>
          <p:nvPr/>
        </p:nvSpPr>
        <p:spPr>
          <a:xfrm>
            <a:off x="5748446" y="2703409"/>
            <a:ext cx="237749" cy="173175"/>
          </a:xfrm>
          <a:prstGeom prst="rightArrow">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tx1"/>
              </a:solidFill>
            </a:endParaRPr>
          </a:p>
        </p:txBody>
      </p:sp>
      <p:sp>
        <p:nvSpPr>
          <p:cNvPr id="86" name="Rectangle 85"/>
          <p:cNvSpPr/>
          <p:nvPr/>
        </p:nvSpPr>
        <p:spPr>
          <a:xfrm>
            <a:off x="6321356" y="3713242"/>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smtClean="0">
                <a:solidFill>
                  <a:schemeClr val="tx1"/>
                </a:solidFill>
              </a:rPr>
              <a:t>Application Developer</a:t>
            </a:r>
            <a:endParaRPr lang="en-CA" sz="1200" dirty="0">
              <a:solidFill>
                <a:schemeClr val="tx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1343" y="3668706"/>
            <a:ext cx="914852" cy="914885"/>
          </a:xfrm>
          <a:prstGeom prst="rect">
            <a:avLst/>
          </a:prstGeom>
        </p:spPr>
      </p:pic>
      <p:sp>
        <p:nvSpPr>
          <p:cNvPr id="118" name="Right Arrow 117"/>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19" name="Rounded Rectangle 118"/>
          <p:cNvSpPr/>
          <p:nvPr/>
        </p:nvSpPr>
        <p:spPr>
          <a:xfrm>
            <a:off x="2628820" y="2419350"/>
            <a:ext cx="1080000" cy="708385"/>
          </a:xfrm>
          <a:prstGeom prst="roundRect">
            <a:avLst/>
          </a:prstGeom>
          <a:solidFill>
            <a:srgbClr val="FFFFFF"/>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Compiler</a:t>
            </a:r>
          </a:p>
        </p:txBody>
      </p:sp>
      <p:grpSp>
        <p:nvGrpSpPr>
          <p:cNvPr id="120" name="Group 119"/>
          <p:cNvGrpSpPr/>
          <p:nvPr/>
        </p:nvGrpSpPr>
        <p:grpSpPr>
          <a:xfrm>
            <a:off x="4267287" y="2419350"/>
            <a:ext cx="1320800" cy="708385"/>
            <a:chOff x="6493933" y="3749526"/>
            <a:chExt cx="1761066" cy="944513"/>
          </a:xfrm>
          <a:solidFill>
            <a:srgbClr val="FFFFFF"/>
          </a:solidFill>
          <a:effectLst/>
        </p:grpSpPr>
        <p:sp>
          <p:nvSpPr>
            <p:cNvPr id="121" name="Rectangle 12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22" name="Rectangle 121"/>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123" name="Right Arrow 122"/>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24" name="Rectangle 123"/>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125" name="Rectangle 124"/>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126" name="Rectangle 125"/>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127" name="Group 126"/>
          <p:cNvGrpSpPr/>
          <p:nvPr/>
        </p:nvGrpSpPr>
        <p:grpSpPr>
          <a:xfrm>
            <a:off x="2099484" y="3361885"/>
            <a:ext cx="448866" cy="969169"/>
            <a:chOff x="4859338" y="3776663"/>
            <a:chExt cx="598488" cy="1292225"/>
          </a:xfrm>
        </p:grpSpPr>
        <p:sp>
          <p:nvSpPr>
            <p:cNvPr id="12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29"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0"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1"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2"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3"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4"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5"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6"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7"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8"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9"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0"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1"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2"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3"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44"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5"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6"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7"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8"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9"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0"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1"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353157382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dirty="0" smtClean="0"/>
              <a:t>Problem</a:t>
            </a:r>
          </a:p>
          <a:p>
            <a:pPr lvl="1"/>
            <a:r>
              <a:rPr lang="en-US" dirty="0" smtClean="0"/>
              <a:t>Hard to write robust file system applications</a:t>
            </a:r>
          </a:p>
          <a:p>
            <a:r>
              <a:rPr lang="en-US" dirty="0" smtClean="0"/>
              <a:t>Approach</a:t>
            </a:r>
          </a:p>
          <a:p>
            <a:r>
              <a:rPr lang="en-US" dirty="0" smtClean="0"/>
              <a:t>Spiffy Annotations</a:t>
            </a:r>
          </a:p>
          <a:p>
            <a:r>
              <a:rPr lang="en-US" dirty="0" smtClean="0"/>
              <a:t>Spiffy Library</a:t>
            </a:r>
          </a:p>
          <a:p>
            <a:r>
              <a:rPr lang="en-US" dirty="0" smtClean="0"/>
              <a:t>Spiffy Applications</a:t>
            </a:r>
          </a:p>
          <a:p>
            <a:r>
              <a:rPr lang="en-US" dirty="0" smtClean="0"/>
              <a:t>Evaluation</a:t>
            </a:r>
          </a:p>
          <a:p>
            <a:r>
              <a:rPr lang="en-US" dirty="0" smtClean="0"/>
              <a:t>Conclusion</a:t>
            </a:r>
          </a:p>
        </p:txBody>
      </p:sp>
    </p:spTree>
    <p:extLst>
      <p:ext uri="{BB962C8B-B14F-4D97-AF65-F5344CB8AC3E}">
        <p14:creationId xmlns:p14="http://schemas.microsoft.com/office/powerpoint/2010/main" val="2093139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sz="2000" dirty="0" smtClean="0"/>
              <a:t>Allows type-safe parsing and updates of file system structures</a:t>
            </a:r>
          </a:p>
          <a:p>
            <a:r>
              <a:rPr lang="en-CA" dirty="0" smtClean="0"/>
              <a:t>Challenge</a:t>
            </a:r>
          </a:p>
          <a:p>
            <a:pPr lvl="1"/>
            <a:r>
              <a:rPr lang="en-CA" sz="2000" dirty="0" smtClean="0"/>
              <a:t>Data structure definitions in source files are incomplete</a:t>
            </a:r>
          </a:p>
          <a:p>
            <a:endParaRPr lang="en-CA" sz="1800" dirty="0" smtClean="0"/>
          </a:p>
          <a:p>
            <a:pPr marL="57150" indent="0">
              <a:buNone/>
            </a:pPr>
            <a:endParaRPr lang="en-CA" sz="1800" dirty="0" smtClean="0"/>
          </a:p>
          <a:p>
            <a:pPr marL="57150" indent="0">
              <a:buNone/>
            </a:pPr>
            <a:endParaRPr lang="en-CA" sz="1800" dirty="0" smtClean="0"/>
          </a:p>
          <a:p>
            <a:pPr lvl="1"/>
            <a:r>
              <a:rPr lang="en-CA" sz="2000" dirty="0" err="1" smtClean="0"/>
              <a:t>bar_block_ptr</a:t>
            </a:r>
            <a:r>
              <a:rPr lang="en-CA" sz="2000" dirty="0" smtClean="0"/>
              <a:t> is “probably” a 32-bit little endian pointer to type “</a:t>
            </a:r>
            <a:r>
              <a:rPr lang="en-CA" sz="2000" dirty="0" err="1" smtClean="0"/>
              <a:t>bar_block</a:t>
            </a:r>
            <a:r>
              <a:rPr lang="en-CA" sz="2000" dirty="0" smtClean="0"/>
              <a:t>”</a:t>
            </a:r>
          </a:p>
          <a:p>
            <a:pPr lvl="1"/>
            <a:r>
              <a:rPr lang="en-CA" sz="2000" dirty="0" smtClean="0"/>
              <a:t>However, its hard to deduce this type information</a:t>
            </a:r>
          </a:p>
          <a:p>
            <a:endParaRPr lang="en-CA" dirty="0"/>
          </a:p>
        </p:txBody>
      </p:sp>
      <p:sp>
        <p:nvSpPr>
          <p:cNvPr id="10" name="Rectangle 9"/>
          <p:cNvSpPr/>
          <p:nvPr/>
        </p:nvSpPr>
        <p:spPr>
          <a:xfrm>
            <a:off x="1066800" y="2454354"/>
            <a:ext cx="3914140" cy="1107996"/>
          </a:xfrm>
          <a:prstGeom prst="rect">
            <a:avLst/>
          </a:prstGeom>
        </p:spPr>
        <p:txBody>
          <a:bodyPr wrap="square">
            <a:spAutoFit/>
          </a:bodyPr>
          <a:lstStyle/>
          <a:p>
            <a:pPr lvl="1"/>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foo {</a:t>
            </a:r>
          </a:p>
          <a:p>
            <a:pPr lvl="1"/>
            <a:r>
              <a:rPr lang="en-CA" dirty="0">
                <a:solidFill>
                  <a:srgbClr val="000000"/>
                </a:solidFill>
                <a:latin typeface="Courier New" panose="02070309020205020404" pitchFamily="49" charset="0"/>
                <a:cs typeface="Courier New" panose="02070309020205020404" pitchFamily="49" charset="0"/>
              </a:rPr>
              <a:t>    __le32 size;</a:t>
            </a:r>
          </a:p>
          <a:p>
            <a:pPr lvl="1"/>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bar_block_ptr</a:t>
            </a:r>
            <a:r>
              <a:rPr lang="en-CA" dirty="0">
                <a:solidFill>
                  <a:srgbClr val="000000"/>
                </a:solidFill>
                <a:latin typeface="Courier New" panose="02070309020205020404" pitchFamily="49" charset="0"/>
                <a:cs typeface="Courier New" panose="02070309020205020404" pitchFamily="49" charset="0"/>
              </a:rPr>
              <a:t>;</a:t>
            </a:r>
          </a:p>
          <a:p>
            <a:pPr lvl="1"/>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943089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464903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180" name="TextBox 179"/>
          <p:cNvSpPr txBox="1"/>
          <p:nvPr/>
        </p:nvSpPr>
        <p:spPr>
          <a:xfrm>
            <a:off x="6015685" y="1392566"/>
            <a:ext cx="1980029" cy="646331"/>
          </a:xfrm>
          <a:prstGeom prst="rect">
            <a:avLst/>
          </a:prstGeom>
          <a:noFill/>
        </p:spPr>
        <p:txBody>
          <a:bodyPr wrap="none" rtlCol="0">
            <a:spAutoFit/>
          </a:bodyPr>
          <a:lstStyle/>
          <a:p>
            <a:r>
              <a:rPr lang="en-CA" sz="1800" dirty="0">
                <a:solidFill>
                  <a:srgbClr val="000000"/>
                </a:solidFill>
              </a:rPr>
              <a:t>Ext4 File System </a:t>
            </a:r>
            <a:br>
              <a:rPr lang="en-CA" sz="1800" dirty="0">
                <a:solidFill>
                  <a:srgbClr val="000000"/>
                </a:solidFill>
              </a:rPr>
            </a:br>
            <a:r>
              <a:rPr lang="en-CA" sz="1800" dirty="0">
                <a:solidFill>
                  <a:srgbClr val="000000"/>
                </a:solidFill>
              </a:rPr>
              <a:t>Metadata Tree</a:t>
            </a:r>
          </a:p>
        </p:txBody>
      </p:sp>
      <p:sp>
        <p:nvSpPr>
          <p:cNvPr id="102" name="Rectangle 101"/>
          <p:cNvSpPr/>
          <p:nvPr/>
        </p:nvSpPr>
        <p:spPr>
          <a:xfrm>
            <a:off x="572587"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98" name="Straight Arrow Connector 97"/>
          <p:cNvCxnSpPr/>
          <p:nvPr/>
        </p:nvCxnSpPr>
        <p:spPr>
          <a:xfrm>
            <a:off x="1007143" y="1410666"/>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72585" y="905676"/>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109" name="Rectangle 108"/>
          <p:cNvSpPr/>
          <p:nvPr/>
        </p:nvSpPr>
        <p:spPr>
          <a:xfrm>
            <a:off x="2573236" y="905676"/>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112" name="Straight Arrow Connector 111"/>
          <p:cNvCxnSpPr>
            <a:stCxn id="100" idx="3"/>
            <a:endCxn id="109" idx="1"/>
          </p:cNvCxnSpPr>
          <p:nvPr/>
        </p:nvCxnSpPr>
        <p:spPr>
          <a:xfrm>
            <a:off x="1399997" y="1157739"/>
            <a:ext cx="1173239"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572584" y="1754905"/>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17" name="Rectangle 116"/>
          <p:cNvSpPr/>
          <p:nvPr/>
        </p:nvSpPr>
        <p:spPr>
          <a:xfrm>
            <a:off x="635371" y="1820505"/>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97" name="Straight Arrow Connector 96"/>
          <p:cNvCxnSpPr>
            <a:stCxn id="21" idx="2"/>
            <a:endCxn id="102" idx="0"/>
          </p:cNvCxnSpPr>
          <p:nvPr/>
        </p:nvCxnSpPr>
        <p:spPr>
          <a:xfrm rot="5400000">
            <a:off x="1518799" y="1984780"/>
            <a:ext cx="465649" cy="1473249"/>
          </a:xfrm>
          <a:prstGeom prst="bentConnector3">
            <a:avLst>
              <a:gd name="adj1" fmla="val 27958"/>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2573236" y="29542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24" name="Rectangle 123"/>
          <p:cNvSpPr/>
          <p:nvPr/>
        </p:nvSpPr>
        <p:spPr>
          <a:xfrm>
            <a:off x="2628021" y="3086021"/>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a:t>
            </a:r>
            <a:r>
              <a:rPr lang="en-US" sz="1200" dirty="0" smtClean="0">
                <a:solidFill>
                  <a:srgbClr val="000000"/>
                </a:solidFill>
              </a:rPr>
              <a:t>table</a:t>
            </a:r>
            <a:endParaRPr lang="en-US" sz="1200" dirty="0">
              <a:solidFill>
                <a:srgbClr val="000000"/>
              </a:solidFill>
            </a:endParaRPr>
          </a:p>
        </p:txBody>
      </p:sp>
      <p:cxnSp>
        <p:nvCxnSpPr>
          <p:cNvPr id="130" name="Straight Arrow Connector 96"/>
          <p:cNvCxnSpPr>
            <a:stCxn id="94" idx="2"/>
            <a:endCxn id="71" idx="0"/>
          </p:cNvCxnSpPr>
          <p:nvPr/>
        </p:nvCxnSpPr>
        <p:spPr>
          <a:xfrm rot="5400000">
            <a:off x="2146661" y="2356788"/>
            <a:ext cx="479824" cy="715059"/>
          </a:xfrm>
          <a:prstGeom prst="bentConnector3">
            <a:avLst>
              <a:gd name="adj1" fmla="val 59723"/>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96"/>
          <p:cNvCxnSpPr/>
          <p:nvPr/>
        </p:nvCxnSpPr>
        <p:spPr>
          <a:xfrm>
            <a:off x="2968760" y="2466790"/>
            <a:ext cx="3040" cy="48596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3332788" y="3008710"/>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138" name="Rounded Rectangle 137"/>
          <p:cNvSpPr/>
          <p:nvPr/>
        </p:nvSpPr>
        <p:spPr>
          <a:xfrm>
            <a:off x="5146213" y="3008710"/>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139" name="TextBox 138"/>
          <p:cNvSpPr txBox="1"/>
          <p:nvPr/>
        </p:nvSpPr>
        <p:spPr>
          <a:xfrm>
            <a:off x="4419600" y="1819930"/>
            <a:ext cx="543739" cy="523220"/>
          </a:xfrm>
          <a:prstGeom prst="rect">
            <a:avLst/>
          </a:prstGeom>
          <a:noFill/>
        </p:spPr>
        <p:txBody>
          <a:bodyPr wrap="none" rtlCol="0">
            <a:spAutoFit/>
          </a:bodyPr>
          <a:lstStyle/>
          <a:p>
            <a:r>
              <a:rPr lang="en-CA" sz="2800" dirty="0">
                <a:solidFill>
                  <a:srgbClr val="000000"/>
                </a:solidFill>
              </a:rPr>
              <a:t>…</a:t>
            </a:r>
          </a:p>
        </p:txBody>
      </p:sp>
      <p:sp>
        <p:nvSpPr>
          <p:cNvPr id="140" name="TextBox 139"/>
          <p:cNvSpPr txBox="1"/>
          <p:nvPr/>
        </p:nvSpPr>
        <p:spPr>
          <a:xfrm>
            <a:off x="4343400" y="2952750"/>
            <a:ext cx="543739" cy="523220"/>
          </a:xfrm>
          <a:prstGeom prst="rect">
            <a:avLst/>
          </a:prstGeom>
          <a:noFill/>
          <a:ln>
            <a:noFill/>
          </a:ln>
        </p:spPr>
        <p:txBody>
          <a:bodyPr wrap="none" rtlCol="0">
            <a:spAutoFit/>
          </a:bodyPr>
          <a:lstStyle/>
          <a:p>
            <a:r>
              <a:rPr lang="en-CA" sz="2800" dirty="0">
                <a:solidFill>
                  <a:srgbClr val="000000"/>
                </a:solidFill>
              </a:rPr>
              <a:t>…</a:t>
            </a:r>
          </a:p>
        </p:txBody>
      </p:sp>
      <p:sp>
        <p:nvSpPr>
          <p:cNvPr id="142" name="Rectangle 141"/>
          <p:cNvSpPr/>
          <p:nvPr/>
        </p:nvSpPr>
        <p:spPr>
          <a:xfrm>
            <a:off x="5188272" y="3923091"/>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sp>
        <p:nvSpPr>
          <p:cNvPr id="145" name="Rectangle 144"/>
          <p:cNvSpPr/>
          <p:nvPr/>
        </p:nvSpPr>
        <p:spPr>
          <a:xfrm>
            <a:off x="6447346" y="29527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grpSp>
        <p:nvGrpSpPr>
          <p:cNvPr id="151" name="Group 150"/>
          <p:cNvGrpSpPr/>
          <p:nvPr/>
        </p:nvGrpSpPr>
        <p:grpSpPr>
          <a:xfrm>
            <a:off x="6441702" y="3890246"/>
            <a:ext cx="908535" cy="571479"/>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3" name="Rectangle 152"/>
            <p:cNvSpPr/>
            <p:nvPr/>
          </p:nvSpPr>
          <p:spPr>
            <a:xfrm>
              <a:off x="20403622" y="965273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5" name="Rectangle 154"/>
            <p:cNvSpPr/>
            <p:nvPr/>
          </p:nvSpPr>
          <p:spPr>
            <a:xfrm>
              <a:off x="20309820" y="9762072"/>
              <a:ext cx="1864381"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blocks</a:t>
              </a:r>
              <a:endParaRPr lang="zh-TW" altLang="en-US" sz="1200" dirty="0">
                <a:solidFill>
                  <a:srgbClr val="000000"/>
                </a:solidFill>
              </a:endParaRPr>
            </a:p>
          </p:txBody>
        </p:sp>
      </p:grpSp>
      <p:cxnSp>
        <p:nvCxnSpPr>
          <p:cNvPr id="168" name="Straight Arrow Connector 96"/>
          <p:cNvCxnSpPr>
            <a:stCxn id="138" idx="2"/>
            <a:endCxn id="142" idx="0"/>
          </p:cNvCxnSpPr>
          <p:nvPr/>
        </p:nvCxnSpPr>
        <p:spPr>
          <a:xfrm>
            <a:off x="5601979" y="3605373"/>
            <a:ext cx="0" cy="31771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6057745" y="3307041"/>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3714781" y="2390709"/>
            <a:ext cx="380999" cy="438288"/>
            <a:chOff x="27236633" y="9932056"/>
            <a:chExt cx="578250" cy="990600"/>
          </a:xfrm>
        </p:grpSpPr>
        <p:cxnSp>
          <p:nvCxnSpPr>
            <p:cNvPr id="175" name="Straight Arrow Connector 174"/>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3281103" y="3930690"/>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75" name="Straight Arrow Connector 96"/>
          <p:cNvCxnSpPr>
            <a:stCxn id="95" idx="2"/>
            <a:endCxn id="73" idx="0"/>
          </p:cNvCxnSpPr>
          <p:nvPr/>
        </p:nvCxnSpPr>
        <p:spPr>
          <a:xfrm>
            <a:off x="3694810" y="3605373"/>
            <a:ext cx="0" cy="3253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1586632"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grpSp>
        <p:nvGrpSpPr>
          <p:cNvPr id="32" name="Group 31"/>
          <p:cNvGrpSpPr/>
          <p:nvPr/>
        </p:nvGrpSpPr>
        <p:grpSpPr>
          <a:xfrm>
            <a:off x="2211688" y="1811943"/>
            <a:ext cx="1064828" cy="676637"/>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133" name="Rounded Rectangle 132"/>
          <p:cNvSpPr/>
          <p:nvPr/>
        </p:nvSpPr>
        <p:spPr>
          <a:xfrm>
            <a:off x="3386087" y="1820505"/>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grpSp>
        <p:nvGrpSpPr>
          <p:cNvPr id="147" name="Group 146"/>
          <p:cNvGrpSpPr/>
          <p:nvPr/>
        </p:nvGrpSpPr>
        <p:grpSpPr>
          <a:xfrm rot="5400000">
            <a:off x="6770837" y="3571558"/>
            <a:ext cx="261692" cy="438288"/>
            <a:chOff x="27236633" y="9932056"/>
            <a:chExt cx="578250" cy="990600"/>
          </a:xfrm>
        </p:grpSpPr>
        <p:cxnSp>
          <p:nvCxnSpPr>
            <p:cNvPr id="148" name="Straight Arrow Connector 147"/>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137823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pPr marL="0" indent="0">
              <a:buNone/>
            </a:pPr>
            <a:endParaRPr lang="en-CA" dirty="0" smtClean="0"/>
          </a:p>
          <a:p>
            <a:r>
              <a:rPr lang="en-CA" dirty="0" smtClean="0"/>
              <a:t>Examples: Block, File, F2FS NID address spaces</a:t>
            </a:r>
          </a:p>
        </p:txBody>
      </p:sp>
      <p:sp>
        <p:nvSpPr>
          <p:cNvPr id="8" name="Rectangle 7"/>
          <p:cNvSpPr/>
          <p:nvPr/>
        </p:nvSpPr>
        <p:spPr>
          <a:xfrm>
            <a:off x="1828800" y="3139901"/>
            <a:ext cx="4711867" cy="346249"/>
          </a:xfrm>
          <a:prstGeom prst="rect">
            <a:avLst/>
          </a:prstGeom>
          <a:solidFill>
            <a:srgbClr val="FFFF00">
              <a:alpha val="20000"/>
            </a:srgbClr>
          </a:solidFill>
        </p:spPr>
        <p:txBody>
          <a:bodyPr wrap="none">
            <a:spAutoFit/>
          </a:bodyPr>
          <a:lstStyle/>
          <a:p>
            <a:pPr marL="93663" lvl="1"/>
            <a:r>
              <a:rPr lang="en-CA" sz="1650" b="1" dirty="0" smtClean="0">
                <a:solidFill>
                  <a:srgbClr val="000000"/>
                </a:solidFill>
                <a:latin typeface="Courier New" panose="02070309020205020404" pitchFamily="49" charset="0"/>
                <a:cs typeface="Courier New" panose="02070309020205020404" pitchFamily="49" charset="0"/>
              </a:rPr>
              <a:t>POINTER</a:t>
            </a:r>
            <a:r>
              <a:rPr lang="en-CA" sz="1650" dirty="0" smtClean="0">
                <a:solidFill>
                  <a:srgbClr val="000000"/>
                </a:solidFill>
                <a:latin typeface="Courier New" panose="02070309020205020404" pitchFamily="49" charset="0"/>
                <a:cs typeface="Courier New" panose="02070309020205020404" pitchFamily="49" charset="0"/>
              </a:rPr>
              <a:t>(</a:t>
            </a:r>
            <a:r>
              <a:rPr lang="en-CA" sz="1650" dirty="0" err="1" smtClean="0">
                <a:solidFill>
                  <a:srgbClr val="000000"/>
                </a:solidFill>
                <a:latin typeface="Courier New" panose="02070309020205020404" pitchFamily="49" charset="0"/>
                <a:cs typeface="Courier New" panose="02070309020205020404" pitchFamily="49" charset="0"/>
              </a:rPr>
              <a:t>aspc</a:t>
            </a:r>
            <a:r>
              <a:rPr lang="en-CA" sz="1650" dirty="0" smtClean="0">
                <a:solidFill>
                  <a:srgbClr val="000000"/>
                </a:solidFill>
                <a:latin typeface="Courier New" panose="02070309020205020404" pitchFamily="49" charset="0"/>
                <a:cs typeface="Courier New" panose="02070309020205020404" pitchFamily="49" charset="0"/>
              </a:rPr>
              <a:t>=block</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0718213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Block Address Space</a:t>
            </a:r>
            <a:endParaRPr lang="en-CA" dirty="0"/>
          </a:p>
        </p:txBody>
      </p:sp>
      <p:sp>
        <p:nvSpPr>
          <p:cNvPr id="3" name="Content Placeholder 2"/>
          <p:cNvSpPr>
            <a:spLocks noGrp="1"/>
          </p:cNvSpPr>
          <p:nvPr>
            <p:ph idx="1"/>
          </p:nvPr>
        </p:nvSpPr>
        <p:spPr/>
        <p:txBody>
          <a:bodyPr/>
          <a:lstStyle/>
          <a:p>
            <a:r>
              <a:rPr lang="en-CA" smtClean="0"/>
              <a:t>Block address is the block number in the file system</a:t>
            </a:r>
          </a:p>
          <a:p>
            <a:endParaRPr lang="en-CA" dirty="0"/>
          </a:p>
        </p:txBody>
      </p:sp>
      <p:grpSp>
        <p:nvGrpSpPr>
          <p:cNvPr id="10" name="Group 9"/>
          <p:cNvGrpSpPr/>
          <p:nvPr/>
        </p:nvGrpSpPr>
        <p:grpSpPr>
          <a:xfrm>
            <a:off x="357100" y="1352550"/>
            <a:ext cx="7475814" cy="3241033"/>
            <a:chOff x="357100" y="1387095"/>
            <a:chExt cx="7475814" cy="3241033"/>
          </a:xfrm>
        </p:grpSpPr>
        <p:grpSp>
          <p:nvGrpSpPr>
            <p:cNvPr id="77" name="Group 76"/>
            <p:cNvGrpSpPr/>
            <p:nvPr/>
          </p:nvGrpSpPr>
          <p:grpSpPr>
            <a:xfrm rot="5400000">
              <a:off x="7149583" y="4039067"/>
              <a:ext cx="318587" cy="438288"/>
              <a:chOff x="27236633" y="9932056"/>
              <a:chExt cx="578250" cy="990600"/>
            </a:xfrm>
          </p:grpSpPr>
          <p:cxnSp>
            <p:nvCxnSpPr>
              <p:cNvPr id="113" name="Straight Arrow Connector 112"/>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8" name="Rectangle 77"/>
            <p:cNvSpPr/>
            <p:nvPr/>
          </p:nvSpPr>
          <p:spPr>
            <a:xfrm>
              <a:off x="979780"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79" name="Straight Arrow Connector 78"/>
            <p:cNvCxnSpPr/>
            <p:nvPr/>
          </p:nvCxnSpPr>
          <p:spPr>
            <a:xfrm>
              <a:off x="1414337" y="1922711"/>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979779" y="1428750"/>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81" name="Rectangle 80"/>
            <p:cNvSpPr/>
            <p:nvPr/>
          </p:nvSpPr>
          <p:spPr>
            <a:xfrm>
              <a:off x="2906775" y="1428750"/>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82" name="Straight Arrow Connector 81"/>
            <p:cNvCxnSpPr>
              <a:stCxn id="80" idx="3"/>
              <a:endCxn id="81" idx="1"/>
            </p:cNvCxnSpPr>
            <p:nvPr/>
          </p:nvCxnSpPr>
          <p:spPr>
            <a:xfrm>
              <a:off x="1807192" y="1680813"/>
              <a:ext cx="1099583"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2980430" y="34114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7" name="Rectangle 86"/>
            <p:cNvSpPr/>
            <p:nvPr/>
          </p:nvSpPr>
          <p:spPr>
            <a:xfrm>
              <a:off x="3043699" y="3552977"/>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91" name="Rounded Rectangle 90"/>
            <p:cNvSpPr/>
            <p:nvPr/>
          </p:nvSpPr>
          <p:spPr>
            <a:xfrm>
              <a:off x="3739981" y="3477396"/>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a:t>
              </a:r>
              <a:r>
                <a:rPr lang="en-US" altLang="zh-TW" sz="1200" dirty="0" err="1">
                  <a:solidFill>
                    <a:schemeClr val="tx1"/>
                  </a:solidFill>
                </a:rPr>
                <a:t>reg</a:t>
              </a:r>
              <a:r>
                <a:rPr lang="en-US" altLang="zh-TW" sz="1200" dirty="0">
                  <a:solidFill>
                    <a:schemeClr val="tx1"/>
                  </a:solidFill>
                </a:rPr>
                <a:t> file)</a:t>
              </a:r>
              <a:endParaRPr lang="zh-TW" altLang="en-US" sz="1200" dirty="0">
                <a:solidFill>
                  <a:schemeClr val="tx1"/>
                </a:solidFill>
              </a:endParaRPr>
            </a:p>
          </p:txBody>
        </p:sp>
        <p:sp>
          <p:nvSpPr>
            <p:cNvPr id="92" name="Rounded Rectangle 91"/>
            <p:cNvSpPr/>
            <p:nvPr/>
          </p:nvSpPr>
          <p:spPr>
            <a:xfrm>
              <a:off x="5553407" y="3477396"/>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(directory)</a:t>
              </a:r>
              <a:endParaRPr lang="zh-TW" altLang="en-US" sz="1200" dirty="0">
                <a:solidFill>
                  <a:schemeClr val="tx1"/>
                </a:solidFill>
              </a:endParaRPr>
            </a:p>
          </p:txBody>
        </p:sp>
        <p:sp>
          <p:nvSpPr>
            <p:cNvPr id="94" name="TextBox 93"/>
            <p:cNvSpPr txBox="1"/>
            <p:nvPr/>
          </p:nvSpPr>
          <p:spPr>
            <a:xfrm>
              <a:off x="4750877" y="3355556"/>
              <a:ext cx="595035" cy="584775"/>
            </a:xfrm>
            <a:prstGeom prst="rect">
              <a:avLst/>
            </a:prstGeom>
            <a:noFill/>
          </p:spPr>
          <p:txBody>
            <a:bodyPr wrap="none" rtlCol="0">
              <a:spAutoFit/>
            </a:bodyPr>
            <a:lstStyle/>
            <a:p>
              <a:r>
                <a:rPr lang="en-CA" sz="3200" dirty="0">
                  <a:solidFill>
                    <a:srgbClr val="000000"/>
                  </a:solidFill>
                </a:rPr>
                <a:t>…</a:t>
              </a:r>
            </a:p>
          </p:txBody>
        </p:sp>
        <p:sp>
          <p:nvSpPr>
            <p:cNvPr id="96" name="Rectangle 95"/>
            <p:cNvSpPr/>
            <p:nvPr/>
          </p:nvSpPr>
          <p:spPr>
            <a:xfrm>
              <a:off x="6854540" y="34099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cxnSp>
          <p:nvCxnSpPr>
            <p:cNvPr id="99" name="Straight Arrow Connector 96"/>
            <p:cNvCxnSpPr/>
            <p:nvPr/>
          </p:nvCxnSpPr>
          <p:spPr>
            <a:xfrm flipV="1">
              <a:off x="6464939" y="3781887"/>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6"/>
            <p:cNvCxnSpPr>
              <a:stCxn id="92" idx="2"/>
            </p:cNvCxnSpPr>
            <p:nvPr/>
          </p:nvCxnSpPr>
          <p:spPr>
            <a:xfrm>
              <a:off x="6009173" y="4074058"/>
              <a:ext cx="0" cy="342236"/>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4102003" y="4074058"/>
              <a:ext cx="1" cy="34700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1993825"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sp>
          <p:nvSpPr>
            <p:cNvPr id="83" name="Rectangle 82"/>
            <p:cNvSpPr/>
            <p:nvPr/>
          </p:nvSpPr>
          <p:spPr>
            <a:xfrm>
              <a:off x="979778" y="2266950"/>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4" name="Rectangle 83"/>
            <p:cNvSpPr/>
            <p:nvPr/>
          </p:nvSpPr>
          <p:spPr>
            <a:xfrm>
              <a:off x="1042565" y="233255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sp>
          <p:nvSpPr>
            <p:cNvPr id="156" name="Rectangle 155"/>
            <p:cNvSpPr/>
            <p:nvPr/>
          </p:nvSpPr>
          <p:spPr>
            <a:xfrm>
              <a:off x="357164" y="192941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7" name="Rectangle 156"/>
            <p:cNvSpPr/>
            <p:nvPr/>
          </p:nvSpPr>
          <p:spPr>
            <a:xfrm>
              <a:off x="357100" y="3093082"/>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9" name="Rectangle 158"/>
            <p:cNvSpPr/>
            <p:nvPr/>
          </p:nvSpPr>
          <p:spPr>
            <a:xfrm>
              <a:off x="3804783" y="314261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0" name="Rectangle 159"/>
            <p:cNvSpPr/>
            <p:nvPr/>
          </p:nvSpPr>
          <p:spPr>
            <a:xfrm>
              <a:off x="3577946"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1" name="Rectangle 160"/>
            <p:cNvSpPr/>
            <p:nvPr/>
          </p:nvSpPr>
          <p:spPr>
            <a:xfrm>
              <a:off x="6784838"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2" name="Rectangle 161"/>
            <p:cNvSpPr/>
            <p:nvPr/>
          </p:nvSpPr>
          <p:spPr>
            <a:xfrm>
              <a:off x="5491181" y="4327133"/>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3" name="Rectangle 162"/>
            <p:cNvSpPr/>
            <p:nvPr/>
          </p:nvSpPr>
          <p:spPr>
            <a:xfrm>
              <a:off x="1816289" y="1387095"/>
              <a:ext cx="3872884" cy="699638"/>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cxnSp>
          <p:nvCxnSpPr>
            <p:cNvPr id="85" name="Straight Arrow Connector 96"/>
            <p:cNvCxnSpPr>
              <a:stCxn id="106" idx="2"/>
              <a:endCxn id="78" idx="0"/>
            </p:cNvCxnSpPr>
            <p:nvPr/>
          </p:nvCxnSpPr>
          <p:spPr>
            <a:xfrm rot="5400000">
              <a:off x="1953414" y="2469402"/>
              <a:ext cx="410804" cy="1473250"/>
            </a:xfrm>
            <a:prstGeom prst="bentConnector3">
              <a:avLst>
                <a:gd name="adj1" fmla="val 2501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96"/>
            <p:cNvCxnSpPr/>
            <p:nvPr/>
          </p:nvCxnSpPr>
          <p:spPr>
            <a:xfrm>
              <a:off x="3375953" y="2876550"/>
              <a:ext cx="0" cy="540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96"/>
            <p:cNvCxnSpPr>
              <a:stCxn id="105" idx="2"/>
              <a:endCxn id="103" idx="0"/>
            </p:cNvCxnSpPr>
            <p:nvPr/>
          </p:nvCxnSpPr>
          <p:spPr>
            <a:xfrm rot="5400000">
              <a:off x="2581277" y="2841409"/>
              <a:ext cx="424979" cy="715060"/>
            </a:xfrm>
            <a:prstGeom prst="bentConnector3">
              <a:avLst>
                <a:gd name="adj1" fmla="val 47805"/>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4" name="Group 103"/>
            <p:cNvGrpSpPr/>
            <p:nvPr/>
          </p:nvGrpSpPr>
          <p:grpSpPr>
            <a:xfrm>
              <a:off x="2618882" y="2323988"/>
              <a:ext cx="1064828" cy="676637"/>
              <a:chOff x="2529818" y="2415923"/>
              <a:chExt cx="1419770" cy="902183"/>
            </a:xfrm>
          </p:grpSpPr>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grpSp>
        <p:grpSp>
          <p:nvGrpSpPr>
            <p:cNvPr id="100" name="Group 99"/>
            <p:cNvGrpSpPr/>
            <p:nvPr/>
          </p:nvGrpSpPr>
          <p:grpSpPr>
            <a:xfrm rot="5400000">
              <a:off x="4205289" y="2856387"/>
              <a:ext cx="211644" cy="438288"/>
              <a:chOff x="27236633" y="9932056"/>
              <a:chExt cx="578250" cy="990600"/>
            </a:xfrm>
          </p:grpSpPr>
          <p:cxnSp>
            <p:nvCxnSpPr>
              <p:cNvPr id="107" name="Straight Arrow Connector 106"/>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89" name="Rounded Rectangle 88"/>
            <p:cNvSpPr/>
            <p:nvPr/>
          </p:nvSpPr>
          <p:spPr>
            <a:xfrm>
              <a:off x="3793281" y="2332550"/>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sp>
          <p:nvSpPr>
            <p:cNvPr id="93" name="TextBox 92"/>
            <p:cNvSpPr txBox="1"/>
            <p:nvPr/>
          </p:nvSpPr>
          <p:spPr>
            <a:xfrm>
              <a:off x="4813256" y="2266583"/>
              <a:ext cx="595035" cy="584775"/>
            </a:xfrm>
            <a:prstGeom prst="rect">
              <a:avLst/>
            </a:prstGeom>
            <a:noFill/>
          </p:spPr>
          <p:txBody>
            <a:bodyPr wrap="none" rtlCol="0">
              <a:spAutoFit/>
            </a:bodyPr>
            <a:lstStyle/>
            <a:p>
              <a:r>
                <a:rPr lang="en-CA" sz="3200" dirty="0">
                  <a:solidFill>
                    <a:srgbClr val="000000"/>
                  </a:solidFill>
                </a:rPr>
                <a:t>…</a:t>
              </a:r>
            </a:p>
          </p:txBody>
        </p:sp>
      </p:grpSp>
    </p:spTree>
    <p:extLst>
      <p:ext uri="{BB962C8B-B14F-4D97-AF65-F5344CB8AC3E}">
        <p14:creationId xmlns:p14="http://schemas.microsoft.com/office/powerpoint/2010/main" val="80397798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4529066" y="2495551"/>
            <a:ext cx="2390456" cy="504126"/>
          </a:xfrm>
          <a:prstGeom prst="rect">
            <a:avLst/>
          </a:prstGeom>
          <a:solidFill>
            <a:srgbClr val="B7B7FF"/>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sp>
        <p:nvSpPr>
          <p:cNvPr id="2" name="Title 1"/>
          <p:cNvSpPr>
            <a:spLocks noGrp="1"/>
          </p:cNvSpPr>
          <p:nvPr>
            <p:ph type="title"/>
          </p:nvPr>
        </p:nvSpPr>
        <p:spPr/>
        <p:txBody>
          <a:bodyPr/>
          <a:lstStyle/>
          <a:p>
            <a:r>
              <a:rPr lang="en-CA" smtClean="0"/>
              <a:t>File Address Space</a:t>
            </a:r>
            <a:endParaRPr lang="en-CA" dirty="0"/>
          </a:p>
        </p:txBody>
      </p:sp>
      <p:sp>
        <p:nvSpPr>
          <p:cNvPr id="3" name="Content Placeholder 2"/>
          <p:cNvSpPr>
            <a:spLocks noGrp="1"/>
          </p:cNvSpPr>
          <p:nvPr>
            <p:ph idx="1"/>
          </p:nvPr>
        </p:nvSpPr>
        <p:spPr>
          <a:xfrm>
            <a:off x="152400" y="857250"/>
            <a:ext cx="8839200" cy="1603692"/>
          </a:xfrm>
        </p:spPr>
        <p:txBody>
          <a:bodyPr/>
          <a:lstStyle/>
          <a:p>
            <a:r>
              <a:rPr lang="en-CA" dirty="0" smtClean="0"/>
              <a:t>File address is an index into the </a:t>
            </a:r>
            <a:r>
              <a:rPr lang="en-CA" dirty="0" err="1" smtClean="0"/>
              <a:t>inode</a:t>
            </a:r>
            <a:r>
              <a:rPr lang="en-CA" dirty="0" smtClean="0"/>
              <a:t> table for a file</a:t>
            </a:r>
          </a:p>
          <a:p>
            <a:pPr lvl="1"/>
            <a:r>
              <a:rPr lang="en-CA" sz="2000" dirty="0" smtClean="0"/>
              <a:t>E.g. Ext4 journal is stored as a regular file  </a:t>
            </a:r>
          </a:p>
          <a:p>
            <a:pPr lvl="1"/>
            <a:r>
              <a:rPr lang="en-CA" sz="2000" dirty="0" smtClean="0"/>
              <a:t>Regular file may be physically discontiguous</a:t>
            </a:r>
          </a:p>
          <a:p>
            <a:pPr lvl="1"/>
            <a:r>
              <a:rPr lang="en-CA" sz="2000" dirty="0" smtClean="0"/>
              <a:t>Requires mapping logical blocks of the file to their physical locations</a:t>
            </a:r>
          </a:p>
          <a:p>
            <a:endParaRPr lang="en-CA" dirty="0"/>
          </a:p>
        </p:txBody>
      </p:sp>
      <p:sp>
        <p:nvSpPr>
          <p:cNvPr id="61" name="Rectangle 60"/>
          <p:cNvSpPr/>
          <p:nvPr/>
        </p:nvSpPr>
        <p:spPr>
          <a:xfrm>
            <a:off x="4828677" y="4148884"/>
            <a:ext cx="2807992" cy="33421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 on physical disk</a:t>
            </a:r>
          </a:p>
        </p:txBody>
      </p:sp>
      <p:cxnSp>
        <p:nvCxnSpPr>
          <p:cNvPr id="70" name="Straight Connector 69"/>
          <p:cNvCxnSpPr/>
          <p:nvPr/>
        </p:nvCxnSpPr>
        <p:spPr>
          <a:xfrm>
            <a:off x="5448476" y="3014250"/>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4529066" y="3545798"/>
            <a:ext cx="894843"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90" name="Straight Connector 89"/>
          <p:cNvCxnSpPr/>
          <p:nvPr/>
        </p:nvCxnSpPr>
        <p:spPr>
          <a:xfrm>
            <a:off x="5885081"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414337" y="2952750"/>
            <a:ext cx="0" cy="324000"/>
          </a:xfrm>
          <a:prstGeom prst="straightConnector1">
            <a:avLst/>
          </a:prstGeom>
          <a:ln w="508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979779" y="2495551"/>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cxnSp>
        <p:nvCxnSpPr>
          <p:cNvPr id="37" name="Straight Arrow Connector 36"/>
          <p:cNvCxnSpPr>
            <a:stCxn id="35" idx="3"/>
            <a:endCxn id="36" idx="1"/>
          </p:cNvCxnSpPr>
          <p:nvPr/>
        </p:nvCxnSpPr>
        <p:spPr>
          <a:xfrm>
            <a:off x="1807191" y="2747614"/>
            <a:ext cx="2721875"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979778" y="3287152"/>
            <a:ext cx="3256804"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9" name="Rectangle 38"/>
          <p:cNvSpPr/>
          <p:nvPr/>
        </p:nvSpPr>
        <p:spPr>
          <a:xfrm>
            <a:off x="1042565" y="341038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40" name="Straight Arrow Connector 96"/>
          <p:cNvCxnSpPr/>
          <p:nvPr/>
        </p:nvCxnSpPr>
        <p:spPr>
          <a:xfrm rot="5400000">
            <a:off x="1924817" y="3506125"/>
            <a:ext cx="46800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p:nvPr/>
        </p:nvCxnSpPr>
        <p:spPr>
          <a:xfrm rot="5400000">
            <a:off x="2559766" y="3885220"/>
            <a:ext cx="468000"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3375953" y="4008750"/>
            <a:ext cx="0" cy="468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634404" y="3257550"/>
            <a:ext cx="595035" cy="584775"/>
          </a:xfrm>
          <a:prstGeom prst="rect">
            <a:avLst/>
          </a:prstGeom>
          <a:noFill/>
        </p:spPr>
        <p:txBody>
          <a:bodyPr wrap="none" rtlCol="0">
            <a:spAutoFit/>
          </a:bodyPr>
          <a:lstStyle/>
          <a:p>
            <a:r>
              <a:rPr lang="en-CA" sz="3200" dirty="0">
                <a:solidFill>
                  <a:srgbClr val="000000"/>
                </a:solidFill>
              </a:rPr>
              <a:t>…</a:t>
            </a:r>
          </a:p>
        </p:txBody>
      </p:sp>
      <p:grpSp>
        <p:nvGrpSpPr>
          <p:cNvPr id="49" name="Group 48"/>
          <p:cNvGrpSpPr/>
          <p:nvPr/>
        </p:nvGrpSpPr>
        <p:grpSpPr>
          <a:xfrm>
            <a:off x="2618882" y="3344189"/>
            <a:ext cx="1064828" cy="676637"/>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4" name="Rectangle 53"/>
          <p:cNvSpPr/>
          <p:nvPr/>
        </p:nvSpPr>
        <p:spPr>
          <a:xfrm>
            <a:off x="339849" y="296885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alpha val="30000"/>
                  </a:srgbClr>
                </a:solidFill>
              </a:rPr>
              <a:t>block </a:t>
            </a:r>
            <a:r>
              <a:rPr lang="en-US" sz="1200" i="1" dirty="0" err="1">
                <a:solidFill>
                  <a:srgbClr val="000000">
                    <a:alpha val="30000"/>
                  </a:srgbClr>
                </a:solidFill>
              </a:rPr>
              <a:t>addr</a:t>
            </a:r>
            <a:endParaRPr lang="en-US" sz="1200" i="1" dirty="0">
              <a:solidFill>
                <a:srgbClr val="000000">
                  <a:alpha val="30000"/>
                </a:srgbClr>
              </a:solidFill>
            </a:endParaRPr>
          </a:p>
        </p:txBody>
      </p:sp>
      <p:sp>
        <p:nvSpPr>
          <p:cNvPr id="55" name="Rectangle 54"/>
          <p:cNvSpPr/>
          <p:nvPr/>
        </p:nvSpPr>
        <p:spPr>
          <a:xfrm>
            <a:off x="345409" y="4184966"/>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5" name="Rectangle 4"/>
          <p:cNvSpPr/>
          <p:nvPr/>
        </p:nvSpPr>
        <p:spPr>
          <a:xfrm>
            <a:off x="457199" y="3286349"/>
            <a:ext cx="3851329" cy="1190402"/>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71" name="Rectangle 70"/>
          <p:cNvSpPr/>
          <p:nvPr/>
        </p:nvSpPr>
        <p:spPr>
          <a:xfrm>
            <a:off x="6919522" y="3545798"/>
            <a:ext cx="1082038"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sp>
        <p:nvSpPr>
          <p:cNvPr id="72" name="Rectangle 71"/>
          <p:cNvSpPr/>
          <p:nvPr/>
        </p:nvSpPr>
        <p:spPr>
          <a:xfrm>
            <a:off x="6013564" y="3545798"/>
            <a:ext cx="391386"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75" name="Straight Connector 74"/>
          <p:cNvCxnSpPr/>
          <p:nvPr/>
        </p:nvCxnSpPr>
        <p:spPr>
          <a:xfrm>
            <a:off x="5841382" y="2992819"/>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6943320"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4526254" y="2986214"/>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5419193" y="2998312"/>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4546278" y="3544477"/>
            <a:ext cx="3455282" cy="504126"/>
          </a:xfrm>
          <a:prstGeom prst="rect">
            <a:avLst/>
          </a:prstGeom>
          <a:noFill/>
          <a:ln w="1905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cxnSp>
        <p:nvCxnSpPr>
          <p:cNvPr id="91" name="Straight Connector 90"/>
          <p:cNvCxnSpPr/>
          <p:nvPr/>
        </p:nvCxnSpPr>
        <p:spPr>
          <a:xfrm>
            <a:off x="5436063" y="2495551"/>
            <a:ext cx="0" cy="51869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5855339" y="2495550"/>
            <a:ext cx="0" cy="497807"/>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42" name="TextBox 41"/>
          <p:cNvSpPr txBox="1"/>
          <p:nvPr/>
        </p:nvSpPr>
        <p:spPr>
          <a:xfrm>
            <a:off x="2782938" y="2470541"/>
            <a:ext cx="729687" cy="276999"/>
          </a:xfrm>
          <a:prstGeom prst="rect">
            <a:avLst/>
          </a:prstGeom>
          <a:noFill/>
        </p:spPr>
        <p:txBody>
          <a:bodyPr wrap="none" rtlCol="0">
            <a:spAutoFit/>
          </a:bodyPr>
          <a:lstStyle/>
          <a:p>
            <a:r>
              <a:rPr lang="en-CA" sz="1200" i="1" dirty="0">
                <a:solidFill>
                  <a:srgbClr val="000000"/>
                </a:solidFill>
              </a:rPr>
              <a:t>file </a:t>
            </a:r>
            <a:r>
              <a:rPr lang="en-CA" sz="1200" i="1" dirty="0" err="1" smtClean="0">
                <a:solidFill>
                  <a:srgbClr val="000000"/>
                </a:solidFill>
              </a:rPr>
              <a:t>addr</a:t>
            </a:r>
            <a:endParaRPr lang="en-CA" sz="1200" i="1" dirty="0">
              <a:solidFill>
                <a:srgbClr val="000000"/>
              </a:solidFill>
            </a:endParaRPr>
          </a:p>
        </p:txBody>
      </p:sp>
    </p:spTree>
    <p:extLst>
      <p:ext uri="{BB962C8B-B14F-4D97-AF65-F5344CB8AC3E}">
        <p14:creationId xmlns:p14="http://schemas.microsoft.com/office/powerpoint/2010/main" val="220317574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82891914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Missing Pointer</a:t>
            </a:r>
            <a:endParaRPr lang="en-CA" dirty="0"/>
          </a:p>
        </p:txBody>
      </p:sp>
      <p:sp>
        <p:nvSpPr>
          <p:cNvPr id="3" name="Content Placeholder 2"/>
          <p:cNvSpPr>
            <a:spLocks noGrp="1"/>
          </p:cNvSpPr>
          <p:nvPr>
            <p:ph idx="1"/>
          </p:nvPr>
        </p:nvSpPr>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87" name="Rectangle 86"/>
          <p:cNvSpPr/>
          <p:nvPr/>
        </p:nvSpPr>
        <p:spPr>
          <a:xfrm>
            <a:off x="4436269" y="3024290"/>
            <a:ext cx="1398985" cy="44511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i="1" dirty="0">
                <a:solidFill>
                  <a:schemeClr val="bg1"/>
                </a:solidFill>
              </a:rPr>
              <a:t>missing pointer</a:t>
            </a:r>
          </a:p>
        </p:txBody>
      </p:sp>
      <p:cxnSp>
        <p:nvCxnSpPr>
          <p:cNvPr id="26" name="Straight Arrow Connector 25"/>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28" name="Rectangle 27"/>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29" name="Straight Arrow Connector 28"/>
          <p:cNvCxnSpPr>
            <a:stCxn id="27" idx="3"/>
            <a:endCxn id="28"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1" name="Rectangle 30"/>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2" name="Straight Arrow Connector 96"/>
          <p:cNvCxnSpPr>
            <a:stCxn id="38"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96"/>
          <p:cNvCxnSpPr>
            <a:stCxn id="37"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6" name="Group 35"/>
          <p:cNvGrpSpPr/>
          <p:nvPr/>
        </p:nvGrpSpPr>
        <p:grpSpPr>
          <a:xfrm>
            <a:off x="7140876" y="3137914"/>
            <a:ext cx="1064828" cy="676637"/>
            <a:chOff x="2529818" y="2415923"/>
            <a:chExt cx="1419770" cy="902183"/>
          </a:xfrm>
        </p:grpSpPr>
        <p:sp>
          <p:nvSpPr>
            <p:cNvPr id="37" name="Rounded Rectangle 36"/>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38" name="Rectangle 37"/>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41" name="Rectangle 40"/>
          <p:cNvSpPr/>
          <p:nvPr/>
        </p:nvSpPr>
        <p:spPr>
          <a:xfrm>
            <a:off x="6006063" y="2692773"/>
            <a:ext cx="1539204" cy="276999"/>
          </a:xfrm>
          <a:prstGeom prst="rect">
            <a:avLst/>
          </a:prstGeom>
          <a:noFill/>
          <a:ln>
            <a:noFill/>
          </a:ln>
        </p:spPr>
        <p:txBody>
          <a:bodyPr wrap="none">
            <a:spAutoFit/>
          </a:bodyPr>
          <a:lstStyle/>
          <a:p>
            <a:r>
              <a:rPr lang="en-CA" sz="1200" i="1" dirty="0" smtClean="0">
                <a:solidFill>
                  <a:srgbClr val="000000"/>
                </a:solidFill>
                <a:latin typeface="+mn-lt"/>
                <a:cs typeface="Courier New" panose="02070309020205020404" pitchFamily="49" charset="0"/>
              </a:rPr>
              <a:t>missing pointer field</a:t>
            </a:r>
            <a:endParaRPr lang="en-CA" sz="1200" i="1" dirty="0">
              <a:solidFill>
                <a:srgbClr val="000000"/>
              </a:solidFill>
              <a:latin typeface="+mn-lt"/>
            </a:endParaRPr>
          </a:p>
        </p:txBody>
      </p:sp>
    </p:spTree>
    <p:extLst>
      <p:ext uri="{BB962C8B-B14F-4D97-AF65-F5344CB8AC3E}">
        <p14:creationId xmlns:p14="http://schemas.microsoft.com/office/powerpoint/2010/main" val="360531865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POINTER</a:t>
            </a:r>
            <a:r>
              <a:rPr lang="en-CA" sz="1500" dirty="0">
                <a:solidFill>
                  <a:srgbClr val="000000"/>
                </a:solidFill>
                <a:latin typeface="Courier New" panose="02070309020205020404" pitchFamily="49" charset="0"/>
                <a:cs typeface="Courier New" panose="02070309020205020404" pitchFamily="49" charset="0"/>
              </a:rPr>
              <a:t>(</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82308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747973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Vector Types</a:t>
            </a:r>
            <a:endParaRPr lang="en-CA" dirty="0"/>
          </a:p>
        </p:txBody>
      </p:sp>
      <p:sp>
        <p:nvSpPr>
          <p:cNvPr id="3" name="Content Placeholder 2"/>
          <p:cNvSpPr>
            <a:spLocks noGrp="1"/>
          </p:cNvSpPr>
          <p:nvPr>
            <p:ph idx="1"/>
          </p:nvPr>
        </p:nvSpPr>
        <p:spPr>
          <a:xfrm>
            <a:off x="152400" y="857250"/>
            <a:ext cx="8839200" cy="2448461"/>
          </a:xfrm>
        </p:spPr>
        <p:txBody>
          <a:bodyPr/>
          <a:lstStyle/>
          <a:p>
            <a:r>
              <a:rPr lang="en-CA" dirty="0" smtClean="0"/>
              <a:t>Vector types are typically implicit in the code</a:t>
            </a:r>
          </a:p>
          <a:p>
            <a:pPr lvl="1"/>
            <a:r>
              <a:rPr lang="en-CA" sz="2000" dirty="0" smtClean="0"/>
              <a:t>E.g. Ext4 directory blocks, indirect blocks, etc</a:t>
            </a:r>
            <a:r>
              <a:rPr lang="en-CA" sz="2000" dirty="0" smtClean="0"/>
              <a:t>.</a:t>
            </a:r>
          </a:p>
          <a:p>
            <a:r>
              <a:rPr lang="en-CA" dirty="0" smtClean="0"/>
              <a:t>Pointers </a:t>
            </a:r>
            <a:r>
              <a:rPr lang="en-CA" dirty="0" smtClean="0"/>
              <a:t>annotation must specify exact type that it points to</a:t>
            </a:r>
          </a:p>
          <a:p>
            <a:pPr lvl="1"/>
            <a:r>
              <a:rPr lang="en-CA" sz="2000" dirty="0" smtClean="0"/>
              <a:t>All vector types must be explicitly </a:t>
            </a:r>
            <a:r>
              <a:rPr lang="en-CA" sz="2000" dirty="0" smtClean="0"/>
              <a:t>declared</a:t>
            </a:r>
          </a:p>
          <a:p>
            <a:r>
              <a:rPr lang="en-CA" dirty="0"/>
              <a:t>Vector types in C does not support variable-length </a:t>
            </a:r>
            <a:r>
              <a:rPr lang="en-CA" dirty="0" smtClean="0"/>
              <a:t>elements</a:t>
            </a:r>
            <a:endParaRPr lang="en-CA" dirty="0"/>
          </a:p>
          <a:p>
            <a:pPr lvl="1"/>
            <a:r>
              <a:rPr lang="en-CA" dirty="0"/>
              <a:t>E.g. directory entry structures</a:t>
            </a:r>
          </a:p>
          <a:p>
            <a:pPr lvl="1"/>
            <a:endParaRPr lang="en-CA" sz="2000" dirty="0" smtClean="0"/>
          </a:p>
          <a:p>
            <a:pPr lvl="1"/>
            <a:endParaRPr lang="en-CA" dirty="0"/>
          </a:p>
        </p:txBody>
      </p:sp>
      <p:sp>
        <p:nvSpPr>
          <p:cNvPr id="6" name="Rectangle 5"/>
          <p:cNvSpPr/>
          <p:nvPr/>
        </p:nvSpPr>
        <p:spPr>
          <a:xfrm>
            <a:off x="123825" y="3305711"/>
            <a:ext cx="8672887" cy="1323439"/>
          </a:xfrm>
          <a:prstGeom prst="rect">
            <a:avLst/>
          </a:prstGeom>
          <a:solidFill>
            <a:srgbClr val="FFFFFF">
              <a:alpha val="20000"/>
            </a:srgbClr>
          </a:solidFill>
        </p:spPr>
        <p:txBody>
          <a:bodyPr wrap="none">
            <a:spAutoFit/>
          </a:bodyPr>
          <a:lstStyle/>
          <a:p>
            <a:pPr marL="93663" lvl="1"/>
            <a:r>
              <a:rPr lang="en-CA" b="1" dirty="0" smtClean="0">
                <a:solidFill>
                  <a:srgbClr val="000000"/>
                </a:solidFill>
                <a:latin typeface="Courier New" panose="02070309020205020404" pitchFamily="49" charset="0"/>
                <a:cs typeface="Courier New" panose="02070309020205020404" pitchFamily="49" charset="0"/>
              </a:rPr>
              <a:t>VECTOR</a:t>
            </a:r>
            <a:r>
              <a:rPr lang="en-CA" dirty="0" smtClean="0">
                <a:solidFill>
                  <a:srgbClr val="000000"/>
                </a:solidFill>
                <a:latin typeface="Courier New" panose="02070309020205020404" pitchFamily="49" charset="0"/>
                <a:cs typeface="Courier New" panose="02070309020205020404" pitchFamily="49" charset="0"/>
              </a:rPr>
              <a:t>(name=</a:t>
            </a:r>
            <a:r>
              <a:rPr lang="en-CA" dirty="0" err="1" smtClean="0">
                <a:solidFill>
                  <a:srgbClr val="000000"/>
                </a:solidFill>
                <a:latin typeface="Courier New" panose="02070309020205020404" pitchFamily="49" charset="0"/>
                <a:cs typeface="Courier New" panose="02070309020205020404" pitchFamily="49" charset="0"/>
              </a:rPr>
              <a:t>dir_block</a:t>
            </a:r>
            <a:r>
              <a:rPr lang="en-CA" dirty="0" smtClean="0">
                <a:solidFill>
                  <a:srgbClr val="000000"/>
                </a:solidFill>
                <a:latin typeface="Courier New" panose="02070309020205020404" pitchFamily="49" charset="0"/>
                <a:cs typeface="Courier New" panose="02070309020205020404" pitchFamily="49" charset="0"/>
              </a:rPr>
              <a:t>, type=</a:t>
            </a:r>
            <a:r>
              <a:rPr lang="en-CA" dirty="0" err="1" smtClean="0">
                <a:solidFill>
                  <a:srgbClr val="000000"/>
                </a:solidFill>
                <a:latin typeface="Courier New" panose="02070309020205020404" pitchFamily="49" charset="0"/>
                <a:cs typeface="Courier New" panose="02070309020205020404" pitchFamily="49" charset="0"/>
              </a:rPr>
              <a:t>struct</a:t>
            </a:r>
            <a:r>
              <a:rPr lang="en-CA" dirty="0" smtClean="0">
                <a:solidFill>
                  <a:srgbClr val="000000"/>
                </a:solidFill>
                <a:latin typeface="Courier New" panose="02070309020205020404" pitchFamily="49" charset="0"/>
                <a:cs typeface="Courier New" panose="02070309020205020404" pitchFamily="49" charset="0"/>
              </a:rPr>
              <a:t> ext4_dir_entry, size=BLOCK_SIZE</a:t>
            </a:r>
            <a:r>
              <a:rPr lang="en-CA" dirty="0" smtClean="0">
                <a:solidFill>
                  <a:srgbClr val="000000"/>
                </a:solidFill>
                <a:latin typeface="Courier New" panose="02070309020205020404" pitchFamily="49" charset="0"/>
                <a:cs typeface="Courier New" panose="02070309020205020404" pitchFamily="49" charset="0"/>
              </a:rPr>
              <a:t>);</a:t>
            </a:r>
            <a:endParaRPr lang="en-CA" sz="800" b="1" dirty="0" smtClean="0">
              <a:solidFill>
                <a:srgbClr val="000000"/>
              </a:solidFill>
              <a:latin typeface="Courier New" panose="02070309020205020404" pitchFamily="49" charset="0"/>
              <a:cs typeface="Courier New" panose="02070309020205020404" pitchFamily="49" charset="0"/>
            </a:endParaRPr>
          </a:p>
          <a:p>
            <a:pPr marL="93663" lvl="1"/>
            <a:r>
              <a:rPr lang="en-CA" b="1" dirty="0" smtClean="0">
                <a:solidFill>
                  <a:srgbClr val="000000"/>
                </a:solidFill>
                <a:latin typeface="Courier New" panose="02070309020205020404" pitchFamily="49" charset="0"/>
                <a:cs typeface="Courier New" panose="02070309020205020404" pitchFamily="49" charset="0"/>
              </a:rPr>
              <a:t>FSSTRUCT</a:t>
            </a:r>
            <a:r>
              <a:rPr lang="en-CA" dirty="0" smtClean="0">
                <a:solidFill>
                  <a:srgbClr val="000000"/>
                </a:solidFill>
                <a:latin typeface="Courier New" panose="02070309020205020404" pitchFamily="49" charset="0"/>
                <a:cs typeface="Courier New" panose="02070309020205020404" pitchFamily="49" charset="0"/>
              </a:rPr>
              <a:t>() </a:t>
            </a:r>
            <a:r>
              <a:rPr lang="en-CA" dirty="0" err="1" smtClean="0">
                <a:solidFill>
                  <a:srgbClr val="000000"/>
                </a:solidFill>
                <a:latin typeface="Courier New" panose="02070309020205020404" pitchFamily="49" charset="0"/>
                <a:cs typeface="Courier New" panose="02070309020205020404" pitchFamily="49" charset="0"/>
              </a:rPr>
              <a:t>dir_ind_ptr</a:t>
            </a:r>
            <a:r>
              <a:rPr lang="en-CA" dirty="0" smtClean="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   </a:t>
            </a:r>
            <a:r>
              <a:rPr lang="en-CA" b="1" dirty="0" smtClean="0">
                <a:latin typeface="Courier New" panose="02070309020205020404" pitchFamily="49" charset="0"/>
                <a:cs typeface="Courier New" panose="02070309020205020404" pitchFamily="49" charset="0"/>
              </a:rPr>
              <a:t>POINTER</a:t>
            </a:r>
            <a:r>
              <a:rPr lang="en-CA" dirty="0" smtClean="0">
                <a:latin typeface="Courier New" panose="02070309020205020404" pitchFamily="49" charset="0"/>
                <a:cs typeface="Courier New" panose="02070309020205020404" pitchFamily="49" charset="0"/>
              </a:rPr>
              <a:t>(</a:t>
            </a:r>
            <a:r>
              <a:rPr lang="en-CA" dirty="0" err="1" smtClean="0">
                <a:latin typeface="Courier New" panose="02070309020205020404" pitchFamily="49" charset="0"/>
                <a:cs typeface="Courier New" panose="02070309020205020404" pitchFamily="49" charset="0"/>
              </a:rPr>
              <a:t>aspc</a:t>
            </a:r>
            <a:r>
              <a:rPr lang="en-CA" dirty="0" smtClean="0">
                <a:latin typeface="Courier New" panose="02070309020205020404" pitchFamily="49" charset="0"/>
                <a:cs typeface="Courier New" panose="02070309020205020404" pitchFamily="49" charset="0"/>
              </a:rPr>
              <a:t>=block, type=</a:t>
            </a:r>
            <a:r>
              <a:rPr lang="en-CA" dirty="0" err="1" smtClean="0">
                <a:latin typeface="Courier New" panose="02070309020205020404" pitchFamily="49" charset="0"/>
                <a:cs typeface="Courier New" panose="02070309020205020404" pitchFamily="49" charset="0"/>
              </a:rPr>
              <a:t>dir_block</a:t>
            </a:r>
            <a:r>
              <a:rPr lang="en-CA" dirty="0" smtClean="0">
                <a:latin typeface="Courier New" panose="02070309020205020404" pitchFamily="49" charset="0"/>
                <a:cs typeface="Courier New" panose="02070309020205020404" pitchFamily="49" charset="0"/>
              </a:rPr>
              <a:t>)</a:t>
            </a:r>
            <a:endParaRPr lang="en-CA" dirty="0">
              <a:latin typeface="Courier New" panose="02070309020205020404" pitchFamily="49" charset="0"/>
              <a:cs typeface="Courier New" panose="02070309020205020404" pitchFamily="49" charset="0"/>
            </a:endParaRPr>
          </a:p>
          <a:p>
            <a:r>
              <a:rPr lang="en-CA" dirty="0" smtClean="0">
                <a:latin typeface="Courier New" panose="02070309020205020404" pitchFamily="49" charset="0"/>
                <a:cs typeface="Courier New" panose="02070309020205020404" pitchFamily="49" charset="0"/>
              </a:rPr>
              <a:t>    __</a:t>
            </a:r>
            <a:r>
              <a:rPr lang="en-CA" dirty="0">
                <a:latin typeface="Courier New" panose="02070309020205020404" pitchFamily="49" charset="0"/>
                <a:cs typeface="Courier New" panose="02070309020205020404" pitchFamily="49" charset="0"/>
              </a:rPr>
              <a:t>le32 </a:t>
            </a:r>
            <a:r>
              <a:rPr lang="en-CA" dirty="0" err="1" smtClean="0">
                <a:latin typeface="Courier New" panose="02070309020205020404" pitchFamily="49" charset="0"/>
                <a:cs typeface="Courier New" panose="02070309020205020404" pitchFamily="49" charset="0"/>
              </a:rPr>
              <a:t>ind_block_nr</a:t>
            </a:r>
            <a:r>
              <a:rPr lang="en-CA" dirty="0" smtClean="0">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pPr marL="93663" lvl="1"/>
            <a:r>
              <a:rPr lang="en-CA" dirty="0" smtClean="0">
                <a:solidFill>
                  <a:srgbClr val="000000"/>
                </a:solidFill>
                <a:latin typeface="Courier New" panose="02070309020205020404" pitchFamily="49" charset="0"/>
                <a:cs typeface="Courier New" panose="02070309020205020404" pitchFamily="49" charset="0"/>
              </a:rPr>
              <a:t>};</a:t>
            </a:r>
            <a:endParaRPr lang="en-CA" dirty="0" smtClean="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34544867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self.s_log_block_size</a:t>
            </a:r>
            <a:r>
              <a:rPr lang="en-CA" sz="1500" dirty="0">
                <a:solidFill>
                  <a:srgbClr val="000000"/>
                </a:solidFill>
                <a:latin typeface="Courier New" panose="02070309020205020404" pitchFamily="49" charset="0"/>
                <a:cs typeface="Courier New" panose="02070309020205020404" pitchFamily="49" charset="0"/>
              </a:rPr>
              <a:t> &lt;= 6);</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self.s_magic</a:t>
            </a:r>
            <a:r>
              <a:rPr lang="en-CA" sz="1500" dirty="0">
                <a:solidFill>
                  <a:srgbClr val="000000"/>
                </a:solidFill>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86011462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Generating Spiffy Library</a:t>
            </a:r>
            <a:endParaRPr lang="en-CA" dirty="0"/>
          </a:p>
        </p:txBody>
      </p:sp>
      <p:sp>
        <p:nvSpPr>
          <p:cNvPr id="9" name="Content Placeholder 8"/>
          <p:cNvSpPr>
            <a:spLocks noGrp="1"/>
          </p:cNvSpPr>
          <p:nvPr>
            <p:ph idx="1"/>
          </p:nvPr>
        </p:nvSpPr>
        <p:spPr>
          <a:xfrm>
            <a:off x="152400" y="857250"/>
            <a:ext cx="8839200" cy="1714500"/>
          </a:xfrm>
        </p:spPr>
        <p:txBody>
          <a:bodyPr/>
          <a:lstStyle/>
          <a:p>
            <a:r>
              <a:rPr lang="en-CA" dirty="0"/>
              <a:t>C++ classes are generated for all annotated structures </a:t>
            </a:r>
            <a:br>
              <a:rPr lang="en-CA" dirty="0"/>
            </a:br>
            <a:r>
              <a:rPr lang="en-CA" dirty="0"/>
              <a:t>and their fields</a:t>
            </a:r>
          </a:p>
          <a:p>
            <a:pPr lvl="1"/>
            <a:r>
              <a:rPr lang="en-CA" sz="2000" dirty="0"/>
              <a:t>Enables type-safe parsing and serialization</a:t>
            </a:r>
          </a:p>
          <a:p>
            <a:pPr lvl="1"/>
            <a:r>
              <a:rPr lang="en-CA" sz="2000" dirty="0"/>
              <a:t>Allows introspection of type, size, name, and </a:t>
            </a:r>
            <a:r>
              <a:rPr lang="en-CA" sz="2000" dirty="0" smtClean="0"/>
              <a:t>parents</a:t>
            </a:r>
            <a:endParaRPr lang="en-CA" sz="2000" dirty="0"/>
          </a:p>
        </p:txBody>
      </p:sp>
      <p:sp>
        <p:nvSpPr>
          <p:cNvPr id="12" name="Content Placeholder 6"/>
          <p:cNvSpPr txBox="1">
            <a:spLocks/>
          </p:cNvSpPr>
          <p:nvPr/>
        </p:nvSpPr>
        <p:spPr>
          <a:xfrm>
            <a:off x="513159" y="2702719"/>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endParaRPr lang="en-CA" sz="1350" dirty="0">
              <a:solidFill>
                <a:srgbClr val="000000"/>
              </a:solidFill>
            </a:endParaRPr>
          </a:p>
          <a:p>
            <a:endParaRPr lang="en-CA" sz="1800" dirty="0"/>
          </a:p>
        </p:txBody>
      </p:sp>
      <p:sp>
        <p:nvSpPr>
          <p:cNvPr id="13"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4"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114774413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pPr marL="0" indent="0">
              <a:buNone/>
            </a:pPr>
            <a:endParaRPr lang="en-CA" dirty="0" smtClean="0"/>
          </a:p>
          <a:p>
            <a:pPr marL="0" indent="0">
              <a:buNone/>
            </a:pPr>
            <a:endParaRPr lang="en-CA" dirty="0"/>
          </a:p>
          <a:p>
            <a:pPr marL="0" indent="0">
              <a:buNone/>
            </a:pPr>
            <a:endParaRPr lang="en-CA" dirty="0" smtClean="0"/>
          </a:p>
          <a:p>
            <a:r>
              <a:rPr lang="en-CA" dirty="0" smtClean="0"/>
              <a:t>Lines of code required to correctly annotate file systems</a:t>
            </a:r>
          </a:p>
          <a:p>
            <a:pPr lvl="1"/>
            <a:r>
              <a:rPr lang="en-CA" dirty="0" smtClean="0"/>
              <a:t>Need to declare some structures</a:t>
            </a:r>
          </a:p>
          <a:p>
            <a:pPr lvl="2"/>
            <a:r>
              <a:rPr lang="en-CA" dirty="0" smtClean="0"/>
              <a:t>E.g. Ext4 indirect block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first 12 are direct pointers, last 3 are indirect pointers of different types</a:t>
            </a:r>
          </a:p>
          <a:p>
            <a:pPr lvl="2"/>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2752715296"/>
              </p:ext>
            </p:extLst>
          </p:nvPr>
        </p:nvGraphicFramePr>
        <p:xfrm>
          <a:off x="2012100" y="803910"/>
          <a:ext cx="4769700" cy="1310640"/>
        </p:xfrm>
        <a:graphic>
          <a:graphicData uri="http://schemas.openxmlformats.org/drawingml/2006/table">
            <a:tbl>
              <a:tblPr firstRow="1" bandRow="1">
                <a:tableStyleId>{69012ECD-51FC-41F1-AA8D-1B2483CD663E}</a:tableStyleId>
              </a:tblPr>
              <a:tblGrid>
                <a:gridCol w="1589900">
                  <a:extLst>
                    <a:ext uri="{9D8B030D-6E8A-4147-A177-3AD203B41FA5}">
                      <a16:colId xmlns:a16="http://schemas.microsoft.com/office/drawing/2014/main" xmlns="" val="20000"/>
                    </a:ext>
                  </a:extLst>
                </a:gridCol>
                <a:gridCol w="1589900">
                  <a:extLst>
                    <a:ext uri="{9D8B030D-6E8A-4147-A177-3AD203B41FA5}">
                      <a16:colId xmlns:a16="http://schemas.microsoft.com/office/drawing/2014/main" xmlns="" val="20001"/>
                    </a:ext>
                  </a:extLst>
                </a:gridCol>
                <a:gridCol w="1589900">
                  <a:extLst>
                    <a:ext uri="{9D8B030D-6E8A-4147-A177-3AD203B41FA5}">
                      <a16:colId xmlns:a16="http://schemas.microsoft.com/office/drawing/2014/main" xmlns="" val="20002"/>
                    </a:ext>
                  </a:extLst>
                </a:gridCol>
              </a:tblGrid>
              <a:tr h="320040">
                <a:tc>
                  <a:txBody>
                    <a:bodyPr/>
                    <a:lstStyle/>
                    <a:p>
                      <a:r>
                        <a:rPr lang="en-CA" sz="1700" dirty="0" smtClean="0">
                          <a:solidFill>
                            <a:schemeClr val="tx1"/>
                          </a:solidFill>
                        </a:rPr>
                        <a:t>File System</a:t>
                      </a:r>
                      <a:endParaRPr lang="en-CA" sz="1700" dirty="0">
                        <a:solidFill>
                          <a:schemeClr val="tx1"/>
                        </a:solidFill>
                      </a:endParaRPr>
                    </a:p>
                  </a:txBody>
                  <a:tcPr marL="68580" marR="68580" marT="34290" marB="34290"/>
                </a:tc>
                <a:tc>
                  <a:txBody>
                    <a:bodyPr/>
                    <a:lstStyle/>
                    <a:p>
                      <a:r>
                        <a:rPr lang="en-CA" sz="1700" dirty="0" smtClean="0">
                          <a:solidFill>
                            <a:schemeClr val="tx1"/>
                          </a:solidFill>
                        </a:rPr>
                        <a:t>Line Count</a:t>
                      </a:r>
                      <a:endParaRPr lang="en-CA" sz="1700" dirty="0">
                        <a:solidFill>
                          <a:schemeClr val="tx1"/>
                        </a:solidFill>
                      </a:endParaRPr>
                    </a:p>
                  </a:txBody>
                  <a:tcPr marL="68580" marR="68580" marT="34290" marB="34290"/>
                </a:tc>
                <a:tc>
                  <a:txBody>
                    <a:bodyPr/>
                    <a:lstStyle/>
                    <a:p>
                      <a:r>
                        <a:rPr lang="en-CA" sz="1700" dirty="0" smtClean="0">
                          <a:solidFill>
                            <a:schemeClr val="tx1"/>
                          </a:solidFill>
                        </a:rPr>
                        <a:t>Annotated</a:t>
                      </a:r>
                      <a:endParaRPr lang="en-CA" sz="1700" dirty="0">
                        <a:solidFill>
                          <a:schemeClr val="tx1"/>
                        </a:solidFill>
                      </a:endParaRPr>
                    </a:p>
                  </a:txBody>
                  <a:tcPr marL="68580" marR="68580" marT="34290" marB="34290"/>
                </a:tc>
                <a:extLst>
                  <a:ext uri="{0D108BD9-81ED-4DB2-BD59-A6C34878D82A}">
                    <a16:rowId xmlns:a16="http://schemas.microsoft.com/office/drawing/2014/main" xmlns="" val="10000"/>
                  </a:ext>
                </a:extLst>
              </a:tr>
              <a:tr h="320040">
                <a:tc>
                  <a:txBody>
                    <a:bodyPr/>
                    <a:lstStyle/>
                    <a:p>
                      <a:r>
                        <a:rPr lang="en-CA" sz="1700" dirty="0" smtClean="0">
                          <a:solidFill>
                            <a:srgbClr val="000000"/>
                          </a:solidFill>
                        </a:rPr>
                        <a:t>Ext4</a:t>
                      </a:r>
                      <a:endParaRPr lang="en-CA" sz="1700" dirty="0">
                        <a:solidFill>
                          <a:srgbClr val="000000"/>
                        </a:solidFill>
                      </a:endParaRPr>
                    </a:p>
                  </a:txBody>
                  <a:tcPr marL="68580" marR="68580" marT="34290" marB="34290"/>
                </a:tc>
                <a:tc>
                  <a:txBody>
                    <a:bodyPr/>
                    <a:lstStyle/>
                    <a:p>
                      <a:r>
                        <a:rPr lang="en-CA" sz="1700" dirty="0" smtClean="0">
                          <a:solidFill>
                            <a:srgbClr val="000000"/>
                          </a:solidFill>
                        </a:rPr>
                        <a:t>491</a:t>
                      </a:r>
                      <a:endParaRPr lang="en-CA" sz="1700" dirty="0">
                        <a:solidFill>
                          <a:srgbClr val="000000"/>
                        </a:solidFill>
                      </a:endParaRPr>
                    </a:p>
                  </a:txBody>
                  <a:tcPr marL="68580" marR="68580" marT="34290" marB="34290"/>
                </a:tc>
                <a:tc>
                  <a:txBody>
                    <a:bodyPr/>
                    <a:lstStyle/>
                    <a:p>
                      <a:r>
                        <a:rPr lang="en-CA" sz="1700" dirty="0" smtClean="0">
                          <a:solidFill>
                            <a:srgbClr val="000000"/>
                          </a:solidFill>
                        </a:rPr>
                        <a:t>113</a:t>
                      </a:r>
                      <a:endParaRPr lang="en-CA" sz="1700" dirty="0">
                        <a:solidFill>
                          <a:srgbClr val="000000"/>
                        </a:solidFill>
                      </a:endParaRPr>
                    </a:p>
                  </a:txBody>
                  <a:tcPr marL="68580" marR="68580" marT="34290" marB="34290"/>
                </a:tc>
                <a:extLst>
                  <a:ext uri="{0D108BD9-81ED-4DB2-BD59-A6C34878D82A}">
                    <a16:rowId xmlns:a16="http://schemas.microsoft.com/office/drawing/2014/main" xmlns="" val="10001"/>
                  </a:ext>
                </a:extLst>
              </a:tr>
              <a:tr h="320040">
                <a:tc>
                  <a:txBody>
                    <a:bodyPr/>
                    <a:lstStyle/>
                    <a:p>
                      <a:r>
                        <a:rPr lang="en-CA" sz="1700" dirty="0" err="1" smtClean="0">
                          <a:solidFill>
                            <a:srgbClr val="000000"/>
                          </a:solidFill>
                        </a:rPr>
                        <a:t>Btrfs</a:t>
                      </a:r>
                      <a:endParaRPr lang="en-CA" sz="1700" dirty="0">
                        <a:solidFill>
                          <a:srgbClr val="000000"/>
                        </a:solidFill>
                      </a:endParaRPr>
                    </a:p>
                  </a:txBody>
                  <a:tcPr marL="68580" marR="68580" marT="34290" marB="34290"/>
                </a:tc>
                <a:tc>
                  <a:txBody>
                    <a:bodyPr/>
                    <a:lstStyle/>
                    <a:p>
                      <a:r>
                        <a:rPr lang="en-CA" sz="1700" dirty="0" smtClean="0">
                          <a:solidFill>
                            <a:srgbClr val="000000"/>
                          </a:solidFill>
                        </a:rPr>
                        <a:t>556</a:t>
                      </a:r>
                      <a:endParaRPr lang="en-CA" sz="1700" dirty="0">
                        <a:solidFill>
                          <a:srgbClr val="000000"/>
                        </a:solidFill>
                      </a:endParaRPr>
                    </a:p>
                  </a:txBody>
                  <a:tcPr marL="68580" marR="68580" marT="34290" marB="34290"/>
                </a:tc>
                <a:tc>
                  <a:txBody>
                    <a:bodyPr/>
                    <a:lstStyle/>
                    <a:p>
                      <a:r>
                        <a:rPr lang="en-CA" sz="1700" dirty="0" smtClean="0">
                          <a:solidFill>
                            <a:srgbClr val="000000"/>
                          </a:solidFill>
                        </a:rPr>
                        <a:t>151</a:t>
                      </a:r>
                      <a:endParaRPr lang="en-CA" sz="1700" dirty="0">
                        <a:solidFill>
                          <a:srgbClr val="000000"/>
                        </a:solidFill>
                      </a:endParaRPr>
                    </a:p>
                  </a:txBody>
                  <a:tcPr marL="68580" marR="68580" marT="34290" marB="34290"/>
                </a:tc>
                <a:extLst>
                  <a:ext uri="{0D108BD9-81ED-4DB2-BD59-A6C34878D82A}">
                    <a16:rowId xmlns:a16="http://schemas.microsoft.com/office/drawing/2014/main" xmlns="" val="10002"/>
                  </a:ext>
                </a:extLst>
              </a:tr>
              <a:tr h="320040">
                <a:tc>
                  <a:txBody>
                    <a:bodyPr/>
                    <a:lstStyle/>
                    <a:p>
                      <a:r>
                        <a:rPr lang="en-CA" sz="1700" dirty="0" smtClean="0">
                          <a:solidFill>
                            <a:srgbClr val="000000"/>
                          </a:solidFill>
                        </a:rPr>
                        <a:t>F2FS</a:t>
                      </a:r>
                      <a:endParaRPr lang="en-CA" sz="1700" dirty="0">
                        <a:solidFill>
                          <a:srgbClr val="000000"/>
                        </a:solidFill>
                      </a:endParaRPr>
                    </a:p>
                  </a:txBody>
                  <a:tcPr marL="68580" marR="68580" marT="34290" marB="34290"/>
                </a:tc>
                <a:tc>
                  <a:txBody>
                    <a:bodyPr/>
                    <a:lstStyle/>
                    <a:p>
                      <a:r>
                        <a:rPr lang="en-CA" sz="1700" dirty="0" smtClean="0">
                          <a:solidFill>
                            <a:srgbClr val="000000"/>
                          </a:solidFill>
                        </a:rPr>
                        <a:t>462</a:t>
                      </a:r>
                      <a:endParaRPr lang="en-CA" sz="1700" dirty="0">
                        <a:solidFill>
                          <a:srgbClr val="000000"/>
                        </a:solidFill>
                      </a:endParaRPr>
                    </a:p>
                  </a:txBody>
                  <a:tcPr marL="68580" marR="68580" marT="34290" marB="34290"/>
                </a:tc>
                <a:tc>
                  <a:txBody>
                    <a:bodyPr/>
                    <a:lstStyle/>
                    <a:p>
                      <a:r>
                        <a:rPr lang="en-CA" sz="1700" dirty="0" smtClean="0">
                          <a:solidFill>
                            <a:srgbClr val="000000"/>
                          </a:solidFill>
                        </a:rPr>
                        <a:t>127</a:t>
                      </a:r>
                      <a:endParaRPr lang="en-CA" sz="1700" dirty="0">
                        <a:solidFill>
                          <a:srgbClr val="000000"/>
                        </a:solidFill>
                      </a:endParaRPr>
                    </a:p>
                  </a:txBody>
                  <a:tcPr marL="68580" marR="68580" marT="34290" marB="34290"/>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114006257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z="2000" dirty="0" smtClean="0"/>
              <a:t>Example: File System Free Space Tool</a:t>
            </a:r>
          </a:p>
          <a:p>
            <a:pPr lvl="1"/>
            <a:r>
              <a:rPr lang="en-CA" sz="1800" dirty="0" smtClean="0"/>
              <a:t>Plots histogram of size of free extents</a:t>
            </a:r>
          </a:p>
          <a:p>
            <a:pPr lvl="1"/>
            <a:r>
              <a:rPr lang="en-CA" sz="1800" dirty="0" smtClean="0"/>
              <a:t>Application requires knowledge of how file system tracks block allocation</a:t>
            </a:r>
          </a:p>
          <a:p>
            <a:r>
              <a:rPr lang="en-CA" sz="2000" dirty="0" smtClean="0"/>
              <a:t>Manually</a:t>
            </a:r>
          </a:p>
          <a:p>
            <a:pPr lvl="1"/>
            <a:r>
              <a:rPr lang="en-CA" sz="1800" dirty="0" smtClean="0"/>
              <a:t>Write code to traverse file system and access relevant metadata</a:t>
            </a:r>
          </a:p>
          <a:p>
            <a:pPr lvl="2"/>
            <a:r>
              <a:rPr lang="en-CA" sz="1800" dirty="0" smtClean="0"/>
              <a:t>Often through trial-and-error</a:t>
            </a:r>
          </a:p>
          <a:p>
            <a:pPr lvl="1"/>
            <a:r>
              <a:rPr lang="en-CA" sz="1800" dirty="0" smtClean="0"/>
              <a:t>Write code to process relevant metadata</a:t>
            </a:r>
          </a:p>
          <a:p>
            <a:r>
              <a:rPr lang="en-CA" sz="2000" dirty="0" smtClean="0"/>
              <a:t>Spiffy framework</a:t>
            </a:r>
          </a:p>
          <a:p>
            <a:pPr lvl="1"/>
            <a:r>
              <a:rPr lang="en-CA" sz="1800" dirty="0" smtClean="0"/>
              <a:t>Simplifies the traversal and helps make it more robust</a:t>
            </a:r>
          </a:p>
          <a:p>
            <a:pPr lvl="1"/>
            <a:r>
              <a:rPr lang="en-CA" sz="1800" dirty="0" smtClean="0"/>
              <a:t>Application program focuses on processing relevant metadata</a:t>
            </a:r>
          </a:p>
        </p:txBody>
      </p:sp>
    </p:spTree>
    <p:extLst>
      <p:ext uri="{BB962C8B-B14F-4D97-AF65-F5344CB8AC3E}">
        <p14:creationId xmlns:p14="http://schemas.microsoft.com/office/powerpoint/2010/main" val="198192972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513159" y="819150"/>
            <a:ext cx="7714348" cy="3588077"/>
          </a:xfrm>
          <a:prstGeom prst="rect">
            <a:avLst/>
          </a:prstGeom>
          <a:noFill/>
          <a:ln>
            <a:noFill/>
          </a:ln>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1024 &lt;&lt;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int</a:t>
            </a:r>
            <a:r>
              <a:rPr lang="en-CA" sz="1350" b="1" dirty="0">
                <a:solidFill>
                  <a:srgbClr val="000000"/>
                </a:solidFill>
                <a:latin typeface="Courier New" panose="02070309020205020404" pitchFamily="49" charset="0"/>
                <a:cs typeface="Courier New" panose="02070309020205020404" pitchFamily="49" charset="0"/>
              </a:rPr>
              <a:t> ret = </a:t>
            </a:r>
            <a:r>
              <a:rPr lang="en-CA" sz="1350" b="1" dirty="0" err="1">
                <a:solidFill>
                  <a:srgbClr val="000000"/>
                </a:solidFill>
                <a:latin typeface="Courier New" panose="02070309020205020404" pitchFamily="49" charset="0"/>
                <a:cs typeface="Courier New" panose="02070309020205020404" pitchFamily="49" charset="0"/>
              </a:rPr>
              <a:t>process_block_bitmap</a:t>
            </a:r>
            <a:r>
              <a:rPr lang="en-CA" sz="1350" b="1"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latin typeface="Courier New" panose="02070309020205020404" pitchFamily="49" charset="0"/>
                <a:cs typeface="Courier New" panose="02070309020205020404" pitchFamily="49" charset="0"/>
              </a:rPr>
              <a:t>buf</a:t>
            </a:r>
            <a:r>
              <a:rPr lang="en-CA" sz="1350" b="1"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vec</a:t>
            </a:r>
            <a:r>
              <a:rPr lang="en-CA" sz="1350" b="1"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7" name="TextBox 6"/>
          <p:cNvSpPr txBox="1"/>
          <p:nvPr/>
        </p:nvSpPr>
        <p:spPr>
          <a:xfrm>
            <a:off x="1456462" y="3742925"/>
            <a:ext cx="5914361"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sz="1200" dirty="0">
                <a:solidFill>
                  <a:srgbClr val="000000"/>
                </a:solidFill>
              </a:rPr>
              <a:t>LOTS of boilerplate code to walk through the intermediate structures</a:t>
            </a:r>
          </a:p>
        </p:txBody>
      </p:sp>
    </p:spTree>
    <p:extLst>
      <p:ext uri="{BB962C8B-B14F-4D97-AF65-F5344CB8AC3E}">
        <p14:creationId xmlns:p14="http://schemas.microsoft.com/office/powerpoint/2010/main" val="422810800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1" name="TextBox 10"/>
          <p:cNvSpPr txBox="1"/>
          <p:nvPr/>
        </p:nvSpPr>
        <p:spPr>
          <a:xfrm>
            <a:off x="2261757" y="3742925"/>
            <a:ext cx="4353788"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sz="1200" dirty="0">
                <a:solidFill>
                  <a:srgbClr val="000000"/>
                </a:solidFill>
              </a:rPr>
              <a:t>Ideally, we would only have to write this function</a:t>
            </a:r>
          </a:p>
        </p:txBody>
      </p:sp>
      <p:cxnSp>
        <p:nvCxnSpPr>
          <p:cNvPr id="8" name="Straight Arrow Connector 7"/>
          <p:cNvCxnSpPr/>
          <p:nvPr/>
        </p:nvCxnSpPr>
        <p:spPr>
          <a:xfrm flipH="1" flipV="1">
            <a:off x="5347855" y="3430800"/>
            <a:ext cx="900545" cy="549011"/>
          </a:xfrm>
          <a:prstGeom prst="bentConnector3">
            <a:avLst>
              <a:gd name="adj1" fmla="val -25385"/>
            </a:avLst>
          </a:prstGeom>
          <a:ln w="38100">
            <a:solidFill>
              <a:schemeClr val="tx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08184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b="1"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latin typeface="Courier New" panose="02070309020205020404" pitchFamily="49" charset="0"/>
                <a:cs typeface="Courier New" panose="02070309020205020404" pitchFamily="49" charset="0"/>
              </a:rPr>
              <a:t>==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ret = </a:t>
            </a:r>
            <a:r>
              <a:rPr lang="en-CA" sz="1350" dirty="0" err="1">
                <a:solidFill>
                  <a:srgbClr val="000000"/>
                </a:solidFill>
                <a:latin typeface="Courier New" panose="02070309020205020404" pitchFamily="49" charset="0"/>
                <a:cs typeface="Courier New" panose="02070309020205020404" pitchFamily="49" charset="0"/>
              </a:rPr>
              <a:t>process_block_bitmap</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3" name="TextBox 12"/>
          <p:cNvSpPr txBox="1"/>
          <p:nvPr/>
        </p:nvSpPr>
        <p:spPr>
          <a:xfrm>
            <a:off x="2428875" y="3742925"/>
            <a:ext cx="4941948" cy="632097"/>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sz="1200" b="1" dirty="0">
                <a:solidFill>
                  <a:srgbClr val="000000"/>
                </a:solidFill>
              </a:rPr>
              <a:t>No sanity checks! </a:t>
            </a:r>
            <a:r>
              <a:rPr lang="en-CA" sz="1200" dirty="0">
                <a:solidFill>
                  <a:srgbClr val="000000"/>
                </a:solidFill>
              </a:rPr>
              <a:t>Value may be out-of-bound or invalid, which can cause crashes or garbage output</a:t>
            </a:r>
          </a:p>
        </p:txBody>
      </p:sp>
    </p:spTree>
    <p:extLst>
      <p:ext uri="{BB962C8B-B14F-4D97-AF65-F5344CB8AC3E}">
        <p14:creationId xmlns:p14="http://schemas.microsoft.com/office/powerpoint/2010/main" val="408784542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1"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3:  Ext4::</a:t>
            </a:r>
            <a:r>
              <a:rPr lang="en-CA" sz="1500" b="1" dirty="0" err="1">
                <a:solidFill>
                  <a:srgbClr val="000000"/>
                </a:solidFill>
                <a:latin typeface="Courier New" panose="02070309020205020404" pitchFamily="49" charset="0"/>
                <a:cs typeface="Courier New" panose="02070309020205020404" pitchFamily="49" charset="0"/>
              </a:rPr>
              <a:t>SuperBlock</a:t>
            </a:r>
            <a:r>
              <a:rPr lang="en-CA" sz="1500" b="1" dirty="0">
                <a:solidFill>
                  <a:srgbClr val="000000"/>
                </a:solidFill>
                <a:latin typeface="Courier New" panose="02070309020205020404" pitchFamily="49" charset="0"/>
                <a:cs typeface="Courier New" panose="02070309020205020404" pitchFamily="49" charset="0"/>
              </a:rPr>
              <a:t> *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7:  return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process_by_type</a:t>
            </a:r>
            <a:r>
              <a:rPr lang="en-CA" sz="1500" dirty="0">
                <a:solidFill>
                  <a:srgbClr val="000000"/>
                </a:solidFill>
                <a:latin typeface="Courier New" panose="02070309020205020404" pitchFamily="49" charset="0"/>
                <a:cs typeface="Courier New" panose="02070309020205020404" pitchFamily="49" charset="0"/>
              </a:rPr>
              <a:t>(BLOCK_BITMAP, </a:t>
            </a:r>
            <a:br>
              <a:rPr lang="en-CA" sz="1500" dirty="0">
                <a:solidFill>
                  <a:srgbClr val="000000"/>
                </a:solidFill>
                <a:latin typeface="Courier New" panose="02070309020205020404" pitchFamily="49" charset="0"/>
                <a:cs typeface="Courier New" panose="02070309020205020404" pitchFamily="49" charset="0"/>
              </a:rPr>
            </a:b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process_block_bitmap</a:t>
            </a:r>
            <a:r>
              <a:rPr lang="en-CA" sz="1500" dirty="0">
                <a:solidFill>
                  <a:srgbClr val="000000"/>
                </a:solidFill>
                <a:latin typeface="Courier New" panose="02070309020205020404" pitchFamily="49" charset="0"/>
                <a:cs typeface="Courier New" panose="02070309020205020404" pitchFamily="49" charset="0"/>
              </a:rPr>
              <a:t>, </a:t>
            </a:r>
            <a:r>
              <a:rPr lang="en-CA" sz="1500" dirty="0" smtClean="0">
                <a:solidFill>
                  <a:srgbClr val="000000"/>
                </a:solidFill>
                <a:latin typeface="Courier New" panose="02070309020205020404" pitchFamily="49" charset="0"/>
                <a:cs typeface="Courier New" panose="02070309020205020404" pitchFamily="49" charset="0"/>
              </a:rPr>
              <a:t>&amp;</a:t>
            </a:r>
            <a:r>
              <a:rPr lang="en-CA" sz="1500" dirty="0" err="1" smtClean="0">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7" name="TextBox 6"/>
          <p:cNvSpPr txBox="1"/>
          <p:nvPr/>
        </p:nvSpPr>
        <p:spPr>
          <a:xfrm>
            <a:off x="6496361" y="1311849"/>
            <a:ext cx="1392721" cy="784830"/>
          </a:xfrm>
          <a:prstGeom prst="rect">
            <a:avLst/>
          </a:prstGeom>
          <a:solidFill>
            <a:srgbClr val="FFFF00"/>
          </a:solidFill>
          <a:ln w="12700">
            <a:solidFill>
              <a:schemeClr val="bg1"/>
            </a:solidFill>
            <a:prstDash val="solid"/>
          </a:ln>
        </p:spPr>
        <p:txBody>
          <a:bodyPr wrap="square" rtlCol="0">
            <a:spAutoFit/>
          </a:bodyPr>
          <a:lstStyle/>
          <a:p>
            <a:pPr algn="ctr">
              <a:lnSpc>
                <a:spcPts val="1800"/>
              </a:lnSpc>
              <a:spcBef>
                <a:spcPts val="450"/>
              </a:spcBef>
            </a:pPr>
            <a:r>
              <a:rPr lang="en-CA" sz="1200" dirty="0" smtClean="0">
                <a:solidFill>
                  <a:srgbClr val="000000"/>
                </a:solidFill>
              </a:rPr>
              <a:t>Returns </a:t>
            </a:r>
            <a:r>
              <a:rPr lang="en-CA" sz="1200" i="1" dirty="0" err="1">
                <a:solidFill>
                  <a:srgbClr val="000000"/>
                </a:solidFill>
              </a:rPr>
              <a:t>nullptr</a:t>
            </a:r>
            <a:r>
              <a:rPr lang="en-CA" sz="1200" i="1" dirty="0">
                <a:solidFill>
                  <a:srgbClr val="000000"/>
                </a:solidFill>
              </a:rPr>
              <a:t/>
            </a:r>
            <a:br>
              <a:rPr lang="en-CA" sz="1200" i="1" dirty="0">
                <a:solidFill>
                  <a:srgbClr val="000000"/>
                </a:solidFill>
              </a:rPr>
            </a:br>
            <a:r>
              <a:rPr lang="en-CA" sz="1200" dirty="0">
                <a:solidFill>
                  <a:srgbClr val="000000"/>
                </a:solidFill>
              </a:rPr>
              <a:t>if super block</a:t>
            </a:r>
            <a:br>
              <a:rPr lang="en-CA" sz="1200" dirty="0">
                <a:solidFill>
                  <a:srgbClr val="000000"/>
                </a:solidFill>
              </a:rPr>
            </a:br>
            <a:r>
              <a:rPr lang="en-CA" sz="1200" dirty="0">
                <a:solidFill>
                  <a:srgbClr val="000000"/>
                </a:solidFill>
              </a:rPr>
              <a:t> is corrupted</a:t>
            </a:r>
          </a:p>
        </p:txBody>
      </p:sp>
      <p:cxnSp>
        <p:nvCxnSpPr>
          <p:cNvPr id="8" name="Straight Arrow Connector 7"/>
          <p:cNvCxnSpPr>
            <a:stCxn id="7" idx="1"/>
          </p:cNvCxnSpPr>
          <p:nvPr/>
        </p:nvCxnSpPr>
        <p:spPr>
          <a:xfrm flipH="1">
            <a:off x="6019800" y="1704264"/>
            <a:ext cx="476561" cy="22808"/>
          </a:xfrm>
          <a:prstGeom prst="straightConnector1">
            <a:avLst/>
          </a:prstGeom>
          <a:ln w="38100">
            <a:solidFill>
              <a:srgbClr val="00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306967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cxnSp>
        <p:nvCxnSpPr>
          <p:cNvPr id="14" name="Straight Arrow Connector 13"/>
          <p:cNvCxnSpPr/>
          <p:nvPr/>
        </p:nvCxnSpPr>
        <p:spPr>
          <a:xfrm flipV="1">
            <a:off x="4572000" y="3060573"/>
            <a:ext cx="0" cy="3428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790950" y="3511217"/>
            <a:ext cx="1562100" cy="326756"/>
          </a:xfrm>
          <a:prstGeom prst="rect">
            <a:avLst/>
          </a:prstGeom>
          <a:noFill/>
        </p:spPr>
        <p:txBody>
          <a:bodyPr wrap="square" rtlCol="0">
            <a:spAutoFit/>
          </a:bodyPr>
          <a:lstStyle/>
          <a:p>
            <a:pPr algn="ctr">
              <a:lnSpc>
                <a:spcPts val="1800"/>
              </a:lnSpc>
              <a:spcBef>
                <a:spcPts val="450"/>
              </a:spcBef>
            </a:pPr>
            <a:r>
              <a:rPr lang="en-CA" sz="2100" b="1" dirty="0">
                <a:solidFill>
                  <a:srgbClr val="000000"/>
                </a:solidFill>
              </a:rPr>
              <a:t>THAT’S IT</a:t>
            </a:r>
          </a:p>
        </p:txBody>
      </p:sp>
    </p:spTree>
    <p:extLst>
      <p:ext uri="{BB962C8B-B14F-4D97-AF65-F5344CB8AC3E}">
        <p14:creationId xmlns:p14="http://schemas.microsoft.com/office/powerpoint/2010/main" val="241550057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513159" y="895350"/>
            <a:ext cx="7714348" cy="236220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a:xfrm>
            <a:off x="152400" y="2876550"/>
            <a:ext cx="8839200" cy="1600200"/>
          </a:xfrm>
        </p:spPr>
        <p:txBody>
          <a:bodyPr/>
          <a:lstStyle/>
          <a:p>
            <a:pPr marL="1371600" lvl="3" indent="0">
              <a:buNone/>
            </a:pPr>
            <a:endParaRPr lang="en-CA" dirty="0" smtClean="0"/>
          </a:p>
          <a:p>
            <a:r>
              <a:rPr lang="en-CA" dirty="0" smtClean="0"/>
              <a:t>Advantages</a:t>
            </a:r>
          </a:p>
          <a:p>
            <a:pPr lvl="1"/>
            <a:r>
              <a:rPr lang="en-CA" sz="2000" dirty="0" smtClean="0"/>
              <a:t>simplifies file system traversal, reduces need to know format details</a:t>
            </a:r>
          </a:p>
          <a:p>
            <a:pPr lvl="1"/>
            <a:r>
              <a:rPr lang="en-CA" sz="2000" dirty="0" smtClean="0"/>
              <a:t>library parsing routines have automatically generated sanity checks</a:t>
            </a:r>
          </a:p>
          <a:p>
            <a:endParaRPr lang="en-CA" dirty="0" smtClean="0"/>
          </a:p>
        </p:txBody>
      </p:sp>
    </p:spTree>
    <p:extLst>
      <p:ext uri="{BB962C8B-B14F-4D97-AF65-F5344CB8AC3E}">
        <p14:creationId xmlns:p14="http://schemas.microsoft.com/office/powerpoint/2010/main" val="2522394424"/>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a:p>
        </p:txBody>
      </p:sp>
      <p:sp>
        <p:nvSpPr>
          <p:cNvPr id="6" name="Content Placeholder 6"/>
          <p:cNvSpPr txBox="1">
            <a:spLocks/>
          </p:cNvSpPr>
          <p:nvPr/>
        </p:nvSpPr>
        <p:spPr>
          <a:xfrm>
            <a:off x="513159" y="1130428"/>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process_btrfs</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btrfs.fetch_super</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sectorsize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extent items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(EXTENT_ITEM,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process_extent_item</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164877162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API (C++)</a:t>
            </a:r>
            <a:endParaRPr lang="en-CA" dirty="0"/>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266265495"/>
              </p:ext>
            </p:extLst>
          </p:nvPr>
        </p:nvGraphicFramePr>
        <p:xfrm>
          <a:off x="152400" y="880110"/>
          <a:ext cx="8839201" cy="3291840"/>
        </p:xfrm>
        <a:graphic>
          <a:graphicData uri="http://schemas.openxmlformats.org/drawingml/2006/table">
            <a:tbl>
              <a:tblPr firstRow="1" bandRow="1">
                <a:tableStyleId>{5C22544A-7EE6-4342-B048-85BDC9FD1C3A}</a:tableStyleId>
              </a:tblPr>
              <a:tblGrid>
                <a:gridCol w="1365648"/>
                <a:gridCol w="3950968"/>
                <a:gridCol w="3522585"/>
              </a:tblGrid>
              <a:tr h="265220">
                <a:tc>
                  <a:txBody>
                    <a:bodyPr/>
                    <a:lstStyle/>
                    <a:p>
                      <a:r>
                        <a:rPr lang="en-CA" sz="1400" dirty="0" smtClean="0"/>
                        <a:t>Base Class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Member Functions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Description</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r>
              <a:tr h="265220">
                <a:tc gridSpan="3">
                  <a:txBody>
                    <a:bodyPr/>
                    <a:lstStyle/>
                    <a:p>
                      <a:r>
                        <a:rPr lang="en-CA" sz="1400" dirty="0" smtClean="0">
                          <a:latin typeface="+mn-lt"/>
                          <a:cs typeface="Courier New" panose="02070309020205020404" pitchFamily="49" charset="0"/>
                        </a:rPr>
                        <a:t>Spiffy File System Library</a:t>
                      </a:r>
                      <a:endParaRPr lang="en-CA" sz="1400" dirty="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36547">
                <a:tc rowSpan="4">
                  <a:txBody>
                    <a:bodyPr/>
                    <a:lstStyle/>
                    <a:p>
                      <a:r>
                        <a:rPr lang="en-CA" sz="1200" dirty="0" smtClean="0">
                          <a:latin typeface="Courier New" panose="02070309020205020404" pitchFamily="49" charset="0"/>
                          <a:cs typeface="Courier New" panose="02070309020205020404" pitchFamily="49" charset="0"/>
                        </a:rPr>
                        <a:t>Entity</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process_fields</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fields of this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process_pointer</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pointers of this object</a:t>
                      </a:r>
                      <a:endParaRPr lang="en-CA" sz="1200" dirty="0" smtClean="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408582">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process_by_type</a:t>
                      </a:r>
                      <a:r>
                        <a:rPr lang="en-CA" sz="1200" dirty="0" smtClean="0">
                          <a:latin typeface="Courier New" panose="02070309020205020404" pitchFamily="49" charset="0"/>
                          <a:cs typeface="Courier New" panose="02070309020205020404" pitchFamily="49" charset="0"/>
                        </a:rPr>
                        <a:t>(</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t,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                    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structures of type </a:t>
                      </a:r>
                      <a:r>
                        <a:rPr lang="en-CA" sz="1200" b="0" i="1" u="none" strike="noStrike" kern="1200" baseline="0" dirty="0" smtClean="0">
                          <a:solidFill>
                            <a:schemeClr val="dk1"/>
                          </a:solidFill>
                          <a:latin typeface="+mn-lt"/>
                          <a:ea typeface="+mn-ea"/>
                          <a:cs typeface="+mn-cs"/>
                        </a:rPr>
                        <a:t>t </a:t>
                      </a:r>
                      <a:r>
                        <a:rPr lang="en-CA" sz="1200" b="0" i="0" u="none" strike="noStrike" kern="1200" baseline="0" dirty="0" smtClean="0">
                          <a:solidFill>
                            <a:schemeClr val="dk1"/>
                          </a:solidFill>
                          <a:latin typeface="+mn-lt"/>
                          <a:ea typeface="+mn-ea"/>
                          <a:cs typeface="+mn-cs"/>
                        </a:rPr>
                        <a:t>that is reachable from this object</a:t>
                      </a:r>
                      <a:endParaRPr lang="en-CA" sz="1200" i="1" dirty="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vMerge="1">
                  <a:txBody>
                    <a:bodyPr/>
                    <a:lstStyle/>
                    <a:p>
                      <a:endParaRPr lang="en-CA"/>
                    </a:p>
                  </a:txBody>
                  <a:tcPr/>
                </a:tc>
                <a:tc>
                  <a:txBody>
                    <a:bodyPr/>
                    <a:lstStyle/>
                    <a:p>
                      <a:r>
                        <a:rPr lang="en-CA" sz="1200" dirty="0" err="1" smtClean="0">
                          <a:latin typeface="Courier New" panose="02070309020205020404" pitchFamily="49" charset="0"/>
                          <a:cs typeface="Courier New" panose="02070309020205020404" pitchFamily="49" charset="0"/>
                        </a:rPr>
                        <a:t>get_name</a:t>
                      </a:r>
                      <a:r>
                        <a:rPr lang="en-CA" sz="1200" dirty="0" smtClean="0">
                          <a:latin typeface="Courier New" panose="02070309020205020404" pitchFamily="49" charset="0"/>
                          <a:cs typeface="Courier New" panose="02070309020205020404" pitchFamily="49" charset="0"/>
                        </a:rPr>
                        <a:t>(),</a:t>
                      </a:r>
                      <a:r>
                        <a:rPr lang="en-CA" sz="1200" baseline="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get_size</a:t>
                      </a:r>
                      <a:r>
                        <a:rPr lang="en-CA" sz="1200" dirty="0" smtClean="0">
                          <a:latin typeface="Courier New" panose="02070309020205020404" pitchFamily="49" charset="0"/>
                          <a:cs typeface="Courier New" panose="02070309020205020404" pitchFamily="49" charset="0"/>
                        </a:rPr>
                        <a:t>(), etc.</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t>allows for type introspection </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a:txBody>
                    <a:bodyPr/>
                    <a:lstStyle/>
                    <a:p>
                      <a:r>
                        <a:rPr lang="en-CA" sz="1200" dirty="0" smtClean="0">
                          <a:latin typeface="Courier New" panose="02070309020205020404" pitchFamily="49" charset="0"/>
                          <a:cs typeface="Courier New" panose="02070309020205020404" pitchFamily="49" charset="0"/>
                        </a:rPr>
                        <a:t>Container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save()</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serializes and persists the container</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a:txBody>
                    <a:bodyPr/>
                    <a:lstStyle/>
                    <a:p>
                      <a:r>
                        <a:rPr lang="en-CA" sz="1200" dirty="0" smtClean="0">
                          <a:latin typeface="Courier New" panose="02070309020205020404" pitchFamily="49" charset="0"/>
                          <a:cs typeface="Courier New" panose="02070309020205020404" pitchFamily="49" charset="0"/>
                        </a:rPr>
                        <a:t>Pointer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latin typeface="Courier New" panose="02070309020205020404" pitchFamily="49" charset="0"/>
                          <a:cs typeface="Courier New" panose="02070309020205020404" pitchFamily="49" charset="0"/>
                        </a:rPr>
                        <a:t>Container</a:t>
                      </a:r>
                      <a:r>
                        <a:rPr lang="en-CA" sz="1200" baseline="0" dirty="0" smtClean="0">
                          <a:latin typeface="Courier New" panose="02070309020205020404" pitchFamily="49" charset="0"/>
                          <a:cs typeface="Courier New" panose="02070309020205020404" pitchFamily="49" charset="0"/>
                        </a:rPr>
                        <a:t> * fetch()</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retrieves pointed-to container from disk</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rowSpan="2">
                  <a:txBody>
                    <a:bodyPr/>
                    <a:lstStyle/>
                    <a:p>
                      <a:r>
                        <a:rPr lang="en-CA" sz="1200" dirty="0" err="1" smtClean="0">
                          <a:latin typeface="Courier New" panose="02070309020205020404" pitchFamily="49" charset="0"/>
                          <a:cs typeface="Courier New" panose="02070309020205020404" pitchFamily="49" charset="0"/>
                        </a:rPr>
                        <a:t>FileSystem</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FileSystem</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(IO &amp;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io</a:t>
                      </a:r>
                      <a:r>
                        <a:rPr lang="en-CA" sz="1200" b="0" i="0" u="none" strike="noStrike" kern="1200" baseline="0" smtClean="0">
                          <a:solidFill>
                            <a:schemeClr val="dk1"/>
                          </a:solidFill>
                          <a:latin typeface="Courier New" panose="02070309020205020404" pitchFamily="49" charset="0"/>
                          <a:ea typeface="+mn-ea"/>
                          <a:cs typeface="Courier New" panose="02070309020205020404" pitchFamily="49" charset="0"/>
                        </a:rPr>
                        <a:t>) </a:t>
                      </a:r>
                      <a:endPar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instantiates a new file system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Container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fetch_super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retrieves the super block from disk</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65220">
                <a:tc gridSpan="3">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400" dirty="0" smtClean="0">
                          <a:latin typeface="+mn-lt"/>
                          <a:cs typeface="Courier New" panose="02070309020205020404" pitchFamily="49" charset="0"/>
                        </a:rPr>
                        <a:t>Application Developer</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36547">
                <a:tc>
                  <a:txBody>
                    <a:bodyPr/>
                    <a:lstStyle/>
                    <a:p>
                      <a:r>
                        <a:rPr lang="en-CA" sz="1200" dirty="0" smtClean="0">
                          <a:latin typeface="Courier New" panose="02070309020205020404" pitchFamily="49" charset="0"/>
                          <a:cs typeface="Courier New" panose="02070309020205020404" pitchFamily="49" charset="0"/>
                        </a:rPr>
                        <a:t>Visitor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virtual </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visit(Entity</a:t>
                      </a:r>
                      <a:r>
                        <a:rPr lang="en-CA" sz="1200" baseline="0" dirty="0" smtClean="0">
                          <a:latin typeface="Courier New" panose="02070309020205020404" pitchFamily="49" charset="0"/>
                          <a:cs typeface="Courier New" panose="02070309020205020404" pitchFamily="49" charset="0"/>
                        </a:rPr>
                        <a:t> &amp; e)=0;</a:t>
                      </a:r>
                      <a:endParaRPr lang="en-CA" sz="1200" dirty="0" smtClean="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visits an entity and possibly processes it</a:t>
                      </a:r>
                      <a:endParaRPr lang="en-CA" sz="1200" dirty="0" smtClean="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48326728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::visit(Entity &amp; </a:t>
            </a:r>
            <a:r>
              <a:rPr lang="en-CA" sz="1350"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smtClean="0">
                <a:latin typeface="Courier New" panose="02070309020205020404" pitchFamily="49" charset="0"/>
                <a:cs typeface="Courier New" panose="02070309020205020404" pitchFamily="49" charset="0"/>
              </a:rPr>
              <a:t>p.to_pointer</a:t>
            </a:r>
            <a:r>
              <a:rPr lang="en-CA" sz="1350" dirty="0" smtClean="0">
                <a:latin typeface="Courier New" panose="02070309020205020404" pitchFamily="49" charset="0"/>
                <a:cs typeface="Courier New" panose="02070309020205020404" pitchFamily="49" charset="0"/>
              </a:rPr>
              <a:t>()-&gt;fetch</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cout</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e.get_name</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endl</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a:t>
            </a:r>
            <a:r>
              <a:rPr lang="en-CA" sz="1350" dirty="0" err="1">
                <a:latin typeface="Courier New" panose="02070309020205020404" pitchFamily="49" charset="0"/>
                <a:cs typeface="Courier New" panose="02070309020205020404" pitchFamily="49" charset="0"/>
              </a:rPr>
              <a:t>e.process_pointers</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sup = </a:t>
            </a:r>
            <a:r>
              <a:rPr lang="en-CA" sz="1350" dirty="0" err="1">
                <a:latin typeface="Courier New" panose="02070309020205020404" pitchFamily="49" charset="0"/>
                <a:cs typeface="Courier New" panose="02070309020205020404" pitchFamily="49" charset="0"/>
              </a:rPr>
              <a:t>fs.fetch_super</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968629"/>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a:solidFill>
                  <a:srgbClr val="000000"/>
                </a:solidFill>
              </a:rPr>
              <a:t>Simple example to traverse the entire file system</a:t>
            </a:r>
          </a:p>
          <a:p>
            <a:pPr>
              <a:spcBef>
                <a:spcPts val="0"/>
              </a:spcBef>
              <a:spcAft>
                <a:spcPts val="0"/>
              </a:spcAft>
              <a:buClr>
                <a:srgbClr val="007089"/>
              </a:buClr>
            </a:pPr>
            <a:r>
              <a:rPr lang="en-CA" sz="1800" dirty="0" smtClean="0">
                <a:solidFill>
                  <a:srgbClr val="000000"/>
                </a:solidFill>
              </a:rPr>
              <a:t>Little </a:t>
            </a:r>
            <a:r>
              <a:rPr lang="en-CA" sz="1800" dirty="0">
                <a:solidFill>
                  <a:srgbClr val="000000"/>
                </a:solidFill>
              </a:rPr>
              <a:t>file-system specific code required </a:t>
            </a:r>
            <a:r>
              <a:rPr lang="en-CA" sz="1800" dirty="0" smtClean="0">
                <a:solidFill>
                  <a:srgbClr val="000000"/>
                </a:solidFill>
              </a:rPr>
              <a:t>(for bootstrapping)</a:t>
            </a:r>
            <a:endParaRPr lang="en-CA" sz="1800" dirty="0">
              <a:solidFill>
                <a:srgbClr val="000000"/>
              </a:solidFill>
            </a:endParaRPr>
          </a:p>
        </p:txBody>
      </p:sp>
    </p:spTree>
    <p:extLst>
      <p:ext uri="{BB962C8B-B14F-4D97-AF65-F5344CB8AC3E}">
        <p14:creationId xmlns:p14="http://schemas.microsoft.com/office/powerpoint/2010/main" val="401855824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EntVisitor</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ev</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PtrVisitor</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pv</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::visit(Entity &amp; </a:t>
            </a:r>
            <a:r>
              <a:rPr lang="en-CA" sz="1350"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smtClean="0">
                <a:latin typeface="Courier New" panose="02070309020205020404" pitchFamily="49" charset="0"/>
                <a:cs typeface="Courier New" panose="02070309020205020404" pitchFamily="49" charset="0"/>
              </a:rPr>
              <a:t>p.to_pointer</a:t>
            </a:r>
            <a:r>
              <a:rPr lang="en-CA" sz="1350" dirty="0" smtClean="0">
                <a:latin typeface="Courier New" panose="02070309020205020404" pitchFamily="49" charset="0"/>
                <a:cs typeface="Courier New" panose="02070309020205020404" pitchFamily="49" charset="0"/>
              </a:rPr>
              <a:t>()-&gt;fetch</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cout</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e.get_name</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endl</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a:t>
            </a:r>
            <a:r>
              <a:rPr lang="en-CA" sz="1350" dirty="0" err="1">
                <a:latin typeface="Courier New" panose="02070309020205020404" pitchFamily="49" charset="0"/>
                <a:cs typeface="Courier New" panose="02070309020205020404" pitchFamily="49" charset="0"/>
              </a:rPr>
              <a:t>e.process_pointers</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a:latin typeface="Courier New" panose="02070309020205020404" pitchFamily="49" charset="0"/>
                <a:cs typeface="Courier New" panose="02070309020205020404" pitchFamily="49" charset="0"/>
              </a:rPr>
              <a:t>Container * sup = </a:t>
            </a:r>
            <a:r>
              <a:rPr lang="en-CA" sz="1350" b="1" dirty="0" err="1">
                <a:latin typeface="Courier New" panose="02070309020205020404" pitchFamily="49" charset="0"/>
                <a:cs typeface="Courier New" panose="02070309020205020404" pitchFamily="49" charset="0"/>
              </a:rPr>
              <a:t>fs.fetch_super</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ev.visit</a:t>
            </a:r>
            <a:r>
              <a:rPr lang="en-CA" sz="1350" b="1"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3525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a:solidFill>
                  <a:srgbClr val="000000"/>
                </a:solidFill>
              </a:rPr>
              <a:t>Traversal begins from super block</a:t>
            </a:r>
          </a:p>
          <a:p>
            <a:pPr>
              <a:spcBef>
                <a:spcPts val="0"/>
              </a:spcBef>
              <a:spcAft>
                <a:spcPts val="0"/>
              </a:spcAft>
              <a:buClr>
                <a:srgbClr val="007089"/>
              </a:buClr>
            </a:pPr>
            <a:r>
              <a:rPr lang="en-CA" sz="1800" dirty="0">
                <a:solidFill>
                  <a:srgbClr val="000000"/>
                </a:solidFill>
              </a:rPr>
              <a:t>Uses two mutually recursive visitors to traverse the whole file system</a:t>
            </a:r>
          </a:p>
        </p:txBody>
      </p:sp>
    </p:spTree>
    <p:extLst>
      <p:ext uri="{BB962C8B-B14F-4D97-AF65-F5344CB8AC3E}">
        <p14:creationId xmlns:p14="http://schemas.microsoft.com/office/powerpoint/2010/main" val="157958862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::visit(Entity &amp; </a:t>
            </a:r>
            <a:r>
              <a:rPr lang="en-CA" sz="1350"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smtClean="0">
                <a:latin typeface="Courier New" panose="02070309020205020404" pitchFamily="49" charset="0"/>
                <a:cs typeface="Courier New" panose="02070309020205020404" pitchFamily="49" charset="0"/>
              </a:rPr>
              <a:t>p.to_pointer</a:t>
            </a:r>
            <a:r>
              <a:rPr lang="en-CA" sz="1350" dirty="0" smtClean="0">
                <a:latin typeface="Courier New" panose="02070309020205020404" pitchFamily="49" charset="0"/>
                <a:cs typeface="Courier New" panose="02070309020205020404" pitchFamily="49" charset="0"/>
              </a:rPr>
              <a:t>()-&gt;fetch</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int</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EntVisitor</a:t>
            </a:r>
            <a:r>
              <a:rPr lang="en-CA" sz="1350" b="1"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cout</a:t>
            </a:r>
            <a:r>
              <a:rPr lang="en-CA" sz="1350" b="1" dirty="0">
                <a:latin typeface="Courier New" panose="02070309020205020404" pitchFamily="49" charset="0"/>
                <a:cs typeface="Courier New" panose="02070309020205020404" pitchFamily="49" charset="0"/>
              </a:rPr>
              <a:t> &lt;&lt; </a:t>
            </a:r>
            <a:r>
              <a:rPr lang="en-CA" sz="1350" b="1" dirty="0" err="1">
                <a:latin typeface="Courier New" panose="02070309020205020404" pitchFamily="49" charset="0"/>
                <a:cs typeface="Courier New" panose="02070309020205020404" pitchFamily="49" charset="0"/>
              </a:rPr>
              <a:t>e.get_name</a:t>
            </a:r>
            <a:r>
              <a:rPr lang="en-CA" sz="1350" b="1" dirty="0">
                <a:latin typeface="Courier New" panose="02070309020205020404" pitchFamily="49" charset="0"/>
                <a:cs typeface="Courier New" panose="02070309020205020404" pitchFamily="49" charset="0"/>
              </a:rPr>
              <a:t>() &lt;&lt; </a:t>
            </a:r>
            <a:r>
              <a:rPr lang="en-CA" sz="1350" b="1" dirty="0" err="1">
                <a:latin typeface="Courier New" panose="02070309020205020404" pitchFamily="49" charset="0"/>
                <a:cs typeface="Courier New" panose="02070309020205020404" pitchFamily="49" charset="0"/>
              </a:rPr>
              <a:t>endl</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b="1" dirty="0">
                <a:latin typeface="Courier New" panose="02070309020205020404" pitchFamily="49" charset="0"/>
                <a:cs typeface="Courier New" panose="02070309020205020404" pitchFamily="49" charset="0"/>
              </a:rPr>
              <a:t>  return </a:t>
            </a:r>
            <a:r>
              <a:rPr lang="en-CA" sz="1350" b="1" dirty="0" err="1">
                <a:latin typeface="Courier New" panose="02070309020205020404" pitchFamily="49" charset="0"/>
                <a:cs typeface="Courier New" panose="02070309020205020404" pitchFamily="49" charset="0"/>
              </a:rPr>
              <a:t>e.process_pointers</a:t>
            </a:r>
            <a:r>
              <a:rPr lang="en-CA" sz="1350" b="1" dirty="0">
                <a:latin typeface="Courier New" panose="02070309020205020404" pitchFamily="49" charset="0"/>
                <a:cs typeface="Courier New" panose="02070309020205020404" pitchFamily="49" charset="0"/>
              </a:rPr>
              <a:t>(</a:t>
            </a:r>
            <a:r>
              <a:rPr lang="en-CA" sz="1350" b="1" dirty="0" err="1">
                <a:latin typeface="Courier New" panose="02070309020205020404" pitchFamily="49" charset="0"/>
                <a:cs typeface="Courier New" panose="02070309020205020404" pitchFamily="49" charset="0"/>
              </a:rPr>
              <a:t>pv</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b="1"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sup = </a:t>
            </a:r>
            <a:r>
              <a:rPr lang="en-CA" sz="1350" dirty="0" err="1">
                <a:latin typeface="Courier New" panose="02070309020205020404" pitchFamily="49" charset="0"/>
                <a:cs typeface="Courier New" panose="02070309020205020404" pitchFamily="49" charset="0"/>
              </a:rPr>
              <a:t>fs.fetch_super</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3525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err="1">
                <a:solidFill>
                  <a:srgbClr val="000000"/>
                </a:solidFill>
              </a:rPr>
              <a:t>EntVisitor</a:t>
            </a:r>
            <a:r>
              <a:rPr lang="en-CA" sz="1800" dirty="0">
                <a:solidFill>
                  <a:srgbClr val="000000"/>
                </a:solidFill>
              </a:rPr>
              <a:t> prints name of entity </a:t>
            </a:r>
            <a:r>
              <a:rPr lang="en-CA" sz="1800" i="1" dirty="0">
                <a:solidFill>
                  <a:srgbClr val="000000"/>
                </a:solidFill>
              </a:rPr>
              <a:t>e</a:t>
            </a:r>
            <a:r>
              <a:rPr lang="en-CA" sz="1800" dirty="0">
                <a:solidFill>
                  <a:srgbClr val="000000"/>
                </a:solidFill>
              </a:rPr>
              <a:t>, then calls </a:t>
            </a:r>
            <a:r>
              <a:rPr lang="en-CA" sz="1800" dirty="0" err="1">
                <a:solidFill>
                  <a:srgbClr val="000000"/>
                </a:solidFill>
                <a:latin typeface="Courier New" panose="02070309020205020404" pitchFamily="49" charset="0"/>
                <a:cs typeface="Courier New" panose="02070309020205020404" pitchFamily="49" charset="0"/>
              </a:rPr>
              <a:t>PtrVisitor</a:t>
            </a:r>
            <a:r>
              <a:rPr lang="en-CA" sz="1800" dirty="0">
                <a:solidFill>
                  <a:srgbClr val="000000"/>
                </a:solidFill>
                <a:latin typeface="Courier New" panose="02070309020205020404" pitchFamily="49" charset="0"/>
                <a:cs typeface="Courier New" panose="02070309020205020404" pitchFamily="49" charset="0"/>
              </a:rPr>
              <a:t>::visit </a:t>
            </a:r>
            <a:r>
              <a:rPr lang="en-CA" sz="1800" dirty="0">
                <a:solidFill>
                  <a:srgbClr val="000000"/>
                </a:solidFill>
                <a:cs typeface="Courier New" panose="02070309020205020404" pitchFamily="49" charset="0"/>
              </a:rPr>
              <a:t>on all pointer fields </a:t>
            </a:r>
            <a:r>
              <a:rPr lang="en-CA" sz="1800" dirty="0" smtClean="0">
                <a:solidFill>
                  <a:srgbClr val="000000"/>
                </a:solidFill>
                <a:cs typeface="Courier New" panose="02070309020205020404" pitchFamily="49" charset="0"/>
              </a:rPr>
              <a:t>in </a:t>
            </a:r>
            <a:r>
              <a:rPr lang="en-CA" sz="1800" dirty="0">
                <a:solidFill>
                  <a:srgbClr val="000000"/>
                </a:solidFill>
                <a:cs typeface="Courier New" panose="02070309020205020404" pitchFamily="49" charset="0"/>
              </a:rPr>
              <a:t>entity </a:t>
            </a:r>
            <a:r>
              <a:rPr lang="en-CA" sz="1800" i="1" dirty="0">
                <a:solidFill>
                  <a:srgbClr val="000000"/>
                </a:solidFill>
                <a:cs typeface="Courier New" panose="02070309020205020404" pitchFamily="49" charset="0"/>
              </a:rPr>
              <a:t>e</a:t>
            </a:r>
            <a:endParaRPr lang="en-CA" sz="1800" dirty="0">
              <a:solidFill>
                <a:srgbClr val="000000"/>
              </a:solidFill>
            </a:endParaRPr>
          </a:p>
        </p:txBody>
      </p:sp>
    </p:spTree>
    <p:extLst>
      <p:ext uri="{BB962C8B-B14F-4D97-AF65-F5344CB8AC3E}">
        <p14:creationId xmlns:p14="http://schemas.microsoft.com/office/powerpoint/2010/main" val="2885354507"/>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int</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PtrVisitor</a:t>
            </a:r>
            <a:r>
              <a:rPr lang="en-CA" sz="1350" b="1" dirty="0">
                <a:latin typeface="Courier New" panose="02070309020205020404" pitchFamily="49" charset="0"/>
                <a:cs typeface="Courier New" panose="02070309020205020404" pitchFamily="49" charset="0"/>
              </a:rPr>
              <a:t>::visit(Entity &amp; </a:t>
            </a:r>
            <a:r>
              <a:rPr lang="en-CA" sz="1350" b="1"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tmp</a:t>
            </a:r>
            <a:r>
              <a:rPr lang="en-CA" sz="1350" b="1" dirty="0">
                <a:latin typeface="Courier New" panose="02070309020205020404" pitchFamily="49" charset="0"/>
                <a:cs typeface="Courier New" panose="02070309020205020404" pitchFamily="49" charset="0"/>
              </a:rPr>
              <a:t> = </a:t>
            </a:r>
            <a:r>
              <a:rPr lang="en-CA" sz="1350" b="1" dirty="0" err="1" smtClean="0">
                <a:latin typeface="Courier New" panose="02070309020205020404" pitchFamily="49" charset="0"/>
                <a:cs typeface="Courier New" panose="02070309020205020404" pitchFamily="49" charset="0"/>
              </a:rPr>
              <a:t>p.to_pointer</a:t>
            </a:r>
            <a:r>
              <a:rPr lang="en-CA" sz="1350" b="1" dirty="0" smtClean="0">
                <a:latin typeface="Courier New" panose="02070309020205020404" pitchFamily="49" charset="0"/>
                <a:cs typeface="Courier New" panose="02070309020205020404" pitchFamily="49" charset="0"/>
              </a:rPr>
              <a:t>()-&gt;fetch</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ev.visit</a:t>
            </a:r>
            <a:r>
              <a:rPr lang="en-CA" sz="1350" b="1" dirty="0">
                <a:latin typeface="Courier New" panose="02070309020205020404" pitchFamily="49" charset="0"/>
                <a:cs typeface="Courier New" panose="02070309020205020404" pitchFamily="49" charset="0"/>
              </a:rPr>
              <a:t>(*</a:t>
            </a:r>
            <a:r>
              <a:rPr lang="en-CA" sz="1350" b="1" dirty="0" err="1">
                <a:latin typeface="Courier New" panose="02070309020205020404" pitchFamily="49" charset="0"/>
                <a:cs typeface="Courier New" panose="02070309020205020404" pitchFamily="49" charset="0"/>
              </a:rPr>
              <a:t>tmp</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cout</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e.get_name</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endl</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a:t>
            </a:r>
            <a:r>
              <a:rPr lang="en-CA" sz="1350" dirty="0" err="1">
                <a:latin typeface="Courier New" panose="02070309020205020404" pitchFamily="49" charset="0"/>
                <a:cs typeface="Courier New" panose="02070309020205020404" pitchFamily="49" charset="0"/>
              </a:rPr>
              <a:t>e.process_pointers</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sup = </a:t>
            </a:r>
            <a:r>
              <a:rPr lang="en-CA" sz="1350" dirty="0" err="1">
                <a:latin typeface="Courier New" panose="02070309020205020404" pitchFamily="49" charset="0"/>
                <a:cs typeface="Courier New" panose="02070309020205020404" pitchFamily="49" charset="0"/>
              </a:rPr>
              <a:t>fs.fetch_super</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3525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err="1">
                <a:solidFill>
                  <a:srgbClr val="000000"/>
                </a:solidFill>
              </a:rPr>
              <a:t>PtrVisitor</a:t>
            </a:r>
            <a:r>
              <a:rPr lang="en-CA" sz="1800" dirty="0">
                <a:solidFill>
                  <a:srgbClr val="000000"/>
                </a:solidFill>
              </a:rPr>
              <a:t> fetches the pointed-to Container from disk, then calls </a:t>
            </a:r>
            <a:r>
              <a:rPr lang="en-CA" sz="1800" dirty="0" err="1">
                <a:solidFill>
                  <a:srgbClr val="000000"/>
                </a:solidFill>
                <a:latin typeface="Courier New" panose="02070309020205020404" pitchFamily="49" charset="0"/>
                <a:cs typeface="Courier New" panose="02070309020205020404" pitchFamily="49" charset="0"/>
              </a:rPr>
              <a:t>EntVisitor</a:t>
            </a:r>
            <a:r>
              <a:rPr lang="en-CA" sz="1800" dirty="0">
                <a:solidFill>
                  <a:srgbClr val="000000"/>
                </a:solidFill>
                <a:latin typeface="Courier New" panose="02070309020205020404" pitchFamily="49" charset="0"/>
                <a:cs typeface="Courier New" panose="02070309020205020404" pitchFamily="49" charset="0"/>
              </a:rPr>
              <a:t>::visit </a:t>
            </a:r>
            <a:r>
              <a:rPr lang="en-CA" sz="1800" dirty="0">
                <a:solidFill>
                  <a:srgbClr val="000000"/>
                </a:solidFill>
              </a:rPr>
              <a:t>on the pointed-to Container</a:t>
            </a:r>
          </a:p>
        </p:txBody>
      </p:sp>
    </p:spTree>
    <p:extLst>
      <p:ext uri="{BB962C8B-B14F-4D97-AF65-F5344CB8AC3E}">
        <p14:creationId xmlns:p14="http://schemas.microsoft.com/office/powerpoint/2010/main" val="396606857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sp>
        <p:nvSpPr>
          <p:cNvPr id="3" name="Content Placeholder 2"/>
          <p:cNvSpPr>
            <a:spLocks noGrp="1"/>
          </p:cNvSpPr>
          <p:nvPr>
            <p:ph idx="1"/>
          </p:nvPr>
        </p:nvSpPr>
        <p:spPr/>
        <p:txBody>
          <a:bodyPr/>
          <a:lstStyle/>
          <a:p>
            <a:r>
              <a:rPr lang="en-CA" dirty="0" smtClean="0">
                <a:solidFill>
                  <a:schemeClr val="tx1">
                    <a:alpha val="30000"/>
                  </a:schemeClr>
                </a:solidFill>
              </a:rPr>
              <a:t>File System Free Space Tool</a:t>
            </a:r>
          </a:p>
          <a:p>
            <a:r>
              <a:rPr lang="en-CA" dirty="0" smtClean="0"/>
              <a:t>Type-Specific File System Corruptor</a:t>
            </a:r>
          </a:p>
          <a:p>
            <a:r>
              <a:rPr lang="en-CA" dirty="0" smtClean="0"/>
              <a:t>File System Conversion Tool</a:t>
            </a:r>
          </a:p>
          <a:p>
            <a:r>
              <a:rPr lang="en-CA" dirty="0" smtClean="0"/>
              <a:t>File-System Aware Block Layer Cache</a:t>
            </a:r>
          </a:p>
          <a:p>
            <a:r>
              <a:rPr lang="en-CA" dirty="0" smtClean="0"/>
              <a:t>Runtime Verification for File Systems</a:t>
            </a:r>
            <a:endParaRPr lang="en-CA" dirty="0"/>
          </a:p>
          <a:p>
            <a:endParaRPr lang="en-CA" dirty="0" smtClean="0"/>
          </a:p>
        </p:txBody>
      </p:sp>
    </p:spTree>
    <p:extLst>
      <p:ext uri="{BB962C8B-B14F-4D97-AF65-F5344CB8AC3E}">
        <p14:creationId xmlns:p14="http://schemas.microsoft.com/office/powerpoint/2010/main" val="278723905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dirty="0" smtClean="0"/>
              <a:t>Finds and corrupts a field in a specified structure</a:t>
            </a:r>
          </a:p>
          <a:p>
            <a:r>
              <a:rPr lang="en-CA" dirty="0" smtClean="0"/>
              <a:t>Works for all annotated file systems</a:t>
            </a:r>
          </a:p>
          <a:p>
            <a:pPr lvl="1"/>
            <a:r>
              <a:rPr lang="en-CA" sz="2000" dirty="0" smtClean="0"/>
              <a:t>Generic Application Code: 455 LOC</a:t>
            </a:r>
          </a:p>
          <a:p>
            <a:pPr lvl="1"/>
            <a:r>
              <a:rPr lang="en-CA" sz="2000" dirty="0" smtClean="0"/>
              <a:t>File-System Specific Code: &lt; 30 LOC each</a:t>
            </a:r>
          </a:p>
          <a:p>
            <a:r>
              <a:rPr lang="en-CA" dirty="0" smtClean="0"/>
              <a:t>Corruption Experiment</a:t>
            </a:r>
          </a:p>
          <a:p>
            <a:pPr lvl="1"/>
            <a:r>
              <a:rPr lang="en-CA" sz="2000" dirty="0" smtClean="0"/>
              <a:t>Ran existing tools on corrupt file system image</a:t>
            </a:r>
          </a:p>
          <a:p>
            <a:pPr lvl="1"/>
            <a:r>
              <a:rPr lang="en-CA" sz="2000" dirty="0" smtClean="0"/>
              <a:t>Discovered 1 crash bug in dumpe2fs (Ext4)</a:t>
            </a:r>
          </a:p>
          <a:p>
            <a:pPr lvl="1"/>
            <a:r>
              <a:rPr lang="en-CA" sz="2000" dirty="0" smtClean="0"/>
              <a:t>Discovered 5 crash bugs in dump.f2fs (F2FS)</a:t>
            </a:r>
          </a:p>
          <a:p>
            <a:pPr lvl="1"/>
            <a:r>
              <a:rPr lang="en-CA" sz="2000" dirty="0" smtClean="0"/>
              <a:t>None in our Spiffy dump tool on Ext4, </a:t>
            </a:r>
            <a:r>
              <a:rPr lang="en-CA" sz="2000" dirty="0" err="1" smtClean="0"/>
              <a:t>Btrfs</a:t>
            </a:r>
            <a:r>
              <a:rPr lang="en-CA" sz="2000" dirty="0" smtClean="0"/>
              <a:t> and F2FS</a:t>
            </a:r>
            <a:endParaRPr lang="en-CA" sz="2000" dirty="0"/>
          </a:p>
        </p:txBody>
      </p:sp>
    </p:spTree>
    <p:extLst>
      <p:ext uri="{BB962C8B-B14F-4D97-AF65-F5344CB8AC3E}">
        <p14:creationId xmlns:p14="http://schemas.microsoft.com/office/powerpoint/2010/main" val="78481965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dirty="0" smtClean="0"/>
              <a:t>Converts one file system to another while minimizing copying</a:t>
            </a:r>
            <a:br>
              <a:rPr lang="en-CA" dirty="0" smtClean="0"/>
            </a:br>
            <a:r>
              <a:rPr lang="en-CA" dirty="0" smtClean="0"/>
              <a:t>data blocks</a:t>
            </a:r>
          </a:p>
          <a:p>
            <a:pPr lvl="1"/>
            <a:endParaRPr lang="en-CA" dirty="0" smtClean="0"/>
          </a:p>
          <a:p>
            <a:r>
              <a:rPr lang="en-CA" dirty="0" smtClean="0"/>
              <a:t>Currently, converts from Ext4 to F2FS</a:t>
            </a:r>
          </a:p>
          <a:p>
            <a:pPr lvl="1"/>
            <a:r>
              <a:rPr lang="en-CA" dirty="0" smtClean="0"/>
              <a:t>Generic application code: 504 LOC</a:t>
            </a:r>
          </a:p>
          <a:p>
            <a:pPr lvl="1"/>
            <a:r>
              <a:rPr lang="en-CA" dirty="0" smtClean="0"/>
              <a:t>Ext4 specific code (source file system): 218 LOC</a:t>
            </a:r>
          </a:p>
          <a:p>
            <a:pPr lvl="1"/>
            <a:r>
              <a:rPr lang="en-CA" dirty="0" smtClean="0"/>
              <a:t>F2FS specific code (destination file system): 1760 LOC</a:t>
            </a:r>
          </a:p>
          <a:p>
            <a:pPr lvl="1"/>
            <a:endParaRPr lang="en-CA" dirty="0" smtClean="0"/>
          </a:p>
          <a:p>
            <a:endParaRPr lang="en-CA" dirty="0" smtClean="0"/>
          </a:p>
        </p:txBody>
      </p:sp>
    </p:spTree>
    <p:extLst>
      <p:ext uri="{BB962C8B-B14F-4D97-AF65-F5344CB8AC3E}">
        <p14:creationId xmlns:p14="http://schemas.microsoft.com/office/powerpoint/2010/main" val="315462140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sz="2000"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pPr marL="0" indent="0">
              <a:buNone/>
            </a:pPr>
            <a:endParaRPr lang="en-CA" dirty="0" smtClean="0"/>
          </a:p>
          <a:p>
            <a:r>
              <a:rPr lang="en-CA" dirty="0" smtClean="0"/>
              <a:t>Copy converter 30~50 times slower</a:t>
            </a:r>
          </a:p>
        </p:txBody>
      </p:sp>
      <p:graphicFrame>
        <p:nvGraphicFramePr>
          <p:cNvPr id="7" name="Chart 6"/>
          <p:cNvGraphicFramePr>
            <a:graphicFrameLocks/>
          </p:cNvGraphicFramePr>
          <p:nvPr>
            <p:extLst>
              <p:ext uri="{D42A27DB-BD31-4B8C-83A1-F6EECF244321}">
                <p14:modId xmlns:p14="http://schemas.microsoft.com/office/powerpoint/2010/main" val="4066293275"/>
              </p:ext>
            </p:extLst>
          </p:nvPr>
        </p:nvGraphicFramePr>
        <p:xfrm>
          <a:off x="990600" y="2114550"/>
          <a:ext cx="6629400" cy="186928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369080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r>
              <a:rPr lang="en-CA" sz="1800" dirty="0" smtClean="0"/>
              <a:t>Supports a rich set of caching policies that require file-system specific information at the block layer</a:t>
            </a:r>
          </a:p>
          <a:p>
            <a:pPr lvl="1"/>
            <a:r>
              <a:rPr lang="en-CA" sz="1800" dirty="0" smtClean="0"/>
              <a:t>Cache file system metadata</a:t>
            </a:r>
          </a:p>
          <a:p>
            <a:pPr lvl="2"/>
            <a:r>
              <a:rPr lang="en-CA" sz="1600" dirty="0" smtClean="0"/>
              <a:t>Requires knowing whether a block is data or metadata</a:t>
            </a:r>
          </a:p>
          <a:p>
            <a:pPr lvl="1"/>
            <a:r>
              <a:rPr lang="en-CA" sz="1800" dirty="0" smtClean="0"/>
              <a:t>Cache small files, cache a specific user’s files</a:t>
            </a:r>
          </a:p>
          <a:p>
            <a:pPr lvl="2"/>
            <a:r>
              <a:rPr lang="en-CA" sz="1600" dirty="0" smtClean="0"/>
              <a:t>Requires knowing the file to which a block belongs, and the file’s size or owner</a:t>
            </a:r>
          </a:p>
          <a:p>
            <a:r>
              <a:rPr lang="en-CA" sz="1800" dirty="0" smtClean="0"/>
              <a:t>Requires no changes to the file system!</a:t>
            </a:r>
          </a:p>
          <a:p>
            <a:r>
              <a:rPr lang="en-CA" sz="1800" dirty="0" smtClean="0"/>
              <a:t>Identifies and interprets blocks as they are read or written</a:t>
            </a:r>
          </a:p>
          <a:p>
            <a:pPr lvl="1"/>
            <a:r>
              <a:rPr lang="en-CA" sz="1800" dirty="0" smtClean="0"/>
              <a:t>Identifies the types of blocks</a:t>
            </a:r>
          </a:p>
          <a:p>
            <a:pPr lvl="1"/>
            <a:r>
              <a:rPr lang="en-CA" sz="1800" dirty="0" smtClean="0"/>
              <a:t>Interprets their contents to extract file-system specific information</a:t>
            </a:r>
          </a:p>
          <a:p>
            <a:pPr lvl="1"/>
            <a:r>
              <a:rPr lang="en-CA" sz="1800" dirty="0" smtClean="0"/>
              <a:t>Requires little file-system specific code</a:t>
            </a:r>
          </a:p>
          <a:p>
            <a:endParaRPr lang="en-CA" sz="1800" dirty="0"/>
          </a:p>
        </p:txBody>
      </p:sp>
    </p:spTree>
    <p:extLst>
      <p:ext uri="{BB962C8B-B14F-4D97-AF65-F5344CB8AC3E}">
        <p14:creationId xmlns:p14="http://schemas.microsoft.com/office/powerpoint/2010/main" val="428854529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Runtime Verification for File Systems</a:t>
            </a:r>
            <a:endParaRPr lang="en-CA" dirty="0"/>
          </a:p>
        </p:txBody>
      </p:sp>
      <p:sp>
        <p:nvSpPr>
          <p:cNvPr id="3" name="Content Placeholder 2"/>
          <p:cNvSpPr>
            <a:spLocks noGrp="1"/>
          </p:cNvSpPr>
          <p:nvPr>
            <p:ph idx="1"/>
          </p:nvPr>
        </p:nvSpPr>
        <p:spPr/>
        <p:txBody>
          <a:bodyPr/>
          <a:lstStyle/>
          <a:p>
            <a:r>
              <a:rPr lang="en-CA" dirty="0" smtClean="0"/>
              <a:t>Verifies correctness of changes made to mounted file system</a:t>
            </a:r>
          </a:p>
          <a:p>
            <a:pPr lvl="1"/>
            <a:r>
              <a:rPr lang="en-CA" sz="2000" dirty="0" smtClean="0"/>
              <a:t>Stops corruption when consistency violation is detected</a:t>
            </a:r>
          </a:p>
          <a:p>
            <a:r>
              <a:rPr lang="en-CA" dirty="0" smtClean="0"/>
              <a:t>Implementation</a:t>
            </a:r>
          </a:p>
          <a:p>
            <a:pPr lvl="1"/>
            <a:r>
              <a:rPr lang="en-CA" sz="2000" dirty="0" smtClean="0"/>
              <a:t>Generates </a:t>
            </a:r>
            <a:r>
              <a:rPr lang="en-CA" sz="2000" dirty="0"/>
              <a:t>logical changes to a file system at block </a:t>
            </a:r>
            <a:r>
              <a:rPr lang="en-CA" sz="2000" dirty="0" smtClean="0"/>
              <a:t>layer</a:t>
            </a:r>
          </a:p>
          <a:p>
            <a:pPr lvl="1"/>
            <a:r>
              <a:rPr lang="en-CA" sz="2000" dirty="0"/>
              <a:t>Check changes against file-system specific consistency </a:t>
            </a:r>
            <a:r>
              <a:rPr lang="en-CA" sz="2000" dirty="0" smtClean="0"/>
              <a:t>rules</a:t>
            </a:r>
            <a:endParaRPr lang="en-CA" sz="2000" dirty="0"/>
          </a:p>
          <a:p>
            <a:pPr lvl="1"/>
            <a:r>
              <a:rPr lang="en-CA" dirty="0" smtClean="0"/>
              <a:t>Identifies and interprets blocks as they are read or written</a:t>
            </a:r>
          </a:p>
          <a:p>
            <a:pPr lvl="1"/>
            <a:r>
              <a:rPr lang="en-CA" dirty="0" smtClean="0"/>
              <a:t>At commit time, compare old and new versions of a block</a:t>
            </a:r>
          </a:p>
          <a:p>
            <a:pPr lvl="1"/>
            <a:r>
              <a:rPr lang="en-CA" dirty="0" smtClean="0"/>
              <a:t>Ext4 manual differencing: 2099 lines of code</a:t>
            </a:r>
          </a:p>
          <a:p>
            <a:pPr lvl="1"/>
            <a:r>
              <a:rPr lang="en-CA" dirty="0" smtClean="0"/>
              <a:t>Ext4 Spiffy differencing: 1059 lines of code</a:t>
            </a:r>
          </a:p>
          <a:p>
            <a:pPr lvl="2"/>
            <a:endParaRPr lang="en-CA" dirty="0"/>
          </a:p>
          <a:p>
            <a:endParaRPr lang="en-CA" dirty="0" smtClean="0"/>
          </a:p>
          <a:p>
            <a:endParaRPr lang="en-CA" dirty="0" smtClean="0"/>
          </a:p>
          <a:p>
            <a:endParaRPr lang="en-CA" dirty="0" smtClean="0"/>
          </a:p>
          <a:p>
            <a:endParaRPr lang="en-CA" dirty="0"/>
          </a:p>
        </p:txBody>
      </p:sp>
    </p:spTree>
    <p:extLst>
      <p:ext uri="{BB962C8B-B14F-4D97-AF65-F5344CB8AC3E}">
        <p14:creationId xmlns:p14="http://schemas.microsoft.com/office/powerpoint/2010/main" val="3617745342"/>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Demo of Spiffy Applications</a:t>
            </a:r>
            <a:endParaRPr lang="en-CA" dirty="0"/>
          </a:p>
        </p:txBody>
      </p:sp>
      <p:sp>
        <p:nvSpPr>
          <p:cNvPr id="3" name="Content Placeholder 2"/>
          <p:cNvSpPr>
            <a:spLocks noGrp="1"/>
          </p:cNvSpPr>
          <p:nvPr>
            <p:ph idx="1"/>
          </p:nvPr>
        </p:nvSpPr>
        <p:spPr/>
        <p:txBody>
          <a:bodyPr/>
          <a:lstStyle/>
          <a:p>
            <a:r>
              <a:rPr lang="en-CA" dirty="0"/>
              <a:t>Type-Specific File System Corruptor</a:t>
            </a:r>
          </a:p>
          <a:p>
            <a:r>
              <a:rPr lang="en-CA" dirty="0" smtClean="0"/>
              <a:t>File System Dump Tool</a:t>
            </a:r>
          </a:p>
          <a:p>
            <a:r>
              <a:rPr lang="en-CA" dirty="0"/>
              <a:t>Runtime Verification for File Systems</a:t>
            </a:r>
          </a:p>
          <a:p>
            <a:endParaRPr lang="en-CA" dirty="0"/>
          </a:p>
        </p:txBody>
      </p:sp>
    </p:spTree>
    <p:extLst>
      <p:ext uri="{BB962C8B-B14F-4D97-AF65-F5344CB8AC3E}">
        <p14:creationId xmlns:p14="http://schemas.microsoft.com/office/powerpoint/2010/main" val="301302035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sz="2000" dirty="0" smtClean="0"/>
              <a:t>Annotation language for specifying file system format</a:t>
            </a:r>
          </a:p>
          <a:p>
            <a:pPr lvl="1"/>
            <a:r>
              <a:rPr lang="en-CA" sz="2000" dirty="0" smtClean="0"/>
              <a:t>Enables generating a library for traversing file system metadata</a:t>
            </a:r>
          </a:p>
          <a:p>
            <a:r>
              <a:rPr lang="en-CA" dirty="0" smtClean="0"/>
              <a:t>Simplifies development of file-system aware applications</a:t>
            </a:r>
          </a:p>
          <a:p>
            <a:pPr lvl="1"/>
            <a:r>
              <a:rPr lang="en-CA" sz="2000" dirty="0" smtClean="0"/>
              <a:t>Reduces file-system specific code</a:t>
            </a:r>
          </a:p>
          <a:p>
            <a:pPr lvl="1"/>
            <a:r>
              <a:rPr lang="en-CA" sz="2000" dirty="0" smtClean="0"/>
              <a:t>Enables code reuse across file systems</a:t>
            </a:r>
          </a:p>
          <a:p>
            <a:r>
              <a:rPr lang="en-CA" dirty="0" smtClean="0"/>
              <a:t>Enables writing robust applications</a:t>
            </a:r>
          </a:p>
          <a:p>
            <a:pPr lvl="1"/>
            <a:r>
              <a:rPr lang="en-CA" sz="2000" dirty="0" smtClean="0"/>
              <a:t>Provides type-safe parsing and serialization of metadata</a:t>
            </a:r>
          </a:p>
          <a:p>
            <a:pPr lvl="1"/>
            <a:r>
              <a:rPr lang="en-CA" sz="2000" dirty="0" smtClean="0"/>
              <a:t>Helps detect file system corruption</a:t>
            </a:r>
          </a:p>
          <a:p>
            <a:endParaRPr lang="en-CA" dirty="0"/>
          </a:p>
        </p:txBody>
      </p:sp>
    </p:spTree>
    <p:extLst>
      <p:ext uri="{BB962C8B-B14F-4D97-AF65-F5344CB8AC3E}">
        <p14:creationId xmlns:p14="http://schemas.microsoft.com/office/powerpoint/2010/main" val="203075295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extLst>
      <p:ext uri="{BB962C8B-B14F-4D97-AF65-F5344CB8AC3E}">
        <p14:creationId xmlns:p14="http://schemas.microsoft.com/office/powerpoint/2010/main" val="131640782"/>
      </p:ext>
    </p:extLst>
  </p:cSld>
  <p:clrMapOvr>
    <a:masterClrMapping/>
  </p:clrMapOvr>
  <p:timing>
    <p:tnLst>
      <p:par>
        <p:cTn id="1" dur="indefinite" restart="never" nodeType="tmRoot"/>
      </p:par>
    </p:tnLst>
  </p:timing>
</p:sld>
</file>

<file path=ppt/theme/theme1.xml><?xml version="1.0" encoding="utf-8"?>
<a:theme xmlns:a="http://schemas.openxmlformats.org/drawingml/2006/main" name="SDC2015_ppt_template">
  <a:themeElements>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DC_Slides_08_Template_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DC_Slides_08_Template_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DC_Slides_08_Template_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DC_Slides_08_Template_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DC_Slides_08_Template_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DC_Slides_08_Template_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DC_Slides_08_Template_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DC_Slides_08_Template_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DC_Slides_08_Template_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DC_Slides_08_Template_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DC_Slides_08_Template_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SDC2015_ppt_template</Template>
  <TotalTime>13252</TotalTime>
  <Words>6985</Words>
  <Application>Microsoft Office PowerPoint</Application>
  <PresentationFormat>On-screen Show (16:9)</PresentationFormat>
  <Paragraphs>742</Paragraphs>
  <Slides>46</Slides>
  <Notes>45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46</vt:i4>
      </vt:variant>
    </vt:vector>
  </HeadingPairs>
  <TitlesOfParts>
    <vt:vector size="54" baseType="lpstr">
      <vt:lpstr>Gill Sans MT</vt:lpstr>
      <vt:lpstr>微軟正黑體</vt:lpstr>
      <vt:lpstr>Arial</vt:lpstr>
      <vt:lpstr>Calibri</vt:lpstr>
      <vt:lpstr>Courier New</vt:lpstr>
      <vt:lpstr>Wingdings</vt:lpstr>
      <vt:lpstr>Wingdings 3</vt:lpstr>
      <vt:lpstr>SDC2015_ppt_template</vt:lpstr>
      <vt:lpstr>Spiffy: Enabling File-System Aware Storage Applications</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Super Block</vt:lpstr>
      <vt:lpstr>Missing Pointer</vt:lpstr>
      <vt:lpstr>Implicit Pointer</vt:lpstr>
      <vt:lpstr>Context-Sensitive Types</vt:lpstr>
      <vt:lpstr>Vector Types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API (C++)</vt:lpstr>
      <vt:lpstr>File-System Agnostic Traversal</vt:lpstr>
      <vt:lpstr>File-System Agnostic Traversal</vt:lpstr>
      <vt:lpstr>File-System Agnostic Traversal</vt:lpstr>
      <vt:lpstr>File-System Agnostic Traversal</vt:lpstr>
      <vt:lpstr>Spiffy Applications</vt:lpstr>
      <vt:lpstr>Type-Specific File System Corruptor</vt:lpstr>
      <vt:lpstr>File System Conversion Tool</vt:lpstr>
      <vt:lpstr>Evaluation: Ext4 to F2FS Converter</vt:lpstr>
      <vt:lpstr>File-system Aware Block Layer Cache</vt:lpstr>
      <vt:lpstr>Runtime Verification for File Systems</vt:lpstr>
      <vt:lpstr>Demo of Spiffy Applications</vt:lpstr>
      <vt:lpstr>Conclusion</vt:lpstr>
      <vt:lpstr>Spiffy: Enabling File-System Aware Storage Applications</vt:lpstr>
    </vt:vector>
  </TitlesOfParts>
  <Company>Microsoft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Presentation</dc:title>
  <dc:creator>khauser</dc:creator>
  <cp:lastModifiedBy>Jack Sun</cp:lastModifiedBy>
  <cp:revision>68</cp:revision>
  <dcterms:created xsi:type="dcterms:W3CDTF">2016-06-02T15:35:50Z</dcterms:created>
  <dcterms:modified xsi:type="dcterms:W3CDTF">2018-09-21T07:24:04Z</dcterms:modified>
</cp:coreProperties>
</file>