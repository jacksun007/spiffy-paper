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4"/>
  </p:notesMasterIdLst>
  <p:handoutMasterIdLst>
    <p:handoutMasterId r:id="rId6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14" r:id="rId14"/>
    <p:sldId id="315" r:id="rId15"/>
    <p:sldId id="268" r:id="rId16"/>
    <p:sldId id="269" r:id="rId17"/>
    <p:sldId id="270" r:id="rId18"/>
    <p:sldId id="271" r:id="rId19"/>
    <p:sldId id="311" r:id="rId20"/>
    <p:sldId id="316" r:id="rId21"/>
    <p:sldId id="317" r:id="rId22"/>
    <p:sldId id="318" r:id="rId23"/>
    <p:sldId id="274" r:id="rId24"/>
    <p:sldId id="319" r:id="rId25"/>
    <p:sldId id="320" r:id="rId26"/>
    <p:sldId id="272" r:id="rId27"/>
    <p:sldId id="273" r:id="rId28"/>
    <p:sldId id="321" r:id="rId29"/>
    <p:sldId id="327" r:id="rId30"/>
    <p:sldId id="326" r:id="rId31"/>
    <p:sldId id="328" r:id="rId32"/>
    <p:sldId id="329" r:id="rId33"/>
    <p:sldId id="330" r:id="rId34"/>
    <p:sldId id="275" r:id="rId35"/>
    <p:sldId id="331" r:id="rId36"/>
    <p:sldId id="332"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333" r:id="rId50"/>
    <p:sldId id="334" r:id="rId51"/>
    <p:sldId id="335" r:id="rId52"/>
    <p:sldId id="325" r:id="rId53"/>
    <p:sldId id="322" r:id="rId54"/>
    <p:sldId id="288" r:id="rId55"/>
    <p:sldId id="289" r:id="rId56"/>
    <p:sldId id="290" r:id="rId57"/>
    <p:sldId id="312" r:id="rId58"/>
    <p:sldId id="303" r:id="rId59"/>
    <p:sldId id="291" r:id="rId60"/>
    <p:sldId id="313" r:id="rId61"/>
    <p:sldId id="305" r:id="rId62"/>
    <p:sldId id="306" r:id="rId63"/>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65507" autoAdjust="0"/>
  </p:normalViewPr>
  <p:slideViewPr>
    <p:cSldViewPr>
      <p:cViewPr varScale="1">
        <p:scale>
          <a:sx n="96" d="100"/>
          <a:sy n="96" d="100"/>
        </p:scale>
        <p:origin x="1236" y="54"/>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1096160352"/>
        <c:axId val="-1096150016"/>
      </c:lineChart>
      <c:catAx>
        <c:axId val="-1096160352"/>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1096150016"/>
        <c:crosses val="autoZero"/>
        <c:auto val="0"/>
        <c:lblAlgn val="ctr"/>
        <c:lblOffset val="100"/>
        <c:noMultiLvlLbl val="0"/>
      </c:catAx>
      <c:valAx>
        <c:axId val="-1096150016"/>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1096160352"/>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9/26/2018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9/26/2018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File-system aware applications are those applications that work </a:t>
            </a:r>
            <a:r>
              <a:rPr lang="en-CA" dirty="0" smtClean="0"/>
              <a:t>with file system metadata.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bypass the VFS layer and o</a:t>
            </a:r>
            <a:r>
              <a:rPr lang="en-CA" dirty="0" smtClean="0"/>
              <a:t>perate directly on file system metadata structures on</a:t>
            </a:r>
            <a:r>
              <a:rPr lang="en-CA" baseline="0" dirty="0" smtClean="0"/>
              <a:t> disk.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a:t>
            </a:r>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Here we add an FSSTRUCT annotation to </a:t>
            </a:r>
            <a:r>
              <a:rPr lang="en-CA" baseline="0" dirty="0" err="1" smtClean="0"/>
              <a:t>struct</a:t>
            </a:r>
            <a:r>
              <a:rPr lang="en-CA" baseline="0" dirty="0" smtClean="0"/>
              <a:t> foo to indicate that it is an on-disk metadata structure. </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39236447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Then, we add a pointer annotation right above a </a:t>
            </a:r>
            <a:r>
              <a:rPr lang="en-US" dirty="0" smtClean="0"/>
              <a:t>data structure field, such as the</a:t>
            </a:r>
            <a:r>
              <a:rPr lang="en-US" baseline="0" dirty="0" smtClean="0"/>
              <a:t> </a:t>
            </a:r>
            <a:r>
              <a:rPr lang="en-US" baseline="0" dirty="0" err="1" smtClean="0"/>
              <a:t>bar_block_ptr</a:t>
            </a:r>
            <a:r>
              <a:rPr lang="en-US" baseline="0" dirty="0" smtClean="0"/>
              <a:t> field shown here,</a:t>
            </a:r>
            <a:r>
              <a:rPr lang="en-US" dirty="0" smtClean="0"/>
              <a:t> to specify that the</a:t>
            </a:r>
            <a:r>
              <a:rPr lang="en-US" baseline="0" dirty="0" smtClean="0"/>
              <a:t> field</a:t>
            </a:r>
            <a:r>
              <a:rPr lang="en-US" dirty="0" smtClean="0"/>
              <a:t> holds an address to a location on physical storage. Here,</a:t>
            </a:r>
            <a:r>
              <a:rPr lang="en-US" baseline="0" dirty="0" smtClean="0"/>
              <a:t> this pointer annotation specifies that the value contained in the </a:t>
            </a:r>
            <a:r>
              <a:rPr lang="en-CA" baseline="0" dirty="0" err="1" smtClean="0"/>
              <a:t>bar_block_ptr</a:t>
            </a:r>
            <a:r>
              <a:rPr lang="en-CA" baseline="0" dirty="0" smtClean="0"/>
              <a:t> field is the address of a block whose type is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14</a:t>
            </a:fld>
            <a:endParaRPr lang="en-CA"/>
          </a:p>
        </p:txBody>
      </p:sp>
    </p:spTree>
    <p:extLst>
      <p:ext uri="{BB962C8B-B14F-4D97-AF65-F5344CB8AC3E}">
        <p14:creationId xmlns:p14="http://schemas.microsoft.com/office/powerpoint/2010/main" val="39501074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 For example, in Ext4, from the super block, we can reach the ext4 journal and the block group descriptor table. In the descriptor table, each block group descriptor holds pointers to their block bitmap, </a:t>
            </a:r>
            <a:r>
              <a:rPr lang="en-CA" baseline="0" dirty="0" err="1" smtClean="0"/>
              <a:t>inode</a:t>
            </a:r>
            <a:r>
              <a:rPr lang="en-CA" baseline="0" dirty="0" smtClean="0"/>
              <a:t> bitmap, and </a:t>
            </a:r>
            <a:r>
              <a:rPr lang="en-CA" baseline="0" dirty="0" err="1" smtClean="0"/>
              <a:t>inode</a:t>
            </a:r>
            <a:r>
              <a:rPr lang="en-CA" baseline="0" dirty="0" smtClean="0"/>
              <a:t> table. Each </a:t>
            </a:r>
            <a:r>
              <a:rPr lang="en-CA" baseline="0" dirty="0" err="1" smtClean="0"/>
              <a:t>inode</a:t>
            </a:r>
            <a:r>
              <a:rPr lang="en-CA" baseline="0" dirty="0" smtClean="0"/>
              <a:t> structure in the </a:t>
            </a:r>
            <a:r>
              <a:rPr lang="en-CA" baseline="0" dirty="0" err="1" smtClean="0"/>
              <a:t>inode</a:t>
            </a:r>
            <a:r>
              <a:rPr lang="en-CA" baseline="0" dirty="0" smtClean="0"/>
              <a:t> table also points to data blocks or directory blocks, depending on whether it is a regular file or a directory. </a:t>
            </a:r>
            <a:r>
              <a:rPr lang="en-CA" baseline="0" dirty="0" err="1" smtClean="0"/>
              <a:t>Inode</a:t>
            </a:r>
            <a:r>
              <a:rPr lang="en-CA" baseline="0" dirty="0" smtClean="0"/>
              <a:t> structures can also hold pointers to indirect blocks to support large files and directories.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main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and file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16</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CA" dirty="0" smtClean="0"/>
              <a:t>Traversal</a:t>
            </a:r>
            <a:r>
              <a:rPr lang="en-CA" baseline="0" dirty="0" smtClean="0"/>
              <a:t> of every file system begins with the super block. Therefore, a special annotation named FSSUPER is used to distinguish the super block from other file system metadata. File system super blocks are always located in fixed known byte offset on disk. Therefore, we specify this information using the location argument.</a:t>
            </a:r>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which is annotated with FSSUPER. The location argument specifies that the super block is one kilobyte away from the beginning of the partition.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419921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explained previously, the </a:t>
            </a:r>
            <a:r>
              <a:rPr lang="en-CA" baseline="0" dirty="0" err="1" smtClean="0"/>
              <a:t>s_journal_inum</a:t>
            </a:r>
            <a:r>
              <a:rPr lang="en-CA" baseline="0" dirty="0" smtClean="0"/>
              <a:t> is a pointer in the file address space that points to the ext4_journal type.</a:t>
            </a:r>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3834269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One</a:t>
            </a:r>
            <a:r>
              <a:rPr lang="en-CA" baseline="0" dirty="0" smtClean="0"/>
              <a:t> of the challenges with annotating data structures is that </a:t>
            </a:r>
            <a:r>
              <a:rPr lang="en-CA" dirty="0" smtClean="0"/>
              <a:t>a field may refer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85111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there are two pointer annotation to the same </a:t>
            </a:r>
            <a:r>
              <a:rPr lang="en-CA" baseline="0" dirty="0" err="1" smtClean="0"/>
              <a:t>i_block</a:t>
            </a:r>
            <a:r>
              <a:rPr lang="en-CA" baseline="0" dirty="0" smtClean="0"/>
              <a:t> array.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5180068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2499918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and evaluates the expression at runtime to assign this implicit pointer field a value of 2 or 1 depending the block size of the file system. Now, this field name can be used to traverse the file system from the super block to the block group descriptor tables.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12985385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Spiffy provides support for vector types through the VECTOR annotation</a:t>
            </a:r>
            <a:r>
              <a:rPr lang="en-CA" baseline="0" dirty="0" smtClean="0"/>
              <a:t>. A vector contains a sequence of elements of the same type. The size of the vector can be specified in three ways. One, the number of elements in the vector. Two, a sentinel value, and three, the total vector size.</a:t>
            </a:r>
            <a:endParaRPr lang="en-CA" baseline="0" dirty="0" smtClean="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29</a:t>
            </a:fld>
            <a:endParaRPr lang="en-US"/>
          </a:p>
        </p:txBody>
      </p:sp>
    </p:spTree>
    <p:extLst>
      <p:ext uri="{BB962C8B-B14F-4D97-AF65-F5344CB8AC3E}">
        <p14:creationId xmlns:p14="http://schemas.microsoft.com/office/powerpoint/2010/main" val="37198341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In this example, we show a vector with a fixed number of elements. The </a:t>
            </a:r>
            <a:r>
              <a:rPr lang="en-CA" baseline="0" dirty="0" err="1" smtClean="0"/>
              <a:t>inode</a:t>
            </a:r>
            <a:r>
              <a:rPr lang="en-CA" baseline="0" dirty="0" smtClean="0"/>
              <a:t> block is a vector of elements of type ext4_inode. The number of elements in this vector depends on the block size of the file system as well as the size of the </a:t>
            </a:r>
            <a:r>
              <a:rPr lang="en-CA" baseline="0" dirty="0" err="1" smtClean="0"/>
              <a:t>inode</a:t>
            </a:r>
            <a:r>
              <a:rPr lang="en-CA" baseline="0" dirty="0" smtClean="0"/>
              <a:t> structure, which is specified in a field in the super block named </a:t>
            </a:r>
            <a:r>
              <a:rPr lang="en-CA" baseline="0" dirty="0" err="1" smtClean="0"/>
              <a:t>s_inode_size</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30</a:t>
            </a:fld>
            <a:endParaRPr lang="en-US"/>
          </a:p>
        </p:txBody>
      </p:sp>
    </p:spTree>
    <p:extLst>
      <p:ext uri="{BB962C8B-B14F-4D97-AF65-F5344CB8AC3E}">
        <p14:creationId xmlns:p14="http://schemas.microsoft.com/office/powerpoint/2010/main" val="34400217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When </a:t>
            </a:r>
            <a:r>
              <a:rPr lang="en-CA" baseline="0" dirty="0" smtClean="0"/>
              <a:t>the elements are variable sized, we can specify the total size of the </a:t>
            </a:r>
            <a:r>
              <a:rPr lang="en-CA" baseline="0" dirty="0" smtClean="0"/>
              <a:t>vector.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31</a:t>
            </a:fld>
            <a:endParaRPr lang="en-US"/>
          </a:p>
        </p:txBody>
      </p:sp>
    </p:spTree>
    <p:extLst>
      <p:ext uri="{BB962C8B-B14F-4D97-AF65-F5344CB8AC3E}">
        <p14:creationId xmlns:p14="http://schemas.microsoft.com/office/powerpoint/2010/main" val="3508670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For </a:t>
            </a:r>
            <a:r>
              <a:rPr lang="en-CA" baseline="0" dirty="0" smtClean="0"/>
              <a:t>example, the directory indirect pointer structure has a single field called </a:t>
            </a:r>
            <a:r>
              <a:rPr lang="en-CA" baseline="0" dirty="0" err="1" smtClean="0"/>
              <a:t>ind_block_nr</a:t>
            </a:r>
            <a:r>
              <a:rPr lang="en-CA" baseline="0" dirty="0" smtClean="0"/>
              <a:t> </a:t>
            </a:r>
            <a:r>
              <a:rPr lang="en-CA" baseline="0" dirty="0" smtClean="0"/>
              <a:t>that </a:t>
            </a:r>
            <a:r>
              <a:rPr lang="en-CA" baseline="0" dirty="0" smtClean="0"/>
              <a:t>points to a directory </a:t>
            </a:r>
            <a:r>
              <a:rPr lang="en-CA" baseline="0" dirty="0" smtClean="0"/>
              <a:t>block.</a:t>
            </a:r>
            <a:endParaRPr lang="en-CA" baseline="0" dirty="0" smtClean="0"/>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32</a:t>
            </a:fld>
            <a:endParaRPr lang="en-US"/>
          </a:p>
        </p:txBody>
      </p:sp>
    </p:spTree>
    <p:extLst>
      <p:ext uri="{BB962C8B-B14F-4D97-AF65-F5344CB8AC3E}">
        <p14:creationId xmlns:p14="http://schemas.microsoft.com/office/powerpoint/2010/main" val="11494647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This </a:t>
            </a:r>
            <a:r>
              <a:rPr lang="en-CA" baseline="0" dirty="0" smtClean="0"/>
              <a:t>directory block is a vector of elements of type </a:t>
            </a:r>
            <a:r>
              <a:rPr lang="en-CA" baseline="0" dirty="0" smtClean="0"/>
              <a:t>ext4_dir_entry. We </a:t>
            </a:r>
            <a:r>
              <a:rPr lang="en-CA" baseline="0" dirty="0" smtClean="0"/>
              <a:t>don’t show the </a:t>
            </a:r>
            <a:r>
              <a:rPr lang="en-CA" baseline="0" dirty="0" err="1" smtClean="0"/>
              <a:t>the</a:t>
            </a:r>
            <a:r>
              <a:rPr lang="en-CA" baseline="0" dirty="0" smtClean="0"/>
              <a:t> ext4 directory entries here, but they are variables sized structures, and so we specify the total size of the </a:t>
            </a:r>
            <a:r>
              <a:rPr lang="en-CA" baseline="0" dirty="0" err="1" smtClean="0"/>
              <a:t>dir_block</a:t>
            </a:r>
            <a:r>
              <a:rPr lang="en-CA" baseline="0" dirty="0" smtClean="0"/>
              <a:t> vector as BLOCK_SIZE.</a:t>
            </a:r>
          </a:p>
          <a:p>
            <a:endParaRPr lang="en-CA" baseline="0" dirty="0" smtClean="0"/>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33</a:t>
            </a:fld>
            <a:endParaRPr lang="en-US"/>
          </a:p>
        </p:txBody>
      </p:sp>
    </p:spTree>
    <p:extLst>
      <p:ext uri="{BB962C8B-B14F-4D97-AF65-F5344CB8AC3E}">
        <p14:creationId xmlns:p14="http://schemas.microsoft.com/office/powerpoint/2010/main" val="30958186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a:t>
            </a:r>
            <a:r>
              <a:rPr lang="en-CA" baseline="0" dirty="0" smtClean="0"/>
              <a:t>runtime</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 </a:t>
            </a:r>
            <a:r>
              <a:rPr lang="en-CA" baseline="0" dirty="0" smtClean="0"/>
              <a:t>the top example, we specify that the block size must be at most 64KB, and the magic field of the super block must be the Ext4 magic number</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41894573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a:t>
            </a:r>
            <a:r>
              <a:rPr lang="en-CA" baseline="0" dirty="0" smtClean="0"/>
              <a:t>bottom example shows a fragment of the generated parsing code for the Ext4 super block. This example shows how check annotations are implemented. highlight. These checks help detect metadata </a:t>
            </a:r>
            <a:r>
              <a:rPr lang="en-CA" baseline="0" dirty="0" smtClean="0"/>
              <a:t>corruptions.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41880733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41</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43</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44</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45</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a:t>
            </a:r>
            <a:r>
              <a:rPr lang="en-CA" baseline="0" dirty="0" smtClean="0"/>
              <a:t>Spiffy. Spiffy </a:t>
            </a:r>
            <a:r>
              <a:rPr lang="en-CA" baseline="0" dirty="0" smtClean="0"/>
              <a:t>applications are file-system specific while operating at the block </a:t>
            </a:r>
            <a:r>
              <a:rPr lang="en-CA" baseline="0" dirty="0" smtClean="0"/>
              <a:t>level. They </a:t>
            </a:r>
            <a:r>
              <a:rPr lang="en-CA" baseline="0" dirty="0" smtClean="0"/>
              <a:t>can read or modify the file system </a:t>
            </a:r>
            <a:r>
              <a:rPr lang="en-CA" baseline="0" dirty="0" smtClean="0"/>
              <a:t>image. On the first row of the table are offline </a:t>
            </a:r>
            <a:r>
              <a:rPr lang="en-CA" baseline="0" dirty="0" smtClean="0"/>
              <a:t>applications </a:t>
            </a:r>
            <a:r>
              <a:rPr lang="en-CA" baseline="0" dirty="0" smtClean="0"/>
              <a:t>which operate while </a:t>
            </a:r>
            <a:r>
              <a:rPr lang="en-CA" baseline="0" dirty="0" smtClean="0"/>
              <a:t>the file system is </a:t>
            </a:r>
            <a:r>
              <a:rPr lang="en-CA" baseline="0" dirty="0" smtClean="0"/>
              <a:t>not </a:t>
            </a:r>
            <a:r>
              <a:rPr lang="en-CA" baseline="0" dirty="0" smtClean="0"/>
              <a:t>in </a:t>
            </a:r>
            <a:r>
              <a:rPr lang="en-CA" baseline="0" dirty="0" smtClean="0"/>
              <a:t>use. </a:t>
            </a:r>
            <a:r>
              <a:rPr lang="en-CA" baseline="0" dirty="0" smtClean="0"/>
              <a:t>In this case, these applications are written in user space.</a:t>
            </a:r>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On the second row of the table are online applications that operate </a:t>
            </a:r>
            <a:r>
              <a:rPr lang="en-CA" baseline="0" dirty="0" smtClean="0"/>
              <a:t>while the file system is </a:t>
            </a:r>
            <a:r>
              <a:rPr lang="en-CA" baseline="0" dirty="0" smtClean="0"/>
              <a:t>mounted, or in use. </a:t>
            </a:r>
            <a:r>
              <a:rPr lang="en-CA" baseline="0" dirty="0" smtClean="0"/>
              <a:t>In this case, the applications are written in the block layer of the kernel, and they allow interpreting file system specific metadata, without requiring any changes to the file system code.</a:t>
            </a:r>
          </a:p>
        </p:txBody>
      </p:sp>
      <p:sp>
        <p:nvSpPr>
          <p:cNvPr id="4" name="Slide Number Placeholder 3"/>
          <p:cNvSpPr>
            <a:spLocks noGrp="1"/>
          </p:cNvSpPr>
          <p:nvPr>
            <p:ph type="sldNum" sz="quarter" idx="10"/>
          </p:nvPr>
        </p:nvSpPr>
        <p:spPr/>
        <p:txBody>
          <a:bodyPr/>
          <a:lstStyle/>
          <a:p>
            <a:fld id="{849A0A36-F84D-437B-B821-CB3EBADC1433}" type="slidenum">
              <a:rPr lang="en-CA" smtClean="0"/>
              <a:t>47</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file system dump tool helps debug file system implementation. </a:t>
            </a:r>
            <a:r>
              <a:rPr lang="en-CA" sz="1200" b="0" i="0" u="none" strike="noStrike" kern="1200" baseline="0" dirty="0" smtClean="0">
                <a:solidFill>
                  <a:schemeClr val="tx1"/>
                </a:solidFill>
                <a:latin typeface="+mn-lt"/>
                <a:ea typeface="+mn-ea"/>
                <a:cs typeface="+mn-cs"/>
              </a:rPr>
              <a:t>Our </a:t>
            </a:r>
            <a:r>
              <a:rPr lang="en-CA" sz="1200" b="0" i="0" u="none" strike="noStrike" kern="1200" baseline="0" dirty="0" smtClean="0">
                <a:solidFill>
                  <a:schemeClr val="tx1"/>
                </a:solidFill>
                <a:latin typeface="+mn-lt"/>
                <a:ea typeface="+mn-ea"/>
                <a:cs typeface="+mn-cs"/>
              </a:rPr>
              <a:t>Spiffy tool is a generic tool that works on all annotated file systems. It parses all the metadata in a file system image and exports the result in an XML format, using a variant of the generic file system traversal code shown here. </a:t>
            </a:r>
          </a:p>
          <a:p>
            <a:r>
              <a:rPr lang="en-CA" baseline="0" dirty="0" smtClean="0"/>
              <a:t>The </a:t>
            </a:r>
            <a:r>
              <a:rPr lang="en-CA" baseline="0" dirty="0" smtClean="0"/>
              <a:t>code uses two </a:t>
            </a:r>
            <a:r>
              <a:rPr lang="en-CA" baseline="0" dirty="0" smtClean="0"/>
              <a:t>mutually recursive functions.</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48</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first function</a:t>
            </a:r>
            <a:r>
              <a:rPr lang="en-CA" baseline="0" dirty="0" smtClean="0"/>
              <a:t> processes a file-system metadata block and traverses </a:t>
            </a:r>
            <a:r>
              <a:rPr lang="en-CA" baseline="0" dirty="0" smtClean="0"/>
              <a:t>the pointers contained </a:t>
            </a:r>
            <a:r>
              <a:rPr lang="en-CA" baseline="0" dirty="0" smtClean="0"/>
              <a:t>in the block.</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49</a:t>
            </a:fld>
            <a:endParaRPr lang="en-CA"/>
          </a:p>
        </p:txBody>
      </p:sp>
    </p:spTree>
    <p:extLst>
      <p:ext uri="{BB962C8B-B14F-4D97-AF65-F5344CB8AC3E}">
        <p14:creationId xmlns:p14="http://schemas.microsoft.com/office/powerpoint/2010/main" val="18624144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other function retrieves and parses the pointed-to blocks. These blocks are then passed to the first function, which allows traversing the entire file system. </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50</a:t>
            </a:fld>
            <a:endParaRPr lang="en-CA"/>
          </a:p>
        </p:txBody>
      </p:sp>
    </p:spTree>
    <p:extLst>
      <p:ext uri="{BB962C8B-B14F-4D97-AF65-F5344CB8AC3E}">
        <p14:creationId xmlns:p14="http://schemas.microsoft.com/office/powerpoint/2010/main" val="38570118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main function is the only file system specific code that needs to be written. The rest of the code is completely generic.</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51</a:t>
            </a:fld>
            <a:endParaRPr lang="en-CA"/>
          </a:p>
        </p:txBody>
      </p:sp>
    </p:spTree>
    <p:extLst>
      <p:ext uri="{BB962C8B-B14F-4D97-AF65-F5344CB8AC3E}">
        <p14:creationId xmlns:p14="http://schemas.microsoft.com/office/powerpoint/2010/main" val="11557939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Since some file system metadata may not be of interest, the dump tool </a:t>
            </a:r>
            <a:r>
              <a:rPr lang="en-CA" sz="1200" b="0" i="0" u="none" strike="noStrike" kern="1200" baseline="0" dirty="0" smtClean="0">
                <a:solidFill>
                  <a:schemeClr val="tx1"/>
                </a:solidFill>
                <a:latin typeface="+mn-lt"/>
                <a:ea typeface="+mn-ea"/>
                <a:cs typeface="+mn-cs"/>
              </a:rPr>
              <a:t>also provides </a:t>
            </a:r>
            <a:r>
              <a:rPr lang="en-CA" sz="1200" b="0" i="0" u="none" strike="noStrike" kern="1200" baseline="0" dirty="0" smtClean="0">
                <a:solidFill>
                  <a:schemeClr val="tx1"/>
                </a:solidFill>
                <a:latin typeface="+mn-lt"/>
                <a:ea typeface="+mn-ea"/>
                <a:cs typeface="+mn-cs"/>
              </a:rPr>
              <a:t>APIs to help filter out irrelevant or unimportant fields or structures. For example, the Ext4 dump tool does not export unallocated </a:t>
            </a:r>
            <a:r>
              <a:rPr lang="en-CA" sz="1200" b="0" i="0" u="none" strike="noStrike" kern="1200" baseline="0" dirty="0" err="1" smtClean="0">
                <a:solidFill>
                  <a:schemeClr val="tx1"/>
                </a:solidFill>
                <a:latin typeface="+mn-lt"/>
                <a:ea typeface="+mn-ea"/>
                <a:cs typeface="+mn-cs"/>
              </a:rPr>
              <a:t>inode</a:t>
            </a:r>
            <a:r>
              <a:rPr lang="en-CA" sz="1200" b="0" i="0" u="none" strike="noStrike" kern="1200" baseline="0" dirty="0" smtClean="0">
                <a:solidFill>
                  <a:schemeClr val="tx1"/>
                </a:solidFill>
                <a:latin typeface="+mn-lt"/>
                <a:ea typeface="+mn-ea"/>
                <a:cs typeface="+mn-cs"/>
              </a:rPr>
              <a:t> structures to </a:t>
            </a:r>
            <a:r>
              <a:rPr lang="en-CA" sz="1200" b="0" i="0" u="none" strike="noStrike" kern="1200" baseline="0" dirty="0" smtClean="0">
                <a:solidFill>
                  <a:schemeClr val="tx1"/>
                </a:solidFill>
                <a:latin typeface="+mn-lt"/>
                <a:ea typeface="+mn-ea"/>
                <a:cs typeface="+mn-cs"/>
              </a:rPr>
              <a:t>XML. </a:t>
            </a:r>
            <a:r>
              <a:rPr lang="en-CA" baseline="0" dirty="0" smtClean="0"/>
              <a:t>This </a:t>
            </a:r>
            <a:r>
              <a:rPr lang="en-CA" baseline="0" dirty="0" smtClean="0"/>
              <a:t>tool has 482 lines of generic code, and about 30 to 60 lines of file-system specific bootstrap code for each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52</a:t>
            </a:fld>
            <a:endParaRPr lang="en-CA"/>
          </a:p>
        </p:txBody>
      </p:sp>
    </p:spTree>
    <p:extLst>
      <p:ext uri="{BB962C8B-B14F-4D97-AF65-F5344CB8AC3E}">
        <p14:creationId xmlns:p14="http://schemas.microsoft.com/office/powerpoint/2010/main" val="4828716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file-system corruptor enables us to test the robustness of file systems and file-system tools by helping check that they are able to correctly handle file system </a:t>
            </a:r>
            <a:r>
              <a:rPr lang="en-CA" baseline="0" dirty="0" smtClean="0"/>
              <a:t>corruption. The </a:t>
            </a:r>
            <a:r>
              <a:rPr lang="en-CA" baseline="0" dirty="0" smtClean="0"/>
              <a:t>Spiffy corruptor allows us to specify a field of a particular type in a metadata structure and corrupt it on disk. This </a:t>
            </a:r>
            <a:r>
              <a:rPr lang="en-CA" baseline="0" dirty="0" smtClean="0"/>
              <a:t>tool also </a:t>
            </a:r>
            <a:r>
              <a:rPr lang="en-CA" baseline="0" dirty="0" smtClean="0"/>
              <a:t>works on all our annotated file systems. </a:t>
            </a:r>
            <a:r>
              <a:rPr lang="en-CA" baseline="0" dirty="0" smtClean="0"/>
              <a:t>It has </a:t>
            </a:r>
            <a:r>
              <a:rPr lang="en-CA" baseline="0" dirty="0" smtClean="0"/>
              <a:t>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while no bugs were found in our Spiffy dump tool for all the three file systems we tested.</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Incidentally, none of these bugs that we found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53</a:t>
            </a:fld>
            <a:endParaRPr lang="en-CA"/>
          </a:p>
        </p:txBody>
      </p:sp>
    </p:spTree>
    <p:extLst>
      <p:ext uri="{BB962C8B-B14F-4D97-AF65-F5344CB8AC3E}">
        <p14:creationId xmlns:p14="http://schemas.microsoft.com/office/powerpoint/2010/main" val="594096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an in-place file system conversion tool that </a:t>
            </a:r>
            <a:r>
              <a:rPr lang="en-CA" baseline="0" dirty="0" smtClean="0"/>
              <a:t>converts from </a:t>
            </a:r>
            <a:r>
              <a:rPr lang="en-CA" baseline="0" dirty="0" smtClean="0"/>
              <a:t>a file system of </a:t>
            </a:r>
            <a:r>
              <a:rPr lang="en-CA" baseline="0" dirty="0" smtClean="0"/>
              <a:t>one </a:t>
            </a:r>
            <a:r>
              <a:rPr lang="en-CA" baseline="0" dirty="0" smtClean="0"/>
              <a:t>type to </a:t>
            </a:r>
            <a:r>
              <a:rPr lang="en-CA" baseline="0" dirty="0" smtClean="0"/>
              <a:t>another, while </a:t>
            </a:r>
            <a:r>
              <a:rPr lang="en-CA" baseline="0" dirty="0" smtClean="0"/>
              <a:t>minimizing </a:t>
            </a:r>
            <a:r>
              <a:rPr lang="en-CA" baseline="0" dirty="0" smtClean="0"/>
              <a:t>copying of data blocks during </a:t>
            </a:r>
            <a:r>
              <a:rPr lang="en-CA" baseline="0" dirty="0" smtClean="0"/>
              <a:t>the conversion process</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54</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55</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CA" dirty="0" smtClean="0"/>
              <a:t>The</a:t>
            </a:r>
            <a:r>
              <a:rPr lang="en-CA" baseline="0" dirty="0" smtClean="0"/>
              <a:t> next two applications we will present are implemented inside the </a:t>
            </a:r>
            <a:r>
              <a:rPr lang="en-CA" dirty="0" smtClean="0"/>
              <a:t>kernel,</a:t>
            </a:r>
            <a:r>
              <a:rPr lang="en-CA" baseline="0" dirty="0" smtClean="0"/>
              <a:t> and they operate while the file system is running</a:t>
            </a:r>
            <a:r>
              <a:rPr lang="en-CA" baseline="0" dirty="0" smtClean="0"/>
              <a:t>.</a:t>
            </a:r>
            <a:endParaRPr lang="en-CA" baseline="0" dirty="0" smtClean="0"/>
          </a:p>
          <a:p>
            <a:pPr marL="0" marR="0" indent="0" algn="l" defTabSz="914400" rtl="0" eaLnBrk="0" fontAlgn="base" latinLnBrk="0" hangingPunct="0">
              <a:lnSpc>
                <a:spcPct val="100000"/>
              </a:lnSpc>
              <a:spcBef>
                <a:spcPct val="30000"/>
              </a:spcBef>
              <a:spcAft>
                <a:spcPct val="0"/>
              </a:spcAft>
              <a:buClrTx/>
              <a:buSzTx/>
              <a:buFontTx/>
              <a:buNone/>
              <a:tabLst/>
              <a:defRPr/>
            </a:pPr>
            <a:r>
              <a:rPr lang="en-CA" dirty="0" smtClean="0"/>
              <a:t>Our file-system aware</a:t>
            </a:r>
            <a:r>
              <a:rPr lang="en-CA" baseline="0" dirty="0" smtClean="0"/>
              <a:t> caching application supports various </a:t>
            </a:r>
            <a:r>
              <a:rPr lang="en-CA" dirty="0" smtClean="0"/>
              <a:t>file-system specific</a:t>
            </a:r>
            <a:r>
              <a:rPr lang="en-CA" baseline="0" dirty="0" smtClean="0"/>
              <a:t> </a:t>
            </a:r>
            <a:r>
              <a:rPr lang="en-CA" dirty="0" smtClean="0"/>
              <a:t>caching policies.</a:t>
            </a:r>
            <a:r>
              <a:rPr lang="en-CA" baseline="0" dirty="0" smtClean="0"/>
              <a:t> It is implemented in the block layer, but it requires no support or any changes to the file system</a:t>
            </a:r>
            <a:r>
              <a:rPr lang="en-CA" baseline="0" dirty="0" smtClean="0"/>
              <a:t>.</a:t>
            </a:r>
            <a:endParaRPr lang="en-CA" baseline="0" dirty="0" smtClean="0"/>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The caching application</a:t>
            </a:r>
            <a:r>
              <a:rPr lang="en-CA" dirty="0" smtClean="0"/>
              <a:t> identifies and interprets blocks as</a:t>
            </a:r>
            <a:r>
              <a:rPr lang="en-CA" baseline="0" dirty="0" smtClean="0"/>
              <a:t> they </a:t>
            </a:r>
            <a:r>
              <a:rPr lang="en-CA" dirty="0" smtClean="0"/>
              <a:t>are read or written. It uses the Spiffy library to identify the types of blocks, and for interpreting their contents to extract file-system specific information</a:t>
            </a:r>
            <a:r>
              <a:rPr lang="en-CA" dirty="0" smtClean="0"/>
              <a:t>.</a:t>
            </a:r>
            <a:endParaRPr lang="en-CA" baseline="0" dirty="0" smtClean="0"/>
          </a:p>
          <a:p>
            <a:r>
              <a:rPr lang="en-CA" baseline="0" dirty="0" smtClean="0"/>
              <a:t>Our caching application implements several caching policies. For example, it can preferentially cache file system metadata blocks. To do so, when a block is accessed, we use spiffy to distinguish between file system metadata and data blocks using file-system independent code. Similarly, our caching application allows</a:t>
            </a:r>
            <a:r>
              <a:rPr lang="en-CA" dirty="0" smtClean="0"/>
              <a:t> preferentially caching small files, or a specific user’s files. To do so, we</a:t>
            </a:r>
            <a:r>
              <a:rPr lang="en-CA" baseline="0" dirty="0" smtClean="0"/>
              <a:t> </a:t>
            </a:r>
            <a:r>
              <a:rPr lang="en-CA" dirty="0" smtClean="0"/>
              <a:t>use</a:t>
            </a:r>
            <a:r>
              <a:rPr lang="en-CA" baseline="0" dirty="0" smtClean="0"/>
              <a:t> </a:t>
            </a:r>
            <a:r>
              <a:rPr lang="en-CA" dirty="0" smtClean="0"/>
              <a:t>spiffy to determine the file</a:t>
            </a:r>
            <a:r>
              <a:rPr lang="en-CA" baseline="0" dirty="0" smtClean="0"/>
              <a:t> to which the block belongs. From there, we can determine the size or the owner of the file</a:t>
            </a:r>
            <a:r>
              <a:rPr lang="en-CA" baseline="0" dirty="0" smtClean="0"/>
              <a:t>.</a:t>
            </a:r>
            <a:endParaRPr lang="en-CA" dirty="0" smtClean="0"/>
          </a:p>
          <a:p>
            <a:r>
              <a:rPr lang="en-CA" dirty="0" smtClean="0"/>
              <a:t>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56</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implemented a</a:t>
            </a:r>
            <a:r>
              <a:rPr lang="en-CA" baseline="0" dirty="0" smtClean="0"/>
              <a:t> runtime checker that detects bugs that would cause file system inconsistency on disk.</a:t>
            </a:r>
          </a:p>
          <a:p>
            <a:r>
              <a:rPr lang="en-CA" baseline="0" dirty="0" smtClean="0"/>
              <a:t>Our </a:t>
            </a:r>
            <a:r>
              <a:rPr lang="en-CA" baseline="0" dirty="0" smtClean="0"/>
              <a:t>checker, similar to the block layer cache, identifies and interprets blocks as they are read or written. When the file system is about to commit its changes through transactional mechanisms such as journaling or copy-on-write, the checker uses spiffy to compare the old and new versions of modified blocks to generate all the logical metadata changes in a transaction. For example, to create a new file in Ext4, a new </a:t>
            </a:r>
            <a:r>
              <a:rPr lang="en-CA" baseline="0" dirty="0" err="1" smtClean="0"/>
              <a:t>inode</a:t>
            </a:r>
            <a:r>
              <a:rPr lang="en-CA" baseline="0" dirty="0" smtClean="0"/>
              <a:t> is allocated in an </a:t>
            </a:r>
            <a:r>
              <a:rPr lang="en-CA" baseline="0" dirty="0" err="1" smtClean="0"/>
              <a:t>inode</a:t>
            </a:r>
            <a:r>
              <a:rPr lang="en-CA" baseline="0" dirty="0" smtClean="0"/>
              <a:t> block, a bit is set in the </a:t>
            </a:r>
            <a:r>
              <a:rPr lang="en-CA" baseline="0" dirty="0" err="1" smtClean="0"/>
              <a:t>inode</a:t>
            </a:r>
            <a:r>
              <a:rPr lang="en-CA" baseline="0" dirty="0" smtClean="0"/>
              <a:t> bitmap block, and a new directory entry is added to one of the parent directory’s directory entry blocks. With support from Spiffy, generating logical changes requires significantly less file-system specific code. </a:t>
            </a:r>
          </a:p>
          <a:p>
            <a:r>
              <a:rPr lang="en-CA" baseline="0" dirty="0" smtClean="0"/>
              <a:t>We </a:t>
            </a:r>
            <a:r>
              <a:rPr lang="en-CA" baseline="0" dirty="0" smtClean="0"/>
              <a:t>wrote two versions of the runtime checker for Ext4. Our manually written version requires 2099 lines of code, whereas with Spiffy, the lines of code is reduced by half to 1059, and we are exploring improvements to Spiffy to reduce this number further.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57</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59</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61</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a:t>
            </a:r>
          </a:p>
          <a:p>
            <a:r>
              <a:rPr lang="en-US" altLang="zh-TW" baseline="0" dirty="0" smtClean="0"/>
              <a:t>I</a:t>
            </a:r>
            <a:r>
              <a:rPr lang="zh-TW" altLang="en-US" baseline="0" dirty="0" smtClean="0"/>
              <a:t> </a:t>
            </a:r>
            <a:r>
              <a:rPr lang="en-CA" altLang="zh-TW" baseline="0" dirty="0" smtClean="0"/>
              <a:t>have previously described the next two set of member functions, so I will skip forward.</a:t>
            </a:r>
            <a:endParaRPr lang="en-CA" baseline="0" dirty="0" smtClean="0"/>
          </a:p>
          <a:p>
            <a:r>
              <a:rPr lang="en-CA" baseline="0" dirty="0" smtClean="0"/>
              <a:t>The container 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62</a:t>
            </a:fld>
            <a:endParaRPr lang="en-US"/>
          </a:p>
        </p:txBody>
      </p:sp>
    </p:spTree>
    <p:extLst>
      <p:ext uri="{BB962C8B-B14F-4D97-AF65-F5344CB8AC3E}">
        <p14:creationId xmlns:p14="http://schemas.microsoft.com/office/powerpoint/2010/main" val="4511757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_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Tree>
    <p:extLst>
      <p:ext uri="{BB962C8B-B14F-4D97-AF65-F5344CB8AC3E}">
        <p14:creationId xmlns:p14="http://schemas.microsoft.com/office/powerpoint/2010/main" val="3061373133"/>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jacksun007/spiffy" TargetMode="External"/><Relationship Id="rId2" Type="http://schemas.openxmlformats.org/officeDocument/2006/relationships/hyperlink" Target="https://www.usenix.org/system/files/conference/fast18/fast18-sun.pdf"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dirty="0" smtClean="0"/>
              <a:t>Simplify development of file-system aware applications</a:t>
            </a:r>
          </a:p>
          <a:p>
            <a:pPr lvl="1"/>
            <a:r>
              <a:rPr lang="en-CA" dirty="0" smtClean="0"/>
              <a:t>Reduce file-system specific code</a:t>
            </a:r>
          </a:p>
          <a:p>
            <a:pPr lvl="1"/>
            <a:r>
              <a:rPr lang="en-CA" dirty="0" smtClean="0"/>
              <a:t>Enable code reuse across file systems</a:t>
            </a:r>
          </a:p>
          <a:p>
            <a:r>
              <a:rPr lang="en-CA" dirty="0" smtClean="0"/>
              <a:t>Improve robustness of 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reduce error propagation, and further corruption</a:t>
            </a:r>
          </a:p>
          <a:p>
            <a:pPr lvl="2"/>
            <a:endParaRPr lang="en-CA" dirty="0"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 </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foo </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299990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Rectangle 4"/>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bar_block_ptr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7627536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Main challenge: </a:t>
            </a:r>
            <a:r>
              <a:rPr lang="en-CA" dirty="0"/>
              <a:t>File system </a:t>
            </a:r>
            <a:r>
              <a:rPr lang="en-CA" dirty="0" smtClean="0"/>
              <a:t>pointers </a:t>
            </a:r>
            <a:r>
              <a:rPr lang="en-CA" dirty="0"/>
              <a:t>can store different types of </a:t>
            </a: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a:t>
            </a:r>
            <a:r>
              <a:rPr lang="en-CA" dirty="0" smtClean="0"/>
              <a:t>the address </a:t>
            </a:r>
            <a:r>
              <a:rPr lang="en-CA" dirty="0"/>
              <a:t>should be </a:t>
            </a:r>
            <a:r>
              <a:rPr lang="en-CA" dirty="0" smtClean="0"/>
              <a:t>mapped to </a:t>
            </a:r>
            <a:r>
              <a:rPr lang="en-CA" dirty="0"/>
              <a:t>physical location</a:t>
            </a:r>
          </a:p>
          <a:p>
            <a:pPr marL="0" indent="0">
              <a:buNone/>
            </a:pPr>
            <a:endParaRPr lang="en-CA" dirty="0" smtClean="0"/>
          </a:p>
          <a:p>
            <a:r>
              <a:rPr lang="en-CA" dirty="0" smtClean="0"/>
              <a:t>Examples: Block</a:t>
            </a:r>
            <a:r>
              <a:rPr lang="en-CA" dirty="0"/>
              <a:t> </a:t>
            </a:r>
            <a:r>
              <a:rPr lang="en-CA" dirty="0" smtClean="0"/>
              <a:t>and File address 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a:effectLst>
            <a:glow rad="228600">
              <a:schemeClr val="accent2">
                <a:satMod val="175000"/>
                <a:alpha val="40000"/>
              </a:schemeClr>
            </a:glow>
          </a:effectLst>
        </p:spPr>
        <p:txBody>
          <a:bodyPr wrap="square">
            <a:spAutoFit/>
          </a:bodyPr>
          <a:lstStyle/>
          <a:p>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location=1024</a:t>
            </a:r>
            <a:r>
              <a:rPr lang="en-CA" dirty="0">
                <a:solidFill>
                  <a:srgbClr val="000000"/>
                </a:solidFill>
                <a:latin typeface="Courier New" panose="02070309020205020404" pitchFamily="49" charset="0"/>
                <a:cs typeface="Courier New" panose="02070309020205020404" pitchFamily="49" charset="0"/>
              </a:rPr>
              <a:t>) </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ext4_super_block</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41245704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
        <p:nvSpPr>
          <p:cNvPr id="12" name="Rectangle 11"/>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fr-FR"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=file</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r>
            <a:b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b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type=ext4_journal</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fr-FR"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s_journal_inum</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432291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14540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__le32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S_IFDIR)</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07175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data_block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1771861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effectLst>
                  <a:glow rad="228600">
                    <a:srgbClr val="FFFF00">
                      <a:alpha val="40000"/>
                    </a:srgbClr>
                  </a:glow>
                </a:effectLst>
                <a:latin typeface="+mn-lt"/>
                <a:cs typeface="Courier New" panose="02070309020205020404" pitchFamily="49" charset="0"/>
              </a:rPr>
              <a:t>missing pointer field</a:t>
            </a:r>
            <a:endParaRPr lang="en-CA" sz="1200" i="1" dirty="0">
              <a:solidFill>
                <a:srgbClr val="000000"/>
              </a:solidFill>
              <a:effectLst>
                <a:glow rad="228600">
                  <a:srgbClr val="FFFF00">
                    <a:alpha val="40000"/>
                  </a:srgbClr>
                </a:glow>
              </a:effectLst>
              <a:latin typeface="+mn-lt"/>
            </a:endParaRPr>
          </a:p>
        </p:txBody>
      </p:sp>
      <p:sp>
        <p:nvSpPr>
          <p:cNvPr id="4" name="Freeform 3"/>
          <p:cNvSpPr/>
          <p:nvPr/>
        </p:nvSpPr>
        <p:spPr>
          <a:xfrm flipH="1" flipV="1">
            <a:off x="5181599" y="2692346"/>
            <a:ext cx="684997" cy="151929"/>
          </a:xfrm>
          <a:custGeom>
            <a:avLst/>
            <a:gdLst>
              <a:gd name="connsiteX0" fmla="*/ 0 w 376517"/>
              <a:gd name="connsiteY0" fmla="*/ 0 h 94130"/>
              <a:gd name="connsiteX1" fmla="*/ 376517 w 376517"/>
              <a:gd name="connsiteY1" fmla="*/ 94130 h 94130"/>
            </a:gdLst>
            <a:ahLst/>
            <a:cxnLst>
              <a:cxn ang="0">
                <a:pos x="connsiteX0" y="connsiteY0"/>
              </a:cxn>
              <a:cxn ang="0">
                <a:pos x="connsiteX1" y="connsiteY1"/>
              </a:cxn>
            </a:cxnLst>
            <a:rect l="l" t="t" r="r" b="b"/>
            <a:pathLst>
              <a:path w="376517" h="94130">
                <a:moveTo>
                  <a:pt x="0" y="0"/>
                </a:moveTo>
                <a:lnTo>
                  <a:pt x="376517" y="94130"/>
                </a:lnTo>
              </a:path>
            </a:pathLst>
          </a:custGeom>
          <a:noFill/>
          <a:ln>
            <a:solidFill>
              <a:srgbClr val="000000"/>
            </a:solidFill>
            <a:prstDash val="sysDot"/>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s_block_group_desc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 ? 2 : 1);</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75465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a:t>
            </a:r>
            <a:r>
              <a:rPr lang="en-CA" dirty="0" smtClean="0"/>
              <a:t>using</a:t>
            </a:r>
          </a:p>
          <a:p>
            <a:pPr marL="914400" lvl="1" indent="-457200">
              <a:buClrTx/>
              <a:buSzPct val="100000"/>
              <a:buAutoNum type="arabicParenR"/>
            </a:pPr>
            <a:r>
              <a:rPr lang="en-CA" sz="2000" dirty="0"/>
              <a:t>n</a:t>
            </a:r>
            <a:r>
              <a:rPr lang="en-CA" sz="2000" dirty="0" smtClean="0"/>
              <a:t>umber </a:t>
            </a:r>
            <a:r>
              <a:rPr lang="en-CA" sz="2000" dirty="0" smtClean="0"/>
              <a:t>of </a:t>
            </a:r>
            <a:r>
              <a:rPr lang="en-CA" sz="2000" dirty="0" smtClean="0"/>
              <a:t>elements</a:t>
            </a:r>
          </a:p>
          <a:p>
            <a:pPr marL="914400" lvl="1" indent="-457200">
              <a:buClrTx/>
              <a:buSzPct val="100000"/>
              <a:buAutoNum type="arabicParenR"/>
            </a:pPr>
            <a:r>
              <a:rPr lang="en-CA" sz="2000" dirty="0" smtClean="0"/>
              <a:t>sentinel value</a:t>
            </a:r>
          </a:p>
          <a:p>
            <a:pPr marL="914400" lvl="1" indent="-457200">
              <a:buClrTx/>
              <a:buSzPct val="100000"/>
              <a:buAutoNum type="arabicParenR"/>
            </a:pPr>
            <a:r>
              <a:rPr lang="en-CA" sz="2000" dirty="0"/>
              <a:t>t</a:t>
            </a:r>
            <a:r>
              <a:rPr lang="en-CA" sz="2000" dirty="0" smtClean="0"/>
              <a:t>otal vector size</a:t>
            </a:r>
          </a:p>
        </p:txBody>
      </p:sp>
    </p:spTree>
    <p:extLst>
      <p:ext uri="{BB962C8B-B14F-4D97-AF65-F5344CB8AC3E}">
        <p14:creationId xmlns:p14="http://schemas.microsoft.com/office/powerpoint/2010/main" val="2122690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a:t>
            </a:r>
            <a:r>
              <a:rPr lang="en-CA" dirty="0" smtClean="0"/>
              <a:t>using</a:t>
            </a:r>
          </a:p>
          <a:p>
            <a:pPr marL="914400" lvl="1" indent="-457200">
              <a:buClrTx/>
              <a:buSzPct val="100000"/>
              <a:buAutoNum type="arabicParenR"/>
            </a:pPr>
            <a:r>
              <a:rPr lang="en-CA" sz="2000" b="1" dirty="0"/>
              <a:t>n</a:t>
            </a:r>
            <a:r>
              <a:rPr lang="en-CA" sz="2000" b="1" dirty="0" smtClean="0"/>
              <a:t>umber </a:t>
            </a:r>
            <a:r>
              <a:rPr lang="en-CA" sz="2000" b="1" dirty="0" smtClean="0"/>
              <a:t>of </a:t>
            </a:r>
            <a:r>
              <a:rPr lang="en-CA" sz="2000" b="1" dirty="0" smtClean="0"/>
              <a:t>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dirty="0">
                <a:solidFill>
                  <a:schemeClr val="bg1">
                    <a:lumMod val="85000"/>
                  </a:schemeClr>
                </a:solidFill>
              </a:rPr>
              <a:t>t</a:t>
            </a:r>
            <a:r>
              <a:rPr lang="en-CA" sz="2000" dirty="0" smtClean="0">
                <a:solidFill>
                  <a:schemeClr val="bg1">
                    <a:lumMod val="85000"/>
                  </a:schemeClr>
                </a:solidFill>
              </a:rPr>
              <a:t>otal vector size</a:t>
            </a:r>
          </a:p>
        </p:txBody>
      </p:sp>
      <p:sp>
        <p:nvSpPr>
          <p:cNvPr id="4" name="Rectangle 3"/>
          <p:cNvSpPr/>
          <p:nvPr/>
        </p:nvSpPr>
        <p:spPr>
          <a:xfrm>
            <a:off x="1408153" y="3638550"/>
            <a:ext cx="6327694" cy="584775"/>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inode_block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ext4_inode, </a:t>
            </a:r>
          </a:p>
          <a:p>
            <a:pPr marL="93663" lvl="1"/>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count=BLOCK_SIZE/</a:t>
            </a:r>
            <a:r>
              <a:rPr lang="en-CA" dirty="0" err="1" smtClean="0">
                <a:solidFill>
                  <a:srgbClr val="000000"/>
                </a:solidFill>
                <a:latin typeface="Courier New" panose="02070309020205020404" pitchFamily="49" charset="0"/>
                <a:cs typeface="Courier New" panose="02070309020205020404" pitchFamily="49" charset="0"/>
              </a:rPr>
              <a:t>sb.s_inode_size</a:t>
            </a:r>
            <a:r>
              <a:rPr lang="en-CA" dirty="0" smtClean="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136187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a:t>
            </a:r>
            <a:r>
              <a:rPr lang="en-CA" dirty="0" smtClean="0"/>
              <a:t>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a:t>
            </a:r>
            <a:r>
              <a:rPr lang="en-CA" sz="2000" dirty="0" smtClean="0">
                <a:solidFill>
                  <a:schemeClr val="bg1">
                    <a:lumMod val="85000"/>
                  </a:schemeClr>
                </a:solidFill>
              </a:rPr>
              <a:t>of </a:t>
            </a:r>
            <a:r>
              <a:rPr lang="en-CA" sz="2000" dirty="0" smtClean="0">
                <a:solidFill>
                  <a:schemeClr val="bg1">
                    <a:lumMod val="85000"/>
                  </a:schemeClr>
                </a:solidFill>
              </a:rPr>
              <a:t>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FSSTRUCT</a:t>
            </a:r>
            <a:r>
              <a:rPr lang="en-CA" dirty="0">
                <a:solidFill>
                  <a:srgbClr val="000000"/>
                </a:solidFill>
                <a:latin typeface="Courier New" panose="02070309020205020404" pitchFamily="49" charset="0"/>
                <a:cs typeface="Courier New" panose="02070309020205020404" pitchFamily="49" charset="0"/>
              </a:rPr>
              <a:t>() </a:t>
            </a:r>
            <a:r>
              <a:rPr lang="en-CA" dirty="0" err="1">
                <a:solidFill>
                  <a:srgbClr val="000000"/>
                </a:solidFill>
                <a:latin typeface="Courier New" panose="02070309020205020404" pitchFamily="49" charset="0"/>
                <a:cs typeface="Courier New" panose="02070309020205020404" pitchFamily="49" charset="0"/>
              </a:rPr>
              <a:t>directory_indirect_ptr</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a:latin typeface="Courier New" panose="02070309020205020404" pitchFamily="49" charset="0"/>
                <a:cs typeface="Courier New" panose="02070309020205020404" pitchFamily="49" charset="0"/>
              </a:rPr>
              <a:t>)</a:t>
            </a:r>
          </a:p>
          <a:p>
            <a:r>
              <a:rPr lang="en-CA" dirty="0">
                <a:latin typeface="Courier New" panose="02070309020205020404" pitchFamily="49" charset="0"/>
                <a:cs typeface="Courier New" panose="02070309020205020404" pitchFamily="49" charset="0"/>
              </a:rPr>
              <a:t>    __le32 </a:t>
            </a:r>
            <a:r>
              <a:rPr lang="en-CA" dirty="0" err="1">
                <a:latin typeface="Courier New" panose="02070309020205020404" pitchFamily="49" charset="0"/>
                <a:cs typeface="Courier New" panose="02070309020205020404" pitchFamily="49" charset="0"/>
              </a:rPr>
              <a:t>ind_block_nr</a:t>
            </a:r>
            <a:r>
              <a:rPr lang="en-CA" dirty="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121572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a:t>
            </a:r>
            <a:r>
              <a:rPr lang="en-CA" dirty="0" smtClean="0"/>
              <a:t>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a:t>
            </a:r>
            <a:r>
              <a:rPr lang="en-CA" sz="2000" dirty="0" smtClean="0">
                <a:solidFill>
                  <a:schemeClr val="bg1">
                    <a:lumMod val="85000"/>
                  </a:schemeClr>
                </a:solidFill>
              </a:rPr>
              <a:t>of </a:t>
            </a:r>
            <a:r>
              <a:rPr lang="en-CA" sz="2000" dirty="0" smtClean="0">
                <a:solidFill>
                  <a:schemeClr val="bg1">
                    <a:lumMod val="85000"/>
                  </a:schemeClr>
                </a:solidFill>
              </a:rPr>
              <a:t>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directory_indirect_ptr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b="1" dirty="0" smtClean="0">
                <a:effectLst>
                  <a:glow rad="101600">
                    <a:srgbClr val="FFFF00">
                      <a:alpha val="60000"/>
                    </a:srgbClr>
                  </a:glow>
                </a:effectLst>
                <a:latin typeface="Courier New" panose="02070309020205020404" pitchFamily="49" charset="0"/>
                <a:cs typeface="Courier New" panose="02070309020205020404" pitchFamily="49" charset="0"/>
              </a:rPr>
              <a:t>POINTER</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aspc</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=block, type=</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p>
          <a:p>
            <a:r>
              <a:rPr lang="en-CA" dirty="0">
                <a:effectLst>
                  <a:glow rad="101600">
                    <a:srgbClr val="FFFF00">
                      <a:alpha val="60000"/>
                    </a:srgbClr>
                  </a:glow>
                </a:effectLst>
                <a:latin typeface="Courier New" panose="02070309020205020404" pitchFamily="49" charset="0"/>
                <a:cs typeface="Courier New" panose="02070309020205020404" pitchFamily="49" charset="0"/>
              </a:rPr>
              <a:t>    __le32 </a:t>
            </a:r>
            <a:r>
              <a:rPr lang="en-CA" dirty="0" err="1">
                <a:effectLst>
                  <a:glow rad="101600">
                    <a:srgbClr val="FFFF00">
                      <a:alpha val="60000"/>
                    </a:srgbClr>
                  </a:glow>
                </a:effectLst>
                <a:latin typeface="Courier New" panose="02070309020205020404" pitchFamily="49" charset="0"/>
                <a:cs typeface="Courier New" panose="02070309020205020404" pitchFamily="49" charset="0"/>
              </a:rPr>
              <a:t>ind_block_nr</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pPr marL="93663" lvl="1"/>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7676981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a:t>
            </a:r>
            <a:r>
              <a:rPr lang="en-CA" dirty="0" smtClean="0"/>
              <a:t>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a:t>
            </a:r>
            <a:r>
              <a:rPr lang="en-CA" sz="2000" dirty="0" smtClean="0">
                <a:solidFill>
                  <a:schemeClr val="bg1">
                    <a:lumMod val="85000"/>
                  </a:schemeClr>
                </a:solidFill>
              </a:rPr>
              <a:t>of </a:t>
            </a:r>
            <a:r>
              <a:rPr lang="en-CA" sz="2000" dirty="0" smtClean="0">
                <a:solidFill>
                  <a:schemeClr val="bg1">
                    <a:lumMod val="85000"/>
                  </a:schemeClr>
                </a:solidFill>
              </a:rPr>
              <a:t>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VECTOR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ext4_dir_entry, size=BLOCK_SIZE</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sz="8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latin typeface="Courier New" panose="02070309020205020404" pitchFamily="49" charset="0"/>
                <a:cs typeface="Courier New" panose="02070309020205020404" pitchFamily="49" charset="0"/>
              </a:rPr>
              <a:t>FSSTRUCT</a:t>
            </a:r>
            <a:r>
              <a:rPr lang="en-CA" dirty="0">
                <a:solidFill>
                  <a:srgbClr val="000000"/>
                </a:solidFill>
                <a:effectLst/>
                <a:latin typeface="Courier New" panose="02070309020205020404" pitchFamily="49" charset="0"/>
                <a:cs typeface="Courier New" panose="02070309020205020404" pitchFamily="49" charset="0"/>
              </a:rPr>
              <a:t>() </a:t>
            </a:r>
            <a:r>
              <a:rPr lang="en-CA" dirty="0" err="1">
                <a:solidFill>
                  <a:srgbClr val="000000"/>
                </a:solidFill>
                <a:effectLst/>
                <a:latin typeface="Courier New" panose="02070309020205020404" pitchFamily="49" charset="0"/>
                <a:cs typeface="Courier New" panose="02070309020205020404" pitchFamily="49" charset="0"/>
              </a:rPr>
              <a:t>directory_indirect_ptr</a:t>
            </a:r>
            <a:r>
              <a:rPr lang="en-CA" dirty="0">
                <a:solidFill>
                  <a:srgbClr val="000000"/>
                </a:solidFill>
                <a:effectLst/>
                <a:latin typeface="Courier New" panose="02070309020205020404" pitchFamily="49" charset="0"/>
                <a:cs typeface="Courier New" panose="02070309020205020404" pitchFamily="49" charset="0"/>
              </a:rPr>
              <a:t> {</a:t>
            </a:r>
          </a:p>
          <a:p>
            <a:r>
              <a:rPr lang="en-CA" dirty="0">
                <a:solidFill>
                  <a:srgbClr val="000000"/>
                </a:solidFill>
                <a:effectLst/>
                <a:latin typeface="Courier New" panose="02070309020205020404" pitchFamily="49" charset="0"/>
                <a:cs typeface="Courier New" panose="02070309020205020404" pitchFamily="49" charset="0"/>
              </a:rPr>
              <a:t>    </a:t>
            </a:r>
            <a:r>
              <a:rPr lang="en-CA" b="1" dirty="0" smtClean="0">
                <a:effectLst/>
                <a:latin typeface="Courier New" panose="02070309020205020404" pitchFamily="49" charset="0"/>
                <a:cs typeface="Courier New" panose="02070309020205020404" pitchFamily="49" charset="0"/>
              </a:rPr>
              <a:t>POINTER</a:t>
            </a:r>
            <a:r>
              <a:rPr lang="en-CA" dirty="0" smtClean="0">
                <a:effectLst/>
                <a:latin typeface="Courier New" panose="02070309020205020404" pitchFamily="49" charset="0"/>
                <a:cs typeface="Courier New" panose="02070309020205020404" pitchFamily="49" charset="0"/>
              </a:rPr>
              <a:t>(</a:t>
            </a:r>
            <a:r>
              <a:rPr lang="en-CA" dirty="0" err="1" smtClean="0">
                <a:effectLst/>
                <a:latin typeface="Courier New" panose="02070309020205020404" pitchFamily="49" charset="0"/>
                <a:cs typeface="Courier New" panose="02070309020205020404" pitchFamily="49" charset="0"/>
              </a:rPr>
              <a:t>aspc</a:t>
            </a:r>
            <a:r>
              <a:rPr lang="en-CA" dirty="0" smtClean="0">
                <a:effectLst/>
                <a:latin typeface="Courier New" panose="02070309020205020404" pitchFamily="49" charset="0"/>
                <a:cs typeface="Courier New" panose="02070309020205020404" pitchFamily="49" charset="0"/>
              </a:rPr>
              <a:t>=block, type=</a:t>
            </a:r>
            <a:r>
              <a:rPr lang="en-CA" dirty="0" err="1" smtClean="0">
                <a:effectLst/>
                <a:latin typeface="Courier New" panose="02070309020205020404" pitchFamily="49" charset="0"/>
                <a:cs typeface="Courier New" panose="02070309020205020404" pitchFamily="49" charset="0"/>
              </a:rPr>
              <a:t>dir_block</a:t>
            </a:r>
            <a:r>
              <a:rPr lang="en-CA" dirty="0">
                <a:effectLst/>
                <a:latin typeface="Courier New" panose="02070309020205020404" pitchFamily="49" charset="0"/>
                <a:cs typeface="Courier New" panose="02070309020205020404" pitchFamily="49" charset="0"/>
              </a:rPr>
              <a:t>)</a:t>
            </a:r>
          </a:p>
          <a:p>
            <a:r>
              <a:rPr lang="en-CA" dirty="0">
                <a:effectLst/>
                <a:latin typeface="Courier New" panose="02070309020205020404" pitchFamily="49" charset="0"/>
                <a:cs typeface="Courier New" panose="02070309020205020404" pitchFamily="49" charset="0"/>
              </a:rPr>
              <a:t>    __le32 </a:t>
            </a:r>
            <a:r>
              <a:rPr lang="en-CA" dirty="0" err="1">
                <a:effectLst/>
                <a:latin typeface="Courier New" panose="02070309020205020404" pitchFamily="49" charset="0"/>
                <a:cs typeface="Courier New" panose="02070309020205020404" pitchFamily="49" charset="0"/>
              </a:rPr>
              <a:t>ind_block_nr</a:t>
            </a:r>
            <a:r>
              <a:rPr lang="en-CA" dirty="0">
                <a:effectLst/>
                <a:latin typeface="Courier New" panose="02070309020205020404" pitchFamily="49" charset="0"/>
                <a:cs typeface="Courier New" panose="02070309020205020404" pitchFamily="49" charset="0"/>
              </a:rPr>
              <a:t>;</a:t>
            </a:r>
            <a:endParaRPr lang="en-CA" dirty="0">
              <a:solidFill>
                <a:srgbClr val="000000"/>
              </a:solidFill>
              <a:effectLst/>
              <a:latin typeface="Courier New" panose="02070309020205020404" pitchFamily="49" charset="0"/>
              <a:cs typeface="Courier New" panose="02070309020205020404" pitchFamily="49" charset="0"/>
            </a:endParaRPr>
          </a:p>
          <a:p>
            <a:pPr marL="93663" lvl="1"/>
            <a:r>
              <a:rPr lang="en-CA" dirty="0">
                <a:solidFill>
                  <a:srgbClr val="000000"/>
                </a:solidFill>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657733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653680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316803594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p:txBody>
          <a:bodyPr/>
          <a:lstStyle/>
          <a:p>
            <a:r>
              <a:rPr lang="en-CA" smtClean="0"/>
              <a:t>C++ classes are generated for all annotated structures </a:t>
            </a:r>
            <a:br>
              <a:rPr lang="en-CA" smtClean="0"/>
            </a:br>
            <a:r>
              <a:rPr lang="en-CA" smtClean="0"/>
              <a:t>and their fields</a:t>
            </a:r>
          </a:p>
          <a:p>
            <a:pPr lvl="1"/>
            <a:r>
              <a:rPr lang="en-CA" smtClean="0"/>
              <a:t>Enables type-safe parsing and serialization</a:t>
            </a:r>
          </a:p>
          <a:p>
            <a:pPr lvl="1"/>
            <a:r>
              <a:rPr lang="en-CA" smtClean="0"/>
              <a:t>Allows introspection of type, size, name, and parents</a:t>
            </a:r>
            <a:endParaRPr lang="en-CA"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a16="http://schemas.microsoft.com/office/drawing/2014/main" xmlns="" val="20000"/>
                    </a:ext>
                  </a:extLst>
                </a:gridCol>
                <a:gridCol w="1589900">
                  <a:extLst>
                    <a:ext uri="{9D8B030D-6E8A-4147-A177-3AD203B41FA5}">
                      <a16:colId xmlns:a16="http://schemas.microsoft.com/office/drawing/2014/main" xmlns="" val="20001"/>
                    </a:ext>
                  </a:extLst>
                </a:gridCol>
                <a:gridCol w="1589900">
                  <a:extLst>
                    <a:ext uri="{9D8B030D-6E8A-4147-A177-3AD203B41FA5}">
                      <a16:colId xmlns:a16="http://schemas.microsoft.com/office/drawing/2014/main" xmlns=""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a16="http://schemas.microsoft.com/office/drawing/2014/main" xmlns=""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a16="http://schemas.microsoft.com/office/drawing/2014/main" xmlns=""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a16="http://schemas.microsoft.com/office/drawing/2014/main" xmlns=""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299731" y="3816078"/>
            <a:ext cx="654453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197679" y="3742925"/>
            <a:ext cx="4748643"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Ideally, we would only have to write this function</a:t>
            </a:r>
          </a:p>
        </p:txBody>
      </p:sp>
      <p:cxnSp>
        <p:nvCxnSpPr>
          <p:cNvPr id="8" name="Straight Arrow Connector 7"/>
          <p:cNvCxnSpPr>
            <a:stCxn id="11" idx="3"/>
          </p:cNvCxnSpPr>
          <p:nvPr/>
        </p:nvCxnSpPr>
        <p:spPr>
          <a:xfrm flipH="1" flipV="1">
            <a:off x="5347857" y="3430801"/>
            <a:ext cx="1598465" cy="528160"/>
          </a:xfrm>
          <a:prstGeom prst="bentConnector3">
            <a:avLst>
              <a:gd name="adj1" fmla="val -14301"/>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101026"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b="1" dirty="0">
                <a:solidFill>
                  <a:srgbClr val="000000"/>
                </a:solidFill>
              </a:rPr>
              <a:t>No sanity checks! </a:t>
            </a:r>
            <a:r>
              <a:rPr lang="en-CA"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253520"/>
            <a:ext cx="1809439"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dirty="0" smtClean="0">
                <a:solidFill>
                  <a:srgbClr val="000000"/>
                </a:solidFill>
              </a:rPr>
              <a:t>Returns </a:t>
            </a:r>
            <a:r>
              <a:rPr lang="en-CA" i="1" dirty="0" err="1">
                <a:solidFill>
                  <a:srgbClr val="000000"/>
                </a:solidFill>
              </a:rPr>
              <a:t>nullptr</a:t>
            </a:r>
            <a:r>
              <a:rPr lang="en-CA" i="1" dirty="0">
                <a:solidFill>
                  <a:srgbClr val="000000"/>
                </a:solidFill>
              </a:rPr>
              <a:t/>
            </a:r>
            <a:br>
              <a:rPr lang="en-CA" i="1" dirty="0">
                <a:solidFill>
                  <a:srgbClr val="000000"/>
                </a:solidFill>
              </a:rPr>
            </a:br>
            <a:r>
              <a:rPr lang="en-CA" dirty="0">
                <a:solidFill>
                  <a:srgbClr val="000000"/>
                </a:solidFill>
              </a:rPr>
              <a:t>if super block</a:t>
            </a:r>
            <a:br>
              <a:rPr lang="en-CA" dirty="0">
                <a:solidFill>
                  <a:srgbClr val="000000"/>
                </a:solidFill>
              </a:rPr>
            </a:br>
            <a:r>
              <a:rPr lang="en-CA" dirty="0">
                <a:solidFill>
                  <a:srgbClr val="000000"/>
                </a:solidFill>
              </a:rPr>
              <a:t> is corrupted</a:t>
            </a:r>
          </a:p>
        </p:txBody>
      </p:sp>
      <p:cxnSp>
        <p:nvCxnSpPr>
          <p:cNvPr id="8" name="Straight Arrow Connector 7"/>
          <p:cNvCxnSpPr>
            <a:stCxn id="7" idx="1"/>
          </p:cNvCxnSpPr>
          <p:nvPr/>
        </p:nvCxnSpPr>
        <p:spPr>
          <a:xfrm flipH="1">
            <a:off x="5943600" y="1645935"/>
            <a:ext cx="552761" cy="87615"/>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3667281" y="3402154"/>
            <a:ext cx="1809439" cy="503469"/>
          </a:xfrm>
          <a:prstGeom prst="rect">
            <a:avLst/>
          </a:prstGeom>
          <a:solidFill>
            <a:srgbClr val="FFFF00"/>
          </a:solidFill>
          <a:ln w="12700">
            <a:solidFill>
              <a:schemeClr val="bg1"/>
            </a:solidFill>
            <a:prstDash val="solid"/>
          </a:ln>
        </p:spPr>
        <p:txBody>
          <a:bodyPr wrap="square" tIns="180000" bIns="90000" rtlCol="0" anchor="ctr" anchorCtr="0">
            <a:spAutoFit/>
          </a:bodyPr>
          <a:lstStyle/>
          <a:p>
            <a:pPr algn="ctr">
              <a:lnSpc>
                <a:spcPts val="1800"/>
              </a:lnSpc>
              <a:spcBef>
                <a:spcPts val="450"/>
              </a:spcBef>
            </a:pPr>
            <a:r>
              <a:rPr lang="en-CA" sz="2400" b="1" dirty="0" smtClean="0">
                <a:solidFill>
                  <a:srgbClr val="000000"/>
                </a:solidFill>
              </a:rPr>
              <a:t>THAT’S IT</a:t>
            </a:r>
            <a:endParaRPr lang="en-CA" sz="2400" b="1" dirty="0">
              <a:solidFill>
                <a:srgbClr val="000000"/>
              </a:solidFill>
            </a:endParaRP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544296800"/>
              </p:ext>
            </p:extLst>
          </p:nvPr>
        </p:nvGraphicFramePr>
        <p:xfrm>
          <a:off x="152400" y="1123950"/>
          <a:ext cx="8763000" cy="2473960"/>
        </p:xfrm>
        <a:graphic>
          <a:graphicData uri="http://schemas.openxmlformats.org/drawingml/2006/table">
            <a:tbl>
              <a:tblPr firstRow="1" bandRow="1">
                <a:tableStyleId>{5C22544A-7EE6-4342-B048-85BDC9FD1C3A}</a:tableStyleId>
              </a:tblPr>
              <a:tblGrid>
                <a:gridCol w="1447800"/>
                <a:gridCol w="3429000"/>
                <a:gridCol w="3886200"/>
              </a:tblGrid>
              <a:tr h="370840">
                <a:tc>
                  <a:txBody>
                    <a:bodyPr/>
                    <a:lstStyle/>
                    <a:p>
                      <a:endParaRPr lang="en-CA" dirty="0"/>
                    </a:p>
                  </a:txBody>
                  <a:tcPr>
                    <a:solidFill>
                      <a:schemeClr val="bg1"/>
                    </a:solidFill>
                  </a:tcPr>
                </a:tc>
                <a:tc>
                  <a:txBody>
                    <a:bodyPr/>
                    <a:lstStyle/>
                    <a:p>
                      <a:r>
                        <a:rPr lang="en-CA" b="1" dirty="0" smtClean="0">
                          <a:solidFill>
                            <a:schemeClr val="tx1"/>
                          </a:solidFill>
                        </a:rPr>
                        <a:t>Read-Only</a:t>
                      </a:r>
                      <a:endParaRPr lang="en-CA" b="1" dirty="0">
                        <a:solidFill>
                          <a:schemeClr val="tx1"/>
                        </a:solidFill>
                      </a:endParaRPr>
                    </a:p>
                  </a:txBody>
                  <a:tcPr>
                    <a:solidFill>
                      <a:schemeClr val="accent2">
                        <a:lumMod val="20000"/>
                        <a:lumOff val="80000"/>
                      </a:schemeClr>
                    </a:solidFill>
                  </a:tcPr>
                </a:tc>
                <a:tc>
                  <a:txBody>
                    <a:bodyPr/>
                    <a:lstStyle/>
                    <a:p>
                      <a:r>
                        <a:rPr lang="en-CA" b="1" dirty="0" smtClean="0">
                          <a:solidFill>
                            <a:schemeClr val="tx1"/>
                          </a:solidFill>
                        </a:rPr>
                        <a:t>Read-Write</a:t>
                      </a:r>
                      <a:endParaRPr lang="en-CA" b="1" dirty="0">
                        <a:solidFill>
                          <a:schemeClr val="tx1"/>
                        </a:solidFill>
                      </a:endParaRPr>
                    </a:p>
                  </a:txBody>
                  <a:tcPr>
                    <a:solidFill>
                      <a:schemeClr val="accent2">
                        <a:lumMod val="20000"/>
                        <a:lumOff val="80000"/>
                      </a:schemeClr>
                    </a:solidFill>
                  </a:tcPr>
                </a:tc>
              </a:tr>
              <a:tr h="370840">
                <a:tc>
                  <a:txBody>
                    <a:bodyPr/>
                    <a:lstStyle/>
                    <a:p>
                      <a:r>
                        <a:rPr lang="en-CA" b="0" i="1" dirty="0" smtClean="0"/>
                        <a:t>Offline</a:t>
                      </a:r>
                    </a:p>
                    <a:p>
                      <a:r>
                        <a:rPr lang="en-CA" b="0" i="1" dirty="0" smtClean="0"/>
                        <a:t>(</a:t>
                      </a:r>
                      <a:r>
                        <a:rPr lang="en-CA" b="0" i="1" dirty="0" err="1" smtClean="0"/>
                        <a:t>User</a:t>
                      </a:r>
                      <a:r>
                        <a:rPr lang="en-CA" b="0" i="1" baseline="0" dirty="0" err="1" smtClean="0"/>
                        <a:t>space</a:t>
                      </a:r>
                      <a:r>
                        <a:rPr lang="en-CA" b="0" i="1" baseline="0" dirty="0" smtClean="0"/>
                        <a:t>)</a:t>
                      </a:r>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 System Free Space Tool</a:t>
                      </a:r>
                    </a:p>
                    <a:p>
                      <a:pPr marL="285750" indent="-285750">
                        <a:buFont typeface="Arial" panose="020B0604020202020204" pitchFamily="34" charset="0"/>
                        <a:buChar char="•"/>
                      </a:pPr>
                      <a:r>
                        <a:rPr lang="en-CA" dirty="0" smtClean="0"/>
                        <a:t>File System Dump Tool</a:t>
                      </a:r>
                    </a:p>
                    <a:p>
                      <a:endParaRPr lang="en-CA" dirty="0" smtClean="0"/>
                    </a:p>
                  </a:txBody>
                  <a:tcPr>
                    <a:solidFill>
                      <a:schemeClr val="accent3">
                        <a:lumMod val="95000"/>
                      </a:schemeClr>
                    </a:solidFill>
                  </a:tcPr>
                </a:tc>
                <a:tc>
                  <a:txBody>
                    <a:bodyPr/>
                    <a:lstStyle/>
                    <a:p>
                      <a:pPr marL="285750" indent="-285750">
                        <a:buFont typeface="Arial" panose="020B0604020202020204" pitchFamily="34" charset="0"/>
                        <a:buChar char="•"/>
                      </a:pPr>
                      <a:r>
                        <a:rPr lang="en-CA" dirty="0" smtClean="0"/>
                        <a:t>Type-Specific File System Corruptor</a:t>
                      </a:r>
                    </a:p>
                    <a:p>
                      <a:pPr marL="285750" indent="-285750">
                        <a:buFont typeface="Arial" panose="020B0604020202020204" pitchFamily="34" charset="0"/>
                        <a:buChar char="•"/>
                      </a:pPr>
                      <a:r>
                        <a:rPr lang="en-CA" dirty="0" smtClean="0"/>
                        <a:t>File System Conversion Tool</a:t>
                      </a:r>
                    </a:p>
                  </a:txBody>
                  <a:tcPr>
                    <a:solidFill>
                      <a:schemeClr val="accent3">
                        <a:lumMod val="95000"/>
                      </a:schemeClr>
                    </a:solidFill>
                  </a:tcPr>
                </a:tc>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0" i="1" dirty="0" smtClean="0"/>
                        <a:t>Online</a:t>
                      </a:r>
                      <a:br>
                        <a:rPr lang="en-CA" b="0" i="1" dirty="0" smtClean="0"/>
                      </a:br>
                      <a:r>
                        <a:rPr lang="en-CA" b="0" i="1" dirty="0" smtClean="0"/>
                        <a:t>(Kernel)</a:t>
                      </a:r>
                    </a:p>
                    <a:p>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File-System Aware Block Layer Cache</a:t>
                      </a:r>
                    </a:p>
                    <a:p>
                      <a:pPr marL="285750" indent="-285750">
                        <a:buFont typeface="Arial" panose="020B0604020202020204" pitchFamily="34" charset="0"/>
                        <a:buChar char="•"/>
                      </a:pPr>
                      <a:r>
                        <a:rPr lang="en-CA" dirty="0" smtClean="0"/>
                        <a:t>Runtime File Systems Checker</a:t>
                      </a:r>
                    </a:p>
                  </a:txBody>
                  <a:tcPr>
                    <a:solidFill>
                      <a:schemeClr val="accent3">
                        <a:lumMod val="95000"/>
                      </a:schemeClr>
                    </a:solidFill>
                  </a:tcPr>
                </a:tc>
                <a:tc>
                  <a:txBody>
                    <a:bodyPr/>
                    <a:lstStyle/>
                    <a:p>
                      <a:endParaRPr lang="en-CA" dirty="0"/>
                    </a:p>
                  </a:txBody>
                  <a:tcPr>
                    <a:solidFill>
                      <a:schemeClr val="accent3">
                        <a:lumMod val="95000"/>
                      </a:schemeClr>
                    </a:solidFill>
                  </a:tcPr>
                </a:tc>
              </a:tr>
            </a:tbl>
          </a:graphicData>
        </a:graphic>
      </p:graphicFrame>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t>
            </a:r>
            <a:r>
              <a:rPr lang="en-CA" dirty="0" smtClean="0"/>
              <a:t>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t>
            </a:r>
            <a:r>
              <a:rPr lang="en-CA" dirty="0" smtClean="0"/>
              <a:t>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cout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e.get_name</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endl</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e.process_pointers</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64192881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t>
            </a:r>
            <a:r>
              <a:rPr lang="en-CA" dirty="0" smtClean="0"/>
              <a:t>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p.to_pointer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endPar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5958931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t>
            </a:r>
            <a:r>
              <a:rPr lang="en-CA" dirty="0" smtClean="0"/>
              <a:t>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Ext4IO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 fs(</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fs.fetch_super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endPar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endParaRP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endParaRPr lang="en-CA" sz="1350" kern="0" dirty="0" smtClean="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5892807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p:txBody>
          <a:bodyPr/>
          <a:lstStyle/>
          <a:p>
            <a:r>
              <a:rPr lang="en-CA" dirty="0" smtClean="0"/>
              <a:t>Provides </a:t>
            </a:r>
            <a:r>
              <a:rPr lang="en-CA" dirty="0" smtClean="0"/>
              <a:t>API to filter out fields and structures</a:t>
            </a:r>
          </a:p>
          <a:p>
            <a:pPr lvl="1"/>
            <a:r>
              <a:rPr lang="en-CA" dirty="0" smtClean="0"/>
              <a:t>Helps reduce and declutter the output</a:t>
            </a:r>
          </a:p>
          <a:p>
            <a:pPr lvl="1"/>
            <a:r>
              <a:rPr lang="en-CA" dirty="0" smtClean="0"/>
              <a:t>E.g. Ext4 dump tool does not export unallocated </a:t>
            </a:r>
            <a:r>
              <a:rPr lang="en-CA" dirty="0" err="1" smtClean="0"/>
              <a:t>inode</a:t>
            </a:r>
            <a:endParaRPr lang="en-CA" dirty="0" smtClean="0"/>
          </a:p>
          <a:p>
            <a:r>
              <a:rPr lang="en-CA" dirty="0"/>
              <a:t>Works for all annotated file systems</a:t>
            </a:r>
          </a:p>
          <a:p>
            <a:pPr lvl="1"/>
            <a:r>
              <a:rPr lang="en-CA" sz="2000" dirty="0"/>
              <a:t>Generic Application Code: </a:t>
            </a:r>
            <a:r>
              <a:rPr lang="en-CA" sz="2000" dirty="0" smtClean="0"/>
              <a:t>482 </a:t>
            </a:r>
            <a:r>
              <a:rPr lang="en-CA" sz="2000" dirty="0"/>
              <a:t>LOC</a:t>
            </a:r>
          </a:p>
          <a:p>
            <a:pPr lvl="1"/>
            <a:r>
              <a:rPr lang="en-CA" sz="2000" dirty="0"/>
              <a:t>File-System Specific Code: </a:t>
            </a:r>
            <a:r>
              <a:rPr lang="en-CA" sz="2000" dirty="0" smtClean="0"/>
              <a:t>30 to 60 </a:t>
            </a:r>
            <a:r>
              <a:rPr lang="en-CA" sz="2000" dirty="0"/>
              <a:t>LOC </a:t>
            </a:r>
            <a:r>
              <a:rPr lang="en-CA" sz="2000" dirty="0" smtClean="0"/>
              <a:t>each</a:t>
            </a:r>
            <a:endParaRPr lang="en-CA" sz="2000" dirty="0"/>
          </a:p>
        </p:txBody>
      </p:sp>
    </p:spTree>
    <p:extLst>
      <p:ext uri="{BB962C8B-B14F-4D97-AF65-F5344CB8AC3E}">
        <p14:creationId xmlns:p14="http://schemas.microsoft.com/office/powerpoint/2010/main" val="253106129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Helps test robustness of file systems and their tools</a:t>
            </a:r>
          </a:p>
          <a:p>
            <a:r>
              <a:rPr lang="en-CA" dirty="0" smtClean="0"/>
              <a:t>Finds </a:t>
            </a:r>
            <a:r>
              <a:rPr lang="en-CA" dirty="0" smtClean="0"/>
              <a:t>and corrupts a field in a specified structure</a:t>
            </a:r>
          </a:p>
          <a:p>
            <a:pPr lvl="1"/>
            <a:r>
              <a:rPr lang="en-CA" sz="2000" dirty="0" smtClean="0"/>
              <a:t>Generic </a:t>
            </a:r>
            <a:r>
              <a:rPr lang="en-CA" sz="2000" dirty="0" smtClean="0"/>
              <a:t>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222650492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a:t>
            </a:r>
            <a:r>
              <a:rPr lang="en-CA" dirty="0" smtClean="0"/>
              <a:t>from one </a:t>
            </a:r>
            <a:r>
              <a:rPr lang="en-CA" dirty="0" smtClean="0"/>
              <a:t>file system to </a:t>
            </a:r>
            <a:r>
              <a:rPr lang="en-CA" dirty="0" smtClean="0"/>
              <a:t>another</a:t>
            </a:r>
          </a:p>
          <a:p>
            <a:pPr lvl="1"/>
            <a:r>
              <a:rPr lang="en-CA" dirty="0" smtClean="0"/>
              <a:t>In-place conversion, no secondary device needed</a:t>
            </a:r>
            <a:endParaRPr lang="en-CA" dirty="0" smtClean="0"/>
          </a:p>
          <a:p>
            <a:pPr lvl="1"/>
            <a:r>
              <a:rPr lang="en-CA" dirty="0" smtClean="0"/>
              <a:t>M</a:t>
            </a:r>
            <a:r>
              <a:rPr lang="en-CA" dirty="0" smtClean="0"/>
              <a:t>inimizes copying data blocks</a:t>
            </a:r>
            <a:endParaRPr lang="en-CA" dirty="0" smtClean="0"/>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Spiffy </a:t>
            </a:r>
            <a:r>
              <a:rPr lang="en-CA" dirty="0"/>
              <a:t>converter versus copy-based </a:t>
            </a:r>
            <a:r>
              <a:rPr lang="en-CA" dirty="0" smtClean="0"/>
              <a:t>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pPr marL="342900" lvl="1" indent="-342900">
              <a:buClr>
                <a:srgbClr val="52237F"/>
              </a:buClr>
            </a:pPr>
            <a:r>
              <a:rPr lang="en-CA" sz="1800" dirty="0"/>
              <a:t>Supports </a:t>
            </a:r>
            <a:r>
              <a:rPr lang="en-CA" sz="1800" dirty="0" smtClean="0"/>
              <a:t>block caching </a:t>
            </a:r>
            <a:r>
              <a:rPr lang="en-CA" sz="1800" dirty="0"/>
              <a:t>policies that use file-system specific information</a:t>
            </a:r>
          </a:p>
          <a:p>
            <a:pPr lvl="1"/>
            <a:r>
              <a:rPr lang="en-CA" sz="1600" dirty="0" smtClean="0"/>
              <a:t>Implemented at the block layer</a:t>
            </a:r>
          </a:p>
          <a:p>
            <a:pPr lvl="1"/>
            <a:r>
              <a:rPr lang="en-CA" sz="1600" dirty="0" smtClean="0"/>
              <a:t>Requires </a:t>
            </a:r>
            <a:r>
              <a:rPr lang="en-CA" sz="1600" dirty="0"/>
              <a:t>no changes to the file system</a:t>
            </a:r>
            <a:r>
              <a:rPr lang="en-CA" sz="1600" dirty="0" smtClean="0"/>
              <a:t>!</a:t>
            </a:r>
          </a:p>
          <a:p>
            <a:r>
              <a:rPr lang="en-CA" sz="1800" dirty="0"/>
              <a:t>Identifies and interprets blocks as they are read or written</a:t>
            </a:r>
          </a:p>
          <a:p>
            <a:pPr lvl="1"/>
            <a:r>
              <a:rPr lang="en-CA" sz="1600" dirty="0"/>
              <a:t>Identifies the types of blocks</a:t>
            </a:r>
          </a:p>
          <a:p>
            <a:pPr lvl="1"/>
            <a:r>
              <a:rPr lang="en-CA" sz="1600" dirty="0"/>
              <a:t>Interprets their contents to extract file-system specific </a:t>
            </a:r>
            <a:r>
              <a:rPr lang="en-CA" sz="1600" dirty="0" smtClean="0"/>
              <a:t>information</a:t>
            </a:r>
            <a:endParaRPr lang="en-CA" sz="1600" dirty="0"/>
          </a:p>
          <a:p>
            <a:r>
              <a:rPr lang="en-CA" sz="1800" dirty="0" smtClean="0"/>
              <a:t>Block caching policies</a:t>
            </a:r>
          </a:p>
          <a:p>
            <a:pPr lvl="1"/>
            <a:r>
              <a:rPr lang="en-CA" sz="1600" dirty="0" smtClean="0"/>
              <a:t>Cache file system metadata</a:t>
            </a:r>
          </a:p>
          <a:p>
            <a:pPr lvl="2"/>
            <a:r>
              <a:rPr lang="en-CA" sz="1600" dirty="0" smtClean="0"/>
              <a:t>When a block is accessed, Spiffy helps determine whether block is data/metadata</a:t>
            </a:r>
          </a:p>
          <a:p>
            <a:pPr lvl="1"/>
            <a:r>
              <a:rPr lang="en-CA" sz="1600" dirty="0" smtClean="0"/>
              <a:t>Cache small files, cache a specific user’s files</a:t>
            </a:r>
          </a:p>
          <a:p>
            <a:pPr lvl="2"/>
            <a:r>
              <a:rPr lang="en-CA" sz="1600" dirty="0" smtClean="0"/>
              <a:t>When a block is accessed, Spiffy helps determine the file to which block belongs</a:t>
            </a:r>
          </a:p>
          <a:p>
            <a:pPr lvl="2"/>
            <a:endParaRPr lang="en-CA" sz="1600" dirty="0" smtClean="0"/>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Runtime File System Checker</a:t>
            </a:r>
            <a:endParaRPr lang="en-CA" dirty="0"/>
          </a:p>
        </p:txBody>
      </p:sp>
      <p:sp>
        <p:nvSpPr>
          <p:cNvPr id="3" name="Content Placeholder 2"/>
          <p:cNvSpPr>
            <a:spLocks noGrp="1"/>
          </p:cNvSpPr>
          <p:nvPr>
            <p:ph idx="1"/>
          </p:nvPr>
        </p:nvSpPr>
        <p:spPr/>
        <p:txBody>
          <a:bodyPr/>
          <a:lstStyle/>
          <a:p>
            <a:r>
              <a:rPr lang="en-CA" dirty="0" smtClean="0"/>
              <a:t>Checks whether file system writes would cause file system inconsistency on disk</a:t>
            </a:r>
          </a:p>
          <a:p>
            <a:pPr lvl="1"/>
            <a:r>
              <a:rPr lang="en-CA" sz="2000" dirty="0"/>
              <a:t>Identifies and interprets blocks as they are read or written</a:t>
            </a:r>
          </a:p>
          <a:p>
            <a:pPr lvl="1"/>
            <a:r>
              <a:rPr lang="en-CA" sz="2000" dirty="0"/>
              <a:t>At commit time, </a:t>
            </a:r>
            <a:r>
              <a:rPr lang="en-CA" sz="2000" dirty="0" smtClean="0"/>
              <a:t>compares </a:t>
            </a:r>
            <a:r>
              <a:rPr lang="en-CA" sz="2000" dirty="0"/>
              <a:t>old and new versions </a:t>
            </a:r>
            <a:r>
              <a:rPr lang="en-CA" sz="2000" dirty="0" smtClean="0"/>
              <a:t>of modified blocks</a:t>
            </a:r>
            <a:endParaRPr lang="en-CA" sz="2000" dirty="0"/>
          </a:p>
          <a:p>
            <a:pPr lvl="1"/>
            <a:r>
              <a:rPr lang="en-CA" sz="2000" dirty="0" smtClean="0"/>
              <a:t>Generates </a:t>
            </a:r>
            <a:r>
              <a:rPr lang="en-CA" sz="2000" dirty="0"/>
              <a:t>logical changes to </a:t>
            </a:r>
            <a:r>
              <a:rPr lang="en-CA" sz="2000" dirty="0" smtClean="0"/>
              <a:t>file system metadata</a:t>
            </a:r>
          </a:p>
          <a:p>
            <a:pPr lvl="1"/>
            <a:r>
              <a:rPr lang="en-CA" sz="2000" dirty="0" smtClean="0"/>
              <a:t>Checks </a:t>
            </a:r>
            <a:r>
              <a:rPr lang="en-CA" sz="2000" dirty="0"/>
              <a:t>changes against file-system specific consistency </a:t>
            </a:r>
            <a:r>
              <a:rPr lang="en-CA" sz="2000" dirty="0" smtClean="0"/>
              <a:t>rules</a:t>
            </a:r>
          </a:p>
          <a:p>
            <a:r>
              <a:rPr lang="en-CA" sz="2200" dirty="0" smtClean="0"/>
              <a:t>Evaluation</a:t>
            </a:r>
            <a:endParaRPr lang="en-CA" sz="2200" dirty="0"/>
          </a:p>
          <a:p>
            <a:pPr lvl="1"/>
            <a:r>
              <a:rPr lang="en-CA" sz="2000" dirty="0" smtClean="0"/>
              <a:t>Ext4 manual differencing: 2099 lines of code</a:t>
            </a:r>
          </a:p>
          <a:p>
            <a:pPr lvl="1"/>
            <a:r>
              <a:rPr lang="en-CA" sz="2000"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a:t>Runtime Verification for File Systems</a:t>
            </a:r>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Find Out More</a:t>
            </a:r>
            <a:endParaRPr lang="en-CA" dirty="0"/>
          </a:p>
        </p:txBody>
      </p:sp>
      <p:sp>
        <p:nvSpPr>
          <p:cNvPr id="3" name="Content Placeholder 2"/>
          <p:cNvSpPr>
            <a:spLocks noGrp="1"/>
          </p:cNvSpPr>
          <p:nvPr>
            <p:ph idx="1"/>
          </p:nvPr>
        </p:nvSpPr>
        <p:spPr/>
        <p:txBody>
          <a:bodyPr/>
          <a:lstStyle/>
          <a:p>
            <a:r>
              <a:rPr lang="en-CA" dirty="0" smtClean="0"/>
              <a:t>FAST 2018 Paper</a:t>
            </a:r>
          </a:p>
          <a:p>
            <a:pPr lvl="1"/>
            <a:r>
              <a:rPr lang="en-CA" sz="2000" dirty="0">
                <a:hlinkClick r:id="rId2"/>
              </a:rPr>
              <a:t>https://</a:t>
            </a:r>
            <a:r>
              <a:rPr lang="en-CA" sz="2000" dirty="0" smtClean="0">
                <a:hlinkClick r:id="rId2"/>
              </a:rPr>
              <a:t>www.usenix.org/system/files/conference/fast18/fast18-sun.pdf</a:t>
            </a:r>
            <a:endParaRPr lang="en-CA" dirty="0" smtClean="0"/>
          </a:p>
          <a:p>
            <a:r>
              <a:rPr lang="en-CA" dirty="0" smtClean="0"/>
              <a:t>GitHub repository</a:t>
            </a:r>
          </a:p>
          <a:p>
            <a:pPr lvl="1"/>
            <a:r>
              <a:rPr lang="en-CA" sz="2000" dirty="0">
                <a:hlinkClick r:id="rId3"/>
              </a:rPr>
              <a:t>https://</a:t>
            </a:r>
            <a:r>
              <a:rPr lang="en-CA" sz="2000" dirty="0" smtClean="0">
                <a:hlinkClick r:id="rId3"/>
              </a:rPr>
              <a:t>github.com/jacksun007/spiffy</a:t>
            </a:r>
            <a:endParaRPr lang="en-CA" sz="2000" dirty="0" smtClean="0"/>
          </a:p>
          <a:p>
            <a:pPr lvl="1"/>
            <a:endParaRPr lang="en-CA" dirty="0" smtClean="0"/>
          </a:p>
          <a:p>
            <a:pPr lvl="1"/>
            <a:endParaRPr lang="en-CA" dirty="0"/>
          </a:p>
        </p:txBody>
      </p:sp>
    </p:spTree>
    <p:extLst>
      <p:ext uri="{BB962C8B-B14F-4D97-AF65-F5344CB8AC3E}">
        <p14:creationId xmlns:p14="http://schemas.microsoft.com/office/powerpoint/2010/main" val="1882160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extLst>
                    <a:ext uri="{9D8B030D-6E8A-4147-A177-3AD203B41FA5}">
                      <a16:colId xmlns:a16="http://schemas.microsoft.com/office/drawing/2014/main" xmlns="" val="20000"/>
                    </a:ext>
                  </a:extLst>
                </a:gridCol>
                <a:gridCol w="3950968">
                  <a:extLst>
                    <a:ext uri="{9D8B030D-6E8A-4147-A177-3AD203B41FA5}">
                      <a16:colId xmlns:a16="http://schemas.microsoft.com/office/drawing/2014/main" xmlns="" val="20001"/>
                    </a:ext>
                  </a:extLst>
                </a:gridCol>
                <a:gridCol w="3522585">
                  <a:extLst>
                    <a:ext uri="{9D8B030D-6E8A-4147-A177-3AD203B41FA5}">
                      <a16:colId xmlns:a16="http://schemas.microsoft.com/office/drawing/2014/main" xmlns="" val="20002"/>
                    </a:ext>
                  </a:extLst>
                </a:gridCol>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xmlns="" val="10000"/>
                  </a:ext>
                </a:extLst>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xmlns="" val="10001"/>
                  </a:ext>
                </a:extLst>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2"/>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3"/>
                  </a:ext>
                </a:extLst>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4"/>
                  </a:ext>
                </a:extLst>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5"/>
                  </a:ext>
                </a:extLst>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6"/>
                  </a:ext>
                </a:extLst>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7"/>
                  </a:ext>
                </a:extLst>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8"/>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9"/>
                  </a:ext>
                </a:extLst>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xmlns="" val="10010"/>
                  </a:ext>
                </a:extLst>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11"/>
                  </a:ext>
                </a:extLst>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13664</TotalTime>
  <Words>8194</Words>
  <Application>Microsoft Office PowerPoint</Application>
  <PresentationFormat>On-screen Show (16:9)</PresentationFormat>
  <Paragraphs>1001</Paragraphs>
  <Slides>62</Slides>
  <Notes>60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Gill Sans MT</vt:lpstr>
      <vt:lpstr>微軟正黑體</vt:lpstr>
      <vt:lpstr>新細明體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Need for Annotations</vt:lpstr>
      <vt:lpstr>Need for Annotations</vt:lpstr>
      <vt:lpstr>Pointer Annotations</vt:lpstr>
      <vt:lpstr>Pointer Address Space</vt:lpstr>
      <vt:lpstr>Block Address Space</vt:lpstr>
      <vt:lpstr>File Address Space</vt:lpstr>
      <vt:lpstr>Super Block</vt:lpstr>
      <vt:lpstr>Super Block</vt:lpstr>
      <vt:lpstr>Super Block</vt:lpstr>
      <vt:lpstr>Context-Sensitive Types</vt:lpstr>
      <vt:lpstr>Context-Sensitive Types</vt:lpstr>
      <vt:lpstr>Context-Sensitive Types</vt:lpstr>
      <vt:lpstr>Context-Sensitive Types</vt:lpstr>
      <vt:lpstr>Missing Pointer</vt:lpstr>
      <vt:lpstr>Implicit Pointer</vt:lpstr>
      <vt:lpstr>Implicit Pointer</vt:lpstr>
      <vt:lpstr>Vector Types</vt:lpstr>
      <vt:lpstr>Vector Types</vt:lpstr>
      <vt:lpstr>Vector Types</vt:lpstr>
      <vt:lpstr>Vector Types</vt:lpstr>
      <vt:lpstr>Vector Types</vt:lpstr>
      <vt:lpstr>Check Annotations</vt:lpstr>
      <vt:lpstr>Check Annotations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File System Dump Tool</vt:lpstr>
      <vt:lpstr>File System Dump Tool</vt:lpstr>
      <vt:lpstr>File System Dump Tool</vt:lpstr>
      <vt:lpstr>File System Dump Tool</vt:lpstr>
      <vt:lpstr>File System Dump Tool</vt:lpstr>
      <vt:lpstr>Type-Specific File System Corruptor</vt:lpstr>
      <vt:lpstr>File System Conversion Tool</vt:lpstr>
      <vt:lpstr>Evaluation: Ext4 to F2FS Converter</vt:lpstr>
      <vt:lpstr>File-system Aware Block Layer Cache</vt:lpstr>
      <vt:lpstr>Runtime File System Checker</vt:lpstr>
      <vt:lpstr>Demo of Spiffy Applications</vt:lpstr>
      <vt:lpstr>Conclusion</vt:lpstr>
      <vt:lpstr>Find Out More</vt:lpstr>
      <vt:lpstr>Spiffy: Enabling File-System Aware Storage Applications</vt:lpstr>
      <vt:lpstr>Spiffy API (C++)</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164</cp:revision>
  <dcterms:created xsi:type="dcterms:W3CDTF">2016-06-02T15:35:50Z</dcterms:created>
  <dcterms:modified xsi:type="dcterms:W3CDTF">2018-09-26T08:00:11Z</dcterms:modified>
</cp:coreProperties>
</file>