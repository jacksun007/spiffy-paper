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handoutMasterIdLst>
    <p:handoutMasterId r:id="rId6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14" r:id="rId14"/>
    <p:sldId id="315" r:id="rId15"/>
    <p:sldId id="268" r:id="rId16"/>
    <p:sldId id="269" r:id="rId17"/>
    <p:sldId id="270" r:id="rId18"/>
    <p:sldId id="271" r:id="rId19"/>
    <p:sldId id="311" r:id="rId20"/>
    <p:sldId id="316" r:id="rId21"/>
    <p:sldId id="317" r:id="rId22"/>
    <p:sldId id="318" r:id="rId23"/>
    <p:sldId id="274" r:id="rId24"/>
    <p:sldId id="319" r:id="rId25"/>
    <p:sldId id="320" r:id="rId26"/>
    <p:sldId id="272" r:id="rId27"/>
    <p:sldId id="273" r:id="rId28"/>
    <p:sldId id="321" r:id="rId29"/>
    <p:sldId id="323"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325" r:id="rId44"/>
    <p:sldId id="322" r:id="rId45"/>
    <p:sldId id="288" r:id="rId46"/>
    <p:sldId id="289" r:id="rId47"/>
    <p:sldId id="290" r:id="rId48"/>
    <p:sldId id="312" r:id="rId49"/>
    <p:sldId id="303" r:id="rId50"/>
    <p:sldId id="291" r:id="rId51"/>
    <p:sldId id="313" r:id="rId52"/>
    <p:sldId id="305" r:id="rId53"/>
    <p:sldId id="306" r:id="rId54"/>
    <p:sldId id="310" r:id="rId55"/>
    <p:sldId id="324" r:id="rId56"/>
    <p:sldId id="309" r:id="rId57"/>
    <p:sldId id="307" r:id="rId58"/>
    <p:sldId id="308" r:id="rId59"/>
  </p:sldIdLst>
  <p:sldSz cx="9144000" cy="5143500" type="screen16x9"/>
  <p:notesSz cx="7077075" cy="9383713"/>
  <p:defaultTextStyle>
    <a:defPPr>
      <a:defRPr lang="en-US"/>
    </a:defPPr>
    <a:lvl1pPr algn="l" rtl="0" fontAlgn="base">
      <a:spcBef>
        <a:spcPct val="0"/>
      </a:spcBef>
      <a:spcAft>
        <a:spcPct val="0"/>
      </a:spcAft>
      <a:defRPr sz="1600" kern="1200">
        <a:solidFill>
          <a:schemeClr val="tx1"/>
        </a:solidFill>
        <a:latin typeface="Arial" charset="0"/>
        <a:ea typeface="+mn-ea"/>
        <a:cs typeface="+mn-cs"/>
      </a:defRPr>
    </a:lvl1pPr>
    <a:lvl2pPr marL="457200" algn="l" rtl="0" fontAlgn="base">
      <a:spcBef>
        <a:spcPct val="0"/>
      </a:spcBef>
      <a:spcAft>
        <a:spcPct val="0"/>
      </a:spcAft>
      <a:defRPr sz="1600" kern="1200">
        <a:solidFill>
          <a:schemeClr val="tx1"/>
        </a:solidFill>
        <a:latin typeface="Arial" charset="0"/>
        <a:ea typeface="+mn-ea"/>
        <a:cs typeface="+mn-cs"/>
      </a:defRPr>
    </a:lvl2pPr>
    <a:lvl3pPr marL="914400" algn="l" rtl="0" fontAlgn="base">
      <a:spcBef>
        <a:spcPct val="0"/>
      </a:spcBef>
      <a:spcAft>
        <a:spcPct val="0"/>
      </a:spcAft>
      <a:defRPr sz="1600" kern="1200">
        <a:solidFill>
          <a:schemeClr val="tx1"/>
        </a:solidFill>
        <a:latin typeface="Arial" charset="0"/>
        <a:ea typeface="+mn-ea"/>
        <a:cs typeface="+mn-cs"/>
      </a:defRPr>
    </a:lvl3pPr>
    <a:lvl4pPr marL="1371600" algn="l" rtl="0" fontAlgn="base">
      <a:spcBef>
        <a:spcPct val="0"/>
      </a:spcBef>
      <a:spcAft>
        <a:spcPct val="0"/>
      </a:spcAft>
      <a:defRPr sz="1600" kern="1200">
        <a:solidFill>
          <a:schemeClr val="tx1"/>
        </a:solidFill>
        <a:latin typeface="Arial" charset="0"/>
        <a:ea typeface="+mn-ea"/>
        <a:cs typeface="+mn-cs"/>
      </a:defRPr>
    </a:lvl4pPr>
    <a:lvl5pPr marL="1828800" algn="l" rtl="0" fontAlgn="base">
      <a:spcBef>
        <a:spcPct val="0"/>
      </a:spcBef>
      <a:spcAft>
        <a:spcPct val="0"/>
      </a:spcAft>
      <a:defRPr sz="1600" kern="1200">
        <a:solidFill>
          <a:schemeClr val="tx1"/>
        </a:solidFill>
        <a:latin typeface="Arial" charset="0"/>
        <a:ea typeface="+mn-ea"/>
        <a:cs typeface="+mn-cs"/>
      </a:defRPr>
    </a:lvl5pPr>
    <a:lvl6pPr marL="2286000" algn="l" defTabSz="914400" rtl="0" eaLnBrk="1" latinLnBrk="0" hangingPunct="1">
      <a:defRPr sz="1600" kern="1200">
        <a:solidFill>
          <a:schemeClr val="tx1"/>
        </a:solidFill>
        <a:latin typeface="Arial" charset="0"/>
        <a:ea typeface="+mn-ea"/>
        <a:cs typeface="+mn-cs"/>
      </a:defRPr>
    </a:lvl6pPr>
    <a:lvl7pPr marL="2743200" algn="l" defTabSz="914400" rtl="0" eaLnBrk="1" latinLnBrk="0" hangingPunct="1">
      <a:defRPr sz="1600" kern="1200">
        <a:solidFill>
          <a:schemeClr val="tx1"/>
        </a:solidFill>
        <a:latin typeface="Arial" charset="0"/>
        <a:ea typeface="+mn-ea"/>
        <a:cs typeface="+mn-cs"/>
      </a:defRPr>
    </a:lvl7pPr>
    <a:lvl8pPr marL="3200400" algn="l" defTabSz="914400" rtl="0" eaLnBrk="1" latinLnBrk="0" hangingPunct="1">
      <a:defRPr sz="1600" kern="1200">
        <a:solidFill>
          <a:schemeClr val="tx1"/>
        </a:solidFill>
        <a:latin typeface="Arial" charset="0"/>
        <a:ea typeface="+mn-ea"/>
        <a:cs typeface="+mn-cs"/>
      </a:defRPr>
    </a:lvl8pPr>
    <a:lvl9pPr marL="3657600" algn="l" defTabSz="914400" rtl="0" eaLnBrk="1" latinLnBrk="0" hangingPunct="1">
      <a:defRPr sz="1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955">
          <p15:clr>
            <a:srgbClr val="A4A3A4"/>
          </p15:clr>
        </p15:guide>
        <p15:guide id="2" pos="222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B7B7FF"/>
    <a:srgbClr val="007089"/>
    <a:srgbClr val="7D7DFF"/>
    <a:srgbClr val="5D5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5507" autoAdjust="0"/>
  </p:normalViewPr>
  <p:slideViewPr>
    <p:cSldViewPr>
      <p:cViewPr varScale="1">
        <p:scale>
          <a:sx n="61" d="100"/>
          <a:sy n="61" d="100"/>
        </p:scale>
        <p:origin x="741" y="24"/>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p:scale>
          <a:sx n="70" d="100"/>
          <a:sy n="70" d="100"/>
        </p:scale>
        <p:origin x="-3198" y="-66"/>
      </p:cViewPr>
      <p:guideLst>
        <p:guide orient="horz" pos="2955"/>
        <p:guide pos="222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oleObject" Target="file:///E:\home\fishy\Documents\Research\fast-2018\converter-result.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656062388753131"/>
          <c:y val="5.9911271909187234E-2"/>
          <c:w val="0.53026608742872661"/>
          <c:h val="0.71485881469934165"/>
        </c:manualLayout>
      </c:layout>
      <c:lineChart>
        <c:grouping val="standard"/>
        <c:varyColors val="0"/>
        <c:ser>
          <c:idx val="0"/>
          <c:order val="0"/>
          <c:tx>
            <c:strRef>
              <c:f>Sheet1!$B$1</c:f>
              <c:strCache>
                <c:ptCount val="1"/>
                <c:pt idx="0">
                  <c:v>Copy Converter</c:v>
                </c:pt>
              </c:strCache>
            </c:strRef>
          </c:tx>
          <c:spPr>
            <a:ln w="28575" cap="rnd">
              <a:solidFill>
                <a:schemeClr val="accent6"/>
              </a:solidFill>
              <a:prstDash val="dash"/>
              <a:round/>
            </a:ln>
            <a:effectLst/>
          </c:spPr>
          <c:marker>
            <c:symbol val="square"/>
            <c:size val="6"/>
            <c:spPr>
              <a:solidFill>
                <a:schemeClr val="accent6"/>
              </a:solidFill>
              <a:ln w="9525">
                <a:solidFill>
                  <a:schemeClr val="accent6"/>
                </a:solidFill>
              </a:ln>
              <a:effectLst/>
            </c:spPr>
          </c:marker>
          <c:cat>
            <c:numRef>
              <c:f>Sheet1!$A$2:$A$5</c:f>
              <c:numCache>
                <c:formatCode>General</c:formatCode>
                <c:ptCount val="4"/>
                <c:pt idx="0">
                  <c:v>20000</c:v>
                </c:pt>
                <c:pt idx="1">
                  <c:v>5000</c:v>
                </c:pt>
                <c:pt idx="2">
                  <c:v>1000</c:v>
                </c:pt>
                <c:pt idx="3">
                  <c:v>100</c:v>
                </c:pt>
              </c:numCache>
            </c:numRef>
          </c:cat>
          <c:val>
            <c:numRef>
              <c:f>Sheet1!$B$2:$B$5</c:f>
              <c:numCache>
                <c:formatCode>General</c:formatCode>
                <c:ptCount val="4"/>
                <c:pt idx="0">
                  <c:v>188.17</c:v>
                </c:pt>
                <c:pt idx="1">
                  <c:v>190.28</c:v>
                </c:pt>
                <c:pt idx="2">
                  <c:v>192.74</c:v>
                </c:pt>
                <c:pt idx="3">
                  <c:v>195.11</c:v>
                </c:pt>
              </c:numCache>
            </c:numRef>
          </c:val>
          <c:smooth val="0"/>
          <c:extLst>
            <c:ext xmlns:c16="http://schemas.microsoft.com/office/drawing/2014/chart" uri="{C3380CC4-5D6E-409C-BE32-E72D297353CC}">
              <c16:uniqueId val="{00000000-9CC1-4262-BF0E-2ECA5CEA12BB}"/>
            </c:ext>
          </c:extLst>
        </c:ser>
        <c:ser>
          <c:idx val="2"/>
          <c:order val="1"/>
          <c:tx>
            <c:strRef>
              <c:f>Sheet1!$C$1</c:f>
              <c:strCache>
                <c:ptCount val="1"/>
                <c:pt idx="0">
                  <c:v>Spiffy Converter</c:v>
                </c:pt>
              </c:strCache>
            </c:strRef>
          </c:tx>
          <c:spPr>
            <a:ln w="28575" cap="rnd">
              <a:solidFill>
                <a:schemeClr val="tx2"/>
              </a:solidFill>
              <a:prstDash val="sysDot"/>
              <a:round/>
            </a:ln>
            <a:effectLst/>
          </c:spPr>
          <c:marker>
            <c:symbol val="diamond"/>
            <c:size val="6"/>
            <c:spPr>
              <a:solidFill>
                <a:schemeClr val="tx2"/>
              </a:solidFill>
              <a:ln w="9525">
                <a:solidFill>
                  <a:schemeClr val="tx2"/>
                </a:solidFill>
              </a:ln>
              <a:effectLst/>
            </c:spPr>
          </c:marker>
          <c:cat>
            <c:numRef>
              <c:f>Sheet1!$A$2:$A$5</c:f>
              <c:numCache>
                <c:formatCode>General</c:formatCode>
                <c:ptCount val="4"/>
                <c:pt idx="0">
                  <c:v>20000</c:v>
                </c:pt>
                <c:pt idx="1">
                  <c:v>5000</c:v>
                </c:pt>
                <c:pt idx="2">
                  <c:v>1000</c:v>
                </c:pt>
                <c:pt idx="3">
                  <c:v>100</c:v>
                </c:pt>
              </c:numCache>
            </c:numRef>
          </c:cat>
          <c:val>
            <c:numRef>
              <c:f>Sheet1!$C$2:$C$5</c:f>
              <c:numCache>
                <c:formatCode>0.00</c:formatCode>
                <c:ptCount val="4"/>
                <c:pt idx="0">
                  <c:v>7.03</c:v>
                </c:pt>
                <c:pt idx="1">
                  <c:v>4.01</c:v>
                </c:pt>
                <c:pt idx="2">
                  <c:v>3.84</c:v>
                </c:pt>
                <c:pt idx="3">
                  <c:v>3.71</c:v>
                </c:pt>
              </c:numCache>
            </c:numRef>
          </c:val>
          <c:smooth val="0"/>
          <c:extLst>
            <c:ext xmlns:c16="http://schemas.microsoft.com/office/drawing/2014/chart" uri="{C3380CC4-5D6E-409C-BE32-E72D297353CC}">
              <c16:uniqueId val="{00000002-9CC1-4262-BF0E-2ECA5CEA12BB}"/>
            </c:ext>
          </c:extLst>
        </c:ser>
        <c:dLbls>
          <c:showLegendKey val="0"/>
          <c:showVal val="0"/>
          <c:showCatName val="0"/>
          <c:showSerName val="0"/>
          <c:showPercent val="0"/>
          <c:showBubbleSize val="0"/>
        </c:dLbls>
        <c:marker val="1"/>
        <c:smooth val="0"/>
        <c:axId val="979050336"/>
        <c:axId val="979040544"/>
      </c:lineChart>
      <c:catAx>
        <c:axId val="979050336"/>
        <c:scaling>
          <c:orientation val="minMax"/>
        </c:scaling>
        <c:delete val="0"/>
        <c:axPos val="b"/>
        <c:title>
          <c:tx>
            <c:rich>
              <a:bodyPr rot="0" spcFirstLastPara="1" vertOverflow="ellipsis" vert="horz" wrap="square" anchor="ctr" anchorCtr="1"/>
              <a:lstStyle/>
              <a:p>
                <a:pPr>
                  <a:defRPr sz="1600" b="0" i="0" u="none" strike="noStrike" kern="1200" baseline="0">
                    <a:solidFill>
                      <a:srgbClr val="000000"/>
                    </a:solidFill>
                    <a:latin typeface="+mn-lt"/>
                    <a:ea typeface="+mn-ea"/>
                    <a:cs typeface="+mn-cs"/>
                  </a:defRPr>
                </a:pPr>
                <a:r>
                  <a:rPr lang="en-US" sz="1600" dirty="0">
                    <a:solidFill>
                      <a:srgbClr val="000000"/>
                    </a:solidFill>
                  </a:rPr>
                  <a:t># of </a:t>
                </a:r>
                <a:r>
                  <a:rPr lang="en-US" sz="1600" dirty="0" smtClean="0">
                    <a:solidFill>
                      <a:srgbClr val="000000"/>
                    </a:solidFill>
                  </a:rPr>
                  <a:t>files</a:t>
                </a:r>
                <a:endParaRPr lang="en-US" sz="1600" dirty="0">
                  <a:solidFill>
                    <a:srgbClr val="000000"/>
                  </a:solidFill>
                </a:endParaRPr>
              </a:p>
            </c:rich>
          </c:tx>
          <c:layout>
            <c:manualLayout>
              <c:xMode val="edge"/>
              <c:yMode val="edge"/>
              <c:x val="0.64516245814100825"/>
              <c:y val="0.81318646046260579"/>
            </c:manualLayout>
          </c:layout>
          <c:overlay val="0"/>
          <c:spPr>
            <a:noFill/>
            <a:ln>
              <a:noFill/>
            </a:ln>
            <a:effectLst/>
          </c:spPr>
          <c:txPr>
            <a:bodyPr rot="0" spcFirstLastPara="1" vertOverflow="ellipsis" vert="horz" wrap="square" anchor="ctr" anchorCtr="1"/>
            <a:lstStyle/>
            <a:p>
              <a:pPr>
                <a:defRPr sz="1600" b="0" i="0" u="none" strike="noStrike" kern="1200" baseline="0">
                  <a:solidFill>
                    <a:srgbClr val="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lumMod val="10000"/>
              </a:schemeClr>
            </a:solidFill>
            <a:round/>
          </a:ln>
          <a:effectLst/>
        </c:spPr>
        <c:txPr>
          <a:bodyPr rot="-60000000" spcFirstLastPara="1" vertOverflow="ellipsis" vert="horz" wrap="square" anchor="ctr" anchorCtr="1"/>
          <a:lstStyle/>
          <a:p>
            <a:pPr>
              <a:defRPr sz="1600" b="0" i="0" u="none" strike="noStrike" kern="1200" baseline="0">
                <a:solidFill>
                  <a:srgbClr val="000000"/>
                </a:solidFill>
                <a:latin typeface="+mn-lt"/>
                <a:ea typeface="+mn-ea"/>
                <a:cs typeface="+mn-cs"/>
              </a:defRPr>
            </a:pPr>
            <a:endParaRPr lang="en-US"/>
          </a:p>
        </c:txPr>
        <c:crossAx val="979040544"/>
        <c:crosses val="autoZero"/>
        <c:auto val="0"/>
        <c:lblAlgn val="ctr"/>
        <c:lblOffset val="100"/>
        <c:noMultiLvlLbl val="0"/>
      </c:catAx>
      <c:valAx>
        <c:axId val="979040544"/>
        <c:scaling>
          <c:logBase val="4"/>
          <c:orientation val="minMax"/>
        </c:scaling>
        <c:delete val="0"/>
        <c:axPos val="l"/>
        <c:majorGridlines>
          <c:spPr>
            <a:ln w="9525" cap="flat" cmpd="sng" algn="ctr">
              <a:solidFill>
                <a:schemeClr val="tx1">
                  <a:lumMod val="50000"/>
                </a:schemeClr>
              </a:solidFill>
              <a:round/>
            </a:ln>
            <a:effectLst/>
          </c:spPr>
        </c:majorGridlines>
        <c:title>
          <c:tx>
            <c:rich>
              <a:bodyPr rot="-5400000" spcFirstLastPara="1" vertOverflow="ellipsis" vert="horz" wrap="square" anchor="ctr" anchorCtr="1"/>
              <a:lstStyle/>
              <a:p>
                <a:pPr>
                  <a:defRPr sz="1600" b="0" i="0" u="none" strike="noStrike" kern="1200" baseline="0">
                    <a:solidFill>
                      <a:srgbClr val="000000"/>
                    </a:solidFill>
                    <a:latin typeface="+mn-lt"/>
                    <a:ea typeface="+mn-ea"/>
                    <a:cs typeface="+mn-cs"/>
                  </a:defRPr>
                </a:pPr>
                <a:r>
                  <a:rPr lang="en-CA" sz="1600">
                    <a:solidFill>
                      <a:srgbClr val="000000"/>
                    </a:solidFill>
                  </a:rPr>
                  <a:t>seconds</a:t>
                </a:r>
              </a:p>
            </c:rich>
          </c:tx>
          <c:layout/>
          <c:overlay val="0"/>
          <c:spPr>
            <a:noFill/>
            <a:ln>
              <a:noFill/>
            </a:ln>
            <a:effectLst/>
          </c:spPr>
          <c:txPr>
            <a:bodyPr rot="-5400000" spcFirstLastPara="1" vertOverflow="ellipsis" vert="horz" wrap="square" anchor="ctr" anchorCtr="1"/>
            <a:lstStyle/>
            <a:p>
              <a:pPr>
                <a:defRPr sz="1600" b="0" i="0" u="none" strike="noStrike" kern="1200" baseline="0">
                  <a:solidFill>
                    <a:srgbClr val="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rgbClr val="000000"/>
                </a:solidFill>
                <a:latin typeface="+mn-lt"/>
                <a:ea typeface="+mn-ea"/>
                <a:cs typeface="+mn-cs"/>
              </a:defRPr>
            </a:pPr>
            <a:endParaRPr lang="en-US"/>
          </a:p>
        </c:txPr>
        <c:crossAx val="979050336"/>
        <c:crosses val="autoZero"/>
        <c:crossBetween val="between"/>
      </c:valAx>
      <c:spPr>
        <a:noFill/>
        <a:ln>
          <a:solidFill>
            <a:schemeClr val="tx1">
              <a:lumMod val="50000"/>
            </a:schemeClr>
          </a:solidFill>
        </a:ln>
        <a:effectLst/>
      </c:spPr>
    </c:plotArea>
    <c:legend>
      <c:legendPos val="r"/>
      <c:layout>
        <c:manualLayout>
          <c:xMode val="edge"/>
          <c:yMode val="edge"/>
          <c:x val="0.70445091342517252"/>
          <c:y val="6.265615508636839E-2"/>
          <c:w val="0.26533503171365047"/>
          <c:h val="0.64145139331892442"/>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0000"/>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7050" cy="4699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sz="quarter" idx="1"/>
          </p:nvPr>
        </p:nvSpPr>
        <p:spPr>
          <a:xfrm>
            <a:off x="4008438" y="0"/>
            <a:ext cx="3067050" cy="469900"/>
          </a:xfrm>
          <a:prstGeom prst="rect">
            <a:avLst/>
          </a:prstGeom>
        </p:spPr>
        <p:txBody>
          <a:bodyPr vert="horz" lIns="91440" tIns="45720" rIns="91440" bIns="45720" rtlCol="0"/>
          <a:lstStyle>
            <a:lvl1pPr algn="r">
              <a:defRPr sz="1200">
                <a:latin typeface="Arial" charset="0"/>
              </a:defRPr>
            </a:lvl1pPr>
          </a:lstStyle>
          <a:p>
            <a:pPr>
              <a:defRPr/>
            </a:pPr>
            <a:fld id="{0C5C15DB-11A6-4112-B189-B4B63969769D}" type="datetimeFigureOut">
              <a:rPr lang="en-US"/>
              <a:pPr>
                <a:defRPr/>
              </a:pPr>
              <a:t>9/25/2018</a:t>
            </a:fld>
            <a:endParaRPr lang="en-US"/>
          </a:p>
        </p:txBody>
      </p:sp>
      <p:sp>
        <p:nvSpPr>
          <p:cNvPr id="4" name="Footer Placeholder 3"/>
          <p:cNvSpPr>
            <a:spLocks noGrp="1"/>
          </p:cNvSpPr>
          <p:nvPr>
            <p:ph type="ftr" sz="quarter" idx="2"/>
          </p:nvPr>
        </p:nvSpPr>
        <p:spPr>
          <a:xfrm>
            <a:off x="0" y="8912225"/>
            <a:ext cx="3067050" cy="4699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6" name="Slide Number Placeholder 5"/>
          <p:cNvSpPr>
            <a:spLocks noGrp="1"/>
          </p:cNvSpPr>
          <p:nvPr>
            <p:ph type="sldNum" sz="quarter" idx="3"/>
          </p:nvPr>
        </p:nvSpPr>
        <p:spPr>
          <a:xfrm>
            <a:off x="4008438" y="8912225"/>
            <a:ext cx="3067050" cy="469900"/>
          </a:xfrm>
          <a:prstGeom prst="rect">
            <a:avLst/>
          </a:prstGeom>
        </p:spPr>
        <p:txBody>
          <a:bodyPr vert="horz" lIns="91440" tIns="45720" rIns="91440" bIns="45720" rtlCol="0" anchor="b"/>
          <a:lstStyle>
            <a:lvl1pPr algn="r">
              <a:defRPr sz="1200">
                <a:latin typeface="Arial" charset="0"/>
              </a:defRPr>
            </a:lvl1pPr>
          </a:lstStyle>
          <a:p>
            <a:pPr>
              <a:defRPr/>
            </a:pPr>
            <a:fld id="{F4429B67-5F41-4671-BF3C-3A74F4BD2A15}" type="slidenum">
              <a:rPr lang="en-US"/>
              <a:pPr>
                <a:defRPr/>
              </a:pPr>
              <a:t>‹#›</a:t>
            </a:fld>
            <a:endParaRPr lang="en-US"/>
          </a:p>
        </p:txBody>
      </p:sp>
    </p:spTree>
    <p:extLst>
      <p:ext uri="{BB962C8B-B14F-4D97-AF65-F5344CB8AC3E}">
        <p14:creationId xmlns:p14="http://schemas.microsoft.com/office/powerpoint/2010/main" val="21075270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7050" cy="4699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4008438" y="0"/>
            <a:ext cx="3067050" cy="469900"/>
          </a:xfrm>
          <a:prstGeom prst="rect">
            <a:avLst/>
          </a:prstGeom>
        </p:spPr>
        <p:txBody>
          <a:bodyPr vert="horz" lIns="91440" tIns="45720" rIns="91440" bIns="45720" rtlCol="0"/>
          <a:lstStyle>
            <a:lvl1pPr algn="r">
              <a:defRPr sz="1200">
                <a:latin typeface="Arial" charset="0"/>
              </a:defRPr>
            </a:lvl1pPr>
          </a:lstStyle>
          <a:p>
            <a:pPr>
              <a:defRPr/>
            </a:pPr>
            <a:fld id="{E70C0810-4D61-476D-85B9-67DD24F29068}" type="datetimeFigureOut">
              <a:rPr lang="en-US"/>
              <a:pPr>
                <a:defRPr/>
              </a:pPr>
              <a:t>9/25/2018</a:t>
            </a:fld>
            <a:endParaRPr lang="en-US"/>
          </a:p>
        </p:txBody>
      </p:sp>
      <p:sp>
        <p:nvSpPr>
          <p:cNvPr id="4" name="Slide Image Placeholder 3"/>
          <p:cNvSpPr>
            <a:spLocks noGrp="1" noRot="1" noChangeAspect="1"/>
          </p:cNvSpPr>
          <p:nvPr>
            <p:ph type="sldImg" idx="2"/>
          </p:nvPr>
        </p:nvSpPr>
        <p:spPr>
          <a:xfrm>
            <a:off x="411163" y="703263"/>
            <a:ext cx="6254750" cy="3519487"/>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708025" y="4457700"/>
            <a:ext cx="5661025" cy="422275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912225"/>
            <a:ext cx="3067050" cy="4699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4008438" y="8912225"/>
            <a:ext cx="3067050" cy="469900"/>
          </a:xfrm>
          <a:prstGeom prst="rect">
            <a:avLst/>
          </a:prstGeom>
        </p:spPr>
        <p:txBody>
          <a:bodyPr vert="horz" lIns="91440" tIns="45720" rIns="91440" bIns="45720" rtlCol="0" anchor="b"/>
          <a:lstStyle>
            <a:lvl1pPr algn="r">
              <a:defRPr sz="1200">
                <a:latin typeface="Arial" charset="0"/>
              </a:defRPr>
            </a:lvl1pPr>
          </a:lstStyle>
          <a:p>
            <a:pPr>
              <a:defRPr/>
            </a:pPr>
            <a:fld id="{CFF1A404-780B-445D-9205-D143319E6490}" type="slidenum">
              <a:rPr lang="en-US"/>
              <a:pPr>
                <a:defRPr/>
              </a:pPr>
              <a:t>‹#›</a:t>
            </a:fld>
            <a:endParaRPr lang="en-US"/>
          </a:p>
        </p:txBody>
      </p:sp>
    </p:spTree>
    <p:extLst>
      <p:ext uri="{BB962C8B-B14F-4D97-AF65-F5344CB8AC3E}">
        <p14:creationId xmlns:p14="http://schemas.microsoft.com/office/powerpoint/2010/main" val="8167175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411163" y="703263"/>
            <a:ext cx="6254750" cy="351948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93FDF3EA-9C45-4FB6-8360-B20F215DDAF9}" type="slidenum">
              <a:rPr lang="en-US" altLang="en-US" smtClean="0">
                <a:latin typeface="Arial" charset="0"/>
              </a:rPr>
              <a:pPr eaLnBrk="1" hangingPunct="1">
                <a:spcBef>
                  <a:spcPct val="0"/>
                </a:spcBef>
              </a:pPr>
              <a:t>1</a:t>
            </a:fld>
            <a:endParaRPr lang="en-US" altLang="en-US" smtClean="0">
              <a:latin typeface="Arial" charset="0"/>
            </a:endParaRPr>
          </a:p>
        </p:txBody>
      </p:sp>
    </p:spTree>
    <p:extLst>
      <p:ext uri="{BB962C8B-B14F-4D97-AF65-F5344CB8AC3E}">
        <p14:creationId xmlns:p14="http://schemas.microsoft.com/office/powerpoint/2010/main" val="1283261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File-system aware applications are those applications that work </a:t>
            </a:r>
            <a:r>
              <a:rPr lang="en-CA" dirty="0" smtClean="0"/>
              <a:t>with </a:t>
            </a:r>
            <a:r>
              <a:rPr lang="en-CA" dirty="0" smtClean="0"/>
              <a:t>file system </a:t>
            </a:r>
            <a:r>
              <a:rPr lang="en-CA" dirty="0" smtClean="0"/>
              <a:t>metadata. </a:t>
            </a:r>
            <a:r>
              <a:rPr lang="en-CA" dirty="0" smtClean="0"/>
              <a:t>Examples</a:t>
            </a:r>
            <a:r>
              <a:rPr lang="en-CA" baseline="0" dirty="0" smtClean="0"/>
              <a:t> of such  </a:t>
            </a:r>
            <a:r>
              <a:rPr lang="en-CA" dirty="0" smtClean="0"/>
              <a:t>applications</a:t>
            </a:r>
            <a:r>
              <a:rPr lang="en-CA" baseline="0" dirty="0" smtClean="0"/>
              <a:t> include a </a:t>
            </a:r>
            <a:r>
              <a:rPr lang="en-CA" dirty="0" smtClean="0"/>
              <a:t>partition editor, a file system</a:t>
            </a:r>
            <a:r>
              <a:rPr lang="en-CA" baseline="0" dirty="0" smtClean="0"/>
              <a:t> checker, and a defragmentation tool. These applications </a:t>
            </a:r>
            <a:r>
              <a:rPr lang="en-CA" baseline="0" dirty="0" smtClean="0"/>
              <a:t>bypass the VFS layer and o</a:t>
            </a:r>
            <a:r>
              <a:rPr lang="en-CA" dirty="0" smtClean="0"/>
              <a:t>perate </a:t>
            </a:r>
            <a:r>
              <a:rPr lang="en-CA" dirty="0" smtClean="0"/>
              <a:t>directly on file system metadata structures on</a:t>
            </a:r>
            <a:r>
              <a:rPr lang="en-CA" baseline="0" dirty="0" smtClean="0"/>
              <a:t> </a:t>
            </a:r>
            <a:r>
              <a:rPr lang="en-CA" baseline="0" dirty="0" smtClean="0"/>
              <a:t>disk. </a:t>
            </a:r>
            <a:r>
              <a:rPr lang="en-CA" baseline="0" dirty="0" smtClean="0"/>
              <a:t>Therefore, writing file-system aware applications </a:t>
            </a:r>
            <a:r>
              <a:rPr lang="en-CA" sz="1200" b="0" i="0" u="none" strike="noStrike" kern="1200" baseline="0" dirty="0" smtClean="0">
                <a:solidFill>
                  <a:schemeClr val="tx1"/>
                </a:solidFill>
                <a:latin typeface="+mn-lt"/>
                <a:ea typeface="+mn-ea"/>
                <a:cs typeface="+mn-cs"/>
              </a:rPr>
              <a:t>requires detailed understanding of the file system format, including the ability to identify and interpret file system structures. These applications are essential for the successful deployment of a file system, since, for example, people will likely use a file system only if it comes with a file system checker.</a:t>
            </a:r>
            <a:endParaRPr lang="en-CA" dirty="0" smtClean="0"/>
          </a:p>
        </p:txBody>
      </p:sp>
      <p:sp>
        <p:nvSpPr>
          <p:cNvPr id="4" name="Slide Number Placeholder 3"/>
          <p:cNvSpPr>
            <a:spLocks noGrp="1"/>
          </p:cNvSpPr>
          <p:nvPr>
            <p:ph type="sldNum" sz="quarter" idx="10"/>
          </p:nvPr>
        </p:nvSpPr>
        <p:spPr/>
        <p:txBody>
          <a:bodyPr/>
          <a:lstStyle/>
          <a:p>
            <a:fld id="{849A0A36-F84D-437B-B821-CB3EBADC1433}" type="slidenum">
              <a:rPr lang="en-CA" smtClean="0"/>
              <a:t>2</a:t>
            </a:fld>
            <a:endParaRPr lang="en-CA"/>
          </a:p>
        </p:txBody>
      </p:sp>
    </p:spTree>
    <p:extLst>
      <p:ext uri="{BB962C8B-B14F-4D97-AF65-F5344CB8AC3E}">
        <p14:creationId xmlns:p14="http://schemas.microsoft.com/office/powerpoint/2010/main" val="439185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However,</a:t>
            </a:r>
            <a:r>
              <a:rPr lang="en-CA" baseline="0" dirty="0" smtClean="0"/>
              <a:t> there are several problems with writing and deploying these tools. </a:t>
            </a:r>
            <a:r>
              <a:rPr lang="en-CA" dirty="0" smtClean="0"/>
              <a:t>Currently, these</a:t>
            </a:r>
            <a:r>
              <a:rPr lang="en-CA" baseline="0" dirty="0" smtClean="0"/>
              <a:t> tools have to be developed from scratch for</a:t>
            </a:r>
            <a:r>
              <a:rPr lang="en-CA" dirty="0" smtClean="0"/>
              <a:t> each file system.</a:t>
            </a:r>
            <a:r>
              <a:rPr lang="en-CA" baseline="0" dirty="0" smtClean="0"/>
              <a:t> Moreover,</a:t>
            </a:r>
            <a:r>
              <a:rPr lang="en-CA" dirty="0" smtClean="0"/>
              <a:t> these</a:t>
            </a:r>
            <a:r>
              <a:rPr lang="en-CA" baseline="0" dirty="0" smtClean="0"/>
              <a:t> tools require significant file system understanding, and are thus typically developed by </a:t>
            </a:r>
            <a:r>
              <a:rPr lang="en-CA" dirty="0" smtClean="0"/>
              <a:t>file system</a:t>
            </a:r>
            <a:r>
              <a:rPr lang="en-CA" baseline="0" dirty="0" smtClean="0"/>
              <a:t> </a:t>
            </a:r>
            <a:r>
              <a:rPr lang="en-CA" dirty="0" smtClean="0"/>
              <a:t>experts.</a:t>
            </a:r>
            <a:r>
              <a:rPr lang="en-CA" baseline="0" dirty="0" smtClean="0"/>
              <a:t> Even so, these tools have bugs, and these bugs can lead to system crashes, data corruption, and security vulnerability. For example, the </a:t>
            </a:r>
            <a:r>
              <a:rPr lang="en-CA" baseline="0" dirty="0" err="1" smtClean="0"/>
              <a:t>ntfsprogs</a:t>
            </a:r>
            <a:r>
              <a:rPr lang="en-CA" baseline="0" dirty="0" smtClean="0"/>
              <a:t> library had a bug that was caused by misinterpreting the NTFS metadata. The size of the master file table or MFT record can be interpreted in two ways: it is the number of clusters per record if the value is positive, otherwise it is two to the power of the absolute value of the field, if the value is </a:t>
            </a:r>
            <a:r>
              <a:rPr lang="en-CA" baseline="0" dirty="0" err="1" smtClean="0"/>
              <a:t>negatve</a:t>
            </a:r>
            <a:r>
              <a:rPr lang="en-CA" baseline="0" dirty="0" smtClean="0"/>
              <a:t>. Unsurprisingly, the </a:t>
            </a:r>
            <a:r>
              <a:rPr lang="en-CA" baseline="0" dirty="0" err="1" smtClean="0"/>
              <a:t>ntfsprogs</a:t>
            </a:r>
            <a:r>
              <a:rPr lang="en-CA" baseline="0" dirty="0" smtClean="0"/>
              <a:t> library misinterpreted this field, and corrupted file systems when resizing partitions.</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3</a:t>
            </a:fld>
            <a:endParaRPr lang="en-CA"/>
          </a:p>
        </p:txBody>
      </p:sp>
    </p:spTree>
    <p:extLst>
      <p:ext uri="{BB962C8B-B14F-4D97-AF65-F5344CB8AC3E}">
        <p14:creationId xmlns:p14="http://schemas.microsoft.com/office/powerpoint/2010/main" val="3393997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smtClean="0"/>
              <a:t>The root cause of all these problems is that these</a:t>
            </a:r>
            <a:r>
              <a:rPr lang="en-CA" baseline="0" dirty="0" smtClean="0"/>
              <a:t> tools are inherently hard to write because the file system format is complex and poorly documented. These a</a:t>
            </a:r>
            <a:r>
              <a:rPr lang="en-CA" dirty="0" smtClean="0"/>
              <a:t>pplications require detailed knowledge </a:t>
            </a:r>
            <a:r>
              <a:rPr lang="en-CA" baseline="0" dirty="0" smtClean="0"/>
              <a:t>for traversing and processing file system metadata. Since different file systems use different metadata structures, an application cannot be reused across file systems. In addition, these applications need to be robust to file system corruption, or else they can crash or cause even more corruption.</a:t>
            </a:r>
          </a:p>
        </p:txBody>
      </p:sp>
      <p:sp>
        <p:nvSpPr>
          <p:cNvPr id="4" name="Slide Number Placeholder 3"/>
          <p:cNvSpPr>
            <a:spLocks noGrp="1"/>
          </p:cNvSpPr>
          <p:nvPr>
            <p:ph type="sldNum" sz="quarter" idx="10"/>
          </p:nvPr>
        </p:nvSpPr>
        <p:spPr/>
        <p:txBody>
          <a:bodyPr/>
          <a:lstStyle/>
          <a:p>
            <a:fld id="{B5B5BF96-4013-477F-9949-176AD53AFF60}" type="slidenum">
              <a:rPr lang="en-CA" smtClean="0"/>
              <a:t>4</a:t>
            </a:fld>
            <a:endParaRPr lang="en-CA"/>
          </a:p>
        </p:txBody>
      </p:sp>
    </p:spTree>
    <p:extLst>
      <p:ext uri="{BB962C8B-B14F-4D97-AF65-F5344CB8AC3E}">
        <p14:creationId xmlns:p14="http://schemas.microsoft.com/office/powerpoint/2010/main" val="1344251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smtClean="0"/>
              <a:t>Our goal for this work is to</a:t>
            </a:r>
            <a:r>
              <a:rPr lang="en-CA" baseline="0" dirty="0" smtClean="0"/>
              <a:t> simplify development of file-system aware applications in two ways. First, we would like to reduce the amount of file-system specific code that application developers have to write. Second, we would like to make it easier to write applications that work for multiple file systems. We also want to improve the robustness of these applications. In particular, we would like to enable correct traversal of file system metadata, and ensure type-safe access to file system metadata structures. Type-safe access helps with detecting corruption when reading metadata from disk, and also before writing metadata out to disk. This in turn helps reduce error propagation and further corruption from spreading.</a:t>
            </a:r>
          </a:p>
        </p:txBody>
      </p:sp>
      <p:sp>
        <p:nvSpPr>
          <p:cNvPr id="4" name="Slide Number Placeholder 3"/>
          <p:cNvSpPr>
            <a:spLocks noGrp="1"/>
          </p:cNvSpPr>
          <p:nvPr>
            <p:ph type="sldNum" sz="quarter" idx="10"/>
          </p:nvPr>
        </p:nvSpPr>
        <p:spPr/>
        <p:txBody>
          <a:bodyPr/>
          <a:lstStyle/>
          <a:p>
            <a:fld id="{B5B5BF96-4013-477F-9949-176AD53AFF60}" type="slidenum">
              <a:rPr lang="en-CA" smtClean="0"/>
              <a:t>5</a:t>
            </a:fld>
            <a:endParaRPr lang="en-CA"/>
          </a:p>
        </p:txBody>
      </p:sp>
    </p:spTree>
    <p:extLst>
      <p:ext uri="{BB962C8B-B14F-4D97-AF65-F5344CB8AC3E}">
        <p14:creationId xmlns:p14="http://schemas.microsoft.com/office/powerpoint/2010/main" val="1232113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Our</a:t>
            </a:r>
            <a:r>
              <a:rPr lang="en-CA" baseline="0" dirty="0" smtClean="0"/>
              <a:t> approach is embodied in the Spiffy framework that help developers with building file-system aware applications. The main idea is to have file system developers specify the format of their file system. With this specification, we can generate the Spiffy parsing and serialization library. Application developers can then use the Spiffy library to build robust file-system aware tools.</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6</a:t>
            </a:fld>
            <a:endParaRPr lang="en-CA"/>
          </a:p>
        </p:txBody>
      </p:sp>
    </p:spTree>
    <p:extLst>
      <p:ext uri="{BB962C8B-B14F-4D97-AF65-F5344CB8AC3E}">
        <p14:creationId xmlns:p14="http://schemas.microsoft.com/office/powerpoint/2010/main" val="3467152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Our</a:t>
            </a:r>
            <a:r>
              <a:rPr lang="en-CA" baseline="0" dirty="0" smtClean="0"/>
              <a:t> approach to specifying the format of the file system is to have file system developers annotate the metadata structures in the header files of existing source code.</a:t>
            </a:r>
            <a:endParaRPr lang="en-CA" dirty="0"/>
          </a:p>
        </p:txBody>
      </p:sp>
      <p:sp>
        <p:nvSpPr>
          <p:cNvPr id="4" name="Slide Number Placeholder 3"/>
          <p:cNvSpPr>
            <a:spLocks noGrp="1"/>
          </p:cNvSpPr>
          <p:nvPr>
            <p:ph type="sldNum" sz="quarter" idx="10"/>
          </p:nvPr>
        </p:nvSpPr>
        <p:spPr/>
        <p:txBody>
          <a:bodyPr/>
          <a:lstStyle/>
          <a:p>
            <a:fld id="{849A0A36-F84D-437B-B821-CB3EBADC1433}" type="slidenum">
              <a:rPr lang="en-CA" smtClean="0"/>
              <a:t>7</a:t>
            </a:fld>
            <a:endParaRPr lang="en-CA"/>
          </a:p>
        </p:txBody>
      </p:sp>
    </p:spTree>
    <p:extLst>
      <p:ext uri="{BB962C8B-B14F-4D97-AF65-F5344CB8AC3E}">
        <p14:creationId xmlns:p14="http://schemas.microsoft.com/office/powerpoint/2010/main" val="3659962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Next, we use the Spiffy compiler to process the annotated metadata structures</a:t>
            </a:r>
            <a:r>
              <a:rPr lang="en-CA" baseline="0" dirty="0" smtClean="0"/>
              <a:t> to generate a library that provides a generic API for type-safe parsing and serialization, as well as facility for traversing the file system. </a:t>
            </a:r>
            <a:endParaRPr lang="en-CA" dirty="0"/>
          </a:p>
        </p:txBody>
      </p:sp>
      <p:sp>
        <p:nvSpPr>
          <p:cNvPr id="4" name="Slide Number Placeholder 3"/>
          <p:cNvSpPr>
            <a:spLocks noGrp="1"/>
          </p:cNvSpPr>
          <p:nvPr>
            <p:ph type="sldNum" sz="quarter" idx="10"/>
          </p:nvPr>
        </p:nvSpPr>
        <p:spPr/>
        <p:txBody>
          <a:bodyPr/>
          <a:lstStyle/>
          <a:p>
            <a:fld id="{849A0A36-F84D-437B-B821-CB3EBADC1433}" type="slidenum">
              <a:rPr lang="en-CA" smtClean="0"/>
              <a:t>8</a:t>
            </a:fld>
            <a:endParaRPr lang="en-CA"/>
          </a:p>
        </p:txBody>
      </p:sp>
    </p:spTree>
    <p:extLst>
      <p:ext uri="{BB962C8B-B14F-4D97-AF65-F5344CB8AC3E}">
        <p14:creationId xmlns:p14="http://schemas.microsoft.com/office/powerpoint/2010/main" val="2916272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Lastly,</a:t>
            </a:r>
            <a:r>
              <a:rPr lang="en-CA" baseline="0" dirty="0" smtClean="0"/>
              <a:t> the application developers can use the Spiffy library to build robust tools. Since the Spiffy API is standardized for all annotated file systems, it is easier for developers to build applications that work for multiple file systems.</a:t>
            </a:r>
            <a:endParaRPr lang="en-CA" dirty="0"/>
          </a:p>
        </p:txBody>
      </p:sp>
      <p:sp>
        <p:nvSpPr>
          <p:cNvPr id="4" name="Slide Number Placeholder 3"/>
          <p:cNvSpPr>
            <a:spLocks noGrp="1"/>
          </p:cNvSpPr>
          <p:nvPr>
            <p:ph type="sldNum" sz="quarter" idx="10"/>
          </p:nvPr>
        </p:nvSpPr>
        <p:spPr/>
        <p:txBody>
          <a:bodyPr/>
          <a:lstStyle/>
          <a:p>
            <a:fld id="{849A0A36-F84D-437B-B821-CB3EBADC1433}" type="slidenum">
              <a:rPr lang="en-CA" smtClean="0"/>
              <a:t>9</a:t>
            </a:fld>
            <a:endParaRPr lang="en-CA"/>
          </a:p>
        </p:txBody>
      </p:sp>
    </p:spTree>
    <p:extLst>
      <p:ext uri="{BB962C8B-B14F-4D97-AF65-F5344CB8AC3E}">
        <p14:creationId xmlns:p14="http://schemas.microsoft.com/office/powerpoint/2010/main" val="1945725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To summarize</a:t>
            </a:r>
            <a:r>
              <a:rPr lang="en-CA" baseline="0" dirty="0" smtClean="0"/>
              <a:t> the talk thus far, we’ve described the difficulty with writing robust, and generic file-system applications. Now we will talk about the details of the Spiffy framework and how it helps with this problem. </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10</a:t>
            </a:fld>
            <a:endParaRPr lang="en-CA"/>
          </a:p>
        </p:txBody>
      </p:sp>
    </p:spTree>
    <p:extLst>
      <p:ext uri="{BB962C8B-B14F-4D97-AF65-F5344CB8AC3E}">
        <p14:creationId xmlns:p14="http://schemas.microsoft.com/office/powerpoint/2010/main" val="1573040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As a first step, we need a complete specification of the file system format, which will enable type-safe parsing of file system </a:t>
            </a:r>
            <a:r>
              <a:rPr lang="en-CA" baseline="0" dirty="0" err="1" smtClean="0"/>
              <a:t>strutures</a:t>
            </a:r>
            <a:r>
              <a:rPr lang="en-CA" baseline="0" dirty="0" smtClean="0"/>
              <a:t>. </a:t>
            </a:r>
            <a:r>
              <a:rPr lang="en-CA" dirty="0" smtClean="0"/>
              <a:t>Ideally,</a:t>
            </a:r>
            <a:r>
              <a:rPr lang="en-CA" baseline="0" dirty="0" smtClean="0"/>
              <a:t> we should be able to extract the format specification from the metadata structure definitions in existing source code. However, these structure definitions do *not* completely describe their actual format on disk. For example, the slide shows a definition of </a:t>
            </a:r>
            <a:r>
              <a:rPr lang="en-CA" baseline="0" dirty="0" err="1" smtClean="0"/>
              <a:t>struct</a:t>
            </a:r>
            <a:r>
              <a:rPr lang="en-CA" baseline="0" dirty="0" smtClean="0"/>
              <a:t> foo in a file system header file. In it, there are two fields, called size and </a:t>
            </a:r>
            <a:r>
              <a:rPr lang="en-CA" baseline="0" dirty="0" err="1" smtClean="0"/>
              <a:t>bar_block_ptr</a:t>
            </a:r>
            <a:r>
              <a:rPr lang="en-CA" baseline="0" dirty="0" smtClean="0"/>
              <a:t>, both of a little endian integer type. By looking at the name, </a:t>
            </a:r>
            <a:r>
              <a:rPr lang="en-CA" baseline="0" dirty="0" err="1" smtClean="0"/>
              <a:t>bar_block_ptr</a:t>
            </a:r>
            <a:r>
              <a:rPr lang="en-CA" baseline="0" dirty="0" smtClean="0"/>
              <a:t>, a programmer may deduce that this field points to a block of type </a:t>
            </a:r>
            <a:r>
              <a:rPr lang="en-CA" baseline="0" dirty="0" err="1" smtClean="0"/>
              <a:t>bar_block</a:t>
            </a:r>
            <a:r>
              <a:rPr lang="en-CA" baseline="0" dirty="0" smtClean="0"/>
              <a:t>, but there is no way to know for sure.</a:t>
            </a:r>
          </a:p>
        </p:txBody>
      </p:sp>
      <p:sp>
        <p:nvSpPr>
          <p:cNvPr id="4" name="Slide Number Placeholder 3"/>
          <p:cNvSpPr>
            <a:spLocks noGrp="1"/>
          </p:cNvSpPr>
          <p:nvPr>
            <p:ph type="sldNum" sz="quarter" idx="10"/>
          </p:nvPr>
        </p:nvSpPr>
        <p:spPr/>
        <p:txBody>
          <a:bodyPr/>
          <a:lstStyle/>
          <a:p>
            <a:fld id="{B5B5BF96-4013-477F-9949-176AD53AFF60}" type="slidenum">
              <a:rPr lang="en-CA" smtClean="0"/>
              <a:t>11</a:t>
            </a:fld>
            <a:endParaRPr lang="en-CA"/>
          </a:p>
        </p:txBody>
      </p:sp>
    </p:spTree>
    <p:extLst>
      <p:ext uri="{BB962C8B-B14F-4D97-AF65-F5344CB8AC3E}">
        <p14:creationId xmlns:p14="http://schemas.microsoft.com/office/powerpoint/2010/main" val="4228773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Our solution is to annotate this metadata structure so that we can unambiguously specify this missing information.</a:t>
            </a:r>
          </a:p>
        </p:txBody>
      </p:sp>
      <p:sp>
        <p:nvSpPr>
          <p:cNvPr id="4" name="Slide Number Placeholder 3"/>
          <p:cNvSpPr>
            <a:spLocks noGrp="1"/>
          </p:cNvSpPr>
          <p:nvPr>
            <p:ph type="sldNum" sz="quarter" idx="10"/>
          </p:nvPr>
        </p:nvSpPr>
        <p:spPr/>
        <p:txBody>
          <a:bodyPr/>
          <a:lstStyle/>
          <a:p>
            <a:fld id="{B5B5BF96-4013-477F-9949-176AD53AFF60}" type="slidenum">
              <a:rPr lang="en-CA" smtClean="0"/>
              <a:t>12</a:t>
            </a:fld>
            <a:endParaRPr lang="en-CA"/>
          </a:p>
        </p:txBody>
      </p:sp>
    </p:spTree>
    <p:extLst>
      <p:ext uri="{BB962C8B-B14F-4D97-AF65-F5344CB8AC3E}">
        <p14:creationId xmlns:p14="http://schemas.microsoft.com/office/powerpoint/2010/main" val="1058972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Here we add an FSSTRUCT annotation to </a:t>
            </a:r>
            <a:r>
              <a:rPr lang="en-CA" baseline="0" dirty="0" err="1" smtClean="0"/>
              <a:t>struct</a:t>
            </a:r>
            <a:r>
              <a:rPr lang="en-CA" baseline="0" dirty="0" smtClean="0"/>
              <a:t> foo to indicate that it is an on-disk metadata structure. </a:t>
            </a:r>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13</a:t>
            </a:fld>
            <a:endParaRPr lang="en-CA"/>
          </a:p>
        </p:txBody>
      </p:sp>
    </p:spTree>
    <p:extLst>
      <p:ext uri="{BB962C8B-B14F-4D97-AF65-F5344CB8AC3E}">
        <p14:creationId xmlns:p14="http://schemas.microsoft.com/office/powerpoint/2010/main" val="3923644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Then, we add a pointer annotation </a:t>
            </a:r>
            <a:r>
              <a:rPr lang="en-CA" baseline="0" dirty="0" smtClean="0"/>
              <a:t>right above a </a:t>
            </a:r>
            <a:r>
              <a:rPr lang="en-US" dirty="0" smtClean="0"/>
              <a:t>data </a:t>
            </a:r>
            <a:r>
              <a:rPr lang="en-US" dirty="0" smtClean="0"/>
              <a:t>structure </a:t>
            </a:r>
            <a:r>
              <a:rPr lang="en-US" dirty="0" smtClean="0"/>
              <a:t>field, such as the</a:t>
            </a:r>
            <a:r>
              <a:rPr lang="en-US" baseline="0" dirty="0" smtClean="0"/>
              <a:t> </a:t>
            </a:r>
            <a:r>
              <a:rPr lang="en-US" baseline="0" dirty="0" err="1" smtClean="0"/>
              <a:t>bar_block_ptr</a:t>
            </a:r>
            <a:r>
              <a:rPr lang="en-US" baseline="0" dirty="0" smtClean="0"/>
              <a:t> field shown here,</a:t>
            </a:r>
            <a:r>
              <a:rPr lang="en-US" dirty="0" smtClean="0"/>
              <a:t> to specify that the</a:t>
            </a:r>
            <a:r>
              <a:rPr lang="en-US" baseline="0" dirty="0" smtClean="0"/>
              <a:t> field</a:t>
            </a:r>
            <a:r>
              <a:rPr lang="en-US" dirty="0" smtClean="0"/>
              <a:t> holds </a:t>
            </a:r>
            <a:r>
              <a:rPr lang="en-US" dirty="0" smtClean="0"/>
              <a:t>an address to a location on physical storage. Here,</a:t>
            </a:r>
            <a:r>
              <a:rPr lang="en-US" baseline="0" dirty="0" smtClean="0"/>
              <a:t> </a:t>
            </a:r>
            <a:r>
              <a:rPr lang="en-US" baseline="0" dirty="0" smtClean="0"/>
              <a:t>this </a:t>
            </a:r>
            <a:r>
              <a:rPr lang="en-US" baseline="0" dirty="0" smtClean="0"/>
              <a:t>pointer annotation </a:t>
            </a:r>
            <a:r>
              <a:rPr lang="en-US" baseline="0" dirty="0" smtClean="0"/>
              <a:t>specifies that the value contained in the </a:t>
            </a:r>
            <a:r>
              <a:rPr lang="en-CA" baseline="0" dirty="0" err="1" smtClean="0"/>
              <a:t>bar_block_ptr</a:t>
            </a:r>
            <a:r>
              <a:rPr lang="en-CA" baseline="0" dirty="0" smtClean="0"/>
              <a:t> </a:t>
            </a:r>
            <a:r>
              <a:rPr lang="en-CA" baseline="0" dirty="0" smtClean="0"/>
              <a:t>field </a:t>
            </a:r>
            <a:r>
              <a:rPr lang="en-CA" baseline="0" dirty="0" smtClean="0"/>
              <a:t>is the </a:t>
            </a:r>
            <a:r>
              <a:rPr lang="en-CA" baseline="0" dirty="0" smtClean="0"/>
              <a:t>address of a block </a:t>
            </a:r>
            <a:r>
              <a:rPr lang="en-CA" baseline="0" dirty="0" smtClean="0"/>
              <a:t>whose type is </a:t>
            </a:r>
            <a:r>
              <a:rPr lang="en-CA" baseline="0" dirty="0" err="1" smtClean="0"/>
              <a:t>bar_block</a:t>
            </a:r>
            <a:r>
              <a:rPr lang="en-CA" baseline="0" dirty="0" smtClean="0"/>
              <a:t>.</a:t>
            </a:r>
          </a:p>
          <a:p>
            <a:endParaRPr lang="en-CA" baseline="0" dirty="0" smtClean="0"/>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14</a:t>
            </a:fld>
            <a:endParaRPr lang="en-CA"/>
          </a:p>
        </p:txBody>
      </p:sp>
    </p:spTree>
    <p:extLst>
      <p:ext uri="{BB962C8B-B14F-4D97-AF65-F5344CB8AC3E}">
        <p14:creationId xmlns:p14="http://schemas.microsoft.com/office/powerpoint/2010/main" val="3950107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Pointer annotations provide the ability to specify relationships between file system structures. Thus they allow traversal of the file system. For example, in Ext4, from the super block, we can reach the ext4 journal and the block group descriptor table. In the descriptor table, each block group descriptor holds pointers to their block bitmap, </a:t>
            </a:r>
            <a:r>
              <a:rPr lang="en-CA" baseline="0" dirty="0" err="1" smtClean="0"/>
              <a:t>inode</a:t>
            </a:r>
            <a:r>
              <a:rPr lang="en-CA" baseline="0" dirty="0" smtClean="0"/>
              <a:t> bitmap, and </a:t>
            </a:r>
            <a:r>
              <a:rPr lang="en-CA" baseline="0" dirty="0" err="1" smtClean="0"/>
              <a:t>inode</a:t>
            </a:r>
            <a:r>
              <a:rPr lang="en-CA" baseline="0" dirty="0" smtClean="0"/>
              <a:t> table. Each </a:t>
            </a:r>
            <a:r>
              <a:rPr lang="en-CA" baseline="0" dirty="0" err="1" smtClean="0"/>
              <a:t>inode</a:t>
            </a:r>
            <a:r>
              <a:rPr lang="en-CA" baseline="0" dirty="0" smtClean="0"/>
              <a:t> structure in the </a:t>
            </a:r>
            <a:r>
              <a:rPr lang="en-CA" baseline="0" dirty="0" err="1" smtClean="0"/>
              <a:t>inode</a:t>
            </a:r>
            <a:r>
              <a:rPr lang="en-CA" baseline="0" dirty="0" smtClean="0"/>
              <a:t> table also points to data blocks or directory blocks, depending on whether it is a regular file or a directory. </a:t>
            </a:r>
            <a:r>
              <a:rPr lang="en-CA" baseline="0" dirty="0" err="1" smtClean="0"/>
              <a:t>Inode</a:t>
            </a:r>
            <a:r>
              <a:rPr lang="en-CA" baseline="0" dirty="0" smtClean="0"/>
              <a:t> structures can also hold pointers to indirect blocks to support large files and directories.</a:t>
            </a:r>
            <a:endParaRPr lang="en-CA" dirty="0" smtClean="0"/>
          </a:p>
          <a:p>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15</a:t>
            </a:fld>
            <a:endParaRPr lang="en-CA"/>
          </a:p>
        </p:txBody>
      </p:sp>
    </p:spTree>
    <p:extLst>
      <p:ext uri="{BB962C8B-B14F-4D97-AF65-F5344CB8AC3E}">
        <p14:creationId xmlns:p14="http://schemas.microsoft.com/office/powerpoint/2010/main" val="867116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The </a:t>
            </a:r>
            <a:r>
              <a:rPr lang="en-CA" baseline="0" dirty="0" smtClean="0"/>
              <a:t>main challenge </a:t>
            </a:r>
            <a:r>
              <a:rPr lang="en-CA" baseline="0" dirty="0" smtClean="0"/>
              <a:t>with file system pointers is that they can store different types of logical addresses, requiring different mappings to obtain the corresponding physical storage address. Our solution is to add an address space type to p</a:t>
            </a:r>
            <a:r>
              <a:rPr lang="en-CA" dirty="0" smtClean="0"/>
              <a:t>ointer annotations to specify how</a:t>
            </a:r>
            <a:r>
              <a:rPr lang="en-CA" baseline="0" dirty="0" smtClean="0"/>
              <a:t> to map an address to its physical location. Examples of such address spaces include the block and file address spaces that I will describe next.</a:t>
            </a:r>
          </a:p>
        </p:txBody>
      </p:sp>
      <p:sp>
        <p:nvSpPr>
          <p:cNvPr id="4" name="Slide Number Placeholder 3"/>
          <p:cNvSpPr>
            <a:spLocks noGrp="1"/>
          </p:cNvSpPr>
          <p:nvPr>
            <p:ph type="sldNum" sz="quarter" idx="10"/>
          </p:nvPr>
        </p:nvSpPr>
        <p:spPr/>
        <p:txBody>
          <a:bodyPr/>
          <a:lstStyle/>
          <a:p>
            <a:fld id="{849A0A36-F84D-437B-B821-CB3EBADC1433}" type="slidenum">
              <a:rPr lang="en-CA" smtClean="0"/>
              <a:t>16</a:t>
            </a:fld>
            <a:endParaRPr lang="en-CA"/>
          </a:p>
        </p:txBody>
      </p:sp>
    </p:spTree>
    <p:extLst>
      <p:ext uri="{BB962C8B-B14F-4D97-AF65-F5344CB8AC3E}">
        <p14:creationId xmlns:p14="http://schemas.microsoft.com/office/powerpoint/2010/main" val="3988630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In the block address space, an address is simply the block number in the file system. This is the most common address space.</a:t>
            </a:r>
          </a:p>
        </p:txBody>
      </p:sp>
      <p:sp>
        <p:nvSpPr>
          <p:cNvPr id="4" name="Slide Number Placeholder 3"/>
          <p:cNvSpPr>
            <a:spLocks noGrp="1"/>
          </p:cNvSpPr>
          <p:nvPr>
            <p:ph type="sldNum" sz="quarter" idx="10"/>
          </p:nvPr>
        </p:nvSpPr>
        <p:spPr/>
        <p:txBody>
          <a:bodyPr/>
          <a:lstStyle/>
          <a:p>
            <a:fld id="{B5B5BF96-4013-477F-9949-176AD53AFF60}" type="slidenum">
              <a:rPr lang="en-CA" smtClean="0"/>
              <a:t>17</a:t>
            </a:fld>
            <a:endParaRPr lang="en-CA"/>
          </a:p>
        </p:txBody>
      </p:sp>
    </p:spTree>
    <p:extLst>
      <p:ext uri="{BB962C8B-B14F-4D97-AF65-F5344CB8AC3E}">
        <p14:creationId xmlns:p14="http://schemas.microsoft.com/office/powerpoint/2010/main" val="4117477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aseline="0" dirty="0" smtClean="0"/>
              <a:t>In the file address space, an address is an </a:t>
            </a:r>
            <a:r>
              <a:rPr lang="en-CA" baseline="0" dirty="0" err="1" smtClean="0"/>
              <a:t>inode</a:t>
            </a:r>
            <a:r>
              <a:rPr lang="en-CA" baseline="0" dirty="0" smtClean="0"/>
              <a:t> number that identifies a specific file. For example, the Ext4 journal is stored on disk as a regular file, and a field in the super block stores the </a:t>
            </a:r>
            <a:r>
              <a:rPr lang="en-CA" baseline="0" dirty="0" err="1" smtClean="0"/>
              <a:t>inode</a:t>
            </a:r>
            <a:r>
              <a:rPr lang="en-CA" baseline="0" dirty="0" smtClean="0"/>
              <a:t> number of the journal. We specify this field as a pointer to the Ext4 journal in the file address space. This address space requires mapping the logical blocks of the journal file to their physical locations.</a:t>
            </a:r>
            <a:endParaRPr lang="en-CA" dirty="0" smtClean="0"/>
          </a:p>
          <a:p>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18</a:t>
            </a:fld>
            <a:endParaRPr lang="en-CA"/>
          </a:p>
        </p:txBody>
      </p:sp>
    </p:spTree>
    <p:extLst>
      <p:ext uri="{BB962C8B-B14F-4D97-AF65-F5344CB8AC3E}">
        <p14:creationId xmlns:p14="http://schemas.microsoft.com/office/powerpoint/2010/main" val="2091581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dirty="0" smtClean="0"/>
              <a:t>Traversal</a:t>
            </a:r>
            <a:r>
              <a:rPr lang="en-CA" baseline="0" dirty="0" smtClean="0"/>
              <a:t> of every file system begins with the super block. Therefore, a special annotation named FSSUPER is used to distinguish the super block from other file system metadata. File system super blocks are always located in fixed known byte offset on disk. Therefore, we specify this information using the location argument.</a:t>
            </a:r>
          </a:p>
          <a:p>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19</a:t>
            </a:fld>
            <a:endParaRPr lang="en-CA"/>
          </a:p>
        </p:txBody>
      </p:sp>
    </p:spTree>
    <p:extLst>
      <p:ext uri="{BB962C8B-B14F-4D97-AF65-F5344CB8AC3E}">
        <p14:creationId xmlns:p14="http://schemas.microsoft.com/office/powerpoint/2010/main" val="3093543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Here,</a:t>
            </a:r>
            <a:r>
              <a:rPr lang="en-CA" baseline="0" dirty="0" smtClean="0"/>
              <a:t> we show an example of the ext4 super block, which is annotated with FSSUPER. The location argument specifies that the super block is one kilobyte away from the beginning of the </a:t>
            </a:r>
            <a:r>
              <a:rPr lang="en-CA" baseline="0" dirty="0" smtClean="0"/>
              <a:t>partition.</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20</a:t>
            </a:fld>
            <a:endParaRPr lang="en-CA"/>
          </a:p>
        </p:txBody>
      </p:sp>
    </p:spTree>
    <p:extLst>
      <p:ext uri="{BB962C8B-B14F-4D97-AF65-F5344CB8AC3E}">
        <p14:creationId xmlns:p14="http://schemas.microsoft.com/office/powerpoint/2010/main" val="3419921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As explained previously, the </a:t>
            </a:r>
            <a:r>
              <a:rPr lang="en-CA" baseline="0" dirty="0" err="1" smtClean="0"/>
              <a:t>s_journal_inum</a:t>
            </a:r>
            <a:r>
              <a:rPr lang="en-CA" baseline="0" dirty="0" smtClean="0"/>
              <a:t> </a:t>
            </a:r>
            <a:r>
              <a:rPr lang="en-CA" baseline="0" dirty="0" smtClean="0"/>
              <a:t>is a </a:t>
            </a:r>
            <a:r>
              <a:rPr lang="en-CA" baseline="0" dirty="0" smtClean="0"/>
              <a:t>pointer in the file address space that points to the ext4_journal type.</a:t>
            </a:r>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21</a:t>
            </a:fld>
            <a:endParaRPr lang="en-CA"/>
          </a:p>
        </p:txBody>
      </p:sp>
    </p:spTree>
    <p:extLst>
      <p:ext uri="{BB962C8B-B14F-4D97-AF65-F5344CB8AC3E}">
        <p14:creationId xmlns:p14="http://schemas.microsoft.com/office/powerpoint/2010/main" val="3834269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One</a:t>
            </a:r>
            <a:r>
              <a:rPr lang="en-CA" baseline="0" dirty="0" smtClean="0"/>
              <a:t> of the challenges </a:t>
            </a:r>
            <a:r>
              <a:rPr lang="en-CA" baseline="0" dirty="0" smtClean="0"/>
              <a:t>with annotating data structures is that </a:t>
            </a:r>
            <a:r>
              <a:rPr lang="en-CA" dirty="0" smtClean="0"/>
              <a:t>a </a:t>
            </a:r>
            <a:r>
              <a:rPr lang="en-CA" dirty="0" smtClean="0"/>
              <a:t>field may refer </a:t>
            </a:r>
            <a:r>
              <a:rPr lang="en-CA" dirty="0" smtClean="0"/>
              <a:t>to different types of metadata</a:t>
            </a:r>
            <a:r>
              <a:rPr lang="en-CA" baseline="0" dirty="0" smtClean="0"/>
              <a:t> in different contexts. For example, p</a:t>
            </a:r>
            <a:r>
              <a:rPr lang="en-CA" dirty="0" smtClean="0"/>
              <a:t>ointers in an </a:t>
            </a:r>
            <a:r>
              <a:rPr lang="en-CA" dirty="0" err="1" smtClean="0"/>
              <a:t>inode</a:t>
            </a:r>
            <a:r>
              <a:rPr lang="en-CA" dirty="0" smtClean="0"/>
              <a:t> structure can point to directory or data blocks, depending</a:t>
            </a:r>
            <a:r>
              <a:rPr lang="en-CA" baseline="0" dirty="0" smtClean="0"/>
              <a:t> on the type of the </a:t>
            </a:r>
            <a:r>
              <a:rPr lang="en-CA" baseline="0" dirty="0" err="1" smtClean="0"/>
              <a:t>inode</a:t>
            </a:r>
            <a:r>
              <a:rPr lang="en-CA" baseline="0" dirty="0" smtClean="0"/>
              <a:t>. We support such context-sensitive types by </a:t>
            </a:r>
            <a:r>
              <a:rPr lang="en-CA" dirty="0" smtClean="0"/>
              <a:t>specifying a </a:t>
            </a:r>
            <a:r>
              <a:rPr lang="en-CA" i="1" dirty="0" smtClean="0"/>
              <a:t>WHEN condition</a:t>
            </a:r>
            <a:r>
              <a:rPr lang="en-CA" i="1" baseline="0" dirty="0" smtClean="0"/>
              <a:t> </a:t>
            </a:r>
            <a:r>
              <a:rPr lang="en-CA" dirty="0" smtClean="0"/>
              <a:t>in pointer annotations. The field is a valid pointer of</a:t>
            </a:r>
            <a:r>
              <a:rPr lang="en-CA" baseline="0" dirty="0" smtClean="0"/>
              <a:t> the specified type </a:t>
            </a:r>
            <a:r>
              <a:rPr lang="en-CA" dirty="0" smtClean="0"/>
              <a:t>only if </a:t>
            </a:r>
            <a:r>
              <a:rPr lang="en-CA" baseline="0" dirty="0" smtClean="0"/>
              <a:t>the</a:t>
            </a:r>
            <a:r>
              <a:rPr lang="en-CA" dirty="0" smtClean="0"/>
              <a:t> expression in a when condition evaluates to true. </a:t>
            </a:r>
          </a:p>
        </p:txBody>
      </p:sp>
      <p:sp>
        <p:nvSpPr>
          <p:cNvPr id="4" name="Slide Number Placeholder 3"/>
          <p:cNvSpPr>
            <a:spLocks noGrp="1"/>
          </p:cNvSpPr>
          <p:nvPr>
            <p:ph type="sldNum" sz="quarter" idx="10"/>
          </p:nvPr>
        </p:nvSpPr>
        <p:spPr/>
        <p:txBody>
          <a:bodyPr/>
          <a:lstStyle/>
          <a:p>
            <a:fld id="{B5B5BF96-4013-477F-9949-176AD53AFF60}" type="slidenum">
              <a:rPr lang="en-CA" smtClean="0"/>
              <a:t>22</a:t>
            </a:fld>
            <a:endParaRPr lang="en-CA"/>
          </a:p>
        </p:txBody>
      </p:sp>
    </p:spTree>
    <p:extLst>
      <p:ext uri="{BB962C8B-B14F-4D97-AF65-F5344CB8AC3E}">
        <p14:creationId xmlns:p14="http://schemas.microsoft.com/office/powerpoint/2010/main" val="851117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In</a:t>
            </a:r>
            <a:r>
              <a:rPr lang="en-CA" baseline="0" dirty="0" smtClean="0"/>
              <a:t> this example, there are two pointer annotation to the same </a:t>
            </a:r>
            <a:r>
              <a:rPr lang="en-CA" baseline="0" dirty="0" err="1" smtClean="0"/>
              <a:t>i_block</a:t>
            </a:r>
            <a:r>
              <a:rPr lang="en-CA" baseline="0" dirty="0" smtClean="0"/>
              <a:t> array. </a:t>
            </a:r>
            <a:endParaRPr lang="en-CA"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23</a:t>
            </a:fld>
            <a:endParaRPr lang="en-CA"/>
          </a:p>
        </p:txBody>
      </p:sp>
    </p:spTree>
    <p:extLst>
      <p:ext uri="{BB962C8B-B14F-4D97-AF65-F5344CB8AC3E}">
        <p14:creationId xmlns:p14="http://schemas.microsoft.com/office/powerpoint/2010/main" val="29350111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The first annotation specifies that </a:t>
            </a:r>
            <a:r>
              <a:rPr lang="en-CA" baseline="0" dirty="0" err="1" smtClean="0"/>
              <a:t>i_block</a:t>
            </a:r>
            <a:r>
              <a:rPr lang="en-CA" baseline="0" dirty="0" smtClean="0"/>
              <a:t> is an array of pointers to </a:t>
            </a:r>
            <a:r>
              <a:rPr lang="en-CA" baseline="0" dirty="0" err="1" smtClean="0"/>
              <a:t>dir_blocks</a:t>
            </a:r>
            <a:r>
              <a:rPr lang="en-CA" baseline="0" dirty="0" smtClean="0"/>
              <a:t> only when the </a:t>
            </a:r>
            <a:r>
              <a:rPr lang="en-CA" baseline="0" dirty="0" err="1" smtClean="0"/>
              <a:t>inode’s</a:t>
            </a:r>
            <a:r>
              <a:rPr lang="en-CA" baseline="0" dirty="0" smtClean="0"/>
              <a:t> mode field indicates a directory. </a:t>
            </a:r>
            <a:endParaRPr lang="en-CA"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24</a:t>
            </a:fld>
            <a:endParaRPr lang="en-CA"/>
          </a:p>
        </p:txBody>
      </p:sp>
    </p:spTree>
    <p:extLst>
      <p:ext uri="{BB962C8B-B14F-4D97-AF65-F5344CB8AC3E}">
        <p14:creationId xmlns:p14="http://schemas.microsoft.com/office/powerpoint/2010/main" val="25180068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The second annotation specifies that this same </a:t>
            </a:r>
            <a:r>
              <a:rPr lang="en-CA" baseline="0" dirty="0" err="1" smtClean="0"/>
              <a:t>i_block</a:t>
            </a:r>
            <a:r>
              <a:rPr lang="en-CA" baseline="0" dirty="0" smtClean="0"/>
              <a:t> is an array of pointers to data blocks when the </a:t>
            </a:r>
            <a:r>
              <a:rPr lang="en-CA" baseline="0" dirty="0" err="1" smtClean="0"/>
              <a:t>inode’s</a:t>
            </a:r>
            <a:r>
              <a:rPr lang="en-CA" baseline="0" dirty="0" smtClean="0"/>
              <a:t> mode field indicates a regular file.</a:t>
            </a:r>
            <a:endParaRPr lang="en-CA"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25</a:t>
            </a:fld>
            <a:endParaRPr lang="en-CA"/>
          </a:p>
        </p:txBody>
      </p:sp>
    </p:spTree>
    <p:extLst>
      <p:ext uri="{BB962C8B-B14F-4D97-AF65-F5344CB8AC3E}">
        <p14:creationId xmlns:p14="http://schemas.microsoft.com/office/powerpoint/2010/main" val="42499918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The l</a:t>
            </a:r>
            <a:r>
              <a:rPr lang="en-CA" dirty="0" smtClean="0"/>
              <a:t>ocations of some structures are implicit in the code, and not</a:t>
            </a:r>
            <a:r>
              <a:rPr lang="en-CA" baseline="0" dirty="0" smtClean="0"/>
              <a:t> part of the structure definition in header files. For example,</a:t>
            </a:r>
            <a:r>
              <a:rPr lang="en-CA" dirty="0" smtClean="0"/>
              <a:t> the Ext4 block group descriptor table is the next block following the super block, but the</a:t>
            </a:r>
            <a:r>
              <a:rPr lang="en-CA" baseline="0" dirty="0" smtClean="0"/>
              <a:t> </a:t>
            </a:r>
            <a:r>
              <a:rPr lang="en-CA" dirty="0" smtClean="0"/>
              <a:t>Ext4 super block does not have a field that points to this descriptor table. However, we</a:t>
            </a:r>
            <a:r>
              <a:rPr lang="en-CA" baseline="0" dirty="0" smtClean="0"/>
              <a:t> need such a p</a:t>
            </a:r>
            <a:r>
              <a:rPr lang="en-CA" dirty="0" smtClean="0"/>
              <a:t>ointer to traverse the file system.</a:t>
            </a:r>
          </a:p>
        </p:txBody>
      </p:sp>
      <p:sp>
        <p:nvSpPr>
          <p:cNvPr id="4" name="Slide Number Placeholder 3"/>
          <p:cNvSpPr>
            <a:spLocks noGrp="1"/>
          </p:cNvSpPr>
          <p:nvPr>
            <p:ph type="sldNum" sz="quarter" idx="10"/>
          </p:nvPr>
        </p:nvSpPr>
        <p:spPr/>
        <p:txBody>
          <a:bodyPr/>
          <a:lstStyle/>
          <a:p>
            <a:fld id="{B5B5BF96-4013-477F-9949-176AD53AFF60}" type="slidenum">
              <a:rPr lang="en-CA" smtClean="0"/>
              <a:t>26</a:t>
            </a:fld>
            <a:endParaRPr lang="en-CA"/>
          </a:p>
        </p:txBody>
      </p:sp>
    </p:spTree>
    <p:extLst>
      <p:ext uri="{BB962C8B-B14F-4D97-AF65-F5344CB8AC3E}">
        <p14:creationId xmlns:p14="http://schemas.microsoft.com/office/powerpoint/2010/main" val="8979059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Our s</a:t>
            </a:r>
            <a:r>
              <a:rPr lang="en-CA" dirty="0" smtClean="0"/>
              <a:t>olution</a:t>
            </a:r>
            <a:r>
              <a:rPr lang="en-CA" baseline="0" dirty="0" smtClean="0"/>
              <a:t> is to provide an i</a:t>
            </a:r>
            <a:r>
              <a:rPr lang="en-CA" dirty="0" smtClean="0"/>
              <a:t>mplicit pointer annotation that take two</a:t>
            </a:r>
            <a:r>
              <a:rPr lang="en-CA" baseline="0" dirty="0" smtClean="0"/>
              <a:t> additional arguments, a name, and an expression. The </a:t>
            </a:r>
            <a:r>
              <a:rPr lang="en-CA" i="1" dirty="0" smtClean="0"/>
              <a:t>name</a:t>
            </a:r>
            <a:r>
              <a:rPr lang="en-CA" dirty="0" smtClean="0"/>
              <a:t> argument</a:t>
            </a:r>
            <a:r>
              <a:rPr lang="en-CA" baseline="0" dirty="0" smtClean="0"/>
              <a:t> </a:t>
            </a:r>
            <a:r>
              <a:rPr lang="en-CA" dirty="0" smtClean="0"/>
              <a:t>creates a logical pointer field that can be accessed</a:t>
            </a:r>
            <a:r>
              <a:rPr lang="en-CA" baseline="0" dirty="0" smtClean="0"/>
              <a:t> and </a:t>
            </a:r>
            <a:r>
              <a:rPr lang="en-CA" dirty="0" smtClean="0"/>
              <a:t>dereferenced.</a:t>
            </a:r>
            <a:r>
              <a:rPr lang="en-CA" baseline="0" dirty="0" smtClean="0"/>
              <a:t> The </a:t>
            </a:r>
            <a:r>
              <a:rPr lang="en-CA" i="1" dirty="0" smtClean="0"/>
              <a:t>expr argument </a:t>
            </a:r>
            <a:r>
              <a:rPr lang="en-CA" dirty="0" smtClean="0"/>
              <a:t>is a C expression that specifies how to calculate the field value, which is the pointer address.</a:t>
            </a:r>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27</a:t>
            </a:fld>
            <a:endParaRPr lang="en-CA"/>
          </a:p>
        </p:txBody>
      </p:sp>
    </p:spTree>
    <p:extLst>
      <p:ext uri="{BB962C8B-B14F-4D97-AF65-F5344CB8AC3E}">
        <p14:creationId xmlns:p14="http://schemas.microsoft.com/office/powerpoint/2010/main" val="14230372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In</a:t>
            </a:r>
            <a:r>
              <a:rPr lang="en-CA" baseline="0" dirty="0" smtClean="0"/>
              <a:t> this example, the pointer annotation creates a logical field called </a:t>
            </a:r>
            <a:r>
              <a:rPr lang="en-CA" baseline="0" dirty="0" err="1" smtClean="0"/>
              <a:t>s_block_group_descriptor</a:t>
            </a:r>
            <a:r>
              <a:rPr lang="en-CA" baseline="0" dirty="0" smtClean="0"/>
              <a:t>, and evaluates the expression at runtime </a:t>
            </a:r>
            <a:r>
              <a:rPr lang="en-CA" baseline="0" dirty="0" smtClean="0"/>
              <a:t>to assign this implicit pointer </a:t>
            </a:r>
            <a:r>
              <a:rPr lang="en-CA" baseline="0" dirty="0" smtClean="0"/>
              <a:t>field a value of 2 or 1 depending the block size of the file system. Now, this field name can be used to traverse the file system from the super block to the block group descriptor </a:t>
            </a:r>
            <a:r>
              <a:rPr lang="en-CA" baseline="0" dirty="0" smtClean="0"/>
              <a:t>tables.</a:t>
            </a:r>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28</a:t>
            </a:fld>
            <a:endParaRPr lang="en-CA"/>
          </a:p>
        </p:txBody>
      </p:sp>
    </p:spTree>
    <p:extLst>
      <p:ext uri="{BB962C8B-B14F-4D97-AF65-F5344CB8AC3E}">
        <p14:creationId xmlns:p14="http://schemas.microsoft.com/office/powerpoint/2010/main" val="12985385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Spiffy provides support for vector types through the VECTOR annotation.</a:t>
            </a:r>
          </a:p>
          <a:p>
            <a:endParaRPr lang="en-CA" baseline="0" dirty="0" smtClean="0"/>
          </a:p>
          <a:p>
            <a:r>
              <a:rPr lang="en-CA" baseline="0" dirty="0" smtClean="0"/>
              <a:t>Add example that shows number of elements in the vector annotation when elements fixed size.</a:t>
            </a:r>
          </a:p>
          <a:p>
            <a:endParaRPr lang="en-CA" baseline="0" dirty="0" smtClean="0"/>
          </a:p>
          <a:p>
            <a:r>
              <a:rPr lang="en-CA" baseline="0" dirty="0" smtClean="0"/>
              <a:t>When the elements are variable sized, we can specify the total size of the vector.  For example, the directory indirect pointer structure has a single field called </a:t>
            </a:r>
            <a:r>
              <a:rPr lang="en-CA" baseline="0" dirty="0" err="1" smtClean="0"/>
              <a:t>ind_block_nr</a:t>
            </a:r>
            <a:r>
              <a:rPr lang="en-CA" baseline="0" dirty="0" smtClean="0"/>
              <a:t> (highlight) that points to a directory block. This directory block is a vector of elements of type ext4_dir_entry (highlight). We don’t show the </a:t>
            </a:r>
            <a:r>
              <a:rPr lang="en-CA" baseline="0" dirty="0" err="1" smtClean="0"/>
              <a:t>the</a:t>
            </a:r>
            <a:r>
              <a:rPr lang="en-CA" baseline="0" dirty="0" smtClean="0"/>
              <a:t> ext4 directory entries here, but they are variables sized structures, and so we specify the total size of the </a:t>
            </a:r>
            <a:r>
              <a:rPr lang="en-CA" baseline="0" dirty="0" err="1" smtClean="0"/>
              <a:t>dir_block</a:t>
            </a:r>
            <a:r>
              <a:rPr lang="en-CA" baseline="0" dirty="0" smtClean="0"/>
              <a:t> vector as BLOCK_SIZE.</a:t>
            </a:r>
          </a:p>
          <a:p>
            <a:endParaRPr lang="en-CA" baseline="0" dirty="0" smtClean="0"/>
          </a:p>
          <a:p>
            <a:endParaRPr lang="en-CA" dirty="0"/>
          </a:p>
        </p:txBody>
      </p:sp>
      <p:sp>
        <p:nvSpPr>
          <p:cNvPr id="4" name="Slide Number Placeholder 3"/>
          <p:cNvSpPr>
            <a:spLocks noGrp="1"/>
          </p:cNvSpPr>
          <p:nvPr>
            <p:ph type="sldNum" sz="quarter" idx="10"/>
          </p:nvPr>
        </p:nvSpPr>
        <p:spPr/>
        <p:txBody>
          <a:bodyPr/>
          <a:lstStyle/>
          <a:p>
            <a:pPr>
              <a:defRPr/>
            </a:pPr>
            <a:fld id="{CFF1A404-780B-445D-9205-D143319E6490}" type="slidenum">
              <a:rPr lang="en-US" smtClean="0"/>
              <a:pPr>
                <a:defRPr/>
              </a:pPr>
              <a:t>29</a:t>
            </a:fld>
            <a:endParaRPr lang="en-US"/>
          </a:p>
        </p:txBody>
      </p:sp>
    </p:spTree>
    <p:extLst>
      <p:ext uri="{BB962C8B-B14F-4D97-AF65-F5344CB8AC3E}">
        <p14:creationId xmlns:p14="http://schemas.microsoft.com/office/powerpoint/2010/main" val="36974016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Spiffy provides a CHECK annotation that helps to check metadata structure constraints at runtime. In the top example, we specify that the block size must be at most 64KB, and the magic field of the super block must be the Ext4 magic number.</a:t>
            </a:r>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The bottom example shows a fragment of the generated parsing code for the Ext4 super block. This example shows how check annotations are implemented. </a:t>
            </a:r>
            <a:r>
              <a:rPr lang="en-CA" baseline="0" dirty="0" smtClean="0"/>
              <a:t>highlight. These </a:t>
            </a:r>
            <a:r>
              <a:rPr lang="en-CA" baseline="0" dirty="0" smtClean="0"/>
              <a:t>checks help detect metadata corruptions</a:t>
            </a:r>
            <a:r>
              <a:rPr lang="en-CA" baseline="0" dirty="0" smtClean="0"/>
              <a:t>. highlight.</a:t>
            </a:r>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30</a:t>
            </a:fld>
            <a:endParaRPr lang="en-CA"/>
          </a:p>
        </p:txBody>
      </p:sp>
    </p:spTree>
    <p:extLst>
      <p:ext uri="{BB962C8B-B14F-4D97-AF65-F5344CB8AC3E}">
        <p14:creationId xmlns:p14="http://schemas.microsoft.com/office/powerpoint/2010/main" val="6365132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The generated Spiffy library contains a C++ class for every annotated structure and its fields. This allows us to implement type-safe parsing and serialization. It also allows us to introspect each structure and its fields to get their types, sizes, names and parents.</a:t>
            </a:r>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31</a:t>
            </a:fld>
            <a:endParaRPr lang="en-CA"/>
          </a:p>
        </p:txBody>
      </p:sp>
    </p:spTree>
    <p:extLst>
      <p:ext uri="{BB962C8B-B14F-4D97-AF65-F5344CB8AC3E}">
        <p14:creationId xmlns:p14="http://schemas.microsoft.com/office/powerpoint/2010/main" val="13117003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now take a look at the annotation effort</a:t>
            </a:r>
            <a:r>
              <a:rPr lang="en-CA" baseline="0" dirty="0" smtClean="0"/>
              <a:t> required to completely specify each file system. The line count column shows the number of lines of code that define the on-disk data structures in each file system. The annotated column shows the annotations we have added to the original structure definitions. In all cases, the annotations are approximately one forth of the total line count. These numbers include the types of annotations that we have shown earlier, as well as two special cases. We needed to declare some metadata structures that were not declared at all, such as an Ext4 indirect block, which the code assumes is array of pointers. We also made minor changes to some structure definitions for clarity, in particular when a single type definition is used to access multiple different types. For example,</a:t>
            </a:r>
            <a:r>
              <a:rPr lang="en-CA" dirty="0" smtClean="0"/>
              <a:t> block pointers in Ext4 </a:t>
            </a:r>
            <a:r>
              <a:rPr lang="en-CA" dirty="0" err="1" smtClean="0"/>
              <a:t>inode</a:t>
            </a:r>
            <a:r>
              <a:rPr lang="en-CA" dirty="0" smtClean="0"/>
              <a:t> is an array of 15 pointers, the first 12 are direct block pointers, while the last 3 are indirect pointers of different types.</a:t>
            </a:r>
          </a:p>
        </p:txBody>
      </p:sp>
      <p:sp>
        <p:nvSpPr>
          <p:cNvPr id="4" name="Slide Number Placeholder 3"/>
          <p:cNvSpPr>
            <a:spLocks noGrp="1"/>
          </p:cNvSpPr>
          <p:nvPr>
            <p:ph type="sldNum" sz="quarter" idx="10"/>
          </p:nvPr>
        </p:nvSpPr>
        <p:spPr/>
        <p:txBody>
          <a:bodyPr/>
          <a:lstStyle/>
          <a:p>
            <a:fld id="{849A0A36-F84D-437B-B821-CB3EBADC1433}" type="slidenum">
              <a:rPr lang="en-CA" smtClean="0"/>
              <a:t>32</a:t>
            </a:fld>
            <a:endParaRPr lang="en-CA"/>
          </a:p>
        </p:txBody>
      </p:sp>
    </p:spTree>
    <p:extLst>
      <p:ext uri="{BB962C8B-B14F-4D97-AF65-F5344CB8AC3E}">
        <p14:creationId xmlns:p14="http://schemas.microsoft.com/office/powerpoint/2010/main" val="37270616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now show an example of building a file-system</a:t>
            </a:r>
            <a:r>
              <a:rPr lang="en-CA" baseline="0" dirty="0" smtClean="0"/>
              <a:t> aware application: a free space display tool that plots a histogram of the sizes of free extents available in a file system image. For this application, we require knowledge of how file system keeps </a:t>
            </a:r>
            <a:r>
              <a:rPr lang="en-CA" dirty="0" smtClean="0"/>
              <a:t>track of block allocation information. The</a:t>
            </a:r>
            <a:r>
              <a:rPr lang="en-CA" baseline="0" dirty="0" smtClean="0"/>
              <a:t> manual approach requires first</a:t>
            </a:r>
            <a:r>
              <a:rPr lang="en-CA" dirty="0" smtClean="0"/>
              <a:t> traversing</a:t>
            </a:r>
            <a:r>
              <a:rPr lang="en-CA" baseline="0" dirty="0" smtClean="0"/>
              <a:t> the file system to access the block allocation information, and then processing this information to obtain the free space extents. In contrast, the Spiffy library provides the necessary traversal code so that the developer only needs to focus on writing code that processes the block allocation metadata.</a:t>
            </a:r>
          </a:p>
        </p:txBody>
      </p:sp>
      <p:sp>
        <p:nvSpPr>
          <p:cNvPr id="4" name="Slide Number Placeholder 3"/>
          <p:cNvSpPr>
            <a:spLocks noGrp="1"/>
          </p:cNvSpPr>
          <p:nvPr>
            <p:ph type="sldNum" sz="quarter" idx="10"/>
          </p:nvPr>
        </p:nvSpPr>
        <p:spPr/>
        <p:txBody>
          <a:bodyPr/>
          <a:lstStyle/>
          <a:p>
            <a:fld id="{B5B5BF96-4013-477F-9949-176AD53AFF60}" type="slidenum">
              <a:rPr lang="en-CA" smtClean="0"/>
              <a:t>33</a:t>
            </a:fld>
            <a:endParaRPr lang="en-CA"/>
          </a:p>
        </p:txBody>
      </p:sp>
    </p:spTree>
    <p:extLst>
      <p:ext uri="{BB962C8B-B14F-4D97-AF65-F5344CB8AC3E}">
        <p14:creationId xmlns:p14="http://schemas.microsoft.com/office/powerpoint/2010/main" val="41793991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Here, we show a manually written</a:t>
            </a:r>
            <a:r>
              <a:rPr lang="en-CA" baseline="0" dirty="0" smtClean="0"/>
              <a:t> function that traverses the Ext4 file system to find the bitmaps that contain block allocation information. As you can see, a lot of boilerplate code is needed to walk through the intermediate metadata structures.</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34</a:t>
            </a:fld>
            <a:endParaRPr lang="en-CA"/>
          </a:p>
        </p:txBody>
      </p:sp>
    </p:spTree>
    <p:extLst>
      <p:ext uri="{BB962C8B-B14F-4D97-AF65-F5344CB8AC3E}">
        <p14:creationId xmlns:p14="http://schemas.microsoft.com/office/powerpoint/2010/main" val="39697451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smtClean="0"/>
              <a:t>What we want</a:t>
            </a:r>
            <a:r>
              <a:rPr lang="en-CA" baseline="0" dirty="0" smtClean="0"/>
              <a:t> is an easier way to get to the function that processes the block bitmaps, without needing to write all of the code to traverse the file system.</a:t>
            </a:r>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35</a:t>
            </a:fld>
            <a:endParaRPr lang="en-CA"/>
          </a:p>
        </p:txBody>
      </p:sp>
    </p:spTree>
    <p:extLst>
      <p:ext uri="{BB962C8B-B14F-4D97-AF65-F5344CB8AC3E}">
        <p14:creationId xmlns:p14="http://schemas.microsoft.com/office/powerpoint/2010/main" val="41935649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Also,</a:t>
            </a:r>
            <a:r>
              <a:rPr lang="en-CA" baseline="0" dirty="0" smtClean="0"/>
              <a:t> to fit this function on the slide, we have shown it without any error checks. In practice, these checks are easy to accidentally omit. In that case, any error during traversal, or corruption in the file system, could cause unexpected behavior in the program, including crashes or garbage output.</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36</a:t>
            </a:fld>
            <a:endParaRPr lang="en-CA"/>
          </a:p>
        </p:txBody>
      </p:sp>
    </p:spTree>
    <p:extLst>
      <p:ext uri="{BB962C8B-B14F-4D97-AF65-F5344CB8AC3E}">
        <p14:creationId xmlns:p14="http://schemas.microsoft.com/office/powerpoint/2010/main" val="31007705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Now we show the same</a:t>
            </a:r>
            <a:r>
              <a:rPr lang="en-CA" baseline="0" dirty="0" smtClean="0"/>
              <a:t> application, written using the Spiffy library. </a:t>
            </a:r>
          </a:p>
          <a:p>
            <a:r>
              <a:rPr lang="en-CA" baseline="0" dirty="0" smtClean="0"/>
              <a:t>On line 3, we retrieve the super block through the </a:t>
            </a:r>
            <a:r>
              <a:rPr lang="en-CA" baseline="0" dirty="0" err="1" smtClean="0"/>
              <a:t>fetch_super</a:t>
            </a:r>
            <a:r>
              <a:rPr lang="en-CA" baseline="0" dirty="0" smtClean="0"/>
              <a:t> function. If the super block is corrupted, the function will return null. </a:t>
            </a:r>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37</a:t>
            </a:fld>
            <a:endParaRPr lang="en-CA"/>
          </a:p>
        </p:txBody>
      </p:sp>
    </p:spTree>
    <p:extLst>
      <p:ext uri="{BB962C8B-B14F-4D97-AF65-F5344CB8AC3E}">
        <p14:creationId xmlns:p14="http://schemas.microsoft.com/office/powerpoint/2010/main" val="11824292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Next, on line 7, invoking the </a:t>
            </a:r>
            <a:r>
              <a:rPr lang="en-CA" baseline="0" dirty="0" err="1" smtClean="0"/>
              <a:t>process_by_type</a:t>
            </a:r>
            <a:r>
              <a:rPr lang="en-CA" baseline="0" dirty="0" smtClean="0"/>
              <a:t> function allows processing all of the block bitmaps reachable from the super block, through its annotated pointers. This avoids the need to write any traversal code manually, so the developer can focus on just the code that processes the block bitmaps.</a:t>
            </a:r>
          </a:p>
        </p:txBody>
      </p:sp>
      <p:sp>
        <p:nvSpPr>
          <p:cNvPr id="4" name="Slide Number Placeholder 3"/>
          <p:cNvSpPr>
            <a:spLocks noGrp="1"/>
          </p:cNvSpPr>
          <p:nvPr>
            <p:ph type="sldNum" sz="quarter" idx="10"/>
          </p:nvPr>
        </p:nvSpPr>
        <p:spPr/>
        <p:txBody>
          <a:bodyPr/>
          <a:lstStyle/>
          <a:p>
            <a:fld id="{B5B5BF96-4013-477F-9949-176AD53AFF60}" type="slidenum">
              <a:rPr lang="en-CA" smtClean="0"/>
              <a:t>38</a:t>
            </a:fld>
            <a:endParaRPr lang="en-CA"/>
          </a:p>
        </p:txBody>
      </p:sp>
    </p:spTree>
    <p:extLst>
      <p:ext uri="{BB962C8B-B14F-4D97-AF65-F5344CB8AC3E}">
        <p14:creationId xmlns:p14="http://schemas.microsoft.com/office/powerpoint/2010/main" val="14705235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As you can see, there are two advantages to using the Spiffy library. First, it simplifies file system traversal by reducing the need to know the format details. Second, the library parsing routines include automatically generated sanity checks to help detect corruption. </a:t>
            </a:r>
          </a:p>
        </p:txBody>
      </p:sp>
      <p:sp>
        <p:nvSpPr>
          <p:cNvPr id="4" name="Slide Number Placeholder 3"/>
          <p:cNvSpPr>
            <a:spLocks noGrp="1"/>
          </p:cNvSpPr>
          <p:nvPr>
            <p:ph type="sldNum" sz="quarter" idx="10"/>
          </p:nvPr>
        </p:nvSpPr>
        <p:spPr/>
        <p:txBody>
          <a:bodyPr/>
          <a:lstStyle/>
          <a:p>
            <a:fld id="{B5B5BF96-4013-477F-9949-176AD53AFF60}" type="slidenum">
              <a:rPr lang="en-CA" smtClean="0"/>
              <a:t>39</a:t>
            </a:fld>
            <a:endParaRPr lang="en-CA"/>
          </a:p>
        </p:txBody>
      </p:sp>
    </p:spTree>
    <p:extLst>
      <p:ext uri="{BB962C8B-B14F-4D97-AF65-F5344CB8AC3E}">
        <p14:creationId xmlns:p14="http://schemas.microsoft.com/office/powerpoint/2010/main" val="21958348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Now we show the same</a:t>
            </a:r>
            <a:r>
              <a:rPr lang="en-CA" baseline="0" dirty="0" smtClean="0"/>
              <a:t> Spiffy application for </a:t>
            </a:r>
            <a:r>
              <a:rPr lang="en-CA" baseline="0" dirty="0" err="1" smtClean="0"/>
              <a:t>btrfs</a:t>
            </a:r>
            <a:r>
              <a:rPr lang="en-CA" baseline="0" dirty="0" smtClean="0"/>
              <a:t>. The main change is that the </a:t>
            </a:r>
            <a:r>
              <a:rPr lang="en-CA" baseline="0" dirty="0" err="1" smtClean="0"/>
              <a:t>process_by_type</a:t>
            </a:r>
            <a:r>
              <a:rPr lang="en-CA" baseline="0" dirty="0" smtClean="0"/>
              <a:t> function takes a different structure type argument, an extent item, and a processing function for an extent item. The programmer can thus focus on just processing the </a:t>
            </a:r>
            <a:r>
              <a:rPr lang="en-CA" baseline="0" dirty="0" err="1" smtClean="0"/>
              <a:t>btrfs</a:t>
            </a:r>
            <a:r>
              <a:rPr lang="en-CA" baseline="0" dirty="0" smtClean="0"/>
              <a:t> block allocation information.</a:t>
            </a:r>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40</a:t>
            </a:fld>
            <a:endParaRPr lang="en-CA"/>
          </a:p>
        </p:txBody>
      </p:sp>
    </p:spTree>
    <p:extLst>
      <p:ext uri="{BB962C8B-B14F-4D97-AF65-F5344CB8AC3E}">
        <p14:creationId xmlns:p14="http://schemas.microsoft.com/office/powerpoint/2010/main" val="39768934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have talked about the free space</a:t>
            </a:r>
            <a:r>
              <a:rPr lang="en-CA" baseline="0" dirty="0" smtClean="0"/>
              <a:t> tool. Now, I am going to describe some other tools that we have developed using Spiffy</a:t>
            </a:r>
            <a:r>
              <a:rPr lang="en-CA" baseline="0" dirty="0" smtClean="0"/>
              <a:t>.</a:t>
            </a:r>
          </a:p>
          <a:p>
            <a:endParaRPr lang="en-CA" baseline="0" dirty="0" smtClean="0"/>
          </a:p>
          <a:p>
            <a:r>
              <a:rPr lang="en-CA" baseline="0" dirty="0" smtClean="0"/>
              <a:t>Table: read-only, read-write</a:t>
            </a:r>
          </a:p>
          <a:p>
            <a:r>
              <a:rPr lang="en-CA" baseline="0" dirty="0" smtClean="0"/>
              <a:t>offline</a:t>
            </a:r>
          </a:p>
          <a:p>
            <a:r>
              <a:rPr lang="en-CA" baseline="0" dirty="0" smtClean="0"/>
              <a:t>online</a:t>
            </a:r>
          </a:p>
          <a:p>
            <a:endParaRPr lang="en-CA" baseline="0" dirty="0" smtClean="0"/>
          </a:p>
          <a:p>
            <a:pPr marL="228600" indent="-228600">
              <a:buAutoNum type="arabicPeriod"/>
            </a:pPr>
            <a:r>
              <a:rPr lang="en-CA" baseline="0" dirty="0" smtClean="0"/>
              <a:t>Spiffy applications are file-system specific while operating at the block layer</a:t>
            </a:r>
          </a:p>
          <a:p>
            <a:pPr marL="228600" indent="-228600">
              <a:buAutoNum type="arabicPeriod"/>
            </a:pPr>
            <a:r>
              <a:rPr lang="en-CA" baseline="0" dirty="0" smtClean="0"/>
              <a:t>They can read or modify the file system image</a:t>
            </a:r>
          </a:p>
          <a:p>
            <a:pPr marL="228600" indent="-228600">
              <a:buAutoNum type="arabicPeriod"/>
            </a:pPr>
            <a:r>
              <a:rPr lang="en-CA" baseline="0" dirty="0" smtClean="0"/>
              <a:t>These applications can operate when the file system is offline (not in use). In this case, these applications are written in user space.</a:t>
            </a:r>
          </a:p>
          <a:p>
            <a:pPr marL="228600" marR="0" indent="-228600" algn="l" defTabSz="914400" rtl="0" eaLnBrk="0" fontAlgn="base" latinLnBrk="0" hangingPunct="0">
              <a:lnSpc>
                <a:spcPct val="100000"/>
              </a:lnSpc>
              <a:spcBef>
                <a:spcPct val="30000"/>
              </a:spcBef>
              <a:spcAft>
                <a:spcPct val="0"/>
              </a:spcAft>
              <a:buClrTx/>
              <a:buSzTx/>
              <a:buFontTx/>
              <a:buAutoNum type="arabicPeriod"/>
              <a:tabLst/>
              <a:defRPr/>
            </a:pPr>
            <a:r>
              <a:rPr lang="en-CA" baseline="0" dirty="0" smtClean="0"/>
              <a:t>These applications can also operate while the file system is mounted (in use). In this case, the applications are written in the block layer of the kernel, and they allow interpreting file system specific metadata, without requiring any changes to the file system code.</a:t>
            </a:r>
          </a:p>
        </p:txBody>
      </p:sp>
      <p:sp>
        <p:nvSpPr>
          <p:cNvPr id="4" name="Slide Number Placeholder 3"/>
          <p:cNvSpPr>
            <a:spLocks noGrp="1"/>
          </p:cNvSpPr>
          <p:nvPr>
            <p:ph type="sldNum" sz="quarter" idx="10"/>
          </p:nvPr>
        </p:nvSpPr>
        <p:spPr/>
        <p:txBody>
          <a:bodyPr/>
          <a:lstStyle/>
          <a:p>
            <a:fld id="{849A0A36-F84D-437B-B821-CB3EBADC1433}" type="slidenum">
              <a:rPr lang="en-CA" smtClean="0"/>
              <a:t>41</a:t>
            </a:fld>
            <a:endParaRPr lang="en-CA"/>
          </a:p>
        </p:txBody>
      </p:sp>
    </p:spTree>
    <p:extLst>
      <p:ext uri="{BB962C8B-B14F-4D97-AF65-F5344CB8AC3E}">
        <p14:creationId xmlns:p14="http://schemas.microsoft.com/office/powerpoint/2010/main" val="13417294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u="none" strike="noStrike" kern="1200" baseline="0" dirty="0" smtClean="0">
                <a:solidFill>
                  <a:schemeClr val="tx1"/>
                </a:solidFill>
                <a:latin typeface="+mn-lt"/>
                <a:ea typeface="+mn-ea"/>
                <a:cs typeface="+mn-cs"/>
              </a:rPr>
              <a:t>The file system dump </a:t>
            </a:r>
            <a:r>
              <a:rPr lang="en-CA" sz="1200" b="0" i="0" u="none" strike="noStrike" kern="1200" baseline="0" dirty="0" smtClean="0">
                <a:solidFill>
                  <a:schemeClr val="tx1"/>
                </a:solidFill>
                <a:latin typeface="+mn-lt"/>
                <a:ea typeface="+mn-ea"/>
                <a:cs typeface="+mn-cs"/>
              </a:rPr>
              <a:t>tool helps debug file system implementation. (bullet)</a:t>
            </a:r>
          </a:p>
          <a:p>
            <a:endParaRPr lang="en-CA" sz="1200" b="0" i="0" u="none" strike="noStrike" kern="1200" baseline="0" dirty="0" smtClean="0">
              <a:solidFill>
                <a:schemeClr val="tx1"/>
              </a:solidFill>
              <a:latin typeface="+mn-lt"/>
              <a:ea typeface="+mn-ea"/>
              <a:cs typeface="+mn-cs"/>
            </a:endParaRPr>
          </a:p>
          <a:p>
            <a:r>
              <a:rPr lang="en-CA" sz="1200" b="0" i="0" u="none" strike="noStrike" kern="1200" baseline="0" dirty="0" smtClean="0">
                <a:solidFill>
                  <a:schemeClr val="tx1"/>
                </a:solidFill>
                <a:latin typeface="+mn-lt"/>
                <a:ea typeface="+mn-ea"/>
                <a:cs typeface="+mn-cs"/>
              </a:rPr>
              <a:t>Our Spiffy tool is a generic tool that works on all annotated file systems. It parses </a:t>
            </a:r>
            <a:r>
              <a:rPr lang="en-CA" sz="1200" b="0" i="0" u="none" strike="noStrike" kern="1200" baseline="0" dirty="0" smtClean="0">
                <a:solidFill>
                  <a:schemeClr val="tx1"/>
                </a:solidFill>
                <a:latin typeface="+mn-lt"/>
                <a:ea typeface="+mn-ea"/>
                <a:cs typeface="+mn-cs"/>
              </a:rPr>
              <a:t>all the metadata in a file system image and exports the result in an XML format, using </a:t>
            </a:r>
            <a:r>
              <a:rPr lang="en-CA" sz="1200" b="0" i="0" u="none" strike="noStrike" kern="1200" baseline="0" dirty="0" smtClean="0">
                <a:solidFill>
                  <a:schemeClr val="tx1"/>
                </a:solidFill>
                <a:latin typeface="+mn-lt"/>
                <a:ea typeface="+mn-ea"/>
                <a:cs typeface="+mn-cs"/>
              </a:rPr>
              <a:t>a variant of the generic file </a:t>
            </a:r>
            <a:r>
              <a:rPr lang="en-CA" sz="1200" b="0" i="0" u="none" strike="noStrike" kern="1200" baseline="0" dirty="0" smtClean="0">
                <a:solidFill>
                  <a:schemeClr val="tx1"/>
                </a:solidFill>
                <a:latin typeface="+mn-lt"/>
                <a:ea typeface="+mn-ea"/>
                <a:cs typeface="+mn-cs"/>
              </a:rPr>
              <a:t>system </a:t>
            </a:r>
            <a:r>
              <a:rPr lang="en-CA" sz="1200" b="0" i="0" u="none" strike="noStrike" kern="1200" baseline="0" dirty="0" smtClean="0">
                <a:solidFill>
                  <a:schemeClr val="tx1"/>
                </a:solidFill>
                <a:latin typeface="+mn-lt"/>
                <a:ea typeface="+mn-ea"/>
                <a:cs typeface="+mn-cs"/>
              </a:rPr>
              <a:t>traversal code shown here. </a:t>
            </a:r>
          </a:p>
          <a:p>
            <a:endParaRPr lang="en-CA" sz="1200" b="0" i="0" u="none" strike="noStrike" kern="1200" baseline="0" dirty="0" smtClean="0">
              <a:solidFill>
                <a:schemeClr val="tx1"/>
              </a:solidFill>
              <a:latin typeface="+mn-lt"/>
              <a:ea typeface="+mn-ea"/>
              <a:cs typeface="+mn-cs"/>
            </a:endParaRPr>
          </a:p>
          <a:p>
            <a:r>
              <a:rPr lang="en-CA" baseline="0" dirty="0" smtClean="0"/>
              <a:t>The code uses two recursive functions, one to traverse the pointers contained in a file-system metadata block, and the other to retrieve and parse the pointed-to blocks. These blocks are then passed to the first function, which allows traversing the entire file system.</a:t>
            </a:r>
            <a:endParaRPr lang="en-CA"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5B5BF96-4013-477F-9949-176AD53AFF60}" type="slidenum">
              <a:rPr lang="en-CA" smtClean="0"/>
              <a:t>42</a:t>
            </a:fld>
            <a:endParaRPr lang="en-CA"/>
          </a:p>
        </p:txBody>
      </p:sp>
    </p:spTree>
    <p:extLst>
      <p:ext uri="{BB962C8B-B14F-4D97-AF65-F5344CB8AC3E}">
        <p14:creationId xmlns:p14="http://schemas.microsoft.com/office/powerpoint/2010/main" val="35638490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u="none" strike="noStrike" kern="1200" baseline="0" dirty="0" smtClean="0">
                <a:solidFill>
                  <a:schemeClr val="tx1"/>
                </a:solidFill>
                <a:latin typeface="+mn-lt"/>
                <a:ea typeface="+mn-ea"/>
                <a:cs typeface="+mn-cs"/>
              </a:rPr>
              <a:t>Since </a:t>
            </a:r>
            <a:r>
              <a:rPr lang="en-CA" sz="1200" b="0" i="0" u="none" strike="noStrike" kern="1200" baseline="0" dirty="0" smtClean="0">
                <a:solidFill>
                  <a:schemeClr val="tx1"/>
                </a:solidFill>
                <a:latin typeface="+mn-lt"/>
                <a:ea typeface="+mn-ea"/>
                <a:cs typeface="+mn-cs"/>
              </a:rPr>
              <a:t>some file system metadata may not be of interest, the dump tool provides APIs to help filter out irrelevant or unimportant fields or structures. For example, the Ext4 dump tool </a:t>
            </a:r>
            <a:r>
              <a:rPr lang="en-CA" sz="1200" b="0" i="0" u="none" strike="noStrike" kern="1200" baseline="0" dirty="0" smtClean="0">
                <a:solidFill>
                  <a:schemeClr val="tx1"/>
                </a:solidFill>
                <a:latin typeface="+mn-lt"/>
                <a:ea typeface="+mn-ea"/>
                <a:cs typeface="+mn-cs"/>
              </a:rPr>
              <a:t>does </a:t>
            </a:r>
            <a:r>
              <a:rPr lang="en-CA" sz="1200" b="0" i="0" u="none" strike="noStrike" kern="1200" baseline="0" dirty="0" smtClean="0">
                <a:solidFill>
                  <a:schemeClr val="tx1"/>
                </a:solidFill>
                <a:latin typeface="+mn-lt"/>
                <a:ea typeface="+mn-ea"/>
                <a:cs typeface="+mn-cs"/>
              </a:rPr>
              <a:t>not export unallocated </a:t>
            </a:r>
            <a:r>
              <a:rPr lang="en-CA" sz="1200" b="0" i="0" u="none" strike="noStrike" kern="1200" baseline="0" dirty="0" err="1" smtClean="0">
                <a:solidFill>
                  <a:schemeClr val="tx1"/>
                </a:solidFill>
                <a:latin typeface="+mn-lt"/>
                <a:ea typeface="+mn-ea"/>
                <a:cs typeface="+mn-cs"/>
              </a:rPr>
              <a:t>inode</a:t>
            </a:r>
            <a:r>
              <a:rPr lang="en-CA" sz="1200" b="0" i="0" u="none" strike="noStrike" kern="1200" baseline="0" dirty="0" smtClean="0">
                <a:solidFill>
                  <a:schemeClr val="tx1"/>
                </a:solidFill>
                <a:latin typeface="+mn-lt"/>
                <a:ea typeface="+mn-ea"/>
                <a:cs typeface="+mn-cs"/>
              </a:rPr>
              <a:t> structures to XML.</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baseline="0" dirty="0" smtClean="0"/>
              <a:t>This tool has 482 lines of generic code, and about 30 to 60 lines of file-system specific bootstrap code for each file system.</a:t>
            </a:r>
          </a:p>
          <a:p>
            <a:endParaRPr lang="en-CA" baseline="0" dirty="0" smtClean="0"/>
          </a:p>
        </p:txBody>
      </p:sp>
      <p:sp>
        <p:nvSpPr>
          <p:cNvPr id="4" name="Slide Number Placeholder 3"/>
          <p:cNvSpPr>
            <a:spLocks noGrp="1"/>
          </p:cNvSpPr>
          <p:nvPr>
            <p:ph type="sldNum" sz="quarter" idx="10"/>
          </p:nvPr>
        </p:nvSpPr>
        <p:spPr/>
        <p:txBody>
          <a:bodyPr/>
          <a:lstStyle/>
          <a:p>
            <a:fld id="{B5B5BF96-4013-477F-9949-176AD53AFF60}" type="slidenum">
              <a:rPr lang="en-CA" smtClean="0"/>
              <a:t>43</a:t>
            </a:fld>
            <a:endParaRPr lang="en-CA"/>
          </a:p>
        </p:txBody>
      </p:sp>
    </p:spTree>
    <p:extLst>
      <p:ext uri="{BB962C8B-B14F-4D97-AF65-F5344CB8AC3E}">
        <p14:creationId xmlns:p14="http://schemas.microsoft.com/office/powerpoint/2010/main" val="4828716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The type-specific </a:t>
            </a:r>
            <a:r>
              <a:rPr lang="en-CA" baseline="0" dirty="0" smtClean="0"/>
              <a:t>file-system corruptor enables us to test the robustness of file systems and file-system tools by helping check that they are able to correctly handle file system corruption.  (bullet point)</a:t>
            </a:r>
          </a:p>
          <a:p>
            <a:pPr marL="0" marR="0" indent="0" algn="l" defTabSz="914400" rtl="0" eaLnBrk="1" fontAlgn="auto" latinLnBrk="0" hangingPunct="1">
              <a:lnSpc>
                <a:spcPct val="100000"/>
              </a:lnSpc>
              <a:spcBef>
                <a:spcPts val="0"/>
              </a:spcBef>
              <a:spcAft>
                <a:spcPts val="0"/>
              </a:spcAft>
              <a:buClrTx/>
              <a:buSzTx/>
              <a:buFontTx/>
              <a:buNone/>
              <a:tabLst/>
              <a:defRPr/>
            </a:pPr>
            <a:endParaRPr lang="en-CA"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The Spiffy corruptor allows </a:t>
            </a:r>
            <a:r>
              <a:rPr lang="en-CA" baseline="0" dirty="0" smtClean="0"/>
              <a:t>us to specify a field </a:t>
            </a:r>
            <a:r>
              <a:rPr lang="en-CA" baseline="0" dirty="0" smtClean="0"/>
              <a:t>of a particular type in </a:t>
            </a:r>
            <a:r>
              <a:rPr lang="en-CA" baseline="0" dirty="0" smtClean="0"/>
              <a:t>a metadata structure and corrupt it on disk. This tool works on all our annotated file systems. </a:t>
            </a:r>
            <a:r>
              <a:rPr lang="en-CA" baseline="0" dirty="0" smtClean="0"/>
              <a:t>This </a:t>
            </a:r>
            <a:r>
              <a:rPr lang="en-CA" baseline="0" dirty="0" smtClean="0"/>
              <a:t>tool has 455 lines of generic code, and less than 30 lines of file-system specific bootstrap code for each file system.</a:t>
            </a:r>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We ran a series of corruption experiments using this type-specific corruptor tool and discovered crash bugs in existing tools such as dumpe2fs for Ext4 and dump.f2fs, </a:t>
            </a:r>
            <a:r>
              <a:rPr lang="en-CA" baseline="0" dirty="0" smtClean="0"/>
              <a:t>while </a:t>
            </a:r>
            <a:r>
              <a:rPr lang="en-CA" baseline="0" dirty="0" smtClean="0"/>
              <a:t>no bugs were found in our Spiffy dump tool for all the </a:t>
            </a:r>
            <a:r>
              <a:rPr lang="en-CA" baseline="0" dirty="0" smtClean="0"/>
              <a:t>three </a:t>
            </a:r>
            <a:r>
              <a:rPr lang="en-CA" baseline="0" dirty="0" smtClean="0"/>
              <a:t>file systems we tested.</a:t>
            </a:r>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Incidentally, none of these bugs that we found were triggered in 5000 random corruption experiments, showing the usefulness of the type-specific corruptor.</a:t>
            </a:r>
          </a:p>
        </p:txBody>
      </p:sp>
      <p:sp>
        <p:nvSpPr>
          <p:cNvPr id="4" name="Slide Number Placeholder 3"/>
          <p:cNvSpPr>
            <a:spLocks noGrp="1"/>
          </p:cNvSpPr>
          <p:nvPr>
            <p:ph type="sldNum" sz="quarter" idx="10"/>
          </p:nvPr>
        </p:nvSpPr>
        <p:spPr/>
        <p:txBody>
          <a:bodyPr/>
          <a:lstStyle/>
          <a:p>
            <a:fld id="{B5B5BF96-4013-477F-9949-176AD53AFF60}" type="slidenum">
              <a:rPr lang="en-CA" smtClean="0"/>
              <a:t>44</a:t>
            </a:fld>
            <a:endParaRPr lang="en-CA"/>
          </a:p>
        </p:txBody>
      </p:sp>
    </p:spTree>
    <p:extLst>
      <p:ext uri="{BB962C8B-B14F-4D97-AF65-F5344CB8AC3E}">
        <p14:creationId xmlns:p14="http://schemas.microsoft.com/office/powerpoint/2010/main" val="5940964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we have also built </a:t>
            </a:r>
            <a:r>
              <a:rPr lang="en-CA" baseline="0" dirty="0" smtClean="0"/>
              <a:t>an in-place file </a:t>
            </a:r>
            <a:r>
              <a:rPr lang="en-CA" baseline="0" dirty="0" smtClean="0"/>
              <a:t>system conversion tool </a:t>
            </a:r>
            <a:r>
              <a:rPr lang="en-CA" baseline="0" dirty="0" smtClean="0"/>
              <a:t>that converts a file system of a one type to a file system of another type while minimizing data and metadata copying during the conversion process.</a:t>
            </a:r>
          </a:p>
          <a:p>
            <a:pPr marL="0" marR="0" indent="0" algn="l" defTabSz="914400" rtl="0" eaLnBrk="1" fontAlgn="auto" latinLnBrk="0" hangingPunct="1">
              <a:lnSpc>
                <a:spcPct val="100000"/>
              </a:lnSpc>
              <a:spcBef>
                <a:spcPts val="0"/>
              </a:spcBef>
              <a:spcAft>
                <a:spcPts val="0"/>
              </a:spcAft>
              <a:buClrTx/>
              <a:buSzTx/>
              <a:buFontTx/>
              <a:buNone/>
              <a:tabLst/>
              <a:defRPr/>
            </a:pPr>
            <a:endParaRPr lang="en-CA"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Currently</a:t>
            </a:r>
            <a:r>
              <a:rPr lang="en-CA" baseline="0" dirty="0" smtClean="0"/>
              <a:t>, the tools converts from Ext4 file systems to F2FS file systems. The generic code in this application has 504 lines. We read the Ext4 metadata into memory with 218 lines of code, and then generate corresponding F2Fs metadata with 1760 lines of code. Most of these lines are needed to initialize F2FS structures.</a:t>
            </a:r>
            <a:endParaRPr lang="en-CA" dirty="0" smtClean="0"/>
          </a:p>
          <a:p>
            <a:endParaRPr lang="en-CA" dirty="0"/>
          </a:p>
        </p:txBody>
      </p:sp>
      <p:sp>
        <p:nvSpPr>
          <p:cNvPr id="4" name="Slide Number Placeholder 3"/>
          <p:cNvSpPr>
            <a:spLocks noGrp="1"/>
          </p:cNvSpPr>
          <p:nvPr>
            <p:ph type="sldNum" sz="quarter" idx="10"/>
          </p:nvPr>
        </p:nvSpPr>
        <p:spPr/>
        <p:txBody>
          <a:bodyPr/>
          <a:lstStyle/>
          <a:p>
            <a:fld id="{B5B5BF96-4013-477F-9949-176AD53AFF60}" type="slidenum">
              <a:rPr lang="en-CA" smtClean="0"/>
              <a:t>45</a:t>
            </a:fld>
            <a:endParaRPr lang="en-CA"/>
          </a:p>
        </p:txBody>
      </p:sp>
    </p:spTree>
    <p:extLst>
      <p:ext uri="{BB962C8B-B14F-4D97-AF65-F5344CB8AC3E}">
        <p14:creationId xmlns:p14="http://schemas.microsoft.com/office/powerpoint/2010/main" val="15890901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Here,</a:t>
            </a:r>
            <a:r>
              <a:rPr lang="en-CA" baseline="0" dirty="0" smtClean="0"/>
              <a:t> we </a:t>
            </a:r>
            <a:r>
              <a:rPr lang="en-CA" dirty="0" smtClean="0"/>
              <a:t>evaluate</a:t>
            </a:r>
            <a:r>
              <a:rPr lang="en-CA" baseline="0" dirty="0" smtClean="0"/>
              <a:t> our conversion tool against a copy-based convertor. The copy converter copies file system contents to another local disk, reformats the source disk, and then copies everything back. This graph shows the time to convert a file system with 16GB of data, while varying the number of files in the file system. With fewer files in the file system, less metadata needs to be converted, which reduces the conversion time for our tool. The copy convertor performance is dominated by the size of the file system data, and doesn’t vary much for different numbers of files. In this log graph, we can see that the copy converter is 30-50 times slower than the Spiffy converter.</a:t>
            </a:r>
          </a:p>
        </p:txBody>
      </p:sp>
      <p:sp>
        <p:nvSpPr>
          <p:cNvPr id="4" name="Slide Number Placeholder 3"/>
          <p:cNvSpPr>
            <a:spLocks noGrp="1"/>
          </p:cNvSpPr>
          <p:nvPr>
            <p:ph type="sldNum" sz="quarter" idx="10"/>
          </p:nvPr>
        </p:nvSpPr>
        <p:spPr/>
        <p:txBody>
          <a:bodyPr/>
          <a:lstStyle/>
          <a:p>
            <a:fld id="{849A0A36-F84D-437B-B821-CB3EBADC1433}" type="slidenum">
              <a:rPr lang="en-CA" smtClean="0"/>
              <a:t>46</a:t>
            </a:fld>
            <a:endParaRPr lang="en-CA"/>
          </a:p>
        </p:txBody>
      </p:sp>
    </p:spTree>
    <p:extLst>
      <p:ext uri="{BB962C8B-B14F-4D97-AF65-F5344CB8AC3E}">
        <p14:creationId xmlns:p14="http://schemas.microsoft.com/office/powerpoint/2010/main" val="32819566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The</a:t>
            </a:r>
            <a:r>
              <a:rPr lang="en-CA" baseline="0" dirty="0" smtClean="0"/>
              <a:t> next two applications we will present are implemented inside the </a:t>
            </a:r>
            <a:r>
              <a:rPr lang="en-CA" dirty="0" smtClean="0"/>
              <a:t>kernel,</a:t>
            </a:r>
            <a:r>
              <a:rPr lang="en-CA" baseline="0" dirty="0" smtClean="0"/>
              <a:t> </a:t>
            </a:r>
            <a:r>
              <a:rPr lang="en-CA" baseline="0" dirty="0" smtClean="0"/>
              <a:t>and they operate while </a:t>
            </a:r>
            <a:r>
              <a:rPr lang="en-CA" baseline="0" dirty="0" smtClean="0"/>
              <a:t>the </a:t>
            </a:r>
            <a:r>
              <a:rPr lang="en-CA" baseline="0" dirty="0" smtClean="0"/>
              <a:t>file </a:t>
            </a:r>
            <a:r>
              <a:rPr lang="en-CA" baseline="0" dirty="0" smtClean="0"/>
              <a:t>system is </a:t>
            </a:r>
            <a:r>
              <a:rPr lang="en-CA" baseline="0" dirty="0" smtClean="0"/>
              <a:t>running.</a:t>
            </a:r>
          </a:p>
          <a:p>
            <a:endParaRPr lang="en-CA"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CA" dirty="0" smtClean="0"/>
              <a:t>Our </a:t>
            </a:r>
            <a:r>
              <a:rPr lang="en-CA" dirty="0" smtClean="0"/>
              <a:t>file-system aware</a:t>
            </a:r>
            <a:r>
              <a:rPr lang="en-CA" baseline="0" dirty="0" smtClean="0"/>
              <a:t> </a:t>
            </a:r>
            <a:r>
              <a:rPr lang="en-CA" baseline="0" dirty="0" smtClean="0"/>
              <a:t>caching application supports various </a:t>
            </a:r>
            <a:r>
              <a:rPr lang="en-CA" dirty="0" smtClean="0"/>
              <a:t>file-system specific</a:t>
            </a:r>
            <a:r>
              <a:rPr lang="en-CA" baseline="0" dirty="0" smtClean="0"/>
              <a:t> </a:t>
            </a:r>
            <a:r>
              <a:rPr lang="en-CA" dirty="0" smtClean="0"/>
              <a:t>caching policies.</a:t>
            </a:r>
            <a:r>
              <a:rPr lang="en-CA" baseline="0" dirty="0" smtClean="0"/>
              <a:t> It is implemented in the block layer, but it requires no support or any changes to the file system.</a:t>
            </a:r>
          </a:p>
          <a:p>
            <a:pPr marL="0" marR="0" indent="0" algn="l" defTabSz="914400" rtl="0" eaLnBrk="0" fontAlgn="base" latinLnBrk="0" hangingPunct="0">
              <a:lnSpc>
                <a:spcPct val="100000"/>
              </a:lnSpc>
              <a:spcBef>
                <a:spcPct val="30000"/>
              </a:spcBef>
              <a:spcAft>
                <a:spcPct val="0"/>
              </a:spcAft>
              <a:buClrTx/>
              <a:buSzTx/>
              <a:buFontTx/>
              <a:buNone/>
              <a:tabLst/>
              <a:defRPr/>
            </a:pPr>
            <a:endParaRPr lang="en-CA"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CA" baseline="0" dirty="0" smtClean="0"/>
              <a:t>The caching application</a:t>
            </a:r>
            <a:r>
              <a:rPr lang="en-CA" dirty="0" smtClean="0"/>
              <a:t> identifies and interprets blocks as</a:t>
            </a:r>
            <a:r>
              <a:rPr lang="en-CA" baseline="0" dirty="0" smtClean="0"/>
              <a:t> they </a:t>
            </a:r>
            <a:r>
              <a:rPr lang="en-CA" dirty="0" smtClean="0"/>
              <a:t>are read or written. It uses the Spiffy library to identify the types of blocks, and for interpreting their contents to extract file-system specific information.</a:t>
            </a:r>
          </a:p>
          <a:p>
            <a:endParaRPr lang="en-CA" baseline="0" dirty="0" smtClean="0"/>
          </a:p>
          <a:p>
            <a:r>
              <a:rPr lang="en-CA" baseline="0" dirty="0" smtClean="0"/>
              <a:t>Our caching application implements several caching policies. For example, it can preferentially cache file system metadata blocks. To do so, when a block is accessed, we use spiffy to distinguish between file system metadata and data blocks using file-system independent code. Similarly, our caching application allows</a:t>
            </a:r>
            <a:r>
              <a:rPr lang="en-CA" dirty="0" smtClean="0"/>
              <a:t> preferentially caching </a:t>
            </a:r>
            <a:r>
              <a:rPr lang="en-CA" dirty="0" smtClean="0"/>
              <a:t>small files, or </a:t>
            </a:r>
            <a:r>
              <a:rPr lang="en-CA" dirty="0" smtClean="0"/>
              <a:t>a </a:t>
            </a:r>
            <a:r>
              <a:rPr lang="en-CA" dirty="0" smtClean="0"/>
              <a:t>specific user’s </a:t>
            </a:r>
            <a:r>
              <a:rPr lang="en-CA" dirty="0" smtClean="0"/>
              <a:t>files. To do so, we</a:t>
            </a:r>
            <a:r>
              <a:rPr lang="en-CA" baseline="0" dirty="0" smtClean="0"/>
              <a:t> </a:t>
            </a:r>
            <a:r>
              <a:rPr lang="en-CA" dirty="0" smtClean="0"/>
              <a:t>use</a:t>
            </a:r>
            <a:r>
              <a:rPr lang="en-CA" baseline="0" dirty="0" smtClean="0"/>
              <a:t> </a:t>
            </a:r>
            <a:r>
              <a:rPr lang="en-CA" dirty="0" smtClean="0"/>
              <a:t>spiffy to determine the file</a:t>
            </a:r>
            <a:r>
              <a:rPr lang="en-CA" baseline="0" dirty="0" smtClean="0"/>
              <a:t> to which the block belongs. From there, we can determine the size or the owner of the file.</a:t>
            </a:r>
            <a:endParaRPr lang="en-CA" dirty="0" smtClean="0"/>
          </a:p>
          <a:p>
            <a:endParaRPr lang="en-CA" dirty="0" smtClean="0"/>
          </a:p>
          <a:p>
            <a:endParaRPr lang="en-CA" dirty="0" smtClean="0"/>
          </a:p>
          <a:p>
            <a:r>
              <a:rPr lang="en-CA" dirty="0" smtClean="0"/>
              <a:t>Our</a:t>
            </a:r>
            <a:r>
              <a:rPr lang="en-CA" baseline="0" dirty="0" smtClean="0"/>
              <a:t> </a:t>
            </a:r>
            <a:r>
              <a:rPr lang="en-CA" baseline="0" dirty="0" smtClean="0"/>
              <a:t>use of Spiffy allows us to implement our file-system aware cache with </a:t>
            </a:r>
            <a:r>
              <a:rPr lang="en-CA" dirty="0" smtClean="0"/>
              <a:t>little file-system specific code.</a:t>
            </a:r>
          </a:p>
        </p:txBody>
      </p:sp>
      <p:sp>
        <p:nvSpPr>
          <p:cNvPr id="4" name="Slide Number Placeholder 3"/>
          <p:cNvSpPr>
            <a:spLocks noGrp="1"/>
          </p:cNvSpPr>
          <p:nvPr>
            <p:ph type="sldNum" sz="quarter" idx="10"/>
          </p:nvPr>
        </p:nvSpPr>
        <p:spPr/>
        <p:txBody>
          <a:bodyPr/>
          <a:lstStyle/>
          <a:p>
            <a:fld id="{B5B5BF96-4013-477F-9949-176AD53AFF60}" type="slidenum">
              <a:rPr lang="en-CA" smtClean="0"/>
              <a:t>47</a:t>
            </a:fld>
            <a:endParaRPr lang="en-CA"/>
          </a:p>
        </p:txBody>
      </p:sp>
    </p:spTree>
    <p:extLst>
      <p:ext uri="{BB962C8B-B14F-4D97-AF65-F5344CB8AC3E}">
        <p14:creationId xmlns:p14="http://schemas.microsoft.com/office/powerpoint/2010/main" val="30839875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a:t>
            </a:r>
            <a:r>
              <a:rPr lang="en-CA" dirty="0" smtClean="0"/>
              <a:t>also implemented a</a:t>
            </a:r>
            <a:r>
              <a:rPr lang="en-CA" baseline="0" dirty="0" smtClean="0"/>
              <a:t> </a:t>
            </a:r>
            <a:r>
              <a:rPr lang="en-CA" baseline="0" dirty="0" smtClean="0"/>
              <a:t>runtime checker that detects bugs that would cause file system inconsistency on disk.</a:t>
            </a:r>
          </a:p>
          <a:p>
            <a:endParaRPr lang="en-CA" baseline="0" dirty="0" smtClean="0"/>
          </a:p>
          <a:p>
            <a:r>
              <a:rPr lang="en-CA" baseline="0" dirty="0" smtClean="0"/>
              <a:t>Our checker, similar </a:t>
            </a:r>
            <a:r>
              <a:rPr lang="en-CA" baseline="0" dirty="0" smtClean="0"/>
              <a:t>to the block layer cache, </a:t>
            </a:r>
            <a:r>
              <a:rPr lang="en-CA" baseline="0" dirty="0" smtClean="0"/>
              <a:t>identifies and interprets </a:t>
            </a:r>
            <a:r>
              <a:rPr lang="en-CA" baseline="0" dirty="0" smtClean="0"/>
              <a:t>blocks as they are read or </a:t>
            </a:r>
            <a:r>
              <a:rPr lang="en-CA" baseline="0" dirty="0" smtClean="0"/>
              <a:t>written. When </a:t>
            </a:r>
            <a:r>
              <a:rPr lang="en-CA" baseline="0" dirty="0" smtClean="0"/>
              <a:t>the file system is about to commit its </a:t>
            </a:r>
            <a:r>
              <a:rPr lang="en-CA" baseline="0" dirty="0" smtClean="0"/>
              <a:t>changes </a:t>
            </a:r>
            <a:r>
              <a:rPr lang="en-CA" baseline="0" dirty="0" smtClean="0"/>
              <a:t>through transactional mechanisms such as journaling or copy-on-write, </a:t>
            </a:r>
            <a:r>
              <a:rPr lang="en-CA" baseline="0" dirty="0" smtClean="0"/>
              <a:t>the checker uses spiffy to compare the </a:t>
            </a:r>
            <a:r>
              <a:rPr lang="en-CA" baseline="0" dirty="0" smtClean="0"/>
              <a:t>old and new versions of </a:t>
            </a:r>
            <a:r>
              <a:rPr lang="en-CA" baseline="0" dirty="0" smtClean="0"/>
              <a:t>modified blocks to generate all the logical metadata changes in a transaction. </a:t>
            </a:r>
            <a:r>
              <a:rPr lang="en-CA" baseline="0" dirty="0" smtClean="0"/>
              <a:t>For example, to create a new file in Ext4, a new </a:t>
            </a:r>
            <a:r>
              <a:rPr lang="en-CA" baseline="0" dirty="0" err="1" smtClean="0"/>
              <a:t>inode</a:t>
            </a:r>
            <a:r>
              <a:rPr lang="en-CA" baseline="0" dirty="0" smtClean="0"/>
              <a:t> </a:t>
            </a:r>
            <a:r>
              <a:rPr lang="en-CA" baseline="0" dirty="0" smtClean="0"/>
              <a:t>is allocated </a:t>
            </a:r>
            <a:r>
              <a:rPr lang="en-CA" baseline="0" dirty="0" smtClean="0"/>
              <a:t>in an </a:t>
            </a:r>
            <a:r>
              <a:rPr lang="en-CA" baseline="0" dirty="0" err="1" smtClean="0"/>
              <a:t>inode</a:t>
            </a:r>
            <a:r>
              <a:rPr lang="en-CA" baseline="0" dirty="0" smtClean="0"/>
              <a:t> block, a bit </a:t>
            </a:r>
            <a:r>
              <a:rPr lang="en-CA" baseline="0" dirty="0" smtClean="0"/>
              <a:t>is set in </a:t>
            </a:r>
            <a:r>
              <a:rPr lang="en-CA" baseline="0" dirty="0" smtClean="0"/>
              <a:t>the </a:t>
            </a:r>
            <a:r>
              <a:rPr lang="en-CA" baseline="0" dirty="0" err="1" smtClean="0"/>
              <a:t>inode</a:t>
            </a:r>
            <a:r>
              <a:rPr lang="en-CA" baseline="0" dirty="0" smtClean="0"/>
              <a:t> bitmap </a:t>
            </a:r>
            <a:r>
              <a:rPr lang="en-CA" baseline="0" dirty="0" smtClean="0"/>
              <a:t>block, </a:t>
            </a:r>
            <a:r>
              <a:rPr lang="en-CA" baseline="0" dirty="0" smtClean="0"/>
              <a:t>and a new directory entry </a:t>
            </a:r>
            <a:r>
              <a:rPr lang="en-CA" baseline="0" dirty="0" smtClean="0"/>
              <a:t>is added </a:t>
            </a:r>
            <a:r>
              <a:rPr lang="en-CA" baseline="0" dirty="0" smtClean="0"/>
              <a:t>to one of the parent directory’s directory entry blocks. With support from Spiffy, generating logical changes requires significantly less file-system specific code. </a:t>
            </a:r>
            <a:endParaRPr lang="en-CA" baseline="0" dirty="0" smtClean="0"/>
          </a:p>
          <a:p>
            <a:endParaRPr lang="en-CA" baseline="0" dirty="0" smtClean="0"/>
          </a:p>
          <a:p>
            <a:r>
              <a:rPr lang="en-CA" baseline="0" dirty="0" smtClean="0"/>
              <a:t>We </a:t>
            </a:r>
            <a:r>
              <a:rPr lang="en-CA" baseline="0" dirty="0" smtClean="0"/>
              <a:t>wrote two versions of </a:t>
            </a:r>
            <a:r>
              <a:rPr lang="en-CA" baseline="0" dirty="0" smtClean="0"/>
              <a:t>the runtime checker for </a:t>
            </a:r>
            <a:r>
              <a:rPr lang="en-CA" baseline="0" dirty="0" smtClean="0"/>
              <a:t>Ext4. Our manually written version requires 2099 lines of code, whereas with Spiffy, the lines of code is reduced by half to </a:t>
            </a:r>
            <a:r>
              <a:rPr lang="en-CA" baseline="0" dirty="0" smtClean="0"/>
              <a:t>1059, and we are </a:t>
            </a:r>
            <a:r>
              <a:rPr lang="en-CA" baseline="0" dirty="0" smtClean="0"/>
              <a:t>exploring </a:t>
            </a:r>
            <a:r>
              <a:rPr lang="en-CA" baseline="0" dirty="0" smtClean="0"/>
              <a:t>improvements </a:t>
            </a:r>
            <a:r>
              <a:rPr lang="en-CA" baseline="0" dirty="0" smtClean="0"/>
              <a:t>to Spiffy </a:t>
            </a:r>
            <a:r>
              <a:rPr lang="en-CA" baseline="0" dirty="0" smtClean="0"/>
              <a:t>to reduce this number further.</a:t>
            </a:r>
            <a:endParaRPr lang="en-CA" dirty="0"/>
          </a:p>
        </p:txBody>
      </p:sp>
      <p:sp>
        <p:nvSpPr>
          <p:cNvPr id="4" name="Slide Number Placeholder 3"/>
          <p:cNvSpPr>
            <a:spLocks noGrp="1"/>
          </p:cNvSpPr>
          <p:nvPr>
            <p:ph type="sldNum" sz="quarter" idx="10"/>
          </p:nvPr>
        </p:nvSpPr>
        <p:spPr/>
        <p:txBody>
          <a:bodyPr/>
          <a:lstStyle/>
          <a:p>
            <a:pPr>
              <a:defRPr/>
            </a:pPr>
            <a:fld id="{CFF1A404-780B-445D-9205-D143319E6490}" type="slidenum">
              <a:rPr lang="en-US" smtClean="0"/>
              <a:pPr>
                <a:defRPr/>
              </a:pPr>
              <a:t>48</a:t>
            </a:fld>
            <a:endParaRPr lang="en-US"/>
          </a:p>
        </p:txBody>
      </p:sp>
    </p:spTree>
    <p:extLst>
      <p:ext uri="{BB962C8B-B14F-4D97-AF65-F5344CB8AC3E}">
        <p14:creationId xmlns:p14="http://schemas.microsoft.com/office/powerpoint/2010/main" val="9718372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In conclusion,</a:t>
            </a:r>
            <a:r>
              <a:rPr lang="en-CA" baseline="0" dirty="0" smtClean="0"/>
              <a:t> we have presented the Spiffy framework. We provide an annotation language for specifying file system format, which enables generating a library for traversing file system metadata. </a:t>
            </a:r>
          </a:p>
          <a:p>
            <a:r>
              <a:rPr lang="en-CA" baseline="0" dirty="0" smtClean="0"/>
              <a:t>The Spiffy library simplifies development of file-system aware applications by reducing the need to write file-system specific code and it enables code reuse across file systems.</a:t>
            </a:r>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It also helps developers write robust applications by providing type-safe parsing and serialization of metadata, and helping to detect file system corruption.</a:t>
            </a:r>
          </a:p>
        </p:txBody>
      </p:sp>
      <p:sp>
        <p:nvSpPr>
          <p:cNvPr id="4" name="Slide Number Placeholder 3"/>
          <p:cNvSpPr>
            <a:spLocks noGrp="1"/>
          </p:cNvSpPr>
          <p:nvPr>
            <p:ph type="sldNum" sz="quarter" idx="10"/>
          </p:nvPr>
        </p:nvSpPr>
        <p:spPr/>
        <p:txBody>
          <a:bodyPr/>
          <a:lstStyle/>
          <a:p>
            <a:fld id="{B5B5BF96-4013-477F-9949-176AD53AFF60}" type="slidenum">
              <a:rPr lang="en-CA" smtClean="0"/>
              <a:t>50</a:t>
            </a:fld>
            <a:endParaRPr lang="en-CA"/>
          </a:p>
        </p:txBody>
      </p:sp>
    </p:spTree>
    <p:extLst>
      <p:ext uri="{BB962C8B-B14F-4D97-AF65-F5344CB8AC3E}">
        <p14:creationId xmlns:p14="http://schemas.microsoft.com/office/powerpoint/2010/main" val="18109918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411163" y="703263"/>
            <a:ext cx="6254750" cy="351948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93FDF3EA-9C45-4FB6-8360-B20F215DDAF9}" type="slidenum">
              <a:rPr lang="en-US" altLang="en-US" smtClean="0">
                <a:latin typeface="Arial" charset="0"/>
              </a:rPr>
              <a:pPr eaLnBrk="1" hangingPunct="1">
                <a:spcBef>
                  <a:spcPct val="0"/>
                </a:spcBef>
              </a:pPr>
              <a:t>52</a:t>
            </a:fld>
            <a:endParaRPr lang="en-US" altLang="en-US" smtClean="0">
              <a:latin typeface="Arial" charset="0"/>
            </a:endParaRPr>
          </a:p>
        </p:txBody>
      </p:sp>
    </p:spTree>
    <p:extLst>
      <p:ext uri="{BB962C8B-B14F-4D97-AF65-F5344CB8AC3E}">
        <p14:creationId xmlns:p14="http://schemas.microsoft.com/office/powerpoint/2010/main" val="4026368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This</a:t>
            </a:r>
            <a:r>
              <a:rPr lang="en-CA" baseline="0" dirty="0" smtClean="0"/>
              <a:t> table summarizes the major APIs offered by Spiffy, which provides type-safe traversal and manipulation of the file system and its metadata. At the top, we have the Entity class, which provides a common interface for all file system metadata structures. The </a:t>
            </a:r>
            <a:r>
              <a:rPr lang="en-CA" baseline="0" dirty="0" err="1" smtClean="0"/>
              <a:t>process_fields</a:t>
            </a:r>
            <a:r>
              <a:rPr lang="en-CA" baseline="0" dirty="0" smtClean="0"/>
              <a:t> function allows iterating through all fields of this object. </a:t>
            </a:r>
            <a:r>
              <a:rPr lang="en-CA" baseline="0" dirty="0" err="1" smtClean="0"/>
              <a:t>process_pointer</a:t>
            </a:r>
            <a:r>
              <a:rPr lang="en-CA" baseline="0" dirty="0" smtClean="0"/>
              <a:t>, on the other hand, only iterates through the pointers within this object. </a:t>
            </a:r>
          </a:p>
          <a:p>
            <a:r>
              <a:rPr lang="en-US" altLang="zh-TW" baseline="0" dirty="0" smtClean="0"/>
              <a:t>I</a:t>
            </a:r>
            <a:r>
              <a:rPr lang="zh-TW" altLang="en-US" baseline="0" dirty="0" smtClean="0"/>
              <a:t> </a:t>
            </a:r>
            <a:r>
              <a:rPr lang="en-CA" altLang="zh-TW" baseline="0" dirty="0" smtClean="0"/>
              <a:t>have previously described the next two set of member functions, so I will skip forward.</a:t>
            </a:r>
            <a:endParaRPr lang="en-CA" baseline="0" dirty="0" smtClean="0"/>
          </a:p>
          <a:p>
            <a:r>
              <a:rPr lang="en-CA" baseline="0" dirty="0" smtClean="0"/>
              <a:t>The container class represents the unit of disk access. for example, </a:t>
            </a:r>
            <a:r>
              <a:rPr lang="en-CA" baseline="0" dirty="0" err="1" smtClean="0"/>
              <a:t>inode</a:t>
            </a:r>
            <a:r>
              <a:rPr lang="en-CA" baseline="0" dirty="0" smtClean="0"/>
              <a:t> structures are never read or written individually, but in units of an </a:t>
            </a:r>
            <a:r>
              <a:rPr lang="en-CA" baseline="0" dirty="0" err="1" smtClean="0"/>
              <a:t>inode</a:t>
            </a:r>
            <a:r>
              <a:rPr lang="en-CA" baseline="0" dirty="0" smtClean="0"/>
              <a:t> block. The container class is a subclass of Entity, which has the save function that allows it to be serialized to disk. Pointer class is also a subclass of Entity, which has the fetch function for retrieving the pointed-to container from disk. The File System class is required for bootstrapping the file system, and the IO class implements reading and writing from the address spaces used by the file system. Lastly, the </a:t>
            </a:r>
            <a:r>
              <a:rPr lang="en-CA" baseline="0" dirty="0" err="1" smtClean="0"/>
              <a:t>fetch_super</a:t>
            </a:r>
            <a:r>
              <a:rPr lang="en-CA" baseline="0" dirty="0" smtClean="0"/>
              <a:t> function retrieves the super block from a known location.</a:t>
            </a:r>
          </a:p>
          <a:p>
            <a:r>
              <a:rPr lang="en-CA" baseline="0" dirty="0" smtClean="0"/>
              <a:t>The application developer would mainly be writing custom visit functions for traversing and processing file system metadata, as we will show next how it can be done generically. </a:t>
            </a:r>
            <a:endParaRPr lang="en-CA" dirty="0"/>
          </a:p>
        </p:txBody>
      </p:sp>
      <p:sp>
        <p:nvSpPr>
          <p:cNvPr id="4" name="Slide Number Placeholder 3"/>
          <p:cNvSpPr>
            <a:spLocks noGrp="1"/>
          </p:cNvSpPr>
          <p:nvPr>
            <p:ph type="sldNum" sz="quarter" idx="10"/>
          </p:nvPr>
        </p:nvSpPr>
        <p:spPr/>
        <p:txBody>
          <a:bodyPr/>
          <a:lstStyle/>
          <a:p>
            <a:pPr>
              <a:defRPr/>
            </a:pPr>
            <a:fld id="{CFF1A404-780B-445D-9205-D143319E6490}" type="slidenum">
              <a:rPr lang="en-US" smtClean="0"/>
              <a:pPr>
                <a:defRPr/>
              </a:pPr>
              <a:t>53</a:t>
            </a:fld>
            <a:endParaRPr lang="en-US"/>
          </a:p>
        </p:txBody>
      </p:sp>
    </p:spTree>
    <p:extLst>
      <p:ext uri="{BB962C8B-B14F-4D97-AF65-F5344CB8AC3E}">
        <p14:creationId xmlns:p14="http://schemas.microsoft.com/office/powerpoint/2010/main" val="4511757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The pointer visit</a:t>
            </a:r>
            <a:r>
              <a:rPr lang="en-CA" baseline="0" dirty="0" smtClean="0"/>
              <a:t> function would fetch the pointed-to container from disk, then calls the entity visitor’s visit function, which allows full traversal of all file system containers in depth-first order.</a:t>
            </a:r>
            <a:endParaRPr lang="en-CA" dirty="0"/>
          </a:p>
        </p:txBody>
      </p:sp>
      <p:sp>
        <p:nvSpPr>
          <p:cNvPr id="4" name="Slide Number Placeholder 3"/>
          <p:cNvSpPr>
            <a:spLocks noGrp="1"/>
          </p:cNvSpPr>
          <p:nvPr>
            <p:ph type="sldNum" sz="quarter" idx="10"/>
          </p:nvPr>
        </p:nvSpPr>
        <p:spPr/>
        <p:txBody>
          <a:bodyPr/>
          <a:lstStyle/>
          <a:p>
            <a:pPr>
              <a:defRPr/>
            </a:pPr>
            <a:fld id="{CFF1A404-780B-445D-9205-D143319E6490}" type="slidenum">
              <a:rPr lang="en-US" smtClean="0"/>
              <a:pPr>
                <a:defRPr/>
              </a:pPr>
              <a:t>54</a:t>
            </a:fld>
            <a:endParaRPr lang="en-US"/>
          </a:p>
        </p:txBody>
      </p:sp>
    </p:spTree>
    <p:extLst>
      <p:ext uri="{BB962C8B-B14F-4D97-AF65-F5344CB8AC3E}">
        <p14:creationId xmlns:p14="http://schemas.microsoft.com/office/powerpoint/2010/main" val="25034312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The entity visitor prints the name of the entity e, and then calls the process</a:t>
            </a:r>
            <a:r>
              <a:rPr lang="en-CA" baseline="0" dirty="0" smtClean="0"/>
              <a:t> pointer function using the pointer visitor, which calls its visit function on all of the pointer fields in the entity e. </a:t>
            </a:r>
            <a:endParaRPr lang="en-CA" dirty="0"/>
          </a:p>
        </p:txBody>
      </p:sp>
      <p:sp>
        <p:nvSpPr>
          <p:cNvPr id="4" name="Slide Number Placeholder 3"/>
          <p:cNvSpPr>
            <a:spLocks noGrp="1"/>
          </p:cNvSpPr>
          <p:nvPr>
            <p:ph type="sldNum" sz="quarter" idx="10"/>
          </p:nvPr>
        </p:nvSpPr>
        <p:spPr/>
        <p:txBody>
          <a:bodyPr/>
          <a:lstStyle/>
          <a:p>
            <a:pPr>
              <a:defRPr/>
            </a:pPr>
            <a:fld id="{CFF1A404-780B-445D-9205-D143319E6490}" type="slidenum">
              <a:rPr lang="en-US" smtClean="0"/>
              <a:pPr>
                <a:defRPr/>
              </a:pPr>
              <a:t>55</a:t>
            </a:fld>
            <a:endParaRPr lang="en-US"/>
          </a:p>
        </p:txBody>
      </p:sp>
    </p:spTree>
    <p:extLst>
      <p:ext uri="{BB962C8B-B14F-4D97-AF65-F5344CB8AC3E}">
        <p14:creationId xmlns:p14="http://schemas.microsoft.com/office/powerpoint/2010/main" val="254461050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The entity visitor prints the name of the entity e, and then calls the process</a:t>
            </a:r>
            <a:r>
              <a:rPr lang="en-CA" baseline="0" dirty="0" smtClean="0"/>
              <a:t> pointer function using the pointer visitor, which calls its visit function on all of the pointer fields in the entity e. </a:t>
            </a:r>
            <a:endParaRPr lang="en-CA" dirty="0"/>
          </a:p>
        </p:txBody>
      </p:sp>
      <p:sp>
        <p:nvSpPr>
          <p:cNvPr id="4" name="Slide Number Placeholder 3"/>
          <p:cNvSpPr>
            <a:spLocks noGrp="1"/>
          </p:cNvSpPr>
          <p:nvPr>
            <p:ph type="sldNum" sz="quarter" idx="10"/>
          </p:nvPr>
        </p:nvSpPr>
        <p:spPr/>
        <p:txBody>
          <a:bodyPr/>
          <a:lstStyle/>
          <a:p>
            <a:pPr>
              <a:defRPr/>
            </a:pPr>
            <a:fld id="{CFF1A404-780B-445D-9205-D143319E6490}" type="slidenum">
              <a:rPr lang="en-US" smtClean="0"/>
              <a:pPr>
                <a:defRPr/>
              </a:pPr>
              <a:t>56</a:t>
            </a:fld>
            <a:endParaRPr lang="en-US"/>
          </a:p>
        </p:txBody>
      </p:sp>
    </p:spTree>
    <p:extLst>
      <p:ext uri="{BB962C8B-B14F-4D97-AF65-F5344CB8AC3E}">
        <p14:creationId xmlns:p14="http://schemas.microsoft.com/office/powerpoint/2010/main" val="34999528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We now</a:t>
            </a:r>
            <a:r>
              <a:rPr lang="en-CA" baseline="0" dirty="0" smtClean="0"/>
              <a:t> show what the application developer needs to do to implement generic traversal of the file system, which is used by some of the applications that we will demonstrate later. For all file systems, a small amount of file system specific code is required for bootstrapping. However, the rest of the code is completely generic. </a:t>
            </a:r>
            <a:endParaRPr lang="en-CA" dirty="0"/>
          </a:p>
        </p:txBody>
      </p:sp>
      <p:sp>
        <p:nvSpPr>
          <p:cNvPr id="4" name="Slide Number Placeholder 3"/>
          <p:cNvSpPr>
            <a:spLocks noGrp="1"/>
          </p:cNvSpPr>
          <p:nvPr>
            <p:ph type="sldNum" sz="quarter" idx="10"/>
          </p:nvPr>
        </p:nvSpPr>
        <p:spPr/>
        <p:txBody>
          <a:bodyPr/>
          <a:lstStyle/>
          <a:p>
            <a:pPr>
              <a:defRPr/>
            </a:pPr>
            <a:fld id="{CFF1A404-780B-445D-9205-D143319E6490}" type="slidenum">
              <a:rPr lang="en-US" smtClean="0"/>
              <a:pPr>
                <a:defRPr/>
              </a:pPr>
              <a:t>57</a:t>
            </a:fld>
            <a:endParaRPr lang="en-US"/>
          </a:p>
        </p:txBody>
      </p:sp>
    </p:spTree>
    <p:extLst>
      <p:ext uri="{BB962C8B-B14F-4D97-AF65-F5344CB8AC3E}">
        <p14:creationId xmlns:p14="http://schemas.microsoft.com/office/powerpoint/2010/main" val="17813887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First, we instantiate</a:t>
            </a:r>
            <a:r>
              <a:rPr lang="en-CA" baseline="0" dirty="0" smtClean="0"/>
              <a:t> an IO object which implements the block and file address space, and an instance of the Ext4 file system class. Next, the generic part of the application begins with fetching the super block. Then it uses two mutually recursive visitors to traverse the whole file system, beginning with the super block.</a:t>
            </a:r>
            <a:endParaRPr lang="en-CA" dirty="0"/>
          </a:p>
        </p:txBody>
      </p:sp>
      <p:sp>
        <p:nvSpPr>
          <p:cNvPr id="4" name="Slide Number Placeholder 3"/>
          <p:cNvSpPr>
            <a:spLocks noGrp="1"/>
          </p:cNvSpPr>
          <p:nvPr>
            <p:ph type="sldNum" sz="quarter" idx="10"/>
          </p:nvPr>
        </p:nvSpPr>
        <p:spPr/>
        <p:txBody>
          <a:bodyPr/>
          <a:lstStyle/>
          <a:p>
            <a:pPr>
              <a:defRPr/>
            </a:pPr>
            <a:fld id="{CFF1A404-780B-445D-9205-D143319E6490}" type="slidenum">
              <a:rPr lang="en-US" smtClean="0"/>
              <a:pPr>
                <a:defRPr/>
              </a:pPr>
              <a:t>58</a:t>
            </a:fld>
            <a:endParaRPr lang="en-US"/>
          </a:p>
        </p:txBody>
      </p:sp>
    </p:spTree>
    <p:extLst>
      <p:ext uri="{BB962C8B-B14F-4D97-AF65-F5344CB8AC3E}">
        <p14:creationId xmlns:p14="http://schemas.microsoft.com/office/powerpoint/2010/main" val="14243175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962150"/>
            <a:ext cx="9144000" cy="1752600"/>
          </a:xfrm>
        </p:spPr>
        <p:txBody>
          <a:bodyPr/>
          <a:lstStyle>
            <a:lvl1pPr algn="ctr">
              <a:defRPr>
                <a:latin typeface="Arial" pitchFamily="34" charset="0"/>
                <a:cs typeface="Arial" pitchFamily="34" charset="0"/>
              </a:defRPr>
            </a:lvl1pPr>
          </a:lstStyle>
          <a:p>
            <a:r>
              <a:rPr lang="en-US" dirty="0" smtClean="0"/>
              <a:t>Click to edit Master title style</a:t>
            </a:r>
            <a:endParaRPr lang="en-US" dirty="0"/>
          </a:p>
        </p:txBody>
      </p:sp>
      <p:sp>
        <p:nvSpPr>
          <p:cNvPr id="13" name="Rectangle 12"/>
          <p:cNvSpPr/>
          <p:nvPr userDrawn="1"/>
        </p:nvSpPr>
        <p:spPr>
          <a:xfrm>
            <a:off x="-15240" y="4114800"/>
            <a:ext cx="9159240" cy="1123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0" y="-3175"/>
            <a:ext cx="9159240" cy="1908175"/>
          </a:xfrm>
          <a:prstGeom prst="rect">
            <a:avLst/>
          </a:prstGeom>
        </p:spPr>
      </p:pic>
    </p:spTree>
    <p:extLst>
      <p:ext uri="{BB962C8B-B14F-4D97-AF65-F5344CB8AC3E}">
        <p14:creationId xmlns:p14="http://schemas.microsoft.com/office/powerpoint/2010/main" val="285338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7030A0"/>
                </a:solidFill>
                <a:latin typeface="Arial" pitchFamily="34" charset="0"/>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152400" y="857250"/>
            <a:ext cx="8839200" cy="3695700"/>
          </a:xfrm>
        </p:spPr>
        <p:txBody>
          <a:bodyPr/>
          <a:lstStyle>
            <a:lvl1pPr>
              <a:defRPr>
                <a:latin typeface="Arial" pitchFamily="34" charset="0"/>
                <a:cs typeface="Arial" pitchFamily="34" charset="0"/>
              </a:defRPr>
            </a:lvl1pPr>
            <a:lvl2pPr>
              <a:defRPr sz="2200">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51820011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3159" y="1136521"/>
            <a:ext cx="3842317" cy="3492629"/>
          </a:xfrm>
        </p:spPr>
        <p:txBody>
          <a:bodyP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356100" y="1136521"/>
            <a:ext cx="3700859" cy="3492629"/>
          </a:xfrm>
        </p:spPr>
        <p:txBody>
          <a:bodyP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a:xfrm>
            <a:off x="7428309" y="4629150"/>
            <a:ext cx="1200150" cy="273844"/>
          </a:xfrm>
          <a:prstGeom prst="rect">
            <a:avLst/>
          </a:prstGeom>
        </p:spPr>
        <p:txBody>
          <a:bodyPr/>
          <a:lstStyle/>
          <a:p>
            <a:fld id="{9ACE3152-893D-476F-92C8-DC87664CFA37}" type="datetime1">
              <a:rPr lang="en-CA" smtClean="0"/>
              <a:t>2018-09-25</a:t>
            </a:fld>
            <a:endParaRPr lang="en-CA"/>
          </a:p>
        </p:txBody>
      </p:sp>
      <p:sp>
        <p:nvSpPr>
          <p:cNvPr id="6" name="Footer Placeholder 5"/>
          <p:cNvSpPr>
            <a:spLocks noGrp="1"/>
          </p:cNvSpPr>
          <p:nvPr>
            <p:ph type="ftr" sz="quarter" idx="11"/>
          </p:nvPr>
        </p:nvSpPr>
        <p:spPr>
          <a:xfrm>
            <a:off x="513159" y="4629150"/>
            <a:ext cx="5657850" cy="273844"/>
          </a:xfrm>
          <a:prstGeom prst="rect">
            <a:avLst/>
          </a:prstGeom>
        </p:spPr>
        <p:txBody>
          <a:bodyPr/>
          <a:lstStyle/>
          <a:p>
            <a:endParaRPr lang="en-CA"/>
          </a:p>
        </p:txBody>
      </p:sp>
      <p:sp>
        <p:nvSpPr>
          <p:cNvPr id="7" name="Slide Number Placeholder 6"/>
          <p:cNvSpPr>
            <a:spLocks noGrp="1"/>
          </p:cNvSpPr>
          <p:nvPr>
            <p:ph type="sldNum" sz="quarter" idx="12"/>
          </p:nvPr>
        </p:nvSpPr>
        <p:spPr>
          <a:xfrm>
            <a:off x="7772400" y="4183857"/>
            <a:ext cx="856684" cy="502444"/>
          </a:xfrm>
          <a:prstGeom prst="rect">
            <a:avLst/>
          </a:prstGeom>
        </p:spPr>
        <p:txBody>
          <a:bodyPr/>
          <a:lstStyle/>
          <a:p>
            <a:fld id="{7B2023C8-B124-43A9-8F92-0EEF5BAA9995}" type="slidenum">
              <a:rPr lang="en-CA" smtClean="0"/>
              <a:t>‹#›</a:t>
            </a:fld>
            <a:endParaRPr lang="en-CA"/>
          </a:p>
        </p:txBody>
      </p:sp>
    </p:spTree>
    <p:extLst>
      <p:ext uri="{BB962C8B-B14F-4D97-AF65-F5344CB8AC3E}">
        <p14:creationId xmlns:p14="http://schemas.microsoft.com/office/powerpoint/2010/main" val="17572502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4568428"/>
            <a:ext cx="9144000" cy="609600"/>
          </a:xfrm>
          <a:prstGeom prst="rect">
            <a:avLst/>
          </a:prstGeom>
        </p:spPr>
      </p:pic>
      <p:sp>
        <p:nvSpPr>
          <p:cNvPr id="1027" name="Rectangle 33"/>
          <p:cNvSpPr>
            <a:spLocks noGrp="1" noChangeArrowheads="1"/>
          </p:cNvSpPr>
          <p:nvPr>
            <p:ph type="title"/>
          </p:nvPr>
        </p:nvSpPr>
        <p:spPr bwMode="auto">
          <a:xfrm>
            <a:off x="152400" y="0"/>
            <a:ext cx="88392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8" name="Rectangle 34"/>
          <p:cNvSpPr>
            <a:spLocks noGrp="1" noChangeArrowheads="1"/>
          </p:cNvSpPr>
          <p:nvPr>
            <p:ph type="body" idx="1"/>
          </p:nvPr>
        </p:nvSpPr>
        <p:spPr bwMode="auto">
          <a:xfrm>
            <a:off x="152400" y="857250"/>
            <a:ext cx="88392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10" name="Footer Placeholder 7"/>
          <p:cNvSpPr txBox="1">
            <a:spLocks/>
          </p:cNvSpPr>
          <p:nvPr/>
        </p:nvSpPr>
        <p:spPr>
          <a:xfrm>
            <a:off x="1066800" y="4736306"/>
            <a:ext cx="6629400" cy="273844"/>
          </a:xfrm>
          <a:prstGeom prst="rect">
            <a:avLst/>
          </a:prstGeom>
        </p:spPr>
        <p:txBody>
          <a:bodyPr anchor="ctr"/>
          <a:lstStyle>
            <a:lvl1pPr algn="ctr">
              <a:defRPr sz="1000">
                <a:solidFill>
                  <a:schemeClr val="tx1">
                    <a:tint val="75000"/>
                  </a:schemeClr>
                </a:solidFill>
                <a:latin typeface="+mn-lt"/>
              </a:defRPr>
            </a:lvl1pPr>
          </a:lstStyle>
          <a:p>
            <a:pPr>
              <a:defRPr/>
            </a:pPr>
            <a:r>
              <a:rPr lang="en-US" dirty="0" smtClean="0">
                <a:solidFill>
                  <a:schemeClr val="tx1"/>
                </a:solidFill>
                <a:latin typeface="Arial" pitchFamily="34" charset="0"/>
                <a:cs typeface="Arial" pitchFamily="34" charset="0"/>
              </a:rPr>
              <a:t>2018 Storage  Developer Conference. © University of Toronto.  All Rights Reserved.</a:t>
            </a:r>
          </a:p>
          <a:p>
            <a:pPr>
              <a:defRPr/>
            </a:pPr>
            <a:endParaRPr lang="en-US" dirty="0" smtClean="0"/>
          </a:p>
        </p:txBody>
      </p:sp>
      <p:sp>
        <p:nvSpPr>
          <p:cNvPr id="11" name="TextBox 10"/>
          <p:cNvSpPr txBox="1"/>
          <p:nvPr userDrawn="1"/>
        </p:nvSpPr>
        <p:spPr>
          <a:xfrm>
            <a:off x="8610600" y="4705350"/>
            <a:ext cx="533400" cy="246221"/>
          </a:xfrm>
          <a:prstGeom prst="rect">
            <a:avLst/>
          </a:prstGeom>
          <a:noFill/>
        </p:spPr>
        <p:txBody>
          <a:bodyPr wrap="square" rtlCol="0">
            <a:spAutoFit/>
          </a:bodyPr>
          <a:lstStyle/>
          <a:p>
            <a:fld id="{31142115-651B-437E-86C6-1355E6532246}" type="slidenum">
              <a:rPr lang="en-US" sz="1000" smtClean="0">
                <a:solidFill>
                  <a:schemeClr val="bg1"/>
                </a:solidFill>
              </a:rPr>
              <a:t>‹#›</a:t>
            </a:fld>
            <a:endParaRPr lang="en-US" sz="10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Lst>
  <p:timing>
    <p:tnLst>
      <p:par>
        <p:cTn id="1" dur="indefinite" restart="never" nodeType="tmRoot"/>
      </p:par>
    </p:tnLst>
  </p:timing>
  <p:hf hdr="0" ftr="0" dt="0"/>
  <p:txStyles>
    <p:titleStyle>
      <a:lvl1pPr algn="l" rtl="0" eaLnBrk="1" fontAlgn="base" hangingPunct="1">
        <a:spcBef>
          <a:spcPct val="0"/>
        </a:spcBef>
        <a:spcAft>
          <a:spcPct val="0"/>
        </a:spcAft>
        <a:defRPr sz="3200" b="1">
          <a:solidFill>
            <a:srgbClr val="522380"/>
          </a:solidFill>
          <a:latin typeface="Arial" pitchFamily="34" charset="0"/>
          <a:ea typeface="+mj-ea"/>
          <a:cs typeface="Arial" pitchFamily="34" charset="0"/>
        </a:defRPr>
      </a:lvl1pPr>
      <a:lvl2pPr algn="l" rtl="0" eaLnBrk="1" fontAlgn="base" hangingPunct="1">
        <a:spcBef>
          <a:spcPct val="0"/>
        </a:spcBef>
        <a:spcAft>
          <a:spcPct val="0"/>
        </a:spcAft>
        <a:defRPr sz="3200" b="1">
          <a:solidFill>
            <a:srgbClr val="522380"/>
          </a:solidFill>
          <a:latin typeface="Arial" charset="0"/>
          <a:cs typeface="Arial" charset="0"/>
        </a:defRPr>
      </a:lvl2pPr>
      <a:lvl3pPr algn="l" rtl="0" eaLnBrk="1" fontAlgn="base" hangingPunct="1">
        <a:spcBef>
          <a:spcPct val="0"/>
        </a:spcBef>
        <a:spcAft>
          <a:spcPct val="0"/>
        </a:spcAft>
        <a:defRPr sz="3200" b="1">
          <a:solidFill>
            <a:srgbClr val="522380"/>
          </a:solidFill>
          <a:latin typeface="Arial" charset="0"/>
          <a:cs typeface="Arial" charset="0"/>
        </a:defRPr>
      </a:lvl3pPr>
      <a:lvl4pPr algn="l" rtl="0" eaLnBrk="1" fontAlgn="base" hangingPunct="1">
        <a:spcBef>
          <a:spcPct val="0"/>
        </a:spcBef>
        <a:spcAft>
          <a:spcPct val="0"/>
        </a:spcAft>
        <a:defRPr sz="3200" b="1">
          <a:solidFill>
            <a:srgbClr val="522380"/>
          </a:solidFill>
          <a:latin typeface="Arial" charset="0"/>
          <a:cs typeface="Arial" charset="0"/>
        </a:defRPr>
      </a:lvl4pPr>
      <a:lvl5pPr algn="l" rtl="0" eaLnBrk="1" fontAlgn="base" hangingPunct="1">
        <a:spcBef>
          <a:spcPct val="0"/>
        </a:spcBef>
        <a:spcAft>
          <a:spcPct val="0"/>
        </a:spcAft>
        <a:defRPr sz="3200" b="1">
          <a:solidFill>
            <a:srgbClr val="522380"/>
          </a:solidFill>
          <a:latin typeface="Arial" charset="0"/>
          <a:cs typeface="Arial" charset="0"/>
        </a:defRPr>
      </a:lvl5pPr>
      <a:lvl6pPr marL="457200" algn="l" rtl="0" eaLnBrk="1" fontAlgn="base" hangingPunct="1">
        <a:spcBef>
          <a:spcPct val="0"/>
        </a:spcBef>
        <a:spcAft>
          <a:spcPct val="0"/>
        </a:spcAft>
        <a:defRPr sz="3200" b="1">
          <a:solidFill>
            <a:srgbClr val="522380"/>
          </a:solidFill>
          <a:latin typeface="Gill Sans MT" pitchFamily="34" charset="0"/>
        </a:defRPr>
      </a:lvl6pPr>
      <a:lvl7pPr marL="914400" algn="l" rtl="0" eaLnBrk="1" fontAlgn="base" hangingPunct="1">
        <a:spcBef>
          <a:spcPct val="0"/>
        </a:spcBef>
        <a:spcAft>
          <a:spcPct val="0"/>
        </a:spcAft>
        <a:defRPr sz="3200" b="1">
          <a:solidFill>
            <a:srgbClr val="522380"/>
          </a:solidFill>
          <a:latin typeface="Gill Sans MT" pitchFamily="34" charset="0"/>
        </a:defRPr>
      </a:lvl7pPr>
      <a:lvl8pPr marL="1371600" algn="l" rtl="0" eaLnBrk="1" fontAlgn="base" hangingPunct="1">
        <a:spcBef>
          <a:spcPct val="0"/>
        </a:spcBef>
        <a:spcAft>
          <a:spcPct val="0"/>
        </a:spcAft>
        <a:defRPr sz="3200" b="1">
          <a:solidFill>
            <a:srgbClr val="522380"/>
          </a:solidFill>
          <a:latin typeface="Gill Sans MT" pitchFamily="34" charset="0"/>
        </a:defRPr>
      </a:lvl8pPr>
      <a:lvl9pPr marL="1828800" algn="l" rtl="0" eaLnBrk="1" fontAlgn="base" hangingPunct="1">
        <a:spcBef>
          <a:spcPct val="0"/>
        </a:spcBef>
        <a:spcAft>
          <a:spcPct val="0"/>
        </a:spcAft>
        <a:defRPr sz="3200" b="1">
          <a:solidFill>
            <a:srgbClr val="522380"/>
          </a:solidFill>
          <a:latin typeface="Gill Sans MT" pitchFamily="34" charset="0"/>
        </a:defRPr>
      </a:lvl9pPr>
    </p:titleStyle>
    <p:bodyStyle>
      <a:lvl1pPr marL="342900" indent="-342900" algn="l" rtl="0" eaLnBrk="1" fontAlgn="base" hangingPunct="1">
        <a:spcBef>
          <a:spcPct val="20000"/>
        </a:spcBef>
        <a:spcAft>
          <a:spcPct val="0"/>
        </a:spcAft>
        <a:buClr>
          <a:srgbClr val="52237F"/>
        </a:buClr>
        <a:buSzPct val="75000"/>
        <a:buFont typeface="Wingdings" pitchFamily="2" charset="2"/>
        <a:buChar char="r"/>
        <a:defRPr sz="24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Clr>
          <a:srgbClr val="D7E159"/>
        </a:buClr>
        <a:buSzPct val="75000"/>
        <a:buFont typeface="Wingdings" pitchFamily="2" charset="2"/>
        <a:buChar char="r"/>
        <a:defRPr sz="2400">
          <a:solidFill>
            <a:schemeClr val="tx1"/>
          </a:solidFill>
          <a:latin typeface="Arial" pitchFamily="34" charset="0"/>
          <a:cs typeface="Arial" pitchFamily="34" charset="0"/>
        </a:defRPr>
      </a:lvl2pPr>
      <a:lvl3pPr marL="1143000" indent="-228600" algn="l" rtl="0" eaLnBrk="1" fontAlgn="base" hangingPunct="1">
        <a:spcBef>
          <a:spcPct val="20000"/>
        </a:spcBef>
        <a:spcAft>
          <a:spcPct val="0"/>
        </a:spcAft>
        <a:buClr>
          <a:schemeClr val="bg2"/>
        </a:buClr>
        <a:buSzPct val="75000"/>
        <a:buFont typeface="Wingdings" pitchFamily="2" charset="2"/>
        <a:buChar char="r"/>
        <a:defRPr sz="2000">
          <a:solidFill>
            <a:schemeClr val="tx1"/>
          </a:solidFill>
          <a:latin typeface="Arial" pitchFamily="34" charset="0"/>
          <a:cs typeface="Arial" pitchFamily="34" charset="0"/>
        </a:defRPr>
      </a:lvl3pPr>
      <a:lvl4pPr marL="1600200" indent="-228600" algn="l" rtl="0" eaLnBrk="1" fontAlgn="base" hangingPunct="1">
        <a:spcBef>
          <a:spcPct val="20000"/>
        </a:spcBef>
        <a:spcAft>
          <a:spcPct val="0"/>
        </a:spcAft>
        <a:buClr>
          <a:srgbClr val="C2BE52"/>
        </a:buClr>
        <a:buSzPct val="75000"/>
        <a:buFont typeface="Wingdings" pitchFamily="2" charset="2"/>
        <a:buChar char="r"/>
        <a:defRPr sz="1800">
          <a:solidFill>
            <a:schemeClr val="tx1"/>
          </a:solidFill>
          <a:latin typeface="Arial" pitchFamily="34" charset="0"/>
          <a:cs typeface="Arial" pitchFamily="34" charset="0"/>
        </a:defRPr>
      </a:lvl4pPr>
      <a:lvl5pPr marL="2057400" indent="-228600" algn="l" rtl="0" eaLnBrk="1" fontAlgn="base" hangingPunct="1">
        <a:spcBef>
          <a:spcPct val="20000"/>
        </a:spcBef>
        <a:spcAft>
          <a:spcPct val="0"/>
        </a:spcAft>
        <a:buClr>
          <a:srgbClr val="52237F"/>
        </a:buClr>
        <a:buSzPct val="75000"/>
        <a:buFont typeface="Wingdings" pitchFamily="2" charset="2"/>
        <a:buChar char="r"/>
        <a:defRPr sz="1800">
          <a:solidFill>
            <a:schemeClr val="tx1"/>
          </a:solidFill>
          <a:latin typeface="Arial" pitchFamily="34" charset="0"/>
          <a:cs typeface="Arial" pitchFamily="34" charset="0"/>
        </a:defRPr>
      </a:lvl5pPr>
      <a:lvl6pPr marL="25146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6pPr>
      <a:lvl7pPr marL="29718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7pPr>
      <a:lvl8pPr marL="34290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8pPr>
      <a:lvl9pPr marL="38862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github.com/jacksun007/spiffy" TargetMode="External"/><Relationship Id="rId2" Type="http://schemas.openxmlformats.org/officeDocument/2006/relationships/hyperlink" Target="https://www.usenix.org/system/files/conference/fast18/fast18-sun.pdf"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0" y="1809750"/>
            <a:ext cx="9144000" cy="1752600"/>
          </a:xfrm>
        </p:spPr>
        <p:txBody>
          <a:bodyPr/>
          <a:lstStyle/>
          <a:p>
            <a:r>
              <a:rPr lang="en-CA" dirty="0"/>
              <a:t>Spiffy: Enabling File-System Aware Storage </a:t>
            </a:r>
            <a:r>
              <a:rPr lang="en-CA" dirty="0" smtClean="0"/>
              <a:t>Applications</a:t>
            </a:r>
            <a:endParaRPr lang="en-US" altLang="en-US" dirty="0" smtClean="0">
              <a:latin typeface="Arial" charset="0"/>
              <a:cs typeface="Arial" charset="0"/>
            </a:endParaRPr>
          </a:p>
        </p:txBody>
      </p:sp>
      <p:sp>
        <p:nvSpPr>
          <p:cNvPr id="4099" name="Subtitle 2"/>
          <p:cNvSpPr>
            <a:spLocks noGrp="1"/>
          </p:cNvSpPr>
          <p:nvPr>
            <p:ph type="subTitle" idx="4294967295"/>
          </p:nvPr>
        </p:nvSpPr>
        <p:spPr>
          <a:xfrm>
            <a:off x="0" y="3505200"/>
            <a:ext cx="9144000" cy="1428750"/>
          </a:xfrm>
        </p:spPr>
        <p:txBody>
          <a:bodyPr/>
          <a:lstStyle/>
          <a:p>
            <a:pPr marL="0" indent="0" algn="ctr">
              <a:buNone/>
            </a:pPr>
            <a:r>
              <a:rPr lang="en-US" altLang="en-US" b="1" dirty="0" err="1" smtClean="0">
                <a:solidFill>
                  <a:srgbClr val="52237F"/>
                </a:solidFill>
                <a:latin typeface="Arial" charset="0"/>
                <a:cs typeface="Arial" charset="0"/>
              </a:rPr>
              <a:t>Kuei</a:t>
            </a:r>
            <a:r>
              <a:rPr lang="en-US" altLang="en-US" b="1" dirty="0" smtClean="0">
                <a:solidFill>
                  <a:srgbClr val="52237F"/>
                </a:solidFill>
                <a:latin typeface="Arial" charset="0"/>
                <a:cs typeface="Arial" charset="0"/>
              </a:rPr>
              <a:t> (Jack) Sun</a:t>
            </a:r>
            <a:r>
              <a:rPr lang="en-US" altLang="en-US" dirty="0" smtClean="0">
                <a:latin typeface="Arial" charset="0"/>
                <a:cs typeface="Arial" charset="0"/>
              </a:rPr>
              <a:t/>
            </a:r>
            <a:br>
              <a:rPr lang="en-US" altLang="en-US" dirty="0" smtClean="0">
                <a:latin typeface="Arial" charset="0"/>
                <a:cs typeface="Arial" charset="0"/>
              </a:rPr>
            </a:br>
            <a:r>
              <a:rPr lang="en-US" altLang="en-US" b="1" dirty="0" smtClean="0">
                <a:solidFill>
                  <a:srgbClr val="52237F"/>
                </a:solidFill>
                <a:latin typeface="Arial" charset="0"/>
                <a:cs typeface="Arial" charset="0"/>
              </a:rPr>
              <a:t>University of Toronto</a:t>
            </a:r>
          </a:p>
          <a:p>
            <a:endParaRPr lang="en-US" altLang="en-US" dirty="0" smtClean="0">
              <a:latin typeface="Arial" charset="0"/>
              <a:cs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Introduction</a:t>
            </a:r>
            <a:endParaRPr lang="en-CA" dirty="0"/>
          </a:p>
        </p:txBody>
      </p:sp>
      <p:sp>
        <p:nvSpPr>
          <p:cNvPr id="3" name="Content Placeholder 2"/>
          <p:cNvSpPr>
            <a:spLocks noGrp="1"/>
          </p:cNvSpPr>
          <p:nvPr>
            <p:ph idx="1"/>
          </p:nvPr>
        </p:nvSpPr>
        <p:spPr/>
        <p:txBody>
          <a:bodyPr/>
          <a:lstStyle/>
          <a:p>
            <a:r>
              <a:rPr lang="en-CA" dirty="0" smtClean="0"/>
              <a:t>File-system aware applications</a:t>
            </a:r>
          </a:p>
          <a:p>
            <a:pPr lvl="1"/>
            <a:r>
              <a:rPr lang="en-CA" dirty="0" smtClean="0"/>
              <a:t>E.g. partition editor, file system checker, defragmentation tool</a:t>
            </a:r>
          </a:p>
          <a:p>
            <a:pPr lvl="1"/>
            <a:r>
              <a:rPr lang="en-CA" dirty="0" smtClean="0"/>
              <a:t>Operate directly on file system metadata structures</a:t>
            </a:r>
          </a:p>
          <a:p>
            <a:pPr lvl="2"/>
            <a:r>
              <a:rPr lang="en-CA" dirty="0" smtClean="0"/>
              <a:t>Require detailed knowledge of file system format on disk</a:t>
            </a:r>
          </a:p>
          <a:p>
            <a:pPr lvl="2"/>
            <a:r>
              <a:rPr lang="en-CA" dirty="0" smtClean="0"/>
              <a:t>Bypass VFS layer</a:t>
            </a:r>
          </a:p>
          <a:p>
            <a:pPr lvl="1"/>
            <a:r>
              <a:rPr lang="en-CA" dirty="0" smtClean="0"/>
              <a:t>Essential for successful deployment of file system</a:t>
            </a:r>
          </a:p>
        </p:txBody>
      </p:sp>
    </p:spTree>
    <p:extLst>
      <p:ext uri="{BB962C8B-B14F-4D97-AF65-F5344CB8AC3E}">
        <p14:creationId xmlns:p14="http://schemas.microsoft.com/office/powerpoint/2010/main" val="7167667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Problem</a:t>
            </a:r>
            <a:endParaRPr lang="en-CA" dirty="0"/>
          </a:p>
        </p:txBody>
      </p:sp>
      <p:sp>
        <p:nvSpPr>
          <p:cNvPr id="3" name="Content Placeholder 2"/>
          <p:cNvSpPr>
            <a:spLocks noGrp="1"/>
          </p:cNvSpPr>
          <p:nvPr>
            <p:ph idx="1"/>
          </p:nvPr>
        </p:nvSpPr>
        <p:spPr>
          <a:xfrm>
            <a:off x="152399" y="857250"/>
            <a:ext cx="8763001" cy="3200400"/>
          </a:xfrm>
        </p:spPr>
        <p:txBody>
          <a:bodyPr/>
          <a:lstStyle/>
          <a:p>
            <a:r>
              <a:rPr lang="en-CA" dirty="0" smtClean="0"/>
              <a:t>Tools have to be developed from scratch for each file system</a:t>
            </a:r>
          </a:p>
          <a:p>
            <a:r>
              <a:rPr lang="en-CA" dirty="0" smtClean="0"/>
              <a:t>Tools developed only by experts</a:t>
            </a:r>
          </a:p>
          <a:p>
            <a:r>
              <a:rPr lang="en-CA" dirty="0" smtClean="0"/>
              <a:t>Bugs lead to crash, corruption, security vulnerability</a:t>
            </a:r>
          </a:p>
          <a:p>
            <a:r>
              <a:rPr lang="en-CA" dirty="0" smtClean="0"/>
              <a:t>Example: bug 723343 in </a:t>
            </a:r>
            <a:r>
              <a:rPr lang="en-CA" dirty="0" err="1" smtClean="0"/>
              <a:t>ntfsprogs</a:t>
            </a:r>
            <a:endParaRPr lang="en-CA" dirty="0" smtClean="0"/>
          </a:p>
          <a:p>
            <a:pPr lvl="1"/>
            <a:r>
              <a:rPr lang="en-CA" dirty="0" smtClean="0"/>
              <a:t>NTFS stores the size of MFT record as either:</a:t>
            </a:r>
          </a:p>
          <a:p>
            <a:pPr lvl="2"/>
            <a:r>
              <a:rPr lang="en-CA" dirty="0" smtClean="0"/>
              <a:t># of clusters per record, if value &gt; 0</a:t>
            </a:r>
          </a:p>
          <a:p>
            <a:pPr lvl="2"/>
            <a:r>
              <a:rPr lang="en-CA" dirty="0" smtClean="0"/>
              <a:t>2</a:t>
            </a:r>
            <a:r>
              <a:rPr lang="en-CA" baseline="30000" dirty="0" smtClean="0"/>
              <a:t>|value|</a:t>
            </a:r>
            <a:r>
              <a:rPr lang="en-CA" dirty="0" smtClean="0"/>
              <a:t>, if value &lt; 0</a:t>
            </a:r>
          </a:p>
          <a:p>
            <a:pPr lvl="1"/>
            <a:r>
              <a:rPr lang="en-CA" dirty="0" err="1" smtClean="0"/>
              <a:t>ntfsprogs</a:t>
            </a:r>
            <a:r>
              <a:rPr lang="en-CA" dirty="0" smtClean="0"/>
              <a:t> misinterprets this field, corrupting NTFS when resizing partitions</a:t>
            </a:r>
          </a:p>
          <a:p>
            <a:endParaRPr lang="en-CA" dirty="0"/>
          </a:p>
        </p:txBody>
      </p:sp>
    </p:spTree>
    <p:extLst>
      <p:ext uri="{BB962C8B-B14F-4D97-AF65-F5344CB8AC3E}">
        <p14:creationId xmlns:p14="http://schemas.microsoft.com/office/powerpoint/2010/main" val="32687929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Root Cause</a:t>
            </a:r>
            <a:endParaRPr lang="en-CA" dirty="0"/>
          </a:p>
        </p:txBody>
      </p:sp>
      <p:sp>
        <p:nvSpPr>
          <p:cNvPr id="3" name="Content Placeholder 2"/>
          <p:cNvSpPr>
            <a:spLocks noGrp="1"/>
          </p:cNvSpPr>
          <p:nvPr>
            <p:ph idx="1"/>
          </p:nvPr>
        </p:nvSpPr>
        <p:spPr/>
        <p:txBody>
          <a:bodyPr/>
          <a:lstStyle/>
          <a:p>
            <a:r>
              <a:rPr lang="en-CA" smtClean="0"/>
              <a:t>File-system applications are difficult to write</a:t>
            </a:r>
          </a:p>
          <a:p>
            <a:pPr lvl="1"/>
            <a:r>
              <a:rPr lang="en-CA" smtClean="0"/>
              <a:t>File system format complex and often poorly documented</a:t>
            </a:r>
          </a:p>
          <a:p>
            <a:pPr lvl="1"/>
            <a:r>
              <a:rPr lang="en-CA" smtClean="0"/>
              <a:t>Require detailed knowledge of format</a:t>
            </a:r>
          </a:p>
          <a:p>
            <a:pPr lvl="1"/>
            <a:r>
              <a:rPr lang="en-CA" smtClean="0"/>
              <a:t>Cannot be reused across file systems</a:t>
            </a:r>
          </a:p>
          <a:p>
            <a:pPr lvl="1"/>
            <a:r>
              <a:rPr lang="en-CA" smtClean="0"/>
              <a:t>Need to handle file system corruption</a:t>
            </a:r>
            <a:endParaRPr lang="en-CA" dirty="0" smtClean="0"/>
          </a:p>
        </p:txBody>
      </p:sp>
    </p:spTree>
    <p:extLst>
      <p:ext uri="{BB962C8B-B14F-4D97-AF65-F5344CB8AC3E}">
        <p14:creationId xmlns:p14="http://schemas.microsoft.com/office/powerpoint/2010/main" val="5173850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Goals</a:t>
            </a:r>
            <a:endParaRPr lang="en-CA" dirty="0"/>
          </a:p>
        </p:txBody>
      </p:sp>
      <p:sp>
        <p:nvSpPr>
          <p:cNvPr id="3" name="Content Placeholder 2"/>
          <p:cNvSpPr>
            <a:spLocks noGrp="1"/>
          </p:cNvSpPr>
          <p:nvPr>
            <p:ph idx="1"/>
          </p:nvPr>
        </p:nvSpPr>
        <p:spPr/>
        <p:txBody>
          <a:bodyPr/>
          <a:lstStyle/>
          <a:p>
            <a:r>
              <a:rPr lang="en-CA" dirty="0" smtClean="0"/>
              <a:t>Simplify development of file-system aware applications</a:t>
            </a:r>
          </a:p>
          <a:p>
            <a:pPr lvl="1"/>
            <a:r>
              <a:rPr lang="en-CA" dirty="0" smtClean="0"/>
              <a:t>Reduce file-system specific code</a:t>
            </a:r>
          </a:p>
          <a:p>
            <a:pPr lvl="1"/>
            <a:r>
              <a:rPr lang="en-CA" dirty="0" smtClean="0"/>
              <a:t>Enable code reuse across file systems</a:t>
            </a:r>
          </a:p>
          <a:p>
            <a:r>
              <a:rPr lang="en-CA" dirty="0" smtClean="0"/>
              <a:t>Improve robustness of these applications</a:t>
            </a:r>
          </a:p>
          <a:p>
            <a:pPr lvl="1"/>
            <a:r>
              <a:rPr lang="en-CA" dirty="0" smtClean="0"/>
              <a:t>Enable correct traversal of file system metadata</a:t>
            </a:r>
          </a:p>
          <a:p>
            <a:pPr lvl="1"/>
            <a:r>
              <a:rPr lang="en-CA" dirty="0" smtClean="0"/>
              <a:t>Ensure type safe access to file system structures</a:t>
            </a:r>
          </a:p>
          <a:p>
            <a:pPr lvl="2"/>
            <a:r>
              <a:rPr lang="en-CA" dirty="0" smtClean="0"/>
              <a:t>Helps detect corruption for both read and write</a:t>
            </a:r>
          </a:p>
          <a:p>
            <a:pPr lvl="2"/>
            <a:r>
              <a:rPr lang="en-CA" dirty="0" smtClean="0"/>
              <a:t>Helps reduce error propagation, and further corruption</a:t>
            </a:r>
          </a:p>
          <a:p>
            <a:pPr lvl="2"/>
            <a:endParaRPr lang="en-CA" dirty="0" smtClean="0"/>
          </a:p>
          <a:p>
            <a:endParaRPr lang="en-CA" dirty="0" smtClean="0"/>
          </a:p>
        </p:txBody>
      </p:sp>
    </p:spTree>
    <p:extLst>
      <p:ext uri="{BB962C8B-B14F-4D97-AF65-F5344CB8AC3E}">
        <p14:creationId xmlns:p14="http://schemas.microsoft.com/office/powerpoint/2010/main" val="10432853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Approach: Spiffy Framework</a:t>
            </a:r>
            <a:endParaRPr lang="en-CA" dirty="0"/>
          </a:p>
        </p:txBody>
      </p:sp>
      <p:sp>
        <p:nvSpPr>
          <p:cNvPr id="3" name="Content Placeholder 2"/>
          <p:cNvSpPr>
            <a:spLocks noGrp="1"/>
          </p:cNvSpPr>
          <p:nvPr>
            <p:ph idx="1"/>
          </p:nvPr>
        </p:nvSpPr>
        <p:spPr/>
        <p:txBody>
          <a:bodyPr/>
          <a:lstStyle/>
          <a:p>
            <a:r>
              <a:rPr lang="en-CA" smtClean="0"/>
              <a:t>File system developers specify the format of their file system</a:t>
            </a:r>
          </a:p>
          <a:p>
            <a:r>
              <a:rPr lang="en-CA" smtClean="0"/>
              <a:t>Spiffy uses specification to generate parsing and serialization library </a:t>
            </a:r>
          </a:p>
          <a:p>
            <a:r>
              <a:rPr lang="en-CA" smtClean="0"/>
              <a:t>Developers use library to build robust file-system aware applications</a:t>
            </a:r>
          </a:p>
          <a:p>
            <a:endParaRPr lang="en-CA" smtClean="0"/>
          </a:p>
          <a:p>
            <a:endParaRPr lang="en-CA" smtClean="0"/>
          </a:p>
          <a:p>
            <a:endParaRPr lang="en-CA" dirty="0"/>
          </a:p>
        </p:txBody>
      </p:sp>
    </p:spTree>
    <p:extLst>
      <p:ext uri="{BB962C8B-B14F-4D97-AF65-F5344CB8AC3E}">
        <p14:creationId xmlns:p14="http://schemas.microsoft.com/office/powerpoint/2010/main" val="883060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Specifying Format</a:t>
            </a:r>
            <a:endParaRPr lang="en-CA" dirty="0"/>
          </a:p>
        </p:txBody>
      </p:sp>
      <p:sp>
        <p:nvSpPr>
          <p:cNvPr id="3" name="Content Placeholder 2"/>
          <p:cNvSpPr>
            <a:spLocks noGrp="1"/>
          </p:cNvSpPr>
          <p:nvPr>
            <p:ph idx="1"/>
          </p:nvPr>
        </p:nvSpPr>
        <p:spPr/>
        <p:txBody>
          <a:bodyPr/>
          <a:lstStyle/>
          <a:p>
            <a:r>
              <a:rPr lang="en-CA" smtClean="0"/>
              <a:t>File system developers annotate metadata structures in header files of existing source code</a:t>
            </a:r>
            <a:endParaRPr lang="en-CA" dirty="0" smtClean="0"/>
          </a:p>
        </p:txBody>
      </p:sp>
      <p:sp>
        <p:nvSpPr>
          <p:cNvPr id="69" name="Rectangle 68"/>
          <p:cNvSpPr/>
          <p:nvPr/>
        </p:nvSpPr>
        <p:spPr>
          <a:xfrm>
            <a:off x="1011973" y="3472400"/>
            <a:ext cx="1058380" cy="354193"/>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dirty="0">
                <a:solidFill>
                  <a:schemeClr val="tx1"/>
                </a:solidFill>
              </a:rPr>
              <a:t>File System Developer</a:t>
            </a:r>
          </a:p>
        </p:txBody>
      </p:sp>
      <p:sp>
        <p:nvSpPr>
          <p:cNvPr id="70" name="Rectangle 69"/>
          <p:cNvSpPr/>
          <p:nvPr/>
        </p:nvSpPr>
        <p:spPr>
          <a:xfrm>
            <a:off x="990353" y="2266950"/>
            <a:ext cx="1080000" cy="708385"/>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dirty="0">
                <a:solidFill>
                  <a:schemeClr val="tx1"/>
                </a:solidFill>
              </a:rPr>
              <a:t>File System Metadata Structures</a:t>
            </a:r>
          </a:p>
        </p:txBody>
      </p:sp>
      <p:sp>
        <p:nvSpPr>
          <p:cNvPr id="71" name="Rectangle 70"/>
          <p:cNvSpPr/>
          <p:nvPr/>
        </p:nvSpPr>
        <p:spPr>
          <a:xfrm>
            <a:off x="990353" y="2977180"/>
            <a:ext cx="1080000" cy="354193"/>
          </a:xfrm>
          <a:prstGeom prst="rect">
            <a:avLst/>
          </a:prstGeom>
          <a:solidFill>
            <a:srgbClr val="B7B7FF"/>
          </a:solidFill>
          <a:ln w="25400">
            <a:solidFill>
              <a:srgbClr val="000000"/>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chemeClr val="tx1"/>
                </a:solidFill>
              </a:rPr>
              <a:t>Annotations</a:t>
            </a:r>
          </a:p>
        </p:txBody>
      </p:sp>
      <p:grpSp>
        <p:nvGrpSpPr>
          <p:cNvPr id="72" name="Group 71"/>
          <p:cNvGrpSpPr/>
          <p:nvPr/>
        </p:nvGrpSpPr>
        <p:grpSpPr>
          <a:xfrm>
            <a:off x="2099484" y="3361885"/>
            <a:ext cx="448866" cy="969169"/>
            <a:chOff x="4859338" y="3776663"/>
            <a:chExt cx="598488" cy="1292225"/>
          </a:xfrm>
        </p:grpSpPr>
        <p:sp>
          <p:nvSpPr>
            <p:cNvPr id="73" name="Freeform 5"/>
            <p:cNvSpPr>
              <a:spLocks/>
            </p:cNvSpPr>
            <p:nvPr/>
          </p:nvSpPr>
          <p:spPr bwMode="auto">
            <a:xfrm>
              <a:off x="4868863" y="3917950"/>
              <a:ext cx="581025" cy="1139825"/>
            </a:xfrm>
            <a:custGeom>
              <a:avLst/>
              <a:gdLst>
                <a:gd name="T0" fmla="*/ 250 w 1553"/>
                <a:gd name="T1" fmla="*/ 791 h 3047"/>
                <a:gd name="T2" fmla="*/ 194 w 1553"/>
                <a:gd name="T3" fmla="*/ 572 h 3047"/>
                <a:gd name="T4" fmla="*/ 262 w 1553"/>
                <a:gd name="T5" fmla="*/ 325 h 3047"/>
                <a:gd name="T6" fmla="*/ 447 w 1553"/>
                <a:gd name="T7" fmla="*/ 175 h 3047"/>
                <a:gd name="T8" fmla="*/ 678 w 1553"/>
                <a:gd name="T9" fmla="*/ 141 h 3047"/>
                <a:gd name="T10" fmla="*/ 837 w 1553"/>
                <a:gd name="T11" fmla="*/ 216 h 3047"/>
                <a:gd name="T12" fmla="*/ 950 w 1553"/>
                <a:gd name="T13" fmla="*/ 378 h 3047"/>
                <a:gd name="T14" fmla="*/ 959 w 1553"/>
                <a:gd name="T15" fmla="*/ 585 h 3047"/>
                <a:gd name="T16" fmla="*/ 884 w 1553"/>
                <a:gd name="T17" fmla="*/ 816 h 3047"/>
                <a:gd name="T18" fmla="*/ 950 w 1553"/>
                <a:gd name="T19" fmla="*/ 797 h 3047"/>
                <a:gd name="T20" fmla="*/ 1344 w 1553"/>
                <a:gd name="T21" fmla="*/ 85 h 3047"/>
                <a:gd name="T22" fmla="*/ 1516 w 1553"/>
                <a:gd name="T23" fmla="*/ 0 h 3047"/>
                <a:gd name="T24" fmla="*/ 1553 w 1553"/>
                <a:gd name="T25" fmla="*/ 175 h 3047"/>
                <a:gd name="T26" fmla="*/ 1312 w 1553"/>
                <a:gd name="T27" fmla="*/ 807 h 3047"/>
                <a:gd name="T28" fmla="*/ 1253 w 1553"/>
                <a:gd name="T29" fmla="*/ 925 h 3047"/>
                <a:gd name="T30" fmla="*/ 1209 w 1553"/>
                <a:gd name="T31" fmla="*/ 1241 h 3047"/>
                <a:gd name="T32" fmla="*/ 1237 w 1553"/>
                <a:gd name="T33" fmla="*/ 1753 h 3047"/>
                <a:gd name="T34" fmla="*/ 1300 w 1553"/>
                <a:gd name="T35" fmla="*/ 2266 h 3047"/>
                <a:gd name="T36" fmla="*/ 1303 w 1553"/>
                <a:gd name="T37" fmla="*/ 2460 h 3047"/>
                <a:gd name="T38" fmla="*/ 1272 w 1553"/>
                <a:gd name="T39" fmla="*/ 2791 h 3047"/>
                <a:gd name="T40" fmla="*/ 1209 w 1553"/>
                <a:gd name="T41" fmla="*/ 2978 h 3047"/>
                <a:gd name="T42" fmla="*/ 1128 w 1553"/>
                <a:gd name="T43" fmla="*/ 3047 h 3047"/>
                <a:gd name="T44" fmla="*/ 1028 w 1553"/>
                <a:gd name="T45" fmla="*/ 2957 h 3047"/>
                <a:gd name="T46" fmla="*/ 981 w 1553"/>
                <a:gd name="T47" fmla="*/ 2769 h 3047"/>
                <a:gd name="T48" fmla="*/ 978 w 1553"/>
                <a:gd name="T49" fmla="*/ 2491 h 3047"/>
                <a:gd name="T50" fmla="*/ 956 w 1553"/>
                <a:gd name="T51" fmla="*/ 2272 h 3047"/>
                <a:gd name="T52" fmla="*/ 884 w 1553"/>
                <a:gd name="T53" fmla="*/ 2166 h 3047"/>
                <a:gd name="T54" fmla="*/ 847 w 1553"/>
                <a:gd name="T55" fmla="*/ 2135 h 3047"/>
                <a:gd name="T56" fmla="*/ 803 w 1553"/>
                <a:gd name="T57" fmla="*/ 2313 h 3047"/>
                <a:gd name="T58" fmla="*/ 750 w 1553"/>
                <a:gd name="T59" fmla="*/ 2635 h 3047"/>
                <a:gd name="T60" fmla="*/ 716 w 1553"/>
                <a:gd name="T61" fmla="*/ 2778 h 3047"/>
                <a:gd name="T62" fmla="*/ 681 w 1553"/>
                <a:gd name="T63" fmla="*/ 2919 h 3047"/>
                <a:gd name="T64" fmla="*/ 634 w 1553"/>
                <a:gd name="T65" fmla="*/ 3025 h 3047"/>
                <a:gd name="T66" fmla="*/ 559 w 1553"/>
                <a:gd name="T67" fmla="*/ 3044 h 3047"/>
                <a:gd name="T68" fmla="*/ 484 w 1553"/>
                <a:gd name="T69" fmla="*/ 2985 h 3047"/>
                <a:gd name="T70" fmla="*/ 437 w 1553"/>
                <a:gd name="T71" fmla="*/ 2744 h 3047"/>
                <a:gd name="T72" fmla="*/ 425 w 1553"/>
                <a:gd name="T73" fmla="*/ 2382 h 3047"/>
                <a:gd name="T74" fmla="*/ 422 w 1553"/>
                <a:gd name="T75" fmla="*/ 2047 h 3047"/>
                <a:gd name="T76" fmla="*/ 419 w 1553"/>
                <a:gd name="T77" fmla="*/ 1722 h 3047"/>
                <a:gd name="T78" fmla="*/ 375 w 1553"/>
                <a:gd name="T79" fmla="*/ 1572 h 3047"/>
                <a:gd name="T80" fmla="*/ 316 w 1553"/>
                <a:gd name="T81" fmla="*/ 1538 h 3047"/>
                <a:gd name="T82" fmla="*/ 259 w 1553"/>
                <a:gd name="T83" fmla="*/ 1710 h 3047"/>
                <a:gd name="T84" fmla="*/ 212 w 1553"/>
                <a:gd name="T85" fmla="*/ 1985 h 3047"/>
                <a:gd name="T86" fmla="*/ 169 w 1553"/>
                <a:gd name="T87" fmla="*/ 2150 h 3047"/>
                <a:gd name="T88" fmla="*/ 106 w 1553"/>
                <a:gd name="T89" fmla="*/ 2188 h 3047"/>
                <a:gd name="T90" fmla="*/ 41 w 1553"/>
                <a:gd name="T91" fmla="*/ 2085 h 3047"/>
                <a:gd name="T92" fmla="*/ 0 w 1553"/>
                <a:gd name="T93" fmla="*/ 1810 h 3047"/>
                <a:gd name="T94" fmla="*/ 37 w 1553"/>
                <a:gd name="T95" fmla="*/ 1428 h 3047"/>
                <a:gd name="T96" fmla="*/ 137 w 1553"/>
                <a:gd name="T97" fmla="*/ 1116 h 3047"/>
                <a:gd name="T98" fmla="*/ 306 w 1553"/>
                <a:gd name="T99" fmla="*/ 922 h 3047"/>
                <a:gd name="T100" fmla="*/ 250 w 1553"/>
                <a:gd name="T101" fmla="*/ 791 h 3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53" h="3047">
                  <a:moveTo>
                    <a:pt x="250" y="791"/>
                  </a:moveTo>
                  <a:lnTo>
                    <a:pt x="194" y="572"/>
                  </a:lnTo>
                  <a:lnTo>
                    <a:pt x="262" y="325"/>
                  </a:lnTo>
                  <a:lnTo>
                    <a:pt x="447" y="175"/>
                  </a:lnTo>
                  <a:lnTo>
                    <a:pt x="678" y="141"/>
                  </a:lnTo>
                  <a:lnTo>
                    <a:pt x="837" y="216"/>
                  </a:lnTo>
                  <a:lnTo>
                    <a:pt x="950" y="378"/>
                  </a:lnTo>
                  <a:lnTo>
                    <a:pt x="959" y="585"/>
                  </a:lnTo>
                  <a:lnTo>
                    <a:pt x="884" y="816"/>
                  </a:lnTo>
                  <a:lnTo>
                    <a:pt x="950" y="797"/>
                  </a:lnTo>
                  <a:lnTo>
                    <a:pt x="1344" y="85"/>
                  </a:lnTo>
                  <a:lnTo>
                    <a:pt x="1516" y="0"/>
                  </a:lnTo>
                  <a:lnTo>
                    <a:pt x="1553" y="175"/>
                  </a:lnTo>
                  <a:lnTo>
                    <a:pt x="1312" y="807"/>
                  </a:lnTo>
                  <a:cubicBezTo>
                    <a:pt x="1312" y="807"/>
                    <a:pt x="1253" y="913"/>
                    <a:pt x="1253" y="925"/>
                  </a:cubicBezTo>
                  <a:cubicBezTo>
                    <a:pt x="1253" y="938"/>
                    <a:pt x="1209" y="1241"/>
                    <a:pt x="1209" y="1241"/>
                  </a:cubicBezTo>
                  <a:lnTo>
                    <a:pt x="1237" y="1753"/>
                  </a:lnTo>
                  <a:lnTo>
                    <a:pt x="1300" y="2266"/>
                  </a:lnTo>
                  <a:cubicBezTo>
                    <a:pt x="1300" y="2266"/>
                    <a:pt x="1316" y="2428"/>
                    <a:pt x="1303" y="2460"/>
                  </a:cubicBezTo>
                  <a:cubicBezTo>
                    <a:pt x="1291" y="2491"/>
                    <a:pt x="1272" y="2791"/>
                    <a:pt x="1272" y="2791"/>
                  </a:cubicBezTo>
                  <a:lnTo>
                    <a:pt x="1209" y="2978"/>
                  </a:lnTo>
                  <a:lnTo>
                    <a:pt x="1128" y="3047"/>
                  </a:lnTo>
                  <a:lnTo>
                    <a:pt x="1028" y="2957"/>
                  </a:lnTo>
                  <a:lnTo>
                    <a:pt x="981" y="2769"/>
                  </a:lnTo>
                  <a:lnTo>
                    <a:pt x="978" y="2491"/>
                  </a:lnTo>
                  <a:lnTo>
                    <a:pt x="956" y="2272"/>
                  </a:lnTo>
                  <a:lnTo>
                    <a:pt x="884" y="2166"/>
                  </a:lnTo>
                  <a:lnTo>
                    <a:pt x="847" y="2135"/>
                  </a:lnTo>
                  <a:lnTo>
                    <a:pt x="803" y="2313"/>
                  </a:lnTo>
                  <a:lnTo>
                    <a:pt x="750" y="2635"/>
                  </a:lnTo>
                  <a:lnTo>
                    <a:pt x="716" y="2778"/>
                  </a:lnTo>
                  <a:lnTo>
                    <a:pt x="681" y="2919"/>
                  </a:lnTo>
                  <a:lnTo>
                    <a:pt x="634" y="3025"/>
                  </a:lnTo>
                  <a:lnTo>
                    <a:pt x="559" y="3044"/>
                  </a:lnTo>
                  <a:lnTo>
                    <a:pt x="484" y="2985"/>
                  </a:lnTo>
                  <a:lnTo>
                    <a:pt x="437" y="2744"/>
                  </a:lnTo>
                  <a:lnTo>
                    <a:pt x="425" y="2382"/>
                  </a:lnTo>
                  <a:lnTo>
                    <a:pt x="422" y="2047"/>
                  </a:lnTo>
                  <a:lnTo>
                    <a:pt x="419" y="1722"/>
                  </a:lnTo>
                  <a:lnTo>
                    <a:pt x="375" y="1572"/>
                  </a:lnTo>
                  <a:lnTo>
                    <a:pt x="316" y="1538"/>
                  </a:lnTo>
                  <a:lnTo>
                    <a:pt x="259" y="1710"/>
                  </a:lnTo>
                  <a:lnTo>
                    <a:pt x="212" y="1985"/>
                  </a:lnTo>
                  <a:lnTo>
                    <a:pt x="169" y="2150"/>
                  </a:lnTo>
                  <a:lnTo>
                    <a:pt x="106" y="2188"/>
                  </a:lnTo>
                  <a:lnTo>
                    <a:pt x="41" y="2085"/>
                  </a:lnTo>
                  <a:lnTo>
                    <a:pt x="0" y="1810"/>
                  </a:lnTo>
                  <a:lnTo>
                    <a:pt x="37" y="1428"/>
                  </a:lnTo>
                  <a:lnTo>
                    <a:pt x="137" y="1116"/>
                  </a:lnTo>
                  <a:lnTo>
                    <a:pt x="306" y="922"/>
                  </a:lnTo>
                  <a:lnTo>
                    <a:pt x="250" y="791"/>
                  </a:lnTo>
                  <a:close/>
                </a:path>
              </a:pathLst>
            </a:custGeom>
            <a:solidFill>
              <a:srgbClr val="5353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4" name="Freeform 6"/>
            <p:cNvSpPr>
              <a:spLocks/>
            </p:cNvSpPr>
            <p:nvPr/>
          </p:nvSpPr>
          <p:spPr bwMode="auto">
            <a:xfrm>
              <a:off x="4872038" y="4038600"/>
              <a:ext cx="533400" cy="652463"/>
            </a:xfrm>
            <a:custGeom>
              <a:avLst/>
              <a:gdLst>
                <a:gd name="T0" fmla="*/ 163 w 1427"/>
                <a:gd name="T1" fmla="*/ 769 h 1747"/>
                <a:gd name="T2" fmla="*/ 93 w 1427"/>
                <a:gd name="T3" fmla="*/ 901 h 1747"/>
                <a:gd name="T4" fmla="*/ 35 w 1427"/>
                <a:gd name="T5" fmla="*/ 1087 h 1747"/>
                <a:gd name="T6" fmla="*/ 0 w 1427"/>
                <a:gd name="T7" fmla="*/ 1286 h 1747"/>
                <a:gd name="T8" fmla="*/ 0 w 1427"/>
                <a:gd name="T9" fmla="*/ 1586 h 1747"/>
                <a:gd name="T10" fmla="*/ 212 w 1427"/>
                <a:gd name="T11" fmla="*/ 1662 h 1747"/>
                <a:gd name="T12" fmla="*/ 247 w 1427"/>
                <a:gd name="T13" fmla="*/ 1379 h 1747"/>
                <a:gd name="T14" fmla="*/ 287 w 1427"/>
                <a:gd name="T15" fmla="*/ 1273 h 1747"/>
                <a:gd name="T16" fmla="*/ 336 w 1427"/>
                <a:gd name="T17" fmla="*/ 1220 h 1747"/>
                <a:gd name="T18" fmla="*/ 389 w 1427"/>
                <a:gd name="T19" fmla="*/ 1277 h 1747"/>
                <a:gd name="T20" fmla="*/ 429 w 1427"/>
                <a:gd name="T21" fmla="*/ 1432 h 1747"/>
                <a:gd name="T22" fmla="*/ 420 w 1427"/>
                <a:gd name="T23" fmla="*/ 1684 h 1747"/>
                <a:gd name="T24" fmla="*/ 420 w 1427"/>
                <a:gd name="T25" fmla="*/ 1723 h 1747"/>
                <a:gd name="T26" fmla="*/ 579 w 1427"/>
                <a:gd name="T27" fmla="*/ 1723 h 1747"/>
                <a:gd name="T28" fmla="*/ 1096 w 1427"/>
                <a:gd name="T29" fmla="*/ 1547 h 1747"/>
                <a:gd name="T30" fmla="*/ 1255 w 1427"/>
                <a:gd name="T31" fmla="*/ 1520 h 1747"/>
                <a:gd name="T32" fmla="*/ 1206 w 1427"/>
                <a:gd name="T33" fmla="*/ 1193 h 1747"/>
                <a:gd name="T34" fmla="*/ 1206 w 1427"/>
                <a:gd name="T35" fmla="*/ 879 h 1747"/>
                <a:gd name="T36" fmla="*/ 1233 w 1427"/>
                <a:gd name="T37" fmla="*/ 632 h 1747"/>
                <a:gd name="T38" fmla="*/ 1357 w 1427"/>
                <a:gd name="T39" fmla="*/ 376 h 1747"/>
                <a:gd name="T40" fmla="*/ 1427 w 1427"/>
                <a:gd name="T41" fmla="*/ 194 h 1747"/>
                <a:gd name="T42" fmla="*/ 1206 w 1427"/>
                <a:gd name="T43" fmla="*/ 0 h 1747"/>
                <a:gd name="T44" fmla="*/ 1096 w 1427"/>
                <a:gd name="T45" fmla="*/ 208 h 1747"/>
                <a:gd name="T46" fmla="*/ 1021 w 1427"/>
                <a:gd name="T47" fmla="*/ 305 h 1747"/>
                <a:gd name="T48" fmla="*/ 981 w 1427"/>
                <a:gd name="T49" fmla="*/ 437 h 1747"/>
                <a:gd name="T50" fmla="*/ 862 w 1427"/>
                <a:gd name="T51" fmla="*/ 729 h 1747"/>
                <a:gd name="T52" fmla="*/ 451 w 1427"/>
                <a:gd name="T53" fmla="*/ 654 h 1747"/>
                <a:gd name="T54" fmla="*/ 163 w 1427"/>
                <a:gd name="T55" fmla="*/ 769 h 1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7" h="1747">
                  <a:moveTo>
                    <a:pt x="163" y="769"/>
                  </a:moveTo>
                  <a:lnTo>
                    <a:pt x="93" y="901"/>
                  </a:lnTo>
                  <a:lnTo>
                    <a:pt x="35" y="1087"/>
                  </a:lnTo>
                  <a:lnTo>
                    <a:pt x="0" y="1286"/>
                  </a:lnTo>
                  <a:lnTo>
                    <a:pt x="0" y="1586"/>
                  </a:lnTo>
                  <a:cubicBezTo>
                    <a:pt x="96" y="1655"/>
                    <a:pt x="147" y="1646"/>
                    <a:pt x="212" y="1662"/>
                  </a:cubicBezTo>
                  <a:lnTo>
                    <a:pt x="247" y="1379"/>
                  </a:lnTo>
                  <a:lnTo>
                    <a:pt x="287" y="1273"/>
                  </a:lnTo>
                  <a:lnTo>
                    <a:pt x="336" y="1220"/>
                  </a:lnTo>
                  <a:lnTo>
                    <a:pt x="389" y="1277"/>
                  </a:lnTo>
                  <a:lnTo>
                    <a:pt x="429" y="1432"/>
                  </a:lnTo>
                  <a:lnTo>
                    <a:pt x="420" y="1684"/>
                  </a:lnTo>
                  <a:lnTo>
                    <a:pt x="420" y="1723"/>
                  </a:lnTo>
                  <a:cubicBezTo>
                    <a:pt x="492" y="1747"/>
                    <a:pt x="532" y="1737"/>
                    <a:pt x="579" y="1723"/>
                  </a:cubicBezTo>
                  <a:cubicBezTo>
                    <a:pt x="756" y="1649"/>
                    <a:pt x="936" y="1579"/>
                    <a:pt x="1096" y="1547"/>
                  </a:cubicBezTo>
                  <a:cubicBezTo>
                    <a:pt x="1145" y="1538"/>
                    <a:pt x="1113" y="1536"/>
                    <a:pt x="1255" y="1520"/>
                  </a:cubicBezTo>
                  <a:lnTo>
                    <a:pt x="1206" y="1193"/>
                  </a:lnTo>
                  <a:lnTo>
                    <a:pt x="1206" y="879"/>
                  </a:lnTo>
                  <a:lnTo>
                    <a:pt x="1233" y="632"/>
                  </a:lnTo>
                  <a:lnTo>
                    <a:pt x="1357" y="376"/>
                  </a:lnTo>
                  <a:lnTo>
                    <a:pt x="1427" y="194"/>
                  </a:lnTo>
                  <a:cubicBezTo>
                    <a:pt x="1360" y="125"/>
                    <a:pt x="1305" y="49"/>
                    <a:pt x="1206" y="0"/>
                  </a:cubicBezTo>
                  <a:lnTo>
                    <a:pt x="1096" y="208"/>
                  </a:lnTo>
                  <a:lnTo>
                    <a:pt x="1021" y="305"/>
                  </a:lnTo>
                  <a:lnTo>
                    <a:pt x="981" y="437"/>
                  </a:lnTo>
                  <a:lnTo>
                    <a:pt x="862" y="729"/>
                  </a:lnTo>
                  <a:lnTo>
                    <a:pt x="451" y="654"/>
                  </a:lnTo>
                  <a:lnTo>
                    <a:pt x="163" y="769"/>
                  </a:lnTo>
                  <a:close/>
                </a:path>
              </a:pathLst>
            </a:custGeom>
            <a:solidFill>
              <a:srgbClr val="962A22"/>
            </a:solidFill>
            <a:ln w="4763" cap="flat">
              <a:solidFill>
                <a:srgbClr val="962A22"/>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75" name="Freeform 7"/>
            <p:cNvSpPr>
              <a:spLocks/>
            </p:cNvSpPr>
            <p:nvPr/>
          </p:nvSpPr>
          <p:spPr bwMode="auto">
            <a:xfrm>
              <a:off x="5043488" y="4551363"/>
              <a:ext cx="298450" cy="127000"/>
            </a:xfrm>
            <a:custGeom>
              <a:avLst/>
              <a:gdLst>
                <a:gd name="T0" fmla="*/ 0 w 795"/>
                <a:gd name="T1" fmla="*/ 330 h 339"/>
                <a:gd name="T2" fmla="*/ 223 w 795"/>
                <a:gd name="T3" fmla="*/ 275 h 339"/>
                <a:gd name="T4" fmla="*/ 765 w 795"/>
                <a:gd name="T5" fmla="*/ 97 h 339"/>
                <a:gd name="T6" fmla="*/ 795 w 795"/>
                <a:gd name="T7" fmla="*/ 0 h 339"/>
                <a:gd name="T8" fmla="*/ 204 w 795"/>
                <a:gd name="T9" fmla="*/ 240 h 339"/>
                <a:gd name="T10" fmla="*/ 0 w 795"/>
                <a:gd name="T11" fmla="*/ 330 h 339"/>
              </a:gdLst>
              <a:ahLst/>
              <a:cxnLst>
                <a:cxn ang="0">
                  <a:pos x="T0" y="T1"/>
                </a:cxn>
                <a:cxn ang="0">
                  <a:pos x="T2" y="T3"/>
                </a:cxn>
                <a:cxn ang="0">
                  <a:pos x="T4" y="T5"/>
                </a:cxn>
                <a:cxn ang="0">
                  <a:pos x="T6" y="T7"/>
                </a:cxn>
                <a:cxn ang="0">
                  <a:pos x="T8" y="T9"/>
                </a:cxn>
                <a:cxn ang="0">
                  <a:pos x="T10" y="T11"/>
                </a:cxn>
              </a:cxnLst>
              <a:rect l="0" t="0" r="r" b="b"/>
              <a:pathLst>
                <a:path w="795" h="339">
                  <a:moveTo>
                    <a:pt x="0" y="330"/>
                  </a:moveTo>
                  <a:cubicBezTo>
                    <a:pt x="35" y="339"/>
                    <a:pt x="134" y="317"/>
                    <a:pt x="223" y="275"/>
                  </a:cubicBezTo>
                  <a:cubicBezTo>
                    <a:pt x="441" y="170"/>
                    <a:pt x="708" y="60"/>
                    <a:pt x="765" y="97"/>
                  </a:cubicBezTo>
                  <a:lnTo>
                    <a:pt x="795" y="0"/>
                  </a:lnTo>
                  <a:cubicBezTo>
                    <a:pt x="662" y="11"/>
                    <a:pt x="469" y="85"/>
                    <a:pt x="204" y="240"/>
                  </a:cubicBezTo>
                  <a:cubicBezTo>
                    <a:pt x="175" y="257"/>
                    <a:pt x="120" y="295"/>
                    <a:pt x="0" y="330"/>
                  </a:cubicBez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6" name="Freeform 8"/>
            <p:cNvSpPr>
              <a:spLocks/>
            </p:cNvSpPr>
            <p:nvPr/>
          </p:nvSpPr>
          <p:spPr bwMode="auto">
            <a:xfrm>
              <a:off x="5153025" y="4325938"/>
              <a:ext cx="25400" cy="117475"/>
            </a:xfrm>
            <a:custGeom>
              <a:avLst/>
              <a:gdLst>
                <a:gd name="T0" fmla="*/ 39 w 69"/>
                <a:gd name="T1" fmla="*/ 0 h 316"/>
                <a:gd name="T2" fmla="*/ 10 w 69"/>
                <a:gd name="T3" fmla="*/ 75 h 316"/>
                <a:gd name="T4" fmla="*/ 4 w 69"/>
                <a:gd name="T5" fmla="*/ 133 h 316"/>
                <a:gd name="T6" fmla="*/ 9 w 69"/>
                <a:gd name="T7" fmla="*/ 258 h 316"/>
                <a:gd name="T8" fmla="*/ 18 w 69"/>
                <a:gd name="T9" fmla="*/ 310 h 316"/>
                <a:gd name="T10" fmla="*/ 31 w 69"/>
                <a:gd name="T11" fmla="*/ 316 h 316"/>
                <a:gd name="T12" fmla="*/ 45 w 69"/>
                <a:gd name="T13" fmla="*/ 316 h 316"/>
                <a:gd name="T14" fmla="*/ 53 w 69"/>
                <a:gd name="T15" fmla="*/ 286 h 316"/>
                <a:gd name="T16" fmla="*/ 40 w 69"/>
                <a:gd name="T17" fmla="*/ 163 h 316"/>
                <a:gd name="T18" fmla="*/ 36 w 69"/>
                <a:gd name="T19" fmla="*/ 98 h 316"/>
                <a:gd name="T20" fmla="*/ 47 w 69"/>
                <a:gd name="T21" fmla="*/ 56 h 316"/>
                <a:gd name="T22" fmla="*/ 69 w 69"/>
                <a:gd name="T23" fmla="*/ 14 h 316"/>
                <a:gd name="T24" fmla="*/ 39 w 69"/>
                <a:gd name="T25"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316">
                  <a:moveTo>
                    <a:pt x="39" y="0"/>
                  </a:moveTo>
                  <a:lnTo>
                    <a:pt x="10" y="75"/>
                  </a:lnTo>
                  <a:cubicBezTo>
                    <a:pt x="10" y="75"/>
                    <a:pt x="0" y="132"/>
                    <a:pt x="4" y="133"/>
                  </a:cubicBezTo>
                  <a:cubicBezTo>
                    <a:pt x="7" y="133"/>
                    <a:pt x="9" y="258"/>
                    <a:pt x="9" y="258"/>
                  </a:cubicBezTo>
                  <a:lnTo>
                    <a:pt x="18" y="310"/>
                  </a:lnTo>
                  <a:lnTo>
                    <a:pt x="31" y="316"/>
                  </a:lnTo>
                  <a:lnTo>
                    <a:pt x="45" y="316"/>
                  </a:lnTo>
                  <a:lnTo>
                    <a:pt x="53" y="286"/>
                  </a:lnTo>
                  <a:lnTo>
                    <a:pt x="40" y="163"/>
                  </a:lnTo>
                  <a:lnTo>
                    <a:pt x="36" y="98"/>
                  </a:lnTo>
                  <a:lnTo>
                    <a:pt x="47" y="56"/>
                  </a:lnTo>
                  <a:lnTo>
                    <a:pt x="69" y="14"/>
                  </a:lnTo>
                  <a:lnTo>
                    <a:pt x="39" y="0"/>
                  </a:ln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7" name="Freeform 9"/>
            <p:cNvSpPr>
              <a:spLocks noEditPoints="1"/>
            </p:cNvSpPr>
            <p:nvPr/>
          </p:nvSpPr>
          <p:spPr bwMode="auto">
            <a:xfrm>
              <a:off x="5151438" y="4319588"/>
              <a:ext cx="31750" cy="128588"/>
            </a:xfrm>
            <a:custGeom>
              <a:avLst/>
              <a:gdLst>
                <a:gd name="T0" fmla="*/ 45 w 85"/>
                <a:gd name="T1" fmla="*/ 0 h 342"/>
                <a:gd name="T2" fmla="*/ 42 w 85"/>
                <a:gd name="T3" fmla="*/ 6 h 342"/>
                <a:gd name="T4" fmla="*/ 5 w 85"/>
                <a:gd name="T5" fmla="*/ 114 h 342"/>
                <a:gd name="T6" fmla="*/ 13 w 85"/>
                <a:gd name="T7" fmla="*/ 318 h 342"/>
                <a:gd name="T8" fmla="*/ 14 w 85"/>
                <a:gd name="T9" fmla="*/ 318 h 342"/>
                <a:gd name="T10" fmla="*/ 14 w 85"/>
                <a:gd name="T11" fmla="*/ 318 h 342"/>
                <a:gd name="T12" fmla="*/ 26 w 85"/>
                <a:gd name="T13" fmla="*/ 338 h 342"/>
                <a:gd name="T14" fmla="*/ 49 w 85"/>
                <a:gd name="T15" fmla="*/ 339 h 342"/>
                <a:gd name="T16" fmla="*/ 63 w 85"/>
                <a:gd name="T17" fmla="*/ 317 h 342"/>
                <a:gd name="T18" fmla="*/ 49 w 85"/>
                <a:gd name="T19" fmla="*/ 174 h 342"/>
                <a:gd name="T20" fmla="*/ 48 w 85"/>
                <a:gd name="T21" fmla="*/ 117 h 342"/>
                <a:gd name="T22" fmla="*/ 81 w 85"/>
                <a:gd name="T23" fmla="*/ 28 h 342"/>
                <a:gd name="T24" fmla="*/ 85 w 85"/>
                <a:gd name="T25" fmla="*/ 22 h 342"/>
                <a:gd name="T26" fmla="*/ 79 w 85"/>
                <a:gd name="T27" fmla="*/ 19 h 342"/>
                <a:gd name="T28" fmla="*/ 50 w 85"/>
                <a:gd name="T29" fmla="*/ 3 h 342"/>
                <a:gd name="T30" fmla="*/ 45 w 85"/>
                <a:gd name="T31" fmla="*/ 0 h 342"/>
                <a:gd name="T32" fmla="*/ 50 w 85"/>
                <a:gd name="T33" fmla="*/ 17 h 342"/>
                <a:gd name="T34" fmla="*/ 67 w 85"/>
                <a:gd name="T35" fmla="*/ 27 h 342"/>
                <a:gd name="T36" fmla="*/ 35 w 85"/>
                <a:gd name="T37" fmla="*/ 115 h 342"/>
                <a:gd name="T38" fmla="*/ 50 w 85"/>
                <a:gd name="T39" fmla="*/ 318 h 342"/>
                <a:gd name="T40" fmla="*/ 41 w 85"/>
                <a:gd name="T41" fmla="*/ 327 h 342"/>
                <a:gd name="T42" fmla="*/ 26 w 85"/>
                <a:gd name="T43" fmla="*/ 316 h 342"/>
                <a:gd name="T44" fmla="*/ 17 w 85"/>
                <a:gd name="T45" fmla="*/ 118 h 342"/>
                <a:gd name="T46" fmla="*/ 50 w 85"/>
                <a:gd name="T47" fmla="*/ 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5" h="342">
                  <a:moveTo>
                    <a:pt x="45" y="0"/>
                  </a:moveTo>
                  <a:lnTo>
                    <a:pt x="42" y="6"/>
                  </a:lnTo>
                  <a:cubicBezTo>
                    <a:pt x="20" y="50"/>
                    <a:pt x="7" y="101"/>
                    <a:pt x="5" y="114"/>
                  </a:cubicBezTo>
                  <a:cubicBezTo>
                    <a:pt x="0" y="154"/>
                    <a:pt x="5" y="266"/>
                    <a:pt x="13" y="318"/>
                  </a:cubicBezTo>
                  <a:lnTo>
                    <a:pt x="14" y="318"/>
                  </a:lnTo>
                  <a:lnTo>
                    <a:pt x="14" y="318"/>
                  </a:lnTo>
                  <a:cubicBezTo>
                    <a:pt x="16" y="328"/>
                    <a:pt x="21" y="334"/>
                    <a:pt x="26" y="338"/>
                  </a:cubicBezTo>
                  <a:cubicBezTo>
                    <a:pt x="31" y="342"/>
                    <a:pt x="43" y="342"/>
                    <a:pt x="49" y="339"/>
                  </a:cubicBezTo>
                  <a:cubicBezTo>
                    <a:pt x="60" y="332"/>
                    <a:pt x="61" y="328"/>
                    <a:pt x="63" y="317"/>
                  </a:cubicBezTo>
                  <a:cubicBezTo>
                    <a:pt x="63" y="311"/>
                    <a:pt x="54" y="228"/>
                    <a:pt x="49" y="174"/>
                  </a:cubicBezTo>
                  <a:cubicBezTo>
                    <a:pt x="46" y="139"/>
                    <a:pt x="47" y="128"/>
                    <a:pt x="48" y="117"/>
                  </a:cubicBezTo>
                  <a:cubicBezTo>
                    <a:pt x="50" y="94"/>
                    <a:pt x="61" y="58"/>
                    <a:pt x="81" y="28"/>
                  </a:cubicBezTo>
                  <a:lnTo>
                    <a:pt x="85" y="22"/>
                  </a:lnTo>
                  <a:lnTo>
                    <a:pt x="79" y="19"/>
                  </a:lnTo>
                  <a:lnTo>
                    <a:pt x="50" y="3"/>
                  </a:lnTo>
                  <a:lnTo>
                    <a:pt x="45" y="0"/>
                  </a:lnTo>
                  <a:close/>
                  <a:moveTo>
                    <a:pt x="50" y="17"/>
                  </a:moveTo>
                  <a:lnTo>
                    <a:pt x="67" y="27"/>
                  </a:lnTo>
                  <a:cubicBezTo>
                    <a:pt x="45" y="59"/>
                    <a:pt x="41" y="78"/>
                    <a:pt x="35" y="115"/>
                  </a:cubicBezTo>
                  <a:cubicBezTo>
                    <a:pt x="30" y="136"/>
                    <a:pt x="49" y="269"/>
                    <a:pt x="50" y="318"/>
                  </a:cubicBezTo>
                  <a:cubicBezTo>
                    <a:pt x="50" y="323"/>
                    <a:pt x="46" y="326"/>
                    <a:pt x="41" y="327"/>
                  </a:cubicBezTo>
                  <a:cubicBezTo>
                    <a:pt x="32" y="327"/>
                    <a:pt x="27" y="321"/>
                    <a:pt x="26" y="316"/>
                  </a:cubicBezTo>
                  <a:cubicBezTo>
                    <a:pt x="15" y="240"/>
                    <a:pt x="16" y="124"/>
                    <a:pt x="17" y="118"/>
                  </a:cubicBezTo>
                  <a:cubicBezTo>
                    <a:pt x="19" y="98"/>
                    <a:pt x="33" y="47"/>
                    <a:pt x="50" y="17"/>
                  </a:cubicBezTo>
                  <a:close/>
                </a:path>
              </a:pathLst>
            </a:custGeom>
            <a:solidFill>
              <a:srgbClr val="D0D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8" name="Freeform 10"/>
            <p:cNvSpPr>
              <a:spLocks/>
            </p:cNvSpPr>
            <p:nvPr/>
          </p:nvSpPr>
          <p:spPr bwMode="auto">
            <a:xfrm>
              <a:off x="5192713" y="4319588"/>
              <a:ext cx="25400" cy="128588"/>
            </a:xfrm>
            <a:custGeom>
              <a:avLst/>
              <a:gdLst>
                <a:gd name="T0" fmla="*/ 0 w 71"/>
                <a:gd name="T1" fmla="*/ 16 h 341"/>
                <a:gd name="T2" fmla="*/ 41 w 71"/>
                <a:gd name="T3" fmla="*/ 117 h 341"/>
                <a:gd name="T4" fmla="*/ 20 w 71"/>
                <a:gd name="T5" fmla="*/ 309 h 341"/>
                <a:gd name="T6" fmla="*/ 56 w 71"/>
                <a:gd name="T7" fmla="*/ 308 h 341"/>
                <a:gd name="T8" fmla="*/ 71 w 71"/>
                <a:gd name="T9" fmla="*/ 110 h 341"/>
                <a:gd name="T10" fmla="*/ 29 w 71"/>
                <a:gd name="T11" fmla="*/ 0 h 341"/>
                <a:gd name="T12" fmla="*/ 0 w 71"/>
                <a:gd name="T13" fmla="*/ 16 h 341"/>
              </a:gdLst>
              <a:ahLst/>
              <a:cxnLst>
                <a:cxn ang="0">
                  <a:pos x="T0" y="T1"/>
                </a:cxn>
                <a:cxn ang="0">
                  <a:pos x="T2" y="T3"/>
                </a:cxn>
                <a:cxn ang="0">
                  <a:pos x="T4" y="T5"/>
                </a:cxn>
                <a:cxn ang="0">
                  <a:pos x="T6" y="T7"/>
                </a:cxn>
                <a:cxn ang="0">
                  <a:pos x="T8" y="T9"/>
                </a:cxn>
                <a:cxn ang="0">
                  <a:pos x="T10" y="T11"/>
                </a:cxn>
                <a:cxn ang="0">
                  <a:pos x="T12" y="T13"/>
                </a:cxn>
              </a:cxnLst>
              <a:rect l="0" t="0" r="r" b="b"/>
              <a:pathLst>
                <a:path w="71" h="341">
                  <a:moveTo>
                    <a:pt x="0" y="16"/>
                  </a:moveTo>
                  <a:cubicBezTo>
                    <a:pt x="20" y="46"/>
                    <a:pt x="41" y="91"/>
                    <a:pt x="41" y="117"/>
                  </a:cubicBezTo>
                  <a:cubicBezTo>
                    <a:pt x="39" y="248"/>
                    <a:pt x="28" y="246"/>
                    <a:pt x="20" y="309"/>
                  </a:cubicBezTo>
                  <a:cubicBezTo>
                    <a:pt x="19" y="326"/>
                    <a:pt x="48" y="341"/>
                    <a:pt x="56" y="308"/>
                  </a:cubicBezTo>
                  <a:cubicBezTo>
                    <a:pt x="70" y="225"/>
                    <a:pt x="71" y="157"/>
                    <a:pt x="71" y="110"/>
                  </a:cubicBezTo>
                  <a:cubicBezTo>
                    <a:pt x="64" y="67"/>
                    <a:pt x="45" y="34"/>
                    <a:pt x="29" y="0"/>
                  </a:cubicBezTo>
                  <a:lnTo>
                    <a:pt x="0" y="16"/>
                  </a:lnTo>
                  <a:close/>
                </a:path>
              </a:pathLst>
            </a:custGeom>
            <a:solidFill>
              <a:srgbClr val="FFFFCB"/>
            </a:solidFill>
            <a:ln w="4763" cap="flat">
              <a:solidFill>
                <a:srgbClr val="D0D080"/>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79" name="Freeform 11"/>
            <p:cNvSpPr>
              <a:spLocks/>
            </p:cNvSpPr>
            <p:nvPr/>
          </p:nvSpPr>
          <p:spPr bwMode="auto">
            <a:xfrm>
              <a:off x="4935538" y="3967163"/>
              <a:ext cx="314325" cy="298450"/>
            </a:xfrm>
            <a:custGeom>
              <a:avLst/>
              <a:gdLst>
                <a:gd name="T0" fmla="*/ 437 w 842"/>
                <a:gd name="T1" fmla="*/ 1 h 801"/>
                <a:gd name="T2" fmla="*/ 317 w 842"/>
                <a:gd name="T3" fmla="*/ 20 h 801"/>
                <a:gd name="T4" fmla="*/ 3 w 842"/>
                <a:gd name="T5" fmla="*/ 429 h 801"/>
                <a:gd name="T6" fmla="*/ 86 w 842"/>
                <a:gd name="T7" fmla="*/ 702 h 801"/>
                <a:gd name="T8" fmla="*/ 225 w 842"/>
                <a:gd name="T9" fmla="*/ 792 h 801"/>
                <a:gd name="T10" fmla="*/ 277 w 842"/>
                <a:gd name="T11" fmla="*/ 789 h 801"/>
                <a:gd name="T12" fmla="*/ 148 w 842"/>
                <a:gd name="T13" fmla="*/ 700 h 801"/>
                <a:gd name="T14" fmla="*/ 55 w 842"/>
                <a:gd name="T15" fmla="*/ 439 h 801"/>
                <a:gd name="T16" fmla="*/ 127 w 842"/>
                <a:gd name="T17" fmla="*/ 215 h 801"/>
                <a:gd name="T18" fmla="*/ 328 w 842"/>
                <a:gd name="T19" fmla="*/ 65 h 801"/>
                <a:gd name="T20" fmla="*/ 706 w 842"/>
                <a:gd name="T21" fmla="*/ 176 h 801"/>
                <a:gd name="T22" fmla="*/ 750 w 842"/>
                <a:gd name="T23" fmla="*/ 558 h 801"/>
                <a:gd name="T24" fmla="*/ 605 w 842"/>
                <a:gd name="T25" fmla="*/ 801 h 801"/>
                <a:gd name="T26" fmla="*/ 658 w 842"/>
                <a:gd name="T27" fmla="*/ 751 h 801"/>
                <a:gd name="T28" fmla="*/ 790 w 842"/>
                <a:gd name="T29" fmla="*/ 538 h 801"/>
                <a:gd name="T30" fmla="*/ 738 w 842"/>
                <a:gd name="T31" fmla="*/ 157 h 801"/>
                <a:gd name="T32" fmla="*/ 437 w 842"/>
                <a:gd name="T33" fmla="*/ 1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2" h="801">
                  <a:moveTo>
                    <a:pt x="437" y="1"/>
                  </a:moveTo>
                  <a:cubicBezTo>
                    <a:pt x="397" y="2"/>
                    <a:pt x="357" y="8"/>
                    <a:pt x="317" y="20"/>
                  </a:cubicBezTo>
                  <a:cubicBezTo>
                    <a:pt x="160" y="69"/>
                    <a:pt x="7" y="207"/>
                    <a:pt x="3" y="429"/>
                  </a:cubicBezTo>
                  <a:cubicBezTo>
                    <a:pt x="1" y="536"/>
                    <a:pt x="0" y="587"/>
                    <a:pt x="86" y="702"/>
                  </a:cubicBezTo>
                  <a:cubicBezTo>
                    <a:pt x="116" y="742"/>
                    <a:pt x="159" y="777"/>
                    <a:pt x="225" y="792"/>
                  </a:cubicBezTo>
                  <a:lnTo>
                    <a:pt x="277" y="789"/>
                  </a:lnTo>
                  <a:cubicBezTo>
                    <a:pt x="219" y="753"/>
                    <a:pt x="172" y="728"/>
                    <a:pt x="148" y="700"/>
                  </a:cubicBezTo>
                  <a:cubicBezTo>
                    <a:pt x="59" y="596"/>
                    <a:pt x="53" y="543"/>
                    <a:pt x="55" y="439"/>
                  </a:cubicBezTo>
                  <a:cubicBezTo>
                    <a:pt x="57" y="348"/>
                    <a:pt x="88" y="272"/>
                    <a:pt x="127" y="215"/>
                  </a:cubicBezTo>
                  <a:cubicBezTo>
                    <a:pt x="178" y="138"/>
                    <a:pt x="246" y="90"/>
                    <a:pt x="328" y="65"/>
                  </a:cubicBezTo>
                  <a:cubicBezTo>
                    <a:pt x="472" y="21"/>
                    <a:pt x="631" y="52"/>
                    <a:pt x="706" y="176"/>
                  </a:cubicBezTo>
                  <a:cubicBezTo>
                    <a:pt x="756" y="260"/>
                    <a:pt x="802" y="395"/>
                    <a:pt x="750" y="558"/>
                  </a:cubicBezTo>
                  <a:cubicBezTo>
                    <a:pt x="728" y="623"/>
                    <a:pt x="660" y="715"/>
                    <a:pt x="605" y="801"/>
                  </a:cubicBezTo>
                  <a:lnTo>
                    <a:pt x="658" y="751"/>
                  </a:lnTo>
                  <a:cubicBezTo>
                    <a:pt x="715" y="680"/>
                    <a:pt x="765" y="620"/>
                    <a:pt x="790" y="538"/>
                  </a:cubicBezTo>
                  <a:cubicBezTo>
                    <a:pt x="842" y="362"/>
                    <a:pt x="792" y="248"/>
                    <a:pt x="738" y="157"/>
                  </a:cubicBezTo>
                  <a:cubicBezTo>
                    <a:pt x="674" y="51"/>
                    <a:pt x="558" y="0"/>
                    <a:pt x="437"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80" name="Freeform 12"/>
            <p:cNvSpPr>
              <a:spLocks/>
            </p:cNvSpPr>
            <p:nvPr/>
          </p:nvSpPr>
          <p:spPr bwMode="auto">
            <a:xfrm>
              <a:off x="4859338" y="3914775"/>
              <a:ext cx="598488" cy="1154113"/>
            </a:xfrm>
            <a:custGeom>
              <a:avLst/>
              <a:gdLst>
                <a:gd name="T0" fmla="*/ 1337 w 1596"/>
                <a:gd name="T1" fmla="*/ 119 h 3084"/>
                <a:gd name="T2" fmla="*/ 843 w 1596"/>
                <a:gd name="T3" fmla="*/ 884 h 3084"/>
                <a:gd name="T4" fmla="*/ 1074 w 1596"/>
                <a:gd name="T5" fmla="*/ 659 h 3084"/>
                <a:gd name="T6" fmla="*/ 1443 w 1596"/>
                <a:gd name="T7" fmla="*/ 62 h 3084"/>
                <a:gd name="T8" fmla="*/ 1534 w 1596"/>
                <a:gd name="T9" fmla="*/ 60 h 3084"/>
                <a:gd name="T10" fmla="*/ 1432 w 1596"/>
                <a:gd name="T11" fmla="*/ 563 h 3084"/>
                <a:gd name="T12" fmla="*/ 1223 w 1596"/>
                <a:gd name="T13" fmla="*/ 1138 h 3084"/>
                <a:gd name="T14" fmla="*/ 1212 w 1596"/>
                <a:gd name="T15" fmla="*/ 1557 h 3084"/>
                <a:gd name="T16" fmla="*/ 1300 w 1596"/>
                <a:gd name="T17" fmla="*/ 2502 h 3084"/>
                <a:gd name="T18" fmla="*/ 1164 w 1596"/>
                <a:gd name="T19" fmla="*/ 3023 h 3084"/>
                <a:gd name="T20" fmla="*/ 1025 w 1596"/>
                <a:gd name="T21" fmla="*/ 2455 h 3084"/>
                <a:gd name="T22" fmla="*/ 905 w 1596"/>
                <a:gd name="T23" fmla="*/ 2136 h 3084"/>
                <a:gd name="T24" fmla="*/ 851 w 1596"/>
                <a:gd name="T25" fmla="*/ 2167 h 3084"/>
                <a:gd name="T26" fmla="*/ 618 w 1596"/>
                <a:gd name="T27" fmla="*/ 3020 h 3084"/>
                <a:gd name="T28" fmla="*/ 567 w 1596"/>
                <a:gd name="T29" fmla="*/ 3030 h 3084"/>
                <a:gd name="T30" fmla="*/ 489 w 1596"/>
                <a:gd name="T31" fmla="*/ 2842 h 3084"/>
                <a:gd name="T32" fmla="*/ 437 w 1596"/>
                <a:gd name="T33" fmla="*/ 1615 h 3084"/>
                <a:gd name="T34" fmla="*/ 363 w 1596"/>
                <a:gd name="T35" fmla="*/ 1555 h 3084"/>
                <a:gd name="T36" fmla="*/ 360 w 1596"/>
                <a:gd name="T37" fmla="*/ 1557 h 3084"/>
                <a:gd name="T38" fmla="*/ 246 w 1596"/>
                <a:gd name="T39" fmla="*/ 1791 h 3084"/>
                <a:gd name="T40" fmla="*/ 163 w 1596"/>
                <a:gd name="T41" fmla="*/ 2157 h 3084"/>
                <a:gd name="T42" fmla="*/ 121 w 1596"/>
                <a:gd name="T43" fmla="*/ 2156 h 3084"/>
                <a:gd name="T44" fmla="*/ 82 w 1596"/>
                <a:gd name="T45" fmla="*/ 2081 h 3084"/>
                <a:gd name="T46" fmla="*/ 305 w 1596"/>
                <a:gd name="T47" fmla="*/ 1017 h 3084"/>
                <a:gd name="T48" fmla="*/ 278 w 1596"/>
                <a:gd name="T49" fmla="*/ 997 h 3084"/>
                <a:gd name="T50" fmla="*/ 40 w 1596"/>
                <a:gd name="T51" fmla="*/ 2105 h 3084"/>
                <a:gd name="T52" fmla="*/ 132 w 1596"/>
                <a:gd name="T53" fmla="*/ 2209 h 3084"/>
                <a:gd name="T54" fmla="*/ 261 w 1596"/>
                <a:gd name="T55" fmla="*/ 1984 h 3084"/>
                <a:gd name="T56" fmla="*/ 334 w 1596"/>
                <a:gd name="T57" fmla="*/ 1623 h 3084"/>
                <a:gd name="T58" fmla="*/ 373 w 1596"/>
                <a:gd name="T59" fmla="*/ 1589 h 3084"/>
                <a:gd name="T60" fmla="*/ 426 w 1596"/>
                <a:gd name="T61" fmla="*/ 1788 h 3084"/>
                <a:gd name="T62" fmla="*/ 488 w 1596"/>
                <a:gd name="T63" fmla="*/ 3017 h 3084"/>
                <a:gd name="T64" fmla="*/ 638 w 1596"/>
                <a:gd name="T65" fmla="*/ 3065 h 3084"/>
                <a:gd name="T66" fmla="*/ 891 w 1596"/>
                <a:gd name="T67" fmla="*/ 2186 h 3084"/>
                <a:gd name="T68" fmla="*/ 987 w 1596"/>
                <a:gd name="T69" fmla="*/ 2456 h 3084"/>
                <a:gd name="T70" fmla="*/ 1115 w 1596"/>
                <a:gd name="T71" fmla="*/ 3065 h 3084"/>
                <a:gd name="T72" fmla="*/ 1176 w 1596"/>
                <a:gd name="T73" fmla="*/ 3071 h 3084"/>
                <a:gd name="T74" fmla="*/ 1337 w 1596"/>
                <a:gd name="T75" fmla="*/ 2504 h 3084"/>
                <a:gd name="T76" fmla="*/ 1260 w 1596"/>
                <a:gd name="T77" fmla="*/ 1564 h 3084"/>
                <a:gd name="T78" fmla="*/ 1282 w 1596"/>
                <a:gd name="T79" fmla="*/ 994 h 3084"/>
                <a:gd name="T80" fmla="*/ 1319 w 1596"/>
                <a:gd name="T81" fmla="*/ 893 h 3084"/>
                <a:gd name="T82" fmla="*/ 1591 w 1596"/>
                <a:gd name="T83" fmla="*/ 79 h 3084"/>
                <a:gd name="T84" fmla="*/ 1532 w 1596"/>
                <a:gd name="T85" fmla="*/ 1 h 3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6" h="3084">
                  <a:moveTo>
                    <a:pt x="1524" y="0"/>
                  </a:moveTo>
                  <a:cubicBezTo>
                    <a:pt x="1483" y="1"/>
                    <a:pt x="1451" y="14"/>
                    <a:pt x="1419" y="33"/>
                  </a:cubicBezTo>
                  <a:cubicBezTo>
                    <a:pt x="1388" y="53"/>
                    <a:pt x="1361" y="83"/>
                    <a:pt x="1337" y="119"/>
                  </a:cubicBezTo>
                  <a:cubicBezTo>
                    <a:pt x="1288" y="190"/>
                    <a:pt x="1248" y="287"/>
                    <a:pt x="1196" y="390"/>
                  </a:cubicBezTo>
                  <a:cubicBezTo>
                    <a:pt x="1131" y="516"/>
                    <a:pt x="1060" y="620"/>
                    <a:pt x="982" y="720"/>
                  </a:cubicBezTo>
                  <a:cubicBezTo>
                    <a:pt x="938" y="777"/>
                    <a:pt x="897" y="845"/>
                    <a:pt x="843" y="884"/>
                  </a:cubicBezTo>
                  <a:lnTo>
                    <a:pt x="809" y="936"/>
                  </a:lnTo>
                  <a:cubicBezTo>
                    <a:pt x="846" y="909"/>
                    <a:pt x="899" y="857"/>
                    <a:pt x="935" y="822"/>
                  </a:cubicBezTo>
                  <a:cubicBezTo>
                    <a:pt x="989" y="768"/>
                    <a:pt x="1025" y="726"/>
                    <a:pt x="1074" y="659"/>
                  </a:cubicBezTo>
                  <a:cubicBezTo>
                    <a:pt x="1133" y="578"/>
                    <a:pt x="1186" y="491"/>
                    <a:pt x="1229" y="407"/>
                  </a:cubicBezTo>
                  <a:cubicBezTo>
                    <a:pt x="1282" y="303"/>
                    <a:pt x="1323" y="206"/>
                    <a:pt x="1368" y="140"/>
                  </a:cubicBezTo>
                  <a:cubicBezTo>
                    <a:pt x="1390" y="107"/>
                    <a:pt x="1418" y="78"/>
                    <a:pt x="1443" y="62"/>
                  </a:cubicBezTo>
                  <a:cubicBezTo>
                    <a:pt x="1464" y="50"/>
                    <a:pt x="1473" y="46"/>
                    <a:pt x="1501" y="45"/>
                  </a:cubicBezTo>
                  <a:cubicBezTo>
                    <a:pt x="1506" y="45"/>
                    <a:pt x="1514" y="47"/>
                    <a:pt x="1519" y="49"/>
                  </a:cubicBezTo>
                  <a:cubicBezTo>
                    <a:pt x="1524" y="52"/>
                    <a:pt x="1529" y="54"/>
                    <a:pt x="1534" y="60"/>
                  </a:cubicBezTo>
                  <a:cubicBezTo>
                    <a:pt x="1540" y="66"/>
                    <a:pt x="1548" y="76"/>
                    <a:pt x="1550" y="92"/>
                  </a:cubicBezTo>
                  <a:cubicBezTo>
                    <a:pt x="1554" y="122"/>
                    <a:pt x="1551" y="167"/>
                    <a:pt x="1542" y="218"/>
                  </a:cubicBezTo>
                  <a:cubicBezTo>
                    <a:pt x="1524" y="320"/>
                    <a:pt x="1482" y="450"/>
                    <a:pt x="1432" y="563"/>
                  </a:cubicBezTo>
                  <a:cubicBezTo>
                    <a:pt x="1376" y="687"/>
                    <a:pt x="1318" y="775"/>
                    <a:pt x="1287" y="884"/>
                  </a:cubicBezTo>
                  <a:cubicBezTo>
                    <a:pt x="1286" y="885"/>
                    <a:pt x="1284" y="888"/>
                    <a:pt x="1284" y="889"/>
                  </a:cubicBezTo>
                  <a:cubicBezTo>
                    <a:pt x="1264" y="918"/>
                    <a:pt x="1231" y="1028"/>
                    <a:pt x="1223" y="1138"/>
                  </a:cubicBezTo>
                  <a:cubicBezTo>
                    <a:pt x="1214" y="1251"/>
                    <a:pt x="1201" y="1379"/>
                    <a:pt x="1210" y="1532"/>
                  </a:cubicBezTo>
                  <a:lnTo>
                    <a:pt x="1211" y="1548"/>
                  </a:lnTo>
                  <a:lnTo>
                    <a:pt x="1212" y="1557"/>
                  </a:lnTo>
                  <a:cubicBezTo>
                    <a:pt x="1237" y="1751"/>
                    <a:pt x="1259" y="1880"/>
                    <a:pt x="1281" y="2054"/>
                  </a:cubicBezTo>
                  <a:cubicBezTo>
                    <a:pt x="1299" y="2191"/>
                    <a:pt x="1300" y="2324"/>
                    <a:pt x="1302" y="2445"/>
                  </a:cubicBezTo>
                  <a:cubicBezTo>
                    <a:pt x="1302" y="2446"/>
                    <a:pt x="1300" y="2501"/>
                    <a:pt x="1300" y="2502"/>
                  </a:cubicBezTo>
                  <a:cubicBezTo>
                    <a:pt x="1291" y="2632"/>
                    <a:pt x="1286" y="2740"/>
                    <a:pt x="1261" y="2843"/>
                  </a:cubicBezTo>
                  <a:cubicBezTo>
                    <a:pt x="1249" y="2895"/>
                    <a:pt x="1241" y="2940"/>
                    <a:pt x="1224" y="2973"/>
                  </a:cubicBezTo>
                  <a:cubicBezTo>
                    <a:pt x="1208" y="3004"/>
                    <a:pt x="1186" y="3017"/>
                    <a:pt x="1164" y="3023"/>
                  </a:cubicBezTo>
                  <a:cubicBezTo>
                    <a:pt x="1127" y="3021"/>
                    <a:pt x="1098" y="2992"/>
                    <a:pt x="1076" y="2952"/>
                  </a:cubicBezTo>
                  <a:cubicBezTo>
                    <a:pt x="1054" y="2910"/>
                    <a:pt x="1040" y="2856"/>
                    <a:pt x="1033" y="2797"/>
                  </a:cubicBezTo>
                  <a:cubicBezTo>
                    <a:pt x="1018" y="2679"/>
                    <a:pt x="1028" y="2545"/>
                    <a:pt x="1025" y="2455"/>
                  </a:cubicBezTo>
                  <a:cubicBezTo>
                    <a:pt x="1023" y="2392"/>
                    <a:pt x="1001" y="2290"/>
                    <a:pt x="972" y="2232"/>
                  </a:cubicBezTo>
                  <a:cubicBezTo>
                    <a:pt x="958" y="2203"/>
                    <a:pt x="942" y="2178"/>
                    <a:pt x="927" y="2159"/>
                  </a:cubicBezTo>
                  <a:cubicBezTo>
                    <a:pt x="920" y="2150"/>
                    <a:pt x="913" y="2142"/>
                    <a:pt x="905" y="2136"/>
                  </a:cubicBezTo>
                  <a:cubicBezTo>
                    <a:pt x="897" y="2130"/>
                    <a:pt x="873" y="2128"/>
                    <a:pt x="861" y="2128"/>
                  </a:cubicBezTo>
                  <a:lnTo>
                    <a:pt x="855" y="2153"/>
                  </a:lnTo>
                  <a:lnTo>
                    <a:pt x="851" y="2167"/>
                  </a:lnTo>
                  <a:cubicBezTo>
                    <a:pt x="816" y="2323"/>
                    <a:pt x="770" y="2596"/>
                    <a:pt x="733" y="2745"/>
                  </a:cubicBezTo>
                  <a:cubicBezTo>
                    <a:pt x="711" y="2836"/>
                    <a:pt x="686" y="2925"/>
                    <a:pt x="659" y="2980"/>
                  </a:cubicBezTo>
                  <a:cubicBezTo>
                    <a:pt x="646" y="3007"/>
                    <a:pt x="622" y="3017"/>
                    <a:pt x="618" y="3020"/>
                  </a:cubicBezTo>
                  <a:cubicBezTo>
                    <a:pt x="610" y="3024"/>
                    <a:pt x="612" y="3023"/>
                    <a:pt x="593" y="3028"/>
                  </a:cubicBezTo>
                  <a:lnTo>
                    <a:pt x="578" y="3030"/>
                  </a:lnTo>
                  <a:lnTo>
                    <a:pt x="567" y="3030"/>
                  </a:lnTo>
                  <a:cubicBezTo>
                    <a:pt x="561" y="3029"/>
                    <a:pt x="558" y="3029"/>
                    <a:pt x="550" y="3025"/>
                  </a:cubicBezTo>
                  <a:cubicBezTo>
                    <a:pt x="543" y="3021"/>
                    <a:pt x="537" y="3014"/>
                    <a:pt x="528" y="2998"/>
                  </a:cubicBezTo>
                  <a:cubicBezTo>
                    <a:pt x="511" y="2969"/>
                    <a:pt x="496" y="2912"/>
                    <a:pt x="489" y="2842"/>
                  </a:cubicBezTo>
                  <a:cubicBezTo>
                    <a:pt x="474" y="2703"/>
                    <a:pt x="473" y="2509"/>
                    <a:pt x="473" y="2316"/>
                  </a:cubicBezTo>
                  <a:cubicBezTo>
                    <a:pt x="472" y="2122"/>
                    <a:pt x="474" y="1928"/>
                    <a:pt x="463" y="1785"/>
                  </a:cubicBezTo>
                  <a:cubicBezTo>
                    <a:pt x="458" y="1714"/>
                    <a:pt x="450" y="1656"/>
                    <a:pt x="437" y="1615"/>
                  </a:cubicBezTo>
                  <a:cubicBezTo>
                    <a:pt x="430" y="1595"/>
                    <a:pt x="422" y="1579"/>
                    <a:pt x="409" y="1567"/>
                  </a:cubicBezTo>
                  <a:cubicBezTo>
                    <a:pt x="397" y="1556"/>
                    <a:pt x="379" y="1552"/>
                    <a:pt x="363" y="1556"/>
                  </a:cubicBezTo>
                  <a:lnTo>
                    <a:pt x="363" y="1555"/>
                  </a:lnTo>
                  <a:cubicBezTo>
                    <a:pt x="362" y="1555"/>
                    <a:pt x="362" y="1556"/>
                    <a:pt x="361" y="1556"/>
                  </a:cubicBezTo>
                  <a:cubicBezTo>
                    <a:pt x="361" y="1556"/>
                    <a:pt x="360" y="1556"/>
                    <a:pt x="360" y="1556"/>
                  </a:cubicBezTo>
                  <a:lnTo>
                    <a:pt x="360" y="1557"/>
                  </a:lnTo>
                  <a:cubicBezTo>
                    <a:pt x="334" y="1562"/>
                    <a:pt x="314" y="1577"/>
                    <a:pt x="301" y="1594"/>
                  </a:cubicBezTo>
                  <a:cubicBezTo>
                    <a:pt x="288" y="1612"/>
                    <a:pt x="282" y="1631"/>
                    <a:pt x="276" y="1644"/>
                  </a:cubicBezTo>
                  <a:cubicBezTo>
                    <a:pt x="261" y="1679"/>
                    <a:pt x="253" y="1731"/>
                    <a:pt x="246" y="1791"/>
                  </a:cubicBezTo>
                  <a:cubicBezTo>
                    <a:pt x="239" y="1851"/>
                    <a:pt x="233" y="1918"/>
                    <a:pt x="224" y="1979"/>
                  </a:cubicBezTo>
                  <a:cubicBezTo>
                    <a:pt x="215" y="2039"/>
                    <a:pt x="203" y="2094"/>
                    <a:pt x="187" y="2126"/>
                  </a:cubicBezTo>
                  <a:cubicBezTo>
                    <a:pt x="179" y="2143"/>
                    <a:pt x="170" y="2153"/>
                    <a:pt x="163" y="2157"/>
                  </a:cubicBezTo>
                  <a:cubicBezTo>
                    <a:pt x="155" y="2161"/>
                    <a:pt x="150" y="2166"/>
                    <a:pt x="136" y="2163"/>
                  </a:cubicBezTo>
                  <a:lnTo>
                    <a:pt x="128" y="2160"/>
                  </a:lnTo>
                  <a:lnTo>
                    <a:pt x="121" y="2156"/>
                  </a:lnTo>
                  <a:cubicBezTo>
                    <a:pt x="121" y="2156"/>
                    <a:pt x="119" y="2155"/>
                    <a:pt x="117" y="2154"/>
                  </a:cubicBezTo>
                  <a:cubicBezTo>
                    <a:pt x="115" y="2152"/>
                    <a:pt x="114" y="2149"/>
                    <a:pt x="110" y="2143"/>
                  </a:cubicBezTo>
                  <a:cubicBezTo>
                    <a:pt x="101" y="2131"/>
                    <a:pt x="91" y="2110"/>
                    <a:pt x="82" y="2081"/>
                  </a:cubicBezTo>
                  <a:cubicBezTo>
                    <a:pt x="65" y="2024"/>
                    <a:pt x="51" y="1939"/>
                    <a:pt x="46" y="1839"/>
                  </a:cubicBezTo>
                  <a:cubicBezTo>
                    <a:pt x="38" y="1638"/>
                    <a:pt x="68" y="1375"/>
                    <a:pt x="181" y="1144"/>
                  </a:cubicBezTo>
                  <a:cubicBezTo>
                    <a:pt x="207" y="1089"/>
                    <a:pt x="254" y="1045"/>
                    <a:pt x="305" y="1017"/>
                  </a:cubicBezTo>
                  <a:cubicBezTo>
                    <a:pt x="355" y="990"/>
                    <a:pt x="457" y="942"/>
                    <a:pt x="520" y="915"/>
                  </a:cubicBezTo>
                  <a:lnTo>
                    <a:pt x="445" y="920"/>
                  </a:lnTo>
                  <a:cubicBezTo>
                    <a:pt x="377" y="950"/>
                    <a:pt x="332" y="967"/>
                    <a:pt x="278" y="997"/>
                  </a:cubicBezTo>
                  <a:cubicBezTo>
                    <a:pt x="224" y="1026"/>
                    <a:pt x="178" y="1065"/>
                    <a:pt x="147" y="1128"/>
                  </a:cubicBezTo>
                  <a:cubicBezTo>
                    <a:pt x="31" y="1366"/>
                    <a:pt x="0" y="1634"/>
                    <a:pt x="9" y="1840"/>
                  </a:cubicBezTo>
                  <a:cubicBezTo>
                    <a:pt x="13" y="1943"/>
                    <a:pt x="21" y="2043"/>
                    <a:pt x="40" y="2105"/>
                  </a:cubicBezTo>
                  <a:cubicBezTo>
                    <a:pt x="50" y="2136"/>
                    <a:pt x="60" y="2162"/>
                    <a:pt x="73" y="2179"/>
                  </a:cubicBezTo>
                  <a:cubicBezTo>
                    <a:pt x="79" y="2188"/>
                    <a:pt x="92" y="2197"/>
                    <a:pt x="101" y="2203"/>
                  </a:cubicBezTo>
                  <a:cubicBezTo>
                    <a:pt x="108" y="2206"/>
                    <a:pt x="123" y="2210"/>
                    <a:pt x="132" y="2209"/>
                  </a:cubicBezTo>
                  <a:cubicBezTo>
                    <a:pt x="150" y="2209"/>
                    <a:pt x="161" y="2206"/>
                    <a:pt x="178" y="2198"/>
                  </a:cubicBezTo>
                  <a:cubicBezTo>
                    <a:pt x="195" y="2188"/>
                    <a:pt x="211" y="2163"/>
                    <a:pt x="221" y="2143"/>
                  </a:cubicBezTo>
                  <a:cubicBezTo>
                    <a:pt x="241" y="2103"/>
                    <a:pt x="252" y="2046"/>
                    <a:pt x="261" y="1984"/>
                  </a:cubicBezTo>
                  <a:cubicBezTo>
                    <a:pt x="270" y="1922"/>
                    <a:pt x="280" y="1861"/>
                    <a:pt x="287" y="1802"/>
                  </a:cubicBezTo>
                  <a:cubicBezTo>
                    <a:pt x="294" y="1743"/>
                    <a:pt x="303" y="1692"/>
                    <a:pt x="315" y="1665"/>
                  </a:cubicBezTo>
                  <a:cubicBezTo>
                    <a:pt x="321" y="1651"/>
                    <a:pt x="325" y="1636"/>
                    <a:pt x="334" y="1623"/>
                  </a:cubicBezTo>
                  <a:cubicBezTo>
                    <a:pt x="343" y="1611"/>
                    <a:pt x="354" y="1591"/>
                    <a:pt x="372" y="1588"/>
                  </a:cubicBezTo>
                  <a:lnTo>
                    <a:pt x="371" y="1589"/>
                  </a:lnTo>
                  <a:lnTo>
                    <a:pt x="373" y="1589"/>
                  </a:lnTo>
                  <a:cubicBezTo>
                    <a:pt x="379" y="1586"/>
                    <a:pt x="379" y="1589"/>
                    <a:pt x="383" y="1594"/>
                  </a:cubicBezTo>
                  <a:cubicBezTo>
                    <a:pt x="388" y="1598"/>
                    <a:pt x="395" y="1610"/>
                    <a:pt x="401" y="1627"/>
                  </a:cubicBezTo>
                  <a:cubicBezTo>
                    <a:pt x="413" y="1662"/>
                    <a:pt x="421" y="1718"/>
                    <a:pt x="426" y="1788"/>
                  </a:cubicBezTo>
                  <a:cubicBezTo>
                    <a:pt x="436" y="1928"/>
                    <a:pt x="435" y="2122"/>
                    <a:pt x="435" y="2315"/>
                  </a:cubicBezTo>
                  <a:cubicBezTo>
                    <a:pt x="435" y="2509"/>
                    <a:pt x="436" y="2703"/>
                    <a:pt x="451" y="2846"/>
                  </a:cubicBezTo>
                  <a:cubicBezTo>
                    <a:pt x="459" y="2917"/>
                    <a:pt x="470" y="2976"/>
                    <a:pt x="488" y="3017"/>
                  </a:cubicBezTo>
                  <a:cubicBezTo>
                    <a:pt x="497" y="3038"/>
                    <a:pt x="507" y="3054"/>
                    <a:pt x="522" y="3065"/>
                  </a:cubicBezTo>
                  <a:cubicBezTo>
                    <a:pt x="535" y="3076"/>
                    <a:pt x="551" y="3082"/>
                    <a:pt x="568" y="3082"/>
                  </a:cubicBezTo>
                  <a:cubicBezTo>
                    <a:pt x="593" y="3084"/>
                    <a:pt x="618" y="3079"/>
                    <a:pt x="638" y="3065"/>
                  </a:cubicBezTo>
                  <a:cubicBezTo>
                    <a:pt x="660" y="3050"/>
                    <a:pt x="677" y="3027"/>
                    <a:pt x="692" y="2998"/>
                  </a:cubicBezTo>
                  <a:cubicBezTo>
                    <a:pt x="723" y="2939"/>
                    <a:pt x="746" y="2855"/>
                    <a:pt x="768" y="2760"/>
                  </a:cubicBezTo>
                  <a:cubicBezTo>
                    <a:pt x="809" y="2578"/>
                    <a:pt x="871" y="2339"/>
                    <a:pt x="891" y="2186"/>
                  </a:cubicBezTo>
                  <a:cubicBezTo>
                    <a:pt x="894" y="2189"/>
                    <a:pt x="905" y="2201"/>
                    <a:pt x="909" y="2205"/>
                  </a:cubicBezTo>
                  <a:cubicBezTo>
                    <a:pt x="921" y="2221"/>
                    <a:pt x="931" y="2243"/>
                    <a:pt x="944" y="2270"/>
                  </a:cubicBezTo>
                  <a:cubicBezTo>
                    <a:pt x="971" y="2325"/>
                    <a:pt x="986" y="2402"/>
                    <a:pt x="987" y="2456"/>
                  </a:cubicBezTo>
                  <a:cubicBezTo>
                    <a:pt x="990" y="2542"/>
                    <a:pt x="981" y="2679"/>
                    <a:pt x="996" y="2802"/>
                  </a:cubicBezTo>
                  <a:cubicBezTo>
                    <a:pt x="1004" y="2863"/>
                    <a:pt x="1021" y="2940"/>
                    <a:pt x="1047" y="2988"/>
                  </a:cubicBezTo>
                  <a:cubicBezTo>
                    <a:pt x="1065" y="3021"/>
                    <a:pt x="1085" y="3051"/>
                    <a:pt x="1115" y="3065"/>
                  </a:cubicBezTo>
                  <a:cubicBezTo>
                    <a:pt x="1129" y="3071"/>
                    <a:pt x="1129" y="3070"/>
                    <a:pt x="1146" y="3075"/>
                  </a:cubicBezTo>
                  <a:lnTo>
                    <a:pt x="1164" y="3074"/>
                  </a:lnTo>
                  <a:lnTo>
                    <a:pt x="1176" y="3071"/>
                  </a:lnTo>
                  <a:cubicBezTo>
                    <a:pt x="1211" y="3058"/>
                    <a:pt x="1237" y="3029"/>
                    <a:pt x="1257" y="2990"/>
                  </a:cubicBezTo>
                  <a:cubicBezTo>
                    <a:pt x="1276" y="2952"/>
                    <a:pt x="1290" y="2904"/>
                    <a:pt x="1300" y="2849"/>
                  </a:cubicBezTo>
                  <a:cubicBezTo>
                    <a:pt x="1321" y="2741"/>
                    <a:pt x="1328" y="2635"/>
                    <a:pt x="1337" y="2504"/>
                  </a:cubicBezTo>
                  <a:lnTo>
                    <a:pt x="1338" y="2476"/>
                  </a:lnTo>
                  <a:lnTo>
                    <a:pt x="1338" y="2475"/>
                  </a:lnTo>
                  <a:cubicBezTo>
                    <a:pt x="1356" y="2123"/>
                    <a:pt x="1301" y="1901"/>
                    <a:pt x="1260" y="1564"/>
                  </a:cubicBezTo>
                  <a:cubicBezTo>
                    <a:pt x="1258" y="1556"/>
                    <a:pt x="1258" y="1537"/>
                    <a:pt x="1258" y="1537"/>
                  </a:cubicBezTo>
                  <a:cubicBezTo>
                    <a:pt x="1249" y="1386"/>
                    <a:pt x="1251" y="1247"/>
                    <a:pt x="1259" y="1137"/>
                  </a:cubicBezTo>
                  <a:cubicBezTo>
                    <a:pt x="1263" y="1083"/>
                    <a:pt x="1273" y="1033"/>
                    <a:pt x="1282" y="994"/>
                  </a:cubicBezTo>
                  <a:cubicBezTo>
                    <a:pt x="1292" y="954"/>
                    <a:pt x="1298" y="934"/>
                    <a:pt x="1315" y="905"/>
                  </a:cubicBezTo>
                  <a:lnTo>
                    <a:pt x="1317" y="899"/>
                  </a:lnTo>
                  <a:lnTo>
                    <a:pt x="1319" y="893"/>
                  </a:lnTo>
                  <a:cubicBezTo>
                    <a:pt x="1349" y="790"/>
                    <a:pt x="1414" y="710"/>
                    <a:pt x="1471" y="582"/>
                  </a:cubicBezTo>
                  <a:cubicBezTo>
                    <a:pt x="1523" y="466"/>
                    <a:pt x="1565" y="329"/>
                    <a:pt x="1583" y="222"/>
                  </a:cubicBezTo>
                  <a:cubicBezTo>
                    <a:pt x="1593" y="169"/>
                    <a:pt x="1596" y="116"/>
                    <a:pt x="1591" y="79"/>
                  </a:cubicBezTo>
                  <a:cubicBezTo>
                    <a:pt x="1588" y="60"/>
                    <a:pt x="1579" y="42"/>
                    <a:pt x="1570" y="28"/>
                  </a:cubicBezTo>
                  <a:cubicBezTo>
                    <a:pt x="1562" y="15"/>
                    <a:pt x="1546" y="5"/>
                    <a:pt x="1536" y="2"/>
                  </a:cubicBezTo>
                  <a:lnTo>
                    <a:pt x="1532" y="1"/>
                  </a:lnTo>
                  <a:lnTo>
                    <a:pt x="1529" y="0"/>
                  </a:lnTo>
                  <a:lnTo>
                    <a:pt x="15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81" name="Freeform 13"/>
            <p:cNvSpPr>
              <a:spLocks/>
            </p:cNvSpPr>
            <p:nvPr/>
          </p:nvSpPr>
          <p:spPr bwMode="auto">
            <a:xfrm>
              <a:off x="4902200" y="4216400"/>
              <a:ext cx="282575" cy="106363"/>
            </a:xfrm>
            <a:custGeom>
              <a:avLst/>
              <a:gdLst>
                <a:gd name="T0" fmla="*/ 758 w 758"/>
                <a:gd name="T1" fmla="*/ 265 h 282"/>
                <a:gd name="T2" fmla="*/ 659 w 758"/>
                <a:gd name="T3" fmla="*/ 173 h 282"/>
                <a:gd name="T4" fmla="*/ 489 w 758"/>
                <a:gd name="T5" fmla="*/ 89 h 282"/>
                <a:gd name="T6" fmla="*/ 241 w 758"/>
                <a:gd name="T7" fmla="*/ 13 h 282"/>
                <a:gd name="T8" fmla="*/ 164 w 758"/>
                <a:gd name="T9" fmla="*/ 0 h 282"/>
                <a:gd name="T10" fmla="*/ 73 w 758"/>
                <a:gd name="T11" fmla="*/ 55 h 282"/>
                <a:gd name="T12" fmla="*/ 0 w 758"/>
                <a:gd name="T13" fmla="*/ 164 h 282"/>
                <a:gd name="T14" fmla="*/ 5 w 758"/>
                <a:gd name="T15" fmla="*/ 279 h 282"/>
                <a:gd name="T16" fmla="*/ 285 w 758"/>
                <a:gd name="T17" fmla="*/ 230 h 282"/>
                <a:gd name="T18" fmla="*/ 473 w 758"/>
                <a:gd name="T19" fmla="*/ 226 h 282"/>
                <a:gd name="T20" fmla="*/ 754 w 758"/>
                <a:gd name="T21" fmla="*/ 282 h 282"/>
                <a:gd name="T22" fmla="*/ 758 w 758"/>
                <a:gd name="T23" fmla="*/ 26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8" h="282">
                  <a:moveTo>
                    <a:pt x="758" y="265"/>
                  </a:moveTo>
                  <a:lnTo>
                    <a:pt x="659" y="173"/>
                  </a:lnTo>
                  <a:lnTo>
                    <a:pt x="489" y="89"/>
                  </a:lnTo>
                  <a:lnTo>
                    <a:pt x="241" y="13"/>
                  </a:lnTo>
                  <a:lnTo>
                    <a:pt x="164" y="0"/>
                  </a:lnTo>
                  <a:lnTo>
                    <a:pt x="73" y="55"/>
                  </a:lnTo>
                  <a:lnTo>
                    <a:pt x="0" y="164"/>
                  </a:lnTo>
                  <a:lnTo>
                    <a:pt x="5" y="279"/>
                  </a:lnTo>
                  <a:lnTo>
                    <a:pt x="285" y="230"/>
                  </a:lnTo>
                  <a:lnTo>
                    <a:pt x="473" y="226"/>
                  </a:lnTo>
                  <a:lnTo>
                    <a:pt x="754" y="282"/>
                  </a:lnTo>
                  <a:lnTo>
                    <a:pt x="758" y="265"/>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82" name="Freeform 14"/>
            <p:cNvSpPr>
              <a:spLocks noEditPoints="1"/>
            </p:cNvSpPr>
            <p:nvPr/>
          </p:nvSpPr>
          <p:spPr bwMode="auto">
            <a:xfrm>
              <a:off x="4908550" y="4233863"/>
              <a:ext cx="100013" cy="84138"/>
            </a:xfrm>
            <a:custGeom>
              <a:avLst/>
              <a:gdLst>
                <a:gd name="T0" fmla="*/ 10 w 266"/>
                <a:gd name="T1" fmla="*/ 227 h 229"/>
                <a:gd name="T2" fmla="*/ 3 w 266"/>
                <a:gd name="T3" fmla="*/ 217 h 229"/>
                <a:gd name="T4" fmla="*/ 5 w 266"/>
                <a:gd name="T5" fmla="*/ 155 h 229"/>
                <a:gd name="T6" fmla="*/ 56 w 266"/>
                <a:gd name="T7" fmla="*/ 64 h 229"/>
                <a:gd name="T8" fmla="*/ 143 w 266"/>
                <a:gd name="T9" fmla="*/ 1 h 229"/>
                <a:gd name="T10" fmla="*/ 152 w 266"/>
                <a:gd name="T11" fmla="*/ 6 h 229"/>
                <a:gd name="T12" fmla="*/ 158 w 266"/>
                <a:gd name="T13" fmla="*/ 13 h 229"/>
                <a:gd name="T14" fmla="*/ 165 w 266"/>
                <a:gd name="T15" fmla="*/ 20 h 229"/>
                <a:gd name="T16" fmla="*/ 172 w 266"/>
                <a:gd name="T17" fmla="*/ 27 h 229"/>
                <a:gd name="T18" fmla="*/ 178 w 266"/>
                <a:gd name="T19" fmla="*/ 32 h 229"/>
                <a:gd name="T20" fmla="*/ 190 w 266"/>
                <a:gd name="T21" fmla="*/ 38 h 229"/>
                <a:gd name="T22" fmla="*/ 203 w 266"/>
                <a:gd name="T23" fmla="*/ 44 h 229"/>
                <a:gd name="T24" fmla="*/ 209 w 266"/>
                <a:gd name="T25" fmla="*/ 51 h 229"/>
                <a:gd name="T26" fmla="*/ 216 w 266"/>
                <a:gd name="T27" fmla="*/ 58 h 229"/>
                <a:gd name="T28" fmla="*/ 221 w 266"/>
                <a:gd name="T29" fmla="*/ 64 h 229"/>
                <a:gd name="T30" fmla="*/ 227 w 266"/>
                <a:gd name="T31" fmla="*/ 70 h 229"/>
                <a:gd name="T32" fmla="*/ 240 w 266"/>
                <a:gd name="T33" fmla="*/ 75 h 229"/>
                <a:gd name="T34" fmla="*/ 253 w 266"/>
                <a:gd name="T35" fmla="*/ 82 h 229"/>
                <a:gd name="T36" fmla="*/ 261 w 266"/>
                <a:gd name="T37" fmla="*/ 89 h 229"/>
                <a:gd name="T38" fmla="*/ 245 w 266"/>
                <a:gd name="T39" fmla="*/ 99 h 229"/>
                <a:gd name="T40" fmla="*/ 117 w 266"/>
                <a:gd name="T41" fmla="*/ 163 h 229"/>
                <a:gd name="T42" fmla="*/ 77 w 266"/>
                <a:gd name="T43" fmla="*/ 194 h 229"/>
                <a:gd name="T44" fmla="*/ 55 w 266"/>
                <a:gd name="T45" fmla="*/ 212 h 229"/>
                <a:gd name="T46" fmla="*/ 52 w 266"/>
                <a:gd name="T47" fmla="*/ 214 h 229"/>
                <a:gd name="T48" fmla="*/ 33 w 266"/>
                <a:gd name="T49" fmla="*/ 223 h 229"/>
                <a:gd name="T50" fmla="*/ 10 w 266"/>
                <a:gd name="T51" fmla="*/ 227 h 229"/>
                <a:gd name="T52" fmla="*/ 28 w 266"/>
                <a:gd name="T53" fmla="*/ 193 h 229"/>
                <a:gd name="T54" fmla="*/ 22 w 266"/>
                <a:gd name="T55" fmla="*/ 188 h 229"/>
                <a:gd name="T56" fmla="*/ 17 w 266"/>
                <a:gd name="T57" fmla="*/ 193 h 229"/>
                <a:gd name="T58" fmla="*/ 22 w 266"/>
                <a:gd name="T59" fmla="*/ 199 h 229"/>
                <a:gd name="T60" fmla="*/ 28 w 266"/>
                <a:gd name="T61" fmla="*/ 193 h 229"/>
                <a:gd name="T62" fmla="*/ 141 w 266"/>
                <a:gd name="T63" fmla="*/ 94 h 229"/>
                <a:gd name="T64" fmla="*/ 134 w 266"/>
                <a:gd name="T65" fmla="*/ 88 h 229"/>
                <a:gd name="T66" fmla="*/ 127 w 266"/>
                <a:gd name="T67" fmla="*/ 94 h 229"/>
                <a:gd name="T68" fmla="*/ 134 w 266"/>
                <a:gd name="T69" fmla="*/ 100 h 229"/>
                <a:gd name="T70" fmla="*/ 141 w 266"/>
                <a:gd name="T71" fmla="*/ 9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6" h="229">
                  <a:moveTo>
                    <a:pt x="10" y="227"/>
                  </a:moveTo>
                  <a:cubicBezTo>
                    <a:pt x="6" y="226"/>
                    <a:pt x="4" y="223"/>
                    <a:pt x="3" y="217"/>
                  </a:cubicBezTo>
                  <a:cubicBezTo>
                    <a:pt x="0" y="202"/>
                    <a:pt x="1" y="169"/>
                    <a:pt x="5" y="155"/>
                  </a:cubicBezTo>
                  <a:cubicBezTo>
                    <a:pt x="11" y="128"/>
                    <a:pt x="33" y="89"/>
                    <a:pt x="56" y="64"/>
                  </a:cubicBezTo>
                  <a:cubicBezTo>
                    <a:pt x="77" y="41"/>
                    <a:pt x="129" y="2"/>
                    <a:pt x="143" y="1"/>
                  </a:cubicBezTo>
                  <a:cubicBezTo>
                    <a:pt x="151" y="0"/>
                    <a:pt x="152" y="0"/>
                    <a:pt x="152" y="6"/>
                  </a:cubicBezTo>
                  <a:cubicBezTo>
                    <a:pt x="152" y="13"/>
                    <a:pt x="152" y="13"/>
                    <a:pt x="158" y="13"/>
                  </a:cubicBezTo>
                  <a:cubicBezTo>
                    <a:pt x="164" y="13"/>
                    <a:pt x="165" y="14"/>
                    <a:pt x="165" y="20"/>
                  </a:cubicBezTo>
                  <a:cubicBezTo>
                    <a:pt x="165" y="26"/>
                    <a:pt x="166" y="27"/>
                    <a:pt x="172" y="27"/>
                  </a:cubicBezTo>
                  <a:cubicBezTo>
                    <a:pt x="177" y="27"/>
                    <a:pt x="178" y="27"/>
                    <a:pt x="178" y="32"/>
                  </a:cubicBezTo>
                  <a:cubicBezTo>
                    <a:pt x="178" y="37"/>
                    <a:pt x="179" y="38"/>
                    <a:pt x="190" y="38"/>
                  </a:cubicBezTo>
                  <a:cubicBezTo>
                    <a:pt x="202" y="38"/>
                    <a:pt x="203" y="38"/>
                    <a:pt x="203" y="44"/>
                  </a:cubicBezTo>
                  <a:cubicBezTo>
                    <a:pt x="203" y="50"/>
                    <a:pt x="203" y="51"/>
                    <a:pt x="209" y="51"/>
                  </a:cubicBezTo>
                  <a:cubicBezTo>
                    <a:pt x="215" y="51"/>
                    <a:pt x="216" y="52"/>
                    <a:pt x="216" y="58"/>
                  </a:cubicBezTo>
                  <a:cubicBezTo>
                    <a:pt x="216" y="63"/>
                    <a:pt x="217" y="64"/>
                    <a:pt x="221" y="64"/>
                  </a:cubicBezTo>
                  <a:cubicBezTo>
                    <a:pt x="226" y="64"/>
                    <a:pt x="227" y="65"/>
                    <a:pt x="227" y="70"/>
                  </a:cubicBezTo>
                  <a:cubicBezTo>
                    <a:pt x="227" y="75"/>
                    <a:pt x="227" y="75"/>
                    <a:pt x="240" y="75"/>
                  </a:cubicBezTo>
                  <a:cubicBezTo>
                    <a:pt x="253" y="75"/>
                    <a:pt x="253" y="75"/>
                    <a:pt x="253" y="82"/>
                  </a:cubicBezTo>
                  <a:cubicBezTo>
                    <a:pt x="253" y="88"/>
                    <a:pt x="254" y="88"/>
                    <a:pt x="261" y="89"/>
                  </a:cubicBezTo>
                  <a:cubicBezTo>
                    <a:pt x="266" y="89"/>
                    <a:pt x="263" y="91"/>
                    <a:pt x="245" y="99"/>
                  </a:cubicBezTo>
                  <a:cubicBezTo>
                    <a:pt x="204" y="116"/>
                    <a:pt x="138" y="149"/>
                    <a:pt x="117" y="163"/>
                  </a:cubicBezTo>
                  <a:cubicBezTo>
                    <a:pt x="106" y="171"/>
                    <a:pt x="88" y="185"/>
                    <a:pt x="77" y="194"/>
                  </a:cubicBezTo>
                  <a:cubicBezTo>
                    <a:pt x="66" y="204"/>
                    <a:pt x="56" y="212"/>
                    <a:pt x="55" y="212"/>
                  </a:cubicBezTo>
                  <a:cubicBezTo>
                    <a:pt x="54" y="212"/>
                    <a:pt x="52" y="213"/>
                    <a:pt x="52" y="214"/>
                  </a:cubicBezTo>
                  <a:cubicBezTo>
                    <a:pt x="51" y="215"/>
                    <a:pt x="43" y="219"/>
                    <a:pt x="33" y="223"/>
                  </a:cubicBezTo>
                  <a:cubicBezTo>
                    <a:pt x="20" y="228"/>
                    <a:pt x="14" y="229"/>
                    <a:pt x="10" y="227"/>
                  </a:cubicBezTo>
                  <a:close/>
                  <a:moveTo>
                    <a:pt x="28" y="193"/>
                  </a:moveTo>
                  <a:cubicBezTo>
                    <a:pt x="28" y="189"/>
                    <a:pt x="27" y="188"/>
                    <a:pt x="22" y="188"/>
                  </a:cubicBezTo>
                  <a:cubicBezTo>
                    <a:pt x="18" y="188"/>
                    <a:pt x="17" y="189"/>
                    <a:pt x="17" y="193"/>
                  </a:cubicBezTo>
                  <a:cubicBezTo>
                    <a:pt x="17" y="198"/>
                    <a:pt x="18" y="199"/>
                    <a:pt x="22" y="199"/>
                  </a:cubicBezTo>
                  <a:cubicBezTo>
                    <a:pt x="27" y="199"/>
                    <a:pt x="28" y="198"/>
                    <a:pt x="28" y="193"/>
                  </a:cubicBezTo>
                  <a:close/>
                  <a:moveTo>
                    <a:pt x="141" y="94"/>
                  </a:moveTo>
                  <a:cubicBezTo>
                    <a:pt x="141" y="89"/>
                    <a:pt x="140" y="88"/>
                    <a:pt x="134" y="88"/>
                  </a:cubicBezTo>
                  <a:cubicBezTo>
                    <a:pt x="128" y="88"/>
                    <a:pt x="127" y="89"/>
                    <a:pt x="127" y="94"/>
                  </a:cubicBezTo>
                  <a:cubicBezTo>
                    <a:pt x="127" y="99"/>
                    <a:pt x="128" y="100"/>
                    <a:pt x="134" y="100"/>
                  </a:cubicBezTo>
                  <a:cubicBezTo>
                    <a:pt x="140" y="100"/>
                    <a:pt x="141" y="99"/>
                    <a:pt x="141" y="94"/>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83" name="Freeform 15"/>
            <p:cNvSpPr>
              <a:spLocks/>
            </p:cNvSpPr>
            <p:nvPr/>
          </p:nvSpPr>
          <p:spPr bwMode="auto">
            <a:xfrm>
              <a:off x="5192713" y="4157663"/>
              <a:ext cx="57150" cy="149225"/>
            </a:xfrm>
            <a:custGeom>
              <a:avLst/>
              <a:gdLst>
                <a:gd name="T0" fmla="*/ 0 w 154"/>
                <a:gd name="T1" fmla="*/ 398 h 398"/>
                <a:gd name="T2" fmla="*/ 1 w 154"/>
                <a:gd name="T3" fmla="*/ 333 h 398"/>
                <a:gd name="T4" fmla="*/ 46 w 154"/>
                <a:gd name="T5" fmla="*/ 203 h 398"/>
                <a:gd name="T6" fmla="*/ 73 w 154"/>
                <a:gd name="T7" fmla="*/ 102 h 398"/>
                <a:gd name="T8" fmla="*/ 108 w 154"/>
                <a:gd name="T9" fmla="*/ 16 h 398"/>
                <a:gd name="T10" fmla="*/ 137 w 154"/>
                <a:gd name="T11" fmla="*/ 0 h 398"/>
                <a:gd name="T12" fmla="*/ 154 w 154"/>
                <a:gd name="T13" fmla="*/ 95 h 398"/>
                <a:gd name="T14" fmla="*/ 82 w 154"/>
                <a:gd name="T15" fmla="*/ 276 h 398"/>
                <a:gd name="T16" fmla="*/ 38 w 154"/>
                <a:gd name="T17" fmla="*/ 350 h 398"/>
                <a:gd name="T18" fmla="*/ 0 w 154"/>
                <a:gd name="T19" fmla="*/ 39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398">
                  <a:moveTo>
                    <a:pt x="0" y="398"/>
                  </a:moveTo>
                  <a:lnTo>
                    <a:pt x="1" y="333"/>
                  </a:lnTo>
                  <a:lnTo>
                    <a:pt x="46" y="203"/>
                  </a:lnTo>
                  <a:lnTo>
                    <a:pt x="73" y="102"/>
                  </a:lnTo>
                  <a:lnTo>
                    <a:pt x="108" y="16"/>
                  </a:lnTo>
                  <a:lnTo>
                    <a:pt x="137" y="0"/>
                  </a:lnTo>
                  <a:lnTo>
                    <a:pt x="154" y="95"/>
                  </a:lnTo>
                  <a:lnTo>
                    <a:pt x="82" y="276"/>
                  </a:lnTo>
                  <a:lnTo>
                    <a:pt x="38" y="350"/>
                  </a:lnTo>
                  <a:lnTo>
                    <a:pt x="0" y="398"/>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84" name="Freeform 16"/>
            <p:cNvSpPr>
              <a:spLocks/>
            </p:cNvSpPr>
            <p:nvPr/>
          </p:nvSpPr>
          <p:spPr bwMode="auto">
            <a:xfrm>
              <a:off x="4908550" y="4219575"/>
              <a:ext cx="280988" cy="111125"/>
            </a:xfrm>
            <a:custGeom>
              <a:avLst/>
              <a:gdLst>
                <a:gd name="T0" fmla="*/ 751 w 751"/>
                <a:gd name="T1" fmla="*/ 278 h 296"/>
                <a:gd name="T2" fmla="*/ 137 w 751"/>
                <a:gd name="T3" fmla="*/ 0 h 296"/>
                <a:gd name="T4" fmla="*/ 0 w 751"/>
                <a:gd name="T5" fmla="*/ 296 h 296"/>
                <a:gd name="T6" fmla="*/ 751 w 751"/>
                <a:gd name="T7" fmla="*/ 278 h 296"/>
              </a:gdLst>
              <a:ahLst/>
              <a:cxnLst>
                <a:cxn ang="0">
                  <a:pos x="T0" y="T1"/>
                </a:cxn>
                <a:cxn ang="0">
                  <a:pos x="T2" y="T3"/>
                </a:cxn>
                <a:cxn ang="0">
                  <a:pos x="T4" y="T5"/>
                </a:cxn>
                <a:cxn ang="0">
                  <a:pos x="T6" y="T7"/>
                </a:cxn>
              </a:cxnLst>
              <a:rect l="0" t="0" r="r" b="b"/>
              <a:pathLst>
                <a:path w="751" h="296">
                  <a:moveTo>
                    <a:pt x="751" y="278"/>
                  </a:moveTo>
                  <a:lnTo>
                    <a:pt x="137" y="0"/>
                  </a:lnTo>
                  <a:lnTo>
                    <a:pt x="0" y="296"/>
                  </a:lnTo>
                  <a:lnTo>
                    <a:pt x="751" y="278"/>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85" name="Freeform 17"/>
            <p:cNvSpPr>
              <a:spLocks/>
            </p:cNvSpPr>
            <p:nvPr/>
          </p:nvSpPr>
          <p:spPr bwMode="auto">
            <a:xfrm>
              <a:off x="4859338" y="4230688"/>
              <a:ext cx="334963" cy="93663"/>
            </a:xfrm>
            <a:custGeom>
              <a:avLst/>
              <a:gdLst>
                <a:gd name="T0" fmla="*/ 894 w 898"/>
                <a:gd name="T1" fmla="*/ 221 h 251"/>
                <a:gd name="T2" fmla="*/ 266 w 898"/>
                <a:gd name="T3" fmla="*/ 0 h 251"/>
                <a:gd name="T4" fmla="*/ 134 w 898"/>
                <a:gd name="T5" fmla="*/ 247 h 251"/>
                <a:gd name="T6" fmla="*/ 894 w 898"/>
                <a:gd name="T7" fmla="*/ 221 h 251"/>
              </a:gdLst>
              <a:ahLst/>
              <a:cxnLst>
                <a:cxn ang="0">
                  <a:pos x="T0" y="T1"/>
                </a:cxn>
                <a:cxn ang="0">
                  <a:pos x="T2" y="T3"/>
                </a:cxn>
                <a:cxn ang="0">
                  <a:pos x="T4" y="T5"/>
                </a:cxn>
                <a:cxn ang="0">
                  <a:pos x="T6" y="T7"/>
                </a:cxn>
              </a:cxnLst>
              <a:rect l="0" t="0" r="r" b="b"/>
              <a:pathLst>
                <a:path w="898" h="251">
                  <a:moveTo>
                    <a:pt x="894" y="221"/>
                  </a:moveTo>
                  <a:cubicBezTo>
                    <a:pt x="898" y="251"/>
                    <a:pt x="266" y="0"/>
                    <a:pt x="266" y="0"/>
                  </a:cubicBezTo>
                  <a:cubicBezTo>
                    <a:pt x="0" y="41"/>
                    <a:pt x="97" y="150"/>
                    <a:pt x="134" y="247"/>
                  </a:cubicBezTo>
                  <a:lnTo>
                    <a:pt x="894" y="221"/>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86" name="Freeform 18"/>
            <p:cNvSpPr>
              <a:spLocks/>
            </p:cNvSpPr>
            <p:nvPr/>
          </p:nvSpPr>
          <p:spPr bwMode="auto">
            <a:xfrm>
              <a:off x="5102225" y="4124325"/>
              <a:ext cx="98425" cy="117475"/>
            </a:xfrm>
            <a:custGeom>
              <a:avLst/>
              <a:gdLst>
                <a:gd name="T0" fmla="*/ 9 w 265"/>
                <a:gd name="T1" fmla="*/ 0 h 314"/>
                <a:gd name="T2" fmla="*/ 265 w 265"/>
                <a:gd name="T3" fmla="*/ 163 h 314"/>
                <a:gd name="T4" fmla="*/ 0 w 265"/>
                <a:gd name="T5" fmla="*/ 314 h 314"/>
              </a:gdLst>
              <a:ahLst/>
              <a:cxnLst>
                <a:cxn ang="0">
                  <a:pos x="T0" y="T1"/>
                </a:cxn>
                <a:cxn ang="0">
                  <a:pos x="T2" y="T3"/>
                </a:cxn>
                <a:cxn ang="0">
                  <a:pos x="T4" y="T5"/>
                </a:cxn>
              </a:cxnLst>
              <a:rect l="0" t="0" r="r" b="b"/>
              <a:pathLst>
                <a:path w="265" h="314">
                  <a:moveTo>
                    <a:pt x="9" y="0"/>
                  </a:moveTo>
                  <a:cubicBezTo>
                    <a:pt x="40" y="305"/>
                    <a:pt x="265" y="163"/>
                    <a:pt x="265" y="163"/>
                  </a:cubicBezTo>
                  <a:lnTo>
                    <a:pt x="0" y="314"/>
                  </a:lnTo>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87" name="Freeform 23"/>
            <p:cNvSpPr>
              <a:spLocks/>
            </p:cNvSpPr>
            <p:nvPr/>
          </p:nvSpPr>
          <p:spPr bwMode="auto">
            <a:xfrm>
              <a:off x="4903788" y="4159250"/>
              <a:ext cx="349250" cy="163513"/>
            </a:xfrm>
            <a:custGeom>
              <a:avLst/>
              <a:gdLst>
                <a:gd name="T0" fmla="*/ 746 w 932"/>
                <a:gd name="T1" fmla="*/ 384 h 437"/>
                <a:gd name="T2" fmla="*/ 145 w 932"/>
                <a:gd name="T3" fmla="*/ 150 h 437"/>
                <a:gd name="T4" fmla="*/ 0 w 932"/>
                <a:gd name="T5" fmla="*/ 437 h 437"/>
                <a:gd name="T6" fmla="*/ 742 w 932"/>
                <a:gd name="T7" fmla="*/ 433 h 437"/>
                <a:gd name="T8" fmla="*/ 932 w 932"/>
                <a:gd name="T9" fmla="*/ 0 h 437"/>
                <a:gd name="T10" fmla="*/ 875 w 932"/>
                <a:gd name="T11" fmla="*/ 0 h 437"/>
                <a:gd name="T12" fmla="*/ 746 w 932"/>
                <a:gd name="T13" fmla="*/ 384 h 437"/>
              </a:gdLst>
              <a:ahLst/>
              <a:cxnLst>
                <a:cxn ang="0">
                  <a:pos x="T0" y="T1"/>
                </a:cxn>
                <a:cxn ang="0">
                  <a:pos x="T2" y="T3"/>
                </a:cxn>
                <a:cxn ang="0">
                  <a:pos x="T4" y="T5"/>
                </a:cxn>
                <a:cxn ang="0">
                  <a:pos x="T6" y="T7"/>
                </a:cxn>
                <a:cxn ang="0">
                  <a:pos x="T8" y="T9"/>
                </a:cxn>
                <a:cxn ang="0">
                  <a:pos x="T10" y="T11"/>
                </a:cxn>
                <a:cxn ang="0">
                  <a:pos x="T12" y="T13"/>
                </a:cxn>
              </a:cxnLst>
              <a:rect l="0" t="0" r="r" b="b"/>
              <a:pathLst>
                <a:path w="932" h="437">
                  <a:moveTo>
                    <a:pt x="746" y="384"/>
                  </a:moveTo>
                  <a:lnTo>
                    <a:pt x="145" y="150"/>
                  </a:lnTo>
                  <a:lnTo>
                    <a:pt x="0" y="437"/>
                  </a:lnTo>
                  <a:lnTo>
                    <a:pt x="742" y="433"/>
                  </a:lnTo>
                  <a:lnTo>
                    <a:pt x="932" y="0"/>
                  </a:lnTo>
                  <a:lnTo>
                    <a:pt x="875" y="0"/>
                  </a:lnTo>
                  <a:lnTo>
                    <a:pt x="746" y="384"/>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88" name="Freeform 24"/>
            <p:cNvSpPr>
              <a:spLocks noEditPoints="1"/>
            </p:cNvSpPr>
            <p:nvPr/>
          </p:nvSpPr>
          <p:spPr bwMode="auto">
            <a:xfrm>
              <a:off x="4892675" y="4146550"/>
              <a:ext cx="363538" cy="187325"/>
            </a:xfrm>
            <a:custGeom>
              <a:avLst/>
              <a:gdLst>
                <a:gd name="T0" fmla="*/ 929 w 973"/>
                <a:gd name="T1" fmla="*/ 14 h 501"/>
                <a:gd name="T2" fmla="*/ 916 w 973"/>
                <a:gd name="T3" fmla="*/ 14 h 501"/>
                <a:gd name="T4" fmla="*/ 897 w 973"/>
                <a:gd name="T5" fmla="*/ 76 h 501"/>
                <a:gd name="T6" fmla="*/ 871 w 973"/>
                <a:gd name="T7" fmla="*/ 134 h 501"/>
                <a:gd name="T8" fmla="*/ 860 w 973"/>
                <a:gd name="T9" fmla="*/ 165 h 501"/>
                <a:gd name="T10" fmla="*/ 845 w 973"/>
                <a:gd name="T11" fmla="*/ 200 h 501"/>
                <a:gd name="T12" fmla="*/ 839 w 973"/>
                <a:gd name="T13" fmla="*/ 214 h 501"/>
                <a:gd name="T14" fmla="*/ 772 w 973"/>
                <a:gd name="T15" fmla="*/ 417 h 501"/>
                <a:gd name="T16" fmla="*/ 190 w 973"/>
                <a:gd name="T17" fmla="*/ 188 h 501"/>
                <a:gd name="T18" fmla="*/ 173 w 973"/>
                <a:gd name="T19" fmla="*/ 190 h 501"/>
                <a:gd name="T20" fmla="*/ 162 w 973"/>
                <a:gd name="T21" fmla="*/ 195 h 501"/>
                <a:gd name="T22" fmla="*/ 43 w 973"/>
                <a:gd name="T23" fmla="*/ 302 h 501"/>
                <a:gd name="T24" fmla="*/ 9 w 973"/>
                <a:gd name="T25" fmla="*/ 471 h 501"/>
                <a:gd name="T26" fmla="*/ 21 w 973"/>
                <a:gd name="T27" fmla="*/ 490 h 501"/>
                <a:gd name="T28" fmla="*/ 38 w 973"/>
                <a:gd name="T29" fmla="*/ 497 h 501"/>
                <a:gd name="T30" fmla="*/ 72 w 973"/>
                <a:gd name="T31" fmla="*/ 497 h 501"/>
                <a:gd name="T32" fmla="*/ 769 w 973"/>
                <a:gd name="T33" fmla="*/ 496 h 501"/>
                <a:gd name="T34" fmla="*/ 776 w 973"/>
                <a:gd name="T35" fmla="*/ 500 h 501"/>
                <a:gd name="T36" fmla="*/ 784 w 973"/>
                <a:gd name="T37" fmla="*/ 498 h 501"/>
                <a:gd name="T38" fmla="*/ 819 w 973"/>
                <a:gd name="T39" fmla="*/ 484 h 501"/>
                <a:gd name="T40" fmla="*/ 826 w 973"/>
                <a:gd name="T41" fmla="*/ 482 h 501"/>
                <a:gd name="T42" fmla="*/ 830 w 973"/>
                <a:gd name="T43" fmla="*/ 475 h 501"/>
                <a:gd name="T44" fmla="*/ 929 w 973"/>
                <a:gd name="T45" fmla="*/ 232 h 501"/>
                <a:gd name="T46" fmla="*/ 973 w 973"/>
                <a:gd name="T47" fmla="*/ 56 h 501"/>
                <a:gd name="T48" fmla="*/ 973 w 973"/>
                <a:gd name="T49" fmla="*/ 50 h 501"/>
                <a:gd name="T50" fmla="*/ 969 w 973"/>
                <a:gd name="T51" fmla="*/ 45 h 501"/>
                <a:gd name="T52" fmla="*/ 944 w 973"/>
                <a:gd name="T53" fmla="*/ 19 h 501"/>
                <a:gd name="T54" fmla="*/ 929 w 973"/>
                <a:gd name="T55" fmla="*/ 14 h 501"/>
                <a:gd name="T56" fmla="*/ 925 w 973"/>
                <a:gd name="T57" fmla="*/ 52 h 501"/>
                <a:gd name="T58" fmla="*/ 934 w 973"/>
                <a:gd name="T59" fmla="*/ 62 h 501"/>
                <a:gd name="T60" fmla="*/ 894 w 973"/>
                <a:gd name="T61" fmla="*/ 219 h 501"/>
                <a:gd name="T62" fmla="*/ 808 w 973"/>
                <a:gd name="T63" fmla="*/ 404 h 501"/>
                <a:gd name="T64" fmla="*/ 914 w 973"/>
                <a:gd name="T65" fmla="*/ 64 h 501"/>
                <a:gd name="T66" fmla="*/ 925 w 973"/>
                <a:gd name="T67" fmla="*/ 52 h 501"/>
                <a:gd name="T68" fmla="*/ 195 w 973"/>
                <a:gd name="T69" fmla="*/ 229 h 501"/>
                <a:gd name="T70" fmla="*/ 781 w 973"/>
                <a:gd name="T71" fmla="*/ 460 h 501"/>
                <a:gd name="T72" fmla="*/ 62 w 973"/>
                <a:gd name="T73" fmla="*/ 461 h 501"/>
                <a:gd name="T74" fmla="*/ 48 w 973"/>
                <a:gd name="T75" fmla="*/ 457 h 501"/>
                <a:gd name="T76" fmla="*/ 46 w 973"/>
                <a:gd name="T77" fmla="*/ 443 h 501"/>
                <a:gd name="T78" fmla="*/ 76 w 973"/>
                <a:gd name="T79" fmla="*/ 325 h 501"/>
                <a:gd name="T80" fmla="*/ 180 w 973"/>
                <a:gd name="T81" fmla="*/ 232 h 501"/>
                <a:gd name="T82" fmla="*/ 195 w 973"/>
                <a:gd name="T83" fmla="*/ 22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3" h="501">
                  <a:moveTo>
                    <a:pt x="929" y="14"/>
                  </a:moveTo>
                  <a:cubicBezTo>
                    <a:pt x="923" y="13"/>
                    <a:pt x="921" y="13"/>
                    <a:pt x="916" y="14"/>
                  </a:cubicBezTo>
                  <a:cubicBezTo>
                    <a:pt x="919" y="0"/>
                    <a:pt x="909" y="36"/>
                    <a:pt x="897" y="76"/>
                  </a:cubicBezTo>
                  <a:cubicBezTo>
                    <a:pt x="890" y="92"/>
                    <a:pt x="888" y="94"/>
                    <a:pt x="871" y="134"/>
                  </a:cubicBezTo>
                  <a:cubicBezTo>
                    <a:pt x="871" y="136"/>
                    <a:pt x="868" y="147"/>
                    <a:pt x="860" y="165"/>
                  </a:cubicBezTo>
                  <a:cubicBezTo>
                    <a:pt x="853" y="182"/>
                    <a:pt x="853" y="182"/>
                    <a:pt x="845" y="200"/>
                  </a:cubicBezTo>
                  <a:cubicBezTo>
                    <a:pt x="843" y="206"/>
                    <a:pt x="841" y="208"/>
                    <a:pt x="839" y="214"/>
                  </a:cubicBezTo>
                  <a:cubicBezTo>
                    <a:pt x="815" y="271"/>
                    <a:pt x="799" y="355"/>
                    <a:pt x="772" y="417"/>
                  </a:cubicBezTo>
                  <a:cubicBezTo>
                    <a:pt x="550" y="244"/>
                    <a:pt x="299" y="174"/>
                    <a:pt x="190" y="188"/>
                  </a:cubicBezTo>
                  <a:lnTo>
                    <a:pt x="173" y="190"/>
                  </a:lnTo>
                  <a:lnTo>
                    <a:pt x="162" y="195"/>
                  </a:lnTo>
                  <a:cubicBezTo>
                    <a:pt x="98" y="236"/>
                    <a:pt x="72" y="257"/>
                    <a:pt x="43" y="302"/>
                  </a:cubicBezTo>
                  <a:cubicBezTo>
                    <a:pt x="13" y="347"/>
                    <a:pt x="0" y="415"/>
                    <a:pt x="9" y="471"/>
                  </a:cubicBezTo>
                  <a:cubicBezTo>
                    <a:pt x="10" y="480"/>
                    <a:pt x="16" y="486"/>
                    <a:pt x="21" y="490"/>
                  </a:cubicBezTo>
                  <a:cubicBezTo>
                    <a:pt x="27" y="494"/>
                    <a:pt x="32" y="496"/>
                    <a:pt x="38" y="497"/>
                  </a:cubicBezTo>
                  <a:cubicBezTo>
                    <a:pt x="49" y="500"/>
                    <a:pt x="60" y="501"/>
                    <a:pt x="72" y="497"/>
                  </a:cubicBezTo>
                  <a:cubicBezTo>
                    <a:pt x="451" y="389"/>
                    <a:pt x="636" y="424"/>
                    <a:pt x="769" y="496"/>
                  </a:cubicBezTo>
                  <a:lnTo>
                    <a:pt x="776" y="500"/>
                  </a:lnTo>
                  <a:lnTo>
                    <a:pt x="784" y="498"/>
                  </a:lnTo>
                  <a:lnTo>
                    <a:pt x="819" y="484"/>
                  </a:lnTo>
                  <a:lnTo>
                    <a:pt x="826" y="482"/>
                  </a:lnTo>
                  <a:lnTo>
                    <a:pt x="830" y="475"/>
                  </a:lnTo>
                  <a:cubicBezTo>
                    <a:pt x="844" y="404"/>
                    <a:pt x="903" y="304"/>
                    <a:pt x="929" y="232"/>
                  </a:cubicBezTo>
                  <a:cubicBezTo>
                    <a:pt x="955" y="160"/>
                    <a:pt x="971" y="101"/>
                    <a:pt x="973" y="56"/>
                  </a:cubicBezTo>
                  <a:lnTo>
                    <a:pt x="973" y="50"/>
                  </a:lnTo>
                  <a:lnTo>
                    <a:pt x="969" y="45"/>
                  </a:lnTo>
                  <a:cubicBezTo>
                    <a:pt x="961" y="33"/>
                    <a:pt x="953" y="25"/>
                    <a:pt x="944" y="19"/>
                  </a:cubicBezTo>
                  <a:cubicBezTo>
                    <a:pt x="939" y="16"/>
                    <a:pt x="934" y="15"/>
                    <a:pt x="929" y="14"/>
                  </a:cubicBezTo>
                  <a:close/>
                  <a:moveTo>
                    <a:pt x="925" y="52"/>
                  </a:moveTo>
                  <a:cubicBezTo>
                    <a:pt x="926" y="52"/>
                    <a:pt x="930" y="58"/>
                    <a:pt x="934" y="62"/>
                  </a:cubicBezTo>
                  <a:cubicBezTo>
                    <a:pt x="932" y="98"/>
                    <a:pt x="918" y="152"/>
                    <a:pt x="894" y="219"/>
                  </a:cubicBezTo>
                  <a:cubicBezTo>
                    <a:pt x="875" y="271"/>
                    <a:pt x="835" y="342"/>
                    <a:pt x="808" y="404"/>
                  </a:cubicBezTo>
                  <a:cubicBezTo>
                    <a:pt x="884" y="192"/>
                    <a:pt x="903" y="119"/>
                    <a:pt x="914" y="64"/>
                  </a:cubicBezTo>
                  <a:cubicBezTo>
                    <a:pt x="920" y="58"/>
                    <a:pt x="925" y="52"/>
                    <a:pt x="925" y="52"/>
                  </a:cubicBezTo>
                  <a:close/>
                  <a:moveTo>
                    <a:pt x="195" y="229"/>
                  </a:moveTo>
                  <a:cubicBezTo>
                    <a:pt x="449" y="256"/>
                    <a:pt x="675" y="359"/>
                    <a:pt x="781" y="460"/>
                  </a:cubicBezTo>
                  <a:cubicBezTo>
                    <a:pt x="641" y="391"/>
                    <a:pt x="287" y="369"/>
                    <a:pt x="62" y="461"/>
                  </a:cubicBezTo>
                  <a:cubicBezTo>
                    <a:pt x="59" y="462"/>
                    <a:pt x="53" y="458"/>
                    <a:pt x="48" y="457"/>
                  </a:cubicBezTo>
                  <a:cubicBezTo>
                    <a:pt x="47" y="452"/>
                    <a:pt x="46" y="443"/>
                    <a:pt x="46" y="443"/>
                  </a:cubicBezTo>
                  <a:cubicBezTo>
                    <a:pt x="40" y="397"/>
                    <a:pt x="52" y="362"/>
                    <a:pt x="76" y="325"/>
                  </a:cubicBezTo>
                  <a:cubicBezTo>
                    <a:pt x="100" y="288"/>
                    <a:pt x="122" y="269"/>
                    <a:pt x="180" y="232"/>
                  </a:cubicBezTo>
                  <a:lnTo>
                    <a:pt x="195" y="229"/>
                  </a:lnTo>
                  <a:close/>
                </a:path>
              </a:pathLst>
            </a:custGeom>
            <a:solidFill>
              <a:srgbClr val="6A8C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89" name="Freeform 25"/>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92" name="Freeform 26"/>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04" name="Freeform 27"/>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05" name="Freeform 28"/>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06" name="Freeform 29"/>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07" name="Freeform 30"/>
            <p:cNvSpPr>
              <a:spLocks noEditPoints="1"/>
            </p:cNvSpPr>
            <p:nvPr/>
          </p:nvSpPr>
          <p:spPr bwMode="auto">
            <a:xfrm>
              <a:off x="4862513" y="3951288"/>
              <a:ext cx="515938" cy="815975"/>
            </a:xfrm>
            <a:custGeom>
              <a:avLst/>
              <a:gdLst>
                <a:gd name="T0" fmla="*/ 376 w 1378"/>
                <a:gd name="T1" fmla="*/ 1494 h 2181"/>
                <a:gd name="T2" fmla="*/ 280 w 1378"/>
                <a:gd name="T3" fmla="*/ 1703 h 2181"/>
                <a:gd name="T4" fmla="*/ 53 w 1378"/>
                <a:gd name="T5" fmla="*/ 2056 h 2181"/>
                <a:gd name="T6" fmla="*/ 133 w 1378"/>
                <a:gd name="T7" fmla="*/ 1049 h 2181"/>
                <a:gd name="T8" fmla="*/ 100 w 1378"/>
                <a:gd name="T9" fmla="*/ 1009 h 2181"/>
                <a:gd name="T10" fmla="*/ 184 w 1378"/>
                <a:gd name="T11" fmla="*/ 759 h 2181"/>
                <a:gd name="T12" fmla="*/ 246 w 1378"/>
                <a:gd name="T13" fmla="*/ 691 h 2181"/>
                <a:gd name="T14" fmla="*/ 444 w 1378"/>
                <a:gd name="T15" fmla="*/ 90 h 2181"/>
                <a:gd name="T16" fmla="*/ 992 w 1378"/>
                <a:gd name="T17" fmla="*/ 337 h 2181"/>
                <a:gd name="T18" fmla="*/ 1004 w 1378"/>
                <a:gd name="T19" fmla="*/ 538 h 2181"/>
                <a:gd name="T20" fmla="*/ 1059 w 1378"/>
                <a:gd name="T21" fmla="*/ 509 h 2181"/>
                <a:gd name="T22" fmla="*/ 1347 w 1378"/>
                <a:gd name="T23" fmla="*/ 0 h 2181"/>
                <a:gd name="T24" fmla="*/ 1378 w 1378"/>
                <a:gd name="T25" fmla="*/ 9 h 2181"/>
                <a:gd name="T26" fmla="*/ 1202 w 1378"/>
                <a:gd name="T27" fmla="*/ 344 h 2181"/>
                <a:gd name="T28" fmla="*/ 1022 w 1378"/>
                <a:gd name="T29" fmla="*/ 709 h 2181"/>
                <a:gd name="T30" fmla="*/ 881 w 1378"/>
                <a:gd name="T31" fmla="*/ 1011 h 2181"/>
                <a:gd name="T32" fmla="*/ 581 w 1378"/>
                <a:gd name="T33" fmla="*/ 950 h 2181"/>
                <a:gd name="T34" fmla="*/ 143 w 1378"/>
                <a:gd name="T35" fmla="*/ 1112 h 2181"/>
                <a:gd name="T36" fmla="*/ 136 w 1378"/>
                <a:gd name="T37" fmla="*/ 2068 h 2181"/>
                <a:gd name="T38" fmla="*/ 281 w 1378"/>
                <a:gd name="T39" fmla="*/ 1522 h 2181"/>
                <a:gd name="T40" fmla="*/ 464 w 1378"/>
                <a:gd name="T41" fmla="*/ 2034 h 2181"/>
                <a:gd name="T42" fmla="*/ 431 w 1378"/>
                <a:gd name="T43" fmla="*/ 2181 h 2181"/>
                <a:gd name="T44" fmla="*/ 192 w 1378"/>
                <a:gd name="T45" fmla="*/ 959 h 2181"/>
                <a:gd name="T46" fmla="*/ 416 w 1378"/>
                <a:gd name="T47" fmla="*/ 830 h 2181"/>
                <a:gd name="T48" fmla="*/ 275 w 1378"/>
                <a:gd name="T49" fmla="*/ 751 h 2181"/>
                <a:gd name="T50" fmla="*/ 124 w 1378"/>
                <a:gd name="T51" fmla="*/ 969 h 2181"/>
                <a:gd name="T52" fmla="*/ 160 w 1378"/>
                <a:gd name="T53" fmla="*/ 977 h 2181"/>
                <a:gd name="T54" fmla="*/ 390 w 1378"/>
                <a:gd name="T55" fmla="*/ 768 h 2181"/>
                <a:gd name="T56" fmla="*/ 455 w 1378"/>
                <a:gd name="T57" fmla="*/ 822 h 2181"/>
                <a:gd name="T58" fmla="*/ 255 w 1378"/>
                <a:gd name="T59" fmla="*/ 947 h 2181"/>
                <a:gd name="T60" fmla="*/ 692 w 1378"/>
                <a:gd name="T61" fmla="*/ 933 h 2181"/>
                <a:gd name="T62" fmla="*/ 834 w 1378"/>
                <a:gd name="T63" fmla="*/ 965 h 2181"/>
                <a:gd name="T64" fmla="*/ 922 w 1378"/>
                <a:gd name="T65" fmla="*/ 740 h 2181"/>
                <a:gd name="T66" fmla="*/ 848 w 1378"/>
                <a:gd name="T67" fmla="*/ 769 h 2181"/>
                <a:gd name="T68" fmla="*/ 891 w 1378"/>
                <a:gd name="T69" fmla="*/ 202 h 2181"/>
                <a:gd name="T70" fmla="*/ 249 w 1378"/>
                <a:gd name="T71" fmla="*/ 540 h 2181"/>
                <a:gd name="T72" fmla="*/ 349 w 1378"/>
                <a:gd name="T73" fmla="*/ 713 h 2181"/>
                <a:gd name="T74" fmla="*/ 864 w 1378"/>
                <a:gd name="T75" fmla="*/ 911 h 2181"/>
                <a:gd name="T76" fmla="*/ 1003 w 1378"/>
                <a:gd name="T77" fmla="*/ 643 h 2181"/>
                <a:gd name="T78" fmla="*/ 963 w 1378"/>
                <a:gd name="T79" fmla="*/ 712 h 2181"/>
                <a:gd name="T80" fmla="*/ 929 w 1378"/>
                <a:gd name="T81" fmla="*/ 847 h 2181"/>
                <a:gd name="T82" fmla="*/ 997 w 1378"/>
                <a:gd name="T83" fmla="*/ 579 h 2181"/>
                <a:gd name="T84" fmla="*/ 993 w 1378"/>
                <a:gd name="T85" fmla="*/ 601 h 2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78" h="2181">
                  <a:moveTo>
                    <a:pt x="429" y="2044"/>
                  </a:moveTo>
                  <a:cubicBezTo>
                    <a:pt x="428" y="1893"/>
                    <a:pt x="424" y="1765"/>
                    <a:pt x="421" y="1714"/>
                  </a:cubicBezTo>
                  <a:cubicBezTo>
                    <a:pt x="413" y="1590"/>
                    <a:pt x="398" y="1516"/>
                    <a:pt x="376" y="1494"/>
                  </a:cubicBezTo>
                  <a:cubicBezTo>
                    <a:pt x="368" y="1486"/>
                    <a:pt x="357" y="1490"/>
                    <a:pt x="341" y="1506"/>
                  </a:cubicBezTo>
                  <a:cubicBezTo>
                    <a:pt x="327" y="1522"/>
                    <a:pt x="316" y="1542"/>
                    <a:pt x="306" y="1572"/>
                  </a:cubicBezTo>
                  <a:cubicBezTo>
                    <a:pt x="295" y="1602"/>
                    <a:pt x="290" y="1627"/>
                    <a:pt x="280" y="1703"/>
                  </a:cubicBezTo>
                  <a:cubicBezTo>
                    <a:pt x="245" y="1953"/>
                    <a:pt x="237" y="1993"/>
                    <a:pt x="215" y="2041"/>
                  </a:cubicBezTo>
                  <a:cubicBezTo>
                    <a:pt x="193" y="2087"/>
                    <a:pt x="172" y="2106"/>
                    <a:pt x="136" y="2110"/>
                  </a:cubicBezTo>
                  <a:cubicBezTo>
                    <a:pt x="99" y="2115"/>
                    <a:pt x="73" y="2097"/>
                    <a:pt x="53" y="2056"/>
                  </a:cubicBezTo>
                  <a:cubicBezTo>
                    <a:pt x="36" y="2020"/>
                    <a:pt x="27" y="1987"/>
                    <a:pt x="19" y="1936"/>
                  </a:cubicBezTo>
                  <a:cubicBezTo>
                    <a:pt x="8" y="1865"/>
                    <a:pt x="0" y="1711"/>
                    <a:pt x="2" y="1633"/>
                  </a:cubicBezTo>
                  <a:cubicBezTo>
                    <a:pt x="9" y="1417"/>
                    <a:pt x="55" y="1214"/>
                    <a:pt x="133" y="1049"/>
                  </a:cubicBezTo>
                  <a:cubicBezTo>
                    <a:pt x="141" y="1033"/>
                    <a:pt x="147" y="1020"/>
                    <a:pt x="147" y="1019"/>
                  </a:cubicBezTo>
                  <a:cubicBezTo>
                    <a:pt x="147" y="1019"/>
                    <a:pt x="144" y="1020"/>
                    <a:pt x="140" y="1020"/>
                  </a:cubicBezTo>
                  <a:cubicBezTo>
                    <a:pt x="127" y="1022"/>
                    <a:pt x="108" y="1016"/>
                    <a:pt x="100" y="1009"/>
                  </a:cubicBezTo>
                  <a:cubicBezTo>
                    <a:pt x="89" y="999"/>
                    <a:pt x="87" y="990"/>
                    <a:pt x="88" y="949"/>
                  </a:cubicBezTo>
                  <a:cubicBezTo>
                    <a:pt x="89" y="920"/>
                    <a:pt x="90" y="909"/>
                    <a:pt x="95" y="892"/>
                  </a:cubicBezTo>
                  <a:cubicBezTo>
                    <a:pt x="109" y="837"/>
                    <a:pt x="138" y="794"/>
                    <a:pt x="184" y="759"/>
                  </a:cubicBezTo>
                  <a:cubicBezTo>
                    <a:pt x="209" y="739"/>
                    <a:pt x="248" y="713"/>
                    <a:pt x="253" y="713"/>
                  </a:cubicBezTo>
                  <a:cubicBezTo>
                    <a:pt x="256" y="713"/>
                    <a:pt x="258" y="712"/>
                    <a:pt x="258" y="711"/>
                  </a:cubicBezTo>
                  <a:cubicBezTo>
                    <a:pt x="258" y="710"/>
                    <a:pt x="252" y="701"/>
                    <a:pt x="246" y="691"/>
                  </a:cubicBezTo>
                  <a:cubicBezTo>
                    <a:pt x="225" y="656"/>
                    <a:pt x="210" y="621"/>
                    <a:pt x="203" y="585"/>
                  </a:cubicBezTo>
                  <a:cubicBezTo>
                    <a:pt x="197" y="558"/>
                    <a:pt x="198" y="447"/>
                    <a:pt x="203" y="412"/>
                  </a:cubicBezTo>
                  <a:cubicBezTo>
                    <a:pt x="226" y="268"/>
                    <a:pt x="311" y="155"/>
                    <a:pt x="444" y="90"/>
                  </a:cubicBezTo>
                  <a:cubicBezTo>
                    <a:pt x="480" y="73"/>
                    <a:pt x="498" y="66"/>
                    <a:pt x="533" y="57"/>
                  </a:cubicBezTo>
                  <a:cubicBezTo>
                    <a:pt x="685" y="18"/>
                    <a:pt x="843" y="69"/>
                    <a:pt x="920" y="182"/>
                  </a:cubicBezTo>
                  <a:cubicBezTo>
                    <a:pt x="951" y="229"/>
                    <a:pt x="980" y="289"/>
                    <a:pt x="992" y="337"/>
                  </a:cubicBezTo>
                  <a:cubicBezTo>
                    <a:pt x="1002" y="376"/>
                    <a:pt x="1003" y="389"/>
                    <a:pt x="1003" y="438"/>
                  </a:cubicBezTo>
                  <a:cubicBezTo>
                    <a:pt x="1003" y="481"/>
                    <a:pt x="1001" y="499"/>
                    <a:pt x="994" y="532"/>
                  </a:cubicBezTo>
                  <a:cubicBezTo>
                    <a:pt x="993" y="537"/>
                    <a:pt x="994" y="538"/>
                    <a:pt x="1004" y="538"/>
                  </a:cubicBezTo>
                  <a:cubicBezTo>
                    <a:pt x="1012" y="538"/>
                    <a:pt x="1018" y="540"/>
                    <a:pt x="1022" y="543"/>
                  </a:cubicBezTo>
                  <a:cubicBezTo>
                    <a:pt x="1026" y="545"/>
                    <a:pt x="1030" y="548"/>
                    <a:pt x="1031" y="548"/>
                  </a:cubicBezTo>
                  <a:cubicBezTo>
                    <a:pt x="1032" y="548"/>
                    <a:pt x="1045" y="530"/>
                    <a:pt x="1059" y="509"/>
                  </a:cubicBezTo>
                  <a:cubicBezTo>
                    <a:pt x="1127" y="411"/>
                    <a:pt x="1152" y="367"/>
                    <a:pt x="1234" y="203"/>
                  </a:cubicBezTo>
                  <a:cubicBezTo>
                    <a:pt x="1295" y="80"/>
                    <a:pt x="1309" y="55"/>
                    <a:pt x="1333" y="20"/>
                  </a:cubicBezTo>
                  <a:lnTo>
                    <a:pt x="1347" y="0"/>
                  </a:lnTo>
                  <a:lnTo>
                    <a:pt x="1363" y="0"/>
                  </a:lnTo>
                  <a:lnTo>
                    <a:pt x="1378" y="0"/>
                  </a:lnTo>
                  <a:lnTo>
                    <a:pt x="1378" y="9"/>
                  </a:lnTo>
                  <a:cubicBezTo>
                    <a:pt x="1378" y="16"/>
                    <a:pt x="1376" y="21"/>
                    <a:pt x="1364" y="38"/>
                  </a:cubicBezTo>
                  <a:cubicBezTo>
                    <a:pt x="1342" y="68"/>
                    <a:pt x="1320" y="107"/>
                    <a:pt x="1270" y="209"/>
                  </a:cubicBezTo>
                  <a:cubicBezTo>
                    <a:pt x="1245" y="260"/>
                    <a:pt x="1214" y="321"/>
                    <a:pt x="1202" y="344"/>
                  </a:cubicBezTo>
                  <a:cubicBezTo>
                    <a:pt x="1164" y="415"/>
                    <a:pt x="1111" y="499"/>
                    <a:pt x="1068" y="556"/>
                  </a:cubicBezTo>
                  <a:cubicBezTo>
                    <a:pt x="1052" y="579"/>
                    <a:pt x="1051" y="580"/>
                    <a:pt x="1049" y="598"/>
                  </a:cubicBezTo>
                  <a:cubicBezTo>
                    <a:pt x="1045" y="628"/>
                    <a:pt x="1036" y="666"/>
                    <a:pt x="1022" y="709"/>
                  </a:cubicBezTo>
                  <a:cubicBezTo>
                    <a:pt x="1005" y="761"/>
                    <a:pt x="997" y="780"/>
                    <a:pt x="966" y="848"/>
                  </a:cubicBezTo>
                  <a:cubicBezTo>
                    <a:pt x="935" y="916"/>
                    <a:pt x="923" y="944"/>
                    <a:pt x="915" y="971"/>
                  </a:cubicBezTo>
                  <a:cubicBezTo>
                    <a:pt x="905" y="1004"/>
                    <a:pt x="907" y="1001"/>
                    <a:pt x="881" y="1011"/>
                  </a:cubicBezTo>
                  <a:cubicBezTo>
                    <a:pt x="869" y="1016"/>
                    <a:pt x="857" y="1020"/>
                    <a:pt x="856" y="1020"/>
                  </a:cubicBezTo>
                  <a:cubicBezTo>
                    <a:pt x="855" y="1020"/>
                    <a:pt x="845" y="1016"/>
                    <a:pt x="835" y="1011"/>
                  </a:cubicBezTo>
                  <a:cubicBezTo>
                    <a:pt x="755" y="971"/>
                    <a:pt x="681" y="953"/>
                    <a:pt x="581" y="950"/>
                  </a:cubicBezTo>
                  <a:cubicBezTo>
                    <a:pt x="475" y="947"/>
                    <a:pt x="352" y="965"/>
                    <a:pt x="206" y="1003"/>
                  </a:cubicBezTo>
                  <a:cubicBezTo>
                    <a:pt x="199" y="1005"/>
                    <a:pt x="196" y="1008"/>
                    <a:pt x="188" y="1021"/>
                  </a:cubicBezTo>
                  <a:cubicBezTo>
                    <a:pt x="177" y="1038"/>
                    <a:pt x="159" y="1074"/>
                    <a:pt x="143" y="1112"/>
                  </a:cubicBezTo>
                  <a:cubicBezTo>
                    <a:pt x="61" y="1312"/>
                    <a:pt x="25" y="1549"/>
                    <a:pt x="41" y="1783"/>
                  </a:cubicBezTo>
                  <a:cubicBezTo>
                    <a:pt x="49" y="1900"/>
                    <a:pt x="73" y="2004"/>
                    <a:pt x="101" y="2046"/>
                  </a:cubicBezTo>
                  <a:cubicBezTo>
                    <a:pt x="109" y="2058"/>
                    <a:pt x="125" y="2068"/>
                    <a:pt x="136" y="2068"/>
                  </a:cubicBezTo>
                  <a:cubicBezTo>
                    <a:pt x="155" y="2068"/>
                    <a:pt x="174" y="2049"/>
                    <a:pt x="187" y="2016"/>
                  </a:cubicBezTo>
                  <a:cubicBezTo>
                    <a:pt x="207" y="1965"/>
                    <a:pt x="215" y="1916"/>
                    <a:pt x="236" y="1734"/>
                  </a:cubicBezTo>
                  <a:cubicBezTo>
                    <a:pt x="250" y="1610"/>
                    <a:pt x="258" y="1570"/>
                    <a:pt x="281" y="1522"/>
                  </a:cubicBezTo>
                  <a:cubicBezTo>
                    <a:pt x="298" y="1487"/>
                    <a:pt x="324" y="1467"/>
                    <a:pt x="357" y="1460"/>
                  </a:cubicBezTo>
                  <a:cubicBezTo>
                    <a:pt x="393" y="1453"/>
                    <a:pt x="416" y="1475"/>
                    <a:pt x="432" y="1531"/>
                  </a:cubicBezTo>
                  <a:cubicBezTo>
                    <a:pt x="454" y="1611"/>
                    <a:pt x="461" y="1719"/>
                    <a:pt x="464" y="2034"/>
                  </a:cubicBezTo>
                  <a:lnTo>
                    <a:pt x="466" y="2181"/>
                  </a:lnTo>
                  <a:lnTo>
                    <a:pt x="448" y="2181"/>
                  </a:lnTo>
                  <a:lnTo>
                    <a:pt x="431" y="2181"/>
                  </a:lnTo>
                  <a:lnTo>
                    <a:pt x="429" y="2044"/>
                  </a:lnTo>
                  <a:close/>
                  <a:moveTo>
                    <a:pt x="160" y="977"/>
                  </a:moveTo>
                  <a:cubicBezTo>
                    <a:pt x="177" y="971"/>
                    <a:pt x="184" y="967"/>
                    <a:pt x="192" y="959"/>
                  </a:cubicBezTo>
                  <a:cubicBezTo>
                    <a:pt x="210" y="942"/>
                    <a:pt x="226" y="929"/>
                    <a:pt x="245" y="917"/>
                  </a:cubicBezTo>
                  <a:cubicBezTo>
                    <a:pt x="267" y="903"/>
                    <a:pt x="333" y="870"/>
                    <a:pt x="380" y="849"/>
                  </a:cubicBezTo>
                  <a:cubicBezTo>
                    <a:pt x="416" y="834"/>
                    <a:pt x="423" y="830"/>
                    <a:pt x="416" y="830"/>
                  </a:cubicBezTo>
                  <a:cubicBezTo>
                    <a:pt x="409" y="830"/>
                    <a:pt x="374" y="817"/>
                    <a:pt x="358" y="809"/>
                  </a:cubicBezTo>
                  <a:cubicBezTo>
                    <a:pt x="337" y="797"/>
                    <a:pt x="320" y="784"/>
                    <a:pt x="302" y="766"/>
                  </a:cubicBezTo>
                  <a:cubicBezTo>
                    <a:pt x="288" y="751"/>
                    <a:pt x="288" y="751"/>
                    <a:pt x="275" y="751"/>
                  </a:cubicBezTo>
                  <a:cubicBezTo>
                    <a:pt x="269" y="751"/>
                    <a:pt x="261" y="752"/>
                    <a:pt x="257" y="754"/>
                  </a:cubicBezTo>
                  <a:cubicBezTo>
                    <a:pt x="242" y="761"/>
                    <a:pt x="208" y="787"/>
                    <a:pt x="188" y="807"/>
                  </a:cubicBezTo>
                  <a:cubicBezTo>
                    <a:pt x="137" y="857"/>
                    <a:pt x="117" y="909"/>
                    <a:pt x="124" y="969"/>
                  </a:cubicBezTo>
                  <a:cubicBezTo>
                    <a:pt x="125" y="979"/>
                    <a:pt x="126" y="980"/>
                    <a:pt x="133" y="982"/>
                  </a:cubicBezTo>
                  <a:cubicBezTo>
                    <a:pt x="136" y="984"/>
                    <a:pt x="139" y="985"/>
                    <a:pt x="139" y="985"/>
                  </a:cubicBezTo>
                  <a:cubicBezTo>
                    <a:pt x="139" y="985"/>
                    <a:pt x="149" y="982"/>
                    <a:pt x="160" y="977"/>
                  </a:cubicBezTo>
                  <a:close/>
                  <a:moveTo>
                    <a:pt x="834" y="965"/>
                  </a:moveTo>
                  <a:cubicBezTo>
                    <a:pt x="828" y="958"/>
                    <a:pt x="811" y="945"/>
                    <a:pt x="798" y="935"/>
                  </a:cubicBezTo>
                  <a:cubicBezTo>
                    <a:pt x="694" y="859"/>
                    <a:pt x="546" y="798"/>
                    <a:pt x="390" y="768"/>
                  </a:cubicBezTo>
                  <a:cubicBezTo>
                    <a:pt x="375" y="765"/>
                    <a:pt x="364" y="763"/>
                    <a:pt x="365" y="764"/>
                  </a:cubicBezTo>
                  <a:cubicBezTo>
                    <a:pt x="371" y="769"/>
                    <a:pt x="400" y="788"/>
                    <a:pt x="426" y="804"/>
                  </a:cubicBezTo>
                  <a:lnTo>
                    <a:pt x="455" y="822"/>
                  </a:lnTo>
                  <a:lnTo>
                    <a:pt x="480" y="821"/>
                  </a:lnTo>
                  <a:cubicBezTo>
                    <a:pt x="509" y="819"/>
                    <a:pt x="512" y="817"/>
                    <a:pt x="441" y="849"/>
                  </a:cubicBezTo>
                  <a:cubicBezTo>
                    <a:pt x="347" y="892"/>
                    <a:pt x="261" y="937"/>
                    <a:pt x="255" y="947"/>
                  </a:cubicBezTo>
                  <a:cubicBezTo>
                    <a:pt x="254" y="948"/>
                    <a:pt x="269" y="946"/>
                    <a:pt x="289" y="942"/>
                  </a:cubicBezTo>
                  <a:cubicBezTo>
                    <a:pt x="368" y="926"/>
                    <a:pt x="442" y="920"/>
                    <a:pt x="541" y="922"/>
                  </a:cubicBezTo>
                  <a:cubicBezTo>
                    <a:pt x="610" y="923"/>
                    <a:pt x="638" y="925"/>
                    <a:pt x="692" y="933"/>
                  </a:cubicBezTo>
                  <a:cubicBezTo>
                    <a:pt x="740" y="941"/>
                    <a:pt x="800" y="957"/>
                    <a:pt x="830" y="971"/>
                  </a:cubicBezTo>
                  <a:cubicBezTo>
                    <a:pt x="837" y="974"/>
                    <a:pt x="843" y="976"/>
                    <a:pt x="844" y="976"/>
                  </a:cubicBezTo>
                  <a:cubicBezTo>
                    <a:pt x="846" y="976"/>
                    <a:pt x="841" y="971"/>
                    <a:pt x="834" y="965"/>
                  </a:cubicBezTo>
                  <a:lnTo>
                    <a:pt x="834" y="965"/>
                  </a:lnTo>
                  <a:close/>
                  <a:moveTo>
                    <a:pt x="864" y="911"/>
                  </a:moveTo>
                  <a:cubicBezTo>
                    <a:pt x="875" y="884"/>
                    <a:pt x="919" y="754"/>
                    <a:pt x="922" y="740"/>
                  </a:cubicBezTo>
                  <a:cubicBezTo>
                    <a:pt x="923" y="732"/>
                    <a:pt x="923" y="733"/>
                    <a:pt x="902" y="752"/>
                  </a:cubicBezTo>
                  <a:cubicBezTo>
                    <a:pt x="865" y="788"/>
                    <a:pt x="811" y="834"/>
                    <a:pt x="808" y="832"/>
                  </a:cubicBezTo>
                  <a:cubicBezTo>
                    <a:pt x="808" y="831"/>
                    <a:pt x="826" y="803"/>
                    <a:pt x="848" y="769"/>
                  </a:cubicBezTo>
                  <a:cubicBezTo>
                    <a:pt x="923" y="657"/>
                    <a:pt x="939" y="625"/>
                    <a:pt x="953" y="568"/>
                  </a:cubicBezTo>
                  <a:cubicBezTo>
                    <a:pt x="971" y="497"/>
                    <a:pt x="972" y="414"/>
                    <a:pt x="955" y="347"/>
                  </a:cubicBezTo>
                  <a:cubicBezTo>
                    <a:pt x="942" y="298"/>
                    <a:pt x="915" y="236"/>
                    <a:pt x="891" y="202"/>
                  </a:cubicBezTo>
                  <a:cubicBezTo>
                    <a:pt x="832" y="120"/>
                    <a:pt x="730" y="78"/>
                    <a:pt x="615" y="88"/>
                  </a:cubicBezTo>
                  <a:cubicBezTo>
                    <a:pt x="459" y="101"/>
                    <a:pt x="342" y="185"/>
                    <a:pt x="281" y="327"/>
                  </a:cubicBezTo>
                  <a:cubicBezTo>
                    <a:pt x="254" y="391"/>
                    <a:pt x="243" y="462"/>
                    <a:pt x="249" y="540"/>
                  </a:cubicBezTo>
                  <a:cubicBezTo>
                    <a:pt x="253" y="602"/>
                    <a:pt x="265" y="636"/>
                    <a:pt x="299" y="687"/>
                  </a:cubicBezTo>
                  <a:cubicBezTo>
                    <a:pt x="311" y="706"/>
                    <a:pt x="315" y="709"/>
                    <a:pt x="320" y="710"/>
                  </a:cubicBezTo>
                  <a:cubicBezTo>
                    <a:pt x="324" y="710"/>
                    <a:pt x="337" y="712"/>
                    <a:pt x="349" y="713"/>
                  </a:cubicBezTo>
                  <a:cubicBezTo>
                    <a:pt x="488" y="729"/>
                    <a:pt x="679" y="813"/>
                    <a:pt x="824" y="921"/>
                  </a:cubicBezTo>
                  <a:cubicBezTo>
                    <a:pt x="838" y="931"/>
                    <a:pt x="850" y="938"/>
                    <a:pt x="851" y="938"/>
                  </a:cubicBezTo>
                  <a:cubicBezTo>
                    <a:pt x="852" y="938"/>
                    <a:pt x="858" y="925"/>
                    <a:pt x="864" y="911"/>
                  </a:cubicBezTo>
                  <a:close/>
                  <a:moveTo>
                    <a:pt x="929" y="847"/>
                  </a:moveTo>
                  <a:cubicBezTo>
                    <a:pt x="959" y="781"/>
                    <a:pt x="979" y="728"/>
                    <a:pt x="990" y="693"/>
                  </a:cubicBezTo>
                  <a:cubicBezTo>
                    <a:pt x="998" y="665"/>
                    <a:pt x="1004" y="643"/>
                    <a:pt x="1003" y="643"/>
                  </a:cubicBezTo>
                  <a:cubicBezTo>
                    <a:pt x="1003" y="643"/>
                    <a:pt x="996" y="651"/>
                    <a:pt x="987" y="661"/>
                  </a:cubicBezTo>
                  <a:lnTo>
                    <a:pt x="972" y="679"/>
                  </a:lnTo>
                  <a:lnTo>
                    <a:pt x="963" y="712"/>
                  </a:lnTo>
                  <a:cubicBezTo>
                    <a:pt x="955" y="738"/>
                    <a:pt x="907" y="887"/>
                    <a:pt x="897" y="913"/>
                  </a:cubicBezTo>
                  <a:cubicBezTo>
                    <a:pt x="896" y="916"/>
                    <a:pt x="896" y="917"/>
                    <a:pt x="898" y="916"/>
                  </a:cubicBezTo>
                  <a:cubicBezTo>
                    <a:pt x="899" y="914"/>
                    <a:pt x="913" y="884"/>
                    <a:pt x="929" y="847"/>
                  </a:cubicBezTo>
                  <a:close/>
                  <a:moveTo>
                    <a:pt x="1004" y="587"/>
                  </a:moveTo>
                  <a:cubicBezTo>
                    <a:pt x="1009" y="579"/>
                    <a:pt x="1009" y="578"/>
                    <a:pt x="1006" y="575"/>
                  </a:cubicBezTo>
                  <a:cubicBezTo>
                    <a:pt x="1004" y="572"/>
                    <a:pt x="1003" y="573"/>
                    <a:pt x="997" y="579"/>
                  </a:cubicBezTo>
                  <a:cubicBezTo>
                    <a:pt x="994" y="584"/>
                    <a:pt x="991" y="591"/>
                    <a:pt x="990" y="597"/>
                  </a:cubicBezTo>
                  <a:lnTo>
                    <a:pt x="989" y="606"/>
                  </a:lnTo>
                  <a:lnTo>
                    <a:pt x="993" y="601"/>
                  </a:lnTo>
                  <a:cubicBezTo>
                    <a:pt x="996" y="598"/>
                    <a:pt x="1000" y="591"/>
                    <a:pt x="1004" y="587"/>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08" name="Freeform 31"/>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09" name="Freeform 32"/>
            <p:cNvSpPr>
              <a:spLocks/>
            </p:cNvSpPr>
            <p:nvPr/>
          </p:nvSpPr>
          <p:spPr bwMode="auto">
            <a:xfrm>
              <a:off x="5294313" y="3776663"/>
              <a:ext cx="123825" cy="209550"/>
            </a:xfrm>
            <a:custGeom>
              <a:avLst/>
              <a:gdLst>
                <a:gd name="T0" fmla="*/ 228 w 331"/>
                <a:gd name="T1" fmla="*/ 533 h 559"/>
                <a:gd name="T2" fmla="*/ 330 w 331"/>
                <a:gd name="T3" fmla="*/ 471 h 559"/>
                <a:gd name="T4" fmla="*/ 275 w 331"/>
                <a:gd name="T5" fmla="*/ 230 h 559"/>
                <a:gd name="T6" fmla="*/ 267 w 331"/>
                <a:gd name="T7" fmla="*/ 30 h 559"/>
                <a:gd name="T8" fmla="*/ 159 w 331"/>
                <a:gd name="T9" fmla="*/ 37 h 559"/>
                <a:gd name="T10" fmla="*/ 210 w 331"/>
                <a:gd name="T11" fmla="*/ 116 h 559"/>
                <a:gd name="T12" fmla="*/ 136 w 331"/>
                <a:gd name="T13" fmla="*/ 165 h 559"/>
                <a:gd name="T14" fmla="*/ 81 w 331"/>
                <a:gd name="T15" fmla="*/ 91 h 559"/>
                <a:gd name="T16" fmla="*/ 180 w 331"/>
                <a:gd name="T17" fmla="*/ 294 h 559"/>
                <a:gd name="T18" fmla="*/ 228 w 331"/>
                <a:gd name="T19" fmla="*/ 533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 h="559">
                  <a:moveTo>
                    <a:pt x="228" y="533"/>
                  </a:moveTo>
                  <a:cubicBezTo>
                    <a:pt x="228" y="533"/>
                    <a:pt x="315" y="559"/>
                    <a:pt x="330" y="471"/>
                  </a:cubicBezTo>
                  <a:cubicBezTo>
                    <a:pt x="331" y="463"/>
                    <a:pt x="275" y="230"/>
                    <a:pt x="275" y="230"/>
                  </a:cubicBezTo>
                  <a:cubicBezTo>
                    <a:pt x="327" y="137"/>
                    <a:pt x="304" y="55"/>
                    <a:pt x="267" y="30"/>
                  </a:cubicBezTo>
                  <a:cubicBezTo>
                    <a:pt x="223" y="0"/>
                    <a:pt x="159" y="37"/>
                    <a:pt x="159" y="37"/>
                  </a:cubicBezTo>
                  <a:lnTo>
                    <a:pt x="210" y="116"/>
                  </a:lnTo>
                  <a:lnTo>
                    <a:pt x="136" y="165"/>
                  </a:lnTo>
                  <a:lnTo>
                    <a:pt x="81" y="91"/>
                  </a:lnTo>
                  <a:cubicBezTo>
                    <a:pt x="37" y="144"/>
                    <a:pt x="0" y="301"/>
                    <a:pt x="180" y="294"/>
                  </a:cubicBezTo>
                  <a:lnTo>
                    <a:pt x="228" y="533"/>
                  </a:lnTo>
                  <a:close/>
                </a:path>
              </a:pathLst>
            </a:custGeom>
            <a:solidFill>
              <a:srgbClr val="A9B6AC"/>
            </a:solidFill>
            <a:ln w="14288" cap="flat">
              <a:solidFill>
                <a:srgbClr val="445750"/>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grpSp>
    </p:spTree>
    <p:extLst>
      <p:ext uri="{BB962C8B-B14F-4D97-AF65-F5344CB8AC3E}">
        <p14:creationId xmlns:p14="http://schemas.microsoft.com/office/powerpoint/2010/main" val="27444363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Generating Library</a:t>
            </a:r>
            <a:endParaRPr lang="en-CA" dirty="0"/>
          </a:p>
        </p:txBody>
      </p:sp>
      <p:sp>
        <p:nvSpPr>
          <p:cNvPr id="3" name="Content Placeholder 2"/>
          <p:cNvSpPr>
            <a:spLocks noGrp="1"/>
          </p:cNvSpPr>
          <p:nvPr>
            <p:ph idx="1"/>
          </p:nvPr>
        </p:nvSpPr>
        <p:spPr/>
        <p:txBody>
          <a:bodyPr/>
          <a:lstStyle/>
          <a:p>
            <a:r>
              <a:rPr lang="en-CA" dirty="0" smtClean="0"/>
              <a:t>Spiffy compiler processes annotated metadata structures</a:t>
            </a:r>
            <a:br>
              <a:rPr lang="en-CA" dirty="0" smtClean="0"/>
            </a:br>
            <a:r>
              <a:rPr lang="en-CA" dirty="0" smtClean="0"/>
              <a:t>to generate library that provides a generic API for type-safe parsing, traversal and serialization of file system structures</a:t>
            </a:r>
          </a:p>
        </p:txBody>
      </p:sp>
      <p:sp>
        <p:nvSpPr>
          <p:cNvPr id="92" name="Right Arrow 91"/>
          <p:cNvSpPr/>
          <p:nvPr/>
        </p:nvSpPr>
        <p:spPr>
          <a:xfrm>
            <a:off x="2230712" y="2686954"/>
            <a:ext cx="237749" cy="173175"/>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chemeClr val="bg1"/>
              </a:solidFill>
            </a:endParaRPr>
          </a:p>
        </p:txBody>
      </p:sp>
      <p:sp>
        <p:nvSpPr>
          <p:cNvPr id="94" name="Rounded Rectangle 93"/>
          <p:cNvSpPr/>
          <p:nvPr/>
        </p:nvSpPr>
        <p:spPr>
          <a:xfrm>
            <a:off x="2628820" y="2419350"/>
            <a:ext cx="1080000" cy="708385"/>
          </a:xfrm>
          <a:prstGeom prst="roundRect">
            <a:avLst/>
          </a:prstGeom>
          <a:solidFill>
            <a:srgbClr val="007089"/>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chemeClr val="bg1"/>
                </a:solidFill>
              </a:rPr>
              <a:t>Spiffy Compiler</a:t>
            </a:r>
          </a:p>
        </p:txBody>
      </p:sp>
      <p:grpSp>
        <p:nvGrpSpPr>
          <p:cNvPr id="95" name="Group 94"/>
          <p:cNvGrpSpPr/>
          <p:nvPr/>
        </p:nvGrpSpPr>
        <p:grpSpPr>
          <a:xfrm>
            <a:off x="4267287" y="2419350"/>
            <a:ext cx="1320800" cy="708385"/>
            <a:chOff x="6493933" y="3749526"/>
            <a:chExt cx="1761066" cy="944513"/>
          </a:xfrm>
          <a:solidFill>
            <a:srgbClr val="B7B7FF"/>
          </a:solidFill>
          <a:effectLst/>
        </p:grpSpPr>
        <p:sp>
          <p:nvSpPr>
            <p:cNvPr id="101" name="Rectangle 100"/>
            <p:cNvSpPr/>
            <p:nvPr/>
          </p:nvSpPr>
          <p:spPr>
            <a:xfrm>
              <a:off x="6493933" y="3749526"/>
              <a:ext cx="1004159" cy="944513"/>
            </a:xfrm>
            <a:prstGeom prst="rect">
              <a:avLst/>
            </a:prstGeom>
            <a:grp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rgbClr val="000000"/>
                  </a:solidFill>
                </a:rPr>
                <a:t>Spiffy Library</a:t>
              </a:r>
            </a:p>
          </p:txBody>
        </p:sp>
        <p:sp>
          <p:nvSpPr>
            <p:cNvPr id="118" name="Rectangle 117"/>
            <p:cNvSpPr/>
            <p:nvPr/>
          </p:nvSpPr>
          <p:spPr>
            <a:xfrm>
              <a:off x="7498092" y="3749526"/>
              <a:ext cx="756907" cy="944513"/>
            </a:xfrm>
            <a:prstGeom prst="rect">
              <a:avLst/>
            </a:prstGeom>
            <a:grp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rgbClr val="000000"/>
                  </a:solidFill>
                </a:rPr>
                <a:t>Spiffy API</a:t>
              </a:r>
            </a:p>
          </p:txBody>
        </p:sp>
      </p:grpSp>
      <p:sp>
        <p:nvSpPr>
          <p:cNvPr id="97" name="Right Arrow 96"/>
          <p:cNvSpPr/>
          <p:nvPr/>
        </p:nvSpPr>
        <p:spPr>
          <a:xfrm>
            <a:off x="3869179" y="2686954"/>
            <a:ext cx="237749" cy="173175"/>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chemeClr val="bg1"/>
              </a:solidFill>
            </a:endParaRPr>
          </a:p>
        </p:txBody>
      </p:sp>
      <p:sp>
        <p:nvSpPr>
          <p:cNvPr id="67" name="Rectangle 66"/>
          <p:cNvSpPr/>
          <p:nvPr/>
        </p:nvSpPr>
        <p:spPr>
          <a:xfrm>
            <a:off x="1011973" y="3472400"/>
            <a:ext cx="1058380" cy="354193"/>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dirty="0">
                <a:solidFill>
                  <a:schemeClr val="tx1"/>
                </a:solidFill>
              </a:rPr>
              <a:t>File System Developer</a:t>
            </a:r>
          </a:p>
        </p:txBody>
      </p:sp>
      <p:sp>
        <p:nvSpPr>
          <p:cNvPr id="68" name="Rectangle 67"/>
          <p:cNvSpPr/>
          <p:nvPr/>
        </p:nvSpPr>
        <p:spPr>
          <a:xfrm>
            <a:off x="990353" y="2266950"/>
            <a:ext cx="1080000" cy="708385"/>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dirty="0">
                <a:solidFill>
                  <a:schemeClr val="tx1"/>
                </a:solidFill>
              </a:rPr>
              <a:t>File System Metadata Structures</a:t>
            </a:r>
          </a:p>
        </p:txBody>
      </p:sp>
      <p:sp>
        <p:nvSpPr>
          <p:cNvPr id="69" name="Rectangle 68"/>
          <p:cNvSpPr/>
          <p:nvPr/>
        </p:nvSpPr>
        <p:spPr>
          <a:xfrm>
            <a:off x="990353" y="2977180"/>
            <a:ext cx="1080000" cy="354193"/>
          </a:xfrm>
          <a:prstGeom prst="rect">
            <a:avLst/>
          </a:prstGeom>
          <a:solidFill>
            <a:srgbClr val="FFFFFF"/>
          </a:solidFill>
          <a:ln w="25400">
            <a:solidFill>
              <a:srgbClr val="000000"/>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chemeClr val="tx1"/>
                </a:solidFill>
              </a:rPr>
              <a:t>Annotations</a:t>
            </a:r>
          </a:p>
        </p:txBody>
      </p:sp>
      <p:grpSp>
        <p:nvGrpSpPr>
          <p:cNvPr id="70" name="Group 69"/>
          <p:cNvGrpSpPr/>
          <p:nvPr/>
        </p:nvGrpSpPr>
        <p:grpSpPr>
          <a:xfrm>
            <a:off x="2099484" y="3361885"/>
            <a:ext cx="448866" cy="969169"/>
            <a:chOff x="4859338" y="3776663"/>
            <a:chExt cx="598488" cy="1292225"/>
          </a:xfrm>
        </p:grpSpPr>
        <p:sp>
          <p:nvSpPr>
            <p:cNvPr id="71" name="Freeform 5"/>
            <p:cNvSpPr>
              <a:spLocks/>
            </p:cNvSpPr>
            <p:nvPr/>
          </p:nvSpPr>
          <p:spPr bwMode="auto">
            <a:xfrm>
              <a:off x="4868863" y="3917950"/>
              <a:ext cx="581025" cy="1139825"/>
            </a:xfrm>
            <a:custGeom>
              <a:avLst/>
              <a:gdLst>
                <a:gd name="T0" fmla="*/ 250 w 1553"/>
                <a:gd name="T1" fmla="*/ 791 h 3047"/>
                <a:gd name="T2" fmla="*/ 194 w 1553"/>
                <a:gd name="T3" fmla="*/ 572 h 3047"/>
                <a:gd name="T4" fmla="*/ 262 w 1553"/>
                <a:gd name="T5" fmla="*/ 325 h 3047"/>
                <a:gd name="T6" fmla="*/ 447 w 1553"/>
                <a:gd name="T7" fmla="*/ 175 h 3047"/>
                <a:gd name="T8" fmla="*/ 678 w 1553"/>
                <a:gd name="T9" fmla="*/ 141 h 3047"/>
                <a:gd name="T10" fmla="*/ 837 w 1553"/>
                <a:gd name="T11" fmla="*/ 216 h 3047"/>
                <a:gd name="T12" fmla="*/ 950 w 1553"/>
                <a:gd name="T13" fmla="*/ 378 h 3047"/>
                <a:gd name="T14" fmla="*/ 959 w 1553"/>
                <a:gd name="T15" fmla="*/ 585 h 3047"/>
                <a:gd name="T16" fmla="*/ 884 w 1553"/>
                <a:gd name="T17" fmla="*/ 816 h 3047"/>
                <a:gd name="T18" fmla="*/ 950 w 1553"/>
                <a:gd name="T19" fmla="*/ 797 h 3047"/>
                <a:gd name="T20" fmla="*/ 1344 w 1553"/>
                <a:gd name="T21" fmla="*/ 85 h 3047"/>
                <a:gd name="T22" fmla="*/ 1516 w 1553"/>
                <a:gd name="T23" fmla="*/ 0 h 3047"/>
                <a:gd name="T24" fmla="*/ 1553 w 1553"/>
                <a:gd name="T25" fmla="*/ 175 h 3047"/>
                <a:gd name="T26" fmla="*/ 1312 w 1553"/>
                <a:gd name="T27" fmla="*/ 807 h 3047"/>
                <a:gd name="T28" fmla="*/ 1253 w 1553"/>
                <a:gd name="T29" fmla="*/ 925 h 3047"/>
                <a:gd name="T30" fmla="*/ 1209 w 1553"/>
                <a:gd name="T31" fmla="*/ 1241 h 3047"/>
                <a:gd name="T32" fmla="*/ 1237 w 1553"/>
                <a:gd name="T33" fmla="*/ 1753 h 3047"/>
                <a:gd name="T34" fmla="*/ 1300 w 1553"/>
                <a:gd name="T35" fmla="*/ 2266 h 3047"/>
                <a:gd name="T36" fmla="*/ 1303 w 1553"/>
                <a:gd name="T37" fmla="*/ 2460 h 3047"/>
                <a:gd name="T38" fmla="*/ 1272 w 1553"/>
                <a:gd name="T39" fmla="*/ 2791 h 3047"/>
                <a:gd name="T40" fmla="*/ 1209 w 1553"/>
                <a:gd name="T41" fmla="*/ 2978 h 3047"/>
                <a:gd name="T42" fmla="*/ 1128 w 1553"/>
                <a:gd name="T43" fmla="*/ 3047 h 3047"/>
                <a:gd name="T44" fmla="*/ 1028 w 1553"/>
                <a:gd name="T45" fmla="*/ 2957 h 3047"/>
                <a:gd name="T46" fmla="*/ 981 w 1553"/>
                <a:gd name="T47" fmla="*/ 2769 h 3047"/>
                <a:gd name="T48" fmla="*/ 978 w 1553"/>
                <a:gd name="T49" fmla="*/ 2491 h 3047"/>
                <a:gd name="T50" fmla="*/ 956 w 1553"/>
                <a:gd name="T51" fmla="*/ 2272 h 3047"/>
                <a:gd name="T52" fmla="*/ 884 w 1553"/>
                <a:gd name="T53" fmla="*/ 2166 h 3047"/>
                <a:gd name="T54" fmla="*/ 847 w 1553"/>
                <a:gd name="T55" fmla="*/ 2135 h 3047"/>
                <a:gd name="T56" fmla="*/ 803 w 1553"/>
                <a:gd name="T57" fmla="*/ 2313 h 3047"/>
                <a:gd name="T58" fmla="*/ 750 w 1553"/>
                <a:gd name="T59" fmla="*/ 2635 h 3047"/>
                <a:gd name="T60" fmla="*/ 716 w 1553"/>
                <a:gd name="T61" fmla="*/ 2778 h 3047"/>
                <a:gd name="T62" fmla="*/ 681 w 1553"/>
                <a:gd name="T63" fmla="*/ 2919 h 3047"/>
                <a:gd name="T64" fmla="*/ 634 w 1553"/>
                <a:gd name="T65" fmla="*/ 3025 h 3047"/>
                <a:gd name="T66" fmla="*/ 559 w 1553"/>
                <a:gd name="T67" fmla="*/ 3044 h 3047"/>
                <a:gd name="T68" fmla="*/ 484 w 1553"/>
                <a:gd name="T69" fmla="*/ 2985 h 3047"/>
                <a:gd name="T70" fmla="*/ 437 w 1553"/>
                <a:gd name="T71" fmla="*/ 2744 h 3047"/>
                <a:gd name="T72" fmla="*/ 425 w 1553"/>
                <a:gd name="T73" fmla="*/ 2382 h 3047"/>
                <a:gd name="T74" fmla="*/ 422 w 1553"/>
                <a:gd name="T75" fmla="*/ 2047 h 3047"/>
                <a:gd name="T76" fmla="*/ 419 w 1553"/>
                <a:gd name="T77" fmla="*/ 1722 h 3047"/>
                <a:gd name="T78" fmla="*/ 375 w 1553"/>
                <a:gd name="T79" fmla="*/ 1572 h 3047"/>
                <a:gd name="T80" fmla="*/ 316 w 1553"/>
                <a:gd name="T81" fmla="*/ 1538 h 3047"/>
                <a:gd name="T82" fmla="*/ 259 w 1553"/>
                <a:gd name="T83" fmla="*/ 1710 h 3047"/>
                <a:gd name="T84" fmla="*/ 212 w 1553"/>
                <a:gd name="T85" fmla="*/ 1985 h 3047"/>
                <a:gd name="T86" fmla="*/ 169 w 1553"/>
                <a:gd name="T87" fmla="*/ 2150 h 3047"/>
                <a:gd name="T88" fmla="*/ 106 w 1553"/>
                <a:gd name="T89" fmla="*/ 2188 h 3047"/>
                <a:gd name="T90" fmla="*/ 41 w 1553"/>
                <a:gd name="T91" fmla="*/ 2085 h 3047"/>
                <a:gd name="T92" fmla="*/ 0 w 1553"/>
                <a:gd name="T93" fmla="*/ 1810 h 3047"/>
                <a:gd name="T94" fmla="*/ 37 w 1553"/>
                <a:gd name="T95" fmla="*/ 1428 h 3047"/>
                <a:gd name="T96" fmla="*/ 137 w 1553"/>
                <a:gd name="T97" fmla="*/ 1116 h 3047"/>
                <a:gd name="T98" fmla="*/ 306 w 1553"/>
                <a:gd name="T99" fmla="*/ 922 h 3047"/>
                <a:gd name="T100" fmla="*/ 250 w 1553"/>
                <a:gd name="T101" fmla="*/ 791 h 3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53" h="3047">
                  <a:moveTo>
                    <a:pt x="250" y="791"/>
                  </a:moveTo>
                  <a:lnTo>
                    <a:pt x="194" y="572"/>
                  </a:lnTo>
                  <a:lnTo>
                    <a:pt x="262" y="325"/>
                  </a:lnTo>
                  <a:lnTo>
                    <a:pt x="447" y="175"/>
                  </a:lnTo>
                  <a:lnTo>
                    <a:pt x="678" y="141"/>
                  </a:lnTo>
                  <a:lnTo>
                    <a:pt x="837" y="216"/>
                  </a:lnTo>
                  <a:lnTo>
                    <a:pt x="950" y="378"/>
                  </a:lnTo>
                  <a:lnTo>
                    <a:pt x="959" y="585"/>
                  </a:lnTo>
                  <a:lnTo>
                    <a:pt x="884" y="816"/>
                  </a:lnTo>
                  <a:lnTo>
                    <a:pt x="950" y="797"/>
                  </a:lnTo>
                  <a:lnTo>
                    <a:pt x="1344" y="85"/>
                  </a:lnTo>
                  <a:lnTo>
                    <a:pt x="1516" y="0"/>
                  </a:lnTo>
                  <a:lnTo>
                    <a:pt x="1553" y="175"/>
                  </a:lnTo>
                  <a:lnTo>
                    <a:pt x="1312" y="807"/>
                  </a:lnTo>
                  <a:cubicBezTo>
                    <a:pt x="1312" y="807"/>
                    <a:pt x="1253" y="913"/>
                    <a:pt x="1253" y="925"/>
                  </a:cubicBezTo>
                  <a:cubicBezTo>
                    <a:pt x="1253" y="938"/>
                    <a:pt x="1209" y="1241"/>
                    <a:pt x="1209" y="1241"/>
                  </a:cubicBezTo>
                  <a:lnTo>
                    <a:pt x="1237" y="1753"/>
                  </a:lnTo>
                  <a:lnTo>
                    <a:pt x="1300" y="2266"/>
                  </a:lnTo>
                  <a:cubicBezTo>
                    <a:pt x="1300" y="2266"/>
                    <a:pt x="1316" y="2428"/>
                    <a:pt x="1303" y="2460"/>
                  </a:cubicBezTo>
                  <a:cubicBezTo>
                    <a:pt x="1291" y="2491"/>
                    <a:pt x="1272" y="2791"/>
                    <a:pt x="1272" y="2791"/>
                  </a:cubicBezTo>
                  <a:lnTo>
                    <a:pt x="1209" y="2978"/>
                  </a:lnTo>
                  <a:lnTo>
                    <a:pt x="1128" y="3047"/>
                  </a:lnTo>
                  <a:lnTo>
                    <a:pt x="1028" y="2957"/>
                  </a:lnTo>
                  <a:lnTo>
                    <a:pt x="981" y="2769"/>
                  </a:lnTo>
                  <a:lnTo>
                    <a:pt x="978" y="2491"/>
                  </a:lnTo>
                  <a:lnTo>
                    <a:pt x="956" y="2272"/>
                  </a:lnTo>
                  <a:lnTo>
                    <a:pt x="884" y="2166"/>
                  </a:lnTo>
                  <a:lnTo>
                    <a:pt x="847" y="2135"/>
                  </a:lnTo>
                  <a:lnTo>
                    <a:pt x="803" y="2313"/>
                  </a:lnTo>
                  <a:lnTo>
                    <a:pt x="750" y="2635"/>
                  </a:lnTo>
                  <a:lnTo>
                    <a:pt x="716" y="2778"/>
                  </a:lnTo>
                  <a:lnTo>
                    <a:pt x="681" y="2919"/>
                  </a:lnTo>
                  <a:lnTo>
                    <a:pt x="634" y="3025"/>
                  </a:lnTo>
                  <a:lnTo>
                    <a:pt x="559" y="3044"/>
                  </a:lnTo>
                  <a:lnTo>
                    <a:pt x="484" y="2985"/>
                  </a:lnTo>
                  <a:lnTo>
                    <a:pt x="437" y="2744"/>
                  </a:lnTo>
                  <a:lnTo>
                    <a:pt x="425" y="2382"/>
                  </a:lnTo>
                  <a:lnTo>
                    <a:pt x="422" y="2047"/>
                  </a:lnTo>
                  <a:lnTo>
                    <a:pt x="419" y="1722"/>
                  </a:lnTo>
                  <a:lnTo>
                    <a:pt x="375" y="1572"/>
                  </a:lnTo>
                  <a:lnTo>
                    <a:pt x="316" y="1538"/>
                  </a:lnTo>
                  <a:lnTo>
                    <a:pt x="259" y="1710"/>
                  </a:lnTo>
                  <a:lnTo>
                    <a:pt x="212" y="1985"/>
                  </a:lnTo>
                  <a:lnTo>
                    <a:pt x="169" y="2150"/>
                  </a:lnTo>
                  <a:lnTo>
                    <a:pt x="106" y="2188"/>
                  </a:lnTo>
                  <a:lnTo>
                    <a:pt x="41" y="2085"/>
                  </a:lnTo>
                  <a:lnTo>
                    <a:pt x="0" y="1810"/>
                  </a:lnTo>
                  <a:lnTo>
                    <a:pt x="37" y="1428"/>
                  </a:lnTo>
                  <a:lnTo>
                    <a:pt x="137" y="1116"/>
                  </a:lnTo>
                  <a:lnTo>
                    <a:pt x="306" y="922"/>
                  </a:lnTo>
                  <a:lnTo>
                    <a:pt x="250" y="791"/>
                  </a:lnTo>
                  <a:close/>
                </a:path>
              </a:pathLst>
            </a:custGeom>
            <a:solidFill>
              <a:srgbClr val="5353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2" name="Freeform 6"/>
            <p:cNvSpPr>
              <a:spLocks/>
            </p:cNvSpPr>
            <p:nvPr/>
          </p:nvSpPr>
          <p:spPr bwMode="auto">
            <a:xfrm>
              <a:off x="4872038" y="4038600"/>
              <a:ext cx="533400" cy="652463"/>
            </a:xfrm>
            <a:custGeom>
              <a:avLst/>
              <a:gdLst>
                <a:gd name="T0" fmla="*/ 163 w 1427"/>
                <a:gd name="T1" fmla="*/ 769 h 1747"/>
                <a:gd name="T2" fmla="*/ 93 w 1427"/>
                <a:gd name="T3" fmla="*/ 901 h 1747"/>
                <a:gd name="T4" fmla="*/ 35 w 1427"/>
                <a:gd name="T5" fmla="*/ 1087 h 1747"/>
                <a:gd name="T6" fmla="*/ 0 w 1427"/>
                <a:gd name="T7" fmla="*/ 1286 h 1747"/>
                <a:gd name="T8" fmla="*/ 0 w 1427"/>
                <a:gd name="T9" fmla="*/ 1586 h 1747"/>
                <a:gd name="T10" fmla="*/ 212 w 1427"/>
                <a:gd name="T11" fmla="*/ 1662 h 1747"/>
                <a:gd name="T12" fmla="*/ 247 w 1427"/>
                <a:gd name="T13" fmla="*/ 1379 h 1747"/>
                <a:gd name="T14" fmla="*/ 287 w 1427"/>
                <a:gd name="T15" fmla="*/ 1273 h 1747"/>
                <a:gd name="T16" fmla="*/ 336 w 1427"/>
                <a:gd name="T17" fmla="*/ 1220 h 1747"/>
                <a:gd name="T18" fmla="*/ 389 w 1427"/>
                <a:gd name="T19" fmla="*/ 1277 h 1747"/>
                <a:gd name="T20" fmla="*/ 429 w 1427"/>
                <a:gd name="T21" fmla="*/ 1432 h 1747"/>
                <a:gd name="T22" fmla="*/ 420 w 1427"/>
                <a:gd name="T23" fmla="*/ 1684 h 1747"/>
                <a:gd name="T24" fmla="*/ 420 w 1427"/>
                <a:gd name="T25" fmla="*/ 1723 h 1747"/>
                <a:gd name="T26" fmla="*/ 579 w 1427"/>
                <a:gd name="T27" fmla="*/ 1723 h 1747"/>
                <a:gd name="T28" fmla="*/ 1096 w 1427"/>
                <a:gd name="T29" fmla="*/ 1547 h 1747"/>
                <a:gd name="T30" fmla="*/ 1255 w 1427"/>
                <a:gd name="T31" fmla="*/ 1520 h 1747"/>
                <a:gd name="T32" fmla="*/ 1206 w 1427"/>
                <a:gd name="T33" fmla="*/ 1193 h 1747"/>
                <a:gd name="T34" fmla="*/ 1206 w 1427"/>
                <a:gd name="T35" fmla="*/ 879 h 1747"/>
                <a:gd name="T36" fmla="*/ 1233 w 1427"/>
                <a:gd name="T37" fmla="*/ 632 h 1747"/>
                <a:gd name="T38" fmla="*/ 1357 w 1427"/>
                <a:gd name="T39" fmla="*/ 376 h 1747"/>
                <a:gd name="T40" fmla="*/ 1427 w 1427"/>
                <a:gd name="T41" fmla="*/ 194 h 1747"/>
                <a:gd name="T42" fmla="*/ 1206 w 1427"/>
                <a:gd name="T43" fmla="*/ 0 h 1747"/>
                <a:gd name="T44" fmla="*/ 1096 w 1427"/>
                <a:gd name="T45" fmla="*/ 208 h 1747"/>
                <a:gd name="T46" fmla="*/ 1021 w 1427"/>
                <a:gd name="T47" fmla="*/ 305 h 1747"/>
                <a:gd name="T48" fmla="*/ 981 w 1427"/>
                <a:gd name="T49" fmla="*/ 437 h 1747"/>
                <a:gd name="T50" fmla="*/ 862 w 1427"/>
                <a:gd name="T51" fmla="*/ 729 h 1747"/>
                <a:gd name="T52" fmla="*/ 451 w 1427"/>
                <a:gd name="T53" fmla="*/ 654 h 1747"/>
                <a:gd name="T54" fmla="*/ 163 w 1427"/>
                <a:gd name="T55" fmla="*/ 769 h 1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7" h="1747">
                  <a:moveTo>
                    <a:pt x="163" y="769"/>
                  </a:moveTo>
                  <a:lnTo>
                    <a:pt x="93" y="901"/>
                  </a:lnTo>
                  <a:lnTo>
                    <a:pt x="35" y="1087"/>
                  </a:lnTo>
                  <a:lnTo>
                    <a:pt x="0" y="1286"/>
                  </a:lnTo>
                  <a:lnTo>
                    <a:pt x="0" y="1586"/>
                  </a:lnTo>
                  <a:cubicBezTo>
                    <a:pt x="96" y="1655"/>
                    <a:pt x="147" y="1646"/>
                    <a:pt x="212" y="1662"/>
                  </a:cubicBezTo>
                  <a:lnTo>
                    <a:pt x="247" y="1379"/>
                  </a:lnTo>
                  <a:lnTo>
                    <a:pt x="287" y="1273"/>
                  </a:lnTo>
                  <a:lnTo>
                    <a:pt x="336" y="1220"/>
                  </a:lnTo>
                  <a:lnTo>
                    <a:pt x="389" y="1277"/>
                  </a:lnTo>
                  <a:lnTo>
                    <a:pt x="429" y="1432"/>
                  </a:lnTo>
                  <a:lnTo>
                    <a:pt x="420" y="1684"/>
                  </a:lnTo>
                  <a:lnTo>
                    <a:pt x="420" y="1723"/>
                  </a:lnTo>
                  <a:cubicBezTo>
                    <a:pt x="492" y="1747"/>
                    <a:pt x="532" y="1737"/>
                    <a:pt x="579" y="1723"/>
                  </a:cubicBezTo>
                  <a:cubicBezTo>
                    <a:pt x="756" y="1649"/>
                    <a:pt x="936" y="1579"/>
                    <a:pt x="1096" y="1547"/>
                  </a:cubicBezTo>
                  <a:cubicBezTo>
                    <a:pt x="1145" y="1538"/>
                    <a:pt x="1113" y="1536"/>
                    <a:pt x="1255" y="1520"/>
                  </a:cubicBezTo>
                  <a:lnTo>
                    <a:pt x="1206" y="1193"/>
                  </a:lnTo>
                  <a:lnTo>
                    <a:pt x="1206" y="879"/>
                  </a:lnTo>
                  <a:lnTo>
                    <a:pt x="1233" y="632"/>
                  </a:lnTo>
                  <a:lnTo>
                    <a:pt x="1357" y="376"/>
                  </a:lnTo>
                  <a:lnTo>
                    <a:pt x="1427" y="194"/>
                  </a:lnTo>
                  <a:cubicBezTo>
                    <a:pt x="1360" y="125"/>
                    <a:pt x="1305" y="49"/>
                    <a:pt x="1206" y="0"/>
                  </a:cubicBezTo>
                  <a:lnTo>
                    <a:pt x="1096" y="208"/>
                  </a:lnTo>
                  <a:lnTo>
                    <a:pt x="1021" y="305"/>
                  </a:lnTo>
                  <a:lnTo>
                    <a:pt x="981" y="437"/>
                  </a:lnTo>
                  <a:lnTo>
                    <a:pt x="862" y="729"/>
                  </a:lnTo>
                  <a:lnTo>
                    <a:pt x="451" y="654"/>
                  </a:lnTo>
                  <a:lnTo>
                    <a:pt x="163" y="769"/>
                  </a:lnTo>
                  <a:close/>
                </a:path>
              </a:pathLst>
            </a:custGeom>
            <a:solidFill>
              <a:srgbClr val="962A22"/>
            </a:solidFill>
            <a:ln w="4763" cap="flat">
              <a:solidFill>
                <a:srgbClr val="962A22"/>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73" name="Freeform 7"/>
            <p:cNvSpPr>
              <a:spLocks/>
            </p:cNvSpPr>
            <p:nvPr/>
          </p:nvSpPr>
          <p:spPr bwMode="auto">
            <a:xfrm>
              <a:off x="5043488" y="4551363"/>
              <a:ext cx="298450" cy="127000"/>
            </a:xfrm>
            <a:custGeom>
              <a:avLst/>
              <a:gdLst>
                <a:gd name="T0" fmla="*/ 0 w 795"/>
                <a:gd name="T1" fmla="*/ 330 h 339"/>
                <a:gd name="T2" fmla="*/ 223 w 795"/>
                <a:gd name="T3" fmla="*/ 275 h 339"/>
                <a:gd name="T4" fmla="*/ 765 w 795"/>
                <a:gd name="T5" fmla="*/ 97 h 339"/>
                <a:gd name="T6" fmla="*/ 795 w 795"/>
                <a:gd name="T7" fmla="*/ 0 h 339"/>
                <a:gd name="T8" fmla="*/ 204 w 795"/>
                <a:gd name="T9" fmla="*/ 240 h 339"/>
                <a:gd name="T10" fmla="*/ 0 w 795"/>
                <a:gd name="T11" fmla="*/ 330 h 339"/>
              </a:gdLst>
              <a:ahLst/>
              <a:cxnLst>
                <a:cxn ang="0">
                  <a:pos x="T0" y="T1"/>
                </a:cxn>
                <a:cxn ang="0">
                  <a:pos x="T2" y="T3"/>
                </a:cxn>
                <a:cxn ang="0">
                  <a:pos x="T4" y="T5"/>
                </a:cxn>
                <a:cxn ang="0">
                  <a:pos x="T6" y="T7"/>
                </a:cxn>
                <a:cxn ang="0">
                  <a:pos x="T8" y="T9"/>
                </a:cxn>
                <a:cxn ang="0">
                  <a:pos x="T10" y="T11"/>
                </a:cxn>
              </a:cxnLst>
              <a:rect l="0" t="0" r="r" b="b"/>
              <a:pathLst>
                <a:path w="795" h="339">
                  <a:moveTo>
                    <a:pt x="0" y="330"/>
                  </a:moveTo>
                  <a:cubicBezTo>
                    <a:pt x="35" y="339"/>
                    <a:pt x="134" y="317"/>
                    <a:pt x="223" y="275"/>
                  </a:cubicBezTo>
                  <a:cubicBezTo>
                    <a:pt x="441" y="170"/>
                    <a:pt x="708" y="60"/>
                    <a:pt x="765" y="97"/>
                  </a:cubicBezTo>
                  <a:lnTo>
                    <a:pt x="795" y="0"/>
                  </a:lnTo>
                  <a:cubicBezTo>
                    <a:pt x="662" y="11"/>
                    <a:pt x="469" y="85"/>
                    <a:pt x="204" y="240"/>
                  </a:cubicBezTo>
                  <a:cubicBezTo>
                    <a:pt x="175" y="257"/>
                    <a:pt x="120" y="295"/>
                    <a:pt x="0" y="330"/>
                  </a:cubicBez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4" name="Freeform 8"/>
            <p:cNvSpPr>
              <a:spLocks/>
            </p:cNvSpPr>
            <p:nvPr/>
          </p:nvSpPr>
          <p:spPr bwMode="auto">
            <a:xfrm>
              <a:off x="5153025" y="4325938"/>
              <a:ext cx="25400" cy="117475"/>
            </a:xfrm>
            <a:custGeom>
              <a:avLst/>
              <a:gdLst>
                <a:gd name="T0" fmla="*/ 39 w 69"/>
                <a:gd name="T1" fmla="*/ 0 h 316"/>
                <a:gd name="T2" fmla="*/ 10 w 69"/>
                <a:gd name="T3" fmla="*/ 75 h 316"/>
                <a:gd name="T4" fmla="*/ 4 w 69"/>
                <a:gd name="T5" fmla="*/ 133 h 316"/>
                <a:gd name="T6" fmla="*/ 9 w 69"/>
                <a:gd name="T7" fmla="*/ 258 h 316"/>
                <a:gd name="T8" fmla="*/ 18 w 69"/>
                <a:gd name="T9" fmla="*/ 310 h 316"/>
                <a:gd name="T10" fmla="*/ 31 w 69"/>
                <a:gd name="T11" fmla="*/ 316 h 316"/>
                <a:gd name="T12" fmla="*/ 45 w 69"/>
                <a:gd name="T13" fmla="*/ 316 h 316"/>
                <a:gd name="T14" fmla="*/ 53 w 69"/>
                <a:gd name="T15" fmla="*/ 286 h 316"/>
                <a:gd name="T16" fmla="*/ 40 w 69"/>
                <a:gd name="T17" fmla="*/ 163 h 316"/>
                <a:gd name="T18" fmla="*/ 36 w 69"/>
                <a:gd name="T19" fmla="*/ 98 h 316"/>
                <a:gd name="T20" fmla="*/ 47 w 69"/>
                <a:gd name="T21" fmla="*/ 56 h 316"/>
                <a:gd name="T22" fmla="*/ 69 w 69"/>
                <a:gd name="T23" fmla="*/ 14 h 316"/>
                <a:gd name="T24" fmla="*/ 39 w 69"/>
                <a:gd name="T25"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316">
                  <a:moveTo>
                    <a:pt x="39" y="0"/>
                  </a:moveTo>
                  <a:lnTo>
                    <a:pt x="10" y="75"/>
                  </a:lnTo>
                  <a:cubicBezTo>
                    <a:pt x="10" y="75"/>
                    <a:pt x="0" y="132"/>
                    <a:pt x="4" y="133"/>
                  </a:cubicBezTo>
                  <a:cubicBezTo>
                    <a:pt x="7" y="133"/>
                    <a:pt x="9" y="258"/>
                    <a:pt x="9" y="258"/>
                  </a:cubicBezTo>
                  <a:lnTo>
                    <a:pt x="18" y="310"/>
                  </a:lnTo>
                  <a:lnTo>
                    <a:pt x="31" y="316"/>
                  </a:lnTo>
                  <a:lnTo>
                    <a:pt x="45" y="316"/>
                  </a:lnTo>
                  <a:lnTo>
                    <a:pt x="53" y="286"/>
                  </a:lnTo>
                  <a:lnTo>
                    <a:pt x="40" y="163"/>
                  </a:lnTo>
                  <a:lnTo>
                    <a:pt x="36" y="98"/>
                  </a:lnTo>
                  <a:lnTo>
                    <a:pt x="47" y="56"/>
                  </a:lnTo>
                  <a:lnTo>
                    <a:pt x="69" y="14"/>
                  </a:lnTo>
                  <a:lnTo>
                    <a:pt x="39" y="0"/>
                  </a:ln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5" name="Freeform 9"/>
            <p:cNvSpPr>
              <a:spLocks noEditPoints="1"/>
            </p:cNvSpPr>
            <p:nvPr/>
          </p:nvSpPr>
          <p:spPr bwMode="auto">
            <a:xfrm>
              <a:off x="5151438" y="4319588"/>
              <a:ext cx="31750" cy="128588"/>
            </a:xfrm>
            <a:custGeom>
              <a:avLst/>
              <a:gdLst>
                <a:gd name="T0" fmla="*/ 45 w 85"/>
                <a:gd name="T1" fmla="*/ 0 h 342"/>
                <a:gd name="T2" fmla="*/ 42 w 85"/>
                <a:gd name="T3" fmla="*/ 6 h 342"/>
                <a:gd name="T4" fmla="*/ 5 w 85"/>
                <a:gd name="T5" fmla="*/ 114 h 342"/>
                <a:gd name="T6" fmla="*/ 13 w 85"/>
                <a:gd name="T7" fmla="*/ 318 h 342"/>
                <a:gd name="T8" fmla="*/ 14 w 85"/>
                <a:gd name="T9" fmla="*/ 318 h 342"/>
                <a:gd name="T10" fmla="*/ 14 w 85"/>
                <a:gd name="T11" fmla="*/ 318 h 342"/>
                <a:gd name="T12" fmla="*/ 26 w 85"/>
                <a:gd name="T13" fmla="*/ 338 h 342"/>
                <a:gd name="T14" fmla="*/ 49 w 85"/>
                <a:gd name="T15" fmla="*/ 339 h 342"/>
                <a:gd name="T16" fmla="*/ 63 w 85"/>
                <a:gd name="T17" fmla="*/ 317 h 342"/>
                <a:gd name="T18" fmla="*/ 49 w 85"/>
                <a:gd name="T19" fmla="*/ 174 h 342"/>
                <a:gd name="T20" fmla="*/ 48 w 85"/>
                <a:gd name="T21" fmla="*/ 117 h 342"/>
                <a:gd name="T22" fmla="*/ 81 w 85"/>
                <a:gd name="T23" fmla="*/ 28 h 342"/>
                <a:gd name="T24" fmla="*/ 85 w 85"/>
                <a:gd name="T25" fmla="*/ 22 h 342"/>
                <a:gd name="T26" fmla="*/ 79 w 85"/>
                <a:gd name="T27" fmla="*/ 19 h 342"/>
                <a:gd name="T28" fmla="*/ 50 w 85"/>
                <a:gd name="T29" fmla="*/ 3 h 342"/>
                <a:gd name="T30" fmla="*/ 45 w 85"/>
                <a:gd name="T31" fmla="*/ 0 h 342"/>
                <a:gd name="T32" fmla="*/ 50 w 85"/>
                <a:gd name="T33" fmla="*/ 17 h 342"/>
                <a:gd name="T34" fmla="*/ 67 w 85"/>
                <a:gd name="T35" fmla="*/ 27 h 342"/>
                <a:gd name="T36" fmla="*/ 35 w 85"/>
                <a:gd name="T37" fmla="*/ 115 h 342"/>
                <a:gd name="T38" fmla="*/ 50 w 85"/>
                <a:gd name="T39" fmla="*/ 318 h 342"/>
                <a:gd name="T40" fmla="*/ 41 w 85"/>
                <a:gd name="T41" fmla="*/ 327 h 342"/>
                <a:gd name="T42" fmla="*/ 26 w 85"/>
                <a:gd name="T43" fmla="*/ 316 h 342"/>
                <a:gd name="T44" fmla="*/ 17 w 85"/>
                <a:gd name="T45" fmla="*/ 118 h 342"/>
                <a:gd name="T46" fmla="*/ 50 w 85"/>
                <a:gd name="T47" fmla="*/ 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5" h="342">
                  <a:moveTo>
                    <a:pt x="45" y="0"/>
                  </a:moveTo>
                  <a:lnTo>
                    <a:pt x="42" y="6"/>
                  </a:lnTo>
                  <a:cubicBezTo>
                    <a:pt x="20" y="50"/>
                    <a:pt x="7" y="101"/>
                    <a:pt x="5" y="114"/>
                  </a:cubicBezTo>
                  <a:cubicBezTo>
                    <a:pt x="0" y="154"/>
                    <a:pt x="5" y="266"/>
                    <a:pt x="13" y="318"/>
                  </a:cubicBezTo>
                  <a:lnTo>
                    <a:pt x="14" y="318"/>
                  </a:lnTo>
                  <a:lnTo>
                    <a:pt x="14" y="318"/>
                  </a:lnTo>
                  <a:cubicBezTo>
                    <a:pt x="16" y="328"/>
                    <a:pt x="21" y="334"/>
                    <a:pt x="26" y="338"/>
                  </a:cubicBezTo>
                  <a:cubicBezTo>
                    <a:pt x="31" y="342"/>
                    <a:pt x="43" y="342"/>
                    <a:pt x="49" y="339"/>
                  </a:cubicBezTo>
                  <a:cubicBezTo>
                    <a:pt x="60" y="332"/>
                    <a:pt x="61" y="328"/>
                    <a:pt x="63" y="317"/>
                  </a:cubicBezTo>
                  <a:cubicBezTo>
                    <a:pt x="63" y="311"/>
                    <a:pt x="54" y="228"/>
                    <a:pt x="49" y="174"/>
                  </a:cubicBezTo>
                  <a:cubicBezTo>
                    <a:pt x="46" y="139"/>
                    <a:pt x="47" y="128"/>
                    <a:pt x="48" y="117"/>
                  </a:cubicBezTo>
                  <a:cubicBezTo>
                    <a:pt x="50" y="94"/>
                    <a:pt x="61" y="58"/>
                    <a:pt x="81" y="28"/>
                  </a:cubicBezTo>
                  <a:lnTo>
                    <a:pt x="85" y="22"/>
                  </a:lnTo>
                  <a:lnTo>
                    <a:pt x="79" y="19"/>
                  </a:lnTo>
                  <a:lnTo>
                    <a:pt x="50" y="3"/>
                  </a:lnTo>
                  <a:lnTo>
                    <a:pt x="45" y="0"/>
                  </a:lnTo>
                  <a:close/>
                  <a:moveTo>
                    <a:pt x="50" y="17"/>
                  </a:moveTo>
                  <a:lnTo>
                    <a:pt x="67" y="27"/>
                  </a:lnTo>
                  <a:cubicBezTo>
                    <a:pt x="45" y="59"/>
                    <a:pt x="41" y="78"/>
                    <a:pt x="35" y="115"/>
                  </a:cubicBezTo>
                  <a:cubicBezTo>
                    <a:pt x="30" y="136"/>
                    <a:pt x="49" y="269"/>
                    <a:pt x="50" y="318"/>
                  </a:cubicBezTo>
                  <a:cubicBezTo>
                    <a:pt x="50" y="323"/>
                    <a:pt x="46" y="326"/>
                    <a:pt x="41" y="327"/>
                  </a:cubicBezTo>
                  <a:cubicBezTo>
                    <a:pt x="32" y="327"/>
                    <a:pt x="27" y="321"/>
                    <a:pt x="26" y="316"/>
                  </a:cubicBezTo>
                  <a:cubicBezTo>
                    <a:pt x="15" y="240"/>
                    <a:pt x="16" y="124"/>
                    <a:pt x="17" y="118"/>
                  </a:cubicBezTo>
                  <a:cubicBezTo>
                    <a:pt x="19" y="98"/>
                    <a:pt x="33" y="47"/>
                    <a:pt x="50" y="17"/>
                  </a:cubicBezTo>
                  <a:close/>
                </a:path>
              </a:pathLst>
            </a:custGeom>
            <a:solidFill>
              <a:srgbClr val="D0D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6" name="Freeform 10"/>
            <p:cNvSpPr>
              <a:spLocks/>
            </p:cNvSpPr>
            <p:nvPr/>
          </p:nvSpPr>
          <p:spPr bwMode="auto">
            <a:xfrm>
              <a:off x="5192713" y="4319588"/>
              <a:ext cx="25400" cy="128588"/>
            </a:xfrm>
            <a:custGeom>
              <a:avLst/>
              <a:gdLst>
                <a:gd name="T0" fmla="*/ 0 w 71"/>
                <a:gd name="T1" fmla="*/ 16 h 341"/>
                <a:gd name="T2" fmla="*/ 41 w 71"/>
                <a:gd name="T3" fmla="*/ 117 h 341"/>
                <a:gd name="T4" fmla="*/ 20 w 71"/>
                <a:gd name="T5" fmla="*/ 309 h 341"/>
                <a:gd name="T6" fmla="*/ 56 w 71"/>
                <a:gd name="T7" fmla="*/ 308 h 341"/>
                <a:gd name="T8" fmla="*/ 71 w 71"/>
                <a:gd name="T9" fmla="*/ 110 h 341"/>
                <a:gd name="T10" fmla="*/ 29 w 71"/>
                <a:gd name="T11" fmla="*/ 0 h 341"/>
                <a:gd name="T12" fmla="*/ 0 w 71"/>
                <a:gd name="T13" fmla="*/ 16 h 341"/>
              </a:gdLst>
              <a:ahLst/>
              <a:cxnLst>
                <a:cxn ang="0">
                  <a:pos x="T0" y="T1"/>
                </a:cxn>
                <a:cxn ang="0">
                  <a:pos x="T2" y="T3"/>
                </a:cxn>
                <a:cxn ang="0">
                  <a:pos x="T4" y="T5"/>
                </a:cxn>
                <a:cxn ang="0">
                  <a:pos x="T6" y="T7"/>
                </a:cxn>
                <a:cxn ang="0">
                  <a:pos x="T8" y="T9"/>
                </a:cxn>
                <a:cxn ang="0">
                  <a:pos x="T10" y="T11"/>
                </a:cxn>
                <a:cxn ang="0">
                  <a:pos x="T12" y="T13"/>
                </a:cxn>
              </a:cxnLst>
              <a:rect l="0" t="0" r="r" b="b"/>
              <a:pathLst>
                <a:path w="71" h="341">
                  <a:moveTo>
                    <a:pt x="0" y="16"/>
                  </a:moveTo>
                  <a:cubicBezTo>
                    <a:pt x="20" y="46"/>
                    <a:pt x="41" y="91"/>
                    <a:pt x="41" y="117"/>
                  </a:cubicBezTo>
                  <a:cubicBezTo>
                    <a:pt x="39" y="248"/>
                    <a:pt x="28" y="246"/>
                    <a:pt x="20" y="309"/>
                  </a:cubicBezTo>
                  <a:cubicBezTo>
                    <a:pt x="19" y="326"/>
                    <a:pt x="48" y="341"/>
                    <a:pt x="56" y="308"/>
                  </a:cubicBezTo>
                  <a:cubicBezTo>
                    <a:pt x="70" y="225"/>
                    <a:pt x="71" y="157"/>
                    <a:pt x="71" y="110"/>
                  </a:cubicBezTo>
                  <a:cubicBezTo>
                    <a:pt x="64" y="67"/>
                    <a:pt x="45" y="34"/>
                    <a:pt x="29" y="0"/>
                  </a:cubicBezTo>
                  <a:lnTo>
                    <a:pt x="0" y="16"/>
                  </a:lnTo>
                  <a:close/>
                </a:path>
              </a:pathLst>
            </a:custGeom>
            <a:solidFill>
              <a:srgbClr val="FFFFCB"/>
            </a:solidFill>
            <a:ln w="4763" cap="flat">
              <a:solidFill>
                <a:srgbClr val="D0D080"/>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77" name="Freeform 11"/>
            <p:cNvSpPr>
              <a:spLocks/>
            </p:cNvSpPr>
            <p:nvPr/>
          </p:nvSpPr>
          <p:spPr bwMode="auto">
            <a:xfrm>
              <a:off x="4935538" y="3967163"/>
              <a:ext cx="314325" cy="298450"/>
            </a:xfrm>
            <a:custGeom>
              <a:avLst/>
              <a:gdLst>
                <a:gd name="T0" fmla="*/ 437 w 842"/>
                <a:gd name="T1" fmla="*/ 1 h 801"/>
                <a:gd name="T2" fmla="*/ 317 w 842"/>
                <a:gd name="T3" fmla="*/ 20 h 801"/>
                <a:gd name="T4" fmla="*/ 3 w 842"/>
                <a:gd name="T5" fmla="*/ 429 h 801"/>
                <a:gd name="T6" fmla="*/ 86 w 842"/>
                <a:gd name="T7" fmla="*/ 702 h 801"/>
                <a:gd name="T8" fmla="*/ 225 w 842"/>
                <a:gd name="T9" fmla="*/ 792 h 801"/>
                <a:gd name="T10" fmla="*/ 277 w 842"/>
                <a:gd name="T11" fmla="*/ 789 h 801"/>
                <a:gd name="T12" fmla="*/ 148 w 842"/>
                <a:gd name="T13" fmla="*/ 700 h 801"/>
                <a:gd name="T14" fmla="*/ 55 w 842"/>
                <a:gd name="T15" fmla="*/ 439 h 801"/>
                <a:gd name="T16" fmla="*/ 127 w 842"/>
                <a:gd name="T17" fmla="*/ 215 h 801"/>
                <a:gd name="T18" fmla="*/ 328 w 842"/>
                <a:gd name="T19" fmla="*/ 65 h 801"/>
                <a:gd name="T20" fmla="*/ 706 w 842"/>
                <a:gd name="T21" fmla="*/ 176 h 801"/>
                <a:gd name="T22" fmla="*/ 750 w 842"/>
                <a:gd name="T23" fmla="*/ 558 h 801"/>
                <a:gd name="T24" fmla="*/ 605 w 842"/>
                <a:gd name="T25" fmla="*/ 801 h 801"/>
                <a:gd name="T26" fmla="*/ 658 w 842"/>
                <a:gd name="T27" fmla="*/ 751 h 801"/>
                <a:gd name="T28" fmla="*/ 790 w 842"/>
                <a:gd name="T29" fmla="*/ 538 h 801"/>
                <a:gd name="T30" fmla="*/ 738 w 842"/>
                <a:gd name="T31" fmla="*/ 157 h 801"/>
                <a:gd name="T32" fmla="*/ 437 w 842"/>
                <a:gd name="T33" fmla="*/ 1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2" h="801">
                  <a:moveTo>
                    <a:pt x="437" y="1"/>
                  </a:moveTo>
                  <a:cubicBezTo>
                    <a:pt x="397" y="2"/>
                    <a:pt x="357" y="8"/>
                    <a:pt x="317" y="20"/>
                  </a:cubicBezTo>
                  <a:cubicBezTo>
                    <a:pt x="160" y="69"/>
                    <a:pt x="7" y="207"/>
                    <a:pt x="3" y="429"/>
                  </a:cubicBezTo>
                  <a:cubicBezTo>
                    <a:pt x="1" y="536"/>
                    <a:pt x="0" y="587"/>
                    <a:pt x="86" y="702"/>
                  </a:cubicBezTo>
                  <a:cubicBezTo>
                    <a:pt x="116" y="742"/>
                    <a:pt x="159" y="777"/>
                    <a:pt x="225" y="792"/>
                  </a:cubicBezTo>
                  <a:lnTo>
                    <a:pt x="277" y="789"/>
                  </a:lnTo>
                  <a:cubicBezTo>
                    <a:pt x="219" y="753"/>
                    <a:pt x="172" y="728"/>
                    <a:pt x="148" y="700"/>
                  </a:cubicBezTo>
                  <a:cubicBezTo>
                    <a:pt x="59" y="596"/>
                    <a:pt x="53" y="543"/>
                    <a:pt x="55" y="439"/>
                  </a:cubicBezTo>
                  <a:cubicBezTo>
                    <a:pt x="57" y="348"/>
                    <a:pt x="88" y="272"/>
                    <a:pt x="127" y="215"/>
                  </a:cubicBezTo>
                  <a:cubicBezTo>
                    <a:pt x="178" y="138"/>
                    <a:pt x="246" y="90"/>
                    <a:pt x="328" y="65"/>
                  </a:cubicBezTo>
                  <a:cubicBezTo>
                    <a:pt x="472" y="21"/>
                    <a:pt x="631" y="52"/>
                    <a:pt x="706" y="176"/>
                  </a:cubicBezTo>
                  <a:cubicBezTo>
                    <a:pt x="756" y="260"/>
                    <a:pt x="802" y="395"/>
                    <a:pt x="750" y="558"/>
                  </a:cubicBezTo>
                  <a:cubicBezTo>
                    <a:pt x="728" y="623"/>
                    <a:pt x="660" y="715"/>
                    <a:pt x="605" y="801"/>
                  </a:cubicBezTo>
                  <a:lnTo>
                    <a:pt x="658" y="751"/>
                  </a:lnTo>
                  <a:cubicBezTo>
                    <a:pt x="715" y="680"/>
                    <a:pt x="765" y="620"/>
                    <a:pt x="790" y="538"/>
                  </a:cubicBezTo>
                  <a:cubicBezTo>
                    <a:pt x="842" y="362"/>
                    <a:pt x="792" y="248"/>
                    <a:pt x="738" y="157"/>
                  </a:cubicBezTo>
                  <a:cubicBezTo>
                    <a:pt x="674" y="51"/>
                    <a:pt x="558" y="0"/>
                    <a:pt x="437"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8" name="Freeform 12"/>
            <p:cNvSpPr>
              <a:spLocks/>
            </p:cNvSpPr>
            <p:nvPr/>
          </p:nvSpPr>
          <p:spPr bwMode="auto">
            <a:xfrm>
              <a:off x="4859338" y="3914775"/>
              <a:ext cx="598488" cy="1154113"/>
            </a:xfrm>
            <a:custGeom>
              <a:avLst/>
              <a:gdLst>
                <a:gd name="T0" fmla="*/ 1337 w 1596"/>
                <a:gd name="T1" fmla="*/ 119 h 3084"/>
                <a:gd name="T2" fmla="*/ 843 w 1596"/>
                <a:gd name="T3" fmla="*/ 884 h 3084"/>
                <a:gd name="T4" fmla="*/ 1074 w 1596"/>
                <a:gd name="T5" fmla="*/ 659 h 3084"/>
                <a:gd name="T6" fmla="*/ 1443 w 1596"/>
                <a:gd name="T7" fmla="*/ 62 h 3084"/>
                <a:gd name="T8" fmla="*/ 1534 w 1596"/>
                <a:gd name="T9" fmla="*/ 60 h 3084"/>
                <a:gd name="T10" fmla="*/ 1432 w 1596"/>
                <a:gd name="T11" fmla="*/ 563 h 3084"/>
                <a:gd name="T12" fmla="*/ 1223 w 1596"/>
                <a:gd name="T13" fmla="*/ 1138 h 3084"/>
                <a:gd name="T14" fmla="*/ 1212 w 1596"/>
                <a:gd name="T15" fmla="*/ 1557 h 3084"/>
                <a:gd name="T16" fmla="*/ 1300 w 1596"/>
                <a:gd name="T17" fmla="*/ 2502 h 3084"/>
                <a:gd name="T18" fmla="*/ 1164 w 1596"/>
                <a:gd name="T19" fmla="*/ 3023 h 3084"/>
                <a:gd name="T20" fmla="*/ 1025 w 1596"/>
                <a:gd name="T21" fmla="*/ 2455 h 3084"/>
                <a:gd name="T22" fmla="*/ 905 w 1596"/>
                <a:gd name="T23" fmla="*/ 2136 h 3084"/>
                <a:gd name="T24" fmla="*/ 851 w 1596"/>
                <a:gd name="T25" fmla="*/ 2167 h 3084"/>
                <a:gd name="T26" fmla="*/ 618 w 1596"/>
                <a:gd name="T27" fmla="*/ 3020 h 3084"/>
                <a:gd name="T28" fmla="*/ 567 w 1596"/>
                <a:gd name="T29" fmla="*/ 3030 h 3084"/>
                <a:gd name="T30" fmla="*/ 489 w 1596"/>
                <a:gd name="T31" fmla="*/ 2842 h 3084"/>
                <a:gd name="T32" fmla="*/ 437 w 1596"/>
                <a:gd name="T33" fmla="*/ 1615 h 3084"/>
                <a:gd name="T34" fmla="*/ 363 w 1596"/>
                <a:gd name="T35" fmla="*/ 1555 h 3084"/>
                <a:gd name="T36" fmla="*/ 360 w 1596"/>
                <a:gd name="T37" fmla="*/ 1557 h 3084"/>
                <a:gd name="T38" fmla="*/ 246 w 1596"/>
                <a:gd name="T39" fmla="*/ 1791 h 3084"/>
                <a:gd name="T40" fmla="*/ 163 w 1596"/>
                <a:gd name="T41" fmla="*/ 2157 h 3084"/>
                <a:gd name="T42" fmla="*/ 121 w 1596"/>
                <a:gd name="T43" fmla="*/ 2156 h 3084"/>
                <a:gd name="T44" fmla="*/ 82 w 1596"/>
                <a:gd name="T45" fmla="*/ 2081 h 3084"/>
                <a:gd name="T46" fmla="*/ 305 w 1596"/>
                <a:gd name="T47" fmla="*/ 1017 h 3084"/>
                <a:gd name="T48" fmla="*/ 278 w 1596"/>
                <a:gd name="T49" fmla="*/ 997 h 3084"/>
                <a:gd name="T50" fmla="*/ 40 w 1596"/>
                <a:gd name="T51" fmla="*/ 2105 h 3084"/>
                <a:gd name="T52" fmla="*/ 132 w 1596"/>
                <a:gd name="T53" fmla="*/ 2209 h 3084"/>
                <a:gd name="T54" fmla="*/ 261 w 1596"/>
                <a:gd name="T55" fmla="*/ 1984 h 3084"/>
                <a:gd name="T56" fmla="*/ 334 w 1596"/>
                <a:gd name="T57" fmla="*/ 1623 h 3084"/>
                <a:gd name="T58" fmla="*/ 373 w 1596"/>
                <a:gd name="T59" fmla="*/ 1589 h 3084"/>
                <a:gd name="T60" fmla="*/ 426 w 1596"/>
                <a:gd name="T61" fmla="*/ 1788 h 3084"/>
                <a:gd name="T62" fmla="*/ 488 w 1596"/>
                <a:gd name="T63" fmla="*/ 3017 h 3084"/>
                <a:gd name="T64" fmla="*/ 638 w 1596"/>
                <a:gd name="T65" fmla="*/ 3065 h 3084"/>
                <a:gd name="T66" fmla="*/ 891 w 1596"/>
                <a:gd name="T67" fmla="*/ 2186 h 3084"/>
                <a:gd name="T68" fmla="*/ 987 w 1596"/>
                <a:gd name="T69" fmla="*/ 2456 h 3084"/>
                <a:gd name="T70" fmla="*/ 1115 w 1596"/>
                <a:gd name="T71" fmla="*/ 3065 h 3084"/>
                <a:gd name="T72" fmla="*/ 1176 w 1596"/>
                <a:gd name="T73" fmla="*/ 3071 h 3084"/>
                <a:gd name="T74" fmla="*/ 1337 w 1596"/>
                <a:gd name="T75" fmla="*/ 2504 h 3084"/>
                <a:gd name="T76" fmla="*/ 1260 w 1596"/>
                <a:gd name="T77" fmla="*/ 1564 h 3084"/>
                <a:gd name="T78" fmla="*/ 1282 w 1596"/>
                <a:gd name="T79" fmla="*/ 994 h 3084"/>
                <a:gd name="T80" fmla="*/ 1319 w 1596"/>
                <a:gd name="T81" fmla="*/ 893 h 3084"/>
                <a:gd name="T82" fmla="*/ 1591 w 1596"/>
                <a:gd name="T83" fmla="*/ 79 h 3084"/>
                <a:gd name="T84" fmla="*/ 1532 w 1596"/>
                <a:gd name="T85" fmla="*/ 1 h 3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6" h="3084">
                  <a:moveTo>
                    <a:pt x="1524" y="0"/>
                  </a:moveTo>
                  <a:cubicBezTo>
                    <a:pt x="1483" y="1"/>
                    <a:pt x="1451" y="14"/>
                    <a:pt x="1419" y="33"/>
                  </a:cubicBezTo>
                  <a:cubicBezTo>
                    <a:pt x="1388" y="53"/>
                    <a:pt x="1361" y="83"/>
                    <a:pt x="1337" y="119"/>
                  </a:cubicBezTo>
                  <a:cubicBezTo>
                    <a:pt x="1288" y="190"/>
                    <a:pt x="1248" y="287"/>
                    <a:pt x="1196" y="390"/>
                  </a:cubicBezTo>
                  <a:cubicBezTo>
                    <a:pt x="1131" y="516"/>
                    <a:pt x="1060" y="620"/>
                    <a:pt x="982" y="720"/>
                  </a:cubicBezTo>
                  <a:cubicBezTo>
                    <a:pt x="938" y="777"/>
                    <a:pt x="897" y="845"/>
                    <a:pt x="843" y="884"/>
                  </a:cubicBezTo>
                  <a:lnTo>
                    <a:pt x="809" y="936"/>
                  </a:lnTo>
                  <a:cubicBezTo>
                    <a:pt x="846" y="909"/>
                    <a:pt x="899" y="857"/>
                    <a:pt x="935" y="822"/>
                  </a:cubicBezTo>
                  <a:cubicBezTo>
                    <a:pt x="989" y="768"/>
                    <a:pt x="1025" y="726"/>
                    <a:pt x="1074" y="659"/>
                  </a:cubicBezTo>
                  <a:cubicBezTo>
                    <a:pt x="1133" y="578"/>
                    <a:pt x="1186" y="491"/>
                    <a:pt x="1229" y="407"/>
                  </a:cubicBezTo>
                  <a:cubicBezTo>
                    <a:pt x="1282" y="303"/>
                    <a:pt x="1323" y="206"/>
                    <a:pt x="1368" y="140"/>
                  </a:cubicBezTo>
                  <a:cubicBezTo>
                    <a:pt x="1390" y="107"/>
                    <a:pt x="1418" y="78"/>
                    <a:pt x="1443" y="62"/>
                  </a:cubicBezTo>
                  <a:cubicBezTo>
                    <a:pt x="1464" y="50"/>
                    <a:pt x="1473" y="46"/>
                    <a:pt x="1501" y="45"/>
                  </a:cubicBezTo>
                  <a:cubicBezTo>
                    <a:pt x="1506" y="45"/>
                    <a:pt x="1514" y="47"/>
                    <a:pt x="1519" y="49"/>
                  </a:cubicBezTo>
                  <a:cubicBezTo>
                    <a:pt x="1524" y="52"/>
                    <a:pt x="1529" y="54"/>
                    <a:pt x="1534" y="60"/>
                  </a:cubicBezTo>
                  <a:cubicBezTo>
                    <a:pt x="1540" y="66"/>
                    <a:pt x="1548" y="76"/>
                    <a:pt x="1550" y="92"/>
                  </a:cubicBezTo>
                  <a:cubicBezTo>
                    <a:pt x="1554" y="122"/>
                    <a:pt x="1551" y="167"/>
                    <a:pt x="1542" y="218"/>
                  </a:cubicBezTo>
                  <a:cubicBezTo>
                    <a:pt x="1524" y="320"/>
                    <a:pt x="1482" y="450"/>
                    <a:pt x="1432" y="563"/>
                  </a:cubicBezTo>
                  <a:cubicBezTo>
                    <a:pt x="1376" y="687"/>
                    <a:pt x="1318" y="775"/>
                    <a:pt x="1287" y="884"/>
                  </a:cubicBezTo>
                  <a:cubicBezTo>
                    <a:pt x="1286" y="885"/>
                    <a:pt x="1284" y="888"/>
                    <a:pt x="1284" y="889"/>
                  </a:cubicBezTo>
                  <a:cubicBezTo>
                    <a:pt x="1264" y="918"/>
                    <a:pt x="1231" y="1028"/>
                    <a:pt x="1223" y="1138"/>
                  </a:cubicBezTo>
                  <a:cubicBezTo>
                    <a:pt x="1214" y="1251"/>
                    <a:pt x="1201" y="1379"/>
                    <a:pt x="1210" y="1532"/>
                  </a:cubicBezTo>
                  <a:lnTo>
                    <a:pt x="1211" y="1548"/>
                  </a:lnTo>
                  <a:lnTo>
                    <a:pt x="1212" y="1557"/>
                  </a:lnTo>
                  <a:cubicBezTo>
                    <a:pt x="1237" y="1751"/>
                    <a:pt x="1259" y="1880"/>
                    <a:pt x="1281" y="2054"/>
                  </a:cubicBezTo>
                  <a:cubicBezTo>
                    <a:pt x="1299" y="2191"/>
                    <a:pt x="1300" y="2324"/>
                    <a:pt x="1302" y="2445"/>
                  </a:cubicBezTo>
                  <a:cubicBezTo>
                    <a:pt x="1302" y="2446"/>
                    <a:pt x="1300" y="2501"/>
                    <a:pt x="1300" y="2502"/>
                  </a:cubicBezTo>
                  <a:cubicBezTo>
                    <a:pt x="1291" y="2632"/>
                    <a:pt x="1286" y="2740"/>
                    <a:pt x="1261" y="2843"/>
                  </a:cubicBezTo>
                  <a:cubicBezTo>
                    <a:pt x="1249" y="2895"/>
                    <a:pt x="1241" y="2940"/>
                    <a:pt x="1224" y="2973"/>
                  </a:cubicBezTo>
                  <a:cubicBezTo>
                    <a:pt x="1208" y="3004"/>
                    <a:pt x="1186" y="3017"/>
                    <a:pt x="1164" y="3023"/>
                  </a:cubicBezTo>
                  <a:cubicBezTo>
                    <a:pt x="1127" y="3021"/>
                    <a:pt x="1098" y="2992"/>
                    <a:pt x="1076" y="2952"/>
                  </a:cubicBezTo>
                  <a:cubicBezTo>
                    <a:pt x="1054" y="2910"/>
                    <a:pt x="1040" y="2856"/>
                    <a:pt x="1033" y="2797"/>
                  </a:cubicBezTo>
                  <a:cubicBezTo>
                    <a:pt x="1018" y="2679"/>
                    <a:pt x="1028" y="2545"/>
                    <a:pt x="1025" y="2455"/>
                  </a:cubicBezTo>
                  <a:cubicBezTo>
                    <a:pt x="1023" y="2392"/>
                    <a:pt x="1001" y="2290"/>
                    <a:pt x="972" y="2232"/>
                  </a:cubicBezTo>
                  <a:cubicBezTo>
                    <a:pt x="958" y="2203"/>
                    <a:pt x="942" y="2178"/>
                    <a:pt x="927" y="2159"/>
                  </a:cubicBezTo>
                  <a:cubicBezTo>
                    <a:pt x="920" y="2150"/>
                    <a:pt x="913" y="2142"/>
                    <a:pt x="905" y="2136"/>
                  </a:cubicBezTo>
                  <a:cubicBezTo>
                    <a:pt x="897" y="2130"/>
                    <a:pt x="873" y="2128"/>
                    <a:pt x="861" y="2128"/>
                  </a:cubicBezTo>
                  <a:lnTo>
                    <a:pt x="855" y="2153"/>
                  </a:lnTo>
                  <a:lnTo>
                    <a:pt x="851" y="2167"/>
                  </a:lnTo>
                  <a:cubicBezTo>
                    <a:pt x="816" y="2323"/>
                    <a:pt x="770" y="2596"/>
                    <a:pt x="733" y="2745"/>
                  </a:cubicBezTo>
                  <a:cubicBezTo>
                    <a:pt x="711" y="2836"/>
                    <a:pt x="686" y="2925"/>
                    <a:pt x="659" y="2980"/>
                  </a:cubicBezTo>
                  <a:cubicBezTo>
                    <a:pt x="646" y="3007"/>
                    <a:pt x="622" y="3017"/>
                    <a:pt x="618" y="3020"/>
                  </a:cubicBezTo>
                  <a:cubicBezTo>
                    <a:pt x="610" y="3024"/>
                    <a:pt x="612" y="3023"/>
                    <a:pt x="593" y="3028"/>
                  </a:cubicBezTo>
                  <a:lnTo>
                    <a:pt x="578" y="3030"/>
                  </a:lnTo>
                  <a:lnTo>
                    <a:pt x="567" y="3030"/>
                  </a:lnTo>
                  <a:cubicBezTo>
                    <a:pt x="561" y="3029"/>
                    <a:pt x="558" y="3029"/>
                    <a:pt x="550" y="3025"/>
                  </a:cubicBezTo>
                  <a:cubicBezTo>
                    <a:pt x="543" y="3021"/>
                    <a:pt x="537" y="3014"/>
                    <a:pt x="528" y="2998"/>
                  </a:cubicBezTo>
                  <a:cubicBezTo>
                    <a:pt x="511" y="2969"/>
                    <a:pt x="496" y="2912"/>
                    <a:pt x="489" y="2842"/>
                  </a:cubicBezTo>
                  <a:cubicBezTo>
                    <a:pt x="474" y="2703"/>
                    <a:pt x="473" y="2509"/>
                    <a:pt x="473" y="2316"/>
                  </a:cubicBezTo>
                  <a:cubicBezTo>
                    <a:pt x="472" y="2122"/>
                    <a:pt x="474" y="1928"/>
                    <a:pt x="463" y="1785"/>
                  </a:cubicBezTo>
                  <a:cubicBezTo>
                    <a:pt x="458" y="1714"/>
                    <a:pt x="450" y="1656"/>
                    <a:pt x="437" y="1615"/>
                  </a:cubicBezTo>
                  <a:cubicBezTo>
                    <a:pt x="430" y="1595"/>
                    <a:pt x="422" y="1579"/>
                    <a:pt x="409" y="1567"/>
                  </a:cubicBezTo>
                  <a:cubicBezTo>
                    <a:pt x="397" y="1556"/>
                    <a:pt x="379" y="1552"/>
                    <a:pt x="363" y="1556"/>
                  </a:cubicBezTo>
                  <a:lnTo>
                    <a:pt x="363" y="1555"/>
                  </a:lnTo>
                  <a:cubicBezTo>
                    <a:pt x="362" y="1555"/>
                    <a:pt x="362" y="1556"/>
                    <a:pt x="361" y="1556"/>
                  </a:cubicBezTo>
                  <a:cubicBezTo>
                    <a:pt x="361" y="1556"/>
                    <a:pt x="360" y="1556"/>
                    <a:pt x="360" y="1556"/>
                  </a:cubicBezTo>
                  <a:lnTo>
                    <a:pt x="360" y="1557"/>
                  </a:lnTo>
                  <a:cubicBezTo>
                    <a:pt x="334" y="1562"/>
                    <a:pt x="314" y="1577"/>
                    <a:pt x="301" y="1594"/>
                  </a:cubicBezTo>
                  <a:cubicBezTo>
                    <a:pt x="288" y="1612"/>
                    <a:pt x="282" y="1631"/>
                    <a:pt x="276" y="1644"/>
                  </a:cubicBezTo>
                  <a:cubicBezTo>
                    <a:pt x="261" y="1679"/>
                    <a:pt x="253" y="1731"/>
                    <a:pt x="246" y="1791"/>
                  </a:cubicBezTo>
                  <a:cubicBezTo>
                    <a:pt x="239" y="1851"/>
                    <a:pt x="233" y="1918"/>
                    <a:pt x="224" y="1979"/>
                  </a:cubicBezTo>
                  <a:cubicBezTo>
                    <a:pt x="215" y="2039"/>
                    <a:pt x="203" y="2094"/>
                    <a:pt x="187" y="2126"/>
                  </a:cubicBezTo>
                  <a:cubicBezTo>
                    <a:pt x="179" y="2143"/>
                    <a:pt x="170" y="2153"/>
                    <a:pt x="163" y="2157"/>
                  </a:cubicBezTo>
                  <a:cubicBezTo>
                    <a:pt x="155" y="2161"/>
                    <a:pt x="150" y="2166"/>
                    <a:pt x="136" y="2163"/>
                  </a:cubicBezTo>
                  <a:lnTo>
                    <a:pt x="128" y="2160"/>
                  </a:lnTo>
                  <a:lnTo>
                    <a:pt x="121" y="2156"/>
                  </a:lnTo>
                  <a:cubicBezTo>
                    <a:pt x="121" y="2156"/>
                    <a:pt x="119" y="2155"/>
                    <a:pt x="117" y="2154"/>
                  </a:cubicBezTo>
                  <a:cubicBezTo>
                    <a:pt x="115" y="2152"/>
                    <a:pt x="114" y="2149"/>
                    <a:pt x="110" y="2143"/>
                  </a:cubicBezTo>
                  <a:cubicBezTo>
                    <a:pt x="101" y="2131"/>
                    <a:pt x="91" y="2110"/>
                    <a:pt x="82" y="2081"/>
                  </a:cubicBezTo>
                  <a:cubicBezTo>
                    <a:pt x="65" y="2024"/>
                    <a:pt x="51" y="1939"/>
                    <a:pt x="46" y="1839"/>
                  </a:cubicBezTo>
                  <a:cubicBezTo>
                    <a:pt x="38" y="1638"/>
                    <a:pt x="68" y="1375"/>
                    <a:pt x="181" y="1144"/>
                  </a:cubicBezTo>
                  <a:cubicBezTo>
                    <a:pt x="207" y="1089"/>
                    <a:pt x="254" y="1045"/>
                    <a:pt x="305" y="1017"/>
                  </a:cubicBezTo>
                  <a:cubicBezTo>
                    <a:pt x="355" y="990"/>
                    <a:pt x="457" y="942"/>
                    <a:pt x="520" y="915"/>
                  </a:cubicBezTo>
                  <a:lnTo>
                    <a:pt x="445" y="920"/>
                  </a:lnTo>
                  <a:cubicBezTo>
                    <a:pt x="377" y="950"/>
                    <a:pt x="332" y="967"/>
                    <a:pt x="278" y="997"/>
                  </a:cubicBezTo>
                  <a:cubicBezTo>
                    <a:pt x="224" y="1026"/>
                    <a:pt x="178" y="1065"/>
                    <a:pt x="147" y="1128"/>
                  </a:cubicBezTo>
                  <a:cubicBezTo>
                    <a:pt x="31" y="1366"/>
                    <a:pt x="0" y="1634"/>
                    <a:pt x="9" y="1840"/>
                  </a:cubicBezTo>
                  <a:cubicBezTo>
                    <a:pt x="13" y="1943"/>
                    <a:pt x="21" y="2043"/>
                    <a:pt x="40" y="2105"/>
                  </a:cubicBezTo>
                  <a:cubicBezTo>
                    <a:pt x="50" y="2136"/>
                    <a:pt x="60" y="2162"/>
                    <a:pt x="73" y="2179"/>
                  </a:cubicBezTo>
                  <a:cubicBezTo>
                    <a:pt x="79" y="2188"/>
                    <a:pt x="92" y="2197"/>
                    <a:pt x="101" y="2203"/>
                  </a:cubicBezTo>
                  <a:cubicBezTo>
                    <a:pt x="108" y="2206"/>
                    <a:pt x="123" y="2210"/>
                    <a:pt x="132" y="2209"/>
                  </a:cubicBezTo>
                  <a:cubicBezTo>
                    <a:pt x="150" y="2209"/>
                    <a:pt x="161" y="2206"/>
                    <a:pt x="178" y="2198"/>
                  </a:cubicBezTo>
                  <a:cubicBezTo>
                    <a:pt x="195" y="2188"/>
                    <a:pt x="211" y="2163"/>
                    <a:pt x="221" y="2143"/>
                  </a:cubicBezTo>
                  <a:cubicBezTo>
                    <a:pt x="241" y="2103"/>
                    <a:pt x="252" y="2046"/>
                    <a:pt x="261" y="1984"/>
                  </a:cubicBezTo>
                  <a:cubicBezTo>
                    <a:pt x="270" y="1922"/>
                    <a:pt x="280" y="1861"/>
                    <a:pt x="287" y="1802"/>
                  </a:cubicBezTo>
                  <a:cubicBezTo>
                    <a:pt x="294" y="1743"/>
                    <a:pt x="303" y="1692"/>
                    <a:pt x="315" y="1665"/>
                  </a:cubicBezTo>
                  <a:cubicBezTo>
                    <a:pt x="321" y="1651"/>
                    <a:pt x="325" y="1636"/>
                    <a:pt x="334" y="1623"/>
                  </a:cubicBezTo>
                  <a:cubicBezTo>
                    <a:pt x="343" y="1611"/>
                    <a:pt x="354" y="1591"/>
                    <a:pt x="372" y="1588"/>
                  </a:cubicBezTo>
                  <a:lnTo>
                    <a:pt x="371" y="1589"/>
                  </a:lnTo>
                  <a:lnTo>
                    <a:pt x="373" y="1589"/>
                  </a:lnTo>
                  <a:cubicBezTo>
                    <a:pt x="379" y="1586"/>
                    <a:pt x="379" y="1589"/>
                    <a:pt x="383" y="1594"/>
                  </a:cubicBezTo>
                  <a:cubicBezTo>
                    <a:pt x="388" y="1598"/>
                    <a:pt x="395" y="1610"/>
                    <a:pt x="401" y="1627"/>
                  </a:cubicBezTo>
                  <a:cubicBezTo>
                    <a:pt x="413" y="1662"/>
                    <a:pt x="421" y="1718"/>
                    <a:pt x="426" y="1788"/>
                  </a:cubicBezTo>
                  <a:cubicBezTo>
                    <a:pt x="436" y="1928"/>
                    <a:pt x="435" y="2122"/>
                    <a:pt x="435" y="2315"/>
                  </a:cubicBezTo>
                  <a:cubicBezTo>
                    <a:pt x="435" y="2509"/>
                    <a:pt x="436" y="2703"/>
                    <a:pt x="451" y="2846"/>
                  </a:cubicBezTo>
                  <a:cubicBezTo>
                    <a:pt x="459" y="2917"/>
                    <a:pt x="470" y="2976"/>
                    <a:pt x="488" y="3017"/>
                  </a:cubicBezTo>
                  <a:cubicBezTo>
                    <a:pt x="497" y="3038"/>
                    <a:pt x="507" y="3054"/>
                    <a:pt x="522" y="3065"/>
                  </a:cubicBezTo>
                  <a:cubicBezTo>
                    <a:pt x="535" y="3076"/>
                    <a:pt x="551" y="3082"/>
                    <a:pt x="568" y="3082"/>
                  </a:cubicBezTo>
                  <a:cubicBezTo>
                    <a:pt x="593" y="3084"/>
                    <a:pt x="618" y="3079"/>
                    <a:pt x="638" y="3065"/>
                  </a:cubicBezTo>
                  <a:cubicBezTo>
                    <a:pt x="660" y="3050"/>
                    <a:pt x="677" y="3027"/>
                    <a:pt x="692" y="2998"/>
                  </a:cubicBezTo>
                  <a:cubicBezTo>
                    <a:pt x="723" y="2939"/>
                    <a:pt x="746" y="2855"/>
                    <a:pt x="768" y="2760"/>
                  </a:cubicBezTo>
                  <a:cubicBezTo>
                    <a:pt x="809" y="2578"/>
                    <a:pt x="871" y="2339"/>
                    <a:pt x="891" y="2186"/>
                  </a:cubicBezTo>
                  <a:cubicBezTo>
                    <a:pt x="894" y="2189"/>
                    <a:pt x="905" y="2201"/>
                    <a:pt x="909" y="2205"/>
                  </a:cubicBezTo>
                  <a:cubicBezTo>
                    <a:pt x="921" y="2221"/>
                    <a:pt x="931" y="2243"/>
                    <a:pt x="944" y="2270"/>
                  </a:cubicBezTo>
                  <a:cubicBezTo>
                    <a:pt x="971" y="2325"/>
                    <a:pt x="986" y="2402"/>
                    <a:pt x="987" y="2456"/>
                  </a:cubicBezTo>
                  <a:cubicBezTo>
                    <a:pt x="990" y="2542"/>
                    <a:pt x="981" y="2679"/>
                    <a:pt x="996" y="2802"/>
                  </a:cubicBezTo>
                  <a:cubicBezTo>
                    <a:pt x="1004" y="2863"/>
                    <a:pt x="1021" y="2940"/>
                    <a:pt x="1047" y="2988"/>
                  </a:cubicBezTo>
                  <a:cubicBezTo>
                    <a:pt x="1065" y="3021"/>
                    <a:pt x="1085" y="3051"/>
                    <a:pt x="1115" y="3065"/>
                  </a:cubicBezTo>
                  <a:cubicBezTo>
                    <a:pt x="1129" y="3071"/>
                    <a:pt x="1129" y="3070"/>
                    <a:pt x="1146" y="3075"/>
                  </a:cubicBezTo>
                  <a:lnTo>
                    <a:pt x="1164" y="3074"/>
                  </a:lnTo>
                  <a:lnTo>
                    <a:pt x="1176" y="3071"/>
                  </a:lnTo>
                  <a:cubicBezTo>
                    <a:pt x="1211" y="3058"/>
                    <a:pt x="1237" y="3029"/>
                    <a:pt x="1257" y="2990"/>
                  </a:cubicBezTo>
                  <a:cubicBezTo>
                    <a:pt x="1276" y="2952"/>
                    <a:pt x="1290" y="2904"/>
                    <a:pt x="1300" y="2849"/>
                  </a:cubicBezTo>
                  <a:cubicBezTo>
                    <a:pt x="1321" y="2741"/>
                    <a:pt x="1328" y="2635"/>
                    <a:pt x="1337" y="2504"/>
                  </a:cubicBezTo>
                  <a:lnTo>
                    <a:pt x="1338" y="2476"/>
                  </a:lnTo>
                  <a:lnTo>
                    <a:pt x="1338" y="2475"/>
                  </a:lnTo>
                  <a:cubicBezTo>
                    <a:pt x="1356" y="2123"/>
                    <a:pt x="1301" y="1901"/>
                    <a:pt x="1260" y="1564"/>
                  </a:cubicBezTo>
                  <a:cubicBezTo>
                    <a:pt x="1258" y="1556"/>
                    <a:pt x="1258" y="1537"/>
                    <a:pt x="1258" y="1537"/>
                  </a:cubicBezTo>
                  <a:cubicBezTo>
                    <a:pt x="1249" y="1386"/>
                    <a:pt x="1251" y="1247"/>
                    <a:pt x="1259" y="1137"/>
                  </a:cubicBezTo>
                  <a:cubicBezTo>
                    <a:pt x="1263" y="1083"/>
                    <a:pt x="1273" y="1033"/>
                    <a:pt x="1282" y="994"/>
                  </a:cubicBezTo>
                  <a:cubicBezTo>
                    <a:pt x="1292" y="954"/>
                    <a:pt x="1298" y="934"/>
                    <a:pt x="1315" y="905"/>
                  </a:cubicBezTo>
                  <a:lnTo>
                    <a:pt x="1317" y="899"/>
                  </a:lnTo>
                  <a:lnTo>
                    <a:pt x="1319" y="893"/>
                  </a:lnTo>
                  <a:cubicBezTo>
                    <a:pt x="1349" y="790"/>
                    <a:pt x="1414" y="710"/>
                    <a:pt x="1471" y="582"/>
                  </a:cubicBezTo>
                  <a:cubicBezTo>
                    <a:pt x="1523" y="466"/>
                    <a:pt x="1565" y="329"/>
                    <a:pt x="1583" y="222"/>
                  </a:cubicBezTo>
                  <a:cubicBezTo>
                    <a:pt x="1593" y="169"/>
                    <a:pt x="1596" y="116"/>
                    <a:pt x="1591" y="79"/>
                  </a:cubicBezTo>
                  <a:cubicBezTo>
                    <a:pt x="1588" y="60"/>
                    <a:pt x="1579" y="42"/>
                    <a:pt x="1570" y="28"/>
                  </a:cubicBezTo>
                  <a:cubicBezTo>
                    <a:pt x="1562" y="15"/>
                    <a:pt x="1546" y="5"/>
                    <a:pt x="1536" y="2"/>
                  </a:cubicBezTo>
                  <a:lnTo>
                    <a:pt x="1532" y="1"/>
                  </a:lnTo>
                  <a:lnTo>
                    <a:pt x="1529" y="0"/>
                  </a:lnTo>
                  <a:lnTo>
                    <a:pt x="15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79" name="Freeform 13"/>
            <p:cNvSpPr>
              <a:spLocks/>
            </p:cNvSpPr>
            <p:nvPr/>
          </p:nvSpPr>
          <p:spPr bwMode="auto">
            <a:xfrm>
              <a:off x="4902200" y="4216400"/>
              <a:ext cx="282575" cy="106363"/>
            </a:xfrm>
            <a:custGeom>
              <a:avLst/>
              <a:gdLst>
                <a:gd name="T0" fmla="*/ 758 w 758"/>
                <a:gd name="T1" fmla="*/ 265 h 282"/>
                <a:gd name="T2" fmla="*/ 659 w 758"/>
                <a:gd name="T3" fmla="*/ 173 h 282"/>
                <a:gd name="T4" fmla="*/ 489 w 758"/>
                <a:gd name="T5" fmla="*/ 89 h 282"/>
                <a:gd name="T6" fmla="*/ 241 w 758"/>
                <a:gd name="T7" fmla="*/ 13 h 282"/>
                <a:gd name="T8" fmla="*/ 164 w 758"/>
                <a:gd name="T9" fmla="*/ 0 h 282"/>
                <a:gd name="T10" fmla="*/ 73 w 758"/>
                <a:gd name="T11" fmla="*/ 55 h 282"/>
                <a:gd name="T12" fmla="*/ 0 w 758"/>
                <a:gd name="T13" fmla="*/ 164 h 282"/>
                <a:gd name="T14" fmla="*/ 5 w 758"/>
                <a:gd name="T15" fmla="*/ 279 h 282"/>
                <a:gd name="T16" fmla="*/ 285 w 758"/>
                <a:gd name="T17" fmla="*/ 230 h 282"/>
                <a:gd name="T18" fmla="*/ 473 w 758"/>
                <a:gd name="T19" fmla="*/ 226 h 282"/>
                <a:gd name="T20" fmla="*/ 754 w 758"/>
                <a:gd name="T21" fmla="*/ 282 h 282"/>
                <a:gd name="T22" fmla="*/ 758 w 758"/>
                <a:gd name="T23" fmla="*/ 26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8" h="282">
                  <a:moveTo>
                    <a:pt x="758" y="265"/>
                  </a:moveTo>
                  <a:lnTo>
                    <a:pt x="659" y="173"/>
                  </a:lnTo>
                  <a:lnTo>
                    <a:pt x="489" y="89"/>
                  </a:lnTo>
                  <a:lnTo>
                    <a:pt x="241" y="13"/>
                  </a:lnTo>
                  <a:lnTo>
                    <a:pt x="164" y="0"/>
                  </a:lnTo>
                  <a:lnTo>
                    <a:pt x="73" y="55"/>
                  </a:lnTo>
                  <a:lnTo>
                    <a:pt x="0" y="164"/>
                  </a:lnTo>
                  <a:lnTo>
                    <a:pt x="5" y="279"/>
                  </a:lnTo>
                  <a:lnTo>
                    <a:pt x="285" y="230"/>
                  </a:lnTo>
                  <a:lnTo>
                    <a:pt x="473" y="226"/>
                  </a:lnTo>
                  <a:lnTo>
                    <a:pt x="754" y="282"/>
                  </a:lnTo>
                  <a:lnTo>
                    <a:pt x="758" y="265"/>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80" name="Freeform 14"/>
            <p:cNvSpPr>
              <a:spLocks noEditPoints="1"/>
            </p:cNvSpPr>
            <p:nvPr/>
          </p:nvSpPr>
          <p:spPr bwMode="auto">
            <a:xfrm>
              <a:off x="4908550" y="4233863"/>
              <a:ext cx="100013" cy="84138"/>
            </a:xfrm>
            <a:custGeom>
              <a:avLst/>
              <a:gdLst>
                <a:gd name="T0" fmla="*/ 10 w 266"/>
                <a:gd name="T1" fmla="*/ 227 h 229"/>
                <a:gd name="T2" fmla="*/ 3 w 266"/>
                <a:gd name="T3" fmla="*/ 217 h 229"/>
                <a:gd name="T4" fmla="*/ 5 w 266"/>
                <a:gd name="T5" fmla="*/ 155 h 229"/>
                <a:gd name="T6" fmla="*/ 56 w 266"/>
                <a:gd name="T7" fmla="*/ 64 h 229"/>
                <a:gd name="T8" fmla="*/ 143 w 266"/>
                <a:gd name="T9" fmla="*/ 1 h 229"/>
                <a:gd name="T10" fmla="*/ 152 w 266"/>
                <a:gd name="T11" fmla="*/ 6 h 229"/>
                <a:gd name="T12" fmla="*/ 158 w 266"/>
                <a:gd name="T13" fmla="*/ 13 h 229"/>
                <a:gd name="T14" fmla="*/ 165 w 266"/>
                <a:gd name="T15" fmla="*/ 20 h 229"/>
                <a:gd name="T16" fmla="*/ 172 w 266"/>
                <a:gd name="T17" fmla="*/ 27 h 229"/>
                <a:gd name="T18" fmla="*/ 178 w 266"/>
                <a:gd name="T19" fmla="*/ 32 h 229"/>
                <a:gd name="T20" fmla="*/ 190 w 266"/>
                <a:gd name="T21" fmla="*/ 38 h 229"/>
                <a:gd name="T22" fmla="*/ 203 w 266"/>
                <a:gd name="T23" fmla="*/ 44 h 229"/>
                <a:gd name="T24" fmla="*/ 209 w 266"/>
                <a:gd name="T25" fmla="*/ 51 h 229"/>
                <a:gd name="T26" fmla="*/ 216 w 266"/>
                <a:gd name="T27" fmla="*/ 58 h 229"/>
                <a:gd name="T28" fmla="*/ 221 w 266"/>
                <a:gd name="T29" fmla="*/ 64 h 229"/>
                <a:gd name="T30" fmla="*/ 227 w 266"/>
                <a:gd name="T31" fmla="*/ 70 h 229"/>
                <a:gd name="T32" fmla="*/ 240 w 266"/>
                <a:gd name="T33" fmla="*/ 75 h 229"/>
                <a:gd name="T34" fmla="*/ 253 w 266"/>
                <a:gd name="T35" fmla="*/ 82 h 229"/>
                <a:gd name="T36" fmla="*/ 261 w 266"/>
                <a:gd name="T37" fmla="*/ 89 h 229"/>
                <a:gd name="T38" fmla="*/ 245 w 266"/>
                <a:gd name="T39" fmla="*/ 99 h 229"/>
                <a:gd name="T40" fmla="*/ 117 w 266"/>
                <a:gd name="T41" fmla="*/ 163 h 229"/>
                <a:gd name="T42" fmla="*/ 77 w 266"/>
                <a:gd name="T43" fmla="*/ 194 h 229"/>
                <a:gd name="T44" fmla="*/ 55 w 266"/>
                <a:gd name="T45" fmla="*/ 212 h 229"/>
                <a:gd name="T46" fmla="*/ 52 w 266"/>
                <a:gd name="T47" fmla="*/ 214 h 229"/>
                <a:gd name="T48" fmla="*/ 33 w 266"/>
                <a:gd name="T49" fmla="*/ 223 h 229"/>
                <a:gd name="T50" fmla="*/ 10 w 266"/>
                <a:gd name="T51" fmla="*/ 227 h 229"/>
                <a:gd name="T52" fmla="*/ 28 w 266"/>
                <a:gd name="T53" fmla="*/ 193 h 229"/>
                <a:gd name="T54" fmla="*/ 22 w 266"/>
                <a:gd name="T55" fmla="*/ 188 h 229"/>
                <a:gd name="T56" fmla="*/ 17 w 266"/>
                <a:gd name="T57" fmla="*/ 193 h 229"/>
                <a:gd name="T58" fmla="*/ 22 w 266"/>
                <a:gd name="T59" fmla="*/ 199 h 229"/>
                <a:gd name="T60" fmla="*/ 28 w 266"/>
                <a:gd name="T61" fmla="*/ 193 h 229"/>
                <a:gd name="T62" fmla="*/ 141 w 266"/>
                <a:gd name="T63" fmla="*/ 94 h 229"/>
                <a:gd name="T64" fmla="*/ 134 w 266"/>
                <a:gd name="T65" fmla="*/ 88 h 229"/>
                <a:gd name="T66" fmla="*/ 127 w 266"/>
                <a:gd name="T67" fmla="*/ 94 h 229"/>
                <a:gd name="T68" fmla="*/ 134 w 266"/>
                <a:gd name="T69" fmla="*/ 100 h 229"/>
                <a:gd name="T70" fmla="*/ 141 w 266"/>
                <a:gd name="T71" fmla="*/ 9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6" h="229">
                  <a:moveTo>
                    <a:pt x="10" y="227"/>
                  </a:moveTo>
                  <a:cubicBezTo>
                    <a:pt x="6" y="226"/>
                    <a:pt x="4" y="223"/>
                    <a:pt x="3" y="217"/>
                  </a:cubicBezTo>
                  <a:cubicBezTo>
                    <a:pt x="0" y="202"/>
                    <a:pt x="1" y="169"/>
                    <a:pt x="5" y="155"/>
                  </a:cubicBezTo>
                  <a:cubicBezTo>
                    <a:pt x="11" y="128"/>
                    <a:pt x="33" y="89"/>
                    <a:pt x="56" y="64"/>
                  </a:cubicBezTo>
                  <a:cubicBezTo>
                    <a:pt x="77" y="41"/>
                    <a:pt x="129" y="2"/>
                    <a:pt x="143" y="1"/>
                  </a:cubicBezTo>
                  <a:cubicBezTo>
                    <a:pt x="151" y="0"/>
                    <a:pt x="152" y="0"/>
                    <a:pt x="152" y="6"/>
                  </a:cubicBezTo>
                  <a:cubicBezTo>
                    <a:pt x="152" y="13"/>
                    <a:pt x="152" y="13"/>
                    <a:pt x="158" y="13"/>
                  </a:cubicBezTo>
                  <a:cubicBezTo>
                    <a:pt x="164" y="13"/>
                    <a:pt x="165" y="14"/>
                    <a:pt x="165" y="20"/>
                  </a:cubicBezTo>
                  <a:cubicBezTo>
                    <a:pt x="165" y="26"/>
                    <a:pt x="166" y="27"/>
                    <a:pt x="172" y="27"/>
                  </a:cubicBezTo>
                  <a:cubicBezTo>
                    <a:pt x="177" y="27"/>
                    <a:pt x="178" y="27"/>
                    <a:pt x="178" y="32"/>
                  </a:cubicBezTo>
                  <a:cubicBezTo>
                    <a:pt x="178" y="37"/>
                    <a:pt x="179" y="38"/>
                    <a:pt x="190" y="38"/>
                  </a:cubicBezTo>
                  <a:cubicBezTo>
                    <a:pt x="202" y="38"/>
                    <a:pt x="203" y="38"/>
                    <a:pt x="203" y="44"/>
                  </a:cubicBezTo>
                  <a:cubicBezTo>
                    <a:pt x="203" y="50"/>
                    <a:pt x="203" y="51"/>
                    <a:pt x="209" y="51"/>
                  </a:cubicBezTo>
                  <a:cubicBezTo>
                    <a:pt x="215" y="51"/>
                    <a:pt x="216" y="52"/>
                    <a:pt x="216" y="58"/>
                  </a:cubicBezTo>
                  <a:cubicBezTo>
                    <a:pt x="216" y="63"/>
                    <a:pt x="217" y="64"/>
                    <a:pt x="221" y="64"/>
                  </a:cubicBezTo>
                  <a:cubicBezTo>
                    <a:pt x="226" y="64"/>
                    <a:pt x="227" y="65"/>
                    <a:pt x="227" y="70"/>
                  </a:cubicBezTo>
                  <a:cubicBezTo>
                    <a:pt x="227" y="75"/>
                    <a:pt x="227" y="75"/>
                    <a:pt x="240" y="75"/>
                  </a:cubicBezTo>
                  <a:cubicBezTo>
                    <a:pt x="253" y="75"/>
                    <a:pt x="253" y="75"/>
                    <a:pt x="253" y="82"/>
                  </a:cubicBezTo>
                  <a:cubicBezTo>
                    <a:pt x="253" y="88"/>
                    <a:pt x="254" y="88"/>
                    <a:pt x="261" y="89"/>
                  </a:cubicBezTo>
                  <a:cubicBezTo>
                    <a:pt x="266" y="89"/>
                    <a:pt x="263" y="91"/>
                    <a:pt x="245" y="99"/>
                  </a:cubicBezTo>
                  <a:cubicBezTo>
                    <a:pt x="204" y="116"/>
                    <a:pt x="138" y="149"/>
                    <a:pt x="117" y="163"/>
                  </a:cubicBezTo>
                  <a:cubicBezTo>
                    <a:pt x="106" y="171"/>
                    <a:pt x="88" y="185"/>
                    <a:pt x="77" y="194"/>
                  </a:cubicBezTo>
                  <a:cubicBezTo>
                    <a:pt x="66" y="204"/>
                    <a:pt x="56" y="212"/>
                    <a:pt x="55" y="212"/>
                  </a:cubicBezTo>
                  <a:cubicBezTo>
                    <a:pt x="54" y="212"/>
                    <a:pt x="52" y="213"/>
                    <a:pt x="52" y="214"/>
                  </a:cubicBezTo>
                  <a:cubicBezTo>
                    <a:pt x="51" y="215"/>
                    <a:pt x="43" y="219"/>
                    <a:pt x="33" y="223"/>
                  </a:cubicBezTo>
                  <a:cubicBezTo>
                    <a:pt x="20" y="228"/>
                    <a:pt x="14" y="229"/>
                    <a:pt x="10" y="227"/>
                  </a:cubicBezTo>
                  <a:close/>
                  <a:moveTo>
                    <a:pt x="28" y="193"/>
                  </a:moveTo>
                  <a:cubicBezTo>
                    <a:pt x="28" y="189"/>
                    <a:pt x="27" y="188"/>
                    <a:pt x="22" y="188"/>
                  </a:cubicBezTo>
                  <a:cubicBezTo>
                    <a:pt x="18" y="188"/>
                    <a:pt x="17" y="189"/>
                    <a:pt x="17" y="193"/>
                  </a:cubicBezTo>
                  <a:cubicBezTo>
                    <a:pt x="17" y="198"/>
                    <a:pt x="18" y="199"/>
                    <a:pt x="22" y="199"/>
                  </a:cubicBezTo>
                  <a:cubicBezTo>
                    <a:pt x="27" y="199"/>
                    <a:pt x="28" y="198"/>
                    <a:pt x="28" y="193"/>
                  </a:cubicBezTo>
                  <a:close/>
                  <a:moveTo>
                    <a:pt x="141" y="94"/>
                  </a:moveTo>
                  <a:cubicBezTo>
                    <a:pt x="141" y="89"/>
                    <a:pt x="140" y="88"/>
                    <a:pt x="134" y="88"/>
                  </a:cubicBezTo>
                  <a:cubicBezTo>
                    <a:pt x="128" y="88"/>
                    <a:pt x="127" y="89"/>
                    <a:pt x="127" y="94"/>
                  </a:cubicBezTo>
                  <a:cubicBezTo>
                    <a:pt x="127" y="99"/>
                    <a:pt x="128" y="100"/>
                    <a:pt x="134" y="100"/>
                  </a:cubicBezTo>
                  <a:cubicBezTo>
                    <a:pt x="140" y="100"/>
                    <a:pt x="141" y="99"/>
                    <a:pt x="141" y="94"/>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81" name="Freeform 15"/>
            <p:cNvSpPr>
              <a:spLocks/>
            </p:cNvSpPr>
            <p:nvPr/>
          </p:nvSpPr>
          <p:spPr bwMode="auto">
            <a:xfrm>
              <a:off x="5192713" y="4157663"/>
              <a:ext cx="57150" cy="149225"/>
            </a:xfrm>
            <a:custGeom>
              <a:avLst/>
              <a:gdLst>
                <a:gd name="T0" fmla="*/ 0 w 154"/>
                <a:gd name="T1" fmla="*/ 398 h 398"/>
                <a:gd name="T2" fmla="*/ 1 w 154"/>
                <a:gd name="T3" fmla="*/ 333 h 398"/>
                <a:gd name="T4" fmla="*/ 46 w 154"/>
                <a:gd name="T5" fmla="*/ 203 h 398"/>
                <a:gd name="T6" fmla="*/ 73 w 154"/>
                <a:gd name="T7" fmla="*/ 102 h 398"/>
                <a:gd name="T8" fmla="*/ 108 w 154"/>
                <a:gd name="T9" fmla="*/ 16 h 398"/>
                <a:gd name="T10" fmla="*/ 137 w 154"/>
                <a:gd name="T11" fmla="*/ 0 h 398"/>
                <a:gd name="T12" fmla="*/ 154 w 154"/>
                <a:gd name="T13" fmla="*/ 95 h 398"/>
                <a:gd name="T14" fmla="*/ 82 w 154"/>
                <a:gd name="T15" fmla="*/ 276 h 398"/>
                <a:gd name="T16" fmla="*/ 38 w 154"/>
                <a:gd name="T17" fmla="*/ 350 h 398"/>
                <a:gd name="T18" fmla="*/ 0 w 154"/>
                <a:gd name="T19" fmla="*/ 39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398">
                  <a:moveTo>
                    <a:pt x="0" y="398"/>
                  </a:moveTo>
                  <a:lnTo>
                    <a:pt x="1" y="333"/>
                  </a:lnTo>
                  <a:lnTo>
                    <a:pt x="46" y="203"/>
                  </a:lnTo>
                  <a:lnTo>
                    <a:pt x="73" y="102"/>
                  </a:lnTo>
                  <a:lnTo>
                    <a:pt x="108" y="16"/>
                  </a:lnTo>
                  <a:lnTo>
                    <a:pt x="137" y="0"/>
                  </a:lnTo>
                  <a:lnTo>
                    <a:pt x="154" y="95"/>
                  </a:lnTo>
                  <a:lnTo>
                    <a:pt x="82" y="276"/>
                  </a:lnTo>
                  <a:lnTo>
                    <a:pt x="38" y="350"/>
                  </a:lnTo>
                  <a:lnTo>
                    <a:pt x="0" y="398"/>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82" name="Freeform 16"/>
            <p:cNvSpPr>
              <a:spLocks/>
            </p:cNvSpPr>
            <p:nvPr/>
          </p:nvSpPr>
          <p:spPr bwMode="auto">
            <a:xfrm>
              <a:off x="4908550" y="4219575"/>
              <a:ext cx="280988" cy="111125"/>
            </a:xfrm>
            <a:custGeom>
              <a:avLst/>
              <a:gdLst>
                <a:gd name="T0" fmla="*/ 751 w 751"/>
                <a:gd name="T1" fmla="*/ 278 h 296"/>
                <a:gd name="T2" fmla="*/ 137 w 751"/>
                <a:gd name="T3" fmla="*/ 0 h 296"/>
                <a:gd name="T4" fmla="*/ 0 w 751"/>
                <a:gd name="T5" fmla="*/ 296 h 296"/>
                <a:gd name="T6" fmla="*/ 751 w 751"/>
                <a:gd name="T7" fmla="*/ 278 h 296"/>
              </a:gdLst>
              <a:ahLst/>
              <a:cxnLst>
                <a:cxn ang="0">
                  <a:pos x="T0" y="T1"/>
                </a:cxn>
                <a:cxn ang="0">
                  <a:pos x="T2" y="T3"/>
                </a:cxn>
                <a:cxn ang="0">
                  <a:pos x="T4" y="T5"/>
                </a:cxn>
                <a:cxn ang="0">
                  <a:pos x="T6" y="T7"/>
                </a:cxn>
              </a:cxnLst>
              <a:rect l="0" t="0" r="r" b="b"/>
              <a:pathLst>
                <a:path w="751" h="296">
                  <a:moveTo>
                    <a:pt x="751" y="278"/>
                  </a:moveTo>
                  <a:lnTo>
                    <a:pt x="137" y="0"/>
                  </a:lnTo>
                  <a:lnTo>
                    <a:pt x="0" y="296"/>
                  </a:lnTo>
                  <a:lnTo>
                    <a:pt x="751" y="278"/>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83" name="Freeform 17"/>
            <p:cNvSpPr>
              <a:spLocks/>
            </p:cNvSpPr>
            <p:nvPr/>
          </p:nvSpPr>
          <p:spPr bwMode="auto">
            <a:xfrm>
              <a:off x="4859338" y="4230688"/>
              <a:ext cx="334963" cy="93663"/>
            </a:xfrm>
            <a:custGeom>
              <a:avLst/>
              <a:gdLst>
                <a:gd name="T0" fmla="*/ 894 w 898"/>
                <a:gd name="T1" fmla="*/ 221 h 251"/>
                <a:gd name="T2" fmla="*/ 266 w 898"/>
                <a:gd name="T3" fmla="*/ 0 h 251"/>
                <a:gd name="T4" fmla="*/ 134 w 898"/>
                <a:gd name="T5" fmla="*/ 247 h 251"/>
                <a:gd name="T6" fmla="*/ 894 w 898"/>
                <a:gd name="T7" fmla="*/ 221 h 251"/>
              </a:gdLst>
              <a:ahLst/>
              <a:cxnLst>
                <a:cxn ang="0">
                  <a:pos x="T0" y="T1"/>
                </a:cxn>
                <a:cxn ang="0">
                  <a:pos x="T2" y="T3"/>
                </a:cxn>
                <a:cxn ang="0">
                  <a:pos x="T4" y="T5"/>
                </a:cxn>
                <a:cxn ang="0">
                  <a:pos x="T6" y="T7"/>
                </a:cxn>
              </a:cxnLst>
              <a:rect l="0" t="0" r="r" b="b"/>
              <a:pathLst>
                <a:path w="898" h="251">
                  <a:moveTo>
                    <a:pt x="894" y="221"/>
                  </a:moveTo>
                  <a:cubicBezTo>
                    <a:pt x="898" y="251"/>
                    <a:pt x="266" y="0"/>
                    <a:pt x="266" y="0"/>
                  </a:cubicBezTo>
                  <a:cubicBezTo>
                    <a:pt x="0" y="41"/>
                    <a:pt x="97" y="150"/>
                    <a:pt x="134" y="247"/>
                  </a:cubicBezTo>
                  <a:lnTo>
                    <a:pt x="894" y="221"/>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84" name="Freeform 18"/>
            <p:cNvSpPr>
              <a:spLocks/>
            </p:cNvSpPr>
            <p:nvPr/>
          </p:nvSpPr>
          <p:spPr bwMode="auto">
            <a:xfrm>
              <a:off x="5102225" y="4124325"/>
              <a:ext cx="98425" cy="117475"/>
            </a:xfrm>
            <a:custGeom>
              <a:avLst/>
              <a:gdLst>
                <a:gd name="T0" fmla="*/ 9 w 265"/>
                <a:gd name="T1" fmla="*/ 0 h 314"/>
                <a:gd name="T2" fmla="*/ 265 w 265"/>
                <a:gd name="T3" fmla="*/ 163 h 314"/>
                <a:gd name="T4" fmla="*/ 0 w 265"/>
                <a:gd name="T5" fmla="*/ 314 h 314"/>
              </a:gdLst>
              <a:ahLst/>
              <a:cxnLst>
                <a:cxn ang="0">
                  <a:pos x="T0" y="T1"/>
                </a:cxn>
                <a:cxn ang="0">
                  <a:pos x="T2" y="T3"/>
                </a:cxn>
                <a:cxn ang="0">
                  <a:pos x="T4" y="T5"/>
                </a:cxn>
              </a:cxnLst>
              <a:rect l="0" t="0" r="r" b="b"/>
              <a:pathLst>
                <a:path w="265" h="314">
                  <a:moveTo>
                    <a:pt x="9" y="0"/>
                  </a:moveTo>
                  <a:cubicBezTo>
                    <a:pt x="40" y="305"/>
                    <a:pt x="265" y="163"/>
                    <a:pt x="265" y="163"/>
                  </a:cubicBezTo>
                  <a:lnTo>
                    <a:pt x="0" y="314"/>
                  </a:lnTo>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85" name="Freeform 23"/>
            <p:cNvSpPr>
              <a:spLocks/>
            </p:cNvSpPr>
            <p:nvPr/>
          </p:nvSpPr>
          <p:spPr bwMode="auto">
            <a:xfrm>
              <a:off x="4903788" y="4159250"/>
              <a:ext cx="349250" cy="163513"/>
            </a:xfrm>
            <a:custGeom>
              <a:avLst/>
              <a:gdLst>
                <a:gd name="T0" fmla="*/ 746 w 932"/>
                <a:gd name="T1" fmla="*/ 384 h 437"/>
                <a:gd name="T2" fmla="*/ 145 w 932"/>
                <a:gd name="T3" fmla="*/ 150 h 437"/>
                <a:gd name="T4" fmla="*/ 0 w 932"/>
                <a:gd name="T5" fmla="*/ 437 h 437"/>
                <a:gd name="T6" fmla="*/ 742 w 932"/>
                <a:gd name="T7" fmla="*/ 433 h 437"/>
                <a:gd name="T8" fmla="*/ 932 w 932"/>
                <a:gd name="T9" fmla="*/ 0 h 437"/>
                <a:gd name="T10" fmla="*/ 875 w 932"/>
                <a:gd name="T11" fmla="*/ 0 h 437"/>
                <a:gd name="T12" fmla="*/ 746 w 932"/>
                <a:gd name="T13" fmla="*/ 384 h 437"/>
              </a:gdLst>
              <a:ahLst/>
              <a:cxnLst>
                <a:cxn ang="0">
                  <a:pos x="T0" y="T1"/>
                </a:cxn>
                <a:cxn ang="0">
                  <a:pos x="T2" y="T3"/>
                </a:cxn>
                <a:cxn ang="0">
                  <a:pos x="T4" y="T5"/>
                </a:cxn>
                <a:cxn ang="0">
                  <a:pos x="T6" y="T7"/>
                </a:cxn>
                <a:cxn ang="0">
                  <a:pos x="T8" y="T9"/>
                </a:cxn>
                <a:cxn ang="0">
                  <a:pos x="T10" y="T11"/>
                </a:cxn>
                <a:cxn ang="0">
                  <a:pos x="T12" y="T13"/>
                </a:cxn>
              </a:cxnLst>
              <a:rect l="0" t="0" r="r" b="b"/>
              <a:pathLst>
                <a:path w="932" h="437">
                  <a:moveTo>
                    <a:pt x="746" y="384"/>
                  </a:moveTo>
                  <a:lnTo>
                    <a:pt x="145" y="150"/>
                  </a:lnTo>
                  <a:lnTo>
                    <a:pt x="0" y="437"/>
                  </a:lnTo>
                  <a:lnTo>
                    <a:pt x="742" y="433"/>
                  </a:lnTo>
                  <a:lnTo>
                    <a:pt x="932" y="0"/>
                  </a:lnTo>
                  <a:lnTo>
                    <a:pt x="875" y="0"/>
                  </a:lnTo>
                  <a:lnTo>
                    <a:pt x="746" y="384"/>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86" name="Freeform 24"/>
            <p:cNvSpPr>
              <a:spLocks noEditPoints="1"/>
            </p:cNvSpPr>
            <p:nvPr/>
          </p:nvSpPr>
          <p:spPr bwMode="auto">
            <a:xfrm>
              <a:off x="4892675" y="4146550"/>
              <a:ext cx="363538" cy="187325"/>
            </a:xfrm>
            <a:custGeom>
              <a:avLst/>
              <a:gdLst>
                <a:gd name="T0" fmla="*/ 929 w 973"/>
                <a:gd name="T1" fmla="*/ 14 h 501"/>
                <a:gd name="T2" fmla="*/ 916 w 973"/>
                <a:gd name="T3" fmla="*/ 14 h 501"/>
                <a:gd name="T4" fmla="*/ 897 w 973"/>
                <a:gd name="T5" fmla="*/ 76 h 501"/>
                <a:gd name="T6" fmla="*/ 871 w 973"/>
                <a:gd name="T7" fmla="*/ 134 h 501"/>
                <a:gd name="T8" fmla="*/ 860 w 973"/>
                <a:gd name="T9" fmla="*/ 165 h 501"/>
                <a:gd name="T10" fmla="*/ 845 w 973"/>
                <a:gd name="T11" fmla="*/ 200 h 501"/>
                <a:gd name="T12" fmla="*/ 839 w 973"/>
                <a:gd name="T13" fmla="*/ 214 h 501"/>
                <a:gd name="T14" fmla="*/ 772 w 973"/>
                <a:gd name="T15" fmla="*/ 417 h 501"/>
                <a:gd name="T16" fmla="*/ 190 w 973"/>
                <a:gd name="T17" fmla="*/ 188 h 501"/>
                <a:gd name="T18" fmla="*/ 173 w 973"/>
                <a:gd name="T19" fmla="*/ 190 h 501"/>
                <a:gd name="T20" fmla="*/ 162 w 973"/>
                <a:gd name="T21" fmla="*/ 195 h 501"/>
                <a:gd name="T22" fmla="*/ 43 w 973"/>
                <a:gd name="T23" fmla="*/ 302 h 501"/>
                <a:gd name="T24" fmla="*/ 9 w 973"/>
                <a:gd name="T25" fmla="*/ 471 h 501"/>
                <a:gd name="T26" fmla="*/ 21 w 973"/>
                <a:gd name="T27" fmla="*/ 490 h 501"/>
                <a:gd name="T28" fmla="*/ 38 w 973"/>
                <a:gd name="T29" fmla="*/ 497 h 501"/>
                <a:gd name="T30" fmla="*/ 72 w 973"/>
                <a:gd name="T31" fmla="*/ 497 h 501"/>
                <a:gd name="T32" fmla="*/ 769 w 973"/>
                <a:gd name="T33" fmla="*/ 496 h 501"/>
                <a:gd name="T34" fmla="*/ 776 w 973"/>
                <a:gd name="T35" fmla="*/ 500 h 501"/>
                <a:gd name="T36" fmla="*/ 784 w 973"/>
                <a:gd name="T37" fmla="*/ 498 h 501"/>
                <a:gd name="T38" fmla="*/ 819 w 973"/>
                <a:gd name="T39" fmla="*/ 484 h 501"/>
                <a:gd name="T40" fmla="*/ 826 w 973"/>
                <a:gd name="T41" fmla="*/ 482 h 501"/>
                <a:gd name="T42" fmla="*/ 830 w 973"/>
                <a:gd name="T43" fmla="*/ 475 h 501"/>
                <a:gd name="T44" fmla="*/ 929 w 973"/>
                <a:gd name="T45" fmla="*/ 232 h 501"/>
                <a:gd name="T46" fmla="*/ 973 w 973"/>
                <a:gd name="T47" fmla="*/ 56 h 501"/>
                <a:gd name="T48" fmla="*/ 973 w 973"/>
                <a:gd name="T49" fmla="*/ 50 h 501"/>
                <a:gd name="T50" fmla="*/ 969 w 973"/>
                <a:gd name="T51" fmla="*/ 45 h 501"/>
                <a:gd name="T52" fmla="*/ 944 w 973"/>
                <a:gd name="T53" fmla="*/ 19 h 501"/>
                <a:gd name="T54" fmla="*/ 929 w 973"/>
                <a:gd name="T55" fmla="*/ 14 h 501"/>
                <a:gd name="T56" fmla="*/ 925 w 973"/>
                <a:gd name="T57" fmla="*/ 52 h 501"/>
                <a:gd name="T58" fmla="*/ 934 w 973"/>
                <a:gd name="T59" fmla="*/ 62 h 501"/>
                <a:gd name="T60" fmla="*/ 894 w 973"/>
                <a:gd name="T61" fmla="*/ 219 h 501"/>
                <a:gd name="T62" fmla="*/ 808 w 973"/>
                <a:gd name="T63" fmla="*/ 404 h 501"/>
                <a:gd name="T64" fmla="*/ 914 w 973"/>
                <a:gd name="T65" fmla="*/ 64 h 501"/>
                <a:gd name="T66" fmla="*/ 925 w 973"/>
                <a:gd name="T67" fmla="*/ 52 h 501"/>
                <a:gd name="T68" fmla="*/ 195 w 973"/>
                <a:gd name="T69" fmla="*/ 229 h 501"/>
                <a:gd name="T70" fmla="*/ 781 w 973"/>
                <a:gd name="T71" fmla="*/ 460 h 501"/>
                <a:gd name="T72" fmla="*/ 62 w 973"/>
                <a:gd name="T73" fmla="*/ 461 h 501"/>
                <a:gd name="T74" fmla="*/ 48 w 973"/>
                <a:gd name="T75" fmla="*/ 457 h 501"/>
                <a:gd name="T76" fmla="*/ 46 w 973"/>
                <a:gd name="T77" fmla="*/ 443 h 501"/>
                <a:gd name="T78" fmla="*/ 76 w 973"/>
                <a:gd name="T79" fmla="*/ 325 h 501"/>
                <a:gd name="T80" fmla="*/ 180 w 973"/>
                <a:gd name="T81" fmla="*/ 232 h 501"/>
                <a:gd name="T82" fmla="*/ 195 w 973"/>
                <a:gd name="T83" fmla="*/ 22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3" h="501">
                  <a:moveTo>
                    <a:pt x="929" y="14"/>
                  </a:moveTo>
                  <a:cubicBezTo>
                    <a:pt x="923" y="13"/>
                    <a:pt x="921" y="13"/>
                    <a:pt x="916" y="14"/>
                  </a:cubicBezTo>
                  <a:cubicBezTo>
                    <a:pt x="919" y="0"/>
                    <a:pt x="909" y="36"/>
                    <a:pt x="897" y="76"/>
                  </a:cubicBezTo>
                  <a:cubicBezTo>
                    <a:pt x="890" y="92"/>
                    <a:pt x="888" y="94"/>
                    <a:pt x="871" y="134"/>
                  </a:cubicBezTo>
                  <a:cubicBezTo>
                    <a:pt x="871" y="136"/>
                    <a:pt x="868" y="147"/>
                    <a:pt x="860" y="165"/>
                  </a:cubicBezTo>
                  <a:cubicBezTo>
                    <a:pt x="853" y="182"/>
                    <a:pt x="853" y="182"/>
                    <a:pt x="845" y="200"/>
                  </a:cubicBezTo>
                  <a:cubicBezTo>
                    <a:pt x="843" y="206"/>
                    <a:pt x="841" y="208"/>
                    <a:pt x="839" y="214"/>
                  </a:cubicBezTo>
                  <a:cubicBezTo>
                    <a:pt x="815" y="271"/>
                    <a:pt x="799" y="355"/>
                    <a:pt x="772" y="417"/>
                  </a:cubicBezTo>
                  <a:cubicBezTo>
                    <a:pt x="550" y="244"/>
                    <a:pt x="299" y="174"/>
                    <a:pt x="190" y="188"/>
                  </a:cubicBezTo>
                  <a:lnTo>
                    <a:pt x="173" y="190"/>
                  </a:lnTo>
                  <a:lnTo>
                    <a:pt x="162" y="195"/>
                  </a:lnTo>
                  <a:cubicBezTo>
                    <a:pt x="98" y="236"/>
                    <a:pt x="72" y="257"/>
                    <a:pt x="43" y="302"/>
                  </a:cubicBezTo>
                  <a:cubicBezTo>
                    <a:pt x="13" y="347"/>
                    <a:pt x="0" y="415"/>
                    <a:pt x="9" y="471"/>
                  </a:cubicBezTo>
                  <a:cubicBezTo>
                    <a:pt x="10" y="480"/>
                    <a:pt x="16" y="486"/>
                    <a:pt x="21" y="490"/>
                  </a:cubicBezTo>
                  <a:cubicBezTo>
                    <a:pt x="27" y="494"/>
                    <a:pt x="32" y="496"/>
                    <a:pt x="38" y="497"/>
                  </a:cubicBezTo>
                  <a:cubicBezTo>
                    <a:pt x="49" y="500"/>
                    <a:pt x="60" y="501"/>
                    <a:pt x="72" y="497"/>
                  </a:cubicBezTo>
                  <a:cubicBezTo>
                    <a:pt x="451" y="389"/>
                    <a:pt x="636" y="424"/>
                    <a:pt x="769" y="496"/>
                  </a:cubicBezTo>
                  <a:lnTo>
                    <a:pt x="776" y="500"/>
                  </a:lnTo>
                  <a:lnTo>
                    <a:pt x="784" y="498"/>
                  </a:lnTo>
                  <a:lnTo>
                    <a:pt x="819" y="484"/>
                  </a:lnTo>
                  <a:lnTo>
                    <a:pt x="826" y="482"/>
                  </a:lnTo>
                  <a:lnTo>
                    <a:pt x="830" y="475"/>
                  </a:lnTo>
                  <a:cubicBezTo>
                    <a:pt x="844" y="404"/>
                    <a:pt x="903" y="304"/>
                    <a:pt x="929" y="232"/>
                  </a:cubicBezTo>
                  <a:cubicBezTo>
                    <a:pt x="955" y="160"/>
                    <a:pt x="971" y="101"/>
                    <a:pt x="973" y="56"/>
                  </a:cubicBezTo>
                  <a:lnTo>
                    <a:pt x="973" y="50"/>
                  </a:lnTo>
                  <a:lnTo>
                    <a:pt x="969" y="45"/>
                  </a:lnTo>
                  <a:cubicBezTo>
                    <a:pt x="961" y="33"/>
                    <a:pt x="953" y="25"/>
                    <a:pt x="944" y="19"/>
                  </a:cubicBezTo>
                  <a:cubicBezTo>
                    <a:pt x="939" y="16"/>
                    <a:pt x="934" y="15"/>
                    <a:pt x="929" y="14"/>
                  </a:cubicBezTo>
                  <a:close/>
                  <a:moveTo>
                    <a:pt x="925" y="52"/>
                  </a:moveTo>
                  <a:cubicBezTo>
                    <a:pt x="926" y="52"/>
                    <a:pt x="930" y="58"/>
                    <a:pt x="934" y="62"/>
                  </a:cubicBezTo>
                  <a:cubicBezTo>
                    <a:pt x="932" y="98"/>
                    <a:pt x="918" y="152"/>
                    <a:pt x="894" y="219"/>
                  </a:cubicBezTo>
                  <a:cubicBezTo>
                    <a:pt x="875" y="271"/>
                    <a:pt x="835" y="342"/>
                    <a:pt x="808" y="404"/>
                  </a:cubicBezTo>
                  <a:cubicBezTo>
                    <a:pt x="884" y="192"/>
                    <a:pt x="903" y="119"/>
                    <a:pt x="914" y="64"/>
                  </a:cubicBezTo>
                  <a:cubicBezTo>
                    <a:pt x="920" y="58"/>
                    <a:pt x="925" y="52"/>
                    <a:pt x="925" y="52"/>
                  </a:cubicBezTo>
                  <a:close/>
                  <a:moveTo>
                    <a:pt x="195" y="229"/>
                  </a:moveTo>
                  <a:cubicBezTo>
                    <a:pt x="449" y="256"/>
                    <a:pt x="675" y="359"/>
                    <a:pt x="781" y="460"/>
                  </a:cubicBezTo>
                  <a:cubicBezTo>
                    <a:pt x="641" y="391"/>
                    <a:pt x="287" y="369"/>
                    <a:pt x="62" y="461"/>
                  </a:cubicBezTo>
                  <a:cubicBezTo>
                    <a:pt x="59" y="462"/>
                    <a:pt x="53" y="458"/>
                    <a:pt x="48" y="457"/>
                  </a:cubicBezTo>
                  <a:cubicBezTo>
                    <a:pt x="47" y="452"/>
                    <a:pt x="46" y="443"/>
                    <a:pt x="46" y="443"/>
                  </a:cubicBezTo>
                  <a:cubicBezTo>
                    <a:pt x="40" y="397"/>
                    <a:pt x="52" y="362"/>
                    <a:pt x="76" y="325"/>
                  </a:cubicBezTo>
                  <a:cubicBezTo>
                    <a:pt x="100" y="288"/>
                    <a:pt x="122" y="269"/>
                    <a:pt x="180" y="232"/>
                  </a:cubicBezTo>
                  <a:lnTo>
                    <a:pt x="195" y="229"/>
                  </a:lnTo>
                  <a:close/>
                </a:path>
              </a:pathLst>
            </a:custGeom>
            <a:solidFill>
              <a:srgbClr val="6A8C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87" name="Freeform 25"/>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88" name="Freeform 26"/>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89" name="Freeform 27"/>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90" name="Freeform 28"/>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91" name="Freeform 29"/>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93" name="Freeform 30"/>
            <p:cNvSpPr>
              <a:spLocks noEditPoints="1"/>
            </p:cNvSpPr>
            <p:nvPr/>
          </p:nvSpPr>
          <p:spPr bwMode="auto">
            <a:xfrm>
              <a:off x="4862513" y="3951288"/>
              <a:ext cx="515938" cy="815975"/>
            </a:xfrm>
            <a:custGeom>
              <a:avLst/>
              <a:gdLst>
                <a:gd name="T0" fmla="*/ 376 w 1378"/>
                <a:gd name="T1" fmla="*/ 1494 h 2181"/>
                <a:gd name="T2" fmla="*/ 280 w 1378"/>
                <a:gd name="T3" fmla="*/ 1703 h 2181"/>
                <a:gd name="T4" fmla="*/ 53 w 1378"/>
                <a:gd name="T5" fmla="*/ 2056 h 2181"/>
                <a:gd name="T6" fmla="*/ 133 w 1378"/>
                <a:gd name="T7" fmla="*/ 1049 h 2181"/>
                <a:gd name="T8" fmla="*/ 100 w 1378"/>
                <a:gd name="T9" fmla="*/ 1009 h 2181"/>
                <a:gd name="T10" fmla="*/ 184 w 1378"/>
                <a:gd name="T11" fmla="*/ 759 h 2181"/>
                <a:gd name="T12" fmla="*/ 246 w 1378"/>
                <a:gd name="T13" fmla="*/ 691 h 2181"/>
                <a:gd name="T14" fmla="*/ 444 w 1378"/>
                <a:gd name="T15" fmla="*/ 90 h 2181"/>
                <a:gd name="T16" fmla="*/ 992 w 1378"/>
                <a:gd name="T17" fmla="*/ 337 h 2181"/>
                <a:gd name="T18" fmla="*/ 1004 w 1378"/>
                <a:gd name="T19" fmla="*/ 538 h 2181"/>
                <a:gd name="T20" fmla="*/ 1059 w 1378"/>
                <a:gd name="T21" fmla="*/ 509 h 2181"/>
                <a:gd name="T22" fmla="*/ 1347 w 1378"/>
                <a:gd name="T23" fmla="*/ 0 h 2181"/>
                <a:gd name="T24" fmla="*/ 1378 w 1378"/>
                <a:gd name="T25" fmla="*/ 9 h 2181"/>
                <a:gd name="T26" fmla="*/ 1202 w 1378"/>
                <a:gd name="T27" fmla="*/ 344 h 2181"/>
                <a:gd name="T28" fmla="*/ 1022 w 1378"/>
                <a:gd name="T29" fmla="*/ 709 h 2181"/>
                <a:gd name="T30" fmla="*/ 881 w 1378"/>
                <a:gd name="T31" fmla="*/ 1011 h 2181"/>
                <a:gd name="T32" fmla="*/ 581 w 1378"/>
                <a:gd name="T33" fmla="*/ 950 h 2181"/>
                <a:gd name="T34" fmla="*/ 143 w 1378"/>
                <a:gd name="T35" fmla="*/ 1112 h 2181"/>
                <a:gd name="T36" fmla="*/ 136 w 1378"/>
                <a:gd name="T37" fmla="*/ 2068 h 2181"/>
                <a:gd name="T38" fmla="*/ 281 w 1378"/>
                <a:gd name="T39" fmla="*/ 1522 h 2181"/>
                <a:gd name="T40" fmla="*/ 464 w 1378"/>
                <a:gd name="T41" fmla="*/ 2034 h 2181"/>
                <a:gd name="T42" fmla="*/ 431 w 1378"/>
                <a:gd name="T43" fmla="*/ 2181 h 2181"/>
                <a:gd name="T44" fmla="*/ 192 w 1378"/>
                <a:gd name="T45" fmla="*/ 959 h 2181"/>
                <a:gd name="T46" fmla="*/ 416 w 1378"/>
                <a:gd name="T47" fmla="*/ 830 h 2181"/>
                <a:gd name="T48" fmla="*/ 275 w 1378"/>
                <a:gd name="T49" fmla="*/ 751 h 2181"/>
                <a:gd name="T50" fmla="*/ 124 w 1378"/>
                <a:gd name="T51" fmla="*/ 969 h 2181"/>
                <a:gd name="T52" fmla="*/ 160 w 1378"/>
                <a:gd name="T53" fmla="*/ 977 h 2181"/>
                <a:gd name="T54" fmla="*/ 390 w 1378"/>
                <a:gd name="T55" fmla="*/ 768 h 2181"/>
                <a:gd name="T56" fmla="*/ 455 w 1378"/>
                <a:gd name="T57" fmla="*/ 822 h 2181"/>
                <a:gd name="T58" fmla="*/ 255 w 1378"/>
                <a:gd name="T59" fmla="*/ 947 h 2181"/>
                <a:gd name="T60" fmla="*/ 692 w 1378"/>
                <a:gd name="T61" fmla="*/ 933 h 2181"/>
                <a:gd name="T62" fmla="*/ 834 w 1378"/>
                <a:gd name="T63" fmla="*/ 965 h 2181"/>
                <a:gd name="T64" fmla="*/ 922 w 1378"/>
                <a:gd name="T65" fmla="*/ 740 h 2181"/>
                <a:gd name="T66" fmla="*/ 848 w 1378"/>
                <a:gd name="T67" fmla="*/ 769 h 2181"/>
                <a:gd name="T68" fmla="*/ 891 w 1378"/>
                <a:gd name="T69" fmla="*/ 202 h 2181"/>
                <a:gd name="T70" fmla="*/ 249 w 1378"/>
                <a:gd name="T71" fmla="*/ 540 h 2181"/>
                <a:gd name="T72" fmla="*/ 349 w 1378"/>
                <a:gd name="T73" fmla="*/ 713 h 2181"/>
                <a:gd name="T74" fmla="*/ 864 w 1378"/>
                <a:gd name="T75" fmla="*/ 911 h 2181"/>
                <a:gd name="T76" fmla="*/ 1003 w 1378"/>
                <a:gd name="T77" fmla="*/ 643 h 2181"/>
                <a:gd name="T78" fmla="*/ 963 w 1378"/>
                <a:gd name="T79" fmla="*/ 712 h 2181"/>
                <a:gd name="T80" fmla="*/ 929 w 1378"/>
                <a:gd name="T81" fmla="*/ 847 h 2181"/>
                <a:gd name="T82" fmla="*/ 997 w 1378"/>
                <a:gd name="T83" fmla="*/ 579 h 2181"/>
                <a:gd name="T84" fmla="*/ 993 w 1378"/>
                <a:gd name="T85" fmla="*/ 601 h 2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78" h="2181">
                  <a:moveTo>
                    <a:pt x="429" y="2044"/>
                  </a:moveTo>
                  <a:cubicBezTo>
                    <a:pt x="428" y="1893"/>
                    <a:pt x="424" y="1765"/>
                    <a:pt x="421" y="1714"/>
                  </a:cubicBezTo>
                  <a:cubicBezTo>
                    <a:pt x="413" y="1590"/>
                    <a:pt x="398" y="1516"/>
                    <a:pt x="376" y="1494"/>
                  </a:cubicBezTo>
                  <a:cubicBezTo>
                    <a:pt x="368" y="1486"/>
                    <a:pt x="357" y="1490"/>
                    <a:pt x="341" y="1506"/>
                  </a:cubicBezTo>
                  <a:cubicBezTo>
                    <a:pt x="327" y="1522"/>
                    <a:pt x="316" y="1542"/>
                    <a:pt x="306" y="1572"/>
                  </a:cubicBezTo>
                  <a:cubicBezTo>
                    <a:pt x="295" y="1602"/>
                    <a:pt x="290" y="1627"/>
                    <a:pt x="280" y="1703"/>
                  </a:cubicBezTo>
                  <a:cubicBezTo>
                    <a:pt x="245" y="1953"/>
                    <a:pt x="237" y="1993"/>
                    <a:pt x="215" y="2041"/>
                  </a:cubicBezTo>
                  <a:cubicBezTo>
                    <a:pt x="193" y="2087"/>
                    <a:pt x="172" y="2106"/>
                    <a:pt x="136" y="2110"/>
                  </a:cubicBezTo>
                  <a:cubicBezTo>
                    <a:pt x="99" y="2115"/>
                    <a:pt x="73" y="2097"/>
                    <a:pt x="53" y="2056"/>
                  </a:cubicBezTo>
                  <a:cubicBezTo>
                    <a:pt x="36" y="2020"/>
                    <a:pt x="27" y="1987"/>
                    <a:pt x="19" y="1936"/>
                  </a:cubicBezTo>
                  <a:cubicBezTo>
                    <a:pt x="8" y="1865"/>
                    <a:pt x="0" y="1711"/>
                    <a:pt x="2" y="1633"/>
                  </a:cubicBezTo>
                  <a:cubicBezTo>
                    <a:pt x="9" y="1417"/>
                    <a:pt x="55" y="1214"/>
                    <a:pt x="133" y="1049"/>
                  </a:cubicBezTo>
                  <a:cubicBezTo>
                    <a:pt x="141" y="1033"/>
                    <a:pt x="147" y="1020"/>
                    <a:pt x="147" y="1019"/>
                  </a:cubicBezTo>
                  <a:cubicBezTo>
                    <a:pt x="147" y="1019"/>
                    <a:pt x="144" y="1020"/>
                    <a:pt x="140" y="1020"/>
                  </a:cubicBezTo>
                  <a:cubicBezTo>
                    <a:pt x="127" y="1022"/>
                    <a:pt x="108" y="1016"/>
                    <a:pt x="100" y="1009"/>
                  </a:cubicBezTo>
                  <a:cubicBezTo>
                    <a:pt x="89" y="999"/>
                    <a:pt x="87" y="990"/>
                    <a:pt x="88" y="949"/>
                  </a:cubicBezTo>
                  <a:cubicBezTo>
                    <a:pt x="89" y="920"/>
                    <a:pt x="90" y="909"/>
                    <a:pt x="95" y="892"/>
                  </a:cubicBezTo>
                  <a:cubicBezTo>
                    <a:pt x="109" y="837"/>
                    <a:pt x="138" y="794"/>
                    <a:pt x="184" y="759"/>
                  </a:cubicBezTo>
                  <a:cubicBezTo>
                    <a:pt x="209" y="739"/>
                    <a:pt x="248" y="713"/>
                    <a:pt x="253" y="713"/>
                  </a:cubicBezTo>
                  <a:cubicBezTo>
                    <a:pt x="256" y="713"/>
                    <a:pt x="258" y="712"/>
                    <a:pt x="258" y="711"/>
                  </a:cubicBezTo>
                  <a:cubicBezTo>
                    <a:pt x="258" y="710"/>
                    <a:pt x="252" y="701"/>
                    <a:pt x="246" y="691"/>
                  </a:cubicBezTo>
                  <a:cubicBezTo>
                    <a:pt x="225" y="656"/>
                    <a:pt x="210" y="621"/>
                    <a:pt x="203" y="585"/>
                  </a:cubicBezTo>
                  <a:cubicBezTo>
                    <a:pt x="197" y="558"/>
                    <a:pt x="198" y="447"/>
                    <a:pt x="203" y="412"/>
                  </a:cubicBezTo>
                  <a:cubicBezTo>
                    <a:pt x="226" y="268"/>
                    <a:pt x="311" y="155"/>
                    <a:pt x="444" y="90"/>
                  </a:cubicBezTo>
                  <a:cubicBezTo>
                    <a:pt x="480" y="73"/>
                    <a:pt x="498" y="66"/>
                    <a:pt x="533" y="57"/>
                  </a:cubicBezTo>
                  <a:cubicBezTo>
                    <a:pt x="685" y="18"/>
                    <a:pt x="843" y="69"/>
                    <a:pt x="920" y="182"/>
                  </a:cubicBezTo>
                  <a:cubicBezTo>
                    <a:pt x="951" y="229"/>
                    <a:pt x="980" y="289"/>
                    <a:pt x="992" y="337"/>
                  </a:cubicBezTo>
                  <a:cubicBezTo>
                    <a:pt x="1002" y="376"/>
                    <a:pt x="1003" y="389"/>
                    <a:pt x="1003" y="438"/>
                  </a:cubicBezTo>
                  <a:cubicBezTo>
                    <a:pt x="1003" y="481"/>
                    <a:pt x="1001" y="499"/>
                    <a:pt x="994" y="532"/>
                  </a:cubicBezTo>
                  <a:cubicBezTo>
                    <a:pt x="993" y="537"/>
                    <a:pt x="994" y="538"/>
                    <a:pt x="1004" y="538"/>
                  </a:cubicBezTo>
                  <a:cubicBezTo>
                    <a:pt x="1012" y="538"/>
                    <a:pt x="1018" y="540"/>
                    <a:pt x="1022" y="543"/>
                  </a:cubicBezTo>
                  <a:cubicBezTo>
                    <a:pt x="1026" y="545"/>
                    <a:pt x="1030" y="548"/>
                    <a:pt x="1031" y="548"/>
                  </a:cubicBezTo>
                  <a:cubicBezTo>
                    <a:pt x="1032" y="548"/>
                    <a:pt x="1045" y="530"/>
                    <a:pt x="1059" y="509"/>
                  </a:cubicBezTo>
                  <a:cubicBezTo>
                    <a:pt x="1127" y="411"/>
                    <a:pt x="1152" y="367"/>
                    <a:pt x="1234" y="203"/>
                  </a:cubicBezTo>
                  <a:cubicBezTo>
                    <a:pt x="1295" y="80"/>
                    <a:pt x="1309" y="55"/>
                    <a:pt x="1333" y="20"/>
                  </a:cubicBezTo>
                  <a:lnTo>
                    <a:pt x="1347" y="0"/>
                  </a:lnTo>
                  <a:lnTo>
                    <a:pt x="1363" y="0"/>
                  </a:lnTo>
                  <a:lnTo>
                    <a:pt x="1378" y="0"/>
                  </a:lnTo>
                  <a:lnTo>
                    <a:pt x="1378" y="9"/>
                  </a:lnTo>
                  <a:cubicBezTo>
                    <a:pt x="1378" y="16"/>
                    <a:pt x="1376" y="21"/>
                    <a:pt x="1364" y="38"/>
                  </a:cubicBezTo>
                  <a:cubicBezTo>
                    <a:pt x="1342" y="68"/>
                    <a:pt x="1320" y="107"/>
                    <a:pt x="1270" y="209"/>
                  </a:cubicBezTo>
                  <a:cubicBezTo>
                    <a:pt x="1245" y="260"/>
                    <a:pt x="1214" y="321"/>
                    <a:pt x="1202" y="344"/>
                  </a:cubicBezTo>
                  <a:cubicBezTo>
                    <a:pt x="1164" y="415"/>
                    <a:pt x="1111" y="499"/>
                    <a:pt x="1068" y="556"/>
                  </a:cubicBezTo>
                  <a:cubicBezTo>
                    <a:pt x="1052" y="579"/>
                    <a:pt x="1051" y="580"/>
                    <a:pt x="1049" y="598"/>
                  </a:cubicBezTo>
                  <a:cubicBezTo>
                    <a:pt x="1045" y="628"/>
                    <a:pt x="1036" y="666"/>
                    <a:pt x="1022" y="709"/>
                  </a:cubicBezTo>
                  <a:cubicBezTo>
                    <a:pt x="1005" y="761"/>
                    <a:pt x="997" y="780"/>
                    <a:pt x="966" y="848"/>
                  </a:cubicBezTo>
                  <a:cubicBezTo>
                    <a:pt x="935" y="916"/>
                    <a:pt x="923" y="944"/>
                    <a:pt x="915" y="971"/>
                  </a:cubicBezTo>
                  <a:cubicBezTo>
                    <a:pt x="905" y="1004"/>
                    <a:pt x="907" y="1001"/>
                    <a:pt x="881" y="1011"/>
                  </a:cubicBezTo>
                  <a:cubicBezTo>
                    <a:pt x="869" y="1016"/>
                    <a:pt x="857" y="1020"/>
                    <a:pt x="856" y="1020"/>
                  </a:cubicBezTo>
                  <a:cubicBezTo>
                    <a:pt x="855" y="1020"/>
                    <a:pt x="845" y="1016"/>
                    <a:pt x="835" y="1011"/>
                  </a:cubicBezTo>
                  <a:cubicBezTo>
                    <a:pt x="755" y="971"/>
                    <a:pt x="681" y="953"/>
                    <a:pt x="581" y="950"/>
                  </a:cubicBezTo>
                  <a:cubicBezTo>
                    <a:pt x="475" y="947"/>
                    <a:pt x="352" y="965"/>
                    <a:pt x="206" y="1003"/>
                  </a:cubicBezTo>
                  <a:cubicBezTo>
                    <a:pt x="199" y="1005"/>
                    <a:pt x="196" y="1008"/>
                    <a:pt x="188" y="1021"/>
                  </a:cubicBezTo>
                  <a:cubicBezTo>
                    <a:pt x="177" y="1038"/>
                    <a:pt x="159" y="1074"/>
                    <a:pt x="143" y="1112"/>
                  </a:cubicBezTo>
                  <a:cubicBezTo>
                    <a:pt x="61" y="1312"/>
                    <a:pt x="25" y="1549"/>
                    <a:pt x="41" y="1783"/>
                  </a:cubicBezTo>
                  <a:cubicBezTo>
                    <a:pt x="49" y="1900"/>
                    <a:pt x="73" y="2004"/>
                    <a:pt x="101" y="2046"/>
                  </a:cubicBezTo>
                  <a:cubicBezTo>
                    <a:pt x="109" y="2058"/>
                    <a:pt x="125" y="2068"/>
                    <a:pt x="136" y="2068"/>
                  </a:cubicBezTo>
                  <a:cubicBezTo>
                    <a:pt x="155" y="2068"/>
                    <a:pt x="174" y="2049"/>
                    <a:pt x="187" y="2016"/>
                  </a:cubicBezTo>
                  <a:cubicBezTo>
                    <a:pt x="207" y="1965"/>
                    <a:pt x="215" y="1916"/>
                    <a:pt x="236" y="1734"/>
                  </a:cubicBezTo>
                  <a:cubicBezTo>
                    <a:pt x="250" y="1610"/>
                    <a:pt x="258" y="1570"/>
                    <a:pt x="281" y="1522"/>
                  </a:cubicBezTo>
                  <a:cubicBezTo>
                    <a:pt x="298" y="1487"/>
                    <a:pt x="324" y="1467"/>
                    <a:pt x="357" y="1460"/>
                  </a:cubicBezTo>
                  <a:cubicBezTo>
                    <a:pt x="393" y="1453"/>
                    <a:pt x="416" y="1475"/>
                    <a:pt x="432" y="1531"/>
                  </a:cubicBezTo>
                  <a:cubicBezTo>
                    <a:pt x="454" y="1611"/>
                    <a:pt x="461" y="1719"/>
                    <a:pt x="464" y="2034"/>
                  </a:cubicBezTo>
                  <a:lnTo>
                    <a:pt x="466" y="2181"/>
                  </a:lnTo>
                  <a:lnTo>
                    <a:pt x="448" y="2181"/>
                  </a:lnTo>
                  <a:lnTo>
                    <a:pt x="431" y="2181"/>
                  </a:lnTo>
                  <a:lnTo>
                    <a:pt x="429" y="2044"/>
                  </a:lnTo>
                  <a:close/>
                  <a:moveTo>
                    <a:pt x="160" y="977"/>
                  </a:moveTo>
                  <a:cubicBezTo>
                    <a:pt x="177" y="971"/>
                    <a:pt x="184" y="967"/>
                    <a:pt x="192" y="959"/>
                  </a:cubicBezTo>
                  <a:cubicBezTo>
                    <a:pt x="210" y="942"/>
                    <a:pt x="226" y="929"/>
                    <a:pt x="245" y="917"/>
                  </a:cubicBezTo>
                  <a:cubicBezTo>
                    <a:pt x="267" y="903"/>
                    <a:pt x="333" y="870"/>
                    <a:pt x="380" y="849"/>
                  </a:cubicBezTo>
                  <a:cubicBezTo>
                    <a:pt x="416" y="834"/>
                    <a:pt x="423" y="830"/>
                    <a:pt x="416" y="830"/>
                  </a:cubicBezTo>
                  <a:cubicBezTo>
                    <a:pt x="409" y="830"/>
                    <a:pt x="374" y="817"/>
                    <a:pt x="358" y="809"/>
                  </a:cubicBezTo>
                  <a:cubicBezTo>
                    <a:pt x="337" y="797"/>
                    <a:pt x="320" y="784"/>
                    <a:pt x="302" y="766"/>
                  </a:cubicBezTo>
                  <a:cubicBezTo>
                    <a:pt x="288" y="751"/>
                    <a:pt x="288" y="751"/>
                    <a:pt x="275" y="751"/>
                  </a:cubicBezTo>
                  <a:cubicBezTo>
                    <a:pt x="269" y="751"/>
                    <a:pt x="261" y="752"/>
                    <a:pt x="257" y="754"/>
                  </a:cubicBezTo>
                  <a:cubicBezTo>
                    <a:pt x="242" y="761"/>
                    <a:pt x="208" y="787"/>
                    <a:pt x="188" y="807"/>
                  </a:cubicBezTo>
                  <a:cubicBezTo>
                    <a:pt x="137" y="857"/>
                    <a:pt x="117" y="909"/>
                    <a:pt x="124" y="969"/>
                  </a:cubicBezTo>
                  <a:cubicBezTo>
                    <a:pt x="125" y="979"/>
                    <a:pt x="126" y="980"/>
                    <a:pt x="133" y="982"/>
                  </a:cubicBezTo>
                  <a:cubicBezTo>
                    <a:pt x="136" y="984"/>
                    <a:pt x="139" y="985"/>
                    <a:pt x="139" y="985"/>
                  </a:cubicBezTo>
                  <a:cubicBezTo>
                    <a:pt x="139" y="985"/>
                    <a:pt x="149" y="982"/>
                    <a:pt x="160" y="977"/>
                  </a:cubicBezTo>
                  <a:close/>
                  <a:moveTo>
                    <a:pt x="834" y="965"/>
                  </a:moveTo>
                  <a:cubicBezTo>
                    <a:pt x="828" y="958"/>
                    <a:pt x="811" y="945"/>
                    <a:pt x="798" y="935"/>
                  </a:cubicBezTo>
                  <a:cubicBezTo>
                    <a:pt x="694" y="859"/>
                    <a:pt x="546" y="798"/>
                    <a:pt x="390" y="768"/>
                  </a:cubicBezTo>
                  <a:cubicBezTo>
                    <a:pt x="375" y="765"/>
                    <a:pt x="364" y="763"/>
                    <a:pt x="365" y="764"/>
                  </a:cubicBezTo>
                  <a:cubicBezTo>
                    <a:pt x="371" y="769"/>
                    <a:pt x="400" y="788"/>
                    <a:pt x="426" y="804"/>
                  </a:cubicBezTo>
                  <a:lnTo>
                    <a:pt x="455" y="822"/>
                  </a:lnTo>
                  <a:lnTo>
                    <a:pt x="480" y="821"/>
                  </a:lnTo>
                  <a:cubicBezTo>
                    <a:pt x="509" y="819"/>
                    <a:pt x="512" y="817"/>
                    <a:pt x="441" y="849"/>
                  </a:cubicBezTo>
                  <a:cubicBezTo>
                    <a:pt x="347" y="892"/>
                    <a:pt x="261" y="937"/>
                    <a:pt x="255" y="947"/>
                  </a:cubicBezTo>
                  <a:cubicBezTo>
                    <a:pt x="254" y="948"/>
                    <a:pt x="269" y="946"/>
                    <a:pt x="289" y="942"/>
                  </a:cubicBezTo>
                  <a:cubicBezTo>
                    <a:pt x="368" y="926"/>
                    <a:pt x="442" y="920"/>
                    <a:pt x="541" y="922"/>
                  </a:cubicBezTo>
                  <a:cubicBezTo>
                    <a:pt x="610" y="923"/>
                    <a:pt x="638" y="925"/>
                    <a:pt x="692" y="933"/>
                  </a:cubicBezTo>
                  <a:cubicBezTo>
                    <a:pt x="740" y="941"/>
                    <a:pt x="800" y="957"/>
                    <a:pt x="830" y="971"/>
                  </a:cubicBezTo>
                  <a:cubicBezTo>
                    <a:pt x="837" y="974"/>
                    <a:pt x="843" y="976"/>
                    <a:pt x="844" y="976"/>
                  </a:cubicBezTo>
                  <a:cubicBezTo>
                    <a:pt x="846" y="976"/>
                    <a:pt x="841" y="971"/>
                    <a:pt x="834" y="965"/>
                  </a:cubicBezTo>
                  <a:lnTo>
                    <a:pt x="834" y="965"/>
                  </a:lnTo>
                  <a:close/>
                  <a:moveTo>
                    <a:pt x="864" y="911"/>
                  </a:moveTo>
                  <a:cubicBezTo>
                    <a:pt x="875" y="884"/>
                    <a:pt x="919" y="754"/>
                    <a:pt x="922" y="740"/>
                  </a:cubicBezTo>
                  <a:cubicBezTo>
                    <a:pt x="923" y="732"/>
                    <a:pt x="923" y="733"/>
                    <a:pt x="902" y="752"/>
                  </a:cubicBezTo>
                  <a:cubicBezTo>
                    <a:pt x="865" y="788"/>
                    <a:pt x="811" y="834"/>
                    <a:pt x="808" y="832"/>
                  </a:cubicBezTo>
                  <a:cubicBezTo>
                    <a:pt x="808" y="831"/>
                    <a:pt x="826" y="803"/>
                    <a:pt x="848" y="769"/>
                  </a:cubicBezTo>
                  <a:cubicBezTo>
                    <a:pt x="923" y="657"/>
                    <a:pt x="939" y="625"/>
                    <a:pt x="953" y="568"/>
                  </a:cubicBezTo>
                  <a:cubicBezTo>
                    <a:pt x="971" y="497"/>
                    <a:pt x="972" y="414"/>
                    <a:pt x="955" y="347"/>
                  </a:cubicBezTo>
                  <a:cubicBezTo>
                    <a:pt x="942" y="298"/>
                    <a:pt x="915" y="236"/>
                    <a:pt x="891" y="202"/>
                  </a:cubicBezTo>
                  <a:cubicBezTo>
                    <a:pt x="832" y="120"/>
                    <a:pt x="730" y="78"/>
                    <a:pt x="615" y="88"/>
                  </a:cubicBezTo>
                  <a:cubicBezTo>
                    <a:pt x="459" y="101"/>
                    <a:pt x="342" y="185"/>
                    <a:pt x="281" y="327"/>
                  </a:cubicBezTo>
                  <a:cubicBezTo>
                    <a:pt x="254" y="391"/>
                    <a:pt x="243" y="462"/>
                    <a:pt x="249" y="540"/>
                  </a:cubicBezTo>
                  <a:cubicBezTo>
                    <a:pt x="253" y="602"/>
                    <a:pt x="265" y="636"/>
                    <a:pt x="299" y="687"/>
                  </a:cubicBezTo>
                  <a:cubicBezTo>
                    <a:pt x="311" y="706"/>
                    <a:pt x="315" y="709"/>
                    <a:pt x="320" y="710"/>
                  </a:cubicBezTo>
                  <a:cubicBezTo>
                    <a:pt x="324" y="710"/>
                    <a:pt x="337" y="712"/>
                    <a:pt x="349" y="713"/>
                  </a:cubicBezTo>
                  <a:cubicBezTo>
                    <a:pt x="488" y="729"/>
                    <a:pt x="679" y="813"/>
                    <a:pt x="824" y="921"/>
                  </a:cubicBezTo>
                  <a:cubicBezTo>
                    <a:pt x="838" y="931"/>
                    <a:pt x="850" y="938"/>
                    <a:pt x="851" y="938"/>
                  </a:cubicBezTo>
                  <a:cubicBezTo>
                    <a:pt x="852" y="938"/>
                    <a:pt x="858" y="925"/>
                    <a:pt x="864" y="911"/>
                  </a:cubicBezTo>
                  <a:close/>
                  <a:moveTo>
                    <a:pt x="929" y="847"/>
                  </a:moveTo>
                  <a:cubicBezTo>
                    <a:pt x="959" y="781"/>
                    <a:pt x="979" y="728"/>
                    <a:pt x="990" y="693"/>
                  </a:cubicBezTo>
                  <a:cubicBezTo>
                    <a:pt x="998" y="665"/>
                    <a:pt x="1004" y="643"/>
                    <a:pt x="1003" y="643"/>
                  </a:cubicBezTo>
                  <a:cubicBezTo>
                    <a:pt x="1003" y="643"/>
                    <a:pt x="996" y="651"/>
                    <a:pt x="987" y="661"/>
                  </a:cubicBezTo>
                  <a:lnTo>
                    <a:pt x="972" y="679"/>
                  </a:lnTo>
                  <a:lnTo>
                    <a:pt x="963" y="712"/>
                  </a:lnTo>
                  <a:cubicBezTo>
                    <a:pt x="955" y="738"/>
                    <a:pt x="907" y="887"/>
                    <a:pt x="897" y="913"/>
                  </a:cubicBezTo>
                  <a:cubicBezTo>
                    <a:pt x="896" y="916"/>
                    <a:pt x="896" y="917"/>
                    <a:pt x="898" y="916"/>
                  </a:cubicBezTo>
                  <a:cubicBezTo>
                    <a:pt x="899" y="914"/>
                    <a:pt x="913" y="884"/>
                    <a:pt x="929" y="847"/>
                  </a:cubicBezTo>
                  <a:close/>
                  <a:moveTo>
                    <a:pt x="1004" y="587"/>
                  </a:moveTo>
                  <a:cubicBezTo>
                    <a:pt x="1009" y="579"/>
                    <a:pt x="1009" y="578"/>
                    <a:pt x="1006" y="575"/>
                  </a:cubicBezTo>
                  <a:cubicBezTo>
                    <a:pt x="1004" y="572"/>
                    <a:pt x="1003" y="573"/>
                    <a:pt x="997" y="579"/>
                  </a:cubicBezTo>
                  <a:cubicBezTo>
                    <a:pt x="994" y="584"/>
                    <a:pt x="991" y="591"/>
                    <a:pt x="990" y="597"/>
                  </a:cubicBezTo>
                  <a:lnTo>
                    <a:pt x="989" y="606"/>
                  </a:lnTo>
                  <a:lnTo>
                    <a:pt x="993" y="601"/>
                  </a:lnTo>
                  <a:cubicBezTo>
                    <a:pt x="996" y="598"/>
                    <a:pt x="1000" y="591"/>
                    <a:pt x="1004" y="587"/>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96" name="Freeform 31"/>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98" name="Freeform 32"/>
            <p:cNvSpPr>
              <a:spLocks/>
            </p:cNvSpPr>
            <p:nvPr/>
          </p:nvSpPr>
          <p:spPr bwMode="auto">
            <a:xfrm>
              <a:off x="5294313" y="3776663"/>
              <a:ext cx="123825" cy="209550"/>
            </a:xfrm>
            <a:custGeom>
              <a:avLst/>
              <a:gdLst>
                <a:gd name="T0" fmla="*/ 228 w 331"/>
                <a:gd name="T1" fmla="*/ 533 h 559"/>
                <a:gd name="T2" fmla="*/ 330 w 331"/>
                <a:gd name="T3" fmla="*/ 471 h 559"/>
                <a:gd name="T4" fmla="*/ 275 w 331"/>
                <a:gd name="T5" fmla="*/ 230 h 559"/>
                <a:gd name="T6" fmla="*/ 267 w 331"/>
                <a:gd name="T7" fmla="*/ 30 h 559"/>
                <a:gd name="T8" fmla="*/ 159 w 331"/>
                <a:gd name="T9" fmla="*/ 37 h 559"/>
                <a:gd name="T10" fmla="*/ 210 w 331"/>
                <a:gd name="T11" fmla="*/ 116 h 559"/>
                <a:gd name="T12" fmla="*/ 136 w 331"/>
                <a:gd name="T13" fmla="*/ 165 h 559"/>
                <a:gd name="T14" fmla="*/ 81 w 331"/>
                <a:gd name="T15" fmla="*/ 91 h 559"/>
                <a:gd name="T16" fmla="*/ 180 w 331"/>
                <a:gd name="T17" fmla="*/ 294 h 559"/>
                <a:gd name="T18" fmla="*/ 228 w 331"/>
                <a:gd name="T19" fmla="*/ 533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 h="559">
                  <a:moveTo>
                    <a:pt x="228" y="533"/>
                  </a:moveTo>
                  <a:cubicBezTo>
                    <a:pt x="228" y="533"/>
                    <a:pt x="315" y="559"/>
                    <a:pt x="330" y="471"/>
                  </a:cubicBezTo>
                  <a:cubicBezTo>
                    <a:pt x="331" y="463"/>
                    <a:pt x="275" y="230"/>
                    <a:pt x="275" y="230"/>
                  </a:cubicBezTo>
                  <a:cubicBezTo>
                    <a:pt x="327" y="137"/>
                    <a:pt x="304" y="55"/>
                    <a:pt x="267" y="30"/>
                  </a:cubicBezTo>
                  <a:cubicBezTo>
                    <a:pt x="223" y="0"/>
                    <a:pt x="159" y="37"/>
                    <a:pt x="159" y="37"/>
                  </a:cubicBezTo>
                  <a:lnTo>
                    <a:pt x="210" y="116"/>
                  </a:lnTo>
                  <a:lnTo>
                    <a:pt x="136" y="165"/>
                  </a:lnTo>
                  <a:lnTo>
                    <a:pt x="81" y="91"/>
                  </a:lnTo>
                  <a:cubicBezTo>
                    <a:pt x="37" y="144"/>
                    <a:pt x="0" y="301"/>
                    <a:pt x="180" y="294"/>
                  </a:cubicBezTo>
                  <a:lnTo>
                    <a:pt x="228" y="533"/>
                  </a:lnTo>
                  <a:close/>
                </a:path>
              </a:pathLst>
            </a:custGeom>
            <a:solidFill>
              <a:srgbClr val="A9B6AC"/>
            </a:solidFill>
            <a:ln w="14288" cap="flat">
              <a:solidFill>
                <a:srgbClr val="445750"/>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grpSp>
    </p:spTree>
    <p:extLst>
      <p:ext uri="{BB962C8B-B14F-4D97-AF65-F5344CB8AC3E}">
        <p14:creationId xmlns:p14="http://schemas.microsoft.com/office/powerpoint/2010/main" val="12631306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 Building Applications</a:t>
            </a:r>
            <a:endParaRPr lang="en-CA" dirty="0"/>
          </a:p>
        </p:txBody>
      </p:sp>
      <p:sp>
        <p:nvSpPr>
          <p:cNvPr id="3" name="Content Placeholder 2"/>
          <p:cNvSpPr>
            <a:spLocks noGrp="1"/>
          </p:cNvSpPr>
          <p:nvPr>
            <p:ph idx="1"/>
          </p:nvPr>
        </p:nvSpPr>
        <p:spPr/>
        <p:txBody>
          <a:bodyPr/>
          <a:lstStyle/>
          <a:p>
            <a:r>
              <a:rPr lang="en-CA" dirty="0" smtClean="0"/>
              <a:t>Application developers use Spiffy library to build robust tools</a:t>
            </a:r>
            <a:br>
              <a:rPr lang="en-CA" dirty="0" smtClean="0"/>
            </a:br>
            <a:r>
              <a:rPr lang="en-CA" dirty="0" smtClean="0"/>
              <a:t>that work across file systems</a:t>
            </a:r>
            <a:endParaRPr lang="en-CA" dirty="0"/>
          </a:p>
        </p:txBody>
      </p:sp>
      <p:grpSp>
        <p:nvGrpSpPr>
          <p:cNvPr id="91" name="Group 90"/>
          <p:cNvGrpSpPr/>
          <p:nvPr/>
        </p:nvGrpSpPr>
        <p:grpSpPr>
          <a:xfrm>
            <a:off x="6146552" y="2114550"/>
            <a:ext cx="1412156" cy="1484243"/>
            <a:chOff x="8681092" y="3099999"/>
            <a:chExt cx="1411173" cy="1715949"/>
          </a:xfrm>
          <a:solidFill>
            <a:srgbClr val="B7B7FF"/>
          </a:solidFill>
          <a:effectLst/>
        </p:grpSpPr>
        <p:sp>
          <p:nvSpPr>
            <p:cNvPr id="94" name="Rectangle 93"/>
            <p:cNvSpPr/>
            <p:nvPr/>
          </p:nvSpPr>
          <p:spPr>
            <a:xfrm>
              <a:off x="8681092" y="3099999"/>
              <a:ext cx="1411173" cy="1075731"/>
            </a:xfrm>
            <a:prstGeom prst="rect">
              <a:avLst/>
            </a:prstGeom>
            <a:grpFill/>
            <a:ln w="25400">
              <a:solidFill>
                <a:srgbClr val="000000"/>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chemeClr val="tx1"/>
                  </a:solidFill>
                </a:rPr>
                <a:t>Generic Application</a:t>
              </a:r>
            </a:p>
          </p:txBody>
        </p:sp>
        <p:sp>
          <p:nvSpPr>
            <p:cNvPr id="95" name="Rectangle 94"/>
            <p:cNvSpPr/>
            <p:nvPr/>
          </p:nvSpPr>
          <p:spPr>
            <a:xfrm>
              <a:off x="8681092" y="4175730"/>
              <a:ext cx="1411173" cy="640218"/>
            </a:xfrm>
            <a:prstGeom prst="rect">
              <a:avLst/>
            </a:prstGeom>
            <a:grpFill/>
            <a:ln w="25400">
              <a:solidFill>
                <a:srgbClr val="000000"/>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chemeClr val="tx1"/>
                  </a:solidFill>
                </a:rPr>
                <a:t>File-System Specific Logic</a:t>
              </a:r>
            </a:p>
          </p:txBody>
        </p:sp>
      </p:grpSp>
      <p:sp>
        <p:nvSpPr>
          <p:cNvPr id="93" name="Right Arrow 92"/>
          <p:cNvSpPr/>
          <p:nvPr/>
        </p:nvSpPr>
        <p:spPr>
          <a:xfrm>
            <a:off x="5748446" y="2703409"/>
            <a:ext cx="237749" cy="173175"/>
          </a:xfrm>
          <a:prstGeom prst="rightArrow">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chemeClr val="tx1"/>
              </a:solidFill>
            </a:endParaRPr>
          </a:p>
        </p:txBody>
      </p:sp>
      <p:sp>
        <p:nvSpPr>
          <p:cNvPr id="86" name="Rectangle 85"/>
          <p:cNvSpPr/>
          <p:nvPr/>
        </p:nvSpPr>
        <p:spPr>
          <a:xfrm>
            <a:off x="6321356" y="3713242"/>
            <a:ext cx="1058380" cy="354193"/>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dirty="0" smtClean="0">
                <a:solidFill>
                  <a:schemeClr val="tx1"/>
                </a:solidFill>
              </a:rPr>
              <a:t>Application Developer</a:t>
            </a:r>
            <a:endParaRPr lang="en-CA" sz="1200" dirty="0">
              <a:solidFill>
                <a:schemeClr val="tx1"/>
              </a:solidFill>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1343" y="3668706"/>
            <a:ext cx="914852" cy="914885"/>
          </a:xfrm>
          <a:prstGeom prst="rect">
            <a:avLst/>
          </a:prstGeom>
        </p:spPr>
      </p:pic>
      <p:sp>
        <p:nvSpPr>
          <p:cNvPr id="118" name="Right Arrow 117"/>
          <p:cNvSpPr/>
          <p:nvPr/>
        </p:nvSpPr>
        <p:spPr>
          <a:xfrm>
            <a:off x="2230712" y="2686954"/>
            <a:ext cx="237749" cy="173175"/>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chemeClr val="bg1"/>
              </a:solidFill>
            </a:endParaRPr>
          </a:p>
        </p:txBody>
      </p:sp>
      <p:sp>
        <p:nvSpPr>
          <p:cNvPr id="119" name="Rounded Rectangle 118"/>
          <p:cNvSpPr/>
          <p:nvPr/>
        </p:nvSpPr>
        <p:spPr>
          <a:xfrm>
            <a:off x="2628820" y="2419350"/>
            <a:ext cx="1080000" cy="708385"/>
          </a:xfrm>
          <a:prstGeom prst="roundRect">
            <a:avLst/>
          </a:prstGeom>
          <a:solidFill>
            <a:srgbClr val="FFFFFF"/>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rgbClr val="000000"/>
                </a:solidFill>
              </a:rPr>
              <a:t>Spiffy Compiler</a:t>
            </a:r>
          </a:p>
        </p:txBody>
      </p:sp>
      <p:grpSp>
        <p:nvGrpSpPr>
          <p:cNvPr id="120" name="Group 119"/>
          <p:cNvGrpSpPr/>
          <p:nvPr/>
        </p:nvGrpSpPr>
        <p:grpSpPr>
          <a:xfrm>
            <a:off x="4267287" y="2419350"/>
            <a:ext cx="1320800" cy="708385"/>
            <a:chOff x="6493933" y="3749526"/>
            <a:chExt cx="1761066" cy="944513"/>
          </a:xfrm>
          <a:solidFill>
            <a:srgbClr val="FFFFFF"/>
          </a:solidFill>
          <a:effectLst/>
        </p:grpSpPr>
        <p:sp>
          <p:nvSpPr>
            <p:cNvPr id="121" name="Rectangle 120"/>
            <p:cNvSpPr/>
            <p:nvPr/>
          </p:nvSpPr>
          <p:spPr>
            <a:xfrm>
              <a:off x="6493933" y="3749526"/>
              <a:ext cx="1004159" cy="944513"/>
            </a:xfrm>
            <a:prstGeom prst="rect">
              <a:avLst/>
            </a:prstGeom>
            <a:grp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rgbClr val="000000"/>
                  </a:solidFill>
                </a:rPr>
                <a:t>Spiffy Library</a:t>
              </a:r>
            </a:p>
          </p:txBody>
        </p:sp>
        <p:sp>
          <p:nvSpPr>
            <p:cNvPr id="122" name="Rectangle 121"/>
            <p:cNvSpPr/>
            <p:nvPr/>
          </p:nvSpPr>
          <p:spPr>
            <a:xfrm>
              <a:off x="7498092" y="3749526"/>
              <a:ext cx="756907" cy="944513"/>
            </a:xfrm>
            <a:prstGeom prst="rect">
              <a:avLst/>
            </a:prstGeom>
            <a:grpFill/>
            <a:ln w="254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rgbClr val="000000"/>
                  </a:solidFill>
                </a:rPr>
                <a:t>Spiffy API</a:t>
              </a:r>
            </a:p>
          </p:txBody>
        </p:sp>
      </p:grpSp>
      <p:sp>
        <p:nvSpPr>
          <p:cNvPr id="123" name="Right Arrow 122"/>
          <p:cNvSpPr/>
          <p:nvPr/>
        </p:nvSpPr>
        <p:spPr>
          <a:xfrm>
            <a:off x="3869179" y="2686954"/>
            <a:ext cx="237749" cy="173175"/>
          </a:xfrm>
          <a:prstGeom prst="rightArrow">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chemeClr val="bg1"/>
              </a:solidFill>
            </a:endParaRPr>
          </a:p>
        </p:txBody>
      </p:sp>
      <p:sp>
        <p:nvSpPr>
          <p:cNvPr id="124" name="Rectangle 123"/>
          <p:cNvSpPr/>
          <p:nvPr/>
        </p:nvSpPr>
        <p:spPr>
          <a:xfrm>
            <a:off x="1011973" y="3472400"/>
            <a:ext cx="1058380" cy="354193"/>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dirty="0">
                <a:solidFill>
                  <a:schemeClr val="tx1"/>
                </a:solidFill>
              </a:rPr>
              <a:t>File System Developer</a:t>
            </a:r>
          </a:p>
        </p:txBody>
      </p:sp>
      <p:sp>
        <p:nvSpPr>
          <p:cNvPr id="125" name="Rectangle 124"/>
          <p:cNvSpPr/>
          <p:nvPr/>
        </p:nvSpPr>
        <p:spPr>
          <a:xfrm>
            <a:off x="990353" y="2266950"/>
            <a:ext cx="1080000" cy="708385"/>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dirty="0">
                <a:solidFill>
                  <a:schemeClr val="tx1"/>
                </a:solidFill>
              </a:rPr>
              <a:t>File System Metadata Structures</a:t>
            </a:r>
          </a:p>
        </p:txBody>
      </p:sp>
      <p:sp>
        <p:nvSpPr>
          <p:cNvPr id="126" name="Rectangle 125"/>
          <p:cNvSpPr/>
          <p:nvPr/>
        </p:nvSpPr>
        <p:spPr>
          <a:xfrm>
            <a:off x="990353" y="2977180"/>
            <a:ext cx="1080000" cy="354193"/>
          </a:xfrm>
          <a:prstGeom prst="rect">
            <a:avLst/>
          </a:prstGeom>
          <a:solidFill>
            <a:srgbClr val="FFFFFF"/>
          </a:solidFill>
          <a:ln w="25400">
            <a:solidFill>
              <a:srgbClr val="000000"/>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35100" rIns="0" bIns="35100" rtlCol="0" anchor="ctr"/>
          <a:lstStyle/>
          <a:p>
            <a:pPr algn="ctr"/>
            <a:r>
              <a:rPr lang="en-CA" sz="1200" b="1" dirty="0">
                <a:solidFill>
                  <a:schemeClr val="tx1"/>
                </a:solidFill>
              </a:rPr>
              <a:t>Annotations</a:t>
            </a:r>
          </a:p>
        </p:txBody>
      </p:sp>
      <p:grpSp>
        <p:nvGrpSpPr>
          <p:cNvPr id="127" name="Group 126"/>
          <p:cNvGrpSpPr/>
          <p:nvPr/>
        </p:nvGrpSpPr>
        <p:grpSpPr>
          <a:xfrm>
            <a:off x="2099484" y="3361885"/>
            <a:ext cx="448866" cy="969169"/>
            <a:chOff x="4859338" y="3776663"/>
            <a:chExt cx="598488" cy="1292225"/>
          </a:xfrm>
        </p:grpSpPr>
        <p:sp>
          <p:nvSpPr>
            <p:cNvPr id="128" name="Freeform 5"/>
            <p:cNvSpPr>
              <a:spLocks/>
            </p:cNvSpPr>
            <p:nvPr/>
          </p:nvSpPr>
          <p:spPr bwMode="auto">
            <a:xfrm>
              <a:off x="4868863" y="3917950"/>
              <a:ext cx="581025" cy="1139825"/>
            </a:xfrm>
            <a:custGeom>
              <a:avLst/>
              <a:gdLst>
                <a:gd name="T0" fmla="*/ 250 w 1553"/>
                <a:gd name="T1" fmla="*/ 791 h 3047"/>
                <a:gd name="T2" fmla="*/ 194 w 1553"/>
                <a:gd name="T3" fmla="*/ 572 h 3047"/>
                <a:gd name="T4" fmla="*/ 262 w 1553"/>
                <a:gd name="T5" fmla="*/ 325 h 3047"/>
                <a:gd name="T6" fmla="*/ 447 w 1553"/>
                <a:gd name="T7" fmla="*/ 175 h 3047"/>
                <a:gd name="T8" fmla="*/ 678 w 1553"/>
                <a:gd name="T9" fmla="*/ 141 h 3047"/>
                <a:gd name="T10" fmla="*/ 837 w 1553"/>
                <a:gd name="T11" fmla="*/ 216 h 3047"/>
                <a:gd name="T12" fmla="*/ 950 w 1553"/>
                <a:gd name="T13" fmla="*/ 378 h 3047"/>
                <a:gd name="T14" fmla="*/ 959 w 1553"/>
                <a:gd name="T15" fmla="*/ 585 h 3047"/>
                <a:gd name="T16" fmla="*/ 884 w 1553"/>
                <a:gd name="T17" fmla="*/ 816 h 3047"/>
                <a:gd name="T18" fmla="*/ 950 w 1553"/>
                <a:gd name="T19" fmla="*/ 797 h 3047"/>
                <a:gd name="T20" fmla="*/ 1344 w 1553"/>
                <a:gd name="T21" fmla="*/ 85 h 3047"/>
                <a:gd name="T22" fmla="*/ 1516 w 1553"/>
                <a:gd name="T23" fmla="*/ 0 h 3047"/>
                <a:gd name="T24" fmla="*/ 1553 w 1553"/>
                <a:gd name="T25" fmla="*/ 175 h 3047"/>
                <a:gd name="T26" fmla="*/ 1312 w 1553"/>
                <a:gd name="T27" fmla="*/ 807 h 3047"/>
                <a:gd name="T28" fmla="*/ 1253 w 1553"/>
                <a:gd name="T29" fmla="*/ 925 h 3047"/>
                <a:gd name="T30" fmla="*/ 1209 w 1553"/>
                <a:gd name="T31" fmla="*/ 1241 h 3047"/>
                <a:gd name="T32" fmla="*/ 1237 w 1553"/>
                <a:gd name="T33" fmla="*/ 1753 h 3047"/>
                <a:gd name="T34" fmla="*/ 1300 w 1553"/>
                <a:gd name="T35" fmla="*/ 2266 h 3047"/>
                <a:gd name="T36" fmla="*/ 1303 w 1553"/>
                <a:gd name="T37" fmla="*/ 2460 h 3047"/>
                <a:gd name="T38" fmla="*/ 1272 w 1553"/>
                <a:gd name="T39" fmla="*/ 2791 h 3047"/>
                <a:gd name="T40" fmla="*/ 1209 w 1553"/>
                <a:gd name="T41" fmla="*/ 2978 h 3047"/>
                <a:gd name="T42" fmla="*/ 1128 w 1553"/>
                <a:gd name="T43" fmla="*/ 3047 h 3047"/>
                <a:gd name="T44" fmla="*/ 1028 w 1553"/>
                <a:gd name="T45" fmla="*/ 2957 h 3047"/>
                <a:gd name="T46" fmla="*/ 981 w 1553"/>
                <a:gd name="T47" fmla="*/ 2769 h 3047"/>
                <a:gd name="T48" fmla="*/ 978 w 1553"/>
                <a:gd name="T49" fmla="*/ 2491 h 3047"/>
                <a:gd name="T50" fmla="*/ 956 w 1553"/>
                <a:gd name="T51" fmla="*/ 2272 h 3047"/>
                <a:gd name="T52" fmla="*/ 884 w 1553"/>
                <a:gd name="T53" fmla="*/ 2166 h 3047"/>
                <a:gd name="T54" fmla="*/ 847 w 1553"/>
                <a:gd name="T55" fmla="*/ 2135 h 3047"/>
                <a:gd name="T56" fmla="*/ 803 w 1553"/>
                <a:gd name="T57" fmla="*/ 2313 h 3047"/>
                <a:gd name="T58" fmla="*/ 750 w 1553"/>
                <a:gd name="T59" fmla="*/ 2635 h 3047"/>
                <a:gd name="T60" fmla="*/ 716 w 1553"/>
                <a:gd name="T61" fmla="*/ 2778 h 3047"/>
                <a:gd name="T62" fmla="*/ 681 w 1553"/>
                <a:gd name="T63" fmla="*/ 2919 h 3047"/>
                <a:gd name="T64" fmla="*/ 634 w 1553"/>
                <a:gd name="T65" fmla="*/ 3025 h 3047"/>
                <a:gd name="T66" fmla="*/ 559 w 1553"/>
                <a:gd name="T67" fmla="*/ 3044 h 3047"/>
                <a:gd name="T68" fmla="*/ 484 w 1553"/>
                <a:gd name="T69" fmla="*/ 2985 h 3047"/>
                <a:gd name="T70" fmla="*/ 437 w 1553"/>
                <a:gd name="T71" fmla="*/ 2744 h 3047"/>
                <a:gd name="T72" fmla="*/ 425 w 1553"/>
                <a:gd name="T73" fmla="*/ 2382 h 3047"/>
                <a:gd name="T74" fmla="*/ 422 w 1553"/>
                <a:gd name="T75" fmla="*/ 2047 h 3047"/>
                <a:gd name="T76" fmla="*/ 419 w 1553"/>
                <a:gd name="T77" fmla="*/ 1722 h 3047"/>
                <a:gd name="T78" fmla="*/ 375 w 1553"/>
                <a:gd name="T79" fmla="*/ 1572 h 3047"/>
                <a:gd name="T80" fmla="*/ 316 w 1553"/>
                <a:gd name="T81" fmla="*/ 1538 h 3047"/>
                <a:gd name="T82" fmla="*/ 259 w 1553"/>
                <a:gd name="T83" fmla="*/ 1710 h 3047"/>
                <a:gd name="T84" fmla="*/ 212 w 1553"/>
                <a:gd name="T85" fmla="*/ 1985 h 3047"/>
                <a:gd name="T86" fmla="*/ 169 w 1553"/>
                <a:gd name="T87" fmla="*/ 2150 h 3047"/>
                <a:gd name="T88" fmla="*/ 106 w 1553"/>
                <a:gd name="T89" fmla="*/ 2188 h 3047"/>
                <a:gd name="T90" fmla="*/ 41 w 1553"/>
                <a:gd name="T91" fmla="*/ 2085 h 3047"/>
                <a:gd name="T92" fmla="*/ 0 w 1553"/>
                <a:gd name="T93" fmla="*/ 1810 h 3047"/>
                <a:gd name="T94" fmla="*/ 37 w 1553"/>
                <a:gd name="T95" fmla="*/ 1428 h 3047"/>
                <a:gd name="T96" fmla="*/ 137 w 1553"/>
                <a:gd name="T97" fmla="*/ 1116 h 3047"/>
                <a:gd name="T98" fmla="*/ 306 w 1553"/>
                <a:gd name="T99" fmla="*/ 922 h 3047"/>
                <a:gd name="T100" fmla="*/ 250 w 1553"/>
                <a:gd name="T101" fmla="*/ 791 h 3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53" h="3047">
                  <a:moveTo>
                    <a:pt x="250" y="791"/>
                  </a:moveTo>
                  <a:lnTo>
                    <a:pt x="194" y="572"/>
                  </a:lnTo>
                  <a:lnTo>
                    <a:pt x="262" y="325"/>
                  </a:lnTo>
                  <a:lnTo>
                    <a:pt x="447" y="175"/>
                  </a:lnTo>
                  <a:lnTo>
                    <a:pt x="678" y="141"/>
                  </a:lnTo>
                  <a:lnTo>
                    <a:pt x="837" y="216"/>
                  </a:lnTo>
                  <a:lnTo>
                    <a:pt x="950" y="378"/>
                  </a:lnTo>
                  <a:lnTo>
                    <a:pt x="959" y="585"/>
                  </a:lnTo>
                  <a:lnTo>
                    <a:pt x="884" y="816"/>
                  </a:lnTo>
                  <a:lnTo>
                    <a:pt x="950" y="797"/>
                  </a:lnTo>
                  <a:lnTo>
                    <a:pt x="1344" y="85"/>
                  </a:lnTo>
                  <a:lnTo>
                    <a:pt x="1516" y="0"/>
                  </a:lnTo>
                  <a:lnTo>
                    <a:pt x="1553" y="175"/>
                  </a:lnTo>
                  <a:lnTo>
                    <a:pt x="1312" y="807"/>
                  </a:lnTo>
                  <a:cubicBezTo>
                    <a:pt x="1312" y="807"/>
                    <a:pt x="1253" y="913"/>
                    <a:pt x="1253" y="925"/>
                  </a:cubicBezTo>
                  <a:cubicBezTo>
                    <a:pt x="1253" y="938"/>
                    <a:pt x="1209" y="1241"/>
                    <a:pt x="1209" y="1241"/>
                  </a:cubicBezTo>
                  <a:lnTo>
                    <a:pt x="1237" y="1753"/>
                  </a:lnTo>
                  <a:lnTo>
                    <a:pt x="1300" y="2266"/>
                  </a:lnTo>
                  <a:cubicBezTo>
                    <a:pt x="1300" y="2266"/>
                    <a:pt x="1316" y="2428"/>
                    <a:pt x="1303" y="2460"/>
                  </a:cubicBezTo>
                  <a:cubicBezTo>
                    <a:pt x="1291" y="2491"/>
                    <a:pt x="1272" y="2791"/>
                    <a:pt x="1272" y="2791"/>
                  </a:cubicBezTo>
                  <a:lnTo>
                    <a:pt x="1209" y="2978"/>
                  </a:lnTo>
                  <a:lnTo>
                    <a:pt x="1128" y="3047"/>
                  </a:lnTo>
                  <a:lnTo>
                    <a:pt x="1028" y="2957"/>
                  </a:lnTo>
                  <a:lnTo>
                    <a:pt x="981" y="2769"/>
                  </a:lnTo>
                  <a:lnTo>
                    <a:pt x="978" y="2491"/>
                  </a:lnTo>
                  <a:lnTo>
                    <a:pt x="956" y="2272"/>
                  </a:lnTo>
                  <a:lnTo>
                    <a:pt x="884" y="2166"/>
                  </a:lnTo>
                  <a:lnTo>
                    <a:pt x="847" y="2135"/>
                  </a:lnTo>
                  <a:lnTo>
                    <a:pt x="803" y="2313"/>
                  </a:lnTo>
                  <a:lnTo>
                    <a:pt x="750" y="2635"/>
                  </a:lnTo>
                  <a:lnTo>
                    <a:pt x="716" y="2778"/>
                  </a:lnTo>
                  <a:lnTo>
                    <a:pt x="681" y="2919"/>
                  </a:lnTo>
                  <a:lnTo>
                    <a:pt x="634" y="3025"/>
                  </a:lnTo>
                  <a:lnTo>
                    <a:pt x="559" y="3044"/>
                  </a:lnTo>
                  <a:lnTo>
                    <a:pt x="484" y="2985"/>
                  </a:lnTo>
                  <a:lnTo>
                    <a:pt x="437" y="2744"/>
                  </a:lnTo>
                  <a:lnTo>
                    <a:pt x="425" y="2382"/>
                  </a:lnTo>
                  <a:lnTo>
                    <a:pt x="422" y="2047"/>
                  </a:lnTo>
                  <a:lnTo>
                    <a:pt x="419" y="1722"/>
                  </a:lnTo>
                  <a:lnTo>
                    <a:pt x="375" y="1572"/>
                  </a:lnTo>
                  <a:lnTo>
                    <a:pt x="316" y="1538"/>
                  </a:lnTo>
                  <a:lnTo>
                    <a:pt x="259" y="1710"/>
                  </a:lnTo>
                  <a:lnTo>
                    <a:pt x="212" y="1985"/>
                  </a:lnTo>
                  <a:lnTo>
                    <a:pt x="169" y="2150"/>
                  </a:lnTo>
                  <a:lnTo>
                    <a:pt x="106" y="2188"/>
                  </a:lnTo>
                  <a:lnTo>
                    <a:pt x="41" y="2085"/>
                  </a:lnTo>
                  <a:lnTo>
                    <a:pt x="0" y="1810"/>
                  </a:lnTo>
                  <a:lnTo>
                    <a:pt x="37" y="1428"/>
                  </a:lnTo>
                  <a:lnTo>
                    <a:pt x="137" y="1116"/>
                  </a:lnTo>
                  <a:lnTo>
                    <a:pt x="306" y="922"/>
                  </a:lnTo>
                  <a:lnTo>
                    <a:pt x="250" y="791"/>
                  </a:lnTo>
                  <a:close/>
                </a:path>
              </a:pathLst>
            </a:custGeom>
            <a:solidFill>
              <a:srgbClr val="5353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129" name="Freeform 6"/>
            <p:cNvSpPr>
              <a:spLocks/>
            </p:cNvSpPr>
            <p:nvPr/>
          </p:nvSpPr>
          <p:spPr bwMode="auto">
            <a:xfrm>
              <a:off x="4872038" y="4038600"/>
              <a:ext cx="533400" cy="652463"/>
            </a:xfrm>
            <a:custGeom>
              <a:avLst/>
              <a:gdLst>
                <a:gd name="T0" fmla="*/ 163 w 1427"/>
                <a:gd name="T1" fmla="*/ 769 h 1747"/>
                <a:gd name="T2" fmla="*/ 93 w 1427"/>
                <a:gd name="T3" fmla="*/ 901 h 1747"/>
                <a:gd name="T4" fmla="*/ 35 w 1427"/>
                <a:gd name="T5" fmla="*/ 1087 h 1747"/>
                <a:gd name="T6" fmla="*/ 0 w 1427"/>
                <a:gd name="T7" fmla="*/ 1286 h 1747"/>
                <a:gd name="T8" fmla="*/ 0 w 1427"/>
                <a:gd name="T9" fmla="*/ 1586 h 1747"/>
                <a:gd name="T10" fmla="*/ 212 w 1427"/>
                <a:gd name="T11" fmla="*/ 1662 h 1747"/>
                <a:gd name="T12" fmla="*/ 247 w 1427"/>
                <a:gd name="T13" fmla="*/ 1379 h 1747"/>
                <a:gd name="T14" fmla="*/ 287 w 1427"/>
                <a:gd name="T15" fmla="*/ 1273 h 1747"/>
                <a:gd name="T16" fmla="*/ 336 w 1427"/>
                <a:gd name="T17" fmla="*/ 1220 h 1747"/>
                <a:gd name="T18" fmla="*/ 389 w 1427"/>
                <a:gd name="T19" fmla="*/ 1277 h 1747"/>
                <a:gd name="T20" fmla="*/ 429 w 1427"/>
                <a:gd name="T21" fmla="*/ 1432 h 1747"/>
                <a:gd name="T22" fmla="*/ 420 w 1427"/>
                <a:gd name="T23" fmla="*/ 1684 h 1747"/>
                <a:gd name="T24" fmla="*/ 420 w 1427"/>
                <a:gd name="T25" fmla="*/ 1723 h 1747"/>
                <a:gd name="T26" fmla="*/ 579 w 1427"/>
                <a:gd name="T27" fmla="*/ 1723 h 1747"/>
                <a:gd name="T28" fmla="*/ 1096 w 1427"/>
                <a:gd name="T29" fmla="*/ 1547 h 1747"/>
                <a:gd name="T30" fmla="*/ 1255 w 1427"/>
                <a:gd name="T31" fmla="*/ 1520 h 1747"/>
                <a:gd name="T32" fmla="*/ 1206 w 1427"/>
                <a:gd name="T33" fmla="*/ 1193 h 1747"/>
                <a:gd name="T34" fmla="*/ 1206 w 1427"/>
                <a:gd name="T35" fmla="*/ 879 h 1747"/>
                <a:gd name="T36" fmla="*/ 1233 w 1427"/>
                <a:gd name="T37" fmla="*/ 632 h 1747"/>
                <a:gd name="T38" fmla="*/ 1357 w 1427"/>
                <a:gd name="T39" fmla="*/ 376 h 1747"/>
                <a:gd name="T40" fmla="*/ 1427 w 1427"/>
                <a:gd name="T41" fmla="*/ 194 h 1747"/>
                <a:gd name="T42" fmla="*/ 1206 w 1427"/>
                <a:gd name="T43" fmla="*/ 0 h 1747"/>
                <a:gd name="T44" fmla="*/ 1096 w 1427"/>
                <a:gd name="T45" fmla="*/ 208 h 1747"/>
                <a:gd name="T46" fmla="*/ 1021 w 1427"/>
                <a:gd name="T47" fmla="*/ 305 h 1747"/>
                <a:gd name="T48" fmla="*/ 981 w 1427"/>
                <a:gd name="T49" fmla="*/ 437 h 1747"/>
                <a:gd name="T50" fmla="*/ 862 w 1427"/>
                <a:gd name="T51" fmla="*/ 729 h 1747"/>
                <a:gd name="T52" fmla="*/ 451 w 1427"/>
                <a:gd name="T53" fmla="*/ 654 h 1747"/>
                <a:gd name="T54" fmla="*/ 163 w 1427"/>
                <a:gd name="T55" fmla="*/ 769 h 1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7" h="1747">
                  <a:moveTo>
                    <a:pt x="163" y="769"/>
                  </a:moveTo>
                  <a:lnTo>
                    <a:pt x="93" y="901"/>
                  </a:lnTo>
                  <a:lnTo>
                    <a:pt x="35" y="1087"/>
                  </a:lnTo>
                  <a:lnTo>
                    <a:pt x="0" y="1286"/>
                  </a:lnTo>
                  <a:lnTo>
                    <a:pt x="0" y="1586"/>
                  </a:lnTo>
                  <a:cubicBezTo>
                    <a:pt x="96" y="1655"/>
                    <a:pt x="147" y="1646"/>
                    <a:pt x="212" y="1662"/>
                  </a:cubicBezTo>
                  <a:lnTo>
                    <a:pt x="247" y="1379"/>
                  </a:lnTo>
                  <a:lnTo>
                    <a:pt x="287" y="1273"/>
                  </a:lnTo>
                  <a:lnTo>
                    <a:pt x="336" y="1220"/>
                  </a:lnTo>
                  <a:lnTo>
                    <a:pt x="389" y="1277"/>
                  </a:lnTo>
                  <a:lnTo>
                    <a:pt x="429" y="1432"/>
                  </a:lnTo>
                  <a:lnTo>
                    <a:pt x="420" y="1684"/>
                  </a:lnTo>
                  <a:lnTo>
                    <a:pt x="420" y="1723"/>
                  </a:lnTo>
                  <a:cubicBezTo>
                    <a:pt x="492" y="1747"/>
                    <a:pt x="532" y="1737"/>
                    <a:pt x="579" y="1723"/>
                  </a:cubicBezTo>
                  <a:cubicBezTo>
                    <a:pt x="756" y="1649"/>
                    <a:pt x="936" y="1579"/>
                    <a:pt x="1096" y="1547"/>
                  </a:cubicBezTo>
                  <a:cubicBezTo>
                    <a:pt x="1145" y="1538"/>
                    <a:pt x="1113" y="1536"/>
                    <a:pt x="1255" y="1520"/>
                  </a:cubicBezTo>
                  <a:lnTo>
                    <a:pt x="1206" y="1193"/>
                  </a:lnTo>
                  <a:lnTo>
                    <a:pt x="1206" y="879"/>
                  </a:lnTo>
                  <a:lnTo>
                    <a:pt x="1233" y="632"/>
                  </a:lnTo>
                  <a:lnTo>
                    <a:pt x="1357" y="376"/>
                  </a:lnTo>
                  <a:lnTo>
                    <a:pt x="1427" y="194"/>
                  </a:lnTo>
                  <a:cubicBezTo>
                    <a:pt x="1360" y="125"/>
                    <a:pt x="1305" y="49"/>
                    <a:pt x="1206" y="0"/>
                  </a:cubicBezTo>
                  <a:lnTo>
                    <a:pt x="1096" y="208"/>
                  </a:lnTo>
                  <a:lnTo>
                    <a:pt x="1021" y="305"/>
                  </a:lnTo>
                  <a:lnTo>
                    <a:pt x="981" y="437"/>
                  </a:lnTo>
                  <a:lnTo>
                    <a:pt x="862" y="729"/>
                  </a:lnTo>
                  <a:lnTo>
                    <a:pt x="451" y="654"/>
                  </a:lnTo>
                  <a:lnTo>
                    <a:pt x="163" y="769"/>
                  </a:lnTo>
                  <a:close/>
                </a:path>
              </a:pathLst>
            </a:custGeom>
            <a:solidFill>
              <a:srgbClr val="962A22"/>
            </a:solidFill>
            <a:ln w="4763" cap="flat">
              <a:solidFill>
                <a:srgbClr val="962A22"/>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30" name="Freeform 7"/>
            <p:cNvSpPr>
              <a:spLocks/>
            </p:cNvSpPr>
            <p:nvPr/>
          </p:nvSpPr>
          <p:spPr bwMode="auto">
            <a:xfrm>
              <a:off x="5043488" y="4551363"/>
              <a:ext cx="298450" cy="127000"/>
            </a:xfrm>
            <a:custGeom>
              <a:avLst/>
              <a:gdLst>
                <a:gd name="T0" fmla="*/ 0 w 795"/>
                <a:gd name="T1" fmla="*/ 330 h 339"/>
                <a:gd name="T2" fmla="*/ 223 w 795"/>
                <a:gd name="T3" fmla="*/ 275 h 339"/>
                <a:gd name="T4" fmla="*/ 765 w 795"/>
                <a:gd name="T5" fmla="*/ 97 h 339"/>
                <a:gd name="T6" fmla="*/ 795 w 795"/>
                <a:gd name="T7" fmla="*/ 0 h 339"/>
                <a:gd name="T8" fmla="*/ 204 w 795"/>
                <a:gd name="T9" fmla="*/ 240 h 339"/>
                <a:gd name="T10" fmla="*/ 0 w 795"/>
                <a:gd name="T11" fmla="*/ 330 h 339"/>
              </a:gdLst>
              <a:ahLst/>
              <a:cxnLst>
                <a:cxn ang="0">
                  <a:pos x="T0" y="T1"/>
                </a:cxn>
                <a:cxn ang="0">
                  <a:pos x="T2" y="T3"/>
                </a:cxn>
                <a:cxn ang="0">
                  <a:pos x="T4" y="T5"/>
                </a:cxn>
                <a:cxn ang="0">
                  <a:pos x="T6" y="T7"/>
                </a:cxn>
                <a:cxn ang="0">
                  <a:pos x="T8" y="T9"/>
                </a:cxn>
                <a:cxn ang="0">
                  <a:pos x="T10" y="T11"/>
                </a:cxn>
              </a:cxnLst>
              <a:rect l="0" t="0" r="r" b="b"/>
              <a:pathLst>
                <a:path w="795" h="339">
                  <a:moveTo>
                    <a:pt x="0" y="330"/>
                  </a:moveTo>
                  <a:cubicBezTo>
                    <a:pt x="35" y="339"/>
                    <a:pt x="134" y="317"/>
                    <a:pt x="223" y="275"/>
                  </a:cubicBezTo>
                  <a:cubicBezTo>
                    <a:pt x="441" y="170"/>
                    <a:pt x="708" y="60"/>
                    <a:pt x="765" y="97"/>
                  </a:cubicBezTo>
                  <a:lnTo>
                    <a:pt x="795" y="0"/>
                  </a:lnTo>
                  <a:cubicBezTo>
                    <a:pt x="662" y="11"/>
                    <a:pt x="469" y="85"/>
                    <a:pt x="204" y="240"/>
                  </a:cubicBezTo>
                  <a:cubicBezTo>
                    <a:pt x="175" y="257"/>
                    <a:pt x="120" y="295"/>
                    <a:pt x="0" y="330"/>
                  </a:cubicBez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131" name="Freeform 8"/>
            <p:cNvSpPr>
              <a:spLocks/>
            </p:cNvSpPr>
            <p:nvPr/>
          </p:nvSpPr>
          <p:spPr bwMode="auto">
            <a:xfrm>
              <a:off x="5153025" y="4325938"/>
              <a:ext cx="25400" cy="117475"/>
            </a:xfrm>
            <a:custGeom>
              <a:avLst/>
              <a:gdLst>
                <a:gd name="T0" fmla="*/ 39 w 69"/>
                <a:gd name="T1" fmla="*/ 0 h 316"/>
                <a:gd name="T2" fmla="*/ 10 w 69"/>
                <a:gd name="T3" fmla="*/ 75 h 316"/>
                <a:gd name="T4" fmla="*/ 4 w 69"/>
                <a:gd name="T5" fmla="*/ 133 h 316"/>
                <a:gd name="T6" fmla="*/ 9 w 69"/>
                <a:gd name="T7" fmla="*/ 258 h 316"/>
                <a:gd name="T8" fmla="*/ 18 w 69"/>
                <a:gd name="T9" fmla="*/ 310 h 316"/>
                <a:gd name="T10" fmla="*/ 31 w 69"/>
                <a:gd name="T11" fmla="*/ 316 h 316"/>
                <a:gd name="T12" fmla="*/ 45 w 69"/>
                <a:gd name="T13" fmla="*/ 316 h 316"/>
                <a:gd name="T14" fmla="*/ 53 w 69"/>
                <a:gd name="T15" fmla="*/ 286 h 316"/>
                <a:gd name="T16" fmla="*/ 40 w 69"/>
                <a:gd name="T17" fmla="*/ 163 h 316"/>
                <a:gd name="T18" fmla="*/ 36 w 69"/>
                <a:gd name="T19" fmla="*/ 98 h 316"/>
                <a:gd name="T20" fmla="*/ 47 w 69"/>
                <a:gd name="T21" fmla="*/ 56 h 316"/>
                <a:gd name="T22" fmla="*/ 69 w 69"/>
                <a:gd name="T23" fmla="*/ 14 h 316"/>
                <a:gd name="T24" fmla="*/ 39 w 69"/>
                <a:gd name="T25"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316">
                  <a:moveTo>
                    <a:pt x="39" y="0"/>
                  </a:moveTo>
                  <a:lnTo>
                    <a:pt x="10" y="75"/>
                  </a:lnTo>
                  <a:cubicBezTo>
                    <a:pt x="10" y="75"/>
                    <a:pt x="0" y="132"/>
                    <a:pt x="4" y="133"/>
                  </a:cubicBezTo>
                  <a:cubicBezTo>
                    <a:pt x="7" y="133"/>
                    <a:pt x="9" y="258"/>
                    <a:pt x="9" y="258"/>
                  </a:cubicBezTo>
                  <a:lnTo>
                    <a:pt x="18" y="310"/>
                  </a:lnTo>
                  <a:lnTo>
                    <a:pt x="31" y="316"/>
                  </a:lnTo>
                  <a:lnTo>
                    <a:pt x="45" y="316"/>
                  </a:lnTo>
                  <a:lnTo>
                    <a:pt x="53" y="286"/>
                  </a:lnTo>
                  <a:lnTo>
                    <a:pt x="40" y="163"/>
                  </a:lnTo>
                  <a:lnTo>
                    <a:pt x="36" y="98"/>
                  </a:lnTo>
                  <a:lnTo>
                    <a:pt x="47" y="56"/>
                  </a:lnTo>
                  <a:lnTo>
                    <a:pt x="69" y="14"/>
                  </a:lnTo>
                  <a:lnTo>
                    <a:pt x="39" y="0"/>
                  </a:lnTo>
                  <a:close/>
                </a:path>
              </a:pathLst>
            </a:custGeom>
            <a:solidFill>
              <a:srgbClr val="FFFF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132" name="Freeform 9"/>
            <p:cNvSpPr>
              <a:spLocks noEditPoints="1"/>
            </p:cNvSpPr>
            <p:nvPr/>
          </p:nvSpPr>
          <p:spPr bwMode="auto">
            <a:xfrm>
              <a:off x="5151438" y="4319588"/>
              <a:ext cx="31750" cy="128588"/>
            </a:xfrm>
            <a:custGeom>
              <a:avLst/>
              <a:gdLst>
                <a:gd name="T0" fmla="*/ 45 w 85"/>
                <a:gd name="T1" fmla="*/ 0 h 342"/>
                <a:gd name="T2" fmla="*/ 42 w 85"/>
                <a:gd name="T3" fmla="*/ 6 h 342"/>
                <a:gd name="T4" fmla="*/ 5 w 85"/>
                <a:gd name="T5" fmla="*/ 114 h 342"/>
                <a:gd name="T6" fmla="*/ 13 w 85"/>
                <a:gd name="T7" fmla="*/ 318 h 342"/>
                <a:gd name="T8" fmla="*/ 14 w 85"/>
                <a:gd name="T9" fmla="*/ 318 h 342"/>
                <a:gd name="T10" fmla="*/ 14 w 85"/>
                <a:gd name="T11" fmla="*/ 318 h 342"/>
                <a:gd name="T12" fmla="*/ 26 w 85"/>
                <a:gd name="T13" fmla="*/ 338 h 342"/>
                <a:gd name="T14" fmla="*/ 49 w 85"/>
                <a:gd name="T15" fmla="*/ 339 h 342"/>
                <a:gd name="T16" fmla="*/ 63 w 85"/>
                <a:gd name="T17" fmla="*/ 317 h 342"/>
                <a:gd name="T18" fmla="*/ 49 w 85"/>
                <a:gd name="T19" fmla="*/ 174 h 342"/>
                <a:gd name="T20" fmla="*/ 48 w 85"/>
                <a:gd name="T21" fmla="*/ 117 h 342"/>
                <a:gd name="T22" fmla="*/ 81 w 85"/>
                <a:gd name="T23" fmla="*/ 28 h 342"/>
                <a:gd name="T24" fmla="*/ 85 w 85"/>
                <a:gd name="T25" fmla="*/ 22 h 342"/>
                <a:gd name="T26" fmla="*/ 79 w 85"/>
                <a:gd name="T27" fmla="*/ 19 h 342"/>
                <a:gd name="T28" fmla="*/ 50 w 85"/>
                <a:gd name="T29" fmla="*/ 3 h 342"/>
                <a:gd name="T30" fmla="*/ 45 w 85"/>
                <a:gd name="T31" fmla="*/ 0 h 342"/>
                <a:gd name="T32" fmla="*/ 50 w 85"/>
                <a:gd name="T33" fmla="*/ 17 h 342"/>
                <a:gd name="T34" fmla="*/ 67 w 85"/>
                <a:gd name="T35" fmla="*/ 27 h 342"/>
                <a:gd name="T36" fmla="*/ 35 w 85"/>
                <a:gd name="T37" fmla="*/ 115 h 342"/>
                <a:gd name="T38" fmla="*/ 50 w 85"/>
                <a:gd name="T39" fmla="*/ 318 h 342"/>
                <a:gd name="T40" fmla="*/ 41 w 85"/>
                <a:gd name="T41" fmla="*/ 327 h 342"/>
                <a:gd name="T42" fmla="*/ 26 w 85"/>
                <a:gd name="T43" fmla="*/ 316 h 342"/>
                <a:gd name="T44" fmla="*/ 17 w 85"/>
                <a:gd name="T45" fmla="*/ 118 h 342"/>
                <a:gd name="T46" fmla="*/ 50 w 85"/>
                <a:gd name="T47" fmla="*/ 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5" h="342">
                  <a:moveTo>
                    <a:pt x="45" y="0"/>
                  </a:moveTo>
                  <a:lnTo>
                    <a:pt x="42" y="6"/>
                  </a:lnTo>
                  <a:cubicBezTo>
                    <a:pt x="20" y="50"/>
                    <a:pt x="7" y="101"/>
                    <a:pt x="5" y="114"/>
                  </a:cubicBezTo>
                  <a:cubicBezTo>
                    <a:pt x="0" y="154"/>
                    <a:pt x="5" y="266"/>
                    <a:pt x="13" y="318"/>
                  </a:cubicBezTo>
                  <a:lnTo>
                    <a:pt x="14" y="318"/>
                  </a:lnTo>
                  <a:lnTo>
                    <a:pt x="14" y="318"/>
                  </a:lnTo>
                  <a:cubicBezTo>
                    <a:pt x="16" y="328"/>
                    <a:pt x="21" y="334"/>
                    <a:pt x="26" y="338"/>
                  </a:cubicBezTo>
                  <a:cubicBezTo>
                    <a:pt x="31" y="342"/>
                    <a:pt x="43" y="342"/>
                    <a:pt x="49" y="339"/>
                  </a:cubicBezTo>
                  <a:cubicBezTo>
                    <a:pt x="60" y="332"/>
                    <a:pt x="61" y="328"/>
                    <a:pt x="63" y="317"/>
                  </a:cubicBezTo>
                  <a:cubicBezTo>
                    <a:pt x="63" y="311"/>
                    <a:pt x="54" y="228"/>
                    <a:pt x="49" y="174"/>
                  </a:cubicBezTo>
                  <a:cubicBezTo>
                    <a:pt x="46" y="139"/>
                    <a:pt x="47" y="128"/>
                    <a:pt x="48" y="117"/>
                  </a:cubicBezTo>
                  <a:cubicBezTo>
                    <a:pt x="50" y="94"/>
                    <a:pt x="61" y="58"/>
                    <a:pt x="81" y="28"/>
                  </a:cubicBezTo>
                  <a:lnTo>
                    <a:pt x="85" y="22"/>
                  </a:lnTo>
                  <a:lnTo>
                    <a:pt x="79" y="19"/>
                  </a:lnTo>
                  <a:lnTo>
                    <a:pt x="50" y="3"/>
                  </a:lnTo>
                  <a:lnTo>
                    <a:pt x="45" y="0"/>
                  </a:lnTo>
                  <a:close/>
                  <a:moveTo>
                    <a:pt x="50" y="17"/>
                  </a:moveTo>
                  <a:lnTo>
                    <a:pt x="67" y="27"/>
                  </a:lnTo>
                  <a:cubicBezTo>
                    <a:pt x="45" y="59"/>
                    <a:pt x="41" y="78"/>
                    <a:pt x="35" y="115"/>
                  </a:cubicBezTo>
                  <a:cubicBezTo>
                    <a:pt x="30" y="136"/>
                    <a:pt x="49" y="269"/>
                    <a:pt x="50" y="318"/>
                  </a:cubicBezTo>
                  <a:cubicBezTo>
                    <a:pt x="50" y="323"/>
                    <a:pt x="46" y="326"/>
                    <a:pt x="41" y="327"/>
                  </a:cubicBezTo>
                  <a:cubicBezTo>
                    <a:pt x="32" y="327"/>
                    <a:pt x="27" y="321"/>
                    <a:pt x="26" y="316"/>
                  </a:cubicBezTo>
                  <a:cubicBezTo>
                    <a:pt x="15" y="240"/>
                    <a:pt x="16" y="124"/>
                    <a:pt x="17" y="118"/>
                  </a:cubicBezTo>
                  <a:cubicBezTo>
                    <a:pt x="19" y="98"/>
                    <a:pt x="33" y="47"/>
                    <a:pt x="50" y="17"/>
                  </a:cubicBezTo>
                  <a:close/>
                </a:path>
              </a:pathLst>
            </a:custGeom>
            <a:solidFill>
              <a:srgbClr val="D0D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133" name="Freeform 10"/>
            <p:cNvSpPr>
              <a:spLocks/>
            </p:cNvSpPr>
            <p:nvPr/>
          </p:nvSpPr>
          <p:spPr bwMode="auto">
            <a:xfrm>
              <a:off x="5192713" y="4319588"/>
              <a:ext cx="25400" cy="128588"/>
            </a:xfrm>
            <a:custGeom>
              <a:avLst/>
              <a:gdLst>
                <a:gd name="T0" fmla="*/ 0 w 71"/>
                <a:gd name="T1" fmla="*/ 16 h 341"/>
                <a:gd name="T2" fmla="*/ 41 w 71"/>
                <a:gd name="T3" fmla="*/ 117 h 341"/>
                <a:gd name="T4" fmla="*/ 20 w 71"/>
                <a:gd name="T5" fmla="*/ 309 h 341"/>
                <a:gd name="T6" fmla="*/ 56 w 71"/>
                <a:gd name="T7" fmla="*/ 308 h 341"/>
                <a:gd name="T8" fmla="*/ 71 w 71"/>
                <a:gd name="T9" fmla="*/ 110 h 341"/>
                <a:gd name="T10" fmla="*/ 29 w 71"/>
                <a:gd name="T11" fmla="*/ 0 h 341"/>
                <a:gd name="T12" fmla="*/ 0 w 71"/>
                <a:gd name="T13" fmla="*/ 16 h 341"/>
              </a:gdLst>
              <a:ahLst/>
              <a:cxnLst>
                <a:cxn ang="0">
                  <a:pos x="T0" y="T1"/>
                </a:cxn>
                <a:cxn ang="0">
                  <a:pos x="T2" y="T3"/>
                </a:cxn>
                <a:cxn ang="0">
                  <a:pos x="T4" y="T5"/>
                </a:cxn>
                <a:cxn ang="0">
                  <a:pos x="T6" y="T7"/>
                </a:cxn>
                <a:cxn ang="0">
                  <a:pos x="T8" y="T9"/>
                </a:cxn>
                <a:cxn ang="0">
                  <a:pos x="T10" y="T11"/>
                </a:cxn>
                <a:cxn ang="0">
                  <a:pos x="T12" y="T13"/>
                </a:cxn>
              </a:cxnLst>
              <a:rect l="0" t="0" r="r" b="b"/>
              <a:pathLst>
                <a:path w="71" h="341">
                  <a:moveTo>
                    <a:pt x="0" y="16"/>
                  </a:moveTo>
                  <a:cubicBezTo>
                    <a:pt x="20" y="46"/>
                    <a:pt x="41" y="91"/>
                    <a:pt x="41" y="117"/>
                  </a:cubicBezTo>
                  <a:cubicBezTo>
                    <a:pt x="39" y="248"/>
                    <a:pt x="28" y="246"/>
                    <a:pt x="20" y="309"/>
                  </a:cubicBezTo>
                  <a:cubicBezTo>
                    <a:pt x="19" y="326"/>
                    <a:pt x="48" y="341"/>
                    <a:pt x="56" y="308"/>
                  </a:cubicBezTo>
                  <a:cubicBezTo>
                    <a:pt x="70" y="225"/>
                    <a:pt x="71" y="157"/>
                    <a:pt x="71" y="110"/>
                  </a:cubicBezTo>
                  <a:cubicBezTo>
                    <a:pt x="64" y="67"/>
                    <a:pt x="45" y="34"/>
                    <a:pt x="29" y="0"/>
                  </a:cubicBezTo>
                  <a:lnTo>
                    <a:pt x="0" y="16"/>
                  </a:lnTo>
                  <a:close/>
                </a:path>
              </a:pathLst>
            </a:custGeom>
            <a:solidFill>
              <a:srgbClr val="FFFFCB"/>
            </a:solidFill>
            <a:ln w="4763" cap="flat">
              <a:solidFill>
                <a:srgbClr val="D0D080"/>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34" name="Freeform 11"/>
            <p:cNvSpPr>
              <a:spLocks/>
            </p:cNvSpPr>
            <p:nvPr/>
          </p:nvSpPr>
          <p:spPr bwMode="auto">
            <a:xfrm>
              <a:off x="4935538" y="3967163"/>
              <a:ext cx="314325" cy="298450"/>
            </a:xfrm>
            <a:custGeom>
              <a:avLst/>
              <a:gdLst>
                <a:gd name="T0" fmla="*/ 437 w 842"/>
                <a:gd name="T1" fmla="*/ 1 h 801"/>
                <a:gd name="T2" fmla="*/ 317 w 842"/>
                <a:gd name="T3" fmla="*/ 20 h 801"/>
                <a:gd name="T4" fmla="*/ 3 w 842"/>
                <a:gd name="T5" fmla="*/ 429 h 801"/>
                <a:gd name="T6" fmla="*/ 86 w 842"/>
                <a:gd name="T7" fmla="*/ 702 h 801"/>
                <a:gd name="T8" fmla="*/ 225 w 842"/>
                <a:gd name="T9" fmla="*/ 792 h 801"/>
                <a:gd name="T10" fmla="*/ 277 w 842"/>
                <a:gd name="T11" fmla="*/ 789 h 801"/>
                <a:gd name="T12" fmla="*/ 148 w 842"/>
                <a:gd name="T13" fmla="*/ 700 h 801"/>
                <a:gd name="T14" fmla="*/ 55 w 842"/>
                <a:gd name="T15" fmla="*/ 439 h 801"/>
                <a:gd name="T16" fmla="*/ 127 w 842"/>
                <a:gd name="T17" fmla="*/ 215 h 801"/>
                <a:gd name="T18" fmla="*/ 328 w 842"/>
                <a:gd name="T19" fmla="*/ 65 h 801"/>
                <a:gd name="T20" fmla="*/ 706 w 842"/>
                <a:gd name="T21" fmla="*/ 176 h 801"/>
                <a:gd name="T22" fmla="*/ 750 w 842"/>
                <a:gd name="T23" fmla="*/ 558 h 801"/>
                <a:gd name="T24" fmla="*/ 605 w 842"/>
                <a:gd name="T25" fmla="*/ 801 h 801"/>
                <a:gd name="T26" fmla="*/ 658 w 842"/>
                <a:gd name="T27" fmla="*/ 751 h 801"/>
                <a:gd name="T28" fmla="*/ 790 w 842"/>
                <a:gd name="T29" fmla="*/ 538 h 801"/>
                <a:gd name="T30" fmla="*/ 738 w 842"/>
                <a:gd name="T31" fmla="*/ 157 h 801"/>
                <a:gd name="T32" fmla="*/ 437 w 842"/>
                <a:gd name="T33" fmla="*/ 1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2" h="801">
                  <a:moveTo>
                    <a:pt x="437" y="1"/>
                  </a:moveTo>
                  <a:cubicBezTo>
                    <a:pt x="397" y="2"/>
                    <a:pt x="357" y="8"/>
                    <a:pt x="317" y="20"/>
                  </a:cubicBezTo>
                  <a:cubicBezTo>
                    <a:pt x="160" y="69"/>
                    <a:pt x="7" y="207"/>
                    <a:pt x="3" y="429"/>
                  </a:cubicBezTo>
                  <a:cubicBezTo>
                    <a:pt x="1" y="536"/>
                    <a:pt x="0" y="587"/>
                    <a:pt x="86" y="702"/>
                  </a:cubicBezTo>
                  <a:cubicBezTo>
                    <a:pt x="116" y="742"/>
                    <a:pt x="159" y="777"/>
                    <a:pt x="225" y="792"/>
                  </a:cubicBezTo>
                  <a:lnTo>
                    <a:pt x="277" y="789"/>
                  </a:lnTo>
                  <a:cubicBezTo>
                    <a:pt x="219" y="753"/>
                    <a:pt x="172" y="728"/>
                    <a:pt x="148" y="700"/>
                  </a:cubicBezTo>
                  <a:cubicBezTo>
                    <a:pt x="59" y="596"/>
                    <a:pt x="53" y="543"/>
                    <a:pt x="55" y="439"/>
                  </a:cubicBezTo>
                  <a:cubicBezTo>
                    <a:pt x="57" y="348"/>
                    <a:pt x="88" y="272"/>
                    <a:pt x="127" y="215"/>
                  </a:cubicBezTo>
                  <a:cubicBezTo>
                    <a:pt x="178" y="138"/>
                    <a:pt x="246" y="90"/>
                    <a:pt x="328" y="65"/>
                  </a:cubicBezTo>
                  <a:cubicBezTo>
                    <a:pt x="472" y="21"/>
                    <a:pt x="631" y="52"/>
                    <a:pt x="706" y="176"/>
                  </a:cubicBezTo>
                  <a:cubicBezTo>
                    <a:pt x="756" y="260"/>
                    <a:pt x="802" y="395"/>
                    <a:pt x="750" y="558"/>
                  </a:cubicBezTo>
                  <a:cubicBezTo>
                    <a:pt x="728" y="623"/>
                    <a:pt x="660" y="715"/>
                    <a:pt x="605" y="801"/>
                  </a:cubicBezTo>
                  <a:lnTo>
                    <a:pt x="658" y="751"/>
                  </a:lnTo>
                  <a:cubicBezTo>
                    <a:pt x="715" y="680"/>
                    <a:pt x="765" y="620"/>
                    <a:pt x="790" y="538"/>
                  </a:cubicBezTo>
                  <a:cubicBezTo>
                    <a:pt x="842" y="362"/>
                    <a:pt x="792" y="248"/>
                    <a:pt x="738" y="157"/>
                  </a:cubicBezTo>
                  <a:cubicBezTo>
                    <a:pt x="674" y="51"/>
                    <a:pt x="558" y="0"/>
                    <a:pt x="437"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135" name="Freeform 12"/>
            <p:cNvSpPr>
              <a:spLocks/>
            </p:cNvSpPr>
            <p:nvPr/>
          </p:nvSpPr>
          <p:spPr bwMode="auto">
            <a:xfrm>
              <a:off x="4859338" y="3914775"/>
              <a:ext cx="598488" cy="1154113"/>
            </a:xfrm>
            <a:custGeom>
              <a:avLst/>
              <a:gdLst>
                <a:gd name="T0" fmla="*/ 1337 w 1596"/>
                <a:gd name="T1" fmla="*/ 119 h 3084"/>
                <a:gd name="T2" fmla="*/ 843 w 1596"/>
                <a:gd name="T3" fmla="*/ 884 h 3084"/>
                <a:gd name="T4" fmla="*/ 1074 w 1596"/>
                <a:gd name="T5" fmla="*/ 659 h 3084"/>
                <a:gd name="T6" fmla="*/ 1443 w 1596"/>
                <a:gd name="T7" fmla="*/ 62 h 3084"/>
                <a:gd name="T8" fmla="*/ 1534 w 1596"/>
                <a:gd name="T9" fmla="*/ 60 h 3084"/>
                <a:gd name="T10" fmla="*/ 1432 w 1596"/>
                <a:gd name="T11" fmla="*/ 563 h 3084"/>
                <a:gd name="T12" fmla="*/ 1223 w 1596"/>
                <a:gd name="T13" fmla="*/ 1138 h 3084"/>
                <a:gd name="T14" fmla="*/ 1212 w 1596"/>
                <a:gd name="T15" fmla="*/ 1557 h 3084"/>
                <a:gd name="T16" fmla="*/ 1300 w 1596"/>
                <a:gd name="T17" fmla="*/ 2502 h 3084"/>
                <a:gd name="T18" fmla="*/ 1164 w 1596"/>
                <a:gd name="T19" fmla="*/ 3023 h 3084"/>
                <a:gd name="T20" fmla="*/ 1025 w 1596"/>
                <a:gd name="T21" fmla="*/ 2455 h 3084"/>
                <a:gd name="T22" fmla="*/ 905 w 1596"/>
                <a:gd name="T23" fmla="*/ 2136 h 3084"/>
                <a:gd name="T24" fmla="*/ 851 w 1596"/>
                <a:gd name="T25" fmla="*/ 2167 h 3084"/>
                <a:gd name="T26" fmla="*/ 618 w 1596"/>
                <a:gd name="T27" fmla="*/ 3020 h 3084"/>
                <a:gd name="T28" fmla="*/ 567 w 1596"/>
                <a:gd name="T29" fmla="*/ 3030 h 3084"/>
                <a:gd name="T30" fmla="*/ 489 w 1596"/>
                <a:gd name="T31" fmla="*/ 2842 h 3084"/>
                <a:gd name="T32" fmla="*/ 437 w 1596"/>
                <a:gd name="T33" fmla="*/ 1615 h 3084"/>
                <a:gd name="T34" fmla="*/ 363 w 1596"/>
                <a:gd name="T35" fmla="*/ 1555 h 3084"/>
                <a:gd name="T36" fmla="*/ 360 w 1596"/>
                <a:gd name="T37" fmla="*/ 1557 h 3084"/>
                <a:gd name="T38" fmla="*/ 246 w 1596"/>
                <a:gd name="T39" fmla="*/ 1791 h 3084"/>
                <a:gd name="T40" fmla="*/ 163 w 1596"/>
                <a:gd name="T41" fmla="*/ 2157 h 3084"/>
                <a:gd name="T42" fmla="*/ 121 w 1596"/>
                <a:gd name="T43" fmla="*/ 2156 h 3084"/>
                <a:gd name="T44" fmla="*/ 82 w 1596"/>
                <a:gd name="T45" fmla="*/ 2081 h 3084"/>
                <a:gd name="T46" fmla="*/ 305 w 1596"/>
                <a:gd name="T47" fmla="*/ 1017 h 3084"/>
                <a:gd name="T48" fmla="*/ 278 w 1596"/>
                <a:gd name="T49" fmla="*/ 997 h 3084"/>
                <a:gd name="T50" fmla="*/ 40 w 1596"/>
                <a:gd name="T51" fmla="*/ 2105 h 3084"/>
                <a:gd name="T52" fmla="*/ 132 w 1596"/>
                <a:gd name="T53" fmla="*/ 2209 h 3084"/>
                <a:gd name="T54" fmla="*/ 261 w 1596"/>
                <a:gd name="T55" fmla="*/ 1984 h 3084"/>
                <a:gd name="T56" fmla="*/ 334 w 1596"/>
                <a:gd name="T57" fmla="*/ 1623 h 3084"/>
                <a:gd name="T58" fmla="*/ 373 w 1596"/>
                <a:gd name="T59" fmla="*/ 1589 h 3084"/>
                <a:gd name="T60" fmla="*/ 426 w 1596"/>
                <a:gd name="T61" fmla="*/ 1788 h 3084"/>
                <a:gd name="T62" fmla="*/ 488 w 1596"/>
                <a:gd name="T63" fmla="*/ 3017 h 3084"/>
                <a:gd name="T64" fmla="*/ 638 w 1596"/>
                <a:gd name="T65" fmla="*/ 3065 h 3084"/>
                <a:gd name="T66" fmla="*/ 891 w 1596"/>
                <a:gd name="T67" fmla="*/ 2186 h 3084"/>
                <a:gd name="T68" fmla="*/ 987 w 1596"/>
                <a:gd name="T69" fmla="*/ 2456 h 3084"/>
                <a:gd name="T70" fmla="*/ 1115 w 1596"/>
                <a:gd name="T71" fmla="*/ 3065 h 3084"/>
                <a:gd name="T72" fmla="*/ 1176 w 1596"/>
                <a:gd name="T73" fmla="*/ 3071 h 3084"/>
                <a:gd name="T74" fmla="*/ 1337 w 1596"/>
                <a:gd name="T75" fmla="*/ 2504 h 3084"/>
                <a:gd name="T76" fmla="*/ 1260 w 1596"/>
                <a:gd name="T77" fmla="*/ 1564 h 3084"/>
                <a:gd name="T78" fmla="*/ 1282 w 1596"/>
                <a:gd name="T79" fmla="*/ 994 h 3084"/>
                <a:gd name="T80" fmla="*/ 1319 w 1596"/>
                <a:gd name="T81" fmla="*/ 893 h 3084"/>
                <a:gd name="T82" fmla="*/ 1591 w 1596"/>
                <a:gd name="T83" fmla="*/ 79 h 3084"/>
                <a:gd name="T84" fmla="*/ 1532 w 1596"/>
                <a:gd name="T85" fmla="*/ 1 h 3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6" h="3084">
                  <a:moveTo>
                    <a:pt x="1524" y="0"/>
                  </a:moveTo>
                  <a:cubicBezTo>
                    <a:pt x="1483" y="1"/>
                    <a:pt x="1451" y="14"/>
                    <a:pt x="1419" y="33"/>
                  </a:cubicBezTo>
                  <a:cubicBezTo>
                    <a:pt x="1388" y="53"/>
                    <a:pt x="1361" y="83"/>
                    <a:pt x="1337" y="119"/>
                  </a:cubicBezTo>
                  <a:cubicBezTo>
                    <a:pt x="1288" y="190"/>
                    <a:pt x="1248" y="287"/>
                    <a:pt x="1196" y="390"/>
                  </a:cubicBezTo>
                  <a:cubicBezTo>
                    <a:pt x="1131" y="516"/>
                    <a:pt x="1060" y="620"/>
                    <a:pt x="982" y="720"/>
                  </a:cubicBezTo>
                  <a:cubicBezTo>
                    <a:pt x="938" y="777"/>
                    <a:pt x="897" y="845"/>
                    <a:pt x="843" y="884"/>
                  </a:cubicBezTo>
                  <a:lnTo>
                    <a:pt x="809" y="936"/>
                  </a:lnTo>
                  <a:cubicBezTo>
                    <a:pt x="846" y="909"/>
                    <a:pt x="899" y="857"/>
                    <a:pt x="935" y="822"/>
                  </a:cubicBezTo>
                  <a:cubicBezTo>
                    <a:pt x="989" y="768"/>
                    <a:pt x="1025" y="726"/>
                    <a:pt x="1074" y="659"/>
                  </a:cubicBezTo>
                  <a:cubicBezTo>
                    <a:pt x="1133" y="578"/>
                    <a:pt x="1186" y="491"/>
                    <a:pt x="1229" y="407"/>
                  </a:cubicBezTo>
                  <a:cubicBezTo>
                    <a:pt x="1282" y="303"/>
                    <a:pt x="1323" y="206"/>
                    <a:pt x="1368" y="140"/>
                  </a:cubicBezTo>
                  <a:cubicBezTo>
                    <a:pt x="1390" y="107"/>
                    <a:pt x="1418" y="78"/>
                    <a:pt x="1443" y="62"/>
                  </a:cubicBezTo>
                  <a:cubicBezTo>
                    <a:pt x="1464" y="50"/>
                    <a:pt x="1473" y="46"/>
                    <a:pt x="1501" y="45"/>
                  </a:cubicBezTo>
                  <a:cubicBezTo>
                    <a:pt x="1506" y="45"/>
                    <a:pt x="1514" y="47"/>
                    <a:pt x="1519" y="49"/>
                  </a:cubicBezTo>
                  <a:cubicBezTo>
                    <a:pt x="1524" y="52"/>
                    <a:pt x="1529" y="54"/>
                    <a:pt x="1534" y="60"/>
                  </a:cubicBezTo>
                  <a:cubicBezTo>
                    <a:pt x="1540" y="66"/>
                    <a:pt x="1548" y="76"/>
                    <a:pt x="1550" y="92"/>
                  </a:cubicBezTo>
                  <a:cubicBezTo>
                    <a:pt x="1554" y="122"/>
                    <a:pt x="1551" y="167"/>
                    <a:pt x="1542" y="218"/>
                  </a:cubicBezTo>
                  <a:cubicBezTo>
                    <a:pt x="1524" y="320"/>
                    <a:pt x="1482" y="450"/>
                    <a:pt x="1432" y="563"/>
                  </a:cubicBezTo>
                  <a:cubicBezTo>
                    <a:pt x="1376" y="687"/>
                    <a:pt x="1318" y="775"/>
                    <a:pt x="1287" y="884"/>
                  </a:cubicBezTo>
                  <a:cubicBezTo>
                    <a:pt x="1286" y="885"/>
                    <a:pt x="1284" y="888"/>
                    <a:pt x="1284" y="889"/>
                  </a:cubicBezTo>
                  <a:cubicBezTo>
                    <a:pt x="1264" y="918"/>
                    <a:pt x="1231" y="1028"/>
                    <a:pt x="1223" y="1138"/>
                  </a:cubicBezTo>
                  <a:cubicBezTo>
                    <a:pt x="1214" y="1251"/>
                    <a:pt x="1201" y="1379"/>
                    <a:pt x="1210" y="1532"/>
                  </a:cubicBezTo>
                  <a:lnTo>
                    <a:pt x="1211" y="1548"/>
                  </a:lnTo>
                  <a:lnTo>
                    <a:pt x="1212" y="1557"/>
                  </a:lnTo>
                  <a:cubicBezTo>
                    <a:pt x="1237" y="1751"/>
                    <a:pt x="1259" y="1880"/>
                    <a:pt x="1281" y="2054"/>
                  </a:cubicBezTo>
                  <a:cubicBezTo>
                    <a:pt x="1299" y="2191"/>
                    <a:pt x="1300" y="2324"/>
                    <a:pt x="1302" y="2445"/>
                  </a:cubicBezTo>
                  <a:cubicBezTo>
                    <a:pt x="1302" y="2446"/>
                    <a:pt x="1300" y="2501"/>
                    <a:pt x="1300" y="2502"/>
                  </a:cubicBezTo>
                  <a:cubicBezTo>
                    <a:pt x="1291" y="2632"/>
                    <a:pt x="1286" y="2740"/>
                    <a:pt x="1261" y="2843"/>
                  </a:cubicBezTo>
                  <a:cubicBezTo>
                    <a:pt x="1249" y="2895"/>
                    <a:pt x="1241" y="2940"/>
                    <a:pt x="1224" y="2973"/>
                  </a:cubicBezTo>
                  <a:cubicBezTo>
                    <a:pt x="1208" y="3004"/>
                    <a:pt x="1186" y="3017"/>
                    <a:pt x="1164" y="3023"/>
                  </a:cubicBezTo>
                  <a:cubicBezTo>
                    <a:pt x="1127" y="3021"/>
                    <a:pt x="1098" y="2992"/>
                    <a:pt x="1076" y="2952"/>
                  </a:cubicBezTo>
                  <a:cubicBezTo>
                    <a:pt x="1054" y="2910"/>
                    <a:pt x="1040" y="2856"/>
                    <a:pt x="1033" y="2797"/>
                  </a:cubicBezTo>
                  <a:cubicBezTo>
                    <a:pt x="1018" y="2679"/>
                    <a:pt x="1028" y="2545"/>
                    <a:pt x="1025" y="2455"/>
                  </a:cubicBezTo>
                  <a:cubicBezTo>
                    <a:pt x="1023" y="2392"/>
                    <a:pt x="1001" y="2290"/>
                    <a:pt x="972" y="2232"/>
                  </a:cubicBezTo>
                  <a:cubicBezTo>
                    <a:pt x="958" y="2203"/>
                    <a:pt x="942" y="2178"/>
                    <a:pt x="927" y="2159"/>
                  </a:cubicBezTo>
                  <a:cubicBezTo>
                    <a:pt x="920" y="2150"/>
                    <a:pt x="913" y="2142"/>
                    <a:pt x="905" y="2136"/>
                  </a:cubicBezTo>
                  <a:cubicBezTo>
                    <a:pt x="897" y="2130"/>
                    <a:pt x="873" y="2128"/>
                    <a:pt x="861" y="2128"/>
                  </a:cubicBezTo>
                  <a:lnTo>
                    <a:pt x="855" y="2153"/>
                  </a:lnTo>
                  <a:lnTo>
                    <a:pt x="851" y="2167"/>
                  </a:lnTo>
                  <a:cubicBezTo>
                    <a:pt x="816" y="2323"/>
                    <a:pt x="770" y="2596"/>
                    <a:pt x="733" y="2745"/>
                  </a:cubicBezTo>
                  <a:cubicBezTo>
                    <a:pt x="711" y="2836"/>
                    <a:pt x="686" y="2925"/>
                    <a:pt x="659" y="2980"/>
                  </a:cubicBezTo>
                  <a:cubicBezTo>
                    <a:pt x="646" y="3007"/>
                    <a:pt x="622" y="3017"/>
                    <a:pt x="618" y="3020"/>
                  </a:cubicBezTo>
                  <a:cubicBezTo>
                    <a:pt x="610" y="3024"/>
                    <a:pt x="612" y="3023"/>
                    <a:pt x="593" y="3028"/>
                  </a:cubicBezTo>
                  <a:lnTo>
                    <a:pt x="578" y="3030"/>
                  </a:lnTo>
                  <a:lnTo>
                    <a:pt x="567" y="3030"/>
                  </a:lnTo>
                  <a:cubicBezTo>
                    <a:pt x="561" y="3029"/>
                    <a:pt x="558" y="3029"/>
                    <a:pt x="550" y="3025"/>
                  </a:cubicBezTo>
                  <a:cubicBezTo>
                    <a:pt x="543" y="3021"/>
                    <a:pt x="537" y="3014"/>
                    <a:pt x="528" y="2998"/>
                  </a:cubicBezTo>
                  <a:cubicBezTo>
                    <a:pt x="511" y="2969"/>
                    <a:pt x="496" y="2912"/>
                    <a:pt x="489" y="2842"/>
                  </a:cubicBezTo>
                  <a:cubicBezTo>
                    <a:pt x="474" y="2703"/>
                    <a:pt x="473" y="2509"/>
                    <a:pt x="473" y="2316"/>
                  </a:cubicBezTo>
                  <a:cubicBezTo>
                    <a:pt x="472" y="2122"/>
                    <a:pt x="474" y="1928"/>
                    <a:pt x="463" y="1785"/>
                  </a:cubicBezTo>
                  <a:cubicBezTo>
                    <a:pt x="458" y="1714"/>
                    <a:pt x="450" y="1656"/>
                    <a:pt x="437" y="1615"/>
                  </a:cubicBezTo>
                  <a:cubicBezTo>
                    <a:pt x="430" y="1595"/>
                    <a:pt x="422" y="1579"/>
                    <a:pt x="409" y="1567"/>
                  </a:cubicBezTo>
                  <a:cubicBezTo>
                    <a:pt x="397" y="1556"/>
                    <a:pt x="379" y="1552"/>
                    <a:pt x="363" y="1556"/>
                  </a:cubicBezTo>
                  <a:lnTo>
                    <a:pt x="363" y="1555"/>
                  </a:lnTo>
                  <a:cubicBezTo>
                    <a:pt x="362" y="1555"/>
                    <a:pt x="362" y="1556"/>
                    <a:pt x="361" y="1556"/>
                  </a:cubicBezTo>
                  <a:cubicBezTo>
                    <a:pt x="361" y="1556"/>
                    <a:pt x="360" y="1556"/>
                    <a:pt x="360" y="1556"/>
                  </a:cubicBezTo>
                  <a:lnTo>
                    <a:pt x="360" y="1557"/>
                  </a:lnTo>
                  <a:cubicBezTo>
                    <a:pt x="334" y="1562"/>
                    <a:pt x="314" y="1577"/>
                    <a:pt x="301" y="1594"/>
                  </a:cubicBezTo>
                  <a:cubicBezTo>
                    <a:pt x="288" y="1612"/>
                    <a:pt x="282" y="1631"/>
                    <a:pt x="276" y="1644"/>
                  </a:cubicBezTo>
                  <a:cubicBezTo>
                    <a:pt x="261" y="1679"/>
                    <a:pt x="253" y="1731"/>
                    <a:pt x="246" y="1791"/>
                  </a:cubicBezTo>
                  <a:cubicBezTo>
                    <a:pt x="239" y="1851"/>
                    <a:pt x="233" y="1918"/>
                    <a:pt x="224" y="1979"/>
                  </a:cubicBezTo>
                  <a:cubicBezTo>
                    <a:pt x="215" y="2039"/>
                    <a:pt x="203" y="2094"/>
                    <a:pt x="187" y="2126"/>
                  </a:cubicBezTo>
                  <a:cubicBezTo>
                    <a:pt x="179" y="2143"/>
                    <a:pt x="170" y="2153"/>
                    <a:pt x="163" y="2157"/>
                  </a:cubicBezTo>
                  <a:cubicBezTo>
                    <a:pt x="155" y="2161"/>
                    <a:pt x="150" y="2166"/>
                    <a:pt x="136" y="2163"/>
                  </a:cubicBezTo>
                  <a:lnTo>
                    <a:pt x="128" y="2160"/>
                  </a:lnTo>
                  <a:lnTo>
                    <a:pt x="121" y="2156"/>
                  </a:lnTo>
                  <a:cubicBezTo>
                    <a:pt x="121" y="2156"/>
                    <a:pt x="119" y="2155"/>
                    <a:pt x="117" y="2154"/>
                  </a:cubicBezTo>
                  <a:cubicBezTo>
                    <a:pt x="115" y="2152"/>
                    <a:pt x="114" y="2149"/>
                    <a:pt x="110" y="2143"/>
                  </a:cubicBezTo>
                  <a:cubicBezTo>
                    <a:pt x="101" y="2131"/>
                    <a:pt x="91" y="2110"/>
                    <a:pt x="82" y="2081"/>
                  </a:cubicBezTo>
                  <a:cubicBezTo>
                    <a:pt x="65" y="2024"/>
                    <a:pt x="51" y="1939"/>
                    <a:pt x="46" y="1839"/>
                  </a:cubicBezTo>
                  <a:cubicBezTo>
                    <a:pt x="38" y="1638"/>
                    <a:pt x="68" y="1375"/>
                    <a:pt x="181" y="1144"/>
                  </a:cubicBezTo>
                  <a:cubicBezTo>
                    <a:pt x="207" y="1089"/>
                    <a:pt x="254" y="1045"/>
                    <a:pt x="305" y="1017"/>
                  </a:cubicBezTo>
                  <a:cubicBezTo>
                    <a:pt x="355" y="990"/>
                    <a:pt x="457" y="942"/>
                    <a:pt x="520" y="915"/>
                  </a:cubicBezTo>
                  <a:lnTo>
                    <a:pt x="445" y="920"/>
                  </a:lnTo>
                  <a:cubicBezTo>
                    <a:pt x="377" y="950"/>
                    <a:pt x="332" y="967"/>
                    <a:pt x="278" y="997"/>
                  </a:cubicBezTo>
                  <a:cubicBezTo>
                    <a:pt x="224" y="1026"/>
                    <a:pt x="178" y="1065"/>
                    <a:pt x="147" y="1128"/>
                  </a:cubicBezTo>
                  <a:cubicBezTo>
                    <a:pt x="31" y="1366"/>
                    <a:pt x="0" y="1634"/>
                    <a:pt x="9" y="1840"/>
                  </a:cubicBezTo>
                  <a:cubicBezTo>
                    <a:pt x="13" y="1943"/>
                    <a:pt x="21" y="2043"/>
                    <a:pt x="40" y="2105"/>
                  </a:cubicBezTo>
                  <a:cubicBezTo>
                    <a:pt x="50" y="2136"/>
                    <a:pt x="60" y="2162"/>
                    <a:pt x="73" y="2179"/>
                  </a:cubicBezTo>
                  <a:cubicBezTo>
                    <a:pt x="79" y="2188"/>
                    <a:pt x="92" y="2197"/>
                    <a:pt x="101" y="2203"/>
                  </a:cubicBezTo>
                  <a:cubicBezTo>
                    <a:pt x="108" y="2206"/>
                    <a:pt x="123" y="2210"/>
                    <a:pt x="132" y="2209"/>
                  </a:cubicBezTo>
                  <a:cubicBezTo>
                    <a:pt x="150" y="2209"/>
                    <a:pt x="161" y="2206"/>
                    <a:pt x="178" y="2198"/>
                  </a:cubicBezTo>
                  <a:cubicBezTo>
                    <a:pt x="195" y="2188"/>
                    <a:pt x="211" y="2163"/>
                    <a:pt x="221" y="2143"/>
                  </a:cubicBezTo>
                  <a:cubicBezTo>
                    <a:pt x="241" y="2103"/>
                    <a:pt x="252" y="2046"/>
                    <a:pt x="261" y="1984"/>
                  </a:cubicBezTo>
                  <a:cubicBezTo>
                    <a:pt x="270" y="1922"/>
                    <a:pt x="280" y="1861"/>
                    <a:pt x="287" y="1802"/>
                  </a:cubicBezTo>
                  <a:cubicBezTo>
                    <a:pt x="294" y="1743"/>
                    <a:pt x="303" y="1692"/>
                    <a:pt x="315" y="1665"/>
                  </a:cubicBezTo>
                  <a:cubicBezTo>
                    <a:pt x="321" y="1651"/>
                    <a:pt x="325" y="1636"/>
                    <a:pt x="334" y="1623"/>
                  </a:cubicBezTo>
                  <a:cubicBezTo>
                    <a:pt x="343" y="1611"/>
                    <a:pt x="354" y="1591"/>
                    <a:pt x="372" y="1588"/>
                  </a:cubicBezTo>
                  <a:lnTo>
                    <a:pt x="371" y="1589"/>
                  </a:lnTo>
                  <a:lnTo>
                    <a:pt x="373" y="1589"/>
                  </a:lnTo>
                  <a:cubicBezTo>
                    <a:pt x="379" y="1586"/>
                    <a:pt x="379" y="1589"/>
                    <a:pt x="383" y="1594"/>
                  </a:cubicBezTo>
                  <a:cubicBezTo>
                    <a:pt x="388" y="1598"/>
                    <a:pt x="395" y="1610"/>
                    <a:pt x="401" y="1627"/>
                  </a:cubicBezTo>
                  <a:cubicBezTo>
                    <a:pt x="413" y="1662"/>
                    <a:pt x="421" y="1718"/>
                    <a:pt x="426" y="1788"/>
                  </a:cubicBezTo>
                  <a:cubicBezTo>
                    <a:pt x="436" y="1928"/>
                    <a:pt x="435" y="2122"/>
                    <a:pt x="435" y="2315"/>
                  </a:cubicBezTo>
                  <a:cubicBezTo>
                    <a:pt x="435" y="2509"/>
                    <a:pt x="436" y="2703"/>
                    <a:pt x="451" y="2846"/>
                  </a:cubicBezTo>
                  <a:cubicBezTo>
                    <a:pt x="459" y="2917"/>
                    <a:pt x="470" y="2976"/>
                    <a:pt x="488" y="3017"/>
                  </a:cubicBezTo>
                  <a:cubicBezTo>
                    <a:pt x="497" y="3038"/>
                    <a:pt x="507" y="3054"/>
                    <a:pt x="522" y="3065"/>
                  </a:cubicBezTo>
                  <a:cubicBezTo>
                    <a:pt x="535" y="3076"/>
                    <a:pt x="551" y="3082"/>
                    <a:pt x="568" y="3082"/>
                  </a:cubicBezTo>
                  <a:cubicBezTo>
                    <a:pt x="593" y="3084"/>
                    <a:pt x="618" y="3079"/>
                    <a:pt x="638" y="3065"/>
                  </a:cubicBezTo>
                  <a:cubicBezTo>
                    <a:pt x="660" y="3050"/>
                    <a:pt x="677" y="3027"/>
                    <a:pt x="692" y="2998"/>
                  </a:cubicBezTo>
                  <a:cubicBezTo>
                    <a:pt x="723" y="2939"/>
                    <a:pt x="746" y="2855"/>
                    <a:pt x="768" y="2760"/>
                  </a:cubicBezTo>
                  <a:cubicBezTo>
                    <a:pt x="809" y="2578"/>
                    <a:pt x="871" y="2339"/>
                    <a:pt x="891" y="2186"/>
                  </a:cubicBezTo>
                  <a:cubicBezTo>
                    <a:pt x="894" y="2189"/>
                    <a:pt x="905" y="2201"/>
                    <a:pt x="909" y="2205"/>
                  </a:cubicBezTo>
                  <a:cubicBezTo>
                    <a:pt x="921" y="2221"/>
                    <a:pt x="931" y="2243"/>
                    <a:pt x="944" y="2270"/>
                  </a:cubicBezTo>
                  <a:cubicBezTo>
                    <a:pt x="971" y="2325"/>
                    <a:pt x="986" y="2402"/>
                    <a:pt x="987" y="2456"/>
                  </a:cubicBezTo>
                  <a:cubicBezTo>
                    <a:pt x="990" y="2542"/>
                    <a:pt x="981" y="2679"/>
                    <a:pt x="996" y="2802"/>
                  </a:cubicBezTo>
                  <a:cubicBezTo>
                    <a:pt x="1004" y="2863"/>
                    <a:pt x="1021" y="2940"/>
                    <a:pt x="1047" y="2988"/>
                  </a:cubicBezTo>
                  <a:cubicBezTo>
                    <a:pt x="1065" y="3021"/>
                    <a:pt x="1085" y="3051"/>
                    <a:pt x="1115" y="3065"/>
                  </a:cubicBezTo>
                  <a:cubicBezTo>
                    <a:pt x="1129" y="3071"/>
                    <a:pt x="1129" y="3070"/>
                    <a:pt x="1146" y="3075"/>
                  </a:cubicBezTo>
                  <a:lnTo>
                    <a:pt x="1164" y="3074"/>
                  </a:lnTo>
                  <a:lnTo>
                    <a:pt x="1176" y="3071"/>
                  </a:lnTo>
                  <a:cubicBezTo>
                    <a:pt x="1211" y="3058"/>
                    <a:pt x="1237" y="3029"/>
                    <a:pt x="1257" y="2990"/>
                  </a:cubicBezTo>
                  <a:cubicBezTo>
                    <a:pt x="1276" y="2952"/>
                    <a:pt x="1290" y="2904"/>
                    <a:pt x="1300" y="2849"/>
                  </a:cubicBezTo>
                  <a:cubicBezTo>
                    <a:pt x="1321" y="2741"/>
                    <a:pt x="1328" y="2635"/>
                    <a:pt x="1337" y="2504"/>
                  </a:cubicBezTo>
                  <a:lnTo>
                    <a:pt x="1338" y="2476"/>
                  </a:lnTo>
                  <a:lnTo>
                    <a:pt x="1338" y="2475"/>
                  </a:lnTo>
                  <a:cubicBezTo>
                    <a:pt x="1356" y="2123"/>
                    <a:pt x="1301" y="1901"/>
                    <a:pt x="1260" y="1564"/>
                  </a:cubicBezTo>
                  <a:cubicBezTo>
                    <a:pt x="1258" y="1556"/>
                    <a:pt x="1258" y="1537"/>
                    <a:pt x="1258" y="1537"/>
                  </a:cubicBezTo>
                  <a:cubicBezTo>
                    <a:pt x="1249" y="1386"/>
                    <a:pt x="1251" y="1247"/>
                    <a:pt x="1259" y="1137"/>
                  </a:cubicBezTo>
                  <a:cubicBezTo>
                    <a:pt x="1263" y="1083"/>
                    <a:pt x="1273" y="1033"/>
                    <a:pt x="1282" y="994"/>
                  </a:cubicBezTo>
                  <a:cubicBezTo>
                    <a:pt x="1292" y="954"/>
                    <a:pt x="1298" y="934"/>
                    <a:pt x="1315" y="905"/>
                  </a:cubicBezTo>
                  <a:lnTo>
                    <a:pt x="1317" y="899"/>
                  </a:lnTo>
                  <a:lnTo>
                    <a:pt x="1319" y="893"/>
                  </a:lnTo>
                  <a:cubicBezTo>
                    <a:pt x="1349" y="790"/>
                    <a:pt x="1414" y="710"/>
                    <a:pt x="1471" y="582"/>
                  </a:cubicBezTo>
                  <a:cubicBezTo>
                    <a:pt x="1523" y="466"/>
                    <a:pt x="1565" y="329"/>
                    <a:pt x="1583" y="222"/>
                  </a:cubicBezTo>
                  <a:cubicBezTo>
                    <a:pt x="1593" y="169"/>
                    <a:pt x="1596" y="116"/>
                    <a:pt x="1591" y="79"/>
                  </a:cubicBezTo>
                  <a:cubicBezTo>
                    <a:pt x="1588" y="60"/>
                    <a:pt x="1579" y="42"/>
                    <a:pt x="1570" y="28"/>
                  </a:cubicBezTo>
                  <a:cubicBezTo>
                    <a:pt x="1562" y="15"/>
                    <a:pt x="1546" y="5"/>
                    <a:pt x="1536" y="2"/>
                  </a:cubicBezTo>
                  <a:lnTo>
                    <a:pt x="1532" y="1"/>
                  </a:lnTo>
                  <a:lnTo>
                    <a:pt x="1529" y="0"/>
                  </a:lnTo>
                  <a:lnTo>
                    <a:pt x="15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136" name="Freeform 13"/>
            <p:cNvSpPr>
              <a:spLocks/>
            </p:cNvSpPr>
            <p:nvPr/>
          </p:nvSpPr>
          <p:spPr bwMode="auto">
            <a:xfrm>
              <a:off x="4902200" y="4216400"/>
              <a:ext cx="282575" cy="106363"/>
            </a:xfrm>
            <a:custGeom>
              <a:avLst/>
              <a:gdLst>
                <a:gd name="T0" fmla="*/ 758 w 758"/>
                <a:gd name="T1" fmla="*/ 265 h 282"/>
                <a:gd name="T2" fmla="*/ 659 w 758"/>
                <a:gd name="T3" fmla="*/ 173 h 282"/>
                <a:gd name="T4" fmla="*/ 489 w 758"/>
                <a:gd name="T5" fmla="*/ 89 h 282"/>
                <a:gd name="T6" fmla="*/ 241 w 758"/>
                <a:gd name="T7" fmla="*/ 13 h 282"/>
                <a:gd name="T8" fmla="*/ 164 w 758"/>
                <a:gd name="T9" fmla="*/ 0 h 282"/>
                <a:gd name="T10" fmla="*/ 73 w 758"/>
                <a:gd name="T11" fmla="*/ 55 h 282"/>
                <a:gd name="T12" fmla="*/ 0 w 758"/>
                <a:gd name="T13" fmla="*/ 164 h 282"/>
                <a:gd name="T14" fmla="*/ 5 w 758"/>
                <a:gd name="T15" fmla="*/ 279 h 282"/>
                <a:gd name="T16" fmla="*/ 285 w 758"/>
                <a:gd name="T17" fmla="*/ 230 h 282"/>
                <a:gd name="T18" fmla="*/ 473 w 758"/>
                <a:gd name="T19" fmla="*/ 226 h 282"/>
                <a:gd name="T20" fmla="*/ 754 w 758"/>
                <a:gd name="T21" fmla="*/ 282 h 282"/>
                <a:gd name="T22" fmla="*/ 758 w 758"/>
                <a:gd name="T23" fmla="*/ 26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8" h="282">
                  <a:moveTo>
                    <a:pt x="758" y="265"/>
                  </a:moveTo>
                  <a:lnTo>
                    <a:pt x="659" y="173"/>
                  </a:lnTo>
                  <a:lnTo>
                    <a:pt x="489" y="89"/>
                  </a:lnTo>
                  <a:lnTo>
                    <a:pt x="241" y="13"/>
                  </a:lnTo>
                  <a:lnTo>
                    <a:pt x="164" y="0"/>
                  </a:lnTo>
                  <a:lnTo>
                    <a:pt x="73" y="55"/>
                  </a:lnTo>
                  <a:lnTo>
                    <a:pt x="0" y="164"/>
                  </a:lnTo>
                  <a:lnTo>
                    <a:pt x="5" y="279"/>
                  </a:lnTo>
                  <a:lnTo>
                    <a:pt x="285" y="230"/>
                  </a:lnTo>
                  <a:lnTo>
                    <a:pt x="473" y="226"/>
                  </a:lnTo>
                  <a:lnTo>
                    <a:pt x="754" y="282"/>
                  </a:lnTo>
                  <a:lnTo>
                    <a:pt x="758" y="265"/>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137" name="Freeform 14"/>
            <p:cNvSpPr>
              <a:spLocks noEditPoints="1"/>
            </p:cNvSpPr>
            <p:nvPr/>
          </p:nvSpPr>
          <p:spPr bwMode="auto">
            <a:xfrm>
              <a:off x="4908550" y="4233863"/>
              <a:ext cx="100013" cy="84138"/>
            </a:xfrm>
            <a:custGeom>
              <a:avLst/>
              <a:gdLst>
                <a:gd name="T0" fmla="*/ 10 w 266"/>
                <a:gd name="T1" fmla="*/ 227 h 229"/>
                <a:gd name="T2" fmla="*/ 3 w 266"/>
                <a:gd name="T3" fmla="*/ 217 h 229"/>
                <a:gd name="T4" fmla="*/ 5 w 266"/>
                <a:gd name="T5" fmla="*/ 155 h 229"/>
                <a:gd name="T6" fmla="*/ 56 w 266"/>
                <a:gd name="T7" fmla="*/ 64 h 229"/>
                <a:gd name="T8" fmla="*/ 143 w 266"/>
                <a:gd name="T9" fmla="*/ 1 h 229"/>
                <a:gd name="T10" fmla="*/ 152 w 266"/>
                <a:gd name="T11" fmla="*/ 6 h 229"/>
                <a:gd name="T12" fmla="*/ 158 w 266"/>
                <a:gd name="T13" fmla="*/ 13 h 229"/>
                <a:gd name="T14" fmla="*/ 165 w 266"/>
                <a:gd name="T15" fmla="*/ 20 h 229"/>
                <a:gd name="T16" fmla="*/ 172 w 266"/>
                <a:gd name="T17" fmla="*/ 27 h 229"/>
                <a:gd name="T18" fmla="*/ 178 w 266"/>
                <a:gd name="T19" fmla="*/ 32 h 229"/>
                <a:gd name="T20" fmla="*/ 190 w 266"/>
                <a:gd name="T21" fmla="*/ 38 h 229"/>
                <a:gd name="T22" fmla="*/ 203 w 266"/>
                <a:gd name="T23" fmla="*/ 44 h 229"/>
                <a:gd name="T24" fmla="*/ 209 w 266"/>
                <a:gd name="T25" fmla="*/ 51 h 229"/>
                <a:gd name="T26" fmla="*/ 216 w 266"/>
                <a:gd name="T27" fmla="*/ 58 h 229"/>
                <a:gd name="T28" fmla="*/ 221 w 266"/>
                <a:gd name="T29" fmla="*/ 64 h 229"/>
                <a:gd name="T30" fmla="*/ 227 w 266"/>
                <a:gd name="T31" fmla="*/ 70 h 229"/>
                <a:gd name="T32" fmla="*/ 240 w 266"/>
                <a:gd name="T33" fmla="*/ 75 h 229"/>
                <a:gd name="T34" fmla="*/ 253 w 266"/>
                <a:gd name="T35" fmla="*/ 82 h 229"/>
                <a:gd name="T36" fmla="*/ 261 w 266"/>
                <a:gd name="T37" fmla="*/ 89 h 229"/>
                <a:gd name="T38" fmla="*/ 245 w 266"/>
                <a:gd name="T39" fmla="*/ 99 h 229"/>
                <a:gd name="T40" fmla="*/ 117 w 266"/>
                <a:gd name="T41" fmla="*/ 163 h 229"/>
                <a:gd name="T42" fmla="*/ 77 w 266"/>
                <a:gd name="T43" fmla="*/ 194 h 229"/>
                <a:gd name="T44" fmla="*/ 55 w 266"/>
                <a:gd name="T45" fmla="*/ 212 h 229"/>
                <a:gd name="T46" fmla="*/ 52 w 266"/>
                <a:gd name="T47" fmla="*/ 214 h 229"/>
                <a:gd name="T48" fmla="*/ 33 w 266"/>
                <a:gd name="T49" fmla="*/ 223 h 229"/>
                <a:gd name="T50" fmla="*/ 10 w 266"/>
                <a:gd name="T51" fmla="*/ 227 h 229"/>
                <a:gd name="T52" fmla="*/ 28 w 266"/>
                <a:gd name="T53" fmla="*/ 193 h 229"/>
                <a:gd name="T54" fmla="*/ 22 w 266"/>
                <a:gd name="T55" fmla="*/ 188 h 229"/>
                <a:gd name="T56" fmla="*/ 17 w 266"/>
                <a:gd name="T57" fmla="*/ 193 h 229"/>
                <a:gd name="T58" fmla="*/ 22 w 266"/>
                <a:gd name="T59" fmla="*/ 199 h 229"/>
                <a:gd name="T60" fmla="*/ 28 w 266"/>
                <a:gd name="T61" fmla="*/ 193 h 229"/>
                <a:gd name="T62" fmla="*/ 141 w 266"/>
                <a:gd name="T63" fmla="*/ 94 h 229"/>
                <a:gd name="T64" fmla="*/ 134 w 266"/>
                <a:gd name="T65" fmla="*/ 88 h 229"/>
                <a:gd name="T66" fmla="*/ 127 w 266"/>
                <a:gd name="T67" fmla="*/ 94 h 229"/>
                <a:gd name="T68" fmla="*/ 134 w 266"/>
                <a:gd name="T69" fmla="*/ 100 h 229"/>
                <a:gd name="T70" fmla="*/ 141 w 266"/>
                <a:gd name="T71" fmla="*/ 9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6" h="229">
                  <a:moveTo>
                    <a:pt x="10" y="227"/>
                  </a:moveTo>
                  <a:cubicBezTo>
                    <a:pt x="6" y="226"/>
                    <a:pt x="4" y="223"/>
                    <a:pt x="3" y="217"/>
                  </a:cubicBezTo>
                  <a:cubicBezTo>
                    <a:pt x="0" y="202"/>
                    <a:pt x="1" y="169"/>
                    <a:pt x="5" y="155"/>
                  </a:cubicBezTo>
                  <a:cubicBezTo>
                    <a:pt x="11" y="128"/>
                    <a:pt x="33" y="89"/>
                    <a:pt x="56" y="64"/>
                  </a:cubicBezTo>
                  <a:cubicBezTo>
                    <a:pt x="77" y="41"/>
                    <a:pt x="129" y="2"/>
                    <a:pt x="143" y="1"/>
                  </a:cubicBezTo>
                  <a:cubicBezTo>
                    <a:pt x="151" y="0"/>
                    <a:pt x="152" y="0"/>
                    <a:pt x="152" y="6"/>
                  </a:cubicBezTo>
                  <a:cubicBezTo>
                    <a:pt x="152" y="13"/>
                    <a:pt x="152" y="13"/>
                    <a:pt x="158" y="13"/>
                  </a:cubicBezTo>
                  <a:cubicBezTo>
                    <a:pt x="164" y="13"/>
                    <a:pt x="165" y="14"/>
                    <a:pt x="165" y="20"/>
                  </a:cubicBezTo>
                  <a:cubicBezTo>
                    <a:pt x="165" y="26"/>
                    <a:pt x="166" y="27"/>
                    <a:pt x="172" y="27"/>
                  </a:cubicBezTo>
                  <a:cubicBezTo>
                    <a:pt x="177" y="27"/>
                    <a:pt x="178" y="27"/>
                    <a:pt x="178" y="32"/>
                  </a:cubicBezTo>
                  <a:cubicBezTo>
                    <a:pt x="178" y="37"/>
                    <a:pt x="179" y="38"/>
                    <a:pt x="190" y="38"/>
                  </a:cubicBezTo>
                  <a:cubicBezTo>
                    <a:pt x="202" y="38"/>
                    <a:pt x="203" y="38"/>
                    <a:pt x="203" y="44"/>
                  </a:cubicBezTo>
                  <a:cubicBezTo>
                    <a:pt x="203" y="50"/>
                    <a:pt x="203" y="51"/>
                    <a:pt x="209" y="51"/>
                  </a:cubicBezTo>
                  <a:cubicBezTo>
                    <a:pt x="215" y="51"/>
                    <a:pt x="216" y="52"/>
                    <a:pt x="216" y="58"/>
                  </a:cubicBezTo>
                  <a:cubicBezTo>
                    <a:pt x="216" y="63"/>
                    <a:pt x="217" y="64"/>
                    <a:pt x="221" y="64"/>
                  </a:cubicBezTo>
                  <a:cubicBezTo>
                    <a:pt x="226" y="64"/>
                    <a:pt x="227" y="65"/>
                    <a:pt x="227" y="70"/>
                  </a:cubicBezTo>
                  <a:cubicBezTo>
                    <a:pt x="227" y="75"/>
                    <a:pt x="227" y="75"/>
                    <a:pt x="240" y="75"/>
                  </a:cubicBezTo>
                  <a:cubicBezTo>
                    <a:pt x="253" y="75"/>
                    <a:pt x="253" y="75"/>
                    <a:pt x="253" y="82"/>
                  </a:cubicBezTo>
                  <a:cubicBezTo>
                    <a:pt x="253" y="88"/>
                    <a:pt x="254" y="88"/>
                    <a:pt x="261" y="89"/>
                  </a:cubicBezTo>
                  <a:cubicBezTo>
                    <a:pt x="266" y="89"/>
                    <a:pt x="263" y="91"/>
                    <a:pt x="245" y="99"/>
                  </a:cubicBezTo>
                  <a:cubicBezTo>
                    <a:pt x="204" y="116"/>
                    <a:pt x="138" y="149"/>
                    <a:pt x="117" y="163"/>
                  </a:cubicBezTo>
                  <a:cubicBezTo>
                    <a:pt x="106" y="171"/>
                    <a:pt x="88" y="185"/>
                    <a:pt x="77" y="194"/>
                  </a:cubicBezTo>
                  <a:cubicBezTo>
                    <a:pt x="66" y="204"/>
                    <a:pt x="56" y="212"/>
                    <a:pt x="55" y="212"/>
                  </a:cubicBezTo>
                  <a:cubicBezTo>
                    <a:pt x="54" y="212"/>
                    <a:pt x="52" y="213"/>
                    <a:pt x="52" y="214"/>
                  </a:cubicBezTo>
                  <a:cubicBezTo>
                    <a:pt x="51" y="215"/>
                    <a:pt x="43" y="219"/>
                    <a:pt x="33" y="223"/>
                  </a:cubicBezTo>
                  <a:cubicBezTo>
                    <a:pt x="20" y="228"/>
                    <a:pt x="14" y="229"/>
                    <a:pt x="10" y="227"/>
                  </a:cubicBezTo>
                  <a:close/>
                  <a:moveTo>
                    <a:pt x="28" y="193"/>
                  </a:moveTo>
                  <a:cubicBezTo>
                    <a:pt x="28" y="189"/>
                    <a:pt x="27" y="188"/>
                    <a:pt x="22" y="188"/>
                  </a:cubicBezTo>
                  <a:cubicBezTo>
                    <a:pt x="18" y="188"/>
                    <a:pt x="17" y="189"/>
                    <a:pt x="17" y="193"/>
                  </a:cubicBezTo>
                  <a:cubicBezTo>
                    <a:pt x="17" y="198"/>
                    <a:pt x="18" y="199"/>
                    <a:pt x="22" y="199"/>
                  </a:cubicBezTo>
                  <a:cubicBezTo>
                    <a:pt x="27" y="199"/>
                    <a:pt x="28" y="198"/>
                    <a:pt x="28" y="193"/>
                  </a:cubicBezTo>
                  <a:close/>
                  <a:moveTo>
                    <a:pt x="141" y="94"/>
                  </a:moveTo>
                  <a:cubicBezTo>
                    <a:pt x="141" y="89"/>
                    <a:pt x="140" y="88"/>
                    <a:pt x="134" y="88"/>
                  </a:cubicBezTo>
                  <a:cubicBezTo>
                    <a:pt x="128" y="88"/>
                    <a:pt x="127" y="89"/>
                    <a:pt x="127" y="94"/>
                  </a:cubicBezTo>
                  <a:cubicBezTo>
                    <a:pt x="127" y="99"/>
                    <a:pt x="128" y="100"/>
                    <a:pt x="134" y="100"/>
                  </a:cubicBezTo>
                  <a:cubicBezTo>
                    <a:pt x="140" y="100"/>
                    <a:pt x="141" y="99"/>
                    <a:pt x="141" y="94"/>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38" name="Freeform 15"/>
            <p:cNvSpPr>
              <a:spLocks/>
            </p:cNvSpPr>
            <p:nvPr/>
          </p:nvSpPr>
          <p:spPr bwMode="auto">
            <a:xfrm>
              <a:off x="5192713" y="4157663"/>
              <a:ext cx="57150" cy="149225"/>
            </a:xfrm>
            <a:custGeom>
              <a:avLst/>
              <a:gdLst>
                <a:gd name="T0" fmla="*/ 0 w 154"/>
                <a:gd name="T1" fmla="*/ 398 h 398"/>
                <a:gd name="T2" fmla="*/ 1 w 154"/>
                <a:gd name="T3" fmla="*/ 333 h 398"/>
                <a:gd name="T4" fmla="*/ 46 w 154"/>
                <a:gd name="T5" fmla="*/ 203 h 398"/>
                <a:gd name="T6" fmla="*/ 73 w 154"/>
                <a:gd name="T7" fmla="*/ 102 h 398"/>
                <a:gd name="T8" fmla="*/ 108 w 154"/>
                <a:gd name="T9" fmla="*/ 16 h 398"/>
                <a:gd name="T10" fmla="*/ 137 w 154"/>
                <a:gd name="T11" fmla="*/ 0 h 398"/>
                <a:gd name="T12" fmla="*/ 154 w 154"/>
                <a:gd name="T13" fmla="*/ 95 h 398"/>
                <a:gd name="T14" fmla="*/ 82 w 154"/>
                <a:gd name="T15" fmla="*/ 276 h 398"/>
                <a:gd name="T16" fmla="*/ 38 w 154"/>
                <a:gd name="T17" fmla="*/ 350 h 398"/>
                <a:gd name="T18" fmla="*/ 0 w 154"/>
                <a:gd name="T19" fmla="*/ 39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398">
                  <a:moveTo>
                    <a:pt x="0" y="398"/>
                  </a:moveTo>
                  <a:lnTo>
                    <a:pt x="1" y="333"/>
                  </a:lnTo>
                  <a:lnTo>
                    <a:pt x="46" y="203"/>
                  </a:lnTo>
                  <a:lnTo>
                    <a:pt x="73" y="102"/>
                  </a:lnTo>
                  <a:lnTo>
                    <a:pt x="108" y="16"/>
                  </a:lnTo>
                  <a:lnTo>
                    <a:pt x="137" y="0"/>
                  </a:lnTo>
                  <a:lnTo>
                    <a:pt x="154" y="95"/>
                  </a:lnTo>
                  <a:lnTo>
                    <a:pt x="82" y="276"/>
                  </a:lnTo>
                  <a:lnTo>
                    <a:pt x="38" y="350"/>
                  </a:lnTo>
                  <a:lnTo>
                    <a:pt x="0" y="398"/>
                  </a:lnTo>
                  <a:close/>
                </a:path>
              </a:pathLst>
            </a:custGeom>
            <a:solidFill>
              <a:srgbClr val="A1BD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139" name="Freeform 16"/>
            <p:cNvSpPr>
              <a:spLocks/>
            </p:cNvSpPr>
            <p:nvPr/>
          </p:nvSpPr>
          <p:spPr bwMode="auto">
            <a:xfrm>
              <a:off x="4908550" y="4219575"/>
              <a:ext cx="280988" cy="111125"/>
            </a:xfrm>
            <a:custGeom>
              <a:avLst/>
              <a:gdLst>
                <a:gd name="T0" fmla="*/ 751 w 751"/>
                <a:gd name="T1" fmla="*/ 278 h 296"/>
                <a:gd name="T2" fmla="*/ 137 w 751"/>
                <a:gd name="T3" fmla="*/ 0 h 296"/>
                <a:gd name="T4" fmla="*/ 0 w 751"/>
                <a:gd name="T5" fmla="*/ 296 h 296"/>
                <a:gd name="T6" fmla="*/ 751 w 751"/>
                <a:gd name="T7" fmla="*/ 278 h 296"/>
              </a:gdLst>
              <a:ahLst/>
              <a:cxnLst>
                <a:cxn ang="0">
                  <a:pos x="T0" y="T1"/>
                </a:cxn>
                <a:cxn ang="0">
                  <a:pos x="T2" y="T3"/>
                </a:cxn>
                <a:cxn ang="0">
                  <a:pos x="T4" y="T5"/>
                </a:cxn>
                <a:cxn ang="0">
                  <a:pos x="T6" y="T7"/>
                </a:cxn>
              </a:cxnLst>
              <a:rect l="0" t="0" r="r" b="b"/>
              <a:pathLst>
                <a:path w="751" h="296">
                  <a:moveTo>
                    <a:pt x="751" y="278"/>
                  </a:moveTo>
                  <a:lnTo>
                    <a:pt x="137" y="0"/>
                  </a:lnTo>
                  <a:lnTo>
                    <a:pt x="0" y="296"/>
                  </a:lnTo>
                  <a:lnTo>
                    <a:pt x="751" y="278"/>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140" name="Freeform 17"/>
            <p:cNvSpPr>
              <a:spLocks/>
            </p:cNvSpPr>
            <p:nvPr/>
          </p:nvSpPr>
          <p:spPr bwMode="auto">
            <a:xfrm>
              <a:off x="4859338" y="4230688"/>
              <a:ext cx="334963" cy="93663"/>
            </a:xfrm>
            <a:custGeom>
              <a:avLst/>
              <a:gdLst>
                <a:gd name="T0" fmla="*/ 894 w 898"/>
                <a:gd name="T1" fmla="*/ 221 h 251"/>
                <a:gd name="T2" fmla="*/ 266 w 898"/>
                <a:gd name="T3" fmla="*/ 0 h 251"/>
                <a:gd name="T4" fmla="*/ 134 w 898"/>
                <a:gd name="T5" fmla="*/ 247 h 251"/>
                <a:gd name="T6" fmla="*/ 894 w 898"/>
                <a:gd name="T7" fmla="*/ 221 h 251"/>
              </a:gdLst>
              <a:ahLst/>
              <a:cxnLst>
                <a:cxn ang="0">
                  <a:pos x="T0" y="T1"/>
                </a:cxn>
                <a:cxn ang="0">
                  <a:pos x="T2" y="T3"/>
                </a:cxn>
                <a:cxn ang="0">
                  <a:pos x="T4" y="T5"/>
                </a:cxn>
                <a:cxn ang="0">
                  <a:pos x="T6" y="T7"/>
                </a:cxn>
              </a:cxnLst>
              <a:rect l="0" t="0" r="r" b="b"/>
              <a:pathLst>
                <a:path w="898" h="251">
                  <a:moveTo>
                    <a:pt x="894" y="221"/>
                  </a:moveTo>
                  <a:cubicBezTo>
                    <a:pt x="898" y="251"/>
                    <a:pt x="266" y="0"/>
                    <a:pt x="266" y="0"/>
                  </a:cubicBezTo>
                  <a:cubicBezTo>
                    <a:pt x="0" y="41"/>
                    <a:pt x="97" y="150"/>
                    <a:pt x="134" y="247"/>
                  </a:cubicBezTo>
                  <a:lnTo>
                    <a:pt x="894" y="221"/>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141" name="Freeform 18"/>
            <p:cNvSpPr>
              <a:spLocks/>
            </p:cNvSpPr>
            <p:nvPr/>
          </p:nvSpPr>
          <p:spPr bwMode="auto">
            <a:xfrm>
              <a:off x="5102225" y="4124325"/>
              <a:ext cx="98425" cy="117475"/>
            </a:xfrm>
            <a:custGeom>
              <a:avLst/>
              <a:gdLst>
                <a:gd name="T0" fmla="*/ 9 w 265"/>
                <a:gd name="T1" fmla="*/ 0 h 314"/>
                <a:gd name="T2" fmla="*/ 265 w 265"/>
                <a:gd name="T3" fmla="*/ 163 h 314"/>
                <a:gd name="T4" fmla="*/ 0 w 265"/>
                <a:gd name="T5" fmla="*/ 314 h 314"/>
              </a:gdLst>
              <a:ahLst/>
              <a:cxnLst>
                <a:cxn ang="0">
                  <a:pos x="T0" y="T1"/>
                </a:cxn>
                <a:cxn ang="0">
                  <a:pos x="T2" y="T3"/>
                </a:cxn>
                <a:cxn ang="0">
                  <a:pos x="T4" y="T5"/>
                </a:cxn>
              </a:cxnLst>
              <a:rect l="0" t="0" r="r" b="b"/>
              <a:pathLst>
                <a:path w="265" h="314">
                  <a:moveTo>
                    <a:pt x="9" y="0"/>
                  </a:moveTo>
                  <a:cubicBezTo>
                    <a:pt x="40" y="305"/>
                    <a:pt x="265" y="163"/>
                    <a:pt x="265" y="163"/>
                  </a:cubicBezTo>
                  <a:lnTo>
                    <a:pt x="0" y="314"/>
                  </a:lnTo>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142" name="Freeform 23"/>
            <p:cNvSpPr>
              <a:spLocks/>
            </p:cNvSpPr>
            <p:nvPr/>
          </p:nvSpPr>
          <p:spPr bwMode="auto">
            <a:xfrm>
              <a:off x="4903788" y="4159250"/>
              <a:ext cx="349250" cy="163513"/>
            </a:xfrm>
            <a:custGeom>
              <a:avLst/>
              <a:gdLst>
                <a:gd name="T0" fmla="*/ 746 w 932"/>
                <a:gd name="T1" fmla="*/ 384 h 437"/>
                <a:gd name="T2" fmla="*/ 145 w 932"/>
                <a:gd name="T3" fmla="*/ 150 h 437"/>
                <a:gd name="T4" fmla="*/ 0 w 932"/>
                <a:gd name="T5" fmla="*/ 437 h 437"/>
                <a:gd name="T6" fmla="*/ 742 w 932"/>
                <a:gd name="T7" fmla="*/ 433 h 437"/>
                <a:gd name="T8" fmla="*/ 932 w 932"/>
                <a:gd name="T9" fmla="*/ 0 h 437"/>
                <a:gd name="T10" fmla="*/ 875 w 932"/>
                <a:gd name="T11" fmla="*/ 0 h 437"/>
                <a:gd name="T12" fmla="*/ 746 w 932"/>
                <a:gd name="T13" fmla="*/ 384 h 437"/>
              </a:gdLst>
              <a:ahLst/>
              <a:cxnLst>
                <a:cxn ang="0">
                  <a:pos x="T0" y="T1"/>
                </a:cxn>
                <a:cxn ang="0">
                  <a:pos x="T2" y="T3"/>
                </a:cxn>
                <a:cxn ang="0">
                  <a:pos x="T4" y="T5"/>
                </a:cxn>
                <a:cxn ang="0">
                  <a:pos x="T6" y="T7"/>
                </a:cxn>
                <a:cxn ang="0">
                  <a:pos x="T8" y="T9"/>
                </a:cxn>
                <a:cxn ang="0">
                  <a:pos x="T10" y="T11"/>
                </a:cxn>
                <a:cxn ang="0">
                  <a:pos x="T12" y="T13"/>
                </a:cxn>
              </a:cxnLst>
              <a:rect l="0" t="0" r="r" b="b"/>
              <a:pathLst>
                <a:path w="932" h="437">
                  <a:moveTo>
                    <a:pt x="746" y="384"/>
                  </a:moveTo>
                  <a:lnTo>
                    <a:pt x="145" y="150"/>
                  </a:lnTo>
                  <a:lnTo>
                    <a:pt x="0" y="437"/>
                  </a:lnTo>
                  <a:lnTo>
                    <a:pt x="742" y="433"/>
                  </a:lnTo>
                  <a:lnTo>
                    <a:pt x="932" y="0"/>
                  </a:lnTo>
                  <a:lnTo>
                    <a:pt x="875" y="0"/>
                  </a:lnTo>
                  <a:lnTo>
                    <a:pt x="746" y="384"/>
                  </a:lnTo>
                  <a:close/>
                </a:path>
              </a:pathLst>
            </a:custGeom>
            <a:noFill/>
            <a:ln w="4763" cap="flat">
              <a:solidFill>
                <a:srgbClr val="A1BDA8"/>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CA" sz="1200"/>
            </a:p>
          </p:txBody>
        </p:sp>
        <p:sp>
          <p:nvSpPr>
            <p:cNvPr id="143" name="Freeform 24"/>
            <p:cNvSpPr>
              <a:spLocks noEditPoints="1"/>
            </p:cNvSpPr>
            <p:nvPr/>
          </p:nvSpPr>
          <p:spPr bwMode="auto">
            <a:xfrm>
              <a:off x="4892675" y="4146550"/>
              <a:ext cx="363538" cy="187325"/>
            </a:xfrm>
            <a:custGeom>
              <a:avLst/>
              <a:gdLst>
                <a:gd name="T0" fmla="*/ 929 w 973"/>
                <a:gd name="T1" fmla="*/ 14 h 501"/>
                <a:gd name="T2" fmla="*/ 916 w 973"/>
                <a:gd name="T3" fmla="*/ 14 h 501"/>
                <a:gd name="T4" fmla="*/ 897 w 973"/>
                <a:gd name="T5" fmla="*/ 76 h 501"/>
                <a:gd name="T6" fmla="*/ 871 w 973"/>
                <a:gd name="T7" fmla="*/ 134 h 501"/>
                <a:gd name="T8" fmla="*/ 860 w 973"/>
                <a:gd name="T9" fmla="*/ 165 h 501"/>
                <a:gd name="T10" fmla="*/ 845 w 973"/>
                <a:gd name="T11" fmla="*/ 200 h 501"/>
                <a:gd name="T12" fmla="*/ 839 w 973"/>
                <a:gd name="T13" fmla="*/ 214 h 501"/>
                <a:gd name="T14" fmla="*/ 772 w 973"/>
                <a:gd name="T15" fmla="*/ 417 h 501"/>
                <a:gd name="T16" fmla="*/ 190 w 973"/>
                <a:gd name="T17" fmla="*/ 188 h 501"/>
                <a:gd name="T18" fmla="*/ 173 w 973"/>
                <a:gd name="T19" fmla="*/ 190 h 501"/>
                <a:gd name="T20" fmla="*/ 162 w 973"/>
                <a:gd name="T21" fmla="*/ 195 h 501"/>
                <a:gd name="T22" fmla="*/ 43 w 973"/>
                <a:gd name="T23" fmla="*/ 302 h 501"/>
                <a:gd name="T24" fmla="*/ 9 w 973"/>
                <a:gd name="T25" fmla="*/ 471 h 501"/>
                <a:gd name="T26" fmla="*/ 21 w 973"/>
                <a:gd name="T27" fmla="*/ 490 h 501"/>
                <a:gd name="T28" fmla="*/ 38 w 973"/>
                <a:gd name="T29" fmla="*/ 497 h 501"/>
                <a:gd name="T30" fmla="*/ 72 w 973"/>
                <a:gd name="T31" fmla="*/ 497 h 501"/>
                <a:gd name="T32" fmla="*/ 769 w 973"/>
                <a:gd name="T33" fmla="*/ 496 h 501"/>
                <a:gd name="T34" fmla="*/ 776 w 973"/>
                <a:gd name="T35" fmla="*/ 500 h 501"/>
                <a:gd name="T36" fmla="*/ 784 w 973"/>
                <a:gd name="T37" fmla="*/ 498 h 501"/>
                <a:gd name="T38" fmla="*/ 819 w 973"/>
                <a:gd name="T39" fmla="*/ 484 h 501"/>
                <a:gd name="T40" fmla="*/ 826 w 973"/>
                <a:gd name="T41" fmla="*/ 482 h 501"/>
                <a:gd name="T42" fmla="*/ 830 w 973"/>
                <a:gd name="T43" fmla="*/ 475 h 501"/>
                <a:gd name="T44" fmla="*/ 929 w 973"/>
                <a:gd name="T45" fmla="*/ 232 h 501"/>
                <a:gd name="T46" fmla="*/ 973 w 973"/>
                <a:gd name="T47" fmla="*/ 56 h 501"/>
                <a:gd name="T48" fmla="*/ 973 w 973"/>
                <a:gd name="T49" fmla="*/ 50 h 501"/>
                <a:gd name="T50" fmla="*/ 969 w 973"/>
                <a:gd name="T51" fmla="*/ 45 h 501"/>
                <a:gd name="T52" fmla="*/ 944 w 973"/>
                <a:gd name="T53" fmla="*/ 19 h 501"/>
                <a:gd name="T54" fmla="*/ 929 w 973"/>
                <a:gd name="T55" fmla="*/ 14 h 501"/>
                <a:gd name="T56" fmla="*/ 925 w 973"/>
                <a:gd name="T57" fmla="*/ 52 h 501"/>
                <a:gd name="T58" fmla="*/ 934 w 973"/>
                <a:gd name="T59" fmla="*/ 62 h 501"/>
                <a:gd name="T60" fmla="*/ 894 w 973"/>
                <a:gd name="T61" fmla="*/ 219 h 501"/>
                <a:gd name="T62" fmla="*/ 808 w 973"/>
                <a:gd name="T63" fmla="*/ 404 h 501"/>
                <a:gd name="T64" fmla="*/ 914 w 973"/>
                <a:gd name="T65" fmla="*/ 64 h 501"/>
                <a:gd name="T66" fmla="*/ 925 w 973"/>
                <a:gd name="T67" fmla="*/ 52 h 501"/>
                <a:gd name="T68" fmla="*/ 195 w 973"/>
                <a:gd name="T69" fmla="*/ 229 h 501"/>
                <a:gd name="T70" fmla="*/ 781 w 973"/>
                <a:gd name="T71" fmla="*/ 460 h 501"/>
                <a:gd name="T72" fmla="*/ 62 w 973"/>
                <a:gd name="T73" fmla="*/ 461 h 501"/>
                <a:gd name="T74" fmla="*/ 48 w 973"/>
                <a:gd name="T75" fmla="*/ 457 h 501"/>
                <a:gd name="T76" fmla="*/ 46 w 973"/>
                <a:gd name="T77" fmla="*/ 443 h 501"/>
                <a:gd name="T78" fmla="*/ 76 w 973"/>
                <a:gd name="T79" fmla="*/ 325 h 501"/>
                <a:gd name="T80" fmla="*/ 180 w 973"/>
                <a:gd name="T81" fmla="*/ 232 h 501"/>
                <a:gd name="T82" fmla="*/ 195 w 973"/>
                <a:gd name="T83" fmla="*/ 22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3" h="501">
                  <a:moveTo>
                    <a:pt x="929" y="14"/>
                  </a:moveTo>
                  <a:cubicBezTo>
                    <a:pt x="923" y="13"/>
                    <a:pt x="921" y="13"/>
                    <a:pt x="916" y="14"/>
                  </a:cubicBezTo>
                  <a:cubicBezTo>
                    <a:pt x="919" y="0"/>
                    <a:pt x="909" y="36"/>
                    <a:pt x="897" y="76"/>
                  </a:cubicBezTo>
                  <a:cubicBezTo>
                    <a:pt x="890" y="92"/>
                    <a:pt x="888" y="94"/>
                    <a:pt x="871" y="134"/>
                  </a:cubicBezTo>
                  <a:cubicBezTo>
                    <a:pt x="871" y="136"/>
                    <a:pt x="868" y="147"/>
                    <a:pt x="860" y="165"/>
                  </a:cubicBezTo>
                  <a:cubicBezTo>
                    <a:pt x="853" y="182"/>
                    <a:pt x="853" y="182"/>
                    <a:pt x="845" y="200"/>
                  </a:cubicBezTo>
                  <a:cubicBezTo>
                    <a:pt x="843" y="206"/>
                    <a:pt x="841" y="208"/>
                    <a:pt x="839" y="214"/>
                  </a:cubicBezTo>
                  <a:cubicBezTo>
                    <a:pt x="815" y="271"/>
                    <a:pt x="799" y="355"/>
                    <a:pt x="772" y="417"/>
                  </a:cubicBezTo>
                  <a:cubicBezTo>
                    <a:pt x="550" y="244"/>
                    <a:pt x="299" y="174"/>
                    <a:pt x="190" y="188"/>
                  </a:cubicBezTo>
                  <a:lnTo>
                    <a:pt x="173" y="190"/>
                  </a:lnTo>
                  <a:lnTo>
                    <a:pt x="162" y="195"/>
                  </a:lnTo>
                  <a:cubicBezTo>
                    <a:pt x="98" y="236"/>
                    <a:pt x="72" y="257"/>
                    <a:pt x="43" y="302"/>
                  </a:cubicBezTo>
                  <a:cubicBezTo>
                    <a:pt x="13" y="347"/>
                    <a:pt x="0" y="415"/>
                    <a:pt x="9" y="471"/>
                  </a:cubicBezTo>
                  <a:cubicBezTo>
                    <a:pt x="10" y="480"/>
                    <a:pt x="16" y="486"/>
                    <a:pt x="21" y="490"/>
                  </a:cubicBezTo>
                  <a:cubicBezTo>
                    <a:pt x="27" y="494"/>
                    <a:pt x="32" y="496"/>
                    <a:pt x="38" y="497"/>
                  </a:cubicBezTo>
                  <a:cubicBezTo>
                    <a:pt x="49" y="500"/>
                    <a:pt x="60" y="501"/>
                    <a:pt x="72" y="497"/>
                  </a:cubicBezTo>
                  <a:cubicBezTo>
                    <a:pt x="451" y="389"/>
                    <a:pt x="636" y="424"/>
                    <a:pt x="769" y="496"/>
                  </a:cubicBezTo>
                  <a:lnTo>
                    <a:pt x="776" y="500"/>
                  </a:lnTo>
                  <a:lnTo>
                    <a:pt x="784" y="498"/>
                  </a:lnTo>
                  <a:lnTo>
                    <a:pt x="819" y="484"/>
                  </a:lnTo>
                  <a:lnTo>
                    <a:pt x="826" y="482"/>
                  </a:lnTo>
                  <a:lnTo>
                    <a:pt x="830" y="475"/>
                  </a:lnTo>
                  <a:cubicBezTo>
                    <a:pt x="844" y="404"/>
                    <a:pt x="903" y="304"/>
                    <a:pt x="929" y="232"/>
                  </a:cubicBezTo>
                  <a:cubicBezTo>
                    <a:pt x="955" y="160"/>
                    <a:pt x="971" y="101"/>
                    <a:pt x="973" y="56"/>
                  </a:cubicBezTo>
                  <a:lnTo>
                    <a:pt x="973" y="50"/>
                  </a:lnTo>
                  <a:lnTo>
                    <a:pt x="969" y="45"/>
                  </a:lnTo>
                  <a:cubicBezTo>
                    <a:pt x="961" y="33"/>
                    <a:pt x="953" y="25"/>
                    <a:pt x="944" y="19"/>
                  </a:cubicBezTo>
                  <a:cubicBezTo>
                    <a:pt x="939" y="16"/>
                    <a:pt x="934" y="15"/>
                    <a:pt x="929" y="14"/>
                  </a:cubicBezTo>
                  <a:close/>
                  <a:moveTo>
                    <a:pt x="925" y="52"/>
                  </a:moveTo>
                  <a:cubicBezTo>
                    <a:pt x="926" y="52"/>
                    <a:pt x="930" y="58"/>
                    <a:pt x="934" y="62"/>
                  </a:cubicBezTo>
                  <a:cubicBezTo>
                    <a:pt x="932" y="98"/>
                    <a:pt x="918" y="152"/>
                    <a:pt x="894" y="219"/>
                  </a:cubicBezTo>
                  <a:cubicBezTo>
                    <a:pt x="875" y="271"/>
                    <a:pt x="835" y="342"/>
                    <a:pt x="808" y="404"/>
                  </a:cubicBezTo>
                  <a:cubicBezTo>
                    <a:pt x="884" y="192"/>
                    <a:pt x="903" y="119"/>
                    <a:pt x="914" y="64"/>
                  </a:cubicBezTo>
                  <a:cubicBezTo>
                    <a:pt x="920" y="58"/>
                    <a:pt x="925" y="52"/>
                    <a:pt x="925" y="52"/>
                  </a:cubicBezTo>
                  <a:close/>
                  <a:moveTo>
                    <a:pt x="195" y="229"/>
                  </a:moveTo>
                  <a:cubicBezTo>
                    <a:pt x="449" y="256"/>
                    <a:pt x="675" y="359"/>
                    <a:pt x="781" y="460"/>
                  </a:cubicBezTo>
                  <a:cubicBezTo>
                    <a:pt x="641" y="391"/>
                    <a:pt x="287" y="369"/>
                    <a:pt x="62" y="461"/>
                  </a:cubicBezTo>
                  <a:cubicBezTo>
                    <a:pt x="59" y="462"/>
                    <a:pt x="53" y="458"/>
                    <a:pt x="48" y="457"/>
                  </a:cubicBezTo>
                  <a:cubicBezTo>
                    <a:pt x="47" y="452"/>
                    <a:pt x="46" y="443"/>
                    <a:pt x="46" y="443"/>
                  </a:cubicBezTo>
                  <a:cubicBezTo>
                    <a:pt x="40" y="397"/>
                    <a:pt x="52" y="362"/>
                    <a:pt x="76" y="325"/>
                  </a:cubicBezTo>
                  <a:cubicBezTo>
                    <a:pt x="100" y="288"/>
                    <a:pt x="122" y="269"/>
                    <a:pt x="180" y="232"/>
                  </a:cubicBezTo>
                  <a:lnTo>
                    <a:pt x="195" y="229"/>
                  </a:lnTo>
                  <a:close/>
                </a:path>
              </a:pathLst>
            </a:custGeom>
            <a:solidFill>
              <a:srgbClr val="6A8C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CA" sz="1200"/>
            </a:p>
          </p:txBody>
        </p:sp>
        <p:sp>
          <p:nvSpPr>
            <p:cNvPr id="144" name="Freeform 25"/>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45" name="Freeform 26"/>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00000"/>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46" name="Freeform 27"/>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47" name="Freeform 28"/>
            <p:cNvSpPr>
              <a:spLocks noEditPoints="1"/>
            </p:cNvSpPr>
            <p:nvPr/>
          </p:nvSpPr>
          <p:spPr bwMode="auto">
            <a:xfrm>
              <a:off x="4999038" y="4252913"/>
              <a:ext cx="177800" cy="61913"/>
            </a:xfrm>
            <a:custGeom>
              <a:avLst/>
              <a:gdLst>
                <a:gd name="T0" fmla="*/ 445 w 472"/>
                <a:gd name="T1" fmla="*/ 156 h 166"/>
                <a:gd name="T2" fmla="*/ 274 w 472"/>
                <a:gd name="T3" fmla="*/ 120 h 166"/>
                <a:gd name="T4" fmla="*/ 28 w 472"/>
                <a:gd name="T5" fmla="*/ 120 h 166"/>
                <a:gd name="T6" fmla="*/ 0 w 472"/>
                <a:gd name="T7" fmla="*/ 123 h 166"/>
                <a:gd name="T8" fmla="*/ 0 w 472"/>
                <a:gd name="T9" fmla="*/ 118 h 166"/>
                <a:gd name="T10" fmla="*/ 0 w 472"/>
                <a:gd name="T11" fmla="*/ 113 h 166"/>
                <a:gd name="T12" fmla="*/ 37 w 472"/>
                <a:gd name="T13" fmla="*/ 113 h 166"/>
                <a:gd name="T14" fmla="*/ 75 w 472"/>
                <a:gd name="T15" fmla="*/ 113 h 166"/>
                <a:gd name="T16" fmla="*/ 75 w 472"/>
                <a:gd name="T17" fmla="*/ 106 h 166"/>
                <a:gd name="T18" fmla="*/ 87 w 472"/>
                <a:gd name="T19" fmla="*/ 99 h 166"/>
                <a:gd name="T20" fmla="*/ 99 w 472"/>
                <a:gd name="T21" fmla="*/ 94 h 166"/>
                <a:gd name="T22" fmla="*/ 105 w 472"/>
                <a:gd name="T23" fmla="*/ 88 h 166"/>
                <a:gd name="T24" fmla="*/ 110 w 472"/>
                <a:gd name="T25" fmla="*/ 82 h 166"/>
                <a:gd name="T26" fmla="*/ 117 w 472"/>
                <a:gd name="T27" fmla="*/ 75 h 166"/>
                <a:gd name="T28" fmla="*/ 124 w 472"/>
                <a:gd name="T29" fmla="*/ 68 h 166"/>
                <a:gd name="T30" fmla="*/ 136 w 472"/>
                <a:gd name="T31" fmla="*/ 62 h 166"/>
                <a:gd name="T32" fmla="*/ 148 w 472"/>
                <a:gd name="T33" fmla="*/ 62 h 166"/>
                <a:gd name="T34" fmla="*/ 148 w 472"/>
                <a:gd name="T35" fmla="*/ 31 h 166"/>
                <a:gd name="T36" fmla="*/ 148 w 472"/>
                <a:gd name="T37" fmla="*/ 0 h 166"/>
                <a:gd name="T38" fmla="*/ 155 w 472"/>
                <a:gd name="T39" fmla="*/ 0 h 166"/>
                <a:gd name="T40" fmla="*/ 161 w 472"/>
                <a:gd name="T41" fmla="*/ 5 h 166"/>
                <a:gd name="T42" fmla="*/ 169 w 472"/>
                <a:gd name="T43" fmla="*/ 12 h 166"/>
                <a:gd name="T44" fmla="*/ 188 w 472"/>
                <a:gd name="T45" fmla="*/ 13 h 166"/>
                <a:gd name="T46" fmla="*/ 199 w 472"/>
                <a:gd name="T47" fmla="*/ 19 h 166"/>
                <a:gd name="T48" fmla="*/ 213 w 472"/>
                <a:gd name="T49" fmla="*/ 24 h 166"/>
                <a:gd name="T50" fmla="*/ 247 w 472"/>
                <a:gd name="T51" fmla="*/ 35 h 166"/>
                <a:gd name="T52" fmla="*/ 254 w 472"/>
                <a:gd name="T53" fmla="*/ 37 h 166"/>
                <a:gd name="T54" fmla="*/ 274 w 472"/>
                <a:gd name="T55" fmla="*/ 46 h 166"/>
                <a:gd name="T56" fmla="*/ 278 w 472"/>
                <a:gd name="T57" fmla="*/ 49 h 166"/>
                <a:gd name="T58" fmla="*/ 298 w 472"/>
                <a:gd name="T59" fmla="*/ 58 h 166"/>
                <a:gd name="T60" fmla="*/ 307 w 472"/>
                <a:gd name="T61" fmla="*/ 62 h 166"/>
                <a:gd name="T62" fmla="*/ 325 w 472"/>
                <a:gd name="T63" fmla="*/ 72 h 166"/>
                <a:gd name="T64" fmla="*/ 332 w 472"/>
                <a:gd name="T65" fmla="*/ 75 h 166"/>
                <a:gd name="T66" fmla="*/ 450 w 472"/>
                <a:gd name="T67" fmla="*/ 148 h 166"/>
                <a:gd name="T68" fmla="*/ 445 w 472"/>
                <a:gd name="T69" fmla="*/ 156 h 166"/>
                <a:gd name="T70" fmla="*/ 347 w 472"/>
                <a:gd name="T71" fmla="*/ 106 h 166"/>
                <a:gd name="T72" fmla="*/ 336 w 472"/>
                <a:gd name="T73" fmla="*/ 99 h 166"/>
                <a:gd name="T74" fmla="*/ 325 w 472"/>
                <a:gd name="T75" fmla="*/ 106 h 166"/>
                <a:gd name="T76" fmla="*/ 336 w 472"/>
                <a:gd name="T77" fmla="*/ 113 h 166"/>
                <a:gd name="T78" fmla="*/ 347 w 472"/>
                <a:gd name="T79" fmla="*/ 106 h 166"/>
                <a:gd name="T80" fmla="*/ 360 w 472"/>
                <a:gd name="T81" fmla="*/ 106 h 166"/>
                <a:gd name="T82" fmla="*/ 355 w 472"/>
                <a:gd name="T83" fmla="*/ 99 h 166"/>
                <a:gd name="T84" fmla="*/ 349 w 472"/>
                <a:gd name="T85" fmla="*/ 106 h 166"/>
                <a:gd name="T86" fmla="*/ 355 w 472"/>
                <a:gd name="T87" fmla="*/ 113 h 166"/>
                <a:gd name="T88" fmla="*/ 360 w 472"/>
                <a:gd name="T89" fmla="*/ 106 h 166"/>
                <a:gd name="T90" fmla="*/ 174 w 472"/>
                <a:gd name="T91" fmla="*/ 94 h 166"/>
                <a:gd name="T92" fmla="*/ 168 w 472"/>
                <a:gd name="T93" fmla="*/ 88 h 166"/>
                <a:gd name="T94" fmla="*/ 161 w 472"/>
                <a:gd name="T95" fmla="*/ 94 h 166"/>
                <a:gd name="T96" fmla="*/ 168 w 472"/>
                <a:gd name="T97" fmla="*/ 99 h 166"/>
                <a:gd name="T98" fmla="*/ 174 w 472"/>
                <a:gd name="T99"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2" h="166">
                  <a:moveTo>
                    <a:pt x="445" y="156"/>
                  </a:moveTo>
                  <a:cubicBezTo>
                    <a:pt x="402" y="140"/>
                    <a:pt x="349" y="129"/>
                    <a:pt x="274" y="120"/>
                  </a:cubicBezTo>
                  <a:cubicBezTo>
                    <a:pt x="232" y="115"/>
                    <a:pt x="72" y="115"/>
                    <a:pt x="28" y="120"/>
                  </a:cubicBezTo>
                  <a:lnTo>
                    <a:pt x="0" y="123"/>
                  </a:lnTo>
                  <a:lnTo>
                    <a:pt x="0" y="118"/>
                  </a:lnTo>
                  <a:lnTo>
                    <a:pt x="0" y="113"/>
                  </a:lnTo>
                  <a:lnTo>
                    <a:pt x="37" y="113"/>
                  </a:lnTo>
                  <a:lnTo>
                    <a:pt x="75" y="113"/>
                  </a:lnTo>
                  <a:lnTo>
                    <a:pt x="75" y="106"/>
                  </a:lnTo>
                  <a:cubicBezTo>
                    <a:pt x="75" y="99"/>
                    <a:pt x="75" y="99"/>
                    <a:pt x="87" y="99"/>
                  </a:cubicBezTo>
                  <a:cubicBezTo>
                    <a:pt x="99" y="99"/>
                    <a:pt x="99" y="99"/>
                    <a:pt x="99" y="94"/>
                  </a:cubicBezTo>
                  <a:cubicBezTo>
                    <a:pt x="99" y="89"/>
                    <a:pt x="100" y="88"/>
                    <a:pt x="105" y="88"/>
                  </a:cubicBezTo>
                  <a:cubicBezTo>
                    <a:pt x="110" y="88"/>
                    <a:pt x="110" y="87"/>
                    <a:pt x="110" y="82"/>
                  </a:cubicBezTo>
                  <a:cubicBezTo>
                    <a:pt x="110" y="76"/>
                    <a:pt x="111" y="75"/>
                    <a:pt x="117" y="75"/>
                  </a:cubicBezTo>
                  <a:cubicBezTo>
                    <a:pt x="123" y="75"/>
                    <a:pt x="124" y="74"/>
                    <a:pt x="124" y="68"/>
                  </a:cubicBezTo>
                  <a:cubicBezTo>
                    <a:pt x="124" y="62"/>
                    <a:pt x="124" y="62"/>
                    <a:pt x="136" y="62"/>
                  </a:cubicBezTo>
                  <a:lnTo>
                    <a:pt x="148" y="62"/>
                  </a:lnTo>
                  <a:lnTo>
                    <a:pt x="148" y="31"/>
                  </a:lnTo>
                  <a:lnTo>
                    <a:pt x="148" y="0"/>
                  </a:lnTo>
                  <a:lnTo>
                    <a:pt x="155" y="0"/>
                  </a:lnTo>
                  <a:cubicBezTo>
                    <a:pt x="160" y="0"/>
                    <a:pt x="161" y="1"/>
                    <a:pt x="161" y="5"/>
                  </a:cubicBezTo>
                  <a:cubicBezTo>
                    <a:pt x="161" y="9"/>
                    <a:pt x="163" y="11"/>
                    <a:pt x="169" y="12"/>
                  </a:cubicBezTo>
                  <a:cubicBezTo>
                    <a:pt x="174" y="13"/>
                    <a:pt x="183" y="13"/>
                    <a:pt x="188" y="13"/>
                  </a:cubicBezTo>
                  <a:cubicBezTo>
                    <a:pt x="198" y="13"/>
                    <a:pt x="199" y="14"/>
                    <a:pt x="199" y="19"/>
                  </a:cubicBezTo>
                  <a:cubicBezTo>
                    <a:pt x="199" y="24"/>
                    <a:pt x="199" y="24"/>
                    <a:pt x="213" y="24"/>
                  </a:cubicBezTo>
                  <a:cubicBezTo>
                    <a:pt x="228" y="24"/>
                    <a:pt x="247" y="30"/>
                    <a:pt x="247" y="35"/>
                  </a:cubicBezTo>
                  <a:cubicBezTo>
                    <a:pt x="247" y="36"/>
                    <a:pt x="250" y="37"/>
                    <a:pt x="254" y="37"/>
                  </a:cubicBezTo>
                  <a:cubicBezTo>
                    <a:pt x="262" y="37"/>
                    <a:pt x="274" y="43"/>
                    <a:pt x="274" y="46"/>
                  </a:cubicBezTo>
                  <a:cubicBezTo>
                    <a:pt x="274" y="48"/>
                    <a:pt x="276" y="49"/>
                    <a:pt x="278" y="49"/>
                  </a:cubicBezTo>
                  <a:cubicBezTo>
                    <a:pt x="286" y="49"/>
                    <a:pt x="298" y="55"/>
                    <a:pt x="298" y="58"/>
                  </a:cubicBezTo>
                  <a:cubicBezTo>
                    <a:pt x="298" y="61"/>
                    <a:pt x="300" y="62"/>
                    <a:pt x="307" y="62"/>
                  </a:cubicBezTo>
                  <a:cubicBezTo>
                    <a:pt x="316" y="62"/>
                    <a:pt x="325" y="67"/>
                    <a:pt x="325" y="72"/>
                  </a:cubicBezTo>
                  <a:cubicBezTo>
                    <a:pt x="325" y="74"/>
                    <a:pt x="327" y="75"/>
                    <a:pt x="332" y="75"/>
                  </a:cubicBezTo>
                  <a:cubicBezTo>
                    <a:pt x="344" y="75"/>
                    <a:pt x="411" y="117"/>
                    <a:pt x="450" y="148"/>
                  </a:cubicBezTo>
                  <a:cubicBezTo>
                    <a:pt x="472" y="166"/>
                    <a:pt x="472" y="166"/>
                    <a:pt x="445" y="156"/>
                  </a:cubicBezTo>
                  <a:close/>
                  <a:moveTo>
                    <a:pt x="347" y="106"/>
                  </a:moveTo>
                  <a:cubicBezTo>
                    <a:pt x="347" y="100"/>
                    <a:pt x="347" y="99"/>
                    <a:pt x="336" y="99"/>
                  </a:cubicBezTo>
                  <a:cubicBezTo>
                    <a:pt x="325" y="99"/>
                    <a:pt x="325" y="100"/>
                    <a:pt x="325" y="106"/>
                  </a:cubicBezTo>
                  <a:cubicBezTo>
                    <a:pt x="325" y="112"/>
                    <a:pt x="325" y="113"/>
                    <a:pt x="336" y="113"/>
                  </a:cubicBezTo>
                  <a:cubicBezTo>
                    <a:pt x="347" y="113"/>
                    <a:pt x="347" y="112"/>
                    <a:pt x="347" y="106"/>
                  </a:cubicBezTo>
                  <a:close/>
                  <a:moveTo>
                    <a:pt x="360" y="106"/>
                  </a:moveTo>
                  <a:cubicBezTo>
                    <a:pt x="360" y="100"/>
                    <a:pt x="359" y="99"/>
                    <a:pt x="355" y="99"/>
                  </a:cubicBezTo>
                  <a:cubicBezTo>
                    <a:pt x="350" y="99"/>
                    <a:pt x="349" y="100"/>
                    <a:pt x="349" y="106"/>
                  </a:cubicBezTo>
                  <a:cubicBezTo>
                    <a:pt x="349" y="112"/>
                    <a:pt x="350" y="113"/>
                    <a:pt x="355" y="113"/>
                  </a:cubicBezTo>
                  <a:cubicBezTo>
                    <a:pt x="359" y="113"/>
                    <a:pt x="360" y="112"/>
                    <a:pt x="360" y="106"/>
                  </a:cubicBezTo>
                  <a:close/>
                  <a:moveTo>
                    <a:pt x="174" y="94"/>
                  </a:moveTo>
                  <a:cubicBezTo>
                    <a:pt x="174" y="89"/>
                    <a:pt x="173" y="88"/>
                    <a:pt x="168" y="88"/>
                  </a:cubicBezTo>
                  <a:cubicBezTo>
                    <a:pt x="162" y="88"/>
                    <a:pt x="161" y="89"/>
                    <a:pt x="161" y="94"/>
                  </a:cubicBezTo>
                  <a:cubicBezTo>
                    <a:pt x="161" y="98"/>
                    <a:pt x="162" y="99"/>
                    <a:pt x="168" y="99"/>
                  </a:cubicBezTo>
                  <a:cubicBezTo>
                    <a:pt x="173" y="99"/>
                    <a:pt x="174" y="98"/>
                    <a:pt x="174" y="94"/>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48" name="Freeform 29"/>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49" name="Freeform 30"/>
            <p:cNvSpPr>
              <a:spLocks noEditPoints="1"/>
            </p:cNvSpPr>
            <p:nvPr/>
          </p:nvSpPr>
          <p:spPr bwMode="auto">
            <a:xfrm>
              <a:off x="4862513" y="3951288"/>
              <a:ext cx="515938" cy="815975"/>
            </a:xfrm>
            <a:custGeom>
              <a:avLst/>
              <a:gdLst>
                <a:gd name="T0" fmla="*/ 376 w 1378"/>
                <a:gd name="T1" fmla="*/ 1494 h 2181"/>
                <a:gd name="T2" fmla="*/ 280 w 1378"/>
                <a:gd name="T3" fmla="*/ 1703 h 2181"/>
                <a:gd name="T4" fmla="*/ 53 w 1378"/>
                <a:gd name="T5" fmla="*/ 2056 h 2181"/>
                <a:gd name="T6" fmla="*/ 133 w 1378"/>
                <a:gd name="T7" fmla="*/ 1049 h 2181"/>
                <a:gd name="T8" fmla="*/ 100 w 1378"/>
                <a:gd name="T9" fmla="*/ 1009 h 2181"/>
                <a:gd name="T10" fmla="*/ 184 w 1378"/>
                <a:gd name="T11" fmla="*/ 759 h 2181"/>
                <a:gd name="T12" fmla="*/ 246 w 1378"/>
                <a:gd name="T13" fmla="*/ 691 h 2181"/>
                <a:gd name="T14" fmla="*/ 444 w 1378"/>
                <a:gd name="T15" fmla="*/ 90 h 2181"/>
                <a:gd name="T16" fmla="*/ 992 w 1378"/>
                <a:gd name="T17" fmla="*/ 337 h 2181"/>
                <a:gd name="T18" fmla="*/ 1004 w 1378"/>
                <a:gd name="T19" fmla="*/ 538 h 2181"/>
                <a:gd name="T20" fmla="*/ 1059 w 1378"/>
                <a:gd name="T21" fmla="*/ 509 h 2181"/>
                <a:gd name="T22" fmla="*/ 1347 w 1378"/>
                <a:gd name="T23" fmla="*/ 0 h 2181"/>
                <a:gd name="T24" fmla="*/ 1378 w 1378"/>
                <a:gd name="T25" fmla="*/ 9 h 2181"/>
                <a:gd name="T26" fmla="*/ 1202 w 1378"/>
                <a:gd name="T27" fmla="*/ 344 h 2181"/>
                <a:gd name="T28" fmla="*/ 1022 w 1378"/>
                <a:gd name="T29" fmla="*/ 709 h 2181"/>
                <a:gd name="T30" fmla="*/ 881 w 1378"/>
                <a:gd name="T31" fmla="*/ 1011 h 2181"/>
                <a:gd name="T32" fmla="*/ 581 w 1378"/>
                <a:gd name="T33" fmla="*/ 950 h 2181"/>
                <a:gd name="T34" fmla="*/ 143 w 1378"/>
                <a:gd name="T35" fmla="*/ 1112 h 2181"/>
                <a:gd name="T36" fmla="*/ 136 w 1378"/>
                <a:gd name="T37" fmla="*/ 2068 h 2181"/>
                <a:gd name="T38" fmla="*/ 281 w 1378"/>
                <a:gd name="T39" fmla="*/ 1522 h 2181"/>
                <a:gd name="T40" fmla="*/ 464 w 1378"/>
                <a:gd name="T41" fmla="*/ 2034 h 2181"/>
                <a:gd name="T42" fmla="*/ 431 w 1378"/>
                <a:gd name="T43" fmla="*/ 2181 h 2181"/>
                <a:gd name="T44" fmla="*/ 192 w 1378"/>
                <a:gd name="T45" fmla="*/ 959 h 2181"/>
                <a:gd name="T46" fmla="*/ 416 w 1378"/>
                <a:gd name="T47" fmla="*/ 830 h 2181"/>
                <a:gd name="T48" fmla="*/ 275 w 1378"/>
                <a:gd name="T49" fmla="*/ 751 h 2181"/>
                <a:gd name="T50" fmla="*/ 124 w 1378"/>
                <a:gd name="T51" fmla="*/ 969 h 2181"/>
                <a:gd name="T52" fmla="*/ 160 w 1378"/>
                <a:gd name="T53" fmla="*/ 977 h 2181"/>
                <a:gd name="T54" fmla="*/ 390 w 1378"/>
                <a:gd name="T55" fmla="*/ 768 h 2181"/>
                <a:gd name="T56" fmla="*/ 455 w 1378"/>
                <a:gd name="T57" fmla="*/ 822 h 2181"/>
                <a:gd name="T58" fmla="*/ 255 w 1378"/>
                <a:gd name="T59" fmla="*/ 947 h 2181"/>
                <a:gd name="T60" fmla="*/ 692 w 1378"/>
                <a:gd name="T61" fmla="*/ 933 h 2181"/>
                <a:gd name="T62" fmla="*/ 834 w 1378"/>
                <a:gd name="T63" fmla="*/ 965 h 2181"/>
                <a:gd name="T64" fmla="*/ 922 w 1378"/>
                <a:gd name="T65" fmla="*/ 740 h 2181"/>
                <a:gd name="T66" fmla="*/ 848 w 1378"/>
                <a:gd name="T67" fmla="*/ 769 h 2181"/>
                <a:gd name="T68" fmla="*/ 891 w 1378"/>
                <a:gd name="T69" fmla="*/ 202 h 2181"/>
                <a:gd name="T70" fmla="*/ 249 w 1378"/>
                <a:gd name="T71" fmla="*/ 540 h 2181"/>
                <a:gd name="T72" fmla="*/ 349 w 1378"/>
                <a:gd name="T73" fmla="*/ 713 h 2181"/>
                <a:gd name="T74" fmla="*/ 864 w 1378"/>
                <a:gd name="T75" fmla="*/ 911 h 2181"/>
                <a:gd name="T76" fmla="*/ 1003 w 1378"/>
                <a:gd name="T77" fmla="*/ 643 h 2181"/>
                <a:gd name="T78" fmla="*/ 963 w 1378"/>
                <a:gd name="T79" fmla="*/ 712 h 2181"/>
                <a:gd name="T80" fmla="*/ 929 w 1378"/>
                <a:gd name="T81" fmla="*/ 847 h 2181"/>
                <a:gd name="T82" fmla="*/ 997 w 1378"/>
                <a:gd name="T83" fmla="*/ 579 h 2181"/>
                <a:gd name="T84" fmla="*/ 993 w 1378"/>
                <a:gd name="T85" fmla="*/ 601 h 2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78" h="2181">
                  <a:moveTo>
                    <a:pt x="429" y="2044"/>
                  </a:moveTo>
                  <a:cubicBezTo>
                    <a:pt x="428" y="1893"/>
                    <a:pt x="424" y="1765"/>
                    <a:pt x="421" y="1714"/>
                  </a:cubicBezTo>
                  <a:cubicBezTo>
                    <a:pt x="413" y="1590"/>
                    <a:pt x="398" y="1516"/>
                    <a:pt x="376" y="1494"/>
                  </a:cubicBezTo>
                  <a:cubicBezTo>
                    <a:pt x="368" y="1486"/>
                    <a:pt x="357" y="1490"/>
                    <a:pt x="341" y="1506"/>
                  </a:cubicBezTo>
                  <a:cubicBezTo>
                    <a:pt x="327" y="1522"/>
                    <a:pt x="316" y="1542"/>
                    <a:pt x="306" y="1572"/>
                  </a:cubicBezTo>
                  <a:cubicBezTo>
                    <a:pt x="295" y="1602"/>
                    <a:pt x="290" y="1627"/>
                    <a:pt x="280" y="1703"/>
                  </a:cubicBezTo>
                  <a:cubicBezTo>
                    <a:pt x="245" y="1953"/>
                    <a:pt x="237" y="1993"/>
                    <a:pt x="215" y="2041"/>
                  </a:cubicBezTo>
                  <a:cubicBezTo>
                    <a:pt x="193" y="2087"/>
                    <a:pt x="172" y="2106"/>
                    <a:pt x="136" y="2110"/>
                  </a:cubicBezTo>
                  <a:cubicBezTo>
                    <a:pt x="99" y="2115"/>
                    <a:pt x="73" y="2097"/>
                    <a:pt x="53" y="2056"/>
                  </a:cubicBezTo>
                  <a:cubicBezTo>
                    <a:pt x="36" y="2020"/>
                    <a:pt x="27" y="1987"/>
                    <a:pt x="19" y="1936"/>
                  </a:cubicBezTo>
                  <a:cubicBezTo>
                    <a:pt x="8" y="1865"/>
                    <a:pt x="0" y="1711"/>
                    <a:pt x="2" y="1633"/>
                  </a:cubicBezTo>
                  <a:cubicBezTo>
                    <a:pt x="9" y="1417"/>
                    <a:pt x="55" y="1214"/>
                    <a:pt x="133" y="1049"/>
                  </a:cubicBezTo>
                  <a:cubicBezTo>
                    <a:pt x="141" y="1033"/>
                    <a:pt x="147" y="1020"/>
                    <a:pt x="147" y="1019"/>
                  </a:cubicBezTo>
                  <a:cubicBezTo>
                    <a:pt x="147" y="1019"/>
                    <a:pt x="144" y="1020"/>
                    <a:pt x="140" y="1020"/>
                  </a:cubicBezTo>
                  <a:cubicBezTo>
                    <a:pt x="127" y="1022"/>
                    <a:pt x="108" y="1016"/>
                    <a:pt x="100" y="1009"/>
                  </a:cubicBezTo>
                  <a:cubicBezTo>
                    <a:pt x="89" y="999"/>
                    <a:pt x="87" y="990"/>
                    <a:pt x="88" y="949"/>
                  </a:cubicBezTo>
                  <a:cubicBezTo>
                    <a:pt x="89" y="920"/>
                    <a:pt x="90" y="909"/>
                    <a:pt x="95" y="892"/>
                  </a:cubicBezTo>
                  <a:cubicBezTo>
                    <a:pt x="109" y="837"/>
                    <a:pt x="138" y="794"/>
                    <a:pt x="184" y="759"/>
                  </a:cubicBezTo>
                  <a:cubicBezTo>
                    <a:pt x="209" y="739"/>
                    <a:pt x="248" y="713"/>
                    <a:pt x="253" y="713"/>
                  </a:cubicBezTo>
                  <a:cubicBezTo>
                    <a:pt x="256" y="713"/>
                    <a:pt x="258" y="712"/>
                    <a:pt x="258" y="711"/>
                  </a:cubicBezTo>
                  <a:cubicBezTo>
                    <a:pt x="258" y="710"/>
                    <a:pt x="252" y="701"/>
                    <a:pt x="246" y="691"/>
                  </a:cubicBezTo>
                  <a:cubicBezTo>
                    <a:pt x="225" y="656"/>
                    <a:pt x="210" y="621"/>
                    <a:pt x="203" y="585"/>
                  </a:cubicBezTo>
                  <a:cubicBezTo>
                    <a:pt x="197" y="558"/>
                    <a:pt x="198" y="447"/>
                    <a:pt x="203" y="412"/>
                  </a:cubicBezTo>
                  <a:cubicBezTo>
                    <a:pt x="226" y="268"/>
                    <a:pt x="311" y="155"/>
                    <a:pt x="444" y="90"/>
                  </a:cubicBezTo>
                  <a:cubicBezTo>
                    <a:pt x="480" y="73"/>
                    <a:pt x="498" y="66"/>
                    <a:pt x="533" y="57"/>
                  </a:cubicBezTo>
                  <a:cubicBezTo>
                    <a:pt x="685" y="18"/>
                    <a:pt x="843" y="69"/>
                    <a:pt x="920" y="182"/>
                  </a:cubicBezTo>
                  <a:cubicBezTo>
                    <a:pt x="951" y="229"/>
                    <a:pt x="980" y="289"/>
                    <a:pt x="992" y="337"/>
                  </a:cubicBezTo>
                  <a:cubicBezTo>
                    <a:pt x="1002" y="376"/>
                    <a:pt x="1003" y="389"/>
                    <a:pt x="1003" y="438"/>
                  </a:cubicBezTo>
                  <a:cubicBezTo>
                    <a:pt x="1003" y="481"/>
                    <a:pt x="1001" y="499"/>
                    <a:pt x="994" y="532"/>
                  </a:cubicBezTo>
                  <a:cubicBezTo>
                    <a:pt x="993" y="537"/>
                    <a:pt x="994" y="538"/>
                    <a:pt x="1004" y="538"/>
                  </a:cubicBezTo>
                  <a:cubicBezTo>
                    <a:pt x="1012" y="538"/>
                    <a:pt x="1018" y="540"/>
                    <a:pt x="1022" y="543"/>
                  </a:cubicBezTo>
                  <a:cubicBezTo>
                    <a:pt x="1026" y="545"/>
                    <a:pt x="1030" y="548"/>
                    <a:pt x="1031" y="548"/>
                  </a:cubicBezTo>
                  <a:cubicBezTo>
                    <a:pt x="1032" y="548"/>
                    <a:pt x="1045" y="530"/>
                    <a:pt x="1059" y="509"/>
                  </a:cubicBezTo>
                  <a:cubicBezTo>
                    <a:pt x="1127" y="411"/>
                    <a:pt x="1152" y="367"/>
                    <a:pt x="1234" y="203"/>
                  </a:cubicBezTo>
                  <a:cubicBezTo>
                    <a:pt x="1295" y="80"/>
                    <a:pt x="1309" y="55"/>
                    <a:pt x="1333" y="20"/>
                  </a:cubicBezTo>
                  <a:lnTo>
                    <a:pt x="1347" y="0"/>
                  </a:lnTo>
                  <a:lnTo>
                    <a:pt x="1363" y="0"/>
                  </a:lnTo>
                  <a:lnTo>
                    <a:pt x="1378" y="0"/>
                  </a:lnTo>
                  <a:lnTo>
                    <a:pt x="1378" y="9"/>
                  </a:lnTo>
                  <a:cubicBezTo>
                    <a:pt x="1378" y="16"/>
                    <a:pt x="1376" y="21"/>
                    <a:pt x="1364" y="38"/>
                  </a:cubicBezTo>
                  <a:cubicBezTo>
                    <a:pt x="1342" y="68"/>
                    <a:pt x="1320" y="107"/>
                    <a:pt x="1270" y="209"/>
                  </a:cubicBezTo>
                  <a:cubicBezTo>
                    <a:pt x="1245" y="260"/>
                    <a:pt x="1214" y="321"/>
                    <a:pt x="1202" y="344"/>
                  </a:cubicBezTo>
                  <a:cubicBezTo>
                    <a:pt x="1164" y="415"/>
                    <a:pt x="1111" y="499"/>
                    <a:pt x="1068" y="556"/>
                  </a:cubicBezTo>
                  <a:cubicBezTo>
                    <a:pt x="1052" y="579"/>
                    <a:pt x="1051" y="580"/>
                    <a:pt x="1049" y="598"/>
                  </a:cubicBezTo>
                  <a:cubicBezTo>
                    <a:pt x="1045" y="628"/>
                    <a:pt x="1036" y="666"/>
                    <a:pt x="1022" y="709"/>
                  </a:cubicBezTo>
                  <a:cubicBezTo>
                    <a:pt x="1005" y="761"/>
                    <a:pt x="997" y="780"/>
                    <a:pt x="966" y="848"/>
                  </a:cubicBezTo>
                  <a:cubicBezTo>
                    <a:pt x="935" y="916"/>
                    <a:pt x="923" y="944"/>
                    <a:pt x="915" y="971"/>
                  </a:cubicBezTo>
                  <a:cubicBezTo>
                    <a:pt x="905" y="1004"/>
                    <a:pt x="907" y="1001"/>
                    <a:pt x="881" y="1011"/>
                  </a:cubicBezTo>
                  <a:cubicBezTo>
                    <a:pt x="869" y="1016"/>
                    <a:pt x="857" y="1020"/>
                    <a:pt x="856" y="1020"/>
                  </a:cubicBezTo>
                  <a:cubicBezTo>
                    <a:pt x="855" y="1020"/>
                    <a:pt x="845" y="1016"/>
                    <a:pt x="835" y="1011"/>
                  </a:cubicBezTo>
                  <a:cubicBezTo>
                    <a:pt x="755" y="971"/>
                    <a:pt x="681" y="953"/>
                    <a:pt x="581" y="950"/>
                  </a:cubicBezTo>
                  <a:cubicBezTo>
                    <a:pt x="475" y="947"/>
                    <a:pt x="352" y="965"/>
                    <a:pt x="206" y="1003"/>
                  </a:cubicBezTo>
                  <a:cubicBezTo>
                    <a:pt x="199" y="1005"/>
                    <a:pt x="196" y="1008"/>
                    <a:pt x="188" y="1021"/>
                  </a:cubicBezTo>
                  <a:cubicBezTo>
                    <a:pt x="177" y="1038"/>
                    <a:pt x="159" y="1074"/>
                    <a:pt x="143" y="1112"/>
                  </a:cubicBezTo>
                  <a:cubicBezTo>
                    <a:pt x="61" y="1312"/>
                    <a:pt x="25" y="1549"/>
                    <a:pt x="41" y="1783"/>
                  </a:cubicBezTo>
                  <a:cubicBezTo>
                    <a:pt x="49" y="1900"/>
                    <a:pt x="73" y="2004"/>
                    <a:pt x="101" y="2046"/>
                  </a:cubicBezTo>
                  <a:cubicBezTo>
                    <a:pt x="109" y="2058"/>
                    <a:pt x="125" y="2068"/>
                    <a:pt x="136" y="2068"/>
                  </a:cubicBezTo>
                  <a:cubicBezTo>
                    <a:pt x="155" y="2068"/>
                    <a:pt x="174" y="2049"/>
                    <a:pt x="187" y="2016"/>
                  </a:cubicBezTo>
                  <a:cubicBezTo>
                    <a:pt x="207" y="1965"/>
                    <a:pt x="215" y="1916"/>
                    <a:pt x="236" y="1734"/>
                  </a:cubicBezTo>
                  <a:cubicBezTo>
                    <a:pt x="250" y="1610"/>
                    <a:pt x="258" y="1570"/>
                    <a:pt x="281" y="1522"/>
                  </a:cubicBezTo>
                  <a:cubicBezTo>
                    <a:pt x="298" y="1487"/>
                    <a:pt x="324" y="1467"/>
                    <a:pt x="357" y="1460"/>
                  </a:cubicBezTo>
                  <a:cubicBezTo>
                    <a:pt x="393" y="1453"/>
                    <a:pt x="416" y="1475"/>
                    <a:pt x="432" y="1531"/>
                  </a:cubicBezTo>
                  <a:cubicBezTo>
                    <a:pt x="454" y="1611"/>
                    <a:pt x="461" y="1719"/>
                    <a:pt x="464" y="2034"/>
                  </a:cubicBezTo>
                  <a:lnTo>
                    <a:pt x="466" y="2181"/>
                  </a:lnTo>
                  <a:lnTo>
                    <a:pt x="448" y="2181"/>
                  </a:lnTo>
                  <a:lnTo>
                    <a:pt x="431" y="2181"/>
                  </a:lnTo>
                  <a:lnTo>
                    <a:pt x="429" y="2044"/>
                  </a:lnTo>
                  <a:close/>
                  <a:moveTo>
                    <a:pt x="160" y="977"/>
                  </a:moveTo>
                  <a:cubicBezTo>
                    <a:pt x="177" y="971"/>
                    <a:pt x="184" y="967"/>
                    <a:pt x="192" y="959"/>
                  </a:cubicBezTo>
                  <a:cubicBezTo>
                    <a:pt x="210" y="942"/>
                    <a:pt x="226" y="929"/>
                    <a:pt x="245" y="917"/>
                  </a:cubicBezTo>
                  <a:cubicBezTo>
                    <a:pt x="267" y="903"/>
                    <a:pt x="333" y="870"/>
                    <a:pt x="380" y="849"/>
                  </a:cubicBezTo>
                  <a:cubicBezTo>
                    <a:pt x="416" y="834"/>
                    <a:pt x="423" y="830"/>
                    <a:pt x="416" y="830"/>
                  </a:cubicBezTo>
                  <a:cubicBezTo>
                    <a:pt x="409" y="830"/>
                    <a:pt x="374" y="817"/>
                    <a:pt x="358" y="809"/>
                  </a:cubicBezTo>
                  <a:cubicBezTo>
                    <a:pt x="337" y="797"/>
                    <a:pt x="320" y="784"/>
                    <a:pt x="302" y="766"/>
                  </a:cubicBezTo>
                  <a:cubicBezTo>
                    <a:pt x="288" y="751"/>
                    <a:pt x="288" y="751"/>
                    <a:pt x="275" y="751"/>
                  </a:cubicBezTo>
                  <a:cubicBezTo>
                    <a:pt x="269" y="751"/>
                    <a:pt x="261" y="752"/>
                    <a:pt x="257" y="754"/>
                  </a:cubicBezTo>
                  <a:cubicBezTo>
                    <a:pt x="242" y="761"/>
                    <a:pt x="208" y="787"/>
                    <a:pt x="188" y="807"/>
                  </a:cubicBezTo>
                  <a:cubicBezTo>
                    <a:pt x="137" y="857"/>
                    <a:pt x="117" y="909"/>
                    <a:pt x="124" y="969"/>
                  </a:cubicBezTo>
                  <a:cubicBezTo>
                    <a:pt x="125" y="979"/>
                    <a:pt x="126" y="980"/>
                    <a:pt x="133" y="982"/>
                  </a:cubicBezTo>
                  <a:cubicBezTo>
                    <a:pt x="136" y="984"/>
                    <a:pt x="139" y="985"/>
                    <a:pt x="139" y="985"/>
                  </a:cubicBezTo>
                  <a:cubicBezTo>
                    <a:pt x="139" y="985"/>
                    <a:pt x="149" y="982"/>
                    <a:pt x="160" y="977"/>
                  </a:cubicBezTo>
                  <a:close/>
                  <a:moveTo>
                    <a:pt x="834" y="965"/>
                  </a:moveTo>
                  <a:cubicBezTo>
                    <a:pt x="828" y="958"/>
                    <a:pt x="811" y="945"/>
                    <a:pt x="798" y="935"/>
                  </a:cubicBezTo>
                  <a:cubicBezTo>
                    <a:pt x="694" y="859"/>
                    <a:pt x="546" y="798"/>
                    <a:pt x="390" y="768"/>
                  </a:cubicBezTo>
                  <a:cubicBezTo>
                    <a:pt x="375" y="765"/>
                    <a:pt x="364" y="763"/>
                    <a:pt x="365" y="764"/>
                  </a:cubicBezTo>
                  <a:cubicBezTo>
                    <a:pt x="371" y="769"/>
                    <a:pt x="400" y="788"/>
                    <a:pt x="426" y="804"/>
                  </a:cubicBezTo>
                  <a:lnTo>
                    <a:pt x="455" y="822"/>
                  </a:lnTo>
                  <a:lnTo>
                    <a:pt x="480" y="821"/>
                  </a:lnTo>
                  <a:cubicBezTo>
                    <a:pt x="509" y="819"/>
                    <a:pt x="512" y="817"/>
                    <a:pt x="441" y="849"/>
                  </a:cubicBezTo>
                  <a:cubicBezTo>
                    <a:pt x="347" y="892"/>
                    <a:pt x="261" y="937"/>
                    <a:pt x="255" y="947"/>
                  </a:cubicBezTo>
                  <a:cubicBezTo>
                    <a:pt x="254" y="948"/>
                    <a:pt x="269" y="946"/>
                    <a:pt x="289" y="942"/>
                  </a:cubicBezTo>
                  <a:cubicBezTo>
                    <a:pt x="368" y="926"/>
                    <a:pt x="442" y="920"/>
                    <a:pt x="541" y="922"/>
                  </a:cubicBezTo>
                  <a:cubicBezTo>
                    <a:pt x="610" y="923"/>
                    <a:pt x="638" y="925"/>
                    <a:pt x="692" y="933"/>
                  </a:cubicBezTo>
                  <a:cubicBezTo>
                    <a:pt x="740" y="941"/>
                    <a:pt x="800" y="957"/>
                    <a:pt x="830" y="971"/>
                  </a:cubicBezTo>
                  <a:cubicBezTo>
                    <a:pt x="837" y="974"/>
                    <a:pt x="843" y="976"/>
                    <a:pt x="844" y="976"/>
                  </a:cubicBezTo>
                  <a:cubicBezTo>
                    <a:pt x="846" y="976"/>
                    <a:pt x="841" y="971"/>
                    <a:pt x="834" y="965"/>
                  </a:cubicBezTo>
                  <a:lnTo>
                    <a:pt x="834" y="965"/>
                  </a:lnTo>
                  <a:close/>
                  <a:moveTo>
                    <a:pt x="864" y="911"/>
                  </a:moveTo>
                  <a:cubicBezTo>
                    <a:pt x="875" y="884"/>
                    <a:pt x="919" y="754"/>
                    <a:pt x="922" y="740"/>
                  </a:cubicBezTo>
                  <a:cubicBezTo>
                    <a:pt x="923" y="732"/>
                    <a:pt x="923" y="733"/>
                    <a:pt x="902" y="752"/>
                  </a:cubicBezTo>
                  <a:cubicBezTo>
                    <a:pt x="865" y="788"/>
                    <a:pt x="811" y="834"/>
                    <a:pt x="808" y="832"/>
                  </a:cubicBezTo>
                  <a:cubicBezTo>
                    <a:pt x="808" y="831"/>
                    <a:pt x="826" y="803"/>
                    <a:pt x="848" y="769"/>
                  </a:cubicBezTo>
                  <a:cubicBezTo>
                    <a:pt x="923" y="657"/>
                    <a:pt x="939" y="625"/>
                    <a:pt x="953" y="568"/>
                  </a:cubicBezTo>
                  <a:cubicBezTo>
                    <a:pt x="971" y="497"/>
                    <a:pt x="972" y="414"/>
                    <a:pt x="955" y="347"/>
                  </a:cubicBezTo>
                  <a:cubicBezTo>
                    <a:pt x="942" y="298"/>
                    <a:pt x="915" y="236"/>
                    <a:pt x="891" y="202"/>
                  </a:cubicBezTo>
                  <a:cubicBezTo>
                    <a:pt x="832" y="120"/>
                    <a:pt x="730" y="78"/>
                    <a:pt x="615" y="88"/>
                  </a:cubicBezTo>
                  <a:cubicBezTo>
                    <a:pt x="459" y="101"/>
                    <a:pt x="342" y="185"/>
                    <a:pt x="281" y="327"/>
                  </a:cubicBezTo>
                  <a:cubicBezTo>
                    <a:pt x="254" y="391"/>
                    <a:pt x="243" y="462"/>
                    <a:pt x="249" y="540"/>
                  </a:cubicBezTo>
                  <a:cubicBezTo>
                    <a:pt x="253" y="602"/>
                    <a:pt x="265" y="636"/>
                    <a:pt x="299" y="687"/>
                  </a:cubicBezTo>
                  <a:cubicBezTo>
                    <a:pt x="311" y="706"/>
                    <a:pt x="315" y="709"/>
                    <a:pt x="320" y="710"/>
                  </a:cubicBezTo>
                  <a:cubicBezTo>
                    <a:pt x="324" y="710"/>
                    <a:pt x="337" y="712"/>
                    <a:pt x="349" y="713"/>
                  </a:cubicBezTo>
                  <a:cubicBezTo>
                    <a:pt x="488" y="729"/>
                    <a:pt x="679" y="813"/>
                    <a:pt x="824" y="921"/>
                  </a:cubicBezTo>
                  <a:cubicBezTo>
                    <a:pt x="838" y="931"/>
                    <a:pt x="850" y="938"/>
                    <a:pt x="851" y="938"/>
                  </a:cubicBezTo>
                  <a:cubicBezTo>
                    <a:pt x="852" y="938"/>
                    <a:pt x="858" y="925"/>
                    <a:pt x="864" y="911"/>
                  </a:cubicBezTo>
                  <a:close/>
                  <a:moveTo>
                    <a:pt x="929" y="847"/>
                  </a:moveTo>
                  <a:cubicBezTo>
                    <a:pt x="959" y="781"/>
                    <a:pt x="979" y="728"/>
                    <a:pt x="990" y="693"/>
                  </a:cubicBezTo>
                  <a:cubicBezTo>
                    <a:pt x="998" y="665"/>
                    <a:pt x="1004" y="643"/>
                    <a:pt x="1003" y="643"/>
                  </a:cubicBezTo>
                  <a:cubicBezTo>
                    <a:pt x="1003" y="643"/>
                    <a:pt x="996" y="651"/>
                    <a:pt x="987" y="661"/>
                  </a:cubicBezTo>
                  <a:lnTo>
                    <a:pt x="972" y="679"/>
                  </a:lnTo>
                  <a:lnTo>
                    <a:pt x="963" y="712"/>
                  </a:lnTo>
                  <a:cubicBezTo>
                    <a:pt x="955" y="738"/>
                    <a:pt x="907" y="887"/>
                    <a:pt x="897" y="913"/>
                  </a:cubicBezTo>
                  <a:cubicBezTo>
                    <a:pt x="896" y="916"/>
                    <a:pt x="896" y="917"/>
                    <a:pt x="898" y="916"/>
                  </a:cubicBezTo>
                  <a:cubicBezTo>
                    <a:pt x="899" y="914"/>
                    <a:pt x="913" y="884"/>
                    <a:pt x="929" y="847"/>
                  </a:cubicBezTo>
                  <a:close/>
                  <a:moveTo>
                    <a:pt x="1004" y="587"/>
                  </a:moveTo>
                  <a:cubicBezTo>
                    <a:pt x="1009" y="579"/>
                    <a:pt x="1009" y="578"/>
                    <a:pt x="1006" y="575"/>
                  </a:cubicBezTo>
                  <a:cubicBezTo>
                    <a:pt x="1004" y="572"/>
                    <a:pt x="1003" y="573"/>
                    <a:pt x="997" y="579"/>
                  </a:cubicBezTo>
                  <a:cubicBezTo>
                    <a:pt x="994" y="584"/>
                    <a:pt x="991" y="591"/>
                    <a:pt x="990" y="597"/>
                  </a:cubicBezTo>
                  <a:lnTo>
                    <a:pt x="989" y="606"/>
                  </a:lnTo>
                  <a:lnTo>
                    <a:pt x="993" y="601"/>
                  </a:lnTo>
                  <a:cubicBezTo>
                    <a:pt x="996" y="598"/>
                    <a:pt x="1000" y="591"/>
                    <a:pt x="1004" y="587"/>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50" name="Freeform 31"/>
            <p:cNvSpPr>
              <a:spLocks noEditPoints="1"/>
            </p:cNvSpPr>
            <p:nvPr/>
          </p:nvSpPr>
          <p:spPr bwMode="auto">
            <a:xfrm>
              <a:off x="4908550" y="4230688"/>
              <a:ext cx="100013" cy="87313"/>
            </a:xfrm>
            <a:custGeom>
              <a:avLst/>
              <a:gdLst>
                <a:gd name="T0" fmla="*/ 12 w 268"/>
                <a:gd name="T1" fmla="*/ 232 h 234"/>
                <a:gd name="T2" fmla="*/ 4 w 268"/>
                <a:gd name="T3" fmla="*/ 220 h 234"/>
                <a:gd name="T4" fmla="*/ 23 w 268"/>
                <a:gd name="T5" fmla="*/ 120 h 234"/>
                <a:gd name="T6" fmla="*/ 118 w 268"/>
                <a:gd name="T7" fmla="*/ 20 h 234"/>
                <a:gd name="T8" fmla="*/ 153 w 268"/>
                <a:gd name="T9" fmla="*/ 12 h 234"/>
                <a:gd name="T10" fmla="*/ 160 w 268"/>
                <a:gd name="T11" fmla="*/ 18 h 234"/>
                <a:gd name="T12" fmla="*/ 167 w 268"/>
                <a:gd name="T13" fmla="*/ 25 h 234"/>
                <a:gd name="T14" fmla="*/ 173 w 268"/>
                <a:gd name="T15" fmla="*/ 32 h 234"/>
                <a:gd name="T16" fmla="*/ 180 w 268"/>
                <a:gd name="T17" fmla="*/ 37 h 234"/>
                <a:gd name="T18" fmla="*/ 192 w 268"/>
                <a:gd name="T19" fmla="*/ 43 h 234"/>
                <a:gd name="T20" fmla="*/ 204 w 268"/>
                <a:gd name="T21" fmla="*/ 49 h 234"/>
                <a:gd name="T22" fmla="*/ 211 w 268"/>
                <a:gd name="T23" fmla="*/ 56 h 234"/>
                <a:gd name="T24" fmla="*/ 217 w 268"/>
                <a:gd name="T25" fmla="*/ 63 h 234"/>
                <a:gd name="T26" fmla="*/ 223 w 268"/>
                <a:gd name="T27" fmla="*/ 69 h 234"/>
                <a:gd name="T28" fmla="*/ 228 w 268"/>
                <a:gd name="T29" fmla="*/ 75 h 234"/>
                <a:gd name="T30" fmla="*/ 242 w 268"/>
                <a:gd name="T31" fmla="*/ 80 h 234"/>
                <a:gd name="T32" fmla="*/ 255 w 268"/>
                <a:gd name="T33" fmla="*/ 87 h 234"/>
                <a:gd name="T34" fmla="*/ 262 w 268"/>
                <a:gd name="T35" fmla="*/ 94 h 234"/>
                <a:gd name="T36" fmla="*/ 244 w 268"/>
                <a:gd name="T37" fmla="*/ 105 h 234"/>
                <a:gd name="T38" fmla="*/ 68 w 268"/>
                <a:gd name="T39" fmla="*/ 211 h 234"/>
                <a:gd name="T40" fmla="*/ 58 w 268"/>
                <a:gd name="T41" fmla="*/ 217 h 234"/>
                <a:gd name="T42" fmla="*/ 53 w 268"/>
                <a:gd name="T43" fmla="*/ 219 h 234"/>
                <a:gd name="T44" fmla="*/ 35 w 268"/>
                <a:gd name="T45" fmla="*/ 228 h 234"/>
                <a:gd name="T46" fmla="*/ 12 w 268"/>
                <a:gd name="T47" fmla="*/ 232 h 234"/>
                <a:gd name="T48" fmla="*/ 30 w 268"/>
                <a:gd name="T49" fmla="*/ 198 h 234"/>
                <a:gd name="T50" fmla="*/ 24 w 268"/>
                <a:gd name="T51" fmla="*/ 193 h 234"/>
                <a:gd name="T52" fmla="*/ 19 w 268"/>
                <a:gd name="T53" fmla="*/ 198 h 234"/>
                <a:gd name="T54" fmla="*/ 24 w 268"/>
                <a:gd name="T55" fmla="*/ 204 h 234"/>
                <a:gd name="T56" fmla="*/ 30 w 268"/>
                <a:gd name="T57" fmla="*/ 198 h 234"/>
                <a:gd name="T58" fmla="*/ 142 w 268"/>
                <a:gd name="T59" fmla="*/ 99 h 234"/>
                <a:gd name="T60" fmla="*/ 137 w 268"/>
                <a:gd name="T61" fmla="*/ 93 h 234"/>
                <a:gd name="T62" fmla="*/ 131 w 268"/>
                <a:gd name="T63" fmla="*/ 99 h 234"/>
                <a:gd name="T64" fmla="*/ 137 w 268"/>
                <a:gd name="T65" fmla="*/ 105 h 234"/>
                <a:gd name="T66" fmla="*/ 142 w 268"/>
                <a:gd name="T67" fmla="*/ 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8" h="234">
                  <a:moveTo>
                    <a:pt x="12" y="232"/>
                  </a:moveTo>
                  <a:cubicBezTo>
                    <a:pt x="7" y="231"/>
                    <a:pt x="6" y="229"/>
                    <a:pt x="4" y="220"/>
                  </a:cubicBezTo>
                  <a:cubicBezTo>
                    <a:pt x="0" y="185"/>
                    <a:pt x="6" y="153"/>
                    <a:pt x="23" y="120"/>
                  </a:cubicBezTo>
                  <a:cubicBezTo>
                    <a:pt x="45" y="79"/>
                    <a:pt x="70" y="53"/>
                    <a:pt x="118" y="20"/>
                  </a:cubicBezTo>
                  <a:cubicBezTo>
                    <a:pt x="144" y="3"/>
                    <a:pt x="153" y="0"/>
                    <a:pt x="153" y="12"/>
                  </a:cubicBezTo>
                  <a:cubicBezTo>
                    <a:pt x="153" y="18"/>
                    <a:pt x="154" y="18"/>
                    <a:pt x="160" y="18"/>
                  </a:cubicBezTo>
                  <a:cubicBezTo>
                    <a:pt x="166" y="18"/>
                    <a:pt x="167" y="19"/>
                    <a:pt x="167" y="25"/>
                  </a:cubicBezTo>
                  <a:cubicBezTo>
                    <a:pt x="167" y="31"/>
                    <a:pt x="167" y="32"/>
                    <a:pt x="173" y="32"/>
                  </a:cubicBezTo>
                  <a:cubicBezTo>
                    <a:pt x="179" y="32"/>
                    <a:pt x="180" y="32"/>
                    <a:pt x="180" y="37"/>
                  </a:cubicBezTo>
                  <a:cubicBezTo>
                    <a:pt x="180" y="42"/>
                    <a:pt x="180" y="43"/>
                    <a:pt x="192" y="43"/>
                  </a:cubicBezTo>
                  <a:cubicBezTo>
                    <a:pt x="204" y="43"/>
                    <a:pt x="204" y="43"/>
                    <a:pt x="204" y="49"/>
                  </a:cubicBezTo>
                  <a:cubicBezTo>
                    <a:pt x="204" y="55"/>
                    <a:pt x="205" y="56"/>
                    <a:pt x="211" y="56"/>
                  </a:cubicBezTo>
                  <a:cubicBezTo>
                    <a:pt x="217" y="56"/>
                    <a:pt x="217" y="57"/>
                    <a:pt x="217" y="63"/>
                  </a:cubicBezTo>
                  <a:cubicBezTo>
                    <a:pt x="217" y="68"/>
                    <a:pt x="218" y="69"/>
                    <a:pt x="223" y="69"/>
                  </a:cubicBezTo>
                  <a:cubicBezTo>
                    <a:pt x="227" y="69"/>
                    <a:pt x="228" y="70"/>
                    <a:pt x="228" y="75"/>
                  </a:cubicBezTo>
                  <a:cubicBezTo>
                    <a:pt x="228" y="80"/>
                    <a:pt x="229" y="80"/>
                    <a:pt x="242" y="80"/>
                  </a:cubicBezTo>
                  <a:cubicBezTo>
                    <a:pt x="255" y="80"/>
                    <a:pt x="255" y="80"/>
                    <a:pt x="255" y="87"/>
                  </a:cubicBezTo>
                  <a:cubicBezTo>
                    <a:pt x="255" y="93"/>
                    <a:pt x="256" y="93"/>
                    <a:pt x="262" y="94"/>
                  </a:cubicBezTo>
                  <a:cubicBezTo>
                    <a:pt x="268" y="94"/>
                    <a:pt x="264" y="96"/>
                    <a:pt x="244" y="105"/>
                  </a:cubicBezTo>
                  <a:cubicBezTo>
                    <a:pt x="154" y="144"/>
                    <a:pt x="94" y="180"/>
                    <a:pt x="68" y="211"/>
                  </a:cubicBezTo>
                  <a:cubicBezTo>
                    <a:pt x="65" y="214"/>
                    <a:pt x="60" y="217"/>
                    <a:pt x="58" y="217"/>
                  </a:cubicBezTo>
                  <a:cubicBezTo>
                    <a:pt x="56" y="217"/>
                    <a:pt x="54" y="218"/>
                    <a:pt x="53" y="219"/>
                  </a:cubicBezTo>
                  <a:cubicBezTo>
                    <a:pt x="53" y="220"/>
                    <a:pt x="45" y="224"/>
                    <a:pt x="35" y="228"/>
                  </a:cubicBezTo>
                  <a:cubicBezTo>
                    <a:pt x="22" y="233"/>
                    <a:pt x="16" y="234"/>
                    <a:pt x="12" y="232"/>
                  </a:cubicBezTo>
                  <a:close/>
                  <a:moveTo>
                    <a:pt x="30" y="198"/>
                  </a:moveTo>
                  <a:cubicBezTo>
                    <a:pt x="30" y="194"/>
                    <a:pt x="28" y="193"/>
                    <a:pt x="24" y="193"/>
                  </a:cubicBezTo>
                  <a:cubicBezTo>
                    <a:pt x="20" y="193"/>
                    <a:pt x="19" y="194"/>
                    <a:pt x="19" y="198"/>
                  </a:cubicBezTo>
                  <a:cubicBezTo>
                    <a:pt x="19" y="203"/>
                    <a:pt x="20" y="204"/>
                    <a:pt x="24" y="204"/>
                  </a:cubicBezTo>
                  <a:cubicBezTo>
                    <a:pt x="28" y="204"/>
                    <a:pt x="30" y="203"/>
                    <a:pt x="30" y="198"/>
                  </a:cubicBezTo>
                  <a:close/>
                  <a:moveTo>
                    <a:pt x="142" y="99"/>
                  </a:moveTo>
                  <a:cubicBezTo>
                    <a:pt x="142" y="95"/>
                    <a:pt x="141" y="93"/>
                    <a:pt x="137" y="93"/>
                  </a:cubicBezTo>
                  <a:cubicBezTo>
                    <a:pt x="132" y="93"/>
                    <a:pt x="131" y="95"/>
                    <a:pt x="131" y="99"/>
                  </a:cubicBezTo>
                  <a:cubicBezTo>
                    <a:pt x="131" y="103"/>
                    <a:pt x="132" y="105"/>
                    <a:pt x="137" y="105"/>
                  </a:cubicBezTo>
                  <a:cubicBezTo>
                    <a:pt x="141" y="105"/>
                    <a:pt x="142" y="103"/>
                    <a:pt x="142" y="99"/>
                  </a:cubicBezTo>
                  <a:close/>
                </a:path>
              </a:pathLst>
            </a:custGeom>
            <a:solidFill>
              <a:srgbClr val="A1BDA8"/>
            </a:solidFill>
            <a:ln w="3175" cap="flat">
              <a:solidFill>
                <a:srgbClr val="A1BDA8"/>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sp>
          <p:nvSpPr>
            <p:cNvPr id="151" name="Freeform 32"/>
            <p:cNvSpPr>
              <a:spLocks/>
            </p:cNvSpPr>
            <p:nvPr/>
          </p:nvSpPr>
          <p:spPr bwMode="auto">
            <a:xfrm>
              <a:off x="5294313" y="3776663"/>
              <a:ext cx="123825" cy="209550"/>
            </a:xfrm>
            <a:custGeom>
              <a:avLst/>
              <a:gdLst>
                <a:gd name="T0" fmla="*/ 228 w 331"/>
                <a:gd name="T1" fmla="*/ 533 h 559"/>
                <a:gd name="T2" fmla="*/ 330 w 331"/>
                <a:gd name="T3" fmla="*/ 471 h 559"/>
                <a:gd name="T4" fmla="*/ 275 w 331"/>
                <a:gd name="T5" fmla="*/ 230 h 559"/>
                <a:gd name="T6" fmla="*/ 267 w 331"/>
                <a:gd name="T7" fmla="*/ 30 h 559"/>
                <a:gd name="T8" fmla="*/ 159 w 331"/>
                <a:gd name="T9" fmla="*/ 37 h 559"/>
                <a:gd name="T10" fmla="*/ 210 w 331"/>
                <a:gd name="T11" fmla="*/ 116 h 559"/>
                <a:gd name="T12" fmla="*/ 136 w 331"/>
                <a:gd name="T13" fmla="*/ 165 h 559"/>
                <a:gd name="T14" fmla="*/ 81 w 331"/>
                <a:gd name="T15" fmla="*/ 91 h 559"/>
                <a:gd name="T16" fmla="*/ 180 w 331"/>
                <a:gd name="T17" fmla="*/ 294 h 559"/>
                <a:gd name="T18" fmla="*/ 228 w 331"/>
                <a:gd name="T19" fmla="*/ 533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1" h="559">
                  <a:moveTo>
                    <a:pt x="228" y="533"/>
                  </a:moveTo>
                  <a:cubicBezTo>
                    <a:pt x="228" y="533"/>
                    <a:pt x="315" y="559"/>
                    <a:pt x="330" y="471"/>
                  </a:cubicBezTo>
                  <a:cubicBezTo>
                    <a:pt x="331" y="463"/>
                    <a:pt x="275" y="230"/>
                    <a:pt x="275" y="230"/>
                  </a:cubicBezTo>
                  <a:cubicBezTo>
                    <a:pt x="327" y="137"/>
                    <a:pt x="304" y="55"/>
                    <a:pt x="267" y="30"/>
                  </a:cubicBezTo>
                  <a:cubicBezTo>
                    <a:pt x="223" y="0"/>
                    <a:pt x="159" y="37"/>
                    <a:pt x="159" y="37"/>
                  </a:cubicBezTo>
                  <a:lnTo>
                    <a:pt x="210" y="116"/>
                  </a:lnTo>
                  <a:lnTo>
                    <a:pt x="136" y="165"/>
                  </a:lnTo>
                  <a:lnTo>
                    <a:pt x="81" y="91"/>
                  </a:lnTo>
                  <a:cubicBezTo>
                    <a:pt x="37" y="144"/>
                    <a:pt x="0" y="301"/>
                    <a:pt x="180" y="294"/>
                  </a:cubicBezTo>
                  <a:lnTo>
                    <a:pt x="228" y="533"/>
                  </a:lnTo>
                  <a:close/>
                </a:path>
              </a:pathLst>
            </a:custGeom>
            <a:solidFill>
              <a:srgbClr val="A9B6AC"/>
            </a:solidFill>
            <a:ln w="14288" cap="flat">
              <a:solidFill>
                <a:srgbClr val="445750"/>
              </a:solidFill>
              <a:prstDash val="solid"/>
              <a:miter lim="800000"/>
              <a:headEnd/>
              <a:tailEnd/>
            </a:ln>
          </p:spPr>
          <p:txBody>
            <a:bodyPr vert="horz" wrap="square" lIns="68580" tIns="34290" rIns="68580" bIns="34290" numCol="1" anchor="t" anchorCtr="0" compatLnSpc="1">
              <a:prstTxWarp prst="textNoShape">
                <a:avLst/>
              </a:prstTxWarp>
            </a:bodyPr>
            <a:lstStyle/>
            <a:p>
              <a:endParaRPr lang="en-CA" sz="1200"/>
            </a:p>
          </p:txBody>
        </p:sp>
      </p:grpSp>
    </p:spTree>
    <p:extLst>
      <p:ext uri="{BB962C8B-B14F-4D97-AF65-F5344CB8AC3E}">
        <p14:creationId xmlns:p14="http://schemas.microsoft.com/office/powerpoint/2010/main" val="35315738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Talk Outline</a:t>
            </a:r>
            <a:endParaRPr lang="en-CA" dirty="0"/>
          </a:p>
        </p:txBody>
      </p:sp>
      <p:sp>
        <p:nvSpPr>
          <p:cNvPr id="3" name="Content Placeholder 2"/>
          <p:cNvSpPr>
            <a:spLocks noGrp="1"/>
          </p:cNvSpPr>
          <p:nvPr>
            <p:ph idx="1"/>
          </p:nvPr>
        </p:nvSpPr>
        <p:spPr/>
        <p:txBody>
          <a:bodyPr/>
          <a:lstStyle/>
          <a:p>
            <a:r>
              <a:rPr lang="en-US" dirty="0" smtClean="0"/>
              <a:t>Problem</a:t>
            </a:r>
          </a:p>
          <a:p>
            <a:pPr lvl="1"/>
            <a:r>
              <a:rPr lang="en-US" dirty="0" smtClean="0"/>
              <a:t>Hard to write robust file system applications</a:t>
            </a:r>
          </a:p>
          <a:p>
            <a:r>
              <a:rPr lang="en-US" dirty="0" smtClean="0"/>
              <a:t>Approach</a:t>
            </a:r>
          </a:p>
          <a:p>
            <a:r>
              <a:rPr lang="en-US" dirty="0" smtClean="0"/>
              <a:t>Spiffy Annotations</a:t>
            </a:r>
          </a:p>
          <a:p>
            <a:r>
              <a:rPr lang="en-US" dirty="0" smtClean="0"/>
              <a:t>Spiffy Library</a:t>
            </a:r>
          </a:p>
          <a:p>
            <a:r>
              <a:rPr lang="en-US" dirty="0" smtClean="0"/>
              <a:t>Spiffy Applications</a:t>
            </a:r>
          </a:p>
          <a:p>
            <a:r>
              <a:rPr lang="en-US" dirty="0" smtClean="0"/>
              <a:t>Evaluation</a:t>
            </a:r>
          </a:p>
          <a:p>
            <a:r>
              <a:rPr lang="en-US" dirty="0" smtClean="0"/>
              <a:t>Conclusion</a:t>
            </a:r>
          </a:p>
        </p:txBody>
      </p:sp>
    </p:spTree>
    <p:extLst>
      <p:ext uri="{BB962C8B-B14F-4D97-AF65-F5344CB8AC3E}">
        <p14:creationId xmlns:p14="http://schemas.microsoft.com/office/powerpoint/2010/main" val="2093139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Need for Annotations</a:t>
            </a:r>
            <a:endParaRPr lang="en-CA" dirty="0"/>
          </a:p>
        </p:txBody>
      </p:sp>
      <p:sp>
        <p:nvSpPr>
          <p:cNvPr id="3" name="Content Placeholder 2"/>
          <p:cNvSpPr>
            <a:spLocks noGrp="1"/>
          </p:cNvSpPr>
          <p:nvPr>
            <p:ph idx="1"/>
          </p:nvPr>
        </p:nvSpPr>
        <p:spPr/>
        <p:txBody>
          <a:bodyPr/>
          <a:lstStyle/>
          <a:p>
            <a:r>
              <a:rPr lang="en-CA" dirty="0" smtClean="0"/>
              <a:t>Need complete specification of the file system format</a:t>
            </a:r>
          </a:p>
          <a:p>
            <a:pPr lvl="1"/>
            <a:r>
              <a:rPr lang="en-CA" sz="2000" dirty="0" smtClean="0"/>
              <a:t>Allows type-safe parsing and updates of file system structures</a:t>
            </a:r>
          </a:p>
          <a:p>
            <a:r>
              <a:rPr lang="en-CA" dirty="0" smtClean="0"/>
              <a:t>Challenge</a:t>
            </a:r>
          </a:p>
          <a:p>
            <a:pPr lvl="1"/>
            <a:r>
              <a:rPr lang="en-CA" sz="2000" dirty="0" smtClean="0"/>
              <a:t>Data structure definitions in source files are incomplete</a:t>
            </a:r>
          </a:p>
          <a:p>
            <a:endParaRPr lang="en-CA" sz="1800" dirty="0" smtClean="0"/>
          </a:p>
          <a:p>
            <a:pPr marL="57150" indent="0">
              <a:buNone/>
            </a:pPr>
            <a:endParaRPr lang="en-CA" sz="1800" dirty="0" smtClean="0"/>
          </a:p>
          <a:p>
            <a:pPr marL="57150" indent="0">
              <a:buNone/>
            </a:pPr>
            <a:endParaRPr lang="en-CA" sz="1800" dirty="0" smtClean="0"/>
          </a:p>
          <a:p>
            <a:pPr lvl="1"/>
            <a:r>
              <a:rPr lang="en-CA" sz="2000" dirty="0" err="1" smtClean="0"/>
              <a:t>bar_block_ptr</a:t>
            </a:r>
            <a:r>
              <a:rPr lang="en-CA" sz="2000" dirty="0" smtClean="0"/>
              <a:t> is “probably” </a:t>
            </a:r>
            <a:r>
              <a:rPr lang="en-CA" sz="2000" dirty="0" smtClean="0"/>
              <a:t>a pointer </a:t>
            </a:r>
            <a:r>
              <a:rPr lang="en-CA" sz="2000" dirty="0" smtClean="0"/>
              <a:t>to type “</a:t>
            </a:r>
            <a:r>
              <a:rPr lang="en-CA" sz="2000" dirty="0" err="1" smtClean="0"/>
              <a:t>bar_block</a:t>
            </a:r>
            <a:r>
              <a:rPr lang="en-CA" sz="2000" dirty="0" smtClean="0"/>
              <a:t>”</a:t>
            </a:r>
          </a:p>
          <a:p>
            <a:pPr lvl="1"/>
            <a:r>
              <a:rPr lang="en-CA" sz="2000" dirty="0" smtClean="0"/>
              <a:t>However, its hard to deduce this type information</a:t>
            </a:r>
          </a:p>
          <a:p>
            <a:endParaRPr lang="en-CA" dirty="0"/>
          </a:p>
        </p:txBody>
      </p:sp>
      <p:sp>
        <p:nvSpPr>
          <p:cNvPr id="10" name="Rectangle 9"/>
          <p:cNvSpPr/>
          <p:nvPr/>
        </p:nvSpPr>
        <p:spPr>
          <a:xfrm>
            <a:off x="1066800" y="2454354"/>
            <a:ext cx="3914140" cy="1107996"/>
          </a:xfrm>
          <a:prstGeom prst="rect">
            <a:avLst/>
          </a:prstGeom>
        </p:spPr>
        <p:txBody>
          <a:bodyPr wrap="square">
            <a:spAutoFit/>
          </a:bodyPr>
          <a:lstStyle/>
          <a:p>
            <a:pPr lvl="1"/>
            <a:r>
              <a:rPr lang="en-CA" dirty="0" err="1">
                <a:solidFill>
                  <a:srgbClr val="000000"/>
                </a:solidFill>
                <a:latin typeface="Courier New" panose="02070309020205020404" pitchFamily="49" charset="0"/>
                <a:cs typeface="Courier New" panose="02070309020205020404" pitchFamily="49" charset="0"/>
              </a:rPr>
              <a:t>struct</a:t>
            </a:r>
            <a:r>
              <a:rPr lang="en-CA" dirty="0">
                <a:solidFill>
                  <a:srgbClr val="000000"/>
                </a:solidFill>
                <a:latin typeface="Courier New" panose="02070309020205020404" pitchFamily="49" charset="0"/>
                <a:cs typeface="Courier New" panose="02070309020205020404" pitchFamily="49" charset="0"/>
              </a:rPr>
              <a:t> foo {</a:t>
            </a:r>
          </a:p>
          <a:p>
            <a:pPr lvl="1"/>
            <a:r>
              <a:rPr lang="en-CA" dirty="0">
                <a:solidFill>
                  <a:srgbClr val="000000"/>
                </a:solidFill>
                <a:latin typeface="Courier New" panose="02070309020205020404" pitchFamily="49" charset="0"/>
                <a:cs typeface="Courier New" panose="02070309020205020404" pitchFamily="49" charset="0"/>
              </a:rPr>
              <a:t>    __le32 size;</a:t>
            </a:r>
          </a:p>
          <a:p>
            <a:pPr lvl="1"/>
            <a:r>
              <a:rPr lang="en-CA" dirty="0">
                <a:solidFill>
                  <a:srgbClr val="000000"/>
                </a:solidFill>
                <a:latin typeface="Courier New" panose="02070309020205020404" pitchFamily="49" charset="0"/>
                <a:cs typeface="Courier New" panose="02070309020205020404" pitchFamily="49" charset="0"/>
              </a:rPr>
              <a:t>    __le32 </a:t>
            </a:r>
            <a:r>
              <a:rPr lang="en-CA" dirty="0" err="1">
                <a:solidFill>
                  <a:srgbClr val="000000"/>
                </a:solidFill>
                <a:latin typeface="Courier New" panose="02070309020205020404" pitchFamily="49" charset="0"/>
                <a:cs typeface="Courier New" panose="02070309020205020404" pitchFamily="49" charset="0"/>
              </a:rPr>
              <a:t>bar_block_ptr</a:t>
            </a:r>
            <a:r>
              <a:rPr lang="en-CA" dirty="0">
                <a:solidFill>
                  <a:srgbClr val="000000"/>
                </a:solidFill>
                <a:latin typeface="Courier New" panose="02070309020205020404" pitchFamily="49" charset="0"/>
                <a:cs typeface="Courier New" panose="02070309020205020404" pitchFamily="49" charset="0"/>
              </a:rPr>
              <a:t>;</a:t>
            </a:r>
          </a:p>
          <a:p>
            <a:pPr lvl="1"/>
            <a:r>
              <a:rPr lang="en-CA" dirty="0">
                <a:solidFill>
                  <a:srgbClr val="000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43089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Need for Annotations</a:t>
            </a:r>
            <a:endParaRPr lang="en-CA" dirty="0"/>
          </a:p>
        </p:txBody>
      </p:sp>
      <p:sp>
        <p:nvSpPr>
          <p:cNvPr id="3" name="Content Placeholder 2"/>
          <p:cNvSpPr>
            <a:spLocks noGrp="1"/>
          </p:cNvSpPr>
          <p:nvPr>
            <p:ph idx="1"/>
          </p:nvPr>
        </p:nvSpPr>
        <p:spPr/>
        <p:txBody>
          <a:bodyPr/>
          <a:lstStyle/>
          <a:p>
            <a:r>
              <a:rPr lang="en-CA" dirty="0" smtClean="0"/>
              <a:t>Solution</a:t>
            </a:r>
          </a:p>
          <a:p>
            <a:pPr lvl="1"/>
            <a:r>
              <a:rPr lang="en-CA" dirty="0" smtClean="0"/>
              <a:t>Annotate structures to supply missing information</a:t>
            </a:r>
          </a:p>
          <a:p>
            <a:pPr lvl="1"/>
            <a:endParaRPr lang="en-CA" dirty="0" smtClean="0"/>
          </a:p>
          <a:p>
            <a:pPr lvl="1"/>
            <a:endParaRPr lang="en-CA" dirty="0" smtClean="0"/>
          </a:p>
          <a:p>
            <a:pPr lvl="1"/>
            <a:endParaRPr lang="en-CA" dirty="0" smtClean="0"/>
          </a:p>
        </p:txBody>
      </p:sp>
      <p:sp>
        <p:nvSpPr>
          <p:cNvPr id="8" name="Rectangle 7"/>
          <p:cNvSpPr/>
          <p:nvPr/>
        </p:nvSpPr>
        <p:spPr>
          <a:xfrm>
            <a:off x="728662" y="2114550"/>
            <a:ext cx="6649304" cy="1615827"/>
          </a:xfrm>
          <a:prstGeom prst="rect">
            <a:avLst/>
          </a:prstGeom>
        </p:spPr>
        <p:txBody>
          <a:bodyPr wrap="square">
            <a:spAutoFit/>
          </a:bodyPr>
          <a:lstStyle/>
          <a:p>
            <a:pPr lvl="1"/>
            <a:r>
              <a:rPr lang="en-CA" sz="1650" b="1" dirty="0">
                <a:solidFill>
                  <a:srgbClr val="000000"/>
                </a:solidFill>
                <a:latin typeface="Courier New" panose="02070309020205020404" pitchFamily="49" charset="0"/>
                <a:cs typeface="Courier New" panose="02070309020205020404" pitchFamily="49" charset="0"/>
              </a:rPr>
              <a:t>FSSTRUCT() </a:t>
            </a:r>
            <a:r>
              <a:rPr lang="en-CA" sz="1650" dirty="0">
                <a:solidFill>
                  <a:srgbClr val="000000"/>
                </a:solidFill>
                <a:latin typeface="Courier New" panose="02070309020205020404" pitchFamily="49" charset="0"/>
                <a:cs typeface="Courier New" panose="02070309020205020404" pitchFamily="49" charset="0"/>
              </a:rPr>
              <a:t>foo {</a:t>
            </a:r>
          </a:p>
          <a:p>
            <a:pPr lvl="1"/>
            <a:r>
              <a:rPr lang="en-CA" sz="1650" dirty="0">
                <a:solidFill>
                  <a:srgbClr val="000000"/>
                </a:solidFill>
                <a:latin typeface="Courier New" panose="02070309020205020404" pitchFamily="49" charset="0"/>
                <a:cs typeface="Courier New" panose="02070309020205020404" pitchFamily="49" charset="0"/>
              </a:rPr>
              <a:t>    __le32 size;</a:t>
            </a:r>
          </a:p>
          <a:p>
            <a:pPr lvl="1"/>
            <a:endParaRPr lang="en-CA" sz="1650" dirty="0">
              <a:solidFill>
                <a:srgbClr val="000000"/>
              </a:solidFill>
              <a:latin typeface="Courier New" panose="02070309020205020404" pitchFamily="49" charset="0"/>
              <a:cs typeface="Courier New" panose="02070309020205020404" pitchFamily="49" charset="0"/>
            </a:endParaRPr>
          </a:p>
          <a:p>
            <a:pPr lvl="1"/>
            <a:r>
              <a:rPr lang="en-CA" sz="1650" dirty="0">
                <a:solidFill>
                  <a:srgbClr val="000000"/>
                </a:solidFill>
                <a:latin typeface="Courier New" panose="02070309020205020404" pitchFamily="49" charset="0"/>
                <a:cs typeface="Courier New" panose="02070309020205020404" pitchFamily="49" charset="0"/>
              </a:rPr>
              <a:t>    </a:t>
            </a:r>
            <a:r>
              <a:rPr lang="en-CA" sz="1650" b="1" dirty="0">
                <a:solidFill>
                  <a:srgbClr val="000000"/>
                </a:solidFill>
                <a:latin typeface="Courier New" panose="02070309020205020404" pitchFamily="49" charset="0"/>
                <a:cs typeface="Courier New" panose="02070309020205020404" pitchFamily="49" charset="0"/>
              </a:rPr>
              <a:t>POINTER</a:t>
            </a:r>
            <a:r>
              <a:rPr lang="en-CA" sz="1650" dirty="0">
                <a:solidFill>
                  <a:srgbClr val="000000"/>
                </a:solidFill>
                <a:latin typeface="Courier New" panose="02070309020205020404" pitchFamily="49" charset="0"/>
                <a:cs typeface="Courier New" panose="02070309020205020404" pitchFamily="49" charset="0"/>
              </a:rPr>
              <a:t>(..., type=</a:t>
            </a:r>
            <a:r>
              <a:rPr lang="en-CA" sz="1650" dirty="0" err="1">
                <a:solidFill>
                  <a:srgbClr val="000000"/>
                </a:solidFill>
                <a:latin typeface="Courier New" panose="02070309020205020404" pitchFamily="49" charset="0"/>
                <a:cs typeface="Courier New" panose="02070309020205020404" pitchFamily="49" charset="0"/>
              </a:rPr>
              <a:t>bar_block</a:t>
            </a:r>
            <a:r>
              <a:rPr lang="en-CA" sz="1650" dirty="0">
                <a:solidFill>
                  <a:srgbClr val="000000"/>
                </a:solidFill>
                <a:latin typeface="Courier New" panose="02070309020205020404" pitchFamily="49" charset="0"/>
                <a:cs typeface="Courier New" panose="02070309020205020404" pitchFamily="49" charset="0"/>
              </a:rPr>
              <a:t>)</a:t>
            </a:r>
          </a:p>
          <a:p>
            <a:pPr lvl="1"/>
            <a:r>
              <a:rPr lang="en-CA" sz="1650" dirty="0">
                <a:solidFill>
                  <a:srgbClr val="000000"/>
                </a:solidFill>
                <a:latin typeface="Courier New" panose="02070309020205020404" pitchFamily="49" charset="0"/>
                <a:cs typeface="Courier New" panose="02070309020205020404" pitchFamily="49" charset="0"/>
              </a:rPr>
              <a:t>    __le32 </a:t>
            </a:r>
            <a:r>
              <a:rPr lang="en-CA" sz="1650" dirty="0" err="1">
                <a:solidFill>
                  <a:srgbClr val="000000"/>
                </a:solidFill>
                <a:latin typeface="Courier New" panose="02070309020205020404" pitchFamily="49" charset="0"/>
                <a:cs typeface="Courier New" panose="02070309020205020404" pitchFamily="49" charset="0"/>
              </a:rPr>
              <a:t>bar_block_ptr</a:t>
            </a:r>
            <a:r>
              <a:rPr lang="en-CA" sz="1650" dirty="0">
                <a:solidFill>
                  <a:srgbClr val="000000"/>
                </a:solidFill>
                <a:latin typeface="Courier New" panose="02070309020205020404" pitchFamily="49" charset="0"/>
                <a:cs typeface="Courier New" panose="02070309020205020404" pitchFamily="49" charset="0"/>
              </a:rPr>
              <a:t>;</a:t>
            </a:r>
          </a:p>
          <a:p>
            <a:pPr lvl="1"/>
            <a:r>
              <a:rPr lang="en-CA" sz="1650" dirty="0" smtClean="0">
                <a:solidFill>
                  <a:srgbClr val="000000"/>
                </a:solidFill>
                <a:latin typeface="Courier New" panose="02070309020205020404" pitchFamily="49" charset="0"/>
                <a:cs typeface="Courier New" panose="02070309020205020404" pitchFamily="49" charset="0"/>
              </a:rPr>
              <a:t>};</a:t>
            </a:r>
            <a:endParaRPr lang="en-CA" sz="165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046490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Need for Annotations</a:t>
            </a:r>
            <a:endParaRPr lang="en-CA" dirty="0"/>
          </a:p>
        </p:txBody>
      </p:sp>
      <p:sp>
        <p:nvSpPr>
          <p:cNvPr id="3" name="Content Placeholder 2"/>
          <p:cNvSpPr>
            <a:spLocks noGrp="1"/>
          </p:cNvSpPr>
          <p:nvPr>
            <p:ph idx="1"/>
          </p:nvPr>
        </p:nvSpPr>
        <p:spPr/>
        <p:txBody>
          <a:bodyPr/>
          <a:lstStyle/>
          <a:p>
            <a:r>
              <a:rPr lang="en-CA" dirty="0" smtClean="0"/>
              <a:t>Solution</a:t>
            </a:r>
          </a:p>
          <a:p>
            <a:pPr lvl="1"/>
            <a:r>
              <a:rPr lang="en-CA" dirty="0" smtClean="0"/>
              <a:t>Annotate structures to supply missing information</a:t>
            </a:r>
          </a:p>
          <a:p>
            <a:pPr lvl="1"/>
            <a:endParaRPr lang="en-CA" dirty="0" smtClean="0"/>
          </a:p>
          <a:p>
            <a:pPr lvl="1"/>
            <a:endParaRPr lang="en-CA" dirty="0" smtClean="0"/>
          </a:p>
          <a:p>
            <a:pPr lvl="1"/>
            <a:endParaRPr lang="en-CA" dirty="0" smtClean="0"/>
          </a:p>
        </p:txBody>
      </p:sp>
      <p:sp>
        <p:nvSpPr>
          <p:cNvPr id="8" name="Rectangle 7"/>
          <p:cNvSpPr/>
          <p:nvPr/>
        </p:nvSpPr>
        <p:spPr>
          <a:xfrm>
            <a:off x="728662" y="2114550"/>
            <a:ext cx="6649304" cy="1615827"/>
          </a:xfrm>
          <a:prstGeom prst="rect">
            <a:avLst/>
          </a:prstGeom>
        </p:spPr>
        <p:txBody>
          <a:bodyPr wrap="square">
            <a:spAutoFit/>
          </a:bodyPr>
          <a:lstStyle/>
          <a:p>
            <a:pPr lvl="1"/>
            <a:r>
              <a:rPr lang="en-CA" sz="1650" b="1"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FSSTRUCT() </a:t>
            </a:r>
            <a:r>
              <a:rPr lang="en-CA" sz="165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foo </a:t>
            </a:r>
            <a:r>
              <a:rPr lang="en-CA" sz="1650" dirty="0">
                <a:solidFill>
                  <a:srgbClr val="000000"/>
                </a:solidFill>
                <a:latin typeface="Courier New" panose="02070309020205020404" pitchFamily="49" charset="0"/>
                <a:cs typeface="Courier New" panose="02070309020205020404" pitchFamily="49" charset="0"/>
              </a:rPr>
              <a:t>{</a:t>
            </a:r>
          </a:p>
          <a:p>
            <a:pPr lvl="1"/>
            <a:r>
              <a:rPr lang="en-CA" sz="1650" dirty="0">
                <a:solidFill>
                  <a:srgbClr val="000000"/>
                </a:solidFill>
                <a:latin typeface="Courier New" panose="02070309020205020404" pitchFamily="49" charset="0"/>
                <a:cs typeface="Courier New" panose="02070309020205020404" pitchFamily="49" charset="0"/>
              </a:rPr>
              <a:t>    __le32 size;</a:t>
            </a:r>
          </a:p>
          <a:p>
            <a:pPr lvl="1"/>
            <a:endParaRPr lang="en-CA" sz="1650" dirty="0">
              <a:solidFill>
                <a:srgbClr val="000000"/>
              </a:solidFill>
              <a:latin typeface="Courier New" panose="02070309020205020404" pitchFamily="49" charset="0"/>
              <a:cs typeface="Courier New" panose="02070309020205020404" pitchFamily="49" charset="0"/>
            </a:endParaRPr>
          </a:p>
          <a:p>
            <a:pPr lvl="1"/>
            <a:r>
              <a:rPr lang="en-CA" sz="1650" dirty="0">
                <a:solidFill>
                  <a:srgbClr val="000000"/>
                </a:solidFill>
                <a:latin typeface="Courier New" panose="02070309020205020404" pitchFamily="49" charset="0"/>
                <a:cs typeface="Courier New" panose="02070309020205020404" pitchFamily="49" charset="0"/>
              </a:rPr>
              <a:t>    </a:t>
            </a:r>
            <a:r>
              <a:rPr lang="en-CA" sz="1650" b="1" dirty="0">
                <a:solidFill>
                  <a:srgbClr val="000000"/>
                </a:solidFill>
                <a:latin typeface="Courier New" panose="02070309020205020404" pitchFamily="49" charset="0"/>
                <a:cs typeface="Courier New" panose="02070309020205020404" pitchFamily="49" charset="0"/>
              </a:rPr>
              <a:t>POINTER</a:t>
            </a:r>
            <a:r>
              <a:rPr lang="en-CA" sz="1650" dirty="0">
                <a:solidFill>
                  <a:srgbClr val="000000"/>
                </a:solidFill>
                <a:latin typeface="Courier New" panose="02070309020205020404" pitchFamily="49" charset="0"/>
                <a:cs typeface="Courier New" panose="02070309020205020404" pitchFamily="49" charset="0"/>
              </a:rPr>
              <a:t>(..., type=</a:t>
            </a:r>
            <a:r>
              <a:rPr lang="en-CA" sz="1650" dirty="0" err="1">
                <a:solidFill>
                  <a:srgbClr val="000000"/>
                </a:solidFill>
                <a:latin typeface="Courier New" panose="02070309020205020404" pitchFamily="49" charset="0"/>
                <a:cs typeface="Courier New" panose="02070309020205020404" pitchFamily="49" charset="0"/>
              </a:rPr>
              <a:t>bar_block</a:t>
            </a:r>
            <a:r>
              <a:rPr lang="en-CA" sz="1650" dirty="0">
                <a:solidFill>
                  <a:srgbClr val="000000"/>
                </a:solidFill>
                <a:latin typeface="Courier New" panose="02070309020205020404" pitchFamily="49" charset="0"/>
                <a:cs typeface="Courier New" panose="02070309020205020404" pitchFamily="49" charset="0"/>
              </a:rPr>
              <a:t>)</a:t>
            </a:r>
          </a:p>
          <a:p>
            <a:pPr lvl="1"/>
            <a:r>
              <a:rPr lang="en-CA" sz="1650" dirty="0">
                <a:solidFill>
                  <a:srgbClr val="000000"/>
                </a:solidFill>
                <a:latin typeface="Courier New" panose="02070309020205020404" pitchFamily="49" charset="0"/>
                <a:cs typeface="Courier New" panose="02070309020205020404" pitchFamily="49" charset="0"/>
              </a:rPr>
              <a:t>    __le32 </a:t>
            </a:r>
            <a:r>
              <a:rPr lang="en-CA" sz="1650" dirty="0" err="1">
                <a:solidFill>
                  <a:srgbClr val="000000"/>
                </a:solidFill>
                <a:latin typeface="Courier New" panose="02070309020205020404" pitchFamily="49" charset="0"/>
                <a:cs typeface="Courier New" panose="02070309020205020404" pitchFamily="49" charset="0"/>
              </a:rPr>
              <a:t>bar_block_ptr</a:t>
            </a:r>
            <a:r>
              <a:rPr lang="en-CA" sz="1650" dirty="0">
                <a:solidFill>
                  <a:srgbClr val="000000"/>
                </a:solidFill>
                <a:latin typeface="Courier New" panose="02070309020205020404" pitchFamily="49" charset="0"/>
                <a:cs typeface="Courier New" panose="02070309020205020404" pitchFamily="49" charset="0"/>
              </a:rPr>
              <a:t>;</a:t>
            </a:r>
          </a:p>
          <a:p>
            <a:pPr lvl="1"/>
            <a:r>
              <a:rPr lang="en-CA" sz="1650" dirty="0" smtClean="0">
                <a:solidFill>
                  <a:srgbClr val="000000"/>
                </a:solidFill>
                <a:latin typeface="Courier New" panose="02070309020205020404" pitchFamily="49" charset="0"/>
                <a:cs typeface="Courier New" panose="02070309020205020404" pitchFamily="49" charset="0"/>
              </a:rPr>
              <a:t>};</a:t>
            </a:r>
            <a:endParaRPr lang="en-CA" sz="165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299990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Need for Annotations</a:t>
            </a:r>
            <a:endParaRPr lang="en-CA" dirty="0"/>
          </a:p>
        </p:txBody>
      </p:sp>
      <p:sp>
        <p:nvSpPr>
          <p:cNvPr id="3" name="Content Placeholder 2"/>
          <p:cNvSpPr>
            <a:spLocks noGrp="1"/>
          </p:cNvSpPr>
          <p:nvPr>
            <p:ph idx="1"/>
          </p:nvPr>
        </p:nvSpPr>
        <p:spPr/>
        <p:txBody>
          <a:bodyPr/>
          <a:lstStyle/>
          <a:p>
            <a:r>
              <a:rPr lang="en-CA" dirty="0" smtClean="0"/>
              <a:t>Solution</a:t>
            </a:r>
          </a:p>
          <a:p>
            <a:pPr lvl="1"/>
            <a:r>
              <a:rPr lang="en-CA" dirty="0" smtClean="0"/>
              <a:t>Annotate structures to supply missing information</a:t>
            </a:r>
          </a:p>
          <a:p>
            <a:pPr lvl="1"/>
            <a:endParaRPr lang="en-CA" dirty="0" smtClean="0"/>
          </a:p>
          <a:p>
            <a:pPr lvl="1"/>
            <a:endParaRPr lang="en-CA" dirty="0" smtClean="0"/>
          </a:p>
          <a:p>
            <a:pPr lvl="1"/>
            <a:endParaRPr lang="en-CA" dirty="0" smtClean="0"/>
          </a:p>
        </p:txBody>
      </p:sp>
      <p:sp>
        <p:nvSpPr>
          <p:cNvPr id="5" name="Rectangle 4"/>
          <p:cNvSpPr/>
          <p:nvPr/>
        </p:nvSpPr>
        <p:spPr>
          <a:xfrm>
            <a:off x="728662" y="2114550"/>
            <a:ext cx="6649304" cy="1615827"/>
          </a:xfrm>
          <a:prstGeom prst="rect">
            <a:avLst/>
          </a:prstGeom>
        </p:spPr>
        <p:txBody>
          <a:bodyPr wrap="square">
            <a:spAutoFit/>
          </a:bodyPr>
          <a:lstStyle/>
          <a:p>
            <a:pPr lvl="1"/>
            <a:r>
              <a:rPr lang="en-CA" sz="1650" b="1" dirty="0">
                <a:solidFill>
                  <a:srgbClr val="000000"/>
                </a:solidFill>
                <a:latin typeface="Courier New" panose="02070309020205020404" pitchFamily="49" charset="0"/>
                <a:cs typeface="Courier New" panose="02070309020205020404" pitchFamily="49" charset="0"/>
              </a:rPr>
              <a:t>FSSTRUCT() </a:t>
            </a:r>
            <a:r>
              <a:rPr lang="en-CA" sz="1650" dirty="0">
                <a:solidFill>
                  <a:srgbClr val="000000"/>
                </a:solidFill>
                <a:latin typeface="Courier New" panose="02070309020205020404" pitchFamily="49" charset="0"/>
                <a:cs typeface="Courier New" panose="02070309020205020404" pitchFamily="49" charset="0"/>
              </a:rPr>
              <a:t>foo {</a:t>
            </a:r>
          </a:p>
          <a:p>
            <a:pPr lvl="1"/>
            <a:r>
              <a:rPr lang="en-CA" sz="1650" dirty="0">
                <a:solidFill>
                  <a:srgbClr val="000000"/>
                </a:solidFill>
                <a:latin typeface="Courier New" panose="02070309020205020404" pitchFamily="49" charset="0"/>
                <a:cs typeface="Courier New" panose="02070309020205020404" pitchFamily="49" charset="0"/>
              </a:rPr>
              <a:t>    __le32 size;</a:t>
            </a:r>
          </a:p>
          <a:p>
            <a:pPr lvl="1"/>
            <a:endParaRPr lang="en-CA" sz="1650" dirty="0">
              <a:solidFill>
                <a:srgbClr val="000000"/>
              </a:solidFill>
              <a:latin typeface="Courier New" panose="02070309020205020404" pitchFamily="49" charset="0"/>
              <a:cs typeface="Courier New" panose="02070309020205020404" pitchFamily="49" charset="0"/>
            </a:endParaRPr>
          </a:p>
          <a:p>
            <a:pPr lvl="1"/>
            <a:r>
              <a:rPr lang="en-CA" sz="1650" dirty="0">
                <a:solidFill>
                  <a:srgbClr val="000000"/>
                </a:solidFill>
                <a:latin typeface="Courier New" panose="02070309020205020404" pitchFamily="49" charset="0"/>
                <a:cs typeface="Courier New" panose="02070309020205020404" pitchFamily="49" charset="0"/>
              </a:rPr>
              <a:t>    </a:t>
            </a:r>
            <a:r>
              <a:rPr lang="en-CA" sz="1650" b="1"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POINTER</a:t>
            </a:r>
            <a:r>
              <a:rPr lang="en-CA" sz="165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type=</a:t>
            </a:r>
            <a:r>
              <a:rPr lang="en-CA" sz="1650"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bar_block</a:t>
            </a:r>
            <a:r>
              <a:rPr lang="en-CA" sz="165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p>
          <a:p>
            <a:pPr lvl="1"/>
            <a:r>
              <a:rPr lang="en-CA" sz="165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__le32 </a:t>
            </a:r>
            <a:r>
              <a:rPr lang="en-CA" sz="1650"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bar_block_ptr</a:t>
            </a:r>
            <a:r>
              <a:rPr lang="en-CA" sz="165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p>
          <a:p>
            <a:pPr lvl="1"/>
            <a:r>
              <a:rPr lang="en-CA" sz="1650" dirty="0" smtClean="0">
                <a:solidFill>
                  <a:srgbClr val="000000"/>
                </a:solidFill>
                <a:latin typeface="Courier New" panose="02070309020205020404" pitchFamily="49" charset="0"/>
                <a:cs typeface="Courier New" panose="02070309020205020404" pitchFamily="49" charset="0"/>
              </a:rPr>
              <a:t>};</a:t>
            </a:r>
            <a:endParaRPr lang="en-CA" sz="165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627536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Pointer Annotations</a:t>
            </a:r>
            <a:endParaRPr lang="en-CA" dirty="0"/>
          </a:p>
        </p:txBody>
      </p:sp>
      <p:sp>
        <p:nvSpPr>
          <p:cNvPr id="180" name="TextBox 179"/>
          <p:cNvSpPr txBox="1"/>
          <p:nvPr/>
        </p:nvSpPr>
        <p:spPr>
          <a:xfrm>
            <a:off x="6015685" y="1392566"/>
            <a:ext cx="1980029" cy="646331"/>
          </a:xfrm>
          <a:prstGeom prst="rect">
            <a:avLst/>
          </a:prstGeom>
          <a:noFill/>
        </p:spPr>
        <p:txBody>
          <a:bodyPr wrap="none" rtlCol="0">
            <a:spAutoFit/>
          </a:bodyPr>
          <a:lstStyle/>
          <a:p>
            <a:r>
              <a:rPr lang="en-CA" sz="1800" dirty="0">
                <a:solidFill>
                  <a:srgbClr val="000000"/>
                </a:solidFill>
              </a:rPr>
              <a:t>Ext4 File System </a:t>
            </a:r>
            <a:br>
              <a:rPr lang="en-CA" sz="1800" dirty="0">
                <a:solidFill>
                  <a:srgbClr val="000000"/>
                </a:solidFill>
              </a:rPr>
            </a:br>
            <a:r>
              <a:rPr lang="en-CA" sz="1800" dirty="0">
                <a:solidFill>
                  <a:srgbClr val="000000"/>
                </a:solidFill>
              </a:rPr>
              <a:t>Metadata Tree</a:t>
            </a:r>
          </a:p>
        </p:txBody>
      </p:sp>
      <p:sp>
        <p:nvSpPr>
          <p:cNvPr id="102" name="Rectangle 101"/>
          <p:cNvSpPr/>
          <p:nvPr/>
        </p:nvSpPr>
        <p:spPr>
          <a:xfrm>
            <a:off x="572587" y="2954229"/>
            <a:ext cx="884822" cy="705624"/>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block</a:t>
            </a:r>
          </a:p>
          <a:p>
            <a:pPr algn="ctr"/>
            <a:r>
              <a:rPr lang="en-CA" altLang="zh-TW" sz="1200" dirty="0">
                <a:solidFill>
                  <a:srgbClr val="000000"/>
                </a:solidFill>
              </a:rPr>
              <a:t>bitmap</a:t>
            </a:r>
            <a:endParaRPr lang="zh-TW" altLang="en-US" sz="1200" dirty="0">
              <a:solidFill>
                <a:srgbClr val="000000"/>
              </a:solidFill>
            </a:endParaRPr>
          </a:p>
        </p:txBody>
      </p:sp>
      <p:cxnSp>
        <p:nvCxnSpPr>
          <p:cNvPr id="98" name="Straight Arrow Connector 97"/>
          <p:cNvCxnSpPr/>
          <p:nvPr/>
        </p:nvCxnSpPr>
        <p:spPr>
          <a:xfrm>
            <a:off x="1007143" y="1410666"/>
            <a:ext cx="0" cy="344239"/>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572585" y="905676"/>
            <a:ext cx="827413" cy="504126"/>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super</a:t>
            </a:r>
          </a:p>
          <a:p>
            <a:pPr algn="ctr"/>
            <a:r>
              <a:rPr lang="en-CA" altLang="zh-TW" sz="1200" dirty="0">
                <a:solidFill>
                  <a:srgbClr val="000000"/>
                </a:solidFill>
              </a:rPr>
              <a:t>block</a:t>
            </a:r>
            <a:endParaRPr lang="zh-TW" altLang="en-US" sz="1200" dirty="0">
              <a:solidFill>
                <a:srgbClr val="000000"/>
              </a:solidFill>
            </a:endParaRPr>
          </a:p>
        </p:txBody>
      </p:sp>
      <p:sp>
        <p:nvSpPr>
          <p:cNvPr id="109" name="Rectangle 108"/>
          <p:cNvSpPr/>
          <p:nvPr/>
        </p:nvSpPr>
        <p:spPr>
          <a:xfrm>
            <a:off x="2573236" y="905676"/>
            <a:ext cx="2390456" cy="504126"/>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ext4 journal</a:t>
            </a:r>
            <a:endParaRPr lang="zh-TW" altLang="en-US" sz="1200" dirty="0">
              <a:solidFill>
                <a:srgbClr val="000000"/>
              </a:solidFill>
            </a:endParaRPr>
          </a:p>
        </p:txBody>
      </p:sp>
      <p:cxnSp>
        <p:nvCxnSpPr>
          <p:cNvPr id="112" name="Straight Arrow Connector 111"/>
          <p:cNvCxnSpPr>
            <a:stCxn id="100" idx="3"/>
            <a:endCxn id="109" idx="1"/>
          </p:cNvCxnSpPr>
          <p:nvPr/>
        </p:nvCxnSpPr>
        <p:spPr>
          <a:xfrm>
            <a:off x="1399997" y="1157739"/>
            <a:ext cx="1173239" cy="0"/>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6" name="Rectangle 115"/>
          <p:cNvSpPr/>
          <p:nvPr/>
        </p:nvSpPr>
        <p:spPr>
          <a:xfrm>
            <a:off x="572584" y="1754905"/>
            <a:ext cx="4391108" cy="794858"/>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117" name="Rectangle 116"/>
          <p:cNvSpPr/>
          <p:nvPr/>
        </p:nvSpPr>
        <p:spPr>
          <a:xfrm>
            <a:off x="635371" y="1820505"/>
            <a:ext cx="1501506" cy="47388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block group descriptor table</a:t>
            </a:r>
          </a:p>
        </p:txBody>
      </p:sp>
      <p:cxnSp>
        <p:nvCxnSpPr>
          <p:cNvPr id="97" name="Straight Arrow Connector 96"/>
          <p:cNvCxnSpPr>
            <a:stCxn id="21" idx="2"/>
            <a:endCxn id="102" idx="0"/>
          </p:cNvCxnSpPr>
          <p:nvPr/>
        </p:nvCxnSpPr>
        <p:spPr>
          <a:xfrm rot="5400000">
            <a:off x="1518799" y="1984780"/>
            <a:ext cx="465649" cy="1473249"/>
          </a:xfrm>
          <a:prstGeom prst="bentConnector3">
            <a:avLst>
              <a:gd name="adj1" fmla="val 27958"/>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3" name="Rectangle 122"/>
          <p:cNvSpPr/>
          <p:nvPr/>
        </p:nvSpPr>
        <p:spPr>
          <a:xfrm>
            <a:off x="2573236" y="2954229"/>
            <a:ext cx="3636206" cy="705624"/>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124" name="Rectangle 123"/>
          <p:cNvSpPr/>
          <p:nvPr/>
        </p:nvSpPr>
        <p:spPr>
          <a:xfrm>
            <a:off x="2628021" y="3086021"/>
            <a:ext cx="632378" cy="4455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000000"/>
                </a:solidFill>
              </a:rPr>
              <a:t>inode</a:t>
            </a:r>
            <a:r>
              <a:rPr lang="en-US" sz="1200" dirty="0">
                <a:solidFill>
                  <a:srgbClr val="000000"/>
                </a:solidFill>
              </a:rPr>
              <a:t> </a:t>
            </a:r>
            <a:r>
              <a:rPr lang="en-US" sz="1200" dirty="0" smtClean="0">
                <a:solidFill>
                  <a:srgbClr val="000000"/>
                </a:solidFill>
              </a:rPr>
              <a:t>table</a:t>
            </a:r>
            <a:endParaRPr lang="en-US" sz="1200" dirty="0">
              <a:solidFill>
                <a:srgbClr val="000000"/>
              </a:solidFill>
            </a:endParaRPr>
          </a:p>
        </p:txBody>
      </p:sp>
      <p:cxnSp>
        <p:nvCxnSpPr>
          <p:cNvPr id="130" name="Straight Arrow Connector 96"/>
          <p:cNvCxnSpPr>
            <a:stCxn id="94" idx="2"/>
            <a:endCxn id="71" idx="0"/>
          </p:cNvCxnSpPr>
          <p:nvPr/>
        </p:nvCxnSpPr>
        <p:spPr>
          <a:xfrm rot="5400000">
            <a:off x="2146661" y="2356788"/>
            <a:ext cx="479824" cy="715059"/>
          </a:xfrm>
          <a:prstGeom prst="bentConnector3">
            <a:avLst>
              <a:gd name="adj1" fmla="val 59723"/>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96"/>
          <p:cNvCxnSpPr/>
          <p:nvPr/>
        </p:nvCxnSpPr>
        <p:spPr>
          <a:xfrm>
            <a:off x="2968760" y="2466790"/>
            <a:ext cx="3040" cy="485960"/>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5" name="Rounded Rectangle 94"/>
          <p:cNvSpPr/>
          <p:nvPr/>
        </p:nvSpPr>
        <p:spPr>
          <a:xfrm>
            <a:off x="3332788" y="3008710"/>
            <a:ext cx="724043" cy="59666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a:t>
            </a:r>
            <a:r>
              <a:rPr lang="en-US" altLang="zh-TW" sz="1200" dirty="0" err="1">
                <a:solidFill>
                  <a:srgbClr val="000000"/>
                </a:solidFill>
              </a:rPr>
              <a:t>reg</a:t>
            </a:r>
            <a:r>
              <a:rPr lang="en-US" altLang="zh-TW" sz="1200" dirty="0">
                <a:solidFill>
                  <a:srgbClr val="000000"/>
                </a:solidFill>
              </a:rPr>
              <a:t> file)</a:t>
            </a:r>
            <a:endParaRPr lang="zh-TW" altLang="en-US" sz="1200" dirty="0">
              <a:solidFill>
                <a:srgbClr val="000000"/>
              </a:solidFill>
            </a:endParaRPr>
          </a:p>
        </p:txBody>
      </p:sp>
      <p:sp>
        <p:nvSpPr>
          <p:cNvPr id="138" name="Rounded Rectangle 137"/>
          <p:cNvSpPr/>
          <p:nvPr/>
        </p:nvSpPr>
        <p:spPr>
          <a:xfrm>
            <a:off x="5146213" y="3008710"/>
            <a:ext cx="911532" cy="59666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(directory)</a:t>
            </a:r>
            <a:endParaRPr lang="zh-TW" altLang="en-US" sz="1200" dirty="0">
              <a:solidFill>
                <a:srgbClr val="000000"/>
              </a:solidFill>
            </a:endParaRPr>
          </a:p>
        </p:txBody>
      </p:sp>
      <p:sp>
        <p:nvSpPr>
          <p:cNvPr id="139" name="TextBox 138"/>
          <p:cNvSpPr txBox="1"/>
          <p:nvPr/>
        </p:nvSpPr>
        <p:spPr>
          <a:xfrm>
            <a:off x="4419600" y="1819930"/>
            <a:ext cx="543739" cy="523220"/>
          </a:xfrm>
          <a:prstGeom prst="rect">
            <a:avLst/>
          </a:prstGeom>
          <a:noFill/>
        </p:spPr>
        <p:txBody>
          <a:bodyPr wrap="none" rtlCol="0">
            <a:spAutoFit/>
          </a:bodyPr>
          <a:lstStyle/>
          <a:p>
            <a:r>
              <a:rPr lang="en-CA" sz="2800" dirty="0">
                <a:solidFill>
                  <a:srgbClr val="000000"/>
                </a:solidFill>
              </a:rPr>
              <a:t>…</a:t>
            </a:r>
          </a:p>
        </p:txBody>
      </p:sp>
      <p:sp>
        <p:nvSpPr>
          <p:cNvPr id="140" name="TextBox 139"/>
          <p:cNvSpPr txBox="1"/>
          <p:nvPr/>
        </p:nvSpPr>
        <p:spPr>
          <a:xfrm>
            <a:off x="4343400" y="2952750"/>
            <a:ext cx="543739" cy="523220"/>
          </a:xfrm>
          <a:prstGeom prst="rect">
            <a:avLst/>
          </a:prstGeom>
          <a:noFill/>
          <a:ln>
            <a:noFill/>
          </a:ln>
        </p:spPr>
        <p:txBody>
          <a:bodyPr wrap="none" rtlCol="0">
            <a:spAutoFit/>
          </a:bodyPr>
          <a:lstStyle/>
          <a:p>
            <a:r>
              <a:rPr lang="en-CA" sz="2800" dirty="0">
                <a:solidFill>
                  <a:srgbClr val="000000"/>
                </a:solidFill>
              </a:rPr>
              <a:t>…</a:t>
            </a:r>
          </a:p>
        </p:txBody>
      </p:sp>
      <p:sp>
        <p:nvSpPr>
          <p:cNvPr id="142" name="Rectangle 141"/>
          <p:cNvSpPr/>
          <p:nvPr/>
        </p:nvSpPr>
        <p:spPr>
          <a:xfrm>
            <a:off x="5188272" y="3923091"/>
            <a:ext cx="827413" cy="54606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dir</a:t>
            </a:r>
            <a:endParaRPr lang="en-CA" altLang="zh-TW" sz="1200" dirty="0">
              <a:solidFill>
                <a:srgbClr val="000000"/>
              </a:solidFill>
            </a:endParaRPr>
          </a:p>
          <a:p>
            <a:pPr algn="ctr"/>
            <a:r>
              <a:rPr lang="en-CA" altLang="zh-TW" sz="1200" dirty="0">
                <a:solidFill>
                  <a:srgbClr val="000000"/>
                </a:solidFill>
              </a:rPr>
              <a:t>block</a:t>
            </a:r>
            <a:endParaRPr lang="zh-TW" altLang="en-US" sz="1200" dirty="0">
              <a:solidFill>
                <a:srgbClr val="000000"/>
              </a:solidFill>
            </a:endParaRPr>
          </a:p>
        </p:txBody>
      </p:sp>
      <p:sp>
        <p:nvSpPr>
          <p:cNvPr id="145" name="Rectangle 144"/>
          <p:cNvSpPr/>
          <p:nvPr/>
        </p:nvSpPr>
        <p:spPr>
          <a:xfrm>
            <a:off x="6447346" y="2952750"/>
            <a:ext cx="908673" cy="708581"/>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dir</a:t>
            </a:r>
            <a:endParaRPr lang="en-CA" altLang="zh-TW" sz="1200" dirty="0">
              <a:solidFill>
                <a:srgbClr val="000000"/>
              </a:solidFill>
            </a:endParaRPr>
          </a:p>
          <a:p>
            <a:pPr algn="ctr"/>
            <a:r>
              <a:rPr lang="en-CA" altLang="zh-TW" sz="1200" dirty="0">
                <a:solidFill>
                  <a:srgbClr val="000000"/>
                </a:solidFill>
              </a:rPr>
              <a:t>indirect</a:t>
            </a:r>
          </a:p>
          <a:p>
            <a:pPr algn="ctr"/>
            <a:r>
              <a:rPr lang="en-CA" altLang="zh-TW" sz="1200" dirty="0">
                <a:solidFill>
                  <a:srgbClr val="000000"/>
                </a:solidFill>
              </a:rPr>
              <a:t>block</a:t>
            </a:r>
            <a:endParaRPr lang="zh-TW" altLang="en-US" sz="1200" dirty="0">
              <a:solidFill>
                <a:srgbClr val="000000"/>
              </a:solidFill>
            </a:endParaRPr>
          </a:p>
        </p:txBody>
      </p:sp>
      <p:grpSp>
        <p:nvGrpSpPr>
          <p:cNvPr id="151" name="Group 150"/>
          <p:cNvGrpSpPr/>
          <p:nvPr/>
        </p:nvGrpSpPr>
        <p:grpSpPr>
          <a:xfrm>
            <a:off x="6441702" y="3890246"/>
            <a:ext cx="908535" cy="571479"/>
            <a:chOff x="20309820" y="9557482"/>
            <a:chExt cx="2053432" cy="1739168"/>
          </a:xfrm>
          <a:solidFill>
            <a:schemeClr val="accent5">
              <a:lumMod val="40000"/>
              <a:lumOff val="60000"/>
            </a:schemeClr>
          </a:solidFill>
        </p:grpSpPr>
        <p:sp>
          <p:nvSpPr>
            <p:cNvPr id="152" name="Rectangle 151"/>
            <p:cNvSpPr/>
            <p:nvPr/>
          </p:nvSpPr>
          <p:spPr>
            <a:xfrm>
              <a:off x="20498872" y="9557482"/>
              <a:ext cx="1864380" cy="1534578"/>
            </a:xfrm>
            <a:prstGeom prst="rect">
              <a:avLst/>
            </a:prstGeom>
            <a:grp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153" name="Rectangle 152"/>
            <p:cNvSpPr/>
            <p:nvPr/>
          </p:nvSpPr>
          <p:spPr>
            <a:xfrm>
              <a:off x="20403622" y="9652732"/>
              <a:ext cx="1864380" cy="1534578"/>
            </a:xfrm>
            <a:prstGeom prst="rect">
              <a:avLst/>
            </a:prstGeom>
            <a:grp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155" name="Rectangle 154"/>
            <p:cNvSpPr/>
            <p:nvPr/>
          </p:nvSpPr>
          <p:spPr>
            <a:xfrm>
              <a:off x="20309820" y="9762072"/>
              <a:ext cx="1864381" cy="1534578"/>
            </a:xfrm>
            <a:prstGeom prst="rect">
              <a:avLst/>
            </a:prstGeom>
            <a:grp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dir</a:t>
              </a:r>
              <a:endParaRPr lang="en-CA" altLang="zh-TW" sz="1200" dirty="0">
                <a:solidFill>
                  <a:srgbClr val="000000"/>
                </a:solidFill>
              </a:endParaRPr>
            </a:p>
            <a:p>
              <a:pPr algn="ctr"/>
              <a:r>
                <a:rPr lang="en-CA" altLang="zh-TW" sz="1200" dirty="0">
                  <a:solidFill>
                    <a:srgbClr val="000000"/>
                  </a:solidFill>
                </a:rPr>
                <a:t>blocks</a:t>
              </a:r>
              <a:endParaRPr lang="zh-TW" altLang="en-US" sz="1200" dirty="0">
                <a:solidFill>
                  <a:srgbClr val="000000"/>
                </a:solidFill>
              </a:endParaRPr>
            </a:p>
          </p:txBody>
        </p:sp>
      </p:grpSp>
      <p:cxnSp>
        <p:nvCxnSpPr>
          <p:cNvPr id="168" name="Straight Arrow Connector 96"/>
          <p:cNvCxnSpPr>
            <a:stCxn id="138" idx="2"/>
            <a:endCxn id="142" idx="0"/>
          </p:cNvCxnSpPr>
          <p:nvPr/>
        </p:nvCxnSpPr>
        <p:spPr>
          <a:xfrm>
            <a:off x="5601979" y="3605373"/>
            <a:ext cx="0" cy="317718"/>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96"/>
          <p:cNvCxnSpPr/>
          <p:nvPr/>
        </p:nvCxnSpPr>
        <p:spPr>
          <a:xfrm flipV="1">
            <a:off x="6057745" y="3307041"/>
            <a:ext cx="389601" cy="1"/>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rot="5400000">
            <a:off x="3714781" y="2390709"/>
            <a:ext cx="380999" cy="438288"/>
            <a:chOff x="27236633" y="9932056"/>
            <a:chExt cx="578250" cy="990600"/>
          </a:xfrm>
        </p:grpSpPr>
        <p:cxnSp>
          <p:nvCxnSpPr>
            <p:cNvPr id="175" name="Straight Arrow Connector 174"/>
            <p:cNvCxnSpPr/>
            <p:nvPr/>
          </p:nvCxnSpPr>
          <p:spPr>
            <a:xfrm>
              <a:off x="27236633" y="104273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p:cNvCxnSpPr/>
            <p:nvPr/>
          </p:nvCxnSpPr>
          <p:spPr>
            <a:xfrm>
              <a:off x="27236633" y="109226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p:cNvCxnSpPr/>
            <p:nvPr/>
          </p:nvCxnSpPr>
          <p:spPr>
            <a:xfrm>
              <a:off x="27236633" y="99320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3" name="Rectangle 72"/>
          <p:cNvSpPr/>
          <p:nvPr/>
        </p:nvSpPr>
        <p:spPr>
          <a:xfrm>
            <a:off x="3281103" y="3930690"/>
            <a:ext cx="827413" cy="54606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data</a:t>
            </a:r>
          </a:p>
          <a:p>
            <a:pPr algn="ctr"/>
            <a:r>
              <a:rPr lang="en-CA" altLang="zh-TW" sz="1200" dirty="0">
                <a:solidFill>
                  <a:srgbClr val="000000"/>
                </a:solidFill>
              </a:rPr>
              <a:t>block</a:t>
            </a:r>
            <a:endParaRPr lang="zh-TW" altLang="en-US" sz="1200" dirty="0">
              <a:solidFill>
                <a:srgbClr val="000000"/>
              </a:solidFill>
            </a:endParaRPr>
          </a:p>
        </p:txBody>
      </p:sp>
      <p:cxnSp>
        <p:nvCxnSpPr>
          <p:cNvPr id="75" name="Straight Arrow Connector 96"/>
          <p:cNvCxnSpPr>
            <a:stCxn id="95" idx="2"/>
            <a:endCxn id="73" idx="0"/>
          </p:cNvCxnSpPr>
          <p:nvPr/>
        </p:nvCxnSpPr>
        <p:spPr>
          <a:xfrm>
            <a:off x="3694810" y="3605373"/>
            <a:ext cx="0" cy="325317"/>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1" name="Rectangle 70"/>
          <p:cNvSpPr/>
          <p:nvPr/>
        </p:nvSpPr>
        <p:spPr>
          <a:xfrm>
            <a:off x="1586632" y="2954229"/>
            <a:ext cx="884822" cy="705624"/>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inode</a:t>
            </a:r>
            <a:endParaRPr lang="en-CA" altLang="zh-TW" sz="1200" dirty="0">
              <a:solidFill>
                <a:srgbClr val="000000"/>
              </a:solidFill>
            </a:endParaRPr>
          </a:p>
          <a:p>
            <a:pPr algn="ctr"/>
            <a:r>
              <a:rPr lang="en-CA" altLang="zh-TW" sz="1200" dirty="0">
                <a:solidFill>
                  <a:srgbClr val="000000"/>
                </a:solidFill>
              </a:rPr>
              <a:t>bitmap</a:t>
            </a:r>
            <a:endParaRPr lang="zh-TW" altLang="en-US" sz="1200" dirty="0">
              <a:solidFill>
                <a:srgbClr val="000000"/>
              </a:solidFill>
            </a:endParaRPr>
          </a:p>
        </p:txBody>
      </p:sp>
      <p:grpSp>
        <p:nvGrpSpPr>
          <p:cNvPr id="32" name="Group 31"/>
          <p:cNvGrpSpPr/>
          <p:nvPr/>
        </p:nvGrpSpPr>
        <p:grpSpPr>
          <a:xfrm>
            <a:off x="2211688" y="1811943"/>
            <a:ext cx="1064828" cy="676637"/>
            <a:chOff x="2529818" y="2415923"/>
            <a:chExt cx="1419770" cy="902183"/>
          </a:xfrm>
        </p:grpSpPr>
        <p:sp>
          <p:nvSpPr>
            <p:cNvPr id="94" name="Rounded Rectangle 93"/>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rgbClr val="000000"/>
                  </a:solidFill>
                </a:rPr>
                <a:t>block group descriptor</a:t>
              </a:r>
              <a:endParaRPr lang="zh-TW" altLang="en-US" sz="1200" dirty="0">
                <a:solidFill>
                  <a:srgbClr val="000000"/>
                </a:solidFill>
              </a:endParaRPr>
            </a:p>
          </p:txBody>
        </p:sp>
        <p:sp>
          <p:nvSpPr>
            <p:cNvPr id="21" name="Rectangle 20"/>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rgbClr val="000000"/>
                </a:solidFill>
              </a:endParaRPr>
            </a:p>
          </p:txBody>
        </p:sp>
      </p:grpSp>
      <p:sp>
        <p:nvSpPr>
          <p:cNvPr id="133" name="Rounded Rectangle 132"/>
          <p:cNvSpPr/>
          <p:nvPr/>
        </p:nvSpPr>
        <p:spPr>
          <a:xfrm>
            <a:off x="3386087" y="1820505"/>
            <a:ext cx="1035659" cy="646285"/>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rgbClr val="000000"/>
                </a:solidFill>
              </a:rPr>
              <a:t>block group descriptor</a:t>
            </a:r>
            <a:endParaRPr lang="zh-TW" altLang="en-US" sz="1200" dirty="0">
              <a:solidFill>
                <a:srgbClr val="000000"/>
              </a:solidFill>
            </a:endParaRPr>
          </a:p>
        </p:txBody>
      </p:sp>
      <p:grpSp>
        <p:nvGrpSpPr>
          <p:cNvPr id="147" name="Group 146"/>
          <p:cNvGrpSpPr/>
          <p:nvPr/>
        </p:nvGrpSpPr>
        <p:grpSpPr>
          <a:xfrm rot="5400000">
            <a:off x="6770837" y="3571558"/>
            <a:ext cx="261692" cy="438288"/>
            <a:chOff x="27236633" y="9932056"/>
            <a:chExt cx="578250" cy="990600"/>
          </a:xfrm>
        </p:grpSpPr>
        <p:cxnSp>
          <p:nvCxnSpPr>
            <p:cNvPr id="148" name="Straight Arrow Connector 147"/>
            <p:cNvCxnSpPr/>
            <p:nvPr/>
          </p:nvCxnSpPr>
          <p:spPr>
            <a:xfrm>
              <a:off x="27236633" y="104273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p:nvPr/>
          </p:nvCxnSpPr>
          <p:spPr>
            <a:xfrm>
              <a:off x="27236633" y="109226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p:cNvCxnSpPr/>
            <p:nvPr/>
          </p:nvCxnSpPr>
          <p:spPr>
            <a:xfrm>
              <a:off x="27236633" y="99320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713782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Pointer Address Space</a:t>
            </a:r>
            <a:endParaRPr lang="en-CA" dirty="0"/>
          </a:p>
        </p:txBody>
      </p:sp>
      <p:sp>
        <p:nvSpPr>
          <p:cNvPr id="3" name="Content Placeholder 2"/>
          <p:cNvSpPr>
            <a:spLocks noGrp="1"/>
          </p:cNvSpPr>
          <p:nvPr>
            <p:ph idx="1"/>
          </p:nvPr>
        </p:nvSpPr>
        <p:spPr/>
        <p:txBody>
          <a:bodyPr/>
          <a:lstStyle/>
          <a:p>
            <a:r>
              <a:rPr lang="en-US" dirty="0" smtClean="0"/>
              <a:t>Main challenge</a:t>
            </a:r>
            <a:r>
              <a:rPr lang="en-US" dirty="0" smtClean="0"/>
              <a:t>: </a:t>
            </a:r>
            <a:r>
              <a:rPr lang="en-CA" dirty="0"/>
              <a:t>File system </a:t>
            </a:r>
            <a:r>
              <a:rPr lang="en-CA" dirty="0" smtClean="0"/>
              <a:t>pointers </a:t>
            </a:r>
            <a:r>
              <a:rPr lang="en-CA" dirty="0"/>
              <a:t>can store different types of </a:t>
            </a:r>
            <a:r>
              <a:rPr lang="en-CA" dirty="0" smtClean="0"/>
              <a:t>logical </a:t>
            </a:r>
            <a:r>
              <a:rPr lang="en-CA" dirty="0" smtClean="0"/>
              <a:t>addresses</a:t>
            </a:r>
          </a:p>
          <a:p>
            <a:pPr lvl="1"/>
            <a:r>
              <a:rPr lang="en-CA" dirty="0" smtClean="0"/>
              <a:t>Need different mappings to obtain physical address</a:t>
            </a:r>
          </a:p>
          <a:p>
            <a:r>
              <a:rPr lang="en-CA" dirty="0" smtClean="0"/>
              <a:t>Solution: Pointer annotations specify an </a:t>
            </a:r>
            <a:r>
              <a:rPr lang="en-CA" i="1" dirty="0"/>
              <a:t>address space</a:t>
            </a:r>
            <a:r>
              <a:rPr lang="en-CA" b="1" dirty="0"/>
              <a:t> </a:t>
            </a:r>
            <a:r>
              <a:rPr lang="en-CA" dirty="0"/>
              <a:t>that indicates how </a:t>
            </a:r>
            <a:r>
              <a:rPr lang="en-CA" dirty="0" smtClean="0"/>
              <a:t>the address </a:t>
            </a:r>
            <a:r>
              <a:rPr lang="en-CA" dirty="0"/>
              <a:t>should be </a:t>
            </a:r>
            <a:r>
              <a:rPr lang="en-CA" dirty="0" smtClean="0"/>
              <a:t>mapped to </a:t>
            </a:r>
            <a:r>
              <a:rPr lang="en-CA" dirty="0"/>
              <a:t>physical location</a:t>
            </a:r>
          </a:p>
          <a:p>
            <a:pPr marL="0" indent="0">
              <a:buNone/>
            </a:pPr>
            <a:endParaRPr lang="en-CA" dirty="0" smtClean="0"/>
          </a:p>
          <a:p>
            <a:r>
              <a:rPr lang="en-CA" dirty="0" smtClean="0"/>
              <a:t>Examples: Block</a:t>
            </a:r>
            <a:r>
              <a:rPr lang="en-CA" dirty="0"/>
              <a:t> </a:t>
            </a:r>
            <a:r>
              <a:rPr lang="en-CA" dirty="0" smtClean="0"/>
              <a:t>and File address spaces</a:t>
            </a:r>
          </a:p>
        </p:txBody>
      </p:sp>
      <p:sp>
        <p:nvSpPr>
          <p:cNvPr id="8" name="Rectangle 7"/>
          <p:cNvSpPr/>
          <p:nvPr/>
        </p:nvSpPr>
        <p:spPr>
          <a:xfrm>
            <a:off x="1828800" y="3139901"/>
            <a:ext cx="4711867" cy="346249"/>
          </a:xfrm>
          <a:prstGeom prst="rect">
            <a:avLst/>
          </a:prstGeom>
          <a:solidFill>
            <a:srgbClr val="FFFF00">
              <a:alpha val="20000"/>
            </a:srgbClr>
          </a:solidFill>
        </p:spPr>
        <p:txBody>
          <a:bodyPr wrap="none">
            <a:spAutoFit/>
          </a:bodyPr>
          <a:lstStyle/>
          <a:p>
            <a:pPr marL="93663" lvl="1"/>
            <a:r>
              <a:rPr lang="en-CA" sz="1650" b="1" dirty="0" smtClean="0">
                <a:solidFill>
                  <a:srgbClr val="000000"/>
                </a:solidFill>
                <a:latin typeface="Courier New" panose="02070309020205020404" pitchFamily="49" charset="0"/>
                <a:cs typeface="Courier New" panose="02070309020205020404" pitchFamily="49" charset="0"/>
              </a:rPr>
              <a:t>POINTER</a:t>
            </a:r>
            <a:r>
              <a:rPr lang="en-CA" sz="1650" dirty="0" smtClean="0">
                <a:solidFill>
                  <a:srgbClr val="000000"/>
                </a:solidFill>
                <a:latin typeface="Courier New" panose="02070309020205020404" pitchFamily="49" charset="0"/>
                <a:cs typeface="Courier New" panose="02070309020205020404" pitchFamily="49" charset="0"/>
              </a:rPr>
              <a:t>(</a:t>
            </a:r>
            <a:r>
              <a:rPr lang="en-CA" sz="1650" dirty="0" err="1" smtClean="0">
                <a:solidFill>
                  <a:srgbClr val="000000"/>
                </a:solidFill>
                <a:latin typeface="Courier New" panose="02070309020205020404" pitchFamily="49" charset="0"/>
                <a:cs typeface="Courier New" panose="02070309020205020404" pitchFamily="49" charset="0"/>
              </a:rPr>
              <a:t>aspc</a:t>
            </a:r>
            <a:r>
              <a:rPr lang="en-CA" sz="1650" dirty="0" smtClean="0">
                <a:solidFill>
                  <a:srgbClr val="000000"/>
                </a:solidFill>
                <a:latin typeface="Courier New" panose="02070309020205020404" pitchFamily="49" charset="0"/>
                <a:cs typeface="Courier New" panose="02070309020205020404" pitchFamily="49" charset="0"/>
              </a:rPr>
              <a:t>=block</a:t>
            </a:r>
            <a:r>
              <a:rPr lang="en-CA" sz="1650" dirty="0">
                <a:solidFill>
                  <a:srgbClr val="000000"/>
                </a:solidFill>
                <a:latin typeface="Courier New" panose="02070309020205020404" pitchFamily="49" charset="0"/>
                <a:cs typeface="Courier New" panose="02070309020205020404" pitchFamily="49" charset="0"/>
              </a:rPr>
              <a:t>, type=</a:t>
            </a:r>
            <a:r>
              <a:rPr lang="en-CA" sz="1650" dirty="0" err="1">
                <a:solidFill>
                  <a:srgbClr val="000000"/>
                </a:solidFill>
                <a:latin typeface="Courier New" panose="02070309020205020404" pitchFamily="49" charset="0"/>
                <a:cs typeface="Courier New" panose="02070309020205020404" pitchFamily="49" charset="0"/>
              </a:rPr>
              <a:t>bar_block</a:t>
            </a:r>
            <a:r>
              <a:rPr lang="en-CA" sz="1650" dirty="0">
                <a:solidFill>
                  <a:srgbClr val="000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718213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Block Address Space</a:t>
            </a:r>
            <a:endParaRPr lang="en-CA" dirty="0"/>
          </a:p>
        </p:txBody>
      </p:sp>
      <p:sp>
        <p:nvSpPr>
          <p:cNvPr id="3" name="Content Placeholder 2"/>
          <p:cNvSpPr>
            <a:spLocks noGrp="1"/>
          </p:cNvSpPr>
          <p:nvPr>
            <p:ph idx="1"/>
          </p:nvPr>
        </p:nvSpPr>
        <p:spPr/>
        <p:txBody>
          <a:bodyPr/>
          <a:lstStyle/>
          <a:p>
            <a:r>
              <a:rPr lang="en-CA" smtClean="0"/>
              <a:t>Block address is the block number in the file system</a:t>
            </a:r>
          </a:p>
          <a:p>
            <a:endParaRPr lang="en-CA" dirty="0"/>
          </a:p>
        </p:txBody>
      </p:sp>
      <p:grpSp>
        <p:nvGrpSpPr>
          <p:cNvPr id="10" name="Group 9"/>
          <p:cNvGrpSpPr/>
          <p:nvPr/>
        </p:nvGrpSpPr>
        <p:grpSpPr>
          <a:xfrm>
            <a:off x="357100" y="1352550"/>
            <a:ext cx="7475814" cy="3241033"/>
            <a:chOff x="357100" y="1387095"/>
            <a:chExt cx="7475814" cy="3241033"/>
          </a:xfrm>
        </p:grpSpPr>
        <p:grpSp>
          <p:nvGrpSpPr>
            <p:cNvPr id="77" name="Group 76"/>
            <p:cNvGrpSpPr/>
            <p:nvPr/>
          </p:nvGrpSpPr>
          <p:grpSpPr>
            <a:xfrm rot="5400000">
              <a:off x="7149583" y="4039067"/>
              <a:ext cx="318587" cy="438288"/>
              <a:chOff x="27236633" y="9932056"/>
              <a:chExt cx="578250" cy="990600"/>
            </a:xfrm>
          </p:grpSpPr>
          <p:cxnSp>
            <p:nvCxnSpPr>
              <p:cNvPr id="113" name="Straight Arrow Connector 112"/>
              <p:cNvCxnSpPr/>
              <p:nvPr/>
            </p:nvCxnSpPr>
            <p:spPr>
              <a:xfrm>
                <a:off x="27236633" y="104273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p:nvPr/>
            </p:nvCxnSpPr>
            <p:spPr>
              <a:xfrm>
                <a:off x="27236633" y="109226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a:off x="27236633" y="99320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8" name="Rectangle 77"/>
            <p:cNvSpPr/>
            <p:nvPr/>
          </p:nvSpPr>
          <p:spPr>
            <a:xfrm>
              <a:off x="979780" y="3411429"/>
              <a:ext cx="884822" cy="705624"/>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block</a:t>
              </a:r>
            </a:p>
            <a:p>
              <a:pPr algn="ctr"/>
              <a:r>
                <a:rPr lang="en-CA" altLang="zh-TW" sz="1200" dirty="0">
                  <a:solidFill>
                    <a:srgbClr val="000000"/>
                  </a:solidFill>
                </a:rPr>
                <a:t>bitmap</a:t>
              </a:r>
              <a:endParaRPr lang="zh-TW" altLang="en-US" sz="1200" dirty="0">
                <a:solidFill>
                  <a:srgbClr val="000000"/>
                </a:solidFill>
              </a:endParaRPr>
            </a:p>
          </p:txBody>
        </p:sp>
        <p:cxnSp>
          <p:nvCxnSpPr>
            <p:cNvPr id="79" name="Straight Arrow Connector 78"/>
            <p:cNvCxnSpPr/>
            <p:nvPr/>
          </p:nvCxnSpPr>
          <p:spPr>
            <a:xfrm>
              <a:off x="1414337" y="1922711"/>
              <a:ext cx="0" cy="344239"/>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a:xfrm>
              <a:off x="979779" y="1428750"/>
              <a:ext cx="827413" cy="504126"/>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super</a:t>
              </a:r>
            </a:p>
            <a:p>
              <a:pPr algn="ctr"/>
              <a:r>
                <a:rPr lang="en-CA" altLang="zh-TW" sz="1200" dirty="0">
                  <a:solidFill>
                    <a:srgbClr val="000000"/>
                  </a:solidFill>
                </a:rPr>
                <a:t>block</a:t>
              </a:r>
              <a:endParaRPr lang="zh-TW" altLang="en-US" sz="1200" dirty="0">
                <a:solidFill>
                  <a:srgbClr val="000000"/>
                </a:solidFill>
              </a:endParaRPr>
            </a:p>
          </p:txBody>
        </p:sp>
        <p:sp>
          <p:nvSpPr>
            <p:cNvPr id="81" name="Rectangle 80"/>
            <p:cNvSpPr/>
            <p:nvPr/>
          </p:nvSpPr>
          <p:spPr>
            <a:xfrm>
              <a:off x="2906775" y="1428750"/>
              <a:ext cx="2390456" cy="504126"/>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ext4 journal</a:t>
              </a:r>
              <a:endParaRPr lang="zh-TW" altLang="en-US" sz="1200" dirty="0">
                <a:solidFill>
                  <a:srgbClr val="000000"/>
                </a:solidFill>
              </a:endParaRPr>
            </a:p>
          </p:txBody>
        </p:sp>
        <p:cxnSp>
          <p:nvCxnSpPr>
            <p:cNvPr id="82" name="Straight Arrow Connector 81"/>
            <p:cNvCxnSpPr>
              <a:stCxn id="80" idx="3"/>
              <a:endCxn id="81" idx="1"/>
            </p:cNvCxnSpPr>
            <p:nvPr/>
          </p:nvCxnSpPr>
          <p:spPr>
            <a:xfrm>
              <a:off x="1807192" y="1680813"/>
              <a:ext cx="1099583" cy="0"/>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6" name="Rectangle 85"/>
            <p:cNvSpPr/>
            <p:nvPr/>
          </p:nvSpPr>
          <p:spPr>
            <a:xfrm>
              <a:off x="2980430" y="3411429"/>
              <a:ext cx="3636206" cy="705624"/>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p>
          </p:txBody>
        </p:sp>
        <p:sp>
          <p:nvSpPr>
            <p:cNvPr id="87" name="Rectangle 86"/>
            <p:cNvSpPr/>
            <p:nvPr/>
          </p:nvSpPr>
          <p:spPr>
            <a:xfrm>
              <a:off x="3043699" y="3552977"/>
              <a:ext cx="632378" cy="4455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000000"/>
                  </a:solidFill>
                </a:rPr>
                <a:t>inode</a:t>
              </a:r>
              <a:r>
                <a:rPr lang="en-US" sz="1200" dirty="0">
                  <a:solidFill>
                    <a:srgbClr val="000000"/>
                  </a:solidFill>
                </a:rPr>
                <a:t> table</a:t>
              </a:r>
            </a:p>
          </p:txBody>
        </p:sp>
        <p:sp>
          <p:nvSpPr>
            <p:cNvPr id="91" name="Rounded Rectangle 90"/>
            <p:cNvSpPr/>
            <p:nvPr/>
          </p:nvSpPr>
          <p:spPr>
            <a:xfrm>
              <a:off x="3739981" y="3477396"/>
              <a:ext cx="724043" cy="59666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chemeClr val="tx1"/>
                  </a:solidFill>
                </a:rPr>
                <a:t>inode</a:t>
              </a:r>
              <a:endParaRPr lang="en-US" altLang="zh-TW" sz="1200" dirty="0">
                <a:solidFill>
                  <a:schemeClr val="tx1"/>
                </a:solidFill>
              </a:endParaRPr>
            </a:p>
            <a:p>
              <a:pPr algn="ctr"/>
              <a:r>
                <a:rPr lang="en-US" altLang="zh-TW" sz="1200" dirty="0">
                  <a:solidFill>
                    <a:schemeClr val="tx1"/>
                  </a:solidFill>
                </a:rPr>
                <a:t>(</a:t>
              </a:r>
              <a:r>
                <a:rPr lang="en-US" altLang="zh-TW" sz="1200" dirty="0" err="1">
                  <a:solidFill>
                    <a:schemeClr val="tx1"/>
                  </a:solidFill>
                </a:rPr>
                <a:t>reg</a:t>
              </a:r>
              <a:r>
                <a:rPr lang="en-US" altLang="zh-TW" sz="1200" dirty="0">
                  <a:solidFill>
                    <a:schemeClr val="tx1"/>
                  </a:solidFill>
                </a:rPr>
                <a:t> file)</a:t>
              </a:r>
              <a:endParaRPr lang="zh-TW" altLang="en-US" sz="1200" dirty="0">
                <a:solidFill>
                  <a:schemeClr val="tx1"/>
                </a:solidFill>
              </a:endParaRPr>
            </a:p>
          </p:txBody>
        </p:sp>
        <p:sp>
          <p:nvSpPr>
            <p:cNvPr id="92" name="Rounded Rectangle 91"/>
            <p:cNvSpPr/>
            <p:nvPr/>
          </p:nvSpPr>
          <p:spPr>
            <a:xfrm>
              <a:off x="5553407" y="3477396"/>
              <a:ext cx="911532" cy="59666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chemeClr val="tx1"/>
                  </a:solidFill>
                </a:rPr>
                <a:t>inode</a:t>
              </a:r>
              <a:endParaRPr lang="en-US" altLang="zh-TW" sz="1200" dirty="0">
                <a:solidFill>
                  <a:schemeClr val="tx1"/>
                </a:solidFill>
              </a:endParaRPr>
            </a:p>
            <a:p>
              <a:pPr algn="ctr"/>
              <a:r>
                <a:rPr lang="en-US" altLang="zh-TW" sz="1200" dirty="0">
                  <a:solidFill>
                    <a:schemeClr val="tx1"/>
                  </a:solidFill>
                </a:rPr>
                <a:t>(directory)</a:t>
              </a:r>
              <a:endParaRPr lang="zh-TW" altLang="en-US" sz="1200" dirty="0">
                <a:solidFill>
                  <a:schemeClr val="tx1"/>
                </a:solidFill>
              </a:endParaRPr>
            </a:p>
          </p:txBody>
        </p:sp>
        <p:sp>
          <p:nvSpPr>
            <p:cNvPr id="94" name="TextBox 93"/>
            <p:cNvSpPr txBox="1"/>
            <p:nvPr/>
          </p:nvSpPr>
          <p:spPr>
            <a:xfrm>
              <a:off x="4750877" y="3355556"/>
              <a:ext cx="595035" cy="584775"/>
            </a:xfrm>
            <a:prstGeom prst="rect">
              <a:avLst/>
            </a:prstGeom>
            <a:noFill/>
          </p:spPr>
          <p:txBody>
            <a:bodyPr wrap="none" rtlCol="0">
              <a:spAutoFit/>
            </a:bodyPr>
            <a:lstStyle/>
            <a:p>
              <a:r>
                <a:rPr lang="en-CA" sz="3200" dirty="0">
                  <a:solidFill>
                    <a:srgbClr val="000000"/>
                  </a:solidFill>
                </a:rPr>
                <a:t>…</a:t>
              </a:r>
            </a:p>
          </p:txBody>
        </p:sp>
        <p:sp>
          <p:nvSpPr>
            <p:cNvPr id="96" name="Rectangle 95"/>
            <p:cNvSpPr/>
            <p:nvPr/>
          </p:nvSpPr>
          <p:spPr>
            <a:xfrm>
              <a:off x="6854540" y="3409950"/>
              <a:ext cx="908673" cy="708581"/>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dir</a:t>
              </a:r>
              <a:endParaRPr lang="en-CA" altLang="zh-TW" sz="1200" dirty="0">
                <a:solidFill>
                  <a:srgbClr val="000000"/>
                </a:solidFill>
              </a:endParaRPr>
            </a:p>
            <a:p>
              <a:pPr algn="ctr"/>
              <a:r>
                <a:rPr lang="en-CA" altLang="zh-TW" sz="1200" dirty="0">
                  <a:solidFill>
                    <a:srgbClr val="000000"/>
                  </a:solidFill>
                </a:rPr>
                <a:t>indirect</a:t>
              </a:r>
            </a:p>
            <a:p>
              <a:pPr algn="ctr"/>
              <a:r>
                <a:rPr lang="en-CA" altLang="zh-TW" sz="1200" dirty="0">
                  <a:solidFill>
                    <a:srgbClr val="000000"/>
                  </a:solidFill>
                </a:rPr>
                <a:t>block</a:t>
              </a:r>
              <a:endParaRPr lang="zh-TW" altLang="en-US" sz="1200" dirty="0">
                <a:solidFill>
                  <a:srgbClr val="000000"/>
                </a:solidFill>
              </a:endParaRPr>
            </a:p>
          </p:txBody>
        </p:sp>
        <p:cxnSp>
          <p:nvCxnSpPr>
            <p:cNvPr id="99" name="Straight Arrow Connector 96"/>
            <p:cNvCxnSpPr/>
            <p:nvPr/>
          </p:nvCxnSpPr>
          <p:spPr>
            <a:xfrm flipV="1">
              <a:off x="6464939" y="3781887"/>
              <a:ext cx="389601" cy="1"/>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6"/>
            <p:cNvCxnSpPr>
              <a:stCxn id="92" idx="2"/>
            </p:cNvCxnSpPr>
            <p:nvPr/>
          </p:nvCxnSpPr>
          <p:spPr>
            <a:xfrm>
              <a:off x="6009173" y="4074058"/>
              <a:ext cx="0" cy="342236"/>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96"/>
            <p:cNvCxnSpPr>
              <a:stCxn id="91" idx="2"/>
            </p:cNvCxnSpPr>
            <p:nvPr/>
          </p:nvCxnSpPr>
          <p:spPr>
            <a:xfrm>
              <a:off x="4102003" y="4074058"/>
              <a:ext cx="1" cy="347009"/>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1993825" y="3411429"/>
              <a:ext cx="884822" cy="705624"/>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inode</a:t>
              </a:r>
              <a:endParaRPr lang="en-CA" altLang="zh-TW" sz="1200" dirty="0">
                <a:solidFill>
                  <a:srgbClr val="000000"/>
                </a:solidFill>
              </a:endParaRPr>
            </a:p>
            <a:p>
              <a:pPr algn="ctr"/>
              <a:r>
                <a:rPr lang="en-CA" altLang="zh-TW" sz="1200" dirty="0">
                  <a:solidFill>
                    <a:srgbClr val="000000"/>
                  </a:solidFill>
                </a:rPr>
                <a:t>bitmap</a:t>
              </a:r>
              <a:endParaRPr lang="zh-TW" altLang="en-US" sz="1200" dirty="0">
                <a:solidFill>
                  <a:srgbClr val="000000"/>
                </a:solidFill>
              </a:endParaRPr>
            </a:p>
          </p:txBody>
        </p:sp>
        <p:sp>
          <p:nvSpPr>
            <p:cNvPr id="83" name="Rectangle 82"/>
            <p:cNvSpPr/>
            <p:nvPr/>
          </p:nvSpPr>
          <p:spPr>
            <a:xfrm>
              <a:off x="979778" y="2266950"/>
              <a:ext cx="4391108" cy="794858"/>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p>
          </p:txBody>
        </p:sp>
        <p:sp>
          <p:nvSpPr>
            <p:cNvPr id="84" name="Rectangle 83"/>
            <p:cNvSpPr/>
            <p:nvPr/>
          </p:nvSpPr>
          <p:spPr>
            <a:xfrm>
              <a:off x="1042565" y="2332550"/>
              <a:ext cx="1501506" cy="47388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block group descriptor table</a:t>
              </a:r>
            </a:p>
          </p:txBody>
        </p:sp>
        <p:sp>
          <p:nvSpPr>
            <p:cNvPr id="156" name="Rectangle 155"/>
            <p:cNvSpPr/>
            <p:nvPr/>
          </p:nvSpPr>
          <p:spPr>
            <a:xfrm>
              <a:off x="357164" y="1929414"/>
              <a:ext cx="1048076" cy="29178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i="1" dirty="0">
                  <a:solidFill>
                    <a:srgbClr val="000000"/>
                  </a:solidFill>
                </a:rPr>
                <a:t>block </a:t>
              </a:r>
              <a:r>
                <a:rPr lang="en-US" sz="1200" i="1" dirty="0" err="1">
                  <a:solidFill>
                    <a:srgbClr val="000000"/>
                  </a:solidFill>
                </a:rPr>
                <a:t>addr</a:t>
              </a:r>
              <a:endParaRPr lang="en-US" sz="1200" i="1" dirty="0">
                <a:solidFill>
                  <a:srgbClr val="000000"/>
                </a:solidFill>
              </a:endParaRPr>
            </a:p>
          </p:txBody>
        </p:sp>
        <p:sp>
          <p:nvSpPr>
            <p:cNvPr id="157" name="Rectangle 156"/>
            <p:cNvSpPr/>
            <p:nvPr/>
          </p:nvSpPr>
          <p:spPr>
            <a:xfrm>
              <a:off x="357100" y="3093082"/>
              <a:ext cx="1048076" cy="29178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i="1" dirty="0">
                  <a:solidFill>
                    <a:srgbClr val="000000"/>
                  </a:solidFill>
                </a:rPr>
                <a:t>block </a:t>
              </a:r>
              <a:r>
                <a:rPr lang="en-US" sz="1200" i="1" dirty="0" err="1">
                  <a:solidFill>
                    <a:srgbClr val="000000"/>
                  </a:solidFill>
                </a:rPr>
                <a:t>addr</a:t>
              </a:r>
              <a:endParaRPr lang="en-US" sz="1200" i="1" dirty="0">
                <a:solidFill>
                  <a:srgbClr val="000000"/>
                </a:solidFill>
              </a:endParaRPr>
            </a:p>
          </p:txBody>
        </p:sp>
        <p:sp>
          <p:nvSpPr>
            <p:cNvPr id="159" name="Rectangle 158"/>
            <p:cNvSpPr/>
            <p:nvPr/>
          </p:nvSpPr>
          <p:spPr>
            <a:xfrm>
              <a:off x="3804783" y="3142618"/>
              <a:ext cx="1048076" cy="29178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i="1" dirty="0">
                  <a:solidFill>
                    <a:srgbClr val="000000"/>
                  </a:solidFill>
                </a:rPr>
                <a:t>block </a:t>
              </a:r>
              <a:r>
                <a:rPr lang="en-US" sz="1200" i="1" dirty="0" err="1">
                  <a:solidFill>
                    <a:srgbClr val="000000"/>
                  </a:solidFill>
                </a:rPr>
                <a:t>addr</a:t>
              </a:r>
              <a:endParaRPr lang="en-US" sz="1200" i="1" dirty="0">
                <a:solidFill>
                  <a:srgbClr val="000000"/>
                </a:solidFill>
              </a:endParaRPr>
            </a:p>
          </p:txBody>
        </p:sp>
        <p:sp>
          <p:nvSpPr>
            <p:cNvPr id="160" name="Rectangle 159"/>
            <p:cNvSpPr/>
            <p:nvPr/>
          </p:nvSpPr>
          <p:spPr>
            <a:xfrm>
              <a:off x="3577946" y="4336344"/>
              <a:ext cx="1048076" cy="29178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i="1" dirty="0">
                  <a:solidFill>
                    <a:srgbClr val="000000"/>
                  </a:solidFill>
                </a:rPr>
                <a:t>block </a:t>
              </a:r>
              <a:r>
                <a:rPr lang="en-US" sz="1200" i="1" dirty="0" err="1">
                  <a:solidFill>
                    <a:srgbClr val="000000"/>
                  </a:solidFill>
                </a:rPr>
                <a:t>addr</a:t>
              </a:r>
              <a:endParaRPr lang="en-US" sz="1200" i="1" dirty="0">
                <a:solidFill>
                  <a:srgbClr val="000000"/>
                </a:solidFill>
              </a:endParaRPr>
            </a:p>
          </p:txBody>
        </p:sp>
        <p:sp>
          <p:nvSpPr>
            <p:cNvPr id="161" name="Rectangle 160"/>
            <p:cNvSpPr/>
            <p:nvPr/>
          </p:nvSpPr>
          <p:spPr>
            <a:xfrm>
              <a:off x="6784838" y="4336344"/>
              <a:ext cx="1048076" cy="29178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i="1" dirty="0">
                  <a:solidFill>
                    <a:srgbClr val="000000"/>
                  </a:solidFill>
                </a:rPr>
                <a:t>block </a:t>
              </a:r>
              <a:r>
                <a:rPr lang="en-US" sz="1200" i="1" dirty="0" err="1">
                  <a:solidFill>
                    <a:srgbClr val="000000"/>
                  </a:solidFill>
                </a:rPr>
                <a:t>addr</a:t>
              </a:r>
              <a:endParaRPr lang="en-US" sz="1200" i="1" dirty="0">
                <a:solidFill>
                  <a:srgbClr val="000000"/>
                </a:solidFill>
              </a:endParaRPr>
            </a:p>
          </p:txBody>
        </p:sp>
        <p:sp>
          <p:nvSpPr>
            <p:cNvPr id="162" name="Rectangle 161"/>
            <p:cNvSpPr/>
            <p:nvPr/>
          </p:nvSpPr>
          <p:spPr>
            <a:xfrm>
              <a:off x="5491181" y="4327133"/>
              <a:ext cx="1048076" cy="29178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i="1" dirty="0">
                  <a:solidFill>
                    <a:srgbClr val="000000"/>
                  </a:solidFill>
                </a:rPr>
                <a:t>block </a:t>
              </a:r>
              <a:r>
                <a:rPr lang="en-US" sz="1200" i="1" dirty="0" err="1">
                  <a:solidFill>
                    <a:srgbClr val="000000"/>
                  </a:solidFill>
                </a:rPr>
                <a:t>addr</a:t>
              </a:r>
              <a:endParaRPr lang="en-US" sz="1200" i="1" dirty="0">
                <a:solidFill>
                  <a:srgbClr val="000000"/>
                </a:solidFill>
              </a:endParaRPr>
            </a:p>
          </p:txBody>
        </p:sp>
        <p:sp>
          <p:nvSpPr>
            <p:cNvPr id="163" name="Rectangle 162"/>
            <p:cNvSpPr/>
            <p:nvPr/>
          </p:nvSpPr>
          <p:spPr>
            <a:xfrm>
              <a:off x="1816289" y="1387095"/>
              <a:ext cx="3872884" cy="699638"/>
            </a:xfrm>
            <a:prstGeom prst="rect">
              <a:avLst/>
            </a:pr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p>
          </p:txBody>
        </p:sp>
        <p:cxnSp>
          <p:nvCxnSpPr>
            <p:cNvPr id="85" name="Straight Arrow Connector 96"/>
            <p:cNvCxnSpPr>
              <a:stCxn id="106" idx="2"/>
              <a:endCxn id="78" idx="0"/>
            </p:cNvCxnSpPr>
            <p:nvPr/>
          </p:nvCxnSpPr>
          <p:spPr>
            <a:xfrm rot="5400000">
              <a:off x="1953414" y="2469402"/>
              <a:ext cx="410804" cy="1473250"/>
            </a:xfrm>
            <a:prstGeom prst="bentConnector3">
              <a:avLst>
                <a:gd name="adj1" fmla="val 25016"/>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96"/>
            <p:cNvCxnSpPr/>
            <p:nvPr/>
          </p:nvCxnSpPr>
          <p:spPr>
            <a:xfrm>
              <a:off x="3375953" y="2876550"/>
              <a:ext cx="0" cy="540000"/>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96"/>
            <p:cNvCxnSpPr>
              <a:stCxn id="105" idx="2"/>
              <a:endCxn id="103" idx="0"/>
            </p:cNvCxnSpPr>
            <p:nvPr/>
          </p:nvCxnSpPr>
          <p:spPr>
            <a:xfrm rot="5400000">
              <a:off x="2581277" y="2841409"/>
              <a:ext cx="424979" cy="715060"/>
            </a:xfrm>
            <a:prstGeom prst="bentConnector3">
              <a:avLst>
                <a:gd name="adj1" fmla="val 47805"/>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04" name="Group 103"/>
            <p:cNvGrpSpPr/>
            <p:nvPr/>
          </p:nvGrpSpPr>
          <p:grpSpPr>
            <a:xfrm>
              <a:off x="2618882" y="2323988"/>
              <a:ext cx="1064828" cy="676637"/>
              <a:chOff x="2529818" y="2415923"/>
              <a:chExt cx="1419770" cy="902183"/>
            </a:xfrm>
          </p:grpSpPr>
          <p:sp>
            <p:nvSpPr>
              <p:cNvPr id="106" name="Rectangle 105"/>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p>
            </p:txBody>
          </p:sp>
          <p:sp>
            <p:nvSpPr>
              <p:cNvPr id="105" name="Rounded Rectangle 104"/>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block group descriptor</a:t>
                </a:r>
                <a:endParaRPr lang="zh-TW" altLang="en-US" sz="1200" dirty="0">
                  <a:solidFill>
                    <a:schemeClr val="tx1"/>
                  </a:solidFill>
                </a:endParaRPr>
              </a:p>
            </p:txBody>
          </p:sp>
        </p:grpSp>
        <p:grpSp>
          <p:nvGrpSpPr>
            <p:cNvPr id="100" name="Group 99"/>
            <p:cNvGrpSpPr/>
            <p:nvPr/>
          </p:nvGrpSpPr>
          <p:grpSpPr>
            <a:xfrm rot="5400000">
              <a:off x="4205289" y="2856387"/>
              <a:ext cx="211644" cy="438288"/>
              <a:chOff x="27236633" y="9932056"/>
              <a:chExt cx="578250" cy="990600"/>
            </a:xfrm>
          </p:grpSpPr>
          <p:cxnSp>
            <p:nvCxnSpPr>
              <p:cNvPr id="107" name="Straight Arrow Connector 106"/>
              <p:cNvCxnSpPr/>
              <p:nvPr/>
            </p:nvCxnSpPr>
            <p:spPr>
              <a:xfrm>
                <a:off x="27236633" y="104273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a:off x="27236633" y="109226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a:off x="27236633" y="9932056"/>
                <a:ext cx="578250" cy="0"/>
              </a:xfrm>
              <a:prstGeom prst="straightConnector1">
                <a:avLst/>
              </a:prstGeom>
              <a:ln w="50800">
                <a:solidFill>
                  <a:schemeClr val="accent6">
                    <a:alpha val="6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9" name="Rounded Rectangle 88"/>
            <p:cNvSpPr/>
            <p:nvPr/>
          </p:nvSpPr>
          <p:spPr>
            <a:xfrm>
              <a:off x="3793281" y="2332550"/>
              <a:ext cx="1035659" cy="646285"/>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chemeClr val="tx1"/>
                  </a:solidFill>
                </a:rPr>
                <a:t>block group descriptor</a:t>
              </a:r>
              <a:endParaRPr lang="zh-TW" altLang="en-US" sz="1200" dirty="0">
                <a:solidFill>
                  <a:schemeClr val="tx1"/>
                </a:solidFill>
              </a:endParaRPr>
            </a:p>
          </p:txBody>
        </p:sp>
        <p:sp>
          <p:nvSpPr>
            <p:cNvPr id="93" name="TextBox 92"/>
            <p:cNvSpPr txBox="1"/>
            <p:nvPr/>
          </p:nvSpPr>
          <p:spPr>
            <a:xfrm>
              <a:off x="4813256" y="2266583"/>
              <a:ext cx="595035" cy="584775"/>
            </a:xfrm>
            <a:prstGeom prst="rect">
              <a:avLst/>
            </a:prstGeom>
            <a:noFill/>
          </p:spPr>
          <p:txBody>
            <a:bodyPr wrap="none" rtlCol="0">
              <a:spAutoFit/>
            </a:bodyPr>
            <a:lstStyle/>
            <a:p>
              <a:r>
                <a:rPr lang="en-CA" sz="3200" dirty="0">
                  <a:solidFill>
                    <a:srgbClr val="000000"/>
                  </a:solidFill>
                </a:rPr>
                <a:t>…</a:t>
              </a:r>
            </a:p>
          </p:txBody>
        </p:sp>
      </p:grpSp>
    </p:spTree>
    <p:extLst>
      <p:ext uri="{BB962C8B-B14F-4D97-AF65-F5344CB8AC3E}">
        <p14:creationId xmlns:p14="http://schemas.microsoft.com/office/powerpoint/2010/main" val="8039779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4529066" y="2495551"/>
            <a:ext cx="2390456" cy="504126"/>
          </a:xfrm>
          <a:prstGeom prst="rect">
            <a:avLst/>
          </a:prstGeom>
          <a:solidFill>
            <a:srgbClr val="B7B7FF"/>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ext4 journal</a:t>
            </a:r>
            <a:endParaRPr lang="zh-TW" altLang="en-US" sz="1200" dirty="0">
              <a:solidFill>
                <a:srgbClr val="000000"/>
              </a:solidFill>
            </a:endParaRPr>
          </a:p>
        </p:txBody>
      </p:sp>
      <p:sp>
        <p:nvSpPr>
          <p:cNvPr id="2" name="Title 1"/>
          <p:cNvSpPr>
            <a:spLocks noGrp="1"/>
          </p:cNvSpPr>
          <p:nvPr>
            <p:ph type="title"/>
          </p:nvPr>
        </p:nvSpPr>
        <p:spPr/>
        <p:txBody>
          <a:bodyPr/>
          <a:lstStyle/>
          <a:p>
            <a:r>
              <a:rPr lang="en-CA" smtClean="0"/>
              <a:t>File Address Space</a:t>
            </a:r>
            <a:endParaRPr lang="en-CA" dirty="0"/>
          </a:p>
        </p:txBody>
      </p:sp>
      <p:sp>
        <p:nvSpPr>
          <p:cNvPr id="3" name="Content Placeholder 2"/>
          <p:cNvSpPr>
            <a:spLocks noGrp="1"/>
          </p:cNvSpPr>
          <p:nvPr>
            <p:ph idx="1"/>
          </p:nvPr>
        </p:nvSpPr>
        <p:spPr>
          <a:xfrm>
            <a:off x="152400" y="857250"/>
            <a:ext cx="8839200" cy="1603692"/>
          </a:xfrm>
        </p:spPr>
        <p:txBody>
          <a:bodyPr/>
          <a:lstStyle/>
          <a:p>
            <a:r>
              <a:rPr lang="en-CA" dirty="0" smtClean="0"/>
              <a:t>File address is an index into the </a:t>
            </a:r>
            <a:r>
              <a:rPr lang="en-CA" dirty="0" err="1" smtClean="0"/>
              <a:t>inode</a:t>
            </a:r>
            <a:r>
              <a:rPr lang="en-CA" dirty="0" smtClean="0"/>
              <a:t> table for a file</a:t>
            </a:r>
          </a:p>
          <a:p>
            <a:pPr lvl="1"/>
            <a:r>
              <a:rPr lang="en-CA" sz="2000" dirty="0" smtClean="0"/>
              <a:t>E.g. Ext4 journal is stored as a regular file  </a:t>
            </a:r>
          </a:p>
          <a:p>
            <a:pPr lvl="1"/>
            <a:r>
              <a:rPr lang="en-CA" sz="2000" dirty="0" smtClean="0"/>
              <a:t>Regular file may be physically discontiguous</a:t>
            </a:r>
          </a:p>
          <a:p>
            <a:pPr lvl="1"/>
            <a:r>
              <a:rPr lang="en-CA" sz="2000" dirty="0" smtClean="0"/>
              <a:t>Requires mapping logical blocks of the file to their physical locations</a:t>
            </a:r>
          </a:p>
          <a:p>
            <a:endParaRPr lang="en-CA" dirty="0"/>
          </a:p>
        </p:txBody>
      </p:sp>
      <p:sp>
        <p:nvSpPr>
          <p:cNvPr id="61" name="Rectangle 60"/>
          <p:cNvSpPr/>
          <p:nvPr/>
        </p:nvSpPr>
        <p:spPr>
          <a:xfrm>
            <a:off x="4828677" y="4148884"/>
            <a:ext cx="2807992" cy="33421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ext4 journal on physical disk</a:t>
            </a:r>
          </a:p>
        </p:txBody>
      </p:sp>
      <p:cxnSp>
        <p:nvCxnSpPr>
          <p:cNvPr id="70" name="Straight Connector 69"/>
          <p:cNvCxnSpPr/>
          <p:nvPr/>
        </p:nvCxnSpPr>
        <p:spPr>
          <a:xfrm>
            <a:off x="5448476" y="3014250"/>
            <a:ext cx="573059" cy="573049"/>
          </a:xfrm>
          <a:prstGeom prst="line">
            <a:avLst/>
          </a:prstGeom>
          <a:ln w="15875">
            <a:solidFill>
              <a:srgbClr val="000000"/>
            </a:solidFill>
            <a:prstDash val="sysDash"/>
          </a:ln>
        </p:spPr>
        <p:style>
          <a:lnRef idx="1">
            <a:schemeClr val="accent1"/>
          </a:lnRef>
          <a:fillRef idx="0">
            <a:schemeClr val="accent1"/>
          </a:fillRef>
          <a:effectRef idx="0">
            <a:schemeClr val="accent1"/>
          </a:effectRef>
          <a:fontRef idx="minor">
            <a:schemeClr val="tx1"/>
          </a:fontRef>
        </p:style>
      </p:cxnSp>
      <p:sp>
        <p:nvSpPr>
          <p:cNvPr id="78" name="Rectangle 77"/>
          <p:cNvSpPr/>
          <p:nvPr/>
        </p:nvSpPr>
        <p:spPr>
          <a:xfrm>
            <a:off x="4529066" y="3545798"/>
            <a:ext cx="894843" cy="510217"/>
          </a:xfrm>
          <a:prstGeom prst="rect">
            <a:avLst/>
          </a:prstGeom>
          <a:solidFill>
            <a:srgbClr val="B7B7FF"/>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rgbClr val="000000"/>
              </a:solidFill>
            </a:endParaRPr>
          </a:p>
        </p:txBody>
      </p:sp>
      <p:cxnSp>
        <p:nvCxnSpPr>
          <p:cNvPr id="90" name="Straight Connector 89"/>
          <p:cNvCxnSpPr/>
          <p:nvPr/>
        </p:nvCxnSpPr>
        <p:spPr>
          <a:xfrm>
            <a:off x="5885081" y="3006658"/>
            <a:ext cx="1030222" cy="545370"/>
          </a:xfrm>
          <a:prstGeom prst="line">
            <a:avLst/>
          </a:prstGeom>
          <a:ln w="15875">
            <a:solidFill>
              <a:srgbClr val="000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1414337" y="2952750"/>
            <a:ext cx="0" cy="324000"/>
          </a:xfrm>
          <a:prstGeom prst="straightConnector1">
            <a:avLst/>
          </a:prstGeom>
          <a:ln w="50800">
            <a:solidFill>
              <a:schemeClr val="accent6">
                <a:alpha val="3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979779" y="2495551"/>
            <a:ext cx="827413" cy="504126"/>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super</a:t>
            </a:r>
          </a:p>
          <a:p>
            <a:pPr algn="ctr"/>
            <a:r>
              <a:rPr lang="en-CA" altLang="zh-TW" sz="1200" dirty="0">
                <a:solidFill>
                  <a:srgbClr val="000000"/>
                </a:solidFill>
              </a:rPr>
              <a:t>block</a:t>
            </a:r>
            <a:endParaRPr lang="zh-TW" altLang="en-US" sz="1200" dirty="0">
              <a:solidFill>
                <a:srgbClr val="000000"/>
              </a:solidFill>
            </a:endParaRPr>
          </a:p>
        </p:txBody>
      </p:sp>
      <p:cxnSp>
        <p:nvCxnSpPr>
          <p:cNvPr id="37" name="Straight Arrow Connector 36"/>
          <p:cNvCxnSpPr>
            <a:stCxn id="35" idx="3"/>
            <a:endCxn id="36" idx="1"/>
          </p:cNvCxnSpPr>
          <p:nvPr/>
        </p:nvCxnSpPr>
        <p:spPr>
          <a:xfrm>
            <a:off x="1807191" y="2747614"/>
            <a:ext cx="2721875" cy="0"/>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979778" y="3287152"/>
            <a:ext cx="3256804" cy="794858"/>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39" name="Rectangle 38"/>
          <p:cNvSpPr/>
          <p:nvPr/>
        </p:nvSpPr>
        <p:spPr>
          <a:xfrm>
            <a:off x="1042565" y="3410380"/>
            <a:ext cx="1501506" cy="47388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block group descriptor table</a:t>
            </a:r>
          </a:p>
        </p:txBody>
      </p:sp>
      <p:cxnSp>
        <p:nvCxnSpPr>
          <p:cNvPr id="40" name="Straight Arrow Connector 96"/>
          <p:cNvCxnSpPr/>
          <p:nvPr/>
        </p:nvCxnSpPr>
        <p:spPr>
          <a:xfrm rot="5400000">
            <a:off x="1924817" y="3506125"/>
            <a:ext cx="468000" cy="1473250"/>
          </a:xfrm>
          <a:prstGeom prst="bentConnector3">
            <a:avLst>
              <a:gd name="adj1" fmla="val 27846"/>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96"/>
          <p:cNvCxnSpPr/>
          <p:nvPr/>
        </p:nvCxnSpPr>
        <p:spPr>
          <a:xfrm rot="5400000">
            <a:off x="2559766" y="3885220"/>
            <a:ext cx="468000" cy="715060"/>
          </a:xfrm>
          <a:prstGeom prst="bentConnector3">
            <a:avLst>
              <a:gd name="adj1" fmla="val 50000"/>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96"/>
          <p:cNvCxnSpPr/>
          <p:nvPr/>
        </p:nvCxnSpPr>
        <p:spPr>
          <a:xfrm>
            <a:off x="3375953" y="4008750"/>
            <a:ext cx="0" cy="468000"/>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634404" y="3257550"/>
            <a:ext cx="595035" cy="584775"/>
          </a:xfrm>
          <a:prstGeom prst="rect">
            <a:avLst/>
          </a:prstGeom>
          <a:noFill/>
        </p:spPr>
        <p:txBody>
          <a:bodyPr wrap="none" rtlCol="0">
            <a:spAutoFit/>
          </a:bodyPr>
          <a:lstStyle/>
          <a:p>
            <a:r>
              <a:rPr lang="en-CA" sz="3200" dirty="0">
                <a:solidFill>
                  <a:srgbClr val="000000"/>
                </a:solidFill>
              </a:rPr>
              <a:t>…</a:t>
            </a:r>
          </a:p>
        </p:txBody>
      </p:sp>
      <p:grpSp>
        <p:nvGrpSpPr>
          <p:cNvPr id="49" name="Group 48"/>
          <p:cNvGrpSpPr/>
          <p:nvPr/>
        </p:nvGrpSpPr>
        <p:grpSpPr>
          <a:xfrm>
            <a:off x="2618882" y="3344189"/>
            <a:ext cx="1064828" cy="676637"/>
            <a:chOff x="2529818" y="2415923"/>
            <a:chExt cx="1419770" cy="902183"/>
          </a:xfrm>
        </p:grpSpPr>
        <p:sp>
          <p:nvSpPr>
            <p:cNvPr id="50" name="Rounded Rectangle 49"/>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rgbClr val="000000"/>
                  </a:solidFill>
                </a:rPr>
                <a:t>block group descriptor</a:t>
              </a:r>
              <a:endParaRPr lang="zh-TW" altLang="en-US" sz="1200" dirty="0">
                <a:solidFill>
                  <a:srgbClr val="000000"/>
                </a:solidFill>
              </a:endParaRPr>
            </a:p>
          </p:txBody>
        </p:sp>
        <p:sp>
          <p:nvSpPr>
            <p:cNvPr id="51" name="Rectangle 50"/>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rgbClr val="000000"/>
                </a:solidFill>
              </a:endParaRPr>
            </a:p>
          </p:txBody>
        </p:sp>
      </p:grpSp>
      <p:sp>
        <p:nvSpPr>
          <p:cNvPr id="54" name="Rectangle 53"/>
          <p:cNvSpPr/>
          <p:nvPr/>
        </p:nvSpPr>
        <p:spPr>
          <a:xfrm>
            <a:off x="339849" y="2968858"/>
            <a:ext cx="1048076" cy="29178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i="1" dirty="0">
                <a:solidFill>
                  <a:srgbClr val="000000">
                    <a:alpha val="30000"/>
                  </a:srgbClr>
                </a:solidFill>
              </a:rPr>
              <a:t>block </a:t>
            </a:r>
            <a:r>
              <a:rPr lang="en-US" sz="1200" i="1" dirty="0" err="1">
                <a:solidFill>
                  <a:srgbClr val="000000">
                    <a:alpha val="30000"/>
                  </a:srgbClr>
                </a:solidFill>
              </a:rPr>
              <a:t>addr</a:t>
            </a:r>
            <a:endParaRPr lang="en-US" sz="1200" i="1" dirty="0">
              <a:solidFill>
                <a:srgbClr val="000000">
                  <a:alpha val="30000"/>
                </a:srgbClr>
              </a:solidFill>
            </a:endParaRPr>
          </a:p>
        </p:txBody>
      </p:sp>
      <p:sp>
        <p:nvSpPr>
          <p:cNvPr id="55" name="Rectangle 54"/>
          <p:cNvSpPr/>
          <p:nvPr/>
        </p:nvSpPr>
        <p:spPr>
          <a:xfrm>
            <a:off x="345409" y="4184966"/>
            <a:ext cx="1048076" cy="29178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i="1" dirty="0">
                <a:solidFill>
                  <a:srgbClr val="000000"/>
                </a:solidFill>
              </a:rPr>
              <a:t>block </a:t>
            </a:r>
            <a:r>
              <a:rPr lang="en-US" sz="1200" i="1" dirty="0" err="1">
                <a:solidFill>
                  <a:srgbClr val="000000"/>
                </a:solidFill>
              </a:rPr>
              <a:t>addr</a:t>
            </a:r>
            <a:endParaRPr lang="en-US" sz="1200" i="1" dirty="0">
              <a:solidFill>
                <a:srgbClr val="000000"/>
              </a:solidFill>
            </a:endParaRPr>
          </a:p>
        </p:txBody>
      </p:sp>
      <p:sp>
        <p:nvSpPr>
          <p:cNvPr id="5" name="Rectangle 4"/>
          <p:cNvSpPr/>
          <p:nvPr/>
        </p:nvSpPr>
        <p:spPr>
          <a:xfrm>
            <a:off x="457199" y="3286349"/>
            <a:ext cx="3851329" cy="1190402"/>
          </a:xfrm>
          <a:prstGeom prst="rect">
            <a:avLst/>
          </a:pr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p>
        </p:txBody>
      </p:sp>
      <p:sp>
        <p:nvSpPr>
          <p:cNvPr id="71" name="Rectangle 70"/>
          <p:cNvSpPr/>
          <p:nvPr/>
        </p:nvSpPr>
        <p:spPr>
          <a:xfrm>
            <a:off x="6919522" y="3545798"/>
            <a:ext cx="1082038" cy="510217"/>
          </a:xfrm>
          <a:prstGeom prst="rect">
            <a:avLst/>
          </a:prstGeom>
          <a:solidFill>
            <a:srgbClr val="B7B7FF"/>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rgbClr val="000000"/>
              </a:solidFill>
            </a:endParaRPr>
          </a:p>
        </p:txBody>
      </p:sp>
      <p:sp>
        <p:nvSpPr>
          <p:cNvPr id="72" name="Rectangle 71"/>
          <p:cNvSpPr/>
          <p:nvPr/>
        </p:nvSpPr>
        <p:spPr>
          <a:xfrm>
            <a:off x="6013564" y="3545798"/>
            <a:ext cx="391386" cy="510217"/>
          </a:xfrm>
          <a:prstGeom prst="rect">
            <a:avLst/>
          </a:prstGeom>
          <a:solidFill>
            <a:srgbClr val="B7B7FF"/>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rgbClr val="000000"/>
              </a:solidFill>
            </a:endParaRPr>
          </a:p>
        </p:txBody>
      </p:sp>
      <p:cxnSp>
        <p:nvCxnSpPr>
          <p:cNvPr id="75" name="Straight Connector 74"/>
          <p:cNvCxnSpPr/>
          <p:nvPr/>
        </p:nvCxnSpPr>
        <p:spPr>
          <a:xfrm>
            <a:off x="5841382" y="2992819"/>
            <a:ext cx="573059" cy="573049"/>
          </a:xfrm>
          <a:prstGeom prst="line">
            <a:avLst/>
          </a:prstGeom>
          <a:ln w="15875">
            <a:solidFill>
              <a:srgbClr val="000000"/>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943320" y="3006658"/>
            <a:ext cx="1030222" cy="545370"/>
          </a:xfrm>
          <a:prstGeom prst="line">
            <a:avLst/>
          </a:prstGeom>
          <a:ln w="15875">
            <a:solidFill>
              <a:srgbClr val="000000"/>
            </a:solidFill>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H="1">
            <a:off x="4526254" y="2986214"/>
            <a:ext cx="2780" cy="601085"/>
          </a:xfrm>
          <a:prstGeom prst="line">
            <a:avLst/>
          </a:prstGeom>
          <a:ln w="15875">
            <a:solidFill>
              <a:srgbClr val="000000"/>
            </a:solidFill>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H="1">
            <a:off x="5419193" y="2998312"/>
            <a:ext cx="2780" cy="601085"/>
          </a:xfrm>
          <a:prstGeom prst="line">
            <a:avLst/>
          </a:prstGeom>
          <a:ln w="15875">
            <a:solidFill>
              <a:srgbClr val="000000"/>
            </a:solidFill>
            <a:prstDash val="sysDash"/>
          </a:ln>
        </p:spPr>
        <p:style>
          <a:lnRef idx="1">
            <a:schemeClr val="accent1"/>
          </a:lnRef>
          <a:fillRef idx="0">
            <a:schemeClr val="accent1"/>
          </a:fillRef>
          <a:effectRef idx="0">
            <a:schemeClr val="accent1"/>
          </a:effectRef>
          <a:fontRef idx="minor">
            <a:schemeClr val="tx1"/>
          </a:fontRef>
        </p:style>
      </p:cxnSp>
      <p:sp>
        <p:nvSpPr>
          <p:cNvPr id="88" name="Rectangle 87"/>
          <p:cNvSpPr/>
          <p:nvPr/>
        </p:nvSpPr>
        <p:spPr>
          <a:xfrm>
            <a:off x="4546278" y="3544477"/>
            <a:ext cx="3455282" cy="504126"/>
          </a:xfrm>
          <a:prstGeom prst="rect">
            <a:avLst/>
          </a:prstGeom>
          <a:noFill/>
          <a:ln w="1905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cxnSp>
        <p:nvCxnSpPr>
          <p:cNvPr id="91" name="Straight Connector 90"/>
          <p:cNvCxnSpPr/>
          <p:nvPr/>
        </p:nvCxnSpPr>
        <p:spPr>
          <a:xfrm>
            <a:off x="5436063" y="2495551"/>
            <a:ext cx="0" cy="518699"/>
          </a:xfrm>
          <a:prstGeom prst="line">
            <a:avLst/>
          </a:prstGeom>
          <a:ln w="15875">
            <a:solidFill>
              <a:srgbClr val="000000"/>
            </a:solidFill>
            <a:prstDash val="sysDash"/>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5855339" y="2495550"/>
            <a:ext cx="0" cy="497807"/>
          </a:xfrm>
          <a:prstGeom prst="line">
            <a:avLst/>
          </a:prstGeom>
          <a:ln w="15875">
            <a:solidFill>
              <a:srgbClr val="000000"/>
            </a:solidFill>
            <a:prstDash val="sysDash"/>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2782938" y="2470541"/>
            <a:ext cx="729687" cy="276999"/>
          </a:xfrm>
          <a:prstGeom prst="rect">
            <a:avLst/>
          </a:prstGeom>
          <a:noFill/>
        </p:spPr>
        <p:txBody>
          <a:bodyPr wrap="none" rtlCol="0">
            <a:spAutoFit/>
          </a:bodyPr>
          <a:lstStyle/>
          <a:p>
            <a:r>
              <a:rPr lang="en-CA" sz="1200" i="1" dirty="0">
                <a:solidFill>
                  <a:srgbClr val="000000"/>
                </a:solidFill>
              </a:rPr>
              <a:t>file </a:t>
            </a:r>
            <a:r>
              <a:rPr lang="en-CA" sz="1200" i="1" dirty="0" err="1" smtClean="0">
                <a:solidFill>
                  <a:srgbClr val="000000"/>
                </a:solidFill>
              </a:rPr>
              <a:t>addr</a:t>
            </a:r>
            <a:endParaRPr lang="en-CA" sz="1200" i="1" dirty="0">
              <a:solidFill>
                <a:srgbClr val="000000"/>
              </a:solidFill>
            </a:endParaRPr>
          </a:p>
        </p:txBody>
      </p:sp>
    </p:spTree>
    <p:extLst>
      <p:ext uri="{BB962C8B-B14F-4D97-AF65-F5344CB8AC3E}">
        <p14:creationId xmlns:p14="http://schemas.microsoft.com/office/powerpoint/2010/main" val="22031757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Super Block</a:t>
            </a:r>
            <a:endParaRPr lang="en-CA" dirty="0"/>
          </a:p>
        </p:txBody>
      </p:sp>
      <p:sp>
        <p:nvSpPr>
          <p:cNvPr id="3" name="Content Placeholder 2"/>
          <p:cNvSpPr>
            <a:spLocks noGrp="1"/>
          </p:cNvSpPr>
          <p:nvPr>
            <p:ph idx="1"/>
          </p:nvPr>
        </p:nvSpPr>
        <p:spPr/>
        <p:txBody>
          <a:bodyPr/>
          <a:lstStyle/>
          <a:p>
            <a:r>
              <a:rPr lang="en-CA" dirty="0" smtClean="0"/>
              <a:t>Super block is the root of every file system tree</a:t>
            </a:r>
          </a:p>
          <a:p>
            <a:pPr lvl="1"/>
            <a:r>
              <a:rPr lang="en-CA" dirty="0" smtClean="0"/>
              <a:t>Specified using FSSUPER annotation</a:t>
            </a:r>
          </a:p>
          <a:p>
            <a:pPr lvl="1"/>
            <a:r>
              <a:rPr lang="en-CA" i="1" dirty="0" smtClean="0"/>
              <a:t>location</a:t>
            </a:r>
            <a:r>
              <a:rPr lang="en-CA" dirty="0" smtClean="0"/>
              <a:t> specifies address of super block in byte offset</a:t>
            </a:r>
            <a:endParaRPr lang="en-CA" dirty="0"/>
          </a:p>
        </p:txBody>
      </p:sp>
      <p:sp>
        <p:nvSpPr>
          <p:cNvPr id="6" name="Rectangle 5"/>
          <p:cNvSpPr/>
          <p:nvPr/>
        </p:nvSpPr>
        <p:spPr>
          <a:xfrm>
            <a:off x="712518" y="2270824"/>
            <a:ext cx="4981216" cy="2062103"/>
          </a:xfrm>
          <a:prstGeom prst="rect">
            <a:avLst/>
          </a:prstGeom>
        </p:spPr>
        <p:txBody>
          <a:bodyPr wrap="square">
            <a:spAutoFit/>
          </a:bodyPr>
          <a:lstStyle/>
          <a:p>
            <a:r>
              <a:rPr lang="en-CA" b="1" dirty="0">
                <a:solidFill>
                  <a:srgbClr val="000000"/>
                </a:solidFill>
                <a:latin typeface="Courier New" panose="02070309020205020404" pitchFamily="49" charset="0"/>
                <a:cs typeface="Courier New" panose="02070309020205020404" pitchFamily="49" charset="0"/>
              </a:rPr>
              <a:t>FSSUPER</a:t>
            </a:r>
            <a:r>
              <a:rPr lang="en-CA" dirty="0">
                <a:solidFill>
                  <a:srgbClr val="000000"/>
                </a:solidFill>
                <a:latin typeface="Courier New" panose="02070309020205020404" pitchFamily="49" charset="0"/>
                <a:cs typeface="Courier New" panose="02070309020205020404" pitchFamily="49" charset="0"/>
              </a:rPr>
              <a:t>(location=1024) ext4_super_block {</a:t>
            </a:r>
          </a:p>
          <a:p>
            <a:r>
              <a:rPr lang="en-CA" dirty="0">
                <a:solidFill>
                  <a:srgbClr val="000000"/>
                </a:solidFill>
                <a:latin typeface="Courier New" panose="02070309020205020404" pitchFamily="49" charset="0"/>
                <a:cs typeface="Courier New" panose="02070309020205020404" pitchFamily="49" charset="0"/>
              </a:rPr>
              <a:t>  __le32 </a:t>
            </a:r>
            <a:r>
              <a:rPr lang="en-CA" dirty="0" err="1">
                <a:solidFill>
                  <a:srgbClr val="000000"/>
                </a:solidFill>
                <a:latin typeface="Courier New" panose="02070309020205020404" pitchFamily="49" charset="0"/>
                <a:cs typeface="Courier New" panose="02070309020205020404" pitchFamily="49" charset="0"/>
              </a:rPr>
              <a:t>s_log_block_size</a:t>
            </a:r>
            <a:r>
              <a:rPr lang="en-CA" dirty="0">
                <a:solidFill>
                  <a:srgbClr val="000000"/>
                </a:solidFill>
                <a:latin typeface="Courier New" panose="02070309020205020404" pitchFamily="49" charset="0"/>
                <a:cs typeface="Courier New" panose="02070309020205020404" pitchFamily="49" charset="0"/>
              </a:rPr>
              <a:t>;</a:t>
            </a:r>
          </a:p>
          <a:p>
            <a:r>
              <a:rPr lang="en-CA" dirty="0">
                <a:solidFill>
                  <a:srgbClr val="000000"/>
                </a:solidFill>
                <a:latin typeface="Courier New" panose="02070309020205020404" pitchFamily="49" charset="0"/>
                <a:cs typeface="Courier New" panose="02070309020205020404" pitchFamily="49" charset="0"/>
              </a:rPr>
              <a:t>  ...</a:t>
            </a:r>
          </a:p>
          <a:p>
            <a:r>
              <a:rPr lang="fr-FR" dirty="0">
                <a:solidFill>
                  <a:srgbClr val="000000"/>
                </a:solidFill>
                <a:latin typeface="Courier New" panose="02070309020205020404" pitchFamily="49" charset="0"/>
                <a:cs typeface="Courier New" panose="02070309020205020404" pitchFamily="49" charset="0"/>
              </a:rPr>
              <a:t>  </a:t>
            </a:r>
            <a:r>
              <a:rPr lang="fr-FR" b="1" dirty="0" smtClean="0">
                <a:solidFill>
                  <a:srgbClr val="000000"/>
                </a:solidFill>
                <a:latin typeface="Courier New" panose="02070309020205020404" pitchFamily="49" charset="0"/>
                <a:cs typeface="Courier New" panose="02070309020205020404" pitchFamily="49" charset="0"/>
              </a:rPr>
              <a:t>POINTER</a:t>
            </a:r>
            <a:r>
              <a:rPr lang="fr-FR" dirty="0" smtClean="0">
                <a:solidFill>
                  <a:srgbClr val="000000"/>
                </a:solidFill>
                <a:latin typeface="Courier New" panose="02070309020205020404" pitchFamily="49" charset="0"/>
                <a:cs typeface="Courier New" panose="02070309020205020404" pitchFamily="49" charset="0"/>
              </a:rPr>
              <a:t>(</a:t>
            </a:r>
            <a:r>
              <a:rPr lang="fr-FR" dirty="0" err="1" smtClean="0">
                <a:solidFill>
                  <a:srgbClr val="000000"/>
                </a:solidFill>
                <a:latin typeface="Courier New" panose="02070309020205020404" pitchFamily="49" charset="0"/>
                <a:cs typeface="Courier New" panose="02070309020205020404" pitchFamily="49" charset="0"/>
              </a:rPr>
              <a:t>aspc</a:t>
            </a:r>
            <a:r>
              <a:rPr lang="fr-FR" dirty="0" smtClean="0">
                <a:solidFill>
                  <a:srgbClr val="000000"/>
                </a:solidFill>
                <a:latin typeface="Courier New" panose="02070309020205020404" pitchFamily="49" charset="0"/>
                <a:cs typeface="Courier New" panose="02070309020205020404" pitchFamily="49" charset="0"/>
              </a:rPr>
              <a:t>=file</a:t>
            </a:r>
            <a:r>
              <a:rPr lang="fr-FR" dirty="0">
                <a:solidFill>
                  <a:srgbClr val="000000"/>
                </a:solidFill>
                <a:latin typeface="Courier New" panose="02070309020205020404" pitchFamily="49" charset="0"/>
                <a:cs typeface="Courier New" panose="02070309020205020404" pitchFamily="49" charset="0"/>
              </a:rPr>
              <a:t>, </a:t>
            </a:r>
            <a:r>
              <a:rPr lang="fr-FR" dirty="0" smtClean="0">
                <a:solidFill>
                  <a:srgbClr val="000000"/>
                </a:solidFill>
                <a:latin typeface="Courier New" panose="02070309020205020404" pitchFamily="49" charset="0"/>
                <a:cs typeface="Courier New" panose="02070309020205020404" pitchFamily="49" charset="0"/>
              </a:rPr>
              <a:t/>
            </a:r>
            <a:br>
              <a:rPr lang="fr-FR" dirty="0" smtClean="0">
                <a:solidFill>
                  <a:srgbClr val="000000"/>
                </a:solidFill>
                <a:latin typeface="Courier New" panose="02070309020205020404" pitchFamily="49" charset="0"/>
                <a:cs typeface="Courier New" panose="02070309020205020404" pitchFamily="49" charset="0"/>
              </a:rPr>
            </a:br>
            <a:r>
              <a:rPr lang="fr-FR" dirty="0" smtClean="0">
                <a:solidFill>
                  <a:srgbClr val="000000"/>
                </a:solidFill>
                <a:latin typeface="Courier New" panose="02070309020205020404" pitchFamily="49" charset="0"/>
                <a:cs typeface="Courier New" panose="02070309020205020404" pitchFamily="49" charset="0"/>
              </a:rPr>
              <a:t>          type=ext4_journal</a:t>
            </a:r>
            <a:r>
              <a:rPr lang="fr-FR" dirty="0">
                <a:solidFill>
                  <a:srgbClr val="000000"/>
                </a:solidFill>
                <a:latin typeface="Courier New" panose="02070309020205020404" pitchFamily="49" charset="0"/>
                <a:cs typeface="Courier New" panose="02070309020205020404" pitchFamily="49" charset="0"/>
              </a:rPr>
              <a:t>)</a:t>
            </a:r>
          </a:p>
          <a:p>
            <a:r>
              <a:rPr lang="fr-FR" dirty="0">
                <a:solidFill>
                  <a:srgbClr val="000000"/>
                </a:solidFill>
                <a:latin typeface="Courier New" panose="02070309020205020404" pitchFamily="49" charset="0"/>
                <a:cs typeface="Courier New" panose="02070309020205020404" pitchFamily="49" charset="0"/>
              </a:rPr>
              <a:t>  __le32 </a:t>
            </a:r>
            <a:r>
              <a:rPr lang="fr-FR" dirty="0" err="1">
                <a:solidFill>
                  <a:srgbClr val="000000"/>
                </a:solidFill>
                <a:latin typeface="Courier New" panose="02070309020205020404" pitchFamily="49" charset="0"/>
                <a:cs typeface="Courier New" panose="02070309020205020404" pitchFamily="49" charset="0"/>
              </a:rPr>
              <a:t>s_journal_inum</a:t>
            </a:r>
            <a:r>
              <a:rPr lang="fr-FR" dirty="0">
                <a:solidFill>
                  <a:srgbClr val="000000"/>
                </a:solidFill>
                <a:latin typeface="Courier New" panose="02070309020205020404" pitchFamily="49" charset="0"/>
                <a:cs typeface="Courier New" panose="02070309020205020404" pitchFamily="49" charset="0"/>
              </a:rPr>
              <a:t>;</a:t>
            </a:r>
            <a:endParaRPr lang="en-CA" dirty="0">
              <a:solidFill>
                <a:srgbClr val="000000"/>
              </a:solidFill>
              <a:latin typeface="Courier New" panose="02070309020205020404" pitchFamily="49" charset="0"/>
              <a:cs typeface="Courier New" panose="02070309020205020404" pitchFamily="49" charset="0"/>
            </a:endParaRPr>
          </a:p>
          <a:p>
            <a:r>
              <a:rPr lang="en-CA" dirty="0">
                <a:solidFill>
                  <a:srgbClr val="000000"/>
                </a:solidFill>
                <a:latin typeface="Courier New" panose="02070309020205020404" pitchFamily="49" charset="0"/>
                <a:cs typeface="Courier New" panose="02070309020205020404" pitchFamily="49" charset="0"/>
              </a:rPr>
              <a:t>};</a:t>
            </a:r>
          </a:p>
        </p:txBody>
      </p:sp>
      <p:grpSp>
        <p:nvGrpSpPr>
          <p:cNvPr id="8" name="Group 7"/>
          <p:cNvGrpSpPr/>
          <p:nvPr/>
        </p:nvGrpSpPr>
        <p:grpSpPr>
          <a:xfrm>
            <a:off x="4800600" y="2984144"/>
            <a:ext cx="3548767" cy="635461"/>
            <a:chOff x="3891368" y="3480724"/>
            <a:chExt cx="3548767" cy="635461"/>
          </a:xfrm>
        </p:grpSpPr>
        <p:sp>
          <p:nvSpPr>
            <p:cNvPr id="13" name="Rectangle 12"/>
            <p:cNvSpPr/>
            <p:nvPr/>
          </p:nvSpPr>
          <p:spPr>
            <a:xfrm>
              <a:off x="3891368" y="3480724"/>
              <a:ext cx="754802" cy="635461"/>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p>
          </p:txBody>
        </p:sp>
        <p:sp>
          <p:nvSpPr>
            <p:cNvPr id="14" name="Rectangle 13"/>
            <p:cNvSpPr/>
            <p:nvPr/>
          </p:nvSpPr>
          <p:spPr>
            <a:xfrm>
              <a:off x="3952177" y="3529601"/>
              <a:ext cx="633185" cy="400143"/>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rgbClr val="000000"/>
                  </a:solidFill>
                </a:rPr>
                <a:t>super </a:t>
              </a:r>
              <a:r>
                <a:rPr lang="en-US" sz="1200" dirty="0">
                  <a:solidFill>
                    <a:srgbClr val="000000"/>
                  </a:solidFill>
                </a:rPr>
                <a:t>block</a:t>
              </a:r>
            </a:p>
          </p:txBody>
        </p:sp>
        <p:sp>
          <p:nvSpPr>
            <p:cNvPr id="16" name="Rectangle 15"/>
            <p:cNvSpPr/>
            <p:nvPr/>
          </p:nvSpPr>
          <p:spPr>
            <a:xfrm>
              <a:off x="5486746" y="3480724"/>
              <a:ext cx="1953389" cy="635461"/>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chemeClr val="bg1"/>
                </a:solidFill>
              </a:endParaRPr>
            </a:p>
          </p:txBody>
        </p:sp>
        <p:sp>
          <p:nvSpPr>
            <p:cNvPr id="17" name="Rectangle 16"/>
            <p:cNvSpPr/>
            <p:nvPr/>
          </p:nvSpPr>
          <p:spPr>
            <a:xfrm>
              <a:off x="5540299" y="3529601"/>
              <a:ext cx="1040127" cy="2468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ext4 journal</a:t>
              </a:r>
            </a:p>
          </p:txBody>
        </p:sp>
        <p:cxnSp>
          <p:nvCxnSpPr>
            <p:cNvPr id="18" name="Straight Arrow Connector 17"/>
            <p:cNvCxnSpPr>
              <a:stCxn id="13" idx="3"/>
              <a:endCxn id="16" idx="1"/>
            </p:cNvCxnSpPr>
            <p:nvPr/>
          </p:nvCxnSpPr>
          <p:spPr>
            <a:xfrm>
              <a:off x="4646170" y="3798455"/>
              <a:ext cx="840574" cy="0"/>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664577" y="3480724"/>
              <a:ext cx="767261" cy="276999"/>
            </a:xfrm>
            <a:prstGeom prst="rect">
              <a:avLst/>
            </a:prstGeom>
            <a:noFill/>
          </p:spPr>
          <p:txBody>
            <a:bodyPr wrap="none" rtlCol="0">
              <a:spAutoFit/>
            </a:bodyPr>
            <a:lstStyle/>
            <a:p>
              <a:r>
                <a:rPr lang="en-CA" sz="1200" i="1" dirty="0">
                  <a:solidFill>
                    <a:srgbClr val="000000"/>
                  </a:solidFill>
                </a:rPr>
                <a:t>file </a:t>
              </a:r>
              <a:r>
                <a:rPr lang="en-CA" sz="1200" i="1" dirty="0" err="1">
                  <a:solidFill>
                    <a:srgbClr val="000000"/>
                  </a:solidFill>
                </a:rPr>
                <a:t>addr</a:t>
              </a:r>
              <a:r>
                <a:rPr lang="en-CA" sz="1200" i="1" dirty="0">
                  <a:solidFill>
                    <a:srgbClr val="000000"/>
                  </a:solidFill>
                </a:rPr>
                <a:t>.</a:t>
              </a:r>
            </a:p>
          </p:txBody>
        </p:sp>
      </p:grpSp>
    </p:spTree>
    <p:extLst>
      <p:ext uri="{BB962C8B-B14F-4D97-AF65-F5344CB8AC3E}">
        <p14:creationId xmlns:p14="http://schemas.microsoft.com/office/powerpoint/2010/main" val="28289191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Super Block</a:t>
            </a:r>
            <a:endParaRPr lang="en-CA" dirty="0"/>
          </a:p>
        </p:txBody>
      </p:sp>
      <p:sp>
        <p:nvSpPr>
          <p:cNvPr id="3" name="Content Placeholder 2"/>
          <p:cNvSpPr>
            <a:spLocks noGrp="1"/>
          </p:cNvSpPr>
          <p:nvPr>
            <p:ph idx="1"/>
          </p:nvPr>
        </p:nvSpPr>
        <p:spPr/>
        <p:txBody>
          <a:bodyPr/>
          <a:lstStyle/>
          <a:p>
            <a:r>
              <a:rPr lang="en-CA" dirty="0" smtClean="0"/>
              <a:t>Super block is the root of every file system tree</a:t>
            </a:r>
          </a:p>
          <a:p>
            <a:pPr lvl="1"/>
            <a:r>
              <a:rPr lang="en-CA" dirty="0" smtClean="0"/>
              <a:t>Specified using FSSUPER annotation</a:t>
            </a:r>
          </a:p>
          <a:p>
            <a:pPr lvl="1"/>
            <a:r>
              <a:rPr lang="en-CA" i="1" dirty="0" smtClean="0"/>
              <a:t>location</a:t>
            </a:r>
            <a:r>
              <a:rPr lang="en-CA" dirty="0" smtClean="0"/>
              <a:t> specifies address of super block in byte offset</a:t>
            </a:r>
            <a:endParaRPr lang="en-CA" dirty="0"/>
          </a:p>
        </p:txBody>
      </p:sp>
      <p:sp>
        <p:nvSpPr>
          <p:cNvPr id="6" name="Rectangle 5"/>
          <p:cNvSpPr/>
          <p:nvPr/>
        </p:nvSpPr>
        <p:spPr>
          <a:xfrm>
            <a:off x="712518" y="2270824"/>
            <a:ext cx="4981216" cy="2062103"/>
          </a:xfrm>
          <a:prstGeom prst="rect">
            <a:avLst/>
          </a:prstGeom>
          <a:effectLst>
            <a:glow rad="228600">
              <a:schemeClr val="accent2">
                <a:satMod val="175000"/>
                <a:alpha val="40000"/>
              </a:schemeClr>
            </a:glow>
          </a:effectLst>
        </p:spPr>
        <p:txBody>
          <a:bodyPr wrap="square">
            <a:spAutoFit/>
          </a:bodyPr>
          <a:lstStyle/>
          <a:p>
            <a:r>
              <a:rPr lang="en-CA" b="1"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FSSUPER</a:t>
            </a:r>
            <a:r>
              <a:rPr lang="en-CA" dirty="0">
                <a:solidFill>
                  <a:srgbClr val="000000"/>
                </a:solidFill>
                <a:latin typeface="Courier New" panose="02070309020205020404" pitchFamily="49" charset="0"/>
                <a:cs typeface="Courier New" panose="02070309020205020404" pitchFamily="49" charset="0"/>
              </a:rPr>
              <a:t>(</a:t>
            </a:r>
            <a:r>
              <a:rPr lang="en-CA"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location=1024</a:t>
            </a:r>
            <a:r>
              <a:rPr lang="en-CA" dirty="0">
                <a:solidFill>
                  <a:srgbClr val="000000"/>
                </a:solidFill>
                <a:latin typeface="Courier New" panose="02070309020205020404" pitchFamily="49" charset="0"/>
                <a:cs typeface="Courier New" panose="02070309020205020404" pitchFamily="49" charset="0"/>
              </a:rPr>
              <a:t>) </a:t>
            </a:r>
            <a:r>
              <a:rPr lang="en-CA"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ext4_super_block</a:t>
            </a:r>
            <a:r>
              <a:rPr lang="en-CA" dirty="0">
                <a:solidFill>
                  <a:srgbClr val="000000"/>
                </a:solidFill>
                <a:latin typeface="Courier New" panose="02070309020205020404" pitchFamily="49" charset="0"/>
                <a:cs typeface="Courier New" panose="02070309020205020404" pitchFamily="49" charset="0"/>
              </a:rPr>
              <a:t> {</a:t>
            </a:r>
          </a:p>
          <a:p>
            <a:r>
              <a:rPr lang="en-CA" dirty="0">
                <a:solidFill>
                  <a:srgbClr val="000000"/>
                </a:solidFill>
                <a:latin typeface="Courier New" panose="02070309020205020404" pitchFamily="49" charset="0"/>
                <a:cs typeface="Courier New" panose="02070309020205020404" pitchFamily="49" charset="0"/>
              </a:rPr>
              <a:t>  __le32 </a:t>
            </a:r>
            <a:r>
              <a:rPr lang="en-CA" dirty="0" err="1">
                <a:solidFill>
                  <a:srgbClr val="000000"/>
                </a:solidFill>
                <a:latin typeface="Courier New" panose="02070309020205020404" pitchFamily="49" charset="0"/>
                <a:cs typeface="Courier New" panose="02070309020205020404" pitchFamily="49" charset="0"/>
              </a:rPr>
              <a:t>s_log_block_size</a:t>
            </a:r>
            <a:r>
              <a:rPr lang="en-CA" dirty="0">
                <a:solidFill>
                  <a:srgbClr val="000000"/>
                </a:solidFill>
                <a:latin typeface="Courier New" panose="02070309020205020404" pitchFamily="49" charset="0"/>
                <a:cs typeface="Courier New" panose="02070309020205020404" pitchFamily="49" charset="0"/>
              </a:rPr>
              <a:t>;</a:t>
            </a:r>
          </a:p>
          <a:p>
            <a:r>
              <a:rPr lang="en-CA" dirty="0">
                <a:solidFill>
                  <a:srgbClr val="000000"/>
                </a:solidFill>
                <a:latin typeface="Courier New" panose="02070309020205020404" pitchFamily="49" charset="0"/>
                <a:cs typeface="Courier New" panose="02070309020205020404" pitchFamily="49" charset="0"/>
              </a:rPr>
              <a:t>  ...</a:t>
            </a:r>
          </a:p>
          <a:p>
            <a:r>
              <a:rPr lang="fr-FR" dirty="0">
                <a:solidFill>
                  <a:srgbClr val="000000"/>
                </a:solidFill>
                <a:latin typeface="Courier New" panose="02070309020205020404" pitchFamily="49" charset="0"/>
                <a:cs typeface="Courier New" panose="02070309020205020404" pitchFamily="49" charset="0"/>
              </a:rPr>
              <a:t>  </a:t>
            </a:r>
            <a:r>
              <a:rPr lang="fr-FR" b="1" dirty="0" smtClean="0">
                <a:solidFill>
                  <a:srgbClr val="000000"/>
                </a:solidFill>
                <a:latin typeface="Courier New" panose="02070309020205020404" pitchFamily="49" charset="0"/>
                <a:cs typeface="Courier New" panose="02070309020205020404" pitchFamily="49" charset="0"/>
              </a:rPr>
              <a:t>POINTER</a:t>
            </a:r>
            <a:r>
              <a:rPr lang="fr-FR" dirty="0" smtClean="0">
                <a:solidFill>
                  <a:srgbClr val="000000"/>
                </a:solidFill>
                <a:latin typeface="Courier New" panose="02070309020205020404" pitchFamily="49" charset="0"/>
                <a:cs typeface="Courier New" panose="02070309020205020404" pitchFamily="49" charset="0"/>
              </a:rPr>
              <a:t>(</a:t>
            </a:r>
            <a:r>
              <a:rPr lang="fr-FR" dirty="0" err="1" smtClean="0">
                <a:solidFill>
                  <a:srgbClr val="000000"/>
                </a:solidFill>
                <a:latin typeface="Courier New" panose="02070309020205020404" pitchFamily="49" charset="0"/>
                <a:cs typeface="Courier New" panose="02070309020205020404" pitchFamily="49" charset="0"/>
              </a:rPr>
              <a:t>aspc</a:t>
            </a:r>
            <a:r>
              <a:rPr lang="fr-FR" dirty="0" smtClean="0">
                <a:solidFill>
                  <a:srgbClr val="000000"/>
                </a:solidFill>
                <a:latin typeface="Courier New" panose="02070309020205020404" pitchFamily="49" charset="0"/>
                <a:cs typeface="Courier New" panose="02070309020205020404" pitchFamily="49" charset="0"/>
              </a:rPr>
              <a:t>=file</a:t>
            </a:r>
            <a:r>
              <a:rPr lang="fr-FR" dirty="0">
                <a:solidFill>
                  <a:srgbClr val="000000"/>
                </a:solidFill>
                <a:latin typeface="Courier New" panose="02070309020205020404" pitchFamily="49" charset="0"/>
                <a:cs typeface="Courier New" panose="02070309020205020404" pitchFamily="49" charset="0"/>
              </a:rPr>
              <a:t>, </a:t>
            </a:r>
            <a:r>
              <a:rPr lang="fr-FR" dirty="0" smtClean="0">
                <a:solidFill>
                  <a:srgbClr val="000000"/>
                </a:solidFill>
                <a:latin typeface="Courier New" panose="02070309020205020404" pitchFamily="49" charset="0"/>
                <a:cs typeface="Courier New" panose="02070309020205020404" pitchFamily="49" charset="0"/>
              </a:rPr>
              <a:t/>
            </a:r>
            <a:br>
              <a:rPr lang="fr-FR" dirty="0" smtClean="0">
                <a:solidFill>
                  <a:srgbClr val="000000"/>
                </a:solidFill>
                <a:latin typeface="Courier New" panose="02070309020205020404" pitchFamily="49" charset="0"/>
                <a:cs typeface="Courier New" panose="02070309020205020404" pitchFamily="49" charset="0"/>
              </a:rPr>
            </a:br>
            <a:r>
              <a:rPr lang="fr-FR" dirty="0" smtClean="0">
                <a:solidFill>
                  <a:srgbClr val="000000"/>
                </a:solidFill>
                <a:latin typeface="Courier New" panose="02070309020205020404" pitchFamily="49" charset="0"/>
                <a:cs typeface="Courier New" panose="02070309020205020404" pitchFamily="49" charset="0"/>
              </a:rPr>
              <a:t>          type=ext4_journal</a:t>
            </a:r>
            <a:r>
              <a:rPr lang="fr-FR" dirty="0">
                <a:solidFill>
                  <a:srgbClr val="000000"/>
                </a:solidFill>
                <a:latin typeface="Courier New" panose="02070309020205020404" pitchFamily="49" charset="0"/>
                <a:cs typeface="Courier New" panose="02070309020205020404" pitchFamily="49" charset="0"/>
              </a:rPr>
              <a:t>)</a:t>
            </a:r>
          </a:p>
          <a:p>
            <a:r>
              <a:rPr lang="fr-FR" dirty="0">
                <a:solidFill>
                  <a:srgbClr val="000000"/>
                </a:solidFill>
                <a:latin typeface="Courier New" panose="02070309020205020404" pitchFamily="49" charset="0"/>
                <a:cs typeface="Courier New" panose="02070309020205020404" pitchFamily="49" charset="0"/>
              </a:rPr>
              <a:t>  __le32 </a:t>
            </a:r>
            <a:r>
              <a:rPr lang="fr-FR" dirty="0" err="1">
                <a:solidFill>
                  <a:srgbClr val="000000"/>
                </a:solidFill>
                <a:latin typeface="Courier New" panose="02070309020205020404" pitchFamily="49" charset="0"/>
                <a:cs typeface="Courier New" panose="02070309020205020404" pitchFamily="49" charset="0"/>
              </a:rPr>
              <a:t>s_journal_inum</a:t>
            </a:r>
            <a:r>
              <a:rPr lang="fr-FR" dirty="0">
                <a:solidFill>
                  <a:srgbClr val="000000"/>
                </a:solidFill>
                <a:latin typeface="Courier New" panose="02070309020205020404" pitchFamily="49" charset="0"/>
                <a:cs typeface="Courier New" panose="02070309020205020404" pitchFamily="49" charset="0"/>
              </a:rPr>
              <a:t>;</a:t>
            </a:r>
            <a:endParaRPr lang="en-CA" dirty="0">
              <a:solidFill>
                <a:srgbClr val="000000"/>
              </a:solidFill>
              <a:latin typeface="Courier New" panose="02070309020205020404" pitchFamily="49" charset="0"/>
              <a:cs typeface="Courier New" panose="02070309020205020404" pitchFamily="49" charset="0"/>
            </a:endParaRPr>
          </a:p>
          <a:p>
            <a:r>
              <a:rPr lang="en-CA" dirty="0">
                <a:solidFill>
                  <a:srgbClr val="000000"/>
                </a:solidFill>
                <a:latin typeface="Courier New" panose="02070309020205020404" pitchFamily="49" charset="0"/>
                <a:cs typeface="Courier New" panose="02070309020205020404" pitchFamily="49" charset="0"/>
              </a:rPr>
              <a:t>};</a:t>
            </a:r>
          </a:p>
        </p:txBody>
      </p:sp>
      <p:grpSp>
        <p:nvGrpSpPr>
          <p:cNvPr id="8" name="Group 7"/>
          <p:cNvGrpSpPr/>
          <p:nvPr/>
        </p:nvGrpSpPr>
        <p:grpSpPr>
          <a:xfrm>
            <a:off x="4800600" y="2984144"/>
            <a:ext cx="3548767" cy="635461"/>
            <a:chOff x="3891368" y="3480724"/>
            <a:chExt cx="3548767" cy="635461"/>
          </a:xfrm>
        </p:grpSpPr>
        <p:sp>
          <p:nvSpPr>
            <p:cNvPr id="13" name="Rectangle 12"/>
            <p:cNvSpPr/>
            <p:nvPr/>
          </p:nvSpPr>
          <p:spPr>
            <a:xfrm>
              <a:off x="3891368" y="3480724"/>
              <a:ext cx="754802" cy="635461"/>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p>
          </p:txBody>
        </p:sp>
        <p:sp>
          <p:nvSpPr>
            <p:cNvPr id="14" name="Rectangle 13"/>
            <p:cNvSpPr/>
            <p:nvPr/>
          </p:nvSpPr>
          <p:spPr>
            <a:xfrm>
              <a:off x="3952177" y="3529601"/>
              <a:ext cx="633185" cy="400143"/>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rgbClr val="000000"/>
                  </a:solidFill>
                </a:rPr>
                <a:t>super </a:t>
              </a:r>
              <a:r>
                <a:rPr lang="en-US" sz="1200" dirty="0">
                  <a:solidFill>
                    <a:srgbClr val="000000"/>
                  </a:solidFill>
                </a:rPr>
                <a:t>block</a:t>
              </a:r>
            </a:p>
          </p:txBody>
        </p:sp>
        <p:sp>
          <p:nvSpPr>
            <p:cNvPr id="16" name="Rectangle 15"/>
            <p:cNvSpPr/>
            <p:nvPr/>
          </p:nvSpPr>
          <p:spPr>
            <a:xfrm>
              <a:off x="5486746" y="3480724"/>
              <a:ext cx="1953389" cy="635461"/>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chemeClr val="bg1"/>
                </a:solidFill>
              </a:endParaRPr>
            </a:p>
          </p:txBody>
        </p:sp>
        <p:sp>
          <p:nvSpPr>
            <p:cNvPr id="17" name="Rectangle 16"/>
            <p:cNvSpPr/>
            <p:nvPr/>
          </p:nvSpPr>
          <p:spPr>
            <a:xfrm>
              <a:off x="5540299" y="3529601"/>
              <a:ext cx="1040127" cy="2468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ext4 journal</a:t>
              </a:r>
            </a:p>
          </p:txBody>
        </p:sp>
        <p:cxnSp>
          <p:nvCxnSpPr>
            <p:cNvPr id="18" name="Straight Arrow Connector 17"/>
            <p:cNvCxnSpPr>
              <a:stCxn id="13" idx="3"/>
              <a:endCxn id="16" idx="1"/>
            </p:cNvCxnSpPr>
            <p:nvPr/>
          </p:nvCxnSpPr>
          <p:spPr>
            <a:xfrm>
              <a:off x="4646170" y="3798455"/>
              <a:ext cx="840574" cy="0"/>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664577" y="3480724"/>
              <a:ext cx="767261" cy="276999"/>
            </a:xfrm>
            <a:prstGeom prst="rect">
              <a:avLst/>
            </a:prstGeom>
            <a:noFill/>
          </p:spPr>
          <p:txBody>
            <a:bodyPr wrap="none" rtlCol="0">
              <a:spAutoFit/>
            </a:bodyPr>
            <a:lstStyle/>
            <a:p>
              <a:r>
                <a:rPr lang="en-CA" sz="1200" i="1" dirty="0">
                  <a:solidFill>
                    <a:srgbClr val="000000"/>
                  </a:solidFill>
                </a:rPr>
                <a:t>file </a:t>
              </a:r>
              <a:r>
                <a:rPr lang="en-CA" sz="1200" i="1" dirty="0" err="1">
                  <a:solidFill>
                    <a:srgbClr val="000000"/>
                  </a:solidFill>
                </a:rPr>
                <a:t>addr</a:t>
              </a:r>
              <a:r>
                <a:rPr lang="en-CA" sz="1200" i="1" dirty="0">
                  <a:solidFill>
                    <a:srgbClr val="000000"/>
                  </a:solidFill>
                </a:rPr>
                <a:t>.</a:t>
              </a:r>
            </a:p>
          </p:txBody>
        </p:sp>
      </p:grpSp>
    </p:spTree>
    <p:extLst>
      <p:ext uri="{BB962C8B-B14F-4D97-AF65-F5344CB8AC3E}">
        <p14:creationId xmlns:p14="http://schemas.microsoft.com/office/powerpoint/2010/main" val="24124570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Super Block</a:t>
            </a:r>
            <a:endParaRPr lang="en-CA" dirty="0"/>
          </a:p>
        </p:txBody>
      </p:sp>
      <p:sp>
        <p:nvSpPr>
          <p:cNvPr id="3" name="Content Placeholder 2"/>
          <p:cNvSpPr>
            <a:spLocks noGrp="1"/>
          </p:cNvSpPr>
          <p:nvPr>
            <p:ph idx="1"/>
          </p:nvPr>
        </p:nvSpPr>
        <p:spPr/>
        <p:txBody>
          <a:bodyPr/>
          <a:lstStyle/>
          <a:p>
            <a:r>
              <a:rPr lang="en-CA" dirty="0" smtClean="0"/>
              <a:t>Super block is the root of every file system tree</a:t>
            </a:r>
          </a:p>
          <a:p>
            <a:pPr lvl="1"/>
            <a:r>
              <a:rPr lang="en-CA" dirty="0" smtClean="0"/>
              <a:t>Specified using FSSUPER annotation</a:t>
            </a:r>
          </a:p>
          <a:p>
            <a:pPr lvl="1"/>
            <a:r>
              <a:rPr lang="en-CA" i="1" dirty="0" smtClean="0"/>
              <a:t>location</a:t>
            </a:r>
            <a:r>
              <a:rPr lang="en-CA" dirty="0" smtClean="0"/>
              <a:t> specifies address of super block in byte offset</a:t>
            </a:r>
            <a:endParaRPr lang="en-CA" dirty="0"/>
          </a:p>
        </p:txBody>
      </p:sp>
      <p:grpSp>
        <p:nvGrpSpPr>
          <p:cNvPr id="8" name="Group 7"/>
          <p:cNvGrpSpPr/>
          <p:nvPr/>
        </p:nvGrpSpPr>
        <p:grpSpPr>
          <a:xfrm>
            <a:off x="4800600" y="2984144"/>
            <a:ext cx="3548767" cy="635461"/>
            <a:chOff x="3891368" y="3480724"/>
            <a:chExt cx="3548767" cy="635461"/>
          </a:xfrm>
        </p:grpSpPr>
        <p:sp>
          <p:nvSpPr>
            <p:cNvPr id="13" name="Rectangle 12"/>
            <p:cNvSpPr/>
            <p:nvPr/>
          </p:nvSpPr>
          <p:spPr>
            <a:xfrm>
              <a:off x="3891368" y="3480724"/>
              <a:ext cx="754802" cy="635461"/>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p>
          </p:txBody>
        </p:sp>
        <p:sp>
          <p:nvSpPr>
            <p:cNvPr id="14" name="Rectangle 13"/>
            <p:cNvSpPr/>
            <p:nvPr/>
          </p:nvSpPr>
          <p:spPr>
            <a:xfrm>
              <a:off x="3952177" y="3529601"/>
              <a:ext cx="633185" cy="400143"/>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rgbClr val="000000"/>
                  </a:solidFill>
                </a:rPr>
                <a:t>super </a:t>
              </a:r>
              <a:r>
                <a:rPr lang="en-US" sz="1200" dirty="0">
                  <a:solidFill>
                    <a:srgbClr val="000000"/>
                  </a:solidFill>
                </a:rPr>
                <a:t>block</a:t>
              </a:r>
            </a:p>
          </p:txBody>
        </p:sp>
        <p:sp>
          <p:nvSpPr>
            <p:cNvPr id="16" name="Rectangle 15"/>
            <p:cNvSpPr/>
            <p:nvPr/>
          </p:nvSpPr>
          <p:spPr>
            <a:xfrm>
              <a:off x="5486746" y="3480724"/>
              <a:ext cx="1953389" cy="635461"/>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chemeClr val="bg1"/>
                </a:solidFill>
              </a:endParaRPr>
            </a:p>
          </p:txBody>
        </p:sp>
        <p:sp>
          <p:nvSpPr>
            <p:cNvPr id="17" name="Rectangle 16"/>
            <p:cNvSpPr/>
            <p:nvPr/>
          </p:nvSpPr>
          <p:spPr>
            <a:xfrm>
              <a:off x="5540299" y="3529601"/>
              <a:ext cx="1040127" cy="246848"/>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ext4 journal</a:t>
              </a:r>
            </a:p>
          </p:txBody>
        </p:sp>
        <p:cxnSp>
          <p:nvCxnSpPr>
            <p:cNvPr id="18" name="Straight Arrow Connector 17"/>
            <p:cNvCxnSpPr>
              <a:stCxn id="13" idx="3"/>
              <a:endCxn id="16" idx="1"/>
            </p:cNvCxnSpPr>
            <p:nvPr/>
          </p:nvCxnSpPr>
          <p:spPr>
            <a:xfrm>
              <a:off x="4646170" y="3798455"/>
              <a:ext cx="840574" cy="0"/>
            </a:xfrm>
            <a:prstGeom prst="straightConnector1">
              <a:avLst/>
            </a:prstGeom>
            <a:ln w="635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664577" y="3480724"/>
              <a:ext cx="767261" cy="276999"/>
            </a:xfrm>
            <a:prstGeom prst="rect">
              <a:avLst/>
            </a:prstGeom>
            <a:noFill/>
          </p:spPr>
          <p:txBody>
            <a:bodyPr wrap="none" rtlCol="0">
              <a:spAutoFit/>
            </a:bodyPr>
            <a:lstStyle/>
            <a:p>
              <a:r>
                <a:rPr lang="en-CA" sz="1200" i="1" dirty="0">
                  <a:solidFill>
                    <a:srgbClr val="000000"/>
                  </a:solidFill>
                </a:rPr>
                <a:t>file </a:t>
              </a:r>
              <a:r>
                <a:rPr lang="en-CA" sz="1200" i="1" dirty="0" err="1">
                  <a:solidFill>
                    <a:srgbClr val="000000"/>
                  </a:solidFill>
                </a:rPr>
                <a:t>addr</a:t>
              </a:r>
              <a:r>
                <a:rPr lang="en-CA" sz="1200" i="1" dirty="0">
                  <a:solidFill>
                    <a:srgbClr val="000000"/>
                  </a:solidFill>
                </a:rPr>
                <a:t>.</a:t>
              </a:r>
            </a:p>
          </p:txBody>
        </p:sp>
      </p:grpSp>
      <p:sp>
        <p:nvSpPr>
          <p:cNvPr id="12" name="Rectangle 11"/>
          <p:cNvSpPr/>
          <p:nvPr/>
        </p:nvSpPr>
        <p:spPr>
          <a:xfrm>
            <a:off x="712518" y="2270824"/>
            <a:ext cx="4981216" cy="2062103"/>
          </a:xfrm>
          <a:prstGeom prst="rect">
            <a:avLst/>
          </a:prstGeom>
        </p:spPr>
        <p:txBody>
          <a:bodyPr wrap="square">
            <a:spAutoFit/>
          </a:bodyPr>
          <a:lstStyle/>
          <a:p>
            <a:r>
              <a:rPr lang="en-CA" b="1" dirty="0">
                <a:solidFill>
                  <a:srgbClr val="000000"/>
                </a:solidFill>
                <a:latin typeface="Courier New" panose="02070309020205020404" pitchFamily="49" charset="0"/>
                <a:cs typeface="Courier New" panose="02070309020205020404" pitchFamily="49" charset="0"/>
              </a:rPr>
              <a:t>FSSUPER</a:t>
            </a:r>
            <a:r>
              <a:rPr lang="en-CA" dirty="0">
                <a:solidFill>
                  <a:srgbClr val="000000"/>
                </a:solidFill>
                <a:latin typeface="Courier New" panose="02070309020205020404" pitchFamily="49" charset="0"/>
                <a:cs typeface="Courier New" panose="02070309020205020404" pitchFamily="49" charset="0"/>
              </a:rPr>
              <a:t>(location=1024) ext4_super_block {</a:t>
            </a:r>
          </a:p>
          <a:p>
            <a:r>
              <a:rPr lang="en-CA" dirty="0">
                <a:solidFill>
                  <a:srgbClr val="000000"/>
                </a:solidFill>
                <a:latin typeface="Courier New" panose="02070309020205020404" pitchFamily="49" charset="0"/>
                <a:cs typeface="Courier New" panose="02070309020205020404" pitchFamily="49" charset="0"/>
              </a:rPr>
              <a:t>  __le32 </a:t>
            </a:r>
            <a:r>
              <a:rPr lang="en-CA" dirty="0" err="1">
                <a:solidFill>
                  <a:srgbClr val="000000"/>
                </a:solidFill>
                <a:latin typeface="Courier New" panose="02070309020205020404" pitchFamily="49" charset="0"/>
                <a:cs typeface="Courier New" panose="02070309020205020404" pitchFamily="49" charset="0"/>
              </a:rPr>
              <a:t>s_log_block_size</a:t>
            </a:r>
            <a:r>
              <a:rPr lang="en-CA" dirty="0">
                <a:solidFill>
                  <a:srgbClr val="000000"/>
                </a:solidFill>
                <a:latin typeface="Courier New" panose="02070309020205020404" pitchFamily="49" charset="0"/>
                <a:cs typeface="Courier New" panose="02070309020205020404" pitchFamily="49" charset="0"/>
              </a:rPr>
              <a:t>;</a:t>
            </a:r>
          </a:p>
          <a:p>
            <a:r>
              <a:rPr lang="en-CA" dirty="0">
                <a:solidFill>
                  <a:srgbClr val="000000"/>
                </a:solidFill>
                <a:latin typeface="Courier New" panose="02070309020205020404" pitchFamily="49" charset="0"/>
                <a:cs typeface="Courier New" panose="02070309020205020404" pitchFamily="49" charset="0"/>
              </a:rPr>
              <a:t>  ...</a:t>
            </a:r>
          </a:p>
          <a:p>
            <a:r>
              <a:rPr lang="fr-FR" dirty="0">
                <a:solidFill>
                  <a:srgbClr val="000000"/>
                </a:solidFill>
                <a:latin typeface="Courier New" panose="02070309020205020404" pitchFamily="49" charset="0"/>
                <a:cs typeface="Courier New" panose="02070309020205020404" pitchFamily="49" charset="0"/>
              </a:rPr>
              <a:t>  </a:t>
            </a:r>
            <a:r>
              <a:rPr lang="fr-FR" b="1"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POINTER</a:t>
            </a:r>
            <a:r>
              <a:rPr lang="fr-FR"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r>
              <a:rPr lang="fr-FR" dirty="0" err="1"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aspc</a:t>
            </a:r>
            <a:r>
              <a:rPr lang="fr-FR"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=file</a:t>
            </a:r>
            <a:r>
              <a:rPr lang="fr-FR"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a:t>
            </a:r>
            <a:r>
              <a:rPr lang="fr-FR"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a:r>
            <a:br>
              <a:rPr lang="fr-FR"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br>
            <a:r>
              <a:rPr lang="fr-FR"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type=ext4_journal</a:t>
            </a:r>
            <a:r>
              <a:rPr lang="fr-FR"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p>
          <a:p>
            <a:r>
              <a:rPr lang="fr-FR"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__le32 </a:t>
            </a:r>
            <a:r>
              <a:rPr lang="fr-FR"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s_journal_inum</a:t>
            </a:r>
            <a:r>
              <a:rPr lang="fr-FR"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endParaRPr lang="en-CA"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endParaRPr>
          </a:p>
          <a:p>
            <a:r>
              <a:rPr lang="en-CA" dirty="0">
                <a:solidFill>
                  <a:srgbClr val="000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432291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Context-Sensitive Types</a:t>
            </a:r>
            <a:endParaRPr lang="en-CA" dirty="0"/>
          </a:p>
        </p:txBody>
      </p:sp>
      <p:sp>
        <p:nvSpPr>
          <p:cNvPr id="3" name="Content Placeholder 2"/>
          <p:cNvSpPr>
            <a:spLocks noGrp="1"/>
          </p:cNvSpPr>
          <p:nvPr>
            <p:ph idx="1"/>
          </p:nvPr>
        </p:nvSpPr>
        <p:spPr/>
        <p:txBody>
          <a:bodyPr/>
          <a:lstStyle/>
          <a:p>
            <a:r>
              <a:rPr lang="en-CA" dirty="0" smtClean="0"/>
              <a:t>A </a:t>
            </a:r>
            <a:r>
              <a:rPr lang="en-CA" dirty="0" smtClean="0"/>
              <a:t>field </a:t>
            </a:r>
            <a:r>
              <a:rPr lang="en-CA" dirty="0" smtClean="0"/>
              <a:t>may refer to </a:t>
            </a:r>
            <a:r>
              <a:rPr lang="en-CA" dirty="0" smtClean="0"/>
              <a:t>different types of metadata</a:t>
            </a:r>
          </a:p>
          <a:p>
            <a:pPr lvl="1"/>
            <a:r>
              <a:rPr lang="en-CA" dirty="0" smtClean="0"/>
              <a:t>Pointers in </a:t>
            </a:r>
            <a:r>
              <a:rPr lang="en-CA" dirty="0" err="1" smtClean="0"/>
              <a:t>inode</a:t>
            </a:r>
            <a:r>
              <a:rPr lang="en-CA" dirty="0" smtClean="0"/>
              <a:t> structure can point to directory or data blocks</a:t>
            </a:r>
          </a:p>
          <a:p>
            <a:r>
              <a:rPr lang="en-CA" dirty="0" smtClean="0"/>
              <a:t>Supported by specifying </a:t>
            </a:r>
            <a:r>
              <a:rPr lang="en-CA" i="1" dirty="0" smtClean="0"/>
              <a:t>when</a:t>
            </a:r>
            <a:r>
              <a:rPr lang="en-CA" dirty="0" smtClean="0"/>
              <a:t> condition in pointer annotation</a:t>
            </a:r>
          </a:p>
        </p:txBody>
      </p:sp>
      <p:sp>
        <p:nvSpPr>
          <p:cNvPr id="46" name="Rectangle 45"/>
          <p:cNvSpPr/>
          <p:nvPr/>
        </p:nvSpPr>
        <p:spPr>
          <a:xfrm>
            <a:off x="444719" y="2190750"/>
            <a:ext cx="4723703" cy="2400657"/>
          </a:xfrm>
          <a:prstGeom prst="rect">
            <a:avLst/>
          </a:prstGeom>
        </p:spPr>
        <p:txBody>
          <a:bodyPr wrap="square">
            <a:spAutoFit/>
          </a:bodyPr>
          <a:lstStyle/>
          <a:p>
            <a:r>
              <a:rPr lang="en-CA" sz="1500" b="1" dirty="0">
                <a:solidFill>
                  <a:srgbClr val="000000"/>
                </a:solidFill>
                <a:latin typeface="Courier New" panose="02070309020205020404" pitchFamily="49" charset="0"/>
                <a:cs typeface="Courier New" panose="02070309020205020404" pitchFamily="49" charset="0"/>
              </a:rPr>
              <a:t>FSSTRUCT</a:t>
            </a:r>
            <a:r>
              <a:rPr lang="en-CA" sz="1500" dirty="0">
                <a:solidFill>
                  <a:srgbClr val="000000"/>
                </a:solidFill>
                <a:latin typeface="Courier New" panose="02070309020205020404" pitchFamily="49" charset="0"/>
                <a:cs typeface="Courier New" panose="02070309020205020404" pitchFamily="49" charset="0"/>
              </a:rPr>
              <a:t>(...) ext4_inode {</a:t>
            </a:r>
          </a:p>
          <a:p>
            <a:r>
              <a:rPr lang="en-CA" sz="1500" dirty="0">
                <a:solidFill>
                  <a:srgbClr val="000000"/>
                </a:solidFill>
                <a:latin typeface="Courier New" panose="02070309020205020404" pitchFamily="49" charset="0"/>
                <a:cs typeface="Courier New" panose="02070309020205020404" pitchFamily="49" charset="0"/>
              </a:rPr>
              <a:t>  __le16 </a:t>
            </a:r>
            <a:r>
              <a:rPr lang="en-CA" sz="1500" dirty="0" err="1">
                <a:solidFill>
                  <a:srgbClr val="000000"/>
                </a:solidFill>
                <a:latin typeface="Courier New" panose="02070309020205020404" pitchFamily="49" charset="0"/>
                <a:cs typeface="Courier New" panose="02070309020205020404" pitchFamily="49" charset="0"/>
              </a:rPr>
              <a:t>i_mode</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smtClean="0">
                <a:solidFill>
                  <a:srgbClr val="000000"/>
                </a:solidFill>
                <a:latin typeface="Courier New" panose="02070309020205020404" pitchFamily="49" charset="0"/>
                <a:cs typeface="Courier New" panose="02070309020205020404" pitchFamily="49" charset="0"/>
              </a:rPr>
              <a:t>POINTER</a:t>
            </a:r>
            <a:r>
              <a:rPr lang="en-CA" sz="1500" dirty="0" smtClean="0">
                <a:solidFill>
                  <a:srgbClr val="000000"/>
                </a:solidFill>
                <a:latin typeface="Courier New" panose="02070309020205020404" pitchFamily="49" charset="0"/>
                <a:cs typeface="Courier New" panose="02070309020205020404" pitchFamily="49" charset="0"/>
              </a:rPr>
              <a:t>(</a:t>
            </a:r>
            <a:r>
              <a:rPr lang="en-CA" sz="1500" dirty="0" err="1" smtClean="0">
                <a:solidFill>
                  <a:srgbClr val="000000"/>
                </a:solidFill>
                <a:latin typeface="Courier New" panose="02070309020205020404" pitchFamily="49" charset="0"/>
                <a:cs typeface="Courier New" panose="02070309020205020404" pitchFamily="49" charset="0"/>
              </a:rPr>
              <a:t>aspc</a:t>
            </a:r>
            <a:r>
              <a:rPr lang="en-CA" sz="1500" dirty="0" smtClean="0">
                <a:solidFill>
                  <a:srgbClr val="000000"/>
                </a:solidFill>
                <a:latin typeface="Courier New" panose="02070309020205020404" pitchFamily="49" charset="0"/>
                <a:cs typeface="Courier New" panose="02070309020205020404" pitchFamily="49" charset="0"/>
              </a:rPr>
              <a:t>=block</a:t>
            </a:r>
            <a:r>
              <a:rPr lang="en-CA" sz="1500" dirty="0">
                <a:solidFill>
                  <a:srgbClr val="000000"/>
                </a:solidFill>
                <a:latin typeface="Courier New" panose="02070309020205020404" pitchFamily="49" charset="0"/>
                <a:cs typeface="Courier New" panose="02070309020205020404" pitchFamily="49" charset="0"/>
              </a:rPr>
              <a:t>, type=</a:t>
            </a:r>
            <a:r>
              <a:rPr lang="en-CA" sz="1500" dirty="0" err="1">
                <a:solidFill>
                  <a:srgbClr val="000000"/>
                </a:solidFill>
                <a:latin typeface="Courier New" panose="02070309020205020404" pitchFamily="49" charset="0"/>
                <a:cs typeface="Courier New" panose="02070309020205020404" pitchFamily="49" charset="0"/>
              </a:rPr>
              <a:t>dir_block</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when=</a:t>
            </a:r>
            <a:r>
              <a:rPr lang="en-CA" sz="1500"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self.i_mode</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&amp; S_IFDIR</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smtClean="0">
                <a:solidFill>
                  <a:srgbClr val="000000"/>
                </a:solidFill>
                <a:latin typeface="Courier New" panose="02070309020205020404" pitchFamily="49" charset="0"/>
                <a:cs typeface="Courier New" panose="02070309020205020404" pitchFamily="49" charset="0"/>
              </a:rPr>
              <a:t>POINTER</a:t>
            </a:r>
            <a:r>
              <a:rPr lang="en-CA" sz="1500" dirty="0" smtClean="0">
                <a:solidFill>
                  <a:srgbClr val="000000"/>
                </a:solidFill>
                <a:latin typeface="Courier New" panose="02070309020205020404" pitchFamily="49" charset="0"/>
                <a:cs typeface="Courier New" panose="02070309020205020404" pitchFamily="49" charset="0"/>
              </a:rPr>
              <a:t>(</a:t>
            </a:r>
            <a:r>
              <a:rPr lang="en-CA" sz="1500" dirty="0" err="1" smtClean="0">
                <a:solidFill>
                  <a:srgbClr val="000000"/>
                </a:solidFill>
                <a:latin typeface="Courier New" panose="02070309020205020404" pitchFamily="49" charset="0"/>
                <a:cs typeface="Courier New" panose="02070309020205020404" pitchFamily="49" charset="0"/>
              </a:rPr>
              <a:t>aspc</a:t>
            </a:r>
            <a:r>
              <a:rPr lang="en-CA" sz="1500" dirty="0" smtClean="0">
                <a:solidFill>
                  <a:srgbClr val="000000"/>
                </a:solidFill>
                <a:latin typeface="Courier New" panose="02070309020205020404" pitchFamily="49" charset="0"/>
                <a:cs typeface="Courier New" panose="02070309020205020404" pitchFamily="49" charset="0"/>
              </a:rPr>
              <a:t>=block</a:t>
            </a:r>
            <a:r>
              <a:rPr lang="en-CA" sz="1500" dirty="0">
                <a:solidFill>
                  <a:srgbClr val="000000"/>
                </a:solidFill>
                <a:latin typeface="Courier New" panose="02070309020205020404" pitchFamily="49" charset="0"/>
                <a:cs typeface="Courier New" panose="02070309020205020404" pitchFamily="49" charset="0"/>
              </a:rPr>
              <a:t>, type=</a:t>
            </a:r>
            <a:r>
              <a:rPr lang="en-CA" sz="1500" dirty="0" err="1">
                <a:solidFill>
                  <a:srgbClr val="000000"/>
                </a:solidFill>
                <a:latin typeface="Courier New" panose="02070309020205020404" pitchFamily="49" charset="0"/>
                <a:cs typeface="Courier New" panose="02070309020205020404" pitchFamily="49" charset="0"/>
              </a:rPr>
              <a:t>data_block</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when=</a:t>
            </a:r>
            <a:r>
              <a:rPr lang="en-CA" sz="1500"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self.i_mode</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&amp; S_IFREG</a:t>
            </a:r>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__le32 </a:t>
            </a:r>
            <a:r>
              <a:rPr lang="en-CA" sz="1500" dirty="0" err="1">
                <a:solidFill>
                  <a:srgbClr val="000000"/>
                </a:solidFill>
                <a:latin typeface="Courier New" panose="02070309020205020404" pitchFamily="49" charset="0"/>
                <a:cs typeface="Courier New" panose="02070309020205020404" pitchFamily="49" charset="0"/>
              </a:rPr>
              <a:t>i_block</a:t>
            </a:r>
            <a:r>
              <a:rPr lang="en-CA" sz="1500" dirty="0">
                <a:solidFill>
                  <a:srgbClr val="000000"/>
                </a:solidFill>
                <a:latin typeface="Courier New" panose="02070309020205020404" pitchFamily="49" charset="0"/>
                <a:cs typeface="Courier New" panose="02070309020205020404" pitchFamily="49" charset="0"/>
              </a:rPr>
              <a:t>[EXT3_NDIR_BLOCKS];</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a:t>
            </a:r>
          </a:p>
        </p:txBody>
      </p:sp>
      <p:grpSp>
        <p:nvGrpSpPr>
          <p:cNvPr id="5" name="Group 4"/>
          <p:cNvGrpSpPr/>
          <p:nvPr/>
        </p:nvGrpSpPr>
        <p:grpSpPr>
          <a:xfrm>
            <a:off x="5495030" y="2190750"/>
            <a:ext cx="3270352" cy="1771392"/>
            <a:chOff x="3430981" y="4191950"/>
            <a:chExt cx="4360469" cy="2361856"/>
          </a:xfrm>
        </p:grpSpPr>
        <p:sp>
          <p:nvSpPr>
            <p:cNvPr id="20" name="Rectangle 19"/>
            <p:cNvSpPr/>
            <p:nvPr/>
          </p:nvSpPr>
          <p:spPr>
            <a:xfrm>
              <a:off x="3430981" y="4220986"/>
              <a:ext cx="4360469" cy="940832"/>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21" name="Rectangle 20"/>
            <p:cNvSpPr/>
            <p:nvPr/>
          </p:nvSpPr>
          <p:spPr>
            <a:xfrm>
              <a:off x="3515340" y="4394402"/>
              <a:ext cx="843171" cy="59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000000"/>
                  </a:solidFill>
                </a:rPr>
                <a:t>inode</a:t>
              </a:r>
              <a:r>
                <a:rPr lang="en-US" sz="1200" dirty="0">
                  <a:solidFill>
                    <a:srgbClr val="000000"/>
                  </a:solidFill>
                </a:rPr>
                <a:t> table</a:t>
              </a:r>
            </a:p>
          </p:txBody>
        </p:sp>
        <p:sp>
          <p:nvSpPr>
            <p:cNvPr id="22" name="Rounded Rectangle 21"/>
            <p:cNvSpPr/>
            <p:nvPr/>
          </p:nvSpPr>
          <p:spPr>
            <a:xfrm>
              <a:off x="4443717" y="4293627"/>
              <a:ext cx="965390"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a:t>
              </a:r>
              <a:r>
                <a:rPr lang="en-US" altLang="zh-TW" sz="1200" dirty="0" err="1">
                  <a:solidFill>
                    <a:srgbClr val="000000"/>
                  </a:solidFill>
                </a:rPr>
                <a:t>reg</a:t>
              </a:r>
              <a:r>
                <a:rPr lang="en-US" altLang="zh-TW" sz="1200" dirty="0">
                  <a:solidFill>
                    <a:srgbClr val="000000"/>
                  </a:solidFill>
                </a:rPr>
                <a:t> file)</a:t>
              </a:r>
              <a:endParaRPr lang="zh-TW" altLang="en-US" sz="1200" dirty="0">
                <a:solidFill>
                  <a:srgbClr val="000000"/>
                </a:solidFill>
              </a:endParaRPr>
            </a:p>
          </p:txBody>
        </p:sp>
        <p:sp>
          <p:nvSpPr>
            <p:cNvPr id="23" name="Rounded Rectangle 22"/>
            <p:cNvSpPr/>
            <p:nvPr/>
          </p:nvSpPr>
          <p:spPr>
            <a:xfrm>
              <a:off x="6413942" y="4293627"/>
              <a:ext cx="1215376"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(directory)</a:t>
              </a:r>
              <a:endParaRPr lang="zh-TW" altLang="en-US" sz="1200" dirty="0">
                <a:solidFill>
                  <a:srgbClr val="000000"/>
                </a:solidFill>
              </a:endParaRPr>
            </a:p>
          </p:txBody>
        </p:sp>
        <p:sp>
          <p:nvSpPr>
            <p:cNvPr id="24" name="TextBox 23"/>
            <p:cNvSpPr txBox="1"/>
            <p:nvPr/>
          </p:nvSpPr>
          <p:spPr>
            <a:xfrm>
              <a:off x="5597240" y="4191950"/>
              <a:ext cx="793380" cy="779700"/>
            </a:xfrm>
            <a:prstGeom prst="rect">
              <a:avLst/>
            </a:prstGeom>
            <a:noFill/>
          </p:spPr>
          <p:txBody>
            <a:bodyPr wrap="none" rtlCol="0">
              <a:spAutoFit/>
            </a:bodyPr>
            <a:lstStyle/>
            <a:p>
              <a:r>
                <a:rPr lang="en-CA" sz="3200" dirty="0">
                  <a:solidFill>
                    <a:srgbClr val="000000"/>
                  </a:solidFill>
                </a:rPr>
                <a:t>…</a:t>
              </a:r>
            </a:p>
          </p:txBody>
        </p:sp>
        <p:sp>
          <p:nvSpPr>
            <p:cNvPr id="25" name="Rectangle 24"/>
            <p:cNvSpPr/>
            <p:nvPr/>
          </p:nvSpPr>
          <p:spPr>
            <a:xfrm>
              <a:off x="6470021" y="5815595"/>
              <a:ext cx="1103217" cy="72808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dir</a:t>
              </a:r>
              <a:endParaRPr lang="en-CA" altLang="zh-TW" sz="1200" dirty="0">
                <a:solidFill>
                  <a:srgbClr val="000000"/>
                </a:solidFill>
              </a:endParaRPr>
            </a:p>
            <a:p>
              <a:pPr algn="ctr"/>
              <a:r>
                <a:rPr lang="en-CA" altLang="zh-TW" sz="1200" dirty="0">
                  <a:solidFill>
                    <a:srgbClr val="000000"/>
                  </a:solidFill>
                </a:rPr>
                <a:t>block</a:t>
              </a:r>
              <a:endParaRPr lang="zh-TW" altLang="en-US" sz="1200" dirty="0">
                <a:solidFill>
                  <a:srgbClr val="000000"/>
                </a:solidFill>
              </a:endParaRPr>
            </a:p>
          </p:txBody>
        </p:sp>
        <p:cxnSp>
          <p:nvCxnSpPr>
            <p:cNvPr id="26" name="Straight Arrow Connector 96"/>
            <p:cNvCxnSpPr>
              <a:stCxn id="23" idx="2"/>
              <a:endCxn id="25" idx="0"/>
            </p:cNvCxnSpPr>
            <p:nvPr/>
          </p:nvCxnSpPr>
          <p:spPr>
            <a:xfrm>
              <a:off x="7021630" y="5089178"/>
              <a:ext cx="0" cy="726417"/>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374804" y="5825726"/>
              <a:ext cx="1103217" cy="72808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data</a:t>
              </a:r>
            </a:p>
            <a:p>
              <a:pPr algn="ctr"/>
              <a:r>
                <a:rPr lang="en-CA" altLang="zh-TW" sz="1200" dirty="0">
                  <a:solidFill>
                    <a:srgbClr val="000000"/>
                  </a:solidFill>
                </a:rPr>
                <a:t>block</a:t>
              </a:r>
              <a:endParaRPr lang="zh-TW" altLang="en-US" sz="1200" dirty="0">
                <a:solidFill>
                  <a:srgbClr val="000000"/>
                </a:solidFill>
              </a:endParaRPr>
            </a:p>
          </p:txBody>
        </p:sp>
        <p:cxnSp>
          <p:nvCxnSpPr>
            <p:cNvPr id="29" name="Straight Arrow Connector 96"/>
            <p:cNvCxnSpPr>
              <a:stCxn id="22" idx="2"/>
              <a:endCxn id="28" idx="0"/>
            </p:cNvCxnSpPr>
            <p:nvPr/>
          </p:nvCxnSpPr>
          <p:spPr>
            <a:xfrm>
              <a:off x="4926412" y="5089178"/>
              <a:ext cx="1" cy="736548"/>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414540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Context-Sensitive Types</a:t>
            </a:r>
            <a:endParaRPr lang="en-CA" dirty="0"/>
          </a:p>
        </p:txBody>
      </p:sp>
      <p:sp>
        <p:nvSpPr>
          <p:cNvPr id="3" name="Content Placeholder 2"/>
          <p:cNvSpPr>
            <a:spLocks noGrp="1"/>
          </p:cNvSpPr>
          <p:nvPr>
            <p:ph idx="1"/>
          </p:nvPr>
        </p:nvSpPr>
        <p:spPr/>
        <p:txBody>
          <a:bodyPr/>
          <a:lstStyle/>
          <a:p>
            <a:r>
              <a:rPr lang="en-CA" dirty="0" smtClean="0"/>
              <a:t>A </a:t>
            </a:r>
            <a:r>
              <a:rPr lang="en-CA" dirty="0" smtClean="0"/>
              <a:t>field may refer </a:t>
            </a:r>
            <a:r>
              <a:rPr lang="en-CA" dirty="0" smtClean="0"/>
              <a:t>to different types of metadata</a:t>
            </a:r>
          </a:p>
          <a:p>
            <a:pPr lvl="1"/>
            <a:r>
              <a:rPr lang="en-CA" dirty="0" smtClean="0"/>
              <a:t>Pointers in </a:t>
            </a:r>
            <a:r>
              <a:rPr lang="en-CA" dirty="0" err="1" smtClean="0"/>
              <a:t>inode</a:t>
            </a:r>
            <a:r>
              <a:rPr lang="en-CA" dirty="0" smtClean="0"/>
              <a:t> structure can point to directory or data blocks</a:t>
            </a:r>
          </a:p>
          <a:p>
            <a:r>
              <a:rPr lang="en-CA" dirty="0" smtClean="0"/>
              <a:t>Supported by specifying </a:t>
            </a:r>
            <a:r>
              <a:rPr lang="en-CA" i="1" dirty="0" smtClean="0"/>
              <a:t>when</a:t>
            </a:r>
            <a:r>
              <a:rPr lang="en-CA" dirty="0" smtClean="0"/>
              <a:t> condition in pointer annotation</a:t>
            </a:r>
          </a:p>
        </p:txBody>
      </p:sp>
      <p:sp>
        <p:nvSpPr>
          <p:cNvPr id="46" name="Rectangle 45"/>
          <p:cNvSpPr/>
          <p:nvPr/>
        </p:nvSpPr>
        <p:spPr>
          <a:xfrm>
            <a:off x="444719" y="2190750"/>
            <a:ext cx="4723703" cy="2400657"/>
          </a:xfrm>
          <a:prstGeom prst="rect">
            <a:avLst/>
          </a:prstGeom>
        </p:spPr>
        <p:txBody>
          <a:bodyPr wrap="square">
            <a:spAutoFit/>
          </a:bodyPr>
          <a:lstStyle/>
          <a:p>
            <a:r>
              <a:rPr lang="en-CA" sz="1500" b="1" dirty="0">
                <a:solidFill>
                  <a:srgbClr val="000000"/>
                </a:solidFill>
                <a:latin typeface="Courier New" panose="02070309020205020404" pitchFamily="49" charset="0"/>
                <a:cs typeface="Courier New" panose="02070309020205020404" pitchFamily="49" charset="0"/>
              </a:rPr>
              <a:t>FSSTRUCT</a:t>
            </a:r>
            <a:r>
              <a:rPr lang="en-CA" sz="1500" dirty="0">
                <a:solidFill>
                  <a:srgbClr val="000000"/>
                </a:solidFill>
                <a:latin typeface="Courier New" panose="02070309020205020404" pitchFamily="49" charset="0"/>
                <a:cs typeface="Courier New" panose="02070309020205020404" pitchFamily="49" charset="0"/>
              </a:rPr>
              <a:t>(...) ext4_inode {</a:t>
            </a:r>
          </a:p>
          <a:p>
            <a:r>
              <a:rPr lang="en-CA" sz="1500" dirty="0">
                <a:solidFill>
                  <a:srgbClr val="000000"/>
                </a:solidFill>
                <a:latin typeface="Courier New" panose="02070309020205020404" pitchFamily="49" charset="0"/>
                <a:cs typeface="Courier New" panose="02070309020205020404" pitchFamily="49" charset="0"/>
              </a:rPr>
              <a:t>  __le16 </a:t>
            </a:r>
            <a:r>
              <a:rPr lang="en-CA" sz="1500" dirty="0" err="1">
                <a:solidFill>
                  <a:srgbClr val="000000"/>
                </a:solidFill>
                <a:latin typeface="Courier New" panose="02070309020205020404" pitchFamily="49" charset="0"/>
                <a:cs typeface="Courier New" panose="02070309020205020404" pitchFamily="49" charset="0"/>
              </a:rPr>
              <a:t>i_mode</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smtClean="0">
                <a:solidFill>
                  <a:srgbClr val="000000"/>
                </a:solidFill>
                <a:latin typeface="Courier New" panose="02070309020205020404" pitchFamily="49" charset="0"/>
                <a:cs typeface="Courier New" panose="02070309020205020404" pitchFamily="49" charset="0"/>
              </a:rPr>
              <a:t>POINTER</a:t>
            </a:r>
            <a:r>
              <a:rPr lang="en-CA" sz="1500" dirty="0" smtClean="0">
                <a:solidFill>
                  <a:srgbClr val="000000"/>
                </a:solidFill>
                <a:latin typeface="Courier New" panose="02070309020205020404" pitchFamily="49" charset="0"/>
                <a:cs typeface="Courier New" panose="02070309020205020404" pitchFamily="49" charset="0"/>
              </a:rPr>
              <a:t>(</a:t>
            </a:r>
            <a:r>
              <a:rPr lang="en-CA" sz="1500" dirty="0" err="1" smtClean="0">
                <a:solidFill>
                  <a:srgbClr val="000000"/>
                </a:solidFill>
                <a:latin typeface="Courier New" panose="02070309020205020404" pitchFamily="49" charset="0"/>
                <a:cs typeface="Courier New" panose="02070309020205020404" pitchFamily="49" charset="0"/>
              </a:rPr>
              <a:t>aspc</a:t>
            </a:r>
            <a:r>
              <a:rPr lang="en-CA" sz="1500" dirty="0" smtClean="0">
                <a:solidFill>
                  <a:srgbClr val="000000"/>
                </a:solidFill>
                <a:latin typeface="Courier New" panose="02070309020205020404" pitchFamily="49" charset="0"/>
                <a:cs typeface="Courier New" panose="02070309020205020404" pitchFamily="49" charset="0"/>
              </a:rPr>
              <a:t>=block</a:t>
            </a:r>
            <a:r>
              <a:rPr lang="en-CA" sz="1500" dirty="0">
                <a:solidFill>
                  <a:srgbClr val="000000"/>
                </a:solidFill>
                <a:latin typeface="Courier New" panose="02070309020205020404" pitchFamily="49" charset="0"/>
                <a:cs typeface="Courier New" panose="02070309020205020404" pitchFamily="49" charset="0"/>
              </a:rPr>
              <a:t>, type=</a:t>
            </a:r>
            <a:r>
              <a:rPr lang="en-CA" sz="1500" dirty="0" err="1">
                <a:solidFill>
                  <a:srgbClr val="000000"/>
                </a:solidFill>
                <a:latin typeface="Courier New" panose="02070309020205020404" pitchFamily="49" charset="0"/>
                <a:cs typeface="Courier New" panose="02070309020205020404" pitchFamily="49" charset="0"/>
              </a:rPr>
              <a:t>dir_block</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when=</a:t>
            </a:r>
            <a:r>
              <a:rPr lang="en-CA" sz="1500"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self.i_mode</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&amp; S_IFDIR</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smtClean="0">
                <a:solidFill>
                  <a:srgbClr val="000000"/>
                </a:solidFill>
                <a:latin typeface="Courier New" panose="02070309020205020404" pitchFamily="49" charset="0"/>
                <a:cs typeface="Courier New" panose="02070309020205020404" pitchFamily="49" charset="0"/>
              </a:rPr>
              <a:t>POINTER</a:t>
            </a:r>
            <a:r>
              <a:rPr lang="en-CA" sz="1500" dirty="0" smtClean="0">
                <a:solidFill>
                  <a:srgbClr val="000000"/>
                </a:solidFill>
                <a:latin typeface="Courier New" panose="02070309020205020404" pitchFamily="49" charset="0"/>
                <a:cs typeface="Courier New" panose="02070309020205020404" pitchFamily="49" charset="0"/>
              </a:rPr>
              <a:t>(</a:t>
            </a:r>
            <a:r>
              <a:rPr lang="en-CA" sz="1500" dirty="0" err="1" smtClean="0">
                <a:solidFill>
                  <a:srgbClr val="000000"/>
                </a:solidFill>
                <a:latin typeface="Courier New" panose="02070309020205020404" pitchFamily="49" charset="0"/>
                <a:cs typeface="Courier New" panose="02070309020205020404" pitchFamily="49" charset="0"/>
              </a:rPr>
              <a:t>aspc</a:t>
            </a:r>
            <a:r>
              <a:rPr lang="en-CA" sz="1500" dirty="0" smtClean="0">
                <a:solidFill>
                  <a:srgbClr val="000000"/>
                </a:solidFill>
                <a:latin typeface="Courier New" panose="02070309020205020404" pitchFamily="49" charset="0"/>
                <a:cs typeface="Courier New" panose="02070309020205020404" pitchFamily="49" charset="0"/>
              </a:rPr>
              <a:t>=block</a:t>
            </a:r>
            <a:r>
              <a:rPr lang="en-CA" sz="1500" dirty="0">
                <a:solidFill>
                  <a:srgbClr val="000000"/>
                </a:solidFill>
                <a:latin typeface="Courier New" panose="02070309020205020404" pitchFamily="49" charset="0"/>
                <a:cs typeface="Courier New" panose="02070309020205020404" pitchFamily="49" charset="0"/>
              </a:rPr>
              <a:t>, type=</a:t>
            </a:r>
            <a:r>
              <a:rPr lang="en-CA" sz="1500" dirty="0" err="1">
                <a:solidFill>
                  <a:srgbClr val="000000"/>
                </a:solidFill>
                <a:latin typeface="Courier New" panose="02070309020205020404" pitchFamily="49" charset="0"/>
                <a:cs typeface="Courier New" panose="02070309020205020404" pitchFamily="49" charset="0"/>
              </a:rPr>
              <a:t>data_block</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when=</a:t>
            </a:r>
            <a:r>
              <a:rPr lang="en-CA" sz="1500"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self.i_mode</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&amp; S_IFREG</a:t>
            </a:r>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__le32 </a:t>
            </a:r>
            <a:r>
              <a:rPr lang="en-CA" sz="1500"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i_block</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[EXT3_NDIR_BLOCKS];</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a:t>
            </a:r>
          </a:p>
        </p:txBody>
      </p:sp>
      <p:grpSp>
        <p:nvGrpSpPr>
          <p:cNvPr id="5" name="Group 4"/>
          <p:cNvGrpSpPr/>
          <p:nvPr/>
        </p:nvGrpSpPr>
        <p:grpSpPr>
          <a:xfrm>
            <a:off x="5495030" y="2190750"/>
            <a:ext cx="3270352" cy="1771392"/>
            <a:chOff x="3430981" y="4191950"/>
            <a:chExt cx="4360469" cy="2361856"/>
          </a:xfrm>
        </p:grpSpPr>
        <p:sp>
          <p:nvSpPr>
            <p:cNvPr id="20" name="Rectangle 19"/>
            <p:cNvSpPr/>
            <p:nvPr/>
          </p:nvSpPr>
          <p:spPr>
            <a:xfrm>
              <a:off x="3430981" y="4220986"/>
              <a:ext cx="4360469" cy="940832"/>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21" name="Rectangle 20"/>
            <p:cNvSpPr/>
            <p:nvPr/>
          </p:nvSpPr>
          <p:spPr>
            <a:xfrm>
              <a:off x="3515340" y="4394402"/>
              <a:ext cx="843171" cy="59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000000"/>
                  </a:solidFill>
                </a:rPr>
                <a:t>inode</a:t>
              </a:r>
              <a:r>
                <a:rPr lang="en-US" sz="1200" dirty="0">
                  <a:solidFill>
                    <a:srgbClr val="000000"/>
                  </a:solidFill>
                </a:rPr>
                <a:t> table</a:t>
              </a:r>
            </a:p>
          </p:txBody>
        </p:sp>
        <p:sp>
          <p:nvSpPr>
            <p:cNvPr id="22" name="Rounded Rectangle 21"/>
            <p:cNvSpPr/>
            <p:nvPr/>
          </p:nvSpPr>
          <p:spPr>
            <a:xfrm>
              <a:off x="4443717" y="4293627"/>
              <a:ext cx="965390"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a:t>
              </a:r>
              <a:r>
                <a:rPr lang="en-US" altLang="zh-TW" sz="1200" dirty="0" err="1">
                  <a:solidFill>
                    <a:srgbClr val="000000"/>
                  </a:solidFill>
                </a:rPr>
                <a:t>reg</a:t>
              </a:r>
              <a:r>
                <a:rPr lang="en-US" altLang="zh-TW" sz="1200" dirty="0">
                  <a:solidFill>
                    <a:srgbClr val="000000"/>
                  </a:solidFill>
                </a:rPr>
                <a:t> file)</a:t>
              </a:r>
              <a:endParaRPr lang="zh-TW" altLang="en-US" sz="1200" dirty="0">
                <a:solidFill>
                  <a:srgbClr val="000000"/>
                </a:solidFill>
              </a:endParaRPr>
            </a:p>
          </p:txBody>
        </p:sp>
        <p:sp>
          <p:nvSpPr>
            <p:cNvPr id="23" name="Rounded Rectangle 22"/>
            <p:cNvSpPr/>
            <p:nvPr/>
          </p:nvSpPr>
          <p:spPr>
            <a:xfrm>
              <a:off x="6413942" y="4293627"/>
              <a:ext cx="1215376"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(directory)</a:t>
              </a:r>
              <a:endParaRPr lang="zh-TW" altLang="en-US" sz="1200" dirty="0">
                <a:solidFill>
                  <a:srgbClr val="000000"/>
                </a:solidFill>
              </a:endParaRPr>
            </a:p>
          </p:txBody>
        </p:sp>
        <p:sp>
          <p:nvSpPr>
            <p:cNvPr id="24" name="TextBox 23"/>
            <p:cNvSpPr txBox="1"/>
            <p:nvPr/>
          </p:nvSpPr>
          <p:spPr>
            <a:xfrm>
              <a:off x="5597240" y="4191950"/>
              <a:ext cx="793380" cy="779700"/>
            </a:xfrm>
            <a:prstGeom prst="rect">
              <a:avLst/>
            </a:prstGeom>
            <a:noFill/>
          </p:spPr>
          <p:txBody>
            <a:bodyPr wrap="none" rtlCol="0">
              <a:spAutoFit/>
            </a:bodyPr>
            <a:lstStyle/>
            <a:p>
              <a:r>
                <a:rPr lang="en-CA" sz="3200" dirty="0">
                  <a:solidFill>
                    <a:srgbClr val="000000"/>
                  </a:solidFill>
                </a:rPr>
                <a:t>…</a:t>
              </a:r>
            </a:p>
          </p:txBody>
        </p:sp>
        <p:sp>
          <p:nvSpPr>
            <p:cNvPr id="25" name="Rectangle 24"/>
            <p:cNvSpPr/>
            <p:nvPr/>
          </p:nvSpPr>
          <p:spPr>
            <a:xfrm>
              <a:off x="6470021" y="5815595"/>
              <a:ext cx="1103217" cy="72808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dir</a:t>
              </a:r>
              <a:endParaRPr lang="en-CA" altLang="zh-TW" sz="1200" dirty="0">
                <a:solidFill>
                  <a:srgbClr val="000000"/>
                </a:solidFill>
              </a:endParaRPr>
            </a:p>
            <a:p>
              <a:pPr algn="ctr"/>
              <a:r>
                <a:rPr lang="en-CA" altLang="zh-TW" sz="1200" dirty="0">
                  <a:solidFill>
                    <a:srgbClr val="000000"/>
                  </a:solidFill>
                </a:rPr>
                <a:t>block</a:t>
              </a:r>
              <a:endParaRPr lang="zh-TW" altLang="en-US" sz="1200" dirty="0">
                <a:solidFill>
                  <a:srgbClr val="000000"/>
                </a:solidFill>
              </a:endParaRPr>
            </a:p>
          </p:txBody>
        </p:sp>
        <p:cxnSp>
          <p:nvCxnSpPr>
            <p:cNvPr id="26" name="Straight Arrow Connector 96"/>
            <p:cNvCxnSpPr>
              <a:stCxn id="23" idx="2"/>
              <a:endCxn id="25" idx="0"/>
            </p:cNvCxnSpPr>
            <p:nvPr/>
          </p:nvCxnSpPr>
          <p:spPr>
            <a:xfrm>
              <a:off x="7021630" y="5089178"/>
              <a:ext cx="0" cy="726417"/>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374804" y="5825726"/>
              <a:ext cx="1103217" cy="72808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data</a:t>
              </a:r>
            </a:p>
            <a:p>
              <a:pPr algn="ctr"/>
              <a:r>
                <a:rPr lang="en-CA" altLang="zh-TW" sz="1200" dirty="0">
                  <a:solidFill>
                    <a:srgbClr val="000000"/>
                  </a:solidFill>
                </a:rPr>
                <a:t>block</a:t>
              </a:r>
              <a:endParaRPr lang="zh-TW" altLang="en-US" sz="1200" dirty="0">
                <a:solidFill>
                  <a:srgbClr val="000000"/>
                </a:solidFill>
              </a:endParaRPr>
            </a:p>
          </p:txBody>
        </p:sp>
        <p:cxnSp>
          <p:nvCxnSpPr>
            <p:cNvPr id="29" name="Straight Arrow Connector 96"/>
            <p:cNvCxnSpPr>
              <a:stCxn id="22" idx="2"/>
              <a:endCxn id="28" idx="0"/>
            </p:cNvCxnSpPr>
            <p:nvPr/>
          </p:nvCxnSpPr>
          <p:spPr>
            <a:xfrm>
              <a:off x="4926412" y="5089178"/>
              <a:ext cx="1" cy="736548"/>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74797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Context-Sensitive Types</a:t>
            </a:r>
            <a:endParaRPr lang="en-CA" dirty="0"/>
          </a:p>
        </p:txBody>
      </p:sp>
      <p:sp>
        <p:nvSpPr>
          <p:cNvPr id="3" name="Content Placeholder 2"/>
          <p:cNvSpPr>
            <a:spLocks noGrp="1"/>
          </p:cNvSpPr>
          <p:nvPr>
            <p:ph idx="1"/>
          </p:nvPr>
        </p:nvSpPr>
        <p:spPr/>
        <p:txBody>
          <a:bodyPr/>
          <a:lstStyle/>
          <a:p>
            <a:r>
              <a:rPr lang="en-CA" dirty="0"/>
              <a:t>A field may refer to different types of metadata</a:t>
            </a:r>
          </a:p>
          <a:p>
            <a:pPr lvl="1"/>
            <a:r>
              <a:rPr lang="en-CA" dirty="0" smtClean="0"/>
              <a:t>Pointers </a:t>
            </a:r>
            <a:r>
              <a:rPr lang="en-CA" dirty="0" smtClean="0"/>
              <a:t>in </a:t>
            </a:r>
            <a:r>
              <a:rPr lang="en-CA" dirty="0" err="1" smtClean="0"/>
              <a:t>inode</a:t>
            </a:r>
            <a:r>
              <a:rPr lang="en-CA" dirty="0" smtClean="0"/>
              <a:t> structure can point to directory or data blocks</a:t>
            </a:r>
          </a:p>
          <a:p>
            <a:r>
              <a:rPr lang="en-CA" dirty="0" smtClean="0"/>
              <a:t>Supported by specifying </a:t>
            </a:r>
            <a:r>
              <a:rPr lang="en-CA" i="1" dirty="0" smtClean="0"/>
              <a:t>when</a:t>
            </a:r>
            <a:r>
              <a:rPr lang="en-CA" dirty="0" smtClean="0"/>
              <a:t> condition in pointer annotation</a:t>
            </a:r>
          </a:p>
        </p:txBody>
      </p:sp>
      <p:sp>
        <p:nvSpPr>
          <p:cNvPr id="46" name="Rectangle 45"/>
          <p:cNvSpPr/>
          <p:nvPr/>
        </p:nvSpPr>
        <p:spPr>
          <a:xfrm>
            <a:off x="444719" y="2190750"/>
            <a:ext cx="4723703" cy="2400657"/>
          </a:xfrm>
          <a:prstGeom prst="rect">
            <a:avLst/>
          </a:prstGeom>
        </p:spPr>
        <p:txBody>
          <a:bodyPr wrap="square">
            <a:spAutoFit/>
          </a:bodyPr>
          <a:lstStyle/>
          <a:p>
            <a:r>
              <a:rPr lang="en-CA" sz="1500" b="1" dirty="0">
                <a:solidFill>
                  <a:srgbClr val="000000"/>
                </a:solidFill>
                <a:latin typeface="Courier New" panose="02070309020205020404" pitchFamily="49" charset="0"/>
                <a:cs typeface="Courier New" panose="02070309020205020404" pitchFamily="49" charset="0"/>
              </a:rPr>
              <a:t>FSSTRUCT</a:t>
            </a:r>
            <a:r>
              <a:rPr lang="en-CA" sz="1500" dirty="0">
                <a:solidFill>
                  <a:srgbClr val="000000"/>
                </a:solidFill>
                <a:latin typeface="Courier New" panose="02070309020205020404" pitchFamily="49" charset="0"/>
                <a:cs typeface="Courier New" panose="02070309020205020404" pitchFamily="49" charset="0"/>
              </a:rPr>
              <a:t>(...) ext4_inode {</a:t>
            </a:r>
          </a:p>
          <a:p>
            <a:r>
              <a:rPr lang="en-CA" sz="1500" dirty="0">
                <a:solidFill>
                  <a:srgbClr val="000000"/>
                </a:solidFill>
                <a:latin typeface="Courier New" panose="02070309020205020404" pitchFamily="49" charset="0"/>
                <a:cs typeface="Courier New" panose="02070309020205020404" pitchFamily="49" charset="0"/>
              </a:rPr>
              <a:t>  __le16 </a:t>
            </a:r>
            <a:r>
              <a:rPr lang="en-CA" sz="1500" dirty="0" err="1">
                <a:solidFill>
                  <a:srgbClr val="000000"/>
                </a:solidFill>
                <a:latin typeface="Courier New" panose="02070309020205020404" pitchFamily="49" charset="0"/>
                <a:cs typeface="Courier New" panose="02070309020205020404" pitchFamily="49" charset="0"/>
              </a:rPr>
              <a:t>i_mode</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POINTER</a:t>
            </a:r>
            <a:r>
              <a:rPr lang="en-CA" sz="1500"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r>
              <a:rPr lang="en-CA" sz="1500" dirty="0" err="1"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aspc</a:t>
            </a:r>
            <a:r>
              <a:rPr lang="en-CA" sz="1500"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=block</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type=</a:t>
            </a:r>
            <a:r>
              <a:rPr lang="en-CA" sz="1500"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dir_block</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p>
          <a:p>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when=</a:t>
            </a:r>
            <a:r>
              <a:rPr lang="en-CA" sz="1500"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self.i_mode</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&amp; S_IFDIR)</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smtClean="0">
                <a:solidFill>
                  <a:srgbClr val="000000"/>
                </a:solidFill>
                <a:latin typeface="Courier New" panose="02070309020205020404" pitchFamily="49" charset="0"/>
                <a:cs typeface="Courier New" panose="02070309020205020404" pitchFamily="49" charset="0"/>
              </a:rPr>
              <a:t>POINTER</a:t>
            </a:r>
            <a:r>
              <a:rPr lang="en-CA" sz="1500" dirty="0" smtClean="0">
                <a:solidFill>
                  <a:srgbClr val="000000"/>
                </a:solidFill>
                <a:latin typeface="Courier New" panose="02070309020205020404" pitchFamily="49" charset="0"/>
                <a:cs typeface="Courier New" panose="02070309020205020404" pitchFamily="49" charset="0"/>
              </a:rPr>
              <a:t>(</a:t>
            </a:r>
            <a:r>
              <a:rPr lang="en-CA" sz="1500" dirty="0" err="1" smtClean="0">
                <a:solidFill>
                  <a:srgbClr val="000000"/>
                </a:solidFill>
                <a:latin typeface="Courier New" panose="02070309020205020404" pitchFamily="49" charset="0"/>
                <a:cs typeface="Courier New" panose="02070309020205020404" pitchFamily="49" charset="0"/>
              </a:rPr>
              <a:t>aspc</a:t>
            </a:r>
            <a:r>
              <a:rPr lang="en-CA" sz="1500" dirty="0" smtClean="0">
                <a:solidFill>
                  <a:srgbClr val="000000"/>
                </a:solidFill>
                <a:latin typeface="Courier New" panose="02070309020205020404" pitchFamily="49" charset="0"/>
                <a:cs typeface="Courier New" panose="02070309020205020404" pitchFamily="49" charset="0"/>
              </a:rPr>
              <a:t>=block</a:t>
            </a:r>
            <a:r>
              <a:rPr lang="en-CA" sz="1500" dirty="0">
                <a:solidFill>
                  <a:srgbClr val="000000"/>
                </a:solidFill>
                <a:latin typeface="Courier New" panose="02070309020205020404" pitchFamily="49" charset="0"/>
                <a:cs typeface="Courier New" panose="02070309020205020404" pitchFamily="49" charset="0"/>
              </a:rPr>
              <a:t>, type=</a:t>
            </a:r>
            <a:r>
              <a:rPr lang="en-CA" sz="1500" dirty="0" err="1">
                <a:solidFill>
                  <a:srgbClr val="000000"/>
                </a:solidFill>
                <a:latin typeface="Courier New" panose="02070309020205020404" pitchFamily="49" charset="0"/>
                <a:cs typeface="Courier New" panose="02070309020205020404" pitchFamily="49" charset="0"/>
              </a:rPr>
              <a:t>data_block</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when=</a:t>
            </a:r>
            <a:r>
              <a:rPr lang="en-CA" sz="1500"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self.i_mode</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&amp; S_IFREG</a:t>
            </a:r>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__le32 </a:t>
            </a:r>
            <a:r>
              <a:rPr lang="en-CA" sz="1500" dirty="0" err="1">
                <a:solidFill>
                  <a:srgbClr val="000000"/>
                </a:solidFill>
                <a:latin typeface="Courier New" panose="02070309020205020404" pitchFamily="49" charset="0"/>
                <a:cs typeface="Courier New" panose="02070309020205020404" pitchFamily="49" charset="0"/>
              </a:rPr>
              <a:t>i_block</a:t>
            </a:r>
            <a:r>
              <a:rPr lang="en-CA" sz="1500" dirty="0">
                <a:solidFill>
                  <a:srgbClr val="000000"/>
                </a:solidFill>
                <a:latin typeface="Courier New" panose="02070309020205020404" pitchFamily="49" charset="0"/>
                <a:cs typeface="Courier New" panose="02070309020205020404" pitchFamily="49" charset="0"/>
              </a:rPr>
              <a:t>[EXT3_NDIR_BLOCKS];</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a:t>
            </a:r>
          </a:p>
        </p:txBody>
      </p:sp>
      <p:grpSp>
        <p:nvGrpSpPr>
          <p:cNvPr id="5" name="Group 4"/>
          <p:cNvGrpSpPr/>
          <p:nvPr/>
        </p:nvGrpSpPr>
        <p:grpSpPr>
          <a:xfrm>
            <a:off x="5495030" y="2190750"/>
            <a:ext cx="3270352" cy="1771392"/>
            <a:chOff x="3430981" y="4191950"/>
            <a:chExt cx="4360469" cy="2361856"/>
          </a:xfrm>
        </p:grpSpPr>
        <p:sp>
          <p:nvSpPr>
            <p:cNvPr id="20" name="Rectangle 19"/>
            <p:cNvSpPr/>
            <p:nvPr/>
          </p:nvSpPr>
          <p:spPr>
            <a:xfrm>
              <a:off x="3430981" y="4220986"/>
              <a:ext cx="4360469" cy="940832"/>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21" name="Rectangle 20"/>
            <p:cNvSpPr/>
            <p:nvPr/>
          </p:nvSpPr>
          <p:spPr>
            <a:xfrm>
              <a:off x="3515340" y="4394402"/>
              <a:ext cx="843171" cy="59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000000"/>
                  </a:solidFill>
                </a:rPr>
                <a:t>inode</a:t>
              </a:r>
              <a:r>
                <a:rPr lang="en-US" sz="1200" dirty="0">
                  <a:solidFill>
                    <a:srgbClr val="000000"/>
                  </a:solidFill>
                </a:rPr>
                <a:t> table</a:t>
              </a:r>
            </a:p>
          </p:txBody>
        </p:sp>
        <p:sp>
          <p:nvSpPr>
            <p:cNvPr id="22" name="Rounded Rectangle 21"/>
            <p:cNvSpPr/>
            <p:nvPr/>
          </p:nvSpPr>
          <p:spPr>
            <a:xfrm>
              <a:off x="4443717" y="4293627"/>
              <a:ext cx="965390"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a:t>
              </a:r>
              <a:r>
                <a:rPr lang="en-US" altLang="zh-TW" sz="1200" dirty="0" err="1">
                  <a:solidFill>
                    <a:srgbClr val="000000"/>
                  </a:solidFill>
                </a:rPr>
                <a:t>reg</a:t>
              </a:r>
              <a:r>
                <a:rPr lang="en-US" altLang="zh-TW" sz="1200" dirty="0">
                  <a:solidFill>
                    <a:srgbClr val="000000"/>
                  </a:solidFill>
                </a:rPr>
                <a:t> file)</a:t>
              </a:r>
              <a:endParaRPr lang="zh-TW" altLang="en-US" sz="1200" dirty="0">
                <a:solidFill>
                  <a:srgbClr val="000000"/>
                </a:solidFill>
              </a:endParaRPr>
            </a:p>
          </p:txBody>
        </p:sp>
        <p:sp>
          <p:nvSpPr>
            <p:cNvPr id="23" name="Rounded Rectangle 22"/>
            <p:cNvSpPr/>
            <p:nvPr/>
          </p:nvSpPr>
          <p:spPr>
            <a:xfrm>
              <a:off x="6413942" y="4293627"/>
              <a:ext cx="1215376"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(directory)</a:t>
              </a:r>
              <a:endParaRPr lang="zh-TW" altLang="en-US" sz="1200" dirty="0">
                <a:solidFill>
                  <a:srgbClr val="000000"/>
                </a:solidFill>
              </a:endParaRPr>
            </a:p>
          </p:txBody>
        </p:sp>
        <p:sp>
          <p:nvSpPr>
            <p:cNvPr id="24" name="TextBox 23"/>
            <p:cNvSpPr txBox="1"/>
            <p:nvPr/>
          </p:nvSpPr>
          <p:spPr>
            <a:xfrm>
              <a:off x="5597240" y="4191950"/>
              <a:ext cx="793380" cy="779700"/>
            </a:xfrm>
            <a:prstGeom prst="rect">
              <a:avLst/>
            </a:prstGeom>
            <a:noFill/>
          </p:spPr>
          <p:txBody>
            <a:bodyPr wrap="none" rtlCol="0">
              <a:spAutoFit/>
            </a:bodyPr>
            <a:lstStyle/>
            <a:p>
              <a:r>
                <a:rPr lang="en-CA" sz="3200" dirty="0">
                  <a:solidFill>
                    <a:srgbClr val="000000"/>
                  </a:solidFill>
                </a:rPr>
                <a:t>…</a:t>
              </a:r>
            </a:p>
          </p:txBody>
        </p:sp>
        <p:sp>
          <p:nvSpPr>
            <p:cNvPr id="25" name="Rectangle 24"/>
            <p:cNvSpPr/>
            <p:nvPr/>
          </p:nvSpPr>
          <p:spPr>
            <a:xfrm>
              <a:off x="6470021" y="5815595"/>
              <a:ext cx="1103217" cy="72808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dir</a:t>
              </a:r>
              <a:endParaRPr lang="en-CA" altLang="zh-TW" sz="1200" dirty="0">
                <a:solidFill>
                  <a:srgbClr val="000000"/>
                </a:solidFill>
              </a:endParaRPr>
            </a:p>
            <a:p>
              <a:pPr algn="ctr"/>
              <a:r>
                <a:rPr lang="en-CA" altLang="zh-TW" sz="1200" dirty="0">
                  <a:solidFill>
                    <a:srgbClr val="000000"/>
                  </a:solidFill>
                </a:rPr>
                <a:t>block</a:t>
              </a:r>
              <a:endParaRPr lang="zh-TW" altLang="en-US" sz="1200" dirty="0">
                <a:solidFill>
                  <a:srgbClr val="000000"/>
                </a:solidFill>
              </a:endParaRPr>
            </a:p>
          </p:txBody>
        </p:sp>
        <p:cxnSp>
          <p:nvCxnSpPr>
            <p:cNvPr id="26" name="Straight Arrow Connector 96"/>
            <p:cNvCxnSpPr>
              <a:stCxn id="23" idx="2"/>
              <a:endCxn id="25" idx="0"/>
            </p:cNvCxnSpPr>
            <p:nvPr/>
          </p:nvCxnSpPr>
          <p:spPr>
            <a:xfrm>
              <a:off x="7021630" y="5089178"/>
              <a:ext cx="0" cy="726417"/>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374804" y="5825726"/>
              <a:ext cx="1103217" cy="72808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data</a:t>
              </a:r>
            </a:p>
            <a:p>
              <a:pPr algn="ctr"/>
              <a:r>
                <a:rPr lang="en-CA" altLang="zh-TW" sz="1200" dirty="0">
                  <a:solidFill>
                    <a:srgbClr val="000000"/>
                  </a:solidFill>
                </a:rPr>
                <a:t>block</a:t>
              </a:r>
              <a:endParaRPr lang="zh-TW" altLang="en-US" sz="1200" dirty="0">
                <a:solidFill>
                  <a:srgbClr val="000000"/>
                </a:solidFill>
              </a:endParaRPr>
            </a:p>
          </p:txBody>
        </p:sp>
        <p:cxnSp>
          <p:nvCxnSpPr>
            <p:cNvPr id="29" name="Straight Arrow Connector 96"/>
            <p:cNvCxnSpPr>
              <a:stCxn id="22" idx="2"/>
              <a:endCxn id="28" idx="0"/>
            </p:cNvCxnSpPr>
            <p:nvPr/>
          </p:nvCxnSpPr>
          <p:spPr>
            <a:xfrm>
              <a:off x="4926412" y="5089178"/>
              <a:ext cx="1" cy="736548"/>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507175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Context-Sensitive Types</a:t>
            </a:r>
            <a:endParaRPr lang="en-CA" dirty="0"/>
          </a:p>
        </p:txBody>
      </p:sp>
      <p:sp>
        <p:nvSpPr>
          <p:cNvPr id="3" name="Content Placeholder 2"/>
          <p:cNvSpPr>
            <a:spLocks noGrp="1"/>
          </p:cNvSpPr>
          <p:nvPr>
            <p:ph idx="1"/>
          </p:nvPr>
        </p:nvSpPr>
        <p:spPr/>
        <p:txBody>
          <a:bodyPr/>
          <a:lstStyle/>
          <a:p>
            <a:r>
              <a:rPr lang="en-CA" dirty="0"/>
              <a:t>A field may refer to different types of metadata</a:t>
            </a:r>
          </a:p>
          <a:p>
            <a:pPr lvl="1"/>
            <a:r>
              <a:rPr lang="en-CA" dirty="0" smtClean="0"/>
              <a:t>Pointers </a:t>
            </a:r>
            <a:r>
              <a:rPr lang="en-CA" dirty="0" smtClean="0"/>
              <a:t>in </a:t>
            </a:r>
            <a:r>
              <a:rPr lang="en-CA" dirty="0" err="1" smtClean="0"/>
              <a:t>inode</a:t>
            </a:r>
            <a:r>
              <a:rPr lang="en-CA" dirty="0" smtClean="0"/>
              <a:t> structure can point to directory or data blocks</a:t>
            </a:r>
          </a:p>
          <a:p>
            <a:r>
              <a:rPr lang="en-CA" dirty="0" smtClean="0"/>
              <a:t>Supported by specifying </a:t>
            </a:r>
            <a:r>
              <a:rPr lang="en-CA" i="1" dirty="0" smtClean="0"/>
              <a:t>when</a:t>
            </a:r>
            <a:r>
              <a:rPr lang="en-CA" dirty="0" smtClean="0"/>
              <a:t> condition in pointer annotation</a:t>
            </a:r>
          </a:p>
        </p:txBody>
      </p:sp>
      <p:sp>
        <p:nvSpPr>
          <p:cNvPr id="46" name="Rectangle 45"/>
          <p:cNvSpPr/>
          <p:nvPr/>
        </p:nvSpPr>
        <p:spPr>
          <a:xfrm>
            <a:off x="444719" y="2190750"/>
            <a:ext cx="4723703" cy="2400657"/>
          </a:xfrm>
          <a:prstGeom prst="rect">
            <a:avLst/>
          </a:prstGeom>
        </p:spPr>
        <p:txBody>
          <a:bodyPr wrap="square">
            <a:spAutoFit/>
          </a:bodyPr>
          <a:lstStyle/>
          <a:p>
            <a:r>
              <a:rPr lang="en-CA" sz="1500" b="1" dirty="0">
                <a:solidFill>
                  <a:srgbClr val="000000"/>
                </a:solidFill>
                <a:latin typeface="Courier New" panose="02070309020205020404" pitchFamily="49" charset="0"/>
                <a:cs typeface="Courier New" panose="02070309020205020404" pitchFamily="49" charset="0"/>
              </a:rPr>
              <a:t>FSSTRUCT</a:t>
            </a:r>
            <a:r>
              <a:rPr lang="en-CA" sz="1500" dirty="0">
                <a:solidFill>
                  <a:srgbClr val="000000"/>
                </a:solidFill>
                <a:latin typeface="Courier New" panose="02070309020205020404" pitchFamily="49" charset="0"/>
                <a:cs typeface="Courier New" panose="02070309020205020404" pitchFamily="49" charset="0"/>
              </a:rPr>
              <a:t>(...) ext4_inode {</a:t>
            </a:r>
          </a:p>
          <a:p>
            <a:r>
              <a:rPr lang="en-CA" sz="1500" dirty="0">
                <a:solidFill>
                  <a:srgbClr val="000000"/>
                </a:solidFill>
                <a:latin typeface="Courier New" panose="02070309020205020404" pitchFamily="49" charset="0"/>
                <a:cs typeface="Courier New" panose="02070309020205020404" pitchFamily="49" charset="0"/>
              </a:rPr>
              <a:t>  __le16 </a:t>
            </a:r>
            <a:r>
              <a:rPr lang="en-CA" sz="1500" dirty="0" err="1">
                <a:solidFill>
                  <a:srgbClr val="000000"/>
                </a:solidFill>
                <a:latin typeface="Courier New" panose="02070309020205020404" pitchFamily="49" charset="0"/>
                <a:cs typeface="Courier New" panose="02070309020205020404" pitchFamily="49" charset="0"/>
              </a:rPr>
              <a:t>i_mode</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smtClean="0">
                <a:solidFill>
                  <a:srgbClr val="000000"/>
                </a:solidFill>
                <a:latin typeface="Courier New" panose="02070309020205020404" pitchFamily="49" charset="0"/>
                <a:cs typeface="Courier New" panose="02070309020205020404" pitchFamily="49" charset="0"/>
              </a:rPr>
              <a:t>POINTER</a:t>
            </a:r>
            <a:r>
              <a:rPr lang="en-CA" sz="1500" dirty="0" smtClean="0">
                <a:solidFill>
                  <a:srgbClr val="000000"/>
                </a:solidFill>
                <a:latin typeface="Courier New" panose="02070309020205020404" pitchFamily="49" charset="0"/>
                <a:cs typeface="Courier New" panose="02070309020205020404" pitchFamily="49" charset="0"/>
              </a:rPr>
              <a:t>(</a:t>
            </a:r>
            <a:r>
              <a:rPr lang="en-CA" sz="1500" dirty="0" err="1" smtClean="0">
                <a:solidFill>
                  <a:srgbClr val="000000"/>
                </a:solidFill>
                <a:latin typeface="Courier New" panose="02070309020205020404" pitchFamily="49" charset="0"/>
                <a:cs typeface="Courier New" panose="02070309020205020404" pitchFamily="49" charset="0"/>
              </a:rPr>
              <a:t>aspc</a:t>
            </a:r>
            <a:r>
              <a:rPr lang="en-CA" sz="1500" dirty="0" smtClean="0">
                <a:solidFill>
                  <a:srgbClr val="000000"/>
                </a:solidFill>
                <a:latin typeface="Courier New" panose="02070309020205020404" pitchFamily="49" charset="0"/>
                <a:cs typeface="Courier New" panose="02070309020205020404" pitchFamily="49" charset="0"/>
              </a:rPr>
              <a:t>=block</a:t>
            </a:r>
            <a:r>
              <a:rPr lang="en-CA" sz="1500" dirty="0">
                <a:solidFill>
                  <a:srgbClr val="000000"/>
                </a:solidFill>
                <a:latin typeface="Courier New" panose="02070309020205020404" pitchFamily="49" charset="0"/>
                <a:cs typeface="Courier New" panose="02070309020205020404" pitchFamily="49" charset="0"/>
              </a:rPr>
              <a:t>, type=</a:t>
            </a:r>
            <a:r>
              <a:rPr lang="en-CA" sz="1500" dirty="0" err="1">
                <a:solidFill>
                  <a:srgbClr val="000000"/>
                </a:solidFill>
                <a:latin typeface="Courier New" panose="02070309020205020404" pitchFamily="49" charset="0"/>
                <a:cs typeface="Courier New" panose="02070309020205020404" pitchFamily="49" charset="0"/>
              </a:rPr>
              <a:t>dir_block</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when=</a:t>
            </a:r>
            <a:r>
              <a:rPr lang="en-CA" sz="1500"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self.i_mode</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&amp; S_IFDIR</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POINTER</a:t>
            </a:r>
            <a:r>
              <a:rPr lang="en-CA" sz="1500"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r>
              <a:rPr lang="en-CA" sz="1500" dirty="0" err="1"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aspc</a:t>
            </a:r>
            <a:r>
              <a:rPr lang="en-CA" sz="1500"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=block</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type=</a:t>
            </a:r>
            <a:r>
              <a:rPr lang="en-CA" sz="1500"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data_block</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p>
          <a:p>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when=</a:t>
            </a:r>
            <a:r>
              <a:rPr lang="en-CA" sz="1500"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self.i_mode</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&amp; S_IFREG)</a:t>
            </a:r>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__le32 </a:t>
            </a:r>
            <a:r>
              <a:rPr lang="en-CA" sz="1500" dirty="0" err="1">
                <a:solidFill>
                  <a:srgbClr val="000000"/>
                </a:solidFill>
                <a:latin typeface="Courier New" panose="02070309020205020404" pitchFamily="49" charset="0"/>
                <a:cs typeface="Courier New" panose="02070309020205020404" pitchFamily="49" charset="0"/>
              </a:rPr>
              <a:t>i_block</a:t>
            </a:r>
            <a:r>
              <a:rPr lang="en-CA" sz="1500" dirty="0">
                <a:solidFill>
                  <a:srgbClr val="000000"/>
                </a:solidFill>
                <a:latin typeface="Courier New" panose="02070309020205020404" pitchFamily="49" charset="0"/>
                <a:cs typeface="Courier New" panose="02070309020205020404" pitchFamily="49" charset="0"/>
              </a:rPr>
              <a:t>[EXT3_NDIR_BLOCKS];</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a:t>
            </a:r>
          </a:p>
        </p:txBody>
      </p:sp>
      <p:grpSp>
        <p:nvGrpSpPr>
          <p:cNvPr id="5" name="Group 4"/>
          <p:cNvGrpSpPr/>
          <p:nvPr/>
        </p:nvGrpSpPr>
        <p:grpSpPr>
          <a:xfrm>
            <a:off x="5495030" y="2190750"/>
            <a:ext cx="3270352" cy="1771392"/>
            <a:chOff x="3430981" y="4191950"/>
            <a:chExt cx="4360469" cy="2361856"/>
          </a:xfrm>
        </p:grpSpPr>
        <p:sp>
          <p:nvSpPr>
            <p:cNvPr id="20" name="Rectangle 19"/>
            <p:cNvSpPr/>
            <p:nvPr/>
          </p:nvSpPr>
          <p:spPr>
            <a:xfrm>
              <a:off x="3430981" y="4220986"/>
              <a:ext cx="4360469" cy="940832"/>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21" name="Rectangle 20"/>
            <p:cNvSpPr/>
            <p:nvPr/>
          </p:nvSpPr>
          <p:spPr>
            <a:xfrm>
              <a:off x="3515340" y="4394402"/>
              <a:ext cx="843171" cy="59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000000"/>
                  </a:solidFill>
                </a:rPr>
                <a:t>inode</a:t>
              </a:r>
              <a:r>
                <a:rPr lang="en-US" sz="1200" dirty="0">
                  <a:solidFill>
                    <a:srgbClr val="000000"/>
                  </a:solidFill>
                </a:rPr>
                <a:t> table</a:t>
              </a:r>
            </a:p>
          </p:txBody>
        </p:sp>
        <p:sp>
          <p:nvSpPr>
            <p:cNvPr id="22" name="Rounded Rectangle 21"/>
            <p:cNvSpPr/>
            <p:nvPr/>
          </p:nvSpPr>
          <p:spPr>
            <a:xfrm>
              <a:off x="4443717" y="4293627"/>
              <a:ext cx="965390"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a:t>
              </a:r>
              <a:r>
                <a:rPr lang="en-US" altLang="zh-TW" sz="1200" dirty="0" err="1">
                  <a:solidFill>
                    <a:srgbClr val="000000"/>
                  </a:solidFill>
                </a:rPr>
                <a:t>reg</a:t>
              </a:r>
              <a:r>
                <a:rPr lang="en-US" altLang="zh-TW" sz="1200" dirty="0">
                  <a:solidFill>
                    <a:srgbClr val="000000"/>
                  </a:solidFill>
                </a:rPr>
                <a:t> file)</a:t>
              </a:r>
              <a:endParaRPr lang="zh-TW" altLang="en-US" sz="1200" dirty="0">
                <a:solidFill>
                  <a:srgbClr val="000000"/>
                </a:solidFill>
              </a:endParaRPr>
            </a:p>
          </p:txBody>
        </p:sp>
        <p:sp>
          <p:nvSpPr>
            <p:cNvPr id="23" name="Rounded Rectangle 22"/>
            <p:cNvSpPr/>
            <p:nvPr/>
          </p:nvSpPr>
          <p:spPr>
            <a:xfrm>
              <a:off x="6413942" y="4293627"/>
              <a:ext cx="1215376" cy="795551"/>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200" dirty="0" err="1">
                  <a:solidFill>
                    <a:srgbClr val="000000"/>
                  </a:solidFill>
                </a:rPr>
                <a:t>inode</a:t>
              </a:r>
              <a:endParaRPr lang="en-US" altLang="zh-TW" sz="1200" dirty="0">
                <a:solidFill>
                  <a:srgbClr val="000000"/>
                </a:solidFill>
              </a:endParaRPr>
            </a:p>
            <a:p>
              <a:pPr algn="ctr"/>
              <a:r>
                <a:rPr lang="en-US" altLang="zh-TW" sz="1200" dirty="0">
                  <a:solidFill>
                    <a:srgbClr val="000000"/>
                  </a:solidFill>
                </a:rPr>
                <a:t>(directory)</a:t>
              </a:r>
              <a:endParaRPr lang="zh-TW" altLang="en-US" sz="1200" dirty="0">
                <a:solidFill>
                  <a:srgbClr val="000000"/>
                </a:solidFill>
              </a:endParaRPr>
            </a:p>
          </p:txBody>
        </p:sp>
        <p:sp>
          <p:nvSpPr>
            <p:cNvPr id="24" name="TextBox 23"/>
            <p:cNvSpPr txBox="1"/>
            <p:nvPr/>
          </p:nvSpPr>
          <p:spPr>
            <a:xfrm>
              <a:off x="5597240" y="4191950"/>
              <a:ext cx="793380" cy="779700"/>
            </a:xfrm>
            <a:prstGeom prst="rect">
              <a:avLst/>
            </a:prstGeom>
            <a:noFill/>
          </p:spPr>
          <p:txBody>
            <a:bodyPr wrap="none" rtlCol="0">
              <a:spAutoFit/>
            </a:bodyPr>
            <a:lstStyle/>
            <a:p>
              <a:r>
                <a:rPr lang="en-CA" sz="3200" dirty="0">
                  <a:solidFill>
                    <a:srgbClr val="000000"/>
                  </a:solidFill>
                </a:rPr>
                <a:t>…</a:t>
              </a:r>
            </a:p>
          </p:txBody>
        </p:sp>
        <p:sp>
          <p:nvSpPr>
            <p:cNvPr id="25" name="Rectangle 24"/>
            <p:cNvSpPr/>
            <p:nvPr/>
          </p:nvSpPr>
          <p:spPr>
            <a:xfrm>
              <a:off x="6470021" y="5815595"/>
              <a:ext cx="1103217" cy="72808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err="1">
                  <a:solidFill>
                    <a:srgbClr val="000000"/>
                  </a:solidFill>
                </a:rPr>
                <a:t>dir</a:t>
              </a:r>
              <a:endParaRPr lang="en-CA" altLang="zh-TW" sz="1200" dirty="0">
                <a:solidFill>
                  <a:srgbClr val="000000"/>
                </a:solidFill>
              </a:endParaRPr>
            </a:p>
            <a:p>
              <a:pPr algn="ctr"/>
              <a:r>
                <a:rPr lang="en-CA" altLang="zh-TW" sz="1200" dirty="0">
                  <a:solidFill>
                    <a:srgbClr val="000000"/>
                  </a:solidFill>
                </a:rPr>
                <a:t>block</a:t>
              </a:r>
              <a:endParaRPr lang="zh-TW" altLang="en-US" sz="1200" dirty="0">
                <a:solidFill>
                  <a:srgbClr val="000000"/>
                </a:solidFill>
              </a:endParaRPr>
            </a:p>
          </p:txBody>
        </p:sp>
        <p:cxnSp>
          <p:nvCxnSpPr>
            <p:cNvPr id="26" name="Straight Arrow Connector 96"/>
            <p:cNvCxnSpPr>
              <a:stCxn id="23" idx="2"/>
              <a:endCxn id="25" idx="0"/>
            </p:cNvCxnSpPr>
            <p:nvPr/>
          </p:nvCxnSpPr>
          <p:spPr>
            <a:xfrm>
              <a:off x="7021630" y="5089178"/>
              <a:ext cx="0" cy="726417"/>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374804" y="5825726"/>
              <a:ext cx="1103217" cy="728080"/>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data</a:t>
              </a:r>
            </a:p>
            <a:p>
              <a:pPr algn="ctr"/>
              <a:r>
                <a:rPr lang="en-CA" altLang="zh-TW" sz="1200" dirty="0">
                  <a:solidFill>
                    <a:srgbClr val="000000"/>
                  </a:solidFill>
                </a:rPr>
                <a:t>block</a:t>
              </a:r>
              <a:endParaRPr lang="zh-TW" altLang="en-US" sz="1200" dirty="0">
                <a:solidFill>
                  <a:srgbClr val="000000"/>
                </a:solidFill>
              </a:endParaRPr>
            </a:p>
          </p:txBody>
        </p:sp>
        <p:cxnSp>
          <p:nvCxnSpPr>
            <p:cNvPr id="29" name="Straight Arrow Connector 96"/>
            <p:cNvCxnSpPr>
              <a:stCxn id="22" idx="2"/>
              <a:endCxn id="28" idx="0"/>
            </p:cNvCxnSpPr>
            <p:nvPr/>
          </p:nvCxnSpPr>
          <p:spPr>
            <a:xfrm>
              <a:off x="4926412" y="5089178"/>
              <a:ext cx="1" cy="736548"/>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77186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Missing Pointer</a:t>
            </a:r>
            <a:endParaRPr lang="en-CA" dirty="0"/>
          </a:p>
        </p:txBody>
      </p:sp>
      <p:sp>
        <p:nvSpPr>
          <p:cNvPr id="3" name="Content Placeholder 2"/>
          <p:cNvSpPr>
            <a:spLocks noGrp="1"/>
          </p:cNvSpPr>
          <p:nvPr>
            <p:ph idx="1"/>
          </p:nvPr>
        </p:nvSpPr>
        <p:spPr/>
        <p:txBody>
          <a:bodyPr/>
          <a:lstStyle/>
          <a:p>
            <a:r>
              <a:rPr lang="en-CA" dirty="0" smtClean="0"/>
              <a:t>Locations of some structures are implicit in the code</a:t>
            </a:r>
          </a:p>
          <a:p>
            <a:r>
              <a:rPr lang="en-CA" dirty="0" smtClean="0"/>
              <a:t>E.g. Ext4 block group descriptor table is the next block following the super block</a:t>
            </a:r>
          </a:p>
          <a:p>
            <a:pPr lvl="1"/>
            <a:r>
              <a:rPr lang="en-CA" dirty="0" smtClean="0"/>
              <a:t>Ext4 super block does not have a </a:t>
            </a:r>
            <a:br>
              <a:rPr lang="en-CA" dirty="0" smtClean="0"/>
            </a:br>
            <a:r>
              <a:rPr lang="en-CA" dirty="0" smtClean="0"/>
              <a:t>field that points to descriptor table</a:t>
            </a:r>
          </a:p>
          <a:p>
            <a:pPr lvl="1"/>
            <a:r>
              <a:rPr lang="en-CA" dirty="0" smtClean="0"/>
              <a:t>Pointer required for file system </a:t>
            </a:r>
            <a:br>
              <a:rPr lang="en-CA" dirty="0" smtClean="0"/>
            </a:br>
            <a:r>
              <a:rPr lang="en-CA" dirty="0" smtClean="0"/>
              <a:t>traversal</a:t>
            </a:r>
          </a:p>
        </p:txBody>
      </p:sp>
      <p:sp>
        <p:nvSpPr>
          <p:cNvPr id="87" name="Rectangle 86"/>
          <p:cNvSpPr/>
          <p:nvPr/>
        </p:nvSpPr>
        <p:spPr>
          <a:xfrm>
            <a:off x="4436269" y="3024290"/>
            <a:ext cx="1398985" cy="44511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bg1"/>
                </a:solidFill>
              </a:rPr>
              <a:t>missing pointer</a:t>
            </a:r>
          </a:p>
        </p:txBody>
      </p:sp>
      <p:cxnSp>
        <p:nvCxnSpPr>
          <p:cNvPr id="26" name="Straight Arrow Connector 25"/>
          <p:cNvCxnSpPr/>
          <p:nvPr/>
        </p:nvCxnSpPr>
        <p:spPr>
          <a:xfrm>
            <a:off x="5936330" y="2635761"/>
            <a:ext cx="0" cy="445115"/>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5501772" y="2131635"/>
            <a:ext cx="827413" cy="504126"/>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super</a:t>
            </a:r>
          </a:p>
          <a:p>
            <a:pPr algn="ctr"/>
            <a:r>
              <a:rPr lang="en-CA" altLang="zh-TW" sz="1200" dirty="0">
                <a:solidFill>
                  <a:srgbClr val="000000"/>
                </a:solidFill>
              </a:rPr>
              <a:t>block</a:t>
            </a:r>
            <a:endParaRPr lang="zh-TW" altLang="en-US" sz="1200" dirty="0">
              <a:solidFill>
                <a:srgbClr val="000000"/>
              </a:solidFill>
            </a:endParaRPr>
          </a:p>
        </p:txBody>
      </p:sp>
      <p:sp>
        <p:nvSpPr>
          <p:cNvPr id="28" name="Rectangle 27"/>
          <p:cNvSpPr/>
          <p:nvPr/>
        </p:nvSpPr>
        <p:spPr>
          <a:xfrm>
            <a:off x="7428769" y="2131635"/>
            <a:ext cx="1479488" cy="504126"/>
          </a:xfrm>
          <a:prstGeom prst="rect">
            <a:avLst/>
          </a:prstGeom>
          <a:solidFill>
            <a:schemeClr val="accent5">
              <a:lumMod val="40000"/>
              <a:lumOff val="60000"/>
              <a:alpha val="30000"/>
            </a:schemeClr>
          </a:solidFill>
          <a:ln w="12700">
            <a:solidFill>
              <a:srgbClr val="000000">
                <a:alpha val="3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alpha val="30000"/>
                  </a:srgbClr>
                </a:solidFill>
              </a:rPr>
              <a:t>ext4 journal</a:t>
            </a:r>
            <a:endParaRPr lang="zh-TW" altLang="en-US" sz="1200" dirty="0">
              <a:solidFill>
                <a:srgbClr val="000000">
                  <a:alpha val="30000"/>
                </a:srgbClr>
              </a:solidFill>
            </a:endParaRPr>
          </a:p>
        </p:txBody>
      </p:sp>
      <p:cxnSp>
        <p:nvCxnSpPr>
          <p:cNvPr id="29" name="Straight Arrow Connector 28"/>
          <p:cNvCxnSpPr>
            <a:stCxn id="27" idx="3"/>
            <a:endCxn id="28" idx="1"/>
          </p:cNvCxnSpPr>
          <p:nvPr/>
        </p:nvCxnSpPr>
        <p:spPr>
          <a:xfrm>
            <a:off x="6329185" y="2383698"/>
            <a:ext cx="1099584" cy="0"/>
          </a:xfrm>
          <a:prstGeom prst="straightConnector1">
            <a:avLst/>
          </a:prstGeom>
          <a:ln w="63500">
            <a:solidFill>
              <a:schemeClr val="accent6">
                <a:alpha val="3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5501772" y="3080876"/>
            <a:ext cx="3406486" cy="794858"/>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31" name="Rectangle 30"/>
          <p:cNvSpPr/>
          <p:nvPr/>
        </p:nvSpPr>
        <p:spPr>
          <a:xfrm>
            <a:off x="5564558" y="3146476"/>
            <a:ext cx="1501506" cy="47388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block group descriptor table</a:t>
            </a:r>
          </a:p>
        </p:txBody>
      </p:sp>
      <p:cxnSp>
        <p:nvCxnSpPr>
          <p:cNvPr id="32" name="Straight Arrow Connector 96"/>
          <p:cNvCxnSpPr>
            <a:stCxn id="38" idx="2"/>
          </p:cNvCxnSpPr>
          <p:nvPr/>
        </p:nvCxnSpPr>
        <p:spPr>
          <a:xfrm rot="5400000">
            <a:off x="6342230" y="3416506"/>
            <a:ext cx="677160" cy="1473250"/>
          </a:xfrm>
          <a:prstGeom prst="bentConnector3">
            <a:avLst>
              <a:gd name="adj1" fmla="val 27846"/>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96"/>
          <p:cNvCxnSpPr>
            <a:stCxn id="37" idx="2"/>
          </p:cNvCxnSpPr>
          <p:nvPr/>
        </p:nvCxnSpPr>
        <p:spPr>
          <a:xfrm rot="5400000">
            <a:off x="6970093" y="3788514"/>
            <a:ext cx="691335" cy="715060"/>
          </a:xfrm>
          <a:prstGeom prst="bentConnector3">
            <a:avLst>
              <a:gd name="adj1" fmla="val 50000"/>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96"/>
          <p:cNvCxnSpPr/>
          <p:nvPr/>
        </p:nvCxnSpPr>
        <p:spPr>
          <a:xfrm>
            <a:off x="7897947" y="3792761"/>
            <a:ext cx="0" cy="697472"/>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8297924" y="3078944"/>
            <a:ext cx="595035" cy="584775"/>
          </a:xfrm>
          <a:prstGeom prst="rect">
            <a:avLst/>
          </a:prstGeom>
          <a:noFill/>
        </p:spPr>
        <p:txBody>
          <a:bodyPr wrap="none" rtlCol="0">
            <a:spAutoFit/>
          </a:bodyPr>
          <a:lstStyle/>
          <a:p>
            <a:r>
              <a:rPr lang="en-CA" sz="3200" dirty="0">
                <a:solidFill>
                  <a:srgbClr val="000000"/>
                </a:solidFill>
              </a:rPr>
              <a:t>…</a:t>
            </a:r>
          </a:p>
        </p:txBody>
      </p:sp>
      <p:grpSp>
        <p:nvGrpSpPr>
          <p:cNvPr id="36" name="Group 35"/>
          <p:cNvGrpSpPr/>
          <p:nvPr/>
        </p:nvGrpSpPr>
        <p:grpSpPr>
          <a:xfrm>
            <a:off x="7140876" y="3137914"/>
            <a:ext cx="1064828" cy="676637"/>
            <a:chOff x="2529818" y="2415923"/>
            <a:chExt cx="1419770" cy="902183"/>
          </a:xfrm>
        </p:grpSpPr>
        <p:sp>
          <p:nvSpPr>
            <p:cNvPr id="37" name="Rounded Rectangle 36"/>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rgbClr val="000000"/>
                  </a:solidFill>
                </a:rPr>
                <a:t>block group descriptor</a:t>
              </a:r>
              <a:endParaRPr lang="zh-TW" altLang="en-US" sz="1200" dirty="0">
                <a:solidFill>
                  <a:srgbClr val="000000"/>
                </a:solidFill>
              </a:endParaRPr>
            </a:p>
          </p:txBody>
        </p:sp>
        <p:sp>
          <p:nvSpPr>
            <p:cNvPr id="38" name="Rectangle 37"/>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rgbClr val="000000"/>
                </a:solidFill>
              </a:endParaRPr>
            </a:p>
          </p:txBody>
        </p:sp>
      </p:grpSp>
      <p:sp>
        <p:nvSpPr>
          <p:cNvPr id="41" name="Rectangle 40"/>
          <p:cNvSpPr/>
          <p:nvPr/>
        </p:nvSpPr>
        <p:spPr>
          <a:xfrm>
            <a:off x="6006063" y="2692773"/>
            <a:ext cx="1539204" cy="276999"/>
          </a:xfrm>
          <a:prstGeom prst="rect">
            <a:avLst/>
          </a:prstGeom>
          <a:noFill/>
          <a:ln>
            <a:noFill/>
          </a:ln>
        </p:spPr>
        <p:txBody>
          <a:bodyPr wrap="none">
            <a:spAutoFit/>
          </a:bodyPr>
          <a:lstStyle/>
          <a:p>
            <a:r>
              <a:rPr lang="en-CA" sz="1200" i="1" dirty="0" smtClean="0">
                <a:solidFill>
                  <a:srgbClr val="000000"/>
                </a:solidFill>
                <a:effectLst>
                  <a:glow rad="228600">
                    <a:srgbClr val="FFFF00">
                      <a:alpha val="40000"/>
                    </a:srgbClr>
                  </a:glow>
                </a:effectLst>
                <a:latin typeface="+mn-lt"/>
                <a:cs typeface="Courier New" panose="02070309020205020404" pitchFamily="49" charset="0"/>
              </a:rPr>
              <a:t>missing pointer field</a:t>
            </a:r>
            <a:endParaRPr lang="en-CA" sz="1200" i="1" dirty="0">
              <a:solidFill>
                <a:srgbClr val="000000"/>
              </a:solidFill>
              <a:effectLst>
                <a:glow rad="228600">
                  <a:srgbClr val="FFFF00">
                    <a:alpha val="40000"/>
                  </a:srgbClr>
                </a:glow>
              </a:effectLst>
              <a:latin typeface="+mn-lt"/>
            </a:endParaRPr>
          </a:p>
        </p:txBody>
      </p:sp>
      <p:sp>
        <p:nvSpPr>
          <p:cNvPr id="4" name="Freeform 3"/>
          <p:cNvSpPr/>
          <p:nvPr/>
        </p:nvSpPr>
        <p:spPr>
          <a:xfrm flipH="1" flipV="1">
            <a:off x="5257799" y="2724150"/>
            <a:ext cx="595186" cy="237571"/>
          </a:xfrm>
          <a:custGeom>
            <a:avLst/>
            <a:gdLst>
              <a:gd name="connsiteX0" fmla="*/ 0 w 376517"/>
              <a:gd name="connsiteY0" fmla="*/ 0 h 94130"/>
              <a:gd name="connsiteX1" fmla="*/ 376517 w 376517"/>
              <a:gd name="connsiteY1" fmla="*/ 94130 h 94130"/>
            </a:gdLst>
            <a:ahLst/>
            <a:cxnLst>
              <a:cxn ang="0">
                <a:pos x="connsiteX0" y="connsiteY0"/>
              </a:cxn>
              <a:cxn ang="0">
                <a:pos x="connsiteX1" y="connsiteY1"/>
              </a:cxn>
            </a:cxnLst>
            <a:rect l="l" t="t" r="r" b="b"/>
            <a:pathLst>
              <a:path w="376517" h="94130">
                <a:moveTo>
                  <a:pt x="0" y="0"/>
                </a:moveTo>
                <a:lnTo>
                  <a:pt x="376517" y="94130"/>
                </a:lnTo>
              </a:path>
            </a:pathLst>
          </a:custGeom>
          <a:noFill/>
          <a:ln>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6053186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Implicit Pointer</a:t>
            </a:r>
            <a:endParaRPr lang="en-CA" dirty="0"/>
          </a:p>
        </p:txBody>
      </p:sp>
      <p:sp>
        <p:nvSpPr>
          <p:cNvPr id="3" name="Content Placeholder 2"/>
          <p:cNvSpPr>
            <a:spLocks noGrp="1"/>
          </p:cNvSpPr>
          <p:nvPr>
            <p:ph idx="1"/>
          </p:nvPr>
        </p:nvSpPr>
        <p:spPr/>
        <p:txBody>
          <a:bodyPr/>
          <a:lstStyle/>
          <a:p>
            <a:r>
              <a:rPr lang="en-CA" dirty="0" smtClean="0"/>
              <a:t>Solution: Implicit pointer annotation</a:t>
            </a:r>
          </a:p>
          <a:p>
            <a:pPr lvl="1"/>
            <a:r>
              <a:rPr lang="en-CA" sz="2000" i="1" dirty="0" smtClean="0"/>
              <a:t>name</a:t>
            </a:r>
            <a:r>
              <a:rPr lang="en-CA" sz="2000" dirty="0" smtClean="0"/>
              <a:t> creates a logical pointer field that can be dereferenced</a:t>
            </a:r>
          </a:p>
          <a:p>
            <a:pPr lvl="1"/>
            <a:r>
              <a:rPr lang="en-CA" sz="2000" i="1" dirty="0" smtClean="0"/>
              <a:t>expr</a:t>
            </a:r>
            <a:r>
              <a:rPr lang="en-CA" sz="2000" dirty="0" smtClean="0"/>
              <a:t> is a C expression that specifies how to calculate the field value</a:t>
            </a:r>
          </a:p>
          <a:p>
            <a:pPr lvl="2"/>
            <a:r>
              <a:rPr lang="en-CA" sz="1800" dirty="0" smtClean="0"/>
              <a:t>Expression can reference other fields</a:t>
            </a:r>
            <a:br>
              <a:rPr lang="en-CA" sz="1800" dirty="0" smtClean="0"/>
            </a:br>
            <a:r>
              <a:rPr lang="en-CA" sz="1800" dirty="0" smtClean="0"/>
              <a:t>in the structure</a:t>
            </a:r>
          </a:p>
          <a:p>
            <a:pPr lvl="1"/>
            <a:endParaRPr lang="en-CA" dirty="0" smtClean="0"/>
          </a:p>
        </p:txBody>
      </p:sp>
      <p:sp>
        <p:nvSpPr>
          <p:cNvPr id="5" name="Rectangle 4"/>
          <p:cNvSpPr/>
          <p:nvPr/>
        </p:nvSpPr>
        <p:spPr>
          <a:xfrm>
            <a:off x="65659" y="2690158"/>
            <a:ext cx="5440101" cy="1708160"/>
          </a:xfrm>
          <a:prstGeom prst="rect">
            <a:avLst/>
          </a:prstGeom>
        </p:spPr>
        <p:txBody>
          <a:bodyPr wrap="square">
            <a:spAutoFit/>
          </a:bodyPr>
          <a:lstStyle/>
          <a:p>
            <a:r>
              <a:rPr lang="en-CA" sz="1500" b="1" dirty="0">
                <a:solidFill>
                  <a:srgbClr val="000000"/>
                </a:solidFill>
                <a:latin typeface="Courier New" panose="02070309020205020404" pitchFamily="49" charset="0"/>
                <a:cs typeface="Courier New" panose="02070309020205020404" pitchFamily="49" charset="0"/>
              </a:rPr>
              <a:t>FSSUPER</a:t>
            </a:r>
            <a:r>
              <a:rPr lang="en-CA" sz="1500" dirty="0">
                <a:solidFill>
                  <a:srgbClr val="000000"/>
                </a:solidFill>
                <a:latin typeface="Courier New" panose="02070309020205020404" pitchFamily="49" charset="0"/>
                <a:cs typeface="Courier New" panose="02070309020205020404" pitchFamily="49" charset="0"/>
              </a:rPr>
              <a:t>(...) ext4_super_block {</a:t>
            </a:r>
          </a:p>
          <a:p>
            <a:r>
              <a:rPr lang="en-CA" sz="1500" dirty="0">
                <a:solidFill>
                  <a:srgbClr val="000000"/>
                </a:solidFill>
                <a:latin typeface="Courier New" panose="02070309020205020404" pitchFamily="49" charset="0"/>
                <a:cs typeface="Courier New" panose="02070309020205020404" pitchFamily="49" charset="0"/>
              </a:rPr>
              <a:t>  __le32 </a:t>
            </a:r>
            <a:r>
              <a:rPr lang="en-CA" sz="1500" dirty="0" err="1">
                <a:solidFill>
                  <a:srgbClr val="000000"/>
                </a:solidFill>
                <a:latin typeface="Courier New" panose="02070309020205020404" pitchFamily="49" charset="0"/>
                <a:cs typeface="Courier New" panose="02070309020205020404" pitchFamily="49" charset="0"/>
              </a:rPr>
              <a:t>s_log_block_size</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a:solidFill>
                  <a:srgbClr val="000000"/>
                </a:solidFill>
                <a:latin typeface="Courier New" panose="02070309020205020404" pitchFamily="49" charset="0"/>
                <a:cs typeface="Courier New" panose="02070309020205020404" pitchFamily="49" charset="0"/>
              </a:rPr>
              <a:t>POINTER</a:t>
            </a:r>
            <a:r>
              <a:rPr lang="en-CA" sz="1500" dirty="0">
                <a:solidFill>
                  <a:srgbClr val="000000"/>
                </a:solidFill>
                <a:latin typeface="Courier New" panose="02070309020205020404" pitchFamily="49" charset="0"/>
                <a:cs typeface="Courier New" panose="02070309020205020404" pitchFamily="49" charset="0"/>
              </a:rPr>
              <a:t>(</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name=</a:t>
            </a:r>
            <a:r>
              <a:rPr lang="en-CA" sz="1500"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s_block_group_desc</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type=ext4_group_desc_table, </a:t>
            </a:r>
            <a:r>
              <a:rPr lang="en-CA" sz="1500" dirty="0" err="1" smtClean="0">
                <a:solidFill>
                  <a:srgbClr val="000000"/>
                </a:solidFill>
                <a:latin typeface="Courier New" panose="02070309020205020404" pitchFamily="49" charset="0"/>
                <a:cs typeface="Courier New" panose="02070309020205020404" pitchFamily="49" charset="0"/>
              </a:rPr>
              <a:t>aspc</a:t>
            </a:r>
            <a:r>
              <a:rPr lang="en-CA" sz="1500" dirty="0" smtClean="0">
                <a:solidFill>
                  <a:srgbClr val="000000"/>
                </a:solidFill>
                <a:latin typeface="Courier New" panose="02070309020205020404" pitchFamily="49" charset="0"/>
                <a:cs typeface="Courier New" panose="02070309020205020404" pitchFamily="49" charset="0"/>
              </a:rPr>
              <a:t>=block</a:t>
            </a:r>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expr=(</a:t>
            </a:r>
            <a:r>
              <a:rPr lang="en-CA" sz="1500"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self.s_log_block_size</a:t>
            </a:r>
            <a:r>
              <a:rPr lang="en-CA" sz="1500"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 == 0) ? 2 : 1</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a:t>
            </a:r>
          </a:p>
        </p:txBody>
      </p:sp>
      <p:cxnSp>
        <p:nvCxnSpPr>
          <p:cNvPr id="27" name="Straight Arrow Connector 26"/>
          <p:cNvCxnSpPr/>
          <p:nvPr/>
        </p:nvCxnSpPr>
        <p:spPr>
          <a:xfrm>
            <a:off x="5936330" y="2635761"/>
            <a:ext cx="0" cy="445115"/>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5501772" y="2131635"/>
            <a:ext cx="827413" cy="504126"/>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super</a:t>
            </a:r>
          </a:p>
          <a:p>
            <a:pPr algn="ctr"/>
            <a:r>
              <a:rPr lang="en-CA" altLang="zh-TW" sz="1200" dirty="0">
                <a:solidFill>
                  <a:srgbClr val="000000"/>
                </a:solidFill>
              </a:rPr>
              <a:t>block</a:t>
            </a:r>
            <a:endParaRPr lang="zh-TW" altLang="en-US" sz="1200" dirty="0">
              <a:solidFill>
                <a:srgbClr val="000000"/>
              </a:solidFill>
            </a:endParaRPr>
          </a:p>
        </p:txBody>
      </p:sp>
      <p:sp>
        <p:nvSpPr>
          <p:cNvPr id="31" name="Rectangle 30"/>
          <p:cNvSpPr/>
          <p:nvPr/>
        </p:nvSpPr>
        <p:spPr>
          <a:xfrm>
            <a:off x="5501772" y="3080876"/>
            <a:ext cx="3406486" cy="794858"/>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32" name="Rectangle 31"/>
          <p:cNvSpPr/>
          <p:nvPr/>
        </p:nvSpPr>
        <p:spPr>
          <a:xfrm>
            <a:off x="5564558" y="3146476"/>
            <a:ext cx="1501506" cy="47388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block group descriptor table</a:t>
            </a:r>
          </a:p>
        </p:txBody>
      </p:sp>
      <p:cxnSp>
        <p:nvCxnSpPr>
          <p:cNvPr id="33" name="Straight Arrow Connector 96"/>
          <p:cNvCxnSpPr>
            <a:stCxn id="56" idx="2"/>
          </p:cNvCxnSpPr>
          <p:nvPr/>
        </p:nvCxnSpPr>
        <p:spPr>
          <a:xfrm rot="5400000">
            <a:off x="6342230" y="3416506"/>
            <a:ext cx="677160" cy="1473250"/>
          </a:xfrm>
          <a:prstGeom prst="bentConnector3">
            <a:avLst>
              <a:gd name="adj1" fmla="val 27846"/>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96"/>
          <p:cNvCxnSpPr>
            <a:stCxn id="38" idx="2"/>
          </p:cNvCxnSpPr>
          <p:nvPr/>
        </p:nvCxnSpPr>
        <p:spPr>
          <a:xfrm rot="5400000">
            <a:off x="6970093" y="3788514"/>
            <a:ext cx="691335" cy="715060"/>
          </a:xfrm>
          <a:prstGeom prst="bentConnector3">
            <a:avLst>
              <a:gd name="adj1" fmla="val 50000"/>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96"/>
          <p:cNvCxnSpPr/>
          <p:nvPr/>
        </p:nvCxnSpPr>
        <p:spPr>
          <a:xfrm>
            <a:off x="7897947" y="3792761"/>
            <a:ext cx="0" cy="697472"/>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8297924" y="3078944"/>
            <a:ext cx="595035" cy="584775"/>
          </a:xfrm>
          <a:prstGeom prst="rect">
            <a:avLst/>
          </a:prstGeom>
          <a:noFill/>
        </p:spPr>
        <p:txBody>
          <a:bodyPr wrap="none" rtlCol="0">
            <a:spAutoFit/>
          </a:bodyPr>
          <a:lstStyle/>
          <a:p>
            <a:r>
              <a:rPr lang="en-CA" sz="3200" dirty="0">
                <a:solidFill>
                  <a:srgbClr val="000000"/>
                </a:solidFill>
              </a:rPr>
              <a:t>…</a:t>
            </a:r>
          </a:p>
        </p:txBody>
      </p:sp>
      <p:grpSp>
        <p:nvGrpSpPr>
          <p:cNvPr id="37" name="Group 36"/>
          <p:cNvGrpSpPr/>
          <p:nvPr/>
        </p:nvGrpSpPr>
        <p:grpSpPr>
          <a:xfrm>
            <a:off x="7140876" y="3137914"/>
            <a:ext cx="1064828" cy="676637"/>
            <a:chOff x="2529818" y="2415923"/>
            <a:chExt cx="1419770" cy="902183"/>
          </a:xfrm>
        </p:grpSpPr>
        <p:sp>
          <p:nvSpPr>
            <p:cNvPr id="38" name="Rounded Rectangle 37"/>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rgbClr val="000000"/>
                  </a:solidFill>
                </a:rPr>
                <a:t>block group descriptor</a:t>
              </a:r>
              <a:endParaRPr lang="zh-TW" altLang="en-US" sz="1200" dirty="0">
                <a:solidFill>
                  <a:srgbClr val="000000"/>
                </a:solidFill>
              </a:endParaRPr>
            </a:p>
          </p:txBody>
        </p:sp>
        <p:sp>
          <p:nvSpPr>
            <p:cNvPr id="56" name="Rectangle 55"/>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rgbClr val="000000"/>
                </a:solidFill>
              </a:endParaRPr>
            </a:p>
          </p:txBody>
        </p:sp>
      </p:grpSp>
      <p:sp>
        <p:nvSpPr>
          <p:cNvPr id="58" name="Rectangle 57"/>
          <p:cNvSpPr/>
          <p:nvPr/>
        </p:nvSpPr>
        <p:spPr>
          <a:xfrm>
            <a:off x="6006063" y="2692773"/>
            <a:ext cx="1858201" cy="276999"/>
          </a:xfrm>
          <a:prstGeom prst="rect">
            <a:avLst/>
          </a:prstGeom>
          <a:noFill/>
          <a:ln>
            <a:noFill/>
          </a:ln>
        </p:spPr>
        <p:txBody>
          <a:bodyPr wrap="none">
            <a:spAutoFit/>
          </a:bodyPr>
          <a:lstStyle/>
          <a:p>
            <a:r>
              <a:rPr lang="en-CA" sz="1200" dirty="0" err="1">
                <a:solidFill>
                  <a:srgbClr val="000000"/>
                </a:solidFill>
                <a:latin typeface="Courier New" panose="02070309020205020404" pitchFamily="49" charset="0"/>
                <a:cs typeface="Courier New" panose="02070309020205020404" pitchFamily="49" charset="0"/>
              </a:rPr>
              <a:t>s_block_group_desc</a:t>
            </a:r>
            <a:endParaRPr lang="en-CA" sz="1200" dirty="0">
              <a:solidFill>
                <a:srgbClr val="000000"/>
              </a:solidFill>
            </a:endParaRPr>
          </a:p>
        </p:txBody>
      </p:sp>
      <p:sp>
        <p:nvSpPr>
          <p:cNvPr id="59" name="Rectangle 58"/>
          <p:cNvSpPr/>
          <p:nvPr/>
        </p:nvSpPr>
        <p:spPr>
          <a:xfrm>
            <a:off x="7428769" y="2131635"/>
            <a:ext cx="1479488" cy="504126"/>
          </a:xfrm>
          <a:prstGeom prst="rect">
            <a:avLst/>
          </a:prstGeom>
          <a:solidFill>
            <a:schemeClr val="accent5">
              <a:lumMod val="40000"/>
              <a:lumOff val="60000"/>
              <a:alpha val="30000"/>
            </a:schemeClr>
          </a:solidFill>
          <a:ln w="12700">
            <a:solidFill>
              <a:srgbClr val="000000">
                <a:alpha val="3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alpha val="30000"/>
                  </a:srgbClr>
                </a:solidFill>
              </a:rPr>
              <a:t>ext4 journal</a:t>
            </a:r>
            <a:endParaRPr lang="zh-TW" altLang="en-US" sz="1200" dirty="0">
              <a:solidFill>
                <a:srgbClr val="000000">
                  <a:alpha val="30000"/>
                </a:srgbClr>
              </a:solidFill>
            </a:endParaRPr>
          </a:p>
        </p:txBody>
      </p:sp>
      <p:cxnSp>
        <p:nvCxnSpPr>
          <p:cNvPr id="60" name="Straight Arrow Connector 59"/>
          <p:cNvCxnSpPr>
            <a:endCxn id="59" idx="1"/>
          </p:cNvCxnSpPr>
          <p:nvPr/>
        </p:nvCxnSpPr>
        <p:spPr>
          <a:xfrm>
            <a:off x="6329185" y="2383698"/>
            <a:ext cx="1099584" cy="0"/>
          </a:xfrm>
          <a:prstGeom prst="straightConnector1">
            <a:avLst/>
          </a:prstGeom>
          <a:ln w="63500">
            <a:solidFill>
              <a:schemeClr val="accent6">
                <a:alpha val="3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8230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Implicit Pointer</a:t>
            </a:r>
            <a:endParaRPr lang="en-CA" dirty="0"/>
          </a:p>
        </p:txBody>
      </p:sp>
      <p:sp>
        <p:nvSpPr>
          <p:cNvPr id="3" name="Content Placeholder 2"/>
          <p:cNvSpPr>
            <a:spLocks noGrp="1"/>
          </p:cNvSpPr>
          <p:nvPr>
            <p:ph idx="1"/>
          </p:nvPr>
        </p:nvSpPr>
        <p:spPr/>
        <p:txBody>
          <a:bodyPr/>
          <a:lstStyle/>
          <a:p>
            <a:r>
              <a:rPr lang="en-CA" dirty="0" smtClean="0"/>
              <a:t>Solution: Implicit pointer annotation</a:t>
            </a:r>
          </a:p>
          <a:p>
            <a:pPr lvl="1"/>
            <a:r>
              <a:rPr lang="en-CA" sz="2000" i="1" dirty="0" smtClean="0"/>
              <a:t>name</a:t>
            </a:r>
            <a:r>
              <a:rPr lang="en-CA" sz="2000" dirty="0" smtClean="0"/>
              <a:t> creates a logical pointer field that can be dereferenced</a:t>
            </a:r>
          </a:p>
          <a:p>
            <a:pPr lvl="1"/>
            <a:r>
              <a:rPr lang="en-CA" sz="2000" i="1" dirty="0" smtClean="0"/>
              <a:t>expr</a:t>
            </a:r>
            <a:r>
              <a:rPr lang="en-CA" sz="2000" dirty="0" smtClean="0"/>
              <a:t> is a C expression that specifies how to calculate the field value</a:t>
            </a:r>
          </a:p>
          <a:p>
            <a:pPr lvl="2"/>
            <a:r>
              <a:rPr lang="en-CA" sz="1800" dirty="0" smtClean="0"/>
              <a:t>Expression can reference other fields</a:t>
            </a:r>
            <a:br>
              <a:rPr lang="en-CA" sz="1800" dirty="0" smtClean="0"/>
            </a:br>
            <a:r>
              <a:rPr lang="en-CA" sz="1800" dirty="0" smtClean="0"/>
              <a:t>in the structure</a:t>
            </a:r>
          </a:p>
          <a:p>
            <a:pPr lvl="1"/>
            <a:endParaRPr lang="en-CA" dirty="0" smtClean="0"/>
          </a:p>
        </p:txBody>
      </p:sp>
      <p:sp>
        <p:nvSpPr>
          <p:cNvPr id="5" name="Rectangle 4"/>
          <p:cNvSpPr/>
          <p:nvPr/>
        </p:nvSpPr>
        <p:spPr>
          <a:xfrm>
            <a:off x="65659" y="2690158"/>
            <a:ext cx="5440101" cy="1708160"/>
          </a:xfrm>
          <a:prstGeom prst="rect">
            <a:avLst/>
          </a:prstGeom>
        </p:spPr>
        <p:txBody>
          <a:bodyPr wrap="square">
            <a:spAutoFit/>
          </a:bodyPr>
          <a:lstStyle/>
          <a:p>
            <a:r>
              <a:rPr lang="en-CA" sz="1500" b="1" dirty="0">
                <a:solidFill>
                  <a:srgbClr val="000000"/>
                </a:solidFill>
                <a:latin typeface="Courier New" panose="02070309020205020404" pitchFamily="49" charset="0"/>
                <a:cs typeface="Courier New" panose="02070309020205020404" pitchFamily="49" charset="0"/>
              </a:rPr>
              <a:t>FSSUPER</a:t>
            </a:r>
            <a:r>
              <a:rPr lang="en-CA" sz="1500" dirty="0">
                <a:solidFill>
                  <a:srgbClr val="000000"/>
                </a:solidFill>
                <a:latin typeface="Courier New" panose="02070309020205020404" pitchFamily="49" charset="0"/>
                <a:cs typeface="Courier New" panose="02070309020205020404" pitchFamily="49" charset="0"/>
              </a:rPr>
              <a:t>(...) ext4_super_block {</a:t>
            </a:r>
          </a:p>
          <a:p>
            <a:r>
              <a:rPr lang="en-CA" sz="1500" dirty="0">
                <a:solidFill>
                  <a:srgbClr val="000000"/>
                </a:solidFill>
                <a:latin typeface="Courier New" panose="02070309020205020404" pitchFamily="49" charset="0"/>
                <a:cs typeface="Courier New" panose="02070309020205020404" pitchFamily="49" charset="0"/>
              </a:rPr>
              <a:t>  __le32 </a:t>
            </a:r>
            <a:r>
              <a:rPr lang="en-CA" sz="1500" dirty="0" err="1">
                <a:solidFill>
                  <a:srgbClr val="000000"/>
                </a:solidFill>
                <a:latin typeface="Courier New" panose="02070309020205020404" pitchFamily="49" charset="0"/>
                <a:cs typeface="Courier New" panose="02070309020205020404" pitchFamily="49" charset="0"/>
              </a:rPr>
              <a:t>s_log_block_size</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POINTER</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(name=</a:t>
            </a:r>
            <a:r>
              <a:rPr lang="en-CA" sz="1500"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s_block_group_desc</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t>
            </a:r>
          </a:p>
          <a:p>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type=ext4_group_desc_table, </a:t>
            </a:r>
            <a:r>
              <a:rPr lang="en-CA" sz="1500" dirty="0" err="1"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aspc</a:t>
            </a:r>
            <a:r>
              <a:rPr lang="en-CA" sz="1500" dirty="0" smtClean="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=block</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a:t>
            </a:r>
          </a:p>
          <a:p>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expr=(</a:t>
            </a:r>
            <a:r>
              <a:rPr lang="en-CA" sz="1500" dirty="0" err="1">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self.s_log_block_size</a:t>
            </a:r>
            <a:r>
              <a:rPr lang="en-CA" sz="1500" dirty="0">
                <a:solidFill>
                  <a:srgbClr val="000000"/>
                </a:solidFill>
                <a:effectLst>
                  <a:glow rad="101600">
                    <a:srgbClr val="FFFF00">
                      <a:alpha val="60000"/>
                    </a:srgbClr>
                  </a:glow>
                </a:effectLst>
                <a:latin typeface="Courier New" panose="02070309020205020404" pitchFamily="49" charset="0"/>
                <a:cs typeface="Courier New" panose="02070309020205020404" pitchFamily="49" charset="0"/>
              </a:rPr>
              <a:t> == 0) ? 2 : 1);</a:t>
            </a:r>
          </a:p>
          <a:p>
            <a:r>
              <a:rPr lang="en-CA" sz="1500" dirty="0">
                <a:solidFill>
                  <a:srgbClr val="000000"/>
                </a:solidFill>
                <a:latin typeface="Courier New" panose="02070309020205020404" pitchFamily="49" charset="0"/>
                <a:cs typeface="Courier New" panose="02070309020205020404" pitchFamily="49" charset="0"/>
              </a:rPr>
              <a:t>};</a:t>
            </a:r>
          </a:p>
        </p:txBody>
      </p:sp>
      <p:cxnSp>
        <p:nvCxnSpPr>
          <p:cNvPr id="27" name="Straight Arrow Connector 26"/>
          <p:cNvCxnSpPr/>
          <p:nvPr/>
        </p:nvCxnSpPr>
        <p:spPr>
          <a:xfrm>
            <a:off x="5936330" y="2635761"/>
            <a:ext cx="0" cy="445115"/>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5501772" y="2131635"/>
            <a:ext cx="827413" cy="504126"/>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solidFill>
              </a:rPr>
              <a:t>super</a:t>
            </a:r>
          </a:p>
          <a:p>
            <a:pPr algn="ctr"/>
            <a:r>
              <a:rPr lang="en-CA" altLang="zh-TW" sz="1200" dirty="0">
                <a:solidFill>
                  <a:srgbClr val="000000"/>
                </a:solidFill>
              </a:rPr>
              <a:t>block</a:t>
            </a:r>
            <a:endParaRPr lang="zh-TW" altLang="en-US" sz="1200" dirty="0">
              <a:solidFill>
                <a:srgbClr val="000000"/>
              </a:solidFill>
            </a:endParaRPr>
          </a:p>
        </p:txBody>
      </p:sp>
      <p:sp>
        <p:nvSpPr>
          <p:cNvPr id="31" name="Rectangle 30"/>
          <p:cNvSpPr/>
          <p:nvPr/>
        </p:nvSpPr>
        <p:spPr>
          <a:xfrm>
            <a:off x="5501772" y="3080876"/>
            <a:ext cx="3406486" cy="794858"/>
          </a:xfrm>
          <a:prstGeom prst="rect">
            <a:avLst/>
          </a:prstGeom>
          <a:solidFill>
            <a:schemeClr val="accent5">
              <a:lumMod val="40000"/>
              <a:lumOff val="60000"/>
            </a:schemeClr>
          </a:solidFill>
          <a:ln w="12700">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200" dirty="0">
              <a:solidFill>
                <a:srgbClr val="000000"/>
              </a:solidFill>
            </a:endParaRPr>
          </a:p>
        </p:txBody>
      </p:sp>
      <p:sp>
        <p:nvSpPr>
          <p:cNvPr id="32" name="Rectangle 31"/>
          <p:cNvSpPr/>
          <p:nvPr/>
        </p:nvSpPr>
        <p:spPr>
          <a:xfrm>
            <a:off x="5564558" y="3146476"/>
            <a:ext cx="1501506" cy="47388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00"/>
                </a:solidFill>
              </a:rPr>
              <a:t>block group descriptor table</a:t>
            </a:r>
          </a:p>
        </p:txBody>
      </p:sp>
      <p:cxnSp>
        <p:nvCxnSpPr>
          <p:cNvPr id="33" name="Straight Arrow Connector 96"/>
          <p:cNvCxnSpPr>
            <a:stCxn id="56" idx="2"/>
          </p:cNvCxnSpPr>
          <p:nvPr/>
        </p:nvCxnSpPr>
        <p:spPr>
          <a:xfrm rot="5400000">
            <a:off x="6342230" y="3416506"/>
            <a:ext cx="677160" cy="1473250"/>
          </a:xfrm>
          <a:prstGeom prst="bentConnector3">
            <a:avLst>
              <a:gd name="adj1" fmla="val 27846"/>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96"/>
          <p:cNvCxnSpPr>
            <a:stCxn id="38" idx="2"/>
          </p:cNvCxnSpPr>
          <p:nvPr/>
        </p:nvCxnSpPr>
        <p:spPr>
          <a:xfrm rot="5400000">
            <a:off x="6970093" y="3788514"/>
            <a:ext cx="691335" cy="715060"/>
          </a:xfrm>
          <a:prstGeom prst="bentConnector3">
            <a:avLst>
              <a:gd name="adj1" fmla="val 50000"/>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96"/>
          <p:cNvCxnSpPr/>
          <p:nvPr/>
        </p:nvCxnSpPr>
        <p:spPr>
          <a:xfrm>
            <a:off x="7897947" y="3792761"/>
            <a:ext cx="0" cy="697472"/>
          </a:xfrm>
          <a:prstGeom prst="straightConnector1">
            <a:avLst/>
          </a:prstGeom>
          <a:ln w="50800">
            <a:solidFill>
              <a:schemeClr val="accent6">
                <a:alpha val="6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8297924" y="3078944"/>
            <a:ext cx="595035" cy="584775"/>
          </a:xfrm>
          <a:prstGeom prst="rect">
            <a:avLst/>
          </a:prstGeom>
          <a:noFill/>
        </p:spPr>
        <p:txBody>
          <a:bodyPr wrap="none" rtlCol="0">
            <a:spAutoFit/>
          </a:bodyPr>
          <a:lstStyle/>
          <a:p>
            <a:r>
              <a:rPr lang="en-CA" sz="3200" dirty="0">
                <a:solidFill>
                  <a:srgbClr val="000000"/>
                </a:solidFill>
              </a:rPr>
              <a:t>…</a:t>
            </a:r>
          </a:p>
        </p:txBody>
      </p:sp>
      <p:grpSp>
        <p:nvGrpSpPr>
          <p:cNvPr id="37" name="Group 36"/>
          <p:cNvGrpSpPr/>
          <p:nvPr/>
        </p:nvGrpSpPr>
        <p:grpSpPr>
          <a:xfrm>
            <a:off x="7140876" y="3137914"/>
            <a:ext cx="1064828" cy="676637"/>
            <a:chOff x="2529818" y="2415923"/>
            <a:chExt cx="1419770" cy="902183"/>
          </a:xfrm>
        </p:grpSpPr>
        <p:sp>
          <p:nvSpPr>
            <p:cNvPr id="38" name="Rounded Rectangle 37"/>
            <p:cNvSpPr/>
            <p:nvPr/>
          </p:nvSpPr>
          <p:spPr>
            <a:xfrm>
              <a:off x="2529818" y="2415923"/>
              <a:ext cx="1419770" cy="883283"/>
            </a:xfrm>
            <a:prstGeom prst="roundRect">
              <a:avLst/>
            </a:prstGeom>
            <a:solidFill>
              <a:schemeClr val="accent5">
                <a:lumMod val="75000"/>
              </a:schemeClr>
            </a:solidFill>
            <a:ln w="127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solidFill>
                    <a:srgbClr val="000000"/>
                  </a:solidFill>
                </a:rPr>
                <a:t>block group descriptor</a:t>
              </a:r>
              <a:endParaRPr lang="zh-TW" altLang="en-US" sz="1200" dirty="0">
                <a:solidFill>
                  <a:srgbClr val="000000"/>
                </a:solidFill>
              </a:endParaRPr>
            </a:p>
          </p:txBody>
        </p:sp>
        <p:sp>
          <p:nvSpPr>
            <p:cNvPr id="56" name="Rectangle 55"/>
            <p:cNvSpPr/>
            <p:nvPr/>
          </p:nvSpPr>
          <p:spPr>
            <a:xfrm flipH="1">
              <a:off x="2748559" y="3080714"/>
              <a:ext cx="300009" cy="23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200">
                <a:solidFill>
                  <a:srgbClr val="000000"/>
                </a:solidFill>
              </a:endParaRPr>
            </a:p>
          </p:txBody>
        </p:sp>
      </p:grpSp>
      <p:sp>
        <p:nvSpPr>
          <p:cNvPr id="58" name="Rectangle 57"/>
          <p:cNvSpPr/>
          <p:nvPr/>
        </p:nvSpPr>
        <p:spPr>
          <a:xfrm>
            <a:off x="6006063" y="2692773"/>
            <a:ext cx="1858201" cy="276999"/>
          </a:xfrm>
          <a:prstGeom prst="rect">
            <a:avLst/>
          </a:prstGeom>
          <a:noFill/>
          <a:ln>
            <a:noFill/>
          </a:ln>
        </p:spPr>
        <p:txBody>
          <a:bodyPr wrap="none">
            <a:spAutoFit/>
          </a:bodyPr>
          <a:lstStyle/>
          <a:p>
            <a:r>
              <a:rPr lang="en-CA" sz="1200" dirty="0" err="1">
                <a:solidFill>
                  <a:srgbClr val="000000"/>
                </a:solidFill>
                <a:latin typeface="Courier New" panose="02070309020205020404" pitchFamily="49" charset="0"/>
                <a:cs typeface="Courier New" panose="02070309020205020404" pitchFamily="49" charset="0"/>
              </a:rPr>
              <a:t>s_block_group_desc</a:t>
            </a:r>
            <a:endParaRPr lang="en-CA" sz="1200" dirty="0">
              <a:solidFill>
                <a:srgbClr val="000000"/>
              </a:solidFill>
            </a:endParaRPr>
          </a:p>
        </p:txBody>
      </p:sp>
      <p:sp>
        <p:nvSpPr>
          <p:cNvPr id="59" name="Rectangle 58"/>
          <p:cNvSpPr/>
          <p:nvPr/>
        </p:nvSpPr>
        <p:spPr>
          <a:xfrm>
            <a:off x="7428769" y="2131635"/>
            <a:ext cx="1479488" cy="504126"/>
          </a:xfrm>
          <a:prstGeom prst="rect">
            <a:avLst/>
          </a:prstGeom>
          <a:solidFill>
            <a:schemeClr val="accent5">
              <a:lumMod val="40000"/>
              <a:lumOff val="60000"/>
              <a:alpha val="30000"/>
            </a:schemeClr>
          </a:solidFill>
          <a:ln w="12700">
            <a:solidFill>
              <a:srgbClr val="000000">
                <a:alpha val="3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altLang="zh-TW" sz="1200" dirty="0">
                <a:solidFill>
                  <a:srgbClr val="000000">
                    <a:alpha val="30000"/>
                  </a:srgbClr>
                </a:solidFill>
              </a:rPr>
              <a:t>ext4 journal</a:t>
            </a:r>
            <a:endParaRPr lang="zh-TW" altLang="en-US" sz="1200" dirty="0">
              <a:solidFill>
                <a:srgbClr val="000000">
                  <a:alpha val="30000"/>
                </a:srgbClr>
              </a:solidFill>
            </a:endParaRPr>
          </a:p>
        </p:txBody>
      </p:sp>
      <p:cxnSp>
        <p:nvCxnSpPr>
          <p:cNvPr id="60" name="Straight Arrow Connector 59"/>
          <p:cNvCxnSpPr>
            <a:endCxn id="59" idx="1"/>
          </p:cNvCxnSpPr>
          <p:nvPr/>
        </p:nvCxnSpPr>
        <p:spPr>
          <a:xfrm>
            <a:off x="6329185" y="2383698"/>
            <a:ext cx="1099584" cy="0"/>
          </a:xfrm>
          <a:prstGeom prst="straightConnector1">
            <a:avLst/>
          </a:prstGeom>
          <a:ln w="63500">
            <a:solidFill>
              <a:schemeClr val="accent6">
                <a:alpha val="3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75465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Vector Types</a:t>
            </a:r>
            <a:endParaRPr lang="en-CA" dirty="0"/>
          </a:p>
        </p:txBody>
      </p:sp>
      <p:sp>
        <p:nvSpPr>
          <p:cNvPr id="3" name="Content Placeholder 2"/>
          <p:cNvSpPr>
            <a:spLocks noGrp="1"/>
          </p:cNvSpPr>
          <p:nvPr>
            <p:ph idx="1"/>
          </p:nvPr>
        </p:nvSpPr>
        <p:spPr/>
        <p:txBody>
          <a:bodyPr/>
          <a:lstStyle/>
          <a:p>
            <a:r>
              <a:rPr lang="en-CA" smtClean="0"/>
              <a:t>Spiffy allows specifying vector types via VECTOR annotation</a:t>
            </a:r>
          </a:p>
          <a:p>
            <a:r>
              <a:rPr lang="en-CA" smtClean="0"/>
              <a:t>A vector contains a sequence of elements of the same type</a:t>
            </a:r>
          </a:p>
          <a:p>
            <a:r>
              <a:rPr lang="en-CA" smtClean="0"/>
              <a:t>The size of the vector can be specified using 1) number of elements, 2) total vector size, 3) sentinel value</a:t>
            </a:r>
            <a:endParaRPr lang="en-CA" dirty="0" smtClean="0"/>
          </a:p>
        </p:txBody>
      </p:sp>
      <p:sp>
        <p:nvSpPr>
          <p:cNvPr id="4" name="Rectangle 3"/>
          <p:cNvSpPr/>
          <p:nvPr/>
        </p:nvSpPr>
        <p:spPr>
          <a:xfrm>
            <a:off x="304800" y="3105150"/>
            <a:ext cx="8672887" cy="1323439"/>
          </a:xfrm>
          <a:prstGeom prst="rect">
            <a:avLst/>
          </a:prstGeom>
          <a:solidFill>
            <a:srgbClr val="FFFFFF">
              <a:alpha val="20000"/>
            </a:srgbClr>
          </a:solidFill>
        </p:spPr>
        <p:txBody>
          <a:bodyPr wrap="none">
            <a:spAutoFit/>
          </a:bodyPr>
          <a:lstStyle/>
          <a:p>
            <a:pPr marL="93663" lvl="1"/>
            <a:r>
              <a:rPr lang="en-CA" b="1" dirty="0" smtClean="0">
                <a:solidFill>
                  <a:srgbClr val="000000"/>
                </a:solidFill>
                <a:latin typeface="Courier New" panose="02070309020205020404" pitchFamily="49" charset="0"/>
                <a:cs typeface="Courier New" panose="02070309020205020404" pitchFamily="49" charset="0"/>
              </a:rPr>
              <a:t>FSSTRUCT</a:t>
            </a:r>
            <a:r>
              <a:rPr lang="en-CA" dirty="0" smtClean="0">
                <a:solidFill>
                  <a:srgbClr val="000000"/>
                </a:solidFill>
                <a:latin typeface="Courier New" panose="02070309020205020404" pitchFamily="49" charset="0"/>
                <a:cs typeface="Courier New" panose="02070309020205020404" pitchFamily="49" charset="0"/>
              </a:rPr>
              <a:t>() </a:t>
            </a:r>
            <a:r>
              <a:rPr lang="en-CA" dirty="0" err="1" smtClean="0">
                <a:solidFill>
                  <a:srgbClr val="000000"/>
                </a:solidFill>
                <a:latin typeface="Courier New" panose="02070309020205020404" pitchFamily="49" charset="0"/>
                <a:cs typeface="Courier New" panose="02070309020205020404" pitchFamily="49" charset="0"/>
              </a:rPr>
              <a:t>directory_indirect_ptr</a:t>
            </a:r>
            <a:r>
              <a:rPr lang="en-CA" dirty="0" smtClean="0">
                <a:solidFill>
                  <a:srgbClr val="000000"/>
                </a:solidFill>
                <a:latin typeface="Courier New" panose="02070309020205020404" pitchFamily="49" charset="0"/>
                <a:cs typeface="Courier New" panose="02070309020205020404" pitchFamily="49" charset="0"/>
              </a:rPr>
              <a:t> </a:t>
            </a:r>
            <a:r>
              <a:rPr lang="en-CA" dirty="0" smtClean="0">
                <a:solidFill>
                  <a:srgbClr val="000000"/>
                </a:solidFill>
                <a:latin typeface="Courier New" panose="02070309020205020404" pitchFamily="49" charset="0"/>
                <a:cs typeface="Courier New" panose="02070309020205020404" pitchFamily="49" charset="0"/>
              </a:rPr>
              <a:t>{</a:t>
            </a:r>
          </a:p>
          <a:p>
            <a:r>
              <a:rPr lang="en-CA" dirty="0">
                <a:solidFill>
                  <a:srgbClr val="000000"/>
                </a:solidFill>
                <a:latin typeface="Courier New" panose="02070309020205020404" pitchFamily="49" charset="0"/>
                <a:cs typeface="Courier New" panose="02070309020205020404" pitchFamily="49" charset="0"/>
              </a:rPr>
              <a:t> </a:t>
            </a:r>
            <a:r>
              <a:rPr lang="en-CA" dirty="0" smtClean="0">
                <a:solidFill>
                  <a:srgbClr val="000000"/>
                </a:solidFill>
                <a:latin typeface="Courier New" panose="02070309020205020404" pitchFamily="49" charset="0"/>
                <a:cs typeface="Courier New" panose="02070309020205020404" pitchFamily="49" charset="0"/>
              </a:rPr>
              <a:t>   </a:t>
            </a:r>
            <a:r>
              <a:rPr lang="en-CA" b="1" dirty="0" smtClean="0">
                <a:latin typeface="Courier New" panose="02070309020205020404" pitchFamily="49" charset="0"/>
                <a:cs typeface="Courier New" panose="02070309020205020404" pitchFamily="49" charset="0"/>
              </a:rPr>
              <a:t>POINTER</a:t>
            </a:r>
            <a:r>
              <a:rPr lang="en-CA" dirty="0" smtClean="0">
                <a:latin typeface="Courier New" panose="02070309020205020404" pitchFamily="49" charset="0"/>
                <a:cs typeface="Courier New" panose="02070309020205020404" pitchFamily="49" charset="0"/>
              </a:rPr>
              <a:t>(</a:t>
            </a:r>
            <a:r>
              <a:rPr lang="en-CA" dirty="0" err="1" smtClean="0">
                <a:latin typeface="Courier New" panose="02070309020205020404" pitchFamily="49" charset="0"/>
                <a:cs typeface="Courier New" panose="02070309020205020404" pitchFamily="49" charset="0"/>
              </a:rPr>
              <a:t>aspc</a:t>
            </a:r>
            <a:r>
              <a:rPr lang="en-CA" dirty="0" smtClean="0">
                <a:latin typeface="Courier New" panose="02070309020205020404" pitchFamily="49" charset="0"/>
                <a:cs typeface="Courier New" panose="02070309020205020404" pitchFamily="49" charset="0"/>
              </a:rPr>
              <a:t>=block, type=</a:t>
            </a:r>
            <a:r>
              <a:rPr lang="en-CA" dirty="0" err="1" smtClean="0">
                <a:latin typeface="Courier New" panose="02070309020205020404" pitchFamily="49" charset="0"/>
                <a:cs typeface="Courier New" panose="02070309020205020404" pitchFamily="49" charset="0"/>
              </a:rPr>
              <a:t>dir_block</a:t>
            </a:r>
            <a:r>
              <a:rPr lang="en-CA" dirty="0" smtClean="0">
                <a:latin typeface="Courier New" panose="02070309020205020404" pitchFamily="49" charset="0"/>
                <a:cs typeface="Courier New" panose="02070309020205020404" pitchFamily="49" charset="0"/>
              </a:rPr>
              <a:t>)</a:t>
            </a:r>
            <a:endParaRPr lang="en-CA" dirty="0">
              <a:latin typeface="Courier New" panose="02070309020205020404" pitchFamily="49" charset="0"/>
              <a:cs typeface="Courier New" panose="02070309020205020404" pitchFamily="49" charset="0"/>
            </a:endParaRPr>
          </a:p>
          <a:p>
            <a:r>
              <a:rPr lang="en-CA" dirty="0" smtClean="0">
                <a:latin typeface="Courier New" panose="02070309020205020404" pitchFamily="49" charset="0"/>
                <a:cs typeface="Courier New" panose="02070309020205020404" pitchFamily="49" charset="0"/>
              </a:rPr>
              <a:t>    __</a:t>
            </a:r>
            <a:r>
              <a:rPr lang="en-CA" dirty="0">
                <a:latin typeface="Courier New" panose="02070309020205020404" pitchFamily="49" charset="0"/>
                <a:cs typeface="Courier New" panose="02070309020205020404" pitchFamily="49" charset="0"/>
              </a:rPr>
              <a:t>le32 </a:t>
            </a:r>
            <a:r>
              <a:rPr lang="en-CA" dirty="0" err="1" smtClean="0">
                <a:latin typeface="Courier New" panose="02070309020205020404" pitchFamily="49" charset="0"/>
                <a:cs typeface="Courier New" panose="02070309020205020404" pitchFamily="49" charset="0"/>
              </a:rPr>
              <a:t>ind_block_nr</a:t>
            </a:r>
            <a:r>
              <a:rPr lang="en-CA" dirty="0" smtClean="0">
                <a:latin typeface="Courier New" panose="02070309020205020404" pitchFamily="49" charset="0"/>
                <a:cs typeface="Courier New" panose="02070309020205020404" pitchFamily="49" charset="0"/>
              </a:rPr>
              <a:t>;</a:t>
            </a:r>
            <a:endParaRPr lang="en-CA" dirty="0">
              <a:solidFill>
                <a:srgbClr val="000000"/>
              </a:solidFill>
              <a:latin typeface="Courier New" panose="02070309020205020404" pitchFamily="49" charset="0"/>
              <a:cs typeface="Courier New" panose="02070309020205020404" pitchFamily="49" charset="0"/>
            </a:endParaRPr>
          </a:p>
          <a:p>
            <a:pPr marL="93663" lvl="1"/>
            <a:r>
              <a:rPr lang="en-CA" dirty="0" smtClean="0">
                <a:solidFill>
                  <a:srgbClr val="000000"/>
                </a:solidFill>
                <a:latin typeface="Courier New" panose="02070309020205020404" pitchFamily="49" charset="0"/>
                <a:cs typeface="Courier New" panose="02070309020205020404" pitchFamily="49" charset="0"/>
              </a:rPr>
              <a:t>};</a:t>
            </a:r>
          </a:p>
          <a:p>
            <a:pPr marL="93663" lvl="1"/>
            <a:r>
              <a:rPr lang="en-CA" b="1" dirty="0">
                <a:solidFill>
                  <a:srgbClr val="000000"/>
                </a:solidFill>
                <a:latin typeface="Courier New" panose="02070309020205020404" pitchFamily="49" charset="0"/>
                <a:cs typeface="Courier New" panose="02070309020205020404" pitchFamily="49" charset="0"/>
              </a:rPr>
              <a:t>VECTOR</a:t>
            </a:r>
            <a:r>
              <a:rPr lang="en-CA" dirty="0">
                <a:solidFill>
                  <a:srgbClr val="000000"/>
                </a:solidFill>
                <a:latin typeface="Courier New" panose="02070309020205020404" pitchFamily="49" charset="0"/>
                <a:cs typeface="Courier New" panose="02070309020205020404" pitchFamily="49" charset="0"/>
              </a:rPr>
              <a:t>(name=</a:t>
            </a:r>
            <a:r>
              <a:rPr lang="en-CA" dirty="0" err="1">
                <a:solidFill>
                  <a:srgbClr val="000000"/>
                </a:solidFill>
                <a:latin typeface="Courier New" panose="02070309020205020404" pitchFamily="49" charset="0"/>
                <a:cs typeface="Courier New" panose="02070309020205020404" pitchFamily="49" charset="0"/>
              </a:rPr>
              <a:t>dir_block</a:t>
            </a:r>
            <a:r>
              <a:rPr lang="en-CA" dirty="0">
                <a:solidFill>
                  <a:srgbClr val="000000"/>
                </a:solidFill>
                <a:latin typeface="Courier New" panose="02070309020205020404" pitchFamily="49" charset="0"/>
                <a:cs typeface="Courier New" panose="02070309020205020404" pitchFamily="49" charset="0"/>
              </a:rPr>
              <a:t>, type=</a:t>
            </a:r>
            <a:r>
              <a:rPr lang="en-CA" dirty="0" err="1">
                <a:solidFill>
                  <a:srgbClr val="000000"/>
                </a:solidFill>
                <a:latin typeface="Courier New" panose="02070309020205020404" pitchFamily="49" charset="0"/>
                <a:cs typeface="Courier New" panose="02070309020205020404" pitchFamily="49" charset="0"/>
              </a:rPr>
              <a:t>struct</a:t>
            </a:r>
            <a:r>
              <a:rPr lang="en-CA" dirty="0">
                <a:solidFill>
                  <a:srgbClr val="000000"/>
                </a:solidFill>
                <a:latin typeface="Courier New" panose="02070309020205020404" pitchFamily="49" charset="0"/>
                <a:cs typeface="Courier New" panose="02070309020205020404" pitchFamily="49" charset="0"/>
              </a:rPr>
              <a:t> ext4_dir_entry, size=BLOCK_SIZE</a:t>
            </a:r>
            <a:r>
              <a:rPr lang="en-CA" dirty="0" smtClean="0">
                <a:solidFill>
                  <a:srgbClr val="000000"/>
                </a:solidFill>
                <a:latin typeface="Courier New" panose="02070309020205020404" pitchFamily="49" charset="0"/>
                <a:cs typeface="Courier New" panose="02070309020205020404" pitchFamily="49" charset="0"/>
              </a:rPr>
              <a:t>);</a:t>
            </a:r>
            <a:endParaRPr lang="en-CA" sz="800" b="1"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406299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76225" y="659859"/>
            <a:ext cx="4939904" cy="1708160"/>
          </a:xfrm>
          <a:prstGeom prst="rect">
            <a:avLst/>
          </a:prstGeom>
        </p:spPr>
        <p:txBody>
          <a:bodyPr wrap="square">
            <a:spAutoFit/>
          </a:bodyPr>
          <a:lstStyle/>
          <a:p>
            <a:r>
              <a:rPr lang="en-CA" sz="1500" b="1" dirty="0">
                <a:solidFill>
                  <a:srgbClr val="000000"/>
                </a:solidFill>
                <a:latin typeface="Courier New" panose="02070309020205020404" pitchFamily="49" charset="0"/>
                <a:cs typeface="Courier New" panose="02070309020205020404" pitchFamily="49" charset="0"/>
              </a:rPr>
              <a:t>FSSUPER</a:t>
            </a:r>
            <a:r>
              <a:rPr lang="en-CA" sz="1500" dirty="0">
                <a:solidFill>
                  <a:srgbClr val="000000"/>
                </a:solidFill>
                <a:latin typeface="Courier New" panose="02070309020205020404" pitchFamily="49" charset="0"/>
                <a:cs typeface="Courier New" panose="02070309020205020404" pitchFamily="49" charset="0"/>
              </a:rPr>
              <a:t>(…) ext4_super_block {</a:t>
            </a:r>
          </a:p>
          <a:p>
            <a:r>
              <a:rPr lang="en-CA" sz="1500" dirty="0">
                <a:solidFill>
                  <a:srgbClr val="000000"/>
                </a:solidFill>
                <a:latin typeface="Courier New" panose="02070309020205020404" pitchFamily="49" charset="0"/>
                <a:cs typeface="Courier New" panose="02070309020205020404" pitchFamily="49" charset="0"/>
              </a:rPr>
              <a:t>  __le32 </a:t>
            </a:r>
            <a:r>
              <a:rPr lang="en-CA" sz="1500" dirty="0" err="1">
                <a:solidFill>
                  <a:srgbClr val="000000"/>
                </a:solidFill>
                <a:latin typeface="Courier New" panose="02070309020205020404" pitchFamily="49" charset="0"/>
                <a:cs typeface="Courier New" panose="02070309020205020404" pitchFamily="49" charset="0"/>
              </a:rPr>
              <a:t>s_log_block_size</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__le16 </a:t>
            </a:r>
            <a:r>
              <a:rPr lang="en-CA" sz="1500" dirty="0" err="1">
                <a:solidFill>
                  <a:srgbClr val="000000"/>
                </a:solidFill>
                <a:latin typeface="Courier New" panose="02070309020205020404" pitchFamily="49" charset="0"/>
                <a:cs typeface="Courier New" panose="02070309020205020404" pitchFamily="49" charset="0"/>
              </a:rPr>
              <a:t>s_magic</a:t>
            </a:r>
            <a:r>
              <a:rPr lang="en-CA" sz="1500" dirty="0">
                <a:solidFill>
                  <a:srgbClr val="000000"/>
                </a:solidFill>
                <a:latin typeface="Courier New" panose="02070309020205020404" pitchFamily="49" charset="0"/>
                <a:cs typeface="Courier New" panose="02070309020205020404" pitchFamily="49" charset="0"/>
              </a:rPr>
              <a:t>;</a:t>
            </a:r>
          </a:p>
          <a:p>
            <a:r>
              <a:rPr lang="en-CA" sz="1500" dirty="0">
                <a:solidFill>
                  <a:srgbClr val="000000"/>
                </a:solidFill>
                <a:latin typeface="Courier New" panose="02070309020205020404" pitchFamily="49" charset="0"/>
                <a:cs typeface="Courier New" panose="02070309020205020404" pitchFamily="49" charset="0"/>
              </a:rPr>
              <a:t>  …</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a:solidFill>
                  <a:srgbClr val="000000"/>
                </a:solidFill>
                <a:latin typeface="Courier New" panose="02070309020205020404" pitchFamily="49" charset="0"/>
                <a:cs typeface="Courier New" panose="02070309020205020404" pitchFamily="49" charset="0"/>
              </a:rPr>
              <a:t>CHECK</a:t>
            </a:r>
            <a:r>
              <a:rPr lang="en-CA" sz="1500" dirty="0">
                <a:solidFill>
                  <a:srgbClr val="000000"/>
                </a:solidFill>
                <a:latin typeface="Courier New" panose="02070309020205020404" pitchFamily="49" charset="0"/>
                <a:cs typeface="Courier New" panose="02070309020205020404" pitchFamily="49" charset="0"/>
              </a:rPr>
              <a:t>(expr=</a:t>
            </a:r>
            <a:r>
              <a:rPr lang="en-CA" sz="1500" dirty="0" err="1">
                <a:solidFill>
                  <a:srgbClr val="000000"/>
                </a:solidFill>
                <a:latin typeface="Courier New" panose="02070309020205020404" pitchFamily="49" charset="0"/>
                <a:cs typeface="Courier New" panose="02070309020205020404" pitchFamily="49" charset="0"/>
              </a:rPr>
              <a:t>self.s_log_block_size</a:t>
            </a:r>
            <a:r>
              <a:rPr lang="en-CA" sz="1500" dirty="0">
                <a:solidFill>
                  <a:srgbClr val="000000"/>
                </a:solidFill>
                <a:latin typeface="Courier New" panose="02070309020205020404" pitchFamily="49" charset="0"/>
                <a:cs typeface="Courier New" panose="02070309020205020404" pitchFamily="49" charset="0"/>
              </a:rPr>
              <a:t> &lt;= 6);</a:t>
            </a:r>
          </a:p>
          <a:p>
            <a:r>
              <a:rPr lang="en-CA" sz="1500" dirty="0">
                <a:solidFill>
                  <a:srgbClr val="000000"/>
                </a:solidFill>
                <a:latin typeface="Courier New" panose="02070309020205020404" pitchFamily="49" charset="0"/>
                <a:cs typeface="Courier New" panose="02070309020205020404" pitchFamily="49" charset="0"/>
              </a:rPr>
              <a:t>  </a:t>
            </a:r>
            <a:r>
              <a:rPr lang="en-CA" sz="1500" b="1" dirty="0">
                <a:solidFill>
                  <a:srgbClr val="000000"/>
                </a:solidFill>
                <a:latin typeface="Courier New" panose="02070309020205020404" pitchFamily="49" charset="0"/>
                <a:cs typeface="Courier New" panose="02070309020205020404" pitchFamily="49" charset="0"/>
              </a:rPr>
              <a:t>CHECK</a:t>
            </a:r>
            <a:r>
              <a:rPr lang="en-CA" sz="1500" dirty="0">
                <a:solidFill>
                  <a:srgbClr val="000000"/>
                </a:solidFill>
                <a:latin typeface="Courier New" panose="02070309020205020404" pitchFamily="49" charset="0"/>
                <a:cs typeface="Courier New" panose="02070309020205020404" pitchFamily="49" charset="0"/>
              </a:rPr>
              <a:t>(expr=</a:t>
            </a:r>
            <a:r>
              <a:rPr lang="en-CA" sz="1500" dirty="0" err="1">
                <a:solidFill>
                  <a:srgbClr val="000000"/>
                </a:solidFill>
                <a:latin typeface="Courier New" panose="02070309020205020404" pitchFamily="49" charset="0"/>
                <a:cs typeface="Courier New" panose="02070309020205020404" pitchFamily="49" charset="0"/>
              </a:rPr>
              <a:t>self.s_magic</a:t>
            </a:r>
            <a:r>
              <a:rPr lang="en-CA" sz="1500" dirty="0">
                <a:solidFill>
                  <a:srgbClr val="000000"/>
                </a:solidFill>
                <a:latin typeface="Courier New" panose="02070309020205020404" pitchFamily="49" charset="0"/>
                <a:cs typeface="Courier New" panose="02070309020205020404" pitchFamily="49" charset="0"/>
              </a:rPr>
              <a:t> == 0xef53);</a:t>
            </a:r>
          </a:p>
          <a:p>
            <a:r>
              <a:rPr lang="en-CA" sz="1500" dirty="0">
                <a:solidFill>
                  <a:srgbClr val="000000"/>
                </a:solidFill>
                <a:latin typeface="Courier New" panose="02070309020205020404" pitchFamily="49" charset="0"/>
                <a:cs typeface="Courier New" panose="02070309020205020404" pitchFamily="49" charset="0"/>
              </a:rPr>
              <a:t>};</a:t>
            </a:r>
          </a:p>
        </p:txBody>
      </p:sp>
      <p:sp>
        <p:nvSpPr>
          <p:cNvPr id="5" name="Title 4"/>
          <p:cNvSpPr>
            <a:spLocks noGrp="1"/>
          </p:cNvSpPr>
          <p:nvPr>
            <p:ph type="title"/>
          </p:nvPr>
        </p:nvSpPr>
        <p:spPr/>
        <p:txBody>
          <a:bodyPr/>
          <a:lstStyle/>
          <a:p>
            <a:r>
              <a:rPr lang="en-US" smtClean="0"/>
              <a:t>Check Annotations</a:t>
            </a:r>
            <a:endParaRPr lang="en-CA" dirty="0"/>
          </a:p>
        </p:txBody>
      </p:sp>
      <p:sp>
        <p:nvSpPr>
          <p:cNvPr id="8" name="Content Placeholder 8"/>
          <p:cNvSpPr txBox="1">
            <a:spLocks/>
          </p:cNvSpPr>
          <p:nvPr/>
        </p:nvSpPr>
        <p:spPr>
          <a:xfrm>
            <a:off x="276225" y="2796508"/>
            <a:ext cx="7953375" cy="1900850"/>
          </a:xfrm>
          <a:prstGeom prst="rect">
            <a:avLst/>
          </a:prstGeom>
        </p:spPr>
        <p:txBody>
          <a:bodyPr vert="horz" lIns="68580" tIns="34290" rIns="68580" bIns="3429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None/>
            </a:pPr>
            <a:r>
              <a:rPr lang="en-CA" sz="1500" dirty="0" err="1">
                <a:solidFill>
                  <a:srgbClr val="000000"/>
                </a:solidFill>
                <a:latin typeface="Courier New" panose="02070309020205020404" pitchFamily="49" charset="0"/>
                <a:cs typeface="Courier New" panose="02070309020205020404" pitchFamily="49" charset="0"/>
              </a:rPr>
              <a:t>int</a:t>
            </a:r>
            <a:r>
              <a:rPr lang="en-CA" sz="1500" dirty="0">
                <a:solidFill>
                  <a:srgbClr val="000000"/>
                </a:solidFill>
                <a:latin typeface="Courier New" panose="02070309020205020404" pitchFamily="49" charset="0"/>
                <a:cs typeface="Courier New" panose="02070309020205020404" pitchFamily="49" charset="0"/>
              </a:rPr>
              <a:t> Ext4SuperBlock::parse(</a:t>
            </a:r>
            <a:r>
              <a:rPr lang="en-CA" sz="1500" dirty="0" err="1">
                <a:solidFill>
                  <a:srgbClr val="000000"/>
                </a:solidFill>
                <a:latin typeface="Courier New" panose="02070309020205020404" pitchFamily="49" charset="0"/>
                <a:cs typeface="Courier New" panose="02070309020205020404" pitchFamily="49" charset="0"/>
              </a:rPr>
              <a:t>const</a:t>
            </a:r>
            <a:r>
              <a:rPr lang="en-CA" sz="1500" dirty="0">
                <a:solidFill>
                  <a:srgbClr val="000000"/>
                </a:solidFill>
                <a:latin typeface="Courier New" panose="02070309020205020404" pitchFamily="49" charset="0"/>
                <a:cs typeface="Courier New" panose="02070309020205020404" pitchFamily="49" charset="0"/>
              </a:rPr>
              <a:t> char * &amp; </a:t>
            </a:r>
            <a:r>
              <a:rPr lang="en-CA" sz="1500" dirty="0" err="1">
                <a:solidFill>
                  <a:srgbClr val="000000"/>
                </a:solidFill>
                <a:latin typeface="Courier New" panose="02070309020205020404" pitchFamily="49" charset="0"/>
                <a:cs typeface="Courier New" panose="02070309020205020404" pitchFamily="49" charset="0"/>
              </a:rPr>
              <a:t>buf</a:t>
            </a:r>
            <a:r>
              <a:rPr lang="en-CA" sz="1500" dirty="0">
                <a:solidFill>
                  <a:srgbClr val="000000"/>
                </a:solidFill>
                <a:latin typeface="Courier New" panose="02070309020205020404" pitchFamily="49" charset="0"/>
                <a:cs typeface="Courier New" panose="02070309020205020404" pitchFamily="49" charset="0"/>
              </a:rPr>
              <a:t>, unsigned &amp; </a:t>
            </a:r>
            <a:r>
              <a:rPr lang="en-CA" sz="1500" dirty="0" err="1">
                <a:solidFill>
                  <a:srgbClr val="000000"/>
                </a:solidFill>
                <a:latin typeface="Courier New" panose="02070309020205020404" pitchFamily="49" charset="0"/>
                <a:cs typeface="Courier New" panose="02070309020205020404" pitchFamily="49" charset="0"/>
              </a:rPr>
              <a:t>len</a:t>
            </a:r>
            <a:r>
              <a:rPr lang="en-CA" sz="1500" dirty="0">
                <a:solidFill>
                  <a:srgbClr val="000000"/>
                </a:solidFill>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r>
              <a:rPr lang="en-CA" sz="1500" dirty="0" err="1">
                <a:solidFill>
                  <a:srgbClr val="000000"/>
                </a:solidFill>
                <a:latin typeface="Courier New" panose="02070309020205020404" pitchFamily="49" charset="0"/>
                <a:cs typeface="Courier New" panose="02070309020205020404" pitchFamily="49" charset="0"/>
              </a:rPr>
              <a:t>int</a:t>
            </a:r>
            <a:r>
              <a:rPr lang="en-CA" sz="1500" dirty="0">
                <a:solidFill>
                  <a:srgbClr val="000000"/>
                </a:solidFill>
                <a:latin typeface="Courier New" panose="02070309020205020404" pitchFamily="49" charset="0"/>
                <a:cs typeface="Courier New" panose="02070309020205020404" pitchFamily="49" charset="0"/>
              </a:rPr>
              <a:t> ret;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if ((ret = </a:t>
            </a:r>
            <a:r>
              <a:rPr lang="en-CA" sz="1500" dirty="0" err="1">
                <a:solidFill>
                  <a:srgbClr val="000000"/>
                </a:solidFill>
                <a:latin typeface="Courier New" panose="02070309020205020404" pitchFamily="49" charset="0"/>
                <a:cs typeface="Courier New" panose="02070309020205020404" pitchFamily="49" charset="0"/>
              </a:rPr>
              <a:t>s_log_block_size.parse</a:t>
            </a:r>
            <a:r>
              <a:rPr lang="en-CA" sz="1500" dirty="0">
                <a:solidFill>
                  <a:srgbClr val="000000"/>
                </a:solidFill>
                <a:latin typeface="Courier New" panose="02070309020205020404" pitchFamily="49" charset="0"/>
                <a:cs typeface="Courier New" panose="02070309020205020404" pitchFamily="49" charset="0"/>
              </a:rPr>
              <a:t>(</a:t>
            </a:r>
            <a:r>
              <a:rPr lang="en-CA" sz="1500" dirty="0" err="1">
                <a:solidFill>
                  <a:srgbClr val="000000"/>
                </a:solidFill>
                <a:latin typeface="Courier New" panose="02070309020205020404" pitchFamily="49" charset="0"/>
                <a:cs typeface="Courier New" panose="02070309020205020404" pitchFamily="49" charset="0"/>
              </a:rPr>
              <a:t>buf</a:t>
            </a:r>
            <a:r>
              <a:rPr lang="en-CA" sz="1500" dirty="0">
                <a:solidFill>
                  <a:srgbClr val="000000"/>
                </a:solidFill>
                <a:latin typeface="Courier New" panose="02070309020205020404" pitchFamily="49" charset="0"/>
                <a:cs typeface="Courier New" panose="02070309020205020404" pitchFamily="49" charset="0"/>
              </a:rPr>
              <a:t>, </a:t>
            </a:r>
            <a:r>
              <a:rPr lang="en-CA" sz="1500" dirty="0" err="1">
                <a:solidFill>
                  <a:srgbClr val="000000"/>
                </a:solidFill>
                <a:latin typeface="Courier New" panose="02070309020205020404" pitchFamily="49" charset="0"/>
                <a:cs typeface="Courier New" panose="02070309020205020404" pitchFamily="49" charset="0"/>
              </a:rPr>
              <a:t>len</a:t>
            </a:r>
            <a:r>
              <a:rPr lang="en-CA" sz="1500" dirty="0">
                <a:solidFill>
                  <a:srgbClr val="000000"/>
                </a:solidFill>
                <a:latin typeface="Courier New" panose="02070309020205020404" pitchFamily="49" charset="0"/>
                <a:cs typeface="Courier New" panose="02070309020205020404" pitchFamily="49" charset="0"/>
              </a:rPr>
              <a:t>)) &lt; 0) return ret;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if (!(</a:t>
            </a:r>
            <a:r>
              <a:rPr lang="en-CA" sz="1500" dirty="0" err="1">
                <a:solidFill>
                  <a:srgbClr val="000000"/>
                </a:solidFill>
                <a:latin typeface="Courier New" panose="02070309020205020404" pitchFamily="49" charset="0"/>
                <a:cs typeface="Courier New" panose="02070309020205020404" pitchFamily="49" charset="0"/>
              </a:rPr>
              <a:t>s_log_block_size</a:t>
            </a:r>
            <a:r>
              <a:rPr lang="en-CA" sz="1500" dirty="0">
                <a:solidFill>
                  <a:srgbClr val="000000"/>
                </a:solidFill>
                <a:latin typeface="Courier New" panose="02070309020205020404" pitchFamily="49" charset="0"/>
                <a:cs typeface="Courier New" panose="02070309020205020404" pitchFamily="49" charset="0"/>
              </a:rPr>
              <a:t> &lt;= 6)) return ERR_CORRUPT;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if (!(</a:t>
            </a:r>
            <a:r>
              <a:rPr lang="en-CA" sz="1500" dirty="0" err="1">
                <a:solidFill>
                  <a:srgbClr val="000000"/>
                </a:solidFill>
                <a:latin typeface="Courier New" panose="02070309020205020404" pitchFamily="49" charset="0"/>
                <a:cs typeface="Courier New" panose="02070309020205020404" pitchFamily="49" charset="0"/>
              </a:rPr>
              <a:t>s_magic</a:t>
            </a:r>
            <a:r>
              <a:rPr lang="en-CA" sz="1500" dirty="0">
                <a:solidFill>
                  <a:srgbClr val="000000"/>
                </a:solidFill>
                <a:latin typeface="Courier New" panose="02070309020205020404" pitchFamily="49" charset="0"/>
                <a:cs typeface="Courier New" panose="02070309020205020404" pitchFamily="49" charset="0"/>
              </a:rPr>
              <a:t> == 0xef53)) return ERR_CORRUPT;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return 0;</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a:t>
            </a:r>
          </a:p>
        </p:txBody>
      </p:sp>
      <p:sp>
        <p:nvSpPr>
          <p:cNvPr id="10" name="Content Placeholder 6"/>
          <p:cNvSpPr txBox="1">
            <a:spLocks/>
          </p:cNvSpPr>
          <p:nvPr/>
        </p:nvSpPr>
        <p:spPr>
          <a:xfrm>
            <a:off x="276225" y="2388192"/>
            <a:ext cx="7714060" cy="388144"/>
          </a:xfrm>
          <a:prstGeom prst="rect">
            <a:avLst/>
          </a:prstGeom>
        </p:spPr>
        <p:txBody>
          <a:bodyPr vert="horz" lIns="68580" tIns="34290" rIns="68580" bIns="3429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None/>
            </a:pPr>
            <a:r>
              <a:rPr lang="en-CA" sz="1800" dirty="0">
                <a:solidFill>
                  <a:srgbClr val="000000"/>
                </a:solidFill>
              </a:rPr>
              <a:t>Generated Code for ext4_super_block</a:t>
            </a:r>
          </a:p>
          <a:p>
            <a:pPr marL="0" indent="0">
              <a:buNone/>
            </a:pPr>
            <a:endParaRPr lang="en-CA" sz="1350" dirty="0">
              <a:solidFill>
                <a:srgbClr val="000000"/>
              </a:solidFill>
            </a:endParaRPr>
          </a:p>
          <a:p>
            <a:endParaRPr lang="en-CA" sz="1800" dirty="0">
              <a:solidFill>
                <a:srgbClr val="000000"/>
              </a:solidFill>
            </a:endParaRPr>
          </a:p>
        </p:txBody>
      </p:sp>
    </p:spTree>
    <p:extLst>
      <p:ext uri="{BB962C8B-B14F-4D97-AF65-F5344CB8AC3E}">
        <p14:creationId xmlns:p14="http://schemas.microsoft.com/office/powerpoint/2010/main" val="8601146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Generating Spiffy Library</a:t>
            </a:r>
            <a:endParaRPr lang="en-CA" dirty="0"/>
          </a:p>
        </p:txBody>
      </p:sp>
      <p:sp>
        <p:nvSpPr>
          <p:cNvPr id="9" name="Content Placeholder 8"/>
          <p:cNvSpPr>
            <a:spLocks noGrp="1"/>
          </p:cNvSpPr>
          <p:nvPr>
            <p:ph idx="1"/>
          </p:nvPr>
        </p:nvSpPr>
        <p:spPr/>
        <p:txBody>
          <a:bodyPr/>
          <a:lstStyle/>
          <a:p>
            <a:r>
              <a:rPr lang="en-CA" smtClean="0"/>
              <a:t>C++ classes are generated for all annotated structures </a:t>
            </a:r>
            <a:br>
              <a:rPr lang="en-CA" smtClean="0"/>
            </a:br>
            <a:r>
              <a:rPr lang="en-CA" smtClean="0"/>
              <a:t>and their fields</a:t>
            </a:r>
          </a:p>
          <a:p>
            <a:pPr lvl="1"/>
            <a:r>
              <a:rPr lang="en-CA" smtClean="0"/>
              <a:t>Enables type-safe parsing and serialization</a:t>
            </a:r>
          </a:p>
          <a:p>
            <a:pPr lvl="1"/>
            <a:r>
              <a:rPr lang="en-CA" smtClean="0"/>
              <a:t>Allows introspection of type, size, name, and parents</a:t>
            </a:r>
            <a:endParaRPr lang="en-CA" dirty="0"/>
          </a:p>
        </p:txBody>
      </p:sp>
      <p:sp>
        <p:nvSpPr>
          <p:cNvPr id="12" name="Content Placeholder 6"/>
          <p:cNvSpPr txBox="1">
            <a:spLocks/>
          </p:cNvSpPr>
          <p:nvPr/>
        </p:nvSpPr>
        <p:spPr>
          <a:xfrm>
            <a:off x="513159" y="2702719"/>
            <a:ext cx="7714060" cy="388144"/>
          </a:xfrm>
          <a:prstGeom prst="rect">
            <a:avLst/>
          </a:prstGeom>
        </p:spPr>
        <p:txBody>
          <a:bodyPr vert="horz" lIns="68580" tIns="34290" rIns="68580" bIns="3429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None/>
            </a:pPr>
            <a:endParaRPr lang="en-CA" sz="1350" dirty="0">
              <a:solidFill>
                <a:srgbClr val="000000"/>
              </a:solidFill>
            </a:endParaRPr>
          </a:p>
          <a:p>
            <a:endParaRPr lang="en-CA" sz="1800" dirty="0"/>
          </a:p>
        </p:txBody>
      </p:sp>
    </p:spTree>
    <p:extLst>
      <p:ext uri="{BB962C8B-B14F-4D97-AF65-F5344CB8AC3E}">
        <p14:creationId xmlns:p14="http://schemas.microsoft.com/office/powerpoint/2010/main" val="11477441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Evaluation: Annotation Effort</a:t>
            </a:r>
            <a:endParaRPr lang="en-CA" dirty="0"/>
          </a:p>
        </p:txBody>
      </p:sp>
      <p:sp>
        <p:nvSpPr>
          <p:cNvPr id="3" name="Content Placeholder 2"/>
          <p:cNvSpPr>
            <a:spLocks noGrp="1"/>
          </p:cNvSpPr>
          <p:nvPr>
            <p:ph idx="1"/>
          </p:nvPr>
        </p:nvSpPr>
        <p:spPr/>
        <p:txBody>
          <a:bodyPr/>
          <a:lstStyle/>
          <a:p>
            <a:pPr marL="0" indent="0">
              <a:buNone/>
            </a:pPr>
            <a:endParaRPr lang="en-CA" dirty="0" smtClean="0"/>
          </a:p>
          <a:p>
            <a:pPr marL="0" indent="0">
              <a:buNone/>
            </a:pPr>
            <a:endParaRPr lang="en-CA" dirty="0"/>
          </a:p>
          <a:p>
            <a:pPr marL="0" indent="0">
              <a:buNone/>
            </a:pPr>
            <a:endParaRPr lang="en-CA" dirty="0" smtClean="0"/>
          </a:p>
          <a:p>
            <a:r>
              <a:rPr lang="en-CA" dirty="0" smtClean="0"/>
              <a:t>Lines of code required to correctly annotate file systems</a:t>
            </a:r>
          </a:p>
          <a:p>
            <a:pPr lvl="1"/>
            <a:r>
              <a:rPr lang="en-CA" dirty="0" smtClean="0"/>
              <a:t>Need to declare some structures</a:t>
            </a:r>
          </a:p>
          <a:p>
            <a:pPr lvl="2"/>
            <a:r>
              <a:rPr lang="en-CA" dirty="0" smtClean="0"/>
              <a:t>E.g. Ext4 indirect block assumed to be an array of 4-byte pointers</a:t>
            </a:r>
          </a:p>
          <a:p>
            <a:pPr lvl="1"/>
            <a:r>
              <a:rPr lang="en-CA" dirty="0" smtClean="0"/>
              <a:t>Changed some structures for clarity</a:t>
            </a:r>
          </a:p>
          <a:p>
            <a:pPr lvl="2"/>
            <a:r>
              <a:rPr lang="en-CA" dirty="0" smtClean="0"/>
              <a:t>E.g. block pointers in Ext4 </a:t>
            </a:r>
            <a:r>
              <a:rPr lang="en-CA" dirty="0" err="1" smtClean="0"/>
              <a:t>inode</a:t>
            </a:r>
            <a:r>
              <a:rPr lang="en-CA" dirty="0" smtClean="0"/>
              <a:t> is an array of 15 pointers: first 12 are direct pointers, last 3 are indirect pointers of different types</a:t>
            </a:r>
          </a:p>
          <a:p>
            <a:pPr lvl="2"/>
            <a:endParaRPr lang="en-CA" dirty="0" smtClean="0"/>
          </a:p>
        </p:txBody>
      </p:sp>
      <p:graphicFrame>
        <p:nvGraphicFramePr>
          <p:cNvPr id="5" name="Table 4"/>
          <p:cNvGraphicFramePr>
            <a:graphicFrameLocks noGrp="1"/>
          </p:cNvGraphicFramePr>
          <p:nvPr>
            <p:extLst>
              <p:ext uri="{D42A27DB-BD31-4B8C-83A1-F6EECF244321}">
                <p14:modId xmlns:p14="http://schemas.microsoft.com/office/powerpoint/2010/main" val="2752715296"/>
              </p:ext>
            </p:extLst>
          </p:nvPr>
        </p:nvGraphicFramePr>
        <p:xfrm>
          <a:off x="2012100" y="803910"/>
          <a:ext cx="4769700" cy="1310640"/>
        </p:xfrm>
        <a:graphic>
          <a:graphicData uri="http://schemas.openxmlformats.org/drawingml/2006/table">
            <a:tbl>
              <a:tblPr firstRow="1" bandRow="1">
                <a:tableStyleId>{69012ECD-51FC-41F1-AA8D-1B2483CD663E}</a:tableStyleId>
              </a:tblPr>
              <a:tblGrid>
                <a:gridCol w="1589900">
                  <a:extLst>
                    <a:ext uri="{9D8B030D-6E8A-4147-A177-3AD203B41FA5}">
                      <a16:colId xmlns:a16="http://schemas.microsoft.com/office/drawing/2014/main" val="20000"/>
                    </a:ext>
                  </a:extLst>
                </a:gridCol>
                <a:gridCol w="1589900">
                  <a:extLst>
                    <a:ext uri="{9D8B030D-6E8A-4147-A177-3AD203B41FA5}">
                      <a16:colId xmlns:a16="http://schemas.microsoft.com/office/drawing/2014/main" val="20001"/>
                    </a:ext>
                  </a:extLst>
                </a:gridCol>
                <a:gridCol w="1589900">
                  <a:extLst>
                    <a:ext uri="{9D8B030D-6E8A-4147-A177-3AD203B41FA5}">
                      <a16:colId xmlns:a16="http://schemas.microsoft.com/office/drawing/2014/main" val="20002"/>
                    </a:ext>
                  </a:extLst>
                </a:gridCol>
              </a:tblGrid>
              <a:tr h="320040">
                <a:tc>
                  <a:txBody>
                    <a:bodyPr/>
                    <a:lstStyle/>
                    <a:p>
                      <a:r>
                        <a:rPr lang="en-CA" sz="1700" dirty="0" smtClean="0">
                          <a:solidFill>
                            <a:schemeClr val="tx1"/>
                          </a:solidFill>
                        </a:rPr>
                        <a:t>File System</a:t>
                      </a:r>
                      <a:endParaRPr lang="en-CA" sz="1700" dirty="0">
                        <a:solidFill>
                          <a:schemeClr val="tx1"/>
                        </a:solidFill>
                      </a:endParaRPr>
                    </a:p>
                  </a:txBody>
                  <a:tcPr marL="68580" marR="68580" marT="34290" marB="34290"/>
                </a:tc>
                <a:tc>
                  <a:txBody>
                    <a:bodyPr/>
                    <a:lstStyle/>
                    <a:p>
                      <a:r>
                        <a:rPr lang="en-CA" sz="1700" dirty="0" smtClean="0">
                          <a:solidFill>
                            <a:schemeClr val="tx1"/>
                          </a:solidFill>
                        </a:rPr>
                        <a:t>Line Count</a:t>
                      </a:r>
                      <a:endParaRPr lang="en-CA" sz="1700" dirty="0">
                        <a:solidFill>
                          <a:schemeClr val="tx1"/>
                        </a:solidFill>
                      </a:endParaRPr>
                    </a:p>
                  </a:txBody>
                  <a:tcPr marL="68580" marR="68580" marT="34290" marB="34290"/>
                </a:tc>
                <a:tc>
                  <a:txBody>
                    <a:bodyPr/>
                    <a:lstStyle/>
                    <a:p>
                      <a:r>
                        <a:rPr lang="en-CA" sz="1700" dirty="0" smtClean="0">
                          <a:solidFill>
                            <a:schemeClr val="tx1"/>
                          </a:solidFill>
                        </a:rPr>
                        <a:t>Annotated</a:t>
                      </a:r>
                      <a:endParaRPr lang="en-CA" sz="1700" dirty="0">
                        <a:solidFill>
                          <a:schemeClr val="tx1"/>
                        </a:solidFill>
                      </a:endParaRPr>
                    </a:p>
                  </a:txBody>
                  <a:tcPr marL="68580" marR="68580" marT="34290" marB="34290"/>
                </a:tc>
                <a:extLst>
                  <a:ext uri="{0D108BD9-81ED-4DB2-BD59-A6C34878D82A}">
                    <a16:rowId xmlns:a16="http://schemas.microsoft.com/office/drawing/2014/main" val="10000"/>
                  </a:ext>
                </a:extLst>
              </a:tr>
              <a:tr h="320040">
                <a:tc>
                  <a:txBody>
                    <a:bodyPr/>
                    <a:lstStyle/>
                    <a:p>
                      <a:r>
                        <a:rPr lang="en-CA" sz="1700" dirty="0" smtClean="0">
                          <a:solidFill>
                            <a:srgbClr val="000000"/>
                          </a:solidFill>
                        </a:rPr>
                        <a:t>Ext4</a:t>
                      </a:r>
                      <a:endParaRPr lang="en-CA" sz="1700" dirty="0">
                        <a:solidFill>
                          <a:srgbClr val="000000"/>
                        </a:solidFill>
                      </a:endParaRPr>
                    </a:p>
                  </a:txBody>
                  <a:tcPr marL="68580" marR="68580" marT="34290" marB="34290"/>
                </a:tc>
                <a:tc>
                  <a:txBody>
                    <a:bodyPr/>
                    <a:lstStyle/>
                    <a:p>
                      <a:r>
                        <a:rPr lang="en-CA" sz="1700" dirty="0" smtClean="0">
                          <a:solidFill>
                            <a:srgbClr val="000000"/>
                          </a:solidFill>
                        </a:rPr>
                        <a:t>491</a:t>
                      </a:r>
                      <a:endParaRPr lang="en-CA" sz="1700" dirty="0">
                        <a:solidFill>
                          <a:srgbClr val="000000"/>
                        </a:solidFill>
                      </a:endParaRPr>
                    </a:p>
                  </a:txBody>
                  <a:tcPr marL="68580" marR="68580" marT="34290" marB="34290"/>
                </a:tc>
                <a:tc>
                  <a:txBody>
                    <a:bodyPr/>
                    <a:lstStyle/>
                    <a:p>
                      <a:r>
                        <a:rPr lang="en-CA" sz="1700" dirty="0" smtClean="0">
                          <a:solidFill>
                            <a:srgbClr val="000000"/>
                          </a:solidFill>
                        </a:rPr>
                        <a:t>113</a:t>
                      </a:r>
                      <a:endParaRPr lang="en-CA" sz="1700" dirty="0">
                        <a:solidFill>
                          <a:srgbClr val="000000"/>
                        </a:solidFill>
                      </a:endParaRPr>
                    </a:p>
                  </a:txBody>
                  <a:tcPr marL="68580" marR="68580" marT="34290" marB="34290"/>
                </a:tc>
                <a:extLst>
                  <a:ext uri="{0D108BD9-81ED-4DB2-BD59-A6C34878D82A}">
                    <a16:rowId xmlns:a16="http://schemas.microsoft.com/office/drawing/2014/main" val="10001"/>
                  </a:ext>
                </a:extLst>
              </a:tr>
              <a:tr h="320040">
                <a:tc>
                  <a:txBody>
                    <a:bodyPr/>
                    <a:lstStyle/>
                    <a:p>
                      <a:r>
                        <a:rPr lang="en-CA" sz="1700" dirty="0" err="1" smtClean="0">
                          <a:solidFill>
                            <a:srgbClr val="000000"/>
                          </a:solidFill>
                        </a:rPr>
                        <a:t>Btrfs</a:t>
                      </a:r>
                      <a:endParaRPr lang="en-CA" sz="1700" dirty="0">
                        <a:solidFill>
                          <a:srgbClr val="000000"/>
                        </a:solidFill>
                      </a:endParaRPr>
                    </a:p>
                  </a:txBody>
                  <a:tcPr marL="68580" marR="68580" marT="34290" marB="34290"/>
                </a:tc>
                <a:tc>
                  <a:txBody>
                    <a:bodyPr/>
                    <a:lstStyle/>
                    <a:p>
                      <a:r>
                        <a:rPr lang="en-CA" sz="1700" dirty="0" smtClean="0">
                          <a:solidFill>
                            <a:srgbClr val="000000"/>
                          </a:solidFill>
                        </a:rPr>
                        <a:t>556</a:t>
                      </a:r>
                      <a:endParaRPr lang="en-CA" sz="1700" dirty="0">
                        <a:solidFill>
                          <a:srgbClr val="000000"/>
                        </a:solidFill>
                      </a:endParaRPr>
                    </a:p>
                  </a:txBody>
                  <a:tcPr marL="68580" marR="68580" marT="34290" marB="34290"/>
                </a:tc>
                <a:tc>
                  <a:txBody>
                    <a:bodyPr/>
                    <a:lstStyle/>
                    <a:p>
                      <a:r>
                        <a:rPr lang="en-CA" sz="1700" dirty="0" smtClean="0">
                          <a:solidFill>
                            <a:srgbClr val="000000"/>
                          </a:solidFill>
                        </a:rPr>
                        <a:t>151</a:t>
                      </a:r>
                      <a:endParaRPr lang="en-CA" sz="1700" dirty="0">
                        <a:solidFill>
                          <a:srgbClr val="000000"/>
                        </a:solidFill>
                      </a:endParaRPr>
                    </a:p>
                  </a:txBody>
                  <a:tcPr marL="68580" marR="68580" marT="34290" marB="34290"/>
                </a:tc>
                <a:extLst>
                  <a:ext uri="{0D108BD9-81ED-4DB2-BD59-A6C34878D82A}">
                    <a16:rowId xmlns:a16="http://schemas.microsoft.com/office/drawing/2014/main" val="10002"/>
                  </a:ext>
                </a:extLst>
              </a:tr>
              <a:tr h="320040">
                <a:tc>
                  <a:txBody>
                    <a:bodyPr/>
                    <a:lstStyle/>
                    <a:p>
                      <a:r>
                        <a:rPr lang="en-CA" sz="1700" dirty="0" smtClean="0">
                          <a:solidFill>
                            <a:srgbClr val="000000"/>
                          </a:solidFill>
                        </a:rPr>
                        <a:t>F2FS</a:t>
                      </a:r>
                      <a:endParaRPr lang="en-CA" sz="1700" dirty="0">
                        <a:solidFill>
                          <a:srgbClr val="000000"/>
                        </a:solidFill>
                      </a:endParaRPr>
                    </a:p>
                  </a:txBody>
                  <a:tcPr marL="68580" marR="68580" marT="34290" marB="34290"/>
                </a:tc>
                <a:tc>
                  <a:txBody>
                    <a:bodyPr/>
                    <a:lstStyle/>
                    <a:p>
                      <a:r>
                        <a:rPr lang="en-CA" sz="1700" dirty="0" smtClean="0">
                          <a:solidFill>
                            <a:srgbClr val="000000"/>
                          </a:solidFill>
                        </a:rPr>
                        <a:t>462</a:t>
                      </a:r>
                      <a:endParaRPr lang="en-CA" sz="1700" dirty="0">
                        <a:solidFill>
                          <a:srgbClr val="000000"/>
                        </a:solidFill>
                      </a:endParaRPr>
                    </a:p>
                  </a:txBody>
                  <a:tcPr marL="68580" marR="68580" marT="34290" marB="34290"/>
                </a:tc>
                <a:tc>
                  <a:txBody>
                    <a:bodyPr/>
                    <a:lstStyle/>
                    <a:p>
                      <a:r>
                        <a:rPr lang="en-CA" sz="1700" dirty="0" smtClean="0">
                          <a:solidFill>
                            <a:srgbClr val="000000"/>
                          </a:solidFill>
                        </a:rPr>
                        <a:t>127</a:t>
                      </a:r>
                      <a:endParaRPr lang="en-CA" sz="1700" dirty="0">
                        <a:solidFill>
                          <a:srgbClr val="000000"/>
                        </a:solidFill>
                      </a:endParaRPr>
                    </a:p>
                  </a:txBody>
                  <a:tcPr marL="68580" marR="68580"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400625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Building Applications</a:t>
            </a:r>
            <a:endParaRPr lang="en-CA" dirty="0"/>
          </a:p>
        </p:txBody>
      </p:sp>
      <p:sp>
        <p:nvSpPr>
          <p:cNvPr id="3" name="Content Placeholder 2"/>
          <p:cNvSpPr>
            <a:spLocks noGrp="1"/>
          </p:cNvSpPr>
          <p:nvPr>
            <p:ph idx="1"/>
          </p:nvPr>
        </p:nvSpPr>
        <p:spPr/>
        <p:txBody>
          <a:bodyPr/>
          <a:lstStyle/>
          <a:p>
            <a:r>
              <a:rPr lang="en-CA" sz="2000" dirty="0" smtClean="0"/>
              <a:t>Example: File System Free Space Tool</a:t>
            </a:r>
          </a:p>
          <a:p>
            <a:pPr lvl="1"/>
            <a:r>
              <a:rPr lang="en-CA" sz="1800" dirty="0" smtClean="0"/>
              <a:t>Plots histogram of size of free extents</a:t>
            </a:r>
          </a:p>
          <a:p>
            <a:pPr lvl="1"/>
            <a:r>
              <a:rPr lang="en-CA" sz="1800" dirty="0" smtClean="0"/>
              <a:t>Application requires knowledge of how file system tracks block allocation</a:t>
            </a:r>
          </a:p>
          <a:p>
            <a:r>
              <a:rPr lang="en-CA" sz="2000" dirty="0" smtClean="0"/>
              <a:t>Manually</a:t>
            </a:r>
          </a:p>
          <a:p>
            <a:pPr lvl="1"/>
            <a:r>
              <a:rPr lang="en-CA" sz="1800" dirty="0" smtClean="0"/>
              <a:t>Write code to traverse file system and access relevant metadata</a:t>
            </a:r>
          </a:p>
          <a:p>
            <a:pPr lvl="2"/>
            <a:r>
              <a:rPr lang="en-CA" sz="1800" dirty="0" smtClean="0"/>
              <a:t>Often through trial-and-error</a:t>
            </a:r>
          </a:p>
          <a:p>
            <a:pPr lvl="1"/>
            <a:r>
              <a:rPr lang="en-CA" sz="1800" dirty="0" smtClean="0"/>
              <a:t>Write code to process relevant metadata</a:t>
            </a:r>
          </a:p>
          <a:p>
            <a:r>
              <a:rPr lang="en-CA" sz="2000" dirty="0" smtClean="0"/>
              <a:t>Spiffy framework</a:t>
            </a:r>
          </a:p>
          <a:p>
            <a:pPr lvl="1"/>
            <a:r>
              <a:rPr lang="en-CA" sz="1800" dirty="0" smtClean="0"/>
              <a:t>Simplifies the traversal and helps make it more robust</a:t>
            </a:r>
          </a:p>
          <a:p>
            <a:pPr lvl="1"/>
            <a:r>
              <a:rPr lang="en-CA" sz="1800" dirty="0" smtClean="0"/>
              <a:t>Application program focuses on processing relevant metadata</a:t>
            </a:r>
          </a:p>
        </p:txBody>
      </p:sp>
    </p:spTree>
    <p:extLst>
      <p:ext uri="{BB962C8B-B14F-4D97-AF65-F5344CB8AC3E}">
        <p14:creationId xmlns:p14="http://schemas.microsoft.com/office/powerpoint/2010/main" val="198192972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6"/>
          <p:cNvSpPr txBox="1">
            <a:spLocks/>
          </p:cNvSpPr>
          <p:nvPr/>
        </p:nvSpPr>
        <p:spPr>
          <a:xfrm>
            <a:off x="513159" y="819150"/>
            <a:ext cx="7714348" cy="3588077"/>
          </a:xfrm>
          <a:prstGeom prst="rect">
            <a:avLst/>
          </a:prstGeom>
          <a:noFill/>
          <a:ln>
            <a:noFill/>
          </a:ln>
        </p:spPr>
        <p:txBody>
          <a:bodyPr vert="horz" lIns="68580" tIns="34290" rIns="68580" bIns="3429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lnSpc>
                <a:spcPts val="1500"/>
              </a:lnSpc>
              <a:spcBef>
                <a:spcPts val="0"/>
              </a:spcBef>
              <a:spcAft>
                <a:spcPts val="0"/>
              </a:spcAft>
              <a:buNone/>
            </a:pP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b="1" dirty="0">
                <a:solidFill>
                  <a:srgbClr val="000000"/>
                </a:solidFill>
                <a:latin typeface="Courier New" panose="02070309020205020404" pitchFamily="49" charset="0"/>
                <a:cs typeface="Courier New" panose="02070309020205020404" pitchFamily="49" charset="0"/>
              </a:rPr>
              <a:t>process_ext4</a:t>
            </a:r>
            <a:r>
              <a:rPr lang="en-CA" sz="1350" dirty="0">
                <a:solidFill>
                  <a:srgbClr val="000000"/>
                </a:solidFill>
                <a:latin typeface="Courier New" panose="02070309020205020404" pitchFamily="49" charset="0"/>
                <a:cs typeface="Courier New" panose="02070309020205020404" pitchFamily="49" charset="0"/>
              </a:rPr>
              <a:t>(vector&lt;Extent&gt; &amp; </a:t>
            </a:r>
            <a:r>
              <a:rPr lang="en-CA" sz="1350" dirty="0" err="1">
                <a:solidFill>
                  <a:srgbClr val="000000"/>
                </a:solidFill>
                <a:latin typeface="Courier New" panose="02070309020205020404" pitchFamily="49" charset="0"/>
                <a:cs typeface="Courier New" panose="02070309020205020404" pitchFamily="49" charset="0"/>
              </a:rPr>
              <a:t>vec</a:t>
            </a:r>
            <a:r>
              <a:rPr lang="en-CA" sz="1350" dirty="0">
                <a:solidFill>
                  <a:srgbClr val="000000"/>
                </a:solidFill>
                <a:latin typeface="Courier New" panose="02070309020205020404" pitchFamily="49" charset="0"/>
                <a:cs typeface="Courier New" panose="02070309020205020404" pitchFamily="49" charset="0"/>
              </a:rPr>
              <a:t>, Device &amp; dev) {</a:t>
            </a:r>
          </a:p>
          <a:p>
            <a:pPr marL="0" indent="0">
              <a:lnSpc>
                <a:spcPts val="1500"/>
              </a:lnSpc>
              <a:spcBef>
                <a:spcPts val="0"/>
              </a:spcBef>
              <a:spcAft>
                <a:spcPts val="0"/>
              </a:spcAft>
              <a:buNone/>
            </a:pPr>
            <a:r>
              <a:rPr lang="en-CA" sz="1350" dirty="0">
                <a:solidFill>
                  <a:srgbClr val="000000"/>
                </a:solidFill>
                <a:effectLst>
                  <a:glow rad="101600">
                    <a:srgbClr val="FFFF00">
                      <a:alpha val="40000"/>
                    </a:srgbClr>
                  </a:glow>
                </a:effectLst>
                <a:latin typeface="Courier New" panose="02070309020205020404" pitchFamily="49" charset="0"/>
                <a:cs typeface="Courier New" panose="02070309020205020404" pitchFamily="49" charset="0"/>
              </a:rPr>
              <a:t>  </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ext4 super block is 1024 bytes away from start */</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struct</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ext4_super_block *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dev.read</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(1024, SB_SIZE);</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blk_size</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1024 &lt;&lt;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s_log_block_size</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dev.set_block_size</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blk_size</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block group descriptors start at block 2 or 1 */</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bg_blknr</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s_log_block_size</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0) 2 : 1;</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bg_ngrps</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ceil(</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s_blocks_count</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s_blocks_per_group</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bg_nblks</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ceil(</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bg_ngrps</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sizeof</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struct</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ext4_group_desc),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blk_size</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read all of the block group descriptors into memory */</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struct</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ext4_group_desc *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gd</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dev.read_block</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bg_blknr</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bg_nblks</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for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0;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&lt;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bg_ngrps</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char *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buf</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 </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dev.read_block</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gd</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bg_block_bitmap</a:t>
            </a: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b="1" dirty="0" err="1">
                <a:solidFill>
                  <a:srgbClr val="000000"/>
                </a:solidFill>
                <a:latin typeface="Courier New" panose="02070309020205020404" pitchFamily="49" charset="0"/>
                <a:cs typeface="Courier New" panose="02070309020205020404" pitchFamily="49" charset="0"/>
              </a:rPr>
              <a:t>int</a:t>
            </a:r>
            <a:r>
              <a:rPr lang="en-CA" sz="1350" b="1" dirty="0">
                <a:solidFill>
                  <a:srgbClr val="000000"/>
                </a:solidFill>
                <a:latin typeface="Courier New" panose="02070309020205020404" pitchFamily="49" charset="0"/>
                <a:cs typeface="Courier New" panose="02070309020205020404" pitchFamily="49" charset="0"/>
              </a:rPr>
              <a:t> ret = </a:t>
            </a:r>
            <a:r>
              <a:rPr lang="en-CA" sz="1350" b="1" dirty="0" err="1">
                <a:solidFill>
                  <a:srgbClr val="000000"/>
                </a:solidFill>
                <a:latin typeface="Courier New" panose="02070309020205020404" pitchFamily="49" charset="0"/>
                <a:cs typeface="Courier New" panose="02070309020205020404" pitchFamily="49" charset="0"/>
              </a:rPr>
              <a:t>process_block_bitmap</a:t>
            </a:r>
            <a:r>
              <a:rPr lang="en-CA" sz="1350" b="1" dirty="0">
                <a:solidFill>
                  <a:srgbClr val="000000"/>
                </a:solidFill>
                <a:latin typeface="Courier New" panose="02070309020205020404" pitchFamily="49" charset="0"/>
                <a:cs typeface="Courier New" panose="02070309020205020404" pitchFamily="49" charset="0"/>
              </a:rPr>
              <a:t>(</a:t>
            </a:r>
            <a:r>
              <a:rPr lang="en-CA" sz="1350" b="1" dirty="0" err="1">
                <a:solidFill>
                  <a:srgbClr val="000000"/>
                </a:solidFill>
                <a:latin typeface="Courier New" panose="02070309020205020404" pitchFamily="49" charset="0"/>
                <a:cs typeface="Courier New" panose="02070309020205020404" pitchFamily="49" charset="0"/>
              </a:rPr>
              <a:t>buf</a:t>
            </a:r>
            <a:r>
              <a:rPr lang="en-CA" sz="1350" b="1" dirty="0">
                <a:solidFill>
                  <a:srgbClr val="000000"/>
                </a:solidFill>
                <a:latin typeface="Courier New" panose="02070309020205020404" pitchFamily="49" charset="0"/>
                <a:cs typeface="Courier New" panose="02070309020205020404" pitchFamily="49" charset="0"/>
              </a:rPr>
              <a:t>, </a:t>
            </a:r>
            <a:r>
              <a:rPr lang="en-CA" sz="1350" b="1" dirty="0" err="1">
                <a:solidFill>
                  <a:srgbClr val="000000"/>
                </a:solidFill>
                <a:latin typeface="Courier New" panose="02070309020205020404" pitchFamily="49" charset="0"/>
                <a:cs typeface="Courier New" panose="02070309020205020404" pitchFamily="49" charset="0"/>
              </a:rPr>
              <a:t>vec</a:t>
            </a:r>
            <a:r>
              <a:rPr lang="en-CA" sz="1350" b="1"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a:t>
            </a:r>
          </a:p>
        </p:txBody>
      </p:sp>
      <p:sp>
        <p:nvSpPr>
          <p:cNvPr id="5" name="Title 4"/>
          <p:cNvSpPr>
            <a:spLocks noGrp="1"/>
          </p:cNvSpPr>
          <p:nvPr>
            <p:ph type="title"/>
          </p:nvPr>
        </p:nvSpPr>
        <p:spPr/>
        <p:txBody>
          <a:bodyPr/>
          <a:lstStyle/>
          <a:p>
            <a:r>
              <a:rPr lang="en-CA" smtClean="0"/>
              <a:t>Manually-Written Application</a:t>
            </a:r>
            <a:endParaRPr lang="en-CA" dirty="0"/>
          </a:p>
        </p:txBody>
      </p:sp>
      <p:sp>
        <p:nvSpPr>
          <p:cNvPr id="7" name="TextBox 6"/>
          <p:cNvSpPr txBox="1"/>
          <p:nvPr/>
        </p:nvSpPr>
        <p:spPr>
          <a:xfrm>
            <a:off x="1456462" y="3742925"/>
            <a:ext cx="6544538" cy="432072"/>
          </a:xfrm>
          <a:prstGeom prst="rect">
            <a:avLst/>
          </a:prstGeom>
          <a:solidFill>
            <a:srgbClr val="FFFF00"/>
          </a:solidFill>
          <a:ln w="12700">
            <a:solidFill>
              <a:schemeClr val="bg1"/>
            </a:solidFill>
            <a:prstDash val="solid"/>
          </a:ln>
        </p:spPr>
        <p:txBody>
          <a:bodyPr wrap="square" rtlCol="0" anchor="ctr" anchorCtr="0">
            <a:noAutofit/>
          </a:bodyPr>
          <a:lstStyle/>
          <a:p>
            <a:pPr algn="ctr">
              <a:lnSpc>
                <a:spcPts val="1800"/>
              </a:lnSpc>
              <a:spcBef>
                <a:spcPts val="450"/>
              </a:spcBef>
            </a:pPr>
            <a:r>
              <a:rPr lang="en-CA" dirty="0">
                <a:solidFill>
                  <a:srgbClr val="000000"/>
                </a:solidFill>
              </a:rPr>
              <a:t>LOTS of boilerplate code to walk through the intermediate structures</a:t>
            </a:r>
          </a:p>
        </p:txBody>
      </p:sp>
    </p:spTree>
    <p:extLst>
      <p:ext uri="{BB962C8B-B14F-4D97-AF65-F5344CB8AC3E}">
        <p14:creationId xmlns:p14="http://schemas.microsoft.com/office/powerpoint/2010/main" val="42281080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txBox="1">
            <a:spLocks/>
          </p:cNvSpPr>
          <p:nvPr/>
        </p:nvSpPr>
        <p:spPr>
          <a:xfrm>
            <a:off x="513159" y="819150"/>
            <a:ext cx="7714348" cy="3588077"/>
          </a:xfrm>
          <a:prstGeom prst="rect">
            <a:avLst/>
          </a:prstGeom>
        </p:spPr>
        <p:txBody>
          <a:bodyPr vert="horz" lIns="68580" tIns="34290" rIns="68580" bIns="3429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lnSpc>
                <a:spcPts val="1500"/>
              </a:lnSpc>
              <a:spcBef>
                <a:spcPts val="0"/>
              </a:spcBef>
              <a:spcAft>
                <a:spcPts val="0"/>
              </a:spcAft>
              <a:buNone/>
            </a:pP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b="1" dirty="0">
                <a:solidFill>
                  <a:srgbClr val="000000"/>
                </a:solidFill>
                <a:latin typeface="Courier New" panose="02070309020205020404" pitchFamily="49" charset="0"/>
                <a:cs typeface="Courier New" panose="02070309020205020404" pitchFamily="49" charset="0"/>
              </a:rPr>
              <a:t>process_ext4</a:t>
            </a:r>
            <a:r>
              <a:rPr lang="en-CA" sz="1350" dirty="0">
                <a:solidFill>
                  <a:srgbClr val="000000"/>
                </a:solidFill>
                <a:latin typeface="Courier New" panose="02070309020205020404" pitchFamily="49" charset="0"/>
                <a:cs typeface="Courier New" panose="02070309020205020404" pitchFamily="49" charset="0"/>
              </a:rPr>
              <a:t>(vector&lt;Extent&gt; &amp; </a:t>
            </a:r>
            <a:r>
              <a:rPr lang="en-CA" sz="1350" dirty="0" err="1">
                <a:solidFill>
                  <a:srgbClr val="000000"/>
                </a:solidFill>
                <a:latin typeface="Courier New" panose="02070309020205020404" pitchFamily="49" charset="0"/>
                <a:cs typeface="Courier New" panose="02070309020205020404" pitchFamily="49" charset="0"/>
              </a:rPr>
              <a:t>vec</a:t>
            </a:r>
            <a:r>
              <a:rPr lang="en-CA" sz="1350" dirty="0">
                <a:solidFill>
                  <a:srgbClr val="000000"/>
                </a:solidFill>
                <a:latin typeface="Courier New" panose="02070309020205020404" pitchFamily="49" charset="0"/>
                <a:cs typeface="Courier New" panose="02070309020205020404" pitchFamily="49" charset="0"/>
              </a:rPr>
              <a:t>, Device &amp; dev)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 ext4 super block is 1024 bytes away from start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struct</a:t>
            </a:r>
            <a:r>
              <a:rPr lang="en-CA" sz="1350" dirty="0">
                <a:solidFill>
                  <a:srgbClr val="000000"/>
                </a:solidFill>
                <a:latin typeface="Courier New" panose="02070309020205020404" pitchFamily="49" charset="0"/>
                <a:cs typeface="Courier New" panose="02070309020205020404" pitchFamily="49" charset="0"/>
              </a:rPr>
              <a:t> ext4_super_block * </a:t>
            </a:r>
            <a:r>
              <a:rPr lang="en-CA" sz="1350" dirty="0" err="1">
                <a:solidFill>
                  <a:srgbClr val="000000"/>
                </a:solidFill>
                <a:latin typeface="Courier New" panose="02070309020205020404" pitchFamily="49" charset="0"/>
                <a:cs typeface="Courier New" panose="02070309020205020404" pitchFamily="49" charset="0"/>
              </a:rPr>
              <a:t>sb</a:t>
            </a:r>
            <a:r>
              <a:rPr lang="en-CA" sz="1350" dirty="0">
                <a:solidFill>
                  <a:srgbClr val="000000"/>
                </a:solidFill>
                <a:latin typeface="Courier New" panose="02070309020205020404" pitchFamily="49" charset="0"/>
                <a:cs typeface="Courier New" panose="02070309020205020404" pitchFamily="49" charset="0"/>
              </a:rPr>
              <a:t> = </a:t>
            </a:r>
            <a:r>
              <a:rPr lang="en-CA" sz="1350" dirty="0" err="1">
                <a:solidFill>
                  <a:srgbClr val="000000"/>
                </a:solidFill>
                <a:latin typeface="Courier New" panose="02070309020205020404" pitchFamily="49" charset="0"/>
                <a:cs typeface="Courier New" panose="02070309020205020404" pitchFamily="49" charset="0"/>
              </a:rPr>
              <a:t>dev.read</a:t>
            </a:r>
            <a:r>
              <a:rPr lang="en-CA" sz="1350" dirty="0">
                <a:solidFill>
                  <a:srgbClr val="000000"/>
                </a:solidFill>
                <a:latin typeface="Courier New" panose="02070309020205020404" pitchFamily="49" charset="0"/>
                <a:cs typeface="Courier New" panose="02070309020205020404" pitchFamily="49" charset="0"/>
              </a:rPr>
              <a:t>(1024, SB_SIZE);</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blk_size</a:t>
            </a:r>
            <a:r>
              <a:rPr lang="en-CA" sz="1350" dirty="0">
                <a:solidFill>
                  <a:srgbClr val="000000"/>
                </a:solidFill>
                <a:latin typeface="Courier New" panose="02070309020205020404" pitchFamily="49" charset="0"/>
                <a:cs typeface="Courier New" panose="02070309020205020404" pitchFamily="49" charset="0"/>
              </a:rPr>
              <a:t> = 1024 &lt;&lt; </a:t>
            </a:r>
            <a:r>
              <a:rPr lang="en-CA" sz="1350" dirty="0" err="1">
                <a:solidFill>
                  <a:srgbClr val="000000"/>
                </a:solidFill>
                <a:latin typeface="Courier New" panose="02070309020205020404" pitchFamily="49" charset="0"/>
                <a:cs typeface="Courier New" panose="02070309020205020404" pitchFamily="49" charset="0"/>
              </a:rPr>
              <a:t>sb</a:t>
            </a:r>
            <a:r>
              <a:rPr lang="en-CA" sz="1350" dirty="0">
                <a:solidFill>
                  <a:srgbClr val="000000"/>
                </a:solidFill>
                <a:latin typeface="Courier New" panose="02070309020205020404" pitchFamily="49" charset="0"/>
                <a:cs typeface="Courier New" panose="02070309020205020404" pitchFamily="49" charset="0"/>
              </a:rPr>
              <a:t>-&gt;</a:t>
            </a:r>
            <a:r>
              <a:rPr lang="en-CA" sz="1350" dirty="0" err="1">
                <a:solidFill>
                  <a:srgbClr val="000000"/>
                </a:solidFill>
                <a:latin typeface="Courier New" panose="02070309020205020404" pitchFamily="49" charset="0"/>
                <a:cs typeface="Courier New" panose="02070309020205020404" pitchFamily="49" charset="0"/>
              </a:rPr>
              <a:t>s_log_block_size</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dev.set_block_size</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blk_size</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 block group descriptors start at block 2 or 1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bg_blknr</a:t>
            </a:r>
            <a:r>
              <a:rPr lang="en-CA" sz="1350" dirty="0">
                <a:solidFill>
                  <a:srgbClr val="000000"/>
                </a:solidFill>
                <a:latin typeface="Courier New" panose="02070309020205020404" pitchFamily="49" charset="0"/>
                <a:cs typeface="Courier New" panose="02070309020205020404" pitchFamily="49" charset="0"/>
              </a:rPr>
              <a:t> = (</a:t>
            </a:r>
            <a:r>
              <a:rPr lang="en-CA" sz="1350" dirty="0" err="1">
                <a:solidFill>
                  <a:srgbClr val="000000"/>
                </a:solidFill>
                <a:latin typeface="Courier New" panose="02070309020205020404" pitchFamily="49" charset="0"/>
                <a:cs typeface="Courier New" panose="02070309020205020404" pitchFamily="49" charset="0"/>
              </a:rPr>
              <a:t>sb</a:t>
            </a:r>
            <a:r>
              <a:rPr lang="en-CA" sz="1350" dirty="0">
                <a:solidFill>
                  <a:srgbClr val="000000"/>
                </a:solidFill>
                <a:latin typeface="Courier New" panose="02070309020205020404" pitchFamily="49" charset="0"/>
                <a:cs typeface="Courier New" panose="02070309020205020404" pitchFamily="49" charset="0"/>
              </a:rPr>
              <a:t>-&gt;</a:t>
            </a:r>
            <a:r>
              <a:rPr lang="en-CA" sz="1350" dirty="0" err="1">
                <a:solidFill>
                  <a:srgbClr val="000000"/>
                </a:solidFill>
                <a:latin typeface="Courier New" panose="02070309020205020404" pitchFamily="49" charset="0"/>
                <a:cs typeface="Courier New" panose="02070309020205020404" pitchFamily="49" charset="0"/>
              </a:rPr>
              <a:t>s_log_block_size</a:t>
            </a:r>
            <a:r>
              <a:rPr lang="en-CA" sz="1350" dirty="0">
                <a:solidFill>
                  <a:srgbClr val="000000"/>
                </a:solidFill>
                <a:latin typeface="Courier New" panose="02070309020205020404" pitchFamily="49" charset="0"/>
                <a:cs typeface="Courier New" panose="02070309020205020404" pitchFamily="49" charset="0"/>
              </a:rPr>
              <a:t> == 0) 2 : 1;</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bg_ngrps</a:t>
            </a:r>
            <a:r>
              <a:rPr lang="en-CA" sz="1350" dirty="0">
                <a:solidFill>
                  <a:srgbClr val="000000"/>
                </a:solidFill>
                <a:latin typeface="Courier New" panose="02070309020205020404" pitchFamily="49" charset="0"/>
                <a:cs typeface="Courier New" panose="02070309020205020404" pitchFamily="49" charset="0"/>
              </a:rPr>
              <a:t> = ceil(</a:t>
            </a:r>
            <a:r>
              <a:rPr lang="en-CA" sz="1350" dirty="0" err="1">
                <a:solidFill>
                  <a:srgbClr val="000000"/>
                </a:solidFill>
                <a:latin typeface="Courier New" panose="02070309020205020404" pitchFamily="49" charset="0"/>
                <a:cs typeface="Courier New" panose="02070309020205020404" pitchFamily="49" charset="0"/>
              </a:rPr>
              <a:t>sb</a:t>
            </a:r>
            <a:r>
              <a:rPr lang="en-CA" sz="1350" dirty="0">
                <a:solidFill>
                  <a:srgbClr val="000000"/>
                </a:solidFill>
                <a:latin typeface="Courier New" panose="02070309020205020404" pitchFamily="49" charset="0"/>
                <a:cs typeface="Courier New" panose="02070309020205020404" pitchFamily="49" charset="0"/>
              </a:rPr>
              <a:t>-&gt;</a:t>
            </a:r>
            <a:r>
              <a:rPr lang="en-CA" sz="1350" dirty="0" err="1">
                <a:solidFill>
                  <a:srgbClr val="000000"/>
                </a:solidFill>
                <a:latin typeface="Courier New" panose="02070309020205020404" pitchFamily="49" charset="0"/>
                <a:cs typeface="Courier New" panose="02070309020205020404" pitchFamily="49" charset="0"/>
              </a:rPr>
              <a:t>s_blocks_count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sb</a:t>
            </a:r>
            <a:r>
              <a:rPr lang="en-CA" sz="1350" dirty="0">
                <a:solidFill>
                  <a:srgbClr val="000000"/>
                </a:solidFill>
                <a:latin typeface="Courier New" panose="02070309020205020404" pitchFamily="49" charset="0"/>
                <a:cs typeface="Courier New" panose="02070309020205020404" pitchFamily="49" charset="0"/>
              </a:rPr>
              <a:t>-&gt;</a:t>
            </a:r>
            <a:r>
              <a:rPr lang="en-CA" sz="1350" dirty="0" err="1">
                <a:solidFill>
                  <a:srgbClr val="000000"/>
                </a:solidFill>
                <a:latin typeface="Courier New" panose="02070309020205020404" pitchFamily="49" charset="0"/>
                <a:cs typeface="Courier New" panose="02070309020205020404" pitchFamily="49" charset="0"/>
              </a:rPr>
              <a:t>s_blocks_per_group</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bg_nblks</a:t>
            </a:r>
            <a:r>
              <a:rPr lang="en-CA" sz="1350" dirty="0">
                <a:solidFill>
                  <a:srgbClr val="000000"/>
                </a:solidFill>
                <a:latin typeface="Courier New" panose="02070309020205020404" pitchFamily="49" charset="0"/>
                <a:cs typeface="Courier New" panose="02070309020205020404" pitchFamily="49" charset="0"/>
              </a:rPr>
              <a:t> = ceil(</a:t>
            </a:r>
            <a:r>
              <a:rPr lang="en-CA" sz="1350" dirty="0" err="1">
                <a:solidFill>
                  <a:srgbClr val="000000"/>
                </a:solidFill>
                <a:latin typeface="Courier New" panose="02070309020205020404" pitchFamily="49" charset="0"/>
                <a:cs typeface="Courier New" panose="02070309020205020404" pitchFamily="49" charset="0"/>
              </a:rPr>
              <a:t>bg_ngrps</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sizeof</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struct</a:t>
            </a:r>
            <a:r>
              <a:rPr lang="en-CA" sz="1350" dirty="0">
                <a:solidFill>
                  <a:srgbClr val="000000"/>
                </a:solidFill>
                <a:latin typeface="Courier New" panose="02070309020205020404" pitchFamily="49" charset="0"/>
                <a:cs typeface="Courier New" panose="02070309020205020404" pitchFamily="49" charset="0"/>
              </a:rPr>
              <a:t> ext4_group_desc), </a:t>
            </a:r>
            <a:r>
              <a:rPr lang="en-CA" sz="1350" dirty="0" err="1">
                <a:solidFill>
                  <a:srgbClr val="000000"/>
                </a:solidFill>
                <a:latin typeface="Courier New" panose="02070309020205020404" pitchFamily="49" charset="0"/>
                <a:cs typeface="Courier New" panose="02070309020205020404" pitchFamily="49" charset="0"/>
              </a:rPr>
              <a:t>blk_size</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 read all of the block group descriptors into memory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struct</a:t>
            </a:r>
            <a:r>
              <a:rPr lang="en-CA" sz="1350" dirty="0">
                <a:solidFill>
                  <a:srgbClr val="000000"/>
                </a:solidFill>
                <a:latin typeface="Courier New" panose="02070309020205020404" pitchFamily="49" charset="0"/>
                <a:cs typeface="Courier New" panose="02070309020205020404" pitchFamily="49" charset="0"/>
              </a:rPr>
              <a:t> ext4_group_desc * </a:t>
            </a:r>
            <a:r>
              <a:rPr lang="en-CA" sz="1350" dirty="0" err="1">
                <a:solidFill>
                  <a:srgbClr val="000000"/>
                </a:solidFill>
                <a:latin typeface="Courier New" panose="02070309020205020404" pitchFamily="49" charset="0"/>
                <a:cs typeface="Courier New" panose="02070309020205020404" pitchFamily="49" charset="0"/>
              </a:rPr>
              <a:t>gd</a:t>
            </a:r>
            <a:r>
              <a:rPr lang="en-CA" sz="1350" dirty="0">
                <a:solidFill>
                  <a:srgbClr val="000000"/>
                </a:solidFill>
                <a:latin typeface="Courier New" panose="02070309020205020404" pitchFamily="49" charset="0"/>
                <a:cs typeface="Courier New" panose="02070309020205020404" pitchFamily="49" charset="0"/>
              </a:rPr>
              <a:t> = </a:t>
            </a:r>
            <a:r>
              <a:rPr lang="en-CA" sz="1350" dirty="0" err="1">
                <a:solidFill>
                  <a:srgbClr val="000000"/>
                </a:solidFill>
                <a:latin typeface="Courier New" panose="02070309020205020404" pitchFamily="49" charset="0"/>
                <a:cs typeface="Courier New" panose="02070309020205020404" pitchFamily="49" charset="0"/>
              </a:rPr>
              <a:t>dev.read_block</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bg_blknr</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bg_nblks</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for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a:t>
            </a:r>
            <a:r>
              <a:rPr lang="en-CA" sz="1350" dirty="0">
                <a:solidFill>
                  <a:srgbClr val="000000"/>
                </a:solidFill>
                <a:latin typeface="Courier New" panose="02070309020205020404" pitchFamily="49" charset="0"/>
                <a:cs typeface="Courier New" panose="02070309020205020404" pitchFamily="49" charset="0"/>
              </a:rPr>
              <a:t> = 0; </a:t>
            </a:r>
            <a:r>
              <a:rPr lang="en-CA" sz="1350" dirty="0" err="1">
                <a:solidFill>
                  <a:srgbClr val="000000"/>
                </a:solidFill>
                <a:latin typeface="Courier New" panose="02070309020205020404" pitchFamily="49" charset="0"/>
                <a:cs typeface="Courier New" panose="02070309020205020404" pitchFamily="49" charset="0"/>
              </a:rPr>
              <a:t>i</a:t>
            </a:r>
            <a:r>
              <a:rPr lang="en-CA" sz="1350" dirty="0">
                <a:solidFill>
                  <a:srgbClr val="000000"/>
                </a:solidFill>
                <a:latin typeface="Courier New" panose="02070309020205020404" pitchFamily="49" charset="0"/>
                <a:cs typeface="Courier New" panose="02070309020205020404" pitchFamily="49" charset="0"/>
              </a:rPr>
              <a:t> &lt; </a:t>
            </a:r>
            <a:r>
              <a:rPr lang="en-CA" sz="1350" dirty="0" err="1">
                <a:solidFill>
                  <a:srgbClr val="000000"/>
                </a:solidFill>
                <a:latin typeface="Courier New" panose="02070309020205020404" pitchFamily="49" charset="0"/>
                <a:cs typeface="Courier New" panose="02070309020205020404" pitchFamily="49" charset="0"/>
              </a:rPr>
              <a:t>bg_ngrps</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a:t>
            </a: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char * </a:t>
            </a:r>
            <a:r>
              <a:rPr lang="en-CA" sz="1350" dirty="0" err="1">
                <a:solidFill>
                  <a:srgbClr val="000000"/>
                </a:solidFill>
                <a:latin typeface="Courier New" panose="02070309020205020404" pitchFamily="49" charset="0"/>
                <a:cs typeface="Courier New" panose="02070309020205020404" pitchFamily="49" charset="0"/>
              </a:rPr>
              <a:t>buf</a:t>
            </a:r>
            <a:r>
              <a:rPr lang="en-CA" sz="1350" dirty="0">
                <a:solidFill>
                  <a:srgbClr val="000000"/>
                </a:solidFill>
                <a:latin typeface="Courier New" panose="02070309020205020404" pitchFamily="49" charset="0"/>
                <a:cs typeface="Courier New" panose="02070309020205020404" pitchFamily="49" charset="0"/>
              </a:rPr>
              <a:t> = </a:t>
            </a:r>
            <a:r>
              <a:rPr lang="en-CA" sz="1350" dirty="0" err="1">
                <a:solidFill>
                  <a:srgbClr val="000000"/>
                </a:solidFill>
                <a:latin typeface="Courier New" panose="02070309020205020404" pitchFamily="49" charset="0"/>
                <a:cs typeface="Courier New" panose="02070309020205020404" pitchFamily="49" charset="0"/>
              </a:rPr>
              <a:t>dev.read_block</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gd</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i</a:t>
            </a:r>
            <a:r>
              <a:rPr lang="en-CA" sz="1350" dirty="0">
                <a:solidFill>
                  <a:srgbClr val="000000"/>
                </a:solidFill>
                <a:latin typeface="Courier New" panose="02070309020205020404" pitchFamily="49" charset="0"/>
                <a:cs typeface="Courier New" panose="02070309020205020404" pitchFamily="49" charset="0"/>
              </a:rPr>
              <a:t>]-&gt;</a:t>
            </a:r>
            <a:r>
              <a:rPr lang="en-CA" sz="1350" dirty="0" err="1">
                <a:solidFill>
                  <a:srgbClr val="000000"/>
                </a:solidFill>
                <a:latin typeface="Courier New" panose="02070309020205020404" pitchFamily="49" charset="0"/>
                <a:cs typeface="Courier New" panose="02070309020205020404" pitchFamily="49" charset="0"/>
              </a:rPr>
              <a:t>bg_block_bitmap</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b="1"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int</a:t>
            </a:r>
            <a:r>
              <a:rPr lang="en-CA" sz="1350" b="1"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ret = </a:t>
            </a:r>
            <a:r>
              <a:rPr lang="en-CA" sz="1350" b="1"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process_block_bitmap</a:t>
            </a:r>
            <a:r>
              <a:rPr lang="en-CA" sz="1350" b="1"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350" b="1"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buf</a:t>
            </a:r>
            <a:r>
              <a:rPr lang="en-CA" sz="1350" b="1"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 </a:t>
            </a:r>
            <a:r>
              <a:rPr lang="en-CA" sz="1350" b="1" dirty="0" err="1">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vec</a:t>
            </a:r>
            <a:r>
              <a:rPr lang="en-CA" sz="1350" b="1" dirty="0">
                <a:solidFill>
                  <a:srgbClr val="000000"/>
                </a:solidFill>
                <a:effectLst>
                  <a:glow rad="139700">
                    <a:schemeClr val="accent5">
                      <a:lumMod val="60000"/>
                      <a:lumOff val="40000"/>
                      <a:alpha val="40000"/>
                    </a:schemeClr>
                  </a:glow>
                </a:effectLst>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a:t>
            </a:r>
          </a:p>
        </p:txBody>
      </p:sp>
      <p:sp>
        <p:nvSpPr>
          <p:cNvPr id="5" name="Title 4"/>
          <p:cNvSpPr>
            <a:spLocks noGrp="1"/>
          </p:cNvSpPr>
          <p:nvPr>
            <p:ph type="title"/>
          </p:nvPr>
        </p:nvSpPr>
        <p:spPr/>
        <p:txBody>
          <a:bodyPr/>
          <a:lstStyle/>
          <a:p>
            <a:r>
              <a:rPr lang="en-CA" smtClean="0"/>
              <a:t>Manually-Written Application</a:t>
            </a:r>
            <a:endParaRPr lang="en-CA" dirty="0"/>
          </a:p>
        </p:txBody>
      </p:sp>
      <p:sp>
        <p:nvSpPr>
          <p:cNvPr id="11" name="TextBox 10"/>
          <p:cNvSpPr txBox="1"/>
          <p:nvPr/>
        </p:nvSpPr>
        <p:spPr>
          <a:xfrm>
            <a:off x="2261756" y="3742925"/>
            <a:ext cx="4748643" cy="432072"/>
          </a:xfrm>
          <a:prstGeom prst="rect">
            <a:avLst/>
          </a:prstGeom>
          <a:solidFill>
            <a:srgbClr val="FFFF00"/>
          </a:solidFill>
          <a:ln w="12700">
            <a:solidFill>
              <a:schemeClr val="bg1"/>
            </a:solidFill>
            <a:prstDash val="solid"/>
          </a:ln>
        </p:spPr>
        <p:txBody>
          <a:bodyPr wrap="square" rtlCol="0" anchor="ctr" anchorCtr="0">
            <a:noAutofit/>
          </a:bodyPr>
          <a:lstStyle/>
          <a:p>
            <a:pPr algn="ctr">
              <a:lnSpc>
                <a:spcPts val="1800"/>
              </a:lnSpc>
              <a:spcBef>
                <a:spcPts val="450"/>
              </a:spcBef>
            </a:pPr>
            <a:r>
              <a:rPr lang="en-CA" dirty="0">
                <a:solidFill>
                  <a:srgbClr val="000000"/>
                </a:solidFill>
              </a:rPr>
              <a:t>Ideally, we would only have to write this function</a:t>
            </a:r>
          </a:p>
        </p:txBody>
      </p:sp>
      <p:cxnSp>
        <p:nvCxnSpPr>
          <p:cNvPr id="8" name="Straight Arrow Connector 7"/>
          <p:cNvCxnSpPr/>
          <p:nvPr/>
        </p:nvCxnSpPr>
        <p:spPr>
          <a:xfrm flipH="1" flipV="1">
            <a:off x="5347855" y="3430800"/>
            <a:ext cx="900545" cy="549011"/>
          </a:xfrm>
          <a:prstGeom prst="bentConnector3">
            <a:avLst>
              <a:gd name="adj1" fmla="val -25385"/>
            </a:avLst>
          </a:prstGeom>
          <a:ln w="38100">
            <a:solidFill>
              <a:schemeClr val="tx1">
                <a:alpha val="7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60818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txBox="1">
            <a:spLocks/>
          </p:cNvSpPr>
          <p:nvPr/>
        </p:nvSpPr>
        <p:spPr>
          <a:xfrm>
            <a:off x="513159" y="819150"/>
            <a:ext cx="7714348" cy="3588077"/>
          </a:xfrm>
          <a:prstGeom prst="rect">
            <a:avLst/>
          </a:prstGeom>
        </p:spPr>
        <p:txBody>
          <a:bodyPr vert="horz" lIns="68580" tIns="34290" rIns="68580" bIns="3429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lnSpc>
                <a:spcPts val="1500"/>
              </a:lnSpc>
              <a:spcBef>
                <a:spcPts val="0"/>
              </a:spcBef>
              <a:spcAft>
                <a:spcPts val="0"/>
              </a:spcAft>
              <a:buNone/>
            </a:pP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b="1" dirty="0">
                <a:solidFill>
                  <a:srgbClr val="000000"/>
                </a:solidFill>
                <a:latin typeface="Courier New" panose="02070309020205020404" pitchFamily="49" charset="0"/>
                <a:cs typeface="Courier New" panose="02070309020205020404" pitchFamily="49" charset="0"/>
              </a:rPr>
              <a:t>process_ext4</a:t>
            </a:r>
            <a:r>
              <a:rPr lang="en-CA" sz="1350" dirty="0">
                <a:solidFill>
                  <a:srgbClr val="000000"/>
                </a:solidFill>
                <a:latin typeface="Courier New" panose="02070309020205020404" pitchFamily="49" charset="0"/>
                <a:cs typeface="Courier New" panose="02070309020205020404" pitchFamily="49" charset="0"/>
              </a:rPr>
              <a:t>(vector&lt;Extent&gt; &amp; </a:t>
            </a:r>
            <a:r>
              <a:rPr lang="en-CA" sz="1350" dirty="0" err="1">
                <a:solidFill>
                  <a:srgbClr val="000000"/>
                </a:solidFill>
                <a:latin typeface="Courier New" panose="02070309020205020404" pitchFamily="49" charset="0"/>
                <a:cs typeface="Courier New" panose="02070309020205020404" pitchFamily="49" charset="0"/>
              </a:rPr>
              <a:t>vec</a:t>
            </a:r>
            <a:r>
              <a:rPr lang="en-CA" sz="1350" dirty="0">
                <a:solidFill>
                  <a:srgbClr val="000000"/>
                </a:solidFill>
                <a:latin typeface="Courier New" panose="02070309020205020404" pitchFamily="49" charset="0"/>
                <a:cs typeface="Courier New" panose="02070309020205020404" pitchFamily="49" charset="0"/>
              </a:rPr>
              <a:t>, Device &amp; dev)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 ext4 super block is 1024 bytes away from start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struct</a:t>
            </a:r>
            <a:r>
              <a:rPr lang="en-CA" sz="1350" dirty="0">
                <a:solidFill>
                  <a:srgbClr val="000000"/>
                </a:solidFill>
                <a:latin typeface="Courier New" panose="02070309020205020404" pitchFamily="49" charset="0"/>
                <a:cs typeface="Courier New" panose="02070309020205020404" pitchFamily="49" charset="0"/>
              </a:rPr>
              <a:t> ext4_super_block * </a:t>
            </a:r>
            <a:r>
              <a:rPr lang="en-CA" sz="1350" dirty="0" err="1">
                <a:solidFill>
                  <a:srgbClr val="000000"/>
                </a:solidFill>
                <a:latin typeface="Courier New" panose="02070309020205020404" pitchFamily="49" charset="0"/>
                <a:cs typeface="Courier New" panose="02070309020205020404" pitchFamily="49" charset="0"/>
              </a:rPr>
              <a:t>sb</a:t>
            </a:r>
            <a:r>
              <a:rPr lang="en-CA" sz="1350" dirty="0">
                <a:solidFill>
                  <a:srgbClr val="000000"/>
                </a:solidFill>
                <a:latin typeface="Courier New" panose="02070309020205020404" pitchFamily="49" charset="0"/>
                <a:cs typeface="Courier New" panose="02070309020205020404" pitchFamily="49" charset="0"/>
              </a:rPr>
              <a:t> = </a:t>
            </a:r>
            <a:r>
              <a:rPr lang="en-CA" sz="1350" dirty="0" err="1">
                <a:solidFill>
                  <a:srgbClr val="000000"/>
                </a:solidFill>
                <a:latin typeface="Courier New" panose="02070309020205020404" pitchFamily="49" charset="0"/>
                <a:cs typeface="Courier New" panose="02070309020205020404" pitchFamily="49" charset="0"/>
              </a:rPr>
              <a:t>dev.read</a:t>
            </a:r>
            <a:r>
              <a:rPr lang="en-CA" sz="1350" dirty="0">
                <a:solidFill>
                  <a:srgbClr val="000000"/>
                </a:solidFill>
                <a:latin typeface="Courier New" panose="02070309020205020404" pitchFamily="49" charset="0"/>
                <a:cs typeface="Courier New" panose="02070309020205020404" pitchFamily="49" charset="0"/>
              </a:rPr>
              <a:t>(1024, SB_SIZE);</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blk_size</a:t>
            </a:r>
            <a:r>
              <a:rPr lang="en-CA" sz="1350" dirty="0">
                <a:solidFill>
                  <a:srgbClr val="000000"/>
                </a:solidFill>
                <a:latin typeface="Courier New" panose="02070309020205020404" pitchFamily="49" charset="0"/>
                <a:cs typeface="Courier New" panose="02070309020205020404" pitchFamily="49" charset="0"/>
              </a:rPr>
              <a:t> = 1024 &lt;&lt; </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350" b="1"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s_log_block_size</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dev.set_block_size</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blk_size</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 block group descriptors start at block 2 or 1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bg_blknr</a:t>
            </a:r>
            <a:r>
              <a:rPr lang="en-CA" sz="1350" dirty="0">
                <a:solidFill>
                  <a:srgbClr val="000000"/>
                </a:solidFill>
                <a:latin typeface="Courier New" panose="02070309020205020404" pitchFamily="49" charset="0"/>
                <a:cs typeface="Courier New" panose="02070309020205020404" pitchFamily="49" charset="0"/>
              </a:rPr>
              <a:t> = (</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350" b="1"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s_log_block_size</a:t>
            </a:r>
            <a:r>
              <a:rPr lang="en-CA" sz="1350" b="1" dirty="0">
                <a:solidFill>
                  <a:srgbClr val="000000"/>
                </a:solidFill>
                <a:effectLst>
                  <a:glow rad="101600">
                    <a:srgbClr val="FFFF00">
                      <a:alpha val="40000"/>
                    </a:srgbClr>
                  </a:glow>
                </a:effectLst>
                <a:latin typeface="Courier New" panose="02070309020205020404" pitchFamily="49" charset="0"/>
                <a:cs typeface="Courier New" panose="02070309020205020404" pitchFamily="49" charset="0"/>
              </a:rPr>
              <a:t> </a:t>
            </a:r>
            <a:r>
              <a:rPr lang="en-CA" sz="1350" dirty="0">
                <a:solidFill>
                  <a:srgbClr val="000000"/>
                </a:solidFill>
                <a:latin typeface="Courier New" panose="02070309020205020404" pitchFamily="49" charset="0"/>
                <a:cs typeface="Courier New" panose="02070309020205020404" pitchFamily="49" charset="0"/>
              </a:rPr>
              <a:t>== 0) 2 : 1;</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bg_ngrps</a:t>
            </a:r>
            <a:r>
              <a:rPr lang="en-CA" sz="1350" dirty="0">
                <a:solidFill>
                  <a:srgbClr val="000000"/>
                </a:solidFill>
                <a:latin typeface="Courier New" panose="02070309020205020404" pitchFamily="49" charset="0"/>
                <a:cs typeface="Courier New" panose="02070309020205020404" pitchFamily="49" charset="0"/>
              </a:rPr>
              <a:t> = ceil(</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350" b="1"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s_blocks_count</a:t>
            </a:r>
            <a:r>
              <a:rPr lang="en-CA" sz="1350" dirty="0">
                <a:solidFill>
                  <a:srgbClr val="000000"/>
                </a:solidFill>
                <a:latin typeface="Courier New" panose="02070309020205020404" pitchFamily="49" charset="0"/>
                <a:cs typeface="Courier New" panose="02070309020205020404" pitchFamily="49" charset="0"/>
              </a:rPr>
              <a:t>, </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sb</a:t>
            </a:r>
            <a:r>
              <a:rPr lang="en-CA" sz="1350" b="1"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s_blocks_per_group</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bg_nblks</a:t>
            </a:r>
            <a:r>
              <a:rPr lang="en-CA" sz="1350" dirty="0">
                <a:solidFill>
                  <a:srgbClr val="000000"/>
                </a:solidFill>
                <a:latin typeface="Courier New" panose="02070309020205020404" pitchFamily="49" charset="0"/>
                <a:cs typeface="Courier New" panose="02070309020205020404" pitchFamily="49" charset="0"/>
              </a:rPr>
              <a:t> = ceil(</a:t>
            </a:r>
            <a:r>
              <a:rPr lang="en-CA" sz="1350" dirty="0" err="1">
                <a:solidFill>
                  <a:srgbClr val="000000"/>
                </a:solidFill>
                <a:latin typeface="Courier New" panose="02070309020205020404" pitchFamily="49" charset="0"/>
                <a:cs typeface="Courier New" panose="02070309020205020404" pitchFamily="49" charset="0"/>
              </a:rPr>
              <a:t>bg_ngrps</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sizeof</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struct</a:t>
            </a:r>
            <a:r>
              <a:rPr lang="en-CA" sz="1350" dirty="0">
                <a:solidFill>
                  <a:srgbClr val="000000"/>
                </a:solidFill>
                <a:latin typeface="Courier New" panose="02070309020205020404" pitchFamily="49" charset="0"/>
                <a:cs typeface="Courier New" panose="02070309020205020404" pitchFamily="49" charset="0"/>
              </a:rPr>
              <a:t> ext4_group_desc), </a:t>
            </a:r>
            <a:r>
              <a:rPr lang="en-CA" sz="1350" dirty="0" err="1">
                <a:solidFill>
                  <a:srgbClr val="000000"/>
                </a:solidFill>
                <a:latin typeface="Courier New" panose="02070309020205020404" pitchFamily="49" charset="0"/>
                <a:cs typeface="Courier New" panose="02070309020205020404" pitchFamily="49" charset="0"/>
              </a:rPr>
              <a:t>blk_size</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 read all of the block group descriptors into memory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struct</a:t>
            </a:r>
            <a:r>
              <a:rPr lang="en-CA" sz="1350" dirty="0">
                <a:solidFill>
                  <a:srgbClr val="000000"/>
                </a:solidFill>
                <a:latin typeface="Courier New" panose="02070309020205020404" pitchFamily="49" charset="0"/>
                <a:cs typeface="Courier New" panose="02070309020205020404" pitchFamily="49" charset="0"/>
              </a:rPr>
              <a:t> ext4_group_desc * </a:t>
            </a:r>
            <a:r>
              <a:rPr lang="en-CA" sz="1350" dirty="0" err="1">
                <a:solidFill>
                  <a:srgbClr val="000000"/>
                </a:solidFill>
                <a:latin typeface="Courier New" panose="02070309020205020404" pitchFamily="49" charset="0"/>
                <a:cs typeface="Courier New" panose="02070309020205020404" pitchFamily="49" charset="0"/>
              </a:rPr>
              <a:t>gd</a:t>
            </a:r>
            <a:r>
              <a:rPr lang="en-CA" sz="1350" dirty="0">
                <a:solidFill>
                  <a:srgbClr val="000000"/>
                </a:solidFill>
                <a:latin typeface="Courier New" panose="02070309020205020404" pitchFamily="49" charset="0"/>
                <a:cs typeface="Courier New" panose="02070309020205020404" pitchFamily="49" charset="0"/>
              </a:rPr>
              <a:t> = </a:t>
            </a:r>
            <a:r>
              <a:rPr lang="en-CA" sz="1350" dirty="0" err="1">
                <a:solidFill>
                  <a:srgbClr val="000000"/>
                </a:solidFill>
                <a:latin typeface="Courier New" panose="02070309020205020404" pitchFamily="49" charset="0"/>
                <a:cs typeface="Courier New" panose="02070309020205020404" pitchFamily="49" charset="0"/>
              </a:rPr>
              <a:t>dev.read_block</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bg_blknr</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bg_nblks</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for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a:t>
            </a:r>
            <a:r>
              <a:rPr lang="en-CA" sz="1350" dirty="0">
                <a:solidFill>
                  <a:srgbClr val="000000"/>
                </a:solidFill>
                <a:latin typeface="Courier New" panose="02070309020205020404" pitchFamily="49" charset="0"/>
                <a:cs typeface="Courier New" panose="02070309020205020404" pitchFamily="49" charset="0"/>
              </a:rPr>
              <a:t> = 0; </a:t>
            </a:r>
            <a:r>
              <a:rPr lang="en-CA" sz="1350" dirty="0" err="1">
                <a:solidFill>
                  <a:srgbClr val="000000"/>
                </a:solidFill>
                <a:latin typeface="Courier New" panose="02070309020205020404" pitchFamily="49" charset="0"/>
                <a:cs typeface="Courier New" panose="02070309020205020404" pitchFamily="49" charset="0"/>
              </a:rPr>
              <a:t>i</a:t>
            </a:r>
            <a:r>
              <a:rPr lang="en-CA" sz="1350" dirty="0">
                <a:solidFill>
                  <a:srgbClr val="000000"/>
                </a:solidFill>
                <a:latin typeface="Courier New" panose="02070309020205020404" pitchFamily="49" charset="0"/>
                <a:cs typeface="Courier New" panose="02070309020205020404" pitchFamily="49" charset="0"/>
              </a:rPr>
              <a:t> &lt; </a:t>
            </a:r>
            <a:r>
              <a:rPr lang="en-CA" sz="1350" dirty="0" err="1">
                <a:solidFill>
                  <a:srgbClr val="000000"/>
                </a:solidFill>
                <a:latin typeface="Courier New" panose="02070309020205020404" pitchFamily="49" charset="0"/>
                <a:cs typeface="Courier New" panose="02070309020205020404" pitchFamily="49" charset="0"/>
              </a:rPr>
              <a:t>bg_ngrps</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a:t>
            </a: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char * </a:t>
            </a:r>
            <a:r>
              <a:rPr lang="en-CA" sz="1350" dirty="0" err="1">
                <a:solidFill>
                  <a:srgbClr val="000000"/>
                </a:solidFill>
                <a:latin typeface="Courier New" panose="02070309020205020404" pitchFamily="49" charset="0"/>
                <a:cs typeface="Courier New" panose="02070309020205020404" pitchFamily="49" charset="0"/>
              </a:rPr>
              <a:t>buf</a:t>
            </a:r>
            <a:r>
              <a:rPr lang="en-CA" sz="1350" dirty="0">
                <a:solidFill>
                  <a:srgbClr val="000000"/>
                </a:solidFill>
                <a:latin typeface="Courier New" panose="02070309020205020404" pitchFamily="49" charset="0"/>
                <a:cs typeface="Courier New" panose="02070309020205020404" pitchFamily="49" charset="0"/>
              </a:rPr>
              <a:t> = </a:t>
            </a:r>
            <a:r>
              <a:rPr lang="en-CA" sz="1350" dirty="0" err="1">
                <a:solidFill>
                  <a:srgbClr val="000000"/>
                </a:solidFill>
                <a:latin typeface="Courier New" panose="02070309020205020404" pitchFamily="49" charset="0"/>
                <a:cs typeface="Courier New" panose="02070309020205020404" pitchFamily="49" charset="0"/>
              </a:rPr>
              <a:t>dev.read_block</a:t>
            </a:r>
            <a:r>
              <a:rPr lang="en-CA" sz="1350" dirty="0">
                <a:solidFill>
                  <a:srgbClr val="000000"/>
                </a:solidFill>
                <a:latin typeface="Courier New" panose="02070309020205020404" pitchFamily="49" charset="0"/>
                <a:cs typeface="Courier New" panose="02070309020205020404" pitchFamily="49" charset="0"/>
              </a:rPr>
              <a:t>(</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gd</a:t>
            </a:r>
            <a:r>
              <a:rPr lang="en-CA" sz="1350" b="1"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i</a:t>
            </a:r>
            <a:r>
              <a:rPr lang="en-CA" sz="1350" b="1" dirty="0">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]-&gt;</a:t>
            </a:r>
            <a:r>
              <a:rPr lang="en-CA" sz="1350" b="1" dirty="0" err="1">
                <a:solidFill>
                  <a:srgbClr val="000000"/>
                </a:solidFill>
                <a:effectLst>
                  <a:glow rad="101600">
                    <a:schemeClr val="accent5">
                      <a:lumMod val="60000"/>
                      <a:lumOff val="40000"/>
                      <a:alpha val="40000"/>
                    </a:schemeClr>
                  </a:glow>
                </a:effectLst>
                <a:latin typeface="Courier New" panose="02070309020205020404" pitchFamily="49" charset="0"/>
                <a:cs typeface="Courier New" panose="02070309020205020404" pitchFamily="49" charset="0"/>
              </a:rPr>
              <a:t>bg_block_bitmap</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int</a:t>
            </a:r>
            <a:r>
              <a:rPr lang="en-CA" sz="1350" dirty="0">
                <a:solidFill>
                  <a:srgbClr val="000000"/>
                </a:solidFill>
                <a:latin typeface="Courier New" panose="02070309020205020404" pitchFamily="49" charset="0"/>
                <a:cs typeface="Courier New" panose="02070309020205020404" pitchFamily="49" charset="0"/>
              </a:rPr>
              <a:t> ret = </a:t>
            </a:r>
            <a:r>
              <a:rPr lang="en-CA" sz="1350" dirty="0" err="1">
                <a:solidFill>
                  <a:srgbClr val="000000"/>
                </a:solidFill>
                <a:latin typeface="Courier New" panose="02070309020205020404" pitchFamily="49" charset="0"/>
                <a:cs typeface="Courier New" panose="02070309020205020404" pitchFamily="49" charset="0"/>
              </a:rPr>
              <a:t>process_block_bitmap</a:t>
            </a:r>
            <a:r>
              <a:rPr lang="en-CA" sz="1350" dirty="0">
                <a:solidFill>
                  <a:srgbClr val="000000"/>
                </a:solidFill>
                <a:latin typeface="Courier New" panose="02070309020205020404" pitchFamily="49" charset="0"/>
                <a:cs typeface="Courier New" panose="02070309020205020404" pitchFamily="49" charset="0"/>
              </a:rPr>
              <a:t>(</a:t>
            </a:r>
            <a:r>
              <a:rPr lang="en-CA" sz="1350" dirty="0" err="1">
                <a:solidFill>
                  <a:srgbClr val="000000"/>
                </a:solidFill>
                <a:latin typeface="Courier New" panose="02070309020205020404" pitchFamily="49" charset="0"/>
                <a:cs typeface="Courier New" panose="02070309020205020404" pitchFamily="49" charset="0"/>
              </a:rPr>
              <a:t>buf</a:t>
            </a:r>
            <a:r>
              <a:rPr lang="en-CA" sz="1350" dirty="0">
                <a:solidFill>
                  <a:srgbClr val="000000"/>
                </a:solidFill>
                <a:latin typeface="Courier New" panose="02070309020205020404" pitchFamily="49" charset="0"/>
                <a:cs typeface="Courier New" panose="02070309020205020404" pitchFamily="49" charset="0"/>
              </a:rPr>
              <a:t>, </a:t>
            </a:r>
            <a:r>
              <a:rPr lang="en-CA" sz="1350" dirty="0" err="1">
                <a:solidFill>
                  <a:srgbClr val="000000"/>
                </a:solidFill>
                <a:latin typeface="Courier New" panose="02070309020205020404" pitchFamily="49" charset="0"/>
                <a:cs typeface="Courier New" panose="02070309020205020404" pitchFamily="49" charset="0"/>
              </a:rPr>
              <a:t>vec</a:t>
            </a:r>
            <a:r>
              <a:rPr lang="en-CA" sz="1350" dirty="0">
                <a:solidFill>
                  <a:srgbClr val="000000"/>
                </a:solidFill>
                <a:latin typeface="Courier New" panose="02070309020205020404" pitchFamily="49" charset="0"/>
                <a:cs typeface="Courier New" panose="02070309020205020404" pitchFamily="49" charset="0"/>
              </a:rPr>
              <a:t>);</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  …</a:t>
            </a:r>
          </a:p>
          <a:p>
            <a:pPr marL="0" indent="0">
              <a:lnSpc>
                <a:spcPts val="1500"/>
              </a:lnSpc>
              <a:spcBef>
                <a:spcPts val="0"/>
              </a:spcBef>
              <a:spcAft>
                <a:spcPts val="0"/>
              </a:spcAft>
              <a:buNone/>
            </a:pPr>
            <a:r>
              <a:rPr lang="en-CA" sz="1350" dirty="0">
                <a:solidFill>
                  <a:srgbClr val="000000"/>
                </a:solidFill>
                <a:latin typeface="Courier New" panose="02070309020205020404" pitchFamily="49" charset="0"/>
                <a:cs typeface="Courier New" panose="02070309020205020404" pitchFamily="49" charset="0"/>
              </a:rPr>
              <a:t>}</a:t>
            </a:r>
          </a:p>
        </p:txBody>
      </p:sp>
      <p:sp>
        <p:nvSpPr>
          <p:cNvPr id="5" name="Title 4"/>
          <p:cNvSpPr>
            <a:spLocks noGrp="1"/>
          </p:cNvSpPr>
          <p:nvPr>
            <p:ph type="title"/>
          </p:nvPr>
        </p:nvSpPr>
        <p:spPr/>
        <p:txBody>
          <a:bodyPr/>
          <a:lstStyle/>
          <a:p>
            <a:r>
              <a:rPr lang="en-CA" smtClean="0"/>
              <a:t>Manually-Written Application</a:t>
            </a:r>
            <a:endParaRPr lang="en-CA" dirty="0"/>
          </a:p>
        </p:txBody>
      </p:sp>
      <p:sp>
        <p:nvSpPr>
          <p:cNvPr id="13" name="TextBox 12"/>
          <p:cNvSpPr txBox="1"/>
          <p:nvPr/>
        </p:nvSpPr>
        <p:spPr>
          <a:xfrm>
            <a:off x="2428875" y="3742925"/>
            <a:ext cx="4941948" cy="632097"/>
          </a:xfrm>
          <a:prstGeom prst="rect">
            <a:avLst/>
          </a:prstGeom>
          <a:solidFill>
            <a:srgbClr val="FFFF00"/>
          </a:solidFill>
          <a:ln w="12700">
            <a:solidFill>
              <a:schemeClr val="bg1"/>
            </a:solidFill>
            <a:prstDash val="solid"/>
          </a:ln>
        </p:spPr>
        <p:txBody>
          <a:bodyPr wrap="square" rtlCol="0" anchor="ctr" anchorCtr="0">
            <a:noAutofit/>
          </a:bodyPr>
          <a:lstStyle/>
          <a:p>
            <a:pPr algn="ctr">
              <a:lnSpc>
                <a:spcPts val="1800"/>
              </a:lnSpc>
              <a:spcBef>
                <a:spcPts val="450"/>
              </a:spcBef>
            </a:pPr>
            <a:r>
              <a:rPr lang="en-CA" b="1" dirty="0">
                <a:solidFill>
                  <a:srgbClr val="000000"/>
                </a:solidFill>
              </a:rPr>
              <a:t>No sanity checks! </a:t>
            </a:r>
            <a:r>
              <a:rPr lang="en-CA" dirty="0">
                <a:solidFill>
                  <a:srgbClr val="000000"/>
                </a:solidFill>
              </a:rPr>
              <a:t>Value may be out-of-bound or invalid, which can cause crashes or garbage output</a:t>
            </a:r>
          </a:p>
        </p:txBody>
      </p:sp>
    </p:spTree>
    <p:extLst>
      <p:ext uri="{BB962C8B-B14F-4D97-AF65-F5344CB8AC3E}">
        <p14:creationId xmlns:p14="http://schemas.microsoft.com/office/powerpoint/2010/main" val="40878454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CA" smtClean="0"/>
              <a:t>Application Using Spiffy Library</a:t>
            </a:r>
            <a:endParaRPr lang="en-CA" dirty="0"/>
          </a:p>
        </p:txBody>
      </p:sp>
      <p:sp>
        <p:nvSpPr>
          <p:cNvPr id="11" name="Content Placeholder 6"/>
          <p:cNvSpPr txBox="1">
            <a:spLocks/>
          </p:cNvSpPr>
          <p:nvPr/>
        </p:nvSpPr>
        <p:spPr>
          <a:xfrm>
            <a:off x="513159" y="895350"/>
            <a:ext cx="7714348" cy="3209039"/>
          </a:xfrm>
          <a:prstGeom prst="rect">
            <a:avLst/>
          </a:prstGeom>
        </p:spPr>
        <p:txBody>
          <a:bodyPr vert="horz" lIns="68580" tIns="34290" rIns="68580" bIns="3429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r>
              <a:rPr lang="en-CA" sz="1500" dirty="0" err="1">
                <a:solidFill>
                  <a:srgbClr val="000000"/>
                </a:solidFill>
                <a:latin typeface="Courier New" panose="02070309020205020404" pitchFamily="49" charset="0"/>
                <a:cs typeface="Courier New" panose="02070309020205020404" pitchFamily="49" charset="0"/>
              </a:rPr>
              <a:t>int</a:t>
            </a:r>
            <a:r>
              <a:rPr lang="en-CA" sz="1500" dirty="0">
                <a:solidFill>
                  <a:srgbClr val="000000"/>
                </a:solidFill>
                <a:latin typeface="Courier New" panose="02070309020205020404" pitchFamily="49" charset="0"/>
                <a:cs typeface="Courier New" panose="02070309020205020404" pitchFamily="49" charset="0"/>
              </a:rPr>
              <a:t> </a:t>
            </a:r>
            <a:r>
              <a:rPr lang="en-CA" sz="1500" b="1" dirty="0">
                <a:solidFill>
                  <a:srgbClr val="000000"/>
                </a:solidFill>
                <a:latin typeface="Courier New" panose="02070309020205020404" pitchFamily="49" charset="0"/>
                <a:cs typeface="Courier New" panose="02070309020205020404" pitchFamily="49" charset="0"/>
              </a:rPr>
              <a:t>process_ext4</a:t>
            </a:r>
            <a:r>
              <a:rPr lang="en-CA" sz="1500" dirty="0">
                <a:solidFill>
                  <a:srgbClr val="000000"/>
                </a:solidFill>
                <a:latin typeface="Courier New" panose="02070309020205020404" pitchFamily="49" charset="0"/>
                <a:cs typeface="Courier New" panose="02070309020205020404" pitchFamily="49" charset="0"/>
              </a:rPr>
              <a:t>(vector&lt;Extent&gt; &amp; </a:t>
            </a:r>
            <a:r>
              <a:rPr lang="en-CA" sz="1500" dirty="0" err="1">
                <a:solidFill>
                  <a:srgbClr val="000000"/>
                </a:solidFill>
                <a:latin typeface="Courier New" panose="02070309020205020404" pitchFamily="49" charset="0"/>
                <a:cs typeface="Courier New" panose="02070309020205020404" pitchFamily="49" charset="0"/>
              </a:rPr>
              <a:t>vec</a:t>
            </a:r>
            <a:r>
              <a:rPr lang="en-CA" sz="1500" dirty="0">
                <a:solidFill>
                  <a:srgbClr val="000000"/>
                </a:solidFill>
                <a:latin typeface="Courier New" panose="02070309020205020404" pitchFamily="49" charset="0"/>
                <a:cs typeface="Courier New" panose="02070309020205020404" pitchFamily="49" charset="0"/>
              </a:rPr>
              <a:t>, Device &amp; dev)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1:  Ext4 ext4(dev);</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2:  /* read super block into memory */</a:t>
            </a:r>
          </a:p>
          <a:p>
            <a:pPr marL="0" indent="0">
              <a:spcBef>
                <a:spcPts val="0"/>
              </a:spcBef>
              <a:spcAft>
                <a:spcPts val="0"/>
              </a:spcAft>
              <a:buNone/>
            </a:pPr>
            <a:r>
              <a:rPr lang="en-CA" sz="1500" b="1" dirty="0">
                <a:solidFill>
                  <a:srgbClr val="000000"/>
                </a:solidFill>
                <a:latin typeface="Courier New" panose="02070309020205020404" pitchFamily="49" charset="0"/>
                <a:cs typeface="Courier New" panose="02070309020205020404" pitchFamily="49" charset="0"/>
              </a:rPr>
              <a:t>3:  Ext4::</a:t>
            </a:r>
            <a:r>
              <a:rPr lang="en-CA" sz="1500" b="1" dirty="0" err="1">
                <a:solidFill>
                  <a:srgbClr val="000000"/>
                </a:solidFill>
                <a:latin typeface="Courier New" panose="02070309020205020404" pitchFamily="49" charset="0"/>
                <a:cs typeface="Courier New" panose="02070309020205020404" pitchFamily="49" charset="0"/>
              </a:rPr>
              <a:t>SuperBlock</a:t>
            </a:r>
            <a:r>
              <a:rPr lang="en-CA" sz="1500" b="1" dirty="0">
                <a:solidFill>
                  <a:srgbClr val="000000"/>
                </a:solidFill>
                <a:latin typeface="Courier New" panose="02070309020205020404" pitchFamily="49" charset="0"/>
                <a:cs typeface="Courier New" panose="02070309020205020404" pitchFamily="49" charset="0"/>
              </a:rPr>
              <a:t> * </a:t>
            </a:r>
            <a:r>
              <a:rPr lang="en-CA" sz="1500" b="1" dirty="0" err="1">
                <a:solidFill>
                  <a:srgbClr val="000000"/>
                </a:solidFill>
                <a:latin typeface="Courier New" panose="02070309020205020404" pitchFamily="49" charset="0"/>
                <a:cs typeface="Courier New" panose="02070309020205020404" pitchFamily="49" charset="0"/>
              </a:rPr>
              <a:t>sb</a:t>
            </a:r>
            <a:r>
              <a:rPr lang="en-CA" sz="1500" b="1" dirty="0">
                <a:solidFill>
                  <a:srgbClr val="000000"/>
                </a:solidFill>
                <a:latin typeface="Courier New" panose="02070309020205020404" pitchFamily="49" charset="0"/>
                <a:cs typeface="Courier New" panose="02070309020205020404" pitchFamily="49" charset="0"/>
              </a:rPr>
              <a:t> = ext4.fetch_super();</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4:  if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 == </a:t>
            </a:r>
            <a:r>
              <a:rPr lang="en-CA" sz="1500" dirty="0" err="1">
                <a:solidFill>
                  <a:srgbClr val="000000"/>
                </a:solidFill>
                <a:latin typeface="Courier New" panose="02070309020205020404" pitchFamily="49" charset="0"/>
                <a:cs typeface="Courier New" panose="02070309020205020404" pitchFamily="49" charset="0"/>
              </a:rPr>
              <a:t>nullptr</a:t>
            </a:r>
            <a:r>
              <a:rPr lang="en-CA" sz="1500" dirty="0">
                <a:solidFill>
                  <a:srgbClr val="000000"/>
                </a:solidFill>
                <a:latin typeface="Courier New" panose="02070309020205020404" pitchFamily="49" charset="0"/>
                <a:cs typeface="Courier New" panose="02070309020205020404" pitchFamily="49" charset="0"/>
              </a:rPr>
              <a:t>) return -1;</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5:  </a:t>
            </a:r>
            <a:r>
              <a:rPr lang="en-CA" sz="1500" dirty="0" err="1">
                <a:solidFill>
                  <a:srgbClr val="000000"/>
                </a:solidFill>
                <a:latin typeface="Courier New" panose="02070309020205020404" pitchFamily="49" charset="0"/>
                <a:cs typeface="Courier New" panose="02070309020205020404" pitchFamily="49" charset="0"/>
              </a:rPr>
              <a:t>dev.set_block_size</a:t>
            </a:r>
            <a:r>
              <a:rPr lang="en-CA" sz="1500" dirty="0">
                <a:solidFill>
                  <a:srgbClr val="000000"/>
                </a:solidFill>
                <a:latin typeface="Courier New" panose="02070309020205020404" pitchFamily="49" charset="0"/>
                <a:cs typeface="Courier New" panose="02070309020205020404" pitchFamily="49" charset="0"/>
              </a:rPr>
              <a:t>(1024 &lt;&lt;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-&gt;</a:t>
            </a:r>
            <a:r>
              <a:rPr lang="en-CA" sz="1500" dirty="0" err="1">
                <a:solidFill>
                  <a:srgbClr val="000000"/>
                </a:solidFill>
                <a:latin typeface="Courier New" panose="02070309020205020404" pitchFamily="49" charset="0"/>
                <a:cs typeface="Courier New" panose="02070309020205020404" pitchFamily="49" charset="0"/>
              </a:rPr>
              <a:t>s_log_block_size</a:t>
            </a:r>
            <a:r>
              <a:rPr lang="en-CA" sz="1500" dirty="0">
                <a:solidFill>
                  <a:srgbClr val="000000"/>
                </a:solidFill>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6:  /* traverse file system and find/process all block bitmaps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7:  return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-&gt;</a:t>
            </a:r>
            <a:r>
              <a:rPr lang="en-CA" sz="1500" dirty="0" err="1">
                <a:solidFill>
                  <a:srgbClr val="000000"/>
                </a:solidFill>
                <a:latin typeface="Courier New" panose="02070309020205020404" pitchFamily="49" charset="0"/>
                <a:cs typeface="Courier New" panose="02070309020205020404" pitchFamily="49" charset="0"/>
              </a:rPr>
              <a:t>process_by_type</a:t>
            </a:r>
            <a:r>
              <a:rPr lang="en-CA" sz="1500" dirty="0">
                <a:solidFill>
                  <a:srgbClr val="000000"/>
                </a:solidFill>
                <a:latin typeface="Courier New" panose="02070309020205020404" pitchFamily="49" charset="0"/>
                <a:cs typeface="Courier New" panose="02070309020205020404" pitchFamily="49" charset="0"/>
              </a:rPr>
              <a:t>(BLOCK_BITMAP, </a:t>
            </a:r>
            <a:br>
              <a:rPr lang="en-CA" sz="1500" dirty="0">
                <a:solidFill>
                  <a:srgbClr val="000000"/>
                </a:solidFill>
                <a:latin typeface="Courier New" panose="02070309020205020404" pitchFamily="49" charset="0"/>
                <a:cs typeface="Courier New" panose="02070309020205020404" pitchFamily="49" charset="0"/>
              </a:rPr>
            </a:br>
            <a:r>
              <a:rPr lang="en-CA" sz="1500" dirty="0">
                <a:solidFill>
                  <a:srgbClr val="000000"/>
                </a:solidFill>
                <a:latin typeface="Courier New" panose="02070309020205020404" pitchFamily="49" charset="0"/>
                <a:cs typeface="Courier New" panose="02070309020205020404" pitchFamily="49" charset="0"/>
              </a:rPr>
              <a:t>                               </a:t>
            </a:r>
            <a:r>
              <a:rPr lang="en-CA" sz="1500" dirty="0" err="1">
                <a:solidFill>
                  <a:srgbClr val="000000"/>
                </a:solidFill>
                <a:latin typeface="Courier New" panose="02070309020205020404" pitchFamily="49" charset="0"/>
                <a:cs typeface="Courier New" panose="02070309020205020404" pitchFamily="49" charset="0"/>
              </a:rPr>
              <a:t>process_block_bitmap</a:t>
            </a:r>
            <a:r>
              <a:rPr lang="en-CA" sz="1500" dirty="0">
                <a:solidFill>
                  <a:srgbClr val="000000"/>
                </a:solidFill>
                <a:latin typeface="Courier New" panose="02070309020205020404" pitchFamily="49" charset="0"/>
                <a:cs typeface="Courier New" panose="02070309020205020404" pitchFamily="49" charset="0"/>
              </a:rPr>
              <a:t>, </a:t>
            </a:r>
            <a:r>
              <a:rPr lang="en-CA" sz="1500" dirty="0" smtClean="0">
                <a:solidFill>
                  <a:srgbClr val="000000"/>
                </a:solidFill>
                <a:latin typeface="Courier New" panose="02070309020205020404" pitchFamily="49" charset="0"/>
                <a:cs typeface="Courier New" panose="02070309020205020404" pitchFamily="49" charset="0"/>
              </a:rPr>
              <a:t>&amp;</a:t>
            </a:r>
            <a:r>
              <a:rPr lang="en-CA" sz="1500" dirty="0" err="1" smtClean="0">
                <a:solidFill>
                  <a:srgbClr val="000000"/>
                </a:solidFill>
                <a:latin typeface="Courier New" panose="02070309020205020404" pitchFamily="49" charset="0"/>
                <a:cs typeface="Courier New" panose="02070309020205020404" pitchFamily="49" charset="0"/>
              </a:rPr>
              <a:t>vec</a:t>
            </a:r>
            <a:r>
              <a:rPr lang="en-CA" sz="1500" dirty="0">
                <a:solidFill>
                  <a:srgbClr val="000000"/>
                </a:solidFill>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p>
        </p:txBody>
      </p:sp>
      <p:sp>
        <p:nvSpPr>
          <p:cNvPr id="7" name="TextBox 6"/>
          <p:cNvSpPr txBox="1"/>
          <p:nvPr/>
        </p:nvSpPr>
        <p:spPr>
          <a:xfrm>
            <a:off x="6496361" y="1311849"/>
            <a:ext cx="1809439" cy="784830"/>
          </a:xfrm>
          <a:prstGeom prst="rect">
            <a:avLst/>
          </a:prstGeom>
          <a:solidFill>
            <a:srgbClr val="FFFF00"/>
          </a:solidFill>
          <a:ln w="12700">
            <a:solidFill>
              <a:schemeClr val="bg1"/>
            </a:solidFill>
            <a:prstDash val="solid"/>
          </a:ln>
        </p:spPr>
        <p:txBody>
          <a:bodyPr wrap="square" rtlCol="0">
            <a:spAutoFit/>
          </a:bodyPr>
          <a:lstStyle/>
          <a:p>
            <a:pPr algn="ctr">
              <a:lnSpc>
                <a:spcPts val="1800"/>
              </a:lnSpc>
              <a:spcBef>
                <a:spcPts val="450"/>
              </a:spcBef>
            </a:pPr>
            <a:r>
              <a:rPr lang="en-CA" dirty="0" smtClean="0">
                <a:solidFill>
                  <a:srgbClr val="000000"/>
                </a:solidFill>
              </a:rPr>
              <a:t>Returns </a:t>
            </a:r>
            <a:r>
              <a:rPr lang="en-CA" i="1" dirty="0" err="1">
                <a:solidFill>
                  <a:srgbClr val="000000"/>
                </a:solidFill>
              </a:rPr>
              <a:t>nullptr</a:t>
            </a:r>
            <a:r>
              <a:rPr lang="en-CA" i="1" dirty="0">
                <a:solidFill>
                  <a:srgbClr val="000000"/>
                </a:solidFill>
              </a:rPr>
              <a:t/>
            </a:r>
            <a:br>
              <a:rPr lang="en-CA" i="1" dirty="0">
                <a:solidFill>
                  <a:srgbClr val="000000"/>
                </a:solidFill>
              </a:rPr>
            </a:br>
            <a:r>
              <a:rPr lang="en-CA" dirty="0">
                <a:solidFill>
                  <a:srgbClr val="000000"/>
                </a:solidFill>
              </a:rPr>
              <a:t>if super block</a:t>
            </a:r>
            <a:br>
              <a:rPr lang="en-CA" dirty="0">
                <a:solidFill>
                  <a:srgbClr val="000000"/>
                </a:solidFill>
              </a:rPr>
            </a:br>
            <a:r>
              <a:rPr lang="en-CA" dirty="0">
                <a:solidFill>
                  <a:srgbClr val="000000"/>
                </a:solidFill>
              </a:rPr>
              <a:t> is corrupted</a:t>
            </a:r>
          </a:p>
        </p:txBody>
      </p:sp>
      <p:cxnSp>
        <p:nvCxnSpPr>
          <p:cNvPr id="8" name="Straight Arrow Connector 7"/>
          <p:cNvCxnSpPr>
            <a:stCxn id="7" idx="1"/>
          </p:cNvCxnSpPr>
          <p:nvPr/>
        </p:nvCxnSpPr>
        <p:spPr>
          <a:xfrm flipH="1">
            <a:off x="6019801" y="1704264"/>
            <a:ext cx="476560" cy="22809"/>
          </a:xfrm>
          <a:prstGeom prst="straightConnector1">
            <a:avLst/>
          </a:prstGeom>
          <a:ln w="38100">
            <a:solidFill>
              <a:srgbClr val="000000">
                <a:alpha val="70000"/>
              </a:srgb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0696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6"/>
          <p:cNvSpPr txBox="1">
            <a:spLocks/>
          </p:cNvSpPr>
          <p:nvPr/>
        </p:nvSpPr>
        <p:spPr>
          <a:xfrm>
            <a:off x="513159" y="895350"/>
            <a:ext cx="7714348" cy="3209039"/>
          </a:xfrm>
          <a:prstGeom prst="rect">
            <a:avLst/>
          </a:prstGeom>
        </p:spPr>
        <p:txBody>
          <a:bodyPr vert="horz" lIns="68580" tIns="34290" rIns="68580" bIns="3429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r>
              <a:rPr lang="en-CA" sz="1500" dirty="0" err="1">
                <a:solidFill>
                  <a:srgbClr val="000000"/>
                </a:solidFill>
                <a:latin typeface="Courier New" panose="02070309020205020404" pitchFamily="49" charset="0"/>
                <a:cs typeface="Courier New" panose="02070309020205020404" pitchFamily="49" charset="0"/>
              </a:rPr>
              <a:t>int</a:t>
            </a:r>
            <a:r>
              <a:rPr lang="en-CA" sz="1500" dirty="0">
                <a:solidFill>
                  <a:srgbClr val="000000"/>
                </a:solidFill>
                <a:latin typeface="Courier New" panose="02070309020205020404" pitchFamily="49" charset="0"/>
                <a:cs typeface="Courier New" panose="02070309020205020404" pitchFamily="49" charset="0"/>
              </a:rPr>
              <a:t> </a:t>
            </a:r>
            <a:r>
              <a:rPr lang="en-CA" sz="1500" b="1" dirty="0">
                <a:solidFill>
                  <a:srgbClr val="000000"/>
                </a:solidFill>
                <a:latin typeface="Courier New" panose="02070309020205020404" pitchFamily="49" charset="0"/>
                <a:cs typeface="Courier New" panose="02070309020205020404" pitchFamily="49" charset="0"/>
              </a:rPr>
              <a:t>process_ext4</a:t>
            </a:r>
            <a:r>
              <a:rPr lang="en-CA" sz="1500" dirty="0">
                <a:solidFill>
                  <a:srgbClr val="000000"/>
                </a:solidFill>
                <a:latin typeface="Courier New" panose="02070309020205020404" pitchFamily="49" charset="0"/>
                <a:cs typeface="Courier New" panose="02070309020205020404" pitchFamily="49" charset="0"/>
              </a:rPr>
              <a:t>(vector&lt;Extent&gt; &amp; </a:t>
            </a:r>
            <a:r>
              <a:rPr lang="en-CA" sz="1500" dirty="0" err="1">
                <a:solidFill>
                  <a:srgbClr val="000000"/>
                </a:solidFill>
                <a:latin typeface="Courier New" panose="02070309020205020404" pitchFamily="49" charset="0"/>
                <a:cs typeface="Courier New" panose="02070309020205020404" pitchFamily="49" charset="0"/>
              </a:rPr>
              <a:t>vec</a:t>
            </a:r>
            <a:r>
              <a:rPr lang="en-CA" sz="1500" dirty="0">
                <a:solidFill>
                  <a:srgbClr val="000000"/>
                </a:solidFill>
                <a:latin typeface="Courier New" panose="02070309020205020404" pitchFamily="49" charset="0"/>
                <a:cs typeface="Courier New" panose="02070309020205020404" pitchFamily="49" charset="0"/>
              </a:rPr>
              <a:t>, Device &amp; dev)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1:  Ext4 ext4(dev);</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2:  /* read super block into memory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3:  Ext4::</a:t>
            </a:r>
            <a:r>
              <a:rPr lang="en-CA" sz="1500" dirty="0" err="1">
                <a:solidFill>
                  <a:srgbClr val="000000"/>
                </a:solidFill>
                <a:latin typeface="Courier New" panose="02070309020205020404" pitchFamily="49" charset="0"/>
                <a:cs typeface="Courier New" panose="02070309020205020404" pitchFamily="49" charset="0"/>
              </a:rPr>
              <a:t>SuperBlock</a:t>
            </a:r>
            <a:r>
              <a:rPr lang="en-CA" sz="1500" dirty="0">
                <a:solidFill>
                  <a:srgbClr val="000000"/>
                </a:solidFill>
                <a:latin typeface="Courier New" panose="02070309020205020404" pitchFamily="49" charset="0"/>
                <a:cs typeface="Courier New" panose="02070309020205020404" pitchFamily="49" charset="0"/>
              </a:rPr>
              <a:t> *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 = ext4.fetch_super();</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4:  if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 == </a:t>
            </a:r>
            <a:r>
              <a:rPr lang="en-CA" sz="1500" dirty="0" err="1">
                <a:solidFill>
                  <a:srgbClr val="000000"/>
                </a:solidFill>
                <a:latin typeface="Courier New" panose="02070309020205020404" pitchFamily="49" charset="0"/>
                <a:cs typeface="Courier New" panose="02070309020205020404" pitchFamily="49" charset="0"/>
              </a:rPr>
              <a:t>nullptr</a:t>
            </a:r>
            <a:r>
              <a:rPr lang="en-CA" sz="1500" dirty="0">
                <a:solidFill>
                  <a:srgbClr val="000000"/>
                </a:solidFill>
                <a:latin typeface="Courier New" panose="02070309020205020404" pitchFamily="49" charset="0"/>
                <a:cs typeface="Courier New" panose="02070309020205020404" pitchFamily="49" charset="0"/>
              </a:rPr>
              <a:t>) return -1;</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5:  </a:t>
            </a:r>
            <a:r>
              <a:rPr lang="en-CA" sz="1500" dirty="0" err="1">
                <a:solidFill>
                  <a:srgbClr val="000000"/>
                </a:solidFill>
                <a:latin typeface="Courier New" panose="02070309020205020404" pitchFamily="49" charset="0"/>
                <a:cs typeface="Courier New" panose="02070309020205020404" pitchFamily="49" charset="0"/>
              </a:rPr>
              <a:t>dev.set_block_size</a:t>
            </a:r>
            <a:r>
              <a:rPr lang="en-CA" sz="1500" dirty="0">
                <a:solidFill>
                  <a:srgbClr val="000000"/>
                </a:solidFill>
                <a:latin typeface="Courier New" panose="02070309020205020404" pitchFamily="49" charset="0"/>
                <a:cs typeface="Courier New" panose="02070309020205020404" pitchFamily="49" charset="0"/>
              </a:rPr>
              <a:t>(1024 &lt;&lt;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-&gt;</a:t>
            </a:r>
            <a:r>
              <a:rPr lang="en-CA" sz="1500" dirty="0" err="1">
                <a:solidFill>
                  <a:srgbClr val="000000"/>
                </a:solidFill>
                <a:latin typeface="Courier New" panose="02070309020205020404" pitchFamily="49" charset="0"/>
                <a:cs typeface="Courier New" panose="02070309020205020404" pitchFamily="49" charset="0"/>
              </a:rPr>
              <a:t>s_log_block_size</a:t>
            </a:r>
            <a:r>
              <a:rPr lang="en-CA" sz="1500" dirty="0">
                <a:solidFill>
                  <a:srgbClr val="000000"/>
                </a:solidFill>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6:  /* traverse file system and find/process all block bitmaps */</a:t>
            </a:r>
          </a:p>
          <a:p>
            <a:pPr marL="0" indent="0">
              <a:spcBef>
                <a:spcPts val="0"/>
              </a:spcBef>
              <a:spcAft>
                <a:spcPts val="0"/>
              </a:spcAft>
              <a:buNone/>
            </a:pPr>
            <a:r>
              <a:rPr lang="en-CA" sz="1500" b="1" dirty="0">
                <a:solidFill>
                  <a:srgbClr val="000000"/>
                </a:solidFill>
                <a:latin typeface="Courier New" panose="02070309020205020404" pitchFamily="49" charset="0"/>
                <a:cs typeface="Courier New" panose="02070309020205020404" pitchFamily="49" charset="0"/>
              </a:rPr>
              <a:t>7:  return </a:t>
            </a:r>
            <a:r>
              <a:rPr lang="en-CA" sz="1500" b="1" dirty="0" err="1">
                <a:solidFill>
                  <a:srgbClr val="000000"/>
                </a:solidFill>
                <a:latin typeface="Courier New" panose="02070309020205020404" pitchFamily="49" charset="0"/>
                <a:cs typeface="Courier New" panose="02070309020205020404" pitchFamily="49" charset="0"/>
              </a:rPr>
              <a:t>sb</a:t>
            </a:r>
            <a:r>
              <a:rPr lang="en-CA" sz="1500" b="1" dirty="0">
                <a:solidFill>
                  <a:srgbClr val="000000"/>
                </a:solidFill>
                <a:latin typeface="Courier New" panose="02070309020205020404" pitchFamily="49" charset="0"/>
                <a:cs typeface="Courier New" panose="02070309020205020404" pitchFamily="49" charset="0"/>
              </a:rPr>
              <a:t>-&gt;</a:t>
            </a:r>
            <a:r>
              <a:rPr lang="en-CA" sz="1500" b="1" dirty="0" err="1">
                <a:solidFill>
                  <a:srgbClr val="000000"/>
                </a:solidFill>
                <a:latin typeface="Courier New" panose="02070309020205020404" pitchFamily="49" charset="0"/>
                <a:cs typeface="Courier New" panose="02070309020205020404" pitchFamily="49" charset="0"/>
              </a:rPr>
              <a:t>process_by_type</a:t>
            </a:r>
            <a:r>
              <a:rPr lang="en-CA" sz="1500" b="1" dirty="0">
                <a:solidFill>
                  <a:srgbClr val="000000"/>
                </a:solidFill>
                <a:latin typeface="Courier New" panose="02070309020205020404" pitchFamily="49" charset="0"/>
                <a:cs typeface="Courier New" panose="02070309020205020404" pitchFamily="49" charset="0"/>
              </a:rPr>
              <a:t>(BLOCK_BITMAP, </a:t>
            </a:r>
            <a:br>
              <a:rPr lang="en-CA" sz="1500" b="1" dirty="0">
                <a:solidFill>
                  <a:srgbClr val="000000"/>
                </a:solidFill>
                <a:latin typeface="Courier New" panose="02070309020205020404" pitchFamily="49" charset="0"/>
                <a:cs typeface="Courier New" panose="02070309020205020404" pitchFamily="49" charset="0"/>
              </a:rPr>
            </a:br>
            <a:r>
              <a:rPr lang="en-CA" sz="1500" b="1" dirty="0">
                <a:solidFill>
                  <a:srgbClr val="000000"/>
                </a:solidFill>
                <a:latin typeface="Courier New" panose="02070309020205020404" pitchFamily="49" charset="0"/>
                <a:cs typeface="Courier New" panose="02070309020205020404" pitchFamily="49" charset="0"/>
              </a:rPr>
              <a:t>                               </a:t>
            </a:r>
            <a:r>
              <a:rPr lang="en-CA" sz="1500" b="1" dirty="0" err="1">
                <a:solidFill>
                  <a:srgbClr val="000000"/>
                </a:solidFill>
                <a:latin typeface="Courier New" panose="02070309020205020404" pitchFamily="49" charset="0"/>
                <a:cs typeface="Courier New" panose="02070309020205020404" pitchFamily="49" charset="0"/>
              </a:rPr>
              <a:t>process_block_bitmap</a:t>
            </a:r>
            <a:r>
              <a:rPr lang="en-CA" sz="1500" b="1" dirty="0">
                <a:solidFill>
                  <a:srgbClr val="000000"/>
                </a:solidFill>
                <a:latin typeface="Courier New" panose="02070309020205020404" pitchFamily="49" charset="0"/>
                <a:cs typeface="Courier New" panose="02070309020205020404" pitchFamily="49" charset="0"/>
              </a:rPr>
              <a:t>, &amp;</a:t>
            </a:r>
            <a:r>
              <a:rPr lang="en-CA" sz="1500" b="1" dirty="0" err="1">
                <a:solidFill>
                  <a:srgbClr val="000000"/>
                </a:solidFill>
                <a:latin typeface="Courier New" panose="02070309020205020404" pitchFamily="49" charset="0"/>
                <a:cs typeface="Courier New" panose="02070309020205020404" pitchFamily="49" charset="0"/>
              </a:rPr>
              <a:t>vec</a:t>
            </a:r>
            <a:r>
              <a:rPr lang="en-CA" sz="1500" b="1" dirty="0">
                <a:solidFill>
                  <a:srgbClr val="000000"/>
                </a:solidFill>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p>
        </p:txBody>
      </p:sp>
      <p:sp>
        <p:nvSpPr>
          <p:cNvPr id="5" name="Title 4"/>
          <p:cNvSpPr>
            <a:spLocks noGrp="1"/>
          </p:cNvSpPr>
          <p:nvPr>
            <p:ph type="title"/>
          </p:nvPr>
        </p:nvSpPr>
        <p:spPr/>
        <p:txBody>
          <a:bodyPr/>
          <a:lstStyle/>
          <a:p>
            <a:r>
              <a:rPr lang="en-CA" smtClean="0"/>
              <a:t>Application Using Spiffy Library</a:t>
            </a:r>
            <a:endParaRPr lang="en-CA" dirty="0"/>
          </a:p>
        </p:txBody>
      </p:sp>
      <p:cxnSp>
        <p:nvCxnSpPr>
          <p:cNvPr id="14" name="Straight Arrow Connector 13"/>
          <p:cNvCxnSpPr/>
          <p:nvPr/>
        </p:nvCxnSpPr>
        <p:spPr>
          <a:xfrm flipV="1">
            <a:off x="4572000" y="3060573"/>
            <a:ext cx="0" cy="342899"/>
          </a:xfrm>
          <a:prstGeom prst="straightConnector1">
            <a:avLst/>
          </a:prstGeom>
          <a:ln w="63500">
            <a:solidFill>
              <a:schemeClr val="bg1">
                <a:alpha val="7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810000" y="3402154"/>
            <a:ext cx="1809439" cy="503469"/>
          </a:xfrm>
          <a:prstGeom prst="rect">
            <a:avLst/>
          </a:prstGeom>
          <a:solidFill>
            <a:srgbClr val="FFFF00"/>
          </a:solidFill>
          <a:ln w="12700">
            <a:solidFill>
              <a:schemeClr val="bg1"/>
            </a:solidFill>
            <a:prstDash val="solid"/>
          </a:ln>
        </p:spPr>
        <p:txBody>
          <a:bodyPr wrap="square" tIns="180000" bIns="90000" rtlCol="0" anchor="ctr" anchorCtr="0">
            <a:spAutoFit/>
          </a:bodyPr>
          <a:lstStyle/>
          <a:p>
            <a:pPr algn="ctr">
              <a:lnSpc>
                <a:spcPts val="1800"/>
              </a:lnSpc>
              <a:spcBef>
                <a:spcPts val="450"/>
              </a:spcBef>
            </a:pPr>
            <a:r>
              <a:rPr lang="en-CA" sz="2400" b="1" dirty="0" smtClean="0">
                <a:solidFill>
                  <a:srgbClr val="000000"/>
                </a:solidFill>
              </a:rPr>
              <a:t>THAT’S IT</a:t>
            </a:r>
            <a:endParaRPr lang="en-CA" sz="2400" b="1" dirty="0">
              <a:solidFill>
                <a:srgbClr val="000000"/>
              </a:solidFill>
            </a:endParaRPr>
          </a:p>
        </p:txBody>
      </p:sp>
    </p:spTree>
    <p:extLst>
      <p:ext uri="{BB962C8B-B14F-4D97-AF65-F5344CB8AC3E}">
        <p14:creationId xmlns:p14="http://schemas.microsoft.com/office/powerpoint/2010/main" val="241550057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6"/>
          <p:cNvSpPr txBox="1">
            <a:spLocks/>
          </p:cNvSpPr>
          <p:nvPr/>
        </p:nvSpPr>
        <p:spPr>
          <a:xfrm>
            <a:off x="513159" y="895350"/>
            <a:ext cx="7714348" cy="2362200"/>
          </a:xfrm>
          <a:prstGeom prst="rect">
            <a:avLst/>
          </a:prstGeom>
        </p:spPr>
        <p:txBody>
          <a:bodyPr vert="horz" lIns="68580" tIns="34290" rIns="68580" bIns="3429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r>
              <a:rPr lang="en-CA" sz="1500" dirty="0" err="1">
                <a:solidFill>
                  <a:srgbClr val="000000"/>
                </a:solidFill>
                <a:latin typeface="Courier New" panose="02070309020205020404" pitchFamily="49" charset="0"/>
                <a:cs typeface="Courier New" panose="02070309020205020404" pitchFamily="49" charset="0"/>
              </a:rPr>
              <a:t>int</a:t>
            </a:r>
            <a:r>
              <a:rPr lang="en-CA" sz="1500" dirty="0">
                <a:solidFill>
                  <a:srgbClr val="000000"/>
                </a:solidFill>
                <a:latin typeface="Courier New" panose="02070309020205020404" pitchFamily="49" charset="0"/>
                <a:cs typeface="Courier New" panose="02070309020205020404" pitchFamily="49" charset="0"/>
              </a:rPr>
              <a:t> </a:t>
            </a:r>
            <a:r>
              <a:rPr lang="en-CA" sz="1500" b="1" dirty="0">
                <a:solidFill>
                  <a:srgbClr val="000000"/>
                </a:solidFill>
                <a:latin typeface="Courier New" panose="02070309020205020404" pitchFamily="49" charset="0"/>
                <a:cs typeface="Courier New" panose="02070309020205020404" pitchFamily="49" charset="0"/>
              </a:rPr>
              <a:t>process_ext4</a:t>
            </a:r>
            <a:r>
              <a:rPr lang="en-CA" sz="1500" dirty="0">
                <a:solidFill>
                  <a:srgbClr val="000000"/>
                </a:solidFill>
                <a:latin typeface="Courier New" panose="02070309020205020404" pitchFamily="49" charset="0"/>
                <a:cs typeface="Courier New" panose="02070309020205020404" pitchFamily="49" charset="0"/>
              </a:rPr>
              <a:t>(vector&lt;Extent&gt; &amp; </a:t>
            </a:r>
            <a:r>
              <a:rPr lang="en-CA" sz="1500" dirty="0" err="1">
                <a:solidFill>
                  <a:srgbClr val="000000"/>
                </a:solidFill>
                <a:latin typeface="Courier New" panose="02070309020205020404" pitchFamily="49" charset="0"/>
                <a:cs typeface="Courier New" panose="02070309020205020404" pitchFamily="49" charset="0"/>
              </a:rPr>
              <a:t>vec</a:t>
            </a:r>
            <a:r>
              <a:rPr lang="en-CA" sz="1500" dirty="0">
                <a:solidFill>
                  <a:srgbClr val="000000"/>
                </a:solidFill>
                <a:latin typeface="Courier New" panose="02070309020205020404" pitchFamily="49" charset="0"/>
                <a:cs typeface="Courier New" panose="02070309020205020404" pitchFamily="49" charset="0"/>
              </a:rPr>
              <a:t>, Device &amp; dev)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1:  Ext4 ext4(dev);</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2:  /* read super block into memory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3:  Ext4::</a:t>
            </a:r>
            <a:r>
              <a:rPr lang="en-CA" sz="1500" dirty="0" err="1">
                <a:solidFill>
                  <a:srgbClr val="000000"/>
                </a:solidFill>
                <a:latin typeface="Courier New" panose="02070309020205020404" pitchFamily="49" charset="0"/>
                <a:cs typeface="Courier New" panose="02070309020205020404" pitchFamily="49" charset="0"/>
              </a:rPr>
              <a:t>SuperBlock</a:t>
            </a:r>
            <a:r>
              <a:rPr lang="en-CA" sz="1500" dirty="0">
                <a:solidFill>
                  <a:srgbClr val="000000"/>
                </a:solidFill>
                <a:latin typeface="Courier New" panose="02070309020205020404" pitchFamily="49" charset="0"/>
                <a:cs typeface="Courier New" panose="02070309020205020404" pitchFamily="49" charset="0"/>
              </a:rPr>
              <a:t> *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 = ext4.fetch_super();</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4:  if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 == </a:t>
            </a:r>
            <a:r>
              <a:rPr lang="en-CA" sz="1500" dirty="0" err="1">
                <a:solidFill>
                  <a:srgbClr val="000000"/>
                </a:solidFill>
                <a:latin typeface="Courier New" panose="02070309020205020404" pitchFamily="49" charset="0"/>
                <a:cs typeface="Courier New" panose="02070309020205020404" pitchFamily="49" charset="0"/>
              </a:rPr>
              <a:t>nullptr</a:t>
            </a:r>
            <a:r>
              <a:rPr lang="en-CA" sz="1500" dirty="0">
                <a:solidFill>
                  <a:srgbClr val="000000"/>
                </a:solidFill>
                <a:latin typeface="Courier New" panose="02070309020205020404" pitchFamily="49" charset="0"/>
                <a:cs typeface="Courier New" panose="02070309020205020404" pitchFamily="49" charset="0"/>
              </a:rPr>
              <a:t>) return -1;</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5:  </a:t>
            </a:r>
            <a:r>
              <a:rPr lang="en-CA" sz="1500" dirty="0" err="1">
                <a:solidFill>
                  <a:srgbClr val="000000"/>
                </a:solidFill>
                <a:latin typeface="Courier New" panose="02070309020205020404" pitchFamily="49" charset="0"/>
                <a:cs typeface="Courier New" panose="02070309020205020404" pitchFamily="49" charset="0"/>
              </a:rPr>
              <a:t>dev.set_block_size</a:t>
            </a:r>
            <a:r>
              <a:rPr lang="en-CA" sz="1500" dirty="0">
                <a:solidFill>
                  <a:srgbClr val="000000"/>
                </a:solidFill>
                <a:latin typeface="Courier New" panose="02070309020205020404" pitchFamily="49" charset="0"/>
                <a:cs typeface="Courier New" panose="02070309020205020404" pitchFamily="49" charset="0"/>
              </a:rPr>
              <a:t>(1024 &lt;&lt;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-&gt;</a:t>
            </a:r>
            <a:r>
              <a:rPr lang="en-CA" sz="1500" dirty="0" err="1">
                <a:solidFill>
                  <a:srgbClr val="000000"/>
                </a:solidFill>
                <a:latin typeface="Courier New" panose="02070309020205020404" pitchFamily="49" charset="0"/>
                <a:cs typeface="Courier New" panose="02070309020205020404" pitchFamily="49" charset="0"/>
              </a:rPr>
              <a:t>s_log_block_size</a:t>
            </a:r>
            <a:r>
              <a:rPr lang="en-CA" sz="1500" dirty="0">
                <a:solidFill>
                  <a:srgbClr val="000000"/>
                </a:solidFill>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6:  /* traverse file system and find/process all block bitmaps */</a:t>
            </a:r>
          </a:p>
          <a:p>
            <a:pPr marL="0" indent="0">
              <a:spcBef>
                <a:spcPts val="0"/>
              </a:spcBef>
              <a:spcAft>
                <a:spcPts val="0"/>
              </a:spcAft>
              <a:buNone/>
            </a:pPr>
            <a:r>
              <a:rPr lang="en-CA" sz="1500" b="1" dirty="0">
                <a:solidFill>
                  <a:srgbClr val="000000"/>
                </a:solidFill>
                <a:latin typeface="Courier New" panose="02070309020205020404" pitchFamily="49" charset="0"/>
                <a:cs typeface="Courier New" panose="02070309020205020404" pitchFamily="49" charset="0"/>
              </a:rPr>
              <a:t>7:  return </a:t>
            </a:r>
            <a:r>
              <a:rPr lang="en-CA" sz="1500" b="1" dirty="0" err="1">
                <a:solidFill>
                  <a:srgbClr val="000000"/>
                </a:solidFill>
                <a:latin typeface="Courier New" panose="02070309020205020404" pitchFamily="49" charset="0"/>
                <a:cs typeface="Courier New" panose="02070309020205020404" pitchFamily="49" charset="0"/>
              </a:rPr>
              <a:t>sb</a:t>
            </a:r>
            <a:r>
              <a:rPr lang="en-CA" sz="1500" b="1" dirty="0">
                <a:solidFill>
                  <a:srgbClr val="000000"/>
                </a:solidFill>
                <a:latin typeface="Courier New" panose="02070309020205020404" pitchFamily="49" charset="0"/>
                <a:cs typeface="Courier New" panose="02070309020205020404" pitchFamily="49" charset="0"/>
              </a:rPr>
              <a:t>-&gt;</a:t>
            </a:r>
            <a:r>
              <a:rPr lang="en-CA" sz="1500" b="1" dirty="0" err="1">
                <a:solidFill>
                  <a:srgbClr val="000000"/>
                </a:solidFill>
                <a:latin typeface="Courier New" panose="02070309020205020404" pitchFamily="49" charset="0"/>
                <a:cs typeface="Courier New" panose="02070309020205020404" pitchFamily="49" charset="0"/>
              </a:rPr>
              <a:t>process_by_type</a:t>
            </a:r>
            <a:r>
              <a:rPr lang="en-CA" sz="1500" b="1" dirty="0">
                <a:solidFill>
                  <a:srgbClr val="000000"/>
                </a:solidFill>
                <a:latin typeface="Courier New" panose="02070309020205020404" pitchFamily="49" charset="0"/>
                <a:cs typeface="Courier New" panose="02070309020205020404" pitchFamily="49" charset="0"/>
              </a:rPr>
              <a:t>(BLOCK_BITMAP, </a:t>
            </a:r>
            <a:br>
              <a:rPr lang="en-CA" sz="1500" b="1" dirty="0">
                <a:solidFill>
                  <a:srgbClr val="000000"/>
                </a:solidFill>
                <a:latin typeface="Courier New" panose="02070309020205020404" pitchFamily="49" charset="0"/>
                <a:cs typeface="Courier New" panose="02070309020205020404" pitchFamily="49" charset="0"/>
              </a:rPr>
            </a:br>
            <a:r>
              <a:rPr lang="en-CA" sz="1500" b="1" dirty="0">
                <a:solidFill>
                  <a:srgbClr val="000000"/>
                </a:solidFill>
                <a:latin typeface="Courier New" panose="02070309020205020404" pitchFamily="49" charset="0"/>
                <a:cs typeface="Courier New" panose="02070309020205020404" pitchFamily="49" charset="0"/>
              </a:rPr>
              <a:t>                               </a:t>
            </a:r>
            <a:r>
              <a:rPr lang="en-CA" sz="1500" b="1" dirty="0" err="1">
                <a:solidFill>
                  <a:srgbClr val="000000"/>
                </a:solidFill>
                <a:latin typeface="Courier New" panose="02070309020205020404" pitchFamily="49" charset="0"/>
                <a:cs typeface="Courier New" panose="02070309020205020404" pitchFamily="49" charset="0"/>
              </a:rPr>
              <a:t>process_block_bitmap</a:t>
            </a:r>
            <a:r>
              <a:rPr lang="en-CA" sz="1500" b="1" dirty="0">
                <a:solidFill>
                  <a:srgbClr val="000000"/>
                </a:solidFill>
                <a:latin typeface="Courier New" panose="02070309020205020404" pitchFamily="49" charset="0"/>
                <a:cs typeface="Courier New" panose="02070309020205020404" pitchFamily="49" charset="0"/>
              </a:rPr>
              <a:t>, &amp;</a:t>
            </a:r>
            <a:r>
              <a:rPr lang="en-CA" sz="1500" b="1" dirty="0" err="1">
                <a:solidFill>
                  <a:srgbClr val="000000"/>
                </a:solidFill>
                <a:latin typeface="Courier New" panose="02070309020205020404" pitchFamily="49" charset="0"/>
                <a:cs typeface="Courier New" panose="02070309020205020404" pitchFamily="49" charset="0"/>
              </a:rPr>
              <a:t>vec</a:t>
            </a:r>
            <a:r>
              <a:rPr lang="en-CA" sz="1500" b="1" dirty="0">
                <a:solidFill>
                  <a:srgbClr val="000000"/>
                </a:solidFill>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p>
        </p:txBody>
      </p:sp>
      <p:sp>
        <p:nvSpPr>
          <p:cNvPr id="5" name="Title 4"/>
          <p:cNvSpPr>
            <a:spLocks noGrp="1"/>
          </p:cNvSpPr>
          <p:nvPr>
            <p:ph type="title"/>
          </p:nvPr>
        </p:nvSpPr>
        <p:spPr/>
        <p:txBody>
          <a:bodyPr/>
          <a:lstStyle/>
          <a:p>
            <a:r>
              <a:rPr lang="en-CA" smtClean="0"/>
              <a:t>Application Using Spiffy Library</a:t>
            </a:r>
            <a:endParaRPr lang="en-CA" dirty="0"/>
          </a:p>
        </p:txBody>
      </p:sp>
      <p:sp>
        <p:nvSpPr>
          <p:cNvPr id="10" name="Content Placeholder 9"/>
          <p:cNvSpPr>
            <a:spLocks noGrp="1"/>
          </p:cNvSpPr>
          <p:nvPr>
            <p:ph idx="1"/>
          </p:nvPr>
        </p:nvSpPr>
        <p:spPr>
          <a:xfrm>
            <a:off x="152400" y="2876550"/>
            <a:ext cx="8839200" cy="1600200"/>
          </a:xfrm>
        </p:spPr>
        <p:txBody>
          <a:bodyPr/>
          <a:lstStyle/>
          <a:p>
            <a:pPr marL="1371600" lvl="3" indent="0">
              <a:buNone/>
            </a:pPr>
            <a:endParaRPr lang="en-CA" dirty="0" smtClean="0"/>
          </a:p>
          <a:p>
            <a:r>
              <a:rPr lang="en-CA" dirty="0" smtClean="0"/>
              <a:t>Advantages</a:t>
            </a:r>
          </a:p>
          <a:p>
            <a:pPr lvl="1"/>
            <a:r>
              <a:rPr lang="en-CA" sz="2000" dirty="0" smtClean="0"/>
              <a:t>simplifies file system traversal, reduces need to know format details</a:t>
            </a:r>
          </a:p>
          <a:p>
            <a:pPr lvl="1"/>
            <a:r>
              <a:rPr lang="en-CA" sz="2000" dirty="0" smtClean="0"/>
              <a:t>library parsing routines have automatically generated sanity checks</a:t>
            </a:r>
          </a:p>
          <a:p>
            <a:endParaRPr lang="en-CA" dirty="0" smtClean="0"/>
          </a:p>
        </p:txBody>
      </p:sp>
    </p:spTree>
    <p:extLst>
      <p:ext uri="{BB962C8B-B14F-4D97-AF65-F5344CB8AC3E}">
        <p14:creationId xmlns:p14="http://schemas.microsoft.com/office/powerpoint/2010/main" val="25223944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CA" smtClean="0"/>
              <a:t>Spiffy Application for Btrfs</a:t>
            </a:r>
            <a:endParaRPr lang="en-CA" dirty="0"/>
          </a:p>
        </p:txBody>
      </p:sp>
      <p:sp>
        <p:nvSpPr>
          <p:cNvPr id="10" name="Content Placeholder 9"/>
          <p:cNvSpPr>
            <a:spLocks noGrp="1"/>
          </p:cNvSpPr>
          <p:nvPr>
            <p:ph idx="1"/>
          </p:nvPr>
        </p:nvSpPr>
        <p:spPr/>
        <p:txBody>
          <a:bodyPr/>
          <a:lstStyle/>
          <a:p>
            <a:endParaRPr lang="en-CA" dirty="0" smtClean="0"/>
          </a:p>
          <a:p>
            <a:endParaRPr lang="en-CA" dirty="0" smtClean="0"/>
          </a:p>
          <a:p>
            <a:endParaRPr lang="en-CA" dirty="0" smtClean="0"/>
          </a:p>
          <a:p>
            <a:endParaRPr lang="en-CA" dirty="0" smtClean="0"/>
          </a:p>
          <a:p>
            <a:endParaRPr lang="en-CA" dirty="0"/>
          </a:p>
        </p:txBody>
      </p:sp>
      <p:sp>
        <p:nvSpPr>
          <p:cNvPr id="6" name="Content Placeholder 6"/>
          <p:cNvSpPr txBox="1">
            <a:spLocks/>
          </p:cNvSpPr>
          <p:nvPr/>
        </p:nvSpPr>
        <p:spPr>
          <a:xfrm>
            <a:off x="513159" y="1130428"/>
            <a:ext cx="7714348" cy="3209039"/>
          </a:xfrm>
          <a:prstGeom prst="rect">
            <a:avLst/>
          </a:prstGeom>
        </p:spPr>
        <p:txBody>
          <a:bodyPr vert="horz" lIns="68580" tIns="34290" rIns="68580" bIns="34290" rtlCol="0" anchor="t">
            <a:norm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r>
              <a:rPr lang="en-CA" sz="1500" dirty="0" err="1">
                <a:solidFill>
                  <a:srgbClr val="000000"/>
                </a:solidFill>
                <a:latin typeface="Courier New" panose="02070309020205020404" pitchFamily="49" charset="0"/>
                <a:cs typeface="Courier New" panose="02070309020205020404" pitchFamily="49" charset="0"/>
              </a:rPr>
              <a:t>int</a:t>
            </a:r>
            <a:r>
              <a:rPr lang="en-CA" sz="1500" dirty="0">
                <a:solidFill>
                  <a:srgbClr val="000000"/>
                </a:solidFill>
                <a:latin typeface="Courier New" panose="02070309020205020404" pitchFamily="49" charset="0"/>
                <a:cs typeface="Courier New" panose="02070309020205020404" pitchFamily="49" charset="0"/>
              </a:rPr>
              <a:t> </a:t>
            </a:r>
            <a:r>
              <a:rPr lang="en-CA" sz="1500" b="1" dirty="0" err="1">
                <a:solidFill>
                  <a:srgbClr val="000000"/>
                </a:solidFill>
                <a:latin typeface="Courier New" panose="02070309020205020404" pitchFamily="49" charset="0"/>
                <a:cs typeface="Courier New" panose="02070309020205020404" pitchFamily="49" charset="0"/>
              </a:rPr>
              <a:t>process_btrfs</a:t>
            </a:r>
            <a:r>
              <a:rPr lang="en-CA" sz="1500" dirty="0">
                <a:solidFill>
                  <a:srgbClr val="000000"/>
                </a:solidFill>
                <a:latin typeface="Courier New" panose="02070309020205020404" pitchFamily="49" charset="0"/>
                <a:cs typeface="Courier New" panose="02070309020205020404" pitchFamily="49" charset="0"/>
              </a:rPr>
              <a:t>(vector&lt;Extent&gt; &amp; </a:t>
            </a:r>
            <a:r>
              <a:rPr lang="en-CA" sz="1500" dirty="0" err="1">
                <a:solidFill>
                  <a:srgbClr val="000000"/>
                </a:solidFill>
                <a:latin typeface="Courier New" panose="02070309020205020404" pitchFamily="49" charset="0"/>
                <a:cs typeface="Courier New" panose="02070309020205020404" pitchFamily="49" charset="0"/>
              </a:rPr>
              <a:t>vec</a:t>
            </a:r>
            <a:r>
              <a:rPr lang="en-CA" sz="1500" dirty="0">
                <a:solidFill>
                  <a:srgbClr val="000000"/>
                </a:solidFill>
                <a:latin typeface="Courier New" panose="02070309020205020404" pitchFamily="49" charset="0"/>
                <a:cs typeface="Courier New" panose="02070309020205020404" pitchFamily="49" charset="0"/>
              </a:rPr>
              <a:t>, Device &amp; dev)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1:  </a:t>
            </a:r>
            <a:r>
              <a:rPr lang="en-CA" sz="1500" dirty="0" err="1">
                <a:solidFill>
                  <a:srgbClr val="000000"/>
                </a:solidFill>
                <a:latin typeface="Courier New" panose="02070309020205020404" pitchFamily="49" charset="0"/>
                <a:cs typeface="Courier New" panose="02070309020205020404" pitchFamily="49" charset="0"/>
              </a:rPr>
              <a:t>Btrfs</a:t>
            </a:r>
            <a:r>
              <a:rPr lang="en-CA" sz="1500" dirty="0">
                <a:solidFill>
                  <a:srgbClr val="000000"/>
                </a:solidFill>
                <a:latin typeface="Courier New" panose="02070309020205020404" pitchFamily="49" charset="0"/>
                <a:cs typeface="Courier New" panose="02070309020205020404" pitchFamily="49" charset="0"/>
              </a:rPr>
              <a:t> </a:t>
            </a:r>
            <a:r>
              <a:rPr lang="en-CA" sz="1500" dirty="0" err="1">
                <a:solidFill>
                  <a:srgbClr val="000000"/>
                </a:solidFill>
                <a:latin typeface="Courier New" panose="02070309020205020404" pitchFamily="49" charset="0"/>
                <a:cs typeface="Courier New" panose="02070309020205020404" pitchFamily="49" charset="0"/>
              </a:rPr>
              <a:t>btrfs</a:t>
            </a:r>
            <a:r>
              <a:rPr lang="en-CA" sz="1500" dirty="0">
                <a:solidFill>
                  <a:srgbClr val="000000"/>
                </a:solidFill>
                <a:latin typeface="Courier New" panose="02070309020205020404" pitchFamily="49" charset="0"/>
                <a:cs typeface="Courier New" panose="02070309020205020404" pitchFamily="49" charset="0"/>
              </a:rPr>
              <a:t>(dev);</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2:  /* read super block into memory */</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3:  </a:t>
            </a:r>
            <a:r>
              <a:rPr lang="en-CA" sz="1500" dirty="0" err="1">
                <a:solidFill>
                  <a:srgbClr val="000000"/>
                </a:solidFill>
                <a:latin typeface="Courier New" panose="02070309020205020404" pitchFamily="49" charset="0"/>
                <a:cs typeface="Courier New" panose="02070309020205020404" pitchFamily="49" charset="0"/>
              </a:rPr>
              <a:t>Btrfs</a:t>
            </a:r>
            <a:r>
              <a:rPr lang="en-CA" sz="1500" dirty="0">
                <a:solidFill>
                  <a:srgbClr val="000000"/>
                </a:solidFill>
                <a:latin typeface="Courier New" panose="02070309020205020404" pitchFamily="49" charset="0"/>
                <a:cs typeface="Courier New" panose="02070309020205020404" pitchFamily="49" charset="0"/>
              </a:rPr>
              <a:t>::</a:t>
            </a:r>
            <a:r>
              <a:rPr lang="en-CA" sz="1500" dirty="0" err="1">
                <a:solidFill>
                  <a:srgbClr val="000000"/>
                </a:solidFill>
                <a:latin typeface="Courier New" panose="02070309020205020404" pitchFamily="49" charset="0"/>
                <a:cs typeface="Courier New" panose="02070309020205020404" pitchFamily="49" charset="0"/>
              </a:rPr>
              <a:t>SuperBlock</a:t>
            </a:r>
            <a:r>
              <a:rPr lang="en-CA" sz="1500" dirty="0">
                <a:solidFill>
                  <a:srgbClr val="000000"/>
                </a:solidFill>
                <a:latin typeface="Courier New" panose="02070309020205020404" pitchFamily="49" charset="0"/>
                <a:cs typeface="Courier New" panose="02070309020205020404" pitchFamily="49" charset="0"/>
              </a:rPr>
              <a:t> *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 = </a:t>
            </a:r>
            <a:r>
              <a:rPr lang="en-CA" sz="1500" dirty="0" err="1">
                <a:solidFill>
                  <a:srgbClr val="000000"/>
                </a:solidFill>
                <a:latin typeface="Courier New" panose="02070309020205020404" pitchFamily="49" charset="0"/>
                <a:cs typeface="Courier New" panose="02070309020205020404" pitchFamily="49" charset="0"/>
              </a:rPr>
              <a:t>btrfs.fetch_super</a:t>
            </a:r>
            <a:r>
              <a:rPr lang="en-CA" sz="1500" dirty="0">
                <a:solidFill>
                  <a:srgbClr val="000000"/>
                </a:solidFill>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4:  if (</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 == </a:t>
            </a:r>
            <a:r>
              <a:rPr lang="en-CA" sz="1500" dirty="0" err="1">
                <a:solidFill>
                  <a:srgbClr val="000000"/>
                </a:solidFill>
                <a:latin typeface="Courier New" panose="02070309020205020404" pitchFamily="49" charset="0"/>
                <a:cs typeface="Courier New" panose="02070309020205020404" pitchFamily="49" charset="0"/>
              </a:rPr>
              <a:t>nullptr</a:t>
            </a:r>
            <a:r>
              <a:rPr lang="en-CA" sz="1500" dirty="0">
                <a:solidFill>
                  <a:srgbClr val="000000"/>
                </a:solidFill>
                <a:latin typeface="Courier New" panose="02070309020205020404" pitchFamily="49" charset="0"/>
                <a:cs typeface="Courier New" panose="02070309020205020404" pitchFamily="49" charset="0"/>
              </a:rPr>
              <a:t>) return -1;</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5:  </a:t>
            </a:r>
            <a:r>
              <a:rPr lang="en-CA" sz="1500" dirty="0" err="1">
                <a:solidFill>
                  <a:srgbClr val="000000"/>
                </a:solidFill>
                <a:latin typeface="Courier New" panose="02070309020205020404" pitchFamily="49" charset="0"/>
                <a:cs typeface="Courier New" panose="02070309020205020404" pitchFamily="49" charset="0"/>
              </a:rPr>
              <a:t>dev.set_block_size</a:t>
            </a:r>
            <a:r>
              <a:rPr lang="en-CA" sz="1500" dirty="0">
                <a:solidFill>
                  <a:srgbClr val="000000"/>
                </a:solidFill>
                <a:latin typeface="Courier New" panose="02070309020205020404" pitchFamily="49" charset="0"/>
                <a:cs typeface="Courier New" panose="02070309020205020404" pitchFamily="49" charset="0"/>
              </a:rPr>
              <a:t>(</a:t>
            </a:r>
            <a:r>
              <a:rPr lang="en-CA" sz="1500" dirty="0" err="1">
                <a:solidFill>
                  <a:srgbClr val="000000"/>
                </a:solidFill>
                <a:latin typeface="Courier New" panose="02070309020205020404" pitchFamily="49" charset="0"/>
                <a:cs typeface="Courier New" panose="02070309020205020404" pitchFamily="49" charset="0"/>
              </a:rPr>
              <a:t>sb</a:t>
            </a:r>
            <a:r>
              <a:rPr lang="en-CA" sz="1500" dirty="0">
                <a:solidFill>
                  <a:srgbClr val="000000"/>
                </a:solidFill>
                <a:latin typeface="Courier New" panose="02070309020205020404" pitchFamily="49" charset="0"/>
                <a:cs typeface="Courier New" panose="02070309020205020404" pitchFamily="49" charset="0"/>
              </a:rPr>
              <a:t>-&gt;</a:t>
            </a:r>
            <a:r>
              <a:rPr lang="en-CA" sz="1500" dirty="0" err="1">
                <a:solidFill>
                  <a:srgbClr val="000000"/>
                </a:solidFill>
                <a:latin typeface="Courier New" panose="02070309020205020404" pitchFamily="49" charset="0"/>
                <a:cs typeface="Courier New" panose="02070309020205020404" pitchFamily="49" charset="0"/>
              </a:rPr>
              <a:t>sectorsize</a:t>
            </a:r>
            <a:r>
              <a:rPr lang="en-CA" sz="1500" dirty="0">
                <a:solidFill>
                  <a:srgbClr val="000000"/>
                </a:solidFill>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6:  /* traverse file system and find/process all extent items */</a:t>
            </a:r>
          </a:p>
          <a:p>
            <a:pPr marL="0" indent="0">
              <a:spcBef>
                <a:spcPts val="0"/>
              </a:spcBef>
              <a:spcAft>
                <a:spcPts val="0"/>
              </a:spcAft>
              <a:buNone/>
            </a:pPr>
            <a:r>
              <a:rPr lang="en-CA" sz="1500" b="1" dirty="0">
                <a:solidFill>
                  <a:srgbClr val="000000"/>
                </a:solidFill>
                <a:latin typeface="Courier New" panose="02070309020205020404" pitchFamily="49" charset="0"/>
                <a:cs typeface="Courier New" panose="02070309020205020404" pitchFamily="49" charset="0"/>
              </a:rPr>
              <a:t>7:  return </a:t>
            </a:r>
            <a:r>
              <a:rPr lang="en-CA" sz="1500" b="1" dirty="0" err="1">
                <a:solidFill>
                  <a:srgbClr val="000000"/>
                </a:solidFill>
                <a:latin typeface="Courier New" panose="02070309020205020404" pitchFamily="49" charset="0"/>
                <a:cs typeface="Courier New" panose="02070309020205020404" pitchFamily="49" charset="0"/>
              </a:rPr>
              <a:t>sb</a:t>
            </a:r>
            <a:r>
              <a:rPr lang="en-CA" sz="1500" b="1" dirty="0">
                <a:solidFill>
                  <a:srgbClr val="000000"/>
                </a:solidFill>
                <a:latin typeface="Courier New" panose="02070309020205020404" pitchFamily="49" charset="0"/>
                <a:cs typeface="Courier New" panose="02070309020205020404" pitchFamily="49" charset="0"/>
              </a:rPr>
              <a:t>-&gt;</a:t>
            </a:r>
            <a:r>
              <a:rPr lang="en-CA" sz="1500" b="1" dirty="0" err="1">
                <a:solidFill>
                  <a:srgbClr val="000000"/>
                </a:solidFill>
                <a:latin typeface="Courier New" panose="02070309020205020404" pitchFamily="49" charset="0"/>
                <a:cs typeface="Courier New" panose="02070309020205020404" pitchFamily="49" charset="0"/>
              </a:rPr>
              <a:t>process_by_type</a:t>
            </a:r>
            <a:r>
              <a:rPr lang="en-CA" sz="1500" b="1" dirty="0">
                <a:solidFill>
                  <a:srgbClr val="000000"/>
                </a:solidFill>
                <a:latin typeface="Courier New" panose="02070309020205020404" pitchFamily="49" charset="0"/>
                <a:cs typeface="Courier New" panose="02070309020205020404" pitchFamily="49" charset="0"/>
              </a:rPr>
              <a:t>(EXTENT_ITEM, </a:t>
            </a:r>
            <a:br>
              <a:rPr lang="en-CA" sz="1500" b="1" dirty="0">
                <a:solidFill>
                  <a:srgbClr val="000000"/>
                </a:solidFill>
                <a:latin typeface="Courier New" panose="02070309020205020404" pitchFamily="49" charset="0"/>
                <a:cs typeface="Courier New" panose="02070309020205020404" pitchFamily="49" charset="0"/>
              </a:rPr>
            </a:br>
            <a:r>
              <a:rPr lang="en-CA" sz="1500" b="1" dirty="0">
                <a:solidFill>
                  <a:srgbClr val="000000"/>
                </a:solidFill>
                <a:latin typeface="Courier New" panose="02070309020205020404" pitchFamily="49" charset="0"/>
                <a:cs typeface="Courier New" panose="02070309020205020404" pitchFamily="49" charset="0"/>
              </a:rPr>
              <a:t>                               </a:t>
            </a:r>
            <a:r>
              <a:rPr lang="en-CA" sz="1500" b="1" dirty="0" err="1">
                <a:solidFill>
                  <a:srgbClr val="000000"/>
                </a:solidFill>
                <a:latin typeface="Courier New" panose="02070309020205020404" pitchFamily="49" charset="0"/>
                <a:cs typeface="Courier New" panose="02070309020205020404" pitchFamily="49" charset="0"/>
              </a:rPr>
              <a:t>process_extent_item</a:t>
            </a:r>
            <a:r>
              <a:rPr lang="en-CA" sz="1500" b="1" dirty="0">
                <a:solidFill>
                  <a:srgbClr val="000000"/>
                </a:solidFill>
                <a:latin typeface="Courier New" panose="02070309020205020404" pitchFamily="49" charset="0"/>
                <a:cs typeface="Courier New" panose="02070309020205020404" pitchFamily="49" charset="0"/>
              </a:rPr>
              <a:t>, &amp;</a:t>
            </a:r>
            <a:r>
              <a:rPr lang="en-CA" sz="1500" b="1" dirty="0" err="1">
                <a:solidFill>
                  <a:srgbClr val="000000"/>
                </a:solidFill>
                <a:latin typeface="Courier New" panose="02070309020205020404" pitchFamily="49" charset="0"/>
                <a:cs typeface="Courier New" panose="02070309020205020404" pitchFamily="49" charset="0"/>
              </a:rPr>
              <a:t>vec</a:t>
            </a:r>
            <a:r>
              <a:rPr lang="en-CA" sz="1500" b="1" dirty="0">
                <a:solidFill>
                  <a:srgbClr val="000000"/>
                </a:solidFill>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500" dirty="0">
                <a:solidFill>
                  <a:srgbClr val="000000"/>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6487716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Spiffy Applications</a:t>
            </a:r>
            <a:endParaRPr lang="en-CA" dirty="0"/>
          </a:p>
        </p:txBody>
      </p:sp>
      <p:sp>
        <p:nvSpPr>
          <p:cNvPr id="3" name="Content Placeholder 2"/>
          <p:cNvSpPr>
            <a:spLocks noGrp="1"/>
          </p:cNvSpPr>
          <p:nvPr>
            <p:ph idx="1"/>
          </p:nvPr>
        </p:nvSpPr>
        <p:spPr/>
        <p:txBody>
          <a:bodyPr/>
          <a:lstStyle/>
          <a:p>
            <a:r>
              <a:rPr lang="en-CA" dirty="0" smtClean="0">
                <a:solidFill>
                  <a:schemeClr val="tx1">
                    <a:alpha val="30000"/>
                  </a:schemeClr>
                </a:solidFill>
              </a:rPr>
              <a:t>File System Free Space Tool</a:t>
            </a:r>
          </a:p>
          <a:p>
            <a:r>
              <a:rPr lang="en-CA" dirty="0" smtClean="0"/>
              <a:t>File System Dump Tool</a:t>
            </a:r>
          </a:p>
          <a:p>
            <a:r>
              <a:rPr lang="en-CA" dirty="0" smtClean="0"/>
              <a:t>Type-Specific File System Corruptor</a:t>
            </a:r>
          </a:p>
          <a:p>
            <a:r>
              <a:rPr lang="en-CA" dirty="0" smtClean="0"/>
              <a:t>File System Conversion Tool</a:t>
            </a:r>
          </a:p>
          <a:p>
            <a:r>
              <a:rPr lang="en-CA" dirty="0" smtClean="0"/>
              <a:t>File-System Aware Block Layer Cache</a:t>
            </a:r>
          </a:p>
          <a:p>
            <a:r>
              <a:rPr lang="en-CA" dirty="0" smtClean="0"/>
              <a:t>Runtime Verification for File Systems</a:t>
            </a:r>
            <a:endParaRPr lang="en-CA" dirty="0"/>
          </a:p>
          <a:p>
            <a:endParaRPr lang="en-CA" dirty="0" smtClean="0"/>
          </a:p>
        </p:txBody>
      </p:sp>
    </p:spTree>
    <p:extLst>
      <p:ext uri="{BB962C8B-B14F-4D97-AF65-F5344CB8AC3E}">
        <p14:creationId xmlns:p14="http://schemas.microsoft.com/office/powerpoint/2010/main" val="278723905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File System Dump Tool</a:t>
            </a:r>
            <a:endParaRPr lang="en-CA" dirty="0"/>
          </a:p>
        </p:txBody>
      </p:sp>
      <p:sp>
        <p:nvSpPr>
          <p:cNvPr id="3" name="Content Placeholder 2"/>
          <p:cNvSpPr>
            <a:spLocks noGrp="1"/>
          </p:cNvSpPr>
          <p:nvPr>
            <p:ph idx="1"/>
          </p:nvPr>
        </p:nvSpPr>
        <p:spPr>
          <a:xfrm>
            <a:off x="152400" y="857250"/>
            <a:ext cx="4343400" cy="3695700"/>
          </a:xfrm>
        </p:spPr>
        <p:txBody>
          <a:bodyPr/>
          <a:lstStyle/>
          <a:p>
            <a:r>
              <a:rPr lang="en-CA" dirty="0" smtClean="0"/>
              <a:t>Parses all metadata and exports them in XML </a:t>
            </a:r>
            <a:r>
              <a:rPr lang="en-CA" dirty="0" smtClean="0"/>
              <a:t>format</a:t>
            </a:r>
            <a:endParaRPr lang="en-CA" dirty="0" smtClean="0"/>
          </a:p>
        </p:txBody>
      </p:sp>
      <p:sp>
        <p:nvSpPr>
          <p:cNvPr id="5" name="Content Placeholder 4"/>
          <p:cNvSpPr txBox="1">
            <a:spLocks/>
          </p:cNvSpPr>
          <p:nvPr/>
        </p:nvSpPr>
        <p:spPr>
          <a:xfrm>
            <a:off x="533400" y="2190750"/>
            <a:ext cx="4038600" cy="1968629"/>
          </a:xfrm>
          <a:prstGeom prst="rect">
            <a:avLst/>
          </a:prstGeom>
        </p:spPr>
        <p:txBody>
          <a:bodyPr>
            <a:noAutofit/>
          </a:bodyPr>
          <a:lstStyle>
            <a:lvl1pPr marL="342900" indent="-342900" algn="l" rtl="0" eaLnBrk="1" fontAlgn="base" hangingPunct="1">
              <a:spcBef>
                <a:spcPct val="20000"/>
              </a:spcBef>
              <a:spcAft>
                <a:spcPct val="0"/>
              </a:spcAft>
              <a:buClr>
                <a:srgbClr val="52237F"/>
              </a:buClr>
              <a:buSzPct val="75000"/>
              <a:buFont typeface="Wingdings" pitchFamily="2" charset="2"/>
              <a:buChar char="r"/>
              <a:defRPr sz="24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Clr>
                <a:srgbClr val="D7E159"/>
              </a:buClr>
              <a:buSzPct val="75000"/>
              <a:buFont typeface="Wingdings" pitchFamily="2" charset="2"/>
              <a:buChar char="r"/>
              <a:defRPr sz="2400">
                <a:solidFill>
                  <a:schemeClr val="tx1"/>
                </a:solidFill>
                <a:latin typeface="Arial" pitchFamily="34" charset="0"/>
                <a:cs typeface="Arial" pitchFamily="34" charset="0"/>
              </a:defRPr>
            </a:lvl2pPr>
            <a:lvl3pPr marL="1143000" indent="-228600" algn="l" rtl="0" eaLnBrk="1" fontAlgn="base" hangingPunct="1">
              <a:spcBef>
                <a:spcPct val="20000"/>
              </a:spcBef>
              <a:spcAft>
                <a:spcPct val="0"/>
              </a:spcAft>
              <a:buClr>
                <a:schemeClr val="bg2"/>
              </a:buClr>
              <a:buSzPct val="75000"/>
              <a:buFont typeface="Wingdings" pitchFamily="2" charset="2"/>
              <a:buChar char="r"/>
              <a:defRPr sz="2000">
                <a:solidFill>
                  <a:schemeClr val="tx1"/>
                </a:solidFill>
                <a:latin typeface="Arial" pitchFamily="34" charset="0"/>
                <a:cs typeface="Arial" pitchFamily="34" charset="0"/>
              </a:defRPr>
            </a:lvl3pPr>
            <a:lvl4pPr marL="1600200" indent="-228600" algn="l" rtl="0" eaLnBrk="1" fontAlgn="base" hangingPunct="1">
              <a:spcBef>
                <a:spcPct val="20000"/>
              </a:spcBef>
              <a:spcAft>
                <a:spcPct val="0"/>
              </a:spcAft>
              <a:buClr>
                <a:srgbClr val="C2BE52"/>
              </a:buClr>
              <a:buSzPct val="75000"/>
              <a:buFont typeface="Wingdings" pitchFamily="2" charset="2"/>
              <a:buChar char="r"/>
              <a:defRPr sz="1800">
                <a:solidFill>
                  <a:schemeClr val="tx1"/>
                </a:solidFill>
                <a:latin typeface="Arial" pitchFamily="34" charset="0"/>
                <a:cs typeface="Arial" pitchFamily="34" charset="0"/>
              </a:defRPr>
            </a:lvl4pPr>
            <a:lvl5pPr marL="2057400" indent="-228600" algn="l" rtl="0" eaLnBrk="1" fontAlgn="base" hangingPunct="1">
              <a:spcBef>
                <a:spcPct val="20000"/>
              </a:spcBef>
              <a:spcAft>
                <a:spcPct val="0"/>
              </a:spcAft>
              <a:buClr>
                <a:srgbClr val="52237F"/>
              </a:buClr>
              <a:buSzPct val="75000"/>
              <a:buFont typeface="Wingdings" pitchFamily="2" charset="2"/>
              <a:buChar char="r"/>
              <a:defRPr sz="1800">
                <a:solidFill>
                  <a:schemeClr val="tx1"/>
                </a:solidFill>
                <a:latin typeface="Arial" pitchFamily="34" charset="0"/>
                <a:cs typeface="Arial" pitchFamily="34" charset="0"/>
              </a:defRPr>
            </a:lvl5pPr>
            <a:lvl6pPr marL="25146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6pPr>
            <a:lvl7pPr marL="29718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7pPr>
            <a:lvl8pPr marL="34290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8pPr>
            <a:lvl9pPr marL="38862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9pPr>
          </a:lstStyle>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void main(void) {</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Ext4IO </a:t>
            </a:r>
            <a:r>
              <a:rPr lang="en-CA" sz="1350" b="1" kern="0" dirty="0" err="1" smtClean="0">
                <a:latin typeface="Courier New" panose="02070309020205020404" pitchFamily="49" charset="0"/>
                <a:cs typeface="Courier New" panose="02070309020205020404" pitchFamily="49" charset="0"/>
              </a:rPr>
              <a:t>io</a:t>
            </a:r>
            <a:r>
              <a:rPr lang="en-CA" sz="1350" b="1" kern="0" dirty="0" smtClean="0">
                <a:latin typeface="Courier New" panose="02070309020205020404" pitchFamily="49" charset="0"/>
                <a:cs typeface="Courier New" panose="02070309020205020404" pitchFamily="49" charset="0"/>
              </a:rPr>
              <a:t>("/dev/sdb1");</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Ext4 fs(</a:t>
            </a:r>
            <a:r>
              <a:rPr lang="en-CA" sz="1350" b="1" kern="0" dirty="0" err="1" smtClean="0">
                <a:latin typeface="Courier New" panose="02070309020205020404" pitchFamily="49" charset="0"/>
                <a:cs typeface="Courier New" panose="02070309020205020404" pitchFamily="49" charset="0"/>
              </a:rPr>
              <a:t>io</a:t>
            </a:r>
            <a:r>
              <a:rPr lang="en-CA" sz="1350" b="1" kern="0" dirty="0" smtClean="0">
                <a:latin typeface="Courier New" panose="02070309020205020404" pitchFamily="49" charset="0"/>
                <a:cs typeface="Courier New" panose="02070309020205020404" pitchFamily="49" charset="0"/>
              </a:rPr>
              <a:t>);</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Container * sup = </a:t>
            </a:r>
            <a:r>
              <a:rPr lang="en-CA" sz="1350" b="1" kern="0" dirty="0" err="1" smtClean="0">
                <a:latin typeface="Courier New" panose="02070309020205020404" pitchFamily="49" charset="0"/>
                <a:cs typeface="Courier New" panose="02070309020205020404" pitchFamily="49" charset="0"/>
              </a:rPr>
              <a:t>fs.fetch_super</a:t>
            </a:r>
            <a:r>
              <a:rPr lang="en-CA" sz="1350" b="1" kern="0" dirty="0" smtClean="0">
                <a:latin typeface="Courier New" panose="02070309020205020404" pitchFamily="49" charset="0"/>
                <a:cs typeface="Courier New" panose="02070309020205020404" pitchFamily="49" charset="0"/>
              </a:rPr>
              <a:t>();</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if (sup != </a:t>
            </a:r>
            <a:r>
              <a:rPr lang="en-CA" sz="1350" b="1" kern="0" dirty="0" err="1" smtClean="0">
                <a:latin typeface="Courier New" panose="02070309020205020404" pitchFamily="49" charset="0"/>
                <a:cs typeface="Courier New" panose="02070309020205020404" pitchFamily="49" charset="0"/>
              </a:rPr>
              <a:t>nullptr</a:t>
            </a:r>
            <a:r>
              <a:rPr lang="en-CA" sz="1350" b="1" kern="0" dirty="0" smtClean="0">
                <a:latin typeface="Courier New" panose="02070309020205020404" pitchFamily="49" charset="0"/>
                <a:cs typeface="Courier New" panose="02070309020205020404" pitchFamily="49" charset="0"/>
              </a:rPr>
              <a:t>) {</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a:t>
            </a:r>
            <a:r>
              <a:rPr lang="en-CA" sz="1350" b="1" kern="0" dirty="0" err="1" smtClean="0">
                <a:latin typeface="Courier New" panose="02070309020205020404" pitchFamily="49" charset="0"/>
                <a:cs typeface="Courier New" panose="02070309020205020404" pitchFamily="49" charset="0"/>
              </a:rPr>
              <a:t>ev.visit</a:t>
            </a:r>
            <a:r>
              <a:rPr lang="en-CA" sz="1350" b="1" kern="0" dirty="0" smtClean="0">
                <a:latin typeface="Courier New" panose="02070309020205020404" pitchFamily="49" charset="0"/>
                <a:cs typeface="Courier New" panose="02070309020205020404" pitchFamily="49" charset="0"/>
              </a:rPr>
              <a:t>(*sup);</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sup-&gt;destroy();</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a:t>
            </a:r>
          </a:p>
          <a:p>
            <a:pPr>
              <a:spcBef>
                <a:spcPts val="0"/>
              </a:spcBef>
              <a:spcAft>
                <a:spcPts val="0"/>
              </a:spcAft>
            </a:pPr>
            <a:endParaRPr lang="en-CA" sz="1350" b="1" kern="0" dirty="0"/>
          </a:p>
        </p:txBody>
      </p:sp>
      <p:sp>
        <p:nvSpPr>
          <p:cNvPr id="8" name="Content Placeholder 2"/>
          <p:cNvSpPr txBox="1">
            <a:spLocks/>
          </p:cNvSpPr>
          <p:nvPr/>
        </p:nvSpPr>
        <p:spPr bwMode="auto">
          <a:xfrm>
            <a:off x="4827983" y="1060321"/>
            <a:ext cx="3858817" cy="3492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42900" indent="-342900" algn="l" rtl="0" eaLnBrk="1" fontAlgn="base" hangingPunct="1">
              <a:spcBef>
                <a:spcPct val="20000"/>
              </a:spcBef>
              <a:spcAft>
                <a:spcPct val="0"/>
              </a:spcAft>
              <a:buClr>
                <a:srgbClr val="52237F"/>
              </a:buClr>
              <a:buSzPct val="75000"/>
              <a:buFont typeface="Wingdings" pitchFamily="2" charset="2"/>
              <a:buChar char="r"/>
              <a:defRPr sz="24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Clr>
                <a:srgbClr val="D7E159"/>
              </a:buClr>
              <a:buSzPct val="75000"/>
              <a:buFont typeface="Wingdings" pitchFamily="2" charset="2"/>
              <a:buChar char="r"/>
              <a:defRPr sz="2200">
                <a:solidFill>
                  <a:schemeClr val="tx1"/>
                </a:solidFill>
                <a:latin typeface="Arial" pitchFamily="34" charset="0"/>
                <a:cs typeface="Arial" pitchFamily="34" charset="0"/>
              </a:defRPr>
            </a:lvl2pPr>
            <a:lvl3pPr marL="1143000" indent="-228600" algn="l" rtl="0" eaLnBrk="1" fontAlgn="base" hangingPunct="1">
              <a:spcBef>
                <a:spcPct val="20000"/>
              </a:spcBef>
              <a:spcAft>
                <a:spcPct val="0"/>
              </a:spcAft>
              <a:buClr>
                <a:schemeClr val="bg2"/>
              </a:buClr>
              <a:buSzPct val="75000"/>
              <a:buFont typeface="Wingdings" pitchFamily="2" charset="2"/>
              <a:buChar char="r"/>
              <a:defRPr sz="2000">
                <a:solidFill>
                  <a:schemeClr val="tx1"/>
                </a:solidFill>
                <a:latin typeface="Arial" pitchFamily="34" charset="0"/>
                <a:cs typeface="Arial" pitchFamily="34" charset="0"/>
              </a:defRPr>
            </a:lvl3pPr>
            <a:lvl4pPr marL="1600200" indent="-228600" algn="l" rtl="0" eaLnBrk="1" fontAlgn="base" hangingPunct="1">
              <a:spcBef>
                <a:spcPct val="20000"/>
              </a:spcBef>
              <a:spcAft>
                <a:spcPct val="0"/>
              </a:spcAft>
              <a:buClr>
                <a:srgbClr val="C2BE52"/>
              </a:buClr>
              <a:buSzPct val="75000"/>
              <a:buFont typeface="Wingdings" pitchFamily="2" charset="2"/>
              <a:buChar char="r"/>
              <a:defRPr sz="1800">
                <a:solidFill>
                  <a:schemeClr val="tx1"/>
                </a:solidFill>
                <a:latin typeface="Arial" pitchFamily="34" charset="0"/>
                <a:cs typeface="Arial" pitchFamily="34" charset="0"/>
              </a:defRPr>
            </a:lvl4pPr>
            <a:lvl5pPr marL="2057400" indent="-228600" algn="l" rtl="0" eaLnBrk="1" fontAlgn="base" hangingPunct="1">
              <a:spcBef>
                <a:spcPct val="20000"/>
              </a:spcBef>
              <a:spcAft>
                <a:spcPct val="0"/>
              </a:spcAft>
              <a:buClr>
                <a:srgbClr val="52237F"/>
              </a:buClr>
              <a:buSzPct val="75000"/>
              <a:buFont typeface="Wingdings" pitchFamily="2" charset="2"/>
              <a:buChar char="r"/>
              <a:defRPr sz="1800">
                <a:solidFill>
                  <a:schemeClr val="tx1"/>
                </a:solidFill>
                <a:latin typeface="Arial" pitchFamily="34" charset="0"/>
                <a:cs typeface="Arial" pitchFamily="34" charset="0"/>
              </a:defRPr>
            </a:lvl5pPr>
            <a:lvl6pPr marL="25146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6pPr>
            <a:lvl7pPr marL="29718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7pPr>
            <a:lvl8pPr marL="34290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8pPr>
            <a:lvl9pPr marL="38862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9pPr>
          </a:lstStyle>
          <a:p>
            <a:pPr marL="0" indent="0">
              <a:spcBef>
                <a:spcPts val="0"/>
              </a:spcBef>
              <a:spcAft>
                <a:spcPts val="0"/>
              </a:spcAft>
              <a:buFont typeface="Wingdings" pitchFamily="2" charset="2"/>
              <a:buNone/>
            </a:pPr>
            <a:r>
              <a:rPr lang="en-CA" sz="1350" b="1" kern="0" dirty="0" err="1" smtClean="0">
                <a:latin typeface="Courier New" panose="02070309020205020404" pitchFamily="49" charset="0"/>
                <a:cs typeface="Courier New" panose="02070309020205020404" pitchFamily="49" charset="0"/>
              </a:rPr>
              <a:t>EntVisitor</a:t>
            </a:r>
            <a:r>
              <a:rPr lang="en-CA" sz="1350" b="1" kern="0" dirty="0" smtClean="0">
                <a:latin typeface="Courier New" panose="02070309020205020404" pitchFamily="49" charset="0"/>
                <a:cs typeface="Courier New" panose="02070309020205020404" pitchFamily="49" charset="0"/>
              </a:rPr>
              <a:t> </a:t>
            </a:r>
            <a:r>
              <a:rPr lang="en-CA" sz="1350" b="1" kern="0" dirty="0" err="1" smtClean="0">
                <a:latin typeface="Courier New" panose="02070309020205020404" pitchFamily="49" charset="0"/>
                <a:cs typeface="Courier New" panose="02070309020205020404" pitchFamily="49" charset="0"/>
              </a:rPr>
              <a:t>ev</a:t>
            </a:r>
            <a:r>
              <a:rPr lang="en-CA" sz="1350" b="1" kern="0" dirty="0" smtClean="0">
                <a:latin typeface="Courier New" panose="02070309020205020404" pitchFamily="49" charset="0"/>
                <a:cs typeface="Courier New" panose="02070309020205020404" pitchFamily="49" charset="0"/>
              </a:rPr>
              <a:t>;</a:t>
            </a:r>
          </a:p>
          <a:p>
            <a:pPr marL="0" indent="0">
              <a:spcBef>
                <a:spcPts val="0"/>
              </a:spcBef>
              <a:spcAft>
                <a:spcPts val="0"/>
              </a:spcAft>
              <a:buFont typeface="Wingdings" pitchFamily="2" charset="2"/>
              <a:buNone/>
            </a:pPr>
            <a:r>
              <a:rPr lang="en-CA" sz="1350" b="1" kern="0" dirty="0" err="1" smtClean="0">
                <a:latin typeface="Courier New" panose="02070309020205020404" pitchFamily="49" charset="0"/>
                <a:cs typeface="Courier New" panose="02070309020205020404" pitchFamily="49" charset="0"/>
              </a:rPr>
              <a:t>PtrVisitor</a:t>
            </a:r>
            <a:r>
              <a:rPr lang="en-CA" sz="1350" b="1" kern="0" dirty="0" smtClean="0">
                <a:latin typeface="Courier New" panose="02070309020205020404" pitchFamily="49" charset="0"/>
                <a:cs typeface="Courier New" panose="02070309020205020404" pitchFamily="49" charset="0"/>
              </a:rPr>
              <a:t> </a:t>
            </a:r>
            <a:r>
              <a:rPr lang="en-CA" sz="1350" b="1" kern="0" dirty="0" err="1" smtClean="0">
                <a:latin typeface="Courier New" panose="02070309020205020404" pitchFamily="49" charset="0"/>
                <a:cs typeface="Courier New" panose="02070309020205020404" pitchFamily="49" charset="0"/>
              </a:rPr>
              <a:t>pv</a:t>
            </a:r>
            <a:r>
              <a:rPr lang="en-CA" sz="1350" b="1" kern="0" dirty="0" smtClean="0">
                <a:latin typeface="Courier New" panose="02070309020205020404" pitchFamily="49" charset="0"/>
                <a:cs typeface="Courier New" panose="02070309020205020404" pitchFamily="49" charset="0"/>
              </a:rPr>
              <a:t>;</a:t>
            </a:r>
          </a:p>
          <a:p>
            <a:pPr marL="0" indent="0">
              <a:spcBef>
                <a:spcPts val="0"/>
              </a:spcBef>
              <a:spcAft>
                <a:spcPts val="0"/>
              </a:spcAft>
              <a:buFont typeface="Wingdings" pitchFamily="2" charset="2"/>
              <a:buNone/>
            </a:pPr>
            <a:endParaRPr lang="en-CA" sz="1350" b="1" kern="0" dirty="0" smtClean="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b="1" kern="0" dirty="0" err="1">
                <a:latin typeface="Courier New" panose="02070309020205020404" pitchFamily="49" charset="0"/>
                <a:cs typeface="Courier New" panose="02070309020205020404" pitchFamily="49" charset="0"/>
              </a:rPr>
              <a:t>int</a:t>
            </a:r>
            <a:r>
              <a:rPr lang="en-CA" sz="1350" b="1" kern="0" dirty="0">
                <a:latin typeface="Courier New" panose="02070309020205020404" pitchFamily="49" charset="0"/>
                <a:cs typeface="Courier New" panose="02070309020205020404" pitchFamily="49" charset="0"/>
              </a:rPr>
              <a:t> </a:t>
            </a:r>
            <a:r>
              <a:rPr lang="en-CA" sz="1350" b="1" kern="0" dirty="0" err="1">
                <a:latin typeface="Courier New" panose="02070309020205020404" pitchFamily="49" charset="0"/>
                <a:cs typeface="Courier New" panose="02070309020205020404" pitchFamily="49" charset="0"/>
              </a:rPr>
              <a:t>EntVisitor</a:t>
            </a:r>
            <a:r>
              <a:rPr lang="en-CA" sz="1350" b="1" kern="0"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350" b="1" kern="0" dirty="0">
                <a:latin typeface="Courier New" panose="02070309020205020404" pitchFamily="49" charset="0"/>
                <a:cs typeface="Courier New" panose="02070309020205020404" pitchFamily="49" charset="0"/>
              </a:rPr>
              <a:t>  </a:t>
            </a:r>
            <a:r>
              <a:rPr lang="en-CA" sz="1350" b="1" kern="0" dirty="0" err="1">
                <a:latin typeface="Courier New" panose="02070309020205020404" pitchFamily="49" charset="0"/>
                <a:cs typeface="Courier New" panose="02070309020205020404" pitchFamily="49" charset="0"/>
              </a:rPr>
              <a:t>cout</a:t>
            </a:r>
            <a:r>
              <a:rPr lang="en-CA" sz="1350" b="1" kern="0" dirty="0">
                <a:latin typeface="Courier New" panose="02070309020205020404" pitchFamily="49" charset="0"/>
                <a:cs typeface="Courier New" panose="02070309020205020404" pitchFamily="49" charset="0"/>
              </a:rPr>
              <a:t> &lt;&lt; </a:t>
            </a:r>
            <a:r>
              <a:rPr lang="en-CA" sz="1350" b="1" kern="0" dirty="0" err="1">
                <a:latin typeface="Courier New" panose="02070309020205020404" pitchFamily="49" charset="0"/>
                <a:cs typeface="Courier New" panose="02070309020205020404" pitchFamily="49" charset="0"/>
              </a:rPr>
              <a:t>e.get_name</a:t>
            </a:r>
            <a:r>
              <a:rPr lang="en-CA" sz="1350" b="1" kern="0" dirty="0">
                <a:latin typeface="Courier New" panose="02070309020205020404" pitchFamily="49" charset="0"/>
                <a:cs typeface="Courier New" panose="02070309020205020404" pitchFamily="49" charset="0"/>
              </a:rPr>
              <a:t>() &lt;&lt; </a:t>
            </a:r>
            <a:r>
              <a:rPr lang="en-CA" sz="1350" b="1" kern="0" dirty="0" err="1">
                <a:latin typeface="Courier New" panose="02070309020205020404" pitchFamily="49" charset="0"/>
                <a:cs typeface="Courier New" panose="02070309020205020404" pitchFamily="49" charset="0"/>
              </a:rPr>
              <a:t>endl</a:t>
            </a:r>
            <a:r>
              <a:rPr lang="en-CA" sz="1350" b="1" kern="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kern="0" dirty="0">
                <a:latin typeface="Courier New" panose="02070309020205020404" pitchFamily="49" charset="0"/>
                <a:cs typeface="Courier New" panose="02070309020205020404" pitchFamily="49" charset="0"/>
              </a:rPr>
              <a:t>  return </a:t>
            </a:r>
            <a:r>
              <a:rPr lang="en-CA" sz="1350" b="1" kern="0" dirty="0" err="1">
                <a:latin typeface="Courier New" panose="02070309020205020404" pitchFamily="49" charset="0"/>
                <a:cs typeface="Courier New" panose="02070309020205020404" pitchFamily="49" charset="0"/>
              </a:rPr>
              <a:t>e.process_pointers</a:t>
            </a:r>
            <a:r>
              <a:rPr lang="en-CA" sz="1350" b="1" kern="0" dirty="0">
                <a:latin typeface="Courier New" panose="02070309020205020404" pitchFamily="49" charset="0"/>
                <a:cs typeface="Courier New" panose="02070309020205020404" pitchFamily="49" charset="0"/>
              </a:rPr>
              <a:t>(</a:t>
            </a:r>
            <a:r>
              <a:rPr lang="en-CA" sz="1350" b="1" kern="0" dirty="0" err="1">
                <a:latin typeface="Courier New" panose="02070309020205020404" pitchFamily="49" charset="0"/>
                <a:cs typeface="Courier New" panose="02070309020205020404" pitchFamily="49" charset="0"/>
              </a:rPr>
              <a:t>pv</a:t>
            </a:r>
            <a:r>
              <a:rPr lang="en-CA" sz="1350" b="1" kern="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kern="0" dirty="0">
                <a:latin typeface="Courier New" panose="02070309020205020404" pitchFamily="49" charset="0"/>
                <a:cs typeface="Courier New" panose="02070309020205020404" pitchFamily="49" charset="0"/>
              </a:rPr>
              <a:t>}</a:t>
            </a:r>
          </a:p>
          <a:p>
            <a:pPr marL="0" indent="0">
              <a:spcBef>
                <a:spcPts val="0"/>
              </a:spcBef>
              <a:spcAft>
                <a:spcPts val="0"/>
              </a:spcAft>
              <a:buFont typeface="Wingdings" pitchFamily="2" charset="2"/>
              <a:buNone/>
            </a:pPr>
            <a:endParaRPr lang="en-CA" sz="1350" b="1" kern="0" dirty="0" smtClean="0">
              <a:latin typeface="Courier New" panose="02070309020205020404" pitchFamily="49" charset="0"/>
              <a:cs typeface="Courier New" panose="02070309020205020404" pitchFamily="49" charset="0"/>
            </a:endParaRPr>
          </a:p>
          <a:p>
            <a:pPr marL="0" indent="0">
              <a:spcBef>
                <a:spcPts val="0"/>
              </a:spcBef>
              <a:spcAft>
                <a:spcPts val="0"/>
              </a:spcAft>
              <a:buFont typeface="Wingdings" pitchFamily="2" charset="2"/>
              <a:buNone/>
            </a:pPr>
            <a:r>
              <a:rPr lang="en-CA" sz="1350" b="1" kern="0" dirty="0" err="1" smtClean="0">
                <a:latin typeface="Courier New" panose="02070309020205020404" pitchFamily="49" charset="0"/>
                <a:cs typeface="Courier New" panose="02070309020205020404" pitchFamily="49" charset="0"/>
              </a:rPr>
              <a:t>int</a:t>
            </a:r>
            <a:r>
              <a:rPr lang="en-CA" sz="1350" b="1" kern="0" dirty="0" smtClean="0">
                <a:latin typeface="Courier New" panose="02070309020205020404" pitchFamily="49" charset="0"/>
                <a:cs typeface="Courier New" panose="02070309020205020404" pitchFamily="49" charset="0"/>
              </a:rPr>
              <a:t> </a:t>
            </a:r>
            <a:r>
              <a:rPr lang="en-CA" sz="1350" b="1" kern="0" dirty="0" err="1" smtClean="0">
                <a:latin typeface="Courier New" panose="02070309020205020404" pitchFamily="49" charset="0"/>
                <a:cs typeface="Courier New" panose="02070309020205020404" pitchFamily="49" charset="0"/>
              </a:rPr>
              <a:t>PtrVisitor</a:t>
            </a:r>
            <a:r>
              <a:rPr lang="en-CA" sz="1350" b="1" kern="0" dirty="0" smtClean="0">
                <a:latin typeface="Courier New" panose="02070309020205020404" pitchFamily="49" charset="0"/>
                <a:cs typeface="Courier New" panose="02070309020205020404" pitchFamily="49" charset="0"/>
              </a:rPr>
              <a:t>::visit(Entity &amp; p) {</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Container * </a:t>
            </a:r>
            <a:r>
              <a:rPr lang="en-CA" sz="1350" b="1" kern="0" dirty="0" err="1" smtClean="0">
                <a:latin typeface="Courier New" panose="02070309020205020404" pitchFamily="49" charset="0"/>
                <a:cs typeface="Courier New" panose="02070309020205020404" pitchFamily="49" charset="0"/>
              </a:rPr>
              <a:t>tmp</a:t>
            </a:r>
            <a:r>
              <a:rPr lang="en-CA" sz="1350" b="1" kern="0" dirty="0" smtClean="0">
                <a:latin typeface="Courier New" panose="02070309020205020404" pitchFamily="49" charset="0"/>
                <a:cs typeface="Courier New" panose="02070309020205020404" pitchFamily="49" charset="0"/>
              </a:rPr>
              <a:t>;</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a:t>
            </a:r>
            <a:r>
              <a:rPr lang="en-CA" sz="1350" b="1" kern="0" dirty="0" err="1" smtClean="0">
                <a:latin typeface="Courier New" panose="02070309020205020404" pitchFamily="49" charset="0"/>
                <a:cs typeface="Courier New" panose="02070309020205020404" pitchFamily="49" charset="0"/>
              </a:rPr>
              <a:t>tmp</a:t>
            </a:r>
            <a:r>
              <a:rPr lang="en-CA" sz="1350" b="1" kern="0" dirty="0" smtClean="0">
                <a:latin typeface="Courier New" panose="02070309020205020404" pitchFamily="49" charset="0"/>
                <a:cs typeface="Courier New" panose="02070309020205020404" pitchFamily="49" charset="0"/>
              </a:rPr>
              <a:t> = </a:t>
            </a:r>
            <a:r>
              <a:rPr lang="en-CA" sz="1350" b="1" kern="0" dirty="0" err="1" smtClean="0">
                <a:latin typeface="Courier New" panose="02070309020205020404" pitchFamily="49" charset="0"/>
                <a:cs typeface="Courier New" panose="02070309020205020404" pitchFamily="49" charset="0"/>
              </a:rPr>
              <a:t>p.to_pointer</a:t>
            </a:r>
            <a:r>
              <a:rPr lang="en-CA" sz="1350" b="1" kern="0" dirty="0" smtClean="0">
                <a:latin typeface="Courier New" panose="02070309020205020404" pitchFamily="49" charset="0"/>
                <a:cs typeface="Courier New" panose="02070309020205020404" pitchFamily="49" charset="0"/>
              </a:rPr>
              <a:t>()-&gt;fetch();</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if (</a:t>
            </a:r>
            <a:r>
              <a:rPr lang="en-CA" sz="1350" b="1" kern="0" dirty="0" err="1" smtClean="0">
                <a:latin typeface="Courier New" panose="02070309020205020404" pitchFamily="49" charset="0"/>
                <a:cs typeface="Courier New" panose="02070309020205020404" pitchFamily="49" charset="0"/>
              </a:rPr>
              <a:t>tmp</a:t>
            </a:r>
            <a:r>
              <a:rPr lang="en-CA" sz="1350" b="1" kern="0" dirty="0" smtClean="0">
                <a:latin typeface="Courier New" panose="02070309020205020404" pitchFamily="49" charset="0"/>
                <a:cs typeface="Courier New" panose="02070309020205020404" pitchFamily="49" charset="0"/>
              </a:rPr>
              <a:t> != </a:t>
            </a:r>
            <a:r>
              <a:rPr lang="en-CA" sz="1350" b="1" kern="0" dirty="0" err="1" smtClean="0">
                <a:latin typeface="Courier New" panose="02070309020205020404" pitchFamily="49" charset="0"/>
                <a:cs typeface="Courier New" panose="02070309020205020404" pitchFamily="49" charset="0"/>
              </a:rPr>
              <a:t>nullptr</a:t>
            </a:r>
            <a:r>
              <a:rPr lang="en-CA" sz="1350" b="1" kern="0" dirty="0" smtClean="0">
                <a:latin typeface="Courier New" panose="02070309020205020404" pitchFamily="49" charset="0"/>
                <a:cs typeface="Courier New" panose="02070309020205020404" pitchFamily="49" charset="0"/>
              </a:rPr>
              <a:t>) {</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a:t>
            </a:r>
            <a:r>
              <a:rPr lang="en-CA" sz="1350" b="1" kern="0" dirty="0" err="1" smtClean="0">
                <a:latin typeface="Courier New" panose="02070309020205020404" pitchFamily="49" charset="0"/>
                <a:cs typeface="Courier New" panose="02070309020205020404" pitchFamily="49" charset="0"/>
              </a:rPr>
              <a:t>ev.visit</a:t>
            </a:r>
            <a:r>
              <a:rPr lang="en-CA" sz="1350" b="1" kern="0" dirty="0" smtClean="0">
                <a:latin typeface="Courier New" panose="02070309020205020404" pitchFamily="49" charset="0"/>
                <a:cs typeface="Courier New" panose="02070309020205020404" pitchFamily="49" charset="0"/>
              </a:rPr>
              <a:t>(*</a:t>
            </a:r>
            <a:r>
              <a:rPr lang="en-CA" sz="1350" b="1" kern="0" dirty="0" err="1" smtClean="0">
                <a:latin typeface="Courier New" panose="02070309020205020404" pitchFamily="49" charset="0"/>
                <a:cs typeface="Courier New" panose="02070309020205020404" pitchFamily="49" charset="0"/>
              </a:rPr>
              <a:t>tmp</a:t>
            </a:r>
            <a:r>
              <a:rPr lang="en-CA" sz="1350" b="1" kern="0" dirty="0" smtClean="0">
                <a:latin typeface="Courier New" panose="02070309020205020404" pitchFamily="49" charset="0"/>
                <a:cs typeface="Courier New" panose="02070309020205020404" pitchFamily="49" charset="0"/>
              </a:rPr>
              <a:t>);</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a:t>
            </a:r>
            <a:r>
              <a:rPr lang="en-CA" sz="1350" b="1" kern="0" dirty="0" err="1" smtClean="0">
                <a:latin typeface="Courier New" panose="02070309020205020404" pitchFamily="49" charset="0"/>
                <a:cs typeface="Courier New" panose="02070309020205020404" pitchFamily="49" charset="0"/>
              </a:rPr>
              <a:t>tmp</a:t>
            </a:r>
            <a:r>
              <a:rPr lang="en-CA" sz="1350" b="1" kern="0" dirty="0" smtClean="0">
                <a:latin typeface="Courier New" panose="02070309020205020404" pitchFamily="49" charset="0"/>
                <a:cs typeface="Courier New" panose="02070309020205020404" pitchFamily="49" charset="0"/>
              </a:rPr>
              <a:t>-&gt;destroy();</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  return 0;</a:t>
            </a:r>
          </a:p>
          <a:p>
            <a:pPr marL="0" indent="0">
              <a:spcBef>
                <a:spcPts val="0"/>
              </a:spcBef>
              <a:spcAft>
                <a:spcPts val="0"/>
              </a:spcAft>
              <a:buFont typeface="Wingdings" pitchFamily="2" charset="2"/>
              <a:buNone/>
            </a:pPr>
            <a:r>
              <a:rPr lang="en-CA" sz="1350" b="1" kern="0" dirty="0" smtClean="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8481965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File System Dump Tool</a:t>
            </a:r>
            <a:endParaRPr lang="en-CA" dirty="0"/>
          </a:p>
        </p:txBody>
      </p:sp>
      <p:sp>
        <p:nvSpPr>
          <p:cNvPr id="3" name="Content Placeholder 2"/>
          <p:cNvSpPr>
            <a:spLocks noGrp="1"/>
          </p:cNvSpPr>
          <p:nvPr>
            <p:ph idx="1"/>
          </p:nvPr>
        </p:nvSpPr>
        <p:spPr/>
        <p:txBody>
          <a:bodyPr/>
          <a:lstStyle/>
          <a:p>
            <a:r>
              <a:rPr lang="en-CA" dirty="0" smtClean="0"/>
              <a:t>Provides </a:t>
            </a:r>
            <a:r>
              <a:rPr lang="en-CA" dirty="0" smtClean="0"/>
              <a:t>API to filter out fields and structures</a:t>
            </a:r>
          </a:p>
          <a:p>
            <a:pPr lvl="1"/>
            <a:r>
              <a:rPr lang="en-CA" dirty="0" smtClean="0"/>
              <a:t>Helps reduce and declutter the output</a:t>
            </a:r>
          </a:p>
          <a:p>
            <a:pPr lvl="1"/>
            <a:r>
              <a:rPr lang="en-CA" dirty="0" smtClean="0"/>
              <a:t>E.g. Ext4 dump tool does not export unallocated </a:t>
            </a:r>
            <a:r>
              <a:rPr lang="en-CA" dirty="0" err="1" smtClean="0"/>
              <a:t>inode</a:t>
            </a:r>
            <a:endParaRPr lang="en-CA" dirty="0" smtClean="0"/>
          </a:p>
          <a:p>
            <a:r>
              <a:rPr lang="en-CA" dirty="0"/>
              <a:t>Works for all annotated file systems</a:t>
            </a:r>
          </a:p>
          <a:p>
            <a:pPr lvl="1"/>
            <a:r>
              <a:rPr lang="en-CA" sz="2000" dirty="0"/>
              <a:t>Generic Application Code: </a:t>
            </a:r>
            <a:r>
              <a:rPr lang="en-CA" sz="2000" dirty="0" smtClean="0"/>
              <a:t>482 </a:t>
            </a:r>
            <a:r>
              <a:rPr lang="en-CA" sz="2000" dirty="0"/>
              <a:t>LOC</a:t>
            </a:r>
          </a:p>
          <a:p>
            <a:pPr lvl="1"/>
            <a:r>
              <a:rPr lang="en-CA" sz="2000" dirty="0"/>
              <a:t>File-System Specific Code: </a:t>
            </a:r>
            <a:r>
              <a:rPr lang="en-CA" sz="2000" dirty="0" smtClean="0"/>
              <a:t>30 to 60 </a:t>
            </a:r>
            <a:r>
              <a:rPr lang="en-CA" sz="2000" dirty="0"/>
              <a:t>LOC </a:t>
            </a:r>
            <a:r>
              <a:rPr lang="en-CA" sz="2000" dirty="0" smtClean="0"/>
              <a:t>each</a:t>
            </a:r>
            <a:endParaRPr lang="en-CA" sz="2000" dirty="0"/>
          </a:p>
        </p:txBody>
      </p:sp>
    </p:spTree>
    <p:extLst>
      <p:ext uri="{BB962C8B-B14F-4D97-AF65-F5344CB8AC3E}">
        <p14:creationId xmlns:p14="http://schemas.microsoft.com/office/powerpoint/2010/main" val="25310612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Type-Specific File System Corruptor</a:t>
            </a:r>
            <a:endParaRPr lang="en-CA" dirty="0"/>
          </a:p>
        </p:txBody>
      </p:sp>
      <p:sp>
        <p:nvSpPr>
          <p:cNvPr id="3" name="Content Placeholder 2"/>
          <p:cNvSpPr>
            <a:spLocks noGrp="1"/>
          </p:cNvSpPr>
          <p:nvPr>
            <p:ph idx="1"/>
          </p:nvPr>
        </p:nvSpPr>
        <p:spPr/>
        <p:txBody>
          <a:bodyPr/>
          <a:lstStyle/>
          <a:p>
            <a:r>
              <a:rPr lang="en-CA" dirty="0" smtClean="0"/>
              <a:t>Finds and corrupts a field in a specified structure</a:t>
            </a:r>
          </a:p>
          <a:p>
            <a:r>
              <a:rPr lang="en-CA" dirty="0" smtClean="0"/>
              <a:t>Works for all annotated file systems</a:t>
            </a:r>
          </a:p>
          <a:p>
            <a:pPr lvl="1"/>
            <a:r>
              <a:rPr lang="en-CA" sz="2000" dirty="0" smtClean="0"/>
              <a:t>Generic Application Code: 455 LOC</a:t>
            </a:r>
          </a:p>
          <a:p>
            <a:pPr lvl="1"/>
            <a:r>
              <a:rPr lang="en-CA" sz="2000" dirty="0" smtClean="0"/>
              <a:t>File-System Specific Code: &lt; 30 LOC each</a:t>
            </a:r>
          </a:p>
          <a:p>
            <a:r>
              <a:rPr lang="en-CA" dirty="0" smtClean="0"/>
              <a:t>Corruption Experiment</a:t>
            </a:r>
          </a:p>
          <a:p>
            <a:pPr lvl="1"/>
            <a:r>
              <a:rPr lang="en-CA" sz="2000" dirty="0" smtClean="0"/>
              <a:t>Ran existing tools on corrupt file system image</a:t>
            </a:r>
          </a:p>
          <a:p>
            <a:pPr lvl="1"/>
            <a:r>
              <a:rPr lang="en-CA" sz="2000" dirty="0" smtClean="0"/>
              <a:t>Discovered 1 crash bug in dumpe2fs (Ext4)</a:t>
            </a:r>
          </a:p>
          <a:p>
            <a:pPr lvl="1"/>
            <a:r>
              <a:rPr lang="en-CA" sz="2000" dirty="0" smtClean="0"/>
              <a:t>Discovered 5 crash bugs in dump.f2fs (F2FS)</a:t>
            </a:r>
          </a:p>
          <a:p>
            <a:pPr lvl="1"/>
            <a:r>
              <a:rPr lang="en-CA" sz="2000" dirty="0" smtClean="0"/>
              <a:t>None in our Spiffy dump tool on Ext4, </a:t>
            </a:r>
            <a:r>
              <a:rPr lang="en-CA" sz="2000" dirty="0" err="1" smtClean="0"/>
              <a:t>Btrfs</a:t>
            </a:r>
            <a:r>
              <a:rPr lang="en-CA" sz="2000" dirty="0" smtClean="0"/>
              <a:t> and F2FS</a:t>
            </a:r>
            <a:endParaRPr lang="en-CA" sz="2000" dirty="0"/>
          </a:p>
        </p:txBody>
      </p:sp>
    </p:spTree>
    <p:extLst>
      <p:ext uri="{BB962C8B-B14F-4D97-AF65-F5344CB8AC3E}">
        <p14:creationId xmlns:p14="http://schemas.microsoft.com/office/powerpoint/2010/main" val="222650492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File System Conversion Tool</a:t>
            </a:r>
            <a:endParaRPr lang="en-CA" dirty="0"/>
          </a:p>
        </p:txBody>
      </p:sp>
      <p:sp>
        <p:nvSpPr>
          <p:cNvPr id="3" name="Content Placeholder 2"/>
          <p:cNvSpPr>
            <a:spLocks noGrp="1"/>
          </p:cNvSpPr>
          <p:nvPr>
            <p:ph idx="1"/>
          </p:nvPr>
        </p:nvSpPr>
        <p:spPr/>
        <p:txBody>
          <a:bodyPr/>
          <a:lstStyle/>
          <a:p>
            <a:r>
              <a:rPr lang="en-CA" dirty="0" smtClean="0"/>
              <a:t>Converts one file system to another while minimizing copying</a:t>
            </a:r>
            <a:br>
              <a:rPr lang="en-CA" dirty="0" smtClean="0"/>
            </a:br>
            <a:r>
              <a:rPr lang="en-CA" dirty="0" smtClean="0"/>
              <a:t>data blocks</a:t>
            </a:r>
          </a:p>
          <a:p>
            <a:pPr lvl="1"/>
            <a:endParaRPr lang="en-CA" dirty="0" smtClean="0"/>
          </a:p>
          <a:p>
            <a:r>
              <a:rPr lang="en-CA" dirty="0" smtClean="0"/>
              <a:t>Currently, converts from Ext4 to F2FS</a:t>
            </a:r>
          </a:p>
          <a:p>
            <a:pPr lvl="1"/>
            <a:r>
              <a:rPr lang="en-CA" dirty="0" smtClean="0"/>
              <a:t>Generic application code: 504 LOC</a:t>
            </a:r>
          </a:p>
          <a:p>
            <a:pPr lvl="1"/>
            <a:r>
              <a:rPr lang="en-CA" dirty="0" smtClean="0"/>
              <a:t>Ext4 specific code (source file system): 218 LOC</a:t>
            </a:r>
          </a:p>
          <a:p>
            <a:pPr lvl="1"/>
            <a:r>
              <a:rPr lang="en-CA" dirty="0" smtClean="0"/>
              <a:t>F2FS specific code (destination file system): 1760 LOC</a:t>
            </a:r>
          </a:p>
          <a:p>
            <a:pPr lvl="1"/>
            <a:endParaRPr lang="en-CA" dirty="0" smtClean="0"/>
          </a:p>
          <a:p>
            <a:endParaRPr lang="en-CA" dirty="0" smtClean="0"/>
          </a:p>
        </p:txBody>
      </p:sp>
    </p:spTree>
    <p:extLst>
      <p:ext uri="{BB962C8B-B14F-4D97-AF65-F5344CB8AC3E}">
        <p14:creationId xmlns:p14="http://schemas.microsoft.com/office/powerpoint/2010/main" val="315462140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Evaluation: Ext4 to F2FS Converter</a:t>
            </a:r>
            <a:endParaRPr lang="en-CA" dirty="0"/>
          </a:p>
        </p:txBody>
      </p:sp>
      <p:sp>
        <p:nvSpPr>
          <p:cNvPr id="3" name="Content Placeholder 2"/>
          <p:cNvSpPr>
            <a:spLocks noGrp="1"/>
          </p:cNvSpPr>
          <p:nvPr>
            <p:ph idx="1"/>
          </p:nvPr>
        </p:nvSpPr>
        <p:spPr/>
        <p:txBody>
          <a:bodyPr/>
          <a:lstStyle/>
          <a:p>
            <a:r>
              <a:rPr lang="en-CA" dirty="0" smtClean="0"/>
              <a:t>Compare </a:t>
            </a:r>
            <a:r>
              <a:rPr lang="en-CA" dirty="0" smtClean="0"/>
              <a:t>Spiffy </a:t>
            </a:r>
            <a:r>
              <a:rPr lang="en-CA" dirty="0"/>
              <a:t>converter versus copy-based </a:t>
            </a:r>
            <a:r>
              <a:rPr lang="en-CA" dirty="0" smtClean="0"/>
              <a:t>converter</a:t>
            </a:r>
            <a:endParaRPr lang="en-CA" dirty="0" smtClean="0"/>
          </a:p>
          <a:p>
            <a:pPr lvl="1"/>
            <a:r>
              <a:rPr lang="en-CA" sz="2000" dirty="0" smtClean="0"/>
              <a:t>Copy converter copies data to local disk, reformat, then copies back</a:t>
            </a:r>
          </a:p>
          <a:p>
            <a:r>
              <a:rPr lang="en-CA" dirty="0" smtClean="0"/>
              <a:t>Converts 64GB file system with 16GB of data on SSD</a:t>
            </a:r>
          </a:p>
          <a:p>
            <a:endParaRPr lang="en-CA" dirty="0" smtClean="0"/>
          </a:p>
          <a:p>
            <a:endParaRPr lang="en-CA" dirty="0" smtClean="0"/>
          </a:p>
          <a:p>
            <a:endParaRPr lang="en-CA" dirty="0" smtClean="0"/>
          </a:p>
          <a:p>
            <a:pPr marL="0" indent="0">
              <a:buNone/>
            </a:pPr>
            <a:endParaRPr lang="en-CA" dirty="0" smtClean="0"/>
          </a:p>
          <a:p>
            <a:r>
              <a:rPr lang="en-CA" dirty="0" smtClean="0"/>
              <a:t>Copy converter 30~50 times slower</a:t>
            </a:r>
          </a:p>
        </p:txBody>
      </p:sp>
      <p:graphicFrame>
        <p:nvGraphicFramePr>
          <p:cNvPr id="7" name="Chart 6"/>
          <p:cNvGraphicFramePr>
            <a:graphicFrameLocks/>
          </p:cNvGraphicFramePr>
          <p:nvPr>
            <p:extLst>
              <p:ext uri="{D42A27DB-BD31-4B8C-83A1-F6EECF244321}">
                <p14:modId xmlns:p14="http://schemas.microsoft.com/office/powerpoint/2010/main" val="4066293275"/>
              </p:ext>
            </p:extLst>
          </p:nvPr>
        </p:nvGraphicFramePr>
        <p:xfrm>
          <a:off x="990600" y="2114550"/>
          <a:ext cx="6629400" cy="18692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5369080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File-system Aware Block Layer Cache</a:t>
            </a:r>
            <a:endParaRPr lang="en-CA" dirty="0"/>
          </a:p>
        </p:txBody>
      </p:sp>
      <p:sp>
        <p:nvSpPr>
          <p:cNvPr id="3" name="Content Placeholder 2"/>
          <p:cNvSpPr>
            <a:spLocks noGrp="1"/>
          </p:cNvSpPr>
          <p:nvPr>
            <p:ph idx="1"/>
          </p:nvPr>
        </p:nvSpPr>
        <p:spPr/>
        <p:txBody>
          <a:bodyPr/>
          <a:lstStyle/>
          <a:p>
            <a:pPr marL="342900" lvl="1" indent="-342900">
              <a:buClr>
                <a:srgbClr val="52237F"/>
              </a:buClr>
            </a:pPr>
            <a:r>
              <a:rPr lang="en-CA" sz="1600" dirty="0"/>
              <a:t>Supports </a:t>
            </a:r>
            <a:r>
              <a:rPr lang="en-CA" sz="1600" dirty="0" smtClean="0"/>
              <a:t>block caching </a:t>
            </a:r>
            <a:r>
              <a:rPr lang="en-CA" sz="1600" dirty="0"/>
              <a:t>policies that use file-system specific information</a:t>
            </a:r>
          </a:p>
          <a:p>
            <a:pPr lvl="1"/>
            <a:r>
              <a:rPr lang="en-CA" sz="1600" dirty="0" smtClean="0"/>
              <a:t>Implemented at the block layer</a:t>
            </a:r>
          </a:p>
          <a:p>
            <a:pPr lvl="1"/>
            <a:r>
              <a:rPr lang="en-CA" sz="1600" dirty="0" smtClean="0"/>
              <a:t>Requires </a:t>
            </a:r>
            <a:r>
              <a:rPr lang="en-CA" sz="1600" dirty="0"/>
              <a:t>no changes to the file system</a:t>
            </a:r>
            <a:r>
              <a:rPr lang="en-CA" sz="1600" dirty="0" smtClean="0"/>
              <a:t>!</a:t>
            </a:r>
            <a:endParaRPr lang="en-CA" sz="1600" dirty="0" smtClean="0"/>
          </a:p>
          <a:p>
            <a:r>
              <a:rPr lang="en-CA" sz="1800" dirty="0"/>
              <a:t>Identifies and interprets blocks as they are read or written</a:t>
            </a:r>
          </a:p>
          <a:p>
            <a:pPr lvl="1"/>
            <a:r>
              <a:rPr lang="en-CA" sz="1800" dirty="0"/>
              <a:t>Identifies the types of blocks</a:t>
            </a:r>
          </a:p>
          <a:p>
            <a:pPr lvl="1"/>
            <a:r>
              <a:rPr lang="en-CA" sz="1800" dirty="0"/>
              <a:t>Interprets their contents to extract file-system specific </a:t>
            </a:r>
            <a:r>
              <a:rPr lang="en-CA" sz="1800" dirty="0" smtClean="0"/>
              <a:t>information</a:t>
            </a:r>
            <a:endParaRPr lang="en-CA" sz="1800" dirty="0"/>
          </a:p>
          <a:p>
            <a:r>
              <a:rPr lang="en-CA" sz="1800" dirty="0" smtClean="0"/>
              <a:t>Block caching policies</a:t>
            </a:r>
            <a:endParaRPr lang="en-CA" sz="1800" dirty="0" smtClean="0"/>
          </a:p>
          <a:p>
            <a:pPr lvl="1"/>
            <a:r>
              <a:rPr lang="en-CA" sz="1800" dirty="0" smtClean="0"/>
              <a:t>Cache file system metadata</a:t>
            </a:r>
          </a:p>
          <a:p>
            <a:pPr lvl="2"/>
            <a:r>
              <a:rPr lang="en-CA" sz="1600" dirty="0" smtClean="0"/>
              <a:t>When a block is accessed, Spiffy helps determine whether block </a:t>
            </a:r>
            <a:r>
              <a:rPr lang="en-CA" sz="1600" dirty="0" smtClean="0"/>
              <a:t>is </a:t>
            </a:r>
            <a:r>
              <a:rPr lang="en-CA" sz="1600" dirty="0" smtClean="0"/>
              <a:t>data/metadata</a:t>
            </a:r>
            <a:endParaRPr lang="en-CA" sz="1600" dirty="0" smtClean="0"/>
          </a:p>
          <a:p>
            <a:pPr lvl="1"/>
            <a:r>
              <a:rPr lang="en-CA" sz="1800" dirty="0" smtClean="0"/>
              <a:t>Cache small files, cache a specific user’s files</a:t>
            </a:r>
          </a:p>
          <a:p>
            <a:pPr lvl="2"/>
            <a:r>
              <a:rPr lang="en-CA" sz="1600" dirty="0" smtClean="0"/>
              <a:t>When a block is accessed, Spiffy </a:t>
            </a:r>
            <a:r>
              <a:rPr lang="en-CA" sz="1600" dirty="0" smtClean="0"/>
              <a:t>helps determine the file to which block belongs</a:t>
            </a:r>
          </a:p>
          <a:p>
            <a:pPr lvl="2"/>
            <a:endParaRPr lang="en-CA" sz="1600" dirty="0" smtClean="0"/>
          </a:p>
          <a:p>
            <a:endParaRPr lang="en-CA" sz="1800" dirty="0"/>
          </a:p>
        </p:txBody>
      </p:sp>
    </p:spTree>
    <p:extLst>
      <p:ext uri="{BB962C8B-B14F-4D97-AF65-F5344CB8AC3E}">
        <p14:creationId xmlns:p14="http://schemas.microsoft.com/office/powerpoint/2010/main" val="428854529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Runtime </a:t>
            </a:r>
            <a:r>
              <a:rPr lang="en-CA" dirty="0" smtClean="0"/>
              <a:t>File System Checker</a:t>
            </a:r>
            <a:endParaRPr lang="en-CA" dirty="0"/>
          </a:p>
        </p:txBody>
      </p:sp>
      <p:sp>
        <p:nvSpPr>
          <p:cNvPr id="3" name="Content Placeholder 2"/>
          <p:cNvSpPr>
            <a:spLocks noGrp="1"/>
          </p:cNvSpPr>
          <p:nvPr>
            <p:ph idx="1"/>
          </p:nvPr>
        </p:nvSpPr>
        <p:spPr/>
        <p:txBody>
          <a:bodyPr/>
          <a:lstStyle/>
          <a:p>
            <a:r>
              <a:rPr lang="en-CA" dirty="0" smtClean="0"/>
              <a:t>Checks whether file system writes would cause file system inconsistency on disk</a:t>
            </a:r>
            <a:endParaRPr lang="en-CA" dirty="0" smtClean="0"/>
          </a:p>
          <a:p>
            <a:pPr lvl="1"/>
            <a:r>
              <a:rPr lang="en-CA" sz="2000" dirty="0"/>
              <a:t>Identifies and interprets blocks as they are read or written</a:t>
            </a:r>
          </a:p>
          <a:p>
            <a:pPr lvl="1"/>
            <a:r>
              <a:rPr lang="en-CA" sz="2000" dirty="0"/>
              <a:t>At commit time, </a:t>
            </a:r>
            <a:r>
              <a:rPr lang="en-CA" sz="2000" dirty="0" smtClean="0"/>
              <a:t>compares </a:t>
            </a:r>
            <a:r>
              <a:rPr lang="en-CA" sz="2000" dirty="0"/>
              <a:t>old and new versions </a:t>
            </a:r>
            <a:r>
              <a:rPr lang="en-CA" sz="2000" dirty="0" smtClean="0"/>
              <a:t>of modified blocks</a:t>
            </a:r>
            <a:endParaRPr lang="en-CA" sz="2000" dirty="0"/>
          </a:p>
          <a:p>
            <a:pPr lvl="1"/>
            <a:r>
              <a:rPr lang="en-CA" sz="2000" dirty="0" smtClean="0"/>
              <a:t>Generates </a:t>
            </a:r>
            <a:r>
              <a:rPr lang="en-CA" sz="2000" dirty="0"/>
              <a:t>logical changes to </a:t>
            </a:r>
            <a:r>
              <a:rPr lang="en-CA" sz="2000" dirty="0" smtClean="0"/>
              <a:t>file system metadata</a:t>
            </a:r>
            <a:endParaRPr lang="en-CA" sz="2000" dirty="0" smtClean="0"/>
          </a:p>
          <a:p>
            <a:pPr lvl="1"/>
            <a:r>
              <a:rPr lang="en-CA" sz="2000" dirty="0" smtClean="0"/>
              <a:t>Checks </a:t>
            </a:r>
            <a:r>
              <a:rPr lang="en-CA" sz="2000" dirty="0"/>
              <a:t>changes against file-system specific consistency </a:t>
            </a:r>
            <a:r>
              <a:rPr lang="en-CA" sz="2000" dirty="0" smtClean="0"/>
              <a:t>rules</a:t>
            </a:r>
          </a:p>
          <a:p>
            <a:r>
              <a:rPr lang="en-CA" sz="2200" dirty="0" smtClean="0"/>
              <a:t>Evaluation</a:t>
            </a:r>
            <a:endParaRPr lang="en-CA" sz="2200" dirty="0"/>
          </a:p>
          <a:p>
            <a:pPr lvl="1"/>
            <a:r>
              <a:rPr lang="en-CA" sz="2000" dirty="0" smtClean="0"/>
              <a:t>Ext4 </a:t>
            </a:r>
            <a:r>
              <a:rPr lang="en-CA" sz="2000" dirty="0" smtClean="0"/>
              <a:t>manual differencing: 2099 lines of code</a:t>
            </a:r>
          </a:p>
          <a:p>
            <a:pPr lvl="1"/>
            <a:r>
              <a:rPr lang="en-CA" sz="2000" dirty="0" smtClean="0"/>
              <a:t>Ext4 Spiffy differencing: 1059 lines of code</a:t>
            </a:r>
          </a:p>
          <a:p>
            <a:pPr lvl="2"/>
            <a:endParaRPr lang="en-CA" dirty="0"/>
          </a:p>
          <a:p>
            <a:endParaRPr lang="en-CA" dirty="0" smtClean="0"/>
          </a:p>
          <a:p>
            <a:endParaRPr lang="en-CA" dirty="0" smtClean="0"/>
          </a:p>
          <a:p>
            <a:endParaRPr lang="en-CA" dirty="0" smtClean="0"/>
          </a:p>
          <a:p>
            <a:endParaRPr lang="en-CA" dirty="0"/>
          </a:p>
        </p:txBody>
      </p:sp>
    </p:spTree>
    <p:extLst>
      <p:ext uri="{BB962C8B-B14F-4D97-AF65-F5344CB8AC3E}">
        <p14:creationId xmlns:p14="http://schemas.microsoft.com/office/powerpoint/2010/main" val="361774534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 of Spiffy Applications</a:t>
            </a:r>
            <a:endParaRPr lang="en-CA" dirty="0"/>
          </a:p>
        </p:txBody>
      </p:sp>
      <p:sp>
        <p:nvSpPr>
          <p:cNvPr id="3" name="Content Placeholder 2"/>
          <p:cNvSpPr>
            <a:spLocks noGrp="1"/>
          </p:cNvSpPr>
          <p:nvPr>
            <p:ph idx="1"/>
          </p:nvPr>
        </p:nvSpPr>
        <p:spPr/>
        <p:txBody>
          <a:bodyPr/>
          <a:lstStyle/>
          <a:p>
            <a:r>
              <a:rPr lang="en-CA" dirty="0"/>
              <a:t>Type-Specific File System Corruptor</a:t>
            </a:r>
          </a:p>
          <a:p>
            <a:r>
              <a:rPr lang="en-CA" dirty="0" smtClean="0"/>
              <a:t>File System Dump Tool</a:t>
            </a:r>
          </a:p>
          <a:p>
            <a:r>
              <a:rPr lang="en-CA" dirty="0"/>
              <a:t>Runtime Verification for File Systems</a:t>
            </a:r>
          </a:p>
          <a:p>
            <a:endParaRPr lang="en-CA" dirty="0"/>
          </a:p>
        </p:txBody>
      </p:sp>
    </p:spTree>
    <p:extLst>
      <p:ext uri="{BB962C8B-B14F-4D97-AF65-F5344CB8AC3E}">
        <p14:creationId xmlns:p14="http://schemas.microsoft.com/office/powerpoint/2010/main" val="301302035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Conclusion</a:t>
            </a:r>
            <a:endParaRPr lang="en-CA" dirty="0"/>
          </a:p>
        </p:txBody>
      </p:sp>
      <p:sp>
        <p:nvSpPr>
          <p:cNvPr id="3" name="Content Placeholder 2"/>
          <p:cNvSpPr>
            <a:spLocks noGrp="1"/>
          </p:cNvSpPr>
          <p:nvPr>
            <p:ph idx="1"/>
          </p:nvPr>
        </p:nvSpPr>
        <p:spPr/>
        <p:txBody>
          <a:bodyPr/>
          <a:lstStyle/>
          <a:p>
            <a:r>
              <a:rPr lang="en-CA" dirty="0" smtClean="0"/>
              <a:t>Spiffy framework</a:t>
            </a:r>
          </a:p>
          <a:p>
            <a:pPr lvl="1"/>
            <a:r>
              <a:rPr lang="en-CA" sz="2000" dirty="0" smtClean="0"/>
              <a:t>Annotation language for specifying file system format</a:t>
            </a:r>
          </a:p>
          <a:p>
            <a:pPr lvl="1"/>
            <a:r>
              <a:rPr lang="en-CA" sz="2000" dirty="0" smtClean="0"/>
              <a:t>Enables generating a library for traversing file system metadata</a:t>
            </a:r>
          </a:p>
          <a:p>
            <a:r>
              <a:rPr lang="en-CA" dirty="0" smtClean="0"/>
              <a:t>Simplifies development of file-system aware applications</a:t>
            </a:r>
          </a:p>
          <a:p>
            <a:pPr lvl="1"/>
            <a:r>
              <a:rPr lang="en-CA" sz="2000" dirty="0" smtClean="0"/>
              <a:t>Reduces file-system specific code</a:t>
            </a:r>
          </a:p>
          <a:p>
            <a:pPr lvl="1"/>
            <a:r>
              <a:rPr lang="en-CA" sz="2000" dirty="0" smtClean="0"/>
              <a:t>Enables code reuse across file systems</a:t>
            </a:r>
          </a:p>
          <a:p>
            <a:r>
              <a:rPr lang="en-CA" dirty="0" smtClean="0"/>
              <a:t>Enables writing robust applications</a:t>
            </a:r>
          </a:p>
          <a:p>
            <a:pPr lvl="1"/>
            <a:r>
              <a:rPr lang="en-CA" sz="2000" dirty="0" smtClean="0"/>
              <a:t>Provides type-safe parsing and serialization of metadata</a:t>
            </a:r>
          </a:p>
          <a:p>
            <a:pPr lvl="1"/>
            <a:r>
              <a:rPr lang="en-CA" sz="2000" dirty="0" smtClean="0"/>
              <a:t>Helps detect file system corruption</a:t>
            </a:r>
          </a:p>
          <a:p>
            <a:endParaRPr lang="en-CA" dirty="0"/>
          </a:p>
        </p:txBody>
      </p:sp>
    </p:spTree>
    <p:extLst>
      <p:ext uri="{BB962C8B-B14F-4D97-AF65-F5344CB8AC3E}">
        <p14:creationId xmlns:p14="http://schemas.microsoft.com/office/powerpoint/2010/main" val="20307529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Find Out More</a:t>
            </a:r>
            <a:endParaRPr lang="en-CA" dirty="0"/>
          </a:p>
        </p:txBody>
      </p:sp>
      <p:sp>
        <p:nvSpPr>
          <p:cNvPr id="3" name="Content Placeholder 2"/>
          <p:cNvSpPr>
            <a:spLocks noGrp="1"/>
          </p:cNvSpPr>
          <p:nvPr>
            <p:ph idx="1"/>
          </p:nvPr>
        </p:nvSpPr>
        <p:spPr/>
        <p:txBody>
          <a:bodyPr/>
          <a:lstStyle/>
          <a:p>
            <a:r>
              <a:rPr lang="en-CA" dirty="0" smtClean="0"/>
              <a:t>FAST 2018 Paper</a:t>
            </a:r>
          </a:p>
          <a:p>
            <a:pPr lvl="1"/>
            <a:r>
              <a:rPr lang="en-CA" sz="2000" dirty="0">
                <a:hlinkClick r:id="rId2"/>
              </a:rPr>
              <a:t>https://</a:t>
            </a:r>
            <a:r>
              <a:rPr lang="en-CA" sz="2000" dirty="0" smtClean="0">
                <a:hlinkClick r:id="rId2"/>
              </a:rPr>
              <a:t>www.usenix.org/system/files/conference/fast18/fast18-sun.pdf</a:t>
            </a:r>
            <a:endParaRPr lang="en-CA" dirty="0" smtClean="0"/>
          </a:p>
          <a:p>
            <a:r>
              <a:rPr lang="en-CA" dirty="0" smtClean="0"/>
              <a:t>GitHub repository</a:t>
            </a:r>
          </a:p>
          <a:p>
            <a:pPr lvl="1"/>
            <a:r>
              <a:rPr lang="en-CA" sz="2000" dirty="0">
                <a:hlinkClick r:id="rId3"/>
              </a:rPr>
              <a:t>https://</a:t>
            </a:r>
            <a:r>
              <a:rPr lang="en-CA" sz="2000" dirty="0" smtClean="0">
                <a:hlinkClick r:id="rId3"/>
              </a:rPr>
              <a:t>github.com/jacksun007/spiffy</a:t>
            </a:r>
            <a:endParaRPr lang="en-CA" sz="2000" dirty="0" smtClean="0"/>
          </a:p>
          <a:p>
            <a:pPr lvl="1"/>
            <a:endParaRPr lang="en-CA" dirty="0" smtClean="0"/>
          </a:p>
          <a:p>
            <a:pPr lvl="1"/>
            <a:endParaRPr lang="en-CA" dirty="0"/>
          </a:p>
        </p:txBody>
      </p:sp>
    </p:spTree>
    <p:extLst>
      <p:ext uri="{BB962C8B-B14F-4D97-AF65-F5344CB8AC3E}">
        <p14:creationId xmlns:p14="http://schemas.microsoft.com/office/powerpoint/2010/main" val="18821605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0" y="1809750"/>
            <a:ext cx="9144000" cy="1752600"/>
          </a:xfrm>
        </p:spPr>
        <p:txBody>
          <a:bodyPr/>
          <a:lstStyle/>
          <a:p>
            <a:r>
              <a:rPr lang="en-CA" dirty="0"/>
              <a:t>Spiffy: Enabling File-System Aware Storage </a:t>
            </a:r>
            <a:r>
              <a:rPr lang="en-CA" dirty="0" smtClean="0"/>
              <a:t>Applications</a:t>
            </a:r>
            <a:endParaRPr lang="en-US" altLang="en-US" dirty="0" smtClean="0">
              <a:latin typeface="Arial" charset="0"/>
              <a:cs typeface="Arial" charset="0"/>
            </a:endParaRPr>
          </a:p>
        </p:txBody>
      </p:sp>
      <p:sp>
        <p:nvSpPr>
          <p:cNvPr id="4099" name="Subtitle 2"/>
          <p:cNvSpPr>
            <a:spLocks noGrp="1"/>
          </p:cNvSpPr>
          <p:nvPr>
            <p:ph type="subTitle" idx="4294967295"/>
          </p:nvPr>
        </p:nvSpPr>
        <p:spPr>
          <a:xfrm>
            <a:off x="0" y="3505200"/>
            <a:ext cx="9144000" cy="1428750"/>
          </a:xfrm>
        </p:spPr>
        <p:txBody>
          <a:bodyPr/>
          <a:lstStyle/>
          <a:p>
            <a:pPr marL="0" indent="0" algn="ctr">
              <a:buNone/>
            </a:pPr>
            <a:r>
              <a:rPr lang="en-US" altLang="en-US" b="1" dirty="0" err="1" smtClean="0">
                <a:solidFill>
                  <a:srgbClr val="52237F"/>
                </a:solidFill>
                <a:latin typeface="Arial" charset="0"/>
                <a:cs typeface="Arial" charset="0"/>
              </a:rPr>
              <a:t>Kuei</a:t>
            </a:r>
            <a:r>
              <a:rPr lang="en-US" altLang="en-US" b="1" dirty="0" smtClean="0">
                <a:solidFill>
                  <a:srgbClr val="52237F"/>
                </a:solidFill>
                <a:latin typeface="Arial" charset="0"/>
                <a:cs typeface="Arial" charset="0"/>
              </a:rPr>
              <a:t> (Jack) Sun</a:t>
            </a:r>
            <a:r>
              <a:rPr lang="en-US" altLang="en-US" dirty="0" smtClean="0">
                <a:latin typeface="Arial" charset="0"/>
                <a:cs typeface="Arial" charset="0"/>
              </a:rPr>
              <a:t/>
            </a:r>
            <a:br>
              <a:rPr lang="en-US" altLang="en-US" dirty="0" smtClean="0">
                <a:latin typeface="Arial" charset="0"/>
                <a:cs typeface="Arial" charset="0"/>
              </a:rPr>
            </a:br>
            <a:r>
              <a:rPr lang="en-US" altLang="en-US" b="1" dirty="0" smtClean="0">
                <a:solidFill>
                  <a:srgbClr val="52237F"/>
                </a:solidFill>
                <a:latin typeface="Arial" charset="0"/>
                <a:cs typeface="Arial" charset="0"/>
              </a:rPr>
              <a:t>University of Toronto</a:t>
            </a:r>
          </a:p>
          <a:p>
            <a:endParaRPr lang="en-US" altLang="en-US" dirty="0" smtClean="0">
              <a:latin typeface="Arial" charset="0"/>
              <a:cs typeface="Arial" charset="0"/>
            </a:endParaRPr>
          </a:p>
        </p:txBody>
      </p:sp>
    </p:spTree>
    <p:extLst>
      <p:ext uri="{BB962C8B-B14F-4D97-AF65-F5344CB8AC3E}">
        <p14:creationId xmlns:p14="http://schemas.microsoft.com/office/powerpoint/2010/main" val="13164078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Spiffy API (C++)</a:t>
            </a:r>
            <a:endParaRPr lang="en-CA"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266265495"/>
              </p:ext>
            </p:extLst>
          </p:nvPr>
        </p:nvGraphicFramePr>
        <p:xfrm>
          <a:off x="152400" y="880110"/>
          <a:ext cx="8839201" cy="3291840"/>
        </p:xfrm>
        <a:graphic>
          <a:graphicData uri="http://schemas.openxmlformats.org/drawingml/2006/table">
            <a:tbl>
              <a:tblPr firstRow="1" bandRow="1">
                <a:tableStyleId>{5C22544A-7EE6-4342-B048-85BDC9FD1C3A}</a:tableStyleId>
              </a:tblPr>
              <a:tblGrid>
                <a:gridCol w="1365648">
                  <a:extLst>
                    <a:ext uri="{9D8B030D-6E8A-4147-A177-3AD203B41FA5}">
                      <a16:colId xmlns:a16="http://schemas.microsoft.com/office/drawing/2014/main" val="20000"/>
                    </a:ext>
                  </a:extLst>
                </a:gridCol>
                <a:gridCol w="3950968">
                  <a:extLst>
                    <a:ext uri="{9D8B030D-6E8A-4147-A177-3AD203B41FA5}">
                      <a16:colId xmlns:a16="http://schemas.microsoft.com/office/drawing/2014/main" val="20001"/>
                    </a:ext>
                  </a:extLst>
                </a:gridCol>
                <a:gridCol w="3522585">
                  <a:extLst>
                    <a:ext uri="{9D8B030D-6E8A-4147-A177-3AD203B41FA5}">
                      <a16:colId xmlns:a16="http://schemas.microsoft.com/office/drawing/2014/main" val="20002"/>
                    </a:ext>
                  </a:extLst>
                </a:gridCol>
              </a:tblGrid>
              <a:tr h="265220">
                <a:tc>
                  <a:txBody>
                    <a:bodyPr/>
                    <a:lstStyle/>
                    <a:p>
                      <a:r>
                        <a:rPr lang="en-CA" sz="1400" dirty="0" smtClean="0"/>
                        <a:t>Base Class</a:t>
                      </a:r>
                      <a:endParaRPr lang="en-CA" sz="1400" dirty="0"/>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r>
                        <a:rPr lang="en-CA" sz="1400" dirty="0" smtClean="0"/>
                        <a:t>Member Functions</a:t>
                      </a:r>
                      <a:endParaRPr lang="en-CA" sz="1400" dirty="0"/>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r>
                        <a:rPr lang="en-CA" sz="1400" dirty="0" smtClean="0"/>
                        <a:t>Description</a:t>
                      </a:r>
                      <a:endParaRPr lang="en-CA" sz="1400" dirty="0"/>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265220">
                <a:tc gridSpan="3">
                  <a:txBody>
                    <a:bodyPr/>
                    <a:lstStyle/>
                    <a:p>
                      <a:r>
                        <a:rPr lang="en-CA" sz="1400" dirty="0" smtClean="0">
                          <a:latin typeface="+mn-lt"/>
                          <a:cs typeface="Courier New" panose="02070309020205020404" pitchFamily="49" charset="0"/>
                        </a:rPr>
                        <a:t>Spiffy File System Library</a:t>
                      </a:r>
                      <a:endParaRPr lang="en-CA" sz="1400" dirty="0">
                        <a:latin typeface="+mn-lt"/>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CA" sz="1600" dirty="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endParaRPr lang="en-CA" sz="16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0001"/>
                  </a:ext>
                </a:extLst>
              </a:tr>
              <a:tr h="236547">
                <a:tc rowSpan="4">
                  <a:txBody>
                    <a:bodyPr/>
                    <a:lstStyle/>
                    <a:p>
                      <a:r>
                        <a:rPr lang="en-CA" sz="1200" dirty="0" smtClean="0">
                          <a:latin typeface="Courier New" panose="02070309020205020404" pitchFamily="49" charset="0"/>
                          <a:cs typeface="Courier New" panose="02070309020205020404" pitchFamily="49" charset="0"/>
                        </a:rPr>
                        <a:t>Entity</a:t>
                      </a: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dirty="0" err="1" smtClean="0">
                          <a:latin typeface="Courier New" panose="02070309020205020404" pitchFamily="49" charset="0"/>
                          <a:cs typeface="Courier New" panose="02070309020205020404" pitchFamily="49" charset="0"/>
                        </a:rPr>
                        <a:t>int</a:t>
                      </a:r>
                      <a:r>
                        <a:rPr lang="en-CA" sz="1200" dirty="0" smtClean="0">
                          <a:latin typeface="Courier New" panose="02070309020205020404" pitchFamily="49" charset="0"/>
                          <a:cs typeface="Courier New" panose="02070309020205020404" pitchFamily="49" charset="0"/>
                        </a:rPr>
                        <a:t> </a:t>
                      </a:r>
                      <a:r>
                        <a:rPr lang="en-CA" sz="1200" dirty="0" err="1" smtClean="0">
                          <a:latin typeface="Courier New" panose="02070309020205020404" pitchFamily="49" charset="0"/>
                          <a:cs typeface="Courier New" panose="02070309020205020404" pitchFamily="49" charset="0"/>
                        </a:rPr>
                        <a:t>process_fields</a:t>
                      </a:r>
                      <a:r>
                        <a:rPr lang="en-CA" sz="1200" dirty="0" smtClean="0">
                          <a:latin typeface="Courier New" panose="02070309020205020404" pitchFamily="49" charset="0"/>
                          <a:cs typeface="Courier New" panose="02070309020205020404" pitchFamily="49" charset="0"/>
                        </a:rPr>
                        <a:t>(Visitor</a:t>
                      </a:r>
                      <a:r>
                        <a:rPr lang="en-CA" sz="1200" baseline="0" dirty="0" smtClean="0">
                          <a:latin typeface="Courier New" panose="02070309020205020404" pitchFamily="49" charset="0"/>
                          <a:cs typeface="Courier New" panose="02070309020205020404" pitchFamily="49" charset="0"/>
                        </a:rPr>
                        <a:t> &amp; v)</a:t>
                      </a: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b="0" i="0" u="none" strike="noStrike" kern="1200" baseline="0" dirty="0" smtClean="0">
                          <a:solidFill>
                            <a:schemeClr val="dk1"/>
                          </a:solidFill>
                          <a:latin typeface="+mn-lt"/>
                          <a:ea typeface="+mn-ea"/>
                          <a:cs typeface="+mn-cs"/>
                        </a:rPr>
                        <a:t>allows </a:t>
                      </a:r>
                      <a:r>
                        <a:rPr lang="en-CA" sz="1200" b="0" i="1" u="none" strike="noStrike" kern="1200" baseline="0" dirty="0" smtClean="0">
                          <a:solidFill>
                            <a:schemeClr val="dk1"/>
                          </a:solidFill>
                          <a:latin typeface="+mn-lt"/>
                          <a:ea typeface="+mn-ea"/>
                          <a:cs typeface="+mn-cs"/>
                        </a:rPr>
                        <a:t>v</a:t>
                      </a:r>
                      <a:r>
                        <a:rPr lang="en-CA" sz="1200" b="0" i="0" u="none" strike="noStrike" kern="1200" baseline="0" dirty="0" smtClean="0">
                          <a:solidFill>
                            <a:schemeClr val="dk1"/>
                          </a:solidFill>
                          <a:latin typeface="+mn-lt"/>
                          <a:ea typeface="+mn-ea"/>
                          <a:cs typeface="+mn-cs"/>
                        </a:rPr>
                        <a:t> to visit all fields of this object</a:t>
                      </a: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2"/>
                  </a:ext>
                </a:extLst>
              </a:tr>
              <a:tr h="236547">
                <a:tc vMerge="1">
                  <a:txBody>
                    <a:bodyPr/>
                    <a:lstStyle/>
                    <a:p>
                      <a:endParaRPr lang="en-CA"/>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dirty="0" err="1" smtClean="0">
                          <a:latin typeface="Courier New" panose="02070309020205020404" pitchFamily="49" charset="0"/>
                          <a:cs typeface="Courier New" panose="02070309020205020404" pitchFamily="49" charset="0"/>
                        </a:rPr>
                        <a:t>int</a:t>
                      </a:r>
                      <a:r>
                        <a:rPr lang="en-CA" sz="1200" dirty="0" smtClean="0">
                          <a:latin typeface="Courier New" panose="02070309020205020404" pitchFamily="49" charset="0"/>
                          <a:cs typeface="Courier New" panose="02070309020205020404" pitchFamily="49" charset="0"/>
                        </a:rPr>
                        <a:t> </a:t>
                      </a:r>
                      <a:r>
                        <a:rPr lang="en-CA" sz="1200" dirty="0" err="1" smtClean="0">
                          <a:latin typeface="Courier New" panose="02070309020205020404" pitchFamily="49" charset="0"/>
                          <a:cs typeface="Courier New" panose="02070309020205020404" pitchFamily="49" charset="0"/>
                        </a:rPr>
                        <a:t>process_pointer</a:t>
                      </a:r>
                      <a:r>
                        <a:rPr lang="en-CA" sz="1200" dirty="0" smtClean="0">
                          <a:latin typeface="Courier New" panose="02070309020205020404" pitchFamily="49" charset="0"/>
                          <a:cs typeface="Courier New" panose="02070309020205020404" pitchFamily="49" charset="0"/>
                        </a:rPr>
                        <a:t>(Visitor</a:t>
                      </a:r>
                      <a:r>
                        <a:rPr lang="en-CA" sz="1200" baseline="0" dirty="0" smtClean="0">
                          <a:latin typeface="Courier New" panose="02070309020205020404" pitchFamily="49" charset="0"/>
                          <a:cs typeface="Courier New" panose="02070309020205020404" pitchFamily="49" charset="0"/>
                        </a:rPr>
                        <a:t> &amp; v)</a:t>
                      </a: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b="0" i="0" u="none" strike="noStrike" kern="1200" baseline="0" dirty="0" smtClean="0">
                          <a:solidFill>
                            <a:schemeClr val="dk1"/>
                          </a:solidFill>
                          <a:latin typeface="+mn-lt"/>
                          <a:ea typeface="+mn-ea"/>
                          <a:cs typeface="+mn-cs"/>
                        </a:rPr>
                        <a:t>allows </a:t>
                      </a:r>
                      <a:r>
                        <a:rPr lang="en-CA" sz="1200" b="0" i="1" u="none" strike="noStrike" kern="1200" baseline="0" dirty="0" smtClean="0">
                          <a:solidFill>
                            <a:schemeClr val="dk1"/>
                          </a:solidFill>
                          <a:latin typeface="+mn-lt"/>
                          <a:ea typeface="+mn-ea"/>
                          <a:cs typeface="+mn-cs"/>
                        </a:rPr>
                        <a:t>v</a:t>
                      </a:r>
                      <a:r>
                        <a:rPr lang="en-CA" sz="1200" b="0" i="0" u="none" strike="noStrike" kern="1200" baseline="0" dirty="0" smtClean="0">
                          <a:solidFill>
                            <a:schemeClr val="dk1"/>
                          </a:solidFill>
                          <a:latin typeface="+mn-lt"/>
                          <a:ea typeface="+mn-ea"/>
                          <a:cs typeface="+mn-cs"/>
                        </a:rPr>
                        <a:t> to visit all pointers of this object</a:t>
                      </a:r>
                      <a:endParaRPr lang="en-CA" sz="1200" dirty="0" smtClean="0">
                        <a:latin typeface="+mn-lt"/>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3"/>
                  </a:ext>
                </a:extLst>
              </a:tr>
              <a:tr h="408582">
                <a:tc vMerge="1">
                  <a:txBody>
                    <a:bodyPr/>
                    <a:lstStyle/>
                    <a:p>
                      <a:endParaRPr lang="en-CA"/>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dirty="0" err="1" smtClean="0">
                          <a:latin typeface="Courier New" panose="02070309020205020404" pitchFamily="49" charset="0"/>
                          <a:cs typeface="Courier New" panose="02070309020205020404" pitchFamily="49" charset="0"/>
                        </a:rPr>
                        <a:t>int</a:t>
                      </a:r>
                      <a:r>
                        <a:rPr lang="en-CA" sz="1200" dirty="0" smtClean="0">
                          <a:latin typeface="Courier New" panose="02070309020205020404" pitchFamily="49" charset="0"/>
                          <a:cs typeface="Courier New" panose="02070309020205020404" pitchFamily="49" charset="0"/>
                        </a:rPr>
                        <a:t> </a:t>
                      </a:r>
                      <a:r>
                        <a:rPr lang="en-CA" sz="1200" dirty="0" err="1" smtClean="0">
                          <a:latin typeface="Courier New" panose="02070309020205020404" pitchFamily="49" charset="0"/>
                          <a:cs typeface="Courier New" panose="02070309020205020404" pitchFamily="49" charset="0"/>
                        </a:rPr>
                        <a:t>process_by_type</a:t>
                      </a:r>
                      <a:r>
                        <a:rPr lang="en-CA" sz="1200" dirty="0" smtClean="0">
                          <a:latin typeface="Courier New" panose="02070309020205020404" pitchFamily="49" charset="0"/>
                          <a:cs typeface="Courier New" panose="02070309020205020404" pitchFamily="49" charset="0"/>
                        </a:rPr>
                        <a:t>(</a:t>
                      </a:r>
                      <a:r>
                        <a:rPr lang="en-CA" sz="1200" dirty="0" err="1" smtClean="0">
                          <a:latin typeface="Courier New" panose="02070309020205020404" pitchFamily="49" charset="0"/>
                          <a:cs typeface="Courier New" panose="02070309020205020404" pitchFamily="49" charset="0"/>
                        </a:rPr>
                        <a:t>int</a:t>
                      </a:r>
                      <a:r>
                        <a:rPr lang="en-CA" sz="1200" dirty="0" smtClean="0">
                          <a:latin typeface="Courier New" panose="02070309020205020404" pitchFamily="49" charset="0"/>
                          <a:cs typeface="Courier New" panose="02070309020205020404" pitchFamily="49" charset="0"/>
                        </a:rPr>
                        <a:t> t, </a:t>
                      </a:r>
                    </a:p>
                    <a:p>
                      <a:pPr marL="0" marR="0" lvl="0" indent="0" algn="l" defTabSz="457200" rtl="0" eaLnBrk="1" fontAlgn="auto" latinLnBrk="0" hangingPunct="1">
                        <a:lnSpc>
                          <a:spcPct val="100000"/>
                        </a:lnSpc>
                        <a:spcBef>
                          <a:spcPts val="0"/>
                        </a:spcBef>
                        <a:spcAft>
                          <a:spcPts val="0"/>
                        </a:spcAft>
                        <a:buClrTx/>
                        <a:buSzTx/>
                        <a:buFontTx/>
                        <a:buNone/>
                        <a:tabLst/>
                        <a:defRPr/>
                      </a:pPr>
                      <a:r>
                        <a:rPr lang="en-CA" sz="1200" dirty="0" smtClean="0">
                          <a:latin typeface="Courier New" panose="02070309020205020404" pitchFamily="49" charset="0"/>
                          <a:cs typeface="Courier New" panose="02070309020205020404" pitchFamily="49" charset="0"/>
                        </a:rPr>
                        <a:t>                    Visitor</a:t>
                      </a:r>
                      <a:r>
                        <a:rPr lang="en-CA" sz="1200" baseline="0" dirty="0" smtClean="0">
                          <a:latin typeface="Courier New" panose="02070309020205020404" pitchFamily="49" charset="0"/>
                          <a:cs typeface="Courier New" panose="02070309020205020404" pitchFamily="49" charset="0"/>
                        </a:rPr>
                        <a:t> &amp; v)</a:t>
                      </a: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b="0" i="0" u="none" strike="noStrike" kern="1200" baseline="0" dirty="0" smtClean="0">
                          <a:solidFill>
                            <a:schemeClr val="dk1"/>
                          </a:solidFill>
                          <a:latin typeface="+mn-lt"/>
                          <a:ea typeface="+mn-ea"/>
                          <a:cs typeface="+mn-cs"/>
                        </a:rPr>
                        <a:t>allows </a:t>
                      </a:r>
                      <a:r>
                        <a:rPr lang="en-CA" sz="1200" b="0" i="1" u="none" strike="noStrike" kern="1200" baseline="0" dirty="0" smtClean="0">
                          <a:solidFill>
                            <a:schemeClr val="dk1"/>
                          </a:solidFill>
                          <a:latin typeface="+mn-lt"/>
                          <a:ea typeface="+mn-ea"/>
                          <a:cs typeface="+mn-cs"/>
                        </a:rPr>
                        <a:t>v</a:t>
                      </a:r>
                      <a:r>
                        <a:rPr lang="en-CA" sz="1200" b="0" i="0" u="none" strike="noStrike" kern="1200" baseline="0" dirty="0" smtClean="0">
                          <a:solidFill>
                            <a:schemeClr val="dk1"/>
                          </a:solidFill>
                          <a:latin typeface="+mn-lt"/>
                          <a:ea typeface="+mn-ea"/>
                          <a:cs typeface="+mn-cs"/>
                        </a:rPr>
                        <a:t> to visit all structures of type </a:t>
                      </a:r>
                      <a:r>
                        <a:rPr lang="en-CA" sz="1200" b="0" i="1" u="none" strike="noStrike" kern="1200" baseline="0" dirty="0" smtClean="0">
                          <a:solidFill>
                            <a:schemeClr val="dk1"/>
                          </a:solidFill>
                          <a:latin typeface="+mn-lt"/>
                          <a:ea typeface="+mn-ea"/>
                          <a:cs typeface="+mn-cs"/>
                        </a:rPr>
                        <a:t>t </a:t>
                      </a:r>
                      <a:r>
                        <a:rPr lang="en-CA" sz="1200" b="0" i="0" u="none" strike="noStrike" kern="1200" baseline="0" dirty="0" smtClean="0">
                          <a:solidFill>
                            <a:schemeClr val="dk1"/>
                          </a:solidFill>
                          <a:latin typeface="+mn-lt"/>
                          <a:ea typeface="+mn-ea"/>
                          <a:cs typeface="+mn-cs"/>
                        </a:rPr>
                        <a:t>that is reachable from this object</a:t>
                      </a:r>
                      <a:endParaRPr lang="en-CA" sz="1200" i="1" dirty="0">
                        <a:latin typeface="+mn-lt"/>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4"/>
                  </a:ext>
                </a:extLst>
              </a:tr>
              <a:tr h="236547">
                <a:tc vMerge="1">
                  <a:txBody>
                    <a:bodyPr/>
                    <a:lstStyle/>
                    <a:p>
                      <a:endParaRPr lang="en-CA"/>
                    </a:p>
                  </a:txBody>
                  <a:tcPr/>
                </a:tc>
                <a:tc>
                  <a:txBody>
                    <a:bodyPr/>
                    <a:lstStyle/>
                    <a:p>
                      <a:r>
                        <a:rPr lang="en-CA" sz="1200" dirty="0" err="1" smtClean="0">
                          <a:latin typeface="Courier New" panose="02070309020205020404" pitchFamily="49" charset="0"/>
                          <a:cs typeface="Courier New" panose="02070309020205020404" pitchFamily="49" charset="0"/>
                        </a:rPr>
                        <a:t>get_name</a:t>
                      </a:r>
                      <a:r>
                        <a:rPr lang="en-CA" sz="1200" dirty="0" smtClean="0">
                          <a:latin typeface="Courier New" panose="02070309020205020404" pitchFamily="49" charset="0"/>
                          <a:cs typeface="Courier New" panose="02070309020205020404" pitchFamily="49" charset="0"/>
                        </a:rPr>
                        <a:t>(),</a:t>
                      </a:r>
                      <a:r>
                        <a:rPr lang="en-CA" sz="1200" baseline="0" dirty="0" smtClean="0">
                          <a:latin typeface="Courier New" panose="02070309020205020404" pitchFamily="49" charset="0"/>
                          <a:cs typeface="Courier New" panose="02070309020205020404" pitchFamily="49" charset="0"/>
                        </a:rPr>
                        <a:t> </a:t>
                      </a:r>
                      <a:r>
                        <a:rPr lang="en-CA" sz="1200" dirty="0" err="1" smtClean="0">
                          <a:latin typeface="Courier New" panose="02070309020205020404" pitchFamily="49" charset="0"/>
                          <a:cs typeface="Courier New" panose="02070309020205020404" pitchFamily="49" charset="0"/>
                        </a:rPr>
                        <a:t>get_size</a:t>
                      </a:r>
                      <a:r>
                        <a:rPr lang="en-CA" sz="1200" dirty="0" smtClean="0">
                          <a:latin typeface="Courier New" panose="02070309020205020404" pitchFamily="49" charset="0"/>
                          <a:cs typeface="Courier New" panose="02070309020205020404" pitchFamily="49" charset="0"/>
                        </a:rPr>
                        <a:t>(), etc.</a:t>
                      </a:r>
                      <a:endParaRPr lang="en-CA" sz="1200" dirty="0">
                        <a:latin typeface="Courier New" panose="02070309020205020404" pitchFamily="49" charset="0"/>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dirty="0" smtClean="0"/>
                        <a:t>allows for type introspection </a:t>
                      </a:r>
                      <a:endParaRPr lang="en-CA" sz="1200" dirty="0"/>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5"/>
                  </a:ext>
                </a:extLst>
              </a:tr>
              <a:tr h="236547">
                <a:tc>
                  <a:txBody>
                    <a:bodyPr/>
                    <a:lstStyle/>
                    <a:p>
                      <a:r>
                        <a:rPr lang="en-CA" sz="1200" dirty="0" smtClean="0">
                          <a:latin typeface="Courier New" panose="02070309020205020404" pitchFamily="49" charset="0"/>
                          <a:cs typeface="Courier New" panose="02070309020205020404" pitchFamily="49" charset="0"/>
                        </a:rPr>
                        <a:t>Container</a:t>
                      </a:r>
                      <a:endParaRPr lang="en-CA" sz="1200" dirty="0">
                        <a:latin typeface="Courier New" panose="02070309020205020404" pitchFamily="49" charset="0"/>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dirty="0" err="1" smtClean="0">
                          <a:latin typeface="Courier New" panose="02070309020205020404" pitchFamily="49" charset="0"/>
                          <a:cs typeface="Courier New" panose="02070309020205020404" pitchFamily="49" charset="0"/>
                        </a:rPr>
                        <a:t>int</a:t>
                      </a:r>
                      <a:r>
                        <a:rPr lang="en-CA" sz="1200" dirty="0" smtClean="0">
                          <a:latin typeface="Courier New" panose="02070309020205020404" pitchFamily="49" charset="0"/>
                          <a:cs typeface="Courier New" panose="02070309020205020404" pitchFamily="49" charset="0"/>
                        </a:rPr>
                        <a:t> save()</a:t>
                      </a:r>
                      <a:endParaRPr lang="en-CA" sz="1200" dirty="0">
                        <a:latin typeface="Courier New" panose="02070309020205020404" pitchFamily="49" charset="0"/>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b="0" i="0" u="none" strike="noStrike" kern="1200" baseline="0" dirty="0" smtClean="0">
                          <a:solidFill>
                            <a:schemeClr val="dk1"/>
                          </a:solidFill>
                          <a:latin typeface="+mn-lt"/>
                          <a:ea typeface="+mn-ea"/>
                          <a:cs typeface="+mn-cs"/>
                        </a:rPr>
                        <a:t>serializes and persists the container</a:t>
                      </a:r>
                      <a:endParaRPr lang="en-CA" sz="1200" dirty="0"/>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6"/>
                  </a:ext>
                </a:extLst>
              </a:tr>
              <a:tr h="236547">
                <a:tc>
                  <a:txBody>
                    <a:bodyPr/>
                    <a:lstStyle/>
                    <a:p>
                      <a:r>
                        <a:rPr lang="en-CA" sz="1200" dirty="0" smtClean="0">
                          <a:latin typeface="Courier New" panose="02070309020205020404" pitchFamily="49" charset="0"/>
                          <a:cs typeface="Courier New" panose="02070309020205020404" pitchFamily="49" charset="0"/>
                        </a:rPr>
                        <a:t>Pointer</a:t>
                      </a:r>
                      <a:endParaRPr lang="en-CA" sz="1200" dirty="0">
                        <a:latin typeface="Courier New" panose="02070309020205020404" pitchFamily="49" charset="0"/>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dirty="0" smtClean="0">
                          <a:latin typeface="Courier New" panose="02070309020205020404" pitchFamily="49" charset="0"/>
                          <a:cs typeface="Courier New" panose="02070309020205020404" pitchFamily="49" charset="0"/>
                        </a:rPr>
                        <a:t>Container</a:t>
                      </a:r>
                      <a:r>
                        <a:rPr lang="en-CA" sz="1200" baseline="0" dirty="0" smtClean="0">
                          <a:latin typeface="Courier New" panose="02070309020205020404" pitchFamily="49" charset="0"/>
                          <a:cs typeface="Courier New" panose="02070309020205020404" pitchFamily="49" charset="0"/>
                        </a:rPr>
                        <a:t> * fetch()</a:t>
                      </a:r>
                      <a:endParaRPr lang="en-CA" sz="1200" dirty="0">
                        <a:latin typeface="Courier New" panose="02070309020205020404" pitchFamily="49" charset="0"/>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b="0" i="0" u="none" strike="noStrike" kern="1200" baseline="0" dirty="0" smtClean="0">
                          <a:solidFill>
                            <a:schemeClr val="dk1"/>
                          </a:solidFill>
                          <a:latin typeface="+mn-lt"/>
                          <a:ea typeface="+mn-ea"/>
                          <a:cs typeface="+mn-cs"/>
                        </a:rPr>
                        <a:t>retrieves pointed-to container from disk</a:t>
                      </a:r>
                      <a:endParaRPr lang="en-CA" sz="1200" dirty="0"/>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7"/>
                  </a:ext>
                </a:extLst>
              </a:tr>
              <a:tr h="236547">
                <a:tc rowSpan="2">
                  <a:txBody>
                    <a:bodyPr/>
                    <a:lstStyle/>
                    <a:p>
                      <a:r>
                        <a:rPr lang="en-CA" sz="1200" dirty="0" err="1" smtClean="0">
                          <a:latin typeface="Courier New" panose="02070309020205020404" pitchFamily="49" charset="0"/>
                          <a:cs typeface="Courier New" panose="02070309020205020404" pitchFamily="49" charset="0"/>
                        </a:rPr>
                        <a:t>FileSystem</a:t>
                      </a:r>
                      <a:endParaRPr lang="en-CA" sz="1200" dirty="0">
                        <a:latin typeface="Courier New" panose="02070309020205020404" pitchFamily="49" charset="0"/>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FileSystem</a:t>
                      </a:r>
                      <a:r>
                        <a:rPr lang="en-CA" sz="12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(IO &amp; </a:t>
                      </a:r>
                      <a:r>
                        <a:rPr lang="en-CA" sz="12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io</a:t>
                      </a:r>
                      <a:r>
                        <a:rPr lang="en-CA" sz="1200" b="0" i="0" u="none" strike="noStrike" kern="1200" baseline="0" smtClean="0">
                          <a:solidFill>
                            <a:schemeClr val="dk1"/>
                          </a:solidFill>
                          <a:latin typeface="Courier New" panose="02070309020205020404" pitchFamily="49" charset="0"/>
                          <a:ea typeface="+mn-ea"/>
                          <a:cs typeface="Courier New" panose="02070309020205020404" pitchFamily="49" charset="0"/>
                        </a:rPr>
                        <a:t>) </a:t>
                      </a:r>
                      <a:endParaRPr lang="en-CA" sz="1200" b="0" i="0" u="none" strike="noStrike" kern="1200" baseline="0" dirty="0" smtClean="0">
                        <a:solidFill>
                          <a:schemeClr val="dk1"/>
                        </a:solidFill>
                        <a:latin typeface="Courier New" panose="02070309020205020404" pitchFamily="49" charset="0"/>
                        <a:ea typeface="+mn-ea"/>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b="0" i="0" u="none" strike="noStrike" kern="1200" baseline="0" dirty="0" smtClean="0">
                          <a:solidFill>
                            <a:schemeClr val="dk1"/>
                          </a:solidFill>
                          <a:latin typeface="+mn-lt"/>
                          <a:ea typeface="+mn-ea"/>
                          <a:cs typeface="+mn-cs"/>
                        </a:rPr>
                        <a:t>instantiates a new file system object</a:t>
                      </a: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8"/>
                  </a:ext>
                </a:extLst>
              </a:tr>
              <a:tr h="236547">
                <a:tc vMerge="1">
                  <a:txBody>
                    <a:bodyPr/>
                    <a:lstStyle/>
                    <a:p>
                      <a:endParaRPr lang="en-CA"/>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dirty="0" smtClean="0">
                          <a:latin typeface="Courier New" panose="02070309020205020404" pitchFamily="49" charset="0"/>
                          <a:cs typeface="Courier New" panose="02070309020205020404" pitchFamily="49" charset="0"/>
                        </a:rPr>
                        <a:t>Container</a:t>
                      </a:r>
                      <a:r>
                        <a:rPr lang="en-CA" sz="12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 </a:t>
                      </a:r>
                      <a:r>
                        <a:rPr lang="en-CA" sz="1200" b="0" i="0" u="none" strike="noStrike" kern="1200" baseline="0" dirty="0" err="1" smtClean="0">
                          <a:solidFill>
                            <a:schemeClr val="dk1"/>
                          </a:solidFill>
                          <a:latin typeface="Courier New" panose="02070309020205020404" pitchFamily="49" charset="0"/>
                          <a:ea typeface="+mn-ea"/>
                          <a:cs typeface="Courier New" panose="02070309020205020404" pitchFamily="49" charset="0"/>
                        </a:rPr>
                        <a:t>fetch_super</a:t>
                      </a:r>
                      <a:r>
                        <a:rPr lang="en-CA" sz="1200" b="0" i="0" u="none" strike="noStrike" kern="1200" baseline="0" dirty="0" smtClean="0">
                          <a:solidFill>
                            <a:schemeClr val="dk1"/>
                          </a:solidFill>
                          <a:latin typeface="Courier New" panose="02070309020205020404" pitchFamily="49" charset="0"/>
                          <a:ea typeface="+mn-ea"/>
                          <a:cs typeface="Courier New" panose="02070309020205020404" pitchFamily="49" charset="0"/>
                        </a:rPr>
                        <a:t>() </a:t>
                      </a: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b="0" i="0" u="none" strike="noStrike" kern="1200" baseline="0" dirty="0" smtClean="0">
                          <a:solidFill>
                            <a:schemeClr val="dk1"/>
                          </a:solidFill>
                          <a:latin typeface="+mn-lt"/>
                          <a:ea typeface="+mn-ea"/>
                          <a:cs typeface="+mn-cs"/>
                        </a:rPr>
                        <a:t>retrieves the super block from disk</a:t>
                      </a: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9"/>
                  </a:ext>
                </a:extLst>
              </a:tr>
              <a:tr h="265220">
                <a:tc gridSpan="3">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400" dirty="0" smtClean="0">
                          <a:latin typeface="+mn-lt"/>
                          <a:cs typeface="Courier New" panose="02070309020205020404" pitchFamily="49" charset="0"/>
                        </a:rPr>
                        <a:t>Application Developer</a:t>
                      </a: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CA" sz="1600" dirty="0" smtClean="0">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endParaRPr lang="en-CA" sz="1600" dirty="0" smtClean="0">
                        <a:latin typeface="+mn-lt"/>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0010"/>
                  </a:ext>
                </a:extLst>
              </a:tr>
              <a:tr h="236547">
                <a:tc>
                  <a:txBody>
                    <a:bodyPr/>
                    <a:lstStyle/>
                    <a:p>
                      <a:r>
                        <a:rPr lang="en-CA" sz="1200" dirty="0" smtClean="0">
                          <a:latin typeface="Courier New" panose="02070309020205020404" pitchFamily="49" charset="0"/>
                          <a:cs typeface="Courier New" panose="02070309020205020404" pitchFamily="49" charset="0"/>
                        </a:rPr>
                        <a:t>Visitor</a:t>
                      </a:r>
                      <a:endParaRPr lang="en-CA" sz="1200" dirty="0">
                        <a:latin typeface="Courier New" panose="02070309020205020404" pitchFamily="49" charset="0"/>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dirty="0" smtClean="0">
                          <a:latin typeface="Courier New" panose="02070309020205020404" pitchFamily="49" charset="0"/>
                          <a:cs typeface="Courier New" panose="02070309020205020404" pitchFamily="49" charset="0"/>
                        </a:rPr>
                        <a:t>virtual </a:t>
                      </a:r>
                      <a:r>
                        <a:rPr lang="en-CA" sz="1200" dirty="0" err="1" smtClean="0">
                          <a:latin typeface="Courier New" panose="02070309020205020404" pitchFamily="49" charset="0"/>
                          <a:cs typeface="Courier New" panose="02070309020205020404" pitchFamily="49" charset="0"/>
                        </a:rPr>
                        <a:t>int</a:t>
                      </a:r>
                      <a:r>
                        <a:rPr lang="en-CA" sz="1200" dirty="0" smtClean="0">
                          <a:latin typeface="Courier New" panose="02070309020205020404" pitchFamily="49" charset="0"/>
                          <a:cs typeface="Courier New" panose="02070309020205020404" pitchFamily="49" charset="0"/>
                        </a:rPr>
                        <a:t> visit(Entity</a:t>
                      </a:r>
                      <a:r>
                        <a:rPr lang="en-CA" sz="1200" baseline="0" dirty="0" smtClean="0">
                          <a:latin typeface="Courier New" panose="02070309020205020404" pitchFamily="49" charset="0"/>
                          <a:cs typeface="Courier New" panose="02070309020205020404" pitchFamily="49" charset="0"/>
                        </a:rPr>
                        <a:t> &amp; e)=0;</a:t>
                      </a:r>
                      <a:endParaRPr lang="en-CA" sz="1200" dirty="0" smtClean="0">
                        <a:latin typeface="Courier New" panose="02070309020205020404" pitchFamily="49" charset="0"/>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CA" sz="1200" b="0" i="0" u="none" strike="noStrike" kern="1200" baseline="0" dirty="0" smtClean="0">
                          <a:solidFill>
                            <a:schemeClr val="dk1"/>
                          </a:solidFill>
                          <a:latin typeface="+mn-lt"/>
                          <a:ea typeface="+mn-ea"/>
                          <a:cs typeface="+mn-cs"/>
                        </a:rPr>
                        <a:t>visits an entity and possibly processes it</a:t>
                      </a:r>
                      <a:endParaRPr lang="en-CA" sz="1200" dirty="0" smtClean="0">
                        <a:latin typeface="+mn-lt"/>
                        <a:cs typeface="Courier New" panose="02070309020205020404" pitchFamily="49" charset="0"/>
                      </a:endParaRPr>
                    </a:p>
                  </a:txBody>
                  <a:tcPr marL="68580" marR="68580" marT="34290" marB="3429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48326728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File-System Agnostic Traversal</a:t>
            </a:r>
            <a:endParaRPr lang="en-CA" dirty="0"/>
          </a:p>
        </p:txBody>
      </p:sp>
      <p:sp>
        <p:nvSpPr>
          <p:cNvPr id="3" name="Content Placeholder 2"/>
          <p:cNvSpPr>
            <a:spLocks noGrp="1"/>
          </p:cNvSpPr>
          <p:nvPr>
            <p:ph sz="half" idx="1"/>
          </p:nvPr>
        </p:nvSpPr>
        <p:spPr>
          <a:xfrm>
            <a:off x="513159" y="971550"/>
            <a:ext cx="3858817" cy="3492629"/>
          </a:xfrm>
        </p:spPr>
        <p:txBody>
          <a:bodyPr>
            <a:noAutofit/>
          </a:bodyPr>
          <a:lstStyle/>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EntVisitor</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ev</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PtrVisitor</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pv</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b="1" dirty="0" err="1">
                <a:latin typeface="Courier New" panose="02070309020205020404" pitchFamily="49" charset="0"/>
                <a:cs typeface="Courier New" panose="02070309020205020404" pitchFamily="49" charset="0"/>
              </a:rPr>
              <a:t>int</a:t>
            </a: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PtrVisitor</a:t>
            </a:r>
            <a:r>
              <a:rPr lang="en-CA" sz="1350" b="1" dirty="0">
                <a:latin typeface="Courier New" panose="02070309020205020404" pitchFamily="49" charset="0"/>
                <a:cs typeface="Courier New" panose="02070309020205020404" pitchFamily="49" charset="0"/>
              </a:rPr>
              <a:t>::visit(Entity &amp; </a:t>
            </a:r>
            <a:r>
              <a:rPr lang="en-CA" sz="1350" b="1" dirty="0" smtClean="0">
                <a:latin typeface="Courier New" panose="02070309020205020404" pitchFamily="49" charset="0"/>
                <a:cs typeface="Courier New" panose="02070309020205020404" pitchFamily="49" charset="0"/>
              </a:rPr>
              <a:t>p) </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Container *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tmp</a:t>
            </a:r>
            <a:r>
              <a:rPr lang="en-CA" sz="1350" b="1" dirty="0">
                <a:latin typeface="Courier New" panose="02070309020205020404" pitchFamily="49" charset="0"/>
                <a:cs typeface="Courier New" panose="02070309020205020404" pitchFamily="49" charset="0"/>
              </a:rPr>
              <a:t> = </a:t>
            </a:r>
            <a:r>
              <a:rPr lang="en-CA" sz="1350" b="1" dirty="0" err="1" smtClean="0">
                <a:latin typeface="Courier New" panose="02070309020205020404" pitchFamily="49" charset="0"/>
                <a:cs typeface="Courier New" panose="02070309020205020404" pitchFamily="49" charset="0"/>
              </a:rPr>
              <a:t>p.to_pointer</a:t>
            </a:r>
            <a:r>
              <a:rPr lang="en-CA" sz="1350" b="1" dirty="0" smtClean="0">
                <a:latin typeface="Courier New" panose="02070309020205020404" pitchFamily="49" charset="0"/>
                <a:cs typeface="Courier New" panose="02070309020205020404" pitchFamily="49" charset="0"/>
              </a:rPr>
              <a:t>()-&gt;fetch</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if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 != </a:t>
            </a:r>
            <a:r>
              <a:rPr lang="en-CA" sz="1350" dirty="0" err="1">
                <a:latin typeface="Courier New" panose="02070309020205020404" pitchFamily="49" charset="0"/>
                <a:cs typeface="Courier New" panose="02070309020205020404" pitchFamily="49" charset="0"/>
              </a:rPr>
              <a:t>nullptr</a:t>
            </a: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ev.visit</a:t>
            </a:r>
            <a:r>
              <a:rPr lang="en-CA" sz="1350" b="1" dirty="0">
                <a:latin typeface="Courier New" panose="02070309020205020404" pitchFamily="49" charset="0"/>
                <a:cs typeface="Courier New" panose="02070309020205020404" pitchFamily="49" charset="0"/>
              </a:rPr>
              <a:t>(*</a:t>
            </a:r>
            <a:r>
              <a:rPr lang="en-CA" sz="1350" b="1" dirty="0" err="1">
                <a:latin typeface="Courier New" panose="02070309020205020404" pitchFamily="49" charset="0"/>
                <a:cs typeface="Courier New" panose="02070309020205020404" pitchFamily="49" charset="0"/>
              </a:rPr>
              <a:t>tmp</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return 0;</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int</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EntVisitor</a:t>
            </a:r>
            <a:r>
              <a:rPr lang="en-CA" sz="1350"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cout</a:t>
            </a:r>
            <a:r>
              <a:rPr lang="en-CA" sz="1350" dirty="0">
                <a:latin typeface="Courier New" panose="02070309020205020404" pitchFamily="49" charset="0"/>
                <a:cs typeface="Courier New" panose="02070309020205020404" pitchFamily="49" charset="0"/>
              </a:rPr>
              <a:t> &lt;&lt; </a:t>
            </a:r>
            <a:r>
              <a:rPr lang="en-CA" sz="1350" dirty="0" err="1">
                <a:latin typeface="Courier New" panose="02070309020205020404" pitchFamily="49" charset="0"/>
                <a:cs typeface="Courier New" panose="02070309020205020404" pitchFamily="49" charset="0"/>
              </a:rPr>
              <a:t>e.get_name</a:t>
            </a:r>
            <a:r>
              <a:rPr lang="en-CA" sz="1350" dirty="0">
                <a:latin typeface="Courier New" panose="02070309020205020404" pitchFamily="49" charset="0"/>
                <a:cs typeface="Courier New" panose="02070309020205020404" pitchFamily="49" charset="0"/>
              </a:rPr>
              <a:t>() &lt;&lt; </a:t>
            </a:r>
            <a:r>
              <a:rPr lang="en-CA" sz="1350" dirty="0" err="1">
                <a:latin typeface="Courier New" panose="02070309020205020404" pitchFamily="49" charset="0"/>
                <a:cs typeface="Courier New" panose="02070309020205020404" pitchFamily="49" charset="0"/>
              </a:rPr>
              <a:t>endl</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return </a:t>
            </a:r>
            <a:r>
              <a:rPr lang="en-CA" sz="1350" dirty="0" err="1">
                <a:latin typeface="Courier New" panose="02070309020205020404" pitchFamily="49" charset="0"/>
                <a:cs typeface="Courier New" panose="02070309020205020404" pitchFamily="49" charset="0"/>
              </a:rPr>
              <a:t>e.process_pointers</a:t>
            </a:r>
            <a:r>
              <a:rPr lang="en-CA" sz="1350" dirty="0">
                <a:latin typeface="Courier New" panose="02070309020205020404" pitchFamily="49" charset="0"/>
                <a:cs typeface="Courier New" panose="02070309020205020404" pitchFamily="49" charset="0"/>
              </a:rPr>
              <a:t>(</a:t>
            </a:r>
            <a:r>
              <a:rPr lang="en-CA" sz="1350" dirty="0" err="1">
                <a:latin typeface="Courier New" panose="02070309020205020404" pitchFamily="49" charset="0"/>
                <a:cs typeface="Courier New" panose="02070309020205020404" pitchFamily="49" charset="0"/>
              </a:rPr>
              <a:t>pv</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p:txBody>
      </p:sp>
      <p:sp>
        <p:nvSpPr>
          <p:cNvPr id="5" name="Content Placeholder 4"/>
          <p:cNvSpPr>
            <a:spLocks noGrp="1"/>
          </p:cNvSpPr>
          <p:nvPr>
            <p:ph sz="half" idx="2"/>
          </p:nvPr>
        </p:nvSpPr>
        <p:spPr>
          <a:xfrm>
            <a:off x="4371975" y="971550"/>
            <a:ext cx="4038600" cy="1968629"/>
          </a:xfrm>
        </p:spPr>
        <p:txBody>
          <a:bodyPr>
            <a:noAutofit/>
          </a:bodyPr>
          <a:lstStyle/>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void main(void)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Ext4IO </a:t>
            </a:r>
            <a:r>
              <a:rPr lang="en-CA" sz="1350" dirty="0" err="1">
                <a:latin typeface="Courier New" panose="02070309020205020404" pitchFamily="49" charset="0"/>
                <a:cs typeface="Courier New" panose="02070309020205020404" pitchFamily="49" charset="0"/>
              </a:rPr>
              <a:t>io</a:t>
            </a:r>
            <a:r>
              <a:rPr lang="en-CA" sz="1350" dirty="0">
                <a:latin typeface="Courier New" panose="02070309020205020404" pitchFamily="49" charset="0"/>
                <a:cs typeface="Courier New" panose="02070309020205020404" pitchFamily="49" charset="0"/>
              </a:rPr>
              <a:t>("/dev/sdb1");</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Ext4 fs(</a:t>
            </a:r>
            <a:r>
              <a:rPr lang="en-CA" sz="1350" dirty="0" err="1">
                <a:latin typeface="Courier New" panose="02070309020205020404" pitchFamily="49" charset="0"/>
                <a:cs typeface="Courier New" panose="02070309020205020404" pitchFamily="49" charset="0"/>
              </a:rPr>
              <a:t>io</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Container * sup = </a:t>
            </a:r>
            <a:r>
              <a:rPr lang="en-CA" sz="1350" dirty="0" err="1">
                <a:latin typeface="Courier New" panose="02070309020205020404" pitchFamily="49" charset="0"/>
                <a:cs typeface="Courier New" panose="02070309020205020404" pitchFamily="49" charset="0"/>
              </a:rPr>
              <a:t>fs.fetch_super</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if (sup != </a:t>
            </a:r>
            <a:r>
              <a:rPr lang="en-CA" sz="1350" dirty="0" err="1">
                <a:latin typeface="Courier New" panose="02070309020205020404" pitchFamily="49" charset="0"/>
                <a:cs typeface="Courier New" panose="02070309020205020404" pitchFamily="49" charset="0"/>
              </a:rPr>
              <a:t>nullptr</a:t>
            </a: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ev.visit</a:t>
            </a:r>
            <a:r>
              <a:rPr lang="en-CA" sz="1350" dirty="0">
                <a:latin typeface="Courier New" panose="02070309020205020404" pitchFamily="49" charset="0"/>
                <a:cs typeface="Courier New" panose="02070309020205020404" pitchFamily="49" charset="0"/>
              </a:rPr>
              <a:t>(*sup);</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sup-&gt;destroy();</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a:p>
            <a:pPr>
              <a:spcBef>
                <a:spcPts val="0"/>
              </a:spcBef>
              <a:spcAft>
                <a:spcPts val="0"/>
              </a:spcAft>
            </a:pPr>
            <a:endParaRPr lang="en-CA" sz="1350" dirty="0"/>
          </a:p>
        </p:txBody>
      </p:sp>
      <p:sp>
        <p:nvSpPr>
          <p:cNvPr id="6" name="Content Placeholder 4"/>
          <p:cNvSpPr txBox="1">
            <a:spLocks/>
          </p:cNvSpPr>
          <p:nvPr/>
        </p:nvSpPr>
        <p:spPr>
          <a:xfrm>
            <a:off x="4371975" y="3105150"/>
            <a:ext cx="4038600" cy="1352550"/>
          </a:xfrm>
          <a:prstGeom prst="rect">
            <a:avLst/>
          </a:prstGeom>
        </p:spPr>
        <p:txBody>
          <a:bodyPr vert="horz" lIns="68580" tIns="34290" rIns="68580" bIns="3429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a:spcBef>
                <a:spcPts val="0"/>
              </a:spcBef>
              <a:spcAft>
                <a:spcPts val="0"/>
              </a:spcAft>
              <a:buClr>
                <a:srgbClr val="007089"/>
              </a:buClr>
            </a:pPr>
            <a:r>
              <a:rPr lang="en-CA" sz="1800" dirty="0" err="1">
                <a:solidFill>
                  <a:srgbClr val="000000"/>
                </a:solidFill>
              </a:rPr>
              <a:t>PtrVisitor</a:t>
            </a:r>
            <a:r>
              <a:rPr lang="en-CA" sz="1800" dirty="0">
                <a:solidFill>
                  <a:srgbClr val="000000"/>
                </a:solidFill>
              </a:rPr>
              <a:t> fetches the pointed-to Container from disk, then calls </a:t>
            </a:r>
            <a:r>
              <a:rPr lang="en-CA" sz="1800" dirty="0" err="1">
                <a:solidFill>
                  <a:srgbClr val="000000"/>
                </a:solidFill>
                <a:latin typeface="Courier New" panose="02070309020205020404" pitchFamily="49" charset="0"/>
                <a:cs typeface="Courier New" panose="02070309020205020404" pitchFamily="49" charset="0"/>
              </a:rPr>
              <a:t>EntVisitor</a:t>
            </a:r>
            <a:r>
              <a:rPr lang="en-CA" sz="1800" dirty="0">
                <a:solidFill>
                  <a:srgbClr val="000000"/>
                </a:solidFill>
                <a:latin typeface="Courier New" panose="02070309020205020404" pitchFamily="49" charset="0"/>
                <a:cs typeface="Courier New" panose="02070309020205020404" pitchFamily="49" charset="0"/>
              </a:rPr>
              <a:t>::visit </a:t>
            </a:r>
            <a:r>
              <a:rPr lang="en-CA" sz="1800" dirty="0">
                <a:solidFill>
                  <a:srgbClr val="000000"/>
                </a:solidFill>
              </a:rPr>
              <a:t>on the pointed-to Container</a:t>
            </a:r>
          </a:p>
        </p:txBody>
      </p:sp>
    </p:spTree>
    <p:extLst>
      <p:ext uri="{BB962C8B-B14F-4D97-AF65-F5344CB8AC3E}">
        <p14:creationId xmlns:p14="http://schemas.microsoft.com/office/powerpoint/2010/main" val="396606857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Generi</a:t>
            </a:r>
            <a:r>
              <a:rPr lang="en-CA" dirty="0" smtClean="0"/>
              <a:t>c </a:t>
            </a:r>
            <a:r>
              <a:rPr lang="en-CA" dirty="0" smtClean="0"/>
              <a:t>File-System Traversal</a:t>
            </a:r>
            <a:endParaRPr lang="en-CA" dirty="0"/>
          </a:p>
        </p:txBody>
      </p:sp>
      <p:sp>
        <p:nvSpPr>
          <p:cNvPr id="3" name="Content Placeholder 2"/>
          <p:cNvSpPr>
            <a:spLocks noGrp="1"/>
          </p:cNvSpPr>
          <p:nvPr>
            <p:ph sz="half" idx="1"/>
          </p:nvPr>
        </p:nvSpPr>
        <p:spPr>
          <a:xfrm>
            <a:off x="513159" y="971550"/>
            <a:ext cx="3858817" cy="3492629"/>
          </a:xfrm>
        </p:spPr>
        <p:txBody>
          <a:bodyPr>
            <a:noAutofit/>
          </a:bodyPr>
          <a:lstStyle/>
          <a:p>
            <a:pPr marL="0" indent="0">
              <a:spcBef>
                <a:spcPts val="0"/>
              </a:spcBef>
              <a:spcAft>
                <a:spcPts val="0"/>
              </a:spcAft>
              <a:buNone/>
            </a:pPr>
            <a:r>
              <a:rPr lang="en-CA" sz="1350" b="1" dirty="0" err="1">
                <a:latin typeface="Courier New" panose="02070309020205020404" pitchFamily="49" charset="0"/>
                <a:cs typeface="Courier New" panose="02070309020205020404" pitchFamily="49" charset="0"/>
              </a:rPr>
              <a:t>EntVisitor</a:t>
            </a: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ev</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err="1">
                <a:latin typeface="Courier New" panose="02070309020205020404" pitchFamily="49" charset="0"/>
                <a:cs typeface="Courier New" panose="02070309020205020404" pitchFamily="49" charset="0"/>
              </a:rPr>
              <a:t>PtrVisitor</a:t>
            </a: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pv</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b="1"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b="1" dirty="0" err="1">
                <a:latin typeface="Courier New" panose="02070309020205020404" pitchFamily="49" charset="0"/>
                <a:cs typeface="Courier New" panose="02070309020205020404" pitchFamily="49" charset="0"/>
              </a:rPr>
              <a:t>int</a:t>
            </a: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PtrVisitor</a:t>
            </a:r>
            <a:r>
              <a:rPr lang="en-CA" sz="1350" b="1" dirty="0">
                <a:latin typeface="Courier New" panose="02070309020205020404" pitchFamily="49" charset="0"/>
                <a:cs typeface="Courier New" panose="02070309020205020404" pitchFamily="49" charset="0"/>
              </a:rPr>
              <a:t>::visit(Entity &amp; </a:t>
            </a:r>
            <a:r>
              <a:rPr lang="en-CA" sz="1350" b="1" dirty="0" smtClean="0">
                <a:latin typeface="Courier New" panose="02070309020205020404" pitchFamily="49" charset="0"/>
                <a:cs typeface="Courier New" panose="02070309020205020404" pitchFamily="49" charset="0"/>
              </a:rPr>
              <a:t>p) </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Container * </a:t>
            </a:r>
            <a:r>
              <a:rPr lang="en-CA" sz="1350" b="1" dirty="0" err="1">
                <a:latin typeface="Courier New" panose="02070309020205020404" pitchFamily="49" charset="0"/>
                <a:cs typeface="Courier New" panose="02070309020205020404" pitchFamily="49" charset="0"/>
              </a:rPr>
              <a:t>tmp</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tmp</a:t>
            </a:r>
            <a:r>
              <a:rPr lang="en-CA" sz="1350" b="1" dirty="0">
                <a:latin typeface="Courier New" panose="02070309020205020404" pitchFamily="49" charset="0"/>
                <a:cs typeface="Courier New" panose="02070309020205020404" pitchFamily="49" charset="0"/>
              </a:rPr>
              <a:t> = </a:t>
            </a:r>
            <a:r>
              <a:rPr lang="en-CA" sz="1350" b="1" dirty="0" err="1" smtClean="0">
                <a:latin typeface="Courier New" panose="02070309020205020404" pitchFamily="49" charset="0"/>
                <a:cs typeface="Courier New" panose="02070309020205020404" pitchFamily="49" charset="0"/>
              </a:rPr>
              <a:t>p.to_pointer</a:t>
            </a:r>
            <a:r>
              <a:rPr lang="en-CA" sz="1350" b="1" dirty="0" smtClean="0">
                <a:latin typeface="Courier New" panose="02070309020205020404" pitchFamily="49" charset="0"/>
                <a:cs typeface="Courier New" panose="02070309020205020404" pitchFamily="49" charset="0"/>
              </a:rPr>
              <a:t>()-&gt;fetch</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if (</a:t>
            </a:r>
            <a:r>
              <a:rPr lang="en-CA" sz="1350" b="1" dirty="0" err="1">
                <a:latin typeface="Courier New" panose="02070309020205020404" pitchFamily="49" charset="0"/>
                <a:cs typeface="Courier New" panose="02070309020205020404" pitchFamily="49" charset="0"/>
              </a:rPr>
              <a:t>tmp</a:t>
            </a:r>
            <a:r>
              <a:rPr lang="en-CA" sz="1350" b="1" dirty="0">
                <a:latin typeface="Courier New" panose="02070309020205020404" pitchFamily="49" charset="0"/>
                <a:cs typeface="Courier New" panose="02070309020205020404" pitchFamily="49" charset="0"/>
              </a:rPr>
              <a:t> != </a:t>
            </a:r>
            <a:r>
              <a:rPr lang="en-CA" sz="1350" b="1" dirty="0" err="1">
                <a:latin typeface="Courier New" panose="02070309020205020404" pitchFamily="49" charset="0"/>
                <a:cs typeface="Courier New" panose="02070309020205020404" pitchFamily="49" charset="0"/>
              </a:rPr>
              <a:t>nullptr</a:t>
            </a:r>
            <a:r>
              <a:rPr lang="en-CA" sz="1350" b="1"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ev.visit</a:t>
            </a:r>
            <a:r>
              <a:rPr lang="en-CA" sz="1350" b="1" dirty="0">
                <a:latin typeface="Courier New" panose="02070309020205020404" pitchFamily="49" charset="0"/>
                <a:cs typeface="Courier New" panose="02070309020205020404" pitchFamily="49" charset="0"/>
              </a:rPr>
              <a:t>(*</a:t>
            </a:r>
            <a:r>
              <a:rPr lang="en-CA" sz="1350" b="1" dirty="0" err="1">
                <a:latin typeface="Courier New" panose="02070309020205020404" pitchFamily="49" charset="0"/>
                <a:cs typeface="Courier New" panose="02070309020205020404" pitchFamily="49" charset="0"/>
              </a:rPr>
              <a:t>tmp</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tmp</a:t>
            </a:r>
            <a:r>
              <a:rPr lang="en-CA" sz="1350" b="1"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return 0;</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b="1"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b="1" dirty="0" err="1">
                <a:latin typeface="Courier New" panose="02070309020205020404" pitchFamily="49" charset="0"/>
                <a:cs typeface="Courier New" panose="02070309020205020404" pitchFamily="49" charset="0"/>
              </a:rPr>
              <a:t>int</a:t>
            </a: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EntVisitor</a:t>
            </a:r>
            <a:r>
              <a:rPr lang="en-CA" sz="1350" b="1"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cout</a:t>
            </a:r>
            <a:r>
              <a:rPr lang="en-CA" sz="1350" b="1" dirty="0">
                <a:latin typeface="Courier New" panose="02070309020205020404" pitchFamily="49" charset="0"/>
                <a:cs typeface="Courier New" panose="02070309020205020404" pitchFamily="49" charset="0"/>
              </a:rPr>
              <a:t> &lt;&lt; </a:t>
            </a:r>
            <a:r>
              <a:rPr lang="en-CA" sz="1350" b="1" dirty="0" err="1">
                <a:latin typeface="Courier New" panose="02070309020205020404" pitchFamily="49" charset="0"/>
                <a:cs typeface="Courier New" panose="02070309020205020404" pitchFamily="49" charset="0"/>
              </a:rPr>
              <a:t>e.get_name</a:t>
            </a:r>
            <a:r>
              <a:rPr lang="en-CA" sz="1350" b="1" dirty="0">
                <a:latin typeface="Courier New" panose="02070309020205020404" pitchFamily="49" charset="0"/>
                <a:cs typeface="Courier New" panose="02070309020205020404" pitchFamily="49" charset="0"/>
              </a:rPr>
              <a:t>() &lt;&lt; </a:t>
            </a:r>
            <a:r>
              <a:rPr lang="en-CA" sz="1350" b="1" dirty="0" err="1">
                <a:latin typeface="Courier New" panose="02070309020205020404" pitchFamily="49" charset="0"/>
                <a:cs typeface="Courier New" panose="02070309020205020404" pitchFamily="49" charset="0"/>
              </a:rPr>
              <a:t>endl</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return </a:t>
            </a:r>
            <a:r>
              <a:rPr lang="en-CA" sz="1350" b="1" dirty="0" err="1">
                <a:latin typeface="Courier New" panose="02070309020205020404" pitchFamily="49" charset="0"/>
                <a:cs typeface="Courier New" panose="02070309020205020404" pitchFamily="49" charset="0"/>
              </a:rPr>
              <a:t>e.process_pointers</a:t>
            </a:r>
            <a:r>
              <a:rPr lang="en-CA" sz="1350" b="1" dirty="0">
                <a:latin typeface="Courier New" panose="02070309020205020404" pitchFamily="49" charset="0"/>
                <a:cs typeface="Courier New" panose="02070309020205020404" pitchFamily="49" charset="0"/>
              </a:rPr>
              <a:t>(</a:t>
            </a:r>
            <a:r>
              <a:rPr lang="en-CA" sz="1350" b="1" dirty="0" err="1">
                <a:latin typeface="Courier New" panose="02070309020205020404" pitchFamily="49" charset="0"/>
                <a:cs typeface="Courier New" panose="02070309020205020404" pitchFamily="49" charset="0"/>
              </a:rPr>
              <a:t>pv</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a:t>
            </a:r>
          </a:p>
        </p:txBody>
      </p:sp>
      <p:sp>
        <p:nvSpPr>
          <p:cNvPr id="5" name="Content Placeholder 4"/>
          <p:cNvSpPr>
            <a:spLocks noGrp="1"/>
          </p:cNvSpPr>
          <p:nvPr>
            <p:ph sz="half" idx="2"/>
          </p:nvPr>
        </p:nvSpPr>
        <p:spPr>
          <a:xfrm>
            <a:off x="4371975" y="971550"/>
            <a:ext cx="4038600" cy="1968629"/>
          </a:xfrm>
        </p:spPr>
        <p:txBody>
          <a:bodyPr>
            <a:noAutofit/>
          </a:bodyPr>
          <a:lstStyle/>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void main(void) {</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Ext4IO </a:t>
            </a:r>
            <a:r>
              <a:rPr lang="en-CA" sz="1350" b="1" dirty="0" err="1">
                <a:latin typeface="Courier New" panose="02070309020205020404" pitchFamily="49" charset="0"/>
                <a:cs typeface="Courier New" panose="02070309020205020404" pitchFamily="49" charset="0"/>
              </a:rPr>
              <a:t>io</a:t>
            </a:r>
            <a:r>
              <a:rPr lang="en-CA" sz="1350" b="1" dirty="0">
                <a:latin typeface="Courier New" panose="02070309020205020404" pitchFamily="49" charset="0"/>
                <a:cs typeface="Courier New" panose="02070309020205020404" pitchFamily="49" charset="0"/>
              </a:rPr>
              <a:t>("/dev/sdb1");</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Ext4 fs(</a:t>
            </a:r>
            <a:r>
              <a:rPr lang="en-CA" sz="1350" b="1" dirty="0" err="1">
                <a:latin typeface="Courier New" panose="02070309020205020404" pitchFamily="49" charset="0"/>
                <a:cs typeface="Courier New" panose="02070309020205020404" pitchFamily="49" charset="0"/>
              </a:rPr>
              <a:t>io</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Container * sup = </a:t>
            </a:r>
            <a:r>
              <a:rPr lang="en-CA" sz="1350" b="1" dirty="0" err="1">
                <a:latin typeface="Courier New" panose="02070309020205020404" pitchFamily="49" charset="0"/>
                <a:cs typeface="Courier New" panose="02070309020205020404" pitchFamily="49" charset="0"/>
              </a:rPr>
              <a:t>fs.fetch_super</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if (sup != </a:t>
            </a:r>
            <a:r>
              <a:rPr lang="en-CA" sz="1350" b="1" dirty="0" err="1">
                <a:latin typeface="Courier New" panose="02070309020205020404" pitchFamily="49" charset="0"/>
                <a:cs typeface="Courier New" panose="02070309020205020404" pitchFamily="49" charset="0"/>
              </a:rPr>
              <a:t>nullptr</a:t>
            </a:r>
            <a:r>
              <a:rPr lang="en-CA" sz="1350" b="1"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ev.visit</a:t>
            </a:r>
            <a:r>
              <a:rPr lang="en-CA" sz="1350" b="1" dirty="0">
                <a:latin typeface="Courier New" panose="02070309020205020404" pitchFamily="49" charset="0"/>
                <a:cs typeface="Courier New" panose="02070309020205020404" pitchFamily="49" charset="0"/>
              </a:rPr>
              <a:t>(*sup);</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sup-&gt;destroy();</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a:t>
            </a:r>
          </a:p>
          <a:p>
            <a:pPr>
              <a:spcBef>
                <a:spcPts val="0"/>
              </a:spcBef>
              <a:spcAft>
                <a:spcPts val="0"/>
              </a:spcAft>
            </a:pPr>
            <a:endParaRPr lang="en-CA" sz="1350" b="1" dirty="0"/>
          </a:p>
        </p:txBody>
      </p:sp>
    </p:spTree>
    <p:extLst>
      <p:ext uri="{BB962C8B-B14F-4D97-AF65-F5344CB8AC3E}">
        <p14:creationId xmlns:p14="http://schemas.microsoft.com/office/powerpoint/2010/main" val="176599501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File-System Agnostic Traversal</a:t>
            </a:r>
            <a:endParaRPr lang="en-CA" dirty="0"/>
          </a:p>
        </p:txBody>
      </p:sp>
      <p:sp>
        <p:nvSpPr>
          <p:cNvPr id="3" name="Content Placeholder 2"/>
          <p:cNvSpPr>
            <a:spLocks noGrp="1"/>
          </p:cNvSpPr>
          <p:nvPr>
            <p:ph sz="half" idx="1"/>
          </p:nvPr>
        </p:nvSpPr>
        <p:spPr>
          <a:xfrm>
            <a:off x="513159" y="971550"/>
            <a:ext cx="3858817" cy="3492629"/>
          </a:xfrm>
        </p:spPr>
        <p:txBody>
          <a:bodyPr>
            <a:noAutofit/>
          </a:bodyPr>
          <a:lstStyle/>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EntVisitor</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ev</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PtrVisitor</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pv</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int</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PtrVisitor</a:t>
            </a:r>
            <a:r>
              <a:rPr lang="en-CA" sz="1350" dirty="0">
                <a:latin typeface="Courier New" panose="02070309020205020404" pitchFamily="49" charset="0"/>
                <a:cs typeface="Courier New" panose="02070309020205020404" pitchFamily="49" charset="0"/>
              </a:rPr>
              <a:t>::visit(Entity &amp; </a:t>
            </a:r>
            <a:r>
              <a:rPr lang="en-CA" sz="1350" dirty="0" smtClean="0">
                <a:latin typeface="Courier New" panose="02070309020205020404" pitchFamily="49" charset="0"/>
                <a:cs typeface="Courier New" panose="02070309020205020404" pitchFamily="49" charset="0"/>
              </a:rPr>
              <a:t>p) </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Container *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 = </a:t>
            </a:r>
            <a:r>
              <a:rPr lang="en-CA" sz="1350" dirty="0" err="1" smtClean="0">
                <a:latin typeface="Courier New" panose="02070309020205020404" pitchFamily="49" charset="0"/>
                <a:cs typeface="Courier New" panose="02070309020205020404" pitchFamily="49" charset="0"/>
              </a:rPr>
              <a:t>p.to_pointer</a:t>
            </a:r>
            <a:r>
              <a:rPr lang="en-CA" sz="1350" dirty="0" smtClean="0">
                <a:latin typeface="Courier New" panose="02070309020205020404" pitchFamily="49" charset="0"/>
                <a:cs typeface="Courier New" panose="02070309020205020404" pitchFamily="49" charset="0"/>
              </a:rPr>
              <a:t>()-&gt;fetch</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if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 != </a:t>
            </a:r>
            <a:r>
              <a:rPr lang="en-CA" sz="1350" dirty="0" err="1">
                <a:latin typeface="Courier New" panose="02070309020205020404" pitchFamily="49" charset="0"/>
                <a:cs typeface="Courier New" panose="02070309020205020404" pitchFamily="49" charset="0"/>
              </a:rPr>
              <a:t>nullptr</a:t>
            </a: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ev.visit</a:t>
            </a:r>
            <a:r>
              <a:rPr lang="en-CA" sz="1350" dirty="0">
                <a:latin typeface="Courier New" panose="02070309020205020404" pitchFamily="49" charset="0"/>
                <a:cs typeface="Courier New" panose="02070309020205020404" pitchFamily="49" charset="0"/>
              </a:rPr>
              <a:t>(*</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return 0;</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b="1" dirty="0" err="1">
                <a:latin typeface="Courier New" panose="02070309020205020404" pitchFamily="49" charset="0"/>
                <a:cs typeface="Courier New" panose="02070309020205020404" pitchFamily="49" charset="0"/>
              </a:rPr>
              <a:t>int</a:t>
            </a: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EntVisitor</a:t>
            </a:r>
            <a:r>
              <a:rPr lang="en-CA" sz="1350" b="1"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cout</a:t>
            </a:r>
            <a:r>
              <a:rPr lang="en-CA" sz="1350" b="1" dirty="0">
                <a:latin typeface="Courier New" panose="02070309020205020404" pitchFamily="49" charset="0"/>
                <a:cs typeface="Courier New" panose="02070309020205020404" pitchFamily="49" charset="0"/>
              </a:rPr>
              <a:t> &lt;&lt; </a:t>
            </a:r>
            <a:r>
              <a:rPr lang="en-CA" sz="1350" b="1" dirty="0" err="1">
                <a:latin typeface="Courier New" panose="02070309020205020404" pitchFamily="49" charset="0"/>
                <a:cs typeface="Courier New" panose="02070309020205020404" pitchFamily="49" charset="0"/>
              </a:rPr>
              <a:t>e.get_name</a:t>
            </a:r>
            <a:r>
              <a:rPr lang="en-CA" sz="1350" b="1" dirty="0">
                <a:latin typeface="Courier New" panose="02070309020205020404" pitchFamily="49" charset="0"/>
                <a:cs typeface="Courier New" panose="02070309020205020404" pitchFamily="49" charset="0"/>
              </a:rPr>
              <a:t>() &lt;&lt; </a:t>
            </a:r>
            <a:r>
              <a:rPr lang="en-CA" sz="1350" b="1" dirty="0" err="1">
                <a:latin typeface="Courier New" panose="02070309020205020404" pitchFamily="49" charset="0"/>
                <a:cs typeface="Courier New" panose="02070309020205020404" pitchFamily="49" charset="0"/>
              </a:rPr>
              <a:t>endl</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  return </a:t>
            </a:r>
            <a:r>
              <a:rPr lang="en-CA" sz="1350" b="1" dirty="0" err="1">
                <a:latin typeface="Courier New" panose="02070309020205020404" pitchFamily="49" charset="0"/>
                <a:cs typeface="Courier New" panose="02070309020205020404" pitchFamily="49" charset="0"/>
              </a:rPr>
              <a:t>e.process_pointers</a:t>
            </a:r>
            <a:r>
              <a:rPr lang="en-CA" sz="1350" b="1" dirty="0">
                <a:latin typeface="Courier New" panose="02070309020205020404" pitchFamily="49" charset="0"/>
                <a:cs typeface="Courier New" panose="02070309020205020404" pitchFamily="49" charset="0"/>
              </a:rPr>
              <a:t>(</a:t>
            </a:r>
            <a:r>
              <a:rPr lang="en-CA" sz="1350" b="1" dirty="0" err="1">
                <a:latin typeface="Courier New" panose="02070309020205020404" pitchFamily="49" charset="0"/>
                <a:cs typeface="Courier New" panose="02070309020205020404" pitchFamily="49" charset="0"/>
              </a:rPr>
              <a:t>pv</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a:latin typeface="Courier New" panose="02070309020205020404" pitchFamily="49" charset="0"/>
                <a:cs typeface="Courier New" panose="02070309020205020404" pitchFamily="49" charset="0"/>
              </a:rPr>
              <a:t>}</a:t>
            </a:r>
          </a:p>
        </p:txBody>
      </p:sp>
      <p:sp>
        <p:nvSpPr>
          <p:cNvPr id="5" name="Content Placeholder 4"/>
          <p:cNvSpPr>
            <a:spLocks noGrp="1"/>
          </p:cNvSpPr>
          <p:nvPr>
            <p:ph sz="half" idx="2"/>
          </p:nvPr>
        </p:nvSpPr>
        <p:spPr>
          <a:xfrm>
            <a:off x="4371975" y="971550"/>
            <a:ext cx="4038600" cy="1968629"/>
          </a:xfrm>
        </p:spPr>
        <p:txBody>
          <a:bodyPr>
            <a:noAutofit/>
          </a:bodyPr>
          <a:lstStyle/>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void main(void)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Ext4IO </a:t>
            </a:r>
            <a:r>
              <a:rPr lang="en-CA" sz="1350" dirty="0" err="1">
                <a:latin typeface="Courier New" panose="02070309020205020404" pitchFamily="49" charset="0"/>
                <a:cs typeface="Courier New" panose="02070309020205020404" pitchFamily="49" charset="0"/>
              </a:rPr>
              <a:t>io</a:t>
            </a:r>
            <a:r>
              <a:rPr lang="en-CA" sz="1350" dirty="0">
                <a:latin typeface="Courier New" panose="02070309020205020404" pitchFamily="49" charset="0"/>
                <a:cs typeface="Courier New" panose="02070309020205020404" pitchFamily="49" charset="0"/>
              </a:rPr>
              <a:t>("/dev/sdb1");</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Ext4 fs(</a:t>
            </a:r>
            <a:r>
              <a:rPr lang="en-CA" sz="1350" dirty="0" err="1">
                <a:latin typeface="Courier New" panose="02070309020205020404" pitchFamily="49" charset="0"/>
                <a:cs typeface="Courier New" panose="02070309020205020404" pitchFamily="49" charset="0"/>
              </a:rPr>
              <a:t>io</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Container * sup = </a:t>
            </a:r>
            <a:r>
              <a:rPr lang="en-CA" sz="1350" dirty="0" err="1">
                <a:latin typeface="Courier New" panose="02070309020205020404" pitchFamily="49" charset="0"/>
                <a:cs typeface="Courier New" panose="02070309020205020404" pitchFamily="49" charset="0"/>
              </a:rPr>
              <a:t>fs.fetch_super</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if (sup != </a:t>
            </a:r>
            <a:r>
              <a:rPr lang="en-CA" sz="1350" dirty="0" err="1">
                <a:latin typeface="Courier New" panose="02070309020205020404" pitchFamily="49" charset="0"/>
                <a:cs typeface="Courier New" panose="02070309020205020404" pitchFamily="49" charset="0"/>
              </a:rPr>
              <a:t>nullptr</a:t>
            </a: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ev.visit</a:t>
            </a:r>
            <a:r>
              <a:rPr lang="en-CA" sz="1350" dirty="0">
                <a:latin typeface="Courier New" panose="02070309020205020404" pitchFamily="49" charset="0"/>
                <a:cs typeface="Courier New" panose="02070309020205020404" pitchFamily="49" charset="0"/>
              </a:rPr>
              <a:t>(*sup);</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sup-&gt;destroy();</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a:p>
            <a:pPr>
              <a:spcBef>
                <a:spcPts val="0"/>
              </a:spcBef>
              <a:spcAft>
                <a:spcPts val="0"/>
              </a:spcAft>
            </a:pPr>
            <a:endParaRPr lang="en-CA" sz="1350" dirty="0"/>
          </a:p>
        </p:txBody>
      </p:sp>
      <p:sp>
        <p:nvSpPr>
          <p:cNvPr id="6" name="Content Placeholder 4"/>
          <p:cNvSpPr txBox="1">
            <a:spLocks/>
          </p:cNvSpPr>
          <p:nvPr/>
        </p:nvSpPr>
        <p:spPr>
          <a:xfrm>
            <a:off x="4371975" y="3105150"/>
            <a:ext cx="4038600" cy="1352550"/>
          </a:xfrm>
          <a:prstGeom prst="rect">
            <a:avLst/>
          </a:prstGeom>
        </p:spPr>
        <p:txBody>
          <a:bodyPr vert="horz" lIns="68580" tIns="34290" rIns="68580" bIns="3429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a:spcBef>
                <a:spcPts val="0"/>
              </a:spcBef>
              <a:spcAft>
                <a:spcPts val="0"/>
              </a:spcAft>
              <a:buClr>
                <a:srgbClr val="007089"/>
              </a:buClr>
            </a:pPr>
            <a:r>
              <a:rPr lang="en-CA" sz="1800" dirty="0" err="1">
                <a:solidFill>
                  <a:srgbClr val="000000"/>
                </a:solidFill>
              </a:rPr>
              <a:t>EntVisitor</a:t>
            </a:r>
            <a:r>
              <a:rPr lang="en-CA" sz="1800" dirty="0">
                <a:solidFill>
                  <a:srgbClr val="000000"/>
                </a:solidFill>
              </a:rPr>
              <a:t> prints name of entity </a:t>
            </a:r>
            <a:r>
              <a:rPr lang="en-CA" sz="1800" i="1" dirty="0">
                <a:solidFill>
                  <a:srgbClr val="000000"/>
                </a:solidFill>
              </a:rPr>
              <a:t>e</a:t>
            </a:r>
            <a:r>
              <a:rPr lang="en-CA" sz="1800" dirty="0">
                <a:solidFill>
                  <a:srgbClr val="000000"/>
                </a:solidFill>
              </a:rPr>
              <a:t>, then calls </a:t>
            </a:r>
            <a:r>
              <a:rPr lang="en-CA" sz="1800" dirty="0" err="1">
                <a:solidFill>
                  <a:srgbClr val="000000"/>
                </a:solidFill>
                <a:latin typeface="Courier New" panose="02070309020205020404" pitchFamily="49" charset="0"/>
                <a:cs typeface="Courier New" panose="02070309020205020404" pitchFamily="49" charset="0"/>
              </a:rPr>
              <a:t>PtrVisitor</a:t>
            </a:r>
            <a:r>
              <a:rPr lang="en-CA" sz="1800" dirty="0">
                <a:solidFill>
                  <a:srgbClr val="000000"/>
                </a:solidFill>
                <a:latin typeface="Courier New" panose="02070309020205020404" pitchFamily="49" charset="0"/>
                <a:cs typeface="Courier New" panose="02070309020205020404" pitchFamily="49" charset="0"/>
              </a:rPr>
              <a:t>::visit </a:t>
            </a:r>
            <a:r>
              <a:rPr lang="en-CA" sz="1800" dirty="0">
                <a:solidFill>
                  <a:srgbClr val="000000"/>
                </a:solidFill>
                <a:cs typeface="Courier New" panose="02070309020205020404" pitchFamily="49" charset="0"/>
              </a:rPr>
              <a:t>on all pointer fields </a:t>
            </a:r>
            <a:r>
              <a:rPr lang="en-CA" sz="1800" dirty="0" smtClean="0">
                <a:solidFill>
                  <a:srgbClr val="000000"/>
                </a:solidFill>
                <a:cs typeface="Courier New" panose="02070309020205020404" pitchFamily="49" charset="0"/>
              </a:rPr>
              <a:t>in </a:t>
            </a:r>
            <a:r>
              <a:rPr lang="en-CA" sz="1800" dirty="0">
                <a:solidFill>
                  <a:srgbClr val="000000"/>
                </a:solidFill>
                <a:cs typeface="Courier New" panose="02070309020205020404" pitchFamily="49" charset="0"/>
              </a:rPr>
              <a:t>entity </a:t>
            </a:r>
            <a:r>
              <a:rPr lang="en-CA" sz="1800" i="1" dirty="0">
                <a:solidFill>
                  <a:srgbClr val="000000"/>
                </a:solidFill>
                <a:cs typeface="Courier New" panose="02070309020205020404" pitchFamily="49" charset="0"/>
              </a:rPr>
              <a:t>e</a:t>
            </a:r>
            <a:endParaRPr lang="en-CA" sz="1800" dirty="0">
              <a:solidFill>
                <a:srgbClr val="000000"/>
              </a:solidFill>
            </a:endParaRPr>
          </a:p>
        </p:txBody>
      </p:sp>
    </p:spTree>
    <p:extLst>
      <p:ext uri="{BB962C8B-B14F-4D97-AF65-F5344CB8AC3E}">
        <p14:creationId xmlns:p14="http://schemas.microsoft.com/office/powerpoint/2010/main" val="288535450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File-System Agnostic Traversal</a:t>
            </a:r>
            <a:endParaRPr lang="en-CA" dirty="0"/>
          </a:p>
        </p:txBody>
      </p:sp>
      <p:sp>
        <p:nvSpPr>
          <p:cNvPr id="3" name="Content Placeholder 2"/>
          <p:cNvSpPr>
            <a:spLocks noGrp="1"/>
          </p:cNvSpPr>
          <p:nvPr>
            <p:ph sz="half" idx="1"/>
          </p:nvPr>
        </p:nvSpPr>
        <p:spPr>
          <a:xfrm>
            <a:off x="513159" y="971550"/>
            <a:ext cx="3858817" cy="3492629"/>
          </a:xfrm>
        </p:spPr>
        <p:txBody>
          <a:bodyPr>
            <a:noAutofit/>
          </a:bodyPr>
          <a:lstStyle/>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EntVisitor</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ev</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PtrVisitor</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pv</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int</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PtrVisitor</a:t>
            </a:r>
            <a:r>
              <a:rPr lang="en-CA" sz="1350" dirty="0">
                <a:latin typeface="Courier New" panose="02070309020205020404" pitchFamily="49" charset="0"/>
                <a:cs typeface="Courier New" panose="02070309020205020404" pitchFamily="49" charset="0"/>
              </a:rPr>
              <a:t>::visit(Entity &amp; </a:t>
            </a:r>
            <a:r>
              <a:rPr lang="en-CA" sz="1350" dirty="0" smtClean="0">
                <a:latin typeface="Courier New" panose="02070309020205020404" pitchFamily="49" charset="0"/>
                <a:cs typeface="Courier New" panose="02070309020205020404" pitchFamily="49" charset="0"/>
              </a:rPr>
              <a:t>p) </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Container *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 = </a:t>
            </a:r>
            <a:r>
              <a:rPr lang="en-CA" sz="1350" dirty="0" err="1" smtClean="0">
                <a:latin typeface="Courier New" panose="02070309020205020404" pitchFamily="49" charset="0"/>
                <a:cs typeface="Courier New" panose="02070309020205020404" pitchFamily="49" charset="0"/>
              </a:rPr>
              <a:t>p.to_pointer</a:t>
            </a:r>
            <a:r>
              <a:rPr lang="en-CA" sz="1350" dirty="0" smtClean="0">
                <a:latin typeface="Courier New" panose="02070309020205020404" pitchFamily="49" charset="0"/>
                <a:cs typeface="Courier New" panose="02070309020205020404" pitchFamily="49" charset="0"/>
              </a:rPr>
              <a:t>()-&gt;fetch</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if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 != </a:t>
            </a:r>
            <a:r>
              <a:rPr lang="en-CA" sz="1350" dirty="0" err="1">
                <a:latin typeface="Courier New" panose="02070309020205020404" pitchFamily="49" charset="0"/>
                <a:cs typeface="Courier New" panose="02070309020205020404" pitchFamily="49" charset="0"/>
              </a:rPr>
              <a:t>nullptr</a:t>
            </a: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ev.visit</a:t>
            </a:r>
            <a:r>
              <a:rPr lang="en-CA" sz="1350" dirty="0">
                <a:latin typeface="Courier New" panose="02070309020205020404" pitchFamily="49" charset="0"/>
                <a:cs typeface="Courier New" panose="02070309020205020404" pitchFamily="49" charset="0"/>
              </a:rPr>
              <a:t>(*</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return 0;</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int</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EntVisitor</a:t>
            </a:r>
            <a:r>
              <a:rPr lang="en-CA" sz="1350"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cout</a:t>
            </a:r>
            <a:r>
              <a:rPr lang="en-CA" sz="1350" dirty="0">
                <a:latin typeface="Courier New" panose="02070309020205020404" pitchFamily="49" charset="0"/>
                <a:cs typeface="Courier New" panose="02070309020205020404" pitchFamily="49" charset="0"/>
              </a:rPr>
              <a:t> &lt;&lt; </a:t>
            </a:r>
            <a:r>
              <a:rPr lang="en-CA" sz="1350" dirty="0" err="1">
                <a:latin typeface="Courier New" panose="02070309020205020404" pitchFamily="49" charset="0"/>
                <a:cs typeface="Courier New" panose="02070309020205020404" pitchFamily="49" charset="0"/>
              </a:rPr>
              <a:t>e.get_name</a:t>
            </a:r>
            <a:r>
              <a:rPr lang="en-CA" sz="1350" dirty="0">
                <a:latin typeface="Courier New" panose="02070309020205020404" pitchFamily="49" charset="0"/>
                <a:cs typeface="Courier New" panose="02070309020205020404" pitchFamily="49" charset="0"/>
              </a:rPr>
              <a:t>() &lt;&lt; </a:t>
            </a:r>
            <a:r>
              <a:rPr lang="en-CA" sz="1350" dirty="0" err="1">
                <a:latin typeface="Courier New" panose="02070309020205020404" pitchFamily="49" charset="0"/>
                <a:cs typeface="Courier New" panose="02070309020205020404" pitchFamily="49" charset="0"/>
              </a:rPr>
              <a:t>endl</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return </a:t>
            </a:r>
            <a:r>
              <a:rPr lang="en-CA" sz="1350" dirty="0" err="1">
                <a:latin typeface="Courier New" panose="02070309020205020404" pitchFamily="49" charset="0"/>
                <a:cs typeface="Courier New" panose="02070309020205020404" pitchFamily="49" charset="0"/>
              </a:rPr>
              <a:t>e.process_pointers</a:t>
            </a:r>
            <a:r>
              <a:rPr lang="en-CA" sz="1350" dirty="0">
                <a:latin typeface="Courier New" panose="02070309020205020404" pitchFamily="49" charset="0"/>
                <a:cs typeface="Courier New" panose="02070309020205020404" pitchFamily="49" charset="0"/>
              </a:rPr>
              <a:t>(</a:t>
            </a:r>
            <a:r>
              <a:rPr lang="en-CA" sz="1350" dirty="0" err="1">
                <a:latin typeface="Courier New" panose="02070309020205020404" pitchFamily="49" charset="0"/>
                <a:cs typeface="Courier New" panose="02070309020205020404" pitchFamily="49" charset="0"/>
              </a:rPr>
              <a:t>pv</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p:txBody>
      </p:sp>
      <p:sp>
        <p:nvSpPr>
          <p:cNvPr id="5" name="Content Placeholder 4"/>
          <p:cNvSpPr>
            <a:spLocks noGrp="1"/>
          </p:cNvSpPr>
          <p:nvPr>
            <p:ph sz="half" idx="2"/>
          </p:nvPr>
        </p:nvSpPr>
        <p:spPr>
          <a:xfrm>
            <a:off x="4371975" y="971550"/>
            <a:ext cx="4038600" cy="1968629"/>
          </a:xfrm>
        </p:spPr>
        <p:txBody>
          <a:bodyPr>
            <a:noAutofit/>
          </a:bodyPr>
          <a:lstStyle/>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void main(void)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Ext4IO </a:t>
            </a:r>
            <a:r>
              <a:rPr lang="en-CA" sz="1350" dirty="0" err="1">
                <a:latin typeface="Courier New" panose="02070309020205020404" pitchFamily="49" charset="0"/>
                <a:cs typeface="Courier New" panose="02070309020205020404" pitchFamily="49" charset="0"/>
              </a:rPr>
              <a:t>io</a:t>
            </a:r>
            <a:r>
              <a:rPr lang="en-CA" sz="1350" dirty="0">
                <a:latin typeface="Courier New" panose="02070309020205020404" pitchFamily="49" charset="0"/>
                <a:cs typeface="Courier New" panose="02070309020205020404" pitchFamily="49" charset="0"/>
              </a:rPr>
              <a:t>("/dev/sdb1");</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Ext4 fs(</a:t>
            </a:r>
            <a:r>
              <a:rPr lang="en-CA" sz="1350" dirty="0" err="1">
                <a:latin typeface="Courier New" panose="02070309020205020404" pitchFamily="49" charset="0"/>
                <a:cs typeface="Courier New" panose="02070309020205020404" pitchFamily="49" charset="0"/>
              </a:rPr>
              <a:t>io</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Container * sup = </a:t>
            </a:r>
            <a:r>
              <a:rPr lang="en-CA" sz="1350" dirty="0" err="1">
                <a:latin typeface="Courier New" panose="02070309020205020404" pitchFamily="49" charset="0"/>
                <a:cs typeface="Courier New" panose="02070309020205020404" pitchFamily="49" charset="0"/>
              </a:rPr>
              <a:t>fs.fetch_super</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if (sup != </a:t>
            </a:r>
            <a:r>
              <a:rPr lang="en-CA" sz="1350" dirty="0" err="1">
                <a:latin typeface="Courier New" panose="02070309020205020404" pitchFamily="49" charset="0"/>
                <a:cs typeface="Courier New" panose="02070309020205020404" pitchFamily="49" charset="0"/>
              </a:rPr>
              <a:t>nullptr</a:t>
            </a: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ev.visit</a:t>
            </a:r>
            <a:r>
              <a:rPr lang="en-CA" sz="1350" dirty="0">
                <a:latin typeface="Courier New" panose="02070309020205020404" pitchFamily="49" charset="0"/>
                <a:cs typeface="Courier New" panose="02070309020205020404" pitchFamily="49" charset="0"/>
              </a:rPr>
              <a:t>(*sup);</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sup-&gt;destroy();</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a:p>
            <a:pPr>
              <a:spcBef>
                <a:spcPts val="0"/>
              </a:spcBef>
              <a:spcAft>
                <a:spcPts val="0"/>
              </a:spcAft>
            </a:pPr>
            <a:endParaRPr lang="en-CA" sz="1350" dirty="0"/>
          </a:p>
        </p:txBody>
      </p:sp>
      <p:sp>
        <p:nvSpPr>
          <p:cNvPr id="6" name="Content Placeholder 4"/>
          <p:cNvSpPr txBox="1">
            <a:spLocks/>
          </p:cNvSpPr>
          <p:nvPr/>
        </p:nvSpPr>
        <p:spPr>
          <a:xfrm>
            <a:off x="4371975" y="3105150"/>
            <a:ext cx="4038600" cy="1968629"/>
          </a:xfrm>
          <a:prstGeom prst="rect">
            <a:avLst/>
          </a:prstGeom>
        </p:spPr>
        <p:txBody>
          <a:bodyPr vert="horz" lIns="68580" tIns="34290" rIns="68580" bIns="3429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a:spcBef>
                <a:spcPts val="0"/>
              </a:spcBef>
              <a:spcAft>
                <a:spcPts val="0"/>
              </a:spcAft>
              <a:buClr>
                <a:srgbClr val="007089"/>
              </a:buClr>
            </a:pPr>
            <a:r>
              <a:rPr lang="en-CA" sz="1800" dirty="0">
                <a:solidFill>
                  <a:srgbClr val="000000"/>
                </a:solidFill>
              </a:rPr>
              <a:t>Simple example to traverse the entire file system</a:t>
            </a:r>
          </a:p>
          <a:p>
            <a:pPr>
              <a:spcBef>
                <a:spcPts val="0"/>
              </a:spcBef>
              <a:spcAft>
                <a:spcPts val="0"/>
              </a:spcAft>
              <a:buClr>
                <a:srgbClr val="007089"/>
              </a:buClr>
            </a:pPr>
            <a:r>
              <a:rPr lang="en-CA" sz="1800" dirty="0" smtClean="0">
                <a:solidFill>
                  <a:srgbClr val="000000"/>
                </a:solidFill>
              </a:rPr>
              <a:t>Little </a:t>
            </a:r>
            <a:r>
              <a:rPr lang="en-CA" sz="1800" dirty="0">
                <a:solidFill>
                  <a:srgbClr val="000000"/>
                </a:solidFill>
              </a:rPr>
              <a:t>file-system specific code required </a:t>
            </a:r>
            <a:r>
              <a:rPr lang="en-CA" sz="1800" dirty="0" smtClean="0">
                <a:solidFill>
                  <a:srgbClr val="000000"/>
                </a:solidFill>
              </a:rPr>
              <a:t>(for bootstrapping)</a:t>
            </a:r>
            <a:endParaRPr lang="en-CA" sz="1800" dirty="0">
              <a:solidFill>
                <a:srgbClr val="000000"/>
              </a:solidFill>
            </a:endParaRPr>
          </a:p>
        </p:txBody>
      </p:sp>
    </p:spTree>
    <p:extLst>
      <p:ext uri="{BB962C8B-B14F-4D97-AF65-F5344CB8AC3E}">
        <p14:creationId xmlns:p14="http://schemas.microsoft.com/office/powerpoint/2010/main" val="401855824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File-System Agnostic Traversal</a:t>
            </a:r>
            <a:endParaRPr lang="en-CA" dirty="0"/>
          </a:p>
        </p:txBody>
      </p:sp>
      <p:sp>
        <p:nvSpPr>
          <p:cNvPr id="3" name="Content Placeholder 2"/>
          <p:cNvSpPr>
            <a:spLocks noGrp="1"/>
          </p:cNvSpPr>
          <p:nvPr>
            <p:ph sz="half" idx="1"/>
          </p:nvPr>
        </p:nvSpPr>
        <p:spPr>
          <a:xfrm>
            <a:off x="513159" y="971550"/>
            <a:ext cx="3858817" cy="3492629"/>
          </a:xfrm>
        </p:spPr>
        <p:txBody>
          <a:bodyPr>
            <a:noAutofit/>
          </a:bodyPr>
          <a:lstStyle/>
          <a:p>
            <a:pPr marL="0" indent="0">
              <a:spcBef>
                <a:spcPts val="0"/>
              </a:spcBef>
              <a:spcAft>
                <a:spcPts val="0"/>
              </a:spcAft>
              <a:buNone/>
            </a:pPr>
            <a:r>
              <a:rPr lang="en-CA" sz="1350" b="1" dirty="0" err="1">
                <a:latin typeface="Courier New" panose="02070309020205020404" pitchFamily="49" charset="0"/>
                <a:cs typeface="Courier New" panose="02070309020205020404" pitchFamily="49" charset="0"/>
              </a:rPr>
              <a:t>EntVisitor</a:t>
            </a: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ev</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b="1" dirty="0" err="1">
                <a:latin typeface="Courier New" panose="02070309020205020404" pitchFamily="49" charset="0"/>
                <a:cs typeface="Courier New" panose="02070309020205020404" pitchFamily="49" charset="0"/>
              </a:rPr>
              <a:t>PtrVisitor</a:t>
            </a:r>
            <a:r>
              <a:rPr lang="en-CA" sz="1350" b="1"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pv</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int</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PtrVisitor</a:t>
            </a:r>
            <a:r>
              <a:rPr lang="en-CA" sz="1350" dirty="0">
                <a:latin typeface="Courier New" panose="02070309020205020404" pitchFamily="49" charset="0"/>
                <a:cs typeface="Courier New" panose="02070309020205020404" pitchFamily="49" charset="0"/>
              </a:rPr>
              <a:t>::visit(Entity &amp; </a:t>
            </a:r>
            <a:r>
              <a:rPr lang="en-CA" sz="1350" dirty="0" smtClean="0">
                <a:latin typeface="Courier New" panose="02070309020205020404" pitchFamily="49" charset="0"/>
                <a:cs typeface="Courier New" panose="02070309020205020404" pitchFamily="49" charset="0"/>
              </a:rPr>
              <a:t>p) </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Container *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 = </a:t>
            </a:r>
            <a:r>
              <a:rPr lang="en-CA" sz="1350" dirty="0" err="1" smtClean="0">
                <a:latin typeface="Courier New" panose="02070309020205020404" pitchFamily="49" charset="0"/>
                <a:cs typeface="Courier New" panose="02070309020205020404" pitchFamily="49" charset="0"/>
              </a:rPr>
              <a:t>p.to_pointer</a:t>
            </a:r>
            <a:r>
              <a:rPr lang="en-CA" sz="1350" dirty="0" smtClean="0">
                <a:latin typeface="Courier New" panose="02070309020205020404" pitchFamily="49" charset="0"/>
                <a:cs typeface="Courier New" panose="02070309020205020404" pitchFamily="49" charset="0"/>
              </a:rPr>
              <a:t>()-&gt;fetch</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if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 != </a:t>
            </a:r>
            <a:r>
              <a:rPr lang="en-CA" sz="1350" dirty="0" err="1">
                <a:latin typeface="Courier New" panose="02070309020205020404" pitchFamily="49" charset="0"/>
                <a:cs typeface="Courier New" panose="02070309020205020404" pitchFamily="49" charset="0"/>
              </a:rPr>
              <a:t>nullptr</a:t>
            </a: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ev.visit</a:t>
            </a:r>
            <a:r>
              <a:rPr lang="en-CA" sz="1350" dirty="0">
                <a:latin typeface="Courier New" panose="02070309020205020404" pitchFamily="49" charset="0"/>
                <a:cs typeface="Courier New" panose="02070309020205020404" pitchFamily="49" charset="0"/>
              </a:rPr>
              <a:t>(*</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tmp</a:t>
            </a:r>
            <a:r>
              <a:rPr lang="en-CA" sz="1350" dirty="0">
                <a:latin typeface="Courier New" panose="02070309020205020404" pitchFamily="49" charset="0"/>
                <a:cs typeface="Courier New" panose="02070309020205020404" pitchFamily="49" charset="0"/>
              </a:rPr>
              <a:t>-&gt;destroy();</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return 0;</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endParaRPr lang="en-CA" sz="1350" dirty="0">
              <a:latin typeface="Courier New" panose="02070309020205020404" pitchFamily="49" charset="0"/>
              <a:cs typeface="Courier New" panose="02070309020205020404" pitchFamily="49" charset="0"/>
            </a:endParaRPr>
          </a:p>
          <a:p>
            <a:pPr marL="0" indent="0">
              <a:spcBef>
                <a:spcPts val="0"/>
              </a:spcBef>
              <a:spcAft>
                <a:spcPts val="0"/>
              </a:spcAft>
              <a:buNone/>
            </a:pPr>
            <a:r>
              <a:rPr lang="en-CA" sz="1350" dirty="0" err="1">
                <a:latin typeface="Courier New" panose="02070309020205020404" pitchFamily="49" charset="0"/>
                <a:cs typeface="Courier New" panose="02070309020205020404" pitchFamily="49" charset="0"/>
              </a:rPr>
              <a:t>int</a:t>
            </a: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EntVisitor</a:t>
            </a:r>
            <a:r>
              <a:rPr lang="en-CA" sz="1350" dirty="0">
                <a:latin typeface="Courier New" panose="02070309020205020404" pitchFamily="49" charset="0"/>
                <a:cs typeface="Courier New" panose="02070309020205020404" pitchFamily="49" charset="0"/>
              </a:rPr>
              <a:t>::visit(Entity &amp; e)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dirty="0" err="1">
                <a:latin typeface="Courier New" panose="02070309020205020404" pitchFamily="49" charset="0"/>
                <a:cs typeface="Courier New" panose="02070309020205020404" pitchFamily="49" charset="0"/>
              </a:rPr>
              <a:t>cout</a:t>
            </a:r>
            <a:r>
              <a:rPr lang="en-CA" sz="1350" dirty="0">
                <a:latin typeface="Courier New" panose="02070309020205020404" pitchFamily="49" charset="0"/>
                <a:cs typeface="Courier New" panose="02070309020205020404" pitchFamily="49" charset="0"/>
              </a:rPr>
              <a:t> &lt;&lt; </a:t>
            </a:r>
            <a:r>
              <a:rPr lang="en-CA" sz="1350" dirty="0" err="1">
                <a:latin typeface="Courier New" panose="02070309020205020404" pitchFamily="49" charset="0"/>
                <a:cs typeface="Courier New" panose="02070309020205020404" pitchFamily="49" charset="0"/>
              </a:rPr>
              <a:t>e.get_name</a:t>
            </a:r>
            <a:r>
              <a:rPr lang="en-CA" sz="1350" dirty="0">
                <a:latin typeface="Courier New" panose="02070309020205020404" pitchFamily="49" charset="0"/>
                <a:cs typeface="Courier New" panose="02070309020205020404" pitchFamily="49" charset="0"/>
              </a:rPr>
              <a:t>() &lt;&lt; </a:t>
            </a:r>
            <a:r>
              <a:rPr lang="en-CA" sz="1350" dirty="0" err="1">
                <a:latin typeface="Courier New" panose="02070309020205020404" pitchFamily="49" charset="0"/>
                <a:cs typeface="Courier New" panose="02070309020205020404" pitchFamily="49" charset="0"/>
              </a:rPr>
              <a:t>endl</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return </a:t>
            </a:r>
            <a:r>
              <a:rPr lang="en-CA" sz="1350" dirty="0" err="1">
                <a:latin typeface="Courier New" panose="02070309020205020404" pitchFamily="49" charset="0"/>
                <a:cs typeface="Courier New" panose="02070309020205020404" pitchFamily="49" charset="0"/>
              </a:rPr>
              <a:t>e.process_pointers</a:t>
            </a:r>
            <a:r>
              <a:rPr lang="en-CA" sz="1350" dirty="0">
                <a:latin typeface="Courier New" panose="02070309020205020404" pitchFamily="49" charset="0"/>
                <a:cs typeface="Courier New" panose="02070309020205020404" pitchFamily="49" charset="0"/>
              </a:rPr>
              <a:t>(</a:t>
            </a:r>
            <a:r>
              <a:rPr lang="en-CA" sz="1350" dirty="0" err="1">
                <a:latin typeface="Courier New" panose="02070309020205020404" pitchFamily="49" charset="0"/>
                <a:cs typeface="Courier New" panose="02070309020205020404" pitchFamily="49" charset="0"/>
              </a:rPr>
              <a:t>pv</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p:txBody>
      </p:sp>
      <p:sp>
        <p:nvSpPr>
          <p:cNvPr id="5" name="Content Placeholder 4"/>
          <p:cNvSpPr>
            <a:spLocks noGrp="1"/>
          </p:cNvSpPr>
          <p:nvPr>
            <p:ph sz="half" idx="2"/>
          </p:nvPr>
        </p:nvSpPr>
        <p:spPr>
          <a:xfrm>
            <a:off x="4371975" y="971550"/>
            <a:ext cx="4038600" cy="1968629"/>
          </a:xfrm>
        </p:spPr>
        <p:txBody>
          <a:bodyPr>
            <a:noAutofit/>
          </a:bodyPr>
          <a:lstStyle/>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void main(void)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Ext4IO </a:t>
            </a:r>
            <a:r>
              <a:rPr lang="en-CA" sz="1350" dirty="0" err="1">
                <a:latin typeface="Courier New" panose="02070309020205020404" pitchFamily="49" charset="0"/>
                <a:cs typeface="Courier New" panose="02070309020205020404" pitchFamily="49" charset="0"/>
              </a:rPr>
              <a:t>io</a:t>
            </a:r>
            <a:r>
              <a:rPr lang="en-CA" sz="1350" dirty="0">
                <a:latin typeface="Courier New" panose="02070309020205020404" pitchFamily="49" charset="0"/>
                <a:cs typeface="Courier New" panose="02070309020205020404" pitchFamily="49" charset="0"/>
              </a:rPr>
              <a:t>("/dev/sdb1");</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Ext4 fs(</a:t>
            </a:r>
            <a:r>
              <a:rPr lang="en-CA" sz="1350" dirty="0" err="1">
                <a:latin typeface="Courier New" panose="02070309020205020404" pitchFamily="49" charset="0"/>
                <a:cs typeface="Courier New" panose="02070309020205020404" pitchFamily="49" charset="0"/>
              </a:rPr>
              <a:t>io</a:t>
            </a:r>
            <a:r>
              <a:rPr lang="en-CA" sz="1350"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b="1" dirty="0">
                <a:latin typeface="Courier New" panose="02070309020205020404" pitchFamily="49" charset="0"/>
                <a:cs typeface="Courier New" panose="02070309020205020404" pitchFamily="49" charset="0"/>
              </a:rPr>
              <a:t>Container * sup = </a:t>
            </a:r>
            <a:r>
              <a:rPr lang="en-CA" sz="1350" b="1" dirty="0" err="1">
                <a:latin typeface="Courier New" panose="02070309020205020404" pitchFamily="49" charset="0"/>
                <a:cs typeface="Courier New" panose="02070309020205020404" pitchFamily="49" charset="0"/>
              </a:rPr>
              <a:t>fs.fetch_super</a:t>
            </a:r>
            <a:r>
              <a:rPr lang="en-CA" sz="1350" b="1" dirty="0">
                <a:latin typeface="Courier New" panose="02070309020205020404" pitchFamily="49" charset="0"/>
                <a:cs typeface="Courier New" panose="02070309020205020404" pitchFamily="49" charset="0"/>
              </a:rPr>
              <a:t>();</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if (sup != </a:t>
            </a:r>
            <a:r>
              <a:rPr lang="en-CA" sz="1350" dirty="0" err="1">
                <a:latin typeface="Courier New" panose="02070309020205020404" pitchFamily="49" charset="0"/>
                <a:cs typeface="Courier New" panose="02070309020205020404" pitchFamily="49" charset="0"/>
              </a:rPr>
              <a:t>nullptr</a:t>
            </a: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r>
              <a:rPr lang="en-CA" sz="1350" b="1" dirty="0" err="1">
                <a:latin typeface="Courier New" panose="02070309020205020404" pitchFamily="49" charset="0"/>
                <a:cs typeface="Courier New" panose="02070309020205020404" pitchFamily="49" charset="0"/>
              </a:rPr>
              <a:t>ev.visit</a:t>
            </a:r>
            <a:r>
              <a:rPr lang="en-CA" sz="1350" b="1" dirty="0">
                <a:latin typeface="Courier New" panose="02070309020205020404" pitchFamily="49" charset="0"/>
                <a:cs typeface="Courier New" panose="02070309020205020404" pitchFamily="49" charset="0"/>
              </a:rPr>
              <a:t>(*sup);</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sup-&gt;destroy();</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  }</a:t>
            </a:r>
          </a:p>
          <a:p>
            <a:pPr marL="0" indent="0">
              <a:spcBef>
                <a:spcPts val="0"/>
              </a:spcBef>
              <a:spcAft>
                <a:spcPts val="0"/>
              </a:spcAft>
              <a:buNone/>
            </a:pPr>
            <a:r>
              <a:rPr lang="en-CA" sz="1350" dirty="0">
                <a:latin typeface="Courier New" panose="02070309020205020404" pitchFamily="49" charset="0"/>
                <a:cs typeface="Courier New" panose="02070309020205020404" pitchFamily="49" charset="0"/>
              </a:rPr>
              <a:t>}</a:t>
            </a:r>
          </a:p>
          <a:p>
            <a:pPr>
              <a:spcBef>
                <a:spcPts val="0"/>
              </a:spcBef>
              <a:spcAft>
                <a:spcPts val="0"/>
              </a:spcAft>
            </a:pPr>
            <a:endParaRPr lang="en-CA" sz="1350" dirty="0"/>
          </a:p>
        </p:txBody>
      </p:sp>
      <p:sp>
        <p:nvSpPr>
          <p:cNvPr id="6" name="Content Placeholder 4"/>
          <p:cNvSpPr txBox="1">
            <a:spLocks/>
          </p:cNvSpPr>
          <p:nvPr/>
        </p:nvSpPr>
        <p:spPr>
          <a:xfrm>
            <a:off x="4371975" y="3105150"/>
            <a:ext cx="4038600" cy="1352550"/>
          </a:xfrm>
          <a:prstGeom prst="rect">
            <a:avLst/>
          </a:prstGeom>
        </p:spPr>
        <p:txBody>
          <a:bodyPr vert="horz" lIns="68580" tIns="34290" rIns="68580" bIns="34290" rtlCol="0" anchor="t">
            <a:noAutofit/>
          </a:bodyPr>
          <a:lstStyle>
            <a:lvl1pPr marL="2857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4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20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8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80000"/>
              <a:buFont typeface="Wingdings 3" panose="05040102010807070707" pitchFamily="18" charset="2"/>
              <a:buChar char=""/>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a:spcBef>
                <a:spcPts val="0"/>
              </a:spcBef>
              <a:spcAft>
                <a:spcPts val="0"/>
              </a:spcAft>
              <a:buClr>
                <a:srgbClr val="007089"/>
              </a:buClr>
            </a:pPr>
            <a:r>
              <a:rPr lang="en-CA" sz="1800" dirty="0">
                <a:solidFill>
                  <a:srgbClr val="000000"/>
                </a:solidFill>
              </a:rPr>
              <a:t>Traversal begins from super block</a:t>
            </a:r>
          </a:p>
          <a:p>
            <a:pPr>
              <a:spcBef>
                <a:spcPts val="0"/>
              </a:spcBef>
              <a:spcAft>
                <a:spcPts val="0"/>
              </a:spcAft>
              <a:buClr>
                <a:srgbClr val="007089"/>
              </a:buClr>
            </a:pPr>
            <a:r>
              <a:rPr lang="en-CA" sz="1800" dirty="0">
                <a:solidFill>
                  <a:srgbClr val="000000"/>
                </a:solidFill>
              </a:rPr>
              <a:t>Uses two mutually recursive visitors to traverse the whole file system</a:t>
            </a:r>
          </a:p>
        </p:txBody>
      </p:sp>
    </p:spTree>
    <p:extLst>
      <p:ext uri="{BB962C8B-B14F-4D97-AF65-F5344CB8AC3E}">
        <p14:creationId xmlns:p14="http://schemas.microsoft.com/office/powerpoint/2010/main" val="1579588621"/>
      </p:ext>
    </p:extLst>
  </p:cSld>
  <p:clrMapOvr>
    <a:masterClrMapping/>
  </p:clrMapOvr>
  <p:timing>
    <p:tnLst>
      <p:par>
        <p:cTn id="1" dur="indefinite" restart="never" nodeType="tmRoot"/>
      </p:par>
    </p:tnLst>
  </p:timing>
</p:sld>
</file>

<file path=ppt/theme/theme1.xml><?xml version="1.0" encoding="utf-8"?>
<a:theme xmlns:a="http://schemas.openxmlformats.org/drawingml/2006/main" name="SDC2015_ppt_template">
  <a:themeElements>
    <a:clrScheme name="SDC_Slides_08_Template_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DC_Slides_08_Template_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DC_Slides_08_Template_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DC_Slides_08_Template_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DC_Slides_08_Template_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DC_Slides_08_Template_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DC_Slides_08_Template_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DC_Slides_08_Template_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DC_Slides_08_Template_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DC_Slides_08_Template_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DC_Slides_08_Template_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DC_Slides_08_Template_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DC_Slides_08_Template_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SDC2015_ppt_template</Template>
  <TotalTime>13593</TotalTime>
  <Words>8125</Words>
  <Application>Microsoft Office PowerPoint</Application>
  <PresentationFormat>On-screen Show (16:9)</PresentationFormat>
  <Paragraphs>990</Paragraphs>
  <Slides>58</Slides>
  <Notes>56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微軟正黑體</vt:lpstr>
      <vt:lpstr>Arial</vt:lpstr>
      <vt:lpstr>Calibri</vt:lpstr>
      <vt:lpstr>Courier New</vt:lpstr>
      <vt:lpstr>Gill Sans MT</vt:lpstr>
      <vt:lpstr>新細明體</vt:lpstr>
      <vt:lpstr>Wingdings</vt:lpstr>
      <vt:lpstr>Wingdings 3</vt:lpstr>
      <vt:lpstr>SDC2015_ppt_template</vt:lpstr>
      <vt:lpstr>Spiffy: Enabling File-System Aware Storage Applications</vt:lpstr>
      <vt:lpstr>Introduction</vt:lpstr>
      <vt:lpstr>Problem</vt:lpstr>
      <vt:lpstr>Root Cause</vt:lpstr>
      <vt:lpstr>Goals</vt:lpstr>
      <vt:lpstr>Approach: Spiffy Framework</vt:lpstr>
      <vt:lpstr>Specifying Format</vt:lpstr>
      <vt:lpstr>Generating Library</vt:lpstr>
      <vt:lpstr> Building Applications</vt:lpstr>
      <vt:lpstr>Talk Outline</vt:lpstr>
      <vt:lpstr>Need for Annotations</vt:lpstr>
      <vt:lpstr>Need for Annotations</vt:lpstr>
      <vt:lpstr>Need for Annotations</vt:lpstr>
      <vt:lpstr>Need for Annotations</vt:lpstr>
      <vt:lpstr>Pointer Annotations</vt:lpstr>
      <vt:lpstr>Pointer Address Space</vt:lpstr>
      <vt:lpstr>Block Address Space</vt:lpstr>
      <vt:lpstr>File Address Space</vt:lpstr>
      <vt:lpstr>Super Block</vt:lpstr>
      <vt:lpstr>Super Block</vt:lpstr>
      <vt:lpstr>Super Block</vt:lpstr>
      <vt:lpstr>Context-Sensitive Types</vt:lpstr>
      <vt:lpstr>Context-Sensitive Types</vt:lpstr>
      <vt:lpstr>Context-Sensitive Types</vt:lpstr>
      <vt:lpstr>Context-Sensitive Types</vt:lpstr>
      <vt:lpstr>Missing Pointer</vt:lpstr>
      <vt:lpstr>Implicit Pointer</vt:lpstr>
      <vt:lpstr>Implicit Pointer</vt:lpstr>
      <vt:lpstr>Vector Types</vt:lpstr>
      <vt:lpstr>Check Annotations</vt:lpstr>
      <vt:lpstr>Generating Spiffy Library</vt:lpstr>
      <vt:lpstr>Evaluation: Annotation Effort</vt:lpstr>
      <vt:lpstr>Building Applications</vt:lpstr>
      <vt:lpstr>Manually-Written Application</vt:lpstr>
      <vt:lpstr>Manually-Written Application</vt:lpstr>
      <vt:lpstr>Manually-Written Application</vt:lpstr>
      <vt:lpstr>Application Using Spiffy Library</vt:lpstr>
      <vt:lpstr>Application Using Spiffy Library</vt:lpstr>
      <vt:lpstr>Application Using Spiffy Library</vt:lpstr>
      <vt:lpstr>Spiffy Application for Btrfs</vt:lpstr>
      <vt:lpstr>Spiffy Applications</vt:lpstr>
      <vt:lpstr>File System Dump Tool</vt:lpstr>
      <vt:lpstr>File System Dump Tool</vt:lpstr>
      <vt:lpstr>Type-Specific File System Corruptor</vt:lpstr>
      <vt:lpstr>File System Conversion Tool</vt:lpstr>
      <vt:lpstr>Evaluation: Ext4 to F2FS Converter</vt:lpstr>
      <vt:lpstr>File-system Aware Block Layer Cache</vt:lpstr>
      <vt:lpstr>Runtime File System Checker</vt:lpstr>
      <vt:lpstr>Demo of Spiffy Applications</vt:lpstr>
      <vt:lpstr>Conclusion</vt:lpstr>
      <vt:lpstr>Find Out More</vt:lpstr>
      <vt:lpstr>Spiffy: Enabling File-System Aware Storage Applications</vt:lpstr>
      <vt:lpstr>Spiffy API (C++)</vt:lpstr>
      <vt:lpstr>File-System Agnostic Traversal</vt:lpstr>
      <vt:lpstr>Generic File-System Traversal</vt:lpstr>
      <vt:lpstr>File-System Agnostic Traversal</vt:lpstr>
      <vt:lpstr>File-System Agnostic Traversal</vt:lpstr>
      <vt:lpstr>File-System Agnostic Traversal</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Presentation</dc:title>
  <dc:creator>khauser</dc:creator>
  <cp:lastModifiedBy>Ashvin Goel</cp:lastModifiedBy>
  <cp:revision>146</cp:revision>
  <dcterms:created xsi:type="dcterms:W3CDTF">2016-06-02T15:35:50Z</dcterms:created>
  <dcterms:modified xsi:type="dcterms:W3CDTF">2018-09-25T19:45:40Z</dcterms:modified>
</cp:coreProperties>
</file>