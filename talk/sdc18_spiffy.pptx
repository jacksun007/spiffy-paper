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64"/>
  </p:notesMasterIdLst>
  <p:handoutMasterIdLst>
    <p:handoutMasterId r:id="rId65"/>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314" r:id="rId14"/>
    <p:sldId id="315" r:id="rId15"/>
    <p:sldId id="268" r:id="rId16"/>
    <p:sldId id="269" r:id="rId17"/>
    <p:sldId id="270" r:id="rId18"/>
    <p:sldId id="271" r:id="rId19"/>
    <p:sldId id="311" r:id="rId20"/>
    <p:sldId id="316" r:id="rId21"/>
    <p:sldId id="317" r:id="rId22"/>
    <p:sldId id="318" r:id="rId23"/>
    <p:sldId id="274" r:id="rId24"/>
    <p:sldId id="319" r:id="rId25"/>
    <p:sldId id="320" r:id="rId26"/>
    <p:sldId id="272" r:id="rId27"/>
    <p:sldId id="273" r:id="rId28"/>
    <p:sldId id="321" r:id="rId29"/>
    <p:sldId id="327" r:id="rId30"/>
    <p:sldId id="326" r:id="rId31"/>
    <p:sldId id="328" r:id="rId32"/>
    <p:sldId id="329" r:id="rId33"/>
    <p:sldId id="330" r:id="rId34"/>
    <p:sldId id="275" r:id="rId35"/>
    <p:sldId id="331" r:id="rId36"/>
    <p:sldId id="332"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333" r:id="rId50"/>
    <p:sldId id="334" r:id="rId51"/>
    <p:sldId id="335" r:id="rId52"/>
    <p:sldId id="325" r:id="rId53"/>
    <p:sldId id="322" r:id="rId54"/>
    <p:sldId id="288" r:id="rId55"/>
    <p:sldId id="289" r:id="rId56"/>
    <p:sldId id="290" r:id="rId57"/>
    <p:sldId id="312" r:id="rId58"/>
    <p:sldId id="303" r:id="rId59"/>
    <p:sldId id="291" r:id="rId60"/>
    <p:sldId id="313" r:id="rId61"/>
    <p:sldId id="305" r:id="rId62"/>
    <p:sldId id="306" r:id="rId63"/>
  </p:sldIdLst>
  <p:sldSz cx="9144000" cy="5143500" type="screen16x9"/>
  <p:notesSz cx="7077075" cy="9383713"/>
  <p:defaultTextStyle>
    <a:defPPr>
      <a:defRPr lang="en-US"/>
    </a:defPPr>
    <a:lvl1pPr algn="l" rtl="0" fontAlgn="base">
      <a:spcBef>
        <a:spcPct val="0"/>
      </a:spcBef>
      <a:spcAft>
        <a:spcPct val="0"/>
      </a:spcAft>
      <a:defRPr sz="1600" kern="1200">
        <a:solidFill>
          <a:schemeClr val="tx1"/>
        </a:solidFill>
        <a:latin typeface="Arial" charset="0"/>
        <a:ea typeface="+mn-ea"/>
        <a:cs typeface="+mn-cs"/>
      </a:defRPr>
    </a:lvl1pPr>
    <a:lvl2pPr marL="457200" algn="l" rtl="0" fontAlgn="base">
      <a:spcBef>
        <a:spcPct val="0"/>
      </a:spcBef>
      <a:spcAft>
        <a:spcPct val="0"/>
      </a:spcAft>
      <a:defRPr sz="1600" kern="1200">
        <a:solidFill>
          <a:schemeClr val="tx1"/>
        </a:solidFill>
        <a:latin typeface="Arial" charset="0"/>
        <a:ea typeface="+mn-ea"/>
        <a:cs typeface="+mn-cs"/>
      </a:defRPr>
    </a:lvl2pPr>
    <a:lvl3pPr marL="914400" algn="l" rtl="0" fontAlgn="base">
      <a:spcBef>
        <a:spcPct val="0"/>
      </a:spcBef>
      <a:spcAft>
        <a:spcPct val="0"/>
      </a:spcAft>
      <a:defRPr sz="1600" kern="1200">
        <a:solidFill>
          <a:schemeClr val="tx1"/>
        </a:solidFill>
        <a:latin typeface="Arial" charset="0"/>
        <a:ea typeface="+mn-ea"/>
        <a:cs typeface="+mn-cs"/>
      </a:defRPr>
    </a:lvl3pPr>
    <a:lvl4pPr marL="1371600" algn="l" rtl="0" fontAlgn="base">
      <a:spcBef>
        <a:spcPct val="0"/>
      </a:spcBef>
      <a:spcAft>
        <a:spcPct val="0"/>
      </a:spcAft>
      <a:defRPr sz="1600" kern="1200">
        <a:solidFill>
          <a:schemeClr val="tx1"/>
        </a:solidFill>
        <a:latin typeface="Arial" charset="0"/>
        <a:ea typeface="+mn-ea"/>
        <a:cs typeface="+mn-cs"/>
      </a:defRPr>
    </a:lvl4pPr>
    <a:lvl5pPr marL="1828800" algn="l" rtl="0" fontAlgn="base">
      <a:spcBef>
        <a:spcPct val="0"/>
      </a:spcBef>
      <a:spcAft>
        <a:spcPct val="0"/>
      </a:spcAft>
      <a:defRPr sz="1600" kern="1200">
        <a:solidFill>
          <a:schemeClr val="tx1"/>
        </a:solidFill>
        <a:latin typeface="Arial" charset="0"/>
        <a:ea typeface="+mn-ea"/>
        <a:cs typeface="+mn-cs"/>
      </a:defRPr>
    </a:lvl5pPr>
    <a:lvl6pPr marL="2286000" algn="l" defTabSz="914400" rtl="0" eaLnBrk="1" latinLnBrk="0" hangingPunct="1">
      <a:defRPr sz="1600" kern="1200">
        <a:solidFill>
          <a:schemeClr val="tx1"/>
        </a:solidFill>
        <a:latin typeface="Arial" charset="0"/>
        <a:ea typeface="+mn-ea"/>
        <a:cs typeface="+mn-cs"/>
      </a:defRPr>
    </a:lvl6pPr>
    <a:lvl7pPr marL="2743200" algn="l" defTabSz="914400" rtl="0" eaLnBrk="1" latinLnBrk="0" hangingPunct="1">
      <a:defRPr sz="1600" kern="1200">
        <a:solidFill>
          <a:schemeClr val="tx1"/>
        </a:solidFill>
        <a:latin typeface="Arial" charset="0"/>
        <a:ea typeface="+mn-ea"/>
        <a:cs typeface="+mn-cs"/>
      </a:defRPr>
    </a:lvl7pPr>
    <a:lvl8pPr marL="3200400" algn="l" defTabSz="914400" rtl="0" eaLnBrk="1" latinLnBrk="0" hangingPunct="1">
      <a:defRPr sz="1600" kern="1200">
        <a:solidFill>
          <a:schemeClr val="tx1"/>
        </a:solidFill>
        <a:latin typeface="Arial" charset="0"/>
        <a:ea typeface="+mn-ea"/>
        <a:cs typeface="+mn-cs"/>
      </a:defRPr>
    </a:lvl8pPr>
    <a:lvl9pPr marL="3657600" algn="l" defTabSz="914400" rtl="0" eaLnBrk="1" latinLnBrk="0" hangingPunct="1">
      <a:defRPr sz="16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55">
          <p15:clr>
            <a:srgbClr val="A4A3A4"/>
          </p15:clr>
        </p15:guide>
        <p15:guide id="2" pos="2229">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FFF"/>
    <a:srgbClr val="B7B7FF"/>
    <a:srgbClr val="007089"/>
    <a:srgbClr val="7D7DFF"/>
    <a:srgbClr val="5D5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65507" autoAdjust="0"/>
  </p:normalViewPr>
  <p:slideViewPr>
    <p:cSldViewPr>
      <p:cViewPr varScale="1">
        <p:scale>
          <a:sx n="59" d="100"/>
          <a:sy n="59" d="100"/>
        </p:scale>
        <p:origin x="1632" y="72"/>
      </p:cViewPr>
      <p:guideLst>
        <p:guide orient="horz" pos="1620"/>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p:scale>
          <a:sx n="70" d="100"/>
          <a:sy n="70" d="100"/>
        </p:scale>
        <p:origin x="-3198" y="-66"/>
      </p:cViewPr>
      <p:guideLst>
        <p:guide orient="horz" pos="2955"/>
        <p:guide pos="222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656062388753131"/>
          <c:y val="5.9911271909187234E-2"/>
          <c:w val="0.53026608742872661"/>
          <c:h val="0.71485881469934165"/>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315699744"/>
        <c:axId val="315702880"/>
      </c:lineChart>
      <c:catAx>
        <c:axId val="315699744"/>
        <c:scaling>
          <c:orientation val="minMax"/>
        </c:scaling>
        <c:delete val="0"/>
        <c:axPos val="b"/>
        <c:title>
          <c:tx>
            <c:rich>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US" sz="1600" dirty="0">
                    <a:solidFill>
                      <a:srgbClr val="000000"/>
                    </a:solidFill>
                  </a:rPr>
                  <a:t># of </a:t>
                </a:r>
                <a:r>
                  <a:rPr lang="en-US" sz="1600" dirty="0" smtClean="0">
                    <a:solidFill>
                      <a:srgbClr val="000000"/>
                    </a:solidFill>
                  </a:rPr>
                  <a:t>files</a:t>
                </a:r>
                <a:endParaRPr lang="en-US" sz="1600" dirty="0">
                  <a:solidFill>
                    <a:srgbClr val="000000"/>
                  </a:solidFill>
                </a:endParaRPr>
              </a:p>
            </c:rich>
          </c:tx>
          <c:layout>
            <c:manualLayout>
              <c:xMode val="edge"/>
              <c:yMode val="edge"/>
              <c:x val="0.64516245814100825"/>
              <c:y val="0.81318646046260579"/>
            </c:manualLayout>
          </c:layout>
          <c:overlay val="0"/>
          <c:spPr>
            <a:noFill/>
            <a:ln>
              <a:noFill/>
            </a:ln>
            <a:effectLst/>
          </c:spPr>
          <c:txPr>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315702880"/>
        <c:crosses val="autoZero"/>
        <c:auto val="0"/>
        <c:lblAlgn val="ctr"/>
        <c:lblOffset val="100"/>
        <c:noMultiLvlLbl val="0"/>
      </c:catAx>
      <c:valAx>
        <c:axId val="315702880"/>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CA" sz="1600">
                    <a:solidFill>
                      <a:srgbClr val="000000"/>
                    </a:solidFill>
                  </a:rPr>
                  <a:t>seconds</a:t>
                </a:r>
              </a:p>
            </c:rich>
          </c:tx>
          <c:overlay val="0"/>
          <c:spPr>
            <a:noFill/>
            <a:ln>
              <a:noFill/>
            </a:ln>
            <a:effectLst/>
          </c:spPr>
          <c:txPr>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315699744"/>
        <c:crosses val="autoZero"/>
        <c:crossBetween val="between"/>
      </c:valAx>
      <c:spPr>
        <a:no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rgbClr val="000000"/>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sz="quarter"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0C5C15DB-11A6-4112-B189-B4B63969769D}" type="datetimeFigureOut">
              <a:rPr lang="en-US"/>
              <a:pPr>
                <a:defRPr/>
              </a:pPr>
              <a:t>9/27/2018</a:t>
            </a:fld>
            <a:endParaRPr lang="en-US"/>
          </a:p>
        </p:txBody>
      </p:sp>
      <p:sp>
        <p:nvSpPr>
          <p:cNvPr id="4" name="Footer Placeholder 3"/>
          <p:cNvSpPr>
            <a:spLocks noGrp="1"/>
          </p:cNvSpPr>
          <p:nvPr>
            <p:ph type="ftr" sz="quarter" idx="2"/>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6" name="Slide Number Placeholder 5"/>
          <p:cNvSpPr>
            <a:spLocks noGrp="1"/>
          </p:cNvSpPr>
          <p:nvPr>
            <p:ph type="sldNum" sz="quarter" idx="3"/>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F4429B67-5F41-4671-BF3C-3A74F4BD2A15}" type="slidenum">
              <a:rPr lang="en-US"/>
              <a:pPr>
                <a:defRPr/>
              </a:pPr>
              <a:t>‹#›</a:t>
            </a:fld>
            <a:endParaRPr lang="en-US"/>
          </a:p>
        </p:txBody>
      </p:sp>
    </p:spTree>
    <p:extLst>
      <p:ext uri="{BB962C8B-B14F-4D97-AF65-F5344CB8AC3E}">
        <p14:creationId xmlns:p14="http://schemas.microsoft.com/office/powerpoint/2010/main" val="21075270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E70C0810-4D61-476D-85B9-67DD24F29068}" type="datetimeFigureOut">
              <a:rPr lang="en-US"/>
              <a:pPr>
                <a:defRPr/>
              </a:pPr>
              <a:t>9/27/2018</a:t>
            </a:fld>
            <a:endParaRPr lang="en-US"/>
          </a:p>
        </p:txBody>
      </p:sp>
      <p:sp>
        <p:nvSpPr>
          <p:cNvPr id="4" name="Slide Image Placeholder 3"/>
          <p:cNvSpPr>
            <a:spLocks noGrp="1" noRot="1" noChangeAspect="1"/>
          </p:cNvSpPr>
          <p:nvPr>
            <p:ph type="sldImg" idx="2"/>
          </p:nvPr>
        </p:nvSpPr>
        <p:spPr>
          <a:xfrm>
            <a:off x="411163" y="703263"/>
            <a:ext cx="6254750" cy="3519487"/>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708025" y="4457700"/>
            <a:ext cx="5661025" cy="4222750"/>
          </a:xfrm>
          <a:prstGeom prst="rect">
            <a:avLst/>
          </a:prstGeom>
        </p:spPr>
        <p:txBody>
          <a:bodyPr vert="horz" lIns="91440" tIns="45720" rIns="91440" bIns="45720" rtlCol="0">
            <a:normAutofit/>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7" name="Slide Number Placeholder 6"/>
          <p:cNvSpPr>
            <a:spLocks noGrp="1"/>
          </p:cNvSpPr>
          <p:nvPr>
            <p:ph type="sldNum" sz="quarter" idx="5"/>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CFF1A404-780B-445D-9205-D143319E6490}" type="slidenum">
              <a:rPr lang="en-US"/>
              <a:pPr>
                <a:defRPr/>
              </a:pPr>
              <a:t>‹#›</a:t>
            </a:fld>
            <a:endParaRPr lang="en-US"/>
          </a:p>
        </p:txBody>
      </p:sp>
    </p:spTree>
    <p:extLst>
      <p:ext uri="{BB962C8B-B14F-4D97-AF65-F5344CB8AC3E}">
        <p14:creationId xmlns:p14="http://schemas.microsoft.com/office/powerpoint/2010/main" val="81671757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1</a:t>
            </a:fld>
            <a:endParaRPr lang="en-US" altLang="en-US" smtClean="0">
              <a:latin typeface="Arial" charset="0"/>
            </a:endParaRPr>
          </a:p>
        </p:txBody>
      </p:sp>
    </p:spTree>
    <p:extLst>
      <p:ext uri="{BB962C8B-B14F-4D97-AF65-F5344CB8AC3E}">
        <p14:creationId xmlns:p14="http://schemas.microsoft.com/office/powerpoint/2010/main" val="1283261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File-system aware applications are those applications that work </a:t>
            </a:r>
            <a:r>
              <a:rPr lang="en-CA" dirty="0" smtClean="0"/>
              <a:t>with file system metadata.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bypass the VFS layer and o</a:t>
            </a:r>
            <a:r>
              <a:rPr lang="en-CA" dirty="0" smtClean="0"/>
              <a:t>perate directly on file system metadata structures on</a:t>
            </a:r>
            <a:r>
              <a:rPr lang="en-CA" baseline="0" dirty="0" smtClean="0"/>
              <a:t> disk.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39185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misinterpreted this field, and corrupted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3393997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 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13442513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232113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34671520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365996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91627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19457255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15730406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 </a:t>
            </a:r>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42287739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a:t>
            </a:r>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1058972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Here we add an FSSTRUCT annotation to </a:t>
            </a:r>
            <a:r>
              <a:rPr lang="en-CA" baseline="0" dirty="0" err="1" smtClean="0"/>
              <a:t>struct</a:t>
            </a:r>
            <a:r>
              <a:rPr lang="en-CA" baseline="0" dirty="0" smtClean="0"/>
              <a:t> foo to indicate that it is an on-disk metadata structure. </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39236447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Then, we add a pointer annotation right above a </a:t>
            </a:r>
            <a:r>
              <a:rPr lang="en-US" dirty="0" smtClean="0"/>
              <a:t>data structure field, such as the</a:t>
            </a:r>
            <a:r>
              <a:rPr lang="en-US" baseline="0" dirty="0" smtClean="0"/>
              <a:t> </a:t>
            </a:r>
            <a:r>
              <a:rPr lang="en-US" baseline="0" dirty="0" err="1" smtClean="0"/>
              <a:t>bar_block_ptr</a:t>
            </a:r>
            <a:r>
              <a:rPr lang="en-US" baseline="0" dirty="0" smtClean="0"/>
              <a:t> field shown here,</a:t>
            </a:r>
            <a:r>
              <a:rPr lang="en-US" dirty="0" smtClean="0"/>
              <a:t> to specify that the</a:t>
            </a:r>
            <a:r>
              <a:rPr lang="en-US" baseline="0" dirty="0" smtClean="0"/>
              <a:t> field</a:t>
            </a:r>
            <a:r>
              <a:rPr lang="en-US" dirty="0" smtClean="0"/>
              <a:t> holds an address to a location on physical storage. Here,</a:t>
            </a:r>
            <a:r>
              <a:rPr lang="en-US" baseline="0" dirty="0" smtClean="0"/>
              <a:t> this pointer annotation specifies that the value contained in the </a:t>
            </a:r>
            <a:r>
              <a:rPr lang="en-CA" baseline="0" dirty="0" err="1" smtClean="0"/>
              <a:t>bar_block_ptr</a:t>
            </a:r>
            <a:r>
              <a:rPr lang="en-CA" baseline="0" dirty="0" smtClean="0"/>
              <a:t> field is the address of a block whose type is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14</a:t>
            </a:fld>
            <a:endParaRPr lang="en-CA"/>
          </a:p>
        </p:txBody>
      </p:sp>
    </p:spTree>
    <p:extLst>
      <p:ext uri="{BB962C8B-B14F-4D97-AF65-F5344CB8AC3E}">
        <p14:creationId xmlns:p14="http://schemas.microsoft.com/office/powerpoint/2010/main" val="39501074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the file system. For example, in Ext4, from the super block, we can reach the ext4 journal and the block group descriptor table. In the descriptor table, each block group descriptor holds pointers to their block bitmap, </a:t>
            </a:r>
            <a:r>
              <a:rPr lang="en-CA" baseline="0" dirty="0" err="1" smtClean="0"/>
              <a:t>inode</a:t>
            </a:r>
            <a:r>
              <a:rPr lang="en-CA" baseline="0" dirty="0" smtClean="0"/>
              <a:t> bitmap, and </a:t>
            </a:r>
            <a:r>
              <a:rPr lang="en-CA" baseline="0" dirty="0" err="1" smtClean="0"/>
              <a:t>inode</a:t>
            </a:r>
            <a:r>
              <a:rPr lang="en-CA" baseline="0" dirty="0" smtClean="0"/>
              <a:t> table. Each </a:t>
            </a:r>
            <a:r>
              <a:rPr lang="en-CA" baseline="0" dirty="0" err="1" smtClean="0"/>
              <a:t>inode</a:t>
            </a:r>
            <a:r>
              <a:rPr lang="en-CA" baseline="0" dirty="0" smtClean="0"/>
              <a:t> structure in the </a:t>
            </a:r>
            <a:r>
              <a:rPr lang="en-CA" baseline="0" dirty="0" err="1" smtClean="0"/>
              <a:t>inode</a:t>
            </a:r>
            <a:r>
              <a:rPr lang="en-CA" baseline="0" dirty="0" smtClean="0"/>
              <a:t> table also points to data blocks or directory blocks, depending on whether it is a regular file or a directory. </a:t>
            </a:r>
            <a:r>
              <a:rPr lang="en-CA" baseline="0" dirty="0" err="1" smtClean="0"/>
              <a:t>Inode</a:t>
            </a:r>
            <a:r>
              <a:rPr lang="en-CA" baseline="0" dirty="0" smtClean="0"/>
              <a:t> structures can also hold pointers to indirect blocks to support large files and directories.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8671169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main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and file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16</a:t>
            </a:fld>
            <a:endParaRPr lang="en-CA"/>
          </a:p>
        </p:txBody>
      </p:sp>
    </p:spTree>
    <p:extLst>
      <p:ext uri="{BB962C8B-B14F-4D97-AF65-F5344CB8AC3E}">
        <p14:creationId xmlns:p14="http://schemas.microsoft.com/office/powerpoint/2010/main" val="39886306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41174776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20915811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CA" dirty="0" smtClean="0"/>
              <a:t>Traversal</a:t>
            </a:r>
            <a:r>
              <a:rPr lang="en-CA" baseline="0" dirty="0" smtClean="0"/>
              <a:t> of every file system begins with the super block. Therefore, a special annotation named FSSUPER is used to distinguish the super block from other file system metadata. File system super blocks are always located in fixed known byte offset on disk. Therefore, we specify this information using the location argument.</a:t>
            </a:r>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3093543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which is annotated with FSSUPER. The location argument specifies that the super block is one kilobyte away from the beginning of the partition.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4199212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explained previously, the </a:t>
            </a:r>
            <a:r>
              <a:rPr lang="en-CA" baseline="0" dirty="0" err="1" smtClean="0"/>
              <a:t>s_journal_inum</a:t>
            </a:r>
            <a:r>
              <a:rPr lang="en-CA" baseline="0" dirty="0" smtClean="0"/>
              <a:t> is a pointer in the file address space that points to the ext4_journal type.</a:t>
            </a:r>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38342695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One</a:t>
            </a:r>
            <a:r>
              <a:rPr lang="en-CA" baseline="0" dirty="0" smtClean="0"/>
              <a:t> of the challenges with annotating data structures is that </a:t>
            </a:r>
            <a:r>
              <a:rPr lang="en-CA" dirty="0" smtClean="0"/>
              <a:t>a field may refer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a:t>
            </a:r>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85111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a:t>
            </a:r>
            <a:r>
              <a:rPr lang="en-CA" baseline="0" dirty="0" smtClean="0"/>
              <a:t> this example, there are two pointer annotation to the same </a:t>
            </a:r>
            <a:r>
              <a:rPr lang="en-CA" baseline="0" dirty="0" err="1" smtClean="0"/>
              <a:t>i_block</a:t>
            </a:r>
            <a:r>
              <a:rPr lang="en-CA" baseline="0" dirty="0" smtClean="0"/>
              <a:t> array. </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29350111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first annotation specifies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25180068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second annotation specifies that this same </a:t>
            </a:r>
            <a:r>
              <a:rPr lang="en-CA" baseline="0" dirty="0" err="1" smtClean="0"/>
              <a:t>i_block</a:t>
            </a:r>
            <a:r>
              <a:rPr lang="en-CA" baseline="0" dirty="0" smtClean="0"/>
              <a:t> is an array of pointers to data blocks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42499918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For example,</a:t>
            </a:r>
            <a:r>
              <a:rPr lang="en-CA" dirty="0" smtClean="0"/>
              <a:t> 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897905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an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14230372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a:t>
            </a:r>
            <a:r>
              <a:rPr lang="en-CA" baseline="0" dirty="0" smtClean="0"/>
              <a:t> this example, the pointer annotation creates a logical field called </a:t>
            </a:r>
            <a:r>
              <a:rPr lang="en-CA" baseline="0" dirty="0" err="1" smtClean="0"/>
              <a:t>s_block_group_descriptor</a:t>
            </a:r>
            <a:r>
              <a:rPr lang="en-CA" baseline="0" dirty="0" smtClean="0"/>
              <a:t>, and evaluates the expression at runtime to assign this implicit pointer field a value of 2 or 1 depending the block size of the file system. Now, this field name can be used to traverse the file system from the super block to the block group descriptor tables.</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12985385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Spiffy provides support for vector types through the VECTOR annotation. A vector contains a sequence of elements of the same type. The size of the vector can be specified in three ways. One, the number of elements in the vector. Two, a sentinel value, and three, the total vector size.</a:t>
            </a:r>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29</a:t>
            </a:fld>
            <a:endParaRPr lang="en-US"/>
          </a:p>
        </p:txBody>
      </p:sp>
    </p:spTree>
    <p:extLst>
      <p:ext uri="{BB962C8B-B14F-4D97-AF65-F5344CB8AC3E}">
        <p14:creationId xmlns:p14="http://schemas.microsoft.com/office/powerpoint/2010/main" val="37198341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In this example, we show a vector with a fixed number of elements. The </a:t>
            </a:r>
            <a:r>
              <a:rPr lang="en-CA" baseline="0" dirty="0" err="1" smtClean="0"/>
              <a:t>inode</a:t>
            </a:r>
            <a:r>
              <a:rPr lang="en-CA" baseline="0" dirty="0" smtClean="0"/>
              <a:t> block is a vector of elements of type ext4_inode. The number of elements in this vector depends on the block size of the file system as well as the size of the </a:t>
            </a:r>
            <a:r>
              <a:rPr lang="en-CA" baseline="0" dirty="0" err="1" smtClean="0"/>
              <a:t>inode</a:t>
            </a:r>
            <a:r>
              <a:rPr lang="en-CA" baseline="0" dirty="0" smtClean="0"/>
              <a:t> structure, which is specified in a field in the super block named </a:t>
            </a:r>
            <a:r>
              <a:rPr lang="en-CA" baseline="0" dirty="0" err="1" smtClean="0"/>
              <a:t>s_inode_size</a:t>
            </a:r>
            <a:r>
              <a:rPr lang="en-CA" baseline="0" dirty="0" smtClean="0"/>
              <a:t>.</a:t>
            </a:r>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30</a:t>
            </a:fld>
            <a:endParaRPr lang="en-US"/>
          </a:p>
        </p:txBody>
      </p:sp>
    </p:spTree>
    <p:extLst>
      <p:ext uri="{BB962C8B-B14F-4D97-AF65-F5344CB8AC3E}">
        <p14:creationId xmlns:p14="http://schemas.microsoft.com/office/powerpoint/2010/main" val="34400217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When the elements are variable sized, we can specify the total size of the vector.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31</a:t>
            </a:fld>
            <a:endParaRPr lang="en-US"/>
          </a:p>
        </p:txBody>
      </p:sp>
    </p:spTree>
    <p:extLst>
      <p:ext uri="{BB962C8B-B14F-4D97-AF65-F5344CB8AC3E}">
        <p14:creationId xmlns:p14="http://schemas.microsoft.com/office/powerpoint/2010/main" val="35086708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For example, the directory indirect pointer structure has a single field called </a:t>
            </a:r>
            <a:r>
              <a:rPr lang="en-CA" baseline="0" dirty="0" err="1" smtClean="0"/>
              <a:t>ind_block_nr</a:t>
            </a:r>
            <a:r>
              <a:rPr lang="en-CA" baseline="0" dirty="0" smtClean="0"/>
              <a:t> that points to a directory block.</a:t>
            </a:r>
          </a:p>
          <a:p>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32</a:t>
            </a:fld>
            <a:endParaRPr lang="en-US"/>
          </a:p>
        </p:txBody>
      </p:sp>
    </p:spTree>
    <p:extLst>
      <p:ext uri="{BB962C8B-B14F-4D97-AF65-F5344CB8AC3E}">
        <p14:creationId xmlns:p14="http://schemas.microsoft.com/office/powerpoint/2010/main" val="11494647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This directory block is a vector of elements of type ext4_dir_entry. We don’t show the </a:t>
            </a:r>
            <a:r>
              <a:rPr lang="en-CA" baseline="0" dirty="0" smtClean="0"/>
              <a:t>ext4 </a:t>
            </a:r>
            <a:r>
              <a:rPr lang="en-CA" baseline="0" dirty="0" smtClean="0"/>
              <a:t>directory entries here, but they are variables sized structures, and so we specify the total size of the </a:t>
            </a:r>
            <a:r>
              <a:rPr lang="en-CA" baseline="0" dirty="0" err="1" smtClean="0"/>
              <a:t>dir_block</a:t>
            </a:r>
            <a:r>
              <a:rPr lang="en-CA" baseline="0" dirty="0" smtClean="0"/>
              <a:t> vector as BLOCK_SIZE.</a:t>
            </a:r>
          </a:p>
          <a:p>
            <a:endParaRPr lang="en-CA" baseline="0" dirty="0" smtClean="0"/>
          </a:p>
          <a:p>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33</a:t>
            </a:fld>
            <a:endParaRPr lang="en-US"/>
          </a:p>
        </p:txBody>
      </p:sp>
    </p:spTree>
    <p:extLst>
      <p:ext uri="{BB962C8B-B14F-4D97-AF65-F5344CB8AC3E}">
        <p14:creationId xmlns:p14="http://schemas.microsoft.com/office/powerpoint/2010/main" val="30958186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a:t>
            </a:r>
          </a:p>
        </p:txBody>
      </p:sp>
      <p:sp>
        <p:nvSpPr>
          <p:cNvPr id="4" name="Slide Number Placeholder 3"/>
          <p:cNvSpPr>
            <a:spLocks noGrp="1"/>
          </p:cNvSpPr>
          <p:nvPr>
            <p:ph type="sldNum" sz="quarter" idx="10"/>
          </p:nvPr>
        </p:nvSpPr>
        <p:spPr/>
        <p:txBody>
          <a:bodyPr/>
          <a:lstStyle/>
          <a:p>
            <a:fld id="{B5B5BF96-4013-477F-9949-176AD53AFF60}" type="slidenum">
              <a:rPr lang="en-CA" smtClean="0"/>
              <a:t>34</a:t>
            </a:fld>
            <a:endParaRPr lang="en-CA"/>
          </a:p>
        </p:txBody>
      </p:sp>
    </p:spTree>
    <p:extLst>
      <p:ext uri="{BB962C8B-B14F-4D97-AF65-F5344CB8AC3E}">
        <p14:creationId xmlns:p14="http://schemas.microsoft.com/office/powerpoint/2010/main" val="63651329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top example, we specify that the block size must be at most 64KB, and the magic field of the super block must be the Ext4 magic number.</a:t>
            </a:r>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41894573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check annotations are implemented</a:t>
            </a:r>
            <a:r>
              <a:rPr lang="en-CA" baseline="0" smtClean="0"/>
              <a:t>. </a:t>
            </a:r>
            <a:r>
              <a:rPr lang="en-CA" baseline="0" smtClean="0"/>
              <a:t>These </a:t>
            </a:r>
            <a:r>
              <a:rPr lang="en-CA" baseline="0" dirty="0" smtClean="0"/>
              <a:t>checks help detect metadata corruptions.</a:t>
            </a:r>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41880733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37</a:t>
            </a:fld>
            <a:endParaRPr lang="en-CA"/>
          </a:p>
        </p:txBody>
      </p:sp>
    </p:spTree>
    <p:extLst>
      <p:ext uri="{BB962C8B-B14F-4D97-AF65-F5344CB8AC3E}">
        <p14:creationId xmlns:p14="http://schemas.microsoft.com/office/powerpoint/2010/main" val="13117003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For example,</a:t>
            </a:r>
            <a:r>
              <a:rPr lang="en-CA" dirty="0" smtClean="0"/>
              <a:t>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38</a:t>
            </a:fld>
            <a:endParaRPr lang="en-CA"/>
          </a:p>
        </p:txBody>
      </p:sp>
    </p:spTree>
    <p:extLst>
      <p:ext uri="{BB962C8B-B14F-4D97-AF65-F5344CB8AC3E}">
        <p14:creationId xmlns:p14="http://schemas.microsoft.com/office/powerpoint/2010/main" val="37270616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contrast,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39</a:t>
            </a:fld>
            <a:endParaRPr lang="en-CA"/>
          </a:p>
        </p:txBody>
      </p:sp>
    </p:spTree>
    <p:extLst>
      <p:ext uri="{BB962C8B-B14F-4D97-AF65-F5344CB8AC3E}">
        <p14:creationId xmlns:p14="http://schemas.microsoft.com/office/powerpoint/2010/main" val="41793991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is needed to walk through the intermediate metadata structures.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40</a:t>
            </a:fld>
            <a:endParaRPr lang="en-CA"/>
          </a:p>
        </p:txBody>
      </p:sp>
    </p:spTree>
    <p:extLst>
      <p:ext uri="{BB962C8B-B14F-4D97-AF65-F5344CB8AC3E}">
        <p14:creationId xmlns:p14="http://schemas.microsoft.com/office/powerpoint/2010/main" val="39697451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41</a:t>
            </a:fld>
            <a:endParaRPr lang="en-CA"/>
          </a:p>
        </p:txBody>
      </p:sp>
    </p:spTree>
    <p:extLst>
      <p:ext uri="{BB962C8B-B14F-4D97-AF65-F5344CB8AC3E}">
        <p14:creationId xmlns:p14="http://schemas.microsoft.com/office/powerpoint/2010/main" val="41935649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42</a:t>
            </a:fld>
            <a:endParaRPr lang="en-CA"/>
          </a:p>
        </p:txBody>
      </p:sp>
    </p:spTree>
    <p:extLst>
      <p:ext uri="{BB962C8B-B14F-4D97-AF65-F5344CB8AC3E}">
        <p14:creationId xmlns:p14="http://schemas.microsoft.com/office/powerpoint/2010/main" val="31007705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the Spiffy library. </a:t>
            </a:r>
          </a:p>
          <a:p>
            <a:r>
              <a:rPr lang="en-CA" baseline="0" dirty="0" smtClean="0"/>
              <a:t>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43</a:t>
            </a:fld>
            <a:endParaRPr lang="en-CA"/>
          </a:p>
        </p:txBody>
      </p:sp>
    </p:spTree>
    <p:extLst>
      <p:ext uri="{BB962C8B-B14F-4D97-AF65-F5344CB8AC3E}">
        <p14:creationId xmlns:p14="http://schemas.microsoft.com/office/powerpoint/2010/main" val="11824292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44</a:t>
            </a:fld>
            <a:endParaRPr lang="en-CA"/>
          </a:p>
        </p:txBody>
      </p:sp>
    </p:spTree>
    <p:extLst>
      <p:ext uri="{BB962C8B-B14F-4D97-AF65-F5344CB8AC3E}">
        <p14:creationId xmlns:p14="http://schemas.microsoft.com/office/powerpoint/2010/main" val="147052358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45</a:t>
            </a:fld>
            <a:endParaRPr lang="en-CA"/>
          </a:p>
        </p:txBody>
      </p:sp>
    </p:spTree>
    <p:extLst>
      <p:ext uri="{BB962C8B-B14F-4D97-AF65-F5344CB8AC3E}">
        <p14:creationId xmlns:p14="http://schemas.microsoft.com/office/powerpoint/2010/main" val="21958348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the </a:t>
            </a:r>
            <a:r>
              <a:rPr lang="en-CA" baseline="0" dirty="0" err="1" smtClean="0"/>
              <a:t>process_by_type</a:t>
            </a:r>
            <a:r>
              <a:rPr lang="en-CA" baseline="0" dirty="0" smtClean="0"/>
              <a:t> function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46</a:t>
            </a:fld>
            <a:endParaRPr lang="en-CA"/>
          </a:p>
        </p:txBody>
      </p:sp>
    </p:spTree>
    <p:extLst>
      <p:ext uri="{BB962C8B-B14F-4D97-AF65-F5344CB8AC3E}">
        <p14:creationId xmlns:p14="http://schemas.microsoft.com/office/powerpoint/2010/main" val="39768934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 Spiffy applications are file-system specific while operating at the block level. They can read or modify the file system image. On the first row of the table are offline applications which operate while the file system is not in use. In this case, these applications are written in user space.</a:t>
            </a:r>
          </a:p>
          <a:p>
            <a:pPr marL="0" marR="0" indent="0" algn="l" defTabSz="914400" rtl="0" eaLnBrk="0" fontAlgn="base" latinLnBrk="0" hangingPunct="0">
              <a:lnSpc>
                <a:spcPct val="100000"/>
              </a:lnSpc>
              <a:spcBef>
                <a:spcPct val="30000"/>
              </a:spcBef>
              <a:spcAft>
                <a:spcPct val="0"/>
              </a:spcAft>
              <a:buClrTx/>
              <a:buSzTx/>
              <a:buFontTx/>
              <a:buNone/>
              <a:tabLst/>
              <a:defRPr/>
            </a:pPr>
            <a:r>
              <a:rPr lang="en-CA" baseline="0" dirty="0" smtClean="0"/>
              <a:t>On the second row of the table are online applications that operate while the file system is mounted, or in use. In this case, the applications are written in the block layer of the kernel, and they allow interpreting file system specific metadata, without requiring any changes to the file system code.</a:t>
            </a:r>
          </a:p>
        </p:txBody>
      </p:sp>
      <p:sp>
        <p:nvSpPr>
          <p:cNvPr id="4" name="Slide Number Placeholder 3"/>
          <p:cNvSpPr>
            <a:spLocks noGrp="1"/>
          </p:cNvSpPr>
          <p:nvPr>
            <p:ph type="sldNum" sz="quarter" idx="10"/>
          </p:nvPr>
        </p:nvSpPr>
        <p:spPr/>
        <p:txBody>
          <a:bodyPr/>
          <a:lstStyle/>
          <a:p>
            <a:fld id="{849A0A36-F84D-437B-B821-CB3EBADC1433}" type="slidenum">
              <a:rPr lang="en-CA" smtClean="0"/>
              <a:t>47</a:t>
            </a:fld>
            <a:endParaRPr lang="en-CA"/>
          </a:p>
        </p:txBody>
      </p:sp>
    </p:spTree>
    <p:extLst>
      <p:ext uri="{BB962C8B-B14F-4D97-AF65-F5344CB8AC3E}">
        <p14:creationId xmlns:p14="http://schemas.microsoft.com/office/powerpoint/2010/main" val="134172946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file system dump tool helps debug file system implementation. Our Spiffy tool is a generic tool that works on all annotated file systems. It parses all the metadata in a file system image and exports the result in an XML format, using a variant of the generic file system traversal code shown here. </a:t>
            </a:r>
          </a:p>
          <a:p>
            <a:r>
              <a:rPr lang="en-CA" baseline="0" dirty="0" smtClean="0"/>
              <a:t>The code uses two mutually recursive functions.</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48</a:t>
            </a:fld>
            <a:endParaRPr lang="en-CA"/>
          </a:p>
        </p:txBody>
      </p:sp>
    </p:spTree>
    <p:extLst>
      <p:ext uri="{BB962C8B-B14F-4D97-AF65-F5344CB8AC3E}">
        <p14:creationId xmlns:p14="http://schemas.microsoft.com/office/powerpoint/2010/main" val="356384904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first function</a:t>
            </a:r>
            <a:r>
              <a:rPr lang="en-CA" baseline="0" dirty="0" smtClean="0"/>
              <a:t> processes a file-system metadata block and traverses the pointers contained in the block.</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49</a:t>
            </a:fld>
            <a:endParaRPr lang="en-CA"/>
          </a:p>
        </p:txBody>
      </p:sp>
    </p:spTree>
    <p:extLst>
      <p:ext uri="{BB962C8B-B14F-4D97-AF65-F5344CB8AC3E}">
        <p14:creationId xmlns:p14="http://schemas.microsoft.com/office/powerpoint/2010/main" val="18624144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other function retrieves and parses the pointed-to blocks. These blocks are then passed to the first function, which allows traversing the entire file system. </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50</a:t>
            </a:fld>
            <a:endParaRPr lang="en-CA"/>
          </a:p>
        </p:txBody>
      </p:sp>
    </p:spTree>
    <p:extLst>
      <p:ext uri="{BB962C8B-B14F-4D97-AF65-F5344CB8AC3E}">
        <p14:creationId xmlns:p14="http://schemas.microsoft.com/office/powerpoint/2010/main" val="385701184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main function is the only file system specific code that needs to be written. The rest of the code is completely generic.</a:t>
            </a:r>
          </a:p>
        </p:txBody>
      </p:sp>
      <p:sp>
        <p:nvSpPr>
          <p:cNvPr id="4" name="Slide Number Placeholder 3"/>
          <p:cNvSpPr>
            <a:spLocks noGrp="1"/>
          </p:cNvSpPr>
          <p:nvPr>
            <p:ph type="sldNum" sz="quarter" idx="10"/>
          </p:nvPr>
        </p:nvSpPr>
        <p:spPr/>
        <p:txBody>
          <a:bodyPr/>
          <a:lstStyle/>
          <a:p>
            <a:fld id="{B5B5BF96-4013-477F-9949-176AD53AFF60}" type="slidenum">
              <a:rPr lang="en-CA" smtClean="0"/>
              <a:t>51</a:t>
            </a:fld>
            <a:endParaRPr lang="en-CA"/>
          </a:p>
        </p:txBody>
      </p:sp>
    </p:spTree>
    <p:extLst>
      <p:ext uri="{BB962C8B-B14F-4D97-AF65-F5344CB8AC3E}">
        <p14:creationId xmlns:p14="http://schemas.microsoft.com/office/powerpoint/2010/main" val="115579391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Since some file system metadata may not be of interest, the dump tool also provides APIs to help filter out irrelevant or unimportant fields or structures. For example, the Ext4 dump tool does not export unallocated </a:t>
            </a:r>
            <a:r>
              <a:rPr lang="en-CA" sz="1200" b="0" i="0" u="none" strike="noStrike" kern="1200" baseline="0" dirty="0" err="1" smtClean="0">
                <a:solidFill>
                  <a:schemeClr val="tx1"/>
                </a:solidFill>
                <a:latin typeface="+mn-lt"/>
                <a:ea typeface="+mn-ea"/>
                <a:cs typeface="+mn-cs"/>
              </a:rPr>
              <a:t>inode</a:t>
            </a:r>
            <a:r>
              <a:rPr lang="en-CA" sz="1200" b="0" i="0" u="none" strike="noStrike" kern="1200" baseline="0" dirty="0" smtClean="0">
                <a:solidFill>
                  <a:schemeClr val="tx1"/>
                </a:solidFill>
                <a:latin typeface="+mn-lt"/>
                <a:ea typeface="+mn-ea"/>
                <a:cs typeface="+mn-cs"/>
              </a:rPr>
              <a:t> structures to XML. </a:t>
            </a:r>
            <a:r>
              <a:rPr lang="en-CA" baseline="0" dirty="0" smtClean="0"/>
              <a:t>This tool has 482 lines of generic code, and about 30 to 60 lines of file-system specific bootstrap code for each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52</a:t>
            </a:fld>
            <a:endParaRPr lang="en-CA"/>
          </a:p>
        </p:txBody>
      </p:sp>
    </p:spTree>
    <p:extLst>
      <p:ext uri="{BB962C8B-B14F-4D97-AF65-F5344CB8AC3E}">
        <p14:creationId xmlns:p14="http://schemas.microsoft.com/office/powerpoint/2010/main" val="4828716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file-system corruptor enables us to test the robustness of file systems and file-system tools by helping check that they are able to correctly handle file system corruption. The Spiffy corruptor allows us to specify a field of a particular type in a metadata structure and corrupt it on disk. This tool also works on all our annotated file systems. It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while no bugs were found in our Spiffy dump tool for all the three file systems we tested.</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Incidentally, none of these bugs that we found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53</a:t>
            </a:fld>
            <a:endParaRPr lang="en-CA"/>
          </a:p>
        </p:txBody>
      </p:sp>
    </p:spTree>
    <p:extLst>
      <p:ext uri="{BB962C8B-B14F-4D97-AF65-F5344CB8AC3E}">
        <p14:creationId xmlns:p14="http://schemas.microsoft.com/office/powerpoint/2010/main" val="5940964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an in-place file system conversion tool that converts from a file system of one type to another, while minimizing copying of data blocks during the conversion process.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54</a:t>
            </a:fld>
            <a:endParaRPr lang="en-CA"/>
          </a:p>
        </p:txBody>
      </p:sp>
    </p:spTree>
    <p:extLst>
      <p:ext uri="{BB962C8B-B14F-4D97-AF65-F5344CB8AC3E}">
        <p14:creationId xmlns:p14="http://schemas.microsoft.com/office/powerpoint/2010/main" val="158909014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55</a:t>
            </a:fld>
            <a:endParaRPr lang="en-CA"/>
          </a:p>
        </p:txBody>
      </p:sp>
    </p:spTree>
    <p:extLst>
      <p:ext uri="{BB962C8B-B14F-4D97-AF65-F5344CB8AC3E}">
        <p14:creationId xmlns:p14="http://schemas.microsoft.com/office/powerpoint/2010/main" val="328195660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CA" dirty="0" smtClean="0"/>
              <a:t>The</a:t>
            </a:r>
            <a:r>
              <a:rPr lang="en-CA" baseline="0" dirty="0" smtClean="0"/>
              <a:t> next two applications we will present are implemented inside the </a:t>
            </a:r>
            <a:r>
              <a:rPr lang="en-CA" dirty="0" smtClean="0"/>
              <a:t>kernel,</a:t>
            </a:r>
            <a:r>
              <a:rPr lang="en-CA" baseline="0" dirty="0" smtClean="0"/>
              <a:t> and they operate while the file system is running.</a:t>
            </a:r>
          </a:p>
          <a:p>
            <a:pPr marL="0" marR="0" indent="0" algn="l" defTabSz="914400" rtl="0" eaLnBrk="0" fontAlgn="base" latinLnBrk="0" hangingPunct="0">
              <a:lnSpc>
                <a:spcPct val="100000"/>
              </a:lnSpc>
              <a:spcBef>
                <a:spcPct val="30000"/>
              </a:spcBef>
              <a:spcAft>
                <a:spcPct val="0"/>
              </a:spcAft>
              <a:buClrTx/>
              <a:buSzTx/>
              <a:buFontTx/>
              <a:buNone/>
              <a:tabLst/>
              <a:defRPr/>
            </a:pPr>
            <a:r>
              <a:rPr lang="en-CA" dirty="0" smtClean="0"/>
              <a:t>Our file-system aware</a:t>
            </a:r>
            <a:r>
              <a:rPr lang="en-CA" baseline="0" dirty="0" smtClean="0"/>
              <a:t> caching application supports various </a:t>
            </a:r>
            <a:r>
              <a:rPr lang="en-CA" dirty="0" smtClean="0"/>
              <a:t>file-system specific</a:t>
            </a:r>
            <a:r>
              <a:rPr lang="en-CA" baseline="0" dirty="0" smtClean="0"/>
              <a:t> </a:t>
            </a:r>
            <a:r>
              <a:rPr lang="en-CA" dirty="0" smtClean="0"/>
              <a:t>caching policies.</a:t>
            </a:r>
            <a:r>
              <a:rPr lang="en-CA" baseline="0" dirty="0" smtClean="0"/>
              <a:t> It is implemented in the block layer, but it requires no support or any changes to the file system.</a:t>
            </a:r>
          </a:p>
          <a:p>
            <a:pPr marL="0" marR="0" indent="0" algn="l" defTabSz="914400" rtl="0" eaLnBrk="0" fontAlgn="base" latinLnBrk="0" hangingPunct="0">
              <a:lnSpc>
                <a:spcPct val="100000"/>
              </a:lnSpc>
              <a:spcBef>
                <a:spcPct val="30000"/>
              </a:spcBef>
              <a:spcAft>
                <a:spcPct val="0"/>
              </a:spcAft>
              <a:buClrTx/>
              <a:buSzTx/>
              <a:buFontTx/>
              <a:buNone/>
              <a:tabLst/>
              <a:defRPr/>
            </a:pPr>
            <a:r>
              <a:rPr lang="en-CA" baseline="0" dirty="0" smtClean="0"/>
              <a:t>The caching application</a:t>
            </a:r>
            <a:r>
              <a:rPr lang="en-CA" dirty="0" smtClean="0"/>
              <a:t> identifies and interprets blocks as</a:t>
            </a:r>
            <a:r>
              <a:rPr lang="en-CA" baseline="0" dirty="0" smtClean="0"/>
              <a:t> they </a:t>
            </a:r>
            <a:r>
              <a:rPr lang="en-CA" dirty="0" smtClean="0"/>
              <a:t>are read or written. It uses the Spiffy library to identify the types of blocks, and for interpreting their contents to extract file-system specific information.</a:t>
            </a:r>
            <a:endParaRPr lang="en-CA" baseline="0" dirty="0" smtClean="0"/>
          </a:p>
          <a:p>
            <a:r>
              <a:rPr lang="en-CA" baseline="0" dirty="0" smtClean="0"/>
              <a:t>Our caching application implements several caching policies. For example, it can preferentially cache file system metadata blocks. To do so, when a block is accessed, we use spiffy to distinguish between file system metadata and data blocks using file-system independent code. Similarly, our caching application allows</a:t>
            </a:r>
            <a:r>
              <a:rPr lang="en-CA" dirty="0" smtClean="0"/>
              <a:t> preferentially caching small files, or a specific user’s files. To do so, we</a:t>
            </a:r>
            <a:r>
              <a:rPr lang="en-CA" baseline="0" dirty="0" smtClean="0"/>
              <a:t> </a:t>
            </a:r>
            <a:r>
              <a:rPr lang="en-CA" dirty="0" smtClean="0"/>
              <a:t>use</a:t>
            </a:r>
            <a:r>
              <a:rPr lang="en-CA" baseline="0" dirty="0" smtClean="0"/>
              <a:t> </a:t>
            </a:r>
            <a:r>
              <a:rPr lang="en-CA" dirty="0" smtClean="0"/>
              <a:t>spiffy to determine the file</a:t>
            </a:r>
            <a:r>
              <a:rPr lang="en-CA" baseline="0" dirty="0" smtClean="0"/>
              <a:t> to which the block belongs. From there, we can determine the size or the owner of the file.</a:t>
            </a:r>
            <a:endParaRPr lang="en-CA" dirty="0" smtClean="0"/>
          </a:p>
          <a:p>
            <a:r>
              <a:rPr lang="en-CA" dirty="0" smtClean="0"/>
              <a:t>Our</a:t>
            </a:r>
            <a:r>
              <a:rPr lang="en-CA" baseline="0" dirty="0" smtClean="0"/>
              <a:t> use of Spiffy allows us to implement our file-system aware cache with </a:t>
            </a:r>
            <a:r>
              <a:rPr lang="en-CA" dirty="0" smtClean="0"/>
              <a:t>little file-system specific code.</a:t>
            </a:r>
          </a:p>
        </p:txBody>
      </p:sp>
      <p:sp>
        <p:nvSpPr>
          <p:cNvPr id="4" name="Slide Number Placeholder 3"/>
          <p:cNvSpPr>
            <a:spLocks noGrp="1"/>
          </p:cNvSpPr>
          <p:nvPr>
            <p:ph type="sldNum" sz="quarter" idx="10"/>
          </p:nvPr>
        </p:nvSpPr>
        <p:spPr/>
        <p:txBody>
          <a:bodyPr/>
          <a:lstStyle/>
          <a:p>
            <a:fld id="{B5B5BF96-4013-477F-9949-176AD53AFF60}" type="slidenum">
              <a:rPr lang="en-CA" smtClean="0"/>
              <a:t>56</a:t>
            </a:fld>
            <a:endParaRPr lang="en-CA"/>
          </a:p>
        </p:txBody>
      </p:sp>
    </p:spTree>
    <p:extLst>
      <p:ext uri="{BB962C8B-B14F-4D97-AF65-F5344CB8AC3E}">
        <p14:creationId xmlns:p14="http://schemas.microsoft.com/office/powerpoint/2010/main" val="308398753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also implemented a</a:t>
            </a:r>
            <a:r>
              <a:rPr lang="en-CA" baseline="0" dirty="0" smtClean="0"/>
              <a:t> runtime checker that detects bugs that would cause file system inconsistency on disk.</a:t>
            </a:r>
          </a:p>
          <a:p>
            <a:r>
              <a:rPr lang="en-CA" baseline="0" dirty="0" smtClean="0"/>
              <a:t>Our checker, similar to the block layer cache, identifies and interprets blocks as they are read or written. When the file system is about to commit its changes through transactional mechanisms such as journaling or copy-on-write, the checker uses spiffy to compare the old and new versions of modified blocks to generate all the logical metadata changes in a transaction. For example, to create a new file in Ext4, a new </a:t>
            </a:r>
            <a:r>
              <a:rPr lang="en-CA" baseline="0" dirty="0" err="1" smtClean="0"/>
              <a:t>inode</a:t>
            </a:r>
            <a:r>
              <a:rPr lang="en-CA" baseline="0" dirty="0" smtClean="0"/>
              <a:t> is allocated in an </a:t>
            </a:r>
            <a:r>
              <a:rPr lang="en-CA" baseline="0" dirty="0" err="1" smtClean="0"/>
              <a:t>inode</a:t>
            </a:r>
            <a:r>
              <a:rPr lang="en-CA" baseline="0" dirty="0" smtClean="0"/>
              <a:t> block, a bit is set in the </a:t>
            </a:r>
            <a:r>
              <a:rPr lang="en-CA" baseline="0" dirty="0" err="1" smtClean="0"/>
              <a:t>inode</a:t>
            </a:r>
            <a:r>
              <a:rPr lang="en-CA" baseline="0" dirty="0" smtClean="0"/>
              <a:t> bitmap block, and a new directory entry is added to one of the parent directory’s directory entry blocks. With support from Spiffy, generating logical changes requires significantly less file-system specific code. </a:t>
            </a:r>
          </a:p>
          <a:p>
            <a:r>
              <a:rPr lang="en-CA" baseline="0" dirty="0" smtClean="0"/>
              <a:t>We wrote two versions of the runtime checker for Ext4. Our manually written version requires 2099 lines of code, whereas with Spiffy, the lines of code is reduced by half to 1059, and we are exploring improvements to Spiffy to reduce this number further.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57</a:t>
            </a:fld>
            <a:endParaRPr lang="en-US"/>
          </a:p>
        </p:txBody>
      </p:sp>
    </p:spTree>
    <p:extLst>
      <p:ext uri="{BB962C8B-B14F-4D97-AF65-F5344CB8AC3E}">
        <p14:creationId xmlns:p14="http://schemas.microsoft.com/office/powerpoint/2010/main" val="97183726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59</a:t>
            </a:fld>
            <a:endParaRPr lang="en-CA"/>
          </a:p>
        </p:txBody>
      </p:sp>
    </p:spTree>
    <p:extLst>
      <p:ext uri="{BB962C8B-B14F-4D97-AF65-F5344CB8AC3E}">
        <p14:creationId xmlns:p14="http://schemas.microsoft.com/office/powerpoint/2010/main" val="18109918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61</a:t>
            </a:fld>
            <a:endParaRPr lang="en-US" altLang="en-US" smtClean="0">
              <a:latin typeface="Arial" charset="0"/>
            </a:endParaRPr>
          </a:p>
        </p:txBody>
      </p:sp>
    </p:spTree>
    <p:extLst>
      <p:ext uri="{BB962C8B-B14F-4D97-AF65-F5344CB8AC3E}">
        <p14:creationId xmlns:p14="http://schemas.microsoft.com/office/powerpoint/2010/main" val="40263681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This</a:t>
            </a:r>
            <a:r>
              <a:rPr lang="en-CA" baseline="0" dirty="0" smtClean="0"/>
              <a:t> table summarizes the major APIs offered by Spiffy, which provides type-safe traversal and manipulation of the file system and its metadata. At the top, we have the Entity class, which provides a common interface for all file system metadata structures. The </a:t>
            </a:r>
            <a:r>
              <a:rPr lang="en-CA" baseline="0" dirty="0" err="1" smtClean="0"/>
              <a:t>process_fields</a:t>
            </a:r>
            <a:r>
              <a:rPr lang="en-CA" baseline="0" dirty="0" smtClean="0"/>
              <a:t> function allows iterating through all fields of this object. </a:t>
            </a:r>
            <a:r>
              <a:rPr lang="en-CA" baseline="0" dirty="0" err="1" smtClean="0"/>
              <a:t>process_pointer</a:t>
            </a:r>
            <a:r>
              <a:rPr lang="en-CA" baseline="0" dirty="0" smtClean="0"/>
              <a:t>, on the other hand, only iterates through the pointers within this object. </a:t>
            </a:r>
          </a:p>
          <a:p>
            <a:r>
              <a:rPr lang="en-US" altLang="zh-TW" baseline="0" dirty="0" smtClean="0"/>
              <a:t>I</a:t>
            </a:r>
            <a:r>
              <a:rPr lang="zh-TW" altLang="en-US" baseline="0" dirty="0" smtClean="0"/>
              <a:t> </a:t>
            </a:r>
            <a:r>
              <a:rPr lang="en-CA" altLang="zh-TW" baseline="0" dirty="0" smtClean="0"/>
              <a:t>have previously described the next two set of member functions, so I will skip forward.</a:t>
            </a:r>
            <a:endParaRPr lang="en-CA" baseline="0" dirty="0" smtClean="0"/>
          </a:p>
          <a:p>
            <a:r>
              <a:rPr lang="en-CA" baseline="0" dirty="0" smtClean="0"/>
              <a:t>The container class represents the unit of disk access. for example, </a:t>
            </a:r>
            <a:r>
              <a:rPr lang="en-CA" baseline="0" dirty="0" err="1" smtClean="0"/>
              <a:t>inode</a:t>
            </a:r>
            <a:r>
              <a:rPr lang="en-CA" baseline="0" dirty="0" smtClean="0"/>
              <a:t> structures are never read or written individually, but in units of an </a:t>
            </a:r>
            <a:r>
              <a:rPr lang="en-CA" baseline="0" dirty="0" err="1" smtClean="0"/>
              <a:t>inode</a:t>
            </a:r>
            <a:r>
              <a:rPr lang="en-CA" baseline="0" dirty="0" smtClean="0"/>
              <a:t> block. The container class is a subclass of Entity, which has the save function that allows it to be serialized to disk. Pointer class is also a subclass of Entity, which has the fetch function for retrieving the pointed-to container from disk. The File System class is required for bootstrapping the file system, and the IO class implements reading and writing from the address spaces used by the file system. Lastly, the </a:t>
            </a:r>
            <a:r>
              <a:rPr lang="en-CA" baseline="0" dirty="0" err="1" smtClean="0"/>
              <a:t>fetch_super</a:t>
            </a:r>
            <a:r>
              <a:rPr lang="en-CA" baseline="0" dirty="0" smtClean="0"/>
              <a:t> function retrieves the super block from a known location.</a:t>
            </a:r>
          </a:p>
          <a:p>
            <a:r>
              <a:rPr lang="en-CA" baseline="0" dirty="0" smtClean="0"/>
              <a:t>The application developer would mainly be writing custom visit functions for traversing and processing file system metadata, as we will show next how it can be done generically.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62</a:t>
            </a:fld>
            <a:endParaRPr lang="en-US"/>
          </a:p>
        </p:txBody>
      </p:sp>
    </p:spTree>
    <p:extLst>
      <p:ext uri="{BB962C8B-B14F-4D97-AF65-F5344CB8AC3E}">
        <p14:creationId xmlns:p14="http://schemas.microsoft.com/office/powerpoint/2010/main" val="45117574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962150"/>
            <a:ext cx="9144000" cy="1752600"/>
          </a:xfrm>
        </p:spPr>
        <p:txBody>
          <a:bodyPr/>
          <a:lstStyle>
            <a:lvl1pPr algn="ctr">
              <a:defRPr>
                <a:latin typeface="Arial" pitchFamily="34" charset="0"/>
                <a:cs typeface="Arial" pitchFamily="34" charset="0"/>
              </a:defRPr>
            </a:lvl1pPr>
          </a:lstStyle>
          <a:p>
            <a:r>
              <a:rPr lang="en-US" dirty="0" smtClean="0"/>
              <a:t>Click to edit Master title style</a:t>
            </a:r>
            <a:endParaRPr lang="en-US" dirty="0"/>
          </a:p>
        </p:txBody>
      </p:sp>
      <p:sp>
        <p:nvSpPr>
          <p:cNvPr id="13" name="Rectangle 12"/>
          <p:cNvSpPr/>
          <p:nvPr userDrawn="1"/>
        </p:nvSpPr>
        <p:spPr>
          <a:xfrm>
            <a:off x="-15240" y="4114800"/>
            <a:ext cx="9159240" cy="1123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240" y="-3175"/>
            <a:ext cx="9159240" cy="1908175"/>
          </a:xfrm>
          <a:prstGeom prst="rect">
            <a:avLst/>
          </a:prstGeom>
        </p:spPr>
      </p:pic>
    </p:spTree>
    <p:extLst>
      <p:ext uri="{BB962C8B-B14F-4D97-AF65-F5344CB8AC3E}">
        <p14:creationId xmlns:p14="http://schemas.microsoft.com/office/powerpoint/2010/main" val="285338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
        <p:nvSpPr>
          <p:cNvPr id="3" name="Content Placeholder 2"/>
          <p:cNvSpPr>
            <a:spLocks noGrp="1"/>
          </p:cNvSpPr>
          <p:nvPr>
            <p:ph idx="1"/>
          </p:nvPr>
        </p:nvSpPr>
        <p:spPr>
          <a:xfrm>
            <a:off x="152400" y="857250"/>
            <a:ext cx="8839200" cy="3695700"/>
          </a:xfrm>
        </p:spPr>
        <p:txBody>
          <a:bodyPr/>
          <a:lstStyle>
            <a:lvl1pPr>
              <a:defRPr>
                <a:latin typeface="Arial" pitchFamily="34" charset="0"/>
                <a:cs typeface="Arial" pitchFamily="34" charset="0"/>
              </a:defRPr>
            </a:lvl1pPr>
            <a:lvl2pPr>
              <a:defRPr sz="2200">
                <a:latin typeface="Arial" pitchFamily="34" charset="0"/>
                <a:cs typeface="Arial" pitchFamily="34" charset="0"/>
              </a:defRPr>
            </a:lvl2pPr>
            <a:lvl3pPr>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251820011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_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Tree>
    <p:extLst>
      <p:ext uri="{BB962C8B-B14F-4D97-AF65-F5344CB8AC3E}">
        <p14:creationId xmlns:p14="http://schemas.microsoft.com/office/powerpoint/2010/main" val="3061373133"/>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4568428"/>
            <a:ext cx="9144000" cy="609600"/>
          </a:xfrm>
          <a:prstGeom prst="rect">
            <a:avLst/>
          </a:prstGeom>
        </p:spPr>
      </p:pic>
      <p:sp>
        <p:nvSpPr>
          <p:cNvPr id="1027" name="Rectangle 33"/>
          <p:cNvSpPr>
            <a:spLocks noGrp="1" noChangeArrowheads="1"/>
          </p:cNvSpPr>
          <p:nvPr>
            <p:ph type="title"/>
          </p:nvPr>
        </p:nvSpPr>
        <p:spPr bwMode="auto">
          <a:xfrm>
            <a:off x="152400" y="0"/>
            <a:ext cx="88392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p>
        </p:txBody>
      </p:sp>
      <p:sp>
        <p:nvSpPr>
          <p:cNvPr id="1028" name="Rectangle 34"/>
          <p:cNvSpPr>
            <a:spLocks noGrp="1" noChangeArrowheads="1"/>
          </p:cNvSpPr>
          <p:nvPr>
            <p:ph type="body" idx="1"/>
          </p:nvPr>
        </p:nvSpPr>
        <p:spPr bwMode="auto">
          <a:xfrm>
            <a:off x="152400" y="857250"/>
            <a:ext cx="8839200" cy="32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smtClean="0"/>
              <a:t>Click to edit Master text styles</a:t>
            </a:r>
          </a:p>
          <a:p>
            <a:pPr lvl="1"/>
            <a:r>
              <a:rPr lang="en-US" altLang="en-US" dirty="0" smtClean="0"/>
              <a:t>Second level</a:t>
            </a:r>
          </a:p>
          <a:p>
            <a:pPr lvl="2"/>
            <a:r>
              <a:rPr lang="en-US" altLang="en-US" dirty="0" smtClean="0"/>
              <a:t>Third level</a:t>
            </a:r>
          </a:p>
          <a:p>
            <a:pPr lvl="3"/>
            <a:r>
              <a:rPr lang="en-US" altLang="en-US" dirty="0" smtClean="0"/>
              <a:t>Fourth level</a:t>
            </a:r>
          </a:p>
          <a:p>
            <a:pPr lvl="4"/>
            <a:r>
              <a:rPr lang="en-US" altLang="en-US" dirty="0" smtClean="0"/>
              <a:t>Fifth level</a:t>
            </a:r>
          </a:p>
        </p:txBody>
      </p:sp>
      <p:sp>
        <p:nvSpPr>
          <p:cNvPr id="10" name="Footer Placeholder 7"/>
          <p:cNvSpPr txBox="1">
            <a:spLocks/>
          </p:cNvSpPr>
          <p:nvPr/>
        </p:nvSpPr>
        <p:spPr>
          <a:xfrm>
            <a:off x="1066800" y="4736306"/>
            <a:ext cx="6629400" cy="273844"/>
          </a:xfrm>
          <a:prstGeom prst="rect">
            <a:avLst/>
          </a:prstGeom>
        </p:spPr>
        <p:txBody>
          <a:bodyPr anchor="ctr"/>
          <a:lstStyle>
            <a:lvl1pPr algn="ctr">
              <a:defRPr sz="1000">
                <a:solidFill>
                  <a:schemeClr val="tx1">
                    <a:tint val="75000"/>
                  </a:schemeClr>
                </a:solidFill>
                <a:latin typeface="+mn-lt"/>
              </a:defRPr>
            </a:lvl1pPr>
          </a:lstStyle>
          <a:p>
            <a:pPr>
              <a:defRPr/>
            </a:pPr>
            <a:r>
              <a:rPr lang="en-US" dirty="0" smtClean="0">
                <a:solidFill>
                  <a:schemeClr val="tx1"/>
                </a:solidFill>
                <a:latin typeface="Arial" pitchFamily="34" charset="0"/>
                <a:cs typeface="Arial" pitchFamily="34" charset="0"/>
              </a:rPr>
              <a:t>2018 Storage  Developer Conference. © University of Toronto.  All Rights Reserved.</a:t>
            </a:r>
          </a:p>
          <a:p>
            <a:pPr>
              <a:defRPr/>
            </a:pPr>
            <a:endParaRPr lang="en-US" dirty="0" smtClean="0"/>
          </a:p>
        </p:txBody>
      </p:sp>
      <p:sp>
        <p:nvSpPr>
          <p:cNvPr id="11" name="TextBox 10"/>
          <p:cNvSpPr txBox="1"/>
          <p:nvPr userDrawn="1"/>
        </p:nvSpPr>
        <p:spPr>
          <a:xfrm>
            <a:off x="8610600" y="4705350"/>
            <a:ext cx="533400" cy="246221"/>
          </a:xfrm>
          <a:prstGeom prst="rect">
            <a:avLst/>
          </a:prstGeom>
          <a:noFill/>
        </p:spPr>
        <p:txBody>
          <a:bodyPr wrap="square" rtlCol="0">
            <a:spAutoFit/>
          </a:bodyPr>
          <a:lstStyle/>
          <a:p>
            <a:fld id="{31142115-651B-437E-86C6-1355E6532246}" type="slidenum">
              <a:rPr lang="en-US" sz="1000" smtClean="0">
                <a:solidFill>
                  <a:schemeClr val="bg1"/>
                </a:solidFill>
              </a:rPr>
              <a:t>‹#›</a:t>
            </a:fld>
            <a:endParaRPr lang="en-US" sz="1000" dirty="0">
              <a:solidFill>
                <a:schemeClr val="bg1"/>
              </a:solidFill>
            </a:endParaRPr>
          </a:p>
        </p:txBody>
      </p:sp>
    </p:spTree>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Lst>
  <p:timing>
    <p:tnLst>
      <p:par>
        <p:cTn id="1" dur="indefinite" restart="never" nodeType="tmRoot"/>
      </p:par>
    </p:tnLst>
  </p:timing>
  <p:hf hdr="0" ftr="0" dt="0"/>
  <p:txStyles>
    <p:titleStyle>
      <a:lvl1pPr algn="l" rtl="0" eaLnBrk="1" fontAlgn="base" hangingPunct="1">
        <a:spcBef>
          <a:spcPct val="0"/>
        </a:spcBef>
        <a:spcAft>
          <a:spcPct val="0"/>
        </a:spcAft>
        <a:defRPr sz="3200" b="1">
          <a:solidFill>
            <a:srgbClr val="522380"/>
          </a:solidFill>
          <a:latin typeface="Arial" pitchFamily="34" charset="0"/>
          <a:ea typeface="+mj-ea"/>
          <a:cs typeface="Arial" pitchFamily="34" charset="0"/>
        </a:defRPr>
      </a:lvl1pPr>
      <a:lvl2pPr algn="l" rtl="0" eaLnBrk="1" fontAlgn="base" hangingPunct="1">
        <a:spcBef>
          <a:spcPct val="0"/>
        </a:spcBef>
        <a:spcAft>
          <a:spcPct val="0"/>
        </a:spcAft>
        <a:defRPr sz="3200" b="1">
          <a:solidFill>
            <a:srgbClr val="522380"/>
          </a:solidFill>
          <a:latin typeface="Arial" charset="0"/>
          <a:cs typeface="Arial" charset="0"/>
        </a:defRPr>
      </a:lvl2pPr>
      <a:lvl3pPr algn="l" rtl="0" eaLnBrk="1" fontAlgn="base" hangingPunct="1">
        <a:spcBef>
          <a:spcPct val="0"/>
        </a:spcBef>
        <a:spcAft>
          <a:spcPct val="0"/>
        </a:spcAft>
        <a:defRPr sz="3200" b="1">
          <a:solidFill>
            <a:srgbClr val="522380"/>
          </a:solidFill>
          <a:latin typeface="Arial" charset="0"/>
          <a:cs typeface="Arial" charset="0"/>
        </a:defRPr>
      </a:lvl3pPr>
      <a:lvl4pPr algn="l" rtl="0" eaLnBrk="1" fontAlgn="base" hangingPunct="1">
        <a:spcBef>
          <a:spcPct val="0"/>
        </a:spcBef>
        <a:spcAft>
          <a:spcPct val="0"/>
        </a:spcAft>
        <a:defRPr sz="3200" b="1">
          <a:solidFill>
            <a:srgbClr val="522380"/>
          </a:solidFill>
          <a:latin typeface="Arial" charset="0"/>
          <a:cs typeface="Arial" charset="0"/>
        </a:defRPr>
      </a:lvl4pPr>
      <a:lvl5pPr algn="l" rtl="0" eaLnBrk="1" fontAlgn="base" hangingPunct="1">
        <a:spcBef>
          <a:spcPct val="0"/>
        </a:spcBef>
        <a:spcAft>
          <a:spcPct val="0"/>
        </a:spcAft>
        <a:defRPr sz="3200" b="1">
          <a:solidFill>
            <a:srgbClr val="522380"/>
          </a:solidFill>
          <a:latin typeface="Arial" charset="0"/>
          <a:cs typeface="Arial" charset="0"/>
        </a:defRPr>
      </a:lvl5pPr>
      <a:lvl6pPr marL="457200" algn="l" rtl="0" eaLnBrk="1" fontAlgn="base" hangingPunct="1">
        <a:spcBef>
          <a:spcPct val="0"/>
        </a:spcBef>
        <a:spcAft>
          <a:spcPct val="0"/>
        </a:spcAft>
        <a:defRPr sz="3200" b="1">
          <a:solidFill>
            <a:srgbClr val="522380"/>
          </a:solidFill>
          <a:latin typeface="Gill Sans MT" pitchFamily="34" charset="0"/>
        </a:defRPr>
      </a:lvl6pPr>
      <a:lvl7pPr marL="914400" algn="l" rtl="0" eaLnBrk="1" fontAlgn="base" hangingPunct="1">
        <a:spcBef>
          <a:spcPct val="0"/>
        </a:spcBef>
        <a:spcAft>
          <a:spcPct val="0"/>
        </a:spcAft>
        <a:defRPr sz="3200" b="1">
          <a:solidFill>
            <a:srgbClr val="522380"/>
          </a:solidFill>
          <a:latin typeface="Gill Sans MT" pitchFamily="34" charset="0"/>
        </a:defRPr>
      </a:lvl7pPr>
      <a:lvl8pPr marL="1371600" algn="l" rtl="0" eaLnBrk="1" fontAlgn="base" hangingPunct="1">
        <a:spcBef>
          <a:spcPct val="0"/>
        </a:spcBef>
        <a:spcAft>
          <a:spcPct val="0"/>
        </a:spcAft>
        <a:defRPr sz="3200" b="1">
          <a:solidFill>
            <a:srgbClr val="522380"/>
          </a:solidFill>
          <a:latin typeface="Gill Sans MT" pitchFamily="34" charset="0"/>
        </a:defRPr>
      </a:lvl8pPr>
      <a:lvl9pPr marL="1828800" algn="l" rtl="0" eaLnBrk="1" fontAlgn="base" hangingPunct="1">
        <a:spcBef>
          <a:spcPct val="0"/>
        </a:spcBef>
        <a:spcAft>
          <a:spcPct val="0"/>
        </a:spcAft>
        <a:defRPr sz="3200" b="1">
          <a:solidFill>
            <a:srgbClr val="522380"/>
          </a:solidFill>
          <a:latin typeface="Gill Sans MT" pitchFamily="34" charset="0"/>
        </a:defRPr>
      </a:lvl9pPr>
    </p:titleStyle>
    <p:body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github.com/jacksun007/spiffy" TargetMode="External"/><Relationship Id="rId2" Type="http://schemas.openxmlformats.org/officeDocument/2006/relationships/hyperlink" Target="https://www.usenix.org/system/files/conference/fast18/fast18-sun.pdf"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dirty="0" smtClean="0"/>
              <a:t>File-system aware applications</a:t>
            </a:r>
          </a:p>
          <a:p>
            <a:pPr lvl="1"/>
            <a:r>
              <a:rPr lang="en-CA" dirty="0" smtClean="0"/>
              <a:t>E.g. partition editor, file system checker, defragmentation tool</a:t>
            </a:r>
          </a:p>
          <a:p>
            <a:pPr lvl="1"/>
            <a:r>
              <a:rPr lang="en-CA" dirty="0" smtClean="0"/>
              <a:t>Operate directly on file system metadata structures</a:t>
            </a:r>
          </a:p>
          <a:p>
            <a:pPr lvl="2"/>
            <a:r>
              <a:rPr lang="en-CA" dirty="0" smtClean="0"/>
              <a:t>Require detailed knowledge of file system format on disk</a:t>
            </a:r>
          </a:p>
          <a:p>
            <a:pPr lvl="2"/>
            <a:r>
              <a:rPr lang="en-CA" dirty="0" smtClean="0"/>
              <a:t>Bypass VFS layer</a:t>
            </a:r>
          </a:p>
          <a:p>
            <a:pPr lvl="1"/>
            <a:r>
              <a:rPr lang="en-CA" dirty="0" smtClean="0"/>
              <a:t>Essential for successful deployment of file system</a:t>
            </a:r>
          </a:p>
        </p:txBody>
      </p:sp>
    </p:spTree>
    <p:extLst>
      <p:ext uri="{BB962C8B-B14F-4D97-AF65-F5344CB8AC3E}">
        <p14:creationId xmlns:p14="http://schemas.microsoft.com/office/powerpoint/2010/main" val="71676673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a:xfrm>
            <a:off x="152399" y="857250"/>
            <a:ext cx="8763001" cy="3200400"/>
          </a:xfrm>
        </p:spPr>
        <p:txBody>
          <a:bodyPr/>
          <a:lstStyle/>
          <a:p>
            <a:r>
              <a:rPr lang="en-CA" dirty="0" smtClean="0"/>
              <a:t>Tools have to be developed from scratch for each file system</a:t>
            </a:r>
          </a:p>
          <a:p>
            <a:r>
              <a:rPr lang="en-CA" dirty="0" smtClean="0"/>
              <a:t>Tools developed only by experts</a:t>
            </a:r>
          </a:p>
          <a:p>
            <a:r>
              <a:rPr lang="en-CA" dirty="0" smtClean="0"/>
              <a:t>Bugs lead to crash, corruption, security vulnerability</a:t>
            </a:r>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per record, if value &gt; 0</a:t>
            </a:r>
          </a:p>
          <a:p>
            <a:pPr lvl="2"/>
            <a:r>
              <a:rPr lang="en-CA" dirty="0" smtClean="0"/>
              <a:t>2</a:t>
            </a:r>
            <a:r>
              <a:rPr lang="en-CA" baseline="30000" dirty="0" smtClean="0"/>
              <a:t>|value|</a:t>
            </a:r>
            <a:r>
              <a:rPr lang="en-CA" dirty="0" smtClean="0"/>
              <a:t>, if value &lt; 0</a:t>
            </a:r>
          </a:p>
          <a:p>
            <a:pPr lvl="1"/>
            <a:r>
              <a:rPr lang="en-CA" dirty="0" err="1" smtClean="0"/>
              <a:t>ntfsprogs</a:t>
            </a:r>
            <a:r>
              <a:rPr lang="en-CA" dirty="0" smtClean="0"/>
              <a:t> misinterprets this field, corrupting NTFS when resizing partitions</a:t>
            </a:r>
          </a:p>
          <a:p>
            <a:endParaRPr lang="en-CA" dirty="0"/>
          </a:p>
        </p:txBody>
      </p:sp>
    </p:spTree>
    <p:extLst>
      <p:ext uri="{BB962C8B-B14F-4D97-AF65-F5344CB8AC3E}">
        <p14:creationId xmlns:p14="http://schemas.microsoft.com/office/powerpoint/2010/main" val="326879293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Tree>
    <p:extLst>
      <p:ext uri="{BB962C8B-B14F-4D97-AF65-F5344CB8AC3E}">
        <p14:creationId xmlns:p14="http://schemas.microsoft.com/office/powerpoint/2010/main" val="51738504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dirty="0" smtClean="0"/>
              <a:t>Simplify development of file-system aware applications</a:t>
            </a:r>
          </a:p>
          <a:p>
            <a:pPr lvl="1"/>
            <a:r>
              <a:rPr lang="en-CA" dirty="0" smtClean="0"/>
              <a:t>Reduce file-system specific code</a:t>
            </a:r>
          </a:p>
          <a:p>
            <a:pPr lvl="1"/>
            <a:r>
              <a:rPr lang="en-CA" dirty="0" smtClean="0"/>
              <a:t>Enable code reuse across file systems</a:t>
            </a:r>
          </a:p>
          <a:p>
            <a:r>
              <a:rPr lang="en-CA" dirty="0" smtClean="0"/>
              <a:t>Improve robustness of these applications</a:t>
            </a:r>
          </a:p>
          <a:p>
            <a:pPr lvl="1"/>
            <a:r>
              <a:rPr lang="en-CA" dirty="0" smtClean="0"/>
              <a:t>Enable correct traversal of file system metadata</a:t>
            </a:r>
          </a:p>
          <a:p>
            <a:pPr lvl="1"/>
            <a:r>
              <a:rPr lang="en-CA" dirty="0" smtClean="0"/>
              <a:t>Ensure type safe access to file system structures</a:t>
            </a:r>
          </a:p>
          <a:p>
            <a:pPr lvl="2"/>
            <a:r>
              <a:rPr lang="en-CA" dirty="0" smtClean="0"/>
              <a:t>Helps detect corruption for both read and write</a:t>
            </a:r>
          </a:p>
          <a:p>
            <a:pPr lvl="2"/>
            <a:r>
              <a:rPr lang="en-CA" dirty="0" smtClean="0"/>
              <a:t>Helps reduce error propagation, and further corruption</a:t>
            </a:r>
          </a:p>
          <a:p>
            <a:pPr lvl="2"/>
            <a:endParaRPr lang="en-CA" dirty="0" smtClean="0"/>
          </a:p>
          <a:p>
            <a:endParaRPr lang="en-CA" dirty="0" smtClean="0"/>
          </a:p>
        </p:txBody>
      </p:sp>
    </p:spTree>
    <p:extLst>
      <p:ext uri="{BB962C8B-B14F-4D97-AF65-F5344CB8AC3E}">
        <p14:creationId xmlns:p14="http://schemas.microsoft.com/office/powerpoint/2010/main" val="10432853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Tree>
    <p:extLst>
      <p:ext uri="{BB962C8B-B14F-4D97-AF65-F5344CB8AC3E}">
        <p14:creationId xmlns:p14="http://schemas.microsoft.com/office/powerpoint/2010/main" val="8830607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smtClean="0"/>
              <a:t>File system developers annotate metadata structures in header files of existing source code</a:t>
            </a:r>
            <a:endParaRPr lang="en-CA" dirty="0" smtClean="0"/>
          </a:p>
        </p:txBody>
      </p:sp>
      <p:sp>
        <p:nvSpPr>
          <p:cNvPr id="69" name="Rectangle 68"/>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70" name="Rectangle 69"/>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71" name="Rectangle 70"/>
          <p:cNvSpPr/>
          <p:nvPr/>
        </p:nvSpPr>
        <p:spPr>
          <a:xfrm>
            <a:off x="990353" y="2977180"/>
            <a:ext cx="1080000" cy="354193"/>
          </a:xfrm>
          <a:prstGeom prst="rect">
            <a:avLst/>
          </a:prstGeom>
          <a:solidFill>
            <a:srgbClr val="B7B7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2" name="Group 71"/>
          <p:cNvGrpSpPr/>
          <p:nvPr/>
        </p:nvGrpSpPr>
        <p:grpSpPr>
          <a:xfrm>
            <a:off x="2099484" y="3361885"/>
            <a:ext cx="448866" cy="969169"/>
            <a:chOff x="4859338" y="3776663"/>
            <a:chExt cx="598488" cy="1292225"/>
          </a:xfrm>
        </p:grpSpPr>
        <p:sp>
          <p:nvSpPr>
            <p:cNvPr id="7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2"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27444363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92" name="Right Arrow 91"/>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94" name="Rounded Rectangle 93"/>
          <p:cNvSpPr/>
          <p:nvPr/>
        </p:nvSpPr>
        <p:spPr>
          <a:xfrm>
            <a:off x="2628820" y="2419350"/>
            <a:ext cx="1080000" cy="708385"/>
          </a:xfrm>
          <a:prstGeom prst="roundRect">
            <a:avLst/>
          </a:prstGeom>
          <a:solidFill>
            <a:srgbClr val="007089"/>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bg1"/>
                </a:solidFill>
              </a:rPr>
              <a:t>Spiffy Compiler</a:t>
            </a:r>
          </a:p>
        </p:txBody>
      </p:sp>
      <p:grpSp>
        <p:nvGrpSpPr>
          <p:cNvPr id="95" name="Group 94"/>
          <p:cNvGrpSpPr/>
          <p:nvPr/>
        </p:nvGrpSpPr>
        <p:grpSpPr>
          <a:xfrm>
            <a:off x="4267287" y="2419350"/>
            <a:ext cx="1320800" cy="708385"/>
            <a:chOff x="6493933" y="3749526"/>
            <a:chExt cx="1761066" cy="944513"/>
          </a:xfrm>
          <a:solidFill>
            <a:srgbClr val="B7B7FF"/>
          </a:solidFill>
          <a:effectLst/>
        </p:grpSpPr>
        <p:sp>
          <p:nvSpPr>
            <p:cNvPr id="101" name="Rectangle 10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18" name="Rectangle 117"/>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97" name="Right Arrow 96"/>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67" name="Rectangle 66"/>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68" name="Rectangle 67"/>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69" name="Rectangle 68"/>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0" name="Group 69"/>
          <p:cNvGrpSpPr/>
          <p:nvPr/>
        </p:nvGrpSpPr>
        <p:grpSpPr>
          <a:xfrm>
            <a:off x="2099484" y="3361885"/>
            <a:ext cx="448866" cy="969169"/>
            <a:chOff x="4859338" y="3776663"/>
            <a:chExt cx="598488" cy="1292225"/>
          </a:xfrm>
        </p:grpSpPr>
        <p:sp>
          <p:nvSpPr>
            <p:cNvPr id="7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7"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9"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1"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3"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8"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9"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0"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1"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3"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126313069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grpSp>
        <p:nvGrpSpPr>
          <p:cNvPr id="91" name="Group 90"/>
          <p:cNvGrpSpPr/>
          <p:nvPr/>
        </p:nvGrpSpPr>
        <p:grpSpPr>
          <a:xfrm>
            <a:off x="6146552" y="2114550"/>
            <a:ext cx="1412156" cy="1484243"/>
            <a:chOff x="8681092" y="3099999"/>
            <a:chExt cx="1411173" cy="1715949"/>
          </a:xfrm>
          <a:solidFill>
            <a:srgbClr val="B7B7FF"/>
          </a:solidFill>
          <a:effectLst/>
        </p:grpSpPr>
        <p:sp>
          <p:nvSpPr>
            <p:cNvPr id="94" name="Rectangle 93"/>
            <p:cNvSpPr/>
            <p:nvPr/>
          </p:nvSpPr>
          <p:spPr>
            <a:xfrm>
              <a:off x="8681092" y="3099999"/>
              <a:ext cx="1411173" cy="1075731"/>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Generic Application</a:t>
              </a:r>
            </a:p>
          </p:txBody>
        </p:sp>
        <p:sp>
          <p:nvSpPr>
            <p:cNvPr id="95" name="Rectangle 94"/>
            <p:cNvSpPr/>
            <p:nvPr/>
          </p:nvSpPr>
          <p:spPr>
            <a:xfrm>
              <a:off x="8681092" y="4175730"/>
              <a:ext cx="1411173" cy="640218"/>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File-System Specific Logic</a:t>
              </a:r>
            </a:p>
          </p:txBody>
        </p:sp>
      </p:grpSp>
      <p:sp>
        <p:nvSpPr>
          <p:cNvPr id="93" name="Right Arrow 92"/>
          <p:cNvSpPr/>
          <p:nvPr/>
        </p:nvSpPr>
        <p:spPr>
          <a:xfrm>
            <a:off x="5748446" y="2703409"/>
            <a:ext cx="237749" cy="173175"/>
          </a:xfrm>
          <a:prstGeom prst="rightArrow">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tx1"/>
              </a:solidFill>
            </a:endParaRPr>
          </a:p>
        </p:txBody>
      </p:sp>
      <p:sp>
        <p:nvSpPr>
          <p:cNvPr id="86" name="Rectangle 85"/>
          <p:cNvSpPr/>
          <p:nvPr/>
        </p:nvSpPr>
        <p:spPr>
          <a:xfrm>
            <a:off x="6321356" y="3713242"/>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smtClean="0">
                <a:solidFill>
                  <a:schemeClr val="tx1"/>
                </a:solidFill>
              </a:rPr>
              <a:t>Application Developer</a:t>
            </a:r>
            <a:endParaRPr lang="en-CA" sz="1200" dirty="0">
              <a:solidFill>
                <a:schemeClr val="tx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1343" y="3668706"/>
            <a:ext cx="914852" cy="914885"/>
          </a:xfrm>
          <a:prstGeom prst="rect">
            <a:avLst/>
          </a:prstGeom>
        </p:spPr>
      </p:pic>
      <p:sp>
        <p:nvSpPr>
          <p:cNvPr id="118" name="Right Arrow 117"/>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19" name="Rounded Rectangle 118"/>
          <p:cNvSpPr/>
          <p:nvPr/>
        </p:nvSpPr>
        <p:spPr>
          <a:xfrm>
            <a:off x="2628820" y="2419350"/>
            <a:ext cx="1080000" cy="708385"/>
          </a:xfrm>
          <a:prstGeom prst="roundRect">
            <a:avLst/>
          </a:prstGeom>
          <a:solidFill>
            <a:srgbClr val="FFFFFF"/>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Compiler</a:t>
            </a:r>
          </a:p>
        </p:txBody>
      </p:sp>
      <p:grpSp>
        <p:nvGrpSpPr>
          <p:cNvPr id="120" name="Group 119"/>
          <p:cNvGrpSpPr/>
          <p:nvPr/>
        </p:nvGrpSpPr>
        <p:grpSpPr>
          <a:xfrm>
            <a:off x="4267287" y="2419350"/>
            <a:ext cx="1320800" cy="708385"/>
            <a:chOff x="6493933" y="3749526"/>
            <a:chExt cx="1761066" cy="944513"/>
          </a:xfrm>
          <a:solidFill>
            <a:srgbClr val="FFFFFF"/>
          </a:solidFill>
          <a:effectLst/>
        </p:grpSpPr>
        <p:sp>
          <p:nvSpPr>
            <p:cNvPr id="121" name="Rectangle 12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22" name="Rectangle 121"/>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123" name="Right Arrow 122"/>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24" name="Rectangle 123"/>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125" name="Rectangle 124"/>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126" name="Rectangle 125"/>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127" name="Group 126"/>
          <p:cNvGrpSpPr/>
          <p:nvPr/>
        </p:nvGrpSpPr>
        <p:grpSpPr>
          <a:xfrm>
            <a:off x="2099484" y="3361885"/>
            <a:ext cx="448866" cy="969169"/>
            <a:chOff x="4859338" y="3776663"/>
            <a:chExt cx="598488" cy="1292225"/>
          </a:xfrm>
        </p:grpSpPr>
        <p:sp>
          <p:nvSpPr>
            <p:cNvPr id="12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29"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0"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1"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2"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3"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4"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5"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6"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7"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8"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9"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0"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1"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2"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3"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44"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5"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6"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7"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8"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9"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0"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1"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353157382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dirty="0" smtClean="0"/>
              <a:t>Problem</a:t>
            </a:r>
          </a:p>
          <a:p>
            <a:pPr lvl="1"/>
            <a:r>
              <a:rPr lang="en-US" dirty="0" smtClean="0"/>
              <a:t>Hard to write robust file system applications</a:t>
            </a:r>
          </a:p>
          <a:p>
            <a:r>
              <a:rPr lang="en-US" dirty="0" smtClean="0"/>
              <a:t>Approach</a:t>
            </a:r>
          </a:p>
          <a:p>
            <a:r>
              <a:rPr lang="en-US" dirty="0" smtClean="0"/>
              <a:t>Spiffy Annotations</a:t>
            </a:r>
          </a:p>
          <a:p>
            <a:r>
              <a:rPr lang="en-US" dirty="0" smtClean="0"/>
              <a:t>Spiffy Library</a:t>
            </a:r>
          </a:p>
          <a:p>
            <a:r>
              <a:rPr lang="en-US" dirty="0" smtClean="0"/>
              <a:t>Spiffy Applications</a:t>
            </a:r>
          </a:p>
          <a:p>
            <a:r>
              <a:rPr lang="en-US" dirty="0" smtClean="0"/>
              <a:t>Evaluation</a:t>
            </a:r>
          </a:p>
          <a:p>
            <a:r>
              <a:rPr lang="en-US" dirty="0" smtClean="0"/>
              <a:t>Conclusion</a:t>
            </a:r>
          </a:p>
        </p:txBody>
      </p:sp>
    </p:spTree>
    <p:extLst>
      <p:ext uri="{BB962C8B-B14F-4D97-AF65-F5344CB8AC3E}">
        <p14:creationId xmlns:p14="http://schemas.microsoft.com/office/powerpoint/2010/main" val="2093139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sz="2000" dirty="0" smtClean="0"/>
              <a:t>Allows type-safe parsing and updates of file system structures</a:t>
            </a:r>
          </a:p>
          <a:p>
            <a:r>
              <a:rPr lang="en-CA" dirty="0" smtClean="0"/>
              <a:t>Challenge</a:t>
            </a:r>
          </a:p>
          <a:p>
            <a:pPr lvl="1"/>
            <a:r>
              <a:rPr lang="en-CA" sz="2000" dirty="0" smtClean="0"/>
              <a:t>Data structure definitions in source files are incomplete</a:t>
            </a:r>
          </a:p>
          <a:p>
            <a:endParaRPr lang="en-CA" sz="1800" dirty="0" smtClean="0"/>
          </a:p>
          <a:p>
            <a:pPr marL="57150" indent="0">
              <a:buNone/>
            </a:pPr>
            <a:endParaRPr lang="en-CA" sz="1800" dirty="0" smtClean="0"/>
          </a:p>
          <a:p>
            <a:pPr marL="57150" indent="0">
              <a:buNone/>
            </a:pPr>
            <a:endParaRPr lang="en-CA" sz="1800" dirty="0" smtClean="0"/>
          </a:p>
          <a:p>
            <a:pPr lvl="1"/>
            <a:r>
              <a:rPr lang="en-CA" sz="2000" dirty="0" err="1" smtClean="0"/>
              <a:t>bar_block_ptr</a:t>
            </a:r>
            <a:r>
              <a:rPr lang="en-CA" sz="2000" dirty="0" smtClean="0"/>
              <a:t> is “probably” a pointer to type “</a:t>
            </a:r>
            <a:r>
              <a:rPr lang="en-CA" sz="2000" dirty="0" err="1" smtClean="0"/>
              <a:t>bar_block</a:t>
            </a:r>
            <a:r>
              <a:rPr lang="en-CA" sz="2000" dirty="0" smtClean="0"/>
              <a:t>”</a:t>
            </a:r>
          </a:p>
          <a:p>
            <a:pPr lvl="1"/>
            <a:r>
              <a:rPr lang="en-CA" sz="2000" dirty="0" smtClean="0"/>
              <a:t>However, its hard to deduce this type information</a:t>
            </a:r>
          </a:p>
          <a:p>
            <a:endParaRPr lang="en-CA" dirty="0"/>
          </a:p>
        </p:txBody>
      </p:sp>
      <p:sp>
        <p:nvSpPr>
          <p:cNvPr id="10" name="Rectangle 9"/>
          <p:cNvSpPr/>
          <p:nvPr/>
        </p:nvSpPr>
        <p:spPr>
          <a:xfrm>
            <a:off x="1066800" y="2454354"/>
            <a:ext cx="3914140" cy="1107996"/>
          </a:xfrm>
          <a:prstGeom prst="rect">
            <a:avLst/>
          </a:prstGeom>
        </p:spPr>
        <p:txBody>
          <a:bodyPr wrap="square">
            <a:spAutoFit/>
          </a:bodyPr>
          <a:lstStyle/>
          <a:p>
            <a:pPr lvl="1"/>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foo {</a:t>
            </a:r>
          </a:p>
          <a:p>
            <a:pPr lvl="1"/>
            <a:r>
              <a:rPr lang="en-CA" dirty="0">
                <a:solidFill>
                  <a:srgbClr val="000000"/>
                </a:solidFill>
                <a:latin typeface="Courier New" panose="02070309020205020404" pitchFamily="49" charset="0"/>
                <a:cs typeface="Courier New" panose="02070309020205020404" pitchFamily="49" charset="0"/>
              </a:rPr>
              <a:t>    __le32 size;</a:t>
            </a:r>
          </a:p>
          <a:p>
            <a:pPr lvl="1"/>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bar_block_ptr</a:t>
            </a:r>
            <a:r>
              <a:rPr lang="en-CA" dirty="0">
                <a:solidFill>
                  <a:srgbClr val="000000"/>
                </a:solidFill>
                <a:latin typeface="Courier New" panose="02070309020205020404" pitchFamily="49" charset="0"/>
                <a:cs typeface="Courier New" panose="02070309020205020404" pitchFamily="49" charset="0"/>
              </a:rPr>
              <a:t>;</a:t>
            </a:r>
          </a:p>
          <a:p>
            <a:pPr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943089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464903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FSSTRUCT() </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foo </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2999901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Rectangle 4"/>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65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bar_block</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pPr lvl="1"/>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__le32 </a:t>
            </a:r>
            <a:r>
              <a:rPr lang="en-CA" sz="165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bar_block_ptr</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76275360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180" name="TextBox 179"/>
          <p:cNvSpPr txBox="1"/>
          <p:nvPr/>
        </p:nvSpPr>
        <p:spPr>
          <a:xfrm>
            <a:off x="6015685" y="1392566"/>
            <a:ext cx="1980029" cy="646331"/>
          </a:xfrm>
          <a:prstGeom prst="rect">
            <a:avLst/>
          </a:prstGeom>
          <a:noFill/>
        </p:spPr>
        <p:txBody>
          <a:bodyPr wrap="none" rtlCol="0">
            <a:spAutoFit/>
          </a:bodyPr>
          <a:lstStyle/>
          <a:p>
            <a:r>
              <a:rPr lang="en-CA" sz="1800" dirty="0">
                <a:solidFill>
                  <a:srgbClr val="000000"/>
                </a:solidFill>
              </a:rPr>
              <a:t>Ext4 File System </a:t>
            </a:r>
            <a:br>
              <a:rPr lang="en-CA" sz="1800" dirty="0">
                <a:solidFill>
                  <a:srgbClr val="000000"/>
                </a:solidFill>
              </a:rPr>
            </a:br>
            <a:r>
              <a:rPr lang="en-CA" sz="1800" dirty="0">
                <a:solidFill>
                  <a:srgbClr val="000000"/>
                </a:solidFill>
              </a:rPr>
              <a:t>Metadata Tree</a:t>
            </a:r>
          </a:p>
        </p:txBody>
      </p:sp>
      <p:sp>
        <p:nvSpPr>
          <p:cNvPr id="102" name="Rectangle 101"/>
          <p:cNvSpPr/>
          <p:nvPr/>
        </p:nvSpPr>
        <p:spPr>
          <a:xfrm>
            <a:off x="572587"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98" name="Straight Arrow Connector 97"/>
          <p:cNvCxnSpPr/>
          <p:nvPr/>
        </p:nvCxnSpPr>
        <p:spPr>
          <a:xfrm>
            <a:off x="1007143" y="1410666"/>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72585" y="905676"/>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109" name="Rectangle 108"/>
          <p:cNvSpPr/>
          <p:nvPr/>
        </p:nvSpPr>
        <p:spPr>
          <a:xfrm>
            <a:off x="2573236" y="905676"/>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112" name="Straight Arrow Connector 111"/>
          <p:cNvCxnSpPr>
            <a:stCxn id="100" idx="3"/>
            <a:endCxn id="109" idx="1"/>
          </p:cNvCxnSpPr>
          <p:nvPr/>
        </p:nvCxnSpPr>
        <p:spPr>
          <a:xfrm>
            <a:off x="1399997" y="1157739"/>
            <a:ext cx="1173239"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572584" y="1754905"/>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17" name="Rectangle 116"/>
          <p:cNvSpPr/>
          <p:nvPr/>
        </p:nvSpPr>
        <p:spPr>
          <a:xfrm>
            <a:off x="635371" y="1820505"/>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97" name="Straight Arrow Connector 96"/>
          <p:cNvCxnSpPr>
            <a:stCxn id="21" idx="2"/>
            <a:endCxn id="102" idx="0"/>
          </p:cNvCxnSpPr>
          <p:nvPr/>
        </p:nvCxnSpPr>
        <p:spPr>
          <a:xfrm rot="5400000">
            <a:off x="1518799" y="1984780"/>
            <a:ext cx="465649" cy="1473249"/>
          </a:xfrm>
          <a:prstGeom prst="bentConnector3">
            <a:avLst>
              <a:gd name="adj1" fmla="val 27958"/>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2573236" y="29542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24" name="Rectangle 123"/>
          <p:cNvSpPr/>
          <p:nvPr/>
        </p:nvSpPr>
        <p:spPr>
          <a:xfrm>
            <a:off x="2628021" y="3086021"/>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a:t>
            </a:r>
            <a:r>
              <a:rPr lang="en-US" sz="1200" dirty="0" smtClean="0">
                <a:solidFill>
                  <a:srgbClr val="000000"/>
                </a:solidFill>
              </a:rPr>
              <a:t>table</a:t>
            </a:r>
            <a:endParaRPr lang="en-US" sz="1200" dirty="0">
              <a:solidFill>
                <a:srgbClr val="000000"/>
              </a:solidFill>
            </a:endParaRPr>
          </a:p>
        </p:txBody>
      </p:sp>
      <p:cxnSp>
        <p:nvCxnSpPr>
          <p:cNvPr id="130" name="Straight Arrow Connector 96"/>
          <p:cNvCxnSpPr>
            <a:stCxn id="94" idx="2"/>
            <a:endCxn id="71" idx="0"/>
          </p:cNvCxnSpPr>
          <p:nvPr/>
        </p:nvCxnSpPr>
        <p:spPr>
          <a:xfrm rot="5400000">
            <a:off x="2146661" y="2356788"/>
            <a:ext cx="479824" cy="715059"/>
          </a:xfrm>
          <a:prstGeom prst="bentConnector3">
            <a:avLst>
              <a:gd name="adj1" fmla="val 59723"/>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96"/>
          <p:cNvCxnSpPr/>
          <p:nvPr/>
        </p:nvCxnSpPr>
        <p:spPr>
          <a:xfrm>
            <a:off x="2968760" y="2466790"/>
            <a:ext cx="3040" cy="48596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3332788" y="3008710"/>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138" name="Rounded Rectangle 137"/>
          <p:cNvSpPr/>
          <p:nvPr/>
        </p:nvSpPr>
        <p:spPr>
          <a:xfrm>
            <a:off x="5146213" y="3008710"/>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139" name="TextBox 138"/>
          <p:cNvSpPr txBox="1"/>
          <p:nvPr/>
        </p:nvSpPr>
        <p:spPr>
          <a:xfrm>
            <a:off x="4419600" y="1819930"/>
            <a:ext cx="543739" cy="523220"/>
          </a:xfrm>
          <a:prstGeom prst="rect">
            <a:avLst/>
          </a:prstGeom>
          <a:noFill/>
        </p:spPr>
        <p:txBody>
          <a:bodyPr wrap="none" rtlCol="0">
            <a:spAutoFit/>
          </a:bodyPr>
          <a:lstStyle/>
          <a:p>
            <a:r>
              <a:rPr lang="en-CA" sz="2800" dirty="0">
                <a:solidFill>
                  <a:srgbClr val="000000"/>
                </a:solidFill>
              </a:rPr>
              <a:t>…</a:t>
            </a:r>
          </a:p>
        </p:txBody>
      </p:sp>
      <p:sp>
        <p:nvSpPr>
          <p:cNvPr id="140" name="TextBox 139"/>
          <p:cNvSpPr txBox="1"/>
          <p:nvPr/>
        </p:nvSpPr>
        <p:spPr>
          <a:xfrm>
            <a:off x="4343400" y="2952750"/>
            <a:ext cx="543739" cy="523220"/>
          </a:xfrm>
          <a:prstGeom prst="rect">
            <a:avLst/>
          </a:prstGeom>
          <a:noFill/>
          <a:ln>
            <a:noFill/>
          </a:ln>
        </p:spPr>
        <p:txBody>
          <a:bodyPr wrap="none" rtlCol="0">
            <a:spAutoFit/>
          </a:bodyPr>
          <a:lstStyle/>
          <a:p>
            <a:r>
              <a:rPr lang="en-CA" sz="2800" dirty="0">
                <a:solidFill>
                  <a:srgbClr val="000000"/>
                </a:solidFill>
              </a:rPr>
              <a:t>…</a:t>
            </a:r>
          </a:p>
        </p:txBody>
      </p:sp>
      <p:sp>
        <p:nvSpPr>
          <p:cNvPr id="142" name="Rectangle 141"/>
          <p:cNvSpPr/>
          <p:nvPr/>
        </p:nvSpPr>
        <p:spPr>
          <a:xfrm>
            <a:off x="5188272" y="3923091"/>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sp>
        <p:nvSpPr>
          <p:cNvPr id="145" name="Rectangle 144"/>
          <p:cNvSpPr/>
          <p:nvPr/>
        </p:nvSpPr>
        <p:spPr>
          <a:xfrm>
            <a:off x="6447346" y="29527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grpSp>
        <p:nvGrpSpPr>
          <p:cNvPr id="151" name="Group 150"/>
          <p:cNvGrpSpPr/>
          <p:nvPr/>
        </p:nvGrpSpPr>
        <p:grpSpPr>
          <a:xfrm>
            <a:off x="6441702" y="3890246"/>
            <a:ext cx="908535" cy="571479"/>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3" name="Rectangle 152"/>
            <p:cNvSpPr/>
            <p:nvPr/>
          </p:nvSpPr>
          <p:spPr>
            <a:xfrm>
              <a:off x="20403622" y="965273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5" name="Rectangle 154"/>
            <p:cNvSpPr/>
            <p:nvPr/>
          </p:nvSpPr>
          <p:spPr>
            <a:xfrm>
              <a:off x="20309820" y="9762072"/>
              <a:ext cx="1864381"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blocks</a:t>
              </a:r>
              <a:endParaRPr lang="zh-TW" altLang="en-US" sz="1200" dirty="0">
                <a:solidFill>
                  <a:srgbClr val="000000"/>
                </a:solidFill>
              </a:endParaRPr>
            </a:p>
          </p:txBody>
        </p:sp>
      </p:grpSp>
      <p:cxnSp>
        <p:nvCxnSpPr>
          <p:cNvPr id="168" name="Straight Arrow Connector 96"/>
          <p:cNvCxnSpPr>
            <a:stCxn id="138" idx="2"/>
            <a:endCxn id="142" idx="0"/>
          </p:cNvCxnSpPr>
          <p:nvPr/>
        </p:nvCxnSpPr>
        <p:spPr>
          <a:xfrm>
            <a:off x="5601979" y="3605373"/>
            <a:ext cx="0" cy="31771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6057745" y="3307041"/>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3714781" y="2390709"/>
            <a:ext cx="380999" cy="438288"/>
            <a:chOff x="27236633" y="9932056"/>
            <a:chExt cx="578250" cy="990600"/>
          </a:xfrm>
        </p:grpSpPr>
        <p:cxnSp>
          <p:nvCxnSpPr>
            <p:cNvPr id="175" name="Straight Arrow Connector 174"/>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3281103" y="3930690"/>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75" name="Straight Arrow Connector 96"/>
          <p:cNvCxnSpPr>
            <a:stCxn id="95" idx="2"/>
            <a:endCxn id="73" idx="0"/>
          </p:cNvCxnSpPr>
          <p:nvPr/>
        </p:nvCxnSpPr>
        <p:spPr>
          <a:xfrm>
            <a:off x="3694810" y="3605373"/>
            <a:ext cx="0" cy="3253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1586632"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grpSp>
        <p:nvGrpSpPr>
          <p:cNvPr id="32" name="Group 31"/>
          <p:cNvGrpSpPr/>
          <p:nvPr/>
        </p:nvGrpSpPr>
        <p:grpSpPr>
          <a:xfrm>
            <a:off x="2211688" y="1811943"/>
            <a:ext cx="1064828" cy="676637"/>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133" name="Rounded Rectangle 132"/>
          <p:cNvSpPr/>
          <p:nvPr/>
        </p:nvSpPr>
        <p:spPr>
          <a:xfrm>
            <a:off x="3386087" y="1820505"/>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grpSp>
        <p:nvGrpSpPr>
          <p:cNvPr id="147" name="Group 146"/>
          <p:cNvGrpSpPr/>
          <p:nvPr/>
        </p:nvGrpSpPr>
        <p:grpSpPr>
          <a:xfrm rot="5400000">
            <a:off x="6770837" y="3571558"/>
            <a:ext cx="261692" cy="438288"/>
            <a:chOff x="27236633" y="9932056"/>
            <a:chExt cx="578250" cy="990600"/>
          </a:xfrm>
        </p:grpSpPr>
        <p:cxnSp>
          <p:nvCxnSpPr>
            <p:cNvPr id="148" name="Straight Arrow Connector 147"/>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13782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Main challenge: </a:t>
            </a:r>
            <a:r>
              <a:rPr lang="en-CA" dirty="0"/>
              <a:t>File system </a:t>
            </a:r>
            <a:r>
              <a:rPr lang="en-CA" dirty="0" smtClean="0"/>
              <a:t>pointers </a:t>
            </a:r>
            <a:r>
              <a:rPr lang="en-CA" dirty="0"/>
              <a:t>can store different types of </a:t>
            </a: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a:t>
            </a:r>
            <a:r>
              <a:rPr lang="en-CA" dirty="0" smtClean="0"/>
              <a:t>the address </a:t>
            </a:r>
            <a:r>
              <a:rPr lang="en-CA" dirty="0"/>
              <a:t>should be </a:t>
            </a:r>
            <a:r>
              <a:rPr lang="en-CA" dirty="0" smtClean="0"/>
              <a:t>mapped to </a:t>
            </a:r>
            <a:r>
              <a:rPr lang="en-CA" dirty="0"/>
              <a:t>physical location</a:t>
            </a:r>
          </a:p>
          <a:p>
            <a:pPr marL="0" indent="0">
              <a:buNone/>
            </a:pPr>
            <a:endParaRPr lang="en-CA" dirty="0" smtClean="0"/>
          </a:p>
          <a:p>
            <a:r>
              <a:rPr lang="en-CA" dirty="0" smtClean="0"/>
              <a:t>Examples: Block</a:t>
            </a:r>
            <a:r>
              <a:rPr lang="en-CA" dirty="0"/>
              <a:t> </a:t>
            </a:r>
            <a:r>
              <a:rPr lang="en-CA" dirty="0" smtClean="0"/>
              <a:t>and File address spaces</a:t>
            </a:r>
          </a:p>
        </p:txBody>
      </p:sp>
      <p:sp>
        <p:nvSpPr>
          <p:cNvPr id="8" name="Rectangle 7"/>
          <p:cNvSpPr/>
          <p:nvPr/>
        </p:nvSpPr>
        <p:spPr>
          <a:xfrm>
            <a:off x="1828800" y="3139901"/>
            <a:ext cx="4711867" cy="346249"/>
          </a:xfrm>
          <a:prstGeom prst="rect">
            <a:avLst/>
          </a:prstGeom>
          <a:solidFill>
            <a:srgbClr val="FFFF00">
              <a:alpha val="20000"/>
            </a:srgbClr>
          </a:solidFill>
        </p:spPr>
        <p:txBody>
          <a:bodyPr wrap="none">
            <a:spAutoFit/>
          </a:bodyPr>
          <a:lstStyle/>
          <a:p>
            <a:pPr marL="93663" lvl="1"/>
            <a:r>
              <a:rPr lang="en-CA" sz="1650" b="1" dirty="0" smtClean="0">
                <a:solidFill>
                  <a:srgbClr val="000000"/>
                </a:solidFill>
                <a:latin typeface="Courier New" panose="02070309020205020404" pitchFamily="49" charset="0"/>
                <a:cs typeface="Courier New" panose="02070309020205020404" pitchFamily="49" charset="0"/>
              </a:rPr>
              <a:t>POINTER</a:t>
            </a:r>
            <a:r>
              <a:rPr lang="en-CA" sz="1650" dirty="0" smtClean="0">
                <a:solidFill>
                  <a:srgbClr val="000000"/>
                </a:solidFill>
                <a:latin typeface="Courier New" panose="02070309020205020404" pitchFamily="49" charset="0"/>
                <a:cs typeface="Courier New" panose="02070309020205020404" pitchFamily="49" charset="0"/>
              </a:rPr>
              <a:t>(</a:t>
            </a:r>
            <a:r>
              <a:rPr lang="en-CA" sz="1650" dirty="0" err="1" smtClean="0">
                <a:solidFill>
                  <a:srgbClr val="000000"/>
                </a:solidFill>
                <a:latin typeface="Courier New" panose="02070309020205020404" pitchFamily="49" charset="0"/>
                <a:cs typeface="Courier New" panose="02070309020205020404" pitchFamily="49" charset="0"/>
              </a:rPr>
              <a:t>aspc</a:t>
            </a:r>
            <a:r>
              <a:rPr lang="en-CA" sz="1650" dirty="0" smtClean="0">
                <a:solidFill>
                  <a:srgbClr val="000000"/>
                </a:solidFill>
                <a:latin typeface="Courier New" panose="02070309020205020404" pitchFamily="49" charset="0"/>
                <a:cs typeface="Courier New" panose="02070309020205020404" pitchFamily="49" charset="0"/>
              </a:rPr>
              <a:t>=block</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07182137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Block Address Space</a:t>
            </a:r>
            <a:endParaRPr lang="en-CA" dirty="0"/>
          </a:p>
        </p:txBody>
      </p:sp>
      <p:sp>
        <p:nvSpPr>
          <p:cNvPr id="3" name="Content Placeholder 2"/>
          <p:cNvSpPr>
            <a:spLocks noGrp="1"/>
          </p:cNvSpPr>
          <p:nvPr>
            <p:ph idx="1"/>
          </p:nvPr>
        </p:nvSpPr>
        <p:spPr/>
        <p:txBody>
          <a:bodyPr/>
          <a:lstStyle/>
          <a:p>
            <a:r>
              <a:rPr lang="en-CA" smtClean="0"/>
              <a:t>Block address is the block number in the file system</a:t>
            </a:r>
          </a:p>
          <a:p>
            <a:endParaRPr lang="en-CA" dirty="0"/>
          </a:p>
        </p:txBody>
      </p:sp>
      <p:grpSp>
        <p:nvGrpSpPr>
          <p:cNvPr id="10" name="Group 9"/>
          <p:cNvGrpSpPr/>
          <p:nvPr/>
        </p:nvGrpSpPr>
        <p:grpSpPr>
          <a:xfrm>
            <a:off x="357100" y="1352550"/>
            <a:ext cx="7475814" cy="3241033"/>
            <a:chOff x="357100" y="1387095"/>
            <a:chExt cx="7475814" cy="3241033"/>
          </a:xfrm>
        </p:grpSpPr>
        <p:grpSp>
          <p:nvGrpSpPr>
            <p:cNvPr id="77" name="Group 76"/>
            <p:cNvGrpSpPr/>
            <p:nvPr/>
          </p:nvGrpSpPr>
          <p:grpSpPr>
            <a:xfrm rot="5400000">
              <a:off x="7149583" y="4039067"/>
              <a:ext cx="318587" cy="438288"/>
              <a:chOff x="27236633" y="9932056"/>
              <a:chExt cx="578250" cy="990600"/>
            </a:xfrm>
          </p:grpSpPr>
          <p:cxnSp>
            <p:nvCxnSpPr>
              <p:cNvPr id="113" name="Straight Arrow Connector 112"/>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8" name="Rectangle 77"/>
            <p:cNvSpPr/>
            <p:nvPr/>
          </p:nvSpPr>
          <p:spPr>
            <a:xfrm>
              <a:off x="979780"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79" name="Straight Arrow Connector 78"/>
            <p:cNvCxnSpPr/>
            <p:nvPr/>
          </p:nvCxnSpPr>
          <p:spPr>
            <a:xfrm>
              <a:off x="1414337" y="1922711"/>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979779" y="1428750"/>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81" name="Rectangle 80"/>
            <p:cNvSpPr/>
            <p:nvPr/>
          </p:nvSpPr>
          <p:spPr>
            <a:xfrm>
              <a:off x="2906775" y="1428750"/>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82" name="Straight Arrow Connector 81"/>
            <p:cNvCxnSpPr>
              <a:stCxn id="80" idx="3"/>
              <a:endCxn id="81" idx="1"/>
            </p:cNvCxnSpPr>
            <p:nvPr/>
          </p:nvCxnSpPr>
          <p:spPr>
            <a:xfrm>
              <a:off x="1807192" y="1680813"/>
              <a:ext cx="1099583"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2980430" y="34114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7" name="Rectangle 86"/>
            <p:cNvSpPr/>
            <p:nvPr/>
          </p:nvSpPr>
          <p:spPr>
            <a:xfrm>
              <a:off x="3043699" y="3552977"/>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91" name="Rounded Rectangle 90"/>
            <p:cNvSpPr/>
            <p:nvPr/>
          </p:nvSpPr>
          <p:spPr>
            <a:xfrm>
              <a:off x="3739981" y="3477396"/>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a:t>
              </a:r>
              <a:r>
                <a:rPr lang="en-US" altLang="zh-TW" sz="1200" dirty="0" err="1">
                  <a:solidFill>
                    <a:schemeClr val="tx1"/>
                  </a:solidFill>
                </a:rPr>
                <a:t>reg</a:t>
              </a:r>
              <a:r>
                <a:rPr lang="en-US" altLang="zh-TW" sz="1200" dirty="0">
                  <a:solidFill>
                    <a:schemeClr val="tx1"/>
                  </a:solidFill>
                </a:rPr>
                <a:t> file)</a:t>
              </a:r>
              <a:endParaRPr lang="zh-TW" altLang="en-US" sz="1200" dirty="0">
                <a:solidFill>
                  <a:schemeClr val="tx1"/>
                </a:solidFill>
              </a:endParaRPr>
            </a:p>
          </p:txBody>
        </p:sp>
        <p:sp>
          <p:nvSpPr>
            <p:cNvPr id="92" name="Rounded Rectangle 91"/>
            <p:cNvSpPr/>
            <p:nvPr/>
          </p:nvSpPr>
          <p:spPr>
            <a:xfrm>
              <a:off x="5553407" y="3477396"/>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(directory)</a:t>
              </a:r>
              <a:endParaRPr lang="zh-TW" altLang="en-US" sz="1200" dirty="0">
                <a:solidFill>
                  <a:schemeClr val="tx1"/>
                </a:solidFill>
              </a:endParaRPr>
            </a:p>
          </p:txBody>
        </p:sp>
        <p:sp>
          <p:nvSpPr>
            <p:cNvPr id="94" name="TextBox 93"/>
            <p:cNvSpPr txBox="1"/>
            <p:nvPr/>
          </p:nvSpPr>
          <p:spPr>
            <a:xfrm>
              <a:off x="4750877" y="3355556"/>
              <a:ext cx="595035" cy="584775"/>
            </a:xfrm>
            <a:prstGeom prst="rect">
              <a:avLst/>
            </a:prstGeom>
            <a:noFill/>
          </p:spPr>
          <p:txBody>
            <a:bodyPr wrap="none" rtlCol="0">
              <a:spAutoFit/>
            </a:bodyPr>
            <a:lstStyle/>
            <a:p>
              <a:r>
                <a:rPr lang="en-CA" sz="3200" dirty="0">
                  <a:solidFill>
                    <a:srgbClr val="000000"/>
                  </a:solidFill>
                </a:rPr>
                <a:t>…</a:t>
              </a:r>
            </a:p>
          </p:txBody>
        </p:sp>
        <p:sp>
          <p:nvSpPr>
            <p:cNvPr id="96" name="Rectangle 95"/>
            <p:cNvSpPr/>
            <p:nvPr/>
          </p:nvSpPr>
          <p:spPr>
            <a:xfrm>
              <a:off x="6854540" y="34099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cxnSp>
          <p:nvCxnSpPr>
            <p:cNvPr id="99" name="Straight Arrow Connector 96"/>
            <p:cNvCxnSpPr/>
            <p:nvPr/>
          </p:nvCxnSpPr>
          <p:spPr>
            <a:xfrm flipV="1">
              <a:off x="6464939" y="3781887"/>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6"/>
            <p:cNvCxnSpPr>
              <a:stCxn id="92" idx="2"/>
            </p:cNvCxnSpPr>
            <p:nvPr/>
          </p:nvCxnSpPr>
          <p:spPr>
            <a:xfrm>
              <a:off x="6009173" y="4074058"/>
              <a:ext cx="0" cy="342236"/>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4102003" y="4074058"/>
              <a:ext cx="1" cy="34700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1993825"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sp>
          <p:nvSpPr>
            <p:cNvPr id="83" name="Rectangle 82"/>
            <p:cNvSpPr/>
            <p:nvPr/>
          </p:nvSpPr>
          <p:spPr>
            <a:xfrm>
              <a:off x="979778" y="2266950"/>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4" name="Rectangle 83"/>
            <p:cNvSpPr/>
            <p:nvPr/>
          </p:nvSpPr>
          <p:spPr>
            <a:xfrm>
              <a:off x="1042565" y="233255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sp>
          <p:nvSpPr>
            <p:cNvPr id="156" name="Rectangle 155"/>
            <p:cNvSpPr/>
            <p:nvPr/>
          </p:nvSpPr>
          <p:spPr>
            <a:xfrm>
              <a:off x="357164" y="192941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7" name="Rectangle 156"/>
            <p:cNvSpPr/>
            <p:nvPr/>
          </p:nvSpPr>
          <p:spPr>
            <a:xfrm>
              <a:off x="357100" y="3093082"/>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9" name="Rectangle 158"/>
            <p:cNvSpPr/>
            <p:nvPr/>
          </p:nvSpPr>
          <p:spPr>
            <a:xfrm>
              <a:off x="3804783" y="314261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0" name="Rectangle 159"/>
            <p:cNvSpPr/>
            <p:nvPr/>
          </p:nvSpPr>
          <p:spPr>
            <a:xfrm>
              <a:off x="3577946"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1" name="Rectangle 160"/>
            <p:cNvSpPr/>
            <p:nvPr/>
          </p:nvSpPr>
          <p:spPr>
            <a:xfrm>
              <a:off x="6784838"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2" name="Rectangle 161"/>
            <p:cNvSpPr/>
            <p:nvPr/>
          </p:nvSpPr>
          <p:spPr>
            <a:xfrm>
              <a:off x="5491181" y="4327133"/>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3" name="Rectangle 162"/>
            <p:cNvSpPr/>
            <p:nvPr/>
          </p:nvSpPr>
          <p:spPr>
            <a:xfrm>
              <a:off x="1816289" y="1387095"/>
              <a:ext cx="3872884" cy="699638"/>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cxnSp>
          <p:nvCxnSpPr>
            <p:cNvPr id="85" name="Straight Arrow Connector 96"/>
            <p:cNvCxnSpPr>
              <a:stCxn id="106" idx="2"/>
              <a:endCxn id="78" idx="0"/>
            </p:cNvCxnSpPr>
            <p:nvPr/>
          </p:nvCxnSpPr>
          <p:spPr>
            <a:xfrm rot="5400000">
              <a:off x="1953414" y="2469402"/>
              <a:ext cx="410804" cy="1473250"/>
            </a:xfrm>
            <a:prstGeom prst="bentConnector3">
              <a:avLst>
                <a:gd name="adj1" fmla="val 2501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96"/>
            <p:cNvCxnSpPr/>
            <p:nvPr/>
          </p:nvCxnSpPr>
          <p:spPr>
            <a:xfrm>
              <a:off x="3375953" y="2876550"/>
              <a:ext cx="0" cy="540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96"/>
            <p:cNvCxnSpPr>
              <a:stCxn id="105" idx="2"/>
              <a:endCxn id="103" idx="0"/>
            </p:cNvCxnSpPr>
            <p:nvPr/>
          </p:nvCxnSpPr>
          <p:spPr>
            <a:xfrm rot="5400000">
              <a:off x="2581277" y="2841409"/>
              <a:ext cx="424979" cy="715060"/>
            </a:xfrm>
            <a:prstGeom prst="bentConnector3">
              <a:avLst>
                <a:gd name="adj1" fmla="val 47805"/>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4" name="Group 103"/>
            <p:cNvGrpSpPr/>
            <p:nvPr/>
          </p:nvGrpSpPr>
          <p:grpSpPr>
            <a:xfrm>
              <a:off x="2618882" y="2323988"/>
              <a:ext cx="1064828" cy="676637"/>
              <a:chOff x="2529818" y="2415923"/>
              <a:chExt cx="1419770" cy="902183"/>
            </a:xfrm>
          </p:grpSpPr>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grpSp>
        <p:grpSp>
          <p:nvGrpSpPr>
            <p:cNvPr id="100" name="Group 99"/>
            <p:cNvGrpSpPr/>
            <p:nvPr/>
          </p:nvGrpSpPr>
          <p:grpSpPr>
            <a:xfrm rot="5400000">
              <a:off x="4205289" y="2856387"/>
              <a:ext cx="211644" cy="438288"/>
              <a:chOff x="27236633" y="9932056"/>
              <a:chExt cx="578250" cy="990600"/>
            </a:xfrm>
          </p:grpSpPr>
          <p:cxnSp>
            <p:nvCxnSpPr>
              <p:cNvPr id="107" name="Straight Arrow Connector 106"/>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89" name="Rounded Rectangle 88"/>
            <p:cNvSpPr/>
            <p:nvPr/>
          </p:nvSpPr>
          <p:spPr>
            <a:xfrm>
              <a:off x="3793281" y="2332550"/>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sp>
          <p:nvSpPr>
            <p:cNvPr id="93" name="TextBox 92"/>
            <p:cNvSpPr txBox="1"/>
            <p:nvPr/>
          </p:nvSpPr>
          <p:spPr>
            <a:xfrm>
              <a:off x="4813256" y="2266583"/>
              <a:ext cx="595035" cy="584775"/>
            </a:xfrm>
            <a:prstGeom prst="rect">
              <a:avLst/>
            </a:prstGeom>
            <a:noFill/>
          </p:spPr>
          <p:txBody>
            <a:bodyPr wrap="none" rtlCol="0">
              <a:spAutoFit/>
            </a:bodyPr>
            <a:lstStyle/>
            <a:p>
              <a:r>
                <a:rPr lang="en-CA" sz="3200" dirty="0">
                  <a:solidFill>
                    <a:srgbClr val="000000"/>
                  </a:solidFill>
                </a:rPr>
                <a:t>…</a:t>
              </a:r>
            </a:p>
          </p:txBody>
        </p:sp>
      </p:grpSp>
    </p:spTree>
    <p:extLst>
      <p:ext uri="{BB962C8B-B14F-4D97-AF65-F5344CB8AC3E}">
        <p14:creationId xmlns:p14="http://schemas.microsoft.com/office/powerpoint/2010/main" val="80397798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4529066" y="2495551"/>
            <a:ext cx="2390456" cy="504126"/>
          </a:xfrm>
          <a:prstGeom prst="rect">
            <a:avLst/>
          </a:prstGeom>
          <a:solidFill>
            <a:srgbClr val="B7B7FF"/>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sp>
        <p:nvSpPr>
          <p:cNvPr id="2" name="Title 1"/>
          <p:cNvSpPr>
            <a:spLocks noGrp="1"/>
          </p:cNvSpPr>
          <p:nvPr>
            <p:ph type="title"/>
          </p:nvPr>
        </p:nvSpPr>
        <p:spPr/>
        <p:txBody>
          <a:bodyPr/>
          <a:lstStyle/>
          <a:p>
            <a:r>
              <a:rPr lang="en-CA" smtClean="0"/>
              <a:t>File Address Space</a:t>
            </a:r>
            <a:endParaRPr lang="en-CA" dirty="0"/>
          </a:p>
        </p:txBody>
      </p:sp>
      <p:sp>
        <p:nvSpPr>
          <p:cNvPr id="3" name="Content Placeholder 2"/>
          <p:cNvSpPr>
            <a:spLocks noGrp="1"/>
          </p:cNvSpPr>
          <p:nvPr>
            <p:ph idx="1"/>
          </p:nvPr>
        </p:nvSpPr>
        <p:spPr>
          <a:xfrm>
            <a:off x="152400" y="857250"/>
            <a:ext cx="8839200" cy="1603692"/>
          </a:xfrm>
        </p:spPr>
        <p:txBody>
          <a:bodyPr/>
          <a:lstStyle/>
          <a:p>
            <a:r>
              <a:rPr lang="en-CA" dirty="0" smtClean="0"/>
              <a:t>File address is an index into the </a:t>
            </a:r>
            <a:r>
              <a:rPr lang="en-CA" dirty="0" err="1" smtClean="0"/>
              <a:t>inode</a:t>
            </a:r>
            <a:r>
              <a:rPr lang="en-CA" dirty="0" smtClean="0"/>
              <a:t> table for a file</a:t>
            </a:r>
          </a:p>
          <a:p>
            <a:pPr lvl="1"/>
            <a:r>
              <a:rPr lang="en-CA" sz="2000" dirty="0" smtClean="0"/>
              <a:t>E.g. Ext4 journal is stored as a regular file  </a:t>
            </a:r>
          </a:p>
          <a:p>
            <a:pPr lvl="1"/>
            <a:r>
              <a:rPr lang="en-CA" sz="2000" dirty="0" smtClean="0"/>
              <a:t>Regular file may be physically discontiguous</a:t>
            </a:r>
          </a:p>
          <a:p>
            <a:pPr lvl="1"/>
            <a:r>
              <a:rPr lang="en-CA" sz="2000" dirty="0" smtClean="0"/>
              <a:t>Requires mapping logical blocks of the file to their physical locations</a:t>
            </a:r>
          </a:p>
          <a:p>
            <a:endParaRPr lang="en-CA" dirty="0"/>
          </a:p>
        </p:txBody>
      </p:sp>
      <p:sp>
        <p:nvSpPr>
          <p:cNvPr id="61" name="Rectangle 60"/>
          <p:cNvSpPr/>
          <p:nvPr/>
        </p:nvSpPr>
        <p:spPr>
          <a:xfrm>
            <a:off x="4828677" y="4148884"/>
            <a:ext cx="2807992" cy="33421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 on physical disk</a:t>
            </a:r>
          </a:p>
        </p:txBody>
      </p:sp>
      <p:cxnSp>
        <p:nvCxnSpPr>
          <p:cNvPr id="70" name="Straight Connector 69"/>
          <p:cNvCxnSpPr/>
          <p:nvPr/>
        </p:nvCxnSpPr>
        <p:spPr>
          <a:xfrm>
            <a:off x="5448476" y="3014250"/>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4529066" y="3545798"/>
            <a:ext cx="894843"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90" name="Straight Connector 89"/>
          <p:cNvCxnSpPr/>
          <p:nvPr/>
        </p:nvCxnSpPr>
        <p:spPr>
          <a:xfrm>
            <a:off x="5885081"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414337" y="2952750"/>
            <a:ext cx="0" cy="324000"/>
          </a:xfrm>
          <a:prstGeom prst="straightConnector1">
            <a:avLst/>
          </a:prstGeom>
          <a:ln w="508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979779" y="2495551"/>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cxnSp>
        <p:nvCxnSpPr>
          <p:cNvPr id="37" name="Straight Arrow Connector 36"/>
          <p:cNvCxnSpPr>
            <a:stCxn id="35" idx="3"/>
            <a:endCxn id="36" idx="1"/>
          </p:cNvCxnSpPr>
          <p:nvPr/>
        </p:nvCxnSpPr>
        <p:spPr>
          <a:xfrm>
            <a:off x="1807191" y="2747614"/>
            <a:ext cx="2721875"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979778" y="3287152"/>
            <a:ext cx="3256804"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9" name="Rectangle 38"/>
          <p:cNvSpPr/>
          <p:nvPr/>
        </p:nvSpPr>
        <p:spPr>
          <a:xfrm>
            <a:off x="1042565" y="341038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40" name="Straight Arrow Connector 96"/>
          <p:cNvCxnSpPr/>
          <p:nvPr/>
        </p:nvCxnSpPr>
        <p:spPr>
          <a:xfrm rot="5400000">
            <a:off x="1924817" y="3506125"/>
            <a:ext cx="46800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p:nvPr/>
        </p:nvCxnSpPr>
        <p:spPr>
          <a:xfrm rot="5400000">
            <a:off x="2559766" y="3885220"/>
            <a:ext cx="468000"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3375953" y="4008750"/>
            <a:ext cx="0" cy="468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634404" y="3257550"/>
            <a:ext cx="595035" cy="584775"/>
          </a:xfrm>
          <a:prstGeom prst="rect">
            <a:avLst/>
          </a:prstGeom>
          <a:noFill/>
        </p:spPr>
        <p:txBody>
          <a:bodyPr wrap="none" rtlCol="0">
            <a:spAutoFit/>
          </a:bodyPr>
          <a:lstStyle/>
          <a:p>
            <a:r>
              <a:rPr lang="en-CA" sz="3200" dirty="0">
                <a:solidFill>
                  <a:srgbClr val="000000"/>
                </a:solidFill>
              </a:rPr>
              <a:t>…</a:t>
            </a:r>
          </a:p>
        </p:txBody>
      </p:sp>
      <p:grpSp>
        <p:nvGrpSpPr>
          <p:cNvPr id="49" name="Group 48"/>
          <p:cNvGrpSpPr/>
          <p:nvPr/>
        </p:nvGrpSpPr>
        <p:grpSpPr>
          <a:xfrm>
            <a:off x="2618882" y="3344189"/>
            <a:ext cx="1064828" cy="676637"/>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4" name="Rectangle 53"/>
          <p:cNvSpPr/>
          <p:nvPr/>
        </p:nvSpPr>
        <p:spPr>
          <a:xfrm>
            <a:off x="339849" y="296885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alpha val="30000"/>
                  </a:srgbClr>
                </a:solidFill>
              </a:rPr>
              <a:t>block </a:t>
            </a:r>
            <a:r>
              <a:rPr lang="en-US" sz="1200" i="1" dirty="0" err="1">
                <a:solidFill>
                  <a:srgbClr val="000000">
                    <a:alpha val="30000"/>
                  </a:srgbClr>
                </a:solidFill>
              </a:rPr>
              <a:t>addr</a:t>
            </a:r>
            <a:endParaRPr lang="en-US" sz="1200" i="1" dirty="0">
              <a:solidFill>
                <a:srgbClr val="000000">
                  <a:alpha val="30000"/>
                </a:srgbClr>
              </a:solidFill>
            </a:endParaRPr>
          </a:p>
        </p:txBody>
      </p:sp>
      <p:sp>
        <p:nvSpPr>
          <p:cNvPr id="55" name="Rectangle 54"/>
          <p:cNvSpPr/>
          <p:nvPr/>
        </p:nvSpPr>
        <p:spPr>
          <a:xfrm>
            <a:off x="345409" y="4184966"/>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5" name="Rectangle 4"/>
          <p:cNvSpPr/>
          <p:nvPr/>
        </p:nvSpPr>
        <p:spPr>
          <a:xfrm>
            <a:off x="457199" y="3286349"/>
            <a:ext cx="3851329" cy="1190402"/>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71" name="Rectangle 70"/>
          <p:cNvSpPr/>
          <p:nvPr/>
        </p:nvSpPr>
        <p:spPr>
          <a:xfrm>
            <a:off x="6919522" y="3545798"/>
            <a:ext cx="1082038"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sp>
        <p:nvSpPr>
          <p:cNvPr id="72" name="Rectangle 71"/>
          <p:cNvSpPr/>
          <p:nvPr/>
        </p:nvSpPr>
        <p:spPr>
          <a:xfrm>
            <a:off x="6013564" y="3545798"/>
            <a:ext cx="391386"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75" name="Straight Connector 74"/>
          <p:cNvCxnSpPr/>
          <p:nvPr/>
        </p:nvCxnSpPr>
        <p:spPr>
          <a:xfrm>
            <a:off x="5841382" y="2992819"/>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6943320"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4526254" y="2986214"/>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5419193" y="2998312"/>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4546278" y="3544477"/>
            <a:ext cx="3455282" cy="504126"/>
          </a:xfrm>
          <a:prstGeom prst="rect">
            <a:avLst/>
          </a:prstGeom>
          <a:noFill/>
          <a:ln w="1905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cxnSp>
        <p:nvCxnSpPr>
          <p:cNvPr id="91" name="Straight Connector 90"/>
          <p:cNvCxnSpPr/>
          <p:nvPr/>
        </p:nvCxnSpPr>
        <p:spPr>
          <a:xfrm>
            <a:off x="5436063" y="2495551"/>
            <a:ext cx="0" cy="51869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5855339" y="2495550"/>
            <a:ext cx="0" cy="497807"/>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42" name="TextBox 41"/>
          <p:cNvSpPr txBox="1"/>
          <p:nvPr/>
        </p:nvSpPr>
        <p:spPr>
          <a:xfrm>
            <a:off x="2782938" y="2470541"/>
            <a:ext cx="729687" cy="276999"/>
          </a:xfrm>
          <a:prstGeom prst="rect">
            <a:avLst/>
          </a:prstGeom>
          <a:noFill/>
        </p:spPr>
        <p:txBody>
          <a:bodyPr wrap="none" rtlCol="0">
            <a:spAutoFit/>
          </a:bodyPr>
          <a:lstStyle/>
          <a:p>
            <a:r>
              <a:rPr lang="en-CA" sz="1200" i="1" dirty="0">
                <a:solidFill>
                  <a:srgbClr val="000000"/>
                </a:solidFill>
              </a:rPr>
              <a:t>file </a:t>
            </a:r>
            <a:r>
              <a:rPr lang="en-CA" sz="1200" i="1" dirty="0" err="1" smtClean="0">
                <a:solidFill>
                  <a:srgbClr val="000000"/>
                </a:solidFill>
              </a:rPr>
              <a:t>addr</a:t>
            </a:r>
            <a:endParaRPr lang="en-CA" sz="1200" i="1" dirty="0">
              <a:solidFill>
                <a:srgbClr val="000000"/>
              </a:solidFill>
            </a:endParaRPr>
          </a:p>
        </p:txBody>
      </p:sp>
    </p:spTree>
    <p:extLst>
      <p:ext uri="{BB962C8B-B14F-4D97-AF65-F5344CB8AC3E}">
        <p14:creationId xmlns:p14="http://schemas.microsoft.com/office/powerpoint/2010/main" val="220317574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82891914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a:effectLst>
            <a:glow rad="228600">
              <a:schemeClr val="accent2">
                <a:satMod val="175000"/>
                <a:alpha val="40000"/>
              </a:schemeClr>
            </a:glow>
          </a:effectLst>
        </p:spPr>
        <p:txBody>
          <a:bodyPr wrap="square">
            <a:spAutoFit/>
          </a:bodyPr>
          <a:lstStyle/>
          <a:p>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location=1024</a:t>
            </a:r>
            <a:r>
              <a:rPr lang="en-CA" dirty="0">
                <a:solidFill>
                  <a:srgbClr val="000000"/>
                </a:solidFill>
                <a:latin typeface="Courier New" panose="02070309020205020404" pitchFamily="49" charset="0"/>
                <a:cs typeface="Courier New" panose="02070309020205020404" pitchFamily="49" charset="0"/>
              </a:rPr>
              <a:t>) </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ext4_super_block</a:t>
            </a:r>
            <a:r>
              <a:rPr lang="en-CA" dirty="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41245704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
        <p:nvSpPr>
          <p:cNvPr id="12" name="Rectangle 11"/>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fr-FR"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=file</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r>
            <a:b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b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type=ext4_journal</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__le32 </a:t>
            </a:r>
            <a:r>
              <a:rPr lang="fr-FR"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s_journal_inum</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endPar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4322914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4145408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__le32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i_block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747973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when=</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&amp; S_IFDIR)</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071751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data_block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when=</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1771861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Missing Pointer</a:t>
            </a:r>
            <a:endParaRPr lang="en-CA" dirty="0"/>
          </a:p>
        </p:txBody>
      </p:sp>
      <p:sp>
        <p:nvSpPr>
          <p:cNvPr id="3" name="Content Placeholder 2"/>
          <p:cNvSpPr>
            <a:spLocks noGrp="1"/>
          </p:cNvSpPr>
          <p:nvPr>
            <p:ph idx="1"/>
          </p:nvPr>
        </p:nvSpPr>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87" name="Rectangle 86"/>
          <p:cNvSpPr/>
          <p:nvPr/>
        </p:nvSpPr>
        <p:spPr>
          <a:xfrm>
            <a:off x="4436269" y="3024290"/>
            <a:ext cx="1398985" cy="44511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i="1" dirty="0">
                <a:solidFill>
                  <a:schemeClr val="bg1"/>
                </a:solidFill>
              </a:rPr>
              <a:t>missing pointer</a:t>
            </a:r>
          </a:p>
        </p:txBody>
      </p:sp>
      <p:cxnSp>
        <p:nvCxnSpPr>
          <p:cNvPr id="26" name="Straight Arrow Connector 25"/>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28" name="Rectangle 27"/>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29" name="Straight Arrow Connector 28"/>
          <p:cNvCxnSpPr>
            <a:stCxn id="27" idx="3"/>
            <a:endCxn id="28"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1" name="Rectangle 30"/>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2" name="Straight Arrow Connector 96"/>
          <p:cNvCxnSpPr>
            <a:stCxn id="38"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96"/>
          <p:cNvCxnSpPr>
            <a:stCxn id="37"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6" name="Group 35"/>
          <p:cNvGrpSpPr/>
          <p:nvPr/>
        </p:nvGrpSpPr>
        <p:grpSpPr>
          <a:xfrm>
            <a:off x="7140876" y="3137914"/>
            <a:ext cx="1064828" cy="676637"/>
            <a:chOff x="2529818" y="2415923"/>
            <a:chExt cx="1419770" cy="902183"/>
          </a:xfrm>
        </p:grpSpPr>
        <p:sp>
          <p:nvSpPr>
            <p:cNvPr id="37" name="Rounded Rectangle 36"/>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38" name="Rectangle 37"/>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41" name="Rectangle 40"/>
          <p:cNvSpPr/>
          <p:nvPr/>
        </p:nvSpPr>
        <p:spPr>
          <a:xfrm>
            <a:off x="6006063" y="2692773"/>
            <a:ext cx="1539204" cy="276999"/>
          </a:xfrm>
          <a:prstGeom prst="rect">
            <a:avLst/>
          </a:prstGeom>
          <a:noFill/>
          <a:ln>
            <a:noFill/>
          </a:ln>
        </p:spPr>
        <p:txBody>
          <a:bodyPr wrap="none">
            <a:spAutoFit/>
          </a:bodyPr>
          <a:lstStyle/>
          <a:p>
            <a:r>
              <a:rPr lang="en-CA" sz="1200" i="1" dirty="0" smtClean="0">
                <a:solidFill>
                  <a:srgbClr val="000000"/>
                </a:solidFill>
                <a:effectLst>
                  <a:glow rad="228600">
                    <a:srgbClr val="FFFF00">
                      <a:alpha val="40000"/>
                    </a:srgbClr>
                  </a:glow>
                </a:effectLst>
                <a:latin typeface="+mn-lt"/>
                <a:cs typeface="Courier New" panose="02070309020205020404" pitchFamily="49" charset="0"/>
              </a:rPr>
              <a:t>missing pointer field</a:t>
            </a:r>
            <a:endParaRPr lang="en-CA" sz="1200" i="1" dirty="0">
              <a:solidFill>
                <a:srgbClr val="000000"/>
              </a:solidFill>
              <a:effectLst>
                <a:glow rad="228600">
                  <a:srgbClr val="FFFF00">
                    <a:alpha val="40000"/>
                  </a:srgbClr>
                </a:glow>
              </a:effectLst>
              <a:latin typeface="+mn-lt"/>
            </a:endParaRPr>
          </a:p>
        </p:txBody>
      </p:sp>
      <p:sp>
        <p:nvSpPr>
          <p:cNvPr id="4" name="Freeform 3"/>
          <p:cNvSpPr/>
          <p:nvPr/>
        </p:nvSpPr>
        <p:spPr>
          <a:xfrm flipH="1" flipV="1">
            <a:off x="5181599" y="2692346"/>
            <a:ext cx="684997" cy="151929"/>
          </a:xfrm>
          <a:custGeom>
            <a:avLst/>
            <a:gdLst>
              <a:gd name="connsiteX0" fmla="*/ 0 w 376517"/>
              <a:gd name="connsiteY0" fmla="*/ 0 h 94130"/>
              <a:gd name="connsiteX1" fmla="*/ 376517 w 376517"/>
              <a:gd name="connsiteY1" fmla="*/ 94130 h 94130"/>
            </a:gdLst>
            <a:ahLst/>
            <a:cxnLst>
              <a:cxn ang="0">
                <a:pos x="connsiteX0" y="connsiteY0"/>
              </a:cxn>
              <a:cxn ang="0">
                <a:pos x="connsiteX1" y="connsiteY1"/>
              </a:cxn>
            </a:cxnLst>
            <a:rect l="l" t="t" r="r" b="b"/>
            <a:pathLst>
              <a:path w="376517" h="94130">
                <a:moveTo>
                  <a:pt x="0" y="0"/>
                </a:moveTo>
                <a:lnTo>
                  <a:pt x="376517" y="94130"/>
                </a:lnTo>
              </a:path>
            </a:pathLst>
          </a:custGeom>
          <a:noFill/>
          <a:ln>
            <a:solidFill>
              <a:srgbClr val="000000"/>
            </a:solidFill>
            <a:prstDash val="sysDot"/>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60531865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POINTER</a:t>
            </a:r>
            <a:r>
              <a:rPr lang="en-CA" sz="1500" dirty="0">
                <a:solidFill>
                  <a:srgbClr val="000000"/>
                </a:solidFill>
                <a:latin typeface="Courier New" panose="02070309020205020404" pitchFamily="49" charset="0"/>
                <a:cs typeface="Courier New" panose="02070309020205020404" pitchFamily="49" charset="0"/>
              </a:rPr>
              <a:t>(</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82308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s_block_group_desc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 ? 2 : 1);</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75465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dirty="0"/>
              <a:t>n</a:t>
            </a:r>
            <a:r>
              <a:rPr lang="en-CA" sz="2000" dirty="0" smtClean="0"/>
              <a:t>umber of elements</a:t>
            </a:r>
          </a:p>
          <a:p>
            <a:pPr marL="914400" lvl="1" indent="-457200">
              <a:buClrTx/>
              <a:buSzPct val="100000"/>
              <a:buAutoNum type="arabicParenR"/>
            </a:pPr>
            <a:r>
              <a:rPr lang="en-CA" sz="2000" dirty="0" smtClean="0"/>
              <a:t>sentinel value</a:t>
            </a:r>
          </a:p>
          <a:p>
            <a:pPr marL="914400" lvl="1" indent="-457200">
              <a:buClrTx/>
              <a:buSzPct val="100000"/>
              <a:buAutoNum type="arabicParenR"/>
            </a:pPr>
            <a:r>
              <a:rPr lang="en-CA" sz="2000" dirty="0"/>
              <a:t>t</a:t>
            </a:r>
            <a:r>
              <a:rPr lang="en-CA" sz="2000" dirty="0" smtClean="0"/>
              <a:t>otal vector size</a:t>
            </a:r>
          </a:p>
        </p:txBody>
      </p:sp>
    </p:spTree>
    <p:extLst>
      <p:ext uri="{BB962C8B-B14F-4D97-AF65-F5344CB8AC3E}">
        <p14:creationId xmlns:p14="http://schemas.microsoft.com/office/powerpoint/2010/main" val="21226905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b="1" dirty="0"/>
              <a:t>n</a:t>
            </a:r>
            <a:r>
              <a:rPr lang="en-CA" sz="2000" b="1" dirty="0" smtClean="0"/>
              <a:t>umber of 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dirty="0">
                <a:solidFill>
                  <a:schemeClr val="bg1">
                    <a:lumMod val="85000"/>
                  </a:schemeClr>
                </a:solidFill>
              </a:rPr>
              <a:t>t</a:t>
            </a:r>
            <a:r>
              <a:rPr lang="en-CA" sz="2000" dirty="0" smtClean="0">
                <a:solidFill>
                  <a:schemeClr val="bg1">
                    <a:lumMod val="85000"/>
                  </a:schemeClr>
                </a:solidFill>
              </a:rPr>
              <a:t>otal vector size</a:t>
            </a:r>
          </a:p>
        </p:txBody>
      </p:sp>
      <p:sp>
        <p:nvSpPr>
          <p:cNvPr id="4" name="Rectangle 3"/>
          <p:cNvSpPr/>
          <p:nvPr/>
        </p:nvSpPr>
        <p:spPr>
          <a:xfrm>
            <a:off x="1408153" y="3638550"/>
            <a:ext cx="6327694" cy="584775"/>
          </a:xfrm>
          <a:prstGeom prst="rect">
            <a:avLst/>
          </a:prstGeom>
          <a:solidFill>
            <a:srgbClr val="FFFFFF">
              <a:alpha val="20000"/>
            </a:srgbClr>
          </a:solidFill>
        </p:spPr>
        <p:txBody>
          <a:bodyPr wrap="none">
            <a:spAutoFit/>
          </a:bodyPr>
          <a:lstStyle/>
          <a:p>
            <a:pPr marL="93663" lvl="1"/>
            <a:r>
              <a:rPr lang="en-CA" b="1" dirty="0" smtClean="0">
                <a:solidFill>
                  <a:srgbClr val="000000"/>
                </a:solidFill>
                <a:latin typeface="Courier New" panose="02070309020205020404" pitchFamily="49" charset="0"/>
                <a:cs typeface="Courier New" panose="02070309020205020404" pitchFamily="49" charset="0"/>
              </a:rPr>
              <a:t>VECTOR</a:t>
            </a:r>
            <a:r>
              <a:rPr lang="en-CA" dirty="0" smtClean="0">
                <a:solidFill>
                  <a:srgbClr val="000000"/>
                </a:solidFill>
                <a:latin typeface="Courier New" panose="02070309020205020404" pitchFamily="49" charset="0"/>
                <a:cs typeface="Courier New" panose="02070309020205020404" pitchFamily="49" charset="0"/>
              </a:rPr>
              <a:t>(name=</a:t>
            </a:r>
            <a:r>
              <a:rPr lang="en-CA" dirty="0" err="1" smtClean="0">
                <a:solidFill>
                  <a:srgbClr val="000000"/>
                </a:solidFill>
                <a:latin typeface="Courier New" panose="02070309020205020404" pitchFamily="49" charset="0"/>
                <a:cs typeface="Courier New" panose="02070309020205020404" pitchFamily="49" charset="0"/>
              </a:rPr>
              <a:t>inode_block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ext4_inode, </a:t>
            </a:r>
          </a:p>
          <a:p>
            <a:pPr marL="93663" lvl="1"/>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      count=BLOCK_SIZE/</a:t>
            </a:r>
            <a:r>
              <a:rPr lang="en-CA" dirty="0" err="1" smtClean="0">
                <a:solidFill>
                  <a:srgbClr val="000000"/>
                </a:solidFill>
                <a:latin typeface="Courier New" panose="02070309020205020404" pitchFamily="49" charset="0"/>
                <a:cs typeface="Courier New" panose="02070309020205020404" pitchFamily="49" charset="0"/>
              </a:rPr>
              <a:t>sb.s_inode_size</a:t>
            </a:r>
            <a:r>
              <a:rPr lang="en-CA" dirty="0" smtClean="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1361871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of 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VECTOR</a:t>
            </a:r>
            <a:r>
              <a:rPr lang="en-CA" dirty="0">
                <a:solidFill>
                  <a:srgbClr val="000000"/>
                </a:solidFill>
                <a:latin typeface="Courier New" panose="02070309020205020404" pitchFamily="49" charset="0"/>
                <a:cs typeface="Courier New" panose="02070309020205020404" pitchFamily="49" charset="0"/>
              </a:rPr>
              <a:t>(name=</a:t>
            </a:r>
            <a:r>
              <a:rPr lang="en-CA" dirty="0" err="1">
                <a:solidFill>
                  <a:srgbClr val="000000"/>
                </a:solidFill>
                <a:latin typeface="Courier New" panose="02070309020205020404" pitchFamily="49" charset="0"/>
                <a:cs typeface="Courier New" panose="02070309020205020404" pitchFamily="49" charset="0"/>
              </a:rPr>
              <a:t>dir_block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ext4_dir_entry, size=BLOCK_SIZE</a:t>
            </a:r>
            <a:r>
              <a:rPr lang="en-CA" dirty="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FSSTRUCT</a:t>
            </a:r>
            <a:r>
              <a:rPr lang="en-CA" dirty="0">
                <a:solidFill>
                  <a:srgbClr val="000000"/>
                </a:solidFill>
                <a:latin typeface="Courier New" panose="02070309020205020404" pitchFamily="49" charset="0"/>
                <a:cs typeface="Courier New" panose="02070309020205020404" pitchFamily="49" charset="0"/>
              </a:rPr>
              <a:t>() </a:t>
            </a:r>
            <a:r>
              <a:rPr lang="en-CA" dirty="0" err="1">
                <a:solidFill>
                  <a:srgbClr val="000000"/>
                </a:solidFill>
                <a:latin typeface="Courier New" panose="02070309020205020404" pitchFamily="49" charset="0"/>
                <a:cs typeface="Courier New" panose="02070309020205020404" pitchFamily="49" charset="0"/>
              </a:rPr>
              <a:t>directory_indirect_ptr</a:t>
            </a:r>
            <a:r>
              <a:rPr lang="en-CA" dirty="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a:t>
            </a:r>
            <a:r>
              <a:rPr lang="en-CA" b="1" dirty="0" smtClean="0">
                <a:latin typeface="Courier New" panose="02070309020205020404" pitchFamily="49" charset="0"/>
                <a:cs typeface="Courier New" panose="02070309020205020404" pitchFamily="49" charset="0"/>
              </a:rPr>
              <a:t>POINTER</a:t>
            </a:r>
            <a:r>
              <a:rPr lang="en-CA" dirty="0" smtClean="0">
                <a:latin typeface="Courier New" panose="02070309020205020404" pitchFamily="49" charset="0"/>
                <a:cs typeface="Courier New" panose="02070309020205020404" pitchFamily="49" charset="0"/>
              </a:rPr>
              <a:t>(</a:t>
            </a:r>
            <a:r>
              <a:rPr lang="en-CA" dirty="0" err="1" smtClean="0">
                <a:latin typeface="Courier New" panose="02070309020205020404" pitchFamily="49" charset="0"/>
                <a:cs typeface="Courier New" panose="02070309020205020404" pitchFamily="49" charset="0"/>
              </a:rPr>
              <a:t>aspc</a:t>
            </a:r>
            <a:r>
              <a:rPr lang="en-CA" dirty="0" smtClean="0">
                <a:latin typeface="Courier New" panose="02070309020205020404" pitchFamily="49" charset="0"/>
                <a:cs typeface="Courier New" panose="02070309020205020404" pitchFamily="49" charset="0"/>
              </a:rPr>
              <a:t>=block, type=</a:t>
            </a:r>
            <a:r>
              <a:rPr lang="en-CA" dirty="0" err="1" smtClean="0">
                <a:latin typeface="Courier New" panose="02070309020205020404" pitchFamily="49" charset="0"/>
                <a:cs typeface="Courier New" panose="02070309020205020404" pitchFamily="49" charset="0"/>
              </a:rPr>
              <a:t>dir_block</a:t>
            </a:r>
            <a:r>
              <a:rPr lang="en-CA" dirty="0">
                <a:latin typeface="Courier New" panose="02070309020205020404" pitchFamily="49" charset="0"/>
                <a:cs typeface="Courier New" panose="02070309020205020404" pitchFamily="49" charset="0"/>
              </a:rPr>
              <a:t>)</a:t>
            </a:r>
          </a:p>
          <a:p>
            <a:r>
              <a:rPr lang="en-CA" dirty="0">
                <a:latin typeface="Courier New" panose="02070309020205020404" pitchFamily="49" charset="0"/>
                <a:cs typeface="Courier New" panose="02070309020205020404" pitchFamily="49" charset="0"/>
              </a:rPr>
              <a:t>    __le32 </a:t>
            </a:r>
            <a:r>
              <a:rPr lang="en-CA" dirty="0" err="1">
                <a:latin typeface="Courier New" panose="02070309020205020404" pitchFamily="49" charset="0"/>
                <a:cs typeface="Courier New" panose="02070309020205020404" pitchFamily="49" charset="0"/>
              </a:rPr>
              <a:t>ind_block_nr</a:t>
            </a:r>
            <a:r>
              <a:rPr lang="en-CA" dirty="0">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pPr marL="93663"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4121572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of 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VECTOR</a:t>
            </a:r>
            <a:r>
              <a:rPr lang="en-CA" dirty="0">
                <a:solidFill>
                  <a:srgbClr val="000000"/>
                </a:solidFill>
                <a:latin typeface="Courier New" panose="02070309020205020404" pitchFamily="49" charset="0"/>
                <a:cs typeface="Courier New" panose="02070309020205020404" pitchFamily="49" charset="0"/>
              </a:rPr>
              <a:t>(name=</a:t>
            </a:r>
            <a:r>
              <a:rPr lang="en-CA" dirty="0" err="1">
                <a:solidFill>
                  <a:srgbClr val="000000"/>
                </a:solidFill>
                <a:latin typeface="Courier New" panose="02070309020205020404" pitchFamily="49" charset="0"/>
                <a:cs typeface="Courier New" panose="02070309020205020404" pitchFamily="49" charset="0"/>
              </a:rPr>
              <a:t>dir_block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ext4_dir_entry, size=BLOCK_SIZE</a:t>
            </a:r>
            <a:r>
              <a:rPr lang="en-CA" dirty="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FSSTRUCT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directory_indirect_ptr</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p>
          <a:p>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b="1" dirty="0" smtClean="0">
                <a:effectLst>
                  <a:glow rad="101600">
                    <a:srgbClr val="FFFF00">
                      <a:alpha val="60000"/>
                    </a:srgbClr>
                  </a:glow>
                </a:effectLst>
                <a:latin typeface="Courier New" panose="02070309020205020404" pitchFamily="49" charset="0"/>
                <a:cs typeface="Courier New" panose="02070309020205020404" pitchFamily="49" charset="0"/>
              </a:rPr>
              <a:t>POINTER</a:t>
            </a:r>
            <a:r>
              <a:rPr lang="en-CA"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dirty="0" err="1" smtClean="0">
                <a:effectLst>
                  <a:glow rad="101600">
                    <a:srgbClr val="FFFF00">
                      <a:alpha val="60000"/>
                    </a:srgbClr>
                  </a:glow>
                </a:effectLst>
                <a:latin typeface="Courier New" panose="02070309020205020404" pitchFamily="49" charset="0"/>
                <a:cs typeface="Courier New" panose="02070309020205020404" pitchFamily="49" charset="0"/>
              </a:rPr>
              <a:t>aspc</a:t>
            </a:r>
            <a:r>
              <a:rPr lang="en-CA" dirty="0" smtClean="0">
                <a:effectLst>
                  <a:glow rad="101600">
                    <a:srgbClr val="FFFF00">
                      <a:alpha val="60000"/>
                    </a:srgbClr>
                  </a:glow>
                </a:effectLst>
                <a:latin typeface="Courier New" panose="02070309020205020404" pitchFamily="49" charset="0"/>
                <a:cs typeface="Courier New" panose="02070309020205020404" pitchFamily="49" charset="0"/>
              </a:rPr>
              <a:t>=block, type=</a:t>
            </a:r>
            <a:r>
              <a:rPr lang="en-CA" dirty="0" err="1" smtClean="0">
                <a:effectLst>
                  <a:glow rad="101600">
                    <a:srgbClr val="FFFF00">
                      <a:alpha val="60000"/>
                    </a:srgbClr>
                  </a:glow>
                </a:effectLst>
                <a:latin typeface="Courier New" panose="02070309020205020404" pitchFamily="49" charset="0"/>
                <a:cs typeface="Courier New" panose="02070309020205020404" pitchFamily="49" charset="0"/>
              </a:rPr>
              <a:t>dir_block</a:t>
            </a:r>
            <a:r>
              <a:rPr lang="en-CA" dirty="0">
                <a:effectLst>
                  <a:glow rad="101600">
                    <a:srgbClr val="FFFF00">
                      <a:alpha val="60000"/>
                    </a:srgbClr>
                  </a:glow>
                </a:effectLst>
                <a:latin typeface="Courier New" panose="02070309020205020404" pitchFamily="49" charset="0"/>
                <a:cs typeface="Courier New" panose="02070309020205020404" pitchFamily="49" charset="0"/>
              </a:rPr>
              <a:t>)</a:t>
            </a:r>
          </a:p>
          <a:p>
            <a:r>
              <a:rPr lang="en-CA" dirty="0">
                <a:effectLst>
                  <a:glow rad="101600">
                    <a:srgbClr val="FFFF00">
                      <a:alpha val="60000"/>
                    </a:srgbClr>
                  </a:glow>
                </a:effectLst>
                <a:latin typeface="Courier New" panose="02070309020205020404" pitchFamily="49" charset="0"/>
                <a:cs typeface="Courier New" panose="02070309020205020404" pitchFamily="49" charset="0"/>
              </a:rPr>
              <a:t>    __le32 </a:t>
            </a:r>
            <a:r>
              <a:rPr lang="en-CA" dirty="0" err="1">
                <a:effectLst>
                  <a:glow rad="101600">
                    <a:srgbClr val="FFFF00">
                      <a:alpha val="60000"/>
                    </a:srgbClr>
                  </a:glow>
                </a:effectLst>
                <a:latin typeface="Courier New" panose="02070309020205020404" pitchFamily="49" charset="0"/>
                <a:cs typeface="Courier New" panose="02070309020205020404" pitchFamily="49" charset="0"/>
              </a:rPr>
              <a:t>ind_block_nr</a:t>
            </a:r>
            <a:r>
              <a:rPr lang="en-CA" dirty="0">
                <a:effectLst>
                  <a:glow rad="101600">
                    <a:srgbClr val="FFFF00">
                      <a:alpha val="60000"/>
                    </a:srgbClr>
                  </a:glow>
                </a:effectLst>
                <a:latin typeface="Courier New" panose="02070309020205020404" pitchFamily="49" charset="0"/>
                <a:cs typeface="Courier New" panose="02070309020205020404" pitchFamily="49" charset="0"/>
              </a:rPr>
              <a:t>;</a:t>
            </a:r>
            <a:endPar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a:p>
            <a:pPr marL="93663" lvl="1"/>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7676981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of 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VECTOR</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(name=</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dir_block</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struct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ext4_dir_entry, size=BLOCK_SIZE</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endParaRPr lang="en-CA" sz="8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effectLst/>
                <a:latin typeface="Courier New" panose="02070309020205020404" pitchFamily="49" charset="0"/>
                <a:cs typeface="Courier New" panose="02070309020205020404" pitchFamily="49" charset="0"/>
              </a:rPr>
              <a:t>FSSTRUCT</a:t>
            </a:r>
            <a:r>
              <a:rPr lang="en-CA" dirty="0">
                <a:solidFill>
                  <a:srgbClr val="000000"/>
                </a:solidFill>
                <a:effectLst/>
                <a:latin typeface="Courier New" panose="02070309020205020404" pitchFamily="49" charset="0"/>
                <a:cs typeface="Courier New" panose="02070309020205020404" pitchFamily="49" charset="0"/>
              </a:rPr>
              <a:t>() </a:t>
            </a:r>
            <a:r>
              <a:rPr lang="en-CA" dirty="0" err="1">
                <a:solidFill>
                  <a:srgbClr val="000000"/>
                </a:solidFill>
                <a:effectLst/>
                <a:latin typeface="Courier New" panose="02070309020205020404" pitchFamily="49" charset="0"/>
                <a:cs typeface="Courier New" panose="02070309020205020404" pitchFamily="49" charset="0"/>
              </a:rPr>
              <a:t>directory_indirect_ptr</a:t>
            </a:r>
            <a:r>
              <a:rPr lang="en-CA" dirty="0">
                <a:solidFill>
                  <a:srgbClr val="000000"/>
                </a:solidFill>
                <a:effectLst/>
                <a:latin typeface="Courier New" panose="02070309020205020404" pitchFamily="49" charset="0"/>
                <a:cs typeface="Courier New" panose="02070309020205020404" pitchFamily="49" charset="0"/>
              </a:rPr>
              <a:t> {</a:t>
            </a:r>
          </a:p>
          <a:p>
            <a:r>
              <a:rPr lang="en-CA" dirty="0">
                <a:solidFill>
                  <a:srgbClr val="000000"/>
                </a:solidFill>
                <a:effectLst/>
                <a:latin typeface="Courier New" panose="02070309020205020404" pitchFamily="49" charset="0"/>
                <a:cs typeface="Courier New" panose="02070309020205020404" pitchFamily="49" charset="0"/>
              </a:rPr>
              <a:t>    </a:t>
            </a:r>
            <a:r>
              <a:rPr lang="en-CA" b="1" dirty="0" smtClean="0">
                <a:effectLst/>
                <a:latin typeface="Courier New" panose="02070309020205020404" pitchFamily="49" charset="0"/>
                <a:cs typeface="Courier New" panose="02070309020205020404" pitchFamily="49" charset="0"/>
              </a:rPr>
              <a:t>POINTER</a:t>
            </a:r>
            <a:r>
              <a:rPr lang="en-CA" dirty="0" smtClean="0">
                <a:effectLst/>
                <a:latin typeface="Courier New" panose="02070309020205020404" pitchFamily="49" charset="0"/>
                <a:cs typeface="Courier New" panose="02070309020205020404" pitchFamily="49" charset="0"/>
              </a:rPr>
              <a:t>(</a:t>
            </a:r>
            <a:r>
              <a:rPr lang="en-CA" dirty="0" err="1" smtClean="0">
                <a:effectLst/>
                <a:latin typeface="Courier New" panose="02070309020205020404" pitchFamily="49" charset="0"/>
                <a:cs typeface="Courier New" panose="02070309020205020404" pitchFamily="49" charset="0"/>
              </a:rPr>
              <a:t>aspc</a:t>
            </a:r>
            <a:r>
              <a:rPr lang="en-CA" dirty="0" smtClean="0">
                <a:effectLst/>
                <a:latin typeface="Courier New" panose="02070309020205020404" pitchFamily="49" charset="0"/>
                <a:cs typeface="Courier New" panose="02070309020205020404" pitchFamily="49" charset="0"/>
              </a:rPr>
              <a:t>=block, type=</a:t>
            </a:r>
            <a:r>
              <a:rPr lang="en-CA" dirty="0" err="1" smtClean="0">
                <a:effectLst/>
                <a:latin typeface="Courier New" panose="02070309020205020404" pitchFamily="49" charset="0"/>
                <a:cs typeface="Courier New" panose="02070309020205020404" pitchFamily="49" charset="0"/>
              </a:rPr>
              <a:t>dir_block</a:t>
            </a:r>
            <a:r>
              <a:rPr lang="en-CA" dirty="0">
                <a:effectLst/>
                <a:latin typeface="Courier New" panose="02070309020205020404" pitchFamily="49" charset="0"/>
                <a:cs typeface="Courier New" panose="02070309020205020404" pitchFamily="49" charset="0"/>
              </a:rPr>
              <a:t>)</a:t>
            </a:r>
          </a:p>
          <a:p>
            <a:r>
              <a:rPr lang="en-CA" dirty="0">
                <a:effectLst/>
                <a:latin typeface="Courier New" panose="02070309020205020404" pitchFamily="49" charset="0"/>
                <a:cs typeface="Courier New" panose="02070309020205020404" pitchFamily="49" charset="0"/>
              </a:rPr>
              <a:t>    __le32 </a:t>
            </a:r>
            <a:r>
              <a:rPr lang="en-CA" dirty="0" err="1">
                <a:effectLst/>
                <a:latin typeface="Courier New" panose="02070309020205020404" pitchFamily="49" charset="0"/>
                <a:cs typeface="Courier New" panose="02070309020205020404" pitchFamily="49" charset="0"/>
              </a:rPr>
              <a:t>ind_block_nr</a:t>
            </a:r>
            <a:r>
              <a:rPr lang="en-CA" dirty="0">
                <a:effectLst/>
                <a:latin typeface="Courier New" panose="02070309020205020404" pitchFamily="49" charset="0"/>
                <a:cs typeface="Courier New" panose="02070309020205020404" pitchFamily="49" charset="0"/>
              </a:rPr>
              <a:t>;</a:t>
            </a:r>
            <a:endParaRPr lang="en-CA" dirty="0">
              <a:solidFill>
                <a:srgbClr val="000000"/>
              </a:solidFill>
              <a:effectLst/>
              <a:latin typeface="Courier New" panose="02070309020205020404" pitchFamily="49" charset="0"/>
              <a:cs typeface="Courier New" panose="02070309020205020404" pitchFamily="49" charset="0"/>
            </a:endParaRPr>
          </a:p>
          <a:p>
            <a:pPr marL="93663" lvl="1"/>
            <a:r>
              <a:rPr lang="en-CA" dirty="0">
                <a:solidFill>
                  <a:srgbClr val="000000"/>
                </a:solidFill>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657733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86011462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CHECK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&lt;= 6);</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CHECK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self.s_magic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116536803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if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if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s_magic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316803594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9" name="Content Placeholder 8"/>
          <p:cNvSpPr>
            <a:spLocks noGrp="1"/>
          </p:cNvSpPr>
          <p:nvPr>
            <p:ph idx="1"/>
          </p:nvPr>
        </p:nvSpPr>
        <p:spPr/>
        <p:txBody>
          <a:bodyPr/>
          <a:lstStyle/>
          <a:p>
            <a:r>
              <a:rPr lang="en-CA" smtClean="0"/>
              <a:t>C++ classes are generated for all annotated structures </a:t>
            </a:r>
            <a:br>
              <a:rPr lang="en-CA" smtClean="0"/>
            </a:br>
            <a:r>
              <a:rPr lang="en-CA" smtClean="0"/>
              <a:t>and their fields</a:t>
            </a:r>
          </a:p>
          <a:p>
            <a:pPr lvl="1"/>
            <a:r>
              <a:rPr lang="en-CA" smtClean="0"/>
              <a:t>Enables type-safe parsing and serialization</a:t>
            </a:r>
          </a:p>
          <a:p>
            <a:pPr lvl="1"/>
            <a:r>
              <a:rPr lang="en-CA" smtClean="0"/>
              <a:t>Allows introspection of type, size, name, and parents</a:t>
            </a:r>
            <a:endParaRPr lang="en-CA" dirty="0"/>
          </a:p>
        </p:txBody>
      </p:sp>
      <p:sp>
        <p:nvSpPr>
          <p:cNvPr id="12" name="Content Placeholder 6"/>
          <p:cNvSpPr txBox="1">
            <a:spLocks/>
          </p:cNvSpPr>
          <p:nvPr/>
        </p:nvSpPr>
        <p:spPr>
          <a:xfrm>
            <a:off x="513159" y="2702719"/>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endParaRPr lang="en-CA" sz="1350" dirty="0">
              <a:solidFill>
                <a:srgbClr val="000000"/>
              </a:solidFill>
            </a:endParaRPr>
          </a:p>
          <a:p>
            <a:endParaRPr lang="en-CA" sz="1800" dirty="0"/>
          </a:p>
        </p:txBody>
      </p:sp>
    </p:spTree>
    <p:extLst>
      <p:ext uri="{BB962C8B-B14F-4D97-AF65-F5344CB8AC3E}">
        <p14:creationId xmlns:p14="http://schemas.microsoft.com/office/powerpoint/2010/main" val="114774413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pPr marL="0" indent="0">
              <a:buNone/>
            </a:pPr>
            <a:endParaRPr lang="en-CA" dirty="0" smtClean="0"/>
          </a:p>
          <a:p>
            <a:pPr marL="0" indent="0">
              <a:buNone/>
            </a:pPr>
            <a:endParaRPr lang="en-CA" dirty="0"/>
          </a:p>
          <a:p>
            <a:pPr marL="0" indent="0">
              <a:buNone/>
            </a:pPr>
            <a:endParaRPr lang="en-CA" dirty="0" smtClean="0"/>
          </a:p>
          <a:p>
            <a:r>
              <a:rPr lang="en-CA" dirty="0" smtClean="0"/>
              <a:t>Lines of code required to correctly annotate file systems</a:t>
            </a:r>
          </a:p>
          <a:p>
            <a:pPr lvl="1"/>
            <a:r>
              <a:rPr lang="en-CA" dirty="0" smtClean="0"/>
              <a:t>Need to declare some structures</a:t>
            </a:r>
          </a:p>
          <a:p>
            <a:pPr lvl="2"/>
            <a:r>
              <a:rPr lang="en-CA" dirty="0" smtClean="0"/>
              <a:t>E.g. Ext4 indirect block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first 12 are direct pointers, last 3 are indirect pointers of different types</a:t>
            </a:r>
          </a:p>
          <a:p>
            <a:pPr lvl="2"/>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2752715296"/>
              </p:ext>
            </p:extLst>
          </p:nvPr>
        </p:nvGraphicFramePr>
        <p:xfrm>
          <a:off x="2012100" y="803910"/>
          <a:ext cx="4769700" cy="1310640"/>
        </p:xfrm>
        <a:graphic>
          <a:graphicData uri="http://schemas.openxmlformats.org/drawingml/2006/table">
            <a:tbl>
              <a:tblPr firstRow="1" bandRow="1">
                <a:tableStyleId>{69012ECD-51FC-41F1-AA8D-1B2483CD663E}</a:tableStyleId>
              </a:tblPr>
              <a:tblGrid>
                <a:gridCol w="1589900">
                  <a:extLst>
                    <a:ext uri="{9D8B030D-6E8A-4147-A177-3AD203B41FA5}">
                      <a16:colId xmlns:a16="http://schemas.microsoft.com/office/drawing/2014/main" xmlns="" val="20000"/>
                    </a:ext>
                  </a:extLst>
                </a:gridCol>
                <a:gridCol w="1589900">
                  <a:extLst>
                    <a:ext uri="{9D8B030D-6E8A-4147-A177-3AD203B41FA5}">
                      <a16:colId xmlns:a16="http://schemas.microsoft.com/office/drawing/2014/main" xmlns="" val="20001"/>
                    </a:ext>
                  </a:extLst>
                </a:gridCol>
                <a:gridCol w="1589900">
                  <a:extLst>
                    <a:ext uri="{9D8B030D-6E8A-4147-A177-3AD203B41FA5}">
                      <a16:colId xmlns:a16="http://schemas.microsoft.com/office/drawing/2014/main" xmlns="" val="20002"/>
                    </a:ext>
                  </a:extLst>
                </a:gridCol>
              </a:tblGrid>
              <a:tr h="320040">
                <a:tc>
                  <a:txBody>
                    <a:bodyPr/>
                    <a:lstStyle/>
                    <a:p>
                      <a:r>
                        <a:rPr lang="en-CA" sz="1700" dirty="0" smtClean="0">
                          <a:solidFill>
                            <a:schemeClr val="tx1"/>
                          </a:solidFill>
                        </a:rPr>
                        <a:t>File System</a:t>
                      </a:r>
                      <a:endParaRPr lang="en-CA" sz="1700" dirty="0">
                        <a:solidFill>
                          <a:schemeClr val="tx1"/>
                        </a:solidFill>
                      </a:endParaRPr>
                    </a:p>
                  </a:txBody>
                  <a:tcPr marL="68580" marR="68580" marT="34290" marB="34290"/>
                </a:tc>
                <a:tc>
                  <a:txBody>
                    <a:bodyPr/>
                    <a:lstStyle/>
                    <a:p>
                      <a:r>
                        <a:rPr lang="en-CA" sz="1700" dirty="0" smtClean="0">
                          <a:solidFill>
                            <a:schemeClr val="tx1"/>
                          </a:solidFill>
                        </a:rPr>
                        <a:t>Line Count</a:t>
                      </a:r>
                      <a:endParaRPr lang="en-CA" sz="1700" dirty="0">
                        <a:solidFill>
                          <a:schemeClr val="tx1"/>
                        </a:solidFill>
                      </a:endParaRPr>
                    </a:p>
                  </a:txBody>
                  <a:tcPr marL="68580" marR="68580" marT="34290" marB="34290"/>
                </a:tc>
                <a:tc>
                  <a:txBody>
                    <a:bodyPr/>
                    <a:lstStyle/>
                    <a:p>
                      <a:r>
                        <a:rPr lang="en-CA" sz="1700" dirty="0" smtClean="0">
                          <a:solidFill>
                            <a:schemeClr val="tx1"/>
                          </a:solidFill>
                        </a:rPr>
                        <a:t>Annotated</a:t>
                      </a:r>
                      <a:endParaRPr lang="en-CA" sz="1700" dirty="0">
                        <a:solidFill>
                          <a:schemeClr val="tx1"/>
                        </a:solidFill>
                      </a:endParaRPr>
                    </a:p>
                  </a:txBody>
                  <a:tcPr marL="68580" marR="68580" marT="34290" marB="34290"/>
                </a:tc>
                <a:extLst>
                  <a:ext uri="{0D108BD9-81ED-4DB2-BD59-A6C34878D82A}">
                    <a16:rowId xmlns:a16="http://schemas.microsoft.com/office/drawing/2014/main" xmlns="" val="10000"/>
                  </a:ext>
                </a:extLst>
              </a:tr>
              <a:tr h="320040">
                <a:tc>
                  <a:txBody>
                    <a:bodyPr/>
                    <a:lstStyle/>
                    <a:p>
                      <a:r>
                        <a:rPr lang="en-CA" sz="1700" dirty="0" smtClean="0">
                          <a:solidFill>
                            <a:srgbClr val="000000"/>
                          </a:solidFill>
                        </a:rPr>
                        <a:t>Ext4</a:t>
                      </a:r>
                      <a:endParaRPr lang="en-CA" sz="1700" dirty="0">
                        <a:solidFill>
                          <a:srgbClr val="000000"/>
                        </a:solidFill>
                      </a:endParaRPr>
                    </a:p>
                  </a:txBody>
                  <a:tcPr marL="68580" marR="68580" marT="34290" marB="34290"/>
                </a:tc>
                <a:tc>
                  <a:txBody>
                    <a:bodyPr/>
                    <a:lstStyle/>
                    <a:p>
                      <a:r>
                        <a:rPr lang="en-CA" sz="1700" dirty="0" smtClean="0">
                          <a:solidFill>
                            <a:srgbClr val="000000"/>
                          </a:solidFill>
                        </a:rPr>
                        <a:t>491</a:t>
                      </a:r>
                      <a:endParaRPr lang="en-CA" sz="1700" dirty="0">
                        <a:solidFill>
                          <a:srgbClr val="000000"/>
                        </a:solidFill>
                      </a:endParaRPr>
                    </a:p>
                  </a:txBody>
                  <a:tcPr marL="68580" marR="68580" marT="34290" marB="34290"/>
                </a:tc>
                <a:tc>
                  <a:txBody>
                    <a:bodyPr/>
                    <a:lstStyle/>
                    <a:p>
                      <a:r>
                        <a:rPr lang="en-CA" sz="1700" dirty="0" smtClean="0">
                          <a:solidFill>
                            <a:srgbClr val="000000"/>
                          </a:solidFill>
                        </a:rPr>
                        <a:t>113</a:t>
                      </a:r>
                      <a:endParaRPr lang="en-CA" sz="1700" dirty="0">
                        <a:solidFill>
                          <a:srgbClr val="000000"/>
                        </a:solidFill>
                      </a:endParaRPr>
                    </a:p>
                  </a:txBody>
                  <a:tcPr marL="68580" marR="68580" marT="34290" marB="34290"/>
                </a:tc>
                <a:extLst>
                  <a:ext uri="{0D108BD9-81ED-4DB2-BD59-A6C34878D82A}">
                    <a16:rowId xmlns:a16="http://schemas.microsoft.com/office/drawing/2014/main" xmlns="" val="10001"/>
                  </a:ext>
                </a:extLst>
              </a:tr>
              <a:tr h="320040">
                <a:tc>
                  <a:txBody>
                    <a:bodyPr/>
                    <a:lstStyle/>
                    <a:p>
                      <a:r>
                        <a:rPr lang="en-CA" sz="1700" dirty="0" err="1" smtClean="0">
                          <a:solidFill>
                            <a:srgbClr val="000000"/>
                          </a:solidFill>
                        </a:rPr>
                        <a:t>Btrfs</a:t>
                      </a:r>
                      <a:endParaRPr lang="en-CA" sz="1700" dirty="0">
                        <a:solidFill>
                          <a:srgbClr val="000000"/>
                        </a:solidFill>
                      </a:endParaRPr>
                    </a:p>
                  </a:txBody>
                  <a:tcPr marL="68580" marR="68580" marT="34290" marB="34290"/>
                </a:tc>
                <a:tc>
                  <a:txBody>
                    <a:bodyPr/>
                    <a:lstStyle/>
                    <a:p>
                      <a:r>
                        <a:rPr lang="en-CA" sz="1700" dirty="0" smtClean="0">
                          <a:solidFill>
                            <a:srgbClr val="000000"/>
                          </a:solidFill>
                        </a:rPr>
                        <a:t>556</a:t>
                      </a:r>
                      <a:endParaRPr lang="en-CA" sz="1700" dirty="0">
                        <a:solidFill>
                          <a:srgbClr val="000000"/>
                        </a:solidFill>
                      </a:endParaRPr>
                    </a:p>
                  </a:txBody>
                  <a:tcPr marL="68580" marR="68580" marT="34290" marB="34290"/>
                </a:tc>
                <a:tc>
                  <a:txBody>
                    <a:bodyPr/>
                    <a:lstStyle/>
                    <a:p>
                      <a:r>
                        <a:rPr lang="en-CA" sz="1700" dirty="0" smtClean="0">
                          <a:solidFill>
                            <a:srgbClr val="000000"/>
                          </a:solidFill>
                        </a:rPr>
                        <a:t>151</a:t>
                      </a:r>
                      <a:endParaRPr lang="en-CA" sz="1700" dirty="0">
                        <a:solidFill>
                          <a:srgbClr val="000000"/>
                        </a:solidFill>
                      </a:endParaRPr>
                    </a:p>
                  </a:txBody>
                  <a:tcPr marL="68580" marR="68580" marT="34290" marB="34290"/>
                </a:tc>
                <a:extLst>
                  <a:ext uri="{0D108BD9-81ED-4DB2-BD59-A6C34878D82A}">
                    <a16:rowId xmlns:a16="http://schemas.microsoft.com/office/drawing/2014/main" xmlns="" val="10002"/>
                  </a:ext>
                </a:extLst>
              </a:tr>
              <a:tr h="320040">
                <a:tc>
                  <a:txBody>
                    <a:bodyPr/>
                    <a:lstStyle/>
                    <a:p>
                      <a:r>
                        <a:rPr lang="en-CA" sz="1700" dirty="0" smtClean="0">
                          <a:solidFill>
                            <a:srgbClr val="000000"/>
                          </a:solidFill>
                        </a:rPr>
                        <a:t>F2FS</a:t>
                      </a:r>
                      <a:endParaRPr lang="en-CA" sz="1700" dirty="0">
                        <a:solidFill>
                          <a:srgbClr val="000000"/>
                        </a:solidFill>
                      </a:endParaRPr>
                    </a:p>
                  </a:txBody>
                  <a:tcPr marL="68580" marR="68580" marT="34290" marB="34290"/>
                </a:tc>
                <a:tc>
                  <a:txBody>
                    <a:bodyPr/>
                    <a:lstStyle/>
                    <a:p>
                      <a:r>
                        <a:rPr lang="en-CA" sz="1700" dirty="0" smtClean="0">
                          <a:solidFill>
                            <a:srgbClr val="000000"/>
                          </a:solidFill>
                        </a:rPr>
                        <a:t>462</a:t>
                      </a:r>
                      <a:endParaRPr lang="en-CA" sz="1700" dirty="0">
                        <a:solidFill>
                          <a:srgbClr val="000000"/>
                        </a:solidFill>
                      </a:endParaRPr>
                    </a:p>
                  </a:txBody>
                  <a:tcPr marL="68580" marR="68580" marT="34290" marB="34290"/>
                </a:tc>
                <a:tc>
                  <a:txBody>
                    <a:bodyPr/>
                    <a:lstStyle/>
                    <a:p>
                      <a:r>
                        <a:rPr lang="en-CA" sz="1700" dirty="0" smtClean="0">
                          <a:solidFill>
                            <a:srgbClr val="000000"/>
                          </a:solidFill>
                        </a:rPr>
                        <a:t>127</a:t>
                      </a:r>
                      <a:endParaRPr lang="en-CA" sz="1700" dirty="0">
                        <a:solidFill>
                          <a:srgbClr val="000000"/>
                        </a:solidFill>
                      </a:endParaRPr>
                    </a:p>
                  </a:txBody>
                  <a:tcPr marL="68580" marR="68580" marT="34290" marB="34290"/>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114006257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z="2000" dirty="0" smtClean="0"/>
              <a:t>Example: File System Free Space Tool</a:t>
            </a:r>
          </a:p>
          <a:p>
            <a:pPr lvl="1"/>
            <a:r>
              <a:rPr lang="en-CA" sz="1800" dirty="0" smtClean="0"/>
              <a:t>Plots histogram of size of free extents</a:t>
            </a:r>
          </a:p>
          <a:p>
            <a:pPr lvl="1"/>
            <a:r>
              <a:rPr lang="en-CA" sz="1800" dirty="0" smtClean="0"/>
              <a:t>Application requires knowledge of how file system tracks block allocation</a:t>
            </a:r>
          </a:p>
          <a:p>
            <a:r>
              <a:rPr lang="en-CA" sz="2000" dirty="0" smtClean="0"/>
              <a:t>Manually</a:t>
            </a:r>
          </a:p>
          <a:p>
            <a:pPr lvl="1"/>
            <a:r>
              <a:rPr lang="en-CA" sz="1800" dirty="0" smtClean="0"/>
              <a:t>Write code to traverse file system and access relevant metadata</a:t>
            </a:r>
          </a:p>
          <a:p>
            <a:pPr lvl="2"/>
            <a:r>
              <a:rPr lang="en-CA" sz="1800" dirty="0" smtClean="0"/>
              <a:t>Often through trial-and-error</a:t>
            </a:r>
          </a:p>
          <a:p>
            <a:pPr lvl="1"/>
            <a:r>
              <a:rPr lang="en-CA" sz="1800" dirty="0" smtClean="0"/>
              <a:t>Write code to process relevant metadata</a:t>
            </a:r>
          </a:p>
          <a:p>
            <a:r>
              <a:rPr lang="en-CA" sz="2000" dirty="0" smtClean="0"/>
              <a:t>Spiffy framework</a:t>
            </a:r>
          </a:p>
          <a:p>
            <a:pPr lvl="1"/>
            <a:r>
              <a:rPr lang="en-CA" sz="1800" dirty="0" smtClean="0"/>
              <a:t>Simplifies the traversal and helps make it more robust</a:t>
            </a:r>
          </a:p>
          <a:p>
            <a:pPr lvl="1"/>
            <a:r>
              <a:rPr lang="en-CA" sz="1800" dirty="0" smtClean="0"/>
              <a:t>Application program focuses on processing relevant metadata</a:t>
            </a:r>
          </a:p>
        </p:txBody>
      </p:sp>
    </p:spTree>
    <p:extLst>
      <p:ext uri="{BB962C8B-B14F-4D97-AF65-F5344CB8AC3E}">
        <p14:creationId xmlns:p14="http://schemas.microsoft.com/office/powerpoint/2010/main" val="198192972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513159" y="819150"/>
            <a:ext cx="7714348" cy="3588077"/>
          </a:xfrm>
          <a:prstGeom prst="rect">
            <a:avLst/>
          </a:prstGeom>
          <a:noFill/>
          <a:ln>
            <a:noFill/>
          </a:ln>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1024 &lt;&lt;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int</a:t>
            </a:r>
            <a:r>
              <a:rPr lang="en-CA" sz="1350" b="1" dirty="0">
                <a:solidFill>
                  <a:srgbClr val="000000"/>
                </a:solidFill>
                <a:latin typeface="Courier New" panose="02070309020205020404" pitchFamily="49" charset="0"/>
                <a:cs typeface="Courier New" panose="02070309020205020404" pitchFamily="49" charset="0"/>
              </a:rPr>
              <a:t> ret = </a:t>
            </a:r>
            <a:r>
              <a:rPr lang="en-CA" sz="1350" b="1" dirty="0" err="1">
                <a:solidFill>
                  <a:srgbClr val="000000"/>
                </a:solidFill>
                <a:latin typeface="Courier New" panose="02070309020205020404" pitchFamily="49" charset="0"/>
                <a:cs typeface="Courier New" panose="02070309020205020404" pitchFamily="49" charset="0"/>
              </a:rPr>
              <a:t>process_block_bitmap</a:t>
            </a:r>
            <a:r>
              <a:rPr lang="en-CA" sz="1350" b="1"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latin typeface="Courier New" panose="02070309020205020404" pitchFamily="49" charset="0"/>
                <a:cs typeface="Courier New" panose="02070309020205020404" pitchFamily="49" charset="0"/>
              </a:rPr>
              <a:t>buf</a:t>
            </a:r>
            <a:r>
              <a:rPr lang="en-CA" sz="1350" b="1"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vec</a:t>
            </a:r>
            <a:r>
              <a:rPr lang="en-CA" sz="1350" b="1"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7" name="TextBox 6"/>
          <p:cNvSpPr txBox="1"/>
          <p:nvPr/>
        </p:nvSpPr>
        <p:spPr>
          <a:xfrm>
            <a:off x="1299731" y="3816078"/>
            <a:ext cx="6544538"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dirty="0">
                <a:solidFill>
                  <a:srgbClr val="000000"/>
                </a:solidFill>
              </a:rPr>
              <a:t>LOTS of boilerplate code to walk through the intermediate structures</a:t>
            </a:r>
          </a:p>
        </p:txBody>
      </p:sp>
    </p:spTree>
    <p:extLst>
      <p:ext uri="{BB962C8B-B14F-4D97-AF65-F5344CB8AC3E}">
        <p14:creationId xmlns:p14="http://schemas.microsoft.com/office/powerpoint/2010/main" val="422810800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1" name="TextBox 10"/>
          <p:cNvSpPr txBox="1"/>
          <p:nvPr/>
        </p:nvSpPr>
        <p:spPr>
          <a:xfrm>
            <a:off x="2197679" y="3742925"/>
            <a:ext cx="4748643"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dirty="0">
                <a:solidFill>
                  <a:srgbClr val="000000"/>
                </a:solidFill>
              </a:rPr>
              <a:t>Ideally, we would only have to write this function</a:t>
            </a:r>
          </a:p>
        </p:txBody>
      </p:sp>
      <p:cxnSp>
        <p:nvCxnSpPr>
          <p:cNvPr id="8" name="Straight Arrow Connector 7"/>
          <p:cNvCxnSpPr>
            <a:stCxn id="11" idx="3"/>
          </p:cNvCxnSpPr>
          <p:nvPr/>
        </p:nvCxnSpPr>
        <p:spPr>
          <a:xfrm flipH="1" flipV="1">
            <a:off x="5347857" y="3430801"/>
            <a:ext cx="1598465" cy="528160"/>
          </a:xfrm>
          <a:prstGeom prst="bentConnector3">
            <a:avLst>
              <a:gd name="adj1" fmla="val -14301"/>
            </a:avLst>
          </a:prstGeom>
          <a:ln w="38100">
            <a:solidFill>
              <a:schemeClr val="tx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08184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b="1"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latin typeface="Courier New" panose="02070309020205020404" pitchFamily="49" charset="0"/>
                <a:cs typeface="Courier New" panose="02070309020205020404" pitchFamily="49" charset="0"/>
              </a:rPr>
              <a:t>==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ret = </a:t>
            </a:r>
            <a:r>
              <a:rPr lang="en-CA" sz="1350" dirty="0" err="1">
                <a:solidFill>
                  <a:srgbClr val="000000"/>
                </a:solidFill>
                <a:latin typeface="Courier New" panose="02070309020205020404" pitchFamily="49" charset="0"/>
                <a:cs typeface="Courier New" panose="02070309020205020404" pitchFamily="49" charset="0"/>
              </a:rPr>
              <a:t>process_block_bitmap</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3" name="TextBox 12"/>
          <p:cNvSpPr txBox="1"/>
          <p:nvPr/>
        </p:nvSpPr>
        <p:spPr>
          <a:xfrm>
            <a:off x="2101026" y="3742925"/>
            <a:ext cx="4941948" cy="632097"/>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b="1" dirty="0">
                <a:solidFill>
                  <a:srgbClr val="000000"/>
                </a:solidFill>
              </a:rPr>
              <a:t>No sanity checks! </a:t>
            </a:r>
            <a:r>
              <a:rPr lang="en-CA" dirty="0">
                <a:solidFill>
                  <a:srgbClr val="000000"/>
                </a:solidFill>
              </a:rPr>
              <a:t>Value may be out-of-bound or invalid, which can cause crashes or garbage output</a:t>
            </a:r>
          </a:p>
        </p:txBody>
      </p:sp>
    </p:spTree>
    <p:extLst>
      <p:ext uri="{BB962C8B-B14F-4D97-AF65-F5344CB8AC3E}">
        <p14:creationId xmlns:p14="http://schemas.microsoft.com/office/powerpoint/2010/main" val="408784542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1"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3:  Ext4::</a:t>
            </a:r>
            <a:r>
              <a:rPr lang="en-CA" sz="1500" b="1" dirty="0" err="1">
                <a:solidFill>
                  <a:srgbClr val="000000"/>
                </a:solidFill>
                <a:latin typeface="Courier New" panose="02070309020205020404" pitchFamily="49" charset="0"/>
                <a:cs typeface="Courier New" panose="02070309020205020404" pitchFamily="49" charset="0"/>
              </a:rPr>
              <a:t>SuperBlock</a:t>
            </a:r>
            <a:r>
              <a:rPr lang="en-CA" sz="1500" b="1" dirty="0">
                <a:solidFill>
                  <a:srgbClr val="000000"/>
                </a:solidFill>
                <a:latin typeface="Courier New" panose="02070309020205020404" pitchFamily="49" charset="0"/>
                <a:cs typeface="Courier New" panose="02070309020205020404" pitchFamily="49" charset="0"/>
              </a:rPr>
              <a:t> *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7:  return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process_by_type</a:t>
            </a:r>
            <a:r>
              <a:rPr lang="en-CA" sz="1500" dirty="0">
                <a:solidFill>
                  <a:srgbClr val="000000"/>
                </a:solidFill>
                <a:latin typeface="Courier New" panose="02070309020205020404" pitchFamily="49" charset="0"/>
                <a:cs typeface="Courier New" panose="02070309020205020404" pitchFamily="49" charset="0"/>
              </a:rPr>
              <a:t>(BLOCK_BITMAP, </a:t>
            </a:r>
            <a:br>
              <a:rPr lang="en-CA" sz="1500" dirty="0">
                <a:solidFill>
                  <a:srgbClr val="000000"/>
                </a:solidFill>
                <a:latin typeface="Courier New" panose="02070309020205020404" pitchFamily="49" charset="0"/>
                <a:cs typeface="Courier New" panose="02070309020205020404" pitchFamily="49" charset="0"/>
              </a:rPr>
            </a:b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process_block_bitmap</a:t>
            </a:r>
            <a:r>
              <a:rPr lang="en-CA" sz="1500" dirty="0">
                <a:solidFill>
                  <a:srgbClr val="000000"/>
                </a:solidFill>
                <a:latin typeface="Courier New" panose="02070309020205020404" pitchFamily="49" charset="0"/>
                <a:cs typeface="Courier New" panose="02070309020205020404" pitchFamily="49" charset="0"/>
              </a:rPr>
              <a:t>, </a:t>
            </a:r>
            <a:r>
              <a:rPr lang="en-CA" sz="1500" dirty="0" smtClean="0">
                <a:solidFill>
                  <a:srgbClr val="000000"/>
                </a:solidFill>
                <a:latin typeface="Courier New" panose="02070309020205020404" pitchFamily="49" charset="0"/>
                <a:cs typeface="Courier New" panose="02070309020205020404" pitchFamily="49" charset="0"/>
              </a:rPr>
              <a:t>&amp;</a:t>
            </a:r>
            <a:r>
              <a:rPr lang="en-CA" sz="1500" dirty="0" err="1" smtClean="0">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7" name="TextBox 6"/>
          <p:cNvSpPr txBox="1"/>
          <p:nvPr/>
        </p:nvSpPr>
        <p:spPr>
          <a:xfrm>
            <a:off x="6496361" y="1253520"/>
            <a:ext cx="1809439" cy="784830"/>
          </a:xfrm>
          <a:prstGeom prst="rect">
            <a:avLst/>
          </a:prstGeom>
          <a:solidFill>
            <a:srgbClr val="FFFF00"/>
          </a:solidFill>
          <a:ln w="12700">
            <a:solidFill>
              <a:schemeClr val="bg1"/>
            </a:solidFill>
            <a:prstDash val="solid"/>
          </a:ln>
        </p:spPr>
        <p:txBody>
          <a:bodyPr wrap="square" rtlCol="0">
            <a:spAutoFit/>
          </a:bodyPr>
          <a:lstStyle/>
          <a:p>
            <a:pPr algn="ctr">
              <a:lnSpc>
                <a:spcPts val="1800"/>
              </a:lnSpc>
              <a:spcBef>
                <a:spcPts val="450"/>
              </a:spcBef>
            </a:pPr>
            <a:r>
              <a:rPr lang="en-CA" dirty="0" smtClean="0">
                <a:solidFill>
                  <a:srgbClr val="000000"/>
                </a:solidFill>
              </a:rPr>
              <a:t>Returns </a:t>
            </a:r>
            <a:r>
              <a:rPr lang="en-CA" i="1" dirty="0" err="1">
                <a:solidFill>
                  <a:srgbClr val="000000"/>
                </a:solidFill>
              </a:rPr>
              <a:t>nullptr</a:t>
            </a:r>
            <a:r>
              <a:rPr lang="en-CA" i="1" dirty="0">
                <a:solidFill>
                  <a:srgbClr val="000000"/>
                </a:solidFill>
              </a:rPr>
              <a:t/>
            </a:r>
            <a:br>
              <a:rPr lang="en-CA" i="1" dirty="0">
                <a:solidFill>
                  <a:srgbClr val="000000"/>
                </a:solidFill>
              </a:rPr>
            </a:br>
            <a:r>
              <a:rPr lang="en-CA" dirty="0">
                <a:solidFill>
                  <a:srgbClr val="000000"/>
                </a:solidFill>
              </a:rPr>
              <a:t>if super block</a:t>
            </a:r>
            <a:br>
              <a:rPr lang="en-CA" dirty="0">
                <a:solidFill>
                  <a:srgbClr val="000000"/>
                </a:solidFill>
              </a:rPr>
            </a:br>
            <a:r>
              <a:rPr lang="en-CA" dirty="0">
                <a:solidFill>
                  <a:srgbClr val="000000"/>
                </a:solidFill>
              </a:rPr>
              <a:t> is corrupted</a:t>
            </a:r>
          </a:p>
        </p:txBody>
      </p:sp>
      <p:cxnSp>
        <p:nvCxnSpPr>
          <p:cNvPr id="8" name="Straight Arrow Connector 7"/>
          <p:cNvCxnSpPr>
            <a:stCxn id="7" idx="1"/>
          </p:cNvCxnSpPr>
          <p:nvPr/>
        </p:nvCxnSpPr>
        <p:spPr>
          <a:xfrm flipH="1">
            <a:off x="5943600" y="1645935"/>
            <a:ext cx="552761" cy="87615"/>
          </a:xfrm>
          <a:prstGeom prst="straightConnector1">
            <a:avLst/>
          </a:prstGeom>
          <a:ln w="38100">
            <a:solidFill>
              <a:srgbClr val="00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069675"/>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cxnSp>
        <p:nvCxnSpPr>
          <p:cNvPr id="14" name="Straight Arrow Connector 13"/>
          <p:cNvCxnSpPr/>
          <p:nvPr/>
        </p:nvCxnSpPr>
        <p:spPr>
          <a:xfrm flipV="1">
            <a:off x="4572000" y="3060573"/>
            <a:ext cx="0" cy="3428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3667281" y="3402154"/>
            <a:ext cx="1809439" cy="503469"/>
          </a:xfrm>
          <a:prstGeom prst="rect">
            <a:avLst/>
          </a:prstGeom>
          <a:solidFill>
            <a:srgbClr val="FFFF00"/>
          </a:solidFill>
          <a:ln w="12700">
            <a:solidFill>
              <a:schemeClr val="bg1"/>
            </a:solidFill>
            <a:prstDash val="solid"/>
          </a:ln>
        </p:spPr>
        <p:txBody>
          <a:bodyPr wrap="square" tIns="180000" bIns="90000" rtlCol="0" anchor="ctr" anchorCtr="0">
            <a:spAutoFit/>
          </a:bodyPr>
          <a:lstStyle/>
          <a:p>
            <a:pPr algn="ctr">
              <a:lnSpc>
                <a:spcPts val="1800"/>
              </a:lnSpc>
              <a:spcBef>
                <a:spcPts val="450"/>
              </a:spcBef>
            </a:pPr>
            <a:r>
              <a:rPr lang="en-CA" sz="2400" b="1" dirty="0" smtClean="0">
                <a:solidFill>
                  <a:srgbClr val="000000"/>
                </a:solidFill>
              </a:rPr>
              <a:t>THAT’S IT</a:t>
            </a:r>
            <a:endParaRPr lang="en-CA" sz="2400" b="1" dirty="0">
              <a:solidFill>
                <a:srgbClr val="000000"/>
              </a:solidFill>
            </a:endParaRPr>
          </a:p>
        </p:txBody>
      </p:sp>
    </p:spTree>
    <p:extLst>
      <p:ext uri="{BB962C8B-B14F-4D97-AF65-F5344CB8AC3E}">
        <p14:creationId xmlns:p14="http://schemas.microsoft.com/office/powerpoint/2010/main" val="241550057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513159" y="895350"/>
            <a:ext cx="7714348" cy="236220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a:xfrm>
            <a:off x="152400" y="2876550"/>
            <a:ext cx="8839200" cy="1600200"/>
          </a:xfrm>
        </p:spPr>
        <p:txBody>
          <a:bodyPr/>
          <a:lstStyle/>
          <a:p>
            <a:pPr marL="1371600" lvl="3" indent="0">
              <a:buNone/>
            </a:pPr>
            <a:endParaRPr lang="en-CA" dirty="0" smtClean="0"/>
          </a:p>
          <a:p>
            <a:r>
              <a:rPr lang="en-CA" dirty="0" smtClean="0"/>
              <a:t>Advantages</a:t>
            </a:r>
          </a:p>
          <a:p>
            <a:pPr lvl="1"/>
            <a:r>
              <a:rPr lang="en-CA" sz="2000" dirty="0" smtClean="0"/>
              <a:t>simplifies file system traversal, reduces need to know format details</a:t>
            </a:r>
          </a:p>
          <a:p>
            <a:pPr lvl="1"/>
            <a:r>
              <a:rPr lang="en-CA" sz="2000" dirty="0" smtClean="0"/>
              <a:t>library parsing routines have automatically generated sanity checks</a:t>
            </a:r>
          </a:p>
          <a:p>
            <a:endParaRPr lang="en-CA" dirty="0" smtClean="0"/>
          </a:p>
        </p:txBody>
      </p:sp>
    </p:spTree>
    <p:extLst>
      <p:ext uri="{BB962C8B-B14F-4D97-AF65-F5344CB8AC3E}">
        <p14:creationId xmlns:p14="http://schemas.microsoft.com/office/powerpoint/2010/main" val="252239442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a:p>
        </p:txBody>
      </p:sp>
      <p:sp>
        <p:nvSpPr>
          <p:cNvPr id="6" name="Content Placeholder 6"/>
          <p:cNvSpPr txBox="1">
            <a:spLocks/>
          </p:cNvSpPr>
          <p:nvPr/>
        </p:nvSpPr>
        <p:spPr>
          <a:xfrm>
            <a:off x="513159" y="1130428"/>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process_btrfs</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btrfs.fetch_super</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sectorsize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extent items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(EXTENT_ITEM,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process_extent_item</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164877162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544296800"/>
              </p:ext>
            </p:extLst>
          </p:nvPr>
        </p:nvGraphicFramePr>
        <p:xfrm>
          <a:off x="152400" y="1123950"/>
          <a:ext cx="8763000" cy="2473960"/>
        </p:xfrm>
        <a:graphic>
          <a:graphicData uri="http://schemas.openxmlformats.org/drawingml/2006/table">
            <a:tbl>
              <a:tblPr firstRow="1" bandRow="1">
                <a:tableStyleId>{5C22544A-7EE6-4342-B048-85BDC9FD1C3A}</a:tableStyleId>
              </a:tblPr>
              <a:tblGrid>
                <a:gridCol w="1447800"/>
                <a:gridCol w="3429000"/>
                <a:gridCol w="3886200"/>
              </a:tblGrid>
              <a:tr h="370840">
                <a:tc>
                  <a:txBody>
                    <a:bodyPr/>
                    <a:lstStyle/>
                    <a:p>
                      <a:endParaRPr lang="en-CA" dirty="0"/>
                    </a:p>
                  </a:txBody>
                  <a:tcPr>
                    <a:solidFill>
                      <a:schemeClr val="bg1"/>
                    </a:solidFill>
                  </a:tcPr>
                </a:tc>
                <a:tc>
                  <a:txBody>
                    <a:bodyPr/>
                    <a:lstStyle/>
                    <a:p>
                      <a:r>
                        <a:rPr lang="en-CA" b="1" dirty="0" smtClean="0">
                          <a:solidFill>
                            <a:schemeClr val="tx1"/>
                          </a:solidFill>
                        </a:rPr>
                        <a:t>Read-Only</a:t>
                      </a:r>
                      <a:endParaRPr lang="en-CA" b="1" dirty="0">
                        <a:solidFill>
                          <a:schemeClr val="tx1"/>
                        </a:solidFill>
                      </a:endParaRPr>
                    </a:p>
                  </a:txBody>
                  <a:tcPr>
                    <a:solidFill>
                      <a:schemeClr val="accent2">
                        <a:lumMod val="20000"/>
                        <a:lumOff val="80000"/>
                      </a:schemeClr>
                    </a:solidFill>
                  </a:tcPr>
                </a:tc>
                <a:tc>
                  <a:txBody>
                    <a:bodyPr/>
                    <a:lstStyle/>
                    <a:p>
                      <a:r>
                        <a:rPr lang="en-CA" b="1" dirty="0" smtClean="0">
                          <a:solidFill>
                            <a:schemeClr val="tx1"/>
                          </a:solidFill>
                        </a:rPr>
                        <a:t>Read-Write</a:t>
                      </a:r>
                      <a:endParaRPr lang="en-CA" b="1" dirty="0">
                        <a:solidFill>
                          <a:schemeClr val="tx1"/>
                        </a:solidFill>
                      </a:endParaRPr>
                    </a:p>
                  </a:txBody>
                  <a:tcPr>
                    <a:solidFill>
                      <a:schemeClr val="accent2">
                        <a:lumMod val="20000"/>
                        <a:lumOff val="80000"/>
                      </a:schemeClr>
                    </a:solidFill>
                  </a:tcPr>
                </a:tc>
              </a:tr>
              <a:tr h="370840">
                <a:tc>
                  <a:txBody>
                    <a:bodyPr/>
                    <a:lstStyle/>
                    <a:p>
                      <a:r>
                        <a:rPr lang="en-CA" b="0" i="1" dirty="0" smtClean="0"/>
                        <a:t>Offline</a:t>
                      </a:r>
                    </a:p>
                    <a:p>
                      <a:r>
                        <a:rPr lang="en-CA" b="0" i="1" dirty="0" smtClean="0"/>
                        <a:t>(</a:t>
                      </a:r>
                      <a:r>
                        <a:rPr lang="en-CA" b="0" i="1" dirty="0" err="1" smtClean="0"/>
                        <a:t>User</a:t>
                      </a:r>
                      <a:r>
                        <a:rPr lang="en-CA" b="0" i="1" baseline="0" dirty="0" err="1" smtClean="0"/>
                        <a:t>space</a:t>
                      </a:r>
                      <a:r>
                        <a:rPr lang="en-CA" b="0" i="1" baseline="0" dirty="0" smtClean="0"/>
                        <a:t>)</a:t>
                      </a:r>
                      <a:endParaRPr lang="en-CA" b="0" i="1" dirty="0"/>
                    </a:p>
                  </a:txBody>
                  <a:tcPr>
                    <a:solidFill>
                      <a:schemeClr val="accent2">
                        <a:lumMod val="20000"/>
                        <a:lumOff val="80000"/>
                      </a:schemeClr>
                    </a:solidFill>
                  </a:tcPr>
                </a:tc>
                <a:tc>
                  <a:txBody>
                    <a:bodyPr/>
                    <a:lstStyle/>
                    <a:p>
                      <a:pPr marL="285750" indent="-285750">
                        <a:buFont typeface="Arial" panose="020B0604020202020204" pitchFamily="34" charset="0"/>
                        <a:buChar char="•"/>
                      </a:pPr>
                      <a:r>
                        <a:rPr lang="en-CA" dirty="0" smtClean="0"/>
                        <a:t>File System Free Space Tool</a:t>
                      </a:r>
                    </a:p>
                    <a:p>
                      <a:pPr marL="285750" indent="-285750">
                        <a:buFont typeface="Arial" panose="020B0604020202020204" pitchFamily="34" charset="0"/>
                        <a:buChar char="•"/>
                      </a:pPr>
                      <a:r>
                        <a:rPr lang="en-CA" dirty="0" smtClean="0"/>
                        <a:t>File System Dump Tool</a:t>
                      </a:r>
                    </a:p>
                    <a:p>
                      <a:endParaRPr lang="en-CA" dirty="0" smtClean="0"/>
                    </a:p>
                  </a:txBody>
                  <a:tcPr>
                    <a:solidFill>
                      <a:schemeClr val="accent3">
                        <a:lumMod val="95000"/>
                      </a:schemeClr>
                    </a:solidFill>
                  </a:tcPr>
                </a:tc>
                <a:tc>
                  <a:txBody>
                    <a:bodyPr/>
                    <a:lstStyle/>
                    <a:p>
                      <a:pPr marL="285750" indent="-285750">
                        <a:buFont typeface="Arial" panose="020B0604020202020204" pitchFamily="34" charset="0"/>
                        <a:buChar char="•"/>
                      </a:pPr>
                      <a:r>
                        <a:rPr lang="en-CA" dirty="0" smtClean="0"/>
                        <a:t>Type-Specific File System Corruptor</a:t>
                      </a:r>
                    </a:p>
                    <a:p>
                      <a:pPr marL="285750" indent="-285750">
                        <a:buFont typeface="Arial" panose="020B0604020202020204" pitchFamily="34" charset="0"/>
                        <a:buChar char="•"/>
                      </a:pPr>
                      <a:r>
                        <a:rPr lang="en-CA" dirty="0" smtClean="0"/>
                        <a:t>File System Conversion Tool</a:t>
                      </a:r>
                    </a:p>
                  </a:txBody>
                  <a:tcPr>
                    <a:solidFill>
                      <a:schemeClr val="accent3">
                        <a:lumMod val="95000"/>
                      </a:schemeClr>
                    </a:solidFill>
                  </a:tcPr>
                </a:tc>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0" i="1" dirty="0" smtClean="0"/>
                        <a:t>Online</a:t>
                      </a:r>
                      <a:br>
                        <a:rPr lang="en-CA" b="0" i="1" dirty="0" smtClean="0"/>
                      </a:br>
                      <a:r>
                        <a:rPr lang="en-CA" b="0" i="1" dirty="0" smtClean="0"/>
                        <a:t>(Kernel)</a:t>
                      </a:r>
                    </a:p>
                    <a:p>
                      <a:endParaRPr lang="en-CA" b="0" i="1" dirty="0"/>
                    </a:p>
                  </a:txBody>
                  <a:tcPr>
                    <a:solidFill>
                      <a:schemeClr val="accent2">
                        <a:lumMod val="20000"/>
                        <a:lumOff val="80000"/>
                      </a:schemeClr>
                    </a:solidFill>
                  </a:tcPr>
                </a:tc>
                <a:tc>
                  <a:txBody>
                    <a:bodyPr/>
                    <a:lstStyle/>
                    <a:p>
                      <a:pPr marL="285750" indent="-285750">
                        <a:buFont typeface="Arial" panose="020B0604020202020204" pitchFamily="34" charset="0"/>
                        <a:buChar char="•"/>
                      </a:pPr>
                      <a:r>
                        <a:rPr lang="en-CA" dirty="0" smtClean="0"/>
                        <a:t>File-System Aware Block Layer Cache</a:t>
                      </a:r>
                    </a:p>
                    <a:p>
                      <a:pPr marL="285750" indent="-285750">
                        <a:buFont typeface="Arial" panose="020B0604020202020204" pitchFamily="34" charset="0"/>
                        <a:buChar char="•"/>
                      </a:pPr>
                      <a:r>
                        <a:rPr lang="en-CA" dirty="0" smtClean="0"/>
                        <a:t>Runtime File Systems Checker</a:t>
                      </a:r>
                    </a:p>
                  </a:txBody>
                  <a:tcPr>
                    <a:solidFill>
                      <a:schemeClr val="accent3">
                        <a:lumMod val="95000"/>
                      </a:schemeClr>
                    </a:solidFill>
                  </a:tcPr>
                </a:tc>
                <a:tc>
                  <a:txBody>
                    <a:bodyPr/>
                    <a:lstStyle/>
                    <a:p>
                      <a:endParaRPr lang="en-CA" dirty="0"/>
                    </a:p>
                  </a:txBody>
                  <a:tcPr>
                    <a:solidFill>
                      <a:schemeClr val="accent3">
                        <a:lumMod val="95000"/>
                      </a:schemeClr>
                    </a:solidFill>
                  </a:tcPr>
                </a:tc>
              </a:tr>
            </a:tbl>
          </a:graphicData>
        </a:graphic>
      </p:graphicFrame>
    </p:spTree>
    <p:extLst>
      <p:ext uri="{BB962C8B-B14F-4D97-AF65-F5344CB8AC3E}">
        <p14:creationId xmlns:p14="http://schemas.microsoft.com/office/powerpoint/2010/main" val="278723905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784819658"/>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EntVisitor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int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EntVisitor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cout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&lt;&lt;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e.get_name</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&lt;&lt;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endl</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return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e.process_pointers</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41928813"/>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PtrVisitor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int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PtrVisitor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Container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p.to_pointer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if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nullptr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ev.visit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85958931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Ext4IO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io</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Ext4 fs(</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io</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Container * sup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fs.fetch_super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if (sup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nullptr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ev.visit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65892807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p:txBody>
          <a:bodyPr/>
          <a:lstStyle/>
          <a:p>
            <a:r>
              <a:rPr lang="en-CA" dirty="0" smtClean="0"/>
              <a:t>Provides API to filter out fields and structures</a:t>
            </a:r>
          </a:p>
          <a:p>
            <a:pPr lvl="1"/>
            <a:r>
              <a:rPr lang="en-CA" dirty="0" smtClean="0"/>
              <a:t>Helps reduce and declutter the output</a:t>
            </a:r>
          </a:p>
          <a:p>
            <a:pPr lvl="1"/>
            <a:r>
              <a:rPr lang="en-CA" dirty="0" smtClean="0"/>
              <a:t>E.g. Ext4 dump tool does not export unallocated </a:t>
            </a:r>
            <a:r>
              <a:rPr lang="en-CA" dirty="0" err="1" smtClean="0"/>
              <a:t>inode</a:t>
            </a:r>
            <a:endParaRPr lang="en-CA" dirty="0" smtClean="0"/>
          </a:p>
          <a:p>
            <a:r>
              <a:rPr lang="en-CA" dirty="0"/>
              <a:t>Works for all annotated file systems</a:t>
            </a:r>
          </a:p>
          <a:p>
            <a:pPr lvl="1"/>
            <a:r>
              <a:rPr lang="en-CA" sz="2000" dirty="0"/>
              <a:t>Generic Application Code: </a:t>
            </a:r>
            <a:r>
              <a:rPr lang="en-CA" sz="2000" dirty="0" smtClean="0"/>
              <a:t>482 </a:t>
            </a:r>
            <a:r>
              <a:rPr lang="en-CA" sz="2000" dirty="0"/>
              <a:t>LOC</a:t>
            </a:r>
          </a:p>
          <a:p>
            <a:pPr lvl="1"/>
            <a:r>
              <a:rPr lang="en-CA" sz="2000" dirty="0"/>
              <a:t>File-System Specific Code: </a:t>
            </a:r>
            <a:r>
              <a:rPr lang="en-CA" sz="2000" dirty="0" smtClean="0"/>
              <a:t>30 to 60 </a:t>
            </a:r>
            <a:r>
              <a:rPr lang="en-CA" sz="2000" dirty="0"/>
              <a:t>LOC </a:t>
            </a:r>
            <a:r>
              <a:rPr lang="en-CA" sz="2000" dirty="0" smtClean="0"/>
              <a:t>each</a:t>
            </a:r>
            <a:endParaRPr lang="en-CA" sz="2000" dirty="0"/>
          </a:p>
        </p:txBody>
      </p:sp>
    </p:spTree>
    <p:extLst>
      <p:ext uri="{BB962C8B-B14F-4D97-AF65-F5344CB8AC3E}">
        <p14:creationId xmlns:p14="http://schemas.microsoft.com/office/powerpoint/2010/main" val="253106129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dirty="0" smtClean="0"/>
              <a:t>Helps test robustness of file systems and their tools</a:t>
            </a:r>
          </a:p>
          <a:p>
            <a:r>
              <a:rPr lang="en-CA" dirty="0" smtClean="0"/>
              <a:t>Finds and corrupts a field in a specified structure</a:t>
            </a:r>
          </a:p>
          <a:p>
            <a:pPr lvl="1"/>
            <a:r>
              <a:rPr lang="en-CA" sz="2000" dirty="0" smtClean="0"/>
              <a:t>Generic Application Code: 455 LOC</a:t>
            </a:r>
          </a:p>
          <a:p>
            <a:pPr lvl="1"/>
            <a:r>
              <a:rPr lang="en-CA" sz="2000" dirty="0" smtClean="0"/>
              <a:t>File-System Specific Code: &lt; 30 LOC each</a:t>
            </a:r>
          </a:p>
          <a:p>
            <a:r>
              <a:rPr lang="en-CA" dirty="0" smtClean="0"/>
              <a:t>Corruption Experiment</a:t>
            </a:r>
          </a:p>
          <a:p>
            <a:pPr lvl="1"/>
            <a:r>
              <a:rPr lang="en-CA" sz="2000" dirty="0" smtClean="0"/>
              <a:t>Ran existing tools on corrupt file system image</a:t>
            </a:r>
          </a:p>
          <a:p>
            <a:pPr lvl="1"/>
            <a:r>
              <a:rPr lang="en-CA" sz="2000" dirty="0" smtClean="0"/>
              <a:t>Discovered 1 crash bug in dumpe2fs (Ext4)</a:t>
            </a:r>
          </a:p>
          <a:p>
            <a:pPr lvl="1"/>
            <a:r>
              <a:rPr lang="en-CA" sz="2000" dirty="0" smtClean="0"/>
              <a:t>Discovered 5 crash bugs in dump.f2fs (F2FS)</a:t>
            </a:r>
          </a:p>
          <a:p>
            <a:pPr lvl="1"/>
            <a:r>
              <a:rPr lang="en-CA" sz="2000" dirty="0" smtClean="0"/>
              <a:t>None in our Spiffy dump tool on Ext4, </a:t>
            </a:r>
            <a:r>
              <a:rPr lang="en-CA" sz="2000" dirty="0" err="1" smtClean="0"/>
              <a:t>Btrfs</a:t>
            </a:r>
            <a:r>
              <a:rPr lang="en-CA" sz="2000" dirty="0" smtClean="0"/>
              <a:t> and F2FS</a:t>
            </a:r>
            <a:endParaRPr lang="en-CA" sz="2000" dirty="0"/>
          </a:p>
        </p:txBody>
      </p:sp>
    </p:spTree>
    <p:extLst>
      <p:ext uri="{BB962C8B-B14F-4D97-AF65-F5344CB8AC3E}">
        <p14:creationId xmlns:p14="http://schemas.microsoft.com/office/powerpoint/2010/main" val="2226504925"/>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from one file system to another</a:t>
            </a:r>
          </a:p>
          <a:p>
            <a:pPr lvl="1"/>
            <a:r>
              <a:rPr lang="en-CA" dirty="0" smtClean="0"/>
              <a:t>In-place conversion, no secondary device needed</a:t>
            </a:r>
          </a:p>
          <a:p>
            <a:pPr lvl="1"/>
            <a:r>
              <a:rPr lang="en-CA" dirty="0" smtClean="0"/>
              <a:t>Minimizes copying data blocks</a:t>
            </a:r>
          </a:p>
          <a:p>
            <a:r>
              <a:rPr lang="en-CA" dirty="0" smtClean="0"/>
              <a:t>Currently, converts from Ext4 to F2FS</a:t>
            </a:r>
          </a:p>
          <a:p>
            <a:pPr lvl="1"/>
            <a:r>
              <a:rPr lang="en-CA" dirty="0" smtClean="0"/>
              <a:t>Generic application code: 504 LOC</a:t>
            </a:r>
          </a:p>
          <a:p>
            <a:pPr lvl="1"/>
            <a:r>
              <a:rPr lang="en-CA" dirty="0" smtClean="0"/>
              <a:t>Ext4 specific code (source file system): 218 LOC</a:t>
            </a:r>
          </a:p>
          <a:p>
            <a:pPr lvl="1"/>
            <a:r>
              <a:rPr lang="en-CA" dirty="0" smtClean="0"/>
              <a:t>F2FS specific code (destination file system): 1760 LOC</a:t>
            </a:r>
          </a:p>
          <a:p>
            <a:pPr lvl="1"/>
            <a:endParaRPr lang="en-CA" dirty="0" smtClean="0"/>
          </a:p>
          <a:p>
            <a:endParaRPr lang="en-CA" dirty="0" smtClean="0"/>
          </a:p>
        </p:txBody>
      </p:sp>
    </p:spTree>
    <p:extLst>
      <p:ext uri="{BB962C8B-B14F-4D97-AF65-F5344CB8AC3E}">
        <p14:creationId xmlns:p14="http://schemas.microsoft.com/office/powerpoint/2010/main" val="3154621409"/>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Spiffy </a:t>
            </a:r>
            <a:r>
              <a:rPr lang="en-CA" dirty="0"/>
              <a:t>converter versus copy-based </a:t>
            </a:r>
            <a:r>
              <a:rPr lang="en-CA" dirty="0" smtClean="0"/>
              <a:t>converter</a:t>
            </a:r>
          </a:p>
          <a:p>
            <a:pPr lvl="1"/>
            <a:r>
              <a:rPr lang="en-CA" sz="2000"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pPr marL="0" indent="0">
              <a:buNone/>
            </a:pPr>
            <a:endParaRPr lang="en-CA" dirty="0" smtClean="0"/>
          </a:p>
          <a:p>
            <a:r>
              <a:rPr lang="en-CA" dirty="0" smtClean="0"/>
              <a:t>Copy converter 30~50 times slower</a:t>
            </a:r>
          </a:p>
        </p:txBody>
      </p:sp>
      <p:graphicFrame>
        <p:nvGraphicFramePr>
          <p:cNvPr id="7" name="Chart 6"/>
          <p:cNvGraphicFramePr>
            <a:graphicFrameLocks/>
          </p:cNvGraphicFramePr>
          <p:nvPr>
            <p:extLst>
              <p:ext uri="{D42A27DB-BD31-4B8C-83A1-F6EECF244321}">
                <p14:modId xmlns:p14="http://schemas.microsoft.com/office/powerpoint/2010/main" val="4066293275"/>
              </p:ext>
            </p:extLst>
          </p:nvPr>
        </p:nvGraphicFramePr>
        <p:xfrm>
          <a:off x="990600" y="2114550"/>
          <a:ext cx="6629400" cy="186928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3690802"/>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pPr marL="342900" lvl="1" indent="-342900">
              <a:buClr>
                <a:srgbClr val="52237F"/>
              </a:buClr>
            </a:pPr>
            <a:r>
              <a:rPr lang="en-CA" sz="1800" dirty="0"/>
              <a:t>Supports </a:t>
            </a:r>
            <a:r>
              <a:rPr lang="en-CA" sz="1800" dirty="0" smtClean="0"/>
              <a:t>block caching </a:t>
            </a:r>
            <a:r>
              <a:rPr lang="en-CA" sz="1800" dirty="0"/>
              <a:t>policies that use file-system specific information</a:t>
            </a:r>
          </a:p>
          <a:p>
            <a:pPr lvl="1"/>
            <a:r>
              <a:rPr lang="en-CA" sz="1600" dirty="0" smtClean="0"/>
              <a:t>Implemented at the block layer</a:t>
            </a:r>
          </a:p>
          <a:p>
            <a:pPr lvl="1"/>
            <a:r>
              <a:rPr lang="en-CA" sz="1600" dirty="0" smtClean="0"/>
              <a:t>Requires </a:t>
            </a:r>
            <a:r>
              <a:rPr lang="en-CA" sz="1600" dirty="0"/>
              <a:t>no changes to the file system</a:t>
            </a:r>
            <a:r>
              <a:rPr lang="en-CA" sz="1600" dirty="0" smtClean="0"/>
              <a:t>!</a:t>
            </a:r>
          </a:p>
          <a:p>
            <a:r>
              <a:rPr lang="en-CA" sz="1800" dirty="0"/>
              <a:t>Identifies and interprets blocks as they are read or written</a:t>
            </a:r>
          </a:p>
          <a:p>
            <a:pPr lvl="1"/>
            <a:r>
              <a:rPr lang="en-CA" sz="1600" dirty="0"/>
              <a:t>Identifies the types of blocks</a:t>
            </a:r>
          </a:p>
          <a:p>
            <a:pPr lvl="1"/>
            <a:r>
              <a:rPr lang="en-CA" sz="1600" dirty="0"/>
              <a:t>Interprets their contents to extract file-system specific </a:t>
            </a:r>
            <a:r>
              <a:rPr lang="en-CA" sz="1600" dirty="0" smtClean="0"/>
              <a:t>information</a:t>
            </a:r>
            <a:endParaRPr lang="en-CA" sz="1600" dirty="0"/>
          </a:p>
          <a:p>
            <a:r>
              <a:rPr lang="en-CA" sz="1800" dirty="0" smtClean="0"/>
              <a:t>Block caching policies</a:t>
            </a:r>
          </a:p>
          <a:p>
            <a:pPr lvl="1"/>
            <a:r>
              <a:rPr lang="en-CA" sz="1600" dirty="0" smtClean="0"/>
              <a:t>Cache file system metadata</a:t>
            </a:r>
          </a:p>
          <a:p>
            <a:pPr lvl="2"/>
            <a:r>
              <a:rPr lang="en-CA" sz="1600" dirty="0" smtClean="0"/>
              <a:t>When a block is accessed, Spiffy helps determine whether block is data/metadata</a:t>
            </a:r>
          </a:p>
          <a:p>
            <a:pPr lvl="1"/>
            <a:r>
              <a:rPr lang="en-CA" sz="1600" dirty="0" smtClean="0"/>
              <a:t>Cache small files, cache a specific user’s files</a:t>
            </a:r>
          </a:p>
          <a:p>
            <a:pPr lvl="2"/>
            <a:r>
              <a:rPr lang="en-CA" sz="1600" dirty="0" smtClean="0"/>
              <a:t>When a block is accessed, Spiffy helps determine the file to which block belongs</a:t>
            </a:r>
          </a:p>
          <a:p>
            <a:pPr lvl="2"/>
            <a:endParaRPr lang="en-CA" sz="1600" dirty="0" smtClean="0"/>
          </a:p>
          <a:p>
            <a:endParaRPr lang="en-CA" sz="1800" dirty="0"/>
          </a:p>
        </p:txBody>
      </p:sp>
    </p:spTree>
    <p:extLst>
      <p:ext uri="{BB962C8B-B14F-4D97-AF65-F5344CB8AC3E}">
        <p14:creationId xmlns:p14="http://schemas.microsoft.com/office/powerpoint/2010/main" val="4288545290"/>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Runtime File System Checker</a:t>
            </a:r>
            <a:endParaRPr lang="en-CA" dirty="0"/>
          </a:p>
        </p:txBody>
      </p:sp>
      <p:sp>
        <p:nvSpPr>
          <p:cNvPr id="3" name="Content Placeholder 2"/>
          <p:cNvSpPr>
            <a:spLocks noGrp="1"/>
          </p:cNvSpPr>
          <p:nvPr>
            <p:ph idx="1"/>
          </p:nvPr>
        </p:nvSpPr>
        <p:spPr/>
        <p:txBody>
          <a:bodyPr/>
          <a:lstStyle/>
          <a:p>
            <a:r>
              <a:rPr lang="en-CA" dirty="0" smtClean="0"/>
              <a:t>Checks whether file system writes would cause file system inconsistency on disk</a:t>
            </a:r>
          </a:p>
          <a:p>
            <a:pPr lvl="1"/>
            <a:r>
              <a:rPr lang="en-CA" sz="2000" dirty="0"/>
              <a:t>Identifies and interprets blocks as they are read or written</a:t>
            </a:r>
          </a:p>
          <a:p>
            <a:pPr lvl="1"/>
            <a:r>
              <a:rPr lang="en-CA" sz="2000" dirty="0"/>
              <a:t>At commit time, </a:t>
            </a:r>
            <a:r>
              <a:rPr lang="en-CA" sz="2000" dirty="0" smtClean="0"/>
              <a:t>compares </a:t>
            </a:r>
            <a:r>
              <a:rPr lang="en-CA" sz="2000" dirty="0"/>
              <a:t>old and new versions </a:t>
            </a:r>
            <a:r>
              <a:rPr lang="en-CA" sz="2000" dirty="0" smtClean="0"/>
              <a:t>of modified blocks</a:t>
            </a:r>
            <a:endParaRPr lang="en-CA" sz="2000" dirty="0"/>
          </a:p>
          <a:p>
            <a:pPr lvl="1"/>
            <a:r>
              <a:rPr lang="en-CA" sz="2000" dirty="0" smtClean="0"/>
              <a:t>Generates </a:t>
            </a:r>
            <a:r>
              <a:rPr lang="en-CA" sz="2000" dirty="0"/>
              <a:t>logical changes to </a:t>
            </a:r>
            <a:r>
              <a:rPr lang="en-CA" sz="2000" dirty="0" smtClean="0"/>
              <a:t>file system metadata</a:t>
            </a:r>
          </a:p>
          <a:p>
            <a:pPr lvl="1"/>
            <a:r>
              <a:rPr lang="en-CA" sz="2000" dirty="0" smtClean="0"/>
              <a:t>Checks </a:t>
            </a:r>
            <a:r>
              <a:rPr lang="en-CA" sz="2000" dirty="0"/>
              <a:t>changes against file-system specific consistency </a:t>
            </a:r>
            <a:r>
              <a:rPr lang="en-CA" sz="2000" dirty="0" smtClean="0"/>
              <a:t>rules</a:t>
            </a:r>
          </a:p>
          <a:p>
            <a:r>
              <a:rPr lang="en-CA" sz="2200" dirty="0" smtClean="0"/>
              <a:t>Evaluation</a:t>
            </a:r>
            <a:endParaRPr lang="en-CA" sz="2200" dirty="0"/>
          </a:p>
          <a:p>
            <a:pPr lvl="1"/>
            <a:r>
              <a:rPr lang="en-CA" sz="2000" dirty="0" smtClean="0"/>
              <a:t>Ext4 manual differencing: 2099 lines of code</a:t>
            </a:r>
          </a:p>
          <a:p>
            <a:pPr lvl="1"/>
            <a:r>
              <a:rPr lang="en-CA" sz="2000" dirty="0" smtClean="0"/>
              <a:t>Ext4 Spiffy differencing: 1059 lines of code</a:t>
            </a:r>
          </a:p>
          <a:p>
            <a:pPr lvl="2"/>
            <a:endParaRPr lang="en-CA" dirty="0"/>
          </a:p>
          <a:p>
            <a:endParaRPr lang="en-CA" dirty="0" smtClean="0"/>
          </a:p>
          <a:p>
            <a:endParaRPr lang="en-CA" dirty="0" smtClean="0"/>
          </a:p>
          <a:p>
            <a:endParaRPr lang="en-CA" dirty="0" smtClean="0"/>
          </a:p>
          <a:p>
            <a:endParaRPr lang="en-CA" dirty="0"/>
          </a:p>
        </p:txBody>
      </p:sp>
    </p:spTree>
    <p:extLst>
      <p:ext uri="{BB962C8B-B14F-4D97-AF65-F5344CB8AC3E}">
        <p14:creationId xmlns:p14="http://schemas.microsoft.com/office/powerpoint/2010/main" val="3617745342"/>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Demo of Spiffy Applications</a:t>
            </a:r>
            <a:endParaRPr lang="en-CA" dirty="0"/>
          </a:p>
        </p:txBody>
      </p:sp>
      <p:sp>
        <p:nvSpPr>
          <p:cNvPr id="3" name="Content Placeholder 2"/>
          <p:cNvSpPr>
            <a:spLocks noGrp="1"/>
          </p:cNvSpPr>
          <p:nvPr>
            <p:ph idx="1"/>
          </p:nvPr>
        </p:nvSpPr>
        <p:spPr/>
        <p:txBody>
          <a:bodyPr/>
          <a:lstStyle/>
          <a:p>
            <a:r>
              <a:rPr lang="en-CA" dirty="0"/>
              <a:t>Type-Specific File System Corruptor</a:t>
            </a:r>
          </a:p>
          <a:p>
            <a:r>
              <a:rPr lang="en-CA" dirty="0" smtClean="0"/>
              <a:t>File System Dump Tool</a:t>
            </a:r>
          </a:p>
          <a:p>
            <a:r>
              <a:rPr lang="en-CA" dirty="0" smtClean="0"/>
              <a:t>And more … (time permitting)</a:t>
            </a:r>
            <a:endParaRPr lang="en-CA" dirty="0"/>
          </a:p>
          <a:p>
            <a:endParaRPr lang="en-CA" dirty="0"/>
          </a:p>
        </p:txBody>
      </p:sp>
    </p:spTree>
    <p:extLst>
      <p:ext uri="{BB962C8B-B14F-4D97-AF65-F5344CB8AC3E}">
        <p14:creationId xmlns:p14="http://schemas.microsoft.com/office/powerpoint/2010/main" val="3013020355"/>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sz="2000" dirty="0" smtClean="0"/>
              <a:t>Annotation language for specifying file system format</a:t>
            </a:r>
          </a:p>
          <a:p>
            <a:pPr lvl="1"/>
            <a:r>
              <a:rPr lang="en-CA" sz="2000" dirty="0" smtClean="0"/>
              <a:t>Enables generating a library for traversing file system metadata</a:t>
            </a:r>
          </a:p>
          <a:p>
            <a:r>
              <a:rPr lang="en-CA" dirty="0" smtClean="0"/>
              <a:t>Simplifies development of file-system aware applications</a:t>
            </a:r>
          </a:p>
          <a:p>
            <a:pPr lvl="1"/>
            <a:r>
              <a:rPr lang="en-CA" sz="2000" dirty="0" smtClean="0"/>
              <a:t>Reduces file-system specific code</a:t>
            </a:r>
          </a:p>
          <a:p>
            <a:pPr lvl="1"/>
            <a:r>
              <a:rPr lang="en-CA" sz="2000" dirty="0" smtClean="0"/>
              <a:t>Enables code reuse across file systems</a:t>
            </a:r>
          </a:p>
          <a:p>
            <a:r>
              <a:rPr lang="en-CA" dirty="0" smtClean="0"/>
              <a:t>Enables writing robust applications</a:t>
            </a:r>
          </a:p>
          <a:p>
            <a:pPr lvl="1"/>
            <a:r>
              <a:rPr lang="en-CA" sz="2000" dirty="0" smtClean="0"/>
              <a:t>Provides type-safe parsing and serialization of metadata</a:t>
            </a:r>
          </a:p>
          <a:p>
            <a:pPr lvl="1"/>
            <a:r>
              <a:rPr lang="en-CA" sz="2000" dirty="0" smtClean="0"/>
              <a:t>Helps detect file system corruption</a:t>
            </a:r>
          </a:p>
          <a:p>
            <a:endParaRPr lang="en-CA" dirty="0"/>
          </a:p>
        </p:txBody>
      </p:sp>
    </p:spTree>
    <p:extLst>
      <p:ext uri="{BB962C8B-B14F-4D97-AF65-F5344CB8AC3E}">
        <p14:creationId xmlns:p14="http://schemas.microsoft.com/office/powerpoint/2010/main" val="203075295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Find Out More</a:t>
            </a:r>
            <a:endParaRPr lang="en-CA" dirty="0"/>
          </a:p>
        </p:txBody>
      </p:sp>
      <p:sp>
        <p:nvSpPr>
          <p:cNvPr id="3" name="Content Placeholder 2"/>
          <p:cNvSpPr>
            <a:spLocks noGrp="1"/>
          </p:cNvSpPr>
          <p:nvPr>
            <p:ph idx="1"/>
          </p:nvPr>
        </p:nvSpPr>
        <p:spPr/>
        <p:txBody>
          <a:bodyPr/>
          <a:lstStyle/>
          <a:p>
            <a:r>
              <a:rPr lang="en-CA" dirty="0" smtClean="0"/>
              <a:t>FAST 2018 Paper</a:t>
            </a:r>
          </a:p>
          <a:p>
            <a:pPr lvl="1"/>
            <a:r>
              <a:rPr lang="en-CA" sz="2000" dirty="0">
                <a:hlinkClick r:id="rId2"/>
              </a:rPr>
              <a:t>https://</a:t>
            </a:r>
            <a:r>
              <a:rPr lang="en-CA" sz="2000" dirty="0" smtClean="0">
                <a:hlinkClick r:id="rId2"/>
              </a:rPr>
              <a:t>www.usenix.org/system/files/conference/fast18/fast18-sun.pdf</a:t>
            </a:r>
            <a:endParaRPr lang="en-CA" dirty="0" smtClean="0"/>
          </a:p>
          <a:p>
            <a:r>
              <a:rPr lang="en-CA" dirty="0" smtClean="0"/>
              <a:t>GitHub repository</a:t>
            </a:r>
          </a:p>
          <a:p>
            <a:pPr lvl="1"/>
            <a:r>
              <a:rPr lang="en-CA" sz="2000" dirty="0">
                <a:hlinkClick r:id="rId3"/>
              </a:rPr>
              <a:t>https://</a:t>
            </a:r>
            <a:r>
              <a:rPr lang="en-CA" sz="2000" dirty="0" smtClean="0">
                <a:hlinkClick r:id="rId3"/>
              </a:rPr>
              <a:t>github.com/jacksun007/spiffy</a:t>
            </a:r>
            <a:endParaRPr lang="en-CA" sz="2000" dirty="0" smtClean="0"/>
          </a:p>
          <a:p>
            <a:pPr lvl="1"/>
            <a:endParaRPr lang="en-CA" dirty="0" smtClean="0"/>
          </a:p>
          <a:p>
            <a:pPr lvl="1"/>
            <a:endParaRPr lang="en-CA" dirty="0"/>
          </a:p>
        </p:txBody>
      </p:sp>
    </p:spTree>
    <p:extLst>
      <p:ext uri="{BB962C8B-B14F-4D97-AF65-F5344CB8AC3E}">
        <p14:creationId xmlns:p14="http://schemas.microsoft.com/office/powerpoint/2010/main" val="18821605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extLst>
      <p:ext uri="{BB962C8B-B14F-4D97-AF65-F5344CB8AC3E}">
        <p14:creationId xmlns:p14="http://schemas.microsoft.com/office/powerpoint/2010/main" val="13164078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266265495"/>
              </p:ext>
            </p:extLst>
          </p:nvPr>
        </p:nvGraphicFramePr>
        <p:xfrm>
          <a:off x="152400" y="880110"/>
          <a:ext cx="8839201" cy="3291840"/>
        </p:xfrm>
        <a:graphic>
          <a:graphicData uri="http://schemas.openxmlformats.org/drawingml/2006/table">
            <a:tbl>
              <a:tblPr firstRow="1" bandRow="1">
                <a:tableStyleId>{5C22544A-7EE6-4342-B048-85BDC9FD1C3A}</a:tableStyleId>
              </a:tblPr>
              <a:tblGrid>
                <a:gridCol w="1365648">
                  <a:extLst>
                    <a:ext uri="{9D8B030D-6E8A-4147-A177-3AD203B41FA5}">
                      <a16:colId xmlns:a16="http://schemas.microsoft.com/office/drawing/2014/main" xmlns="" val="20000"/>
                    </a:ext>
                  </a:extLst>
                </a:gridCol>
                <a:gridCol w="3950968">
                  <a:extLst>
                    <a:ext uri="{9D8B030D-6E8A-4147-A177-3AD203B41FA5}">
                      <a16:colId xmlns:a16="http://schemas.microsoft.com/office/drawing/2014/main" xmlns="" val="20001"/>
                    </a:ext>
                  </a:extLst>
                </a:gridCol>
                <a:gridCol w="3522585">
                  <a:extLst>
                    <a:ext uri="{9D8B030D-6E8A-4147-A177-3AD203B41FA5}">
                      <a16:colId xmlns:a16="http://schemas.microsoft.com/office/drawing/2014/main" xmlns="" val="20002"/>
                    </a:ext>
                  </a:extLst>
                </a:gridCol>
              </a:tblGrid>
              <a:tr h="265220">
                <a:tc>
                  <a:txBody>
                    <a:bodyPr/>
                    <a:lstStyle/>
                    <a:p>
                      <a:r>
                        <a:rPr lang="en-CA" sz="1400" dirty="0" smtClean="0"/>
                        <a:t>Base Class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Member Functions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Description</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xmlns="" val="10000"/>
                  </a:ext>
                </a:extLst>
              </a:tr>
              <a:tr h="265220">
                <a:tc gridSpan="3">
                  <a:txBody>
                    <a:bodyPr/>
                    <a:lstStyle/>
                    <a:p>
                      <a:r>
                        <a:rPr lang="en-CA" sz="1400" dirty="0" smtClean="0">
                          <a:latin typeface="+mn-lt"/>
                          <a:cs typeface="Courier New" panose="02070309020205020404" pitchFamily="49" charset="0"/>
                        </a:rPr>
                        <a:t>Spiffy File System Library</a:t>
                      </a:r>
                      <a:endParaRPr lang="en-CA" sz="1400" dirty="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xmlns="" val="10001"/>
                  </a:ext>
                </a:extLst>
              </a:tr>
              <a:tr h="236547">
                <a:tc rowSpan="4">
                  <a:txBody>
                    <a:bodyPr/>
                    <a:lstStyle/>
                    <a:p>
                      <a:r>
                        <a:rPr lang="en-CA" sz="1200" dirty="0" smtClean="0">
                          <a:latin typeface="Courier New" panose="02070309020205020404" pitchFamily="49" charset="0"/>
                          <a:cs typeface="Courier New" panose="02070309020205020404" pitchFamily="49" charset="0"/>
                        </a:rPr>
                        <a:t>Entity</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process_fields</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fields of this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2"/>
                  </a:ext>
                </a:extLst>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process_pointer</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pointers of this object</a:t>
                      </a:r>
                      <a:endParaRPr lang="en-CA" sz="1200" dirty="0" smtClean="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3"/>
                  </a:ext>
                </a:extLst>
              </a:tr>
              <a:tr h="408582">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process_by_type</a:t>
                      </a:r>
                      <a:r>
                        <a:rPr lang="en-CA" sz="1200" dirty="0" smtClean="0">
                          <a:latin typeface="Courier New" panose="02070309020205020404" pitchFamily="49" charset="0"/>
                          <a:cs typeface="Courier New" panose="02070309020205020404" pitchFamily="49" charset="0"/>
                        </a:rPr>
                        <a:t>(</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                    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structures of type </a:t>
                      </a:r>
                      <a:r>
                        <a:rPr lang="en-CA" sz="1200" b="0" i="1" u="none" strike="noStrike" kern="1200" baseline="0" dirty="0" smtClean="0">
                          <a:solidFill>
                            <a:schemeClr val="dk1"/>
                          </a:solidFill>
                          <a:latin typeface="+mn-lt"/>
                          <a:ea typeface="+mn-ea"/>
                          <a:cs typeface="+mn-cs"/>
                        </a:rPr>
                        <a:t>t </a:t>
                      </a:r>
                      <a:r>
                        <a:rPr lang="en-CA" sz="1200" b="0" i="0" u="none" strike="noStrike" kern="1200" baseline="0" dirty="0" smtClean="0">
                          <a:solidFill>
                            <a:schemeClr val="dk1"/>
                          </a:solidFill>
                          <a:latin typeface="+mn-lt"/>
                          <a:ea typeface="+mn-ea"/>
                          <a:cs typeface="+mn-cs"/>
                        </a:rPr>
                        <a:t>that is reachable from this object</a:t>
                      </a:r>
                      <a:endParaRPr lang="en-CA" sz="1200" i="1" dirty="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4"/>
                  </a:ext>
                </a:extLst>
              </a:tr>
              <a:tr h="236547">
                <a:tc vMerge="1">
                  <a:txBody>
                    <a:bodyPr/>
                    <a:lstStyle/>
                    <a:p>
                      <a:endParaRPr lang="en-CA"/>
                    </a:p>
                  </a:txBody>
                  <a:tcPr/>
                </a:tc>
                <a:tc>
                  <a:txBody>
                    <a:bodyPr/>
                    <a:lstStyle/>
                    <a:p>
                      <a:r>
                        <a:rPr lang="en-CA" sz="1200" dirty="0" err="1" smtClean="0">
                          <a:latin typeface="Courier New" panose="02070309020205020404" pitchFamily="49" charset="0"/>
                          <a:cs typeface="Courier New" panose="02070309020205020404" pitchFamily="49" charset="0"/>
                        </a:rPr>
                        <a:t>get_name</a:t>
                      </a:r>
                      <a:r>
                        <a:rPr lang="en-CA" sz="1200" dirty="0" smtClean="0">
                          <a:latin typeface="Courier New" panose="02070309020205020404" pitchFamily="49" charset="0"/>
                          <a:cs typeface="Courier New" panose="02070309020205020404" pitchFamily="49" charset="0"/>
                        </a:rPr>
                        <a:t>(),</a:t>
                      </a:r>
                      <a:r>
                        <a:rPr lang="en-CA" sz="1200" baseline="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get_size</a:t>
                      </a:r>
                      <a:r>
                        <a:rPr lang="en-CA" sz="1200" dirty="0" smtClean="0">
                          <a:latin typeface="Courier New" panose="02070309020205020404" pitchFamily="49" charset="0"/>
                          <a:cs typeface="Courier New" panose="02070309020205020404" pitchFamily="49" charset="0"/>
                        </a:rPr>
                        <a:t>(), etc.</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t>allows for type introspection </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5"/>
                  </a:ext>
                </a:extLst>
              </a:tr>
              <a:tr h="236547">
                <a:tc>
                  <a:txBody>
                    <a:bodyPr/>
                    <a:lstStyle/>
                    <a:p>
                      <a:r>
                        <a:rPr lang="en-CA" sz="1200" dirty="0" smtClean="0">
                          <a:latin typeface="Courier New" panose="02070309020205020404" pitchFamily="49" charset="0"/>
                          <a:cs typeface="Courier New" panose="02070309020205020404" pitchFamily="49" charset="0"/>
                        </a:rPr>
                        <a:t>Container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save()</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serializes and persists the container</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6"/>
                  </a:ext>
                </a:extLst>
              </a:tr>
              <a:tr h="236547">
                <a:tc>
                  <a:txBody>
                    <a:bodyPr/>
                    <a:lstStyle/>
                    <a:p>
                      <a:r>
                        <a:rPr lang="en-CA" sz="1200" dirty="0" smtClean="0">
                          <a:latin typeface="Courier New" panose="02070309020205020404" pitchFamily="49" charset="0"/>
                          <a:cs typeface="Courier New" panose="02070309020205020404" pitchFamily="49" charset="0"/>
                        </a:rPr>
                        <a:t>Pointer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latin typeface="Courier New" panose="02070309020205020404" pitchFamily="49" charset="0"/>
                          <a:cs typeface="Courier New" panose="02070309020205020404" pitchFamily="49" charset="0"/>
                        </a:rPr>
                        <a:t>Container</a:t>
                      </a:r>
                      <a:r>
                        <a:rPr lang="en-CA" sz="1200" baseline="0" dirty="0" smtClean="0">
                          <a:latin typeface="Courier New" panose="02070309020205020404" pitchFamily="49" charset="0"/>
                          <a:cs typeface="Courier New" panose="02070309020205020404" pitchFamily="49" charset="0"/>
                        </a:rPr>
                        <a:t> * fetch()</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retrieves pointed-to container from disk</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7"/>
                  </a:ext>
                </a:extLst>
              </a:tr>
              <a:tr h="236547">
                <a:tc rowSpan="2">
                  <a:txBody>
                    <a:bodyPr/>
                    <a:lstStyle/>
                    <a:p>
                      <a:r>
                        <a:rPr lang="en-CA" sz="1200" dirty="0" err="1" smtClean="0">
                          <a:latin typeface="Courier New" panose="02070309020205020404" pitchFamily="49" charset="0"/>
                          <a:cs typeface="Courier New" panose="02070309020205020404" pitchFamily="49" charset="0"/>
                        </a:rPr>
                        <a:t>FileSystem</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2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instantiates a new file system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8"/>
                  </a:ext>
                </a:extLst>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Container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retrieves the super block from disk</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09"/>
                  </a:ext>
                </a:extLst>
              </a:tr>
              <a:tr h="265220">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400" dirty="0" smtClean="0">
                          <a:latin typeface="+mn-lt"/>
                          <a:cs typeface="Courier New" panose="02070309020205020404" pitchFamily="49" charset="0"/>
                        </a:rPr>
                        <a:t>Application Developer</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xmlns="" val="10010"/>
                  </a:ext>
                </a:extLst>
              </a:tr>
              <a:tr h="236547">
                <a:tc>
                  <a:txBody>
                    <a:bodyPr/>
                    <a:lstStyle/>
                    <a:p>
                      <a:r>
                        <a:rPr lang="en-CA" sz="1200" dirty="0" smtClean="0">
                          <a:latin typeface="Courier New" panose="02070309020205020404" pitchFamily="49" charset="0"/>
                          <a:cs typeface="Courier New" panose="02070309020205020404" pitchFamily="49" charset="0"/>
                        </a:rPr>
                        <a:t>Visitor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virtual </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visit(Entity</a:t>
                      </a:r>
                      <a:r>
                        <a:rPr lang="en-CA" sz="1200" baseline="0" dirty="0" smtClean="0">
                          <a:latin typeface="Courier New" panose="02070309020205020404" pitchFamily="49" charset="0"/>
                          <a:cs typeface="Courier New" panose="02070309020205020404" pitchFamily="49" charset="0"/>
                        </a:rPr>
                        <a:t> &amp; e)=0;</a:t>
                      </a:r>
                      <a:endParaRPr lang="en-CA" sz="1200" dirty="0" smtClean="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visits an entity and possibly processes it</a:t>
                      </a:r>
                      <a:endParaRPr lang="en-CA" sz="1200" dirty="0" smtClean="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xmlns="" val="10011"/>
                  </a:ext>
                </a:extLst>
              </a:tr>
            </a:tbl>
          </a:graphicData>
        </a:graphic>
      </p:graphicFrame>
    </p:spTree>
    <p:extLst>
      <p:ext uri="{BB962C8B-B14F-4D97-AF65-F5344CB8AC3E}">
        <p14:creationId xmlns:p14="http://schemas.microsoft.com/office/powerpoint/2010/main" val="2483267285"/>
      </p:ext>
    </p:extLst>
  </p:cSld>
  <p:clrMapOvr>
    <a:masterClrMapping/>
  </p:clrMapOvr>
  <p:timing>
    <p:tnLst>
      <p:par>
        <p:cTn id="1" dur="indefinite" restart="never" nodeType="tmRoot"/>
      </p:par>
    </p:tnLst>
  </p:timing>
</p:sld>
</file>

<file path=ppt/theme/theme1.xml><?xml version="1.0" encoding="utf-8"?>
<a:theme xmlns:a="http://schemas.openxmlformats.org/drawingml/2006/main" name="SDC2015_ppt_template">
  <a:themeElements>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DC_Slides_08_Template_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DC_Slides_08_Template_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DC_Slides_08_Template_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DC_Slides_08_Template_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DC_Slides_08_Template_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DC_Slides_08_Template_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DC_Slides_08_Template_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DC_Slides_08_Template_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DC_Slides_08_Template_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DC_Slides_08_Template_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DC_Slides_08_Template_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SDC2015_ppt_template</Template>
  <TotalTime>13672</TotalTime>
  <Words>8193</Words>
  <Application>Microsoft Office PowerPoint</Application>
  <PresentationFormat>On-screen Show (16:9)</PresentationFormat>
  <Paragraphs>1001</Paragraphs>
  <Slides>62</Slides>
  <Notes>60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62</vt:i4>
      </vt:variant>
    </vt:vector>
  </HeadingPairs>
  <TitlesOfParts>
    <vt:vector size="71" baseType="lpstr">
      <vt:lpstr>Gill Sans MT</vt:lpstr>
      <vt:lpstr>微軟正黑體</vt:lpstr>
      <vt:lpstr>新細明體</vt:lpstr>
      <vt:lpstr>Arial</vt:lpstr>
      <vt:lpstr>Calibri</vt:lpstr>
      <vt:lpstr>Courier New</vt:lpstr>
      <vt:lpstr>Wingdings</vt:lpstr>
      <vt:lpstr>Wingdings 3</vt:lpstr>
      <vt:lpstr>SDC2015_ppt_template</vt:lpstr>
      <vt:lpstr>Spiffy: Enabling File-System Aware Storage Applications</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Need for Annotations</vt:lpstr>
      <vt:lpstr>Need for Annotations</vt:lpstr>
      <vt:lpstr>Pointer Annotations</vt:lpstr>
      <vt:lpstr>Pointer Address Space</vt:lpstr>
      <vt:lpstr>Block Address Space</vt:lpstr>
      <vt:lpstr>File Address Space</vt:lpstr>
      <vt:lpstr>Super Block</vt:lpstr>
      <vt:lpstr>Super Block</vt:lpstr>
      <vt:lpstr>Super Block</vt:lpstr>
      <vt:lpstr>Context-Sensitive Types</vt:lpstr>
      <vt:lpstr>Context-Sensitive Types</vt:lpstr>
      <vt:lpstr>Context-Sensitive Types</vt:lpstr>
      <vt:lpstr>Context-Sensitive Types</vt:lpstr>
      <vt:lpstr>Missing Pointer</vt:lpstr>
      <vt:lpstr>Implicit Pointer</vt:lpstr>
      <vt:lpstr>Implicit Pointer</vt:lpstr>
      <vt:lpstr>Vector Types</vt:lpstr>
      <vt:lpstr>Vector Types</vt:lpstr>
      <vt:lpstr>Vector Types</vt:lpstr>
      <vt:lpstr>Vector Types</vt:lpstr>
      <vt:lpstr>Vector Types</vt:lpstr>
      <vt:lpstr>Check Annotations</vt:lpstr>
      <vt:lpstr>Check Annotations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Applications</vt:lpstr>
      <vt:lpstr>File System Dump Tool</vt:lpstr>
      <vt:lpstr>File System Dump Tool</vt:lpstr>
      <vt:lpstr>File System Dump Tool</vt:lpstr>
      <vt:lpstr>File System Dump Tool</vt:lpstr>
      <vt:lpstr>File System Dump Tool</vt:lpstr>
      <vt:lpstr>Type-Specific File System Corruptor</vt:lpstr>
      <vt:lpstr>File System Conversion Tool</vt:lpstr>
      <vt:lpstr>Evaluation: Ext4 to F2FS Converter</vt:lpstr>
      <vt:lpstr>File-system Aware Block Layer Cache</vt:lpstr>
      <vt:lpstr>Runtime File System Checker</vt:lpstr>
      <vt:lpstr>Demo of Spiffy Applications</vt:lpstr>
      <vt:lpstr>Conclusion</vt:lpstr>
      <vt:lpstr>Find Out More</vt:lpstr>
      <vt:lpstr>Spiffy: Enabling File-System Aware Storage Applications</vt:lpstr>
      <vt:lpstr>Spiffy API (C++)</vt:lpstr>
    </vt:vector>
  </TitlesOfParts>
  <Company>Microsoft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Presentation</dc:title>
  <dc:creator>khauser</dc:creator>
  <cp:lastModifiedBy>Jack Sun</cp:lastModifiedBy>
  <cp:revision>167</cp:revision>
  <dcterms:created xsi:type="dcterms:W3CDTF">2016-06-02T15:35:50Z</dcterms:created>
  <dcterms:modified xsi:type="dcterms:W3CDTF">2018-09-27T18:19:38Z</dcterms:modified>
</cp:coreProperties>
</file>